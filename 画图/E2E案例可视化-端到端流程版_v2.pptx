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omments/modernComment_100_3E0CE6BD.xml" ContentType="application/vnd.ms-powerpoint.comments+xml"/>
  <Override PartName="/ppt/notesSlides/notesSlide2.xml" ContentType="application/vnd.openxmlformats-officedocument.presentationml.notesSlide+xml"/>
  <Override PartName="/ppt/comments/modernComment_101_2E13A015.xml" ContentType="application/vnd.ms-powerpoint.comments+xml"/>
  <Override PartName="/ppt/notesSlides/notesSlide3.xml" ContentType="application/vnd.openxmlformats-officedocument.presentationml.notesSlide+xml"/>
  <Override PartName="/ppt/comments/modernComment_102_585D82B.xml" ContentType="application/vnd.ms-powerpoint.comments+xml"/>
  <Override PartName="/ppt/notesSlides/notesSlide4.xml" ContentType="application/vnd.openxmlformats-officedocument.presentationml.notesSlide+xml"/>
  <Override PartName="/ppt/comments/modernComment_103_2D35A60C.xml" ContentType="application/vnd.ms-powerpoint.comments+xml"/>
  <Override PartName="/ppt/notesSlides/notesSlide5.xml" ContentType="application/vnd.openxmlformats-officedocument.presentationml.notesSlide+xml"/>
  <Override PartName="/ppt/comments/modernComment_104_6CE85E87.xml" ContentType="application/vnd.ms-powerpoint.comments+xml"/>
  <Override PartName="/ppt/notesSlides/notesSlide6.xml" ContentType="application/vnd.openxmlformats-officedocument.presentationml.notesSlide+xml"/>
  <Override PartName="/ppt/comments/modernComment_105_177550AD.xml" ContentType="application/vnd.ms-powerpoint.comments+xml"/>
  <Override PartName="/ppt/notesSlides/notesSlide7.xml" ContentType="application/vnd.openxmlformats-officedocument.presentationml.notesSlide+xml"/>
  <Override PartName="/ppt/comments/modernComment_106_42C49E72.xml" ContentType="application/vnd.ms-powerpoint.comments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7145000" cy="200025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D3F71A66-0C34-DF1A-5236-FECDBC820DCB}" name="Hongen Peng" initials="HP" userId="965de47efeb7ffa5" providerId="Windows Live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Relationship Id="rId14" Type="http://schemas.microsoft.com/office/2018/10/relationships/authors" Target="authors.xml"/></Relationships>
</file>

<file path=ppt/comments/modernComment_100_3E0CE6BD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F4AB2B8D-1F49-4F2A-B21E-46B60BADEF54}" authorId="{D3F71A66-0C34-DF1A-5236-FECDBC820DCB}" created="2026-10-03T15:30:10.302">
    <pc:sldMkLst xmlns:pc="http://schemas.microsoft.com/office/powerpoint/2013/main/command">
      <pc:docMk/>
      <pc:sldMk cId="1041032893" sldId="256"/>
    </pc:sldMkLst>
    <p188:pos x="0" y="0"/>
    <p188:txBody>
      <a:bodyPr/>
      <a:lstStyle/>
      <a:p>
        <a:r>
          <a:rPr lang="zh-CN" altLang="en-US"/>
          <a:t>@@e2e-flow-9llg</a:t>
        </a:r>
      </a:p>
    </p188:txBody>
  </p188:cm>
  <p188:cm id="{F41605AA-CD6C-4AA1-A9F8-F79E1CD261B3}" authorId="{D3F71A66-0C34-DF1A-5236-FECDBC820DCB}" created="2026-10-03T15:30:10.324">
    <pc:sldMkLst xmlns:pc="http://schemas.microsoft.com/office/powerpoint/2013/main/command">
      <pc:docMk/>
      <pc:sldMk cId="1041032893" sldId="256"/>
    </pc:sldMkLst>
    <p188:pos x="0" y="0"/>
    <p188:txBody>
      <a:bodyPr/>
      <a:lstStyle/>
      <a:p>
        <a:r>
          <a:rPr lang="zh-CN" altLang="en-US"/>
          <a:t>Frozen CA2 local-c1 self-ranking Top-1; public name PocketXMol-tuned. Original assets: 画图/formal/E2E_flow_20261003/&lt;pdb&gt;/. Native no-label global Find and exact-SMILES RDKit: 画图/formal/E2E_flow_v2_20261003/&lt;pdb&gt;/. Reproduction: 画图/画图代码/e2e_flow_v2_20261003/README.md. PPT crop preserves original PNG bytes; frozen voxel projections define display association boxes, not new detections. Labels, arrows, frames and independent PNG/SVG components remain editable. Original figure deck and annotated user copy are preserved.</a:t>
        </a:r>
      </a:p>
    </p188:txBody>
  </p188:cm>
</p188:cmLst>
</file>

<file path=ppt/comments/modernComment_101_2E13A015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824CD8DD-C35C-4FFF-A19B-43DD7D22220E}" authorId="{D3F71A66-0C34-DF1A-5236-FECDBC820DCB}" created="2026-10-03T15:30:10.838">
    <pc:sldMkLst xmlns:pc="http://schemas.microsoft.com/office/powerpoint/2013/main/command">
      <pc:docMk/>
      <pc:sldMk cId="773038101" sldId="257"/>
    </pc:sldMkLst>
    <p188:pos x="0" y="0"/>
    <p188:txBody>
      <a:bodyPr/>
      <a:lstStyle/>
      <a:p>
        <a:r>
          <a:rPr lang="zh-CN" altLang="en-US"/>
          <a:t>@@e2e-flow-9bjj</a:t>
        </a:r>
      </a:p>
    </p188:txBody>
  </p188:cm>
  <p188:cm id="{516BEBDB-CEE3-46F4-9D84-AC6097F92AF0}" authorId="{D3F71A66-0C34-DF1A-5236-FECDBC820DCB}" created="2026-10-03T15:30:10.841">
    <pc:sldMkLst xmlns:pc="http://schemas.microsoft.com/office/powerpoint/2013/main/command">
      <pc:docMk/>
      <pc:sldMk cId="773038101" sldId="257"/>
    </pc:sldMkLst>
    <p188:pos x="0" y="0"/>
    <p188:txBody>
      <a:bodyPr/>
      <a:lstStyle/>
      <a:p>
        <a:r>
          <a:rPr lang="zh-CN" altLang="en-US"/>
          <a:t>Frozen CA2 local-c1 self-ranking Top-1; public name PocketXMol-tuned. Original assets: 画图/formal/E2E_flow_20261003/&lt;pdb&gt;/. Native no-label global Find and exact-SMILES RDKit: 画图/formal/E2E_flow_v2_20261003/&lt;pdb&gt;/. Reproduction: 画图/画图代码/e2e_flow_v2_20261003/README.md. PPT crop preserves original PNG bytes; frozen voxel projections define display association boxes, not new detections. Labels, arrows, frames and independent PNG/SVG components remain editable. Original figure deck and annotated user copy are preserved.</a:t>
        </a:r>
      </a:p>
    </p188:txBody>
  </p188:cm>
</p188:cmLst>
</file>

<file path=ppt/comments/modernComment_102_585D82B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0FBE6C4D-A8D4-4C23-854C-A41CD043C9C4}" authorId="{D3F71A66-0C34-DF1A-5236-FECDBC820DCB}" created="2026-10-03T15:30:12.347">
    <pc:sldMkLst xmlns:pc="http://schemas.microsoft.com/office/powerpoint/2013/main/command">
      <pc:docMk/>
      <pc:sldMk cId="92657707" sldId="258"/>
    </pc:sldMkLst>
    <p188:pos x="0" y="0"/>
    <p188:txBody>
      <a:bodyPr/>
      <a:lstStyle/>
      <a:p>
        <a:r>
          <a:rPr lang="zh-CN" altLang="en-US"/>
          <a:t>@@e2e-flow-30ga</a:t>
        </a:r>
      </a:p>
    </p188:txBody>
  </p188:cm>
  <p188:cm id="{49DE37FD-B525-41ED-A137-B37E95CD4656}" authorId="{D3F71A66-0C34-DF1A-5236-FECDBC820DCB}" created="2026-10-03T15:30:12.350">
    <pc:sldMkLst xmlns:pc="http://schemas.microsoft.com/office/powerpoint/2013/main/command">
      <pc:docMk/>
      <pc:sldMk cId="92657707" sldId="258"/>
    </pc:sldMkLst>
    <p188:pos x="0" y="0"/>
    <p188:txBody>
      <a:bodyPr/>
      <a:lstStyle/>
      <a:p>
        <a:r>
          <a:rPr lang="zh-CN" altLang="en-US"/>
          <a:t>Frozen CA2 local-c1 self-ranking Top-1; public name PocketXMol-tuned. Original assets: 画图/formal/E2E_flow_20261003/&lt;pdb&gt;/. Native no-label global Find and exact-SMILES RDKit: 画图/formal/E2E_flow_v2_20261003/&lt;pdb&gt;/. Reproduction: 画图/画图代码/e2e_flow_v2_20261003/README.md. PPT crop preserves original PNG bytes; frozen voxel projections define display association boxes, not new detections. Labels, arrows, frames and independent PNG/SVG components remain editable. Original figure deck and annotated user copy are preserved.</a:t>
        </a:r>
      </a:p>
    </p188:txBody>
  </p188:cm>
</p188:cmLst>
</file>

<file path=ppt/comments/modernComment_103_2D35A60C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FD559A3D-B2E5-48B4-AC3F-279D80818771}" authorId="{D3F71A66-0C34-DF1A-5236-FECDBC820DCB}" created="2026-10-03T15:30:12.713">
    <pc:sldMkLst xmlns:pc="http://schemas.microsoft.com/office/powerpoint/2013/main/command">
      <pc:docMk/>
      <pc:sldMk cId="758490636" sldId="259"/>
    </pc:sldMkLst>
    <p188:pos x="0" y="0"/>
    <p188:txBody>
      <a:bodyPr/>
      <a:lstStyle/>
      <a:p>
        <a:r>
          <a:rPr lang="zh-CN" altLang="en-US"/>
          <a:t>@@e2e-flow-9qru</a:t>
        </a:r>
      </a:p>
    </p188:txBody>
  </p188:cm>
  <p188:cm id="{26261A9E-3A0C-40A1-A34D-B9FAD324A1D5}" authorId="{D3F71A66-0C34-DF1A-5236-FECDBC820DCB}" created="2026-10-03T15:30:12.714">
    <pc:sldMkLst xmlns:pc="http://schemas.microsoft.com/office/powerpoint/2013/main/command">
      <pc:docMk/>
      <pc:sldMk cId="758490636" sldId="259"/>
    </pc:sldMkLst>
    <p188:pos x="0" y="0"/>
    <p188:txBody>
      <a:bodyPr/>
      <a:lstStyle/>
      <a:p>
        <a:r>
          <a:rPr lang="zh-CN" altLang="en-US"/>
          <a:t>Frozen CA2 local-c1 self-ranking Top-1; public name PocketXMol-tuned. Original assets: 画图/formal/E2E_flow_20261003/&lt;pdb&gt;/. Native no-label global Find and exact-SMILES RDKit: 画图/formal/E2E_flow_v2_20261003/&lt;pdb&gt;/. Reproduction: 画图/画图代码/e2e_flow_v2_20261003/README.md. PPT crop preserves original PNG bytes; frozen voxel projections define display association boxes, not new detections. Labels, arrows, frames and independent PNG/SVG components remain editable. Original figure deck and annotated user copy are preserved.</a:t>
        </a:r>
      </a:p>
    </p188:txBody>
  </p188:cm>
</p188:cmLst>
</file>

<file path=ppt/comments/modernComment_104_6CE85E87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932D2889-9AD4-4983-9E48-0901758855CB}" authorId="{D3F71A66-0C34-DF1A-5236-FECDBC820DCB}" created="2026-10-03T15:30:13.027">
    <pc:sldMkLst xmlns:pc="http://schemas.microsoft.com/office/powerpoint/2013/main/command">
      <pc:docMk/>
      <pc:sldMk cId="1827167879" sldId="260"/>
    </pc:sldMkLst>
    <p188:pos x="0" y="0"/>
    <p188:txBody>
      <a:bodyPr/>
      <a:lstStyle/>
      <a:p>
        <a:r>
          <a:rPr lang="zh-CN" altLang="en-US"/>
          <a:t>@@e2e-flow-9rd8</a:t>
        </a:r>
      </a:p>
    </p188:txBody>
  </p188:cm>
  <p188:cm id="{159F82F1-35BE-4AA7-8D62-E6B4D2EB254C}" authorId="{D3F71A66-0C34-DF1A-5236-FECDBC820DCB}" created="2026-10-03T15:30:13.029">
    <pc:sldMkLst xmlns:pc="http://schemas.microsoft.com/office/powerpoint/2013/main/command">
      <pc:docMk/>
      <pc:sldMk cId="1827167879" sldId="260"/>
    </pc:sldMkLst>
    <p188:pos x="0" y="0"/>
    <p188:txBody>
      <a:bodyPr/>
      <a:lstStyle/>
      <a:p>
        <a:r>
          <a:rPr lang="zh-CN" altLang="en-US"/>
          <a:t>Frozen CA2 local-c1 self-ranking Top-1; public name PocketXMol-tuned. Original assets: 画图/formal/E2E_flow_20261003/&lt;pdb&gt;/. Native no-label global Find and exact-SMILES RDKit: 画图/formal/E2E_flow_v2_20261003/&lt;pdb&gt;/. Reproduction: 画图/画图代码/e2e_flow_v2_20261003/README.md. PPT crop preserves original PNG bytes; frozen voxel projections define display association boxes, not new detections. Labels, arrows, frames and independent PNG/SVG components remain editable. Original figure deck and annotated user copy are preserved.</a:t>
        </a:r>
      </a:p>
    </p188:txBody>
  </p188:cm>
</p188:cmLst>
</file>

<file path=ppt/comments/modernComment_105_177550AD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6E013182-F61C-4C5E-8C27-C786AC88A6BB}" authorId="{D3F71A66-0C34-DF1A-5236-FECDBC820DCB}" created="2026-10-03T15:30:13.371">
    <pc:sldMkLst xmlns:pc="http://schemas.microsoft.com/office/powerpoint/2013/main/command">
      <pc:docMk/>
      <pc:sldMk cId="393564333" sldId="261"/>
    </pc:sldMkLst>
    <p188:pos x="0" y="0"/>
    <p188:txBody>
      <a:bodyPr/>
      <a:lstStyle/>
      <a:p>
        <a:r>
          <a:rPr lang="zh-CN" altLang="en-US"/>
          <a:t>@@e2e-flow-9wup</a:t>
        </a:r>
      </a:p>
    </p188:txBody>
  </p188:cm>
  <p188:cm id="{DD7CCA7D-A36E-458C-A2E4-97DF20A309DE}" authorId="{D3F71A66-0C34-DF1A-5236-FECDBC820DCB}" created="2026-10-03T15:30:13.372">
    <pc:sldMkLst xmlns:pc="http://schemas.microsoft.com/office/powerpoint/2013/main/command">
      <pc:docMk/>
      <pc:sldMk cId="393564333" sldId="261"/>
    </pc:sldMkLst>
    <p188:pos x="0" y="0"/>
    <p188:txBody>
      <a:bodyPr/>
      <a:lstStyle/>
      <a:p>
        <a:r>
          <a:rPr lang="zh-CN" altLang="en-US"/>
          <a:t>Frozen CA2 local-c1 self-ranking Top-1; public name PocketXMol-tuned. Original assets: 画图/formal/E2E_flow_20261003/&lt;pdb&gt;/. Native no-label global Find and exact-SMILES RDKit: 画图/formal/E2E_flow_v2_20261003/&lt;pdb&gt;/. Reproduction: 画图/画图代码/e2e_flow_v2_20261003/README.md. PPT crop preserves original PNG bytes; frozen voxel projections define display association boxes, not new detections. Labels, arrows, frames and independent PNG/SVG components remain editable. Original figure deck and annotated user copy are preserved.</a:t>
        </a:r>
      </a:p>
    </p188:txBody>
  </p188:cm>
</p188:cmLst>
</file>

<file path=ppt/comments/modernComment_106_42C49E72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8790BF3C-6995-4F18-B01D-042D14E572C5}" authorId="{D3F71A66-0C34-DF1A-5236-FECDBC820DCB}" created="2026-10-03T15:30:13.752">
    <pc:sldMkLst xmlns:pc="http://schemas.microsoft.com/office/powerpoint/2013/main/command">
      <pc:docMk/>
      <pc:sldMk cId="1120181874" sldId="262"/>
    </pc:sldMkLst>
    <p188:pos x="0" y="0"/>
    <p188:txBody>
      <a:bodyPr/>
      <a:lstStyle/>
      <a:p>
        <a:r>
          <a:rPr lang="zh-CN" altLang="en-US"/>
          <a:t>@@e2e-flow-9xzl</a:t>
        </a:r>
      </a:p>
    </p188:txBody>
  </p188:cm>
  <p188:cm id="{F735580C-8BEC-4B30-9E0E-BFCC77BB6FA4}" authorId="{D3F71A66-0C34-DF1A-5236-FECDBC820DCB}" created="2026-10-03T15:30:13.753">
    <pc:sldMkLst xmlns:pc="http://schemas.microsoft.com/office/powerpoint/2013/main/command">
      <pc:docMk/>
      <pc:sldMk cId="1120181874" sldId="262"/>
    </pc:sldMkLst>
    <p188:pos x="0" y="0"/>
    <p188:txBody>
      <a:bodyPr/>
      <a:lstStyle/>
      <a:p>
        <a:r>
          <a:rPr lang="zh-CN" altLang="en-US"/>
          <a:t>Frozen CA2 local-c1 self-ranking Top-1; public name PocketXMol-tuned. Original assets: 画图/formal/E2E_flow_20261003/&lt;pdb&gt;/. Native no-label global Find and exact-SMILES RDKit: 画图/formal/E2E_flow_v2_20261003/&lt;pdb&gt;/. Reproduction: 画图/画图代码/e2e_flow_v2_20261003/README.md. PPT crop preserves original PNG bytes; frozen voxel projections define display association boxes, not new detections. Labels, arrows, frames and independent PNG/SVG components remain editable. Original figure deck and annotated user copy are preserved.</a:t>
        </a:r>
      </a:p>
    </p188:txBody>
  </p188:cm>
</p188:cmLst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图 12｜9LLG 的完整重建流程。首位 A1EKL(R:602) 依次完成区域检出、身份匹配和构象重建。a–c，实验密度、CryoAtom2 重建受体及隔开的 GT 受体参考。d，预测 blob 的全局分布，彩框关联局部视图；e、f，GT 邻域与 Find 局部对照，同组朝向和尺度一致。g，原顺序的全部 3 个 SMILES 身份，其中 3 个合格小分子参与匹配，蓝框标出精确匹配项。h–j，PocketXMol-tuned 自评分首位姿态的受体、密度和沉积构象叠加视图，重原子 RMSD 0.88 Å。受体绿色，密度灰色，目标 blob 橙色，背景灰紫色，预测构象蓝色，沉积构象青绿色。所示目标位点生成 50 个姿态，每姿态 100 步采样；GT 用于参考显示与最终评价。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图 13｜9BJJ 的完整重建流程。首位 ATP(B:901) 依次完成区域检出、身份匹配和构象重建。a–c，实验密度、CryoAtom2 重建受体及隔开的 GT 受体参考。d，预测 blob 的全局分布，彩框关联局部视图；e、f，GT 邻域与 Find 局部对照，同组朝向和尺度一致。g，原顺序的全部 3 个 SMILES 身份，其中 2 个合格小分子参与匹配，蓝框标出精确匹配项。h–j，PocketXMol-tuned 自评分首位姿态的受体、密度和沉积构象叠加视图，重原子 RMSD 0.80 Å。受体绿色，密度灰色，目标 blob 橙色，背景灰紫色，预测构象蓝色，沉积构象青绿色。所示目标位点生成 50 个姿态，每姿态 100 步采样；GT 用于参考显示与最终评价。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图 14｜30GA 的完整重建流程。首位背景消耗一次尝试，未进入 Match 或 Build；第二位 ATP(N:401) 完成重建。a–c，实验密度、CryoAtom2 重建受体及隔开的 GT 受体参考。d，预测 blob 的全局分布，彩框关联局部视图；e、f，GT 邻域与 Find 局部对照，同组朝向和尺度一致。g，原顺序的全部 2 个 SMILES 身份，其中 1 个合格小分子参与匹配，蓝框标出精确匹配项。h–j，PocketXMol-tuned 自评分首位姿态的受体、密度和沉积构象叠加视图，重原子 RMSD 1.04 Å。受体绿色，密度灰色，目标 blob 橙色，背景灰紫色，预测构象蓝色，沉积构象青绿色。所示目标位点生成 50 个姿态，每姿态 100 步采样；GT 用于参考显示与最终评价。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备选图｜9QRU 的完整重建流程。首位背景消耗一次尝试，未进入 Match 或 Build；第二位 A1JAX(B:2801) 完成重建。a–c，实验密度、CryoAtom2 重建受体及隔开的 GT 受体参考。d，预测 blob 的全局分布，彩框关联局部视图；e、f，GT 邻域与 Find 局部对照，同组朝向和尺度一致。g，原顺序的全部 3 个 SMILES 身份，其中 2 个合格小分子参与匹配，蓝框标出精确匹配项。h–j，PocketXMol-tuned 自评分首位姿态的受体、密度和沉积构象叠加视图，重原子 RMSD 0.63 Å。受体绿色，密度灰色，目标 blob 橙色，背景灰紫色，预测构象蓝色，沉积构象青绿色。所示目标位点生成 50 个姿态，每姿态 100 步采样；GT 用于参考显示与最终评价。该候选原入选标记为 false，仍按完整顺序评价。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备选图｜9RD8 的完整重建流程。首位 BCT(A:902) 依次完成区域检出、身份匹配和构象重建。a–c，实验密度、CryoAtom2 重建受体及隔开的 GT 受体参考。d，预测 blob 的全局分布，彩框关联局部视图；e、f，GT 邻域与 Find 局部对照，同组朝向和尺度一致。g，原顺序的全部 4 个 SMILES 身份，其中 3 个合格小分子参与匹配，蓝框标出精确匹配项。h–j，PocketXMol-tuned 自评分首位姿态的受体、密度和沉积构象叠加视图，重原子 RMSD 0.96 Å。受体绿色，密度灰色，目标 blob 橙色，背景灰紫色，预测构象蓝色，沉积构象青绿色。所示目标位点生成 50 个姿态，每姿态 100 步采样；GT 用于参考显示与最终评价。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备选图｜9WUP 的完整重建流程。前 2 位前景经 Stage3 范围门禁免费跳过，第 3 位 FMN(B:1103) 为首个计费候选。a–c，实验密度、CryoAtom2 重建受体及隔开的 GT 受体参考。d，预测 blob 的全局分布，彩框关联局部视图；e、f，GT 邻域与 Find 局部对照，同组朝向和尺度一致。g，原顺序的全部 4 个 SMILES 身份，其中 4 个合格小分子参与匹配，蓝框标出精确匹配项。h–j，PocketXMol-tuned 自评分首位姿态的受体、密度和沉积构象叠加视图，重原子 RMSD 0.52 Å。受体绿色，密度灰色，目标 blob 橙色，背景灰紫色，预测构象蓝色，沉积构象青绿色。所示目标位点生成 50 个姿态，每姿态 100 步采样；GT 用于参考显示与最终评价。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备选图｜9XZL 的完整重建流程。前 1 位前景经 Stage3 范围门禁免费跳过，第 2 位 AGS(F:1001) 为首个计费候选。a–c，实验密度、CryoAtom2 重建受体及隔开的 GT 受体参考。d，预测 blob 的全局分布，彩框关联局部视图；e、f，GT 邻域与 Find 局部对照，同组朝向和尺度一致。g，原顺序的全部 3 个 SMILES 身份，其中 1 个合格小分子参与匹配，蓝框标出精确匹配项。h–j，PocketXMol-tuned 自评分首位姿态的受体、密度和沉积构象叠加视图，重原子 RMSD 0.91 Å。受体绿色，密度灰色，目标 blob 橙色，背景灰紫色，预测构象蓝色，沉积构象青绿色。所示目标位点生成 50 个姿态，每姿态 100 步采样；GT 用于参考显示与最终评价。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png"/><Relationship Id="rId13" Type="http://schemas.openxmlformats.org/officeDocument/2006/relationships/image" Target="../media/image10.png"/><Relationship Id="rId3" Type="http://schemas.microsoft.com/office/2018/10/relationships/comments" Target="../comments/modernComment_100_3E0CE6BD.xml"/><Relationship Id="rId7" Type="http://schemas.openxmlformats.org/officeDocument/2006/relationships/image" Target="../media/image4.png"/><Relationship Id="rId12" Type="http://schemas.openxmlformats.org/officeDocument/2006/relationships/image" Target="../media/image9.sv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.png"/><Relationship Id="rId11" Type="http://schemas.openxmlformats.org/officeDocument/2006/relationships/image" Target="../media/image8.svg"/><Relationship Id="rId5" Type="http://schemas.openxmlformats.org/officeDocument/2006/relationships/image" Target="../media/image2.png"/><Relationship Id="rId15" Type="http://schemas.openxmlformats.org/officeDocument/2006/relationships/image" Target="../media/image12.png"/><Relationship Id="rId10" Type="http://schemas.openxmlformats.org/officeDocument/2006/relationships/image" Target="../media/image7.svg"/><Relationship Id="rId4" Type="http://schemas.openxmlformats.org/officeDocument/2006/relationships/image" Target="../media/image1.png"/><Relationship Id="rId9" Type="http://schemas.openxmlformats.org/officeDocument/2006/relationships/image" Target="../media/image6.png"/><Relationship Id="rId14" Type="http://schemas.openxmlformats.org/officeDocument/2006/relationships/image" Target="../media/image11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png"/><Relationship Id="rId13" Type="http://schemas.openxmlformats.org/officeDocument/2006/relationships/image" Target="../media/image22.png"/><Relationship Id="rId3" Type="http://schemas.microsoft.com/office/2018/10/relationships/comments" Target="../comments/modernComment_101_2E13A015.xml"/><Relationship Id="rId7" Type="http://schemas.openxmlformats.org/officeDocument/2006/relationships/image" Target="../media/image16.png"/><Relationship Id="rId12" Type="http://schemas.openxmlformats.org/officeDocument/2006/relationships/image" Target="../media/image21.sv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5.png"/><Relationship Id="rId11" Type="http://schemas.openxmlformats.org/officeDocument/2006/relationships/image" Target="../media/image20.svg"/><Relationship Id="rId5" Type="http://schemas.openxmlformats.org/officeDocument/2006/relationships/image" Target="../media/image14.png"/><Relationship Id="rId15" Type="http://schemas.openxmlformats.org/officeDocument/2006/relationships/image" Target="../media/image24.png"/><Relationship Id="rId10" Type="http://schemas.openxmlformats.org/officeDocument/2006/relationships/image" Target="../media/image19.svg"/><Relationship Id="rId4" Type="http://schemas.openxmlformats.org/officeDocument/2006/relationships/image" Target="../media/image13.png"/><Relationship Id="rId9" Type="http://schemas.openxmlformats.org/officeDocument/2006/relationships/image" Target="../media/image18.png"/><Relationship Id="rId14" Type="http://schemas.openxmlformats.org/officeDocument/2006/relationships/image" Target="../media/image23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9.png"/><Relationship Id="rId13" Type="http://schemas.openxmlformats.org/officeDocument/2006/relationships/image" Target="../media/image21.svg"/><Relationship Id="rId3" Type="http://schemas.microsoft.com/office/2018/10/relationships/comments" Target="../comments/modernComment_102_585D82B.xml"/><Relationship Id="rId7" Type="http://schemas.openxmlformats.org/officeDocument/2006/relationships/image" Target="../media/image28.png"/><Relationship Id="rId12" Type="http://schemas.openxmlformats.org/officeDocument/2006/relationships/image" Target="../media/image19.svg"/><Relationship Id="rId2" Type="http://schemas.openxmlformats.org/officeDocument/2006/relationships/notesSlide" Target="../notesSlides/notesSlide3.xml"/><Relationship Id="rId16" Type="http://schemas.openxmlformats.org/officeDocument/2006/relationships/image" Target="../media/image35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7.png"/><Relationship Id="rId11" Type="http://schemas.openxmlformats.org/officeDocument/2006/relationships/image" Target="../media/image32.png"/><Relationship Id="rId5" Type="http://schemas.openxmlformats.org/officeDocument/2006/relationships/image" Target="../media/image26.png"/><Relationship Id="rId15" Type="http://schemas.openxmlformats.org/officeDocument/2006/relationships/image" Target="../media/image34.png"/><Relationship Id="rId10" Type="http://schemas.openxmlformats.org/officeDocument/2006/relationships/image" Target="../media/image31.png"/><Relationship Id="rId4" Type="http://schemas.openxmlformats.org/officeDocument/2006/relationships/image" Target="../media/image25.png"/><Relationship Id="rId9" Type="http://schemas.openxmlformats.org/officeDocument/2006/relationships/image" Target="../media/image30.png"/><Relationship Id="rId14" Type="http://schemas.openxmlformats.org/officeDocument/2006/relationships/image" Target="../media/image33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40.png"/><Relationship Id="rId13" Type="http://schemas.openxmlformats.org/officeDocument/2006/relationships/image" Target="../media/image7.svg"/><Relationship Id="rId3" Type="http://schemas.microsoft.com/office/2018/10/relationships/comments" Target="../comments/modernComment_103_2D35A60C.xml"/><Relationship Id="rId7" Type="http://schemas.openxmlformats.org/officeDocument/2006/relationships/image" Target="../media/image39.png"/><Relationship Id="rId12" Type="http://schemas.openxmlformats.org/officeDocument/2006/relationships/image" Target="../media/image44.svg"/><Relationship Id="rId17" Type="http://schemas.openxmlformats.org/officeDocument/2006/relationships/image" Target="../media/image48.png"/><Relationship Id="rId2" Type="http://schemas.openxmlformats.org/officeDocument/2006/relationships/notesSlide" Target="../notesSlides/notesSlide4.xml"/><Relationship Id="rId16" Type="http://schemas.openxmlformats.org/officeDocument/2006/relationships/image" Target="../media/image47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8.png"/><Relationship Id="rId11" Type="http://schemas.openxmlformats.org/officeDocument/2006/relationships/image" Target="../media/image43.png"/><Relationship Id="rId5" Type="http://schemas.openxmlformats.org/officeDocument/2006/relationships/image" Target="../media/image37.png"/><Relationship Id="rId15" Type="http://schemas.openxmlformats.org/officeDocument/2006/relationships/image" Target="../media/image46.png"/><Relationship Id="rId10" Type="http://schemas.openxmlformats.org/officeDocument/2006/relationships/image" Target="../media/image42.png"/><Relationship Id="rId4" Type="http://schemas.openxmlformats.org/officeDocument/2006/relationships/image" Target="../media/image36.png"/><Relationship Id="rId9" Type="http://schemas.openxmlformats.org/officeDocument/2006/relationships/image" Target="../media/image41.png"/><Relationship Id="rId14" Type="http://schemas.openxmlformats.org/officeDocument/2006/relationships/image" Target="../media/image45.sv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53.png"/><Relationship Id="rId13" Type="http://schemas.openxmlformats.org/officeDocument/2006/relationships/image" Target="../media/image45.svg"/><Relationship Id="rId3" Type="http://schemas.microsoft.com/office/2018/10/relationships/comments" Target="../comments/modernComment_104_6CE85E87.xml"/><Relationship Id="rId7" Type="http://schemas.openxmlformats.org/officeDocument/2006/relationships/image" Target="../media/image52.png"/><Relationship Id="rId12" Type="http://schemas.openxmlformats.org/officeDocument/2006/relationships/image" Target="../media/image57.svg"/><Relationship Id="rId2" Type="http://schemas.openxmlformats.org/officeDocument/2006/relationships/notesSlide" Target="../notesSlides/notesSlide5.xml"/><Relationship Id="rId16" Type="http://schemas.openxmlformats.org/officeDocument/2006/relationships/image" Target="../media/image60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1.png"/><Relationship Id="rId11" Type="http://schemas.openxmlformats.org/officeDocument/2006/relationships/image" Target="../media/image56.svg"/><Relationship Id="rId5" Type="http://schemas.openxmlformats.org/officeDocument/2006/relationships/image" Target="../media/image50.png"/><Relationship Id="rId15" Type="http://schemas.openxmlformats.org/officeDocument/2006/relationships/image" Target="../media/image59.png"/><Relationship Id="rId10" Type="http://schemas.openxmlformats.org/officeDocument/2006/relationships/image" Target="../media/image55.svg"/><Relationship Id="rId4" Type="http://schemas.openxmlformats.org/officeDocument/2006/relationships/image" Target="../media/image49.png"/><Relationship Id="rId9" Type="http://schemas.openxmlformats.org/officeDocument/2006/relationships/image" Target="../media/image54.png"/><Relationship Id="rId14" Type="http://schemas.openxmlformats.org/officeDocument/2006/relationships/image" Target="../media/image58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65.png"/><Relationship Id="rId13" Type="http://schemas.openxmlformats.org/officeDocument/2006/relationships/image" Target="../media/image70.svg"/><Relationship Id="rId3" Type="http://schemas.microsoft.com/office/2018/10/relationships/comments" Target="../comments/modernComment_105_177550AD.xml"/><Relationship Id="rId7" Type="http://schemas.openxmlformats.org/officeDocument/2006/relationships/image" Target="../media/image64.png"/><Relationship Id="rId12" Type="http://schemas.openxmlformats.org/officeDocument/2006/relationships/image" Target="../media/image69.svg"/><Relationship Id="rId2" Type="http://schemas.openxmlformats.org/officeDocument/2006/relationships/notesSlide" Target="../notesSlides/notesSlide6.xml"/><Relationship Id="rId16" Type="http://schemas.openxmlformats.org/officeDocument/2006/relationships/image" Target="../media/image73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3.png"/><Relationship Id="rId11" Type="http://schemas.openxmlformats.org/officeDocument/2006/relationships/image" Target="../media/image68.svg"/><Relationship Id="rId5" Type="http://schemas.openxmlformats.org/officeDocument/2006/relationships/image" Target="../media/image62.png"/><Relationship Id="rId15" Type="http://schemas.openxmlformats.org/officeDocument/2006/relationships/image" Target="../media/image72.png"/><Relationship Id="rId10" Type="http://schemas.openxmlformats.org/officeDocument/2006/relationships/image" Target="../media/image67.svg"/><Relationship Id="rId4" Type="http://schemas.openxmlformats.org/officeDocument/2006/relationships/image" Target="../media/image61.png"/><Relationship Id="rId9" Type="http://schemas.openxmlformats.org/officeDocument/2006/relationships/image" Target="../media/image66.png"/><Relationship Id="rId14" Type="http://schemas.openxmlformats.org/officeDocument/2006/relationships/image" Target="../media/image71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78.png"/><Relationship Id="rId13" Type="http://schemas.openxmlformats.org/officeDocument/2006/relationships/image" Target="../media/image81.png"/><Relationship Id="rId3" Type="http://schemas.microsoft.com/office/2018/10/relationships/comments" Target="../comments/modernComment_106_42C49E72.xml"/><Relationship Id="rId7" Type="http://schemas.openxmlformats.org/officeDocument/2006/relationships/image" Target="../media/image77.png"/><Relationship Id="rId12" Type="http://schemas.openxmlformats.org/officeDocument/2006/relationships/image" Target="../media/image45.sv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6.png"/><Relationship Id="rId11" Type="http://schemas.openxmlformats.org/officeDocument/2006/relationships/image" Target="../media/image21.svg"/><Relationship Id="rId5" Type="http://schemas.openxmlformats.org/officeDocument/2006/relationships/image" Target="../media/image75.png"/><Relationship Id="rId15" Type="http://schemas.openxmlformats.org/officeDocument/2006/relationships/image" Target="../media/image83.png"/><Relationship Id="rId10" Type="http://schemas.openxmlformats.org/officeDocument/2006/relationships/image" Target="../media/image80.svg"/><Relationship Id="rId4" Type="http://schemas.openxmlformats.org/officeDocument/2006/relationships/image" Target="../media/image74.png"/><Relationship Id="rId9" Type="http://schemas.openxmlformats.org/officeDocument/2006/relationships/image" Target="../media/image79.png"/><Relationship Id="rId14" Type="http://schemas.openxmlformats.org/officeDocument/2006/relationships/image" Target="../media/image8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矩形 100">
            <a:extLst>
              <a:ext uri="{FF2B5EF4-FFF2-40B4-BE49-F238E27FC236}">
                <a16:creationId xmlns:a16="http://schemas.microsoft.com/office/drawing/2014/main" id="{BEB91898-99A3-426A-B9B1-59BC401AD588}"/>
              </a:ext>
            </a:extLst>
          </p:cNvPr>
          <p:cNvSpPr>
            <a:spLocks noGrp="1"/>
          </p:cNvSpPr>
          <p:nvPr/>
        </p:nvSpPr>
        <p:spPr>
          <a:xfrm>
            <a:off x="1238250" y="209550"/>
            <a:ext cx="14668500" cy="5524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3450" b="1">
                <a:solidFill>
                  <a:srgbClr val="203544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203544"/>
                </a:solidFill>
                <a:latin typeface="Arial"/>
                <a:ea typeface="Arial"/>
                <a:cs typeface="Arial"/>
              </a:rPr>
              <a:t>9LLG  A1EKL (R:602)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97D8C9FC-8434-493C-B188-C4BDBAA01F73}"/>
              </a:ext>
            </a:extLst>
          </p:cNvPr>
          <p:cNvSpPr>
            <a:spLocks noGrp="1"/>
          </p:cNvSpPr>
          <p:nvPr/>
        </p:nvSpPr>
        <p:spPr>
          <a:xfrm>
            <a:off x="1238250" y="809625"/>
            <a:ext cx="15049500" cy="4191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2400" b="0">
                <a:solidFill>
                  <a:srgbClr val="60717A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60717A"/>
                </a:solidFill>
                <a:latin typeface="Arial"/>
                <a:ea typeface="Arial"/>
                <a:cs typeface="Arial"/>
              </a:rPr>
              <a:t>The first-ranked site completes identity matching and pose reconstruction</a:t>
            </a:r>
          </a:p>
        </p:txBody>
      </p:sp>
      <p:sp>
        <p:nvSpPr>
          <p:cNvPr id="3" name="任意多边形: 形状 2">
            <a:extLst>
              <a:ext uri="{FF2B5EF4-FFF2-40B4-BE49-F238E27FC236}">
                <a16:creationId xmlns:a16="http://schemas.microsoft.com/office/drawing/2014/main" id="{88EA0D68-7261-48AC-BE65-A5F4E773886E}"/>
              </a:ext>
            </a:extLst>
          </p:cNvPr>
          <p:cNvSpPr>
            <a:spLocks noGrp="1"/>
          </p:cNvSpPr>
          <p:nvPr/>
        </p:nvSpPr>
        <p:spPr>
          <a:xfrm>
            <a:off x="600075" y="1885950"/>
            <a:ext cx="953" cy="3524250"/>
          </a:xfrm>
          <a:custGeom>
            <a:avLst/>
            <a:gdLst/>
            <a:ahLst/>
            <a:cxnLst/>
            <a:rect l="0" t="0" r="0" b="0"/>
            <a:pathLst>
              <a:path w="953" h="3524250">
                <a:moveTo>
                  <a:pt x="0" y="0"/>
                </a:moveTo>
                <a:lnTo>
                  <a:pt x="0" y="3524250"/>
                </a:lnTo>
              </a:path>
            </a:pathLst>
          </a:custGeom>
          <a:noFill/>
          <a:ln w="28575">
            <a:solidFill>
              <a:srgbClr val="BDCDC6"/>
            </a:solidFill>
          </a:ln>
        </p:spPr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AEA97188-8CED-43AB-B081-C6CC4483D2CE}"/>
              </a:ext>
            </a:extLst>
          </p:cNvPr>
          <p:cNvSpPr>
            <a:spLocks noGrp="1"/>
          </p:cNvSpPr>
          <p:nvPr/>
        </p:nvSpPr>
        <p:spPr>
          <a:xfrm>
            <a:off x="533400" y="5314950"/>
            <a:ext cx="66675" cy="95250"/>
          </a:xfrm>
          <a:custGeom>
            <a:avLst/>
            <a:gdLst/>
            <a:ahLst/>
            <a:cxnLst/>
            <a:rect l="0" t="0" r="0" b="0"/>
            <a:pathLst>
              <a:path w="66675" h="95250">
                <a:moveTo>
                  <a:pt x="0" y="0"/>
                </a:moveTo>
                <a:lnTo>
                  <a:pt x="66675" y="95250"/>
                </a:lnTo>
              </a:path>
            </a:pathLst>
          </a:custGeom>
          <a:noFill/>
          <a:ln w="28575">
            <a:solidFill>
              <a:srgbClr val="BDCDC6"/>
            </a:solidFill>
          </a:ln>
        </p:spPr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523C709D-01F9-481C-8A02-E0B01A0BAE3C}"/>
              </a:ext>
            </a:extLst>
          </p:cNvPr>
          <p:cNvSpPr>
            <a:spLocks noGrp="1"/>
          </p:cNvSpPr>
          <p:nvPr/>
        </p:nvSpPr>
        <p:spPr>
          <a:xfrm>
            <a:off x="600075" y="5314950"/>
            <a:ext cx="66675" cy="95250"/>
          </a:xfrm>
          <a:custGeom>
            <a:avLst/>
            <a:gdLst/>
            <a:ahLst/>
            <a:cxnLst/>
            <a:rect l="0" t="0" r="0" b="0"/>
            <a:pathLst>
              <a:path w="66675" h="95250">
                <a:moveTo>
                  <a:pt x="66675" y="0"/>
                </a:moveTo>
                <a:lnTo>
                  <a:pt x="0" y="95250"/>
                </a:lnTo>
              </a:path>
            </a:pathLst>
          </a:custGeom>
          <a:noFill/>
          <a:ln w="28575">
            <a:solidFill>
              <a:srgbClr val="BDCDC6"/>
            </a:solidFill>
          </a:ln>
        </p:spPr>
      </p:sp>
      <p:sp>
        <p:nvSpPr>
          <p:cNvPr id="6" name="任意多边形: 形状 5">
            <a:extLst>
              <a:ext uri="{FF2B5EF4-FFF2-40B4-BE49-F238E27FC236}">
                <a16:creationId xmlns:a16="http://schemas.microsoft.com/office/drawing/2014/main" id="{DF2D3FE7-1C84-487F-A3DA-05EA87FE6D02}"/>
              </a:ext>
            </a:extLst>
          </p:cNvPr>
          <p:cNvSpPr>
            <a:spLocks noGrp="1"/>
          </p:cNvSpPr>
          <p:nvPr/>
        </p:nvSpPr>
        <p:spPr>
          <a:xfrm>
            <a:off x="600075" y="6096000"/>
            <a:ext cx="953" cy="4781550"/>
          </a:xfrm>
          <a:custGeom>
            <a:avLst/>
            <a:gdLst/>
            <a:ahLst/>
            <a:cxnLst/>
            <a:rect l="0" t="0" r="0" b="0"/>
            <a:pathLst>
              <a:path w="953" h="4781550">
                <a:moveTo>
                  <a:pt x="0" y="0"/>
                </a:moveTo>
                <a:lnTo>
                  <a:pt x="0" y="4781550"/>
                </a:lnTo>
              </a:path>
            </a:pathLst>
          </a:custGeom>
          <a:noFill/>
          <a:ln w="28575">
            <a:solidFill>
              <a:srgbClr val="BDCDC6"/>
            </a:solidFill>
          </a:ln>
        </p:spPr>
      </p:sp>
      <p:sp>
        <p:nvSpPr>
          <p:cNvPr id="7" name="任意多边形: 形状 6">
            <a:extLst>
              <a:ext uri="{FF2B5EF4-FFF2-40B4-BE49-F238E27FC236}">
                <a16:creationId xmlns:a16="http://schemas.microsoft.com/office/drawing/2014/main" id="{D9C671BF-286D-4043-857B-99310AA86F5F}"/>
              </a:ext>
            </a:extLst>
          </p:cNvPr>
          <p:cNvSpPr>
            <a:spLocks noGrp="1"/>
          </p:cNvSpPr>
          <p:nvPr/>
        </p:nvSpPr>
        <p:spPr>
          <a:xfrm>
            <a:off x="533400" y="10782300"/>
            <a:ext cx="66675" cy="95250"/>
          </a:xfrm>
          <a:custGeom>
            <a:avLst/>
            <a:gdLst/>
            <a:ahLst/>
            <a:cxnLst/>
            <a:rect l="0" t="0" r="0" b="0"/>
            <a:pathLst>
              <a:path w="66675" h="95250">
                <a:moveTo>
                  <a:pt x="0" y="0"/>
                </a:moveTo>
                <a:lnTo>
                  <a:pt x="66675" y="95250"/>
                </a:lnTo>
              </a:path>
            </a:pathLst>
          </a:custGeom>
          <a:noFill/>
          <a:ln w="28575">
            <a:solidFill>
              <a:srgbClr val="BDCDC6"/>
            </a:solidFill>
          </a:ln>
        </p:spPr>
      </p:sp>
      <p:sp>
        <p:nvSpPr>
          <p:cNvPr id="8" name="任意多边形: 形状 7">
            <a:extLst>
              <a:ext uri="{FF2B5EF4-FFF2-40B4-BE49-F238E27FC236}">
                <a16:creationId xmlns:a16="http://schemas.microsoft.com/office/drawing/2014/main" id="{F473F333-3E2A-43A1-B9C7-F4DB3DA5F37D}"/>
              </a:ext>
            </a:extLst>
          </p:cNvPr>
          <p:cNvSpPr>
            <a:spLocks noGrp="1"/>
          </p:cNvSpPr>
          <p:nvPr/>
        </p:nvSpPr>
        <p:spPr>
          <a:xfrm>
            <a:off x="600075" y="10782300"/>
            <a:ext cx="66675" cy="95250"/>
          </a:xfrm>
          <a:custGeom>
            <a:avLst/>
            <a:gdLst/>
            <a:ahLst/>
            <a:cxnLst/>
            <a:rect l="0" t="0" r="0" b="0"/>
            <a:pathLst>
              <a:path w="66675" h="95250">
                <a:moveTo>
                  <a:pt x="66675" y="0"/>
                </a:moveTo>
                <a:lnTo>
                  <a:pt x="0" y="95250"/>
                </a:lnTo>
              </a:path>
            </a:pathLst>
          </a:custGeom>
          <a:noFill/>
          <a:ln w="28575">
            <a:solidFill>
              <a:srgbClr val="BDCDC6"/>
            </a:solidFill>
          </a:ln>
        </p:spPr>
      </p:sp>
      <p:sp>
        <p:nvSpPr>
          <p:cNvPr id="9" name="任意多边形: 形状 8">
            <a:extLst>
              <a:ext uri="{FF2B5EF4-FFF2-40B4-BE49-F238E27FC236}">
                <a16:creationId xmlns:a16="http://schemas.microsoft.com/office/drawing/2014/main" id="{45A3CC8F-071F-4CCA-9621-9A8CF580FF85}"/>
              </a:ext>
            </a:extLst>
          </p:cNvPr>
          <p:cNvSpPr>
            <a:spLocks noGrp="1"/>
          </p:cNvSpPr>
          <p:nvPr/>
        </p:nvSpPr>
        <p:spPr>
          <a:xfrm>
            <a:off x="600075" y="11563350"/>
            <a:ext cx="953" cy="3086100"/>
          </a:xfrm>
          <a:custGeom>
            <a:avLst/>
            <a:gdLst/>
            <a:ahLst/>
            <a:cxnLst/>
            <a:rect l="0" t="0" r="0" b="0"/>
            <a:pathLst>
              <a:path w="953" h="3086100">
                <a:moveTo>
                  <a:pt x="0" y="0"/>
                </a:moveTo>
                <a:lnTo>
                  <a:pt x="0" y="3086100"/>
                </a:lnTo>
              </a:path>
            </a:pathLst>
          </a:custGeom>
          <a:noFill/>
          <a:ln w="28575">
            <a:solidFill>
              <a:srgbClr val="BDCDC6"/>
            </a:solidFill>
          </a:ln>
        </p:spPr>
      </p:sp>
      <p:sp>
        <p:nvSpPr>
          <p:cNvPr id="10" name="任意多边形: 形状 9">
            <a:extLst>
              <a:ext uri="{FF2B5EF4-FFF2-40B4-BE49-F238E27FC236}">
                <a16:creationId xmlns:a16="http://schemas.microsoft.com/office/drawing/2014/main" id="{BEE1C51C-FEA1-4174-AAFB-8291419190F9}"/>
              </a:ext>
            </a:extLst>
          </p:cNvPr>
          <p:cNvSpPr>
            <a:spLocks noGrp="1"/>
          </p:cNvSpPr>
          <p:nvPr/>
        </p:nvSpPr>
        <p:spPr>
          <a:xfrm>
            <a:off x="533400" y="14554200"/>
            <a:ext cx="66675" cy="95250"/>
          </a:xfrm>
          <a:custGeom>
            <a:avLst/>
            <a:gdLst/>
            <a:ahLst/>
            <a:cxnLst/>
            <a:rect l="0" t="0" r="0" b="0"/>
            <a:pathLst>
              <a:path w="66675" h="95250">
                <a:moveTo>
                  <a:pt x="0" y="0"/>
                </a:moveTo>
                <a:lnTo>
                  <a:pt x="66675" y="95250"/>
                </a:lnTo>
              </a:path>
            </a:pathLst>
          </a:custGeom>
          <a:noFill/>
          <a:ln w="28575">
            <a:solidFill>
              <a:srgbClr val="BDCDC6"/>
            </a:solidFill>
          </a:ln>
        </p:spPr>
      </p:sp>
      <p:sp>
        <p:nvSpPr>
          <p:cNvPr id="11" name="任意多边形: 形状 10">
            <a:extLst>
              <a:ext uri="{FF2B5EF4-FFF2-40B4-BE49-F238E27FC236}">
                <a16:creationId xmlns:a16="http://schemas.microsoft.com/office/drawing/2014/main" id="{4AD47D1B-81DE-4E83-BBC3-830CB1C22E08}"/>
              </a:ext>
            </a:extLst>
          </p:cNvPr>
          <p:cNvSpPr>
            <a:spLocks noGrp="1"/>
          </p:cNvSpPr>
          <p:nvPr/>
        </p:nvSpPr>
        <p:spPr>
          <a:xfrm>
            <a:off x="600075" y="14554200"/>
            <a:ext cx="66675" cy="95250"/>
          </a:xfrm>
          <a:custGeom>
            <a:avLst/>
            <a:gdLst/>
            <a:ahLst/>
            <a:cxnLst/>
            <a:rect l="0" t="0" r="0" b="0"/>
            <a:pathLst>
              <a:path w="66675" h="95250">
                <a:moveTo>
                  <a:pt x="66675" y="0"/>
                </a:moveTo>
                <a:lnTo>
                  <a:pt x="0" y="95250"/>
                </a:lnTo>
              </a:path>
            </a:pathLst>
          </a:custGeom>
          <a:noFill/>
          <a:ln w="28575">
            <a:solidFill>
              <a:srgbClr val="BDCDC6"/>
            </a:solidFill>
          </a:ln>
        </p:spPr>
      </p:sp>
      <p:sp>
        <p:nvSpPr>
          <p:cNvPr id="12" name="椭圆 11">
            <a:extLst>
              <a:ext uri="{FF2B5EF4-FFF2-40B4-BE49-F238E27FC236}">
                <a16:creationId xmlns:a16="http://schemas.microsoft.com/office/drawing/2014/main" id="{E3675378-58CD-4221-B46E-11C22A1CBE62}"/>
              </a:ext>
            </a:extLst>
          </p:cNvPr>
          <p:cNvSpPr>
            <a:spLocks noGrp="1"/>
          </p:cNvSpPr>
          <p:nvPr/>
        </p:nvSpPr>
        <p:spPr>
          <a:xfrm>
            <a:off x="361950" y="1314450"/>
            <a:ext cx="476250" cy="476250"/>
          </a:xfrm>
          <a:prstGeom prst="ellipse">
            <a:avLst/>
          </a:prstGeom>
          <a:solidFill>
            <a:srgbClr val="366755"/>
          </a:solidFill>
          <a:ln w="0">
            <a:noFill/>
          </a:ln>
        </p:spPr>
        <p:txBody>
          <a:bodyPr lIns="0" tIns="0" rIns="0" bIns="0" anchor="ctr"/>
          <a:lstStyle/>
          <a:p>
            <a:pPr algn="ctr">
              <a:defRPr sz="23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0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55C05BA0-49DA-4D7C-9B91-4662E531ED27}"/>
              </a:ext>
            </a:extLst>
          </p:cNvPr>
          <p:cNvSpPr>
            <a:spLocks noGrp="1"/>
          </p:cNvSpPr>
          <p:nvPr/>
        </p:nvSpPr>
        <p:spPr>
          <a:xfrm>
            <a:off x="1238250" y="1333500"/>
            <a:ext cx="2000250" cy="4572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2850" b="1">
                <a:solidFill>
                  <a:srgbClr val="366755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366755"/>
                </a:solidFill>
                <a:latin typeface="Arial"/>
                <a:ea typeface="Arial"/>
                <a:cs typeface="Arial"/>
              </a:rPr>
              <a:t>Input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48D35A0C-33BA-4CE8-85E7-581221141921}"/>
              </a:ext>
            </a:extLst>
          </p:cNvPr>
          <p:cNvSpPr>
            <a:spLocks noGrp="1"/>
          </p:cNvSpPr>
          <p:nvPr/>
        </p:nvSpPr>
        <p:spPr>
          <a:xfrm>
            <a:off x="3524250" y="1362075"/>
            <a:ext cx="12715875" cy="4000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2325" b="0">
                <a:solidFill>
                  <a:srgbClr val="60717A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60717A"/>
                </a:solidFill>
                <a:latin typeface="Arial"/>
                <a:ea typeface="Arial"/>
                <a:cs typeface="Arial"/>
              </a:rPr>
              <a:t>Reconstructing the receptor from the experimental map with CryoAtom2</a:t>
            </a:r>
          </a:p>
        </p:txBody>
      </p:sp>
      <p:sp>
        <p:nvSpPr>
          <p:cNvPr id="15" name="任意多边形: 形状 14">
            <a:extLst>
              <a:ext uri="{FF2B5EF4-FFF2-40B4-BE49-F238E27FC236}">
                <a16:creationId xmlns:a16="http://schemas.microsoft.com/office/drawing/2014/main" id="{EC1AEBCB-C611-410C-906B-C1488DF68781}"/>
              </a:ext>
            </a:extLst>
          </p:cNvPr>
          <p:cNvSpPr>
            <a:spLocks noGrp="1"/>
          </p:cNvSpPr>
          <p:nvPr/>
        </p:nvSpPr>
        <p:spPr>
          <a:xfrm>
            <a:off x="1238250" y="1895475"/>
            <a:ext cx="15049500" cy="953"/>
          </a:xfrm>
          <a:custGeom>
            <a:avLst/>
            <a:gdLst/>
            <a:ahLst/>
            <a:cxnLst/>
            <a:rect l="0" t="0" r="0" b="0"/>
            <a:pathLst>
              <a:path w="15049500" h="953">
                <a:moveTo>
                  <a:pt x="0" y="0"/>
                </a:moveTo>
                <a:lnTo>
                  <a:pt x="15049500" y="0"/>
                </a:lnTo>
              </a:path>
            </a:pathLst>
          </a:custGeom>
          <a:noFill/>
          <a:ln w="19050">
            <a:solidFill>
              <a:srgbClr val="E6EDEB"/>
            </a:solidFill>
          </a:ln>
        </p:spPr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C8BE0A7E-6787-4E07-B5CB-5FC8CFABC8FE}"/>
              </a:ext>
            </a:extLst>
          </p:cNvPr>
          <p:cNvSpPr>
            <a:spLocks noGrp="1"/>
          </p:cNvSpPr>
          <p:nvPr/>
        </p:nvSpPr>
        <p:spPr>
          <a:xfrm>
            <a:off x="1238250" y="2076450"/>
            <a:ext cx="352425" cy="3714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2475" b="1">
                <a:solidFill>
                  <a:srgbClr val="203544"/>
                </a:solidFill>
                <a:latin typeface="Arial"/>
                <a:ea typeface="Arial"/>
                <a:cs typeface="Arial"/>
              </a:defRPr>
            </a:pPr>
            <a:r>
              <a:rPr sz="2475" b="1">
                <a:solidFill>
                  <a:srgbClr val="203544"/>
                </a:solidFill>
                <a:latin typeface="Arial"/>
                <a:ea typeface="Arial"/>
                <a:cs typeface="Arial"/>
              </a:rPr>
              <a:t>a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98FCFFD5-0524-4A46-9B13-308FA8F89B0E}"/>
              </a:ext>
            </a:extLst>
          </p:cNvPr>
          <p:cNvSpPr>
            <a:spLocks noGrp="1"/>
          </p:cNvSpPr>
          <p:nvPr/>
        </p:nvSpPr>
        <p:spPr>
          <a:xfrm>
            <a:off x="1657350" y="2085975"/>
            <a:ext cx="4152900" cy="3714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2325" b="0">
                <a:solidFill>
                  <a:srgbClr val="203544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203544"/>
                </a:solidFill>
                <a:latin typeface="Arial"/>
                <a:ea typeface="Arial"/>
                <a:cs typeface="Arial"/>
              </a:rPr>
              <a:t>Experimental map</a:t>
            </a:r>
          </a:p>
        </p:txBody>
      </p:sp>
      <p:pic>
        <p:nvPicPr>
          <p:cNvPr id="118" name="global_density_same_scale" descr="9LLG global_density_same_scale; native ChimeraX; source C:\Users\15919\Desktop\论文草稿\画图\formal\E2E_flow_v2_20261003\9llg\renders\global_density_same_scale.png; editable crop only"/>
          <p:cNvPicPr>
            <a:picLocks noChangeAspect="1"/>
          </p:cNvPicPr>
          <p:nvPr/>
        </p:nvPicPr>
        <p:blipFill>
          <a:blip r:embed="rId4"/>
          <a:srcRect l="19010" t="9983" r="20810" b="14831"/>
          <a:stretch>
            <a:fillRect/>
          </a:stretch>
        </p:blipFill>
        <p:spPr>
          <a:xfrm>
            <a:off x="1999458" y="2476500"/>
            <a:ext cx="3049584" cy="2857500"/>
          </a:xfrm>
          <a:prstGeom prst="rect">
            <a:avLst/>
          </a:prstGeom>
        </p:spPr>
      </p:pic>
      <p:sp>
        <p:nvSpPr>
          <p:cNvPr id="19" name="矩形 18">
            <a:extLst>
              <a:ext uri="{FF2B5EF4-FFF2-40B4-BE49-F238E27FC236}">
                <a16:creationId xmlns:a16="http://schemas.microsoft.com/office/drawing/2014/main" id="{A83F8A89-0D0C-42A5-8946-46EAD8039C7B}"/>
              </a:ext>
            </a:extLst>
          </p:cNvPr>
          <p:cNvSpPr>
            <a:spLocks noGrp="1"/>
          </p:cNvSpPr>
          <p:nvPr/>
        </p:nvSpPr>
        <p:spPr>
          <a:xfrm>
            <a:off x="6477000" y="2076450"/>
            <a:ext cx="352425" cy="3714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2475" b="1">
                <a:solidFill>
                  <a:srgbClr val="203544"/>
                </a:solidFill>
                <a:latin typeface="Arial"/>
                <a:ea typeface="Arial"/>
                <a:cs typeface="Arial"/>
              </a:defRPr>
            </a:pPr>
            <a:r>
              <a:rPr sz="2475" b="1">
                <a:solidFill>
                  <a:srgbClr val="203544"/>
                </a:solidFill>
                <a:latin typeface="Arial"/>
                <a:ea typeface="Arial"/>
                <a:cs typeface="Arial"/>
              </a:rPr>
              <a:t>b</a:t>
            </a: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70F5B711-25CF-4953-8527-D5088994E240}"/>
              </a:ext>
            </a:extLst>
          </p:cNvPr>
          <p:cNvSpPr>
            <a:spLocks noGrp="1"/>
          </p:cNvSpPr>
          <p:nvPr/>
        </p:nvSpPr>
        <p:spPr>
          <a:xfrm>
            <a:off x="6896100" y="2085975"/>
            <a:ext cx="4152900" cy="3714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2325" b="0">
                <a:solidFill>
                  <a:srgbClr val="203544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203544"/>
                </a:solidFill>
                <a:latin typeface="Arial"/>
                <a:ea typeface="Arial"/>
                <a:cs typeface="Arial"/>
              </a:rPr>
              <a:t>CA2 receptor</a:t>
            </a:r>
          </a:p>
        </p:txBody>
      </p:sp>
      <p:pic>
        <p:nvPicPr>
          <p:cNvPr id="121" name="global_ca2" descr="9LLG global_ca2; native ChimeraX; source C:\Users\15919\Desktop\论文草稿\画图\formal\E2E_flow_20261003\9llg\renders\global_ca2.png; editable crop only"/>
          <p:cNvPicPr>
            <a:picLocks noChangeAspect="1"/>
          </p:cNvPicPr>
          <p:nvPr/>
        </p:nvPicPr>
        <p:blipFill>
          <a:blip r:embed="rId5"/>
          <a:srcRect l="19010" t="9983" r="20810" b="14831"/>
          <a:stretch>
            <a:fillRect/>
          </a:stretch>
        </p:blipFill>
        <p:spPr>
          <a:xfrm>
            <a:off x="7238208" y="2476500"/>
            <a:ext cx="3049584" cy="2857500"/>
          </a:xfrm>
          <a:prstGeom prst="rect">
            <a:avLst/>
          </a:prstGeom>
        </p:spPr>
      </p:pic>
      <p:sp>
        <p:nvSpPr>
          <p:cNvPr id="22" name="矩形 21">
            <a:extLst>
              <a:ext uri="{FF2B5EF4-FFF2-40B4-BE49-F238E27FC236}">
                <a16:creationId xmlns:a16="http://schemas.microsoft.com/office/drawing/2014/main" id="{5D53312E-DE43-4639-8878-4BD719013860}"/>
              </a:ext>
            </a:extLst>
          </p:cNvPr>
          <p:cNvSpPr>
            <a:spLocks noGrp="1"/>
          </p:cNvSpPr>
          <p:nvPr/>
        </p:nvSpPr>
        <p:spPr>
          <a:xfrm>
            <a:off x="11715750" y="2076450"/>
            <a:ext cx="352425" cy="3714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2475" b="1">
                <a:solidFill>
                  <a:srgbClr val="203544"/>
                </a:solidFill>
                <a:latin typeface="Arial"/>
                <a:ea typeface="Arial"/>
                <a:cs typeface="Arial"/>
              </a:defRPr>
            </a:pPr>
            <a:r>
              <a:rPr sz="2475" b="1">
                <a:solidFill>
                  <a:srgbClr val="203544"/>
                </a:solidFill>
                <a:latin typeface="Arial"/>
                <a:ea typeface="Arial"/>
                <a:cs typeface="Arial"/>
              </a:rPr>
              <a:t>c</a:t>
            </a:r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AA0EC217-AB33-4830-BE42-3E973315B48E}"/>
              </a:ext>
            </a:extLst>
          </p:cNvPr>
          <p:cNvSpPr>
            <a:spLocks noGrp="1"/>
          </p:cNvSpPr>
          <p:nvPr/>
        </p:nvSpPr>
        <p:spPr>
          <a:xfrm>
            <a:off x="12134850" y="2085975"/>
            <a:ext cx="4152900" cy="3714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2325" b="0">
                <a:solidFill>
                  <a:srgbClr val="203544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203544"/>
                </a:solidFill>
                <a:latin typeface="Arial"/>
                <a:ea typeface="Arial"/>
                <a:cs typeface="Arial"/>
              </a:rPr>
              <a:t>GT receptor (reference)</a:t>
            </a:r>
          </a:p>
        </p:txBody>
      </p:sp>
      <p:pic>
        <p:nvPicPr>
          <p:cNvPr id="124" name="global_gt" descr="9LLG global_gt; native ChimeraX; source C:\Users\15919\Desktop\论文草稿\画图\formal\E2E_flow_20261003\9llg\renders\global_gt.png; editable crop only"/>
          <p:cNvPicPr>
            <a:picLocks noChangeAspect="1"/>
          </p:cNvPicPr>
          <p:nvPr/>
        </p:nvPicPr>
        <p:blipFill>
          <a:blip r:embed="rId6"/>
          <a:srcRect l="19010" t="9983" r="20810" b="14831"/>
          <a:stretch>
            <a:fillRect/>
          </a:stretch>
        </p:blipFill>
        <p:spPr>
          <a:xfrm>
            <a:off x="12476958" y="2476500"/>
            <a:ext cx="3049584" cy="2857500"/>
          </a:xfrm>
          <a:prstGeom prst="rect">
            <a:avLst/>
          </a:prstGeom>
        </p:spPr>
      </p:pic>
      <p:sp>
        <p:nvSpPr>
          <p:cNvPr id="25" name="矩形 24">
            <a:extLst>
              <a:ext uri="{FF2B5EF4-FFF2-40B4-BE49-F238E27FC236}">
                <a16:creationId xmlns:a16="http://schemas.microsoft.com/office/drawing/2014/main" id="{EBE94D98-F1FE-4084-B537-8AA7E514CED7}"/>
              </a:ext>
            </a:extLst>
          </p:cNvPr>
          <p:cNvSpPr>
            <a:spLocks noGrp="1"/>
          </p:cNvSpPr>
          <p:nvPr/>
        </p:nvSpPr>
        <p:spPr>
          <a:xfrm>
            <a:off x="5181600" y="3419475"/>
            <a:ext cx="2114550" cy="4000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2250" b="1">
                <a:solidFill>
                  <a:srgbClr val="366755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366755"/>
                </a:solidFill>
                <a:latin typeface="Arial"/>
                <a:ea typeface="Arial"/>
                <a:cs typeface="Arial"/>
              </a:rPr>
              <a:t>CryoAtom2</a:t>
            </a:r>
          </a:p>
        </p:txBody>
      </p:sp>
      <p:sp>
        <p:nvSpPr>
          <p:cNvPr id="26" name="任意多边形: 形状 25">
            <a:extLst>
              <a:ext uri="{FF2B5EF4-FFF2-40B4-BE49-F238E27FC236}">
                <a16:creationId xmlns:a16="http://schemas.microsoft.com/office/drawing/2014/main" id="{79DCB3F6-059F-4EC9-A586-4D40FC61FB68}"/>
              </a:ext>
            </a:extLst>
          </p:cNvPr>
          <p:cNvSpPr>
            <a:spLocks noGrp="1"/>
          </p:cNvSpPr>
          <p:nvPr/>
        </p:nvSpPr>
        <p:spPr>
          <a:xfrm>
            <a:off x="5286375" y="3905250"/>
            <a:ext cx="2019300" cy="953"/>
          </a:xfrm>
          <a:custGeom>
            <a:avLst/>
            <a:gdLst/>
            <a:ahLst/>
            <a:cxnLst/>
            <a:rect l="0" t="0" r="0" b="0"/>
            <a:pathLst>
              <a:path w="2019300" h="953">
                <a:moveTo>
                  <a:pt x="0" y="0"/>
                </a:moveTo>
                <a:lnTo>
                  <a:pt x="2019300" y="0"/>
                </a:lnTo>
              </a:path>
            </a:pathLst>
          </a:custGeom>
          <a:noFill/>
          <a:ln w="38100">
            <a:solidFill>
              <a:srgbClr val="366755"/>
            </a:solidFill>
          </a:ln>
        </p:spPr>
      </p:sp>
      <p:sp>
        <p:nvSpPr>
          <p:cNvPr id="27" name="任意多边形: 形状 26">
            <a:extLst>
              <a:ext uri="{FF2B5EF4-FFF2-40B4-BE49-F238E27FC236}">
                <a16:creationId xmlns:a16="http://schemas.microsoft.com/office/drawing/2014/main" id="{2703250B-C8BC-4743-966B-55CAFBB7ED76}"/>
              </a:ext>
            </a:extLst>
          </p:cNvPr>
          <p:cNvSpPr>
            <a:spLocks noGrp="1"/>
          </p:cNvSpPr>
          <p:nvPr/>
        </p:nvSpPr>
        <p:spPr>
          <a:xfrm>
            <a:off x="7162800" y="3810000"/>
            <a:ext cx="142875" cy="95250"/>
          </a:xfrm>
          <a:custGeom>
            <a:avLst/>
            <a:gdLst/>
            <a:ahLst/>
            <a:cxnLst/>
            <a:rect l="0" t="0" r="0" b="0"/>
            <a:pathLst>
              <a:path w="142875" h="95250">
                <a:moveTo>
                  <a:pt x="0" y="0"/>
                </a:moveTo>
                <a:lnTo>
                  <a:pt x="142875" y="95250"/>
                </a:lnTo>
              </a:path>
            </a:pathLst>
          </a:custGeom>
          <a:noFill/>
          <a:ln w="38100">
            <a:solidFill>
              <a:srgbClr val="366755"/>
            </a:solidFill>
          </a:ln>
        </p:spPr>
      </p:sp>
      <p:sp>
        <p:nvSpPr>
          <p:cNvPr id="28" name="任意多边形: 形状 27">
            <a:extLst>
              <a:ext uri="{FF2B5EF4-FFF2-40B4-BE49-F238E27FC236}">
                <a16:creationId xmlns:a16="http://schemas.microsoft.com/office/drawing/2014/main" id="{765A6FF4-5579-4781-80F5-3BE4AB2113CF}"/>
              </a:ext>
            </a:extLst>
          </p:cNvPr>
          <p:cNvSpPr>
            <a:spLocks noGrp="1"/>
          </p:cNvSpPr>
          <p:nvPr/>
        </p:nvSpPr>
        <p:spPr>
          <a:xfrm>
            <a:off x="7162800" y="3905250"/>
            <a:ext cx="142875" cy="95250"/>
          </a:xfrm>
          <a:custGeom>
            <a:avLst/>
            <a:gdLst/>
            <a:ahLst/>
            <a:cxnLst/>
            <a:rect l="0" t="0" r="0" b="0"/>
            <a:pathLst>
              <a:path w="142875" h="95250">
                <a:moveTo>
                  <a:pt x="0" y="95250"/>
                </a:moveTo>
                <a:lnTo>
                  <a:pt x="142875" y="0"/>
                </a:lnTo>
              </a:path>
            </a:pathLst>
          </a:custGeom>
          <a:noFill/>
          <a:ln w="38100">
            <a:solidFill>
              <a:srgbClr val="366755"/>
            </a:solidFill>
          </a:ln>
        </p:spPr>
      </p:sp>
      <p:sp>
        <p:nvSpPr>
          <p:cNvPr id="29" name="任意多边形: 形状 28">
            <a:extLst>
              <a:ext uri="{FF2B5EF4-FFF2-40B4-BE49-F238E27FC236}">
                <a16:creationId xmlns:a16="http://schemas.microsoft.com/office/drawing/2014/main" id="{8926B85D-CA85-422B-8B40-A213E9023B76}"/>
              </a:ext>
            </a:extLst>
          </p:cNvPr>
          <p:cNvSpPr>
            <a:spLocks noGrp="1"/>
          </p:cNvSpPr>
          <p:nvPr/>
        </p:nvSpPr>
        <p:spPr>
          <a:xfrm>
            <a:off x="11430000" y="2000250"/>
            <a:ext cx="953" cy="104775"/>
          </a:xfrm>
          <a:custGeom>
            <a:avLst/>
            <a:gdLst/>
            <a:ahLst/>
            <a:cxnLst/>
            <a:rect l="0" t="0" r="0" b="0"/>
            <a:pathLst>
              <a:path w="953" h="104775">
                <a:moveTo>
                  <a:pt x="0" y="0"/>
                </a:moveTo>
                <a:lnTo>
                  <a:pt x="0" y="104775"/>
                </a:lnTo>
              </a:path>
            </a:pathLst>
          </a:custGeom>
          <a:noFill/>
          <a:ln w="19050">
            <a:solidFill>
              <a:srgbClr val="BDCDC6"/>
            </a:solidFill>
          </a:ln>
        </p:spPr>
      </p:sp>
      <p:sp>
        <p:nvSpPr>
          <p:cNvPr id="30" name="任意多边形: 形状 29">
            <a:extLst>
              <a:ext uri="{FF2B5EF4-FFF2-40B4-BE49-F238E27FC236}">
                <a16:creationId xmlns:a16="http://schemas.microsoft.com/office/drawing/2014/main" id="{8B0685BF-E136-486F-89E2-B0C16E8A9929}"/>
              </a:ext>
            </a:extLst>
          </p:cNvPr>
          <p:cNvSpPr>
            <a:spLocks noGrp="1"/>
          </p:cNvSpPr>
          <p:nvPr/>
        </p:nvSpPr>
        <p:spPr>
          <a:xfrm>
            <a:off x="11430000" y="2190750"/>
            <a:ext cx="953" cy="104775"/>
          </a:xfrm>
          <a:custGeom>
            <a:avLst/>
            <a:gdLst/>
            <a:ahLst/>
            <a:cxnLst/>
            <a:rect l="0" t="0" r="0" b="0"/>
            <a:pathLst>
              <a:path w="953" h="104775">
                <a:moveTo>
                  <a:pt x="0" y="0"/>
                </a:moveTo>
                <a:lnTo>
                  <a:pt x="0" y="104775"/>
                </a:lnTo>
              </a:path>
            </a:pathLst>
          </a:custGeom>
          <a:noFill/>
          <a:ln w="19050">
            <a:solidFill>
              <a:srgbClr val="BDCDC6"/>
            </a:solidFill>
          </a:ln>
        </p:spPr>
      </p:sp>
      <p:sp>
        <p:nvSpPr>
          <p:cNvPr id="31" name="任意多边形: 形状 30">
            <a:extLst>
              <a:ext uri="{FF2B5EF4-FFF2-40B4-BE49-F238E27FC236}">
                <a16:creationId xmlns:a16="http://schemas.microsoft.com/office/drawing/2014/main" id="{BEB7D5B3-C116-4383-90F4-20B60B67B154}"/>
              </a:ext>
            </a:extLst>
          </p:cNvPr>
          <p:cNvSpPr>
            <a:spLocks noGrp="1"/>
          </p:cNvSpPr>
          <p:nvPr/>
        </p:nvSpPr>
        <p:spPr>
          <a:xfrm>
            <a:off x="11430000" y="2381250"/>
            <a:ext cx="953" cy="104775"/>
          </a:xfrm>
          <a:custGeom>
            <a:avLst/>
            <a:gdLst/>
            <a:ahLst/>
            <a:cxnLst/>
            <a:rect l="0" t="0" r="0" b="0"/>
            <a:pathLst>
              <a:path w="953" h="104775">
                <a:moveTo>
                  <a:pt x="0" y="0"/>
                </a:moveTo>
                <a:lnTo>
                  <a:pt x="0" y="104775"/>
                </a:lnTo>
              </a:path>
            </a:pathLst>
          </a:custGeom>
          <a:noFill/>
          <a:ln w="19050">
            <a:solidFill>
              <a:srgbClr val="BDCDC6"/>
            </a:solidFill>
          </a:ln>
        </p:spPr>
      </p:sp>
      <p:sp>
        <p:nvSpPr>
          <p:cNvPr id="32" name="任意多边形: 形状 31">
            <a:extLst>
              <a:ext uri="{FF2B5EF4-FFF2-40B4-BE49-F238E27FC236}">
                <a16:creationId xmlns:a16="http://schemas.microsoft.com/office/drawing/2014/main" id="{FEDDDC05-A3B1-4E1C-BF0F-1AC1CA08EE9F}"/>
              </a:ext>
            </a:extLst>
          </p:cNvPr>
          <p:cNvSpPr>
            <a:spLocks noGrp="1"/>
          </p:cNvSpPr>
          <p:nvPr/>
        </p:nvSpPr>
        <p:spPr>
          <a:xfrm>
            <a:off x="11430000" y="2571750"/>
            <a:ext cx="953" cy="104775"/>
          </a:xfrm>
          <a:custGeom>
            <a:avLst/>
            <a:gdLst/>
            <a:ahLst/>
            <a:cxnLst/>
            <a:rect l="0" t="0" r="0" b="0"/>
            <a:pathLst>
              <a:path w="953" h="104775">
                <a:moveTo>
                  <a:pt x="0" y="0"/>
                </a:moveTo>
                <a:lnTo>
                  <a:pt x="0" y="104775"/>
                </a:lnTo>
              </a:path>
            </a:pathLst>
          </a:custGeom>
          <a:noFill/>
          <a:ln w="19050">
            <a:solidFill>
              <a:srgbClr val="BDCDC6"/>
            </a:solidFill>
          </a:ln>
        </p:spPr>
      </p:sp>
      <p:sp>
        <p:nvSpPr>
          <p:cNvPr id="33" name="任意多边形: 形状 32">
            <a:extLst>
              <a:ext uri="{FF2B5EF4-FFF2-40B4-BE49-F238E27FC236}">
                <a16:creationId xmlns:a16="http://schemas.microsoft.com/office/drawing/2014/main" id="{79E6BB73-94B0-49C7-83EA-39B053541011}"/>
              </a:ext>
            </a:extLst>
          </p:cNvPr>
          <p:cNvSpPr>
            <a:spLocks noGrp="1"/>
          </p:cNvSpPr>
          <p:nvPr/>
        </p:nvSpPr>
        <p:spPr>
          <a:xfrm>
            <a:off x="11430000" y="2762250"/>
            <a:ext cx="953" cy="104775"/>
          </a:xfrm>
          <a:custGeom>
            <a:avLst/>
            <a:gdLst/>
            <a:ahLst/>
            <a:cxnLst/>
            <a:rect l="0" t="0" r="0" b="0"/>
            <a:pathLst>
              <a:path w="953" h="104775">
                <a:moveTo>
                  <a:pt x="0" y="0"/>
                </a:moveTo>
                <a:lnTo>
                  <a:pt x="0" y="104775"/>
                </a:lnTo>
              </a:path>
            </a:pathLst>
          </a:custGeom>
          <a:noFill/>
          <a:ln w="19050">
            <a:solidFill>
              <a:srgbClr val="BDCDC6"/>
            </a:solidFill>
          </a:ln>
        </p:spPr>
      </p:sp>
      <p:sp>
        <p:nvSpPr>
          <p:cNvPr id="34" name="任意多边形: 形状 33">
            <a:extLst>
              <a:ext uri="{FF2B5EF4-FFF2-40B4-BE49-F238E27FC236}">
                <a16:creationId xmlns:a16="http://schemas.microsoft.com/office/drawing/2014/main" id="{29DDE9E5-FD35-4B08-9B1E-26A20E81A25E}"/>
              </a:ext>
            </a:extLst>
          </p:cNvPr>
          <p:cNvSpPr>
            <a:spLocks noGrp="1"/>
          </p:cNvSpPr>
          <p:nvPr/>
        </p:nvSpPr>
        <p:spPr>
          <a:xfrm>
            <a:off x="11430000" y="2952750"/>
            <a:ext cx="953" cy="104775"/>
          </a:xfrm>
          <a:custGeom>
            <a:avLst/>
            <a:gdLst/>
            <a:ahLst/>
            <a:cxnLst/>
            <a:rect l="0" t="0" r="0" b="0"/>
            <a:pathLst>
              <a:path w="953" h="104775">
                <a:moveTo>
                  <a:pt x="0" y="0"/>
                </a:moveTo>
                <a:lnTo>
                  <a:pt x="0" y="104775"/>
                </a:lnTo>
              </a:path>
            </a:pathLst>
          </a:custGeom>
          <a:noFill/>
          <a:ln w="19050">
            <a:solidFill>
              <a:srgbClr val="BDCDC6"/>
            </a:solidFill>
          </a:ln>
        </p:spPr>
      </p:sp>
      <p:sp>
        <p:nvSpPr>
          <p:cNvPr id="35" name="任意多边形: 形状 34">
            <a:extLst>
              <a:ext uri="{FF2B5EF4-FFF2-40B4-BE49-F238E27FC236}">
                <a16:creationId xmlns:a16="http://schemas.microsoft.com/office/drawing/2014/main" id="{A59808BE-2246-4EB1-99C2-4E836D8039B5}"/>
              </a:ext>
            </a:extLst>
          </p:cNvPr>
          <p:cNvSpPr>
            <a:spLocks noGrp="1"/>
          </p:cNvSpPr>
          <p:nvPr/>
        </p:nvSpPr>
        <p:spPr>
          <a:xfrm>
            <a:off x="11430000" y="3143250"/>
            <a:ext cx="953" cy="104775"/>
          </a:xfrm>
          <a:custGeom>
            <a:avLst/>
            <a:gdLst/>
            <a:ahLst/>
            <a:cxnLst/>
            <a:rect l="0" t="0" r="0" b="0"/>
            <a:pathLst>
              <a:path w="953" h="104775">
                <a:moveTo>
                  <a:pt x="0" y="0"/>
                </a:moveTo>
                <a:lnTo>
                  <a:pt x="0" y="104775"/>
                </a:lnTo>
              </a:path>
            </a:pathLst>
          </a:custGeom>
          <a:noFill/>
          <a:ln w="19050">
            <a:solidFill>
              <a:srgbClr val="BDCDC6"/>
            </a:solidFill>
          </a:ln>
        </p:spPr>
      </p:sp>
      <p:sp>
        <p:nvSpPr>
          <p:cNvPr id="36" name="任意多边形: 形状 35">
            <a:extLst>
              <a:ext uri="{FF2B5EF4-FFF2-40B4-BE49-F238E27FC236}">
                <a16:creationId xmlns:a16="http://schemas.microsoft.com/office/drawing/2014/main" id="{19018AC9-ABF9-4D59-B442-AD81E8D89365}"/>
              </a:ext>
            </a:extLst>
          </p:cNvPr>
          <p:cNvSpPr>
            <a:spLocks noGrp="1"/>
          </p:cNvSpPr>
          <p:nvPr/>
        </p:nvSpPr>
        <p:spPr>
          <a:xfrm>
            <a:off x="11430000" y="3333750"/>
            <a:ext cx="953" cy="104775"/>
          </a:xfrm>
          <a:custGeom>
            <a:avLst/>
            <a:gdLst/>
            <a:ahLst/>
            <a:cxnLst/>
            <a:rect l="0" t="0" r="0" b="0"/>
            <a:pathLst>
              <a:path w="953" h="104775">
                <a:moveTo>
                  <a:pt x="0" y="0"/>
                </a:moveTo>
                <a:lnTo>
                  <a:pt x="0" y="104775"/>
                </a:lnTo>
              </a:path>
            </a:pathLst>
          </a:custGeom>
          <a:noFill/>
          <a:ln w="19050">
            <a:solidFill>
              <a:srgbClr val="BDCDC6"/>
            </a:solidFill>
          </a:ln>
        </p:spPr>
      </p:sp>
      <p:sp>
        <p:nvSpPr>
          <p:cNvPr id="37" name="任意多边形: 形状 36">
            <a:extLst>
              <a:ext uri="{FF2B5EF4-FFF2-40B4-BE49-F238E27FC236}">
                <a16:creationId xmlns:a16="http://schemas.microsoft.com/office/drawing/2014/main" id="{30E4BB3D-DB47-4A4F-A57E-580AD8C0C107}"/>
              </a:ext>
            </a:extLst>
          </p:cNvPr>
          <p:cNvSpPr>
            <a:spLocks noGrp="1"/>
          </p:cNvSpPr>
          <p:nvPr/>
        </p:nvSpPr>
        <p:spPr>
          <a:xfrm>
            <a:off x="11430000" y="3524250"/>
            <a:ext cx="953" cy="104775"/>
          </a:xfrm>
          <a:custGeom>
            <a:avLst/>
            <a:gdLst/>
            <a:ahLst/>
            <a:cxnLst/>
            <a:rect l="0" t="0" r="0" b="0"/>
            <a:pathLst>
              <a:path w="953" h="104775">
                <a:moveTo>
                  <a:pt x="0" y="0"/>
                </a:moveTo>
                <a:lnTo>
                  <a:pt x="0" y="104775"/>
                </a:lnTo>
              </a:path>
            </a:pathLst>
          </a:custGeom>
          <a:noFill/>
          <a:ln w="19050">
            <a:solidFill>
              <a:srgbClr val="BDCDC6"/>
            </a:solidFill>
          </a:ln>
        </p:spPr>
      </p:sp>
      <p:sp>
        <p:nvSpPr>
          <p:cNvPr id="38" name="任意多边形: 形状 37">
            <a:extLst>
              <a:ext uri="{FF2B5EF4-FFF2-40B4-BE49-F238E27FC236}">
                <a16:creationId xmlns:a16="http://schemas.microsoft.com/office/drawing/2014/main" id="{0494AE85-9134-40B2-95C7-77EE18AFFCA6}"/>
              </a:ext>
            </a:extLst>
          </p:cNvPr>
          <p:cNvSpPr>
            <a:spLocks noGrp="1"/>
          </p:cNvSpPr>
          <p:nvPr/>
        </p:nvSpPr>
        <p:spPr>
          <a:xfrm>
            <a:off x="11430000" y="3714750"/>
            <a:ext cx="953" cy="104775"/>
          </a:xfrm>
          <a:custGeom>
            <a:avLst/>
            <a:gdLst/>
            <a:ahLst/>
            <a:cxnLst/>
            <a:rect l="0" t="0" r="0" b="0"/>
            <a:pathLst>
              <a:path w="953" h="104775">
                <a:moveTo>
                  <a:pt x="0" y="0"/>
                </a:moveTo>
                <a:lnTo>
                  <a:pt x="0" y="104775"/>
                </a:lnTo>
              </a:path>
            </a:pathLst>
          </a:custGeom>
          <a:noFill/>
          <a:ln w="19050">
            <a:solidFill>
              <a:srgbClr val="BDCDC6"/>
            </a:solidFill>
          </a:ln>
        </p:spPr>
      </p:sp>
      <p:sp>
        <p:nvSpPr>
          <p:cNvPr id="39" name="任意多边形: 形状 38">
            <a:extLst>
              <a:ext uri="{FF2B5EF4-FFF2-40B4-BE49-F238E27FC236}">
                <a16:creationId xmlns:a16="http://schemas.microsoft.com/office/drawing/2014/main" id="{B32D4E7D-9955-4A5E-A78E-3A90CD9949F2}"/>
              </a:ext>
            </a:extLst>
          </p:cNvPr>
          <p:cNvSpPr>
            <a:spLocks noGrp="1"/>
          </p:cNvSpPr>
          <p:nvPr/>
        </p:nvSpPr>
        <p:spPr>
          <a:xfrm>
            <a:off x="11430000" y="3905250"/>
            <a:ext cx="953" cy="104775"/>
          </a:xfrm>
          <a:custGeom>
            <a:avLst/>
            <a:gdLst/>
            <a:ahLst/>
            <a:cxnLst/>
            <a:rect l="0" t="0" r="0" b="0"/>
            <a:pathLst>
              <a:path w="953" h="104775">
                <a:moveTo>
                  <a:pt x="0" y="0"/>
                </a:moveTo>
                <a:lnTo>
                  <a:pt x="0" y="104775"/>
                </a:lnTo>
              </a:path>
            </a:pathLst>
          </a:custGeom>
          <a:noFill/>
          <a:ln w="19050">
            <a:solidFill>
              <a:srgbClr val="BDCDC6"/>
            </a:solidFill>
          </a:ln>
        </p:spPr>
      </p:sp>
      <p:sp>
        <p:nvSpPr>
          <p:cNvPr id="40" name="任意多边形: 形状 39">
            <a:extLst>
              <a:ext uri="{FF2B5EF4-FFF2-40B4-BE49-F238E27FC236}">
                <a16:creationId xmlns:a16="http://schemas.microsoft.com/office/drawing/2014/main" id="{1EC18E51-16A5-47D0-B1E6-BA7408EEC8F7}"/>
              </a:ext>
            </a:extLst>
          </p:cNvPr>
          <p:cNvSpPr>
            <a:spLocks noGrp="1"/>
          </p:cNvSpPr>
          <p:nvPr/>
        </p:nvSpPr>
        <p:spPr>
          <a:xfrm>
            <a:off x="11430000" y="4095750"/>
            <a:ext cx="953" cy="104775"/>
          </a:xfrm>
          <a:custGeom>
            <a:avLst/>
            <a:gdLst/>
            <a:ahLst/>
            <a:cxnLst/>
            <a:rect l="0" t="0" r="0" b="0"/>
            <a:pathLst>
              <a:path w="953" h="104775">
                <a:moveTo>
                  <a:pt x="0" y="0"/>
                </a:moveTo>
                <a:lnTo>
                  <a:pt x="0" y="104775"/>
                </a:lnTo>
              </a:path>
            </a:pathLst>
          </a:custGeom>
          <a:noFill/>
          <a:ln w="19050">
            <a:solidFill>
              <a:srgbClr val="BDCDC6"/>
            </a:solidFill>
          </a:ln>
        </p:spPr>
      </p:sp>
      <p:sp>
        <p:nvSpPr>
          <p:cNvPr id="41" name="任意多边形: 形状 40">
            <a:extLst>
              <a:ext uri="{FF2B5EF4-FFF2-40B4-BE49-F238E27FC236}">
                <a16:creationId xmlns:a16="http://schemas.microsoft.com/office/drawing/2014/main" id="{CB1F4480-1BE8-4A46-AB5E-C1C1C761F4EC}"/>
              </a:ext>
            </a:extLst>
          </p:cNvPr>
          <p:cNvSpPr>
            <a:spLocks noGrp="1"/>
          </p:cNvSpPr>
          <p:nvPr/>
        </p:nvSpPr>
        <p:spPr>
          <a:xfrm>
            <a:off x="11430000" y="4286250"/>
            <a:ext cx="953" cy="104775"/>
          </a:xfrm>
          <a:custGeom>
            <a:avLst/>
            <a:gdLst/>
            <a:ahLst/>
            <a:cxnLst/>
            <a:rect l="0" t="0" r="0" b="0"/>
            <a:pathLst>
              <a:path w="953" h="104775">
                <a:moveTo>
                  <a:pt x="0" y="0"/>
                </a:moveTo>
                <a:lnTo>
                  <a:pt x="0" y="104775"/>
                </a:lnTo>
              </a:path>
            </a:pathLst>
          </a:custGeom>
          <a:noFill/>
          <a:ln w="19050">
            <a:solidFill>
              <a:srgbClr val="BDCDC6"/>
            </a:solidFill>
          </a:ln>
        </p:spPr>
      </p:sp>
      <p:sp>
        <p:nvSpPr>
          <p:cNvPr id="42" name="任意多边形: 形状 41">
            <a:extLst>
              <a:ext uri="{FF2B5EF4-FFF2-40B4-BE49-F238E27FC236}">
                <a16:creationId xmlns:a16="http://schemas.microsoft.com/office/drawing/2014/main" id="{B2A466C8-5F80-4EAB-8193-AE7701265D98}"/>
              </a:ext>
            </a:extLst>
          </p:cNvPr>
          <p:cNvSpPr>
            <a:spLocks noGrp="1"/>
          </p:cNvSpPr>
          <p:nvPr/>
        </p:nvSpPr>
        <p:spPr>
          <a:xfrm>
            <a:off x="11430000" y="4476750"/>
            <a:ext cx="953" cy="104775"/>
          </a:xfrm>
          <a:custGeom>
            <a:avLst/>
            <a:gdLst/>
            <a:ahLst/>
            <a:cxnLst/>
            <a:rect l="0" t="0" r="0" b="0"/>
            <a:pathLst>
              <a:path w="953" h="104775">
                <a:moveTo>
                  <a:pt x="0" y="0"/>
                </a:moveTo>
                <a:lnTo>
                  <a:pt x="0" y="104775"/>
                </a:lnTo>
              </a:path>
            </a:pathLst>
          </a:custGeom>
          <a:noFill/>
          <a:ln w="19050">
            <a:solidFill>
              <a:srgbClr val="BDCDC6"/>
            </a:solidFill>
          </a:ln>
        </p:spPr>
      </p:sp>
      <p:sp>
        <p:nvSpPr>
          <p:cNvPr id="43" name="任意多边形: 形状 42">
            <a:extLst>
              <a:ext uri="{FF2B5EF4-FFF2-40B4-BE49-F238E27FC236}">
                <a16:creationId xmlns:a16="http://schemas.microsoft.com/office/drawing/2014/main" id="{122711D7-B3E7-476F-A48C-A763EB874AD9}"/>
              </a:ext>
            </a:extLst>
          </p:cNvPr>
          <p:cNvSpPr>
            <a:spLocks noGrp="1"/>
          </p:cNvSpPr>
          <p:nvPr/>
        </p:nvSpPr>
        <p:spPr>
          <a:xfrm>
            <a:off x="11430000" y="4667250"/>
            <a:ext cx="953" cy="104775"/>
          </a:xfrm>
          <a:custGeom>
            <a:avLst/>
            <a:gdLst/>
            <a:ahLst/>
            <a:cxnLst/>
            <a:rect l="0" t="0" r="0" b="0"/>
            <a:pathLst>
              <a:path w="953" h="104775">
                <a:moveTo>
                  <a:pt x="0" y="0"/>
                </a:moveTo>
                <a:lnTo>
                  <a:pt x="0" y="104775"/>
                </a:lnTo>
              </a:path>
            </a:pathLst>
          </a:custGeom>
          <a:noFill/>
          <a:ln w="19050">
            <a:solidFill>
              <a:srgbClr val="BDCDC6"/>
            </a:solidFill>
          </a:ln>
        </p:spPr>
      </p:sp>
      <p:sp>
        <p:nvSpPr>
          <p:cNvPr id="44" name="任意多边形: 形状 43">
            <a:extLst>
              <a:ext uri="{FF2B5EF4-FFF2-40B4-BE49-F238E27FC236}">
                <a16:creationId xmlns:a16="http://schemas.microsoft.com/office/drawing/2014/main" id="{D1007B89-C2EA-4BAC-B997-CB1FC5FE33B6}"/>
              </a:ext>
            </a:extLst>
          </p:cNvPr>
          <p:cNvSpPr>
            <a:spLocks noGrp="1"/>
          </p:cNvSpPr>
          <p:nvPr/>
        </p:nvSpPr>
        <p:spPr>
          <a:xfrm>
            <a:off x="11430000" y="4857750"/>
            <a:ext cx="953" cy="104775"/>
          </a:xfrm>
          <a:custGeom>
            <a:avLst/>
            <a:gdLst/>
            <a:ahLst/>
            <a:cxnLst/>
            <a:rect l="0" t="0" r="0" b="0"/>
            <a:pathLst>
              <a:path w="953" h="104775">
                <a:moveTo>
                  <a:pt x="0" y="0"/>
                </a:moveTo>
                <a:lnTo>
                  <a:pt x="0" y="104775"/>
                </a:lnTo>
              </a:path>
            </a:pathLst>
          </a:custGeom>
          <a:noFill/>
          <a:ln w="19050">
            <a:solidFill>
              <a:srgbClr val="BDCDC6"/>
            </a:solidFill>
          </a:ln>
        </p:spPr>
      </p:sp>
      <p:sp>
        <p:nvSpPr>
          <p:cNvPr id="45" name="任意多边形: 形状 44">
            <a:extLst>
              <a:ext uri="{FF2B5EF4-FFF2-40B4-BE49-F238E27FC236}">
                <a16:creationId xmlns:a16="http://schemas.microsoft.com/office/drawing/2014/main" id="{AE5400A0-3511-466C-8F2A-004CC886B507}"/>
              </a:ext>
            </a:extLst>
          </p:cNvPr>
          <p:cNvSpPr>
            <a:spLocks noGrp="1"/>
          </p:cNvSpPr>
          <p:nvPr/>
        </p:nvSpPr>
        <p:spPr>
          <a:xfrm>
            <a:off x="11430000" y="5048250"/>
            <a:ext cx="953" cy="104775"/>
          </a:xfrm>
          <a:custGeom>
            <a:avLst/>
            <a:gdLst/>
            <a:ahLst/>
            <a:cxnLst/>
            <a:rect l="0" t="0" r="0" b="0"/>
            <a:pathLst>
              <a:path w="953" h="104775">
                <a:moveTo>
                  <a:pt x="0" y="0"/>
                </a:moveTo>
                <a:lnTo>
                  <a:pt x="0" y="104775"/>
                </a:lnTo>
              </a:path>
            </a:pathLst>
          </a:custGeom>
          <a:noFill/>
          <a:ln w="19050">
            <a:solidFill>
              <a:srgbClr val="BDCDC6"/>
            </a:solidFill>
          </a:ln>
        </p:spPr>
      </p:sp>
      <p:sp>
        <p:nvSpPr>
          <p:cNvPr id="46" name="任意多边形: 形状 45">
            <a:extLst>
              <a:ext uri="{FF2B5EF4-FFF2-40B4-BE49-F238E27FC236}">
                <a16:creationId xmlns:a16="http://schemas.microsoft.com/office/drawing/2014/main" id="{BC6BAFCC-DB36-469E-93D7-AD98727560A4}"/>
              </a:ext>
            </a:extLst>
          </p:cNvPr>
          <p:cNvSpPr>
            <a:spLocks noGrp="1"/>
          </p:cNvSpPr>
          <p:nvPr/>
        </p:nvSpPr>
        <p:spPr>
          <a:xfrm>
            <a:off x="11430000" y="5238750"/>
            <a:ext cx="953" cy="104775"/>
          </a:xfrm>
          <a:custGeom>
            <a:avLst/>
            <a:gdLst/>
            <a:ahLst/>
            <a:cxnLst/>
            <a:rect l="0" t="0" r="0" b="0"/>
            <a:pathLst>
              <a:path w="953" h="104775">
                <a:moveTo>
                  <a:pt x="0" y="0"/>
                </a:moveTo>
                <a:lnTo>
                  <a:pt x="0" y="104775"/>
                </a:lnTo>
              </a:path>
            </a:pathLst>
          </a:custGeom>
          <a:noFill/>
          <a:ln w="19050">
            <a:solidFill>
              <a:srgbClr val="BDCDC6"/>
            </a:solidFill>
          </a:ln>
        </p:spPr>
      </p:sp>
      <p:sp>
        <p:nvSpPr>
          <p:cNvPr id="47" name="椭圆 46">
            <a:extLst>
              <a:ext uri="{FF2B5EF4-FFF2-40B4-BE49-F238E27FC236}">
                <a16:creationId xmlns:a16="http://schemas.microsoft.com/office/drawing/2014/main" id="{B84A9698-1C2E-4F07-A385-C86182B2C6C4}"/>
              </a:ext>
            </a:extLst>
          </p:cNvPr>
          <p:cNvSpPr>
            <a:spLocks noGrp="1"/>
          </p:cNvSpPr>
          <p:nvPr/>
        </p:nvSpPr>
        <p:spPr>
          <a:xfrm>
            <a:off x="361950" y="5524500"/>
            <a:ext cx="476250" cy="476250"/>
          </a:xfrm>
          <a:prstGeom prst="ellipse">
            <a:avLst/>
          </a:prstGeom>
          <a:solidFill>
            <a:srgbClr val="366755"/>
          </a:solidFill>
          <a:ln w="0">
            <a:noFill/>
          </a:ln>
        </p:spPr>
        <p:txBody>
          <a:bodyPr lIns="0" tIns="0" rIns="0" bIns="0" anchor="ctr"/>
          <a:lstStyle/>
          <a:p>
            <a:pPr algn="ctr">
              <a:defRPr sz="23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48" name="矩形 47">
            <a:extLst>
              <a:ext uri="{FF2B5EF4-FFF2-40B4-BE49-F238E27FC236}">
                <a16:creationId xmlns:a16="http://schemas.microsoft.com/office/drawing/2014/main" id="{0CCF1165-4285-47A5-89F2-DA0BD96046E7}"/>
              </a:ext>
            </a:extLst>
          </p:cNvPr>
          <p:cNvSpPr>
            <a:spLocks noGrp="1"/>
          </p:cNvSpPr>
          <p:nvPr/>
        </p:nvSpPr>
        <p:spPr>
          <a:xfrm>
            <a:off x="1238250" y="5543550"/>
            <a:ext cx="2000250" cy="4572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2850" b="1">
                <a:solidFill>
                  <a:srgbClr val="366755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366755"/>
                </a:solidFill>
                <a:latin typeface="Arial"/>
                <a:ea typeface="Arial"/>
                <a:cs typeface="Arial"/>
              </a:rPr>
              <a:t>Find</a:t>
            </a:r>
          </a:p>
        </p:txBody>
      </p:sp>
      <p:sp>
        <p:nvSpPr>
          <p:cNvPr id="49" name="矩形 48">
            <a:extLst>
              <a:ext uri="{FF2B5EF4-FFF2-40B4-BE49-F238E27FC236}">
                <a16:creationId xmlns:a16="http://schemas.microsoft.com/office/drawing/2014/main" id="{4E29A0A8-AFE9-4A28-9D54-CA0ECBCB9E03}"/>
              </a:ext>
            </a:extLst>
          </p:cNvPr>
          <p:cNvSpPr>
            <a:spLocks noGrp="1"/>
          </p:cNvSpPr>
          <p:nvPr/>
        </p:nvSpPr>
        <p:spPr>
          <a:xfrm>
            <a:off x="3524250" y="5572125"/>
            <a:ext cx="12715875" cy="4000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2325" b="0">
                <a:solidFill>
                  <a:srgbClr val="60717A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60717A"/>
                </a:solidFill>
                <a:latin typeface="Arial"/>
                <a:ea typeface="Arial"/>
                <a:cs typeface="Arial"/>
              </a:rPr>
              <a:t>Locating candidate ligand regions in the experimental map</a:t>
            </a:r>
          </a:p>
        </p:txBody>
      </p:sp>
      <p:sp>
        <p:nvSpPr>
          <p:cNvPr id="50" name="任意多边形: 形状 49">
            <a:extLst>
              <a:ext uri="{FF2B5EF4-FFF2-40B4-BE49-F238E27FC236}">
                <a16:creationId xmlns:a16="http://schemas.microsoft.com/office/drawing/2014/main" id="{47085D7C-A566-4DB8-A283-93D42355323A}"/>
              </a:ext>
            </a:extLst>
          </p:cNvPr>
          <p:cNvSpPr>
            <a:spLocks noGrp="1"/>
          </p:cNvSpPr>
          <p:nvPr/>
        </p:nvSpPr>
        <p:spPr>
          <a:xfrm>
            <a:off x="1238250" y="6105525"/>
            <a:ext cx="15049500" cy="953"/>
          </a:xfrm>
          <a:custGeom>
            <a:avLst/>
            <a:gdLst/>
            <a:ahLst/>
            <a:cxnLst/>
            <a:rect l="0" t="0" r="0" b="0"/>
            <a:pathLst>
              <a:path w="15049500" h="953">
                <a:moveTo>
                  <a:pt x="0" y="0"/>
                </a:moveTo>
                <a:lnTo>
                  <a:pt x="15049500" y="0"/>
                </a:lnTo>
              </a:path>
            </a:pathLst>
          </a:custGeom>
          <a:noFill/>
          <a:ln w="19050">
            <a:solidFill>
              <a:srgbClr val="E6EDEB"/>
            </a:solidFill>
          </a:ln>
        </p:spPr>
      </p:sp>
      <p:sp>
        <p:nvSpPr>
          <p:cNvPr id="51" name="矩形 50">
            <a:extLst>
              <a:ext uri="{FF2B5EF4-FFF2-40B4-BE49-F238E27FC236}">
                <a16:creationId xmlns:a16="http://schemas.microsoft.com/office/drawing/2014/main" id="{BC503087-BF8E-4BBA-ABC4-35B0789A6B19}"/>
              </a:ext>
            </a:extLst>
          </p:cNvPr>
          <p:cNvSpPr>
            <a:spLocks noGrp="1"/>
          </p:cNvSpPr>
          <p:nvPr/>
        </p:nvSpPr>
        <p:spPr>
          <a:xfrm>
            <a:off x="1238250" y="6248400"/>
            <a:ext cx="352425" cy="3714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2475" b="1">
                <a:solidFill>
                  <a:srgbClr val="203544"/>
                </a:solidFill>
                <a:latin typeface="Arial"/>
                <a:ea typeface="Arial"/>
                <a:cs typeface="Arial"/>
              </a:defRPr>
            </a:pPr>
            <a:r>
              <a:rPr sz="2475" b="1">
                <a:solidFill>
                  <a:srgbClr val="203544"/>
                </a:solidFill>
                <a:latin typeface="Arial"/>
                <a:ea typeface="Arial"/>
                <a:cs typeface="Arial"/>
              </a:rPr>
              <a:t>d</a:t>
            </a:r>
          </a:p>
        </p:txBody>
      </p:sp>
      <p:sp>
        <p:nvSpPr>
          <p:cNvPr id="52" name="矩形 51">
            <a:extLst>
              <a:ext uri="{FF2B5EF4-FFF2-40B4-BE49-F238E27FC236}">
                <a16:creationId xmlns:a16="http://schemas.microsoft.com/office/drawing/2014/main" id="{85CB475E-99BE-4092-BE88-9EB518A88A3B}"/>
              </a:ext>
            </a:extLst>
          </p:cNvPr>
          <p:cNvSpPr>
            <a:spLocks noGrp="1"/>
          </p:cNvSpPr>
          <p:nvPr/>
        </p:nvSpPr>
        <p:spPr>
          <a:xfrm>
            <a:off x="1657350" y="6257925"/>
            <a:ext cx="5486400" cy="3714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2325" b="0">
                <a:solidFill>
                  <a:srgbClr val="203544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203544"/>
                </a:solidFill>
                <a:latin typeface="Arial"/>
                <a:ea typeface="Arial"/>
                <a:cs typeface="Arial"/>
              </a:rPr>
              <a:t>Global candidates</a:t>
            </a:r>
          </a:p>
        </p:txBody>
      </p:sp>
      <p:pic>
        <p:nvPicPr>
          <p:cNvPr id="153" name="global_find" descr="9LLG global_find; native ChimeraX; source C:\Users\15919\Desktop\论文草稿\画图\formal\E2E_flow_v2_20261003\9llg\renders\global_find.png; editable crop only"/>
          <p:cNvPicPr>
            <a:picLocks noChangeAspect="1"/>
          </p:cNvPicPr>
          <p:nvPr/>
        </p:nvPicPr>
        <p:blipFill>
          <a:blip r:embed="rId7"/>
          <a:srcRect l="19010" t="9983" r="23368" b="14831"/>
          <a:stretch>
            <a:fillRect/>
          </a:stretch>
        </p:blipFill>
        <p:spPr>
          <a:xfrm>
            <a:off x="2098361" y="6715125"/>
            <a:ext cx="4185277" cy="4095750"/>
          </a:xfrm>
          <a:prstGeom prst="rect">
            <a:avLst/>
          </a:prstGeom>
        </p:spPr>
      </p:pic>
      <p:sp>
        <p:nvSpPr>
          <p:cNvPr id="54" name="target blob 0">
            <a:extLst>
              <a:ext uri="{FF2B5EF4-FFF2-40B4-BE49-F238E27FC236}">
                <a16:creationId xmlns:a16="http://schemas.microsoft.com/office/drawing/2014/main" id="{C3CBA454-24DE-458D-AAEB-853E147516F6}"/>
              </a:ext>
            </a:extLst>
          </p:cNvPr>
          <p:cNvSpPr>
            <a:spLocks noGrp="1"/>
          </p:cNvSpPr>
          <p:nvPr/>
        </p:nvSpPr>
        <p:spPr>
          <a:xfrm>
            <a:off x="4484420" y="7450649"/>
            <a:ext cx="699845" cy="796183"/>
          </a:xfrm>
          <a:prstGeom prst="rect">
            <a:avLst/>
          </a:prstGeom>
          <a:noFill/>
          <a:ln w="28575">
            <a:solidFill>
              <a:srgbClr val="E9983C"/>
            </a:solidFill>
          </a:ln>
        </p:spPr>
      </p:sp>
      <p:sp>
        <p:nvSpPr>
          <p:cNvPr id="55" name="矩形 54">
            <a:extLst>
              <a:ext uri="{FF2B5EF4-FFF2-40B4-BE49-F238E27FC236}">
                <a16:creationId xmlns:a16="http://schemas.microsoft.com/office/drawing/2014/main" id="{B9D6B203-0840-4559-BCCF-FB60C3EAE482}"/>
              </a:ext>
            </a:extLst>
          </p:cNvPr>
          <p:cNvSpPr>
            <a:spLocks noGrp="1"/>
          </p:cNvSpPr>
          <p:nvPr/>
        </p:nvSpPr>
        <p:spPr>
          <a:xfrm>
            <a:off x="7905750" y="6248400"/>
            <a:ext cx="352425" cy="3714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2475" b="1">
                <a:solidFill>
                  <a:srgbClr val="203544"/>
                </a:solidFill>
                <a:latin typeface="Arial"/>
                <a:ea typeface="Arial"/>
                <a:cs typeface="Arial"/>
              </a:defRPr>
            </a:pPr>
            <a:r>
              <a:rPr sz="2475" b="1">
                <a:solidFill>
                  <a:srgbClr val="203544"/>
                </a:solidFill>
                <a:latin typeface="Arial"/>
                <a:ea typeface="Arial"/>
                <a:cs typeface="Arial"/>
              </a:rPr>
              <a:t>e</a:t>
            </a:r>
          </a:p>
        </p:txBody>
      </p:sp>
      <p:sp>
        <p:nvSpPr>
          <p:cNvPr id="56" name="矩形 55">
            <a:extLst>
              <a:ext uri="{FF2B5EF4-FFF2-40B4-BE49-F238E27FC236}">
                <a16:creationId xmlns:a16="http://schemas.microsoft.com/office/drawing/2014/main" id="{06CACA13-8C36-4ECE-ABCE-812352A52564}"/>
              </a:ext>
            </a:extLst>
          </p:cNvPr>
          <p:cNvSpPr>
            <a:spLocks noGrp="1"/>
          </p:cNvSpPr>
          <p:nvPr/>
        </p:nvSpPr>
        <p:spPr>
          <a:xfrm>
            <a:off x="8324850" y="6257925"/>
            <a:ext cx="3629025" cy="3714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2325" b="0">
                <a:solidFill>
                  <a:srgbClr val="203544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203544"/>
                </a:solidFill>
                <a:latin typeface="Arial"/>
                <a:ea typeface="Arial"/>
                <a:cs typeface="Arial"/>
              </a:rPr>
              <a:t>GT neighborhood</a:t>
            </a:r>
          </a:p>
        </p:txBody>
      </p:sp>
      <p:sp>
        <p:nvSpPr>
          <p:cNvPr id="57" name="矩形 56">
            <a:extLst>
              <a:ext uri="{FF2B5EF4-FFF2-40B4-BE49-F238E27FC236}">
                <a16:creationId xmlns:a16="http://schemas.microsoft.com/office/drawing/2014/main" id="{863C9CB0-49FB-4B9E-BC2F-166FAA58ACD5}"/>
              </a:ext>
            </a:extLst>
          </p:cNvPr>
          <p:cNvSpPr>
            <a:spLocks noGrp="1"/>
          </p:cNvSpPr>
          <p:nvPr/>
        </p:nvSpPr>
        <p:spPr>
          <a:xfrm>
            <a:off x="12239625" y="6248400"/>
            <a:ext cx="352425" cy="3714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2475" b="1">
                <a:solidFill>
                  <a:srgbClr val="203544"/>
                </a:solidFill>
                <a:latin typeface="Arial"/>
                <a:ea typeface="Arial"/>
                <a:cs typeface="Arial"/>
              </a:defRPr>
            </a:pPr>
            <a:r>
              <a:rPr sz="2475" b="1">
                <a:solidFill>
                  <a:srgbClr val="203544"/>
                </a:solidFill>
                <a:latin typeface="Arial"/>
                <a:ea typeface="Arial"/>
                <a:cs typeface="Arial"/>
              </a:rPr>
              <a:t>f</a:t>
            </a:r>
          </a:p>
        </p:txBody>
      </p:sp>
      <p:sp>
        <p:nvSpPr>
          <p:cNvPr id="58" name="矩形 57">
            <a:extLst>
              <a:ext uri="{FF2B5EF4-FFF2-40B4-BE49-F238E27FC236}">
                <a16:creationId xmlns:a16="http://schemas.microsoft.com/office/drawing/2014/main" id="{32DB4897-DF10-40DC-A35C-27A3F4CB9E5B}"/>
              </a:ext>
            </a:extLst>
          </p:cNvPr>
          <p:cNvSpPr>
            <a:spLocks noGrp="1"/>
          </p:cNvSpPr>
          <p:nvPr/>
        </p:nvSpPr>
        <p:spPr>
          <a:xfrm>
            <a:off x="12658725" y="6257925"/>
            <a:ext cx="3629025" cy="3714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2325" b="0">
                <a:solidFill>
                  <a:srgbClr val="203544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203544"/>
                </a:solidFill>
                <a:latin typeface="Arial"/>
                <a:ea typeface="Arial"/>
                <a:cs typeface="Arial"/>
              </a:rPr>
              <a:t>Find prediction</a:t>
            </a:r>
          </a:p>
        </p:txBody>
      </p:sp>
      <p:sp>
        <p:nvSpPr>
          <p:cNvPr id="59" name="矩形 58">
            <a:extLst>
              <a:ext uri="{FF2B5EF4-FFF2-40B4-BE49-F238E27FC236}">
                <a16:creationId xmlns:a16="http://schemas.microsoft.com/office/drawing/2014/main" id="{283922EE-329C-430C-82D0-108D1FAB5024}"/>
              </a:ext>
            </a:extLst>
          </p:cNvPr>
          <p:cNvSpPr>
            <a:spLocks noGrp="1"/>
          </p:cNvSpPr>
          <p:nvPr/>
        </p:nvSpPr>
        <p:spPr>
          <a:xfrm>
            <a:off x="7905750" y="6677025"/>
            <a:ext cx="8382000" cy="381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2250" b="1">
                <a:solidFill>
                  <a:srgbClr val="E9983C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E9983C"/>
                </a:solidFill>
                <a:latin typeface="Arial"/>
                <a:ea typeface="Arial"/>
                <a:cs typeface="Arial"/>
              </a:rPr>
              <a:t>Rank 1: target ligand</a:t>
            </a:r>
          </a:p>
        </p:txBody>
      </p:sp>
      <p:pic>
        <p:nvPicPr>
          <p:cNvPr id="160" name="local_gt" descr="9LLG local_gt; native ChimeraX; source C:\Users\15919\Desktop\论文草稿\画图\formal\E2E_flow_20261003\9llg\renders\local_gt.png; editable crop only"/>
          <p:cNvPicPr>
            <a:picLocks noChangeAspect="1"/>
          </p:cNvPicPr>
          <p:nvPr/>
        </p:nvPicPr>
        <p:blipFill>
          <a:blip r:embed="rId8"/>
          <a:srcRect l="7917" r="7569"/>
          <a:stretch>
            <a:fillRect/>
          </a:stretch>
        </p:blipFill>
        <p:spPr>
          <a:xfrm>
            <a:off x="8051491" y="7115175"/>
            <a:ext cx="3756642" cy="3333750"/>
          </a:xfrm>
          <a:prstGeom prst="rect">
            <a:avLst/>
          </a:prstGeom>
        </p:spPr>
      </p:pic>
      <p:pic>
        <p:nvPicPr>
          <p:cNvPr id="161" name="local_find" descr="9LLG local_find; native ChimeraX; source C:\Users\15919\Desktop\论文草稿\画图\formal\E2E_flow_20261003\9llg\renders\local_find.png; editable crop only"/>
          <p:cNvPicPr>
            <a:picLocks noChangeAspect="1"/>
          </p:cNvPicPr>
          <p:nvPr/>
        </p:nvPicPr>
        <p:blipFill>
          <a:blip r:embed="rId9"/>
          <a:srcRect l="7917" r="7569"/>
          <a:stretch>
            <a:fillRect/>
          </a:stretch>
        </p:blipFill>
        <p:spPr>
          <a:xfrm>
            <a:off x="12385366" y="7115175"/>
            <a:ext cx="3756642" cy="3333750"/>
          </a:xfrm>
          <a:prstGeom prst="rect">
            <a:avLst/>
          </a:prstGeom>
        </p:spPr>
      </p:pic>
      <p:sp>
        <p:nvSpPr>
          <p:cNvPr id="62" name="椭圆 61">
            <a:extLst>
              <a:ext uri="{FF2B5EF4-FFF2-40B4-BE49-F238E27FC236}">
                <a16:creationId xmlns:a16="http://schemas.microsoft.com/office/drawing/2014/main" id="{EDF98519-5605-454B-9B2B-B8B9EFFA4BDD}"/>
              </a:ext>
            </a:extLst>
          </p:cNvPr>
          <p:cNvSpPr>
            <a:spLocks noGrp="1"/>
          </p:cNvSpPr>
          <p:nvPr/>
        </p:nvSpPr>
        <p:spPr>
          <a:xfrm>
            <a:off x="361950" y="10991850"/>
            <a:ext cx="476250" cy="476250"/>
          </a:xfrm>
          <a:prstGeom prst="ellipse">
            <a:avLst/>
          </a:prstGeom>
          <a:solidFill>
            <a:srgbClr val="366755"/>
          </a:solidFill>
          <a:ln w="0">
            <a:noFill/>
          </a:ln>
        </p:spPr>
        <p:txBody>
          <a:bodyPr lIns="0" tIns="0" rIns="0" bIns="0" anchor="ctr"/>
          <a:lstStyle/>
          <a:p>
            <a:pPr algn="ctr">
              <a:defRPr sz="23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63" name="矩形 62">
            <a:extLst>
              <a:ext uri="{FF2B5EF4-FFF2-40B4-BE49-F238E27FC236}">
                <a16:creationId xmlns:a16="http://schemas.microsoft.com/office/drawing/2014/main" id="{0F225954-4604-4027-9E02-22A8470C2B3E}"/>
              </a:ext>
            </a:extLst>
          </p:cNvPr>
          <p:cNvSpPr>
            <a:spLocks noGrp="1"/>
          </p:cNvSpPr>
          <p:nvPr/>
        </p:nvSpPr>
        <p:spPr>
          <a:xfrm>
            <a:off x="1238250" y="11010900"/>
            <a:ext cx="2000250" cy="4572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2850" b="1">
                <a:solidFill>
                  <a:srgbClr val="366755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366755"/>
                </a:solidFill>
                <a:latin typeface="Arial"/>
                <a:ea typeface="Arial"/>
                <a:cs typeface="Arial"/>
              </a:rPr>
              <a:t>Match</a:t>
            </a:r>
          </a:p>
        </p:txBody>
      </p:sp>
      <p:sp>
        <p:nvSpPr>
          <p:cNvPr id="64" name="矩形 63">
            <a:extLst>
              <a:ext uri="{FF2B5EF4-FFF2-40B4-BE49-F238E27FC236}">
                <a16:creationId xmlns:a16="http://schemas.microsoft.com/office/drawing/2014/main" id="{218D018E-4CE4-472A-8D2E-02CFF6EA5B58}"/>
              </a:ext>
            </a:extLst>
          </p:cNvPr>
          <p:cNvSpPr>
            <a:spLocks noGrp="1"/>
          </p:cNvSpPr>
          <p:nvPr/>
        </p:nvSpPr>
        <p:spPr>
          <a:xfrm>
            <a:off x="3524250" y="11039475"/>
            <a:ext cx="12715875" cy="4000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2325" b="0">
                <a:solidFill>
                  <a:srgbClr val="60717A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60717A"/>
                </a:solidFill>
                <a:latin typeface="Arial"/>
                <a:ea typeface="Arial"/>
                <a:cs typeface="Arial"/>
              </a:rPr>
              <a:t>Matching candidate regions to ligand SMILES from the same PDB</a:t>
            </a:r>
          </a:p>
        </p:txBody>
      </p:sp>
      <p:sp>
        <p:nvSpPr>
          <p:cNvPr id="65" name="任意多边形: 形状 64">
            <a:extLst>
              <a:ext uri="{FF2B5EF4-FFF2-40B4-BE49-F238E27FC236}">
                <a16:creationId xmlns:a16="http://schemas.microsoft.com/office/drawing/2014/main" id="{2D0E1DF5-F6D3-41BE-9236-4C244ADD1EE7}"/>
              </a:ext>
            </a:extLst>
          </p:cNvPr>
          <p:cNvSpPr>
            <a:spLocks noGrp="1"/>
          </p:cNvSpPr>
          <p:nvPr/>
        </p:nvSpPr>
        <p:spPr>
          <a:xfrm>
            <a:off x="1238250" y="11572875"/>
            <a:ext cx="15049500" cy="953"/>
          </a:xfrm>
          <a:custGeom>
            <a:avLst/>
            <a:gdLst/>
            <a:ahLst/>
            <a:cxnLst/>
            <a:rect l="0" t="0" r="0" b="0"/>
            <a:pathLst>
              <a:path w="15049500" h="953">
                <a:moveTo>
                  <a:pt x="0" y="0"/>
                </a:moveTo>
                <a:lnTo>
                  <a:pt x="15049500" y="0"/>
                </a:lnTo>
              </a:path>
            </a:pathLst>
          </a:custGeom>
          <a:noFill/>
          <a:ln w="19050">
            <a:solidFill>
              <a:srgbClr val="E6EDEB"/>
            </a:solidFill>
          </a:ln>
        </p:spPr>
      </p:sp>
      <p:sp>
        <p:nvSpPr>
          <p:cNvPr id="66" name="矩形 65">
            <a:extLst>
              <a:ext uri="{FF2B5EF4-FFF2-40B4-BE49-F238E27FC236}">
                <a16:creationId xmlns:a16="http://schemas.microsoft.com/office/drawing/2014/main" id="{0DD56616-78FC-4B36-B0C6-6A7C1D25EDBD}"/>
              </a:ext>
            </a:extLst>
          </p:cNvPr>
          <p:cNvSpPr>
            <a:spLocks noGrp="1"/>
          </p:cNvSpPr>
          <p:nvPr/>
        </p:nvSpPr>
        <p:spPr>
          <a:xfrm>
            <a:off x="942975" y="11744325"/>
            <a:ext cx="285750" cy="381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2475" b="1">
                <a:solidFill>
                  <a:srgbClr val="203544"/>
                </a:solidFill>
                <a:latin typeface="Arial"/>
                <a:ea typeface="Arial"/>
                <a:cs typeface="Arial"/>
              </a:defRPr>
            </a:pPr>
            <a:r>
              <a:rPr sz="2475" b="1">
                <a:solidFill>
                  <a:srgbClr val="203544"/>
                </a:solidFill>
                <a:latin typeface="Arial"/>
                <a:ea typeface="Arial"/>
                <a:cs typeface="Arial"/>
              </a:rPr>
              <a:t>g</a:t>
            </a:r>
          </a:p>
        </p:txBody>
      </p:sp>
      <p:sp>
        <p:nvSpPr>
          <p:cNvPr id="67" name="Identity 1">
            <a:extLst>
              <a:ext uri="{FF2B5EF4-FFF2-40B4-BE49-F238E27FC236}">
                <a16:creationId xmlns:a16="http://schemas.microsoft.com/office/drawing/2014/main" id="{59E22DF3-967A-431E-99E2-A4642A6F8459}"/>
              </a:ext>
            </a:extLst>
          </p:cNvPr>
          <p:cNvSpPr>
            <a:spLocks noGrp="1"/>
          </p:cNvSpPr>
          <p:nvPr/>
        </p:nvSpPr>
        <p:spPr>
          <a:xfrm>
            <a:off x="1238250" y="11715750"/>
            <a:ext cx="4838700" cy="2857500"/>
          </a:xfrm>
          <a:prstGeom prst="rect">
            <a:avLst/>
          </a:prstGeom>
          <a:solidFill>
            <a:srgbClr val="FFFFFF"/>
          </a:solidFill>
          <a:ln w="9525">
            <a:solidFill>
              <a:srgbClr val="E6EDEB"/>
            </a:solidFill>
          </a:ln>
        </p:spPr>
      </p:sp>
      <p:sp>
        <p:nvSpPr>
          <p:cNvPr id="68" name="矩形 67">
            <a:extLst>
              <a:ext uri="{FF2B5EF4-FFF2-40B4-BE49-F238E27FC236}">
                <a16:creationId xmlns:a16="http://schemas.microsoft.com/office/drawing/2014/main" id="{7A4D1918-51AC-446A-ABF4-6409911D1285}"/>
              </a:ext>
            </a:extLst>
          </p:cNvPr>
          <p:cNvSpPr>
            <a:spLocks noGrp="1"/>
          </p:cNvSpPr>
          <p:nvPr/>
        </p:nvSpPr>
        <p:spPr>
          <a:xfrm>
            <a:off x="1409700" y="11830050"/>
            <a:ext cx="4495800" cy="381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2400" b="0">
                <a:solidFill>
                  <a:srgbClr val="203544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203544"/>
                </a:solidFill>
                <a:latin typeface="Arial"/>
                <a:ea typeface="Arial"/>
                <a:cs typeface="Arial"/>
              </a:rPr>
              <a:t>1  Identity1</a:t>
            </a:r>
          </a:p>
        </p:txBody>
      </p:sp>
      <p:pic>
        <p:nvPicPr>
          <p:cNvPr id="169" name="图形 168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/>
        </p:blipFill>
        <p:spPr>
          <a:xfrm>
            <a:off x="1381125" y="12380453"/>
            <a:ext cx="4552950" cy="1794795"/>
          </a:xfrm>
          <a:prstGeom prst="rect">
            <a:avLst/>
          </a:prstGeom>
        </p:spPr>
      </p:pic>
      <p:sp>
        <p:nvSpPr>
          <p:cNvPr id="70" name="Identity 2">
            <a:extLst>
              <a:ext uri="{FF2B5EF4-FFF2-40B4-BE49-F238E27FC236}">
                <a16:creationId xmlns:a16="http://schemas.microsoft.com/office/drawing/2014/main" id="{CEAE535E-9690-4333-8C99-2C7D7420F8D6}"/>
              </a:ext>
            </a:extLst>
          </p:cNvPr>
          <p:cNvSpPr>
            <a:spLocks noGrp="1"/>
          </p:cNvSpPr>
          <p:nvPr/>
        </p:nvSpPr>
        <p:spPr>
          <a:xfrm>
            <a:off x="6343650" y="11715750"/>
            <a:ext cx="4838700" cy="2857500"/>
          </a:xfrm>
          <a:prstGeom prst="rect">
            <a:avLst/>
          </a:prstGeom>
          <a:solidFill>
            <a:srgbClr val="FFFFFF"/>
          </a:solidFill>
          <a:ln w="28575">
            <a:solidFill>
              <a:srgbClr val="3169B3"/>
            </a:solidFill>
          </a:ln>
        </p:spPr>
      </p:sp>
      <p:sp>
        <p:nvSpPr>
          <p:cNvPr id="71" name="矩形 70">
            <a:extLst>
              <a:ext uri="{FF2B5EF4-FFF2-40B4-BE49-F238E27FC236}">
                <a16:creationId xmlns:a16="http://schemas.microsoft.com/office/drawing/2014/main" id="{3E84A471-BE91-4073-945C-C4455AED0C3A}"/>
              </a:ext>
            </a:extLst>
          </p:cNvPr>
          <p:cNvSpPr>
            <a:spLocks noGrp="1"/>
          </p:cNvSpPr>
          <p:nvPr/>
        </p:nvSpPr>
        <p:spPr>
          <a:xfrm>
            <a:off x="6515100" y="11830050"/>
            <a:ext cx="4495800" cy="381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2400" b="1">
                <a:solidFill>
                  <a:srgbClr val="3169B3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3169B3"/>
                </a:solidFill>
                <a:latin typeface="Arial"/>
                <a:ea typeface="Arial"/>
                <a:cs typeface="Arial"/>
              </a:rPr>
              <a:t>2  A1EKL</a:t>
            </a:r>
          </a:p>
        </p:txBody>
      </p:sp>
      <p:pic>
        <p:nvPicPr>
          <p:cNvPr id="172" name="图形 171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/>
        </p:blipFill>
        <p:spPr>
          <a:xfrm>
            <a:off x="6486525" y="12328296"/>
            <a:ext cx="4552950" cy="1899108"/>
          </a:xfrm>
          <a:prstGeom prst="rect">
            <a:avLst/>
          </a:prstGeom>
        </p:spPr>
      </p:pic>
      <p:sp>
        <p:nvSpPr>
          <p:cNvPr id="73" name="矩形 72">
            <a:extLst>
              <a:ext uri="{FF2B5EF4-FFF2-40B4-BE49-F238E27FC236}">
                <a16:creationId xmlns:a16="http://schemas.microsoft.com/office/drawing/2014/main" id="{FEAD430E-0061-45E7-BBDB-146696BEE50C}"/>
              </a:ext>
            </a:extLst>
          </p:cNvPr>
          <p:cNvSpPr>
            <a:spLocks noGrp="1"/>
          </p:cNvSpPr>
          <p:nvPr/>
        </p:nvSpPr>
        <p:spPr>
          <a:xfrm>
            <a:off x="6515100" y="14249400"/>
            <a:ext cx="4495800" cy="285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2100" b="1">
                <a:solidFill>
                  <a:srgbClr val="3169B3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3169B3"/>
                </a:solidFill>
                <a:latin typeface="Arial"/>
                <a:ea typeface="Arial"/>
                <a:cs typeface="Arial"/>
              </a:rPr>
              <a:t>Matched identity</a:t>
            </a:r>
          </a:p>
        </p:txBody>
      </p:sp>
      <p:sp>
        <p:nvSpPr>
          <p:cNvPr id="74" name="Identity 3">
            <a:extLst>
              <a:ext uri="{FF2B5EF4-FFF2-40B4-BE49-F238E27FC236}">
                <a16:creationId xmlns:a16="http://schemas.microsoft.com/office/drawing/2014/main" id="{7DE7A990-FFFE-4318-B1E8-832A8B17975D}"/>
              </a:ext>
            </a:extLst>
          </p:cNvPr>
          <p:cNvSpPr>
            <a:spLocks noGrp="1"/>
          </p:cNvSpPr>
          <p:nvPr/>
        </p:nvSpPr>
        <p:spPr>
          <a:xfrm>
            <a:off x="11449050" y="11715750"/>
            <a:ext cx="4838700" cy="2857500"/>
          </a:xfrm>
          <a:prstGeom prst="rect">
            <a:avLst/>
          </a:prstGeom>
          <a:solidFill>
            <a:srgbClr val="FFFFFF"/>
          </a:solidFill>
          <a:ln w="9525">
            <a:solidFill>
              <a:srgbClr val="E6EDEB"/>
            </a:solidFill>
          </a:ln>
        </p:spPr>
      </p:sp>
      <p:sp>
        <p:nvSpPr>
          <p:cNvPr id="75" name="矩形 74">
            <a:extLst>
              <a:ext uri="{FF2B5EF4-FFF2-40B4-BE49-F238E27FC236}">
                <a16:creationId xmlns:a16="http://schemas.microsoft.com/office/drawing/2014/main" id="{D14A7C4A-D13F-4C9B-A4E4-A62990A55C27}"/>
              </a:ext>
            </a:extLst>
          </p:cNvPr>
          <p:cNvSpPr>
            <a:spLocks noGrp="1"/>
          </p:cNvSpPr>
          <p:nvPr/>
        </p:nvSpPr>
        <p:spPr>
          <a:xfrm>
            <a:off x="11620500" y="11830050"/>
            <a:ext cx="4495800" cy="381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2400" b="0">
                <a:solidFill>
                  <a:srgbClr val="203544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203544"/>
                </a:solidFill>
                <a:latin typeface="Arial"/>
                <a:ea typeface="Arial"/>
                <a:cs typeface="Arial"/>
              </a:rPr>
              <a:t>3  Identity3</a:t>
            </a:r>
          </a:p>
        </p:txBody>
      </p:sp>
      <p:pic>
        <p:nvPicPr>
          <p:cNvPr id="176" name="图形 175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/>
        </p:blipFill>
        <p:spPr>
          <a:xfrm>
            <a:off x="11591925" y="12475927"/>
            <a:ext cx="4552950" cy="1603845"/>
          </a:xfrm>
          <a:prstGeom prst="rect">
            <a:avLst/>
          </a:prstGeom>
        </p:spPr>
      </p:pic>
      <p:sp>
        <p:nvSpPr>
          <p:cNvPr id="77" name="椭圆 76">
            <a:extLst>
              <a:ext uri="{FF2B5EF4-FFF2-40B4-BE49-F238E27FC236}">
                <a16:creationId xmlns:a16="http://schemas.microsoft.com/office/drawing/2014/main" id="{C05E8358-200E-4894-89BC-F7384830FF33}"/>
              </a:ext>
            </a:extLst>
          </p:cNvPr>
          <p:cNvSpPr>
            <a:spLocks noGrp="1"/>
          </p:cNvSpPr>
          <p:nvPr/>
        </p:nvSpPr>
        <p:spPr>
          <a:xfrm>
            <a:off x="361950" y="14763750"/>
            <a:ext cx="476250" cy="476250"/>
          </a:xfrm>
          <a:prstGeom prst="ellipse">
            <a:avLst/>
          </a:prstGeom>
          <a:solidFill>
            <a:srgbClr val="366755"/>
          </a:solidFill>
          <a:ln w="0">
            <a:noFill/>
          </a:ln>
        </p:spPr>
        <p:txBody>
          <a:bodyPr lIns="0" tIns="0" rIns="0" bIns="0" anchor="ctr"/>
          <a:lstStyle/>
          <a:p>
            <a:pPr algn="ctr">
              <a:defRPr sz="23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78" name="矩形 77">
            <a:extLst>
              <a:ext uri="{FF2B5EF4-FFF2-40B4-BE49-F238E27FC236}">
                <a16:creationId xmlns:a16="http://schemas.microsoft.com/office/drawing/2014/main" id="{1027EF6C-B889-4F80-9706-FAD66D6F3F0E}"/>
              </a:ext>
            </a:extLst>
          </p:cNvPr>
          <p:cNvSpPr>
            <a:spLocks noGrp="1"/>
          </p:cNvSpPr>
          <p:nvPr/>
        </p:nvSpPr>
        <p:spPr>
          <a:xfrm>
            <a:off x="1238250" y="14782800"/>
            <a:ext cx="2000250" cy="4572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2850" b="1">
                <a:solidFill>
                  <a:srgbClr val="366755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366755"/>
                </a:solidFill>
                <a:latin typeface="Arial"/>
                <a:ea typeface="Arial"/>
                <a:cs typeface="Arial"/>
              </a:rPr>
              <a:t>Build</a:t>
            </a:r>
          </a:p>
        </p:txBody>
      </p:sp>
      <p:sp>
        <p:nvSpPr>
          <p:cNvPr id="79" name="矩形 78">
            <a:extLst>
              <a:ext uri="{FF2B5EF4-FFF2-40B4-BE49-F238E27FC236}">
                <a16:creationId xmlns:a16="http://schemas.microsoft.com/office/drawing/2014/main" id="{B02AA590-B96E-46CD-99E0-BD2A1ACA9CD2}"/>
              </a:ext>
            </a:extLst>
          </p:cNvPr>
          <p:cNvSpPr>
            <a:spLocks noGrp="1"/>
          </p:cNvSpPr>
          <p:nvPr/>
        </p:nvSpPr>
        <p:spPr>
          <a:xfrm>
            <a:off x="3524250" y="14811375"/>
            <a:ext cx="12715875" cy="4000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2325" b="0">
                <a:solidFill>
                  <a:srgbClr val="60717A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60717A"/>
                </a:solidFill>
                <a:latin typeface="Arial"/>
                <a:ea typeface="Arial"/>
                <a:cs typeface="Arial"/>
              </a:rPr>
              <a:t>Reconstructing ligand poses with PocketXMol-tuned</a:t>
            </a:r>
          </a:p>
        </p:txBody>
      </p:sp>
      <p:sp>
        <p:nvSpPr>
          <p:cNvPr id="80" name="任意多边形: 形状 79">
            <a:extLst>
              <a:ext uri="{FF2B5EF4-FFF2-40B4-BE49-F238E27FC236}">
                <a16:creationId xmlns:a16="http://schemas.microsoft.com/office/drawing/2014/main" id="{282EB5DA-6D87-417B-B22C-C11AC1FFF295}"/>
              </a:ext>
            </a:extLst>
          </p:cNvPr>
          <p:cNvSpPr>
            <a:spLocks noGrp="1"/>
          </p:cNvSpPr>
          <p:nvPr/>
        </p:nvSpPr>
        <p:spPr>
          <a:xfrm>
            <a:off x="1238250" y="15344775"/>
            <a:ext cx="15049500" cy="953"/>
          </a:xfrm>
          <a:custGeom>
            <a:avLst/>
            <a:gdLst/>
            <a:ahLst/>
            <a:cxnLst/>
            <a:rect l="0" t="0" r="0" b="0"/>
            <a:pathLst>
              <a:path w="15049500" h="953">
                <a:moveTo>
                  <a:pt x="0" y="0"/>
                </a:moveTo>
                <a:lnTo>
                  <a:pt x="15049500" y="0"/>
                </a:lnTo>
              </a:path>
            </a:pathLst>
          </a:custGeom>
          <a:noFill/>
          <a:ln w="19050">
            <a:solidFill>
              <a:srgbClr val="E6EDEB"/>
            </a:solidFill>
          </a:ln>
        </p:spPr>
      </p:sp>
      <p:sp>
        <p:nvSpPr>
          <p:cNvPr id="81" name="矩形 80">
            <a:extLst>
              <a:ext uri="{FF2B5EF4-FFF2-40B4-BE49-F238E27FC236}">
                <a16:creationId xmlns:a16="http://schemas.microsoft.com/office/drawing/2014/main" id="{7D9C60D3-1DCB-43CC-A114-6A4258B0F568}"/>
              </a:ext>
            </a:extLst>
          </p:cNvPr>
          <p:cNvSpPr>
            <a:spLocks noGrp="1"/>
          </p:cNvSpPr>
          <p:nvPr/>
        </p:nvSpPr>
        <p:spPr>
          <a:xfrm>
            <a:off x="1238250" y="15525750"/>
            <a:ext cx="352425" cy="3714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2475" b="1">
                <a:solidFill>
                  <a:srgbClr val="203544"/>
                </a:solidFill>
                <a:latin typeface="Arial"/>
                <a:ea typeface="Arial"/>
                <a:cs typeface="Arial"/>
              </a:defRPr>
            </a:pPr>
            <a:r>
              <a:rPr sz="2475" b="1">
                <a:solidFill>
                  <a:srgbClr val="203544"/>
                </a:solidFill>
                <a:latin typeface="Arial"/>
                <a:ea typeface="Arial"/>
                <a:cs typeface="Arial"/>
              </a:rPr>
              <a:t>h</a:t>
            </a:r>
          </a:p>
        </p:txBody>
      </p:sp>
      <p:sp>
        <p:nvSpPr>
          <p:cNvPr id="82" name="矩形 81">
            <a:extLst>
              <a:ext uri="{FF2B5EF4-FFF2-40B4-BE49-F238E27FC236}">
                <a16:creationId xmlns:a16="http://schemas.microsoft.com/office/drawing/2014/main" id="{134F8E71-9BF3-48A8-AF6B-AFCEAB22DCA9}"/>
              </a:ext>
            </a:extLst>
          </p:cNvPr>
          <p:cNvSpPr>
            <a:spLocks noGrp="1"/>
          </p:cNvSpPr>
          <p:nvPr/>
        </p:nvSpPr>
        <p:spPr>
          <a:xfrm>
            <a:off x="1657350" y="15535275"/>
            <a:ext cx="4152900" cy="3714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2325" b="0">
                <a:solidFill>
                  <a:srgbClr val="203544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203544"/>
                </a:solidFill>
                <a:latin typeface="Arial"/>
                <a:ea typeface="Arial"/>
                <a:cs typeface="Arial"/>
              </a:rPr>
              <a:t>Receptor surface</a:t>
            </a:r>
          </a:p>
        </p:txBody>
      </p:sp>
      <p:pic>
        <p:nvPicPr>
          <p:cNvPr id="183" name="dock_receptor" descr="9LLG dock_receptor; native ChimeraX; source C:\Users\15919\Desktop\论文草稿\画图\formal\E2E_flow_20261003\9llg\renders\dock_receptor.png; editable crop only"/>
          <p:cNvPicPr>
            <a:picLocks noChangeAspect="1"/>
          </p:cNvPicPr>
          <p:nvPr/>
        </p:nvPicPr>
        <p:blipFill>
          <a:blip r:embed="rId13"/>
          <a:srcRect l="2083" r="278"/>
          <a:stretch>
            <a:fillRect/>
          </a:stretch>
        </p:blipFill>
        <p:spPr>
          <a:xfrm>
            <a:off x="1664229" y="15944850"/>
            <a:ext cx="3720042" cy="2857500"/>
          </a:xfrm>
          <a:prstGeom prst="rect">
            <a:avLst/>
          </a:prstGeom>
        </p:spPr>
      </p:pic>
      <p:sp>
        <p:nvSpPr>
          <p:cNvPr id="84" name="矩形 83">
            <a:extLst>
              <a:ext uri="{FF2B5EF4-FFF2-40B4-BE49-F238E27FC236}">
                <a16:creationId xmlns:a16="http://schemas.microsoft.com/office/drawing/2014/main" id="{81CCBF09-AEEE-4520-BC43-298218FCA953}"/>
              </a:ext>
            </a:extLst>
          </p:cNvPr>
          <p:cNvSpPr>
            <a:spLocks noGrp="1"/>
          </p:cNvSpPr>
          <p:nvPr/>
        </p:nvSpPr>
        <p:spPr>
          <a:xfrm>
            <a:off x="6477000" y="15525750"/>
            <a:ext cx="352425" cy="3714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2475" b="1">
                <a:solidFill>
                  <a:srgbClr val="203544"/>
                </a:solidFill>
                <a:latin typeface="Arial"/>
                <a:ea typeface="Arial"/>
                <a:cs typeface="Arial"/>
              </a:defRPr>
            </a:pPr>
            <a:r>
              <a:rPr sz="2475" b="1">
                <a:solidFill>
                  <a:srgbClr val="203544"/>
                </a:solidFill>
                <a:latin typeface="Arial"/>
                <a:ea typeface="Arial"/>
                <a:cs typeface="Arial"/>
              </a:rPr>
              <a:t>i</a:t>
            </a:r>
          </a:p>
        </p:txBody>
      </p:sp>
      <p:sp>
        <p:nvSpPr>
          <p:cNvPr id="85" name="矩形 84">
            <a:extLst>
              <a:ext uri="{FF2B5EF4-FFF2-40B4-BE49-F238E27FC236}">
                <a16:creationId xmlns:a16="http://schemas.microsoft.com/office/drawing/2014/main" id="{70B7E9DF-B1B7-4C6C-920E-05BF4DE8EE88}"/>
              </a:ext>
            </a:extLst>
          </p:cNvPr>
          <p:cNvSpPr>
            <a:spLocks noGrp="1"/>
          </p:cNvSpPr>
          <p:nvPr/>
        </p:nvSpPr>
        <p:spPr>
          <a:xfrm>
            <a:off x="6896100" y="15535275"/>
            <a:ext cx="4152900" cy="3714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2325" b="0">
                <a:solidFill>
                  <a:srgbClr val="203544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203544"/>
                </a:solidFill>
                <a:latin typeface="Arial"/>
                <a:ea typeface="Arial"/>
                <a:cs typeface="Arial"/>
              </a:rPr>
              <a:t>Experimental density</a:t>
            </a:r>
          </a:p>
        </p:txBody>
      </p:sp>
      <p:pic>
        <p:nvPicPr>
          <p:cNvPr id="186" name="dock_density" descr="9LLG dock_density; native ChimeraX; source C:\Users\15919\Desktop\论文草稿\画图\formal\E2E_flow_20261003\9llg\renders\dock_density.png; editable crop only"/>
          <p:cNvPicPr>
            <a:picLocks noChangeAspect="1"/>
          </p:cNvPicPr>
          <p:nvPr/>
        </p:nvPicPr>
        <p:blipFill>
          <a:blip r:embed="rId14"/>
          <a:srcRect l="2083" r="278"/>
          <a:stretch>
            <a:fillRect/>
          </a:stretch>
        </p:blipFill>
        <p:spPr>
          <a:xfrm>
            <a:off x="6902979" y="15944850"/>
            <a:ext cx="3720042" cy="2857500"/>
          </a:xfrm>
          <a:prstGeom prst="rect">
            <a:avLst/>
          </a:prstGeom>
        </p:spPr>
      </p:pic>
      <p:sp>
        <p:nvSpPr>
          <p:cNvPr id="87" name="矩形 86">
            <a:extLst>
              <a:ext uri="{FF2B5EF4-FFF2-40B4-BE49-F238E27FC236}">
                <a16:creationId xmlns:a16="http://schemas.microsoft.com/office/drawing/2014/main" id="{41B90D40-79F5-4475-B6D2-45BA0D0A071C}"/>
              </a:ext>
            </a:extLst>
          </p:cNvPr>
          <p:cNvSpPr>
            <a:spLocks noGrp="1"/>
          </p:cNvSpPr>
          <p:nvPr/>
        </p:nvSpPr>
        <p:spPr>
          <a:xfrm>
            <a:off x="11715750" y="15525750"/>
            <a:ext cx="352425" cy="3714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2475" b="1">
                <a:solidFill>
                  <a:srgbClr val="203544"/>
                </a:solidFill>
                <a:latin typeface="Arial"/>
                <a:ea typeface="Arial"/>
                <a:cs typeface="Arial"/>
              </a:defRPr>
            </a:pPr>
            <a:r>
              <a:rPr sz="2475" b="1">
                <a:solidFill>
                  <a:srgbClr val="203544"/>
                </a:solidFill>
                <a:latin typeface="Arial"/>
                <a:ea typeface="Arial"/>
                <a:cs typeface="Arial"/>
              </a:rPr>
              <a:t>j</a:t>
            </a:r>
          </a:p>
        </p:txBody>
      </p:sp>
      <p:sp>
        <p:nvSpPr>
          <p:cNvPr id="88" name="矩形 87">
            <a:extLst>
              <a:ext uri="{FF2B5EF4-FFF2-40B4-BE49-F238E27FC236}">
                <a16:creationId xmlns:a16="http://schemas.microsoft.com/office/drawing/2014/main" id="{6B821DD3-F2C2-4B40-9F17-12163BEEE6EB}"/>
              </a:ext>
            </a:extLst>
          </p:cNvPr>
          <p:cNvSpPr>
            <a:spLocks noGrp="1"/>
          </p:cNvSpPr>
          <p:nvPr/>
        </p:nvSpPr>
        <p:spPr>
          <a:xfrm>
            <a:off x="12134850" y="15535275"/>
            <a:ext cx="4152900" cy="3714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2325" b="0">
                <a:solidFill>
                  <a:srgbClr val="203544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203544"/>
                </a:solidFill>
                <a:latin typeface="Arial"/>
                <a:ea typeface="Arial"/>
                <a:cs typeface="Arial"/>
              </a:rPr>
              <a:t>Deposited pose overlay</a:t>
            </a:r>
          </a:p>
        </p:txBody>
      </p:sp>
      <p:pic>
        <p:nvPicPr>
          <p:cNvPr id="189" name="dock_gt_overlay" descr="9LLG dock_gt_overlay; native ChimeraX; source C:\Users\15919\Desktop\论文草稿\画图\formal\E2E_flow_20261003\9llg\renders\dock_gt_overlay.png; editable crop only"/>
          <p:cNvPicPr>
            <a:picLocks noChangeAspect="1"/>
          </p:cNvPicPr>
          <p:nvPr/>
        </p:nvPicPr>
        <p:blipFill>
          <a:blip r:embed="rId15"/>
          <a:srcRect l="2083" r="278"/>
          <a:stretch>
            <a:fillRect/>
          </a:stretch>
        </p:blipFill>
        <p:spPr>
          <a:xfrm>
            <a:off x="12141729" y="15944850"/>
            <a:ext cx="3720042" cy="2857500"/>
          </a:xfrm>
          <a:prstGeom prst="rect">
            <a:avLst/>
          </a:prstGeom>
        </p:spPr>
      </p:pic>
      <p:sp>
        <p:nvSpPr>
          <p:cNvPr id="90" name="矩形 89">
            <a:extLst>
              <a:ext uri="{FF2B5EF4-FFF2-40B4-BE49-F238E27FC236}">
                <a16:creationId xmlns:a16="http://schemas.microsoft.com/office/drawing/2014/main" id="{364EEBB1-DEEE-4A03-AC00-B7AED0845155}"/>
              </a:ext>
            </a:extLst>
          </p:cNvPr>
          <p:cNvSpPr>
            <a:spLocks noGrp="1"/>
          </p:cNvSpPr>
          <p:nvPr/>
        </p:nvSpPr>
        <p:spPr>
          <a:xfrm>
            <a:off x="1238250" y="18954750"/>
            <a:ext cx="15049500" cy="4476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2550" b="1">
                <a:solidFill>
                  <a:srgbClr val="3169B3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3169B3"/>
                </a:solidFill>
                <a:latin typeface="Arial"/>
                <a:ea typeface="Arial"/>
                <a:cs typeface="Arial"/>
              </a:rPr>
              <a:t>RMSD 0.88 Å</a:t>
            </a:r>
          </a:p>
        </p:txBody>
      </p:sp>
      <p:sp>
        <p:nvSpPr>
          <p:cNvPr id="91" name="任意多边形: 形状 90">
            <a:extLst>
              <a:ext uri="{FF2B5EF4-FFF2-40B4-BE49-F238E27FC236}">
                <a16:creationId xmlns:a16="http://schemas.microsoft.com/office/drawing/2014/main" id="{738DCD20-AECC-4963-8D5A-D6FF4AB6637B}"/>
              </a:ext>
            </a:extLst>
          </p:cNvPr>
          <p:cNvSpPr>
            <a:spLocks noGrp="1"/>
          </p:cNvSpPr>
          <p:nvPr/>
        </p:nvSpPr>
        <p:spPr>
          <a:xfrm>
            <a:off x="1238250" y="19697700"/>
            <a:ext cx="304800" cy="953"/>
          </a:xfrm>
          <a:custGeom>
            <a:avLst/>
            <a:gdLst/>
            <a:ahLst/>
            <a:cxnLst/>
            <a:rect l="0" t="0" r="0" b="0"/>
            <a:pathLst>
              <a:path w="304800" h="953">
                <a:moveTo>
                  <a:pt x="0" y="0"/>
                </a:moveTo>
                <a:lnTo>
                  <a:pt x="304800" y="0"/>
                </a:lnTo>
              </a:path>
            </a:pathLst>
          </a:custGeom>
          <a:noFill/>
          <a:ln w="47625">
            <a:solidFill>
              <a:srgbClr val="81A58B"/>
            </a:solidFill>
          </a:ln>
        </p:spPr>
      </p:sp>
      <p:sp>
        <p:nvSpPr>
          <p:cNvPr id="92" name="矩形 91">
            <a:extLst>
              <a:ext uri="{FF2B5EF4-FFF2-40B4-BE49-F238E27FC236}">
                <a16:creationId xmlns:a16="http://schemas.microsoft.com/office/drawing/2014/main" id="{8CC3C239-96FA-42C3-925A-EE03A971B4E8}"/>
              </a:ext>
            </a:extLst>
          </p:cNvPr>
          <p:cNvSpPr>
            <a:spLocks noGrp="1"/>
          </p:cNvSpPr>
          <p:nvPr/>
        </p:nvSpPr>
        <p:spPr>
          <a:xfrm>
            <a:off x="1647825" y="19545300"/>
            <a:ext cx="2571750" cy="3238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2025" b="0">
                <a:solidFill>
                  <a:srgbClr val="60717A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60717A"/>
                </a:solidFill>
                <a:latin typeface="Arial"/>
                <a:ea typeface="Arial"/>
                <a:cs typeface="Arial"/>
              </a:rPr>
              <a:t>Receptor</a:t>
            </a:r>
          </a:p>
        </p:txBody>
      </p:sp>
      <p:sp>
        <p:nvSpPr>
          <p:cNvPr id="93" name="任意多边形: 形状 92">
            <a:extLst>
              <a:ext uri="{FF2B5EF4-FFF2-40B4-BE49-F238E27FC236}">
                <a16:creationId xmlns:a16="http://schemas.microsoft.com/office/drawing/2014/main" id="{7B33051E-DFB7-4691-9D5B-AF3F753716DA}"/>
              </a:ext>
            </a:extLst>
          </p:cNvPr>
          <p:cNvSpPr>
            <a:spLocks noGrp="1"/>
          </p:cNvSpPr>
          <p:nvPr/>
        </p:nvSpPr>
        <p:spPr>
          <a:xfrm>
            <a:off x="4286250" y="19697700"/>
            <a:ext cx="304800" cy="953"/>
          </a:xfrm>
          <a:custGeom>
            <a:avLst/>
            <a:gdLst/>
            <a:ahLst/>
            <a:cxnLst/>
            <a:rect l="0" t="0" r="0" b="0"/>
            <a:pathLst>
              <a:path w="304800" h="953">
                <a:moveTo>
                  <a:pt x="0" y="0"/>
                </a:moveTo>
                <a:lnTo>
                  <a:pt x="304800" y="0"/>
                </a:lnTo>
              </a:path>
            </a:pathLst>
          </a:custGeom>
          <a:noFill/>
          <a:ln w="47625">
            <a:solidFill>
              <a:srgbClr val="516773"/>
            </a:solidFill>
          </a:ln>
        </p:spPr>
      </p:sp>
      <p:sp>
        <p:nvSpPr>
          <p:cNvPr id="94" name="矩形 93">
            <a:extLst>
              <a:ext uri="{FF2B5EF4-FFF2-40B4-BE49-F238E27FC236}">
                <a16:creationId xmlns:a16="http://schemas.microsoft.com/office/drawing/2014/main" id="{8605FC4C-BF71-4715-B4CD-911460987A37}"/>
              </a:ext>
            </a:extLst>
          </p:cNvPr>
          <p:cNvSpPr>
            <a:spLocks noGrp="1"/>
          </p:cNvSpPr>
          <p:nvPr/>
        </p:nvSpPr>
        <p:spPr>
          <a:xfrm>
            <a:off x="4695825" y="19545300"/>
            <a:ext cx="2571750" cy="3238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2025" b="0">
                <a:solidFill>
                  <a:srgbClr val="60717A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60717A"/>
                </a:solidFill>
                <a:latin typeface="Arial"/>
                <a:ea typeface="Arial"/>
                <a:cs typeface="Arial"/>
              </a:rPr>
              <a:t>Density</a:t>
            </a:r>
          </a:p>
        </p:txBody>
      </p:sp>
      <p:sp>
        <p:nvSpPr>
          <p:cNvPr id="95" name="任意多边形: 形状 94">
            <a:extLst>
              <a:ext uri="{FF2B5EF4-FFF2-40B4-BE49-F238E27FC236}">
                <a16:creationId xmlns:a16="http://schemas.microsoft.com/office/drawing/2014/main" id="{F2C49C0B-FE77-431A-8EE9-F0FEF60F3103}"/>
              </a:ext>
            </a:extLst>
          </p:cNvPr>
          <p:cNvSpPr>
            <a:spLocks noGrp="1"/>
          </p:cNvSpPr>
          <p:nvPr/>
        </p:nvSpPr>
        <p:spPr>
          <a:xfrm>
            <a:off x="7334250" y="19697700"/>
            <a:ext cx="304800" cy="953"/>
          </a:xfrm>
          <a:custGeom>
            <a:avLst/>
            <a:gdLst/>
            <a:ahLst/>
            <a:cxnLst/>
            <a:rect l="0" t="0" r="0" b="0"/>
            <a:pathLst>
              <a:path w="304800" h="953">
                <a:moveTo>
                  <a:pt x="0" y="0"/>
                </a:moveTo>
                <a:lnTo>
                  <a:pt x="304800" y="0"/>
                </a:lnTo>
              </a:path>
            </a:pathLst>
          </a:custGeom>
          <a:noFill/>
          <a:ln w="47625">
            <a:solidFill>
              <a:srgbClr val="E9983C"/>
            </a:solidFill>
          </a:ln>
        </p:spPr>
      </p:sp>
      <p:sp>
        <p:nvSpPr>
          <p:cNvPr id="96" name="矩形 95">
            <a:extLst>
              <a:ext uri="{FF2B5EF4-FFF2-40B4-BE49-F238E27FC236}">
                <a16:creationId xmlns:a16="http://schemas.microsoft.com/office/drawing/2014/main" id="{4ACBF10C-FE8B-4D65-8B93-8F24B2BD69C8}"/>
              </a:ext>
            </a:extLst>
          </p:cNvPr>
          <p:cNvSpPr>
            <a:spLocks noGrp="1"/>
          </p:cNvSpPr>
          <p:nvPr/>
        </p:nvSpPr>
        <p:spPr>
          <a:xfrm>
            <a:off x="7743825" y="19545300"/>
            <a:ext cx="2571750" cy="3238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2025" b="0">
                <a:solidFill>
                  <a:srgbClr val="60717A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60717A"/>
                </a:solidFill>
                <a:latin typeface="Arial"/>
                <a:ea typeface="Arial"/>
                <a:cs typeface="Arial"/>
              </a:rPr>
              <a:t>Target blob</a:t>
            </a:r>
          </a:p>
        </p:txBody>
      </p:sp>
      <p:sp>
        <p:nvSpPr>
          <p:cNvPr id="97" name="任意多边形: 形状 96">
            <a:extLst>
              <a:ext uri="{FF2B5EF4-FFF2-40B4-BE49-F238E27FC236}">
                <a16:creationId xmlns:a16="http://schemas.microsoft.com/office/drawing/2014/main" id="{E599A4A8-0C0A-4006-8032-23AC8D2A9476}"/>
              </a:ext>
            </a:extLst>
          </p:cNvPr>
          <p:cNvSpPr>
            <a:spLocks noGrp="1"/>
          </p:cNvSpPr>
          <p:nvPr/>
        </p:nvSpPr>
        <p:spPr>
          <a:xfrm>
            <a:off x="10382250" y="19697700"/>
            <a:ext cx="304800" cy="953"/>
          </a:xfrm>
          <a:custGeom>
            <a:avLst/>
            <a:gdLst/>
            <a:ahLst/>
            <a:cxnLst/>
            <a:rect l="0" t="0" r="0" b="0"/>
            <a:pathLst>
              <a:path w="304800" h="953">
                <a:moveTo>
                  <a:pt x="0" y="0"/>
                </a:moveTo>
                <a:lnTo>
                  <a:pt x="304800" y="0"/>
                </a:lnTo>
              </a:path>
            </a:pathLst>
          </a:custGeom>
          <a:noFill/>
          <a:ln w="47625">
            <a:solidFill>
              <a:srgbClr val="3169B3"/>
            </a:solidFill>
          </a:ln>
        </p:spPr>
      </p:sp>
      <p:sp>
        <p:nvSpPr>
          <p:cNvPr id="98" name="矩形 97">
            <a:extLst>
              <a:ext uri="{FF2B5EF4-FFF2-40B4-BE49-F238E27FC236}">
                <a16:creationId xmlns:a16="http://schemas.microsoft.com/office/drawing/2014/main" id="{0C26DF4E-DEB8-4457-9B9F-A1724139E829}"/>
              </a:ext>
            </a:extLst>
          </p:cNvPr>
          <p:cNvSpPr>
            <a:spLocks noGrp="1"/>
          </p:cNvSpPr>
          <p:nvPr/>
        </p:nvSpPr>
        <p:spPr>
          <a:xfrm>
            <a:off x="10791825" y="19545300"/>
            <a:ext cx="2571750" cy="3238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2025" b="0">
                <a:solidFill>
                  <a:srgbClr val="60717A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60717A"/>
                </a:solidFill>
                <a:latin typeface="Arial"/>
                <a:ea typeface="Arial"/>
                <a:cs typeface="Arial"/>
              </a:rPr>
              <a:t>Predicted pose</a:t>
            </a:r>
          </a:p>
        </p:txBody>
      </p:sp>
      <p:sp>
        <p:nvSpPr>
          <p:cNvPr id="99" name="任意多边形: 形状 98">
            <a:extLst>
              <a:ext uri="{FF2B5EF4-FFF2-40B4-BE49-F238E27FC236}">
                <a16:creationId xmlns:a16="http://schemas.microsoft.com/office/drawing/2014/main" id="{A0F16A07-BC9E-4765-9268-58854D2B624E}"/>
              </a:ext>
            </a:extLst>
          </p:cNvPr>
          <p:cNvSpPr>
            <a:spLocks noGrp="1"/>
          </p:cNvSpPr>
          <p:nvPr/>
        </p:nvSpPr>
        <p:spPr>
          <a:xfrm>
            <a:off x="13430250" y="19697700"/>
            <a:ext cx="304800" cy="953"/>
          </a:xfrm>
          <a:custGeom>
            <a:avLst/>
            <a:gdLst/>
            <a:ahLst/>
            <a:cxnLst/>
            <a:rect l="0" t="0" r="0" b="0"/>
            <a:pathLst>
              <a:path w="304800" h="953">
                <a:moveTo>
                  <a:pt x="0" y="0"/>
                </a:moveTo>
                <a:lnTo>
                  <a:pt x="304800" y="0"/>
                </a:lnTo>
              </a:path>
            </a:pathLst>
          </a:custGeom>
          <a:noFill/>
          <a:ln w="47625">
            <a:solidFill>
              <a:srgbClr val="26A6A1"/>
            </a:solidFill>
          </a:ln>
        </p:spPr>
      </p:sp>
      <p:sp>
        <p:nvSpPr>
          <p:cNvPr id="100" name="矩形 99">
            <a:extLst>
              <a:ext uri="{FF2B5EF4-FFF2-40B4-BE49-F238E27FC236}">
                <a16:creationId xmlns:a16="http://schemas.microsoft.com/office/drawing/2014/main" id="{A4E03D8F-AC6C-414C-B067-874BE9576BB7}"/>
              </a:ext>
            </a:extLst>
          </p:cNvPr>
          <p:cNvSpPr>
            <a:spLocks noGrp="1"/>
          </p:cNvSpPr>
          <p:nvPr/>
        </p:nvSpPr>
        <p:spPr>
          <a:xfrm>
            <a:off x="13839825" y="19545300"/>
            <a:ext cx="2571750" cy="3238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2025" b="0">
                <a:solidFill>
                  <a:srgbClr val="60717A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60717A"/>
                </a:solidFill>
                <a:latin typeface="Arial"/>
                <a:ea typeface="Arial"/>
                <a:cs typeface="Arial"/>
              </a:rPr>
              <a:t>Deposited pose</a:t>
            </a:r>
          </a:p>
        </p:txBody>
      </p:sp>
    </p:spTree>
    <p:extLst>
      <p:ext uri="{BB962C8B-B14F-4D97-AF65-F5344CB8AC3E}">
        <p14:creationId xmlns:p14="http://schemas.microsoft.com/office/powerpoint/2010/main" val="1041032893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3"/>
    </p:ext>
  </p:extLs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矩形 100">
            <a:extLst>
              <a:ext uri="{FF2B5EF4-FFF2-40B4-BE49-F238E27FC236}">
                <a16:creationId xmlns:a16="http://schemas.microsoft.com/office/drawing/2014/main" id="{6E8A190C-351A-4336-88ED-54BFE6C16E3B}"/>
              </a:ext>
            </a:extLst>
          </p:cNvPr>
          <p:cNvSpPr>
            <a:spLocks noGrp="1"/>
          </p:cNvSpPr>
          <p:nvPr/>
        </p:nvSpPr>
        <p:spPr>
          <a:xfrm>
            <a:off x="1238250" y="209550"/>
            <a:ext cx="14668500" cy="5524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3450" b="1">
                <a:solidFill>
                  <a:srgbClr val="203544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203544"/>
                </a:solidFill>
                <a:latin typeface="Arial"/>
                <a:ea typeface="Arial"/>
                <a:cs typeface="Arial"/>
              </a:rPr>
              <a:t>9BJJ  ATP (B:901)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F99D17AE-11D6-4C86-B315-586F35A64901}"/>
              </a:ext>
            </a:extLst>
          </p:cNvPr>
          <p:cNvSpPr>
            <a:spLocks noGrp="1"/>
          </p:cNvSpPr>
          <p:nvPr/>
        </p:nvSpPr>
        <p:spPr>
          <a:xfrm>
            <a:off x="1238250" y="809625"/>
            <a:ext cx="15049500" cy="4191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2400" b="0">
                <a:solidFill>
                  <a:srgbClr val="60717A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60717A"/>
                </a:solidFill>
                <a:latin typeface="Arial"/>
                <a:ea typeface="Arial"/>
                <a:cs typeface="Arial"/>
              </a:rPr>
              <a:t>The first-ranked site completes identity matching and pose reconstruction</a:t>
            </a:r>
          </a:p>
        </p:txBody>
      </p:sp>
      <p:sp>
        <p:nvSpPr>
          <p:cNvPr id="3" name="任意多边形: 形状 2">
            <a:extLst>
              <a:ext uri="{FF2B5EF4-FFF2-40B4-BE49-F238E27FC236}">
                <a16:creationId xmlns:a16="http://schemas.microsoft.com/office/drawing/2014/main" id="{F9E167DD-403D-428D-8E8E-BE019F0A1A07}"/>
              </a:ext>
            </a:extLst>
          </p:cNvPr>
          <p:cNvSpPr>
            <a:spLocks noGrp="1"/>
          </p:cNvSpPr>
          <p:nvPr/>
        </p:nvSpPr>
        <p:spPr>
          <a:xfrm>
            <a:off x="600075" y="1885950"/>
            <a:ext cx="953" cy="3524250"/>
          </a:xfrm>
          <a:custGeom>
            <a:avLst/>
            <a:gdLst/>
            <a:ahLst/>
            <a:cxnLst/>
            <a:rect l="0" t="0" r="0" b="0"/>
            <a:pathLst>
              <a:path w="953" h="3524250">
                <a:moveTo>
                  <a:pt x="0" y="0"/>
                </a:moveTo>
                <a:lnTo>
                  <a:pt x="0" y="3524250"/>
                </a:lnTo>
              </a:path>
            </a:pathLst>
          </a:custGeom>
          <a:noFill/>
          <a:ln w="28575">
            <a:solidFill>
              <a:srgbClr val="BDCDC6"/>
            </a:solidFill>
          </a:ln>
        </p:spPr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9E910063-4521-4527-9ACC-38F72E5AE181}"/>
              </a:ext>
            </a:extLst>
          </p:cNvPr>
          <p:cNvSpPr>
            <a:spLocks noGrp="1"/>
          </p:cNvSpPr>
          <p:nvPr/>
        </p:nvSpPr>
        <p:spPr>
          <a:xfrm>
            <a:off x="533400" y="5314950"/>
            <a:ext cx="66675" cy="95250"/>
          </a:xfrm>
          <a:custGeom>
            <a:avLst/>
            <a:gdLst/>
            <a:ahLst/>
            <a:cxnLst/>
            <a:rect l="0" t="0" r="0" b="0"/>
            <a:pathLst>
              <a:path w="66675" h="95250">
                <a:moveTo>
                  <a:pt x="0" y="0"/>
                </a:moveTo>
                <a:lnTo>
                  <a:pt x="66675" y="95250"/>
                </a:lnTo>
              </a:path>
            </a:pathLst>
          </a:custGeom>
          <a:noFill/>
          <a:ln w="28575">
            <a:solidFill>
              <a:srgbClr val="BDCDC6"/>
            </a:solidFill>
          </a:ln>
        </p:spPr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C61D30FA-86FA-400A-84CC-3E7BC5D905B7}"/>
              </a:ext>
            </a:extLst>
          </p:cNvPr>
          <p:cNvSpPr>
            <a:spLocks noGrp="1"/>
          </p:cNvSpPr>
          <p:nvPr/>
        </p:nvSpPr>
        <p:spPr>
          <a:xfrm>
            <a:off x="600075" y="5314950"/>
            <a:ext cx="66675" cy="95250"/>
          </a:xfrm>
          <a:custGeom>
            <a:avLst/>
            <a:gdLst/>
            <a:ahLst/>
            <a:cxnLst/>
            <a:rect l="0" t="0" r="0" b="0"/>
            <a:pathLst>
              <a:path w="66675" h="95250">
                <a:moveTo>
                  <a:pt x="66675" y="0"/>
                </a:moveTo>
                <a:lnTo>
                  <a:pt x="0" y="95250"/>
                </a:lnTo>
              </a:path>
            </a:pathLst>
          </a:custGeom>
          <a:noFill/>
          <a:ln w="28575">
            <a:solidFill>
              <a:srgbClr val="BDCDC6"/>
            </a:solidFill>
          </a:ln>
        </p:spPr>
      </p:sp>
      <p:sp>
        <p:nvSpPr>
          <p:cNvPr id="6" name="任意多边形: 形状 5">
            <a:extLst>
              <a:ext uri="{FF2B5EF4-FFF2-40B4-BE49-F238E27FC236}">
                <a16:creationId xmlns:a16="http://schemas.microsoft.com/office/drawing/2014/main" id="{586F4018-FBCA-49DB-82DB-C92F9B132BC8}"/>
              </a:ext>
            </a:extLst>
          </p:cNvPr>
          <p:cNvSpPr>
            <a:spLocks noGrp="1"/>
          </p:cNvSpPr>
          <p:nvPr/>
        </p:nvSpPr>
        <p:spPr>
          <a:xfrm>
            <a:off x="600075" y="6096000"/>
            <a:ext cx="953" cy="4781550"/>
          </a:xfrm>
          <a:custGeom>
            <a:avLst/>
            <a:gdLst/>
            <a:ahLst/>
            <a:cxnLst/>
            <a:rect l="0" t="0" r="0" b="0"/>
            <a:pathLst>
              <a:path w="953" h="4781550">
                <a:moveTo>
                  <a:pt x="0" y="0"/>
                </a:moveTo>
                <a:lnTo>
                  <a:pt x="0" y="4781550"/>
                </a:lnTo>
              </a:path>
            </a:pathLst>
          </a:custGeom>
          <a:noFill/>
          <a:ln w="28575">
            <a:solidFill>
              <a:srgbClr val="BDCDC6"/>
            </a:solidFill>
          </a:ln>
        </p:spPr>
      </p:sp>
      <p:sp>
        <p:nvSpPr>
          <p:cNvPr id="7" name="任意多边形: 形状 6">
            <a:extLst>
              <a:ext uri="{FF2B5EF4-FFF2-40B4-BE49-F238E27FC236}">
                <a16:creationId xmlns:a16="http://schemas.microsoft.com/office/drawing/2014/main" id="{F265B55F-7BDD-4DC7-B8B9-FD39CDBD034B}"/>
              </a:ext>
            </a:extLst>
          </p:cNvPr>
          <p:cNvSpPr>
            <a:spLocks noGrp="1"/>
          </p:cNvSpPr>
          <p:nvPr/>
        </p:nvSpPr>
        <p:spPr>
          <a:xfrm>
            <a:off x="533400" y="10782300"/>
            <a:ext cx="66675" cy="95250"/>
          </a:xfrm>
          <a:custGeom>
            <a:avLst/>
            <a:gdLst/>
            <a:ahLst/>
            <a:cxnLst/>
            <a:rect l="0" t="0" r="0" b="0"/>
            <a:pathLst>
              <a:path w="66675" h="95250">
                <a:moveTo>
                  <a:pt x="0" y="0"/>
                </a:moveTo>
                <a:lnTo>
                  <a:pt x="66675" y="95250"/>
                </a:lnTo>
              </a:path>
            </a:pathLst>
          </a:custGeom>
          <a:noFill/>
          <a:ln w="28575">
            <a:solidFill>
              <a:srgbClr val="BDCDC6"/>
            </a:solidFill>
          </a:ln>
        </p:spPr>
      </p:sp>
      <p:sp>
        <p:nvSpPr>
          <p:cNvPr id="8" name="任意多边形: 形状 7">
            <a:extLst>
              <a:ext uri="{FF2B5EF4-FFF2-40B4-BE49-F238E27FC236}">
                <a16:creationId xmlns:a16="http://schemas.microsoft.com/office/drawing/2014/main" id="{30104540-03D2-4885-8A9C-758808CD1FCC}"/>
              </a:ext>
            </a:extLst>
          </p:cNvPr>
          <p:cNvSpPr>
            <a:spLocks noGrp="1"/>
          </p:cNvSpPr>
          <p:nvPr/>
        </p:nvSpPr>
        <p:spPr>
          <a:xfrm>
            <a:off x="600075" y="10782300"/>
            <a:ext cx="66675" cy="95250"/>
          </a:xfrm>
          <a:custGeom>
            <a:avLst/>
            <a:gdLst/>
            <a:ahLst/>
            <a:cxnLst/>
            <a:rect l="0" t="0" r="0" b="0"/>
            <a:pathLst>
              <a:path w="66675" h="95250">
                <a:moveTo>
                  <a:pt x="66675" y="0"/>
                </a:moveTo>
                <a:lnTo>
                  <a:pt x="0" y="95250"/>
                </a:lnTo>
              </a:path>
            </a:pathLst>
          </a:custGeom>
          <a:noFill/>
          <a:ln w="28575">
            <a:solidFill>
              <a:srgbClr val="BDCDC6"/>
            </a:solidFill>
          </a:ln>
        </p:spPr>
      </p:sp>
      <p:sp>
        <p:nvSpPr>
          <p:cNvPr id="9" name="任意多边形: 形状 8">
            <a:extLst>
              <a:ext uri="{FF2B5EF4-FFF2-40B4-BE49-F238E27FC236}">
                <a16:creationId xmlns:a16="http://schemas.microsoft.com/office/drawing/2014/main" id="{FD498706-DFA7-4F4C-838D-9B734DAB4FC9}"/>
              </a:ext>
            </a:extLst>
          </p:cNvPr>
          <p:cNvSpPr>
            <a:spLocks noGrp="1"/>
          </p:cNvSpPr>
          <p:nvPr/>
        </p:nvSpPr>
        <p:spPr>
          <a:xfrm>
            <a:off x="600075" y="11563350"/>
            <a:ext cx="953" cy="3086100"/>
          </a:xfrm>
          <a:custGeom>
            <a:avLst/>
            <a:gdLst/>
            <a:ahLst/>
            <a:cxnLst/>
            <a:rect l="0" t="0" r="0" b="0"/>
            <a:pathLst>
              <a:path w="953" h="3086100">
                <a:moveTo>
                  <a:pt x="0" y="0"/>
                </a:moveTo>
                <a:lnTo>
                  <a:pt x="0" y="3086100"/>
                </a:lnTo>
              </a:path>
            </a:pathLst>
          </a:custGeom>
          <a:noFill/>
          <a:ln w="28575">
            <a:solidFill>
              <a:srgbClr val="BDCDC6"/>
            </a:solidFill>
          </a:ln>
        </p:spPr>
      </p:sp>
      <p:sp>
        <p:nvSpPr>
          <p:cNvPr id="10" name="任意多边形: 形状 9">
            <a:extLst>
              <a:ext uri="{FF2B5EF4-FFF2-40B4-BE49-F238E27FC236}">
                <a16:creationId xmlns:a16="http://schemas.microsoft.com/office/drawing/2014/main" id="{C05B2FF0-D018-432E-99E4-E65A37EED0D8}"/>
              </a:ext>
            </a:extLst>
          </p:cNvPr>
          <p:cNvSpPr>
            <a:spLocks noGrp="1"/>
          </p:cNvSpPr>
          <p:nvPr/>
        </p:nvSpPr>
        <p:spPr>
          <a:xfrm>
            <a:off x="533400" y="14554200"/>
            <a:ext cx="66675" cy="95250"/>
          </a:xfrm>
          <a:custGeom>
            <a:avLst/>
            <a:gdLst/>
            <a:ahLst/>
            <a:cxnLst/>
            <a:rect l="0" t="0" r="0" b="0"/>
            <a:pathLst>
              <a:path w="66675" h="95250">
                <a:moveTo>
                  <a:pt x="0" y="0"/>
                </a:moveTo>
                <a:lnTo>
                  <a:pt x="66675" y="95250"/>
                </a:lnTo>
              </a:path>
            </a:pathLst>
          </a:custGeom>
          <a:noFill/>
          <a:ln w="28575">
            <a:solidFill>
              <a:srgbClr val="BDCDC6"/>
            </a:solidFill>
          </a:ln>
        </p:spPr>
      </p:sp>
      <p:sp>
        <p:nvSpPr>
          <p:cNvPr id="11" name="任意多边形: 形状 10">
            <a:extLst>
              <a:ext uri="{FF2B5EF4-FFF2-40B4-BE49-F238E27FC236}">
                <a16:creationId xmlns:a16="http://schemas.microsoft.com/office/drawing/2014/main" id="{5B18EE52-48C4-4AFE-8264-380B689B31B2}"/>
              </a:ext>
            </a:extLst>
          </p:cNvPr>
          <p:cNvSpPr>
            <a:spLocks noGrp="1"/>
          </p:cNvSpPr>
          <p:nvPr/>
        </p:nvSpPr>
        <p:spPr>
          <a:xfrm>
            <a:off x="600075" y="14554200"/>
            <a:ext cx="66675" cy="95250"/>
          </a:xfrm>
          <a:custGeom>
            <a:avLst/>
            <a:gdLst/>
            <a:ahLst/>
            <a:cxnLst/>
            <a:rect l="0" t="0" r="0" b="0"/>
            <a:pathLst>
              <a:path w="66675" h="95250">
                <a:moveTo>
                  <a:pt x="66675" y="0"/>
                </a:moveTo>
                <a:lnTo>
                  <a:pt x="0" y="95250"/>
                </a:lnTo>
              </a:path>
            </a:pathLst>
          </a:custGeom>
          <a:noFill/>
          <a:ln w="28575">
            <a:solidFill>
              <a:srgbClr val="BDCDC6"/>
            </a:solidFill>
          </a:ln>
        </p:spPr>
      </p:sp>
      <p:sp>
        <p:nvSpPr>
          <p:cNvPr id="12" name="椭圆 11">
            <a:extLst>
              <a:ext uri="{FF2B5EF4-FFF2-40B4-BE49-F238E27FC236}">
                <a16:creationId xmlns:a16="http://schemas.microsoft.com/office/drawing/2014/main" id="{C1D26ECB-C81C-40C6-9871-5A1CEF133012}"/>
              </a:ext>
            </a:extLst>
          </p:cNvPr>
          <p:cNvSpPr>
            <a:spLocks noGrp="1"/>
          </p:cNvSpPr>
          <p:nvPr/>
        </p:nvSpPr>
        <p:spPr>
          <a:xfrm>
            <a:off x="361950" y="1314450"/>
            <a:ext cx="476250" cy="476250"/>
          </a:xfrm>
          <a:prstGeom prst="ellipse">
            <a:avLst/>
          </a:prstGeom>
          <a:solidFill>
            <a:srgbClr val="366755"/>
          </a:solidFill>
          <a:ln w="0">
            <a:noFill/>
          </a:ln>
        </p:spPr>
        <p:txBody>
          <a:bodyPr lIns="0" tIns="0" rIns="0" bIns="0" anchor="ctr"/>
          <a:lstStyle/>
          <a:p>
            <a:pPr algn="ctr">
              <a:defRPr sz="23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0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358CD5A9-77EF-4202-B434-00CF9C34217B}"/>
              </a:ext>
            </a:extLst>
          </p:cNvPr>
          <p:cNvSpPr>
            <a:spLocks noGrp="1"/>
          </p:cNvSpPr>
          <p:nvPr/>
        </p:nvSpPr>
        <p:spPr>
          <a:xfrm>
            <a:off x="1238250" y="1333500"/>
            <a:ext cx="2000250" cy="4572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2850" b="1">
                <a:solidFill>
                  <a:srgbClr val="366755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366755"/>
                </a:solidFill>
                <a:latin typeface="Arial"/>
                <a:ea typeface="Arial"/>
                <a:cs typeface="Arial"/>
              </a:rPr>
              <a:t>Input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FE26BA89-5DFE-4896-9F73-380DC458DEC0}"/>
              </a:ext>
            </a:extLst>
          </p:cNvPr>
          <p:cNvSpPr>
            <a:spLocks noGrp="1"/>
          </p:cNvSpPr>
          <p:nvPr/>
        </p:nvSpPr>
        <p:spPr>
          <a:xfrm>
            <a:off x="3524250" y="1362075"/>
            <a:ext cx="12715875" cy="4000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2325" b="0">
                <a:solidFill>
                  <a:srgbClr val="60717A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60717A"/>
                </a:solidFill>
                <a:latin typeface="Arial"/>
                <a:ea typeface="Arial"/>
                <a:cs typeface="Arial"/>
              </a:rPr>
              <a:t>Reconstructing the receptor from the experimental map with CryoAtom2</a:t>
            </a:r>
          </a:p>
        </p:txBody>
      </p:sp>
      <p:sp>
        <p:nvSpPr>
          <p:cNvPr id="15" name="任意多边形: 形状 14">
            <a:extLst>
              <a:ext uri="{FF2B5EF4-FFF2-40B4-BE49-F238E27FC236}">
                <a16:creationId xmlns:a16="http://schemas.microsoft.com/office/drawing/2014/main" id="{347E5258-A873-4D83-9276-CF9146555350}"/>
              </a:ext>
            </a:extLst>
          </p:cNvPr>
          <p:cNvSpPr>
            <a:spLocks noGrp="1"/>
          </p:cNvSpPr>
          <p:nvPr/>
        </p:nvSpPr>
        <p:spPr>
          <a:xfrm>
            <a:off x="1238250" y="1895475"/>
            <a:ext cx="15049500" cy="953"/>
          </a:xfrm>
          <a:custGeom>
            <a:avLst/>
            <a:gdLst/>
            <a:ahLst/>
            <a:cxnLst/>
            <a:rect l="0" t="0" r="0" b="0"/>
            <a:pathLst>
              <a:path w="15049500" h="953">
                <a:moveTo>
                  <a:pt x="0" y="0"/>
                </a:moveTo>
                <a:lnTo>
                  <a:pt x="15049500" y="0"/>
                </a:lnTo>
              </a:path>
            </a:pathLst>
          </a:custGeom>
          <a:noFill/>
          <a:ln w="19050">
            <a:solidFill>
              <a:srgbClr val="E6EDEB"/>
            </a:solidFill>
          </a:ln>
        </p:spPr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D0B5B8C0-A097-42C4-9CEA-36822EB0382B}"/>
              </a:ext>
            </a:extLst>
          </p:cNvPr>
          <p:cNvSpPr>
            <a:spLocks noGrp="1"/>
          </p:cNvSpPr>
          <p:nvPr/>
        </p:nvSpPr>
        <p:spPr>
          <a:xfrm>
            <a:off x="1238250" y="2076450"/>
            <a:ext cx="352425" cy="3714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2475" b="1">
                <a:solidFill>
                  <a:srgbClr val="203544"/>
                </a:solidFill>
                <a:latin typeface="Arial"/>
                <a:ea typeface="Arial"/>
                <a:cs typeface="Arial"/>
              </a:defRPr>
            </a:pPr>
            <a:r>
              <a:rPr sz="2475" b="1">
                <a:solidFill>
                  <a:srgbClr val="203544"/>
                </a:solidFill>
                <a:latin typeface="Arial"/>
                <a:ea typeface="Arial"/>
                <a:cs typeface="Arial"/>
              </a:rPr>
              <a:t>a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9F00FD17-40BA-4F26-AD41-E8499F3808AF}"/>
              </a:ext>
            </a:extLst>
          </p:cNvPr>
          <p:cNvSpPr>
            <a:spLocks noGrp="1"/>
          </p:cNvSpPr>
          <p:nvPr/>
        </p:nvSpPr>
        <p:spPr>
          <a:xfrm>
            <a:off x="1657350" y="2085975"/>
            <a:ext cx="4152900" cy="3714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2325" b="0">
                <a:solidFill>
                  <a:srgbClr val="203544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203544"/>
                </a:solidFill>
                <a:latin typeface="Arial"/>
                <a:ea typeface="Arial"/>
                <a:cs typeface="Arial"/>
              </a:rPr>
              <a:t>Experimental map</a:t>
            </a:r>
          </a:p>
        </p:txBody>
      </p:sp>
      <p:pic>
        <p:nvPicPr>
          <p:cNvPr id="118" name="global_density_same_scale" descr="9BJJ global_density_same_scale; native ChimeraX; source C:\Users\15919\Desktop\论文草稿\画图\formal\E2E_flow_v2_20261003\9bjj\renders\global_density_same_scale.png; editable crop only"/>
          <p:cNvPicPr>
            <a:picLocks noChangeAspect="1"/>
          </p:cNvPicPr>
          <p:nvPr/>
        </p:nvPicPr>
        <p:blipFill>
          <a:blip r:embed="rId4"/>
          <a:srcRect l="23623" t="10273" r="23038" b="11437"/>
          <a:stretch>
            <a:fillRect/>
          </a:stretch>
        </p:blipFill>
        <p:spPr>
          <a:xfrm>
            <a:off x="2226370" y="2476500"/>
            <a:ext cx="2595760" cy="2857500"/>
          </a:xfrm>
          <a:prstGeom prst="rect">
            <a:avLst/>
          </a:prstGeom>
        </p:spPr>
      </p:pic>
      <p:sp>
        <p:nvSpPr>
          <p:cNvPr id="19" name="矩形 18">
            <a:extLst>
              <a:ext uri="{FF2B5EF4-FFF2-40B4-BE49-F238E27FC236}">
                <a16:creationId xmlns:a16="http://schemas.microsoft.com/office/drawing/2014/main" id="{EB830DB4-7188-4396-8EAD-694DD3E59093}"/>
              </a:ext>
            </a:extLst>
          </p:cNvPr>
          <p:cNvSpPr>
            <a:spLocks noGrp="1"/>
          </p:cNvSpPr>
          <p:nvPr/>
        </p:nvSpPr>
        <p:spPr>
          <a:xfrm>
            <a:off x="6477000" y="2076450"/>
            <a:ext cx="352425" cy="3714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2475" b="1">
                <a:solidFill>
                  <a:srgbClr val="203544"/>
                </a:solidFill>
                <a:latin typeface="Arial"/>
                <a:ea typeface="Arial"/>
                <a:cs typeface="Arial"/>
              </a:defRPr>
            </a:pPr>
            <a:r>
              <a:rPr sz="2475" b="1">
                <a:solidFill>
                  <a:srgbClr val="203544"/>
                </a:solidFill>
                <a:latin typeface="Arial"/>
                <a:ea typeface="Arial"/>
                <a:cs typeface="Arial"/>
              </a:rPr>
              <a:t>b</a:t>
            </a: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D0B0EF7B-EC9E-438F-BE9C-FDE151264276}"/>
              </a:ext>
            </a:extLst>
          </p:cNvPr>
          <p:cNvSpPr>
            <a:spLocks noGrp="1"/>
          </p:cNvSpPr>
          <p:nvPr/>
        </p:nvSpPr>
        <p:spPr>
          <a:xfrm>
            <a:off x="6896100" y="2085975"/>
            <a:ext cx="4152900" cy="3714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2325" b="0">
                <a:solidFill>
                  <a:srgbClr val="203544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203544"/>
                </a:solidFill>
                <a:latin typeface="Arial"/>
                <a:ea typeface="Arial"/>
                <a:cs typeface="Arial"/>
              </a:rPr>
              <a:t>CA2 receptor</a:t>
            </a:r>
          </a:p>
        </p:txBody>
      </p:sp>
      <p:pic>
        <p:nvPicPr>
          <p:cNvPr id="121" name="global_ca2" descr="9BJJ global_ca2; native ChimeraX; source C:\Users\15919\Desktop\论文草稿\画图\formal\E2E_flow_20261003\9bjj\renders\global_ca2.png; editable crop only"/>
          <p:cNvPicPr>
            <a:picLocks noChangeAspect="1"/>
          </p:cNvPicPr>
          <p:nvPr/>
        </p:nvPicPr>
        <p:blipFill>
          <a:blip r:embed="rId5"/>
          <a:srcRect l="23623" t="10273" r="23038" b="11437"/>
          <a:stretch>
            <a:fillRect/>
          </a:stretch>
        </p:blipFill>
        <p:spPr>
          <a:xfrm>
            <a:off x="7465120" y="2476500"/>
            <a:ext cx="2595760" cy="2857500"/>
          </a:xfrm>
          <a:prstGeom prst="rect">
            <a:avLst/>
          </a:prstGeom>
        </p:spPr>
      </p:pic>
      <p:sp>
        <p:nvSpPr>
          <p:cNvPr id="22" name="矩形 21">
            <a:extLst>
              <a:ext uri="{FF2B5EF4-FFF2-40B4-BE49-F238E27FC236}">
                <a16:creationId xmlns:a16="http://schemas.microsoft.com/office/drawing/2014/main" id="{EE0DA118-D2BF-4E1A-9E11-CE96A3BE0D2D}"/>
              </a:ext>
            </a:extLst>
          </p:cNvPr>
          <p:cNvSpPr>
            <a:spLocks noGrp="1"/>
          </p:cNvSpPr>
          <p:nvPr/>
        </p:nvSpPr>
        <p:spPr>
          <a:xfrm>
            <a:off x="11715750" y="2076450"/>
            <a:ext cx="352425" cy="3714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2475" b="1">
                <a:solidFill>
                  <a:srgbClr val="203544"/>
                </a:solidFill>
                <a:latin typeface="Arial"/>
                <a:ea typeface="Arial"/>
                <a:cs typeface="Arial"/>
              </a:defRPr>
            </a:pPr>
            <a:r>
              <a:rPr sz="2475" b="1">
                <a:solidFill>
                  <a:srgbClr val="203544"/>
                </a:solidFill>
                <a:latin typeface="Arial"/>
                <a:ea typeface="Arial"/>
                <a:cs typeface="Arial"/>
              </a:rPr>
              <a:t>c</a:t>
            </a:r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41F4E77B-A591-4D2E-B11F-1ADB9149062E}"/>
              </a:ext>
            </a:extLst>
          </p:cNvPr>
          <p:cNvSpPr>
            <a:spLocks noGrp="1"/>
          </p:cNvSpPr>
          <p:nvPr/>
        </p:nvSpPr>
        <p:spPr>
          <a:xfrm>
            <a:off x="12134850" y="2085975"/>
            <a:ext cx="4152900" cy="3714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2325" b="0">
                <a:solidFill>
                  <a:srgbClr val="203544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203544"/>
                </a:solidFill>
                <a:latin typeface="Arial"/>
                <a:ea typeface="Arial"/>
                <a:cs typeface="Arial"/>
              </a:rPr>
              <a:t>GT receptor (reference)</a:t>
            </a:r>
          </a:p>
        </p:txBody>
      </p:sp>
      <p:pic>
        <p:nvPicPr>
          <p:cNvPr id="124" name="global_gt" descr="9BJJ global_gt; native ChimeraX; source C:\Users\15919\Desktop\论文草稿\画图\formal\E2E_flow_20261003\9bjj\renders\global_gt.png; editable crop only"/>
          <p:cNvPicPr>
            <a:picLocks noChangeAspect="1"/>
          </p:cNvPicPr>
          <p:nvPr/>
        </p:nvPicPr>
        <p:blipFill>
          <a:blip r:embed="rId6"/>
          <a:srcRect l="23623" t="10273" r="23038" b="11437"/>
          <a:stretch>
            <a:fillRect/>
          </a:stretch>
        </p:blipFill>
        <p:spPr>
          <a:xfrm>
            <a:off x="12703870" y="2476500"/>
            <a:ext cx="2595760" cy="2857500"/>
          </a:xfrm>
          <a:prstGeom prst="rect">
            <a:avLst/>
          </a:prstGeom>
        </p:spPr>
      </p:pic>
      <p:sp>
        <p:nvSpPr>
          <p:cNvPr id="25" name="矩形 24">
            <a:extLst>
              <a:ext uri="{FF2B5EF4-FFF2-40B4-BE49-F238E27FC236}">
                <a16:creationId xmlns:a16="http://schemas.microsoft.com/office/drawing/2014/main" id="{2D622CF6-F0C9-435E-8ECA-CCD0C126AC9C}"/>
              </a:ext>
            </a:extLst>
          </p:cNvPr>
          <p:cNvSpPr>
            <a:spLocks noGrp="1"/>
          </p:cNvSpPr>
          <p:nvPr/>
        </p:nvSpPr>
        <p:spPr>
          <a:xfrm>
            <a:off x="5181600" y="3419475"/>
            <a:ext cx="2114550" cy="4000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2250" b="1">
                <a:solidFill>
                  <a:srgbClr val="366755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366755"/>
                </a:solidFill>
                <a:latin typeface="Arial"/>
                <a:ea typeface="Arial"/>
                <a:cs typeface="Arial"/>
              </a:rPr>
              <a:t>CryoAtom2</a:t>
            </a:r>
          </a:p>
        </p:txBody>
      </p:sp>
      <p:sp>
        <p:nvSpPr>
          <p:cNvPr id="26" name="任意多边形: 形状 25">
            <a:extLst>
              <a:ext uri="{FF2B5EF4-FFF2-40B4-BE49-F238E27FC236}">
                <a16:creationId xmlns:a16="http://schemas.microsoft.com/office/drawing/2014/main" id="{3D470473-3BB8-4424-B028-0C5D4A35EBD5}"/>
              </a:ext>
            </a:extLst>
          </p:cNvPr>
          <p:cNvSpPr>
            <a:spLocks noGrp="1"/>
          </p:cNvSpPr>
          <p:nvPr/>
        </p:nvSpPr>
        <p:spPr>
          <a:xfrm>
            <a:off x="5286375" y="3905250"/>
            <a:ext cx="2019300" cy="953"/>
          </a:xfrm>
          <a:custGeom>
            <a:avLst/>
            <a:gdLst/>
            <a:ahLst/>
            <a:cxnLst/>
            <a:rect l="0" t="0" r="0" b="0"/>
            <a:pathLst>
              <a:path w="2019300" h="953">
                <a:moveTo>
                  <a:pt x="0" y="0"/>
                </a:moveTo>
                <a:lnTo>
                  <a:pt x="2019300" y="0"/>
                </a:lnTo>
              </a:path>
            </a:pathLst>
          </a:custGeom>
          <a:noFill/>
          <a:ln w="38100">
            <a:solidFill>
              <a:srgbClr val="366755"/>
            </a:solidFill>
          </a:ln>
        </p:spPr>
      </p:sp>
      <p:sp>
        <p:nvSpPr>
          <p:cNvPr id="27" name="任意多边形: 形状 26">
            <a:extLst>
              <a:ext uri="{FF2B5EF4-FFF2-40B4-BE49-F238E27FC236}">
                <a16:creationId xmlns:a16="http://schemas.microsoft.com/office/drawing/2014/main" id="{C9C6DC44-DFF5-4BCC-88AF-D71EECDD2B7C}"/>
              </a:ext>
            </a:extLst>
          </p:cNvPr>
          <p:cNvSpPr>
            <a:spLocks noGrp="1"/>
          </p:cNvSpPr>
          <p:nvPr/>
        </p:nvSpPr>
        <p:spPr>
          <a:xfrm>
            <a:off x="7162800" y="3810000"/>
            <a:ext cx="142875" cy="95250"/>
          </a:xfrm>
          <a:custGeom>
            <a:avLst/>
            <a:gdLst/>
            <a:ahLst/>
            <a:cxnLst/>
            <a:rect l="0" t="0" r="0" b="0"/>
            <a:pathLst>
              <a:path w="142875" h="95250">
                <a:moveTo>
                  <a:pt x="0" y="0"/>
                </a:moveTo>
                <a:lnTo>
                  <a:pt x="142875" y="95250"/>
                </a:lnTo>
              </a:path>
            </a:pathLst>
          </a:custGeom>
          <a:noFill/>
          <a:ln w="38100">
            <a:solidFill>
              <a:srgbClr val="366755"/>
            </a:solidFill>
          </a:ln>
        </p:spPr>
      </p:sp>
      <p:sp>
        <p:nvSpPr>
          <p:cNvPr id="28" name="任意多边形: 形状 27">
            <a:extLst>
              <a:ext uri="{FF2B5EF4-FFF2-40B4-BE49-F238E27FC236}">
                <a16:creationId xmlns:a16="http://schemas.microsoft.com/office/drawing/2014/main" id="{7EE1F60E-E99B-47A8-AB0A-367645A72212}"/>
              </a:ext>
            </a:extLst>
          </p:cNvPr>
          <p:cNvSpPr>
            <a:spLocks noGrp="1"/>
          </p:cNvSpPr>
          <p:nvPr/>
        </p:nvSpPr>
        <p:spPr>
          <a:xfrm>
            <a:off x="7162800" y="3905250"/>
            <a:ext cx="142875" cy="95250"/>
          </a:xfrm>
          <a:custGeom>
            <a:avLst/>
            <a:gdLst/>
            <a:ahLst/>
            <a:cxnLst/>
            <a:rect l="0" t="0" r="0" b="0"/>
            <a:pathLst>
              <a:path w="142875" h="95250">
                <a:moveTo>
                  <a:pt x="0" y="95250"/>
                </a:moveTo>
                <a:lnTo>
                  <a:pt x="142875" y="0"/>
                </a:lnTo>
              </a:path>
            </a:pathLst>
          </a:custGeom>
          <a:noFill/>
          <a:ln w="38100">
            <a:solidFill>
              <a:srgbClr val="366755"/>
            </a:solidFill>
          </a:ln>
        </p:spPr>
      </p:sp>
      <p:sp>
        <p:nvSpPr>
          <p:cNvPr id="29" name="任意多边形: 形状 28">
            <a:extLst>
              <a:ext uri="{FF2B5EF4-FFF2-40B4-BE49-F238E27FC236}">
                <a16:creationId xmlns:a16="http://schemas.microsoft.com/office/drawing/2014/main" id="{B232CB3F-CBC3-4757-B0AC-980A3FD2A240}"/>
              </a:ext>
            </a:extLst>
          </p:cNvPr>
          <p:cNvSpPr>
            <a:spLocks noGrp="1"/>
          </p:cNvSpPr>
          <p:nvPr/>
        </p:nvSpPr>
        <p:spPr>
          <a:xfrm>
            <a:off x="11430000" y="2000250"/>
            <a:ext cx="953" cy="104775"/>
          </a:xfrm>
          <a:custGeom>
            <a:avLst/>
            <a:gdLst/>
            <a:ahLst/>
            <a:cxnLst/>
            <a:rect l="0" t="0" r="0" b="0"/>
            <a:pathLst>
              <a:path w="953" h="104775">
                <a:moveTo>
                  <a:pt x="0" y="0"/>
                </a:moveTo>
                <a:lnTo>
                  <a:pt x="0" y="104775"/>
                </a:lnTo>
              </a:path>
            </a:pathLst>
          </a:custGeom>
          <a:noFill/>
          <a:ln w="19050">
            <a:solidFill>
              <a:srgbClr val="BDCDC6"/>
            </a:solidFill>
          </a:ln>
        </p:spPr>
      </p:sp>
      <p:sp>
        <p:nvSpPr>
          <p:cNvPr id="30" name="任意多边形: 形状 29">
            <a:extLst>
              <a:ext uri="{FF2B5EF4-FFF2-40B4-BE49-F238E27FC236}">
                <a16:creationId xmlns:a16="http://schemas.microsoft.com/office/drawing/2014/main" id="{5A5A8EF2-DFFC-46D9-8A71-B20ECA065466}"/>
              </a:ext>
            </a:extLst>
          </p:cNvPr>
          <p:cNvSpPr>
            <a:spLocks noGrp="1"/>
          </p:cNvSpPr>
          <p:nvPr/>
        </p:nvSpPr>
        <p:spPr>
          <a:xfrm>
            <a:off x="11430000" y="2190750"/>
            <a:ext cx="953" cy="104775"/>
          </a:xfrm>
          <a:custGeom>
            <a:avLst/>
            <a:gdLst/>
            <a:ahLst/>
            <a:cxnLst/>
            <a:rect l="0" t="0" r="0" b="0"/>
            <a:pathLst>
              <a:path w="953" h="104775">
                <a:moveTo>
                  <a:pt x="0" y="0"/>
                </a:moveTo>
                <a:lnTo>
                  <a:pt x="0" y="104775"/>
                </a:lnTo>
              </a:path>
            </a:pathLst>
          </a:custGeom>
          <a:noFill/>
          <a:ln w="19050">
            <a:solidFill>
              <a:srgbClr val="BDCDC6"/>
            </a:solidFill>
          </a:ln>
        </p:spPr>
      </p:sp>
      <p:sp>
        <p:nvSpPr>
          <p:cNvPr id="31" name="任意多边形: 形状 30">
            <a:extLst>
              <a:ext uri="{FF2B5EF4-FFF2-40B4-BE49-F238E27FC236}">
                <a16:creationId xmlns:a16="http://schemas.microsoft.com/office/drawing/2014/main" id="{E6F0BF2C-FDB7-4489-85F7-9122EFFFCCE8}"/>
              </a:ext>
            </a:extLst>
          </p:cNvPr>
          <p:cNvSpPr>
            <a:spLocks noGrp="1"/>
          </p:cNvSpPr>
          <p:nvPr/>
        </p:nvSpPr>
        <p:spPr>
          <a:xfrm>
            <a:off x="11430000" y="2381250"/>
            <a:ext cx="953" cy="104775"/>
          </a:xfrm>
          <a:custGeom>
            <a:avLst/>
            <a:gdLst/>
            <a:ahLst/>
            <a:cxnLst/>
            <a:rect l="0" t="0" r="0" b="0"/>
            <a:pathLst>
              <a:path w="953" h="104775">
                <a:moveTo>
                  <a:pt x="0" y="0"/>
                </a:moveTo>
                <a:lnTo>
                  <a:pt x="0" y="104775"/>
                </a:lnTo>
              </a:path>
            </a:pathLst>
          </a:custGeom>
          <a:noFill/>
          <a:ln w="19050">
            <a:solidFill>
              <a:srgbClr val="BDCDC6"/>
            </a:solidFill>
          </a:ln>
        </p:spPr>
      </p:sp>
      <p:sp>
        <p:nvSpPr>
          <p:cNvPr id="32" name="任意多边形: 形状 31">
            <a:extLst>
              <a:ext uri="{FF2B5EF4-FFF2-40B4-BE49-F238E27FC236}">
                <a16:creationId xmlns:a16="http://schemas.microsoft.com/office/drawing/2014/main" id="{DBAAEDC8-1D19-4406-A7FB-07F4A2B173D4}"/>
              </a:ext>
            </a:extLst>
          </p:cNvPr>
          <p:cNvSpPr>
            <a:spLocks noGrp="1"/>
          </p:cNvSpPr>
          <p:nvPr/>
        </p:nvSpPr>
        <p:spPr>
          <a:xfrm>
            <a:off x="11430000" y="2571750"/>
            <a:ext cx="953" cy="104775"/>
          </a:xfrm>
          <a:custGeom>
            <a:avLst/>
            <a:gdLst/>
            <a:ahLst/>
            <a:cxnLst/>
            <a:rect l="0" t="0" r="0" b="0"/>
            <a:pathLst>
              <a:path w="953" h="104775">
                <a:moveTo>
                  <a:pt x="0" y="0"/>
                </a:moveTo>
                <a:lnTo>
                  <a:pt x="0" y="104775"/>
                </a:lnTo>
              </a:path>
            </a:pathLst>
          </a:custGeom>
          <a:noFill/>
          <a:ln w="19050">
            <a:solidFill>
              <a:srgbClr val="BDCDC6"/>
            </a:solidFill>
          </a:ln>
        </p:spPr>
      </p:sp>
      <p:sp>
        <p:nvSpPr>
          <p:cNvPr id="33" name="任意多边形: 形状 32">
            <a:extLst>
              <a:ext uri="{FF2B5EF4-FFF2-40B4-BE49-F238E27FC236}">
                <a16:creationId xmlns:a16="http://schemas.microsoft.com/office/drawing/2014/main" id="{4F8DECE4-2AF4-47A8-93D7-38D6EA37D22D}"/>
              </a:ext>
            </a:extLst>
          </p:cNvPr>
          <p:cNvSpPr>
            <a:spLocks noGrp="1"/>
          </p:cNvSpPr>
          <p:nvPr/>
        </p:nvSpPr>
        <p:spPr>
          <a:xfrm>
            <a:off x="11430000" y="2762250"/>
            <a:ext cx="953" cy="104775"/>
          </a:xfrm>
          <a:custGeom>
            <a:avLst/>
            <a:gdLst/>
            <a:ahLst/>
            <a:cxnLst/>
            <a:rect l="0" t="0" r="0" b="0"/>
            <a:pathLst>
              <a:path w="953" h="104775">
                <a:moveTo>
                  <a:pt x="0" y="0"/>
                </a:moveTo>
                <a:lnTo>
                  <a:pt x="0" y="104775"/>
                </a:lnTo>
              </a:path>
            </a:pathLst>
          </a:custGeom>
          <a:noFill/>
          <a:ln w="19050">
            <a:solidFill>
              <a:srgbClr val="BDCDC6"/>
            </a:solidFill>
          </a:ln>
        </p:spPr>
      </p:sp>
      <p:sp>
        <p:nvSpPr>
          <p:cNvPr id="34" name="任意多边形: 形状 33">
            <a:extLst>
              <a:ext uri="{FF2B5EF4-FFF2-40B4-BE49-F238E27FC236}">
                <a16:creationId xmlns:a16="http://schemas.microsoft.com/office/drawing/2014/main" id="{992961F8-0967-48C5-A243-7DCC051E31C0}"/>
              </a:ext>
            </a:extLst>
          </p:cNvPr>
          <p:cNvSpPr>
            <a:spLocks noGrp="1"/>
          </p:cNvSpPr>
          <p:nvPr/>
        </p:nvSpPr>
        <p:spPr>
          <a:xfrm>
            <a:off x="11430000" y="2952750"/>
            <a:ext cx="953" cy="104775"/>
          </a:xfrm>
          <a:custGeom>
            <a:avLst/>
            <a:gdLst/>
            <a:ahLst/>
            <a:cxnLst/>
            <a:rect l="0" t="0" r="0" b="0"/>
            <a:pathLst>
              <a:path w="953" h="104775">
                <a:moveTo>
                  <a:pt x="0" y="0"/>
                </a:moveTo>
                <a:lnTo>
                  <a:pt x="0" y="104775"/>
                </a:lnTo>
              </a:path>
            </a:pathLst>
          </a:custGeom>
          <a:noFill/>
          <a:ln w="19050">
            <a:solidFill>
              <a:srgbClr val="BDCDC6"/>
            </a:solidFill>
          </a:ln>
        </p:spPr>
      </p:sp>
      <p:sp>
        <p:nvSpPr>
          <p:cNvPr id="35" name="任意多边形: 形状 34">
            <a:extLst>
              <a:ext uri="{FF2B5EF4-FFF2-40B4-BE49-F238E27FC236}">
                <a16:creationId xmlns:a16="http://schemas.microsoft.com/office/drawing/2014/main" id="{42FC7FEC-59E8-4CF7-98CD-5CC67C4D8051}"/>
              </a:ext>
            </a:extLst>
          </p:cNvPr>
          <p:cNvSpPr>
            <a:spLocks noGrp="1"/>
          </p:cNvSpPr>
          <p:nvPr/>
        </p:nvSpPr>
        <p:spPr>
          <a:xfrm>
            <a:off x="11430000" y="3143250"/>
            <a:ext cx="953" cy="104775"/>
          </a:xfrm>
          <a:custGeom>
            <a:avLst/>
            <a:gdLst/>
            <a:ahLst/>
            <a:cxnLst/>
            <a:rect l="0" t="0" r="0" b="0"/>
            <a:pathLst>
              <a:path w="953" h="104775">
                <a:moveTo>
                  <a:pt x="0" y="0"/>
                </a:moveTo>
                <a:lnTo>
                  <a:pt x="0" y="104775"/>
                </a:lnTo>
              </a:path>
            </a:pathLst>
          </a:custGeom>
          <a:noFill/>
          <a:ln w="19050">
            <a:solidFill>
              <a:srgbClr val="BDCDC6"/>
            </a:solidFill>
          </a:ln>
        </p:spPr>
      </p:sp>
      <p:sp>
        <p:nvSpPr>
          <p:cNvPr id="36" name="任意多边形: 形状 35">
            <a:extLst>
              <a:ext uri="{FF2B5EF4-FFF2-40B4-BE49-F238E27FC236}">
                <a16:creationId xmlns:a16="http://schemas.microsoft.com/office/drawing/2014/main" id="{504AA7B1-A70F-4E0D-B33B-C176CFFFA69F}"/>
              </a:ext>
            </a:extLst>
          </p:cNvPr>
          <p:cNvSpPr>
            <a:spLocks noGrp="1"/>
          </p:cNvSpPr>
          <p:nvPr/>
        </p:nvSpPr>
        <p:spPr>
          <a:xfrm>
            <a:off x="11430000" y="3333750"/>
            <a:ext cx="953" cy="104775"/>
          </a:xfrm>
          <a:custGeom>
            <a:avLst/>
            <a:gdLst/>
            <a:ahLst/>
            <a:cxnLst/>
            <a:rect l="0" t="0" r="0" b="0"/>
            <a:pathLst>
              <a:path w="953" h="104775">
                <a:moveTo>
                  <a:pt x="0" y="0"/>
                </a:moveTo>
                <a:lnTo>
                  <a:pt x="0" y="104775"/>
                </a:lnTo>
              </a:path>
            </a:pathLst>
          </a:custGeom>
          <a:noFill/>
          <a:ln w="19050">
            <a:solidFill>
              <a:srgbClr val="BDCDC6"/>
            </a:solidFill>
          </a:ln>
        </p:spPr>
      </p:sp>
      <p:sp>
        <p:nvSpPr>
          <p:cNvPr id="37" name="任意多边形: 形状 36">
            <a:extLst>
              <a:ext uri="{FF2B5EF4-FFF2-40B4-BE49-F238E27FC236}">
                <a16:creationId xmlns:a16="http://schemas.microsoft.com/office/drawing/2014/main" id="{9680BE15-7E49-407F-A9BB-52036E72EE00}"/>
              </a:ext>
            </a:extLst>
          </p:cNvPr>
          <p:cNvSpPr>
            <a:spLocks noGrp="1"/>
          </p:cNvSpPr>
          <p:nvPr/>
        </p:nvSpPr>
        <p:spPr>
          <a:xfrm>
            <a:off x="11430000" y="3524250"/>
            <a:ext cx="953" cy="104775"/>
          </a:xfrm>
          <a:custGeom>
            <a:avLst/>
            <a:gdLst/>
            <a:ahLst/>
            <a:cxnLst/>
            <a:rect l="0" t="0" r="0" b="0"/>
            <a:pathLst>
              <a:path w="953" h="104775">
                <a:moveTo>
                  <a:pt x="0" y="0"/>
                </a:moveTo>
                <a:lnTo>
                  <a:pt x="0" y="104775"/>
                </a:lnTo>
              </a:path>
            </a:pathLst>
          </a:custGeom>
          <a:noFill/>
          <a:ln w="19050">
            <a:solidFill>
              <a:srgbClr val="BDCDC6"/>
            </a:solidFill>
          </a:ln>
        </p:spPr>
      </p:sp>
      <p:sp>
        <p:nvSpPr>
          <p:cNvPr id="38" name="任意多边形: 形状 37">
            <a:extLst>
              <a:ext uri="{FF2B5EF4-FFF2-40B4-BE49-F238E27FC236}">
                <a16:creationId xmlns:a16="http://schemas.microsoft.com/office/drawing/2014/main" id="{DD947AA1-C2D0-4581-AD02-59BCA992E24B}"/>
              </a:ext>
            </a:extLst>
          </p:cNvPr>
          <p:cNvSpPr>
            <a:spLocks noGrp="1"/>
          </p:cNvSpPr>
          <p:nvPr/>
        </p:nvSpPr>
        <p:spPr>
          <a:xfrm>
            <a:off x="11430000" y="3714750"/>
            <a:ext cx="953" cy="104775"/>
          </a:xfrm>
          <a:custGeom>
            <a:avLst/>
            <a:gdLst/>
            <a:ahLst/>
            <a:cxnLst/>
            <a:rect l="0" t="0" r="0" b="0"/>
            <a:pathLst>
              <a:path w="953" h="104775">
                <a:moveTo>
                  <a:pt x="0" y="0"/>
                </a:moveTo>
                <a:lnTo>
                  <a:pt x="0" y="104775"/>
                </a:lnTo>
              </a:path>
            </a:pathLst>
          </a:custGeom>
          <a:noFill/>
          <a:ln w="19050">
            <a:solidFill>
              <a:srgbClr val="BDCDC6"/>
            </a:solidFill>
          </a:ln>
        </p:spPr>
      </p:sp>
      <p:sp>
        <p:nvSpPr>
          <p:cNvPr id="39" name="任意多边形: 形状 38">
            <a:extLst>
              <a:ext uri="{FF2B5EF4-FFF2-40B4-BE49-F238E27FC236}">
                <a16:creationId xmlns:a16="http://schemas.microsoft.com/office/drawing/2014/main" id="{7403F339-618A-4102-BAEC-A0991F9F8187}"/>
              </a:ext>
            </a:extLst>
          </p:cNvPr>
          <p:cNvSpPr>
            <a:spLocks noGrp="1"/>
          </p:cNvSpPr>
          <p:nvPr/>
        </p:nvSpPr>
        <p:spPr>
          <a:xfrm>
            <a:off x="11430000" y="3905250"/>
            <a:ext cx="953" cy="104775"/>
          </a:xfrm>
          <a:custGeom>
            <a:avLst/>
            <a:gdLst/>
            <a:ahLst/>
            <a:cxnLst/>
            <a:rect l="0" t="0" r="0" b="0"/>
            <a:pathLst>
              <a:path w="953" h="104775">
                <a:moveTo>
                  <a:pt x="0" y="0"/>
                </a:moveTo>
                <a:lnTo>
                  <a:pt x="0" y="104775"/>
                </a:lnTo>
              </a:path>
            </a:pathLst>
          </a:custGeom>
          <a:noFill/>
          <a:ln w="19050">
            <a:solidFill>
              <a:srgbClr val="BDCDC6"/>
            </a:solidFill>
          </a:ln>
        </p:spPr>
      </p:sp>
      <p:sp>
        <p:nvSpPr>
          <p:cNvPr id="40" name="任意多边形: 形状 39">
            <a:extLst>
              <a:ext uri="{FF2B5EF4-FFF2-40B4-BE49-F238E27FC236}">
                <a16:creationId xmlns:a16="http://schemas.microsoft.com/office/drawing/2014/main" id="{94206DCF-BD58-42FC-90FA-CE4EF3FB028D}"/>
              </a:ext>
            </a:extLst>
          </p:cNvPr>
          <p:cNvSpPr>
            <a:spLocks noGrp="1"/>
          </p:cNvSpPr>
          <p:nvPr/>
        </p:nvSpPr>
        <p:spPr>
          <a:xfrm>
            <a:off x="11430000" y="4095750"/>
            <a:ext cx="953" cy="104775"/>
          </a:xfrm>
          <a:custGeom>
            <a:avLst/>
            <a:gdLst/>
            <a:ahLst/>
            <a:cxnLst/>
            <a:rect l="0" t="0" r="0" b="0"/>
            <a:pathLst>
              <a:path w="953" h="104775">
                <a:moveTo>
                  <a:pt x="0" y="0"/>
                </a:moveTo>
                <a:lnTo>
                  <a:pt x="0" y="104775"/>
                </a:lnTo>
              </a:path>
            </a:pathLst>
          </a:custGeom>
          <a:noFill/>
          <a:ln w="19050">
            <a:solidFill>
              <a:srgbClr val="BDCDC6"/>
            </a:solidFill>
          </a:ln>
        </p:spPr>
      </p:sp>
      <p:sp>
        <p:nvSpPr>
          <p:cNvPr id="41" name="任意多边形: 形状 40">
            <a:extLst>
              <a:ext uri="{FF2B5EF4-FFF2-40B4-BE49-F238E27FC236}">
                <a16:creationId xmlns:a16="http://schemas.microsoft.com/office/drawing/2014/main" id="{B155BB60-EE24-4D8B-B76E-D1806F2E9F67}"/>
              </a:ext>
            </a:extLst>
          </p:cNvPr>
          <p:cNvSpPr>
            <a:spLocks noGrp="1"/>
          </p:cNvSpPr>
          <p:nvPr/>
        </p:nvSpPr>
        <p:spPr>
          <a:xfrm>
            <a:off x="11430000" y="4286250"/>
            <a:ext cx="953" cy="104775"/>
          </a:xfrm>
          <a:custGeom>
            <a:avLst/>
            <a:gdLst/>
            <a:ahLst/>
            <a:cxnLst/>
            <a:rect l="0" t="0" r="0" b="0"/>
            <a:pathLst>
              <a:path w="953" h="104775">
                <a:moveTo>
                  <a:pt x="0" y="0"/>
                </a:moveTo>
                <a:lnTo>
                  <a:pt x="0" y="104775"/>
                </a:lnTo>
              </a:path>
            </a:pathLst>
          </a:custGeom>
          <a:noFill/>
          <a:ln w="19050">
            <a:solidFill>
              <a:srgbClr val="BDCDC6"/>
            </a:solidFill>
          </a:ln>
        </p:spPr>
      </p:sp>
      <p:sp>
        <p:nvSpPr>
          <p:cNvPr id="42" name="任意多边形: 形状 41">
            <a:extLst>
              <a:ext uri="{FF2B5EF4-FFF2-40B4-BE49-F238E27FC236}">
                <a16:creationId xmlns:a16="http://schemas.microsoft.com/office/drawing/2014/main" id="{6C917F37-361A-403D-B8BB-1906BE42DF7D}"/>
              </a:ext>
            </a:extLst>
          </p:cNvPr>
          <p:cNvSpPr>
            <a:spLocks noGrp="1"/>
          </p:cNvSpPr>
          <p:nvPr/>
        </p:nvSpPr>
        <p:spPr>
          <a:xfrm>
            <a:off x="11430000" y="4476750"/>
            <a:ext cx="953" cy="104775"/>
          </a:xfrm>
          <a:custGeom>
            <a:avLst/>
            <a:gdLst/>
            <a:ahLst/>
            <a:cxnLst/>
            <a:rect l="0" t="0" r="0" b="0"/>
            <a:pathLst>
              <a:path w="953" h="104775">
                <a:moveTo>
                  <a:pt x="0" y="0"/>
                </a:moveTo>
                <a:lnTo>
                  <a:pt x="0" y="104775"/>
                </a:lnTo>
              </a:path>
            </a:pathLst>
          </a:custGeom>
          <a:noFill/>
          <a:ln w="19050">
            <a:solidFill>
              <a:srgbClr val="BDCDC6"/>
            </a:solidFill>
          </a:ln>
        </p:spPr>
      </p:sp>
      <p:sp>
        <p:nvSpPr>
          <p:cNvPr id="43" name="任意多边形: 形状 42">
            <a:extLst>
              <a:ext uri="{FF2B5EF4-FFF2-40B4-BE49-F238E27FC236}">
                <a16:creationId xmlns:a16="http://schemas.microsoft.com/office/drawing/2014/main" id="{DF4CD8A7-9635-4C69-9593-E8C6F205C9A6}"/>
              </a:ext>
            </a:extLst>
          </p:cNvPr>
          <p:cNvSpPr>
            <a:spLocks noGrp="1"/>
          </p:cNvSpPr>
          <p:nvPr/>
        </p:nvSpPr>
        <p:spPr>
          <a:xfrm>
            <a:off x="11430000" y="4667250"/>
            <a:ext cx="953" cy="104775"/>
          </a:xfrm>
          <a:custGeom>
            <a:avLst/>
            <a:gdLst/>
            <a:ahLst/>
            <a:cxnLst/>
            <a:rect l="0" t="0" r="0" b="0"/>
            <a:pathLst>
              <a:path w="953" h="104775">
                <a:moveTo>
                  <a:pt x="0" y="0"/>
                </a:moveTo>
                <a:lnTo>
                  <a:pt x="0" y="104775"/>
                </a:lnTo>
              </a:path>
            </a:pathLst>
          </a:custGeom>
          <a:noFill/>
          <a:ln w="19050">
            <a:solidFill>
              <a:srgbClr val="BDCDC6"/>
            </a:solidFill>
          </a:ln>
        </p:spPr>
      </p:sp>
      <p:sp>
        <p:nvSpPr>
          <p:cNvPr id="44" name="任意多边形: 形状 43">
            <a:extLst>
              <a:ext uri="{FF2B5EF4-FFF2-40B4-BE49-F238E27FC236}">
                <a16:creationId xmlns:a16="http://schemas.microsoft.com/office/drawing/2014/main" id="{69248BDF-8505-4E7D-92B2-73CB409EF2ED}"/>
              </a:ext>
            </a:extLst>
          </p:cNvPr>
          <p:cNvSpPr>
            <a:spLocks noGrp="1"/>
          </p:cNvSpPr>
          <p:nvPr/>
        </p:nvSpPr>
        <p:spPr>
          <a:xfrm>
            <a:off x="11430000" y="4857750"/>
            <a:ext cx="953" cy="104775"/>
          </a:xfrm>
          <a:custGeom>
            <a:avLst/>
            <a:gdLst/>
            <a:ahLst/>
            <a:cxnLst/>
            <a:rect l="0" t="0" r="0" b="0"/>
            <a:pathLst>
              <a:path w="953" h="104775">
                <a:moveTo>
                  <a:pt x="0" y="0"/>
                </a:moveTo>
                <a:lnTo>
                  <a:pt x="0" y="104775"/>
                </a:lnTo>
              </a:path>
            </a:pathLst>
          </a:custGeom>
          <a:noFill/>
          <a:ln w="19050">
            <a:solidFill>
              <a:srgbClr val="BDCDC6"/>
            </a:solidFill>
          </a:ln>
        </p:spPr>
      </p:sp>
      <p:sp>
        <p:nvSpPr>
          <p:cNvPr id="45" name="任意多边形: 形状 44">
            <a:extLst>
              <a:ext uri="{FF2B5EF4-FFF2-40B4-BE49-F238E27FC236}">
                <a16:creationId xmlns:a16="http://schemas.microsoft.com/office/drawing/2014/main" id="{99D98EF7-5536-4BDB-8FA2-28E81540BB79}"/>
              </a:ext>
            </a:extLst>
          </p:cNvPr>
          <p:cNvSpPr>
            <a:spLocks noGrp="1"/>
          </p:cNvSpPr>
          <p:nvPr/>
        </p:nvSpPr>
        <p:spPr>
          <a:xfrm>
            <a:off x="11430000" y="5048250"/>
            <a:ext cx="953" cy="104775"/>
          </a:xfrm>
          <a:custGeom>
            <a:avLst/>
            <a:gdLst/>
            <a:ahLst/>
            <a:cxnLst/>
            <a:rect l="0" t="0" r="0" b="0"/>
            <a:pathLst>
              <a:path w="953" h="104775">
                <a:moveTo>
                  <a:pt x="0" y="0"/>
                </a:moveTo>
                <a:lnTo>
                  <a:pt x="0" y="104775"/>
                </a:lnTo>
              </a:path>
            </a:pathLst>
          </a:custGeom>
          <a:noFill/>
          <a:ln w="19050">
            <a:solidFill>
              <a:srgbClr val="BDCDC6"/>
            </a:solidFill>
          </a:ln>
        </p:spPr>
      </p:sp>
      <p:sp>
        <p:nvSpPr>
          <p:cNvPr id="46" name="任意多边形: 形状 45">
            <a:extLst>
              <a:ext uri="{FF2B5EF4-FFF2-40B4-BE49-F238E27FC236}">
                <a16:creationId xmlns:a16="http://schemas.microsoft.com/office/drawing/2014/main" id="{CE351459-6B5A-441B-9188-D0C12663A9FA}"/>
              </a:ext>
            </a:extLst>
          </p:cNvPr>
          <p:cNvSpPr>
            <a:spLocks noGrp="1"/>
          </p:cNvSpPr>
          <p:nvPr/>
        </p:nvSpPr>
        <p:spPr>
          <a:xfrm>
            <a:off x="11430000" y="5238750"/>
            <a:ext cx="953" cy="104775"/>
          </a:xfrm>
          <a:custGeom>
            <a:avLst/>
            <a:gdLst/>
            <a:ahLst/>
            <a:cxnLst/>
            <a:rect l="0" t="0" r="0" b="0"/>
            <a:pathLst>
              <a:path w="953" h="104775">
                <a:moveTo>
                  <a:pt x="0" y="0"/>
                </a:moveTo>
                <a:lnTo>
                  <a:pt x="0" y="104775"/>
                </a:lnTo>
              </a:path>
            </a:pathLst>
          </a:custGeom>
          <a:noFill/>
          <a:ln w="19050">
            <a:solidFill>
              <a:srgbClr val="BDCDC6"/>
            </a:solidFill>
          </a:ln>
        </p:spPr>
      </p:sp>
      <p:sp>
        <p:nvSpPr>
          <p:cNvPr id="47" name="椭圆 46">
            <a:extLst>
              <a:ext uri="{FF2B5EF4-FFF2-40B4-BE49-F238E27FC236}">
                <a16:creationId xmlns:a16="http://schemas.microsoft.com/office/drawing/2014/main" id="{B3672FB7-3C2F-4621-A8EA-157B678318D9}"/>
              </a:ext>
            </a:extLst>
          </p:cNvPr>
          <p:cNvSpPr>
            <a:spLocks noGrp="1"/>
          </p:cNvSpPr>
          <p:nvPr/>
        </p:nvSpPr>
        <p:spPr>
          <a:xfrm>
            <a:off x="361950" y="5524500"/>
            <a:ext cx="476250" cy="476250"/>
          </a:xfrm>
          <a:prstGeom prst="ellipse">
            <a:avLst/>
          </a:prstGeom>
          <a:solidFill>
            <a:srgbClr val="366755"/>
          </a:solidFill>
          <a:ln w="0">
            <a:noFill/>
          </a:ln>
        </p:spPr>
        <p:txBody>
          <a:bodyPr lIns="0" tIns="0" rIns="0" bIns="0" anchor="ctr"/>
          <a:lstStyle/>
          <a:p>
            <a:pPr algn="ctr">
              <a:defRPr sz="23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48" name="矩形 47">
            <a:extLst>
              <a:ext uri="{FF2B5EF4-FFF2-40B4-BE49-F238E27FC236}">
                <a16:creationId xmlns:a16="http://schemas.microsoft.com/office/drawing/2014/main" id="{54FCBC44-1E45-4D6C-8A0A-924A2676C8C9}"/>
              </a:ext>
            </a:extLst>
          </p:cNvPr>
          <p:cNvSpPr>
            <a:spLocks noGrp="1"/>
          </p:cNvSpPr>
          <p:nvPr/>
        </p:nvSpPr>
        <p:spPr>
          <a:xfrm>
            <a:off x="1238250" y="5543550"/>
            <a:ext cx="2000250" cy="4572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2850" b="1">
                <a:solidFill>
                  <a:srgbClr val="366755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366755"/>
                </a:solidFill>
                <a:latin typeface="Arial"/>
                <a:ea typeface="Arial"/>
                <a:cs typeface="Arial"/>
              </a:rPr>
              <a:t>Find</a:t>
            </a:r>
          </a:p>
        </p:txBody>
      </p:sp>
      <p:sp>
        <p:nvSpPr>
          <p:cNvPr id="49" name="矩形 48">
            <a:extLst>
              <a:ext uri="{FF2B5EF4-FFF2-40B4-BE49-F238E27FC236}">
                <a16:creationId xmlns:a16="http://schemas.microsoft.com/office/drawing/2014/main" id="{97BC6CF5-D62B-4A26-BBF1-990E34EEEEF4}"/>
              </a:ext>
            </a:extLst>
          </p:cNvPr>
          <p:cNvSpPr>
            <a:spLocks noGrp="1"/>
          </p:cNvSpPr>
          <p:nvPr/>
        </p:nvSpPr>
        <p:spPr>
          <a:xfrm>
            <a:off x="3524250" y="5572125"/>
            <a:ext cx="12715875" cy="4000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2325" b="0">
                <a:solidFill>
                  <a:srgbClr val="60717A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60717A"/>
                </a:solidFill>
                <a:latin typeface="Arial"/>
                <a:ea typeface="Arial"/>
                <a:cs typeface="Arial"/>
              </a:rPr>
              <a:t>Locating candidate ligand regions in the experimental map</a:t>
            </a:r>
          </a:p>
        </p:txBody>
      </p:sp>
      <p:sp>
        <p:nvSpPr>
          <p:cNvPr id="50" name="任意多边形: 形状 49">
            <a:extLst>
              <a:ext uri="{FF2B5EF4-FFF2-40B4-BE49-F238E27FC236}">
                <a16:creationId xmlns:a16="http://schemas.microsoft.com/office/drawing/2014/main" id="{A6E7C52D-7662-4C16-B39B-83855F702029}"/>
              </a:ext>
            </a:extLst>
          </p:cNvPr>
          <p:cNvSpPr>
            <a:spLocks noGrp="1"/>
          </p:cNvSpPr>
          <p:nvPr/>
        </p:nvSpPr>
        <p:spPr>
          <a:xfrm>
            <a:off x="1238250" y="6105525"/>
            <a:ext cx="15049500" cy="953"/>
          </a:xfrm>
          <a:custGeom>
            <a:avLst/>
            <a:gdLst/>
            <a:ahLst/>
            <a:cxnLst/>
            <a:rect l="0" t="0" r="0" b="0"/>
            <a:pathLst>
              <a:path w="15049500" h="953">
                <a:moveTo>
                  <a:pt x="0" y="0"/>
                </a:moveTo>
                <a:lnTo>
                  <a:pt x="15049500" y="0"/>
                </a:lnTo>
              </a:path>
            </a:pathLst>
          </a:custGeom>
          <a:noFill/>
          <a:ln w="19050">
            <a:solidFill>
              <a:srgbClr val="E6EDEB"/>
            </a:solidFill>
          </a:ln>
        </p:spPr>
      </p:sp>
      <p:sp>
        <p:nvSpPr>
          <p:cNvPr id="51" name="矩形 50">
            <a:extLst>
              <a:ext uri="{FF2B5EF4-FFF2-40B4-BE49-F238E27FC236}">
                <a16:creationId xmlns:a16="http://schemas.microsoft.com/office/drawing/2014/main" id="{3020A6E3-35C4-4781-811A-D9219C95A30A}"/>
              </a:ext>
            </a:extLst>
          </p:cNvPr>
          <p:cNvSpPr>
            <a:spLocks noGrp="1"/>
          </p:cNvSpPr>
          <p:nvPr/>
        </p:nvSpPr>
        <p:spPr>
          <a:xfrm>
            <a:off x="1238250" y="6248400"/>
            <a:ext cx="352425" cy="3714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2475" b="1">
                <a:solidFill>
                  <a:srgbClr val="203544"/>
                </a:solidFill>
                <a:latin typeface="Arial"/>
                <a:ea typeface="Arial"/>
                <a:cs typeface="Arial"/>
              </a:defRPr>
            </a:pPr>
            <a:r>
              <a:rPr sz="2475" b="1">
                <a:solidFill>
                  <a:srgbClr val="203544"/>
                </a:solidFill>
                <a:latin typeface="Arial"/>
                <a:ea typeface="Arial"/>
                <a:cs typeface="Arial"/>
              </a:rPr>
              <a:t>d</a:t>
            </a:r>
          </a:p>
        </p:txBody>
      </p:sp>
      <p:sp>
        <p:nvSpPr>
          <p:cNvPr id="52" name="矩形 51">
            <a:extLst>
              <a:ext uri="{FF2B5EF4-FFF2-40B4-BE49-F238E27FC236}">
                <a16:creationId xmlns:a16="http://schemas.microsoft.com/office/drawing/2014/main" id="{545D12D5-09F2-409B-8849-0E3FE17A33A6}"/>
              </a:ext>
            </a:extLst>
          </p:cNvPr>
          <p:cNvSpPr>
            <a:spLocks noGrp="1"/>
          </p:cNvSpPr>
          <p:nvPr/>
        </p:nvSpPr>
        <p:spPr>
          <a:xfrm>
            <a:off x="1657350" y="6257925"/>
            <a:ext cx="5486400" cy="3714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2325" b="0">
                <a:solidFill>
                  <a:srgbClr val="203544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203544"/>
                </a:solidFill>
                <a:latin typeface="Arial"/>
                <a:ea typeface="Arial"/>
                <a:cs typeface="Arial"/>
              </a:rPr>
              <a:t>Global candidates</a:t>
            </a:r>
          </a:p>
        </p:txBody>
      </p:sp>
      <p:pic>
        <p:nvPicPr>
          <p:cNvPr id="153" name="global_find" descr="9BJJ global_find; native ChimeraX; source C:\Users\15919\Desktop\论文草稿\画图\formal\E2E_flow_v2_20261003\9bjj\renders\global_find.png; editable crop only"/>
          <p:cNvPicPr>
            <a:picLocks noChangeAspect="1"/>
          </p:cNvPicPr>
          <p:nvPr/>
        </p:nvPicPr>
        <p:blipFill>
          <a:blip r:embed="rId7"/>
          <a:srcRect l="23623" t="10273" r="23038" b="11437"/>
          <a:stretch>
            <a:fillRect/>
          </a:stretch>
        </p:blipFill>
        <p:spPr>
          <a:xfrm>
            <a:off x="2330705" y="6715125"/>
            <a:ext cx="3720590" cy="4095750"/>
          </a:xfrm>
          <a:prstGeom prst="rect">
            <a:avLst/>
          </a:prstGeom>
        </p:spPr>
      </p:pic>
      <p:sp>
        <p:nvSpPr>
          <p:cNvPr id="54" name="target blob 0">
            <a:extLst>
              <a:ext uri="{FF2B5EF4-FFF2-40B4-BE49-F238E27FC236}">
                <a16:creationId xmlns:a16="http://schemas.microsoft.com/office/drawing/2014/main" id="{26AD5E49-1FFE-43FB-987E-69DD1F0C2C11}"/>
              </a:ext>
            </a:extLst>
          </p:cNvPr>
          <p:cNvSpPr>
            <a:spLocks noGrp="1"/>
          </p:cNvSpPr>
          <p:nvPr/>
        </p:nvSpPr>
        <p:spPr>
          <a:xfrm>
            <a:off x="3387097" y="7605493"/>
            <a:ext cx="610291" cy="606721"/>
          </a:xfrm>
          <a:prstGeom prst="rect">
            <a:avLst/>
          </a:prstGeom>
          <a:noFill/>
          <a:ln w="28575">
            <a:solidFill>
              <a:srgbClr val="E9983C"/>
            </a:solidFill>
          </a:ln>
        </p:spPr>
      </p:sp>
      <p:sp>
        <p:nvSpPr>
          <p:cNvPr id="55" name="矩形 54">
            <a:extLst>
              <a:ext uri="{FF2B5EF4-FFF2-40B4-BE49-F238E27FC236}">
                <a16:creationId xmlns:a16="http://schemas.microsoft.com/office/drawing/2014/main" id="{73C33B57-64F9-46BB-89C2-686FE3D3AAD1}"/>
              </a:ext>
            </a:extLst>
          </p:cNvPr>
          <p:cNvSpPr>
            <a:spLocks noGrp="1"/>
          </p:cNvSpPr>
          <p:nvPr/>
        </p:nvSpPr>
        <p:spPr>
          <a:xfrm>
            <a:off x="7905750" y="6248400"/>
            <a:ext cx="352425" cy="3714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2475" b="1">
                <a:solidFill>
                  <a:srgbClr val="203544"/>
                </a:solidFill>
                <a:latin typeface="Arial"/>
                <a:ea typeface="Arial"/>
                <a:cs typeface="Arial"/>
              </a:defRPr>
            </a:pPr>
            <a:r>
              <a:rPr sz="2475" b="1">
                <a:solidFill>
                  <a:srgbClr val="203544"/>
                </a:solidFill>
                <a:latin typeface="Arial"/>
                <a:ea typeface="Arial"/>
                <a:cs typeface="Arial"/>
              </a:rPr>
              <a:t>e</a:t>
            </a:r>
          </a:p>
        </p:txBody>
      </p:sp>
      <p:sp>
        <p:nvSpPr>
          <p:cNvPr id="56" name="矩形 55">
            <a:extLst>
              <a:ext uri="{FF2B5EF4-FFF2-40B4-BE49-F238E27FC236}">
                <a16:creationId xmlns:a16="http://schemas.microsoft.com/office/drawing/2014/main" id="{62E6972F-F193-472B-A261-C38A57A49217}"/>
              </a:ext>
            </a:extLst>
          </p:cNvPr>
          <p:cNvSpPr>
            <a:spLocks noGrp="1"/>
          </p:cNvSpPr>
          <p:nvPr/>
        </p:nvSpPr>
        <p:spPr>
          <a:xfrm>
            <a:off x="8324850" y="6257925"/>
            <a:ext cx="3629025" cy="3714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2325" b="0">
                <a:solidFill>
                  <a:srgbClr val="203544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203544"/>
                </a:solidFill>
                <a:latin typeface="Arial"/>
                <a:ea typeface="Arial"/>
                <a:cs typeface="Arial"/>
              </a:rPr>
              <a:t>GT neighborhood</a:t>
            </a:r>
          </a:p>
        </p:txBody>
      </p:sp>
      <p:sp>
        <p:nvSpPr>
          <p:cNvPr id="57" name="矩形 56">
            <a:extLst>
              <a:ext uri="{FF2B5EF4-FFF2-40B4-BE49-F238E27FC236}">
                <a16:creationId xmlns:a16="http://schemas.microsoft.com/office/drawing/2014/main" id="{7196A30A-4E89-45AB-8AC9-84E16EB4ACF7}"/>
              </a:ext>
            </a:extLst>
          </p:cNvPr>
          <p:cNvSpPr>
            <a:spLocks noGrp="1"/>
          </p:cNvSpPr>
          <p:nvPr/>
        </p:nvSpPr>
        <p:spPr>
          <a:xfrm>
            <a:off x="12239625" y="6248400"/>
            <a:ext cx="352425" cy="3714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2475" b="1">
                <a:solidFill>
                  <a:srgbClr val="203544"/>
                </a:solidFill>
                <a:latin typeface="Arial"/>
                <a:ea typeface="Arial"/>
                <a:cs typeface="Arial"/>
              </a:defRPr>
            </a:pPr>
            <a:r>
              <a:rPr sz="2475" b="1">
                <a:solidFill>
                  <a:srgbClr val="203544"/>
                </a:solidFill>
                <a:latin typeface="Arial"/>
                <a:ea typeface="Arial"/>
                <a:cs typeface="Arial"/>
              </a:rPr>
              <a:t>f</a:t>
            </a:r>
          </a:p>
        </p:txBody>
      </p:sp>
      <p:sp>
        <p:nvSpPr>
          <p:cNvPr id="58" name="矩形 57">
            <a:extLst>
              <a:ext uri="{FF2B5EF4-FFF2-40B4-BE49-F238E27FC236}">
                <a16:creationId xmlns:a16="http://schemas.microsoft.com/office/drawing/2014/main" id="{99E6268A-896A-4376-B92C-435EA5880054}"/>
              </a:ext>
            </a:extLst>
          </p:cNvPr>
          <p:cNvSpPr>
            <a:spLocks noGrp="1"/>
          </p:cNvSpPr>
          <p:nvPr/>
        </p:nvSpPr>
        <p:spPr>
          <a:xfrm>
            <a:off x="12658725" y="6257925"/>
            <a:ext cx="3629025" cy="3714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2325" b="0">
                <a:solidFill>
                  <a:srgbClr val="203544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203544"/>
                </a:solidFill>
                <a:latin typeface="Arial"/>
                <a:ea typeface="Arial"/>
                <a:cs typeface="Arial"/>
              </a:rPr>
              <a:t>Find prediction</a:t>
            </a:r>
          </a:p>
        </p:txBody>
      </p:sp>
      <p:sp>
        <p:nvSpPr>
          <p:cNvPr id="59" name="矩形 58">
            <a:extLst>
              <a:ext uri="{FF2B5EF4-FFF2-40B4-BE49-F238E27FC236}">
                <a16:creationId xmlns:a16="http://schemas.microsoft.com/office/drawing/2014/main" id="{735D9102-50F1-4E05-B1E0-BF360EE18FE8}"/>
              </a:ext>
            </a:extLst>
          </p:cNvPr>
          <p:cNvSpPr>
            <a:spLocks noGrp="1"/>
          </p:cNvSpPr>
          <p:nvPr/>
        </p:nvSpPr>
        <p:spPr>
          <a:xfrm>
            <a:off x="7905750" y="6677025"/>
            <a:ext cx="8382000" cy="381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2250" b="1">
                <a:solidFill>
                  <a:srgbClr val="E9983C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E9983C"/>
                </a:solidFill>
                <a:latin typeface="Arial"/>
                <a:ea typeface="Arial"/>
                <a:cs typeface="Arial"/>
              </a:rPr>
              <a:t>Rank 1: target ligand</a:t>
            </a:r>
          </a:p>
        </p:txBody>
      </p:sp>
      <p:pic>
        <p:nvPicPr>
          <p:cNvPr id="160" name="local_gt" descr="9BJJ local_gt; native ChimeraX; source C:\Users\15919\Desktop\论文草稿\画图\formal\E2E_flow_20261003\9bjj\renders\local_gt.png; editable crop only"/>
          <p:cNvPicPr>
            <a:picLocks noChangeAspect="1"/>
          </p:cNvPicPr>
          <p:nvPr/>
        </p:nvPicPr>
        <p:blipFill>
          <a:blip r:embed="rId8"/>
          <a:srcRect l="278" t="4352" r="13472"/>
          <a:stretch>
            <a:fillRect/>
          </a:stretch>
        </p:blipFill>
        <p:spPr>
          <a:xfrm>
            <a:off x="7925690" y="7115175"/>
            <a:ext cx="4008245" cy="3333750"/>
          </a:xfrm>
          <a:prstGeom prst="rect">
            <a:avLst/>
          </a:prstGeom>
        </p:spPr>
      </p:pic>
      <p:pic>
        <p:nvPicPr>
          <p:cNvPr id="161" name="local_find" descr="9BJJ local_find; native ChimeraX; source C:\Users\15919\Desktop\论文草稿\画图\formal\E2E_flow_20261003\9bjj\renders\local_find.png; editable crop only"/>
          <p:cNvPicPr>
            <a:picLocks noChangeAspect="1"/>
          </p:cNvPicPr>
          <p:nvPr/>
        </p:nvPicPr>
        <p:blipFill>
          <a:blip r:embed="rId9"/>
          <a:srcRect l="278" t="4352" r="13472"/>
          <a:stretch>
            <a:fillRect/>
          </a:stretch>
        </p:blipFill>
        <p:spPr>
          <a:xfrm>
            <a:off x="12259565" y="7115175"/>
            <a:ext cx="4008245" cy="3333750"/>
          </a:xfrm>
          <a:prstGeom prst="rect">
            <a:avLst/>
          </a:prstGeom>
        </p:spPr>
      </p:pic>
      <p:sp>
        <p:nvSpPr>
          <p:cNvPr id="62" name="椭圆 61">
            <a:extLst>
              <a:ext uri="{FF2B5EF4-FFF2-40B4-BE49-F238E27FC236}">
                <a16:creationId xmlns:a16="http://schemas.microsoft.com/office/drawing/2014/main" id="{60C90354-E804-477A-98C4-B074AE0E3A24}"/>
              </a:ext>
            </a:extLst>
          </p:cNvPr>
          <p:cNvSpPr>
            <a:spLocks noGrp="1"/>
          </p:cNvSpPr>
          <p:nvPr/>
        </p:nvSpPr>
        <p:spPr>
          <a:xfrm>
            <a:off x="361950" y="10991850"/>
            <a:ext cx="476250" cy="476250"/>
          </a:xfrm>
          <a:prstGeom prst="ellipse">
            <a:avLst/>
          </a:prstGeom>
          <a:solidFill>
            <a:srgbClr val="366755"/>
          </a:solidFill>
          <a:ln w="0">
            <a:noFill/>
          </a:ln>
        </p:spPr>
        <p:txBody>
          <a:bodyPr lIns="0" tIns="0" rIns="0" bIns="0" anchor="ctr"/>
          <a:lstStyle/>
          <a:p>
            <a:pPr algn="ctr">
              <a:defRPr sz="23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63" name="矩形 62">
            <a:extLst>
              <a:ext uri="{FF2B5EF4-FFF2-40B4-BE49-F238E27FC236}">
                <a16:creationId xmlns:a16="http://schemas.microsoft.com/office/drawing/2014/main" id="{8EDCEFB7-A4FC-46C2-81E3-5B625A4FF2EA}"/>
              </a:ext>
            </a:extLst>
          </p:cNvPr>
          <p:cNvSpPr>
            <a:spLocks noGrp="1"/>
          </p:cNvSpPr>
          <p:nvPr/>
        </p:nvSpPr>
        <p:spPr>
          <a:xfrm>
            <a:off x="1238250" y="11010900"/>
            <a:ext cx="2000250" cy="4572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2850" b="1">
                <a:solidFill>
                  <a:srgbClr val="366755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366755"/>
                </a:solidFill>
                <a:latin typeface="Arial"/>
                <a:ea typeface="Arial"/>
                <a:cs typeface="Arial"/>
              </a:rPr>
              <a:t>Match</a:t>
            </a:r>
          </a:p>
        </p:txBody>
      </p:sp>
      <p:sp>
        <p:nvSpPr>
          <p:cNvPr id="64" name="矩形 63">
            <a:extLst>
              <a:ext uri="{FF2B5EF4-FFF2-40B4-BE49-F238E27FC236}">
                <a16:creationId xmlns:a16="http://schemas.microsoft.com/office/drawing/2014/main" id="{FF3C585D-3820-4631-BFEE-9E332511A465}"/>
              </a:ext>
            </a:extLst>
          </p:cNvPr>
          <p:cNvSpPr>
            <a:spLocks noGrp="1"/>
          </p:cNvSpPr>
          <p:nvPr/>
        </p:nvSpPr>
        <p:spPr>
          <a:xfrm>
            <a:off x="3524250" y="11039475"/>
            <a:ext cx="12715875" cy="4000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2325" b="0">
                <a:solidFill>
                  <a:srgbClr val="60717A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60717A"/>
                </a:solidFill>
                <a:latin typeface="Arial"/>
                <a:ea typeface="Arial"/>
                <a:cs typeface="Arial"/>
              </a:rPr>
              <a:t>Matching candidate regions to ligand SMILES from the same PDB</a:t>
            </a:r>
          </a:p>
        </p:txBody>
      </p:sp>
      <p:sp>
        <p:nvSpPr>
          <p:cNvPr id="65" name="任意多边形: 形状 64">
            <a:extLst>
              <a:ext uri="{FF2B5EF4-FFF2-40B4-BE49-F238E27FC236}">
                <a16:creationId xmlns:a16="http://schemas.microsoft.com/office/drawing/2014/main" id="{0F4FAFED-5347-4700-A20B-CBADE319D7D8}"/>
              </a:ext>
            </a:extLst>
          </p:cNvPr>
          <p:cNvSpPr>
            <a:spLocks noGrp="1"/>
          </p:cNvSpPr>
          <p:nvPr/>
        </p:nvSpPr>
        <p:spPr>
          <a:xfrm>
            <a:off x="1238250" y="11572875"/>
            <a:ext cx="15049500" cy="953"/>
          </a:xfrm>
          <a:custGeom>
            <a:avLst/>
            <a:gdLst/>
            <a:ahLst/>
            <a:cxnLst/>
            <a:rect l="0" t="0" r="0" b="0"/>
            <a:pathLst>
              <a:path w="15049500" h="953">
                <a:moveTo>
                  <a:pt x="0" y="0"/>
                </a:moveTo>
                <a:lnTo>
                  <a:pt x="15049500" y="0"/>
                </a:lnTo>
              </a:path>
            </a:pathLst>
          </a:custGeom>
          <a:noFill/>
          <a:ln w="19050">
            <a:solidFill>
              <a:srgbClr val="E6EDEB"/>
            </a:solidFill>
          </a:ln>
        </p:spPr>
      </p:sp>
      <p:sp>
        <p:nvSpPr>
          <p:cNvPr id="66" name="矩形 65">
            <a:extLst>
              <a:ext uri="{FF2B5EF4-FFF2-40B4-BE49-F238E27FC236}">
                <a16:creationId xmlns:a16="http://schemas.microsoft.com/office/drawing/2014/main" id="{16B2DBC9-223B-4209-9183-8D3FAB9961F8}"/>
              </a:ext>
            </a:extLst>
          </p:cNvPr>
          <p:cNvSpPr>
            <a:spLocks noGrp="1"/>
          </p:cNvSpPr>
          <p:nvPr/>
        </p:nvSpPr>
        <p:spPr>
          <a:xfrm>
            <a:off x="942975" y="11744325"/>
            <a:ext cx="285750" cy="381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2475" b="1">
                <a:solidFill>
                  <a:srgbClr val="203544"/>
                </a:solidFill>
                <a:latin typeface="Arial"/>
                <a:ea typeface="Arial"/>
                <a:cs typeface="Arial"/>
              </a:defRPr>
            </a:pPr>
            <a:r>
              <a:rPr sz="2475" b="1">
                <a:solidFill>
                  <a:srgbClr val="203544"/>
                </a:solidFill>
                <a:latin typeface="Arial"/>
                <a:ea typeface="Arial"/>
                <a:cs typeface="Arial"/>
              </a:rPr>
              <a:t>g</a:t>
            </a:r>
          </a:p>
        </p:txBody>
      </p:sp>
      <p:sp>
        <p:nvSpPr>
          <p:cNvPr id="67" name="Identity 1">
            <a:extLst>
              <a:ext uri="{FF2B5EF4-FFF2-40B4-BE49-F238E27FC236}">
                <a16:creationId xmlns:a16="http://schemas.microsoft.com/office/drawing/2014/main" id="{DD23A57E-5BEE-47C8-8B1B-C0BC2C0B25CD}"/>
              </a:ext>
            </a:extLst>
          </p:cNvPr>
          <p:cNvSpPr>
            <a:spLocks noGrp="1"/>
          </p:cNvSpPr>
          <p:nvPr/>
        </p:nvSpPr>
        <p:spPr>
          <a:xfrm>
            <a:off x="1238250" y="11715750"/>
            <a:ext cx="4838700" cy="2857500"/>
          </a:xfrm>
          <a:prstGeom prst="rect">
            <a:avLst/>
          </a:prstGeom>
          <a:solidFill>
            <a:srgbClr val="FFFFFF"/>
          </a:solidFill>
          <a:ln w="28575">
            <a:solidFill>
              <a:srgbClr val="3169B3"/>
            </a:solidFill>
          </a:ln>
        </p:spPr>
      </p:sp>
      <p:sp>
        <p:nvSpPr>
          <p:cNvPr id="68" name="矩形 67">
            <a:extLst>
              <a:ext uri="{FF2B5EF4-FFF2-40B4-BE49-F238E27FC236}">
                <a16:creationId xmlns:a16="http://schemas.microsoft.com/office/drawing/2014/main" id="{6DE6385C-C978-4127-850A-1496E02D0F1E}"/>
              </a:ext>
            </a:extLst>
          </p:cNvPr>
          <p:cNvSpPr>
            <a:spLocks noGrp="1"/>
          </p:cNvSpPr>
          <p:nvPr/>
        </p:nvSpPr>
        <p:spPr>
          <a:xfrm>
            <a:off x="1409700" y="11830050"/>
            <a:ext cx="4495800" cy="381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2400" b="1">
                <a:solidFill>
                  <a:srgbClr val="3169B3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3169B3"/>
                </a:solidFill>
                <a:latin typeface="Arial"/>
                <a:ea typeface="Arial"/>
                <a:cs typeface="Arial"/>
              </a:rPr>
              <a:t>1  ATP</a:t>
            </a:r>
          </a:p>
        </p:txBody>
      </p:sp>
      <p:pic>
        <p:nvPicPr>
          <p:cNvPr id="169" name="图形 168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/>
        </p:blipFill>
        <p:spPr>
          <a:xfrm>
            <a:off x="1381125" y="12280005"/>
            <a:ext cx="4552950" cy="1995690"/>
          </a:xfrm>
          <a:prstGeom prst="rect">
            <a:avLst/>
          </a:prstGeom>
        </p:spPr>
      </p:pic>
      <p:sp>
        <p:nvSpPr>
          <p:cNvPr id="70" name="矩形 69">
            <a:extLst>
              <a:ext uri="{FF2B5EF4-FFF2-40B4-BE49-F238E27FC236}">
                <a16:creationId xmlns:a16="http://schemas.microsoft.com/office/drawing/2014/main" id="{74E31AFC-40E2-464B-A244-5C5B3C78DD83}"/>
              </a:ext>
            </a:extLst>
          </p:cNvPr>
          <p:cNvSpPr>
            <a:spLocks noGrp="1"/>
          </p:cNvSpPr>
          <p:nvPr/>
        </p:nvSpPr>
        <p:spPr>
          <a:xfrm>
            <a:off x="1409700" y="14249400"/>
            <a:ext cx="4495800" cy="285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2100" b="1">
                <a:solidFill>
                  <a:srgbClr val="3169B3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3169B3"/>
                </a:solidFill>
                <a:latin typeface="Arial"/>
                <a:ea typeface="Arial"/>
                <a:cs typeface="Arial"/>
              </a:rPr>
              <a:t>Matched identity</a:t>
            </a:r>
          </a:p>
        </p:txBody>
      </p:sp>
      <p:sp>
        <p:nvSpPr>
          <p:cNvPr id="71" name="Identity 2">
            <a:extLst>
              <a:ext uri="{FF2B5EF4-FFF2-40B4-BE49-F238E27FC236}">
                <a16:creationId xmlns:a16="http://schemas.microsoft.com/office/drawing/2014/main" id="{7043BE07-3426-4571-BDB3-DF6365495AA0}"/>
              </a:ext>
            </a:extLst>
          </p:cNvPr>
          <p:cNvSpPr>
            <a:spLocks noGrp="1"/>
          </p:cNvSpPr>
          <p:nvPr/>
        </p:nvSpPr>
        <p:spPr>
          <a:xfrm>
            <a:off x="6343650" y="11715750"/>
            <a:ext cx="4838700" cy="2857500"/>
          </a:xfrm>
          <a:prstGeom prst="rect">
            <a:avLst/>
          </a:prstGeom>
          <a:solidFill>
            <a:srgbClr val="FFFFFF"/>
          </a:solidFill>
          <a:ln w="9525">
            <a:solidFill>
              <a:srgbClr val="E6EDEB"/>
            </a:solidFill>
          </a:ln>
        </p:spPr>
      </p:sp>
      <p:sp>
        <p:nvSpPr>
          <p:cNvPr id="72" name="矩形 71">
            <a:extLst>
              <a:ext uri="{FF2B5EF4-FFF2-40B4-BE49-F238E27FC236}">
                <a16:creationId xmlns:a16="http://schemas.microsoft.com/office/drawing/2014/main" id="{D4160CDE-E29B-4996-9A80-82FAEE938B2E}"/>
              </a:ext>
            </a:extLst>
          </p:cNvPr>
          <p:cNvSpPr>
            <a:spLocks noGrp="1"/>
          </p:cNvSpPr>
          <p:nvPr/>
        </p:nvSpPr>
        <p:spPr>
          <a:xfrm>
            <a:off x="6515100" y="11830050"/>
            <a:ext cx="4495800" cy="381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2400" b="0">
                <a:solidFill>
                  <a:srgbClr val="203544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203544"/>
                </a:solidFill>
                <a:latin typeface="Arial"/>
                <a:ea typeface="Arial"/>
                <a:cs typeface="Arial"/>
              </a:rPr>
              <a:t>2  Identity2</a:t>
            </a:r>
          </a:p>
        </p:txBody>
      </p:sp>
      <p:pic>
        <p:nvPicPr>
          <p:cNvPr id="173" name="图形 172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/>
        </p:blipFill>
        <p:spPr>
          <a:xfrm>
            <a:off x="6850513" y="12230100"/>
            <a:ext cx="3824974" cy="2095500"/>
          </a:xfrm>
          <a:prstGeom prst="rect">
            <a:avLst/>
          </a:prstGeom>
        </p:spPr>
      </p:pic>
      <p:sp>
        <p:nvSpPr>
          <p:cNvPr id="74" name="Identity 3">
            <a:extLst>
              <a:ext uri="{FF2B5EF4-FFF2-40B4-BE49-F238E27FC236}">
                <a16:creationId xmlns:a16="http://schemas.microsoft.com/office/drawing/2014/main" id="{331C57FC-6C88-4F4C-905E-AC56640C2BB0}"/>
              </a:ext>
            </a:extLst>
          </p:cNvPr>
          <p:cNvSpPr>
            <a:spLocks noGrp="1"/>
          </p:cNvSpPr>
          <p:nvPr/>
        </p:nvSpPr>
        <p:spPr>
          <a:xfrm>
            <a:off x="11449050" y="11715750"/>
            <a:ext cx="4838700" cy="2857500"/>
          </a:xfrm>
          <a:prstGeom prst="rect">
            <a:avLst/>
          </a:prstGeom>
          <a:solidFill>
            <a:srgbClr val="FFFFFF"/>
          </a:solidFill>
          <a:ln w="9525">
            <a:solidFill>
              <a:srgbClr val="E6EDEB"/>
            </a:solidFill>
          </a:ln>
        </p:spPr>
      </p:sp>
      <p:sp>
        <p:nvSpPr>
          <p:cNvPr id="75" name="矩形 74">
            <a:extLst>
              <a:ext uri="{FF2B5EF4-FFF2-40B4-BE49-F238E27FC236}">
                <a16:creationId xmlns:a16="http://schemas.microsoft.com/office/drawing/2014/main" id="{83FE0653-A18E-4CC6-9FE7-75127853B621}"/>
              </a:ext>
            </a:extLst>
          </p:cNvPr>
          <p:cNvSpPr>
            <a:spLocks noGrp="1"/>
          </p:cNvSpPr>
          <p:nvPr/>
        </p:nvSpPr>
        <p:spPr>
          <a:xfrm>
            <a:off x="11620500" y="11830050"/>
            <a:ext cx="4495800" cy="381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2400" b="0">
                <a:solidFill>
                  <a:srgbClr val="203544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203544"/>
                </a:solidFill>
                <a:latin typeface="Arial"/>
                <a:ea typeface="Arial"/>
                <a:cs typeface="Arial"/>
              </a:rPr>
              <a:t>3  Identity3</a:t>
            </a:r>
          </a:p>
        </p:txBody>
      </p:sp>
      <p:pic>
        <p:nvPicPr>
          <p:cNvPr id="176" name="图形 175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/>
        </p:blipFill>
        <p:spPr>
          <a:xfrm>
            <a:off x="13222224" y="12896850"/>
            <a:ext cx="1292352" cy="762000"/>
          </a:xfrm>
          <a:prstGeom prst="rect">
            <a:avLst/>
          </a:prstGeom>
        </p:spPr>
      </p:pic>
      <p:sp>
        <p:nvSpPr>
          <p:cNvPr id="77" name="椭圆 76">
            <a:extLst>
              <a:ext uri="{FF2B5EF4-FFF2-40B4-BE49-F238E27FC236}">
                <a16:creationId xmlns:a16="http://schemas.microsoft.com/office/drawing/2014/main" id="{3C2A00A1-8C8B-4411-B931-C0ED30D1D5D6}"/>
              </a:ext>
            </a:extLst>
          </p:cNvPr>
          <p:cNvSpPr>
            <a:spLocks noGrp="1"/>
          </p:cNvSpPr>
          <p:nvPr/>
        </p:nvSpPr>
        <p:spPr>
          <a:xfrm>
            <a:off x="361950" y="14763750"/>
            <a:ext cx="476250" cy="476250"/>
          </a:xfrm>
          <a:prstGeom prst="ellipse">
            <a:avLst/>
          </a:prstGeom>
          <a:solidFill>
            <a:srgbClr val="366755"/>
          </a:solidFill>
          <a:ln w="0">
            <a:noFill/>
          </a:ln>
        </p:spPr>
        <p:txBody>
          <a:bodyPr lIns="0" tIns="0" rIns="0" bIns="0" anchor="ctr"/>
          <a:lstStyle/>
          <a:p>
            <a:pPr algn="ctr">
              <a:defRPr sz="23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78" name="矩形 77">
            <a:extLst>
              <a:ext uri="{FF2B5EF4-FFF2-40B4-BE49-F238E27FC236}">
                <a16:creationId xmlns:a16="http://schemas.microsoft.com/office/drawing/2014/main" id="{CF28F304-C183-4452-8580-818304FA9831}"/>
              </a:ext>
            </a:extLst>
          </p:cNvPr>
          <p:cNvSpPr>
            <a:spLocks noGrp="1"/>
          </p:cNvSpPr>
          <p:nvPr/>
        </p:nvSpPr>
        <p:spPr>
          <a:xfrm>
            <a:off x="1238250" y="14782800"/>
            <a:ext cx="2000250" cy="4572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2850" b="1">
                <a:solidFill>
                  <a:srgbClr val="366755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366755"/>
                </a:solidFill>
                <a:latin typeface="Arial"/>
                <a:ea typeface="Arial"/>
                <a:cs typeface="Arial"/>
              </a:rPr>
              <a:t>Build</a:t>
            </a:r>
          </a:p>
        </p:txBody>
      </p:sp>
      <p:sp>
        <p:nvSpPr>
          <p:cNvPr id="79" name="矩形 78">
            <a:extLst>
              <a:ext uri="{FF2B5EF4-FFF2-40B4-BE49-F238E27FC236}">
                <a16:creationId xmlns:a16="http://schemas.microsoft.com/office/drawing/2014/main" id="{95185AE9-A89B-4830-BDEA-DEBEBCA2D673}"/>
              </a:ext>
            </a:extLst>
          </p:cNvPr>
          <p:cNvSpPr>
            <a:spLocks noGrp="1"/>
          </p:cNvSpPr>
          <p:nvPr/>
        </p:nvSpPr>
        <p:spPr>
          <a:xfrm>
            <a:off x="3524250" y="14811375"/>
            <a:ext cx="12715875" cy="4000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2325" b="0">
                <a:solidFill>
                  <a:srgbClr val="60717A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60717A"/>
                </a:solidFill>
                <a:latin typeface="Arial"/>
                <a:ea typeface="Arial"/>
                <a:cs typeface="Arial"/>
              </a:rPr>
              <a:t>Reconstructing ligand poses with PocketXMol-tuned</a:t>
            </a:r>
          </a:p>
        </p:txBody>
      </p:sp>
      <p:sp>
        <p:nvSpPr>
          <p:cNvPr id="80" name="任意多边形: 形状 79">
            <a:extLst>
              <a:ext uri="{FF2B5EF4-FFF2-40B4-BE49-F238E27FC236}">
                <a16:creationId xmlns:a16="http://schemas.microsoft.com/office/drawing/2014/main" id="{88690496-7BE9-4FD1-AB7F-ABCA4DB38234}"/>
              </a:ext>
            </a:extLst>
          </p:cNvPr>
          <p:cNvSpPr>
            <a:spLocks noGrp="1"/>
          </p:cNvSpPr>
          <p:nvPr/>
        </p:nvSpPr>
        <p:spPr>
          <a:xfrm>
            <a:off x="1238250" y="15344775"/>
            <a:ext cx="15049500" cy="953"/>
          </a:xfrm>
          <a:custGeom>
            <a:avLst/>
            <a:gdLst/>
            <a:ahLst/>
            <a:cxnLst/>
            <a:rect l="0" t="0" r="0" b="0"/>
            <a:pathLst>
              <a:path w="15049500" h="953">
                <a:moveTo>
                  <a:pt x="0" y="0"/>
                </a:moveTo>
                <a:lnTo>
                  <a:pt x="15049500" y="0"/>
                </a:lnTo>
              </a:path>
            </a:pathLst>
          </a:custGeom>
          <a:noFill/>
          <a:ln w="19050">
            <a:solidFill>
              <a:srgbClr val="E6EDEB"/>
            </a:solidFill>
          </a:ln>
        </p:spPr>
      </p:sp>
      <p:sp>
        <p:nvSpPr>
          <p:cNvPr id="81" name="矩形 80">
            <a:extLst>
              <a:ext uri="{FF2B5EF4-FFF2-40B4-BE49-F238E27FC236}">
                <a16:creationId xmlns:a16="http://schemas.microsoft.com/office/drawing/2014/main" id="{12E92A20-3C12-450E-A333-BA7CA199081C}"/>
              </a:ext>
            </a:extLst>
          </p:cNvPr>
          <p:cNvSpPr>
            <a:spLocks noGrp="1"/>
          </p:cNvSpPr>
          <p:nvPr/>
        </p:nvSpPr>
        <p:spPr>
          <a:xfrm>
            <a:off x="1238250" y="15525750"/>
            <a:ext cx="352425" cy="3714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2475" b="1">
                <a:solidFill>
                  <a:srgbClr val="203544"/>
                </a:solidFill>
                <a:latin typeface="Arial"/>
                <a:ea typeface="Arial"/>
                <a:cs typeface="Arial"/>
              </a:defRPr>
            </a:pPr>
            <a:r>
              <a:rPr sz="2475" b="1">
                <a:solidFill>
                  <a:srgbClr val="203544"/>
                </a:solidFill>
                <a:latin typeface="Arial"/>
                <a:ea typeface="Arial"/>
                <a:cs typeface="Arial"/>
              </a:rPr>
              <a:t>h</a:t>
            </a:r>
          </a:p>
        </p:txBody>
      </p:sp>
      <p:sp>
        <p:nvSpPr>
          <p:cNvPr id="82" name="矩形 81">
            <a:extLst>
              <a:ext uri="{FF2B5EF4-FFF2-40B4-BE49-F238E27FC236}">
                <a16:creationId xmlns:a16="http://schemas.microsoft.com/office/drawing/2014/main" id="{94B39306-9399-472C-ADF6-A6CBDC526C35}"/>
              </a:ext>
            </a:extLst>
          </p:cNvPr>
          <p:cNvSpPr>
            <a:spLocks noGrp="1"/>
          </p:cNvSpPr>
          <p:nvPr/>
        </p:nvSpPr>
        <p:spPr>
          <a:xfrm>
            <a:off x="1657350" y="15535275"/>
            <a:ext cx="4152900" cy="3714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2325" b="0">
                <a:solidFill>
                  <a:srgbClr val="203544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203544"/>
                </a:solidFill>
                <a:latin typeface="Arial"/>
                <a:ea typeface="Arial"/>
                <a:cs typeface="Arial"/>
              </a:rPr>
              <a:t>Receptor surface</a:t>
            </a:r>
          </a:p>
        </p:txBody>
      </p:sp>
      <p:pic>
        <p:nvPicPr>
          <p:cNvPr id="183" name="dock_receptor" descr="9BJJ dock_receptor; native ChimeraX; source C:\Users\15919\Desktop\论文草稿\画图\formal\E2E_flow_20261003\9bjj\renders\dock_receptor.png; editable crop only"/>
          <p:cNvPicPr>
            <a:picLocks noChangeAspect="1"/>
          </p:cNvPicPr>
          <p:nvPr/>
        </p:nvPicPr>
        <p:blipFill>
          <a:blip r:embed="rId13"/>
          <a:srcRect r="9792"/>
          <a:stretch>
            <a:fillRect/>
          </a:stretch>
        </p:blipFill>
        <p:spPr>
          <a:xfrm>
            <a:off x="1805781" y="15944850"/>
            <a:ext cx="3436938" cy="2857500"/>
          </a:xfrm>
          <a:prstGeom prst="rect">
            <a:avLst/>
          </a:prstGeom>
        </p:spPr>
      </p:pic>
      <p:sp>
        <p:nvSpPr>
          <p:cNvPr id="84" name="矩形 83">
            <a:extLst>
              <a:ext uri="{FF2B5EF4-FFF2-40B4-BE49-F238E27FC236}">
                <a16:creationId xmlns:a16="http://schemas.microsoft.com/office/drawing/2014/main" id="{9A070CD1-BEDC-460B-BF2D-F4181FC0A0CD}"/>
              </a:ext>
            </a:extLst>
          </p:cNvPr>
          <p:cNvSpPr>
            <a:spLocks noGrp="1"/>
          </p:cNvSpPr>
          <p:nvPr/>
        </p:nvSpPr>
        <p:spPr>
          <a:xfrm>
            <a:off x="6477000" y="15525750"/>
            <a:ext cx="352425" cy="3714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2475" b="1">
                <a:solidFill>
                  <a:srgbClr val="203544"/>
                </a:solidFill>
                <a:latin typeface="Arial"/>
                <a:ea typeface="Arial"/>
                <a:cs typeface="Arial"/>
              </a:defRPr>
            </a:pPr>
            <a:r>
              <a:rPr sz="2475" b="1">
                <a:solidFill>
                  <a:srgbClr val="203544"/>
                </a:solidFill>
                <a:latin typeface="Arial"/>
                <a:ea typeface="Arial"/>
                <a:cs typeface="Arial"/>
              </a:rPr>
              <a:t>i</a:t>
            </a:r>
          </a:p>
        </p:txBody>
      </p:sp>
      <p:sp>
        <p:nvSpPr>
          <p:cNvPr id="85" name="矩形 84">
            <a:extLst>
              <a:ext uri="{FF2B5EF4-FFF2-40B4-BE49-F238E27FC236}">
                <a16:creationId xmlns:a16="http://schemas.microsoft.com/office/drawing/2014/main" id="{2E17CA57-C2A9-4B2F-A9C5-A737B999716D}"/>
              </a:ext>
            </a:extLst>
          </p:cNvPr>
          <p:cNvSpPr>
            <a:spLocks noGrp="1"/>
          </p:cNvSpPr>
          <p:nvPr/>
        </p:nvSpPr>
        <p:spPr>
          <a:xfrm>
            <a:off x="6896100" y="15535275"/>
            <a:ext cx="4152900" cy="3714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2325" b="0">
                <a:solidFill>
                  <a:srgbClr val="203544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203544"/>
                </a:solidFill>
                <a:latin typeface="Arial"/>
                <a:ea typeface="Arial"/>
                <a:cs typeface="Arial"/>
              </a:rPr>
              <a:t>Experimental density</a:t>
            </a:r>
          </a:p>
        </p:txBody>
      </p:sp>
      <p:pic>
        <p:nvPicPr>
          <p:cNvPr id="186" name="dock_density" descr="9BJJ dock_density; native ChimeraX; source C:\Users\15919\Desktop\论文草稿\画图\formal\E2E_flow_20261003\9bjj\renders\dock_density.png; editable crop only"/>
          <p:cNvPicPr>
            <a:picLocks noChangeAspect="1"/>
          </p:cNvPicPr>
          <p:nvPr/>
        </p:nvPicPr>
        <p:blipFill>
          <a:blip r:embed="rId14"/>
          <a:srcRect r="9792"/>
          <a:stretch>
            <a:fillRect/>
          </a:stretch>
        </p:blipFill>
        <p:spPr>
          <a:xfrm>
            <a:off x="7044531" y="15944850"/>
            <a:ext cx="3436938" cy="2857500"/>
          </a:xfrm>
          <a:prstGeom prst="rect">
            <a:avLst/>
          </a:prstGeom>
        </p:spPr>
      </p:pic>
      <p:sp>
        <p:nvSpPr>
          <p:cNvPr id="87" name="矩形 86">
            <a:extLst>
              <a:ext uri="{FF2B5EF4-FFF2-40B4-BE49-F238E27FC236}">
                <a16:creationId xmlns:a16="http://schemas.microsoft.com/office/drawing/2014/main" id="{C3D6653A-C69D-4536-9B18-CD515804AFB6}"/>
              </a:ext>
            </a:extLst>
          </p:cNvPr>
          <p:cNvSpPr>
            <a:spLocks noGrp="1"/>
          </p:cNvSpPr>
          <p:nvPr/>
        </p:nvSpPr>
        <p:spPr>
          <a:xfrm>
            <a:off x="11715750" y="15525750"/>
            <a:ext cx="352425" cy="3714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2475" b="1">
                <a:solidFill>
                  <a:srgbClr val="203544"/>
                </a:solidFill>
                <a:latin typeface="Arial"/>
                <a:ea typeface="Arial"/>
                <a:cs typeface="Arial"/>
              </a:defRPr>
            </a:pPr>
            <a:r>
              <a:rPr sz="2475" b="1">
                <a:solidFill>
                  <a:srgbClr val="203544"/>
                </a:solidFill>
                <a:latin typeface="Arial"/>
                <a:ea typeface="Arial"/>
                <a:cs typeface="Arial"/>
              </a:rPr>
              <a:t>j</a:t>
            </a:r>
          </a:p>
        </p:txBody>
      </p:sp>
      <p:sp>
        <p:nvSpPr>
          <p:cNvPr id="88" name="矩形 87">
            <a:extLst>
              <a:ext uri="{FF2B5EF4-FFF2-40B4-BE49-F238E27FC236}">
                <a16:creationId xmlns:a16="http://schemas.microsoft.com/office/drawing/2014/main" id="{EFCE48DF-761C-480D-9D99-633CD33FAD19}"/>
              </a:ext>
            </a:extLst>
          </p:cNvPr>
          <p:cNvSpPr>
            <a:spLocks noGrp="1"/>
          </p:cNvSpPr>
          <p:nvPr/>
        </p:nvSpPr>
        <p:spPr>
          <a:xfrm>
            <a:off x="12134850" y="15535275"/>
            <a:ext cx="4152900" cy="3714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2325" b="0">
                <a:solidFill>
                  <a:srgbClr val="203544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203544"/>
                </a:solidFill>
                <a:latin typeface="Arial"/>
                <a:ea typeface="Arial"/>
                <a:cs typeface="Arial"/>
              </a:rPr>
              <a:t>Deposited pose overlay</a:t>
            </a:r>
          </a:p>
        </p:txBody>
      </p:sp>
      <p:pic>
        <p:nvPicPr>
          <p:cNvPr id="189" name="dock_gt_overlay" descr="9BJJ dock_gt_overlay; native ChimeraX; source C:\Users\15919\Desktop\论文草稿\画图\formal\E2E_flow_20261003\9bjj\renders\dock_gt_overlay.png; editable crop only"/>
          <p:cNvPicPr>
            <a:picLocks noChangeAspect="1"/>
          </p:cNvPicPr>
          <p:nvPr/>
        </p:nvPicPr>
        <p:blipFill>
          <a:blip r:embed="rId15"/>
          <a:srcRect r="9792"/>
          <a:stretch>
            <a:fillRect/>
          </a:stretch>
        </p:blipFill>
        <p:spPr>
          <a:xfrm>
            <a:off x="12283281" y="15944850"/>
            <a:ext cx="3436938" cy="2857500"/>
          </a:xfrm>
          <a:prstGeom prst="rect">
            <a:avLst/>
          </a:prstGeom>
        </p:spPr>
      </p:pic>
      <p:sp>
        <p:nvSpPr>
          <p:cNvPr id="90" name="矩形 89">
            <a:extLst>
              <a:ext uri="{FF2B5EF4-FFF2-40B4-BE49-F238E27FC236}">
                <a16:creationId xmlns:a16="http://schemas.microsoft.com/office/drawing/2014/main" id="{CAA8BF99-D1AB-475B-B883-6D5F55EE1AF5}"/>
              </a:ext>
            </a:extLst>
          </p:cNvPr>
          <p:cNvSpPr>
            <a:spLocks noGrp="1"/>
          </p:cNvSpPr>
          <p:nvPr/>
        </p:nvSpPr>
        <p:spPr>
          <a:xfrm>
            <a:off x="1238250" y="18954750"/>
            <a:ext cx="15049500" cy="4476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2550" b="1">
                <a:solidFill>
                  <a:srgbClr val="3169B3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3169B3"/>
                </a:solidFill>
                <a:latin typeface="Arial"/>
                <a:ea typeface="Arial"/>
                <a:cs typeface="Arial"/>
              </a:rPr>
              <a:t>RMSD 0.80 Å</a:t>
            </a:r>
          </a:p>
        </p:txBody>
      </p:sp>
      <p:sp>
        <p:nvSpPr>
          <p:cNvPr id="91" name="任意多边形: 形状 90">
            <a:extLst>
              <a:ext uri="{FF2B5EF4-FFF2-40B4-BE49-F238E27FC236}">
                <a16:creationId xmlns:a16="http://schemas.microsoft.com/office/drawing/2014/main" id="{ACD35CF8-B905-4AC9-B339-45C8ECD5405D}"/>
              </a:ext>
            </a:extLst>
          </p:cNvPr>
          <p:cNvSpPr>
            <a:spLocks noGrp="1"/>
          </p:cNvSpPr>
          <p:nvPr/>
        </p:nvSpPr>
        <p:spPr>
          <a:xfrm>
            <a:off x="1238250" y="19697700"/>
            <a:ext cx="304800" cy="953"/>
          </a:xfrm>
          <a:custGeom>
            <a:avLst/>
            <a:gdLst/>
            <a:ahLst/>
            <a:cxnLst/>
            <a:rect l="0" t="0" r="0" b="0"/>
            <a:pathLst>
              <a:path w="304800" h="953">
                <a:moveTo>
                  <a:pt x="0" y="0"/>
                </a:moveTo>
                <a:lnTo>
                  <a:pt x="304800" y="0"/>
                </a:lnTo>
              </a:path>
            </a:pathLst>
          </a:custGeom>
          <a:noFill/>
          <a:ln w="47625">
            <a:solidFill>
              <a:srgbClr val="81A58B"/>
            </a:solidFill>
          </a:ln>
        </p:spPr>
      </p:sp>
      <p:sp>
        <p:nvSpPr>
          <p:cNvPr id="92" name="矩形 91">
            <a:extLst>
              <a:ext uri="{FF2B5EF4-FFF2-40B4-BE49-F238E27FC236}">
                <a16:creationId xmlns:a16="http://schemas.microsoft.com/office/drawing/2014/main" id="{5130618C-BE09-40B2-ABD6-CE38CE29D242}"/>
              </a:ext>
            </a:extLst>
          </p:cNvPr>
          <p:cNvSpPr>
            <a:spLocks noGrp="1"/>
          </p:cNvSpPr>
          <p:nvPr/>
        </p:nvSpPr>
        <p:spPr>
          <a:xfrm>
            <a:off x="1647825" y="19545300"/>
            <a:ext cx="2571750" cy="3238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2025" b="0">
                <a:solidFill>
                  <a:srgbClr val="60717A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60717A"/>
                </a:solidFill>
                <a:latin typeface="Arial"/>
                <a:ea typeface="Arial"/>
                <a:cs typeface="Arial"/>
              </a:rPr>
              <a:t>Receptor</a:t>
            </a:r>
          </a:p>
        </p:txBody>
      </p:sp>
      <p:sp>
        <p:nvSpPr>
          <p:cNvPr id="93" name="任意多边形: 形状 92">
            <a:extLst>
              <a:ext uri="{FF2B5EF4-FFF2-40B4-BE49-F238E27FC236}">
                <a16:creationId xmlns:a16="http://schemas.microsoft.com/office/drawing/2014/main" id="{92DC0326-C0F1-4085-BA5A-E8F90950883E}"/>
              </a:ext>
            </a:extLst>
          </p:cNvPr>
          <p:cNvSpPr>
            <a:spLocks noGrp="1"/>
          </p:cNvSpPr>
          <p:nvPr/>
        </p:nvSpPr>
        <p:spPr>
          <a:xfrm>
            <a:off x="4286250" y="19697700"/>
            <a:ext cx="304800" cy="953"/>
          </a:xfrm>
          <a:custGeom>
            <a:avLst/>
            <a:gdLst/>
            <a:ahLst/>
            <a:cxnLst/>
            <a:rect l="0" t="0" r="0" b="0"/>
            <a:pathLst>
              <a:path w="304800" h="953">
                <a:moveTo>
                  <a:pt x="0" y="0"/>
                </a:moveTo>
                <a:lnTo>
                  <a:pt x="304800" y="0"/>
                </a:lnTo>
              </a:path>
            </a:pathLst>
          </a:custGeom>
          <a:noFill/>
          <a:ln w="47625">
            <a:solidFill>
              <a:srgbClr val="516773"/>
            </a:solidFill>
          </a:ln>
        </p:spPr>
      </p:sp>
      <p:sp>
        <p:nvSpPr>
          <p:cNvPr id="94" name="矩形 93">
            <a:extLst>
              <a:ext uri="{FF2B5EF4-FFF2-40B4-BE49-F238E27FC236}">
                <a16:creationId xmlns:a16="http://schemas.microsoft.com/office/drawing/2014/main" id="{7AF1A507-67F5-47B3-9DA0-9EF5E01C9E28}"/>
              </a:ext>
            </a:extLst>
          </p:cNvPr>
          <p:cNvSpPr>
            <a:spLocks noGrp="1"/>
          </p:cNvSpPr>
          <p:nvPr/>
        </p:nvSpPr>
        <p:spPr>
          <a:xfrm>
            <a:off x="4695825" y="19545300"/>
            <a:ext cx="2571750" cy="3238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2025" b="0">
                <a:solidFill>
                  <a:srgbClr val="60717A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60717A"/>
                </a:solidFill>
                <a:latin typeface="Arial"/>
                <a:ea typeface="Arial"/>
                <a:cs typeface="Arial"/>
              </a:rPr>
              <a:t>Density</a:t>
            </a:r>
          </a:p>
        </p:txBody>
      </p:sp>
      <p:sp>
        <p:nvSpPr>
          <p:cNvPr id="95" name="任意多边形: 形状 94">
            <a:extLst>
              <a:ext uri="{FF2B5EF4-FFF2-40B4-BE49-F238E27FC236}">
                <a16:creationId xmlns:a16="http://schemas.microsoft.com/office/drawing/2014/main" id="{69B3AC0E-1AC9-481F-AD05-C33E26672DE9}"/>
              </a:ext>
            </a:extLst>
          </p:cNvPr>
          <p:cNvSpPr>
            <a:spLocks noGrp="1"/>
          </p:cNvSpPr>
          <p:nvPr/>
        </p:nvSpPr>
        <p:spPr>
          <a:xfrm>
            <a:off x="7334250" y="19697700"/>
            <a:ext cx="304800" cy="953"/>
          </a:xfrm>
          <a:custGeom>
            <a:avLst/>
            <a:gdLst/>
            <a:ahLst/>
            <a:cxnLst/>
            <a:rect l="0" t="0" r="0" b="0"/>
            <a:pathLst>
              <a:path w="304800" h="953">
                <a:moveTo>
                  <a:pt x="0" y="0"/>
                </a:moveTo>
                <a:lnTo>
                  <a:pt x="304800" y="0"/>
                </a:lnTo>
              </a:path>
            </a:pathLst>
          </a:custGeom>
          <a:noFill/>
          <a:ln w="47625">
            <a:solidFill>
              <a:srgbClr val="E9983C"/>
            </a:solidFill>
          </a:ln>
        </p:spPr>
      </p:sp>
      <p:sp>
        <p:nvSpPr>
          <p:cNvPr id="96" name="矩形 95">
            <a:extLst>
              <a:ext uri="{FF2B5EF4-FFF2-40B4-BE49-F238E27FC236}">
                <a16:creationId xmlns:a16="http://schemas.microsoft.com/office/drawing/2014/main" id="{FFBD9E7D-BCCC-473F-A19C-13A360D97E4C}"/>
              </a:ext>
            </a:extLst>
          </p:cNvPr>
          <p:cNvSpPr>
            <a:spLocks noGrp="1"/>
          </p:cNvSpPr>
          <p:nvPr/>
        </p:nvSpPr>
        <p:spPr>
          <a:xfrm>
            <a:off x="7743825" y="19545300"/>
            <a:ext cx="2571750" cy="3238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2025" b="0">
                <a:solidFill>
                  <a:srgbClr val="60717A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60717A"/>
                </a:solidFill>
                <a:latin typeface="Arial"/>
                <a:ea typeface="Arial"/>
                <a:cs typeface="Arial"/>
              </a:rPr>
              <a:t>Target blob</a:t>
            </a:r>
          </a:p>
        </p:txBody>
      </p:sp>
      <p:sp>
        <p:nvSpPr>
          <p:cNvPr id="97" name="任意多边形: 形状 96">
            <a:extLst>
              <a:ext uri="{FF2B5EF4-FFF2-40B4-BE49-F238E27FC236}">
                <a16:creationId xmlns:a16="http://schemas.microsoft.com/office/drawing/2014/main" id="{C385FA8E-5AB4-4F62-B84D-3A7E9F2B401B}"/>
              </a:ext>
            </a:extLst>
          </p:cNvPr>
          <p:cNvSpPr>
            <a:spLocks noGrp="1"/>
          </p:cNvSpPr>
          <p:nvPr/>
        </p:nvSpPr>
        <p:spPr>
          <a:xfrm>
            <a:off x="10382250" y="19697700"/>
            <a:ext cx="304800" cy="953"/>
          </a:xfrm>
          <a:custGeom>
            <a:avLst/>
            <a:gdLst/>
            <a:ahLst/>
            <a:cxnLst/>
            <a:rect l="0" t="0" r="0" b="0"/>
            <a:pathLst>
              <a:path w="304800" h="953">
                <a:moveTo>
                  <a:pt x="0" y="0"/>
                </a:moveTo>
                <a:lnTo>
                  <a:pt x="304800" y="0"/>
                </a:lnTo>
              </a:path>
            </a:pathLst>
          </a:custGeom>
          <a:noFill/>
          <a:ln w="47625">
            <a:solidFill>
              <a:srgbClr val="3169B3"/>
            </a:solidFill>
          </a:ln>
        </p:spPr>
      </p:sp>
      <p:sp>
        <p:nvSpPr>
          <p:cNvPr id="98" name="矩形 97">
            <a:extLst>
              <a:ext uri="{FF2B5EF4-FFF2-40B4-BE49-F238E27FC236}">
                <a16:creationId xmlns:a16="http://schemas.microsoft.com/office/drawing/2014/main" id="{881A1B17-89A8-4934-AB8B-5E4486AD4149}"/>
              </a:ext>
            </a:extLst>
          </p:cNvPr>
          <p:cNvSpPr>
            <a:spLocks noGrp="1"/>
          </p:cNvSpPr>
          <p:nvPr/>
        </p:nvSpPr>
        <p:spPr>
          <a:xfrm>
            <a:off x="10791825" y="19545300"/>
            <a:ext cx="2571750" cy="3238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2025" b="0">
                <a:solidFill>
                  <a:srgbClr val="60717A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60717A"/>
                </a:solidFill>
                <a:latin typeface="Arial"/>
                <a:ea typeface="Arial"/>
                <a:cs typeface="Arial"/>
              </a:rPr>
              <a:t>Predicted pose</a:t>
            </a:r>
          </a:p>
        </p:txBody>
      </p:sp>
      <p:sp>
        <p:nvSpPr>
          <p:cNvPr id="99" name="任意多边形: 形状 98">
            <a:extLst>
              <a:ext uri="{FF2B5EF4-FFF2-40B4-BE49-F238E27FC236}">
                <a16:creationId xmlns:a16="http://schemas.microsoft.com/office/drawing/2014/main" id="{190BEA7D-965F-4B8A-9294-05AB18B6CBA7}"/>
              </a:ext>
            </a:extLst>
          </p:cNvPr>
          <p:cNvSpPr>
            <a:spLocks noGrp="1"/>
          </p:cNvSpPr>
          <p:nvPr/>
        </p:nvSpPr>
        <p:spPr>
          <a:xfrm>
            <a:off x="13430250" y="19697700"/>
            <a:ext cx="304800" cy="953"/>
          </a:xfrm>
          <a:custGeom>
            <a:avLst/>
            <a:gdLst/>
            <a:ahLst/>
            <a:cxnLst/>
            <a:rect l="0" t="0" r="0" b="0"/>
            <a:pathLst>
              <a:path w="304800" h="953">
                <a:moveTo>
                  <a:pt x="0" y="0"/>
                </a:moveTo>
                <a:lnTo>
                  <a:pt x="304800" y="0"/>
                </a:lnTo>
              </a:path>
            </a:pathLst>
          </a:custGeom>
          <a:noFill/>
          <a:ln w="47625">
            <a:solidFill>
              <a:srgbClr val="26A6A1"/>
            </a:solidFill>
          </a:ln>
        </p:spPr>
      </p:sp>
      <p:sp>
        <p:nvSpPr>
          <p:cNvPr id="100" name="矩形 99">
            <a:extLst>
              <a:ext uri="{FF2B5EF4-FFF2-40B4-BE49-F238E27FC236}">
                <a16:creationId xmlns:a16="http://schemas.microsoft.com/office/drawing/2014/main" id="{9DE3FD7A-6E8D-4924-98C7-42FCD1886C02}"/>
              </a:ext>
            </a:extLst>
          </p:cNvPr>
          <p:cNvSpPr>
            <a:spLocks noGrp="1"/>
          </p:cNvSpPr>
          <p:nvPr/>
        </p:nvSpPr>
        <p:spPr>
          <a:xfrm>
            <a:off x="13839825" y="19545300"/>
            <a:ext cx="2571750" cy="3238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2025" b="0">
                <a:solidFill>
                  <a:srgbClr val="60717A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60717A"/>
                </a:solidFill>
                <a:latin typeface="Arial"/>
                <a:ea typeface="Arial"/>
                <a:cs typeface="Arial"/>
              </a:rPr>
              <a:t>Deposited pose</a:t>
            </a:r>
          </a:p>
        </p:txBody>
      </p:sp>
    </p:spTree>
    <p:extLst>
      <p:ext uri="{BB962C8B-B14F-4D97-AF65-F5344CB8AC3E}">
        <p14:creationId xmlns:p14="http://schemas.microsoft.com/office/powerpoint/2010/main" val="773038101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3"/>
    </p:ext>
  </p:extLs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矩形 101">
            <a:extLst>
              <a:ext uri="{FF2B5EF4-FFF2-40B4-BE49-F238E27FC236}">
                <a16:creationId xmlns:a16="http://schemas.microsoft.com/office/drawing/2014/main" id="{0056FC55-D0A1-496A-A73D-B43D44F078BB}"/>
              </a:ext>
            </a:extLst>
          </p:cNvPr>
          <p:cNvSpPr>
            <a:spLocks noGrp="1"/>
          </p:cNvSpPr>
          <p:nvPr/>
        </p:nvSpPr>
        <p:spPr>
          <a:xfrm>
            <a:off x="1238250" y="209550"/>
            <a:ext cx="14668500" cy="5524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3450" b="1">
                <a:solidFill>
                  <a:srgbClr val="203544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203544"/>
                </a:solidFill>
                <a:latin typeface="Arial"/>
                <a:ea typeface="Arial"/>
                <a:cs typeface="Arial"/>
              </a:rPr>
              <a:t>30GA  ATP (N:401)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2D71334A-D5CD-4385-84A0-9A965C3AE2B2}"/>
              </a:ext>
            </a:extLst>
          </p:cNvPr>
          <p:cNvSpPr>
            <a:spLocks noGrp="1"/>
          </p:cNvSpPr>
          <p:nvPr/>
        </p:nvSpPr>
        <p:spPr>
          <a:xfrm>
            <a:off x="1238250" y="809625"/>
            <a:ext cx="15049500" cy="4191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2400" b="0">
                <a:solidFill>
                  <a:srgbClr val="60717A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60717A"/>
                </a:solidFill>
                <a:latin typeface="Arial"/>
                <a:ea typeface="Arial"/>
                <a:cs typeface="Arial"/>
              </a:rPr>
              <a:t>Background at rank 1, successful reconstruction at rank 2</a:t>
            </a:r>
          </a:p>
        </p:txBody>
      </p:sp>
      <p:sp>
        <p:nvSpPr>
          <p:cNvPr id="3" name="任意多边形: 形状 2">
            <a:extLst>
              <a:ext uri="{FF2B5EF4-FFF2-40B4-BE49-F238E27FC236}">
                <a16:creationId xmlns:a16="http://schemas.microsoft.com/office/drawing/2014/main" id="{CBD98F11-DF83-4CCA-A82C-4FCD4A50584D}"/>
              </a:ext>
            </a:extLst>
          </p:cNvPr>
          <p:cNvSpPr>
            <a:spLocks noGrp="1"/>
          </p:cNvSpPr>
          <p:nvPr/>
        </p:nvSpPr>
        <p:spPr>
          <a:xfrm>
            <a:off x="600075" y="1885950"/>
            <a:ext cx="953" cy="3524250"/>
          </a:xfrm>
          <a:custGeom>
            <a:avLst/>
            <a:gdLst/>
            <a:ahLst/>
            <a:cxnLst/>
            <a:rect l="0" t="0" r="0" b="0"/>
            <a:pathLst>
              <a:path w="953" h="3524250">
                <a:moveTo>
                  <a:pt x="0" y="0"/>
                </a:moveTo>
                <a:lnTo>
                  <a:pt x="0" y="3524250"/>
                </a:lnTo>
              </a:path>
            </a:pathLst>
          </a:custGeom>
          <a:noFill/>
          <a:ln w="28575">
            <a:solidFill>
              <a:srgbClr val="BDCDC6"/>
            </a:solidFill>
          </a:ln>
        </p:spPr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77DBCEC3-FEC8-4DC0-BD60-5C3071DE44E0}"/>
              </a:ext>
            </a:extLst>
          </p:cNvPr>
          <p:cNvSpPr>
            <a:spLocks noGrp="1"/>
          </p:cNvSpPr>
          <p:nvPr/>
        </p:nvSpPr>
        <p:spPr>
          <a:xfrm>
            <a:off x="533400" y="5314950"/>
            <a:ext cx="66675" cy="95250"/>
          </a:xfrm>
          <a:custGeom>
            <a:avLst/>
            <a:gdLst/>
            <a:ahLst/>
            <a:cxnLst/>
            <a:rect l="0" t="0" r="0" b="0"/>
            <a:pathLst>
              <a:path w="66675" h="95250">
                <a:moveTo>
                  <a:pt x="0" y="0"/>
                </a:moveTo>
                <a:lnTo>
                  <a:pt x="66675" y="95250"/>
                </a:lnTo>
              </a:path>
            </a:pathLst>
          </a:custGeom>
          <a:noFill/>
          <a:ln w="28575">
            <a:solidFill>
              <a:srgbClr val="BDCDC6"/>
            </a:solidFill>
          </a:ln>
        </p:spPr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B1AF566D-AE09-43E1-B0B2-A5C821F4ECC6}"/>
              </a:ext>
            </a:extLst>
          </p:cNvPr>
          <p:cNvSpPr>
            <a:spLocks noGrp="1"/>
          </p:cNvSpPr>
          <p:nvPr/>
        </p:nvSpPr>
        <p:spPr>
          <a:xfrm>
            <a:off x="600075" y="5314950"/>
            <a:ext cx="66675" cy="95250"/>
          </a:xfrm>
          <a:custGeom>
            <a:avLst/>
            <a:gdLst/>
            <a:ahLst/>
            <a:cxnLst/>
            <a:rect l="0" t="0" r="0" b="0"/>
            <a:pathLst>
              <a:path w="66675" h="95250">
                <a:moveTo>
                  <a:pt x="66675" y="0"/>
                </a:moveTo>
                <a:lnTo>
                  <a:pt x="0" y="95250"/>
                </a:lnTo>
              </a:path>
            </a:pathLst>
          </a:custGeom>
          <a:noFill/>
          <a:ln w="28575">
            <a:solidFill>
              <a:srgbClr val="BDCDC6"/>
            </a:solidFill>
          </a:ln>
        </p:spPr>
      </p:sp>
      <p:sp>
        <p:nvSpPr>
          <p:cNvPr id="6" name="任意多边形: 形状 5">
            <a:extLst>
              <a:ext uri="{FF2B5EF4-FFF2-40B4-BE49-F238E27FC236}">
                <a16:creationId xmlns:a16="http://schemas.microsoft.com/office/drawing/2014/main" id="{EF493587-96F2-4359-9AE0-8BC55742BCC7}"/>
              </a:ext>
            </a:extLst>
          </p:cNvPr>
          <p:cNvSpPr>
            <a:spLocks noGrp="1"/>
          </p:cNvSpPr>
          <p:nvPr/>
        </p:nvSpPr>
        <p:spPr>
          <a:xfrm>
            <a:off x="600075" y="6096000"/>
            <a:ext cx="953" cy="4781550"/>
          </a:xfrm>
          <a:custGeom>
            <a:avLst/>
            <a:gdLst/>
            <a:ahLst/>
            <a:cxnLst/>
            <a:rect l="0" t="0" r="0" b="0"/>
            <a:pathLst>
              <a:path w="953" h="4781550">
                <a:moveTo>
                  <a:pt x="0" y="0"/>
                </a:moveTo>
                <a:lnTo>
                  <a:pt x="0" y="4781550"/>
                </a:lnTo>
              </a:path>
            </a:pathLst>
          </a:custGeom>
          <a:noFill/>
          <a:ln w="28575">
            <a:solidFill>
              <a:srgbClr val="BDCDC6"/>
            </a:solidFill>
          </a:ln>
        </p:spPr>
      </p:sp>
      <p:sp>
        <p:nvSpPr>
          <p:cNvPr id="7" name="任意多边形: 形状 6">
            <a:extLst>
              <a:ext uri="{FF2B5EF4-FFF2-40B4-BE49-F238E27FC236}">
                <a16:creationId xmlns:a16="http://schemas.microsoft.com/office/drawing/2014/main" id="{8C374519-0ADA-4C12-BE50-CA0FE32BF740}"/>
              </a:ext>
            </a:extLst>
          </p:cNvPr>
          <p:cNvSpPr>
            <a:spLocks noGrp="1"/>
          </p:cNvSpPr>
          <p:nvPr/>
        </p:nvSpPr>
        <p:spPr>
          <a:xfrm>
            <a:off x="533400" y="10782300"/>
            <a:ext cx="66675" cy="95250"/>
          </a:xfrm>
          <a:custGeom>
            <a:avLst/>
            <a:gdLst/>
            <a:ahLst/>
            <a:cxnLst/>
            <a:rect l="0" t="0" r="0" b="0"/>
            <a:pathLst>
              <a:path w="66675" h="95250">
                <a:moveTo>
                  <a:pt x="0" y="0"/>
                </a:moveTo>
                <a:lnTo>
                  <a:pt x="66675" y="95250"/>
                </a:lnTo>
              </a:path>
            </a:pathLst>
          </a:custGeom>
          <a:noFill/>
          <a:ln w="28575">
            <a:solidFill>
              <a:srgbClr val="BDCDC6"/>
            </a:solidFill>
          </a:ln>
        </p:spPr>
      </p:sp>
      <p:sp>
        <p:nvSpPr>
          <p:cNvPr id="8" name="任意多边形: 形状 7">
            <a:extLst>
              <a:ext uri="{FF2B5EF4-FFF2-40B4-BE49-F238E27FC236}">
                <a16:creationId xmlns:a16="http://schemas.microsoft.com/office/drawing/2014/main" id="{911F2B84-8015-40B7-B2F1-842CF758B4C6}"/>
              </a:ext>
            </a:extLst>
          </p:cNvPr>
          <p:cNvSpPr>
            <a:spLocks noGrp="1"/>
          </p:cNvSpPr>
          <p:nvPr/>
        </p:nvSpPr>
        <p:spPr>
          <a:xfrm>
            <a:off x="600075" y="10782300"/>
            <a:ext cx="66675" cy="95250"/>
          </a:xfrm>
          <a:custGeom>
            <a:avLst/>
            <a:gdLst/>
            <a:ahLst/>
            <a:cxnLst/>
            <a:rect l="0" t="0" r="0" b="0"/>
            <a:pathLst>
              <a:path w="66675" h="95250">
                <a:moveTo>
                  <a:pt x="66675" y="0"/>
                </a:moveTo>
                <a:lnTo>
                  <a:pt x="0" y="95250"/>
                </a:lnTo>
              </a:path>
            </a:pathLst>
          </a:custGeom>
          <a:noFill/>
          <a:ln w="28575">
            <a:solidFill>
              <a:srgbClr val="BDCDC6"/>
            </a:solidFill>
          </a:ln>
        </p:spPr>
      </p:sp>
      <p:sp>
        <p:nvSpPr>
          <p:cNvPr id="9" name="任意多边形: 形状 8">
            <a:extLst>
              <a:ext uri="{FF2B5EF4-FFF2-40B4-BE49-F238E27FC236}">
                <a16:creationId xmlns:a16="http://schemas.microsoft.com/office/drawing/2014/main" id="{73BD2191-8757-46AB-9201-BC24777E1FE4}"/>
              </a:ext>
            </a:extLst>
          </p:cNvPr>
          <p:cNvSpPr>
            <a:spLocks noGrp="1"/>
          </p:cNvSpPr>
          <p:nvPr/>
        </p:nvSpPr>
        <p:spPr>
          <a:xfrm>
            <a:off x="600075" y="11563350"/>
            <a:ext cx="953" cy="3086100"/>
          </a:xfrm>
          <a:custGeom>
            <a:avLst/>
            <a:gdLst/>
            <a:ahLst/>
            <a:cxnLst/>
            <a:rect l="0" t="0" r="0" b="0"/>
            <a:pathLst>
              <a:path w="953" h="3086100">
                <a:moveTo>
                  <a:pt x="0" y="0"/>
                </a:moveTo>
                <a:lnTo>
                  <a:pt x="0" y="3086100"/>
                </a:lnTo>
              </a:path>
            </a:pathLst>
          </a:custGeom>
          <a:noFill/>
          <a:ln w="28575">
            <a:solidFill>
              <a:srgbClr val="BDCDC6"/>
            </a:solidFill>
          </a:ln>
        </p:spPr>
      </p:sp>
      <p:sp>
        <p:nvSpPr>
          <p:cNvPr id="10" name="任意多边形: 形状 9">
            <a:extLst>
              <a:ext uri="{FF2B5EF4-FFF2-40B4-BE49-F238E27FC236}">
                <a16:creationId xmlns:a16="http://schemas.microsoft.com/office/drawing/2014/main" id="{98F18571-2715-4DF9-B30A-B104CFFFD759}"/>
              </a:ext>
            </a:extLst>
          </p:cNvPr>
          <p:cNvSpPr>
            <a:spLocks noGrp="1"/>
          </p:cNvSpPr>
          <p:nvPr/>
        </p:nvSpPr>
        <p:spPr>
          <a:xfrm>
            <a:off x="533400" y="14554200"/>
            <a:ext cx="66675" cy="95250"/>
          </a:xfrm>
          <a:custGeom>
            <a:avLst/>
            <a:gdLst/>
            <a:ahLst/>
            <a:cxnLst/>
            <a:rect l="0" t="0" r="0" b="0"/>
            <a:pathLst>
              <a:path w="66675" h="95250">
                <a:moveTo>
                  <a:pt x="0" y="0"/>
                </a:moveTo>
                <a:lnTo>
                  <a:pt x="66675" y="95250"/>
                </a:lnTo>
              </a:path>
            </a:pathLst>
          </a:custGeom>
          <a:noFill/>
          <a:ln w="28575">
            <a:solidFill>
              <a:srgbClr val="BDCDC6"/>
            </a:solidFill>
          </a:ln>
        </p:spPr>
      </p:sp>
      <p:sp>
        <p:nvSpPr>
          <p:cNvPr id="11" name="任意多边形: 形状 10">
            <a:extLst>
              <a:ext uri="{FF2B5EF4-FFF2-40B4-BE49-F238E27FC236}">
                <a16:creationId xmlns:a16="http://schemas.microsoft.com/office/drawing/2014/main" id="{D3DAF062-6CE5-4462-86E5-32866CA6AAFF}"/>
              </a:ext>
            </a:extLst>
          </p:cNvPr>
          <p:cNvSpPr>
            <a:spLocks noGrp="1"/>
          </p:cNvSpPr>
          <p:nvPr/>
        </p:nvSpPr>
        <p:spPr>
          <a:xfrm>
            <a:off x="600075" y="14554200"/>
            <a:ext cx="66675" cy="95250"/>
          </a:xfrm>
          <a:custGeom>
            <a:avLst/>
            <a:gdLst/>
            <a:ahLst/>
            <a:cxnLst/>
            <a:rect l="0" t="0" r="0" b="0"/>
            <a:pathLst>
              <a:path w="66675" h="95250">
                <a:moveTo>
                  <a:pt x="66675" y="0"/>
                </a:moveTo>
                <a:lnTo>
                  <a:pt x="0" y="95250"/>
                </a:lnTo>
              </a:path>
            </a:pathLst>
          </a:custGeom>
          <a:noFill/>
          <a:ln w="28575">
            <a:solidFill>
              <a:srgbClr val="BDCDC6"/>
            </a:solidFill>
          </a:ln>
        </p:spPr>
      </p:sp>
      <p:sp>
        <p:nvSpPr>
          <p:cNvPr id="12" name="椭圆 11">
            <a:extLst>
              <a:ext uri="{FF2B5EF4-FFF2-40B4-BE49-F238E27FC236}">
                <a16:creationId xmlns:a16="http://schemas.microsoft.com/office/drawing/2014/main" id="{2EA26B35-514B-4129-A802-0EADF2FB6A33}"/>
              </a:ext>
            </a:extLst>
          </p:cNvPr>
          <p:cNvSpPr>
            <a:spLocks noGrp="1"/>
          </p:cNvSpPr>
          <p:nvPr/>
        </p:nvSpPr>
        <p:spPr>
          <a:xfrm>
            <a:off x="361950" y="1314450"/>
            <a:ext cx="476250" cy="476250"/>
          </a:xfrm>
          <a:prstGeom prst="ellipse">
            <a:avLst/>
          </a:prstGeom>
          <a:solidFill>
            <a:srgbClr val="366755"/>
          </a:solidFill>
          <a:ln w="0">
            <a:noFill/>
          </a:ln>
        </p:spPr>
        <p:txBody>
          <a:bodyPr lIns="0" tIns="0" rIns="0" bIns="0" anchor="ctr"/>
          <a:lstStyle/>
          <a:p>
            <a:pPr algn="ctr">
              <a:defRPr sz="23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0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526F5C38-42ED-4C77-A94D-C892CE5A64C9}"/>
              </a:ext>
            </a:extLst>
          </p:cNvPr>
          <p:cNvSpPr>
            <a:spLocks noGrp="1"/>
          </p:cNvSpPr>
          <p:nvPr/>
        </p:nvSpPr>
        <p:spPr>
          <a:xfrm>
            <a:off x="1238250" y="1333500"/>
            <a:ext cx="2000250" cy="4572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2850" b="1">
                <a:solidFill>
                  <a:srgbClr val="366755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366755"/>
                </a:solidFill>
                <a:latin typeface="Arial"/>
                <a:ea typeface="Arial"/>
                <a:cs typeface="Arial"/>
              </a:rPr>
              <a:t>Input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50456305-27B3-4A18-AAB6-9158E1A022E7}"/>
              </a:ext>
            </a:extLst>
          </p:cNvPr>
          <p:cNvSpPr>
            <a:spLocks noGrp="1"/>
          </p:cNvSpPr>
          <p:nvPr/>
        </p:nvSpPr>
        <p:spPr>
          <a:xfrm>
            <a:off x="3524250" y="1362075"/>
            <a:ext cx="12715875" cy="4000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2325" b="0">
                <a:solidFill>
                  <a:srgbClr val="60717A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60717A"/>
                </a:solidFill>
                <a:latin typeface="Arial"/>
                <a:ea typeface="Arial"/>
                <a:cs typeface="Arial"/>
              </a:rPr>
              <a:t>Reconstructing the receptor from the experimental map with CryoAtom2</a:t>
            </a:r>
          </a:p>
        </p:txBody>
      </p:sp>
      <p:sp>
        <p:nvSpPr>
          <p:cNvPr id="15" name="任意多边形: 形状 14">
            <a:extLst>
              <a:ext uri="{FF2B5EF4-FFF2-40B4-BE49-F238E27FC236}">
                <a16:creationId xmlns:a16="http://schemas.microsoft.com/office/drawing/2014/main" id="{F28163E4-F6FB-475E-AE08-DF5DA617B855}"/>
              </a:ext>
            </a:extLst>
          </p:cNvPr>
          <p:cNvSpPr>
            <a:spLocks noGrp="1"/>
          </p:cNvSpPr>
          <p:nvPr/>
        </p:nvSpPr>
        <p:spPr>
          <a:xfrm>
            <a:off x="1238250" y="1895475"/>
            <a:ext cx="15049500" cy="953"/>
          </a:xfrm>
          <a:custGeom>
            <a:avLst/>
            <a:gdLst/>
            <a:ahLst/>
            <a:cxnLst/>
            <a:rect l="0" t="0" r="0" b="0"/>
            <a:pathLst>
              <a:path w="15049500" h="953">
                <a:moveTo>
                  <a:pt x="0" y="0"/>
                </a:moveTo>
                <a:lnTo>
                  <a:pt x="15049500" y="0"/>
                </a:lnTo>
              </a:path>
            </a:pathLst>
          </a:custGeom>
          <a:noFill/>
          <a:ln w="19050">
            <a:solidFill>
              <a:srgbClr val="E6EDEB"/>
            </a:solidFill>
          </a:ln>
        </p:spPr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E5DCF1A9-DD68-42B6-B5E1-6BFAAAD4E510}"/>
              </a:ext>
            </a:extLst>
          </p:cNvPr>
          <p:cNvSpPr>
            <a:spLocks noGrp="1"/>
          </p:cNvSpPr>
          <p:nvPr/>
        </p:nvSpPr>
        <p:spPr>
          <a:xfrm>
            <a:off x="1238250" y="2076450"/>
            <a:ext cx="352425" cy="3714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2475" b="1">
                <a:solidFill>
                  <a:srgbClr val="203544"/>
                </a:solidFill>
                <a:latin typeface="Arial"/>
                <a:ea typeface="Arial"/>
                <a:cs typeface="Arial"/>
              </a:defRPr>
            </a:pPr>
            <a:r>
              <a:rPr sz="2475" b="1">
                <a:solidFill>
                  <a:srgbClr val="203544"/>
                </a:solidFill>
                <a:latin typeface="Arial"/>
                <a:ea typeface="Arial"/>
                <a:cs typeface="Arial"/>
              </a:rPr>
              <a:t>a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9B3A885A-E56D-4855-BA59-445EAE6B2CEF}"/>
              </a:ext>
            </a:extLst>
          </p:cNvPr>
          <p:cNvSpPr>
            <a:spLocks noGrp="1"/>
          </p:cNvSpPr>
          <p:nvPr/>
        </p:nvSpPr>
        <p:spPr>
          <a:xfrm>
            <a:off x="1657350" y="2085975"/>
            <a:ext cx="4152900" cy="3714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2325" b="0">
                <a:solidFill>
                  <a:srgbClr val="203544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203544"/>
                </a:solidFill>
                <a:latin typeface="Arial"/>
                <a:ea typeface="Arial"/>
                <a:cs typeface="Arial"/>
              </a:rPr>
              <a:t>Experimental map</a:t>
            </a:r>
          </a:p>
        </p:txBody>
      </p:sp>
      <p:pic>
        <p:nvPicPr>
          <p:cNvPr id="119" name="global_density_same_scale" descr="30GA global_density_same_scale; native ChimeraX; source C:\Users\15919\Desktop\论文草稿\画图\formal\E2E_flow_v2_20261003\30ga\renders\global_density_same_scale.png; editable crop only"/>
          <p:cNvPicPr>
            <a:picLocks noChangeAspect="1"/>
          </p:cNvPicPr>
          <p:nvPr/>
        </p:nvPicPr>
        <p:blipFill>
          <a:blip r:embed="rId4"/>
          <a:srcRect l="25424" t="11120" r="24556" b="6217"/>
          <a:stretch>
            <a:fillRect/>
          </a:stretch>
        </p:blipFill>
        <p:spPr>
          <a:xfrm>
            <a:off x="2371521" y="2476500"/>
            <a:ext cx="2305458" cy="2857500"/>
          </a:xfrm>
          <a:prstGeom prst="rect">
            <a:avLst/>
          </a:prstGeom>
        </p:spPr>
      </p:pic>
      <p:sp>
        <p:nvSpPr>
          <p:cNvPr id="19" name="矩形 18">
            <a:extLst>
              <a:ext uri="{FF2B5EF4-FFF2-40B4-BE49-F238E27FC236}">
                <a16:creationId xmlns:a16="http://schemas.microsoft.com/office/drawing/2014/main" id="{D20EC9C5-701D-4AEA-8F04-6BFFA4A2EC71}"/>
              </a:ext>
            </a:extLst>
          </p:cNvPr>
          <p:cNvSpPr>
            <a:spLocks noGrp="1"/>
          </p:cNvSpPr>
          <p:nvPr/>
        </p:nvSpPr>
        <p:spPr>
          <a:xfrm>
            <a:off x="6477000" y="2076450"/>
            <a:ext cx="352425" cy="3714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2475" b="1">
                <a:solidFill>
                  <a:srgbClr val="203544"/>
                </a:solidFill>
                <a:latin typeface="Arial"/>
                <a:ea typeface="Arial"/>
                <a:cs typeface="Arial"/>
              </a:defRPr>
            </a:pPr>
            <a:r>
              <a:rPr sz="2475" b="1">
                <a:solidFill>
                  <a:srgbClr val="203544"/>
                </a:solidFill>
                <a:latin typeface="Arial"/>
                <a:ea typeface="Arial"/>
                <a:cs typeface="Arial"/>
              </a:rPr>
              <a:t>b</a:t>
            </a: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F92D4B86-DE13-42A7-A2DF-637E40A70150}"/>
              </a:ext>
            </a:extLst>
          </p:cNvPr>
          <p:cNvSpPr>
            <a:spLocks noGrp="1"/>
          </p:cNvSpPr>
          <p:nvPr/>
        </p:nvSpPr>
        <p:spPr>
          <a:xfrm>
            <a:off x="6896100" y="2085975"/>
            <a:ext cx="4152900" cy="3714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2325" b="0">
                <a:solidFill>
                  <a:srgbClr val="203544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203544"/>
                </a:solidFill>
                <a:latin typeface="Arial"/>
                <a:ea typeface="Arial"/>
                <a:cs typeface="Arial"/>
              </a:rPr>
              <a:t>CA2 receptor</a:t>
            </a:r>
          </a:p>
        </p:txBody>
      </p:sp>
      <p:pic>
        <p:nvPicPr>
          <p:cNvPr id="122" name="global_ca2" descr="30GA global_ca2; native ChimeraX; source C:\Users\15919\Desktop\论文草稿\画图\formal\E2E_flow_20261003\30ga\renders\global_ca2.png; editable crop only"/>
          <p:cNvPicPr>
            <a:picLocks noChangeAspect="1"/>
          </p:cNvPicPr>
          <p:nvPr/>
        </p:nvPicPr>
        <p:blipFill>
          <a:blip r:embed="rId5"/>
          <a:srcRect l="25424" t="11120" r="24556" b="6217"/>
          <a:stretch>
            <a:fillRect/>
          </a:stretch>
        </p:blipFill>
        <p:spPr>
          <a:xfrm>
            <a:off x="7610271" y="2476500"/>
            <a:ext cx="2305458" cy="2857500"/>
          </a:xfrm>
          <a:prstGeom prst="rect">
            <a:avLst/>
          </a:prstGeom>
        </p:spPr>
      </p:pic>
      <p:sp>
        <p:nvSpPr>
          <p:cNvPr id="22" name="矩形 21">
            <a:extLst>
              <a:ext uri="{FF2B5EF4-FFF2-40B4-BE49-F238E27FC236}">
                <a16:creationId xmlns:a16="http://schemas.microsoft.com/office/drawing/2014/main" id="{D9C0B9F8-88A1-4CFC-AD18-480218B5AD65}"/>
              </a:ext>
            </a:extLst>
          </p:cNvPr>
          <p:cNvSpPr>
            <a:spLocks noGrp="1"/>
          </p:cNvSpPr>
          <p:nvPr/>
        </p:nvSpPr>
        <p:spPr>
          <a:xfrm>
            <a:off x="11715750" y="2076450"/>
            <a:ext cx="352425" cy="3714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2475" b="1">
                <a:solidFill>
                  <a:srgbClr val="203544"/>
                </a:solidFill>
                <a:latin typeface="Arial"/>
                <a:ea typeface="Arial"/>
                <a:cs typeface="Arial"/>
              </a:defRPr>
            </a:pPr>
            <a:r>
              <a:rPr sz="2475" b="1">
                <a:solidFill>
                  <a:srgbClr val="203544"/>
                </a:solidFill>
                <a:latin typeface="Arial"/>
                <a:ea typeface="Arial"/>
                <a:cs typeface="Arial"/>
              </a:rPr>
              <a:t>c</a:t>
            </a:r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6D6583E1-7CA9-45F4-872E-274925639CDC}"/>
              </a:ext>
            </a:extLst>
          </p:cNvPr>
          <p:cNvSpPr>
            <a:spLocks noGrp="1"/>
          </p:cNvSpPr>
          <p:nvPr/>
        </p:nvSpPr>
        <p:spPr>
          <a:xfrm>
            <a:off x="12134850" y="2085975"/>
            <a:ext cx="4152900" cy="3714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2325" b="0">
                <a:solidFill>
                  <a:srgbClr val="203544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203544"/>
                </a:solidFill>
                <a:latin typeface="Arial"/>
                <a:ea typeface="Arial"/>
                <a:cs typeface="Arial"/>
              </a:rPr>
              <a:t>GT receptor (reference)</a:t>
            </a:r>
          </a:p>
        </p:txBody>
      </p:sp>
      <p:pic>
        <p:nvPicPr>
          <p:cNvPr id="125" name="global_gt" descr="30GA global_gt; native ChimeraX; source C:\Users\15919\Desktop\论文草稿\画图\formal\E2E_flow_20261003\30ga\renders\global_gt.png; editable crop only"/>
          <p:cNvPicPr>
            <a:picLocks noChangeAspect="1"/>
          </p:cNvPicPr>
          <p:nvPr/>
        </p:nvPicPr>
        <p:blipFill>
          <a:blip r:embed="rId6"/>
          <a:srcRect l="25424" t="11120" r="24556" b="6217"/>
          <a:stretch>
            <a:fillRect/>
          </a:stretch>
        </p:blipFill>
        <p:spPr>
          <a:xfrm>
            <a:off x="12849021" y="2476500"/>
            <a:ext cx="2305458" cy="2857500"/>
          </a:xfrm>
          <a:prstGeom prst="rect">
            <a:avLst/>
          </a:prstGeom>
        </p:spPr>
      </p:pic>
      <p:sp>
        <p:nvSpPr>
          <p:cNvPr id="25" name="矩形 24">
            <a:extLst>
              <a:ext uri="{FF2B5EF4-FFF2-40B4-BE49-F238E27FC236}">
                <a16:creationId xmlns:a16="http://schemas.microsoft.com/office/drawing/2014/main" id="{87E6E328-4738-4412-A529-471133FC4ABD}"/>
              </a:ext>
            </a:extLst>
          </p:cNvPr>
          <p:cNvSpPr>
            <a:spLocks noGrp="1"/>
          </p:cNvSpPr>
          <p:nvPr/>
        </p:nvSpPr>
        <p:spPr>
          <a:xfrm>
            <a:off x="5181600" y="3419475"/>
            <a:ext cx="2114550" cy="4000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2250" b="1">
                <a:solidFill>
                  <a:srgbClr val="366755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366755"/>
                </a:solidFill>
                <a:latin typeface="Arial"/>
                <a:ea typeface="Arial"/>
                <a:cs typeface="Arial"/>
              </a:rPr>
              <a:t>CryoAtom2</a:t>
            </a:r>
          </a:p>
        </p:txBody>
      </p:sp>
      <p:sp>
        <p:nvSpPr>
          <p:cNvPr id="26" name="任意多边形: 形状 25">
            <a:extLst>
              <a:ext uri="{FF2B5EF4-FFF2-40B4-BE49-F238E27FC236}">
                <a16:creationId xmlns:a16="http://schemas.microsoft.com/office/drawing/2014/main" id="{2BF4537C-2576-4483-933F-DF4F340BA8BB}"/>
              </a:ext>
            </a:extLst>
          </p:cNvPr>
          <p:cNvSpPr>
            <a:spLocks noGrp="1"/>
          </p:cNvSpPr>
          <p:nvPr/>
        </p:nvSpPr>
        <p:spPr>
          <a:xfrm>
            <a:off x="5286375" y="3905250"/>
            <a:ext cx="2019300" cy="953"/>
          </a:xfrm>
          <a:custGeom>
            <a:avLst/>
            <a:gdLst/>
            <a:ahLst/>
            <a:cxnLst/>
            <a:rect l="0" t="0" r="0" b="0"/>
            <a:pathLst>
              <a:path w="2019300" h="953">
                <a:moveTo>
                  <a:pt x="0" y="0"/>
                </a:moveTo>
                <a:lnTo>
                  <a:pt x="2019300" y="0"/>
                </a:lnTo>
              </a:path>
            </a:pathLst>
          </a:custGeom>
          <a:noFill/>
          <a:ln w="38100">
            <a:solidFill>
              <a:srgbClr val="366755"/>
            </a:solidFill>
          </a:ln>
        </p:spPr>
      </p:sp>
      <p:sp>
        <p:nvSpPr>
          <p:cNvPr id="27" name="任意多边形: 形状 26">
            <a:extLst>
              <a:ext uri="{FF2B5EF4-FFF2-40B4-BE49-F238E27FC236}">
                <a16:creationId xmlns:a16="http://schemas.microsoft.com/office/drawing/2014/main" id="{CD493BF1-9F92-4EDD-9A19-19DF06665B49}"/>
              </a:ext>
            </a:extLst>
          </p:cNvPr>
          <p:cNvSpPr>
            <a:spLocks noGrp="1"/>
          </p:cNvSpPr>
          <p:nvPr/>
        </p:nvSpPr>
        <p:spPr>
          <a:xfrm>
            <a:off x="7162800" y="3810000"/>
            <a:ext cx="142875" cy="95250"/>
          </a:xfrm>
          <a:custGeom>
            <a:avLst/>
            <a:gdLst/>
            <a:ahLst/>
            <a:cxnLst/>
            <a:rect l="0" t="0" r="0" b="0"/>
            <a:pathLst>
              <a:path w="142875" h="95250">
                <a:moveTo>
                  <a:pt x="0" y="0"/>
                </a:moveTo>
                <a:lnTo>
                  <a:pt x="142875" y="95250"/>
                </a:lnTo>
              </a:path>
            </a:pathLst>
          </a:custGeom>
          <a:noFill/>
          <a:ln w="38100">
            <a:solidFill>
              <a:srgbClr val="366755"/>
            </a:solidFill>
          </a:ln>
        </p:spPr>
      </p:sp>
      <p:sp>
        <p:nvSpPr>
          <p:cNvPr id="28" name="任意多边形: 形状 27">
            <a:extLst>
              <a:ext uri="{FF2B5EF4-FFF2-40B4-BE49-F238E27FC236}">
                <a16:creationId xmlns:a16="http://schemas.microsoft.com/office/drawing/2014/main" id="{BDA41FE7-F222-49CB-ADD4-3096DBC1306F}"/>
              </a:ext>
            </a:extLst>
          </p:cNvPr>
          <p:cNvSpPr>
            <a:spLocks noGrp="1"/>
          </p:cNvSpPr>
          <p:nvPr/>
        </p:nvSpPr>
        <p:spPr>
          <a:xfrm>
            <a:off x="7162800" y="3905250"/>
            <a:ext cx="142875" cy="95250"/>
          </a:xfrm>
          <a:custGeom>
            <a:avLst/>
            <a:gdLst/>
            <a:ahLst/>
            <a:cxnLst/>
            <a:rect l="0" t="0" r="0" b="0"/>
            <a:pathLst>
              <a:path w="142875" h="95250">
                <a:moveTo>
                  <a:pt x="0" y="95250"/>
                </a:moveTo>
                <a:lnTo>
                  <a:pt x="142875" y="0"/>
                </a:lnTo>
              </a:path>
            </a:pathLst>
          </a:custGeom>
          <a:noFill/>
          <a:ln w="38100">
            <a:solidFill>
              <a:srgbClr val="366755"/>
            </a:solidFill>
          </a:ln>
        </p:spPr>
      </p:sp>
      <p:sp>
        <p:nvSpPr>
          <p:cNvPr id="29" name="任意多边形: 形状 28">
            <a:extLst>
              <a:ext uri="{FF2B5EF4-FFF2-40B4-BE49-F238E27FC236}">
                <a16:creationId xmlns:a16="http://schemas.microsoft.com/office/drawing/2014/main" id="{539AEACA-8243-4079-B759-C6A93A9DA634}"/>
              </a:ext>
            </a:extLst>
          </p:cNvPr>
          <p:cNvSpPr>
            <a:spLocks noGrp="1"/>
          </p:cNvSpPr>
          <p:nvPr/>
        </p:nvSpPr>
        <p:spPr>
          <a:xfrm>
            <a:off x="11430000" y="2000250"/>
            <a:ext cx="953" cy="104775"/>
          </a:xfrm>
          <a:custGeom>
            <a:avLst/>
            <a:gdLst/>
            <a:ahLst/>
            <a:cxnLst/>
            <a:rect l="0" t="0" r="0" b="0"/>
            <a:pathLst>
              <a:path w="953" h="104775">
                <a:moveTo>
                  <a:pt x="0" y="0"/>
                </a:moveTo>
                <a:lnTo>
                  <a:pt x="0" y="104775"/>
                </a:lnTo>
              </a:path>
            </a:pathLst>
          </a:custGeom>
          <a:noFill/>
          <a:ln w="19050">
            <a:solidFill>
              <a:srgbClr val="BDCDC6"/>
            </a:solidFill>
          </a:ln>
        </p:spPr>
      </p:sp>
      <p:sp>
        <p:nvSpPr>
          <p:cNvPr id="30" name="任意多边形: 形状 29">
            <a:extLst>
              <a:ext uri="{FF2B5EF4-FFF2-40B4-BE49-F238E27FC236}">
                <a16:creationId xmlns:a16="http://schemas.microsoft.com/office/drawing/2014/main" id="{65D5534F-D8FC-423A-8412-30C7195E7F3A}"/>
              </a:ext>
            </a:extLst>
          </p:cNvPr>
          <p:cNvSpPr>
            <a:spLocks noGrp="1"/>
          </p:cNvSpPr>
          <p:nvPr/>
        </p:nvSpPr>
        <p:spPr>
          <a:xfrm>
            <a:off x="11430000" y="2190750"/>
            <a:ext cx="953" cy="104775"/>
          </a:xfrm>
          <a:custGeom>
            <a:avLst/>
            <a:gdLst/>
            <a:ahLst/>
            <a:cxnLst/>
            <a:rect l="0" t="0" r="0" b="0"/>
            <a:pathLst>
              <a:path w="953" h="104775">
                <a:moveTo>
                  <a:pt x="0" y="0"/>
                </a:moveTo>
                <a:lnTo>
                  <a:pt x="0" y="104775"/>
                </a:lnTo>
              </a:path>
            </a:pathLst>
          </a:custGeom>
          <a:noFill/>
          <a:ln w="19050">
            <a:solidFill>
              <a:srgbClr val="BDCDC6"/>
            </a:solidFill>
          </a:ln>
        </p:spPr>
      </p:sp>
      <p:sp>
        <p:nvSpPr>
          <p:cNvPr id="31" name="任意多边形: 形状 30">
            <a:extLst>
              <a:ext uri="{FF2B5EF4-FFF2-40B4-BE49-F238E27FC236}">
                <a16:creationId xmlns:a16="http://schemas.microsoft.com/office/drawing/2014/main" id="{24D76DA2-E76D-4436-98FA-3BE95CAC1C00}"/>
              </a:ext>
            </a:extLst>
          </p:cNvPr>
          <p:cNvSpPr>
            <a:spLocks noGrp="1"/>
          </p:cNvSpPr>
          <p:nvPr/>
        </p:nvSpPr>
        <p:spPr>
          <a:xfrm>
            <a:off x="11430000" y="2381250"/>
            <a:ext cx="953" cy="104775"/>
          </a:xfrm>
          <a:custGeom>
            <a:avLst/>
            <a:gdLst/>
            <a:ahLst/>
            <a:cxnLst/>
            <a:rect l="0" t="0" r="0" b="0"/>
            <a:pathLst>
              <a:path w="953" h="104775">
                <a:moveTo>
                  <a:pt x="0" y="0"/>
                </a:moveTo>
                <a:lnTo>
                  <a:pt x="0" y="104775"/>
                </a:lnTo>
              </a:path>
            </a:pathLst>
          </a:custGeom>
          <a:noFill/>
          <a:ln w="19050">
            <a:solidFill>
              <a:srgbClr val="BDCDC6"/>
            </a:solidFill>
          </a:ln>
        </p:spPr>
      </p:sp>
      <p:sp>
        <p:nvSpPr>
          <p:cNvPr id="32" name="任意多边形: 形状 31">
            <a:extLst>
              <a:ext uri="{FF2B5EF4-FFF2-40B4-BE49-F238E27FC236}">
                <a16:creationId xmlns:a16="http://schemas.microsoft.com/office/drawing/2014/main" id="{B9F2CDDA-AAE3-47A0-9462-272DFA93C2D3}"/>
              </a:ext>
            </a:extLst>
          </p:cNvPr>
          <p:cNvSpPr>
            <a:spLocks noGrp="1"/>
          </p:cNvSpPr>
          <p:nvPr/>
        </p:nvSpPr>
        <p:spPr>
          <a:xfrm>
            <a:off x="11430000" y="2571750"/>
            <a:ext cx="953" cy="104775"/>
          </a:xfrm>
          <a:custGeom>
            <a:avLst/>
            <a:gdLst/>
            <a:ahLst/>
            <a:cxnLst/>
            <a:rect l="0" t="0" r="0" b="0"/>
            <a:pathLst>
              <a:path w="953" h="104775">
                <a:moveTo>
                  <a:pt x="0" y="0"/>
                </a:moveTo>
                <a:lnTo>
                  <a:pt x="0" y="104775"/>
                </a:lnTo>
              </a:path>
            </a:pathLst>
          </a:custGeom>
          <a:noFill/>
          <a:ln w="19050">
            <a:solidFill>
              <a:srgbClr val="BDCDC6"/>
            </a:solidFill>
          </a:ln>
        </p:spPr>
      </p:sp>
      <p:sp>
        <p:nvSpPr>
          <p:cNvPr id="33" name="任意多边形: 形状 32">
            <a:extLst>
              <a:ext uri="{FF2B5EF4-FFF2-40B4-BE49-F238E27FC236}">
                <a16:creationId xmlns:a16="http://schemas.microsoft.com/office/drawing/2014/main" id="{880538F2-5DF9-4FAE-B986-7681B3811442}"/>
              </a:ext>
            </a:extLst>
          </p:cNvPr>
          <p:cNvSpPr>
            <a:spLocks noGrp="1"/>
          </p:cNvSpPr>
          <p:nvPr/>
        </p:nvSpPr>
        <p:spPr>
          <a:xfrm>
            <a:off x="11430000" y="2762250"/>
            <a:ext cx="953" cy="104775"/>
          </a:xfrm>
          <a:custGeom>
            <a:avLst/>
            <a:gdLst/>
            <a:ahLst/>
            <a:cxnLst/>
            <a:rect l="0" t="0" r="0" b="0"/>
            <a:pathLst>
              <a:path w="953" h="104775">
                <a:moveTo>
                  <a:pt x="0" y="0"/>
                </a:moveTo>
                <a:lnTo>
                  <a:pt x="0" y="104775"/>
                </a:lnTo>
              </a:path>
            </a:pathLst>
          </a:custGeom>
          <a:noFill/>
          <a:ln w="19050">
            <a:solidFill>
              <a:srgbClr val="BDCDC6"/>
            </a:solidFill>
          </a:ln>
        </p:spPr>
      </p:sp>
      <p:sp>
        <p:nvSpPr>
          <p:cNvPr id="34" name="任意多边形: 形状 33">
            <a:extLst>
              <a:ext uri="{FF2B5EF4-FFF2-40B4-BE49-F238E27FC236}">
                <a16:creationId xmlns:a16="http://schemas.microsoft.com/office/drawing/2014/main" id="{EB2F8EC0-2BFB-4845-948D-8B1709C2E81E}"/>
              </a:ext>
            </a:extLst>
          </p:cNvPr>
          <p:cNvSpPr>
            <a:spLocks noGrp="1"/>
          </p:cNvSpPr>
          <p:nvPr/>
        </p:nvSpPr>
        <p:spPr>
          <a:xfrm>
            <a:off x="11430000" y="2952750"/>
            <a:ext cx="953" cy="104775"/>
          </a:xfrm>
          <a:custGeom>
            <a:avLst/>
            <a:gdLst/>
            <a:ahLst/>
            <a:cxnLst/>
            <a:rect l="0" t="0" r="0" b="0"/>
            <a:pathLst>
              <a:path w="953" h="104775">
                <a:moveTo>
                  <a:pt x="0" y="0"/>
                </a:moveTo>
                <a:lnTo>
                  <a:pt x="0" y="104775"/>
                </a:lnTo>
              </a:path>
            </a:pathLst>
          </a:custGeom>
          <a:noFill/>
          <a:ln w="19050">
            <a:solidFill>
              <a:srgbClr val="BDCDC6"/>
            </a:solidFill>
          </a:ln>
        </p:spPr>
      </p:sp>
      <p:sp>
        <p:nvSpPr>
          <p:cNvPr id="35" name="任意多边形: 形状 34">
            <a:extLst>
              <a:ext uri="{FF2B5EF4-FFF2-40B4-BE49-F238E27FC236}">
                <a16:creationId xmlns:a16="http://schemas.microsoft.com/office/drawing/2014/main" id="{45B4427B-B22F-4BB1-B18B-71601E2B1BF6}"/>
              </a:ext>
            </a:extLst>
          </p:cNvPr>
          <p:cNvSpPr>
            <a:spLocks noGrp="1"/>
          </p:cNvSpPr>
          <p:nvPr/>
        </p:nvSpPr>
        <p:spPr>
          <a:xfrm>
            <a:off x="11430000" y="3143250"/>
            <a:ext cx="953" cy="104775"/>
          </a:xfrm>
          <a:custGeom>
            <a:avLst/>
            <a:gdLst/>
            <a:ahLst/>
            <a:cxnLst/>
            <a:rect l="0" t="0" r="0" b="0"/>
            <a:pathLst>
              <a:path w="953" h="104775">
                <a:moveTo>
                  <a:pt x="0" y="0"/>
                </a:moveTo>
                <a:lnTo>
                  <a:pt x="0" y="104775"/>
                </a:lnTo>
              </a:path>
            </a:pathLst>
          </a:custGeom>
          <a:noFill/>
          <a:ln w="19050">
            <a:solidFill>
              <a:srgbClr val="BDCDC6"/>
            </a:solidFill>
          </a:ln>
        </p:spPr>
      </p:sp>
      <p:sp>
        <p:nvSpPr>
          <p:cNvPr id="36" name="任意多边形: 形状 35">
            <a:extLst>
              <a:ext uri="{FF2B5EF4-FFF2-40B4-BE49-F238E27FC236}">
                <a16:creationId xmlns:a16="http://schemas.microsoft.com/office/drawing/2014/main" id="{77A30840-12BD-44D2-B730-F2D2AE4A9846}"/>
              </a:ext>
            </a:extLst>
          </p:cNvPr>
          <p:cNvSpPr>
            <a:spLocks noGrp="1"/>
          </p:cNvSpPr>
          <p:nvPr/>
        </p:nvSpPr>
        <p:spPr>
          <a:xfrm>
            <a:off x="11430000" y="3333750"/>
            <a:ext cx="953" cy="104775"/>
          </a:xfrm>
          <a:custGeom>
            <a:avLst/>
            <a:gdLst/>
            <a:ahLst/>
            <a:cxnLst/>
            <a:rect l="0" t="0" r="0" b="0"/>
            <a:pathLst>
              <a:path w="953" h="104775">
                <a:moveTo>
                  <a:pt x="0" y="0"/>
                </a:moveTo>
                <a:lnTo>
                  <a:pt x="0" y="104775"/>
                </a:lnTo>
              </a:path>
            </a:pathLst>
          </a:custGeom>
          <a:noFill/>
          <a:ln w="19050">
            <a:solidFill>
              <a:srgbClr val="BDCDC6"/>
            </a:solidFill>
          </a:ln>
        </p:spPr>
      </p:sp>
      <p:sp>
        <p:nvSpPr>
          <p:cNvPr id="37" name="任意多边形: 形状 36">
            <a:extLst>
              <a:ext uri="{FF2B5EF4-FFF2-40B4-BE49-F238E27FC236}">
                <a16:creationId xmlns:a16="http://schemas.microsoft.com/office/drawing/2014/main" id="{BA7DD094-BA65-4173-84D9-598B175A6E3F}"/>
              </a:ext>
            </a:extLst>
          </p:cNvPr>
          <p:cNvSpPr>
            <a:spLocks noGrp="1"/>
          </p:cNvSpPr>
          <p:nvPr/>
        </p:nvSpPr>
        <p:spPr>
          <a:xfrm>
            <a:off x="11430000" y="3524250"/>
            <a:ext cx="953" cy="104775"/>
          </a:xfrm>
          <a:custGeom>
            <a:avLst/>
            <a:gdLst/>
            <a:ahLst/>
            <a:cxnLst/>
            <a:rect l="0" t="0" r="0" b="0"/>
            <a:pathLst>
              <a:path w="953" h="104775">
                <a:moveTo>
                  <a:pt x="0" y="0"/>
                </a:moveTo>
                <a:lnTo>
                  <a:pt x="0" y="104775"/>
                </a:lnTo>
              </a:path>
            </a:pathLst>
          </a:custGeom>
          <a:noFill/>
          <a:ln w="19050">
            <a:solidFill>
              <a:srgbClr val="BDCDC6"/>
            </a:solidFill>
          </a:ln>
        </p:spPr>
      </p:sp>
      <p:sp>
        <p:nvSpPr>
          <p:cNvPr id="38" name="任意多边形: 形状 37">
            <a:extLst>
              <a:ext uri="{FF2B5EF4-FFF2-40B4-BE49-F238E27FC236}">
                <a16:creationId xmlns:a16="http://schemas.microsoft.com/office/drawing/2014/main" id="{166502B7-08A4-46B1-875B-F674E1B7F7E1}"/>
              </a:ext>
            </a:extLst>
          </p:cNvPr>
          <p:cNvSpPr>
            <a:spLocks noGrp="1"/>
          </p:cNvSpPr>
          <p:nvPr/>
        </p:nvSpPr>
        <p:spPr>
          <a:xfrm>
            <a:off x="11430000" y="3714750"/>
            <a:ext cx="953" cy="104775"/>
          </a:xfrm>
          <a:custGeom>
            <a:avLst/>
            <a:gdLst/>
            <a:ahLst/>
            <a:cxnLst/>
            <a:rect l="0" t="0" r="0" b="0"/>
            <a:pathLst>
              <a:path w="953" h="104775">
                <a:moveTo>
                  <a:pt x="0" y="0"/>
                </a:moveTo>
                <a:lnTo>
                  <a:pt x="0" y="104775"/>
                </a:lnTo>
              </a:path>
            </a:pathLst>
          </a:custGeom>
          <a:noFill/>
          <a:ln w="19050">
            <a:solidFill>
              <a:srgbClr val="BDCDC6"/>
            </a:solidFill>
          </a:ln>
        </p:spPr>
      </p:sp>
      <p:sp>
        <p:nvSpPr>
          <p:cNvPr id="39" name="任意多边形: 形状 38">
            <a:extLst>
              <a:ext uri="{FF2B5EF4-FFF2-40B4-BE49-F238E27FC236}">
                <a16:creationId xmlns:a16="http://schemas.microsoft.com/office/drawing/2014/main" id="{95594F54-DD9D-4B0C-9923-93482A862814}"/>
              </a:ext>
            </a:extLst>
          </p:cNvPr>
          <p:cNvSpPr>
            <a:spLocks noGrp="1"/>
          </p:cNvSpPr>
          <p:nvPr/>
        </p:nvSpPr>
        <p:spPr>
          <a:xfrm>
            <a:off x="11430000" y="3905250"/>
            <a:ext cx="953" cy="104775"/>
          </a:xfrm>
          <a:custGeom>
            <a:avLst/>
            <a:gdLst/>
            <a:ahLst/>
            <a:cxnLst/>
            <a:rect l="0" t="0" r="0" b="0"/>
            <a:pathLst>
              <a:path w="953" h="104775">
                <a:moveTo>
                  <a:pt x="0" y="0"/>
                </a:moveTo>
                <a:lnTo>
                  <a:pt x="0" y="104775"/>
                </a:lnTo>
              </a:path>
            </a:pathLst>
          </a:custGeom>
          <a:noFill/>
          <a:ln w="19050">
            <a:solidFill>
              <a:srgbClr val="BDCDC6"/>
            </a:solidFill>
          </a:ln>
        </p:spPr>
      </p:sp>
      <p:sp>
        <p:nvSpPr>
          <p:cNvPr id="40" name="任意多边形: 形状 39">
            <a:extLst>
              <a:ext uri="{FF2B5EF4-FFF2-40B4-BE49-F238E27FC236}">
                <a16:creationId xmlns:a16="http://schemas.microsoft.com/office/drawing/2014/main" id="{5BFF7372-E0CF-444A-8D93-78A8A563390E}"/>
              </a:ext>
            </a:extLst>
          </p:cNvPr>
          <p:cNvSpPr>
            <a:spLocks noGrp="1"/>
          </p:cNvSpPr>
          <p:nvPr/>
        </p:nvSpPr>
        <p:spPr>
          <a:xfrm>
            <a:off x="11430000" y="4095750"/>
            <a:ext cx="953" cy="104775"/>
          </a:xfrm>
          <a:custGeom>
            <a:avLst/>
            <a:gdLst/>
            <a:ahLst/>
            <a:cxnLst/>
            <a:rect l="0" t="0" r="0" b="0"/>
            <a:pathLst>
              <a:path w="953" h="104775">
                <a:moveTo>
                  <a:pt x="0" y="0"/>
                </a:moveTo>
                <a:lnTo>
                  <a:pt x="0" y="104775"/>
                </a:lnTo>
              </a:path>
            </a:pathLst>
          </a:custGeom>
          <a:noFill/>
          <a:ln w="19050">
            <a:solidFill>
              <a:srgbClr val="BDCDC6"/>
            </a:solidFill>
          </a:ln>
        </p:spPr>
      </p:sp>
      <p:sp>
        <p:nvSpPr>
          <p:cNvPr id="41" name="任意多边形: 形状 40">
            <a:extLst>
              <a:ext uri="{FF2B5EF4-FFF2-40B4-BE49-F238E27FC236}">
                <a16:creationId xmlns:a16="http://schemas.microsoft.com/office/drawing/2014/main" id="{25EEBEC1-13EC-4391-BA1B-87B3B7421C09}"/>
              </a:ext>
            </a:extLst>
          </p:cNvPr>
          <p:cNvSpPr>
            <a:spLocks noGrp="1"/>
          </p:cNvSpPr>
          <p:nvPr/>
        </p:nvSpPr>
        <p:spPr>
          <a:xfrm>
            <a:off x="11430000" y="4286250"/>
            <a:ext cx="953" cy="104775"/>
          </a:xfrm>
          <a:custGeom>
            <a:avLst/>
            <a:gdLst/>
            <a:ahLst/>
            <a:cxnLst/>
            <a:rect l="0" t="0" r="0" b="0"/>
            <a:pathLst>
              <a:path w="953" h="104775">
                <a:moveTo>
                  <a:pt x="0" y="0"/>
                </a:moveTo>
                <a:lnTo>
                  <a:pt x="0" y="104775"/>
                </a:lnTo>
              </a:path>
            </a:pathLst>
          </a:custGeom>
          <a:noFill/>
          <a:ln w="19050">
            <a:solidFill>
              <a:srgbClr val="BDCDC6"/>
            </a:solidFill>
          </a:ln>
        </p:spPr>
      </p:sp>
      <p:sp>
        <p:nvSpPr>
          <p:cNvPr id="42" name="任意多边形: 形状 41">
            <a:extLst>
              <a:ext uri="{FF2B5EF4-FFF2-40B4-BE49-F238E27FC236}">
                <a16:creationId xmlns:a16="http://schemas.microsoft.com/office/drawing/2014/main" id="{FC8B96E8-2F48-421E-A13A-55BD80591209}"/>
              </a:ext>
            </a:extLst>
          </p:cNvPr>
          <p:cNvSpPr>
            <a:spLocks noGrp="1"/>
          </p:cNvSpPr>
          <p:nvPr/>
        </p:nvSpPr>
        <p:spPr>
          <a:xfrm>
            <a:off x="11430000" y="4476750"/>
            <a:ext cx="953" cy="104775"/>
          </a:xfrm>
          <a:custGeom>
            <a:avLst/>
            <a:gdLst/>
            <a:ahLst/>
            <a:cxnLst/>
            <a:rect l="0" t="0" r="0" b="0"/>
            <a:pathLst>
              <a:path w="953" h="104775">
                <a:moveTo>
                  <a:pt x="0" y="0"/>
                </a:moveTo>
                <a:lnTo>
                  <a:pt x="0" y="104775"/>
                </a:lnTo>
              </a:path>
            </a:pathLst>
          </a:custGeom>
          <a:noFill/>
          <a:ln w="19050">
            <a:solidFill>
              <a:srgbClr val="BDCDC6"/>
            </a:solidFill>
          </a:ln>
        </p:spPr>
      </p:sp>
      <p:sp>
        <p:nvSpPr>
          <p:cNvPr id="43" name="任意多边形: 形状 42">
            <a:extLst>
              <a:ext uri="{FF2B5EF4-FFF2-40B4-BE49-F238E27FC236}">
                <a16:creationId xmlns:a16="http://schemas.microsoft.com/office/drawing/2014/main" id="{53705AE6-DB6A-40FB-8515-8DDCB54E85B9}"/>
              </a:ext>
            </a:extLst>
          </p:cNvPr>
          <p:cNvSpPr>
            <a:spLocks noGrp="1"/>
          </p:cNvSpPr>
          <p:nvPr/>
        </p:nvSpPr>
        <p:spPr>
          <a:xfrm>
            <a:off x="11430000" y="4667250"/>
            <a:ext cx="953" cy="104775"/>
          </a:xfrm>
          <a:custGeom>
            <a:avLst/>
            <a:gdLst/>
            <a:ahLst/>
            <a:cxnLst/>
            <a:rect l="0" t="0" r="0" b="0"/>
            <a:pathLst>
              <a:path w="953" h="104775">
                <a:moveTo>
                  <a:pt x="0" y="0"/>
                </a:moveTo>
                <a:lnTo>
                  <a:pt x="0" y="104775"/>
                </a:lnTo>
              </a:path>
            </a:pathLst>
          </a:custGeom>
          <a:noFill/>
          <a:ln w="19050">
            <a:solidFill>
              <a:srgbClr val="BDCDC6"/>
            </a:solidFill>
          </a:ln>
        </p:spPr>
      </p:sp>
      <p:sp>
        <p:nvSpPr>
          <p:cNvPr id="44" name="任意多边形: 形状 43">
            <a:extLst>
              <a:ext uri="{FF2B5EF4-FFF2-40B4-BE49-F238E27FC236}">
                <a16:creationId xmlns:a16="http://schemas.microsoft.com/office/drawing/2014/main" id="{A98A5839-C716-4F82-B577-B16AA10148A4}"/>
              </a:ext>
            </a:extLst>
          </p:cNvPr>
          <p:cNvSpPr>
            <a:spLocks noGrp="1"/>
          </p:cNvSpPr>
          <p:nvPr/>
        </p:nvSpPr>
        <p:spPr>
          <a:xfrm>
            <a:off x="11430000" y="4857750"/>
            <a:ext cx="953" cy="104775"/>
          </a:xfrm>
          <a:custGeom>
            <a:avLst/>
            <a:gdLst/>
            <a:ahLst/>
            <a:cxnLst/>
            <a:rect l="0" t="0" r="0" b="0"/>
            <a:pathLst>
              <a:path w="953" h="104775">
                <a:moveTo>
                  <a:pt x="0" y="0"/>
                </a:moveTo>
                <a:lnTo>
                  <a:pt x="0" y="104775"/>
                </a:lnTo>
              </a:path>
            </a:pathLst>
          </a:custGeom>
          <a:noFill/>
          <a:ln w="19050">
            <a:solidFill>
              <a:srgbClr val="BDCDC6"/>
            </a:solidFill>
          </a:ln>
        </p:spPr>
      </p:sp>
      <p:sp>
        <p:nvSpPr>
          <p:cNvPr id="45" name="任意多边形: 形状 44">
            <a:extLst>
              <a:ext uri="{FF2B5EF4-FFF2-40B4-BE49-F238E27FC236}">
                <a16:creationId xmlns:a16="http://schemas.microsoft.com/office/drawing/2014/main" id="{E1C5BA98-5179-4A91-B24C-396790C51645}"/>
              </a:ext>
            </a:extLst>
          </p:cNvPr>
          <p:cNvSpPr>
            <a:spLocks noGrp="1"/>
          </p:cNvSpPr>
          <p:nvPr/>
        </p:nvSpPr>
        <p:spPr>
          <a:xfrm>
            <a:off x="11430000" y="5048250"/>
            <a:ext cx="953" cy="104775"/>
          </a:xfrm>
          <a:custGeom>
            <a:avLst/>
            <a:gdLst/>
            <a:ahLst/>
            <a:cxnLst/>
            <a:rect l="0" t="0" r="0" b="0"/>
            <a:pathLst>
              <a:path w="953" h="104775">
                <a:moveTo>
                  <a:pt x="0" y="0"/>
                </a:moveTo>
                <a:lnTo>
                  <a:pt x="0" y="104775"/>
                </a:lnTo>
              </a:path>
            </a:pathLst>
          </a:custGeom>
          <a:noFill/>
          <a:ln w="19050">
            <a:solidFill>
              <a:srgbClr val="BDCDC6"/>
            </a:solidFill>
          </a:ln>
        </p:spPr>
      </p:sp>
      <p:sp>
        <p:nvSpPr>
          <p:cNvPr id="46" name="任意多边形: 形状 45">
            <a:extLst>
              <a:ext uri="{FF2B5EF4-FFF2-40B4-BE49-F238E27FC236}">
                <a16:creationId xmlns:a16="http://schemas.microsoft.com/office/drawing/2014/main" id="{BB01C76C-189B-4729-91AA-C7C12216E2C4}"/>
              </a:ext>
            </a:extLst>
          </p:cNvPr>
          <p:cNvSpPr>
            <a:spLocks noGrp="1"/>
          </p:cNvSpPr>
          <p:nvPr/>
        </p:nvSpPr>
        <p:spPr>
          <a:xfrm>
            <a:off x="11430000" y="5238750"/>
            <a:ext cx="953" cy="104775"/>
          </a:xfrm>
          <a:custGeom>
            <a:avLst/>
            <a:gdLst/>
            <a:ahLst/>
            <a:cxnLst/>
            <a:rect l="0" t="0" r="0" b="0"/>
            <a:pathLst>
              <a:path w="953" h="104775">
                <a:moveTo>
                  <a:pt x="0" y="0"/>
                </a:moveTo>
                <a:lnTo>
                  <a:pt x="0" y="104775"/>
                </a:lnTo>
              </a:path>
            </a:pathLst>
          </a:custGeom>
          <a:noFill/>
          <a:ln w="19050">
            <a:solidFill>
              <a:srgbClr val="BDCDC6"/>
            </a:solidFill>
          </a:ln>
        </p:spPr>
      </p:sp>
      <p:sp>
        <p:nvSpPr>
          <p:cNvPr id="47" name="椭圆 46">
            <a:extLst>
              <a:ext uri="{FF2B5EF4-FFF2-40B4-BE49-F238E27FC236}">
                <a16:creationId xmlns:a16="http://schemas.microsoft.com/office/drawing/2014/main" id="{D1562659-307B-4F60-AC2C-9C5A777FDBC7}"/>
              </a:ext>
            </a:extLst>
          </p:cNvPr>
          <p:cNvSpPr>
            <a:spLocks noGrp="1"/>
          </p:cNvSpPr>
          <p:nvPr/>
        </p:nvSpPr>
        <p:spPr>
          <a:xfrm>
            <a:off x="361950" y="5524500"/>
            <a:ext cx="476250" cy="476250"/>
          </a:xfrm>
          <a:prstGeom prst="ellipse">
            <a:avLst/>
          </a:prstGeom>
          <a:solidFill>
            <a:srgbClr val="366755"/>
          </a:solidFill>
          <a:ln w="0">
            <a:noFill/>
          </a:ln>
        </p:spPr>
        <p:txBody>
          <a:bodyPr lIns="0" tIns="0" rIns="0" bIns="0" anchor="ctr"/>
          <a:lstStyle/>
          <a:p>
            <a:pPr algn="ctr">
              <a:defRPr sz="23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48" name="矩形 47">
            <a:extLst>
              <a:ext uri="{FF2B5EF4-FFF2-40B4-BE49-F238E27FC236}">
                <a16:creationId xmlns:a16="http://schemas.microsoft.com/office/drawing/2014/main" id="{E6A76CEC-A2E7-4487-9B91-E508C1C13232}"/>
              </a:ext>
            </a:extLst>
          </p:cNvPr>
          <p:cNvSpPr>
            <a:spLocks noGrp="1"/>
          </p:cNvSpPr>
          <p:nvPr/>
        </p:nvSpPr>
        <p:spPr>
          <a:xfrm>
            <a:off x="1238250" y="5543550"/>
            <a:ext cx="2000250" cy="4572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2850" b="1">
                <a:solidFill>
                  <a:srgbClr val="366755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366755"/>
                </a:solidFill>
                <a:latin typeface="Arial"/>
                <a:ea typeface="Arial"/>
                <a:cs typeface="Arial"/>
              </a:rPr>
              <a:t>Find</a:t>
            </a:r>
          </a:p>
        </p:txBody>
      </p:sp>
      <p:sp>
        <p:nvSpPr>
          <p:cNvPr id="49" name="矩形 48">
            <a:extLst>
              <a:ext uri="{FF2B5EF4-FFF2-40B4-BE49-F238E27FC236}">
                <a16:creationId xmlns:a16="http://schemas.microsoft.com/office/drawing/2014/main" id="{892DA808-51EA-4865-BC46-929E70576535}"/>
              </a:ext>
            </a:extLst>
          </p:cNvPr>
          <p:cNvSpPr>
            <a:spLocks noGrp="1"/>
          </p:cNvSpPr>
          <p:nvPr/>
        </p:nvSpPr>
        <p:spPr>
          <a:xfrm>
            <a:off x="3524250" y="5572125"/>
            <a:ext cx="12715875" cy="4000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2325" b="0">
                <a:solidFill>
                  <a:srgbClr val="60717A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60717A"/>
                </a:solidFill>
                <a:latin typeface="Arial"/>
                <a:ea typeface="Arial"/>
                <a:cs typeface="Arial"/>
              </a:rPr>
              <a:t>Locating candidate ligand regions in the experimental map</a:t>
            </a:r>
          </a:p>
        </p:txBody>
      </p:sp>
      <p:sp>
        <p:nvSpPr>
          <p:cNvPr id="50" name="任意多边形: 形状 49">
            <a:extLst>
              <a:ext uri="{FF2B5EF4-FFF2-40B4-BE49-F238E27FC236}">
                <a16:creationId xmlns:a16="http://schemas.microsoft.com/office/drawing/2014/main" id="{77917790-EB56-4FAC-9A03-02D9ACA39AA4}"/>
              </a:ext>
            </a:extLst>
          </p:cNvPr>
          <p:cNvSpPr>
            <a:spLocks noGrp="1"/>
          </p:cNvSpPr>
          <p:nvPr/>
        </p:nvSpPr>
        <p:spPr>
          <a:xfrm>
            <a:off x="1238250" y="6105525"/>
            <a:ext cx="15049500" cy="953"/>
          </a:xfrm>
          <a:custGeom>
            <a:avLst/>
            <a:gdLst/>
            <a:ahLst/>
            <a:cxnLst/>
            <a:rect l="0" t="0" r="0" b="0"/>
            <a:pathLst>
              <a:path w="15049500" h="953">
                <a:moveTo>
                  <a:pt x="0" y="0"/>
                </a:moveTo>
                <a:lnTo>
                  <a:pt x="15049500" y="0"/>
                </a:lnTo>
              </a:path>
            </a:pathLst>
          </a:custGeom>
          <a:noFill/>
          <a:ln w="19050">
            <a:solidFill>
              <a:srgbClr val="E6EDEB"/>
            </a:solidFill>
          </a:ln>
        </p:spPr>
      </p:sp>
      <p:sp>
        <p:nvSpPr>
          <p:cNvPr id="51" name="矩形 50">
            <a:extLst>
              <a:ext uri="{FF2B5EF4-FFF2-40B4-BE49-F238E27FC236}">
                <a16:creationId xmlns:a16="http://schemas.microsoft.com/office/drawing/2014/main" id="{3104F452-3E22-4E00-9E1D-C0209BE7D7A1}"/>
              </a:ext>
            </a:extLst>
          </p:cNvPr>
          <p:cNvSpPr>
            <a:spLocks noGrp="1"/>
          </p:cNvSpPr>
          <p:nvPr/>
        </p:nvSpPr>
        <p:spPr>
          <a:xfrm>
            <a:off x="1238250" y="6248400"/>
            <a:ext cx="352425" cy="3714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2475" b="1">
                <a:solidFill>
                  <a:srgbClr val="203544"/>
                </a:solidFill>
                <a:latin typeface="Arial"/>
                <a:ea typeface="Arial"/>
                <a:cs typeface="Arial"/>
              </a:defRPr>
            </a:pPr>
            <a:r>
              <a:rPr sz="2475" b="1">
                <a:solidFill>
                  <a:srgbClr val="203544"/>
                </a:solidFill>
                <a:latin typeface="Arial"/>
                <a:ea typeface="Arial"/>
                <a:cs typeface="Arial"/>
              </a:rPr>
              <a:t>d</a:t>
            </a:r>
          </a:p>
        </p:txBody>
      </p:sp>
      <p:sp>
        <p:nvSpPr>
          <p:cNvPr id="52" name="矩形 51">
            <a:extLst>
              <a:ext uri="{FF2B5EF4-FFF2-40B4-BE49-F238E27FC236}">
                <a16:creationId xmlns:a16="http://schemas.microsoft.com/office/drawing/2014/main" id="{FC83A242-C727-44E5-A1CA-1DDD84E5B8F9}"/>
              </a:ext>
            </a:extLst>
          </p:cNvPr>
          <p:cNvSpPr>
            <a:spLocks noGrp="1"/>
          </p:cNvSpPr>
          <p:nvPr/>
        </p:nvSpPr>
        <p:spPr>
          <a:xfrm>
            <a:off x="1657350" y="6257925"/>
            <a:ext cx="5486400" cy="3714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2325" b="0">
                <a:solidFill>
                  <a:srgbClr val="203544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203544"/>
                </a:solidFill>
                <a:latin typeface="Arial"/>
                <a:ea typeface="Arial"/>
                <a:cs typeface="Arial"/>
              </a:rPr>
              <a:t>Global candidates</a:t>
            </a:r>
          </a:p>
        </p:txBody>
      </p:sp>
      <p:pic>
        <p:nvPicPr>
          <p:cNvPr id="154" name="global_find" descr="30GA global_find; native ChimeraX; source C:\Users\15919\Desktop\论文草稿\画图\formal\E2E_flow_v2_20261003\30ga\renders\global_find.png; editable crop only"/>
          <p:cNvPicPr>
            <a:picLocks noChangeAspect="1"/>
          </p:cNvPicPr>
          <p:nvPr/>
        </p:nvPicPr>
        <p:blipFill>
          <a:blip r:embed="rId7"/>
          <a:srcRect l="25424" t="11120" r="24658" b="6217"/>
          <a:stretch>
            <a:fillRect/>
          </a:stretch>
        </p:blipFill>
        <p:spPr>
          <a:xfrm>
            <a:off x="2542117" y="6715125"/>
            <a:ext cx="3297766" cy="4095750"/>
          </a:xfrm>
          <a:prstGeom prst="rect">
            <a:avLst/>
          </a:prstGeom>
        </p:spPr>
      </p:pic>
      <p:sp>
        <p:nvSpPr>
          <p:cNvPr id="54" name="target blob 1">
            <a:extLst>
              <a:ext uri="{FF2B5EF4-FFF2-40B4-BE49-F238E27FC236}">
                <a16:creationId xmlns:a16="http://schemas.microsoft.com/office/drawing/2014/main" id="{541B3D7D-B162-442D-8C0F-242ABB5F90B4}"/>
              </a:ext>
            </a:extLst>
          </p:cNvPr>
          <p:cNvSpPr>
            <a:spLocks noGrp="1"/>
          </p:cNvSpPr>
          <p:nvPr/>
        </p:nvSpPr>
        <p:spPr>
          <a:xfrm>
            <a:off x="3361109" y="8544216"/>
            <a:ext cx="425874" cy="391269"/>
          </a:xfrm>
          <a:prstGeom prst="rect">
            <a:avLst/>
          </a:prstGeom>
          <a:noFill/>
          <a:ln w="28575">
            <a:solidFill>
              <a:srgbClr val="E9983C"/>
            </a:solidFill>
          </a:ln>
        </p:spPr>
      </p:sp>
      <p:sp>
        <p:nvSpPr>
          <p:cNvPr id="55" name="background blob 0">
            <a:extLst>
              <a:ext uri="{FF2B5EF4-FFF2-40B4-BE49-F238E27FC236}">
                <a16:creationId xmlns:a16="http://schemas.microsoft.com/office/drawing/2014/main" id="{6FDB48F2-821F-4B97-902A-9BFD07FC0807}"/>
              </a:ext>
            </a:extLst>
          </p:cNvPr>
          <p:cNvSpPr>
            <a:spLocks noGrp="1"/>
          </p:cNvSpPr>
          <p:nvPr/>
        </p:nvSpPr>
        <p:spPr>
          <a:xfrm>
            <a:off x="3583277" y="7764066"/>
            <a:ext cx="367019" cy="367019"/>
          </a:xfrm>
          <a:prstGeom prst="rect">
            <a:avLst/>
          </a:prstGeom>
          <a:noFill/>
          <a:ln w="28575">
            <a:solidFill>
              <a:srgbClr val="9F87A9"/>
            </a:solidFill>
          </a:ln>
        </p:spPr>
      </p:sp>
      <p:sp>
        <p:nvSpPr>
          <p:cNvPr id="56" name="矩形 55">
            <a:extLst>
              <a:ext uri="{FF2B5EF4-FFF2-40B4-BE49-F238E27FC236}">
                <a16:creationId xmlns:a16="http://schemas.microsoft.com/office/drawing/2014/main" id="{38F7FF78-C683-4F24-BBB2-B1EF0C215456}"/>
              </a:ext>
            </a:extLst>
          </p:cNvPr>
          <p:cNvSpPr>
            <a:spLocks noGrp="1"/>
          </p:cNvSpPr>
          <p:nvPr/>
        </p:nvSpPr>
        <p:spPr>
          <a:xfrm>
            <a:off x="7905750" y="6248400"/>
            <a:ext cx="352425" cy="3714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2475" b="1">
                <a:solidFill>
                  <a:srgbClr val="203544"/>
                </a:solidFill>
                <a:latin typeface="Arial"/>
                <a:ea typeface="Arial"/>
                <a:cs typeface="Arial"/>
              </a:defRPr>
            </a:pPr>
            <a:r>
              <a:rPr sz="2475" b="1">
                <a:solidFill>
                  <a:srgbClr val="203544"/>
                </a:solidFill>
                <a:latin typeface="Arial"/>
                <a:ea typeface="Arial"/>
                <a:cs typeface="Arial"/>
              </a:rPr>
              <a:t>e</a:t>
            </a:r>
          </a:p>
        </p:txBody>
      </p:sp>
      <p:sp>
        <p:nvSpPr>
          <p:cNvPr id="57" name="矩形 56">
            <a:extLst>
              <a:ext uri="{FF2B5EF4-FFF2-40B4-BE49-F238E27FC236}">
                <a16:creationId xmlns:a16="http://schemas.microsoft.com/office/drawing/2014/main" id="{24918899-3D3A-4360-B015-EB3DF24BAE03}"/>
              </a:ext>
            </a:extLst>
          </p:cNvPr>
          <p:cNvSpPr>
            <a:spLocks noGrp="1"/>
          </p:cNvSpPr>
          <p:nvPr/>
        </p:nvSpPr>
        <p:spPr>
          <a:xfrm>
            <a:off x="8324850" y="6257925"/>
            <a:ext cx="3629025" cy="3714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2325" b="0">
                <a:solidFill>
                  <a:srgbClr val="203544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203544"/>
                </a:solidFill>
                <a:latin typeface="Arial"/>
                <a:ea typeface="Arial"/>
                <a:cs typeface="Arial"/>
              </a:rPr>
              <a:t>GT neighborhood</a:t>
            </a:r>
          </a:p>
        </p:txBody>
      </p:sp>
      <p:sp>
        <p:nvSpPr>
          <p:cNvPr id="58" name="矩形 57">
            <a:extLst>
              <a:ext uri="{FF2B5EF4-FFF2-40B4-BE49-F238E27FC236}">
                <a16:creationId xmlns:a16="http://schemas.microsoft.com/office/drawing/2014/main" id="{7DBF07CD-E9AE-4002-A87F-147339430ABF}"/>
              </a:ext>
            </a:extLst>
          </p:cNvPr>
          <p:cNvSpPr>
            <a:spLocks noGrp="1"/>
          </p:cNvSpPr>
          <p:nvPr/>
        </p:nvSpPr>
        <p:spPr>
          <a:xfrm>
            <a:off x="12239625" y="6248400"/>
            <a:ext cx="352425" cy="3714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2475" b="1">
                <a:solidFill>
                  <a:srgbClr val="203544"/>
                </a:solidFill>
                <a:latin typeface="Arial"/>
                <a:ea typeface="Arial"/>
                <a:cs typeface="Arial"/>
              </a:defRPr>
            </a:pPr>
            <a:r>
              <a:rPr sz="2475" b="1">
                <a:solidFill>
                  <a:srgbClr val="203544"/>
                </a:solidFill>
                <a:latin typeface="Arial"/>
                <a:ea typeface="Arial"/>
                <a:cs typeface="Arial"/>
              </a:rPr>
              <a:t>f</a:t>
            </a:r>
          </a:p>
        </p:txBody>
      </p:sp>
      <p:sp>
        <p:nvSpPr>
          <p:cNvPr id="59" name="矩形 58">
            <a:extLst>
              <a:ext uri="{FF2B5EF4-FFF2-40B4-BE49-F238E27FC236}">
                <a16:creationId xmlns:a16="http://schemas.microsoft.com/office/drawing/2014/main" id="{E14545ED-6CBF-439C-B1A8-3AA215129672}"/>
              </a:ext>
            </a:extLst>
          </p:cNvPr>
          <p:cNvSpPr>
            <a:spLocks noGrp="1"/>
          </p:cNvSpPr>
          <p:nvPr/>
        </p:nvSpPr>
        <p:spPr>
          <a:xfrm>
            <a:off x="12658725" y="6257925"/>
            <a:ext cx="3629025" cy="3714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2325" b="0">
                <a:solidFill>
                  <a:srgbClr val="203544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203544"/>
                </a:solidFill>
                <a:latin typeface="Arial"/>
                <a:ea typeface="Arial"/>
                <a:cs typeface="Arial"/>
              </a:rPr>
              <a:t>Find prediction</a:t>
            </a:r>
          </a:p>
        </p:txBody>
      </p:sp>
      <p:sp>
        <p:nvSpPr>
          <p:cNvPr id="60" name="矩形 59">
            <a:extLst>
              <a:ext uri="{FF2B5EF4-FFF2-40B4-BE49-F238E27FC236}">
                <a16:creationId xmlns:a16="http://schemas.microsoft.com/office/drawing/2014/main" id="{12369783-1D04-4B3E-95A7-C1325A15CCEC}"/>
              </a:ext>
            </a:extLst>
          </p:cNvPr>
          <p:cNvSpPr>
            <a:spLocks noGrp="1"/>
          </p:cNvSpPr>
          <p:nvPr/>
        </p:nvSpPr>
        <p:spPr>
          <a:xfrm>
            <a:off x="7905750" y="6677025"/>
            <a:ext cx="8382000" cy="3619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2250" b="1">
                <a:solidFill>
                  <a:srgbClr val="9F87A9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9F87A9"/>
                </a:solidFill>
                <a:latin typeface="Arial"/>
                <a:ea typeface="Arial"/>
                <a:cs typeface="Arial"/>
              </a:rPr>
              <a:t>Rank 1: background, one attempt</a:t>
            </a:r>
          </a:p>
        </p:txBody>
      </p:sp>
      <p:pic>
        <p:nvPicPr>
          <p:cNvPr id="162" name="background_gt" descr="30GA background_gt; native ChimeraX; source C:\Users\15919\Desktop\论文草稿\画图\formal\E2E_flow_20261003\30ga\renders\background_gt.png; editable crop only"/>
          <p:cNvPicPr>
            <a:picLocks noChangeAspect="1"/>
          </p:cNvPicPr>
          <p:nvPr/>
        </p:nvPicPr>
        <p:blipFill>
          <a:blip r:embed="rId8"/>
          <a:srcRect l="29167" t="30741" r="27361" b="22963"/>
          <a:stretch>
            <a:fillRect/>
          </a:stretch>
        </p:blipFill>
        <p:spPr>
          <a:xfrm>
            <a:off x="8886349" y="7096125"/>
            <a:ext cx="2086928" cy="1666875"/>
          </a:xfrm>
          <a:prstGeom prst="rect">
            <a:avLst/>
          </a:prstGeom>
        </p:spPr>
      </p:pic>
      <p:pic>
        <p:nvPicPr>
          <p:cNvPr id="163" name="background_find" descr="30GA background_find; native ChimeraX; source C:\Users\15919\Desktop\论文草稿\画图\formal\E2E_flow_20261003\30ga\renders\background_find.png; editable crop only"/>
          <p:cNvPicPr>
            <a:picLocks noChangeAspect="1"/>
          </p:cNvPicPr>
          <p:nvPr/>
        </p:nvPicPr>
        <p:blipFill>
          <a:blip r:embed="rId9"/>
          <a:srcRect l="29167" t="30741" r="27361" b="22963"/>
          <a:stretch>
            <a:fillRect/>
          </a:stretch>
        </p:blipFill>
        <p:spPr>
          <a:xfrm>
            <a:off x="13220224" y="7096125"/>
            <a:ext cx="2086928" cy="1666875"/>
          </a:xfrm>
          <a:prstGeom prst="rect">
            <a:avLst/>
          </a:prstGeom>
        </p:spPr>
      </p:pic>
      <p:sp>
        <p:nvSpPr>
          <p:cNvPr id="63" name="矩形 62">
            <a:extLst>
              <a:ext uri="{FF2B5EF4-FFF2-40B4-BE49-F238E27FC236}">
                <a16:creationId xmlns:a16="http://schemas.microsoft.com/office/drawing/2014/main" id="{90FB0AE8-6B25-4F2E-B0D6-2AECDFA60BFF}"/>
              </a:ext>
            </a:extLst>
          </p:cNvPr>
          <p:cNvSpPr>
            <a:spLocks noGrp="1"/>
          </p:cNvSpPr>
          <p:nvPr/>
        </p:nvSpPr>
        <p:spPr>
          <a:xfrm>
            <a:off x="7905750" y="8782050"/>
            <a:ext cx="8382000" cy="3619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2250" b="1">
                <a:solidFill>
                  <a:srgbClr val="E9983C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E9983C"/>
                </a:solidFill>
                <a:latin typeface="Arial"/>
                <a:ea typeface="Arial"/>
                <a:cs typeface="Arial"/>
              </a:rPr>
              <a:t>Rank 2: target ligand, next attempt</a:t>
            </a:r>
          </a:p>
        </p:txBody>
      </p:sp>
      <p:pic>
        <p:nvPicPr>
          <p:cNvPr id="165" name="local_gt" descr="30GA local_gt; native ChimeraX; source C:\Users\15919\Desktop\论文草稿\画图\formal\E2E_flow_20261003\30ga\renders\local_gt.png; editable crop only"/>
          <p:cNvPicPr>
            <a:picLocks noChangeAspect="1"/>
          </p:cNvPicPr>
          <p:nvPr/>
        </p:nvPicPr>
        <p:blipFill>
          <a:blip r:embed="rId10"/>
          <a:srcRect l="13403" r="8125" b="11667"/>
          <a:stretch>
            <a:fillRect/>
          </a:stretch>
        </p:blipFill>
        <p:spPr>
          <a:xfrm>
            <a:off x="8942617" y="9163050"/>
            <a:ext cx="1974391" cy="1666875"/>
          </a:xfrm>
          <a:prstGeom prst="rect">
            <a:avLst/>
          </a:prstGeom>
        </p:spPr>
      </p:pic>
      <p:pic>
        <p:nvPicPr>
          <p:cNvPr id="166" name="local_find" descr="30GA local_find; native ChimeraX; source C:\Users\15919\Desktop\论文草稿\画图\formal\E2E_flow_20261003\30ga\renders\local_find.png; editable crop only"/>
          <p:cNvPicPr>
            <a:picLocks noChangeAspect="1"/>
          </p:cNvPicPr>
          <p:nvPr/>
        </p:nvPicPr>
        <p:blipFill>
          <a:blip r:embed="rId11"/>
          <a:srcRect l="13403" r="8125" b="11667"/>
          <a:stretch>
            <a:fillRect/>
          </a:stretch>
        </p:blipFill>
        <p:spPr>
          <a:xfrm>
            <a:off x="13276492" y="9163050"/>
            <a:ext cx="1974391" cy="1666875"/>
          </a:xfrm>
          <a:prstGeom prst="rect">
            <a:avLst/>
          </a:prstGeom>
        </p:spPr>
      </p:pic>
      <p:sp>
        <p:nvSpPr>
          <p:cNvPr id="66" name="椭圆 65">
            <a:extLst>
              <a:ext uri="{FF2B5EF4-FFF2-40B4-BE49-F238E27FC236}">
                <a16:creationId xmlns:a16="http://schemas.microsoft.com/office/drawing/2014/main" id="{563B8205-B31E-47C7-87C4-6785A215234A}"/>
              </a:ext>
            </a:extLst>
          </p:cNvPr>
          <p:cNvSpPr>
            <a:spLocks noGrp="1"/>
          </p:cNvSpPr>
          <p:nvPr/>
        </p:nvSpPr>
        <p:spPr>
          <a:xfrm>
            <a:off x="361950" y="10991850"/>
            <a:ext cx="476250" cy="476250"/>
          </a:xfrm>
          <a:prstGeom prst="ellipse">
            <a:avLst/>
          </a:prstGeom>
          <a:solidFill>
            <a:srgbClr val="366755"/>
          </a:solidFill>
          <a:ln w="0">
            <a:noFill/>
          </a:ln>
        </p:spPr>
        <p:txBody>
          <a:bodyPr lIns="0" tIns="0" rIns="0" bIns="0" anchor="ctr"/>
          <a:lstStyle/>
          <a:p>
            <a:pPr algn="ctr">
              <a:defRPr sz="23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67" name="矩形 66">
            <a:extLst>
              <a:ext uri="{FF2B5EF4-FFF2-40B4-BE49-F238E27FC236}">
                <a16:creationId xmlns:a16="http://schemas.microsoft.com/office/drawing/2014/main" id="{F569CFF6-7AA2-46D2-805D-0BC0AE1F6A6D}"/>
              </a:ext>
            </a:extLst>
          </p:cNvPr>
          <p:cNvSpPr>
            <a:spLocks noGrp="1"/>
          </p:cNvSpPr>
          <p:nvPr/>
        </p:nvSpPr>
        <p:spPr>
          <a:xfrm>
            <a:off x="1238250" y="11010900"/>
            <a:ext cx="2000250" cy="4572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2850" b="1">
                <a:solidFill>
                  <a:srgbClr val="366755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366755"/>
                </a:solidFill>
                <a:latin typeface="Arial"/>
                <a:ea typeface="Arial"/>
                <a:cs typeface="Arial"/>
              </a:rPr>
              <a:t>Match</a:t>
            </a:r>
          </a:p>
        </p:txBody>
      </p:sp>
      <p:sp>
        <p:nvSpPr>
          <p:cNvPr id="68" name="矩形 67">
            <a:extLst>
              <a:ext uri="{FF2B5EF4-FFF2-40B4-BE49-F238E27FC236}">
                <a16:creationId xmlns:a16="http://schemas.microsoft.com/office/drawing/2014/main" id="{82CE6C27-F35E-4587-B200-292ABB502E6D}"/>
              </a:ext>
            </a:extLst>
          </p:cNvPr>
          <p:cNvSpPr>
            <a:spLocks noGrp="1"/>
          </p:cNvSpPr>
          <p:nvPr/>
        </p:nvSpPr>
        <p:spPr>
          <a:xfrm>
            <a:off x="3524250" y="11039475"/>
            <a:ext cx="12715875" cy="4000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2325" b="0">
                <a:solidFill>
                  <a:srgbClr val="60717A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60717A"/>
                </a:solidFill>
                <a:latin typeface="Arial"/>
                <a:ea typeface="Arial"/>
                <a:cs typeface="Arial"/>
              </a:rPr>
              <a:t>Matching candidate regions to ligand SMILES from the same PDB</a:t>
            </a:r>
          </a:p>
        </p:txBody>
      </p:sp>
      <p:sp>
        <p:nvSpPr>
          <p:cNvPr id="69" name="任意多边形: 形状 68">
            <a:extLst>
              <a:ext uri="{FF2B5EF4-FFF2-40B4-BE49-F238E27FC236}">
                <a16:creationId xmlns:a16="http://schemas.microsoft.com/office/drawing/2014/main" id="{39359385-CA51-400A-84B9-DFFB40B1AFDC}"/>
              </a:ext>
            </a:extLst>
          </p:cNvPr>
          <p:cNvSpPr>
            <a:spLocks noGrp="1"/>
          </p:cNvSpPr>
          <p:nvPr/>
        </p:nvSpPr>
        <p:spPr>
          <a:xfrm>
            <a:off x="1238250" y="11572875"/>
            <a:ext cx="15049500" cy="953"/>
          </a:xfrm>
          <a:custGeom>
            <a:avLst/>
            <a:gdLst/>
            <a:ahLst/>
            <a:cxnLst/>
            <a:rect l="0" t="0" r="0" b="0"/>
            <a:pathLst>
              <a:path w="15049500" h="953">
                <a:moveTo>
                  <a:pt x="0" y="0"/>
                </a:moveTo>
                <a:lnTo>
                  <a:pt x="15049500" y="0"/>
                </a:lnTo>
              </a:path>
            </a:pathLst>
          </a:custGeom>
          <a:noFill/>
          <a:ln w="19050">
            <a:solidFill>
              <a:srgbClr val="E6EDEB"/>
            </a:solidFill>
          </a:ln>
        </p:spPr>
      </p:sp>
      <p:sp>
        <p:nvSpPr>
          <p:cNvPr id="70" name="矩形 69">
            <a:extLst>
              <a:ext uri="{FF2B5EF4-FFF2-40B4-BE49-F238E27FC236}">
                <a16:creationId xmlns:a16="http://schemas.microsoft.com/office/drawing/2014/main" id="{AD3312FB-3082-4479-8C5E-49009C460887}"/>
              </a:ext>
            </a:extLst>
          </p:cNvPr>
          <p:cNvSpPr>
            <a:spLocks noGrp="1"/>
          </p:cNvSpPr>
          <p:nvPr/>
        </p:nvSpPr>
        <p:spPr>
          <a:xfrm>
            <a:off x="942975" y="11744325"/>
            <a:ext cx="285750" cy="381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2475" b="1">
                <a:solidFill>
                  <a:srgbClr val="203544"/>
                </a:solidFill>
                <a:latin typeface="Arial"/>
                <a:ea typeface="Arial"/>
                <a:cs typeface="Arial"/>
              </a:defRPr>
            </a:pPr>
            <a:r>
              <a:rPr sz="2475" b="1">
                <a:solidFill>
                  <a:srgbClr val="203544"/>
                </a:solidFill>
                <a:latin typeface="Arial"/>
                <a:ea typeface="Arial"/>
                <a:cs typeface="Arial"/>
              </a:rPr>
              <a:t>g</a:t>
            </a:r>
          </a:p>
        </p:txBody>
      </p:sp>
      <p:sp>
        <p:nvSpPr>
          <p:cNvPr id="71" name="Identity 1">
            <a:extLst>
              <a:ext uri="{FF2B5EF4-FFF2-40B4-BE49-F238E27FC236}">
                <a16:creationId xmlns:a16="http://schemas.microsoft.com/office/drawing/2014/main" id="{1327FF95-CDA2-44B8-94A8-FC0C21829C54}"/>
              </a:ext>
            </a:extLst>
          </p:cNvPr>
          <p:cNvSpPr>
            <a:spLocks noGrp="1"/>
          </p:cNvSpPr>
          <p:nvPr/>
        </p:nvSpPr>
        <p:spPr>
          <a:xfrm>
            <a:off x="1238250" y="11715750"/>
            <a:ext cx="7391400" cy="2857500"/>
          </a:xfrm>
          <a:prstGeom prst="rect">
            <a:avLst/>
          </a:prstGeom>
          <a:solidFill>
            <a:srgbClr val="FFFFFF"/>
          </a:solidFill>
          <a:ln w="28575">
            <a:solidFill>
              <a:srgbClr val="3169B3"/>
            </a:solidFill>
          </a:ln>
        </p:spPr>
      </p:sp>
      <p:sp>
        <p:nvSpPr>
          <p:cNvPr id="72" name="矩形 71">
            <a:extLst>
              <a:ext uri="{FF2B5EF4-FFF2-40B4-BE49-F238E27FC236}">
                <a16:creationId xmlns:a16="http://schemas.microsoft.com/office/drawing/2014/main" id="{FCD48B20-BF70-4C18-A6A2-70A9268A3D06}"/>
              </a:ext>
            </a:extLst>
          </p:cNvPr>
          <p:cNvSpPr>
            <a:spLocks noGrp="1"/>
          </p:cNvSpPr>
          <p:nvPr/>
        </p:nvSpPr>
        <p:spPr>
          <a:xfrm>
            <a:off x="1409700" y="11830050"/>
            <a:ext cx="7048500" cy="381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2400" b="1">
                <a:solidFill>
                  <a:srgbClr val="3169B3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3169B3"/>
                </a:solidFill>
                <a:latin typeface="Arial"/>
                <a:ea typeface="Arial"/>
                <a:cs typeface="Arial"/>
              </a:rPr>
              <a:t>1  ATP</a:t>
            </a:r>
          </a:p>
        </p:txBody>
      </p:sp>
      <p:pic>
        <p:nvPicPr>
          <p:cNvPr id="174" name="图形 173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/>
        </p:blipFill>
        <p:spPr>
          <a:xfrm>
            <a:off x="2543622" y="12230100"/>
            <a:ext cx="4780657" cy="2095500"/>
          </a:xfrm>
          <a:prstGeom prst="rect">
            <a:avLst/>
          </a:prstGeom>
        </p:spPr>
      </p:pic>
      <p:sp>
        <p:nvSpPr>
          <p:cNvPr id="74" name="矩形 73">
            <a:extLst>
              <a:ext uri="{FF2B5EF4-FFF2-40B4-BE49-F238E27FC236}">
                <a16:creationId xmlns:a16="http://schemas.microsoft.com/office/drawing/2014/main" id="{8FCBD187-DE15-4C3F-AAEB-2E649D1D52AC}"/>
              </a:ext>
            </a:extLst>
          </p:cNvPr>
          <p:cNvSpPr>
            <a:spLocks noGrp="1"/>
          </p:cNvSpPr>
          <p:nvPr/>
        </p:nvSpPr>
        <p:spPr>
          <a:xfrm>
            <a:off x="1409700" y="14249400"/>
            <a:ext cx="7048500" cy="285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2100" b="1">
                <a:solidFill>
                  <a:srgbClr val="3169B3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3169B3"/>
                </a:solidFill>
                <a:latin typeface="Arial"/>
                <a:ea typeface="Arial"/>
                <a:cs typeface="Arial"/>
              </a:rPr>
              <a:t>Matched identity</a:t>
            </a:r>
          </a:p>
        </p:txBody>
      </p:sp>
      <p:sp>
        <p:nvSpPr>
          <p:cNvPr id="75" name="Identity 2">
            <a:extLst>
              <a:ext uri="{FF2B5EF4-FFF2-40B4-BE49-F238E27FC236}">
                <a16:creationId xmlns:a16="http://schemas.microsoft.com/office/drawing/2014/main" id="{0B92F1BB-894C-4F50-85C6-338CA5FBCBD6}"/>
              </a:ext>
            </a:extLst>
          </p:cNvPr>
          <p:cNvSpPr>
            <a:spLocks noGrp="1"/>
          </p:cNvSpPr>
          <p:nvPr/>
        </p:nvSpPr>
        <p:spPr>
          <a:xfrm>
            <a:off x="8896350" y="11715750"/>
            <a:ext cx="7391400" cy="2857500"/>
          </a:xfrm>
          <a:prstGeom prst="rect">
            <a:avLst/>
          </a:prstGeom>
          <a:solidFill>
            <a:srgbClr val="FFFFFF"/>
          </a:solidFill>
          <a:ln w="9525">
            <a:solidFill>
              <a:srgbClr val="E6EDEB"/>
            </a:solidFill>
          </a:ln>
        </p:spPr>
      </p:sp>
      <p:sp>
        <p:nvSpPr>
          <p:cNvPr id="76" name="矩形 75">
            <a:extLst>
              <a:ext uri="{FF2B5EF4-FFF2-40B4-BE49-F238E27FC236}">
                <a16:creationId xmlns:a16="http://schemas.microsoft.com/office/drawing/2014/main" id="{8116FE30-436A-492E-9CA6-BAA6DC599B93}"/>
              </a:ext>
            </a:extLst>
          </p:cNvPr>
          <p:cNvSpPr>
            <a:spLocks noGrp="1"/>
          </p:cNvSpPr>
          <p:nvPr/>
        </p:nvSpPr>
        <p:spPr>
          <a:xfrm>
            <a:off x="9067800" y="11830050"/>
            <a:ext cx="7048500" cy="381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2400" b="0">
                <a:solidFill>
                  <a:srgbClr val="203544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203544"/>
                </a:solidFill>
                <a:latin typeface="Arial"/>
                <a:ea typeface="Arial"/>
                <a:cs typeface="Arial"/>
              </a:rPr>
              <a:t>2  Identity2</a:t>
            </a:r>
          </a:p>
        </p:txBody>
      </p:sp>
      <p:pic>
        <p:nvPicPr>
          <p:cNvPr id="178" name="图形 177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/>
        </p:blipFill>
        <p:spPr>
          <a:xfrm>
            <a:off x="11945874" y="12896850"/>
            <a:ext cx="1292352" cy="762000"/>
          </a:xfrm>
          <a:prstGeom prst="rect">
            <a:avLst/>
          </a:prstGeom>
        </p:spPr>
      </p:pic>
      <p:sp>
        <p:nvSpPr>
          <p:cNvPr id="78" name="椭圆 77">
            <a:extLst>
              <a:ext uri="{FF2B5EF4-FFF2-40B4-BE49-F238E27FC236}">
                <a16:creationId xmlns:a16="http://schemas.microsoft.com/office/drawing/2014/main" id="{3B7FC672-0D97-4020-BD36-77D036777E29}"/>
              </a:ext>
            </a:extLst>
          </p:cNvPr>
          <p:cNvSpPr>
            <a:spLocks noGrp="1"/>
          </p:cNvSpPr>
          <p:nvPr/>
        </p:nvSpPr>
        <p:spPr>
          <a:xfrm>
            <a:off x="361950" y="14763750"/>
            <a:ext cx="476250" cy="476250"/>
          </a:xfrm>
          <a:prstGeom prst="ellipse">
            <a:avLst/>
          </a:prstGeom>
          <a:solidFill>
            <a:srgbClr val="366755"/>
          </a:solidFill>
          <a:ln w="0">
            <a:noFill/>
          </a:ln>
        </p:spPr>
        <p:txBody>
          <a:bodyPr lIns="0" tIns="0" rIns="0" bIns="0" anchor="ctr"/>
          <a:lstStyle/>
          <a:p>
            <a:pPr algn="ctr">
              <a:defRPr sz="23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79" name="矩形 78">
            <a:extLst>
              <a:ext uri="{FF2B5EF4-FFF2-40B4-BE49-F238E27FC236}">
                <a16:creationId xmlns:a16="http://schemas.microsoft.com/office/drawing/2014/main" id="{8A947DA2-DD7F-4EE3-B0A5-074C75F2021D}"/>
              </a:ext>
            </a:extLst>
          </p:cNvPr>
          <p:cNvSpPr>
            <a:spLocks noGrp="1"/>
          </p:cNvSpPr>
          <p:nvPr/>
        </p:nvSpPr>
        <p:spPr>
          <a:xfrm>
            <a:off x="1238250" y="14782800"/>
            <a:ext cx="2000250" cy="4572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2850" b="1">
                <a:solidFill>
                  <a:srgbClr val="366755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366755"/>
                </a:solidFill>
                <a:latin typeface="Arial"/>
                <a:ea typeface="Arial"/>
                <a:cs typeface="Arial"/>
              </a:rPr>
              <a:t>Build</a:t>
            </a:r>
          </a:p>
        </p:txBody>
      </p:sp>
      <p:sp>
        <p:nvSpPr>
          <p:cNvPr id="80" name="矩形 79">
            <a:extLst>
              <a:ext uri="{FF2B5EF4-FFF2-40B4-BE49-F238E27FC236}">
                <a16:creationId xmlns:a16="http://schemas.microsoft.com/office/drawing/2014/main" id="{6900CFBD-A001-4BCC-8ACC-545EA164E148}"/>
              </a:ext>
            </a:extLst>
          </p:cNvPr>
          <p:cNvSpPr>
            <a:spLocks noGrp="1"/>
          </p:cNvSpPr>
          <p:nvPr/>
        </p:nvSpPr>
        <p:spPr>
          <a:xfrm>
            <a:off x="3524250" y="14811375"/>
            <a:ext cx="12715875" cy="4000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2325" b="0">
                <a:solidFill>
                  <a:srgbClr val="60717A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60717A"/>
                </a:solidFill>
                <a:latin typeface="Arial"/>
                <a:ea typeface="Arial"/>
                <a:cs typeface="Arial"/>
              </a:rPr>
              <a:t>Reconstructing ligand poses with PocketXMol-tuned</a:t>
            </a:r>
          </a:p>
        </p:txBody>
      </p:sp>
      <p:sp>
        <p:nvSpPr>
          <p:cNvPr id="81" name="任意多边形: 形状 80">
            <a:extLst>
              <a:ext uri="{FF2B5EF4-FFF2-40B4-BE49-F238E27FC236}">
                <a16:creationId xmlns:a16="http://schemas.microsoft.com/office/drawing/2014/main" id="{E52C77B3-AE90-487D-9495-FF97F99212DF}"/>
              </a:ext>
            </a:extLst>
          </p:cNvPr>
          <p:cNvSpPr>
            <a:spLocks noGrp="1"/>
          </p:cNvSpPr>
          <p:nvPr/>
        </p:nvSpPr>
        <p:spPr>
          <a:xfrm>
            <a:off x="1238250" y="15344775"/>
            <a:ext cx="15049500" cy="953"/>
          </a:xfrm>
          <a:custGeom>
            <a:avLst/>
            <a:gdLst/>
            <a:ahLst/>
            <a:cxnLst/>
            <a:rect l="0" t="0" r="0" b="0"/>
            <a:pathLst>
              <a:path w="15049500" h="953">
                <a:moveTo>
                  <a:pt x="0" y="0"/>
                </a:moveTo>
                <a:lnTo>
                  <a:pt x="15049500" y="0"/>
                </a:lnTo>
              </a:path>
            </a:pathLst>
          </a:custGeom>
          <a:noFill/>
          <a:ln w="19050">
            <a:solidFill>
              <a:srgbClr val="E6EDEB"/>
            </a:solidFill>
          </a:ln>
        </p:spPr>
      </p:sp>
      <p:sp>
        <p:nvSpPr>
          <p:cNvPr id="82" name="矩形 81">
            <a:extLst>
              <a:ext uri="{FF2B5EF4-FFF2-40B4-BE49-F238E27FC236}">
                <a16:creationId xmlns:a16="http://schemas.microsoft.com/office/drawing/2014/main" id="{F8B579F4-D1A4-4B99-B59F-544D652A09A7}"/>
              </a:ext>
            </a:extLst>
          </p:cNvPr>
          <p:cNvSpPr>
            <a:spLocks noGrp="1"/>
          </p:cNvSpPr>
          <p:nvPr/>
        </p:nvSpPr>
        <p:spPr>
          <a:xfrm>
            <a:off x="1238250" y="15525750"/>
            <a:ext cx="352425" cy="3714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2475" b="1">
                <a:solidFill>
                  <a:srgbClr val="203544"/>
                </a:solidFill>
                <a:latin typeface="Arial"/>
                <a:ea typeface="Arial"/>
                <a:cs typeface="Arial"/>
              </a:defRPr>
            </a:pPr>
            <a:r>
              <a:rPr sz="2475" b="1">
                <a:solidFill>
                  <a:srgbClr val="203544"/>
                </a:solidFill>
                <a:latin typeface="Arial"/>
                <a:ea typeface="Arial"/>
                <a:cs typeface="Arial"/>
              </a:rPr>
              <a:t>h</a:t>
            </a:r>
          </a:p>
        </p:txBody>
      </p:sp>
      <p:sp>
        <p:nvSpPr>
          <p:cNvPr id="83" name="矩形 82">
            <a:extLst>
              <a:ext uri="{FF2B5EF4-FFF2-40B4-BE49-F238E27FC236}">
                <a16:creationId xmlns:a16="http://schemas.microsoft.com/office/drawing/2014/main" id="{909590B9-3EE8-4F50-875B-4D3BD039F9B6}"/>
              </a:ext>
            </a:extLst>
          </p:cNvPr>
          <p:cNvSpPr>
            <a:spLocks noGrp="1"/>
          </p:cNvSpPr>
          <p:nvPr/>
        </p:nvSpPr>
        <p:spPr>
          <a:xfrm>
            <a:off x="1657350" y="15535275"/>
            <a:ext cx="4152900" cy="3714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2325" b="0">
                <a:solidFill>
                  <a:srgbClr val="203544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203544"/>
                </a:solidFill>
                <a:latin typeface="Arial"/>
                <a:ea typeface="Arial"/>
                <a:cs typeface="Arial"/>
              </a:rPr>
              <a:t>Receptor surface</a:t>
            </a:r>
          </a:p>
        </p:txBody>
      </p:sp>
      <p:pic>
        <p:nvPicPr>
          <p:cNvPr id="185" name="dock_receptor" descr="30GA dock_receptor; native ChimeraX; source C:\Users\15919\Desktop\论文草稿\画图\formal\E2E_flow_20261003\30ga\renders\dock_receptor.png; editable crop only"/>
          <p:cNvPicPr>
            <a:picLocks noChangeAspect="1"/>
          </p:cNvPicPr>
          <p:nvPr/>
        </p:nvPicPr>
        <p:blipFill>
          <a:blip r:embed="rId14"/>
          <a:srcRect l="9583" r="3611" b="3426"/>
          <a:stretch>
            <a:fillRect/>
          </a:stretch>
        </p:blipFill>
        <p:spPr>
          <a:xfrm>
            <a:off x="1811942" y="15944850"/>
            <a:ext cx="3424616" cy="2857500"/>
          </a:xfrm>
          <a:prstGeom prst="rect">
            <a:avLst/>
          </a:prstGeom>
        </p:spPr>
      </p:pic>
      <p:sp>
        <p:nvSpPr>
          <p:cNvPr id="85" name="矩形 84">
            <a:extLst>
              <a:ext uri="{FF2B5EF4-FFF2-40B4-BE49-F238E27FC236}">
                <a16:creationId xmlns:a16="http://schemas.microsoft.com/office/drawing/2014/main" id="{40170247-1808-46C6-861E-9801039B8C62}"/>
              </a:ext>
            </a:extLst>
          </p:cNvPr>
          <p:cNvSpPr>
            <a:spLocks noGrp="1"/>
          </p:cNvSpPr>
          <p:nvPr/>
        </p:nvSpPr>
        <p:spPr>
          <a:xfrm>
            <a:off x="6477000" y="15525750"/>
            <a:ext cx="352425" cy="3714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2475" b="1">
                <a:solidFill>
                  <a:srgbClr val="203544"/>
                </a:solidFill>
                <a:latin typeface="Arial"/>
                <a:ea typeface="Arial"/>
                <a:cs typeface="Arial"/>
              </a:defRPr>
            </a:pPr>
            <a:r>
              <a:rPr sz="2475" b="1">
                <a:solidFill>
                  <a:srgbClr val="203544"/>
                </a:solidFill>
                <a:latin typeface="Arial"/>
                <a:ea typeface="Arial"/>
                <a:cs typeface="Arial"/>
              </a:rPr>
              <a:t>i</a:t>
            </a:r>
          </a:p>
        </p:txBody>
      </p:sp>
      <p:sp>
        <p:nvSpPr>
          <p:cNvPr id="86" name="矩形 85">
            <a:extLst>
              <a:ext uri="{FF2B5EF4-FFF2-40B4-BE49-F238E27FC236}">
                <a16:creationId xmlns:a16="http://schemas.microsoft.com/office/drawing/2014/main" id="{CC33AFFC-7489-4837-ADD3-2D9BB5402D7C}"/>
              </a:ext>
            </a:extLst>
          </p:cNvPr>
          <p:cNvSpPr>
            <a:spLocks noGrp="1"/>
          </p:cNvSpPr>
          <p:nvPr/>
        </p:nvSpPr>
        <p:spPr>
          <a:xfrm>
            <a:off x="6896100" y="15535275"/>
            <a:ext cx="4152900" cy="3714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2325" b="0">
                <a:solidFill>
                  <a:srgbClr val="203544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203544"/>
                </a:solidFill>
                <a:latin typeface="Arial"/>
                <a:ea typeface="Arial"/>
                <a:cs typeface="Arial"/>
              </a:rPr>
              <a:t>Experimental density</a:t>
            </a:r>
          </a:p>
        </p:txBody>
      </p:sp>
      <p:pic>
        <p:nvPicPr>
          <p:cNvPr id="188" name="dock_density" descr="30GA dock_density; native ChimeraX; source C:\Users\15919\Desktop\论文草稿\画图\formal\E2E_flow_20261003\30ga\renders\dock_density.png; editable crop only"/>
          <p:cNvPicPr>
            <a:picLocks noChangeAspect="1"/>
          </p:cNvPicPr>
          <p:nvPr/>
        </p:nvPicPr>
        <p:blipFill>
          <a:blip r:embed="rId15"/>
          <a:srcRect l="9583" r="3611" b="3426"/>
          <a:stretch>
            <a:fillRect/>
          </a:stretch>
        </p:blipFill>
        <p:spPr>
          <a:xfrm>
            <a:off x="7050692" y="15944850"/>
            <a:ext cx="3424616" cy="2857500"/>
          </a:xfrm>
          <a:prstGeom prst="rect">
            <a:avLst/>
          </a:prstGeom>
        </p:spPr>
      </p:pic>
      <p:sp>
        <p:nvSpPr>
          <p:cNvPr id="88" name="矩形 87">
            <a:extLst>
              <a:ext uri="{FF2B5EF4-FFF2-40B4-BE49-F238E27FC236}">
                <a16:creationId xmlns:a16="http://schemas.microsoft.com/office/drawing/2014/main" id="{C9EC52B4-4582-426D-A08A-7CE5977DB913}"/>
              </a:ext>
            </a:extLst>
          </p:cNvPr>
          <p:cNvSpPr>
            <a:spLocks noGrp="1"/>
          </p:cNvSpPr>
          <p:nvPr/>
        </p:nvSpPr>
        <p:spPr>
          <a:xfrm>
            <a:off x="11715750" y="15525750"/>
            <a:ext cx="352425" cy="3714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2475" b="1">
                <a:solidFill>
                  <a:srgbClr val="203544"/>
                </a:solidFill>
                <a:latin typeface="Arial"/>
                <a:ea typeface="Arial"/>
                <a:cs typeface="Arial"/>
              </a:defRPr>
            </a:pPr>
            <a:r>
              <a:rPr sz="2475" b="1">
                <a:solidFill>
                  <a:srgbClr val="203544"/>
                </a:solidFill>
                <a:latin typeface="Arial"/>
                <a:ea typeface="Arial"/>
                <a:cs typeface="Arial"/>
              </a:rPr>
              <a:t>j</a:t>
            </a:r>
          </a:p>
        </p:txBody>
      </p:sp>
      <p:sp>
        <p:nvSpPr>
          <p:cNvPr id="89" name="矩形 88">
            <a:extLst>
              <a:ext uri="{FF2B5EF4-FFF2-40B4-BE49-F238E27FC236}">
                <a16:creationId xmlns:a16="http://schemas.microsoft.com/office/drawing/2014/main" id="{D0BE5346-0237-418D-BCA0-00DC879DC609}"/>
              </a:ext>
            </a:extLst>
          </p:cNvPr>
          <p:cNvSpPr>
            <a:spLocks noGrp="1"/>
          </p:cNvSpPr>
          <p:nvPr/>
        </p:nvSpPr>
        <p:spPr>
          <a:xfrm>
            <a:off x="12134850" y="15535275"/>
            <a:ext cx="4152900" cy="3714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2325" b="0">
                <a:solidFill>
                  <a:srgbClr val="203544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203544"/>
                </a:solidFill>
                <a:latin typeface="Arial"/>
                <a:ea typeface="Arial"/>
                <a:cs typeface="Arial"/>
              </a:rPr>
              <a:t>Deposited pose overlay</a:t>
            </a:r>
          </a:p>
        </p:txBody>
      </p:sp>
      <p:pic>
        <p:nvPicPr>
          <p:cNvPr id="191" name="dock_gt_overlay" descr="30GA dock_gt_overlay; native ChimeraX; source C:\Users\15919\Desktop\论文草稿\画图\formal\E2E_flow_20261003\30ga\renders\dock_gt_overlay.png; editable crop only"/>
          <p:cNvPicPr>
            <a:picLocks noChangeAspect="1"/>
          </p:cNvPicPr>
          <p:nvPr/>
        </p:nvPicPr>
        <p:blipFill>
          <a:blip r:embed="rId16"/>
          <a:srcRect l="9583" r="3611" b="3426"/>
          <a:stretch>
            <a:fillRect/>
          </a:stretch>
        </p:blipFill>
        <p:spPr>
          <a:xfrm>
            <a:off x="12289442" y="15944850"/>
            <a:ext cx="3424616" cy="2857500"/>
          </a:xfrm>
          <a:prstGeom prst="rect">
            <a:avLst/>
          </a:prstGeom>
        </p:spPr>
      </p:pic>
      <p:sp>
        <p:nvSpPr>
          <p:cNvPr id="91" name="矩形 90">
            <a:extLst>
              <a:ext uri="{FF2B5EF4-FFF2-40B4-BE49-F238E27FC236}">
                <a16:creationId xmlns:a16="http://schemas.microsoft.com/office/drawing/2014/main" id="{BBF8633F-8A25-4FD9-9846-AD4D50CD3E98}"/>
              </a:ext>
            </a:extLst>
          </p:cNvPr>
          <p:cNvSpPr>
            <a:spLocks noGrp="1"/>
          </p:cNvSpPr>
          <p:nvPr/>
        </p:nvSpPr>
        <p:spPr>
          <a:xfrm>
            <a:off x="1238250" y="18954750"/>
            <a:ext cx="15049500" cy="4476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2550" b="1">
                <a:solidFill>
                  <a:srgbClr val="3169B3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3169B3"/>
                </a:solidFill>
                <a:latin typeface="Arial"/>
                <a:ea typeface="Arial"/>
                <a:cs typeface="Arial"/>
              </a:rPr>
              <a:t>RMSD 1.04 Å</a:t>
            </a:r>
          </a:p>
        </p:txBody>
      </p:sp>
      <p:sp>
        <p:nvSpPr>
          <p:cNvPr id="92" name="任意多边形: 形状 91">
            <a:extLst>
              <a:ext uri="{FF2B5EF4-FFF2-40B4-BE49-F238E27FC236}">
                <a16:creationId xmlns:a16="http://schemas.microsoft.com/office/drawing/2014/main" id="{54CCF4F1-D639-455E-8FBD-18135BC3178F}"/>
              </a:ext>
            </a:extLst>
          </p:cNvPr>
          <p:cNvSpPr>
            <a:spLocks noGrp="1"/>
          </p:cNvSpPr>
          <p:nvPr/>
        </p:nvSpPr>
        <p:spPr>
          <a:xfrm>
            <a:off x="1238250" y="19697700"/>
            <a:ext cx="304800" cy="953"/>
          </a:xfrm>
          <a:custGeom>
            <a:avLst/>
            <a:gdLst/>
            <a:ahLst/>
            <a:cxnLst/>
            <a:rect l="0" t="0" r="0" b="0"/>
            <a:pathLst>
              <a:path w="304800" h="953">
                <a:moveTo>
                  <a:pt x="0" y="0"/>
                </a:moveTo>
                <a:lnTo>
                  <a:pt x="304800" y="0"/>
                </a:lnTo>
              </a:path>
            </a:pathLst>
          </a:custGeom>
          <a:noFill/>
          <a:ln w="47625">
            <a:solidFill>
              <a:srgbClr val="81A58B"/>
            </a:solidFill>
          </a:ln>
        </p:spPr>
      </p:sp>
      <p:sp>
        <p:nvSpPr>
          <p:cNvPr id="93" name="矩形 92">
            <a:extLst>
              <a:ext uri="{FF2B5EF4-FFF2-40B4-BE49-F238E27FC236}">
                <a16:creationId xmlns:a16="http://schemas.microsoft.com/office/drawing/2014/main" id="{F04A92D1-4DCC-48F4-8B78-6CD8F0696991}"/>
              </a:ext>
            </a:extLst>
          </p:cNvPr>
          <p:cNvSpPr>
            <a:spLocks noGrp="1"/>
          </p:cNvSpPr>
          <p:nvPr/>
        </p:nvSpPr>
        <p:spPr>
          <a:xfrm>
            <a:off x="1647825" y="19545300"/>
            <a:ext cx="2571750" cy="3238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2025" b="0">
                <a:solidFill>
                  <a:srgbClr val="60717A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60717A"/>
                </a:solidFill>
                <a:latin typeface="Arial"/>
                <a:ea typeface="Arial"/>
                <a:cs typeface="Arial"/>
              </a:rPr>
              <a:t>Receptor</a:t>
            </a:r>
          </a:p>
        </p:txBody>
      </p:sp>
      <p:sp>
        <p:nvSpPr>
          <p:cNvPr id="94" name="任意多边形: 形状 93">
            <a:extLst>
              <a:ext uri="{FF2B5EF4-FFF2-40B4-BE49-F238E27FC236}">
                <a16:creationId xmlns:a16="http://schemas.microsoft.com/office/drawing/2014/main" id="{FB4CE45D-28BB-452D-8021-6B7D187B56BE}"/>
              </a:ext>
            </a:extLst>
          </p:cNvPr>
          <p:cNvSpPr>
            <a:spLocks noGrp="1"/>
          </p:cNvSpPr>
          <p:nvPr/>
        </p:nvSpPr>
        <p:spPr>
          <a:xfrm>
            <a:off x="4286250" y="19697700"/>
            <a:ext cx="304800" cy="953"/>
          </a:xfrm>
          <a:custGeom>
            <a:avLst/>
            <a:gdLst/>
            <a:ahLst/>
            <a:cxnLst/>
            <a:rect l="0" t="0" r="0" b="0"/>
            <a:pathLst>
              <a:path w="304800" h="953">
                <a:moveTo>
                  <a:pt x="0" y="0"/>
                </a:moveTo>
                <a:lnTo>
                  <a:pt x="304800" y="0"/>
                </a:lnTo>
              </a:path>
            </a:pathLst>
          </a:custGeom>
          <a:noFill/>
          <a:ln w="47625">
            <a:solidFill>
              <a:srgbClr val="516773"/>
            </a:solidFill>
          </a:ln>
        </p:spPr>
      </p:sp>
      <p:sp>
        <p:nvSpPr>
          <p:cNvPr id="95" name="矩形 94">
            <a:extLst>
              <a:ext uri="{FF2B5EF4-FFF2-40B4-BE49-F238E27FC236}">
                <a16:creationId xmlns:a16="http://schemas.microsoft.com/office/drawing/2014/main" id="{F938D2C2-02EB-483F-91EC-1A06E363AE30}"/>
              </a:ext>
            </a:extLst>
          </p:cNvPr>
          <p:cNvSpPr>
            <a:spLocks noGrp="1"/>
          </p:cNvSpPr>
          <p:nvPr/>
        </p:nvSpPr>
        <p:spPr>
          <a:xfrm>
            <a:off x="4695825" y="19545300"/>
            <a:ext cx="2571750" cy="3238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2025" b="0">
                <a:solidFill>
                  <a:srgbClr val="60717A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60717A"/>
                </a:solidFill>
                <a:latin typeface="Arial"/>
                <a:ea typeface="Arial"/>
                <a:cs typeface="Arial"/>
              </a:rPr>
              <a:t>Density</a:t>
            </a:r>
          </a:p>
        </p:txBody>
      </p:sp>
      <p:sp>
        <p:nvSpPr>
          <p:cNvPr id="96" name="任意多边形: 形状 95">
            <a:extLst>
              <a:ext uri="{FF2B5EF4-FFF2-40B4-BE49-F238E27FC236}">
                <a16:creationId xmlns:a16="http://schemas.microsoft.com/office/drawing/2014/main" id="{1D09957C-85E5-4C2E-B8AA-6148193DADC5}"/>
              </a:ext>
            </a:extLst>
          </p:cNvPr>
          <p:cNvSpPr>
            <a:spLocks noGrp="1"/>
          </p:cNvSpPr>
          <p:nvPr/>
        </p:nvSpPr>
        <p:spPr>
          <a:xfrm>
            <a:off x="7334250" y="19697700"/>
            <a:ext cx="304800" cy="953"/>
          </a:xfrm>
          <a:custGeom>
            <a:avLst/>
            <a:gdLst/>
            <a:ahLst/>
            <a:cxnLst/>
            <a:rect l="0" t="0" r="0" b="0"/>
            <a:pathLst>
              <a:path w="304800" h="953">
                <a:moveTo>
                  <a:pt x="0" y="0"/>
                </a:moveTo>
                <a:lnTo>
                  <a:pt x="304800" y="0"/>
                </a:lnTo>
              </a:path>
            </a:pathLst>
          </a:custGeom>
          <a:noFill/>
          <a:ln w="47625">
            <a:solidFill>
              <a:srgbClr val="E9983C"/>
            </a:solidFill>
          </a:ln>
        </p:spPr>
      </p:sp>
      <p:sp>
        <p:nvSpPr>
          <p:cNvPr id="97" name="矩形 96">
            <a:extLst>
              <a:ext uri="{FF2B5EF4-FFF2-40B4-BE49-F238E27FC236}">
                <a16:creationId xmlns:a16="http://schemas.microsoft.com/office/drawing/2014/main" id="{D0E5503C-4B1B-4EFD-A7C4-462051322C25}"/>
              </a:ext>
            </a:extLst>
          </p:cNvPr>
          <p:cNvSpPr>
            <a:spLocks noGrp="1"/>
          </p:cNvSpPr>
          <p:nvPr/>
        </p:nvSpPr>
        <p:spPr>
          <a:xfrm>
            <a:off x="7743825" y="19545300"/>
            <a:ext cx="2571750" cy="3238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2025" b="0">
                <a:solidFill>
                  <a:srgbClr val="60717A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60717A"/>
                </a:solidFill>
                <a:latin typeface="Arial"/>
                <a:ea typeface="Arial"/>
                <a:cs typeface="Arial"/>
              </a:rPr>
              <a:t>Target blob</a:t>
            </a:r>
          </a:p>
        </p:txBody>
      </p:sp>
      <p:sp>
        <p:nvSpPr>
          <p:cNvPr id="98" name="任意多边形: 形状 97">
            <a:extLst>
              <a:ext uri="{FF2B5EF4-FFF2-40B4-BE49-F238E27FC236}">
                <a16:creationId xmlns:a16="http://schemas.microsoft.com/office/drawing/2014/main" id="{91901A15-C59B-41FE-8868-2BEA1374194B}"/>
              </a:ext>
            </a:extLst>
          </p:cNvPr>
          <p:cNvSpPr>
            <a:spLocks noGrp="1"/>
          </p:cNvSpPr>
          <p:nvPr/>
        </p:nvSpPr>
        <p:spPr>
          <a:xfrm>
            <a:off x="10382250" y="19697700"/>
            <a:ext cx="304800" cy="953"/>
          </a:xfrm>
          <a:custGeom>
            <a:avLst/>
            <a:gdLst/>
            <a:ahLst/>
            <a:cxnLst/>
            <a:rect l="0" t="0" r="0" b="0"/>
            <a:pathLst>
              <a:path w="304800" h="953">
                <a:moveTo>
                  <a:pt x="0" y="0"/>
                </a:moveTo>
                <a:lnTo>
                  <a:pt x="304800" y="0"/>
                </a:lnTo>
              </a:path>
            </a:pathLst>
          </a:custGeom>
          <a:noFill/>
          <a:ln w="47625">
            <a:solidFill>
              <a:srgbClr val="3169B3"/>
            </a:solidFill>
          </a:ln>
        </p:spPr>
      </p:sp>
      <p:sp>
        <p:nvSpPr>
          <p:cNvPr id="99" name="矩形 98">
            <a:extLst>
              <a:ext uri="{FF2B5EF4-FFF2-40B4-BE49-F238E27FC236}">
                <a16:creationId xmlns:a16="http://schemas.microsoft.com/office/drawing/2014/main" id="{AE675382-BB7C-45CC-983C-863B211C0B5B}"/>
              </a:ext>
            </a:extLst>
          </p:cNvPr>
          <p:cNvSpPr>
            <a:spLocks noGrp="1"/>
          </p:cNvSpPr>
          <p:nvPr/>
        </p:nvSpPr>
        <p:spPr>
          <a:xfrm>
            <a:off x="10791825" y="19545300"/>
            <a:ext cx="2571750" cy="3238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2025" b="0">
                <a:solidFill>
                  <a:srgbClr val="60717A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60717A"/>
                </a:solidFill>
                <a:latin typeface="Arial"/>
                <a:ea typeface="Arial"/>
                <a:cs typeface="Arial"/>
              </a:rPr>
              <a:t>Predicted pose</a:t>
            </a:r>
          </a:p>
        </p:txBody>
      </p:sp>
      <p:sp>
        <p:nvSpPr>
          <p:cNvPr id="100" name="任意多边形: 形状 99">
            <a:extLst>
              <a:ext uri="{FF2B5EF4-FFF2-40B4-BE49-F238E27FC236}">
                <a16:creationId xmlns:a16="http://schemas.microsoft.com/office/drawing/2014/main" id="{446E71F3-B0D4-440A-B8F3-BB96CDB5AA50}"/>
              </a:ext>
            </a:extLst>
          </p:cNvPr>
          <p:cNvSpPr>
            <a:spLocks noGrp="1"/>
          </p:cNvSpPr>
          <p:nvPr/>
        </p:nvSpPr>
        <p:spPr>
          <a:xfrm>
            <a:off x="13430250" y="19697700"/>
            <a:ext cx="304800" cy="953"/>
          </a:xfrm>
          <a:custGeom>
            <a:avLst/>
            <a:gdLst/>
            <a:ahLst/>
            <a:cxnLst/>
            <a:rect l="0" t="0" r="0" b="0"/>
            <a:pathLst>
              <a:path w="304800" h="953">
                <a:moveTo>
                  <a:pt x="0" y="0"/>
                </a:moveTo>
                <a:lnTo>
                  <a:pt x="304800" y="0"/>
                </a:lnTo>
              </a:path>
            </a:pathLst>
          </a:custGeom>
          <a:noFill/>
          <a:ln w="47625">
            <a:solidFill>
              <a:srgbClr val="26A6A1"/>
            </a:solidFill>
          </a:ln>
        </p:spPr>
      </p:sp>
      <p:sp>
        <p:nvSpPr>
          <p:cNvPr id="101" name="矩形 100">
            <a:extLst>
              <a:ext uri="{FF2B5EF4-FFF2-40B4-BE49-F238E27FC236}">
                <a16:creationId xmlns:a16="http://schemas.microsoft.com/office/drawing/2014/main" id="{2B5B49F2-0ED3-4A70-958B-112C6AA67142}"/>
              </a:ext>
            </a:extLst>
          </p:cNvPr>
          <p:cNvSpPr>
            <a:spLocks noGrp="1"/>
          </p:cNvSpPr>
          <p:nvPr/>
        </p:nvSpPr>
        <p:spPr>
          <a:xfrm>
            <a:off x="13839825" y="19545300"/>
            <a:ext cx="2571750" cy="3238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2025" b="0">
                <a:solidFill>
                  <a:srgbClr val="60717A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60717A"/>
                </a:solidFill>
                <a:latin typeface="Arial"/>
                <a:ea typeface="Arial"/>
                <a:cs typeface="Arial"/>
              </a:rPr>
              <a:t>Deposited pose</a:t>
            </a:r>
          </a:p>
        </p:txBody>
      </p:sp>
    </p:spTree>
    <p:extLst>
      <p:ext uri="{BB962C8B-B14F-4D97-AF65-F5344CB8AC3E}">
        <p14:creationId xmlns:p14="http://schemas.microsoft.com/office/powerpoint/2010/main" val="92657707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3"/>
    </p:ext>
  </p:extLs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矩形 104">
            <a:extLst>
              <a:ext uri="{FF2B5EF4-FFF2-40B4-BE49-F238E27FC236}">
                <a16:creationId xmlns:a16="http://schemas.microsoft.com/office/drawing/2014/main" id="{B4300EF5-A3E5-465B-806B-3B0DF428A301}"/>
              </a:ext>
            </a:extLst>
          </p:cNvPr>
          <p:cNvSpPr>
            <a:spLocks noGrp="1"/>
          </p:cNvSpPr>
          <p:nvPr/>
        </p:nvSpPr>
        <p:spPr>
          <a:xfrm>
            <a:off x="1238250" y="209550"/>
            <a:ext cx="14668500" cy="5524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3450" b="1">
                <a:solidFill>
                  <a:srgbClr val="203544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203544"/>
                </a:solidFill>
                <a:latin typeface="Arial"/>
                <a:ea typeface="Arial"/>
                <a:cs typeface="Arial"/>
              </a:rPr>
              <a:t>9QRU  A1JAX (B:2801)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93603FF7-5270-4B7F-947D-8FBDB2D64D94}"/>
              </a:ext>
            </a:extLst>
          </p:cNvPr>
          <p:cNvSpPr>
            <a:spLocks noGrp="1"/>
          </p:cNvSpPr>
          <p:nvPr/>
        </p:nvSpPr>
        <p:spPr>
          <a:xfrm>
            <a:off x="1238250" y="809625"/>
            <a:ext cx="15049500" cy="4191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2400" b="0">
                <a:solidFill>
                  <a:srgbClr val="60717A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60717A"/>
                </a:solidFill>
                <a:latin typeface="Arial"/>
                <a:ea typeface="Arial"/>
                <a:cs typeface="Arial"/>
              </a:rPr>
              <a:t>Background at rank 1, successful reconstruction at rank 2</a:t>
            </a:r>
          </a:p>
        </p:txBody>
      </p:sp>
      <p:sp>
        <p:nvSpPr>
          <p:cNvPr id="3" name="任意多边形: 形状 2">
            <a:extLst>
              <a:ext uri="{FF2B5EF4-FFF2-40B4-BE49-F238E27FC236}">
                <a16:creationId xmlns:a16="http://schemas.microsoft.com/office/drawing/2014/main" id="{2D981AC1-DA3E-4599-9234-446444188926}"/>
              </a:ext>
            </a:extLst>
          </p:cNvPr>
          <p:cNvSpPr>
            <a:spLocks noGrp="1"/>
          </p:cNvSpPr>
          <p:nvPr/>
        </p:nvSpPr>
        <p:spPr>
          <a:xfrm>
            <a:off x="600075" y="1885950"/>
            <a:ext cx="953" cy="3524250"/>
          </a:xfrm>
          <a:custGeom>
            <a:avLst/>
            <a:gdLst/>
            <a:ahLst/>
            <a:cxnLst/>
            <a:rect l="0" t="0" r="0" b="0"/>
            <a:pathLst>
              <a:path w="953" h="3524250">
                <a:moveTo>
                  <a:pt x="0" y="0"/>
                </a:moveTo>
                <a:lnTo>
                  <a:pt x="0" y="3524250"/>
                </a:lnTo>
              </a:path>
            </a:pathLst>
          </a:custGeom>
          <a:noFill/>
          <a:ln w="28575">
            <a:solidFill>
              <a:srgbClr val="BDCDC6"/>
            </a:solidFill>
          </a:ln>
        </p:spPr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C3F5A0EA-C028-48E3-935B-73BC07E36A20}"/>
              </a:ext>
            </a:extLst>
          </p:cNvPr>
          <p:cNvSpPr>
            <a:spLocks noGrp="1"/>
          </p:cNvSpPr>
          <p:nvPr/>
        </p:nvSpPr>
        <p:spPr>
          <a:xfrm>
            <a:off x="533400" y="5314950"/>
            <a:ext cx="66675" cy="95250"/>
          </a:xfrm>
          <a:custGeom>
            <a:avLst/>
            <a:gdLst/>
            <a:ahLst/>
            <a:cxnLst/>
            <a:rect l="0" t="0" r="0" b="0"/>
            <a:pathLst>
              <a:path w="66675" h="95250">
                <a:moveTo>
                  <a:pt x="0" y="0"/>
                </a:moveTo>
                <a:lnTo>
                  <a:pt x="66675" y="95250"/>
                </a:lnTo>
              </a:path>
            </a:pathLst>
          </a:custGeom>
          <a:noFill/>
          <a:ln w="28575">
            <a:solidFill>
              <a:srgbClr val="BDCDC6"/>
            </a:solidFill>
          </a:ln>
        </p:spPr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F5857420-48BA-4958-9703-E31BA4E578D3}"/>
              </a:ext>
            </a:extLst>
          </p:cNvPr>
          <p:cNvSpPr>
            <a:spLocks noGrp="1"/>
          </p:cNvSpPr>
          <p:nvPr/>
        </p:nvSpPr>
        <p:spPr>
          <a:xfrm>
            <a:off x="600075" y="5314950"/>
            <a:ext cx="66675" cy="95250"/>
          </a:xfrm>
          <a:custGeom>
            <a:avLst/>
            <a:gdLst/>
            <a:ahLst/>
            <a:cxnLst/>
            <a:rect l="0" t="0" r="0" b="0"/>
            <a:pathLst>
              <a:path w="66675" h="95250">
                <a:moveTo>
                  <a:pt x="66675" y="0"/>
                </a:moveTo>
                <a:lnTo>
                  <a:pt x="0" y="95250"/>
                </a:lnTo>
              </a:path>
            </a:pathLst>
          </a:custGeom>
          <a:noFill/>
          <a:ln w="28575">
            <a:solidFill>
              <a:srgbClr val="BDCDC6"/>
            </a:solidFill>
          </a:ln>
        </p:spPr>
      </p:sp>
      <p:sp>
        <p:nvSpPr>
          <p:cNvPr id="6" name="任意多边形: 形状 5">
            <a:extLst>
              <a:ext uri="{FF2B5EF4-FFF2-40B4-BE49-F238E27FC236}">
                <a16:creationId xmlns:a16="http://schemas.microsoft.com/office/drawing/2014/main" id="{F106E19A-3838-460D-8918-2D8E7F95AEDD}"/>
              </a:ext>
            </a:extLst>
          </p:cNvPr>
          <p:cNvSpPr>
            <a:spLocks noGrp="1"/>
          </p:cNvSpPr>
          <p:nvPr/>
        </p:nvSpPr>
        <p:spPr>
          <a:xfrm>
            <a:off x="600075" y="6096000"/>
            <a:ext cx="953" cy="4781550"/>
          </a:xfrm>
          <a:custGeom>
            <a:avLst/>
            <a:gdLst/>
            <a:ahLst/>
            <a:cxnLst/>
            <a:rect l="0" t="0" r="0" b="0"/>
            <a:pathLst>
              <a:path w="953" h="4781550">
                <a:moveTo>
                  <a:pt x="0" y="0"/>
                </a:moveTo>
                <a:lnTo>
                  <a:pt x="0" y="4781550"/>
                </a:lnTo>
              </a:path>
            </a:pathLst>
          </a:custGeom>
          <a:noFill/>
          <a:ln w="28575">
            <a:solidFill>
              <a:srgbClr val="BDCDC6"/>
            </a:solidFill>
          </a:ln>
        </p:spPr>
      </p:sp>
      <p:sp>
        <p:nvSpPr>
          <p:cNvPr id="7" name="任意多边形: 形状 6">
            <a:extLst>
              <a:ext uri="{FF2B5EF4-FFF2-40B4-BE49-F238E27FC236}">
                <a16:creationId xmlns:a16="http://schemas.microsoft.com/office/drawing/2014/main" id="{D7962B80-275E-48E1-8334-7434CAA0400A}"/>
              </a:ext>
            </a:extLst>
          </p:cNvPr>
          <p:cNvSpPr>
            <a:spLocks noGrp="1"/>
          </p:cNvSpPr>
          <p:nvPr/>
        </p:nvSpPr>
        <p:spPr>
          <a:xfrm>
            <a:off x="533400" y="10782300"/>
            <a:ext cx="66675" cy="95250"/>
          </a:xfrm>
          <a:custGeom>
            <a:avLst/>
            <a:gdLst/>
            <a:ahLst/>
            <a:cxnLst/>
            <a:rect l="0" t="0" r="0" b="0"/>
            <a:pathLst>
              <a:path w="66675" h="95250">
                <a:moveTo>
                  <a:pt x="0" y="0"/>
                </a:moveTo>
                <a:lnTo>
                  <a:pt x="66675" y="95250"/>
                </a:lnTo>
              </a:path>
            </a:pathLst>
          </a:custGeom>
          <a:noFill/>
          <a:ln w="28575">
            <a:solidFill>
              <a:srgbClr val="BDCDC6"/>
            </a:solidFill>
          </a:ln>
        </p:spPr>
      </p:sp>
      <p:sp>
        <p:nvSpPr>
          <p:cNvPr id="8" name="任意多边形: 形状 7">
            <a:extLst>
              <a:ext uri="{FF2B5EF4-FFF2-40B4-BE49-F238E27FC236}">
                <a16:creationId xmlns:a16="http://schemas.microsoft.com/office/drawing/2014/main" id="{E67A18B0-9CEF-4289-87CB-9B3A43B098F5}"/>
              </a:ext>
            </a:extLst>
          </p:cNvPr>
          <p:cNvSpPr>
            <a:spLocks noGrp="1"/>
          </p:cNvSpPr>
          <p:nvPr/>
        </p:nvSpPr>
        <p:spPr>
          <a:xfrm>
            <a:off x="600075" y="10782300"/>
            <a:ext cx="66675" cy="95250"/>
          </a:xfrm>
          <a:custGeom>
            <a:avLst/>
            <a:gdLst/>
            <a:ahLst/>
            <a:cxnLst/>
            <a:rect l="0" t="0" r="0" b="0"/>
            <a:pathLst>
              <a:path w="66675" h="95250">
                <a:moveTo>
                  <a:pt x="66675" y="0"/>
                </a:moveTo>
                <a:lnTo>
                  <a:pt x="0" y="95250"/>
                </a:lnTo>
              </a:path>
            </a:pathLst>
          </a:custGeom>
          <a:noFill/>
          <a:ln w="28575">
            <a:solidFill>
              <a:srgbClr val="BDCDC6"/>
            </a:solidFill>
          </a:ln>
        </p:spPr>
      </p:sp>
      <p:sp>
        <p:nvSpPr>
          <p:cNvPr id="9" name="任意多边形: 形状 8">
            <a:extLst>
              <a:ext uri="{FF2B5EF4-FFF2-40B4-BE49-F238E27FC236}">
                <a16:creationId xmlns:a16="http://schemas.microsoft.com/office/drawing/2014/main" id="{B053B2CC-F496-4537-8662-83F1B2DCB21D}"/>
              </a:ext>
            </a:extLst>
          </p:cNvPr>
          <p:cNvSpPr>
            <a:spLocks noGrp="1"/>
          </p:cNvSpPr>
          <p:nvPr/>
        </p:nvSpPr>
        <p:spPr>
          <a:xfrm>
            <a:off x="600075" y="11563350"/>
            <a:ext cx="953" cy="3086100"/>
          </a:xfrm>
          <a:custGeom>
            <a:avLst/>
            <a:gdLst/>
            <a:ahLst/>
            <a:cxnLst/>
            <a:rect l="0" t="0" r="0" b="0"/>
            <a:pathLst>
              <a:path w="953" h="3086100">
                <a:moveTo>
                  <a:pt x="0" y="0"/>
                </a:moveTo>
                <a:lnTo>
                  <a:pt x="0" y="3086100"/>
                </a:lnTo>
              </a:path>
            </a:pathLst>
          </a:custGeom>
          <a:noFill/>
          <a:ln w="28575">
            <a:solidFill>
              <a:srgbClr val="BDCDC6"/>
            </a:solidFill>
          </a:ln>
        </p:spPr>
      </p:sp>
      <p:sp>
        <p:nvSpPr>
          <p:cNvPr id="10" name="任意多边形: 形状 9">
            <a:extLst>
              <a:ext uri="{FF2B5EF4-FFF2-40B4-BE49-F238E27FC236}">
                <a16:creationId xmlns:a16="http://schemas.microsoft.com/office/drawing/2014/main" id="{750F0F09-5016-4D54-8677-190B1A762C3C}"/>
              </a:ext>
            </a:extLst>
          </p:cNvPr>
          <p:cNvSpPr>
            <a:spLocks noGrp="1"/>
          </p:cNvSpPr>
          <p:nvPr/>
        </p:nvSpPr>
        <p:spPr>
          <a:xfrm>
            <a:off x="533400" y="14554200"/>
            <a:ext cx="66675" cy="95250"/>
          </a:xfrm>
          <a:custGeom>
            <a:avLst/>
            <a:gdLst/>
            <a:ahLst/>
            <a:cxnLst/>
            <a:rect l="0" t="0" r="0" b="0"/>
            <a:pathLst>
              <a:path w="66675" h="95250">
                <a:moveTo>
                  <a:pt x="0" y="0"/>
                </a:moveTo>
                <a:lnTo>
                  <a:pt x="66675" y="95250"/>
                </a:lnTo>
              </a:path>
            </a:pathLst>
          </a:custGeom>
          <a:noFill/>
          <a:ln w="28575">
            <a:solidFill>
              <a:srgbClr val="BDCDC6"/>
            </a:solidFill>
          </a:ln>
        </p:spPr>
      </p:sp>
      <p:sp>
        <p:nvSpPr>
          <p:cNvPr id="11" name="任意多边形: 形状 10">
            <a:extLst>
              <a:ext uri="{FF2B5EF4-FFF2-40B4-BE49-F238E27FC236}">
                <a16:creationId xmlns:a16="http://schemas.microsoft.com/office/drawing/2014/main" id="{5BE4F559-A946-48BD-A177-A8CC938C4144}"/>
              </a:ext>
            </a:extLst>
          </p:cNvPr>
          <p:cNvSpPr>
            <a:spLocks noGrp="1"/>
          </p:cNvSpPr>
          <p:nvPr/>
        </p:nvSpPr>
        <p:spPr>
          <a:xfrm>
            <a:off x="600075" y="14554200"/>
            <a:ext cx="66675" cy="95250"/>
          </a:xfrm>
          <a:custGeom>
            <a:avLst/>
            <a:gdLst/>
            <a:ahLst/>
            <a:cxnLst/>
            <a:rect l="0" t="0" r="0" b="0"/>
            <a:pathLst>
              <a:path w="66675" h="95250">
                <a:moveTo>
                  <a:pt x="66675" y="0"/>
                </a:moveTo>
                <a:lnTo>
                  <a:pt x="0" y="95250"/>
                </a:lnTo>
              </a:path>
            </a:pathLst>
          </a:custGeom>
          <a:noFill/>
          <a:ln w="28575">
            <a:solidFill>
              <a:srgbClr val="BDCDC6"/>
            </a:solidFill>
          </a:ln>
        </p:spPr>
      </p:sp>
      <p:sp>
        <p:nvSpPr>
          <p:cNvPr id="12" name="椭圆 11">
            <a:extLst>
              <a:ext uri="{FF2B5EF4-FFF2-40B4-BE49-F238E27FC236}">
                <a16:creationId xmlns:a16="http://schemas.microsoft.com/office/drawing/2014/main" id="{497CB978-61A3-4BCB-9956-CA4436493BB4}"/>
              </a:ext>
            </a:extLst>
          </p:cNvPr>
          <p:cNvSpPr>
            <a:spLocks noGrp="1"/>
          </p:cNvSpPr>
          <p:nvPr/>
        </p:nvSpPr>
        <p:spPr>
          <a:xfrm>
            <a:off x="361950" y="1314450"/>
            <a:ext cx="476250" cy="476250"/>
          </a:xfrm>
          <a:prstGeom prst="ellipse">
            <a:avLst/>
          </a:prstGeom>
          <a:solidFill>
            <a:srgbClr val="366755"/>
          </a:solidFill>
          <a:ln w="0">
            <a:noFill/>
          </a:ln>
        </p:spPr>
        <p:txBody>
          <a:bodyPr lIns="0" tIns="0" rIns="0" bIns="0" anchor="ctr"/>
          <a:lstStyle/>
          <a:p>
            <a:pPr algn="ctr">
              <a:defRPr sz="23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0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55D0B88E-330C-454A-A821-B9E51A27669D}"/>
              </a:ext>
            </a:extLst>
          </p:cNvPr>
          <p:cNvSpPr>
            <a:spLocks noGrp="1"/>
          </p:cNvSpPr>
          <p:nvPr/>
        </p:nvSpPr>
        <p:spPr>
          <a:xfrm>
            <a:off x="1238250" y="1333500"/>
            <a:ext cx="2000250" cy="4572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2850" b="1">
                <a:solidFill>
                  <a:srgbClr val="366755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366755"/>
                </a:solidFill>
                <a:latin typeface="Arial"/>
                <a:ea typeface="Arial"/>
                <a:cs typeface="Arial"/>
              </a:rPr>
              <a:t>Input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17BFCB8A-2358-4373-88E1-CF1271F60414}"/>
              </a:ext>
            </a:extLst>
          </p:cNvPr>
          <p:cNvSpPr>
            <a:spLocks noGrp="1"/>
          </p:cNvSpPr>
          <p:nvPr/>
        </p:nvSpPr>
        <p:spPr>
          <a:xfrm>
            <a:off x="3524250" y="1362075"/>
            <a:ext cx="12715875" cy="4000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2325" b="0">
                <a:solidFill>
                  <a:srgbClr val="60717A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60717A"/>
                </a:solidFill>
                <a:latin typeface="Arial"/>
                <a:ea typeface="Arial"/>
                <a:cs typeface="Arial"/>
              </a:rPr>
              <a:t>Reconstructing the receptor from the experimental map with CryoAtom2</a:t>
            </a:r>
          </a:p>
        </p:txBody>
      </p:sp>
      <p:sp>
        <p:nvSpPr>
          <p:cNvPr id="15" name="任意多边形: 形状 14">
            <a:extLst>
              <a:ext uri="{FF2B5EF4-FFF2-40B4-BE49-F238E27FC236}">
                <a16:creationId xmlns:a16="http://schemas.microsoft.com/office/drawing/2014/main" id="{2EA342B6-8BFC-4209-86F2-02F84155993A}"/>
              </a:ext>
            </a:extLst>
          </p:cNvPr>
          <p:cNvSpPr>
            <a:spLocks noGrp="1"/>
          </p:cNvSpPr>
          <p:nvPr/>
        </p:nvSpPr>
        <p:spPr>
          <a:xfrm>
            <a:off x="1238250" y="1895475"/>
            <a:ext cx="15049500" cy="953"/>
          </a:xfrm>
          <a:custGeom>
            <a:avLst/>
            <a:gdLst/>
            <a:ahLst/>
            <a:cxnLst/>
            <a:rect l="0" t="0" r="0" b="0"/>
            <a:pathLst>
              <a:path w="15049500" h="953">
                <a:moveTo>
                  <a:pt x="0" y="0"/>
                </a:moveTo>
                <a:lnTo>
                  <a:pt x="15049500" y="0"/>
                </a:lnTo>
              </a:path>
            </a:pathLst>
          </a:custGeom>
          <a:noFill/>
          <a:ln w="19050">
            <a:solidFill>
              <a:srgbClr val="E6EDEB"/>
            </a:solidFill>
          </a:ln>
        </p:spPr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CDF39A27-284F-4F2C-A1D8-6E36BBCF8577}"/>
              </a:ext>
            </a:extLst>
          </p:cNvPr>
          <p:cNvSpPr>
            <a:spLocks noGrp="1"/>
          </p:cNvSpPr>
          <p:nvPr/>
        </p:nvSpPr>
        <p:spPr>
          <a:xfrm>
            <a:off x="1238250" y="2076450"/>
            <a:ext cx="352425" cy="3714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2475" b="1">
                <a:solidFill>
                  <a:srgbClr val="203544"/>
                </a:solidFill>
                <a:latin typeface="Arial"/>
                <a:ea typeface="Arial"/>
                <a:cs typeface="Arial"/>
              </a:defRPr>
            </a:pPr>
            <a:r>
              <a:rPr sz="2475" b="1">
                <a:solidFill>
                  <a:srgbClr val="203544"/>
                </a:solidFill>
                <a:latin typeface="Arial"/>
                <a:ea typeface="Arial"/>
                <a:cs typeface="Arial"/>
              </a:rPr>
              <a:t>a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0E6B0CC1-2FC4-4B84-A2DA-974D9292F62D}"/>
              </a:ext>
            </a:extLst>
          </p:cNvPr>
          <p:cNvSpPr>
            <a:spLocks noGrp="1"/>
          </p:cNvSpPr>
          <p:nvPr/>
        </p:nvSpPr>
        <p:spPr>
          <a:xfrm>
            <a:off x="1657350" y="2085975"/>
            <a:ext cx="4152900" cy="3714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2325" b="0">
                <a:solidFill>
                  <a:srgbClr val="203544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203544"/>
                </a:solidFill>
                <a:latin typeface="Arial"/>
                <a:ea typeface="Arial"/>
                <a:cs typeface="Arial"/>
              </a:rPr>
              <a:t>Experimental map</a:t>
            </a:r>
          </a:p>
        </p:txBody>
      </p:sp>
      <p:pic>
        <p:nvPicPr>
          <p:cNvPr id="122" name="global_density_same_scale" descr="9QRU global_density_same_scale; native ChimeraX; source C:\Users\15919\Desktop\论文草稿\画图\formal\E2E_flow_v2_20261003\9qru\renders\global_density_same_scale.png; editable crop only"/>
          <p:cNvPicPr>
            <a:picLocks noChangeAspect="1"/>
          </p:cNvPicPr>
          <p:nvPr/>
        </p:nvPicPr>
        <p:blipFill>
          <a:blip r:embed="rId4"/>
          <a:srcRect l="19233" t="17083" r="20357" b="13735"/>
          <a:stretch>
            <a:fillRect/>
          </a:stretch>
        </p:blipFill>
        <p:spPr>
          <a:xfrm>
            <a:off x="1860804" y="2476500"/>
            <a:ext cx="3326892" cy="2857500"/>
          </a:xfrm>
          <a:prstGeom prst="rect">
            <a:avLst/>
          </a:prstGeom>
        </p:spPr>
      </p:pic>
      <p:sp>
        <p:nvSpPr>
          <p:cNvPr id="19" name="矩形 18">
            <a:extLst>
              <a:ext uri="{FF2B5EF4-FFF2-40B4-BE49-F238E27FC236}">
                <a16:creationId xmlns:a16="http://schemas.microsoft.com/office/drawing/2014/main" id="{A98840E9-6017-4C7B-B899-5D162F037D71}"/>
              </a:ext>
            </a:extLst>
          </p:cNvPr>
          <p:cNvSpPr>
            <a:spLocks noGrp="1"/>
          </p:cNvSpPr>
          <p:nvPr/>
        </p:nvSpPr>
        <p:spPr>
          <a:xfrm>
            <a:off x="6477000" y="2076450"/>
            <a:ext cx="352425" cy="3714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2475" b="1">
                <a:solidFill>
                  <a:srgbClr val="203544"/>
                </a:solidFill>
                <a:latin typeface="Arial"/>
                <a:ea typeface="Arial"/>
                <a:cs typeface="Arial"/>
              </a:defRPr>
            </a:pPr>
            <a:r>
              <a:rPr sz="2475" b="1">
                <a:solidFill>
                  <a:srgbClr val="203544"/>
                </a:solidFill>
                <a:latin typeface="Arial"/>
                <a:ea typeface="Arial"/>
                <a:cs typeface="Arial"/>
              </a:rPr>
              <a:t>b</a:t>
            </a: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6CE6E7A5-F702-4D1C-89C4-32D3A338BB56}"/>
              </a:ext>
            </a:extLst>
          </p:cNvPr>
          <p:cNvSpPr>
            <a:spLocks noGrp="1"/>
          </p:cNvSpPr>
          <p:nvPr/>
        </p:nvSpPr>
        <p:spPr>
          <a:xfrm>
            <a:off x="6896100" y="2085975"/>
            <a:ext cx="4152900" cy="3714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2325" b="0">
                <a:solidFill>
                  <a:srgbClr val="203544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203544"/>
                </a:solidFill>
                <a:latin typeface="Arial"/>
                <a:ea typeface="Arial"/>
                <a:cs typeface="Arial"/>
              </a:rPr>
              <a:t>CA2 receptor</a:t>
            </a:r>
          </a:p>
        </p:txBody>
      </p:sp>
      <p:pic>
        <p:nvPicPr>
          <p:cNvPr id="125" name="global_ca2" descr="9QRU global_ca2; native ChimeraX; source C:\Users\15919\Desktop\论文草稿\画图\formal\E2E_flow_20261003\9qru\renders\global_ca2.png; editable crop only"/>
          <p:cNvPicPr>
            <a:picLocks noChangeAspect="1"/>
          </p:cNvPicPr>
          <p:nvPr/>
        </p:nvPicPr>
        <p:blipFill>
          <a:blip r:embed="rId5"/>
          <a:srcRect l="19233" t="17083" r="20357" b="13735"/>
          <a:stretch>
            <a:fillRect/>
          </a:stretch>
        </p:blipFill>
        <p:spPr>
          <a:xfrm>
            <a:off x="7099554" y="2476500"/>
            <a:ext cx="3326892" cy="2857500"/>
          </a:xfrm>
          <a:prstGeom prst="rect">
            <a:avLst/>
          </a:prstGeom>
        </p:spPr>
      </p:pic>
      <p:sp>
        <p:nvSpPr>
          <p:cNvPr id="22" name="矩形 21">
            <a:extLst>
              <a:ext uri="{FF2B5EF4-FFF2-40B4-BE49-F238E27FC236}">
                <a16:creationId xmlns:a16="http://schemas.microsoft.com/office/drawing/2014/main" id="{F668267E-AEBB-44C4-B44B-F6FEE63EFC5C}"/>
              </a:ext>
            </a:extLst>
          </p:cNvPr>
          <p:cNvSpPr>
            <a:spLocks noGrp="1"/>
          </p:cNvSpPr>
          <p:nvPr/>
        </p:nvSpPr>
        <p:spPr>
          <a:xfrm>
            <a:off x="11715750" y="2076450"/>
            <a:ext cx="352425" cy="3714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2475" b="1">
                <a:solidFill>
                  <a:srgbClr val="203544"/>
                </a:solidFill>
                <a:latin typeface="Arial"/>
                <a:ea typeface="Arial"/>
                <a:cs typeface="Arial"/>
              </a:defRPr>
            </a:pPr>
            <a:r>
              <a:rPr sz="2475" b="1">
                <a:solidFill>
                  <a:srgbClr val="203544"/>
                </a:solidFill>
                <a:latin typeface="Arial"/>
                <a:ea typeface="Arial"/>
                <a:cs typeface="Arial"/>
              </a:rPr>
              <a:t>c</a:t>
            </a:r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AA0CE058-18C3-4D68-BD10-7C52B71F7F5B}"/>
              </a:ext>
            </a:extLst>
          </p:cNvPr>
          <p:cNvSpPr>
            <a:spLocks noGrp="1"/>
          </p:cNvSpPr>
          <p:nvPr/>
        </p:nvSpPr>
        <p:spPr>
          <a:xfrm>
            <a:off x="12134850" y="2085975"/>
            <a:ext cx="4152900" cy="3714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2325" b="0">
                <a:solidFill>
                  <a:srgbClr val="203544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203544"/>
                </a:solidFill>
                <a:latin typeface="Arial"/>
                <a:ea typeface="Arial"/>
                <a:cs typeface="Arial"/>
              </a:rPr>
              <a:t>GT receptor (reference)</a:t>
            </a:r>
          </a:p>
        </p:txBody>
      </p:sp>
      <p:pic>
        <p:nvPicPr>
          <p:cNvPr id="128" name="global_gt" descr="9QRU global_gt; native ChimeraX; source C:\Users\15919\Desktop\论文草稿\画图\formal\E2E_flow_20261003\9qru\renders\global_gt.png; editable crop only"/>
          <p:cNvPicPr>
            <a:picLocks noChangeAspect="1"/>
          </p:cNvPicPr>
          <p:nvPr/>
        </p:nvPicPr>
        <p:blipFill>
          <a:blip r:embed="rId6"/>
          <a:srcRect l="19233" t="17083" r="20357" b="13735"/>
          <a:stretch>
            <a:fillRect/>
          </a:stretch>
        </p:blipFill>
        <p:spPr>
          <a:xfrm>
            <a:off x="12338304" y="2476500"/>
            <a:ext cx="3326892" cy="2857500"/>
          </a:xfrm>
          <a:prstGeom prst="rect">
            <a:avLst/>
          </a:prstGeom>
        </p:spPr>
      </p:pic>
      <p:sp>
        <p:nvSpPr>
          <p:cNvPr id="25" name="矩形 24">
            <a:extLst>
              <a:ext uri="{FF2B5EF4-FFF2-40B4-BE49-F238E27FC236}">
                <a16:creationId xmlns:a16="http://schemas.microsoft.com/office/drawing/2014/main" id="{451FB21C-CC71-4B5F-90B2-7D3E30CBC21D}"/>
              </a:ext>
            </a:extLst>
          </p:cNvPr>
          <p:cNvSpPr>
            <a:spLocks noGrp="1"/>
          </p:cNvSpPr>
          <p:nvPr/>
        </p:nvSpPr>
        <p:spPr>
          <a:xfrm>
            <a:off x="5181600" y="3419475"/>
            <a:ext cx="2114550" cy="4000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2250" b="1">
                <a:solidFill>
                  <a:srgbClr val="366755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366755"/>
                </a:solidFill>
                <a:latin typeface="Arial"/>
                <a:ea typeface="Arial"/>
                <a:cs typeface="Arial"/>
              </a:rPr>
              <a:t>CryoAtom2</a:t>
            </a:r>
          </a:p>
        </p:txBody>
      </p:sp>
      <p:sp>
        <p:nvSpPr>
          <p:cNvPr id="26" name="任意多边形: 形状 25">
            <a:extLst>
              <a:ext uri="{FF2B5EF4-FFF2-40B4-BE49-F238E27FC236}">
                <a16:creationId xmlns:a16="http://schemas.microsoft.com/office/drawing/2014/main" id="{44FAF477-F764-49BB-A883-A1B4D6F1405A}"/>
              </a:ext>
            </a:extLst>
          </p:cNvPr>
          <p:cNvSpPr>
            <a:spLocks noGrp="1"/>
          </p:cNvSpPr>
          <p:nvPr/>
        </p:nvSpPr>
        <p:spPr>
          <a:xfrm>
            <a:off x="5286375" y="3905250"/>
            <a:ext cx="2019300" cy="953"/>
          </a:xfrm>
          <a:custGeom>
            <a:avLst/>
            <a:gdLst/>
            <a:ahLst/>
            <a:cxnLst/>
            <a:rect l="0" t="0" r="0" b="0"/>
            <a:pathLst>
              <a:path w="2019300" h="953">
                <a:moveTo>
                  <a:pt x="0" y="0"/>
                </a:moveTo>
                <a:lnTo>
                  <a:pt x="2019300" y="0"/>
                </a:lnTo>
              </a:path>
            </a:pathLst>
          </a:custGeom>
          <a:noFill/>
          <a:ln w="38100">
            <a:solidFill>
              <a:srgbClr val="366755"/>
            </a:solidFill>
          </a:ln>
        </p:spPr>
      </p:sp>
      <p:sp>
        <p:nvSpPr>
          <p:cNvPr id="27" name="任意多边形: 形状 26">
            <a:extLst>
              <a:ext uri="{FF2B5EF4-FFF2-40B4-BE49-F238E27FC236}">
                <a16:creationId xmlns:a16="http://schemas.microsoft.com/office/drawing/2014/main" id="{C1381405-1C04-4EC3-8D76-0A9508372CA5}"/>
              </a:ext>
            </a:extLst>
          </p:cNvPr>
          <p:cNvSpPr>
            <a:spLocks noGrp="1"/>
          </p:cNvSpPr>
          <p:nvPr/>
        </p:nvSpPr>
        <p:spPr>
          <a:xfrm>
            <a:off x="7162800" y="3810000"/>
            <a:ext cx="142875" cy="95250"/>
          </a:xfrm>
          <a:custGeom>
            <a:avLst/>
            <a:gdLst/>
            <a:ahLst/>
            <a:cxnLst/>
            <a:rect l="0" t="0" r="0" b="0"/>
            <a:pathLst>
              <a:path w="142875" h="95250">
                <a:moveTo>
                  <a:pt x="0" y="0"/>
                </a:moveTo>
                <a:lnTo>
                  <a:pt x="142875" y="95250"/>
                </a:lnTo>
              </a:path>
            </a:pathLst>
          </a:custGeom>
          <a:noFill/>
          <a:ln w="38100">
            <a:solidFill>
              <a:srgbClr val="366755"/>
            </a:solidFill>
          </a:ln>
        </p:spPr>
      </p:sp>
      <p:sp>
        <p:nvSpPr>
          <p:cNvPr id="28" name="任意多边形: 形状 27">
            <a:extLst>
              <a:ext uri="{FF2B5EF4-FFF2-40B4-BE49-F238E27FC236}">
                <a16:creationId xmlns:a16="http://schemas.microsoft.com/office/drawing/2014/main" id="{9A048292-1314-4456-9822-CD81D98485D7}"/>
              </a:ext>
            </a:extLst>
          </p:cNvPr>
          <p:cNvSpPr>
            <a:spLocks noGrp="1"/>
          </p:cNvSpPr>
          <p:nvPr/>
        </p:nvSpPr>
        <p:spPr>
          <a:xfrm>
            <a:off x="7162800" y="3905250"/>
            <a:ext cx="142875" cy="95250"/>
          </a:xfrm>
          <a:custGeom>
            <a:avLst/>
            <a:gdLst/>
            <a:ahLst/>
            <a:cxnLst/>
            <a:rect l="0" t="0" r="0" b="0"/>
            <a:pathLst>
              <a:path w="142875" h="95250">
                <a:moveTo>
                  <a:pt x="0" y="95250"/>
                </a:moveTo>
                <a:lnTo>
                  <a:pt x="142875" y="0"/>
                </a:lnTo>
              </a:path>
            </a:pathLst>
          </a:custGeom>
          <a:noFill/>
          <a:ln w="38100">
            <a:solidFill>
              <a:srgbClr val="366755"/>
            </a:solidFill>
          </a:ln>
        </p:spPr>
      </p:sp>
      <p:sp>
        <p:nvSpPr>
          <p:cNvPr id="29" name="任意多边形: 形状 28">
            <a:extLst>
              <a:ext uri="{FF2B5EF4-FFF2-40B4-BE49-F238E27FC236}">
                <a16:creationId xmlns:a16="http://schemas.microsoft.com/office/drawing/2014/main" id="{7D3966AA-D562-4220-969F-8E8F09A575CF}"/>
              </a:ext>
            </a:extLst>
          </p:cNvPr>
          <p:cNvSpPr>
            <a:spLocks noGrp="1"/>
          </p:cNvSpPr>
          <p:nvPr/>
        </p:nvSpPr>
        <p:spPr>
          <a:xfrm>
            <a:off x="11430000" y="2000250"/>
            <a:ext cx="953" cy="104775"/>
          </a:xfrm>
          <a:custGeom>
            <a:avLst/>
            <a:gdLst/>
            <a:ahLst/>
            <a:cxnLst/>
            <a:rect l="0" t="0" r="0" b="0"/>
            <a:pathLst>
              <a:path w="953" h="104775">
                <a:moveTo>
                  <a:pt x="0" y="0"/>
                </a:moveTo>
                <a:lnTo>
                  <a:pt x="0" y="104775"/>
                </a:lnTo>
              </a:path>
            </a:pathLst>
          </a:custGeom>
          <a:noFill/>
          <a:ln w="19050">
            <a:solidFill>
              <a:srgbClr val="BDCDC6"/>
            </a:solidFill>
          </a:ln>
        </p:spPr>
      </p:sp>
      <p:sp>
        <p:nvSpPr>
          <p:cNvPr id="30" name="任意多边形: 形状 29">
            <a:extLst>
              <a:ext uri="{FF2B5EF4-FFF2-40B4-BE49-F238E27FC236}">
                <a16:creationId xmlns:a16="http://schemas.microsoft.com/office/drawing/2014/main" id="{BF650BA3-AF1A-4F54-91BE-8DF9DE4746FE}"/>
              </a:ext>
            </a:extLst>
          </p:cNvPr>
          <p:cNvSpPr>
            <a:spLocks noGrp="1"/>
          </p:cNvSpPr>
          <p:nvPr/>
        </p:nvSpPr>
        <p:spPr>
          <a:xfrm>
            <a:off x="11430000" y="2190750"/>
            <a:ext cx="953" cy="104775"/>
          </a:xfrm>
          <a:custGeom>
            <a:avLst/>
            <a:gdLst/>
            <a:ahLst/>
            <a:cxnLst/>
            <a:rect l="0" t="0" r="0" b="0"/>
            <a:pathLst>
              <a:path w="953" h="104775">
                <a:moveTo>
                  <a:pt x="0" y="0"/>
                </a:moveTo>
                <a:lnTo>
                  <a:pt x="0" y="104775"/>
                </a:lnTo>
              </a:path>
            </a:pathLst>
          </a:custGeom>
          <a:noFill/>
          <a:ln w="19050">
            <a:solidFill>
              <a:srgbClr val="BDCDC6"/>
            </a:solidFill>
          </a:ln>
        </p:spPr>
      </p:sp>
      <p:sp>
        <p:nvSpPr>
          <p:cNvPr id="31" name="任意多边形: 形状 30">
            <a:extLst>
              <a:ext uri="{FF2B5EF4-FFF2-40B4-BE49-F238E27FC236}">
                <a16:creationId xmlns:a16="http://schemas.microsoft.com/office/drawing/2014/main" id="{D24B7B6D-E6D7-4C91-8F11-7C877079A218}"/>
              </a:ext>
            </a:extLst>
          </p:cNvPr>
          <p:cNvSpPr>
            <a:spLocks noGrp="1"/>
          </p:cNvSpPr>
          <p:nvPr/>
        </p:nvSpPr>
        <p:spPr>
          <a:xfrm>
            <a:off x="11430000" y="2381250"/>
            <a:ext cx="953" cy="104775"/>
          </a:xfrm>
          <a:custGeom>
            <a:avLst/>
            <a:gdLst/>
            <a:ahLst/>
            <a:cxnLst/>
            <a:rect l="0" t="0" r="0" b="0"/>
            <a:pathLst>
              <a:path w="953" h="104775">
                <a:moveTo>
                  <a:pt x="0" y="0"/>
                </a:moveTo>
                <a:lnTo>
                  <a:pt x="0" y="104775"/>
                </a:lnTo>
              </a:path>
            </a:pathLst>
          </a:custGeom>
          <a:noFill/>
          <a:ln w="19050">
            <a:solidFill>
              <a:srgbClr val="BDCDC6"/>
            </a:solidFill>
          </a:ln>
        </p:spPr>
      </p:sp>
      <p:sp>
        <p:nvSpPr>
          <p:cNvPr id="32" name="任意多边形: 形状 31">
            <a:extLst>
              <a:ext uri="{FF2B5EF4-FFF2-40B4-BE49-F238E27FC236}">
                <a16:creationId xmlns:a16="http://schemas.microsoft.com/office/drawing/2014/main" id="{A0815381-0081-4EE6-A0AB-E048BAF66BEE}"/>
              </a:ext>
            </a:extLst>
          </p:cNvPr>
          <p:cNvSpPr>
            <a:spLocks noGrp="1"/>
          </p:cNvSpPr>
          <p:nvPr/>
        </p:nvSpPr>
        <p:spPr>
          <a:xfrm>
            <a:off x="11430000" y="2571750"/>
            <a:ext cx="953" cy="104775"/>
          </a:xfrm>
          <a:custGeom>
            <a:avLst/>
            <a:gdLst/>
            <a:ahLst/>
            <a:cxnLst/>
            <a:rect l="0" t="0" r="0" b="0"/>
            <a:pathLst>
              <a:path w="953" h="104775">
                <a:moveTo>
                  <a:pt x="0" y="0"/>
                </a:moveTo>
                <a:lnTo>
                  <a:pt x="0" y="104775"/>
                </a:lnTo>
              </a:path>
            </a:pathLst>
          </a:custGeom>
          <a:noFill/>
          <a:ln w="19050">
            <a:solidFill>
              <a:srgbClr val="BDCDC6"/>
            </a:solidFill>
          </a:ln>
        </p:spPr>
      </p:sp>
      <p:sp>
        <p:nvSpPr>
          <p:cNvPr id="33" name="任意多边形: 形状 32">
            <a:extLst>
              <a:ext uri="{FF2B5EF4-FFF2-40B4-BE49-F238E27FC236}">
                <a16:creationId xmlns:a16="http://schemas.microsoft.com/office/drawing/2014/main" id="{CC430E3D-8E0B-4C1A-9D0A-D093E49FBC55}"/>
              </a:ext>
            </a:extLst>
          </p:cNvPr>
          <p:cNvSpPr>
            <a:spLocks noGrp="1"/>
          </p:cNvSpPr>
          <p:nvPr/>
        </p:nvSpPr>
        <p:spPr>
          <a:xfrm>
            <a:off x="11430000" y="2762250"/>
            <a:ext cx="953" cy="104775"/>
          </a:xfrm>
          <a:custGeom>
            <a:avLst/>
            <a:gdLst/>
            <a:ahLst/>
            <a:cxnLst/>
            <a:rect l="0" t="0" r="0" b="0"/>
            <a:pathLst>
              <a:path w="953" h="104775">
                <a:moveTo>
                  <a:pt x="0" y="0"/>
                </a:moveTo>
                <a:lnTo>
                  <a:pt x="0" y="104775"/>
                </a:lnTo>
              </a:path>
            </a:pathLst>
          </a:custGeom>
          <a:noFill/>
          <a:ln w="19050">
            <a:solidFill>
              <a:srgbClr val="BDCDC6"/>
            </a:solidFill>
          </a:ln>
        </p:spPr>
      </p:sp>
      <p:sp>
        <p:nvSpPr>
          <p:cNvPr id="34" name="任意多边形: 形状 33">
            <a:extLst>
              <a:ext uri="{FF2B5EF4-FFF2-40B4-BE49-F238E27FC236}">
                <a16:creationId xmlns:a16="http://schemas.microsoft.com/office/drawing/2014/main" id="{1A48547F-B4C6-4D24-A252-E5B5347EB19D}"/>
              </a:ext>
            </a:extLst>
          </p:cNvPr>
          <p:cNvSpPr>
            <a:spLocks noGrp="1"/>
          </p:cNvSpPr>
          <p:nvPr/>
        </p:nvSpPr>
        <p:spPr>
          <a:xfrm>
            <a:off x="11430000" y="2952750"/>
            <a:ext cx="953" cy="104775"/>
          </a:xfrm>
          <a:custGeom>
            <a:avLst/>
            <a:gdLst/>
            <a:ahLst/>
            <a:cxnLst/>
            <a:rect l="0" t="0" r="0" b="0"/>
            <a:pathLst>
              <a:path w="953" h="104775">
                <a:moveTo>
                  <a:pt x="0" y="0"/>
                </a:moveTo>
                <a:lnTo>
                  <a:pt x="0" y="104775"/>
                </a:lnTo>
              </a:path>
            </a:pathLst>
          </a:custGeom>
          <a:noFill/>
          <a:ln w="19050">
            <a:solidFill>
              <a:srgbClr val="BDCDC6"/>
            </a:solidFill>
          </a:ln>
        </p:spPr>
      </p:sp>
      <p:sp>
        <p:nvSpPr>
          <p:cNvPr id="35" name="任意多边形: 形状 34">
            <a:extLst>
              <a:ext uri="{FF2B5EF4-FFF2-40B4-BE49-F238E27FC236}">
                <a16:creationId xmlns:a16="http://schemas.microsoft.com/office/drawing/2014/main" id="{DB738779-B7CD-4A88-B1C1-A1991A253060}"/>
              </a:ext>
            </a:extLst>
          </p:cNvPr>
          <p:cNvSpPr>
            <a:spLocks noGrp="1"/>
          </p:cNvSpPr>
          <p:nvPr/>
        </p:nvSpPr>
        <p:spPr>
          <a:xfrm>
            <a:off x="11430000" y="3143250"/>
            <a:ext cx="953" cy="104775"/>
          </a:xfrm>
          <a:custGeom>
            <a:avLst/>
            <a:gdLst/>
            <a:ahLst/>
            <a:cxnLst/>
            <a:rect l="0" t="0" r="0" b="0"/>
            <a:pathLst>
              <a:path w="953" h="104775">
                <a:moveTo>
                  <a:pt x="0" y="0"/>
                </a:moveTo>
                <a:lnTo>
                  <a:pt x="0" y="104775"/>
                </a:lnTo>
              </a:path>
            </a:pathLst>
          </a:custGeom>
          <a:noFill/>
          <a:ln w="19050">
            <a:solidFill>
              <a:srgbClr val="BDCDC6"/>
            </a:solidFill>
          </a:ln>
        </p:spPr>
      </p:sp>
      <p:sp>
        <p:nvSpPr>
          <p:cNvPr id="36" name="任意多边形: 形状 35">
            <a:extLst>
              <a:ext uri="{FF2B5EF4-FFF2-40B4-BE49-F238E27FC236}">
                <a16:creationId xmlns:a16="http://schemas.microsoft.com/office/drawing/2014/main" id="{20E37C15-3504-4DBB-AD82-8F03C95099CE}"/>
              </a:ext>
            </a:extLst>
          </p:cNvPr>
          <p:cNvSpPr>
            <a:spLocks noGrp="1"/>
          </p:cNvSpPr>
          <p:nvPr/>
        </p:nvSpPr>
        <p:spPr>
          <a:xfrm>
            <a:off x="11430000" y="3333750"/>
            <a:ext cx="953" cy="104775"/>
          </a:xfrm>
          <a:custGeom>
            <a:avLst/>
            <a:gdLst/>
            <a:ahLst/>
            <a:cxnLst/>
            <a:rect l="0" t="0" r="0" b="0"/>
            <a:pathLst>
              <a:path w="953" h="104775">
                <a:moveTo>
                  <a:pt x="0" y="0"/>
                </a:moveTo>
                <a:lnTo>
                  <a:pt x="0" y="104775"/>
                </a:lnTo>
              </a:path>
            </a:pathLst>
          </a:custGeom>
          <a:noFill/>
          <a:ln w="19050">
            <a:solidFill>
              <a:srgbClr val="BDCDC6"/>
            </a:solidFill>
          </a:ln>
        </p:spPr>
      </p:sp>
      <p:sp>
        <p:nvSpPr>
          <p:cNvPr id="37" name="任意多边形: 形状 36">
            <a:extLst>
              <a:ext uri="{FF2B5EF4-FFF2-40B4-BE49-F238E27FC236}">
                <a16:creationId xmlns:a16="http://schemas.microsoft.com/office/drawing/2014/main" id="{7417DFCB-312C-41F7-B99E-3FEE6B9C6F1D}"/>
              </a:ext>
            </a:extLst>
          </p:cNvPr>
          <p:cNvSpPr>
            <a:spLocks noGrp="1"/>
          </p:cNvSpPr>
          <p:nvPr/>
        </p:nvSpPr>
        <p:spPr>
          <a:xfrm>
            <a:off x="11430000" y="3524250"/>
            <a:ext cx="953" cy="104775"/>
          </a:xfrm>
          <a:custGeom>
            <a:avLst/>
            <a:gdLst/>
            <a:ahLst/>
            <a:cxnLst/>
            <a:rect l="0" t="0" r="0" b="0"/>
            <a:pathLst>
              <a:path w="953" h="104775">
                <a:moveTo>
                  <a:pt x="0" y="0"/>
                </a:moveTo>
                <a:lnTo>
                  <a:pt x="0" y="104775"/>
                </a:lnTo>
              </a:path>
            </a:pathLst>
          </a:custGeom>
          <a:noFill/>
          <a:ln w="19050">
            <a:solidFill>
              <a:srgbClr val="BDCDC6"/>
            </a:solidFill>
          </a:ln>
        </p:spPr>
      </p:sp>
      <p:sp>
        <p:nvSpPr>
          <p:cNvPr id="38" name="任意多边形: 形状 37">
            <a:extLst>
              <a:ext uri="{FF2B5EF4-FFF2-40B4-BE49-F238E27FC236}">
                <a16:creationId xmlns:a16="http://schemas.microsoft.com/office/drawing/2014/main" id="{536562CF-9850-46C3-9875-40EFE8C09B3F}"/>
              </a:ext>
            </a:extLst>
          </p:cNvPr>
          <p:cNvSpPr>
            <a:spLocks noGrp="1"/>
          </p:cNvSpPr>
          <p:nvPr/>
        </p:nvSpPr>
        <p:spPr>
          <a:xfrm>
            <a:off x="11430000" y="3714750"/>
            <a:ext cx="953" cy="104775"/>
          </a:xfrm>
          <a:custGeom>
            <a:avLst/>
            <a:gdLst/>
            <a:ahLst/>
            <a:cxnLst/>
            <a:rect l="0" t="0" r="0" b="0"/>
            <a:pathLst>
              <a:path w="953" h="104775">
                <a:moveTo>
                  <a:pt x="0" y="0"/>
                </a:moveTo>
                <a:lnTo>
                  <a:pt x="0" y="104775"/>
                </a:lnTo>
              </a:path>
            </a:pathLst>
          </a:custGeom>
          <a:noFill/>
          <a:ln w="19050">
            <a:solidFill>
              <a:srgbClr val="BDCDC6"/>
            </a:solidFill>
          </a:ln>
        </p:spPr>
      </p:sp>
      <p:sp>
        <p:nvSpPr>
          <p:cNvPr id="39" name="任意多边形: 形状 38">
            <a:extLst>
              <a:ext uri="{FF2B5EF4-FFF2-40B4-BE49-F238E27FC236}">
                <a16:creationId xmlns:a16="http://schemas.microsoft.com/office/drawing/2014/main" id="{2046D726-9BC3-41BA-853B-00185AE73EA9}"/>
              </a:ext>
            </a:extLst>
          </p:cNvPr>
          <p:cNvSpPr>
            <a:spLocks noGrp="1"/>
          </p:cNvSpPr>
          <p:nvPr/>
        </p:nvSpPr>
        <p:spPr>
          <a:xfrm>
            <a:off x="11430000" y="3905250"/>
            <a:ext cx="953" cy="104775"/>
          </a:xfrm>
          <a:custGeom>
            <a:avLst/>
            <a:gdLst/>
            <a:ahLst/>
            <a:cxnLst/>
            <a:rect l="0" t="0" r="0" b="0"/>
            <a:pathLst>
              <a:path w="953" h="104775">
                <a:moveTo>
                  <a:pt x="0" y="0"/>
                </a:moveTo>
                <a:lnTo>
                  <a:pt x="0" y="104775"/>
                </a:lnTo>
              </a:path>
            </a:pathLst>
          </a:custGeom>
          <a:noFill/>
          <a:ln w="19050">
            <a:solidFill>
              <a:srgbClr val="BDCDC6"/>
            </a:solidFill>
          </a:ln>
        </p:spPr>
      </p:sp>
      <p:sp>
        <p:nvSpPr>
          <p:cNvPr id="40" name="任意多边形: 形状 39">
            <a:extLst>
              <a:ext uri="{FF2B5EF4-FFF2-40B4-BE49-F238E27FC236}">
                <a16:creationId xmlns:a16="http://schemas.microsoft.com/office/drawing/2014/main" id="{A37CACF6-5B43-4243-BA03-4705E957974A}"/>
              </a:ext>
            </a:extLst>
          </p:cNvPr>
          <p:cNvSpPr>
            <a:spLocks noGrp="1"/>
          </p:cNvSpPr>
          <p:nvPr/>
        </p:nvSpPr>
        <p:spPr>
          <a:xfrm>
            <a:off x="11430000" y="4095750"/>
            <a:ext cx="953" cy="104775"/>
          </a:xfrm>
          <a:custGeom>
            <a:avLst/>
            <a:gdLst/>
            <a:ahLst/>
            <a:cxnLst/>
            <a:rect l="0" t="0" r="0" b="0"/>
            <a:pathLst>
              <a:path w="953" h="104775">
                <a:moveTo>
                  <a:pt x="0" y="0"/>
                </a:moveTo>
                <a:lnTo>
                  <a:pt x="0" y="104775"/>
                </a:lnTo>
              </a:path>
            </a:pathLst>
          </a:custGeom>
          <a:noFill/>
          <a:ln w="19050">
            <a:solidFill>
              <a:srgbClr val="BDCDC6"/>
            </a:solidFill>
          </a:ln>
        </p:spPr>
      </p:sp>
      <p:sp>
        <p:nvSpPr>
          <p:cNvPr id="41" name="任意多边形: 形状 40">
            <a:extLst>
              <a:ext uri="{FF2B5EF4-FFF2-40B4-BE49-F238E27FC236}">
                <a16:creationId xmlns:a16="http://schemas.microsoft.com/office/drawing/2014/main" id="{D6DD490D-D0F9-4E5D-BCA1-820D2CBDCEB3}"/>
              </a:ext>
            </a:extLst>
          </p:cNvPr>
          <p:cNvSpPr>
            <a:spLocks noGrp="1"/>
          </p:cNvSpPr>
          <p:nvPr/>
        </p:nvSpPr>
        <p:spPr>
          <a:xfrm>
            <a:off x="11430000" y="4286250"/>
            <a:ext cx="953" cy="104775"/>
          </a:xfrm>
          <a:custGeom>
            <a:avLst/>
            <a:gdLst/>
            <a:ahLst/>
            <a:cxnLst/>
            <a:rect l="0" t="0" r="0" b="0"/>
            <a:pathLst>
              <a:path w="953" h="104775">
                <a:moveTo>
                  <a:pt x="0" y="0"/>
                </a:moveTo>
                <a:lnTo>
                  <a:pt x="0" y="104775"/>
                </a:lnTo>
              </a:path>
            </a:pathLst>
          </a:custGeom>
          <a:noFill/>
          <a:ln w="19050">
            <a:solidFill>
              <a:srgbClr val="BDCDC6"/>
            </a:solidFill>
          </a:ln>
        </p:spPr>
      </p:sp>
      <p:sp>
        <p:nvSpPr>
          <p:cNvPr id="42" name="任意多边形: 形状 41">
            <a:extLst>
              <a:ext uri="{FF2B5EF4-FFF2-40B4-BE49-F238E27FC236}">
                <a16:creationId xmlns:a16="http://schemas.microsoft.com/office/drawing/2014/main" id="{09237E34-D6FC-43C0-97AF-C669E5AF7BE3}"/>
              </a:ext>
            </a:extLst>
          </p:cNvPr>
          <p:cNvSpPr>
            <a:spLocks noGrp="1"/>
          </p:cNvSpPr>
          <p:nvPr/>
        </p:nvSpPr>
        <p:spPr>
          <a:xfrm>
            <a:off x="11430000" y="4476750"/>
            <a:ext cx="953" cy="104775"/>
          </a:xfrm>
          <a:custGeom>
            <a:avLst/>
            <a:gdLst/>
            <a:ahLst/>
            <a:cxnLst/>
            <a:rect l="0" t="0" r="0" b="0"/>
            <a:pathLst>
              <a:path w="953" h="104775">
                <a:moveTo>
                  <a:pt x="0" y="0"/>
                </a:moveTo>
                <a:lnTo>
                  <a:pt x="0" y="104775"/>
                </a:lnTo>
              </a:path>
            </a:pathLst>
          </a:custGeom>
          <a:noFill/>
          <a:ln w="19050">
            <a:solidFill>
              <a:srgbClr val="BDCDC6"/>
            </a:solidFill>
          </a:ln>
        </p:spPr>
      </p:sp>
      <p:sp>
        <p:nvSpPr>
          <p:cNvPr id="43" name="任意多边形: 形状 42">
            <a:extLst>
              <a:ext uri="{FF2B5EF4-FFF2-40B4-BE49-F238E27FC236}">
                <a16:creationId xmlns:a16="http://schemas.microsoft.com/office/drawing/2014/main" id="{C07DDBD8-BF7B-469F-819B-7BF7E98EA7ED}"/>
              </a:ext>
            </a:extLst>
          </p:cNvPr>
          <p:cNvSpPr>
            <a:spLocks noGrp="1"/>
          </p:cNvSpPr>
          <p:nvPr/>
        </p:nvSpPr>
        <p:spPr>
          <a:xfrm>
            <a:off x="11430000" y="4667250"/>
            <a:ext cx="953" cy="104775"/>
          </a:xfrm>
          <a:custGeom>
            <a:avLst/>
            <a:gdLst/>
            <a:ahLst/>
            <a:cxnLst/>
            <a:rect l="0" t="0" r="0" b="0"/>
            <a:pathLst>
              <a:path w="953" h="104775">
                <a:moveTo>
                  <a:pt x="0" y="0"/>
                </a:moveTo>
                <a:lnTo>
                  <a:pt x="0" y="104775"/>
                </a:lnTo>
              </a:path>
            </a:pathLst>
          </a:custGeom>
          <a:noFill/>
          <a:ln w="19050">
            <a:solidFill>
              <a:srgbClr val="BDCDC6"/>
            </a:solidFill>
          </a:ln>
        </p:spPr>
      </p:sp>
      <p:sp>
        <p:nvSpPr>
          <p:cNvPr id="44" name="任意多边形: 形状 43">
            <a:extLst>
              <a:ext uri="{FF2B5EF4-FFF2-40B4-BE49-F238E27FC236}">
                <a16:creationId xmlns:a16="http://schemas.microsoft.com/office/drawing/2014/main" id="{9C20E58F-F400-4A41-9DE1-95AA30D2D644}"/>
              </a:ext>
            </a:extLst>
          </p:cNvPr>
          <p:cNvSpPr>
            <a:spLocks noGrp="1"/>
          </p:cNvSpPr>
          <p:nvPr/>
        </p:nvSpPr>
        <p:spPr>
          <a:xfrm>
            <a:off x="11430000" y="4857750"/>
            <a:ext cx="953" cy="104775"/>
          </a:xfrm>
          <a:custGeom>
            <a:avLst/>
            <a:gdLst/>
            <a:ahLst/>
            <a:cxnLst/>
            <a:rect l="0" t="0" r="0" b="0"/>
            <a:pathLst>
              <a:path w="953" h="104775">
                <a:moveTo>
                  <a:pt x="0" y="0"/>
                </a:moveTo>
                <a:lnTo>
                  <a:pt x="0" y="104775"/>
                </a:lnTo>
              </a:path>
            </a:pathLst>
          </a:custGeom>
          <a:noFill/>
          <a:ln w="19050">
            <a:solidFill>
              <a:srgbClr val="BDCDC6"/>
            </a:solidFill>
          </a:ln>
        </p:spPr>
      </p:sp>
      <p:sp>
        <p:nvSpPr>
          <p:cNvPr id="45" name="任意多边形: 形状 44">
            <a:extLst>
              <a:ext uri="{FF2B5EF4-FFF2-40B4-BE49-F238E27FC236}">
                <a16:creationId xmlns:a16="http://schemas.microsoft.com/office/drawing/2014/main" id="{640D7C5D-4074-42FE-9036-FA92096C297E}"/>
              </a:ext>
            </a:extLst>
          </p:cNvPr>
          <p:cNvSpPr>
            <a:spLocks noGrp="1"/>
          </p:cNvSpPr>
          <p:nvPr/>
        </p:nvSpPr>
        <p:spPr>
          <a:xfrm>
            <a:off x="11430000" y="5048250"/>
            <a:ext cx="953" cy="104775"/>
          </a:xfrm>
          <a:custGeom>
            <a:avLst/>
            <a:gdLst/>
            <a:ahLst/>
            <a:cxnLst/>
            <a:rect l="0" t="0" r="0" b="0"/>
            <a:pathLst>
              <a:path w="953" h="104775">
                <a:moveTo>
                  <a:pt x="0" y="0"/>
                </a:moveTo>
                <a:lnTo>
                  <a:pt x="0" y="104775"/>
                </a:lnTo>
              </a:path>
            </a:pathLst>
          </a:custGeom>
          <a:noFill/>
          <a:ln w="19050">
            <a:solidFill>
              <a:srgbClr val="BDCDC6"/>
            </a:solidFill>
          </a:ln>
        </p:spPr>
      </p:sp>
      <p:sp>
        <p:nvSpPr>
          <p:cNvPr id="46" name="任意多边形: 形状 45">
            <a:extLst>
              <a:ext uri="{FF2B5EF4-FFF2-40B4-BE49-F238E27FC236}">
                <a16:creationId xmlns:a16="http://schemas.microsoft.com/office/drawing/2014/main" id="{4C58929F-0272-47B8-BE00-7C4143E63B42}"/>
              </a:ext>
            </a:extLst>
          </p:cNvPr>
          <p:cNvSpPr>
            <a:spLocks noGrp="1"/>
          </p:cNvSpPr>
          <p:nvPr/>
        </p:nvSpPr>
        <p:spPr>
          <a:xfrm>
            <a:off x="11430000" y="5238750"/>
            <a:ext cx="953" cy="104775"/>
          </a:xfrm>
          <a:custGeom>
            <a:avLst/>
            <a:gdLst/>
            <a:ahLst/>
            <a:cxnLst/>
            <a:rect l="0" t="0" r="0" b="0"/>
            <a:pathLst>
              <a:path w="953" h="104775">
                <a:moveTo>
                  <a:pt x="0" y="0"/>
                </a:moveTo>
                <a:lnTo>
                  <a:pt x="0" y="104775"/>
                </a:lnTo>
              </a:path>
            </a:pathLst>
          </a:custGeom>
          <a:noFill/>
          <a:ln w="19050">
            <a:solidFill>
              <a:srgbClr val="BDCDC6"/>
            </a:solidFill>
          </a:ln>
        </p:spPr>
      </p:sp>
      <p:sp>
        <p:nvSpPr>
          <p:cNvPr id="47" name="椭圆 46">
            <a:extLst>
              <a:ext uri="{FF2B5EF4-FFF2-40B4-BE49-F238E27FC236}">
                <a16:creationId xmlns:a16="http://schemas.microsoft.com/office/drawing/2014/main" id="{C8A01958-7C1D-4A97-A186-C8499C938ED0}"/>
              </a:ext>
            </a:extLst>
          </p:cNvPr>
          <p:cNvSpPr>
            <a:spLocks noGrp="1"/>
          </p:cNvSpPr>
          <p:nvPr/>
        </p:nvSpPr>
        <p:spPr>
          <a:xfrm>
            <a:off x="361950" y="5524500"/>
            <a:ext cx="476250" cy="476250"/>
          </a:xfrm>
          <a:prstGeom prst="ellipse">
            <a:avLst/>
          </a:prstGeom>
          <a:solidFill>
            <a:srgbClr val="366755"/>
          </a:solidFill>
          <a:ln w="0">
            <a:noFill/>
          </a:ln>
        </p:spPr>
        <p:txBody>
          <a:bodyPr lIns="0" tIns="0" rIns="0" bIns="0" anchor="ctr"/>
          <a:lstStyle/>
          <a:p>
            <a:pPr algn="ctr">
              <a:defRPr sz="23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48" name="矩形 47">
            <a:extLst>
              <a:ext uri="{FF2B5EF4-FFF2-40B4-BE49-F238E27FC236}">
                <a16:creationId xmlns:a16="http://schemas.microsoft.com/office/drawing/2014/main" id="{F13D2895-AD7C-4A32-8CA0-87AF9A924FA0}"/>
              </a:ext>
            </a:extLst>
          </p:cNvPr>
          <p:cNvSpPr>
            <a:spLocks noGrp="1"/>
          </p:cNvSpPr>
          <p:nvPr/>
        </p:nvSpPr>
        <p:spPr>
          <a:xfrm>
            <a:off x="1238250" y="5543550"/>
            <a:ext cx="2000250" cy="4572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2850" b="1">
                <a:solidFill>
                  <a:srgbClr val="366755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366755"/>
                </a:solidFill>
                <a:latin typeface="Arial"/>
                <a:ea typeface="Arial"/>
                <a:cs typeface="Arial"/>
              </a:rPr>
              <a:t>Find</a:t>
            </a:r>
          </a:p>
        </p:txBody>
      </p:sp>
      <p:sp>
        <p:nvSpPr>
          <p:cNvPr id="49" name="矩形 48">
            <a:extLst>
              <a:ext uri="{FF2B5EF4-FFF2-40B4-BE49-F238E27FC236}">
                <a16:creationId xmlns:a16="http://schemas.microsoft.com/office/drawing/2014/main" id="{73123D33-98BE-4F6E-A416-4E2505454E4F}"/>
              </a:ext>
            </a:extLst>
          </p:cNvPr>
          <p:cNvSpPr>
            <a:spLocks noGrp="1"/>
          </p:cNvSpPr>
          <p:nvPr/>
        </p:nvSpPr>
        <p:spPr>
          <a:xfrm>
            <a:off x="3524250" y="5572125"/>
            <a:ext cx="12715875" cy="4000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2325" b="0">
                <a:solidFill>
                  <a:srgbClr val="60717A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60717A"/>
                </a:solidFill>
                <a:latin typeface="Arial"/>
                <a:ea typeface="Arial"/>
                <a:cs typeface="Arial"/>
              </a:rPr>
              <a:t>Locating candidate ligand regions in the experimental map</a:t>
            </a:r>
          </a:p>
        </p:txBody>
      </p:sp>
      <p:sp>
        <p:nvSpPr>
          <p:cNvPr id="50" name="任意多边形: 形状 49">
            <a:extLst>
              <a:ext uri="{FF2B5EF4-FFF2-40B4-BE49-F238E27FC236}">
                <a16:creationId xmlns:a16="http://schemas.microsoft.com/office/drawing/2014/main" id="{777A5B33-91C9-4E9F-AB3B-97B640892680}"/>
              </a:ext>
            </a:extLst>
          </p:cNvPr>
          <p:cNvSpPr>
            <a:spLocks noGrp="1"/>
          </p:cNvSpPr>
          <p:nvPr/>
        </p:nvSpPr>
        <p:spPr>
          <a:xfrm>
            <a:off x="1238250" y="6105525"/>
            <a:ext cx="15049500" cy="953"/>
          </a:xfrm>
          <a:custGeom>
            <a:avLst/>
            <a:gdLst/>
            <a:ahLst/>
            <a:cxnLst/>
            <a:rect l="0" t="0" r="0" b="0"/>
            <a:pathLst>
              <a:path w="15049500" h="953">
                <a:moveTo>
                  <a:pt x="0" y="0"/>
                </a:moveTo>
                <a:lnTo>
                  <a:pt x="15049500" y="0"/>
                </a:lnTo>
              </a:path>
            </a:pathLst>
          </a:custGeom>
          <a:noFill/>
          <a:ln w="19050">
            <a:solidFill>
              <a:srgbClr val="E6EDEB"/>
            </a:solidFill>
          </a:ln>
        </p:spPr>
      </p:sp>
      <p:sp>
        <p:nvSpPr>
          <p:cNvPr id="51" name="矩形 50">
            <a:extLst>
              <a:ext uri="{FF2B5EF4-FFF2-40B4-BE49-F238E27FC236}">
                <a16:creationId xmlns:a16="http://schemas.microsoft.com/office/drawing/2014/main" id="{19B9C8D4-BC7B-42F9-A7ED-F433CDEC0EC5}"/>
              </a:ext>
            </a:extLst>
          </p:cNvPr>
          <p:cNvSpPr>
            <a:spLocks noGrp="1"/>
          </p:cNvSpPr>
          <p:nvPr/>
        </p:nvSpPr>
        <p:spPr>
          <a:xfrm>
            <a:off x="1238250" y="6248400"/>
            <a:ext cx="352425" cy="3714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2475" b="1">
                <a:solidFill>
                  <a:srgbClr val="203544"/>
                </a:solidFill>
                <a:latin typeface="Arial"/>
                <a:ea typeface="Arial"/>
                <a:cs typeface="Arial"/>
              </a:defRPr>
            </a:pPr>
            <a:r>
              <a:rPr sz="2475" b="1">
                <a:solidFill>
                  <a:srgbClr val="203544"/>
                </a:solidFill>
                <a:latin typeface="Arial"/>
                <a:ea typeface="Arial"/>
                <a:cs typeface="Arial"/>
              </a:rPr>
              <a:t>d</a:t>
            </a:r>
          </a:p>
        </p:txBody>
      </p:sp>
      <p:sp>
        <p:nvSpPr>
          <p:cNvPr id="52" name="矩形 51">
            <a:extLst>
              <a:ext uri="{FF2B5EF4-FFF2-40B4-BE49-F238E27FC236}">
                <a16:creationId xmlns:a16="http://schemas.microsoft.com/office/drawing/2014/main" id="{7BD36547-BB5D-42A8-A385-C96AC4A5BB0B}"/>
              </a:ext>
            </a:extLst>
          </p:cNvPr>
          <p:cNvSpPr>
            <a:spLocks noGrp="1"/>
          </p:cNvSpPr>
          <p:nvPr/>
        </p:nvSpPr>
        <p:spPr>
          <a:xfrm>
            <a:off x="1657350" y="6257925"/>
            <a:ext cx="5486400" cy="3714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2325" b="0">
                <a:solidFill>
                  <a:srgbClr val="203544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203544"/>
                </a:solidFill>
                <a:latin typeface="Arial"/>
                <a:ea typeface="Arial"/>
                <a:cs typeface="Arial"/>
              </a:rPr>
              <a:t>Global candidates</a:t>
            </a:r>
          </a:p>
        </p:txBody>
      </p:sp>
      <p:pic>
        <p:nvPicPr>
          <p:cNvPr id="157" name="global_find" descr="9QRU global_find; native ChimeraX; source C:\Users\15919\Desktop\论文草稿\画图\formal\E2E_flow_v2_20261003\9qru\renders\global_find.png; editable crop only"/>
          <p:cNvPicPr>
            <a:picLocks noChangeAspect="1"/>
          </p:cNvPicPr>
          <p:nvPr/>
        </p:nvPicPr>
        <p:blipFill>
          <a:blip r:embed="rId7"/>
          <a:srcRect l="21857" t="17083" r="20550" b="29557"/>
          <a:stretch>
            <a:fillRect/>
          </a:stretch>
        </p:blipFill>
        <p:spPr>
          <a:xfrm>
            <a:off x="1243845" y="6715125"/>
            <a:ext cx="5894310" cy="4095750"/>
          </a:xfrm>
          <a:prstGeom prst="rect">
            <a:avLst/>
          </a:prstGeom>
        </p:spPr>
      </p:pic>
      <p:sp>
        <p:nvSpPr>
          <p:cNvPr id="54" name="target blob 1">
            <a:extLst>
              <a:ext uri="{FF2B5EF4-FFF2-40B4-BE49-F238E27FC236}">
                <a16:creationId xmlns:a16="http://schemas.microsoft.com/office/drawing/2014/main" id="{2DC5F5D4-1B77-4D37-ABD5-715C52204D46}"/>
              </a:ext>
            </a:extLst>
          </p:cNvPr>
          <p:cNvSpPr>
            <a:spLocks noGrp="1"/>
          </p:cNvSpPr>
          <p:nvPr/>
        </p:nvSpPr>
        <p:spPr>
          <a:xfrm>
            <a:off x="4757833" y="7884547"/>
            <a:ext cx="1269423" cy="1023960"/>
          </a:xfrm>
          <a:prstGeom prst="rect">
            <a:avLst/>
          </a:prstGeom>
          <a:noFill/>
          <a:ln w="28575">
            <a:solidFill>
              <a:srgbClr val="E9983C"/>
            </a:solidFill>
          </a:ln>
        </p:spPr>
      </p:sp>
      <p:sp>
        <p:nvSpPr>
          <p:cNvPr id="55" name="background blob 0">
            <a:extLst>
              <a:ext uri="{FF2B5EF4-FFF2-40B4-BE49-F238E27FC236}">
                <a16:creationId xmlns:a16="http://schemas.microsoft.com/office/drawing/2014/main" id="{E6570112-5CC8-49D8-989A-F4B18C2A4B80}"/>
              </a:ext>
            </a:extLst>
          </p:cNvPr>
          <p:cNvSpPr>
            <a:spLocks noGrp="1"/>
          </p:cNvSpPr>
          <p:nvPr/>
        </p:nvSpPr>
        <p:spPr>
          <a:xfrm>
            <a:off x="5543927" y="8118965"/>
            <a:ext cx="601678" cy="581998"/>
          </a:xfrm>
          <a:prstGeom prst="rect">
            <a:avLst/>
          </a:prstGeom>
          <a:noFill/>
          <a:ln w="28575">
            <a:solidFill>
              <a:srgbClr val="9F87A9"/>
            </a:solidFill>
          </a:ln>
        </p:spPr>
      </p:sp>
      <p:sp>
        <p:nvSpPr>
          <p:cNvPr id="56" name="矩形 55">
            <a:extLst>
              <a:ext uri="{FF2B5EF4-FFF2-40B4-BE49-F238E27FC236}">
                <a16:creationId xmlns:a16="http://schemas.microsoft.com/office/drawing/2014/main" id="{7FC5B610-30AC-4BA0-A2C3-41034AB191C4}"/>
              </a:ext>
            </a:extLst>
          </p:cNvPr>
          <p:cNvSpPr>
            <a:spLocks noGrp="1"/>
          </p:cNvSpPr>
          <p:nvPr/>
        </p:nvSpPr>
        <p:spPr>
          <a:xfrm>
            <a:off x="7905750" y="6248400"/>
            <a:ext cx="352425" cy="3714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2475" b="1">
                <a:solidFill>
                  <a:srgbClr val="203544"/>
                </a:solidFill>
                <a:latin typeface="Arial"/>
                <a:ea typeface="Arial"/>
                <a:cs typeface="Arial"/>
              </a:defRPr>
            </a:pPr>
            <a:r>
              <a:rPr sz="2475" b="1">
                <a:solidFill>
                  <a:srgbClr val="203544"/>
                </a:solidFill>
                <a:latin typeface="Arial"/>
                <a:ea typeface="Arial"/>
                <a:cs typeface="Arial"/>
              </a:rPr>
              <a:t>e</a:t>
            </a:r>
          </a:p>
        </p:txBody>
      </p:sp>
      <p:sp>
        <p:nvSpPr>
          <p:cNvPr id="57" name="矩形 56">
            <a:extLst>
              <a:ext uri="{FF2B5EF4-FFF2-40B4-BE49-F238E27FC236}">
                <a16:creationId xmlns:a16="http://schemas.microsoft.com/office/drawing/2014/main" id="{D97B8803-109D-4ECA-854A-B695AD88AFDE}"/>
              </a:ext>
            </a:extLst>
          </p:cNvPr>
          <p:cNvSpPr>
            <a:spLocks noGrp="1"/>
          </p:cNvSpPr>
          <p:nvPr/>
        </p:nvSpPr>
        <p:spPr>
          <a:xfrm>
            <a:off x="8324850" y="6257925"/>
            <a:ext cx="3629025" cy="3714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2325" b="0">
                <a:solidFill>
                  <a:srgbClr val="203544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203544"/>
                </a:solidFill>
                <a:latin typeface="Arial"/>
                <a:ea typeface="Arial"/>
                <a:cs typeface="Arial"/>
              </a:rPr>
              <a:t>GT neighborhood</a:t>
            </a:r>
          </a:p>
        </p:txBody>
      </p:sp>
      <p:sp>
        <p:nvSpPr>
          <p:cNvPr id="58" name="矩形 57">
            <a:extLst>
              <a:ext uri="{FF2B5EF4-FFF2-40B4-BE49-F238E27FC236}">
                <a16:creationId xmlns:a16="http://schemas.microsoft.com/office/drawing/2014/main" id="{DCBBC405-F081-4F3A-A675-45309A1433E6}"/>
              </a:ext>
            </a:extLst>
          </p:cNvPr>
          <p:cNvSpPr>
            <a:spLocks noGrp="1"/>
          </p:cNvSpPr>
          <p:nvPr/>
        </p:nvSpPr>
        <p:spPr>
          <a:xfrm>
            <a:off x="12239625" y="6248400"/>
            <a:ext cx="352425" cy="3714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2475" b="1">
                <a:solidFill>
                  <a:srgbClr val="203544"/>
                </a:solidFill>
                <a:latin typeface="Arial"/>
                <a:ea typeface="Arial"/>
                <a:cs typeface="Arial"/>
              </a:defRPr>
            </a:pPr>
            <a:r>
              <a:rPr sz="2475" b="1">
                <a:solidFill>
                  <a:srgbClr val="203544"/>
                </a:solidFill>
                <a:latin typeface="Arial"/>
                <a:ea typeface="Arial"/>
                <a:cs typeface="Arial"/>
              </a:rPr>
              <a:t>f</a:t>
            </a:r>
          </a:p>
        </p:txBody>
      </p:sp>
      <p:sp>
        <p:nvSpPr>
          <p:cNvPr id="59" name="矩形 58">
            <a:extLst>
              <a:ext uri="{FF2B5EF4-FFF2-40B4-BE49-F238E27FC236}">
                <a16:creationId xmlns:a16="http://schemas.microsoft.com/office/drawing/2014/main" id="{6BAB046D-9D54-4ACB-BCF4-58FE251049FD}"/>
              </a:ext>
            </a:extLst>
          </p:cNvPr>
          <p:cNvSpPr>
            <a:spLocks noGrp="1"/>
          </p:cNvSpPr>
          <p:nvPr/>
        </p:nvSpPr>
        <p:spPr>
          <a:xfrm>
            <a:off x="12658725" y="6257925"/>
            <a:ext cx="3629025" cy="3714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2325" b="0">
                <a:solidFill>
                  <a:srgbClr val="203544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203544"/>
                </a:solidFill>
                <a:latin typeface="Arial"/>
                <a:ea typeface="Arial"/>
                <a:cs typeface="Arial"/>
              </a:rPr>
              <a:t>Find prediction</a:t>
            </a:r>
          </a:p>
        </p:txBody>
      </p:sp>
      <p:sp>
        <p:nvSpPr>
          <p:cNvPr id="60" name="矩形 59">
            <a:extLst>
              <a:ext uri="{FF2B5EF4-FFF2-40B4-BE49-F238E27FC236}">
                <a16:creationId xmlns:a16="http://schemas.microsoft.com/office/drawing/2014/main" id="{02699EE1-9CFE-436E-8906-A70D895D9996}"/>
              </a:ext>
            </a:extLst>
          </p:cNvPr>
          <p:cNvSpPr>
            <a:spLocks noGrp="1"/>
          </p:cNvSpPr>
          <p:nvPr/>
        </p:nvSpPr>
        <p:spPr>
          <a:xfrm>
            <a:off x="7905750" y="6677025"/>
            <a:ext cx="8382000" cy="3619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2250" b="1">
                <a:solidFill>
                  <a:srgbClr val="9F87A9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9F87A9"/>
                </a:solidFill>
                <a:latin typeface="Arial"/>
                <a:ea typeface="Arial"/>
                <a:cs typeface="Arial"/>
              </a:rPr>
              <a:t>Rank 1: background, one attempt</a:t>
            </a:r>
          </a:p>
        </p:txBody>
      </p:sp>
      <p:pic>
        <p:nvPicPr>
          <p:cNvPr id="165" name="background_gt" descr="9QRU background_gt; native ChimeraX; source C:\Users\15919\Desktop\论文草稿\画图\formal\E2E_flow_20261003\9qru\renders\background_gt.png; editable crop only"/>
          <p:cNvPicPr>
            <a:picLocks noChangeAspect="1"/>
          </p:cNvPicPr>
          <p:nvPr/>
        </p:nvPicPr>
        <p:blipFill>
          <a:blip r:embed="rId8"/>
          <a:srcRect l="31319" t="30278" r="31181" b="22407"/>
          <a:stretch>
            <a:fillRect/>
          </a:stretch>
        </p:blipFill>
        <p:spPr>
          <a:xfrm>
            <a:off x="9049076" y="7096125"/>
            <a:ext cx="1761473" cy="1666875"/>
          </a:xfrm>
          <a:prstGeom prst="rect">
            <a:avLst/>
          </a:prstGeom>
        </p:spPr>
      </p:pic>
      <p:pic>
        <p:nvPicPr>
          <p:cNvPr id="166" name="background_find" descr="9QRU background_find; native ChimeraX; source C:\Users\15919\Desktop\论文草稿\画图\formal\E2E_flow_20261003\9qru\renders\background_find.png; editable crop only"/>
          <p:cNvPicPr>
            <a:picLocks noChangeAspect="1"/>
          </p:cNvPicPr>
          <p:nvPr/>
        </p:nvPicPr>
        <p:blipFill>
          <a:blip r:embed="rId9"/>
          <a:srcRect l="31319" t="30278" r="31181" b="22407"/>
          <a:stretch>
            <a:fillRect/>
          </a:stretch>
        </p:blipFill>
        <p:spPr>
          <a:xfrm>
            <a:off x="13382951" y="7096125"/>
            <a:ext cx="1761473" cy="1666875"/>
          </a:xfrm>
          <a:prstGeom prst="rect">
            <a:avLst/>
          </a:prstGeom>
        </p:spPr>
      </p:pic>
      <p:sp>
        <p:nvSpPr>
          <p:cNvPr id="63" name="矩形 62">
            <a:extLst>
              <a:ext uri="{FF2B5EF4-FFF2-40B4-BE49-F238E27FC236}">
                <a16:creationId xmlns:a16="http://schemas.microsoft.com/office/drawing/2014/main" id="{D8E83D16-033E-4BFE-B7F0-41809A47B694}"/>
              </a:ext>
            </a:extLst>
          </p:cNvPr>
          <p:cNvSpPr>
            <a:spLocks noGrp="1"/>
          </p:cNvSpPr>
          <p:nvPr/>
        </p:nvSpPr>
        <p:spPr>
          <a:xfrm>
            <a:off x="7905750" y="8782050"/>
            <a:ext cx="8382000" cy="3619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2250" b="1">
                <a:solidFill>
                  <a:srgbClr val="E9983C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E9983C"/>
                </a:solidFill>
                <a:latin typeface="Arial"/>
                <a:ea typeface="Arial"/>
                <a:cs typeface="Arial"/>
              </a:rPr>
              <a:t>Rank 2: target ligand, next attempt</a:t>
            </a:r>
          </a:p>
        </p:txBody>
      </p:sp>
      <p:pic>
        <p:nvPicPr>
          <p:cNvPr id="168" name="local_gt" descr="9QRU local_gt; native ChimeraX; source C:\Users\15919\Desktop\论文草稿\画图\formal\E2E_flow_20261003\9qru\renders\local_gt.png; editable crop only"/>
          <p:cNvPicPr>
            <a:picLocks noChangeAspect="1"/>
          </p:cNvPicPr>
          <p:nvPr/>
        </p:nvPicPr>
        <p:blipFill>
          <a:blip r:embed="rId10"/>
          <a:srcRect l="10833" t="24815" r="23472" b="8704"/>
          <a:stretch>
            <a:fillRect/>
          </a:stretch>
        </p:blipFill>
        <p:spPr>
          <a:xfrm>
            <a:off x="8831718" y="9163050"/>
            <a:ext cx="2196189" cy="1666875"/>
          </a:xfrm>
          <a:prstGeom prst="rect">
            <a:avLst/>
          </a:prstGeom>
        </p:spPr>
      </p:pic>
      <p:pic>
        <p:nvPicPr>
          <p:cNvPr id="169" name="local_find" descr="9QRU local_find; native ChimeraX; source C:\Users\15919\Desktop\论文草稿\画图\formal\E2E_flow_20261003\9qru\renders\local_find.png; editable crop only"/>
          <p:cNvPicPr>
            <a:picLocks noChangeAspect="1"/>
          </p:cNvPicPr>
          <p:nvPr/>
        </p:nvPicPr>
        <p:blipFill>
          <a:blip r:embed="rId11"/>
          <a:srcRect l="10833" t="24815" r="23472" b="8704"/>
          <a:stretch>
            <a:fillRect/>
          </a:stretch>
        </p:blipFill>
        <p:spPr>
          <a:xfrm>
            <a:off x="13165593" y="9163050"/>
            <a:ext cx="2196189" cy="1666875"/>
          </a:xfrm>
          <a:prstGeom prst="rect">
            <a:avLst/>
          </a:prstGeom>
        </p:spPr>
      </p:pic>
      <p:sp>
        <p:nvSpPr>
          <p:cNvPr id="66" name="椭圆 65">
            <a:extLst>
              <a:ext uri="{FF2B5EF4-FFF2-40B4-BE49-F238E27FC236}">
                <a16:creationId xmlns:a16="http://schemas.microsoft.com/office/drawing/2014/main" id="{DAC7FEF7-46DE-4F3C-AA23-87BFDC33E98F}"/>
              </a:ext>
            </a:extLst>
          </p:cNvPr>
          <p:cNvSpPr>
            <a:spLocks noGrp="1"/>
          </p:cNvSpPr>
          <p:nvPr/>
        </p:nvSpPr>
        <p:spPr>
          <a:xfrm>
            <a:off x="361950" y="10991850"/>
            <a:ext cx="476250" cy="476250"/>
          </a:xfrm>
          <a:prstGeom prst="ellipse">
            <a:avLst/>
          </a:prstGeom>
          <a:solidFill>
            <a:srgbClr val="366755"/>
          </a:solidFill>
          <a:ln w="0">
            <a:noFill/>
          </a:ln>
        </p:spPr>
        <p:txBody>
          <a:bodyPr lIns="0" tIns="0" rIns="0" bIns="0" anchor="ctr"/>
          <a:lstStyle/>
          <a:p>
            <a:pPr algn="ctr">
              <a:defRPr sz="23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67" name="矩形 66">
            <a:extLst>
              <a:ext uri="{FF2B5EF4-FFF2-40B4-BE49-F238E27FC236}">
                <a16:creationId xmlns:a16="http://schemas.microsoft.com/office/drawing/2014/main" id="{409413D0-7426-4D39-A34A-0F46EFB1AB20}"/>
              </a:ext>
            </a:extLst>
          </p:cNvPr>
          <p:cNvSpPr>
            <a:spLocks noGrp="1"/>
          </p:cNvSpPr>
          <p:nvPr/>
        </p:nvSpPr>
        <p:spPr>
          <a:xfrm>
            <a:off x="1238250" y="11010900"/>
            <a:ext cx="2000250" cy="4572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2850" b="1">
                <a:solidFill>
                  <a:srgbClr val="366755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366755"/>
                </a:solidFill>
                <a:latin typeface="Arial"/>
                <a:ea typeface="Arial"/>
                <a:cs typeface="Arial"/>
              </a:rPr>
              <a:t>Match</a:t>
            </a:r>
          </a:p>
        </p:txBody>
      </p:sp>
      <p:sp>
        <p:nvSpPr>
          <p:cNvPr id="68" name="矩形 67">
            <a:extLst>
              <a:ext uri="{FF2B5EF4-FFF2-40B4-BE49-F238E27FC236}">
                <a16:creationId xmlns:a16="http://schemas.microsoft.com/office/drawing/2014/main" id="{C71E1A80-B0E5-42B4-90AF-C707B776A26D}"/>
              </a:ext>
            </a:extLst>
          </p:cNvPr>
          <p:cNvSpPr>
            <a:spLocks noGrp="1"/>
          </p:cNvSpPr>
          <p:nvPr/>
        </p:nvSpPr>
        <p:spPr>
          <a:xfrm>
            <a:off x="3524250" y="11039475"/>
            <a:ext cx="12715875" cy="4000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2325" b="0">
                <a:solidFill>
                  <a:srgbClr val="60717A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60717A"/>
                </a:solidFill>
                <a:latin typeface="Arial"/>
                <a:ea typeface="Arial"/>
                <a:cs typeface="Arial"/>
              </a:rPr>
              <a:t>Matching candidate regions to ligand SMILES from the same PDB</a:t>
            </a:r>
          </a:p>
        </p:txBody>
      </p:sp>
      <p:sp>
        <p:nvSpPr>
          <p:cNvPr id="69" name="任意多边形: 形状 68">
            <a:extLst>
              <a:ext uri="{FF2B5EF4-FFF2-40B4-BE49-F238E27FC236}">
                <a16:creationId xmlns:a16="http://schemas.microsoft.com/office/drawing/2014/main" id="{10B59FE0-A7FD-4A61-973E-E380771E5FBA}"/>
              </a:ext>
            </a:extLst>
          </p:cNvPr>
          <p:cNvSpPr>
            <a:spLocks noGrp="1"/>
          </p:cNvSpPr>
          <p:nvPr/>
        </p:nvSpPr>
        <p:spPr>
          <a:xfrm>
            <a:off x="1238250" y="11572875"/>
            <a:ext cx="15049500" cy="953"/>
          </a:xfrm>
          <a:custGeom>
            <a:avLst/>
            <a:gdLst/>
            <a:ahLst/>
            <a:cxnLst/>
            <a:rect l="0" t="0" r="0" b="0"/>
            <a:pathLst>
              <a:path w="15049500" h="953">
                <a:moveTo>
                  <a:pt x="0" y="0"/>
                </a:moveTo>
                <a:lnTo>
                  <a:pt x="15049500" y="0"/>
                </a:lnTo>
              </a:path>
            </a:pathLst>
          </a:custGeom>
          <a:noFill/>
          <a:ln w="19050">
            <a:solidFill>
              <a:srgbClr val="E6EDEB"/>
            </a:solidFill>
          </a:ln>
        </p:spPr>
      </p:sp>
      <p:sp>
        <p:nvSpPr>
          <p:cNvPr id="70" name="矩形 69">
            <a:extLst>
              <a:ext uri="{FF2B5EF4-FFF2-40B4-BE49-F238E27FC236}">
                <a16:creationId xmlns:a16="http://schemas.microsoft.com/office/drawing/2014/main" id="{5CBE0008-1263-4F0D-BBB9-F947CDACB74E}"/>
              </a:ext>
            </a:extLst>
          </p:cNvPr>
          <p:cNvSpPr>
            <a:spLocks noGrp="1"/>
          </p:cNvSpPr>
          <p:nvPr/>
        </p:nvSpPr>
        <p:spPr>
          <a:xfrm>
            <a:off x="942975" y="11744325"/>
            <a:ext cx="285750" cy="381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2475" b="1">
                <a:solidFill>
                  <a:srgbClr val="203544"/>
                </a:solidFill>
                <a:latin typeface="Arial"/>
                <a:ea typeface="Arial"/>
                <a:cs typeface="Arial"/>
              </a:defRPr>
            </a:pPr>
            <a:r>
              <a:rPr sz="2475" b="1">
                <a:solidFill>
                  <a:srgbClr val="203544"/>
                </a:solidFill>
                <a:latin typeface="Arial"/>
                <a:ea typeface="Arial"/>
                <a:cs typeface="Arial"/>
              </a:rPr>
              <a:t>g</a:t>
            </a:r>
          </a:p>
        </p:txBody>
      </p:sp>
      <p:sp>
        <p:nvSpPr>
          <p:cNvPr id="71" name="Identity 1">
            <a:extLst>
              <a:ext uri="{FF2B5EF4-FFF2-40B4-BE49-F238E27FC236}">
                <a16:creationId xmlns:a16="http://schemas.microsoft.com/office/drawing/2014/main" id="{19EDFC25-48E9-4916-91E8-572DC3416D66}"/>
              </a:ext>
            </a:extLst>
          </p:cNvPr>
          <p:cNvSpPr>
            <a:spLocks noGrp="1"/>
          </p:cNvSpPr>
          <p:nvPr/>
        </p:nvSpPr>
        <p:spPr>
          <a:xfrm>
            <a:off x="1238250" y="11715750"/>
            <a:ext cx="4838700" cy="2857500"/>
          </a:xfrm>
          <a:prstGeom prst="rect">
            <a:avLst/>
          </a:prstGeom>
          <a:solidFill>
            <a:srgbClr val="FFFFFF"/>
          </a:solidFill>
          <a:ln w="28575">
            <a:solidFill>
              <a:srgbClr val="3169B3"/>
            </a:solidFill>
          </a:ln>
        </p:spPr>
      </p:sp>
      <p:sp>
        <p:nvSpPr>
          <p:cNvPr id="72" name="矩形 71">
            <a:extLst>
              <a:ext uri="{FF2B5EF4-FFF2-40B4-BE49-F238E27FC236}">
                <a16:creationId xmlns:a16="http://schemas.microsoft.com/office/drawing/2014/main" id="{27EDA25B-8EEA-4B5C-94F0-F8333560F24C}"/>
              </a:ext>
            </a:extLst>
          </p:cNvPr>
          <p:cNvSpPr>
            <a:spLocks noGrp="1"/>
          </p:cNvSpPr>
          <p:nvPr/>
        </p:nvSpPr>
        <p:spPr>
          <a:xfrm>
            <a:off x="1409700" y="11830050"/>
            <a:ext cx="4495800" cy="381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2400" b="1">
                <a:solidFill>
                  <a:srgbClr val="3169B3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3169B3"/>
                </a:solidFill>
                <a:latin typeface="Arial"/>
                <a:ea typeface="Arial"/>
                <a:cs typeface="Arial"/>
              </a:rPr>
              <a:t>1  A1JAX</a:t>
            </a:r>
          </a:p>
        </p:txBody>
      </p:sp>
      <p:pic>
        <p:nvPicPr>
          <p:cNvPr id="177" name="图形 176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/>
        </p:blipFill>
        <p:spPr>
          <a:xfrm>
            <a:off x="1381125" y="12400834"/>
            <a:ext cx="4552950" cy="1754031"/>
          </a:xfrm>
          <a:prstGeom prst="rect">
            <a:avLst/>
          </a:prstGeom>
        </p:spPr>
      </p:pic>
      <p:sp>
        <p:nvSpPr>
          <p:cNvPr id="74" name="矩形 73">
            <a:extLst>
              <a:ext uri="{FF2B5EF4-FFF2-40B4-BE49-F238E27FC236}">
                <a16:creationId xmlns:a16="http://schemas.microsoft.com/office/drawing/2014/main" id="{05CE298E-171A-4C29-9028-A15430F79FCF}"/>
              </a:ext>
            </a:extLst>
          </p:cNvPr>
          <p:cNvSpPr>
            <a:spLocks noGrp="1"/>
          </p:cNvSpPr>
          <p:nvPr/>
        </p:nvSpPr>
        <p:spPr>
          <a:xfrm>
            <a:off x="1409700" y="14249400"/>
            <a:ext cx="4495800" cy="285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2100" b="1">
                <a:solidFill>
                  <a:srgbClr val="3169B3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3169B3"/>
                </a:solidFill>
                <a:latin typeface="Arial"/>
                <a:ea typeface="Arial"/>
                <a:cs typeface="Arial"/>
              </a:rPr>
              <a:t>Matched identity</a:t>
            </a:r>
          </a:p>
        </p:txBody>
      </p:sp>
      <p:sp>
        <p:nvSpPr>
          <p:cNvPr id="75" name="Identity 2">
            <a:extLst>
              <a:ext uri="{FF2B5EF4-FFF2-40B4-BE49-F238E27FC236}">
                <a16:creationId xmlns:a16="http://schemas.microsoft.com/office/drawing/2014/main" id="{A9F28B2D-9C0A-4964-B5C1-60801F234CC0}"/>
              </a:ext>
            </a:extLst>
          </p:cNvPr>
          <p:cNvSpPr>
            <a:spLocks noGrp="1"/>
          </p:cNvSpPr>
          <p:nvPr/>
        </p:nvSpPr>
        <p:spPr>
          <a:xfrm>
            <a:off x="6343650" y="11715750"/>
            <a:ext cx="4838700" cy="2857500"/>
          </a:xfrm>
          <a:prstGeom prst="rect">
            <a:avLst/>
          </a:prstGeom>
          <a:solidFill>
            <a:srgbClr val="FFFFFF"/>
          </a:solidFill>
          <a:ln w="9525">
            <a:solidFill>
              <a:srgbClr val="E6EDEB"/>
            </a:solidFill>
          </a:ln>
        </p:spPr>
      </p:sp>
      <p:sp>
        <p:nvSpPr>
          <p:cNvPr id="76" name="矩形 75">
            <a:extLst>
              <a:ext uri="{FF2B5EF4-FFF2-40B4-BE49-F238E27FC236}">
                <a16:creationId xmlns:a16="http://schemas.microsoft.com/office/drawing/2014/main" id="{B9830948-DB27-4B7F-8245-7BB82B2D32F8}"/>
              </a:ext>
            </a:extLst>
          </p:cNvPr>
          <p:cNvSpPr>
            <a:spLocks noGrp="1"/>
          </p:cNvSpPr>
          <p:nvPr/>
        </p:nvSpPr>
        <p:spPr>
          <a:xfrm>
            <a:off x="6515100" y="11830050"/>
            <a:ext cx="4495800" cy="381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2400" b="0">
                <a:solidFill>
                  <a:srgbClr val="203544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203544"/>
                </a:solidFill>
                <a:latin typeface="Arial"/>
                <a:ea typeface="Arial"/>
                <a:cs typeface="Arial"/>
              </a:rPr>
              <a:t>2  Identity2</a:t>
            </a:r>
          </a:p>
        </p:txBody>
      </p:sp>
      <p:pic>
        <p:nvPicPr>
          <p:cNvPr id="181" name="图形 180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/>
        </p:blipFill>
        <p:spPr>
          <a:xfrm>
            <a:off x="6486525" y="12380453"/>
            <a:ext cx="4552950" cy="1794795"/>
          </a:xfrm>
          <a:prstGeom prst="rect">
            <a:avLst/>
          </a:prstGeom>
        </p:spPr>
      </p:pic>
      <p:sp>
        <p:nvSpPr>
          <p:cNvPr id="78" name="Identity 3">
            <a:extLst>
              <a:ext uri="{FF2B5EF4-FFF2-40B4-BE49-F238E27FC236}">
                <a16:creationId xmlns:a16="http://schemas.microsoft.com/office/drawing/2014/main" id="{C0D0ED14-7496-418D-BB28-9682247A31B8}"/>
              </a:ext>
            </a:extLst>
          </p:cNvPr>
          <p:cNvSpPr>
            <a:spLocks noGrp="1"/>
          </p:cNvSpPr>
          <p:nvPr/>
        </p:nvSpPr>
        <p:spPr>
          <a:xfrm>
            <a:off x="11449050" y="11715750"/>
            <a:ext cx="4838700" cy="2857500"/>
          </a:xfrm>
          <a:prstGeom prst="rect">
            <a:avLst/>
          </a:prstGeom>
          <a:solidFill>
            <a:srgbClr val="FFFFFF"/>
          </a:solidFill>
          <a:ln w="9525">
            <a:solidFill>
              <a:srgbClr val="E6EDEB"/>
            </a:solidFill>
          </a:ln>
        </p:spPr>
      </p:sp>
      <p:sp>
        <p:nvSpPr>
          <p:cNvPr id="79" name="矩形 78">
            <a:extLst>
              <a:ext uri="{FF2B5EF4-FFF2-40B4-BE49-F238E27FC236}">
                <a16:creationId xmlns:a16="http://schemas.microsoft.com/office/drawing/2014/main" id="{86BCF13E-B5B9-4B16-817D-71040378578F}"/>
              </a:ext>
            </a:extLst>
          </p:cNvPr>
          <p:cNvSpPr>
            <a:spLocks noGrp="1"/>
          </p:cNvSpPr>
          <p:nvPr/>
        </p:nvSpPr>
        <p:spPr>
          <a:xfrm>
            <a:off x="11620500" y="11830050"/>
            <a:ext cx="4495800" cy="381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2400" b="0">
                <a:solidFill>
                  <a:srgbClr val="203544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203544"/>
                </a:solidFill>
                <a:latin typeface="Arial"/>
                <a:ea typeface="Arial"/>
                <a:cs typeface="Arial"/>
              </a:rPr>
              <a:t>3  Identity3</a:t>
            </a:r>
          </a:p>
        </p:txBody>
      </p:sp>
      <p:pic>
        <p:nvPicPr>
          <p:cNvPr id="184" name="图形 183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/>
        </p:blipFill>
        <p:spPr>
          <a:xfrm>
            <a:off x="13161390" y="12896850"/>
            <a:ext cx="1414021" cy="762000"/>
          </a:xfrm>
          <a:prstGeom prst="rect">
            <a:avLst/>
          </a:prstGeom>
        </p:spPr>
      </p:pic>
      <p:sp>
        <p:nvSpPr>
          <p:cNvPr id="81" name="椭圆 80">
            <a:extLst>
              <a:ext uri="{FF2B5EF4-FFF2-40B4-BE49-F238E27FC236}">
                <a16:creationId xmlns:a16="http://schemas.microsoft.com/office/drawing/2014/main" id="{2E5FD214-D2D3-4A96-8BA8-6D3BC10ED4A0}"/>
              </a:ext>
            </a:extLst>
          </p:cNvPr>
          <p:cNvSpPr>
            <a:spLocks noGrp="1"/>
          </p:cNvSpPr>
          <p:nvPr/>
        </p:nvSpPr>
        <p:spPr>
          <a:xfrm>
            <a:off x="361950" y="14763750"/>
            <a:ext cx="476250" cy="476250"/>
          </a:xfrm>
          <a:prstGeom prst="ellipse">
            <a:avLst/>
          </a:prstGeom>
          <a:solidFill>
            <a:srgbClr val="366755"/>
          </a:solidFill>
          <a:ln w="0">
            <a:noFill/>
          </a:ln>
        </p:spPr>
        <p:txBody>
          <a:bodyPr lIns="0" tIns="0" rIns="0" bIns="0" anchor="ctr"/>
          <a:lstStyle/>
          <a:p>
            <a:pPr algn="ctr">
              <a:defRPr sz="23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82" name="矩形 81">
            <a:extLst>
              <a:ext uri="{FF2B5EF4-FFF2-40B4-BE49-F238E27FC236}">
                <a16:creationId xmlns:a16="http://schemas.microsoft.com/office/drawing/2014/main" id="{941C3287-C774-46A0-8596-861E29E909A6}"/>
              </a:ext>
            </a:extLst>
          </p:cNvPr>
          <p:cNvSpPr>
            <a:spLocks noGrp="1"/>
          </p:cNvSpPr>
          <p:nvPr/>
        </p:nvSpPr>
        <p:spPr>
          <a:xfrm>
            <a:off x="1238250" y="14782800"/>
            <a:ext cx="2000250" cy="4572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2850" b="1">
                <a:solidFill>
                  <a:srgbClr val="366755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366755"/>
                </a:solidFill>
                <a:latin typeface="Arial"/>
                <a:ea typeface="Arial"/>
                <a:cs typeface="Arial"/>
              </a:rPr>
              <a:t>Build</a:t>
            </a:r>
          </a:p>
        </p:txBody>
      </p:sp>
      <p:sp>
        <p:nvSpPr>
          <p:cNvPr id="83" name="矩形 82">
            <a:extLst>
              <a:ext uri="{FF2B5EF4-FFF2-40B4-BE49-F238E27FC236}">
                <a16:creationId xmlns:a16="http://schemas.microsoft.com/office/drawing/2014/main" id="{B9F32CDA-10B5-4B8B-9E72-703D4B1E03BD}"/>
              </a:ext>
            </a:extLst>
          </p:cNvPr>
          <p:cNvSpPr>
            <a:spLocks noGrp="1"/>
          </p:cNvSpPr>
          <p:nvPr/>
        </p:nvSpPr>
        <p:spPr>
          <a:xfrm>
            <a:off x="3524250" y="14811375"/>
            <a:ext cx="12715875" cy="4000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2325" b="0">
                <a:solidFill>
                  <a:srgbClr val="60717A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60717A"/>
                </a:solidFill>
                <a:latin typeface="Arial"/>
                <a:ea typeface="Arial"/>
                <a:cs typeface="Arial"/>
              </a:rPr>
              <a:t>Reconstructing ligand poses with PocketXMol-tuned</a:t>
            </a:r>
          </a:p>
        </p:txBody>
      </p:sp>
      <p:sp>
        <p:nvSpPr>
          <p:cNvPr id="84" name="任意多边形: 形状 83">
            <a:extLst>
              <a:ext uri="{FF2B5EF4-FFF2-40B4-BE49-F238E27FC236}">
                <a16:creationId xmlns:a16="http://schemas.microsoft.com/office/drawing/2014/main" id="{4D95A25C-5210-43BE-9805-DCE4CF34265E}"/>
              </a:ext>
            </a:extLst>
          </p:cNvPr>
          <p:cNvSpPr>
            <a:spLocks noGrp="1"/>
          </p:cNvSpPr>
          <p:nvPr/>
        </p:nvSpPr>
        <p:spPr>
          <a:xfrm>
            <a:off x="1238250" y="15344775"/>
            <a:ext cx="15049500" cy="953"/>
          </a:xfrm>
          <a:custGeom>
            <a:avLst/>
            <a:gdLst/>
            <a:ahLst/>
            <a:cxnLst/>
            <a:rect l="0" t="0" r="0" b="0"/>
            <a:pathLst>
              <a:path w="15049500" h="953">
                <a:moveTo>
                  <a:pt x="0" y="0"/>
                </a:moveTo>
                <a:lnTo>
                  <a:pt x="15049500" y="0"/>
                </a:lnTo>
              </a:path>
            </a:pathLst>
          </a:custGeom>
          <a:noFill/>
          <a:ln w="19050">
            <a:solidFill>
              <a:srgbClr val="E6EDEB"/>
            </a:solidFill>
          </a:ln>
        </p:spPr>
      </p:sp>
      <p:sp>
        <p:nvSpPr>
          <p:cNvPr id="85" name="矩形 84">
            <a:extLst>
              <a:ext uri="{FF2B5EF4-FFF2-40B4-BE49-F238E27FC236}">
                <a16:creationId xmlns:a16="http://schemas.microsoft.com/office/drawing/2014/main" id="{9A201B38-176E-435F-9E5A-870DDE7839DD}"/>
              </a:ext>
            </a:extLst>
          </p:cNvPr>
          <p:cNvSpPr>
            <a:spLocks noGrp="1"/>
          </p:cNvSpPr>
          <p:nvPr/>
        </p:nvSpPr>
        <p:spPr>
          <a:xfrm>
            <a:off x="1238250" y="15525750"/>
            <a:ext cx="352425" cy="3714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2475" b="1">
                <a:solidFill>
                  <a:srgbClr val="203544"/>
                </a:solidFill>
                <a:latin typeface="Arial"/>
                <a:ea typeface="Arial"/>
                <a:cs typeface="Arial"/>
              </a:defRPr>
            </a:pPr>
            <a:r>
              <a:rPr sz="2475" b="1">
                <a:solidFill>
                  <a:srgbClr val="203544"/>
                </a:solidFill>
                <a:latin typeface="Arial"/>
                <a:ea typeface="Arial"/>
                <a:cs typeface="Arial"/>
              </a:rPr>
              <a:t>h</a:t>
            </a:r>
          </a:p>
        </p:txBody>
      </p:sp>
      <p:sp>
        <p:nvSpPr>
          <p:cNvPr id="86" name="矩形 85">
            <a:extLst>
              <a:ext uri="{FF2B5EF4-FFF2-40B4-BE49-F238E27FC236}">
                <a16:creationId xmlns:a16="http://schemas.microsoft.com/office/drawing/2014/main" id="{59E5A980-5351-42BD-BC62-23C7DD984ABD}"/>
              </a:ext>
            </a:extLst>
          </p:cNvPr>
          <p:cNvSpPr>
            <a:spLocks noGrp="1"/>
          </p:cNvSpPr>
          <p:nvPr/>
        </p:nvSpPr>
        <p:spPr>
          <a:xfrm>
            <a:off x="1657350" y="15535275"/>
            <a:ext cx="4152900" cy="3714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2325" b="0">
                <a:solidFill>
                  <a:srgbClr val="203544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203544"/>
                </a:solidFill>
                <a:latin typeface="Arial"/>
                <a:ea typeface="Arial"/>
                <a:cs typeface="Arial"/>
              </a:rPr>
              <a:t>Receptor surface</a:t>
            </a:r>
          </a:p>
        </p:txBody>
      </p:sp>
      <p:pic>
        <p:nvPicPr>
          <p:cNvPr id="191" name="dock_receptor" descr="9QRU dock_receptor; native ChimeraX; source C:\Users\15919\Desktop\论文草稿\画图\formal\E2E_flow_20261003\9qru\renders\dock_receptor.png; editable crop only"/>
          <p:cNvPicPr>
            <a:picLocks noChangeAspect="1"/>
          </p:cNvPicPr>
          <p:nvPr/>
        </p:nvPicPr>
        <p:blipFill>
          <a:blip r:embed="rId15"/>
          <a:srcRect l="6181" t="21944" r="37014"/>
          <a:stretch>
            <a:fillRect/>
          </a:stretch>
        </p:blipFill>
        <p:spPr>
          <a:xfrm>
            <a:off x="2137871" y="15944850"/>
            <a:ext cx="2772758" cy="2857500"/>
          </a:xfrm>
          <a:prstGeom prst="rect">
            <a:avLst/>
          </a:prstGeom>
        </p:spPr>
      </p:pic>
      <p:sp>
        <p:nvSpPr>
          <p:cNvPr id="88" name="矩形 87">
            <a:extLst>
              <a:ext uri="{FF2B5EF4-FFF2-40B4-BE49-F238E27FC236}">
                <a16:creationId xmlns:a16="http://schemas.microsoft.com/office/drawing/2014/main" id="{C24B7525-11AB-4BEA-BCF0-65D16AE35558}"/>
              </a:ext>
            </a:extLst>
          </p:cNvPr>
          <p:cNvSpPr>
            <a:spLocks noGrp="1"/>
          </p:cNvSpPr>
          <p:nvPr/>
        </p:nvSpPr>
        <p:spPr>
          <a:xfrm>
            <a:off x="6477000" y="15525750"/>
            <a:ext cx="352425" cy="3714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2475" b="1">
                <a:solidFill>
                  <a:srgbClr val="203544"/>
                </a:solidFill>
                <a:latin typeface="Arial"/>
                <a:ea typeface="Arial"/>
                <a:cs typeface="Arial"/>
              </a:defRPr>
            </a:pPr>
            <a:r>
              <a:rPr sz="2475" b="1">
                <a:solidFill>
                  <a:srgbClr val="203544"/>
                </a:solidFill>
                <a:latin typeface="Arial"/>
                <a:ea typeface="Arial"/>
                <a:cs typeface="Arial"/>
              </a:rPr>
              <a:t>i</a:t>
            </a:r>
          </a:p>
        </p:txBody>
      </p:sp>
      <p:sp>
        <p:nvSpPr>
          <p:cNvPr id="89" name="矩形 88">
            <a:extLst>
              <a:ext uri="{FF2B5EF4-FFF2-40B4-BE49-F238E27FC236}">
                <a16:creationId xmlns:a16="http://schemas.microsoft.com/office/drawing/2014/main" id="{29FB4FBD-CA96-4C96-A398-EFBAAFA1D875}"/>
              </a:ext>
            </a:extLst>
          </p:cNvPr>
          <p:cNvSpPr>
            <a:spLocks noGrp="1"/>
          </p:cNvSpPr>
          <p:nvPr/>
        </p:nvSpPr>
        <p:spPr>
          <a:xfrm>
            <a:off x="6896100" y="15535275"/>
            <a:ext cx="4152900" cy="3714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2325" b="0">
                <a:solidFill>
                  <a:srgbClr val="203544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203544"/>
                </a:solidFill>
                <a:latin typeface="Arial"/>
                <a:ea typeface="Arial"/>
                <a:cs typeface="Arial"/>
              </a:rPr>
              <a:t>Experimental density</a:t>
            </a:r>
          </a:p>
        </p:txBody>
      </p:sp>
      <p:pic>
        <p:nvPicPr>
          <p:cNvPr id="194" name="dock_density" descr="9QRU dock_density; native ChimeraX; source C:\Users\15919\Desktop\论文草稿\画图\formal\E2E_flow_20261003\9qru\renders\dock_density.png; editable crop only"/>
          <p:cNvPicPr>
            <a:picLocks noChangeAspect="1"/>
          </p:cNvPicPr>
          <p:nvPr/>
        </p:nvPicPr>
        <p:blipFill>
          <a:blip r:embed="rId16"/>
          <a:srcRect l="6181" t="21944" r="37014"/>
          <a:stretch>
            <a:fillRect/>
          </a:stretch>
        </p:blipFill>
        <p:spPr>
          <a:xfrm>
            <a:off x="7376621" y="15944850"/>
            <a:ext cx="2772758" cy="2857500"/>
          </a:xfrm>
          <a:prstGeom prst="rect">
            <a:avLst/>
          </a:prstGeom>
        </p:spPr>
      </p:pic>
      <p:sp>
        <p:nvSpPr>
          <p:cNvPr id="91" name="矩形 90">
            <a:extLst>
              <a:ext uri="{FF2B5EF4-FFF2-40B4-BE49-F238E27FC236}">
                <a16:creationId xmlns:a16="http://schemas.microsoft.com/office/drawing/2014/main" id="{72995779-FBAA-4B95-8FAD-8CA94866CE9A}"/>
              </a:ext>
            </a:extLst>
          </p:cNvPr>
          <p:cNvSpPr>
            <a:spLocks noGrp="1"/>
          </p:cNvSpPr>
          <p:nvPr/>
        </p:nvSpPr>
        <p:spPr>
          <a:xfrm>
            <a:off x="11715750" y="15525750"/>
            <a:ext cx="352425" cy="3714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2475" b="1">
                <a:solidFill>
                  <a:srgbClr val="203544"/>
                </a:solidFill>
                <a:latin typeface="Arial"/>
                <a:ea typeface="Arial"/>
                <a:cs typeface="Arial"/>
              </a:defRPr>
            </a:pPr>
            <a:r>
              <a:rPr sz="2475" b="1">
                <a:solidFill>
                  <a:srgbClr val="203544"/>
                </a:solidFill>
                <a:latin typeface="Arial"/>
                <a:ea typeface="Arial"/>
                <a:cs typeface="Arial"/>
              </a:rPr>
              <a:t>j</a:t>
            </a:r>
          </a:p>
        </p:txBody>
      </p:sp>
      <p:sp>
        <p:nvSpPr>
          <p:cNvPr id="92" name="矩形 91">
            <a:extLst>
              <a:ext uri="{FF2B5EF4-FFF2-40B4-BE49-F238E27FC236}">
                <a16:creationId xmlns:a16="http://schemas.microsoft.com/office/drawing/2014/main" id="{2C7DB71A-AC29-404A-9AAD-F53EB94B79DE}"/>
              </a:ext>
            </a:extLst>
          </p:cNvPr>
          <p:cNvSpPr>
            <a:spLocks noGrp="1"/>
          </p:cNvSpPr>
          <p:nvPr/>
        </p:nvSpPr>
        <p:spPr>
          <a:xfrm>
            <a:off x="12134850" y="15535275"/>
            <a:ext cx="4152900" cy="3714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2325" b="0">
                <a:solidFill>
                  <a:srgbClr val="203544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203544"/>
                </a:solidFill>
                <a:latin typeface="Arial"/>
                <a:ea typeface="Arial"/>
                <a:cs typeface="Arial"/>
              </a:rPr>
              <a:t>Deposited pose overlay</a:t>
            </a:r>
          </a:p>
        </p:txBody>
      </p:sp>
      <p:pic>
        <p:nvPicPr>
          <p:cNvPr id="197" name="dock_gt_overlay" descr="9QRU dock_gt_overlay; native ChimeraX; source C:\Users\15919\Desktop\论文草稿\画图\formal\E2E_flow_20261003\9qru\renders\dock_gt_overlay.png; editable crop only"/>
          <p:cNvPicPr>
            <a:picLocks noChangeAspect="1"/>
          </p:cNvPicPr>
          <p:nvPr/>
        </p:nvPicPr>
        <p:blipFill>
          <a:blip r:embed="rId17"/>
          <a:srcRect l="6181" t="21944" r="37014"/>
          <a:stretch>
            <a:fillRect/>
          </a:stretch>
        </p:blipFill>
        <p:spPr>
          <a:xfrm>
            <a:off x="12615371" y="15944850"/>
            <a:ext cx="2772758" cy="2857500"/>
          </a:xfrm>
          <a:prstGeom prst="rect">
            <a:avLst/>
          </a:prstGeom>
        </p:spPr>
      </p:pic>
      <p:sp>
        <p:nvSpPr>
          <p:cNvPr id="94" name="矩形 93">
            <a:extLst>
              <a:ext uri="{FF2B5EF4-FFF2-40B4-BE49-F238E27FC236}">
                <a16:creationId xmlns:a16="http://schemas.microsoft.com/office/drawing/2014/main" id="{3DE2C0EF-1441-46F0-8A85-B626E86808ED}"/>
              </a:ext>
            </a:extLst>
          </p:cNvPr>
          <p:cNvSpPr>
            <a:spLocks noGrp="1"/>
          </p:cNvSpPr>
          <p:nvPr/>
        </p:nvSpPr>
        <p:spPr>
          <a:xfrm>
            <a:off x="1238250" y="18954750"/>
            <a:ext cx="15049500" cy="4476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2550" b="1">
                <a:solidFill>
                  <a:srgbClr val="3169B3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3169B3"/>
                </a:solidFill>
                <a:latin typeface="Arial"/>
                <a:ea typeface="Arial"/>
                <a:cs typeface="Arial"/>
              </a:rPr>
              <a:t>RMSD 0.63 Å</a:t>
            </a:r>
          </a:p>
        </p:txBody>
      </p:sp>
      <p:sp>
        <p:nvSpPr>
          <p:cNvPr id="95" name="任意多边形: 形状 94">
            <a:extLst>
              <a:ext uri="{FF2B5EF4-FFF2-40B4-BE49-F238E27FC236}">
                <a16:creationId xmlns:a16="http://schemas.microsoft.com/office/drawing/2014/main" id="{A2D0C05B-CB11-4251-9E28-CB8188D98BA4}"/>
              </a:ext>
            </a:extLst>
          </p:cNvPr>
          <p:cNvSpPr>
            <a:spLocks noGrp="1"/>
          </p:cNvSpPr>
          <p:nvPr/>
        </p:nvSpPr>
        <p:spPr>
          <a:xfrm>
            <a:off x="1238250" y="19697700"/>
            <a:ext cx="304800" cy="953"/>
          </a:xfrm>
          <a:custGeom>
            <a:avLst/>
            <a:gdLst/>
            <a:ahLst/>
            <a:cxnLst/>
            <a:rect l="0" t="0" r="0" b="0"/>
            <a:pathLst>
              <a:path w="304800" h="953">
                <a:moveTo>
                  <a:pt x="0" y="0"/>
                </a:moveTo>
                <a:lnTo>
                  <a:pt x="304800" y="0"/>
                </a:lnTo>
              </a:path>
            </a:pathLst>
          </a:custGeom>
          <a:noFill/>
          <a:ln w="47625">
            <a:solidFill>
              <a:srgbClr val="81A58B"/>
            </a:solidFill>
          </a:ln>
        </p:spPr>
      </p:sp>
      <p:sp>
        <p:nvSpPr>
          <p:cNvPr id="96" name="矩形 95">
            <a:extLst>
              <a:ext uri="{FF2B5EF4-FFF2-40B4-BE49-F238E27FC236}">
                <a16:creationId xmlns:a16="http://schemas.microsoft.com/office/drawing/2014/main" id="{AD1CBA8C-A323-4E8A-82EB-CCC1058E50D6}"/>
              </a:ext>
            </a:extLst>
          </p:cNvPr>
          <p:cNvSpPr>
            <a:spLocks noGrp="1"/>
          </p:cNvSpPr>
          <p:nvPr/>
        </p:nvSpPr>
        <p:spPr>
          <a:xfrm>
            <a:off x="1647825" y="19545300"/>
            <a:ext cx="2571750" cy="3238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2025" b="0">
                <a:solidFill>
                  <a:srgbClr val="60717A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60717A"/>
                </a:solidFill>
                <a:latin typeface="Arial"/>
                <a:ea typeface="Arial"/>
                <a:cs typeface="Arial"/>
              </a:rPr>
              <a:t>Receptor</a:t>
            </a:r>
          </a:p>
        </p:txBody>
      </p:sp>
      <p:sp>
        <p:nvSpPr>
          <p:cNvPr id="97" name="任意多边形: 形状 96">
            <a:extLst>
              <a:ext uri="{FF2B5EF4-FFF2-40B4-BE49-F238E27FC236}">
                <a16:creationId xmlns:a16="http://schemas.microsoft.com/office/drawing/2014/main" id="{B169350B-1E4C-4FE6-B1BC-66594996B6AC}"/>
              </a:ext>
            </a:extLst>
          </p:cNvPr>
          <p:cNvSpPr>
            <a:spLocks noGrp="1"/>
          </p:cNvSpPr>
          <p:nvPr/>
        </p:nvSpPr>
        <p:spPr>
          <a:xfrm>
            <a:off x="4286250" y="19697700"/>
            <a:ext cx="304800" cy="953"/>
          </a:xfrm>
          <a:custGeom>
            <a:avLst/>
            <a:gdLst/>
            <a:ahLst/>
            <a:cxnLst/>
            <a:rect l="0" t="0" r="0" b="0"/>
            <a:pathLst>
              <a:path w="304800" h="953">
                <a:moveTo>
                  <a:pt x="0" y="0"/>
                </a:moveTo>
                <a:lnTo>
                  <a:pt x="304800" y="0"/>
                </a:lnTo>
              </a:path>
            </a:pathLst>
          </a:custGeom>
          <a:noFill/>
          <a:ln w="47625">
            <a:solidFill>
              <a:srgbClr val="516773"/>
            </a:solidFill>
          </a:ln>
        </p:spPr>
      </p:sp>
      <p:sp>
        <p:nvSpPr>
          <p:cNvPr id="98" name="矩形 97">
            <a:extLst>
              <a:ext uri="{FF2B5EF4-FFF2-40B4-BE49-F238E27FC236}">
                <a16:creationId xmlns:a16="http://schemas.microsoft.com/office/drawing/2014/main" id="{C6E7BA2B-3683-4CE2-808F-89A49BC2228A}"/>
              </a:ext>
            </a:extLst>
          </p:cNvPr>
          <p:cNvSpPr>
            <a:spLocks noGrp="1"/>
          </p:cNvSpPr>
          <p:nvPr/>
        </p:nvSpPr>
        <p:spPr>
          <a:xfrm>
            <a:off x="4695825" y="19545300"/>
            <a:ext cx="2571750" cy="3238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2025" b="0">
                <a:solidFill>
                  <a:srgbClr val="60717A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60717A"/>
                </a:solidFill>
                <a:latin typeface="Arial"/>
                <a:ea typeface="Arial"/>
                <a:cs typeface="Arial"/>
              </a:rPr>
              <a:t>Density</a:t>
            </a:r>
          </a:p>
        </p:txBody>
      </p:sp>
      <p:sp>
        <p:nvSpPr>
          <p:cNvPr id="99" name="任意多边形: 形状 98">
            <a:extLst>
              <a:ext uri="{FF2B5EF4-FFF2-40B4-BE49-F238E27FC236}">
                <a16:creationId xmlns:a16="http://schemas.microsoft.com/office/drawing/2014/main" id="{60F3D98C-9760-4CE0-B89F-7CC0D5CE9F5C}"/>
              </a:ext>
            </a:extLst>
          </p:cNvPr>
          <p:cNvSpPr>
            <a:spLocks noGrp="1"/>
          </p:cNvSpPr>
          <p:nvPr/>
        </p:nvSpPr>
        <p:spPr>
          <a:xfrm>
            <a:off x="7334250" y="19697700"/>
            <a:ext cx="304800" cy="953"/>
          </a:xfrm>
          <a:custGeom>
            <a:avLst/>
            <a:gdLst/>
            <a:ahLst/>
            <a:cxnLst/>
            <a:rect l="0" t="0" r="0" b="0"/>
            <a:pathLst>
              <a:path w="304800" h="953">
                <a:moveTo>
                  <a:pt x="0" y="0"/>
                </a:moveTo>
                <a:lnTo>
                  <a:pt x="304800" y="0"/>
                </a:lnTo>
              </a:path>
            </a:pathLst>
          </a:custGeom>
          <a:noFill/>
          <a:ln w="47625">
            <a:solidFill>
              <a:srgbClr val="E9983C"/>
            </a:solidFill>
          </a:ln>
        </p:spPr>
      </p:sp>
      <p:sp>
        <p:nvSpPr>
          <p:cNvPr id="100" name="矩形 99">
            <a:extLst>
              <a:ext uri="{FF2B5EF4-FFF2-40B4-BE49-F238E27FC236}">
                <a16:creationId xmlns:a16="http://schemas.microsoft.com/office/drawing/2014/main" id="{2D571C34-AC05-46F9-9B12-3EC92980CF47}"/>
              </a:ext>
            </a:extLst>
          </p:cNvPr>
          <p:cNvSpPr>
            <a:spLocks noGrp="1"/>
          </p:cNvSpPr>
          <p:nvPr/>
        </p:nvSpPr>
        <p:spPr>
          <a:xfrm>
            <a:off x="7743825" y="19545300"/>
            <a:ext cx="2571750" cy="3238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2025" b="0">
                <a:solidFill>
                  <a:srgbClr val="60717A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60717A"/>
                </a:solidFill>
                <a:latin typeface="Arial"/>
                <a:ea typeface="Arial"/>
                <a:cs typeface="Arial"/>
              </a:rPr>
              <a:t>Target blob</a:t>
            </a:r>
          </a:p>
        </p:txBody>
      </p:sp>
      <p:sp>
        <p:nvSpPr>
          <p:cNvPr id="101" name="任意多边形: 形状 100">
            <a:extLst>
              <a:ext uri="{FF2B5EF4-FFF2-40B4-BE49-F238E27FC236}">
                <a16:creationId xmlns:a16="http://schemas.microsoft.com/office/drawing/2014/main" id="{C9032149-87BA-43BE-BF46-06518F986DE1}"/>
              </a:ext>
            </a:extLst>
          </p:cNvPr>
          <p:cNvSpPr>
            <a:spLocks noGrp="1"/>
          </p:cNvSpPr>
          <p:nvPr/>
        </p:nvSpPr>
        <p:spPr>
          <a:xfrm>
            <a:off x="10382250" y="19697700"/>
            <a:ext cx="304800" cy="953"/>
          </a:xfrm>
          <a:custGeom>
            <a:avLst/>
            <a:gdLst/>
            <a:ahLst/>
            <a:cxnLst/>
            <a:rect l="0" t="0" r="0" b="0"/>
            <a:pathLst>
              <a:path w="304800" h="953">
                <a:moveTo>
                  <a:pt x="0" y="0"/>
                </a:moveTo>
                <a:lnTo>
                  <a:pt x="304800" y="0"/>
                </a:lnTo>
              </a:path>
            </a:pathLst>
          </a:custGeom>
          <a:noFill/>
          <a:ln w="47625">
            <a:solidFill>
              <a:srgbClr val="3169B3"/>
            </a:solidFill>
          </a:ln>
        </p:spPr>
      </p:sp>
      <p:sp>
        <p:nvSpPr>
          <p:cNvPr id="102" name="矩形 101">
            <a:extLst>
              <a:ext uri="{FF2B5EF4-FFF2-40B4-BE49-F238E27FC236}">
                <a16:creationId xmlns:a16="http://schemas.microsoft.com/office/drawing/2014/main" id="{85C55495-FCB6-4C38-A6B7-91558E019503}"/>
              </a:ext>
            </a:extLst>
          </p:cNvPr>
          <p:cNvSpPr>
            <a:spLocks noGrp="1"/>
          </p:cNvSpPr>
          <p:nvPr/>
        </p:nvSpPr>
        <p:spPr>
          <a:xfrm>
            <a:off x="10791825" y="19545300"/>
            <a:ext cx="2571750" cy="3238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2025" b="0">
                <a:solidFill>
                  <a:srgbClr val="60717A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60717A"/>
                </a:solidFill>
                <a:latin typeface="Arial"/>
                <a:ea typeface="Arial"/>
                <a:cs typeface="Arial"/>
              </a:rPr>
              <a:t>Predicted pose</a:t>
            </a:r>
          </a:p>
        </p:txBody>
      </p:sp>
      <p:sp>
        <p:nvSpPr>
          <p:cNvPr id="103" name="任意多边形: 形状 102">
            <a:extLst>
              <a:ext uri="{FF2B5EF4-FFF2-40B4-BE49-F238E27FC236}">
                <a16:creationId xmlns:a16="http://schemas.microsoft.com/office/drawing/2014/main" id="{227335F3-E081-4F54-9B79-D63995D0A68A}"/>
              </a:ext>
            </a:extLst>
          </p:cNvPr>
          <p:cNvSpPr>
            <a:spLocks noGrp="1"/>
          </p:cNvSpPr>
          <p:nvPr/>
        </p:nvSpPr>
        <p:spPr>
          <a:xfrm>
            <a:off x="13430250" y="19697700"/>
            <a:ext cx="304800" cy="953"/>
          </a:xfrm>
          <a:custGeom>
            <a:avLst/>
            <a:gdLst/>
            <a:ahLst/>
            <a:cxnLst/>
            <a:rect l="0" t="0" r="0" b="0"/>
            <a:pathLst>
              <a:path w="304800" h="953">
                <a:moveTo>
                  <a:pt x="0" y="0"/>
                </a:moveTo>
                <a:lnTo>
                  <a:pt x="304800" y="0"/>
                </a:lnTo>
              </a:path>
            </a:pathLst>
          </a:custGeom>
          <a:noFill/>
          <a:ln w="47625">
            <a:solidFill>
              <a:srgbClr val="26A6A1"/>
            </a:solidFill>
          </a:ln>
        </p:spPr>
      </p:sp>
      <p:sp>
        <p:nvSpPr>
          <p:cNvPr id="104" name="矩形 103">
            <a:extLst>
              <a:ext uri="{FF2B5EF4-FFF2-40B4-BE49-F238E27FC236}">
                <a16:creationId xmlns:a16="http://schemas.microsoft.com/office/drawing/2014/main" id="{199EB18A-9130-4086-9D2C-F2A1E28E956F}"/>
              </a:ext>
            </a:extLst>
          </p:cNvPr>
          <p:cNvSpPr>
            <a:spLocks noGrp="1"/>
          </p:cNvSpPr>
          <p:nvPr/>
        </p:nvSpPr>
        <p:spPr>
          <a:xfrm>
            <a:off x="13839825" y="19545300"/>
            <a:ext cx="2571750" cy="3238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2025" b="0">
                <a:solidFill>
                  <a:srgbClr val="60717A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60717A"/>
                </a:solidFill>
                <a:latin typeface="Arial"/>
                <a:ea typeface="Arial"/>
                <a:cs typeface="Arial"/>
              </a:rPr>
              <a:t>Deposited pose</a:t>
            </a:r>
          </a:p>
        </p:txBody>
      </p:sp>
    </p:spTree>
    <p:extLst>
      <p:ext uri="{BB962C8B-B14F-4D97-AF65-F5344CB8AC3E}">
        <p14:creationId xmlns:p14="http://schemas.microsoft.com/office/powerpoint/2010/main" val="758490636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3"/>
    </p:ext>
  </p:extLs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矩形 103">
            <a:extLst>
              <a:ext uri="{FF2B5EF4-FFF2-40B4-BE49-F238E27FC236}">
                <a16:creationId xmlns:a16="http://schemas.microsoft.com/office/drawing/2014/main" id="{73ED2739-366D-467F-B815-31358609CF55}"/>
              </a:ext>
            </a:extLst>
          </p:cNvPr>
          <p:cNvSpPr>
            <a:spLocks noGrp="1"/>
          </p:cNvSpPr>
          <p:nvPr/>
        </p:nvSpPr>
        <p:spPr>
          <a:xfrm>
            <a:off x="1238250" y="209550"/>
            <a:ext cx="14668500" cy="5524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3450" b="1">
                <a:solidFill>
                  <a:srgbClr val="203544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203544"/>
                </a:solidFill>
                <a:latin typeface="Arial"/>
                <a:ea typeface="Arial"/>
                <a:cs typeface="Arial"/>
              </a:rPr>
              <a:t>9RD8  BCT (A:902)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56E0E1DF-A26E-457E-8F80-E09EBE4C4E84}"/>
              </a:ext>
            </a:extLst>
          </p:cNvPr>
          <p:cNvSpPr>
            <a:spLocks noGrp="1"/>
          </p:cNvSpPr>
          <p:nvPr/>
        </p:nvSpPr>
        <p:spPr>
          <a:xfrm>
            <a:off x="1238250" y="809625"/>
            <a:ext cx="15049500" cy="4191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2400" b="0">
                <a:solidFill>
                  <a:srgbClr val="60717A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60717A"/>
                </a:solidFill>
                <a:latin typeface="Arial"/>
                <a:ea typeface="Arial"/>
                <a:cs typeface="Arial"/>
              </a:rPr>
              <a:t>The first-ranked site completes identity matching and pose reconstruction</a:t>
            </a:r>
          </a:p>
        </p:txBody>
      </p:sp>
      <p:sp>
        <p:nvSpPr>
          <p:cNvPr id="3" name="任意多边形: 形状 2">
            <a:extLst>
              <a:ext uri="{FF2B5EF4-FFF2-40B4-BE49-F238E27FC236}">
                <a16:creationId xmlns:a16="http://schemas.microsoft.com/office/drawing/2014/main" id="{26739D86-99B4-4A44-9791-EFD01742BF6B}"/>
              </a:ext>
            </a:extLst>
          </p:cNvPr>
          <p:cNvSpPr>
            <a:spLocks noGrp="1"/>
          </p:cNvSpPr>
          <p:nvPr/>
        </p:nvSpPr>
        <p:spPr>
          <a:xfrm>
            <a:off x="600075" y="1885950"/>
            <a:ext cx="953" cy="3524250"/>
          </a:xfrm>
          <a:custGeom>
            <a:avLst/>
            <a:gdLst/>
            <a:ahLst/>
            <a:cxnLst/>
            <a:rect l="0" t="0" r="0" b="0"/>
            <a:pathLst>
              <a:path w="953" h="3524250">
                <a:moveTo>
                  <a:pt x="0" y="0"/>
                </a:moveTo>
                <a:lnTo>
                  <a:pt x="0" y="3524250"/>
                </a:lnTo>
              </a:path>
            </a:pathLst>
          </a:custGeom>
          <a:noFill/>
          <a:ln w="28575">
            <a:solidFill>
              <a:srgbClr val="BDCDC6"/>
            </a:solidFill>
          </a:ln>
        </p:spPr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1DBF83F0-18AE-4384-AEB4-141F8EB5FEF7}"/>
              </a:ext>
            </a:extLst>
          </p:cNvPr>
          <p:cNvSpPr>
            <a:spLocks noGrp="1"/>
          </p:cNvSpPr>
          <p:nvPr/>
        </p:nvSpPr>
        <p:spPr>
          <a:xfrm>
            <a:off x="533400" y="5314950"/>
            <a:ext cx="66675" cy="95250"/>
          </a:xfrm>
          <a:custGeom>
            <a:avLst/>
            <a:gdLst/>
            <a:ahLst/>
            <a:cxnLst/>
            <a:rect l="0" t="0" r="0" b="0"/>
            <a:pathLst>
              <a:path w="66675" h="95250">
                <a:moveTo>
                  <a:pt x="0" y="0"/>
                </a:moveTo>
                <a:lnTo>
                  <a:pt x="66675" y="95250"/>
                </a:lnTo>
              </a:path>
            </a:pathLst>
          </a:custGeom>
          <a:noFill/>
          <a:ln w="28575">
            <a:solidFill>
              <a:srgbClr val="BDCDC6"/>
            </a:solidFill>
          </a:ln>
        </p:spPr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FECA64C1-8249-4157-947E-F11FD37DBCF0}"/>
              </a:ext>
            </a:extLst>
          </p:cNvPr>
          <p:cNvSpPr>
            <a:spLocks noGrp="1"/>
          </p:cNvSpPr>
          <p:nvPr/>
        </p:nvSpPr>
        <p:spPr>
          <a:xfrm>
            <a:off x="600075" y="5314950"/>
            <a:ext cx="66675" cy="95250"/>
          </a:xfrm>
          <a:custGeom>
            <a:avLst/>
            <a:gdLst/>
            <a:ahLst/>
            <a:cxnLst/>
            <a:rect l="0" t="0" r="0" b="0"/>
            <a:pathLst>
              <a:path w="66675" h="95250">
                <a:moveTo>
                  <a:pt x="66675" y="0"/>
                </a:moveTo>
                <a:lnTo>
                  <a:pt x="0" y="95250"/>
                </a:lnTo>
              </a:path>
            </a:pathLst>
          </a:custGeom>
          <a:noFill/>
          <a:ln w="28575">
            <a:solidFill>
              <a:srgbClr val="BDCDC6"/>
            </a:solidFill>
          </a:ln>
        </p:spPr>
      </p:sp>
      <p:sp>
        <p:nvSpPr>
          <p:cNvPr id="6" name="任意多边形: 形状 5">
            <a:extLst>
              <a:ext uri="{FF2B5EF4-FFF2-40B4-BE49-F238E27FC236}">
                <a16:creationId xmlns:a16="http://schemas.microsoft.com/office/drawing/2014/main" id="{284DDC28-D97C-4D15-B84E-36CD28C62E35}"/>
              </a:ext>
            </a:extLst>
          </p:cNvPr>
          <p:cNvSpPr>
            <a:spLocks noGrp="1"/>
          </p:cNvSpPr>
          <p:nvPr/>
        </p:nvSpPr>
        <p:spPr>
          <a:xfrm>
            <a:off x="600075" y="6096000"/>
            <a:ext cx="953" cy="4781550"/>
          </a:xfrm>
          <a:custGeom>
            <a:avLst/>
            <a:gdLst/>
            <a:ahLst/>
            <a:cxnLst/>
            <a:rect l="0" t="0" r="0" b="0"/>
            <a:pathLst>
              <a:path w="953" h="4781550">
                <a:moveTo>
                  <a:pt x="0" y="0"/>
                </a:moveTo>
                <a:lnTo>
                  <a:pt x="0" y="4781550"/>
                </a:lnTo>
              </a:path>
            </a:pathLst>
          </a:custGeom>
          <a:noFill/>
          <a:ln w="28575">
            <a:solidFill>
              <a:srgbClr val="BDCDC6"/>
            </a:solidFill>
          </a:ln>
        </p:spPr>
      </p:sp>
      <p:sp>
        <p:nvSpPr>
          <p:cNvPr id="7" name="任意多边形: 形状 6">
            <a:extLst>
              <a:ext uri="{FF2B5EF4-FFF2-40B4-BE49-F238E27FC236}">
                <a16:creationId xmlns:a16="http://schemas.microsoft.com/office/drawing/2014/main" id="{511D2558-661D-437C-B84F-5A299F7A32D5}"/>
              </a:ext>
            </a:extLst>
          </p:cNvPr>
          <p:cNvSpPr>
            <a:spLocks noGrp="1"/>
          </p:cNvSpPr>
          <p:nvPr/>
        </p:nvSpPr>
        <p:spPr>
          <a:xfrm>
            <a:off x="533400" y="10782300"/>
            <a:ext cx="66675" cy="95250"/>
          </a:xfrm>
          <a:custGeom>
            <a:avLst/>
            <a:gdLst/>
            <a:ahLst/>
            <a:cxnLst/>
            <a:rect l="0" t="0" r="0" b="0"/>
            <a:pathLst>
              <a:path w="66675" h="95250">
                <a:moveTo>
                  <a:pt x="0" y="0"/>
                </a:moveTo>
                <a:lnTo>
                  <a:pt x="66675" y="95250"/>
                </a:lnTo>
              </a:path>
            </a:pathLst>
          </a:custGeom>
          <a:noFill/>
          <a:ln w="28575">
            <a:solidFill>
              <a:srgbClr val="BDCDC6"/>
            </a:solidFill>
          </a:ln>
        </p:spPr>
      </p:sp>
      <p:sp>
        <p:nvSpPr>
          <p:cNvPr id="8" name="任意多边形: 形状 7">
            <a:extLst>
              <a:ext uri="{FF2B5EF4-FFF2-40B4-BE49-F238E27FC236}">
                <a16:creationId xmlns:a16="http://schemas.microsoft.com/office/drawing/2014/main" id="{3C474144-44FA-4521-981A-C5C727518047}"/>
              </a:ext>
            </a:extLst>
          </p:cNvPr>
          <p:cNvSpPr>
            <a:spLocks noGrp="1"/>
          </p:cNvSpPr>
          <p:nvPr/>
        </p:nvSpPr>
        <p:spPr>
          <a:xfrm>
            <a:off x="600075" y="10782300"/>
            <a:ext cx="66675" cy="95250"/>
          </a:xfrm>
          <a:custGeom>
            <a:avLst/>
            <a:gdLst/>
            <a:ahLst/>
            <a:cxnLst/>
            <a:rect l="0" t="0" r="0" b="0"/>
            <a:pathLst>
              <a:path w="66675" h="95250">
                <a:moveTo>
                  <a:pt x="66675" y="0"/>
                </a:moveTo>
                <a:lnTo>
                  <a:pt x="0" y="95250"/>
                </a:lnTo>
              </a:path>
            </a:pathLst>
          </a:custGeom>
          <a:noFill/>
          <a:ln w="28575">
            <a:solidFill>
              <a:srgbClr val="BDCDC6"/>
            </a:solidFill>
          </a:ln>
        </p:spPr>
      </p:sp>
      <p:sp>
        <p:nvSpPr>
          <p:cNvPr id="9" name="任意多边形: 形状 8">
            <a:extLst>
              <a:ext uri="{FF2B5EF4-FFF2-40B4-BE49-F238E27FC236}">
                <a16:creationId xmlns:a16="http://schemas.microsoft.com/office/drawing/2014/main" id="{479148FA-2534-44F1-8304-A804CC5B127A}"/>
              </a:ext>
            </a:extLst>
          </p:cNvPr>
          <p:cNvSpPr>
            <a:spLocks noGrp="1"/>
          </p:cNvSpPr>
          <p:nvPr/>
        </p:nvSpPr>
        <p:spPr>
          <a:xfrm>
            <a:off x="600075" y="11563350"/>
            <a:ext cx="953" cy="3086100"/>
          </a:xfrm>
          <a:custGeom>
            <a:avLst/>
            <a:gdLst/>
            <a:ahLst/>
            <a:cxnLst/>
            <a:rect l="0" t="0" r="0" b="0"/>
            <a:pathLst>
              <a:path w="953" h="3086100">
                <a:moveTo>
                  <a:pt x="0" y="0"/>
                </a:moveTo>
                <a:lnTo>
                  <a:pt x="0" y="3086100"/>
                </a:lnTo>
              </a:path>
            </a:pathLst>
          </a:custGeom>
          <a:noFill/>
          <a:ln w="28575">
            <a:solidFill>
              <a:srgbClr val="BDCDC6"/>
            </a:solidFill>
          </a:ln>
        </p:spPr>
      </p:sp>
      <p:sp>
        <p:nvSpPr>
          <p:cNvPr id="10" name="任意多边形: 形状 9">
            <a:extLst>
              <a:ext uri="{FF2B5EF4-FFF2-40B4-BE49-F238E27FC236}">
                <a16:creationId xmlns:a16="http://schemas.microsoft.com/office/drawing/2014/main" id="{E5BFE118-D371-4548-B8F5-17BBEEA77CDE}"/>
              </a:ext>
            </a:extLst>
          </p:cNvPr>
          <p:cNvSpPr>
            <a:spLocks noGrp="1"/>
          </p:cNvSpPr>
          <p:nvPr/>
        </p:nvSpPr>
        <p:spPr>
          <a:xfrm>
            <a:off x="533400" y="14554200"/>
            <a:ext cx="66675" cy="95250"/>
          </a:xfrm>
          <a:custGeom>
            <a:avLst/>
            <a:gdLst/>
            <a:ahLst/>
            <a:cxnLst/>
            <a:rect l="0" t="0" r="0" b="0"/>
            <a:pathLst>
              <a:path w="66675" h="95250">
                <a:moveTo>
                  <a:pt x="0" y="0"/>
                </a:moveTo>
                <a:lnTo>
                  <a:pt x="66675" y="95250"/>
                </a:lnTo>
              </a:path>
            </a:pathLst>
          </a:custGeom>
          <a:noFill/>
          <a:ln w="28575">
            <a:solidFill>
              <a:srgbClr val="BDCDC6"/>
            </a:solidFill>
          </a:ln>
        </p:spPr>
      </p:sp>
      <p:sp>
        <p:nvSpPr>
          <p:cNvPr id="11" name="任意多边形: 形状 10">
            <a:extLst>
              <a:ext uri="{FF2B5EF4-FFF2-40B4-BE49-F238E27FC236}">
                <a16:creationId xmlns:a16="http://schemas.microsoft.com/office/drawing/2014/main" id="{42C9E23B-90C4-4E1D-BD68-4850A66657DD}"/>
              </a:ext>
            </a:extLst>
          </p:cNvPr>
          <p:cNvSpPr>
            <a:spLocks noGrp="1"/>
          </p:cNvSpPr>
          <p:nvPr/>
        </p:nvSpPr>
        <p:spPr>
          <a:xfrm>
            <a:off x="600075" y="14554200"/>
            <a:ext cx="66675" cy="95250"/>
          </a:xfrm>
          <a:custGeom>
            <a:avLst/>
            <a:gdLst/>
            <a:ahLst/>
            <a:cxnLst/>
            <a:rect l="0" t="0" r="0" b="0"/>
            <a:pathLst>
              <a:path w="66675" h="95250">
                <a:moveTo>
                  <a:pt x="66675" y="0"/>
                </a:moveTo>
                <a:lnTo>
                  <a:pt x="0" y="95250"/>
                </a:lnTo>
              </a:path>
            </a:pathLst>
          </a:custGeom>
          <a:noFill/>
          <a:ln w="28575">
            <a:solidFill>
              <a:srgbClr val="BDCDC6"/>
            </a:solidFill>
          </a:ln>
        </p:spPr>
      </p:sp>
      <p:sp>
        <p:nvSpPr>
          <p:cNvPr id="12" name="椭圆 11">
            <a:extLst>
              <a:ext uri="{FF2B5EF4-FFF2-40B4-BE49-F238E27FC236}">
                <a16:creationId xmlns:a16="http://schemas.microsoft.com/office/drawing/2014/main" id="{30FFAE00-C2B5-4BE4-9AD4-BDEC5CC92C9D}"/>
              </a:ext>
            </a:extLst>
          </p:cNvPr>
          <p:cNvSpPr>
            <a:spLocks noGrp="1"/>
          </p:cNvSpPr>
          <p:nvPr/>
        </p:nvSpPr>
        <p:spPr>
          <a:xfrm>
            <a:off x="361950" y="1314450"/>
            <a:ext cx="476250" cy="476250"/>
          </a:xfrm>
          <a:prstGeom prst="ellipse">
            <a:avLst/>
          </a:prstGeom>
          <a:solidFill>
            <a:srgbClr val="366755"/>
          </a:solidFill>
          <a:ln w="0">
            <a:noFill/>
          </a:ln>
        </p:spPr>
        <p:txBody>
          <a:bodyPr lIns="0" tIns="0" rIns="0" bIns="0" anchor="ctr"/>
          <a:lstStyle/>
          <a:p>
            <a:pPr algn="ctr">
              <a:defRPr sz="23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0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BDC426D4-CD2F-4B87-8545-BE00177D4EF9}"/>
              </a:ext>
            </a:extLst>
          </p:cNvPr>
          <p:cNvSpPr>
            <a:spLocks noGrp="1"/>
          </p:cNvSpPr>
          <p:nvPr/>
        </p:nvSpPr>
        <p:spPr>
          <a:xfrm>
            <a:off x="1238250" y="1333500"/>
            <a:ext cx="2000250" cy="4572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2850" b="1">
                <a:solidFill>
                  <a:srgbClr val="366755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366755"/>
                </a:solidFill>
                <a:latin typeface="Arial"/>
                <a:ea typeface="Arial"/>
                <a:cs typeface="Arial"/>
              </a:rPr>
              <a:t>Input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F711259F-2047-48D9-87DB-EAF6444E6C1B}"/>
              </a:ext>
            </a:extLst>
          </p:cNvPr>
          <p:cNvSpPr>
            <a:spLocks noGrp="1"/>
          </p:cNvSpPr>
          <p:nvPr/>
        </p:nvSpPr>
        <p:spPr>
          <a:xfrm>
            <a:off x="3524250" y="1362075"/>
            <a:ext cx="12715875" cy="4000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2325" b="0">
                <a:solidFill>
                  <a:srgbClr val="60717A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60717A"/>
                </a:solidFill>
                <a:latin typeface="Arial"/>
                <a:ea typeface="Arial"/>
                <a:cs typeface="Arial"/>
              </a:rPr>
              <a:t>Reconstructing the receptor from the experimental map with CryoAtom2</a:t>
            </a:r>
          </a:p>
        </p:txBody>
      </p:sp>
      <p:sp>
        <p:nvSpPr>
          <p:cNvPr id="15" name="任意多边形: 形状 14">
            <a:extLst>
              <a:ext uri="{FF2B5EF4-FFF2-40B4-BE49-F238E27FC236}">
                <a16:creationId xmlns:a16="http://schemas.microsoft.com/office/drawing/2014/main" id="{7BFE7F32-8D7E-433F-B915-863E28DFED12}"/>
              </a:ext>
            </a:extLst>
          </p:cNvPr>
          <p:cNvSpPr>
            <a:spLocks noGrp="1"/>
          </p:cNvSpPr>
          <p:nvPr/>
        </p:nvSpPr>
        <p:spPr>
          <a:xfrm>
            <a:off x="1238250" y="1895475"/>
            <a:ext cx="15049500" cy="953"/>
          </a:xfrm>
          <a:custGeom>
            <a:avLst/>
            <a:gdLst/>
            <a:ahLst/>
            <a:cxnLst/>
            <a:rect l="0" t="0" r="0" b="0"/>
            <a:pathLst>
              <a:path w="15049500" h="953">
                <a:moveTo>
                  <a:pt x="0" y="0"/>
                </a:moveTo>
                <a:lnTo>
                  <a:pt x="15049500" y="0"/>
                </a:lnTo>
              </a:path>
            </a:pathLst>
          </a:custGeom>
          <a:noFill/>
          <a:ln w="19050">
            <a:solidFill>
              <a:srgbClr val="E6EDEB"/>
            </a:solidFill>
          </a:ln>
        </p:spPr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1F2FFDEB-0274-445A-A089-7B612C081740}"/>
              </a:ext>
            </a:extLst>
          </p:cNvPr>
          <p:cNvSpPr>
            <a:spLocks noGrp="1"/>
          </p:cNvSpPr>
          <p:nvPr/>
        </p:nvSpPr>
        <p:spPr>
          <a:xfrm>
            <a:off x="1238250" y="2076450"/>
            <a:ext cx="352425" cy="3714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2475" b="1">
                <a:solidFill>
                  <a:srgbClr val="203544"/>
                </a:solidFill>
                <a:latin typeface="Arial"/>
                <a:ea typeface="Arial"/>
                <a:cs typeface="Arial"/>
              </a:defRPr>
            </a:pPr>
            <a:r>
              <a:rPr sz="2475" b="1">
                <a:solidFill>
                  <a:srgbClr val="203544"/>
                </a:solidFill>
                <a:latin typeface="Arial"/>
                <a:ea typeface="Arial"/>
                <a:cs typeface="Arial"/>
              </a:rPr>
              <a:t>a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2252EE78-64CB-499F-A7FB-317D5153BB3B}"/>
              </a:ext>
            </a:extLst>
          </p:cNvPr>
          <p:cNvSpPr>
            <a:spLocks noGrp="1"/>
          </p:cNvSpPr>
          <p:nvPr/>
        </p:nvSpPr>
        <p:spPr>
          <a:xfrm>
            <a:off x="1657350" y="2085975"/>
            <a:ext cx="4152900" cy="3714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2325" b="0">
                <a:solidFill>
                  <a:srgbClr val="203544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203544"/>
                </a:solidFill>
                <a:latin typeface="Arial"/>
                <a:ea typeface="Arial"/>
                <a:cs typeface="Arial"/>
              </a:rPr>
              <a:t>Experimental map</a:t>
            </a:r>
          </a:p>
        </p:txBody>
      </p:sp>
      <p:pic>
        <p:nvPicPr>
          <p:cNvPr id="121" name="global_density_same_scale" descr="9RD8 global_density_same_scale; native ChimeraX; source C:\Users\15919\Desktop\论文草稿\画图\formal\E2E_flow_v2_20261003\9rd8\renders\global_density_same_scale.png; editable crop only"/>
          <p:cNvPicPr>
            <a:picLocks noChangeAspect="1"/>
          </p:cNvPicPr>
          <p:nvPr/>
        </p:nvPicPr>
        <p:blipFill>
          <a:blip r:embed="rId4"/>
          <a:srcRect l="28427" t="14070" r="19369" b="14544"/>
          <a:stretch>
            <a:fillRect/>
          </a:stretch>
        </p:blipFill>
        <p:spPr>
          <a:xfrm>
            <a:off x="2131132" y="2476500"/>
            <a:ext cx="2786237" cy="2857500"/>
          </a:xfrm>
          <a:prstGeom prst="rect">
            <a:avLst/>
          </a:prstGeom>
        </p:spPr>
      </p:pic>
      <p:sp>
        <p:nvSpPr>
          <p:cNvPr id="19" name="矩形 18">
            <a:extLst>
              <a:ext uri="{FF2B5EF4-FFF2-40B4-BE49-F238E27FC236}">
                <a16:creationId xmlns:a16="http://schemas.microsoft.com/office/drawing/2014/main" id="{8F4E486F-F929-4A97-BF93-1BAEE4A91CFC}"/>
              </a:ext>
            </a:extLst>
          </p:cNvPr>
          <p:cNvSpPr>
            <a:spLocks noGrp="1"/>
          </p:cNvSpPr>
          <p:nvPr/>
        </p:nvSpPr>
        <p:spPr>
          <a:xfrm>
            <a:off x="6477000" y="2076450"/>
            <a:ext cx="352425" cy="3714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2475" b="1">
                <a:solidFill>
                  <a:srgbClr val="203544"/>
                </a:solidFill>
                <a:latin typeface="Arial"/>
                <a:ea typeface="Arial"/>
                <a:cs typeface="Arial"/>
              </a:defRPr>
            </a:pPr>
            <a:r>
              <a:rPr sz="2475" b="1">
                <a:solidFill>
                  <a:srgbClr val="203544"/>
                </a:solidFill>
                <a:latin typeface="Arial"/>
                <a:ea typeface="Arial"/>
                <a:cs typeface="Arial"/>
              </a:rPr>
              <a:t>b</a:t>
            </a: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D80F89DB-8637-49CD-97D4-A1C3E47CB9D7}"/>
              </a:ext>
            </a:extLst>
          </p:cNvPr>
          <p:cNvSpPr>
            <a:spLocks noGrp="1"/>
          </p:cNvSpPr>
          <p:nvPr/>
        </p:nvSpPr>
        <p:spPr>
          <a:xfrm>
            <a:off x="6896100" y="2085975"/>
            <a:ext cx="4152900" cy="3714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2325" b="0">
                <a:solidFill>
                  <a:srgbClr val="203544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203544"/>
                </a:solidFill>
                <a:latin typeface="Arial"/>
                <a:ea typeface="Arial"/>
                <a:cs typeface="Arial"/>
              </a:rPr>
              <a:t>CA2 receptor</a:t>
            </a:r>
          </a:p>
        </p:txBody>
      </p:sp>
      <p:pic>
        <p:nvPicPr>
          <p:cNvPr id="124" name="global_ca2" descr="9RD8 global_ca2; native ChimeraX; source C:\Users\15919\Desktop\论文草稿\画图\formal\E2E_flow_20261003\9rd8\renders\global_ca2.png; editable crop only"/>
          <p:cNvPicPr>
            <a:picLocks noChangeAspect="1"/>
          </p:cNvPicPr>
          <p:nvPr/>
        </p:nvPicPr>
        <p:blipFill>
          <a:blip r:embed="rId5"/>
          <a:srcRect l="28427" t="14070" r="19369" b="14544"/>
          <a:stretch>
            <a:fillRect/>
          </a:stretch>
        </p:blipFill>
        <p:spPr>
          <a:xfrm>
            <a:off x="7369882" y="2476500"/>
            <a:ext cx="2786237" cy="2857500"/>
          </a:xfrm>
          <a:prstGeom prst="rect">
            <a:avLst/>
          </a:prstGeom>
        </p:spPr>
      </p:pic>
      <p:sp>
        <p:nvSpPr>
          <p:cNvPr id="22" name="矩形 21">
            <a:extLst>
              <a:ext uri="{FF2B5EF4-FFF2-40B4-BE49-F238E27FC236}">
                <a16:creationId xmlns:a16="http://schemas.microsoft.com/office/drawing/2014/main" id="{B72BD906-DA8A-4975-A733-96D2BC357647}"/>
              </a:ext>
            </a:extLst>
          </p:cNvPr>
          <p:cNvSpPr>
            <a:spLocks noGrp="1"/>
          </p:cNvSpPr>
          <p:nvPr/>
        </p:nvSpPr>
        <p:spPr>
          <a:xfrm>
            <a:off x="11715750" y="2076450"/>
            <a:ext cx="352425" cy="3714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2475" b="1">
                <a:solidFill>
                  <a:srgbClr val="203544"/>
                </a:solidFill>
                <a:latin typeface="Arial"/>
                <a:ea typeface="Arial"/>
                <a:cs typeface="Arial"/>
              </a:defRPr>
            </a:pPr>
            <a:r>
              <a:rPr sz="2475" b="1">
                <a:solidFill>
                  <a:srgbClr val="203544"/>
                </a:solidFill>
                <a:latin typeface="Arial"/>
                <a:ea typeface="Arial"/>
                <a:cs typeface="Arial"/>
              </a:rPr>
              <a:t>c</a:t>
            </a:r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5FDB366C-B9E7-4DA0-B283-B1E7397C4405}"/>
              </a:ext>
            </a:extLst>
          </p:cNvPr>
          <p:cNvSpPr>
            <a:spLocks noGrp="1"/>
          </p:cNvSpPr>
          <p:nvPr/>
        </p:nvSpPr>
        <p:spPr>
          <a:xfrm>
            <a:off x="12134850" y="2085975"/>
            <a:ext cx="4152900" cy="3714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2325" b="0">
                <a:solidFill>
                  <a:srgbClr val="203544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203544"/>
                </a:solidFill>
                <a:latin typeface="Arial"/>
                <a:ea typeface="Arial"/>
                <a:cs typeface="Arial"/>
              </a:rPr>
              <a:t>GT receptor (reference)</a:t>
            </a:r>
          </a:p>
        </p:txBody>
      </p:sp>
      <p:pic>
        <p:nvPicPr>
          <p:cNvPr id="127" name="global_gt" descr="9RD8 global_gt; native ChimeraX; source C:\Users\15919\Desktop\论文草稿\画图\formal\E2E_flow_20261003\9rd8\renders\global_gt.png; editable crop only"/>
          <p:cNvPicPr>
            <a:picLocks noChangeAspect="1"/>
          </p:cNvPicPr>
          <p:nvPr/>
        </p:nvPicPr>
        <p:blipFill>
          <a:blip r:embed="rId6"/>
          <a:srcRect l="28427" t="14070" r="19369" b="14544"/>
          <a:stretch>
            <a:fillRect/>
          </a:stretch>
        </p:blipFill>
        <p:spPr>
          <a:xfrm>
            <a:off x="12608632" y="2476500"/>
            <a:ext cx="2786237" cy="2857500"/>
          </a:xfrm>
          <a:prstGeom prst="rect">
            <a:avLst/>
          </a:prstGeom>
        </p:spPr>
      </p:pic>
      <p:sp>
        <p:nvSpPr>
          <p:cNvPr id="25" name="矩形 24">
            <a:extLst>
              <a:ext uri="{FF2B5EF4-FFF2-40B4-BE49-F238E27FC236}">
                <a16:creationId xmlns:a16="http://schemas.microsoft.com/office/drawing/2014/main" id="{5AAAAD67-9CBA-401C-BFD9-7474B0501E53}"/>
              </a:ext>
            </a:extLst>
          </p:cNvPr>
          <p:cNvSpPr>
            <a:spLocks noGrp="1"/>
          </p:cNvSpPr>
          <p:nvPr/>
        </p:nvSpPr>
        <p:spPr>
          <a:xfrm>
            <a:off x="5181600" y="3419475"/>
            <a:ext cx="2114550" cy="4000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2250" b="1">
                <a:solidFill>
                  <a:srgbClr val="366755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366755"/>
                </a:solidFill>
                <a:latin typeface="Arial"/>
                <a:ea typeface="Arial"/>
                <a:cs typeface="Arial"/>
              </a:rPr>
              <a:t>CryoAtom2</a:t>
            </a:r>
          </a:p>
        </p:txBody>
      </p:sp>
      <p:sp>
        <p:nvSpPr>
          <p:cNvPr id="26" name="任意多边形: 形状 25">
            <a:extLst>
              <a:ext uri="{FF2B5EF4-FFF2-40B4-BE49-F238E27FC236}">
                <a16:creationId xmlns:a16="http://schemas.microsoft.com/office/drawing/2014/main" id="{54D7B1BE-2FCB-44FD-A98F-4D3F4B441860}"/>
              </a:ext>
            </a:extLst>
          </p:cNvPr>
          <p:cNvSpPr>
            <a:spLocks noGrp="1"/>
          </p:cNvSpPr>
          <p:nvPr/>
        </p:nvSpPr>
        <p:spPr>
          <a:xfrm>
            <a:off x="5286375" y="3905250"/>
            <a:ext cx="2019300" cy="953"/>
          </a:xfrm>
          <a:custGeom>
            <a:avLst/>
            <a:gdLst/>
            <a:ahLst/>
            <a:cxnLst/>
            <a:rect l="0" t="0" r="0" b="0"/>
            <a:pathLst>
              <a:path w="2019300" h="953">
                <a:moveTo>
                  <a:pt x="0" y="0"/>
                </a:moveTo>
                <a:lnTo>
                  <a:pt x="2019300" y="0"/>
                </a:lnTo>
              </a:path>
            </a:pathLst>
          </a:custGeom>
          <a:noFill/>
          <a:ln w="38100">
            <a:solidFill>
              <a:srgbClr val="366755"/>
            </a:solidFill>
          </a:ln>
        </p:spPr>
      </p:sp>
      <p:sp>
        <p:nvSpPr>
          <p:cNvPr id="27" name="任意多边形: 形状 26">
            <a:extLst>
              <a:ext uri="{FF2B5EF4-FFF2-40B4-BE49-F238E27FC236}">
                <a16:creationId xmlns:a16="http://schemas.microsoft.com/office/drawing/2014/main" id="{43546B0F-11CE-4C6B-86A3-CD4E3AE61E2E}"/>
              </a:ext>
            </a:extLst>
          </p:cNvPr>
          <p:cNvSpPr>
            <a:spLocks noGrp="1"/>
          </p:cNvSpPr>
          <p:nvPr/>
        </p:nvSpPr>
        <p:spPr>
          <a:xfrm>
            <a:off x="7162800" y="3810000"/>
            <a:ext cx="142875" cy="95250"/>
          </a:xfrm>
          <a:custGeom>
            <a:avLst/>
            <a:gdLst/>
            <a:ahLst/>
            <a:cxnLst/>
            <a:rect l="0" t="0" r="0" b="0"/>
            <a:pathLst>
              <a:path w="142875" h="95250">
                <a:moveTo>
                  <a:pt x="0" y="0"/>
                </a:moveTo>
                <a:lnTo>
                  <a:pt x="142875" y="95250"/>
                </a:lnTo>
              </a:path>
            </a:pathLst>
          </a:custGeom>
          <a:noFill/>
          <a:ln w="38100">
            <a:solidFill>
              <a:srgbClr val="366755"/>
            </a:solidFill>
          </a:ln>
        </p:spPr>
      </p:sp>
      <p:sp>
        <p:nvSpPr>
          <p:cNvPr id="28" name="任意多边形: 形状 27">
            <a:extLst>
              <a:ext uri="{FF2B5EF4-FFF2-40B4-BE49-F238E27FC236}">
                <a16:creationId xmlns:a16="http://schemas.microsoft.com/office/drawing/2014/main" id="{2F5EDB4B-6488-42BB-AE91-53565FAF54C9}"/>
              </a:ext>
            </a:extLst>
          </p:cNvPr>
          <p:cNvSpPr>
            <a:spLocks noGrp="1"/>
          </p:cNvSpPr>
          <p:nvPr/>
        </p:nvSpPr>
        <p:spPr>
          <a:xfrm>
            <a:off x="7162800" y="3905250"/>
            <a:ext cx="142875" cy="95250"/>
          </a:xfrm>
          <a:custGeom>
            <a:avLst/>
            <a:gdLst/>
            <a:ahLst/>
            <a:cxnLst/>
            <a:rect l="0" t="0" r="0" b="0"/>
            <a:pathLst>
              <a:path w="142875" h="95250">
                <a:moveTo>
                  <a:pt x="0" y="95250"/>
                </a:moveTo>
                <a:lnTo>
                  <a:pt x="142875" y="0"/>
                </a:lnTo>
              </a:path>
            </a:pathLst>
          </a:custGeom>
          <a:noFill/>
          <a:ln w="38100">
            <a:solidFill>
              <a:srgbClr val="366755"/>
            </a:solidFill>
          </a:ln>
        </p:spPr>
      </p:sp>
      <p:sp>
        <p:nvSpPr>
          <p:cNvPr id="29" name="任意多边形: 形状 28">
            <a:extLst>
              <a:ext uri="{FF2B5EF4-FFF2-40B4-BE49-F238E27FC236}">
                <a16:creationId xmlns:a16="http://schemas.microsoft.com/office/drawing/2014/main" id="{33D588E2-4B56-4A1C-8194-6B04198033E3}"/>
              </a:ext>
            </a:extLst>
          </p:cNvPr>
          <p:cNvSpPr>
            <a:spLocks noGrp="1"/>
          </p:cNvSpPr>
          <p:nvPr/>
        </p:nvSpPr>
        <p:spPr>
          <a:xfrm>
            <a:off x="11430000" y="2000250"/>
            <a:ext cx="953" cy="104775"/>
          </a:xfrm>
          <a:custGeom>
            <a:avLst/>
            <a:gdLst/>
            <a:ahLst/>
            <a:cxnLst/>
            <a:rect l="0" t="0" r="0" b="0"/>
            <a:pathLst>
              <a:path w="953" h="104775">
                <a:moveTo>
                  <a:pt x="0" y="0"/>
                </a:moveTo>
                <a:lnTo>
                  <a:pt x="0" y="104775"/>
                </a:lnTo>
              </a:path>
            </a:pathLst>
          </a:custGeom>
          <a:noFill/>
          <a:ln w="19050">
            <a:solidFill>
              <a:srgbClr val="BDCDC6"/>
            </a:solidFill>
          </a:ln>
        </p:spPr>
      </p:sp>
      <p:sp>
        <p:nvSpPr>
          <p:cNvPr id="30" name="任意多边形: 形状 29">
            <a:extLst>
              <a:ext uri="{FF2B5EF4-FFF2-40B4-BE49-F238E27FC236}">
                <a16:creationId xmlns:a16="http://schemas.microsoft.com/office/drawing/2014/main" id="{536190A5-BCF5-4E26-A57F-45F2A7D0447C}"/>
              </a:ext>
            </a:extLst>
          </p:cNvPr>
          <p:cNvSpPr>
            <a:spLocks noGrp="1"/>
          </p:cNvSpPr>
          <p:nvPr/>
        </p:nvSpPr>
        <p:spPr>
          <a:xfrm>
            <a:off x="11430000" y="2190750"/>
            <a:ext cx="953" cy="104775"/>
          </a:xfrm>
          <a:custGeom>
            <a:avLst/>
            <a:gdLst/>
            <a:ahLst/>
            <a:cxnLst/>
            <a:rect l="0" t="0" r="0" b="0"/>
            <a:pathLst>
              <a:path w="953" h="104775">
                <a:moveTo>
                  <a:pt x="0" y="0"/>
                </a:moveTo>
                <a:lnTo>
                  <a:pt x="0" y="104775"/>
                </a:lnTo>
              </a:path>
            </a:pathLst>
          </a:custGeom>
          <a:noFill/>
          <a:ln w="19050">
            <a:solidFill>
              <a:srgbClr val="BDCDC6"/>
            </a:solidFill>
          </a:ln>
        </p:spPr>
      </p:sp>
      <p:sp>
        <p:nvSpPr>
          <p:cNvPr id="31" name="任意多边形: 形状 30">
            <a:extLst>
              <a:ext uri="{FF2B5EF4-FFF2-40B4-BE49-F238E27FC236}">
                <a16:creationId xmlns:a16="http://schemas.microsoft.com/office/drawing/2014/main" id="{189B6273-F054-4BA5-8498-7A0BC17AFEE2}"/>
              </a:ext>
            </a:extLst>
          </p:cNvPr>
          <p:cNvSpPr>
            <a:spLocks noGrp="1"/>
          </p:cNvSpPr>
          <p:nvPr/>
        </p:nvSpPr>
        <p:spPr>
          <a:xfrm>
            <a:off x="11430000" y="2381250"/>
            <a:ext cx="953" cy="104775"/>
          </a:xfrm>
          <a:custGeom>
            <a:avLst/>
            <a:gdLst/>
            <a:ahLst/>
            <a:cxnLst/>
            <a:rect l="0" t="0" r="0" b="0"/>
            <a:pathLst>
              <a:path w="953" h="104775">
                <a:moveTo>
                  <a:pt x="0" y="0"/>
                </a:moveTo>
                <a:lnTo>
                  <a:pt x="0" y="104775"/>
                </a:lnTo>
              </a:path>
            </a:pathLst>
          </a:custGeom>
          <a:noFill/>
          <a:ln w="19050">
            <a:solidFill>
              <a:srgbClr val="BDCDC6"/>
            </a:solidFill>
          </a:ln>
        </p:spPr>
      </p:sp>
      <p:sp>
        <p:nvSpPr>
          <p:cNvPr id="32" name="任意多边形: 形状 31">
            <a:extLst>
              <a:ext uri="{FF2B5EF4-FFF2-40B4-BE49-F238E27FC236}">
                <a16:creationId xmlns:a16="http://schemas.microsoft.com/office/drawing/2014/main" id="{0E0CC82D-EFCC-41B7-A8E3-51B62FE6DCD7}"/>
              </a:ext>
            </a:extLst>
          </p:cNvPr>
          <p:cNvSpPr>
            <a:spLocks noGrp="1"/>
          </p:cNvSpPr>
          <p:nvPr/>
        </p:nvSpPr>
        <p:spPr>
          <a:xfrm>
            <a:off x="11430000" y="2571750"/>
            <a:ext cx="953" cy="104775"/>
          </a:xfrm>
          <a:custGeom>
            <a:avLst/>
            <a:gdLst/>
            <a:ahLst/>
            <a:cxnLst/>
            <a:rect l="0" t="0" r="0" b="0"/>
            <a:pathLst>
              <a:path w="953" h="104775">
                <a:moveTo>
                  <a:pt x="0" y="0"/>
                </a:moveTo>
                <a:lnTo>
                  <a:pt x="0" y="104775"/>
                </a:lnTo>
              </a:path>
            </a:pathLst>
          </a:custGeom>
          <a:noFill/>
          <a:ln w="19050">
            <a:solidFill>
              <a:srgbClr val="BDCDC6"/>
            </a:solidFill>
          </a:ln>
        </p:spPr>
      </p:sp>
      <p:sp>
        <p:nvSpPr>
          <p:cNvPr id="33" name="任意多边形: 形状 32">
            <a:extLst>
              <a:ext uri="{FF2B5EF4-FFF2-40B4-BE49-F238E27FC236}">
                <a16:creationId xmlns:a16="http://schemas.microsoft.com/office/drawing/2014/main" id="{CEE5C025-C9A9-49ED-BAC7-87A8D18E9EDB}"/>
              </a:ext>
            </a:extLst>
          </p:cNvPr>
          <p:cNvSpPr>
            <a:spLocks noGrp="1"/>
          </p:cNvSpPr>
          <p:nvPr/>
        </p:nvSpPr>
        <p:spPr>
          <a:xfrm>
            <a:off x="11430000" y="2762250"/>
            <a:ext cx="953" cy="104775"/>
          </a:xfrm>
          <a:custGeom>
            <a:avLst/>
            <a:gdLst/>
            <a:ahLst/>
            <a:cxnLst/>
            <a:rect l="0" t="0" r="0" b="0"/>
            <a:pathLst>
              <a:path w="953" h="104775">
                <a:moveTo>
                  <a:pt x="0" y="0"/>
                </a:moveTo>
                <a:lnTo>
                  <a:pt x="0" y="104775"/>
                </a:lnTo>
              </a:path>
            </a:pathLst>
          </a:custGeom>
          <a:noFill/>
          <a:ln w="19050">
            <a:solidFill>
              <a:srgbClr val="BDCDC6"/>
            </a:solidFill>
          </a:ln>
        </p:spPr>
      </p:sp>
      <p:sp>
        <p:nvSpPr>
          <p:cNvPr id="34" name="任意多边形: 形状 33">
            <a:extLst>
              <a:ext uri="{FF2B5EF4-FFF2-40B4-BE49-F238E27FC236}">
                <a16:creationId xmlns:a16="http://schemas.microsoft.com/office/drawing/2014/main" id="{20E26F69-3596-4228-AFD7-0B9F2D965FF6}"/>
              </a:ext>
            </a:extLst>
          </p:cNvPr>
          <p:cNvSpPr>
            <a:spLocks noGrp="1"/>
          </p:cNvSpPr>
          <p:nvPr/>
        </p:nvSpPr>
        <p:spPr>
          <a:xfrm>
            <a:off x="11430000" y="2952750"/>
            <a:ext cx="953" cy="104775"/>
          </a:xfrm>
          <a:custGeom>
            <a:avLst/>
            <a:gdLst/>
            <a:ahLst/>
            <a:cxnLst/>
            <a:rect l="0" t="0" r="0" b="0"/>
            <a:pathLst>
              <a:path w="953" h="104775">
                <a:moveTo>
                  <a:pt x="0" y="0"/>
                </a:moveTo>
                <a:lnTo>
                  <a:pt x="0" y="104775"/>
                </a:lnTo>
              </a:path>
            </a:pathLst>
          </a:custGeom>
          <a:noFill/>
          <a:ln w="19050">
            <a:solidFill>
              <a:srgbClr val="BDCDC6"/>
            </a:solidFill>
          </a:ln>
        </p:spPr>
      </p:sp>
      <p:sp>
        <p:nvSpPr>
          <p:cNvPr id="35" name="任意多边形: 形状 34">
            <a:extLst>
              <a:ext uri="{FF2B5EF4-FFF2-40B4-BE49-F238E27FC236}">
                <a16:creationId xmlns:a16="http://schemas.microsoft.com/office/drawing/2014/main" id="{0F8D7FB6-0111-4BB8-852D-C5B5A2432BCD}"/>
              </a:ext>
            </a:extLst>
          </p:cNvPr>
          <p:cNvSpPr>
            <a:spLocks noGrp="1"/>
          </p:cNvSpPr>
          <p:nvPr/>
        </p:nvSpPr>
        <p:spPr>
          <a:xfrm>
            <a:off x="11430000" y="3143250"/>
            <a:ext cx="953" cy="104775"/>
          </a:xfrm>
          <a:custGeom>
            <a:avLst/>
            <a:gdLst/>
            <a:ahLst/>
            <a:cxnLst/>
            <a:rect l="0" t="0" r="0" b="0"/>
            <a:pathLst>
              <a:path w="953" h="104775">
                <a:moveTo>
                  <a:pt x="0" y="0"/>
                </a:moveTo>
                <a:lnTo>
                  <a:pt x="0" y="104775"/>
                </a:lnTo>
              </a:path>
            </a:pathLst>
          </a:custGeom>
          <a:noFill/>
          <a:ln w="19050">
            <a:solidFill>
              <a:srgbClr val="BDCDC6"/>
            </a:solidFill>
          </a:ln>
        </p:spPr>
      </p:sp>
      <p:sp>
        <p:nvSpPr>
          <p:cNvPr id="36" name="任意多边形: 形状 35">
            <a:extLst>
              <a:ext uri="{FF2B5EF4-FFF2-40B4-BE49-F238E27FC236}">
                <a16:creationId xmlns:a16="http://schemas.microsoft.com/office/drawing/2014/main" id="{46184484-5718-4F2D-8971-70044A4B63CE}"/>
              </a:ext>
            </a:extLst>
          </p:cNvPr>
          <p:cNvSpPr>
            <a:spLocks noGrp="1"/>
          </p:cNvSpPr>
          <p:nvPr/>
        </p:nvSpPr>
        <p:spPr>
          <a:xfrm>
            <a:off x="11430000" y="3333750"/>
            <a:ext cx="953" cy="104775"/>
          </a:xfrm>
          <a:custGeom>
            <a:avLst/>
            <a:gdLst/>
            <a:ahLst/>
            <a:cxnLst/>
            <a:rect l="0" t="0" r="0" b="0"/>
            <a:pathLst>
              <a:path w="953" h="104775">
                <a:moveTo>
                  <a:pt x="0" y="0"/>
                </a:moveTo>
                <a:lnTo>
                  <a:pt x="0" y="104775"/>
                </a:lnTo>
              </a:path>
            </a:pathLst>
          </a:custGeom>
          <a:noFill/>
          <a:ln w="19050">
            <a:solidFill>
              <a:srgbClr val="BDCDC6"/>
            </a:solidFill>
          </a:ln>
        </p:spPr>
      </p:sp>
      <p:sp>
        <p:nvSpPr>
          <p:cNvPr id="37" name="任意多边形: 形状 36">
            <a:extLst>
              <a:ext uri="{FF2B5EF4-FFF2-40B4-BE49-F238E27FC236}">
                <a16:creationId xmlns:a16="http://schemas.microsoft.com/office/drawing/2014/main" id="{5AFD1FFE-B3C2-481A-910B-EDF724199570}"/>
              </a:ext>
            </a:extLst>
          </p:cNvPr>
          <p:cNvSpPr>
            <a:spLocks noGrp="1"/>
          </p:cNvSpPr>
          <p:nvPr/>
        </p:nvSpPr>
        <p:spPr>
          <a:xfrm>
            <a:off x="11430000" y="3524250"/>
            <a:ext cx="953" cy="104775"/>
          </a:xfrm>
          <a:custGeom>
            <a:avLst/>
            <a:gdLst/>
            <a:ahLst/>
            <a:cxnLst/>
            <a:rect l="0" t="0" r="0" b="0"/>
            <a:pathLst>
              <a:path w="953" h="104775">
                <a:moveTo>
                  <a:pt x="0" y="0"/>
                </a:moveTo>
                <a:lnTo>
                  <a:pt x="0" y="104775"/>
                </a:lnTo>
              </a:path>
            </a:pathLst>
          </a:custGeom>
          <a:noFill/>
          <a:ln w="19050">
            <a:solidFill>
              <a:srgbClr val="BDCDC6"/>
            </a:solidFill>
          </a:ln>
        </p:spPr>
      </p:sp>
      <p:sp>
        <p:nvSpPr>
          <p:cNvPr id="38" name="任意多边形: 形状 37">
            <a:extLst>
              <a:ext uri="{FF2B5EF4-FFF2-40B4-BE49-F238E27FC236}">
                <a16:creationId xmlns:a16="http://schemas.microsoft.com/office/drawing/2014/main" id="{203BA16A-5AA8-4D58-A200-FD10A1CF7423}"/>
              </a:ext>
            </a:extLst>
          </p:cNvPr>
          <p:cNvSpPr>
            <a:spLocks noGrp="1"/>
          </p:cNvSpPr>
          <p:nvPr/>
        </p:nvSpPr>
        <p:spPr>
          <a:xfrm>
            <a:off x="11430000" y="3714750"/>
            <a:ext cx="953" cy="104775"/>
          </a:xfrm>
          <a:custGeom>
            <a:avLst/>
            <a:gdLst/>
            <a:ahLst/>
            <a:cxnLst/>
            <a:rect l="0" t="0" r="0" b="0"/>
            <a:pathLst>
              <a:path w="953" h="104775">
                <a:moveTo>
                  <a:pt x="0" y="0"/>
                </a:moveTo>
                <a:lnTo>
                  <a:pt x="0" y="104775"/>
                </a:lnTo>
              </a:path>
            </a:pathLst>
          </a:custGeom>
          <a:noFill/>
          <a:ln w="19050">
            <a:solidFill>
              <a:srgbClr val="BDCDC6"/>
            </a:solidFill>
          </a:ln>
        </p:spPr>
      </p:sp>
      <p:sp>
        <p:nvSpPr>
          <p:cNvPr id="39" name="任意多边形: 形状 38">
            <a:extLst>
              <a:ext uri="{FF2B5EF4-FFF2-40B4-BE49-F238E27FC236}">
                <a16:creationId xmlns:a16="http://schemas.microsoft.com/office/drawing/2014/main" id="{87C1E370-0806-4E7D-947C-B50501A22490}"/>
              </a:ext>
            </a:extLst>
          </p:cNvPr>
          <p:cNvSpPr>
            <a:spLocks noGrp="1"/>
          </p:cNvSpPr>
          <p:nvPr/>
        </p:nvSpPr>
        <p:spPr>
          <a:xfrm>
            <a:off x="11430000" y="3905250"/>
            <a:ext cx="953" cy="104775"/>
          </a:xfrm>
          <a:custGeom>
            <a:avLst/>
            <a:gdLst/>
            <a:ahLst/>
            <a:cxnLst/>
            <a:rect l="0" t="0" r="0" b="0"/>
            <a:pathLst>
              <a:path w="953" h="104775">
                <a:moveTo>
                  <a:pt x="0" y="0"/>
                </a:moveTo>
                <a:lnTo>
                  <a:pt x="0" y="104775"/>
                </a:lnTo>
              </a:path>
            </a:pathLst>
          </a:custGeom>
          <a:noFill/>
          <a:ln w="19050">
            <a:solidFill>
              <a:srgbClr val="BDCDC6"/>
            </a:solidFill>
          </a:ln>
        </p:spPr>
      </p:sp>
      <p:sp>
        <p:nvSpPr>
          <p:cNvPr id="40" name="任意多边形: 形状 39">
            <a:extLst>
              <a:ext uri="{FF2B5EF4-FFF2-40B4-BE49-F238E27FC236}">
                <a16:creationId xmlns:a16="http://schemas.microsoft.com/office/drawing/2014/main" id="{198AFED6-9414-462B-BAF4-48935CF4A546}"/>
              </a:ext>
            </a:extLst>
          </p:cNvPr>
          <p:cNvSpPr>
            <a:spLocks noGrp="1"/>
          </p:cNvSpPr>
          <p:nvPr/>
        </p:nvSpPr>
        <p:spPr>
          <a:xfrm>
            <a:off x="11430000" y="4095750"/>
            <a:ext cx="953" cy="104775"/>
          </a:xfrm>
          <a:custGeom>
            <a:avLst/>
            <a:gdLst/>
            <a:ahLst/>
            <a:cxnLst/>
            <a:rect l="0" t="0" r="0" b="0"/>
            <a:pathLst>
              <a:path w="953" h="104775">
                <a:moveTo>
                  <a:pt x="0" y="0"/>
                </a:moveTo>
                <a:lnTo>
                  <a:pt x="0" y="104775"/>
                </a:lnTo>
              </a:path>
            </a:pathLst>
          </a:custGeom>
          <a:noFill/>
          <a:ln w="19050">
            <a:solidFill>
              <a:srgbClr val="BDCDC6"/>
            </a:solidFill>
          </a:ln>
        </p:spPr>
      </p:sp>
      <p:sp>
        <p:nvSpPr>
          <p:cNvPr id="41" name="任意多边形: 形状 40">
            <a:extLst>
              <a:ext uri="{FF2B5EF4-FFF2-40B4-BE49-F238E27FC236}">
                <a16:creationId xmlns:a16="http://schemas.microsoft.com/office/drawing/2014/main" id="{C57193C3-1B00-49D3-ADCF-545C8C90B7F5}"/>
              </a:ext>
            </a:extLst>
          </p:cNvPr>
          <p:cNvSpPr>
            <a:spLocks noGrp="1"/>
          </p:cNvSpPr>
          <p:nvPr/>
        </p:nvSpPr>
        <p:spPr>
          <a:xfrm>
            <a:off x="11430000" y="4286250"/>
            <a:ext cx="953" cy="104775"/>
          </a:xfrm>
          <a:custGeom>
            <a:avLst/>
            <a:gdLst/>
            <a:ahLst/>
            <a:cxnLst/>
            <a:rect l="0" t="0" r="0" b="0"/>
            <a:pathLst>
              <a:path w="953" h="104775">
                <a:moveTo>
                  <a:pt x="0" y="0"/>
                </a:moveTo>
                <a:lnTo>
                  <a:pt x="0" y="104775"/>
                </a:lnTo>
              </a:path>
            </a:pathLst>
          </a:custGeom>
          <a:noFill/>
          <a:ln w="19050">
            <a:solidFill>
              <a:srgbClr val="BDCDC6"/>
            </a:solidFill>
          </a:ln>
        </p:spPr>
      </p:sp>
      <p:sp>
        <p:nvSpPr>
          <p:cNvPr id="42" name="任意多边形: 形状 41">
            <a:extLst>
              <a:ext uri="{FF2B5EF4-FFF2-40B4-BE49-F238E27FC236}">
                <a16:creationId xmlns:a16="http://schemas.microsoft.com/office/drawing/2014/main" id="{7D449F5A-8C39-4B47-96DA-42E1DFF4C8B2}"/>
              </a:ext>
            </a:extLst>
          </p:cNvPr>
          <p:cNvSpPr>
            <a:spLocks noGrp="1"/>
          </p:cNvSpPr>
          <p:nvPr/>
        </p:nvSpPr>
        <p:spPr>
          <a:xfrm>
            <a:off x="11430000" y="4476750"/>
            <a:ext cx="953" cy="104775"/>
          </a:xfrm>
          <a:custGeom>
            <a:avLst/>
            <a:gdLst/>
            <a:ahLst/>
            <a:cxnLst/>
            <a:rect l="0" t="0" r="0" b="0"/>
            <a:pathLst>
              <a:path w="953" h="104775">
                <a:moveTo>
                  <a:pt x="0" y="0"/>
                </a:moveTo>
                <a:lnTo>
                  <a:pt x="0" y="104775"/>
                </a:lnTo>
              </a:path>
            </a:pathLst>
          </a:custGeom>
          <a:noFill/>
          <a:ln w="19050">
            <a:solidFill>
              <a:srgbClr val="BDCDC6"/>
            </a:solidFill>
          </a:ln>
        </p:spPr>
      </p:sp>
      <p:sp>
        <p:nvSpPr>
          <p:cNvPr id="43" name="任意多边形: 形状 42">
            <a:extLst>
              <a:ext uri="{FF2B5EF4-FFF2-40B4-BE49-F238E27FC236}">
                <a16:creationId xmlns:a16="http://schemas.microsoft.com/office/drawing/2014/main" id="{2D983FE5-598E-4CE4-9BBB-4855E264DA57}"/>
              </a:ext>
            </a:extLst>
          </p:cNvPr>
          <p:cNvSpPr>
            <a:spLocks noGrp="1"/>
          </p:cNvSpPr>
          <p:nvPr/>
        </p:nvSpPr>
        <p:spPr>
          <a:xfrm>
            <a:off x="11430000" y="4667250"/>
            <a:ext cx="953" cy="104775"/>
          </a:xfrm>
          <a:custGeom>
            <a:avLst/>
            <a:gdLst/>
            <a:ahLst/>
            <a:cxnLst/>
            <a:rect l="0" t="0" r="0" b="0"/>
            <a:pathLst>
              <a:path w="953" h="104775">
                <a:moveTo>
                  <a:pt x="0" y="0"/>
                </a:moveTo>
                <a:lnTo>
                  <a:pt x="0" y="104775"/>
                </a:lnTo>
              </a:path>
            </a:pathLst>
          </a:custGeom>
          <a:noFill/>
          <a:ln w="19050">
            <a:solidFill>
              <a:srgbClr val="BDCDC6"/>
            </a:solidFill>
          </a:ln>
        </p:spPr>
      </p:sp>
      <p:sp>
        <p:nvSpPr>
          <p:cNvPr id="44" name="任意多边形: 形状 43">
            <a:extLst>
              <a:ext uri="{FF2B5EF4-FFF2-40B4-BE49-F238E27FC236}">
                <a16:creationId xmlns:a16="http://schemas.microsoft.com/office/drawing/2014/main" id="{8FE8B7C7-DCF8-4AB3-B57C-58C5275550C0}"/>
              </a:ext>
            </a:extLst>
          </p:cNvPr>
          <p:cNvSpPr>
            <a:spLocks noGrp="1"/>
          </p:cNvSpPr>
          <p:nvPr/>
        </p:nvSpPr>
        <p:spPr>
          <a:xfrm>
            <a:off x="11430000" y="4857750"/>
            <a:ext cx="953" cy="104775"/>
          </a:xfrm>
          <a:custGeom>
            <a:avLst/>
            <a:gdLst/>
            <a:ahLst/>
            <a:cxnLst/>
            <a:rect l="0" t="0" r="0" b="0"/>
            <a:pathLst>
              <a:path w="953" h="104775">
                <a:moveTo>
                  <a:pt x="0" y="0"/>
                </a:moveTo>
                <a:lnTo>
                  <a:pt x="0" y="104775"/>
                </a:lnTo>
              </a:path>
            </a:pathLst>
          </a:custGeom>
          <a:noFill/>
          <a:ln w="19050">
            <a:solidFill>
              <a:srgbClr val="BDCDC6"/>
            </a:solidFill>
          </a:ln>
        </p:spPr>
      </p:sp>
      <p:sp>
        <p:nvSpPr>
          <p:cNvPr id="45" name="任意多边形: 形状 44">
            <a:extLst>
              <a:ext uri="{FF2B5EF4-FFF2-40B4-BE49-F238E27FC236}">
                <a16:creationId xmlns:a16="http://schemas.microsoft.com/office/drawing/2014/main" id="{0B2647CB-C773-4757-A761-2A06253719F2}"/>
              </a:ext>
            </a:extLst>
          </p:cNvPr>
          <p:cNvSpPr>
            <a:spLocks noGrp="1"/>
          </p:cNvSpPr>
          <p:nvPr/>
        </p:nvSpPr>
        <p:spPr>
          <a:xfrm>
            <a:off x="11430000" y="5048250"/>
            <a:ext cx="953" cy="104775"/>
          </a:xfrm>
          <a:custGeom>
            <a:avLst/>
            <a:gdLst/>
            <a:ahLst/>
            <a:cxnLst/>
            <a:rect l="0" t="0" r="0" b="0"/>
            <a:pathLst>
              <a:path w="953" h="104775">
                <a:moveTo>
                  <a:pt x="0" y="0"/>
                </a:moveTo>
                <a:lnTo>
                  <a:pt x="0" y="104775"/>
                </a:lnTo>
              </a:path>
            </a:pathLst>
          </a:custGeom>
          <a:noFill/>
          <a:ln w="19050">
            <a:solidFill>
              <a:srgbClr val="BDCDC6"/>
            </a:solidFill>
          </a:ln>
        </p:spPr>
      </p:sp>
      <p:sp>
        <p:nvSpPr>
          <p:cNvPr id="46" name="任意多边形: 形状 45">
            <a:extLst>
              <a:ext uri="{FF2B5EF4-FFF2-40B4-BE49-F238E27FC236}">
                <a16:creationId xmlns:a16="http://schemas.microsoft.com/office/drawing/2014/main" id="{67202AA8-6C34-42B5-ABB3-2B8CF8F5D604}"/>
              </a:ext>
            </a:extLst>
          </p:cNvPr>
          <p:cNvSpPr>
            <a:spLocks noGrp="1"/>
          </p:cNvSpPr>
          <p:nvPr/>
        </p:nvSpPr>
        <p:spPr>
          <a:xfrm>
            <a:off x="11430000" y="5238750"/>
            <a:ext cx="953" cy="104775"/>
          </a:xfrm>
          <a:custGeom>
            <a:avLst/>
            <a:gdLst/>
            <a:ahLst/>
            <a:cxnLst/>
            <a:rect l="0" t="0" r="0" b="0"/>
            <a:pathLst>
              <a:path w="953" h="104775">
                <a:moveTo>
                  <a:pt x="0" y="0"/>
                </a:moveTo>
                <a:lnTo>
                  <a:pt x="0" y="104775"/>
                </a:lnTo>
              </a:path>
            </a:pathLst>
          </a:custGeom>
          <a:noFill/>
          <a:ln w="19050">
            <a:solidFill>
              <a:srgbClr val="BDCDC6"/>
            </a:solidFill>
          </a:ln>
        </p:spPr>
      </p:sp>
      <p:sp>
        <p:nvSpPr>
          <p:cNvPr id="47" name="椭圆 46">
            <a:extLst>
              <a:ext uri="{FF2B5EF4-FFF2-40B4-BE49-F238E27FC236}">
                <a16:creationId xmlns:a16="http://schemas.microsoft.com/office/drawing/2014/main" id="{D2D8E2EE-9C21-4117-AD94-047CC886F8CF}"/>
              </a:ext>
            </a:extLst>
          </p:cNvPr>
          <p:cNvSpPr>
            <a:spLocks noGrp="1"/>
          </p:cNvSpPr>
          <p:nvPr/>
        </p:nvSpPr>
        <p:spPr>
          <a:xfrm>
            <a:off x="361950" y="5524500"/>
            <a:ext cx="476250" cy="476250"/>
          </a:xfrm>
          <a:prstGeom prst="ellipse">
            <a:avLst/>
          </a:prstGeom>
          <a:solidFill>
            <a:srgbClr val="366755"/>
          </a:solidFill>
          <a:ln w="0">
            <a:noFill/>
          </a:ln>
        </p:spPr>
        <p:txBody>
          <a:bodyPr lIns="0" tIns="0" rIns="0" bIns="0" anchor="ctr"/>
          <a:lstStyle/>
          <a:p>
            <a:pPr algn="ctr">
              <a:defRPr sz="23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48" name="矩形 47">
            <a:extLst>
              <a:ext uri="{FF2B5EF4-FFF2-40B4-BE49-F238E27FC236}">
                <a16:creationId xmlns:a16="http://schemas.microsoft.com/office/drawing/2014/main" id="{B1C541B8-9C83-42BC-9EF0-C25717FD591B}"/>
              </a:ext>
            </a:extLst>
          </p:cNvPr>
          <p:cNvSpPr>
            <a:spLocks noGrp="1"/>
          </p:cNvSpPr>
          <p:nvPr/>
        </p:nvSpPr>
        <p:spPr>
          <a:xfrm>
            <a:off x="1238250" y="5543550"/>
            <a:ext cx="2000250" cy="4572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2850" b="1">
                <a:solidFill>
                  <a:srgbClr val="366755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366755"/>
                </a:solidFill>
                <a:latin typeface="Arial"/>
                <a:ea typeface="Arial"/>
                <a:cs typeface="Arial"/>
              </a:rPr>
              <a:t>Find</a:t>
            </a:r>
          </a:p>
        </p:txBody>
      </p:sp>
      <p:sp>
        <p:nvSpPr>
          <p:cNvPr id="49" name="矩形 48">
            <a:extLst>
              <a:ext uri="{FF2B5EF4-FFF2-40B4-BE49-F238E27FC236}">
                <a16:creationId xmlns:a16="http://schemas.microsoft.com/office/drawing/2014/main" id="{474150FB-076F-4CD8-AFDC-50F98CB75C55}"/>
              </a:ext>
            </a:extLst>
          </p:cNvPr>
          <p:cNvSpPr>
            <a:spLocks noGrp="1"/>
          </p:cNvSpPr>
          <p:nvPr/>
        </p:nvSpPr>
        <p:spPr>
          <a:xfrm>
            <a:off x="3524250" y="5572125"/>
            <a:ext cx="12715875" cy="4000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2325" b="0">
                <a:solidFill>
                  <a:srgbClr val="60717A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60717A"/>
                </a:solidFill>
                <a:latin typeface="Arial"/>
                <a:ea typeface="Arial"/>
                <a:cs typeface="Arial"/>
              </a:rPr>
              <a:t>Locating candidate ligand regions in the experimental map</a:t>
            </a:r>
          </a:p>
        </p:txBody>
      </p:sp>
      <p:sp>
        <p:nvSpPr>
          <p:cNvPr id="50" name="任意多边形: 形状 49">
            <a:extLst>
              <a:ext uri="{FF2B5EF4-FFF2-40B4-BE49-F238E27FC236}">
                <a16:creationId xmlns:a16="http://schemas.microsoft.com/office/drawing/2014/main" id="{34C688B9-001B-4585-9CF8-1D1A9DEA0111}"/>
              </a:ext>
            </a:extLst>
          </p:cNvPr>
          <p:cNvSpPr>
            <a:spLocks noGrp="1"/>
          </p:cNvSpPr>
          <p:nvPr/>
        </p:nvSpPr>
        <p:spPr>
          <a:xfrm>
            <a:off x="1238250" y="6105525"/>
            <a:ext cx="15049500" cy="953"/>
          </a:xfrm>
          <a:custGeom>
            <a:avLst/>
            <a:gdLst/>
            <a:ahLst/>
            <a:cxnLst/>
            <a:rect l="0" t="0" r="0" b="0"/>
            <a:pathLst>
              <a:path w="15049500" h="953">
                <a:moveTo>
                  <a:pt x="0" y="0"/>
                </a:moveTo>
                <a:lnTo>
                  <a:pt x="15049500" y="0"/>
                </a:lnTo>
              </a:path>
            </a:pathLst>
          </a:custGeom>
          <a:noFill/>
          <a:ln w="19050">
            <a:solidFill>
              <a:srgbClr val="E6EDEB"/>
            </a:solidFill>
          </a:ln>
        </p:spPr>
      </p:sp>
      <p:sp>
        <p:nvSpPr>
          <p:cNvPr id="51" name="矩形 50">
            <a:extLst>
              <a:ext uri="{FF2B5EF4-FFF2-40B4-BE49-F238E27FC236}">
                <a16:creationId xmlns:a16="http://schemas.microsoft.com/office/drawing/2014/main" id="{8B2FAD52-9FF1-44E7-B71A-219CA733B9A9}"/>
              </a:ext>
            </a:extLst>
          </p:cNvPr>
          <p:cNvSpPr>
            <a:spLocks noGrp="1"/>
          </p:cNvSpPr>
          <p:nvPr/>
        </p:nvSpPr>
        <p:spPr>
          <a:xfrm>
            <a:off x="1238250" y="6248400"/>
            <a:ext cx="352425" cy="3714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2475" b="1">
                <a:solidFill>
                  <a:srgbClr val="203544"/>
                </a:solidFill>
                <a:latin typeface="Arial"/>
                <a:ea typeface="Arial"/>
                <a:cs typeface="Arial"/>
              </a:defRPr>
            </a:pPr>
            <a:r>
              <a:rPr sz="2475" b="1">
                <a:solidFill>
                  <a:srgbClr val="203544"/>
                </a:solidFill>
                <a:latin typeface="Arial"/>
                <a:ea typeface="Arial"/>
                <a:cs typeface="Arial"/>
              </a:rPr>
              <a:t>d</a:t>
            </a:r>
          </a:p>
        </p:txBody>
      </p:sp>
      <p:sp>
        <p:nvSpPr>
          <p:cNvPr id="52" name="矩形 51">
            <a:extLst>
              <a:ext uri="{FF2B5EF4-FFF2-40B4-BE49-F238E27FC236}">
                <a16:creationId xmlns:a16="http://schemas.microsoft.com/office/drawing/2014/main" id="{6148F9B3-AC8D-4F2D-B372-1714A53A9215}"/>
              </a:ext>
            </a:extLst>
          </p:cNvPr>
          <p:cNvSpPr>
            <a:spLocks noGrp="1"/>
          </p:cNvSpPr>
          <p:nvPr/>
        </p:nvSpPr>
        <p:spPr>
          <a:xfrm>
            <a:off x="1657350" y="6257925"/>
            <a:ext cx="5486400" cy="3714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2325" b="0">
                <a:solidFill>
                  <a:srgbClr val="203544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203544"/>
                </a:solidFill>
                <a:latin typeface="Arial"/>
                <a:ea typeface="Arial"/>
                <a:cs typeface="Arial"/>
              </a:rPr>
              <a:t>Global candidates</a:t>
            </a:r>
          </a:p>
        </p:txBody>
      </p:sp>
      <p:pic>
        <p:nvPicPr>
          <p:cNvPr id="156" name="global_find" descr="9RD8 global_find; native ChimeraX; source C:\Users\15919\Desktop\论文草稿\画图\formal\E2E_flow_v2_20261003\9rd8\renders\global_find.png; editable crop only"/>
          <p:cNvPicPr>
            <a:picLocks noChangeAspect="1"/>
          </p:cNvPicPr>
          <p:nvPr/>
        </p:nvPicPr>
        <p:blipFill>
          <a:blip r:embed="rId7"/>
          <a:srcRect l="28427" t="14070" r="19369" b="14544"/>
          <a:stretch>
            <a:fillRect/>
          </a:stretch>
        </p:blipFill>
        <p:spPr>
          <a:xfrm>
            <a:off x="2194197" y="6715125"/>
            <a:ext cx="3993606" cy="4095750"/>
          </a:xfrm>
          <a:prstGeom prst="rect">
            <a:avLst/>
          </a:prstGeom>
        </p:spPr>
      </p:pic>
      <p:sp>
        <p:nvSpPr>
          <p:cNvPr id="54" name="target blob 0">
            <a:extLst>
              <a:ext uri="{FF2B5EF4-FFF2-40B4-BE49-F238E27FC236}">
                <a16:creationId xmlns:a16="http://schemas.microsoft.com/office/drawing/2014/main" id="{581A778E-86BA-4A3F-B21C-6BD5B86B4DCE}"/>
              </a:ext>
            </a:extLst>
          </p:cNvPr>
          <p:cNvSpPr>
            <a:spLocks noGrp="1"/>
          </p:cNvSpPr>
          <p:nvPr/>
        </p:nvSpPr>
        <p:spPr>
          <a:xfrm>
            <a:off x="3450128" y="8438834"/>
            <a:ext cx="505541" cy="566736"/>
          </a:xfrm>
          <a:prstGeom prst="rect">
            <a:avLst/>
          </a:prstGeom>
          <a:noFill/>
          <a:ln w="28575">
            <a:solidFill>
              <a:srgbClr val="E9983C"/>
            </a:solidFill>
          </a:ln>
        </p:spPr>
      </p:sp>
      <p:sp>
        <p:nvSpPr>
          <p:cNvPr id="55" name="矩形 54">
            <a:extLst>
              <a:ext uri="{FF2B5EF4-FFF2-40B4-BE49-F238E27FC236}">
                <a16:creationId xmlns:a16="http://schemas.microsoft.com/office/drawing/2014/main" id="{A13964DC-1E9E-4CDD-857E-9E1D7532C366}"/>
              </a:ext>
            </a:extLst>
          </p:cNvPr>
          <p:cNvSpPr>
            <a:spLocks noGrp="1"/>
          </p:cNvSpPr>
          <p:nvPr/>
        </p:nvSpPr>
        <p:spPr>
          <a:xfrm>
            <a:off x="7905750" y="6248400"/>
            <a:ext cx="352425" cy="3714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2475" b="1">
                <a:solidFill>
                  <a:srgbClr val="203544"/>
                </a:solidFill>
                <a:latin typeface="Arial"/>
                <a:ea typeface="Arial"/>
                <a:cs typeface="Arial"/>
              </a:defRPr>
            </a:pPr>
            <a:r>
              <a:rPr sz="2475" b="1">
                <a:solidFill>
                  <a:srgbClr val="203544"/>
                </a:solidFill>
                <a:latin typeface="Arial"/>
                <a:ea typeface="Arial"/>
                <a:cs typeface="Arial"/>
              </a:rPr>
              <a:t>e</a:t>
            </a:r>
          </a:p>
        </p:txBody>
      </p:sp>
      <p:sp>
        <p:nvSpPr>
          <p:cNvPr id="56" name="矩形 55">
            <a:extLst>
              <a:ext uri="{FF2B5EF4-FFF2-40B4-BE49-F238E27FC236}">
                <a16:creationId xmlns:a16="http://schemas.microsoft.com/office/drawing/2014/main" id="{920444C6-8187-4B8A-83F8-1F058279CFEC}"/>
              </a:ext>
            </a:extLst>
          </p:cNvPr>
          <p:cNvSpPr>
            <a:spLocks noGrp="1"/>
          </p:cNvSpPr>
          <p:nvPr/>
        </p:nvSpPr>
        <p:spPr>
          <a:xfrm>
            <a:off x="8324850" y="6257925"/>
            <a:ext cx="3629025" cy="3714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2325" b="0">
                <a:solidFill>
                  <a:srgbClr val="203544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203544"/>
                </a:solidFill>
                <a:latin typeface="Arial"/>
                <a:ea typeface="Arial"/>
                <a:cs typeface="Arial"/>
              </a:rPr>
              <a:t>GT neighborhood</a:t>
            </a:r>
          </a:p>
        </p:txBody>
      </p:sp>
      <p:sp>
        <p:nvSpPr>
          <p:cNvPr id="57" name="矩形 56">
            <a:extLst>
              <a:ext uri="{FF2B5EF4-FFF2-40B4-BE49-F238E27FC236}">
                <a16:creationId xmlns:a16="http://schemas.microsoft.com/office/drawing/2014/main" id="{3F4A2D81-44B4-4C64-847A-FF25381326EE}"/>
              </a:ext>
            </a:extLst>
          </p:cNvPr>
          <p:cNvSpPr>
            <a:spLocks noGrp="1"/>
          </p:cNvSpPr>
          <p:nvPr/>
        </p:nvSpPr>
        <p:spPr>
          <a:xfrm>
            <a:off x="12239625" y="6248400"/>
            <a:ext cx="352425" cy="3714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2475" b="1">
                <a:solidFill>
                  <a:srgbClr val="203544"/>
                </a:solidFill>
                <a:latin typeface="Arial"/>
                <a:ea typeface="Arial"/>
                <a:cs typeface="Arial"/>
              </a:defRPr>
            </a:pPr>
            <a:r>
              <a:rPr sz="2475" b="1">
                <a:solidFill>
                  <a:srgbClr val="203544"/>
                </a:solidFill>
                <a:latin typeface="Arial"/>
                <a:ea typeface="Arial"/>
                <a:cs typeface="Arial"/>
              </a:rPr>
              <a:t>f</a:t>
            </a:r>
          </a:p>
        </p:txBody>
      </p:sp>
      <p:sp>
        <p:nvSpPr>
          <p:cNvPr id="58" name="矩形 57">
            <a:extLst>
              <a:ext uri="{FF2B5EF4-FFF2-40B4-BE49-F238E27FC236}">
                <a16:creationId xmlns:a16="http://schemas.microsoft.com/office/drawing/2014/main" id="{FCD300F4-AFF9-4F84-802C-01C9128B5419}"/>
              </a:ext>
            </a:extLst>
          </p:cNvPr>
          <p:cNvSpPr>
            <a:spLocks noGrp="1"/>
          </p:cNvSpPr>
          <p:nvPr/>
        </p:nvSpPr>
        <p:spPr>
          <a:xfrm>
            <a:off x="12658725" y="6257925"/>
            <a:ext cx="3629025" cy="3714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2325" b="0">
                <a:solidFill>
                  <a:srgbClr val="203544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203544"/>
                </a:solidFill>
                <a:latin typeface="Arial"/>
                <a:ea typeface="Arial"/>
                <a:cs typeface="Arial"/>
              </a:rPr>
              <a:t>Find prediction</a:t>
            </a:r>
          </a:p>
        </p:txBody>
      </p:sp>
      <p:sp>
        <p:nvSpPr>
          <p:cNvPr id="59" name="矩形 58">
            <a:extLst>
              <a:ext uri="{FF2B5EF4-FFF2-40B4-BE49-F238E27FC236}">
                <a16:creationId xmlns:a16="http://schemas.microsoft.com/office/drawing/2014/main" id="{B384C0BD-C666-403F-9F4E-3E71537CBC7F}"/>
              </a:ext>
            </a:extLst>
          </p:cNvPr>
          <p:cNvSpPr>
            <a:spLocks noGrp="1"/>
          </p:cNvSpPr>
          <p:nvPr/>
        </p:nvSpPr>
        <p:spPr>
          <a:xfrm>
            <a:off x="7905750" y="6677025"/>
            <a:ext cx="8382000" cy="381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2250" b="1">
                <a:solidFill>
                  <a:srgbClr val="E9983C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E9983C"/>
                </a:solidFill>
                <a:latin typeface="Arial"/>
                <a:ea typeface="Arial"/>
                <a:cs typeface="Arial"/>
              </a:rPr>
              <a:t>Rank 1: target ligand</a:t>
            </a:r>
          </a:p>
        </p:txBody>
      </p:sp>
      <p:pic>
        <p:nvPicPr>
          <p:cNvPr id="163" name="local_gt" descr="9RD8 local_gt; native ChimeraX; source C:\Users\15919\Desktop\论文草稿\画图\formal\E2E_flow_20261003\9rd8\renders\local_gt.png; editable crop only"/>
          <p:cNvPicPr>
            <a:picLocks noChangeAspect="1"/>
          </p:cNvPicPr>
          <p:nvPr/>
        </p:nvPicPr>
        <p:blipFill>
          <a:blip r:embed="rId8"/>
          <a:srcRect/>
          <a:stretch>
            <a:fillRect/>
          </a:stretch>
        </p:blipFill>
        <p:spPr>
          <a:xfrm>
            <a:off x="7905750" y="7264003"/>
            <a:ext cx="4048125" cy="3036094"/>
          </a:xfrm>
          <a:prstGeom prst="rect">
            <a:avLst/>
          </a:prstGeom>
        </p:spPr>
      </p:pic>
      <p:pic>
        <p:nvPicPr>
          <p:cNvPr id="164" name="local_find" descr="9RD8 local_find; native ChimeraX; source C:\Users\15919\Desktop\论文草稿\画图\formal\E2E_flow_20261003\9rd8\renders\local_find.png; editable crop only"/>
          <p:cNvPicPr>
            <a:picLocks noChangeAspect="1"/>
          </p:cNvPicPr>
          <p:nvPr/>
        </p:nvPicPr>
        <p:blipFill>
          <a:blip r:embed="rId9"/>
          <a:srcRect/>
          <a:stretch>
            <a:fillRect/>
          </a:stretch>
        </p:blipFill>
        <p:spPr>
          <a:xfrm>
            <a:off x="12239625" y="7264003"/>
            <a:ext cx="4048125" cy="3036094"/>
          </a:xfrm>
          <a:prstGeom prst="rect">
            <a:avLst/>
          </a:prstGeom>
        </p:spPr>
      </p:pic>
      <p:sp>
        <p:nvSpPr>
          <p:cNvPr id="62" name="椭圆 61">
            <a:extLst>
              <a:ext uri="{FF2B5EF4-FFF2-40B4-BE49-F238E27FC236}">
                <a16:creationId xmlns:a16="http://schemas.microsoft.com/office/drawing/2014/main" id="{6D44579A-FB27-4E18-B155-65203D82D079}"/>
              </a:ext>
            </a:extLst>
          </p:cNvPr>
          <p:cNvSpPr>
            <a:spLocks noGrp="1"/>
          </p:cNvSpPr>
          <p:nvPr/>
        </p:nvSpPr>
        <p:spPr>
          <a:xfrm>
            <a:off x="361950" y="10991850"/>
            <a:ext cx="476250" cy="476250"/>
          </a:xfrm>
          <a:prstGeom prst="ellipse">
            <a:avLst/>
          </a:prstGeom>
          <a:solidFill>
            <a:srgbClr val="366755"/>
          </a:solidFill>
          <a:ln w="0">
            <a:noFill/>
          </a:ln>
        </p:spPr>
        <p:txBody>
          <a:bodyPr lIns="0" tIns="0" rIns="0" bIns="0" anchor="ctr"/>
          <a:lstStyle/>
          <a:p>
            <a:pPr algn="ctr">
              <a:defRPr sz="23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63" name="矩形 62">
            <a:extLst>
              <a:ext uri="{FF2B5EF4-FFF2-40B4-BE49-F238E27FC236}">
                <a16:creationId xmlns:a16="http://schemas.microsoft.com/office/drawing/2014/main" id="{22B43984-0D88-401B-9729-E6A56B68FA2D}"/>
              </a:ext>
            </a:extLst>
          </p:cNvPr>
          <p:cNvSpPr>
            <a:spLocks noGrp="1"/>
          </p:cNvSpPr>
          <p:nvPr/>
        </p:nvSpPr>
        <p:spPr>
          <a:xfrm>
            <a:off x="1238250" y="11010900"/>
            <a:ext cx="2000250" cy="4572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2850" b="1">
                <a:solidFill>
                  <a:srgbClr val="366755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366755"/>
                </a:solidFill>
                <a:latin typeface="Arial"/>
                <a:ea typeface="Arial"/>
                <a:cs typeface="Arial"/>
              </a:rPr>
              <a:t>Match</a:t>
            </a:r>
          </a:p>
        </p:txBody>
      </p:sp>
      <p:sp>
        <p:nvSpPr>
          <p:cNvPr id="64" name="矩形 63">
            <a:extLst>
              <a:ext uri="{FF2B5EF4-FFF2-40B4-BE49-F238E27FC236}">
                <a16:creationId xmlns:a16="http://schemas.microsoft.com/office/drawing/2014/main" id="{792C812F-6CCE-4D06-B578-8FFBD3758343}"/>
              </a:ext>
            </a:extLst>
          </p:cNvPr>
          <p:cNvSpPr>
            <a:spLocks noGrp="1"/>
          </p:cNvSpPr>
          <p:nvPr/>
        </p:nvSpPr>
        <p:spPr>
          <a:xfrm>
            <a:off x="3524250" y="11039475"/>
            <a:ext cx="12715875" cy="4000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2325" b="0">
                <a:solidFill>
                  <a:srgbClr val="60717A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60717A"/>
                </a:solidFill>
                <a:latin typeface="Arial"/>
                <a:ea typeface="Arial"/>
                <a:cs typeface="Arial"/>
              </a:rPr>
              <a:t>Matching candidate regions to ligand SMILES from the same PDB</a:t>
            </a:r>
          </a:p>
        </p:txBody>
      </p:sp>
      <p:sp>
        <p:nvSpPr>
          <p:cNvPr id="65" name="任意多边形: 形状 64">
            <a:extLst>
              <a:ext uri="{FF2B5EF4-FFF2-40B4-BE49-F238E27FC236}">
                <a16:creationId xmlns:a16="http://schemas.microsoft.com/office/drawing/2014/main" id="{6AAADC00-813C-4BB1-A205-C0744CA85CC8}"/>
              </a:ext>
            </a:extLst>
          </p:cNvPr>
          <p:cNvSpPr>
            <a:spLocks noGrp="1"/>
          </p:cNvSpPr>
          <p:nvPr/>
        </p:nvSpPr>
        <p:spPr>
          <a:xfrm>
            <a:off x="1238250" y="11572875"/>
            <a:ext cx="15049500" cy="953"/>
          </a:xfrm>
          <a:custGeom>
            <a:avLst/>
            <a:gdLst/>
            <a:ahLst/>
            <a:cxnLst/>
            <a:rect l="0" t="0" r="0" b="0"/>
            <a:pathLst>
              <a:path w="15049500" h="953">
                <a:moveTo>
                  <a:pt x="0" y="0"/>
                </a:moveTo>
                <a:lnTo>
                  <a:pt x="15049500" y="0"/>
                </a:lnTo>
              </a:path>
            </a:pathLst>
          </a:custGeom>
          <a:noFill/>
          <a:ln w="19050">
            <a:solidFill>
              <a:srgbClr val="E6EDEB"/>
            </a:solidFill>
          </a:ln>
        </p:spPr>
      </p:sp>
      <p:sp>
        <p:nvSpPr>
          <p:cNvPr id="66" name="矩形 65">
            <a:extLst>
              <a:ext uri="{FF2B5EF4-FFF2-40B4-BE49-F238E27FC236}">
                <a16:creationId xmlns:a16="http://schemas.microsoft.com/office/drawing/2014/main" id="{BB069835-190D-4FDE-AFC9-5408C670FA77}"/>
              </a:ext>
            </a:extLst>
          </p:cNvPr>
          <p:cNvSpPr>
            <a:spLocks noGrp="1"/>
          </p:cNvSpPr>
          <p:nvPr/>
        </p:nvSpPr>
        <p:spPr>
          <a:xfrm>
            <a:off x="942975" y="11744325"/>
            <a:ext cx="285750" cy="381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2475" b="1">
                <a:solidFill>
                  <a:srgbClr val="203544"/>
                </a:solidFill>
                <a:latin typeface="Arial"/>
                <a:ea typeface="Arial"/>
                <a:cs typeface="Arial"/>
              </a:defRPr>
            </a:pPr>
            <a:r>
              <a:rPr sz="2475" b="1">
                <a:solidFill>
                  <a:srgbClr val="203544"/>
                </a:solidFill>
                <a:latin typeface="Arial"/>
                <a:ea typeface="Arial"/>
                <a:cs typeface="Arial"/>
              </a:rPr>
              <a:t>g</a:t>
            </a:r>
          </a:p>
        </p:txBody>
      </p:sp>
      <p:sp>
        <p:nvSpPr>
          <p:cNvPr id="67" name="Identity 1">
            <a:extLst>
              <a:ext uri="{FF2B5EF4-FFF2-40B4-BE49-F238E27FC236}">
                <a16:creationId xmlns:a16="http://schemas.microsoft.com/office/drawing/2014/main" id="{55D63C9D-6353-4553-9530-CE9793611124}"/>
              </a:ext>
            </a:extLst>
          </p:cNvPr>
          <p:cNvSpPr>
            <a:spLocks noGrp="1"/>
          </p:cNvSpPr>
          <p:nvPr/>
        </p:nvSpPr>
        <p:spPr>
          <a:xfrm>
            <a:off x="1238250" y="11715750"/>
            <a:ext cx="3562350" cy="2857500"/>
          </a:xfrm>
          <a:prstGeom prst="rect">
            <a:avLst/>
          </a:prstGeom>
          <a:solidFill>
            <a:srgbClr val="FFFFFF"/>
          </a:solidFill>
          <a:ln w="9525">
            <a:solidFill>
              <a:srgbClr val="E6EDEB"/>
            </a:solidFill>
          </a:ln>
        </p:spPr>
      </p:sp>
      <p:sp>
        <p:nvSpPr>
          <p:cNvPr id="68" name="矩形 67">
            <a:extLst>
              <a:ext uri="{FF2B5EF4-FFF2-40B4-BE49-F238E27FC236}">
                <a16:creationId xmlns:a16="http://schemas.microsoft.com/office/drawing/2014/main" id="{AA89806F-6BE3-480F-A3CE-E7A19F171C23}"/>
              </a:ext>
            </a:extLst>
          </p:cNvPr>
          <p:cNvSpPr>
            <a:spLocks noGrp="1"/>
          </p:cNvSpPr>
          <p:nvPr/>
        </p:nvSpPr>
        <p:spPr>
          <a:xfrm>
            <a:off x="1409700" y="11830050"/>
            <a:ext cx="3219450" cy="381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2400" b="0">
                <a:solidFill>
                  <a:srgbClr val="203544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203544"/>
                </a:solidFill>
                <a:latin typeface="Arial"/>
                <a:ea typeface="Arial"/>
                <a:cs typeface="Arial"/>
              </a:rPr>
              <a:t>1  Identity1</a:t>
            </a:r>
          </a:p>
        </p:txBody>
      </p:sp>
      <p:pic>
        <p:nvPicPr>
          <p:cNvPr id="172" name="图形 171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/>
        </p:blipFill>
        <p:spPr>
          <a:xfrm>
            <a:off x="1381125" y="12505243"/>
            <a:ext cx="3276600" cy="1545215"/>
          </a:xfrm>
          <a:prstGeom prst="rect">
            <a:avLst/>
          </a:prstGeom>
        </p:spPr>
      </p:pic>
      <p:sp>
        <p:nvSpPr>
          <p:cNvPr id="70" name="Identity 2">
            <a:extLst>
              <a:ext uri="{FF2B5EF4-FFF2-40B4-BE49-F238E27FC236}">
                <a16:creationId xmlns:a16="http://schemas.microsoft.com/office/drawing/2014/main" id="{09A3F9CA-1731-4A12-BAA1-3FDF8806E868}"/>
              </a:ext>
            </a:extLst>
          </p:cNvPr>
          <p:cNvSpPr>
            <a:spLocks noGrp="1"/>
          </p:cNvSpPr>
          <p:nvPr/>
        </p:nvSpPr>
        <p:spPr>
          <a:xfrm>
            <a:off x="5067300" y="11715750"/>
            <a:ext cx="3562350" cy="2857500"/>
          </a:xfrm>
          <a:prstGeom prst="rect">
            <a:avLst/>
          </a:prstGeom>
          <a:solidFill>
            <a:srgbClr val="FFFFFF"/>
          </a:solidFill>
          <a:ln w="28575">
            <a:solidFill>
              <a:srgbClr val="3169B3"/>
            </a:solidFill>
          </a:ln>
        </p:spPr>
      </p:sp>
      <p:sp>
        <p:nvSpPr>
          <p:cNvPr id="71" name="矩形 70">
            <a:extLst>
              <a:ext uri="{FF2B5EF4-FFF2-40B4-BE49-F238E27FC236}">
                <a16:creationId xmlns:a16="http://schemas.microsoft.com/office/drawing/2014/main" id="{162DE5F8-5D47-46C1-875B-59533B8EA9FF}"/>
              </a:ext>
            </a:extLst>
          </p:cNvPr>
          <p:cNvSpPr>
            <a:spLocks noGrp="1"/>
          </p:cNvSpPr>
          <p:nvPr/>
        </p:nvSpPr>
        <p:spPr>
          <a:xfrm>
            <a:off x="5238750" y="11830050"/>
            <a:ext cx="3219450" cy="381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2400" b="1">
                <a:solidFill>
                  <a:srgbClr val="3169B3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3169B3"/>
                </a:solidFill>
                <a:latin typeface="Arial"/>
                <a:ea typeface="Arial"/>
                <a:cs typeface="Arial"/>
              </a:rPr>
              <a:t>2  BCT</a:t>
            </a:r>
          </a:p>
        </p:txBody>
      </p:sp>
      <p:pic>
        <p:nvPicPr>
          <p:cNvPr id="175" name="图形 174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/>
        </p:blipFill>
        <p:spPr>
          <a:xfrm>
            <a:off x="5537911" y="12230100"/>
            <a:ext cx="2621127" cy="2095500"/>
          </a:xfrm>
          <a:prstGeom prst="rect">
            <a:avLst/>
          </a:prstGeom>
        </p:spPr>
      </p:pic>
      <p:sp>
        <p:nvSpPr>
          <p:cNvPr id="73" name="矩形 72">
            <a:extLst>
              <a:ext uri="{FF2B5EF4-FFF2-40B4-BE49-F238E27FC236}">
                <a16:creationId xmlns:a16="http://schemas.microsoft.com/office/drawing/2014/main" id="{0990235E-DE0C-4E6F-ABF5-645E99715993}"/>
              </a:ext>
            </a:extLst>
          </p:cNvPr>
          <p:cNvSpPr>
            <a:spLocks noGrp="1"/>
          </p:cNvSpPr>
          <p:nvPr/>
        </p:nvSpPr>
        <p:spPr>
          <a:xfrm>
            <a:off x="5238750" y="14249400"/>
            <a:ext cx="3219450" cy="285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2100" b="1">
                <a:solidFill>
                  <a:srgbClr val="3169B3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3169B3"/>
                </a:solidFill>
                <a:latin typeface="Arial"/>
                <a:ea typeface="Arial"/>
                <a:cs typeface="Arial"/>
              </a:rPr>
              <a:t>Matched identity</a:t>
            </a:r>
          </a:p>
        </p:txBody>
      </p:sp>
      <p:sp>
        <p:nvSpPr>
          <p:cNvPr id="74" name="Identity 3">
            <a:extLst>
              <a:ext uri="{FF2B5EF4-FFF2-40B4-BE49-F238E27FC236}">
                <a16:creationId xmlns:a16="http://schemas.microsoft.com/office/drawing/2014/main" id="{6B44253F-7260-4A03-8181-C37428823BE0}"/>
              </a:ext>
            </a:extLst>
          </p:cNvPr>
          <p:cNvSpPr>
            <a:spLocks noGrp="1"/>
          </p:cNvSpPr>
          <p:nvPr/>
        </p:nvSpPr>
        <p:spPr>
          <a:xfrm>
            <a:off x="8896350" y="11715750"/>
            <a:ext cx="3562350" cy="2857500"/>
          </a:xfrm>
          <a:prstGeom prst="rect">
            <a:avLst/>
          </a:prstGeom>
          <a:solidFill>
            <a:srgbClr val="FFFFFF"/>
          </a:solidFill>
          <a:ln w="9525">
            <a:solidFill>
              <a:srgbClr val="E6EDEB"/>
            </a:solidFill>
          </a:ln>
        </p:spPr>
      </p:sp>
      <p:sp>
        <p:nvSpPr>
          <p:cNvPr id="75" name="矩形 74">
            <a:extLst>
              <a:ext uri="{FF2B5EF4-FFF2-40B4-BE49-F238E27FC236}">
                <a16:creationId xmlns:a16="http://schemas.microsoft.com/office/drawing/2014/main" id="{5C9172D9-84C4-4889-BCE8-F8B123580321}"/>
              </a:ext>
            </a:extLst>
          </p:cNvPr>
          <p:cNvSpPr>
            <a:spLocks noGrp="1"/>
          </p:cNvSpPr>
          <p:nvPr/>
        </p:nvSpPr>
        <p:spPr>
          <a:xfrm>
            <a:off x="9067800" y="11830050"/>
            <a:ext cx="3219450" cy="381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2400" b="0">
                <a:solidFill>
                  <a:srgbClr val="203544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203544"/>
                </a:solidFill>
                <a:latin typeface="Arial"/>
                <a:ea typeface="Arial"/>
                <a:cs typeface="Arial"/>
              </a:rPr>
              <a:t>3  Identity3</a:t>
            </a:r>
          </a:p>
        </p:txBody>
      </p:sp>
      <p:pic>
        <p:nvPicPr>
          <p:cNvPr id="179" name="图形 178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/>
        </p:blipFill>
        <p:spPr>
          <a:xfrm>
            <a:off x="9039225" y="12356477"/>
            <a:ext cx="3276600" cy="1842747"/>
          </a:xfrm>
          <a:prstGeom prst="rect">
            <a:avLst/>
          </a:prstGeom>
        </p:spPr>
      </p:pic>
      <p:sp>
        <p:nvSpPr>
          <p:cNvPr id="77" name="Identity 4">
            <a:extLst>
              <a:ext uri="{FF2B5EF4-FFF2-40B4-BE49-F238E27FC236}">
                <a16:creationId xmlns:a16="http://schemas.microsoft.com/office/drawing/2014/main" id="{3148E277-67C6-49F7-95DD-4F05822F79DA}"/>
              </a:ext>
            </a:extLst>
          </p:cNvPr>
          <p:cNvSpPr>
            <a:spLocks noGrp="1"/>
          </p:cNvSpPr>
          <p:nvPr/>
        </p:nvSpPr>
        <p:spPr>
          <a:xfrm>
            <a:off x="12725400" y="11715750"/>
            <a:ext cx="3562350" cy="2857500"/>
          </a:xfrm>
          <a:prstGeom prst="rect">
            <a:avLst/>
          </a:prstGeom>
          <a:solidFill>
            <a:srgbClr val="FFFFFF"/>
          </a:solidFill>
          <a:ln w="9525">
            <a:solidFill>
              <a:srgbClr val="E6EDEB"/>
            </a:solidFill>
          </a:ln>
        </p:spPr>
      </p:sp>
      <p:sp>
        <p:nvSpPr>
          <p:cNvPr id="78" name="矩形 77">
            <a:extLst>
              <a:ext uri="{FF2B5EF4-FFF2-40B4-BE49-F238E27FC236}">
                <a16:creationId xmlns:a16="http://schemas.microsoft.com/office/drawing/2014/main" id="{B2648261-725C-4E2C-9449-A6BAAE851B94}"/>
              </a:ext>
            </a:extLst>
          </p:cNvPr>
          <p:cNvSpPr>
            <a:spLocks noGrp="1"/>
          </p:cNvSpPr>
          <p:nvPr/>
        </p:nvSpPr>
        <p:spPr>
          <a:xfrm>
            <a:off x="12896850" y="11830050"/>
            <a:ext cx="3219450" cy="381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2400" b="0">
                <a:solidFill>
                  <a:srgbClr val="203544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203544"/>
                </a:solidFill>
                <a:latin typeface="Arial"/>
                <a:ea typeface="Arial"/>
                <a:cs typeface="Arial"/>
              </a:rPr>
              <a:t>4  Identity4</a:t>
            </a:r>
          </a:p>
        </p:txBody>
      </p:sp>
      <p:pic>
        <p:nvPicPr>
          <p:cNvPr id="182" name="图形 181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/>
        </p:blipFill>
        <p:spPr>
          <a:xfrm>
            <a:off x="13799565" y="12896850"/>
            <a:ext cx="1414021" cy="762000"/>
          </a:xfrm>
          <a:prstGeom prst="rect">
            <a:avLst/>
          </a:prstGeom>
        </p:spPr>
      </p:pic>
      <p:sp>
        <p:nvSpPr>
          <p:cNvPr id="80" name="椭圆 79">
            <a:extLst>
              <a:ext uri="{FF2B5EF4-FFF2-40B4-BE49-F238E27FC236}">
                <a16:creationId xmlns:a16="http://schemas.microsoft.com/office/drawing/2014/main" id="{47C8CCE5-3E0F-4902-B7EE-5009211122FF}"/>
              </a:ext>
            </a:extLst>
          </p:cNvPr>
          <p:cNvSpPr>
            <a:spLocks noGrp="1"/>
          </p:cNvSpPr>
          <p:nvPr/>
        </p:nvSpPr>
        <p:spPr>
          <a:xfrm>
            <a:off x="361950" y="14763750"/>
            <a:ext cx="476250" cy="476250"/>
          </a:xfrm>
          <a:prstGeom prst="ellipse">
            <a:avLst/>
          </a:prstGeom>
          <a:solidFill>
            <a:srgbClr val="366755"/>
          </a:solidFill>
          <a:ln w="0">
            <a:noFill/>
          </a:ln>
        </p:spPr>
        <p:txBody>
          <a:bodyPr lIns="0" tIns="0" rIns="0" bIns="0" anchor="ctr"/>
          <a:lstStyle/>
          <a:p>
            <a:pPr algn="ctr">
              <a:defRPr sz="23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81" name="矩形 80">
            <a:extLst>
              <a:ext uri="{FF2B5EF4-FFF2-40B4-BE49-F238E27FC236}">
                <a16:creationId xmlns:a16="http://schemas.microsoft.com/office/drawing/2014/main" id="{66E604B8-32C4-4557-B3AD-E1E5A9E8F8FC}"/>
              </a:ext>
            </a:extLst>
          </p:cNvPr>
          <p:cNvSpPr>
            <a:spLocks noGrp="1"/>
          </p:cNvSpPr>
          <p:nvPr/>
        </p:nvSpPr>
        <p:spPr>
          <a:xfrm>
            <a:off x="1238250" y="14782800"/>
            <a:ext cx="2000250" cy="4572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2850" b="1">
                <a:solidFill>
                  <a:srgbClr val="366755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366755"/>
                </a:solidFill>
                <a:latin typeface="Arial"/>
                <a:ea typeface="Arial"/>
                <a:cs typeface="Arial"/>
              </a:rPr>
              <a:t>Build</a:t>
            </a:r>
          </a:p>
        </p:txBody>
      </p:sp>
      <p:sp>
        <p:nvSpPr>
          <p:cNvPr id="82" name="矩形 81">
            <a:extLst>
              <a:ext uri="{FF2B5EF4-FFF2-40B4-BE49-F238E27FC236}">
                <a16:creationId xmlns:a16="http://schemas.microsoft.com/office/drawing/2014/main" id="{026A1E7D-75C2-4387-A862-4A6B39FCED7D}"/>
              </a:ext>
            </a:extLst>
          </p:cNvPr>
          <p:cNvSpPr>
            <a:spLocks noGrp="1"/>
          </p:cNvSpPr>
          <p:nvPr/>
        </p:nvSpPr>
        <p:spPr>
          <a:xfrm>
            <a:off x="3524250" y="14811375"/>
            <a:ext cx="12715875" cy="4000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2325" b="0">
                <a:solidFill>
                  <a:srgbClr val="60717A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60717A"/>
                </a:solidFill>
                <a:latin typeface="Arial"/>
                <a:ea typeface="Arial"/>
                <a:cs typeface="Arial"/>
              </a:rPr>
              <a:t>Reconstructing ligand poses with PocketXMol-tuned</a:t>
            </a:r>
          </a:p>
        </p:txBody>
      </p:sp>
      <p:sp>
        <p:nvSpPr>
          <p:cNvPr id="83" name="任意多边形: 形状 82">
            <a:extLst>
              <a:ext uri="{FF2B5EF4-FFF2-40B4-BE49-F238E27FC236}">
                <a16:creationId xmlns:a16="http://schemas.microsoft.com/office/drawing/2014/main" id="{57148735-756C-4DC4-A3BC-2F8DFC7E2F74}"/>
              </a:ext>
            </a:extLst>
          </p:cNvPr>
          <p:cNvSpPr>
            <a:spLocks noGrp="1"/>
          </p:cNvSpPr>
          <p:nvPr/>
        </p:nvSpPr>
        <p:spPr>
          <a:xfrm>
            <a:off x="1238250" y="15344775"/>
            <a:ext cx="15049500" cy="953"/>
          </a:xfrm>
          <a:custGeom>
            <a:avLst/>
            <a:gdLst/>
            <a:ahLst/>
            <a:cxnLst/>
            <a:rect l="0" t="0" r="0" b="0"/>
            <a:pathLst>
              <a:path w="15049500" h="953">
                <a:moveTo>
                  <a:pt x="0" y="0"/>
                </a:moveTo>
                <a:lnTo>
                  <a:pt x="15049500" y="0"/>
                </a:lnTo>
              </a:path>
            </a:pathLst>
          </a:custGeom>
          <a:noFill/>
          <a:ln w="19050">
            <a:solidFill>
              <a:srgbClr val="E6EDEB"/>
            </a:solidFill>
          </a:ln>
        </p:spPr>
      </p:sp>
      <p:sp>
        <p:nvSpPr>
          <p:cNvPr id="84" name="矩形 83">
            <a:extLst>
              <a:ext uri="{FF2B5EF4-FFF2-40B4-BE49-F238E27FC236}">
                <a16:creationId xmlns:a16="http://schemas.microsoft.com/office/drawing/2014/main" id="{E4A19E4E-C482-41E1-8C62-D97B98CE858F}"/>
              </a:ext>
            </a:extLst>
          </p:cNvPr>
          <p:cNvSpPr>
            <a:spLocks noGrp="1"/>
          </p:cNvSpPr>
          <p:nvPr/>
        </p:nvSpPr>
        <p:spPr>
          <a:xfrm>
            <a:off x="1238250" y="15525750"/>
            <a:ext cx="352425" cy="3714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2475" b="1">
                <a:solidFill>
                  <a:srgbClr val="203544"/>
                </a:solidFill>
                <a:latin typeface="Arial"/>
                <a:ea typeface="Arial"/>
                <a:cs typeface="Arial"/>
              </a:defRPr>
            </a:pPr>
            <a:r>
              <a:rPr sz="2475" b="1">
                <a:solidFill>
                  <a:srgbClr val="203544"/>
                </a:solidFill>
                <a:latin typeface="Arial"/>
                <a:ea typeface="Arial"/>
                <a:cs typeface="Arial"/>
              </a:rPr>
              <a:t>h</a:t>
            </a:r>
          </a:p>
        </p:txBody>
      </p:sp>
      <p:sp>
        <p:nvSpPr>
          <p:cNvPr id="85" name="矩形 84">
            <a:extLst>
              <a:ext uri="{FF2B5EF4-FFF2-40B4-BE49-F238E27FC236}">
                <a16:creationId xmlns:a16="http://schemas.microsoft.com/office/drawing/2014/main" id="{003073D1-F848-47A2-89A6-F7D61ACE1246}"/>
              </a:ext>
            </a:extLst>
          </p:cNvPr>
          <p:cNvSpPr>
            <a:spLocks noGrp="1"/>
          </p:cNvSpPr>
          <p:nvPr/>
        </p:nvSpPr>
        <p:spPr>
          <a:xfrm>
            <a:off x="1657350" y="15535275"/>
            <a:ext cx="4152900" cy="3714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2325" b="0">
                <a:solidFill>
                  <a:srgbClr val="203544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203544"/>
                </a:solidFill>
                <a:latin typeface="Arial"/>
                <a:ea typeface="Arial"/>
                <a:cs typeface="Arial"/>
              </a:rPr>
              <a:t>Receptor surface</a:t>
            </a:r>
          </a:p>
        </p:txBody>
      </p:sp>
      <p:pic>
        <p:nvPicPr>
          <p:cNvPr id="189" name="dock_receptor" descr="9RD8 dock_receptor; native ChimeraX; source C:\Users\15919\Desktop\论文草稿\画图\formal\E2E_flow_20261003\9rd8\renders\dock_receptor.png; editable crop only"/>
          <p:cNvPicPr>
            <a:picLocks noChangeAspect="1"/>
          </p:cNvPicPr>
          <p:nvPr/>
        </p:nvPicPr>
        <p:blipFill>
          <a:blip r:embed="rId14"/>
          <a:srcRect/>
          <a:stretch>
            <a:fillRect/>
          </a:stretch>
        </p:blipFill>
        <p:spPr>
          <a:xfrm>
            <a:off x="1619250" y="15944850"/>
            <a:ext cx="3810000" cy="2857500"/>
          </a:xfrm>
          <a:prstGeom prst="rect">
            <a:avLst/>
          </a:prstGeom>
        </p:spPr>
      </p:pic>
      <p:sp>
        <p:nvSpPr>
          <p:cNvPr id="87" name="矩形 86">
            <a:extLst>
              <a:ext uri="{FF2B5EF4-FFF2-40B4-BE49-F238E27FC236}">
                <a16:creationId xmlns:a16="http://schemas.microsoft.com/office/drawing/2014/main" id="{18E8132C-A0FC-4D2D-A46D-4134B6699A96}"/>
              </a:ext>
            </a:extLst>
          </p:cNvPr>
          <p:cNvSpPr>
            <a:spLocks noGrp="1"/>
          </p:cNvSpPr>
          <p:nvPr/>
        </p:nvSpPr>
        <p:spPr>
          <a:xfrm>
            <a:off x="6477000" y="15525750"/>
            <a:ext cx="352425" cy="3714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2475" b="1">
                <a:solidFill>
                  <a:srgbClr val="203544"/>
                </a:solidFill>
                <a:latin typeface="Arial"/>
                <a:ea typeface="Arial"/>
                <a:cs typeface="Arial"/>
              </a:defRPr>
            </a:pPr>
            <a:r>
              <a:rPr sz="2475" b="1">
                <a:solidFill>
                  <a:srgbClr val="203544"/>
                </a:solidFill>
                <a:latin typeface="Arial"/>
                <a:ea typeface="Arial"/>
                <a:cs typeface="Arial"/>
              </a:rPr>
              <a:t>i</a:t>
            </a:r>
          </a:p>
        </p:txBody>
      </p:sp>
      <p:sp>
        <p:nvSpPr>
          <p:cNvPr id="88" name="矩形 87">
            <a:extLst>
              <a:ext uri="{FF2B5EF4-FFF2-40B4-BE49-F238E27FC236}">
                <a16:creationId xmlns:a16="http://schemas.microsoft.com/office/drawing/2014/main" id="{3B22D851-E8A0-4680-80C2-9AB50E1C1753}"/>
              </a:ext>
            </a:extLst>
          </p:cNvPr>
          <p:cNvSpPr>
            <a:spLocks noGrp="1"/>
          </p:cNvSpPr>
          <p:nvPr/>
        </p:nvSpPr>
        <p:spPr>
          <a:xfrm>
            <a:off x="6896100" y="15535275"/>
            <a:ext cx="4152900" cy="3714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2325" b="0">
                <a:solidFill>
                  <a:srgbClr val="203544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203544"/>
                </a:solidFill>
                <a:latin typeface="Arial"/>
                <a:ea typeface="Arial"/>
                <a:cs typeface="Arial"/>
              </a:rPr>
              <a:t>Experimental density</a:t>
            </a:r>
          </a:p>
        </p:txBody>
      </p:sp>
      <p:pic>
        <p:nvPicPr>
          <p:cNvPr id="192" name="dock_density" descr="9RD8 dock_density; native ChimeraX; source C:\Users\15919\Desktop\论文草稿\画图\formal\E2E_flow_20261003\9rd8\renders\dock_density.png; editable crop only"/>
          <p:cNvPicPr>
            <a:picLocks noChangeAspect="1"/>
          </p:cNvPicPr>
          <p:nvPr/>
        </p:nvPicPr>
        <p:blipFill>
          <a:blip r:embed="rId15"/>
          <a:srcRect/>
          <a:stretch>
            <a:fillRect/>
          </a:stretch>
        </p:blipFill>
        <p:spPr>
          <a:xfrm>
            <a:off x="6858000" y="15944850"/>
            <a:ext cx="3810000" cy="2857500"/>
          </a:xfrm>
          <a:prstGeom prst="rect">
            <a:avLst/>
          </a:prstGeom>
        </p:spPr>
      </p:pic>
      <p:sp>
        <p:nvSpPr>
          <p:cNvPr id="90" name="矩形 89">
            <a:extLst>
              <a:ext uri="{FF2B5EF4-FFF2-40B4-BE49-F238E27FC236}">
                <a16:creationId xmlns:a16="http://schemas.microsoft.com/office/drawing/2014/main" id="{08729BAF-E055-426C-A5EE-7B90FE3B51F0}"/>
              </a:ext>
            </a:extLst>
          </p:cNvPr>
          <p:cNvSpPr>
            <a:spLocks noGrp="1"/>
          </p:cNvSpPr>
          <p:nvPr/>
        </p:nvSpPr>
        <p:spPr>
          <a:xfrm>
            <a:off x="11715750" y="15525750"/>
            <a:ext cx="352425" cy="3714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2475" b="1">
                <a:solidFill>
                  <a:srgbClr val="203544"/>
                </a:solidFill>
                <a:latin typeface="Arial"/>
                <a:ea typeface="Arial"/>
                <a:cs typeface="Arial"/>
              </a:defRPr>
            </a:pPr>
            <a:r>
              <a:rPr sz="2475" b="1">
                <a:solidFill>
                  <a:srgbClr val="203544"/>
                </a:solidFill>
                <a:latin typeface="Arial"/>
                <a:ea typeface="Arial"/>
                <a:cs typeface="Arial"/>
              </a:rPr>
              <a:t>j</a:t>
            </a:r>
          </a:p>
        </p:txBody>
      </p:sp>
      <p:sp>
        <p:nvSpPr>
          <p:cNvPr id="91" name="矩形 90">
            <a:extLst>
              <a:ext uri="{FF2B5EF4-FFF2-40B4-BE49-F238E27FC236}">
                <a16:creationId xmlns:a16="http://schemas.microsoft.com/office/drawing/2014/main" id="{BA50ABC3-EB6D-4722-BDE1-429F007F8FEB}"/>
              </a:ext>
            </a:extLst>
          </p:cNvPr>
          <p:cNvSpPr>
            <a:spLocks noGrp="1"/>
          </p:cNvSpPr>
          <p:nvPr/>
        </p:nvSpPr>
        <p:spPr>
          <a:xfrm>
            <a:off x="12134850" y="15535275"/>
            <a:ext cx="4152900" cy="3714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2325" b="0">
                <a:solidFill>
                  <a:srgbClr val="203544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203544"/>
                </a:solidFill>
                <a:latin typeface="Arial"/>
                <a:ea typeface="Arial"/>
                <a:cs typeface="Arial"/>
              </a:rPr>
              <a:t>Deposited pose overlay</a:t>
            </a:r>
          </a:p>
        </p:txBody>
      </p:sp>
      <p:pic>
        <p:nvPicPr>
          <p:cNvPr id="195" name="dock_gt_overlay" descr="9RD8 dock_gt_overlay; native ChimeraX; source C:\Users\15919\Desktop\论文草稿\画图\formal\E2E_flow_20261003\9rd8\renders\dock_gt_overlay.png; editable crop only"/>
          <p:cNvPicPr>
            <a:picLocks noChangeAspect="1"/>
          </p:cNvPicPr>
          <p:nvPr/>
        </p:nvPicPr>
        <p:blipFill>
          <a:blip r:embed="rId16"/>
          <a:srcRect/>
          <a:stretch>
            <a:fillRect/>
          </a:stretch>
        </p:blipFill>
        <p:spPr>
          <a:xfrm>
            <a:off x="12096750" y="15944850"/>
            <a:ext cx="3810000" cy="2857500"/>
          </a:xfrm>
          <a:prstGeom prst="rect">
            <a:avLst/>
          </a:prstGeom>
        </p:spPr>
      </p:pic>
      <p:sp>
        <p:nvSpPr>
          <p:cNvPr id="93" name="矩形 92">
            <a:extLst>
              <a:ext uri="{FF2B5EF4-FFF2-40B4-BE49-F238E27FC236}">
                <a16:creationId xmlns:a16="http://schemas.microsoft.com/office/drawing/2014/main" id="{AA81822E-9DED-4CE7-9D8C-B75ABB4B9A4A}"/>
              </a:ext>
            </a:extLst>
          </p:cNvPr>
          <p:cNvSpPr>
            <a:spLocks noGrp="1"/>
          </p:cNvSpPr>
          <p:nvPr/>
        </p:nvSpPr>
        <p:spPr>
          <a:xfrm>
            <a:off x="1238250" y="18954750"/>
            <a:ext cx="15049500" cy="4476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2550" b="1">
                <a:solidFill>
                  <a:srgbClr val="3169B3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3169B3"/>
                </a:solidFill>
                <a:latin typeface="Arial"/>
                <a:ea typeface="Arial"/>
                <a:cs typeface="Arial"/>
              </a:rPr>
              <a:t>RMSD 0.96 Å</a:t>
            </a:r>
          </a:p>
        </p:txBody>
      </p:sp>
      <p:sp>
        <p:nvSpPr>
          <p:cNvPr id="94" name="任意多边形: 形状 93">
            <a:extLst>
              <a:ext uri="{FF2B5EF4-FFF2-40B4-BE49-F238E27FC236}">
                <a16:creationId xmlns:a16="http://schemas.microsoft.com/office/drawing/2014/main" id="{3529AE8C-B36E-475B-BE66-41BB43925C47}"/>
              </a:ext>
            </a:extLst>
          </p:cNvPr>
          <p:cNvSpPr>
            <a:spLocks noGrp="1"/>
          </p:cNvSpPr>
          <p:nvPr/>
        </p:nvSpPr>
        <p:spPr>
          <a:xfrm>
            <a:off x="1238250" y="19697700"/>
            <a:ext cx="304800" cy="953"/>
          </a:xfrm>
          <a:custGeom>
            <a:avLst/>
            <a:gdLst/>
            <a:ahLst/>
            <a:cxnLst/>
            <a:rect l="0" t="0" r="0" b="0"/>
            <a:pathLst>
              <a:path w="304800" h="953">
                <a:moveTo>
                  <a:pt x="0" y="0"/>
                </a:moveTo>
                <a:lnTo>
                  <a:pt x="304800" y="0"/>
                </a:lnTo>
              </a:path>
            </a:pathLst>
          </a:custGeom>
          <a:noFill/>
          <a:ln w="47625">
            <a:solidFill>
              <a:srgbClr val="81A58B"/>
            </a:solidFill>
          </a:ln>
        </p:spPr>
      </p:sp>
      <p:sp>
        <p:nvSpPr>
          <p:cNvPr id="95" name="矩形 94">
            <a:extLst>
              <a:ext uri="{FF2B5EF4-FFF2-40B4-BE49-F238E27FC236}">
                <a16:creationId xmlns:a16="http://schemas.microsoft.com/office/drawing/2014/main" id="{8069B561-2B4A-4017-9954-3A20CF9AA988}"/>
              </a:ext>
            </a:extLst>
          </p:cNvPr>
          <p:cNvSpPr>
            <a:spLocks noGrp="1"/>
          </p:cNvSpPr>
          <p:nvPr/>
        </p:nvSpPr>
        <p:spPr>
          <a:xfrm>
            <a:off x="1647825" y="19545300"/>
            <a:ext cx="2571750" cy="3238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2025" b="0">
                <a:solidFill>
                  <a:srgbClr val="60717A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60717A"/>
                </a:solidFill>
                <a:latin typeface="Arial"/>
                <a:ea typeface="Arial"/>
                <a:cs typeface="Arial"/>
              </a:rPr>
              <a:t>Receptor</a:t>
            </a:r>
          </a:p>
        </p:txBody>
      </p:sp>
      <p:sp>
        <p:nvSpPr>
          <p:cNvPr id="96" name="任意多边形: 形状 95">
            <a:extLst>
              <a:ext uri="{FF2B5EF4-FFF2-40B4-BE49-F238E27FC236}">
                <a16:creationId xmlns:a16="http://schemas.microsoft.com/office/drawing/2014/main" id="{51E1B643-5B67-4359-A4CF-B84EA6C18EE0}"/>
              </a:ext>
            </a:extLst>
          </p:cNvPr>
          <p:cNvSpPr>
            <a:spLocks noGrp="1"/>
          </p:cNvSpPr>
          <p:nvPr/>
        </p:nvSpPr>
        <p:spPr>
          <a:xfrm>
            <a:off x="4286250" y="19697700"/>
            <a:ext cx="304800" cy="953"/>
          </a:xfrm>
          <a:custGeom>
            <a:avLst/>
            <a:gdLst/>
            <a:ahLst/>
            <a:cxnLst/>
            <a:rect l="0" t="0" r="0" b="0"/>
            <a:pathLst>
              <a:path w="304800" h="953">
                <a:moveTo>
                  <a:pt x="0" y="0"/>
                </a:moveTo>
                <a:lnTo>
                  <a:pt x="304800" y="0"/>
                </a:lnTo>
              </a:path>
            </a:pathLst>
          </a:custGeom>
          <a:noFill/>
          <a:ln w="47625">
            <a:solidFill>
              <a:srgbClr val="516773"/>
            </a:solidFill>
          </a:ln>
        </p:spPr>
      </p:sp>
      <p:sp>
        <p:nvSpPr>
          <p:cNvPr id="97" name="矩形 96">
            <a:extLst>
              <a:ext uri="{FF2B5EF4-FFF2-40B4-BE49-F238E27FC236}">
                <a16:creationId xmlns:a16="http://schemas.microsoft.com/office/drawing/2014/main" id="{B0F5E6D2-E09F-4C91-B38A-D6CDA4E02704}"/>
              </a:ext>
            </a:extLst>
          </p:cNvPr>
          <p:cNvSpPr>
            <a:spLocks noGrp="1"/>
          </p:cNvSpPr>
          <p:nvPr/>
        </p:nvSpPr>
        <p:spPr>
          <a:xfrm>
            <a:off x="4695825" y="19545300"/>
            <a:ext cx="2571750" cy="3238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2025" b="0">
                <a:solidFill>
                  <a:srgbClr val="60717A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60717A"/>
                </a:solidFill>
                <a:latin typeface="Arial"/>
                <a:ea typeface="Arial"/>
                <a:cs typeface="Arial"/>
              </a:rPr>
              <a:t>Density</a:t>
            </a:r>
          </a:p>
        </p:txBody>
      </p:sp>
      <p:sp>
        <p:nvSpPr>
          <p:cNvPr id="98" name="任意多边形: 形状 97">
            <a:extLst>
              <a:ext uri="{FF2B5EF4-FFF2-40B4-BE49-F238E27FC236}">
                <a16:creationId xmlns:a16="http://schemas.microsoft.com/office/drawing/2014/main" id="{5B5B048F-DA4E-439D-9603-17CF01CE44B8}"/>
              </a:ext>
            </a:extLst>
          </p:cNvPr>
          <p:cNvSpPr>
            <a:spLocks noGrp="1"/>
          </p:cNvSpPr>
          <p:nvPr/>
        </p:nvSpPr>
        <p:spPr>
          <a:xfrm>
            <a:off x="7334250" y="19697700"/>
            <a:ext cx="304800" cy="953"/>
          </a:xfrm>
          <a:custGeom>
            <a:avLst/>
            <a:gdLst/>
            <a:ahLst/>
            <a:cxnLst/>
            <a:rect l="0" t="0" r="0" b="0"/>
            <a:pathLst>
              <a:path w="304800" h="953">
                <a:moveTo>
                  <a:pt x="0" y="0"/>
                </a:moveTo>
                <a:lnTo>
                  <a:pt x="304800" y="0"/>
                </a:lnTo>
              </a:path>
            </a:pathLst>
          </a:custGeom>
          <a:noFill/>
          <a:ln w="47625">
            <a:solidFill>
              <a:srgbClr val="E9983C"/>
            </a:solidFill>
          </a:ln>
        </p:spPr>
      </p:sp>
      <p:sp>
        <p:nvSpPr>
          <p:cNvPr id="99" name="矩形 98">
            <a:extLst>
              <a:ext uri="{FF2B5EF4-FFF2-40B4-BE49-F238E27FC236}">
                <a16:creationId xmlns:a16="http://schemas.microsoft.com/office/drawing/2014/main" id="{0CF27A83-4F78-4E5F-B33F-672472E3DA6E}"/>
              </a:ext>
            </a:extLst>
          </p:cNvPr>
          <p:cNvSpPr>
            <a:spLocks noGrp="1"/>
          </p:cNvSpPr>
          <p:nvPr/>
        </p:nvSpPr>
        <p:spPr>
          <a:xfrm>
            <a:off x="7743825" y="19545300"/>
            <a:ext cx="2571750" cy="3238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2025" b="0">
                <a:solidFill>
                  <a:srgbClr val="60717A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60717A"/>
                </a:solidFill>
                <a:latin typeface="Arial"/>
                <a:ea typeface="Arial"/>
                <a:cs typeface="Arial"/>
              </a:rPr>
              <a:t>Target blob</a:t>
            </a:r>
          </a:p>
        </p:txBody>
      </p:sp>
      <p:sp>
        <p:nvSpPr>
          <p:cNvPr id="100" name="任意多边形: 形状 99">
            <a:extLst>
              <a:ext uri="{FF2B5EF4-FFF2-40B4-BE49-F238E27FC236}">
                <a16:creationId xmlns:a16="http://schemas.microsoft.com/office/drawing/2014/main" id="{254E800E-39DE-448A-9B57-328953BAA528}"/>
              </a:ext>
            </a:extLst>
          </p:cNvPr>
          <p:cNvSpPr>
            <a:spLocks noGrp="1"/>
          </p:cNvSpPr>
          <p:nvPr/>
        </p:nvSpPr>
        <p:spPr>
          <a:xfrm>
            <a:off x="10382250" y="19697700"/>
            <a:ext cx="304800" cy="953"/>
          </a:xfrm>
          <a:custGeom>
            <a:avLst/>
            <a:gdLst/>
            <a:ahLst/>
            <a:cxnLst/>
            <a:rect l="0" t="0" r="0" b="0"/>
            <a:pathLst>
              <a:path w="304800" h="953">
                <a:moveTo>
                  <a:pt x="0" y="0"/>
                </a:moveTo>
                <a:lnTo>
                  <a:pt x="304800" y="0"/>
                </a:lnTo>
              </a:path>
            </a:pathLst>
          </a:custGeom>
          <a:noFill/>
          <a:ln w="47625">
            <a:solidFill>
              <a:srgbClr val="3169B3"/>
            </a:solidFill>
          </a:ln>
        </p:spPr>
      </p:sp>
      <p:sp>
        <p:nvSpPr>
          <p:cNvPr id="101" name="矩形 100">
            <a:extLst>
              <a:ext uri="{FF2B5EF4-FFF2-40B4-BE49-F238E27FC236}">
                <a16:creationId xmlns:a16="http://schemas.microsoft.com/office/drawing/2014/main" id="{A76DD620-59C7-4D0F-9D4D-186D8796D749}"/>
              </a:ext>
            </a:extLst>
          </p:cNvPr>
          <p:cNvSpPr>
            <a:spLocks noGrp="1"/>
          </p:cNvSpPr>
          <p:nvPr/>
        </p:nvSpPr>
        <p:spPr>
          <a:xfrm>
            <a:off x="10791825" y="19545300"/>
            <a:ext cx="2571750" cy="3238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2025" b="0">
                <a:solidFill>
                  <a:srgbClr val="60717A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60717A"/>
                </a:solidFill>
                <a:latin typeface="Arial"/>
                <a:ea typeface="Arial"/>
                <a:cs typeface="Arial"/>
              </a:rPr>
              <a:t>Predicted pose</a:t>
            </a:r>
          </a:p>
        </p:txBody>
      </p:sp>
      <p:sp>
        <p:nvSpPr>
          <p:cNvPr id="102" name="任意多边形: 形状 101">
            <a:extLst>
              <a:ext uri="{FF2B5EF4-FFF2-40B4-BE49-F238E27FC236}">
                <a16:creationId xmlns:a16="http://schemas.microsoft.com/office/drawing/2014/main" id="{76082A2D-B52B-43FC-83A1-9D8E290A1EB8}"/>
              </a:ext>
            </a:extLst>
          </p:cNvPr>
          <p:cNvSpPr>
            <a:spLocks noGrp="1"/>
          </p:cNvSpPr>
          <p:nvPr/>
        </p:nvSpPr>
        <p:spPr>
          <a:xfrm>
            <a:off x="13430250" y="19697700"/>
            <a:ext cx="304800" cy="953"/>
          </a:xfrm>
          <a:custGeom>
            <a:avLst/>
            <a:gdLst/>
            <a:ahLst/>
            <a:cxnLst/>
            <a:rect l="0" t="0" r="0" b="0"/>
            <a:pathLst>
              <a:path w="304800" h="953">
                <a:moveTo>
                  <a:pt x="0" y="0"/>
                </a:moveTo>
                <a:lnTo>
                  <a:pt x="304800" y="0"/>
                </a:lnTo>
              </a:path>
            </a:pathLst>
          </a:custGeom>
          <a:noFill/>
          <a:ln w="47625">
            <a:solidFill>
              <a:srgbClr val="26A6A1"/>
            </a:solidFill>
          </a:ln>
        </p:spPr>
      </p:sp>
      <p:sp>
        <p:nvSpPr>
          <p:cNvPr id="103" name="矩形 102">
            <a:extLst>
              <a:ext uri="{FF2B5EF4-FFF2-40B4-BE49-F238E27FC236}">
                <a16:creationId xmlns:a16="http://schemas.microsoft.com/office/drawing/2014/main" id="{F2592ADC-779D-4F1B-BDE5-52D50846A433}"/>
              </a:ext>
            </a:extLst>
          </p:cNvPr>
          <p:cNvSpPr>
            <a:spLocks noGrp="1"/>
          </p:cNvSpPr>
          <p:nvPr/>
        </p:nvSpPr>
        <p:spPr>
          <a:xfrm>
            <a:off x="13839825" y="19545300"/>
            <a:ext cx="2571750" cy="3238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2025" b="0">
                <a:solidFill>
                  <a:srgbClr val="60717A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60717A"/>
                </a:solidFill>
                <a:latin typeface="Arial"/>
                <a:ea typeface="Arial"/>
                <a:cs typeface="Arial"/>
              </a:rPr>
              <a:t>Deposited pose</a:t>
            </a:r>
          </a:p>
        </p:txBody>
      </p:sp>
    </p:spTree>
    <p:extLst>
      <p:ext uri="{BB962C8B-B14F-4D97-AF65-F5344CB8AC3E}">
        <p14:creationId xmlns:p14="http://schemas.microsoft.com/office/powerpoint/2010/main" val="1827167879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3"/>
    </p:ext>
  </p:extLs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矩形 104">
            <a:extLst>
              <a:ext uri="{FF2B5EF4-FFF2-40B4-BE49-F238E27FC236}">
                <a16:creationId xmlns:a16="http://schemas.microsoft.com/office/drawing/2014/main" id="{2CB0F356-CCB3-4937-A0A0-81DE14780F0A}"/>
              </a:ext>
            </a:extLst>
          </p:cNvPr>
          <p:cNvSpPr>
            <a:spLocks noGrp="1"/>
          </p:cNvSpPr>
          <p:nvPr/>
        </p:nvSpPr>
        <p:spPr>
          <a:xfrm>
            <a:off x="1238250" y="209550"/>
            <a:ext cx="14668500" cy="5524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3450" b="1">
                <a:solidFill>
                  <a:srgbClr val="203544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203544"/>
                </a:solidFill>
                <a:latin typeface="Arial"/>
                <a:ea typeface="Arial"/>
                <a:cs typeface="Arial"/>
              </a:rPr>
              <a:t>9WUP  FMN (B:1103)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795399B1-0001-4CEE-8AEA-5DD430B7BD4D}"/>
              </a:ext>
            </a:extLst>
          </p:cNvPr>
          <p:cNvSpPr>
            <a:spLocks noGrp="1"/>
          </p:cNvSpPr>
          <p:nvPr/>
        </p:nvSpPr>
        <p:spPr>
          <a:xfrm>
            <a:off x="1238250" y="809625"/>
            <a:ext cx="15049500" cy="4191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2400" b="0">
                <a:solidFill>
                  <a:srgbClr val="60717A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60717A"/>
                </a:solidFill>
                <a:latin typeface="Arial"/>
                <a:ea typeface="Arial"/>
                <a:cs typeface="Arial"/>
              </a:rPr>
              <a:t>Earlier foreground outside Stage3 scope, successful reconstruction at rank 3</a:t>
            </a:r>
          </a:p>
        </p:txBody>
      </p:sp>
      <p:sp>
        <p:nvSpPr>
          <p:cNvPr id="3" name="任意多边形: 形状 2">
            <a:extLst>
              <a:ext uri="{FF2B5EF4-FFF2-40B4-BE49-F238E27FC236}">
                <a16:creationId xmlns:a16="http://schemas.microsoft.com/office/drawing/2014/main" id="{1F920579-82C3-4BA5-B80E-1755849FC6A4}"/>
              </a:ext>
            </a:extLst>
          </p:cNvPr>
          <p:cNvSpPr>
            <a:spLocks noGrp="1"/>
          </p:cNvSpPr>
          <p:nvPr/>
        </p:nvSpPr>
        <p:spPr>
          <a:xfrm>
            <a:off x="600075" y="1885950"/>
            <a:ext cx="953" cy="3524250"/>
          </a:xfrm>
          <a:custGeom>
            <a:avLst/>
            <a:gdLst/>
            <a:ahLst/>
            <a:cxnLst/>
            <a:rect l="0" t="0" r="0" b="0"/>
            <a:pathLst>
              <a:path w="953" h="3524250">
                <a:moveTo>
                  <a:pt x="0" y="0"/>
                </a:moveTo>
                <a:lnTo>
                  <a:pt x="0" y="3524250"/>
                </a:lnTo>
              </a:path>
            </a:pathLst>
          </a:custGeom>
          <a:noFill/>
          <a:ln w="28575">
            <a:solidFill>
              <a:srgbClr val="BDCDC6"/>
            </a:solidFill>
          </a:ln>
        </p:spPr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67C15B3-DBF4-4BA7-BCE1-FFE4338D003F}"/>
              </a:ext>
            </a:extLst>
          </p:cNvPr>
          <p:cNvSpPr>
            <a:spLocks noGrp="1"/>
          </p:cNvSpPr>
          <p:nvPr/>
        </p:nvSpPr>
        <p:spPr>
          <a:xfrm>
            <a:off x="533400" y="5314950"/>
            <a:ext cx="66675" cy="95250"/>
          </a:xfrm>
          <a:custGeom>
            <a:avLst/>
            <a:gdLst/>
            <a:ahLst/>
            <a:cxnLst/>
            <a:rect l="0" t="0" r="0" b="0"/>
            <a:pathLst>
              <a:path w="66675" h="95250">
                <a:moveTo>
                  <a:pt x="0" y="0"/>
                </a:moveTo>
                <a:lnTo>
                  <a:pt x="66675" y="95250"/>
                </a:lnTo>
              </a:path>
            </a:pathLst>
          </a:custGeom>
          <a:noFill/>
          <a:ln w="28575">
            <a:solidFill>
              <a:srgbClr val="BDCDC6"/>
            </a:solidFill>
          </a:ln>
        </p:spPr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28D8491C-CC1D-47BB-B444-D5E8DBA60F16}"/>
              </a:ext>
            </a:extLst>
          </p:cNvPr>
          <p:cNvSpPr>
            <a:spLocks noGrp="1"/>
          </p:cNvSpPr>
          <p:nvPr/>
        </p:nvSpPr>
        <p:spPr>
          <a:xfrm>
            <a:off x="600075" y="5314950"/>
            <a:ext cx="66675" cy="95250"/>
          </a:xfrm>
          <a:custGeom>
            <a:avLst/>
            <a:gdLst/>
            <a:ahLst/>
            <a:cxnLst/>
            <a:rect l="0" t="0" r="0" b="0"/>
            <a:pathLst>
              <a:path w="66675" h="95250">
                <a:moveTo>
                  <a:pt x="66675" y="0"/>
                </a:moveTo>
                <a:lnTo>
                  <a:pt x="0" y="95250"/>
                </a:lnTo>
              </a:path>
            </a:pathLst>
          </a:custGeom>
          <a:noFill/>
          <a:ln w="28575">
            <a:solidFill>
              <a:srgbClr val="BDCDC6"/>
            </a:solidFill>
          </a:ln>
        </p:spPr>
      </p:sp>
      <p:sp>
        <p:nvSpPr>
          <p:cNvPr id="6" name="任意多边形: 形状 5">
            <a:extLst>
              <a:ext uri="{FF2B5EF4-FFF2-40B4-BE49-F238E27FC236}">
                <a16:creationId xmlns:a16="http://schemas.microsoft.com/office/drawing/2014/main" id="{12E1248A-B572-43A0-AEE2-D42208D7439D}"/>
              </a:ext>
            </a:extLst>
          </p:cNvPr>
          <p:cNvSpPr>
            <a:spLocks noGrp="1"/>
          </p:cNvSpPr>
          <p:nvPr/>
        </p:nvSpPr>
        <p:spPr>
          <a:xfrm>
            <a:off x="600075" y="6096000"/>
            <a:ext cx="953" cy="4781550"/>
          </a:xfrm>
          <a:custGeom>
            <a:avLst/>
            <a:gdLst/>
            <a:ahLst/>
            <a:cxnLst/>
            <a:rect l="0" t="0" r="0" b="0"/>
            <a:pathLst>
              <a:path w="953" h="4781550">
                <a:moveTo>
                  <a:pt x="0" y="0"/>
                </a:moveTo>
                <a:lnTo>
                  <a:pt x="0" y="4781550"/>
                </a:lnTo>
              </a:path>
            </a:pathLst>
          </a:custGeom>
          <a:noFill/>
          <a:ln w="28575">
            <a:solidFill>
              <a:srgbClr val="BDCDC6"/>
            </a:solidFill>
          </a:ln>
        </p:spPr>
      </p:sp>
      <p:sp>
        <p:nvSpPr>
          <p:cNvPr id="7" name="任意多边形: 形状 6">
            <a:extLst>
              <a:ext uri="{FF2B5EF4-FFF2-40B4-BE49-F238E27FC236}">
                <a16:creationId xmlns:a16="http://schemas.microsoft.com/office/drawing/2014/main" id="{55410096-465E-473D-A748-FE8005A0CC39}"/>
              </a:ext>
            </a:extLst>
          </p:cNvPr>
          <p:cNvSpPr>
            <a:spLocks noGrp="1"/>
          </p:cNvSpPr>
          <p:nvPr/>
        </p:nvSpPr>
        <p:spPr>
          <a:xfrm>
            <a:off x="533400" y="10782300"/>
            <a:ext cx="66675" cy="95250"/>
          </a:xfrm>
          <a:custGeom>
            <a:avLst/>
            <a:gdLst/>
            <a:ahLst/>
            <a:cxnLst/>
            <a:rect l="0" t="0" r="0" b="0"/>
            <a:pathLst>
              <a:path w="66675" h="95250">
                <a:moveTo>
                  <a:pt x="0" y="0"/>
                </a:moveTo>
                <a:lnTo>
                  <a:pt x="66675" y="95250"/>
                </a:lnTo>
              </a:path>
            </a:pathLst>
          </a:custGeom>
          <a:noFill/>
          <a:ln w="28575">
            <a:solidFill>
              <a:srgbClr val="BDCDC6"/>
            </a:solidFill>
          </a:ln>
        </p:spPr>
      </p:sp>
      <p:sp>
        <p:nvSpPr>
          <p:cNvPr id="8" name="任意多边形: 形状 7">
            <a:extLst>
              <a:ext uri="{FF2B5EF4-FFF2-40B4-BE49-F238E27FC236}">
                <a16:creationId xmlns:a16="http://schemas.microsoft.com/office/drawing/2014/main" id="{09D97444-BE2A-4E3C-A037-15A02786A05B}"/>
              </a:ext>
            </a:extLst>
          </p:cNvPr>
          <p:cNvSpPr>
            <a:spLocks noGrp="1"/>
          </p:cNvSpPr>
          <p:nvPr/>
        </p:nvSpPr>
        <p:spPr>
          <a:xfrm>
            <a:off x="600075" y="10782300"/>
            <a:ext cx="66675" cy="95250"/>
          </a:xfrm>
          <a:custGeom>
            <a:avLst/>
            <a:gdLst/>
            <a:ahLst/>
            <a:cxnLst/>
            <a:rect l="0" t="0" r="0" b="0"/>
            <a:pathLst>
              <a:path w="66675" h="95250">
                <a:moveTo>
                  <a:pt x="66675" y="0"/>
                </a:moveTo>
                <a:lnTo>
                  <a:pt x="0" y="95250"/>
                </a:lnTo>
              </a:path>
            </a:pathLst>
          </a:custGeom>
          <a:noFill/>
          <a:ln w="28575">
            <a:solidFill>
              <a:srgbClr val="BDCDC6"/>
            </a:solidFill>
          </a:ln>
        </p:spPr>
      </p:sp>
      <p:sp>
        <p:nvSpPr>
          <p:cNvPr id="9" name="任意多边形: 形状 8">
            <a:extLst>
              <a:ext uri="{FF2B5EF4-FFF2-40B4-BE49-F238E27FC236}">
                <a16:creationId xmlns:a16="http://schemas.microsoft.com/office/drawing/2014/main" id="{25DAB9AF-5A67-400F-8C78-81D9E48B7139}"/>
              </a:ext>
            </a:extLst>
          </p:cNvPr>
          <p:cNvSpPr>
            <a:spLocks noGrp="1"/>
          </p:cNvSpPr>
          <p:nvPr/>
        </p:nvSpPr>
        <p:spPr>
          <a:xfrm>
            <a:off x="600075" y="11563350"/>
            <a:ext cx="953" cy="3086100"/>
          </a:xfrm>
          <a:custGeom>
            <a:avLst/>
            <a:gdLst/>
            <a:ahLst/>
            <a:cxnLst/>
            <a:rect l="0" t="0" r="0" b="0"/>
            <a:pathLst>
              <a:path w="953" h="3086100">
                <a:moveTo>
                  <a:pt x="0" y="0"/>
                </a:moveTo>
                <a:lnTo>
                  <a:pt x="0" y="3086100"/>
                </a:lnTo>
              </a:path>
            </a:pathLst>
          </a:custGeom>
          <a:noFill/>
          <a:ln w="28575">
            <a:solidFill>
              <a:srgbClr val="BDCDC6"/>
            </a:solidFill>
          </a:ln>
        </p:spPr>
      </p:sp>
      <p:sp>
        <p:nvSpPr>
          <p:cNvPr id="10" name="任意多边形: 形状 9">
            <a:extLst>
              <a:ext uri="{FF2B5EF4-FFF2-40B4-BE49-F238E27FC236}">
                <a16:creationId xmlns:a16="http://schemas.microsoft.com/office/drawing/2014/main" id="{58D9132B-30C5-4A55-9A0B-D67BF68100E2}"/>
              </a:ext>
            </a:extLst>
          </p:cNvPr>
          <p:cNvSpPr>
            <a:spLocks noGrp="1"/>
          </p:cNvSpPr>
          <p:nvPr/>
        </p:nvSpPr>
        <p:spPr>
          <a:xfrm>
            <a:off x="533400" y="14554200"/>
            <a:ext cx="66675" cy="95250"/>
          </a:xfrm>
          <a:custGeom>
            <a:avLst/>
            <a:gdLst/>
            <a:ahLst/>
            <a:cxnLst/>
            <a:rect l="0" t="0" r="0" b="0"/>
            <a:pathLst>
              <a:path w="66675" h="95250">
                <a:moveTo>
                  <a:pt x="0" y="0"/>
                </a:moveTo>
                <a:lnTo>
                  <a:pt x="66675" y="95250"/>
                </a:lnTo>
              </a:path>
            </a:pathLst>
          </a:custGeom>
          <a:noFill/>
          <a:ln w="28575">
            <a:solidFill>
              <a:srgbClr val="BDCDC6"/>
            </a:solidFill>
          </a:ln>
        </p:spPr>
      </p:sp>
      <p:sp>
        <p:nvSpPr>
          <p:cNvPr id="11" name="任意多边形: 形状 10">
            <a:extLst>
              <a:ext uri="{FF2B5EF4-FFF2-40B4-BE49-F238E27FC236}">
                <a16:creationId xmlns:a16="http://schemas.microsoft.com/office/drawing/2014/main" id="{0B13E514-859F-42AC-AAD1-405DE8E1348F}"/>
              </a:ext>
            </a:extLst>
          </p:cNvPr>
          <p:cNvSpPr>
            <a:spLocks noGrp="1"/>
          </p:cNvSpPr>
          <p:nvPr/>
        </p:nvSpPr>
        <p:spPr>
          <a:xfrm>
            <a:off x="600075" y="14554200"/>
            <a:ext cx="66675" cy="95250"/>
          </a:xfrm>
          <a:custGeom>
            <a:avLst/>
            <a:gdLst/>
            <a:ahLst/>
            <a:cxnLst/>
            <a:rect l="0" t="0" r="0" b="0"/>
            <a:pathLst>
              <a:path w="66675" h="95250">
                <a:moveTo>
                  <a:pt x="66675" y="0"/>
                </a:moveTo>
                <a:lnTo>
                  <a:pt x="0" y="95250"/>
                </a:lnTo>
              </a:path>
            </a:pathLst>
          </a:custGeom>
          <a:noFill/>
          <a:ln w="28575">
            <a:solidFill>
              <a:srgbClr val="BDCDC6"/>
            </a:solidFill>
          </a:ln>
        </p:spPr>
      </p:sp>
      <p:sp>
        <p:nvSpPr>
          <p:cNvPr id="12" name="椭圆 11">
            <a:extLst>
              <a:ext uri="{FF2B5EF4-FFF2-40B4-BE49-F238E27FC236}">
                <a16:creationId xmlns:a16="http://schemas.microsoft.com/office/drawing/2014/main" id="{673E8777-680D-48D1-947F-F7E48605686A}"/>
              </a:ext>
            </a:extLst>
          </p:cNvPr>
          <p:cNvSpPr>
            <a:spLocks noGrp="1"/>
          </p:cNvSpPr>
          <p:nvPr/>
        </p:nvSpPr>
        <p:spPr>
          <a:xfrm>
            <a:off x="361950" y="1314450"/>
            <a:ext cx="476250" cy="476250"/>
          </a:xfrm>
          <a:prstGeom prst="ellipse">
            <a:avLst/>
          </a:prstGeom>
          <a:solidFill>
            <a:srgbClr val="366755"/>
          </a:solidFill>
          <a:ln w="0">
            <a:noFill/>
          </a:ln>
        </p:spPr>
        <p:txBody>
          <a:bodyPr lIns="0" tIns="0" rIns="0" bIns="0" anchor="ctr"/>
          <a:lstStyle/>
          <a:p>
            <a:pPr algn="ctr">
              <a:defRPr sz="23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0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F4226775-86B0-49CE-B144-CF8BCDAAC6F5}"/>
              </a:ext>
            </a:extLst>
          </p:cNvPr>
          <p:cNvSpPr>
            <a:spLocks noGrp="1"/>
          </p:cNvSpPr>
          <p:nvPr/>
        </p:nvSpPr>
        <p:spPr>
          <a:xfrm>
            <a:off x="1238250" y="1333500"/>
            <a:ext cx="2000250" cy="4572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2850" b="1">
                <a:solidFill>
                  <a:srgbClr val="366755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366755"/>
                </a:solidFill>
                <a:latin typeface="Arial"/>
                <a:ea typeface="Arial"/>
                <a:cs typeface="Arial"/>
              </a:rPr>
              <a:t>Input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F3FC67D4-5268-44DE-9DCC-75986F13B35D}"/>
              </a:ext>
            </a:extLst>
          </p:cNvPr>
          <p:cNvSpPr>
            <a:spLocks noGrp="1"/>
          </p:cNvSpPr>
          <p:nvPr/>
        </p:nvSpPr>
        <p:spPr>
          <a:xfrm>
            <a:off x="3524250" y="1362075"/>
            <a:ext cx="12715875" cy="4000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2325" b="0">
                <a:solidFill>
                  <a:srgbClr val="60717A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60717A"/>
                </a:solidFill>
                <a:latin typeface="Arial"/>
                <a:ea typeface="Arial"/>
                <a:cs typeface="Arial"/>
              </a:rPr>
              <a:t>Reconstructing the receptor from the experimental map with CryoAtom2</a:t>
            </a:r>
          </a:p>
        </p:txBody>
      </p:sp>
      <p:sp>
        <p:nvSpPr>
          <p:cNvPr id="15" name="任意多边形: 形状 14">
            <a:extLst>
              <a:ext uri="{FF2B5EF4-FFF2-40B4-BE49-F238E27FC236}">
                <a16:creationId xmlns:a16="http://schemas.microsoft.com/office/drawing/2014/main" id="{90E9F6EF-AAF5-4523-829D-19E8B6ACD068}"/>
              </a:ext>
            </a:extLst>
          </p:cNvPr>
          <p:cNvSpPr>
            <a:spLocks noGrp="1"/>
          </p:cNvSpPr>
          <p:nvPr/>
        </p:nvSpPr>
        <p:spPr>
          <a:xfrm>
            <a:off x="1238250" y="1895475"/>
            <a:ext cx="15049500" cy="953"/>
          </a:xfrm>
          <a:custGeom>
            <a:avLst/>
            <a:gdLst/>
            <a:ahLst/>
            <a:cxnLst/>
            <a:rect l="0" t="0" r="0" b="0"/>
            <a:pathLst>
              <a:path w="15049500" h="953">
                <a:moveTo>
                  <a:pt x="0" y="0"/>
                </a:moveTo>
                <a:lnTo>
                  <a:pt x="15049500" y="0"/>
                </a:lnTo>
              </a:path>
            </a:pathLst>
          </a:custGeom>
          <a:noFill/>
          <a:ln w="19050">
            <a:solidFill>
              <a:srgbClr val="E6EDEB"/>
            </a:solidFill>
          </a:ln>
        </p:spPr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50DAA359-65C6-4229-B765-AE90B52BD6F8}"/>
              </a:ext>
            </a:extLst>
          </p:cNvPr>
          <p:cNvSpPr>
            <a:spLocks noGrp="1"/>
          </p:cNvSpPr>
          <p:nvPr/>
        </p:nvSpPr>
        <p:spPr>
          <a:xfrm>
            <a:off x="1238250" y="2076450"/>
            <a:ext cx="352425" cy="3714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2475" b="1">
                <a:solidFill>
                  <a:srgbClr val="203544"/>
                </a:solidFill>
                <a:latin typeface="Arial"/>
                <a:ea typeface="Arial"/>
                <a:cs typeface="Arial"/>
              </a:defRPr>
            </a:pPr>
            <a:r>
              <a:rPr sz="2475" b="1">
                <a:solidFill>
                  <a:srgbClr val="203544"/>
                </a:solidFill>
                <a:latin typeface="Arial"/>
                <a:ea typeface="Arial"/>
                <a:cs typeface="Arial"/>
              </a:rPr>
              <a:t>a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0FAA1E9B-A1B6-4E74-940D-F0566358A6C9}"/>
              </a:ext>
            </a:extLst>
          </p:cNvPr>
          <p:cNvSpPr>
            <a:spLocks noGrp="1"/>
          </p:cNvSpPr>
          <p:nvPr/>
        </p:nvSpPr>
        <p:spPr>
          <a:xfrm>
            <a:off x="1657350" y="2085975"/>
            <a:ext cx="4152900" cy="3714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2325" b="0">
                <a:solidFill>
                  <a:srgbClr val="203544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203544"/>
                </a:solidFill>
                <a:latin typeface="Arial"/>
                <a:ea typeface="Arial"/>
                <a:cs typeface="Arial"/>
              </a:rPr>
              <a:t>Experimental map</a:t>
            </a:r>
          </a:p>
        </p:txBody>
      </p:sp>
      <p:pic>
        <p:nvPicPr>
          <p:cNvPr id="122" name="global_density_same_scale" descr="9WUP global_density_same_scale; native ChimeraX; source C:\Users\15919\Desktop\论文草稿\画图\formal\E2E_flow_v2_20261003\9wup\renders\global_density_same_scale.png; editable crop only"/>
          <p:cNvPicPr>
            <a:picLocks noChangeAspect="1"/>
          </p:cNvPicPr>
          <p:nvPr/>
        </p:nvPicPr>
        <p:blipFill>
          <a:blip r:embed="rId4"/>
          <a:srcRect l="24138" t="16566" r="24407" b="11071"/>
          <a:stretch>
            <a:fillRect/>
          </a:stretch>
        </p:blipFill>
        <p:spPr>
          <a:xfrm>
            <a:off x="2169671" y="2476500"/>
            <a:ext cx="2709158" cy="2857500"/>
          </a:xfrm>
          <a:prstGeom prst="rect">
            <a:avLst/>
          </a:prstGeom>
        </p:spPr>
      </p:pic>
      <p:sp>
        <p:nvSpPr>
          <p:cNvPr id="19" name="矩形 18">
            <a:extLst>
              <a:ext uri="{FF2B5EF4-FFF2-40B4-BE49-F238E27FC236}">
                <a16:creationId xmlns:a16="http://schemas.microsoft.com/office/drawing/2014/main" id="{287D1366-48CC-4286-9234-F4368E1E62D9}"/>
              </a:ext>
            </a:extLst>
          </p:cNvPr>
          <p:cNvSpPr>
            <a:spLocks noGrp="1"/>
          </p:cNvSpPr>
          <p:nvPr/>
        </p:nvSpPr>
        <p:spPr>
          <a:xfrm>
            <a:off x="6477000" y="2076450"/>
            <a:ext cx="352425" cy="3714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2475" b="1">
                <a:solidFill>
                  <a:srgbClr val="203544"/>
                </a:solidFill>
                <a:latin typeface="Arial"/>
                <a:ea typeface="Arial"/>
                <a:cs typeface="Arial"/>
              </a:defRPr>
            </a:pPr>
            <a:r>
              <a:rPr sz="2475" b="1">
                <a:solidFill>
                  <a:srgbClr val="203544"/>
                </a:solidFill>
                <a:latin typeface="Arial"/>
                <a:ea typeface="Arial"/>
                <a:cs typeface="Arial"/>
              </a:rPr>
              <a:t>b</a:t>
            </a: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0EA23DD6-0D51-4709-B8F4-4A611FA64DB7}"/>
              </a:ext>
            </a:extLst>
          </p:cNvPr>
          <p:cNvSpPr>
            <a:spLocks noGrp="1"/>
          </p:cNvSpPr>
          <p:nvPr/>
        </p:nvSpPr>
        <p:spPr>
          <a:xfrm>
            <a:off x="6896100" y="2085975"/>
            <a:ext cx="4152900" cy="3714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2325" b="0">
                <a:solidFill>
                  <a:srgbClr val="203544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203544"/>
                </a:solidFill>
                <a:latin typeface="Arial"/>
                <a:ea typeface="Arial"/>
                <a:cs typeface="Arial"/>
              </a:rPr>
              <a:t>CA2 receptor</a:t>
            </a:r>
          </a:p>
        </p:txBody>
      </p:sp>
      <p:pic>
        <p:nvPicPr>
          <p:cNvPr id="125" name="global_ca2" descr="9WUP global_ca2; native ChimeraX; source C:\Users\15919\Desktop\论文草稿\画图\formal\E2E_flow_20261003\9wup\renders\global_ca2.png; editable crop only"/>
          <p:cNvPicPr>
            <a:picLocks noChangeAspect="1"/>
          </p:cNvPicPr>
          <p:nvPr/>
        </p:nvPicPr>
        <p:blipFill>
          <a:blip r:embed="rId5"/>
          <a:srcRect l="24138" t="16566" r="24407" b="11071"/>
          <a:stretch>
            <a:fillRect/>
          </a:stretch>
        </p:blipFill>
        <p:spPr>
          <a:xfrm>
            <a:off x="7408421" y="2476500"/>
            <a:ext cx="2709158" cy="2857500"/>
          </a:xfrm>
          <a:prstGeom prst="rect">
            <a:avLst/>
          </a:prstGeom>
        </p:spPr>
      </p:pic>
      <p:sp>
        <p:nvSpPr>
          <p:cNvPr id="22" name="矩形 21">
            <a:extLst>
              <a:ext uri="{FF2B5EF4-FFF2-40B4-BE49-F238E27FC236}">
                <a16:creationId xmlns:a16="http://schemas.microsoft.com/office/drawing/2014/main" id="{8787A77A-3098-477D-BD9B-4F88C2667823}"/>
              </a:ext>
            </a:extLst>
          </p:cNvPr>
          <p:cNvSpPr>
            <a:spLocks noGrp="1"/>
          </p:cNvSpPr>
          <p:nvPr/>
        </p:nvSpPr>
        <p:spPr>
          <a:xfrm>
            <a:off x="11715750" y="2076450"/>
            <a:ext cx="352425" cy="3714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2475" b="1">
                <a:solidFill>
                  <a:srgbClr val="203544"/>
                </a:solidFill>
                <a:latin typeface="Arial"/>
                <a:ea typeface="Arial"/>
                <a:cs typeface="Arial"/>
              </a:defRPr>
            </a:pPr>
            <a:r>
              <a:rPr sz="2475" b="1">
                <a:solidFill>
                  <a:srgbClr val="203544"/>
                </a:solidFill>
                <a:latin typeface="Arial"/>
                <a:ea typeface="Arial"/>
                <a:cs typeface="Arial"/>
              </a:rPr>
              <a:t>c</a:t>
            </a:r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D061F349-CBB7-42AE-8D74-8E7955B5D2E5}"/>
              </a:ext>
            </a:extLst>
          </p:cNvPr>
          <p:cNvSpPr>
            <a:spLocks noGrp="1"/>
          </p:cNvSpPr>
          <p:nvPr/>
        </p:nvSpPr>
        <p:spPr>
          <a:xfrm>
            <a:off x="12134850" y="2085975"/>
            <a:ext cx="4152900" cy="3714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2325" b="0">
                <a:solidFill>
                  <a:srgbClr val="203544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203544"/>
                </a:solidFill>
                <a:latin typeface="Arial"/>
                <a:ea typeface="Arial"/>
                <a:cs typeface="Arial"/>
              </a:rPr>
              <a:t>GT receptor (reference)</a:t>
            </a:r>
          </a:p>
        </p:txBody>
      </p:sp>
      <p:pic>
        <p:nvPicPr>
          <p:cNvPr id="128" name="global_gt" descr="9WUP global_gt; native ChimeraX; source C:\Users\15919\Desktop\论文草稿\画图\formal\E2E_flow_20261003\9wup\renders\global_gt.png; editable crop only"/>
          <p:cNvPicPr>
            <a:picLocks noChangeAspect="1"/>
          </p:cNvPicPr>
          <p:nvPr/>
        </p:nvPicPr>
        <p:blipFill>
          <a:blip r:embed="rId6"/>
          <a:srcRect l="24138" t="16566" r="24407" b="11071"/>
          <a:stretch>
            <a:fillRect/>
          </a:stretch>
        </p:blipFill>
        <p:spPr>
          <a:xfrm>
            <a:off x="12647171" y="2476500"/>
            <a:ext cx="2709158" cy="2857500"/>
          </a:xfrm>
          <a:prstGeom prst="rect">
            <a:avLst/>
          </a:prstGeom>
        </p:spPr>
      </p:pic>
      <p:sp>
        <p:nvSpPr>
          <p:cNvPr id="25" name="矩形 24">
            <a:extLst>
              <a:ext uri="{FF2B5EF4-FFF2-40B4-BE49-F238E27FC236}">
                <a16:creationId xmlns:a16="http://schemas.microsoft.com/office/drawing/2014/main" id="{21CC8D14-FD1D-4B95-A7FF-A095E4ADEA2F}"/>
              </a:ext>
            </a:extLst>
          </p:cNvPr>
          <p:cNvSpPr>
            <a:spLocks noGrp="1"/>
          </p:cNvSpPr>
          <p:nvPr/>
        </p:nvSpPr>
        <p:spPr>
          <a:xfrm>
            <a:off x="5181600" y="3419475"/>
            <a:ext cx="2114550" cy="4000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2250" b="1">
                <a:solidFill>
                  <a:srgbClr val="366755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366755"/>
                </a:solidFill>
                <a:latin typeface="Arial"/>
                <a:ea typeface="Arial"/>
                <a:cs typeface="Arial"/>
              </a:rPr>
              <a:t>CryoAtom2</a:t>
            </a:r>
          </a:p>
        </p:txBody>
      </p:sp>
      <p:sp>
        <p:nvSpPr>
          <p:cNvPr id="26" name="任意多边形: 形状 25">
            <a:extLst>
              <a:ext uri="{FF2B5EF4-FFF2-40B4-BE49-F238E27FC236}">
                <a16:creationId xmlns:a16="http://schemas.microsoft.com/office/drawing/2014/main" id="{262B3B17-864A-4670-AE6D-CCA2651C652F}"/>
              </a:ext>
            </a:extLst>
          </p:cNvPr>
          <p:cNvSpPr>
            <a:spLocks noGrp="1"/>
          </p:cNvSpPr>
          <p:nvPr/>
        </p:nvSpPr>
        <p:spPr>
          <a:xfrm>
            <a:off x="5286375" y="3905250"/>
            <a:ext cx="2019300" cy="953"/>
          </a:xfrm>
          <a:custGeom>
            <a:avLst/>
            <a:gdLst/>
            <a:ahLst/>
            <a:cxnLst/>
            <a:rect l="0" t="0" r="0" b="0"/>
            <a:pathLst>
              <a:path w="2019300" h="953">
                <a:moveTo>
                  <a:pt x="0" y="0"/>
                </a:moveTo>
                <a:lnTo>
                  <a:pt x="2019300" y="0"/>
                </a:lnTo>
              </a:path>
            </a:pathLst>
          </a:custGeom>
          <a:noFill/>
          <a:ln w="38100">
            <a:solidFill>
              <a:srgbClr val="366755"/>
            </a:solidFill>
          </a:ln>
        </p:spPr>
      </p:sp>
      <p:sp>
        <p:nvSpPr>
          <p:cNvPr id="27" name="任意多边形: 形状 26">
            <a:extLst>
              <a:ext uri="{FF2B5EF4-FFF2-40B4-BE49-F238E27FC236}">
                <a16:creationId xmlns:a16="http://schemas.microsoft.com/office/drawing/2014/main" id="{35B153D4-05F7-43A5-B74B-285ED5DC031C}"/>
              </a:ext>
            </a:extLst>
          </p:cNvPr>
          <p:cNvSpPr>
            <a:spLocks noGrp="1"/>
          </p:cNvSpPr>
          <p:nvPr/>
        </p:nvSpPr>
        <p:spPr>
          <a:xfrm>
            <a:off x="7162800" y="3810000"/>
            <a:ext cx="142875" cy="95250"/>
          </a:xfrm>
          <a:custGeom>
            <a:avLst/>
            <a:gdLst/>
            <a:ahLst/>
            <a:cxnLst/>
            <a:rect l="0" t="0" r="0" b="0"/>
            <a:pathLst>
              <a:path w="142875" h="95250">
                <a:moveTo>
                  <a:pt x="0" y="0"/>
                </a:moveTo>
                <a:lnTo>
                  <a:pt x="142875" y="95250"/>
                </a:lnTo>
              </a:path>
            </a:pathLst>
          </a:custGeom>
          <a:noFill/>
          <a:ln w="38100">
            <a:solidFill>
              <a:srgbClr val="366755"/>
            </a:solidFill>
          </a:ln>
        </p:spPr>
      </p:sp>
      <p:sp>
        <p:nvSpPr>
          <p:cNvPr id="28" name="任意多边形: 形状 27">
            <a:extLst>
              <a:ext uri="{FF2B5EF4-FFF2-40B4-BE49-F238E27FC236}">
                <a16:creationId xmlns:a16="http://schemas.microsoft.com/office/drawing/2014/main" id="{B0D5A2C4-B09E-4BD5-9EEA-7927476149FA}"/>
              </a:ext>
            </a:extLst>
          </p:cNvPr>
          <p:cNvSpPr>
            <a:spLocks noGrp="1"/>
          </p:cNvSpPr>
          <p:nvPr/>
        </p:nvSpPr>
        <p:spPr>
          <a:xfrm>
            <a:off x="7162800" y="3905250"/>
            <a:ext cx="142875" cy="95250"/>
          </a:xfrm>
          <a:custGeom>
            <a:avLst/>
            <a:gdLst/>
            <a:ahLst/>
            <a:cxnLst/>
            <a:rect l="0" t="0" r="0" b="0"/>
            <a:pathLst>
              <a:path w="142875" h="95250">
                <a:moveTo>
                  <a:pt x="0" y="95250"/>
                </a:moveTo>
                <a:lnTo>
                  <a:pt x="142875" y="0"/>
                </a:lnTo>
              </a:path>
            </a:pathLst>
          </a:custGeom>
          <a:noFill/>
          <a:ln w="38100">
            <a:solidFill>
              <a:srgbClr val="366755"/>
            </a:solidFill>
          </a:ln>
        </p:spPr>
      </p:sp>
      <p:sp>
        <p:nvSpPr>
          <p:cNvPr id="29" name="任意多边形: 形状 28">
            <a:extLst>
              <a:ext uri="{FF2B5EF4-FFF2-40B4-BE49-F238E27FC236}">
                <a16:creationId xmlns:a16="http://schemas.microsoft.com/office/drawing/2014/main" id="{B1330823-2FAF-4A38-A953-261A6458BDAB}"/>
              </a:ext>
            </a:extLst>
          </p:cNvPr>
          <p:cNvSpPr>
            <a:spLocks noGrp="1"/>
          </p:cNvSpPr>
          <p:nvPr/>
        </p:nvSpPr>
        <p:spPr>
          <a:xfrm>
            <a:off x="11430000" y="2000250"/>
            <a:ext cx="953" cy="104775"/>
          </a:xfrm>
          <a:custGeom>
            <a:avLst/>
            <a:gdLst/>
            <a:ahLst/>
            <a:cxnLst/>
            <a:rect l="0" t="0" r="0" b="0"/>
            <a:pathLst>
              <a:path w="953" h="104775">
                <a:moveTo>
                  <a:pt x="0" y="0"/>
                </a:moveTo>
                <a:lnTo>
                  <a:pt x="0" y="104775"/>
                </a:lnTo>
              </a:path>
            </a:pathLst>
          </a:custGeom>
          <a:noFill/>
          <a:ln w="19050">
            <a:solidFill>
              <a:srgbClr val="BDCDC6"/>
            </a:solidFill>
          </a:ln>
        </p:spPr>
      </p:sp>
      <p:sp>
        <p:nvSpPr>
          <p:cNvPr id="30" name="任意多边形: 形状 29">
            <a:extLst>
              <a:ext uri="{FF2B5EF4-FFF2-40B4-BE49-F238E27FC236}">
                <a16:creationId xmlns:a16="http://schemas.microsoft.com/office/drawing/2014/main" id="{B4513124-789A-450F-80B0-5B275A1A85E0}"/>
              </a:ext>
            </a:extLst>
          </p:cNvPr>
          <p:cNvSpPr>
            <a:spLocks noGrp="1"/>
          </p:cNvSpPr>
          <p:nvPr/>
        </p:nvSpPr>
        <p:spPr>
          <a:xfrm>
            <a:off x="11430000" y="2190750"/>
            <a:ext cx="953" cy="104775"/>
          </a:xfrm>
          <a:custGeom>
            <a:avLst/>
            <a:gdLst/>
            <a:ahLst/>
            <a:cxnLst/>
            <a:rect l="0" t="0" r="0" b="0"/>
            <a:pathLst>
              <a:path w="953" h="104775">
                <a:moveTo>
                  <a:pt x="0" y="0"/>
                </a:moveTo>
                <a:lnTo>
                  <a:pt x="0" y="104775"/>
                </a:lnTo>
              </a:path>
            </a:pathLst>
          </a:custGeom>
          <a:noFill/>
          <a:ln w="19050">
            <a:solidFill>
              <a:srgbClr val="BDCDC6"/>
            </a:solidFill>
          </a:ln>
        </p:spPr>
      </p:sp>
      <p:sp>
        <p:nvSpPr>
          <p:cNvPr id="31" name="任意多边形: 形状 30">
            <a:extLst>
              <a:ext uri="{FF2B5EF4-FFF2-40B4-BE49-F238E27FC236}">
                <a16:creationId xmlns:a16="http://schemas.microsoft.com/office/drawing/2014/main" id="{2940C247-7C8A-437B-BFE5-524A0B94689B}"/>
              </a:ext>
            </a:extLst>
          </p:cNvPr>
          <p:cNvSpPr>
            <a:spLocks noGrp="1"/>
          </p:cNvSpPr>
          <p:nvPr/>
        </p:nvSpPr>
        <p:spPr>
          <a:xfrm>
            <a:off x="11430000" y="2381250"/>
            <a:ext cx="953" cy="104775"/>
          </a:xfrm>
          <a:custGeom>
            <a:avLst/>
            <a:gdLst/>
            <a:ahLst/>
            <a:cxnLst/>
            <a:rect l="0" t="0" r="0" b="0"/>
            <a:pathLst>
              <a:path w="953" h="104775">
                <a:moveTo>
                  <a:pt x="0" y="0"/>
                </a:moveTo>
                <a:lnTo>
                  <a:pt x="0" y="104775"/>
                </a:lnTo>
              </a:path>
            </a:pathLst>
          </a:custGeom>
          <a:noFill/>
          <a:ln w="19050">
            <a:solidFill>
              <a:srgbClr val="BDCDC6"/>
            </a:solidFill>
          </a:ln>
        </p:spPr>
      </p:sp>
      <p:sp>
        <p:nvSpPr>
          <p:cNvPr id="32" name="任意多边形: 形状 31">
            <a:extLst>
              <a:ext uri="{FF2B5EF4-FFF2-40B4-BE49-F238E27FC236}">
                <a16:creationId xmlns:a16="http://schemas.microsoft.com/office/drawing/2014/main" id="{6FBC14A4-4B43-4ABD-A611-0B06D7A5B943}"/>
              </a:ext>
            </a:extLst>
          </p:cNvPr>
          <p:cNvSpPr>
            <a:spLocks noGrp="1"/>
          </p:cNvSpPr>
          <p:nvPr/>
        </p:nvSpPr>
        <p:spPr>
          <a:xfrm>
            <a:off x="11430000" y="2571750"/>
            <a:ext cx="953" cy="104775"/>
          </a:xfrm>
          <a:custGeom>
            <a:avLst/>
            <a:gdLst/>
            <a:ahLst/>
            <a:cxnLst/>
            <a:rect l="0" t="0" r="0" b="0"/>
            <a:pathLst>
              <a:path w="953" h="104775">
                <a:moveTo>
                  <a:pt x="0" y="0"/>
                </a:moveTo>
                <a:lnTo>
                  <a:pt x="0" y="104775"/>
                </a:lnTo>
              </a:path>
            </a:pathLst>
          </a:custGeom>
          <a:noFill/>
          <a:ln w="19050">
            <a:solidFill>
              <a:srgbClr val="BDCDC6"/>
            </a:solidFill>
          </a:ln>
        </p:spPr>
      </p:sp>
      <p:sp>
        <p:nvSpPr>
          <p:cNvPr id="33" name="任意多边形: 形状 32">
            <a:extLst>
              <a:ext uri="{FF2B5EF4-FFF2-40B4-BE49-F238E27FC236}">
                <a16:creationId xmlns:a16="http://schemas.microsoft.com/office/drawing/2014/main" id="{CC16A763-8DAA-42D1-A4C5-A80EDAADFE33}"/>
              </a:ext>
            </a:extLst>
          </p:cNvPr>
          <p:cNvSpPr>
            <a:spLocks noGrp="1"/>
          </p:cNvSpPr>
          <p:nvPr/>
        </p:nvSpPr>
        <p:spPr>
          <a:xfrm>
            <a:off x="11430000" y="2762250"/>
            <a:ext cx="953" cy="104775"/>
          </a:xfrm>
          <a:custGeom>
            <a:avLst/>
            <a:gdLst/>
            <a:ahLst/>
            <a:cxnLst/>
            <a:rect l="0" t="0" r="0" b="0"/>
            <a:pathLst>
              <a:path w="953" h="104775">
                <a:moveTo>
                  <a:pt x="0" y="0"/>
                </a:moveTo>
                <a:lnTo>
                  <a:pt x="0" y="104775"/>
                </a:lnTo>
              </a:path>
            </a:pathLst>
          </a:custGeom>
          <a:noFill/>
          <a:ln w="19050">
            <a:solidFill>
              <a:srgbClr val="BDCDC6"/>
            </a:solidFill>
          </a:ln>
        </p:spPr>
      </p:sp>
      <p:sp>
        <p:nvSpPr>
          <p:cNvPr id="34" name="任意多边形: 形状 33">
            <a:extLst>
              <a:ext uri="{FF2B5EF4-FFF2-40B4-BE49-F238E27FC236}">
                <a16:creationId xmlns:a16="http://schemas.microsoft.com/office/drawing/2014/main" id="{5CB6E762-C1AB-4404-A4A6-0BE98454031F}"/>
              </a:ext>
            </a:extLst>
          </p:cNvPr>
          <p:cNvSpPr>
            <a:spLocks noGrp="1"/>
          </p:cNvSpPr>
          <p:nvPr/>
        </p:nvSpPr>
        <p:spPr>
          <a:xfrm>
            <a:off x="11430000" y="2952750"/>
            <a:ext cx="953" cy="104775"/>
          </a:xfrm>
          <a:custGeom>
            <a:avLst/>
            <a:gdLst/>
            <a:ahLst/>
            <a:cxnLst/>
            <a:rect l="0" t="0" r="0" b="0"/>
            <a:pathLst>
              <a:path w="953" h="104775">
                <a:moveTo>
                  <a:pt x="0" y="0"/>
                </a:moveTo>
                <a:lnTo>
                  <a:pt x="0" y="104775"/>
                </a:lnTo>
              </a:path>
            </a:pathLst>
          </a:custGeom>
          <a:noFill/>
          <a:ln w="19050">
            <a:solidFill>
              <a:srgbClr val="BDCDC6"/>
            </a:solidFill>
          </a:ln>
        </p:spPr>
      </p:sp>
      <p:sp>
        <p:nvSpPr>
          <p:cNvPr id="35" name="任意多边形: 形状 34">
            <a:extLst>
              <a:ext uri="{FF2B5EF4-FFF2-40B4-BE49-F238E27FC236}">
                <a16:creationId xmlns:a16="http://schemas.microsoft.com/office/drawing/2014/main" id="{813635EC-47FE-42EB-848E-9DB15DD919A1}"/>
              </a:ext>
            </a:extLst>
          </p:cNvPr>
          <p:cNvSpPr>
            <a:spLocks noGrp="1"/>
          </p:cNvSpPr>
          <p:nvPr/>
        </p:nvSpPr>
        <p:spPr>
          <a:xfrm>
            <a:off x="11430000" y="3143250"/>
            <a:ext cx="953" cy="104775"/>
          </a:xfrm>
          <a:custGeom>
            <a:avLst/>
            <a:gdLst/>
            <a:ahLst/>
            <a:cxnLst/>
            <a:rect l="0" t="0" r="0" b="0"/>
            <a:pathLst>
              <a:path w="953" h="104775">
                <a:moveTo>
                  <a:pt x="0" y="0"/>
                </a:moveTo>
                <a:lnTo>
                  <a:pt x="0" y="104775"/>
                </a:lnTo>
              </a:path>
            </a:pathLst>
          </a:custGeom>
          <a:noFill/>
          <a:ln w="19050">
            <a:solidFill>
              <a:srgbClr val="BDCDC6"/>
            </a:solidFill>
          </a:ln>
        </p:spPr>
      </p:sp>
      <p:sp>
        <p:nvSpPr>
          <p:cNvPr id="36" name="任意多边形: 形状 35">
            <a:extLst>
              <a:ext uri="{FF2B5EF4-FFF2-40B4-BE49-F238E27FC236}">
                <a16:creationId xmlns:a16="http://schemas.microsoft.com/office/drawing/2014/main" id="{8D94A87E-0840-4CC0-96EA-76A136FCF113}"/>
              </a:ext>
            </a:extLst>
          </p:cNvPr>
          <p:cNvSpPr>
            <a:spLocks noGrp="1"/>
          </p:cNvSpPr>
          <p:nvPr/>
        </p:nvSpPr>
        <p:spPr>
          <a:xfrm>
            <a:off x="11430000" y="3333750"/>
            <a:ext cx="953" cy="104775"/>
          </a:xfrm>
          <a:custGeom>
            <a:avLst/>
            <a:gdLst/>
            <a:ahLst/>
            <a:cxnLst/>
            <a:rect l="0" t="0" r="0" b="0"/>
            <a:pathLst>
              <a:path w="953" h="104775">
                <a:moveTo>
                  <a:pt x="0" y="0"/>
                </a:moveTo>
                <a:lnTo>
                  <a:pt x="0" y="104775"/>
                </a:lnTo>
              </a:path>
            </a:pathLst>
          </a:custGeom>
          <a:noFill/>
          <a:ln w="19050">
            <a:solidFill>
              <a:srgbClr val="BDCDC6"/>
            </a:solidFill>
          </a:ln>
        </p:spPr>
      </p:sp>
      <p:sp>
        <p:nvSpPr>
          <p:cNvPr id="37" name="任意多边形: 形状 36">
            <a:extLst>
              <a:ext uri="{FF2B5EF4-FFF2-40B4-BE49-F238E27FC236}">
                <a16:creationId xmlns:a16="http://schemas.microsoft.com/office/drawing/2014/main" id="{60B18C2F-082E-4550-86D5-CB69A20A95DD}"/>
              </a:ext>
            </a:extLst>
          </p:cNvPr>
          <p:cNvSpPr>
            <a:spLocks noGrp="1"/>
          </p:cNvSpPr>
          <p:nvPr/>
        </p:nvSpPr>
        <p:spPr>
          <a:xfrm>
            <a:off x="11430000" y="3524250"/>
            <a:ext cx="953" cy="104775"/>
          </a:xfrm>
          <a:custGeom>
            <a:avLst/>
            <a:gdLst/>
            <a:ahLst/>
            <a:cxnLst/>
            <a:rect l="0" t="0" r="0" b="0"/>
            <a:pathLst>
              <a:path w="953" h="104775">
                <a:moveTo>
                  <a:pt x="0" y="0"/>
                </a:moveTo>
                <a:lnTo>
                  <a:pt x="0" y="104775"/>
                </a:lnTo>
              </a:path>
            </a:pathLst>
          </a:custGeom>
          <a:noFill/>
          <a:ln w="19050">
            <a:solidFill>
              <a:srgbClr val="BDCDC6"/>
            </a:solidFill>
          </a:ln>
        </p:spPr>
      </p:sp>
      <p:sp>
        <p:nvSpPr>
          <p:cNvPr id="38" name="任意多边形: 形状 37">
            <a:extLst>
              <a:ext uri="{FF2B5EF4-FFF2-40B4-BE49-F238E27FC236}">
                <a16:creationId xmlns:a16="http://schemas.microsoft.com/office/drawing/2014/main" id="{DF2871B7-5F47-42E4-8601-76BF0B57C6D5}"/>
              </a:ext>
            </a:extLst>
          </p:cNvPr>
          <p:cNvSpPr>
            <a:spLocks noGrp="1"/>
          </p:cNvSpPr>
          <p:nvPr/>
        </p:nvSpPr>
        <p:spPr>
          <a:xfrm>
            <a:off x="11430000" y="3714750"/>
            <a:ext cx="953" cy="104775"/>
          </a:xfrm>
          <a:custGeom>
            <a:avLst/>
            <a:gdLst/>
            <a:ahLst/>
            <a:cxnLst/>
            <a:rect l="0" t="0" r="0" b="0"/>
            <a:pathLst>
              <a:path w="953" h="104775">
                <a:moveTo>
                  <a:pt x="0" y="0"/>
                </a:moveTo>
                <a:lnTo>
                  <a:pt x="0" y="104775"/>
                </a:lnTo>
              </a:path>
            </a:pathLst>
          </a:custGeom>
          <a:noFill/>
          <a:ln w="19050">
            <a:solidFill>
              <a:srgbClr val="BDCDC6"/>
            </a:solidFill>
          </a:ln>
        </p:spPr>
      </p:sp>
      <p:sp>
        <p:nvSpPr>
          <p:cNvPr id="39" name="任意多边形: 形状 38">
            <a:extLst>
              <a:ext uri="{FF2B5EF4-FFF2-40B4-BE49-F238E27FC236}">
                <a16:creationId xmlns:a16="http://schemas.microsoft.com/office/drawing/2014/main" id="{8FDC4D69-CC74-400E-8A48-A54DA6DB5692}"/>
              </a:ext>
            </a:extLst>
          </p:cNvPr>
          <p:cNvSpPr>
            <a:spLocks noGrp="1"/>
          </p:cNvSpPr>
          <p:nvPr/>
        </p:nvSpPr>
        <p:spPr>
          <a:xfrm>
            <a:off x="11430000" y="3905250"/>
            <a:ext cx="953" cy="104775"/>
          </a:xfrm>
          <a:custGeom>
            <a:avLst/>
            <a:gdLst/>
            <a:ahLst/>
            <a:cxnLst/>
            <a:rect l="0" t="0" r="0" b="0"/>
            <a:pathLst>
              <a:path w="953" h="104775">
                <a:moveTo>
                  <a:pt x="0" y="0"/>
                </a:moveTo>
                <a:lnTo>
                  <a:pt x="0" y="104775"/>
                </a:lnTo>
              </a:path>
            </a:pathLst>
          </a:custGeom>
          <a:noFill/>
          <a:ln w="19050">
            <a:solidFill>
              <a:srgbClr val="BDCDC6"/>
            </a:solidFill>
          </a:ln>
        </p:spPr>
      </p:sp>
      <p:sp>
        <p:nvSpPr>
          <p:cNvPr id="40" name="任意多边形: 形状 39">
            <a:extLst>
              <a:ext uri="{FF2B5EF4-FFF2-40B4-BE49-F238E27FC236}">
                <a16:creationId xmlns:a16="http://schemas.microsoft.com/office/drawing/2014/main" id="{373ED4A3-1B0E-4D71-A1D4-5D2C963E68A1}"/>
              </a:ext>
            </a:extLst>
          </p:cNvPr>
          <p:cNvSpPr>
            <a:spLocks noGrp="1"/>
          </p:cNvSpPr>
          <p:nvPr/>
        </p:nvSpPr>
        <p:spPr>
          <a:xfrm>
            <a:off x="11430000" y="4095750"/>
            <a:ext cx="953" cy="104775"/>
          </a:xfrm>
          <a:custGeom>
            <a:avLst/>
            <a:gdLst/>
            <a:ahLst/>
            <a:cxnLst/>
            <a:rect l="0" t="0" r="0" b="0"/>
            <a:pathLst>
              <a:path w="953" h="104775">
                <a:moveTo>
                  <a:pt x="0" y="0"/>
                </a:moveTo>
                <a:lnTo>
                  <a:pt x="0" y="104775"/>
                </a:lnTo>
              </a:path>
            </a:pathLst>
          </a:custGeom>
          <a:noFill/>
          <a:ln w="19050">
            <a:solidFill>
              <a:srgbClr val="BDCDC6"/>
            </a:solidFill>
          </a:ln>
        </p:spPr>
      </p:sp>
      <p:sp>
        <p:nvSpPr>
          <p:cNvPr id="41" name="任意多边形: 形状 40">
            <a:extLst>
              <a:ext uri="{FF2B5EF4-FFF2-40B4-BE49-F238E27FC236}">
                <a16:creationId xmlns:a16="http://schemas.microsoft.com/office/drawing/2014/main" id="{37FCA545-B24F-41E6-98F6-86048BA78162}"/>
              </a:ext>
            </a:extLst>
          </p:cNvPr>
          <p:cNvSpPr>
            <a:spLocks noGrp="1"/>
          </p:cNvSpPr>
          <p:nvPr/>
        </p:nvSpPr>
        <p:spPr>
          <a:xfrm>
            <a:off x="11430000" y="4286250"/>
            <a:ext cx="953" cy="104775"/>
          </a:xfrm>
          <a:custGeom>
            <a:avLst/>
            <a:gdLst/>
            <a:ahLst/>
            <a:cxnLst/>
            <a:rect l="0" t="0" r="0" b="0"/>
            <a:pathLst>
              <a:path w="953" h="104775">
                <a:moveTo>
                  <a:pt x="0" y="0"/>
                </a:moveTo>
                <a:lnTo>
                  <a:pt x="0" y="104775"/>
                </a:lnTo>
              </a:path>
            </a:pathLst>
          </a:custGeom>
          <a:noFill/>
          <a:ln w="19050">
            <a:solidFill>
              <a:srgbClr val="BDCDC6"/>
            </a:solidFill>
          </a:ln>
        </p:spPr>
      </p:sp>
      <p:sp>
        <p:nvSpPr>
          <p:cNvPr id="42" name="任意多边形: 形状 41">
            <a:extLst>
              <a:ext uri="{FF2B5EF4-FFF2-40B4-BE49-F238E27FC236}">
                <a16:creationId xmlns:a16="http://schemas.microsoft.com/office/drawing/2014/main" id="{5048317D-B713-4742-977B-6356B3E10F33}"/>
              </a:ext>
            </a:extLst>
          </p:cNvPr>
          <p:cNvSpPr>
            <a:spLocks noGrp="1"/>
          </p:cNvSpPr>
          <p:nvPr/>
        </p:nvSpPr>
        <p:spPr>
          <a:xfrm>
            <a:off x="11430000" y="4476750"/>
            <a:ext cx="953" cy="104775"/>
          </a:xfrm>
          <a:custGeom>
            <a:avLst/>
            <a:gdLst/>
            <a:ahLst/>
            <a:cxnLst/>
            <a:rect l="0" t="0" r="0" b="0"/>
            <a:pathLst>
              <a:path w="953" h="104775">
                <a:moveTo>
                  <a:pt x="0" y="0"/>
                </a:moveTo>
                <a:lnTo>
                  <a:pt x="0" y="104775"/>
                </a:lnTo>
              </a:path>
            </a:pathLst>
          </a:custGeom>
          <a:noFill/>
          <a:ln w="19050">
            <a:solidFill>
              <a:srgbClr val="BDCDC6"/>
            </a:solidFill>
          </a:ln>
        </p:spPr>
      </p:sp>
      <p:sp>
        <p:nvSpPr>
          <p:cNvPr id="43" name="任意多边形: 形状 42">
            <a:extLst>
              <a:ext uri="{FF2B5EF4-FFF2-40B4-BE49-F238E27FC236}">
                <a16:creationId xmlns:a16="http://schemas.microsoft.com/office/drawing/2014/main" id="{562FA9A5-80E6-4D6D-B6D1-23128816816F}"/>
              </a:ext>
            </a:extLst>
          </p:cNvPr>
          <p:cNvSpPr>
            <a:spLocks noGrp="1"/>
          </p:cNvSpPr>
          <p:nvPr/>
        </p:nvSpPr>
        <p:spPr>
          <a:xfrm>
            <a:off x="11430000" y="4667250"/>
            <a:ext cx="953" cy="104775"/>
          </a:xfrm>
          <a:custGeom>
            <a:avLst/>
            <a:gdLst/>
            <a:ahLst/>
            <a:cxnLst/>
            <a:rect l="0" t="0" r="0" b="0"/>
            <a:pathLst>
              <a:path w="953" h="104775">
                <a:moveTo>
                  <a:pt x="0" y="0"/>
                </a:moveTo>
                <a:lnTo>
                  <a:pt x="0" y="104775"/>
                </a:lnTo>
              </a:path>
            </a:pathLst>
          </a:custGeom>
          <a:noFill/>
          <a:ln w="19050">
            <a:solidFill>
              <a:srgbClr val="BDCDC6"/>
            </a:solidFill>
          </a:ln>
        </p:spPr>
      </p:sp>
      <p:sp>
        <p:nvSpPr>
          <p:cNvPr id="44" name="任意多边形: 形状 43">
            <a:extLst>
              <a:ext uri="{FF2B5EF4-FFF2-40B4-BE49-F238E27FC236}">
                <a16:creationId xmlns:a16="http://schemas.microsoft.com/office/drawing/2014/main" id="{922BF5B2-6424-435C-8FF3-67537E91C314}"/>
              </a:ext>
            </a:extLst>
          </p:cNvPr>
          <p:cNvSpPr>
            <a:spLocks noGrp="1"/>
          </p:cNvSpPr>
          <p:nvPr/>
        </p:nvSpPr>
        <p:spPr>
          <a:xfrm>
            <a:off x="11430000" y="4857750"/>
            <a:ext cx="953" cy="104775"/>
          </a:xfrm>
          <a:custGeom>
            <a:avLst/>
            <a:gdLst/>
            <a:ahLst/>
            <a:cxnLst/>
            <a:rect l="0" t="0" r="0" b="0"/>
            <a:pathLst>
              <a:path w="953" h="104775">
                <a:moveTo>
                  <a:pt x="0" y="0"/>
                </a:moveTo>
                <a:lnTo>
                  <a:pt x="0" y="104775"/>
                </a:lnTo>
              </a:path>
            </a:pathLst>
          </a:custGeom>
          <a:noFill/>
          <a:ln w="19050">
            <a:solidFill>
              <a:srgbClr val="BDCDC6"/>
            </a:solidFill>
          </a:ln>
        </p:spPr>
      </p:sp>
      <p:sp>
        <p:nvSpPr>
          <p:cNvPr id="45" name="任意多边形: 形状 44">
            <a:extLst>
              <a:ext uri="{FF2B5EF4-FFF2-40B4-BE49-F238E27FC236}">
                <a16:creationId xmlns:a16="http://schemas.microsoft.com/office/drawing/2014/main" id="{24207CF0-4F2E-4F87-BC35-28E7AE74D44F}"/>
              </a:ext>
            </a:extLst>
          </p:cNvPr>
          <p:cNvSpPr>
            <a:spLocks noGrp="1"/>
          </p:cNvSpPr>
          <p:nvPr/>
        </p:nvSpPr>
        <p:spPr>
          <a:xfrm>
            <a:off x="11430000" y="5048250"/>
            <a:ext cx="953" cy="104775"/>
          </a:xfrm>
          <a:custGeom>
            <a:avLst/>
            <a:gdLst/>
            <a:ahLst/>
            <a:cxnLst/>
            <a:rect l="0" t="0" r="0" b="0"/>
            <a:pathLst>
              <a:path w="953" h="104775">
                <a:moveTo>
                  <a:pt x="0" y="0"/>
                </a:moveTo>
                <a:lnTo>
                  <a:pt x="0" y="104775"/>
                </a:lnTo>
              </a:path>
            </a:pathLst>
          </a:custGeom>
          <a:noFill/>
          <a:ln w="19050">
            <a:solidFill>
              <a:srgbClr val="BDCDC6"/>
            </a:solidFill>
          </a:ln>
        </p:spPr>
      </p:sp>
      <p:sp>
        <p:nvSpPr>
          <p:cNvPr id="46" name="任意多边形: 形状 45">
            <a:extLst>
              <a:ext uri="{FF2B5EF4-FFF2-40B4-BE49-F238E27FC236}">
                <a16:creationId xmlns:a16="http://schemas.microsoft.com/office/drawing/2014/main" id="{3C5F010D-6E1B-41A0-B5D6-E5B9E4764556}"/>
              </a:ext>
            </a:extLst>
          </p:cNvPr>
          <p:cNvSpPr>
            <a:spLocks noGrp="1"/>
          </p:cNvSpPr>
          <p:nvPr/>
        </p:nvSpPr>
        <p:spPr>
          <a:xfrm>
            <a:off x="11430000" y="5238750"/>
            <a:ext cx="953" cy="104775"/>
          </a:xfrm>
          <a:custGeom>
            <a:avLst/>
            <a:gdLst/>
            <a:ahLst/>
            <a:cxnLst/>
            <a:rect l="0" t="0" r="0" b="0"/>
            <a:pathLst>
              <a:path w="953" h="104775">
                <a:moveTo>
                  <a:pt x="0" y="0"/>
                </a:moveTo>
                <a:lnTo>
                  <a:pt x="0" y="104775"/>
                </a:lnTo>
              </a:path>
            </a:pathLst>
          </a:custGeom>
          <a:noFill/>
          <a:ln w="19050">
            <a:solidFill>
              <a:srgbClr val="BDCDC6"/>
            </a:solidFill>
          </a:ln>
        </p:spPr>
      </p:sp>
      <p:sp>
        <p:nvSpPr>
          <p:cNvPr id="47" name="椭圆 46">
            <a:extLst>
              <a:ext uri="{FF2B5EF4-FFF2-40B4-BE49-F238E27FC236}">
                <a16:creationId xmlns:a16="http://schemas.microsoft.com/office/drawing/2014/main" id="{8E46F77E-0A73-4F14-913C-896AB94BC0E1}"/>
              </a:ext>
            </a:extLst>
          </p:cNvPr>
          <p:cNvSpPr>
            <a:spLocks noGrp="1"/>
          </p:cNvSpPr>
          <p:nvPr/>
        </p:nvSpPr>
        <p:spPr>
          <a:xfrm>
            <a:off x="361950" y="5524500"/>
            <a:ext cx="476250" cy="476250"/>
          </a:xfrm>
          <a:prstGeom prst="ellipse">
            <a:avLst/>
          </a:prstGeom>
          <a:solidFill>
            <a:srgbClr val="366755"/>
          </a:solidFill>
          <a:ln w="0">
            <a:noFill/>
          </a:ln>
        </p:spPr>
        <p:txBody>
          <a:bodyPr lIns="0" tIns="0" rIns="0" bIns="0" anchor="ctr"/>
          <a:lstStyle/>
          <a:p>
            <a:pPr algn="ctr">
              <a:defRPr sz="23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48" name="矩形 47">
            <a:extLst>
              <a:ext uri="{FF2B5EF4-FFF2-40B4-BE49-F238E27FC236}">
                <a16:creationId xmlns:a16="http://schemas.microsoft.com/office/drawing/2014/main" id="{247CA958-F28C-4834-8A23-C0C3AA36DE34}"/>
              </a:ext>
            </a:extLst>
          </p:cNvPr>
          <p:cNvSpPr>
            <a:spLocks noGrp="1"/>
          </p:cNvSpPr>
          <p:nvPr/>
        </p:nvSpPr>
        <p:spPr>
          <a:xfrm>
            <a:off x="1238250" y="5543550"/>
            <a:ext cx="2000250" cy="4572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2850" b="1">
                <a:solidFill>
                  <a:srgbClr val="366755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366755"/>
                </a:solidFill>
                <a:latin typeface="Arial"/>
                <a:ea typeface="Arial"/>
                <a:cs typeface="Arial"/>
              </a:rPr>
              <a:t>Find</a:t>
            </a:r>
          </a:p>
        </p:txBody>
      </p:sp>
      <p:sp>
        <p:nvSpPr>
          <p:cNvPr id="49" name="矩形 48">
            <a:extLst>
              <a:ext uri="{FF2B5EF4-FFF2-40B4-BE49-F238E27FC236}">
                <a16:creationId xmlns:a16="http://schemas.microsoft.com/office/drawing/2014/main" id="{0A0D9BDE-9B88-482F-8A5E-A0BD56407DEE}"/>
              </a:ext>
            </a:extLst>
          </p:cNvPr>
          <p:cNvSpPr>
            <a:spLocks noGrp="1"/>
          </p:cNvSpPr>
          <p:nvPr/>
        </p:nvSpPr>
        <p:spPr>
          <a:xfrm>
            <a:off x="3524250" y="5572125"/>
            <a:ext cx="12715875" cy="4000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2325" b="0">
                <a:solidFill>
                  <a:srgbClr val="60717A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60717A"/>
                </a:solidFill>
                <a:latin typeface="Arial"/>
                <a:ea typeface="Arial"/>
                <a:cs typeface="Arial"/>
              </a:rPr>
              <a:t>Locating candidate ligand regions in the experimental map</a:t>
            </a:r>
          </a:p>
        </p:txBody>
      </p:sp>
      <p:sp>
        <p:nvSpPr>
          <p:cNvPr id="50" name="任意多边形: 形状 49">
            <a:extLst>
              <a:ext uri="{FF2B5EF4-FFF2-40B4-BE49-F238E27FC236}">
                <a16:creationId xmlns:a16="http://schemas.microsoft.com/office/drawing/2014/main" id="{B58881E5-ACBC-42C3-BBDE-9744BF0EEF17}"/>
              </a:ext>
            </a:extLst>
          </p:cNvPr>
          <p:cNvSpPr>
            <a:spLocks noGrp="1"/>
          </p:cNvSpPr>
          <p:nvPr/>
        </p:nvSpPr>
        <p:spPr>
          <a:xfrm>
            <a:off x="1238250" y="6105525"/>
            <a:ext cx="15049500" cy="953"/>
          </a:xfrm>
          <a:custGeom>
            <a:avLst/>
            <a:gdLst/>
            <a:ahLst/>
            <a:cxnLst/>
            <a:rect l="0" t="0" r="0" b="0"/>
            <a:pathLst>
              <a:path w="15049500" h="953">
                <a:moveTo>
                  <a:pt x="0" y="0"/>
                </a:moveTo>
                <a:lnTo>
                  <a:pt x="15049500" y="0"/>
                </a:lnTo>
              </a:path>
            </a:pathLst>
          </a:custGeom>
          <a:noFill/>
          <a:ln w="19050">
            <a:solidFill>
              <a:srgbClr val="E6EDEB"/>
            </a:solidFill>
          </a:ln>
        </p:spPr>
      </p:sp>
      <p:sp>
        <p:nvSpPr>
          <p:cNvPr id="51" name="矩形 50">
            <a:extLst>
              <a:ext uri="{FF2B5EF4-FFF2-40B4-BE49-F238E27FC236}">
                <a16:creationId xmlns:a16="http://schemas.microsoft.com/office/drawing/2014/main" id="{892239BA-08AC-44E1-9914-0893BBE6D851}"/>
              </a:ext>
            </a:extLst>
          </p:cNvPr>
          <p:cNvSpPr>
            <a:spLocks noGrp="1"/>
          </p:cNvSpPr>
          <p:nvPr/>
        </p:nvSpPr>
        <p:spPr>
          <a:xfrm>
            <a:off x="1238250" y="6248400"/>
            <a:ext cx="352425" cy="3714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2475" b="1">
                <a:solidFill>
                  <a:srgbClr val="203544"/>
                </a:solidFill>
                <a:latin typeface="Arial"/>
                <a:ea typeface="Arial"/>
                <a:cs typeface="Arial"/>
              </a:defRPr>
            </a:pPr>
            <a:r>
              <a:rPr sz="2475" b="1">
                <a:solidFill>
                  <a:srgbClr val="203544"/>
                </a:solidFill>
                <a:latin typeface="Arial"/>
                <a:ea typeface="Arial"/>
                <a:cs typeface="Arial"/>
              </a:rPr>
              <a:t>d</a:t>
            </a:r>
          </a:p>
        </p:txBody>
      </p:sp>
      <p:sp>
        <p:nvSpPr>
          <p:cNvPr id="52" name="矩形 51">
            <a:extLst>
              <a:ext uri="{FF2B5EF4-FFF2-40B4-BE49-F238E27FC236}">
                <a16:creationId xmlns:a16="http://schemas.microsoft.com/office/drawing/2014/main" id="{C0C507A0-FB7E-4E3C-B035-FA99889BAC8B}"/>
              </a:ext>
            </a:extLst>
          </p:cNvPr>
          <p:cNvSpPr>
            <a:spLocks noGrp="1"/>
          </p:cNvSpPr>
          <p:nvPr/>
        </p:nvSpPr>
        <p:spPr>
          <a:xfrm>
            <a:off x="1657350" y="6257925"/>
            <a:ext cx="5486400" cy="3714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2325" b="0">
                <a:solidFill>
                  <a:srgbClr val="203544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203544"/>
                </a:solidFill>
                <a:latin typeface="Arial"/>
                <a:ea typeface="Arial"/>
                <a:cs typeface="Arial"/>
              </a:rPr>
              <a:t>Global candidates</a:t>
            </a:r>
          </a:p>
        </p:txBody>
      </p:sp>
      <p:pic>
        <p:nvPicPr>
          <p:cNvPr id="157" name="global_find" descr="9WUP global_find; native ChimeraX; source C:\Users\15919\Desktop\论文草稿\画图\formal\E2E_flow_v2_20261003\9wup\renders\global_find.png; editable crop only"/>
          <p:cNvPicPr>
            <a:picLocks noChangeAspect="1"/>
          </p:cNvPicPr>
          <p:nvPr/>
        </p:nvPicPr>
        <p:blipFill>
          <a:blip r:embed="rId7"/>
          <a:srcRect l="24138" t="16663" r="24418" b="11071"/>
          <a:stretch>
            <a:fillRect/>
          </a:stretch>
        </p:blipFill>
        <p:spPr>
          <a:xfrm>
            <a:off x="2247243" y="6715125"/>
            <a:ext cx="3887513" cy="4095750"/>
          </a:xfrm>
          <a:prstGeom prst="rect">
            <a:avLst/>
          </a:prstGeom>
        </p:spPr>
      </p:pic>
      <p:sp>
        <p:nvSpPr>
          <p:cNvPr id="54" name="target blob 2">
            <a:extLst>
              <a:ext uri="{FF2B5EF4-FFF2-40B4-BE49-F238E27FC236}">
                <a16:creationId xmlns:a16="http://schemas.microsoft.com/office/drawing/2014/main" id="{3E280084-57A2-4646-8C42-08E770DE630A}"/>
              </a:ext>
            </a:extLst>
          </p:cNvPr>
          <p:cNvSpPr>
            <a:spLocks noGrp="1"/>
          </p:cNvSpPr>
          <p:nvPr/>
        </p:nvSpPr>
        <p:spPr>
          <a:xfrm>
            <a:off x="3704114" y="7997490"/>
            <a:ext cx="569603" cy="652694"/>
          </a:xfrm>
          <a:prstGeom prst="rect">
            <a:avLst/>
          </a:prstGeom>
          <a:noFill/>
          <a:ln w="28575">
            <a:solidFill>
              <a:srgbClr val="E9983C"/>
            </a:solidFill>
          </a:ln>
        </p:spPr>
      </p:sp>
      <p:sp>
        <p:nvSpPr>
          <p:cNvPr id="55" name="矩形 54">
            <a:extLst>
              <a:ext uri="{FF2B5EF4-FFF2-40B4-BE49-F238E27FC236}">
                <a16:creationId xmlns:a16="http://schemas.microsoft.com/office/drawing/2014/main" id="{63E1EC34-4DB0-4753-9A88-053F2E2AF97D}"/>
              </a:ext>
            </a:extLst>
          </p:cNvPr>
          <p:cNvSpPr>
            <a:spLocks noGrp="1"/>
          </p:cNvSpPr>
          <p:nvPr/>
        </p:nvSpPr>
        <p:spPr>
          <a:xfrm>
            <a:off x="7905750" y="6248400"/>
            <a:ext cx="352425" cy="3714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2475" b="1">
                <a:solidFill>
                  <a:srgbClr val="203544"/>
                </a:solidFill>
                <a:latin typeface="Arial"/>
                <a:ea typeface="Arial"/>
                <a:cs typeface="Arial"/>
              </a:defRPr>
            </a:pPr>
            <a:r>
              <a:rPr sz="2475" b="1">
                <a:solidFill>
                  <a:srgbClr val="203544"/>
                </a:solidFill>
                <a:latin typeface="Arial"/>
                <a:ea typeface="Arial"/>
                <a:cs typeface="Arial"/>
              </a:rPr>
              <a:t>e</a:t>
            </a:r>
          </a:p>
        </p:txBody>
      </p:sp>
      <p:sp>
        <p:nvSpPr>
          <p:cNvPr id="56" name="矩形 55">
            <a:extLst>
              <a:ext uri="{FF2B5EF4-FFF2-40B4-BE49-F238E27FC236}">
                <a16:creationId xmlns:a16="http://schemas.microsoft.com/office/drawing/2014/main" id="{5490EB70-62E0-44D4-ACED-CA68E41D033C}"/>
              </a:ext>
            </a:extLst>
          </p:cNvPr>
          <p:cNvSpPr>
            <a:spLocks noGrp="1"/>
          </p:cNvSpPr>
          <p:nvPr/>
        </p:nvSpPr>
        <p:spPr>
          <a:xfrm>
            <a:off x="8324850" y="6257925"/>
            <a:ext cx="3629025" cy="3714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2325" b="0">
                <a:solidFill>
                  <a:srgbClr val="203544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203544"/>
                </a:solidFill>
                <a:latin typeface="Arial"/>
                <a:ea typeface="Arial"/>
                <a:cs typeface="Arial"/>
              </a:rPr>
              <a:t>GT neighborhood</a:t>
            </a:r>
          </a:p>
        </p:txBody>
      </p:sp>
      <p:sp>
        <p:nvSpPr>
          <p:cNvPr id="57" name="矩形 56">
            <a:extLst>
              <a:ext uri="{FF2B5EF4-FFF2-40B4-BE49-F238E27FC236}">
                <a16:creationId xmlns:a16="http://schemas.microsoft.com/office/drawing/2014/main" id="{D83C1E1C-EE08-420E-AE05-578F163CD2FD}"/>
              </a:ext>
            </a:extLst>
          </p:cNvPr>
          <p:cNvSpPr>
            <a:spLocks noGrp="1"/>
          </p:cNvSpPr>
          <p:nvPr/>
        </p:nvSpPr>
        <p:spPr>
          <a:xfrm>
            <a:off x="12239625" y="6248400"/>
            <a:ext cx="352425" cy="3714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2475" b="1">
                <a:solidFill>
                  <a:srgbClr val="203544"/>
                </a:solidFill>
                <a:latin typeface="Arial"/>
                <a:ea typeface="Arial"/>
                <a:cs typeface="Arial"/>
              </a:defRPr>
            </a:pPr>
            <a:r>
              <a:rPr sz="2475" b="1">
                <a:solidFill>
                  <a:srgbClr val="203544"/>
                </a:solidFill>
                <a:latin typeface="Arial"/>
                <a:ea typeface="Arial"/>
                <a:cs typeface="Arial"/>
              </a:rPr>
              <a:t>f</a:t>
            </a:r>
          </a:p>
        </p:txBody>
      </p:sp>
      <p:sp>
        <p:nvSpPr>
          <p:cNvPr id="58" name="矩形 57">
            <a:extLst>
              <a:ext uri="{FF2B5EF4-FFF2-40B4-BE49-F238E27FC236}">
                <a16:creationId xmlns:a16="http://schemas.microsoft.com/office/drawing/2014/main" id="{E176CA72-BC98-4B57-AD49-731C6682B77D}"/>
              </a:ext>
            </a:extLst>
          </p:cNvPr>
          <p:cNvSpPr>
            <a:spLocks noGrp="1"/>
          </p:cNvSpPr>
          <p:nvPr/>
        </p:nvSpPr>
        <p:spPr>
          <a:xfrm>
            <a:off x="12658725" y="6257925"/>
            <a:ext cx="3629025" cy="3714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2325" b="0">
                <a:solidFill>
                  <a:srgbClr val="203544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203544"/>
                </a:solidFill>
                <a:latin typeface="Arial"/>
                <a:ea typeface="Arial"/>
                <a:cs typeface="Arial"/>
              </a:rPr>
              <a:t>Find prediction</a:t>
            </a:r>
          </a:p>
        </p:txBody>
      </p:sp>
      <p:sp>
        <p:nvSpPr>
          <p:cNvPr id="59" name="矩形 58">
            <a:extLst>
              <a:ext uri="{FF2B5EF4-FFF2-40B4-BE49-F238E27FC236}">
                <a16:creationId xmlns:a16="http://schemas.microsoft.com/office/drawing/2014/main" id="{6B1EB216-59CB-4CF7-9035-AD68CFB88A03}"/>
              </a:ext>
            </a:extLst>
          </p:cNvPr>
          <p:cNvSpPr>
            <a:spLocks noGrp="1"/>
          </p:cNvSpPr>
          <p:nvPr/>
        </p:nvSpPr>
        <p:spPr>
          <a:xfrm>
            <a:off x="7905750" y="6677025"/>
            <a:ext cx="8382000" cy="381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2250" b="1">
                <a:solidFill>
                  <a:srgbClr val="E9983C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E9983C"/>
                </a:solidFill>
                <a:latin typeface="Arial"/>
                <a:ea typeface="Arial"/>
                <a:cs typeface="Arial"/>
              </a:rPr>
              <a:t>Rank 3: target ligand</a:t>
            </a:r>
          </a:p>
        </p:txBody>
      </p:sp>
      <p:pic>
        <p:nvPicPr>
          <p:cNvPr id="164" name="local_gt" descr="9WUP local_gt; native ChimeraX; source C:\Users\15919\Desktop\论文草稿\画图\formal\E2E_flow_20261003\9wup\renders\local_gt.png; editable crop only"/>
          <p:cNvPicPr>
            <a:picLocks noChangeAspect="1"/>
          </p:cNvPicPr>
          <p:nvPr/>
        </p:nvPicPr>
        <p:blipFill>
          <a:blip r:embed="rId8"/>
          <a:srcRect l="9444" t="1944" r="14236" b="2407"/>
          <a:stretch>
            <a:fillRect/>
          </a:stretch>
        </p:blipFill>
        <p:spPr>
          <a:xfrm>
            <a:off x="8156438" y="7115175"/>
            <a:ext cx="3546749" cy="3333750"/>
          </a:xfrm>
          <a:prstGeom prst="rect">
            <a:avLst/>
          </a:prstGeom>
        </p:spPr>
      </p:pic>
      <p:pic>
        <p:nvPicPr>
          <p:cNvPr id="165" name="local_find" descr="9WUP local_find; native ChimeraX; source C:\Users\15919\Desktop\论文草稿\画图\formal\E2E_flow_20261003\9wup\renders\local_find.png; editable crop only"/>
          <p:cNvPicPr>
            <a:picLocks noChangeAspect="1"/>
          </p:cNvPicPr>
          <p:nvPr/>
        </p:nvPicPr>
        <p:blipFill>
          <a:blip r:embed="rId9"/>
          <a:srcRect l="9444" t="1944" r="14236" b="2407"/>
          <a:stretch>
            <a:fillRect/>
          </a:stretch>
        </p:blipFill>
        <p:spPr>
          <a:xfrm>
            <a:off x="12490313" y="7115175"/>
            <a:ext cx="3546749" cy="3333750"/>
          </a:xfrm>
          <a:prstGeom prst="rect">
            <a:avLst/>
          </a:prstGeom>
        </p:spPr>
      </p:pic>
      <p:sp>
        <p:nvSpPr>
          <p:cNvPr id="62" name="矩形 61">
            <a:extLst>
              <a:ext uri="{FF2B5EF4-FFF2-40B4-BE49-F238E27FC236}">
                <a16:creationId xmlns:a16="http://schemas.microsoft.com/office/drawing/2014/main" id="{EF6A0C52-45FF-4E2E-9B2B-7CDAC3EC0851}"/>
              </a:ext>
            </a:extLst>
          </p:cNvPr>
          <p:cNvSpPr>
            <a:spLocks noGrp="1"/>
          </p:cNvSpPr>
          <p:nvPr/>
        </p:nvSpPr>
        <p:spPr>
          <a:xfrm>
            <a:off x="7905750" y="10553700"/>
            <a:ext cx="8382000" cy="3619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2250" b="0">
                <a:solidFill>
                  <a:srgbClr val="9A907C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9A907C"/>
                </a:solidFill>
                <a:latin typeface="Arial"/>
                <a:ea typeface="Arial"/>
                <a:cs typeface="Arial"/>
              </a:rPr>
              <a:t>Ranks 1–2: free scope skips</a:t>
            </a:r>
          </a:p>
        </p:txBody>
      </p:sp>
      <p:sp>
        <p:nvSpPr>
          <p:cNvPr id="63" name="椭圆 62">
            <a:extLst>
              <a:ext uri="{FF2B5EF4-FFF2-40B4-BE49-F238E27FC236}">
                <a16:creationId xmlns:a16="http://schemas.microsoft.com/office/drawing/2014/main" id="{56289AD2-8CDB-4119-BF59-1659BDB541DC}"/>
              </a:ext>
            </a:extLst>
          </p:cNvPr>
          <p:cNvSpPr>
            <a:spLocks noGrp="1"/>
          </p:cNvSpPr>
          <p:nvPr/>
        </p:nvSpPr>
        <p:spPr>
          <a:xfrm>
            <a:off x="361950" y="10991850"/>
            <a:ext cx="476250" cy="476250"/>
          </a:xfrm>
          <a:prstGeom prst="ellipse">
            <a:avLst/>
          </a:prstGeom>
          <a:solidFill>
            <a:srgbClr val="366755"/>
          </a:solidFill>
          <a:ln w="0">
            <a:noFill/>
          </a:ln>
        </p:spPr>
        <p:txBody>
          <a:bodyPr lIns="0" tIns="0" rIns="0" bIns="0" anchor="ctr"/>
          <a:lstStyle/>
          <a:p>
            <a:pPr algn="ctr">
              <a:defRPr sz="23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64" name="矩形 63">
            <a:extLst>
              <a:ext uri="{FF2B5EF4-FFF2-40B4-BE49-F238E27FC236}">
                <a16:creationId xmlns:a16="http://schemas.microsoft.com/office/drawing/2014/main" id="{597F4AAA-60D0-4244-88FD-AEF83E7EBA34}"/>
              </a:ext>
            </a:extLst>
          </p:cNvPr>
          <p:cNvSpPr>
            <a:spLocks noGrp="1"/>
          </p:cNvSpPr>
          <p:nvPr/>
        </p:nvSpPr>
        <p:spPr>
          <a:xfrm>
            <a:off x="1238250" y="11010900"/>
            <a:ext cx="2000250" cy="4572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2850" b="1">
                <a:solidFill>
                  <a:srgbClr val="366755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366755"/>
                </a:solidFill>
                <a:latin typeface="Arial"/>
                <a:ea typeface="Arial"/>
                <a:cs typeface="Arial"/>
              </a:rPr>
              <a:t>Match</a:t>
            </a:r>
          </a:p>
        </p:txBody>
      </p:sp>
      <p:sp>
        <p:nvSpPr>
          <p:cNvPr id="65" name="矩形 64">
            <a:extLst>
              <a:ext uri="{FF2B5EF4-FFF2-40B4-BE49-F238E27FC236}">
                <a16:creationId xmlns:a16="http://schemas.microsoft.com/office/drawing/2014/main" id="{9D76AC07-393B-4C85-ABFE-D58385BD56F9}"/>
              </a:ext>
            </a:extLst>
          </p:cNvPr>
          <p:cNvSpPr>
            <a:spLocks noGrp="1"/>
          </p:cNvSpPr>
          <p:nvPr/>
        </p:nvSpPr>
        <p:spPr>
          <a:xfrm>
            <a:off x="3524250" y="11039475"/>
            <a:ext cx="12715875" cy="4000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2325" b="0">
                <a:solidFill>
                  <a:srgbClr val="60717A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60717A"/>
                </a:solidFill>
                <a:latin typeface="Arial"/>
                <a:ea typeface="Arial"/>
                <a:cs typeface="Arial"/>
              </a:rPr>
              <a:t>Matching candidate regions to ligand SMILES from the same PDB</a:t>
            </a:r>
          </a:p>
        </p:txBody>
      </p:sp>
      <p:sp>
        <p:nvSpPr>
          <p:cNvPr id="66" name="任意多边形: 形状 65">
            <a:extLst>
              <a:ext uri="{FF2B5EF4-FFF2-40B4-BE49-F238E27FC236}">
                <a16:creationId xmlns:a16="http://schemas.microsoft.com/office/drawing/2014/main" id="{1F62546A-5937-4334-B828-8BD00D10A136}"/>
              </a:ext>
            </a:extLst>
          </p:cNvPr>
          <p:cNvSpPr>
            <a:spLocks noGrp="1"/>
          </p:cNvSpPr>
          <p:nvPr/>
        </p:nvSpPr>
        <p:spPr>
          <a:xfrm>
            <a:off x="1238250" y="11572875"/>
            <a:ext cx="15049500" cy="953"/>
          </a:xfrm>
          <a:custGeom>
            <a:avLst/>
            <a:gdLst/>
            <a:ahLst/>
            <a:cxnLst/>
            <a:rect l="0" t="0" r="0" b="0"/>
            <a:pathLst>
              <a:path w="15049500" h="953">
                <a:moveTo>
                  <a:pt x="0" y="0"/>
                </a:moveTo>
                <a:lnTo>
                  <a:pt x="15049500" y="0"/>
                </a:lnTo>
              </a:path>
            </a:pathLst>
          </a:custGeom>
          <a:noFill/>
          <a:ln w="19050">
            <a:solidFill>
              <a:srgbClr val="E6EDEB"/>
            </a:solidFill>
          </a:ln>
        </p:spPr>
      </p:sp>
      <p:sp>
        <p:nvSpPr>
          <p:cNvPr id="67" name="矩形 66">
            <a:extLst>
              <a:ext uri="{FF2B5EF4-FFF2-40B4-BE49-F238E27FC236}">
                <a16:creationId xmlns:a16="http://schemas.microsoft.com/office/drawing/2014/main" id="{F073EC6A-1958-4EDF-86F9-C1412E7900E4}"/>
              </a:ext>
            </a:extLst>
          </p:cNvPr>
          <p:cNvSpPr>
            <a:spLocks noGrp="1"/>
          </p:cNvSpPr>
          <p:nvPr/>
        </p:nvSpPr>
        <p:spPr>
          <a:xfrm>
            <a:off x="942975" y="11744325"/>
            <a:ext cx="285750" cy="381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2475" b="1">
                <a:solidFill>
                  <a:srgbClr val="203544"/>
                </a:solidFill>
                <a:latin typeface="Arial"/>
                <a:ea typeface="Arial"/>
                <a:cs typeface="Arial"/>
              </a:defRPr>
            </a:pPr>
            <a:r>
              <a:rPr sz="2475" b="1">
                <a:solidFill>
                  <a:srgbClr val="203544"/>
                </a:solidFill>
                <a:latin typeface="Arial"/>
                <a:ea typeface="Arial"/>
                <a:cs typeface="Arial"/>
              </a:rPr>
              <a:t>g</a:t>
            </a:r>
          </a:p>
        </p:txBody>
      </p:sp>
      <p:sp>
        <p:nvSpPr>
          <p:cNvPr id="68" name="Identity 1">
            <a:extLst>
              <a:ext uri="{FF2B5EF4-FFF2-40B4-BE49-F238E27FC236}">
                <a16:creationId xmlns:a16="http://schemas.microsoft.com/office/drawing/2014/main" id="{AD4A9EDB-65FD-456D-9DBE-84FA7A5261F3}"/>
              </a:ext>
            </a:extLst>
          </p:cNvPr>
          <p:cNvSpPr>
            <a:spLocks noGrp="1"/>
          </p:cNvSpPr>
          <p:nvPr/>
        </p:nvSpPr>
        <p:spPr>
          <a:xfrm>
            <a:off x="1238250" y="11715750"/>
            <a:ext cx="3562350" cy="2857500"/>
          </a:xfrm>
          <a:prstGeom prst="rect">
            <a:avLst/>
          </a:prstGeom>
          <a:solidFill>
            <a:srgbClr val="FFFFFF"/>
          </a:solidFill>
          <a:ln w="9525">
            <a:solidFill>
              <a:srgbClr val="E6EDEB"/>
            </a:solidFill>
          </a:ln>
        </p:spPr>
      </p:sp>
      <p:sp>
        <p:nvSpPr>
          <p:cNvPr id="69" name="矩形 68">
            <a:extLst>
              <a:ext uri="{FF2B5EF4-FFF2-40B4-BE49-F238E27FC236}">
                <a16:creationId xmlns:a16="http://schemas.microsoft.com/office/drawing/2014/main" id="{5D270341-5FA4-4D28-B396-F375F9C6C7B5}"/>
              </a:ext>
            </a:extLst>
          </p:cNvPr>
          <p:cNvSpPr>
            <a:spLocks noGrp="1"/>
          </p:cNvSpPr>
          <p:nvPr/>
        </p:nvSpPr>
        <p:spPr>
          <a:xfrm>
            <a:off x="1409700" y="11830050"/>
            <a:ext cx="3219450" cy="381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2400" b="0">
                <a:solidFill>
                  <a:srgbClr val="203544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203544"/>
                </a:solidFill>
                <a:latin typeface="Arial"/>
                <a:ea typeface="Arial"/>
                <a:cs typeface="Arial"/>
              </a:rPr>
              <a:t>1  HEM</a:t>
            </a:r>
          </a:p>
        </p:txBody>
      </p:sp>
      <p:pic>
        <p:nvPicPr>
          <p:cNvPr id="174" name="图形 173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/>
        </p:blipFill>
        <p:spPr>
          <a:xfrm>
            <a:off x="1587500" y="12230100"/>
            <a:ext cx="2863850" cy="2095500"/>
          </a:xfrm>
          <a:prstGeom prst="rect">
            <a:avLst/>
          </a:prstGeom>
        </p:spPr>
      </p:pic>
      <p:sp>
        <p:nvSpPr>
          <p:cNvPr id="71" name="Identity 2">
            <a:extLst>
              <a:ext uri="{FF2B5EF4-FFF2-40B4-BE49-F238E27FC236}">
                <a16:creationId xmlns:a16="http://schemas.microsoft.com/office/drawing/2014/main" id="{73A0787B-FA7D-4C37-AA61-47441D4EF1B6}"/>
              </a:ext>
            </a:extLst>
          </p:cNvPr>
          <p:cNvSpPr>
            <a:spLocks noGrp="1"/>
          </p:cNvSpPr>
          <p:nvPr/>
        </p:nvSpPr>
        <p:spPr>
          <a:xfrm>
            <a:off x="5067300" y="11715750"/>
            <a:ext cx="3562350" cy="2857500"/>
          </a:xfrm>
          <a:prstGeom prst="rect">
            <a:avLst/>
          </a:prstGeom>
          <a:solidFill>
            <a:srgbClr val="FFFFFF"/>
          </a:solidFill>
          <a:ln w="9525">
            <a:solidFill>
              <a:srgbClr val="E6EDEB"/>
            </a:solidFill>
          </a:ln>
        </p:spPr>
      </p:sp>
      <p:sp>
        <p:nvSpPr>
          <p:cNvPr id="72" name="矩形 71">
            <a:extLst>
              <a:ext uri="{FF2B5EF4-FFF2-40B4-BE49-F238E27FC236}">
                <a16:creationId xmlns:a16="http://schemas.microsoft.com/office/drawing/2014/main" id="{99805F0E-F80F-4620-9D21-E5AFEC85AF57}"/>
              </a:ext>
            </a:extLst>
          </p:cNvPr>
          <p:cNvSpPr>
            <a:spLocks noGrp="1"/>
          </p:cNvSpPr>
          <p:nvPr/>
        </p:nvSpPr>
        <p:spPr>
          <a:xfrm>
            <a:off x="5238750" y="11830050"/>
            <a:ext cx="3219450" cy="381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2400" b="0">
                <a:solidFill>
                  <a:srgbClr val="203544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203544"/>
                </a:solidFill>
                <a:latin typeface="Arial"/>
                <a:ea typeface="Arial"/>
                <a:cs typeface="Arial"/>
              </a:rPr>
              <a:t>2  Identity2</a:t>
            </a:r>
          </a:p>
        </p:txBody>
      </p:sp>
      <p:pic>
        <p:nvPicPr>
          <p:cNvPr id="177" name="图形 176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/>
        </p:blipFill>
        <p:spPr>
          <a:xfrm>
            <a:off x="5308324" y="12230100"/>
            <a:ext cx="3080301" cy="2095500"/>
          </a:xfrm>
          <a:prstGeom prst="rect">
            <a:avLst/>
          </a:prstGeom>
        </p:spPr>
      </p:pic>
      <p:sp>
        <p:nvSpPr>
          <p:cNvPr id="74" name="Identity 3">
            <a:extLst>
              <a:ext uri="{FF2B5EF4-FFF2-40B4-BE49-F238E27FC236}">
                <a16:creationId xmlns:a16="http://schemas.microsoft.com/office/drawing/2014/main" id="{644BF074-65C6-4DF0-8C4E-11098B1B2CE2}"/>
              </a:ext>
            </a:extLst>
          </p:cNvPr>
          <p:cNvSpPr>
            <a:spLocks noGrp="1"/>
          </p:cNvSpPr>
          <p:nvPr/>
        </p:nvSpPr>
        <p:spPr>
          <a:xfrm>
            <a:off x="8896350" y="11715750"/>
            <a:ext cx="3562350" cy="2857500"/>
          </a:xfrm>
          <a:prstGeom prst="rect">
            <a:avLst/>
          </a:prstGeom>
          <a:solidFill>
            <a:srgbClr val="FFFFFF"/>
          </a:solidFill>
          <a:ln w="28575">
            <a:solidFill>
              <a:srgbClr val="3169B3"/>
            </a:solidFill>
          </a:ln>
        </p:spPr>
      </p:sp>
      <p:sp>
        <p:nvSpPr>
          <p:cNvPr id="75" name="矩形 74">
            <a:extLst>
              <a:ext uri="{FF2B5EF4-FFF2-40B4-BE49-F238E27FC236}">
                <a16:creationId xmlns:a16="http://schemas.microsoft.com/office/drawing/2014/main" id="{463C7D47-DCE3-4DE8-B57A-2787A707F49B}"/>
              </a:ext>
            </a:extLst>
          </p:cNvPr>
          <p:cNvSpPr>
            <a:spLocks noGrp="1"/>
          </p:cNvSpPr>
          <p:nvPr/>
        </p:nvSpPr>
        <p:spPr>
          <a:xfrm>
            <a:off x="9067800" y="11830050"/>
            <a:ext cx="3219450" cy="381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2400" b="1">
                <a:solidFill>
                  <a:srgbClr val="3169B3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3169B3"/>
                </a:solidFill>
                <a:latin typeface="Arial"/>
                <a:ea typeface="Arial"/>
                <a:cs typeface="Arial"/>
              </a:rPr>
              <a:t>3  FMN</a:t>
            </a:r>
          </a:p>
        </p:txBody>
      </p:sp>
      <p:pic>
        <p:nvPicPr>
          <p:cNvPr id="180" name="图形 179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/>
        </p:blipFill>
        <p:spPr>
          <a:xfrm>
            <a:off x="9039225" y="12286575"/>
            <a:ext cx="3276600" cy="1982550"/>
          </a:xfrm>
          <a:prstGeom prst="rect">
            <a:avLst/>
          </a:prstGeom>
        </p:spPr>
      </p:pic>
      <p:sp>
        <p:nvSpPr>
          <p:cNvPr id="77" name="矩形 76">
            <a:extLst>
              <a:ext uri="{FF2B5EF4-FFF2-40B4-BE49-F238E27FC236}">
                <a16:creationId xmlns:a16="http://schemas.microsoft.com/office/drawing/2014/main" id="{A1BEEC26-8C73-47B2-9090-D1E25A38247B}"/>
              </a:ext>
            </a:extLst>
          </p:cNvPr>
          <p:cNvSpPr>
            <a:spLocks noGrp="1"/>
          </p:cNvSpPr>
          <p:nvPr/>
        </p:nvSpPr>
        <p:spPr>
          <a:xfrm>
            <a:off x="9067800" y="14249400"/>
            <a:ext cx="3219450" cy="285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2100" b="1">
                <a:solidFill>
                  <a:srgbClr val="3169B3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3169B3"/>
                </a:solidFill>
                <a:latin typeface="Arial"/>
                <a:ea typeface="Arial"/>
                <a:cs typeface="Arial"/>
              </a:rPr>
              <a:t>Matched identity</a:t>
            </a:r>
          </a:p>
        </p:txBody>
      </p:sp>
      <p:sp>
        <p:nvSpPr>
          <p:cNvPr id="78" name="Identity 4">
            <a:extLst>
              <a:ext uri="{FF2B5EF4-FFF2-40B4-BE49-F238E27FC236}">
                <a16:creationId xmlns:a16="http://schemas.microsoft.com/office/drawing/2014/main" id="{C569D45F-855A-475D-81C8-3AA463B67B99}"/>
              </a:ext>
            </a:extLst>
          </p:cNvPr>
          <p:cNvSpPr>
            <a:spLocks noGrp="1"/>
          </p:cNvSpPr>
          <p:nvPr/>
        </p:nvSpPr>
        <p:spPr>
          <a:xfrm>
            <a:off x="12725400" y="11715750"/>
            <a:ext cx="3562350" cy="2857500"/>
          </a:xfrm>
          <a:prstGeom prst="rect">
            <a:avLst/>
          </a:prstGeom>
          <a:solidFill>
            <a:srgbClr val="FFFFFF"/>
          </a:solidFill>
          <a:ln w="9525">
            <a:solidFill>
              <a:srgbClr val="E6EDEB"/>
            </a:solidFill>
          </a:ln>
        </p:spPr>
      </p:sp>
      <p:sp>
        <p:nvSpPr>
          <p:cNvPr id="79" name="矩形 78">
            <a:extLst>
              <a:ext uri="{FF2B5EF4-FFF2-40B4-BE49-F238E27FC236}">
                <a16:creationId xmlns:a16="http://schemas.microsoft.com/office/drawing/2014/main" id="{A0F4ECF0-E4C6-4C6A-8EDA-FAE0907325FB}"/>
              </a:ext>
            </a:extLst>
          </p:cNvPr>
          <p:cNvSpPr>
            <a:spLocks noGrp="1"/>
          </p:cNvSpPr>
          <p:nvPr/>
        </p:nvSpPr>
        <p:spPr>
          <a:xfrm>
            <a:off x="12896850" y="11830050"/>
            <a:ext cx="3219450" cy="381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2400" b="0">
                <a:solidFill>
                  <a:srgbClr val="203544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203544"/>
                </a:solidFill>
                <a:latin typeface="Arial"/>
                <a:ea typeface="Arial"/>
                <a:cs typeface="Arial"/>
              </a:rPr>
              <a:t>4  Identity4</a:t>
            </a:r>
          </a:p>
        </p:txBody>
      </p:sp>
      <p:pic>
        <p:nvPicPr>
          <p:cNvPr id="184" name="图形 183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/>
        </p:blipFill>
        <p:spPr>
          <a:xfrm>
            <a:off x="12868275" y="12338824"/>
            <a:ext cx="3276600" cy="1878051"/>
          </a:xfrm>
          <a:prstGeom prst="rect">
            <a:avLst/>
          </a:prstGeom>
        </p:spPr>
      </p:pic>
      <p:sp>
        <p:nvSpPr>
          <p:cNvPr id="81" name="椭圆 80">
            <a:extLst>
              <a:ext uri="{FF2B5EF4-FFF2-40B4-BE49-F238E27FC236}">
                <a16:creationId xmlns:a16="http://schemas.microsoft.com/office/drawing/2014/main" id="{3F3E5F11-E158-402D-B706-5482C54B5857}"/>
              </a:ext>
            </a:extLst>
          </p:cNvPr>
          <p:cNvSpPr>
            <a:spLocks noGrp="1"/>
          </p:cNvSpPr>
          <p:nvPr/>
        </p:nvSpPr>
        <p:spPr>
          <a:xfrm>
            <a:off x="361950" y="14763750"/>
            <a:ext cx="476250" cy="476250"/>
          </a:xfrm>
          <a:prstGeom prst="ellipse">
            <a:avLst/>
          </a:prstGeom>
          <a:solidFill>
            <a:srgbClr val="366755"/>
          </a:solidFill>
          <a:ln w="0">
            <a:noFill/>
          </a:ln>
        </p:spPr>
        <p:txBody>
          <a:bodyPr lIns="0" tIns="0" rIns="0" bIns="0" anchor="ctr"/>
          <a:lstStyle/>
          <a:p>
            <a:pPr algn="ctr">
              <a:defRPr sz="23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82" name="矩形 81">
            <a:extLst>
              <a:ext uri="{FF2B5EF4-FFF2-40B4-BE49-F238E27FC236}">
                <a16:creationId xmlns:a16="http://schemas.microsoft.com/office/drawing/2014/main" id="{55538D2C-1612-4FC6-9B98-5DBC3DA4245E}"/>
              </a:ext>
            </a:extLst>
          </p:cNvPr>
          <p:cNvSpPr>
            <a:spLocks noGrp="1"/>
          </p:cNvSpPr>
          <p:nvPr/>
        </p:nvSpPr>
        <p:spPr>
          <a:xfrm>
            <a:off x="1238250" y="14782800"/>
            <a:ext cx="2000250" cy="4572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2850" b="1">
                <a:solidFill>
                  <a:srgbClr val="366755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366755"/>
                </a:solidFill>
                <a:latin typeface="Arial"/>
                <a:ea typeface="Arial"/>
                <a:cs typeface="Arial"/>
              </a:rPr>
              <a:t>Build</a:t>
            </a:r>
          </a:p>
        </p:txBody>
      </p:sp>
      <p:sp>
        <p:nvSpPr>
          <p:cNvPr id="83" name="矩形 82">
            <a:extLst>
              <a:ext uri="{FF2B5EF4-FFF2-40B4-BE49-F238E27FC236}">
                <a16:creationId xmlns:a16="http://schemas.microsoft.com/office/drawing/2014/main" id="{D1FB312D-6A7D-4C79-9A8C-B0ED2E42B724}"/>
              </a:ext>
            </a:extLst>
          </p:cNvPr>
          <p:cNvSpPr>
            <a:spLocks noGrp="1"/>
          </p:cNvSpPr>
          <p:nvPr/>
        </p:nvSpPr>
        <p:spPr>
          <a:xfrm>
            <a:off x="3524250" y="14811375"/>
            <a:ext cx="12715875" cy="4000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2325" b="0">
                <a:solidFill>
                  <a:srgbClr val="60717A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60717A"/>
                </a:solidFill>
                <a:latin typeface="Arial"/>
                <a:ea typeface="Arial"/>
                <a:cs typeface="Arial"/>
              </a:rPr>
              <a:t>Reconstructing ligand poses with PocketXMol-tuned</a:t>
            </a:r>
          </a:p>
        </p:txBody>
      </p:sp>
      <p:sp>
        <p:nvSpPr>
          <p:cNvPr id="84" name="任意多边形: 形状 83">
            <a:extLst>
              <a:ext uri="{FF2B5EF4-FFF2-40B4-BE49-F238E27FC236}">
                <a16:creationId xmlns:a16="http://schemas.microsoft.com/office/drawing/2014/main" id="{C4E98B05-4EFE-49A4-AD22-3BC6112FA94F}"/>
              </a:ext>
            </a:extLst>
          </p:cNvPr>
          <p:cNvSpPr>
            <a:spLocks noGrp="1"/>
          </p:cNvSpPr>
          <p:nvPr/>
        </p:nvSpPr>
        <p:spPr>
          <a:xfrm>
            <a:off x="1238250" y="15344775"/>
            <a:ext cx="15049500" cy="953"/>
          </a:xfrm>
          <a:custGeom>
            <a:avLst/>
            <a:gdLst/>
            <a:ahLst/>
            <a:cxnLst/>
            <a:rect l="0" t="0" r="0" b="0"/>
            <a:pathLst>
              <a:path w="15049500" h="953">
                <a:moveTo>
                  <a:pt x="0" y="0"/>
                </a:moveTo>
                <a:lnTo>
                  <a:pt x="15049500" y="0"/>
                </a:lnTo>
              </a:path>
            </a:pathLst>
          </a:custGeom>
          <a:noFill/>
          <a:ln w="19050">
            <a:solidFill>
              <a:srgbClr val="E6EDEB"/>
            </a:solidFill>
          </a:ln>
        </p:spPr>
      </p:sp>
      <p:sp>
        <p:nvSpPr>
          <p:cNvPr id="85" name="矩形 84">
            <a:extLst>
              <a:ext uri="{FF2B5EF4-FFF2-40B4-BE49-F238E27FC236}">
                <a16:creationId xmlns:a16="http://schemas.microsoft.com/office/drawing/2014/main" id="{93C27F31-23FA-4632-B4AA-001EB3D8DCC0}"/>
              </a:ext>
            </a:extLst>
          </p:cNvPr>
          <p:cNvSpPr>
            <a:spLocks noGrp="1"/>
          </p:cNvSpPr>
          <p:nvPr/>
        </p:nvSpPr>
        <p:spPr>
          <a:xfrm>
            <a:off x="1238250" y="15525750"/>
            <a:ext cx="352425" cy="3714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2475" b="1">
                <a:solidFill>
                  <a:srgbClr val="203544"/>
                </a:solidFill>
                <a:latin typeface="Arial"/>
                <a:ea typeface="Arial"/>
                <a:cs typeface="Arial"/>
              </a:defRPr>
            </a:pPr>
            <a:r>
              <a:rPr sz="2475" b="1">
                <a:solidFill>
                  <a:srgbClr val="203544"/>
                </a:solidFill>
                <a:latin typeface="Arial"/>
                <a:ea typeface="Arial"/>
                <a:cs typeface="Arial"/>
              </a:rPr>
              <a:t>h</a:t>
            </a:r>
          </a:p>
        </p:txBody>
      </p:sp>
      <p:sp>
        <p:nvSpPr>
          <p:cNvPr id="86" name="矩形 85">
            <a:extLst>
              <a:ext uri="{FF2B5EF4-FFF2-40B4-BE49-F238E27FC236}">
                <a16:creationId xmlns:a16="http://schemas.microsoft.com/office/drawing/2014/main" id="{EF53C48B-0B84-46FE-9185-3F4D5E31DB4E}"/>
              </a:ext>
            </a:extLst>
          </p:cNvPr>
          <p:cNvSpPr>
            <a:spLocks noGrp="1"/>
          </p:cNvSpPr>
          <p:nvPr/>
        </p:nvSpPr>
        <p:spPr>
          <a:xfrm>
            <a:off x="1657350" y="15535275"/>
            <a:ext cx="4152900" cy="3714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2325" b="0">
                <a:solidFill>
                  <a:srgbClr val="203544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203544"/>
                </a:solidFill>
                <a:latin typeface="Arial"/>
                <a:ea typeface="Arial"/>
                <a:cs typeface="Arial"/>
              </a:rPr>
              <a:t>Receptor surface</a:t>
            </a:r>
          </a:p>
        </p:txBody>
      </p:sp>
      <p:pic>
        <p:nvPicPr>
          <p:cNvPr id="191" name="dock_receptor" descr="9WUP dock_receptor; native ChimeraX; source C:\Users\15919\Desktop\论文草稿\画图\formal\E2E_flow_20261003\9wup\renders\dock_receptor.png; editable crop only"/>
          <p:cNvPicPr>
            <a:picLocks noChangeAspect="1"/>
          </p:cNvPicPr>
          <p:nvPr/>
        </p:nvPicPr>
        <p:blipFill>
          <a:blip r:embed="rId14"/>
          <a:srcRect l="4861" r="8889"/>
          <a:stretch>
            <a:fillRect/>
          </a:stretch>
        </p:blipFill>
        <p:spPr>
          <a:xfrm>
            <a:off x="1881188" y="15944850"/>
            <a:ext cx="3286125" cy="2857500"/>
          </a:xfrm>
          <a:prstGeom prst="rect">
            <a:avLst/>
          </a:prstGeom>
        </p:spPr>
      </p:pic>
      <p:sp>
        <p:nvSpPr>
          <p:cNvPr id="88" name="矩形 87">
            <a:extLst>
              <a:ext uri="{FF2B5EF4-FFF2-40B4-BE49-F238E27FC236}">
                <a16:creationId xmlns:a16="http://schemas.microsoft.com/office/drawing/2014/main" id="{7A480862-F8FE-47F8-B242-9CD174F692FF}"/>
              </a:ext>
            </a:extLst>
          </p:cNvPr>
          <p:cNvSpPr>
            <a:spLocks noGrp="1"/>
          </p:cNvSpPr>
          <p:nvPr/>
        </p:nvSpPr>
        <p:spPr>
          <a:xfrm>
            <a:off x="6477000" y="15525750"/>
            <a:ext cx="352425" cy="3714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2475" b="1">
                <a:solidFill>
                  <a:srgbClr val="203544"/>
                </a:solidFill>
                <a:latin typeface="Arial"/>
                <a:ea typeface="Arial"/>
                <a:cs typeface="Arial"/>
              </a:defRPr>
            </a:pPr>
            <a:r>
              <a:rPr sz="2475" b="1">
                <a:solidFill>
                  <a:srgbClr val="203544"/>
                </a:solidFill>
                <a:latin typeface="Arial"/>
                <a:ea typeface="Arial"/>
                <a:cs typeface="Arial"/>
              </a:rPr>
              <a:t>i</a:t>
            </a:r>
          </a:p>
        </p:txBody>
      </p:sp>
      <p:sp>
        <p:nvSpPr>
          <p:cNvPr id="89" name="矩形 88">
            <a:extLst>
              <a:ext uri="{FF2B5EF4-FFF2-40B4-BE49-F238E27FC236}">
                <a16:creationId xmlns:a16="http://schemas.microsoft.com/office/drawing/2014/main" id="{C65502F2-6DCC-43A9-AA04-30E59F1EF59F}"/>
              </a:ext>
            </a:extLst>
          </p:cNvPr>
          <p:cNvSpPr>
            <a:spLocks noGrp="1"/>
          </p:cNvSpPr>
          <p:nvPr/>
        </p:nvSpPr>
        <p:spPr>
          <a:xfrm>
            <a:off x="6896100" y="15535275"/>
            <a:ext cx="4152900" cy="3714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2325" b="0">
                <a:solidFill>
                  <a:srgbClr val="203544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203544"/>
                </a:solidFill>
                <a:latin typeface="Arial"/>
                <a:ea typeface="Arial"/>
                <a:cs typeface="Arial"/>
              </a:rPr>
              <a:t>Experimental density</a:t>
            </a:r>
          </a:p>
        </p:txBody>
      </p:sp>
      <p:pic>
        <p:nvPicPr>
          <p:cNvPr id="194" name="dock_density" descr="9WUP dock_density; native ChimeraX; source C:\Users\15919\Desktop\论文草稿\画图\formal\E2E_flow_20261003\9wup\renders\dock_density.png; editable crop only"/>
          <p:cNvPicPr>
            <a:picLocks noChangeAspect="1"/>
          </p:cNvPicPr>
          <p:nvPr/>
        </p:nvPicPr>
        <p:blipFill>
          <a:blip r:embed="rId15"/>
          <a:srcRect l="4861" r="8889"/>
          <a:stretch>
            <a:fillRect/>
          </a:stretch>
        </p:blipFill>
        <p:spPr>
          <a:xfrm>
            <a:off x="7119938" y="15944850"/>
            <a:ext cx="3286125" cy="2857500"/>
          </a:xfrm>
          <a:prstGeom prst="rect">
            <a:avLst/>
          </a:prstGeom>
        </p:spPr>
      </p:pic>
      <p:sp>
        <p:nvSpPr>
          <p:cNvPr id="91" name="矩形 90">
            <a:extLst>
              <a:ext uri="{FF2B5EF4-FFF2-40B4-BE49-F238E27FC236}">
                <a16:creationId xmlns:a16="http://schemas.microsoft.com/office/drawing/2014/main" id="{2D308A95-E2D5-4B6B-8AE6-D073492FBEF6}"/>
              </a:ext>
            </a:extLst>
          </p:cNvPr>
          <p:cNvSpPr>
            <a:spLocks noGrp="1"/>
          </p:cNvSpPr>
          <p:nvPr/>
        </p:nvSpPr>
        <p:spPr>
          <a:xfrm>
            <a:off x="11715750" y="15525750"/>
            <a:ext cx="352425" cy="3714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2475" b="1">
                <a:solidFill>
                  <a:srgbClr val="203544"/>
                </a:solidFill>
                <a:latin typeface="Arial"/>
                <a:ea typeface="Arial"/>
                <a:cs typeface="Arial"/>
              </a:defRPr>
            </a:pPr>
            <a:r>
              <a:rPr sz="2475" b="1">
                <a:solidFill>
                  <a:srgbClr val="203544"/>
                </a:solidFill>
                <a:latin typeface="Arial"/>
                <a:ea typeface="Arial"/>
                <a:cs typeface="Arial"/>
              </a:rPr>
              <a:t>j</a:t>
            </a:r>
          </a:p>
        </p:txBody>
      </p:sp>
      <p:sp>
        <p:nvSpPr>
          <p:cNvPr id="92" name="矩形 91">
            <a:extLst>
              <a:ext uri="{FF2B5EF4-FFF2-40B4-BE49-F238E27FC236}">
                <a16:creationId xmlns:a16="http://schemas.microsoft.com/office/drawing/2014/main" id="{FB374925-F197-45DA-890F-C81419E49D80}"/>
              </a:ext>
            </a:extLst>
          </p:cNvPr>
          <p:cNvSpPr>
            <a:spLocks noGrp="1"/>
          </p:cNvSpPr>
          <p:nvPr/>
        </p:nvSpPr>
        <p:spPr>
          <a:xfrm>
            <a:off x="12134850" y="15535275"/>
            <a:ext cx="4152900" cy="3714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2325" b="0">
                <a:solidFill>
                  <a:srgbClr val="203544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203544"/>
                </a:solidFill>
                <a:latin typeface="Arial"/>
                <a:ea typeface="Arial"/>
                <a:cs typeface="Arial"/>
              </a:rPr>
              <a:t>Deposited pose overlay</a:t>
            </a:r>
          </a:p>
        </p:txBody>
      </p:sp>
      <p:pic>
        <p:nvPicPr>
          <p:cNvPr id="197" name="dock_gt_overlay" descr="9WUP dock_gt_overlay; native ChimeraX; source C:\Users\15919\Desktop\论文草稿\画图\formal\E2E_flow_20261003\9wup\renders\dock_gt_overlay.png; editable crop only"/>
          <p:cNvPicPr>
            <a:picLocks noChangeAspect="1"/>
          </p:cNvPicPr>
          <p:nvPr/>
        </p:nvPicPr>
        <p:blipFill>
          <a:blip r:embed="rId16"/>
          <a:srcRect l="4861" r="8889"/>
          <a:stretch>
            <a:fillRect/>
          </a:stretch>
        </p:blipFill>
        <p:spPr>
          <a:xfrm>
            <a:off x="12358688" y="15944850"/>
            <a:ext cx="3286125" cy="2857500"/>
          </a:xfrm>
          <a:prstGeom prst="rect">
            <a:avLst/>
          </a:prstGeom>
        </p:spPr>
      </p:pic>
      <p:sp>
        <p:nvSpPr>
          <p:cNvPr id="94" name="矩形 93">
            <a:extLst>
              <a:ext uri="{FF2B5EF4-FFF2-40B4-BE49-F238E27FC236}">
                <a16:creationId xmlns:a16="http://schemas.microsoft.com/office/drawing/2014/main" id="{175749A7-01C1-45A7-8825-47935EB8667C}"/>
              </a:ext>
            </a:extLst>
          </p:cNvPr>
          <p:cNvSpPr>
            <a:spLocks noGrp="1"/>
          </p:cNvSpPr>
          <p:nvPr/>
        </p:nvSpPr>
        <p:spPr>
          <a:xfrm>
            <a:off x="1238250" y="18954750"/>
            <a:ext cx="15049500" cy="4476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2550" b="1">
                <a:solidFill>
                  <a:srgbClr val="3169B3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3169B3"/>
                </a:solidFill>
                <a:latin typeface="Arial"/>
                <a:ea typeface="Arial"/>
                <a:cs typeface="Arial"/>
              </a:rPr>
              <a:t>RMSD 0.52 Å</a:t>
            </a:r>
          </a:p>
        </p:txBody>
      </p:sp>
      <p:sp>
        <p:nvSpPr>
          <p:cNvPr id="95" name="任意多边形: 形状 94">
            <a:extLst>
              <a:ext uri="{FF2B5EF4-FFF2-40B4-BE49-F238E27FC236}">
                <a16:creationId xmlns:a16="http://schemas.microsoft.com/office/drawing/2014/main" id="{C694928F-B967-4D8A-8C92-576CB89ABA4F}"/>
              </a:ext>
            </a:extLst>
          </p:cNvPr>
          <p:cNvSpPr>
            <a:spLocks noGrp="1"/>
          </p:cNvSpPr>
          <p:nvPr/>
        </p:nvSpPr>
        <p:spPr>
          <a:xfrm>
            <a:off x="1238250" y="19697700"/>
            <a:ext cx="304800" cy="953"/>
          </a:xfrm>
          <a:custGeom>
            <a:avLst/>
            <a:gdLst/>
            <a:ahLst/>
            <a:cxnLst/>
            <a:rect l="0" t="0" r="0" b="0"/>
            <a:pathLst>
              <a:path w="304800" h="953">
                <a:moveTo>
                  <a:pt x="0" y="0"/>
                </a:moveTo>
                <a:lnTo>
                  <a:pt x="304800" y="0"/>
                </a:lnTo>
              </a:path>
            </a:pathLst>
          </a:custGeom>
          <a:noFill/>
          <a:ln w="47625">
            <a:solidFill>
              <a:srgbClr val="81A58B"/>
            </a:solidFill>
          </a:ln>
        </p:spPr>
      </p:sp>
      <p:sp>
        <p:nvSpPr>
          <p:cNvPr id="96" name="矩形 95">
            <a:extLst>
              <a:ext uri="{FF2B5EF4-FFF2-40B4-BE49-F238E27FC236}">
                <a16:creationId xmlns:a16="http://schemas.microsoft.com/office/drawing/2014/main" id="{16E5C265-24AB-4B9F-96B4-EF05BC060F1B}"/>
              </a:ext>
            </a:extLst>
          </p:cNvPr>
          <p:cNvSpPr>
            <a:spLocks noGrp="1"/>
          </p:cNvSpPr>
          <p:nvPr/>
        </p:nvSpPr>
        <p:spPr>
          <a:xfrm>
            <a:off x="1647825" y="19545300"/>
            <a:ext cx="2571750" cy="3238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2025" b="0">
                <a:solidFill>
                  <a:srgbClr val="60717A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60717A"/>
                </a:solidFill>
                <a:latin typeface="Arial"/>
                <a:ea typeface="Arial"/>
                <a:cs typeface="Arial"/>
              </a:rPr>
              <a:t>Receptor</a:t>
            </a:r>
          </a:p>
        </p:txBody>
      </p:sp>
      <p:sp>
        <p:nvSpPr>
          <p:cNvPr id="97" name="任意多边形: 形状 96">
            <a:extLst>
              <a:ext uri="{FF2B5EF4-FFF2-40B4-BE49-F238E27FC236}">
                <a16:creationId xmlns:a16="http://schemas.microsoft.com/office/drawing/2014/main" id="{F04618D4-AEEB-400F-997C-8009EE537C73}"/>
              </a:ext>
            </a:extLst>
          </p:cNvPr>
          <p:cNvSpPr>
            <a:spLocks noGrp="1"/>
          </p:cNvSpPr>
          <p:nvPr/>
        </p:nvSpPr>
        <p:spPr>
          <a:xfrm>
            <a:off x="4286250" y="19697700"/>
            <a:ext cx="304800" cy="953"/>
          </a:xfrm>
          <a:custGeom>
            <a:avLst/>
            <a:gdLst/>
            <a:ahLst/>
            <a:cxnLst/>
            <a:rect l="0" t="0" r="0" b="0"/>
            <a:pathLst>
              <a:path w="304800" h="953">
                <a:moveTo>
                  <a:pt x="0" y="0"/>
                </a:moveTo>
                <a:lnTo>
                  <a:pt x="304800" y="0"/>
                </a:lnTo>
              </a:path>
            </a:pathLst>
          </a:custGeom>
          <a:noFill/>
          <a:ln w="47625">
            <a:solidFill>
              <a:srgbClr val="516773"/>
            </a:solidFill>
          </a:ln>
        </p:spPr>
      </p:sp>
      <p:sp>
        <p:nvSpPr>
          <p:cNvPr id="98" name="矩形 97">
            <a:extLst>
              <a:ext uri="{FF2B5EF4-FFF2-40B4-BE49-F238E27FC236}">
                <a16:creationId xmlns:a16="http://schemas.microsoft.com/office/drawing/2014/main" id="{9E7961E8-DB32-4EDC-88FA-CEB6A6176704}"/>
              </a:ext>
            </a:extLst>
          </p:cNvPr>
          <p:cNvSpPr>
            <a:spLocks noGrp="1"/>
          </p:cNvSpPr>
          <p:nvPr/>
        </p:nvSpPr>
        <p:spPr>
          <a:xfrm>
            <a:off x="4695825" y="19545300"/>
            <a:ext cx="2571750" cy="3238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2025" b="0">
                <a:solidFill>
                  <a:srgbClr val="60717A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60717A"/>
                </a:solidFill>
                <a:latin typeface="Arial"/>
                <a:ea typeface="Arial"/>
                <a:cs typeface="Arial"/>
              </a:rPr>
              <a:t>Density</a:t>
            </a:r>
          </a:p>
        </p:txBody>
      </p:sp>
      <p:sp>
        <p:nvSpPr>
          <p:cNvPr id="99" name="任意多边形: 形状 98">
            <a:extLst>
              <a:ext uri="{FF2B5EF4-FFF2-40B4-BE49-F238E27FC236}">
                <a16:creationId xmlns:a16="http://schemas.microsoft.com/office/drawing/2014/main" id="{942492D7-62BE-4518-A916-485480A1A708}"/>
              </a:ext>
            </a:extLst>
          </p:cNvPr>
          <p:cNvSpPr>
            <a:spLocks noGrp="1"/>
          </p:cNvSpPr>
          <p:nvPr/>
        </p:nvSpPr>
        <p:spPr>
          <a:xfrm>
            <a:off x="7334250" y="19697700"/>
            <a:ext cx="304800" cy="953"/>
          </a:xfrm>
          <a:custGeom>
            <a:avLst/>
            <a:gdLst/>
            <a:ahLst/>
            <a:cxnLst/>
            <a:rect l="0" t="0" r="0" b="0"/>
            <a:pathLst>
              <a:path w="304800" h="953">
                <a:moveTo>
                  <a:pt x="0" y="0"/>
                </a:moveTo>
                <a:lnTo>
                  <a:pt x="304800" y="0"/>
                </a:lnTo>
              </a:path>
            </a:pathLst>
          </a:custGeom>
          <a:noFill/>
          <a:ln w="47625">
            <a:solidFill>
              <a:srgbClr val="E9983C"/>
            </a:solidFill>
          </a:ln>
        </p:spPr>
      </p:sp>
      <p:sp>
        <p:nvSpPr>
          <p:cNvPr id="100" name="矩形 99">
            <a:extLst>
              <a:ext uri="{FF2B5EF4-FFF2-40B4-BE49-F238E27FC236}">
                <a16:creationId xmlns:a16="http://schemas.microsoft.com/office/drawing/2014/main" id="{94B7D59E-38DB-417A-AEA5-A7856D25B473}"/>
              </a:ext>
            </a:extLst>
          </p:cNvPr>
          <p:cNvSpPr>
            <a:spLocks noGrp="1"/>
          </p:cNvSpPr>
          <p:nvPr/>
        </p:nvSpPr>
        <p:spPr>
          <a:xfrm>
            <a:off x="7743825" y="19545300"/>
            <a:ext cx="2571750" cy="3238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2025" b="0">
                <a:solidFill>
                  <a:srgbClr val="60717A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60717A"/>
                </a:solidFill>
                <a:latin typeface="Arial"/>
                <a:ea typeface="Arial"/>
                <a:cs typeface="Arial"/>
              </a:rPr>
              <a:t>Target blob</a:t>
            </a:r>
          </a:p>
        </p:txBody>
      </p:sp>
      <p:sp>
        <p:nvSpPr>
          <p:cNvPr id="101" name="任意多边形: 形状 100">
            <a:extLst>
              <a:ext uri="{FF2B5EF4-FFF2-40B4-BE49-F238E27FC236}">
                <a16:creationId xmlns:a16="http://schemas.microsoft.com/office/drawing/2014/main" id="{39ED7D58-5D99-4528-B181-AD89CE43676C}"/>
              </a:ext>
            </a:extLst>
          </p:cNvPr>
          <p:cNvSpPr>
            <a:spLocks noGrp="1"/>
          </p:cNvSpPr>
          <p:nvPr/>
        </p:nvSpPr>
        <p:spPr>
          <a:xfrm>
            <a:off x="10382250" y="19697700"/>
            <a:ext cx="304800" cy="953"/>
          </a:xfrm>
          <a:custGeom>
            <a:avLst/>
            <a:gdLst/>
            <a:ahLst/>
            <a:cxnLst/>
            <a:rect l="0" t="0" r="0" b="0"/>
            <a:pathLst>
              <a:path w="304800" h="953">
                <a:moveTo>
                  <a:pt x="0" y="0"/>
                </a:moveTo>
                <a:lnTo>
                  <a:pt x="304800" y="0"/>
                </a:lnTo>
              </a:path>
            </a:pathLst>
          </a:custGeom>
          <a:noFill/>
          <a:ln w="47625">
            <a:solidFill>
              <a:srgbClr val="3169B3"/>
            </a:solidFill>
          </a:ln>
        </p:spPr>
      </p:sp>
      <p:sp>
        <p:nvSpPr>
          <p:cNvPr id="102" name="矩形 101">
            <a:extLst>
              <a:ext uri="{FF2B5EF4-FFF2-40B4-BE49-F238E27FC236}">
                <a16:creationId xmlns:a16="http://schemas.microsoft.com/office/drawing/2014/main" id="{D6EBB6FC-F664-4B2F-8CC1-C960FC54E508}"/>
              </a:ext>
            </a:extLst>
          </p:cNvPr>
          <p:cNvSpPr>
            <a:spLocks noGrp="1"/>
          </p:cNvSpPr>
          <p:nvPr/>
        </p:nvSpPr>
        <p:spPr>
          <a:xfrm>
            <a:off x="10791825" y="19545300"/>
            <a:ext cx="2571750" cy="3238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2025" b="0">
                <a:solidFill>
                  <a:srgbClr val="60717A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60717A"/>
                </a:solidFill>
                <a:latin typeface="Arial"/>
                <a:ea typeface="Arial"/>
                <a:cs typeface="Arial"/>
              </a:rPr>
              <a:t>Predicted pose</a:t>
            </a:r>
          </a:p>
        </p:txBody>
      </p:sp>
      <p:sp>
        <p:nvSpPr>
          <p:cNvPr id="103" name="任意多边形: 形状 102">
            <a:extLst>
              <a:ext uri="{FF2B5EF4-FFF2-40B4-BE49-F238E27FC236}">
                <a16:creationId xmlns:a16="http://schemas.microsoft.com/office/drawing/2014/main" id="{3C0A676B-2C85-410B-A0A2-6B9E73420FE8}"/>
              </a:ext>
            </a:extLst>
          </p:cNvPr>
          <p:cNvSpPr>
            <a:spLocks noGrp="1"/>
          </p:cNvSpPr>
          <p:nvPr/>
        </p:nvSpPr>
        <p:spPr>
          <a:xfrm>
            <a:off x="13430250" y="19697700"/>
            <a:ext cx="304800" cy="953"/>
          </a:xfrm>
          <a:custGeom>
            <a:avLst/>
            <a:gdLst/>
            <a:ahLst/>
            <a:cxnLst/>
            <a:rect l="0" t="0" r="0" b="0"/>
            <a:pathLst>
              <a:path w="304800" h="953">
                <a:moveTo>
                  <a:pt x="0" y="0"/>
                </a:moveTo>
                <a:lnTo>
                  <a:pt x="304800" y="0"/>
                </a:lnTo>
              </a:path>
            </a:pathLst>
          </a:custGeom>
          <a:noFill/>
          <a:ln w="47625">
            <a:solidFill>
              <a:srgbClr val="26A6A1"/>
            </a:solidFill>
          </a:ln>
        </p:spPr>
      </p:sp>
      <p:sp>
        <p:nvSpPr>
          <p:cNvPr id="104" name="矩形 103">
            <a:extLst>
              <a:ext uri="{FF2B5EF4-FFF2-40B4-BE49-F238E27FC236}">
                <a16:creationId xmlns:a16="http://schemas.microsoft.com/office/drawing/2014/main" id="{025B2E3C-D3B3-4AF5-8334-2154D0734737}"/>
              </a:ext>
            </a:extLst>
          </p:cNvPr>
          <p:cNvSpPr>
            <a:spLocks noGrp="1"/>
          </p:cNvSpPr>
          <p:nvPr/>
        </p:nvSpPr>
        <p:spPr>
          <a:xfrm>
            <a:off x="13839825" y="19545300"/>
            <a:ext cx="2571750" cy="3238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2025" b="0">
                <a:solidFill>
                  <a:srgbClr val="60717A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60717A"/>
                </a:solidFill>
                <a:latin typeface="Arial"/>
                <a:ea typeface="Arial"/>
                <a:cs typeface="Arial"/>
              </a:rPr>
              <a:t>Deposited pose</a:t>
            </a:r>
          </a:p>
        </p:txBody>
      </p:sp>
    </p:spTree>
    <p:extLst>
      <p:ext uri="{BB962C8B-B14F-4D97-AF65-F5344CB8AC3E}">
        <p14:creationId xmlns:p14="http://schemas.microsoft.com/office/powerpoint/2010/main" val="393564333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3"/>
    </p:ext>
  </p:extLs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矩形 101">
            <a:extLst>
              <a:ext uri="{FF2B5EF4-FFF2-40B4-BE49-F238E27FC236}">
                <a16:creationId xmlns:a16="http://schemas.microsoft.com/office/drawing/2014/main" id="{76B13EE0-6EA4-4E82-90D9-B27A06C1538D}"/>
              </a:ext>
            </a:extLst>
          </p:cNvPr>
          <p:cNvSpPr>
            <a:spLocks noGrp="1"/>
          </p:cNvSpPr>
          <p:nvPr/>
        </p:nvSpPr>
        <p:spPr>
          <a:xfrm>
            <a:off x="1238250" y="209550"/>
            <a:ext cx="14668500" cy="5524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3450" b="1">
                <a:solidFill>
                  <a:srgbClr val="203544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203544"/>
                </a:solidFill>
                <a:latin typeface="Arial"/>
                <a:ea typeface="Arial"/>
                <a:cs typeface="Arial"/>
              </a:rPr>
              <a:t>9XZL  AGS (F:1001)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96E118C1-26E4-4213-886A-6D55FE6F0861}"/>
              </a:ext>
            </a:extLst>
          </p:cNvPr>
          <p:cNvSpPr>
            <a:spLocks noGrp="1"/>
          </p:cNvSpPr>
          <p:nvPr/>
        </p:nvSpPr>
        <p:spPr>
          <a:xfrm>
            <a:off x="1238250" y="809625"/>
            <a:ext cx="15049500" cy="4191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2400" b="0">
                <a:solidFill>
                  <a:srgbClr val="60717A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60717A"/>
                </a:solidFill>
                <a:latin typeface="Arial"/>
                <a:ea typeface="Arial"/>
                <a:cs typeface="Arial"/>
              </a:rPr>
              <a:t>Earlier foreground outside Stage3 scope, successful reconstruction at rank 2</a:t>
            </a:r>
          </a:p>
        </p:txBody>
      </p:sp>
      <p:sp>
        <p:nvSpPr>
          <p:cNvPr id="3" name="任意多边形: 形状 2">
            <a:extLst>
              <a:ext uri="{FF2B5EF4-FFF2-40B4-BE49-F238E27FC236}">
                <a16:creationId xmlns:a16="http://schemas.microsoft.com/office/drawing/2014/main" id="{94CEE811-C027-4840-9DF0-231B07C59599}"/>
              </a:ext>
            </a:extLst>
          </p:cNvPr>
          <p:cNvSpPr>
            <a:spLocks noGrp="1"/>
          </p:cNvSpPr>
          <p:nvPr/>
        </p:nvSpPr>
        <p:spPr>
          <a:xfrm>
            <a:off x="600075" y="1885950"/>
            <a:ext cx="953" cy="3524250"/>
          </a:xfrm>
          <a:custGeom>
            <a:avLst/>
            <a:gdLst/>
            <a:ahLst/>
            <a:cxnLst/>
            <a:rect l="0" t="0" r="0" b="0"/>
            <a:pathLst>
              <a:path w="953" h="3524250">
                <a:moveTo>
                  <a:pt x="0" y="0"/>
                </a:moveTo>
                <a:lnTo>
                  <a:pt x="0" y="3524250"/>
                </a:lnTo>
              </a:path>
            </a:pathLst>
          </a:custGeom>
          <a:noFill/>
          <a:ln w="28575">
            <a:solidFill>
              <a:srgbClr val="BDCDC6"/>
            </a:solidFill>
          </a:ln>
        </p:spPr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1B8FB8B4-C739-42AF-806F-2F0B5A114873}"/>
              </a:ext>
            </a:extLst>
          </p:cNvPr>
          <p:cNvSpPr>
            <a:spLocks noGrp="1"/>
          </p:cNvSpPr>
          <p:nvPr/>
        </p:nvSpPr>
        <p:spPr>
          <a:xfrm>
            <a:off x="533400" y="5314950"/>
            <a:ext cx="66675" cy="95250"/>
          </a:xfrm>
          <a:custGeom>
            <a:avLst/>
            <a:gdLst/>
            <a:ahLst/>
            <a:cxnLst/>
            <a:rect l="0" t="0" r="0" b="0"/>
            <a:pathLst>
              <a:path w="66675" h="95250">
                <a:moveTo>
                  <a:pt x="0" y="0"/>
                </a:moveTo>
                <a:lnTo>
                  <a:pt x="66675" y="95250"/>
                </a:lnTo>
              </a:path>
            </a:pathLst>
          </a:custGeom>
          <a:noFill/>
          <a:ln w="28575">
            <a:solidFill>
              <a:srgbClr val="BDCDC6"/>
            </a:solidFill>
          </a:ln>
        </p:spPr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B8092058-CA90-4ACC-A1B9-F4BBCD53D043}"/>
              </a:ext>
            </a:extLst>
          </p:cNvPr>
          <p:cNvSpPr>
            <a:spLocks noGrp="1"/>
          </p:cNvSpPr>
          <p:nvPr/>
        </p:nvSpPr>
        <p:spPr>
          <a:xfrm>
            <a:off x="600075" y="5314950"/>
            <a:ext cx="66675" cy="95250"/>
          </a:xfrm>
          <a:custGeom>
            <a:avLst/>
            <a:gdLst/>
            <a:ahLst/>
            <a:cxnLst/>
            <a:rect l="0" t="0" r="0" b="0"/>
            <a:pathLst>
              <a:path w="66675" h="95250">
                <a:moveTo>
                  <a:pt x="66675" y="0"/>
                </a:moveTo>
                <a:lnTo>
                  <a:pt x="0" y="95250"/>
                </a:lnTo>
              </a:path>
            </a:pathLst>
          </a:custGeom>
          <a:noFill/>
          <a:ln w="28575">
            <a:solidFill>
              <a:srgbClr val="BDCDC6"/>
            </a:solidFill>
          </a:ln>
        </p:spPr>
      </p:sp>
      <p:sp>
        <p:nvSpPr>
          <p:cNvPr id="6" name="任意多边形: 形状 5">
            <a:extLst>
              <a:ext uri="{FF2B5EF4-FFF2-40B4-BE49-F238E27FC236}">
                <a16:creationId xmlns:a16="http://schemas.microsoft.com/office/drawing/2014/main" id="{5851F8B9-2A85-4CB5-8BAA-6BEAD9A51DFE}"/>
              </a:ext>
            </a:extLst>
          </p:cNvPr>
          <p:cNvSpPr>
            <a:spLocks noGrp="1"/>
          </p:cNvSpPr>
          <p:nvPr/>
        </p:nvSpPr>
        <p:spPr>
          <a:xfrm>
            <a:off x="600075" y="6096000"/>
            <a:ext cx="953" cy="4781550"/>
          </a:xfrm>
          <a:custGeom>
            <a:avLst/>
            <a:gdLst/>
            <a:ahLst/>
            <a:cxnLst/>
            <a:rect l="0" t="0" r="0" b="0"/>
            <a:pathLst>
              <a:path w="953" h="4781550">
                <a:moveTo>
                  <a:pt x="0" y="0"/>
                </a:moveTo>
                <a:lnTo>
                  <a:pt x="0" y="4781550"/>
                </a:lnTo>
              </a:path>
            </a:pathLst>
          </a:custGeom>
          <a:noFill/>
          <a:ln w="28575">
            <a:solidFill>
              <a:srgbClr val="BDCDC6"/>
            </a:solidFill>
          </a:ln>
        </p:spPr>
      </p:sp>
      <p:sp>
        <p:nvSpPr>
          <p:cNvPr id="7" name="任意多边形: 形状 6">
            <a:extLst>
              <a:ext uri="{FF2B5EF4-FFF2-40B4-BE49-F238E27FC236}">
                <a16:creationId xmlns:a16="http://schemas.microsoft.com/office/drawing/2014/main" id="{27DD6E6C-523F-4945-83FE-334E168542BD}"/>
              </a:ext>
            </a:extLst>
          </p:cNvPr>
          <p:cNvSpPr>
            <a:spLocks noGrp="1"/>
          </p:cNvSpPr>
          <p:nvPr/>
        </p:nvSpPr>
        <p:spPr>
          <a:xfrm>
            <a:off x="533400" y="10782300"/>
            <a:ext cx="66675" cy="95250"/>
          </a:xfrm>
          <a:custGeom>
            <a:avLst/>
            <a:gdLst/>
            <a:ahLst/>
            <a:cxnLst/>
            <a:rect l="0" t="0" r="0" b="0"/>
            <a:pathLst>
              <a:path w="66675" h="95250">
                <a:moveTo>
                  <a:pt x="0" y="0"/>
                </a:moveTo>
                <a:lnTo>
                  <a:pt x="66675" y="95250"/>
                </a:lnTo>
              </a:path>
            </a:pathLst>
          </a:custGeom>
          <a:noFill/>
          <a:ln w="28575">
            <a:solidFill>
              <a:srgbClr val="BDCDC6"/>
            </a:solidFill>
          </a:ln>
        </p:spPr>
      </p:sp>
      <p:sp>
        <p:nvSpPr>
          <p:cNvPr id="8" name="任意多边形: 形状 7">
            <a:extLst>
              <a:ext uri="{FF2B5EF4-FFF2-40B4-BE49-F238E27FC236}">
                <a16:creationId xmlns:a16="http://schemas.microsoft.com/office/drawing/2014/main" id="{96EECFC0-1971-497D-B8B5-6FB088A959E9}"/>
              </a:ext>
            </a:extLst>
          </p:cNvPr>
          <p:cNvSpPr>
            <a:spLocks noGrp="1"/>
          </p:cNvSpPr>
          <p:nvPr/>
        </p:nvSpPr>
        <p:spPr>
          <a:xfrm>
            <a:off x="600075" y="10782300"/>
            <a:ext cx="66675" cy="95250"/>
          </a:xfrm>
          <a:custGeom>
            <a:avLst/>
            <a:gdLst/>
            <a:ahLst/>
            <a:cxnLst/>
            <a:rect l="0" t="0" r="0" b="0"/>
            <a:pathLst>
              <a:path w="66675" h="95250">
                <a:moveTo>
                  <a:pt x="66675" y="0"/>
                </a:moveTo>
                <a:lnTo>
                  <a:pt x="0" y="95250"/>
                </a:lnTo>
              </a:path>
            </a:pathLst>
          </a:custGeom>
          <a:noFill/>
          <a:ln w="28575">
            <a:solidFill>
              <a:srgbClr val="BDCDC6"/>
            </a:solidFill>
          </a:ln>
        </p:spPr>
      </p:sp>
      <p:sp>
        <p:nvSpPr>
          <p:cNvPr id="9" name="任意多边形: 形状 8">
            <a:extLst>
              <a:ext uri="{FF2B5EF4-FFF2-40B4-BE49-F238E27FC236}">
                <a16:creationId xmlns:a16="http://schemas.microsoft.com/office/drawing/2014/main" id="{5C1AAC89-4AE9-4F21-8420-7D58F55F5161}"/>
              </a:ext>
            </a:extLst>
          </p:cNvPr>
          <p:cNvSpPr>
            <a:spLocks noGrp="1"/>
          </p:cNvSpPr>
          <p:nvPr/>
        </p:nvSpPr>
        <p:spPr>
          <a:xfrm>
            <a:off x="600075" y="11563350"/>
            <a:ext cx="953" cy="3086100"/>
          </a:xfrm>
          <a:custGeom>
            <a:avLst/>
            <a:gdLst/>
            <a:ahLst/>
            <a:cxnLst/>
            <a:rect l="0" t="0" r="0" b="0"/>
            <a:pathLst>
              <a:path w="953" h="3086100">
                <a:moveTo>
                  <a:pt x="0" y="0"/>
                </a:moveTo>
                <a:lnTo>
                  <a:pt x="0" y="3086100"/>
                </a:lnTo>
              </a:path>
            </a:pathLst>
          </a:custGeom>
          <a:noFill/>
          <a:ln w="28575">
            <a:solidFill>
              <a:srgbClr val="BDCDC6"/>
            </a:solidFill>
          </a:ln>
        </p:spPr>
      </p:sp>
      <p:sp>
        <p:nvSpPr>
          <p:cNvPr id="10" name="任意多边形: 形状 9">
            <a:extLst>
              <a:ext uri="{FF2B5EF4-FFF2-40B4-BE49-F238E27FC236}">
                <a16:creationId xmlns:a16="http://schemas.microsoft.com/office/drawing/2014/main" id="{8EFF5552-56F8-4727-B666-1761309E1187}"/>
              </a:ext>
            </a:extLst>
          </p:cNvPr>
          <p:cNvSpPr>
            <a:spLocks noGrp="1"/>
          </p:cNvSpPr>
          <p:nvPr/>
        </p:nvSpPr>
        <p:spPr>
          <a:xfrm>
            <a:off x="533400" y="14554200"/>
            <a:ext cx="66675" cy="95250"/>
          </a:xfrm>
          <a:custGeom>
            <a:avLst/>
            <a:gdLst/>
            <a:ahLst/>
            <a:cxnLst/>
            <a:rect l="0" t="0" r="0" b="0"/>
            <a:pathLst>
              <a:path w="66675" h="95250">
                <a:moveTo>
                  <a:pt x="0" y="0"/>
                </a:moveTo>
                <a:lnTo>
                  <a:pt x="66675" y="95250"/>
                </a:lnTo>
              </a:path>
            </a:pathLst>
          </a:custGeom>
          <a:noFill/>
          <a:ln w="28575">
            <a:solidFill>
              <a:srgbClr val="BDCDC6"/>
            </a:solidFill>
          </a:ln>
        </p:spPr>
      </p:sp>
      <p:sp>
        <p:nvSpPr>
          <p:cNvPr id="11" name="任意多边形: 形状 10">
            <a:extLst>
              <a:ext uri="{FF2B5EF4-FFF2-40B4-BE49-F238E27FC236}">
                <a16:creationId xmlns:a16="http://schemas.microsoft.com/office/drawing/2014/main" id="{CD5D71CA-6526-4175-9854-08A61A20D72C}"/>
              </a:ext>
            </a:extLst>
          </p:cNvPr>
          <p:cNvSpPr>
            <a:spLocks noGrp="1"/>
          </p:cNvSpPr>
          <p:nvPr/>
        </p:nvSpPr>
        <p:spPr>
          <a:xfrm>
            <a:off x="600075" y="14554200"/>
            <a:ext cx="66675" cy="95250"/>
          </a:xfrm>
          <a:custGeom>
            <a:avLst/>
            <a:gdLst/>
            <a:ahLst/>
            <a:cxnLst/>
            <a:rect l="0" t="0" r="0" b="0"/>
            <a:pathLst>
              <a:path w="66675" h="95250">
                <a:moveTo>
                  <a:pt x="66675" y="0"/>
                </a:moveTo>
                <a:lnTo>
                  <a:pt x="0" y="95250"/>
                </a:lnTo>
              </a:path>
            </a:pathLst>
          </a:custGeom>
          <a:noFill/>
          <a:ln w="28575">
            <a:solidFill>
              <a:srgbClr val="BDCDC6"/>
            </a:solidFill>
          </a:ln>
        </p:spPr>
      </p:sp>
      <p:sp>
        <p:nvSpPr>
          <p:cNvPr id="12" name="椭圆 11">
            <a:extLst>
              <a:ext uri="{FF2B5EF4-FFF2-40B4-BE49-F238E27FC236}">
                <a16:creationId xmlns:a16="http://schemas.microsoft.com/office/drawing/2014/main" id="{5DFF642B-1C59-4216-8527-F8657EDB0987}"/>
              </a:ext>
            </a:extLst>
          </p:cNvPr>
          <p:cNvSpPr>
            <a:spLocks noGrp="1"/>
          </p:cNvSpPr>
          <p:nvPr/>
        </p:nvSpPr>
        <p:spPr>
          <a:xfrm>
            <a:off x="361950" y="1314450"/>
            <a:ext cx="476250" cy="476250"/>
          </a:xfrm>
          <a:prstGeom prst="ellipse">
            <a:avLst/>
          </a:prstGeom>
          <a:solidFill>
            <a:srgbClr val="366755"/>
          </a:solidFill>
          <a:ln w="0">
            <a:noFill/>
          </a:ln>
        </p:spPr>
        <p:txBody>
          <a:bodyPr lIns="0" tIns="0" rIns="0" bIns="0" anchor="ctr"/>
          <a:lstStyle/>
          <a:p>
            <a:pPr algn="ctr">
              <a:defRPr sz="23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0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8FD63F4B-F554-479A-82F4-85C49123049B}"/>
              </a:ext>
            </a:extLst>
          </p:cNvPr>
          <p:cNvSpPr>
            <a:spLocks noGrp="1"/>
          </p:cNvSpPr>
          <p:nvPr/>
        </p:nvSpPr>
        <p:spPr>
          <a:xfrm>
            <a:off x="1238250" y="1333500"/>
            <a:ext cx="2000250" cy="4572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2850" b="1">
                <a:solidFill>
                  <a:srgbClr val="366755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366755"/>
                </a:solidFill>
                <a:latin typeface="Arial"/>
                <a:ea typeface="Arial"/>
                <a:cs typeface="Arial"/>
              </a:rPr>
              <a:t>Input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484CECC9-24B6-4C81-9A58-2703AEB4614B}"/>
              </a:ext>
            </a:extLst>
          </p:cNvPr>
          <p:cNvSpPr>
            <a:spLocks noGrp="1"/>
          </p:cNvSpPr>
          <p:nvPr/>
        </p:nvSpPr>
        <p:spPr>
          <a:xfrm>
            <a:off x="3524250" y="1362075"/>
            <a:ext cx="12715875" cy="4000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2325" b="0">
                <a:solidFill>
                  <a:srgbClr val="60717A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60717A"/>
                </a:solidFill>
                <a:latin typeface="Arial"/>
                <a:ea typeface="Arial"/>
                <a:cs typeface="Arial"/>
              </a:rPr>
              <a:t>Reconstructing the receptor from the experimental map with CryoAtom2</a:t>
            </a:r>
          </a:p>
        </p:txBody>
      </p:sp>
      <p:sp>
        <p:nvSpPr>
          <p:cNvPr id="15" name="任意多边形: 形状 14">
            <a:extLst>
              <a:ext uri="{FF2B5EF4-FFF2-40B4-BE49-F238E27FC236}">
                <a16:creationId xmlns:a16="http://schemas.microsoft.com/office/drawing/2014/main" id="{5A57B493-2585-47E8-9243-016AA83D145A}"/>
              </a:ext>
            </a:extLst>
          </p:cNvPr>
          <p:cNvSpPr>
            <a:spLocks noGrp="1"/>
          </p:cNvSpPr>
          <p:nvPr/>
        </p:nvSpPr>
        <p:spPr>
          <a:xfrm>
            <a:off x="1238250" y="1895475"/>
            <a:ext cx="15049500" cy="953"/>
          </a:xfrm>
          <a:custGeom>
            <a:avLst/>
            <a:gdLst/>
            <a:ahLst/>
            <a:cxnLst/>
            <a:rect l="0" t="0" r="0" b="0"/>
            <a:pathLst>
              <a:path w="15049500" h="953">
                <a:moveTo>
                  <a:pt x="0" y="0"/>
                </a:moveTo>
                <a:lnTo>
                  <a:pt x="15049500" y="0"/>
                </a:lnTo>
              </a:path>
            </a:pathLst>
          </a:custGeom>
          <a:noFill/>
          <a:ln w="19050">
            <a:solidFill>
              <a:srgbClr val="E6EDEB"/>
            </a:solidFill>
          </a:ln>
        </p:spPr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DA968062-51B2-49C7-9C4D-F4DCB6ACEBF5}"/>
              </a:ext>
            </a:extLst>
          </p:cNvPr>
          <p:cNvSpPr>
            <a:spLocks noGrp="1"/>
          </p:cNvSpPr>
          <p:nvPr/>
        </p:nvSpPr>
        <p:spPr>
          <a:xfrm>
            <a:off x="1238250" y="2076450"/>
            <a:ext cx="352425" cy="3714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2475" b="1">
                <a:solidFill>
                  <a:srgbClr val="203544"/>
                </a:solidFill>
                <a:latin typeface="Arial"/>
                <a:ea typeface="Arial"/>
                <a:cs typeface="Arial"/>
              </a:defRPr>
            </a:pPr>
            <a:r>
              <a:rPr sz="2475" b="1">
                <a:solidFill>
                  <a:srgbClr val="203544"/>
                </a:solidFill>
                <a:latin typeface="Arial"/>
                <a:ea typeface="Arial"/>
                <a:cs typeface="Arial"/>
              </a:rPr>
              <a:t>a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5B7DD893-166C-421C-8848-D5B2EFCC29D7}"/>
              </a:ext>
            </a:extLst>
          </p:cNvPr>
          <p:cNvSpPr>
            <a:spLocks noGrp="1"/>
          </p:cNvSpPr>
          <p:nvPr/>
        </p:nvSpPr>
        <p:spPr>
          <a:xfrm>
            <a:off x="1657350" y="2085975"/>
            <a:ext cx="4152900" cy="3714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2325" b="0">
                <a:solidFill>
                  <a:srgbClr val="203544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203544"/>
                </a:solidFill>
                <a:latin typeface="Arial"/>
                <a:ea typeface="Arial"/>
                <a:cs typeface="Arial"/>
              </a:rPr>
              <a:t>Experimental map</a:t>
            </a:r>
          </a:p>
        </p:txBody>
      </p:sp>
      <p:pic>
        <p:nvPicPr>
          <p:cNvPr id="119" name="global_density_same_scale" descr="9XZL global_density_same_scale; native ChimeraX; source C:\Users\15919\Desktop\论文草稿\画图\formal\E2E_flow_v2_20261003\9xzl\renders\global_density_same_scale.png; editable crop only"/>
          <p:cNvPicPr>
            <a:picLocks noChangeAspect="1"/>
          </p:cNvPicPr>
          <p:nvPr/>
        </p:nvPicPr>
        <p:blipFill>
          <a:blip r:embed="rId4"/>
          <a:srcRect l="23964" t="13000" r="26593" b="16533"/>
          <a:stretch>
            <a:fillRect/>
          </a:stretch>
        </p:blipFill>
        <p:spPr>
          <a:xfrm>
            <a:off x="2187587" y="2476500"/>
            <a:ext cx="2673325" cy="2857500"/>
          </a:xfrm>
          <a:prstGeom prst="rect">
            <a:avLst/>
          </a:prstGeom>
        </p:spPr>
      </p:pic>
      <p:sp>
        <p:nvSpPr>
          <p:cNvPr id="19" name="矩形 18">
            <a:extLst>
              <a:ext uri="{FF2B5EF4-FFF2-40B4-BE49-F238E27FC236}">
                <a16:creationId xmlns:a16="http://schemas.microsoft.com/office/drawing/2014/main" id="{1C3F12D3-C89E-4AA6-BA0C-36E97AD2CE6F}"/>
              </a:ext>
            </a:extLst>
          </p:cNvPr>
          <p:cNvSpPr>
            <a:spLocks noGrp="1"/>
          </p:cNvSpPr>
          <p:nvPr/>
        </p:nvSpPr>
        <p:spPr>
          <a:xfrm>
            <a:off x="6477000" y="2076450"/>
            <a:ext cx="352425" cy="3714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2475" b="1">
                <a:solidFill>
                  <a:srgbClr val="203544"/>
                </a:solidFill>
                <a:latin typeface="Arial"/>
                <a:ea typeface="Arial"/>
                <a:cs typeface="Arial"/>
              </a:defRPr>
            </a:pPr>
            <a:r>
              <a:rPr sz="2475" b="1">
                <a:solidFill>
                  <a:srgbClr val="203544"/>
                </a:solidFill>
                <a:latin typeface="Arial"/>
                <a:ea typeface="Arial"/>
                <a:cs typeface="Arial"/>
              </a:rPr>
              <a:t>b</a:t>
            </a: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C2D08C56-6B73-45CC-8673-EEFC7AD1E2B1}"/>
              </a:ext>
            </a:extLst>
          </p:cNvPr>
          <p:cNvSpPr>
            <a:spLocks noGrp="1"/>
          </p:cNvSpPr>
          <p:nvPr/>
        </p:nvSpPr>
        <p:spPr>
          <a:xfrm>
            <a:off x="6896100" y="2085975"/>
            <a:ext cx="4152900" cy="3714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2325" b="0">
                <a:solidFill>
                  <a:srgbClr val="203544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203544"/>
                </a:solidFill>
                <a:latin typeface="Arial"/>
                <a:ea typeface="Arial"/>
                <a:cs typeface="Arial"/>
              </a:rPr>
              <a:t>CA2 receptor</a:t>
            </a:r>
          </a:p>
        </p:txBody>
      </p:sp>
      <p:pic>
        <p:nvPicPr>
          <p:cNvPr id="122" name="global_ca2" descr="9XZL global_ca2; native ChimeraX; source C:\Users\15919\Desktop\论文草稿\画图\formal\E2E_flow_20261003\9xzl\renders\global_ca2.png; editable crop only"/>
          <p:cNvPicPr>
            <a:picLocks noChangeAspect="1"/>
          </p:cNvPicPr>
          <p:nvPr/>
        </p:nvPicPr>
        <p:blipFill>
          <a:blip r:embed="rId5"/>
          <a:srcRect l="23964" t="13000" r="26593" b="16533"/>
          <a:stretch>
            <a:fillRect/>
          </a:stretch>
        </p:blipFill>
        <p:spPr>
          <a:xfrm>
            <a:off x="7426337" y="2476500"/>
            <a:ext cx="2673325" cy="2857500"/>
          </a:xfrm>
          <a:prstGeom prst="rect">
            <a:avLst/>
          </a:prstGeom>
        </p:spPr>
      </p:pic>
      <p:sp>
        <p:nvSpPr>
          <p:cNvPr id="22" name="矩形 21">
            <a:extLst>
              <a:ext uri="{FF2B5EF4-FFF2-40B4-BE49-F238E27FC236}">
                <a16:creationId xmlns:a16="http://schemas.microsoft.com/office/drawing/2014/main" id="{B44423D2-5E2B-4CF5-981F-B272312CDEAF}"/>
              </a:ext>
            </a:extLst>
          </p:cNvPr>
          <p:cNvSpPr>
            <a:spLocks noGrp="1"/>
          </p:cNvSpPr>
          <p:nvPr/>
        </p:nvSpPr>
        <p:spPr>
          <a:xfrm>
            <a:off x="11715750" y="2076450"/>
            <a:ext cx="352425" cy="3714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2475" b="1">
                <a:solidFill>
                  <a:srgbClr val="203544"/>
                </a:solidFill>
                <a:latin typeface="Arial"/>
                <a:ea typeface="Arial"/>
                <a:cs typeface="Arial"/>
              </a:defRPr>
            </a:pPr>
            <a:r>
              <a:rPr sz="2475" b="1">
                <a:solidFill>
                  <a:srgbClr val="203544"/>
                </a:solidFill>
                <a:latin typeface="Arial"/>
                <a:ea typeface="Arial"/>
                <a:cs typeface="Arial"/>
              </a:rPr>
              <a:t>c</a:t>
            </a:r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DC75EDBD-A824-4B0E-B992-CAA01116DB92}"/>
              </a:ext>
            </a:extLst>
          </p:cNvPr>
          <p:cNvSpPr>
            <a:spLocks noGrp="1"/>
          </p:cNvSpPr>
          <p:nvPr/>
        </p:nvSpPr>
        <p:spPr>
          <a:xfrm>
            <a:off x="12134850" y="2085975"/>
            <a:ext cx="4152900" cy="3714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2325" b="0">
                <a:solidFill>
                  <a:srgbClr val="203544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203544"/>
                </a:solidFill>
                <a:latin typeface="Arial"/>
                <a:ea typeface="Arial"/>
                <a:cs typeface="Arial"/>
              </a:rPr>
              <a:t>GT receptor (reference)</a:t>
            </a:r>
          </a:p>
        </p:txBody>
      </p:sp>
      <p:pic>
        <p:nvPicPr>
          <p:cNvPr id="125" name="global_gt" descr="9XZL global_gt; native ChimeraX; source C:\Users\15919\Desktop\论文草稿\画图\formal\E2E_flow_20261003\9xzl\renders\global_gt.png; editable crop only"/>
          <p:cNvPicPr>
            <a:picLocks noChangeAspect="1"/>
          </p:cNvPicPr>
          <p:nvPr/>
        </p:nvPicPr>
        <p:blipFill>
          <a:blip r:embed="rId6"/>
          <a:srcRect l="23964" t="13000" r="26593" b="16533"/>
          <a:stretch>
            <a:fillRect/>
          </a:stretch>
        </p:blipFill>
        <p:spPr>
          <a:xfrm>
            <a:off x="12665087" y="2476500"/>
            <a:ext cx="2673325" cy="2857500"/>
          </a:xfrm>
          <a:prstGeom prst="rect">
            <a:avLst/>
          </a:prstGeom>
        </p:spPr>
      </p:pic>
      <p:sp>
        <p:nvSpPr>
          <p:cNvPr id="25" name="矩形 24">
            <a:extLst>
              <a:ext uri="{FF2B5EF4-FFF2-40B4-BE49-F238E27FC236}">
                <a16:creationId xmlns:a16="http://schemas.microsoft.com/office/drawing/2014/main" id="{8621851E-32A0-4657-B8AA-8D147A56F367}"/>
              </a:ext>
            </a:extLst>
          </p:cNvPr>
          <p:cNvSpPr>
            <a:spLocks noGrp="1"/>
          </p:cNvSpPr>
          <p:nvPr/>
        </p:nvSpPr>
        <p:spPr>
          <a:xfrm>
            <a:off x="5181600" y="3419475"/>
            <a:ext cx="2114550" cy="4000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2250" b="1">
                <a:solidFill>
                  <a:srgbClr val="366755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366755"/>
                </a:solidFill>
                <a:latin typeface="Arial"/>
                <a:ea typeface="Arial"/>
                <a:cs typeface="Arial"/>
              </a:rPr>
              <a:t>CryoAtom2</a:t>
            </a:r>
          </a:p>
        </p:txBody>
      </p:sp>
      <p:sp>
        <p:nvSpPr>
          <p:cNvPr id="26" name="任意多边形: 形状 25">
            <a:extLst>
              <a:ext uri="{FF2B5EF4-FFF2-40B4-BE49-F238E27FC236}">
                <a16:creationId xmlns:a16="http://schemas.microsoft.com/office/drawing/2014/main" id="{ED90248B-9E74-4FBF-AF44-B49EBA8B8C4B}"/>
              </a:ext>
            </a:extLst>
          </p:cNvPr>
          <p:cNvSpPr>
            <a:spLocks noGrp="1"/>
          </p:cNvSpPr>
          <p:nvPr/>
        </p:nvSpPr>
        <p:spPr>
          <a:xfrm>
            <a:off x="5286375" y="3905250"/>
            <a:ext cx="2019300" cy="953"/>
          </a:xfrm>
          <a:custGeom>
            <a:avLst/>
            <a:gdLst/>
            <a:ahLst/>
            <a:cxnLst/>
            <a:rect l="0" t="0" r="0" b="0"/>
            <a:pathLst>
              <a:path w="2019300" h="953">
                <a:moveTo>
                  <a:pt x="0" y="0"/>
                </a:moveTo>
                <a:lnTo>
                  <a:pt x="2019300" y="0"/>
                </a:lnTo>
              </a:path>
            </a:pathLst>
          </a:custGeom>
          <a:noFill/>
          <a:ln w="38100">
            <a:solidFill>
              <a:srgbClr val="366755"/>
            </a:solidFill>
          </a:ln>
        </p:spPr>
      </p:sp>
      <p:sp>
        <p:nvSpPr>
          <p:cNvPr id="27" name="任意多边形: 形状 26">
            <a:extLst>
              <a:ext uri="{FF2B5EF4-FFF2-40B4-BE49-F238E27FC236}">
                <a16:creationId xmlns:a16="http://schemas.microsoft.com/office/drawing/2014/main" id="{94B21706-5F04-4042-A132-03736F10DD22}"/>
              </a:ext>
            </a:extLst>
          </p:cNvPr>
          <p:cNvSpPr>
            <a:spLocks noGrp="1"/>
          </p:cNvSpPr>
          <p:nvPr/>
        </p:nvSpPr>
        <p:spPr>
          <a:xfrm>
            <a:off x="7162800" y="3810000"/>
            <a:ext cx="142875" cy="95250"/>
          </a:xfrm>
          <a:custGeom>
            <a:avLst/>
            <a:gdLst/>
            <a:ahLst/>
            <a:cxnLst/>
            <a:rect l="0" t="0" r="0" b="0"/>
            <a:pathLst>
              <a:path w="142875" h="95250">
                <a:moveTo>
                  <a:pt x="0" y="0"/>
                </a:moveTo>
                <a:lnTo>
                  <a:pt x="142875" y="95250"/>
                </a:lnTo>
              </a:path>
            </a:pathLst>
          </a:custGeom>
          <a:noFill/>
          <a:ln w="38100">
            <a:solidFill>
              <a:srgbClr val="366755"/>
            </a:solidFill>
          </a:ln>
        </p:spPr>
      </p:sp>
      <p:sp>
        <p:nvSpPr>
          <p:cNvPr id="28" name="任意多边形: 形状 27">
            <a:extLst>
              <a:ext uri="{FF2B5EF4-FFF2-40B4-BE49-F238E27FC236}">
                <a16:creationId xmlns:a16="http://schemas.microsoft.com/office/drawing/2014/main" id="{FDA0BB47-DD47-43BD-B0F1-CFA82CF297E5}"/>
              </a:ext>
            </a:extLst>
          </p:cNvPr>
          <p:cNvSpPr>
            <a:spLocks noGrp="1"/>
          </p:cNvSpPr>
          <p:nvPr/>
        </p:nvSpPr>
        <p:spPr>
          <a:xfrm>
            <a:off x="7162800" y="3905250"/>
            <a:ext cx="142875" cy="95250"/>
          </a:xfrm>
          <a:custGeom>
            <a:avLst/>
            <a:gdLst/>
            <a:ahLst/>
            <a:cxnLst/>
            <a:rect l="0" t="0" r="0" b="0"/>
            <a:pathLst>
              <a:path w="142875" h="95250">
                <a:moveTo>
                  <a:pt x="0" y="95250"/>
                </a:moveTo>
                <a:lnTo>
                  <a:pt x="142875" y="0"/>
                </a:lnTo>
              </a:path>
            </a:pathLst>
          </a:custGeom>
          <a:noFill/>
          <a:ln w="38100">
            <a:solidFill>
              <a:srgbClr val="366755"/>
            </a:solidFill>
          </a:ln>
        </p:spPr>
      </p:sp>
      <p:sp>
        <p:nvSpPr>
          <p:cNvPr id="29" name="任意多边形: 形状 28">
            <a:extLst>
              <a:ext uri="{FF2B5EF4-FFF2-40B4-BE49-F238E27FC236}">
                <a16:creationId xmlns:a16="http://schemas.microsoft.com/office/drawing/2014/main" id="{1DD85B6D-F17F-47FD-A738-AD18F5A635D0}"/>
              </a:ext>
            </a:extLst>
          </p:cNvPr>
          <p:cNvSpPr>
            <a:spLocks noGrp="1"/>
          </p:cNvSpPr>
          <p:nvPr/>
        </p:nvSpPr>
        <p:spPr>
          <a:xfrm>
            <a:off x="11430000" y="2000250"/>
            <a:ext cx="953" cy="104775"/>
          </a:xfrm>
          <a:custGeom>
            <a:avLst/>
            <a:gdLst/>
            <a:ahLst/>
            <a:cxnLst/>
            <a:rect l="0" t="0" r="0" b="0"/>
            <a:pathLst>
              <a:path w="953" h="104775">
                <a:moveTo>
                  <a:pt x="0" y="0"/>
                </a:moveTo>
                <a:lnTo>
                  <a:pt x="0" y="104775"/>
                </a:lnTo>
              </a:path>
            </a:pathLst>
          </a:custGeom>
          <a:noFill/>
          <a:ln w="19050">
            <a:solidFill>
              <a:srgbClr val="BDCDC6"/>
            </a:solidFill>
          </a:ln>
        </p:spPr>
      </p:sp>
      <p:sp>
        <p:nvSpPr>
          <p:cNvPr id="30" name="任意多边形: 形状 29">
            <a:extLst>
              <a:ext uri="{FF2B5EF4-FFF2-40B4-BE49-F238E27FC236}">
                <a16:creationId xmlns:a16="http://schemas.microsoft.com/office/drawing/2014/main" id="{2F163A72-B820-4750-97F9-0E60DAB56E86}"/>
              </a:ext>
            </a:extLst>
          </p:cNvPr>
          <p:cNvSpPr>
            <a:spLocks noGrp="1"/>
          </p:cNvSpPr>
          <p:nvPr/>
        </p:nvSpPr>
        <p:spPr>
          <a:xfrm>
            <a:off x="11430000" y="2190750"/>
            <a:ext cx="953" cy="104775"/>
          </a:xfrm>
          <a:custGeom>
            <a:avLst/>
            <a:gdLst/>
            <a:ahLst/>
            <a:cxnLst/>
            <a:rect l="0" t="0" r="0" b="0"/>
            <a:pathLst>
              <a:path w="953" h="104775">
                <a:moveTo>
                  <a:pt x="0" y="0"/>
                </a:moveTo>
                <a:lnTo>
                  <a:pt x="0" y="104775"/>
                </a:lnTo>
              </a:path>
            </a:pathLst>
          </a:custGeom>
          <a:noFill/>
          <a:ln w="19050">
            <a:solidFill>
              <a:srgbClr val="BDCDC6"/>
            </a:solidFill>
          </a:ln>
        </p:spPr>
      </p:sp>
      <p:sp>
        <p:nvSpPr>
          <p:cNvPr id="31" name="任意多边形: 形状 30">
            <a:extLst>
              <a:ext uri="{FF2B5EF4-FFF2-40B4-BE49-F238E27FC236}">
                <a16:creationId xmlns:a16="http://schemas.microsoft.com/office/drawing/2014/main" id="{A641FFDF-BE8E-4AF1-92B5-E2B2464AA749}"/>
              </a:ext>
            </a:extLst>
          </p:cNvPr>
          <p:cNvSpPr>
            <a:spLocks noGrp="1"/>
          </p:cNvSpPr>
          <p:nvPr/>
        </p:nvSpPr>
        <p:spPr>
          <a:xfrm>
            <a:off x="11430000" y="2381250"/>
            <a:ext cx="953" cy="104775"/>
          </a:xfrm>
          <a:custGeom>
            <a:avLst/>
            <a:gdLst/>
            <a:ahLst/>
            <a:cxnLst/>
            <a:rect l="0" t="0" r="0" b="0"/>
            <a:pathLst>
              <a:path w="953" h="104775">
                <a:moveTo>
                  <a:pt x="0" y="0"/>
                </a:moveTo>
                <a:lnTo>
                  <a:pt x="0" y="104775"/>
                </a:lnTo>
              </a:path>
            </a:pathLst>
          </a:custGeom>
          <a:noFill/>
          <a:ln w="19050">
            <a:solidFill>
              <a:srgbClr val="BDCDC6"/>
            </a:solidFill>
          </a:ln>
        </p:spPr>
      </p:sp>
      <p:sp>
        <p:nvSpPr>
          <p:cNvPr id="32" name="任意多边形: 形状 31">
            <a:extLst>
              <a:ext uri="{FF2B5EF4-FFF2-40B4-BE49-F238E27FC236}">
                <a16:creationId xmlns:a16="http://schemas.microsoft.com/office/drawing/2014/main" id="{C9178D22-C9F0-4A6F-8074-9D3ECC91B098}"/>
              </a:ext>
            </a:extLst>
          </p:cNvPr>
          <p:cNvSpPr>
            <a:spLocks noGrp="1"/>
          </p:cNvSpPr>
          <p:nvPr/>
        </p:nvSpPr>
        <p:spPr>
          <a:xfrm>
            <a:off x="11430000" y="2571750"/>
            <a:ext cx="953" cy="104775"/>
          </a:xfrm>
          <a:custGeom>
            <a:avLst/>
            <a:gdLst/>
            <a:ahLst/>
            <a:cxnLst/>
            <a:rect l="0" t="0" r="0" b="0"/>
            <a:pathLst>
              <a:path w="953" h="104775">
                <a:moveTo>
                  <a:pt x="0" y="0"/>
                </a:moveTo>
                <a:lnTo>
                  <a:pt x="0" y="104775"/>
                </a:lnTo>
              </a:path>
            </a:pathLst>
          </a:custGeom>
          <a:noFill/>
          <a:ln w="19050">
            <a:solidFill>
              <a:srgbClr val="BDCDC6"/>
            </a:solidFill>
          </a:ln>
        </p:spPr>
      </p:sp>
      <p:sp>
        <p:nvSpPr>
          <p:cNvPr id="33" name="任意多边形: 形状 32">
            <a:extLst>
              <a:ext uri="{FF2B5EF4-FFF2-40B4-BE49-F238E27FC236}">
                <a16:creationId xmlns:a16="http://schemas.microsoft.com/office/drawing/2014/main" id="{CC2A8DDC-6C28-4C69-817C-C3CC438354ED}"/>
              </a:ext>
            </a:extLst>
          </p:cNvPr>
          <p:cNvSpPr>
            <a:spLocks noGrp="1"/>
          </p:cNvSpPr>
          <p:nvPr/>
        </p:nvSpPr>
        <p:spPr>
          <a:xfrm>
            <a:off x="11430000" y="2762250"/>
            <a:ext cx="953" cy="104775"/>
          </a:xfrm>
          <a:custGeom>
            <a:avLst/>
            <a:gdLst/>
            <a:ahLst/>
            <a:cxnLst/>
            <a:rect l="0" t="0" r="0" b="0"/>
            <a:pathLst>
              <a:path w="953" h="104775">
                <a:moveTo>
                  <a:pt x="0" y="0"/>
                </a:moveTo>
                <a:lnTo>
                  <a:pt x="0" y="104775"/>
                </a:lnTo>
              </a:path>
            </a:pathLst>
          </a:custGeom>
          <a:noFill/>
          <a:ln w="19050">
            <a:solidFill>
              <a:srgbClr val="BDCDC6"/>
            </a:solidFill>
          </a:ln>
        </p:spPr>
      </p:sp>
      <p:sp>
        <p:nvSpPr>
          <p:cNvPr id="34" name="任意多边形: 形状 33">
            <a:extLst>
              <a:ext uri="{FF2B5EF4-FFF2-40B4-BE49-F238E27FC236}">
                <a16:creationId xmlns:a16="http://schemas.microsoft.com/office/drawing/2014/main" id="{6797DB43-E90E-4F0E-921B-A6E1605BA0F4}"/>
              </a:ext>
            </a:extLst>
          </p:cNvPr>
          <p:cNvSpPr>
            <a:spLocks noGrp="1"/>
          </p:cNvSpPr>
          <p:nvPr/>
        </p:nvSpPr>
        <p:spPr>
          <a:xfrm>
            <a:off x="11430000" y="2952750"/>
            <a:ext cx="953" cy="104775"/>
          </a:xfrm>
          <a:custGeom>
            <a:avLst/>
            <a:gdLst/>
            <a:ahLst/>
            <a:cxnLst/>
            <a:rect l="0" t="0" r="0" b="0"/>
            <a:pathLst>
              <a:path w="953" h="104775">
                <a:moveTo>
                  <a:pt x="0" y="0"/>
                </a:moveTo>
                <a:lnTo>
                  <a:pt x="0" y="104775"/>
                </a:lnTo>
              </a:path>
            </a:pathLst>
          </a:custGeom>
          <a:noFill/>
          <a:ln w="19050">
            <a:solidFill>
              <a:srgbClr val="BDCDC6"/>
            </a:solidFill>
          </a:ln>
        </p:spPr>
      </p:sp>
      <p:sp>
        <p:nvSpPr>
          <p:cNvPr id="35" name="任意多边形: 形状 34">
            <a:extLst>
              <a:ext uri="{FF2B5EF4-FFF2-40B4-BE49-F238E27FC236}">
                <a16:creationId xmlns:a16="http://schemas.microsoft.com/office/drawing/2014/main" id="{E0A4B249-1423-461C-A14F-7681290EC0EC}"/>
              </a:ext>
            </a:extLst>
          </p:cNvPr>
          <p:cNvSpPr>
            <a:spLocks noGrp="1"/>
          </p:cNvSpPr>
          <p:nvPr/>
        </p:nvSpPr>
        <p:spPr>
          <a:xfrm>
            <a:off x="11430000" y="3143250"/>
            <a:ext cx="953" cy="104775"/>
          </a:xfrm>
          <a:custGeom>
            <a:avLst/>
            <a:gdLst/>
            <a:ahLst/>
            <a:cxnLst/>
            <a:rect l="0" t="0" r="0" b="0"/>
            <a:pathLst>
              <a:path w="953" h="104775">
                <a:moveTo>
                  <a:pt x="0" y="0"/>
                </a:moveTo>
                <a:lnTo>
                  <a:pt x="0" y="104775"/>
                </a:lnTo>
              </a:path>
            </a:pathLst>
          </a:custGeom>
          <a:noFill/>
          <a:ln w="19050">
            <a:solidFill>
              <a:srgbClr val="BDCDC6"/>
            </a:solidFill>
          </a:ln>
        </p:spPr>
      </p:sp>
      <p:sp>
        <p:nvSpPr>
          <p:cNvPr id="36" name="任意多边形: 形状 35">
            <a:extLst>
              <a:ext uri="{FF2B5EF4-FFF2-40B4-BE49-F238E27FC236}">
                <a16:creationId xmlns:a16="http://schemas.microsoft.com/office/drawing/2014/main" id="{41BC7716-358A-44A9-864E-989B835F809F}"/>
              </a:ext>
            </a:extLst>
          </p:cNvPr>
          <p:cNvSpPr>
            <a:spLocks noGrp="1"/>
          </p:cNvSpPr>
          <p:nvPr/>
        </p:nvSpPr>
        <p:spPr>
          <a:xfrm>
            <a:off x="11430000" y="3333750"/>
            <a:ext cx="953" cy="104775"/>
          </a:xfrm>
          <a:custGeom>
            <a:avLst/>
            <a:gdLst/>
            <a:ahLst/>
            <a:cxnLst/>
            <a:rect l="0" t="0" r="0" b="0"/>
            <a:pathLst>
              <a:path w="953" h="104775">
                <a:moveTo>
                  <a:pt x="0" y="0"/>
                </a:moveTo>
                <a:lnTo>
                  <a:pt x="0" y="104775"/>
                </a:lnTo>
              </a:path>
            </a:pathLst>
          </a:custGeom>
          <a:noFill/>
          <a:ln w="19050">
            <a:solidFill>
              <a:srgbClr val="BDCDC6"/>
            </a:solidFill>
          </a:ln>
        </p:spPr>
      </p:sp>
      <p:sp>
        <p:nvSpPr>
          <p:cNvPr id="37" name="任意多边形: 形状 36">
            <a:extLst>
              <a:ext uri="{FF2B5EF4-FFF2-40B4-BE49-F238E27FC236}">
                <a16:creationId xmlns:a16="http://schemas.microsoft.com/office/drawing/2014/main" id="{7DA232FB-4622-4B4C-8D76-241579492B6C}"/>
              </a:ext>
            </a:extLst>
          </p:cNvPr>
          <p:cNvSpPr>
            <a:spLocks noGrp="1"/>
          </p:cNvSpPr>
          <p:nvPr/>
        </p:nvSpPr>
        <p:spPr>
          <a:xfrm>
            <a:off x="11430000" y="3524250"/>
            <a:ext cx="953" cy="104775"/>
          </a:xfrm>
          <a:custGeom>
            <a:avLst/>
            <a:gdLst/>
            <a:ahLst/>
            <a:cxnLst/>
            <a:rect l="0" t="0" r="0" b="0"/>
            <a:pathLst>
              <a:path w="953" h="104775">
                <a:moveTo>
                  <a:pt x="0" y="0"/>
                </a:moveTo>
                <a:lnTo>
                  <a:pt x="0" y="104775"/>
                </a:lnTo>
              </a:path>
            </a:pathLst>
          </a:custGeom>
          <a:noFill/>
          <a:ln w="19050">
            <a:solidFill>
              <a:srgbClr val="BDCDC6"/>
            </a:solidFill>
          </a:ln>
        </p:spPr>
      </p:sp>
      <p:sp>
        <p:nvSpPr>
          <p:cNvPr id="38" name="任意多边形: 形状 37">
            <a:extLst>
              <a:ext uri="{FF2B5EF4-FFF2-40B4-BE49-F238E27FC236}">
                <a16:creationId xmlns:a16="http://schemas.microsoft.com/office/drawing/2014/main" id="{E5A6D9D7-D6DC-4944-925A-1379E4B45A46}"/>
              </a:ext>
            </a:extLst>
          </p:cNvPr>
          <p:cNvSpPr>
            <a:spLocks noGrp="1"/>
          </p:cNvSpPr>
          <p:nvPr/>
        </p:nvSpPr>
        <p:spPr>
          <a:xfrm>
            <a:off x="11430000" y="3714750"/>
            <a:ext cx="953" cy="104775"/>
          </a:xfrm>
          <a:custGeom>
            <a:avLst/>
            <a:gdLst/>
            <a:ahLst/>
            <a:cxnLst/>
            <a:rect l="0" t="0" r="0" b="0"/>
            <a:pathLst>
              <a:path w="953" h="104775">
                <a:moveTo>
                  <a:pt x="0" y="0"/>
                </a:moveTo>
                <a:lnTo>
                  <a:pt x="0" y="104775"/>
                </a:lnTo>
              </a:path>
            </a:pathLst>
          </a:custGeom>
          <a:noFill/>
          <a:ln w="19050">
            <a:solidFill>
              <a:srgbClr val="BDCDC6"/>
            </a:solidFill>
          </a:ln>
        </p:spPr>
      </p:sp>
      <p:sp>
        <p:nvSpPr>
          <p:cNvPr id="39" name="任意多边形: 形状 38">
            <a:extLst>
              <a:ext uri="{FF2B5EF4-FFF2-40B4-BE49-F238E27FC236}">
                <a16:creationId xmlns:a16="http://schemas.microsoft.com/office/drawing/2014/main" id="{8CAE7887-C2C2-45FC-B717-93441B6E85E9}"/>
              </a:ext>
            </a:extLst>
          </p:cNvPr>
          <p:cNvSpPr>
            <a:spLocks noGrp="1"/>
          </p:cNvSpPr>
          <p:nvPr/>
        </p:nvSpPr>
        <p:spPr>
          <a:xfrm>
            <a:off x="11430000" y="3905250"/>
            <a:ext cx="953" cy="104775"/>
          </a:xfrm>
          <a:custGeom>
            <a:avLst/>
            <a:gdLst/>
            <a:ahLst/>
            <a:cxnLst/>
            <a:rect l="0" t="0" r="0" b="0"/>
            <a:pathLst>
              <a:path w="953" h="104775">
                <a:moveTo>
                  <a:pt x="0" y="0"/>
                </a:moveTo>
                <a:lnTo>
                  <a:pt x="0" y="104775"/>
                </a:lnTo>
              </a:path>
            </a:pathLst>
          </a:custGeom>
          <a:noFill/>
          <a:ln w="19050">
            <a:solidFill>
              <a:srgbClr val="BDCDC6"/>
            </a:solidFill>
          </a:ln>
        </p:spPr>
      </p:sp>
      <p:sp>
        <p:nvSpPr>
          <p:cNvPr id="40" name="任意多边形: 形状 39">
            <a:extLst>
              <a:ext uri="{FF2B5EF4-FFF2-40B4-BE49-F238E27FC236}">
                <a16:creationId xmlns:a16="http://schemas.microsoft.com/office/drawing/2014/main" id="{BE575AD0-5CA9-42B4-B6B7-DB507BD89BB3}"/>
              </a:ext>
            </a:extLst>
          </p:cNvPr>
          <p:cNvSpPr>
            <a:spLocks noGrp="1"/>
          </p:cNvSpPr>
          <p:nvPr/>
        </p:nvSpPr>
        <p:spPr>
          <a:xfrm>
            <a:off x="11430000" y="4095750"/>
            <a:ext cx="953" cy="104775"/>
          </a:xfrm>
          <a:custGeom>
            <a:avLst/>
            <a:gdLst/>
            <a:ahLst/>
            <a:cxnLst/>
            <a:rect l="0" t="0" r="0" b="0"/>
            <a:pathLst>
              <a:path w="953" h="104775">
                <a:moveTo>
                  <a:pt x="0" y="0"/>
                </a:moveTo>
                <a:lnTo>
                  <a:pt x="0" y="104775"/>
                </a:lnTo>
              </a:path>
            </a:pathLst>
          </a:custGeom>
          <a:noFill/>
          <a:ln w="19050">
            <a:solidFill>
              <a:srgbClr val="BDCDC6"/>
            </a:solidFill>
          </a:ln>
        </p:spPr>
      </p:sp>
      <p:sp>
        <p:nvSpPr>
          <p:cNvPr id="41" name="任意多边形: 形状 40">
            <a:extLst>
              <a:ext uri="{FF2B5EF4-FFF2-40B4-BE49-F238E27FC236}">
                <a16:creationId xmlns:a16="http://schemas.microsoft.com/office/drawing/2014/main" id="{9B37A4EB-9A13-419E-9C27-00B541A0BE91}"/>
              </a:ext>
            </a:extLst>
          </p:cNvPr>
          <p:cNvSpPr>
            <a:spLocks noGrp="1"/>
          </p:cNvSpPr>
          <p:nvPr/>
        </p:nvSpPr>
        <p:spPr>
          <a:xfrm>
            <a:off x="11430000" y="4286250"/>
            <a:ext cx="953" cy="104775"/>
          </a:xfrm>
          <a:custGeom>
            <a:avLst/>
            <a:gdLst/>
            <a:ahLst/>
            <a:cxnLst/>
            <a:rect l="0" t="0" r="0" b="0"/>
            <a:pathLst>
              <a:path w="953" h="104775">
                <a:moveTo>
                  <a:pt x="0" y="0"/>
                </a:moveTo>
                <a:lnTo>
                  <a:pt x="0" y="104775"/>
                </a:lnTo>
              </a:path>
            </a:pathLst>
          </a:custGeom>
          <a:noFill/>
          <a:ln w="19050">
            <a:solidFill>
              <a:srgbClr val="BDCDC6"/>
            </a:solidFill>
          </a:ln>
        </p:spPr>
      </p:sp>
      <p:sp>
        <p:nvSpPr>
          <p:cNvPr id="42" name="任意多边形: 形状 41">
            <a:extLst>
              <a:ext uri="{FF2B5EF4-FFF2-40B4-BE49-F238E27FC236}">
                <a16:creationId xmlns:a16="http://schemas.microsoft.com/office/drawing/2014/main" id="{E46F0F6A-0442-43B9-89AB-40289AB2A5FB}"/>
              </a:ext>
            </a:extLst>
          </p:cNvPr>
          <p:cNvSpPr>
            <a:spLocks noGrp="1"/>
          </p:cNvSpPr>
          <p:nvPr/>
        </p:nvSpPr>
        <p:spPr>
          <a:xfrm>
            <a:off x="11430000" y="4476750"/>
            <a:ext cx="953" cy="104775"/>
          </a:xfrm>
          <a:custGeom>
            <a:avLst/>
            <a:gdLst/>
            <a:ahLst/>
            <a:cxnLst/>
            <a:rect l="0" t="0" r="0" b="0"/>
            <a:pathLst>
              <a:path w="953" h="104775">
                <a:moveTo>
                  <a:pt x="0" y="0"/>
                </a:moveTo>
                <a:lnTo>
                  <a:pt x="0" y="104775"/>
                </a:lnTo>
              </a:path>
            </a:pathLst>
          </a:custGeom>
          <a:noFill/>
          <a:ln w="19050">
            <a:solidFill>
              <a:srgbClr val="BDCDC6"/>
            </a:solidFill>
          </a:ln>
        </p:spPr>
      </p:sp>
      <p:sp>
        <p:nvSpPr>
          <p:cNvPr id="43" name="任意多边形: 形状 42">
            <a:extLst>
              <a:ext uri="{FF2B5EF4-FFF2-40B4-BE49-F238E27FC236}">
                <a16:creationId xmlns:a16="http://schemas.microsoft.com/office/drawing/2014/main" id="{95737D9E-24B1-4F7E-B53C-B8968CFD5239}"/>
              </a:ext>
            </a:extLst>
          </p:cNvPr>
          <p:cNvSpPr>
            <a:spLocks noGrp="1"/>
          </p:cNvSpPr>
          <p:nvPr/>
        </p:nvSpPr>
        <p:spPr>
          <a:xfrm>
            <a:off x="11430000" y="4667250"/>
            <a:ext cx="953" cy="104775"/>
          </a:xfrm>
          <a:custGeom>
            <a:avLst/>
            <a:gdLst/>
            <a:ahLst/>
            <a:cxnLst/>
            <a:rect l="0" t="0" r="0" b="0"/>
            <a:pathLst>
              <a:path w="953" h="104775">
                <a:moveTo>
                  <a:pt x="0" y="0"/>
                </a:moveTo>
                <a:lnTo>
                  <a:pt x="0" y="104775"/>
                </a:lnTo>
              </a:path>
            </a:pathLst>
          </a:custGeom>
          <a:noFill/>
          <a:ln w="19050">
            <a:solidFill>
              <a:srgbClr val="BDCDC6"/>
            </a:solidFill>
          </a:ln>
        </p:spPr>
      </p:sp>
      <p:sp>
        <p:nvSpPr>
          <p:cNvPr id="44" name="任意多边形: 形状 43">
            <a:extLst>
              <a:ext uri="{FF2B5EF4-FFF2-40B4-BE49-F238E27FC236}">
                <a16:creationId xmlns:a16="http://schemas.microsoft.com/office/drawing/2014/main" id="{6F4ACEE3-C888-4EED-9C59-0E7ADD00451E}"/>
              </a:ext>
            </a:extLst>
          </p:cNvPr>
          <p:cNvSpPr>
            <a:spLocks noGrp="1"/>
          </p:cNvSpPr>
          <p:nvPr/>
        </p:nvSpPr>
        <p:spPr>
          <a:xfrm>
            <a:off x="11430000" y="4857750"/>
            <a:ext cx="953" cy="104775"/>
          </a:xfrm>
          <a:custGeom>
            <a:avLst/>
            <a:gdLst/>
            <a:ahLst/>
            <a:cxnLst/>
            <a:rect l="0" t="0" r="0" b="0"/>
            <a:pathLst>
              <a:path w="953" h="104775">
                <a:moveTo>
                  <a:pt x="0" y="0"/>
                </a:moveTo>
                <a:lnTo>
                  <a:pt x="0" y="104775"/>
                </a:lnTo>
              </a:path>
            </a:pathLst>
          </a:custGeom>
          <a:noFill/>
          <a:ln w="19050">
            <a:solidFill>
              <a:srgbClr val="BDCDC6"/>
            </a:solidFill>
          </a:ln>
        </p:spPr>
      </p:sp>
      <p:sp>
        <p:nvSpPr>
          <p:cNvPr id="45" name="任意多边形: 形状 44">
            <a:extLst>
              <a:ext uri="{FF2B5EF4-FFF2-40B4-BE49-F238E27FC236}">
                <a16:creationId xmlns:a16="http://schemas.microsoft.com/office/drawing/2014/main" id="{6312D13D-430D-4200-B818-DB2A7F65DEC5}"/>
              </a:ext>
            </a:extLst>
          </p:cNvPr>
          <p:cNvSpPr>
            <a:spLocks noGrp="1"/>
          </p:cNvSpPr>
          <p:nvPr/>
        </p:nvSpPr>
        <p:spPr>
          <a:xfrm>
            <a:off x="11430000" y="5048250"/>
            <a:ext cx="953" cy="104775"/>
          </a:xfrm>
          <a:custGeom>
            <a:avLst/>
            <a:gdLst/>
            <a:ahLst/>
            <a:cxnLst/>
            <a:rect l="0" t="0" r="0" b="0"/>
            <a:pathLst>
              <a:path w="953" h="104775">
                <a:moveTo>
                  <a:pt x="0" y="0"/>
                </a:moveTo>
                <a:lnTo>
                  <a:pt x="0" y="104775"/>
                </a:lnTo>
              </a:path>
            </a:pathLst>
          </a:custGeom>
          <a:noFill/>
          <a:ln w="19050">
            <a:solidFill>
              <a:srgbClr val="BDCDC6"/>
            </a:solidFill>
          </a:ln>
        </p:spPr>
      </p:sp>
      <p:sp>
        <p:nvSpPr>
          <p:cNvPr id="46" name="任意多边形: 形状 45">
            <a:extLst>
              <a:ext uri="{FF2B5EF4-FFF2-40B4-BE49-F238E27FC236}">
                <a16:creationId xmlns:a16="http://schemas.microsoft.com/office/drawing/2014/main" id="{DC16CF92-AA4C-4330-8718-CB54CF734139}"/>
              </a:ext>
            </a:extLst>
          </p:cNvPr>
          <p:cNvSpPr>
            <a:spLocks noGrp="1"/>
          </p:cNvSpPr>
          <p:nvPr/>
        </p:nvSpPr>
        <p:spPr>
          <a:xfrm>
            <a:off x="11430000" y="5238750"/>
            <a:ext cx="953" cy="104775"/>
          </a:xfrm>
          <a:custGeom>
            <a:avLst/>
            <a:gdLst/>
            <a:ahLst/>
            <a:cxnLst/>
            <a:rect l="0" t="0" r="0" b="0"/>
            <a:pathLst>
              <a:path w="953" h="104775">
                <a:moveTo>
                  <a:pt x="0" y="0"/>
                </a:moveTo>
                <a:lnTo>
                  <a:pt x="0" y="104775"/>
                </a:lnTo>
              </a:path>
            </a:pathLst>
          </a:custGeom>
          <a:noFill/>
          <a:ln w="19050">
            <a:solidFill>
              <a:srgbClr val="BDCDC6"/>
            </a:solidFill>
          </a:ln>
        </p:spPr>
      </p:sp>
      <p:sp>
        <p:nvSpPr>
          <p:cNvPr id="47" name="椭圆 46">
            <a:extLst>
              <a:ext uri="{FF2B5EF4-FFF2-40B4-BE49-F238E27FC236}">
                <a16:creationId xmlns:a16="http://schemas.microsoft.com/office/drawing/2014/main" id="{3DA04322-DF6C-475E-A768-21F71FA4A156}"/>
              </a:ext>
            </a:extLst>
          </p:cNvPr>
          <p:cNvSpPr>
            <a:spLocks noGrp="1"/>
          </p:cNvSpPr>
          <p:nvPr/>
        </p:nvSpPr>
        <p:spPr>
          <a:xfrm>
            <a:off x="361950" y="5524500"/>
            <a:ext cx="476250" cy="476250"/>
          </a:xfrm>
          <a:prstGeom prst="ellipse">
            <a:avLst/>
          </a:prstGeom>
          <a:solidFill>
            <a:srgbClr val="366755"/>
          </a:solidFill>
          <a:ln w="0">
            <a:noFill/>
          </a:ln>
        </p:spPr>
        <p:txBody>
          <a:bodyPr lIns="0" tIns="0" rIns="0" bIns="0" anchor="ctr"/>
          <a:lstStyle/>
          <a:p>
            <a:pPr algn="ctr">
              <a:defRPr sz="23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48" name="矩形 47">
            <a:extLst>
              <a:ext uri="{FF2B5EF4-FFF2-40B4-BE49-F238E27FC236}">
                <a16:creationId xmlns:a16="http://schemas.microsoft.com/office/drawing/2014/main" id="{26F3713E-AF41-4581-87D7-1A6023F04794}"/>
              </a:ext>
            </a:extLst>
          </p:cNvPr>
          <p:cNvSpPr>
            <a:spLocks noGrp="1"/>
          </p:cNvSpPr>
          <p:nvPr/>
        </p:nvSpPr>
        <p:spPr>
          <a:xfrm>
            <a:off x="1238250" y="5543550"/>
            <a:ext cx="2000250" cy="4572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2850" b="1">
                <a:solidFill>
                  <a:srgbClr val="366755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366755"/>
                </a:solidFill>
                <a:latin typeface="Arial"/>
                <a:ea typeface="Arial"/>
                <a:cs typeface="Arial"/>
              </a:rPr>
              <a:t>Find</a:t>
            </a:r>
          </a:p>
        </p:txBody>
      </p:sp>
      <p:sp>
        <p:nvSpPr>
          <p:cNvPr id="49" name="矩形 48">
            <a:extLst>
              <a:ext uri="{FF2B5EF4-FFF2-40B4-BE49-F238E27FC236}">
                <a16:creationId xmlns:a16="http://schemas.microsoft.com/office/drawing/2014/main" id="{FD88FB25-053D-4D8D-96F3-DEA269A04DB5}"/>
              </a:ext>
            </a:extLst>
          </p:cNvPr>
          <p:cNvSpPr>
            <a:spLocks noGrp="1"/>
          </p:cNvSpPr>
          <p:nvPr/>
        </p:nvSpPr>
        <p:spPr>
          <a:xfrm>
            <a:off x="3524250" y="5572125"/>
            <a:ext cx="12715875" cy="4000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2325" b="0">
                <a:solidFill>
                  <a:srgbClr val="60717A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60717A"/>
                </a:solidFill>
                <a:latin typeface="Arial"/>
                <a:ea typeface="Arial"/>
                <a:cs typeface="Arial"/>
              </a:rPr>
              <a:t>Locating candidate ligand regions in the experimental map</a:t>
            </a:r>
          </a:p>
        </p:txBody>
      </p:sp>
      <p:sp>
        <p:nvSpPr>
          <p:cNvPr id="50" name="任意多边形: 形状 49">
            <a:extLst>
              <a:ext uri="{FF2B5EF4-FFF2-40B4-BE49-F238E27FC236}">
                <a16:creationId xmlns:a16="http://schemas.microsoft.com/office/drawing/2014/main" id="{6F55BAA9-5119-472C-9BE4-7E7A54D44953}"/>
              </a:ext>
            </a:extLst>
          </p:cNvPr>
          <p:cNvSpPr>
            <a:spLocks noGrp="1"/>
          </p:cNvSpPr>
          <p:nvPr/>
        </p:nvSpPr>
        <p:spPr>
          <a:xfrm>
            <a:off x="1238250" y="6105525"/>
            <a:ext cx="15049500" cy="953"/>
          </a:xfrm>
          <a:custGeom>
            <a:avLst/>
            <a:gdLst/>
            <a:ahLst/>
            <a:cxnLst/>
            <a:rect l="0" t="0" r="0" b="0"/>
            <a:pathLst>
              <a:path w="15049500" h="953">
                <a:moveTo>
                  <a:pt x="0" y="0"/>
                </a:moveTo>
                <a:lnTo>
                  <a:pt x="15049500" y="0"/>
                </a:lnTo>
              </a:path>
            </a:pathLst>
          </a:custGeom>
          <a:noFill/>
          <a:ln w="19050">
            <a:solidFill>
              <a:srgbClr val="E6EDEB"/>
            </a:solidFill>
          </a:ln>
        </p:spPr>
      </p:sp>
      <p:sp>
        <p:nvSpPr>
          <p:cNvPr id="51" name="矩形 50">
            <a:extLst>
              <a:ext uri="{FF2B5EF4-FFF2-40B4-BE49-F238E27FC236}">
                <a16:creationId xmlns:a16="http://schemas.microsoft.com/office/drawing/2014/main" id="{E9ED4777-C375-45B3-B454-BF7D9D26DF23}"/>
              </a:ext>
            </a:extLst>
          </p:cNvPr>
          <p:cNvSpPr>
            <a:spLocks noGrp="1"/>
          </p:cNvSpPr>
          <p:nvPr/>
        </p:nvSpPr>
        <p:spPr>
          <a:xfrm>
            <a:off x="1238250" y="6248400"/>
            <a:ext cx="352425" cy="3714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2475" b="1">
                <a:solidFill>
                  <a:srgbClr val="203544"/>
                </a:solidFill>
                <a:latin typeface="Arial"/>
                <a:ea typeface="Arial"/>
                <a:cs typeface="Arial"/>
              </a:defRPr>
            </a:pPr>
            <a:r>
              <a:rPr sz="2475" b="1">
                <a:solidFill>
                  <a:srgbClr val="203544"/>
                </a:solidFill>
                <a:latin typeface="Arial"/>
                <a:ea typeface="Arial"/>
                <a:cs typeface="Arial"/>
              </a:rPr>
              <a:t>d</a:t>
            </a:r>
          </a:p>
        </p:txBody>
      </p:sp>
      <p:sp>
        <p:nvSpPr>
          <p:cNvPr id="52" name="矩形 51">
            <a:extLst>
              <a:ext uri="{FF2B5EF4-FFF2-40B4-BE49-F238E27FC236}">
                <a16:creationId xmlns:a16="http://schemas.microsoft.com/office/drawing/2014/main" id="{18B89989-BB28-44FC-9EBD-D8A78C8AFD22}"/>
              </a:ext>
            </a:extLst>
          </p:cNvPr>
          <p:cNvSpPr>
            <a:spLocks noGrp="1"/>
          </p:cNvSpPr>
          <p:nvPr/>
        </p:nvSpPr>
        <p:spPr>
          <a:xfrm>
            <a:off x="1657350" y="6257925"/>
            <a:ext cx="5486400" cy="3714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2325" b="0">
                <a:solidFill>
                  <a:srgbClr val="203544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203544"/>
                </a:solidFill>
                <a:latin typeface="Arial"/>
                <a:ea typeface="Arial"/>
                <a:cs typeface="Arial"/>
              </a:rPr>
              <a:t>Global candidates</a:t>
            </a:r>
          </a:p>
        </p:txBody>
      </p:sp>
      <p:pic>
        <p:nvPicPr>
          <p:cNvPr id="154" name="global_find" descr="9XZL global_find; native ChimeraX; source C:\Users\15919\Desktop\论文草稿\画图\formal\E2E_flow_v2_20261003\9xzl\renders\global_find.png; editable crop only"/>
          <p:cNvPicPr>
            <a:picLocks noChangeAspect="1"/>
          </p:cNvPicPr>
          <p:nvPr/>
        </p:nvPicPr>
        <p:blipFill>
          <a:blip r:embed="rId7"/>
          <a:srcRect l="23964" t="14727" r="26652" b="16537"/>
          <a:stretch>
            <a:fillRect/>
          </a:stretch>
        </p:blipFill>
        <p:spPr>
          <a:xfrm>
            <a:off x="2229239" y="6715125"/>
            <a:ext cx="3923521" cy="4095750"/>
          </a:xfrm>
          <a:prstGeom prst="rect">
            <a:avLst/>
          </a:prstGeom>
        </p:spPr>
      </p:pic>
      <p:sp>
        <p:nvSpPr>
          <p:cNvPr id="54" name="target blob 1">
            <a:extLst>
              <a:ext uri="{FF2B5EF4-FFF2-40B4-BE49-F238E27FC236}">
                <a16:creationId xmlns:a16="http://schemas.microsoft.com/office/drawing/2014/main" id="{69301BF5-CAA2-45FE-AA62-F67BA00660A7}"/>
              </a:ext>
            </a:extLst>
          </p:cNvPr>
          <p:cNvSpPr>
            <a:spLocks noGrp="1"/>
          </p:cNvSpPr>
          <p:nvPr/>
        </p:nvSpPr>
        <p:spPr>
          <a:xfrm>
            <a:off x="4305887" y="8246231"/>
            <a:ext cx="706178" cy="727502"/>
          </a:xfrm>
          <a:prstGeom prst="rect">
            <a:avLst/>
          </a:prstGeom>
          <a:noFill/>
          <a:ln w="28575">
            <a:solidFill>
              <a:srgbClr val="E9983C"/>
            </a:solidFill>
          </a:ln>
        </p:spPr>
      </p:sp>
      <p:sp>
        <p:nvSpPr>
          <p:cNvPr id="55" name="矩形 54">
            <a:extLst>
              <a:ext uri="{FF2B5EF4-FFF2-40B4-BE49-F238E27FC236}">
                <a16:creationId xmlns:a16="http://schemas.microsoft.com/office/drawing/2014/main" id="{FA470AFC-5C9E-4968-BC2E-B9CF4D0E18E7}"/>
              </a:ext>
            </a:extLst>
          </p:cNvPr>
          <p:cNvSpPr>
            <a:spLocks noGrp="1"/>
          </p:cNvSpPr>
          <p:nvPr/>
        </p:nvSpPr>
        <p:spPr>
          <a:xfrm>
            <a:off x="7905750" y="6248400"/>
            <a:ext cx="352425" cy="3714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2475" b="1">
                <a:solidFill>
                  <a:srgbClr val="203544"/>
                </a:solidFill>
                <a:latin typeface="Arial"/>
                <a:ea typeface="Arial"/>
                <a:cs typeface="Arial"/>
              </a:defRPr>
            </a:pPr>
            <a:r>
              <a:rPr sz="2475" b="1">
                <a:solidFill>
                  <a:srgbClr val="203544"/>
                </a:solidFill>
                <a:latin typeface="Arial"/>
                <a:ea typeface="Arial"/>
                <a:cs typeface="Arial"/>
              </a:rPr>
              <a:t>e</a:t>
            </a:r>
          </a:p>
        </p:txBody>
      </p:sp>
      <p:sp>
        <p:nvSpPr>
          <p:cNvPr id="56" name="矩形 55">
            <a:extLst>
              <a:ext uri="{FF2B5EF4-FFF2-40B4-BE49-F238E27FC236}">
                <a16:creationId xmlns:a16="http://schemas.microsoft.com/office/drawing/2014/main" id="{4709E952-AD42-4554-8866-986E62DCD644}"/>
              </a:ext>
            </a:extLst>
          </p:cNvPr>
          <p:cNvSpPr>
            <a:spLocks noGrp="1"/>
          </p:cNvSpPr>
          <p:nvPr/>
        </p:nvSpPr>
        <p:spPr>
          <a:xfrm>
            <a:off x="8324850" y="6257925"/>
            <a:ext cx="3629025" cy="3714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2325" b="0">
                <a:solidFill>
                  <a:srgbClr val="203544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203544"/>
                </a:solidFill>
                <a:latin typeface="Arial"/>
                <a:ea typeface="Arial"/>
                <a:cs typeface="Arial"/>
              </a:rPr>
              <a:t>GT neighborhood</a:t>
            </a:r>
          </a:p>
        </p:txBody>
      </p:sp>
      <p:sp>
        <p:nvSpPr>
          <p:cNvPr id="57" name="矩形 56">
            <a:extLst>
              <a:ext uri="{FF2B5EF4-FFF2-40B4-BE49-F238E27FC236}">
                <a16:creationId xmlns:a16="http://schemas.microsoft.com/office/drawing/2014/main" id="{E37FD02D-75E1-40B7-85AD-62B4BF5B7A79}"/>
              </a:ext>
            </a:extLst>
          </p:cNvPr>
          <p:cNvSpPr>
            <a:spLocks noGrp="1"/>
          </p:cNvSpPr>
          <p:nvPr/>
        </p:nvSpPr>
        <p:spPr>
          <a:xfrm>
            <a:off x="12239625" y="6248400"/>
            <a:ext cx="352425" cy="3714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2475" b="1">
                <a:solidFill>
                  <a:srgbClr val="203544"/>
                </a:solidFill>
                <a:latin typeface="Arial"/>
                <a:ea typeface="Arial"/>
                <a:cs typeface="Arial"/>
              </a:defRPr>
            </a:pPr>
            <a:r>
              <a:rPr sz="2475" b="1">
                <a:solidFill>
                  <a:srgbClr val="203544"/>
                </a:solidFill>
                <a:latin typeface="Arial"/>
                <a:ea typeface="Arial"/>
                <a:cs typeface="Arial"/>
              </a:rPr>
              <a:t>f</a:t>
            </a:r>
          </a:p>
        </p:txBody>
      </p:sp>
      <p:sp>
        <p:nvSpPr>
          <p:cNvPr id="58" name="矩形 57">
            <a:extLst>
              <a:ext uri="{FF2B5EF4-FFF2-40B4-BE49-F238E27FC236}">
                <a16:creationId xmlns:a16="http://schemas.microsoft.com/office/drawing/2014/main" id="{C64F9E31-7FD5-4A99-8906-C4811112CDB5}"/>
              </a:ext>
            </a:extLst>
          </p:cNvPr>
          <p:cNvSpPr>
            <a:spLocks noGrp="1"/>
          </p:cNvSpPr>
          <p:nvPr/>
        </p:nvSpPr>
        <p:spPr>
          <a:xfrm>
            <a:off x="12658725" y="6257925"/>
            <a:ext cx="3629025" cy="3714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2325" b="0">
                <a:solidFill>
                  <a:srgbClr val="203544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203544"/>
                </a:solidFill>
                <a:latin typeface="Arial"/>
                <a:ea typeface="Arial"/>
                <a:cs typeface="Arial"/>
              </a:rPr>
              <a:t>Find prediction</a:t>
            </a:r>
          </a:p>
        </p:txBody>
      </p:sp>
      <p:sp>
        <p:nvSpPr>
          <p:cNvPr id="59" name="矩形 58">
            <a:extLst>
              <a:ext uri="{FF2B5EF4-FFF2-40B4-BE49-F238E27FC236}">
                <a16:creationId xmlns:a16="http://schemas.microsoft.com/office/drawing/2014/main" id="{FED905CA-A4E0-4D5D-A977-FD5BDE29A3D1}"/>
              </a:ext>
            </a:extLst>
          </p:cNvPr>
          <p:cNvSpPr>
            <a:spLocks noGrp="1"/>
          </p:cNvSpPr>
          <p:nvPr/>
        </p:nvSpPr>
        <p:spPr>
          <a:xfrm>
            <a:off x="7905750" y="6677025"/>
            <a:ext cx="8382000" cy="381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2250" b="1">
                <a:solidFill>
                  <a:srgbClr val="E9983C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E9983C"/>
                </a:solidFill>
                <a:latin typeface="Arial"/>
                <a:ea typeface="Arial"/>
                <a:cs typeface="Arial"/>
              </a:rPr>
              <a:t>Rank 2: target ligand</a:t>
            </a:r>
          </a:p>
        </p:txBody>
      </p:sp>
      <p:pic>
        <p:nvPicPr>
          <p:cNvPr id="161" name="local_gt" descr="9XZL local_gt; native ChimeraX; source C:\Users\15919\Desktop\论文草稿\画图\formal\E2E_flow_20261003\9xzl\renders\local_gt.png; editable crop only"/>
          <p:cNvPicPr>
            <a:picLocks noChangeAspect="1"/>
          </p:cNvPicPr>
          <p:nvPr/>
        </p:nvPicPr>
        <p:blipFill>
          <a:blip r:embed="rId8"/>
          <a:srcRect l="18125" r="10556" b="3611"/>
          <a:stretch>
            <a:fillRect/>
          </a:stretch>
        </p:blipFill>
        <p:spPr>
          <a:xfrm>
            <a:off x="8285355" y="7115175"/>
            <a:ext cx="3288916" cy="3333750"/>
          </a:xfrm>
          <a:prstGeom prst="rect">
            <a:avLst/>
          </a:prstGeom>
        </p:spPr>
      </p:pic>
      <p:pic>
        <p:nvPicPr>
          <p:cNvPr id="162" name="local_find" descr="9XZL local_find; native ChimeraX; source C:\Users\15919\Desktop\论文草稿\画图\formal\E2E_flow_20261003\9xzl\renders\local_find.png; editable crop only"/>
          <p:cNvPicPr>
            <a:picLocks noChangeAspect="1"/>
          </p:cNvPicPr>
          <p:nvPr/>
        </p:nvPicPr>
        <p:blipFill>
          <a:blip r:embed="rId9"/>
          <a:srcRect l="18125" r="10556" b="3611"/>
          <a:stretch>
            <a:fillRect/>
          </a:stretch>
        </p:blipFill>
        <p:spPr>
          <a:xfrm>
            <a:off x="12619230" y="7115175"/>
            <a:ext cx="3288916" cy="3333750"/>
          </a:xfrm>
          <a:prstGeom prst="rect">
            <a:avLst/>
          </a:prstGeom>
        </p:spPr>
      </p:pic>
      <p:sp>
        <p:nvSpPr>
          <p:cNvPr id="62" name="矩形 61">
            <a:extLst>
              <a:ext uri="{FF2B5EF4-FFF2-40B4-BE49-F238E27FC236}">
                <a16:creationId xmlns:a16="http://schemas.microsoft.com/office/drawing/2014/main" id="{CE6DCEDF-349E-47F3-B692-AC58A17D10B8}"/>
              </a:ext>
            </a:extLst>
          </p:cNvPr>
          <p:cNvSpPr>
            <a:spLocks noGrp="1"/>
          </p:cNvSpPr>
          <p:nvPr/>
        </p:nvSpPr>
        <p:spPr>
          <a:xfrm>
            <a:off x="7905750" y="10553700"/>
            <a:ext cx="8382000" cy="3619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2250" b="0">
                <a:solidFill>
                  <a:srgbClr val="9A907C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9A907C"/>
                </a:solidFill>
                <a:latin typeface="Arial"/>
                <a:ea typeface="Arial"/>
                <a:cs typeface="Arial"/>
              </a:rPr>
              <a:t>Rank 1: free scope skip</a:t>
            </a:r>
          </a:p>
        </p:txBody>
      </p:sp>
      <p:sp>
        <p:nvSpPr>
          <p:cNvPr id="63" name="椭圆 62">
            <a:extLst>
              <a:ext uri="{FF2B5EF4-FFF2-40B4-BE49-F238E27FC236}">
                <a16:creationId xmlns:a16="http://schemas.microsoft.com/office/drawing/2014/main" id="{A62BA612-7ED3-4964-B96F-1E9FA59ED256}"/>
              </a:ext>
            </a:extLst>
          </p:cNvPr>
          <p:cNvSpPr>
            <a:spLocks noGrp="1"/>
          </p:cNvSpPr>
          <p:nvPr/>
        </p:nvSpPr>
        <p:spPr>
          <a:xfrm>
            <a:off x="361950" y="10991850"/>
            <a:ext cx="476250" cy="476250"/>
          </a:xfrm>
          <a:prstGeom prst="ellipse">
            <a:avLst/>
          </a:prstGeom>
          <a:solidFill>
            <a:srgbClr val="366755"/>
          </a:solidFill>
          <a:ln w="0">
            <a:noFill/>
          </a:ln>
        </p:spPr>
        <p:txBody>
          <a:bodyPr lIns="0" tIns="0" rIns="0" bIns="0" anchor="ctr"/>
          <a:lstStyle/>
          <a:p>
            <a:pPr algn="ctr">
              <a:defRPr sz="23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64" name="矩形 63">
            <a:extLst>
              <a:ext uri="{FF2B5EF4-FFF2-40B4-BE49-F238E27FC236}">
                <a16:creationId xmlns:a16="http://schemas.microsoft.com/office/drawing/2014/main" id="{9D410E43-989C-4DCE-A71D-E89020A93A80}"/>
              </a:ext>
            </a:extLst>
          </p:cNvPr>
          <p:cNvSpPr>
            <a:spLocks noGrp="1"/>
          </p:cNvSpPr>
          <p:nvPr/>
        </p:nvSpPr>
        <p:spPr>
          <a:xfrm>
            <a:off x="1238250" y="11010900"/>
            <a:ext cx="2000250" cy="4572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2850" b="1">
                <a:solidFill>
                  <a:srgbClr val="366755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366755"/>
                </a:solidFill>
                <a:latin typeface="Arial"/>
                <a:ea typeface="Arial"/>
                <a:cs typeface="Arial"/>
              </a:rPr>
              <a:t>Match</a:t>
            </a:r>
          </a:p>
        </p:txBody>
      </p:sp>
      <p:sp>
        <p:nvSpPr>
          <p:cNvPr id="65" name="矩形 64">
            <a:extLst>
              <a:ext uri="{FF2B5EF4-FFF2-40B4-BE49-F238E27FC236}">
                <a16:creationId xmlns:a16="http://schemas.microsoft.com/office/drawing/2014/main" id="{E3A797C1-30A9-40CF-B75F-0D398945BAA7}"/>
              </a:ext>
            </a:extLst>
          </p:cNvPr>
          <p:cNvSpPr>
            <a:spLocks noGrp="1"/>
          </p:cNvSpPr>
          <p:nvPr/>
        </p:nvSpPr>
        <p:spPr>
          <a:xfrm>
            <a:off x="3524250" y="11039475"/>
            <a:ext cx="12715875" cy="4000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2325" b="0">
                <a:solidFill>
                  <a:srgbClr val="60717A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60717A"/>
                </a:solidFill>
                <a:latin typeface="Arial"/>
                <a:ea typeface="Arial"/>
                <a:cs typeface="Arial"/>
              </a:rPr>
              <a:t>Matching candidate regions to ligand SMILES from the same PDB</a:t>
            </a:r>
          </a:p>
        </p:txBody>
      </p:sp>
      <p:sp>
        <p:nvSpPr>
          <p:cNvPr id="66" name="任意多边形: 形状 65">
            <a:extLst>
              <a:ext uri="{FF2B5EF4-FFF2-40B4-BE49-F238E27FC236}">
                <a16:creationId xmlns:a16="http://schemas.microsoft.com/office/drawing/2014/main" id="{45E61F0A-17C3-4C7A-B70B-CDDDF2346B96}"/>
              </a:ext>
            </a:extLst>
          </p:cNvPr>
          <p:cNvSpPr>
            <a:spLocks noGrp="1"/>
          </p:cNvSpPr>
          <p:nvPr/>
        </p:nvSpPr>
        <p:spPr>
          <a:xfrm>
            <a:off x="1238250" y="11572875"/>
            <a:ext cx="15049500" cy="953"/>
          </a:xfrm>
          <a:custGeom>
            <a:avLst/>
            <a:gdLst/>
            <a:ahLst/>
            <a:cxnLst/>
            <a:rect l="0" t="0" r="0" b="0"/>
            <a:pathLst>
              <a:path w="15049500" h="953">
                <a:moveTo>
                  <a:pt x="0" y="0"/>
                </a:moveTo>
                <a:lnTo>
                  <a:pt x="15049500" y="0"/>
                </a:lnTo>
              </a:path>
            </a:pathLst>
          </a:custGeom>
          <a:noFill/>
          <a:ln w="19050">
            <a:solidFill>
              <a:srgbClr val="E6EDEB"/>
            </a:solidFill>
          </a:ln>
        </p:spPr>
      </p:sp>
      <p:sp>
        <p:nvSpPr>
          <p:cNvPr id="67" name="矩形 66">
            <a:extLst>
              <a:ext uri="{FF2B5EF4-FFF2-40B4-BE49-F238E27FC236}">
                <a16:creationId xmlns:a16="http://schemas.microsoft.com/office/drawing/2014/main" id="{85D5CDEE-E046-4670-9E30-BF209C53F8F1}"/>
              </a:ext>
            </a:extLst>
          </p:cNvPr>
          <p:cNvSpPr>
            <a:spLocks noGrp="1"/>
          </p:cNvSpPr>
          <p:nvPr/>
        </p:nvSpPr>
        <p:spPr>
          <a:xfrm>
            <a:off x="942975" y="11744325"/>
            <a:ext cx="285750" cy="381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2475" b="1">
                <a:solidFill>
                  <a:srgbClr val="203544"/>
                </a:solidFill>
                <a:latin typeface="Arial"/>
                <a:ea typeface="Arial"/>
                <a:cs typeface="Arial"/>
              </a:defRPr>
            </a:pPr>
            <a:r>
              <a:rPr sz="2475" b="1">
                <a:solidFill>
                  <a:srgbClr val="203544"/>
                </a:solidFill>
                <a:latin typeface="Arial"/>
                <a:ea typeface="Arial"/>
                <a:cs typeface="Arial"/>
              </a:rPr>
              <a:t>g</a:t>
            </a:r>
          </a:p>
        </p:txBody>
      </p:sp>
      <p:sp>
        <p:nvSpPr>
          <p:cNvPr id="68" name="Identity 1">
            <a:extLst>
              <a:ext uri="{FF2B5EF4-FFF2-40B4-BE49-F238E27FC236}">
                <a16:creationId xmlns:a16="http://schemas.microsoft.com/office/drawing/2014/main" id="{09A046F1-13EF-48A3-BE08-27FC18AE2606}"/>
              </a:ext>
            </a:extLst>
          </p:cNvPr>
          <p:cNvSpPr>
            <a:spLocks noGrp="1"/>
          </p:cNvSpPr>
          <p:nvPr/>
        </p:nvSpPr>
        <p:spPr>
          <a:xfrm>
            <a:off x="1238250" y="11715750"/>
            <a:ext cx="4838700" cy="2857500"/>
          </a:xfrm>
          <a:prstGeom prst="rect">
            <a:avLst/>
          </a:prstGeom>
          <a:solidFill>
            <a:srgbClr val="FFFFFF"/>
          </a:solidFill>
          <a:ln w="28575">
            <a:solidFill>
              <a:srgbClr val="3169B3"/>
            </a:solidFill>
          </a:ln>
        </p:spPr>
      </p:sp>
      <p:sp>
        <p:nvSpPr>
          <p:cNvPr id="69" name="矩形 68">
            <a:extLst>
              <a:ext uri="{FF2B5EF4-FFF2-40B4-BE49-F238E27FC236}">
                <a16:creationId xmlns:a16="http://schemas.microsoft.com/office/drawing/2014/main" id="{F2F87956-7BBF-4FB6-BCE8-1D8037695139}"/>
              </a:ext>
            </a:extLst>
          </p:cNvPr>
          <p:cNvSpPr>
            <a:spLocks noGrp="1"/>
          </p:cNvSpPr>
          <p:nvPr/>
        </p:nvSpPr>
        <p:spPr>
          <a:xfrm>
            <a:off x="1409700" y="11830050"/>
            <a:ext cx="4495800" cy="381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2400" b="1">
                <a:solidFill>
                  <a:srgbClr val="3169B3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3169B3"/>
                </a:solidFill>
                <a:latin typeface="Arial"/>
                <a:ea typeface="Arial"/>
                <a:cs typeface="Arial"/>
              </a:rPr>
              <a:t>1  AGS</a:t>
            </a:r>
          </a:p>
        </p:txBody>
      </p:sp>
      <p:pic>
        <p:nvPicPr>
          <p:cNvPr id="171" name="图形 170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/>
        </p:blipFill>
        <p:spPr>
          <a:xfrm>
            <a:off x="1381125" y="12311983"/>
            <a:ext cx="4552950" cy="1931735"/>
          </a:xfrm>
          <a:prstGeom prst="rect">
            <a:avLst/>
          </a:prstGeom>
        </p:spPr>
      </p:pic>
      <p:sp>
        <p:nvSpPr>
          <p:cNvPr id="71" name="矩形 70">
            <a:extLst>
              <a:ext uri="{FF2B5EF4-FFF2-40B4-BE49-F238E27FC236}">
                <a16:creationId xmlns:a16="http://schemas.microsoft.com/office/drawing/2014/main" id="{B94C7794-5A2F-464C-8DAC-8E1998406B05}"/>
              </a:ext>
            </a:extLst>
          </p:cNvPr>
          <p:cNvSpPr>
            <a:spLocks noGrp="1"/>
          </p:cNvSpPr>
          <p:nvPr/>
        </p:nvSpPr>
        <p:spPr>
          <a:xfrm>
            <a:off x="1409700" y="14249400"/>
            <a:ext cx="4495800" cy="285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2100" b="1">
                <a:solidFill>
                  <a:srgbClr val="3169B3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3169B3"/>
                </a:solidFill>
                <a:latin typeface="Arial"/>
                <a:ea typeface="Arial"/>
                <a:cs typeface="Arial"/>
              </a:rPr>
              <a:t>Matched identity</a:t>
            </a:r>
          </a:p>
        </p:txBody>
      </p:sp>
      <p:sp>
        <p:nvSpPr>
          <p:cNvPr id="72" name="Identity 2">
            <a:extLst>
              <a:ext uri="{FF2B5EF4-FFF2-40B4-BE49-F238E27FC236}">
                <a16:creationId xmlns:a16="http://schemas.microsoft.com/office/drawing/2014/main" id="{61EA0381-AC4E-4E04-8FCE-45187A447A37}"/>
              </a:ext>
            </a:extLst>
          </p:cNvPr>
          <p:cNvSpPr>
            <a:spLocks noGrp="1"/>
          </p:cNvSpPr>
          <p:nvPr/>
        </p:nvSpPr>
        <p:spPr>
          <a:xfrm>
            <a:off x="6343650" y="11715750"/>
            <a:ext cx="4838700" cy="2857500"/>
          </a:xfrm>
          <a:prstGeom prst="rect">
            <a:avLst/>
          </a:prstGeom>
          <a:solidFill>
            <a:srgbClr val="FFFFFF"/>
          </a:solidFill>
          <a:ln w="9525">
            <a:solidFill>
              <a:srgbClr val="E6EDEB"/>
            </a:solidFill>
          </a:ln>
        </p:spPr>
      </p:sp>
      <p:sp>
        <p:nvSpPr>
          <p:cNvPr id="73" name="矩形 72">
            <a:extLst>
              <a:ext uri="{FF2B5EF4-FFF2-40B4-BE49-F238E27FC236}">
                <a16:creationId xmlns:a16="http://schemas.microsoft.com/office/drawing/2014/main" id="{9B9C5E8C-732A-4AF8-9BAD-1D0E81EF6F36}"/>
              </a:ext>
            </a:extLst>
          </p:cNvPr>
          <p:cNvSpPr>
            <a:spLocks noGrp="1"/>
          </p:cNvSpPr>
          <p:nvPr/>
        </p:nvSpPr>
        <p:spPr>
          <a:xfrm>
            <a:off x="6515100" y="11830050"/>
            <a:ext cx="4495800" cy="381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2400" b="0">
                <a:solidFill>
                  <a:srgbClr val="203544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203544"/>
                </a:solidFill>
                <a:latin typeface="Arial"/>
                <a:ea typeface="Arial"/>
                <a:cs typeface="Arial"/>
              </a:rPr>
              <a:t>2  Identity2</a:t>
            </a:r>
          </a:p>
        </p:txBody>
      </p:sp>
      <p:pic>
        <p:nvPicPr>
          <p:cNvPr id="175" name="图形 174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/>
        </p:blipFill>
        <p:spPr>
          <a:xfrm>
            <a:off x="8116824" y="12896850"/>
            <a:ext cx="1292352" cy="762000"/>
          </a:xfrm>
          <a:prstGeom prst="rect">
            <a:avLst/>
          </a:prstGeom>
        </p:spPr>
      </p:pic>
      <p:sp>
        <p:nvSpPr>
          <p:cNvPr id="75" name="Identity 3">
            <a:extLst>
              <a:ext uri="{FF2B5EF4-FFF2-40B4-BE49-F238E27FC236}">
                <a16:creationId xmlns:a16="http://schemas.microsoft.com/office/drawing/2014/main" id="{21F8E5D5-CC18-4860-AF7C-41386F645D30}"/>
              </a:ext>
            </a:extLst>
          </p:cNvPr>
          <p:cNvSpPr>
            <a:spLocks noGrp="1"/>
          </p:cNvSpPr>
          <p:nvPr/>
        </p:nvSpPr>
        <p:spPr>
          <a:xfrm>
            <a:off x="11449050" y="11715750"/>
            <a:ext cx="4838700" cy="2857500"/>
          </a:xfrm>
          <a:prstGeom prst="rect">
            <a:avLst/>
          </a:prstGeom>
          <a:solidFill>
            <a:srgbClr val="FFFFFF"/>
          </a:solidFill>
          <a:ln w="9525">
            <a:solidFill>
              <a:srgbClr val="E6EDEB"/>
            </a:solidFill>
          </a:ln>
        </p:spPr>
      </p:sp>
      <p:sp>
        <p:nvSpPr>
          <p:cNvPr id="76" name="矩形 75">
            <a:extLst>
              <a:ext uri="{FF2B5EF4-FFF2-40B4-BE49-F238E27FC236}">
                <a16:creationId xmlns:a16="http://schemas.microsoft.com/office/drawing/2014/main" id="{824A3214-9BD0-41E5-A7EB-D1C852270827}"/>
              </a:ext>
            </a:extLst>
          </p:cNvPr>
          <p:cNvSpPr>
            <a:spLocks noGrp="1"/>
          </p:cNvSpPr>
          <p:nvPr/>
        </p:nvSpPr>
        <p:spPr>
          <a:xfrm>
            <a:off x="11620500" y="11830050"/>
            <a:ext cx="4495800" cy="381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2400" b="0">
                <a:solidFill>
                  <a:srgbClr val="203544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203544"/>
                </a:solidFill>
                <a:latin typeface="Arial"/>
                <a:ea typeface="Arial"/>
                <a:cs typeface="Arial"/>
              </a:rPr>
              <a:t>3  ZN</a:t>
            </a:r>
          </a:p>
        </p:txBody>
      </p:sp>
      <p:pic>
        <p:nvPicPr>
          <p:cNvPr id="178" name="图形 177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/>
        </p:blipFill>
        <p:spPr>
          <a:xfrm>
            <a:off x="13161390" y="12896850"/>
            <a:ext cx="1414021" cy="762000"/>
          </a:xfrm>
          <a:prstGeom prst="rect">
            <a:avLst/>
          </a:prstGeom>
        </p:spPr>
      </p:pic>
      <p:sp>
        <p:nvSpPr>
          <p:cNvPr id="78" name="椭圆 77">
            <a:extLst>
              <a:ext uri="{FF2B5EF4-FFF2-40B4-BE49-F238E27FC236}">
                <a16:creationId xmlns:a16="http://schemas.microsoft.com/office/drawing/2014/main" id="{3097AE96-F7BE-42E2-B8DE-04E31E82C0B7}"/>
              </a:ext>
            </a:extLst>
          </p:cNvPr>
          <p:cNvSpPr>
            <a:spLocks noGrp="1"/>
          </p:cNvSpPr>
          <p:nvPr/>
        </p:nvSpPr>
        <p:spPr>
          <a:xfrm>
            <a:off x="361950" y="14763750"/>
            <a:ext cx="476250" cy="476250"/>
          </a:xfrm>
          <a:prstGeom prst="ellipse">
            <a:avLst/>
          </a:prstGeom>
          <a:solidFill>
            <a:srgbClr val="366755"/>
          </a:solidFill>
          <a:ln w="0">
            <a:noFill/>
          </a:ln>
        </p:spPr>
        <p:txBody>
          <a:bodyPr lIns="0" tIns="0" rIns="0" bIns="0" anchor="ctr"/>
          <a:lstStyle/>
          <a:p>
            <a:pPr algn="ctr">
              <a:defRPr sz="23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79" name="矩形 78">
            <a:extLst>
              <a:ext uri="{FF2B5EF4-FFF2-40B4-BE49-F238E27FC236}">
                <a16:creationId xmlns:a16="http://schemas.microsoft.com/office/drawing/2014/main" id="{0D50F418-DE0C-4A63-BFA4-41DFD49F4E98}"/>
              </a:ext>
            </a:extLst>
          </p:cNvPr>
          <p:cNvSpPr>
            <a:spLocks noGrp="1"/>
          </p:cNvSpPr>
          <p:nvPr/>
        </p:nvSpPr>
        <p:spPr>
          <a:xfrm>
            <a:off x="1238250" y="14782800"/>
            <a:ext cx="2000250" cy="4572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2850" b="1">
                <a:solidFill>
                  <a:srgbClr val="366755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366755"/>
                </a:solidFill>
                <a:latin typeface="Arial"/>
                <a:ea typeface="Arial"/>
                <a:cs typeface="Arial"/>
              </a:rPr>
              <a:t>Build</a:t>
            </a:r>
          </a:p>
        </p:txBody>
      </p:sp>
      <p:sp>
        <p:nvSpPr>
          <p:cNvPr id="80" name="矩形 79">
            <a:extLst>
              <a:ext uri="{FF2B5EF4-FFF2-40B4-BE49-F238E27FC236}">
                <a16:creationId xmlns:a16="http://schemas.microsoft.com/office/drawing/2014/main" id="{37FD2928-F1AC-41F0-9537-AE421F2F2779}"/>
              </a:ext>
            </a:extLst>
          </p:cNvPr>
          <p:cNvSpPr>
            <a:spLocks noGrp="1"/>
          </p:cNvSpPr>
          <p:nvPr/>
        </p:nvSpPr>
        <p:spPr>
          <a:xfrm>
            <a:off x="3524250" y="14811375"/>
            <a:ext cx="12715875" cy="4000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2325" b="0">
                <a:solidFill>
                  <a:srgbClr val="60717A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60717A"/>
                </a:solidFill>
                <a:latin typeface="Arial"/>
                <a:ea typeface="Arial"/>
                <a:cs typeface="Arial"/>
              </a:rPr>
              <a:t>Reconstructing ligand poses with PocketXMol-tuned</a:t>
            </a:r>
          </a:p>
        </p:txBody>
      </p:sp>
      <p:sp>
        <p:nvSpPr>
          <p:cNvPr id="81" name="任意多边形: 形状 80">
            <a:extLst>
              <a:ext uri="{FF2B5EF4-FFF2-40B4-BE49-F238E27FC236}">
                <a16:creationId xmlns:a16="http://schemas.microsoft.com/office/drawing/2014/main" id="{00D79978-DB28-4FF0-9711-00AC12C60DDF}"/>
              </a:ext>
            </a:extLst>
          </p:cNvPr>
          <p:cNvSpPr>
            <a:spLocks noGrp="1"/>
          </p:cNvSpPr>
          <p:nvPr/>
        </p:nvSpPr>
        <p:spPr>
          <a:xfrm>
            <a:off x="1238250" y="15344775"/>
            <a:ext cx="15049500" cy="953"/>
          </a:xfrm>
          <a:custGeom>
            <a:avLst/>
            <a:gdLst/>
            <a:ahLst/>
            <a:cxnLst/>
            <a:rect l="0" t="0" r="0" b="0"/>
            <a:pathLst>
              <a:path w="15049500" h="953">
                <a:moveTo>
                  <a:pt x="0" y="0"/>
                </a:moveTo>
                <a:lnTo>
                  <a:pt x="15049500" y="0"/>
                </a:lnTo>
              </a:path>
            </a:pathLst>
          </a:custGeom>
          <a:noFill/>
          <a:ln w="19050">
            <a:solidFill>
              <a:srgbClr val="E6EDEB"/>
            </a:solidFill>
          </a:ln>
        </p:spPr>
      </p:sp>
      <p:sp>
        <p:nvSpPr>
          <p:cNvPr id="82" name="矩形 81">
            <a:extLst>
              <a:ext uri="{FF2B5EF4-FFF2-40B4-BE49-F238E27FC236}">
                <a16:creationId xmlns:a16="http://schemas.microsoft.com/office/drawing/2014/main" id="{1938CCE9-F567-4AD9-9AD8-203D79200B8C}"/>
              </a:ext>
            </a:extLst>
          </p:cNvPr>
          <p:cNvSpPr>
            <a:spLocks noGrp="1"/>
          </p:cNvSpPr>
          <p:nvPr/>
        </p:nvSpPr>
        <p:spPr>
          <a:xfrm>
            <a:off x="1238250" y="15525750"/>
            <a:ext cx="352425" cy="3714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2475" b="1">
                <a:solidFill>
                  <a:srgbClr val="203544"/>
                </a:solidFill>
                <a:latin typeface="Arial"/>
                <a:ea typeface="Arial"/>
                <a:cs typeface="Arial"/>
              </a:defRPr>
            </a:pPr>
            <a:r>
              <a:rPr sz="2475" b="1">
                <a:solidFill>
                  <a:srgbClr val="203544"/>
                </a:solidFill>
                <a:latin typeface="Arial"/>
                <a:ea typeface="Arial"/>
                <a:cs typeface="Arial"/>
              </a:rPr>
              <a:t>h</a:t>
            </a:r>
          </a:p>
        </p:txBody>
      </p:sp>
      <p:sp>
        <p:nvSpPr>
          <p:cNvPr id="83" name="矩形 82">
            <a:extLst>
              <a:ext uri="{FF2B5EF4-FFF2-40B4-BE49-F238E27FC236}">
                <a16:creationId xmlns:a16="http://schemas.microsoft.com/office/drawing/2014/main" id="{29B8224D-92F7-4515-B2A2-46736FB82045}"/>
              </a:ext>
            </a:extLst>
          </p:cNvPr>
          <p:cNvSpPr>
            <a:spLocks noGrp="1"/>
          </p:cNvSpPr>
          <p:nvPr/>
        </p:nvSpPr>
        <p:spPr>
          <a:xfrm>
            <a:off x="1657350" y="15535275"/>
            <a:ext cx="4152900" cy="3714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2325" b="0">
                <a:solidFill>
                  <a:srgbClr val="203544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203544"/>
                </a:solidFill>
                <a:latin typeface="Arial"/>
                <a:ea typeface="Arial"/>
                <a:cs typeface="Arial"/>
              </a:rPr>
              <a:t>Receptor surface</a:t>
            </a:r>
          </a:p>
        </p:txBody>
      </p:sp>
      <p:pic>
        <p:nvPicPr>
          <p:cNvPr id="185" name="dock_receptor" descr="9XZL dock_receptor; native ChimeraX; source C:\Users\15919\Desktop\论文草稿\画图\formal\E2E_flow_20261003\9xzl\renders\dock_receptor.png; editable crop only"/>
          <p:cNvPicPr>
            <a:picLocks noChangeAspect="1"/>
          </p:cNvPicPr>
          <p:nvPr/>
        </p:nvPicPr>
        <p:blipFill>
          <a:blip r:embed="rId13"/>
          <a:srcRect l="12569" r="7361"/>
          <a:stretch>
            <a:fillRect/>
          </a:stretch>
        </p:blipFill>
        <p:spPr>
          <a:xfrm>
            <a:off x="1998927" y="15944850"/>
            <a:ext cx="3050646" cy="2857500"/>
          </a:xfrm>
          <a:prstGeom prst="rect">
            <a:avLst/>
          </a:prstGeom>
        </p:spPr>
      </p:pic>
      <p:sp>
        <p:nvSpPr>
          <p:cNvPr id="85" name="矩形 84">
            <a:extLst>
              <a:ext uri="{FF2B5EF4-FFF2-40B4-BE49-F238E27FC236}">
                <a16:creationId xmlns:a16="http://schemas.microsoft.com/office/drawing/2014/main" id="{84A722DC-7573-4E82-A5E8-01BA0E068780}"/>
              </a:ext>
            </a:extLst>
          </p:cNvPr>
          <p:cNvSpPr>
            <a:spLocks noGrp="1"/>
          </p:cNvSpPr>
          <p:nvPr/>
        </p:nvSpPr>
        <p:spPr>
          <a:xfrm>
            <a:off x="6477000" y="15525750"/>
            <a:ext cx="352425" cy="3714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2475" b="1">
                <a:solidFill>
                  <a:srgbClr val="203544"/>
                </a:solidFill>
                <a:latin typeface="Arial"/>
                <a:ea typeface="Arial"/>
                <a:cs typeface="Arial"/>
              </a:defRPr>
            </a:pPr>
            <a:r>
              <a:rPr sz="2475" b="1">
                <a:solidFill>
                  <a:srgbClr val="203544"/>
                </a:solidFill>
                <a:latin typeface="Arial"/>
                <a:ea typeface="Arial"/>
                <a:cs typeface="Arial"/>
              </a:rPr>
              <a:t>i</a:t>
            </a:r>
          </a:p>
        </p:txBody>
      </p:sp>
      <p:sp>
        <p:nvSpPr>
          <p:cNvPr id="86" name="矩形 85">
            <a:extLst>
              <a:ext uri="{FF2B5EF4-FFF2-40B4-BE49-F238E27FC236}">
                <a16:creationId xmlns:a16="http://schemas.microsoft.com/office/drawing/2014/main" id="{2B76E524-462C-4B8E-9301-296E931B9CB2}"/>
              </a:ext>
            </a:extLst>
          </p:cNvPr>
          <p:cNvSpPr>
            <a:spLocks noGrp="1"/>
          </p:cNvSpPr>
          <p:nvPr/>
        </p:nvSpPr>
        <p:spPr>
          <a:xfrm>
            <a:off x="6896100" y="15535275"/>
            <a:ext cx="4152900" cy="3714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2325" b="0">
                <a:solidFill>
                  <a:srgbClr val="203544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203544"/>
                </a:solidFill>
                <a:latin typeface="Arial"/>
                <a:ea typeface="Arial"/>
                <a:cs typeface="Arial"/>
              </a:rPr>
              <a:t>Experimental density</a:t>
            </a:r>
          </a:p>
        </p:txBody>
      </p:sp>
      <p:pic>
        <p:nvPicPr>
          <p:cNvPr id="188" name="dock_density" descr="9XZL dock_density; native ChimeraX; source C:\Users\15919\Desktop\论文草稿\画图\formal\E2E_flow_20261003\9xzl\renders\dock_density.png; editable crop only"/>
          <p:cNvPicPr>
            <a:picLocks noChangeAspect="1"/>
          </p:cNvPicPr>
          <p:nvPr/>
        </p:nvPicPr>
        <p:blipFill>
          <a:blip r:embed="rId14"/>
          <a:srcRect l="12569" r="7361"/>
          <a:stretch>
            <a:fillRect/>
          </a:stretch>
        </p:blipFill>
        <p:spPr>
          <a:xfrm>
            <a:off x="7237677" y="15944850"/>
            <a:ext cx="3050646" cy="2857500"/>
          </a:xfrm>
          <a:prstGeom prst="rect">
            <a:avLst/>
          </a:prstGeom>
        </p:spPr>
      </p:pic>
      <p:sp>
        <p:nvSpPr>
          <p:cNvPr id="88" name="矩形 87">
            <a:extLst>
              <a:ext uri="{FF2B5EF4-FFF2-40B4-BE49-F238E27FC236}">
                <a16:creationId xmlns:a16="http://schemas.microsoft.com/office/drawing/2014/main" id="{527C2401-A782-4277-8B9E-AA8EA399FEA5}"/>
              </a:ext>
            </a:extLst>
          </p:cNvPr>
          <p:cNvSpPr>
            <a:spLocks noGrp="1"/>
          </p:cNvSpPr>
          <p:nvPr/>
        </p:nvSpPr>
        <p:spPr>
          <a:xfrm>
            <a:off x="11715750" y="15525750"/>
            <a:ext cx="352425" cy="3714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2475" b="1">
                <a:solidFill>
                  <a:srgbClr val="203544"/>
                </a:solidFill>
                <a:latin typeface="Arial"/>
                <a:ea typeface="Arial"/>
                <a:cs typeface="Arial"/>
              </a:defRPr>
            </a:pPr>
            <a:r>
              <a:rPr sz="2475" b="1">
                <a:solidFill>
                  <a:srgbClr val="203544"/>
                </a:solidFill>
                <a:latin typeface="Arial"/>
                <a:ea typeface="Arial"/>
                <a:cs typeface="Arial"/>
              </a:rPr>
              <a:t>j</a:t>
            </a:r>
          </a:p>
        </p:txBody>
      </p:sp>
      <p:sp>
        <p:nvSpPr>
          <p:cNvPr id="89" name="矩形 88">
            <a:extLst>
              <a:ext uri="{FF2B5EF4-FFF2-40B4-BE49-F238E27FC236}">
                <a16:creationId xmlns:a16="http://schemas.microsoft.com/office/drawing/2014/main" id="{248036AE-2F54-4F08-ABAD-CAF3762B7079}"/>
              </a:ext>
            </a:extLst>
          </p:cNvPr>
          <p:cNvSpPr>
            <a:spLocks noGrp="1"/>
          </p:cNvSpPr>
          <p:nvPr/>
        </p:nvSpPr>
        <p:spPr>
          <a:xfrm>
            <a:off x="12134850" y="15535275"/>
            <a:ext cx="4152900" cy="3714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2325" b="0">
                <a:solidFill>
                  <a:srgbClr val="203544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203544"/>
                </a:solidFill>
                <a:latin typeface="Arial"/>
                <a:ea typeface="Arial"/>
                <a:cs typeface="Arial"/>
              </a:rPr>
              <a:t>Deposited pose overlay</a:t>
            </a:r>
          </a:p>
        </p:txBody>
      </p:sp>
      <p:pic>
        <p:nvPicPr>
          <p:cNvPr id="191" name="dock_gt_overlay" descr="9XZL dock_gt_overlay; native ChimeraX; source C:\Users\15919\Desktop\论文草稿\画图\formal\E2E_flow_20261003\9xzl\renders\dock_gt_overlay.png; editable crop only"/>
          <p:cNvPicPr>
            <a:picLocks noChangeAspect="1"/>
          </p:cNvPicPr>
          <p:nvPr/>
        </p:nvPicPr>
        <p:blipFill>
          <a:blip r:embed="rId15"/>
          <a:srcRect l="12569" r="7361"/>
          <a:stretch>
            <a:fillRect/>
          </a:stretch>
        </p:blipFill>
        <p:spPr>
          <a:xfrm>
            <a:off x="12476427" y="15944850"/>
            <a:ext cx="3050646" cy="2857500"/>
          </a:xfrm>
          <a:prstGeom prst="rect">
            <a:avLst/>
          </a:prstGeom>
        </p:spPr>
      </p:pic>
      <p:sp>
        <p:nvSpPr>
          <p:cNvPr id="91" name="矩形 90">
            <a:extLst>
              <a:ext uri="{FF2B5EF4-FFF2-40B4-BE49-F238E27FC236}">
                <a16:creationId xmlns:a16="http://schemas.microsoft.com/office/drawing/2014/main" id="{299AFDDD-5D02-45B8-9B1E-D82213AE3F48}"/>
              </a:ext>
            </a:extLst>
          </p:cNvPr>
          <p:cNvSpPr>
            <a:spLocks noGrp="1"/>
          </p:cNvSpPr>
          <p:nvPr/>
        </p:nvSpPr>
        <p:spPr>
          <a:xfrm>
            <a:off x="1238250" y="18954750"/>
            <a:ext cx="15049500" cy="4476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2550" b="1">
                <a:solidFill>
                  <a:srgbClr val="3169B3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3169B3"/>
                </a:solidFill>
                <a:latin typeface="Arial"/>
                <a:ea typeface="Arial"/>
                <a:cs typeface="Arial"/>
              </a:rPr>
              <a:t>RMSD 0.91 Å</a:t>
            </a:r>
          </a:p>
        </p:txBody>
      </p:sp>
      <p:sp>
        <p:nvSpPr>
          <p:cNvPr id="92" name="任意多边形: 形状 91">
            <a:extLst>
              <a:ext uri="{FF2B5EF4-FFF2-40B4-BE49-F238E27FC236}">
                <a16:creationId xmlns:a16="http://schemas.microsoft.com/office/drawing/2014/main" id="{350E5194-7A5E-412B-BF44-595EA6FC5F5C}"/>
              </a:ext>
            </a:extLst>
          </p:cNvPr>
          <p:cNvSpPr>
            <a:spLocks noGrp="1"/>
          </p:cNvSpPr>
          <p:nvPr/>
        </p:nvSpPr>
        <p:spPr>
          <a:xfrm>
            <a:off x="1238250" y="19697700"/>
            <a:ext cx="304800" cy="953"/>
          </a:xfrm>
          <a:custGeom>
            <a:avLst/>
            <a:gdLst/>
            <a:ahLst/>
            <a:cxnLst/>
            <a:rect l="0" t="0" r="0" b="0"/>
            <a:pathLst>
              <a:path w="304800" h="953">
                <a:moveTo>
                  <a:pt x="0" y="0"/>
                </a:moveTo>
                <a:lnTo>
                  <a:pt x="304800" y="0"/>
                </a:lnTo>
              </a:path>
            </a:pathLst>
          </a:custGeom>
          <a:noFill/>
          <a:ln w="47625">
            <a:solidFill>
              <a:srgbClr val="81A58B"/>
            </a:solidFill>
          </a:ln>
        </p:spPr>
      </p:sp>
      <p:sp>
        <p:nvSpPr>
          <p:cNvPr id="93" name="矩形 92">
            <a:extLst>
              <a:ext uri="{FF2B5EF4-FFF2-40B4-BE49-F238E27FC236}">
                <a16:creationId xmlns:a16="http://schemas.microsoft.com/office/drawing/2014/main" id="{F30AE963-A20E-415F-A193-66F763BB7FAD}"/>
              </a:ext>
            </a:extLst>
          </p:cNvPr>
          <p:cNvSpPr>
            <a:spLocks noGrp="1"/>
          </p:cNvSpPr>
          <p:nvPr/>
        </p:nvSpPr>
        <p:spPr>
          <a:xfrm>
            <a:off x="1647825" y="19545300"/>
            <a:ext cx="2571750" cy="3238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2025" b="0">
                <a:solidFill>
                  <a:srgbClr val="60717A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60717A"/>
                </a:solidFill>
                <a:latin typeface="Arial"/>
                <a:ea typeface="Arial"/>
                <a:cs typeface="Arial"/>
              </a:rPr>
              <a:t>Receptor</a:t>
            </a:r>
          </a:p>
        </p:txBody>
      </p:sp>
      <p:sp>
        <p:nvSpPr>
          <p:cNvPr id="94" name="任意多边形: 形状 93">
            <a:extLst>
              <a:ext uri="{FF2B5EF4-FFF2-40B4-BE49-F238E27FC236}">
                <a16:creationId xmlns:a16="http://schemas.microsoft.com/office/drawing/2014/main" id="{A8FA16A9-6056-4314-9FB7-15DF7687F3E7}"/>
              </a:ext>
            </a:extLst>
          </p:cNvPr>
          <p:cNvSpPr>
            <a:spLocks noGrp="1"/>
          </p:cNvSpPr>
          <p:nvPr/>
        </p:nvSpPr>
        <p:spPr>
          <a:xfrm>
            <a:off x="4286250" y="19697700"/>
            <a:ext cx="304800" cy="953"/>
          </a:xfrm>
          <a:custGeom>
            <a:avLst/>
            <a:gdLst/>
            <a:ahLst/>
            <a:cxnLst/>
            <a:rect l="0" t="0" r="0" b="0"/>
            <a:pathLst>
              <a:path w="304800" h="953">
                <a:moveTo>
                  <a:pt x="0" y="0"/>
                </a:moveTo>
                <a:lnTo>
                  <a:pt x="304800" y="0"/>
                </a:lnTo>
              </a:path>
            </a:pathLst>
          </a:custGeom>
          <a:noFill/>
          <a:ln w="47625">
            <a:solidFill>
              <a:srgbClr val="516773"/>
            </a:solidFill>
          </a:ln>
        </p:spPr>
      </p:sp>
      <p:sp>
        <p:nvSpPr>
          <p:cNvPr id="95" name="矩形 94">
            <a:extLst>
              <a:ext uri="{FF2B5EF4-FFF2-40B4-BE49-F238E27FC236}">
                <a16:creationId xmlns:a16="http://schemas.microsoft.com/office/drawing/2014/main" id="{CD93B7FC-43E1-48B4-9DF6-FC22637B799D}"/>
              </a:ext>
            </a:extLst>
          </p:cNvPr>
          <p:cNvSpPr>
            <a:spLocks noGrp="1"/>
          </p:cNvSpPr>
          <p:nvPr/>
        </p:nvSpPr>
        <p:spPr>
          <a:xfrm>
            <a:off x="4695825" y="19545300"/>
            <a:ext cx="2571750" cy="3238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2025" b="0">
                <a:solidFill>
                  <a:srgbClr val="60717A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60717A"/>
                </a:solidFill>
                <a:latin typeface="Arial"/>
                <a:ea typeface="Arial"/>
                <a:cs typeface="Arial"/>
              </a:rPr>
              <a:t>Density</a:t>
            </a:r>
          </a:p>
        </p:txBody>
      </p:sp>
      <p:sp>
        <p:nvSpPr>
          <p:cNvPr id="96" name="任意多边形: 形状 95">
            <a:extLst>
              <a:ext uri="{FF2B5EF4-FFF2-40B4-BE49-F238E27FC236}">
                <a16:creationId xmlns:a16="http://schemas.microsoft.com/office/drawing/2014/main" id="{6ED8ED8E-2A0E-48FF-958F-D4EBA493E0F5}"/>
              </a:ext>
            </a:extLst>
          </p:cNvPr>
          <p:cNvSpPr>
            <a:spLocks noGrp="1"/>
          </p:cNvSpPr>
          <p:nvPr/>
        </p:nvSpPr>
        <p:spPr>
          <a:xfrm>
            <a:off x="7334250" y="19697700"/>
            <a:ext cx="304800" cy="953"/>
          </a:xfrm>
          <a:custGeom>
            <a:avLst/>
            <a:gdLst/>
            <a:ahLst/>
            <a:cxnLst/>
            <a:rect l="0" t="0" r="0" b="0"/>
            <a:pathLst>
              <a:path w="304800" h="953">
                <a:moveTo>
                  <a:pt x="0" y="0"/>
                </a:moveTo>
                <a:lnTo>
                  <a:pt x="304800" y="0"/>
                </a:lnTo>
              </a:path>
            </a:pathLst>
          </a:custGeom>
          <a:noFill/>
          <a:ln w="47625">
            <a:solidFill>
              <a:srgbClr val="E9983C"/>
            </a:solidFill>
          </a:ln>
        </p:spPr>
      </p:sp>
      <p:sp>
        <p:nvSpPr>
          <p:cNvPr id="97" name="矩形 96">
            <a:extLst>
              <a:ext uri="{FF2B5EF4-FFF2-40B4-BE49-F238E27FC236}">
                <a16:creationId xmlns:a16="http://schemas.microsoft.com/office/drawing/2014/main" id="{150A1D3C-E229-437D-A8DE-F14910B6AAE0}"/>
              </a:ext>
            </a:extLst>
          </p:cNvPr>
          <p:cNvSpPr>
            <a:spLocks noGrp="1"/>
          </p:cNvSpPr>
          <p:nvPr/>
        </p:nvSpPr>
        <p:spPr>
          <a:xfrm>
            <a:off x="7743825" y="19545300"/>
            <a:ext cx="2571750" cy="3238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2025" b="0">
                <a:solidFill>
                  <a:srgbClr val="60717A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60717A"/>
                </a:solidFill>
                <a:latin typeface="Arial"/>
                <a:ea typeface="Arial"/>
                <a:cs typeface="Arial"/>
              </a:rPr>
              <a:t>Target blob</a:t>
            </a:r>
          </a:p>
        </p:txBody>
      </p:sp>
      <p:sp>
        <p:nvSpPr>
          <p:cNvPr id="98" name="任意多边形: 形状 97">
            <a:extLst>
              <a:ext uri="{FF2B5EF4-FFF2-40B4-BE49-F238E27FC236}">
                <a16:creationId xmlns:a16="http://schemas.microsoft.com/office/drawing/2014/main" id="{FBC07269-8406-4C75-97D9-7611191D9B73}"/>
              </a:ext>
            </a:extLst>
          </p:cNvPr>
          <p:cNvSpPr>
            <a:spLocks noGrp="1"/>
          </p:cNvSpPr>
          <p:nvPr/>
        </p:nvSpPr>
        <p:spPr>
          <a:xfrm>
            <a:off x="10382250" y="19697700"/>
            <a:ext cx="304800" cy="953"/>
          </a:xfrm>
          <a:custGeom>
            <a:avLst/>
            <a:gdLst/>
            <a:ahLst/>
            <a:cxnLst/>
            <a:rect l="0" t="0" r="0" b="0"/>
            <a:pathLst>
              <a:path w="304800" h="953">
                <a:moveTo>
                  <a:pt x="0" y="0"/>
                </a:moveTo>
                <a:lnTo>
                  <a:pt x="304800" y="0"/>
                </a:lnTo>
              </a:path>
            </a:pathLst>
          </a:custGeom>
          <a:noFill/>
          <a:ln w="47625">
            <a:solidFill>
              <a:srgbClr val="3169B3"/>
            </a:solidFill>
          </a:ln>
        </p:spPr>
      </p:sp>
      <p:sp>
        <p:nvSpPr>
          <p:cNvPr id="99" name="矩形 98">
            <a:extLst>
              <a:ext uri="{FF2B5EF4-FFF2-40B4-BE49-F238E27FC236}">
                <a16:creationId xmlns:a16="http://schemas.microsoft.com/office/drawing/2014/main" id="{988F9035-7960-497D-910C-0E4AC94683AA}"/>
              </a:ext>
            </a:extLst>
          </p:cNvPr>
          <p:cNvSpPr>
            <a:spLocks noGrp="1"/>
          </p:cNvSpPr>
          <p:nvPr/>
        </p:nvSpPr>
        <p:spPr>
          <a:xfrm>
            <a:off x="10791825" y="19545300"/>
            <a:ext cx="2571750" cy="3238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2025" b="0">
                <a:solidFill>
                  <a:srgbClr val="60717A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60717A"/>
                </a:solidFill>
                <a:latin typeface="Arial"/>
                <a:ea typeface="Arial"/>
                <a:cs typeface="Arial"/>
              </a:rPr>
              <a:t>Predicted pose</a:t>
            </a:r>
          </a:p>
        </p:txBody>
      </p:sp>
      <p:sp>
        <p:nvSpPr>
          <p:cNvPr id="100" name="任意多边形: 形状 99">
            <a:extLst>
              <a:ext uri="{FF2B5EF4-FFF2-40B4-BE49-F238E27FC236}">
                <a16:creationId xmlns:a16="http://schemas.microsoft.com/office/drawing/2014/main" id="{0A3331C2-9AEC-4249-9398-E894BE0CF489}"/>
              </a:ext>
            </a:extLst>
          </p:cNvPr>
          <p:cNvSpPr>
            <a:spLocks noGrp="1"/>
          </p:cNvSpPr>
          <p:nvPr/>
        </p:nvSpPr>
        <p:spPr>
          <a:xfrm>
            <a:off x="13430250" y="19697700"/>
            <a:ext cx="304800" cy="953"/>
          </a:xfrm>
          <a:custGeom>
            <a:avLst/>
            <a:gdLst/>
            <a:ahLst/>
            <a:cxnLst/>
            <a:rect l="0" t="0" r="0" b="0"/>
            <a:pathLst>
              <a:path w="304800" h="953">
                <a:moveTo>
                  <a:pt x="0" y="0"/>
                </a:moveTo>
                <a:lnTo>
                  <a:pt x="304800" y="0"/>
                </a:lnTo>
              </a:path>
            </a:pathLst>
          </a:custGeom>
          <a:noFill/>
          <a:ln w="47625">
            <a:solidFill>
              <a:srgbClr val="26A6A1"/>
            </a:solidFill>
          </a:ln>
        </p:spPr>
      </p:sp>
      <p:sp>
        <p:nvSpPr>
          <p:cNvPr id="101" name="矩形 100">
            <a:extLst>
              <a:ext uri="{FF2B5EF4-FFF2-40B4-BE49-F238E27FC236}">
                <a16:creationId xmlns:a16="http://schemas.microsoft.com/office/drawing/2014/main" id="{7F88EA65-CD0D-47DB-9893-6730252BEC53}"/>
              </a:ext>
            </a:extLst>
          </p:cNvPr>
          <p:cNvSpPr>
            <a:spLocks noGrp="1"/>
          </p:cNvSpPr>
          <p:nvPr/>
        </p:nvSpPr>
        <p:spPr>
          <a:xfrm>
            <a:off x="13839825" y="19545300"/>
            <a:ext cx="2571750" cy="3238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2025" b="0">
                <a:solidFill>
                  <a:srgbClr val="60717A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60717A"/>
                </a:solidFill>
                <a:latin typeface="Arial"/>
                <a:ea typeface="Arial"/>
                <a:cs typeface="Arial"/>
              </a:rPr>
              <a:t>Deposited pose</a:t>
            </a:r>
          </a:p>
        </p:txBody>
      </p:sp>
    </p:spTree>
    <p:extLst>
      <p:ext uri="{BB962C8B-B14F-4D97-AF65-F5344CB8AC3E}">
        <p14:creationId xmlns:p14="http://schemas.microsoft.com/office/powerpoint/2010/main" val="1120181874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3"/>
    </p:ext>
  </p:extLst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1554</Words>
  <Application>Microsoft Office PowerPoint</Application>
  <DocSecurity>0</DocSecurity>
  <PresentationFormat>自定义</PresentationFormat>
  <Paragraphs>327</Paragraphs>
  <Slides>7</Slides>
  <Notes>7</Notes>
  <HiddenSlides>0</HiddenSlides>
  <MMClips>0</MMClips>
  <ScaleCrop>false</ScaleCrop>
  <HeadingPairs>
    <vt:vector size="6" baseType="variant">
      <vt:variant>
        <vt:lpstr>已用的字体</vt:lpstr>
      </vt:variant>
      <vt:variant>
        <vt:i4>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7</vt:i4>
      </vt:variant>
    </vt:vector>
  </HeadingPairs>
  <TitlesOfParts>
    <vt:vector size="10" baseType="lpstr">
      <vt:lpstr>Arial</vt:lpstr>
      <vt:lpstr>Calibri</vt:lpstr>
      <vt:lpstr>ChatGPT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Hongen Peng</cp:lastModifiedBy>
  <cp:revision>1</cp:revision>
  <dcterms:created xsi:type="dcterms:W3CDTF">2026-10-03T15:27:45Z</dcterms:created>
  <dcterms:modified xsi:type="dcterms:W3CDTF">2026-10-03T15:30:14Z</dcterms:modified>
</cp:coreProperties>
</file>