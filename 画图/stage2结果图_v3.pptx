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364F4071.xml" ContentType="application/vnd.ms-powerpoint.comments+xml"/>
  <Override PartName="/ppt/notesSlides/notesSlide2.xml" ContentType="application/vnd.openxmlformats-officedocument.presentationml.notesSlide+xml"/>
  <Override PartName="/ppt/comments/modernComment_101_8BFDC1E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0795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0_364F40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907DA8-41AC-4BE9-B5CB-965E7ED48FAA}" authorId="{D3F71A66-0C34-DF1A-5236-FECDBC820DCB}" created="2026-10-01T07:16:56.148">
    <pc:sldMkLst xmlns:pc="http://schemas.microsoft.com/office/powerpoint/2013/main/command">
      <pc:docMk/>
      <pc:sldMk cId="911163505" sldId="256"/>
    </pc:sldMkLst>
    <p188:pos x="101600" y="101600"/>
    <p188:txBody>
      <a:bodyPr/>
      <a:lstStyle/>
      <a:p>
        <a:r>
          <a:rPr lang="zh-CN" altLang="en-US"/>
          <a:t>@@stage2-radar-pair</a:t>
        </a:r>
      </a:p>
    </p188:txBody>
  </p188:cm>
  <p188:cm id="{E1E49F89-EE3A-460A-8A29-7FA10174EAAD}" authorId="{D3F71A66-0C34-DF1A-5236-FECDBC820DCB}" created="2026-10-01T07:16:56.151">
    <pc:sldMkLst xmlns:pc="http://schemas.microsoft.com/office/powerpoint/2013/main/command">
      <pc:docMk/>
      <pc:sldMk cId="911163505" sldId="256"/>
    </pc:sldMkLst>
    <p188:pos x="228600" y="228600"/>
    <p188:txBody>
      <a:bodyPr/>
      <a:lstStyle/>
      <a:p>
        <a:r>
          <a:rPr lang="zh-CN" altLang="en-US"/>
          <a:t>Source: stage2_radar_pair.png; data.json; plot_stage2_pairs.py</a:t>
        </a:r>
      </a:p>
    </p188:txBody>
  </p188:cm>
</p188:cmLst>
</file>

<file path=ppt/comments/modernComment_101_8BFDC1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EF1C88-2DCD-4BA2-A60D-B717C1B58455}" authorId="{D3F71A66-0C34-DF1A-5236-FECDBC820DCB}" created="2026-10-01T07:16:56.256">
    <pc:sldMkLst xmlns:pc="http://schemas.microsoft.com/office/powerpoint/2013/main/command">
      <pc:docMk/>
      <pc:sldMk cId="2348663268" sldId="257"/>
    </pc:sldMkLst>
    <p188:pos x="101600" y="101600"/>
    <p188:txBody>
      <a:bodyPr/>
      <a:lstStyle/>
      <a:p>
        <a:r>
          <a:rPr lang="zh-CN" altLang="en-US"/>
          <a:t>@@stage2-strongest-pair</a:t>
        </a:r>
      </a:p>
    </p188:txBody>
  </p188:cm>
  <p188:cm id="{0D2DA9AE-2424-449A-9E6D-4EFAB0F11D4F}" authorId="{D3F71A66-0C34-DF1A-5236-FECDBC820DCB}" created="2026-10-01T07:16:56.257">
    <pc:sldMkLst xmlns:pc="http://schemas.microsoft.com/office/powerpoint/2013/main/command">
      <pc:docMk/>
      <pc:sldMk cId="2348663268" sldId="257"/>
    </pc:sldMkLst>
    <p188:pos x="228600" y="228600"/>
    <p188:txBody>
      <a:bodyPr/>
      <a:lstStyle/>
      <a:p>
        <a:r>
          <a:rPr lang="zh-CN" altLang="en-US"/>
          <a:t>Source: stage2_strongest_pair.png; data.json; plot_stage2_pairs.py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6A79B-C6CD-4D2E-B2E6-8DCCEA408D1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85925" y="1143000"/>
            <a:ext cx="3486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7B9DD-6E68-4671-9EBE-A2781C253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90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4 | </a:t>
            </a:r>
            <a:r>
              <a:rPr lang="zh-CN" altLang="en-US"/>
              <a:t>真实受体（</a:t>
            </a:r>
            <a:r>
              <a:rPr lang="en-US" altLang="zh-CN"/>
              <a:t>a</a:t>
            </a:r>
            <a:r>
              <a:rPr lang="zh-CN" altLang="en-US"/>
              <a:t>）和 </a:t>
            </a:r>
            <a:r>
              <a:rPr lang="en-US" altLang="zh-CN"/>
              <a:t>CryoAtom2</a:t>
            </a:r>
            <a:r>
              <a:rPr lang="zh-CN" altLang="en-US"/>
              <a:t>（</a:t>
            </a:r>
            <a:r>
              <a:rPr lang="en-US" altLang="zh-CN"/>
              <a:t>b</a:t>
            </a:r>
            <a:r>
              <a:rPr lang="zh-CN" altLang="en-US"/>
              <a:t>）条件下的前景 </a:t>
            </a:r>
            <a:r>
              <a:rPr lang="en-US" altLang="zh-CN"/>
              <a:t>F1 </a:t>
            </a:r>
            <a:r>
              <a:rPr lang="zh-CN" altLang="en-US"/>
              <a:t>与 </a:t>
            </a:r>
            <a:r>
              <a:rPr lang="en-US" altLang="zh-CN"/>
              <a:t>SMILES </a:t>
            </a:r>
            <a:r>
              <a:rPr lang="zh-CN" altLang="en-US"/>
              <a:t>匹配。六轴为前景 </a:t>
            </a:r>
            <a:r>
              <a:rPr lang="en-US" altLang="zh-CN"/>
              <a:t>F1</a:t>
            </a:r>
            <a:r>
              <a:rPr lang="zh-CN" altLang="en-US"/>
              <a:t>、总体及四类身份准确率；前景阈值由验证集冻结。</a:t>
            </a:r>
            <a:r>
              <a:rPr lang="en-US" altLang="zh-CN"/>
              <a:t>Find </a:t>
            </a:r>
            <a:r>
              <a:rPr lang="zh-CN" altLang="en-US"/>
              <a:t>已选候选数为 </a:t>
            </a:r>
            <a:r>
              <a:rPr lang="en-US" altLang="zh-CN"/>
              <a:t>1,653/1,651</a:t>
            </a:r>
            <a:r>
              <a:rPr lang="zh-CN" altLang="en-US"/>
              <a:t>；身份支持数依次为总体 </a:t>
            </a:r>
            <a:r>
              <a:rPr lang="en-US" altLang="zh-CN"/>
              <a:t>1,238/1,160</a:t>
            </a:r>
            <a:r>
              <a:rPr lang="zh-CN" altLang="en-US"/>
              <a:t>、小分子 </a:t>
            </a:r>
            <a:r>
              <a:rPr lang="en-US" altLang="zh-CN"/>
              <a:t>389/348</a:t>
            </a:r>
            <a:r>
              <a:rPr lang="zh-CN" altLang="en-US"/>
              <a:t>、糖 </a:t>
            </a:r>
            <a:r>
              <a:rPr lang="en-US" altLang="zh-CN"/>
              <a:t>284/277</a:t>
            </a:r>
            <a:r>
              <a:rPr lang="zh-CN" altLang="en-US"/>
              <a:t>、金属离子 </a:t>
            </a:r>
            <a:r>
              <a:rPr lang="en-US" altLang="zh-CN"/>
              <a:t>564/534</a:t>
            </a:r>
            <a:r>
              <a:rPr lang="zh-CN" altLang="en-US"/>
              <a:t>、肽类 </a:t>
            </a:r>
            <a:r>
              <a:rPr lang="en-US" altLang="zh-CN"/>
              <a:t>1/1</a:t>
            </a:r>
            <a:r>
              <a:rPr lang="zh-CN" altLang="en-US"/>
              <a:t>（斜杠前后对应 </a:t>
            </a:r>
            <a:r>
              <a:rPr lang="en-US" altLang="zh-CN"/>
              <a:t>a/b</a:t>
            </a:r>
            <a:r>
              <a:rPr lang="zh-CN" altLang="en-US"/>
              <a:t>）。菱形仅示 </a:t>
            </a:r>
            <a:r>
              <a:rPr lang="en-US" altLang="zh-CN"/>
              <a:t>EMERALD-ID </a:t>
            </a:r>
            <a:r>
              <a:rPr lang="zh-CN" altLang="en-US"/>
              <a:t>在独立小分子真实位点中至少一个身份取得评分后的 </a:t>
            </a:r>
            <a:r>
              <a:rPr lang="en-US" altLang="zh-CN"/>
              <a:t>Top-1</a:t>
            </a:r>
            <a:r>
              <a:rPr lang="zh-CN" altLang="en-US"/>
              <a:t>（</a:t>
            </a:r>
            <a:r>
              <a:rPr lang="en-US" altLang="zh-CN"/>
              <a:t>233/282</a:t>
            </a:r>
            <a:r>
              <a:rPr lang="zh-CN" altLang="en-US"/>
              <a:t>、</a:t>
            </a:r>
            <a:r>
              <a:rPr lang="en-US" altLang="zh-CN"/>
              <a:t>263/313</a:t>
            </a:r>
            <a:r>
              <a:rPr lang="zh-CN" altLang="en-US"/>
              <a:t>）。径向坐标为 </a:t>
            </a:r>
            <a:r>
              <a:rPr lang="en-US" altLang="zh-CN"/>
              <a:t>30–100%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7B9DD-6E68-4671-9EBE-A2781C25301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52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5 | PDB </a:t>
            </a:r>
            <a:r>
              <a:rPr lang="zh-CN" altLang="en-US"/>
              <a:t>内候选 </a:t>
            </a:r>
            <a:r>
              <a:rPr lang="en-US" altLang="zh-CN"/>
              <a:t>SMILES </a:t>
            </a:r>
            <a:r>
              <a:rPr lang="zh-CN" altLang="en-US"/>
              <a:t>数目与 </a:t>
            </a:r>
            <a:r>
              <a:rPr lang="en-US" altLang="zh-CN"/>
              <a:t>strongest-1 </a:t>
            </a:r>
            <a:r>
              <a:rPr lang="zh-CN" altLang="en-US"/>
              <a:t>的分类准确率。</a:t>
            </a:r>
            <a:r>
              <a:rPr lang="en-US" altLang="zh-CN"/>
              <a:t>a</a:t>
            </a:r>
            <a:r>
              <a:rPr lang="zh-CN" altLang="en-US"/>
              <a:t>，真实受体；</a:t>
            </a:r>
            <a:r>
              <a:rPr lang="en-US" altLang="zh-CN"/>
              <a:t>b</a:t>
            </a:r>
            <a:r>
              <a:rPr lang="zh-CN" altLang="en-US"/>
              <a:t>，</a:t>
            </a:r>
            <a:r>
              <a:rPr lang="en-US" altLang="zh-CN"/>
              <a:t>CryoAtom2 </a:t>
            </a:r>
            <a:r>
              <a:rPr lang="zh-CN" altLang="en-US"/>
              <a:t>受体。横轴为该 </a:t>
            </a:r>
            <a:r>
              <a:rPr lang="en-US" altLang="zh-CN"/>
              <a:t>PDB </a:t>
            </a:r>
            <a:r>
              <a:rPr lang="zh-CN" altLang="en-US"/>
              <a:t>提供给 </a:t>
            </a:r>
            <a:r>
              <a:rPr lang="en-US" altLang="zh-CN"/>
              <a:t>Match </a:t>
            </a:r>
            <a:r>
              <a:rPr lang="zh-CN" altLang="en-US"/>
              <a:t>的精确 </a:t>
            </a:r>
            <a:r>
              <a:rPr lang="en-US" altLang="zh-CN"/>
              <a:t>SMILES </a:t>
            </a:r>
            <a:r>
              <a:rPr lang="zh-CN" altLang="en-US"/>
              <a:t>去重数，五种及以上合并；纵轴为 </a:t>
            </a:r>
            <a:r>
              <a:rPr lang="en-US" altLang="zh-CN"/>
              <a:t>Find </a:t>
            </a:r>
            <a:r>
              <a:rPr lang="zh-CN" altLang="en-US"/>
              <a:t>已选、真实前景且身份受支持候选的类别内准确率。真实受体条件下，小分子、糖、金属离子和肽类的总支持数分别为 </a:t>
            </a:r>
            <a:r>
              <a:rPr lang="en-US" altLang="zh-CN"/>
              <a:t>389</a:t>
            </a:r>
            <a:r>
              <a:rPr lang="zh-CN" altLang="en-US"/>
              <a:t>、</a:t>
            </a:r>
            <a:r>
              <a:rPr lang="en-US" altLang="zh-CN"/>
              <a:t>284</a:t>
            </a:r>
            <a:r>
              <a:rPr lang="zh-CN" altLang="en-US"/>
              <a:t>、</a:t>
            </a:r>
            <a:r>
              <a:rPr lang="en-US" altLang="zh-CN"/>
              <a:t>564 </a:t>
            </a:r>
            <a:r>
              <a:rPr lang="zh-CN" altLang="en-US"/>
              <a:t>和 </a:t>
            </a:r>
            <a:r>
              <a:rPr lang="en-US" altLang="zh-CN"/>
              <a:t>1</a:t>
            </a:r>
            <a:r>
              <a:rPr lang="zh-CN" altLang="en-US"/>
              <a:t>；</a:t>
            </a:r>
            <a:r>
              <a:rPr lang="en-US" altLang="zh-CN"/>
              <a:t>CryoAtom2 </a:t>
            </a:r>
            <a:r>
              <a:rPr lang="zh-CN" altLang="en-US"/>
              <a:t>条件下分别为 </a:t>
            </a:r>
            <a:r>
              <a:rPr lang="en-US" altLang="zh-CN"/>
              <a:t>348</a:t>
            </a:r>
            <a:r>
              <a:rPr lang="zh-CN" altLang="en-US"/>
              <a:t>、</a:t>
            </a:r>
            <a:r>
              <a:rPr lang="en-US" altLang="zh-CN"/>
              <a:t>277</a:t>
            </a:r>
            <a:r>
              <a:rPr lang="zh-CN" altLang="en-US"/>
              <a:t>、</a:t>
            </a:r>
            <a:r>
              <a:rPr lang="en-US" altLang="zh-CN"/>
              <a:t>534 </a:t>
            </a:r>
            <a:r>
              <a:rPr lang="zh-CN" altLang="en-US"/>
              <a:t>和 </a:t>
            </a:r>
            <a:r>
              <a:rPr lang="en-US" altLang="zh-CN"/>
              <a:t>1</a:t>
            </a:r>
            <a:r>
              <a:rPr lang="zh-CN" altLang="en-US"/>
              <a:t>。单身份 </a:t>
            </a:r>
            <a:r>
              <a:rPr lang="en-US" altLang="zh-CN"/>
              <a:t>PDB </a:t>
            </a:r>
            <a:r>
              <a:rPr lang="zh-CN" altLang="en-US"/>
              <a:t>中四类均为 </a:t>
            </a:r>
            <a:r>
              <a:rPr lang="en-US" altLang="zh-CN"/>
              <a:t>100%</a:t>
            </a:r>
            <a:r>
              <a:rPr lang="zh-CN" altLang="en-US"/>
              <a:t>；肽类仅有一个候选，故只显示单个数据点。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7B9DD-6E68-4671-9EBE-A2781C25301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585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BF14E-4C19-2F13-FE39-F3B8DF3CA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6683"/>
            <a:ext cx="9144000" cy="37582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980081-19DA-1729-CE32-70C31259E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69875"/>
            <a:ext cx="9144000" cy="26062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40AF30-3812-E7A4-E332-7F43ED93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33E57-7AC8-3A40-1A5F-430CAB82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7DF25-B622-F3D2-33EE-E1790F8F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416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C79FE-5559-6FA0-6EFE-FA83D688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84434A-009A-36F4-F27E-40F6F6C0D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E6A2D6-1839-5E67-9A57-9B5656D69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655262-6B2F-9E92-63BF-CBAB757C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166E5-2C83-230D-15F8-32A61F6F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76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05B95-3528-040A-066F-A978CE7D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91255"/>
            <a:ext cx="10515600" cy="44904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5672F5-5544-9B8C-F7A0-0781E248E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7224156"/>
            <a:ext cx="10515600" cy="236140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E93AB-9745-72EE-797E-8573B5B8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08304A-4D62-A728-B147-2889025F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3F9513-78CA-D59F-A07C-E681D0B7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1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447BF-D32C-20A7-4C14-830BB5B4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109F9D-4C88-E961-D3B7-ED51893EC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873669"/>
            <a:ext cx="5181600" cy="684932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AF9EB7-AA18-3C95-C598-E5F8A1704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73669"/>
            <a:ext cx="5181600" cy="684932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C1D531-35F1-5040-9CFD-E64A320E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B500D6-9D73-7809-7C14-65CE2F83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14801-6EAA-3FCC-8C58-4ADE33BA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79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9C222-39E1-4E6B-9D6C-01C6308A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4735"/>
            <a:ext cx="10515600" cy="2086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29018A-0ECA-89EA-A727-7A6590A22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646275"/>
            <a:ext cx="5157787" cy="12968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0682AF-EEEF-CA9C-66B3-01EA261C3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943174"/>
            <a:ext cx="5157787" cy="57998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5D4F79-78A6-EEA1-37C8-0632E43D3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646275"/>
            <a:ext cx="5183188" cy="12968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43ABD5-BFB1-6EA8-C7A9-E59426628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943174"/>
            <a:ext cx="5183188" cy="57998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EBD599-921F-15B2-509A-9E7AB2CD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DB30D0-F2FF-7E66-FFDF-181D8A07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CD253D-1613-60E2-18A8-DAB55C00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04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40207-8116-9FFF-5A7B-F3AB3F829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0F33B2-A376-3F97-6D31-79EC9AE9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E20254-C846-37A8-8241-885B6B37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9495C4-36D3-7B74-23D1-ACDFA57D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1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ED84A1-CAF8-97ED-5488-0A7D94BE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2C3BDE-7E50-ACBA-1E06-0D46C9A4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047C6-D09B-4297-EAD6-6FF44351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7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B47C-F7F4-5F04-0055-C7007425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719667"/>
            <a:ext cx="3932237" cy="25188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46D3EF-8501-BC0D-905A-F663B6417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54281"/>
            <a:ext cx="6172200" cy="76714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03E47C-EEB5-E0BF-4B54-8C01EF880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3238500"/>
            <a:ext cx="3932237" cy="59997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93F526-72B6-2242-8575-033E25344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AA66F8-8DC1-5EFD-E3AF-C44B4FD5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09BC42-4A37-153A-6B61-235B4519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37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1E344-2188-1A99-B45C-9421F5CF9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719667"/>
            <a:ext cx="3932237" cy="25188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C483E0-FF29-85B4-FBFC-ABFEA6A8F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554281"/>
            <a:ext cx="6172200" cy="767144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36DE70-B48E-ABD9-5744-C68D9E701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3238500"/>
            <a:ext cx="3932237" cy="59997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9F6F16-DDD7-4F1C-46CA-B4872367E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6B8090-866B-4569-25A8-270FB7F90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5B5A30-6260-0490-2A82-1761BF3E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98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42F15-B22E-27CA-7A27-79A4D89C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4AD581-0107-DE19-AE56-F09DD2515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D1F98-2DC0-B542-AA73-5C92CE50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A93208-5856-D5E5-156E-177E81AA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F3185-8BF1-EEC8-1FCE-5613F149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32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98B640-609E-ADF4-BF18-F307C448B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74734"/>
            <a:ext cx="2628900" cy="914826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01E7D2-5887-BFB9-4E12-7C3E32A21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4734"/>
            <a:ext cx="7734300" cy="91482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FFAEB-C420-6258-9698-8A1879F6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EB59C-0582-710F-0A5D-36447C52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8B97C-3697-284D-F87B-CEECBE7F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57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3452D2-C058-0157-5269-540183877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4735"/>
            <a:ext cx="10515600" cy="2086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461ED-2A4C-F054-2C9B-404F5F091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73669"/>
            <a:ext cx="10515600" cy="6849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F82A3-6010-63B6-AFB5-487DDDB92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0005366"/>
            <a:ext cx="2743200" cy="57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5209E-910D-43C5-8735-9FEF9D16154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6DBBC2-5E96-313C-E198-31A3DD8B6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0005366"/>
            <a:ext cx="4114800" cy="57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080176-5629-80E0-38E0-FE8DAEA41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10005366"/>
            <a:ext cx="2743200" cy="57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5018E-83E9-431F-A2D1-65A6D84EDC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44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364F407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8BFDC1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4F7C2A-44D8-19F9-FA44-44785B9C810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92" y="127000"/>
            <a:ext cx="10191816" cy="1054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635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E46D20-322A-5F3C-706A-DA380DA901C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54" y="127000"/>
            <a:ext cx="11123092" cy="1054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632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自定义</PresentationFormat>
  <Paragraphs>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Hongen Peng</dc:creator>
  <cp:lastModifiedBy>Hongen Peng</cp:lastModifiedBy>
  <cp:revision>1</cp:revision>
  <dcterms:created xsi:type="dcterms:W3CDTF">2026-10-01T07:16:56Z</dcterms:created>
  <dcterms:modified xsi:type="dcterms:W3CDTF">2026-10-01T07:16:56Z</dcterms:modified>
</cp:coreProperties>
</file>