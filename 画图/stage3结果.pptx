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PocketXMol 官方模型与引入冷冻电镜密度微调后的模型在 446 个小分子对接任务上的性能比较。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，各模型依据自身评分排序的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首位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预测构象（top-1 pose）的重原子均方根偏差（RMSD）分布。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，各模型在 50 个候选构象池中最低 RMSD 构象（best-of-50 pose）的分布。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结合位点坐标定义的 15 Å 球形口袋（Centre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对应的结果在左半区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配体原子 10 Å 包络定义的口袋（Envelope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对应的结果在右半区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。结果分别在真实受体（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Deposit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receptor）与 CryoAtom2 自动重建受体（CryoAtom2 receptor）条件下进行评估。每点代表一个单残基小分子测试实例；箱体、横线与须线分别对应第 25–75 百分位数、中位数与第 5–95 百分位数；纵轴为对数刻度，大于 50 Å 的离群点在顶端三角区域绘制。官方模型在 1 个测试实例中因所选口袋未包含有效蛋白原子而报错，未计入统计。</a:t>
            </a:r>
            <a:endParaRPr lang="en-US" dirty="0"/>
          </a:p>
          <a:p>
            <a:r>
              <a:rPr dirty="0"/>
              <a:t>ENGLISH:</a:t>
            </a:r>
          </a:p>
          <a:p>
            <a:r>
              <a:rPr dirty="0"/>
              <a:t>Comparison of </a:t>
            </a:r>
            <a:r>
              <a:rPr dirty="0" err="1"/>
              <a:t>PocketXMol</a:t>
            </a:r>
            <a:r>
              <a:rPr dirty="0"/>
              <a:t>-official and density-guided </a:t>
            </a:r>
            <a:r>
              <a:rPr dirty="0" err="1"/>
              <a:t>PocketXMol</a:t>
            </a:r>
            <a:r>
              <a:rPr dirty="0"/>
              <a:t>-tuned on 446 small-molecule docking tasks.</a:t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Emap2lig-Find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命中实例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(n=237)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上 </a:t>
            </a:r>
            <a:r>
              <a:rPr lang="en-US" altLang="zh-CN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PocketXmol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-tuned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Emap2lig-Build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的对接性能比较。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dirty="0"/>
              <a:t>，各方法的 </a:t>
            </a:r>
            <a:r>
              <a:rPr lang="en-US" altLang="zh-CN" dirty="0"/>
              <a:t>top-1</a:t>
            </a:r>
            <a:r>
              <a:rPr lang="zh-CN" altLang="en-US" dirty="0"/>
              <a:t> </a:t>
            </a:r>
            <a:r>
              <a:rPr lang="en-US" altLang="zh-CN" dirty="0"/>
              <a:t>pose </a:t>
            </a:r>
            <a:r>
              <a:rPr lang="zh-CN" altLang="en-US" dirty="0"/>
              <a:t>的重原子</a:t>
            </a:r>
            <a:r>
              <a:rPr lang="en-US" altLang="zh-CN" dirty="0"/>
              <a:t>RMSD</a:t>
            </a:r>
            <a:r>
              <a:rPr lang="zh-CN" altLang="en-US" dirty="0"/>
              <a:t>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dirty="0"/>
              <a:t>，</a:t>
            </a:r>
            <a:r>
              <a:rPr lang="en-US" altLang="zh-CN" dirty="0"/>
              <a:t>best-of-50 pose </a:t>
            </a:r>
            <a:r>
              <a:rPr lang="zh-CN" altLang="en-US" dirty="0"/>
              <a:t>的重原子 </a:t>
            </a:r>
            <a:r>
              <a:rPr lang="en-US" altLang="zh-CN" dirty="0"/>
              <a:t>RMSD</a:t>
            </a:r>
            <a:r>
              <a:rPr lang="zh-CN" altLang="en-US" dirty="0"/>
              <a:t>。其中 </a:t>
            </a:r>
            <a:r>
              <a:rPr lang="en-US" altLang="zh-CN" dirty="0" err="1"/>
              <a:t>PocketXmol</a:t>
            </a:r>
            <a:r>
              <a:rPr lang="en-US" altLang="zh-CN" dirty="0"/>
              <a:t>-tuned </a:t>
            </a:r>
            <a:r>
              <a:rPr lang="zh-CN" altLang="en-US" dirty="0"/>
              <a:t>分别使用真实受体和 </a:t>
            </a:r>
            <a:r>
              <a:rPr lang="en-US" altLang="zh-CN" dirty="0"/>
              <a:t>CryoAtom2 </a:t>
            </a:r>
            <a:r>
              <a:rPr lang="zh-CN" altLang="en-US" dirty="0"/>
              <a:t>受体进行测试，且口袋由真实结合位点的 </a:t>
            </a:r>
            <a:r>
              <a:rPr lang="en-US" altLang="zh-CN" dirty="0"/>
              <a:t>15 Å </a:t>
            </a:r>
            <a:r>
              <a:rPr lang="zh-CN" altLang="en-US" dirty="0"/>
              <a:t>包络定义；</a:t>
            </a:r>
            <a:r>
              <a:rPr lang="en-US" altLang="zh-CN" dirty="0"/>
              <a:t>Emap2lig-Build </a:t>
            </a:r>
            <a:r>
              <a:rPr lang="zh-CN" altLang="en-US" dirty="0"/>
              <a:t>使用 </a:t>
            </a:r>
            <a:r>
              <a:rPr lang="en-US" altLang="zh-CN" dirty="0"/>
              <a:t>Emap2lig-Find </a:t>
            </a:r>
            <a:r>
              <a:rPr lang="zh-CN" altLang="en-US" dirty="0"/>
              <a:t>预测的原生候选三维 </a:t>
            </a:r>
            <a:r>
              <a:rPr lang="en-US" altLang="zh-CN" dirty="0"/>
              <a:t>blob </a:t>
            </a:r>
            <a:r>
              <a:rPr lang="zh-CN" altLang="en-US" dirty="0"/>
              <a:t>作为提示区域。每点代表一个实例，箱体、中间横线和须分别表示第 </a:t>
            </a:r>
            <a:r>
              <a:rPr lang="en-US" altLang="zh-CN" dirty="0"/>
              <a:t>25–75 </a:t>
            </a:r>
            <a:r>
              <a:rPr lang="zh-CN" altLang="en-US" dirty="0"/>
              <a:t>百分位数、中位数和第 </a:t>
            </a:r>
            <a:r>
              <a:rPr lang="en-US" altLang="zh-CN" dirty="0"/>
              <a:t>5–95 </a:t>
            </a:r>
            <a:r>
              <a:rPr lang="zh-CN" altLang="en-US" dirty="0"/>
              <a:t>百分位数，纵轴为对数刻度。</a:t>
            </a:r>
            <a:endParaRPr lang="en-US" dirty="0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987</Words>
  <Application>Microsoft Office PowerPoint</Application>
  <PresentationFormat>自定义</PresentationFormat>
  <Paragraphs>81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24</cp:revision>
  <dcterms:created xsi:type="dcterms:W3CDTF">2026-10-02T14:55:31Z</dcterms:created>
  <dcterms:modified xsi:type="dcterms:W3CDTF">2026-10-07T13:50:12Z</dcterms:modified>
</cp:coreProperties>
</file>