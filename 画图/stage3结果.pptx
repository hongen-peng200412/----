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611" autoAdjust="0"/>
  </p:normalViewPr>
  <p:slideViewPr>
    <p:cSldViewPr snapToGrid="0" snapToObjects="1">
      <p:cViewPr varScale="1">
        <p:scale>
          <a:sx n="53" d="100"/>
          <a:sy n="53" d="100"/>
        </p:scale>
        <p:origin x="7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PocketXMol 官方模型与引入冷冻电镜密度微调后的模型在 446 个小分子对接任务上的性能比较。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 </ns1:t>
            </ns1:r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a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，各模型依据自身评分排序的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首位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预测构象（top-1 pose）的重原子均方根偏差（RMSD）分布。</ns1:t>
            </ns1:r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b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，各模型在 50 个候选构象池中最低 RMSD 构象（best-of-50 pose）的分布。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使用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结合位点坐标定义的 15 Å 球形口袋（Centre pocket）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对应的结果在左半区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使用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配体原子 10 Å 包络定义的口袋（Envelope pocket）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对应的结果在右半区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。结果分别在真实受体（</ns1:t>
            </ns1:r>
            <ns1:r>
              <ns1:rPr lang="en-US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Deposit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 receptor）与 CryoAtom2 自动重建受体（CryoAtom2 receptor）条件下进行评估。每点代表一个单残基小分子测试实例；箱体、横线与须线分别对应第 25–75 百分位数、中位数与第 5–95 百分位数；纵轴为对数刻度，大于 50 Å 的离群点在顶端三角区域绘制。官方模型在 1 个测试实例中因所选口袋未包含有效蛋白原子而报错，未计入统计。</ns1:t>
            </ns1:r>
            <ns1:endParaRPr lang="en-US" dirty="0"/>
          </ns1:p>
          <ns1:p>
            <ns1:r>
              <ns1:t>ENGLISH:</ns1:t>
            </ns1:r>
          </ns1:p>
          <ns1:p>
            <ns1:r>
              <ns1:t>Comparison of PocketXMol-official and density-guided PocketXMol-tuned on 446 small-molecule docking tasks.</ns1:t>
            </ns1:r>
          </ns1:p>
          <ns1:p>
            <ns1:r>
              <ns1:t>a, Distribution of heavy-atom root-mean-square deviation (RMSD) for top-1 poses, ranked first by each model's own score.</ns1:t>
            </ns1:r>
          </ns1:p>
          <ns1:p>
            <ns1:r>
              <ns1:t>b, Distribution of RMSD for best-of-50 poses, selected as the lowest-RMSD pose among 50 candidates. Results for centre-defined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single-residue small-molecule test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1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/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Emap2lig-Find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命中实例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(n=237)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上 </ns1:t>
            </ns1:r>
            <ns1:r>
              <ns1:rPr lang="en-US" altLang="zh-CN" sz="1200" b="1" i="0" kern="1200" dirty="0" err="1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PocketXmol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-tuned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与 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Emap2lig-Build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的对接性能比较。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a</ns1:t>
            </ns1:r>
            <ns1:r>
              <ns1:rPr lang="zh-CN" altLang="en-US" dirty="0"/>
              <ns1:t>，各方法的 </ns1:t>
            </ns1:r>
            <ns1:r>
              <ns1:rPr lang="en-US" altLang="zh-CN" dirty="0"/>
              <ns1:t>top-1</ns1:t>
            </ns1:r>
            <ns1:r>
              <ns1:rPr lang="zh-CN" altLang="en-US" dirty="0"/>
              <ns1:t> </ns1:t>
            </ns1:r>
            <ns1:r>
              <ns1:rPr lang="en-US" altLang="zh-CN" dirty="0"/>
              <ns1:t>pose </ns1:t>
            </ns1:r>
            <ns1:r>
              <ns1:rPr lang="zh-CN" altLang="en-US" dirty="0"/>
              <ns1:t>的重原子</ns1:t>
            </ns1:r>
            <ns1:r>
              <ns1:rPr lang="en-US" altLang="zh-CN" dirty="0"/>
              <ns1:t>RMSD</ns1:t>
            </ns1:r>
            <ns1:r>
              <ns1:rPr lang="zh-CN" altLang="en-US" dirty="0"/>
              <ns1:t>。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b</ns1:t>
            </ns1:r>
            <ns1:r>
              <ns1:rPr lang="zh-CN" altLang="en-US" dirty="0"/>
              <ns1:t>，</ns1:t>
            </ns1:r>
            <ns1:r>
              <ns1:rPr lang="en-US" altLang="zh-CN" dirty="0"/>
              <ns1:t>best-of-50 pose </ns1:t>
            </ns1:r>
            <ns1:r>
              <ns1:rPr lang="zh-CN" altLang="en-US" dirty="0"/>
              <ns1:t>的重原子 </ns1:t>
            </ns1:r>
            <ns1:r>
              <ns1:rPr lang="en-US" altLang="zh-CN" dirty="0"/>
              <ns1:t>RMSD</ns1:t>
            </ns1:r>
            <ns1:r>
              <ns1:rPr lang="zh-CN" altLang="en-US" dirty="0"/>
              <ns1:t>。其中 </ns1:t>
            </ns1:r>
            <ns1:r>
              <ns1:rPr lang="en-US" altLang="zh-CN" dirty="0" err="1"/>
              <ns1:t>PocketXmol</ns1:t>
            </ns1:r>
            <ns1:r>
              <ns1:rPr lang="en-US" altLang="zh-CN" dirty="0"/>
              <ns1:t>-tuned </ns1:t>
            </ns1:r>
            <ns1:r>
              <ns1:rPr lang="zh-CN" altLang="en-US" dirty="0"/>
              <ns1:t>分别使用真实受体和 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受体进行测试，且口袋由真实结合位点的 </ns1:t>
            </ns1:r>
            <ns1:r>
              <ns1:rPr lang="en-US" altLang="zh-CN" dirty="0"/>
              <ns1:t>15 Å </ns1:t>
            </ns1:r>
            <ns1:r>
              <ns1:rPr lang="zh-CN" altLang="en-US" dirty="0"/>
              <ns1:t>包络定义；</ns1:t>
            </ns1:r>
            <ns1:r>
              <ns1:rPr lang="en-US" altLang="zh-CN" dirty="0"/>
              <ns1:t>Emap2lig-Build </ns1:t>
            </ns1:r>
            <ns1:r>
              <ns1:rPr lang="zh-CN" altLang="en-US" dirty="0"/>
              <ns1:t>使用 </ns1:t>
            </ns1:r>
            <ns1:r>
              <ns1:rPr lang="en-US" altLang="zh-CN" dirty="0"/>
              <ns1:t>Emap2lig-Find </ns1:t>
            </ns1:r>
            <ns1:r>
              <ns1:rPr lang="zh-CN" altLang="en-US" dirty="0"/>
              <ns1:t>预测的原生候选三维 </ns1:t>
            </ns1:r>
            <ns1:r>
              <ns1:rPr lang="en-US" altLang="zh-CN" dirty="0"/>
              <ns1:t>blob </ns1:t>
            </ns1:r>
            <ns1:r>
              <ns1:rPr lang="zh-CN" altLang="en-US" dirty="0"/>
              <ns1:t>作为提示区域。每点代表一个实例，箱体、中间横线和须分别表示第 </ns1:t>
            </ns1:r>
            <ns1:r>
              <ns1:rPr lang="en-US" altLang="zh-CN" dirty="0"/>
              <ns1:t>25–75 </ns1:t>
            </ns1:r>
            <ns1:r>
              <ns1:rPr lang="zh-CN" altLang="en-US" dirty="0"/>
              <ns1:t>百分位数、中位数和第 </ns1:t>
            </ns1:r>
            <ns1:r>
              <ns1:rPr lang="en-US" altLang="zh-CN" dirty="0"/>
              <ns1:t>5–95 </ns1:t>
            </ns1:r>
            <ns1:r>
              <ns1:rPr lang="zh-CN" altLang="en-US" dirty="0"/>
              <ns1:t>百分位数，纵轴为对数</ns1:t>
            </ns1:r>
            <ns1:r>
              <ns1:rPr lang="zh-CN" altLang="en-US"/>
              <ns1:t>刻度。</ns1:t>
            </ns1:r>
            <ns1:endParaRPr lang="en-US" dirty="0"/>
          </ns1:p>
          <ns1:p>
            <ns1:r>
              <ns1:t>ENGLISH:</ns1:t>
            </ns1:r>
          </ns1:p>
          <ns1:p>
            <ns1:r>
              <ns1:t>Docking performance of PocketXMol-tuned and Emap2lig-Build on instances detected by Emap2lig-Find (n = 237).</ns1:t>
            </ns1:r>
          </ns1:p>
          <ns1:p>
            <ns1:r>
              <ns1:t>a, Heavy-atom root-mean-square deviation (RMSD) of top-1 poses, ranked first by each model's score.</ns1:t>
            </ns1:r>
          </ns1:p>
          <ns1:p>
            <ns1:r>
              <ns1:t>b, Heavy-atom RMSD of best-of-50 poses, selected as the lowest-RMSD pose among 50 candidates. PocketXMol-tuned is evaluated with deposited and CryoAtom2-reconstructed receptors, using a 15 Å sphere centred on the deposited binding 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2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663</Words>
  <Application>Microsoft Office PowerPoint</Application>
  <PresentationFormat>自定义</PresentationFormat>
  <Paragraphs>73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17</cp:revision>
  <dcterms:created xsi:type="dcterms:W3CDTF">2026-10-02T14:55:31Z</dcterms:created>
  <dcterms:modified xsi:type="dcterms:W3CDTF">2026-10-03T08:52:49Z</dcterms:modified>
</cp:coreProperties>
</file>