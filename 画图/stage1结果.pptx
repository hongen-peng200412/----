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4218" autoAdjust="0"/>
  </p:normalViewPr>
  <p:slideViewPr>
    <p:cSldViewPr snapToGrid="0">
      <p:cViewPr varScale="1">
        <p:scale>
          <a:sx n="46" d="100"/>
          <a:sy n="46" d="100"/>
        </p:scale>
        <p:origin x="18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Stage1 </a:t>
            </a:r>
            <a:r>
              <a:rPr lang="zh-CN" altLang="en-US" dirty="0"/>
              <a:t>配体区域检测。左列：全配体（</a:t>
            </a:r>
            <a:r>
              <a:rPr lang="en-US" altLang="zh-CN" dirty="0"/>
              <a:t>179 </a:t>
            </a:r>
            <a:r>
              <a:rPr lang="en-US" dirty="0"/>
              <a:t>PDB，2502 </a:t>
            </a:r>
            <a:r>
              <a:rPr lang="zh-CN" altLang="en-US" dirty="0"/>
              <a:t>实例）；右列：小分子</a:t>
            </a:r>
            <a:r>
              <a:rPr lang="en-US" altLang="zh-CN" dirty="0"/>
              <a:t>-</a:t>
            </a:r>
            <a:r>
              <a:rPr lang="en-US" dirty="0"/>
              <a:t>only（94 PDB，821 </a:t>
            </a:r>
            <a:r>
              <a:rPr lang="zh-CN" altLang="en-US" dirty="0"/>
              <a:t>实例）。</a:t>
            </a:r>
            <a:r>
              <a:rPr lang="en-US" dirty="0" err="1"/>
              <a:t>a、b</a:t>
            </a:r>
            <a:r>
              <a:rPr lang="zh-CN" altLang="en-US" dirty="0"/>
              <a:t>展示了</a:t>
            </a:r>
            <a:r>
              <a:rPr lang="en-US" dirty="0" err="1"/>
              <a:t>Dice、one-to-one</a:t>
            </a:r>
            <a:r>
              <a:rPr lang="en-US" dirty="0"/>
              <a:t> PRAUC@0.3 </a:t>
            </a:r>
            <a:r>
              <a:rPr lang="zh-CN" altLang="en-US" dirty="0"/>
              <a:t>和 </a:t>
            </a:r>
            <a:r>
              <a:rPr lang="en-US" dirty="0"/>
              <a:t>PRAUC@0.5</a:t>
            </a:r>
            <a:r>
              <a:rPr lang="zh-CN" altLang="en-US" dirty="0"/>
              <a:t>的逐</a:t>
            </a:r>
            <a:r>
              <a:rPr lang="en-US" dirty="0"/>
              <a:t>PDB</a:t>
            </a:r>
            <a:r>
              <a:rPr lang="zh-CN" altLang="en-US" dirty="0"/>
              <a:t>表现，误差线为 </a:t>
            </a:r>
            <a:r>
              <a:rPr lang="en-US" altLang="zh-CN" dirty="0"/>
              <a:t>10,000 </a:t>
            </a:r>
            <a:r>
              <a:rPr lang="zh-CN" altLang="en-US" dirty="0"/>
              <a:t>次 </a:t>
            </a:r>
            <a:r>
              <a:rPr lang="en-US" dirty="0"/>
              <a:t>PDB bootstrap </a:t>
            </a:r>
            <a:r>
              <a:rPr lang="zh-CN" altLang="en-US" dirty="0"/>
              <a:t>的均值 </a:t>
            </a:r>
            <a:r>
              <a:rPr lang="en-US" altLang="zh-CN" dirty="0"/>
              <a:t>95% </a:t>
            </a:r>
            <a:r>
              <a:rPr lang="zh-CN" altLang="en-US" dirty="0"/>
              <a:t>区间。</a:t>
            </a:r>
            <a:r>
              <a:rPr lang="en-US" dirty="0" err="1"/>
              <a:t>c、d</a:t>
            </a:r>
            <a:r>
              <a:rPr lang="zh-CN" altLang="en-US" dirty="0"/>
              <a:t>进行了 </a:t>
            </a:r>
            <a:r>
              <a:rPr lang="en-US" dirty="0" err="1"/>
              <a:t>Ligandseek</a:t>
            </a:r>
            <a:r>
              <a:rPr lang="en-US" dirty="0"/>
              <a:t>-Find </a:t>
            </a:r>
            <a:r>
              <a:rPr lang="zh-CN" altLang="en-US" dirty="0"/>
              <a:t>与 </a:t>
            </a:r>
            <a:r>
              <a:rPr lang="en-US" dirty="0"/>
              <a:t>Emap2lig-Find </a:t>
            </a:r>
            <a:r>
              <a:rPr lang="zh-CN" altLang="en-US" dirty="0"/>
              <a:t>的</a:t>
            </a:r>
            <a:r>
              <a:rPr lang="en-US" dirty="0"/>
              <a:t>head-to-head</a:t>
            </a:r>
            <a:r>
              <a:rPr lang="zh-CN" altLang="en-US" dirty="0"/>
              <a:t>比较；</a:t>
            </a:r>
            <a:r>
              <a:rPr lang="en-US" dirty="0" err="1"/>
              <a:t>Ligandseek</a:t>
            </a:r>
            <a:r>
              <a:rPr lang="en-US" dirty="0"/>
              <a:t>-Find </a:t>
            </a:r>
            <a:r>
              <a:rPr lang="zh-CN" altLang="en-US" dirty="0"/>
              <a:t>与</a:t>
            </a:r>
            <a:r>
              <a:rPr lang="en-US" dirty="0"/>
              <a:t>Emap2lig-Find </a:t>
            </a:r>
            <a:r>
              <a:rPr lang="zh-CN" altLang="en-US" dirty="0"/>
              <a:t>相比，更好</a:t>
            </a:r>
            <a:r>
              <a:rPr lang="en-US" altLang="zh-CN" dirty="0"/>
              <a:t>/</a:t>
            </a:r>
            <a:r>
              <a:rPr lang="zh-CN" altLang="en-US" dirty="0"/>
              <a:t>相当</a:t>
            </a:r>
            <a:r>
              <a:rPr lang="en-US" altLang="zh-CN" dirty="0"/>
              <a:t>/</a:t>
            </a:r>
            <a:r>
              <a:rPr lang="zh-CN" altLang="en-US" dirty="0"/>
              <a:t>更差的</a:t>
            </a:r>
            <a:r>
              <a:rPr lang="en-US" dirty="0"/>
              <a:t>PDB</a:t>
            </a:r>
            <a:r>
              <a:rPr lang="zh-CN" altLang="en-US" dirty="0"/>
              <a:t>数分别为 </a:t>
            </a:r>
            <a:r>
              <a:rPr lang="en-US" altLang="zh-CN" dirty="0"/>
              <a:t>112/40/27 </a:t>
            </a:r>
            <a:r>
              <a:rPr lang="zh-CN" altLang="en-US" dirty="0"/>
              <a:t>和 </a:t>
            </a:r>
            <a:r>
              <a:rPr lang="en-US" altLang="zh-CN" dirty="0"/>
              <a:t>40/36/18</a:t>
            </a:r>
            <a:r>
              <a:rPr lang="zh-CN" altLang="en-US" dirty="0"/>
              <a:t>。</a:t>
            </a:r>
            <a:r>
              <a:rPr lang="en-US" dirty="0" err="1"/>
              <a:t>e、f</a:t>
            </a:r>
            <a:r>
              <a:rPr lang="zh-CN" altLang="en-US" dirty="0"/>
              <a:t>在阈值为</a:t>
            </a:r>
            <a:r>
              <a:rPr lang="en-US" altLang="zh-CN" dirty="0"/>
              <a:t>0.3</a:t>
            </a:r>
            <a:r>
              <a:rPr lang="zh-CN" altLang="en-US" dirty="0"/>
              <a:t>的 </a:t>
            </a:r>
            <a:r>
              <a:rPr lang="en-US" dirty="0"/>
              <a:t>one-to-one</a:t>
            </a:r>
            <a:r>
              <a:rPr lang="zh-CN" altLang="en-US" dirty="0"/>
              <a:t>指标上进行了 </a:t>
            </a:r>
            <a:r>
              <a:rPr lang="en-US" dirty="0"/>
              <a:t>Precision/Recall</a:t>
            </a:r>
            <a:r>
              <a:rPr lang="zh-CN" altLang="en-US" dirty="0"/>
              <a:t>的分拆，每点代表一个</a:t>
            </a:r>
            <a:r>
              <a:rPr lang="en-US" altLang="zh-CN" dirty="0"/>
              <a:t>PDB</a:t>
            </a:r>
            <a:r>
              <a:rPr lang="zh-CN" altLang="en-US" dirty="0"/>
              <a:t>，空心白点和粗线分别代表中位数和四分位范围</a:t>
            </a:r>
            <a:r>
              <a:rPr lang="en-US" dirty="0"/>
              <a:t>。</a:t>
            </a:r>
            <a:endParaRPr dirty="0"/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8133</TotalTime>
  <Words>5586</Words>
  <Application>Microsoft Office PowerPoint</Application>
  <DocSecurity>0</DocSecurity>
  <PresentationFormat>自定义</PresentationFormat>
  <Paragraphs>657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23</cp:revision>
  <dcterms:created xsi:type="dcterms:W3CDTF">2026-09-23T07:01:10Z</dcterms:created>
  <dcterms:modified xsi:type="dcterms:W3CDTF">2026-10-06T10:35:13Z</dcterms:modified>
</cp:coreProperties>
</file>