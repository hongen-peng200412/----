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59A7996B.xml" ContentType="application/vnd.ms-powerpoint.comments+xml"/>
  <Override PartName="/ppt/notesSlides/notesSlide2.xml" ContentType="application/vnd.openxmlformats-officedocument.presentationml.notesSlide+xml"/>
  <Override PartName="/ppt/comments/modernComment_101_82D3871.xml" ContentType="application/vnd.ms-powerpoint.comments+xml"/>
  <Override PartName="/ppt/notesSlides/notesSlide3.xml" ContentType="application/vnd.openxmlformats-officedocument.presentationml.notesSlide+xml"/>
  <Override PartName="/ppt/comments/modernComment_102_31DFF6C0.xml" ContentType="application/vnd.ms-powerpoint.comments+xml"/>
  <Override PartName="/ppt/notesSlides/notesSlide4.xml" ContentType="application/vnd.openxmlformats-officedocument.presentationml.notesSlide+xml"/>
  <Override PartName="/ppt/comments/modernComment_103_51AA52D0.xml" ContentType="application/vnd.ms-powerpoint.comments+xml"/>
  <Override PartName="/ppt/notesSlides/notesSlide5.xml" ContentType="application/vnd.openxmlformats-officedocument.presentationml.notesSlide+xml"/>
  <Override PartName="/ppt/comments/modernComment_104_4211CE44.xml" ContentType="application/vnd.ms-powerpoint.comments+xml"/>
  <Override PartName="/ppt/notesSlides/notesSlide6.xml" ContentType="application/vnd.openxmlformats-officedocument.presentationml.notesSlide+xml"/>
  <Override PartName="/ppt/comments/modernComment_105_A872032.xml" ContentType="application/vnd.ms-powerpoint.comments+xml"/>
  <Override PartName="/ppt/notesSlides/notesSlide7.xml" ContentType="application/vnd.openxmlformats-officedocument.presentationml.notesSlide+xml"/>
  <Override PartName="/ppt/comments/modernComment_106_32340EF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145000" cy="18478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0_59A799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977CEB-EE05-44FE-91DB-CF44D66EA774}" authorId="{D3F71A66-0C34-DF1A-5236-FECDBC820DCB}" created="2026-10-03T12:47:56.486">
    <pc:sldMkLst xmlns:pc="http://schemas.microsoft.com/office/powerpoint/2013/main/command">
      <pc:docMk/>
      <pc:sldMk cId="1504156011" sldId="256"/>
    </pc:sldMkLst>
    <p188:pos x="0" y="0"/>
    <p188:txBody>
      <a:bodyPr/>
      <a:lstStyle/>
      <a:p>
        <a:r>
          <a:rPr lang="zh-CN" altLang="en-US"/>
          <a:t>@@e2e-flow-9bjj</a:t>
        </a:r>
      </a:p>
    </p188:txBody>
  </p188:cm>
  <p188:cm id="{3185D25D-541F-4FF6-8EDC-2C517E3A0821}" authorId="{D3F71A66-0C34-DF1A-5236-FECDBC820DCB}" created="2026-10-03T12:47:56.500">
    <pc:sldMkLst xmlns:pc="http://schemas.microsoft.com/office/powerpoint/2013/main/command">
      <pc:docMk/>
      <pc:sldMk cId="1504156011" sldId="256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1_82D38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70EBD7-FA61-4057-B457-7E7B93BA4D59}" authorId="{D3F71A66-0C34-DF1A-5236-FECDBC820DCB}" created="2026-10-03T12:47:56.958">
    <pc:sldMkLst xmlns:pc="http://schemas.microsoft.com/office/powerpoint/2013/main/command">
      <pc:docMk/>
      <pc:sldMk cId="137181297" sldId="257"/>
    </pc:sldMkLst>
    <p188:pos x="0" y="0"/>
    <p188:txBody>
      <a:bodyPr/>
      <a:lstStyle/>
      <a:p>
        <a:r>
          <a:rPr lang="zh-CN" altLang="en-US"/>
          <a:t>@@e2e-flow-30ga</a:t>
        </a:r>
      </a:p>
    </p188:txBody>
  </p188:cm>
  <p188:cm id="{E5C7884D-F22D-4C31-966C-646DC83A16E8}" authorId="{D3F71A66-0C34-DF1A-5236-FECDBC820DCB}" created="2026-10-03T12:47:56.960">
    <pc:sldMkLst xmlns:pc="http://schemas.microsoft.com/office/powerpoint/2013/main/command">
      <pc:docMk/>
      <pc:sldMk cId="137181297" sldId="257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2_31DFF6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47980A-19EE-4CE5-9816-FC55C1AD4FAF}" authorId="{D3F71A66-0C34-DF1A-5236-FECDBC820DCB}" created="2026-10-03T12:47:57.237">
    <pc:sldMkLst xmlns:pc="http://schemas.microsoft.com/office/powerpoint/2013/main/command">
      <pc:docMk/>
      <pc:sldMk cId="836761280" sldId="258"/>
    </pc:sldMkLst>
    <p188:pos x="0" y="0"/>
    <p188:txBody>
      <a:bodyPr/>
      <a:lstStyle/>
      <a:p>
        <a:r>
          <a:rPr lang="zh-CN" altLang="en-US"/>
          <a:t>@@e2e-flow-9llg</a:t>
        </a:r>
      </a:p>
    </p188:txBody>
  </p188:cm>
  <p188:cm id="{CD788A38-B76A-471B-BAA0-FD4B9BDE185F}" authorId="{D3F71A66-0C34-DF1A-5236-FECDBC820DCB}" created="2026-10-03T12:47:57.239">
    <pc:sldMkLst xmlns:pc="http://schemas.microsoft.com/office/powerpoint/2013/main/command">
      <pc:docMk/>
      <pc:sldMk cId="836761280" sldId="258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3_51AA52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399C93-815E-4E2B-B76F-2AEF7F0B3AC6}" authorId="{D3F71A66-0C34-DF1A-5236-FECDBC820DCB}" created="2026-10-03T12:47:57.538">
    <pc:sldMkLst xmlns:pc="http://schemas.microsoft.com/office/powerpoint/2013/main/command">
      <pc:docMk/>
      <pc:sldMk cId="1370116816" sldId="259"/>
    </pc:sldMkLst>
    <p188:pos x="0" y="0"/>
    <p188:txBody>
      <a:bodyPr/>
      <a:lstStyle/>
      <a:p>
        <a:r>
          <a:rPr lang="zh-CN" altLang="en-US"/>
          <a:t>@@e2e-flow-9qru</a:t>
        </a:r>
      </a:p>
    </p188:txBody>
  </p188:cm>
  <p188:cm id="{D995C40E-70EA-4071-9B94-53F4403DD12C}" authorId="{D3F71A66-0C34-DF1A-5236-FECDBC820DCB}" created="2026-10-03T12:47:57.540">
    <pc:sldMkLst xmlns:pc="http://schemas.microsoft.com/office/powerpoint/2013/main/command">
      <pc:docMk/>
      <pc:sldMk cId="1370116816" sldId="259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4_4211CE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6D02ED-E24B-4918-BD26-3DD49461EF9D}" authorId="{D3F71A66-0C34-DF1A-5236-FECDBC820DCB}" created="2026-10-03T12:47:57.810">
    <pc:sldMkLst xmlns:pc="http://schemas.microsoft.com/office/powerpoint/2013/main/command">
      <pc:docMk/>
      <pc:sldMk cId="1108463172" sldId="260"/>
    </pc:sldMkLst>
    <p188:pos x="0" y="0"/>
    <p188:txBody>
      <a:bodyPr/>
      <a:lstStyle/>
      <a:p>
        <a:r>
          <a:rPr lang="zh-CN" altLang="en-US"/>
          <a:t>@@e2e-flow-9rd8</a:t>
        </a:r>
      </a:p>
    </p188:txBody>
  </p188:cm>
  <p188:cm id="{16284E3A-4AEC-4A91-AF65-405F2835D5D8}" authorId="{D3F71A66-0C34-DF1A-5236-FECDBC820DCB}" created="2026-10-03T12:47:57.812">
    <pc:sldMkLst xmlns:pc="http://schemas.microsoft.com/office/powerpoint/2013/main/command">
      <pc:docMk/>
      <pc:sldMk cId="1108463172" sldId="260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5_A8720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A3CAC5-9CD7-4B26-8D00-E1CC117E89F0}" authorId="{D3F71A66-0C34-DF1A-5236-FECDBC820DCB}" created="2026-10-03T12:47:58.101">
    <pc:sldMkLst xmlns:pc="http://schemas.microsoft.com/office/powerpoint/2013/main/command">
      <pc:docMk/>
      <pc:sldMk cId="176627762" sldId="261"/>
    </pc:sldMkLst>
    <p188:pos x="0" y="0"/>
    <p188:txBody>
      <a:bodyPr/>
      <a:lstStyle/>
      <a:p>
        <a:r>
          <a:rPr lang="zh-CN" altLang="en-US"/>
          <a:t>@@e2e-flow-9wup</a:t>
        </a:r>
      </a:p>
    </p188:txBody>
  </p188:cm>
  <p188:cm id="{10A7B8B3-DA3C-4A7E-A63A-B5F96FCE5ADB}" authorId="{D3F71A66-0C34-DF1A-5236-FECDBC820DCB}" created="2026-10-03T12:47:58.102">
    <pc:sldMkLst xmlns:pc="http://schemas.microsoft.com/office/powerpoint/2013/main/command">
      <pc:docMk/>
      <pc:sldMk cId="176627762" sldId="261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comments/modernComment_106_32340E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5A7B1F-CDF1-47DA-9B43-FAEB89005645}" authorId="{D3F71A66-0C34-DF1A-5236-FECDBC820DCB}" created="2026-10-03T12:47:58.407">
    <pc:sldMkLst xmlns:pc="http://schemas.microsoft.com/office/powerpoint/2013/main/command">
      <pc:docMk/>
      <pc:sldMk cId="842272500" sldId="262"/>
    </pc:sldMkLst>
    <p188:pos x="0" y="0"/>
    <p188:txBody>
      <a:bodyPr/>
      <a:lstStyle/>
      <a:p>
        <a:r>
          <a:rPr lang="zh-CN" altLang="en-US"/>
          <a:t>@@e2e-flow-9xzl</a:t>
        </a:r>
      </a:p>
    </p188:txBody>
  </p188:cm>
  <p188:cm id="{DB6F491F-3785-43CE-BBD0-DA0A8ADF6EAC}" authorId="{D3F71A66-0C34-DF1A-5236-FECDBC820DCB}" created="2026-10-03T12:47:58.408">
    <pc:sldMkLst xmlns:pc="http://schemas.microsoft.com/office/powerpoint/2013/main/command">
      <pc:docMk/>
      <pc:sldMk cId="842272500" sldId="262"/>
    </pc:sldMkLst>
    <p188:pos x="0" y="0"/>
    <p188:txBody>
      <a:bodyPr/>
      <a:lstStyle/>
      <a:p>
        <a:r>
          <a:rPr lang="zh-CN" altLang="en-US"/>
          <a:t>Frozen CA2 local-c1 self-ranking Top-1. Full server exp.npy, all original blobs and actual identity_smiles. 3D: native ChimeraX 1.10.1 CXC/CXS; 2D: RDKit 2026.03.6 SVG with graph/stereo audits. See 画图/画图代码/e2e_flow_20261003/README.md and 画图/formal/E2E_flow_20261003/&lt;pdb&gt;/data.json, geometry.json, camera.json, identities/identity_manifest.json. Native PPT labels, arrows, frames and independent PNG/SVG components remain editable. Original E2E案例可视化.pptx is preserved.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12｜9BJJ 的完整重建流程。首位 ATP(B:901) 依次完成区域检出、身份匹配和构象重建。 a–c，完整实验密度、CryoAtom2 受体及 GT 受体参考。d，全部 15 个预测 blob 的全局分布；e、f，GT 邻域与 Find 局部对照，每对朝向和尺度一致。g，原顺序的全部 3 个 SMILES 身份，2 个合格小分子参与匹配，蓝框标出精确匹配项。h–j，同一 local_cov-C 自评分首位姿态的受体、密度和沉积构象叠加视图，重原子 RMSD 0.80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13｜30GA 的完整重建流程。首位背景消耗一次尝试，未进入 Match 或 Build；第二位 ATP(N:401) 完成重建。 a–c，完整实验密度、CryoAtom2 受体及 GT 受体参考。d，全部 19 个预测 blob 的全局分布；e、f，GT 邻域与 Find 局部对照，每对朝向和尺度一致。g，原顺序的全部 2 个 SMILES 身份，1 个合格小分子参与匹配，蓝框标出精确匹配项。h–j，同一 local_cov-C 自评分首位姿态的受体、密度和沉积构象叠加视图，重原子 RMSD 1.04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14｜9LLG 的完整重建流程。首位 A1EKL(R:602) 依次完成区域检出、身份匹配和构象重建。 a–c，完整实验密度、CryoAtom2 受体及 GT 受体参考。d，全部 3 个预测 blob 的全局分布；e、f，GT 邻域与 Find 局部对照，每对朝向和尺度一致。g，原顺序的全部 3 个 SMILES 身份，3 个合格小分子参与匹配，蓝框标出精确匹配项。h–j，同一 local_cov-C 自评分首位姿态的受体、密度和沉积构象叠加视图，重原子 RMSD 0.88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15｜9QRU 的完整重建流程。首位背景消耗一次尝试，未进入 Match 或 Build；第二位 A1JAX(B:2801) 完成重建。 a–c，完整实验密度、CryoAtom2 受体及 GT 受体参考。d，全部 4 个预测 blob 的全局分布；e、f，GT 邻域与 Find 局部对照，每对朝向和尺度一致。g，原顺序的全部 3 个 SMILES 身份，2 个合格小分子参与匹配，蓝框标出精确匹配项。h–j，同一 local_cov-C 自评分首位姿态的受体、密度和沉积构象叠加视图，重原子 RMSD 0.63 Å。受体绿色，密度灰色，目标 blob 橙色，背景灰紫色，预测构象蓝色，沉积构象青绿色。所示目标位点生成 50 个姿态，每姿态 100 步采样；GT 仅供参考及最终评价。 该候选原入选标记为 false，仍按完整顺序评价。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备选图｜9RD8 的完整重建流程。首位 BCT(A:902) 依次完成区域检出、身份匹配和构象重建。 a–c，完整实验密度、CryoAtom2 受体及 GT 受体参考。d，全部 5 个预测 blob 的全局分布；e、f，GT 邻域与 Find 局部对照，每对朝向和尺度一致。g，原顺序的全部 4 个 SMILES 身份，3 个合格小分子参与匹配，蓝框标出精确匹配项。h–j，同一 local_cov-C 自评分首位姿态的受体、密度和沉积构象叠加视图，重原子 RMSD 0.96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备选图｜9WUP 的完整重建流程。前 2 位前景经 Stage3 范围门禁免费跳过，第 3 位 FMN(B:1103) 为首个计费候选。 a–c，完整实验密度、CryoAtom2 受体及 GT 受体参考。d，全部 7 个预测 blob 的全局分布；e、f，GT 邻域与 Find 局部对照，每对朝向和尺度一致。g，原顺序的全部 4 个 SMILES 身份，4 个合格小分子参与匹配，蓝框标出精确匹配项。h–j，同一 local_cov-C 自评分首位姿态的受体、密度和沉积构象叠加视图，重原子 RMSD 0.52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备选图｜9XZL 的完整重建流程。前 1 位前景经 Stage3 范围门禁免费跳过，第 2 位 AGS(F:1001) 为首个计费候选。 a–c，完整实验密度、CryoAtom2 受体及 GT 受体参考。d，全部 3 个预测 blob 的全局分布；e、f，GT 邻域与 Find 局部对照，每对朝向和尺度一致。g，原顺序的全部 3 个 SMILES 身份，1 个合格小分子参与匹配，蓝框标出精确匹配项。h–j，同一 local_cov-C 自评分首位姿态的受体、密度和沉积构象叠加视图，重原子 RMSD 0.91 Å。受体绿色，密度灰色，目标 blob 橙色，背景灰紫色，预测构象蓝色，沉积构象青绿色。所示目标位点生成 50 个姿态，每姿态 100 步采样；GT 仅供参考及最终评价。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18/10/relationships/comments" Target="../comments/modernComment_100_59A7996B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9.svg"/><Relationship Id="rId3" Type="http://schemas.microsoft.com/office/2018/10/relationships/comments" Target="../comments/modernComment_101_82D3871.xml"/><Relationship Id="rId7" Type="http://schemas.openxmlformats.org/officeDocument/2006/relationships/image" Target="../media/image16.pn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microsoft.com/office/2018/10/relationships/comments" Target="../comments/modernComment_102_31DFF6C0.xml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0.svg"/><Relationship Id="rId3" Type="http://schemas.microsoft.com/office/2018/10/relationships/comments" Target="../comments/modernComment_103_51AA52D0.xml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5.svg"/><Relationship Id="rId3" Type="http://schemas.microsoft.com/office/2018/10/relationships/comments" Target="../comments/modernComment_104_4211CE44.xml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png"/><Relationship Id="rId15" Type="http://schemas.openxmlformats.org/officeDocument/2006/relationships/image" Target="../media/image59.png"/><Relationship Id="rId10" Type="http://schemas.openxmlformats.org/officeDocument/2006/relationships/image" Target="../media/image55.sv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svg"/><Relationship Id="rId3" Type="http://schemas.microsoft.com/office/2018/10/relationships/comments" Target="../comments/modernComment_105_A872032.xml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sv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1.png"/><Relationship Id="rId3" Type="http://schemas.microsoft.com/office/2018/10/relationships/comments" Target="../comments/modernComment_106_32340EF4.xml"/><Relationship Id="rId7" Type="http://schemas.openxmlformats.org/officeDocument/2006/relationships/image" Target="../media/image77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9.svg"/><Relationship Id="rId5" Type="http://schemas.openxmlformats.org/officeDocument/2006/relationships/image" Target="../media/image75.png"/><Relationship Id="rId15" Type="http://schemas.openxmlformats.org/officeDocument/2006/relationships/image" Target="../media/image83.png"/><Relationship Id="rId10" Type="http://schemas.openxmlformats.org/officeDocument/2006/relationships/image" Target="../media/image80.sv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C435749B-2829-487D-8926-2DDD0A658AD0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9BJJ  ATP (B:901)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BAEABB-CB2A-4B7D-9DB5-7592BEB2E566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C6EB7E6-0B80-49BE-94E3-39CE2CFED8AA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805E5B1-FEA9-4D91-8A2A-C10E87968E9B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B63BDD5-9F7C-4BF1-BF77-27F0DD852F3E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AD6AB91-65A3-4A96-81DA-AD7B514CF68A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BABB793-DFB4-4979-86DF-B0F9693CF16E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FF80EB0-2F0D-45EC-81FF-A7C58C69F41D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A53EDD3-0415-494C-8297-A27B53AFE4F1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30F0B64-28B0-44D5-AC02-DD0816244802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0325D81-ECC2-4A24-A953-CA324D0DD2F3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FC2CE14-B1E6-4345-B55F-8F127DEA54C1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10624D-48DA-4D61-869B-F2F6E4ABCE71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A682DA-F057-4390-BEBC-824C2EBC7B50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6959A88-1D23-4E8E-A940-2A81786364E6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185068-DEDA-4D36-A790-A7F410844984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9D4952-50B7-46D8-85C9-6B2C7AD5B2A0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D6300E0-7653-4B45-BEE7-E107693F77BF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09849A-4476-4A99-84E9-2E3620F9B1B6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8CB0CC8-9573-4AA2-86DE-DB5E0F916DB8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357F09-3AD9-4BCC-AF1E-B8C432887FC3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428D5E5F-5A67-4084-922C-ECD481F00877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92C9AA-D7E0-4E66-8406-AD13D2D9B415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9738AF-8F67-4A33-8230-AE31A5A9B771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0BB8FE8-82F6-4560-AF7E-75E3703F0D23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31F6B9-5DC9-4922-9B56-E9EF9F9CE107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80422C-286F-4C4A-8E23-35F90386A631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6B8E481-2E4F-42C2-B25A-6326A076F92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15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39E2E64-AEEF-44D7-9602-4DC0CA0D8FBC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A699BC-3AB3-4B26-A329-606A3C935486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40DDE1-F9FD-4FC4-BCC4-DA0DF3A940E5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AFB7410-352E-429C-B4F8-83E9E6DAA568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3086F6-80C4-4232-A927-4A2983CF1620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2A424F1B-B10B-4678-BD9A-8B0D3174BCD9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787C56-52A5-433F-B89B-5CE390A9FCB5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54CB172-6E86-41D6-A37B-5E04EAB1B6E6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3FB5C6A-BA5F-4A11-870F-062767F49367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ADC2782-7B04-4776-A354-52C4547A11AC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matched">
            <a:extLst>
              <a:ext uri="{FF2B5EF4-FFF2-40B4-BE49-F238E27FC236}">
                <a16:creationId xmlns:a16="http://schemas.microsoft.com/office/drawing/2014/main" id="{11FB7042-F421-48B3-85F9-995E2FC3D577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1E6806A-CB65-4457-A59B-5B299D07DFDE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27" name="图形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881044" y="11382375"/>
            <a:ext cx="1553112" cy="166687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2B5D6EC5-873E-4010-A445-71E8DC803EE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49" name="Identity 2, eligible">
            <a:extLst>
              <a:ext uri="{FF2B5EF4-FFF2-40B4-BE49-F238E27FC236}">
                <a16:creationId xmlns:a16="http://schemas.microsoft.com/office/drawing/2014/main" id="{A1540676-56A0-453F-BB63-C3A704090847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5F890F-2FFC-4B58-ADE4-D1F362ECC7B7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045799" y="11382375"/>
            <a:ext cx="1434403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756F6D56-CBBF-4D27-AA31-712B00C6AD80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3" name="Identity 3, outside Stage3 scope">
            <a:extLst>
              <a:ext uri="{FF2B5EF4-FFF2-40B4-BE49-F238E27FC236}">
                <a16:creationId xmlns:a16="http://schemas.microsoft.com/office/drawing/2014/main" id="{4F5E6997-104E-4E95-9A23-EA48DBDBCE1C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4B6D31E-2213-4199-836F-4F4987D4039D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2593731" y="11382375"/>
            <a:ext cx="2549338" cy="1666875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DA1F3B1A-B238-4286-8921-C4C3E7656C6F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F733A63-C871-4B07-995B-BB828B56ABDB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79E9236-B232-468F-B0F7-838FECA28429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A1F9789-BF62-4438-90A9-1B09744319D2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2DF5A34-12FE-4429-8C21-E3DEC6FCE189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34DD1B1-B5B8-4516-B5B9-67FF5E121B6D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A72F981-F0E7-4162-B4AA-737D72513085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99F5E2AB-4A19-47C1-8E67-16698BB38860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5FDB9A5-CE95-4D5F-B075-FDF5C707B0DA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F5B23D60-74A9-41AA-BD5D-EB75B58E1EE2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16C80A9-C43F-4CD8-ACD3-2992AF627975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2E0C9F0B-BF1A-4048-8382-13686B5EACA6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0.80 Å     Clash 0     50 poses, 100 steps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342E9B85-0F08-4EF9-8E77-7EC88347016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2515BB7-1C1A-45C6-A5A9-A93993DEBEF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DF94DFA-D3C6-47FE-87E9-6762B5262365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BEA9198-B365-4E11-95FD-83C6B6CEFC66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64BD2460-F846-49B8-8EF5-AA353AEA02FD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E3D4F88-5E73-4307-990A-D8675499090A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2978C7D2-C120-478B-A874-628F5A0333DF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6DE99B7-5817-496B-9B76-69E75BA70B35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9EED489-C706-4C32-B064-98E5E36FF3ED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65A9725-F0BF-4343-B0CC-483136017C4B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5041560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685E7A91-47F4-4AD8-A5A2-7D7E8EB6D91C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30GA  ATP (N:401)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29AE84-B0C5-4A7F-9A03-DF0E8E2F4207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ED1AF901-3EBC-457E-9DB4-2D6CA282C6DF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5A39E5B-C6A3-4DFA-8F10-FE882BEBD3DF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C0100B8-CB91-44C0-98D8-18502513FD42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E23FB66-B850-4660-8BA0-EBFA3D317B1F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5AFE9AD-0EBA-4301-9869-C9E9E12EC839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5CA2CF1-F623-4CC6-9B8F-1D383BACB999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E329FAB-EF41-466E-A5E6-EB44496B44B0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7126FC7-2033-458F-93A2-84002AD0DC10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64351E3-73F8-48D4-BD1A-A28BD12F1829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B3FB74-ED2C-461E-B995-5C40E621B268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E54078-B090-4F72-9D69-4DDDBB701748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0C9796-41A7-4E61-83BB-E100380C2F3A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FA7C195-BB38-4D33-A93D-7CE6804987B8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864837-72E8-42A7-88C0-C970CCAE1D53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816303-9BF5-4D57-8BDC-89FF016A55C4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CFB3381-56D5-4DB0-9001-7F73B71AE1D7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A8029B-61B3-4671-8DA5-547ED00849CF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675F1F2-E886-42E5-A630-75D4BB5B893D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6EBE5D-B785-44E3-B913-8F2CFAE85592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FCF86AC6-70F2-4337-A2EC-7F97C4AFEAF7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95DF1C-2D4E-4844-B29D-FF03646CCF68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7EF18E-45D4-44E5-A737-FE81089A1EA4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2 uses charged attempt 2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95FEE5B-5D2A-4274-A129-BFA81E21068B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2F2CEF-17CB-4CDD-8E89-1AD096431876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72496A-4B9D-465B-B577-66459F4A5564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3DF83E67-9ECB-401F-BFBC-09F21EB30ED6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19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2474F3-A475-4978-AA94-09D9A2433218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351EDE-8A3F-4D87-A960-6225C30425C0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D3AF42-8DFF-4470-A143-FA62E99040A4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6C239A-CD64-43C2-ABB3-A22ECEEBBF6F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9C9ECF-05EB-46D9-AB14-36FAA8D4BFC8}"/>
              </a:ext>
            </a:extLst>
          </p:cNvPr>
          <p:cNvSpPr>
            <a:spLocks noGrp="1"/>
          </p:cNvSpPr>
          <p:nvPr/>
        </p:nvSpPr>
        <p:spPr>
          <a:xfrm>
            <a:off x="8001000" y="633412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44000" y="6715125"/>
            <a:ext cx="1714500" cy="1285875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430250" y="6715125"/>
            <a:ext cx="1714500" cy="1285875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59548B6D-502C-4C59-8F2A-A8523637901E}"/>
              </a:ext>
            </a:extLst>
          </p:cNvPr>
          <p:cNvSpPr>
            <a:spLocks noGrp="1"/>
          </p:cNvSpPr>
          <p:nvPr/>
        </p:nvSpPr>
        <p:spPr>
          <a:xfrm>
            <a:off x="8001000" y="80391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144000" y="8439150"/>
            <a:ext cx="1714500" cy="1285875"/>
          </a:xfrm>
          <a:prstGeom prst="rect">
            <a:avLst/>
          </a:prstGeom>
        </p:spPr>
      </p:pic>
      <p:pic>
        <p:nvPicPr>
          <p:cNvPr id="121" name="图片 120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3430250" y="8439150"/>
            <a:ext cx="1714500" cy="1285875"/>
          </a:xfrm>
          <a:prstGeom prst="rect">
            <a:avLst/>
          </a:prstGeom>
        </p:spPr>
      </p:pic>
      <p:sp>
        <p:nvSpPr>
          <p:cNvPr id="43" name="椭圆 42">
            <a:extLst>
              <a:ext uri="{FF2B5EF4-FFF2-40B4-BE49-F238E27FC236}">
                <a16:creationId xmlns:a16="http://schemas.microsoft.com/office/drawing/2014/main" id="{6BBE13EF-8360-4242-B6E2-8DEC3F2B2CCE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A48ED5-24C2-4E4A-9DFF-193CA2CAC6D7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9412F6-B125-47DC-8CF9-ACF988EE47EE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3BB70BCE-D8FB-4947-B1B5-9D231A7C5218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B23852E-550A-4ADD-841C-690A44BCE1A9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8" name="Identity 1, matched">
            <a:extLst>
              <a:ext uri="{FF2B5EF4-FFF2-40B4-BE49-F238E27FC236}">
                <a16:creationId xmlns:a16="http://schemas.microsoft.com/office/drawing/2014/main" id="{7ABF3F2D-073D-4DFF-B7F0-EF37ED54F794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73914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FDCE943-9F26-4784-8359-8E000D28E85A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157394" y="11382375"/>
            <a:ext cx="1553112" cy="166687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E29900A3-8B30-461C-A350-7A2BC0BCA7FE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704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2" name="Identity 2, outside Stage3 scope">
            <a:extLst>
              <a:ext uri="{FF2B5EF4-FFF2-40B4-BE49-F238E27FC236}">
                <a16:creationId xmlns:a16="http://schemas.microsoft.com/office/drawing/2014/main" id="{F8A9E124-59A6-4FB9-B718-3F72DBDCB264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73914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FBB9C99-1280-4042-BFD9-F3A6DE88020D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1317381" y="11382375"/>
            <a:ext cx="2549338" cy="1666875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EE23AC75-4A63-4868-9CE3-FE94E19DCF0F}"/>
              </a:ext>
            </a:extLst>
          </p:cNvPr>
          <p:cNvSpPr>
            <a:spLocks noGrp="1"/>
          </p:cNvSpPr>
          <p:nvPr/>
        </p:nvSpPr>
        <p:spPr>
          <a:xfrm>
            <a:off x="9067800" y="13144500"/>
            <a:ext cx="704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9FFF29DD-DC68-4D8E-8C2E-B36522A1C6CF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3AFB96F-24D7-4C85-A248-32412905339F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ED3226-E048-4E5D-B602-F09F7F3E660E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761C3FDF-EF5F-48A3-BBBE-00108D346B7F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DD218FB-57FC-41EF-9AFF-960DE6CA0E31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E08121A-E4B0-49ED-A72C-5411A06EC5FA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1B1C6E3-320C-44CF-BCC7-CAE44FE496D5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0B84B16-FF72-4C33-B0B5-7823A36214DF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6" name="矩形 65">
            <a:extLst>
              <a:ext uri="{FF2B5EF4-FFF2-40B4-BE49-F238E27FC236}">
                <a16:creationId xmlns:a16="http://schemas.microsoft.com/office/drawing/2014/main" id="{CB5D5891-3385-4E98-B3B3-9BABD1BAD75D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516CAE8-243A-421A-85C5-86FFBBC65346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333144AA-BF0F-4B9A-A68E-EBAD2E634549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1.04 Å     Clash 0     50 poses, 100 steps</a:t>
            </a: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E833D41D-881E-4634-AC60-01B806645A04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AFDA15B-1376-4A4E-9A62-8BF2481C0D25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1BBB5FE0-D123-4B54-B87F-95F5A7B8B0DE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A9C2BBC-35DD-45BC-A9C5-9A16837464B4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9D0CB0B-5980-4229-B0E1-46902DA9FA6A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66B2CD-A233-446E-B1C5-941246B51DC4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C6D3F96-56B2-45B3-B871-7C8846210E4D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E355A8B-B023-457C-B8AD-EACAF6AFC278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05620AFE-6CC6-484F-AD7D-6B2E9474800A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700152B-948D-4197-AA6E-4A0BC4D4D512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371812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6686CB7D-81A3-4D11-9EFD-E11761028A39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9LLG  A1EKL (R:602)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842583-5226-40AA-8A22-EC9FE6E3E1A5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C0105B9-848E-4DCB-A275-BF448DDE260E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419288C-FA68-4AAA-9CE8-CDFB1D734F2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8330858A-3013-43C7-85A8-EA12A15F4B2C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850A3CC-39DA-4236-BE21-65182C2E0F39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F9822AF-B42B-4DD4-9D43-1500292FF5E9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2A6A57A-20DC-44E8-AB7E-40E95108A29B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A3DF159-F836-4C94-9DB5-6961A5E99DD0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23AA30E-C0DE-4F65-907E-A8F86B4B103C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BE26060-94B4-425C-9611-1F1C0038760C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1760A76-9379-420B-BB38-85A0ABDF8EE9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8258F-E687-4510-88EC-4251C04387DC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85C72-343B-44FC-8427-0E6133C090F9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AC04B43-C6EB-44D4-B529-C5A360B33956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4FFDCF-FDF9-4F0F-A4FD-A77C344CC7EA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C4ED34-97CB-48D7-BF03-65D684C5C1EF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037B859-EAF8-48D7-94C5-107CF112A14D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6F8CE5-C727-4FAF-8C6D-2F4CDB0AB015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0E9E30-68DC-4A99-B7F5-21D24C5A9371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2C1BD8-8F44-4B97-95F5-826F804FFE47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BADC8E1C-BF8E-40E1-AE43-8D72BB524263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A50E2C-CFD0-42B8-89FC-46638F49FD70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7340D2-DA38-4952-A389-5D4EDC285BAC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C85EBD9-3448-4AB4-9D52-E7CD30BFFC0A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414F16-AC4F-4880-BCDA-CF76EC93D50A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642A8C-D642-4030-8402-6C32ED8C8CEB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B9C6DB53-9B4B-4746-9458-E3BE5B55CB05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3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A557E9-F00B-4CC5-B12C-E715B2C54AF1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6B70F4-10DF-4965-83C6-78236621B279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85CDBF-4269-4637-A329-92CBF463029F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646676-5588-47B9-9E24-30A1156D44F1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25187B-42CB-4E9A-8203-4937B3EE24CE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1EADEBDC-257A-42F0-AB22-C49C2A91E46E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04F2694-7130-4035-9B24-0731E2D781A7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20626DB-657B-4C44-AB6C-653A0BEECD4C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9066E436-54C4-4B67-95B7-1D914CA2F254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9FB212-EB93-4644-8CF4-2940F52DF5B0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eligible">
            <a:extLst>
              <a:ext uri="{FF2B5EF4-FFF2-40B4-BE49-F238E27FC236}">
                <a16:creationId xmlns:a16="http://schemas.microsoft.com/office/drawing/2014/main" id="{A9E05645-D2C5-471D-973E-46D61AC73B70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6FF00C9-5B89-4A13-8417-807204EDD78E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27" name="图形 1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1829155"/>
            <a:ext cx="4552950" cy="77331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057D207-EA18-4F62-B3C0-2625671B4696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49" name="Identity 2, matched">
            <a:extLst>
              <a:ext uri="{FF2B5EF4-FFF2-40B4-BE49-F238E27FC236}">
                <a16:creationId xmlns:a16="http://schemas.microsoft.com/office/drawing/2014/main" id="{5BCBCC55-A3DC-4DF7-8FC0-E07379312E9D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865642-7FB4-4FF7-84FD-C4F8EFE84D59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A1EKL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598427" y="11382375"/>
            <a:ext cx="2329146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3E961A4-CF52-4F88-80AE-7BA7595105C1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3" name="Identity 3, eligible">
            <a:extLst>
              <a:ext uri="{FF2B5EF4-FFF2-40B4-BE49-F238E27FC236}">
                <a16:creationId xmlns:a16="http://schemas.microsoft.com/office/drawing/2014/main" id="{92A7C4F1-8B91-40FF-8AF2-F26538FB1E2F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F1701A-769D-425B-96C9-FC41E1C0111F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591925" y="11516963"/>
            <a:ext cx="4552950" cy="1397698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74D6CF58-0BE2-4275-AA15-529192C4F9EA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76164AD5-A38A-4DA9-8FAD-DF9E311720C5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627EA99-90D8-4C05-A786-D0E67EF16A7C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DF5219D-3E4F-4CD4-B84E-56B4FA18C738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873911BB-883A-48C4-8C75-9D14648D2D6B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519AB9C-5872-4407-9BD6-166028146B25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5FF0339-0397-41D7-A6A5-E25F45091B27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2E138685-173A-4B74-A338-B7ACBD10FE87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6F44AAD-7306-4BFA-AA60-FA2435A4B65F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DDB8ED4F-70A8-43A5-AEC8-9CED677961A5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14D71D4-D664-46AE-84CE-662F03F78531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B2F78882-F8AB-4858-8B27-2405C10C9000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0.88 Å     Clash 0     50 poses, 100 steps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A42E9C58-26FD-4F08-9475-1CC52B07A8D8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05C219E-D0E6-43BA-9DAD-53EF3FB27A2B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2E820C33-FACA-40D4-80A2-70D3D4D86E99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EACB7C6-0020-411F-A4F2-7698A90D4884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BAB19E73-A4A0-4880-926A-E8B0FE5998DE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FB1394C-5634-4AF6-AD78-9C4232706514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8BAC1FF-4B06-48CA-9965-B966C2B8A196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60A01FC-2961-4201-B95F-18B263A8935E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BBD8B83-85F5-4F3E-9283-6EAF08DF40D2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CC4F711-B58F-4865-9DAC-EFF10E717F4E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8367612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>
            <a:extLst>
              <a:ext uri="{FF2B5EF4-FFF2-40B4-BE49-F238E27FC236}">
                <a16:creationId xmlns:a16="http://schemas.microsoft.com/office/drawing/2014/main" id="{702BEF29-1076-4114-8691-D71FADB44601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9QRU  A1JAX (B:2801)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B86A5F-E969-4F8A-9926-905B0B3BA97E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786C80D-2813-4331-8A1C-A1974155AC94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8BD276C-ED1B-492F-82E0-94505EAFCCD4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8BCFE60-C928-4434-9415-9FF54A1C22DB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C3AA80B-7BD6-4520-9688-41A9A40D7DF2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751DEDF-9262-4A20-BC8E-676C9209A9D4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073C0E6-8342-4482-989F-4E26FDBED7D7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3D76B02-4FE3-4678-A32F-991DF9FCC1F9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E2F19D71-B5BC-4BF4-A2EC-F5CD60ED67F6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85990A6-A556-4383-A713-654D10399A84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A871EC8-9799-40C3-B0E2-122AE502C861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7B138D-7B90-4C62-A440-2C800CB97990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542BA8-FF5B-4F9D-9404-5E50B65F5334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33F617-DE1B-4412-B3A4-4D396A7F0AE7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962899-43C9-4EC2-A7A3-40CDA70B637B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9C80B1-FA7F-423E-BBB0-C9B9D272E9F0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3A29D18-C53A-47FC-956B-45DC64E96F7E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4F4E43-0116-4295-A5F7-E1986955405E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00D1217-1542-4E2D-9A7D-5639C2254994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628B0F-EAA9-496A-9EC0-3AB78B15D3D5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3180E5A2-7F3B-42F3-B89B-8AC53539BA81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6183A1-C64A-4032-BDAC-0C8C42A3A806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1D08D9-9406-4689-9BE1-DA77F432F724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2 uses charged attempt 2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1E75270-21E6-4C58-9523-0EAD619C632C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C34D4-D464-43FF-9481-122D6B09F91C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0D6946-22AA-4A85-B139-45D176EC3CA8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DAAD87A-D4E0-4EFF-8CC8-B6410FAD5CA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4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5525926-0FE3-44FD-BE53-DCF98EC09FC8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3AB6104-A51B-42EB-B94B-574B3BB6A443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216C6C-056B-48EF-8FF6-075F8780C8E4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C5B547-6853-4CA1-A9B2-67C7B16EBF3A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200989-028B-42D6-95FB-B5B992346B4A}"/>
              </a:ext>
            </a:extLst>
          </p:cNvPr>
          <p:cNvSpPr>
            <a:spLocks noGrp="1"/>
          </p:cNvSpPr>
          <p:nvPr/>
        </p:nvSpPr>
        <p:spPr>
          <a:xfrm>
            <a:off x="8001000" y="633412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44000" y="6715125"/>
            <a:ext cx="1714500" cy="1285875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430250" y="6715125"/>
            <a:ext cx="1714500" cy="1285875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B79C9EB0-631D-4774-8564-E111D8F84D03}"/>
              </a:ext>
            </a:extLst>
          </p:cNvPr>
          <p:cNvSpPr>
            <a:spLocks noGrp="1"/>
          </p:cNvSpPr>
          <p:nvPr/>
        </p:nvSpPr>
        <p:spPr>
          <a:xfrm>
            <a:off x="8001000" y="8039100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144000" y="8439150"/>
            <a:ext cx="1714500" cy="1285875"/>
          </a:xfrm>
          <a:prstGeom prst="rect">
            <a:avLst/>
          </a:prstGeom>
        </p:spPr>
      </p:pic>
      <p:pic>
        <p:nvPicPr>
          <p:cNvPr id="125" name="图片 124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3430250" y="8439150"/>
            <a:ext cx="1714500" cy="1285875"/>
          </a:xfrm>
          <a:prstGeom prst="rect">
            <a:avLst/>
          </a:prstGeom>
        </p:spPr>
      </p:pic>
      <p:sp>
        <p:nvSpPr>
          <p:cNvPr id="43" name="椭圆 42">
            <a:extLst>
              <a:ext uri="{FF2B5EF4-FFF2-40B4-BE49-F238E27FC236}">
                <a16:creationId xmlns:a16="http://schemas.microsoft.com/office/drawing/2014/main" id="{C53F1912-1973-413C-9F56-5226697AD3D3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1B6E557-6DFD-4429-B3B1-A0247C7995A8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ABE9B6E-59B1-4140-A2AC-F8C8E1AF1092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F36A0784-F6BC-4F7A-BFED-53BADD3CDC38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C06B98-2D53-4B9D-A26E-1948F2D7B93C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8" name="Identity 1, matched">
            <a:extLst>
              <a:ext uri="{FF2B5EF4-FFF2-40B4-BE49-F238E27FC236}">
                <a16:creationId xmlns:a16="http://schemas.microsoft.com/office/drawing/2014/main" id="{301F5247-9571-465A-90CA-75D46D070BBC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753AEF2-E20B-4D28-8A80-4FCA4CF51E54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A1JAX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2400469" y="11382375"/>
            <a:ext cx="2514261" cy="166687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1D7416A4-D15B-41DC-A3A6-B023D09F9EA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2" name="Identity 2, eligible">
            <a:extLst>
              <a:ext uri="{FF2B5EF4-FFF2-40B4-BE49-F238E27FC236}">
                <a16:creationId xmlns:a16="http://schemas.microsoft.com/office/drawing/2014/main" id="{34DFD3CD-BD49-4942-B874-CFFE657335DA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33CAE3B-B24D-4515-BBF2-F4FB6CEB5AB1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486525" y="11829155"/>
            <a:ext cx="4552950" cy="773315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A788ED38-CB64-4A18-BD33-543CCF217346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6" name="Identity 3, outside Stage3 scope">
            <a:extLst>
              <a:ext uri="{FF2B5EF4-FFF2-40B4-BE49-F238E27FC236}">
                <a16:creationId xmlns:a16="http://schemas.microsoft.com/office/drawing/2014/main" id="{61BC3A5F-B693-4B3D-81F3-42A1D7F7F2F1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72FDD5F-A524-4174-9B0B-6F4D5CA15D39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2511088" y="11382375"/>
            <a:ext cx="2714625" cy="1666875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56C31F51-6ED3-4542-B58A-05D42EED4E2B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74461C14-7793-4DD5-85F0-373FA7D9EF92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BA11F7E-A5CE-40A0-9A71-046F921A1290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75510E6-A6D7-4548-BB75-8B0CFBC48359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02986167-934E-45B2-9254-A6F7E60C257A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D283D97-41FA-4082-B678-4EAA9898D543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B0A04-35BC-4F7A-8058-83D562F17EF3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A4AF5A2B-8E3E-447F-977E-DFA8C8151A22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68E3C9C-E05B-49DD-9979-8CEC44BC004C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2" name="图片 151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708148BB-0315-4163-BE59-5AD7746F1658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19C11DC-C334-4AF1-9637-7D5B7B1298D1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66450C72-B44A-4EA9-A712-8941182ABDB2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0.63 Å     Clash 0     50 poses, 100 steps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31A58718-0ABE-49CC-97AC-2694403CAC56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FB5674-F777-4D90-B802-EC1E08A44331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480C34CF-0BAA-432A-B812-682283C8D304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95CFC30-51F2-43F9-82FA-A38B9534F2E9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2788FC42-C774-4D75-9A0B-90E18B711477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9F309DB-1048-404C-A930-910DCF1E2EBD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CE0B5F8B-2EA9-482F-AEBF-67C8BEA738D4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73F55E7-8643-4EEA-B4E9-19CD469165AD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F8A7F584-CAFB-4137-8690-8B83A0C81457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6F3F93B-4C65-4530-91A6-580DC341A236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3701168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BFFC265C-015E-4AAC-893D-AB2C2D51A9E6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9RD8  BCT (A:902)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9D405D-C590-48C7-AD5C-26943BA57E3C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3637CB7-FA7F-40AB-9C7F-5309174A5CC3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480BD298-3472-41C5-B1EC-1E4C93887ADB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007DF94-FF92-48AD-B164-047B41FC980B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91B1994-382E-49D0-A333-5718C794EA2E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87A560F-2683-476C-A13B-CD24D9EBD500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F969D9C-6CA6-410D-9A1D-784EAC1711BE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AB2DBBA-03BB-4F44-A217-5BC78F9B0855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391031C-50F5-458E-A5D7-21B105AAD50A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3BBDD2F-CC79-4BE1-898A-1C2AC6D12D86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0F7AB4-68DF-47E1-BBE0-6D385597AFCF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BA8F88-1F1E-4D6D-ACA9-ECF3589C93A5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255086-0DCF-470D-A882-3EB12BE2F35F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A2EB1A4D-0FCD-48DB-AA67-010F0F7BC5C3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C5A945-92C7-42D1-BD85-AD1EB62F4887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48D671-F808-497E-904E-A9F7B7458EAE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45AD6A5-403D-4829-B20E-7CC082E2AC23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31913C-E9E3-47DE-B9C7-45B4BCCE8090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207FB9D-0118-4773-B595-287BB3E95A0B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1C5032-47E7-4D6F-A759-DFA5F10A58D2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645EB6CD-4C8E-42F7-B378-FB47CB81C860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6AE445-A97B-4487-9211-9A4A822C9BCB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EFAA65-A83E-4E22-AC80-1B462FFFE40C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1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93A1D04-4556-40F3-8FBF-88E79E25D1B7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84F6D0-1819-491F-BDB0-05CCA7A208D9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4D7205-3C8B-473C-825C-6BA7B4AE8F2B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24764BD-A089-4E36-8CCC-22EC36127ECF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5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676607-2DB9-4C91-9945-76676EF90BFF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6F9195-7187-4320-851F-89CDCA953D8B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24E957-77DD-4401-8014-1F1C4E74DBB0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A52856-B4CE-4704-ADCB-7ED08F4E9BC5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CFB7AFB-CB9B-44A8-8BF0-8325D89DDE3C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2B7908E4-6144-43B0-9F5E-4C8E82E03B39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42D9B6-B4E7-443F-A2A7-567628637BC6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F288B6-F7F5-4EC7-94A3-AEFCAE087202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2749000-99EC-44BB-93ED-FED838A2776A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D490206-8BD4-4AB1-B4BE-92C07C41AC96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5" name="Identity 1, eligible">
            <a:extLst>
              <a:ext uri="{FF2B5EF4-FFF2-40B4-BE49-F238E27FC236}">
                <a16:creationId xmlns:a16="http://schemas.microsoft.com/office/drawing/2014/main" id="{0C6C45CB-8903-4DA3-B8D7-296DB28025FD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9B16FC-7C2F-4FFD-BDC4-6B1EDFCBD3CB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1636616"/>
            <a:ext cx="3276600" cy="1158394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5A48F927-04FA-435F-AE0F-FC0E364E34D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49" name="Identity 2, matched">
            <a:extLst>
              <a:ext uri="{FF2B5EF4-FFF2-40B4-BE49-F238E27FC236}">
                <a16:creationId xmlns:a16="http://schemas.microsoft.com/office/drawing/2014/main" id="{BCFB6149-C031-4592-B625-2D2919043B8E}"/>
              </a:ext>
            </a:extLst>
          </p:cNvPr>
          <p:cNvSpPr>
            <a:spLocks noGrp="1"/>
          </p:cNvSpPr>
          <p:nvPr/>
        </p:nvSpPr>
        <p:spPr>
          <a:xfrm>
            <a:off x="5067300" y="10887075"/>
            <a:ext cx="356235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7398295-B943-4759-BC71-E128857B489A}"/>
              </a:ext>
            </a:extLst>
          </p:cNvPr>
          <p:cNvSpPr>
            <a:spLocks noGrp="1"/>
          </p:cNvSpPr>
          <p:nvPr/>
        </p:nvSpPr>
        <p:spPr>
          <a:xfrm>
            <a:off x="52387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BCT</a:t>
            </a:r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950927" y="11382375"/>
            <a:ext cx="1795096" cy="166687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5BAA063-D9E3-47DF-852C-674A0823B023}"/>
              </a:ext>
            </a:extLst>
          </p:cNvPr>
          <p:cNvSpPr>
            <a:spLocks noGrp="1"/>
          </p:cNvSpPr>
          <p:nvPr/>
        </p:nvSpPr>
        <p:spPr>
          <a:xfrm>
            <a:off x="52387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3" name="Identity 3, eligible">
            <a:extLst>
              <a:ext uri="{FF2B5EF4-FFF2-40B4-BE49-F238E27FC236}">
                <a16:creationId xmlns:a16="http://schemas.microsoft.com/office/drawing/2014/main" id="{D6B67AFE-8B06-4497-93A2-27139C53892C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9E85D33-BF40-4D7E-82AE-74843EF8F8CC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39" name="图形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039225" y="11778634"/>
            <a:ext cx="3276600" cy="874357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DA964671-F4CA-45F1-8226-CE459329954D}"/>
              </a:ext>
            </a:extLst>
          </p:cNvPr>
          <p:cNvSpPr>
            <a:spLocks noGrp="1"/>
          </p:cNvSpPr>
          <p:nvPr/>
        </p:nvSpPr>
        <p:spPr>
          <a:xfrm>
            <a:off x="90678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7" name="Identity 4, outside Stage3 scope">
            <a:extLst>
              <a:ext uri="{FF2B5EF4-FFF2-40B4-BE49-F238E27FC236}">
                <a16:creationId xmlns:a16="http://schemas.microsoft.com/office/drawing/2014/main" id="{37D700A4-04C6-4C7A-BB2D-4BAF0B943153}"/>
              </a:ext>
            </a:extLst>
          </p:cNvPr>
          <p:cNvSpPr>
            <a:spLocks noGrp="1"/>
          </p:cNvSpPr>
          <p:nvPr/>
        </p:nvSpPr>
        <p:spPr>
          <a:xfrm>
            <a:off x="127254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F863FF1-1554-4CC1-9B8C-FAD9BBD498DB}"/>
              </a:ext>
            </a:extLst>
          </p:cNvPr>
          <p:cNvSpPr>
            <a:spLocks noGrp="1"/>
          </p:cNvSpPr>
          <p:nvPr/>
        </p:nvSpPr>
        <p:spPr>
          <a:xfrm>
            <a:off x="128968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149263" y="11382375"/>
            <a:ext cx="2714625" cy="1666875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B380BDA9-EDD3-41B8-B28E-CEFCF6033E5E}"/>
              </a:ext>
            </a:extLst>
          </p:cNvPr>
          <p:cNvSpPr>
            <a:spLocks noGrp="1"/>
          </p:cNvSpPr>
          <p:nvPr/>
        </p:nvSpPr>
        <p:spPr>
          <a:xfrm>
            <a:off x="128968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CEB8828-D0B8-48C4-8482-648EDF40B65B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3FE53B8-9A2E-49E8-BDF2-FCED580BAAD0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1877697-9379-409F-B63E-6F06FA31F688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C6F8F2AC-9E36-4CF3-9152-B062E8B46ABA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FD6AABE-0D2F-4763-854D-881DC3EAA67A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81A63D4-B54E-42B6-90E0-D4340A91FF62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34A907C6-343C-43B1-AEFA-9013FECC323D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BEC7B5D-6FCF-41C3-BA20-85B13D489606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4" name="图片 153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41307365-F008-4B64-9FF7-87FD57EFAEDB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73A2B70-8C93-41C5-9EAD-AB73091EC0A0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E8D24ABC-85CE-401A-8B63-B7C80B7D4ECD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0.96 Å     Clash 0     50 poses, 100 steps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E3A9D54B-AA3B-425B-9A26-D6B0A80A8776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A3FE9DB-F54F-4E58-B771-DF308E2B2DC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8251054F-2909-4FB8-B9BB-2109FF484FE1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5EDE57F-AC2B-488E-AF1C-6A672E1CEC9A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BAD4A44A-1574-4BEC-BFE9-F138DB5D14B0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BF11F32-4C96-48EB-97CC-B614FDFC3809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C1990AB3-2584-4A2E-980C-A204A638CACF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4AA7C71-AF86-44CC-8643-B8B4CAE7862F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D535363-BB86-491A-81A1-6E1F9D77F744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A4258AA-04A6-48A4-8A3A-5875F53B5BF3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1084631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>
            <a:extLst>
              <a:ext uri="{FF2B5EF4-FFF2-40B4-BE49-F238E27FC236}">
                <a16:creationId xmlns:a16="http://schemas.microsoft.com/office/drawing/2014/main" id="{87EF409A-2350-45B5-942C-7F7B8BC8AD91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9WUP  FMN (B:1103)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5A02D2-3880-4DE5-9FF5-1E499715710C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3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C9F6B59-9104-4CD2-A9A2-008EADF8D2D6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B87D365-84B9-4C70-AA6C-DFDC2A00FCD0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4C9B63F-D291-4510-985C-BAB7FDDF9C28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D243045-A8FF-4F3E-99F6-FC307A85E942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95C1B8E-4153-44F1-AE8C-877705CD3286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B557C2A-D6DD-4B1C-9B4E-A7D0549B46D5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3AA6EC3-52E5-402D-A60B-59F5F9AEBDD8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3F9D73B-45A6-4E9B-8142-225384AD303B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272F578-3713-4074-A773-11E68A55A319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3779A7-299F-4353-8DCA-147EEF01FD68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A596A9-5BD1-4614-9C94-D755D0005D70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E7579B-248B-4016-9D7E-A39A31B02602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46308C8-0411-45BB-804E-4D5ABD2F084C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65019E-FD07-42EF-8401-DC0A85D2F610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E6F08F-6CE1-443A-9E4E-0E85E9C37054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05E167B-2F3B-4299-8A3A-B0F403CCE205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52670E-E627-4B94-8F6A-2FA4EA27A6BC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6838B8E-582C-42FA-BD1A-DE26BDF0BAFE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D1E532-60A3-40E8-9700-38CF3D0A822F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115A1D7E-2260-4134-A6D3-7A259DB6C592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A3E68E-F81D-4D30-A08A-9495B5372105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3CE73F-5D78-4DED-91CF-B85F6F760E9F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3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6F43A8A-D098-477A-BDB9-A65EAE182FA8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3C1F9F-0484-459F-AD85-69EB7859CF24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94ADB8-3D37-4441-A1EB-DAF5A0BDFAD5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402F5BE-C995-40CE-BEED-E8D8F94B0B2A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7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6B6B1F-22BF-43D3-B0EF-210F79DB4604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B464D3-F92A-4BDA-AF6E-DD673398697B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391403-0705-4E8A-BEE9-B6B6DD249FA1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D0A4871-35CF-441E-9A94-7A359B01D985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9900D5-FE73-4B86-96E1-6394B7346F9F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3: target ligand</a:t>
            </a: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4" name="图片 12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5B565036-C927-4FD2-A9EF-17664D70498F}"/>
              </a:ext>
            </a:extLst>
          </p:cNvPr>
          <p:cNvSpPr>
            <a:spLocks noGrp="1"/>
          </p:cNvSpPr>
          <p:nvPr/>
        </p:nvSpPr>
        <p:spPr>
          <a:xfrm>
            <a:off x="8001000" y="947737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Ranks 1–2: free scope skips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6D793CA-9EE8-4BF9-AD02-E07A8B4729EC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3580DC-F4BE-4769-84F9-5109243435B0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AEF1EA-336F-411C-BDDC-64F4AFECA17D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894DEC6-4663-4949-96E6-536ACAB25D9F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1B6AB9C-5A02-4C95-862D-43C201C3D661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6" name="Identity 1, eligible">
            <a:extLst>
              <a:ext uri="{FF2B5EF4-FFF2-40B4-BE49-F238E27FC236}">
                <a16:creationId xmlns:a16="http://schemas.microsoft.com/office/drawing/2014/main" id="{024AE4AE-E771-4505-B937-B1CBDEFDB202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9F997D9-84B9-4B0F-8170-8F3833D9FF13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HEM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991519" y="11382375"/>
            <a:ext cx="2055813" cy="166687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F8A2656C-7045-4A25-A529-5CC6443A71FF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0" name="Identity 2, eligible">
            <a:extLst>
              <a:ext uri="{FF2B5EF4-FFF2-40B4-BE49-F238E27FC236}">
                <a16:creationId xmlns:a16="http://schemas.microsoft.com/office/drawing/2014/main" id="{22E5CCCB-4C81-4D6C-AC71-C227730E9170}"/>
              </a:ext>
            </a:extLst>
          </p:cNvPr>
          <p:cNvSpPr>
            <a:spLocks noGrp="1"/>
          </p:cNvSpPr>
          <p:nvPr/>
        </p:nvSpPr>
        <p:spPr>
          <a:xfrm>
            <a:off x="50673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938253-4897-4013-BB36-7A9D1CB700A2}"/>
              </a:ext>
            </a:extLst>
          </p:cNvPr>
          <p:cNvSpPr>
            <a:spLocks noGrp="1"/>
          </p:cNvSpPr>
          <p:nvPr/>
        </p:nvSpPr>
        <p:spPr>
          <a:xfrm>
            <a:off x="52387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371165" y="11382375"/>
            <a:ext cx="954620" cy="1666875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66A59CAA-EADE-4B52-8A46-07DEAD4792DD}"/>
              </a:ext>
            </a:extLst>
          </p:cNvPr>
          <p:cNvSpPr>
            <a:spLocks noGrp="1"/>
          </p:cNvSpPr>
          <p:nvPr/>
        </p:nvSpPr>
        <p:spPr>
          <a:xfrm>
            <a:off x="52387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54" name="Identity 3, matched">
            <a:extLst>
              <a:ext uri="{FF2B5EF4-FFF2-40B4-BE49-F238E27FC236}">
                <a16:creationId xmlns:a16="http://schemas.microsoft.com/office/drawing/2014/main" id="{2A93AE6C-6BB0-418A-9F02-63C3C7B3D7BE}"/>
              </a:ext>
            </a:extLst>
          </p:cNvPr>
          <p:cNvSpPr>
            <a:spLocks noGrp="1"/>
          </p:cNvSpPr>
          <p:nvPr/>
        </p:nvSpPr>
        <p:spPr>
          <a:xfrm>
            <a:off x="8896350" y="10887075"/>
            <a:ext cx="356235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653069B-BA3B-495A-9C39-1C6D72BB8F65}"/>
              </a:ext>
            </a:extLst>
          </p:cNvPr>
          <p:cNvSpPr>
            <a:spLocks noGrp="1"/>
          </p:cNvSpPr>
          <p:nvPr/>
        </p:nvSpPr>
        <p:spPr>
          <a:xfrm>
            <a:off x="906780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3  FMN</a:t>
            </a:r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0004840" y="11382375"/>
            <a:ext cx="1345371" cy="1666875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0CE5E692-F6AA-4B34-81E8-7F3468698347}"/>
              </a:ext>
            </a:extLst>
          </p:cNvPr>
          <p:cNvSpPr>
            <a:spLocks noGrp="1"/>
          </p:cNvSpPr>
          <p:nvPr/>
        </p:nvSpPr>
        <p:spPr>
          <a:xfrm>
            <a:off x="906780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8" name="Identity 4, eligible">
            <a:extLst>
              <a:ext uri="{FF2B5EF4-FFF2-40B4-BE49-F238E27FC236}">
                <a16:creationId xmlns:a16="http://schemas.microsoft.com/office/drawing/2014/main" id="{6CCB5DEA-993A-4374-9590-9F3A1654DF57}"/>
              </a:ext>
            </a:extLst>
          </p:cNvPr>
          <p:cNvSpPr>
            <a:spLocks noGrp="1"/>
          </p:cNvSpPr>
          <p:nvPr/>
        </p:nvSpPr>
        <p:spPr>
          <a:xfrm>
            <a:off x="12725400" y="10887075"/>
            <a:ext cx="35623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D3297B6-4086-4071-BFBB-15BF65A8C64F}"/>
              </a:ext>
            </a:extLst>
          </p:cNvPr>
          <p:cNvSpPr>
            <a:spLocks noGrp="1"/>
          </p:cNvSpPr>
          <p:nvPr/>
        </p:nvSpPr>
        <p:spPr>
          <a:xfrm>
            <a:off x="12896850" y="109918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45" name="图形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2868275" y="11647789"/>
            <a:ext cx="3276600" cy="1136047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321EB00F-B677-4B51-90F9-A953723B31BC}"/>
              </a:ext>
            </a:extLst>
          </p:cNvPr>
          <p:cNvSpPr>
            <a:spLocks noGrp="1"/>
          </p:cNvSpPr>
          <p:nvPr/>
        </p:nvSpPr>
        <p:spPr>
          <a:xfrm>
            <a:off x="12896850" y="13144500"/>
            <a:ext cx="32194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Eligible small molecule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4D0AF66-5227-45D5-A06F-D916B08BF2C6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619A5EF-AC3E-470B-B6A8-FD65C03B0373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0327198-261A-41C3-AB62-896E1E8FD9D6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8A48E454-4B0B-4016-8D79-F8C613ACB891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458DB99-E962-4631-82E3-48CD73900AB4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1E9155B-8311-4F59-9282-A60887BB23DC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D58EBAD8-2C30-4486-9DD5-0EDFF94D28D5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77B5F00-5C00-477C-84B1-D66D7365F182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7FEF070C-32B2-4B70-8E27-6B10BBC7A052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ABA9331-F19A-4646-A5B1-A8F4411198A6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ABAE1329-524F-44E2-B013-A21CDA2F552A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0.52 Å     Clash 0     50 poses, 100 steps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D85DD50-3D5F-421A-8EAB-73CEDB28446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FD7C680-30E3-4736-B86D-A6E624CCF4C7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415CA81D-4F35-4C2C-9FF5-969293DD71AB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7CC5CA3-AC8C-4F72-909B-E2F2B5FB6F43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98C35454-6C6B-4AA8-BADE-7AEECF156307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3AC5E61-B370-4E85-822B-220F930CDA06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E6E80473-42CA-4AEA-AB29-4C5D9AEA8BC2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DD59723-243F-44D9-910D-632A409C28D9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2C47CAD4-C683-4700-8E62-C936CC4AF563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C17DD44-3CBF-43D3-A7E4-23C66E3244C0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766277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9186224D-A09C-4608-A856-C23CCA66F918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9XZL  AGS (F:1001)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71631B-01AA-4671-8BA1-5F6EDB5D2793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15C89CE-5798-4778-813F-13FDED900FD2}"/>
              </a:ext>
            </a:extLst>
          </p:cNvPr>
          <p:cNvSpPr>
            <a:spLocks noGrp="1"/>
          </p:cNvSpPr>
          <p:nvPr/>
        </p:nvSpPr>
        <p:spPr>
          <a:xfrm>
            <a:off x="600075" y="1857375"/>
            <a:ext cx="953" cy="3152775"/>
          </a:xfrm>
          <a:custGeom>
            <a:avLst/>
            <a:gdLst/>
            <a:ahLst/>
            <a:cxnLst/>
            <a:rect l="0" t="0" r="0" b="0"/>
            <a:pathLst>
              <a:path w="953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921C43A-8565-49BD-B7B4-DE42046170F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1972772-3605-4A96-A78D-1A28F6B64B8A}"/>
              </a:ext>
            </a:extLst>
          </p:cNvPr>
          <p:cNvSpPr>
            <a:spLocks noGrp="1"/>
          </p:cNvSpPr>
          <p:nvPr/>
        </p:nvSpPr>
        <p:spPr>
          <a:xfrm>
            <a:off x="600075" y="49149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2FF5D46-A004-4794-A9EF-C7AE2BA4E56A}"/>
              </a:ext>
            </a:extLst>
          </p:cNvPr>
          <p:cNvSpPr>
            <a:spLocks noGrp="1"/>
          </p:cNvSpPr>
          <p:nvPr/>
        </p:nvSpPr>
        <p:spPr>
          <a:xfrm>
            <a:off x="600075" y="5695950"/>
            <a:ext cx="953" cy="4410075"/>
          </a:xfrm>
          <a:custGeom>
            <a:avLst/>
            <a:gdLst/>
            <a:ahLst/>
            <a:cxnLst/>
            <a:rect l="0" t="0" r="0" b="0"/>
            <a:pathLst>
              <a:path w="953" h="4410075">
                <a:moveTo>
                  <a:pt x="0" y="0"/>
                </a:moveTo>
                <a:lnTo>
                  <a:pt x="0" y="4410075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82C965A-DDD0-4013-9D2B-01036346422D}"/>
              </a:ext>
            </a:extLst>
          </p:cNvPr>
          <p:cNvSpPr>
            <a:spLocks noGrp="1"/>
          </p:cNvSpPr>
          <p:nvPr/>
        </p:nvSpPr>
        <p:spPr>
          <a:xfrm>
            <a:off x="533400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CE2139D-F80B-4B8B-BF04-D773C2C26260}"/>
              </a:ext>
            </a:extLst>
          </p:cNvPr>
          <p:cNvSpPr>
            <a:spLocks noGrp="1"/>
          </p:cNvSpPr>
          <p:nvPr/>
        </p:nvSpPr>
        <p:spPr>
          <a:xfrm>
            <a:off x="600075" y="1001077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3B47900-9EAB-44A8-BAB0-170C3A54BF64}"/>
              </a:ext>
            </a:extLst>
          </p:cNvPr>
          <p:cNvSpPr>
            <a:spLocks noGrp="1"/>
          </p:cNvSpPr>
          <p:nvPr/>
        </p:nvSpPr>
        <p:spPr>
          <a:xfrm>
            <a:off x="600075" y="10791825"/>
            <a:ext cx="953" cy="2876550"/>
          </a:xfrm>
          <a:custGeom>
            <a:avLst/>
            <a:gdLst/>
            <a:ahLst/>
            <a:cxnLst/>
            <a:rect l="0" t="0" r="0" b="0"/>
            <a:pathLst>
              <a:path w="953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4706AC8-99DF-4F9E-8086-230FF459A9C2}"/>
              </a:ext>
            </a:extLst>
          </p:cNvPr>
          <p:cNvSpPr>
            <a:spLocks noGrp="1"/>
          </p:cNvSpPr>
          <p:nvPr/>
        </p:nvSpPr>
        <p:spPr>
          <a:xfrm>
            <a:off x="533400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E2D169E-683C-44A9-98C6-3964D6C43A76}"/>
              </a:ext>
            </a:extLst>
          </p:cNvPr>
          <p:cNvSpPr>
            <a:spLocks noGrp="1"/>
          </p:cNvSpPr>
          <p:nvPr/>
        </p:nvSpPr>
        <p:spPr>
          <a:xfrm>
            <a:off x="600075" y="13573125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F046DB0-281F-4A11-942F-5A48B97C7E22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8C5DDC-79FB-4117-AAB1-A6C91C6A9CDF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0C6E88-2235-429A-8704-CC3F9C5FD410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Experimental map and CA2 receptor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FF3B449-72FB-4B56-AF1C-F3C27D2EA691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AE1390-86A6-4C01-93AB-0E4FC4C25D09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DE6413-FC35-4121-ABB3-66E773714043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experimental map</a:t>
            </a: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0" y="2495550"/>
            <a:ext cx="3238500" cy="24288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970A229-9016-4907-AA77-28814D089F2D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C17C1B-D949-449C-9421-8299C1A4969D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Full CA2 receptor</a:t>
            </a: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495550"/>
            <a:ext cx="3238500" cy="24288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5503393-6730-4B7D-B997-88F5BC1FCD34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62387F-F39F-4E36-8FA9-63DB99A28AC0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82500" y="2495550"/>
            <a:ext cx="3238500" cy="2428875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D9FC42BF-DA56-4F3D-9603-56562D031849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203CD2-492B-445B-8EBB-6797D4C9E0CE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1C61D9-2E1C-4638-8FF1-E8EA8D7F974B}"/>
              </a:ext>
            </a:extLst>
          </p:cNvPr>
          <p:cNvSpPr>
            <a:spLocks noGrp="1"/>
          </p:cNvSpPr>
          <p:nvPr/>
        </p:nvSpPr>
        <p:spPr>
          <a:xfrm>
            <a:off x="3524250" y="517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Ranked density regions, site 2 uses charged attempt 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C8D6A35-7F0E-407C-93AE-2668D8CA6B91}"/>
              </a:ext>
            </a:extLst>
          </p:cNvPr>
          <p:cNvSpPr>
            <a:spLocks noGrp="1"/>
          </p:cNvSpPr>
          <p:nvPr/>
        </p:nvSpPr>
        <p:spPr>
          <a:xfrm>
            <a:off x="1238250" y="570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4452D3-EF6F-477D-9A8A-DE206373CC3B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BD0DA6-93B4-4221-AD8D-6F22CFD6830C}"/>
              </a:ext>
            </a:extLst>
          </p:cNvPr>
          <p:cNvSpPr>
            <a:spLocks noGrp="1"/>
          </p:cNvSpPr>
          <p:nvPr/>
        </p:nvSpPr>
        <p:spPr>
          <a:xfrm>
            <a:off x="1657350" y="59150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222500" y="6381750"/>
            <a:ext cx="3937000" cy="295275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46AF31B-4F20-4971-AAE3-386B6FF580EC}"/>
              </a:ext>
            </a:extLst>
          </p:cNvPr>
          <p:cNvSpPr>
            <a:spLocks noGrp="1"/>
          </p:cNvSpPr>
          <p:nvPr/>
        </p:nvSpPr>
        <p:spPr>
          <a:xfrm>
            <a:off x="1238250" y="9467850"/>
            <a:ext cx="5905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All 3 predicted blobs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CC7EF5-6151-4030-991C-1E8AA35822DC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2B6B6F0-C02D-4975-91A2-5A7B5E1BB093}"/>
              </a:ext>
            </a:extLst>
          </p:cNvPr>
          <p:cNvSpPr>
            <a:spLocks noGrp="1"/>
          </p:cNvSpPr>
          <p:nvPr/>
        </p:nvSpPr>
        <p:spPr>
          <a:xfrm>
            <a:off x="842010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19D4F5-F70B-4531-BDAA-647B89CDB36D}"/>
              </a:ext>
            </a:extLst>
          </p:cNvPr>
          <p:cNvSpPr>
            <a:spLocks noGrp="1"/>
          </p:cNvSpPr>
          <p:nvPr/>
        </p:nvSpPr>
        <p:spPr>
          <a:xfrm>
            <a:off x="12287250" y="59055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7C3890-8D4E-494A-A5F1-F71F9300FA67}"/>
              </a:ext>
            </a:extLst>
          </p:cNvPr>
          <p:cNvSpPr>
            <a:spLocks noGrp="1"/>
          </p:cNvSpPr>
          <p:nvPr/>
        </p:nvSpPr>
        <p:spPr>
          <a:xfrm>
            <a:off x="12706350" y="5915025"/>
            <a:ext cx="3581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C20E91-ADFA-47EE-8937-ACA85ACF75E5}"/>
              </a:ext>
            </a:extLst>
          </p:cNvPr>
          <p:cNvSpPr>
            <a:spLocks noGrp="1"/>
          </p:cNvSpPr>
          <p:nvPr/>
        </p:nvSpPr>
        <p:spPr>
          <a:xfrm>
            <a:off x="8001000" y="6353175"/>
            <a:ext cx="8239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</a:t>
            </a:r>
          </a:p>
        </p:txBody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1350" y="6772275"/>
            <a:ext cx="3479800" cy="2609850"/>
          </a:xfrm>
          <a:prstGeom prst="rect">
            <a:avLst/>
          </a:prstGeom>
        </p:spPr>
      </p:pic>
      <p:pic>
        <p:nvPicPr>
          <p:cNvPr id="120" name="图片 119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547600" y="6772275"/>
            <a:ext cx="3479800" cy="26098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7CCFFDF7-80D7-44DB-85AF-CFB3328443F3}"/>
              </a:ext>
            </a:extLst>
          </p:cNvPr>
          <p:cNvSpPr>
            <a:spLocks noGrp="1"/>
          </p:cNvSpPr>
          <p:nvPr/>
        </p:nvSpPr>
        <p:spPr>
          <a:xfrm>
            <a:off x="8001000" y="947737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 1: free scope skip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E56DBA0-B859-4BC9-B9F4-97A44B9F785F}"/>
              </a:ext>
            </a:extLst>
          </p:cNvPr>
          <p:cNvSpPr>
            <a:spLocks noGrp="1"/>
          </p:cNvSpPr>
          <p:nvPr/>
        </p:nvSpPr>
        <p:spPr>
          <a:xfrm>
            <a:off x="361950" y="1022032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70BBE1-DC63-4468-9802-7D75906ABB85}"/>
              </a:ext>
            </a:extLst>
          </p:cNvPr>
          <p:cNvSpPr>
            <a:spLocks noGrp="1"/>
          </p:cNvSpPr>
          <p:nvPr/>
        </p:nvSpPr>
        <p:spPr>
          <a:xfrm>
            <a:off x="1238250" y="1023937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F1367E1-FD83-4DD0-B08F-F4687EE4424C}"/>
              </a:ext>
            </a:extLst>
          </p:cNvPr>
          <p:cNvSpPr>
            <a:spLocks noGrp="1"/>
          </p:cNvSpPr>
          <p:nvPr/>
        </p:nvSpPr>
        <p:spPr>
          <a:xfrm>
            <a:off x="3524250" y="1026795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RDKit structures of every supplied SMILES identity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D3D9419-33FD-4AD4-8DE7-0008FBF48089}"/>
              </a:ext>
            </a:extLst>
          </p:cNvPr>
          <p:cNvSpPr>
            <a:spLocks noGrp="1"/>
          </p:cNvSpPr>
          <p:nvPr/>
        </p:nvSpPr>
        <p:spPr>
          <a:xfrm>
            <a:off x="1238250" y="1080135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CCFF718-A53D-45A6-BB08-E047D2AE5335}"/>
              </a:ext>
            </a:extLst>
          </p:cNvPr>
          <p:cNvSpPr>
            <a:spLocks noGrp="1"/>
          </p:cNvSpPr>
          <p:nvPr/>
        </p:nvSpPr>
        <p:spPr>
          <a:xfrm>
            <a:off x="942975" y="10915650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6" name="Identity 1, matched">
            <a:extLst>
              <a:ext uri="{FF2B5EF4-FFF2-40B4-BE49-F238E27FC236}">
                <a16:creationId xmlns:a16="http://schemas.microsoft.com/office/drawing/2014/main" id="{319B08CA-89B4-4445-BDE2-4467568AAC32}"/>
              </a:ext>
            </a:extLst>
          </p:cNvPr>
          <p:cNvSpPr>
            <a:spLocks noGrp="1"/>
          </p:cNvSpPr>
          <p:nvPr/>
        </p:nvSpPr>
        <p:spPr>
          <a:xfrm>
            <a:off x="1238250" y="10887075"/>
            <a:ext cx="4838700" cy="266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DF40D63-EEE7-4F9C-A0F9-879C8D02F8F0}"/>
              </a:ext>
            </a:extLst>
          </p:cNvPr>
          <p:cNvSpPr>
            <a:spLocks noGrp="1"/>
          </p:cNvSpPr>
          <p:nvPr/>
        </p:nvSpPr>
        <p:spPr>
          <a:xfrm>
            <a:off x="14097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AGS</a:t>
            </a:r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2885990" y="11382375"/>
            <a:ext cx="1543220" cy="166687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B8EAA6BB-536A-4BE6-9D3F-5705227DA988}"/>
              </a:ext>
            </a:extLst>
          </p:cNvPr>
          <p:cNvSpPr>
            <a:spLocks noGrp="1"/>
          </p:cNvSpPr>
          <p:nvPr/>
        </p:nvSpPr>
        <p:spPr>
          <a:xfrm>
            <a:off x="14097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50" name="Identity 2, outside Stage3 scope">
            <a:extLst>
              <a:ext uri="{FF2B5EF4-FFF2-40B4-BE49-F238E27FC236}">
                <a16:creationId xmlns:a16="http://schemas.microsoft.com/office/drawing/2014/main" id="{3F56C416-1A9B-42A5-9796-DE942F5DF4E4}"/>
              </a:ext>
            </a:extLst>
          </p:cNvPr>
          <p:cNvSpPr>
            <a:spLocks noGrp="1"/>
          </p:cNvSpPr>
          <p:nvPr/>
        </p:nvSpPr>
        <p:spPr>
          <a:xfrm>
            <a:off x="63436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6020087-4C46-4435-BF53-2C8A29B83BB4}"/>
              </a:ext>
            </a:extLst>
          </p:cNvPr>
          <p:cNvSpPr>
            <a:spLocks noGrp="1"/>
          </p:cNvSpPr>
          <p:nvPr/>
        </p:nvSpPr>
        <p:spPr>
          <a:xfrm>
            <a:off x="65151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488331" y="11382375"/>
            <a:ext cx="2549338" cy="1666875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1FF5BAD7-67B7-4BDC-B331-8991073DB1D9}"/>
              </a:ext>
            </a:extLst>
          </p:cNvPr>
          <p:cNvSpPr>
            <a:spLocks noGrp="1"/>
          </p:cNvSpPr>
          <p:nvPr/>
        </p:nvSpPr>
        <p:spPr>
          <a:xfrm>
            <a:off x="65151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4" name="Identity 3, outside Stage3 scope">
            <a:extLst>
              <a:ext uri="{FF2B5EF4-FFF2-40B4-BE49-F238E27FC236}">
                <a16:creationId xmlns:a16="http://schemas.microsoft.com/office/drawing/2014/main" id="{D3D81539-82AE-4AF5-8A93-ED9F94D672C4}"/>
              </a:ext>
            </a:extLst>
          </p:cNvPr>
          <p:cNvSpPr>
            <a:spLocks noGrp="1"/>
          </p:cNvSpPr>
          <p:nvPr/>
        </p:nvSpPr>
        <p:spPr>
          <a:xfrm>
            <a:off x="11449050" y="10887075"/>
            <a:ext cx="48387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3A413BF-F505-471A-B92D-BF0F75C9D5F0}"/>
              </a:ext>
            </a:extLst>
          </p:cNvPr>
          <p:cNvSpPr>
            <a:spLocks noGrp="1"/>
          </p:cNvSpPr>
          <p:nvPr/>
        </p:nvSpPr>
        <p:spPr>
          <a:xfrm>
            <a:off x="11620500" y="109918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3  ZN</a:t>
            </a:r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2511088" y="11382375"/>
            <a:ext cx="2714625" cy="1666875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93C397E0-8FB1-4F3A-81F0-C9C629C9D8BB}"/>
              </a:ext>
            </a:extLst>
          </p:cNvPr>
          <p:cNvSpPr>
            <a:spLocks noGrp="1"/>
          </p:cNvSpPr>
          <p:nvPr/>
        </p:nvSpPr>
        <p:spPr>
          <a:xfrm>
            <a:off x="11620500" y="13144500"/>
            <a:ext cx="4495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Outside Stage3 scope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AA8488E-3935-401B-AD4A-86A6C26286C2}"/>
              </a:ext>
            </a:extLst>
          </p:cNvPr>
          <p:cNvSpPr>
            <a:spLocks noGrp="1"/>
          </p:cNvSpPr>
          <p:nvPr/>
        </p:nvSpPr>
        <p:spPr>
          <a:xfrm>
            <a:off x="361950" y="13782675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B2F6CFA-9F1B-445D-86B9-7CD90DD5F008}"/>
              </a:ext>
            </a:extLst>
          </p:cNvPr>
          <p:cNvSpPr>
            <a:spLocks noGrp="1"/>
          </p:cNvSpPr>
          <p:nvPr/>
        </p:nvSpPr>
        <p:spPr>
          <a:xfrm>
            <a:off x="1238250" y="13801725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396E77A-EECE-4DEA-A8EE-C6BAEF460623}"/>
              </a:ext>
            </a:extLst>
          </p:cNvPr>
          <p:cNvSpPr>
            <a:spLocks noGrp="1"/>
          </p:cNvSpPr>
          <p:nvPr/>
        </p:nvSpPr>
        <p:spPr>
          <a:xfrm>
            <a:off x="3524250" y="13830300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local_cov-C self-ranking Top-1, one pose in three views</a:t>
            </a: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DBA472D0-2BC1-4540-9A04-E9BFDC8ABFBD}"/>
              </a:ext>
            </a:extLst>
          </p:cNvPr>
          <p:cNvSpPr>
            <a:spLocks noGrp="1"/>
          </p:cNvSpPr>
          <p:nvPr/>
        </p:nvSpPr>
        <p:spPr>
          <a:xfrm>
            <a:off x="1238250" y="14363700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1D2C1AB-9B7E-4E12-8D55-F8F29ACB5697}"/>
              </a:ext>
            </a:extLst>
          </p:cNvPr>
          <p:cNvSpPr>
            <a:spLocks noGrp="1"/>
          </p:cNvSpPr>
          <p:nvPr/>
        </p:nvSpPr>
        <p:spPr>
          <a:xfrm>
            <a:off x="12382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02CA27F-C96D-4C22-AE1F-47A2C1D557B3}"/>
              </a:ext>
            </a:extLst>
          </p:cNvPr>
          <p:cNvSpPr>
            <a:spLocks noGrp="1"/>
          </p:cNvSpPr>
          <p:nvPr/>
        </p:nvSpPr>
        <p:spPr>
          <a:xfrm>
            <a:off x="16573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949450" y="14982825"/>
            <a:ext cx="3149600" cy="236220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D7699027-74A4-4741-B6A0-4FBAD00843A3}"/>
              </a:ext>
            </a:extLst>
          </p:cNvPr>
          <p:cNvSpPr>
            <a:spLocks noGrp="1"/>
          </p:cNvSpPr>
          <p:nvPr/>
        </p:nvSpPr>
        <p:spPr>
          <a:xfrm>
            <a:off x="647700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846CC3D-125E-4E62-9022-58EFCDCF0584}"/>
              </a:ext>
            </a:extLst>
          </p:cNvPr>
          <p:cNvSpPr>
            <a:spLocks noGrp="1"/>
          </p:cNvSpPr>
          <p:nvPr/>
        </p:nvSpPr>
        <p:spPr>
          <a:xfrm>
            <a:off x="689610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48" name="图片 147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188200" y="14982825"/>
            <a:ext cx="3149600" cy="2362200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DF84D599-9AF6-439A-AB95-4BD60D19D81F}"/>
              </a:ext>
            </a:extLst>
          </p:cNvPr>
          <p:cNvSpPr>
            <a:spLocks noGrp="1"/>
          </p:cNvSpPr>
          <p:nvPr/>
        </p:nvSpPr>
        <p:spPr>
          <a:xfrm>
            <a:off x="11715750" y="145542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41E3C03-198E-4448-BF8E-0653B3E4332A}"/>
              </a:ext>
            </a:extLst>
          </p:cNvPr>
          <p:cNvSpPr>
            <a:spLocks noGrp="1"/>
          </p:cNvSpPr>
          <p:nvPr/>
        </p:nvSpPr>
        <p:spPr>
          <a:xfrm>
            <a:off x="12134850" y="1456372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2426950" y="14982825"/>
            <a:ext cx="3149600" cy="2362200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03452A48-A96F-4021-8A18-8285961DA440}"/>
              </a:ext>
            </a:extLst>
          </p:cNvPr>
          <p:cNvSpPr>
            <a:spLocks noGrp="1"/>
          </p:cNvSpPr>
          <p:nvPr/>
        </p:nvSpPr>
        <p:spPr>
          <a:xfrm>
            <a:off x="1238250" y="175069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Heavy-atom RMSD 0.91 Å     Clash 0     50 poses, 100 steps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4BF17C03-D777-4DBD-A6FF-8BCC98A0FCAF}"/>
              </a:ext>
            </a:extLst>
          </p:cNvPr>
          <p:cNvSpPr>
            <a:spLocks noGrp="1"/>
          </p:cNvSpPr>
          <p:nvPr/>
        </p:nvSpPr>
        <p:spPr>
          <a:xfrm>
            <a:off x="1238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EACB8C4-521D-4CCE-81EA-8C5F37CC94EC}"/>
              </a:ext>
            </a:extLst>
          </p:cNvPr>
          <p:cNvSpPr>
            <a:spLocks noGrp="1"/>
          </p:cNvSpPr>
          <p:nvPr/>
        </p:nvSpPr>
        <p:spPr>
          <a:xfrm>
            <a:off x="1647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A54C6AED-95FD-4B79-A459-22061E8F52E8}"/>
              </a:ext>
            </a:extLst>
          </p:cNvPr>
          <p:cNvSpPr>
            <a:spLocks noGrp="1"/>
          </p:cNvSpPr>
          <p:nvPr/>
        </p:nvSpPr>
        <p:spPr>
          <a:xfrm>
            <a:off x="4286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4CBA068-48AC-46BC-845B-FE43FB06F427}"/>
              </a:ext>
            </a:extLst>
          </p:cNvPr>
          <p:cNvSpPr>
            <a:spLocks noGrp="1"/>
          </p:cNvSpPr>
          <p:nvPr/>
        </p:nvSpPr>
        <p:spPr>
          <a:xfrm>
            <a:off x="4695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F30F9E07-C7A0-4763-B40B-A9B042C2F28A}"/>
              </a:ext>
            </a:extLst>
          </p:cNvPr>
          <p:cNvSpPr>
            <a:spLocks noGrp="1"/>
          </p:cNvSpPr>
          <p:nvPr/>
        </p:nvSpPr>
        <p:spPr>
          <a:xfrm>
            <a:off x="7334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7BF489C-BD32-4BA1-931A-162AC93AD171}"/>
              </a:ext>
            </a:extLst>
          </p:cNvPr>
          <p:cNvSpPr>
            <a:spLocks noGrp="1"/>
          </p:cNvSpPr>
          <p:nvPr/>
        </p:nvSpPr>
        <p:spPr>
          <a:xfrm>
            <a:off x="7743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EF58F6C7-8C1F-4DEB-8FD6-ED563315ADA5}"/>
              </a:ext>
            </a:extLst>
          </p:cNvPr>
          <p:cNvSpPr>
            <a:spLocks noGrp="1"/>
          </p:cNvSpPr>
          <p:nvPr/>
        </p:nvSpPr>
        <p:spPr>
          <a:xfrm>
            <a:off x="10382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421301B-CF11-4DC7-8BB7-ABC075DA6AB1}"/>
              </a:ext>
            </a:extLst>
          </p:cNvPr>
          <p:cNvSpPr>
            <a:spLocks noGrp="1"/>
          </p:cNvSpPr>
          <p:nvPr/>
        </p:nvSpPr>
        <p:spPr>
          <a:xfrm>
            <a:off x="10791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0CEF0BCB-2C88-4582-9EBD-AF0F017BC48D}"/>
              </a:ext>
            </a:extLst>
          </p:cNvPr>
          <p:cNvSpPr>
            <a:spLocks noGrp="1"/>
          </p:cNvSpPr>
          <p:nvPr/>
        </p:nvSpPr>
        <p:spPr>
          <a:xfrm>
            <a:off x="13430250" y="1819275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09B3374-91AC-4A00-8E39-3D8F4FD1D927}"/>
              </a:ext>
            </a:extLst>
          </p:cNvPr>
          <p:cNvSpPr>
            <a:spLocks noGrp="1"/>
          </p:cNvSpPr>
          <p:nvPr/>
        </p:nvSpPr>
        <p:spPr>
          <a:xfrm>
            <a:off x="13839825" y="180403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8422725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1712</Words>
  <Application>Microsoft Office PowerPoint</Application>
  <DocSecurity>0</DocSecurity>
  <PresentationFormat>自定义</PresentationFormat>
  <Paragraphs>342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</cp:revision>
  <dcterms:created xsi:type="dcterms:W3CDTF">2026-10-03T12:47:40Z</dcterms:created>
  <dcterms:modified xsi:type="dcterms:W3CDTF">2026-10-03T12:47:58Z</dcterms:modified>
</cp:coreProperties>
</file>