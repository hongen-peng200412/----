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omments/modernComment.xml" ContentType="application/vnd.ms-powerpoint.comment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omments/modernComment2.xml" ContentType="application/vnd.ms-powerpoint.comment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omments/modernComment3.xml" ContentType="application/vnd.ms-powerpoint.comment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omments/modernComment4.xml" ContentType="application/vnd.ms-powerpoint.comment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comments/modernComment5.xml" ContentType="application/vnd.ms-powerpoint.comments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comments/modernComment6.xml" ContentType="application/vnd.ms-powerpoint.comments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comments/modernComment7.xml" ContentType="application/vnd.ms-powerpoint.comment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comments/modernComment8.xml" ContentType="application/vnd.ms-powerpoint.comment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comments/modernComment9.xml" ContentType="application/vnd.ms-powerpoint.comments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comments/modernComment10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d39230f6a04b8f" /><Relationship Type="http://schemas.openxmlformats.org/officeDocument/2006/relationships/extended-properties" Target="/docProps/app.xml" Id="R47e687ca566f4c6b" /><Relationship Type="http://schemas.openxmlformats.org/officeDocument/2006/relationships/officeDocument" Target="/ppt/presentation.xml" Id="R535e10070f9040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fd6429f3b7466e"/>
  </p:sldMasterIdLst>
  <p:notesMasterIdLst>
    <p:notesMasterId xmlns:r="http://schemas.openxmlformats.org/officeDocument/2006/relationships" r:id="R9aec7dbef69f48f4"/>
  </p:notesMasterIdLst>
  <p:sldIdLst>
    <p:sldId xmlns:r="http://schemas.openxmlformats.org/officeDocument/2006/relationships" id="256" r:id="R7df432937e1645c3"/>
    <p:sldId xmlns:r="http://schemas.openxmlformats.org/officeDocument/2006/relationships" id="257" r:id="Rfbffde164bf14d42"/>
    <p:sldId xmlns:r="http://schemas.openxmlformats.org/officeDocument/2006/relationships" id="258" r:id="R11db6957ae7140bf"/>
    <p:sldId xmlns:r="http://schemas.openxmlformats.org/officeDocument/2006/relationships" id="259" r:id="Ra560de93f22f4768"/>
    <p:sldId xmlns:r="http://schemas.openxmlformats.org/officeDocument/2006/relationships" id="260" r:id="R440859be7d4c4c56"/>
    <p:sldId xmlns:r="http://schemas.openxmlformats.org/officeDocument/2006/relationships" id="261" r:id="R57cdb3634e7b471a"/>
    <p:sldId xmlns:r="http://schemas.openxmlformats.org/officeDocument/2006/relationships" id="262" r:id="R2299ac761d7f469b"/>
    <p:sldId xmlns:r="http://schemas.openxmlformats.org/officeDocument/2006/relationships" id="263" r:id="R6e41d38006024a49"/>
    <p:sldId xmlns:r="http://schemas.openxmlformats.org/officeDocument/2006/relationships" id="264" r:id="R39340b38beab4e33"/>
    <p:sldId xmlns:r="http://schemas.openxmlformats.org/officeDocument/2006/relationships" id="265" r:id="Ra0b81e2acfea4b0a"/>
  </p:sldIdLst>
  <p:sldSz cx="6480000" cy="8100000"/>
  <p:notesSz cx="6858000" cy="9144000"/>
</p:presentation>
</file>

<file path=ppt/authors.xml><?xml version="1.0" encoding="utf-8"?>
<p188:authorLst xmlns:p188="http://schemas.microsoft.com/office/powerpoint/2018/8/main">
  <p188:author id="{06EC928B-0F7A-42DD-BAF2-F63B242C4EFF}" name="Figure Editor" initials="FE" userId="figure-editor" providerId="Non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093be2e428405c" /><Relationship Type="http://schemas.openxmlformats.org/officeDocument/2006/relationships/slideMaster" Target="/ppt/slideMasters/slideMaster1.xml" Id="R8afd6429f3b7466e" /><Relationship Type="http://schemas.openxmlformats.org/officeDocument/2006/relationships/notesMaster" Target="/ppt/notesMasters/notesMaster1.xml" Id="R9aec7dbef69f48f4" /><Relationship Type="http://schemas.openxmlformats.org/officeDocument/2006/relationships/presProps" Target="/ppt/presProps.xml" Id="Rfb443489bb5340aa" /><Relationship Type="http://schemas.openxmlformats.org/officeDocument/2006/relationships/tableStyles" Target="/ppt/tableStyles.xml" Id="R52959bc1804a414b" /><Relationship Type="http://schemas.microsoft.com/office/2018/10/relationships/authors" Target="/ppt/authors.xml" Id="R05a828e8253143aa" /><Relationship Type="http://schemas.openxmlformats.org/officeDocument/2006/relationships/slide" Target="/ppt/slides/slide1.xml" Id="R7df432937e1645c3" /><Relationship Type="http://schemas.openxmlformats.org/officeDocument/2006/relationships/slide" Target="/ppt/slides/slide2.xml" Id="Rfbffde164bf14d42" /><Relationship Type="http://schemas.openxmlformats.org/officeDocument/2006/relationships/slide" Target="/ppt/slides/slide3.xml" Id="R11db6957ae7140bf" /><Relationship Type="http://schemas.openxmlformats.org/officeDocument/2006/relationships/slide" Target="/ppt/slides/slide4.xml" Id="Ra560de93f22f4768" /><Relationship Type="http://schemas.openxmlformats.org/officeDocument/2006/relationships/slide" Target="/ppt/slides/slide5.xml" Id="R440859be7d4c4c56" /><Relationship Type="http://schemas.openxmlformats.org/officeDocument/2006/relationships/slide" Target="/ppt/slides/slide6.xml" Id="R57cdb3634e7b471a" /><Relationship Type="http://schemas.openxmlformats.org/officeDocument/2006/relationships/slide" Target="/ppt/slides/slide7.xml" Id="R2299ac761d7f469b" /><Relationship Type="http://schemas.openxmlformats.org/officeDocument/2006/relationships/slide" Target="/ppt/slides/slide8.xml" Id="R6e41d38006024a49" /><Relationship Type="http://schemas.openxmlformats.org/officeDocument/2006/relationships/slide" Target="/ppt/slides/slide9.xml" Id="R39340b38beab4e33" /><Relationship Type="http://schemas.openxmlformats.org/officeDocument/2006/relationships/slide" Target="/ppt/slides/slide10.xml" Id="Ra0b81e2acfea4b0a" /></Relationships>
</file>

<file path=ppt/comments/modernComment.xml><?xml version="1.0" encoding="utf-8"?>
<p188:cmLst xmlns:p188="http://schemas.microsoft.com/office/powerpoint/2018/8/main">
  <p188:cm id="{B17A1DDB-89A4-4892-B338-2FF083BB9C5C}" authorId="{06EC928B-0F7A-42DD-BAF2-F63B242C4EFF}" status="active" created="2026-10-23T23:19:40.904+08:00">
    <pc:sldMkLst xmlns:pc="http://schemas.microsoft.com/office/powerpoint/2013/main/command">
      <pc:docMk/>
      <pc:sldMk cId="4088261" sldId="256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</a:t>
        </a:r>
      </a:p>
    </p188:txBody>
  </p188:cm>
  <p188:cm id="{141ACFAA-240A-4880-95FD-1B69667245FC}" authorId="{06EC928B-0F7A-42DD-BAF2-F63B242C4EFF}" status="active" created="2026-10-23T15:20:41.554Z">
    <pc:sldMkLst xmlns:pc="http://schemas.microsoft.com/office/powerpoint/2013/main/command">
      <pc:docMk/>
      <pc:sldMk cId="4088261" sldId="256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multiligand-workbench｜三例互补主图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主图六面板依次为11JB、9BJJ、9LOV的CA2全配体Find+Match总览及真实Find–Match–Build首选构象局部; 局部实例依次为16/AR6 f:2001、16/A1AP0 E:1001、3/ADP B:1101。 与`@@multiligand-workbench-11jb`、`@@multiligand-workbench-9bjj`、`@@multiligand-workbench-9lov`、`@@multiligand-workbench-9okp`、`@@multiligand-workbench-30ga`、`@@multiligand-workbench-9ujf`、`@@multiligand-workbench-9wup`、`@@multiligand-workbench-9lw1`、`@@multiligand-workbench-9llg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11JB全配体/全部小分子/合格小分子为78/78/78; CA2的Find+Match为78/78, 流水线top-1重原子RMSD&lt;2 Å为76/78、GT的Find+Match为78/78, 流水线top-1重原子RMSD&lt;2 Å为78/78。9BJJ全配体/全部小分子/合格小分子为19/11/11; CA2的Find+Match为10/19, 流水线top-1重原子RMSD&lt;2 Å为10/11、GT的Find+Match为10/19, 流水线top-1重原子RMSD&lt;2 Å为10/11。9LOV全配体/全部小分子/合格小分子为9/3/3; CA2的Find+Match为6/9, 流水线top-1重原子RMSD&lt;2 Å为3/3、GT的Find+Match为6/9, 流水线top-1重原子RMSD&lt;2 Å为3/3。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comments/modernComment2.xml><?xml version="1.0" encoding="utf-8"?>
<p188:cmLst xmlns:p188="http://schemas.microsoft.com/office/powerpoint/2018/8/main">
  <p188:cm id="{99863689-29C0-4FBE-802E-D74778647EC7}" authorId="{06EC928B-0F7A-42DD-BAF2-F63B242C4EFF}" status="active" created="2026-10-23T23:19:40.917+08:00">
    <pc:sldMkLst xmlns:pc="http://schemas.microsoft.com/office/powerpoint/2013/main/command">
      <pc:docMk/>
      <pc:sldMk cId="1712324758" sldId="257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@@multiligand-workbench-11jb</a:t>
        </a:r>
      </a:p>
    </p188:txBody>
  </p188:cm>
  <p188:cm id="{D27C6126-9643-4F1E-9462-AD17474A0834}" authorId="{06EC928B-0F7A-42DD-BAF2-F63B242C4EFF}" status="active" created="2026-10-23T15:20:41.554Z">
    <pc:sldMkLst xmlns:pc="http://schemas.microsoft.com/office/powerpoint/2013/main/command">
      <pc:docMk/>
      <pc:sldMk cId="1712324758" sldId="257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multiligand-workbench-11jb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multiligand-workbench-11jb｜11JB交互候选页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本页固定选择11JB, 左右列分别为CA2和GT, 三行依次为全配体Find+Match、完整流水线top-1总览和一个局部; 局部实例为16。 与`@@multiligand-workbench`、`@@multiligand-workbench-9bjj`、`@@multiligand-workbench-9lov`、`@@multiligand-workbench-9okp`、`@@multiligand-workbench-30ga`、`@@multiligand-workbench-9ujf`、`@@multiligand-workbench-9wup`、`@@multiligand-workbench-9lw1`、`@@multiligand-workbench-9llg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11JB全配体/全部小分子/合格小分子为78/78/78; CA2的Find+Match为78/78, 流水线top-1重原子RMSD&lt;2 Å为76/78、GT的Find+Match为78/78, 流水线top-1重原子RMSD&lt;2 Å为78/78。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multiligand-workbench-11jb`。主图入口一次重新整理九例并生成十页,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comments/modernComment3.xml><?xml version="1.0" encoding="utf-8"?>
<p188:cmLst xmlns:p188="http://schemas.microsoft.com/office/powerpoint/2018/8/main">
  <p188:cm id="{D4F9441C-7580-460D-B171-BC802669F749}" authorId="{06EC928B-0F7A-42DD-BAF2-F63B242C4EFF}" status="active" created="2026-10-23T23:19:40.926+08:00">
    <pc:sldMkLst xmlns:pc="http://schemas.microsoft.com/office/powerpoint/2013/main/command">
      <pc:docMk/>
      <pc:sldMk cId="479525109" sldId="258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@@multiligand-workbench-9bjj</a:t>
        </a:r>
      </a:p>
    </p188:txBody>
  </p188:cm>
  <p188:cm id="{7CE2867D-0A05-4501-AFDF-534BF593E2D1}" authorId="{06EC928B-0F7A-42DD-BAF2-F63B242C4EFF}" status="active" created="2026-10-23T15:20:41.554Z">
    <pc:sldMkLst xmlns:pc="http://schemas.microsoft.com/office/powerpoint/2013/main/command">
      <pc:docMk/>
      <pc:sldMk cId="479525109" sldId="258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multiligand-workbench-9bjj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multiligand-workbench-9bjj｜9BJJ交互候选页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本页固定选择9BJJ, 左右列分别为CA2和GT, 三行依次为全配体Find+Match、完整流水线top-1总览和一个局部; 局部实例为4。 与`@@multiligand-workbench`、`@@multiligand-workbench-11jb`、`@@multiligand-workbench-9lov`、`@@multiligand-workbench-9okp`、`@@multiligand-workbench-30ga`、`@@multiligand-workbench-9ujf`、`@@multiligand-workbench-9wup`、`@@multiligand-workbench-9lw1`、`@@multiligand-workbench-9llg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9BJJ全配体/全部小分子/合格小分子为19/11/11; CA2的Find+Match为10/19, 流水线top-1重原子RMSD&lt;2 Å为10/11、GT的Find+Match为10/19, 流水线top-1重原子RMSD&lt;2 Å为10/11。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multiligand-workbench-9bjj`。主图入口一次重新整理九例并生成十页,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comments/modernComment4.xml><?xml version="1.0" encoding="utf-8"?>
<p188:cmLst xmlns:p188="http://schemas.microsoft.com/office/powerpoint/2018/8/main">
  <p188:cm id="{B99843A8-B150-4DC3-A6D7-778A21A8D2E2}" authorId="{06EC928B-0F7A-42DD-BAF2-F63B242C4EFF}" status="active" created="2026-10-23T23:19:40.934+08:00">
    <pc:sldMkLst xmlns:pc="http://schemas.microsoft.com/office/powerpoint/2013/main/command">
      <pc:docMk/>
      <pc:sldMk cId="1109175664" sldId="259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@@multiligand-workbench-9lov</a:t>
        </a:r>
      </a:p>
    </p188:txBody>
  </p188:cm>
  <p188:cm id="{BB2B79EF-EB64-4FD6-8953-E3A406AE39B6}" authorId="{06EC928B-0F7A-42DD-BAF2-F63B242C4EFF}" status="active" created="2026-10-23T15:20:41.554Z">
    <pc:sldMkLst xmlns:pc="http://schemas.microsoft.com/office/powerpoint/2013/main/command">
      <pc:docMk/>
      <pc:sldMk cId="1109175664" sldId="259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multiligand-workbench-9lov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multiligand-workbench-9lov｜9LOV交互候选页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本页固定选择9LOV, 左右列分别为CA2和GT, 三行依次为全配体Find+Match、完整流水线top-1总览和一个局部; 局部实例为3。 与`@@multiligand-workbench`、`@@multiligand-workbench-11jb`、`@@multiligand-workbench-9bjj`、`@@multiligand-workbench-9okp`、`@@multiligand-workbench-30ga`、`@@multiligand-workbench-9ujf`、`@@multiligand-workbench-9wup`、`@@multiligand-workbench-9lw1`、`@@multiligand-workbench-9llg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9LOV全配体/全部小分子/合格小分子为9/3/3; CA2的Find+Match为6/9, 流水线top-1重原子RMSD&lt;2 Å为3/3、GT的Find+Match为6/9, 流水线top-1重原子RMSD&lt;2 Å为3/3。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multiligand-workbench-9lov`。主图入口一次重新整理九例并生成十页,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comments/modernComment5.xml><?xml version="1.0" encoding="utf-8"?>
<p188:cmLst xmlns:p188="http://schemas.microsoft.com/office/powerpoint/2018/8/main">
  <p188:cm id="{A516515E-C541-4242-AA90-0EF34F8E7DD3}" authorId="{06EC928B-0F7A-42DD-BAF2-F63B242C4EFF}" status="active" created="2026-10-23T23:19:40.947+08:00">
    <pc:sldMkLst xmlns:pc="http://schemas.microsoft.com/office/powerpoint/2013/main/command">
      <pc:docMk/>
      <pc:sldMk cId="30841278" sldId="260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@@multiligand-workbench-9okp</a:t>
        </a:r>
      </a:p>
    </p188:txBody>
  </p188:cm>
  <p188:cm id="{89D36874-B518-4712-A04C-CC9C52237F2C}" authorId="{06EC928B-0F7A-42DD-BAF2-F63B242C4EFF}" status="active" created="2026-10-23T15:20:41.554Z">
    <pc:sldMkLst xmlns:pc="http://schemas.microsoft.com/office/powerpoint/2013/main/command">
      <pc:docMk/>
      <pc:sldMk cId="30841278" sldId="260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multiligand-workbench-9okp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multiligand-workbench-9okp｜9OKP交互候选页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本页固定选择9OKP, 左右列分别为CA2和GT, 三行依次为全配体Find+Match、完整流水线top-1总览和一个局部; 局部实例为4。 与`@@multiligand-workbench`、`@@multiligand-workbench-11jb`、`@@multiligand-workbench-9bjj`、`@@multiligand-workbench-9lov`、`@@multiligand-workbench-30ga`、`@@multiligand-workbench-9ujf`、`@@multiligand-workbench-9wup`、`@@multiligand-workbench-9lw1`、`@@multiligand-workbench-9llg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9OKP全配体/全部小分子/合格小分子为8/2/2; CA2的Find+Match为6/8, 流水线top-1重原子RMSD&lt;2 Å为2/2、GT的Find+Match为6/8, 流水线top-1重原子RMSD&lt;2 Å为2/2。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multiligand-workbench-9okp`。主图入口一次重新整理九例并生成十页,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comments/modernComment6.xml><?xml version="1.0" encoding="utf-8"?>
<p188:cmLst xmlns:p188="http://schemas.microsoft.com/office/powerpoint/2018/8/main">
  <p188:cm id="{E051CE07-8F4A-4289-B145-2CDDB0E460FB}" authorId="{06EC928B-0F7A-42DD-BAF2-F63B242C4EFF}" status="active" created="2026-10-23T23:19:40.96+08:00">
    <pc:sldMkLst xmlns:pc="http://schemas.microsoft.com/office/powerpoint/2013/main/command">
      <pc:docMk/>
      <pc:sldMk cId="254773145" sldId="261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@@multiligand-workbench-30ga</a:t>
        </a:r>
      </a:p>
    </p188:txBody>
  </p188:cm>
  <p188:cm id="{52C0E82C-BF4C-4461-A768-2E9CC3BD18C4}" authorId="{06EC928B-0F7A-42DD-BAF2-F63B242C4EFF}" status="active" created="2026-10-23T15:20:41.555Z">
    <pc:sldMkLst xmlns:pc="http://schemas.microsoft.com/office/powerpoint/2013/main/command">
      <pc:docMk/>
      <pc:sldMk cId="254773145" sldId="261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multiligand-workbench-30ga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multiligand-workbench-30ga｜30GA交互候选页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本页固定选择30GA, 左右列分别为CA2和GT, 三行依次为全配体Find+Match、完整流水线top-1总览和一个局部; 局部实例为11。 与`@@multiligand-workbench`、`@@multiligand-workbench-11jb`、`@@multiligand-workbench-9bjj`、`@@multiligand-workbench-9lov`、`@@multiligand-workbench-9okp`、`@@multiligand-workbench-9ujf`、`@@multiligand-workbench-9wup`、`@@multiligand-workbench-9lw1`、`@@multiligand-workbench-9llg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30GA全配体/全部小分子/合格小分子为20/7/7; CA2的Find+Match为11/20, 流水线top-1重原子RMSD&lt;2 Å为5/7、GT的Find+Match为11/20, 流水线top-1重原子RMSD&lt;2 Å为7/7。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multiligand-workbench-30ga`。主图入口一次重新整理九例并生成十页,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comments/modernComment7.xml><?xml version="1.0" encoding="utf-8"?>
<p188:cmLst xmlns:p188="http://schemas.microsoft.com/office/powerpoint/2018/8/main">
  <p188:cm id="{0D3078C8-7900-42FA-886C-B7D94BF61005}" authorId="{06EC928B-0F7A-42DD-BAF2-F63B242C4EFF}" status="active" created="2026-10-23T23:19:40.968+08:00">
    <pc:sldMkLst xmlns:pc="http://schemas.microsoft.com/office/powerpoint/2013/main/command">
      <pc:docMk/>
      <pc:sldMk cId="871706233" sldId="262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@@multiligand-workbench-9ujf</a:t>
        </a:r>
      </a:p>
    </p188:txBody>
  </p188:cm>
  <p188:cm id="{76752004-FAF7-4C6B-A8FC-717D9E5FA739}" authorId="{06EC928B-0F7A-42DD-BAF2-F63B242C4EFF}" status="active" created="2026-10-23T15:20:41.555Z">
    <pc:sldMkLst xmlns:pc="http://schemas.microsoft.com/office/powerpoint/2013/main/command">
      <pc:docMk/>
      <pc:sldMk cId="871706233" sldId="262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multiligand-workbench-9ujf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multiligand-workbench-9ujf｜9UJF交互候选页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本页固定选择9UJF, 左右列分别为CA2和GT, 三行依次为全配体Find+Match、完整流水线top-1总览和一个局部; 局部实例为5。 与`@@multiligand-workbench`、`@@multiligand-workbench-11jb`、`@@multiligand-workbench-9bjj`、`@@multiligand-workbench-9lov`、`@@multiligand-workbench-9okp`、`@@multiligand-workbench-30ga`、`@@multiligand-workbench-9wup`、`@@multiligand-workbench-9lw1`、`@@multiligand-workbench-9llg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9UJF全配体/全部小分子/合格小分子为20/10/10; CA2的Find+Match为10/20, 流水线top-1重原子RMSD&lt;2 Å为10/10、GT的Find+Match为10/20, 流水线top-1重原子RMSD&lt;2 Å为10/10。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multiligand-workbench-9ujf`。主图入口一次重新整理九例并生成十页,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comments/modernComment8.xml><?xml version="1.0" encoding="utf-8"?>
<p188:cmLst xmlns:p188="http://schemas.microsoft.com/office/powerpoint/2018/8/main">
  <p188:cm id="{E408277B-1A01-49E3-A5E0-AB7A14AAE7F5}" authorId="{06EC928B-0F7A-42DD-BAF2-F63B242C4EFF}" status="active" created="2026-10-23T23:19:40.977+08:00">
    <pc:sldMkLst xmlns:pc="http://schemas.microsoft.com/office/powerpoint/2013/main/command">
      <pc:docMk/>
      <pc:sldMk cId="477206337" sldId="263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@@multiligand-workbench-9wup</a:t>
        </a:r>
      </a:p>
    </p188:txBody>
  </p188:cm>
  <p188:cm id="{E150A81A-26E4-4543-83E4-7C80A584A456}" authorId="{06EC928B-0F7A-42DD-BAF2-F63B242C4EFF}" status="active" created="2026-10-23T15:20:41.555Z">
    <pc:sldMkLst xmlns:pc="http://schemas.microsoft.com/office/powerpoint/2013/main/command">
      <pc:docMk/>
      <pc:sldMk cId="477206337" sldId="263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multiligand-workbench-9wup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multiligand-workbench-9wup｜9WUP交互候选页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本页固定选择9WUP, 左右列分别为CA2和GT, 三行依次为全配体Find+Match、完整流水线top-1总览和一个局部; 局部实例为6。 与`@@multiligand-workbench`、`@@multiligand-workbench-11jb`、`@@multiligand-workbench-9bjj`、`@@multiligand-workbench-9lov`、`@@multiligand-workbench-9okp`、`@@multiligand-workbench-30ga`、`@@multiligand-workbench-9ujf`、`@@multiligand-workbench-9lw1`、`@@multiligand-workbench-9llg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9WUP全配体/全部小分子/合格小分子为8/8/4; CA2的Find+Match为3/8, 流水线top-1重原子RMSD&lt;2 Å为1/4、GT的Find+Match为4/8, 流水线top-1重原子RMSD&lt;2 Å为1/4。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multiligand-workbench-9wup`。主图入口一次重新整理九例并生成十页,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comments/modernComment9.xml><?xml version="1.0" encoding="utf-8"?>
<p188:cmLst xmlns:p188="http://schemas.microsoft.com/office/powerpoint/2018/8/main">
  <p188:cm id="{D45214AF-E014-4ACC-A3DE-6E98306A68EB}" authorId="{06EC928B-0F7A-42DD-BAF2-F63B242C4EFF}" status="active" created="2026-10-23T23:19:40.985+08:00">
    <pc:sldMkLst xmlns:pc="http://schemas.microsoft.com/office/powerpoint/2013/main/command">
      <pc:docMk/>
      <pc:sldMk cId="347133046" sldId="264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@@multiligand-workbench-9lw1</a:t>
        </a:r>
      </a:p>
    </p188:txBody>
  </p188:cm>
  <p188:cm id="{AAAA907A-B648-4C6B-BFFD-A759D45DE77C}" authorId="{06EC928B-0F7A-42DD-BAF2-F63B242C4EFF}" status="active" created="2026-10-23T15:20:41.555Z">
    <pc:sldMkLst xmlns:pc="http://schemas.microsoft.com/office/powerpoint/2013/main/command">
      <pc:docMk/>
      <pc:sldMk cId="347133046" sldId="264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multiligand-workbench-9lw1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multiligand-workbench-9lw1｜9LW1交互候选页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本页固定选择9LW1, 左右列分别为CA2和GT, 三行依次为全配体Find+Match、完整流水线top-1总览和一个局部; 局部实例为6。 与`@@multiligand-workbench`、`@@multiligand-workbench-11jb`、`@@multiligand-workbench-9bjj`、`@@multiligand-workbench-9lov`、`@@multiligand-workbench-9okp`、`@@multiligand-workbench-30ga`、`@@multiligand-workbench-9ujf`、`@@multiligand-workbench-9wup`、`@@multiligand-workbench-9llg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9LW1全配体/全部小分子/合格小分子为20/18/18; CA2的Find+Match为7/20, 流水线top-1重原子RMSD&lt;2 Å为3/18、GT的Find+Match为8/20, 流水线top-1重原子RMSD&lt;2 Å为2/18。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multiligand-workbench-9lw1`。主图入口一次重新整理九例并生成十页,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comments/modernComment10.xml><?xml version="1.0" encoding="utf-8"?>
<p188:cmLst xmlns:p188="http://schemas.microsoft.com/office/powerpoint/2018/8/main">
  <p188:cm id="{1AFF379D-76AD-4C7E-B097-23A4B4E97A46}" authorId="{06EC928B-0F7A-42DD-BAF2-F63B242C4EFF}" status="active" created="2026-10-23T23:19:40.993+08:00">
    <pc:sldMkLst xmlns:pc="http://schemas.microsoft.com/office/powerpoint/2013/main/command">
      <pc:docMk/>
      <pc:sldMk cId="360543035" sldId="265"/>
    </pc:sldMkLst>
    <p188:pos x="0" y="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@@multiligand-workbench-9llg</a:t>
        </a:r>
      </a:p>
    </p188:txBody>
  </p188:cm>
  <p188:cm id="{B71B9F5D-7B94-43FA-8825-D981560255AB}" authorId="{06EC928B-0F7A-42DD-BAF2-F63B242C4EFF}" status="active" created="2026-10-23T15:20:41.555Z">
    <pc:sldMkLst xmlns:pc="http://schemas.microsoft.com/office/powerpoint/2013/main/command">
      <pc:docMk/>
      <pc:sldMk cId="360543035" sldId="265"/>
    </pc:sldMkLst>
    <p188:pos x="0" y="0"/>
    <p188:txBody>
      <ns0:bodyPr xmlns:ns0="http://schemas.openxmlformats.org/drawingml/2006/main"/>
      <ns1:lstStyle xmlns:ns1="http://schemas.openxmlformats.org/drawingml/2006/main"/>
      <ns2:p xmlns:ns2="http://schemas.openxmlformats.org/drawingml/2006/main">
        <ns2:r>
          <ns2:t>PROVENANCE v1</ns2:t>
        </ns2:r>
      </ns2:p>
      <ns3:p xmlns:ns3="http://schemas.openxmlformats.org/drawingml/2006/main">
        <ns3:r>
          <ns3:t>id: multiligand-workbench-9llg</ns3:t>
        </ns3:r>
      </ns3:p>
      <ns4:p xmlns:ns4="http://schemas.openxmlformats.org/drawingml/2006/main">
        <ns4:r>
          <ns4:t>source: 画图/画图代码/e2e/visualization/图表追溯.md</ns4:t>
        </ns4:r>
      </ns4:p>
      <ns5:p xmlns:ns5="http://schemas.openxmlformats.org/drawingml/2006/main">
        <ns5:r>
          <ns5:t/>
        </ns5:r>
      </ns5:p>
      <ns6:p xmlns:ns6="http://schemas.openxmlformats.org/drawingml/2006/main">
        <ns6:r>
          <ns6:t>## multiligand-workbench-9llg｜9LLG交互候选页</ns6:t>
        </ns6:r>
      </ns6:p>
      <ns7:p xmlns:ns7="http://schemas.openxmlformats.org/drawingml/2006/main">
        <ns7:r>
          <ns7:t/>
        </ns7:r>
      </ns7:p>
      <ns8:p xmlns:ns8="http://schemas.openxmlformats.org/drawingml/2006/main">
        <ns8:r>
          <ns8:t>**本图选择与共享。** 本页固定选择9LLG, 左右列分别为CA2和GT, 三行依次为全配体Find+Match、完整流水线top-1总览和一个局部; 局部实例为1。 与`@@multiligand-workbench`、`@@multiligand-workbench-11jb`、`@@multiligand-workbench-9bjj`、`@@multiligand-workbench-9lov`、`@@multiligand-workbench-9okp`、`@@multiligand-workbench-30ga`、`@@multiligand-workbench-9ujf`、`@@multiligand-workbench-9wup`、`@@multiligand-workbench-9lw1`共享`画图/画图代码/e2e/visualization/multiligand-workbench`中的材料整理、科学计费、官方ChimeraX显示和图片/PPT装配; 本图按上述PDB与局部实例选择, 不把其他页的坐标或成功数代入。本图是可继续人工调整的初版候选, 当前作者图形及双语图注保存在新PPT对应稳定图名页。</ns8:t>
        </ns8:r>
      </ns8:p>
      <ns9:p xmlns:ns9="http://schemas.openxmlformats.org/drawingml/2006/main">
        <ns9:r>
          <ns9:t/>
        </ns9:r>
      </ns9:p>
      <ns10:p xmlns:ns10="http://schemas.openxmlformats.org/drawingml/2006/main">
        <ns10:r>
          <ns10:t>**范围与完成数。** 9LLG全配体/全部小分子/合格小分子为4/4/4; CA2的Find+Match为1/4, 流水线top-1重原子RMSD&lt;2 Å为1/4、GT的Find+Match为2/4, 流水线top-1重原子RMSD&lt;2 Å为1/4。 各图展示同一测试复合物中的逐实例完成数, 不取跨PDB平均, 不包含误差条或随机重复汇总。总览Find+Match以全部配体实例数定义100%尝试预算; 建模总览和局部以单残基、无缺失原子、有机的小分子实例数定义100%。50/100/200/300%在工作台中均用floor(p×N/100); 候选先计费后显示过滤, 过滤不退还预算、不补候选。Find小分子另沿94 PDB/821实例范围, Build沿77/446实例范围, 不能混用分母。</ns10:t>
        </ns10:r>
      </ns10:p>
      <ns11:p xmlns:ns11="http://schemas.openxmlformats.org/drawingml/2006/main">
        <ns11:r>
          <ns11:t/>
        </ns11:r>
      </ns11:p>
      <ns12:p xmlns:ns12="http://schemas.openxmlformats.org/drawingml/2006/main">
        <ns12:r>
          <ns12:t>**直接逻辑与字段连接。** `prepare_sources.py`按原selected优先、每段平均概率降序、blob编号升序破并列, 提取五模式计费号; `foreground_target`为原双向覆盖均≥0.3的唯一对应, `identity_correct`还要求身份受支持且精确SMILES相同。完整流水线只有identity_correct且is_eligible时采用其实际运行构象; 给定正确身份Find+Build的共享构象库不能冒充Match正确。`candidate_id`连接真实实例, `source_blob_index`连接Find/Match/运行输出; `before`是到达候选前已扣次数。原背景和失败按冻结评价保留, 没有合法流水线pose的局部只画参考并注明reference only。`prepare_assets.py`从原ranking.top1_sample_index连接evaluation_metrics的sample_index/sdf_index提取top-1; best-of-50按原评价RMSD最小、sample_index破并列, 属借助真值的回顾性比较。本PPT全部预测采用top-1, 未用best替代首选。</ns12:t>
        </ns12:r>
      </ns12:p>
      <ns13:p xmlns:ns13="http://schemas.openxmlformats.org/drawingml/2006/main">
        <ns13:r>
          <ns13:t/>
        </ns13:r>
      </ns13:p>
      <ns14:p xmlns:ns14="http://schemas.openxmlformats.org/drawingml/2006/main">
        <ns14:r>
          <ns14:t>**科学原件和实验版本。** 仓库输入为元信息中列出的catalog、下载清单、source_receipt及原冻结评价。原大文件在`D:/AdaLigand_Visualization/_server`保持服务器路径, 每例source及templates为缓存硬链接; 1373份原文件共10,293,594,196字节, 本地与服务器大小及SHA-256均核对一致。Find来自`/storage/penghongen/AdaLigand_stage1_inference/Find_1/{CryoAtom2受体,真实受体}/artifacts/Find_1/held_out_test_0/`; 真值来自`/storage/penghongen/AdaLigand/Ori_Data/`; CA2来自`/storage/penghongen/Adaligand_infered_receptor_data/cryoatom2/test_0_chain06/Ori_Data/`; Stage3来自`/storage/penghongen/Adaligand_E2E/test/test_0/build/PocketXMol-tuned/{CA2,GT}/test/local-c1/`。每项完整路径、字节数和散列在download_requests/source_receipt逐文件保存。Match实际checkpoint为`/storage/penghongen/Matcher/runs/strongest-1/train_strongest1_revised_job378587_20260920T230727/BEST.pt`, 训练release为`/home/penghongen/Feedback/Matcher/releases/Matcher_a67eb7f830e0/Matcher`; model_code_source为training_release, 不以当前HEAD冒充。PocketXMol-tuned沿冻结scientific_input/result、原SDF和原排序, 本次不重推理。</ns14:t>
        </ns14:r>
      </ns14:p>
      <ns15:p xmlns:ns15="http://schemas.openxmlformats.org/drawingml/2006/main">
        <ns15:r>
          <ns15:t/>
        </ns15:r>
      </ns15:p>
      <ns16:p xmlns:ns16="http://schemas.openxmlformats.org/drawingml/2006/main">
        <ns16:r>
          <ns16:t>**坐标、显示与运输。** 原密度为[1,Z,Y,X], 元数据origin是XYZ体素边界; MRC首采样点为origin+spacing/2, 裁剪掩码再加反序ZYX起点×spacing。完整实验/GT模拟/CA2模拟地图保留原值和采样, 27图实际抽样与头坐标已核对; 不宣称逐体素全量比对。配体模板只连接实际沉积原子与原键, 不补缺失原子、不对齐或优化; CIF五位/SDF四位小数保留世界坐标。每个Find blob和GT ligand-area各为独立0/1裁剪MRC, 含零边框而非填满盒子。`prepare_views.py`写相应CXC; `render_native.py`在ChimeraX 1.10.1中一次加载本例全部1873个模型中的所属材料, 用官方命令逐视图渲染、导出及保存CXS, 再处理下一例。总览受体浅灰、参考橙色、身份正确blob青绿色、其余棕色; 建模总览按top-1 RMSD&lt;2 Å/≥2 Å着青绿色/棕色。局部为5 Å受体整残基、参考周围1.7 Å实验密度网格、top-1与参考sticks; 阈值与全部转动/缩放保存在本例参数和views/CXC。`assemble.py`仅对整张原生PNG等比装配, 180×225 mm六面板; 不局部修饰或改变原子/密度。`build_deck.mjs`分别嵌入图片和可编辑Arial文字, `@@`定位批注与中英备注独立。全部命令在load_commands.html、逐视图.commands.html及CXC留证。</ns16:t>
        </ns16:r>
      </ns16:p>
      <ns17:p xmlns:ns17="http://schemas.openxmlformats.org/drawingml/2006/main">
        <ns17:r>
          <ns17:t/>
        </ns17:r>
      </ns17:p>
      <ns18:p xmlns:ns18="http://schemas.openxmlformats.org/drawingml/2006/main">
        <ns18:r>
          <ns18:t>**清空temp后的完整重建与核验。** 从仓库根运行`python -X utf8 -B 转换工具/ops/rebuild_figures.py --figure multiligand-workbench-9llg`。主图入口一次重新整理九例并生成十页, 单例图名只重建该例; 入口从固定D盘原件及仓库冻结评价转换, 在新temp中生成全部资产, 新可见ChimeraX进程执行官方命令原生重绘, 再装配图页/PPT。旧temp读取被屏蔽, 不读取既有PNG或CXS补图; 正式PPT只提供作者双语图注。当前已完成九例56视图的原生渲染、792项科学比较及11项GUI状态保存恢复检查; 2026-10-23实际完成旧temp屏蔽的九例完整重建: 1373份原件重新整理、1873模型重新转换、56视图原生重绘、十页装配, receipt.passed=true; 本批包含并逐页批注登记的十个稳定图名。新旧两轮56视图的配置、显隐和日志相机矩阵一致; 实际GUI会话保存/重开导图逐像素相同。精简receipt、科学检查、GUI按钮点击和十页字体/碰撞/对齐报告保全在e2e/output/multiligand-workbench/qa, 不作为运行输入。长期程序和输入不依赖archive或旧temp。</ns18:t>
        </ns18:r>
      </ns18:p>
      <ns19:p xmlns:ns19="http://schemas.openxmlformats.org/drawingml/2006/main">
        <ns19:r>
          <ns19:t>**2026-10-24交互更新。** 当前工作台安装包为1.0.7，参考名称加入身份和原PDB位置；真实区域预设橙色网格并支持一次勾选，初始关闭深度淡化，聚焦不添加裁剪，返回全局解除裁剪。科学坐标、实例、计费、构象及RMSD与1.0.6逐例元数据一致，原作者PPT中的图像和备注保留。九例initial的186个参考配体及区域逐项通过，17项GUI交互检查和实际1.0.6会话升级/往返保存通过；本轮GUI保存重开导图逐像素一致。另在旧temp不可读条件下，以1.0.7从1373份原件重新生成1873模型、56原生视图和十页候选，receipt.passed=true；新候选保留在本轮temp，没有替换作者图像。报告保全在e2e/output/multiligand-workbench/qa/20261024_1.0.7。</ns19:t>
        </ns19:r>
      </ns19:p>
    </p188:txBody>
  </p188:cm>
</p188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3c73f2d4fa4d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2ac52eb9fc4557" /><Relationship Type="http://schemas.openxmlformats.org/officeDocument/2006/relationships/notesMaster" Target="/ppt/notesMasters/notesMaster1.xml" Id="Rb009ecb02b7145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5255b1dfc74702" /><Relationship Type="http://schemas.openxmlformats.org/officeDocument/2006/relationships/notesMaster" Target="/ppt/notesMasters/notesMaster1.xml" Id="Rd5b2d8d0944949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39192bd59d444a" /><Relationship Type="http://schemas.openxmlformats.org/officeDocument/2006/relationships/notesMaster" Target="/ppt/notesMasters/notesMaster1.xml" Id="R8a7b3877d7ce4e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11ae2d2a2542a9" /><Relationship Type="http://schemas.openxmlformats.org/officeDocument/2006/relationships/notesMaster" Target="/ppt/notesMasters/notesMaster1.xml" Id="Rcba11941087f44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95938ca2b14783" /><Relationship Type="http://schemas.openxmlformats.org/officeDocument/2006/relationships/notesMaster" Target="/ppt/notesMasters/notesMaster1.xml" Id="Rb925568ffe8f42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f8de5f7734757" /><Relationship Type="http://schemas.openxmlformats.org/officeDocument/2006/relationships/notesMaster" Target="/ppt/notesMasters/notesMaster1.xml" Id="R770e0d64c8f34c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614758b6f94843" /><Relationship Type="http://schemas.openxmlformats.org/officeDocument/2006/relationships/notesMaster" Target="/ppt/notesMasters/notesMaster1.xml" Id="R4479c3b7ce0a4e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5593d9a2ff49ef" /><Relationship Type="http://schemas.openxmlformats.org/officeDocument/2006/relationships/notesMaster" Target="/ppt/notesMasters/notesMaster1.xml" Id="R1cc8154e168f42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cddb3718a74cc3" /><Relationship Type="http://schemas.openxmlformats.org/officeDocument/2006/relationships/notesMaster" Target="/ppt/notesMasters/notesMaster1.xml" Id="Rc88d0498aacb47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f196d05d794b19" /><Relationship Type="http://schemas.openxmlformats.org/officeDocument/2006/relationships/notesMaster" Target="/ppt/notesMasters/notesMaster1.xml" Id="R47aa5127419e42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andSeek的多配体识别与建模。a、c、e，采用CryoAtom2重建受体，分别展示11JB、9BJJ、9LOV中的LigandSeek-Find候选配体区域及LigandSeek-Match身份匹配。青绿色表示前景区域的身份匹配正确，棕色表示其他候选，橙色为沉积配体。标签给出100%尝试预算下完成实例数/目标实例数，预算基数为全部沉积配体实例数。b、d、f，采用PocketXMol-tuned的完整Find–Match–Build流水线首选构象（青绿色）、沉积构象（橙色）、实验冷冻电镜密度（灰色网格）及5 Å内的受体残基。局部图以单残基、无缺失原子、有机的小分子实例数定义100%预算。在该预算下，三个复合物中重原子RMSD低于2 Å的首选构象分别完成76/78、10/11、3/3个合格实例。局部分别展示AR6（f:2001）、A1AP0（E:1001）及ADP（B:1101）。不同复合物总览的显示比例不同。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by LigandSeek. a,c,e, LigandSeek-Find candidate ligand regions with LigandSeek-Match identity assignments in 11JB, 9BJJ and 9LOV, respectively, using CryoAtom2-reconstructed receptors. Teal denotes a correct identity at a foreground region, brown denotes other candidates and orange shows deposited ligands. The labels give completed/target instance counts at 100% attempt budget, with the attempt limit equal to the number of deposited ligand instances. b,d,f, Selected top-1 poses from the complete Find–Match–Build pipeline using PocketXMol-tuned (teal), overlaid with deposited poses (orange), experimental cryo-EM density (grey mesh) and receptor residues within 5 Å. Local panels use 100% budget relative to the number of single-residue, complete organic small molecules. At this budget, top-1 poses below 2 Å heavy-atom root-mean-square deviation (RMSD) complete 76/78, 10/11 and 3/3 eligible instances in the three complexes, respectively. The local panels show AR6 (f:2001), A1AP0 (E:1001) and ADP (B:1101).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JB中的多配体识别与建模。复合物含78个沉积配体实例，其中小分子78个，满足单残基、无缺失原子、有机条件的建模实例78个。左、右列分别采用CryoAtom2重建受体（CA2）和沉积受体（GT）。a、b，LigandSeek-Find候选配体区域及LigandSeek-Match身份匹配。青绿色表示前景区域中的身份匹配正确，棕色表示其他候选，橙色为沉积配体。c、d，采用PocketXMol-tuned的LigandSeek Find–Match–Build完整流水线首选构象。青绿色和棕色构象的重原子RMSD分别低于和不低于2 Å。标签列出100%尝试预算下的完成实例数/目标实例数；a、b以全配体实例数为预算基数，c、d以合格小分子实例数为基数。e、f，局部实验密度（灰色网格）、5 Å内的受体残基、沉积构象（橙色）和已有完整流水线首选构象（青绿色）。CA2: AR6 (f:2001), 首选构象RMSD 1.46 Å；GT: AR6 (f:2001), 首选构象RMSD 0.86 Å。局部沿用相同完整流水线预算。不同复合物总览的显示比例不同。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in 11JB. The complex contains 78 deposited ligand instances, including 78 small molecules and 78 single-residue, complete organic small molecules eligible for modelling. Left and right columns use the CryoAtom2-reconstructed (CA2) and deposited (GT) receptor structures, respectively. a,b, LigandSeek-Find candidate ligand regions with LigandSeek-Match assignments. Teal denotes a correct identity at a foreground region, and brown denotes other candidates. Orange shows deposited ligands. c,d, Top-1 poses from the complete LigandSeek Find–Match–Build pipeline using PocketXMol-tuned. Teal and brown poses have heavy-atom root-mean-square deviation (RMSD) below and at least 2 Å, respectively. The labels give completed/target instance counts at 100% attempt budget. The budget equals the number of all ligand instances in a,b and eligible small-molecule instances in c,d. e,f, Selected local views with experimental density (grey mesh), receptor residues within 5 Å, deposited poses (orange) and available pipeline top-1 poses (teal). CA2: AR6 (f:2001), top-1 RMSD 1.46 Å; GT: AR6 (f:2001), top-1 RMSD 0.86 Å. Local views use the same pipeline budgets.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BJJ中的多配体识别与建模。复合物含19个沉积配体实例，其中小分子11个，满足单残基、无缺失原子、有机条件的建模实例11个。左、右列分别采用CryoAtom2重建受体（CA2）和沉积受体（GT）。a、b，LigandSeek-Find候选配体区域及LigandSeek-Match身份匹配。青绿色表示前景区域中的身份匹配正确，棕色表示其他候选，橙色为沉积配体。c、d，采用PocketXMol-tuned的LigandSeek Find–Match–Build完整流水线首选构象。青绿色和棕色构象的重原子RMSD分别低于和不低于2 Å。标签列出100%尝试预算下的完成实例数/目标实例数；a、b以全配体实例数为预算基数，c、d以合格小分子实例数为基数。e、f，局部实验密度（灰色网格）、5 Å内的受体残基、沉积构象（橙色）和已有完整流水线首选构象（青绿色）。CA2: ATP (B:901), 首选构象RMSD 0.80 Å；GT: ATP (B:901), 首选构象RMSD 0.93 Å。局部沿用相同完整流水线预算。不同复合物总览的显示比例不同。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in 9BJJ. The complex contains 19 deposited ligand instances, including 11 small molecules and 11 single-residue, complete organic small molecules eligible for modelling. Left and right columns use the CryoAtom2-reconstructed (CA2) and deposited (GT) receptor structures, respectively. a,b, LigandSeek-Find candidate ligand regions with LigandSeek-Match assignments. Teal denotes a correct identity at a foreground region, and brown denotes other candidates. Orange shows deposited ligands. c,d, Top-1 poses from the complete LigandSeek Find–Match–Build pipeline using PocketXMol-tuned. Teal and brown poses have heavy-atom root-mean-square deviation (RMSD) below and at least 2 Å, respectively. The labels give completed/target instance counts at 100% attempt budget. The budget equals the number of all ligand instances in a,b and eligible small-molecule instances in c,d. e,f, Selected local views with experimental density (grey mesh), receptor residues within 5 Å, deposited poses (orange) and available pipeline top-1 poses (teal). CA2: ATP (B:901), top-1 RMSD 0.80 Å; GT: ATP (B:901), top-1 RMSD 0.93 Å. Local views use the same pipeline budgets.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LOV中的多配体识别与建模。复合物含9个沉积配体实例，其中小分子3个，满足单残基、无缺失原子、有机条件的建模实例3个。左、右列分别采用CryoAtom2重建受体（CA2）和沉积受体（GT）。a、b，LigandSeek-Find候选配体区域及LigandSeek-Match身份匹配。青绿色表示前景区域中的身份匹配正确，棕色表示其他候选，橙色为沉积配体。c、d，采用PocketXMol-tuned的LigandSeek Find–Match–Build完整流水线首选构象。青绿色和棕色构象的重原子RMSD分别低于和不低于2 Å。标签列出100%尝试预算下的完成实例数/目标实例数；a、b以全配体实例数为预算基数，c、d以合格小分子实例数为基数。e、f，局部实验密度（灰色网格）、5 Å内的受体残基、沉积构象（橙色）和已有完整流水线首选构象（青绿色）。CA2: ADP (B:1101), 首选构象RMSD 1.09 Å；GT: ADP (B:1101), 首选构象RMSD 1.04 Å。局部沿用相同完整流水线预算。不同复合物总览的显示比例不同。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in 9LOV. The complex contains 9 deposited ligand instances, including 3 small molecules and 3 single-residue, complete organic small molecules eligible for modelling. Left and right columns use the CryoAtom2-reconstructed (CA2) and deposited (GT) receptor structures, respectively. a,b, LigandSeek-Find candidate ligand regions with LigandSeek-Match assignments. Teal denotes a correct identity at a foreground region, and brown denotes other candidates. Orange shows deposited ligands. c,d, Top-1 poses from the complete LigandSeek Find–Match–Build pipeline using PocketXMol-tuned. Teal and brown poses have heavy-atom root-mean-square deviation (RMSD) below and at least 2 Å, respectively. The labels give completed/target instance counts at 100% attempt budget. The budget equals the number of all ligand instances in a,b and eligible small-molecule instances in c,d. e,f, Selected local views with experimental density (grey mesh), receptor residues within 5 Å, deposited poses (orange) and available pipeline top-1 poses (teal). CA2: ADP (B:1101), top-1 RMSD 1.09 Å; GT: ADP (B:1101), top-1 RMSD 1.04 Å. Local views use the same pipeline budgets.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OKP中的多配体识别与建模。复合物含8个沉积配体实例，其中小分子2个，满足单残基、无缺失原子、有机条件的建模实例2个。左、右列分别采用CryoAtom2重建受体（CA2）和沉积受体（GT）。a、b，LigandSeek-Find候选配体区域及LigandSeek-Match身份匹配。青绿色表示前景区域中的身份匹配正确，棕色表示其他候选，橙色为沉积配体。c、d，采用PocketXMol-tuned的LigandSeek Find–Match–Build完整流水线首选构象。青绿色和棕色构象的重原子RMSD分别低于和不低于2 Å。标签列出100%尝试预算下的完成实例数/目标实例数；a、b以全配体实例数为预算基数，c、d以合格小分子实例数为基数。e、f，局部实验密度（灰色网格）、5 Å内的受体残基、沉积构象（橙色）和已有完整流水线首选构象（青绿色）。CA2: ATP (E:301), 首选构象RMSD 0.89 Å；GT: ATP (E:301), 首选构象RMSD 1.31 Å。局部沿用相同完整流水线预算。不同复合物总览的显示比例不同。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in 9OKP. The complex contains 8 deposited ligand instances, including 2 small molecules and 2 single-residue, complete organic small molecules eligible for modelling. Left and right columns use the CryoAtom2-reconstructed (CA2) and deposited (GT) receptor structures, respectively. a,b, LigandSeek-Find candidate ligand regions with LigandSeek-Match assignments. Teal denotes a correct identity at a foreground region, and brown denotes other candidates. Orange shows deposited ligands. c,d, Top-1 poses from the complete LigandSeek Find–Match–Build pipeline using PocketXMol-tuned. Teal and brown poses have heavy-atom root-mean-square deviation (RMSD) below and at least 2 Å, respectively. The labels give completed/target instance counts at 100% attempt budget. The budget equals the number of all ligand instances in a,b and eligible small-molecule instances in c,d. e,f, Selected local views with experimental density (grey mesh), receptor residues within 5 Å, deposited poses (orange) and available pipeline top-1 poses (teal). CA2: ATP (E:301), top-1 RMSD 0.89 Å; GT: ATP (E:301), top-1 RMSD 1.31 Å. Local views use the same pipeline budgets.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GA中的多配体识别与建模。复合物含20个沉积配体实例，其中小分子7个，满足单残基、无缺失原子、有机条件的建模实例7个。左、右列分别采用CryoAtom2重建受体（CA2）和沉积受体（GT）。a、b，LigandSeek-Find候选配体区域及LigandSeek-Match身份匹配。青绿色表示前景区域中的身份匹配正确，棕色表示其他候选，橙色为沉积配体。c、d，采用PocketXMol-tuned的LigandSeek Find–Match–Build完整流水线首选构象。青绿色和棕色构象的重原子RMSD分别低于和不低于2 Å。标签列出100%尝试预算下的完成实例数/目标实例数；a、b以全配体实例数为预算基数，c、d以合格小分子实例数为基数。e、f，局部实验密度（灰色网格）、5 Å内的受体残基、沉积构象（橙色）和已有完整流水线首选构象（青绿色）。CA2: ATP (N:401), 首选构象RMSD 1.04 Å；GT: ATP (N:401), 首选构象RMSD 0.84 Å。局部沿用相同完整流水线预算。不同复合物总览的显示比例不同。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in 30GA. The complex contains 20 deposited ligand instances, including 7 small molecules and 7 single-residue, complete organic small molecules eligible for modelling. Left and right columns use the CryoAtom2-reconstructed (CA2) and deposited (GT) receptor structures, respectively. a,b, LigandSeek-Find candidate ligand regions with LigandSeek-Match assignments. Teal denotes a correct identity at a foreground region, and brown denotes other candidates. Orange shows deposited ligands. c,d, Top-1 poses from the complete LigandSeek Find–Match–Build pipeline using PocketXMol-tuned. Teal and brown poses have heavy-atom root-mean-square deviation (RMSD) below and at least 2 Å, respectively. The labels give completed/target instance counts at 100% attempt budget. The budget equals the number of all ligand instances in a,b and eligible small-molecule instances in c,d. e,f, Selected local views with experimental density (grey mesh), receptor residues within 5 Å, deposited poses (orange) and available pipeline top-1 poses (teal). CA2: ATP (N:401), top-1 RMSD 1.04 Å; GT: ATP (N:401), top-1 RMSD 0.84 Å. Local views use the same pipeline budgets.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UJF中的多配体识别与建模。复合物含20个沉积配体实例，其中小分子10个，满足单残基、无缺失原子、有机条件的建模实例10个。左、右列分别采用CryoAtom2重建受体（CA2）和沉积受体（GT）。a、b，LigandSeek-Find候选配体区域及LigandSeek-Match身份匹配。青绿色表示前景区域中的身份匹配正确，棕色表示其他候选，橙色为沉积配体。c、d，采用PocketXMol-tuned的LigandSeek Find–Match–Build完整流水线首选构象。青绿色和棕色构象的重原子RMSD分别低于和不低于2 Å。标签列出100%尝试预算下的完成实例数/目标实例数；a、b以全配体实例数为预算基数，c、d以合格小分子实例数为基数。e、f，局部实验密度（灰色网格）、5 Å内的受体残基、沉积构象（橙色）和已有完整流水线首选构象（青绿色）。CA2: GTP (A:202), 首选构象RMSD 0.71 Å；GT: GTP (A:202), 首选构象RMSD 0.57 Å。局部沿用相同完整流水线预算。不同复合物总览的显示比例不同。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in 9UJF. The complex contains 20 deposited ligand instances, including 10 small molecules and 10 single-residue, complete organic small molecules eligible for modelling. Left and right columns use the CryoAtom2-reconstructed (CA2) and deposited (GT) receptor structures, respectively. a,b, LigandSeek-Find candidate ligand regions with LigandSeek-Match assignments. Teal denotes a correct identity at a foreground region, and brown denotes other candidates. Orange shows deposited ligands. c,d, Top-1 poses from the complete LigandSeek Find–Match–Build pipeline using PocketXMol-tuned. Teal and brown poses have heavy-atom root-mean-square deviation (RMSD) below and at least 2 Å, respectively. The labels give completed/target instance counts at 100% attempt budget. The budget equals the number of all ligand instances in a,b and eligible small-molecule instances in c,d. e,f, Selected local views with experimental density (grey mesh), receptor residues within 5 Å, deposited poses (orange) and available pipeline top-1 poses (teal). CA2: GTP (A:202), top-1 RMSD 0.71 Å; GT: GTP (A:202), top-1 RMSD 0.57 Å. Local views use the same pipeline budgets.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WUP中的多配体识别与建模。复合物含8个沉积配体实例，其中小分子8个，满足单残基、无缺失原子、有机条件的建模实例4个。左、右列分别采用CryoAtom2重建受体（CA2）和沉积受体（GT）。a、b，LigandSeek-Find候选配体区域及LigandSeek-Match身份匹配。青绿色表示前景区域中的身份匹配正确，棕色表示其他候选，橙色为沉积配体。c、d，采用PocketXMol-tuned的LigandSeek Find–Match–Build完整流水线首选构象。青绿色和棕色构象的重原子RMSD分别低于和不低于2 Å。标签列出100%尝试预算下的完成实例数/目标实例数；a、b以全配体实例数为预算基数，c、d以合格小分子实例数为基数。e、f，局部实验密度（灰色网格）、5 Å内的受体残基、沉积构象（橙色）和已有完整流水线首选构象（青绿色）。CA2: FMN (B:1103), 首选构象RMSD 0.52 Å；GT: FMN (B:1103), 首选构象RMSD 0.37 Å。局部沿用相同完整流水线预算。不同复合物总览的显示比例不同。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in 9WUP. The complex contains 8 deposited ligand instances, including 8 small molecules and 4 single-residue, complete organic small molecules eligible for modelling. Left and right columns use the CryoAtom2-reconstructed (CA2) and deposited (GT) receptor structures, respectively. a,b, LigandSeek-Find candidate ligand regions with LigandSeek-Match assignments. Teal denotes a correct identity at a foreground region, and brown denotes other candidates. Orange shows deposited ligands. c,d, Top-1 poses from the complete LigandSeek Find–Match–Build pipeline using PocketXMol-tuned. Teal and brown poses have heavy-atom root-mean-square deviation (RMSD) below and at least 2 Å, respectively. The labels give completed/target instance counts at 100% attempt budget. The budget equals the number of all ligand instances in a,b and eligible small-molecule instances in c,d. e,f, Selected local views with experimental density (grey mesh), receptor residues within 5 Å, deposited poses (orange) and available pipeline top-1 poses (teal). CA2: FMN (B:1103), top-1 RMSD 0.52 Å; GT: FMN (B:1103), top-1 RMSD 0.37 Å. Local views use the same pipeline budgets.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LW1中的多配体识别与建模。复合物含20个沉积配体实例，其中小分子18个，满足单残基、无缺失原子、有机条件的建模实例18个。左、右列分别采用CryoAtom2重建受体（CA2）和沉积受体（GT）。a、b，LigandSeek-Find候选配体区域及LigandSeek-Match身份匹配。青绿色表示前景区域中的身份匹配正确，棕色表示其他候选，橙色为沉积配体。c、d，采用PocketXMol-tuned的LigandSeek Find–Match–Build完整流水线首选构象。青绿色和棕色构象的重原子RMSD分别低于和不低于2 Å。标签列出100%尝试预算下的完成实例数/目标实例数；a、b以全配体实例数为预算基数，c、d以合格小分子实例数为基数。e、f，局部实验密度（灰色网格）、5 Å内的受体残基、沉积构象（橙色）和已有完整流水线首选构象（青绿色）。CA2: 4I1 (A:307), 首选构象RMSD 1.92 Å；GT: 4I1 (A:307), 首选构象RMSD 1.64 Å。局部沿用相同完整流水线预算。不同复合物总览的显示比例不同。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in 9LW1. The complex contains 20 deposited ligand instances, including 18 small molecules and 18 single-residue, complete organic small molecules eligible for modelling. Left and right columns use the CryoAtom2-reconstructed (CA2) and deposited (GT) receptor structures, respectively. a,b, LigandSeek-Find candidate ligand regions with LigandSeek-Match assignments. Teal denotes a correct identity at a foreground region, and brown denotes other candidates. Orange shows deposited ligands. c,d, Top-1 poses from the complete LigandSeek Find–Match–Build pipeline using PocketXMol-tuned. Teal and brown poses have heavy-atom root-mean-square deviation (RMSD) below and at least 2 Å, respectively. The labels give completed/target instance counts at 100% attempt budget. The budget equals the number of all ligand instances in a,b and eligible small-molecule instances in c,d. e,f, Selected local views with experimental density (grey mesh), receptor residues within 5 Å, deposited poses (orange) and available pipeline top-1 poses (teal). CA2: 4I1 (A:307), top-1 RMSD 1.92 Å; GT: 4I1 (A:307), top-1 RMSD 1.64 Å. Local views use the same pipeline budgets.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LLG中的多配体识别与建模。复合物含4个沉积配体实例，其中小分子4个，满足单残基、无缺失原子、有机条件的建模实例4个。左、右列分别采用CryoAtom2重建受体（CA2）和沉积受体（GT）。a、b，LigandSeek-Find候选配体区域及LigandSeek-Match身份匹配。青绿色表示前景区域中的身份匹配正确，棕色表示其他候选，橙色为沉积配体。c、d，采用PocketXMol-tuned的LigandSeek Find–Match–Build完整流水线首选构象。青绿色和棕色构象的重原子RMSD分别低于和不低于2 Å。标签列出100%尝试预算下的完成实例数/目标实例数；a、b以全配体实例数为预算基数，c、d以合格小分子实例数为基数。e、f，局部实验密度（灰色网格）、5 Å内的受体残基、沉积构象（橙色）和已有完整流水线首选构象（青绿色）。CA2: A1EKL (R:602), 首选构象RMSD 0.88 Å；GT: A1EKL (R:602), 首选构象RMSD 0.87 Å。局部沿用相同完整流水线预算。不同复合物总览的显示比例不同。</a:t>
            </a:r>
          </a:p>
          <a:p xmlns:a="http://schemas.openxmlformats.org/drawingml/2006/main">
            <a:r>
              <a:t>ENGLISH:</a:t>
            </a:r>
          </a:p>
          <a:p xmlns:a="http://schemas.openxmlformats.org/drawingml/2006/main">
            <a:r>
              <a:t>Multi-ligand recognition and modelling in 9LLG. The complex contains 4 deposited ligand instances, including 4 small molecules and 4 single-residue, complete organic small molecules eligible for modelling. Left and right columns use the CryoAtom2-reconstructed (CA2) and deposited (GT) receptor structures, respectively. a,b, LigandSeek-Find candidate ligand regions with LigandSeek-Match assignments. Teal denotes a correct identity at a foreground region, and brown denotes other candidates. Orange shows deposited ligands. c,d, Top-1 poses from the complete LigandSeek Find–Match–Build pipeline using PocketXMol-tuned. Teal and brown poses have heavy-atom root-mean-square deviation (RMSD) below and at least 2 Å, respectively. The labels give completed/target instance counts at 100% attempt budget. The budget equals the number of all ligand instances in a,b and eligible small-molecule instances in c,d. e,f, Selected local views with experimental density (grey mesh), receptor residues within 5 Å, deposited poses (orange) and available pipeline top-1 poses (teal). CA2: A1EKL (R:602), top-1 RMSD 0.88 Å; GT: A1EKL (R:602), top-1 RMSD 0.87 Å. Local views use the same pipeline budgets. Overview scales differ between complexes.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99e213eb24b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c49f46bd841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88ba6e6824f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00691c63041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da69eef2a41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dd7e9addc4c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EDBFF-5151-4387-861C-3B397905D1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000" y="3060000"/>
            <a:ext cx="5184000" cy="11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851595-7C9D-4669-8E0A-B1480EF225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000" y="4455000"/>
            <a:ext cx="4536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D04E27-3043-4715-A971-91C01771D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000" y="3375000"/>
            <a:ext cx="5184000" cy="1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3D61B9-BCF8-40DD-AA70-5040C505D0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4500" y="630000"/>
            <a:ext cx="5751000" cy="9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B161F6-D882-4664-B30B-C705F0251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4500" y="2250000"/>
            <a:ext cx="5751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83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45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07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69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31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93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255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417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BE2762-A30D-4757-8DFB-F3E74971F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4500" y="630000"/>
            <a:ext cx="5751000" cy="9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6FA84C-B163-4E87-922F-A7D21CE029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4500" y="2250000"/>
            <a:ext cx="2673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83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45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07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69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31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93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255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417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D8A231-1B68-4788-A8A7-95980E9BFC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42500" y="2250000"/>
            <a:ext cx="2673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83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45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07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69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31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93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255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417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881AAD-A3B0-47D3-8F4B-E2456520E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4500" y="630000"/>
            <a:ext cx="5751000" cy="9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8511A9-F92D-4662-A26C-D2EF901846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4500" y="2250000"/>
            <a:ext cx="2673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83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45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07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69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31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93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255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417500" indent="-121500" algn="l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08fcb4efc4fa8" /><Relationship Type="http://schemas.openxmlformats.org/officeDocument/2006/relationships/slideLayout" Target="/ppt/slideLayouts/slideLayout1.xml" Id="Rbb0883304bc64ffd" /><Relationship Type="http://schemas.openxmlformats.org/officeDocument/2006/relationships/slideLayout" Target="/ppt/slideLayouts/slideLayout2.xml" Id="R9afd59ca2854455d" /><Relationship Type="http://schemas.openxmlformats.org/officeDocument/2006/relationships/slideLayout" Target="/ppt/slideLayouts/slideLayout3.xml" Id="Rad42cc9d415146aa" /><Relationship Type="http://schemas.openxmlformats.org/officeDocument/2006/relationships/slideLayout" Target="/ppt/slideLayouts/slideLayout4.xml" Id="Raf875afbccf840ef" /><Relationship Type="http://schemas.openxmlformats.org/officeDocument/2006/relationships/slideLayout" Target="/ppt/slideLayouts/slideLayout5.xml" Id="Ra17412e1ebd14253" /><Relationship Type="http://schemas.openxmlformats.org/officeDocument/2006/relationships/slideLayout" Target="/ppt/slideLayouts/slideLayout6.xml" Id="Rb68692de0f0c4e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883304bc64ffd"/>
    <p:sldLayoutId xmlns:r="http://schemas.openxmlformats.org/officeDocument/2006/relationships" id="2147483650" r:id="R9afd59ca2854455d"/>
    <p:sldLayoutId xmlns:r="http://schemas.openxmlformats.org/officeDocument/2006/relationships" id="2147483651" r:id="Rad42cc9d415146aa"/>
    <p:sldLayoutId xmlns:r="http://schemas.openxmlformats.org/officeDocument/2006/relationships" id="2147483652" r:id="Raf875afbccf840ef"/>
    <p:sldLayoutId xmlns:r="http://schemas.openxmlformats.org/officeDocument/2006/relationships" id="2147483653" r:id="Ra17412e1ebd14253"/>
    <p:sldLayoutId xmlns:r="http://schemas.openxmlformats.org/officeDocument/2006/relationships" id="2147483654" r:id="Rb68692de0f0c4e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a0e7e7b3254ea2" /><Relationship Type="http://schemas.openxmlformats.org/officeDocument/2006/relationships/image" Target="/ppt/media/image.png" Id="Re3233bf61d924855" /><Relationship Type="http://schemas.openxmlformats.org/officeDocument/2006/relationships/image" Target="/ppt/media/image2.png" Id="R0dffad65da9b458f" /><Relationship Type="http://schemas.openxmlformats.org/officeDocument/2006/relationships/image" Target="/ppt/media/image3.png" Id="R59b46eae27964f30" /><Relationship Type="http://schemas.openxmlformats.org/officeDocument/2006/relationships/image" Target="/ppt/media/image4.png" Id="Ra5298dd090e04a9b" /><Relationship Type="http://schemas.openxmlformats.org/officeDocument/2006/relationships/image" Target="/ppt/media/image5.png" Id="Re47bad68dc944f7b" /><Relationship Type="http://schemas.openxmlformats.org/officeDocument/2006/relationships/image" Target="/ppt/media/image6.png" Id="R57aae5217e06436f" /><Relationship Type="http://schemas.openxmlformats.org/officeDocument/2006/relationships/notesSlide" Target="/ppt/notesSlides/notesSlide1.xml" Id="R482c0a8665c44087" /><Relationship Type="http://schemas.microsoft.com/office/2018/10/relationships/comments" Target="/ppt/comments/modernComment.xml" Id="R13bbfc4a247b4a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44421700848d9" /><Relationship Type="http://schemas.openxmlformats.org/officeDocument/2006/relationships/image" Target="/ppt/media/image7.png" Id="R533f5dd095bc4a68" /><Relationship Type="http://schemas.openxmlformats.org/officeDocument/2006/relationships/image" Target="/ppt/media/image8.png" Id="R74c71d9e937f4023" /><Relationship Type="http://schemas.openxmlformats.org/officeDocument/2006/relationships/image" Target="/ppt/media/image9.png" Id="Rb60cef133a034e13" /><Relationship Type="http://schemas.openxmlformats.org/officeDocument/2006/relationships/image" Target="/ppt/media/image10.png" Id="R0a5a8c88ae8146ed" /><Relationship Type="http://schemas.openxmlformats.org/officeDocument/2006/relationships/image" Target="/ppt/media/image11.png" Id="R6eb60eb8f5514253" /><Relationship Type="http://schemas.openxmlformats.org/officeDocument/2006/relationships/image" Target="/ppt/media/image12.png" Id="R6b8f51dd5dc14f61" /><Relationship Type="http://schemas.openxmlformats.org/officeDocument/2006/relationships/notesSlide" Target="/ppt/notesSlides/notesSlide2.xml" Id="R78de47b0e41f487c" /><Relationship Type="http://schemas.microsoft.com/office/2018/10/relationships/comments" Target="/ppt/comments/modernComment2.xml" Id="Ra479cd727d3941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bb0371052e410d" /><Relationship Type="http://schemas.openxmlformats.org/officeDocument/2006/relationships/image" Target="/ppt/media/image13.png" Id="R9a98d120d867495c" /><Relationship Type="http://schemas.openxmlformats.org/officeDocument/2006/relationships/image" Target="/ppt/media/image14.png" Id="Rdfad2bcb82b140d3" /><Relationship Type="http://schemas.openxmlformats.org/officeDocument/2006/relationships/image" Target="/ppt/media/image15.png" Id="Rc593fdc94130448b" /><Relationship Type="http://schemas.openxmlformats.org/officeDocument/2006/relationships/image" Target="/ppt/media/image16.png" Id="Rfe4195be8fff40cb" /><Relationship Type="http://schemas.openxmlformats.org/officeDocument/2006/relationships/image" Target="/ppt/media/image17.png" Id="R1bcf4697f35c42b5" /><Relationship Type="http://schemas.openxmlformats.org/officeDocument/2006/relationships/image" Target="/ppt/media/image18.png" Id="R76cf7c40b6f6454b" /><Relationship Type="http://schemas.openxmlformats.org/officeDocument/2006/relationships/notesSlide" Target="/ppt/notesSlides/notesSlide3.xml" Id="R49a1e12f32ec41d1" /><Relationship Type="http://schemas.microsoft.com/office/2018/10/relationships/comments" Target="/ppt/comments/modernComment3.xml" Id="Rfc00167be38e4d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2edde9af5429d" /><Relationship Type="http://schemas.openxmlformats.org/officeDocument/2006/relationships/image" Target="/ppt/media/image19.png" Id="R8e4638805b714397" /><Relationship Type="http://schemas.openxmlformats.org/officeDocument/2006/relationships/image" Target="/ppt/media/image20.png" Id="Rd77e8a9c18e041a4" /><Relationship Type="http://schemas.openxmlformats.org/officeDocument/2006/relationships/image" Target="/ppt/media/image21.png" Id="R284817a7eeb34c14" /><Relationship Type="http://schemas.openxmlformats.org/officeDocument/2006/relationships/image" Target="/ppt/media/image22.png" Id="Raa4f9b6b31bc4443" /><Relationship Type="http://schemas.openxmlformats.org/officeDocument/2006/relationships/image" Target="/ppt/media/image23.png" Id="Rfbb80aca060d4eb6" /><Relationship Type="http://schemas.openxmlformats.org/officeDocument/2006/relationships/image" Target="/ppt/media/image24.png" Id="R67de06dab972405b" /><Relationship Type="http://schemas.openxmlformats.org/officeDocument/2006/relationships/notesSlide" Target="/ppt/notesSlides/notesSlide4.xml" Id="R710d3ededdb44c56" /><Relationship Type="http://schemas.microsoft.com/office/2018/10/relationships/comments" Target="/ppt/comments/modernComment4.xml" Id="R9573787c550a49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dfdb812104bcd" /><Relationship Type="http://schemas.openxmlformats.org/officeDocument/2006/relationships/image" Target="/ppt/media/image25.png" Id="R8b71aa0d8c02432b" /><Relationship Type="http://schemas.openxmlformats.org/officeDocument/2006/relationships/image" Target="/ppt/media/image26.png" Id="Rd1853e3605ed4838" /><Relationship Type="http://schemas.openxmlformats.org/officeDocument/2006/relationships/image" Target="/ppt/media/image27.png" Id="R7c5bd88621174ecc" /><Relationship Type="http://schemas.openxmlformats.org/officeDocument/2006/relationships/image" Target="/ppt/media/image28.png" Id="R7f217a262ac242de" /><Relationship Type="http://schemas.openxmlformats.org/officeDocument/2006/relationships/image" Target="/ppt/media/image29.png" Id="Ra236353dcb994480" /><Relationship Type="http://schemas.openxmlformats.org/officeDocument/2006/relationships/image" Target="/ppt/media/image30.png" Id="R9a2a646e8d2e4d1e" /><Relationship Type="http://schemas.openxmlformats.org/officeDocument/2006/relationships/notesSlide" Target="/ppt/notesSlides/notesSlide5.xml" Id="Rbbfc897ee777484a" /><Relationship Type="http://schemas.microsoft.com/office/2018/10/relationships/comments" Target="/ppt/comments/modernComment5.xml" Id="R16f979159d5344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20f6b3e404bbf" /><Relationship Type="http://schemas.openxmlformats.org/officeDocument/2006/relationships/image" Target="/ppt/media/image31.png" Id="R23d79537f6dd4b00" /><Relationship Type="http://schemas.openxmlformats.org/officeDocument/2006/relationships/image" Target="/ppt/media/image32.png" Id="R9c1ef73b2652460c" /><Relationship Type="http://schemas.openxmlformats.org/officeDocument/2006/relationships/image" Target="/ppt/media/image33.png" Id="R12c38a92b373476a" /><Relationship Type="http://schemas.openxmlformats.org/officeDocument/2006/relationships/image" Target="/ppt/media/image34.png" Id="R333a6174f33843b4" /><Relationship Type="http://schemas.openxmlformats.org/officeDocument/2006/relationships/image" Target="/ppt/media/image35.png" Id="Rcae6c1d13d9a4669" /><Relationship Type="http://schemas.openxmlformats.org/officeDocument/2006/relationships/image" Target="/ppt/media/image36.png" Id="Rb2dea284763e45d3" /><Relationship Type="http://schemas.openxmlformats.org/officeDocument/2006/relationships/notesSlide" Target="/ppt/notesSlides/notesSlide6.xml" Id="Rd8daf9b3e7934d7e" /><Relationship Type="http://schemas.microsoft.com/office/2018/10/relationships/comments" Target="/ppt/comments/modernComment6.xml" Id="R6b5c23e1b52d4e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9478dd84a4769" /><Relationship Type="http://schemas.openxmlformats.org/officeDocument/2006/relationships/image" Target="/ppt/media/image37.png" Id="R78ff60afaf9b4ce0" /><Relationship Type="http://schemas.openxmlformats.org/officeDocument/2006/relationships/image" Target="/ppt/media/image38.png" Id="R38c5aab836294825" /><Relationship Type="http://schemas.openxmlformats.org/officeDocument/2006/relationships/image" Target="/ppt/media/image39.png" Id="Rc3f3918d2ec444c5" /><Relationship Type="http://schemas.openxmlformats.org/officeDocument/2006/relationships/image" Target="/ppt/media/image40.png" Id="R5d642da647904b76" /><Relationship Type="http://schemas.openxmlformats.org/officeDocument/2006/relationships/image" Target="/ppt/media/image41.png" Id="R62e7018913c54079" /><Relationship Type="http://schemas.openxmlformats.org/officeDocument/2006/relationships/image" Target="/ppt/media/image42.png" Id="Rb3088bf2def247ce" /><Relationship Type="http://schemas.openxmlformats.org/officeDocument/2006/relationships/notesSlide" Target="/ppt/notesSlides/notesSlide7.xml" Id="Rc4e14b91ec284c47" /><Relationship Type="http://schemas.microsoft.com/office/2018/10/relationships/comments" Target="/ppt/comments/modernComment7.xml" Id="R10786d67a7d843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5c4501d1b4987" /><Relationship Type="http://schemas.openxmlformats.org/officeDocument/2006/relationships/image" Target="/ppt/media/image43.png" Id="Rc21e4e193ebc4f58" /><Relationship Type="http://schemas.openxmlformats.org/officeDocument/2006/relationships/image" Target="/ppt/media/image44.png" Id="R2520522e24d24e94" /><Relationship Type="http://schemas.openxmlformats.org/officeDocument/2006/relationships/image" Target="/ppt/media/image45.png" Id="R077e5d504e734e4c" /><Relationship Type="http://schemas.openxmlformats.org/officeDocument/2006/relationships/image" Target="/ppt/media/image46.png" Id="Rba0735b9fa214dbc" /><Relationship Type="http://schemas.openxmlformats.org/officeDocument/2006/relationships/image" Target="/ppt/media/image47.png" Id="R4690c7606d9845a8" /><Relationship Type="http://schemas.openxmlformats.org/officeDocument/2006/relationships/image" Target="/ppt/media/image48.png" Id="R50e919432d6e4f76" /><Relationship Type="http://schemas.openxmlformats.org/officeDocument/2006/relationships/notesSlide" Target="/ppt/notesSlides/notesSlide8.xml" Id="Raae585e494aa4f2f" /><Relationship Type="http://schemas.microsoft.com/office/2018/10/relationships/comments" Target="/ppt/comments/modernComment8.xml" Id="Re3aa2d67571c42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3853de3ff46a3" /><Relationship Type="http://schemas.openxmlformats.org/officeDocument/2006/relationships/image" Target="/ppt/media/image49.png" Id="Rd9aad69416414eab" /><Relationship Type="http://schemas.openxmlformats.org/officeDocument/2006/relationships/image" Target="/ppt/media/image50.png" Id="Rc4a0d6b9f74b4935" /><Relationship Type="http://schemas.openxmlformats.org/officeDocument/2006/relationships/image" Target="/ppt/media/image51.png" Id="Rb4f00defb22244be" /><Relationship Type="http://schemas.openxmlformats.org/officeDocument/2006/relationships/image" Target="/ppt/media/image52.png" Id="R24bf240a2d65450f" /><Relationship Type="http://schemas.openxmlformats.org/officeDocument/2006/relationships/image" Target="/ppt/media/image53.png" Id="R8df288b3065b49ee" /><Relationship Type="http://schemas.openxmlformats.org/officeDocument/2006/relationships/image" Target="/ppt/media/image54.png" Id="Ra8887056add44e30" /><Relationship Type="http://schemas.openxmlformats.org/officeDocument/2006/relationships/notesSlide" Target="/ppt/notesSlides/notesSlide9.xml" Id="R3dc1d6716184470c" /><Relationship Type="http://schemas.microsoft.com/office/2018/10/relationships/comments" Target="/ppt/comments/modernComment9.xml" Id="Ra089a005907441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2f8a858584eeb" /><Relationship Type="http://schemas.openxmlformats.org/officeDocument/2006/relationships/image" Target="/ppt/media/image55.png" Id="R72c3d74704164844" /><Relationship Type="http://schemas.openxmlformats.org/officeDocument/2006/relationships/image" Target="/ppt/media/image56.png" Id="Rdc010370d2444c49" /><Relationship Type="http://schemas.openxmlformats.org/officeDocument/2006/relationships/image" Target="/ppt/media/image57.png" Id="R28d6c2c81e424001" /><Relationship Type="http://schemas.openxmlformats.org/officeDocument/2006/relationships/image" Target="/ppt/media/image58.png" Id="Rdb85d5075ee2422a" /><Relationship Type="http://schemas.openxmlformats.org/officeDocument/2006/relationships/image" Target="/ppt/media/image59.png" Id="R2d7f3ad064ba428e" /><Relationship Type="http://schemas.openxmlformats.org/officeDocument/2006/relationships/image" Target="/ppt/media/image60.png" Id="R934412d8e96e48e2" /><Relationship Type="http://schemas.openxmlformats.org/officeDocument/2006/relationships/notesSlide" Target="/ppt/notesSlides/notesSlide10.xml" Id="R5941e84e27674c0c" /><Relationship Type="http://schemas.microsoft.com/office/2018/10/relationships/comments" Target="/ppt/comments/modernComment10.xml" Id="Ra6540530be8c45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EFFC6-044F-458B-8105-72C97C84B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33bf61d924855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F5C9C-88A4-4E15-BE3F-91EE53BE60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fad65da9b458f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0D7C4-2DC3-42DC-98FA-462783A5A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46eae27964f30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11426-BC36-4711-990C-CDD4F02E38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98dd090e04a9b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37F28-70CE-4B52-9022-CB9AB45C6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bad68dc944f7b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00758-E512-49C9-A109-FEBA370268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ae5217e06436f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_24_32">
            <a:extLst xmlns:a="http://schemas.openxmlformats.org/drawingml/2006/main">
              <a:ext uri="{FF2B5EF4-FFF2-40B4-BE49-F238E27FC236}">
                <a16:creationId xmlns:a16="http://schemas.microsoft.com/office/drawing/2014/main" id="{9BFBCB01-C1A2-443F-9FFB-1832D4D9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Multi-ligand recognition and modelling</a:t>
            </a:r>
          </a:p>
        </p:txBody>
      </p:sp>
      <p:sp>
        <p:nvSpPr>
          <p:cNvPr id="8" name="multiligand-workbench_67_32">
            <a:extLst xmlns:a="http://schemas.openxmlformats.org/drawingml/2006/main">
              <a:ext uri="{FF2B5EF4-FFF2-40B4-BE49-F238E27FC236}">
                <a16:creationId xmlns:a16="http://schemas.microsoft.com/office/drawing/2014/main" id="{D52A0B00-3951-46A6-9784-C5708812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CryoAtom2 receptor, 100% attempt budgets</a:t>
            </a:r>
          </a:p>
        </p:txBody>
      </p:sp>
      <p:sp>
        <p:nvSpPr>
          <p:cNvPr id="9" name="multiligand-workbench_100_32">
            <a:extLst xmlns:a="http://schemas.openxmlformats.org/drawingml/2006/main">
              <a:ext uri="{FF2B5EF4-FFF2-40B4-BE49-F238E27FC236}">
                <a16:creationId xmlns:a16="http://schemas.microsoft.com/office/drawing/2014/main" id="{D5ABBB42-C303-4170-8B3C-1C289EFF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_100_60">
            <a:extLst xmlns:a="http://schemas.openxmlformats.org/drawingml/2006/main">
              <a:ext uri="{FF2B5EF4-FFF2-40B4-BE49-F238E27FC236}">
                <a16:creationId xmlns:a16="http://schemas.microsoft.com/office/drawing/2014/main" id="{08980AFC-5DF8-41BE-936B-EBADC1F0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11JB   Find+Match 78/78</a:t>
            </a:r>
          </a:p>
        </p:txBody>
      </p:sp>
      <p:sp>
        <p:nvSpPr>
          <p:cNvPr id="11" name="multiligand-workbench_100_672">
            <a:extLst xmlns:a="http://schemas.openxmlformats.org/drawingml/2006/main">
              <a:ext uri="{FF2B5EF4-FFF2-40B4-BE49-F238E27FC236}">
                <a16:creationId xmlns:a16="http://schemas.microsoft.com/office/drawing/2014/main" id="{1F6777B5-6380-4A1A-91DD-6E3FFE50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_100_700">
            <a:extLst xmlns:a="http://schemas.openxmlformats.org/drawingml/2006/main">
              <a:ext uri="{FF2B5EF4-FFF2-40B4-BE49-F238E27FC236}">
                <a16:creationId xmlns:a16="http://schemas.microsoft.com/office/drawing/2014/main" id="{022B7644-DDA3-4516-B132-DC742FF9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AR6 (f:2001)   RMSD 1.46 Å</a:t>
            </a:r>
          </a:p>
        </p:txBody>
      </p:sp>
      <p:sp>
        <p:nvSpPr>
          <p:cNvPr id="13" name="multiligand-workbench_584_32">
            <a:extLst xmlns:a="http://schemas.openxmlformats.org/drawingml/2006/main">
              <a:ext uri="{FF2B5EF4-FFF2-40B4-BE49-F238E27FC236}">
                <a16:creationId xmlns:a16="http://schemas.microsoft.com/office/drawing/2014/main" id="{64DA1E30-5BCD-47E4-B3C4-3F31ABDA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_584_60">
            <a:extLst xmlns:a="http://schemas.openxmlformats.org/drawingml/2006/main">
              <a:ext uri="{FF2B5EF4-FFF2-40B4-BE49-F238E27FC236}">
                <a16:creationId xmlns:a16="http://schemas.microsoft.com/office/drawing/2014/main" id="{540FEE8D-1DC4-49E9-B769-1D15844A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9BJJ   Find+Match 10/19</a:t>
            </a:r>
          </a:p>
        </p:txBody>
      </p:sp>
      <p:sp>
        <p:nvSpPr>
          <p:cNvPr id="15" name="multiligand-workbench_584_672">
            <a:extLst xmlns:a="http://schemas.openxmlformats.org/drawingml/2006/main">
              <a:ext uri="{FF2B5EF4-FFF2-40B4-BE49-F238E27FC236}">
                <a16:creationId xmlns:a16="http://schemas.microsoft.com/office/drawing/2014/main" id="{4B53CEFA-B005-4F3B-852B-56090F4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_584_700">
            <a:extLst xmlns:a="http://schemas.openxmlformats.org/drawingml/2006/main">
              <a:ext uri="{FF2B5EF4-FFF2-40B4-BE49-F238E27FC236}">
                <a16:creationId xmlns:a16="http://schemas.microsoft.com/office/drawing/2014/main" id="{94D171BD-D377-4DC0-A9EA-E6B20D19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A1AP0 (E:1001)   RMSD 1.06 Å</a:t>
            </a:r>
          </a:p>
        </p:txBody>
      </p:sp>
      <p:sp>
        <p:nvSpPr>
          <p:cNvPr id="17" name="multiligand-workbench_1068_32">
            <a:extLst xmlns:a="http://schemas.openxmlformats.org/drawingml/2006/main">
              <a:ext uri="{FF2B5EF4-FFF2-40B4-BE49-F238E27FC236}">
                <a16:creationId xmlns:a16="http://schemas.microsoft.com/office/drawing/2014/main" id="{274A0060-BC6F-48DD-B499-37B1583C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_1068_60">
            <a:extLst xmlns:a="http://schemas.openxmlformats.org/drawingml/2006/main">
              <a:ext uri="{FF2B5EF4-FFF2-40B4-BE49-F238E27FC236}">
                <a16:creationId xmlns:a16="http://schemas.microsoft.com/office/drawing/2014/main" id="{301152FF-1A7A-41D0-AFFC-53D855D7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9LOV   Find+Match 6/9</a:t>
            </a:r>
          </a:p>
        </p:txBody>
      </p:sp>
      <p:sp>
        <p:nvSpPr>
          <p:cNvPr id="19" name="multiligand-workbench_1068_672">
            <a:extLst xmlns:a="http://schemas.openxmlformats.org/drawingml/2006/main">
              <a:ext uri="{FF2B5EF4-FFF2-40B4-BE49-F238E27FC236}">
                <a16:creationId xmlns:a16="http://schemas.microsoft.com/office/drawing/2014/main" id="{83B786A2-36B1-4818-BD6D-4D04EB77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_1068_700">
            <a:extLst xmlns:a="http://schemas.openxmlformats.org/drawingml/2006/main">
              <a:ext uri="{FF2B5EF4-FFF2-40B4-BE49-F238E27FC236}">
                <a16:creationId xmlns:a16="http://schemas.microsoft.com/office/drawing/2014/main" id="{AF39E5B0-20DA-4AAB-A7F8-65301BA3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ADP (B:1101)   RMSD 1.09 Å</a:t>
            </a:r>
          </a:p>
        </p:txBody>
      </p:sp>
      <p:sp>
        <p:nvSpPr>
          <p:cNvPr id="21" name="multiligand-workbench_1561_32">
            <a:extLst xmlns:a="http://schemas.openxmlformats.org/drawingml/2006/main">
              <a:ext uri="{FF2B5EF4-FFF2-40B4-BE49-F238E27FC236}">
                <a16:creationId xmlns:a16="http://schemas.microsoft.com/office/drawing/2014/main" id="{AB7D39CE-303F-425B-AFF1-C2796A64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Overview: teal, correct identity; brown, other candidates. Local: teal, top-1;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4088261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13bbfc4a247b4ad4"/>
    </p:ext>
  </p:extLs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323AE-51E3-4021-9666-F3F6652A0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f5dd095bc4a68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A7572-73D6-48CD-9900-C9EAD903E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71d9e937f4023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6AD83-6987-4B74-893B-AFFD1103C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cef133a034e13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3C8F7-6344-4D6E-BABC-5D187C2FC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a8c88ae8146ed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CB1B7-7F66-457C-AE17-3091F61E2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60eb8f5514253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7AC3E-43AC-499A-AAC9-E21EB1A091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f51dd5dc14f61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-11jb_24_32">
            <a:extLst xmlns:a="http://schemas.openxmlformats.org/drawingml/2006/main">
              <a:ext uri="{FF2B5EF4-FFF2-40B4-BE49-F238E27FC236}">
                <a16:creationId xmlns:a16="http://schemas.microsoft.com/office/drawing/2014/main" id="{51CEF4E4-3010-4224-A519-7FEE9BB5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11JB   Ligand recognition and modelling</a:t>
            </a:r>
          </a:p>
        </p:txBody>
      </p:sp>
      <p:sp>
        <p:nvSpPr>
          <p:cNvPr id="8" name="multiligand-workbench-11jb_67_32">
            <a:extLst xmlns:a="http://schemas.openxmlformats.org/drawingml/2006/main">
              <a:ext uri="{FF2B5EF4-FFF2-40B4-BE49-F238E27FC236}">
                <a16:creationId xmlns:a16="http://schemas.microsoft.com/office/drawing/2014/main" id="{33EB0EFA-2933-473C-8971-7F2A2E89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78 deposited ligands, 78 small molecules, 78 eligible for modelling</a:t>
            </a:r>
          </a:p>
        </p:txBody>
      </p:sp>
      <p:sp>
        <p:nvSpPr>
          <p:cNvPr id="9" name="multiligand-workbench-11jb_100_32">
            <a:extLst xmlns:a="http://schemas.openxmlformats.org/drawingml/2006/main">
              <a:ext uri="{FF2B5EF4-FFF2-40B4-BE49-F238E27FC236}">
                <a16:creationId xmlns:a16="http://schemas.microsoft.com/office/drawing/2014/main" id="{0D2CFF46-93EB-46AE-9760-3AD6E61F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-11jb_100_60">
            <a:extLst xmlns:a="http://schemas.openxmlformats.org/drawingml/2006/main">
              <a:ext uri="{FF2B5EF4-FFF2-40B4-BE49-F238E27FC236}">
                <a16:creationId xmlns:a16="http://schemas.microsoft.com/office/drawing/2014/main" id="{9ED833B0-A33A-4AAF-8CB6-63CC08A1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Find+Match   78/78</a:t>
            </a:r>
          </a:p>
        </p:txBody>
      </p:sp>
      <p:sp>
        <p:nvSpPr>
          <p:cNvPr id="11" name="multiligand-workbench-11jb_100_672">
            <a:extLst xmlns:a="http://schemas.openxmlformats.org/drawingml/2006/main">
              <a:ext uri="{FF2B5EF4-FFF2-40B4-BE49-F238E27FC236}">
                <a16:creationId xmlns:a16="http://schemas.microsoft.com/office/drawing/2014/main" id="{EEEDDB56-D55C-457D-BD85-C6B76209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-11jb_100_700">
            <a:extLst xmlns:a="http://schemas.openxmlformats.org/drawingml/2006/main">
              <a:ext uri="{FF2B5EF4-FFF2-40B4-BE49-F238E27FC236}">
                <a16:creationId xmlns:a16="http://schemas.microsoft.com/office/drawing/2014/main" id="{6BC3DD85-05EF-4AC5-ADDC-8121902C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Find+Match   78/78</a:t>
            </a:r>
          </a:p>
        </p:txBody>
      </p:sp>
      <p:sp>
        <p:nvSpPr>
          <p:cNvPr id="13" name="multiligand-workbench-11jb_584_32">
            <a:extLst xmlns:a="http://schemas.openxmlformats.org/drawingml/2006/main">
              <a:ext uri="{FF2B5EF4-FFF2-40B4-BE49-F238E27FC236}">
                <a16:creationId xmlns:a16="http://schemas.microsoft.com/office/drawing/2014/main" id="{3C3D140A-384F-4BA6-9918-C1BFDAD9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-11jb_584_60">
            <a:extLst xmlns:a="http://schemas.openxmlformats.org/drawingml/2006/main">
              <a:ext uri="{FF2B5EF4-FFF2-40B4-BE49-F238E27FC236}">
                <a16:creationId xmlns:a16="http://schemas.microsoft.com/office/drawing/2014/main" id="{ADA781A0-8656-46D2-85CB-C15DC182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Pipeline top-1 &lt; 2 Å   76/78</a:t>
            </a:r>
          </a:p>
        </p:txBody>
      </p:sp>
      <p:sp>
        <p:nvSpPr>
          <p:cNvPr id="15" name="multiligand-workbench-11jb_584_672">
            <a:extLst xmlns:a="http://schemas.openxmlformats.org/drawingml/2006/main">
              <a:ext uri="{FF2B5EF4-FFF2-40B4-BE49-F238E27FC236}">
                <a16:creationId xmlns:a16="http://schemas.microsoft.com/office/drawing/2014/main" id="{A0A18B80-C8E5-4D76-90CA-C4B7EF7E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-11jb_584_700">
            <a:extLst xmlns:a="http://schemas.openxmlformats.org/drawingml/2006/main">
              <a:ext uri="{FF2B5EF4-FFF2-40B4-BE49-F238E27FC236}">
                <a16:creationId xmlns:a16="http://schemas.microsoft.com/office/drawing/2014/main" id="{C69470DE-0CE7-423E-9973-3D07E3DD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Pipeline top-1 &lt; 2 Å   78/78</a:t>
            </a:r>
          </a:p>
        </p:txBody>
      </p:sp>
      <p:sp>
        <p:nvSpPr>
          <p:cNvPr id="17" name="multiligand-workbench-11jb_1068_32">
            <a:extLst xmlns:a="http://schemas.openxmlformats.org/drawingml/2006/main">
              <a:ext uri="{FF2B5EF4-FFF2-40B4-BE49-F238E27FC236}">
                <a16:creationId xmlns:a16="http://schemas.microsoft.com/office/drawing/2014/main" id="{4BA5676C-554F-459D-BEC5-93C2FE1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-11jb_1068_60">
            <a:extLst xmlns:a="http://schemas.openxmlformats.org/drawingml/2006/main">
              <a:ext uri="{FF2B5EF4-FFF2-40B4-BE49-F238E27FC236}">
                <a16:creationId xmlns:a16="http://schemas.microsoft.com/office/drawing/2014/main" id="{225C1027-FBC7-41E9-B7EA-7B634498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AR6   RMSD 1.46 Å</a:t>
            </a:r>
          </a:p>
        </p:txBody>
      </p:sp>
      <p:sp>
        <p:nvSpPr>
          <p:cNvPr id="19" name="multiligand-workbench-11jb_1068_672">
            <a:extLst xmlns:a="http://schemas.openxmlformats.org/drawingml/2006/main">
              <a:ext uri="{FF2B5EF4-FFF2-40B4-BE49-F238E27FC236}">
                <a16:creationId xmlns:a16="http://schemas.microsoft.com/office/drawing/2014/main" id="{A17A041F-CCFF-4D4B-92C5-27CD76F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-11jb_1068_700">
            <a:extLst xmlns:a="http://schemas.openxmlformats.org/drawingml/2006/main">
              <a:ext uri="{FF2B5EF4-FFF2-40B4-BE49-F238E27FC236}">
                <a16:creationId xmlns:a16="http://schemas.microsoft.com/office/drawing/2014/main" id="{9BBA6012-FD90-47E5-98D9-78003359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AR6   RMSD 0.86 Å</a:t>
            </a:r>
          </a:p>
        </p:txBody>
      </p:sp>
      <p:sp>
        <p:nvSpPr>
          <p:cNvPr id="21" name="multiligand-workbench-11jb_1561_32">
            <a:extLst xmlns:a="http://schemas.openxmlformats.org/drawingml/2006/main">
              <a:ext uri="{FF2B5EF4-FFF2-40B4-BE49-F238E27FC236}">
                <a16:creationId xmlns:a16="http://schemas.microsoft.com/office/drawing/2014/main" id="{891530CC-E272-4095-9A54-32A78E33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Find+Match: teal, correct identity. Pipeline: teal, RMSD &lt; 2 Å; brown, ≥ 2 Å.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1712324758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a479cd727d3941c0"/>
    </p:ext>
  </p:extLs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D81B4-FABD-4184-B199-A0F7F3772F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8d120d867495c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97BA0-7467-473A-B1AC-A93C8643C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d2bcb82b140d3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70F5C-0954-4956-8189-01525CFD4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3fdc94130448b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032B9-ADC4-48F5-96B2-EB96D2AC4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195be8fff40cb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2D67F-5EDB-40F2-BEC1-6C666269D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f4697f35c42b5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8DB5D-C4F2-44BE-9FA2-F4C881A9A6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f7c40b6f6454b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-9bjj_24_32">
            <a:extLst xmlns:a="http://schemas.openxmlformats.org/drawingml/2006/main">
              <a:ext uri="{FF2B5EF4-FFF2-40B4-BE49-F238E27FC236}">
                <a16:creationId xmlns:a16="http://schemas.microsoft.com/office/drawing/2014/main" id="{377B27E8-7E36-4873-9666-82419623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9BJJ   Ligand recognition and modelling</a:t>
            </a:r>
          </a:p>
        </p:txBody>
      </p:sp>
      <p:sp>
        <p:nvSpPr>
          <p:cNvPr id="8" name="multiligand-workbench-9bjj_67_32">
            <a:extLst xmlns:a="http://schemas.openxmlformats.org/drawingml/2006/main">
              <a:ext uri="{FF2B5EF4-FFF2-40B4-BE49-F238E27FC236}">
                <a16:creationId xmlns:a16="http://schemas.microsoft.com/office/drawing/2014/main" id="{0A1196CF-99BB-42DE-B959-E063EF8B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19 deposited ligands, 11 small molecules, 11 eligible for modelling</a:t>
            </a:r>
          </a:p>
        </p:txBody>
      </p:sp>
      <p:sp>
        <p:nvSpPr>
          <p:cNvPr id="9" name="multiligand-workbench-9bjj_100_32">
            <a:extLst xmlns:a="http://schemas.openxmlformats.org/drawingml/2006/main">
              <a:ext uri="{FF2B5EF4-FFF2-40B4-BE49-F238E27FC236}">
                <a16:creationId xmlns:a16="http://schemas.microsoft.com/office/drawing/2014/main" id="{22F41479-4B3A-49E3-B2F4-C1F09762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-9bjj_100_60">
            <a:extLst xmlns:a="http://schemas.openxmlformats.org/drawingml/2006/main">
              <a:ext uri="{FF2B5EF4-FFF2-40B4-BE49-F238E27FC236}">
                <a16:creationId xmlns:a16="http://schemas.microsoft.com/office/drawing/2014/main" id="{404735E9-F807-4910-B800-CB42EAF6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Find+Match   10/19</a:t>
            </a:r>
          </a:p>
        </p:txBody>
      </p:sp>
      <p:sp>
        <p:nvSpPr>
          <p:cNvPr id="11" name="multiligand-workbench-9bjj_100_672">
            <a:extLst xmlns:a="http://schemas.openxmlformats.org/drawingml/2006/main">
              <a:ext uri="{FF2B5EF4-FFF2-40B4-BE49-F238E27FC236}">
                <a16:creationId xmlns:a16="http://schemas.microsoft.com/office/drawing/2014/main" id="{2987627B-731B-4FB0-B9E1-A49FF042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-9bjj_100_700">
            <a:extLst xmlns:a="http://schemas.openxmlformats.org/drawingml/2006/main">
              <a:ext uri="{FF2B5EF4-FFF2-40B4-BE49-F238E27FC236}">
                <a16:creationId xmlns:a16="http://schemas.microsoft.com/office/drawing/2014/main" id="{8D9BE0CB-8C63-4EE1-B6A1-A07D5157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Find+Match   10/19</a:t>
            </a:r>
          </a:p>
        </p:txBody>
      </p:sp>
      <p:sp>
        <p:nvSpPr>
          <p:cNvPr id="13" name="multiligand-workbench-9bjj_584_32">
            <a:extLst xmlns:a="http://schemas.openxmlformats.org/drawingml/2006/main">
              <a:ext uri="{FF2B5EF4-FFF2-40B4-BE49-F238E27FC236}">
                <a16:creationId xmlns:a16="http://schemas.microsoft.com/office/drawing/2014/main" id="{847E7DC9-6338-46E1-BA5D-C95C528D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-9bjj_584_60">
            <a:extLst xmlns:a="http://schemas.openxmlformats.org/drawingml/2006/main">
              <a:ext uri="{FF2B5EF4-FFF2-40B4-BE49-F238E27FC236}">
                <a16:creationId xmlns:a16="http://schemas.microsoft.com/office/drawing/2014/main" id="{DEF6268A-942F-4F35-ADB1-40AB16D3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Pipeline top-1 &lt; 2 Å   10/11</a:t>
            </a:r>
          </a:p>
        </p:txBody>
      </p:sp>
      <p:sp>
        <p:nvSpPr>
          <p:cNvPr id="15" name="multiligand-workbench-9bjj_584_672">
            <a:extLst xmlns:a="http://schemas.openxmlformats.org/drawingml/2006/main">
              <a:ext uri="{FF2B5EF4-FFF2-40B4-BE49-F238E27FC236}">
                <a16:creationId xmlns:a16="http://schemas.microsoft.com/office/drawing/2014/main" id="{560FBCD0-C0C5-4FD3-8EA8-AD969CEC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-9bjj_584_700">
            <a:extLst xmlns:a="http://schemas.openxmlformats.org/drawingml/2006/main">
              <a:ext uri="{FF2B5EF4-FFF2-40B4-BE49-F238E27FC236}">
                <a16:creationId xmlns:a16="http://schemas.microsoft.com/office/drawing/2014/main" id="{9A4026CD-54E6-4EAD-AE00-E32FB109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Pipeline top-1 &lt; 2 Å   10/11</a:t>
            </a:r>
          </a:p>
        </p:txBody>
      </p:sp>
      <p:sp>
        <p:nvSpPr>
          <p:cNvPr id="17" name="multiligand-workbench-9bjj_1068_32">
            <a:extLst xmlns:a="http://schemas.openxmlformats.org/drawingml/2006/main">
              <a:ext uri="{FF2B5EF4-FFF2-40B4-BE49-F238E27FC236}">
                <a16:creationId xmlns:a16="http://schemas.microsoft.com/office/drawing/2014/main" id="{C861AD9B-30D7-4AB6-8A97-BB6F68D6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-9bjj_1068_60">
            <a:extLst xmlns:a="http://schemas.openxmlformats.org/drawingml/2006/main">
              <a:ext uri="{FF2B5EF4-FFF2-40B4-BE49-F238E27FC236}">
                <a16:creationId xmlns:a16="http://schemas.microsoft.com/office/drawing/2014/main" id="{FC82C6FA-8EAD-4B8F-8B2B-5BBFA37F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ATP   RMSD 0.80 Å</a:t>
            </a:r>
          </a:p>
        </p:txBody>
      </p:sp>
      <p:sp>
        <p:nvSpPr>
          <p:cNvPr id="19" name="multiligand-workbench-9bjj_1068_672">
            <a:extLst xmlns:a="http://schemas.openxmlformats.org/drawingml/2006/main">
              <a:ext uri="{FF2B5EF4-FFF2-40B4-BE49-F238E27FC236}">
                <a16:creationId xmlns:a16="http://schemas.microsoft.com/office/drawing/2014/main" id="{7F0FA3DD-BA77-4D43-93A1-25AA6E08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-9bjj_1068_700">
            <a:extLst xmlns:a="http://schemas.openxmlformats.org/drawingml/2006/main">
              <a:ext uri="{FF2B5EF4-FFF2-40B4-BE49-F238E27FC236}">
                <a16:creationId xmlns:a16="http://schemas.microsoft.com/office/drawing/2014/main" id="{46B05F39-4D5F-4207-AA9D-E73A6F04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ATP   RMSD 0.93 Å</a:t>
            </a:r>
          </a:p>
        </p:txBody>
      </p:sp>
      <p:sp>
        <p:nvSpPr>
          <p:cNvPr id="21" name="multiligand-workbench-9bjj_1561_32">
            <a:extLst xmlns:a="http://schemas.openxmlformats.org/drawingml/2006/main">
              <a:ext uri="{FF2B5EF4-FFF2-40B4-BE49-F238E27FC236}">
                <a16:creationId xmlns:a16="http://schemas.microsoft.com/office/drawing/2014/main" id="{0FC9A742-D760-4FC6-9EBA-8BD91057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Find+Match: teal, correct identity. Pipeline: teal, RMSD &lt; 2 Å; brown, ≥ 2 Å.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479525109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fc00167be38e4d8f"/>
    </p:ext>
  </p:extLs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ABBB8A-30C2-4145-A199-28221F1B9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638805b714397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3B55A-2DE9-4869-B5D4-0C94F39AA8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e8a9c18e041a4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2C43A-620A-4D3A-9D94-CC259B8C1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817a7eeb34c14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04F36-22D7-44D7-A885-51667C8307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f9b6b31bc4443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F6CF5-6330-41D6-A8D9-D50E4CC8B9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80aca060d4eb6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3B305-05FA-4DFA-8679-4B2EF5D81F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e06dab972405b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-9lov_24_32">
            <a:extLst xmlns:a="http://schemas.openxmlformats.org/drawingml/2006/main">
              <a:ext uri="{FF2B5EF4-FFF2-40B4-BE49-F238E27FC236}">
                <a16:creationId xmlns:a16="http://schemas.microsoft.com/office/drawing/2014/main" id="{9AA0966C-EA3B-47AE-AAFB-5937C77C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9LOV   Ligand recognition and modelling</a:t>
            </a:r>
          </a:p>
        </p:txBody>
      </p:sp>
      <p:sp>
        <p:nvSpPr>
          <p:cNvPr id="8" name="multiligand-workbench-9lov_67_32">
            <a:extLst xmlns:a="http://schemas.openxmlformats.org/drawingml/2006/main">
              <a:ext uri="{FF2B5EF4-FFF2-40B4-BE49-F238E27FC236}">
                <a16:creationId xmlns:a16="http://schemas.microsoft.com/office/drawing/2014/main" id="{1B6F5E8E-1596-485E-BF89-2E2EF3A0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 deposited ligands, 3 small molecules, 3 eligible for modelling</a:t>
            </a:r>
          </a:p>
        </p:txBody>
      </p:sp>
      <p:sp>
        <p:nvSpPr>
          <p:cNvPr id="9" name="multiligand-workbench-9lov_100_32">
            <a:extLst xmlns:a="http://schemas.openxmlformats.org/drawingml/2006/main">
              <a:ext uri="{FF2B5EF4-FFF2-40B4-BE49-F238E27FC236}">
                <a16:creationId xmlns:a16="http://schemas.microsoft.com/office/drawing/2014/main" id="{ED994F57-8F2B-4C44-AED4-78CCD591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-9lov_100_60">
            <a:extLst xmlns:a="http://schemas.openxmlformats.org/drawingml/2006/main">
              <a:ext uri="{FF2B5EF4-FFF2-40B4-BE49-F238E27FC236}">
                <a16:creationId xmlns:a16="http://schemas.microsoft.com/office/drawing/2014/main" id="{75E4D7FE-ABD0-42FB-BA3A-486B9D6D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Find+Match   6/9</a:t>
            </a:r>
          </a:p>
        </p:txBody>
      </p:sp>
      <p:sp>
        <p:nvSpPr>
          <p:cNvPr id="11" name="multiligand-workbench-9lov_100_672">
            <a:extLst xmlns:a="http://schemas.openxmlformats.org/drawingml/2006/main">
              <a:ext uri="{FF2B5EF4-FFF2-40B4-BE49-F238E27FC236}">
                <a16:creationId xmlns:a16="http://schemas.microsoft.com/office/drawing/2014/main" id="{9F977E86-95C9-4918-91D2-CE854EE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-9lov_100_700">
            <a:extLst xmlns:a="http://schemas.openxmlformats.org/drawingml/2006/main">
              <a:ext uri="{FF2B5EF4-FFF2-40B4-BE49-F238E27FC236}">
                <a16:creationId xmlns:a16="http://schemas.microsoft.com/office/drawing/2014/main" id="{D963A838-7A07-4154-B0AC-708680A8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Find+Match   6/9</a:t>
            </a:r>
          </a:p>
        </p:txBody>
      </p:sp>
      <p:sp>
        <p:nvSpPr>
          <p:cNvPr id="13" name="multiligand-workbench-9lov_584_32">
            <a:extLst xmlns:a="http://schemas.openxmlformats.org/drawingml/2006/main">
              <a:ext uri="{FF2B5EF4-FFF2-40B4-BE49-F238E27FC236}">
                <a16:creationId xmlns:a16="http://schemas.microsoft.com/office/drawing/2014/main" id="{A193B03D-F3B5-4360-8F34-9E47C85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-9lov_584_60">
            <a:extLst xmlns:a="http://schemas.openxmlformats.org/drawingml/2006/main">
              <a:ext uri="{FF2B5EF4-FFF2-40B4-BE49-F238E27FC236}">
                <a16:creationId xmlns:a16="http://schemas.microsoft.com/office/drawing/2014/main" id="{6308DA26-FA01-4450-9D3D-7E8D82AA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Pipeline top-1 &lt; 2 Å   3/3</a:t>
            </a:r>
          </a:p>
        </p:txBody>
      </p:sp>
      <p:sp>
        <p:nvSpPr>
          <p:cNvPr id="15" name="multiligand-workbench-9lov_584_672">
            <a:extLst xmlns:a="http://schemas.openxmlformats.org/drawingml/2006/main">
              <a:ext uri="{FF2B5EF4-FFF2-40B4-BE49-F238E27FC236}">
                <a16:creationId xmlns:a16="http://schemas.microsoft.com/office/drawing/2014/main" id="{88E1F78F-15AF-478F-93E7-C54DA981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-9lov_584_700">
            <a:extLst xmlns:a="http://schemas.openxmlformats.org/drawingml/2006/main">
              <a:ext uri="{FF2B5EF4-FFF2-40B4-BE49-F238E27FC236}">
                <a16:creationId xmlns:a16="http://schemas.microsoft.com/office/drawing/2014/main" id="{4E807651-F0F6-4537-8E1D-554F8E20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Pipeline top-1 &lt; 2 Å   3/3</a:t>
            </a:r>
          </a:p>
        </p:txBody>
      </p:sp>
      <p:sp>
        <p:nvSpPr>
          <p:cNvPr id="17" name="multiligand-workbench-9lov_1068_32">
            <a:extLst xmlns:a="http://schemas.openxmlformats.org/drawingml/2006/main">
              <a:ext uri="{FF2B5EF4-FFF2-40B4-BE49-F238E27FC236}">
                <a16:creationId xmlns:a16="http://schemas.microsoft.com/office/drawing/2014/main" id="{71B37E77-22DF-4406-A148-FD71682B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-9lov_1068_60">
            <a:extLst xmlns:a="http://schemas.openxmlformats.org/drawingml/2006/main">
              <a:ext uri="{FF2B5EF4-FFF2-40B4-BE49-F238E27FC236}">
                <a16:creationId xmlns:a16="http://schemas.microsoft.com/office/drawing/2014/main" id="{DE0CFA5F-0983-42BF-B751-C284B9C3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ADP   RMSD 1.09 Å</a:t>
            </a:r>
          </a:p>
        </p:txBody>
      </p:sp>
      <p:sp>
        <p:nvSpPr>
          <p:cNvPr id="19" name="multiligand-workbench-9lov_1068_672">
            <a:extLst xmlns:a="http://schemas.openxmlformats.org/drawingml/2006/main">
              <a:ext uri="{FF2B5EF4-FFF2-40B4-BE49-F238E27FC236}">
                <a16:creationId xmlns:a16="http://schemas.microsoft.com/office/drawing/2014/main" id="{D1D5BFEE-10FE-40AD-96AB-77738752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-9lov_1068_700">
            <a:extLst xmlns:a="http://schemas.openxmlformats.org/drawingml/2006/main">
              <a:ext uri="{FF2B5EF4-FFF2-40B4-BE49-F238E27FC236}">
                <a16:creationId xmlns:a16="http://schemas.microsoft.com/office/drawing/2014/main" id="{F291D86E-0E8A-4A48-B96A-29CEA6D2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ADP   RMSD 1.04 Å</a:t>
            </a:r>
          </a:p>
        </p:txBody>
      </p:sp>
      <p:sp>
        <p:nvSpPr>
          <p:cNvPr id="21" name="multiligand-workbench-9lov_1561_32">
            <a:extLst xmlns:a="http://schemas.openxmlformats.org/drawingml/2006/main">
              <a:ext uri="{FF2B5EF4-FFF2-40B4-BE49-F238E27FC236}">
                <a16:creationId xmlns:a16="http://schemas.microsoft.com/office/drawing/2014/main" id="{5AE44B53-1AEA-44FB-A7C6-2E415F33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Find+Match: teal, correct identity. Pipeline: teal, RMSD &lt; 2 Å; brown, ≥ 2 Å.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1109175664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9573787c550a4947"/>
    </p:ext>
  </p:extLst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E38C2-47DA-40D7-9FD9-3C0A8534EF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1aa0d8c02432b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09058-2347-4CAB-9ED1-E959012B2F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53e3605ed4838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073A1-1026-437A-9FDC-44C1D76A3E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bd88621174ecc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8D6A8-3FD6-40AD-95B1-FE1B89DBC6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17a262ac242de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89008-708A-4AD1-8B9A-F094168F3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6353dcb994480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D40D8-A526-4E50-966B-6FDE7958F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a646e8d2e4d1e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-9okp_24_32">
            <a:extLst xmlns:a="http://schemas.openxmlformats.org/drawingml/2006/main">
              <a:ext uri="{FF2B5EF4-FFF2-40B4-BE49-F238E27FC236}">
                <a16:creationId xmlns:a16="http://schemas.microsoft.com/office/drawing/2014/main" id="{27146A77-D318-4B6F-B16B-77E0CD9F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9OKP   Ligand recognition and modelling</a:t>
            </a:r>
          </a:p>
        </p:txBody>
      </p:sp>
      <p:sp>
        <p:nvSpPr>
          <p:cNvPr id="8" name="multiligand-workbench-9okp_67_32">
            <a:extLst xmlns:a="http://schemas.openxmlformats.org/drawingml/2006/main">
              <a:ext uri="{FF2B5EF4-FFF2-40B4-BE49-F238E27FC236}">
                <a16:creationId xmlns:a16="http://schemas.microsoft.com/office/drawing/2014/main" id="{49C5EEF4-2167-45AC-AAE1-20181332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 deposited ligands, 2 small molecules, 2 eligible for modelling</a:t>
            </a:r>
          </a:p>
        </p:txBody>
      </p:sp>
      <p:sp>
        <p:nvSpPr>
          <p:cNvPr id="9" name="multiligand-workbench-9okp_100_32">
            <a:extLst xmlns:a="http://schemas.openxmlformats.org/drawingml/2006/main">
              <a:ext uri="{FF2B5EF4-FFF2-40B4-BE49-F238E27FC236}">
                <a16:creationId xmlns:a16="http://schemas.microsoft.com/office/drawing/2014/main" id="{803EA119-0B75-49BF-B51F-1EEADEBE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-9okp_100_60">
            <a:extLst xmlns:a="http://schemas.openxmlformats.org/drawingml/2006/main">
              <a:ext uri="{FF2B5EF4-FFF2-40B4-BE49-F238E27FC236}">
                <a16:creationId xmlns:a16="http://schemas.microsoft.com/office/drawing/2014/main" id="{07CA488A-A33F-42C8-9DE0-0B8712A3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Find+Match   6/8</a:t>
            </a:r>
          </a:p>
        </p:txBody>
      </p:sp>
      <p:sp>
        <p:nvSpPr>
          <p:cNvPr id="11" name="multiligand-workbench-9okp_100_672">
            <a:extLst xmlns:a="http://schemas.openxmlformats.org/drawingml/2006/main">
              <a:ext uri="{FF2B5EF4-FFF2-40B4-BE49-F238E27FC236}">
                <a16:creationId xmlns:a16="http://schemas.microsoft.com/office/drawing/2014/main" id="{8EEA22D1-560A-46AB-9847-8EB28FFA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-9okp_100_700">
            <a:extLst xmlns:a="http://schemas.openxmlformats.org/drawingml/2006/main">
              <a:ext uri="{FF2B5EF4-FFF2-40B4-BE49-F238E27FC236}">
                <a16:creationId xmlns:a16="http://schemas.microsoft.com/office/drawing/2014/main" id="{5A5FB91F-F40C-48E6-8C8B-0B94C51C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Find+Match   6/8</a:t>
            </a:r>
          </a:p>
        </p:txBody>
      </p:sp>
      <p:sp>
        <p:nvSpPr>
          <p:cNvPr id="13" name="multiligand-workbench-9okp_584_32">
            <a:extLst xmlns:a="http://schemas.openxmlformats.org/drawingml/2006/main">
              <a:ext uri="{FF2B5EF4-FFF2-40B4-BE49-F238E27FC236}">
                <a16:creationId xmlns:a16="http://schemas.microsoft.com/office/drawing/2014/main" id="{E6C06D11-603E-4C4D-A8FB-D74F9540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-9okp_584_60">
            <a:extLst xmlns:a="http://schemas.openxmlformats.org/drawingml/2006/main">
              <a:ext uri="{FF2B5EF4-FFF2-40B4-BE49-F238E27FC236}">
                <a16:creationId xmlns:a16="http://schemas.microsoft.com/office/drawing/2014/main" id="{F2CC8186-9D45-4450-81AA-D9F7D0D5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Pipeline top-1 &lt; 2 Å   2/2</a:t>
            </a:r>
          </a:p>
        </p:txBody>
      </p:sp>
      <p:sp>
        <p:nvSpPr>
          <p:cNvPr id="15" name="multiligand-workbench-9okp_584_672">
            <a:extLst xmlns:a="http://schemas.openxmlformats.org/drawingml/2006/main">
              <a:ext uri="{FF2B5EF4-FFF2-40B4-BE49-F238E27FC236}">
                <a16:creationId xmlns:a16="http://schemas.microsoft.com/office/drawing/2014/main" id="{0D617B7B-F69E-48B3-BC13-485EBECF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-9okp_584_700">
            <a:extLst xmlns:a="http://schemas.openxmlformats.org/drawingml/2006/main">
              <a:ext uri="{FF2B5EF4-FFF2-40B4-BE49-F238E27FC236}">
                <a16:creationId xmlns:a16="http://schemas.microsoft.com/office/drawing/2014/main" id="{E4789831-97D5-44DD-958A-D4B7CCE8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Pipeline top-1 &lt; 2 Å   2/2</a:t>
            </a:r>
          </a:p>
        </p:txBody>
      </p:sp>
      <p:sp>
        <p:nvSpPr>
          <p:cNvPr id="17" name="multiligand-workbench-9okp_1068_32">
            <a:extLst xmlns:a="http://schemas.openxmlformats.org/drawingml/2006/main">
              <a:ext uri="{FF2B5EF4-FFF2-40B4-BE49-F238E27FC236}">
                <a16:creationId xmlns:a16="http://schemas.microsoft.com/office/drawing/2014/main" id="{811AD010-F6C1-420C-98CB-B09D6741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-9okp_1068_60">
            <a:extLst xmlns:a="http://schemas.openxmlformats.org/drawingml/2006/main">
              <a:ext uri="{FF2B5EF4-FFF2-40B4-BE49-F238E27FC236}">
                <a16:creationId xmlns:a16="http://schemas.microsoft.com/office/drawing/2014/main" id="{84AC15B0-5325-448E-9918-E856E81E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ATP   RMSD 0.89 Å</a:t>
            </a:r>
          </a:p>
        </p:txBody>
      </p:sp>
      <p:sp>
        <p:nvSpPr>
          <p:cNvPr id="19" name="multiligand-workbench-9okp_1068_672">
            <a:extLst xmlns:a="http://schemas.openxmlformats.org/drawingml/2006/main">
              <a:ext uri="{FF2B5EF4-FFF2-40B4-BE49-F238E27FC236}">
                <a16:creationId xmlns:a16="http://schemas.microsoft.com/office/drawing/2014/main" id="{4EB5C5B2-7923-4283-8171-58EA7CFC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-9okp_1068_700">
            <a:extLst xmlns:a="http://schemas.openxmlformats.org/drawingml/2006/main">
              <a:ext uri="{FF2B5EF4-FFF2-40B4-BE49-F238E27FC236}">
                <a16:creationId xmlns:a16="http://schemas.microsoft.com/office/drawing/2014/main" id="{91271BFA-6AF0-4625-BE8D-95E2F79D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ATP   RMSD 1.31 Å</a:t>
            </a:r>
          </a:p>
        </p:txBody>
      </p:sp>
      <p:sp>
        <p:nvSpPr>
          <p:cNvPr id="21" name="multiligand-workbench-9okp_1561_32">
            <a:extLst xmlns:a="http://schemas.openxmlformats.org/drawingml/2006/main">
              <a:ext uri="{FF2B5EF4-FFF2-40B4-BE49-F238E27FC236}">
                <a16:creationId xmlns:a16="http://schemas.microsoft.com/office/drawing/2014/main" id="{1C6E4504-A8FA-4482-9C39-76CC60A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Find+Match: teal, correct identity. Pipeline: teal, RMSD &lt; 2 Å; brown, ≥ 2 Å.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30841278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16f979159d5344b0"/>
    </p:ext>
  </p:extLst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40BFA-C694-45DA-8A15-512003C7E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79537f6dd4b00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80F9C-FED6-4E91-BF28-E4F5EA190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ef73b2652460c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2376C-DB5B-410A-8C3B-017DF0CD4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38a92b373476a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79086-5F5A-4845-A941-4EC80C3E3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a6174f33843b4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74698-CCD8-4EA9-850B-C4215F72B0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6c1d13d9a4669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DCA63-26E9-46B1-BDEE-8CF7F2613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ea284763e45d3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-30ga_24_32">
            <a:extLst xmlns:a="http://schemas.openxmlformats.org/drawingml/2006/main">
              <a:ext uri="{FF2B5EF4-FFF2-40B4-BE49-F238E27FC236}">
                <a16:creationId xmlns:a16="http://schemas.microsoft.com/office/drawing/2014/main" id="{223E1839-0F2B-482F-B0F8-68ECE7CD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30GA   Ligand recognition and modelling</a:t>
            </a:r>
          </a:p>
        </p:txBody>
      </p:sp>
      <p:sp>
        <p:nvSpPr>
          <p:cNvPr id="8" name="multiligand-workbench-30ga_67_32">
            <a:extLst xmlns:a="http://schemas.openxmlformats.org/drawingml/2006/main">
              <a:ext uri="{FF2B5EF4-FFF2-40B4-BE49-F238E27FC236}">
                <a16:creationId xmlns:a16="http://schemas.microsoft.com/office/drawing/2014/main" id="{BA4F3825-170D-4B12-99C6-38D8EAC3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 deposited ligands, 7 small molecules, 7 eligible for modelling</a:t>
            </a:r>
          </a:p>
        </p:txBody>
      </p:sp>
      <p:sp>
        <p:nvSpPr>
          <p:cNvPr id="9" name="multiligand-workbench-30ga_100_32">
            <a:extLst xmlns:a="http://schemas.openxmlformats.org/drawingml/2006/main">
              <a:ext uri="{FF2B5EF4-FFF2-40B4-BE49-F238E27FC236}">
                <a16:creationId xmlns:a16="http://schemas.microsoft.com/office/drawing/2014/main" id="{18ADF2AE-D7E3-45A5-9452-8681D8CB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-30ga_100_60">
            <a:extLst xmlns:a="http://schemas.openxmlformats.org/drawingml/2006/main">
              <a:ext uri="{FF2B5EF4-FFF2-40B4-BE49-F238E27FC236}">
                <a16:creationId xmlns:a16="http://schemas.microsoft.com/office/drawing/2014/main" id="{EF1E74B0-82CB-4738-A862-5A1A0827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Find+Match   11/20</a:t>
            </a:r>
          </a:p>
        </p:txBody>
      </p:sp>
      <p:sp>
        <p:nvSpPr>
          <p:cNvPr id="11" name="multiligand-workbench-30ga_100_672">
            <a:extLst xmlns:a="http://schemas.openxmlformats.org/drawingml/2006/main">
              <a:ext uri="{FF2B5EF4-FFF2-40B4-BE49-F238E27FC236}">
                <a16:creationId xmlns:a16="http://schemas.microsoft.com/office/drawing/2014/main" id="{37719B9A-BA16-490D-A669-4EC215A4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-30ga_100_700">
            <a:extLst xmlns:a="http://schemas.openxmlformats.org/drawingml/2006/main">
              <a:ext uri="{FF2B5EF4-FFF2-40B4-BE49-F238E27FC236}">
                <a16:creationId xmlns:a16="http://schemas.microsoft.com/office/drawing/2014/main" id="{6BB74312-D72F-4011-BDE2-D3D608F2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Find+Match   11/20</a:t>
            </a:r>
          </a:p>
        </p:txBody>
      </p:sp>
      <p:sp>
        <p:nvSpPr>
          <p:cNvPr id="13" name="multiligand-workbench-30ga_584_32">
            <a:extLst xmlns:a="http://schemas.openxmlformats.org/drawingml/2006/main">
              <a:ext uri="{FF2B5EF4-FFF2-40B4-BE49-F238E27FC236}">
                <a16:creationId xmlns:a16="http://schemas.microsoft.com/office/drawing/2014/main" id="{3272B655-8353-40BE-959C-D25B3DE3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-30ga_584_60">
            <a:extLst xmlns:a="http://schemas.openxmlformats.org/drawingml/2006/main">
              <a:ext uri="{FF2B5EF4-FFF2-40B4-BE49-F238E27FC236}">
                <a16:creationId xmlns:a16="http://schemas.microsoft.com/office/drawing/2014/main" id="{D2BF9B13-F7AE-46F4-A9FE-F77D013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Pipeline top-1 &lt; 2 Å   5/7</a:t>
            </a:r>
          </a:p>
        </p:txBody>
      </p:sp>
      <p:sp>
        <p:nvSpPr>
          <p:cNvPr id="15" name="multiligand-workbench-30ga_584_672">
            <a:extLst xmlns:a="http://schemas.openxmlformats.org/drawingml/2006/main">
              <a:ext uri="{FF2B5EF4-FFF2-40B4-BE49-F238E27FC236}">
                <a16:creationId xmlns:a16="http://schemas.microsoft.com/office/drawing/2014/main" id="{D5D16D98-41E5-45DF-A52C-B4B2FC9B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-30ga_584_700">
            <a:extLst xmlns:a="http://schemas.openxmlformats.org/drawingml/2006/main">
              <a:ext uri="{FF2B5EF4-FFF2-40B4-BE49-F238E27FC236}">
                <a16:creationId xmlns:a16="http://schemas.microsoft.com/office/drawing/2014/main" id="{14D07711-5D95-492B-9A0E-6FBF617C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Pipeline top-1 &lt; 2 Å   7/7</a:t>
            </a:r>
          </a:p>
        </p:txBody>
      </p:sp>
      <p:sp>
        <p:nvSpPr>
          <p:cNvPr id="17" name="multiligand-workbench-30ga_1068_32">
            <a:extLst xmlns:a="http://schemas.openxmlformats.org/drawingml/2006/main">
              <a:ext uri="{FF2B5EF4-FFF2-40B4-BE49-F238E27FC236}">
                <a16:creationId xmlns:a16="http://schemas.microsoft.com/office/drawing/2014/main" id="{6E746429-26C6-4B05-B66F-10D98529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-30ga_1068_60">
            <a:extLst xmlns:a="http://schemas.openxmlformats.org/drawingml/2006/main">
              <a:ext uri="{FF2B5EF4-FFF2-40B4-BE49-F238E27FC236}">
                <a16:creationId xmlns:a16="http://schemas.microsoft.com/office/drawing/2014/main" id="{4B7D62C6-BF92-4C1B-AE42-A444B00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ATP   RMSD 1.04 Å</a:t>
            </a:r>
          </a:p>
        </p:txBody>
      </p:sp>
      <p:sp>
        <p:nvSpPr>
          <p:cNvPr id="19" name="multiligand-workbench-30ga_1068_672">
            <a:extLst xmlns:a="http://schemas.openxmlformats.org/drawingml/2006/main">
              <a:ext uri="{FF2B5EF4-FFF2-40B4-BE49-F238E27FC236}">
                <a16:creationId xmlns:a16="http://schemas.microsoft.com/office/drawing/2014/main" id="{14FC83EE-8F01-46C9-91FA-FEBD9E7C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-30ga_1068_700">
            <a:extLst xmlns:a="http://schemas.openxmlformats.org/drawingml/2006/main">
              <a:ext uri="{FF2B5EF4-FFF2-40B4-BE49-F238E27FC236}">
                <a16:creationId xmlns:a16="http://schemas.microsoft.com/office/drawing/2014/main" id="{C64C556C-0286-400B-86A9-33A488ED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ATP   RMSD 0.84 Å</a:t>
            </a:r>
          </a:p>
        </p:txBody>
      </p:sp>
      <p:sp>
        <p:nvSpPr>
          <p:cNvPr id="21" name="multiligand-workbench-30ga_1561_32">
            <a:extLst xmlns:a="http://schemas.openxmlformats.org/drawingml/2006/main">
              <a:ext uri="{FF2B5EF4-FFF2-40B4-BE49-F238E27FC236}">
                <a16:creationId xmlns:a16="http://schemas.microsoft.com/office/drawing/2014/main" id="{ADA9375F-F4DE-415F-8799-EA17E0BB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Find+Match: teal, correct identity. Pipeline: teal, RMSD &lt; 2 Å; brown, ≥ 2 Å.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254773145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6b5c23e1b52d4e16"/>
    </p:ext>
  </p:extLst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4F3AC-C00E-4C6B-AB4B-4C0704A5AB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f60afaf9b4ce0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DD20A-CAA6-4B23-AF40-EF36B8BA51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5aab836294825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FB3C7-DAB9-4191-9334-07DAB224A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3918d2ec444c5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11A81-282E-43BB-9C28-C40B9BEB87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42da647904b76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C88E4-50B2-4778-88E9-B7CD8CBFA4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7018913c54079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324F0-5626-4D43-86D2-5FF7882E1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88bf2def247ce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-9ujf_24_32">
            <a:extLst xmlns:a="http://schemas.openxmlformats.org/drawingml/2006/main">
              <a:ext uri="{FF2B5EF4-FFF2-40B4-BE49-F238E27FC236}">
                <a16:creationId xmlns:a16="http://schemas.microsoft.com/office/drawing/2014/main" id="{61FB67FA-F113-4372-9304-17DC71B1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9UJF   Ligand recognition and modelling</a:t>
            </a:r>
          </a:p>
        </p:txBody>
      </p:sp>
      <p:sp>
        <p:nvSpPr>
          <p:cNvPr id="8" name="multiligand-workbench-9ujf_67_32">
            <a:extLst xmlns:a="http://schemas.openxmlformats.org/drawingml/2006/main">
              <a:ext uri="{FF2B5EF4-FFF2-40B4-BE49-F238E27FC236}">
                <a16:creationId xmlns:a16="http://schemas.microsoft.com/office/drawing/2014/main" id="{D3D5F7EA-1827-4FF0-A991-F0B10A4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 deposited ligands, 10 small molecules, 10 eligible for modelling</a:t>
            </a:r>
          </a:p>
        </p:txBody>
      </p:sp>
      <p:sp>
        <p:nvSpPr>
          <p:cNvPr id="9" name="multiligand-workbench-9ujf_100_32">
            <a:extLst xmlns:a="http://schemas.openxmlformats.org/drawingml/2006/main">
              <a:ext uri="{FF2B5EF4-FFF2-40B4-BE49-F238E27FC236}">
                <a16:creationId xmlns:a16="http://schemas.microsoft.com/office/drawing/2014/main" id="{9889DC5D-7A66-46CD-8757-575895D3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-9ujf_100_60">
            <a:extLst xmlns:a="http://schemas.openxmlformats.org/drawingml/2006/main">
              <a:ext uri="{FF2B5EF4-FFF2-40B4-BE49-F238E27FC236}">
                <a16:creationId xmlns:a16="http://schemas.microsoft.com/office/drawing/2014/main" id="{1271BCBB-53C3-4688-92E3-8099BF94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Find+Match   10/20</a:t>
            </a:r>
          </a:p>
        </p:txBody>
      </p:sp>
      <p:sp>
        <p:nvSpPr>
          <p:cNvPr id="11" name="multiligand-workbench-9ujf_100_672">
            <a:extLst xmlns:a="http://schemas.openxmlformats.org/drawingml/2006/main">
              <a:ext uri="{FF2B5EF4-FFF2-40B4-BE49-F238E27FC236}">
                <a16:creationId xmlns:a16="http://schemas.microsoft.com/office/drawing/2014/main" id="{7A2FAA3C-BD14-42AC-82EF-533D14A1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-9ujf_100_700">
            <a:extLst xmlns:a="http://schemas.openxmlformats.org/drawingml/2006/main">
              <a:ext uri="{FF2B5EF4-FFF2-40B4-BE49-F238E27FC236}">
                <a16:creationId xmlns:a16="http://schemas.microsoft.com/office/drawing/2014/main" id="{9E8EA5EA-B4D4-4345-8143-BF58B144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Find+Match   10/20</a:t>
            </a:r>
          </a:p>
        </p:txBody>
      </p:sp>
      <p:sp>
        <p:nvSpPr>
          <p:cNvPr id="13" name="multiligand-workbench-9ujf_584_32">
            <a:extLst xmlns:a="http://schemas.openxmlformats.org/drawingml/2006/main">
              <a:ext uri="{FF2B5EF4-FFF2-40B4-BE49-F238E27FC236}">
                <a16:creationId xmlns:a16="http://schemas.microsoft.com/office/drawing/2014/main" id="{E9E71180-B298-40D4-B08A-850D0C7C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-9ujf_584_60">
            <a:extLst xmlns:a="http://schemas.openxmlformats.org/drawingml/2006/main">
              <a:ext uri="{FF2B5EF4-FFF2-40B4-BE49-F238E27FC236}">
                <a16:creationId xmlns:a16="http://schemas.microsoft.com/office/drawing/2014/main" id="{CED30D76-20CF-4A48-993C-02A5102F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Pipeline top-1 &lt; 2 Å   10/10</a:t>
            </a:r>
          </a:p>
        </p:txBody>
      </p:sp>
      <p:sp>
        <p:nvSpPr>
          <p:cNvPr id="15" name="multiligand-workbench-9ujf_584_672">
            <a:extLst xmlns:a="http://schemas.openxmlformats.org/drawingml/2006/main">
              <a:ext uri="{FF2B5EF4-FFF2-40B4-BE49-F238E27FC236}">
                <a16:creationId xmlns:a16="http://schemas.microsoft.com/office/drawing/2014/main" id="{C2FD40AD-255F-47B0-9FF4-9698860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-9ujf_584_700">
            <a:extLst xmlns:a="http://schemas.openxmlformats.org/drawingml/2006/main">
              <a:ext uri="{FF2B5EF4-FFF2-40B4-BE49-F238E27FC236}">
                <a16:creationId xmlns:a16="http://schemas.microsoft.com/office/drawing/2014/main" id="{6117C161-81E9-4876-9CA9-FA923527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Pipeline top-1 &lt; 2 Å   10/10</a:t>
            </a:r>
          </a:p>
        </p:txBody>
      </p:sp>
      <p:sp>
        <p:nvSpPr>
          <p:cNvPr id="17" name="multiligand-workbench-9ujf_1068_32">
            <a:extLst xmlns:a="http://schemas.openxmlformats.org/drawingml/2006/main">
              <a:ext uri="{FF2B5EF4-FFF2-40B4-BE49-F238E27FC236}">
                <a16:creationId xmlns:a16="http://schemas.microsoft.com/office/drawing/2014/main" id="{42CA7A61-954A-4A28-967C-1AC2BEFD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-9ujf_1068_60">
            <a:extLst xmlns:a="http://schemas.openxmlformats.org/drawingml/2006/main">
              <a:ext uri="{FF2B5EF4-FFF2-40B4-BE49-F238E27FC236}">
                <a16:creationId xmlns:a16="http://schemas.microsoft.com/office/drawing/2014/main" id="{36744946-C63B-42B9-A6BB-972BD01E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GTP   RMSD 0.71 Å</a:t>
            </a:r>
          </a:p>
        </p:txBody>
      </p:sp>
      <p:sp>
        <p:nvSpPr>
          <p:cNvPr id="19" name="multiligand-workbench-9ujf_1068_672">
            <a:extLst xmlns:a="http://schemas.openxmlformats.org/drawingml/2006/main">
              <a:ext uri="{FF2B5EF4-FFF2-40B4-BE49-F238E27FC236}">
                <a16:creationId xmlns:a16="http://schemas.microsoft.com/office/drawing/2014/main" id="{4CEB9F09-9FE0-4C60-A92B-67795F93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-9ujf_1068_700">
            <a:extLst xmlns:a="http://schemas.openxmlformats.org/drawingml/2006/main">
              <a:ext uri="{FF2B5EF4-FFF2-40B4-BE49-F238E27FC236}">
                <a16:creationId xmlns:a16="http://schemas.microsoft.com/office/drawing/2014/main" id="{424EC958-219E-48FA-BBE1-C049022F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GTP   RMSD 0.57 Å</a:t>
            </a:r>
          </a:p>
        </p:txBody>
      </p:sp>
      <p:sp>
        <p:nvSpPr>
          <p:cNvPr id="21" name="multiligand-workbench-9ujf_1561_32">
            <a:extLst xmlns:a="http://schemas.openxmlformats.org/drawingml/2006/main">
              <a:ext uri="{FF2B5EF4-FFF2-40B4-BE49-F238E27FC236}">
                <a16:creationId xmlns:a16="http://schemas.microsoft.com/office/drawing/2014/main" id="{87167E0B-E275-4532-AF51-3E58299A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Find+Match: teal, correct identity. Pipeline: teal, RMSD &lt; 2 Å; brown, ≥ 2 Å.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871706233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10786d67a7d8433f"/>
    </p:ext>
  </p:extLst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77D1B-A0A6-41CD-8DBD-E360D48DAF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e4e193ebc4f58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F0ECF-D91E-406D-A331-CDF379861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0522e24d24e94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972DF-5D90-49C9-AB00-ED4919673F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e5d504e734e4c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D520C-A211-4079-A883-B4D00C606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735b9fa214dbc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E2A86-2EEA-4895-AB71-FE3A4CB43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0c7606d9845a8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81B4D-A262-4CB4-8639-CF672C51FC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919432d6e4f76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-9wup_24_32">
            <a:extLst xmlns:a="http://schemas.openxmlformats.org/drawingml/2006/main">
              <a:ext uri="{FF2B5EF4-FFF2-40B4-BE49-F238E27FC236}">
                <a16:creationId xmlns:a16="http://schemas.microsoft.com/office/drawing/2014/main" id="{D5369ABD-EE6E-44A7-BAB0-52D5702E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9WUP   Ligand recognition and modelling</a:t>
            </a:r>
          </a:p>
        </p:txBody>
      </p:sp>
      <p:sp>
        <p:nvSpPr>
          <p:cNvPr id="8" name="multiligand-workbench-9wup_67_32">
            <a:extLst xmlns:a="http://schemas.openxmlformats.org/drawingml/2006/main">
              <a:ext uri="{FF2B5EF4-FFF2-40B4-BE49-F238E27FC236}">
                <a16:creationId xmlns:a16="http://schemas.microsoft.com/office/drawing/2014/main" id="{5F65F385-F839-4DEE-AF0C-96A05E21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 deposited ligands, 8 small molecules, 4 eligible for modelling</a:t>
            </a:r>
          </a:p>
        </p:txBody>
      </p:sp>
      <p:sp>
        <p:nvSpPr>
          <p:cNvPr id="9" name="multiligand-workbench-9wup_100_32">
            <a:extLst xmlns:a="http://schemas.openxmlformats.org/drawingml/2006/main">
              <a:ext uri="{FF2B5EF4-FFF2-40B4-BE49-F238E27FC236}">
                <a16:creationId xmlns:a16="http://schemas.microsoft.com/office/drawing/2014/main" id="{FEECAA57-5718-457B-A0C1-96551D01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-9wup_100_60">
            <a:extLst xmlns:a="http://schemas.openxmlformats.org/drawingml/2006/main">
              <a:ext uri="{FF2B5EF4-FFF2-40B4-BE49-F238E27FC236}">
                <a16:creationId xmlns:a16="http://schemas.microsoft.com/office/drawing/2014/main" id="{58DD1D37-C335-4E97-A36B-9959DAE0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Find+Match   3/8</a:t>
            </a:r>
          </a:p>
        </p:txBody>
      </p:sp>
      <p:sp>
        <p:nvSpPr>
          <p:cNvPr id="11" name="multiligand-workbench-9wup_100_672">
            <a:extLst xmlns:a="http://schemas.openxmlformats.org/drawingml/2006/main">
              <a:ext uri="{FF2B5EF4-FFF2-40B4-BE49-F238E27FC236}">
                <a16:creationId xmlns:a16="http://schemas.microsoft.com/office/drawing/2014/main" id="{77D98165-616C-4C7F-83A7-BF7E2D2F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-9wup_100_700">
            <a:extLst xmlns:a="http://schemas.openxmlformats.org/drawingml/2006/main">
              <a:ext uri="{FF2B5EF4-FFF2-40B4-BE49-F238E27FC236}">
                <a16:creationId xmlns:a16="http://schemas.microsoft.com/office/drawing/2014/main" id="{53FA1952-8EC4-455A-8BBD-996FDC9F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Find+Match   4/8</a:t>
            </a:r>
          </a:p>
        </p:txBody>
      </p:sp>
      <p:sp>
        <p:nvSpPr>
          <p:cNvPr id="13" name="multiligand-workbench-9wup_584_32">
            <a:extLst xmlns:a="http://schemas.openxmlformats.org/drawingml/2006/main">
              <a:ext uri="{FF2B5EF4-FFF2-40B4-BE49-F238E27FC236}">
                <a16:creationId xmlns:a16="http://schemas.microsoft.com/office/drawing/2014/main" id="{495A1874-8B4F-4BE3-8D55-57762D6D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-9wup_584_60">
            <a:extLst xmlns:a="http://schemas.openxmlformats.org/drawingml/2006/main">
              <a:ext uri="{FF2B5EF4-FFF2-40B4-BE49-F238E27FC236}">
                <a16:creationId xmlns:a16="http://schemas.microsoft.com/office/drawing/2014/main" id="{C5E1C8FF-7ABC-4DCB-B1F1-7C16B180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Pipeline top-1 &lt; 2 Å   1/4</a:t>
            </a:r>
          </a:p>
        </p:txBody>
      </p:sp>
      <p:sp>
        <p:nvSpPr>
          <p:cNvPr id="15" name="multiligand-workbench-9wup_584_672">
            <a:extLst xmlns:a="http://schemas.openxmlformats.org/drawingml/2006/main">
              <a:ext uri="{FF2B5EF4-FFF2-40B4-BE49-F238E27FC236}">
                <a16:creationId xmlns:a16="http://schemas.microsoft.com/office/drawing/2014/main" id="{5B475F3D-7768-4CC5-A32E-BB0123A3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-9wup_584_700">
            <a:extLst xmlns:a="http://schemas.openxmlformats.org/drawingml/2006/main">
              <a:ext uri="{FF2B5EF4-FFF2-40B4-BE49-F238E27FC236}">
                <a16:creationId xmlns:a16="http://schemas.microsoft.com/office/drawing/2014/main" id="{BDBE56F4-F22F-4D8A-801A-F175422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Pipeline top-1 &lt; 2 Å   1/4</a:t>
            </a:r>
          </a:p>
        </p:txBody>
      </p:sp>
      <p:sp>
        <p:nvSpPr>
          <p:cNvPr id="17" name="multiligand-workbench-9wup_1068_32">
            <a:extLst xmlns:a="http://schemas.openxmlformats.org/drawingml/2006/main">
              <a:ext uri="{FF2B5EF4-FFF2-40B4-BE49-F238E27FC236}">
                <a16:creationId xmlns:a16="http://schemas.microsoft.com/office/drawing/2014/main" id="{A82EACDA-5A38-434F-8A41-7C0A5EEC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-9wup_1068_60">
            <a:extLst xmlns:a="http://schemas.openxmlformats.org/drawingml/2006/main">
              <a:ext uri="{FF2B5EF4-FFF2-40B4-BE49-F238E27FC236}">
                <a16:creationId xmlns:a16="http://schemas.microsoft.com/office/drawing/2014/main" id="{F4308499-87A5-4BF1-A3DA-64611AE0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FMN   RMSD 0.52 Å</a:t>
            </a:r>
          </a:p>
        </p:txBody>
      </p:sp>
      <p:sp>
        <p:nvSpPr>
          <p:cNvPr id="19" name="multiligand-workbench-9wup_1068_672">
            <a:extLst xmlns:a="http://schemas.openxmlformats.org/drawingml/2006/main">
              <a:ext uri="{FF2B5EF4-FFF2-40B4-BE49-F238E27FC236}">
                <a16:creationId xmlns:a16="http://schemas.microsoft.com/office/drawing/2014/main" id="{38AB0A86-9A89-41F9-ACD3-901FD77F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-9wup_1068_700">
            <a:extLst xmlns:a="http://schemas.openxmlformats.org/drawingml/2006/main">
              <a:ext uri="{FF2B5EF4-FFF2-40B4-BE49-F238E27FC236}">
                <a16:creationId xmlns:a16="http://schemas.microsoft.com/office/drawing/2014/main" id="{05DA6F5C-7101-4365-A45A-15AF193F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FMN   RMSD 0.37 Å</a:t>
            </a:r>
          </a:p>
        </p:txBody>
      </p:sp>
      <p:sp>
        <p:nvSpPr>
          <p:cNvPr id="21" name="multiligand-workbench-9wup_1561_32">
            <a:extLst xmlns:a="http://schemas.openxmlformats.org/drawingml/2006/main">
              <a:ext uri="{FF2B5EF4-FFF2-40B4-BE49-F238E27FC236}">
                <a16:creationId xmlns:a16="http://schemas.microsoft.com/office/drawing/2014/main" id="{4C0E3981-C0DC-4D92-8E82-034B5E48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Find+Match: teal, correct identity. Pipeline: teal, RMSD &lt; 2 Å; brown, ≥ 2 Å.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477206337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e3aa2d67571c420d"/>
    </p:ext>
  </p:extLst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03B89-F488-423B-A3EC-04F75EE17E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ad69416414eab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97028-FBDE-4E92-823A-43A3872DB3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0d6b9f74b4935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61054-963A-4746-A359-C486DF3DF7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00defb22244be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DDA6A-5003-4D39-9BE9-4E0A0A280A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f240a2d65450f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C836E-9D64-47A3-A730-6634945229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288b3065b49ee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E7092-8B64-4CD6-BA8D-9C9E257C8C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87056add44e30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-9lw1_24_32">
            <a:extLst xmlns:a="http://schemas.openxmlformats.org/drawingml/2006/main">
              <a:ext uri="{FF2B5EF4-FFF2-40B4-BE49-F238E27FC236}">
                <a16:creationId xmlns:a16="http://schemas.microsoft.com/office/drawing/2014/main" id="{139E9F6C-010F-4D0E-9D40-D3AC6DB0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9LW1   Ligand recognition and modelling</a:t>
            </a:r>
          </a:p>
        </p:txBody>
      </p:sp>
      <p:sp>
        <p:nvSpPr>
          <p:cNvPr id="8" name="multiligand-workbench-9lw1_67_32">
            <a:extLst xmlns:a="http://schemas.openxmlformats.org/drawingml/2006/main">
              <a:ext uri="{FF2B5EF4-FFF2-40B4-BE49-F238E27FC236}">
                <a16:creationId xmlns:a16="http://schemas.microsoft.com/office/drawing/2014/main" id="{C43774DB-841B-4DFA-8579-D27E7656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 deposited ligands, 18 small molecules, 18 eligible for modelling</a:t>
            </a:r>
          </a:p>
        </p:txBody>
      </p:sp>
      <p:sp>
        <p:nvSpPr>
          <p:cNvPr id="9" name="multiligand-workbench-9lw1_100_32">
            <a:extLst xmlns:a="http://schemas.openxmlformats.org/drawingml/2006/main">
              <a:ext uri="{FF2B5EF4-FFF2-40B4-BE49-F238E27FC236}">
                <a16:creationId xmlns:a16="http://schemas.microsoft.com/office/drawing/2014/main" id="{D29F8D02-BB63-4DAE-B908-4694477B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-9lw1_100_60">
            <a:extLst xmlns:a="http://schemas.openxmlformats.org/drawingml/2006/main">
              <a:ext uri="{FF2B5EF4-FFF2-40B4-BE49-F238E27FC236}">
                <a16:creationId xmlns:a16="http://schemas.microsoft.com/office/drawing/2014/main" id="{652C036E-EF7B-4456-A49E-662B7F3A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Find+Match   7/20</a:t>
            </a:r>
          </a:p>
        </p:txBody>
      </p:sp>
      <p:sp>
        <p:nvSpPr>
          <p:cNvPr id="11" name="multiligand-workbench-9lw1_100_672">
            <a:extLst xmlns:a="http://schemas.openxmlformats.org/drawingml/2006/main">
              <a:ext uri="{FF2B5EF4-FFF2-40B4-BE49-F238E27FC236}">
                <a16:creationId xmlns:a16="http://schemas.microsoft.com/office/drawing/2014/main" id="{31701BE0-F814-4DA9-946C-DFD04FCD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-9lw1_100_700">
            <a:extLst xmlns:a="http://schemas.openxmlformats.org/drawingml/2006/main">
              <a:ext uri="{FF2B5EF4-FFF2-40B4-BE49-F238E27FC236}">
                <a16:creationId xmlns:a16="http://schemas.microsoft.com/office/drawing/2014/main" id="{F7CD0270-FD36-443C-810A-4A3DBEA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Find+Match   8/20</a:t>
            </a:r>
          </a:p>
        </p:txBody>
      </p:sp>
      <p:sp>
        <p:nvSpPr>
          <p:cNvPr id="13" name="multiligand-workbench-9lw1_584_32">
            <a:extLst xmlns:a="http://schemas.openxmlformats.org/drawingml/2006/main">
              <a:ext uri="{FF2B5EF4-FFF2-40B4-BE49-F238E27FC236}">
                <a16:creationId xmlns:a16="http://schemas.microsoft.com/office/drawing/2014/main" id="{15E191D1-7126-4E4F-A837-BE8B87DC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-9lw1_584_60">
            <a:extLst xmlns:a="http://schemas.openxmlformats.org/drawingml/2006/main">
              <a:ext uri="{FF2B5EF4-FFF2-40B4-BE49-F238E27FC236}">
                <a16:creationId xmlns:a16="http://schemas.microsoft.com/office/drawing/2014/main" id="{9FD439DF-40D7-493E-B305-F1F9B297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Pipeline top-1 &lt; 2 Å   3/18</a:t>
            </a:r>
          </a:p>
        </p:txBody>
      </p:sp>
      <p:sp>
        <p:nvSpPr>
          <p:cNvPr id="15" name="multiligand-workbench-9lw1_584_672">
            <a:extLst xmlns:a="http://schemas.openxmlformats.org/drawingml/2006/main">
              <a:ext uri="{FF2B5EF4-FFF2-40B4-BE49-F238E27FC236}">
                <a16:creationId xmlns:a16="http://schemas.microsoft.com/office/drawing/2014/main" id="{DE688291-BE96-44BE-BB45-53F1994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-9lw1_584_700">
            <a:extLst xmlns:a="http://schemas.openxmlformats.org/drawingml/2006/main">
              <a:ext uri="{FF2B5EF4-FFF2-40B4-BE49-F238E27FC236}">
                <a16:creationId xmlns:a16="http://schemas.microsoft.com/office/drawing/2014/main" id="{598A89C3-DB0A-4FEF-8BE9-D69CD545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Pipeline top-1 &lt; 2 Å   2/18</a:t>
            </a:r>
          </a:p>
        </p:txBody>
      </p:sp>
      <p:sp>
        <p:nvSpPr>
          <p:cNvPr id="17" name="multiligand-workbench-9lw1_1068_32">
            <a:extLst xmlns:a="http://schemas.openxmlformats.org/drawingml/2006/main">
              <a:ext uri="{FF2B5EF4-FFF2-40B4-BE49-F238E27FC236}">
                <a16:creationId xmlns:a16="http://schemas.microsoft.com/office/drawing/2014/main" id="{4FAAE6BC-3A87-4004-8757-C6A381C3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-9lw1_1068_60">
            <a:extLst xmlns:a="http://schemas.openxmlformats.org/drawingml/2006/main">
              <a:ext uri="{FF2B5EF4-FFF2-40B4-BE49-F238E27FC236}">
                <a16:creationId xmlns:a16="http://schemas.microsoft.com/office/drawing/2014/main" id="{712CFE5C-C9CC-4D36-8369-8669C2DE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4I1   RMSD 1.92 Å</a:t>
            </a:r>
          </a:p>
        </p:txBody>
      </p:sp>
      <p:sp>
        <p:nvSpPr>
          <p:cNvPr id="19" name="multiligand-workbench-9lw1_1068_672">
            <a:extLst xmlns:a="http://schemas.openxmlformats.org/drawingml/2006/main">
              <a:ext uri="{FF2B5EF4-FFF2-40B4-BE49-F238E27FC236}">
                <a16:creationId xmlns:a16="http://schemas.microsoft.com/office/drawing/2014/main" id="{1D5E8740-0A61-4482-BA39-2FB3EBD1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-9lw1_1068_700">
            <a:extLst xmlns:a="http://schemas.openxmlformats.org/drawingml/2006/main">
              <a:ext uri="{FF2B5EF4-FFF2-40B4-BE49-F238E27FC236}">
                <a16:creationId xmlns:a16="http://schemas.microsoft.com/office/drawing/2014/main" id="{BCAA0DF2-058B-4A35-BE43-F4C5786B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4I1   RMSD 1.64 Å</a:t>
            </a:r>
          </a:p>
        </p:txBody>
      </p:sp>
      <p:sp>
        <p:nvSpPr>
          <p:cNvPr id="21" name="multiligand-workbench-9lw1_1561_32">
            <a:extLst xmlns:a="http://schemas.openxmlformats.org/drawingml/2006/main">
              <a:ext uri="{FF2B5EF4-FFF2-40B4-BE49-F238E27FC236}">
                <a16:creationId xmlns:a16="http://schemas.microsoft.com/office/drawing/2014/main" id="{CEACEC98-A115-4316-859F-A0C9ACA3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Find+Match: teal, correct identity. Pipeline: teal, RMSD &lt; 2 Å; brown, ≥ 2 Å.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347133046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a089a005907441b7"/>
    </p:ext>
  </p:extLs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71EEC-9256-4A48-AAD5-8F2559B346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3d74704164844"/>
          <a:stretch xmlns:a="http://schemas.openxmlformats.org/drawingml/2006/main"/>
        </p:blipFill>
        <p:spPr>
          <a:xfrm xmlns:a="http://schemas.openxmlformats.org/drawingml/2006/main">
            <a:off x="16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9F3C4-5625-41D0-BB55-1E853CAE05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10370d2444c49"/>
          <a:stretch xmlns:a="http://schemas.openxmlformats.org/drawingml/2006/main"/>
        </p:blipFill>
        <p:spPr>
          <a:xfrm xmlns:a="http://schemas.openxmlformats.org/drawingml/2006/main">
            <a:off x="3402000" y="6885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56FCA-2D10-4474-AD68-7DAB2FABD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6c2c81e424001"/>
          <a:stretch xmlns:a="http://schemas.openxmlformats.org/drawingml/2006/main"/>
        </p:blipFill>
        <p:spPr>
          <a:xfrm xmlns:a="http://schemas.openxmlformats.org/drawingml/2006/main">
            <a:off x="16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2E70F-C6D8-4849-891A-97BC11392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5d5075ee2422a"/>
          <a:stretch xmlns:a="http://schemas.openxmlformats.org/drawingml/2006/main"/>
        </p:blipFill>
        <p:spPr>
          <a:xfrm xmlns:a="http://schemas.openxmlformats.org/drawingml/2006/main">
            <a:off x="3402000" y="313875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B5795-8026-4F7C-82A4-9D807F3CD0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f3ad064ba428e"/>
          <a:stretch xmlns:a="http://schemas.openxmlformats.org/drawingml/2006/main"/>
        </p:blipFill>
        <p:spPr>
          <a:xfrm xmlns:a="http://schemas.openxmlformats.org/drawingml/2006/main">
            <a:off x="162000" y="5589000"/>
            <a:ext cx="2875500" cy="2236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E05C4-54DC-41A1-9AE4-EC151FC1A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412d8e96e48e2"/>
          <a:stretch xmlns:a="http://schemas.openxmlformats.org/drawingml/2006/main"/>
        </p:blipFill>
        <p:spPr>
          <a:xfrm xmlns:a="http://schemas.openxmlformats.org/drawingml/2006/main">
            <a:off x="3402000" y="5589000"/>
            <a:ext cx="2875500" cy="2236500"/>
          </a:xfrm>
          <a:prstGeom xmlns:a="http://schemas.openxmlformats.org/drawingml/2006/main" prst="rect">
            <a:avLst/>
          </a:prstGeom>
        </p:spPr>
      </p:pic>
      <p:sp>
        <p:nvSpPr>
          <p:cNvPr id="7" name="multiligand-workbench-9llg_24_32">
            <a:extLst xmlns:a="http://schemas.openxmlformats.org/drawingml/2006/main">
              <a:ext uri="{FF2B5EF4-FFF2-40B4-BE49-F238E27FC236}">
                <a16:creationId xmlns:a16="http://schemas.microsoft.com/office/drawing/2014/main" id="{F92BA66A-059D-4283-98A7-15616D05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121500"/>
            <a:ext cx="6156000" cy="2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6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9LLG   Ligand recognition and modelling</a:t>
            </a:r>
          </a:p>
        </p:txBody>
      </p:sp>
      <p:sp>
        <p:nvSpPr>
          <p:cNvPr id="8" name="multiligand-workbench-9llg_67_32">
            <a:extLst xmlns:a="http://schemas.openxmlformats.org/drawingml/2006/main">
              <a:ext uri="{FF2B5EF4-FFF2-40B4-BE49-F238E27FC236}">
                <a16:creationId xmlns:a16="http://schemas.microsoft.com/office/drawing/2014/main" id="{9881F8FA-18AB-46FD-A989-B77FFB7E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339188"/>
            <a:ext cx="6156000" cy="13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1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 deposited ligands, 4 small molecules, 4 eligible for modelling</a:t>
            </a:r>
          </a:p>
        </p:txBody>
      </p:sp>
      <p:sp>
        <p:nvSpPr>
          <p:cNvPr id="9" name="multiligand-workbench-9llg_100_32">
            <a:extLst xmlns:a="http://schemas.openxmlformats.org/drawingml/2006/main">
              <a:ext uri="{FF2B5EF4-FFF2-40B4-BE49-F238E27FC236}">
                <a16:creationId xmlns:a16="http://schemas.microsoft.com/office/drawing/2014/main" id="{E2F6D4BD-4055-4F13-9538-95756F6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multiligand-workbench-9llg_100_60">
            <a:extLst xmlns:a="http://schemas.openxmlformats.org/drawingml/2006/main">
              <a:ext uri="{FF2B5EF4-FFF2-40B4-BE49-F238E27FC236}">
                <a16:creationId xmlns:a16="http://schemas.microsoft.com/office/drawing/2014/main" id="{801FB7E2-72B0-4E8D-9B43-BBCDBE5E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Find+Match   1/4</a:t>
            </a:r>
          </a:p>
        </p:txBody>
      </p:sp>
      <p:sp>
        <p:nvSpPr>
          <p:cNvPr id="11" name="multiligand-workbench-9llg_100_672">
            <a:extLst xmlns:a="http://schemas.openxmlformats.org/drawingml/2006/main">
              <a:ext uri="{FF2B5EF4-FFF2-40B4-BE49-F238E27FC236}">
                <a16:creationId xmlns:a16="http://schemas.microsoft.com/office/drawing/2014/main" id="{1D4BD8C6-AD9C-46A9-BB72-18F522E0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062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multiligand-workbench-9llg_100_700">
            <a:extLst xmlns:a="http://schemas.openxmlformats.org/drawingml/2006/main">
              <a:ext uri="{FF2B5EF4-FFF2-40B4-BE49-F238E27FC236}">
                <a16:creationId xmlns:a16="http://schemas.microsoft.com/office/drawing/2014/main" id="{F9CBB573-3ED8-4906-9E8D-27FF30A4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062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Find+Match   2/4</a:t>
            </a:r>
          </a:p>
        </p:txBody>
      </p:sp>
      <p:sp>
        <p:nvSpPr>
          <p:cNvPr id="13" name="multiligand-workbench-9llg_584_32">
            <a:extLst xmlns:a="http://schemas.openxmlformats.org/drawingml/2006/main">
              <a:ext uri="{FF2B5EF4-FFF2-40B4-BE49-F238E27FC236}">
                <a16:creationId xmlns:a16="http://schemas.microsoft.com/office/drawing/2014/main" id="{5BB6F3F6-EDFA-4B57-ADB4-FDC64E7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multiligand-workbench-9llg_584_60">
            <a:extLst xmlns:a="http://schemas.openxmlformats.org/drawingml/2006/main">
              <a:ext uri="{FF2B5EF4-FFF2-40B4-BE49-F238E27FC236}">
                <a16:creationId xmlns:a16="http://schemas.microsoft.com/office/drawing/2014/main" id="{57D1AC3A-3616-440F-A5BD-06D67511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Pipeline top-1 &lt; 2 Å   1/4</a:t>
            </a:r>
          </a:p>
        </p:txBody>
      </p:sp>
      <p:sp>
        <p:nvSpPr>
          <p:cNvPr id="15" name="multiligand-workbench-9llg_584_672">
            <a:extLst xmlns:a="http://schemas.openxmlformats.org/drawingml/2006/main">
              <a:ext uri="{FF2B5EF4-FFF2-40B4-BE49-F238E27FC236}">
                <a16:creationId xmlns:a16="http://schemas.microsoft.com/office/drawing/2014/main" id="{B15E981D-1887-4185-9152-0BB08F30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295650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multiligand-workbench-9llg_584_700">
            <a:extLst xmlns:a="http://schemas.openxmlformats.org/drawingml/2006/main">
              <a:ext uri="{FF2B5EF4-FFF2-40B4-BE49-F238E27FC236}">
                <a16:creationId xmlns:a16="http://schemas.microsoft.com/office/drawing/2014/main" id="{B2341A37-2F38-4FF6-BC5A-6471568B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295650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Pipeline top-1 &lt; 2 Å   1/4</a:t>
            </a:r>
          </a:p>
        </p:txBody>
      </p:sp>
      <p:sp>
        <p:nvSpPr>
          <p:cNvPr id="17" name="multiligand-workbench-9llg_1068_32">
            <a:extLst xmlns:a="http://schemas.openxmlformats.org/drawingml/2006/main">
              <a:ext uri="{FF2B5EF4-FFF2-40B4-BE49-F238E27FC236}">
                <a16:creationId xmlns:a16="http://schemas.microsoft.com/office/drawing/2014/main" id="{73825FC8-313D-4BB4-9FFF-EACE9D16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multiligand-workbench-9llg_1068_60">
            <a:extLst xmlns:a="http://schemas.openxmlformats.org/drawingml/2006/main">
              <a:ext uri="{FF2B5EF4-FFF2-40B4-BE49-F238E27FC236}">
                <a16:creationId xmlns:a16="http://schemas.microsoft.com/office/drawing/2014/main" id="{D0A4D0EF-7B73-4A66-A220-15C44804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CA2   A1EKL   RMSD 0.88 Å</a:t>
            </a:r>
          </a:p>
        </p:txBody>
      </p:sp>
      <p:sp>
        <p:nvSpPr>
          <p:cNvPr id="19" name="multiligand-workbench-9llg_1068_672">
            <a:extLst xmlns:a="http://schemas.openxmlformats.org/drawingml/2006/main">
              <a:ext uri="{FF2B5EF4-FFF2-40B4-BE49-F238E27FC236}">
                <a16:creationId xmlns:a16="http://schemas.microsoft.com/office/drawing/2014/main" id="{E519A61A-466F-4163-82AB-0DE1A812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0" y="5406750"/>
            <a:ext cx="111375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" name="multiligand-workbench-9llg_1068_700">
            <a:extLst xmlns:a="http://schemas.openxmlformats.org/drawingml/2006/main">
              <a:ext uri="{FF2B5EF4-FFF2-40B4-BE49-F238E27FC236}">
                <a16:creationId xmlns:a16="http://schemas.microsoft.com/office/drawing/2014/main" id="{35ACE245-69A3-4D89-8B9F-89F6743D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50" y="5406750"/>
            <a:ext cx="273375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17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17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GT   A1EKL   RMSD 0.87 Å</a:t>
            </a:r>
          </a:p>
        </p:txBody>
      </p:sp>
      <p:sp>
        <p:nvSpPr>
          <p:cNvPr id="21" name="multiligand-workbench-9llg_1561_32">
            <a:extLst xmlns:a="http://schemas.openxmlformats.org/drawingml/2006/main">
              <a:ext uri="{FF2B5EF4-FFF2-40B4-BE49-F238E27FC236}">
                <a16:creationId xmlns:a16="http://schemas.microsoft.com/office/drawing/2014/main" id="{BAB91E10-4146-448E-9FD2-6A45FC0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" y="7902563"/>
            <a:ext cx="6156000" cy="12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  <a:lvl1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3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Find+Match: teal, correct identity. Pipeline: teal, RMSD &lt; 2 Å; brown, ≥ 2 Å. Orange, reference.</a:t>
            </a:r>
          </a:p>
        </p:txBody>
      </p:sp>
    </p:spTree>
    <p:extLst>
      <p:ext uri="{BB962C8B-B14F-4D97-AF65-F5344CB8AC3E}">
        <p14:creationId xmlns:p14="http://schemas.microsoft.com/office/powerpoint/2010/main" val="360543035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a6540530be8c45c6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2026-10-23T15:19:44.3110000Z</dcterms:created>
  <dcterms:modified xsi:type="dcterms:W3CDTF">2026-10-23T15:19:44.3110000Z</dcterms:modified>
</coreProperties>
</file>