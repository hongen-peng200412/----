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D4621BC.xml" ContentType="application/vnd.ms-powerpoint.comments+xml"/>
  <Override PartName="/ppt/notesSlides/notesSlide2.xml" ContentType="application/vnd.openxmlformats-officedocument.presentationml.notesSlide+xml"/>
  <Override PartName="/ppt/comments/modernComment_101_3D5D9102.xml" ContentType="application/vnd.ms-powerpoint.comments+xml"/>
  <Override PartName="/ppt/notesSlides/notesSlide3.xml" ContentType="application/vnd.openxmlformats-officedocument.presentationml.notesSlide+xml"/>
  <Override PartName="/ppt/comments/modernComment_102_B3B943B1.xml" ContentType="application/vnd.ms-powerpoint.comments+xml"/>
  <Override PartName="/ppt/notesSlides/notesSlide4.xml" ContentType="application/vnd.openxmlformats-officedocument.presentationml.notesSlide+xml"/>
  <Override PartName="/ppt/comments/modernComment_103_2B5F767C.xml" ContentType="application/vnd.ms-powerpoint.comments+xml"/>
  <Override PartName="/ppt/notesSlides/notesSlide5.xml" ContentType="application/vnd.openxmlformats-officedocument.presentationml.notesSlide+xml"/>
  <Override PartName="/ppt/comments/modernComment_104_CD347171.xml" ContentType="application/vnd.ms-powerpoint.comments+xml"/>
  <Override PartName="/ppt/notesSlides/notesSlide6.xml" ContentType="application/vnd.openxmlformats-officedocument.presentationml.notesSlide+xml"/>
  <Override PartName="/ppt/comments/modernComment_105_4023BCC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2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omments/modernComment_100_6D4621B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95EFB27-D6F8-4001-AFF8-DA6BB0D388E2}" authorId="{D3F71A66-0C34-DF1A-5236-FECDBC820DCB}" created="2026-10-02T08:53:00.773">
    <pc:sldMkLst xmlns:pc="http://schemas.microsoft.com/office/powerpoint/2013/main/command">
      <pc:docMk/>
      <pc:sldMk cId="1833312700" sldId="256"/>
    </pc:sldMkLst>
    <p188:pos x="101600" y="101600"/>
    <p188:txBody>
      <a:bodyPr/>
      <a:lstStyle/>
      <a:p>
        <a:r>
          <a:rPr lang="zh-CN" altLang="en-US"/>
          <a:t>@@e2e-all-find-match</a:t>
        </a:r>
      </a:p>
    </p188:txBody>
  </p188:cm>
  <p188:cm id="{559F431F-AB91-4B50-9D88-1838F4EE7B09}" authorId="{D3F71A66-0C34-DF1A-5236-FECDBC820DCB}" created="2026-10-02T08:53:00.789">
    <pc:sldMkLst xmlns:pc="http://schemas.microsoft.com/office/powerpoint/2013/main/command">
      <pc:docMk/>
      <pc:sldMk cId="1833312700" sldId="256"/>
    </pc:sldMkLst>
    <p188:pos x="228600" y="228600"/>
    <p188:txBody>
      <a:bodyPr/>
      <a:lstStyle/>
      <a:p>
        <a:r>
          <a:rPr lang="zh-CN" altLang="en-US"/>
          <a:t>/storage/penghongen/Matcher/evaluation/final_smiles/strongest-1/frozen_test.json</a:t>
        </a:r>
      </a:p>
    </p188:txBody>
  </p188:cm>
</p188:cmLst>
</file>

<file path=ppt/comments/modernComment_101_3D5D910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0CF9795-FC30-4380-A380-F634CD5CC34E}" authorId="{D3F71A66-0C34-DF1A-5236-FECDBC820DCB}" created="2026-10-02T08:53:04.856">
    <pc:sldMkLst xmlns:pc="http://schemas.microsoft.com/office/powerpoint/2013/main/command">
      <pc:docMk/>
      <pc:sldMk cId="1029542146" sldId="257"/>
    </pc:sldMkLst>
    <p188:pos x="101600" y="101600"/>
    <p188:txBody>
      <a:bodyPr/>
      <a:lstStyle/>
      <a:p>
        <a:r>
          <a:rPr lang="zh-CN" altLang="en-US"/>
          <a:t>@@e2e-small-find-match</a:t>
        </a:r>
      </a:p>
    </p188:txBody>
  </p188:cm>
  <p188:cm id="{749D2601-3BC5-4F81-B677-CC1A2B21C366}" authorId="{D3F71A66-0C34-DF1A-5236-FECDBC820DCB}" created="2026-10-02T08:53:04.859">
    <pc:sldMkLst xmlns:pc="http://schemas.microsoft.com/office/powerpoint/2013/main/command">
      <pc:docMk/>
      <pc:sldMk cId="1029542146" sldId="257"/>
    </pc:sldMkLst>
    <p188:pos x="228600" y="228600"/>
    <p188:txBody>
      <a:bodyPr/>
      <a:lstStyle/>
      <a:p>
        <a:r>
          <a:rPr lang="zh-CN" altLang="en-US"/>
          <a:t>/storage/penghongen/Matcher/evaluation/test_smallmolecule_v1/strongest-1/train_strongest1_revised_job378587_20260920T230727/evaluation.json</a:t>
        </a:r>
      </a:p>
    </p188:txBody>
  </p188:cm>
</p188:cmLst>
</file>

<file path=ppt/comments/modernComment_102_B3B943B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EB4BECC-16EE-4790-A51D-53B9FD18A1EF}" authorId="{D3F71A66-0C34-DF1A-5236-FECDBC820DCB}" created="2026-10-02T08:53:08.713">
    <pc:sldMkLst xmlns:pc="http://schemas.microsoft.com/office/powerpoint/2013/main/command">
      <pc:docMk/>
      <pc:sldMk cId="3015263153" sldId="258"/>
    </pc:sldMkLst>
    <p188:pos x="101600" y="101600"/>
    <p188:txBody>
      <a:bodyPr/>
      <a:lstStyle/>
      <a:p>
        <a:r>
          <a:rPr lang="zh-CN" altLang="en-US"/>
          <a:t>@@e2e-build-c-gt</a:t>
        </a:r>
      </a:p>
    </p188:txBody>
  </p188:cm>
  <p188:cm id="{AB329440-E647-429E-9E2C-0BDFE44143CF}" authorId="{D3F71A66-0C34-DF1A-5236-FECDBC820DCB}" created="2026-10-02T08:53:08.721">
    <pc:sldMkLst xmlns:pc="http://schemas.microsoft.com/office/powerpoint/2013/main/command">
      <pc:docMk/>
      <pc:sldMk cId="3015263153" sldId="258"/>
    </pc:sldMkLst>
    <p188:pos x="228600" y="228600"/>
    <p188:txBody>
      <a:bodyPr/>
      <a:lstStyle/>
      <a:p>
        <a:r>
          <a:rPr lang="zh-CN" altLang="en-US"/>
          <a:t>/storage/penghongen/PocketXMol/final_evaluation/end_to_end/GT/docking_results.jsonl</a:t>
        </a:r>
      </a:p>
    </p188:txBody>
  </p188:cm>
</p188:cmLst>
</file>

<file path=ppt/comments/modernComment_103_2B5F76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C0F4E5-4173-4AB6-B679-79033D95D38E}" authorId="{D3F71A66-0C34-DF1A-5236-FECDBC820DCB}" created="2026-10-02T08:53:11.825">
    <pc:sldMkLst xmlns:pc="http://schemas.microsoft.com/office/powerpoint/2013/main/command">
      <pc:docMk/>
      <pc:sldMk cId="727676540" sldId="259"/>
    </pc:sldMkLst>
    <p188:pos x="101600" y="101600"/>
    <p188:txBody>
      <a:bodyPr/>
      <a:lstStyle/>
      <a:p>
        <a:r>
          <a:rPr lang="zh-CN" altLang="en-US"/>
          <a:t>@@e2e-build-c-ca2</a:t>
        </a:r>
      </a:p>
    </p188:txBody>
  </p188:cm>
  <p188:cm id="{7D78EC69-F261-41AC-B8CB-59134CBC4723}" authorId="{D3F71A66-0C34-DF1A-5236-FECDBC820DCB}" created="2026-10-02T08:53:11.829">
    <pc:sldMkLst xmlns:pc="http://schemas.microsoft.com/office/powerpoint/2013/main/command">
      <pc:docMk/>
      <pc:sldMk cId="727676540" sldId="259"/>
    </pc:sldMkLst>
    <p188:pos x="228600" y="228600"/>
    <p188:txBody>
      <a:bodyPr/>
      <a:lstStyle/>
      <a:p>
        <a:r>
          <a:rPr lang="zh-CN" altLang="en-US"/>
          <a:t>/storage/penghongen/PocketXMol/final_evaluation/end_to_end/CA2/docking_results.jsonl</a:t>
        </a:r>
      </a:p>
    </p188:txBody>
  </p188:cm>
</p188:cmLst>
</file>

<file path=ppt/comments/modernComment_104_CD34717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B612A33-C601-4ABA-BD53-EBBFCB33E9B1}" authorId="{D3F71A66-0C34-DF1A-5236-FECDBC820DCB}" created="2026-10-02T08:53:15.454">
    <pc:sldMkLst xmlns:pc="http://schemas.microsoft.com/office/powerpoint/2013/main/command">
      <pc:docMk/>
      <pc:sldMk cId="3442766193" sldId="260"/>
    </pc:sldMkLst>
    <p188:pos x="101600" y="101600"/>
    <p188:txBody>
      <a:bodyPr/>
      <a:lstStyle/>
      <a:p>
        <a:r>
          <a:rPr lang="zh-CN" altLang="en-US"/>
          <a:t>@@e2e-build-cc-ca2</a:t>
        </a:r>
      </a:p>
    </p188:txBody>
  </p188:cm>
  <p188:cm id="{01CC98FB-8991-49B6-88E4-BFA065AC03FF}" authorId="{D3F71A66-0C34-DF1A-5236-FECDBC820DCB}" created="2026-10-02T08:53:15.462">
    <pc:sldMkLst xmlns:pc="http://schemas.microsoft.com/office/powerpoint/2013/main/command">
      <pc:docMk/>
      <pc:sldMk cId="3442766193" sldId="260"/>
    </pc:sldMkLst>
    <p188:pos x="228600" y="228600"/>
    <p188:txBody>
      <a:bodyPr/>
      <a:lstStyle/>
      <a:p>
        <a:r>
          <a:rPr lang="zh-CN" altLang="en-US"/>
          <a:t>/storage/penghongen/PocketXMol/final_evaluation/end_to_end/CA2/docking_results.jsonl</a:t>
        </a:r>
      </a:p>
    </p188:txBody>
  </p188:cm>
</p188:cmLst>
</file>

<file path=ppt/comments/modernComment_105_4023BCC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547FBC1-9A83-4CAA-ACF3-398A2FFA344E}" authorId="{D3F71A66-0C34-DF1A-5236-FECDBC820DCB}" created="2026-10-02T08:53:19.118">
    <pc:sldMkLst xmlns:pc="http://schemas.microsoft.com/office/powerpoint/2013/main/command">
      <pc:docMk/>
      <pc:sldMk cId="1076083905" sldId="261"/>
    </pc:sldMkLst>
    <p188:pos x="101600" y="101600"/>
    <p188:txBody>
      <a:bodyPr/>
      <a:lstStyle/>
      <a:p>
        <a:r>
          <a:rPr lang="zh-CN" altLang="en-US"/>
          <a:t>@@e2e-build-cce-ca2</a:t>
        </a:r>
      </a:p>
    </p188:txBody>
  </p188:cm>
  <p188:cm id="{E1B5B29C-1DE9-4FF8-B9C4-0907016870F4}" authorId="{D3F71A66-0C34-DF1A-5236-FECDBC820DCB}" created="2026-10-02T08:53:19.123">
    <pc:sldMkLst xmlns:pc="http://schemas.microsoft.com/office/powerpoint/2013/main/command">
      <pc:docMk/>
      <pc:sldMk cId="1076083905" sldId="261"/>
    </pc:sldMkLst>
    <p188:pos x="228600" y="228600"/>
    <p188:txBody>
      <a:bodyPr/>
      <a:lstStyle/>
      <a:p>
        <a:r>
          <a:rPr lang="zh-CN" altLang="en-US"/>
          <a:t>/storage/penghongen/PocketXMol/final_evaluation/end_to_end/CA2/docking_results.jsonl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70EA80-72B0-41C8-8CBA-65694D17868D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E298C2-A30B-44B3-AA90-2D6ADA8A48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3148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完整配体测试集的区域检出与身份匹配。</a:t>
            </a:r>
            <a:r>
              <a:rPr lang="en-US" altLang="zh-CN"/>
              <a:t>179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的前 </a:t>
            </a:r>
            <a:r>
              <a:rPr lang="en-US" altLang="zh-CN"/>
              <a:t>K </a:t>
            </a:r>
            <a:r>
              <a:rPr lang="zh-CN" altLang="en-US"/>
              <a:t>个排序候选中，至少一个候选覆盖真实配体时记为 </a:t>
            </a:r>
            <a:r>
              <a:rPr lang="en-US" altLang="zh-CN"/>
              <a:t>Find </a:t>
            </a:r>
            <a:r>
              <a:rPr lang="zh-CN" altLang="en-US"/>
              <a:t>成功；</a:t>
            </a:r>
            <a:r>
              <a:rPr lang="en-US" altLang="zh-CN"/>
              <a:t>Find+Match </a:t>
            </a:r>
            <a:r>
              <a:rPr lang="zh-CN" altLang="en-US"/>
              <a:t>还要求该候选的精确 </a:t>
            </a:r>
            <a:r>
              <a:rPr lang="en-US" altLang="zh-CN"/>
              <a:t>SMILES </a:t>
            </a:r>
            <a:r>
              <a:rPr lang="zh-CN" altLang="en-US"/>
              <a:t>身份正确。</a:t>
            </a:r>
            <a:r>
              <a:rPr lang="en-US" altLang="zh-CN"/>
              <a:t>Find </a:t>
            </a:r>
            <a:r>
              <a:rPr lang="zh-CN" altLang="en-US"/>
              <a:t>候选按源概率均值排序。</a:t>
            </a:r>
            <a:r>
              <a:rPr lang="en-US" altLang="zh-CN"/>
              <a:t>GT </a:t>
            </a:r>
            <a:r>
              <a:rPr lang="zh-CN" altLang="en-US"/>
              <a:t>与 </a:t>
            </a:r>
            <a:r>
              <a:rPr lang="en-US" altLang="zh-CN"/>
              <a:t>CryoAtom2</a:t>
            </a:r>
            <a:r>
              <a:rPr lang="zh-CN" altLang="en-US"/>
              <a:t>分别表示真实受体及其模拟密度、重建受体及其模拟密度，两者共用实验密度；受体无关的 </a:t>
            </a:r>
            <a:r>
              <a:rPr lang="en-US" altLang="zh-CN"/>
              <a:t>Emap2lig-Find </a:t>
            </a:r>
            <a:r>
              <a:rPr lang="zh-CN" altLang="en-US"/>
              <a:t>按自身概率排序。纵轴为成功 </a:t>
            </a:r>
            <a:r>
              <a:rPr lang="en-US" altLang="zh-CN"/>
              <a:t>PDB </a:t>
            </a:r>
            <a:r>
              <a:rPr lang="zh-CN" altLang="en-US"/>
              <a:t>比例，</a:t>
            </a:r>
            <a:r>
              <a:rPr lang="en-US" altLang="zh-CN"/>
              <a:t>K=1–10</a:t>
            </a:r>
            <a:r>
              <a:rPr lang="zh-CN" altLang="en-US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E298C2-A30B-44B3-AA90-2D6ADA8A489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59106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Stage3 </a:t>
            </a:r>
            <a:r>
              <a:rPr lang="zh-CN" altLang="en-US"/>
              <a:t>合格小分子的区域检出与身份匹配。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含 </a:t>
            </a:r>
            <a:r>
              <a:rPr lang="en-US" altLang="zh-CN"/>
              <a:t>446 </a:t>
            </a:r>
            <a:r>
              <a:rPr lang="zh-CN" altLang="en-US"/>
              <a:t>个合格配体实例。前 </a:t>
            </a:r>
            <a:r>
              <a:rPr lang="en-US" altLang="zh-CN"/>
              <a:t>K </a:t>
            </a:r>
            <a:r>
              <a:rPr lang="zh-CN" altLang="en-US"/>
              <a:t>个计费候选中至少一个区域命中时记为 </a:t>
            </a:r>
            <a:r>
              <a:rPr lang="en-US" altLang="zh-CN"/>
              <a:t>Find </a:t>
            </a:r>
            <a:r>
              <a:rPr lang="zh-CN" altLang="en-US"/>
              <a:t>成功；</a:t>
            </a:r>
            <a:r>
              <a:rPr lang="en-US" altLang="zh-CN"/>
              <a:t>Find+Match </a:t>
            </a:r>
            <a:r>
              <a:rPr lang="zh-CN" altLang="en-US"/>
              <a:t>还要求精确 </a:t>
            </a:r>
            <a:r>
              <a:rPr lang="en-US" altLang="zh-CN"/>
              <a:t>SMILES </a:t>
            </a:r>
            <a:r>
              <a:rPr lang="zh-CN" altLang="en-US"/>
              <a:t>身份正确。计费时跳过已知不适用</a:t>
            </a:r>
            <a:r>
              <a:rPr lang="en-US" altLang="zh-CN"/>
              <a:t>Stage3 </a:t>
            </a:r>
            <a:r>
              <a:rPr lang="zh-CN" altLang="en-US"/>
              <a:t>的前景候选。纵轴为成功 </a:t>
            </a:r>
            <a:r>
              <a:rPr lang="en-US" altLang="zh-CN"/>
              <a:t>PDB </a:t>
            </a:r>
            <a:r>
              <a:rPr lang="zh-CN" altLang="en-US"/>
              <a:t>比例，</a:t>
            </a:r>
            <a:r>
              <a:rPr lang="en-US" altLang="zh-CN"/>
              <a:t>K=1–10</a:t>
            </a:r>
            <a:r>
              <a:rPr lang="zh-CN" altLang="en-US"/>
              <a:t>；</a:t>
            </a:r>
            <a:r>
              <a:rPr lang="en-US" altLang="zh-CN"/>
              <a:t>Emap2lig-Find</a:t>
            </a:r>
            <a:r>
              <a:rPr lang="zh-CN" altLang="en-US"/>
              <a:t>使用自身排序且不读取受体；</a:t>
            </a:r>
            <a:r>
              <a:rPr lang="en-US" altLang="zh-CN"/>
              <a:t>GT </a:t>
            </a:r>
            <a:r>
              <a:rPr lang="zh-CN" altLang="en-US"/>
              <a:t>和 </a:t>
            </a:r>
            <a:r>
              <a:rPr lang="en-US" altLang="zh-CN"/>
              <a:t>CryoAtom2 </a:t>
            </a:r>
            <a:r>
              <a:rPr lang="zh-CN" altLang="en-US"/>
              <a:t>分别使用真实受体及其模拟密度、重建受体及其模拟密度，实验密度相同。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E298C2-A30B-44B3-AA90-2D6ADA8A489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736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真实受体与其模拟密度及实验密度条件下，单次中心模型的小分子端到端构象重建。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中，前 </a:t>
            </a:r>
            <a:r>
              <a:rPr lang="en-US" altLang="zh-CN"/>
              <a:t>K </a:t>
            </a:r>
            <a:r>
              <a:rPr lang="zh-CN" altLang="en-US"/>
              <a:t>个计费位点只要有一个姿态的重原子 </a:t>
            </a:r>
            <a:r>
              <a:rPr lang="en-US" altLang="zh-CN"/>
              <a:t>RMSD </a:t>
            </a:r>
            <a:r>
              <a:rPr lang="zh-CN" altLang="en-US"/>
              <a:t>严格小于 </a:t>
            </a:r>
            <a:r>
              <a:rPr lang="en-US" altLang="zh-CN"/>
              <a:t>2 Å </a:t>
            </a:r>
            <a:r>
              <a:rPr lang="zh-CN" altLang="en-US"/>
              <a:t>或 </a:t>
            </a:r>
            <a:r>
              <a:rPr lang="en-US" altLang="zh-CN"/>
              <a:t>3 Å</a:t>
            </a:r>
            <a:r>
              <a:rPr lang="zh-CN" altLang="en-US"/>
              <a:t>，该 </a:t>
            </a:r>
            <a:r>
              <a:rPr lang="en-US" altLang="zh-CN"/>
              <a:t>PDB </a:t>
            </a:r>
            <a:r>
              <a:rPr lang="zh-CN" altLang="en-US"/>
              <a:t>即记为成功。实线为各位点自评分首位姿态；虚线为各位点 </a:t>
            </a:r>
            <a:r>
              <a:rPr lang="en-US" altLang="zh-CN"/>
              <a:t>50 </a:t>
            </a:r>
            <a:r>
              <a:rPr lang="zh-CN" altLang="en-US"/>
              <a:t>个姿态中的事后最低 </a:t>
            </a:r>
            <a:r>
              <a:rPr lang="en-US" altLang="zh-CN"/>
              <a:t>RMSD</a:t>
            </a:r>
            <a:r>
              <a:rPr lang="zh-CN" altLang="en-US"/>
              <a:t>。</a:t>
            </a:r>
            <a:r>
              <a:rPr lang="en-US" altLang="zh-CN"/>
              <a:t>K=1–10</a:t>
            </a:r>
            <a:r>
              <a:rPr lang="zh-CN" altLang="en-US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E298C2-A30B-44B3-AA90-2D6ADA8A4897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52437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CryoAtom2 </a:t>
            </a:r>
            <a:r>
              <a:rPr lang="zh-CN" altLang="en-US"/>
              <a:t>受体与其模拟密度及实验密度条件下，单次中心模型的小分子端到端构象重建。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中，前 </a:t>
            </a:r>
            <a:r>
              <a:rPr lang="en-US" altLang="zh-CN"/>
              <a:t>K </a:t>
            </a:r>
            <a:r>
              <a:rPr lang="zh-CN" altLang="en-US"/>
              <a:t>个计费位点只要有一个姿态的重原子 </a:t>
            </a:r>
            <a:r>
              <a:rPr lang="en-US" altLang="zh-CN"/>
              <a:t>RMSD </a:t>
            </a:r>
            <a:r>
              <a:rPr lang="zh-CN" altLang="en-US"/>
              <a:t>严格小于 </a:t>
            </a:r>
            <a:r>
              <a:rPr lang="en-US" altLang="zh-CN"/>
              <a:t>2 Å </a:t>
            </a:r>
            <a:r>
              <a:rPr lang="zh-CN" altLang="en-US"/>
              <a:t>或 </a:t>
            </a:r>
            <a:r>
              <a:rPr lang="en-US" altLang="zh-CN"/>
              <a:t>3 Å</a:t>
            </a:r>
            <a:r>
              <a:rPr lang="zh-CN" altLang="en-US"/>
              <a:t>，该 </a:t>
            </a:r>
            <a:r>
              <a:rPr lang="en-US" altLang="zh-CN"/>
              <a:t>PDB </a:t>
            </a:r>
            <a:r>
              <a:rPr lang="zh-CN" altLang="en-US"/>
              <a:t>即记为成功。实线为各位点自评分首位姿态；虚线为各位点 </a:t>
            </a:r>
            <a:r>
              <a:rPr lang="en-US" altLang="zh-CN"/>
              <a:t>50 </a:t>
            </a:r>
            <a:r>
              <a:rPr lang="zh-CN" altLang="en-US"/>
              <a:t>个姿态中的事后最低 </a:t>
            </a:r>
            <a:r>
              <a:rPr lang="en-US" altLang="zh-CN"/>
              <a:t>RMSD</a:t>
            </a:r>
            <a:r>
              <a:rPr lang="zh-CN" altLang="en-US"/>
              <a:t>。</a:t>
            </a:r>
            <a:r>
              <a:rPr lang="en-US" altLang="zh-CN"/>
              <a:t>K=1–10</a:t>
            </a:r>
            <a:r>
              <a:rPr lang="zh-CN" altLang="en-US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E298C2-A30B-44B3-AA90-2D6ADA8A4897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3090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CryoAtom2 </a:t>
            </a:r>
            <a:r>
              <a:rPr lang="zh-CN" altLang="en-US"/>
              <a:t>受体与其模拟密度及实验密度条件下，两次中心模型的小分子端到端构象重建。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中，前 </a:t>
            </a:r>
            <a:r>
              <a:rPr lang="en-US" altLang="zh-CN"/>
              <a:t>K </a:t>
            </a:r>
            <a:r>
              <a:rPr lang="zh-CN" altLang="en-US"/>
              <a:t>个计费位点只要有一个姿态的重原子 </a:t>
            </a:r>
            <a:r>
              <a:rPr lang="en-US" altLang="zh-CN"/>
              <a:t>RMSD </a:t>
            </a:r>
            <a:r>
              <a:rPr lang="zh-CN" altLang="en-US"/>
              <a:t>严格小于 </a:t>
            </a:r>
            <a:r>
              <a:rPr lang="en-US" altLang="zh-CN"/>
              <a:t>2 Å </a:t>
            </a:r>
            <a:r>
              <a:rPr lang="zh-CN" altLang="en-US"/>
              <a:t>或 </a:t>
            </a:r>
            <a:r>
              <a:rPr lang="en-US" altLang="zh-CN"/>
              <a:t>3 Å</a:t>
            </a:r>
            <a:r>
              <a:rPr lang="zh-CN" altLang="en-US"/>
              <a:t>，该 </a:t>
            </a:r>
            <a:r>
              <a:rPr lang="en-US" altLang="zh-CN"/>
              <a:t>PDB </a:t>
            </a:r>
            <a:r>
              <a:rPr lang="zh-CN" altLang="en-US"/>
              <a:t>即记为成功。实线为各位点自评分首位姿态；虚线为各位点 </a:t>
            </a:r>
            <a:r>
              <a:rPr lang="en-US" altLang="zh-CN"/>
              <a:t>50 </a:t>
            </a:r>
            <a:r>
              <a:rPr lang="zh-CN" altLang="en-US"/>
              <a:t>个姿态中的事后最低 </a:t>
            </a:r>
            <a:r>
              <a:rPr lang="en-US" altLang="zh-CN"/>
              <a:t>RMSD</a:t>
            </a:r>
            <a:r>
              <a:rPr lang="zh-CN" altLang="en-US"/>
              <a:t>。</a:t>
            </a:r>
            <a:r>
              <a:rPr lang="en-US" altLang="zh-CN"/>
              <a:t>K=1–10</a:t>
            </a:r>
            <a:r>
              <a:rPr lang="zh-CN" altLang="en-US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E298C2-A30B-44B3-AA90-2D6ADA8A489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15294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CryoAtom2 </a:t>
            </a:r>
            <a:r>
              <a:rPr lang="zh-CN" altLang="en-US"/>
              <a:t>受体与其模拟密度及实验密度条件下，两次中心模型后接包络模型的小分子端到端构象重建。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中，前 </a:t>
            </a:r>
            <a:r>
              <a:rPr lang="en-US" altLang="zh-CN"/>
              <a:t>K </a:t>
            </a:r>
            <a:r>
              <a:rPr lang="zh-CN" altLang="en-US"/>
              <a:t>个计费位点只要有一个姿态的重原子 </a:t>
            </a:r>
            <a:r>
              <a:rPr lang="en-US" altLang="zh-CN"/>
              <a:t>RMSD </a:t>
            </a:r>
            <a:r>
              <a:rPr lang="zh-CN" altLang="en-US"/>
              <a:t>严格小于 </a:t>
            </a:r>
            <a:r>
              <a:rPr lang="en-US" altLang="zh-CN"/>
              <a:t>2 Å </a:t>
            </a:r>
            <a:r>
              <a:rPr lang="zh-CN" altLang="en-US"/>
              <a:t>或 </a:t>
            </a:r>
            <a:r>
              <a:rPr lang="en-US" altLang="zh-CN"/>
              <a:t>3 Å</a:t>
            </a:r>
            <a:r>
              <a:rPr lang="zh-CN" altLang="en-US"/>
              <a:t>，该 </a:t>
            </a:r>
            <a:r>
              <a:rPr lang="en-US" altLang="zh-CN"/>
              <a:t>PDB </a:t>
            </a:r>
            <a:r>
              <a:rPr lang="zh-CN" altLang="en-US"/>
              <a:t>即记为成功。实线为各位点自评分首位姿态；虚线为各位点 </a:t>
            </a:r>
            <a:r>
              <a:rPr lang="en-US" altLang="zh-CN"/>
              <a:t>50 </a:t>
            </a:r>
            <a:r>
              <a:rPr lang="zh-CN" altLang="en-US"/>
              <a:t>个姿态中的事后最低 </a:t>
            </a:r>
            <a:r>
              <a:rPr lang="en-US" altLang="zh-CN"/>
              <a:t>RMSD</a:t>
            </a:r>
            <a:r>
              <a:rPr lang="zh-CN" altLang="en-US"/>
              <a:t>。</a:t>
            </a:r>
            <a:r>
              <a:rPr lang="en-US" altLang="zh-CN"/>
              <a:t>K=1–10</a:t>
            </a:r>
            <a:r>
              <a:rPr lang="zh-CN" altLang="en-US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E298C2-A30B-44B3-AA90-2D6ADA8A489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1044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40F1A1-568D-24A4-D07E-53F8DAEFD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42B8C28-D3B5-FA23-0EFB-5DBE0B9AA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3FE57C-72D7-5AA9-6140-1F50DAB9C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CF5B6B-65F2-E2FD-EC92-9F87F73CC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4ABDC4-9488-29F0-8CEC-0331D017E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4555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0861B-29BF-02E4-9A1C-8FE3BD39A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6E47CD-9ABB-F254-C442-A49B3574F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5FC73A-6D0F-FF66-B1E7-B12DE13E6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C89048-8E54-CC25-E431-DDC52E190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0F7B63-0F43-0420-51BD-1B5C802C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130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6F5128-4165-F4A1-AFAF-23FE0EC61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FA1A58-E6F3-BB25-D6F7-F3C505546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CEF30B-BFAF-7D3D-A4D2-A6E22D2E3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17DCF6-CF67-E0D3-A9FC-98A070803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73ED60-F0ED-731F-4D74-909E95E65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2348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5B53E-A5C7-8974-C31B-C0443B10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6E739F-43DD-B008-51B0-975506CD5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6DBFF48-BF65-9AAD-37D2-E87F5DCE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4C4466-A682-612C-5FF7-B2025B2D6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482E4EB-158D-B7D8-C424-B295B05E2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E58D73-5438-A30A-A125-CE92280E5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2341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D36F6C-4532-C0BB-5EFD-1230C7030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1E17C2-DE65-DB9E-AB28-CBDC56CDD7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EB50023-1736-A9D8-1845-2A7EAC9B9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2CC7A56-B850-857E-0F5F-25F6F97B37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8F39C3B-AA4D-624C-6571-A27455A717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3911669-AAA0-D7E1-F786-DE924B9F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3CEB335-5F8F-9ACA-E12C-EF83F1813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BC4D68-7330-4424-302E-5E467B960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704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F97064-5D51-6C62-D2F1-9028B371E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1C44680-C7AE-3E95-7F0D-0A154685E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8198E6C-0D83-2269-2392-0F194F079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D154B87-960A-1870-F8EB-CABCDA7E8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3208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43D0E11-DDD8-7635-6902-BB64B3A91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A2B9231-19BB-C31B-0F3E-4F6A5EF97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C7F968-65A4-1896-F86E-04A1EC4D7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5341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2985A1-5B7B-5D75-E5E3-FD1BB2AB9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B726F7-1128-6BD4-E50E-18F7764E1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09B8980-584A-B503-6C87-85159BBEEF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B99A26-1AFB-27EC-7D75-572639213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DC11F98-55DD-C2AF-B568-7AFE9ABF2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8EA414D-3B4D-ABB5-B1A2-28B765518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25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629E36-1A02-8911-FBBA-091DF4C0C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CEB413C-0613-FD5C-FEFC-BCEC27C8F95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E40AFBE-FD2A-1286-F4A5-7B267FC066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91C964-5720-3689-3520-107D7FD69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AC3AD6-DAED-F9E0-274A-B8A908F76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229107-5D8A-33D6-17BC-F1BE9BE53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97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208141-2CD4-1B28-0536-1F55BF28A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034912E-A71D-CC02-61E3-EB752E57E9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814DDF6-BCD9-7547-AC8D-EF57C87F7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6C72A7-A1D2-0C99-5BCE-E5BF65E89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49D968-C56E-E97C-6997-16A03DBDE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4812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226E389-151A-DCB0-3B6A-F31B340BEE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C902EE-C9DB-03DE-A549-3232543FE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411A03-BA80-E162-0803-E4DF073A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0E2A15-9058-65EC-918C-716896586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7A2347-C46D-51BD-53C6-B77BB0AA0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9398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88F9C45-68FE-AE07-F272-DAAB0FC74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97402E-F223-F40E-6DF9-2CC48EBFE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040929-0D6D-C232-0C81-30E817F523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C8448-01DC-4DF7-9379-FEACA59ECA66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618DDF-7875-D3EF-6F39-FA13CCFDE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5E5953-AC55-BA2D-3884-C6E79B996A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DBB785-97F4-4E08-9317-D1EF778AB8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2670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D4621BC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3D5D910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B3B943B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2B5F767C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CD34717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4023BCC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54DC5B-A100-4A9C-10FE-48EDB98A6927}"/>
              </a:ext>
            </a:extLst>
          </p:cNvPr>
          <p:cNvSpPr txBox="1"/>
          <p:nvPr/>
        </p:nvSpPr>
        <p:spPr>
          <a:xfrm>
            <a:off x="1016000" y="381000"/>
            <a:ext cx="6275757" cy="3539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2300" b="1">
                <a:solidFill>
                  <a:srgbClr val="263746"/>
                </a:solidFill>
                <a:latin typeface="Arial" panose="020B0604020202020204" pitchFamily="34" charset="0"/>
              </a:rPr>
              <a:t>From ligand detection to identity assignment</a:t>
            </a:r>
            <a:endParaRPr lang="zh-CN" altLang="en-US" sz="23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ED1973E-F159-5CED-9F3A-0B07F6FBFF18}"/>
              </a:ext>
            </a:extLst>
          </p:cNvPr>
          <p:cNvSpPr txBox="1"/>
          <p:nvPr/>
        </p:nvSpPr>
        <p:spPr>
          <a:xfrm>
            <a:off x="1016000" y="876300"/>
            <a:ext cx="337913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647483"/>
                </a:solidFill>
                <a:latin typeface="Arial" panose="020B0604020202020204" pitchFamily="34" charset="0"/>
              </a:rPr>
              <a:t>All ligand classes · 179 PDBs · top-K ranked sites</a:t>
            </a:r>
            <a:endParaRPr lang="zh-CN" altLang="en-US" sz="12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BCD143C-5ACD-90AA-D9F4-C423B08BD49F}"/>
              </a:ext>
            </a:extLst>
          </p:cNvPr>
          <p:cNvCxnSpPr/>
          <p:nvPr/>
        </p:nvCxnSpPr>
        <p:spPr>
          <a:xfrm>
            <a:off x="10922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BE2FA9B8-52EF-475B-1ED3-453A34CFE695}"/>
              </a:ext>
            </a:extLst>
          </p:cNvPr>
          <p:cNvSpPr/>
          <p:nvPr/>
        </p:nvSpPr>
        <p:spPr>
          <a:xfrm>
            <a:off x="12255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2D8EE-6609-2FD0-172C-CEAD99E01600}"/>
              </a:ext>
            </a:extLst>
          </p:cNvPr>
          <p:cNvSpPr txBox="1"/>
          <p:nvPr/>
        </p:nvSpPr>
        <p:spPr>
          <a:xfrm>
            <a:off x="1574800" y="1371600"/>
            <a:ext cx="594715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B8554A8-612A-B656-4E07-FC38A41BA081}"/>
              </a:ext>
            </a:extLst>
          </p:cNvPr>
          <p:cNvCxnSpPr/>
          <p:nvPr/>
        </p:nvCxnSpPr>
        <p:spPr>
          <a:xfrm>
            <a:off x="46736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C83EE162-C242-62B2-FF9D-BB74B5D43FED}"/>
              </a:ext>
            </a:extLst>
          </p:cNvPr>
          <p:cNvSpPr/>
          <p:nvPr/>
        </p:nvSpPr>
        <p:spPr>
          <a:xfrm>
            <a:off x="48069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DBA950-0C51-74BC-5A51-3BDCA0F7A79F}"/>
              </a:ext>
            </a:extLst>
          </p:cNvPr>
          <p:cNvSpPr txBox="1"/>
          <p:nvPr/>
        </p:nvSpPr>
        <p:spPr>
          <a:xfrm>
            <a:off x="5156200" y="1371600"/>
            <a:ext cx="1059585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8292864-750A-CEEF-CBF6-97CA1877D2DB}"/>
              </a:ext>
            </a:extLst>
          </p:cNvPr>
          <p:cNvCxnSpPr/>
          <p:nvPr/>
        </p:nvCxnSpPr>
        <p:spPr>
          <a:xfrm>
            <a:off x="8255000" y="1473200"/>
            <a:ext cx="342900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7DC286BA-60EA-8BEA-1043-48E0CE1BCB0A}"/>
              </a:ext>
            </a:extLst>
          </p:cNvPr>
          <p:cNvSpPr/>
          <p:nvPr/>
        </p:nvSpPr>
        <p:spPr>
          <a:xfrm>
            <a:off x="8388350" y="1435100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4249F1-0D44-F373-5F58-9660762B734C}"/>
              </a:ext>
            </a:extLst>
          </p:cNvPr>
          <p:cNvSpPr txBox="1"/>
          <p:nvPr/>
        </p:nvSpPr>
        <p:spPr>
          <a:xfrm>
            <a:off x="8737600" y="1371600"/>
            <a:ext cx="110447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Find · CryoAtom2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621F971-1452-8695-F530-8BB571BE3900}"/>
              </a:ext>
            </a:extLst>
          </p:cNvPr>
          <p:cNvCxnSpPr/>
          <p:nvPr/>
        </p:nvCxnSpPr>
        <p:spPr>
          <a:xfrm>
            <a:off x="1092200" y="1803400"/>
            <a:ext cx="342900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D6867C77-78EC-2B8E-62B3-630406B8E6E4}"/>
              </a:ext>
            </a:extLst>
          </p:cNvPr>
          <p:cNvSpPr/>
          <p:nvPr/>
        </p:nvSpPr>
        <p:spPr>
          <a:xfrm>
            <a:off x="1225550" y="1765300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6CFD29-2001-6A96-59A7-D3FE239B06C6}"/>
              </a:ext>
            </a:extLst>
          </p:cNvPr>
          <p:cNvSpPr txBox="1"/>
          <p:nvPr/>
        </p:nvSpPr>
        <p:spPr>
          <a:xfrm>
            <a:off x="1574800" y="1701800"/>
            <a:ext cx="156934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Find+Match · CryoAtom2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0CCB02F-77EB-D5ED-7241-CF9416289D30}"/>
              </a:ext>
            </a:extLst>
          </p:cNvPr>
          <p:cNvCxnSpPr/>
          <p:nvPr/>
        </p:nvCxnSpPr>
        <p:spPr>
          <a:xfrm>
            <a:off x="4673600" y="1803400"/>
            <a:ext cx="342900" cy="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6160DDBA-D71F-88A8-1269-7FA587EEFC54}"/>
              </a:ext>
            </a:extLst>
          </p:cNvPr>
          <p:cNvSpPr/>
          <p:nvPr/>
        </p:nvSpPr>
        <p:spPr>
          <a:xfrm>
            <a:off x="4806950" y="1765300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6E7C10D-C76F-EBDD-6A75-DC962D55EEF6}"/>
              </a:ext>
            </a:extLst>
          </p:cNvPr>
          <p:cNvSpPr txBox="1"/>
          <p:nvPr/>
        </p:nvSpPr>
        <p:spPr>
          <a:xfrm>
            <a:off x="5156200" y="1701800"/>
            <a:ext cx="912109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6210EA3-8F01-4BDE-E7E9-D26EEE7545C5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1279FAF-9783-E57A-DFF0-9CFCB4D14C69}"/>
              </a:ext>
            </a:extLst>
          </p:cNvPr>
          <p:cNvSpPr txBox="1"/>
          <p:nvPr/>
        </p:nvSpPr>
        <p:spPr>
          <a:xfrm>
            <a:off x="635000" y="56515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B3FFCF9-8686-2CFC-BBAB-258F868C4FDC}"/>
              </a:ext>
            </a:extLst>
          </p:cNvPr>
          <p:cNvCxnSpPr/>
          <p:nvPr/>
        </p:nvCxnSpPr>
        <p:spPr>
          <a:xfrm>
            <a:off x="1155700" y="506222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64F0B675-975F-663E-33CE-45D0A3C7D7AA}"/>
              </a:ext>
            </a:extLst>
          </p:cNvPr>
          <p:cNvSpPr txBox="1"/>
          <p:nvPr/>
        </p:nvSpPr>
        <p:spPr>
          <a:xfrm>
            <a:off x="635000" y="496062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3E5AB2-21B5-7B0C-C9BD-8D47AB4F9E4F}"/>
              </a:ext>
            </a:extLst>
          </p:cNvPr>
          <p:cNvCxnSpPr/>
          <p:nvPr/>
        </p:nvCxnSpPr>
        <p:spPr>
          <a:xfrm>
            <a:off x="1155700" y="437134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38D91536-42C1-3A48-ABD4-CD6723C4E81E}"/>
              </a:ext>
            </a:extLst>
          </p:cNvPr>
          <p:cNvSpPr txBox="1"/>
          <p:nvPr/>
        </p:nvSpPr>
        <p:spPr>
          <a:xfrm>
            <a:off x="635000" y="426974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172C16D-22EE-6D05-0B25-003FF5E5D209}"/>
              </a:ext>
            </a:extLst>
          </p:cNvPr>
          <p:cNvCxnSpPr/>
          <p:nvPr/>
        </p:nvCxnSpPr>
        <p:spPr>
          <a:xfrm>
            <a:off x="1155700" y="368046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BA738799-2088-9830-4CAD-F5F4E49DBBC1}"/>
              </a:ext>
            </a:extLst>
          </p:cNvPr>
          <p:cNvSpPr txBox="1"/>
          <p:nvPr/>
        </p:nvSpPr>
        <p:spPr>
          <a:xfrm>
            <a:off x="635000" y="357886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907F51C-C1BE-E298-4467-03DFB9A2AFB9}"/>
              </a:ext>
            </a:extLst>
          </p:cNvPr>
          <p:cNvCxnSpPr/>
          <p:nvPr/>
        </p:nvCxnSpPr>
        <p:spPr>
          <a:xfrm>
            <a:off x="1155700" y="298958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0788EB5B-191E-AB01-E8A9-6B571FD43127}"/>
              </a:ext>
            </a:extLst>
          </p:cNvPr>
          <p:cNvSpPr txBox="1"/>
          <p:nvPr/>
        </p:nvSpPr>
        <p:spPr>
          <a:xfrm>
            <a:off x="635000" y="288798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24BDEA1-8CB0-11FC-6BA5-C1A39BB881FA}"/>
              </a:ext>
            </a:extLst>
          </p:cNvPr>
          <p:cNvCxnSpPr/>
          <p:nvPr/>
        </p:nvCxnSpPr>
        <p:spPr>
          <a:xfrm>
            <a:off x="1155700" y="22987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92F4858C-534C-E248-C0BC-8671DDA6BCBA}"/>
              </a:ext>
            </a:extLst>
          </p:cNvPr>
          <p:cNvSpPr txBox="1"/>
          <p:nvPr/>
        </p:nvSpPr>
        <p:spPr>
          <a:xfrm>
            <a:off x="635000" y="2197100"/>
            <a:ext cx="211596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2588BE82-0F9A-EF99-5E85-C3C73AB98267}"/>
              </a:ext>
            </a:extLst>
          </p:cNvPr>
          <p:cNvCxnSpPr/>
          <p:nvPr/>
        </p:nvCxnSpPr>
        <p:spPr>
          <a:xfrm>
            <a:off x="1155700" y="2298700"/>
            <a:ext cx="0" cy="345440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1BCC844-560D-1389-D100-D27A630F389C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4EB4E352-50CD-3CE7-FE81-3DEAA57A1B3E}"/>
              </a:ext>
            </a:extLst>
          </p:cNvPr>
          <p:cNvSpPr txBox="1"/>
          <p:nvPr/>
        </p:nvSpPr>
        <p:spPr>
          <a:xfrm>
            <a:off x="10541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1A6DF4-6FDB-B73D-675A-0DCCFBC70E2E}"/>
              </a:ext>
            </a:extLst>
          </p:cNvPr>
          <p:cNvSpPr txBox="1"/>
          <p:nvPr/>
        </p:nvSpPr>
        <p:spPr>
          <a:xfrm>
            <a:off x="21505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4CDF9F2-8262-6643-58F9-1C6CAACAAD05}"/>
              </a:ext>
            </a:extLst>
          </p:cNvPr>
          <p:cNvSpPr txBox="1"/>
          <p:nvPr/>
        </p:nvSpPr>
        <p:spPr>
          <a:xfrm>
            <a:off x="32469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3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5EE91ED-05E5-605C-2E35-787D35957D62}"/>
              </a:ext>
            </a:extLst>
          </p:cNvPr>
          <p:cNvSpPr txBox="1"/>
          <p:nvPr/>
        </p:nvSpPr>
        <p:spPr>
          <a:xfrm>
            <a:off x="43434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89AABEA-9C54-F91B-D279-194CF782F608}"/>
              </a:ext>
            </a:extLst>
          </p:cNvPr>
          <p:cNvSpPr txBox="1"/>
          <p:nvPr/>
        </p:nvSpPr>
        <p:spPr>
          <a:xfrm>
            <a:off x="54398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5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E8468E5-8EDB-FF1F-4819-50A3368E4185}"/>
              </a:ext>
            </a:extLst>
          </p:cNvPr>
          <p:cNvSpPr txBox="1"/>
          <p:nvPr/>
        </p:nvSpPr>
        <p:spPr>
          <a:xfrm>
            <a:off x="65362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2FAD8D-CC1F-7AEE-E689-35DCEAA5E53F}"/>
              </a:ext>
            </a:extLst>
          </p:cNvPr>
          <p:cNvSpPr txBox="1"/>
          <p:nvPr/>
        </p:nvSpPr>
        <p:spPr>
          <a:xfrm>
            <a:off x="76327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7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B8A3E81-B80D-C23E-483D-F5459AD1F702}"/>
              </a:ext>
            </a:extLst>
          </p:cNvPr>
          <p:cNvSpPr txBox="1"/>
          <p:nvPr/>
        </p:nvSpPr>
        <p:spPr>
          <a:xfrm>
            <a:off x="87291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03C5783-8753-6A00-1F5C-E1476623FDBC}"/>
              </a:ext>
            </a:extLst>
          </p:cNvPr>
          <p:cNvSpPr txBox="1"/>
          <p:nvPr/>
        </p:nvSpPr>
        <p:spPr>
          <a:xfrm>
            <a:off x="98255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9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AF3A20-4DBA-E43D-87A5-A3A75EDCC284}"/>
              </a:ext>
            </a:extLst>
          </p:cNvPr>
          <p:cNvSpPr txBox="1"/>
          <p:nvPr/>
        </p:nvSpPr>
        <p:spPr>
          <a:xfrm>
            <a:off x="10922000" y="589280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B062C29-BD70-C21A-5796-F5FD5167238A}"/>
              </a:ext>
            </a:extLst>
          </p:cNvPr>
          <p:cNvSpPr txBox="1"/>
          <p:nvPr/>
        </p:nvSpPr>
        <p:spPr>
          <a:xfrm>
            <a:off x="5200650" y="6261100"/>
            <a:ext cx="95539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200">
                <a:solidFill>
                  <a:srgbClr val="263746"/>
                </a:solidFill>
                <a:latin typeface="Arial" panose="020B0604020202020204" pitchFamily="34" charset="0"/>
              </a:rPr>
              <a:t>Ranked site K</a:t>
            </a:r>
            <a:endParaRPr lang="zh-CN" altLang="en-US" sz="12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A8E3C58-F5C0-AF16-3CD3-3AAA030166AB}"/>
              </a:ext>
            </a:extLst>
          </p:cNvPr>
          <p:cNvSpPr txBox="1"/>
          <p:nvPr/>
        </p:nvSpPr>
        <p:spPr>
          <a:xfrm>
            <a:off x="1155700" y="1993900"/>
            <a:ext cx="137698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647483"/>
                </a:solidFill>
                <a:latin typeface="Arial" panose="020B0604020202020204" pitchFamily="34" charset="0"/>
              </a:rPr>
              <a:t>PDB success rate (%)</a:t>
            </a:r>
            <a:endParaRPr lang="zh-CN" altLang="en-US" sz="11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202C25D-BA5C-04D1-5C0F-EF0B9F4987BF}"/>
              </a:ext>
            </a:extLst>
          </p:cNvPr>
          <p:cNvCxnSpPr/>
          <p:nvPr/>
        </p:nvCxnSpPr>
        <p:spPr>
          <a:xfrm flipV="1">
            <a:off x="1155700" y="2665368"/>
            <a:ext cx="1096433" cy="23158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AB468405-47F6-01FB-BED6-C8FA06EDAA5F}"/>
              </a:ext>
            </a:extLst>
          </p:cNvPr>
          <p:cNvCxnSpPr/>
          <p:nvPr/>
        </p:nvCxnSpPr>
        <p:spPr>
          <a:xfrm flipV="1">
            <a:off x="2252133" y="2568877"/>
            <a:ext cx="1096434" cy="96491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F523DBF-2C77-AF43-076E-F2290DAE868A}"/>
              </a:ext>
            </a:extLst>
          </p:cNvPr>
          <p:cNvCxnSpPr/>
          <p:nvPr/>
        </p:nvCxnSpPr>
        <p:spPr>
          <a:xfrm>
            <a:off x="3348567" y="2568877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FDAA81E-D455-1B8B-24D7-8DEA59581DBC}"/>
              </a:ext>
            </a:extLst>
          </p:cNvPr>
          <p:cNvCxnSpPr/>
          <p:nvPr/>
        </p:nvCxnSpPr>
        <p:spPr>
          <a:xfrm flipV="1">
            <a:off x="4445000" y="2549578"/>
            <a:ext cx="1096433" cy="19299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6C39176-B512-C102-DF7B-785850CA80F1}"/>
              </a:ext>
            </a:extLst>
          </p:cNvPr>
          <p:cNvCxnSpPr/>
          <p:nvPr/>
        </p:nvCxnSpPr>
        <p:spPr>
          <a:xfrm>
            <a:off x="5541433" y="2549578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088F4D4-A7CE-C3A7-3EDE-A120F106E218}"/>
              </a:ext>
            </a:extLst>
          </p:cNvPr>
          <p:cNvCxnSpPr/>
          <p:nvPr/>
        </p:nvCxnSpPr>
        <p:spPr>
          <a:xfrm flipV="1">
            <a:off x="6637867" y="2530280"/>
            <a:ext cx="1096433" cy="19298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3BCBE27-29CA-93DF-3048-EB9177512C69}"/>
              </a:ext>
            </a:extLst>
          </p:cNvPr>
          <p:cNvCxnSpPr/>
          <p:nvPr/>
        </p:nvCxnSpPr>
        <p:spPr>
          <a:xfrm>
            <a:off x="7734300" y="2530280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098E399A-1CA4-68F0-1D9F-FAA373FF6D6B}"/>
              </a:ext>
            </a:extLst>
          </p:cNvPr>
          <p:cNvCxnSpPr/>
          <p:nvPr/>
        </p:nvCxnSpPr>
        <p:spPr>
          <a:xfrm>
            <a:off x="8830733" y="2530280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063E594-B75A-5C37-0221-37F8652327E5}"/>
              </a:ext>
            </a:extLst>
          </p:cNvPr>
          <p:cNvCxnSpPr/>
          <p:nvPr/>
        </p:nvCxnSpPr>
        <p:spPr>
          <a:xfrm>
            <a:off x="9927167" y="2530280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EBE6B19D-420A-673C-7E11-53C9878E8705}"/>
              </a:ext>
            </a:extLst>
          </p:cNvPr>
          <p:cNvSpPr/>
          <p:nvPr/>
        </p:nvSpPr>
        <p:spPr>
          <a:xfrm>
            <a:off x="1117600" y="285884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2FBC3FF0-DD96-2BAA-EF75-3F0385D252C5}"/>
              </a:ext>
            </a:extLst>
          </p:cNvPr>
          <p:cNvSpPr/>
          <p:nvPr/>
        </p:nvSpPr>
        <p:spPr>
          <a:xfrm>
            <a:off x="2214033" y="262726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386C8D96-B953-70B2-ED4D-1FBC8530EC40}"/>
              </a:ext>
            </a:extLst>
          </p:cNvPr>
          <p:cNvSpPr/>
          <p:nvPr/>
        </p:nvSpPr>
        <p:spPr>
          <a:xfrm>
            <a:off x="3310467" y="253077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ED24187B-8468-B8D1-B720-CFC5CEFA1CD7}"/>
              </a:ext>
            </a:extLst>
          </p:cNvPr>
          <p:cNvSpPr/>
          <p:nvPr/>
        </p:nvSpPr>
        <p:spPr>
          <a:xfrm>
            <a:off x="4406900" y="253077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34274921-DB94-7F46-D91D-0958494FB7CF}"/>
              </a:ext>
            </a:extLst>
          </p:cNvPr>
          <p:cNvSpPr/>
          <p:nvPr/>
        </p:nvSpPr>
        <p:spPr>
          <a:xfrm>
            <a:off x="5503333" y="251147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0F59DB6C-26B0-3631-A278-711264985C89}"/>
              </a:ext>
            </a:extLst>
          </p:cNvPr>
          <p:cNvSpPr/>
          <p:nvPr/>
        </p:nvSpPr>
        <p:spPr>
          <a:xfrm>
            <a:off x="6599767" y="251147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10F9DE16-635C-2BA4-F129-7E639690E384}"/>
              </a:ext>
            </a:extLst>
          </p:cNvPr>
          <p:cNvSpPr/>
          <p:nvPr/>
        </p:nvSpPr>
        <p:spPr>
          <a:xfrm>
            <a:off x="7696200" y="249218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DF054F0D-F7C4-98E0-BE83-1EF013EE6B38}"/>
              </a:ext>
            </a:extLst>
          </p:cNvPr>
          <p:cNvSpPr/>
          <p:nvPr/>
        </p:nvSpPr>
        <p:spPr>
          <a:xfrm>
            <a:off x="8792633" y="249218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DD5A23D2-F7C4-C1F0-53AD-78013249077D}"/>
              </a:ext>
            </a:extLst>
          </p:cNvPr>
          <p:cNvSpPr/>
          <p:nvPr/>
        </p:nvSpPr>
        <p:spPr>
          <a:xfrm>
            <a:off x="9889067" y="249218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46C7B5D9-73BA-A89A-3AE4-D5B66806E33E}"/>
              </a:ext>
            </a:extLst>
          </p:cNvPr>
          <p:cNvSpPr/>
          <p:nvPr/>
        </p:nvSpPr>
        <p:spPr>
          <a:xfrm>
            <a:off x="10985500" y="249218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489B8C1-AE9F-8A5C-05F3-9127ABB1935B}"/>
              </a:ext>
            </a:extLst>
          </p:cNvPr>
          <p:cNvCxnSpPr/>
          <p:nvPr/>
        </p:nvCxnSpPr>
        <p:spPr>
          <a:xfrm flipV="1">
            <a:off x="1155700" y="2742561"/>
            <a:ext cx="1096433" cy="270177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5EBFA89-BA73-7940-C93B-4DCECC9BCA20}"/>
              </a:ext>
            </a:extLst>
          </p:cNvPr>
          <p:cNvCxnSpPr/>
          <p:nvPr/>
        </p:nvCxnSpPr>
        <p:spPr>
          <a:xfrm flipV="1">
            <a:off x="2252133" y="2646070"/>
            <a:ext cx="1096434" cy="96491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A25409D4-D94E-D2D4-4C45-B63C0E26FB89}"/>
              </a:ext>
            </a:extLst>
          </p:cNvPr>
          <p:cNvCxnSpPr/>
          <p:nvPr/>
        </p:nvCxnSpPr>
        <p:spPr>
          <a:xfrm flipV="1">
            <a:off x="3348567" y="2626771"/>
            <a:ext cx="1096433" cy="19299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BED186EB-EC81-5E7F-189C-C3FAD0F8D3C4}"/>
              </a:ext>
            </a:extLst>
          </p:cNvPr>
          <p:cNvCxnSpPr/>
          <p:nvPr/>
        </p:nvCxnSpPr>
        <p:spPr>
          <a:xfrm flipV="1">
            <a:off x="4445000" y="2607473"/>
            <a:ext cx="1096433" cy="19298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9F08A10C-317F-299A-DC1F-87F60A0B3995}"/>
              </a:ext>
            </a:extLst>
          </p:cNvPr>
          <p:cNvCxnSpPr/>
          <p:nvPr/>
        </p:nvCxnSpPr>
        <p:spPr>
          <a:xfrm flipV="1">
            <a:off x="5541433" y="2588175"/>
            <a:ext cx="1096434" cy="19298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F76409C-4E7A-DFFF-A9A7-43501DE5A797}"/>
              </a:ext>
            </a:extLst>
          </p:cNvPr>
          <p:cNvCxnSpPr/>
          <p:nvPr/>
        </p:nvCxnSpPr>
        <p:spPr>
          <a:xfrm flipV="1">
            <a:off x="6637867" y="2568877"/>
            <a:ext cx="1096433" cy="19298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E0BB5C0E-DE9A-3FB4-8762-2697EFC79FEF}"/>
              </a:ext>
            </a:extLst>
          </p:cNvPr>
          <p:cNvCxnSpPr/>
          <p:nvPr/>
        </p:nvCxnSpPr>
        <p:spPr>
          <a:xfrm>
            <a:off x="7734300" y="2568877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65470E0-1B6C-9C7C-EB39-A67F8870F169}"/>
              </a:ext>
            </a:extLst>
          </p:cNvPr>
          <p:cNvCxnSpPr/>
          <p:nvPr/>
        </p:nvCxnSpPr>
        <p:spPr>
          <a:xfrm>
            <a:off x="8830733" y="2568877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26E9521-3AC2-16B5-8503-34BE9F3A654B}"/>
              </a:ext>
            </a:extLst>
          </p:cNvPr>
          <p:cNvCxnSpPr/>
          <p:nvPr/>
        </p:nvCxnSpPr>
        <p:spPr>
          <a:xfrm>
            <a:off x="9927167" y="2568877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B3F11AF-BE62-C1E0-3966-402BFE57191B}"/>
              </a:ext>
            </a:extLst>
          </p:cNvPr>
          <p:cNvSpPr/>
          <p:nvPr/>
        </p:nvSpPr>
        <p:spPr>
          <a:xfrm>
            <a:off x="1117600" y="297463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6C9622A0-CF7E-F9B7-2579-7E950D1A38A8}"/>
              </a:ext>
            </a:extLst>
          </p:cNvPr>
          <p:cNvSpPr/>
          <p:nvPr/>
        </p:nvSpPr>
        <p:spPr>
          <a:xfrm>
            <a:off x="2214033" y="270446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2957D945-6576-9FEC-47CC-4621F677C259}"/>
              </a:ext>
            </a:extLst>
          </p:cNvPr>
          <p:cNvSpPr/>
          <p:nvPr/>
        </p:nvSpPr>
        <p:spPr>
          <a:xfrm>
            <a:off x="3310467" y="260797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CA187062-42FC-345A-E04C-CB96C7282C1C}"/>
              </a:ext>
            </a:extLst>
          </p:cNvPr>
          <p:cNvSpPr/>
          <p:nvPr/>
        </p:nvSpPr>
        <p:spPr>
          <a:xfrm>
            <a:off x="4406900" y="258867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5A0D6D8E-C304-1A83-8D46-906767AE15E5}"/>
              </a:ext>
            </a:extLst>
          </p:cNvPr>
          <p:cNvSpPr/>
          <p:nvPr/>
        </p:nvSpPr>
        <p:spPr>
          <a:xfrm>
            <a:off x="5503333" y="256937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3B36F0D8-1FF4-E0DF-0949-661E1BD859F9}"/>
              </a:ext>
            </a:extLst>
          </p:cNvPr>
          <p:cNvSpPr/>
          <p:nvPr/>
        </p:nvSpPr>
        <p:spPr>
          <a:xfrm>
            <a:off x="6599767" y="255007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485A4444-E7CC-6D3D-9BBD-68806171D085}"/>
              </a:ext>
            </a:extLst>
          </p:cNvPr>
          <p:cNvSpPr/>
          <p:nvPr/>
        </p:nvSpPr>
        <p:spPr>
          <a:xfrm>
            <a:off x="7696200" y="253077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387F3026-BD79-3CC9-9CC5-7A11B417A823}"/>
              </a:ext>
            </a:extLst>
          </p:cNvPr>
          <p:cNvSpPr/>
          <p:nvPr/>
        </p:nvSpPr>
        <p:spPr>
          <a:xfrm>
            <a:off x="8792633" y="253077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F8560EF5-2D50-51B8-4CE6-4E20A11604E4}"/>
              </a:ext>
            </a:extLst>
          </p:cNvPr>
          <p:cNvSpPr/>
          <p:nvPr/>
        </p:nvSpPr>
        <p:spPr>
          <a:xfrm>
            <a:off x="9889067" y="253077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A40D56F4-8213-7BCB-D3C4-01B0045BAF92}"/>
              </a:ext>
            </a:extLst>
          </p:cNvPr>
          <p:cNvSpPr/>
          <p:nvPr/>
        </p:nvSpPr>
        <p:spPr>
          <a:xfrm>
            <a:off x="10985500" y="253077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0647547-ED42-4F86-3BC3-9FA97537ADA6}"/>
              </a:ext>
            </a:extLst>
          </p:cNvPr>
          <p:cNvCxnSpPr/>
          <p:nvPr/>
        </p:nvCxnSpPr>
        <p:spPr>
          <a:xfrm flipV="1">
            <a:off x="1155700" y="2896948"/>
            <a:ext cx="1096433" cy="270177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E44A6017-8F79-34C3-3B80-B70A5EC2FD4D}"/>
              </a:ext>
            </a:extLst>
          </p:cNvPr>
          <p:cNvCxnSpPr/>
          <p:nvPr/>
        </p:nvCxnSpPr>
        <p:spPr>
          <a:xfrm flipV="1">
            <a:off x="2252133" y="2761860"/>
            <a:ext cx="1096434" cy="135088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6A91DED-A822-38AC-A9B7-DE9AF7E286A4}"/>
              </a:ext>
            </a:extLst>
          </p:cNvPr>
          <p:cNvCxnSpPr/>
          <p:nvPr/>
        </p:nvCxnSpPr>
        <p:spPr>
          <a:xfrm flipV="1">
            <a:off x="3348567" y="2742561"/>
            <a:ext cx="1096433" cy="19299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918B0165-DCB7-AFEE-285F-08C0880EA9CD}"/>
              </a:ext>
            </a:extLst>
          </p:cNvPr>
          <p:cNvCxnSpPr/>
          <p:nvPr/>
        </p:nvCxnSpPr>
        <p:spPr>
          <a:xfrm flipV="1">
            <a:off x="4445000" y="2723263"/>
            <a:ext cx="1096433" cy="19298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C5765654-17EA-8AB3-19F0-B221B794320C}"/>
              </a:ext>
            </a:extLst>
          </p:cNvPr>
          <p:cNvCxnSpPr/>
          <p:nvPr/>
        </p:nvCxnSpPr>
        <p:spPr>
          <a:xfrm flipV="1">
            <a:off x="5541433" y="2703965"/>
            <a:ext cx="1096434" cy="19298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750EFE4-06AF-AB9A-CF9E-532ADBBDB530}"/>
              </a:ext>
            </a:extLst>
          </p:cNvPr>
          <p:cNvCxnSpPr/>
          <p:nvPr/>
        </p:nvCxnSpPr>
        <p:spPr>
          <a:xfrm flipV="1">
            <a:off x="6637867" y="2684667"/>
            <a:ext cx="1096433" cy="19298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CFABBDDE-3608-5B56-BF5A-A27272E58365}"/>
              </a:ext>
            </a:extLst>
          </p:cNvPr>
          <p:cNvCxnSpPr/>
          <p:nvPr/>
        </p:nvCxnSpPr>
        <p:spPr>
          <a:xfrm>
            <a:off x="7734300" y="2684667"/>
            <a:ext cx="1096433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FFF6A69-9904-3F8F-F69C-B0D75B24337E}"/>
              </a:ext>
            </a:extLst>
          </p:cNvPr>
          <p:cNvCxnSpPr/>
          <p:nvPr/>
        </p:nvCxnSpPr>
        <p:spPr>
          <a:xfrm>
            <a:off x="8830733" y="2684667"/>
            <a:ext cx="1096434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EF4022E4-CA78-7866-5887-D3EE8A4E80B3}"/>
              </a:ext>
            </a:extLst>
          </p:cNvPr>
          <p:cNvCxnSpPr/>
          <p:nvPr/>
        </p:nvCxnSpPr>
        <p:spPr>
          <a:xfrm>
            <a:off x="9927167" y="2684667"/>
            <a:ext cx="1096433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椭圆 91">
            <a:extLst>
              <a:ext uri="{FF2B5EF4-FFF2-40B4-BE49-F238E27FC236}">
                <a16:creationId xmlns:a16="http://schemas.microsoft.com/office/drawing/2014/main" id="{538C3758-25FA-C6A9-67D9-37D7A304843A}"/>
              </a:ext>
            </a:extLst>
          </p:cNvPr>
          <p:cNvSpPr/>
          <p:nvPr/>
        </p:nvSpPr>
        <p:spPr>
          <a:xfrm>
            <a:off x="1117600" y="3129025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FC90031C-4F89-A5E6-2DD8-24D83DF9908C}"/>
              </a:ext>
            </a:extLst>
          </p:cNvPr>
          <p:cNvSpPr/>
          <p:nvPr/>
        </p:nvSpPr>
        <p:spPr>
          <a:xfrm>
            <a:off x="2214033" y="2858848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>
            <a:extLst>
              <a:ext uri="{FF2B5EF4-FFF2-40B4-BE49-F238E27FC236}">
                <a16:creationId xmlns:a16="http://schemas.microsoft.com/office/drawing/2014/main" id="{2B2E8DF5-EB09-660E-2D50-F395B4756234}"/>
              </a:ext>
            </a:extLst>
          </p:cNvPr>
          <p:cNvSpPr/>
          <p:nvPr/>
        </p:nvSpPr>
        <p:spPr>
          <a:xfrm>
            <a:off x="3310467" y="2723760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76A1720E-A52F-C062-0EC5-919E517FFA90}"/>
              </a:ext>
            </a:extLst>
          </p:cNvPr>
          <p:cNvSpPr/>
          <p:nvPr/>
        </p:nvSpPr>
        <p:spPr>
          <a:xfrm>
            <a:off x="4406900" y="270446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椭圆 95">
            <a:extLst>
              <a:ext uri="{FF2B5EF4-FFF2-40B4-BE49-F238E27FC236}">
                <a16:creationId xmlns:a16="http://schemas.microsoft.com/office/drawing/2014/main" id="{23C03144-1733-5AC0-DD71-697268862726}"/>
              </a:ext>
            </a:extLst>
          </p:cNvPr>
          <p:cNvSpPr/>
          <p:nvPr/>
        </p:nvSpPr>
        <p:spPr>
          <a:xfrm>
            <a:off x="5503333" y="268516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256F35EF-A3A5-B3B8-E92D-2385F87A56E6}"/>
              </a:ext>
            </a:extLst>
          </p:cNvPr>
          <p:cNvSpPr/>
          <p:nvPr/>
        </p:nvSpPr>
        <p:spPr>
          <a:xfrm>
            <a:off x="6599767" y="2665865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8EE6AA6F-AA34-F85D-D48A-CDCAE9B8ED37}"/>
              </a:ext>
            </a:extLst>
          </p:cNvPr>
          <p:cNvSpPr/>
          <p:nvPr/>
        </p:nvSpPr>
        <p:spPr>
          <a:xfrm>
            <a:off x="7696200" y="2646567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BCE1492E-8E66-29DC-8495-5AB94951FE97}"/>
              </a:ext>
            </a:extLst>
          </p:cNvPr>
          <p:cNvSpPr/>
          <p:nvPr/>
        </p:nvSpPr>
        <p:spPr>
          <a:xfrm>
            <a:off x="8792633" y="2646567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FD17BB93-DB60-7767-1344-5B771EAB3248}"/>
              </a:ext>
            </a:extLst>
          </p:cNvPr>
          <p:cNvSpPr/>
          <p:nvPr/>
        </p:nvSpPr>
        <p:spPr>
          <a:xfrm>
            <a:off x="9889067" y="2646567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F677F5FF-F2DC-C35C-06B2-1C113C4424DA}"/>
              </a:ext>
            </a:extLst>
          </p:cNvPr>
          <p:cNvSpPr/>
          <p:nvPr/>
        </p:nvSpPr>
        <p:spPr>
          <a:xfrm>
            <a:off x="10985500" y="2646567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BCDACA9A-8486-A411-EA33-F34FE5C27D71}"/>
              </a:ext>
            </a:extLst>
          </p:cNvPr>
          <p:cNvCxnSpPr/>
          <p:nvPr/>
        </p:nvCxnSpPr>
        <p:spPr>
          <a:xfrm flipV="1">
            <a:off x="1155700" y="3032036"/>
            <a:ext cx="1096433" cy="405265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57B343B3-E2CA-F732-300C-48F782CBC4DC}"/>
              </a:ext>
            </a:extLst>
          </p:cNvPr>
          <p:cNvCxnSpPr/>
          <p:nvPr/>
        </p:nvCxnSpPr>
        <p:spPr>
          <a:xfrm flipV="1">
            <a:off x="2252133" y="2858351"/>
            <a:ext cx="1096434" cy="173685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523A7769-631D-730A-015D-0633208F980F}"/>
              </a:ext>
            </a:extLst>
          </p:cNvPr>
          <p:cNvCxnSpPr/>
          <p:nvPr/>
        </p:nvCxnSpPr>
        <p:spPr>
          <a:xfrm flipV="1">
            <a:off x="3348567" y="2819755"/>
            <a:ext cx="1096433" cy="38596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E3DAB69C-736A-0353-6546-AD3C820833F4}"/>
              </a:ext>
            </a:extLst>
          </p:cNvPr>
          <p:cNvCxnSpPr/>
          <p:nvPr/>
        </p:nvCxnSpPr>
        <p:spPr>
          <a:xfrm flipV="1">
            <a:off x="4445000" y="2800456"/>
            <a:ext cx="1096433" cy="19299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224D11B-2E79-6481-1591-E76B6B044F08}"/>
              </a:ext>
            </a:extLst>
          </p:cNvPr>
          <p:cNvCxnSpPr/>
          <p:nvPr/>
        </p:nvCxnSpPr>
        <p:spPr>
          <a:xfrm flipV="1">
            <a:off x="5541433" y="2781158"/>
            <a:ext cx="1096434" cy="19298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906B1BBC-E0EA-BE72-E18D-1E270D757A40}"/>
              </a:ext>
            </a:extLst>
          </p:cNvPr>
          <p:cNvCxnSpPr/>
          <p:nvPr/>
        </p:nvCxnSpPr>
        <p:spPr>
          <a:xfrm flipV="1">
            <a:off x="6637867" y="2761860"/>
            <a:ext cx="1096433" cy="19298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F926549-28DF-FB08-0B44-D22FD8FBDF92}"/>
              </a:ext>
            </a:extLst>
          </p:cNvPr>
          <p:cNvCxnSpPr/>
          <p:nvPr/>
        </p:nvCxnSpPr>
        <p:spPr>
          <a:xfrm flipV="1">
            <a:off x="7734300" y="2723263"/>
            <a:ext cx="1096433" cy="38597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A68447A5-6418-D61B-4018-00ADF8FAD08C}"/>
              </a:ext>
            </a:extLst>
          </p:cNvPr>
          <p:cNvCxnSpPr/>
          <p:nvPr/>
        </p:nvCxnSpPr>
        <p:spPr>
          <a:xfrm>
            <a:off x="8830733" y="2723263"/>
            <a:ext cx="1096434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A1F96E14-1258-000E-200B-8CDA62CF181A}"/>
              </a:ext>
            </a:extLst>
          </p:cNvPr>
          <p:cNvCxnSpPr/>
          <p:nvPr/>
        </p:nvCxnSpPr>
        <p:spPr>
          <a:xfrm>
            <a:off x="9927167" y="2723263"/>
            <a:ext cx="1096433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7FD4DD71-1FA7-7927-D538-5C448E3ECB28}"/>
              </a:ext>
            </a:extLst>
          </p:cNvPr>
          <p:cNvSpPr/>
          <p:nvPr/>
        </p:nvSpPr>
        <p:spPr>
          <a:xfrm>
            <a:off x="1117600" y="339920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77C5D7DA-B794-29B4-BBB2-7C5B1E8DB1CB}"/>
              </a:ext>
            </a:extLst>
          </p:cNvPr>
          <p:cNvSpPr/>
          <p:nvPr/>
        </p:nvSpPr>
        <p:spPr>
          <a:xfrm>
            <a:off x="2214033" y="2993936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1716BB09-E1F8-B695-EAD8-840C3E24E5AE}"/>
              </a:ext>
            </a:extLst>
          </p:cNvPr>
          <p:cNvSpPr/>
          <p:nvPr/>
        </p:nvSpPr>
        <p:spPr>
          <a:xfrm>
            <a:off x="3310467" y="282025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780CD790-D900-01DF-E1D4-E7C5F9310E86}"/>
              </a:ext>
            </a:extLst>
          </p:cNvPr>
          <p:cNvSpPr/>
          <p:nvPr/>
        </p:nvSpPr>
        <p:spPr>
          <a:xfrm>
            <a:off x="4406900" y="2781655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CD9B582D-01FF-6E7E-6AC7-7D00C8063A60}"/>
              </a:ext>
            </a:extLst>
          </p:cNvPr>
          <p:cNvSpPr/>
          <p:nvPr/>
        </p:nvSpPr>
        <p:spPr>
          <a:xfrm>
            <a:off x="5503333" y="2762356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62C90593-A108-9C0A-5E09-95A39120249B}"/>
              </a:ext>
            </a:extLst>
          </p:cNvPr>
          <p:cNvSpPr/>
          <p:nvPr/>
        </p:nvSpPr>
        <p:spPr>
          <a:xfrm>
            <a:off x="6599767" y="2743058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7A766EF7-04E2-CBCC-7F1C-1AD7464A2DD8}"/>
              </a:ext>
            </a:extLst>
          </p:cNvPr>
          <p:cNvSpPr/>
          <p:nvPr/>
        </p:nvSpPr>
        <p:spPr>
          <a:xfrm>
            <a:off x="7696200" y="2723760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69E90ACA-96EC-EB9A-876C-F855CC0DBB9E}"/>
              </a:ext>
            </a:extLst>
          </p:cNvPr>
          <p:cNvSpPr/>
          <p:nvPr/>
        </p:nvSpPr>
        <p:spPr>
          <a:xfrm>
            <a:off x="8792633" y="268516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椭圆 118">
            <a:extLst>
              <a:ext uri="{FF2B5EF4-FFF2-40B4-BE49-F238E27FC236}">
                <a16:creationId xmlns:a16="http://schemas.microsoft.com/office/drawing/2014/main" id="{848A4881-8F18-A7C5-CE0C-8006328B6ECD}"/>
              </a:ext>
            </a:extLst>
          </p:cNvPr>
          <p:cNvSpPr/>
          <p:nvPr/>
        </p:nvSpPr>
        <p:spPr>
          <a:xfrm>
            <a:off x="9889067" y="268516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DD533C97-DD4B-E6BF-5F6C-227756B5614A}"/>
              </a:ext>
            </a:extLst>
          </p:cNvPr>
          <p:cNvSpPr/>
          <p:nvPr/>
        </p:nvSpPr>
        <p:spPr>
          <a:xfrm>
            <a:off x="10985500" y="268516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A2A18257-B370-884D-2519-B40BE95F3A6B}"/>
              </a:ext>
            </a:extLst>
          </p:cNvPr>
          <p:cNvCxnSpPr/>
          <p:nvPr/>
        </p:nvCxnSpPr>
        <p:spPr>
          <a:xfrm flipV="1">
            <a:off x="1155700" y="4170637"/>
            <a:ext cx="1096433" cy="212282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3E1D5CA9-2D78-6192-B6F3-BF307F9D127F}"/>
              </a:ext>
            </a:extLst>
          </p:cNvPr>
          <p:cNvCxnSpPr/>
          <p:nvPr/>
        </p:nvCxnSpPr>
        <p:spPr>
          <a:xfrm flipV="1">
            <a:off x="2252133" y="4074146"/>
            <a:ext cx="1096434" cy="96491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8DA5A56A-8FF2-A8AE-63F5-ABFF15732089}"/>
              </a:ext>
            </a:extLst>
          </p:cNvPr>
          <p:cNvCxnSpPr/>
          <p:nvPr/>
        </p:nvCxnSpPr>
        <p:spPr>
          <a:xfrm flipV="1">
            <a:off x="3348567" y="4035549"/>
            <a:ext cx="1096433" cy="38597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A999A230-199A-7E24-2898-6AF18B944521}"/>
              </a:ext>
            </a:extLst>
          </p:cNvPr>
          <p:cNvCxnSpPr/>
          <p:nvPr/>
        </p:nvCxnSpPr>
        <p:spPr>
          <a:xfrm flipV="1">
            <a:off x="4445000" y="4016251"/>
            <a:ext cx="1096433" cy="19298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BF016174-9241-18F8-B14E-20A4BDC8F5BE}"/>
              </a:ext>
            </a:extLst>
          </p:cNvPr>
          <p:cNvCxnSpPr/>
          <p:nvPr/>
        </p:nvCxnSpPr>
        <p:spPr>
          <a:xfrm flipV="1">
            <a:off x="5541433" y="3996953"/>
            <a:ext cx="1096434" cy="19298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1AF14757-B413-5487-C74D-3B915A607DA6}"/>
              </a:ext>
            </a:extLst>
          </p:cNvPr>
          <p:cNvCxnSpPr/>
          <p:nvPr/>
        </p:nvCxnSpPr>
        <p:spPr>
          <a:xfrm>
            <a:off x="6637867" y="3996953"/>
            <a:ext cx="1096433" cy="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4CD8F505-2003-7A76-437A-8ACF8FEE46B1}"/>
              </a:ext>
            </a:extLst>
          </p:cNvPr>
          <p:cNvCxnSpPr/>
          <p:nvPr/>
        </p:nvCxnSpPr>
        <p:spPr>
          <a:xfrm flipV="1">
            <a:off x="7734300" y="3977654"/>
            <a:ext cx="1096433" cy="19299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107D3BCA-07DC-9E3E-B822-872A0BE2F4F2}"/>
              </a:ext>
            </a:extLst>
          </p:cNvPr>
          <p:cNvCxnSpPr/>
          <p:nvPr/>
        </p:nvCxnSpPr>
        <p:spPr>
          <a:xfrm>
            <a:off x="8830733" y="3977654"/>
            <a:ext cx="1096434" cy="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2D3076BB-D319-9143-3C9A-2CCC5CE24266}"/>
              </a:ext>
            </a:extLst>
          </p:cNvPr>
          <p:cNvCxnSpPr/>
          <p:nvPr/>
        </p:nvCxnSpPr>
        <p:spPr>
          <a:xfrm flipV="1">
            <a:off x="9927167" y="3958356"/>
            <a:ext cx="1096433" cy="19298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椭圆 129">
            <a:extLst>
              <a:ext uri="{FF2B5EF4-FFF2-40B4-BE49-F238E27FC236}">
                <a16:creationId xmlns:a16="http://schemas.microsoft.com/office/drawing/2014/main" id="{FCEDE270-B7DD-98FA-7B65-A9C57B0DE932}"/>
              </a:ext>
            </a:extLst>
          </p:cNvPr>
          <p:cNvSpPr/>
          <p:nvPr/>
        </p:nvSpPr>
        <p:spPr>
          <a:xfrm>
            <a:off x="1117600" y="4344819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椭圆 130">
            <a:extLst>
              <a:ext uri="{FF2B5EF4-FFF2-40B4-BE49-F238E27FC236}">
                <a16:creationId xmlns:a16="http://schemas.microsoft.com/office/drawing/2014/main" id="{3CC2B1A5-AA1F-A317-1AC9-325BFB2723D1}"/>
              </a:ext>
            </a:extLst>
          </p:cNvPr>
          <p:cNvSpPr/>
          <p:nvPr/>
        </p:nvSpPr>
        <p:spPr>
          <a:xfrm>
            <a:off x="2214033" y="4132537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椭圆 131">
            <a:extLst>
              <a:ext uri="{FF2B5EF4-FFF2-40B4-BE49-F238E27FC236}">
                <a16:creationId xmlns:a16="http://schemas.microsoft.com/office/drawing/2014/main" id="{2C4CEAC7-79D2-A6F7-4E01-A773EAEC1A9A}"/>
              </a:ext>
            </a:extLst>
          </p:cNvPr>
          <p:cNvSpPr/>
          <p:nvPr/>
        </p:nvSpPr>
        <p:spPr>
          <a:xfrm>
            <a:off x="3310467" y="4036046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B8073D1D-E6E1-EB64-F2BD-8FBDEABD171E}"/>
              </a:ext>
            </a:extLst>
          </p:cNvPr>
          <p:cNvSpPr/>
          <p:nvPr/>
        </p:nvSpPr>
        <p:spPr>
          <a:xfrm>
            <a:off x="4406900" y="3997449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椭圆 133">
            <a:extLst>
              <a:ext uri="{FF2B5EF4-FFF2-40B4-BE49-F238E27FC236}">
                <a16:creationId xmlns:a16="http://schemas.microsoft.com/office/drawing/2014/main" id="{112F3BE6-575F-E3EF-3BC5-A56AC0CBCBB4}"/>
              </a:ext>
            </a:extLst>
          </p:cNvPr>
          <p:cNvSpPr/>
          <p:nvPr/>
        </p:nvSpPr>
        <p:spPr>
          <a:xfrm>
            <a:off x="5503333" y="3978151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124FFF11-D49B-B9D3-8CA2-829D548F85E4}"/>
              </a:ext>
            </a:extLst>
          </p:cNvPr>
          <p:cNvSpPr/>
          <p:nvPr/>
        </p:nvSpPr>
        <p:spPr>
          <a:xfrm>
            <a:off x="6599767" y="3958853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椭圆 135">
            <a:extLst>
              <a:ext uri="{FF2B5EF4-FFF2-40B4-BE49-F238E27FC236}">
                <a16:creationId xmlns:a16="http://schemas.microsoft.com/office/drawing/2014/main" id="{1E0D6FD8-3D2A-9CFD-CD6D-818F0012CC91}"/>
              </a:ext>
            </a:extLst>
          </p:cNvPr>
          <p:cNvSpPr/>
          <p:nvPr/>
        </p:nvSpPr>
        <p:spPr>
          <a:xfrm>
            <a:off x="7696200" y="3958853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椭圆 136">
            <a:extLst>
              <a:ext uri="{FF2B5EF4-FFF2-40B4-BE49-F238E27FC236}">
                <a16:creationId xmlns:a16="http://schemas.microsoft.com/office/drawing/2014/main" id="{4236108D-4E1F-1FC0-8D3B-B3D9D17310EE}"/>
              </a:ext>
            </a:extLst>
          </p:cNvPr>
          <p:cNvSpPr/>
          <p:nvPr/>
        </p:nvSpPr>
        <p:spPr>
          <a:xfrm>
            <a:off x="8792633" y="3939554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159081D3-5028-D3D4-6B3B-87D382964857}"/>
              </a:ext>
            </a:extLst>
          </p:cNvPr>
          <p:cNvSpPr/>
          <p:nvPr/>
        </p:nvSpPr>
        <p:spPr>
          <a:xfrm>
            <a:off x="9889067" y="3939554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椭圆 138">
            <a:extLst>
              <a:ext uri="{FF2B5EF4-FFF2-40B4-BE49-F238E27FC236}">
                <a16:creationId xmlns:a16="http://schemas.microsoft.com/office/drawing/2014/main" id="{FE8865D6-0FBB-0CF5-E505-C7296DF5AD63}"/>
              </a:ext>
            </a:extLst>
          </p:cNvPr>
          <p:cNvSpPr/>
          <p:nvPr/>
        </p:nvSpPr>
        <p:spPr>
          <a:xfrm>
            <a:off x="10985500" y="3920256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3127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B50A97-0E04-6501-03DD-2F3C95625A1F}"/>
              </a:ext>
            </a:extLst>
          </p:cNvPr>
          <p:cNvSpPr txBox="1"/>
          <p:nvPr/>
        </p:nvSpPr>
        <p:spPr>
          <a:xfrm>
            <a:off x="1016000" y="381000"/>
            <a:ext cx="7420301" cy="3539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2300" b="1">
                <a:solidFill>
                  <a:srgbClr val="263746"/>
                </a:solidFill>
                <a:latin typeface="Arial" panose="020B0604020202020204" pitchFamily="34" charset="0"/>
              </a:rPr>
              <a:t>Detection and identity assignment for Stage3 ligands</a:t>
            </a:r>
            <a:endParaRPr lang="zh-CN" altLang="en-US" sz="23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C562A4-8D13-68AF-FE39-D003B3FE4443}"/>
              </a:ext>
            </a:extLst>
          </p:cNvPr>
          <p:cNvSpPr txBox="1"/>
          <p:nvPr/>
        </p:nvSpPr>
        <p:spPr>
          <a:xfrm>
            <a:off x="1016000" y="876300"/>
            <a:ext cx="488435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647483"/>
                </a:solidFill>
                <a:latin typeface="Arial" panose="020B0604020202020204" pitchFamily="34" charset="0"/>
              </a:rPr>
              <a:t>Single-residue carbon-containing ligands · 77 PDBs · top-K ranked sites</a:t>
            </a:r>
            <a:endParaRPr lang="zh-CN" altLang="en-US" sz="12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0C91849-9D1C-37AA-5F66-96ECD35A956E}"/>
              </a:ext>
            </a:extLst>
          </p:cNvPr>
          <p:cNvCxnSpPr/>
          <p:nvPr/>
        </p:nvCxnSpPr>
        <p:spPr>
          <a:xfrm>
            <a:off x="10922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47251F42-1154-2928-66B5-1936107B1CD0}"/>
              </a:ext>
            </a:extLst>
          </p:cNvPr>
          <p:cNvSpPr/>
          <p:nvPr/>
        </p:nvSpPr>
        <p:spPr>
          <a:xfrm>
            <a:off x="12255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AA1EAFC-3E24-7A54-C56E-622A0992098E}"/>
              </a:ext>
            </a:extLst>
          </p:cNvPr>
          <p:cNvSpPr txBox="1"/>
          <p:nvPr/>
        </p:nvSpPr>
        <p:spPr>
          <a:xfrm>
            <a:off x="1574800" y="1371600"/>
            <a:ext cx="594715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B061ACB-8B38-797D-CDA7-45DB09AD3BCA}"/>
              </a:ext>
            </a:extLst>
          </p:cNvPr>
          <p:cNvCxnSpPr/>
          <p:nvPr/>
        </p:nvCxnSpPr>
        <p:spPr>
          <a:xfrm>
            <a:off x="46736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1148A9FB-2E5D-DAC4-9A3B-60632A5BFE1A}"/>
              </a:ext>
            </a:extLst>
          </p:cNvPr>
          <p:cNvSpPr/>
          <p:nvPr/>
        </p:nvSpPr>
        <p:spPr>
          <a:xfrm>
            <a:off x="48069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C78D81C-D12B-943D-6EB7-1F1A2E626938}"/>
              </a:ext>
            </a:extLst>
          </p:cNvPr>
          <p:cNvSpPr txBox="1"/>
          <p:nvPr/>
        </p:nvSpPr>
        <p:spPr>
          <a:xfrm>
            <a:off x="5156200" y="1371600"/>
            <a:ext cx="1059585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442A3B8-4A32-519B-4173-601725CA5C0D}"/>
              </a:ext>
            </a:extLst>
          </p:cNvPr>
          <p:cNvCxnSpPr/>
          <p:nvPr/>
        </p:nvCxnSpPr>
        <p:spPr>
          <a:xfrm>
            <a:off x="8255000" y="1473200"/>
            <a:ext cx="342900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7462162-8E65-1165-B9C5-FB926BB2FA5E}"/>
              </a:ext>
            </a:extLst>
          </p:cNvPr>
          <p:cNvSpPr/>
          <p:nvPr/>
        </p:nvSpPr>
        <p:spPr>
          <a:xfrm>
            <a:off x="8388350" y="1435100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7B94755-CCB6-8614-43FD-20BF8115C152}"/>
              </a:ext>
            </a:extLst>
          </p:cNvPr>
          <p:cNvSpPr txBox="1"/>
          <p:nvPr/>
        </p:nvSpPr>
        <p:spPr>
          <a:xfrm>
            <a:off x="8737600" y="1371600"/>
            <a:ext cx="110447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Find · CryoAtom2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9D07881-08AE-CE2C-0B42-90DF08B24024}"/>
              </a:ext>
            </a:extLst>
          </p:cNvPr>
          <p:cNvCxnSpPr/>
          <p:nvPr/>
        </p:nvCxnSpPr>
        <p:spPr>
          <a:xfrm>
            <a:off x="1092200" y="1803400"/>
            <a:ext cx="342900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33C73866-572B-82B4-826F-9686F6C7E98B}"/>
              </a:ext>
            </a:extLst>
          </p:cNvPr>
          <p:cNvSpPr/>
          <p:nvPr/>
        </p:nvSpPr>
        <p:spPr>
          <a:xfrm>
            <a:off x="1225550" y="1765300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93B46A-3BC7-2E6F-CF67-829EB52B4C15}"/>
              </a:ext>
            </a:extLst>
          </p:cNvPr>
          <p:cNvSpPr txBox="1"/>
          <p:nvPr/>
        </p:nvSpPr>
        <p:spPr>
          <a:xfrm>
            <a:off x="1574800" y="1701800"/>
            <a:ext cx="156934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Find+Match · CryoAtom2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0876BE8-3D33-02D8-670A-AF4A0B9B8EA0}"/>
              </a:ext>
            </a:extLst>
          </p:cNvPr>
          <p:cNvCxnSpPr/>
          <p:nvPr/>
        </p:nvCxnSpPr>
        <p:spPr>
          <a:xfrm>
            <a:off x="4673600" y="1803400"/>
            <a:ext cx="342900" cy="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883D5D18-8F53-8809-A9CD-2D23F3BC21F3}"/>
              </a:ext>
            </a:extLst>
          </p:cNvPr>
          <p:cNvSpPr/>
          <p:nvPr/>
        </p:nvSpPr>
        <p:spPr>
          <a:xfrm>
            <a:off x="4806950" y="1765300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A6C48AA-F3DD-E21A-5269-CADC3CA6036F}"/>
              </a:ext>
            </a:extLst>
          </p:cNvPr>
          <p:cNvSpPr txBox="1"/>
          <p:nvPr/>
        </p:nvSpPr>
        <p:spPr>
          <a:xfrm>
            <a:off x="5156200" y="1701800"/>
            <a:ext cx="912109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EAAAE04-FB9F-363B-99F9-ACE56D61DEF6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5374983F-9EB4-6028-0A73-757D4C5F714D}"/>
              </a:ext>
            </a:extLst>
          </p:cNvPr>
          <p:cNvSpPr txBox="1"/>
          <p:nvPr/>
        </p:nvSpPr>
        <p:spPr>
          <a:xfrm>
            <a:off x="635000" y="56515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7F87BD4-DB34-C23C-C254-CE4FAA80D8F3}"/>
              </a:ext>
            </a:extLst>
          </p:cNvPr>
          <p:cNvCxnSpPr/>
          <p:nvPr/>
        </p:nvCxnSpPr>
        <p:spPr>
          <a:xfrm>
            <a:off x="1155700" y="506222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9B3B5CDB-BF12-7842-86AC-8B548A2AF2DF}"/>
              </a:ext>
            </a:extLst>
          </p:cNvPr>
          <p:cNvSpPr txBox="1"/>
          <p:nvPr/>
        </p:nvSpPr>
        <p:spPr>
          <a:xfrm>
            <a:off x="635000" y="496062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FC02434-3F0A-B55C-E533-B021F2C49B67}"/>
              </a:ext>
            </a:extLst>
          </p:cNvPr>
          <p:cNvCxnSpPr/>
          <p:nvPr/>
        </p:nvCxnSpPr>
        <p:spPr>
          <a:xfrm>
            <a:off x="1155700" y="437134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6E641E9F-1892-1A26-411F-EBC1436E56D9}"/>
              </a:ext>
            </a:extLst>
          </p:cNvPr>
          <p:cNvSpPr txBox="1"/>
          <p:nvPr/>
        </p:nvSpPr>
        <p:spPr>
          <a:xfrm>
            <a:off x="635000" y="426974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E3CB774-23F4-5F56-C3D9-2869E80AE9AF}"/>
              </a:ext>
            </a:extLst>
          </p:cNvPr>
          <p:cNvCxnSpPr/>
          <p:nvPr/>
        </p:nvCxnSpPr>
        <p:spPr>
          <a:xfrm>
            <a:off x="1155700" y="368046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6303517B-9D97-694F-68F4-90005D3859F8}"/>
              </a:ext>
            </a:extLst>
          </p:cNvPr>
          <p:cNvSpPr txBox="1"/>
          <p:nvPr/>
        </p:nvSpPr>
        <p:spPr>
          <a:xfrm>
            <a:off x="635000" y="357886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74C8B86-8E5E-679A-61C2-E732243A502B}"/>
              </a:ext>
            </a:extLst>
          </p:cNvPr>
          <p:cNvCxnSpPr/>
          <p:nvPr/>
        </p:nvCxnSpPr>
        <p:spPr>
          <a:xfrm>
            <a:off x="1155700" y="298958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42380179-1D57-F86F-FD6E-17EAA7478699}"/>
              </a:ext>
            </a:extLst>
          </p:cNvPr>
          <p:cNvSpPr txBox="1"/>
          <p:nvPr/>
        </p:nvSpPr>
        <p:spPr>
          <a:xfrm>
            <a:off x="635000" y="288798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DA01BF6-59F8-0116-0AA1-3145A7F0CA51}"/>
              </a:ext>
            </a:extLst>
          </p:cNvPr>
          <p:cNvCxnSpPr/>
          <p:nvPr/>
        </p:nvCxnSpPr>
        <p:spPr>
          <a:xfrm>
            <a:off x="1155700" y="22987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7EF18CD0-1CA7-EC30-834E-860892BFC50F}"/>
              </a:ext>
            </a:extLst>
          </p:cNvPr>
          <p:cNvSpPr txBox="1"/>
          <p:nvPr/>
        </p:nvSpPr>
        <p:spPr>
          <a:xfrm>
            <a:off x="635000" y="2197100"/>
            <a:ext cx="211596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1435B5A1-9AFF-DC9F-F9FF-E1009BBF7CDC}"/>
              </a:ext>
            </a:extLst>
          </p:cNvPr>
          <p:cNvCxnSpPr/>
          <p:nvPr/>
        </p:nvCxnSpPr>
        <p:spPr>
          <a:xfrm>
            <a:off x="1155700" y="2298700"/>
            <a:ext cx="0" cy="345440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10F28F-3137-EEFB-4B41-FCE5FA9E4528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9C1269C1-EC6A-B5F3-832B-B3A56A2E5944}"/>
              </a:ext>
            </a:extLst>
          </p:cNvPr>
          <p:cNvSpPr txBox="1"/>
          <p:nvPr/>
        </p:nvSpPr>
        <p:spPr>
          <a:xfrm>
            <a:off x="10541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837ED22-A2CA-4CAF-B32E-002DDE082209}"/>
              </a:ext>
            </a:extLst>
          </p:cNvPr>
          <p:cNvSpPr txBox="1"/>
          <p:nvPr/>
        </p:nvSpPr>
        <p:spPr>
          <a:xfrm>
            <a:off x="21505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A4ECB-918E-CB33-4772-DC111BC28315}"/>
              </a:ext>
            </a:extLst>
          </p:cNvPr>
          <p:cNvSpPr txBox="1"/>
          <p:nvPr/>
        </p:nvSpPr>
        <p:spPr>
          <a:xfrm>
            <a:off x="32469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3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6628FB8-656E-77C6-AA00-1B97C42A009C}"/>
              </a:ext>
            </a:extLst>
          </p:cNvPr>
          <p:cNvSpPr txBox="1"/>
          <p:nvPr/>
        </p:nvSpPr>
        <p:spPr>
          <a:xfrm>
            <a:off x="43434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02249D19-0380-EB10-EFDB-A9AE75C16428}"/>
              </a:ext>
            </a:extLst>
          </p:cNvPr>
          <p:cNvSpPr txBox="1"/>
          <p:nvPr/>
        </p:nvSpPr>
        <p:spPr>
          <a:xfrm>
            <a:off x="54398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5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B74567A-EA72-9ADD-A103-4B19336C39FF}"/>
              </a:ext>
            </a:extLst>
          </p:cNvPr>
          <p:cNvSpPr txBox="1"/>
          <p:nvPr/>
        </p:nvSpPr>
        <p:spPr>
          <a:xfrm>
            <a:off x="65362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EF84C51-3143-DA45-43EC-4D617223CE32}"/>
              </a:ext>
            </a:extLst>
          </p:cNvPr>
          <p:cNvSpPr txBox="1"/>
          <p:nvPr/>
        </p:nvSpPr>
        <p:spPr>
          <a:xfrm>
            <a:off x="76327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7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FF92A5F2-5B89-63CA-FC12-EF6C932E8F05}"/>
              </a:ext>
            </a:extLst>
          </p:cNvPr>
          <p:cNvSpPr txBox="1"/>
          <p:nvPr/>
        </p:nvSpPr>
        <p:spPr>
          <a:xfrm>
            <a:off x="87291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9FB9365-38CE-3D3E-85F6-D2313C3ADB71}"/>
              </a:ext>
            </a:extLst>
          </p:cNvPr>
          <p:cNvSpPr txBox="1"/>
          <p:nvPr/>
        </p:nvSpPr>
        <p:spPr>
          <a:xfrm>
            <a:off x="98255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9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90C7E9B-C121-331F-7F85-387DD278E3E1}"/>
              </a:ext>
            </a:extLst>
          </p:cNvPr>
          <p:cNvSpPr txBox="1"/>
          <p:nvPr/>
        </p:nvSpPr>
        <p:spPr>
          <a:xfrm>
            <a:off x="10922000" y="589280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FD948DF-7F3E-F0B5-CE5D-97934105D3DE}"/>
              </a:ext>
            </a:extLst>
          </p:cNvPr>
          <p:cNvSpPr txBox="1"/>
          <p:nvPr/>
        </p:nvSpPr>
        <p:spPr>
          <a:xfrm>
            <a:off x="5200650" y="6261100"/>
            <a:ext cx="95539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200">
                <a:solidFill>
                  <a:srgbClr val="263746"/>
                </a:solidFill>
                <a:latin typeface="Arial" panose="020B0604020202020204" pitchFamily="34" charset="0"/>
              </a:rPr>
              <a:t>Ranked site K</a:t>
            </a:r>
            <a:endParaRPr lang="zh-CN" altLang="en-US" sz="12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6033CA5-F590-BC15-49E9-16272B349709}"/>
              </a:ext>
            </a:extLst>
          </p:cNvPr>
          <p:cNvSpPr txBox="1"/>
          <p:nvPr/>
        </p:nvSpPr>
        <p:spPr>
          <a:xfrm>
            <a:off x="1155700" y="1993900"/>
            <a:ext cx="137698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647483"/>
                </a:solidFill>
                <a:latin typeface="Arial" panose="020B0604020202020204" pitchFamily="34" charset="0"/>
              </a:rPr>
              <a:t>PDB success rate (%)</a:t>
            </a:r>
            <a:endParaRPr lang="zh-CN" altLang="en-US" sz="11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5F08DD72-1F0D-F06F-F632-F363BE689516}"/>
              </a:ext>
            </a:extLst>
          </p:cNvPr>
          <p:cNvCxnSpPr/>
          <p:nvPr/>
        </p:nvCxnSpPr>
        <p:spPr>
          <a:xfrm flipV="1">
            <a:off x="1155700" y="2792186"/>
            <a:ext cx="1096433" cy="89724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98BFA2C6-4BA9-6D1F-832D-971F6F399CEC}"/>
              </a:ext>
            </a:extLst>
          </p:cNvPr>
          <p:cNvCxnSpPr/>
          <p:nvPr/>
        </p:nvCxnSpPr>
        <p:spPr>
          <a:xfrm>
            <a:off x="2252133" y="2792186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42CF1213-7AB6-B674-075C-BA36FA136C60}"/>
              </a:ext>
            </a:extLst>
          </p:cNvPr>
          <p:cNvCxnSpPr/>
          <p:nvPr/>
        </p:nvCxnSpPr>
        <p:spPr>
          <a:xfrm flipV="1">
            <a:off x="3348567" y="2747323"/>
            <a:ext cx="1096433" cy="44863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B12BA1FC-29DA-BBFA-50D4-63F64CDCB3FA}"/>
              </a:ext>
            </a:extLst>
          </p:cNvPr>
          <p:cNvCxnSpPr/>
          <p:nvPr/>
        </p:nvCxnSpPr>
        <p:spPr>
          <a:xfrm flipV="1">
            <a:off x="4445000" y="2702461"/>
            <a:ext cx="1096433" cy="44862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46FCC06-B02C-F4E7-50BA-4129023E74F3}"/>
              </a:ext>
            </a:extLst>
          </p:cNvPr>
          <p:cNvCxnSpPr/>
          <p:nvPr/>
        </p:nvCxnSpPr>
        <p:spPr>
          <a:xfrm>
            <a:off x="5541433" y="2702461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E4A1911-9385-1A1D-3E66-B89F3F291B37}"/>
              </a:ext>
            </a:extLst>
          </p:cNvPr>
          <p:cNvCxnSpPr/>
          <p:nvPr/>
        </p:nvCxnSpPr>
        <p:spPr>
          <a:xfrm flipV="1">
            <a:off x="6637867" y="2657599"/>
            <a:ext cx="1096433" cy="44862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89998EB4-DC16-AD30-94E4-58D034018BE8}"/>
              </a:ext>
            </a:extLst>
          </p:cNvPr>
          <p:cNvCxnSpPr/>
          <p:nvPr/>
        </p:nvCxnSpPr>
        <p:spPr>
          <a:xfrm>
            <a:off x="7734300" y="2657599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1AD2E9DB-3C7E-BA4E-F832-7F2E2F428162}"/>
              </a:ext>
            </a:extLst>
          </p:cNvPr>
          <p:cNvCxnSpPr/>
          <p:nvPr/>
        </p:nvCxnSpPr>
        <p:spPr>
          <a:xfrm>
            <a:off x="8830733" y="2657599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FE34767-D312-2005-B2D3-2C7B336D6750}"/>
              </a:ext>
            </a:extLst>
          </p:cNvPr>
          <p:cNvCxnSpPr/>
          <p:nvPr/>
        </p:nvCxnSpPr>
        <p:spPr>
          <a:xfrm>
            <a:off x="9927167" y="2657599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DB4E6D01-12F0-02ED-C401-049108983FEF}"/>
              </a:ext>
            </a:extLst>
          </p:cNvPr>
          <p:cNvSpPr/>
          <p:nvPr/>
        </p:nvSpPr>
        <p:spPr>
          <a:xfrm>
            <a:off x="1117600" y="284381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A651217A-7AFD-E27B-BFA3-B037E3A345A5}"/>
              </a:ext>
            </a:extLst>
          </p:cNvPr>
          <p:cNvSpPr/>
          <p:nvPr/>
        </p:nvSpPr>
        <p:spPr>
          <a:xfrm>
            <a:off x="2214033" y="275408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C74D12EB-004E-8BE3-D124-A15822109426}"/>
              </a:ext>
            </a:extLst>
          </p:cNvPr>
          <p:cNvSpPr/>
          <p:nvPr/>
        </p:nvSpPr>
        <p:spPr>
          <a:xfrm>
            <a:off x="3310467" y="275408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79CA4CF5-5055-AEBB-2026-E506ECABFC2B}"/>
              </a:ext>
            </a:extLst>
          </p:cNvPr>
          <p:cNvSpPr/>
          <p:nvPr/>
        </p:nvSpPr>
        <p:spPr>
          <a:xfrm>
            <a:off x="4406900" y="270922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E9B86B44-4D8B-3DEB-9542-24C55D7FDDD7}"/>
              </a:ext>
            </a:extLst>
          </p:cNvPr>
          <p:cNvSpPr/>
          <p:nvPr/>
        </p:nvSpPr>
        <p:spPr>
          <a:xfrm>
            <a:off x="5503333" y="266436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C80AFA3D-5867-5ADF-98F4-3C3316618D3C}"/>
              </a:ext>
            </a:extLst>
          </p:cNvPr>
          <p:cNvSpPr/>
          <p:nvPr/>
        </p:nvSpPr>
        <p:spPr>
          <a:xfrm>
            <a:off x="6599767" y="266436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F6FCC94B-537F-CCDC-B736-7488301EFEF1}"/>
              </a:ext>
            </a:extLst>
          </p:cNvPr>
          <p:cNvSpPr/>
          <p:nvPr/>
        </p:nvSpPr>
        <p:spPr>
          <a:xfrm>
            <a:off x="7696200" y="2619499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F262F4D1-52F6-E650-4702-FA9926A86D8F}"/>
              </a:ext>
            </a:extLst>
          </p:cNvPr>
          <p:cNvSpPr/>
          <p:nvPr/>
        </p:nvSpPr>
        <p:spPr>
          <a:xfrm>
            <a:off x="8792633" y="2619499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ED2D861C-BA1B-5F77-1CE1-F09B8881644E}"/>
              </a:ext>
            </a:extLst>
          </p:cNvPr>
          <p:cNvSpPr/>
          <p:nvPr/>
        </p:nvSpPr>
        <p:spPr>
          <a:xfrm>
            <a:off x="9889067" y="2619499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25FAABE-A529-EC12-934A-B2D7A8A54289}"/>
              </a:ext>
            </a:extLst>
          </p:cNvPr>
          <p:cNvSpPr/>
          <p:nvPr/>
        </p:nvSpPr>
        <p:spPr>
          <a:xfrm>
            <a:off x="10985500" y="2619499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0F37607-B520-A400-3716-1DBF29863640}"/>
              </a:ext>
            </a:extLst>
          </p:cNvPr>
          <p:cNvCxnSpPr/>
          <p:nvPr/>
        </p:nvCxnSpPr>
        <p:spPr>
          <a:xfrm flipV="1">
            <a:off x="1155700" y="2971635"/>
            <a:ext cx="1096433" cy="44862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43FE86C-8B3C-3842-5590-2ADE2ED84CF3}"/>
              </a:ext>
            </a:extLst>
          </p:cNvPr>
          <p:cNvCxnSpPr/>
          <p:nvPr/>
        </p:nvCxnSpPr>
        <p:spPr>
          <a:xfrm flipV="1">
            <a:off x="2252133" y="2926773"/>
            <a:ext cx="1096434" cy="44862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3F02832-5975-BC74-D67B-63572B8C02C0}"/>
              </a:ext>
            </a:extLst>
          </p:cNvPr>
          <p:cNvCxnSpPr/>
          <p:nvPr/>
        </p:nvCxnSpPr>
        <p:spPr>
          <a:xfrm>
            <a:off x="3348567" y="2926773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B3341DB6-DE45-3D70-2FFC-5147315C7510}"/>
              </a:ext>
            </a:extLst>
          </p:cNvPr>
          <p:cNvCxnSpPr/>
          <p:nvPr/>
        </p:nvCxnSpPr>
        <p:spPr>
          <a:xfrm>
            <a:off x="4445000" y="2926773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95C0290B-94C9-ACB4-A0CD-71D9645B75E1}"/>
              </a:ext>
            </a:extLst>
          </p:cNvPr>
          <p:cNvCxnSpPr/>
          <p:nvPr/>
        </p:nvCxnSpPr>
        <p:spPr>
          <a:xfrm>
            <a:off x="5541433" y="2926773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23E8E0A-1312-61EF-EE18-EFEB4F3A1399}"/>
              </a:ext>
            </a:extLst>
          </p:cNvPr>
          <p:cNvCxnSpPr/>
          <p:nvPr/>
        </p:nvCxnSpPr>
        <p:spPr>
          <a:xfrm flipV="1">
            <a:off x="6637867" y="2881910"/>
            <a:ext cx="1096433" cy="44863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A1D6301E-04A7-4FC2-93C4-CEB8F5D91025}"/>
              </a:ext>
            </a:extLst>
          </p:cNvPr>
          <p:cNvCxnSpPr/>
          <p:nvPr/>
        </p:nvCxnSpPr>
        <p:spPr>
          <a:xfrm>
            <a:off x="7734300" y="2881910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2B6A2E7-FCA0-72D2-E4E5-4ED120238469}"/>
              </a:ext>
            </a:extLst>
          </p:cNvPr>
          <p:cNvCxnSpPr/>
          <p:nvPr/>
        </p:nvCxnSpPr>
        <p:spPr>
          <a:xfrm>
            <a:off x="8830733" y="2881910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E62E207-C09E-CBAE-3130-FD8C61B31828}"/>
              </a:ext>
            </a:extLst>
          </p:cNvPr>
          <p:cNvCxnSpPr/>
          <p:nvPr/>
        </p:nvCxnSpPr>
        <p:spPr>
          <a:xfrm>
            <a:off x="9927167" y="2881910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0A1F285F-1476-28DF-EBC9-D2092432B76B}"/>
              </a:ext>
            </a:extLst>
          </p:cNvPr>
          <p:cNvSpPr/>
          <p:nvPr/>
        </p:nvSpPr>
        <p:spPr>
          <a:xfrm>
            <a:off x="1117600" y="297839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765C142F-58A3-8D0A-784F-ADA361301B30}"/>
              </a:ext>
            </a:extLst>
          </p:cNvPr>
          <p:cNvSpPr/>
          <p:nvPr/>
        </p:nvSpPr>
        <p:spPr>
          <a:xfrm>
            <a:off x="2214033" y="293353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A40477CC-1B25-B321-0360-5F446D2ECD0B}"/>
              </a:ext>
            </a:extLst>
          </p:cNvPr>
          <p:cNvSpPr/>
          <p:nvPr/>
        </p:nvSpPr>
        <p:spPr>
          <a:xfrm>
            <a:off x="3310467" y="288867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D73FD2D5-1909-1E02-FCC9-2CB1A70994CB}"/>
              </a:ext>
            </a:extLst>
          </p:cNvPr>
          <p:cNvSpPr/>
          <p:nvPr/>
        </p:nvSpPr>
        <p:spPr>
          <a:xfrm>
            <a:off x="4406900" y="288867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8F248559-8410-42E4-B697-92DA25141B37}"/>
              </a:ext>
            </a:extLst>
          </p:cNvPr>
          <p:cNvSpPr/>
          <p:nvPr/>
        </p:nvSpPr>
        <p:spPr>
          <a:xfrm>
            <a:off x="5503333" y="288867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05183606-5D5B-FA70-0133-70CB3A004AB1}"/>
              </a:ext>
            </a:extLst>
          </p:cNvPr>
          <p:cNvSpPr/>
          <p:nvPr/>
        </p:nvSpPr>
        <p:spPr>
          <a:xfrm>
            <a:off x="6599767" y="288867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A450C053-620E-5776-3E03-495405006DFB}"/>
              </a:ext>
            </a:extLst>
          </p:cNvPr>
          <p:cNvSpPr/>
          <p:nvPr/>
        </p:nvSpPr>
        <p:spPr>
          <a:xfrm>
            <a:off x="7696200" y="284381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3A333340-ABD8-6FD2-E021-D5449E2E8969}"/>
              </a:ext>
            </a:extLst>
          </p:cNvPr>
          <p:cNvSpPr/>
          <p:nvPr/>
        </p:nvSpPr>
        <p:spPr>
          <a:xfrm>
            <a:off x="8792633" y="284381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4F51E78F-9646-1F63-1E83-32FF30EDA4F4}"/>
              </a:ext>
            </a:extLst>
          </p:cNvPr>
          <p:cNvSpPr/>
          <p:nvPr/>
        </p:nvSpPr>
        <p:spPr>
          <a:xfrm>
            <a:off x="9889067" y="284381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1DDE6B45-AA94-D36A-C2E7-014C9064075F}"/>
              </a:ext>
            </a:extLst>
          </p:cNvPr>
          <p:cNvSpPr/>
          <p:nvPr/>
        </p:nvSpPr>
        <p:spPr>
          <a:xfrm>
            <a:off x="10985500" y="284381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E94F24F0-A31C-AC9D-B2E5-3CB1E6E9A9DC}"/>
              </a:ext>
            </a:extLst>
          </p:cNvPr>
          <p:cNvCxnSpPr/>
          <p:nvPr/>
        </p:nvCxnSpPr>
        <p:spPr>
          <a:xfrm flipV="1">
            <a:off x="1155700" y="2971635"/>
            <a:ext cx="1096433" cy="224312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D07ED652-AE2C-791C-421A-EE64B882EB58}"/>
              </a:ext>
            </a:extLst>
          </p:cNvPr>
          <p:cNvCxnSpPr/>
          <p:nvPr/>
        </p:nvCxnSpPr>
        <p:spPr>
          <a:xfrm flipV="1">
            <a:off x="2252133" y="2792186"/>
            <a:ext cx="1096434" cy="179449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1C2B1EA7-183F-AAD3-8D95-1F34A7033316}"/>
              </a:ext>
            </a:extLst>
          </p:cNvPr>
          <p:cNvCxnSpPr/>
          <p:nvPr/>
        </p:nvCxnSpPr>
        <p:spPr>
          <a:xfrm flipV="1">
            <a:off x="3348567" y="2747323"/>
            <a:ext cx="1096433" cy="44863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4FDE0E19-1C2C-2AC4-FE23-85A495E93FA7}"/>
              </a:ext>
            </a:extLst>
          </p:cNvPr>
          <p:cNvCxnSpPr/>
          <p:nvPr/>
        </p:nvCxnSpPr>
        <p:spPr>
          <a:xfrm flipV="1">
            <a:off x="4445000" y="2702461"/>
            <a:ext cx="1096433" cy="44862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7CC3C10-BD05-71EC-5B63-B1C5CBE803A1}"/>
              </a:ext>
            </a:extLst>
          </p:cNvPr>
          <p:cNvCxnSpPr/>
          <p:nvPr/>
        </p:nvCxnSpPr>
        <p:spPr>
          <a:xfrm>
            <a:off x="5541433" y="2702461"/>
            <a:ext cx="1096434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B4E5A5A-8752-A292-C00A-9CC18617C68D}"/>
              </a:ext>
            </a:extLst>
          </p:cNvPr>
          <p:cNvCxnSpPr/>
          <p:nvPr/>
        </p:nvCxnSpPr>
        <p:spPr>
          <a:xfrm>
            <a:off x="6637867" y="2702461"/>
            <a:ext cx="1096433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7AF4674-2029-D1A3-E889-EE77AAA6ADEE}"/>
              </a:ext>
            </a:extLst>
          </p:cNvPr>
          <p:cNvCxnSpPr/>
          <p:nvPr/>
        </p:nvCxnSpPr>
        <p:spPr>
          <a:xfrm>
            <a:off x="7734300" y="2702461"/>
            <a:ext cx="1096433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6D0944A-FB27-0E20-CEE0-513AD8ED16AB}"/>
              </a:ext>
            </a:extLst>
          </p:cNvPr>
          <p:cNvCxnSpPr/>
          <p:nvPr/>
        </p:nvCxnSpPr>
        <p:spPr>
          <a:xfrm>
            <a:off x="8830733" y="2702461"/>
            <a:ext cx="1096434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B5CA9836-D6BF-6F70-9E09-7D0A0E81238D}"/>
              </a:ext>
            </a:extLst>
          </p:cNvPr>
          <p:cNvCxnSpPr/>
          <p:nvPr/>
        </p:nvCxnSpPr>
        <p:spPr>
          <a:xfrm>
            <a:off x="9927167" y="2702461"/>
            <a:ext cx="1096433" cy="0"/>
          </a:xfrm>
          <a:prstGeom prst="line">
            <a:avLst/>
          </a:prstGeom>
          <a:ln w="33020">
            <a:solidFill>
              <a:srgbClr val="5A67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椭圆 91">
            <a:extLst>
              <a:ext uri="{FF2B5EF4-FFF2-40B4-BE49-F238E27FC236}">
                <a16:creationId xmlns:a16="http://schemas.microsoft.com/office/drawing/2014/main" id="{1C6A4BA2-66A0-2939-8068-5D4C06F3EB02}"/>
              </a:ext>
            </a:extLst>
          </p:cNvPr>
          <p:cNvSpPr/>
          <p:nvPr/>
        </p:nvSpPr>
        <p:spPr>
          <a:xfrm>
            <a:off x="1117600" y="3157847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3DB9EDA6-8C02-14D1-3FC7-EA44912BCFDA}"/>
              </a:ext>
            </a:extLst>
          </p:cNvPr>
          <p:cNvSpPr/>
          <p:nvPr/>
        </p:nvSpPr>
        <p:spPr>
          <a:xfrm>
            <a:off x="2214033" y="2933535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>
            <a:extLst>
              <a:ext uri="{FF2B5EF4-FFF2-40B4-BE49-F238E27FC236}">
                <a16:creationId xmlns:a16="http://schemas.microsoft.com/office/drawing/2014/main" id="{AF26763F-AD23-B2C5-851B-738773D36B69}"/>
              </a:ext>
            </a:extLst>
          </p:cNvPr>
          <p:cNvSpPr/>
          <p:nvPr/>
        </p:nvSpPr>
        <p:spPr>
          <a:xfrm>
            <a:off x="3310467" y="2754086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0088CE40-504A-9A3E-EC28-6AD7DF8B3D82}"/>
              </a:ext>
            </a:extLst>
          </p:cNvPr>
          <p:cNvSpPr/>
          <p:nvPr/>
        </p:nvSpPr>
        <p:spPr>
          <a:xfrm>
            <a:off x="4406900" y="270922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椭圆 95">
            <a:extLst>
              <a:ext uri="{FF2B5EF4-FFF2-40B4-BE49-F238E27FC236}">
                <a16:creationId xmlns:a16="http://schemas.microsoft.com/office/drawing/2014/main" id="{15A3F971-C38D-106A-9F30-6C9015F2AAFB}"/>
              </a:ext>
            </a:extLst>
          </p:cNvPr>
          <p:cNvSpPr/>
          <p:nvPr/>
        </p:nvSpPr>
        <p:spPr>
          <a:xfrm>
            <a:off x="5503333" y="266436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6AD8A153-A93D-BFDA-65C1-E2CE6129EF16}"/>
              </a:ext>
            </a:extLst>
          </p:cNvPr>
          <p:cNvSpPr/>
          <p:nvPr/>
        </p:nvSpPr>
        <p:spPr>
          <a:xfrm>
            <a:off x="6599767" y="266436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9BFC0D25-3ABD-2B4D-3C83-E77613B7DA06}"/>
              </a:ext>
            </a:extLst>
          </p:cNvPr>
          <p:cNvSpPr/>
          <p:nvPr/>
        </p:nvSpPr>
        <p:spPr>
          <a:xfrm>
            <a:off x="7696200" y="266436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CEABD04E-C65A-4646-1427-3C09596645BC}"/>
              </a:ext>
            </a:extLst>
          </p:cNvPr>
          <p:cNvSpPr/>
          <p:nvPr/>
        </p:nvSpPr>
        <p:spPr>
          <a:xfrm>
            <a:off x="8792633" y="266436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F49402B3-01A5-D5BD-D84A-360796D78B27}"/>
              </a:ext>
            </a:extLst>
          </p:cNvPr>
          <p:cNvSpPr/>
          <p:nvPr/>
        </p:nvSpPr>
        <p:spPr>
          <a:xfrm>
            <a:off x="9889067" y="266436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0D603F8A-20CC-A2F2-B28C-807E429F98AF}"/>
              </a:ext>
            </a:extLst>
          </p:cNvPr>
          <p:cNvSpPr/>
          <p:nvPr/>
        </p:nvSpPr>
        <p:spPr>
          <a:xfrm>
            <a:off x="10985500" y="266436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1F009C2C-2688-15BC-42B4-AC39ED6B3EB4}"/>
              </a:ext>
            </a:extLst>
          </p:cNvPr>
          <p:cNvCxnSpPr/>
          <p:nvPr/>
        </p:nvCxnSpPr>
        <p:spPr>
          <a:xfrm flipV="1">
            <a:off x="1155700" y="3151084"/>
            <a:ext cx="1096433" cy="314037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0B6362F0-71E9-70B2-1181-7AEA0D1E0156}"/>
              </a:ext>
            </a:extLst>
          </p:cNvPr>
          <p:cNvCxnSpPr/>
          <p:nvPr/>
        </p:nvCxnSpPr>
        <p:spPr>
          <a:xfrm flipV="1">
            <a:off x="2252133" y="2926773"/>
            <a:ext cx="1096434" cy="224311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E2B216E-00FE-25EC-3BEF-EB95A794D073}"/>
              </a:ext>
            </a:extLst>
          </p:cNvPr>
          <p:cNvCxnSpPr/>
          <p:nvPr/>
        </p:nvCxnSpPr>
        <p:spPr>
          <a:xfrm>
            <a:off x="3348567" y="2926773"/>
            <a:ext cx="1096433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66E52DFE-DD04-476A-A8C2-956B784F8ACA}"/>
              </a:ext>
            </a:extLst>
          </p:cNvPr>
          <p:cNvCxnSpPr/>
          <p:nvPr/>
        </p:nvCxnSpPr>
        <p:spPr>
          <a:xfrm>
            <a:off x="4445000" y="2926773"/>
            <a:ext cx="1096433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01E3229D-8D98-7502-38AF-200B0C3F90BE}"/>
              </a:ext>
            </a:extLst>
          </p:cNvPr>
          <p:cNvCxnSpPr/>
          <p:nvPr/>
        </p:nvCxnSpPr>
        <p:spPr>
          <a:xfrm>
            <a:off x="5541433" y="2926773"/>
            <a:ext cx="1096434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C2F1AE-4CB2-9471-6CAC-DA41DBA021CF}"/>
              </a:ext>
            </a:extLst>
          </p:cNvPr>
          <p:cNvCxnSpPr/>
          <p:nvPr/>
        </p:nvCxnSpPr>
        <p:spPr>
          <a:xfrm>
            <a:off x="6637867" y="2926773"/>
            <a:ext cx="1096433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670A7A54-44FA-C6F4-8676-E06B8FF39A07}"/>
              </a:ext>
            </a:extLst>
          </p:cNvPr>
          <p:cNvCxnSpPr/>
          <p:nvPr/>
        </p:nvCxnSpPr>
        <p:spPr>
          <a:xfrm>
            <a:off x="7734300" y="2926773"/>
            <a:ext cx="1096433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047134DE-7FE9-C247-6A16-BE74D2CD5C11}"/>
              </a:ext>
            </a:extLst>
          </p:cNvPr>
          <p:cNvCxnSpPr/>
          <p:nvPr/>
        </p:nvCxnSpPr>
        <p:spPr>
          <a:xfrm>
            <a:off x="8830733" y="2926773"/>
            <a:ext cx="1096434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37F09BCE-A4FA-1D8C-0AB3-405F95C7EE8F}"/>
              </a:ext>
            </a:extLst>
          </p:cNvPr>
          <p:cNvCxnSpPr/>
          <p:nvPr/>
        </p:nvCxnSpPr>
        <p:spPr>
          <a:xfrm>
            <a:off x="9927167" y="2926773"/>
            <a:ext cx="1096433" cy="0"/>
          </a:xfrm>
          <a:prstGeom prst="line">
            <a:avLst/>
          </a:prstGeom>
          <a:ln w="33020">
            <a:solidFill>
              <a:srgbClr val="5A67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55E0F8C5-FC45-5554-A2BD-1EBBCF891404}"/>
              </a:ext>
            </a:extLst>
          </p:cNvPr>
          <p:cNvSpPr/>
          <p:nvPr/>
        </p:nvSpPr>
        <p:spPr>
          <a:xfrm>
            <a:off x="1117600" y="3427021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7A565E5A-EB08-C2C3-3BC3-85F2F6698244}"/>
              </a:ext>
            </a:extLst>
          </p:cNvPr>
          <p:cNvSpPr/>
          <p:nvPr/>
        </p:nvSpPr>
        <p:spPr>
          <a:xfrm>
            <a:off x="2214033" y="3112984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F83D0A56-E815-DCEA-CE72-762BED268CB4}"/>
              </a:ext>
            </a:extLst>
          </p:cNvPr>
          <p:cNvSpPr/>
          <p:nvPr/>
        </p:nvSpPr>
        <p:spPr>
          <a:xfrm>
            <a:off x="3310467" y="288867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4F602F0B-18DA-E68A-8FBD-149DB76E8CF7}"/>
              </a:ext>
            </a:extLst>
          </p:cNvPr>
          <p:cNvSpPr/>
          <p:nvPr/>
        </p:nvSpPr>
        <p:spPr>
          <a:xfrm>
            <a:off x="4406900" y="288867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DD7332D7-AF7A-762F-E3B9-313130820551}"/>
              </a:ext>
            </a:extLst>
          </p:cNvPr>
          <p:cNvSpPr/>
          <p:nvPr/>
        </p:nvSpPr>
        <p:spPr>
          <a:xfrm>
            <a:off x="5503333" y="288867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1BB27084-29CE-91F2-98B3-3B5913305307}"/>
              </a:ext>
            </a:extLst>
          </p:cNvPr>
          <p:cNvSpPr/>
          <p:nvPr/>
        </p:nvSpPr>
        <p:spPr>
          <a:xfrm>
            <a:off x="6599767" y="288867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C8E4923C-92D5-9AC6-BE15-BDF7B188962E}"/>
              </a:ext>
            </a:extLst>
          </p:cNvPr>
          <p:cNvSpPr/>
          <p:nvPr/>
        </p:nvSpPr>
        <p:spPr>
          <a:xfrm>
            <a:off x="7696200" y="288867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B01B45DD-0E7B-2554-57E9-11DA4B45AC51}"/>
              </a:ext>
            </a:extLst>
          </p:cNvPr>
          <p:cNvSpPr/>
          <p:nvPr/>
        </p:nvSpPr>
        <p:spPr>
          <a:xfrm>
            <a:off x="8792633" y="288867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椭圆 118">
            <a:extLst>
              <a:ext uri="{FF2B5EF4-FFF2-40B4-BE49-F238E27FC236}">
                <a16:creationId xmlns:a16="http://schemas.microsoft.com/office/drawing/2014/main" id="{88526E57-883D-49EB-4EF1-6162A86F54AF}"/>
              </a:ext>
            </a:extLst>
          </p:cNvPr>
          <p:cNvSpPr/>
          <p:nvPr/>
        </p:nvSpPr>
        <p:spPr>
          <a:xfrm>
            <a:off x="9889067" y="288867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E710A37B-168E-5665-5C70-A7D64EAB32F7}"/>
              </a:ext>
            </a:extLst>
          </p:cNvPr>
          <p:cNvSpPr/>
          <p:nvPr/>
        </p:nvSpPr>
        <p:spPr>
          <a:xfrm>
            <a:off x="10985500" y="2888673"/>
            <a:ext cx="76200" cy="76200"/>
          </a:xfrm>
          <a:prstGeom prst="ellipse">
            <a:avLst/>
          </a:prstGeom>
          <a:solidFill>
            <a:srgbClr val="5A67A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B6B78515-AD31-9C8B-787F-884DFC0A6615}"/>
              </a:ext>
            </a:extLst>
          </p:cNvPr>
          <p:cNvCxnSpPr/>
          <p:nvPr/>
        </p:nvCxnSpPr>
        <p:spPr>
          <a:xfrm flipV="1">
            <a:off x="1155700" y="3554845"/>
            <a:ext cx="1096433" cy="17945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EDF84C03-0506-60E6-CFEB-08C5A262D8DA}"/>
              </a:ext>
            </a:extLst>
          </p:cNvPr>
          <p:cNvCxnSpPr/>
          <p:nvPr/>
        </p:nvCxnSpPr>
        <p:spPr>
          <a:xfrm flipV="1">
            <a:off x="2252133" y="3509983"/>
            <a:ext cx="1096434" cy="44862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F1FC2E2F-2C11-EC63-EB83-7828A8DF5198}"/>
              </a:ext>
            </a:extLst>
          </p:cNvPr>
          <p:cNvCxnSpPr/>
          <p:nvPr/>
        </p:nvCxnSpPr>
        <p:spPr>
          <a:xfrm flipV="1">
            <a:off x="3348567" y="3420258"/>
            <a:ext cx="1096433" cy="89725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6A283B26-184D-7A45-3176-26E35E0282CF}"/>
              </a:ext>
            </a:extLst>
          </p:cNvPr>
          <p:cNvCxnSpPr/>
          <p:nvPr/>
        </p:nvCxnSpPr>
        <p:spPr>
          <a:xfrm flipV="1">
            <a:off x="4445000" y="3375396"/>
            <a:ext cx="1096433" cy="44862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08BADEEB-2A26-632B-55AB-9B2E67A4FD8D}"/>
              </a:ext>
            </a:extLst>
          </p:cNvPr>
          <p:cNvCxnSpPr/>
          <p:nvPr/>
        </p:nvCxnSpPr>
        <p:spPr>
          <a:xfrm flipV="1">
            <a:off x="5541433" y="3330534"/>
            <a:ext cx="1096434" cy="44862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89A45BF3-0001-8895-F09A-D519C1CA4C40}"/>
              </a:ext>
            </a:extLst>
          </p:cNvPr>
          <p:cNvCxnSpPr/>
          <p:nvPr/>
        </p:nvCxnSpPr>
        <p:spPr>
          <a:xfrm>
            <a:off x="6637867" y="3330534"/>
            <a:ext cx="1096433" cy="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252EF3C7-C7EE-DD1B-104C-6B79D1B635AB}"/>
              </a:ext>
            </a:extLst>
          </p:cNvPr>
          <p:cNvCxnSpPr/>
          <p:nvPr/>
        </p:nvCxnSpPr>
        <p:spPr>
          <a:xfrm>
            <a:off x="7734300" y="3330534"/>
            <a:ext cx="1096433" cy="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80517803-7F6A-2CE3-77BB-765651F47C20}"/>
              </a:ext>
            </a:extLst>
          </p:cNvPr>
          <p:cNvCxnSpPr/>
          <p:nvPr/>
        </p:nvCxnSpPr>
        <p:spPr>
          <a:xfrm>
            <a:off x="8830733" y="3330534"/>
            <a:ext cx="1096434" cy="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AA63418F-5EFD-6D94-BF25-BA4B8137FD90}"/>
              </a:ext>
            </a:extLst>
          </p:cNvPr>
          <p:cNvCxnSpPr/>
          <p:nvPr/>
        </p:nvCxnSpPr>
        <p:spPr>
          <a:xfrm>
            <a:off x="9927167" y="3330534"/>
            <a:ext cx="1096433" cy="0"/>
          </a:xfrm>
          <a:prstGeom prst="line">
            <a:avLst/>
          </a:prstGeom>
          <a:ln w="33020">
            <a:solidFill>
              <a:srgbClr val="9097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椭圆 129">
            <a:extLst>
              <a:ext uri="{FF2B5EF4-FFF2-40B4-BE49-F238E27FC236}">
                <a16:creationId xmlns:a16="http://schemas.microsoft.com/office/drawing/2014/main" id="{6C464D99-2729-44C2-8567-0A8413225FB8}"/>
              </a:ext>
            </a:extLst>
          </p:cNvPr>
          <p:cNvSpPr/>
          <p:nvPr/>
        </p:nvSpPr>
        <p:spPr>
          <a:xfrm>
            <a:off x="1117600" y="3696195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椭圆 130">
            <a:extLst>
              <a:ext uri="{FF2B5EF4-FFF2-40B4-BE49-F238E27FC236}">
                <a16:creationId xmlns:a16="http://schemas.microsoft.com/office/drawing/2014/main" id="{B028234D-CF1A-7324-A5E5-364710EEAD96}"/>
              </a:ext>
            </a:extLst>
          </p:cNvPr>
          <p:cNvSpPr/>
          <p:nvPr/>
        </p:nvSpPr>
        <p:spPr>
          <a:xfrm>
            <a:off x="2214033" y="3516745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椭圆 131">
            <a:extLst>
              <a:ext uri="{FF2B5EF4-FFF2-40B4-BE49-F238E27FC236}">
                <a16:creationId xmlns:a16="http://schemas.microsoft.com/office/drawing/2014/main" id="{17A34ACF-AA37-45CB-F993-B4EBFE368455}"/>
              </a:ext>
            </a:extLst>
          </p:cNvPr>
          <p:cNvSpPr/>
          <p:nvPr/>
        </p:nvSpPr>
        <p:spPr>
          <a:xfrm>
            <a:off x="3310467" y="3471883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DB3A3C8C-3A0A-5028-0F56-E6319422B926}"/>
              </a:ext>
            </a:extLst>
          </p:cNvPr>
          <p:cNvSpPr/>
          <p:nvPr/>
        </p:nvSpPr>
        <p:spPr>
          <a:xfrm>
            <a:off x="4406900" y="3382158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椭圆 133">
            <a:extLst>
              <a:ext uri="{FF2B5EF4-FFF2-40B4-BE49-F238E27FC236}">
                <a16:creationId xmlns:a16="http://schemas.microsoft.com/office/drawing/2014/main" id="{E580F51A-120C-F5D0-3836-5466C9F945BD}"/>
              </a:ext>
            </a:extLst>
          </p:cNvPr>
          <p:cNvSpPr/>
          <p:nvPr/>
        </p:nvSpPr>
        <p:spPr>
          <a:xfrm>
            <a:off x="5503333" y="3337296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BD59BAD4-7A7C-9962-5112-74252C2E201B}"/>
              </a:ext>
            </a:extLst>
          </p:cNvPr>
          <p:cNvSpPr/>
          <p:nvPr/>
        </p:nvSpPr>
        <p:spPr>
          <a:xfrm>
            <a:off x="6599767" y="3292434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椭圆 135">
            <a:extLst>
              <a:ext uri="{FF2B5EF4-FFF2-40B4-BE49-F238E27FC236}">
                <a16:creationId xmlns:a16="http://schemas.microsoft.com/office/drawing/2014/main" id="{FEDCFADF-FC0A-2D2A-580B-2732D7CA495F}"/>
              </a:ext>
            </a:extLst>
          </p:cNvPr>
          <p:cNvSpPr/>
          <p:nvPr/>
        </p:nvSpPr>
        <p:spPr>
          <a:xfrm>
            <a:off x="7696200" y="3292434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椭圆 136">
            <a:extLst>
              <a:ext uri="{FF2B5EF4-FFF2-40B4-BE49-F238E27FC236}">
                <a16:creationId xmlns:a16="http://schemas.microsoft.com/office/drawing/2014/main" id="{C42E9EBE-AF89-5811-A458-4C78D375A96A}"/>
              </a:ext>
            </a:extLst>
          </p:cNvPr>
          <p:cNvSpPr/>
          <p:nvPr/>
        </p:nvSpPr>
        <p:spPr>
          <a:xfrm>
            <a:off x="8792633" y="3292434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03EDC5EE-D14F-B166-B680-7E28F53FF2B9}"/>
              </a:ext>
            </a:extLst>
          </p:cNvPr>
          <p:cNvSpPr/>
          <p:nvPr/>
        </p:nvSpPr>
        <p:spPr>
          <a:xfrm>
            <a:off x="9889067" y="3292434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椭圆 138">
            <a:extLst>
              <a:ext uri="{FF2B5EF4-FFF2-40B4-BE49-F238E27FC236}">
                <a16:creationId xmlns:a16="http://schemas.microsoft.com/office/drawing/2014/main" id="{59262DDC-5C06-7A24-030E-D1AAA79B5577}"/>
              </a:ext>
            </a:extLst>
          </p:cNvPr>
          <p:cNvSpPr/>
          <p:nvPr/>
        </p:nvSpPr>
        <p:spPr>
          <a:xfrm>
            <a:off x="10985500" y="3292434"/>
            <a:ext cx="76200" cy="76200"/>
          </a:xfrm>
          <a:prstGeom prst="ellipse">
            <a:avLst/>
          </a:prstGeom>
          <a:solidFill>
            <a:srgbClr val="90979D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54214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2D1089A-9B97-C5B9-595D-81E1FBC2E103}"/>
              </a:ext>
            </a:extLst>
          </p:cNvPr>
          <p:cNvSpPr txBox="1"/>
          <p:nvPr/>
        </p:nvSpPr>
        <p:spPr>
          <a:xfrm>
            <a:off x="1016000" y="381000"/>
            <a:ext cx="5381281" cy="3539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2300" b="1">
                <a:solidFill>
                  <a:srgbClr val="263746"/>
                </a:solidFill>
                <a:latin typeface="Arial" panose="020B0604020202020204" pitchFamily="34" charset="0"/>
              </a:rPr>
              <a:t>Pose reconstruction from ranked sites</a:t>
            </a:r>
            <a:endParaRPr lang="zh-CN" altLang="en-US" sz="23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2A74DFB-4758-683C-2B36-0A4C85E78509}"/>
              </a:ext>
            </a:extLst>
          </p:cNvPr>
          <p:cNvSpPr txBox="1"/>
          <p:nvPr/>
        </p:nvSpPr>
        <p:spPr>
          <a:xfrm>
            <a:off x="1016000" y="876300"/>
            <a:ext cx="2933945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647483"/>
                </a:solidFill>
                <a:latin typeface="Arial" panose="020B0604020202020204" pitchFamily="34" charset="0"/>
              </a:rPr>
              <a:t>GT receptor · local_cov single C · 77 PDBs</a:t>
            </a:r>
            <a:endParaRPr lang="zh-CN" altLang="en-US" sz="12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7A89D64-3270-A757-1FF4-5BB6052321F6}"/>
              </a:ext>
            </a:extLst>
          </p:cNvPr>
          <p:cNvCxnSpPr/>
          <p:nvPr/>
        </p:nvCxnSpPr>
        <p:spPr>
          <a:xfrm>
            <a:off x="10922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81608A38-2D2F-722D-D56C-B361EAEED3BC}"/>
              </a:ext>
            </a:extLst>
          </p:cNvPr>
          <p:cNvSpPr/>
          <p:nvPr/>
        </p:nvSpPr>
        <p:spPr>
          <a:xfrm>
            <a:off x="12255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D09BAD-E477-F457-1D5F-0B2C7B0B614B}"/>
              </a:ext>
            </a:extLst>
          </p:cNvPr>
          <p:cNvSpPr txBox="1"/>
          <p:nvPr/>
        </p:nvSpPr>
        <p:spPr>
          <a:xfrm>
            <a:off x="1574800" y="1371600"/>
            <a:ext cx="785471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76E1C45-58FB-B783-288C-A6ED33C15AAE}"/>
              </a:ext>
            </a:extLst>
          </p:cNvPr>
          <p:cNvCxnSpPr/>
          <p:nvPr/>
        </p:nvCxnSpPr>
        <p:spPr>
          <a:xfrm>
            <a:off x="4673600" y="1473200"/>
            <a:ext cx="342900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B434E84D-F3E9-8F84-A97B-D67DF8B03912}"/>
              </a:ext>
            </a:extLst>
          </p:cNvPr>
          <p:cNvSpPr/>
          <p:nvPr/>
        </p:nvSpPr>
        <p:spPr>
          <a:xfrm>
            <a:off x="4806950" y="143510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684CC4-32A7-50B9-65DB-46E6B2E98AD3}"/>
              </a:ext>
            </a:extLst>
          </p:cNvPr>
          <p:cNvSpPr txBox="1"/>
          <p:nvPr/>
        </p:nvSpPr>
        <p:spPr>
          <a:xfrm>
            <a:off x="5156200" y="1371600"/>
            <a:ext cx="785471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6D425E-F8B4-F774-C320-A8C4005403A3}"/>
              </a:ext>
            </a:extLst>
          </p:cNvPr>
          <p:cNvCxnSpPr/>
          <p:nvPr/>
        </p:nvCxnSpPr>
        <p:spPr>
          <a:xfrm>
            <a:off x="82550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829A5D4A-000B-BDA7-7C01-5571E4E2D6FC}"/>
              </a:ext>
            </a:extLst>
          </p:cNvPr>
          <p:cNvSpPr/>
          <p:nvPr/>
        </p:nvSpPr>
        <p:spPr>
          <a:xfrm>
            <a:off x="83883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D30C3-CDFC-DF2E-05A0-5006DEDD9DA9}"/>
              </a:ext>
            </a:extLst>
          </p:cNvPr>
          <p:cNvSpPr txBox="1"/>
          <p:nvPr/>
        </p:nvSpPr>
        <p:spPr>
          <a:xfrm>
            <a:off x="8737600" y="1371600"/>
            <a:ext cx="1065997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9D50083-95C6-487B-C119-AD8856828125}"/>
              </a:ext>
            </a:extLst>
          </p:cNvPr>
          <p:cNvCxnSpPr/>
          <p:nvPr/>
        </p:nvCxnSpPr>
        <p:spPr>
          <a:xfrm>
            <a:off x="1092200" y="1803400"/>
            <a:ext cx="342900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77E19504-7E66-9F7C-21DA-B3C9C0C5FA7E}"/>
              </a:ext>
            </a:extLst>
          </p:cNvPr>
          <p:cNvSpPr/>
          <p:nvPr/>
        </p:nvSpPr>
        <p:spPr>
          <a:xfrm>
            <a:off x="1225550" y="176530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9554A9-E72D-1D38-489C-7CFB46863ECD}"/>
              </a:ext>
            </a:extLst>
          </p:cNvPr>
          <p:cNvSpPr txBox="1"/>
          <p:nvPr/>
        </p:nvSpPr>
        <p:spPr>
          <a:xfrm>
            <a:off x="1574800" y="1701800"/>
            <a:ext cx="1065997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13648BF-BB8D-3EBC-C978-38F219B4BA3C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88AD10B5-A360-0FB5-7B0B-81F324E250C7}"/>
              </a:ext>
            </a:extLst>
          </p:cNvPr>
          <p:cNvSpPr txBox="1"/>
          <p:nvPr/>
        </p:nvSpPr>
        <p:spPr>
          <a:xfrm>
            <a:off x="635000" y="56515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B750E97-D7E2-FEC5-2D9B-D7BB6A916FDD}"/>
              </a:ext>
            </a:extLst>
          </p:cNvPr>
          <p:cNvCxnSpPr/>
          <p:nvPr/>
        </p:nvCxnSpPr>
        <p:spPr>
          <a:xfrm>
            <a:off x="1155700" y="506222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9E11A31-E0D0-9883-2DDB-22E03D6A9679}"/>
              </a:ext>
            </a:extLst>
          </p:cNvPr>
          <p:cNvSpPr txBox="1"/>
          <p:nvPr/>
        </p:nvSpPr>
        <p:spPr>
          <a:xfrm>
            <a:off x="635000" y="496062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5D12489-6843-0C3C-99B8-A985BF0AFEE3}"/>
              </a:ext>
            </a:extLst>
          </p:cNvPr>
          <p:cNvCxnSpPr/>
          <p:nvPr/>
        </p:nvCxnSpPr>
        <p:spPr>
          <a:xfrm>
            <a:off x="1155700" y="437134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D1F21534-10B9-D940-DE1D-6C2CBDAFC033}"/>
              </a:ext>
            </a:extLst>
          </p:cNvPr>
          <p:cNvSpPr txBox="1"/>
          <p:nvPr/>
        </p:nvSpPr>
        <p:spPr>
          <a:xfrm>
            <a:off x="635000" y="426974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FD4DC561-BFD2-5B17-DD9C-AA41077F3A6D}"/>
              </a:ext>
            </a:extLst>
          </p:cNvPr>
          <p:cNvCxnSpPr/>
          <p:nvPr/>
        </p:nvCxnSpPr>
        <p:spPr>
          <a:xfrm>
            <a:off x="1155700" y="368046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B14521BC-8038-99E1-BAEE-D03F4699DF52}"/>
              </a:ext>
            </a:extLst>
          </p:cNvPr>
          <p:cNvSpPr txBox="1"/>
          <p:nvPr/>
        </p:nvSpPr>
        <p:spPr>
          <a:xfrm>
            <a:off x="635000" y="357886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1D1DBA-5A67-9EDB-858C-9A65412F585D}"/>
              </a:ext>
            </a:extLst>
          </p:cNvPr>
          <p:cNvCxnSpPr/>
          <p:nvPr/>
        </p:nvCxnSpPr>
        <p:spPr>
          <a:xfrm>
            <a:off x="1155700" y="298958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B3388BEB-2C0A-FAA3-1E75-BC5261698761}"/>
              </a:ext>
            </a:extLst>
          </p:cNvPr>
          <p:cNvSpPr txBox="1"/>
          <p:nvPr/>
        </p:nvSpPr>
        <p:spPr>
          <a:xfrm>
            <a:off x="635000" y="288798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CA6E86-A441-241F-02D5-DB338303E9F8}"/>
              </a:ext>
            </a:extLst>
          </p:cNvPr>
          <p:cNvCxnSpPr/>
          <p:nvPr/>
        </p:nvCxnSpPr>
        <p:spPr>
          <a:xfrm>
            <a:off x="1155700" y="22987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8EF25AE9-DF10-8BC2-A71B-12F728743076}"/>
              </a:ext>
            </a:extLst>
          </p:cNvPr>
          <p:cNvSpPr txBox="1"/>
          <p:nvPr/>
        </p:nvSpPr>
        <p:spPr>
          <a:xfrm>
            <a:off x="635000" y="2197100"/>
            <a:ext cx="211596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E765E1DF-F145-FD9E-AFCF-1E5D8FD35D4C}"/>
              </a:ext>
            </a:extLst>
          </p:cNvPr>
          <p:cNvCxnSpPr/>
          <p:nvPr/>
        </p:nvCxnSpPr>
        <p:spPr>
          <a:xfrm>
            <a:off x="1155700" y="2298700"/>
            <a:ext cx="0" cy="345440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FACDB6C-459E-D0B5-B39A-A6ACAA345CBF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F23048C0-7B1D-EC31-833D-E7F5E9DF4079}"/>
              </a:ext>
            </a:extLst>
          </p:cNvPr>
          <p:cNvSpPr txBox="1"/>
          <p:nvPr/>
        </p:nvSpPr>
        <p:spPr>
          <a:xfrm>
            <a:off x="10541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C14F99-7B1C-D594-8F8D-F8552BDD2C0F}"/>
              </a:ext>
            </a:extLst>
          </p:cNvPr>
          <p:cNvSpPr txBox="1"/>
          <p:nvPr/>
        </p:nvSpPr>
        <p:spPr>
          <a:xfrm>
            <a:off x="21505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4D9B18F-3E50-A7BB-6AB6-F94D85AC2600}"/>
              </a:ext>
            </a:extLst>
          </p:cNvPr>
          <p:cNvSpPr txBox="1"/>
          <p:nvPr/>
        </p:nvSpPr>
        <p:spPr>
          <a:xfrm>
            <a:off x="32469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3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074B1A3-4E2D-F451-CBAB-E572F293A68D}"/>
              </a:ext>
            </a:extLst>
          </p:cNvPr>
          <p:cNvSpPr txBox="1"/>
          <p:nvPr/>
        </p:nvSpPr>
        <p:spPr>
          <a:xfrm>
            <a:off x="43434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F6CEB40-A252-D936-B66D-E7EB98723CFD}"/>
              </a:ext>
            </a:extLst>
          </p:cNvPr>
          <p:cNvSpPr txBox="1"/>
          <p:nvPr/>
        </p:nvSpPr>
        <p:spPr>
          <a:xfrm>
            <a:off x="54398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5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704F511-6BD1-F9FC-D167-DF6E37249D91}"/>
              </a:ext>
            </a:extLst>
          </p:cNvPr>
          <p:cNvSpPr txBox="1"/>
          <p:nvPr/>
        </p:nvSpPr>
        <p:spPr>
          <a:xfrm>
            <a:off x="65362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F63208A-8F32-28D7-83FD-237C6796B397}"/>
              </a:ext>
            </a:extLst>
          </p:cNvPr>
          <p:cNvSpPr txBox="1"/>
          <p:nvPr/>
        </p:nvSpPr>
        <p:spPr>
          <a:xfrm>
            <a:off x="76327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7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1155B71-708C-9C99-305D-21233CF63765}"/>
              </a:ext>
            </a:extLst>
          </p:cNvPr>
          <p:cNvSpPr txBox="1"/>
          <p:nvPr/>
        </p:nvSpPr>
        <p:spPr>
          <a:xfrm>
            <a:off x="87291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39909C6-E90C-7BA9-BD99-E4D33C7A2A41}"/>
              </a:ext>
            </a:extLst>
          </p:cNvPr>
          <p:cNvSpPr txBox="1"/>
          <p:nvPr/>
        </p:nvSpPr>
        <p:spPr>
          <a:xfrm>
            <a:off x="98255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9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C352BAF-83D5-4104-26E3-AAC832465AA2}"/>
              </a:ext>
            </a:extLst>
          </p:cNvPr>
          <p:cNvSpPr txBox="1"/>
          <p:nvPr/>
        </p:nvSpPr>
        <p:spPr>
          <a:xfrm>
            <a:off x="10922000" y="589280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EE71260-1233-31AA-084E-E70E60F6350F}"/>
              </a:ext>
            </a:extLst>
          </p:cNvPr>
          <p:cNvSpPr txBox="1"/>
          <p:nvPr/>
        </p:nvSpPr>
        <p:spPr>
          <a:xfrm>
            <a:off x="5200650" y="6261100"/>
            <a:ext cx="95539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200">
                <a:solidFill>
                  <a:srgbClr val="263746"/>
                </a:solidFill>
                <a:latin typeface="Arial" panose="020B0604020202020204" pitchFamily="34" charset="0"/>
              </a:rPr>
              <a:t>Ranked site K</a:t>
            </a:r>
            <a:endParaRPr lang="zh-CN" altLang="en-US" sz="12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8F2B6B9-7F3C-660B-0B50-FB957CC8F443}"/>
              </a:ext>
            </a:extLst>
          </p:cNvPr>
          <p:cNvSpPr txBox="1"/>
          <p:nvPr/>
        </p:nvSpPr>
        <p:spPr>
          <a:xfrm>
            <a:off x="1155700" y="1993900"/>
            <a:ext cx="137698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647483"/>
                </a:solidFill>
                <a:latin typeface="Arial" panose="020B0604020202020204" pitchFamily="34" charset="0"/>
              </a:rPr>
              <a:t>PDB success rate (%)</a:t>
            </a:r>
            <a:endParaRPr lang="zh-CN" altLang="en-US" sz="11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B074939-36C2-4D5D-0AB6-256F41A6D5E2}"/>
              </a:ext>
            </a:extLst>
          </p:cNvPr>
          <p:cNvCxnSpPr/>
          <p:nvPr/>
        </p:nvCxnSpPr>
        <p:spPr>
          <a:xfrm flipV="1">
            <a:off x="1155700" y="3509983"/>
            <a:ext cx="1096433" cy="269174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63B2BD5-696A-4BD8-1BA1-32BA81579308}"/>
              </a:ext>
            </a:extLst>
          </p:cNvPr>
          <p:cNvCxnSpPr/>
          <p:nvPr/>
        </p:nvCxnSpPr>
        <p:spPr>
          <a:xfrm flipV="1">
            <a:off x="2252133" y="3465121"/>
            <a:ext cx="1096434" cy="44862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BA21939-FC1F-D36F-6013-3EB361315101}"/>
              </a:ext>
            </a:extLst>
          </p:cNvPr>
          <p:cNvCxnSpPr/>
          <p:nvPr/>
        </p:nvCxnSpPr>
        <p:spPr>
          <a:xfrm>
            <a:off x="3348567" y="3465121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61D10DF-DD85-9BBC-653E-AFE28BB0D613}"/>
              </a:ext>
            </a:extLst>
          </p:cNvPr>
          <p:cNvCxnSpPr/>
          <p:nvPr/>
        </p:nvCxnSpPr>
        <p:spPr>
          <a:xfrm>
            <a:off x="4445000" y="3465121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3A5AC7C-2544-5680-D43E-426D819E0075}"/>
              </a:ext>
            </a:extLst>
          </p:cNvPr>
          <p:cNvCxnSpPr/>
          <p:nvPr/>
        </p:nvCxnSpPr>
        <p:spPr>
          <a:xfrm>
            <a:off x="5541433" y="3465121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9921AE81-AAB0-BC6F-9440-4C2604F3B824}"/>
              </a:ext>
            </a:extLst>
          </p:cNvPr>
          <p:cNvCxnSpPr/>
          <p:nvPr/>
        </p:nvCxnSpPr>
        <p:spPr>
          <a:xfrm>
            <a:off x="6637867" y="3465121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C946D36-9EB7-2A5D-4CC2-C59CF576FAAC}"/>
              </a:ext>
            </a:extLst>
          </p:cNvPr>
          <p:cNvCxnSpPr/>
          <p:nvPr/>
        </p:nvCxnSpPr>
        <p:spPr>
          <a:xfrm>
            <a:off x="7734300" y="3465121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D724B1C-64E7-391E-64EA-91EBB23183F5}"/>
              </a:ext>
            </a:extLst>
          </p:cNvPr>
          <p:cNvCxnSpPr/>
          <p:nvPr/>
        </p:nvCxnSpPr>
        <p:spPr>
          <a:xfrm>
            <a:off x="8830733" y="3465121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6D286F72-F9C0-33B4-F19A-26FC89D3D2A3}"/>
              </a:ext>
            </a:extLst>
          </p:cNvPr>
          <p:cNvCxnSpPr/>
          <p:nvPr/>
        </p:nvCxnSpPr>
        <p:spPr>
          <a:xfrm>
            <a:off x="9927167" y="3465121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4E148712-D3F2-EB3D-802B-211564223F4E}"/>
              </a:ext>
            </a:extLst>
          </p:cNvPr>
          <p:cNvSpPr/>
          <p:nvPr/>
        </p:nvSpPr>
        <p:spPr>
          <a:xfrm>
            <a:off x="1117600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9A100D5E-48CA-8704-6090-AA9062C2CBBF}"/>
              </a:ext>
            </a:extLst>
          </p:cNvPr>
          <p:cNvSpPr/>
          <p:nvPr/>
        </p:nvSpPr>
        <p:spPr>
          <a:xfrm>
            <a:off x="2214033" y="347188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366507DE-91CA-167B-212A-E835DF58069F}"/>
              </a:ext>
            </a:extLst>
          </p:cNvPr>
          <p:cNvSpPr/>
          <p:nvPr/>
        </p:nvSpPr>
        <p:spPr>
          <a:xfrm>
            <a:off x="3310467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248A0C1C-9BCF-7F2A-3EB8-28AA6C43927D}"/>
              </a:ext>
            </a:extLst>
          </p:cNvPr>
          <p:cNvSpPr/>
          <p:nvPr/>
        </p:nvSpPr>
        <p:spPr>
          <a:xfrm>
            <a:off x="4406900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231A0BCE-E6CA-C9EE-4BDC-482D12E80111}"/>
              </a:ext>
            </a:extLst>
          </p:cNvPr>
          <p:cNvSpPr/>
          <p:nvPr/>
        </p:nvSpPr>
        <p:spPr>
          <a:xfrm>
            <a:off x="5503333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40A769A0-C712-BC70-7BE5-E3C8223A4A6E}"/>
              </a:ext>
            </a:extLst>
          </p:cNvPr>
          <p:cNvSpPr/>
          <p:nvPr/>
        </p:nvSpPr>
        <p:spPr>
          <a:xfrm>
            <a:off x="6599767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5AEE49A8-3668-B42A-4B44-5EE20F640573}"/>
              </a:ext>
            </a:extLst>
          </p:cNvPr>
          <p:cNvSpPr/>
          <p:nvPr/>
        </p:nvSpPr>
        <p:spPr>
          <a:xfrm>
            <a:off x="7696200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508339B6-1F16-76FF-C5B3-96C7944CCDA8}"/>
              </a:ext>
            </a:extLst>
          </p:cNvPr>
          <p:cNvSpPr/>
          <p:nvPr/>
        </p:nvSpPr>
        <p:spPr>
          <a:xfrm>
            <a:off x="8792633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BF350BED-33EF-A57B-F8D4-9626D5A91559}"/>
              </a:ext>
            </a:extLst>
          </p:cNvPr>
          <p:cNvSpPr/>
          <p:nvPr/>
        </p:nvSpPr>
        <p:spPr>
          <a:xfrm>
            <a:off x="9889067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702A9C9A-BEA1-F9FD-48EB-0B5CDD51DD7B}"/>
              </a:ext>
            </a:extLst>
          </p:cNvPr>
          <p:cNvSpPr/>
          <p:nvPr/>
        </p:nvSpPr>
        <p:spPr>
          <a:xfrm>
            <a:off x="10985500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DEA5F13-309B-7BE6-126C-21D78E626357}"/>
              </a:ext>
            </a:extLst>
          </p:cNvPr>
          <p:cNvCxnSpPr/>
          <p:nvPr/>
        </p:nvCxnSpPr>
        <p:spPr>
          <a:xfrm flipV="1">
            <a:off x="1155700" y="3330534"/>
            <a:ext cx="1096433" cy="179449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8583D676-D736-DC83-5F27-FCC340FCA51F}"/>
              </a:ext>
            </a:extLst>
          </p:cNvPr>
          <p:cNvCxnSpPr/>
          <p:nvPr/>
        </p:nvCxnSpPr>
        <p:spPr>
          <a:xfrm flipV="1">
            <a:off x="2252133" y="3285672"/>
            <a:ext cx="1096434" cy="44862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A1E90CF2-2A7E-B3F0-F0FE-87831DC7F1C0}"/>
              </a:ext>
            </a:extLst>
          </p:cNvPr>
          <p:cNvCxnSpPr/>
          <p:nvPr/>
        </p:nvCxnSpPr>
        <p:spPr>
          <a:xfrm>
            <a:off x="3348567" y="3285672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23526B47-A5BF-3474-ADE5-4FA14F4B032E}"/>
              </a:ext>
            </a:extLst>
          </p:cNvPr>
          <p:cNvCxnSpPr/>
          <p:nvPr/>
        </p:nvCxnSpPr>
        <p:spPr>
          <a:xfrm>
            <a:off x="4445000" y="3285672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5B80CD3-5F6C-3BF1-EE7D-F4F7DD852F3C}"/>
              </a:ext>
            </a:extLst>
          </p:cNvPr>
          <p:cNvCxnSpPr/>
          <p:nvPr/>
        </p:nvCxnSpPr>
        <p:spPr>
          <a:xfrm>
            <a:off x="5541433" y="3285672"/>
            <a:ext cx="1096434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5F8EAB-64A2-1C2E-3A27-890A6C95BAC9}"/>
              </a:ext>
            </a:extLst>
          </p:cNvPr>
          <p:cNvCxnSpPr/>
          <p:nvPr/>
        </p:nvCxnSpPr>
        <p:spPr>
          <a:xfrm>
            <a:off x="6637867" y="3285672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105F846-64DE-7031-5F34-EF606E80D4B6}"/>
              </a:ext>
            </a:extLst>
          </p:cNvPr>
          <p:cNvCxnSpPr/>
          <p:nvPr/>
        </p:nvCxnSpPr>
        <p:spPr>
          <a:xfrm>
            <a:off x="7734300" y="3285672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82A881B4-A20A-9226-BB96-9295740F5B92}"/>
              </a:ext>
            </a:extLst>
          </p:cNvPr>
          <p:cNvCxnSpPr/>
          <p:nvPr/>
        </p:nvCxnSpPr>
        <p:spPr>
          <a:xfrm>
            <a:off x="8830733" y="3285672"/>
            <a:ext cx="1096434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D8EC8CF1-644F-042F-52FA-C5CC22E81041}"/>
              </a:ext>
            </a:extLst>
          </p:cNvPr>
          <p:cNvCxnSpPr/>
          <p:nvPr/>
        </p:nvCxnSpPr>
        <p:spPr>
          <a:xfrm>
            <a:off x="9927167" y="3285672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00B1283A-B51F-0D7E-60EB-A38E51671F9E}"/>
              </a:ext>
            </a:extLst>
          </p:cNvPr>
          <p:cNvSpPr/>
          <p:nvPr/>
        </p:nvSpPr>
        <p:spPr>
          <a:xfrm>
            <a:off x="1117600" y="3471883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89D4E1D0-69CF-0E9F-357E-EE3B853C6DE1}"/>
              </a:ext>
            </a:extLst>
          </p:cNvPr>
          <p:cNvSpPr/>
          <p:nvPr/>
        </p:nvSpPr>
        <p:spPr>
          <a:xfrm>
            <a:off x="2214033" y="329243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9EF4F790-134F-1F9C-7CB6-059FD8D6940B}"/>
              </a:ext>
            </a:extLst>
          </p:cNvPr>
          <p:cNvSpPr/>
          <p:nvPr/>
        </p:nvSpPr>
        <p:spPr>
          <a:xfrm>
            <a:off x="3310467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F6BC206-4F4A-CF84-CD71-2E5154554E2A}"/>
              </a:ext>
            </a:extLst>
          </p:cNvPr>
          <p:cNvSpPr/>
          <p:nvPr/>
        </p:nvSpPr>
        <p:spPr>
          <a:xfrm>
            <a:off x="4406900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4DACD2ED-C9AA-E6F4-AA75-1B5DD532132E}"/>
              </a:ext>
            </a:extLst>
          </p:cNvPr>
          <p:cNvSpPr/>
          <p:nvPr/>
        </p:nvSpPr>
        <p:spPr>
          <a:xfrm>
            <a:off x="5503333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0BCF832C-FC9D-868F-944E-E5F72390C520}"/>
              </a:ext>
            </a:extLst>
          </p:cNvPr>
          <p:cNvSpPr/>
          <p:nvPr/>
        </p:nvSpPr>
        <p:spPr>
          <a:xfrm>
            <a:off x="6599767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20F4F228-47B5-2754-8580-04A0A61F7538}"/>
              </a:ext>
            </a:extLst>
          </p:cNvPr>
          <p:cNvSpPr/>
          <p:nvPr/>
        </p:nvSpPr>
        <p:spPr>
          <a:xfrm>
            <a:off x="7696200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76E108D2-6DA0-AC7A-263B-32778F53CE09}"/>
              </a:ext>
            </a:extLst>
          </p:cNvPr>
          <p:cNvSpPr/>
          <p:nvPr/>
        </p:nvSpPr>
        <p:spPr>
          <a:xfrm>
            <a:off x="8792633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3C538919-4062-C58F-E0A4-A4CEB6F440FB}"/>
              </a:ext>
            </a:extLst>
          </p:cNvPr>
          <p:cNvSpPr/>
          <p:nvPr/>
        </p:nvSpPr>
        <p:spPr>
          <a:xfrm>
            <a:off x="9889067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63867121-5653-8BB4-7F91-EABA9D2F6F51}"/>
              </a:ext>
            </a:extLst>
          </p:cNvPr>
          <p:cNvSpPr/>
          <p:nvPr/>
        </p:nvSpPr>
        <p:spPr>
          <a:xfrm>
            <a:off x="10985500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CC0F68F-75DC-72BB-2705-0898C53D278C}"/>
              </a:ext>
            </a:extLst>
          </p:cNvPr>
          <p:cNvCxnSpPr/>
          <p:nvPr/>
        </p:nvCxnSpPr>
        <p:spPr>
          <a:xfrm flipV="1">
            <a:off x="1155700" y="3330534"/>
            <a:ext cx="1096433" cy="89724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5BCEE61-B7FB-FBC5-167E-1E23CA10E751}"/>
              </a:ext>
            </a:extLst>
          </p:cNvPr>
          <p:cNvCxnSpPr/>
          <p:nvPr/>
        </p:nvCxnSpPr>
        <p:spPr>
          <a:xfrm flipV="1">
            <a:off x="2252133" y="3240809"/>
            <a:ext cx="1096434" cy="89725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DF97AF59-7D08-A6DA-E84F-73B851ABB006}"/>
              </a:ext>
            </a:extLst>
          </p:cNvPr>
          <p:cNvCxnSpPr/>
          <p:nvPr/>
        </p:nvCxnSpPr>
        <p:spPr>
          <a:xfrm flipV="1">
            <a:off x="3348567" y="3195947"/>
            <a:ext cx="1096433" cy="44862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ECDE0E3A-055A-976E-F982-10F386DD20D7}"/>
              </a:ext>
            </a:extLst>
          </p:cNvPr>
          <p:cNvCxnSpPr/>
          <p:nvPr/>
        </p:nvCxnSpPr>
        <p:spPr>
          <a:xfrm>
            <a:off x="4445000" y="3195947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20783458-3047-627D-FF48-95925B7BC389}"/>
              </a:ext>
            </a:extLst>
          </p:cNvPr>
          <p:cNvCxnSpPr/>
          <p:nvPr/>
        </p:nvCxnSpPr>
        <p:spPr>
          <a:xfrm>
            <a:off x="5541433" y="3195947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3167C5D-B107-2888-ED14-89ACE7426623}"/>
              </a:ext>
            </a:extLst>
          </p:cNvPr>
          <p:cNvCxnSpPr/>
          <p:nvPr/>
        </p:nvCxnSpPr>
        <p:spPr>
          <a:xfrm flipV="1">
            <a:off x="6637867" y="3151084"/>
            <a:ext cx="1096433" cy="44863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9CB395CE-3A02-2570-2D2E-2E4DF570E296}"/>
              </a:ext>
            </a:extLst>
          </p:cNvPr>
          <p:cNvCxnSpPr/>
          <p:nvPr/>
        </p:nvCxnSpPr>
        <p:spPr>
          <a:xfrm>
            <a:off x="7734300" y="3151084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C651D58-70DD-2216-A114-F5D6A4094900}"/>
              </a:ext>
            </a:extLst>
          </p:cNvPr>
          <p:cNvCxnSpPr/>
          <p:nvPr/>
        </p:nvCxnSpPr>
        <p:spPr>
          <a:xfrm>
            <a:off x="8830733" y="3151084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8BD03F7-6C3F-D453-5656-C1B0EEF4C0C7}"/>
              </a:ext>
            </a:extLst>
          </p:cNvPr>
          <p:cNvCxnSpPr/>
          <p:nvPr/>
        </p:nvCxnSpPr>
        <p:spPr>
          <a:xfrm>
            <a:off x="9927167" y="3151084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F6E8ABA6-69AF-2FDF-A2F1-D6EBDAF69935}"/>
              </a:ext>
            </a:extLst>
          </p:cNvPr>
          <p:cNvSpPr/>
          <p:nvPr/>
        </p:nvSpPr>
        <p:spPr>
          <a:xfrm>
            <a:off x="1117600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1CFEAE64-1053-3AD1-0B3E-CAB0EA9333F2}"/>
              </a:ext>
            </a:extLst>
          </p:cNvPr>
          <p:cNvSpPr/>
          <p:nvPr/>
        </p:nvSpPr>
        <p:spPr>
          <a:xfrm>
            <a:off x="2214033" y="3292434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267147BB-997D-A85E-8B5F-2E9D16DB1E37}"/>
              </a:ext>
            </a:extLst>
          </p:cNvPr>
          <p:cNvSpPr/>
          <p:nvPr/>
        </p:nvSpPr>
        <p:spPr>
          <a:xfrm>
            <a:off x="3310467" y="3202709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E3AB2B7A-5884-C8A4-8768-2FDAA867B91F}"/>
              </a:ext>
            </a:extLst>
          </p:cNvPr>
          <p:cNvSpPr/>
          <p:nvPr/>
        </p:nvSpPr>
        <p:spPr>
          <a:xfrm>
            <a:off x="4406900" y="315784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A9B22CCD-E1D5-732F-20D2-556B1E2F76D6}"/>
              </a:ext>
            </a:extLst>
          </p:cNvPr>
          <p:cNvSpPr/>
          <p:nvPr/>
        </p:nvSpPr>
        <p:spPr>
          <a:xfrm>
            <a:off x="5503333" y="315784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>
            <a:extLst>
              <a:ext uri="{FF2B5EF4-FFF2-40B4-BE49-F238E27FC236}">
                <a16:creationId xmlns:a16="http://schemas.microsoft.com/office/drawing/2014/main" id="{33F698DA-12D1-D416-F8FB-74A28434A93C}"/>
              </a:ext>
            </a:extLst>
          </p:cNvPr>
          <p:cNvSpPr/>
          <p:nvPr/>
        </p:nvSpPr>
        <p:spPr>
          <a:xfrm>
            <a:off x="6599767" y="315784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7598EF3F-6AF9-B36C-CA76-A6A22047C2A6}"/>
              </a:ext>
            </a:extLst>
          </p:cNvPr>
          <p:cNvSpPr/>
          <p:nvPr/>
        </p:nvSpPr>
        <p:spPr>
          <a:xfrm>
            <a:off x="7696200" y="3112984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椭圆 95">
            <a:extLst>
              <a:ext uri="{FF2B5EF4-FFF2-40B4-BE49-F238E27FC236}">
                <a16:creationId xmlns:a16="http://schemas.microsoft.com/office/drawing/2014/main" id="{81F1C884-A5CC-8DD0-62F0-F74C83C308B1}"/>
              </a:ext>
            </a:extLst>
          </p:cNvPr>
          <p:cNvSpPr/>
          <p:nvPr/>
        </p:nvSpPr>
        <p:spPr>
          <a:xfrm>
            <a:off x="8792633" y="3112984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F53729F5-088B-BC87-A6CB-DF2675B1AC5A}"/>
              </a:ext>
            </a:extLst>
          </p:cNvPr>
          <p:cNvSpPr/>
          <p:nvPr/>
        </p:nvSpPr>
        <p:spPr>
          <a:xfrm>
            <a:off x="9889067" y="3112984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3E26AF7A-7AF1-CFE0-C52C-A73DEDA36F4B}"/>
              </a:ext>
            </a:extLst>
          </p:cNvPr>
          <p:cNvSpPr/>
          <p:nvPr/>
        </p:nvSpPr>
        <p:spPr>
          <a:xfrm>
            <a:off x="10985500" y="3112984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BAC2D308-6182-C57B-B89A-E662297FC448}"/>
              </a:ext>
            </a:extLst>
          </p:cNvPr>
          <p:cNvCxnSpPr/>
          <p:nvPr/>
        </p:nvCxnSpPr>
        <p:spPr>
          <a:xfrm flipV="1">
            <a:off x="1155700" y="3195947"/>
            <a:ext cx="1096433" cy="89725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DBE4053-5892-F065-8E49-7EEA361A7A8E}"/>
              </a:ext>
            </a:extLst>
          </p:cNvPr>
          <p:cNvCxnSpPr/>
          <p:nvPr/>
        </p:nvCxnSpPr>
        <p:spPr>
          <a:xfrm flipV="1">
            <a:off x="2252133" y="3151084"/>
            <a:ext cx="1096434" cy="44863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1E7A9783-1E9F-0E29-50D5-6CDC2131EDF6}"/>
              </a:ext>
            </a:extLst>
          </p:cNvPr>
          <p:cNvCxnSpPr/>
          <p:nvPr/>
        </p:nvCxnSpPr>
        <p:spPr>
          <a:xfrm>
            <a:off x="3348567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EB86FF1-41E4-5A7C-0C99-60BEBF54F9A9}"/>
              </a:ext>
            </a:extLst>
          </p:cNvPr>
          <p:cNvCxnSpPr/>
          <p:nvPr/>
        </p:nvCxnSpPr>
        <p:spPr>
          <a:xfrm>
            <a:off x="4445000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48566933-37DF-5FD7-25EA-DF5BA02464BD}"/>
              </a:ext>
            </a:extLst>
          </p:cNvPr>
          <p:cNvCxnSpPr/>
          <p:nvPr/>
        </p:nvCxnSpPr>
        <p:spPr>
          <a:xfrm>
            <a:off x="5541433" y="3151084"/>
            <a:ext cx="1096434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8179CB17-C5DF-665D-9E94-8887B2CDB5D5}"/>
              </a:ext>
            </a:extLst>
          </p:cNvPr>
          <p:cNvCxnSpPr/>
          <p:nvPr/>
        </p:nvCxnSpPr>
        <p:spPr>
          <a:xfrm flipV="1">
            <a:off x="6637867" y="3106222"/>
            <a:ext cx="1096433" cy="44862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AA2F8562-74B3-AAAE-E704-3CB16617C2E7}"/>
              </a:ext>
            </a:extLst>
          </p:cNvPr>
          <p:cNvCxnSpPr/>
          <p:nvPr/>
        </p:nvCxnSpPr>
        <p:spPr>
          <a:xfrm>
            <a:off x="7734300" y="3106222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365EFA8E-04E5-8B44-96C7-DF589FC1CF52}"/>
              </a:ext>
            </a:extLst>
          </p:cNvPr>
          <p:cNvCxnSpPr/>
          <p:nvPr/>
        </p:nvCxnSpPr>
        <p:spPr>
          <a:xfrm>
            <a:off x="8830733" y="3106222"/>
            <a:ext cx="1096434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24F7D686-CB17-CB26-AB16-B96787B67EE4}"/>
              </a:ext>
            </a:extLst>
          </p:cNvPr>
          <p:cNvCxnSpPr/>
          <p:nvPr/>
        </p:nvCxnSpPr>
        <p:spPr>
          <a:xfrm>
            <a:off x="9927167" y="3106222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395B340-F9F7-6006-ACEB-703B3FCE353E}"/>
              </a:ext>
            </a:extLst>
          </p:cNvPr>
          <p:cNvSpPr/>
          <p:nvPr/>
        </p:nvSpPr>
        <p:spPr>
          <a:xfrm>
            <a:off x="1117600" y="3247571"/>
            <a:ext cx="76200" cy="76201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B3AADD12-71B4-D052-E803-0F8592DE57BE}"/>
              </a:ext>
            </a:extLst>
          </p:cNvPr>
          <p:cNvSpPr/>
          <p:nvPr/>
        </p:nvSpPr>
        <p:spPr>
          <a:xfrm>
            <a:off x="2214033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A0B8E88E-4FC3-43AB-D810-5ACAB4AA8EB5}"/>
              </a:ext>
            </a:extLst>
          </p:cNvPr>
          <p:cNvSpPr/>
          <p:nvPr/>
        </p:nvSpPr>
        <p:spPr>
          <a:xfrm>
            <a:off x="3310467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B81511CC-9415-B043-6FB2-88B49EBC939C}"/>
              </a:ext>
            </a:extLst>
          </p:cNvPr>
          <p:cNvSpPr/>
          <p:nvPr/>
        </p:nvSpPr>
        <p:spPr>
          <a:xfrm>
            <a:off x="4406900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FF477DCF-51DC-FD24-88FD-13809E667164}"/>
              </a:ext>
            </a:extLst>
          </p:cNvPr>
          <p:cNvSpPr/>
          <p:nvPr/>
        </p:nvSpPr>
        <p:spPr>
          <a:xfrm>
            <a:off x="5503333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99FB443B-7DB9-B8D6-EB08-CC6A67D68F94}"/>
              </a:ext>
            </a:extLst>
          </p:cNvPr>
          <p:cNvSpPr/>
          <p:nvPr/>
        </p:nvSpPr>
        <p:spPr>
          <a:xfrm>
            <a:off x="6599767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6513C6E7-7C9E-534E-1168-D76609F348A9}"/>
              </a:ext>
            </a:extLst>
          </p:cNvPr>
          <p:cNvSpPr/>
          <p:nvPr/>
        </p:nvSpPr>
        <p:spPr>
          <a:xfrm>
            <a:off x="7696200" y="3068122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C9A6E95-B357-EFC7-240B-5B6340E499E1}"/>
              </a:ext>
            </a:extLst>
          </p:cNvPr>
          <p:cNvSpPr/>
          <p:nvPr/>
        </p:nvSpPr>
        <p:spPr>
          <a:xfrm>
            <a:off x="8792633" y="3068122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04F2C7D3-8493-B777-55DA-389EEB7ECA44}"/>
              </a:ext>
            </a:extLst>
          </p:cNvPr>
          <p:cNvSpPr/>
          <p:nvPr/>
        </p:nvSpPr>
        <p:spPr>
          <a:xfrm>
            <a:off x="9889067" y="3068122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1AA6D9CB-1E19-3A73-0DA0-4BE051C0904F}"/>
              </a:ext>
            </a:extLst>
          </p:cNvPr>
          <p:cNvSpPr/>
          <p:nvPr/>
        </p:nvSpPr>
        <p:spPr>
          <a:xfrm>
            <a:off x="10985500" y="3068122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52631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5AD25BE-64E3-899D-EF72-3D057A724883}"/>
              </a:ext>
            </a:extLst>
          </p:cNvPr>
          <p:cNvSpPr txBox="1"/>
          <p:nvPr/>
        </p:nvSpPr>
        <p:spPr>
          <a:xfrm>
            <a:off x="1016000" y="381000"/>
            <a:ext cx="5381281" cy="3539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2300" b="1">
                <a:solidFill>
                  <a:srgbClr val="263746"/>
                </a:solidFill>
                <a:latin typeface="Arial" panose="020B0604020202020204" pitchFamily="34" charset="0"/>
              </a:rPr>
              <a:t>Pose reconstruction from ranked sites</a:t>
            </a:r>
            <a:endParaRPr lang="zh-CN" altLang="en-US" sz="23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82FFE3-E486-5D49-405D-D0F419E983B1}"/>
              </a:ext>
            </a:extLst>
          </p:cNvPr>
          <p:cNvSpPr txBox="1"/>
          <p:nvPr/>
        </p:nvSpPr>
        <p:spPr>
          <a:xfrm>
            <a:off x="1016000" y="876300"/>
            <a:ext cx="3489738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647483"/>
                </a:solidFill>
                <a:latin typeface="Arial" panose="020B0604020202020204" pitchFamily="34" charset="0"/>
              </a:rPr>
              <a:t>CryoAtom2 receptor · local_cov single C · 77 PDBs</a:t>
            </a:r>
            <a:endParaRPr lang="zh-CN" altLang="en-US" sz="12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72C2505-3A9D-393C-B3E3-CBD12785E7B2}"/>
              </a:ext>
            </a:extLst>
          </p:cNvPr>
          <p:cNvCxnSpPr/>
          <p:nvPr/>
        </p:nvCxnSpPr>
        <p:spPr>
          <a:xfrm>
            <a:off x="10922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0459C6F0-D427-C8E4-66D0-29BBD6F05734}"/>
              </a:ext>
            </a:extLst>
          </p:cNvPr>
          <p:cNvSpPr/>
          <p:nvPr/>
        </p:nvSpPr>
        <p:spPr>
          <a:xfrm>
            <a:off x="12255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574BDEB-8F90-8699-CC0F-6A0CF1A8854C}"/>
              </a:ext>
            </a:extLst>
          </p:cNvPr>
          <p:cNvSpPr txBox="1"/>
          <p:nvPr/>
        </p:nvSpPr>
        <p:spPr>
          <a:xfrm>
            <a:off x="1574800" y="1371600"/>
            <a:ext cx="785471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F3B5F2B-F851-4D06-9452-C3FC2FD04783}"/>
              </a:ext>
            </a:extLst>
          </p:cNvPr>
          <p:cNvCxnSpPr/>
          <p:nvPr/>
        </p:nvCxnSpPr>
        <p:spPr>
          <a:xfrm>
            <a:off x="4673600" y="1473200"/>
            <a:ext cx="342900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712282CD-4FC8-2E75-4781-EB6149D3A454}"/>
              </a:ext>
            </a:extLst>
          </p:cNvPr>
          <p:cNvSpPr/>
          <p:nvPr/>
        </p:nvSpPr>
        <p:spPr>
          <a:xfrm>
            <a:off x="4806950" y="143510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58322E4-DE97-C21D-A508-5BBDF8132FF7}"/>
              </a:ext>
            </a:extLst>
          </p:cNvPr>
          <p:cNvSpPr txBox="1"/>
          <p:nvPr/>
        </p:nvSpPr>
        <p:spPr>
          <a:xfrm>
            <a:off x="5156200" y="1371600"/>
            <a:ext cx="785471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650495-3174-7DA3-E61D-2FF83C55D763}"/>
              </a:ext>
            </a:extLst>
          </p:cNvPr>
          <p:cNvCxnSpPr/>
          <p:nvPr/>
        </p:nvCxnSpPr>
        <p:spPr>
          <a:xfrm>
            <a:off x="82550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8BCED5CA-A681-BF89-6055-62C7813444D6}"/>
              </a:ext>
            </a:extLst>
          </p:cNvPr>
          <p:cNvSpPr/>
          <p:nvPr/>
        </p:nvSpPr>
        <p:spPr>
          <a:xfrm>
            <a:off x="83883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EE8E25A-889B-2789-B030-14109435832B}"/>
              </a:ext>
            </a:extLst>
          </p:cNvPr>
          <p:cNvSpPr txBox="1"/>
          <p:nvPr/>
        </p:nvSpPr>
        <p:spPr>
          <a:xfrm>
            <a:off x="8737600" y="1371600"/>
            <a:ext cx="1065997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815145F-49F0-6CB5-EEDD-18657F633B1C}"/>
              </a:ext>
            </a:extLst>
          </p:cNvPr>
          <p:cNvCxnSpPr/>
          <p:nvPr/>
        </p:nvCxnSpPr>
        <p:spPr>
          <a:xfrm>
            <a:off x="1092200" y="1803400"/>
            <a:ext cx="342900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F5277101-4E30-A861-492D-EFCBABC7F429}"/>
              </a:ext>
            </a:extLst>
          </p:cNvPr>
          <p:cNvSpPr/>
          <p:nvPr/>
        </p:nvSpPr>
        <p:spPr>
          <a:xfrm>
            <a:off x="1225550" y="176530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57D103-2478-99AA-2DEF-B62E3C261285}"/>
              </a:ext>
            </a:extLst>
          </p:cNvPr>
          <p:cNvSpPr txBox="1"/>
          <p:nvPr/>
        </p:nvSpPr>
        <p:spPr>
          <a:xfrm>
            <a:off x="1574800" y="1701800"/>
            <a:ext cx="1065997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F0B4A4B-418B-B25E-532C-495A0C86EE20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522A032E-790D-0B51-5AEC-CBA9B025DA43}"/>
              </a:ext>
            </a:extLst>
          </p:cNvPr>
          <p:cNvSpPr txBox="1"/>
          <p:nvPr/>
        </p:nvSpPr>
        <p:spPr>
          <a:xfrm>
            <a:off x="635000" y="56515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1A2BB8-CEAE-2C5F-E666-5D587E13145F}"/>
              </a:ext>
            </a:extLst>
          </p:cNvPr>
          <p:cNvCxnSpPr/>
          <p:nvPr/>
        </p:nvCxnSpPr>
        <p:spPr>
          <a:xfrm>
            <a:off x="1155700" y="506222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B8332A01-5064-455B-E10F-38427D71D424}"/>
              </a:ext>
            </a:extLst>
          </p:cNvPr>
          <p:cNvSpPr txBox="1"/>
          <p:nvPr/>
        </p:nvSpPr>
        <p:spPr>
          <a:xfrm>
            <a:off x="635000" y="496062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8DCE380-D860-DE22-089D-C39317F3C7F9}"/>
              </a:ext>
            </a:extLst>
          </p:cNvPr>
          <p:cNvCxnSpPr/>
          <p:nvPr/>
        </p:nvCxnSpPr>
        <p:spPr>
          <a:xfrm>
            <a:off x="1155700" y="437134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2DB32C14-1ECC-3DD6-7398-9E7EF3EE1C23}"/>
              </a:ext>
            </a:extLst>
          </p:cNvPr>
          <p:cNvSpPr txBox="1"/>
          <p:nvPr/>
        </p:nvSpPr>
        <p:spPr>
          <a:xfrm>
            <a:off x="635000" y="426974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EF81A78-74C2-E82F-730E-BE888E4A2F2D}"/>
              </a:ext>
            </a:extLst>
          </p:cNvPr>
          <p:cNvCxnSpPr/>
          <p:nvPr/>
        </p:nvCxnSpPr>
        <p:spPr>
          <a:xfrm>
            <a:off x="1155700" y="368046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C0738E8B-4C90-D370-6067-92C58229D479}"/>
              </a:ext>
            </a:extLst>
          </p:cNvPr>
          <p:cNvSpPr txBox="1"/>
          <p:nvPr/>
        </p:nvSpPr>
        <p:spPr>
          <a:xfrm>
            <a:off x="635000" y="357886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B9EF67C-27F9-9EBF-143D-0185F7C79F81}"/>
              </a:ext>
            </a:extLst>
          </p:cNvPr>
          <p:cNvCxnSpPr/>
          <p:nvPr/>
        </p:nvCxnSpPr>
        <p:spPr>
          <a:xfrm>
            <a:off x="1155700" y="298958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8FF791F7-EDCE-56D7-0878-878B8AAA9A34}"/>
              </a:ext>
            </a:extLst>
          </p:cNvPr>
          <p:cNvSpPr txBox="1"/>
          <p:nvPr/>
        </p:nvSpPr>
        <p:spPr>
          <a:xfrm>
            <a:off x="635000" y="288798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0068F61-F46C-43BD-BED9-61B8DAB7E6DF}"/>
              </a:ext>
            </a:extLst>
          </p:cNvPr>
          <p:cNvCxnSpPr/>
          <p:nvPr/>
        </p:nvCxnSpPr>
        <p:spPr>
          <a:xfrm>
            <a:off x="1155700" y="22987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716B4429-26E0-0E53-2E31-752537444F75}"/>
              </a:ext>
            </a:extLst>
          </p:cNvPr>
          <p:cNvSpPr txBox="1"/>
          <p:nvPr/>
        </p:nvSpPr>
        <p:spPr>
          <a:xfrm>
            <a:off x="635000" y="2197100"/>
            <a:ext cx="211596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E34BB0D6-EE80-58EC-D932-24F1FD641BC8}"/>
              </a:ext>
            </a:extLst>
          </p:cNvPr>
          <p:cNvCxnSpPr/>
          <p:nvPr/>
        </p:nvCxnSpPr>
        <p:spPr>
          <a:xfrm>
            <a:off x="1155700" y="2298700"/>
            <a:ext cx="0" cy="345440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3C1CD7-F38F-AE76-E320-4147DFF098F5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306C6DA3-521F-E4C0-FEEA-2D6850FF04DA}"/>
              </a:ext>
            </a:extLst>
          </p:cNvPr>
          <p:cNvSpPr txBox="1"/>
          <p:nvPr/>
        </p:nvSpPr>
        <p:spPr>
          <a:xfrm>
            <a:off x="10541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5C82F8F-FB01-EF17-7A81-6BF7CA52AC89}"/>
              </a:ext>
            </a:extLst>
          </p:cNvPr>
          <p:cNvSpPr txBox="1"/>
          <p:nvPr/>
        </p:nvSpPr>
        <p:spPr>
          <a:xfrm>
            <a:off x="21505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61C8AC8-C580-A923-1D43-49A19F804B42}"/>
              </a:ext>
            </a:extLst>
          </p:cNvPr>
          <p:cNvSpPr txBox="1"/>
          <p:nvPr/>
        </p:nvSpPr>
        <p:spPr>
          <a:xfrm>
            <a:off x="32469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3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058E186-C2B6-5DE3-CB89-96537EBF7539}"/>
              </a:ext>
            </a:extLst>
          </p:cNvPr>
          <p:cNvSpPr txBox="1"/>
          <p:nvPr/>
        </p:nvSpPr>
        <p:spPr>
          <a:xfrm>
            <a:off x="43434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4845888-62DA-BD14-B996-14247A4FDD0F}"/>
              </a:ext>
            </a:extLst>
          </p:cNvPr>
          <p:cNvSpPr txBox="1"/>
          <p:nvPr/>
        </p:nvSpPr>
        <p:spPr>
          <a:xfrm>
            <a:off x="54398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5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7A1B82C-FA84-DEE1-F987-871DD70DAA38}"/>
              </a:ext>
            </a:extLst>
          </p:cNvPr>
          <p:cNvSpPr txBox="1"/>
          <p:nvPr/>
        </p:nvSpPr>
        <p:spPr>
          <a:xfrm>
            <a:off x="65362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9D0F478-2D77-F430-49AF-C19D05654D5A}"/>
              </a:ext>
            </a:extLst>
          </p:cNvPr>
          <p:cNvSpPr txBox="1"/>
          <p:nvPr/>
        </p:nvSpPr>
        <p:spPr>
          <a:xfrm>
            <a:off x="76327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7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22DD2611-ECE9-6026-745D-2A824A810403}"/>
              </a:ext>
            </a:extLst>
          </p:cNvPr>
          <p:cNvSpPr txBox="1"/>
          <p:nvPr/>
        </p:nvSpPr>
        <p:spPr>
          <a:xfrm>
            <a:off x="87291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8A1A2AE-C1E3-11A1-FB53-633F89085D99}"/>
              </a:ext>
            </a:extLst>
          </p:cNvPr>
          <p:cNvSpPr txBox="1"/>
          <p:nvPr/>
        </p:nvSpPr>
        <p:spPr>
          <a:xfrm>
            <a:off x="98255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9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4B4EE53D-6784-6869-B447-640AE50748AB}"/>
              </a:ext>
            </a:extLst>
          </p:cNvPr>
          <p:cNvSpPr txBox="1"/>
          <p:nvPr/>
        </p:nvSpPr>
        <p:spPr>
          <a:xfrm>
            <a:off x="10922000" y="589280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EDD0071-7DCA-C6B4-DBF3-8CE5B49FF029}"/>
              </a:ext>
            </a:extLst>
          </p:cNvPr>
          <p:cNvSpPr txBox="1"/>
          <p:nvPr/>
        </p:nvSpPr>
        <p:spPr>
          <a:xfrm>
            <a:off x="5200650" y="6261100"/>
            <a:ext cx="95539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200">
                <a:solidFill>
                  <a:srgbClr val="263746"/>
                </a:solidFill>
                <a:latin typeface="Arial" panose="020B0604020202020204" pitchFamily="34" charset="0"/>
              </a:rPr>
              <a:t>Ranked site K</a:t>
            </a:r>
            <a:endParaRPr lang="zh-CN" altLang="en-US" sz="12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72A41A8-A5B4-F7F8-C853-6FFDAEC94B90}"/>
              </a:ext>
            </a:extLst>
          </p:cNvPr>
          <p:cNvSpPr txBox="1"/>
          <p:nvPr/>
        </p:nvSpPr>
        <p:spPr>
          <a:xfrm>
            <a:off x="1155700" y="1993900"/>
            <a:ext cx="137698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647483"/>
                </a:solidFill>
                <a:latin typeface="Arial" panose="020B0604020202020204" pitchFamily="34" charset="0"/>
              </a:rPr>
              <a:t>PDB success rate (%)</a:t>
            </a:r>
            <a:endParaRPr lang="zh-CN" altLang="en-US" sz="11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9BF1BD7-2122-469D-B6DB-10F3D757068E}"/>
              </a:ext>
            </a:extLst>
          </p:cNvPr>
          <p:cNvCxnSpPr/>
          <p:nvPr/>
        </p:nvCxnSpPr>
        <p:spPr>
          <a:xfrm flipV="1">
            <a:off x="1155700" y="4003469"/>
            <a:ext cx="1096433" cy="224312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2027C5A8-046B-A657-917F-1BC69E8DFD30}"/>
              </a:ext>
            </a:extLst>
          </p:cNvPr>
          <p:cNvCxnSpPr/>
          <p:nvPr/>
        </p:nvCxnSpPr>
        <p:spPr>
          <a:xfrm flipV="1">
            <a:off x="2252133" y="3824019"/>
            <a:ext cx="1096434" cy="17945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3ACFB86-D29C-BD74-688F-43CBFCEEADC2}"/>
              </a:ext>
            </a:extLst>
          </p:cNvPr>
          <p:cNvCxnSpPr/>
          <p:nvPr/>
        </p:nvCxnSpPr>
        <p:spPr>
          <a:xfrm flipV="1">
            <a:off x="3348567" y="3779157"/>
            <a:ext cx="1096433" cy="44862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7E1D75B-8BD6-4458-F25B-A2661FF53183}"/>
              </a:ext>
            </a:extLst>
          </p:cNvPr>
          <p:cNvCxnSpPr/>
          <p:nvPr/>
        </p:nvCxnSpPr>
        <p:spPr>
          <a:xfrm>
            <a:off x="4445000" y="3779157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485D4E63-BFE7-A401-F1CF-2BFE10D4BDF5}"/>
              </a:ext>
            </a:extLst>
          </p:cNvPr>
          <p:cNvCxnSpPr/>
          <p:nvPr/>
        </p:nvCxnSpPr>
        <p:spPr>
          <a:xfrm flipV="1">
            <a:off x="5541433" y="3689433"/>
            <a:ext cx="1096434" cy="89724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7BD99D3-F062-C9EA-181F-4B2D1960C878}"/>
              </a:ext>
            </a:extLst>
          </p:cNvPr>
          <p:cNvCxnSpPr/>
          <p:nvPr/>
        </p:nvCxnSpPr>
        <p:spPr>
          <a:xfrm>
            <a:off x="6637867" y="3689433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EC2806AE-0D56-4B54-A8A8-8C069CBE864D}"/>
              </a:ext>
            </a:extLst>
          </p:cNvPr>
          <p:cNvCxnSpPr/>
          <p:nvPr/>
        </p:nvCxnSpPr>
        <p:spPr>
          <a:xfrm>
            <a:off x="7734300" y="3689433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F032C95-EF37-2295-1893-C003E4809631}"/>
              </a:ext>
            </a:extLst>
          </p:cNvPr>
          <p:cNvCxnSpPr/>
          <p:nvPr/>
        </p:nvCxnSpPr>
        <p:spPr>
          <a:xfrm>
            <a:off x="8830733" y="3689433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632FE75-4586-7A33-3859-EBBBCE924E1A}"/>
              </a:ext>
            </a:extLst>
          </p:cNvPr>
          <p:cNvCxnSpPr/>
          <p:nvPr/>
        </p:nvCxnSpPr>
        <p:spPr>
          <a:xfrm>
            <a:off x="9927167" y="3689433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9E81FE98-4B4B-72EF-F5B2-EA4759EFD072}"/>
              </a:ext>
            </a:extLst>
          </p:cNvPr>
          <p:cNvSpPr/>
          <p:nvPr/>
        </p:nvSpPr>
        <p:spPr>
          <a:xfrm>
            <a:off x="1117600" y="418968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0BEF69E-3129-E585-F856-876B901F6988}"/>
              </a:ext>
            </a:extLst>
          </p:cNvPr>
          <p:cNvSpPr/>
          <p:nvPr/>
        </p:nvSpPr>
        <p:spPr>
          <a:xfrm>
            <a:off x="2214033" y="3965369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64FA22BE-AD07-8B12-D4FD-3DBDBE2EC71A}"/>
              </a:ext>
            </a:extLst>
          </p:cNvPr>
          <p:cNvSpPr/>
          <p:nvPr/>
        </p:nvSpPr>
        <p:spPr>
          <a:xfrm>
            <a:off x="3310467" y="3785919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B0690B87-8E0B-72EA-98D7-4DDC21682534}"/>
              </a:ext>
            </a:extLst>
          </p:cNvPr>
          <p:cNvSpPr/>
          <p:nvPr/>
        </p:nvSpPr>
        <p:spPr>
          <a:xfrm>
            <a:off x="4406900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03D83023-DC55-D512-CC5F-943EFF24EEEB}"/>
              </a:ext>
            </a:extLst>
          </p:cNvPr>
          <p:cNvSpPr/>
          <p:nvPr/>
        </p:nvSpPr>
        <p:spPr>
          <a:xfrm>
            <a:off x="5503333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3A77B103-F799-FBF1-D32C-7AA202434344}"/>
              </a:ext>
            </a:extLst>
          </p:cNvPr>
          <p:cNvSpPr/>
          <p:nvPr/>
        </p:nvSpPr>
        <p:spPr>
          <a:xfrm>
            <a:off x="6599767" y="365133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2BBBBD1-6CC3-31AE-8B59-BF43968996EB}"/>
              </a:ext>
            </a:extLst>
          </p:cNvPr>
          <p:cNvSpPr/>
          <p:nvPr/>
        </p:nvSpPr>
        <p:spPr>
          <a:xfrm>
            <a:off x="7696200" y="365133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44945292-054B-71A7-F204-3F150C4DE664}"/>
              </a:ext>
            </a:extLst>
          </p:cNvPr>
          <p:cNvSpPr/>
          <p:nvPr/>
        </p:nvSpPr>
        <p:spPr>
          <a:xfrm>
            <a:off x="8792633" y="365133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A28D3340-FE6C-C481-8DF7-FB18F0154305}"/>
              </a:ext>
            </a:extLst>
          </p:cNvPr>
          <p:cNvSpPr/>
          <p:nvPr/>
        </p:nvSpPr>
        <p:spPr>
          <a:xfrm>
            <a:off x="9889067" y="365133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49F4900E-834A-188E-8913-70DFF47EE364}"/>
              </a:ext>
            </a:extLst>
          </p:cNvPr>
          <p:cNvSpPr/>
          <p:nvPr/>
        </p:nvSpPr>
        <p:spPr>
          <a:xfrm>
            <a:off x="10985500" y="365133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91BCD3E-ACD9-EA13-7C0F-38AA03B929BB}"/>
              </a:ext>
            </a:extLst>
          </p:cNvPr>
          <p:cNvCxnSpPr/>
          <p:nvPr/>
        </p:nvCxnSpPr>
        <p:spPr>
          <a:xfrm flipV="1">
            <a:off x="1155700" y="3779157"/>
            <a:ext cx="1096433" cy="134587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A44C4FC2-8DAA-24A9-FDD4-77A3F4D05A17}"/>
              </a:ext>
            </a:extLst>
          </p:cNvPr>
          <p:cNvCxnSpPr/>
          <p:nvPr/>
        </p:nvCxnSpPr>
        <p:spPr>
          <a:xfrm flipV="1">
            <a:off x="2252133" y="3599708"/>
            <a:ext cx="1096434" cy="179449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39C3E00-056B-3DAF-772E-8D62FE23A31C}"/>
              </a:ext>
            </a:extLst>
          </p:cNvPr>
          <p:cNvCxnSpPr/>
          <p:nvPr/>
        </p:nvCxnSpPr>
        <p:spPr>
          <a:xfrm flipV="1">
            <a:off x="3348567" y="3509983"/>
            <a:ext cx="1096433" cy="89725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2B32BBE0-55D3-7ABB-07B6-36A5D45D7D6B}"/>
              </a:ext>
            </a:extLst>
          </p:cNvPr>
          <p:cNvCxnSpPr/>
          <p:nvPr/>
        </p:nvCxnSpPr>
        <p:spPr>
          <a:xfrm>
            <a:off x="4445000" y="3509983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005AA2-FA31-96AB-CB64-1051BF6DD3D0}"/>
              </a:ext>
            </a:extLst>
          </p:cNvPr>
          <p:cNvCxnSpPr/>
          <p:nvPr/>
        </p:nvCxnSpPr>
        <p:spPr>
          <a:xfrm flipV="1">
            <a:off x="5541433" y="3420258"/>
            <a:ext cx="1096434" cy="89725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A0C947B-CC8B-6E68-FD0C-D4FDC7FB3C52}"/>
              </a:ext>
            </a:extLst>
          </p:cNvPr>
          <p:cNvCxnSpPr/>
          <p:nvPr/>
        </p:nvCxnSpPr>
        <p:spPr>
          <a:xfrm>
            <a:off x="6637867" y="3420258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196EE28-EC94-9503-10D7-253D00ED9FEB}"/>
              </a:ext>
            </a:extLst>
          </p:cNvPr>
          <p:cNvCxnSpPr/>
          <p:nvPr/>
        </p:nvCxnSpPr>
        <p:spPr>
          <a:xfrm>
            <a:off x="7734300" y="3420258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78457C7-CCAF-D21D-AC25-AF1133E4B33A}"/>
              </a:ext>
            </a:extLst>
          </p:cNvPr>
          <p:cNvCxnSpPr/>
          <p:nvPr/>
        </p:nvCxnSpPr>
        <p:spPr>
          <a:xfrm>
            <a:off x="8830733" y="3420258"/>
            <a:ext cx="1096434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209AE19-2787-FC9E-D938-935C00B4543F}"/>
              </a:ext>
            </a:extLst>
          </p:cNvPr>
          <p:cNvCxnSpPr/>
          <p:nvPr/>
        </p:nvCxnSpPr>
        <p:spPr>
          <a:xfrm>
            <a:off x="9927167" y="3420258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DBDFF0ED-5BC5-2E19-0C0C-27CF6CD75249}"/>
              </a:ext>
            </a:extLst>
          </p:cNvPr>
          <p:cNvSpPr/>
          <p:nvPr/>
        </p:nvSpPr>
        <p:spPr>
          <a:xfrm>
            <a:off x="1117600" y="387564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90AFCF0D-320E-8697-9765-C4B61EEC06CA}"/>
              </a:ext>
            </a:extLst>
          </p:cNvPr>
          <p:cNvSpPr/>
          <p:nvPr/>
        </p:nvSpPr>
        <p:spPr>
          <a:xfrm>
            <a:off x="2214033" y="374105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CE753121-FF59-C569-C89E-3E92CA526C50}"/>
              </a:ext>
            </a:extLst>
          </p:cNvPr>
          <p:cNvSpPr/>
          <p:nvPr/>
        </p:nvSpPr>
        <p:spPr>
          <a:xfrm>
            <a:off x="3310467" y="356160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1B073C57-0863-3C9B-C78B-21524636ABF6}"/>
              </a:ext>
            </a:extLst>
          </p:cNvPr>
          <p:cNvSpPr/>
          <p:nvPr/>
        </p:nvSpPr>
        <p:spPr>
          <a:xfrm>
            <a:off x="4406900" y="3471883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9F065EAC-3EE2-A489-7A19-DEDF99072893}"/>
              </a:ext>
            </a:extLst>
          </p:cNvPr>
          <p:cNvSpPr/>
          <p:nvPr/>
        </p:nvSpPr>
        <p:spPr>
          <a:xfrm>
            <a:off x="5503333" y="3471883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11F28908-F1A8-4FD3-AB7A-88E0958FB5D2}"/>
              </a:ext>
            </a:extLst>
          </p:cNvPr>
          <p:cNvSpPr/>
          <p:nvPr/>
        </p:nvSpPr>
        <p:spPr>
          <a:xfrm>
            <a:off x="6599767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08FB10EF-8E0B-1E14-1922-755FF7498957}"/>
              </a:ext>
            </a:extLst>
          </p:cNvPr>
          <p:cNvSpPr/>
          <p:nvPr/>
        </p:nvSpPr>
        <p:spPr>
          <a:xfrm>
            <a:off x="7696200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F283CCD9-BFDF-C400-4911-74006D78954F}"/>
              </a:ext>
            </a:extLst>
          </p:cNvPr>
          <p:cNvSpPr/>
          <p:nvPr/>
        </p:nvSpPr>
        <p:spPr>
          <a:xfrm>
            <a:off x="8792633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6ADBA4D5-9626-6D01-46C7-30C5E532F367}"/>
              </a:ext>
            </a:extLst>
          </p:cNvPr>
          <p:cNvSpPr/>
          <p:nvPr/>
        </p:nvSpPr>
        <p:spPr>
          <a:xfrm>
            <a:off x="9889067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F423AE62-58EC-AAF4-E808-389952B91466}"/>
              </a:ext>
            </a:extLst>
          </p:cNvPr>
          <p:cNvSpPr/>
          <p:nvPr/>
        </p:nvSpPr>
        <p:spPr>
          <a:xfrm>
            <a:off x="10985500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EB7313-5862-3217-1F5A-34EF0D4E446E}"/>
              </a:ext>
            </a:extLst>
          </p:cNvPr>
          <p:cNvCxnSpPr/>
          <p:nvPr/>
        </p:nvCxnSpPr>
        <p:spPr>
          <a:xfrm flipV="1">
            <a:off x="1155700" y="3734295"/>
            <a:ext cx="1096433" cy="179449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D7416D4-A7F9-7CA0-42FB-7EA8CA1A64D7}"/>
              </a:ext>
            </a:extLst>
          </p:cNvPr>
          <p:cNvCxnSpPr/>
          <p:nvPr/>
        </p:nvCxnSpPr>
        <p:spPr>
          <a:xfrm flipV="1">
            <a:off x="2252133" y="3509983"/>
            <a:ext cx="1096434" cy="224312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BF744333-A651-4992-7A5C-10504183486F}"/>
              </a:ext>
            </a:extLst>
          </p:cNvPr>
          <p:cNvCxnSpPr/>
          <p:nvPr/>
        </p:nvCxnSpPr>
        <p:spPr>
          <a:xfrm flipV="1">
            <a:off x="3348567" y="3420258"/>
            <a:ext cx="1096433" cy="89725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4B64AF6-943B-B9B0-B80F-7873EDF45C8E}"/>
              </a:ext>
            </a:extLst>
          </p:cNvPr>
          <p:cNvCxnSpPr/>
          <p:nvPr/>
        </p:nvCxnSpPr>
        <p:spPr>
          <a:xfrm>
            <a:off x="4445000" y="3420258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8F0CA0FF-713F-6ECD-C19F-C98F4E1DB8FD}"/>
              </a:ext>
            </a:extLst>
          </p:cNvPr>
          <p:cNvCxnSpPr/>
          <p:nvPr/>
        </p:nvCxnSpPr>
        <p:spPr>
          <a:xfrm>
            <a:off x="5541433" y="3420258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0C544887-C0A2-296B-FB5C-48A1E1FB2168}"/>
              </a:ext>
            </a:extLst>
          </p:cNvPr>
          <p:cNvCxnSpPr/>
          <p:nvPr/>
        </p:nvCxnSpPr>
        <p:spPr>
          <a:xfrm>
            <a:off x="6637867" y="3420258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BA104316-54AE-4CFE-6F01-E1B941ADC729}"/>
              </a:ext>
            </a:extLst>
          </p:cNvPr>
          <p:cNvCxnSpPr/>
          <p:nvPr/>
        </p:nvCxnSpPr>
        <p:spPr>
          <a:xfrm>
            <a:off x="7734300" y="3420258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08D74F3B-93B8-202F-1C2B-BD40E221E2A7}"/>
              </a:ext>
            </a:extLst>
          </p:cNvPr>
          <p:cNvCxnSpPr/>
          <p:nvPr/>
        </p:nvCxnSpPr>
        <p:spPr>
          <a:xfrm>
            <a:off x="8830733" y="3420258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9EA63F04-E404-549D-CA41-7D7C777038B3}"/>
              </a:ext>
            </a:extLst>
          </p:cNvPr>
          <p:cNvCxnSpPr/>
          <p:nvPr/>
        </p:nvCxnSpPr>
        <p:spPr>
          <a:xfrm>
            <a:off x="9927167" y="3420258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E4332056-E335-03F0-3C1A-A43EC16A9FF9}"/>
              </a:ext>
            </a:extLst>
          </p:cNvPr>
          <p:cNvSpPr/>
          <p:nvPr/>
        </p:nvSpPr>
        <p:spPr>
          <a:xfrm>
            <a:off x="1117600" y="3875644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DCFC6239-F48F-A918-0AA2-ECA5466C584D}"/>
              </a:ext>
            </a:extLst>
          </p:cNvPr>
          <p:cNvSpPr/>
          <p:nvPr/>
        </p:nvSpPr>
        <p:spPr>
          <a:xfrm>
            <a:off x="2214033" y="369619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3C8863DB-7A03-EF51-5086-864FC88347CC}"/>
              </a:ext>
            </a:extLst>
          </p:cNvPr>
          <p:cNvSpPr/>
          <p:nvPr/>
        </p:nvSpPr>
        <p:spPr>
          <a:xfrm>
            <a:off x="3310467" y="347188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6B369C3D-83E4-D1C2-0DB6-1641CFE0460F}"/>
              </a:ext>
            </a:extLst>
          </p:cNvPr>
          <p:cNvSpPr/>
          <p:nvPr/>
        </p:nvSpPr>
        <p:spPr>
          <a:xfrm>
            <a:off x="4406900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FDCE8C5C-EA5E-C874-3909-7FCF9A2CB0CE}"/>
              </a:ext>
            </a:extLst>
          </p:cNvPr>
          <p:cNvSpPr/>
          <p:nvPr/>
        </p:nvSpPr>
        <p:spPr>
          <a:xfrm>
            <a:off x="5503333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>
            <a:extLst>
              <a:ext uri="{FF2B5EF4-FFF2-40B4-BE49-F238E27FC236}">
                <a16:creationId xmlns:a16="http://schemas.microsoft.com/office/drawing/2014/main" id="{10B0472A-D6CB-F26E-39F8-87EFDCA8142F}"/>
              </a:ext>
            </a:extLst>
          </p:cNvPr>
          <p:cNvSpPr/>
          <p:nvPr/>
        </p:nvSpPr>
        <p:spPr>
          <a:xfrm>
            <a:off x="6599767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A5D2F792-DB34-FF03-16FC-73696DD6E1A5}"/>
              </a:ext>
            </a:extLst>
          </p:cNvPr>
          <p:cNvSpPr/>
          <p:nvPr/>
        </p:nvSpPr>
        <p:spPr>
          <a:xfrm>
            <a:off x="7696200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椭圆 95">
            <a:extLst>
              <a:ext uri="{FF2B5EF4-FFF2-40B4-BE49-F238E27FC236}">
                <a16:creationId xmlns:a16="http://schemas.microsoft.com/office/drawing/2014/main" id="{8031BBC4-C12E-BCAA-6951-0591A8DA092E}"/>
              </a:ext>
            </a:extLst>
          </p:cNvPr>
          <p:cNvSpPr/>
          <p:nvPr/>
        </p:nvSpPr>
        <p:spPr>
          <a:xfrm>
            <a:off x="8792633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52676D44-95A1-AFE7-3EFE-B1EB66FB371C}"/>
              </a:ext>
            </a:extLst>
          </p:cNvPr>
          <p:cNvSpPr/>
          <p:nvPr/>
        </p:nvSpPr>
        <p:spPr>
          <a:xfrm>
            <a:off x="9889067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10F5F3E3-6F25-1A84-EC85-D477FBE4B2F0}"/>
              </a:ext>
            </a:extLst>
          </p:cNvPr>
          <p:cNvSpPr/>
          <p:nvPr/>
        </p:nvSpPr>
        <p:spPr>
          <a:xfrm>
            <a:off x="10985500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4FBC522-F1D7-F87E-CDE0-75B177536A50}"/>
              </a:ext>
            </a:extLst>
          </p:cNvPr>
          <p:cNvCxnSpPr/>
          <p:nvPr/>
        </p:nvCxnSpPr>
        <p:spPr>
          <a:xfrm flipV="1">
            <a:off x="1155700" y="3465121"/>
            <a:ext cx="1096433" cy="224312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C9933274-1CD4-86BE-D20B-7104CD469F34}"/>
              </a:ext>
            </a:extLst>
          </p:cNvPr>
          <p:cNvCxnSpPr/>
          <p:nvPr/>
        </p:nvCxnSpPr>
        <p:spPr>
          <a:xfrm flipV="1">
            <a:off x="2252133" y="3151084"/>
            <a:ext cx="1096434" cy="314037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A06E339-087F-AB25-1364-6ACE9482F6A1}"/>
              </a:ext>
            </a:extLst>
          </p:cNvPr>
          <p:cNvCxnSpPr/>
          <p:nvPr/>
        </p:nvCxnSpPr>
        <p:spPr>
          <a:xfrm>
            <a:off x="3348567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EA80E2A3-B6EE-4FC1-51BD-649B6917F29E}"/>
              </a:ext>
            </a:extLst>
          </p:cNvPr>
          <p:cNvCxnSpPr/>
          <p:nvPr/>
        </p:nvCxnSpPr>
        <p:spPr>
          <a:xfrm>
            <a:off x="4445000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9BECA16-555E-A7A4-064D-E2F6490B99D5}"/>
              </a:ext>
            </a:extLst>
          </p:cNvPr>
          <p:cNvCxnSpPr/>
          <p:nvPr/>
        </p:nvCxnSpPr>
        <p:spPr>
          <a:xfrm>
            <a:off x="5541433" y="3151084"/>
            <a:ext cx="1096434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7498841-685F-4AE5-C1FA-C92C409BD32E}"/>
              </a:ext>
            </a:extLst>
          </p:cNvPr>
          <p:cNvCxnSpPr/>
          <p:nvPr/>
        </p:nvCxnSpPr>
        <p:spPr>
          <a:xfrm>
            <a:off x="6637867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6B0F52B3-EE24-5AFD-12B6-C0DA8B2E80A5}"/>
              </a:ext>
            </a:extLst>
          </p:cNvPr>
          <p:cNvCxnSpPr/>
          <p:nvPr/>
        </p:nvCxnSpPr>
        <p:spPr>
          <a:xfrm>
            <a:off x="7734300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3820425-80F6-E301-8F1D-81D8588D3A56}"/>
              </a:ext>
            </a:extLst>
          </p:cNvPr>
          <p:cNvCxnSpPr/>
          <p:nvPr/>
        </p:nvCxnSpPr>
        <p:spPr>
          <a:xfrm>
            <a:off x="8830733" y="3151084"/>
            <a:ext cx="1096434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AD09AB56-85B5-086C-17AD-E3F17D468DDD}"/>
              </a:ext>
            </a:extLst>
          </p:cNvPr>
          <p:cNvCxnSpPr/>
          <p:nvPr/>
        </p:nvCxnSpPr>
        <p:spPr>
          <a:xfrm>
            <a:off x="9927167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55347FF0-D11C-CACA-AD1E-4B697F523CD1}"/>
              </a:ext>
            </a:extLst>
          </p:cNvPr>
          <p:cNvSpPr/>
          <p:nvPr/>
        </p:nvSpPr>
        <p:spPr>
          <a:xfrm>
            <a:off x="1117600" y="3651333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D1059063-E0EC-6677-C535-12FCA69A8D7F}"/>
              </a:ext>
            </a:extLst>
          </p:cNvPr>
          <p:cNvSpPr/>
          <p:nvPr/>
        </p:nvSpPr>
        <p:spPr>
          <a:xfrm>
            <a:off x="2214033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0A63EF1D-C7BF-B7EC-391E-099C06BAFC5A}"/>
              </a:ext>
            </a:extLst>
          </p:cNvPr>
          <p:cNvSpPr/>
          <p:nvPr/>
        </p:nvSpPr>
        <p:spPr>
          <a:xfrm>
            <a:off x="3310467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B4C27943-FDE6-E2DE-2947-5EDA8F3D6A43}"/>
              </a:ext>
            </a:extLst>
          </p:cNvPr>
          <p:cNvSpPr/>
          <p:nvPr/>
        </p:nvSpPr>
        <p:spPr>
          <a:xfrm>
            <a:off x="4406900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C21792B0-2CAF-45D2-FBD9-F611D38E7204}"/>
              </a:ext>
            </a:extLst>
          </p:cNvPr>
          <p:cNvSpPr/>
          <p:nvPr/>
        </p:nvSpPr>
        <p:spPr>
          <a:xfrm>
            <a:off x="5503333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CB89D944-4097-FF78-4C84-67BBDDFC3B5F}"/>
              </a:ext>
            </a:extLst>
          </p:cNvPr>
          <p:cNvSpPr/>
          <p:nvPr/>
        </p:nvSpPr>
        <p:spPr>
          <a:xfrm>
            <a:off x="6599767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7096BEC1-B486-B65E-ADCC-8962F4A65B8C}"/>
              </a:ext>
            </a:extLst>
          </p:cNvPr>
          <p:cNvSpPr/>
          <p:nvPr/>
        </p:nvSpPr>
        <p:spPr>
          <a:xfrm>
            <a:off x="7696200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B9982DB1-1049-0EF3-CC4B-2AFCBCC8FA12}"/>
              </a:ext>
            </a:extLst>
          </p:cNvPr>
          <p:cNvSpPr/>
          <p:nvPr/>
        </p:nvSpPr>
        <p:spPr>
          <a:xfrm>
            <a:off x="8792633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87CFF8B9-C223-25D1-4C87-096DE729C1B9}"/>
              </a:ext>
            </a:extLst>
          </p:cNvPr>
          <p:cNvSpPr/>
          <p:nvPr/>
        </p:nvSpPr>
        <p:spPr>
          <a:xfrm>
            <a:off x="9889067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98FE2278-6037-D04A-555F-6C3A432D8885}"/>
              </a:ext>
            </a:extLst>
          </p:cNvPr>
          <p:cNvSpPr/>
          <p:nvPr/>
        </p:nvSpPr>
        <p:spPr>
          <a:xfrm>
            <a:off x="10985500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767654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8716E3C-2F5A-92C3-2D8E-EF3E132B776B}"/>
              </a:ext>
            </a:extLst>
          </p:cNvPr>
          <p:cNvSpPr txBox="1"/>
          <p:nvPr/>
        </p:nvSpPr>
        <p:spPr>
          <a:xfrm>
            <a:off x="1016000" y="381000"/>
            <a:ext cx="4938853" cy="3539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fr-FR" altLang="zh-CN" sz="2300" b="1">
                <a:solidFill>
                  <a:srgbClr val="263746"/>
                </a:solidFill>
                <a:latin typeface="Arial" panose="020B0604020202020204" pitchFamily="34" charset="0"/>
              </a:rPr>
              <a:t>Iterative pose reconstruction: C→C</a:t>
            </a:r>
            <a:endParaRPr lang="zh-CN" altLang="en-US" sz="23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65C64A4-C16A-493A-9DB2-0150046F7A69}"/>
              </a:ext>
            </a:extLst>
          </p:cNvPr>
          <p:cNvSpPr txBox="1"/>
          <p:nvPr/>
        </p:nvSpPr>
        <p:spPr>
          <a:xfrm>
            <a:off x="1016000" y="876300"/>
            <a:ext cx="333585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647483"/>
                </a:solidFill>
                <a:latin typeface="Arial" panose="020B0604020202020204" pitchFamily="34" charset="0"/>
              </a:rPr>
              <a:t>CryoAtom2 receptor · 77 PDBs · additional figure</a:t>
            </a:r>
            <a:endParaRPr lang="zh-CN" altLang="en-US" sz="12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82D0D6D-1DED-0DA0-8091-B506B7C31839}"/>
              </a:ext>
            </a:extLst>
          </p:cNvPr>
          <p:cNvCxnSpPr/>
          <p:nvPr/>
        </p:nvCxnSpPr>
        <p:spPr>
          <a:xfrm>
            <a:off x="10922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A45E329E-8308-F68D-8AF3-2F612DF49864}"/>
              </a:ext>
            </a:extLst>
          </p:cNvPr>
          <p:cNvSpPr/>
          <p:nvPr/>
        </p:nvSpPr>
        <p:spPr>
          <a:xfrm>
            <a:off x="12255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CC3D3D2-114F-D2B1-5FBC-CBF658EC36CA}"/>
              </a:ext>
            </a:extLst>
          </p:cNvPr>
          <p:cNvSpPr txBox="1"/>
          <p:nvPr/>
        </p:nvSpPr>
        <p:spPr>
          <a:xfrm>
            <a:off x="1574800" y="1371600"/>
            <a:ext cx="785471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AB631CC-B6ED-DF30-1D3A-FDAF80EB1CE9}"/>
              </a:ext>
            </a:extLst>
          </p:cNvPr>
          <p:cNvCxnSpPr/>
          <p:nvPr/>
        </p:nvCxnSpPr>
        <p:spPr>
          <a:xfrm>
            <a:off x="4673600" y="1473200"/>
            <a:ext cx="342900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876F2281-D0D8-B3F4-87A6-F993AD953B45}"/>
              </a:ext>
            </a:extLst>
          </p:cNvPr>
          <p:cNvSpPr/>
          <p:nvPr/>
        </p:nvSpPr>
        <p:spPr>
          <a:xfrm>
            <a:off x="4806950" y="143510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F1B4A-9BC9-C894-3BA6-FF60F9F2DDB6}"/>
              </a:ext>
            </a:extLst>
          </p:cNvPr>
          <p:cNvSpPr txBox="1"/>
          <p:nvPr/>
        </p:nvSpPr>
        <p:spPr>
          <a:xfrm>
            <a:off x="5156200" y="1371600"/>
            <a:ext cx="785471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1219F7A-EC6F-61C5-C54C-3E52C7D17DB3}"/>
              </a:ext>
            </a:extLst>
          </p:cNvPr>
          <p:cNvCxnSpPr/>
          <p:nvPr/>
        </p:nvCxnSpPr>
        <p:spPr>
          <a:xfrm>
            <a:off x="82550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B8DD7F73-6B6E-BA94-4CAB-E2E2F4041B52}"/>
              </a:ext>
            </a:extLst>
          </p:cNvPr>
          <p:cNvSpPr/>
          <p:nvPr/>
        </p:nvSpPr>
        <p:spPr>
          <a:xfrm>
            <a:off x="83883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95F00E-7080-9A91-D2BF-FE917BC685E7}"/>
              </a:ext>
            </a:extLst>
          </p:cNvPr>
          <p:cNvSpPr txBox="1"/>
          <p:nvPr/>
        </p:nvSpPr>
        <p:spPr>
          <a:xfrm>
            <a:off x="8737600" y="1371600"/>
            <a:ext cx="1065997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E3D8543-42D7-B481-3919-C7093397AD1B}"/>
              </a:ext>
            </a:extLst>
          </p:cNvPr>
          <p:cNvCxnSpPr/>
          <p:nvPr/>
        </p:nvCxnSpPr>
        <p:spPr>
          <a:xfrm>
            <a:off x="1092200" y="1803400"/>
            <a:ext cx="342900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C5237FD0-23E6-2B5A-B4E4-63908BE14680}"/>
              </a:ext>
            </a:extLst>
          </p:cNvPr>
          <p:cNvSpPr/>
          <p:nvPr/>
        </p:nvSpPr>
        <p:spPr>
          <a:xfrm>
            <a:off x="1225550" y="176530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610B2A-DBF6-BB80-B84B-F3EA2B2A93B0}"/>
              </a:ext>
            </a:extLst>
          </p:cNvPr>
          <p:cNvSpPr txBox="1"/>
          <p:nvPr/>
        </p:nvSpPr>
        <p:spPr>
          <a:xfrm>
            <a:off x="1574800" y="1701800"/>
            <a:ext cx="1065997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96F9421-C3D2-8B99-8E5A-46AC32773CE7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599606E4-C3E8-F215-3CBB-5F8C212F04BF}"/>
              </a:ext>
            </a:extLst>
          </p:cNvPr>
          <p:cNvSpPr txBox="1"/>
          <p:nvPr/>
        </p:nvSpPr>
        <p:spPr>
          <a:xfrm>
            <a:off x="635000" y="56515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797160D-D4F1-904B-A032-77DB8229A652}"/>
              </a:ext>
            </a:extLst>
          </p:cNvPr>
          <p:cNvCxnSpPr/>
          <p:nvPr/>
        </p:nvCxnSpPr>
        <p:spPr>
          <a:xfrm>
            <a:off x="1155700" y="506222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C030BC0-9091-543A-59B8-4373009BE224}"/>
              </a:ext>
            </a:extLst>
          </p:cNvPr>
          <p:cNvSpPr txBox="1"/>
          <p:nvPr/>
        </p:nvSpPr>
        <p:spPr>
          <a:xfrm>
            <a:off x="635000" y="496062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5FD575-4BFF-28BA-238A-5DCB87CFB3DB}"/>
              </a:ext>
            </a:extLst>
          </p:cNvPr>
          <p:cNvCxnSpPr/>
          <p:nvPr/>
        </p:nvCxnSpPr>
        <p:spPr>
          <a:xfrm>
            <a:off x="1155700" y="437134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1295A573-DC15-AA48-AC5B-BC9427744D59}"/>
              </a:ext>
            </a:extLst>
          </p:cNvPr>
          <p:cNvSpPr txBox="1"/>
          <p:nvPr/>
        </p:nvSpPr>
        <p:spPr>
          <a:xfrm>
            <a:off x="635000" y="426974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F25A17AD-1B08-5199-6A01-4C452228662E}"/>
              </a:ext>
            </a:extLst>
          </p:cNvPr>
          <p:cNvCxnSpPr/>
          <p:nvPr/>
        </p:nvCxnSpPr>
        <p:spPr>
          <a:xfrm>
            <a:off x="1155700" y="368046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B7D786F7-2A2B-8630-C8B2-7F18F456B711}"/>
              </a:ext>
            </a:extLst>
          </p:cNvPr>
          <p:cNvSpPr txBox="1"/>
          <p:nvPr/>
        </p:nvSpPr>
        <p:spPr>
          <a:xfrm>
            <a:off x="635000" y="357886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8FC2978-5993-7B08-B719-48EE2A9F90A4}"/>
              </a:ext>
            </a:extLst>
          </p:cNvPr>
          <p:cNvCxnSpPr/>
          <p:nvPr/>
        </p:nvCxnSpPr>
        <p:spPr>
          <a:xfrm>
            <a:off x="1155700" y="298958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3952D828-DA51-5A53-F1A6-4EA3931D873A}"/>
              </a:ext>
            </a:extLst>
          </p:cNvPr>
          <p:cNvSpPr txBox="1"/>
          <p:nvPr/>
        </p:nvSpPr>
        <p:spPr>
          <a:xfrm>
            <a:off x="635000" y="288798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8E299D0-9153-5169-76F9-3DE456AA4B16}"/>
              </a:ext>
            </a:extLst>
          </p:cNvPr>
          <p:cNvCxnSpPr/>
          <p:nvPr/>
        </p:nvCxnSpPr>
        <p:spPr>
          <a:xfrm>
            <a:off x="1155700" y="22987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ABC7F8B2-ED34-641F-EDE0-853597B82ACE}"/>
              </a:ext>
            </a:extLst>
          </p:cNvPr>
          <p:cNvSpPr txBox="1"/>
          <p:nvPr/>
        </p:nvSpPr>
        <p:spPr>
          <a:xfrm>
            <a:off x="635000" y="2197100"/>
            <a:ext cx="211596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1DC8E62-8C08-BD1C-C9B7-D94A9A73F296}"/>
              </a:ext>
            </a:extLst>
          </p:cNvPr>
          <p:cNvCxnSpPr/>
          <p:nvPr/>
        </p:nvCxnSpPr>
        <p:spPr>
          <a:xfrm>
            <a:off x="1155700" y="2298700"/>
            <a:ext cx="0" cy="345440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8FCF09D-AF02-1A78-4AF1-BE1B584ED6AA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295DE32-38B4-4C93-9D06-78A3AA98C131}"/>
              </a:ext>
            </a:extLst>
          </p:cNvPr>
          <p:cNvSpPr txBox="1"/>
          <p:nvPr/>
        </p:nvSpPr>
        <p:spPr>
          <a:xfrm>
            <a:off x="10541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AEC9404-1043-2A39-494E-C7761BE15BE0}"/>
              </a:ext>
            </a:extLst>
          </p:cNvPr>
          <p:cNvSpPr txBox="1"/>
          <p:nvPr/>
        </p:nvSpPr>
        <p:spPr>
          <a:xfrm>
            <a:off x="21505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77E7CAEE-BB17-DFB2-AE76-04E9E2D8E0A6}"/>
              </a:ext>
            </a:extLst>
          </p:cNvPr>
          <p:cNvSpPr txBox="1"/>
          <p:nvPr/>
        </p:nvSpPr>
        <p:spPr>
          <a:xfrm>
            <a:off x="32469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3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FBA14ED-207C-16A4-0DFD-4A6A93DD99F2}"/>
              </a:ext>
            </a:extLst>
          </p:cNvPr>
          <p:cNvSpPr txBox="1"/>
          <p:nvPr/>
        </p:nvSpPr>
        <p:spPr>
          <a:xfrm>
            <a:off x="43434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74FD30-2827-9F58-69D9-890DF1ADC45A}"/>
              </a:ext>
            </a:extLst>
          </p:cNvPr>
          <p:cNvSpPr txBox="1"/>
          <p:nvPr/>
        </p:nvSpPr>
        <p:spPr>
          <a:xfrm>
            <a:off x="54398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5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3EA0E1D-8DBD-9E52-B996-ECF973423575}"/>
              </a:ext>
            </a:extLst>
          </p:cNvPr>
          <p:cNvSpPr txBox="1"/>
          <p:nvPr/>
        </p:nvSpPr>
        <p:spPr>
          <a:xfrm>
            <a:off x="65362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91D3AB6-F186-4180-2A97-B5B13A88414C}"/>
              </a:ext>
            </a:extLst>
          </p:cNvPr>
          <p:cNvSpPr txBox="1"/>
          <p:nvPr/>
        </p:nvSpPr>
        <p:spPr>
          <a:xfrm>
            <a:off x="76327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7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275AA49B-7794-24D0-C4C7-B255395CAC4C}"/>
              </a:ext>
            </a:extLst>
          </p:cNvPr>
          <p:cNvSpPr txBox="1"/>
          <p:nvPr/>
        </p:nvSpPr>
        <p:spPr>
          <a:xfrm>
            <a:off x="87291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360B22F-0A66-C860-7A66-80E3F9D9AC29}"/>
              </a:ext>
            </a:extLst>
          </p:cNvPr>
          <p:cNvSpPr txBox="1"/>
          <p:nvPr/>
        </p:nvSpPr>
        <p:spPr>
          <a:xfrm>
            <a:off x="98255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9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BD4A6E9-BDE9-003D-5802-81AACFB3A33E}"/>
              </a:ext>
            </a:extLst>
          </p:cNvPr>
          <p:cNvSpPr txBox="1"/>
          <p:nvPr/>
        </p:nvSpPr>
        <p:spPr>
          <a:xfrm>
            <a:off x="10922000" y="589280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0D16620D-6C09-EB1E-505D-1C71D6C861F3}"/>
              </a:ext>
            </a:extLst>
          </p:cNvPr>
          <p:cNvSpPr txBox="1"/>
          <p:nvPr/>
        </p:nvSpPr>
        <p:spPr>
          <a:xfrm>
            <a:off x="5200650" y="6261100"/>
            <a:ext cx="95539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200">
                <a:solidFill>
                  <a:srgbClr val="263746"/>
                </a:solidFill>
                <a:latin typeface="Arial" panose="020B0604020202020204" pitchFamily="34" charset="0"/>
              </a:rPr>
              <a:t>Ranked site K</a:t>
            </a:r>
            <a:endParaRPr lang="zh-CN" altLang="en-US" sz="12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E5FD508-8835-DCB8-9A8F-5DE807D786C4}"/>
              </a:ext>
            </a:extLst>
          </p:cNvPr>
          <p:cNvSpPr txBox="1"/>
          <p:nvPr/>
        </p:nvSpPr>
        <p:spPr>
          <a:xfrm>
            <a:off x="1155700" y="1993900"/>
            <a:ext cx="137698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647483"/>
                </a:solidFill>
                <a:latin typeface="Arial" panose="020B0604020202020204" pitchFamily="34" charset="0"/>
              </a:rPr>
              <a:t>PDB success rate (%)</a:t>
            </a:r>
            <a:endParaRPr lang="zh-CN" altLang="en-US" sz="11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B8C456A-F418-0F9C-A81E-70110D68DB8C}"/>
              </a:ext>
            </a:extLst>
          </p:cNvPr>
          <p:cNvCxnSpPr/>
          <p:nvPr/>
        </p:nvCxnSpPr>
        <p:spPr>
          <a:xfrm flipV="1">
            <a:off x="1155700" y="4048331"/>
            <a:ext cx="1096433" cy="314036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3A2859-C602-5819-9586-829BF8672EB2}"/>
              </a:ext>
            </a:extLst>
          </p:cNvPr>
          <p:cNvCxnSpPr/>
          <p:nvPr/>
        </p:nvCxnSpPr>
        <p:spPr>
          <a:xfrm flipV="1">
            <a:off x="2252133" y="3868882"/>
            <a:ext cx="1096434" cy="179449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5C77F57-08F1-F908-4FB0-C5FEFB2C48B1}"/>
              </a:ext>
            </a:extLst>
          </p:cNvPr>
          <p:cNvCxnSpPr/>
          <p:nvPr/>
        </p:nvCxnSpPr>
        <p:spPr>
          <a:xfrm>
            <a:off x="3348567" y="3868882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E501A28-F881-BB6D-01B0-8C8F3861C0F5}"/>
              </a:ext>
            </a:extLst>
          </p:cNvPr>
          <p:cNvCxnSpPr/>
          <p:nvPr/>
        </p:nvCxnSpPr>
        <p:spPr>
          <a:xfrm flipV="1">
            <a:off x="4445000" y="3779157"/>
            <a:ext cx="1096433" cy="89725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EE4CBC2-D2EB-FC41-138A-4F52DD7F4A3F}"/>
              </a:ext>
            </a:extLst>
          </p:cNvPr>
          <p:cNvCxnSpPr/>
          <p:nvPr/>
        </p:nvCxnSpPr>
        <p:spPr>
          <a:xfrm>
            <a:off x="5541433" y="3779157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C8E44E2-8395-92E8-5C50-CC0B6444B951}"/>
              </a:ext>
            </a:extLst>
          </p:cNvPr>
          <p:cNvCxnSpPr/>
          <p:nvPr/>
        </p:nvCxnSpPr>
        <p:spPr>
          <a:xfrm>
            <a:off x="6637867" y="3779157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ECCEAEE1-5E13-4D33-AD66-7E651E7B1ADB}"/>
              </a:ext>
            </a:extLst>
          </p:cNvPr>
          <p:cNvCxnSpPr/>
          <p:nvPr/>
        </p:nvCxnSpPr>
        <p:spPr>
          <a:xfrm>
            <a:off x="7734300" y="3779157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2574A9D-4BE8-3E19-28C6-DA58E24C2924}"/>
              </a:ext>
            </a:extLst>
          </p:cNvPr>
          <p:cNvCxnSpPr/>
          <p:nvPr/>
        </p:nvCxnSpPr>
        <p:spPr>
          <a:xfrm>
            <a:off x="8830733" y="3779157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EB2FE9-D768-B917-FA46-830E6C6A90BE}"/>
              </a:ext>
            </a:extLst>
          </p:cNvPr>
          <p:cNvCxnSpPr/>
          <p:nvPr/>
        </p:nvCxnSpPr>
        <p:spPr>
          <a:xfrm>
            <a:off x="9927167" y="3779157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1DF65840-7DEF-2722-F707-5218F56CB2BF}"/>
              </a:ext>
            </a:extLst>
          </p:cNvPr>
          <p:cNvSpPr/>
          <p:nvPr/>
        </p:nvSpPr>
        <p:spPr>
          <a:xfrm>
            <a:off x="1117600" y="432426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6ED9940-D1A9-2EDA-A246-887C88268159}"/>
              </a:ext>
            </a:extLst>
          </p:cNvPr>
          <p:cNvSpPr/>
          <p:nvPr/>
        </p:nvSpPr>
        <p:spPr>
          <a:xfrm>
            <a:off x="2214033" y="401023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A7DEFDD7-1543-8246-C9DC-179E1917BE52}"/>
              </a:ext>
            </a:extLst>
          </p:cNvPr>
          <p:cNvSpPr/>
          <p:nvPr/>
        </p:nvSpPr>
        <p:spPr>
          <a:xfrm>
            <a:off x="3310467" y="3830782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DD763B9A-02F2-2D09-7B83-CD8805286F5B}"/>
              </a:ext>
            </a:extLst>
          </p:cNvPr>
          <p:cNvSpPr/>
          <p:nvPr/>
        </p:nvSpPr>
        <p:spPr>
          <a:xfrm>
            <a:off x="4406900" y="3830782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C906456B-05B7-E78F-77CE-1DF4D8A6CB17}"/>
              </a:ext>
            </a:extLst>
          </p:cNvPr>
          <p:cNvSpPr/>
          <p:nvPr/>
        </p:nvSpPr>
        <p:spPr>
          <a:xfrm>
            <a:off x="5503333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1989032C-17CB-ED56-776A-AFC3FAE174B8}"/>
              </a:ext>
            </a:extLst>
          </p:cNvPr>
          <p:cNvSpPr/>
          <p:nvPr/>
        </p:nvSpPr>
        <p:spPr>
          <a:xfrm>
            <a:off x="6599767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DF809E88-D857-E797-EBE1-14C7339DEEA5}"/>
              </a:ext>
            </a:extLst>
          </p:cNvPr>
          <p:cNvSpPr/>
          <p:nvPr/>
        </p:nvSpPr>
        <p:spPr>
          <a:xfrm>
            <a:off x="7696200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386414FF-B676-D677-6BC1-F462DB8B5A26}"/>
              </a:ext>
            </a:extLst>
          </p:cNvPr>
          <p:cNvSpPr/>
          <p:nvPr/>
        </p:nvSpPr>
        <p:spPr>
          <a:xfrm>
            <a:off x="8792633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CEE0CF6A-1A44-99D8-97E7-094234599124}"/>
              </a:ext>
            </a:extLst>
          </p:cNvPr>
          <p:cNvSpPr/>
          <p:nvPr/>
        </p:nvSpPr>
        <p:spPr>
          <a:xfrm>
            <a:off x="9889067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98936497-FC85-A2C4-7477-BEF6F155FD2F}"/>
              </a:ext>
            </a:extLst>
          </p:cNvPr>
          <p:cNvSpPr/>
          <p:nvPr/>
        </p:nvSpPr>
        <p:spPr>
          <a:xfrm>
            <a:off x="10985500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6C88C6A-F5E4-93A1-EAE8-421F3AE1DEF4}"/>
              </a:ext>
            </a:extLst>
          </p:cNvPr>
          <p:cNvCxnSpPr/>
          <p:nvPr/>
        </p:nvCxnSpPr>
        <p:spPr>
          <a:xfrm flipV="1">
            <a:off x="1155700" y="3644570"/>
            <a:ext cx="1096433" cy="179449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02CAEA-1142-E66B-8DFD-1031E688C684}"/>
              </a:ext>
            </a:extLst>
          </p:cNvPr>
          <p:cNvCxnSpPr/>
          <p:nvPr/>
        </p:nvCxnSpPr>
        <p:spPr>
          <a:xfrm flipV="1">
            <a:off x="2252133" y="3420258"/>
            <a:ext cx="1096434" cy="224312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6E25D036-857C-0E51-9CC4-47EF3938A6D0}"/>
              </a:ext>
            </a:extLst>
          </p:cNvPr>
          <p:cNvCxnSpPr/>
          <p:nvPr/>
        </p:nvCxnSpPr>
        <p:spPr>
          <a:xfrm>
            <a:off x="3348567" y="3420258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D963958-B49C-E978-E7B0-91ACB9928017}"/>
              </a:ext>
            </a:extLst>
          </p:cNvPr>
          <p:cNvCxnSpPr/>
          <p:nvPr/>
        </p:nvCxnSpPr>
        <p:spPr>
          <a:xfrm>
            <a:off x="4445000" y="3420258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8BFEFE6-C120-3EFF-63DC-71870584D765}"/>
              </a:ext>
            </a:extLst>
          </p:cNvPr>
          <p:cNvCxnSpPr/>
          <p:nvPr/>
        </p:nvCxnSpPr>
        <p:spPr>
          <a:xfrm>
            <a:off x="5541433" y="3420258"/>
            <a:ext cx="1096434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70515A8E-ABB9-1F4A-8F58-A36F337BA0C2}"/>
              </a:ext>
            </a:extLst>
          </p:cNvPr>
          <p:cNvCxnSpPr/>
          <p:nvPr/>
        </p:nvCxnSpPr>
        <p:spPr>
          <a:xfrm>
            <a:off x="6637867" y="3420258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07F52EB-E3CF-1416-A65F-579145CAD52A}"/>
              </a:ext>
            </a:extLst>
          </p:cNvPr>
          <p:cNvCxnSpPr/>
          <p:nvPr/>
        </p:nvCxnSpPr>
        <p:spPr>
          <a:xfrm>
            <a:off x="7734300" y="3420258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371C8B4D-826B-4C16-BE1B-0A8D0B3AEB76}"/>
              </a:ext>
            </a:extLst>
          </p:cNvPr>
          <p:cNvCxnSpPr/>
          <p:nvPr/>
        </p:nvCxnSpPr>
        <p:spPr>
          <a:xfrm>
            <a:off x="8830733" y="3420258"/>
            <a:ext cx="1096434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C1F7850-2036-9A44-33E2-D290B1D762CD}"/>
              </a:ext>
            </a:extLst>
          </p:cNvPr>
          <p:cNvCxnSpPr/>
          <p:nvPr/>
        </p:nvCxnSpPr>
        <p:spPr>
          <a:xfrm>
            <a:off x="9927167" y="3420258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4FE2E2FD-B4A2-3F21-C807-2FF032D4BC17}"/>
              </a:ext>
            </a:extLst>
          </p:cNvPr>
          <p:cNvSpPr/>
          <p:nvPr/>
        </p:nvSpPr>
        <p:spPr>
          <a:xfrm>
            <a:off x="1117600" y="3785919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02C3AF4F-C4AB-7801-495D-0A2FF9217ECF}"/>
              </a:ext>
            </a:extLst>
          </p:cNvPr>
          <p:cNvSpPr/>
          <p:nvPr/>
        </p:nvSpPr>
        <p:spPr>
          <a:xfrm>
            <a:off x="2214033" y="360647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4FC896E0-C279-943F-B210-FBF9695BE766}"/>
              </a:ext>
            </a:extLst>
          </p:cNvPr>
          <p:cNvSpPr/>
          <p:nvPr/>
        </p:nvSpPr>
        <p:spPr>
          <a:xfrm>
            <a:off x="3310467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0939255A-9190-8CEB-F702-FB9CC3EE5BEE}"/>
              </a:ext>
            </a:extLst>
          </p:cNvPr>
          <p:cNvSpPr/>
          <p:nvPr/>
        </p:nvSpPr>
        <p:spPr>
          <a:xfrm>
            <a:off x="4406900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33260541-A07F-E7A5-1835-AAE7440C8769}"/>
              </a:ext>
            </a:extLst>
          </p:cNvPr>
          <p:cNvSpPr/>
          <p:nvPr/>
        </p:nvSpPr>
        <p:spPr>
          <a:xfrm>
            <a:off x="5503333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60498482-BE9F-99B6-E503-1AF992F3E399}"/>
              </a:ext>
            </a:extLst>
          </p:cNvPr>
          <p:cNvSpPr/>
          <p:nvPr/>
        </p:nvSpPr>
        <p:spPr>
          <a:xfrm>
            <a:off x="6599767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FC841276-9726-41FF-5BB3-8790B4D687DE}"/>
              </a:ext>
            </a:extLst>
          </p:cNvPr>
          <p:cNvSpPr/>
          <p:nvPr/>
        </p:nvSpPr>
        <p:spPr>
          <a:xfrm>
            <a:off x="7696200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E4E85193-FCDF-94FB-CE6B-63061929E335}"/>
              </a:ext>
            </a:extLst>
          </p:cNvPr>
          <p:cNvSpPr/>
          <p:nvPr/>
        </p:nvSpPr>
        <p:spPr>
          <a:xfrm>
            <a:off x="8792633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C8B2B35B-8E19-E9E3-EBFB-03573C8815BF}"/>
              </a:ext>
            </a:extLst>
          </p:cNvPr>
          <p:cNvSpPr/>
          <p:nvPr/>
        </p:nvSpPr>
        <p:spPr>
          <a:xfrm>
            <a:off x="9889067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825378E0-21C4-ADC9-4EDE-976692E1D286}"/>
              </a:ext>
            </a:extLst>
          </p:cNvPr>
          <p:cNvSpPr/>
          <p:nvPr/>
        </p:nvSpPr>
        <p:spPr>
          <a:xfrm>
            <a:off x="10985500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ED5DD1A9-33FD-2C91-FFB0-561CCF84746F}"/>
              </a:ext>
            </a:extLst>
          </p:cNvPr>
          <p:cNvCxnSpPr/>
          <p:nvPr/>
        </p:nvCxnSpPr>
        <p:spPr>
          <a:xfrm flipV="1">
            <a:off x="1155700" y="3689433"/>
            <a:ext cx="1096433" cy="134586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8DE4D575-9149-1F88-1913-A4476D8CA97B}"/>
              </a:ext>
            </a:extLst>
          </p:cNvPr>
          <p:cNvCxnSpPr/>
          <p:nvPr/>
        </p:nvCxnSpPr>
        <p:spPr>
          <a:xfrm flipV="1">
            <a:off x="2252133" y="3465121"/>
            <a:ext cx="1096434" cy="224312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CBBFDE52-0310-8F02-2480-5B00C33C0B3F}"/>
              </a:ext>
            </a:extLst>
          </p:cNvPr>
          <p:cNvCxnSpPr/>
          <p:nvPr/>
        </p:nvCxnSpPr>
        <p:spPr>
          <a:xfrm flipV="1">
            <a:off x="3348567" y="3375396"/>
            <a:ext cx="1096433" cy="89725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2C2B49A5-9085-D36E-A168-8F673572587B}"/>
              </a:ext>
            </a:extLst>
          </p:cNvPr>
          <p:cNvCxnSpPr/>
          <p:nvPr/>
        </p:nvCxnSpPr>
        <p:spPr>
          <a:xfrm>
            <a:off x="4445000" y="3375396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26C1E1E6-384E-2AD1-5943-BB19885F3843}"/>
              </a:ext>
            </a:extLst>
          </p:cNvPr>
          <p:cNvCxnSpPr/>
          <p:nvPr/>
        </p:nvCxnSpPr>
        <p:spPr>
          <a:xfrm>
            <a:off x="5541433" y="3375396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CBC21048-0E93-3EDF-BA2B-A75019E3AD43}"/>
              </a:ext>
            </a:extLst>
          </p:cNvPr>
          <p:cNvCxnSpPr/>
          <p:nvPr/>
        </p:nvCxnSpPr>
        <p:spPr>
          <a:xfrm>
            <a:off x="6637867" y="3375396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15D96C7-B7A9-C0FF-215D-629E19065542}"/>
              </a:ext>
            </a:extLst>
          </p:cNvPr>
          <p:cNvCxnSpPr/>
          <p:nvPr/>
        </p:nvCxnSpPr>
        <p:spPr>
          <a:xfrm>
            <a:off x="7734300" y="3375396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3EAF00D-49BB-5E6F-B198-758EAB7777F1}"/>
              </a:ext>
            </a:extLst>
          </p:cNvPr>
          <p:cNvCxnSpPr/>
          <p:nvPr/>
        </p:nvCxnSpPr>
        <p:spPr>
          <a:xfrm>
            <a:off x="8830733" y="3375396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F01188ED-B68B-B693-4B88-8EB11A25DEBB}"/>
              </a:ext>
            </a:extLst>
          </p:cNvPr>
          <p:cNvCxnSpPr/>
          <p:nvPr/>
        </p:nvCxnSpPr>
        <p:spPr>
          <a:xfrm>
            <a:off x="9927167" y="3375396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18F7EB62-7B8A-0168-D782-5AABCE79CB28}"/>
              </a:ext>
            </a:extLst>
          </p:cNvPr>
          <p:cNvSpPr/>
          <p:nvPr/>
        </p:nvSpPr>
        <p:spPr>
          <a:xfrm>
            <a:off x="1117600" y="3785919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3C9950CE-D4F8-F45B-F80F-F2CED3AE8A50}"/>
              </a:ext>
            </a:extLst>
          </p:cNvPr>
          <p:cNvSpPr/>
          <p:nvPr/>
        </p:nvSpPr>
        <p:spPr>
          <a:xfrm>
            <a:off x="2214033" y="365133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5E41501F-BA3C-BA16-043C-097334325105}"/>
              </a:ext>
            </a:extLst>
          </p:cNvPr>
          <p:cNvSpPr/>
          <p:nvPr/>
        </p:nvSpPr>
        <p:spPr>
          <a:xfrm>
            <a:off x="3310467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212833FE-FC41-68EB-1DF4-B05CA409A0A5}"/>
              </a:ext>
            </a:extLst>
          </p:cNvPr>
          <p:cNvSpPr/>
          <p:nvPr/>
        </p:nvSpPr>
        <p:spPr>
          <a:xfrm>
            <a:off x="4406900" y="333729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5B09879F-6E57-EE94-62B8-312FE7EF7E24}"/>
              </a:ext>
            </a:extLst>
          </p:cNvPr>
          <p:cNvSpPr/>
          <p:nvPr/>
        </p:nvSpPr>
        <p:spPr>
          <a:xfrm>
            <a:off x="5503333" y="333729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>
            <a:extLst>
              <a:ext uri="{FF2B5EF4-FFF2-40B4-BE49-F238E27FC236}">
                <a16:creationId xmlns:a16="http://schemas.microsoft.com/office/drawing/2014/main" id="{1830DD21-D406-E0F4-4FED-ADF07D631410}"/>
              </a:ext>
            </a:extLst>
          </p:cNvPr>
          <p:cNvSpPr/>
          <p:nvPr/>
        </p:nvSpPr>
        <p:spPr>
          <a:xfrm>
            <a:off x="6599767" y="333729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3D831711-B5BD-A7A7-8095-E5121D50E4A1}"/>
              </a:ext>
            </a:extLst>
          </p:cNvPr>
          <p:cNvSpPr/>
          <p:nvPr/>
        </p:nvSpPr>
        <p:spPr>
          <a:xfrm>
            <a:off x="7696200" y="333729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椭圆 95">
            <a:extLst>
              <a:ext uri="{FF2B5EF4-FFF2-40B4-BE49-F238E27FC236}">
                <a16:creationId xmlns:a16="http://schemas.microsoft.com/office/drawing/2014/main" id="{F3810F8B-F8F8-1EAF-EC5E-8C84E031295F}"/>
              </a:ext>
            </a:extLst>
          </p:cNvPr>
          <p:cNvSpPr/>
          <p:nvPr/>
        </p:nvSpPr>
        <p:spPr>
          <a:xfrm>
            <a:off x="8792633" y="333729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7B311C68-3B19-52C9-8BC3-8B7CF04411C6}"/>
              </a:ext>
            </a:extLst>
          </p:cNvPr>
          <p:cNvSpPr/>
          <p:nvPr/>
        </p:nvSpPr>
        <p:spPr>
          <a:xfrm>
            <a:off x="9889067" y="333729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3146A817-70FC-11C9-1E12-1EE30DD68A20}"/>
              </a:ext>
            </a:extLst>
          </p:cNvPr>
          <p:cNvSpPr/>
          <p:nvPr/>
        </p:nvSpPr>
        <p:spPr>
          <a:xfrm>
            <a:off x="10985500" y="3337296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249C2702-9B43-A0DF-9360-86437A1F7413}"/>
              </a:ext>
            </a:extLst>
          </p:cNvPr>
          <p:cNvCxnSpPr/>
          <p:nvPr/>
        </p:nvCxnSpPr>
        <p:spPr>
          <a:xfrm flipV="1">
            <a:off x="1155700" y="3420258"/>
            <a:ext cx="1096433" cy="224312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53CE02AE-E380-4614-D96F-4699EEF06522}"/>
              </a:ext>
            </a:extLst>
          </p:cNvPr>
          <p:cNvCxnSpPr/>
          <p:nvPr/>
        </p:nvCxnSpPr>
        <p:spPr>
          <a:xfrm flipV="1">
            <a:off x="2252133" y="3240809"/>
            <a:ext cx="1096434" cy="179449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D7794A1E-C3A8-AF56-50DA-C02DD77C2896}"/>
              </a:ext>
            </a:extLst>
          </p:cNvPr>
          <p:cNvCxnSpPr/>
          <p:nvPr/>
        </p:nvCxnSpPr>
        <p:spPr>
          <a:xfrm flipV="1">
            <a:off x="3348567" y="3195947"/>
            <a:ext cx="1096433" cy="44862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DFCC0F20-5F18-5DA5-3650-F90A4055EDF6}"/>
              </a:ext>
            </a:extLst>
          </p:cNvPr>
          <p:cNvCxnSpPr/>
          <p:nvPr/>
        </p:nvCxnSpPr>
        <p:spPr>
          <a:xfrm>
            <a:off x="4445000" y="3195947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919A803F-264C-BD73-EAC9-CEECB085DE93}"/>
              </a:ext>
            </a:extLst>
          </p:cNvPr>
          <p:cNvCxnSpPr/>
          <p:nvPr/>
        </p:nvCxnSpPr>
        <p:spPr>
          <a:xfrm flipV="1">
            <a:off x="5541433" y="3151084"/>
            <a:ext cx="1096434" cy="44863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C8D3344-B586-ECD8-A974-D69B0A628750}"/>
              </a:ext>
            </a:extLst>
          </p:cNvPr>
          <p:cNvCxnSpPr/>
          <p:nvPr/>
        </p:nvCxnSpPr>
        <p:spPr>
          <a:xfrm>
            <a:off x="6637867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327AFF4-DF0B-ADAC-BB51-810428F999B6}"/>
              </a:ext>
            </a:extLst>
          </p:cNvPr>
          <p:cNvCxnSpPr/>
          <p:nvPr/>
        </p:nvCxnSpPr>
        <p:spPr>
          <a:xfrm>
            <a:off x="7734300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3C1EE56-E9D6-41EB-9C30-3B3828F87399}"/>
              </a:ext>
            </a:extLst>
          </p:cNvPr>
          <p:cNvCxnSpPr/>
          <p:nvPr/>
        </p:nvCxnSpPr>
        <p:spPr>
          <a:xfrm>
            <a:off x="8830733" y="3151084"/>
            <a:ext cx="1096434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2E7DBAFD-2E6C-D7A3-71B2-D557D5EC6FAC}"/>
              </a:ext>
            </a:extLst>
          </p:cNvPr>
          <p:cNvCxnSpPr/>
          <p:nvPr/>
        </p:nvCxnSpPr>
        <p:spPr>
          <a:xfrm>
            <a:off x="9927167" y="3151084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500C1CD-E7FA-4714-39C1-9D9F4C15FEED}"/>
              </a:ext>
            </a:extLst>
          </p:cNvPr>
          <p:cNvSpPr/>
          <p:nvPr/>
        </p:nvSpPr>
        <p:spPr>
          <a:xfrm>
            <a:off x="1117600" y="360647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27B983ED-058F-0293-938A-2487BAD2A5B4}"/>
              </a:ext>
            </a:extLst>
          </p:cNvPr>
          <p:cNvSpPr/>
          <p:nvPr/>
        </p:nvSpPr>
        <p:spPr>
          <a:xfrm>
            <a:off x="2214033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DFDEECC8-741B-98C3-BB84-D8AAC5F21D5F}"/>
              </a:ext>
            </a:extLst>
          </p:cNvPr>
          <p:cNvSpPr/>
          <p:nvPr/>
        </p:nvSpPr>
        <p:spPr>
          <a:xfrm>
            <a:off x="3310467" y="3202709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262CE9CD-6FB3-3CEC-4DD5-06A57C127C15}"/>
              </a:ext>
            </a:extLst>
          </p:cNvPr>
          <p:cNvSpPr/>
          <p:nvPr/>
        </p:nvSpPr>
        <p:spPr>
          <a:xfrm>
            <a:off x="4406900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CE55CA51-426F-B993-6190-D679F28BB367}"/>
              </a:ext>
            </a:extLst>
          </p:cNvPr>
          <p:cNvSpPr/>
          <p:nvPr/>
        </p:nvSpPr>
        <p:spPr>
          <a:xfrm>
            <a:off x="5503333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7FE6A2C7-D038-EE50-1627-FDE5421BEBC1}"/>
              </a:ext>
            </a:extLst>
          </p:cNvPr>
          <p:cNvSpPr/>
          <p:nvPr/>
        </p:nvSpPr>
        <p:spPr>
          <a:xfrm>
            <a:off x="6599767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839E83DB-6C97-CE15-DBBC-6CFC985FE4CA}"/>
              </a:ext>
            </a:extLst>
          </p:cNvPr>
          <p:cNvSpPr/>
          <p:nvPr/>
        </p:nvSpPr>
        <p:spPr>
          <a:xfrm>
            <a:off x="7696200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0A9634BA-F449-7B9D-405D-804EEDE3239D}"/>
              </a:ext>
            </a:extLst>
          </p:cNvPr>
          <p:cNvSpPr/>
          <p:nvPr/>
        </p:nvSpPr>
        <p:spPr>
          <a:xfrm>
            <a:off x="8792633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F890AB0F-ACA0-6DB7-4566-F5F7AD827070}"/>
              </a:ext>
            </a:extLst>
          </p:cNvPr>
          <p:cNvSpPr/>
          <p:nvPr/>
        </p:nvSpPr>
        <p:spPr>
          <a:xfrm>
            <a:off x="9889067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231CE273-DEB5-709C-6C48-0F2E98B3A090}"/>
              </a:ext>
            </a:extLst>
          </p:cNvPr>
          <p:cNvSpPr/>
          <p:nvPr/>
        </p:nvSpPr>
        <p:spPr>
          <a:xfrm>
            <a:off x="10985500" y="3112984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7661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BEDD5C5-6E58-1B81-786C-395E1CFBE3C8}"/>
              </a:ext>
            </a:extLst>
          </p:cNvPr>
          <p:cNvSpPr txBox="1"/>
          <p:nvPr/>
        </p:nvSpPr>
        <p:spPr>
          <a:xfrm>
            <a:off x="1016000" y="381000"/>
            <a:ext cx="5430974" cy="3539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fr-FR" altLang="zh-CN" sz="2300" b="1">
                <a:solidFill>
                  <a:srgbClr val="263746"/>
                </a:solidFill>
                <a:latin typeface="Arial" panose="020B0604020202020204" pitchFamily="34" charset="0"/>
              </a:rPr>
              <a:t>Iterative pose reconstruction: C→C→E</a:t>
            </a:r>
            <a:endParaRPr lang="zh-CN" altLang="en-US" sz="230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1D7D9F8-F80F-9EFE-4FC4-C06DCF6A41B5}"/>
              </a:ext>
            </a:extLst>
          </p:cNvPr>
          <p:cNvSpPr txBox="1"/>
          <p:nvPr/>
        </p:nvSpPr>
        <p:spPr>
          <a:xfrm>
            <a:off x="1016000" y="876300"/>
            <a:ext cx="333585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647483"/>
                </a:solidFill>
                <a:latin typeface="Arial" panose="020B0604020202020204" pitchFamily="34" charset="0"/>
              </a:rPr>
              <a:t>CryoAtom2 receptor · 77 PDBs · additional figure</a:t>
            </a:r>
            <a:endParaRPr lang="zh-CN" altLang="en-US" sz="12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DF1183E-6E78-1DC2-7E1B-E3FB822A85E5}"/>
              </a:ext>
            </a:extLst>
          </p:cNvPr>
          <p:cNvCxnSpPr/>
          <p:nvPr/>
        </p:nvCxnSpPr>
        <p:spPr>
          <a:xfrm>
            <a:off x="10922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7BC0924E-C08F-B3DA-F5F9-B2E1EFD9B4E0}"/>
              </a:ext>
            </a:extLst>
          </p:cNvPr>
          <p:cNvSpPr/>
          <p:nvPr/>
        </p:nvSpPr>
        <p:spPr>
          <a:xfrm>
            <a:off x="12255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1CD65F-F11D-BB3A-4BC6-34DCAD9A1D68}"/>
              </a:ext>
            </a:extLst>
          </p:cNvPr>
          <p:cNvSpPr txBox="1"/>
          <p:nvPr/>
        </p:nvSpPr>
        <p:spPr>
          <a:xfrm>
            <a:off x="1574800" y="1371600"/>
            <a:ext cx="785471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802396D-97E7-1ABD-2450-680869A126EA}"/>
              </a:ext>
            </a:extLst>
          </p:cNvPr>
          <p:cNvCxnSpPr/>
          <p:nvPr/>
        </p:nvCxnSpPr>
        <p:spPr>
          <a:xfrm>
            <a:off x="4673600" y="1473200"/>
            <a:ext cx="342900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40FBDBF5-2260-7308-EE99-D4FD6D5BC34D}"/>
              </a:ext>
            </a:extLst>
          </p:cNvPr>
          <p:cNvSpPr/>
          <p:nvPr/>
        </p:nvSpPr>
        <p:spPr>
          <a:xfrm>
            <a:off x="4806950" y="143510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FAEAAB-1581-A1EB-DE7D-B91E7683B2EC}"/>
              </a:ext>
            </a:extLst>
          </p:cNvPr>
          <p:cNvSpPr txBox="1"/>
          <p:nvPr/>
        </p:nvSpPr>
        <p:spPr>
          <a:xfrm>
            <a:off x="5156200" y="1371600"/>
            <a:ext cx="785471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46C503E-86A9-1A15-BA31-13C67A89A03D}"/>
              </a:ext>
            </a:extLst>
          </p:cNvPr>
          <p:cNvCxnSpPr/>
          <p:nvPr/>
        </p:nvCxnSpPr>
        <p:spPr>
          <a:xfrm>
            <a:off x="8255000" y="1473200"/>
            <a:ext cx="342900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EE39D94-AC88-DC27-EED1-767E75688195}"/>
              </a:ext>
            </a:extLst>
          </p:cNvPr>
          <p:cNvSpPr/>
          <p:nvPr/>
        </p:nvSpPr>
        <p:spPr>
          <a:xfrm>
            <a:off x="8388350" y="1435100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9290492-CE6F-5C59-49B4-5CFBB6BACD0F}"/>
              </a:ext>
            </a:extLst>
          </p:cNvPr>
          <p:cNvSpPr txBox="1"/>
          <p:nvPr/>
        </p:nvSpPr>
        <p:spPr>
          <a:xfrm>
            <a:off x="8737600" y="1371600"/>
            <a:ext cx="1065997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581276B-1815-8252-8784-CC8BA68378F0}"/>
              </a:ext>
            </a:extLst>
          </p:cNvPr>
          <p:cNvCxnSpPr/>
          <p:nvPr/>
        </p:nvCxnSpPr>
        <p:spPr>
          <a:xfrm>
            <a:off x="1092200" y="1803400"/>
            <a:ext cx="342900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AD6BB0DE-9496-2B98-A9A6-57EE8D4B08DC}"/>
              </a:ext>
            </a:extLst>
          </p:cNvPr>
          <p:cNvSpPr/>
          <p:nvPr/>
        </p:nvSpPr>
        <p:spPr>
          <a:xfrm>
            <a:off x="1225550" y="176530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006706-A912-0EAF-5720-2274CB3866A2}"/>
              </a:ext>
            </a:extLst>
          </p:cNvPr>
          <p:cNvSpPr txBox="1"/>
          <p:nvPr/>
        </p:nvSpPr>
        <p:spPr>
          <a:xfrm>
            <a:off x="1574800" y="1701800"/>
            <a:ext cx="1065997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11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8C8DFFD-2A8D-FE0D-FD07-CBB52D2F99DA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FFF3602A-725D-33BD-A912-5FAA2CD364AC}"/>
              </a:ext>
            </a:extLst>
          </p:cNvPr>
          <p:cNvSpPr txBox="1"/>
          <p:nvPr/>
        </p:nvSpPr>
        <p:spPr>
          <a:xfrm>
            <a:off x="635000" y="56515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D5764CF-A490-8268-0724-4AAC24E1E507}"/>
              </a:ext>
            </a:extLst>
          </p:cNvPr>
          <p:cNvCxnSpPr/>
          <p:nvPr/>
        </p:nvCxnSpPr>
        <p:spPr>
          <a:xfrm>
            <a:off x="1155700" y="506222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27E5E59-4375-BD44-083B-A5FBD7886F2F}"/>
              </a:ext>
            </a:extLst>
          </p:cNvPr>
          <p:cNvSpPr txBox="1"/>
          <p:nvPr/>
        </p:nvSpPr>
        <p:spPr>
          <a:xfrm>
            <a:off x="635000" y="496062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07DA1BE-BD28-6F26-FF7C-4AD78E226094}"/>
              </a:ext>
            </a:extLst>
          </p:cNvPr>
          <p:cNvCxnSpPr/>
          <p:nvPr/>
        </p:nvCxnSpPr>
        <p:spPr>
          <a:xfrm>
            <a:off x="1155700" y="437134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B35741F-9869-D1B8-C0CB-F372B89BE342}"/>
              </a:ext>
            </a:extLst>
          </p:cNvPr>
          <p:cNvSpPr txBox="1"/>
          <p:nvPr/>
        </p:nvSpPr>
        <p:spPr>
          <a:xfrm>
            <a:off x="635000" y="426974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F1467E-B0EE-1046-0D05-D60B38A1A0AB}"/>
              </a:ext>
            </a:extLst>
          </p:cNvPr>
          <p:cNvCxnSpPr/>
          <p:nvPr/>
        </p:nvCxnSpPr>
        <p:spPr>
          <a:xfrm>
            <a:off x="1155700" y="368046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DE9043CB-A06C-5A71-A181-AEF822020FFC}"/>
              </a:ext>
            </a:extLst>
          </p:cNvPr>
          <p:cNvSpPr txBox="1"/>
          <p:nvPr/>
        </p:nvSpPr>
        <p:spPr>
          <a:xfrm>
            <a:off x="635000" y="357886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35D8F65-BA67-053D-0A59-E6230569D36E}"/>
              </a:ext>
            </a:extLst>
          </p:cNvPr>
          <p:cNvCxnSpPr/>
          <p:nvPr/>
        </p:nvCxnSpPr>
        <p:spPr>
          <a:xfrm>
            <a:off x="1155700" y="298958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E7C4446A-167D-8042-3AA0-E3FC779DC301}"/>
              </a:ext>
            </a:extLst>
          </p:cNvPr>
          <p:cNvSpPr txBox="1"/>
          <p:nvPr/>
        </p:nvSpPr>
        <p:spPr>
          <a:xfrm>
            <a:off x="635000" y="288798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AD0B0AF7-70B1-933B-EDCD-9BB2445E908B}"/>
              </a:ext>
            </a:extLst>
          </p:cNvPr>
          <p:cNvCxnSpPr/>
          <p:nvPr/>
        </p:nvCxnSpPr>
        <p:spPr>
          <a:xfrm>
            <a:off x="1155700" y="2298700"/>
            <a:ext cx="9867900" cy="0"/>
          </a:xfrm>
          <a:prstGeom prst="line">
            <a:avLst/>
          </a:prstGeom>
          <a:ln w="11430">
            <a:solidFill>
              <a:srgbClr val="E3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DF630623-7C67-7366-9978-004CFCE1C2AA}"/>
              </a:ext>
            </a:extLst>
          </p:cNvPr>
          <p:cNvSpPr txBox="1"/>
          <p:nvPr/>
        </p:nvSpPr>
        <p:spPr>
          <a:xfrm>
            <a:off x="635000" y="2197100"/>
            <a:ext cx="211596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79E0CD2-726D-F7E7-F323-016C5D38DF36}"/>
              </a:ext>
            </a:extLst>
          </p:cNvPr>
          <p:cNvCxnSpPr/>
          <p:nvPr/>
        </p:nvCxnSpPr>
        <p:spPr>
          <a:xfrm>
            <a:off x="1155700" y="2298700"/>
            <a:ext cx="0" cy="345440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7D5C170-49C2-87C3-094F-3076E9E71103}"/>
              </a:ext>
            </a:extLst>
          </p:cNvPr>
          <p:cNvCxnSpPr/>
          <p:nvPr/>
        </p:nvCxnSpPr>
        <p:spPr>
          <a:xfrm>
            <a:off x="1155700" y="5753100"/>
            <a:ext cx="9867900" cy="0"/>
          </a:xfrm>
          <a:prstGeom prst="line">
            <a:avLst/>
          </a:prstGeom>
          <a:ln w="1524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C7ABADE5-0E6C-646E-85BF-0AD56FA8AB95}"/>
              </a:ext>
            </a:extLst>
          </p:cNvPr>
          <p:cNvSpPr txBox="1"/>
          <p:nvPr/>
        </p:nvSpPr>
        <p:spPr>
          <a:xfrm>
            <a:off x="10541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8B9BAF6A-5FCB-D84B-9272-FE42B974A9CE}"/>
              </a:ext>
            </a:extLst>
          </p:cNvPr>
          <p:cNvSpPr txBox="1"/>
          <p:nvPr/>
        </p:nvSpPr>
        <p:spPr>
          <a:xfrm>
            <a:off x="21505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2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28856D5-4E27-F320-CD98-20378B512E5A}"/>
              </a:ext>
            </a:extLst>
          </p:cNvPr>
          <p:cNvSpPr txBox="1"/>
          <p:nvPr/>
        </p:nvSpPr>
        <p:spPr>
          <a:xfrm>
            <a:off x="32469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3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457AE1E-0384-4D06-3A69-D319CC005937}"/>
              </a:ext>
            </a:extLst>
          </p:cNvPr>
          <p:cNvSpPr txBox="1"/>
          <p:nvPr/>
        </p:nvSpPr>
        <p:spPr>
          <a:xfrm>
            <a:off x="43434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4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C2D1B39-7133-76F0-1D8D-7F81DCFC3842}"/>
              </a:ext>
            </a:extLst>
          </p:cNvPr>
          <p:cNvSpPr txBox="1"/>
          <p:nvPr/>
        </p:nvSpPr>
        <p:spPr>
          <a:xfrm>
            <a:off x="54398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5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AD991031-763B-7D64-1265-4B6FC5792228}"/>
              </a:ext>
            </a:extLst>
          </p:cNvPr>
          <p:cNvSpPr txBox="1"/>
          <p:nvPr/>
        </p:nvSpPr>
        <p:spPr>
          <a:xfrm>
            <a:off x="65362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6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7D3E494-91B7-8E42-1A04-3836C2FF493C}"/>
              </a:ext>
            </a:extLst>
          </p:cNvPr>
          <p:cNvSpPr txBox="1"/>
          <p:nvPr/>
        </p:nvSpPr>
        <p:spPr>
          <a:xfrm>
            <a:off x="7632700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7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491DC6E-1EE9-5555-87AE-B800F6913667}"/>
              </a:ext>
            </a:extLst>
          </p:cNvPr>
          <p:cNvSpPr txBox="1"/>
          <p:nvPr/>
        </p:nvSpPr>
        <p:spPr>
          <a:xfrm>
            <a:off x="8729133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8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1B75B90D-95DE-F588-B5F9-194B987AB0E0}"/>
              </a:ext>
            </a:extLst>
          </p:cNvPr>
          <p:cNvSpPr txBox="1"/>
          <p:nvPr/>
        </p:nvSpPr>
        <p:spPr>
          <a:xfrm>
            <a:off x="9825567" y="5892800"/>
            <a:ext cx="70532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9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5EA5FA7-E8D6-63F1-7116-7D1C021635E7}"/>
              </a:ext>
            </a:extLst>
          </p:cNvPr>
          <p:cNvSpPr txBox="1"/>
          <p:nvPr/>
        </p:nvSpPr>
        <p:spPr>
          <a:xfrm>
            <a:off x="10922000" y="5892800"/>
            <a:ext cx="141064" cy="1538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000">
                <a:solidFill>
                  <a:srgbClr val="647483"/>
                </a:solidFill>
                <a:latin typeface="Arial" panose="020B0604020202020204" pitchFamily="34" charset="0"/>
              </a:rPr>
              <a:t>10</a:t>
            </a:r>
            <a:endParaRPr lang="zh-CN" altLang="en-US" sz="10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B26B1BF-A15B-81C9-B0E6-AD1C9B054C40}"/>
              </a:ext>
            </a:extLst>
          </p:cNvPr>
          <p:cNvSpPr txBox="1"/>
          <p:nvPr/>
        </p:nvSpPr>
        <p:spPr>
          <a:xfrm>
            <a:off x="5200650" y="6261100"/>
            <a:ext cx="955390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1200">
                <a:solidFill>
                  <a:srgbClr val="263746"/>
                </a:solidFill>
                <a:latin typeface="Arial" panose="020B0604020202020204" pitchFamily="34" charset="0"/>
              </a:rPr>
              <a:t>Ranked site K</a:t>
            </a:r>
            <a:endParaRPr lang="zh-CN" altLang="en-US" sz="120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4CF4BCB-A850-AEED-4521-B84BE65720D1}"/>
              </a:ext>
            </a:extLst>
          </p:cNvPr>
          <p:cNvSpPr txBox="1"/>
          <p:nvPr/>
        </p:nvSpPr>
        <p:spPr>
          <a:xfrm>
            <a:off x="1155700" y="1993900"/>
            <a:ext cx="1376980" cy="1692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647483"/>
                </a:solidFill>
                <a:latin typeface="Arial" panose="020B0604020202020204" pitchFamily="34" charset="0"/>
              </a:rPr>
              <a:t>PDB success rate (%)</a:t>
            </a:r>
            <a:endParaRPr lang="zh-CN" altLang="en-US" sz="1100">
              <a:solidFill>
                <a:srgbClr val="647483"/>
              </a:solidFill>
              <a:latin typeface="Arial" panose="020B0604020202020204" pitchFamily="34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5E12A1F6-9D1C-AD0B-05BC-293E46473F0C}"/>
              </a:ext>
            </a:extLst>
          </p:cNvPr>
          <p:cNvCxnSpPr/>
          <p:nvPr/>
        </p:nvCxnSpPr>
        <p:spPr>
          <a:xfrm flipV="1">
            <a:off x="1155700" y="3913744"/>
            <a:ext cx="1096433" cy="314037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137CA2FD-419F-09ED-782B-9A9C1F451E7F}"/>
              </a:ext>
            </a:extLst>
          </p:cNvPr>
          <p:cNvCxnSpPr/>
          <p:nvPr/>
        </p:nvCxnSpPr>
        <p:spPr>
          <a:xfrm flipV="1">
            <a:off x="2252133" y="3779157"/>
            <a:ext cx="1096434" cy="134587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04E741C8-3A1B-051F-5328-CBE6EBE0EAB2}"/>
              </a:ext>
            </a:extLst>
          </p:cNvPr>
          <p:cNvCxnSpPr/>
          <p:nvPr/>
        </p:nvCxnSpPr>
        <p:spPr>
          <a:xfrm>
            <a:off x="3348567" y="3779157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087C2C0-D53B-D707-AF8E-C08C47CCC997}"/>
              </a:ext>
            </a:extLst>
          </p:cNvPr>
          <p:cNvCxnSpPr/>
          <p:nvPr/>
        </p:nvCxnSpPr>
        <p:spPr>
          <a:xfrm flipV="1">
            <a:off x="4445000" y="3734295"/>
            <a:ext cx="1096433" cy="44862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E9778F5B-5474-EBEF-795C-42883B97AD9A}"/>
              </a:ext>
            </a:extLst>
          </p:cNvPr>
          <p:cNvCxnSpPr/>
          <p:nvPr/>
        </p:nvCxnSpPr>
        <p:spPr>
          <a:xfrm>
            <a:off x="5541433" y="3734295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4BF053CB-E3BB-B88A-6AD7-6EC55CD657F0}"/>
              </a:ext>
            </a:extLst>
          </p:cNvPr>
          <p:cNvCxnSpPr/>
          <p:nvPr/>
        </p:nvCxnSpPr>
        <p:spPr>
          <a:xfrm>
            <a:off x="6637867" y="3734295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A24BBC6-1F31-EEB6-5227-92210CE0AC0A}"/>
              </a:ext>
            </a:extLst>
          </p:cNvPr>
          <p:cNvCxnSpPr/>
          <p:nvPr/>
        </p:nvCxnSpPr>
        <p:spPr>
          <a:xfrm>
            <a:off x="7734300" y="3734295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73B9987-7FF8-C9D6-26CC-AA105E92C1CD}"/>
              </a:ext>
            </a:extLst>
          </p:cNvPr>
          <p:cNvCxnSpPr/>
          <p:nvPr/>
        </p:nvCxnSpPr>
        <p:spPr>
          <a:xfrm>
            <a:off x="8830733" y="3734295"/>
            <a:ext cx="1096434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FDAE9D8-78EB-768F-A69E-C461074CA8D6}"/>
              </a:ext>
            </a:extLst>
          </p:cNvPr>
          <p:cNvCxnSpPr/>
          <p:nvPr/>
        </p:nvCxnSpPr>
        <p:spPr>
          <a:xfrm>
            <a:off x="9927167" y="3734295"/>
            <a:ext cx="1096433" cy="0"/>
          </a:xfrm>
          <a:prstGeom prst="line">
            <a:avLst/>
          </a:prstGeom>
          <a:ln w="330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4B65ED64-978D-2A25-32D2-8CBA904FC4A7}"/>
              </a:ext>
            </a:extLst>
          </p:cNvPr>
          <p:cNvSpPr/>
          <p:nvPr/>
        </p:nvSpPr>
        <p:spPr>
          <a:xfrm>
            <a:off x="1117600" y="418968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957F22B4-0341-3A53-F5E0-FDF237E8F85D}"/>
              </a:ext>
            </a:extLst>
          </p:cNvPr>
          <p:cNvSpPr/>
          <p:nvPr/>
        </p:nvSpPr>
        <p:spPr>
          <a:xfrm>
            <a:off x="2214033" y="3875644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324F4328-700B-F7B6-7A73-F7D181A3D5AE}"/>
              </a:ext>
            </a:extLst>
          </p:cNvPr>
          <p:cNvSpPr/>
          <p:nvPr/>
        </p:nvSpPr>
        <p:spPr>
          <a:xfrm>
            <a:off x="3310467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EB0E9AD8-0FB6-CE14-C352-F952EC494247}"/>
              </a:ext>
            </a:extLst>
          </p:cNvPr>
          <p:cNvSpPr/>
          <p:nvPr/>
        </p:nvSpPr>
        <p:spPr>
          <a:xfrm>
            <a:off x="4406900" y="3741057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8202128-C233-E77D-AC01-FE68EDECF9C1}"/>
              </a:ext>
            </a:extLst>
          </p:cNvPr>
          <p:cNvSpPr/>
          <p:nvPr/>
        </p:nvSpPr>
        <p:spPr>
          <a:xfrm>
            <a:off x="5503333" y="369619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449957B2-F959-8058-B7AA-14FF368733A9}"/>
              </a:ext>
            </a:extLst>
          </p:cNvPr>
          <p:cNvSpPr/>
          <p:nvPr/>
        </p:nvSpPr>
        <p:spPr>
          <a:xfrm>
            <a:off x="6599767" y="369619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1D911032-C8DF-0546-AE97-0EBE7F640EE3}"/>
              </a:ext>
            </a:extLst>
          </p:cNvPr>
          <p:cNvSpPr/>
          <p:nvPr/>
        </p:nvSpPr>
        <p:spPr>
          <a:xfrm>
            <a:off x="7696200" y="369619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E1B7D005-9EBE-DDD5-0F4A-2FBECDCE3629}"/>
              </a:ext>
            </a:extLst>
          </p:cNvPr>
          <p:cNvSpPr/>
          <p:nvPr/>
        </p:nvSpPr>
        <p:spPr>
          <a:xfrm>
            <a:off x="8792633" y="369619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54811BD0-C401-2E3E-0E79-E3AC1E96BFED}"/>
              </a:ext>
            </a:extLst>
          </p:cNvPr>
          <p:cNvSpPr/>
          <p:nvPr/>
        </p:nvSpPr>
        <p:spPr>
          <a:xfrm>
            <a:off x="9889067" y="369619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D22B5977-117F-1646-E38A-3EC71168BD1E}"/>
              </a:ext>
            </a:extLst>
          </p:cNvPr>
          <p:cNvSpPr/>
          <p:nvPr/>
        </p:nvSpPr>
        <p:spPr>
          <a:xfrm>
            <a:off x="10985500" y="3696195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6517DB2-19E6-F61C-B183-ABF00DDCB9CC}"/>
              </a:ext>
            </a:extLst>
          </p:cNvPr>
          <p:cNvCxnSpPr/>
          <p:nvPr/>
        </p:nvCxnSpPr>
        <p:spPr>
          <a:xfrm flipV="1">
            <a:off x="1155700" y="3689433"/>
            <a:ext cx="1096433" cy="179449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620F672F-2281-0F43-3886-387AD3F181CF}"/>
              </a:ext>
            </a:extLst>
          </p:cNvPr>
          <p:cNvCxnSpPr/>
          <p:nvPr/>
        </p:nvCxnSpPr>
        <p:spPr>
          <a:xfrm flipV="1">
            <a:off x="2252133" y="3465121"/>
            <a:ext cx="1096434" cy="224312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E676EC2A-17B6-2227-67A5-221E930097E1}"/>
              </a:ext>
            </a:extLst>
          </p:cNvPr>
          <p:cNvCxnSpPr/>
          <p:nvPr/>
        </p:nvCxnSpPr>
        <p:spPr>
          <a:xfrm>
            <a:off x="3348567" y="3465121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9FE5650-F909-4DAD-EFDC-3333D0DE6E34}"/>
              </a:ext>
            </a:extLst>
          </p:cNvPr>
          <p:cNvCxnSpPr/>
          <p:nvPr/>
        </p:nvCxnSpPr>
        <p:spPr>
          <a:xfrm>
            <a:off x="4445000" y="3465121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D650D6E-F83C-2419-81C0-05F37E69A683}"/>
              </a:ext>
            </a:extLst>
          </p:cNvPr>
          <p:cNvCxnSpPr/>
          <p:nvPr/>
        </p:nvCxnSpPr>
        <p:spPr>
          <a:xfrm>
            <a:off x="5541433" y="3465121"/>
            <a:ext cx="1096434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553513CA-DF20-BB12-9359-6306FFF32605}"/>
              </a:ext>
            </a:extLst>
          </p:cNvPr>
          <p:cNvCxnSpPr/>
          <p:nvPr/>
        </p:nvCxnSpPr>
        <p:spPr>
          <a:xfrm>
            <a:off x="6637867" y="3465121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73D462AD-1BCF-5611-D276-0E878ABFB98B}"/>
              </a:ext>
            </a:extLst>
          </p:cNvPr>
          <p:cNvCxnSpPr/>
          <p:nvPr/>
        </p:nvCxnSpPr>
        <p:spPr>
          <a:xfrm>
            <a:off x="7734300" y="3465121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847F657-3660-EA2D-816D-AC5A8AD5C011}"/>
              </a:ext>
            </a:extLst>
          </p:cNvPr>
          <p:cNvCxnSpPr/>
          <p:nvPr/>
        </p:nvCxnSpPr>
        <p:spPr>
          <a:xfrm>
            <a:off x="8830733" y="3465121"/>
            <a:ext cx="1096434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CFEB14E-307C-60C1-12A3-FE1A827D5CDF}"/>
              </a:ext>
            </a:extLst>
          </p:cNvPr>
          <p:cNvCxnSpPr/>
          <p:nvPr/>
        </p:nvCxnSpPr>
        <p:spPr>
          <a:xfrm>
            <a:off x="9927167" y="3465121"/>
            <a:ext cx="1096433" cy="0"/>
          </a:xfrm>
          <a:prstGeom prst="line">
            <a:avLst/>
          </a:prstGeom>
          <a:ln w="33020">
            <a:solidFill>
              <a:srgbClr val="C27A2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2225A35B-2A7A-89A8-B3EF-D49014DA78DA}"/>
              </a:ext>
            </a:extLst>
          </p:cNvPr>
          <p:cNvSpPr/>
          <p:nvPr/>
        </p:nvSpPr>
        <p:spPr>
          <a:xfrm>
            <a:off x="1117600" y="3830782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617015E9-3615-3A14-2DB7-906DE54CBDA7}"/>
              </a:ext>
            </a:extLst>
          </p:cNvPr>
          <p:cNvSpPr/>
          <p:nvPr/>
        </p:nvSpPr>
        <p:spPr>
          <a:xfrm>
            <a:off x="2214033" y="3651333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E7302310-03BF-897E-9E3E-353CEAF44844}"/>
              </a:ext>
            </a:extLst>
          </p:cNvPr>
          <p:cNvSpPr/>
          <p:nvPr/>
        </p:nvSpPr>
        <p:spPr>
          <a:xfrm>
            <a:off x="3310467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A9FE325-EA74-2A74-6CBC-B3362BD9EA89}"/>
              </a:ext>
            </a:extLst>
          </p:cNvPr>
          <p:cNvSpPr/>
          <p:nvPr/>
        </p:nvSpPr>
        <p:spPr>
          <a:xfrm>
            <a:off x="4406900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126C2088-4449-BB4E-473F-34BD4EBDAEBC}"/>
              </a:ext>
            </a:extLst>
          </p:cNvPr>
          <p:cNvSpPr/>
          <p:nvPr/>
        </p:nvSpPr>
        <p:spPr>
          <a:xfrm>
            <a:off x="5503333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135EB35F-885D-405F-23F4-31DE58DD63E6}"/>
              </a:ext>
            </a:extLst>
          </p:cNvPr>
          <p:cNvSpPr/>
          <p:nvPr/>
        </p:nvSpPr>
        <p:spPr>
          <a:xfrm>
            <a:off x="6599767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AC56D2E8-BD33-B90D-608D-85435D842405}"/>
              </a:ext>
            </a:extLst>
          </p:cNvPr>
          <p:cNvSpPr/>
          <p:nvPr/>
        </p:nvSpPr>
        <p:spPr>
          <a:xfrm>
            <a:off x="7696200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A72B27DA-4CD2-1BAC-4B66-4ABA4FFE692B}"/>
              </a:ext>
            </a:extLst>
          </p:cNvPr>
          <p:cNvSpPr/>
          <p:nvPr/>
        </p:nvSpPr>
        <p:spPr>
          <a:xfrm>
            <a:off x="8792633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2DFDF147-F068-8AE3-1068-BD4314ABBFBB}"/>
              </a:ext>
            </a:extLst>
          </p:cNvPr>
          <p:cNvSpPr/>
          <p:nvPr/>
        </p:nvSpPr>
        <p:spPr>
          <a:xfrm>
            <a:off x="9889067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FFE6093F-5735-8DFC-48BE-91AD55E0597D}"/>
              </a:ext>
            </a:extLst>
          </p:cNvPr>
          <p:cNvSpPr/>
          <p:nvPr/>
        </p:nvSpPr>
        <p:spPr>
          <a:xfrm>
            <a:off x="10985500" y="3427021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49A4CEC2-1B2B-1346-9428-4DD5394E1433}"/>
              </a:ext>
            </a:extLst>
          </p:cNvPr>
          <p:cNvCxnSpPr/>
          <p:nvPr/>
        </p:nvCxnSpPr>
        <p:spPr>
          <a:xfrm flipV="1">
            <a:off x="1155700" y="3689433"/>
            <a:ext cx="1096433" cy="179449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8C123ABF-027D-B8CC-F71E-1BCEDE1C5500}"/>
              </a:ext>
            </a:extLst>
          </p:cNvPr>
          <p:cNvCxnSpPr/>
          <p:nvPr/>
        </p:nvCxnSpPr>
        <p:spPr>
          <a:xfrm flipV="1">
            <a:off x="2252133" y="3465121"/>
            <a:ext cx="1096434" cy="224312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90001937-6AD9-F294-8E65-9F4AF814D57F}"/>
              </a:ext>
            </a:extLst>
          </p:cNvPr>
          <p:cNvCxnSpPr/>
          <p:nvPr/>
        </p:nvCxnSpPr>
        <p:spPr>
          <a:xfrm flipV="1">
            <a:off x="3348567" y="3420258"/>
            <a:ext cx="1096433" cy="44863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048FE25-278B-768F-99C1-F48AEF160760}"/>
              </a:ext>
            </a:extLst>
          </p:cNvPr>
          <p:cNvCxnSpPr/>
          <p:nvPr/>
        </p:nvCxnSpPr>
        <p:spPr>
          <a:xfrm>
            <a:off x="4445000" y="3420258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0A60899-8F11-3BF1-A4EC-8EA3EB365D8B}"/>
              </a:ext>
            </a:extLst>
          </p:cNvPr>
          <p:cNvCxnSpPr/>
          <p:nvPr/>
        </p:nvCxnSpPr>
        <p:spPr>
          <a:xfrm>
            <a:off x="5541433" y="3420258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F64505F-B6AA-227B-739E-A5B952C5AB06}"/>
              </a:ext>
            </a:extLst>
          </p:cNvPr>
          <p:cNvCxnSpPr/>
          <p:nvPr/>
        </p:nvCxnSpPr>
        <p:spPr>
          <a:xfrm>
            <a:off x="6637867" y="3420258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B9099DDF-E103-4ABF-976C-66057E857E02}"/>
              </a:ext>
            </a:extLst>
          </p:cNvPr>
          <p:cNvCxnSpPr/>
          <p:nvPr/>
        </p:nvCxnSpPr>
        <p:spPr>
          <a:xfrm>
            <a:off x="7734300" y="3420258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AAB7792-32FB-C65F-2621-797ECE52DF33}"/>
              </a:ext>
            </a:extLst>
          </p:cNvPr>
          <p:cNvCxnSpPr/>
          <p:nvPr/>
        </p:nvCxnSpPr>
        <p:spPr>
          <a:xfrm>
            <a:off x="8830733" y="3420258"/>
            <a:ext cx="1096434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6D5101B-8F4C-9A5B-92E7-D15E33695824}"/>
              </a:ext>
            </a:extLst>
          </p:cNvPr>
          <p:cNvCxnSpPr/>
          <p:nvPr/>
        </p:nvCxnSpPr>
        <p:spPr>
          <a:xfrm>
            <a:off x="9927167" y="3420258"/>
            <a:ext cx="1096433" cy="0"/>
          </a:xfrm>
          <a:prstGeom prst="line">
            <a:avLst/>
          </a:prstGeom>
          <a:ln w="330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D5772BA7-430A-0DA0-2416-9CEAF283D809}"/>
              </a:ext>
            </a:extLst>
          </p:cNvPr>
          <p:cNvSpPr/>
          <p:nvPr/>
        </p:nvSpPr>
        <p:spPr>
          <a:xfrm>
            <a:off x="1117600" y="3830782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10A3AED3-6C5A-C4A5-4D68-3A742FA78E8E}"/>
              </a:ext>
            </a:extLst>
          </p:cNvPr>
          <p:cNvSpPr/>
          <p:nvPr/>
        </p:nvSpPr>
        <p:spPr>
          <a:xfrm>
            <a:off x="2214033" y="3651333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40AA5D76-6ADD-9858-510A-228A4DBC10D5}"/>
              </a:ext>
            </a:extLst>
          </p:cNvPr>
          <p:cNvSpPr/>
          <p:nvPr/>
        </p:nvSpPr>
        <p:spPr>
          <a:xfrm>
            <a:off x="3310467" y="3427021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8C0933F8-8D7C-A8ED-8AAC-7385EC45A9BE}"/>
              </a:ext>
            </a:extLst>
          </p:cNvPr>
          <p:cNvSpPr/>
          <p:nvPr/>
        </p:nvSpPr>
        <p:spPr>
          <a:xfrm>
            <a:off x="4406900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341C240A-5F01-548D-DB9A-E1F24EF36362}"/>
              </a:ext>
            </a:extLst>
          </p:cNvPr>
          <p:cNvSpPr/>
          <p:nvPr/>
        </p:nvSpPr>
        <p:spPr>
          <a:xfrm>
            <a:off x="5503333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>
            <a:extLst>
              <a:ext uri="{FF2B5EF4-FFF2-40B4-BE49-F238E27FC236}">
                <a16:creationId xmlns:a16="http://schemas.microsoft.com/office/drawing/2014/main" id="{7D154739-DAD1-2EE2-3E95-2A538BF71C0F}"/>
              </a:ext>
            </a:extLst>
          </p:cNvPr>
          <p:cNvSpPr/>
          <p:nvPr/>
        </p:nvSpPr>
        <p:spPr>
          <a:xfrm>
            <a:off x="6599767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D7EE1D98-389C-DF87-ECBA-49C694FF441E}"/>
              </a:ext>
            </a:extLst>
          </p:cNvPr>
          <p:cNvSpPr/>
          <p:nvPr/>
        </p:nvSpPr>
        <p:spPr>
          <a:xfrm>
            <a:off x="7696200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椭圆 95">
            <a:extLst>
              <a:ext uri="{FF2B5EF4-FFF2-40B4-BE49-F238E27FC236}">
                <a16:creationId xmlns:a16="http://schemas.microsoft.com/office/drawing/2014/main" id="{43590376-098B-55A9-E909-D243C261362D}"/>
              </a:ext>
            </a:extLst>
          </p:cNvPr>
          <p:cNvSpPr/>
          <p:nvPr/>
        </p:nvSpPr>
        <p:spPr>
          <a:xfrm>
            <a:off x="8792633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94D0260D-AA0E-4217-2A17-0E9C8AE1DD90}"/>
              </a:ext>
            </a:extLst>
          </p:cNvPr>
          <p:cNvSpPr/>
          <p:nvPr/>
        </p:nvSpPr>
        <p:spPr>
          <a:xfrm>
            <a:off x="9889067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9526CED5-BB8F-C644-D668-4544073768A0}"/>
              </a:ext>
            </a:extLst>
          </p:cNvPr>
          <p:cNvSpPr/>
          <p:nvPr/>
        </p:nvSpPr>
        <p:spPr>
          <a:xfrm>
            <a:off x="10985500" y="3382158"/>
            <a:ext cx="76200" cy="76200"/>
          </a:xfrm>
          <a:prstGeom prst="ellipse">
            <a:avLst/>
          </a:prstGeom>
          <a:solidFill>
            <a:srgbClr val="087E83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38955E2B-876D-8B95-8333-D5586512B9F6}"/>
              </a:ext>
            </a:extLst>
          </p:cNvPr>
          <p:cNvCxnSpPr/>
          <p:nvPr/>
        </p:nvCxnSpPr>
        <p:spPr>
          <a:xfrm flipV="1">
            <a:off x="1155700" y="3420258"/>
            <a:ext cx="1096433" cy="224312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226AF140-20F9-4196-6021-6D0FD6AB6228}"/>
              </a:ext>
            </a:extLst>
          </p:cNvPr>
          <p:cNvCxnSpPr/>
          <p:nvPr/>
        </p:nvCxnSpPr>
        <p:spPr>
          <a:xfrm flipV="1">
            <a:off x="2252133" y="3240809"/>
            <a:ext cx="1096434" cy="179449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26D50144-15C2-DA8E-64B8-014BDB0CA2F0}"/>
              </a:ext>
            </a:extLst>
          </p:cNvPr>
          <p:cNvCxnSpPr/>
          <p:nvPr/>
        </p:nvCxnSpPr>
        <p:spPr>
          <a:xfrm flipV="1">
            <a:off x="3348567" y="3195947"/>
            <a:ext cx="1096433" cy="44862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F585B6C7-39F1-456A-A28F-43450A09E27C}"/>
              </a:ext>
            </a:extLst>
          </p:cNvPr>
          <p:cNvCxnSpPr/>
          <p:nvPr/>
        </p:nvCxnSpPr>
        <p:spPr>
          <a:xfrm>
            <a:off x="4445000" y="3195947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E4A13B03-346E-D5A0-6071-C1160D188E19}"/>
              </a:ext>
            </a:extLst>
          </p:cNvPr>
          <p:cNvCxnSpPr/>
          <p:nvPr/>
        </p:nvCxnSpPr>
        <p:spPr>
          <a:xfrm>
            <a:off x="5541433" y="3195947"/>
            <a:ext cx="1096434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09B41A8-543C-2FDE-CA1B-8DC6C4C1BDD8}"/>
              </a:ext>
            </a:extLst>
          </p:cNvPr>
          <p:cNvCxnSpPr/>
          <p:nvPr/>
        </p:nvCxnSpPr>
        <p:spPr>
          <a:xfrm>
            <a:off x="6637867" y="3195947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16249E8-5010-36F8-C269-5DA7331E0D0E}"/>
              </a:ext>
            </a:extLst>
          </p:cNvPr>
          <p:cNvCxnSpPr/>
          <p:nvPr/>
        </p:nvCxnSpPr>
        <p:spPr>
          <a:xfrm>
            <a:off x="7734300" y="3195947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623A0B5-4822-E78C-4187-1A3293885DEF}"/>
              </a:ext>
            </a:extLst>
          </p:cNvPr>
          <p:cNvCxnSpPr/>
          <p:nvPr/>
        </p:nvCxnSpPr>
        <p:spPr>
          <a:xfrm>
            <a:off x="8830733" y="3195947"/>
            <a:ext cx="1096434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4F905DB-289B-84F4-8E90-9B1C8F9FF4BB}"/>
              </a:ext>
            </a:extLst>
          </p:cNvPr>
          <p:cNvCxnSpPr/>
          <p:nvPr/>
        </p:nvCxnSpPr>
        <p:spPr>
          <a:xfrm>
            <a:off x="9927167" y="3195947"/>
            <a:ext cx="1096433" cy="0"/>
          </a:xfrm>
          <a:prstGeom prst="line">
            <a:avLst/>
          </a:prstGeom>
          <a:ln w="33020">
            <a:solidFill>
              <a:srgbClr val="C27A2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7B88AA1A-797F-FB41-0D82-9D5C4909D16C}"/>
              </a:ext>
            </a:extLst>
          </p:cNvPr>
          <p:cNvSpPr/>
          <p:nvPr/>
        </p:nvSpPr>
        <p:spPr>
          <a:xfrm>
            <a:off x="1117600" y="3606470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216AD20A-2BDF-6300-86D8-C8BDD5458A43}"/>
              </a:ext>
            </a:extLst>
          </p:cNvPr>
          <p:cNvSpPr/>
          <p:nvPr/>
        </p:nvSpPr>
        <p:spPr>
          <a:xfrm>
            <a:off x="2214033" y="3382158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BE02C28C-79B3-F737-C74E-90BC5740FD76}"/>
              </a:ext>
            </a:extLst>
          </p:cNvPr>
          <p:cNvSpPr/>
          <p:nvPr/>
        </p:nvSpPr>
        <p:spPr>
          <a:xfrm>
            <a:off x="3310467" y="3202709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2BEF2050-FF87-1F4B-366B-7AB367522B69}"/>
              </a:ext>
            </a:extLst>
          </p:cNvPr>
          <p:cNvSpPr/>
          <p:nvPr/>
        </p:nvSpPr>
        <p:spPr>
          <a:xfrm>
            <a:off x="4406900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23726A5-1EA4-BA70-5894-E4891BFD9007}"/>
              </a:ext>
            </a:extLst>
          </p:cNvPr>
          <p:cNvSpPr/>
          <p:nvPr/>
        </p:nvSpPr>
        <p:spPr>
          <a:xfrm>
            <a:off x="5503333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378228D9-8402-050F-3579-4EC9A1D1DFA3}"/>
              </a:ext>
            </a:extLst>
          </p:cNvPr>
          <p:cNvSpPr/>
          <p:nvPr/>
        </p:nvSpPr>
        <p:spPr>
          <a:xfrm>
            <a:off x="6599767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98868570-CC96-5B4C-9602-D845DCCB0DF0}"/>
              </a:ext>
            </a:extLst>
          </p:cNvPr>
          <p:cNvSpPr/>
          <p:nvPr/>
        </p:nvSpPr>
        <p:spPr>
          <a:xfrm>
            <a:off x="7696200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04BBC924-8613-590E-0F31-EE88D3750138}"/>
              </a:ext>
            </a:extLst>
          </p:cNvPr>
          <p:cNvSpPr/>
          <p:nvPr/>
        </p:nvSpPr>
        <p:spPr>
          <a:xfrm>
            <a:off x="8792633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4509A3B2-C701-B389-2478-7D1B576C518D}"/>
              </a:ext>
            </a:extLst>
          </p:cNvPr>
          <p:cNvSpPr/>
          <p:nvPr/>
        </p:nvSpPr>
        <p:spPr>
          <a:xfrm>
            <a:off x="9889067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6661C3AB-F4F2-99DC-EFEC-DFDB24F584A8}"/>
              </a:ext>
            </a:extLst>
          </p:cNvPr>
          <p:cNvSpPr/>
          <p:nvPr/>
        </p:nvSpPr>
        <p:spPr>
          <a:xfrm>
            <a:off x="10985500" y="3157847"/>
            <a:ext cx="76200" cy="76200"/>
          </a:xfrm>
          <a:prstGeom prst="ellipse">
            <a:avLst/>
          </a:prstGeom>
          <a:solidFill>
            <a:srgbClr val="C27A2C"/>
          </a:solidFill>
          <a:ln w="889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0839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1110</Words>
  <Application>Microsoft Office PowerPoint</Application>
  <PresentationFormat>自定义</PresentationFormat>
  <Paragraphs>158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1</cp:revision>
  <dcterms:created xsi:type="dcterms:W3CDTF">2026-10-02T08:53:19Z</dcterms:created>
  <dcterms:modified xsi:type="dcterms:W3CDTF">2026-10-02T08:53:19Z</dcterms:modified>
</cp:coreProperties>
</file>