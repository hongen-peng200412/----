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737D73BF.xml" ContentType="application/vnd.ms-powerpoint.comments+xml"/>
  <Override PartName="/ppt/notesSlides/notesSlide2.xml" ContentType="application/vnd.openxmlformats-officedocument.presentationml.notesSlide+xml"/>
  <Override PartName="/ppt/comments/modernComment_101_7A7DC3B5.xml" ContentType="application/vnd.ms-powerpoint.comments+xml"/>
  <Override PartName="/ppt/notesSlides/notesSlide3.xml" ContentType="application/vnd.openxmlformats-officedocument.presentationml.notesSlide+xml"/>
  <Override PartName="/ppt/comments/modernComment_102_8AD95CCC.xml" ContentType="application/vnd.ms-powerpoint.comments+xml"/>
  <Override PartName="/ppt/notesSlides/notesSlide4.xml" ContentType="application/vnd.openxmlformats-officedocument.presentationml.notesSlide+xml"/>
  <Override PartName="/ppt/comments/modernComment_103_E9A2E924.xml" ContentType="application/vnd.ms-powerpoint.comments+xml"/>
  <Override PartName="/ppt/notesSlides/notesSlide5.xml" ContentType="application/vnd.openxmlformats-officedocument.presentationml.notesSlide+xml"/>
  <Override PartName="/ppt/comments/modernComment_104_C0AE2E79.xml" ContentType="application/vnd.ms-powerpoint.comments+xml"/>
  <Override PartName="/ppt/notesSlides/notesSlide6.xml" ContentType="application/vnd.openxmlformats-officedocument.presentationml.notesSlide+xml"/>
  <Override PartName="/ppt/comments/modernComment_105_7A96E76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0_737D73B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D85B7F-1195-462F-8390-7397A1B0A3A4}" authorId="{D3F71A66-0C34-DF1A-5236-FECDBC820DCB}" created="2026-10-01T04:51:14.977">
    <pc:sldMkLst xmlns:pc="http://schemas.microsoft.com/office/powerpoint/2013/main/command">
      <pc:docMk/>
      <pc:sldMk cId="1937601471" sldId="256"/>
    </pc:sldMkLst>
    <p188:pos x="101600" y="101600"/>
    <p188:txBody>
      <a:bodyPr/>
      <a:lstStyle/>
      <a:p>
        <a:r>
          <a:rPr lang="zh-CN" altLang="en-US"/>
          <a:t>@@stage2-radar-real</a:t>
        </a:r>
      </a:p>
    </p188:txBody>
  </p188:cm>
  <p188:cm id="{00561939-7D64-4463-9793-A958C8352B30}" authorId="{D3F71A66-0C34-DF1A-5236-FECDBC820DCB}" created="2026-10-01T04:51:14.985">
    <pc:sldMkLst xmlns:pc="http://schemas.microsoft.com/office/powerpoint/2013/main/command">
      <pc:docMk/>
      <pc:sldMk cId="1937601471" sldId="256"/>
    </pc:sldMkLst>
    <p188:pos x="228600" y="228600"/>
    <p188:txBody>
      <a:bodyPr/>
      <a:lstStyle/>
      <a:p>
        <a:r>
          <a:rPr lang="zh-CN" altLang="en-US"/>
          <a:t>Source: stage2_radar_real.png; data.json; plot_stage2.py</a:t>
        </a:r>
      </a:p>
    </p188:txBody>
  </p188:cm>
</p188:cmLst>
</file>

<file path=ppt/comments/modernComment_101_7A7DC3B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1A906B-34DE-4ED0-B7C8-389CDFBC2C37}" authorId="{D3F71A66-0C34-DF1A-5236-FECDBC820DCB}" created="2026-10-01T04:51:15.127">
    <pc:sldMkLst xmlns:pc="http://schemas.microsoft.com/office/powerpoint/2013/main/command">
      <pc:docMk/>
      <pc:sldMk cId="2055062453" sldId="257"/>
    </pc:sldMkLst>
    <p188:pos x="101600" y="101600"/>
    <p188:txBody>
      <a:bodyPr/>
      <a:lstStyle/>
      <a:p>
        <a:r>
          <a:rPr lang="zh-CN" altLang="en-US"/>
          <a:t>@@stage2-radar-cryo</a:t>
        </a:r>
      </a:p>
    </p188:txBody>
  </p188:cm>
  <p188:cm id="{C103ABE1-EFAB-469A-B6A1-845B7A08C6F5}" authorId="{D3F71A66-0C34-DF1A-5236-FECDBC820DCB}" created="2026-10-01T04:51:15.129">
    <pc:sldMkLst xmlns:pc="http://schemas.microsoft.com/office/powerpoint/2013/main/command">
      <pc:docMk/>
      <pc:sldMk cId="2055062453" sldId="257"/>
    </pc:sldMkLst>
    <p188:pos x="228600" y="228600"/>
    <p188:txBody>
      <a:bodyPr/>
      <a:lstStyle/>
      <a:p>
        <a:r>
          <a:rPr lang="zh-CN" altLang="en-US"/>
          <a:t>Source: stage2_radar_cryo.png; data.json; plot_stage2.py</a:t>
        </a:r>
      </a:p>
    </p188:txBody>
  </p188:cm>
</p188:cmLst>
</file>

<file path=ppt/comments/modernComment_102_8AD95CC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01B10A5-FA31-4D58-B25E-6DABD1D2F789}" authorId="{D3F71A66-0C34-DF1A-5236-FECDBC820DCB}" created="2026-10-01T04:51:15.168">
    <pc:sldMkLst xmlns:pc="http://schemas.microsoft.com/office/powerpoint/2013/main/command">
      <pc:docMk/>
      <pc:sldMk cId="2329500876" sldId="258"/>
    </pc:sldMkLst>
    <p188:pos x="101600" y="101600"/>
    <p188:txBody>
      <a:bodyPr/>
      <a:lstStyle/>
      <a:p>
        <a:r>
          <a:rPr lang="zh-CN" altLang="en-US"/>
          <a:t>@@stage2-strongest-real</a:t>
        </a:r>
      </a:p>
    </p188:txBody>
  </p188:cm>
  <p188:cm id="{D0FBFB19-A55A-443A-B299-3E07C80E76CB}" authorId="{D3F71A66-0C34-DF1A-5236-FECDBC820DCB}" created="2026-10-01T04:51:15.170">
    <pc:sldMkLst xmlns:pc="http://schemas.microsoft.com/office/powerpoint/2013/main/command">
      <pc:docMk/>
      <pc:sldMk cId="2329500876" sldId="258"/>
    </pc:sldMkLst>
    <p188:pos x="228600" y="228600"/>
    <p188:txBody>
      <a:bodyPr/>
      <a:lstStyle/>
      <a:p>
        <a:r>
          <a:rPr lang="zh-CN" altLang="en-US"/>
          <a:t>Source: stage2_strongest_categories_real.png; data.json; plot_stage2.py</a:t>
        </a:r>
      </a:p>
    </p188:txBody>
  </p188:cm>
</p188:cmLst>
</file>

<file path=ppt/comments/modernComment_103_E9A2E9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977734-CA80-4FE1-A4B5-0B2E9EA04F5B}" authorId="{D3F71A66-0C34-DF1A-5236-FECDBC820DCB}" created="2026-10-01T04:51:15.189">
    <pc:sldMkLst xmlns:pc="http://schemas.microsoft.com/office/powerpoint/2013/main/command">
      <pc:docMk/>
      <pc:sldMk cId="3919767844" sldId="259"/>
    </pc:sldMkLst>
    <p188:pos x="101600" y="101600"/>
    <p188:txBody>
      <a:bodyPr/>
      <a:lstStyle/>
      <a:p>
        <a:r>
          <a:rPr lang="zh-CN" altLang="en-US"/>
          <a:t>@@stage2-strongest-cryo</a:t>
        </a:r>
      </a:p>
    </p188:txBody>
  </p188:cm>
  <p188:cm id="{A064B217-7EFE-4987-B55A-888DCD980D18}" authorId="{D3F71A66-0C34-DF1A-5236-FECDBC820DCB}" created="2026-10-01T04:51:15.192">
    <pc:sldMkLst xmlns:pc="http://schemas.microsoft.com/office/powerpoint/2013/main/command">
      <pc:docMk/>
      <pc:sldMk cId="3919767844" sldId="259"/>
    </pc:sldMkLst>
    <p188:pos x="228600" y="228600"/>
    <p188:txBody>
      <a:bodyPr/>
      <a:lstStyle/>
      <a:p>
        <a:r>
          <a:rPr lang="zh-CN" altLang="en-US"/>
          <a:t>Source: stage2_strongest_categories_cryo.png; data.json; plot_stage2.py</a:t>
        </a:r>
      </a:p>
    </p188:txBody>
  </p188:cm>
</p188:cmLst>
</file>

<file path=ppt/comments/modernComment_104_C0AE2E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CDF3F2-40F3-4D6A-A315-5A23EF461542}" authorId="{D3F71A66-0C34-DF1A-5236-FECDBC820DCB}" created="2026-10-01T04:51:15.233">
    <pc:sldMkLst xmlns:pc="http://schemas.microsoft.com/office/powerpoint/2013/main/command">
      <pc:docMk/>
      <pc:sldMk cId="3232640633" sldId="260"/>
    </pc:sldMkLst>
    <p188:pos x="101600" y="101600"/>
    <p188:txBody>
      <a:bodyPr/>
      <a:lstStyle/>
      <a:p>
        <a:r>
          <a:rPr lang="zh-CN" altLang="en-US"/>
          <a:t>@@stage2-known-site-real</a:t>
        </a:r>
      </a:p>
    </p188:txBody>
  </p188:cm>
  <p188:cm id="{93DDAA90-2CB4-4AE6-95DB-9F740FD4F37A}" authorId="{D3F71A66-0C34-DF1A-5236-FECDBC820DCB}" created="2026-10-01T04:51:15.235">
    <pc:sldMkLst xmlns:pc="http://schemas.microsoft.com/office/powerpoint/2013/main/command">
      <pc:docMk/>
      <pc:sldMk cId="3232640633" sldId="260"/>
    </pc:sldMkLst>
    <p188:pos x="228600" y="228600"/>
    <p188:txBody>
      <a:bodyPr/>
      <a:lstStyle/>
      <a:p>
        <a:r>
          <a:rPr lang="zh-CN" altLang="en-US"/>
          <a:t>Source: stage2_known_site_real.png; data.json; plot_stage2.py</a:t>
        </a:r>
      </a:p>
    </p188:txBody>
  </p188:cm>
</p188:cmLst>
</file>

<file path=ppt/comments/modernComment_105_7A96E76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E01F75-84A2-49BF-9344-7421078C363A}" authorId="{D3F71A66-0C34-DF1A-5236-FECDBC820DCB}" created="2026-10-01T04:51:15.260">
    <pc:sldMkLst xmlns:pc="http://schemas.microsoft.com/office/powerpoint/2013/main/command">
      <pc:docMk/>
      <pc:sldMk cId="2056709985" sldId="261"/>
    </pc:sldMkLst>
    <p188:pos x="101600" y="101600"/>
    <p188:txBody>
      <a:bodyPr/>
      <a:lstStyle/>
      <a:p>
        <a:r>
          <a:rPr lang="zh-CN" altLang="en-US"/>
          <a:t>@@stage2-known-site-cryo</a:t>
        </a:r>
      </a:p>
    </p188:txBody>
  </p188:cm>
  <p188:cm id="{4E1BC870-BC1D-4166-8CA0-0E0C2650B63C}" authorId="{D3F71A66-0C34-DF1A-5236-FECDBC820DCB}" created="2026-10-01T04:51:15.262">
    <pc:sldMkLst xmlns:pc="http://schemas.microsoft.com/office/powerpoint/2013/main/command">
      <pc:docMk/>
      <pc:sldMk cId="2056709985" sldId="261"/>
    </pc:sldMkLst>
    <p188:pos x="228600" y="228600"/>
    <p188:txBody>
      <a:bodyPr/>
      <a:lstStyle/>
      <a:p>
        <a:r>
          <a:rPr lang="zh-CN" altLang="en-US"/>
          <a:t>Source: stage2_known_site_cryo.png; data.json; plot_stage2.py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47EE4-3B63-4BF9-BC94-3D5A6B739F36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1F444-262B-4C21-A659-9A0F4B3A0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10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 </a:t>
            </a:r>
            <a:r>
              <a:rPr lang="en-US" altLang="zh-CN"/>
              <a:t>4 | </a:t>
            </a:r>
            <a:r>
              <a:rPr lang="zh-CN" altLang="en-US"/>
              <a:t>真实受体条件下的前景识别与 </a:t>
            </a:r>
            <a:r>
              <a:rPr lang="en-US" altLang="zh-CN"/>
              <a:t>SMILES </a:t>
            </a:r>
            <a:r>
              <a:rPr lang="zh-CN" altLang="en-US"/>
              <a:t>匹配。六轴为冻结验证阈值下的前景 </a:t>
            </a:r>
            <a:r>
              <a:rPr lang="en-US" altLang="zh-CN"/>
              <a:t>F1</a:t>
            </a:r>
            <a:r>
              <a:rPr lang="zh-CN" altLang="en-US"/>
              <a:t>、总体准确率，以及小分子、糖、金属离子和肽类的身份准确率。四种 </a:t>
            </a:r>
            <a:r>
              <a:rPr lang="en-US" altLang="zh-CN"/>
              <a:t>Match </a:t>
            </a:r>
            <a:r>
              <a:rPr lang="zh-CN" altLang="en-US"/>
              <a:t>模型共用 </a:t>
            </a:r>
            <a:r>
              <a:rPr lang="en-US" altLang="zh-CN"/>
              <a:t>179 </a:t>
            </a:r>
            <a:r>
              <a:rPr lang="zh-CN" altLang="en-US"/>
              <a:t>个 </a:t>
            </a:r>
            <a:r>
              <a:rPr lang="en-US" altLang="zh-CN"/>
              <a:t>PDB </a:t>
            </a:r>
            <a:r>
              <a:rPr lang="zh-CN" altLang="en-US"/>
              <a:t>的 </a:t>
            </a:r>
            <a:r>
              <a:rPr lang="en-US" altLang="zh-CN"/>
              <a:t>1,653 </a:t>
            </a:r>
            <a:r>
              <a:rPr lang="zh-CN" altLang="en-US"/>
              <a:t>个已选候选；身份统计仅纳入真实前景且有身份资产的候选，总体 </a:t>
            </a:r>
            <a:r>
              <a:rPr lang="en-US" altLang="zh-CN"/>
              <a:t>n = 1,238</a:t>
            </a:r>
            <a:r>
              <a:rPr lang="zh-CN" altLang="en-US"/>
              <a:t>，其中小分子 </a:t>
            </a:r>
            <a:r>
              <a:rPr lang="en-US" altLang="zh-CN"/>
              <a:t>389</a:t>
            </a:r>
            <a:r>
              <a:rPr lang="zh-CN" altLang="en-US"/>
              <a:t>、糖 </a:t>
            </a:r>
            <a:r>
              <a:rPr lang="en-US" altLang="zh-CN"/>
              <a:t>284</a:t>
            </a:r>
            <a:r>
              <a:rPr lang="zh-CN" altLang="en-US"/>
              <a:t>、金属离子 </a:t>
            </a:r>
            <a:r>
              <a:rPr lang="en-US" altLang="zh-CN"/>
              <a:t>564</a:t>
            </a:r>
            <a:r>
              <a:rPr lang="zh-CN" altLang="en-US"/>
              <a:t>、肽类 </a:t>
            </a:r>
            <a:r>
              <a:rPr lang="en-US" altLang="zh-CN"/>
              <a:t>1</a:t>
            </a:r>
            <a:r>
              <a:rPr lang="zh-CN" altLang="en-US"/>
              <a:t>。</a:t>
            </a:r>
            <a:r>
              <a:rPr lang="en-US" altLang="zh-CN"/>
              <a:t>EMERALD-ID </a:t>
            </a:r>
            <a:r>
              <a:rPr lang="zh-CN" altLang="en-US"/>
              <a:t>的菱形独立表示小分子真实位点中至少一个身份取得有效评分时的 </a:t>
            </a:r>
            <a:r>
              <a:rPr lang="en-US" altLang="zh-CN"/>
              <a:t>Top-1 </a:t>
            </a:r>
            <a:r>
              <a:rPr lang="zh-CN" altLang="en-US"/>
              <a:t>准确率（</a:t>
            </a:r>
            <a:r>
              <a:rPr lang="en-US" altLang="zh-CN"/>
              <a:t>233/282</a:t>
            </a:r>
            <a:r>
              <a:rPr lang="zh-CN" altLang="en-US"/>
              <a:t>），不表示前景检测或其他配体类别。径向坐标从 </a:t>
            </a:r>
            <a:r>
              <a:rPr lang="en-US" altLang="zh-CN"/>
              <a:t>30% </a:t>
            </a:r>
            <a:r>
              <a:rPr lang="zh-CN" altLang="en-US"/>
              <a:t>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1F444-262B-4C21-A659-9A0F4B3A053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965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 </a:t>
            </a:r>
            <a:r>
              <a:rPr lang="en-US" altLang="zh-CN"/>
              <a:t>5 | CryoAtom2 </a:t>
            </a:r>
            <a:r>
              <a:rPr lang="zh-CN" altLang="en-US"/>
              <a:t>受体条件下的前景识别与 </a:t>
            </a:r>
            <a:r>
              <a:rPr lang="en-US" altLang="zh-CN"/>
              <a:t>SMILES </a:t>
            </a:r>
            <a:r>
              <a:rPr lang="zh-CN" altLang="en-US"/>
              <a:t>匹配。指标与图 </a:t>
            </a:r>
            <a:r>
              <a:rPr lang="en-US" altLang="zh-CN"/>
              <a:t>4 </a:t>
            </a:r>
            <a:r>
              <a:rPr lang="zh-CN" altLang="en-US"/>
              <a:t>相同；</a:t>
            </a:r>
            <a:r>
              <a:rPr lang="en-US" altLang="zh-CN"/>
              <a:t>Find </a:t>
            </a:r>
            <a:r>
              <a:rPr lang="zh-CN" altLang="en-US"/>
              <a:t>使用 </a:t>
            </a:r>
            <a:r>
              <a:rPr lang="en-US" altLang="zh-CN"/>
              <a:t>CryoAtom2 </a:t>
            </a:r>
            <a:r>
              <a:rPr lang="zh-CN" altLang="en-US"/>
              <a:t>重建受体，在相同的 </a:t>
            </a:r>
            <a:r>
              <a:rPr lang="en-US" altLang="zh-CN"/>
              <a:t>179 </a:t>
            </a:r>
            <a:r>
              <a:rPr lang="zh-CN" altLang="en-US"/>
              <a:t>个 </a:t>
            </a:r>
            <a:r>
              <a:rPr lang="en-US" altLang="zh-CN"/>
              <a:t>PDB </a:t>
            </a:r>
            <a:r>
              <a:rPr lang="zh-CN" altLang="en-US"/>
              <a:t>中产生 </a:t>
            </a:r>
            <a:r>
              <a:rPr lang="en-US" altLang="zh-CN"/>
              <a:t>1,651 </a:t>
            </a:r>
            <a:r>
              <a:rPr lang="zh-CN" altLang="en-US"/>
              <a:t>个已选候选。身份统计总体 </a:t>
            </a:r>
            <a:r>
              <a:rPr lang="en-US" altLang="zh-CN"/>
              <a:t>n = 1,160</a:t>
            </a:r>
            <a:r>
              <a:rPr lang="zh-CN" altLang="en-US"/>
              <a:t>，其中小分子 </a:t>
            </a:r>
            <a:r>
              <a:rPr lang="en-US" altLang="zh-CN"/>
              <a:t>348</a:t>
            </a:r>
            <a:r>
              <a:rPr lang="zh-CN" altLang="en-US"/>
              <a:t>、糖 </a:t>
            </a:r>
            <a:r>
              <a:rPr lang="en-US" altLang="zh-CN"/>
              <a:t>277</a:t>
            </a:r>
            <a:r>
              <a:rPr lang="zh-CN" altLang="en-US"/>
              <a:t>、金属离子 </a:t>
            </a:r>
            <a:r>
              <a:rPr lang="en-US" altLang="zh-CN"/>
              <a:t>534</a:t>
            </a:r>
            <a:r>
              <a:rPr lang="zh-CN" altLang="en-US"/>
              <a:t>、肽类 </a:t>
            </a:r>
            <a:r>
              <a:rPr lang="en-US" altLang="zh-CN"/>
              <a:t>1</a:t>
            </a:r>
            <a:r>
              <a:rPr lang="zh-CN" altLang="en-US"/>
              <a:t>。</a:t>
            </a:r>
            <a:r>
              <a:rPr lang="en-US" altLang="zh-CN"/>
              <a:t>EMERALD-ID </a:t>
            </a:r>
            <a:r>
              <a:rPr lang="zh-CN" altLang="en-US"/>
              <a:t>的菱形表示独立小分子真实位点中至少一个身份取得有效评分时的 </a:t>
            </a:r>
            <a:r>
              <a:rPr lang="en-US" altLang="zh-CN"/>
              <a:t>Top-1 </a:t>
            </a:r>
            <a:r>
              <a:rPr lang="zh-CN" altLang="en-US"/>
              <a:t>准确率（</a:t>
            </a:r>
            <a:r>
              <a:rPr lang="en-US" altLang="zh-CN"/>
              <a:t>263/313</a:t>
            </a:r>
            <a:r>
              <a:rPr lang="zh-CN" altLang="en-US"/>
              <a:t>）。径向坐标从 </a:t>
            </a:r>
            <a:r>
              <a:rPr lang="en-US" altLang="zh-CN"/>
              <a:t>30% </a:t>
            </a:r>
            <a:r>
              <a:rPr lang="zh-CN" altLang="en-US"/>
              <a:t>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1F444-262B-4C21-A659-9A0F4B3A053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76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 </a:t>
            </a:r>
            <a:r>
              <a:rPr lang="en-US" altLang="zh-CN"/>
              <a:t>6 | </a:t>
            </a:r>
            <a:r>
              <a:rPr lang="zh-CN" altLang="en-US"/>
              <a:t>真实受体条件下 </a:t>
            </a:r>
            <a:r>
              <a:rPr lang="en-US" altLang="zh-CN"/>
              <a:t>strongest-1 </a:t>
            </a:r>
            <a:r>
              <a:rPr lang="zh-CN" altLang="en-US"/>
              <a:t>的类别准确率与 </a:t>
            </a:r>
            <a:r>
              <a:rPr lang="en-US" altLang="zh-CN"/>
              <a:t>PDB </a:t>
            </a:r>
            <a:r>
              <a:rPr lang="zh-CN" altLang="en-US"/>
              <a:t>内身份数。横轴为每个 </a:t>
            </a:r>
            <a:r>
              <a:rPr lang="en-US" altLang="zh-CN"/>
              <a:t>PDB </a:t>
            </a:r>
            <a:r>
              <a:rPr lang="zh-CN" altLang="en-US"/>
              <a:t>的精确 </a:t>
            </a:r>
            <a:r>
              <a:rPr lang="en-US" altLang="zh-CN"/>
              <a:t>SMILES </a:t>
            </a:r>
            <a:r>
              <a:rPr lang="zh-CN" altLang="en-US"/>
              <a:t>去重数，五种及以上合并；纵轴为已选、真实前景且身份受支持候选的类别内正确率。各类别总支持数见图例；单身份 </a:t>
            </a:r>
            <a:r>
              <a:rPr lang="en-US" altLang="zh-CN"/>
              <a:t>PDB </a:t>
            </a:r>
            <a:r>
              <a:rPr lang="zh-CN" altLang="en-US"/>
              <a:t>中四类结果均为 </a:t>
            </a:r>
            <a:r>
              <a:rPr lang="en-US" altLang="zh-CN"/>
              <a:t>100%</a:t>
            </a:r>
            <a:r>
              <a:rPr lang="zh-CN" altLang="en-US"/>
              <a:t>。肽类只有一个候选，位于单身份 </a:t>
            </a:r>
            <a:r>
              <a:rPr lang="en-US" altLang="zh-CN"/>
              <a:t>PDB</a:t>
            </a:r>
            <a:r>
              <a:rPr lang="zh-CN" altLang="en-US"/>
              <a:t>，因此不形成连续曲线。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1F444-262B-4C21-A659-9A0F4B3A053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23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 </a:t>
            </a:r>
            <a:r>
              <a:rPr lang="en-US" altLang="zh-CN"/>
              <a:t>7 | CryoAtom2 </a:t>
            </a:r>
            <a:r>
              <a:rPr lang="zh-CN" altLang="en-US"/>
              <a:t>受体条件下 </a:t>
            </a:r>
            <a:r>
              <a:rPr lang="en-US" altLang="zh-CN"/>
              <a:t>strongest-1 </a:t>
            </a:r>
            <a:r>
              <a:rPr lang="zh-CN" altLang="en-US"/>
              <a:t>的类别准确率与 </a:t>
            </a:r>
            <a:r>
              <a:rPr lang="en-US" altLang="zh-CN"/>
              <a:t>PDB </a:t>
            </a:r>
            <a:r>
              <a:rPr lang="zh-CN" altLang="en-US"/>
              <a:t>内身份数。横轴和纵轴与图 </a:t>
            </a:r>
            <a:r>
              <a:rPr lang="en-US" altLang="zh-CN"/>
              <a:t>6 </a:t>
            </a:r>
            <a:r>
              <a:rPr lang="zh-CN" altLang="en-US"/>
              <a:t>相同；各类别总支持数见图例。单身份 </a:t>
            </a:r>
            <a:r>
              <a:rPr lang="en-US" altLang="zh-CN"/>
              <a:t>PDB </a:t>
            </a:r>
            <a:r>
              <a:rPr lang="zh-CN" altLang="en-US"/>
              <a:t>中四类结果均为 </a:t>
            </a:r>
            <a:r>
              <a:rPr lang="en-US" altLang="zh-CN"/>
              <a:t>100%</a:t>
            </a:r>
            <a:r>
              <a:rPr lang="zh-CN" altLang="en-US"/>
              <a:t>；肽类只有一个支持候选。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1F444-262B-4C21-A659-9A0F4B3A053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403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 </a:t>
            </a:r>
            <a:r>
              <a:rPr lang="en-US" altLang="zh-CN"/>
              <a:t>8 | </a:t>
            </a:r>
            <a:r>
              <a:rPr lang="zh-CN" altLang="en-US"/>
              <a:t>真实受体条件下的小分子已知位点比较。</a:t>
            </a:r>
            <a:r>
              <a:rPr lang="en-US" altLang="zh-CN"/>
              <a:t>84 </a:t>
            </a:r>
            <a:r>
              <a:rPr lang="zh-CN" altLang="en-US"/>
              <a:t>个 </a:t>
            </a:r>
            <a:r>
              <a:rPr lang="en-US" altLang="zh-CN"/>
              <a:t>PDB </a:t>
            </a:r>
            <a:r>
              <a:rPr lang="zh-CN" altLang="en-US"/>
              <a:t>提供 </a:t>
            </a:r>
            <a:r>
              <a:rPr lang="en-US" altLang="zh-CN"/>
              <a:t>357 </a:t>
            </a:r>
            <a:r>
              <a:rPr lang="zh-CN" altLang="en-US"/>
              <a:t>个真实位点，按 </a:t>
            </a:r>
            <a:r>
              <a:rPr lang="en-US" altLang="zh-CN"/>
              <a:t>PDB </a:t>
            </a:r>
            <a:r>
              <a:rPr lang="zh-CN" altLang="en-US"/>
              <a:t>内小分子精确 </a:t>
            </a:r>
            <a:r>
              <a:rPr lang="en-US" altLang="zh-CN"/>
              <a:t>SMILES </a:t>
            </a:r>
            <a:r>
              <a:rPr lang="zh-CN" altLang="en-US"/>
              <a:t>去重数分组；各组固定查询点数标于横轴。实线保留全部查询点，虚线仅纳入至少一个身份取得有效评分的位点。对于部分身份评分失败的位点，仍从其余有效分数中选择身份。</a:t>
            </a:r>
            <a:r>
              <a:rPr lang="en-US" altLang="zh-CN"/>
              <a:t>density_only-106 </a:t>
            </a:r>
            <a:r>
              <a:rPr lang="zh-CN" altLang="en-US"/>
              <a:t>在全部位点均有分数，因此蓝色实线与虚线重合。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1F444-262B-4C21-A659-9A0F4B3A053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977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 </a:t>
            </a:r>
            <a:r>
              <a:rPr lang="en-US" altLang="zh-CN"/>
              <a:t>9 | CryoAtom2 </a:t>
            </a:r>
            <a:r>
              <a:rPr lang="zh-CN" altLang="en-US"/>
              <a:t>受体条件下的小分子已知位点比较。查询点、</a:t>
            </a:r>
            <a:r>
              <a:rPr lang="en-US" altLang="zh-CN"/>
              <a:t>PDB </a:t>
            </a:r>
            <a:r>
              <a:rPr lang="zh-CN" altLang="en-US"/>
              <a:t>内候选 </a:t>
            </a:r>
            <a:r>
              <a:rPr lang="en-US" altLang="zh-CN"/>
              <a:t>SMILES </a:t>
            </a:r>
            <a:r>
              <a:rPr lang="zh-CN" altLang="en-US"/>
              <a:t>和分组均与图 </a:t>
            </a:r>
            <a:r>
              <a:rPr lang="en-US" altLang="zh-CN"/>
              <a:t>8 </a:t>
            </a:r>
            <a:r>
              <a:rPr lang="zh-CN" altLang="en-US"/>
              <a:t>相同。实线以每组全部位点为分母，虚线仅以至少一个身份取得有效评分的位点为分母；两种方法均以精确 </a:t>
            </a:r>
            <a:r>
              <a:rPr lang="en-US" altLang="zh-CN"/>
              <a:t>SMILES </a:t>
            </a:r>
            <a:r>
              <a:rPr lang="zh-CN" altLang="en-US"/>
              <a:t>的 </a:t>
            </a:r>
            <a:r>
              <a:rPr lang="en-US" altLang="zh-CN"/>
              <a:t>Top-1 </a:t>
            </a:r>
            <a:r>
              <a:rPr lang="zh-CN" altLang="en-US"/>
              <a:t>命中计分。各组固定查询点数标于横轴。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1F444-262B-4C21-A659-9A0F4B3A053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309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4888E-BD94-4D36-D675-D284625AF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A42938-8E2A-3CE9-6FBC-C2FF12E91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033FA6-5F88-9B18-6C98-F3AD3B2F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CD38A-F7D7-B6AA-866B-A08A9D23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79A6B-4649-31B0-BC81-9D7173E7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34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3C6AA-3B4B-6091-0078-67D69028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639517-D1B1-A204-6BE3-CDEE194D9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BFCCC6-71D8-8FC7-6346-18B4610B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4C8B70-05DF-596D-F922-0E4DE3D21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1274AB-AD68-6133-9672-9F69811C2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80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F1EFE-3923-C65A-4085-CB9826CE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6A66DC-C6C7-1CD0-7B8C-E2E19A167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1CB45F-0A76-3CCA-F004-B5F8169B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341DC6-3D38-3FB2-5752-7CD427D0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A54A4-FFD9-5A5E-3632-75B468B07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81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DAE97-0F05-9169-9649-D3B09A09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98717B-DA05-1DAA-D902-2AF793F1AD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6B5F4B-26F8-74B6-CB21-59D9F1368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530B16-87C4-7BC0-1957-2FA5BDB8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0C0BBD-C2CC-3F3B-4D9F-18F6C276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07641D-6236-6444-7EC9-7384E00B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50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E7EF4-5001-12DC-9FB9-6AF3602E0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9B3C8-FC93-5482-2081-CE8FC930C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6775DE-3373-FBE0-1218-9F4685B95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CD9A3D-B0AE-64F7-A53D-6BB415721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F137C9E-E68B-DA15-1545-5AE3DC11C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6530187-C9B1-5C04-8DEF-8FCA76D32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DD410A-B680-4283-F75F-4A15FB3A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BF3949-5DE9-A922-88F3-F221051B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3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A92C2-9171-047C-BC80-201216BD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52E3FE-7A81-4671-2CD6-D8E3ECB7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C4625A-0DEE-E491-B1D4-94807EA6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0EE668-BCCA-2131-3218-8F434315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121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BEB503-063D-788E-536D-2E9E9BEF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BB8DB0-13F5-46AE-C930-955CAD29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D55913-B65D-0F69-DB9D-A5E6F127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64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8877E-D42E-3F0E-21F0-0BADBF06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E44D1C-C25A-C3E2-C0A7-A1A9E63E0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E7B15C-6578-E670-4F60-01581F818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C6E7D6-D56C-49D9-6FDB-89DF7271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4A4846-D3A1-2BA6-0EB9-0108CEDB9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543BBF-C9E6-197C-AF84-4A8F0105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36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D8834-2193-C049-CDE8-0A7A4EEA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C6B6B5-887A-9267-3728-CF34DAAB2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47065-CE4E-BE5B-DFDA-37B06F5FE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3EA99A-52FB-3250-1153-A4C955BE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3EBE0B-EE03-0C61-B146-74854C588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56B4CF-4EC1-BFA2-E1C8-1F62315D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48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25E4A-31DA-173A-FC44-068525FA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39E0A2-6D5B-69AD-5047-D1E7C393D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66666-CD58-7F8F-8F46-624B4AA42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8BDCCB-70B8-3E95-12D9-4F2F3B68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E86CE-1126-BCC0-82F9-6AC2D54B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55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51372C-B41F-E07D-060A-1612DD8BC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FA3C23-749F-20DA-0718-8D2E51C18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5834E-D0C9-0E41-4AA7-61ED662D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D95D15-FD61-737F-EFE4-67C773BE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36B897-1E1C-98E7-8EED-367FB3FE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85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FE9DD6-C6AB-96F4-132C-03B639BC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7FFB8D-7FD6-E19E-0D3F-53C1AEE47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E3619F-A5E4-A19F-38BF-144CE22AE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F7AFE-0C47-4FE5-B0DA-9AED59C981ED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325F1-08DB-EE59-25F2-F30176BC4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FC5B65-F2E8-4715-B783-EA90B2FD4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D74E6-93DF-4480-9781-EE2605593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63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737D73BF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7A7DC3B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8AD95CCC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E9A2E92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C0AE2E7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7A96E76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65F14B-D265-E03A-89AA-106F536645D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731" y="127000"/>
            <a:ext cx="8188538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014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20062DC-7F69-0D5D-6552-92AA2704C20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378" y="127000"/>
            <a:ext cx="8509243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624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121C31-A1F0-5712-B413-BA5ACFB7E41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04" y="127000"/>
            <a:ext cx="11257392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008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1CE1AB6-AD8F-93E8-729D-442D797E0B1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95" y="127000"/>
            <a:ext cx="1125261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678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1413C0-7F23-2247-87C5-4072B56D418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38" y="127000"/>
            <a:ext cx="11694524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406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41CF1A-5823-CFC7-3149-4627E3CF8F1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61" y="127000"/>
            <a:ext cx="11689479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09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Microsoft Office PowerPoint</Application>
  <PresentationFormat>自定义</PresentationFormat>
  <Paragraphs>12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Hongen Peng</dc:creator>
  <cp:lastModifiedBy>Hongen Peng</cp:lastModifiedBy>
  <cp:revision>1</cp:revision>
  <dcterms:created xsi:type="dcterms:W3CDTF">2026-10-01T04:51:15Z</dcterms:created>
  <dcterms:modified xsi:type="dcterms:W3CDTF">2026-10-01T04:51:15Z</dcterms:modified>
</cp:coreProperties>
</file>