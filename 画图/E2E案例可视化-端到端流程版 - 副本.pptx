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59A7996B.xml" ContentType="application/vnd.ms-powerpoint.comments+xml"/>
  <Override PartName="/ppt/notesSlides/notesSlide2.xml" ContentType="application/vnd.openxmlformats-officedocument.presentationml.notesSlide+xml"/>
  <Override PartName="/ppt/comments/modernComment_101_82D3871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notesSlides/notesSlide3.xml" ContentType="application/vnd.openxmlformats-officedocument.presentationml.notesSlide+xml"/>
  <Override PartName="/ppt/comments/modernComment_102_31DFF6C0.xml" ContentType="application/vnd.ms-powerpoint.comments+xml"/>
  <Override PartName="/ppt/notesSlides/notesSlide4.xml" ContentType="application/vnd.openxmlformats-officedocument.presentationml.notesSlide+xml"/>
  <Override PartName="/ppt/comments/modernComment_103_51AA52D0.xml" ContentType="application/vnd.ms-powerpoint.comments+xml"/>
  <Override PartName="/ppt/notesSlides/notesSlide5.xml" ContentType="application/vnd.openxmlformats-officedocument.presentationml.notesSlide+xml"/>
  <Override PartName="/ppt/comments/modernComment_104_4211CE44.xml" ContentType="application/vnd.ms-powerpoint.comments+xml"/>
  <Override PartName="/ppt/notesSlides/notesSlide6.xml" ContentType="application/vnd.openxmlformats-officedocument.presentationml.notesSlide+xml"/>
  <Override PartName="/ppt/comments/modernComment_105_A872032.xml" ContentType="application/vnd.ms-powerpoint.comments+xml"/>
  <Override PartName="/ppt/notesSlides/notesSlide7.xml" ContentType="application/vnd.openxmlformats-officedocument.presentationml.notesSlide+xml"/>
  <Override PartName="/ppt/comments/modernComment_106_32340EF4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7145000" cy="18478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1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comments/modernComment_100_59A7996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D977CEB-EE05-44FE-91DB-CF44D66EA774}" authorId="{D3F71A66-0C34-DF1A-5236-FECDBC820DCB}" created="2026-10-03T12:47:56.486">
    <pc:sldMkLst xmlns:pc="http://schemas.microsoft.com/office/powerpoint/2013/main/command">
      <pc:docMk/>
      <pc:sldMk cId="1504156011" sldId="256"/>
    </pc:sldMkLst>
    <p188:pos x="0" y="0"/>
    <p188:txBody>
      <a:bodyPr/>
      <a:lstStyle/>
      <a:p>
        <a:r>
          <a:rPr lang="zh-CN" altLang="en-US"/>
          <a:t>@@e2e-flow-9bjj</a:t>
        </a:r>
      </a:p>
    </p188:txBody>
  </p188:cm>
  <p188:cm id="{3185D25D-541F-4FF6-8EDC-2C517E3A0821}" authorId="{D3F71A66-0C34-DF1A-5236-FECDBC820DCB}" created="2026-10-03T12:47:56.500">
    <pc:sldMkLst xmlns:pc="http://schemas.microsoft.com/office/powerpoint/2013/main/command">
      <pc:docMk/>
      <pc:sldMk cId="1504156011" sldId="256"/>
    </pc:sldMkLst>
    <p188:pos x="0" y="0"/>
    <p188:txBody>
      <a:bodyPr/>
      <a:lstStyle/>
      <a:p>
        <a:r>
          <a:rPr lang="zh-CN" altLang="en-US"/>
          <a:t>Frozen CA2 local-c1 self-ranking Top-1. Full server exp.npy, all original blobs and actual identity_smiles. 3D: native ChimeraX 1.10.1 CXC/CXS; 2D: RDKit 2026.03.6 SVG with graph/stereo audits. See 画图/画图代码/e2e_flow_20261003/README.md and 画图/formal/E2E_flow_20261003/&lt;pdb&gt;/data.json, geometry.json, camera.json, identities/identity_manifest.json. Native PPT labels, arrows, frames and independent PNG/SVG components remain editable. Original E2E案例可视化.pptx is preserved.</a:t>
        </a:r>
      </a:p>
    </p188:txBody>
  </p188:cm>
</p188:cmLst>
</file>

<file path=ppt/comments/modernComment_101_82D387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B70EBD7-FA61-4057-B457-7E7B93BA4D59}" authorId="{D3F71A66-0C34-DF1A-5236-FECDBC820DCB}" created="2026-10-03T12:47:56.958">
    <pc:sldMkLst xmlns:pc="http://schemas.microsoft.com/office/powerpoint/2013/main/command">
      <pc:docMk/>
      <pc:sldMk cId="137181297" sldId="257"/>
    </pc:sldMkLst>
    <p188:pos x="0" y="0"/>
    <p188:txBody>
      <a:bodyPr/>
      <a:lstStyle/>
      <a:p>
        <a:r>
          <a:rPr lang="zh-CN" altLang="en-US"/>
          <a:t>@@e2e-flow-30ga</a:t>
        </a:r>
      </a:p>
    </p188:txBody>
  </p188:cm>
  <p188:cm id="{E5C7884D-F22D-4C31-966C-646DC83A16E8}" authorId="{D3F71A66-0C34-DF1A-5236-FECDBC820DCB}" created="2026-10-03T12:47:56.960">
    <pc:sldMkLst xmlns:pc="http://schemas.microsoft.com/office/powerpoint/2013/main/command">
      <pc:docMk/>
      <pc:sldMk cId="137181297" sldId="257"/>
    </pc:sldMkLst>
    <p188:pos x="0" y="0"/>
    <p188:txBody>
      <a:bodyPr/>
      <a:lstStyle/>
      <a:p>
        <a:r>
          <a:rPr lang="zh-CN" altLang="en-US"/>
          <a:t>Frozen CA2 local-c1 self-ranking Top-1. Full server exp.npy, all original blobs and actual identity_smiles. 3D: native ChimeraX 1.10.1 CXC/CXS; 2D: RDKit 2026.03.6 SVG with graph/stereo audits. See 画图/画图代码/e2e_flow_20261003/README.md and 画图/formal/E2E_flow_20261003/&lt;pdb&gt;/data.json, geometry.json, camera.json, identities/identity_manifest.json. Native PPT labels, arrows, frames and independent PNG/SVG components remain editable. Original E2E案例可视化.pptx is preserved.</a:t>
        </a:r>
      </a:p>
    </p188:txBody>
  </p188:cm>
  <p188:cm id="{ACDD7742-9E16-47AD-ABC7-CA48AFEC3B75}" authorId="{D3F71A66-0C34-DF1A-5236-FECDBC820DCB}" created="2026-10-03T14:04:30.424">
    <pc:sldMkLst xmlns:pc="http://schemas.microsoft.com/office/powerpoint/2013/main/command">
      <pc:docMk/>
      <pc:sldMk cId="137181297" sldId="257"/>
    </pc:sldMkLst>
    <p188:txBody>
      <a:bodyPr/>
      <a:lstStyle/>
      <a:p>
        <a:r>
          <a:rPr lang="zh-CN" altLang="en-US"/>
          <a:t>1.我删掉了很多字段，因为我认为是冗余的。
2.我修改一些文字描述（比如，0-3后面对应的叙述），但是你可以稍微换换词语（我英语水平一般）。
3.图片的可以放大些，尽量铺满对应位置的大部分。但同时仍要保证尺寸、角度统一。
4.不要在1 Find的左侧图里标上"2”，似乎有别的区分方式，比如像我一样直接圈框，用框的颜色区分。
通用规则也要作用于其它的cases。</a:t>
        </a:r>
      </a:p>
    </p188:txBody>
  </p188:cm>
  <p188:cm id="{BEBF4A29-6BAD-4000-AB68-00CCFCC72D29}" authorId="{D3F71A66-0C34-DF1A-5236-FECDBC820DCB}" created="2026-10-03T14:06:46.040">
    <pc:sldMkLst xmlns:pc="http://schemas.microsoft.com/office/powerpoint/2013/main/command">
      <pc:docMk/>
      <pc:sldMk cId="137181297" sldId="257"/>
    </pc:sldMkLst>
    <p188:txBody>
      <a:bodyPr/>
      <a:lstStyle/>
      <a:p>
        <a:r>
          <a:rPr lang="zh-CN" altLang="en-US"/>
          <a:t>正文中，9LLG放到第一个例子。之后是30GA，9ARU。另外，提及"这三个例子从头到尾没有使用deposit receptor,只用CA2 receptor,在这个意义下是E2E的”</a:t>
        </a:r>
      </a:p>
    </p188:txBody>
  </p188:cm>
</p188:cmLst>
</file>

<file path=ppt/comments/modernComment_102_31DFF6C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D47980A-19EE-4CE5-9816-FC55C1AD4FAF}" authorId="{D3F71A66-0C34-DF1A-5236-FECDBC820DCB}" created="2026-10-03T12:47:57.237">
    <pc:sldMkLst xmlns:pc="http://schemas.microsoft.com/office/powerpoint/2013/main/command">
      <pc:docMk/>
      <pc:sldMk cId="836761280" sldId="258"/>
    </pc:sldMkLst>
    <p188:pos x="0" y="0"/>
    <p188:txBody>
      <a:bodyPr/>
      <a:lstStyle/>
      <a:p>
        <a:r>
          <a:rPr lang="zh-CN" altLang="en-US"/>
          <a:t>@@e2e-flow-9llg</a:t>
        </a:r>
      </a:p>
    </p188:txBody>
  </p188:cm>
  <p188:cm id="{CD788A38-B76A-471B-BAA0-FD4B9BDE185F}" authorId="{D3F71A66-0C34-DF1A-5236-FECDBC820DCB}" created="2026-10-03T12:47:57.239">
    <pc:sldMkLst xmlns:pc="http://schemas.microsoft.com/office/powerpoint/2013/main/command">
      <pc:docMk/>
      <pc:sldMk cId="836761280" sldId="258"/>
    </pc:sldMkLst>
    <p188:pos x="0" y="0"/>
    <p188:txBody>
      <a:bodyPr/>
      <a:lstStyle/>
      <a:p>
        <a:r>
          <a:rPr lang="zh-CN" altLang="en-US"/>
          <a:t>Frozen CA2 local-c1 self-ranking Top-1. Full server exp.npy, all original blobs and actual identity_smiles. 3D: native ChimeraX 1.10.1 CXC/CXS; 2D: RDKit 2026.03.6 SVG with graph/stereo audits. See 画图/画图代码/e2e_flow_20261003/README.md and 画图/formal/E2E_flow_20261003/&lt;pdb&gt;/data.json, geometry.json, camera.json, identities/identity_manifest.json. Native PPT labels, arrows, frames and independent PNG/SVG components remain editable. Original E2E案例可视化.pptx is preserved.</a:t>
        </a:r>
      </a:p>
    </p188:txBody>
  </p188:cm>
</p188:cmLst>
</file>

<file path=ppt/comments/modernComment_103_51AA52D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D399C93-815E-4E2B-B76F-2AEF7F0B3AC6}" authorId="{D3F71A66-0C34-DF1A-5236-FECDBC820DCB}" created="2026-10-03T12:47:57.538">
    <pc:sldMkLst xmlns:pc="http://schemas.microsoft.com/office/powerpoint/2013/main/command">
      <pc:docMk/>
      <pc:sldMk cId="1370116816" sldId="259"/>
    </pc:sldMkLst>
    <p188:pos x="0" y="0"/>
    <p188:txBody>
      <a:bodyPr/>
      <a:lstStyle/>
      <a:p>
        <a:r>
          <a:rPr lang="zh-CN" altLang="en-US"/>
          <a:t>@@e2e-flow-9qru</a:t>
        </a:r>
      </a:p>
    </p188:txBody>
  </p188:cm>
  <p188:cm id="{D995C40E-70EA-4071-9B94-53F4403DD12C}" authorId="{D3F71A66-0C34-DF1A-5236-FECDBC820DCB}" created="2026-10-03T12:47:57.540">
    <pc:sldMkLst xmlns:pc="http://schemas.microsoft.com/office/powerpoint/2013/main/command">
      <pc:docMk/>
      <pc:sldMk cId="1370116816" sldId="259"/>
    </pc:sldMkLst>
    <p188:pos x="0" y="0"/>
    <p188:txBody>
      <a:bodyPr/>
      <a:lstStyle/>
      <a:p>
        <a:r>
          <a:rPr lang="zh-CN" altLang="en-US"/>
          <a:t>Frozen CA2 local-c1 self-ranking Top-1. Full server exp.npy, all original blobs and actual identity_smiles. 3D: native ChimeraX 1.10.1 CXC/CXS; 2D: RDKit 2026.03.6 SVG with graph/stereo audits. See 画图/画图代码/e2e_flow_20261003/README.md and 画图/formal/E2E_flow_20261003/&lt;pdb&gt;/data.json, geometry.json, camera.json, identities/identity_manifest.json. Native PPT labels, arrows, frames and independent PNG/SVG components remain editable. Original E2E案例可视化.pptx is preserved.</a:t>
        </a:r>
      </a:p>
    </p188:txBody>
  </p188:cm>
</p188:cmLst>
</file>

<file path=ppt/comments/modernComment_104_4211CE4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26D02ED-E24B-4918-BD26-3DD49461EF9D}" authorId="{D3F71A66-0C34-DF1A-5236-FECDBC820DCB}" created="2026-10-03T12:47:57.810">
    <pc:sldMkLst xmlns:pc="http://schemas.microsoft.com/office/powerpoint/2013/main/command">
      <pc:docMk/>
      <pc:sldMk cId="1108463172" sldId="260"/>
    </pc:sldMkLst>
    <p188:pos x="0" y="0"/>
    <p188:txBody>
      <a:bodyPr/>
      <a:lstStyle/>
      <a:p>
        <a:r>
          <a:rPr lang="zh-CN" altLang="en-US"/>
          <a:t>@@e2e-flow-9rd8</a:t>
        </a:r>
      </a:p>
    </p188:txBody>
  </p188:cm>
  <p188:cm id="{16284E3A-4AEC-4A91-AF65-405F2835D5D8}" authorId="{D3F71A66-0C34-DF1A-5236-FECDBC820DCB}" created="2026-10-03T12:47:57.812">
    <pc:sldMkLst xmlns:pc="http://schemas.microsoft.com/office/powerpoint/2013/main/command">
      <pc:docMk/>
      <pc:sldMk cId="1108463172" sldId="260"/>
    </pc:sldMkLst>
    <p188:pos x="0" y="0"/>
    <p188:txBody>
      <a:bodyPr/>
      <a:lstStyle/>
      <a:p>
        <a:r>
          <a:rPr lang="zh-CN" altLang="en-US"/>
          <a:t>Frozen CA2 local-c1 self-ranking Top-1. Full server exp.npy, all original blobs and actual identity_smiles. 3D: native ChimeraX 1.10.1 CXC/CXS; 2D: RDKit 2026.03.6 SVG with graph/stereo audits. See 画图/画图代码/e2e_flow_20261003/README.md and 画图/formal/E2E_flow_20261003/&lt;pdb&gt;/data.json, geometry.json, camera.json, identities/identity_manifest.json. Native PPT labels, arrows, frames and independent PNG/SVG components remain editable. Original E2E案例可视化.pptx is preserved.</a:t>
        </a:r>
      </a:p>
    </p188:txBody>
  </p188:cm>
</p188:cmLst>
</file>

<file path=ppt/comments/modernComment_105_A87203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EA3CAC5-9CD7-4B26-8D00-E1CC117E89F0}" authorId="{D3F71A66-0C34-DF1A-5236-FECDBC820DCB}" created="2026-10-03T12:47:58.101">
    <pc:sldMkLst xmlns:pc="http://schemas.microsoft.com/office/powerpoint/2013/main/command">
      <pc:docMk/>
      <pc:sldMk cId="176627762" sldId="261"/>
    </pc:sldMkLst>
    <p188:pos x="0" y="0"/>
    <p188:txBody>
      <a:bodyPr/>
      <a:lstStyle/>
      <a:p>
        <a:r>
          <a:rPr lang="zh-CN" altLang="en-US"/>
          <a:t>@@e2e-flow-9wup</a:t>
        </a:r>
      </a:p>
    </p188:txBody>
  </p188:cm>
  <p188:cm id="{10A7B8B3-DA3C-4A7E-A63A-B5F96FCE5ADB}" authorId="{D3F71A66-0C34-DF1A-5236-FECDBC820DCB}" created="2026-10-03T12:47:58.102">
    <pc:sldMkLst xmlns:pc="http://schemas.microsoft.com/office/powerpoint/2013/main/command">
      <pc:docMk/>
      <pc:sldMk cId="176627762" sldId="261"/>
    </pc:sldMkLst>
    <p188:pos x="0" y="0"/>
    <p188:txBody>
      <a:bodyPr/>
      <a:lstStyle/>
      <a:p>
        <a:r>
          <a:rPr lang="zh-CN" altLang="en-US"/>
          <a:t>Frozen CA2 local-c1 self-ranking Top-1. Full server exp.npy, all original blobs and actual identity_smiles. 3D: native ChimeraX 1.10.1 CXC/CXS; 2D: RDKit 2026.03.6 SVG with graph/stereo audits. See 画图/画图代码/e2e_flow_20261003/README.md and 画图/formal/E2E_flow_20261003/&lt;pdb&gt;/data.json, geometry.json, camera.json, identities/identity_manifest.json. Native PPT labels, arrows, frames and independent PNG/SVG components remain editable. Original E2E案例可视化.pptx is preserved.</a:t>
        </a:r>
      </a:p>
    </p188:txBody>
  </p188:cm>
</p188:cmLst>
</file>

<file path=ppt/comments/modernComment_106_32340EF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B5A7B1F-CDF1-47DA-9B43-FAEB89005645}" authorId="{D3F71A66-0C34-DF1A-5236-FECDBC820DCB}" created="2026-10-03T12:47:58.407">
    <pc:sldMkLst xmlns:pc="http://schemas.microsoft.com/office/powerpoint/2013/main/command">
      <pc:docMk/>
      <pc:sldMk cId="842272500" sldId="262"/>
    </pc:sldMkLst>
    <p188:pos x="0" y="0"/>
    <p188:txBody>
      <a:bodyPr/>
      <a:lstStyle/>
      <a:p>
        <a:r>
          <a:rPr lang="zh-CN" altLang="en-US"/>
          <a:t>@@e2e-flow-9xzl</a:t>
        </a:r>
      </a:p>
    </p188:txBody>
  </p188:cm>
  <p188:cm id="{DB6F491F-3785-43CE-BBD0-DA0A8ADF6EAC}" authorId="{D3F71A66-0C34-DF1A-5236-FECDBC820DCB}" created="2026-10-03T12:47:58.408">
    <pc:sldMkLst xmlns:pc="http://schemas.microsoft.com/office/powerpoint/2013/main/command">
      <pc:docMk/>
      <pc:sldMk cId="842272500" sldId="262"/>
    </pc:sldMkLst>
    <p188:pos x="0" y="0"/>
    <p188:txBody>
      <a:bodyPr/>
      <a:lstStyle/>
      <a:p>
        <a:r>
          <a:rPr lang="zh-CN" altLang="en-US"/>
          <a:t>Frozen CA2 local-c1 self-ranking Top-1. Full server exp.npy, all original blobs and actual identity_smiles. 3D: native ChimeraX 1.10.1 CXC/CXS; 2D: RDKit 2026.03.6 SVG with graph/stereo audits. See 画图/画图代码/e2e_flow_20261003/README.md and 画图/formal/E2E_flow_20261003/&lt;pdb&gt;/data.json, geometry.json, camera.json, identities/identity_manifest.json. Native PPT labels, arrows, frames and independent PNG/SVG components remain editable. Original E2E案例可视化.pptx is preserved.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1:10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24575,'82'0'10,"500"4"-76,-3 27-652,-571-30 745,377 33-562,2-13-6212,-99 3 3118,-177-12 3909,167 1 8993,-92-15-6227,-38 0-3987,2038 2-424,-2109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1:12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549 1 24575,'20'1'0,"-1"1"0,1 1 0,0 0 0,-1 2 0,0 0 0,0 2 0,0 0 0,-1 1 0,0 0 0,-1 2 0,29 20 0,-10-4 0,-1 2 0,-2 2 0,-1 1 0,34 43 0,-20-13 0,46 78 0,-42-58 0,129 238 0,-106-147 0,-69-163 0,0-1 0,1 1 0,0-1 0,0 0 0,13 14 0,-1-1 0,-16-20 0,0 0 0,0 0 0,0 0 0,-1 0 0,1 0 0,-1 1 0,1-1 0,0 0 0,-1 0 0,0 0 0,1 1 0,-1-1 0,0 0 0,0 1 0,1-1 0,-1 0 0,0 0 0,-1 2 0,1-2 0,0 0 0,-1 0 0,1 0 0,-1 0 0,1-1 0,-1 1 0,1 0 0,-1 0 0,0-1 0,1 1 0,-1 0 0,0-1 0,0 1 0,1-1 0,-1 1 0,0-1 0,0 1 0,0-1 0,-1 1 0,-5 1 0,0 0 0,0-1 0,-1 1 0,1-1 0,-8-1 0,10 1 0,-97 4 0,-93 9 0,51 9 60,-263 75 0,-126 85-1545,473-161-5341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1:13.1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24575,'8'0'0,"10"0"0,9 0 0,9 0 0,5 0 0,4 0 0,2 0 0,0 0 0,0 0 0,0 0 0,0 0 0,-1 0 0,-8 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1:26.5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632 1 24575,'-31'0'0,"11"-1"0,1 1 0,0 1 0,0 1 0,-24 5 0,37-6 0,0 1 0,0 1 0,-1-1 0,1 1 0,1 0 0,-1 1 0,0-1 0,1 1 0,0 0 0,0 0 0,0 1 0,0 0 0,1 0 0,0 0 0,0 0 0,-5 9 0,-38 74 0,-66 172 0,37-75 0,49-119 0,17-38 0,-2-1 0,-1 0 0,-28 43 0,36-62 0,-1 0 0,1 1 0,0-1 0,1 1 0,0 0 0,0 0 0,1 0 0,0 1 0,1-1 0,0 1 0,0 0 0,1-1 0,0 1 0,1 0 0,0 0 0,0 0 0,1-1 0,1 1 0,0 0 0,5 15 0,-2-9 0,0-1 0,1 1 0,1-2 0,0 1 0,1-1 0,13 17 0,-14-22 0,0-1 0,1 0 0,0 0 0,0-1 0,1 0 0,0 0 0,0-1 0,1 0 0,0-1 0,12 6 0,-1-4 0,0-1 0,0-1 0,40 5 0,-3 0 0,99 18 351,211 18-7720,-296-42 6196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1:27.2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1:34.5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272 1 24575,'-1'80'-377,"-3"1"0,-17 94 1,-29 60-6503,-45 110 4947,72-256 1896,15-53 489,-17 48 0,24-83-251,1 0 0,0 1 0,-1-1 0,0 0 0,1 0 0,-1 0 0,0 0 0,1 0 0,-1 0 0,0 0 0,0 0 0,0 0 0,-1 1 0,1-2-161,1 0 0,-1 0 0,1 0 0,-1 0 1,1 0-1,-1 0 0,1 0 0,-1 0 0,1 0 0,-1 0 0,1 0 1,0 0-1,-1-1 0,1 1 0,-1 0 0,1 0 0,-1 0 0,1-1 1,0 1-1,-1 0 0,1-1 0,0 1 0,-1 0 0,1-1 0,0 1 1,-1 0-1,1-1 0,0 1 0,0-1 0,0 1 0,-1 0 1,1-1-1,0 1 0,0-1 0,0 1 0,0-1 0,-5-10 156,2-1 0,0 1-1,0 0 1,1-1 0,0 1 0,0-21-1,2 8 657,0 1-1,7-36 0,-3 38-770,2 0 0,1 0 0,0 1 0,1 0 0,1 1 0,1 0-1,1 1 1,1-1 0,0 2 0,1 0 0,20-20 0,19-14-178,113-85 1,-144 120 90,1-1 5,21-17 0,51-28 0,-81 54 0,0 1 0,0 0 0,1 1 0,0 1 0,0 0 0,0 1 0,1 0 0,28-2 0,-40 6 0,0 0 0,1 0 0,-1 0 0,0 0 0,0 1 0,0-1 0,0 1 0,1 0 0,-1 0 0,0 0 0,0 0 0,0 1 0,-1-1 0,1 1 0,0 0 0,0 0 0,-1 0 0,1 0 0,-1 0 0,0 1 0,0-1 0,0 0 0,0 1 0,0 0 0,0 0 0,-1-1 0,1 1 0,-1 0 0,0 0 0,0 0 0,1 4 0,2 10 0,-1 0 0,-1-1 0,0 1 0,-1 30 0,-1-29 0,-2 80 0,-19 120 0,18-173 0,7-32 0,4-12 0,10-18 0,17-26 0,-2-3 0,35-62 0,16-25 0,-78 124 0,1 1 0,0 0 0,0 1 0,1-1 0,0 2 0,17-12 0,-22 16 0,0 0 0,0 1 0,1-1 0,-1 1 0,0 0 0,1 0 0,-1 0 0,1 0 0,-1 1 0,7-1 0,-8 1 0,0 0 0,0 1 0,0-1 0,0 1 0,0-1 0,1 1 0,-2 0 0,1 0 0,0 0 0,0 0 0,0 0 0,0 0 0,-1 0 0,1 0 0,0 1 0,-1-1 0,1 1 0,-1 0 0,2 2 0,1 3-165,0 0 0,0 0 1,-1 1-1,0 0 0,0 0 0,-1 0 0,0 0 0,0 0 0,-1 0 0,0 0 0,0 10 1,-1 7-1061,-1 1 0,-6 37 0,-4-4 812,-3-1 1,-29 79-1,-57 110 585,87-218-237,-152 287 6332,129-253-5750,25-45-517,-2-1 0,0 0 0,-23 23 0,-6 7 0,36-40 0,0 0 0,0 0 0,-1-1 0,0 1 0,0-1 0,-1-1 0,0 0 0,0 0 0,0 0 0,0-1 0,-11 4 0,-5 3 0,-39 24 0,16-8 0,14-7-1365,7-2-5461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1:35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183 0 24575,'0'13'0,"-1"-1"0,0 0 0,0 0 0,-2 0 0,1 0 0,-1-1 0,-1 1 0,-7 15 0,-33 74 0,-22 55 0,54-124 0,2 2 0,-12 63 0,21-88 0,0 0 0,0 0 0,1-1 0,0 1 0,1 0 0,0 0 0,0-1 0,5 14 0,-6-19 0,1-1 0,0 1 0,1-1 0,-1 1 0,0-1 0,1 0 0,-1 1 0,1-1 0,0 0 0,0 0 0,-1 0 0,1 0 0,1-1 0,-1 1 0,0 0 0,0-1 0,1 0 0,-1 1 0,1-1 0,-1 0 0,1 0 0,-1 0 0,1-1 0,0 1 0,-1-1 0,1 1 0,0-1 0,-1 0 0,1 0 0,0 0 0,4-1 0,1 0 0,-1-1 0,1 1 0,-1-2 0,1 1 0,-1-1 0,0 0 0,0 0 0,0-1 0,0 0 0,-1 0 0,1-1 0,-1 1 0,0-2 0,-1 1 0,1 0 0,-1-1 0,7-10 0,3-7 0,0-1 0,-2 0 0,16-41 0,12-26 0,28-74 0,-66 159 0,-1 0 0,-1-1 0,1 1 0,-1-1 0,0 0 0,-1 1 0,0-12 0,0 15 0,0 1 0,-1-1 0,1 0 0,-1 1 0,0-1 0,0 1 0,0-1 0,0 1 0,0-1 0,-1 1 0,1-1 0,-1 1 0,1 0 0,-1 0 0,0 0 0,0 0 0,0 0 0,0 1 0,0-1 0,-4-2 0,-29-9-1365,0 7-5461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1:36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630 1 24575,'-11'0'0,"-1"0"0,1 1 0,0 0 0,-15 4 0,21-4 0,0 1 0,0 0 0,0 1 0,0-1 0,0 1 0,0 0 0,1 0 0,-1 1 0,1-1 0,-7 8 0,-6 10 0,0 1 0,2 1 0,0 0 0,2 1 0,-13 31 0,18-38 0,-28 65 0,-28 102 0,15-40 0,29-90 0,-80 231 0,-6 12-1365,92-251-5461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1:36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24575,'0'7'0,"0"19"0,0 27 0,0 21 0,0 28-9830,0 20 8340,0 20-665,0 9 2155,0-5 2065,0-21-2065,0-7 0,0-17 0,0-18 4493,0-15-4493,0-11 6718,0-8-6718,0-12-7992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1:37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47 24575,'7'0'0,"27"-8"0,22-2 0,9 0 0,2 3 0,-3 1 0,-5 2 0,-12 3-8191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1:37.9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202 0 24575,'-1'1'0,"-1"-1"0,1 0 0,0 1 0,-1-1 0,1 1 0,0 0 0,0-1 0,-1 1 0,1 0 0,0 0 0,0 0 0,0 0 0,0 0 0,0 0 0,0 0 0,0 0 0,0 0 0,1 0 0,-1 1 0,0-1 0,1 0 0,-1 0 0,1 1 0,-1-1 0,1 0 0,-1 1 0,1 1 0,-3 4 0,-41 114-7776,28-69 8024,2 1 0,2 0 0,-7 88 0,13 96 3689,2-44 43,-7-64-5113,3-56 1133,-14 90 0,16-137-114,-4 33 357,10-54-379,-1-1 0,1 1 0,1-1 0,-1 1 1,1 0-1,-1-1 0,1 1 0,1-1 1,-1 1-1,3 4 0,9 11-6690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1:38.5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1 188 24575,'0'-7'0,"7"-11"0,11-3 0,10-4 0,8-6 0,13 2 0,6 6 0,1 6 0,-1 8 0,-2 4 0,-2 3 0,-3 2 0,-1 1 0,-1 0 0,-9 1-8191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1:39.3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0 24575,'-1'19'0,"-1"0"0,-1 0 0,0-1 0,-7 22 0,1-7 0,1 9 0,2 0 0,1 0 0,2 0 0,2 0 0,6 54 0,-5-92 0,1 1 0,0 0 0,0 0 0,0-1 0,1 1 0,-1-1 0,1 1 0,0-1 0,0 0 0,1 0 0,-1 0 0,6 7 0,-5-9 0,-1 0 0,0 0 0,0 0 0,1 0 0,-1-1 0,1 1 0,0-1 0,-1 1 0,1-1 0,0 0 0,0 0 0,0 0 0,0-1 0,0 1 0,0-1 0,0 1 0,0-1 0,0 0 0,0 0 0,0-1 0,3 1 0,1-2 0,1 0 0,-1 0 0,0-1 0,0 0 0,0 0 0,0 0 0,-1-1 0,1 0 0,-1 0 0,0-1 0,0 0 0,0 0 0,-1 0 0,0-1 0,8-10 0,4-9 0,-1 0 0,20-45 0,-29 56 0,1-3 0,0 0 0,-2-1 0,0 0 0,-1 0 0,0 0 0,2-32 0,-6 43 0,0 1 0,-1-1 0,0 0 0,0 1 0,-1-1 0,0 1 0,0-1 0,-1 1 0,1-1 0,-1 1 0,-1 0 0,1-1 0,-1 1 0,0 1 0,-1-1 0,1 0 0,-1 1 0,0 0 0,-1-1 0,1 2 0,-10-9 0,-21-7-1365,0 6-5461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1:40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0 24575,'1'0'0,"0"1"0,1-1 0,-1 0 0,0 0 0,0 1 0,1-1 0,-1 1 0,0-1 0,0 1 0,0 0 0,0-1 0,0 1 0,0 0 0,0 0 0,0-1 0,0 1 0,0 0 0,-1 0 0,1 0 0,0 0 0,-1 0 0,1 0 0,0 1 0,-1-1 0,1 1 0,9 34 0,-5-4 0,-2-1 0,-1 1 0,-1 0 0,-2 0 0,-6 42 0,-40 157 0,30-160 0,7-17 0,-2 57 0,13-148 0,-2-4 0,3 0 0,1 1 0,3-1 0,12-49 0,-7 56 0,1 0 0,2 1 0,2 0 0,1 1 0,1 1 0,1 1 0,27-31 0,-42 56 0,10-13 0,0 0 0,2 2 0,-1 0 0,24-18 0,-35 31 0,0 0 0,1 1 0,-1-1 0,1 1 0,0 0 0,0 0 0,-1 0 0,1 1 0,1-1 0,7 0 0,-10 2 0,1 0 0,-1 0 0,0 1 0,1-1 0,-1 1 0,0 0 0,0 0 0,1 0 0,-1 0 0,0 0 0,0 1 0,0-1 0,0 1 0,-1 0 0,1 0 0,0 0 0,4 5 0,-1 0-291,0 0-1,-1 1 0,0-1 1,0 1-1,-1 0 1,0 0-1,-1 1 0,1-1 1,-1 1-1,-1 0 1,0 0-1,2 12 0,0 14-1478,-1 63 0,-3-85 2317,-4 250 527,0-16 4636,6-280-5937,2 0-1,12-52 0,-12 65-454,16-71-6144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1:40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0 235 24575,'1'-6'0,"-1"1"0,1 0 0,0-1 0,0 1 0,1 0 0,0-1 0,-1 1 0,6-8 0,24-37 0,-23 38 0,1-1 0,1-1 0,0 1 0,1 1 0,0 0 0,20-16 0,-28 25 0,0 1 0,0-1 0,1 1 0,-1 0 0,1 0 0,-1 0 0,1 1 0,0-1 0,-1 1 0,1 0 0,0 0 0,0 0 0,0 0 0,0 1 0,0 0 0,0 0 0,0 0 0,0 0 0,0 0 0,0 1 0,0 0 0,0 0 0,0 0 0,-1 0 0,1 1 0,0-1 0,-1 1 0,6 3 0,-1 1 0,0 1 0,-1-1 0,0 2 0,0-1 0,0 1 0,-1 0 0,5 9 0,36 67 0,-29-47 0,13 19 0,29 80 0,-51-111 0,-1 1 0,-2 0 0,0 0 0,-2 1 0,2 52 0,-7 9-1365,-1-50-5461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1:42.2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14 143 24575,'1'-7'0,"1"1"0,-1-1 0,1 1 0,0 0 0,1-1 0,0 1 0,0 0 0,0 0 0,0 1 0,1-1 0,6-7 0,-4 8 0,0-1 0,0 1 0,0 0 0,1 1 0,-1-1 0,1 1 0,0 1 0,1-1 0,-1 1 0,0 0 0,1 1 0,0 0 0,11-2 0,1 1 0,0 1 0,1 1 0,-1 0 0,23 4 0,-31-2 0,-1 1 0,0 0 0,1 1 0,-1 0 0,-1 1 0,1 1 0,0-1 0,-1 2 0,0-1 0,0 1 0,-1 1 0,0 0 0,0 0 0,0 1 0,-1 0 0,0 0 0,-1 1 0,0 0 0,0 0 0,-1 1 0,0 0 0,0 0 0,-1 1 0,5 15 0,8 34 0,17 108 0,-16-71 0,-9-41 0,-2-1 0,2 84 0,-10-109 0,-1 0 0,-2 0 0,-1 0 0,-1-1 0,-1 0 0,-14 39 0,10-45 0,-1-1 0,-1 0 0,-1-1 0,-1 0 0,-26 31 0,-94 85 0,110-113 0,-19 14 0,-57 39 0,56-44 0,-58 53 0,100-84 0,0 0 0,0 0 0,0 0 0,0 0 0,0 1 0,1-1 0,-1 0 0,1 1 0,0-1 0,0 1 0,0 0 0,-1 4 0,2-6 0,0 0 0,0 0 0,0 0 0,0 0 0,1 1 0,-1-1 0,0 0 0,1 0 0,-1 0 0,1 0 0,-1 0 0,1 0 0,-1 0 0,1 0 0,0 0 0,0 0 0,-1 0 0,1-1 0,0 1 0,0 0 0,0 0 0,0-1 0,0 1 0,0-1 0,0 1 0,0-1 0,0 1 0,0-1 0,0 1 0,0-1 0,1 0 0,-1 0 0,1 1 0,9 1 0,0-1 0,0 0 0,0 0 0,0-1 0,0-1 0,13-1 0,-7 0 0,55-4-1365,-4-1-5461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1:44.0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1083 47 24575,'-638'0'0,"609"-1"0,1-2 0,0-1 0,-34-10 0,29 6 0,-60-6 0,-39 11-1365,93 3-5461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1:46.9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452 135 24575,'-8'0'0,"-10"0"0,-9-8 0,-1-10 0,-3-2 0,-4 2 0,-4 5 0,-3 4 0,-2 3 0,7-4 0,1-1 0,0 2 0,-2 2 0,5 2-8191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3:30.2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3:58.269"/>
    </inkml:context>
    <inkml:brush xml:id="br0">
      <inkml:brushProperty name="width" value="0.035" units="cm"/>
      <inkml:brushProperty name="height" value="0.035" units="cm"/>
      <inkml:brushProperty name="color" value="#606060"/>
    </inkml:brush>
  </inkml:definitions>
  <inkml:trace contextRef="#ctx0" brushRef="#br0">19 0 24575,'0'8'0,"0"18"0,0 12 0,0 15 0,0 6 0,0 1 0,0 6 0,0-1 0,0 4 0,0 14 0,0 7 0,0 13-6784,0-5 6784,0 5 0,0-7 0,-8-13 0,-2-20-1407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3:58.690"/>
    </inkml:context>
    <inkml:brush xml:id="br0">
      <inkml:brushProperty name="width" value="0.035" units="cm"/>
      <inkml:brushProperty name="height" value="0.035" units="cm"/>
      <inkml:brushProperty name="color" value="#606060"/>
    </inkml:brush>
  </inkml:definitions>
  <inkml:trace contextRef="#ctx0" brushRef="#br0">1 0 24575,'0'8'0,"0"10"0,0 10 0,0 7 0,7 7 0,4 2 0,-1 11 0,-3 2 0,7 0 0,-1 6 0,-1 7 0,-3 0 0,-4-13-8191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3:59.109"/>
    </inkml:context>
    <inkml:brush xml:id="br0">
      <inkml:brushProperty name="width" value="0.035" units="cm"/>
      <inkml:brushProperty name="height" value="0.035" units="cm"/>
      <inkml:brushProperty name="color" value="#606060"/>
    </inkml:brush>
  </inkml:definitions>
  <inkml:trace contextRef="#ctx0" brushRef="#br0">0 0 24575,'0'8'0,"0"10"0,8 2 0,2 5 0,0 7 0,-2 5 0,5 4 0,1 2 0,5 3 0,0 8 0,-3 10 0,-5 18 0,-4-5-8191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3:59.484"/>
    </inkml:context>
    <inkml:brush xml:id="br0">
      <inkml:brushProperty name="width" value="0.035" units="cm"/>
      <inkml:brushProperty name="height" value="0.035" units="cm"/>
      <inkml:brushProperty name="color" value="#606060"/>
    </inkml:brush>
  </inkml:definitions>
  <inkml:trace contextRef="#ctx0" brushRef="#br0">0 1 24575,'0'7'0,"0"11"0,0 10 0,0 8 0,0 5 0,0 4 0,0 1 0,8 1 0,2 1 0,0 7 0,-2-6-8191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3:59.855"/>
    </inkml:context>
    <inkml:brush xml:id="br0">
      <inkml:brushProperty name="width" value="0.035" units="cm"/>
      <inkml:brushProperty name="height" value="0.035" units="cm"/>
      <inkml:brushProperty name="color" value="#606060"/>
    </inkml:brush>
  </inkml:definitions>
  <inkml:trace contextRef="#ctx0" brushRef="#br0">1 1 24575,'0'7'0,"0"11"0,0 10 0,7 8 0,4 5 0,-2 4 0,7-7 0,0 0 0,-3-1 0,-3 2 0,-4-6-8191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4:00.380"/>
    </inkml:context>
    <inkml:brush xml:id="br0">
      <inkml:brushProperty name="width" value="0.035" units="cm"/>
      <inkml:brushProperty name="height" value="0.035" units="cm"/>
      <inkml:brushProperty name="color" value="#606060"/>
    </inkml:brush>
  </inkml:definitions>
  <inkml:trace contextRef="#ctx0" brushRef="#br0">1 1 24575,'0'7'0,"0"11"0,8 10 0,2 8 0,0 13 0,-2 13 0,-3 5 0,-1-2 0,-2-4 0,6-13 0,2-6 0,0-3 0,-3-1 0,-2-6-8191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4:00.863"/>
    </inkml:context>
    <inkml:brush xml:id="br0">
      <inkml:brushProperty name="width" value="0.035" units="cm"/>
      <inkml:brushProperty name="height" value="0.035" units="cm"/>
      <inkml:brushProperty name="color" value="#606060"/>
    </inkml:brush>
  </inkml:definitions>
  <inkml:trace contextRef="#ctx0" brushRef="#br0">0 1 24575,'0'15'0,"0"14"0,0 8 0,8 14 0,2 6 0,0 1 0,-2-9-8191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4:25.420"/>
    </inkml:context>
    <inkml:brush xml:id="br0">
      <inkml:brushProperty name="width" value="0.035" units="cm"/>
      <inkml:brushProperty name="height" value="0.035" units="cm"/>
      <inkml:brushProperty name="color" value="#606060"/>
    </inkml:brush>
  </inkml:definitions>
  <inkml:trace contextRef="#ctx0" brushRef="#br0">0 1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59:53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 24575,'0'9'0,"1"0"0,1 0 0,-1 0 0,5 10 0,2 16 0,22 329 0,-31 8 0,-1-151 0,1-124 0,4 121 0,0-193 0,2 0 0,7 24 0,-5-24 0,5 40 0,-8-12 0,-3-26 0,6 34 0,-6-54 0,1 0 0,0 0 0,0 0 0,0 0 0,1 0 0,0 0 0,1-1 0,-1 1 0,7 7 0,-6-10 0,0 0 0,0 0 0,0 0 0,1-1 0,-1 0 0,1 0 0,0 0 0,0-1 0,0 0 0,0 0 0,0 0 0,0 0 0,7 1 0,10 0 0,0 0 0,22 0 0,-25-2 0,499 2-10116,-323-7 8861,1187 0 1021,-1236 4 215,-124 0-56,-4 1 821,-1-1 0,1-1 0,0 0 0,26-7 0,-41 7-510,0 0 0,0-1 1,1 1-1,-2-1 1,1 1-1,0-1 0,0 0 1,0 0-1,-1 0 1,1-1-1,-1 1 0,0-1 1,0 1-1,0-1 0,0 0 1,0 0-1,0 0 1,-1 0-1,0 0 0,1 0 1,-1 0-1,0 0 0,0 0 1,0-5-1,1-7 211,0-1 0,-2 1 0,0 0 0,-1-16-1,0 12-733,-7-145 354,-6-251-1151,14 311-3506,1 0 1638,-20-170 0,-6 27 6887,21 83 2624,4 150-6045,1 3-344,-1-1 1,-1 1-1,-4-22 1,5 29-175,-1 1 1,-1 0-1,1-1 0,0 1 1,-1 0-1,0 0 0,1 0 1,-1 0-1,-1 0 0,1 0 1,0 1-1,-1-1 0,1 1 1,-1-1-1,0 1 1,0 0-1,-3-2 0,-3-1 4,-1 1 0,0-1 0,-1 2 0,1-1 0,0 2 0,-1-1 0,-11 0 0,-81-3 0,88 6 0,-95-2 0,-192-7 0,-331-16 37,-2 25-210,257 2-1056,340-2-5597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4:00:16.53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0 24092,'0'1706'0,"1706"-1706"0,-1706-1706 0,-1706 1706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4:03:30.91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24575,'1'21'0,"1"-1"0,1 1 0,1-1 0,0 0 0,2 0 0,10 25 0,-1-9 0,-1 2 0,11 49 0,-15-49 0,-4-18 0,1 0 0,2-1 0,-1 0 0,2 0 0,1-1 0,0 0 0,18 22 0,-5-10 0,-13-13 0,2-1 0,0-1 0,26 24 0,-16-20 0,-9-9 0,-1 1 0,0 1 0,-1 0 0,13 16 0,-13-12 0,25 22 0,-25-26 0,1 1 0,-2 0 0,11 15 0,37 73-1365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 12｜9BJJ 的完整重建流程。首位 ATP(B:901) 依次完成区域检出、身份匹配和构象重建。 a–c，完整实验密度、CryoAtom2 受体及 GT 受体参考。d，全部 15 个预测 blob 的全局分布；e、f，GT 邻域与 Find 局部对照，每对朝向和尺度一致。g，原顺序的全部 3 个 SMILES 身份，2 个合格小分子参与匹配，蓝框标出精确匹配项。h–j，同一 local_cov-C 自评分首位姿态的受体、密度和沉积构象叠加视图，重原子 RMSD 0.80 Å。受体绿色，密度灰色，目标 blob 橙色，背景灰紫色，预测构象蓝色，沉积构象青绿色。所示目标位点生成 50 个姿态，每姿态 100 步采样；GT 仅供参考及最终评价。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 13｜30GA 的完整重建流程。首位背景消耗一次尝试，未进入 Match 或 Build；第二位 ATP(N:401) 完成重建。 a–c，完整实验密度、CryoAtom2 受体及 GT 受体参考。d，全部 19 个预测 blob 的全局分布；e、f，GT 邻域与 Find 局部对照，每对朝向和尺度一致。g，原顺序的全部 2 个 SMILES 身份，1 个合格小分子参与匹配，蓝框标出精确匹配项。h–j，同一 local_cov-C 自评分首位姿态的受体、密度和沉积构象叠加视图，重原子 RMSD 1.04 Å。受体绿色，密度灰色，目标 blob 橙色，背景灰紫色，预测构象蓝色，沉积构象青绿色。所示目标位点生成 50 个姿态，每姿态 100 步采样；GT 仅供参考及最终评价。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 14｜9LLG 的完整重建流程。首位 A1EKL(R:602) 依次完成区域检出、身份匹配和构象重建。 a–c，完整实验密度、CryoAtom2 受体及 GT 受体参考。d，全部 3 个预测 blob 的全局分布；e、f，GT 邻域与 Find 局部对照，每对朝向和尺度一致。g，原顺序的全部 3 个 SMILES 身份，3 个合格小分子参与匹配，蓝框标出精确匹配项。h–j，同一 local_cov-C 自评分首位姿态的受体、密度和沉积构象叠加视图，重原子 RMSD 0.88 Å。受体绿色，密度灰色，目标 blob 橙色，背景灰紫色，预测构象蓝色，沉积构象青绿色。所示目标位点生成 50 个姿态，每姿态 100 步采样；GT 仅供参考及最终评价。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 15｜9QRU 的完整重建流程。首位背景消耗一次尝试，未进入 Match 或 Build；第二位 A1JAX(B:2801) 完成重建。 a–c，完整实验密度、CryoAtom2 受体及 GT 受体参考。d，全部 4 个预测 blob 的全局分布；e、f，GT 邻域与 Find 局部对照，每对朝向和尺度一致。g，原顺序的全部 3 个 SMILES 身份，2 个合格小分子参与匹配，蓝框标出精确匹配项。h–j，同一 local_cov-C 自评分首位姿态的受体、密度和沉积构象叠加视图，重原子 RMSD 0.63 Å。受体绿色，密度灰色，目标 blob 橙色，背景灰紫色，预测构象蓝色，沉积构象青绿色。所示目标位点生成 50 个姿态，每姿态 100 步采样；GT 仅供参考及最终评价。 该候选原入选标记为 false，仍按完整顺序评价。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备选图｜9RD8 的完整重建流程。首位 BCT(A:902) 依次完成区域检出、身份匹配和构象重建。 a–c，完整实验密度、CryoAtom2 受体及 GT 受体参考。d，全部 5 个预测 blob 的全局分布；e、f，GT 邻域与 Find 局部对照，每对朝向和尺度一致。g，原顺序的全部 4 个 SMILES 身份，3 个合格小分子参与匹配，蓝框标出精确匹配项。h–j，同一 local_cov-C 自评分首位姿态的受体、密度和沉积构象叠加视图，重原子 RMSD 0.96 Å。受体绿色，密度灰色，目标 blob 橙色，背景灰紫色，预测构象蓝色，沉积构象青绿色。所示目标位点生成 50 个姿态，每姿态 100 步采样；GT 仅供参考及最终评价。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备选图｜9WUP 的完整重建流程。前 2 位前景经 Stage3 范围门禁免费跳过，第 3 位 FMN(B:1103) 为首个计费候选。 a–c，完整实验密度、CryoAtom2 受体及 GT 受体参考。d，全部 7 个预测 blob 的全局分布；e、f，GT 邻域与 Find 局部对照，每对朝向和尺度一致。g，原顺序的全部 4 个 SMILES 身份，4 个合格小分子参与匹配，蓝框标出精确匹配项。h–j，同一 local_cov-C 自评分首位姿态的受体、密度和沉积构象叠加视图，重原子 RMSD 0.52 Å。受体绿色，密度灰色，目标 blob 橙色，背景灰紫色，预测构象蓝色，沉积构象青绿色。所示目标位点生成 50 个姿态，每姿态 100 步采样；GT 仅供参考及最终评价。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备选图｜9XZL 的完整重建流程。前 1 位前景经 Stage3 范围门禁免费跳过，第 2 位 AGS(F:1001) 为首个计费候选。 a–c，完整实验密度、CryoAtom2 受体及 GT 受体参考。d，全部 3 个预测 blob 的全局分布；e、f，GT 邻域与 Find 局部对照，每对朝向和尺度一致。g，原顺序的全部 3 个 SMILES 身份，1 个合格小分子参与匹配，蓝框标出精确匹配项。h–j，同一 local_cov-C 自评分首位姿态的受体、密度和沉积构象叠加视图，重原子 RMSD 0.91 Å。受体绿色，密度灰色，目标 blob 橙色，背景灰紫色，预测构象蓝色，沉积构象青绿色。所示目标位点生成 50 个姿态，每姿态 100 步采样；GT 仅供参考及最终评价。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microsoft.com/office/2018/10/relationships/comments" Target="../comments/modernComment_100_59A7996B.xml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sv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8.png"/><Relationship Id="rId21" Type="http://schemas.openxmlformats.org/officeDocument/2006/relationships/customXml" Target="../ink/ink3.xml"/><Relationship Id="rId42" Type="http://schemas.openxmlformats.org/officeDocument/2006/relationships/image" Target="../media/image36.png"/><Relationship Id="rId47" Type="http://schemas.openxmlformats.org/officeDocument/2006/relationships/customXml" Target="../ink/ink16.xml"/><Relationship Id="rId63" Type="http://schemas.openxmlformats.org/officeDocument/2006/relationships/image" Target="../media/image46.png"/><Relationship Id="rId68" Type="http://schemas.openxmlformats.org/officeDocument/2006/relationships/customXml" Target="../ink/ink27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png"/><Relationship Id="rId29" Type="http://schemas.openxmlformats.org/officeDocument/2006/relationships/customXml" Target="../ink/ink7.xml"/><Relationship Id="rId11" Type="http://schemas.openxmlformats.org/officeDocument/2006/relationships/image" Target="../media/image20.png"/><Relationship Id="rId24" Type="http://schemas.openxmlformats.org/officeDocument/2006/relationships/image" Target="../media/image27.png"/><Relationship Id="rId32" Type="http://schemas.openxmlformats.org/officeDocument/2006/relationships/image" Target="../media/image31.png"/><Relationship Id="rId37" Type="http://schemas.openxmlformats.org/officeDocument/2006/relationships/customXml" Target="../ink/ink11.xml"/><Relationship Id="rId40" Type="http://schemas.openxmlformats.org/officeDocument/2006/relationships/image" Target="../media/image35.png"/><Relationship Id="rId45" Type="http://schemas.openxmlformats.org/officeDocument/2006/relationships/customXml" Target="../ink/ink15.xml"/><Relationship Id="rId53" Type="http://schemas.openxmlformats.org/officeDocument/2006/relationships/customXml" Target="../ink/ink19.xml"/><Relationship Id="rId58" Type="http://schemas.openxmlformats.org/officeDocument/2006/relationships/customXml" Target="../ink/ink22.xml"/><Relationship Id="rId66" Type="http://schemas.openxmlformats.org/officeDocument/2006/relationships/customXml" Target="../ink/ink26.xml"/><Relationship Id="rId74" Type="http://schemas.openxmlformats.org/officeDocument/2006/relationships/customXml" Target="../ink/ink30.xml"/><Relationship Id="rId5" Type="http://schemas.openxmlformats.org/officeDocument/2006/relationships/image" Target="../media/image14.png"/><Relationship Id="rId61" Type="http://schemas.openxmlformats.org/officeDocument/2006/relationships/image" Target="../media/image45.png"/><Relationship Id="rId19" Type="http://schemas.openxmlformats.org/officeDocument/2006/relationships/customXml" Target="../ink/ink2.xml"/><Relationship Id="rId14" Type="http://schemas.openxmlformats.org/officeDocument/2006/relationships/image" Target="../media/image21.png"/><Relationship Id="rId22" Type="http://schemas.openxmlformats.org/officeDocument/2006/relationships/image" Target="../media/image26.png"/><Relationship Id="rId27" Type="http://schemas.openxmlformats.org/officeDocument/2006/relationships/customXml" Target="../ink/ink6.xml"/><Relationship Id="rId30" Type="http://schemas.openxmlformats.org/officeDocument/2006/relationships/image" Target="../media/image30.png"/><Relationship Id="rId35" Type="http://schemas.openxmlformats.org/officeDocument/2006/relationships/customXml" Target="../ink/ink10.xml"/><Relationship Id="rId43" Type="http://schemas.openxmlformats.org/officeDocument/2006/relationships/customXml" Target="../ink/ink14.xml"/><Relationship Id="rId48" Type="http://schemas.openxmlformats.org/officeDocument/2006/relationships/image" Target="../media/image39.png"/><Relationship Id="rId56" Type="http://schemas.openxmlformats.org/officeDocument/2006/relationships/customXml" Target="../ink/ink21.xml"/><Relationship Id="rId64" Type="http://schemas.openxmlformats.org/officeDocument/2006/relationships/customXml" Target="../ink/ink25.xml"/><Relationship Id="rId69" Type="http://schemas.openxmlformats.org/officeDocument/2006/relationships/image" Target="../media/image49.png"/><Relationship Id="rId8" Type="http://schemas.openxmlformats.org/officeDocument/2006/relationships/image" Target="../media/image17.png"/><Relationship Id="rId51" Type="http://schemas.openxmlformats.org/officeDocument/2006/relationships/customXml" Target="../ink/ink18.xml"/><Relationship Id="rId72" Type="http://schemas.openxmlformats.org/officeDocument/2006/relationships/customXml" Target="../ink/ink29.xml"/><Relationship Id="rId3" Type="http://schemas.microsoft.com/office/2018/10/relationships/comments" Target="../comments/modernComment_101_82D3871.xml"/><Relationship Id="rId12" Type="http://schemas.openxmlformats.org/officeDocument/2006/relationships/image" Target="../media/image7.svg"/><Relationship Id="rId17" Type="http://schemas.openxmlformats.org/officeDocument/2006/relationships/customXml" Target="../ink/ink1.xml"/><Relationship Id="rId25" Type="http://schemas.openxmlformats.org/officeDocument/2006/relationships/customXml" Target="../ink/ink5.xml"/><Relationship Id="rId33" Type="http://schemas.openxmlformats.org/officeDocument/2006/relationships/customXml" Target="../ink/ink9.xml"/><Relationship Id="rId38" Type="http://schemas.openxmlformats.org/officeDocument/2006/relationships/image" Target="../media/image34.png"/><Relationship Id="rId46" Type="http://schemas.openxmlformats.org/officeDocument/2006/relationships/image" Target="../media/image38.png"/><Relationship Id="rId59" Type="http://schemas.openxmlformats.org/officeDocument/2006/relationships/image" Target="../media/image44.png"/><Relationship Id="rId67" Type="http://schemas.openxmlformats.org/officeDocument/2006/relationships/image" Target="../media/image48.png"/><Relationship Id="rId20" Type="http://schemas.openxmlformats.org/officeDocument/2006/relationships/image" Target="../media/image25.png"/><Relationship Id="rId41" Type="http://schemas.openxmlformats.org/officeDocument/2006/relationships/customXml" Target="../ink/ink13.xml"/><Relationship Id="rId54" Type="http://schemas.openxmlformats.org/officeDocument/2006/relationships/customXml" Target="../ink/ink20.xml"/><Relationship Id="rId62" Type="http://schemas.openxmlformats.org/officeDocument/2006/relationships/customXml" Target="../ink/ink24.xml"/><Relationship Id="rId70" Type="http://schemas.openxmlformats.org/officeDocument/2006/relationships/customXml" Target="../ink/ink28.xml"/><Relationship Id="rId75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5" Type="http://schemas.openxmlformats.org/officeDocument/2006/relationships/image" Target="../media/image22.png"/><Relationship Id="rId23" Type="http://schemas.openxmlformats.org/officeDocument/2006/relationships/customXml" Target="../ink/ink4.xml"/><Relationship Id="rId28" Type="http://schemas.openxmlformats.org/officeDocument/2006/relationships/image" Target="../media/image29.png"/><Relationship Id="rId36" Type="http://schemas.openxmlformats.org/officeDocument/2006/relationships/image" Target="../media/image33.png"/><Relationship Id="rId49" Type="http://schemas.openxmlformats.org/officeDocument/2006/relationships/customXml" Target="../ink/ink17.xml"/><Relationship Id="rId57" Type="http://schemas.openxmlformats.org/officeDocument/2006/relationships/image" Target="../media/image43.png"/><Relationship Id="rId10" Type="http://schemas.openxmlformats.org/officeDocument/2006/relationships/image" Target="../media/image19.png"/><Relationship Id="rId31" Type="http://schemas.openxmlformats.org/officeDocument/2006/relationships/customXml" Target="../ink/ink8.xml"/><Relationship Id="rId44" Type="http://schemas.openxmlformats.org/officeDocument/2006/relationships/image" Target="../media/image37.png"/><Relationship Id="rId52" Type="http://schemas.openxmlformats.org/officeDocument/2006/relationships/image" Target="../media/image41.png"/><Relationship Id="rId60" Type="http://schemas.openxmlformats.org/officeDocument/2006/relationships/customXml" Target="../ink/ink23.xml"/><Relationship Id="rId65" Type="http://schemas.openxmlformats.org/officeDocument/2006/relationships/image" Target="../media/image47.png"/><Relationship Id="rId73" Type="http://schemas.openxmlformats.org/officeDocument/2006/relationships/image" Target="../media/image51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3" Type="http://schemas.openxmlformats.org/officeDocument/2006/relationships/image" Target="../media/image9.svg"/><Relationship Id="rId18" Type="http://schemas.openxmlformats.org/officeDocument/2006/relationships/image" Target="../media/image24.png"/><Relationship Id="rId39" Type="http://schemas.openxmlformats.org/officeDocument/2006/relationships/customXml" Target="../ink/ink12.xml"/><Relationship Id="rId34" Type="http://schemas.openxmlformats.org/officeDocument/2006/relationships/image" Target="../media/image32.png"/><Relationship Id="rId50" Type="http://schemas.openxmlformats.org/officeDocument/2006/relationships/image" Target="../media/image40.png"/><Relationship Id="rId55" Type="http://schemas.openxmlformats.org/officeDocument/2006/relationships/image" Target="../media/image42.png"/><Relationship Id="rId7" Type="http://schemas.openxmlformats.org/officeDocument/2006/relationships/image" Target="../media/image16.png"/><Relationship Id="rId71" Type="http://schemas.openxmlformats.org/officeDocument/2006/relationships/image" Target="../media/image5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microsoft.com/office/2018/10/relationships/comments" Target="../comments/modernComment_102_31DFF6C0.xml"/><Relationship Id="rId7" Type="http://schemas.openxmlformats.org/officeDocument/2006/relationships/image" Target="../media/image56.png"/><Relationship Id="rId12" Type="http://schemas.openxmlformats.org/officeDocument/2006/relationships/image" Target="../media/image6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sv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sv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59.svg"/><Relationship Id="rId3" Type="http://schemas.microsoft.com/office/2018/10/relationships/comments" Target="../comments/modernComment_103_51AA52D0.xml"/><Relationship Id="rId7" Type="http://schemas.openxmlformats.org/officeDocument/2006/relationships/image" Target="../media/image68.png"/><Relationship Id="rId12" Type="http://schemas.openxmlformats.org/officeDocument/2006/relationships/image" Target="../media/image73.svg"/><Relationship Id="rId17" Type="http://schemas.openxmlformats.org/officeDocument/2006/relationships/image" Target="../media/image7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5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74.svg"/><Relationship Id="rId3" Type="http://schemas.microsoft.com/office/2018/10/relationships/comments" Target="../comments/modernComment_104_4211CE44.xml"/><Relationship Id="rId7" Type="http://schemas.openxmlformats.org/officeDocument/2006/relationships/image" Target="../media/image81.png"/><Relationship Id="rId12" Type="http://schemas.openxmlformats.org/officeDocument/2006/relationships/image" Target="../media/image86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85.svg"/><Relationship Id="rId5" Type="http://schemas.openxmlformats.org/officeDocument/2006/relationships/image" Target="../media/image79.png"/><Relationship Id="rId15" Type="http://schemas.openxmlformats.org/officeDocument/2006/relationships/image" Target="../media/image88.png"/><Relationship Id="rId10" Type="http://schemas.openxmlformats.org/officeDocument/2006/relationships/image" Target="../media/image84.sv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svg"/><Relationship Id="rId3" Type="http://schemas.microsoft.com/office/2018/10/relationships/comments" Target="../comments/modernComment_105_A872032.xml"/><Relationship Id="rId7" Type="http://schemas.openxmlformats.org/officeDocument/2006/relationships/image" Target="../media/image93.png"/><Relationship Id="rId12" Type="http://schemas.openxmlformats.org/officeDocument/2006/relationships/image" Target="../media/image98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7.sv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10" Type="http://schemas.openxmlformats.org/officeDocument/2006/relationships/image" Target="../media/image96.sv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0.png"/><Relationship Id="rId3" Type="http://schemas.microsoft.com/office/2018/10/relationships/comments" Target="../comments/modernComment_106_32340EF4.xml"/><Relationship Id="rId7" Type="http://schemas.openxmlformats.org/officeDocument/2006/relationships/image" Target="../media/image106.png"/><Relationship Id="rId12" Type="http://schemas.openxmlformats.org/officeDocument/2006/relationships/image" Target="../media/image7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11" Type="http://schemas.openxmlformats.org/officeDocument/2006/relationships/image" Target="../media/image9.svg"/><Relationship Id="rId5" Type="http://schemas.openxmlformats.org/officeDocument/2006/relationships/image" Target="../media/image104.png"/><Relationship Id="rId15" Type="http://schemas.openxmlformats.org/officeDocument/2006/relationships/image" Target="../media/image112.png"/><Relationship Id="rId10" Type="http://schemas.openxmlformats.org/officeDocument/2006/relationships/image" Target="../media/image109.sv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 80">
            <a:extLst>
              <a:ext uri="{FF2B5EF4-FFF2-40B4-BE49-F238E27FC236}">
                <a16:creationId xmlns:a16="http://schemas.microsoft.com/office/drawing/2014/main" id="{C435749B-2829-487D-8926-2DDD0A658AD0}"/>
              </a:ext>
            </a:extLst>
          </p:cNvPr>
          <p:cNvSpPr>
            <a:spLocks noGrp="1"/>
          </p:cNvSpPr>
          <p:nvPr/>
        </p:nvSpPr>
        <p:spPr>
          <a:xfrm>
            <a:off x="1238250" y="209550"/>
            <a:ext cx="1466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9BJJ  ATP (B:901)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BAEABB-CB2A-4B7D-9DB5-7592BEB2E566}"/>
              </a:ext>
            </a:extLst>
          </p:cNvPr>
          <p:cNvSpPr>
            <a:spLocks noGrp="1"/>
          </p:cNvSpPr>
          <p:nvPr/>
        </p:nvSpPr>
        <p:spPr>
          <a:xfrm>
            <a:off x="1238250" y="809625"/>
            <a:ext cx="1504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The first-ranked site completes identity matching and pose reconstruction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FC6EB7E6-0B80-49BE-94E3-39CE2CFED8AA}"/>
              </a:ext>
            </a:extLst>
          </p:cNvPr>
          <p:cNvSpPr>
            <a:spLocks noGrp="1"/>
          </p:cNvSpPr>
          <p:nvPr/>
        </p:nvSpPr>
        <p:spPr>
          <a:xfrm>
            <a:off x="600075" y="1857375"/>
            <a:ext cx="953" cy="3152775"/>
          </a:xfrm>
          <a:custGeom>
            <a:avLst/>
            <a:gdLst/>
            <a:ahLst/>
            <a:cxnLst/>
            <a:rect l="0" t="0" r="0" b="0"/>
            <a:pathLst>
              <a:path w="953" h="3152775">
                <a:moveTo>
                  <a:pt x="0" y="0"/>
                </a:moveTo>
                <a:lnTo>
                  <a:pt x="0" y="31527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2805E5B1-FEA9-4D91-8A2A-C10E87968E9B}"/>
              </a:ext>
            </a:extLst>
          </p:cNvPr>
          <p:cNvSpPr>
            <a:spLocks noGrp="1"/>
          </p:cNvSpPr>
          <p:nvPr/>
        </p:nvSpPr>
        <p:spPr>
          <a:xfrm>
            <a:off x="533400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4B63BDD5-9F7C-4BF1-BF77-27F0DD852F3E}"/>
              </a:ext>
            </a:extLst>
          </p:cNvPr>
          <p:cNvSpPr>
            <a:spLocks noGrp="1"/>
          </p:cNvSpPr>
          <p:nvPr/>
        </p:nvSpPr>
        <p:spPr>
          <a:xfrm>
            <a:off x="600075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AD6AB91-65A3-4A96-81DA-AD7B514CF68A}"/>
              </a:ext>
            </a:extLst>
          </p:cNvPr>
          <p:cNvSpPr>
            <a:spLocks noGrp="1"/>
          </p:cNvSpPr>
          <p:nvPr/>
        </p:nvSpPr>
        <p:spPr>
          <a:xfrm>
            <a:off x="600075" y="5695950"/>
            <a:ext cx="953" cy="4410075"/>
          </a:xfrm>
          <a:custGeom>
            <a:avLst/>
            <a:gdLst/>
            <a:ahLst/>
            <a:cxnLst/>
            <a:rect l="0" t="0" r="0" b="0"/>
            <a:pathLst>
              <a:path w="953" h="4410075">
                <a:moveTo>
                  <a:pt x="0" y="0"/>
                </a:moveTo>
                <a:lnTo>
                  <a:pt x="0" y="44100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6BABB793-DFB4-4979-86DF-B0F9693CF16E}"/>
              </a:ext>
            </a:extLst>
          </p:cNvPr>
          <p:cNvSpPr>
            <a:spLocks noGrp="1"/>
          </p:cNvSpPr>
          <p:nvPr/>
        </p:nvSpPr>
        <p:spPr>
          <a:xfrm>
            <a:off x="533400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6FF80EB0-2F0D-45EC-81FF-A7C58C69F41D}"/>
              </a:ext>
            </a:extLst>
          </p:cNvPr>
          <p:cNvSpPr>
            <a:spLocks noGrp="1"/>
          </p:cNvSpPr>
          <p:nvPr/>
        </p:nvSpPr>
        <p:spPr>
          <a:xfrm>
            <a:off x="600075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A53EDD3-0415-494C-8297-A27B53AFE4F1}"/>
              </a:ext>
            </a:extLst>
          </p:cNvPr>
          <p:cNvSpPr>
            <a:spLocks noGrp="1"/>
          </p:cNvSpPr>
          <p:nvPr/>
        </p:nvSpPr>
        <p:spPr>
          <a:xfrm>
            <a:off x="600075" y="10791825"/>
            <a:ext cx="953" cy="2876550"/>
          </a:xfrm>
          <a:custGeom>
            <a:avLst/>
            <a:gdLst/>
            <a:ahLst/>
            <a:cxnLst/>
            <a:rect l="0" t="0" r="0" b="0"/>
            <a:pathLst>
              <a:path w="953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30F0B64-28B0-44D5-AC02-DD0816244802}"/>
              </a:ext>
            </a:extLst>
          </p:cNvPr>
          <p:cNvSpPr>
            <a:spLocks noGrp="1"/>
          </p:cNvSpPr>
          <p:nvPr/>
        </p:nvSpPr>
        <p:spPr>
          <a:xfrm>
            <a:off x="533400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50325D81-ECC2-4A24-A953-CA324D0DD2F3}"/>
              </a:ext>
            </a:extLst>
          </p:cNvPr>
          <p:cNvSpPr>
            <a:spLocks noGrp="1"/>
          </p:cNvSpPr>
          <p:nvPr/>
        </p:nvSpPr>
        <p:spPr>
          <a:xfrm>
            <a:off x="600075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FC2CE14-B1E6-4345-B55F-8F127DEA54C1}"/>
              </a:ext>
            </a:extLst>
          </p:cNvPr>
          <p:cNvSpPr>
            <a:spLocks noGrp="1"/>
          </p:cNvSpPr>
          <p:nvPr/>
        </p:nvSpPr>
        <p:spPr>
          <a:xfrm>
            <a:off x="361950" y="131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10624D-48DA-4D61-869B-F2F6E4ABCE71}"/>
              </a:ext>
            </a:extLst>
          </p:cNvPr>
          <p:cNvSpPr>
            <a:spLocks noGrp="1"/>
          </p:cNvSpPr>
          <p:nvPr/>
        </p:nvSpPr>
        <p:spPr>
          <a:xfrm>
            <a:off x="1238250" y="133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BA682DA-F057-4390-BEBC-824C2EBC7B50}"/>
              </a:ext>
            </a:extLst>
          </p:cNvPr>
          <p:cNvSpPr>
            <a:spLocks noGrp="1"/>
          </p:cNvSpPr>
          <p:nvPr/>
        </p:nvSpPr>
        <p:spPr>
          <a:xfrm>
            <a:off x="3524250" y="136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Experimental map and CA2 receptor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F6959A88-1D23-4E8E-A940-2A81786364E6}"/>
              </a:ext>
            </a:extLst>
          </p:cNvPr>
          <p:cNvSpPr>
            <a:spLocks noGrp="1"/>
          </p:cNvSpPr>
          <p:nvPr/>
        </p:nvSpPr>
        <p:spPr>
          <a:xfrm>
            <a:off x="1238250" y="189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5185068-DEDA-4D36-A790-A7F410844984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69D4952-50B7-46D8-85C9-6B2C7AD5B2A0}"/>
              </a:ext>
            </a:extLst>
          </p:cNvPr>
          <p:cNvSpPr>
            <a:spLocks noGrp="1"/>
          </p:cNvSpPr>
          <p:nvPr/>
        </p:nvSpPr>
        <p:spPr>
          <a:xfrm>
            <a:off x="16573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experimental map</a:t>
            </a:r>
          </a:p>
        </p:txBody>
      </p:sp>
      <p:pic>
        <p:nvPicPr>
          <p:cNvPr id="98" name="图片 9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05000" y="2495550"/>
            <a:ext cx="3238500" cy="242887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8D6300E0-7653-4B45-BEE7-E107693F77BF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709849A-4476-4A99-84E9-2E3620F9B1B6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CA2 receptor</a:t>
            </a: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43750" y="2495550"/>
            <a:ext cx="3238500" cy="242887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B8CB0CC8-9573-4AA2-86DE-DB5E0F916DB8}"/>
              </a:ext>
            </a:extLst>
          </p:cNvPr>
          <p:cNvSpPr>
            <a:spLocks noGrp="1"/>
          </p:cNvSpPr>
          <p:nvPr/>
        </p:nvSpPr>
        <p:spPr>
          <a:xfrm>
            <a:off x="117157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5357F09-3AD9-4BCC-AF1E-B8C432887FC3}"/>
              </a:ext>
            </a:extLst>
          </p:cNvPr>
          <p:cNvSpPr>
            <a:spLocks noGrp="1"/>
          </p:cNvSpPr>
          <p:nvPr/>
        </p:nvSpPr>
        <p:spPr>
          <a:xfrm>
            <a:off x="121348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receptor (reference)</a:t>
            </a:r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382500" y="2495550"/>
            <a:ext cx="3238500" cy="2428875"/>
          </a:xfrm>
          <a:prstGeom prst="rect">
            <a:avLst/>
          </a:prstGeom>
        </p:spPr>
      </p:pic>
      <p:sp>
        <p:nvSpPr>
          <p:cNvPr id="25" name="椭圆 24">
            <a:extLst>
              <a:ext uri="{FF2B5EF4-FFF2-40B4-BE49-F238E27FC236}">
                <a16:creationId xmlns:a16="http://schemas.microsoft.com/office/drawing/2014/main" id="{428D5E5F-5A67-4084-922C-ECD481F00877}"/>
              </a:ext>
            </a:extLst>
          </p:cNvPr>
          <p:cNvSpPr>
            <a:spLocks noGrp="1"/>
          </p:cNvSpPr>
          <p:nvPr/>
        </p:nvSpPr>
        <p:spPr>
          <a:xfrm>
            <a:off x="361950" y="512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692C9AA-D7E0-4E66-8406-AD13D2D9B415}"/>
              </a:ext>
            </a:extLst>
          </p:cNvPr>
          <p:cNvSpPr>
            <a:spLocks noGrp="1"/>
          </p:cNvSpPr>
          <p:nvPr/>
        </p:nvSpPr>
        <p:spPr>
          <a:xfrm>
            <a:off x="1238250" y="514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39738AF-8F67-4A33-8230-AE31A5A9B771}"/>
              </a:ext>
            </a:extLst>
          </p:cNvPr>
          <p:cNvSpPr>
            <a:spLocks noGrp="1"/>
          </p:cNvSpPr>
          <p:nvPr/>
        </p:nvSpPr>
        <p:spPr>
          <a:xfrm>
            <a:off x="3524250" y="517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Ranked density regions, site 1 uses charged attempt 1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50BB8FE8-82F6-4560-AF7E-75E3703F0D23}"/>
              </a:ext>
            </a:extLst>
          </p:cNvPr>
          <p:cNvSpPr>
            <a:spLocks noGrp="1"/>
          </p:cNvSpPr>
          <p:nvPr/>
        </p:nvSpPr>
        <p:spPr>
          <a:xfrm>
            <a:off x="1238250" y="570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831F6B9-5DC9-4922-9B56-E9EF9F9CE107}"/>
              </a:ext>
            </a:extLst>
          </p:cNvPr>
          <p:cNvSpPr>
            <a:spLocks noGrp="1"/>
          </p:cNvSpPr>
          <p:nvPr/>
        </p:nvSpPr>
        <p:spPr>
          <a:xfrm>
            <a:off x="1238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B80422C-286F-4C4A-8E23-35F90386A631}"/>
              </a:ext>
            </a:extLst>
          </p:cNvPr>
          <p:cNvSpPr>
            <a:spLocks noGrp="1"/>
          </p:cNvSpPr>
          <p:nvPr/>
        </p:nvSpPr>
        <p:spPr>
          <a:xfrm>
            <a:off x="1657350" y="5915025"/>
            <a:ext cx="5486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Global candidates</a:t>
            </a:r>
          </a:p>
        </p:txBody>
      </p:sp>
      <p:pic>
        <p:nvPicPr>
          <p:cNvPr id="111" name="图片 11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222500" y="6381750"/>
            <a:ext cx="3937000" cy="2952750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26B8E481-2E4F-42C2-B25A-6326A076F92A}"/>
              </a:ext>
            </a:extLst>
          </p:cNvPr>
          <p:cNvSpPr>
            <a:spLocks noGrp="1"/>
          </p:cNvSpPr>
          <p:nvPr/>
        </p:nvSpPr>
        <p:spPr>
          <a:xfrm>
            <a:off x="1238250" y="9467850"/>
            <a:ext cx="59055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All 15 predicted blobs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39E2E64-AEEF-44D7-9602-4DC0CA0D8FBC}"/>
              </a:ext>
            </a:extLst>
          </p:cNvPr>
          <p:cNvSpPr>
            <a:spLocks noGrp="1"/>
          </p:cNvSpPr>
          <p:nvPr/>
        </p:nvSpPr>
        <p:spPr>
          <a:xfrm>
            <a:off x="800100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8A699BC-3AB3-4B26-A329-606A3C935486}"/>
              </a:ext>
            </a:extLst>
          </p:cNvPr>
          <p:cNvSpPr>
            <a:spLocks noGrp="1"/>
          </p:cNvSpPr>
          <p:nvPr/>
        </p:nvSpPr>
        <p:spPr>
          <a:xfrm>
            <a:off x="842010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neighborhood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940DDE1-F9FD-4FC4-BCC4-DA0DF3A940E5}"/>
              </a:ext>
            </a:extLst>
          </p:cNvPr>
          <p:cNvSpPr>
            <a:spLocks noGrp="1"/>
          </p:cNvSpPr>
          <p:nvPr/>
        </p:nvSpPr>
        <p:spPr>
          <a:xfrm>
            <a:off x="12287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AFB7410-352E-429C-B4F8-83E9E6DAA568}"/>
              </a:ext>
            </a:extLst>
          </p:cNvPr>
          <p:cNvSpPr>
            <a:spLocks noGrp="1"/>
          </p:cNvSpPr>
          <p:nvPr/>
        </p:nvSpPr>
        <p:spPr>
          <a:xfrm>
            <a:off x="1270635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 prediction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A3086F6-80C4-4232-A927-4A2983CF1620}"/>
              </a:ext>
            </a:extLst>
          </p:cNvPr>
          <p:cNvSpPr>
            <a:spLocks noGrp="1"/>
          </p:cNvSpPr>
          <p:nvPr/>
        </p:nvSpPr>
        <p:spPr>
          <a:xfrm>
            <a:off x="8001000" y="6353175"/>
            <a:ext cx="8239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Rank 1: target ligand</a:t>
            </a:r>
          </a:p>
        </p:txBody>
      </p:sp>
      <p:pic>
        <p:nvPicPr>
          <p:cNvPr id="118" name="图片 117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261350" y="6772275"/>
            <a:ext cx="3479800" cy="2609850"/>
          </a:xfrm>
          <a:prstGeom prst="rect">
            <a:avLst/>
          </a:prstGeom>
        </p:spPr>
      </p:pic>
      <p:pic>
        <p:nvPicPr>
          <p:cNvPr id="119" name="图片 118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2547600" y="6772275"/>
            <a:ext cx="3479800" cy="2609850"/>
          </a:xfrm>
          <a:prstGeom prst="rect">
            <a:avLst/>
          </a:prstGeom>
        </p:spPr>
      </p:pic>
      <p:sp>
        <p:nvSpPr>
          <p:cNvPr id="40" name="椭圆 39">
            <a:extLst>
              <a:ext uri="{FF2B5EF4-FFF2-40B4-BE49-F238E27FC236}">
                <a16:creationId xmlns:a16="http://schemas.microsoft.com/office/drawing/2014/main" id="{2A424F1B-B10B-4678-BD9A-8B0D3174BCD9}"/>
              </a:ext>
            </a:extLst>
          </p:cNvPr>
          <p:cNvSpPr>
            <a:spLocks noGrp="1"/>
          </p:cNvSpPr>
          <p:nvPr/>
        </p:nvSpPr>
        <p:spPr>
          <a:xfrm>
            <a:off x="361950" y="1022032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0787C56-52A5-433F-B89B-5CE390A9FCB5}"/>
              </a:ext>
            </a:extLst>
          </p:cNvPr>
          <p:cNvSpPr>
            <a:spLocks noGrp="1"/>
          </p:cNvSpPr>
          <p:nvPr/>
        </p:nvSpPr>
        <p:spPr>
          <a:xfrm>
            <a:off x="1238250" y="1023937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54CB172-6E86-41D6-A37B-5E04EAB1B6E6}"/>
              </a:ext>
            </a:extLst>
          </p:cNvPr>
          <p:cNvSpPr>
            <a:spLocks noGrp="1"/>
          </p:cNvSpPr>
          <p:nvPr/>
        </p:nvSpPr>
        <p:spPr>
          <a:xfrm>
            <a:off x="3524250" y="1026795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RDKit structures of every supplied SMILES identity</a:t>
            </a: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F3FB5C6A-BA5F-4A11-870F-062767F49367}"/>
              </a:ext>
            </a:extLst>
          </p:cNvPr>
          <p:cNvSpPr>
            <a:spLocks noGrp="1"/>
          </p:cNvSpPr>
          <p:nvPr/>
        </p:nvSpPr>
        <p:spPr>
          <a:xfrm>
            <a:off x="1238250" y="1080135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ADC2782-7B04-4776-A354-52C4547A11AC}"/>
              </a:ext>
            </a:extLst>
          </p:cNvPr>
          <p:cNvSpPr>
            <a:spLocks noGrp="1"/>
          </p:cNvSpPr>
          <p:nvPr/>
        </p:nvSpPr>
        <p:spPr>
          <a:xfrm>
            <a:off x="942975" y="10915650"/>
            <a:ext cx="28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5" name="Identity 1, matched">
            <a:extLst>
              <a:ext uri="{FF2B5EF4-FFF2-40B4-BE49-F238E27FC236}">
                <a16:creationId xmlns:a16="http://schemas.microsoft.com/office/drawing/2014/main" id="{11FB7042-F421-48B3-85F9-995E2FC3D577}"/>
              </a:ext>
            </a:extLst>
          </p:cNvPr>
          <p:cNvSpPr>
            <a:spLocks noGrp="1"/>
          </p:cNvSpPr>
          <p:nvPr/>
        </p:nvSpPr>
        <p:spPr>
          <a:xfrm>
            <a:off x="1238250" y="10887075"/>
            <a:ext cx="4838700" cy="2667000"/>
          </a:xfrm>
          <a:prstGeom prst="rect">
            <a:avLst/>
          </a:prstGeom>
          <a:solidFill>
            <a:srgbClr val="FFFFFF"/>
          </a:solidFill>
          <a:ln w="28575">
            <a:solidFill>
              <a:srgbClr val="3169B3"/>
            </a:solidFill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1E6806A-CB65-4457-A59B-5B299D07DFDE}"/>
              </a:ext>
            </a:extLst>
          </p:cNvPr>
          <p:cNvSpPr>
            <a:spLocks noGrp="1"/>
          </p:cNvSpPr>
          <p:nvPr/>
        </p:nvSpPr>
        <p:spPr>
          <a:xfrm>
            <a:off x="14097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1  ATP</a:t>
            </a:r>
          </a:p>
        </p:txBody>
      </p:sp>
      <p:pic>
        <p:nvPicPr>
          <p:cNvPr id="127" name="图形 1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2881044" y="11382375"/>
            <a:ext cx="1553112" cy="1666875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2B5D6EC5-873E-4010-A445-71E8DC803EEF}"/>
              </a:ext>
            </a:extLst>
          </p:cNvPr>
          <p:cNvSpPr>
            <a:spLocks noGrp="1"/>
          </p:cNvSpPr>
          <p:nvPr/>
        </p:nvSpPr>
        <p:spPr>
          <a:xfrm>
            <a:off x="14097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Matched identity</a:t>
            </a:r>
          </a:p>
        </p:txBody>
      </p:sp>
      <p:sp>
        <p:nvSpPr>
          <p:cNvPr id="49" name="Identity 2, eligible">
            <a:extLst>
              <a:ext uri="{FF2B5EF4-FFF2-40B4-BE49-F238E27FC236}">
                <a16:creationId xmlns:a16="http://schemas.microsoft.com/office/drawing/2014/main" id="{A1540676-56A0-453F-BB63-C3A704090847}"/>
              </a:ext>
            </a:extLst>
          </p:cNvPr>
          <p:cNvSpPr>
            <a:spLocks noGrp="1"/>
          </p:cNvSpPr>
          <p:nvPr/>
        </p:nvSpPr>
        <p:spPr>
          <a:xfrm>
            <a:off x="6343650" y="10887075"/>
            <a:ext cx="48387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95F890F-2FFC-4B58-ADE4-D1F362ECC7B7}"/>
              </a:ext>
            </a:extLst>
          </p:cNvPr>
          <p:cNvSpPr>
            <a:spLocks noGrp="1"/>
          </p:cNvSpPr>
          <p:nvPr/>
        </p:nvSpPr>
        <p:spPr>
          <a:xfrm>
            <a:off x="65151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2  Identity2</a:t>
            </a:r>
          </a:p>
        </p:txBody>
      </p:sp>
      <p:pic>
        <p:nvPicPr>
          <p:cNvPr id="131" name="图形 1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8045799" y="11382375"/>
            <a:ext cx="1434403" cy="1666875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756F6D56-CBBF-4D27-AA31-712B00C6AD80}"/>
              </a:ext>
            </a:extLst>
          </p:cNvPr>
          <p:cNvSpPr>
            <a:spLocks noGrp="1"/>
          </p:cNvSpPr>
          <p:nvPr/>
        </p:nvSpPr>
        <p:spPr>
          <a:xfrm>
            <a:off x="65151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Eligible small molecule</a:t>
            </a:r>
          </a:p>
        </p:txBody>
      </p:sp>
      <p:sp>
        <p:nvSpPr>
          <p:cNvPr id="53" name="Identity 3, outside Stage3 scope">
            <a:extLst>
              <a:ext uri="{FF2B5EF4-FFF2-40B4-BE49-F238E27FC236}">
                <a16:creationId xmlns:a16="http://schemas.microsoft.com/office/drawing/2014/main" id="{4F5E6997-104E-4E95-9A23-EA48DBDBCE1C}"/>
              </a:ext>
            </a:extLst>
          </p:cNvPr>
          <p:cNvSpPr>
            <a:spLocks noGrp="1"/>
          </p:cNvSpPr>
          <p:nvPr/>
        </p:nvSpPr>
        <p:spPr>
          <a:xfrm>
            <a:off x="11449050" y="10887075"/>
            <a:ext cx="48387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4B6D31E-2213-4199-836F-4F4987D4039D}"/>
              </a:ext>
            </a:extLst>
          </p:cNvPr>
          <p:cNvSpPr>
            <a:spLocks noGrp="1"/>
          </p:cNvSpPr>
          <p:nvPr/>
        </p:nvSpPr>
        <p:spPr>
          <a:xfrm>
            <a:off x="116205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3  Identity3</a:t>
            </a:r>
          </a:p>
        </p:txBody>
      </p:sp>
      <p:pic>
        <p:nvPicPr>
          <p:cNvPr id="135" name="图形 1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12593731" y="11382375"/>
            <a:ext cx="2549338" cy="1666875"/>
          </a:xfrm>
          <a:prstGeom prst="rect">
            <a:avLst/>
          </a:prstGeom>
        </p:spPr>
      </p:pic>
      <p:sp>
        <p:nvSpPr>
          <p:cNvPr id="56" name="矩形 55">
            <a:extLst>
              <a:ext uri="{FF2B5EF4-FFF2-40B4-BE49-F238E27FC236}">
                <a16:creationId xmlns:a16="http://schemas.microsoft.com/office/drawing/2014/main" id="{DA1F3B1A-B238-4286-8921-C4C3E7656C6F}"/>
              </a:ext>
            </a:extLst>
          </p:cNvPr>
          <p:cNvSpPr>
            <a:spLocks noGrp="1"/>
          </p:cNvSpPr>
          <p:nvPr/>
        </p:nvSpPr>
        <p:spPr>
          <a:xfrm>
            <a:off x="116205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Outside Stage3 scope</a:t>
            </a: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1F733A63-C871-4B07-995B-BB828B56ABDB}"/>
              </a:ext>
            </a:extLst>
          </p:cNvPr>
          <p:cNvSpPr>
            <a:spLocks noGrp="1"/>
          </p:cNvSpPr>
          <p:nvPr/>
        </p:nvSpPr>
        <p:spPr>
          <a:xfrm>
            <a:off x="361950" y="1378267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79E9236-B232-468F-B0F7-838FECA28429}"/>
              </a:ext>
            </a:extLst>
          </p:cNvPr>
          <p:cNvSpPr>
            <a:spLocks noGrp="1"/>
          </p:cNvSpPr>
          <p:nvPr/>
        </p:nvSpPr>
        <p:spPr>
          <a:xfrm>
            <a:off x="1238250" y="1380172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A1F9789-BF62-4438-90A9-1B09744319D2}"/>
              </a:ext>
            </a:extLst>
          </p:cNvPr>
          <p:cNvSpPr>
            <a:spLocks noGrp="1"/>
          </p:cNvSpPr>
          <p:nvPr/>
        </p:nvSpPr>
        <p:spPr>
          <a:xfrm>
            <a:off x="3524250" y="1383030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local_cov-C self-ranking Top-1, one pose in three views</a:t>
            </a:r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02DF5A34-12FE-4429-8C21-E3DEC6FCE189}"/>
              </a:ext>
            </a:extLst>
          </p:cNvPr>
          <p:cNvSpPr>
            <a:spLocks noGrp="1"/>
          </p:cNvSpPr>
          <p:nvPr/>
        </p:nvSpPr>
        <p:spPr>
          <a:xfrm>
            <a:off x="1238250" y="1436370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34DD1B1-B5B8-4516-B5B9-67FF5E121B6D}"/>
              </a:ext>
            </a:extLst>
          </p:cNvPr>
          <p:cNvSpPr>
            <a:spLocks noGrp="1"/>
          </p:cNvSpPr>
          <p:nvPr/>
        </p:nvSpPr>
        <p:spPr>
          <a:xfrm>
            <a:off x="12382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A72F981-F0E7-4162-B4AA-737D72513085}"/>
              </a:ext>
            </a:extLst>
          </p:cNvPr>
          <p:cNvSpPr>
            <a:spLocks noGrp="1"/>
          </p:cNvSpPr>
          <p:nvPr/>
        </p:nvSpPr>
        <p:spPr>
          <a:xfrm>
            <a:off x="16573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Receptor surface</a:t>
            </a:r>
          </a:p>
        </p:txBody>
      </p:sp>
      <p:pic>
        <p:nvPicPr>
          <p:cNvPr id="143" name="图片 142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949450" y="14982825"/>
            <a:ext cx="3149600" cy="2362200"/>
          </a:xfrm>
          <a:prstGeom prst="rect">
            <a:avLst/>
          </a:prstGeom>
        </p:spPr>
      </p:pic>
      <p:sp>
        <p:nvSpPr>
          <p:cNvPr id="64" name="矩形 63">
            <a:extLst>
              <a:ext uri="{FF2B5EF4-FFF2-40B4-BE49-F238E27FC236}">
                <a16:creationId xmlns:a16="http://schemas.microsoft.com/office/drawing/2014/main" id="{99F5E2AB-4A19-47C1-8E67-16698BB38860}"/>
              </a:ext>
            </a:extLst>
          </p:cNvPr>
          <p:cNvSpPr>
            <a:spLocks noGrp="1"/>
          </p:cNvSpPr>
          <p:nvPr/>
        </p:nvSpPr>
        <p:spPr>
          <a:xfrm>
            <a:off x="647700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15FDB9A5-CE95-4D5F-B075-FDF5C707B0DA}"/>
              </a:ext>
            </a:extLst>
          </p:cNvPr>
          <p:cNvSpPr>
            <a:spLocks noGrp="1"/>
          </p:cNvSpPr>
          <p:nvPr/>
        </p:nvSpPr>
        <p:spPr>
          <a:xfrm>
            <a:off x="689610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pic>
        <p:nvPicPr>
          <p:cNvPr id="146" name="图片 145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7188200" y="14982825"/>
            <a:ext cx="3149600" cy="2362200"/>
          </a:xfrm>
          <a:prstGeom prst="rect">
            <a:avLst/>
          </a:prstGeom>
        </p:spPr>
      </p:pic>
      <p:sp>
        <p:nvSpPr>
          <p:cNvPr id="67" name="矩形 66">
            <a:extLst>
              <a:ext uri="{FF2B5EF4-FFF2-40B4-BE49-F238E27FC236}">
                <a16:creationId xmlns:a16="http://schemas.microsoft.com/office/drawing/2014/main" id="{F5B23D60-74A9-41AA-BD5D-EB75B58E1EE2}"/>
              </a:ext>
            </a:extLst>
          </p:cNvPr>
          <p:cNvSpPr>
            <a:spLocks noGrp="1"/>
          </p:cNvSpPr>
          <p:nvPr/>
        </p:nvSpPr>
        <p:spPr>
          <a:xfrm>
            <a:off x="117157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16C80A9-C43F-4CD8-ACD3-2992AF627975}"/>
              </a:ext>
            </a:extLst>
          </p:cNvPr>
          <p:cNvSpPr>
            <a:spLocks noGrp="1"/>
          </p:cNvSpPr>
          <p:nvPr/>
        </p:nvSpPr>
        <p:spPr>
          <a:xfrm>
            <a:off x="121348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Deposited pose overlay</a:t>
            </a:r>
          </a:p>
        </p:txBody>
      </p:sp>
      <p:pic>
        <p:nvPicPr>
          <p:cNvPr id="149" name="图片 148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12426950" y="14982825"/>
            <a:ext cx="3149600" cy="2362200"/>
          </a:xfrm>
          <a:prstGeom prst="rect">
            <a:avLst/>
          </a:prstGeom>
        </p:spPr>
      </p:pic>
      <p:sp>
        <p:nvSpPr>
          <p:cNvPr id="70" name="矩形 69">
            <a:extLst>
              <a:ext uri="{FF2B5EF4-FFF2-40B4-BE49-F238E27FC236}">
                <a16:creationId xmlns:a16="http://schemas.microsoft.com/office/drawing/2014/main" id="{2E0C9F0B-BF1A-4048-8382-13686B5EACA6}"/>
              </a:ext>
            </a:extLst>
          </p:cNvPr>
          <p:cNvSpPr>
            <a:spLocks noGrp="1"/>
          </p:cNvSpPr>
          <p:nvPr/>
        </p:nvSpPr>
        <p:spPr>
          <a:xfrm>
            <a:off x="1238250" y="17506950"/>
            <a:ext cx="15049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Heavy-atom RMSD 0.80 Å     Clash 0     50 poses, 100 steps</a:t>
            </a:r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342E9B85-0F08-4EF9-8E77-7EC88347016F}"/>
              </a:ext>
            </a:extLst>
          </p:cNvPr>
          <p:cNvSpPr>
            <a:spLocks noGrp="1"/>
          </p:cNvSpPr>
          <p:nvPr/>
        </p:nvSpPr>
        <p:spPr>
          <a:xfrm>
            <a:off x="1238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2515BB7-1C1A-45C6-A5A9-A93993DEBEFC}"/>
              </a:ext>
            </a:extLst>
          </p:cNvPr>
          <p:cNvSpPr>
            <a:spLocks noGrp="1"/>
          </p:cNvSpPr>
          <p:nvPr/>
        </p:nvSpPr>
        <p:spPr>
          <a:xfrm>
            <a:off x="1647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DF94DFA-D3C6-47FE-87E9-6762B5262365}"/>
              </a:ext>
            </a:extLst>
          </p:cNvPr>
          <p:cNvSpPr>
            <a:spLocks noGrp="1"/>
          </p:cNvSpPr>
          <p:nvPr/>
        </p:nvSpPr>
        <p:spPr>
          <a:xfrm>
            <a:off x="4286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16773"/>
            </a:solidFill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3BEA9198-B365-4E11-95FD-83C6B6CEFC66}"/>
              </a:ext>
            </a:extLst>
          </p:cNvPr>
          <p:cNvSpPr>
            <a:spLocks noGrp="1"/>
          </p:cNvSpPr>
          <p:nvPr/>
        </p:nvSpPr>
        <p:spPr>
          <a:xfrm>
            <a:off x="4695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64BD2460-F846-49B8-8EF5-AA353AEA02FD}"/>
              </a:ext>
            </a:extLst>
          </p:cNvPr>
          <p:cNvSpPr>
            <a:spLocks noGrp="1"/>
          </p:cNvSpPr>
          <p:nvPr/>
        </p:nvSpPr>
        <p:spPr>
          <a:xfrm>
            <a:off x="7334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E3D4F88-5E73-4307-990A-D8675499090A}"/>
              </a:ext>
            </a:extLst>
          </p:cNvPr>
          <p:cNvSpPr>
            <a:spLocks noGrp="1"/>
          </p:cNvSpPr>
          <p:nvPr/>
        </p:nvSpPr>
        <p:spPr>
          <a:xfrm>
            <a:off x="7743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Target blob</a:t>
            </a:r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2978C7D2-C120-478B-A874-628F5A0333DF}"/>
              </a:ext>
            </a:extLst>
          </p:cNvPr>
          <p:cNvSpPr>
            <a:spLocks noGrp="1"/>
          </p:cNvSpPr>
          <p:nvPr/>
        </p:nvSpPr>
        <p:spPr>
          <a:xfrm>
            <a:off x="10382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46DE99B7-5817-496B-9B76-69E75BA70B35}"/>
              </a:ext>
            </a:extLst>
          </p:cNvPr>
          <p:cNvSpPr>
            <a:spLocks noGrp="1"/>
          </p:cNvSpPr>
          <p:nvPr/>
        </p:nvSpPr>
        <p:spPr>
          <a:xfrm>
            <a:off x="10791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Predicted pose</a:t>
            </a:r>
          </a:p>
        </p:txBody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E9EED489-C706-4C32-B064-98E5E36FF3ED}"/>
              </a:ext>
            </a:extLst>
          </p:cNvPr>
          <p:cNvSpPr>
            <a:spLocks noGrp="1"/>
          </p:cNvSpPr>
          <p:nvPr/>
        </p:nvSpPr>
        <p:spPr>
          <a:xfrm>
            <a:off x="13430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565A9725-F0BF-4343-B0CC-483136017C4B}"/>
              </a:ext>
            </a:extLst>
          </p:cNvPr>
          <p:cNvSpPr>
            <a:spLocks noGrp="1"/>
          </p:cNvSpPr>
          <p:nvPr/>
        </p:nvSpPr>
        <p:spPr>
          <a:xfrm>
            <a:off x="13839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Deposited pose</a:t>
            </a:r>
          </a:p>
        </p:txBody>
      </p:sp>
    </p:spTree>
    <p:extLst>
      <p:ext uri="{BB962C8B-B14F-4D97-AF65-F5344CB8AC3E}">
        <p14:creationId xmlns:p14="http://schemas.microsoft.com/office/powerpoint/2010/main" val="150415601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275864" y="8353903"/>
            <a:ext cx="2893331" cy="2169998"/>
          </a:xfrm>
          <a:prstGeom prst="rect">
            <a:avLst/>
          </a:prstGeom>
        </p:spPr>
      </p:pic>
      <p:pic>
        <p:nvPicPr>
          <p:cNvPr id="118" name="图片 11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2592050" y="5790247"/>
            <a:ext cx="3909512" cy="2932134"/>
          </a:xfrm>
          <a:prstGeom prst="rect">
            <a:avLst/>
          </a:prstGeom>
        </p:spPr>
      </p:pic>
      <p:pic>
        <p:nvPicPr>
          <p:cNvPr id="121" name="图片 12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774614" y="8383191"/>
            <a:ext cx="2663824" cy="1997868"/>
          </a:xfrm>
          <a:prstGeom prst="rect">
            <a:avLst/>
          </a:prstGeom>
        </p:spPr>
      </p:pic>
      <p:pic>
        <p:nvPicPr>
          <p:cNvPr id="117" name="图片 116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420100" y="6110764"/>
            <a:ext cx="3111500" cy="2333625"/>
          </a:xfrm>
          <a:prstGeom prst="rect">
            <a:avLst/>
          </a:prstGeom>
        </p:spPr>
      </p:pic>
      <p:pic>
        <p:nvPicPr>
          <p:cNvPr id="103" name="图片 102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1119486" y="1866900"/>
            <a:ext cx="4978400" cy="3733800"/>
          </a:xfrm>
          <a:prstGeom prst="rect">
            <a:avLst/>
          </a:prstGeom>
        </p:spPr>
      </p:pic>
      <p:pic>
        <p:nvPicPr>
          <p:cNvPr id="100" name="图片 99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5955234" y="1798710"/>
            <a:ext cx="4866120" cy="364959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-385624" y="667602"/>
            <a:ext cx="7593328" cy="5694996"/>
          </a:xfrm>
          <a:prstGeom prst="rect">
            <a:avLst/>
          </a:prstGeom>
        </p:spPr>
      </p:pic>
      <p:pic>
        <p:nvPicPr>
          <p:cNvPr id="110" name="图片 109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2679" y="5511371"/>
            <a:ext cx="6907891" cy="5180918"/>
          </a:xfrm>
          <a:prstGeom prst="rect">
            <a:avLst/>
          </a:prstGeom>
        </p:spPr>
      </p:pic>
      <p:sp>
        <p:nvSpPr>
          <p:cNvPr id="80" name="矩形 79">
            <a:extLst>
              <a:ext uri="{FF2B5EF4-FFF2-40B4-BE49-F238E27FC236}">
                <a16:creationId xmlns:a16="http://schemas.microsoft.com/office/drawing/2014/main" id="{685E7A91-47F4-4AD8-A5A2-7D7E8EB6D91C}"/>
              </a:ext>
            </a:extLst>
          </p:cNvPr>
          <p:cNvSpPr>
            <a:spLocks noGrp="1"/>
          </p:cNvSpPr>
          <p:nvPr/>
        </p:nvSpPr>
        <p:spPr>
          <a:xfrm>
            <a:off x="1238250" y="209550"/>
            <a:ext cx="1466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30GA  ATP (N:401)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29AE84-B0C5-4A7F-9A03-DF0E8E2F4207}"/>
              </a:ext>
            </a:extLst>
          </p:cNvPr>
          <p:cNvSpPr>
            <a:spLocks noGrp="1"/>
          </p:cNvSpPr>
          <p:nvPr/>
        </p:nvSpPr>
        <p:spPr>
          <a:xfrm>
            <a:off x="1238250" y="809625"/>
            <a:ext cx="1504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Background at rank 1, successful reconstruction at rank 2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ED1AF901-3EBC-457E-9DB4-2D6CA282C6DF}"/>
              </a:ext>
            </a:extLst>
          </p:cNvPr>
          <p:cNvSpPr>
            <a:spLocks noGrp="1"/>
          </p:cNvSpPr>
          <p:nvPr/>
        </p:nvSpPr>
        <p:spPr>
          <a:xfrm>
            <a:off x="600075" y="1857375"/>
            <a:ext cx="953" cy="3152775"/>
          </a:xfrm>
          <a:custGeom>
            <a:avLst/>
            <a:gdLst/>
            <a:ahLst/>
            <a:cxnLst/>
            <a:rect l="0" t="0" r="0" b="0"/>
            <a:pathLst>
              <a:path w="953" h="3152775">
                <a:moveTo>
                  <a:pt x="0" y="0"/>
                </a:moveTo>
                <a:lnTo>
                  <a:pt x="0" y="31527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95A39E5B-C6A3-4DFA-8F10-FE882BEBD3DF}"/>
              </a:ext>
            </a:extLst>
          </p:cNvPr>
          <p:cNvSpPr>
            <a:spLocks noGrp="1"/>
          </p:cNvSpPr>
          <p:nvPr/>
        </p:nvSpPr>
        <p:spPr>
          <a:xfrm>
            <a:off x="533400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4C0100B8-CB91-44C0-98D8-18502513FD42}"/>
              </a:ext>
            </a:extLst>
          </p:cNvPr>
          <p:cNvSpPr>
            <a:spLocks noGrp="1"/>
          </p:cNvSpPr>
          <p:nvPr/>
        </p:nvSpPr>
        <p:spPr>
          <a:xfrm>
            <a:off x="600075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9E23FB66-B850-4660-8BA0-EBFA3D317B1F}"/>
              </a:ext>
            </a:extLst>
          </p:cNvPr>
          <p:cNvSpPr>
            <a:spLocks noGrp="1"/>
          </p:cNvSpPr>
          <p:nvPr/>
        </p:nvSpPr>
        <p:spPr>
          <a:xfrm>
            <a:off x="600075" y="5695950"/>
            <a:ext cx="953" cy="4410075"/>
          </a:xfrm>
          <a:custGeom>
            <a:avLst/>
            <a:gdLst/>
            <a:ahLst/>
            <a:cxnLst/>
            <a:rect l="0" t="0" r="0" b="0"/>
            <a:pathLst>
              <a:path w="953" h="4410075">
                <a:moveTo>
                  <a:pt x="0" y="0"/>
                </a:moveTo>
                <a:lnTo>
                  <a:pt x="0" y="44100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25AFE9AD-0EBA-4301-9869-C9E9E12EC839}"/>
              </a:ext>
            </a:extLst>
          </p:cNvPr>
          <p:cNvSpPr>
            <a:spLocks noGrp="1"/>
          </p:cNvSpPr>
          <p:nvPr/>
        </p:nvSpPr>
        <p:spPr>
          <a:xfrm>
            <a:off x="533400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5CA2CF1-F623-4CC6-9B8F-1D383BACB999}"/>
              </a:ext>
            </a:extLst>
          </p:cNvPr>
          <p:cNvSpPr>
            <a:spLocks noGrp="1"/>
          </p:cNvSpPr>
          <p:nvPr/>
        </p:nvSpPr>
        <p:spPr>
          <a:xfrm>
            <a:off x="600075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3E329FAB-EF41-466E-A5E6-EB44496B44B0}"/>
              </a:ext>
            </a:extLst>
          </p:cNvPr>
          <p:cNvSpPr>
            <a:spLocks noGrp="1"/>
          </p:cNvSpPr>
          <p:nvPr/>
        </p:nvSpPr>
        <p:spPr>
          <a:xfrm>
            <a:off x="600075" y="10791825"/>
            <a:ext cx="953" cy="2876550"/>
          </a:xfrm>
          <a:custGeom>
            <a:avLst/>
            <a:gdLst/>
            <a:ahLst/>
            <a:cxnLst/>
            <a:rect l="0" t="0" r="0" b="0"/>
            <a:pathLst>
              <a:path w="953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07126FC7-2033-458F-93A2-84002AD0DC10}"/>
              </a:ext>
            </a:extLst>
          </p:cNvPr>
          <p:cNvSpPr>
            <a:spLocks noGrp="1"/>
          </p:cNvSpPr>
          <p:nvPr/>
        </p:nvSpPr>
        <p:spPr>
          <a:xfrm>
            <a:off x="533400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B64351E3-73F8-48D4-BD1A-A28BD12F1829}"/>
              </a:ext>
            </a:extLst>
          </p:cNvPr>
          <p:cNvSpPr>
            <a:spLocks noGrp="1"/>
          </p:cNvSpPr>
          <p:nvPr/>
        </p:nvSpPr>
        <p:spPr>
          <a:xfrm>
            <a:off x="600075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BB3FB74-ED2C-461E-B995-5C40E621B268}"/>
              </a:ext>
            </a:extLst>
          </p:cNvPr>
          <p:cNvSpPr>
            <a:spLocks noGrp="1"/>
          </p:cNvSpPr>
          <p:nvPr/>
        </p:nvSpPr>
        <p:spPr>
          <a:xfrm>
            <a:off x="361950" y="131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9E54078-B090-4F72-9D69-4DDDBB701748}"/>
              </a:ext>
            </a:extLst>
          </p:cNvPr>
          <p:cNvSpPr>
            <a:spLocks noGrp="1"/>
          </p:cNvSpPr>
          <p:nvPr/>
        </p:nvSpPr>
        <p:spPr>
          <a:xfrm>
            <a:off x="1238250" y="133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0C9796-41A7-4E61-83BB-E100380C2F3A}"/>
              </a:ext>
            </a:extLst>
          </p:cNvPr>
          <p:cNvSpPr>
            <a:spLocks noGrp="1"/>
          </p:cNvSpPr>
          <p:nvPr/>
        </p:nvSpPr>
        <p:spPr>
          <a:xfrm>
            <a:off x="3524250" y="136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lang="en-US" sz="2325" b="0" dirty="0">
                <a:solidFill>
                  <a:srgbClr val="60717A"/>
                </a:solidFill>
                <a:latin typeface="Arial"/>
                <a:ea typeface="Arial"/>
                <a:cs typeface="Arial"/>
              </a:rPr>
              <a:t>Using the CryoAtom2 to model receptor by </a:t>
            </a:r>
            <a:r>
              <a:rPr lang="en-US" sz="2325" b="0" dirty="0" err="1">
                <a:solidFill>
                  <a:srgbClr val="60717A"/>
                </a:solidFill>
                <a:latin typeface="Arial"/>
                <a:ea typeface="Arial"/>
                <a:cs typeface="Arial"/>
              </a:rPr>
              <a:t>CryoEM</a:t>
            </a:r>
            <a:r>
              <a:rPr sz="2325" b="0" dirty="0">
                <a:solidFill>
                  <a:srgbClr val="60717A"/>
                </a:solidFill>
                <a:latin typeface="Arial"/>
                <a:ea typeface="Arial"/>
                <a:cs typeface="Arial"/>
              </a:rPr>
              <a:t> map </a:t>
            </a:r>
            <a:r>
              <a:rPr lang="en-US" sz="2325" dirty="0">
                <a:solidFill>
                  <a:srgbClr val="60717A"/>
                </a:solidFill>
                <a:latin typeface="Arial"/>
                <a:ea typeface="Arial"/>
                <a:cs typeface="Arial"/>
              </a:rPr>
              <a:t>as the two original inputs</a:t>
            </a:r>
            <a:endParaRPr sz="2325" b="0" dirty="0">
              <a:solidFill>
                <a:srgbClr val="6071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6FA7C195-BB38-4D33-A93D-7CE6804987B8}"/>
              </a:ext>
            </a:extLst>
          </p:cNvPr>
          <p:cNvSpPr>
            <a:spLocks noGrp="1"/>
          </p:cNvSpPr>
          <p:nvPr/>
        </p:nvSpPr>
        <p:spPr>
          <a:xfrm>
            <a:off x="1238250" y="189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C864837-72E8-42A7-88C0-C970CCAE1D53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816303-9BF5-4D57-8BDC-89FF016A55C4}"/>
              </a:ext>
            </a:extLst>
          </p:cNvPr>
          <p:cNvSpPr>
            <a:spLocks noGrp="1"/>
          </p:cNvSpPr>
          <p:nvPr/>
        </p:nvSpPr>
        <p:spPr>
          <a:xfrm>
            <a:off x="16573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experimental map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CFB3381-56D5-4DB0-9001-7F73B71AE1D7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BA8029B-61B3-4671-8DA5-547ED00849CF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CA2 receptor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675F1F2-E886-42E5-A630-75D4BB5B893D}"/>
              </a:ext>
            </a:extLst>
          </p:cNvPr>
          <p:cNvSpPr>
            <a:spLocks noGrp="1"/>
          </p:cNvSpPr>
          <p:nvPr/>
        </p:nvSpPr>
        <p:spPr>
          <a:xfrm>
            <a:off x="117157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D6EBE5D-B785-44E3-B913-8F2CFAE85592}"/>
              </a:ext>
            </a:extLst>
          </p:cNvPr>
          <p:cNvSpPr>
            <a:spLocks noGrp="1"/>
          </p:cNvSpPr>
          <p:nvPr/>
        </p:nvSpPr>
        <p:spPr>
          <a:xfrm>
            <a:off x="121348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receptor (reference)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FCF86AC6-70F2-4337-A2EC-7F97C4AFEAF7}"/>
              </a:ext>
            </a:extLst>
          </p:cNvPr>
          <p:cNvSpPr>
            <a:spLocks noGrp="1"/>
          </p:cNvSpPr>
          <p:nvPr/>
        </p:nvSpPr>
        <p:spPr>
          <a:xfrm>
            <a:off x="361950" y="512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E95DF1C-2D4E-4844-B29D-FF03646CCF68}"/>
              </a:ext>
            </a:extLst>
          </p:cNvPr>
          <p:cNvSpPr>
            <a:spLocks noGrp="1"/>
          </p:cNvSpPr>
          <p:nvPr/>
        </p:nvSpPr>
        <p:spPr>
          <a:xfrm>
            <a:off x="1238250" y="514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37EF18E-45D4-44E5-A737-FE81089A1EA4}"/>
              </a:ext>
            </a:extLst>
          </p:cNvPr>
          <p:cNvSpPr>
            <a:spLocks noGrp="1"/>
          </p:cNvSpPr>
          <p:nvPr/>
        </p:nvSpPr>
        <p:spPr>
          <a:xfrm>
            <a:off x="3524250" y="517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lang="en-US" sz="2325" dirty="0">
                <a:solidFill>
                  <a:srgbClr val="60717A"/>
                </a:solidFill>
                <a:latin typeface="Arial"/>
                <a:ea typeface="Arial"/>
                <a:cs typeface="Arial"/>
              </a:rPr>
              <a:t>Locating ligand area in the complete density map</a:t>
            </a:r>
            <a:endParaRPr sz="2325" b="0" dirty="0">
              <a:solidFill>
                <a:srgbClr val="6071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595FEE5B-5D2A-4274-A129-BFA81E21068B}"/>
              </a:ext>
            </a:extLst>
          </p:cNvPr>
          <p:cNvSpPr>
            <a:spLocks noGrp="1"/>
          </p:cNvSpPr>
          <p:nvPr/>
        </p:nvSpPr>
        <p:spPr>
          <a:xfrm>
            <a:off x="1238250" y="570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12F2CEF-17CB-4CDD-8E89-1AD096431876}"/>
              </a:ext>
            </a:extLst>
          </p:cNvPr>
          <p:cNvSpPr>
            <a:spLocks noGrp="1"/>
          </p:cNvSpPr>
          <p:nvPr/>
        </p:nvSpPr>
        <p:spPr>
          <a:xfrm>
            <a:off x="1238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872496A-4B9D-465B-B577-66459F4A5564}"/>
              </a:ext>
            </a:extLst>
          </p:cNvPr>
          <p:cNvSpPr>
            <a:spLocks noGrp="1"/>
          </p:cNvSpPr>
          <p:nvPr/>
        </p:nvSpPr>
        <p:spPr>
          <a:xfrm>
            <a:off x="1657350" y="5915025"/>
            <a:ext cx="5486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Global candidates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72474F3-A475-4978-AA94-09D9A2433218}"/>
              </a:ext>
            </a:extLst>
          </p:cNvPr>
          <p:cNvSpPr>
            <a:spLocks noGrp="1"/>
          </p:cNvSpPr>
          <p:nvPr/>
        </p:nvSpPr>
        <p:spPr>
          <a:xfrm>
            <a:off x="800100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C351EDE-8A3F-4D87-A960-6225C30425C0}"/>
              </a:ext>
            </a:extLst>
          </p:cNvPr>
          <p:cNvSpPr>
            <a:spLocks noGrp="1"/>
          </p:cNvSpPr>
          <p:nvPr/>
        </p:nvSpPr>
        <p:spPr>
          <a:xfrm>
            <a:off x="842010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neighborhood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3D3AF42-8DFF-4470-A143-FA62E99040A4}"/>
              </a:ext>
            </a:extLst>
          </p:cNvPr>
          <p:cNvSpPr>
            <a:spLocks noGrp="1"/>
          </p:cNvSpPr>
          <p:nvPr/>
        </p:nvSpPr>
        <p:spPr>
          <a:xfrm>
            <a:off x="12287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D6C239A-CD64-43C2-ABB3-A22ECEEBBF6F}"/>
              </a:ext>
            </a:extLst>
          </p:cNvPr>
          <p:cNvSpPr>
            <a:spLocks noGrp="1"/>
          </p:cNvSpPr>
          <p:nvPr/>
        </p:nvSpPr>
        <p:spPr>
          <a:xfrm>
            <a:off x="1270635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 prediction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29C9ECF-05EB-46D9-AB14-36FAA8D4BFC8}"/>
              </a:ext>
            </a:extLst>
          </p:cNvPr>
          <p:cNvSpPr>
            <a:spLocks noGrp="1"/>
          </p:cNvSpPr>
          <p:nvPr/>
        </p:nvSpPr>
        <p:spPr>
          <a:xfrm>
            <a:off x="8001000" y="6334125"/>
            <a:ext cx="8191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9F87A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F87A9"/>
                </a:solidFill>
                <a:latin typeface="Arial"/>
                <a:ea typeface="Arial"/>
                <a:cs typeface="Arial"/>
              </a:rPr>
              <a:t>Rank 1: background, one attempt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9548B6D-502C-4C59-8F2A-A8523637901E}"/>
              </a:ext>
            </a:extLst>
          </p:cNvPr>
          <p:cNvSpPr>
            <a:spLocks noGrp="1"/>
          </p:cNvSpPr>
          <p:nvPr/>
        </p:nvSpPr>
        <p:spPr>
          <a:xfrm>
            <a:off x="8001000" y="8039100"/>
            <a:ext cx="8191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Rank 2: target ligand, next attempt</a:t>
            </a: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6BBE13EF-8360-4242-B6E2-8DEC3F2B2CCE}"/>
              </a:ext>
            </a:extLst>
          </p:cNvPr>
          <p:cNvSpPr>
            <a:spLocks noGrp="1"/>
          </p:cNvSpPr>
          <p:nvPr/>
        </p:nvSpPr>
        <p:spPr>
          <a:xfrm>
            <a:off x="361950" y="1022032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0A48ED5-24C2-4E4A-9DFF-193CA2CAC6D7}"/>
              </a:ext>
            </a:extLst>
          </p:cNvPr>
          <p:cNvSpPr>
            <a:spLocks noGrp="1"/>
          </p:cNvSpPr>
          <p:nvPr/>
        </p:nvSpPr>
        <p:spPr>
          <a:xfrm>
            <a:off x="1238250" y="1023937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09412F6-B125-47DC-8CF9-ACF988EE47EE}"/>
              </a:ext>
            </a:extLst>
          </p:cNvPr>
          <p:cNvSpPr>
            <a:spLocks noGrp="1"/>
          </p:cNvSpPr>
          <p:nvPr/>
        </p:nvSpPr>
        <p:spPr>
          <a:xfrm>
            <a:off x="3524250" y="1026795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lang="en-US" sz="2325" b="0" dirty="0">
                <a:solidFill>
                  <a:srgbClr val="60717A"/>
                </a:solidFill>
                <a:latin typeface="Arial"/>
                <a:ea typeface="Arial"/>
                <a:cs typeface="Arial"/>
              </a:rPr>
              <a:t>Matching the blob with SMILES in the same PDB</a:t>
            </a:r>
            <a:endParaRPr sz="2325" b="0" dirty="0">
              <a:solidFill>
                <a:srgbClr val="6071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3BB70BCE-D8FB-4947-B1B5-9D231A7C5218}"/>
              </a:ext>
            </a:extLst>
          </p:cNvPr>
          <p:cNvSpPr>
            <a:spLocks noGrp="1"/>
          </p:cNvSpPr>
          <p:nvPr/>
        </p:nvSpPr>
        <p:spPr>
          <a:xfrm>
            <a:off x="1238250" y="1080135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B23852E-550A-4ADD-841C-690A44BCE1A9}"/>
              </a:ext>
            </a:extLst>
          </p:cNvPr>
          <p:cNvSpPr>
            <a:spLocks noGrp="1"/>
          </p:cNvSpPr>
          <p:nvPr/>
        </p:nvSpPr>
        <p:spPr>
          <a:xfrm>
            <a:off x="942975" y="10915650"/>
            <a:ext cx="28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8" name="Identity 1, matched">
            <a:extLst>
              <a:ext uri="{FF2B5EF4-FFF2-40B4-BE49-F238E27FC236}">
                <a16:creationId xmlns:a16="http://schemas.microsoft.com/office/drawing/2014/main" id="{7ABF3F2D-073D-4DFF-B7F0-EF37ED54F794}"/>
              </a:ext>
            </a:extLst>
          </p:cNvPr>
          <p:cNvSpPr>
            <a:spLocks noGrp="1"/>
          </p:cNvSpPr>
          <p:nvPr/>
        </p:nvSpPr>
        <p:spPr>
          <a:xfrm>
            <a:off x="1238250" y="10887075"/>
            <a:ext cx="7391400" cy="2667000"/>
          </a:xfrm>
          <a:prstGeom prst="rect">
            <a:avLst/>
          </a:prstGeom>
          <a:solidFill>
            <a:srgbClr val="FFFFFF"/>
          </a:solidFill>
          <a:ln w="28575">
            <a:solidFill>
              <a:srgbClr val="3169B3"/>
            </a:solidFill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FDCE943-9F26-4784-8359-8E000D28E85A}"/>
              </a:ext>
            </a:extLst>
          </p:cNvPr>
          <p:cNvSpPr>
            <a:spLocks noGrp="1"/>
          </p:cNvSpPr>
          <p:nvPr/>
        </p:nvSpPr>
        <p:spPr>
          <a:xfrm>
            <a:off x="1409700" y="10991850"/>
            <a:ext cx="7048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1  ATP</a:t>
            </a:r>
          </a:p>
        </p:txBody>
      </p:sp>
      <p:pic>
        <p:nvPicPr>
          <p:cNvPr id="129" name="图形 1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4157394" y="11382375"/>
            <a:ext cx="1553112" cy="1666875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E29900A3-8B30-461C-A350-7A2BC0BCA7FE}"/>
              </a:ext>
            </a:extLst>
          </p:cNvPr>
          <p:cNvSpPr>
            <a:spLocks noGrp="1"/>
          </p:cNvSpPr>
          <p:nvPr/>
        </p:nvSpPr>
        <p:spPr>
          <a:xfrm>
            <a:off x="1409700" y="13144500"/>
            <a:ext cx="7048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Matched identity</a:t>
            </a:r>
          </a:p>
        </p:txBody>
      </p:sp>
      <p:sp>
        <p:nvSpPr>
          <p:cNvPr id="52" name="Identity 2, outside Stage3 scope">
            <a:extLst>
              <a:ext uri="{FF2B5EF4-FFF2-40B4-BE49-F238E27FC236}">
                <a16:creationId xmlns:a16="http://schemas.microsoft.com/office/drawing/2014/main" id="{F8A9E124-59A6-4FB9-B718-3F72DBDCB264}"/>
              </a:ext>
            </a:extLst>
          </p:cNvPr>
          <p:cNvSpPr>
            <a:spLocks noGrp="1"/>
          </p:cNvSpPr>
          <p:nvPr/>
        </p:nvSpPr>
        <p:spPr>
          <a:xfrm>
            <a:off x="8896350" y="10887075"/>
            <a:ext cx="73914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FBB9C99-1280-4042-BFD9-F3A6DE88020D}"/>
              </a:ext>
            </a:extLst>
          </p:cNvPr>
          <p:cNvSpPr>
            <a:spLocks noGrp="1"/>
          </p:cNvSpPr>
          <p:nvPr/>
        </p:nvSpPr>
        <p:spPr>
          <a:xfrm>
            <a:off x="9067800" y="10991850"/>
            <a:ext cx="7048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2  Identity2</a:t>
            </a:r>
          </a:p>
        </p:txBody>
      </p:sp>
      <p:pic>
        <p:nvPicPr>
          <p:cNvPr id="133" name="图形 1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11317381" y="11382375"/>
            <a:ext cx="2549338" cy="1666875"/>
          </a:xfrm>
          <a:prstGeom prst="rect">
            <a:avLst/>
          </a:prstGeom>
        </p:spPr>
      </p:pic>
      <p:sp>
        <p:nvSpPr>
          <p:cNvPr id="56" name="椭圆 55">
            <a:extLst>
              <a:ext uri="{FF2B5EF4-FFF2-40B4-BE49-F238E27FC236}">
                <a16:creationId xmlns:a16="http://schemas.microsoft.com/office/drawing/2014/main" id="{9FFF29DD-DC68-4D8E-8C2E-B36522A1C6CF}"/>
              </a:ext>
            </a:extLst>
          </p:cNvPr>
          <p:cNvSpPr>
            <a:spLocks noGrp="1"/>
          </p:cNvSpPr>
          <p:nvPr/>
        </p:nvSpPr>
        <p:spPr>
          <a:xfrm>
            <a:off x="361950" y="1378267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3AFB96F-24D7-4C85-A248-32412905339F}"/>
              </a:ext>
            </a:extLst>
          </p:cNvPr>
          <p:cNvSpPr>
            <a:spLocks noGrp="1"/>
          </p:cNvSpPr>
          <p:nvPr/>
        </p:nvSpPr>
        <p:spPr>
          <a:xfrm>
            <a:off x="1238250" y="1380172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EED3226-E048-4E5D-B602-F09F7F3E660E}"/>
              </a:ext>
            </a:extLst>
          </p:cNvPr>
          <p:cNvSpPr>
            <a:spLocks noGrp="1"/>
          </p:cNvSpPr>
          <p:nvPr/>
        </p:nvSpPr>
        <p:spPr>
          <a:xfrm>
            <a:off x="3524250" y="1383030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lang="en-US" sz="2325" b="0" dirty="0">
                <a:solidFill>
                  <a:srgbClr val="60717A"/>
                </a:solidFill>
                <a:latin typeface="Arial"/>
                <a:ea typeface="Arial"/>
                <a:cs typeface="Arial"/>
              </a:rPr>
              <a:t>Generating the </a:t>
            </a:r>
            <a:r>
              <a:rPr sz="2325" b="0" dirty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Top-1 pose </a:t>
            </a:r>
            <a:r>
              <a:rPr lang="en-US" sz="2325" b="0" dirty="0">
                <a:solidFill>
                  <a:srgbClr val="60717A"/>
                </a:solidFill>
                <a:latin typeface="Arial"/>
                <a:ea typeface="Arial"/>
                <a:cs typeface="Arial"/>
              </a:rPr>
              <a:t>u</a:t>
            </a:r>
            <a:r>
              <a:rPr lang="en-US" altLang="zh-CN" sz="2325" dirty="0">
                <a:solidFill>
                  <a:srgbClr val="60717A"/>
                </a:solidFill>
                <a:latin typeface="Arial"/>
                <a:ea typeface="Arial"/>
                <a:cs typeface="Arial"/>
              </a:rPr>
              <a:t>sing </a:t>
            </a:r>
            <a:r>
              <a:rPr lang="en-US" altLang="zh-CN" sz="2325" dirty="0" err="1">
                <a:solidFill>
                  <a:srgbClr val="60717A"/>
                </a:solidFill>
                <a:latin typeface="Arial"/>
                <a:ea typeface="Arial"/>
                <a:cs typeface="Arial"/>
              </a:rPr>
              <a:t>PocketXmol</a:t>
            </a:r>
            <a:r>
              <a:rPr lang="en-US" altLang="zh-CN" sz="2325" dirty="0">
                <a:solidFill>
                  <a:srgbClr val="60717A"/>
                </a:solidFill>
                <a:latin typeface="Arial"/>
                <a:ea typeface="Arial"/>
                <a:cs typeface="Arial"/>
              </a:rPr>
              <a:t>-tuned. </a:t>
            </a:r>
            <a:endParaRPr sz="2325" b="0" dirty="0">
              <a:solidFill>
                <a:srgbClr val="6071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761C3FDF-EF5F-48A3-BBBE-00108D346B7F}"/>
              </a:ext>
            </a:extLst>
          </p:cNvPr>
          <p:cNvSpPr>
            <a:spLocks noGrp="1"/>
          </p:cNvSpPr>
          <p:nvPr/>
        </p:nvSpPr>
        <p:spPr>
          <a:xfrm>
            <a:off x="1238250" y="1436370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DD218FB-57FC-41EF-9AFF-960DE6CA0E31}"/>
              </a:ext>
            </a:extLst>
          </p:cNvPr>
          <p:cNvSpPr>
            <a:spLocks noGrp="1"/>
          </p:cNvSpPr>
          <p:nvPr/>
        </p:nvSpPr>
        <p:spPr>
          <a:xfrm>
            <a:off x="12382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E08121A-E4B0-49ED-A72C-5411A06EC5FA}"/>
              </a:ext>
            </a:extLst>
          </p:cNvPr>
          <p:cNvSpPr>
            <a:spLocks noGrp="1"/>
          </p:cNvSpPr>
          <p:nvPr/>
        </p:nvSpPr>
        <p:spPr>
          <a:xfrm>
            <a:off x="16573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Receptor surface</a:t>
            </a:r>
          </a:p>
        </p:txBody>
      </p:sp>
      <p:pic>
        <p:nvPicPr>
          <p:cNvPr id="141" name="图片 140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949450" y="14982825"/>
            <a:ext cx="3149600" cy="2362200"/>
          </a:xfrm>
          <a:prstGeom prst="rect">
            <a:avLst/>
          </a:prstGeom>
        </p:spPr>
      </p:pic>
      <p:sp>
        <p:nvSpPr>
          <p:cNvPr id="63" name="矩形 62">
            <a:extLst>
              <a:ext uri="{FF2B5EF4-FFF2-40B4-BE49-F238E27FC236}">
                <a16:creationId xmlns:a16="http://schemas.microsoft.com/office/drawing/2014/main" id="{71B1C6E3-320C-44CF-BCC7-CAE44FE496D5}"/>
              </a:ext>
            </a:extLst>
          </p:cNvPr>
          <p:cNvSpPr>
            <a:spLocks noGrp="1"/>
          </p:cNvSpPr>
          <p:nvPr/>
        </p:nvSpPr>
        <p:spPr>
          <a:xfrm>
            <a:off x="647700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0B84B16-FF72-4C33-B0B5-7823A36214DF}"/>
              </a:ext>
            </a:extLst>
          </p:cNvPr>
          <p:cNvSpPr>
            <a:spLocks noGrp="1"/>
          </p:cNvSpPr>
          <p:nvPr/>
        </p:nvSpPr>
        <p:spPr>
          <a:xfrm>
            <a:off x="689610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pic>
        <p:nvPicPr>
          <p:cNvPr id="144" name="图片 143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7188200" y="14982825"/>
            <a:ext cx="3149600" cy="2362200"/>
          </a:xfrm>
          <a:prstGeom prst="rect">
            <a:avLst/>
          </a:prstGeom>
        </p:spPr>
      </p:pic>
      <p:sp>
        <p:nvSpPr>
          <p:cNvPr id="66" name="矩形 65">
            <a:extLst>
              <a:ext uri="{FF2B5EF4-FFF2-40B4-BE49-F238E27FC236}">
                <a16:creationId xmlns:a16="http://schemas.microsoft.com/office/drawing/2014/main" id="{CB5D5891-3385-4E98-B3B3-9BABD1BAD75D}"/>
              </a:ext>
            </a:extLst>
          </p:cNvPr>
          <p:cNvSpPr>
            <a:spLocks noGrp="1"/>
          </p:cNvSpPr>
          <p:nvPr/>
        </p:nvSpPr>
        <p:spPr>
          <a:xfrm>
            <a:off x="117157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516CAE8-243A-421A-85C5-86FFBBC65346}"/>
              </a:ext>
            </a:extLst>
          </p:cNvPr>
          <p:cNvSpPr>
            <a:spLocks noGrp="1"/>
          </p:cNvSpPr>
          <p:nvPr/>
        </p:nvSpPr>
        <p:spPr>
          <a:xfrm>
            <a:off x="121348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Deposited pose overlay</a:t>
            </a:r>
          </a:p>
        </p:txBody>
      </p:sp>
      <p:pic>
        <p:nvPicPr>
          <p:cNvPr id="147" name="图片 146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12426950" y="14982825"/>
            <a:ext cx="3149600" cy="2362200"/>
          </a:xfrm>
          <a:prstGeom prst="rect">
            <a:avLst/>
          </a:prstGeom>
        </p:spPr>
      </p:pic>
      <p:sp>
        <p:nvSpPr>
          <p:cNvPr id="69" name="矩形 68">
            <a:extLst>
              <a:ext uri="{FF2B5EF4-FFF2-40B4-BE49-F238E27FC236}">
                <a16:creationId xmlns:a16="http://schemas.microsoft.com/office/drawing/2014/main" id="{333144AA-BF0F-4B9A-A68E-EBAD2E634549}"/>
              </a:ext>
            </a:extLst>
          </p:cNvPr>
          <p:cNvSpPr>
            <a:spLocks noGrp="1"/>
          </p:cNvSpPr>
          <p:nvPr/>
        </p:nvSpPr>
        <p:spPr>
          <a:xfrm>
            <a:off x="1238250" y="17506950"/>
            <a:ext cx="15049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3169B3"/>
                </a:solidFill>
                <a:latin typeface="Arial"/>
                <a:ea typeface="Arial"/>
                <a:cs typeface="Arial"/>
              </a:rPr>
              <a:t>RMSD 1.04 Å</a:t>
            </a:r>
          </a:p>
        </p:txBody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E833D41D-881E-4634-AC60-01B806645A04}"/>
              </a:ext>
            </a:extLst>
          </p:cNvPr>
          <p:cNvSpPr>
            <a:spLocks noGrp="1"/>
          </p:cNvSpPr>
          <p:nvPr/>
        </p:nvSpPr>
        <p:spPr>
          <a:xfrm>
            <a:off x="1238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6AFDA15B-1376-4A4E-9A62-8BF2481C0D25}"/>
              </a:ext>
            </a:extLst>
          </p:cNvPr>
          <p:cNvSpPr>
            <a:spLocks noGrp="1"/>
          </p:cNvSpPr>
          <p:nvPr/>
        </p:nvSpPr>
        <p:spPr>
          <a:xfrm>
            <a:off x="1647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1BBB5FE0-D123-4B54-B87F-95F5A7B8B0DE}"/>
              </a:ext>
            </a:extLst>
          </p:cNvPr>
          <p:cNvSpPr>
            <a:spLocks noGrp="1"/>
          </p:cNvSpPr>
          <p:nvPr/>
        </p:nvSpPr>
        <p:spPr>
          <a:xfrm>
            <a:off x="4286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16773"/>
            </a:solidFill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FA9C2BBC-35DD-45BC-A9C5-9A16837464B4}"/>
              </a:ext>
            </a:extLst>
          </p:cNvPr>
          <p:cNvSpPr>
            <a:spLocks noGrp="1"/>
          </p:cNvSpPr>
          <p:nvPr/>
        </p:nvSpPr>
        <p:spPr>
          <a:xfrm>
            <a:off x="4695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C9D0CB0B-5980-4229-B0E1-46902DA9FA6A}"/>
              </a:ext>
            </a:extLst>
          </p:cNvPr>
          <p:cNvSpPr>
            <a:spLocks noGrp="1"/>
          </p:cNvSpPr>
          <p:nvPr/>
        </p:nvSpPr>
        <p:spPr>
          <a:xfrm>
            <a:off x="7334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B66B2CD-A233-446E-B1C5-941246B51DC4}"/>
              </a:ext>
            </a:extLst>
          </p:cNvPr>
          <p:cNvSpPr>
            <a:spLocks noGrp="1"/>
          </p:cNvSpPr>
          <p:nvPr/>
        </p:nvSpPr>
        <p:spPr>
          <a:xfrm>
            <a:off x="7743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Target blob</a:t>
            </a:r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FC6D3F96-56B2-45B3-B871-7C8846210E4D}"/>
              </a:ext>
            </a:extLst>
          </p:cNvPr>
          <p:cNvSpPr>
            <a:spLocks noGrp="1"/>
          </p:cNvSpPr>
          <p:nvPr/>
        </p:nvSpPr>
        <p:spPr>
          <a:xfrm>
            <a:off x="10382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E355A8B-B023-457C-B8AD-EACAF6AFC278}"/>
              </a:ext>
            </a:extLst>
          </p:cNvPr>
          <p:cNvSpPr>
            <a:spLocks noGrp="1"/>
          </p:cNvSpPr>
          <p:nvPr/>
        </p:nvSpPr>
        <p:spPr>
          <a:xfrm>
            <a:off x="10791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Predicted pose</a:t>
            </a:r>
          </a:p>
        </p:txBody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05620AFE-6CC6-484F-AD7D-6B2E9474800A}"/>
              </a:ext>
            </a:extLst>
          </p:cNvPr>
          <p:cNvSpPr>
            <a:spLocks noGrp="1"/>
          </p:cNvSpPr>
          <p:nvPr/>
        </p:nvSpPr>
        <p:spPr>
          <a:xfrm>
            <a:off x="13430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E700152B-948D-4197-AA6E-4A0BC4D4D512}"/>
              </a:ext>
            </a:extLst>
          </p:cNvPr>
          <p:cNvSpPr>
            <a:spLocks noGrp="1"/>
          </p:cNvSpPr>
          <p:nvPr/>
        </p:nvSpPr>
        <p:spPr>
          <a:xfrm>
            <a:off x="13839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Deposited pose</a:t>
            </a: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C8663B39-C483-72E1-0335-DE5D2C28DE79}"/>
              </a:ext>
            </a:extLst>
          </p:cNvPr>
          <p:cNvGrpSpPr/>
          <p:nvPr/>
        </p:nvGrpSpPr>
        <p:grpSpPr>
          <a:xfrm>
            <a:off x="4751434" y="2922737"/>
            <a:ext cx="3298680" cy="1121400"/>
            <a:chOff x="4751434" y="2922737"/>
            <a:chExt cx="3298680" cy="112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A25E49A9-A869-C97D-E275-7035D9DACDA7}"/>
                    </a:ext>
                  </a:extLst>
                </p14:cNvPr>
                <p14:cNvContentPartPr/>
                <p14:nvPr/>
              </p14:nvContentPartPr>
              <p14:xfrm>
                <a:off x="4751434" y="3722657"/>
                <a:ext cx="1907280" cy="5076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A25E49A9-A869-C97D-E275-7035D9DACDA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745314" y="3716537"/>
                  <a:ext cx="19195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AF4489AA-F915-5E57-4D6C-853A6AA18F1D}"/>
                    </a:ext>
                  </a:extLst>
                </p14:cNvPr>
                <p14:cNvContentPartPr/>
                <p14:nvPr/>
              </p14:nvContentPartPr>
              <p14:xfrm>
                <a:off x="6252274" y="3494057"/>
                <a:ext cx="544320" cy="55008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AF4489AA-F915-5E57-4D6C-853A6AA18F1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246154" y="3487937"/>
                  <a:ext cx="55656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C1B81769-5F74-DF5D-9F3B-DF846135F491}"/>
                    </a:ext>
                  </a:extLst>
                </p14:cNvPr>
                <p14:cNvContentPartPr/>
                <p14:nvPr/>
              </p14:nvContentPartPr>
              <p14:xfrm>
                <a:off x="6466114" y="3771617"/>
                <a:ext cx="178200" cy="36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C1B81769-5F74-DF5D-9F3B-DF846135F49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459994" y="3765497"/>
                  <a:ext cx="190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DF4E9C2B-C18F-2AC2-28D2-B11BF3D892E5}"/>
                    </a:ext>
                  </a:extLst>
                </p14:cNvPr>
                <p14:cNvContentPartPr/>
                <p14:nvPr/>
              </p14:nvContentPartPr>
              <p14:xfrm>
                <a:off x="5160754" y="2971337"/>
                <a:ext cx="344880" cy="49104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DF4E9C2B-C18F-2AC2-28D2-B11BF3D892E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154634" y="2965217"/>
                  <a:ext cx="35712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78057C28-3CEA-8731-84FE-4E08AC583BB1}"/>
                    </a:ext>
                  </a:extLst>
                </p14:cNvPr>
                <p14:cNvContentPartPr/>
                <p14:nvPr/>
              </p14:nvContentPartPr>
              <p14:xfrm>
                <a:off x="5845474" y="2922737"/>
                <a:ext cx="360" cy="36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78057C28-3CEA-8731-84FE-4E08AC583BB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39354" y="291661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69650AB9-B13A-15F1-8E97-F04E42442CBF}"/>
                    </a:ext>
                  </a:extLst>
                </p14:cNvPr>
                <p14:cNvContentPartPr/>
                <p14:nvPr/>
              </p14:nvContentPartPr>
              <p14:xfrm>
                <a:off x="5502754" y="3134777"/>
                <a:ext cx="426600" cy="691920"/>
              </p14:xfrm>
            </p:contentPart>
          </mc:Choice>
          <mc:Fallback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69650AB9-B13A-15F1-8E97-F04E42442CB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496634" y="3128657"/>
                  <a:ext cx="438840" cy="70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E6AE5826-3788-C956-F8C7-5F10BA80AA5F}"/>
                    </a:ext>
                  </a:extLst>
                </p14:cNvPr>
                <p14:cNvContentPartPr/>
                <p14:nvPr/>
              </p14:nvContentPartPr>
              <p14:xfrm>
                <a:off x="5991994" y="3249257"/>
                <a:ext cx="143640" cy="24516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E6AE5826-3788-C956-F8C7-5F10BA80AA5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85874" y="3243137"/>
                  <a:ext cx="1558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8CEF9FCE-3010-4617-8D23-19336B45B484}"/>
                    </a:ext>
                  </a:extLst>
                </p14:cNvPr>
                <p14:cNvContentPartPr/>
                <p14:nvPr/>
              </p14:nvContentPartPr>
              <p14:xfrm>
                <a:off x="6239314" y="3053057"/>
                <a:ext cx="227160" cy="47592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8CEF9FCE-3010-4617-8D23-19336B45B48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233194" y="3046937"/>
                  <a:ext cx="23940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BFA2F4D7-B9D8-3CFB-6CFD-EFB4DA97007E}"/>
                    </a:ext>
                  </a:extLst>
                </p14:cNvPr>
                <p14:cNvContentPartPr/>
                <p14:nvPr/>
              </p14:nvContentPartPr>
              <p14:xfrm>
                <a:off x="6531274" y="2938937"/>
                <a:ext cx="360" cy="526320"/>
              </p14:xfrm>
            </p:contentPart>
          </mc:Choice>
          <mc:Fallback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BFA2F4D7-B9D8-3CFB-6CFD-EFB4DA97007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525154" y="2932817"/>
                  <a:ext cx="1260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87" name="墨迹 86">
                  <a:extLst>
                    <a:ext uri="{FF2B5EF4-FFF2-40B4-BE49-F238E27FC236}">
                      <a16:creationId xmlns:a16="http://schemas.microsoft.com/office/drawing/2014/main" id="{DC556DC8-6CE9-BB60-5BF1-CBF72F98CA84}"/>
                    </a:ext>
                  </a:extLst>
                </p14:cNvPr>
                <p14:cNvContentPartPr/>
                <p14:nvPr/>
              </p14:nvContentPartPr>
              <p14:xfrm>
                <a:off x="6318874" y="3314057"/>
                <a:ext cx="144000" cy="17280"/>
              </p14:xfrm>
            </p:contentPart>
          </mc:Choice>
          <mc:Fallback>
            <p:pic>
              <p:nvPicPr>
                <p:cNvPr id="87" name="墨迹 86">
                  <a:extLst>
                    <a:ext uri="{FF2B5EF4-FFF2-40B4-BE49-F238E27FC236}">
                      <a16:creationId xmlns:a16="http://schemas.microsoft.com/office/drawing/2014/main" id="{DC556DC8-6CE9-BB60-5BF1-CBF72F98CA8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312754" y="3307937"/>
                  <a:ext cx="1562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88" name="墨迹 87">
                  <a:extLst>
                    <a:ext uri="{FF2B5EF4-FFF2-40B4-BE49-F238E27FC236}">
                      <a16:creationId xmlns:a16="http://schemas.microsoft.com/office/drawing/2014/main" id="{7D1D291A-0D48-8D79-B31C-45E8439F9F9C}"/>
                    </a:ext>
                  </a:extLst>
                </p14:cNvPr>
                <p14:cNvContentPartPr/>
                <p14:nvPr/>
              </p14:nvContentPartPr>
              <p14:xfrm>
                <a:off x="6719914" y="3020657"/>
                <a:ext cx="73080" cy="508320"/>
              </p14:xfrm>
            </p:contentPart>
          </mc:Choice>
          <mc:Fallback>
            <p:pic>
              <p:nvPicPr>
                <p:cNvPr id="88" name="墨迹 87">
                  <a:extLst>
                    <a:ext uri="{FF2B5EF4-FFF2-40B4-BE49-F238E27FC236}">
                      <a16:creationId xmlns:a16="http://schemas.microsoft.com/office/drawing/2014/main" id="{7D1D291A-0D48-8D79-B31C-45E8439F9F9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713794" y="3014537"/>
                  <a:ext cx="8532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A3DD2F41-F15E-BBE0-EE37-DB77726DC207}"/>
                    </a:ext>
                  </a:extLst>
                </p14:cNvPr>
                <p14:cNvContentPartPr/>
                <p14:nvPr/>
              </p14:nvContentPartPr>
              <p14:xfrm>
                <a:off x="6629194" y="3312257"/>
                <a:ext cx="211680" cy="67680"/>
              </p14:xfrm>
            </p:contentPart>
          </mc:Choice>
          <mc:Fallback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A3DD2F41-F15E-BBE0-EE37-DB77726DC20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623074" y="3306137"/>
                  <a:ext cx="2239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91" name="墨迹 90">
                  <a:extLst>
                    <a:ext uri="{FF2B5EF4-FFF2-40B4-BE49-F238E27FC236}">
                      <a16:creationId xmlns:a16="http://schemas.microsoft.com/office/drawing/2014/main" id="{20541373-1FC4-2204-355E-7207FA096F08}"/>
                    </a:ext>
                  </a:extLst>
                </p14:cNvPr>
                <p14:cNvContentPartPr/>
                <p14:nvPr/>
              </p14:nvContentPartPr>
              <p14:xfrm>
                <a:off x="6888754" y="3428897"/>
                <a:ext cx="118440" cy="194760"/>
              </p14:xfrm>
            </p:contentPart>
          </mc:Choice>
          <mc:Fallback>
            <p:pic>
              <p:nvPicPr>
                <p:cNvPr id="91" name="墨迹 90">
                  <a:extLst>
                    <a:ext uri="{FF2B5EF4-FFF2-40B4-BE49-F238E27FC236}">
                      <a16:creationId xmlns:a16="http://schemas.microsoft.com/office/drawing/2014/main" id="{20541373-1FC4-2204-355E-7207FA096F0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882634" y="3422777"/>
                  <a:ext cx="1306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92" name="墨迹 91">
                  <a:extLst>
                    <a:ext uri="{FF2B5EF4-FFF2-40B4-BE49-F238E27FC236}">
                      <a16:creationId xmlns:a16="http://schemas.microsoft.com/office/drawing/2014/main" id="{1D28FE84-ED55-1DCE-8C27-794F591F0661}"/>
                    </a:ext>
                  </a:extLst>
                </p14:cNvPr>
                <p14:cNvContentPartPr/>
                <p14:nvPr/>
              </p14:nvContentPartPr>
              <p14:xfrm>
                <a:off x="7134274" y="3379937"/>
                <a:ext cx="181080" cy="304920"/>
              </p14:xfrm>
            </p:contentPart>
          </mc:Choice>
          <mc:Fallback>
            <p:pic>
              <p:nvPicPr>
                <p:cNvPr id="92" name="墨迹 91">
                  <a:extLst>
                    <a:ext uri="{FF2B5EF4-FFF2-40B4-BE49-F238E27FC236}">
                      <a16:creationId xmlns:a16="http://schemas.microsoft.com/office/drawing/2014/main" id="{1D28FE84-ED55-1DCE-8C27-794F591F066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128154" y="3373817"/>
                  <a:ext cx="1933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93" name="墨迹 92">
                  <a:extLst>
                    <a:ext uri="{FF2B5EF4-FFF2-40B4-BE49-F238E27FC236}">
                      <a16:creationId xmlns:a16="http://schemas.microsoft.com/office/drawing/2014/main" id="{6D3153A2-9102-107E-E2FC-60D8B855D748}"/>
                    </a:ext>
                  </a:extLst>
                </p14:cNvPr>
                <p14:cNvContentPartPr/>
                <p14:nvPr/>
              </p14:nvContentPartPr>
              <p14:xfrm>
                <a:off x="7347754" y="3409817"/>
                <a:ext cx="182520" cy="263160"/>
              </p14:xfrm>
            </p:contentPart>
          </mc:Choice>
          <mc:Fallback>
            <p:pic>
              <p:nvPicPr>
                <p:cNvPr id="93" name="墨迹 92">
                  <a:extLst>
                    <a:ext uri="{FF2B5EF4-FFF2-40B4-BE49-F238E27FC236}">
                      <a16:creationId xmlns:a16="http://schemas.microsoft.com/office/drawing/2014/main" id="{6D3153A2-9102-107E-E2FC-60D8B855D74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341634" y="3403697"/>
                  <a:ext cx="1947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94" name="墨迹 93">
                  <a:extLst>
                    <a:ext uri="{FF2B5EF4-FFF2-40B4-BE49-F238E27FC236}">
                      <a16:creationId xmlns:a16="http://schemas.microsoft.com/office/drawing/2014/main" id="{EE5C9D03-9EFF-55ED-585D-B07185A1A26C}"/>
                    </a:ext>
                  </a:extLst>
                </p14:cNvPr>
                <p14:cNvContentPartPr/>
                <p14:nvPr/>
              </p14:nvContentPartPr>
              <p14:xfrm>
                <a:off x="7620274" y="3034697"/>
                <a:ext cx="218880" cy="585720"/>
              </p14:xfrm>
            </p:contentPart>
          </mc:Choice>
          <mc:Fallback>
            <p:pic>
              <p:nvPicPr>
                <p:cNvPr id="94" name="墨迹 93">
                  <a:extLst>
                    <a:ext uri="{FF2B5EF4-FFF2-40B4-BE49-F238E27FC236}">
                      <a16:creationId xmlns:a16="http://schemas.microsoft.com/office/drawing/2014/main" id="{EE5C9D03-9EFF-55ED-585D-B07185A1A26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614154" y="3028577"/>
                  <a:ext cx="23112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96" name="墨迹 95">
                  <a:extLst>
                    <a:ext uri="{FF2B5EF4-FFF2-40B4-BE49-F238E27FC236}">
                      <a16:creationId xmlns:a16="http://schemas.microsoft.com/office/drawing/2014/main" id="{52238F65-6BD5-3210-DB7E-55D4EDE54144}"/>
                    </a:ext>
                  </a:extLst>
                </p14:cNvPr>
                <p14:cNvContentPartPr/>
                <p14:nvPr/>
              </p14:nvContentPartPr>
              <p14:xfrm>
                <a:off x="7660234" y="3640577"/>
                <a:ext cx="389880" cy="17280"/>
              </p14:xfrm>
            </p:contentPart>
          </mc:Choice>
          <mc:Fallback>
            <p:pic>
              <p:nvPicPr>
                <p:cNvPr id="96" name="墨迹 95">
                  <a:extLst>
                    <a:ext uri="{FF2B5EF4-FFF2-40B4-BE49-F238E27FC236}">
                      <a16:creationId xmlns:a16="http://schemas.microsoft.com/office/drawing/2014/main" id="{52238F65-6BD5-3210-DB7E-55D4EDE5414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654114" y="3634457"/>
                  <a:ext cx="402120" cy="2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99" name="墨迹 98">
                <a:extLst>
                  <a:ext uri="{FF2B5EF4-FFF2-40B4-BE49-F238E27FC236}">
                    <a16:creationId xmlns:a16="http://schemas.microsoft.com/office/drawing/2014/main" id="{738B1DF8-EBB1-0864-E1EE-E650CD4B8D00}"/>
                  </a:ext>
                </a:extLst>
              </p14:cNvPr>
              <p14:cNvContentPartPr/>
              <p14:nvPr/>
            </p14:nvContentPartPr>
            <p14:xfrm>
              <a:off x="5340034" y="2988617"/>
              <a:ext cx="163080" cy="48600"/>
            </p14:xfrm>
          </p:contentPart>
        </mc:Choice>
        <mc:Fallback>
          <p:pic>
            <p:nvPicPr>
              <p:cNvPr id="99" name="墨迹 98">
                <a:extLst>
                  <a:ext uri="{FF2B5EF4-FFF2-40B4-BE49-F238E27FC236}">
                    <a16:creationId xmlns:a16="http://schemas.microsoft.com/office/drawing/2014/main" id="{738B1DF8-EBB1-0864-E1EE-E650CD4B8D0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333914" y="2982497"/>
                <a:ext cx="17532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101" name="墨迹 100">
                <a:extLst>
                  <a:ext uri="{FF2B5EF4-FFF2-40B4-BE49-F238E27FC236}">
                    <a16:creationId xmlns:a16="http://schemas.microsoft.com/office/drawing/2014/main" id="{C47417DE-3453-FA23-ACA9-6F3C82B93E3C}"/>
                  </a:ext>
                </a:extLst>
              </p14:cNvPr>
              <p14:cNvContentPartPr/>
              <p14:nvPr/>
            </p14:nvContentPartPr>
            <p14:xfrm>
              <a:off x="11103274" y="2073497"/>
              <a:ext cx="360" cy="360"/>
            </p14:xfrm>
          </p:contentPart>
        </mc:Choice>
        <mc:Fallback>
          <p:pic>
            <p:nvPicPr>
              <p:cNvPr id="101" name="墨迹 100">
                <a:extLst>
                  <a:ext uri="{FF2B5EF4-FFF2-40B4-BE49-F238E27FC236}">
                    <a16:creationId xmlns:a16="http://schemas.microsoft.com/office/drawing/2014/main" id="{C47417DE-3453-FA23-ACA9-6F3C82B93E3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1097154" y="206737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12" name="墨迹 111">
                <a:extLst>
                  <a:ext uri="{FF2B5EF4-FFF2-40B4-BE49-F238E27FC236}">
                    <a16:creationId xmlns:a16="http://schemas.microsoft.com/office/drawing/2014/main" id="{C5E569CF-D56E-701C-AA78-4C0836290A27}"/>
                  </a:ext>
                </a:extLst>
              </p14:cNvPr>
              <p14:cNvContentPartPr/>
              <p14:nvPr/>
            </p14:nvContentPartPr>
            <p14:xfrm>
              <a:off x="11194714" y="1926617"/>
              <a:ext cx="6840" cy="418680"/>
            </p14:xfrm>
          </p:contentPart>
        </mc:Choice>
        <mc:Fallback>
          <p:pic>
            <p:nvPicPr>
              <p:cNvPr id="112" name="墨迹 111">
                <a:extLst>
                  <a:ext uri="{FF2B5EF4-FFF2-40B4-BE49-F238E27FC236}">
                    <a16:creationId xmlns:a16="http://schemas.microsoft.com/office/drawing/2014/main" id="{C5E569CF-D56E-701C-AA78-4C0836290A2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188594" y="1920497"/>
                <a:ext cx="1908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13" name="墨迹 112">
                <a:extLst>
                  <a:ext uri="{FF2B5EF4-FFF2-40B4-BE49-F238E27FC236}">
                    <a16:creationId xmlns:a16="http://schemas.microsoft.com/office/drawing/2014/main" id="{3E392F20-7238-D0C3-465E-46E118551891}"/>
                  </a:ext>
                </a:extLst>
              </p14:cNvPr>
              <p14:cNvContentPartPr/>
              <p14:nvPr/>
            </p14:nvContentPartPr>
            <p14:xfrm>
              <a:off x="11119474" y="2792057"/>
              <a:ext cx="32400" cy="217800"/>
            </p14:xfrm>
          </p:contentPart>
        </mc:Choice>
        <mc:Fallback>
          <p:pic>
            <p:nvPicPr>
              <p:cNvPr id="113" name="墨迹 112">
                <a:extLst>
                  <a:ext uri="{FF2B5EF4-FFF2-40B4-BE49-F238E27FC236}">
                    <a16:creationId xmlns:a16="http://schemas.microsoft.com/office/drawing/2014/main" id="{3E392F20-7238-D0C3-465E-46E11855189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113354" y="2785937"/>
                <a:ext cx="4464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14" name="墨迹 113">
                <a:extLst>
                  <a:ext uri="{FF2B5EF4-FFF2-40B4-BE49-F238E27FC236}">
                    <a16:creationId xmlns:a16="http://schemas.microsoft.com/office/drawing/2014/main" id="{FA284286-6ACE-45A1-9B8D-38C18316DBD6}"/>
                  </a:ext>
                </a:extLst>
              </p14:cNvPr>
              <p14:cNvContentPartPr/>
              <p14:nvPr/>
            </p14:nvContentPartPr>
            <p14:xfrm>
              <a:off x="11184994" y="3559577"/>
              <a:ext cx="48600" cy="197280"/>
            </p14:xfrm>
          </p:contentPart>
        </mc:Choice>
        <mc:Fallback>
          <p:pic>
            <p:nvPicPr>
              <p:cNvPr id="114" name="墨迹 113">
                <a:extLst>
                  <a:ext uri="{FF2B5EF4-FFF2-40B4-BE49-F238E27FC236}">
                    <a16:creationId xmlns:a16="http://schemas.microsoft.com/office/drawing/2014/main" id="{FA284286-6ACE-45A1-9B8D-38C18316DBD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1178874" y="3553457"/>
                <a:ext cx="6084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0782F49E-8B33-1F27-DCBC-50D59B0FD690}"/>
                  </a:ext>
                </a:extLst>
              </p14:cNvPr>
              <p14:cNvContentPartPr/>
              <p14:nvPr/>
            </p14:nvContentPartPr>
            <p14:xfrm>
              <a:off x="11233954" y="4081937"/>
              <a:ext cx="13320" cy="151560"/>
            </p14:xfrm>
          </p:contentPart>
        </mc:Choice>
        <mc:Fallback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0782F49E-8B33-1F27-DCBC-50D59B0FD69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227834" y="4075817"/>
                <a:ext cx="2556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16" name="墨迹 115">
                <a:extLst>
                  <a:ext uri="{FF2B5EF4-FFF2-40B4-BE49-F238E27FC236}">
                    <a16:creationId xmlns:a16="http://schemas.microsoft.com/office/drawing/2014/main" id="{A9714454-727B-1C98-F9F8-A9B1631DEE5D}"/>
                  </a:ext>
                </a:extLst>
              </p14:cNvPr>
              <p14:cNvContentPartPr/>
              <p14:nvPr/>
            </p14:nvContentPartPr>
            <p14:xfrm>
              <a:off x="11250154" y="4539137"/>
              <a:ext cx="32400" cy="130320"/>
            </p14:xfrm>
          </p:contentPart>
        </mc:Choice>
        <mc:Fallback>
          <p:pic>
            <p:nvPicPr>
              <p:cNvPr id="116" name="墨迹 115">
                <a:extLst>
                  <a:ext uri="{FF2B5EF4-FFF2-40B4-BE49-F238E27FC236}">
                    <a16:creationId xmlns:a16="http://schemas.microsoft.com/office/drawing/2014/main" id="{A9714454-727B-1C98-F9F8-A9B1631DEE5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1244034" y="4533017"/>
                <a:ext cx="4464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19" name="墨迹 118">
                <a:extLst>
                  <a:ext uri="{FF2B5EF4-FFF2-40B4-BE49-F238E27FC236}">
                    <a16:creationId xmlns:a16="http://schemas.microsoft.com/office/drawing/2014/main" id="{6DC7000A-90EC-C96D-3291-AD20E1C669EE}"/>
                  </a:ext>
                </a:extLst>
              </p14:cNvPr>
              <p14:cNvContentPartPr/>
              <p14:nvPr/>
            </p14:nvContentPartPr>
            <p14:xfrm>
              <a:off x="11217394" y="5094257"/>
              <a:ext cx="31680" cy="213840"/>
            </p14:xfrm>
          </p:contentPart>
        </mc:Choice>
        <mc:Fallback>
          <p:pic>
            <p:nvPicPr>
              <p:cNvPr id="119" name="墨迹 118">
                <a:extLst>
                  <a:ext uri="{FF2B5EF4-FFF2-40B4-BE49-F238E27FC236}">
                    <a16:creationId xmlns:a16="http://schemas.microsoft.com/office/drawing/2014/main" id="{6DC7000A-90EC-C96D-3291-AD20E1C669E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211274" y="5088137"/>
                <a:ext cx="4392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22" name="墨迹 121">
                <a:extLst>
                  <a:ext uri="{FF2B5EF4-FFF2-40B4-BE49-F238E27FC236}">
                    <a16:creationId xmlns:a16="http://schemas.microsoft.com/office/drawing/2014/main" id="{0AFA0FE7-5C13-EFC3-2B42-4BB2B56C0502}"/>
                  </a:ext>
                </a:extLst>
              </p14:cNvPr>
              <p14:cNvContentPartPr/>
              <p14:nvPr/>
            </p14:nvContentPartPr>
            <p14:xfrm>
              <a:off x="11364634" y="5469737"/>
              <a:ext cx="13320" cy="106920"/>
            </p14:xfrm>
          </p:contentPart>
        </mc:Choice>
        <mc:Fallback>
          <p:pic>
            <p:nvPicPr>
              <p:cNvPr id="122" name="墨迹 121">
                <a:extLst>
                  <a:ext uri="{FF2B5EF4-FFF2-40B4-BE49-F238E27FC236}">
                    <a16:creationId xmlns:a16="http://schemas.microsoft.com/office/drawing/2014/main" id="{0AFA0FE7-5C13-EFC3-2B42-4BB2B56C050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358514" y="5463617"/>
                <a:ext cx="2556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23" name="墨迹 122">
                <a:extLst>
                  <a:ext uri="{FF2B5EF4-FFF2-40B4-BE49-F238E27FC236}">
                    <a16:creationId xmlns:a16="http://schemas.microsoft.com/office/drawing/2014/main" id="{84628846-60E9-1CFE-A6A1-0C5CC1F00434}"/>
                  </a:ext>
                </a:extLst>
              </p14:cNvPr>
              <p14:cNvContentPartPr/>
              <p14:nvPr/>
            </p14:nvContentPartPr>
            <p14:xfrm>
              <a:off x="18353314" y="15234377"/>
              <a:ext cx="360" cy="360"/>
            </p14:xfrm>
          </p:contentPart>
        </mc:Choice>
        <mc:Fallback>
          <p:pic>
            <p:nvPicPr>
              <p:cNvPr id="123" name="墨迹 122">
                <a:extLst>
                  <a:ext uri="{FF2B5EF4-FFF2-40B4-BE49-F238E27FC236}">
                    <a16:creationId xmlns:a16="http://schemas.microsoft.com/office/drawing/2014/main" id="{84628846-60E9-1CFE-A6A1-0C5CC1F0043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8347194" y="1522825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26" name="墨迹 125">
                <a:extLst>
                  <a:ext uri="{FF2B5EF4-FFF2-40B4-BE49-F238E27FC236}">
                    <a16:creationId xmlns:a16="http://schemas.microsoft.com/office/drawing/2014/main" id="{F7B00662-E9C2-72B9-D7C0-57D7901D1CC4}"/>
                  </a:ext>
                </a:extLst>
              </p14:cNvPr>
              <p14:cNvContentPartPr/>
              <p14:nvPr/>
            </p14:nvContentPartPr>
            <p14:xfrm>
              <a:off x="2987794" y="7657097"/>
              <a:ext cx="988920" cy="673200"/>
            </p14:xfrm>
          </p:contentPart>
        </mc:Choice>
        <mc:Fallback>
          <p:pic>
            <p:nvPicPr>
              <p:cNvPr id="126" name="墨迹 125">
                <a:extLst>
                  <a:ext uri="{FF2B5EF4-FFF2-40B4-BE49-F238E27FC236}">
                    <a16:creationId xmlns:a16="http://schemas.microsoft.com/office/drawing/2014/main" id="{F7B00662-E9C2-72B9-D7C0-57D7901D1CC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981674" y="7650977"/>
                <a:ext cx="1001160" cy="68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32" name="墨迹 131">
                <a:extLst>
                  <a:ext uri="{FF2B5EF4-FFF2-40B4-BE49-F238E27FC236}">
                    <a16:creationId xmlns:a16="http://schemas.microsoft.com/office/drawing/2014/main" id="{063B94B5-440C-2148-9AAE-BB2DAF940F0E}"/>
                  </a:ext>
                </a:extLst>
              </p14:cNvPr>
              <p14:cNvContentPartPr/>
              <p14:nvPr/>
            </p14:nvContentPartPr>
            <p14:xfrm>
              <a:off x="4342474" y="6948617"/>
              <a:ext cx="614880" cy="614520"/>
            </p14:xfrm>
          </p:contentPart>
        </mc:Choice>
        <mc:Fallback>
          <p:pic>
            <p:nvPicPr>
              <p:cNvPr id="132" name="墨迹 131">
                <a:extLst>
                  <a:ext uri="{FF2B5EF4-FFF2-40B4-BE49-F238E27FC236}">
                    <a16:creationId xmlns:a16="http://schemas.microsoft.com/office/drawing/2014/main" id="{063B94B5-440C-2148-9AAE-BB2DAF940F0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336354" y="6942497"/>
                <a:ext cx="627120" cy="62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37" name="墨迹 136">
                <a:extLst>
                  <a:ext uri="{FF2B5EF4-FFF2-40B4-BE49-F238E27FC236}">
                    <a16:creationId xmlns:a16="http://schemas.microsoft.com/office/drawing/2014/main" id="{4BCCBFC1-0287-E995-6F6A-4BC2883A316A}"/>
                  </a:ext>
                </a:extLst>
              </p14:cNvPr>
              <p14:cNvContentPartPr/>
              <p14:nvPr/>
            </p14:nvContentPartPr>
            <p14:xfrm>
              <a:off x="3135034" y="7772297"/>
              <a:ext cx="200880" cy="349200"/>
            </p14:xfrm>
          </p:contentPart>
        </mc:Choice>
        <mc:Fallback>
          <p:pic>
            <p:nvPicPr>
              <p:cNvPr id="137" name="墨迹 136">
                <a:extLst>
                  <a:ext uri="{FF2B5EF4-FFF2-40B4-BE49-F238E27FC236}">
                    <a16:creationId xmlns:a16="http://schemas.microsoft.com/office/drawing/2014/main" id="{4BCCBFC1-0287-E995-6F6A-4BC2883A316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072034" y="7709297"/>
                <a:ext cx="326520" cy="47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1812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 80">
            <a:extLst>
              <a:ext uri="{FF2B5EF4-FFF2-40B4-BE49-F238E27FC236}">
                <a16:creationId xmlns:a16="http://schemas.microsoft.com/office/drawing/2014/main" id="{6686CB7D-81A3-4D11-9EFD-E11761028A39}"/>
              </a:ext>
            </a:extLst>
          </p:cNvPr>
          <p:cNvSpPr>
            <a:spLocks noGrp="1"/>
          </p:cNvSpPr>
          <p:nvPr/>
        </p:nvSpPr>
        <p:spPr>
          <a:xfrm>
            <a:off x="1238250" y="209550"/>
            <a:ext cx="1466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9LLG  A1EKL (R:602)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842583-5226-40AA-8A22-EC9FE6E3E1A5}"/>
              </a:ext>
            </a:extLst>
          </p:cNvPr>
          <p:cNvSpPr>
            <a:spLocks noGrp="1"/>
          </p:cNvSpPr>
          <p:nvPr/>
        </p:nvSpPr>
        <p:spPr>
          <a:xfrm>
            <a:off x="1238250" y="809625"/>
            <a:ext cx="1504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The first-ranked site completes identity matching and pose reconstruction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C0105B9-848E-4DCB-A275-BF448DDE260E}"/>
              </a:ext>
            </a:extLst>
          </p:cNvPr>
          <p:cNvSpPr>
            <a:spLocks noGrp="1"/>
          </p:cNvSpPr>
          <p:nvPr/>
        </p:nvSpPr>
        <p:spPr>
          <a:xfrm>
            <a:off x="600075" y="1857375"/>
            <a:ext cx="953" cy="3152775"/>
          </a:xfrm>
          <a:custGeom>
            <a:avLst/>
            <a:gdLst/>
            <a:ahLst/>
            <a:cxnLst/>
            <a:rect l="0" t="0" r="0" b="0"/>
            <a:pathLst>
              <a:path w="953" h="3152775">
                <a:moveTo>
                  <a:pt x="0" y="0"/>
                </a:moveTo>
                <a:lnTo>
                  <a:pt x="0" y="31527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7419288C-FA68-4AAA-9CE8-CDFB1D734F2E}"/>
              </a:ext>
            </a:extLst>
          </p:cNvPr>
          <p:cNvSpPr>
            <a:spLocks noGrp="1"/>
          </p:cNvSpPr>
          <p:nvPr/>
        </p:nvSpPr>
        <p:spPr>
          <a:xfrm>
            <a:off x="533400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8330858A-3013-43C7-85A8-EA12A15F4B2C}"/>
              </a:ext>
            </a:extLst>
          </p:cNvPr>
          <p:cNvSpPr>
            <a:spLocks noGrp="1"/>
          </p:cNvSpPr>
          <p:nvPr/>
        </p:nvSpPr>
        <p:spPr>
          <a:xfrm>
            <a:off x="600075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850A3CC-39DA-4236-BE21-65182C2E0F39}"/>
              </a:ext>
            </a:extLst>
          </p:cNvPr>
          <p:cNvSpPr>
            <a:spLocks noGrp="1"/>
          </p:cNvSpPr>
          <p:nvPr/>
        </p:nvSpPr>
        <p:spPr>
          <a:xfrm>
            <a:off x="600075" y="5695950"/>
            <a:ext cx="953" cy="4410075"/>
          </a:xfrm>
          <a:custGeom>
            <a:avLst/>
            <a:gdLst/>
            <a:ahLst/>
            <a:cxnLst/>
            <a:rect l="0" t="0" r="0" b="0"/>
            <a:pathLst>
              <a:path w="953" h="4410075">
                <a:moveTo>
                  <a:pt x="0" y="0"/>
                </a:moveTo>
                <a:lnTo>
                  <a:pt x="0" y="44100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F9822AF-B42B-4DD4-9D43-1500292FF5E9}"/>
              </a:ext>
            </a:extLst>
          </p:cNvPr>
          <p:cNvSpPr>
            <a:spLocks noGrp="1"/>
          </p:cNvSpPr>
          <p:nvPr/>
        </p:nvSpPr>
        <p:spPr>
          <a:xfrm>
            <a:off x="533400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2A6A57A-20DC-44E8-AB7E-40E95108A29B}"/>
              </a:ext>
            </a:extLst>
          </p:cNvPr>
          <p:cNvSpPr>
            <a:spLocks noGrp="1"/>
          </p:cNvSpPr>
          <p:nvPr/>
        </p:nvSpPr>
        <p:spPr>
          <a:xfrm>
            <a:off x="600075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A3DF159-F836-4C94-9DB5-6961A5E99DD0}"/>
              </a:ext>
            </a:extLst>
          </p:cNvPr>
          <p:cNvSpPr>
            <a:spLocks noGrp="1"/>
          </p:cNvSpPr>
          <p:nvPr/>
        </p:nvSpPr>
        <p:spPr>
          <a:xfrm>
            <a:off x="600075" y="10791825"/>
            <a:ext cx="953" cy="2876550"/>
          </a:xfrm>
          <a:custGeom>
            <a:avLst/>
            <a:gdLst/>
            <a:ahLst/>
            <a:cxnLst/>
            <a:rect l="0" t="0" r="0" b="0"/>
            <a:pathLst>
              <a:path w="953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D23AA30E-C0DE-4F65-907E-A8F86B4B103C}"/>
              </a:ext>
            </a:extLst>
          </p:cNvPr>
          <p:cNvSpPr>
            <a:spLocks noGrp="1"/>
          </p:cNvSpPr>
          <p:nvPr/>
        </p:nvSpPr>
        <p:spPr>
          <a:xfrm>
            <a:off x="533400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7BE26060-94B4-425C-9611-1F1C0038760C}"/>
              </a:ext>
            </a:extLst>
          </p:cNvPr>
          <p:cNvSpPr>
            <a:spLocks noGrp="1"/>
          </p:cNvSpPr>
          <p:nvPr/>
        </p:nvSpPr>
        <p:spPr>
          <a:xfrm>
            <a:off x="600075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1760A76-9379-420B-BB38-85A0ABDF8EE9}"/>
              </a:ext>
            </a:extLst>
          </p:cNvPr>
          <p:cNvSpPr>
            <a:spLocks noGrp="1"/>
          </p:cNvSpPr>
          <p:nvPr/>
        </p:nvSpPr>
        <p:spPr>
          <a:xfrm>
            <a:off x="361950" y="131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D8258F-E687-4510-88EC-4251C04387DC}"/>
              </a:ext>
            </a:extLst>
          </p:cNvPr>
          <p:cNvSpPr>
            <a:spLocks noGrp="1"/>
          </p:cNvSpPr>
          <p:nvPr/>
        </p:nvSpPr>
        <p:spPr>
          <a:xfrm>
            <a:off x="1238250" y="133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3F85C72-343B-44FC-8427-0E6133C090F9}"/>
              </a:ext>
            </a:extLst>
          </p:cNvPr>
          <p:cNvSpPr>
            <a:spLocks noGrp="1"/>
          </p:cNvSpPr>
          <p:nvPr/>
        </p:nvSpPr>
        <p:spPr>
          <a:xfrm>
            <a:off x="3524250" y="136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Experimental map and CA2 receptor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AC04B43-C6EB-44D4-B529-C5A360B33956}"/>
              </a:ext>
            </a:extLst>
          </p:cNvPr>
          <p:cNvSpPr>
            <a:spLocks noGrp="1"/>
          </p:cNvSpPr>
          <p:nvPr/>
        </p:nvSpPr>
        <p:spPr>
          <a:xfrm>
            <a:off x="1238250" y="189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C4FFDCF-FDF9-4F0F-A4FD-A77C344CC7EA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2C4ED34-97CB-48D7-BF03-65D684C5C1EF}"/>
              </a:ext>
            </a:extLst>
          </p:cNvPr>
          <p:cNvSpPr>
            <a:spLocks noGrp="1"/>
          </p:cNvSpPr>
          <p:nvPr/>
        </p:nvSpPr>
        <p:spPr>
          <a:xfrm>
            <a:off x="16573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experimental map</a:t>
            </a:r>
          </a:p>
        </p:txBody>
      </p:sp>
      <p:pic>
        <p:nvPicPr>
          <p:cNvPr id="98" name="图片 9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05000" y="2495550"/>
            <a:ext cx="3238500" cy="242887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8037B859-EAF8-48D7-94C5-107CF112A14D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86F8CE5-C727-4FAF-8C6D-2F4CDB0AB015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CA2 receptor</a:t>
            </a: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43750" y="2495550"/>
            <a:ext cx="3238500" cy="242887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A50E9E30-68DC-4A99-B7F5-21D24C5A9371}"/>
              </a:ext>
            </a:extLst>
          </p:cNvPr>
          <p:cNvSpPr>
            <a:spLocks noGrp="1"/>
          </p:cNvSpPr>
          <p:nvPr/>
        </p:nvSpPr>
        <p:spPr>
          <a:xfrm>
            <a:off x="117157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12C1BD8-8F44-4B97-95F5-826F804FFE47}"/>
              </a:ext>
            </a:extLst>
          </p:cNvPr>
          <p:cNvSpPr>
            <a:spLocks noGrp="1"/>
          </p:cNvSpPr>
          <p:nvPr/>
        </p:nvSpPr>
        <p:spPr>
          <a:xfrm>
            <a:off x="121348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receptor (reference)</a:t>
            </a:r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382500" y="2495550"/>
            <a:ext cx="3238500" cy="2428875"/>
          </a:xfrm>
          <a:prstGeom prst="rect">
            <a:avLst/>
          </a:prstGeom>
        </p:spPr>
      </p:pic>
      <p:sp>
        <p:nvSpPr>
          <p:cNvPr id="25" name="椭圆 24">
            <a:extLst>
              <a:ext uri="{FF2B5EF4-FFF2-40B4-BE49-F238E27FC236}">
                <a16:creationId xmlns:a16="http://schemas.microsoft.com/office/drawing/2014/main" id="{BADC8E1C-BF8E-40E1-AE43-8D72BB524263}"/>
              </a:ext>
            </a:extLst>
          </p:cNvPr>
          <p:cNvSpPr>
            <a:spLocks noGrp="1"/>
          </p:cNvSpPr>
          <p:nvPr/>
        </p:nvSpPr>
        <p:spPr>
          <a:xfrm>
            <a:off x="361950" y="512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BA50E2C-CFD0-42B8-89FC-46638F49FD70}"/>
              </a:ext>
            </a:extLst>
          </p:cNvPr>
          <p:cNvSpPr>
            <a:spLocks noGrp="1"/>
          </p:cNvSpPr>
          <p:nvPr/>
        </p:nvSpPr>
        <p:spPr>
          <a:xfrm>
            <a:off x="1238250" y="514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67340D2-DA38-4952-A389-5D4EDC285BAC}"/>
              </a:ext>
            </a:extLst>
          </p:cNvPr>
          <p:cNvSpPr>
            <a:spLocks noGrp="1"/>
          </p:cNvSpPr>
          <p:nvPr/>
        </p:nvSpPr>
        <p:spPr>
          <a:xfrm>
            <a:off x="3524250" y="517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Ranked density regions, site 1 uses charged attempt 1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7C85EBD9-3448-4AB4-9D52-E7CD30BFFC0A}"/>
              </a:ext>
            </a:extLst>
          </p:cNvPr>
          <p:cNvSpPr>
            <a:spLocks noGrp="1"/>
          </p:cNvSpPr>
          <p:nvPr/>
        </p:nvSpPr>
        <p:spPr>
          <a:xfrm>
            <a:off x="1238250" y="570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A414F16-AC4F-4880-BCDA-CF76EC93D50A}"/>
              </a:ext>
            </a:extLst>
          </p:cNvPr>
          <p:cNvSpPr>
            <a:spLocks noGrp="1"/>
          </p:cNvSpPr>
          <p:nvPr/>
        </p:nvSpPr>
        <p:spPr>
          <a:xfrm>
            <a:off x="1238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8642A8C-D642-4030-8402-6C32ED8C8CEB}"/>
              </a:ext>
            </a:extLst>
          </p:cNvPr>
          <p:cNvSpPr>
            <a:spLocks noGrp="1"/>
          </p:cNvSpPr>
          <p:nvPr/>
        </p:nvSpPr>
        <p:spPr>
          <a:xfrm>
            <a:off x="1657350" y="5915025"/>
            <a:ext cx="5486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Global candidates</a:t>
            </a:r>
          </a:p>
        </p:txBody>
      </p:sp>
      <p:pic>
        <p:nvPicPr>
          <p:cNvPr id="111" name="图片 11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222500" y="6381750"/>
            <a:ext cx="3937000" cy="2952750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B9C6DB53-9B4B-4746-9458-E3BE5B55CB05}"/>
              </a:ext>
            </a:extLst>
          </p:cNvPr>
          <p:cNvSpPr>
            <a:spLocks noGrp="1"/>
          </p:cNvSpPr>
          <p:nvPr/>
        </p:nvSpPr>
        <p:spPr>
          <a:xfrm>
            <a:off x="1238250" y="9467850"/>
            <a:ext cx="59055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All 3 predicted blobs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1A557E9-F00B-4CC5-B12C-E715B2C54AF1}"/>
              </a:ext>
            </a:extLst>
          </p:cNvPr>
          <p:cNvSpPr>
            <a:spLocks noGrp="1"/>
          </p:cNvSpPr>
          <p:nvPr/>
        </p:nvSpPr>
        <p:spPr>
          <a:xfrm>
            <a:off x="800100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D6B70F4-10DF-4965-83C6-78236621B279}"/>
              </a:ext>
            </a:extLst>
          </p:cNvPr>
          <p:cNvSpPr>
            <a:spLocks noGrp="1"/>
          </p:cNvSpPr>
          <p:nvPr/>
        </p:nvSpPr>
        <p:spPr>
          <a:xfrm>
            <a:off x="842010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neighborhood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D85CDBF-4269-4637-A329-92CBF463029F}"/>
              </a:ext>
            </a:extLst>
          </p:cNvPr>
          <p:cNvSpPr>
            <a:spLocks noGrp="1"/>
          </p:cNvSpPr>
          <p:nvPr/>
        </p:nvSpPr>
        <p:spPr>
          <a:xfrm>
            <a:off x="12287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8646676-5588-47B9-9E24-30A1156D44F1}"/>
              </a:ext>
            </a:extLst>
          </p:cNvPr>
          <p:cNvSpPr>
            <a:spLocks noGrp="1"/>
          </p:cNvSpPr>
          <p:nvPr/>
        </p:nvSpPr>
        <p:spPr>
          <a:xfrm>
            <a:off x="1270635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 prediction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25187B-42CB-4E9A-8203-4937B3EE24CE}"/>
              </a:ext>
            </a:extLst>
          </p:cNvPr>
          <p:cNvSpPr>
            <a:spLocks noGrp="1"/>
          </p:cNvSpPr>
          <p:nvPr/>
        </p:nvSpPr>
        <p:spPr>
          <a:xfrm>
            <a:off x="8001000" y="6353175"/>
            <a:ext cx="8239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Rank 1: target ligand</a:t>
            </a:r>
          </a:p>
        </p:txBody>
      </p:sp>
      <p:pic>
        <p:nvPicPr>
          <p:cNvPr id="118" name="图片 117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261350" y="6772275"/>
            <a:ext cx="3479800" cy="2609850"/>
          </a:xfrm>
          <a:prstGeom prst="rect">
            <a:avLst/>
          </a:prstGeom>
        </p:spPr>
      </p:pic>
      <p:pic>
        <p:nvPicPr>
          <p:cNvPr id="119" name="图片 118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2547600" y="6772275"/>
            <a:ext cx="3479800" cy="2609850"/>
          </a:xfrm>
          <a:prstGeom prst="rect">
            <a:avLst/>
          </a:prstGeom>
        </p:spPr>
      </p:pic>
      <p:sp>
        <p:nvSpPr>
          <p:cNvPr id="40" name="椭圆 39">
            <a:extLst>
              <a:ext uri="{FF2B5EF4-FFF2-40B4-BE49-F238E27FC236}">
                <a16:creationId xmlns:a16="http://schemas.microsoft.com/office/drawing/2014/main" id="{1EADEBDC-257A-42F0-AB22-C49C2A91E46E}"/>
              </a:ext>
            </a:extLst>
          </p:cNvPr>
          <p:cNvSpPr>
            <a:spLocks noGrp="1"/>
          </p:cNvSpPr>
          <p:nvPr/>
        </p:nvSpPr>
        <p:spPr>
          <a:xfrm>
            <a:off x="361950" y="1022032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04F2694-7130-4035-9B24-0731E2D781A7}"/>
              </a:ext>
            </a:extLst>
          </p:cNvPr>
          <p:cNvSpPr>
            <a:spLocks noGrp="1"/>
          </p:cNvSpPr>
          <p:nvPr/>
        </p:nvSpPr>
        <p:spPr>
          <a:xfrm>
            <a:off x="1238250" y="1023937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20626DB-657B-4C44-AB6C-653A0BEECD4C}"/>
              </a:ext>
            </a:extLst>
          </p:cNvPr>
          <p:cNvSpPr>
            <a:spLocks noGrp="1"/>
          </p:cNvSpPr>
          <p:nvPr/>
        </p:nvSpPr>
        <p:spPr>
          <a:xfrm>
            <a:off x="3524250" y="1026795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RDKit structures of every supplied SMILES identity</a:t>
            </a: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9066E436-54C4-4B67-95B7-1D914CA2F254}"/>
              </a:ext>
            </a:extLst>
          </p:cNvPr>
          <p:cNvSpPr>
            <a:spLocks noGrp="1"/>
          </p:cNvSpPr>
          <p:nvPr/>
        </p:nvSpPr>
        <p:spPr>
          <a:xfrm>
            <a:off x="1238250" y="1080135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89FB212-EB93-4644-8CF4-2940F52DF5B0}"/>
              </a:ext>
            </a:extLst>
          </p:cNvPr>
          <p:cNvSpPr>
            <a:spLocks noGrp="1"/>
          </p:cNvSpPr>
          <p:nvPr/>
        </p:nvSpPr>
        <p:spPr>
          <a:xfrm>
            <a:off x="942975" y="10915650"/>
            <a:ext cx="28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5" name="Identity 1, eligible">
            <a:extLst>
              <a:ext uri="{FF2B5EF4-FFF2-40B4-BE49-F238E27FC236}">
                <a16:creationId xmlns:a16="http://schemas.microsoft.com/office/drawing/2014/main" id="{A9E05645-D2C5-471D-973E-46D61AC73B70}"/>
              </a:ext>
            </a:extLst>
          </p:cNvPr>
          <p:cNvSpPr>
            <a:spLocks noGrp="1"/>
          </p:cNvSpPr>
          <p:nvPr/>
        </p:nvSpPr>
        <p:spPr>
          <a:xfrm>
            <a:off x="1238250" y="10887075"/>
            <a:ext cx="48387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6FF00C9-5B89-4A13-8417-807204EDD78E}"/>
              </a:ext>
            </a:extLst>
          </p:cNvPr>
          <p:cNvSpPr>
            <a:spLocks noGrp="1"/>
          </p:cNvSpPr>
          <p:nvPr/>
        </p:nvSpPr>
        <p:spPr>
          <a:xfrm>
            <a:off x="14097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1  Identity1</a:t>
            </a:r>
          </a:p>
        </p:txBody>
      </p:sp>
      <p:pic>
        <p:nvPicPr>
          <p:cNvPr id="127" name="图形 1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381125" y="11829155"/>
            <a:ext cx="4552950" cy="773315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C057D207-EA18-4F62-B3C0-2625671B4696}"/>
              </a:ext>
            </a:extLst>
          </p:cNvPr>
          <p:cNvSpPr>
            <a:spLocks noGrp="1"/>
          </p:cNvSpPr>
          <p:nvPr/>
        </p:nvSpPr>
        <p:spPr>
          <a:xfrm>
            <a:off x="14097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Eligible small molecule</a:t>
            </a:r>
          </a:p>
        </p:txBody>
      </p:sp>
      <p:sp>
        <p:nvSpPr>
          <p:cNvPr id="49" name="Identity 2, matched">
            <a:extLst>
              <a:ext uri="{FF2B5EF4-FFF2-40B4-BE49-F238E27FC236}">
                <a16:creationId xmlns:a16="http://schemas.microsoft.com/office/drawing/2014/main" id="{5BCBCC55-A3DC-4DF7-8FC0-E07379312E9D}"/>
              </a:ext>
            </a:extLst>
          </p:cNvPr>
          <p:cNvSpPr>
            <a:spLocks noGrp="1"/>
          </p:cNvSpPr>
          <p:nvPr/>
        </p:nvSpPr>
        <p:spPr>
          <a:xfrm>
            <a:off x="6343650" y="10887075"/>
            <a:ext cx="4838700" cy="2667000"/>
          </a:xfrm>
          <a:prstGeom prst="rect">
            <a:avLst/>
          </a:prstGeom>
          <a:solidFill>
            <a:srgbClr val="FFFFFF"/>
          </a:solidFill>
          <a:ln w="28575">
            <a:solidFill>
              <a:srgbClr val="3169B3"/>
            </a:solidFill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3865642-7FB4-4FF7-84FD-C4F8EFE84D59}"/>
              </a:ext>
            </a:extLst>
          </p:cNvPr>
          <p:cNvSpPr>
            <a:spLocks noGrp="1"/>
          </p:cNvSpPr>
          <p:nvPr/>
        </p:nvSpPr>
        <p:spPr>
          <a:xfrm>
            <a:off x="65151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2  A1EKL</a:t>
            </a:r>
          </a:p>
        </p:txBody>
      </p:sp>
      <p:pic>
        <p:nvPicPr>
          <p:cNvPr id="131" name="图形 1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7598427" y="11382375"/>
            <a:ext cx="2329146" cy="1666875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53E961A4-CF52-4F88-80AE-7BA7595105C1}"/>
              </a:ext>
            </a:extLst>
          </p:cNvPr>
          <p:cNvSpPr>
            <a:spLocks noGrp="1"/>
          </p:cNvSpPr>
          <p:nvPr/>
        </p:nvSpPr>
        <p:spPr>
          <a:xfrm>
            <a:off x="65151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Matched identity</a:t>
            </a:r>
          </a:p>
        </p:txBody>
      </p:sp>
      <p:sp>
        <p:nvSpPr>
          <p:cNvPr id="53" name="Identity 3, eligible">
            <a:extLst>
              <a:ext uri="{FF2B5EF4-FFF2-40B4-BE49-F238E27FC236}">
                <a16:creationId xmlns:a16="http://schemas.microsoft.com/office/drawing/2014/main" id="{92A7C4F1-8B91-40FF-8AF2-F26538FB1E2F}"/>
              </a:ext>
            </a:extLst>
          </p:cNvPr>
          <p:cNvSpPr>
            <a:spLocks noGrp="1"/>
          </p:cNvSpPr>
          <p:nvPr/>
        </p:nvSpPr>
        <p:spPr>
          <a:xfrm>
            <a:off x="11449050" y="10887075"/>
            <a:ext cx="48387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2F1701A-769D-425B-96C9-FC41E1C0111F}"/>
              </a:ext>
            </a:extLst>
          </p:cNvPr>
          <p:cNvSpPr>
            <a:spLocks noGrp="1"/>
          </p:cNvSpPr>
          <p:nvPr/>
        </p:nvSpPr>
        <p:spPr>
          <a:xfrm>
            <a:off x="116205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3  Identity3</a:t>
            </a:r>
          </a:p>
        </p:txBody>
      </p:sp>
      <p:pic>
        <p:nvPicPr>
          <p:cNvPr id="135" name="图形 1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11591925" y="11516963"/>
            <a:ext cx="4552950" cy="1397698"/>
          </a:xfrm>
          <a:prstGeom prst="rect">
            <a:avLst/>
          </a:prstGeom>
        </p:spPr>
      </p:pic>
      <p:sp>
        <p:nvSpPr>
          <p:cNvPr id="56" name="矩形 55">
            <a:extLst>
              <a:ext uri="{FF2B5EF4-FFF2-40B4-BE49-F238E27FC236}">
                <a16:creationId xmlns:a16="http://schemas.microsoft.com/office/drawing/2014/main" id="{74D6CF58-0BE2-4275-AA15-529192C4F9EA}"/>
              </a:ext>
            </a:extLst>
          </p:cNvPr>
          <p:cNvSpPr>
            <a:spLocks noGrp="1"/>
          </p:cNvSpPr>
          <p:nvPr/>
        </p:nvSpPr>
        <p:spPr>
          <a:xfrm>
            <a:off x="116205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Eligible small molecule</a:t>
            </a: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76164AD5-A38A-4DA9-8FAD-DF9E311720C5}"/>
              </a:ext>
            </a:extLst>
          </p:cNvPr>
          <p:cNvSpPr>
            <a:spLocks noGrp="1"/>
          </p:cNvSpPr>
          <p:nvPr/>
        </p:nvSpPr>
        <p:spPr>
          <a:xfrm>
            <a:off x="361950" y="1378267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627EA99-90D8-4C05-A786-D0E67EF16A7C}"/>
              </a:ext>
            </a:extLst>
          </p:cNvPr>
          <p:cNvSpPr>
            <a:spLocks noGrp="1"/>
          </p:cNvSpPr>
          <p:nvPr/>
        </p:nvSpPr>
        <p:spPr>
          <a:xfrm>
            <a:off x="1238250" y="1380172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DF5219D-3E4F-4CD4-B84E-56B4FA18C738}"/>
              </a:ext>
            </a:extLst>
          </p:cNvPr>
          <p:cNvSpPr>
            <a:spLocks noGrp="1"/>
          </p:cNvSpPr>
          <p:nvPr/>
        </p:nvSpPr>
        <p:spPr>
          <a:xfrm>
            <a:off x="3524250" y="1383030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local_cov-C self-ranking Top-1, one pose in three views</a:t>
            </a:r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873911BB-883A-48C4-8C75-9D14648D2D6B}"/>
              </a:ext>
            </a:extLst>
          </p:cNvPr>
          <p:cNvSpPr>
            <a:spLocks noGrp="1"/>
          </p:cNvSpPr>
          <p:nvPr/>
        </p:nvSpPr>
        <p:spPr>
          <a:xfrm>
            <a:off x="1238250" y="1436370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519AB9C-5872-4407-9BD6-166028146B25}"/>
              </a:ext>
            </a:extLst>
          </p:cNvPr>
          <p:cNvSpPr>
            <a:spLocks noGrp="1"/>
          </p:cNvSpPr>
          <p:nvPr/>
        </p:nvSpPr>
        <p:spPr>
          <a:xfrm>
            <a:off x="12382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5FF0339-0397-41D7-A6A5-E25F45091B27}"/>
              </a:ext>
            </a:extLst>
          </p:cNvPr>
          <p:cNvSpPr>
            <a:spLocks noGrp="1"/>
          </p:cNvSpPr>
          <p:nvPr/>
        </p:nvSpPr>
        <p:spPr>
          <a:xfrm>
            <a:off x="16573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Receptor surface</a:t>
            </a:r>
          </a:p>
        </p:txBody>
      </p:sp>
      <p:pic>
        <p:nvPicPr>
          <p:cNvPr id="143" name="图片 142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949450" y="14982825"/>
            <a:ext cx="3149600" cy="2362200"/>
          </a:xfrm>
          <a:prstGeom prst="rect">
            <a:avLst/>
          </a:prstGeom>
        </p:spPr>
      </p:pic>
      <p:sp>
        <p:nvSpPr>
          <p:cNvPr id="64" name="矩形 63">
            <a:extLst>
              <a:ext uri="{FF2B5EF4-FFF2-40B4-BE49-F238E27FC236}">
                <a16:creationId xmlns:a16="http://schemas.microsoft.com/office/drawing/2014/main" id="{2E138685-173A-4B74-A338-B7ACBD10FE87}"/>
              </a:ext>
            </a:extLst>
          </p:cNvPr>
          <p:cNvSpPr>
            <a:spLocks noGrp="1"/>
          </p:cNvSpPr>
          <p:nvPr/>
        </p:nvSpPr>
        <p:spPr>
          <a:xfrm>
            <a:off x="647700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06F44AAD-7306-4BFA-AA60-FA2435A4B65F}"/>
              </a:ext>
            </a:extLst>
          </p:cNvPr>
          <p:cNvSpPr>
            <a:spLocks noGrp="1"/>
          </p:cNvSpPr>
          <p:nvPr/>
        </p:nvSpPr>
        <p:spPr>
          <a:xfrm>
            <a:off x="689610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pic>
        <p:nvPicPr>
          <p:cNvPr id="146" name="图片 145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7188200" y="14982825"/>
            <a:ext cx="3149600" cy="2362200"/>
          </a:xfrm>
          <a:prstGeom prst="rect">
            <a:avLst/>
          </a:prstGeom>
        </p:spPr>
      </p:pic>
      <p:sp>
        <p:nvSpPr>
          <p:cNvPr id="67" name="矩形 66">
            <a:extLst>
              <a:ext uri="{FF2B5EF4-FFF2-40B4-BE49-F238E27FC236}">
                <a16:creationId xmlns:a16="http://schemas.microsoft.com/office/drawing/2014/main" id="{DDB8ED4F-70A8-43A5-AEC8-9CED677961A5}"/>
              </a:ext>
            </a:extLst>
          </p:cNvPr>
          <p:cNvSpPr>
            <a:spLocks noGrp="1"/>
          </p:cNvSpPr>
          <p:nvPr/>
        </p:nvSpPr>
        <p:spPr>
          <a:xfrm>
            <a:off x="117157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C14D71D4-D664-46AE-84CE-662F03F78531}"/>
              </a:ext>
            </a:extLst>
          </p:cNvPr>
          <p:cNvSpPr>
            <a:spLocks noGrp="1"/>
          </p:cNvSpPr>
          <p:nvPr/>
        </p:nvSpPr>
        <p:spPr>
          <a:xfrm>
            <a:off x="121348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Deposited pose overlay</a:t>
            </a:r>
          </a:p>
        </p:txBody>
      </p:sp>
      <p:pic>
        <p:nvPicPr>
          <p:cNvPr id="149" name="图片 148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12426950" y="14982825"/>
            <a:ext cx="3149600" cy="2362200"/>
          </a:xfrm>
          <a:prstGeom prst="rect">
            <a:avLst/>
          </a:prstGeom>
        </p:spPr>
      </p:pic>
      <p:sp>
        <p:nvSpPr>
          <p:cNvPr id="70" name="矩形 69">
            <a:extLst>
              <a:ext uri="{FF2B5EF4-FFF2-40B4-BE49-F238E27FC236}">
                <a16:creationId xmlns:a16="http://schemas.microsoft.com/office/drawing/2014/main" id="{B2F78882-F8AB-4858-8B27-2405C10C9000}"/>
              </a:ext>
            </a:extLst>
          </p:cNvPr>
          <p:cNvSpPr>
            <a:spLocks noGrp="1"/>
          </p:cNvSpPr>
          <p:nvPr/>
        </p:nvSpPr>
        <p:spPr>
          <a:xfrm>
            <a:off x="1238250" y="17506950"/>
            <a:ext cx="15049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Heavy-atom RMSD 0.88 Å     Clash 0     50 poses, 100 steps</a:t>
            </a:r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A42E9C58-26FD-4F08-9475-1CC52B07A8D8}"/>
              </a:ext>
            </a:extLst>
          </p:cNvPr>
          <p:cNvSpPr>
            <a:spLocks noGrp="1"/>
          </p:cNvSpPr>
          <p:nvPr/>
        </p:nvSpPr>
        <p:spPr>
          <a:xfrm>
            <a:off x="1238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F05C219E-D0E6-43BA-9DAD-53EF3FB27A2B}"/>
              </a:ext>
            </a:extLst>
          </p:cNvPr>
          <p:cNvSpPr>
            <a:spLocks noGrp="1"/>
          </p:cNvSpPr>
          <p:nvPr/>
        </p:nvSpPr>
        <p:spPr>
          <a:xfrm>
            <a:off x="1647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2E820C33-FACA-40D4-80A2-70D3D4D86E99}"/>
              </a:ext>
            </a:extLst>
          </p:cNvPr>
          <p:cNvSpPr>
            <a:spLocks noGrp="1"/>
          </p:cNvSpPr>
          <p:nvPr/>
        </p:nvSpPr>
        <p:spPr>
          <a:xfrm>
            <a:off x="4286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16773"/>
            </a:solidFill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EACB7C6-0020-411F-A4F2-7698A90D4884}"/>
              </a:ext>
            </a:extLst>
          </p:cNvPr>
          <p:cNvSpPr>
            <a:spLocks noGrp="1"/>
          </p:cNvSpPr>
          <p:nvPr/>
        </p:nvSpPr>
        <p:spPr>
          <a:xfrm>
            <a:off x="4695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BAB19E73-A4A0-4880-926A-E8B0FE5998DE}"/>
              </a:ext>
            </a:extLst>
          </p:cNvPr>
          <p:cNvSpPr>
            <a:spLocks noGrp="1"/>
          </p:cNvSpPr>
          <p:nvPr/>
        </p:nvSpPr>
        <p:spPr>
          <a:xfrm>
            <a:off x="7334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2FB1394C-5634-4AF6-AD78-9C4232706514}"/>
              </a:ext>
            </a:extLst>
          </p:cNvPr>
          <p:cNvSpPr>
            <a:spLocks noGrp="1"/>
          </p:cNvSpPr>
          <p:nvPr/>
        </p:nvSpPr>
        <p:spPr>
          <a:xfrm>
            <a:off x="7743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Target blob</a:t>
            </a:r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F8BAC1FF-4B06-48CA-9965-B966C2B8A196}"/>
              </a:ext>
            </a:extLst>
          </p:cNvPr>
          <p:cNvSpPr>
            <a:spLocks noGrp="1"/>
          </p:cNvSpPr>
          <p:nvPr/>
        </p:nvSpPr>
        <p:spPr>
          <a:xfrm>
            <a:off x="10382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60A01FC-2961-4201-B95F-18B263A8935E}"/>
              </a:ext>
            </a:extLst>
          </p:cNvPr>
          <p:cNvSpPr>
            <a:spLocks noGrp="1"/>
          </p:cNvSpPr>
          <p:nvPr/>
        </p:nvSpPr>
        <p:spPr>
          <a:xfrm>
            <a:off x="10791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Predicted pose</a:t>
            </a:r>
          </a:p>
        </p:txBody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EBBD8B83-85F5-4F3E-9283-6EAF08DF40D2}"/>
              </a:ext>
            </a:extLst>
          </p:cNvPr>
          <p:cNvSpPr>
            <a:spLocks noGrp="1"/>
          </p:cNvSpPr>
          <p:nvPr/>
        </p:nvSpPr>
        <p:spPr>
          <a:xfrm>
            <a:off x="13430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CC4F711-B58F-4865-9DAC-EFF10E717F4E}"/>
              </a:ext>
            </a:extLst>
          </p:cNvPr>
          <p:cNvSpPr>
            <a:spLocks noGrp="1"/>
          </p:cNvSpPr>
          <p:nvPr/>
        </p:nvSpPr>
        <p:spPr>
          <a:xfrm>
            <a:off x="13839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Deposited pose</a:t>
            </a:r>
          </a:p>
        </p:txBody>
      </p:sp>
    </p:spTree>
    <p:extLst>
      <p:ext uri="{BB962C8B-B14F-4D97-AF65-F5344CB8AC3E}">
        <p14:creationId xmlns:p14="http://schemas.microsoft.com/office/powerpoint/2010/main" val="8367612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矩形 83">
            <a:extLst>
              <a:ext uri="{FF2B5EF4-FFF2-40B4-BE49-F238E27FC236}">
                <a16:creationId xmlns:a16="http://schemas.microsoft.com/office/drawing/2014/main" id="{702BEF29-1076-4114-8691-D71FADB44601}"/>
              </a:ext>
            </a:extLst>
          </p:cNvPr>
          <p:cNvSpPr>
            <a:spLocks noGrp="1"/>
          </p:cNvSpPr>
          <p:nvPr/>
        </p:nvSpPr>
        <p:spPr>
          <a:xfrm>
            <a:off x="1238250" y="209550"/>
            <a:ext cx="1466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9QRU  A1JAX (B:2801)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B86A5F-E969-4F8A-9926-905B0B3BA97E}"/>
              </a:ext>
            </a:extLst>
          </p:cNvPr>
          <p:cNvSpPr>
            <a:spLocks noGrp="1"/>
          </p:cNvSpPr>
          <p:nvPr/>
        </p:nvSpPr>
        <p:spPr>
          <a:xfrm>
            <a:off x="1238250" y="809625"/>
            <a:ext cx="1504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Background at rank 1, successful reconstruction at rank 2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F786C80D-2813-4331-8A1C-A1974155AC94}"/>
              </a:ext>
            </a:extLst>
          </p:cNvPr>
          <p:cNvSpPr>
            <a:spLocks noGrp="1"/>
          </p:cNvSpPr>
          <p:nvPr/>
        </p:nvSpPr>
        <p:spPr>
          <a:xfrm>
            <a:off x="600075" y="1857375"/>
            <a:ext cx="953" cy="3152775"/>
          </a:xfrm>
          <a:custGeom>
            <a:avLst/>
            <a:gdLst/>
            <a:ahLst/>
            <a:cxnLst/>
            <a:rect l="0" t="0" r="0" b="0"/>
            <a:pathLst>
              <a:path w="953" h="3152775">
                <a:moveTo>
                  <a:pt x="0" y="0"/>
                </a:moveTo>
                <a:lnTo>
                  <a:pt x="0" y="31527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8BD276C-ED1B-492F-82E0-94505EAFCCD4}"/>
              </a:ext>
            </a:extLst>
          </p:cNvPr>
          <p:cNvSpPr>
            <a:spLocks noGrp="1"/>
          </p:cNvSpPr>
          <p:nvPr/>
        </p:nvSpPr>
        <p:spPr>
          <a:xfrm>
            <a:off x="533400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D8BCFE60-C928-4434-9415-9FF54A1C22DB}"/>
              </a:ext>
            </a:extLst>
          </p:cNvPr>
          <p:cNvSpPr>
            <a:spLocks noGrp="1"/>
          </p:cNvSpPr>
          <p:nvPr/>
        </p:nvSpPr>
        <p:spPr>
          <a:xfrm>
            <a:off x="600075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C3AA80B-7BD6-4520-9688-41A9A40D7DF2}"/>
              </a:ext>
            </a:extLst>
          </p:cNvPr>
          <p:cNvSpPr>
            <a:spLocks noGrp="1"/>
          </p:cNvSpPr>
          <p:nvPr/>
        </p:nvSpPr>
        <p:spPr>
          <a:xfrm>
            <a:off x="600075" y="5695950"/>
            <a:ext cx="953" cy="4410075"/>
          </a:xfrm>
          <a:custGeom>
            <a:avLst/>
            <a:gdLst/>
            <a:ahLst/>
            <a:cxnLst/>
            <a:rect l="0" t="0" r="0" b="0"/>
            <a:pathLst>
              <a:path w="953" h="4410075">
                <a:moveTo>
                  <a:pt x="0" y="0"/>
                </a:moveTo>
                <a:lnTo>
                  <a:pt x="0" y="44100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F751DEDF-9262-4A20-BC8E-676C9209A9D4}"/>
              </a:ext>
            </a:extLst>
          </p:cNvPr>
          <p:cNvSpPr>
            <a:spLocks noGrp="1"/>
          </p:cNvSpPr>
          <p:nvPr/>
        </p:nvSpPr>
        <p:spPr>
          <a:xfrm>
            <a:off x="533400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5073C0E6-8342-4482-989F-4E26FDBED7D7}"/>
              </a:ext>
            </a:extLst>
          </p:cNvPr>
          <p:cNvSpPr>
            <a:spLocks noGrp="1"/>
          </p:cNvSpPr>
          <p:nvPr/>
        </p:nvSpPr>
        <p:spPr>
          <a:xfrm>
            <a:off x="600075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63D76B02-4FE3-4678-A32F-991DF9FCC1F9}"/>
              </a:ext>
            </a:extLst>
          </p:cNvPr>
          <p:cNvSpPr>
            <a:spLocks noGrp="1"/>
          </p:cNvSpPr>
          <p:nvPr/>
        </p:nvSpPr>
        <p:spPr>
          <a:xfrm>
            <a:off x="600075" y="10791825"/>
            <a:ext cx="953" cy="2876550"/>
          </a:xfrm>
          <a:custGeom>
            <a:avLst/>
            <a:gdLst/>
            <a:ahLst/>
            <a:cxnLst/>
            <a:rect l="0" t="0" r="0" b="0"/>
            <a:pathLst>
              <a:path w="953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E2F19D71-B5BC-4BF4-A2EC-F5CD60ED67F6}"/>
              </a:ext>
            </a:extLst>
          </p:cNvPr>
          <p:cNvSpPr>
            <a:spLocks noGrp="1"/>
          </p:cNvSpPr>
          <p:nvPr/>
        </p:nvSpPr>
        <p:spPr>
          <a:xfrm>
            <a:off x="533400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A85990A6-A556-4383-A713-654D10399A84}"/>
              </a:ext>
            </a:extLst>
          </p:cNvPr>
          <p:cNvSpPr>
            <a:spLocks noGrp="1"/>
          </p:cNvSpPr>
          <p:nvPr/>
        </p:nvSpPr>
        <p:spPr>
          <a:xfrm>
            <a:off x="600075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A871EC8-9799-40C3-B0E2-122AE502C861}"/>
              </a:ext>
            </a:extLst>
          </p:cNvPr>
          <p:cNvSpPr>
            <a:spLocks noGrp="1"/>
          </p:cNvSpPr>
          <p:nvPr/>
        </p:nvSpPr>
        <p:spPr>
          <a:xfrm>
            <a:off x="361950" y="131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47B138D-7B90-4C62-A440-2C800CB97990}"/>
              </a:ext>
            </a:extLst>
          </p:cNvPr>
          <p:cNvSpPr>
            <a:spLocks noGrp="1"/>
          </p:cNvSpPr>
          <p:nvPr/>
        </p:nvSpPr>
        <p:spPr>
          <a:xfrm>
            <a:off x="1238250" y="133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8542BA8-FF5B-4F9D-9404-5E50B65F5334}"/>
              </a:ext>
            </a:extLst>
          </p:cNvPr>
          <p:cNvSpPr>
            <a:spLocks noGrp="1"/>
          </p:cNvSpPr>
          <p:nvPr/>
        </p:nvSpPr>
        <p:spPr>
          <a:xfrm>
            <a:off x="3524250" y="136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Experimental map and CA2 receptor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1533F617-DE1B-4412-B3A4-4D396A7F0AE7}"/>
              </a:ext>
            </a:extLst>
          </p:cNvPr>
          <p:cNvSpPr>
            <a:spLocks noGrp="1"/>
          </p:cNvSpPr>
          <p:nvPr/>
        </p:nvSpPr>
        <p:spPr>
          <a:xfrm>
            <a:off x="1238250" y="189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962899-43C9-4EC2-A7A3-40CDA70B637B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79C80B1-FA7F-423E-BBB0-C9B9D272E9F0}"/>
              </a:ext>
            </a:extLst>
          </p:cNvPr>
          <p:cNvSpPr>
            <a:spLocks noGrp="1"/>
          </p:cNvSpPr>
          <p:nvPr/>
        </p:nvSpPr>
        <p:spPr>
          <a:xfrm>
            <a:off x="16573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experimental map</a:t>
            </a: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05000" y="2495550"/>
            <a:ext cx="3238500" cy="242887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73A29D18-C53A-47FC-956B-45DC64E96F7E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4F4E43-0116-4295-A5F7-E1986955405E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CA2 receptor</a:t>
            </a:r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43750" y="2495550"/>
            <a:ext cx="3238500" cy="242887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300D1217-1542-4E2D-9A7D-5639C2254994}"/>
              </a:ext>
            </a:extLst>
          </p:cNvPr>
          <p:cNvSpPr>
            <a:spLocks noGrp="1"/>
          </p:cNvSpPr>
          <p:nvPr/>
        </p:nvSpPr>
        <p:spPr>
          <a:xfrm>
            <a:off x="117157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F628B0F-EAA9-496A-9EC0-3AB78B15D3D5}"/>
              </a:ext>
            </a:extLst>
          </p:cNvPr>
          <p:cNvSpPr>
            <a:spLocks noGrp="1"/>
          </p:cNvSpPr>
          <p:nvPr/>
        </p:nvSpPr>
        <p:spPr>
          <a:xfrm>
            <a:off x="121348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receptor (reference)</a:t>
            </a:r>
          </a:p>
        </p:txBody>
      </p:sp>
      <p:pic>
        <p:nvPicPr>
          <p:cNvPr id="107" name="图片 10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382500" y="2495550"/>
            <a:ext cx="3238500" cy="2428875"/>
          </a:xfrm>
          <a:prstGeom prst="rect">
            <a:avLst/>
          </a:prstGeom>
        </p:spPr>
      </p:pic>
      <p:sp>
        <p:nvSpPr>
          <p:cNvPr id="25" name="椭圆 24">
            <a:extLst>
              <a:ext uri="{FF2B5EF4-FFF2-40B4-BE49-F238E27FC236}">
                <a16:creationId xmlns:a16="http://schemas.microsoft.com/office/drawing/2014/main" id="{3180E5A2-7F3B-42F3-B89B-8AC53539BA81}"/>
              </a:ext>
            </a:extLst>
          </p:cNvPr>
          <p:cNvSpPr>
            <a:spLocks noGrp="1"/>
          </p:cNvSpPr>
          <p:nvPr/>
        </p:nvSpPr>
        <p:spPr>
          <a:xfrm>
            <a:off x="361950" y="512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76183A1-C64A-4032-BDAC-0C8C42A3A806}"/>
              </a:ext>
            </a:extLst>
          </p:cNvPr>
          <p:cNvSpPr>
            <a:spLocks noGrp="1"/>
          </p:cNvSpPr>
          <p:nvPr/>
        </p:nvSpPr>
        <p:spPr>
          <a:xfrm>
            <a:off x="1238250" y="514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91D08D9-9406-4689-9BE1-DA77F432F724}"/>
              </a:ext>
            </a:extLst>
          </p:cNvPr>
          <p:cNvSpPr>
            <a:spLocks noGrp="1"/>
          </p:cNvSpPr>
          <p:nvPr/>
        </p:nvSpPr>
        <p:spPr>
          <a:xfrm>
            <a:off x="3524250" y="517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Ranked density regions, site 2 uses charged attempt 2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A1E75270-21E6-4C58-9523-0EAD619C632C}"/>
              </a:ext>
            </a:extLst>
          </p:cNvPr>
          <p:cNvSpPr>
            <a:spLocks noGrp="1"/>
          </p:cNvSpPr>
          <p:nvPr/>
        </p:nvSpPr>
        <p:spPr>
          <a:xfrm>
            <a:off x="1238250" y="570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8EC34D4-D464-43FF-9481-122D6B09F91C}"/>
              </a:ext>
            </a:extLst>
          </p:cNvPr>
          <p:cNvSpPr>
            <a:spLocks noGrp="1"/>
          </p:cNvSpPr>
          <p:nvPr/>
        </p:nvSpPr>
        <p:spPr>
          <a:xfrm>
            <a:off x="1238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00D6946-22AA-4A85-B139-45D176EC3CA8}"/>
              </a:ext>
            </a:extLst>
          </p:cNvPr>
          <p:cNvSpPr>
            <a:spLocks noGrp="1"/>
          </p:cNvSpPr>
          <p:nvPr/>
        </p:nvSpPr>
        <p:spPr>
          <a:xfrm>
            <a:off x="1657350" y="5915025"/>
            <a:ext cx="5486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Global candidates</a:t>
            </a:r>
          </a:p>
        </p:txBody>
      </p:sp>
      <p:pic>
        <p:nvPicPr>
          <p:cNvPr id="114" name="图片 11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222500" y="6381750"/>
            <a:ext cx="3937000" cy="2952750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2DAAD87A-D4E0-4EFF-8CC8-B6410FAD5CAA}"/>
              </a:ext>
            </a:extLst>
          </p:cNvPr>
          <p:cNvSpPr>
            <a:spLocks noGrp="1"/>
          </p:cNvSpPr>
          <p:nvPr/>
        </p:nvSpPr>
        <p:spPr>
          <a:xfrm>
            <a:off x="1238250" y="9467850"/>
            <a:ext cx="59055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All 4 predicted blobs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5525926-0FE3-44FD-BE53-DCF98EC09FC8}"/>
              </a:ext>
            </a:extLst>
          </p:cNvPr>
          <p:cNvSpPr>
            <a:spLocks noGrp="1"/>
          </p:cNvSpPr>
          <p:nvPr/>
        </p:nvSpPr>
        <p:spPr>
          <a:xfrm>
            <a:off x="800100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3AB6104-A51B-42EB-B94B-574B3BB6A443}"/>
              </a:ext>
            </a:extLst>
          </p:cNvPr>
          <p:cNvSpPr>
            <a:spLocks noGrp="1"/>
          </p:cNvSpPr>
          <p:nvPr/>
        </p:nvSpPr>
        <p:spPr>
          <a:xfrm>
            <a:off x="842010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neighborhood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216C6C-056B-48EF-8FF6-075F8780C8E4}"/>
              </a:ext>
            </a:extLst>
          </p:cNvPr>
          <p:cNvSpPr>
            <a:spLocks noGrp="1"/>
          </p:cNvSpPr>
          <p:nvPr/>
        </p:nvSpPr>
        <p:spPr>
          <a:xfrm>
            <a:off x="12287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8C5B547-6853-4CA1-A9B2-67C7B16EBF3A}"/>
              </a:ext>
            </a:extLst>
          </p:cNvPr>
          <p:cNvSpPr>
            <a:spLocks noGrp="1"/>
          </p:cNvSpPr>
          <p:nvPr/>
        </p:nvSpPr>
        <p:spPr>
          <a:xfrm>
            <a:off x="1270635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 prediction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0200989-028B-42D6-95FB-B5B992346B4A}"/>
              </a:ext>
            </a:extLst>
          </p:cNvPr>
          <p:cNvSpPr>
            <a:spLocks noGrp="1"/>
          </p:cNvSpPr>
          <p:nvPr/>
        </p:nvSpPr>
        <p:spPr>
          <a:xfrm>
            <a:off x="8001000" y="6334125"/>
            <a:ext cx="8191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9F87A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F87A9"/>
                </a:solidFill>
                <a:latin typeface="Arial"/>
                <a:ea typeface="Arial"/>
                <a:cs typeface="Arial"/>
              </a:rPr>
              <a:t>Rank 1: background, one attempt</a:t>
            </a:r>
          </a:p>
        </p:txBody>
      </p:sp>
      <p:pic>
        <p:nvPicPr>
          <p:cNvPr id="121" name="图片 120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144000" y="6715125"/>
            <a:ext cx="1714500" cy="1285875"/>
          </a:xfrm>
          <a:prstGeom prst="rect">
            <a:avLst/>
          </a:prstGeom>
        </p:spPr>
      </p:pic>
      <p:pic>
        <p:nvPicPr>
          <p:cNvPr id="122" name="图片 121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3430250" y="6715125"/>
            <a:ext cx="1714500" cy="1285875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B79C9EB0-631D-4774-8564-E111D8F84D03}"/>
              </a:ext>
            </a:extLst>
          </p:cNvPr>
          <p:cNvSpPr>
            <a:spLocks noGrp="1"/>
          </p:cNvSpPr>
          <p:nvPr/>
        </p:nvSpPr>
        <p:spPr>
          <a:xfrm>
            <a:off x="8001000" y="8039100"/>
            <a:ext cx="8191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Rank 2: target ligand, next attempt</a:t>
            </a:r>
          </a:p>
        </p:txBody>
      </p:sp>
      <p:pic>
        <p:nvPicPr>
          <p:cNvPr id="124" name="图片 123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9144000" y="8439150"/>
            <a:ext cx="1714500" cy="1285875"/>
          </a:xfrm>
          <a:prstGeom prst="rect">
            <a:avLst/>
          </a:prstGeom>
        </p:spPr>
      </p:pic>
      <p:pic>
        <p:nvPicPr>
          <p:cNvPr id="125" name="图片 124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3430250" y="8439150"/>
            <a:ext cx="1714500" cy="1285875"/>
          </a:xfrm>
          <a:prstGeom prst="rect">
            <a:avLst/>
          </a:prstGeom>
        </p:spPr>
      </p:pic>
      <p:sp>
        <p:nvSpPr>
          <p:cNvPr id="43" name="椭圆 42">
            <a:extLst>
              <a:ext uri="{FF2B5EF4-FFF2-40B4-BE49-F238E27FC236}">
                <a16:creationId xmlns:a16="http://schemas.microsoft.com/office/drawing/2014/main" id="{C53F1912-1973-413C-9F56-5226697AD3D3}"/>
              </a:ext>
            </a:extLst>
          </p:cNvPr>
          <p:cNvSpPr>
            <a:spLocks noGrp="1"/>
          </p:cNvSpPr>
          <p:nvPr/>
        </p:nvSpPr>
        <p:spPr>
          <a:xfrm>
            <a:off x="361950" y="1022032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1B6E557-6DFD-4429-B3B1-A0247C7995A8}"/>
              </a:ext>
            </a:extLst>
          </p:cNvPr>
          <p:cNvSpPr>
            <a:spLocks noGrp="1"/>
          </p:cNvSpPr>
          <p:nvPr/>
        </p:nvSpPr>
        <p:spPr>
          <a:xfrm>
            <a:off x="1238250" y="1023937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ABE9B6E-59B1-4140-A2AC-F8C8E1AF1092}"/>
              </a:ext>
            </a:extLst>
          </p:cNvPr>
          <p:cNvSpPr>
            <a:spLocks noGrp="1"/>
          </p:cNvSpPr>
          <p:nvPr/>
        </p:nvSpPr>
        <p:spPr>
          <a:xfrm>
            <a:off x="3524250" y="1026795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RDKit structures of every supplied SMILES identity</a:t>
            </a:r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F36A0784-F6BC-4F7A-BFED-53BADD3CDC38}"/>
              </a:ext>
            </a:extLst>
          </p:cNvPr>
          <p:cNvSpPr>
            <a:spLocks noGrp="1"/>
          </p:cNvSpPr>
          <p:nvPr/>
        </p:nvSpPr>
        <p:spPr>
          <a:xfrm>
            <a:off x="1238250" y="1080135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8C06B98-2D53-4B9D-A26E-1948F2D7B93C}"/>
              </a:ext>
            </a:extLst>
          </p:cNvPr>
          <p:cNvSpPr>
            <a:spLocks noGrp="1"/>
          </p:cNvSpPr>
          <p:nvPr/>
        </p:nvSpPr>
        <p:spPr>
          <a:xfrm>
            <a:off x="942975" y="10915650"/>
            <a:ext cx="28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8" name="Identity 1, matched">
            <a:extLst>
              <a:ext uri="{FF2B5EF4-FFF2-40B4-BE49-F238E27FC236}">
                <a16:creationId xmlns:a16="http://schemas.microsoft.com/office/drawing/2014/main" id="{301F5247-9571-465A-90CA-75D46D070BBC}"/>
              </a:ext>
            </a:extLst>
          </p:cNvPr>
          <p:cNvSpPr>
            <a:spLocks noGrp="1"/>
          </p:cNvSpPr>
          <p:nvPr/>
        </p:nvSpPr>
        <p:spPr>
          <a:xfrm>
            <a:off x="1238250" y="10887075"/>
            <a:ext cx="4838700" cy="2667000"/>
          </a:xfrm>
          <a:prstGeom prst="rect">
            <a:avLst/>
          </a:prstGeom>
          <a:solidFill>
            <a:srgbClr val="FFFFFF"/>
          </a:solidFill>
          <a:ln w="28575">
            <a:solidFill>
              <a:srgbClr val="3169B3"/>
            </a:solidFill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753AEF2-E20B-4D28-8A80-4FCA4CF51E54}"/>
              </a:ext>
            </a:extLst>
          </p:cNvPr>
          <p:cNvSpPr>
            <a:spLocks noGrp="1"/>
          </p:cNvSpPr>
          <p:nvPr/>
        </p:nvSpPr>
        <p:spPr>
          <a:xfrm>
            <a:off x="14097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1  A1JAX</a:t>
            </a:r>
          </a:p>
        </p:txBody>
      </p:sp>
      <p:pic>
        <p:nvPicPr>
          <p:cNvPr id="133" name="图形 1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2400469" y="11382375"/>
            <a:ext cx="2514261" cy="1666875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1D7416A4-D15B-41DC-A3A6-B023D09F9EAF}"/>
              </a:ext>
            </a:extLst>
          </p:cNvPr>
          <p:cNvSpPr>
            <a:spLocks noGrp="1"/>
          </p:cNvSpPr>
          <p:nvPr/>
        </p:nvSpPr>
        <p:spPr>
          <a:xfrm>
            <a:off x="14097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Matched identity</a:t>
            </a:r>
          </a:p>
        </p:txBody>
      </p:sp>
      <p:sp>
        <p:nvSpPr>
          <p:cNvPr id="52" name="Identity 2, eligible">
            <a:extLst>
              <a:ext uri="{FF2B5EF4-FFF2-40B4-BE49-F238E27FC236}">
                <a16:creationId xmlns:a16="http://schemas.microsoft.com/office/drawing/2014/main" id="{34DFD3CD-BD49-4942-B874-CFFE657335DA}"/>
              </a:ext>
            </a:extLst>
          </p:cNvPr>
          <p:cNvSpPr>
            <a:spLocks noGrp="1"/>
          </p:cNvSpPr>
          <p:nvPr/>
        </p:nvSpPr>
        <p:spPr>
          <a:xfrm>
            <a:off x="6343650" y="10887075"/>
            <a:ext cx="48387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33CAE3B-B24D-4515-BBF2-F4FB6CEB5AB1}"/>
              </a:ext>
            </a:extLst>
          </p:cNvPr>
          <p:cNvSpPr>
            <a:spLocks noGrp="1"/>
          </p:cNvSpPr>
          <p:nvPr/>
        </p:nvSpPr>
        <p:spPr>
          <a:xfrm>
            <a:off x="65151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2  Identity2</a:t>
            </a:r>
          </a:p>
        </p:txBody>
      </p:sp>
      <p:pic>
        <p:nvPicPr>
          <p:cNvPr id="137" name="图形 1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6486525" y="11829155"/>
            <a:ext cx="4552950" cy="773315"/>
          </a:xfrm>
          <a:prstGeom prst="rect">
            <a:avLst/>
          </a:prstGeom>
        </p:spPr>
      </p:pic>
      <p:sp>
        <p:nvSpPr>
          <p:cNvPr id="55" name="矩形 54">
            <a:extLst>
              <a:ext uri="{FF2B5EF4-FFF2-40B4-BE49-F238E27FC236}">
                <a16:creationId xmlns:a16="http://schemas.microsoft.com/office/drawing/2014/main" id="{A788ED38-CB64-4A18-BD33-543CCF217346}"/>
              </a:ext>
            </a:extLst>
          </p:cNvPr>
          <p:cNvSpPr>
            <a:spLocks noGrp="1"/>
          </p:cNvSpPr>
          <p:nvPr/>
        </p:nvSpPr>
        <p:spPr>
          <a:xfrm>
            <a:off x="65151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Eligible small molecule</a:t>
            </a:r>
          </a:p>
        </p:txBody>
      </p:sp>
      <p:sp>
        <p:nvSpPr>
          <p:cNvPr id="56" name="Identity 3, outside Stage3 scope">
            <a:extLst>
              <a:ext uri="{FF2B5EF4-FFF2-40B4-BE49-F238E27FC236}">
                <a16:creationId xmlns:a16="http://schemas.microsoft.com/office/drawing/2014/main" id="{61BC3A5F-B693-4B3D-81F3-42A1D7F7F2F1}"/>
              </a:ext>
            </a:extLst>
          </p:cNvPr>
          <p:cNvSpPr>
            <a:spLocks noGrp="1"/>
          </p:cNvSpPr>
          <p:nvPr/>
        </p:nvSpPr>
        <p:spPr>
          <a:xfrm>
            <a:off x="11449050" y="10887075"/>
            <a:ext cx="48387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72FDD5F-A524-4174-9B0B-6F4D5CA15D39}"/>
              </a:ext>
            </a:extLst>
          </p:cNvPr>
          <p:cNvSpPr>
            <a:spLocks noGrp="1"/>
          </p:cNvSpPr>
          <p:nvPr/>
        </p:nvSpPr>
        <p:spPr>
          <a:xfrm>
            <a:off x="116205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3  Identity3</a:t>
            </a:r>
          </a:p>
        </p:txBody>
      </p:sp>
      <p:pic>
        <p:nvPicPr>
          <p:cNvPr id="141" name="图形 1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12511088" y="11382375"/>
            <a:ext cx="2714625" cy="1666875"/>
          </a:xfrm>
          <a:prstGeom prst="rect">
            <a:avLst/>
          </a:prstGeom>
        </p:spPr>
      </p:pic>
      <p:sp>
        <p:nvSpPr>
          <p:cNvPr id="59" name="矩形 58">
            <a:extLst>
              <a:ext uri="{FF2B5EF4-FFF2-40B4-BE49-F238E27FC236}">
                <a16:creationId xmlns:a16="http://schemas.microsoft.com/office/drawing/2014/main" id="{56C31F51-6ED3-4542-B58A-05D42EED4E2B}"/>
              </a:ext>
            </a:extLst>
          </p:cNvPr>
          <p:cNvSpPr>
            <a:spLocks noGrp="1"/>
          </p:cNvSpPr>
          <p:nvPr/>
        </p:nvSpPr>
        <p:spPr>
          <a:xfrm>
            <a:off x="116205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Outside Stage3 scope</a:t>
            </a:r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74461C14-7793-4DD5-85F0-373FA7D9EF92}"/>
              </a:ext>
            </a:extLst>
          </p:cNvPr>
          <p:cNvSpPr>
            <a:spLocks noGrp="1"/>
          </p:cNvSpPr>
          <p:nvPr/>
        </p:nvSpPr>
        <p:spPr>
          <a:xfrm>
            <a:off x="361950" y="1378267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BA11F7E-A5CE-40A0-9A71-046F921A1290}"/>
              </a:ext>
            </a:extLst>
          </p:cNvPr>
          <p:cNvSpPr>
            <a:spLocks noGrp="1"/>
          </p:cNvSpPr>
          <p:nvPr/>
        </p:nvSpPr>
        <p:spPr>
          <a:xfrm>
            <a:off x="1238250" y="1380172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75510E6-A6D7-4548-BB75-8B0CFBC48359}"/>
              </a:ext>
            </a:extLst>
          </p:cNvPr>
          <p:cNvSpPr>
            <a:spLocks noGrp="1"/>
          </p:cNvSpPr>
          <p:nvPr/>
        </p:nvSpPr>
        <p:spPr>
          <a:xfrm>
            <a:off x="3524250" y="1383030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local_cov-C self-ranking Top-1, one pose in three views</a:t>
            </a:r>
          </a:p>
        </p:txBody>
      </p: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02986167-934E-45B2-9254-A6F7E60C257A}"/>
              </a:ext>
            </a:extLst>
          </p:cNvPr>
          <p:cNvSpPr>
            <a:spLocks noGrp="1"/>
          </p:cNvSpPr>
          <p:nvPr/>
        </p:nvSpPr>
        <p:spPr>
          <a:xfrm>
            <a:off x="1238250" y="1436370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D283D97-41FA-4082-B678-4EAA9898D543}"/>
              </a:ext>
            </a:extLst>
          </p:cNvPr>
          <p:cNvSpPr>
            <a:spLocks noGrp="1"/>
          </p:cNvSpPr>
          <p:nvPr/>
        </p:nvSpPr>
        <p:spPr>
          <a:xfrm>
            <a:off x="12382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35B0A04-35BC-4F7A-8058-83D562F17EF3}"/>
              </a:ext>
            </a:extLst>
          </p:cNvPr>
          <p:cNvSpPr>
            <a:spLocks noGrp="1"/>
          </p:cNvSpPr>
          <p:nvPr/>
        </p:nvSpPr>
        <p:spPr>
          <a:xfrm>
            <a:off x="16573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Receptor surface</a:t>
            </a:r>
          </a:p>
        </p:txBody>
      </p:sp>
      <p:pic>
        <p:nvPicPr>
          <p:cNvPr id="149" name="图片 148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1949450" y="14982825"/>
            <a:ext cx="3149600" cy="2362200"/>
          </a:xfrm>
          <a:prstGeom prst="rect">
            <a:avLst/>
          </a:prstGeom>
        </p:spPr>
      </p:pic>
      <p:sp>
        <p:nvSpPr>
          <p:cNvPr id="67" name="矩形 66">
            <a:extLst>
              <a:ext uri="{FF2B5EF4-FFF2-40B4-BE49-F238E27FC236}">
                <a16:creationId xmlns:a16="http://schemas.microsoft.com/office/drawing/2014/main" id="{A4AF5A2B-8E3E-447F-977E-DFA8C8151A22}"/>
              </a:ext>
            </a:extLst>
          </p:cNvPr>
          <p:cNvSpPr>
            <a:spLocks noGrp="1"/>
          </p:cNvSpPr>
          <p:nvPr/>
        </p:nvSpPr>
        <p:spPr>
          <a:xfrm>
            <a:off x="647700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68E3C9C-E05B-49DD-9979-8CEC44BC004C}"/>
              </a:ext>
            </a:extLst>
          </p:cNvPr>
          <p:cNvSpPr>
            <a:spLocks noGrp="1"/>
          </p:cNvSpPr>
          <p:nvPr/>
        </p:nvSpPr>
        <p:spPr>
          <a:xfrm>
            <a:off x="689610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pic>
        <p:nvPicPr>
          <p:cNvPr id="152" name="图片 151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7188200" y="14982825"/>
            <a:ext cx="3149600" cy="2362200"/>
          </a:xfrm>
          <a:prstGeom prst="rect">
            <a:avLst/>
          </a:prstGeom>
        </p:spPr>
      </p:pic>
      <p:sp>
        <p:nvSpPr>
          <p:cNvPr id="70" name="矩形 69">
            <a:extLst>
              <a:ext uri="{FF2B5EF4-FFF2-40B4-BE49-F238E27FC236}">
                <a16:creationId xmlns:a16="http://schemas.microsoft.com/office/drawing/2014/main" id="{708148BB-0315-4163-BE59-5AD7746F1658}"/>
              </a:ext>
            </a:extLst>
          </p:cNvPr>
          <p:cNvSpPr>
            <a:spLocks noGrp="1"/>
          </p:cNvSpPr>
          <p:nvPr/>
        </p:nvSpPr>
        <p:spPr>
          <a:xfrm>
            <a:off x="117157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19C11DC-C334-4AF1-9637-7D5B7B1298D1}"/>
              </a:ext>
            </a:extLst>
          </p:cNvPr>
          <p:cNvSpPr>
            <a:spLocks noGrp="1"/>
          </p:cNvSpPr>
          <p:nvPr/>
        </p:nvSpPr>
        <p:spPr>
          <a:xfrm>
            <a:off x="121348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Deposited pose overlay</a:t>
            </a:r>
          </a:p>
        </p:txBody>
      </p:sp>
      <p:pic>
        <p:nvPicPr>
          <p:cNvPr id="155" name="图片 154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12426950" y="14982825"/>
            <a:ext cx="3149600" cy="2362200"/>
          </a:xfrm>
          <a:prstGeom prst="rect">
            <a:avLst/>
          </a:prstGeom>
        </p:spPr>
      </p:pic>
      <p:sp>
        <p:nvSpPr>
          <p:cNvPr id="73" name="矩形 72">
            <a:extLst>
              <a:ext uri="{FF2B5EF4-FFF2-40B4-BE49-F238E27FC236}">
                <a16:creationId xmlns:a16="http://schemas.microsoft.com/office/drawing/2014/main" id="{66450C72-B44A-4EA9-A712-8941182ABDB2}"/>
              </a:ext>
            </a:extLst>
          </p:cNvPr>
          <p:cNvSpPr>
            <a:spLocks noGrp="1"/>
          </p:cNvSpPr>
          <p:nvPr/>
        </p:nvSpPr>
        <p:spPr>
          <a:xfrm>
            <a:off x="1238250" y="17506950"/>
            <a:ext cx="15049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Heavy-atom RMSD 0.63 Å     Clash 0     50 poses, 100 steps</a:t>
            </a:r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31A58718-0ABE-49CC-97AC-2694403CAC56}"/>
              </a:ext>
            </a:extLst>
          </p:cNvPr>
          <p:cNvSpPr>
            <a:spLocks noGrp="1"/>
          </p:cNvSpPr>
          <p:nvPr/>
        </p:nvSpPr>
        <p:spPr>
          <a:xfrm>
            <a:off x="1238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BFB5674-F777-4D90-B802-EC1E08A44331}"/>
              </a:ext>
            </a:extLst>
          </p:cNvPr>
          <p:cNvSpPr>
            <a:spLocks noGrp="1"/>
          </p:cNvSpPr>
          <p:nvPr/>
        </p:nvSpPr>
        <p:spPr>
          <a:xfrm>
            <a:off x="1647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480C34CF-0BAA-432A-B812-682283C8D304}"/>
              </a:ext>
            </a:extLst>
          </p:cNvPr>
          <p:cNvSpPr>
            <a:spLocks noGrp="1"/>
          </p:cNvSpPr>
          <p:nvPr/>
        </p:nvSpPr>
        <p:spPr>
          <a:xfrm>
            <a:off x="4286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16773"/>
            </a:solidFill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F95CFC30-51F2-43F9-82FA-A38B9534F2E9}"/>
              </a:ext>
            </a:extLst>
          </p:cNvPr>
          <p:cNvSpPr>
            <a:spLocks noGrp="1"/>
          </p:cNvSpPr>
          <p:nvPr/>
        </p:nvSpPr>
        <p:spPr>
          <a:xfrm>
            <a:off x="4695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2788FC42-C774-4D75-9A0B-90E18B711477}"/>
              </a:ext>
            </a:extLst>
          </p:cNvPr>
          <p:cNvSpPr>
            <a:spLocks noGrp="1"/>
          </p:cNvSpPr>
          <p:nvPr/>
        </p:nvSpPr>
        <p:spPr>
          <a:xfrm>
            <a:off x="7334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9F309DB-1048-404C-A930-910DCF1E2EBD}"/>
              </a:ext>
            </a:extLst>
          </p:cNvPr>
          <p:cNvSpPr>
            <a:spLocks noGrp="1"/>
          </p:cNvSpPr>
          <p:nvPr/>
        </p:nvSpPr>
        <p:spPr>
          <a:xfrm>
            <a:off x="7743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Target blob</a:t>
            </a:r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CE0B5F8B-2EA9-482F-AEBF-67C8BEA738D4}"/>
              </a:ext>
            </a:extLst>
          </p:cNvPr>
          <p:cNvSpPr>
            <a:spLocks noGrp="1"/>
          </p:cNvSpPr>
          <p:nvPr/>
        </p:nvSpPr>
        <p:spPr>
          <a:xfrm>
            <a:off x="10382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73F55E7-8643-4EEA-B4E9-19CD469165AD}"/>
              </a:ext>
            </a:extLst>
          </p:cNvPr>
          <p:cNvSpPr>
            <a:spLocks noGrp="1"/>
          </p:cNvSpPr>
          <p:nvPr/>
        </p:nvSpPr>
        <p:spPr>
          <a:xfrm>
            <a:off x="10791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Predicted pose</a:t>
            </a:r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F8A7F584-CAFB-4137-8690-8B83A0C81457}"/>
              </a:ext>
            </a:extLst>
          </p:cNvPr>
          <p:cNvSpPr>
            <a:spLocks noGrp="1"/>
          </p:cNvSpPr>
          <p:nvPr/>
        </p:nvSpPr>
        <p:spPr>
          <a:xfrm>
            <a:off x="13430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B6F3F93B-4C65-4530-91A6-580DC341A236}"/>
              </a:ext>
            </a:extLst>
          </p:cNvPr>
          <p:cNvSpPr>
            <a:spLocks noGrp="1"/>
          </p:cNvSpPr>
          <p:nvPr/>
        </p:nvSpPr>
        <p:spPr>
          <a:xfrm>
            <a:off x="13839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Deposited pose</a:t>
            </a:r>
          </a:p>
        </p:txBody>
      </p:sp>
    </p:spTree>
    <p:extLst>
      <p:ext uri="{BB962C8B-B14F-4D97-AF65-F5344CB8AC3E}">
        <p14:creationId xmlns:p14="http://schemas.microsoft.com/office/powerpoint/2010/main" val="13701168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 84">
            <a:extLst>
              <a:ext uri="{FF2B5EF4-FFF2-40B4-BE49-F238E27FC236}">
                <a16:creationId xmlns:a16="http://schemas.microsoft.com/office/drawing/2014/main" id="{BFFC265C-015E-4AAC-893D-AB2C2D51A9E6}"/>
              </a:ext>
            </a:extLst>
          </p:cNvPr>
          <p:cNvSpPr>
            <a:spLocks noGrp="1"/>
          </p:cNvSpPr>
          <p:nvPr/>
        </p:nvSpPr>
        <p:spPr>
          <a:xfrm>
            <a:off x="1238250" y="209550"/>
            <a:ext cx="1466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9RD8  BCT (A:902)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9D405D-C590-48C7-AD5C-26943BA57E3C}"/>
              </a:ext>
            </a:extLst>
          </p:cNvPr>
          <p:cNvSpPr>
            <a:spLocks noGrp="1"/>
          </p:cNvSpPr>
          <p:nvPr/>
        </p:nvSpPr>
        <p:spPr>
          <a:xfrm>
            <a:off x="1238250" y="809625"/>
            <a:ext cx="1504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The first-ranked site completes identity matching and pose reconstruction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F3637CB7-FA7F-40AB-9C7F-5309174A5CC3}"/>
              </a:ext>
            </a:extLst>
          </p:cNvPr>
          <p:cNvSpPr>
            <a:spLocks noGrp="1"/>
          </p:cNvSpPr>
          <p:nvPr/>
        </p:nvSpPr>
        <p:spPr>
          <a:xfrm>
            <a:off x="600075" y="1857375"/>
            <a:ext cx="953" cy="3152775"/>
          </a:xfrm>
          <a:custGeom>
            <a:avLst/>
            <a:gdLst/>
            <a:ahLst/>
            <a:cxnLst/>
            <a:rect l="0" t="0" r="0" b="0"/>
            <a:pathLst>
              <a:path w="953" h="3152775">
                <a:moveTo>
                  <a:pt x="0" y="0"/>
                </a:moveTo>
                <a:lnTo>
                  <a:pt x="0" y="31527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480BD298-3472-41C5-B1EC-1E4C93887ADB}"/>
              </a:ext>
            </a:extLst>
          </p:cNvPr>
          <p:cNvSpPr>
            <a:spLocks noGrp="1"/>
          </p:cNvSpPr>
          <p:nvPr/>
        </p:nvSpPr>
        <p:spPr>
          <a:xfrm>
            <a:off x="533400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4007DF94-FF92-48AD-B164-047B41FC980B}"/>
              </a:ext>
            </a:extLst>
          </p:cNvPr>
          <p:cNvSpPr>
            <a:spLocks noGrp="1"/>
          </p:cNvSpPr>
          <p:nvPr/>
        </p:nvSpPr>
        <p:spPr>
          <a:xfrm>
            <a:off x="600075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391B1994-382E-49D0-A333-5718C794EA2E}"/>
              </a:ext>
            </a:extLst>
          </p:cNvPr>
          <p:cNvSpPr>
            <a:spLocks noGrp="1"/>
          </p:cNvSpPr>
          <p:nvPr/>
        </p:nvSpPr>
        <p:spPr>
          <a:xfrm>
            <a:off x="600075" y="5695950"/>
            <a:ext cx="953" cy="4410075"/>
          </a:xfrm>
          <a:custGeom>
            <a:avLst/>
            <a:gdLst/>
            <a:ahLst/>
            <a:cxnLst/>
            <a:rect l="0" t="0" r="0" b="0"/>
            <a:pathLst>
              <a:path w="953" h="4410075">
                <a:moveTo>
                  <a:pt x="0" y="0"/>
                </a:moveTo>
                <a:lnTo>
                  <a:pt x="0" y="44100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F87A560F-2683-476C-A13B-CD24D9EBD500}"/>
              </a:ext>
            </a:extLst>
          </p:cNvPr>
          <p:cNvSpPr>
            <a:spLocks noGrp="1"/>
          </p:cNvSpPr>
          <p:nvPr/>
        </p:nvSpPr>
        <p:spPr>
          <a:xfrm>
            <a:off x="533400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9F969D9C-6CA6-410D-9A1D-784EAC1711BE}"/>
              </a:ext>
            </a:extLst>
          </p:cNvPr>
          <p:cNvSpPr>
            <a:spLocks noGrp="1"/>
          </p:cNvSpPr>
          <p:nvPr/>
        </p:nvSpPr>
        <p:spPr>
          <a:xfrm>
            <a:off x="600075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4AB2DBBA-03BB-4F44-A217-5BC78F9B0855}"/>
              </a:ext>
            </a:extLst>
          </p:cNvPr>
          <p:cNvSpPr>
            <a:spLocks noGrp="1"/>
          </p:cNvSpPr>
          <p:nvPr/>
        </p:nvSpPr>
        <p:spPr>
          <a:xfrm>
            <a:off x="600075" y="10791825"/>
            <a:ext cx="953" cy="2876550"/>
          </a:xfrm>
          <a:custGeom>
            <a:avLst/>
            <a:gdLst/>
            <a:ahLst/>
            <a:cxnLst/>
            <a:rect l="0" t="0" r="0" b="0"/>
            <a:pathLst>
              <a:path w="953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9391031C-50F5-458E-A5D7-21B105AAD50A}"/>
              </a:ext>
            </a:extLst>
          </p:cNvPr>
          <p:cNvSpPr>
            <a:spLocks noGrp="1"/>
          </p:cNvSpPr>
          <p:nvPr/>
        </p:nvSpPr>
        <p:spPr>
          <a:xfrm>
            <a:off x="533400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53BBDD2F-CC79-4BE1-898A-1C2AC6D12D86}"/>
              </a:ext>
            </a:extLst>
          </p:cNvPr>
          <p:cNvSpPr>
            <a:spLocks noGrp="1"/>
          </p:cNvSpPr>
          <p:nvPr/>
        </p:nvSpPr>
        <p:spPr>
          <a:xfrm>
            <a:off x="600075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B0F7AB4-68DF-47E1-BBE0-6D385597AFCF}"/>
              </a:ext>
            </a:extLst>
          </p:cNvPr>
          <p:cNvSpPr>
            <a:spLocks noGrp="1"/>
          </p:cNvSpPr>
          <p:nvPr/>
        </p:nvSpPr>
        <p:spPr>
          <a:xfrm>
            <a:off x="361950" y="131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BA8F88-1F1E-4D6D-ACA9-ECF3589C93A5}"/>
              </a:ext>
            </a:extLst>
          </p:cNvPr>
          <p:cNvSpPr>
            <a:spLocks noGrp="1"/>
          </p:cNvSpPr>
          <p:nvPr/>
        </p:nvSpPr>
        <p:spPr>
          <a:xfrm>
            <a:off x="1238250" y="133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255086-0DCF-470D-A882-3EB12BE2F35F}"/>
              </a:ext>
            </a:extLst>
          </p:cNvPr>
          <p:cNvSpPr>
            <a:spLocks noGrp="1"/>
          </p:cNvSpPr>
          <p:nvPr/>
        </p:nvSpPr>
        <p:spPr>
          <a:xfrm>
            <a:off x="3524250" y="136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Experimental map and CA2 receptor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A2EB1A4D-0FCD-48DB-AA67-010F0F7BC5C3}"/>
              </a:ext>
            </a:extLst>
          </p:cNvPr>
          <p:cNvSpPr>
            <a:spLocks noGrp="1"/>
          </p:cNvSpPr>
          <p:nvPr/>
        </p:nvSpPr>
        <p:spPr>
          <a:xfrm>
            <a:off x="1238250" y="189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C5A945-92C7-42D1-BD85-AD1EB62F4887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948D671-F808-497E-904E-A9F7B7458EAE}"/>
              </a:ext>
            </a:extLst>
          </p:cNvPr>
          <p:cNvSpPr>
            <a:spLocks noGrp="1"/>
          </p:cNvSpPr>
          <p:nvPr/>
        </p:nvSpPr>
        <p:spPr>
          <a:xfrm>
            <a:off x="16573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experimental map</a:t>
            </a: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05000" y="2495550"/>
            <a:ext cx="3238500" cy="242887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A45AD6A5-403D-4829-B20E-7CC082E2AC23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C31913C-E9E3-47DE-B9C7-45B4BCCE8090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CA2 receptor</a:t>
            </a: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43750" y="2495550"/>
            <a:ext cx="3238500" cy="242887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F207FB9D-0118-4773-B595-287BB3E95A0B}"/>
              </a:ext>
            </a:extLst>
          </p:cNvPr>
          <p:cNvSpPr>
            <a:spLocks noGrp="1"/>
          </p:cNvSpPr>
          <p:nvPr/>
        </p:nvSpPr>
        <p:spPr>
          <a:xfrm>
            <a:off x="117157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31C5032-47E7-4D6F-A759-DFA5F10A58D2}"/>
              </a:ext>
            </a:extLst>
          </p:cNvPr>
          <p:cNvSpPr>
            <a:spLocks noGrp="1"/>
          </p:cNvSpPr>
          <p:nvPr/>
        </p:nvSpPr>
        <p:spPr>
          <a:xfrm>
            <a:off x="121348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receptor (reference)</a:t>
            </a:r>
          </a:p>
        </p:txBody>
      </p:sp>
      <p:pic>
        <p:nvPicPr>
          <p:cNvPr id="108" name="图片 10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382500" y="2495550"/>
            <a:ext cx="3238500" cy="2428875"/>
          </a:xfrm>
          <a:prstGeom prst="rect">
            <a:avLst/>
          </a:prstGeom>
        </p:spPr>
      </p:pic>
      <p:sp>
        <p:nvSpPr>
          <p:cNvPr id="25" name="椭圆 24">
            <a:extLst>
              <a:ext uri="{FF2B5EF4-FFF2-40B4-BE49-F238E27FC236}">
                <a16:creationId xmlns:a16="http://schemas.microsoft.com/office/drawing/2014/main" id="{645EB6CD-4C8E-42F7-B378-FB47CB81C860}"/>
              </a:ext>
            </a:extLst>
          </p:cNvPr>
          <p:cNvSpPr>
            <a:spLocks noGrp="1"/>
          </p:cNvSpPr>
          <p:nvPr/>
        </p:nvSpPr>
        <p:spPr>
          <a:xfrm>
            <a:off x="361950" y="512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76AE445-A97B-4487-9211-9A4A822C9BCB}"/>
              </a:ext>
            </a:extLst>
          </p:cNvPr>
          <p:cNvSpPr>
            <a:spLocks noGrp="1"/>
          </p:cNvSpPr>
          <p:nvPr/>
        </p:nvSpPr>
        <p:spPr>
          <a:xfrm>
            <a:off x="1238250" y="514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0EFAA65-A83E-4E22-AC80-1B462FFFE40C}"/>
              </a:ext>
            </a:extLst>
          </p:cNvPr>
          <p:cNvSpPr>
            <a:spLocks noGrp="1"/>
          </p:cNvSpPr>
          <p:nvPr/>
        </p:nvSpPr>
        <p:spPr>
          <a:xfrm>
            <a:off x="3524250" y="517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Ranked density regions, site 1 uses charged attempt 1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A93A1D04-4556-40F3-8FBF-88E79E25D1B7}"/>
              </a:ext>
            </a:extLst>
          </p:cNvPr>
          <p:cNvSpPr>
            <a:spLocks noGrp="1"/>
          </p:cNvSpPr>
          <p:nvPr/>
        </p:nvSpPr>
        <p:spPr>
          <a:xfrm>
            <a:off x="1238250" y="570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E84F6D0-1819-491F-BDB0-05CCA7A208D9}"/>
              </a:ext>
            </a:extLst>
          </p:cNvPr>
          <p:cNvSpPr>
            <a:spLocks noGrp="1"/>
          </p:cNvSpPr>
          <p:nvPr/>
        </p:nvSpPr>
        <p:spPr>
          <a:xfrm>
            <a:off x="1238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54D7205-3C8B-473C-825C-6BA7B4AE8F2B}"/>
              </a:ext>
            </a:extLst>
          </p:cNvPr>
          <p:cNvSpPr>
            <a:spLocks noGrp="1"/>
          </p:cNvSpPr>
          <p:nvPr/>
        </p:nvSpPr>
        <p:spPr>
          <a:xfrm>
            <a:off x="1657350" y="5915025"/>
            <a:ext cx="5486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Global candidates</a:t>
            </a:r>
          </a:p>
        </p:txBody>
      </p:sp>
      <p:pic>
        <p:nvPicPr>
          <p:cNvPr id="115" name="图片 11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222500" y="6381750"/>
            <a:ext cx="3937000" cy="2952750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E24764BD-A089-4E36-8CCC-22EC36127ECF}"/>
              </a:ext>
            </a:extLst>
          </p:cNvPr>
          <p:cNvSpPr>
            <a:spLocks noGrp="1"/>
          </p:cNvSpPr>
          <p:nvPr/>
        </p:nvSpPr>
        <p:spPr>
          <a:xfrm>
            <a:off x="1238250" y="9467850"/>
            <a:ext cx="59055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All 5 predicted blobs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B676607-2DB9-4C91-9945-76676EF90BFF}"/>
              </a:ext>
            </a:extLst>
          </p:cNvPr>
          <p:cNvSpPr>
            <a:spLocks noGrp="1"/>
          </p:cNvSpPr>
          <p:nvPr/>
        </p:nvSpPr>
        <p:spPr>
          <a:xfrm>
            <a:off x="800100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26F9195-7187-4320-851F-89CDCA953D8B}"/>
              </a:ext>
            </a:extLst>
          </p:cNvPr>
          <p:cNvSpPr>
            <a:spLocks noGrp="1"/>
          </p:cNvSpPr>
          <p:nvPr/>
        </p:nvSpPr>
        <p:spPr>
          <a:xfrm>
            <a:off x="842010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neighborhood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A24E957-77DD-4401-8014-1F1C4E74DBB0}"/>
              </a:ext>
            </a:extLst>
          </p:cNvPr>
          <p:cNvSpPr>
            <a:spLocks noGrp="1"/>
          </p:cNvSpPr>
          <p:nvPr/>
        </p:nvSpPr>
        <p:spPr>
          <a:xfrm>
            <a:off x="12287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CA52856-B4CE-4704-ADCB-7ED08F4E9BC5}"/>
              </a:ext>
            </a:extLst>
          </p:cNvPr>
          <p:cNvSpPr>
            <a:spLocks noGrp="1"/>
          </p:cNvSpPr>
          <p:nvPr/>
        </p:nvSpPr>
        <p:spPr>
          <a:xfrm>
            <a:off x="1270635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 prediction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CFB7AFB-CB9B-44A8-8BF0-8325D89DDE3C}"/>
              </a:ext>
            </a:extLst>
          </p:cNvPr>
          <p:cNvSpPr>
            <a:spLocks noGrp="1"/>
          </p:cNvSpPr>
          <p:nvPr/>
        </p:nvSpPr>
        <p:spPr>
          <a:xfrm>
            <a:off x="8001000" y="6353175"/>
            <a:ext cx="8239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Rank 1: target ligand</a:t>
            </a:r>
          </a:p>
        </p:txBody>
      </p:sp>
      <p:pic>
        <p:nvPicPr>
          <p:cNvPr id="122" name="图片 121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261350" y="6772275"/>
            <a:ext cx="3479800" cy="2609850"/>
          </a:xfrm>
          <a:prstGeom prst="rect">
            <a:avLst/>
          </a:prstGeom>
        </p:spPr>
      </p:pic>
      <p:pic>
        <p:nvPicPr>
          <p:cNvPr id="123" name="图片 122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2547600" y="6772275"/>
            <a:ext cx="3479800" cy="2609850"/>
          </a:xfrm>
          <a:prstGeom prst="rect">
            <a:avLst/>
          </a:prstGeom>
        </p:spPr>
      </p:pic>
      <p:sp>
        <p:nvSpPr>
          <p:cNvPr id="40" name="椭圆 39">
            <a:extLst>
              <a:ext uri="{FF2B5EF4-FFF2-40B4-BE49-F238E27FC236}">
                <a16:creationId xmlns:a16="http://schemas.microsoft.com/office/drawing/2014/main" id="{2B7908E4-6144-43B0-9F5E-4C8E82E03B39}"/>
              </a:ext>
            </a:extLst>
          </p:cNvPr>
          <p:cNvSpPr>
            <a:spLocks noGrp="1"/>
          </p:cNvSpPr>
          <p:nvPr/>
        </p:nvSpPr>
        <p:spPr>
          <a:xfrm>
            <a:off x="361950" y="1022032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742D9B6-B4E7-443F-A2A7-567628637BC6}"/>
              </a:ext>
            </a:extLst>
          </p:cNvPr>
          <p:cNvSpPr>
            <a:spLocks noGrp="1"/>
          </p:cNvSpPr>
          <p:nvPr/>
        </p:nvSpPr>
        <p:spPr>
          <a:xfrm>
            <a:off x="1238250" y="1023937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EF288B6-F7F5-4EC7-94A3-AEFCAE087202}"/>
              </a:ext>
            </a:extLst>
          </p:cNvPr>
          <p:cNvSpPr>
            <a:spLocks noGrp="1"/>
          </p:cNvSpPr>
          <p:nvPr/>
        </p:nvSpPr>
        <p:spPr>
          <a:xfrm>
            <a:off x="3524250" y="1026795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RDKit structures of every supplied SMILES identity</a:t>
            </a: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02749000-99EC-44BB-93ED-FED838A2776A}"/>
              </a:ext>
            </a:extLst>
          </p:cNvPr>
          <p:cNvSpPr>
            <a:spLocks noGrp="1"/>
          </p:cNvSpPr>
          <p:nvPr/>
        </p:nvSpPr>
        <p:spPr>
          <a:xfrm>
            <a:off x="1238250" y="1080135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D490206-8BD4-4AB1-B4BE-92C07C41AC96}"/>
              </a:ext>
            </a:extLst>
          </p:cNvPr>
          <p:cNvSpPr>
            <a:spLocks noGrp="1"/>
          </p:cNvSpPr>
          <p:nvPr/>
        </p:nvSpPr>
        <p:spPr>
          <a:xfrm>
            <a:off x="942975" y="10915650"/>
            <a:ext cx="28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5" name="Identity 1, eligible">
            <a:extLst>
              <a:ext uri="{FF2B5EF4-FFF2-40B4-BE49-F238E27FC236}">
                <a16:creationId xmlns:a16="http://schemas.microsoft.com/office/drawing/2014/main" id="{0C6C45CB-8903-4DA3-B8D7-296DB28025FD}"/>
              </a:ext>
            </a:extLst>
          </p:cNvPr>
          <p:cNvSpPr>
            <a:spLocks noGrp="1"/>
          </p:cNvSpPr>
          <p:nvPr/>
        </p:nvSpPr>
        <p:spPr>
          <a:xfrm>
            <a:off x="1238250" y="10887075"/>
            <a:ext cx="35623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99B16FC-7C2F-4FFD-BDC4-6B1EDFCBD3CB}"/>
              </a:ext>
            </a:extLst>
          </p:cNvPr>
          <p:cNvSpPr>
            <a:spLocks noGrp="1"/>
          </p:cNvSpPr>
          <p:nvPr/>
        </p:nvSpPr>
        <p:spPr>
          <a:xfrm>
            <a:off x="1409700" y="109918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1  Identity1</a:t>
            </a:r>
          </a:p>
        </p:txBody>
      </p:sp>
      <p:pic>
        <p:nvPicPr>
          <p:cNvPr id="131" name="图形 1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381125" y="11636616"/>
            <a:ext cx="3276600" cy="1158394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5A48F927-04FA-435F-AE0F-FC0E364E34DF}"/>
              </a:ext>
            </a:extLst>
          </p:cNvPr>
          <p:cNvSpPr>
            <a:spLocks noGrp="1"/>
          </p:cNvSpPr>
          <p:nvPr/>
        </p:nvSpPr>
        <p:spPr>
          <a:xfrm>
            <a:off x="1409700" y="13144500"/>
            <a:ext cx="32194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Eligible small molecule</a:t>
            </a:r>
          </a:p>
        </p:txBody>
      </p:sp>
      <p:sp>
        <p:nvSpPr>
          <p:cNvPr id="49" name="Identity 2, matched">
            <a:extLst>
              <a:ext uri="{FF2B5EF4-FFF2-40B4-BE49-F238E27FC236}">
                <a16:creationId xmlns:a16="http://schemas.microsoft.com/office/drawing/2014/main" id="{BCFB6149-C031-4592-B625-2D2919043B8E}"/>
              </a:ext>
            </a:extLst>
          </p:cNvPr>
          <p:cNvSpPr>
            <a:spLocks noGrp="1"/>
          </p:cNvSpPr>
          <p:nvPr/>
        </p:nvSpPr>
        <p:spPr>
          <a:xfrm>
            <a:off x="5067300" y="10887075"/>
            <a:ext cx="3562350" cy="2667000"/>
          </a:xfrm>
          <a:prstGeom prst="rect">
            <a:avLst/>
          </a:prstGeom>
          <a:solidFill>
            <a:srgbClr val="FFFFFF"/>
          </a:solidFill>
          <a:ln w="28575">
            <a:solidFill>
              <a:srgbClr val="3169B3"/>
            </a:solidFill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7398295-B943-4759-BC71-E128857B489A}"/>
              </a:ext>
            </a:extLst>
          </p:cNvPr>
          <p:cNvSpPr>
            <a:spLocks noGrp="1"/>
          </p:cNvSpPr>
          <p:nvPr/>
        </p:nvSpPr>
        <p:spPr>
          <a:xfrm>
            <a:off x="5238750" y="109918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2  BCT</a:t>
            </a:r>
          </a:p>
        </p:txBody>
      </p:sp>
      <p:pic>
        <p:nvPicPr>
          <p:cNvPr id="135" name="图形 1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5950927" y="11382375"/>
            <a:ext cx="1795096" cy="1666875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55BAA063-D9E3-47DF-852C-674A0823B023}"/>
              </a:ext>
            </a:extLst>
          </p:cNvPr>
          <p:cNvSpPr>
            <a:spLocks noGrp="1"/>
          </p:cNvSpPr>
          <p:nvPr/>
        </p:nvSpPr>
        <p:spPr>
          <a:xfrm>
            <a:off x="5238750" y="13144500"/>
            <a:ext cx="32194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Matched identity</a:t>
            </a:r>
          </a:p>
        </p:txBody>
      </p:sp>
      <p:sp>
        <p:nvSpPr>
          <p:cNvPr id="53" name="Identity 3, eligible">
            <a:extLst>
              <a:ext uri="{FF2B5EF4-FFF2-40B4-BE49-F238E27FC236}">
                <a16:creationId xmlns:a16="http://schemas.microsoft.com/office/drawing/2014/main" id="{D6B67AFE-8B06-4497-93A2-27139C53892C}"/>
              </a:ext>
            </a:extLst>
          </p:cNvPr>
          <p:cNvSpPr>
            <a:spLocks noGrp="1"/>
          </p:cNvSpPr>
          <p:nvPr/>
        </p:nvSpPr>
        <p:spPr>
          <a:xfrm>
            <a:off x="8896350" y="10887075"/>
            <a:ext cx="35623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9E85D33-BF40-4D7E-82AE-74843EF8F8CC}"/>
              </a:ext>
            </a:extLst>
          </p:cNvPr>
          <p:cNvSpPr>
            <a:spLocks noGrp="1"/>
          </p:cNvSpPr>
          <p:nvPr/>
        </p:nvSpPr>
        <p:spPr>
          <a:xfrm>
            <a:off x="9067800" y="109918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3  Identity3</a:t>
            </a:r>
          </a:p>
        </p:txBody>
      </p:sp>
      <p:pic>
        <p:nvPicPr>
          <p:cNvPr id="139" name="图形 13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9039225" y="11778634"/>
            <a:ext cx="3276600" cy="874357"/>
          </a:xfrm>
          <a:prstGeom prst="rect">
            <a:avLst/>
          </a:prstGeom>
        </p:spPr>
      </p:pic>
      <p:sp>
        <p:nvSpPr>
          <p:cNvPr id="56" name="矩形 55">
            <a:extLst>
              <a:ext uri="{FF2B5EF4-FFF2-40B4-BE49-F238E27FC236}">
                <a16:creationId xmlns:a16="http://schemas.microsoft.com/office/drawing/2014/main" id="{DA964671-F4CA-45F1-8226-CE459329954D}"/>
              </a:ext>
            </a:extLst>
          </p:cNvPr>
          <p:cNvSpPr>
            <a:spLocks noGrp="1"/>
          </p:cNvSpPr>
          <p:nvPr/>
        </p:nvSpPr>
        <p:spPr>
          <a:xfrm>
            <a:off x="9067800" y="13144500"/>
            <a:ext cx="32194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Eligible small molecule</a:t>
            </a:r>
          </a:p>
        </p:txBody>
      </p:sp>
      <p:sp>
        <p:nvSpPr>
          <p:cNvPr id="57" name="Identity 4, outside Stage3 scope">
            <a:extLst>
              <a:ext uri="{FF2B5EF4-FFF2-40B4-BE49-F238E27FC236}">
                <a16:creationId xmlns:a16="http://schemas.microsoft.com/office/drawing/2014/main" id="{37D700A4-04C6-4C7A-BB2D-4BAF0B943153}"/>
              </a:ext>
            </a:extLst>
          </p:cNvPr>
          <p:cNvSpPr>
            <a:spLocks noGrp="1"/>
          </p:cNvSpPr>
          <p:nvPr/>
        </p:nvSpPr>
        <p:spPr>
          <a:xfrm>
            <a:off x="12725400" y="10887075"/>
            <a:ext cx="35623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F863FF1-1554-4CC1-9B8C-FAD9BBD498DB}"/>
              </a:ext>
            </a:extLst>
          </p:cNvPr>
          <p:cNvSpPr>
            <a:spLocks noGrp="1"/>
          </p:cNvSpPr>
          <p:nvPr/>
        </p:nvSpPr>
        <p:spPr>
          <a:xfrm>
            <a:off x="12896850" y="109918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4  Identity4</a:t>
            </a:r>
          </a:p>
        </p:txBody>
      </p:sp>
      <p:pic>
        <p:nvPicPr>
          <p:cNvPr id="143" name="图形 14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13149263" y="11382375"/>
            <a:ext cx="2714625" cy="1666875"/>
          </a:xfrm>
          <a:prstGeom prst="rect">
            <a:avLst/>
          </a:prstGeom>
        </p:spPr>
      </p:pic>
      <p:sp>
        <p:nvSpPr>
          <p:cNvPr id="60" name="矩形 59">
            <a:extLst>
              <a:ext uri="{FF2B5EF4-FFF2-40B4-BE49-F238E27FC236}">
                <a16:creationId xmlns:a16="http://schemas.microsoft.com/office/drawing/2014/main" id="{B380BDA9-EDD3-41B8-B28E-CEFCF6033E5E}"/>
              </a:ext>
            </a:extLst>
          </p:cNvPr>
          <p:cNvSpPr>
            <a:spLocks noGrp="1"/>
          </p:cNvSpPr>
          <p:nvPr/>
        </p:nvSpPr>
        <p:spPr>
          <a:xfrm>
            <a:off x="12896850" y="13144500"/>
            <a:ext cx="32194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Outside Stage3 scope</a:t>
            </a: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9CEB8828-D0B8-48C4-8482-648EDF40B65B}"/>
              </a:ext>
            </a:extLst>
          </p:cNvPr>
          <p:cNvSpPr>
            <a:spLocks noGrp="1"/>
          </p:cNvSpPr>
          <p:nvPr/>
        </p:nvSpPr>
        <p:spPr>
          <a:xfrm>
            <a:off x="361950" y="1378267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3FE53B8-9A2E-49E8-BDF2-FCED580BAAD0}"/>
              </a:ext>
            </a:extLst>
          </p:cNvPr>
          <p:cNvSpPr>
            <a:spLocks noGrp="1"/>
          </p:cNvSpPr>
          <p:nvPr/>
        </p:nvSpPr>
        <p:spPr>
          <a:xfrm>
            <a:off x="1238250" y="1380172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1877697-9379-409F-B63E-6F06FA31F688}"/>
              </a:ext>
            </a:extLst>
          </p:cNvPr>
          <p:cNvSpPr>
            <a:spLocks noGrp="1"/>
          </p:cNvSpPr>
          <p:nvPr/>
        </p:nvSpPr>
        <p:spPr>
          <a:xfrm>
            <a:off x="3524250" y="1383030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local_cov-C self-ranking Top-1, one pose in three views</a:t>
            </a:r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C6F8F2AC-9E36-4CF3-9152-B062E8B46ABA}"/>
              </a:ext>
            </a:extLst>
          </p:cNvPr>
          <p:cNvSpPr>
            <a:spLocks noGrp="1"/>
          </p:cNvSpPr>
          <p:nvPr/>
        </p:nvSpPr>
        <p:spPr>
          <a:xfrm>
            <a:off x="1238250" y="1436370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FD6AABE-0D2F-4763-854D-881DC3EAA67A}"/>
              </a:ext>
            </a:extLst>
          </p:cNvPr>
          <p:cNvSpPr>
            <a:spLocks noGrp="1"/>
          </p:cNvSpPr>
          <p:nvPr/>
        </p:nvSpPr>
        <p:spPr>
          <a:xfrm>
            <a:off x="12382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81A63D4-B54E-42B6-90E0-D4340A91FF62}"/>
              </a:ext>
            </a:extLst>
          </p:cNvPr>
          <p:cNvSpPr>
            <a:spLocks noGrp="1"/>
          </p:cNvSpPr>
          <p:nvPr/>
        </p:nvSpPr>
        <p:spPr>
          <a:xfrm>
            <a:off x="16573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Receptor surface</a:t>
            </a:r>
          </a:p>
        </p:txBody>
      </p:sp>
      <p:pic>
        <p:nvPicPr>
          <p:cNvPr id="151" name="图片 150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949450" y="14982825"/>
            <a:ext cx="3149600" cy="2362200"/>
          </a:xfrm>
          <a:prstGeom prst="rect">
            <a:avLst/>
          </a:prstGeom>
        </p:spPr>
      </p:pic>
      <p:sp>
        <p:nvSpPr>
          <p:cNvPr id="68" name="矩形 67">
            <a:extLst>
              <a:ext uri="{FF2B5EF4-FFF2-40B4-BE49-F238E27FC236}">
                <a16:creationId xmlns:a16="http://schemas.microsoft.com/office/drawing/2014/main" id="{34A907C6-343C-43B1-AEFA-9013FECC323D}"/>
              </a:ext>
            </a:extLst>
          </p:cNvPr>
          <p:cNvSpPr>
            <a:spLocks noGrp="1"/>
          </p:cNvSpPr>
          <p:nvPr/>
        </p:nvSpPr>
        <p:spPr>
          <a:xfrm>
            <a:off x="647700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5BEC7B5D-6FCF-41C3-BA20-85B13D489606}"/>
              </a:ext>
            </a:extLst>
          </p:cNvPr>
          <p:cNvSpPr>
            <a:spLocks noGrp="1"/>
          </p:cNvSpPr>
          <p:nvPr/>
        </p:nvSpPr>
        <p:spPr>
          <a:xfrm>
            <a:off x="689610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pic>
        <p:nvPicPr>
          <p:cNvPr id="154" name="图片 153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7188200" y="14982825"/>
            <a:ext cx="3149600" cy="2362200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41307365-F008-4B64-9FF7-87FD57EFAEDB}"/>
              </a:ext>
            </a:extLst>
          </p:cNvPr>
          <p:cNvSpPr>
            <a:spLocks noGrp="1"/>
          </p:cNvSpPr>
          <p:nvPr/>
        </p:nvSpPr>
        <p:spPr>
          <a:xfrm>
            <a:off x="117157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F73A2B70-8C93-41C5-9EAD-AB73091EC0A0}"/>
              </a:ext>
            </a:extLst>
          </p:cNvPr>
          <p:cNvSpPr>
            <a:spLocks noGrp="1"/>
          </p:cNvSpPr>
          <p:nvPr/>
        </p:nvSpPr>
        <p:spPr>
          <a:xfrm>
            <a:off x="121348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Deposited pose overlay</a:t>
            </a:r>
          </a:p>
        </p:txBody>
      </p:sp>
      <p:pic>
        <p:nvPicPr>
          <p:cNvPr id="157" name="图片 156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12426950" y="14982825"/>
            <a:ext cx="3149600" cy="2362200"/>
          </a:xfrm>
          <a:prstGeom prst="rect">
            <a:avLst/>
          </a:prstGeom>
        </p:spPr>
      </p:pic>
      <p:sp>
        <p:nvSpPr>
          <p:cNvPr id="74" name="矩形 73">
            <a:extLst>
              <a:ext uri="{FF2B5EF4-FFF2-40B4-BE49-F238E27FC236}">
                <a16:creationId xmlns:a16="http://schemas.microsoft.com/office/drawing/2014/main" id="{E8D24ABC-85CE-401A-8B63-B7C80B7D4ECD}"/>
              </a:ext>
            </a:extLst>
          </p:cNvPr>
          <p:cNvSpPr>
            <a:spLocks noGrp="1"/>
          </p:cNvSpPr>
          <p:nvPr/>
        </p:nvSpPr>
        <p:spPr>
          <a:xfrm>
            <a:off x="1238250" y="17506950"/>
            <a:ext cx="15049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Heavy-atom RMSD 0.96 Å     Clash 0     50 poses, 100 steps</a:t>
            </a:r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E3A9D54B-AA3B-425B-9A26-D6B0A80A8776}"/>
              </a:ext>
            </a:extLst>
          </p:cNvPr>
          <p:cNvSpPr>
            <a:spLocks noGrp="1"/>
          </p:cNvSpPr>
          <p:nvPr/>
        </p:nvSpPr>
        <p:spPr>
          <a:xfrm>
            <a:off x="1238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EA3FE9DB-F54F-4E58-B771-DF308E2B2DCC}"/>
              </a:ext>
            </a:extLst>
          </p:cNvPr>
          <p:cNvSpPr>
            <a:spLocks noGrp="1"/>
          </p:cNvSpPr>
          <p:nvPr/>
        </p:nvSpPr>
        <p:spPr>
          <a:xfrm>
            <a:off x="1647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8251054F-2909-4FB8-B9BB-2109FF484FE1}"/>
              </a:ext>
            </a:extLst>
          </p:cNvPr>
          <p:cNvSpPr>
            <a:spLocks noGrp="1"/>
          </p:cNvSpPr>
          <p:nvPr/>
        </p:nvSpPr>
        <p:spPr>
          <a:xfrm>
            <a:off x="4286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16773"/>
            </a:solidFill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95EDE57F-AC2B-488E-AF1C-6A672E1CEC9A}"/>
              </a:ext>
            </a:extLst>
          </p:cNvPr>
          <p:cNvSpPr>
            <a:spLocks noGrp="1"/>
          </p:cNvSpPr>
          <p:nvPr/>
        </p:nvSpPr>
        <p:spPr>
          <a:xfrm>
            <a:off x="4695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BAD4A44A-1574-4BEC-BFE9-F138DB5D14B0}"/>
              </a:ext>
            </a:extLst>
          </p:cNvPr>
          <p:cNvSpPr>
            <a:spLocks noGrp="1"/>
          </p:cNvSpPr>
          <p:nvPr/>
        </p:nvSpPr>
        <p:spPr>
          <a:xfrm>
            <a:off x="7334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8BF11F32-4C96-48EB-97CC-B614FDFC3809}"/>
              </a:ext>
            </a:extLst>
          </p:cNvPr>
          <p:cNvSpPr>
            <a:spLocks noGrp="1"/>
          </p:cNvSpPr>
          <p:nvPr/>
        </p:nvSpPr>
        <p:spPr>
          <a:xfrm>
            <a:off x="7743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Target blob</a:t>
            </a:r>
          </a:p>
        </p:txBody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C1990AB3-2584-4A2E-980C-A204A638CACF}"/>
              </a:ext>
            </a:extLst>
          </p:cNvPr>
          <p:cNvSpPr>
            <a:spLocks noGrp="1"/>
          </p:cNvSpPr>
          <p:nvPr/>
        </p:nvSpPr>
        <p:spPr>
          <a:xfrm>
            <a:off x="10382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94AA7C71-AF86-44CC-8643-B8B4CAE7862F}"/>
              </a:ext>
            </a:extLst>
          </p:cNvPr>
          <p:cNvSpPr>
            <a:spLocks noGrp="1"/>
          </p:cNvSpPr>
          <p:nvPr/>
        </p:nvSpPr>
        <p:spPr>
          <a:xfrm>
            <a:off x="10791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Predicted pose</a:t>
            </a:r>
          </a:p>
        </p:txBody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9D535363-BB86-491A-81A1-6E1F9D77F744}"/>
              </a:ext>
            </a:extLst>
          </p:cNvPr>
          <p:cNvSpPr>
            <a:spLocks noGrp="1"/>
          </p:cNvSpPr>
          <p:nvPr/>
        </p:nvSpPr>
        <p:spPr>
          <a:xfrm>
            <a:off x="13430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A4258AA-04A6-48A4-8A3A-5875F53B5BF3}"/>
              </a:ext>
            </a:extLst>
          </p:cNvPr>
          <p:cNvSpPr>
            <a:spLocks noGrp="1"/>
          </p:cNvSpPr>
          <p:nvPr/>
        </p:nvSpPr>
        <p:spPr>
          <a:xfrm>
            <a:off x="13839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Deposited pose</a:t>
            </a:r>
          </a:p>
        </p:txBody>
      </p:sp>
    </p:spTree>
    <p:extLst>
      <p:ext uri="{BB962C8B-B14F-4D97-AF65-F5344CB8AC3E}">
        <p14:creationId xmlns:p14="http://schemas.microsoft.com/office/powerpoint/2010/main" val="11084631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矩形 85">
            <a:extLst>
              <a:ext uri="{FF2B5EF4-FFF2-40B4-BE49-F238E27FC236}">
                <a16:creationId xmlns:a16="http://schemas.microsoft.com/office/drawing/2014/main" id="{87EF409A-2350-45B5-942C-7F7B8BC8AD91}"/>
              </a:ext>
            </a:extLst>
          </p:cNvPr>
          <p:cNvSpPr>
            <a:spLocks noGrp="1"/>
          </p:cNvSpPr>
          <p:nvPr/>
        </p:nvSpPr>
        <p:spPr>
          <a:xfrm>
            <a:off x="1238250" y="209550"/>
            <a:ext cx="1466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9WUP  FMN (B:1103)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5A02D2-3880-4DE5-9FF5-1E499715710C}"/>
              </a:ext>
            </a:extLst>
          </p:cNvPr>
          <p:cNvSpPr>
            <a:spLocks noGrp="1"/>
          </p:cNvSpPr>
          <p:nvPr/>
        </p:nvSpPr>
        <p:spPr>
          <a:xfrm>
            <a:off x="1238250" y="809625"/>
            <a:ext cx="1504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Earlier foreground outside Stage3 scope, successful reconstruction at rank 3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3C9F6B59-9104-4CD2-A9A2-008EADF8D2D6}"/>
              </a:ext>
            </a:extLst>
          </p:cNvPr>
          <p:cNvSpPr>
            <a:spLocks noGrp="1"/>
          </p:cNvSpPr>
          <p:nvPr/>
        </p:nvSpPr>
        <p:spPr>
          <a:xfrm>
            <a:off x="600075" y="1857375"/>
            <a:ext cx="953" cy="3152775"/>
          </a:xfrm>
          <a:custGeom>
            <a:avLst/>
            <a:gdLst/>
            <a:ahLst/>
            <a:cxnLst/>
            <a:rect l="0" t="0" r="0" b="0"/>
            <a:pathLst>
              <a:path w="953" h="3152775">
                <a:moveTo>
                  <a:pt x="0" y="0"/>
                </a:moveTo>
                <a:lnTo>
                  <a:pt x="0" y="31527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7B87D365-84B9-4C70-AA6C-DFDC2A00FCD0}"/>
              </a:ext>
            </a:extLst>
          </p:cNvPr>
          <p:cNvSpPr>
            <a:spLocks noGrp="1"/>
          </p:cNvSpPr>
          <p:nvPr/>
        </p:nvSpPr>
        <p:spPr>
          <a:xfrm>
            <a:off x="533400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54C9B63F-D291-4510-985C-BAB7FDDF9C28}"/>
              </a:ext>
            </a:extLst>
          </p:cNvPr>
          <p:cNvSpPr>
            <a:spLocks noGrp="1"/>
          </p:cNvSpPr>
          <p:nvPr/>
        </p:nvSpPr>
        <p:spPr>
          <a:xfrm>
            <a:off x="600075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FD243045-A8FF-4F3E-99F6-FC307A85E942}"/>
              </a:ext>
            </a:extLst>
          </p:cNvPr>
          <p:cNvSpPr>
            <a:spLocks noGrp="1"/>
          </p:cNvSpPr>
          <p:nvPr/>
        </p:nvSpPr>
        <p:spPr>
          <a:xfrm>
            <a:off x="600075" y="5695950"/>
            <a:ext cx="953" cy="4410075"/>
          </a:xfrm>
          <a:custGeom>
            <a:avLst/>
            <a:gdLst/>
            <a:ahLst/>
            <a:cxnLst/>
            <a:rect l="0" t="0" r="0" b="0"/>
            <a:pathLst>
              <a:path w="953" h="4410075">
                <a:moveTo>
                  <a:pt x="0" y="0"/>
                </a:moveTo>
                <a:lnTo>
                  <a:pt x="0" y="44100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295C1B8E-4153-44F1-AE8C-877705CD3286}"/>
              </a:ext>
            </a:extLst>
          </p:cNvPr>
          <p:cNvSpPr>
            <a:spLocks noGrp="1"/>
          </p:cNvSpPr>
          <p:nvPr/>
        </p:nvSpPr>
        <p:spPr>
          <a:xfrm>
            <a:off x="533400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0B557C2A-D6DD-4B1C-9B4E-A7D0549B46D5}"/>
              </a:ext>
            </a:extLst>
          </p:cNvPr>
          <p:cNvSpPr>
            <a:spLocks noGrp="1"/>
          </p:cNvSpPr>
          <p:nvPr/>
        </p:nvSpPr>
        <p:spPr>
          <a:xfrm>
            <a:off x="600075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93AA6EC3-52E5-402D-A60B-59F5F9AEBDD8}"/>
              </a:ext>
            </a:extLst>
          </p:cNvPr>
          <p:cNvSpPr>
            <a:spLocks noGrp="1"/>
          </p:cNvSpPr>
          <p:nvPr/>
        </p:nvSpPr>
        <p:spPr>
          <a:xfrm>
            <a:off x="600075" y="10791825"/>
            <a:ext cx="953" cy="2876550"/>
          </a:xfrm>
          <a:custGeom>
            <a:avLst/>
            <a:gdLst/>
            <a:ahLst/>
            <a:cxnLst/>
            <a:rect l="0" t="0" r="0" b="0"/>
            <a:pathLst>
              <a:path w="953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33F9D73B-45A6-4E9B-8142-225384AD303B}"/>
              </a:ext>
            </a:extLst>
          </p:cNvPr>
          <p:cNvSpPr>
            <a:spLocks noGrp="1"/>
          </p:cNvSpPr>
          <p:nvPr/>
        </p:nvSpPr>
        <p:spPr>
          <a:xfrm>
            <a:off x="533400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2272F578-3713-4074-A773-11E68A55A319}"/>
              </a:ext>
            </a:extLst>
          </p:cNvPr>
          <p:cNvSpPr>
            <a:spLocks noGrp="1"/>
          </p:cNvSpPr>
          <p:nvPr/>
        </p:nvSpPr>
        <p:spPr>
          <a:xfrm>
            <a:off x="600075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13779A7-299F-4353-8DCA-147EEF01FD68}"/>
              </a:ext>
            </a:extLst>
          </p:cNvPr>
          <p:cNvSpPr>
            <a:spLocks noGrp="1"/>
          </p:cNvSpPr>
          <p:nvPr/>
        </p:nvSpPr>
        <p:spPr>
          <a:xfrm>
            <a:off x="361950" y="131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A596A9-5BD1-4614-9C94-D755D0005D70}"/>
              </a:ext>
            </a:extLst>
          </p:cNvPr>
          <p:cNvSpPr>
            <a:spLocks noGrp="1"/>
          </p:cNvSpPr>
          <p:nvPr/>
        </p:nvSpPr>
        <p:spPr>
          <a:xfrm>
            <a:off x="1238250" y="133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E7579B-248B-4016-9D7E-A39A31B02602}"/>
              </a:ext>
            </a:extLst>
          </p:cNvPr>
          <p:cNvSpPr>
            <a:spLocks noGrp="1"/>
          </p:cNvSpPr>
          <p:nvPr/>
        </p:nvSpPr>
        <p:spPr>
          <a:xfrm>
            <a:off x="3524250" y="136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Experimental map and CA2 receptor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46308C8-0411-45BB-804E-4D5ABD2F084C}"/>
              </a:ext>
            </a:extLst>
          </p:cNvPr>
          <p:cNvSpPr>
            <a:spLocks noGrp="1"/>
          </p:cNvSpPr>
          <p:nvPr/>
        </p:nvSpPr>
        <p:spPr>
          <a:xfrm>
            <a:off x="1238250" y="189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565019E-FD07-42EF-8401-DC0A85D2F610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BE6F08F-6CE1-443A-9E4E-0E85E9C37054}"/>
              </a:ext>
            </a:extLst>
          </p:cNvPr>
          <p:cNvSpPr>
            <a:spLocks noGrp="1"/>
          </p:cNvSpPr>
          <p:nvPr/>
        </p:nvSpPr>
        <p:spPr>
          <a:xfrm>
            <a:off x="16573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experimental map</a:t>
            </a:r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05000" y="2495550"/>
            <a:ext cx="3238500" cy="242887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905E167B-2F3B-4299-8A3A-B0F403CCE205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52670E-E627-4B94-8F6A-2FA4EA27A6BC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CA2 receptor</a:t>
            </a:r>
          </a:p>
        </p:txBody>
      </p:sp>
      <p:pic>
        <p:nvPicPr>
          <p:cNvPr id="106" name="图片 10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43750" y="2495550"/>
            <a:ext cx="3238500" cy="242887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F6838B8E-582C-42FA-BD1A-DE26BDF0BAFE}"/>
              </a:ext>
            </a:extLst>
          </p:cNvPr>
          <p:cNvSpPr>
            <a:spLocks noGrp="1"/>
          </p:cNvSpPr>
          <p:nvPr/>
        </p:nvSpPr>
        <p:spPr>
          <a:xfrm>
            <a:off x="117157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5D1E532-60A3-40E8-9700-38CF3D0A822F}"/>
              </a:ext>
            </a:extLst>
          </p:cNvPr>
          <p:cNvSpPr>
            <a:spLocks noGrp="1"/>
          </p:cNvSpPr>
          <p:nvPr/>
        </p:nvSpPr>
        <p:spPr>
          <a:xfrm>
            <a:off x="121348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receptor (reference)</a:t>
            </a:r>
          </a:p>
        </p:txBody>
      </p:sp>
      <p:pic>
        <p:nvPicPr>
          <p:cNvPr id="109" name="图片 10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382500" y="2495550"/>
            <a:ext cx="3238500" cy="2428875"/>
          </a:xfrm>
          <a:prstGeom prst="rect">
            <a:avLst/>
          </a:prstGeom>
        </p:spPr>
      </p:pic>
      <p:sp>
        <p:nvSpPr>
          <p:cNvPr id="25" name="椭圆 24">
            <a:extLst>
              <a:ext uri="{FF2B5EF4-FFF2-40B4-BE49-F238E27FC236}">
                <a16:creationId xmlns:a16="http://schemas.microsoft.com/office/drawing/2014/main" id="{115A1D7E-2260-4134-A6D3-7A259DB6C592}"/>
              </a:ext>
            </a:extLst>
          </p:cNvPr>
          <p:cNvSpPr>
            <a:spLocks noGrp="1"/>
          </p:cNvSpPr>
          <p:nvPr/>
        </p:nvSpPr>
        <p:spPr>
          <a:xfrm>
            <a:off x="361950" y="512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9A3E68E-F81D-4D30-A08A-9495B5372105}"/>
              </a:ext>
            </a:extLst>
          </p:cNvPr>
          <p:cNvSpPr>
            <a:spLocks noGrp="1"/>
          </p:cNvSpPr>
          <p:nvPr/>
        </p:nvSpPr>
        <p:spPr>
          <a:xfrm>
            <a:off x="1238250" y="514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F3CE73F-5D78-4DED-91CF-B85F6F760E9F}"/>
              </a:ext>
            </a:extLst>
          </p:cNvPr>
          <p:cNvSpPr>
            <a:spLocks noGrp="1"/>
          </p:cNvSpPr>
          <p:nvPr/>
        </p:nvSpPr>
        <p:spPr>
          <a:xfrm>
            <a:off x="3524250" y="517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Ranked density regions, site 3 uses charged attempt 1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56F43A8A-D098-477A-BDB9-A65EAE182FA8}"/>
              </a:ext>
            </a:extLst>
          </p:cNvPr>
          <p:cNvSpPr>
            <a:spLocks noGrp="1"/>
          </p:cNvSpPr>
          <p:nvPr/>
        </p:nvSpPr>
        <p:spPr>
          <a:xfrm>
            <a:off x="1238250" y="570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33C1F9F-0484-459F-AD85-69EB7859CF24}"/>
              </a:ext>
            </a:extLst>
          </p:cNvPr>
          <p:cNvSpPr>
            <a:spLocks noGrp="1"/>
          </p:cNvSpPr>
          <p:nvPr/>
        </p:nvSpPr>
        <p:spPr>
          <a:xfrm>
            <a:off x="1238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D94ADB8-3D37-4441-A1EB-DAF5A0BDFAD5}"/>
              </a:ext>
            </a:extLst>
          </p:cNvPr>
          <p:cNvSpPr>
            <a:spLocks noGrp="1"/>
          </p:cNvSpPr>
          <p:nvPr/>
        </p:nvSpPr>
        <p:spPr>
          <a:xfrm>
            <a:off x="1657350" y="5915025"/>
            <a:ext cx="5486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Global candidates</a:t>
            </a:r>
          </a:p>
        </p:txBody>
      </p:sp>
      <p:pic>
        <p:nvPicPr>
          <p:cNvPr id="116" name="图片 11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222500" y="6381750"/>
            <a:ext cx="3937000" cy="2952750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4402F5BE-C995-40CE-BEED-E8D8F94B0B2A}"/>
              </a:ext>
            </a:extLst>
          </p:cNvPr>
          <p:cNvSpPr>
            <a:spLocks noGrp="1"/>
          </p:cNvSpPr>
          <p:nvPr/>
        </p:nvSpPr>
        <p:spPr>
          <a:xfrm>
            <a:off x="1238250" y="9467850"/>
            <a:ext cx="59055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All 7 predicted blobs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A6B6B1F-22BF-43D3-B0EF-210F79DB4604}"/>
              </a:ext>
            </a:extLst>
          </p:cNvPr>
          <p:cNvSpPr>
            <a:spLocks noGrp="1"/>
          </p:cNvSpPr>
          <p:nvPr/>
        </p:nvSpPr>
        <p:spPr>
          <a:xfrm>
            <a:off x="800100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4B464D3-F92A-4BDA-AF6E-DD673398697B}"/>
              </a:ext>
            </a:extLst>
          </p:cNvPr>
          <p:cNvSpPr>
            <a:spLocks noGrp="1"/>
          </p:cNvSpPr>
          <p:nvPr/>
        </p:nvSpPr>
        <p:spPr>
          <a:xfrm>
            <a:off x="842010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neighborhood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C391403-0705-4E8A-BEE9-B6B6DD249FA1}"/>
              </a:ext>
            </a:extLst>
          </p:cNvPr>
          <p:cNvSpPr>
            <a:spLocks noGrp="1"/>
          </p:cNvSpPr>
          <p:nvPr/>
        </p:nvSpPr>
        <p:spPr>
          <a:xfrm>
            <a:off x="12287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D0A4871-35CF-441E-9A94-7A359B01D985}"/>
              </a:ext>
            </a:extLst>
          </p:cNvPr>
          <p:cNvSpPr>
            <a:spLocks noGrp="1"/>
          </p:cNvSpPr>
          <p:nvPr/>
        </p:nvSpPr>
        <p:spPr>
          <a:xfrm>
            <a:off x="1270635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 prediction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09900D5-FE73-4B86-96E1-6394B7346F9F}"/>
              </a:ext>
            </a:extLst>
          </p:cNvPr>
          <p:cNvSpPr>
            <a:spLocks noGrp="1"/>
          </p:cNvSpPr>
          <p:nvPr/>
        </p:nvSpPr>
        <p:spPr>
          <a:xfrm>
            <a:off x="8001000" y="6353175"/>
            <a:ext cx="8239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Rank 3: target ligand</a:t>
            </a:r>
          </a:p>
        </p:txBody>
      </p:sp>
      <p:pic>
        <p:nvPicPr>
          <p:cNvPr id="123" name="图片 122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261350" y="6772275"/>
            <a:ext cx="3479800" cy="2609850"/>
          </a:xfrm>
          <a:prstGeom prst="rect">
            <a:avLst/>
          </a:prstGeom>
        </p:spPr>
      </p:pic>
      <p:pic>
        <p:nvPicPr>
          <p:cNvPr id="124" name="图片 123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2547600" y="6772275"/>
            <a:ext cx="3479800" cy="2609850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5B565036-C927-4FD2-A9EF-17664D70498F}"/>
              </a:ext>
            </a:extLst>
          </p:cNvPr>
          <p:cNvSpPr>
            <a:spLocks noGrp="1"/>
          </p:cNvSpPr>
          <p:nvPr/>
        </p:nvSpPr>
        <p:spPr>
          <a:xfrm>
            <a:off x="8001000" y="9477375"/>
            <a:ext cx="8286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Ranks 1–2: free scope skips</a:t>
            </a: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56D793CA-9EE8-4BF9-AD02-E07A8B4729EC}"/>
              </a:ext>
            </a:extLst>
          </p:cNvPr>
          <p:cNvSpPr>
            <a:spLocks noGrp="1"/>
          </p:cNvSpPr>
          <p:nvPr/>
        </p:nvSpPr>
        <p:spPr>
          <a:xfrm>
            <a:off x="361950" y="1022032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53580DC-F4BE-4769-84F9-5109243435B0}"/>
              </a:ext>
            </a:extLst>
          </p:cNvPr>
          <p:cNvSpPr>
            <a:spLocks noGrp="1"/>
          </p:cNvSpPr>
          <p:nvPr/>
        </p:nvSpPr>
        <p:spPr>
          <a:xfrm>
            <a:off x="1238250" y="1023937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8AEF1EA-336F-411C-BDDC-64F4AFECA17D}"/>
              </a:ext>
            </a:extLst>
          </p:cNvPr>
          <p:cNvSpPr>
            <a:spLocks noGrp="1"/>
          </p:cNvSpPr>
          <p:nvPr/>
        </p:nvSpPr>
        <p:spPr>
          <a:xfrm>
            <a:off x="3524250" y="1026795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RDKit structures of every supplied SMILES identity</a:t>
            </a: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0894DEC6-4663-4949-96E6-536ACAB25D9F}"/>
              </a:ext>
            </a:extLst>
          </p:cNvPr>
          <p:cNvSpPr>
            <a:spLocks noGrp="1"/>
          </p:cNvSpPr>
          <p:nvPr/>
        </p:nvSpPr>
        <p:spPr>
          <a:xfrm>
            <a:off x="1238250" y="1080135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1B6AB9C-5A02-4C95-862D-43C201C3D661}"/>
              </a:ext>
            </a:extLst>
          </p:cNvPr>
          <p:cNvSpPr>
            <a:spLocks noGrp="1"/>
          </p:cNvSpPr>
          <p:nvPr/>
        </p:nvSpPr>
        <p:spPr>
          <a:xfrm>
            <a:off x="942975" y="10915650"/>
            <a:ext cx="28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6" name="Identity 1, eligible">
            <a:extLst>
              <a:ext uri="{FF2B5EF4-FFF2-40B4-BE49-F238E27FC236}">
                <a16:creationId xmlns:a16="http://schemas.microsoft.com/office/drawing/2014/main" id="{024AE4AE-E771-4505-B937-B1CBDEFDB202}"/>
              </a:ext>
            </a:extLst>
          </p:cNvPr>
          <p:cNvSpPr>
            <a:spLocks noGrp="1"/>
          </p:cNvSpPr>
          <p:nvPr/>
        </p:nvSpPr>
        <p:spPr>
          <a:xfrm>
            <a:off x="1238250" y="10887075"/>
            <a:ext cx="35623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9F997D9-84B9-4B0F-8170-8F3833D9FF13}"/>
              </a:ext>
            </a:extLst>
          </p:cNvPr>
          <p:cNvSpPr>
            <a:spLocks noGrp="1"/>
          </p:cNvSpPr>
          <p:nvPr/>
        </p:nvSpPr>
        <p:spPr>
          <a:xfrm>
            <a:off x="1409700" y="109918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1  HEM</a:t>
            </a:r>
          </a:p>
        </p:txBody>
      </p:sp>
      <p:pic>
        <p:nvPicPr>
          <p:cNvPr id="133" name="图形 1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991519" y="11382375"/>
            <a:ext cx="2055813" cy="1666875"/>
          </a:xfrm>
          <a:prstGeom prst="rect">
            <a:avLst/>
          </a:prstGeom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id="{F8A2656C-7045-4A25-A529-5CC6443A71FF}"/>
              </a:ext>
            </a:extLst>
          </p:cNvPr>
          <p:cNvSpPr>
            <a:spLocks noGrp="1"/>
          </p:cNvSpPr>
          <p:nvPr/>
        </p:nvSpPr>
        <p:spPr>
          <a:xfrm>
            <a:off x="1409700" y="13144500"/>
            <a:ext cx="32194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Eligible small molecule</a:t>
            </a:r>
          </a:p>
        </p:txBody>
      </p:sp>
      <p:sp>
        <p:nvSpPr>
          <p:cNvPr id="50" name="Identity 2, eligible">
            <a:extLst>
              <a:ext uri="{FF2B5EF4-FFF2-40B4-BE49-F238E27FC236}">
                <a16:creationId xmlns:a16="http://schemas.microsoft.com/office/drawing/2014/main" id="{22E5CCCB-4C81-4D6C-AC71-C227730E9170}"/>
              </a:ext>
            </a:extLst>
          </p:cNvPr>
          <p:cNvSpPr>
            <a:spLocks noGrp="1"/>
          </p:cNvSpPr>
          <p:nvPr/>
        </p:nvSpPr>
        <p:spPr>
          <a:xfrm>
            <a:off x="5067300" y="10887075"/>
            <a:ext cx="35623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5938253-4897-4013-BB36-7A9D1CB700A2}"/>
              </a:ext>
            </a:extLst>
          </p:cNvPr>
          <p:cNvSpPr>
            <a:spLocks noGrp="1"/>
          </p:cNvSpPr>
          <p:nvPr/>
        </p:nvSpPr>
        <p:spPr>
          <a:xfrm>
            <a:off x="5238750" y="109918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2  Identity2</a:t>
            </a:r>
          </a:p>
        </p:txBody>
      </p:sp>
      <p:pic>
        <p:nvPicPr>
          <p:cNvPr id="137" name="图形 1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6371165" y="11382375"/>
            <a:ext cx="954620" cy="1666875"/>
          </a:xfrm>
          <a:prstGeom prst="rect">
            <a:avLst/>
          </a:prstGeom>
        </p:spPr>
      </p:pic>
      <p:sp>
        <p:nvSpPr>
          <p:cNvPr id="53" name="矩形 52">
            <a:extLst>
              <a:ext uri="{FF2B5EF4-FFF2-40B4-BE49-F238E27FC236}">
                <a16:creationId xmlns:a16="http://schemas.microsoft.com/office/drawing/2014/main" id="{66A59CAA-EADE-4B52-8A46-07DEAD4792DD}"/>
              </a:ext>
            </a:extLst>
          </p:cNvPr>
          <p:cNvSpPr>
            <a:spLocks noGrp="1"/>
          </p:cNvSpPr>
          <p:nvPr/>
        </p:nvSpPr>
        <p:spPr>
          <a:xfrm>
            <a:off x="5238750" y="13144500"/>
            <a:ext cx="32194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Eligible small molecule</a:t>
            </a:r>
          </a:p>
        </p:txBody>
      </p:sp>
      <p:sp>
        <p:nvSpPr>
          <p:cNvPr id="54" name="Identity 3, matched">
            <a:extLst>
              <a:ext uri="{FF2B5EF4-FFF2-40B4-BE49-F238E27FC236}">
                <a16:creationId xmlns:a16="http://schemas.microsoft.com/office/drawing/2014/main" id="{2A93AE6C-6BB0-418A-9F02-63C3C7B3D7BE}"/>
              </a:ext>
            </a:extLst>
          </p:cNvPr>
          <p:cNvSpPr>
            <a:spLocks noGrp="1"/>
          </p:cNvSpPr>
          <p:nvPr/>
        </p:nvSpPr>
        <p:spPr>
          <a:xfrm>
            <a:off x="8896350" y="10887075"/>
            <a:ext cx="3562350" cy="2667000"/>
          </a:xfrm>
          <a:prstGeom prst="rect">
            <a:avLst/>
          </a:prstGeom>
          <a:solidFill>
            <a:srgbClr val="FFFFFF"/>
          </a:solidFill>
          <a:ln w="28575">
            <a:solidFill>
              <a:srgbClr val="3169B3"/>
            </a:solidFill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653069B-BA3B-495A-9C39-1C6D72BB8F65}"/>
              </a:ext>
            </a:extLst>
          </p:cNvPr>
          <p:cNvSpPr>
            <a:spLocks noGrp="1"/>
          </p:cNvSpPr>
          <p:nvPr/>
        </p:nvSpPr>
        <p:spPr>
          <a:xfrm>
            <a:off x="9067800" y="109918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3  FMN</a:t>
            </a:r>
          </a:p>
        </p:txBody>
      </p:sp>
      <p:pic>
        <p:nvPicPr>
          <p:cNvPr id="141" name="图形 1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10004840" y="11382375"/>
            <a:ext cx="1345371" cy="1666875"/>
          </a:xfrm>
          <a:prstGeom prst="rect">
            <a:avLst/>
          </a:prstGeom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0CE5E692-F6AA-4B34-81E8-7F3468698347}"/>
              </a:ext>
            </a:extLst>
          </p:cNvPr>
          <p:cNvSpPr>
            <a:spLocks noGrp="1"/>
          </p:cNvSpPr>
          <p:nvPr/>
        </p:nvSpPr>
        <p:spPr>
          <a:xfrm>
            <a:off x="9067800" y="13144500"/>
            <a:ext cx="32194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Matched identity</a:t>
            </a:r>
          </a:p>
        </p:txBody>
      </p:sp>
      <p:sp>
        <p:nvSpPr>
          <p:cNvPr id="58" name="Identity 4, eligible">
            <a:extLst>
              <a:ext uri="{FF2B5EF4-FFF2-40B4-BE49-F238E27FC236}">
                <a16:creationId xmlns:a16="http://schemas.microsoft.com/office/drawing/2014/main" id="{6CCB5DEA-993A-4374-9590-9F3A1654DF57}"/>
              </a:ext>
            </a:extLst>
          </p:cNvPr>
          <p:cNvSpPr>
            <a:spLocks noGrp="1"/>
          </p:cNvSpPr>
          <p:nvPr/>
        </p:nvSpPr>
        <p:spPr>
          <a:xfrm>
            <a:off x="12725400" y="10887075"/>
            <a:ext cx="35623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D3297B6-4086-4071-BFBB-15BF65A8C64F}"/>
              </a:ext>
            </a:extLst>
          </p:cNvPr>
          <p:cNvSpPr>
            <a:spLocks noGrp="1"/>
          </p:cNvSpPr>
          <p:nvPr/>
        </p:nvSpPr>
        <p:spPr>
          <a:xfrm>
            <a:off x="12896850" y="109918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4  Identity4</a:t>
            </a:r>
          </a:p>
        </p:txBody>
      </p:sp>
      <p:pic>
        <p:nvPicPr>
          <p:cNvPr id="145" name="图形 1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12868275" y="11647789"/>
            <a:ext cx="3276600" cy="1136047"/>
          </a:xfrm>
          <a:prstGeom prst="rect">
            <a:avLst/>
          </a:prstGeom>
        </p:spPr>
      </p:pic>
      <p:sp>
        <p:nvSpPr>
          <p:cNvPr id="61" name="矩形 60">
            <a:extLst>
              <a:ext uri="{FF2B5EF4-FFF2-40B4-BE49-F238E27FC236}">
                <a16:creationId xmlns:a16="http://schemas.microsoft.com/office/drawing/2014/main" id="{321EB00F-B677-4B51-90F9-A953723B31BC}"/>
              </a:ext>
            </a:extLst>
          </p:cNvPr>
          <p:cNvSpPr>
            <a:spLocks noGrp="1"/>
          </p:cNvSpPr>
          <p:nvPr/>
        </p:nvSpPr>
        <p:spPr>
          <a:xfrm>
            <a:off x="12896850" y="13144500"/>
            <a:ext cx="32194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Eligible small molecule</a:t>
            </a: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44D0AF66-5227-45D5-A06F-D916B08BF2C6}"/>
              </a:ext>
            </a:extLst>
          </p:cNvPr>
          <p:cNvSpPr>
            <a:spLocks noGrp="1"/>
          </p:cNvSpPr>
          <p:nvPr/>
        </p:nvSpPr>
        <p:spPr>
          <a:xfrm>
            <a:off x="361950" y="1378267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C619A5EF-AC3E-470B-B6A8-FD65C03B0373}"/>
              </a:ext>
            </a:extLst>
          </p:cNvPr>
          <p:cNvSpPr>
            <a:spLocks noGrp="1"/>
          </p:cNvSpPr>
          <p:nvPr/>
        </p:nvSpPr>
        <p:spPr>
          <a:xfrm>
            <a:off x="1238250" y="1380172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0327198-261A-41C3-AB62-896E1E8FD9D6}"/>
              </a:ext>
            </a:extLst>
          </p:cNvPr>
          <p:cNvSpPr>
            <a:spLocks noGrp="1"/>
          </p:cNvSpPr>
          <p:nvPr/>
        </p:nvSpPr>
        <p:spPr>
          <a:xfrm>
            <a:off x="3524250" y="1383030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local_cov-C self-ranking Top-1, one pose in three views</a:t>
            </a:r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8A48E454-4B0B-4016-8D79-F8C613ACB891}"/>
              </a:ext>
            </a:extLst>
          </p:cNvPr>
          <p:cNvSpPr>
            <a:spLocks noGrp="1"/>
          </p:cNvSpPr>
          <p:nvPr/>
        </p:nvSpPr>
        <p:spPr>
          <a:xfrm>
            <a:off x="1238250" y="1436370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2458DB99-E962-4631-82E3-48CD73900AB4}"/>
              </a:ext>
            </a:extLst>
          </p:cNvPr>
          <p:cNvSpPr>
            <a:spLocks noGrp="1"/>
          </p:cNvSpPr>
          <p:nvPr/>
        </p:nvSpPr>
        <p:spPr>
          <a:xfrm>
            <a:off x="12382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51E9155B-8311-4F59-9282-A60887BB23DC}"/>
              </a:ext>
            </a:extLst>
          </p:cNvPr>
          <p:cNvSpPr>
            <a:spLocks noGrp="1"/>
          </p:cNvSpPr>
          <p:nvPr/>
        </p:nvSpPr>
        <p:spPr>
          <a:xfrm>
            <a:off x="16573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Receptor surface</a:t>
            </a:r>
          </a:p>
        </p:txBody>
      </p:sp>
      <p:pic>
        <p:nvPicPr>
          <p:cNvPr id="153" name="图片 152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949450" y="14982825"/>
            <a:ext cx="3149600" cy="2362200"/>
          </a:xfrm>
          <a:prstGeom prst="rect">
            <a:avLst/>
          </a:prstGeom>
        </p:spPr>
      </p:pic>
      <p:sp>
        <p:nvSpPr>
          <p:cNvPr id="69" name="矩形 68">
            <a:extLst>
              <a:ext uri="{FF2B5EF4-FFF2-40B4-BE49-F238E27FC236}">
                <a16:creationId xmlns:a16="http://schemas.microsoft.com/office/drawing/2014/main" id="{D58EBAD8-2C30-4486-9DD5-0EDFF94D28D5}"/>
              </a:ext>
            </a:extLst>
          </p:cNvPr>
          <p:cNvSpPr>
            <a:spLocks noGrp="1"/>
          </p:cNvSpPr>
          <p:nvPr/>
        </p:nvSpPr>
        <p:spPr>
          <a:xfrm>
            <a:off x="647700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77B5F00-5C00-477C-84B1-D66D7365F182}"/>
              </a:ext>
            </a:extLst>
          </p:cNvPr>
          <p:cNvSpPr>
            <a:spLocks noGrp="1"/>
          </p:cNvSpPr>
          <p:nvPr/>
        </p:nvSpPr>
        <p:spPr>
          <a:xfrm>
            <a:off x="689610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pic>
        <p:nvPicPr>
          <p:cNvPr id="156" name="图片 155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7188200" y="14982825"/>
            <a:ext cx="3149600" cy="2362200"/>
          </a:xfrm>
          <a:prstGeom prst="rect">
            <a:avLst/>
          </a:prstGeom>
        </p:spPr>
      </p:pic>
      <p:sp>
        <p:nvSpPr>
          <p:cNvPr id="72" name="矩形 71">
            <a:extLst>
              <a:ext uri="{FF2B5EF4-FFF2-40B4-BE49-F238E27FC236}">
                <a16:creationId xmlns:a16="http://schemas.microsoft.com/office/drawing/2014/main" id="{7FEF070C-32B2-4B70-8E27-6B10BBC7A052}"/>
              </a:ext>
            </a:extLst>
          </p:cNvPr>
          <p:cNvSpPr>
            <a:spLocks noGrp="1"/>
          </p:cNvSpPr>
          <p:nvPr/>
        </p:nvSpPr>
        <p:spPr>
          <a:xfrm>
            <a:off x="117157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2ABA9331-F19A-4646-A5B1-A8F4411198A6}"/>
              </a:ext>
            </a:extLst>
          </p:cNvPr>
          <p:cNvSpPr>
            <a:spLocks noGrp="1"/>
          </p:cNvSpPr>
          <p:nvPr/>
        </p:nvSpPr>
        <p:spPr>
          <a:xfrm>
            <a:off x="121348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Deposited pose overlay</a:t>
            </a:r>
          </a:p>
        </p:txBody>
      </p:sp>
      <p:pic>
        <p:nvPicPr>
          <p:cNvPr id="159" name="图片 158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12426950" y="14982825"/>
            <a:ext cx="3149600" cy="2362200"/>
          </a:xfrm>
          <a:prstGeom prst="rect">
            <a:avLst/>
          </a:prstGeom>
        </p:spPr>
      </p:pic>
      <p:sp>
        <p:nvSpPr>
          <p:cNvPr id="75" name="矩形 74">
            <a:extLst>
              <a:ext uri="{FF2B5EF4-FFF2-40B4-BE49-F238E27FC236}">
                <a16:creationId xmlns:a16="http://schemas.microsoft.com/office/drawing/2014/main" id="{ABAE1329-524F-44E2-B013-A21CDA2F552A}"/>
              </a:ext>
            </a:extLst>
          </p:cNvPr>
          <p:cNvSpPr>
            <a:spLocks noGrp="1"/>
          </p:cNvSpPr>
          <p:nvPr/>
        </p:nvSpPr>
        <p:spPr>
          <a:xfrm>
            <a:off x="1238250" y="17506950"/>
            <a:ext cx="15049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Heavy-atom RMSD 0.52 Å     Clash 0     50 poses, 100 steps</a:t>
            </a:r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FD85DD50-3D5F-421A-8EAB-73CEDB28446F}"/>
              </a:ext>
            </a:extLst>
          </p:cNvPr>
          <p:cNvSpPr>
            <a:spLocks noGrp="1"/>
          </p:cNvSpPr>
          <p:nvPr/>
        </p:nvSpPr>
        <p:spPr>
          <a:xfrm>
            <a:off x="1238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AFD7C680-30E3-4736-B86D-A6E624CCF4C7}"/>
              </a:ext>
            </a:extLst>
          </p:cNvPr>
          <p:cNvSpPr>
            <a:spLocks noGrp="1"/>
          </p:cNvSpPr>
          <p:nvPr/>
        </p:nvSpPr>
        <p:spPr>
          <a:xfrm>
            <a:off x="1647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415CA81D-4F35-4C2C-9FF5-969293DD71AB}"/>
              </a:ext>
            </a:extLst>
          </p:cNvPr>
          <p:cNvSpPr>
            <a:spLocks noGrp="1"/>
          </p:cNvSpPr>
          <p:nvPr/>
        </p:nvSpPr>
        <p:spPr>
          <a:xfrm>
            <a:off x="4286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16773"/>
            </a:solidFill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7CC5CA3-AC8C-4F72-909B-E2F2B5FB6F43}"/>
              </a:ext>
            </a:extLst>
          </p:cNvPr>
          <p:cNvSpPr>
            <a:spLocks noGrp="1"/>
          </p:cNvSpPr>
          <p:nvPr/>
        </p:nvSpPr>
        <p:spPr>
          <a:xfrm>
            <a:off x="4695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98C35454-6C6B-4AA8-BADE-7AEECF156307}"/>
              </a:ext>
            </a:extLst>
          </p:cNvPr>
          <p:cNvSpPr>
            <a:spLocks noGrp="1"/>
          </p:cNvSpPr>
          <p:nvPr/>
        </p:nvSpPr>
        <p:spPr>
          <a:xfrm>
            <a:off x="7334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3AC5E61-B370-4E85-822B-220F930CDA06}"/>
              </a:ext>
            </a:extLst>
          </p:cNvPr>
          <p:cNvSpPr>
            <a:spLocks noGrp="1"/>
          </p:cNvSpPr>
          <p:nvPr/>
        </p:nvSpPr>
        <p:spPr>
          <a:xfrm>
            <a:off x="7743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Target blob</a:t>
            </a:r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E6E80473-42CA-4AEA-AB29-4C5D9AEA8BC2}"/>
              </a:ext>
            </a:extLst>
          </p:cNvPr>
          <p:cNvSpPr>
            <a:spLocks noGrp="1"/>
          </p:cNvSpPr>
          <p:nvPr/>
        </p:nvSpPr>
        <p:spPr>
          <a:xfrm>
            <a:off x="10382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DD59723-243F-44D9-910D-632A409C28D9}"/>
              </a:ext>
            </a:extLst>
          </p:cNvPr>
          <p:cNvSpPr>
            <a:spLocks noGrp="1"/>
          </p:cNvSpPr>
          <p:nvPr/>
        </p:nvSpPr>
        <p:spPr>
          <a:xfrm>
            <a:off x="10791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Predicted pose</a:t>
            </a:r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2C47CAD4-C683-4700-8E62-C936CC4AF563}"/>
              </a:ext>
            </a:extLst>
          </p:cNvPr>
          <p:cNvSpPr>
            <a:spLocks noGrp="1"/>
          </p:cNvSpPr>
          <p:nvPr/>
        </p:nvSpPr>
        <p:spPr>
          <a:xfrm>
            <a:off x="13430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2C17DD44-3CBF-43D3-A7E4-23C66E3244C0}"/>
              </a:ext>
            </a:extLst>
          </p:cNvPr>
          <p:cNvSpPr>
            <a:spLocks noGrp="1"/>
          </p:cNvSpPr>
          <p:nvPr/>
        </p:nvSpPr>
        <p:spPr>
          <a:xfrm>
            <a:off x="13839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Deposited pose</a:t>
            </a:r>
          </a:p>
        </p:txBody>
      </p:sp>
    </p:spTree>
    <p:extLst>
      <p:ext uri="{BB962C8B-B14F-4D97-AF65-F5344CB8AC3E}">
        <p14:creationId xmlns:p14="http://schemas.microsoft.com/office/powerpoint/2010/main" val="1766277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81">
            <a:extLst>
              <a:ext uri="{FF2B5EF4-FFF2-40B4-BE49-F238E27FC236}">
                <a16:creationId xmlns:a16="http://schemas.microsoft.com/office/drawing/2014/main" id="{9186224D-A09C-4608-A856-C23CCA66F918}"/>
              </a:ext>
            </a:extLst>
          </p:cNvPr>
          <p:cNvSpPr>
            <a:spLocks noGrp="1"/>
          </p:cNvSpPr>
          <p:nvPr/>
        </p:nvSpPr>
        <p:spPr>
          <a:xfrm>
            <a:off x="1238250" y="209550"/>
            <a:ext cx="1466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9XZL  AGS (F:1001)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71631B-01AA-4671-8BA1-5F6EDB5D2793}"/>
              </a:ext>
            </a:extLst>
          </p:cNvPr>
          <p:cNvSpPr>
            <a:spLocks noGrp="1"/>
          </p:cNvSpPr>
          <p:nvPr/>
        </p:nvSpPr>
        <p:spPr>
          <a:xfrm>
            <a:off x="1238250" y="809625"/>
            <a:ext cx="1504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Earlier foreground outside Stage3 scope, successful reconstruction at rank 2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415C89CE-5798-4778-813F-13FDED900FD2}"/>
              </a:ext>
            </a:extLst>
          </p:cNvPr>
          <p:cNvSpPr>
            <a:spLocks noGrp="1"/>
          </p:cNvSpPr>
          <p:nvPr/>
        </p:nvSpPr>
        <p:spPr>
          <a:xfrm>
            <a:off x="600075" y="1857375"/>
            <a:ext cx="953" cy="3152775"/>
          </a:xfrm>
          <a:custGeom>
            <a:avLst/>
            <a:gdLst/>
            <a:ahLst/>
            <a:cxnLst/>
            <a:rect l="0" t="0" r="0" b="0"/>
            <a:pathLst>
              <a:path w="953" h="3152775">
                <a:moveTo>
                  <a:pt x="0" y="0"/>
                </a:moveTo>
                <a:lnTo>
                  <a:pt x="0" y="31527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921C43A-8565-49BD-B7B4-DE42046170FE}"/>
              </a:ext>
            </a:extLst>
          </p:cNvPr>
          <p:cNvSpPr>
            <a:spLocks noGrp="1"/>
          </p:cNvSpPr>
          <p:nvPr/>
        </p:nvSpPr>
        <p:spPr>
          <a:xfrm>
            <a:off x="533400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F1972772-3605-4A96-A78D-1A28F6B64B8A}"/>
              </a:ext>
            </a:extLst>
          </p:cNvPr>
          <p:cNvSpPr>
            <a:spLocks noGrp="1"/>
          </p:cNvSpPr>
          <p:nvPr/>
        </p:nvSpPr>
        <p:spPr>
          <a:xfrm>
            <a:off x="600075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32FF5D46-A004-4794-A9EF-C7AE2BA4E56A}"/>
              </a:ext>
            </a:extLst>
          </p:cNvPr>
          <p:cNvSpPr>
            <a:spLocks noGrp="1"/>
          </p:cNvSpPr>
          <p:nvPr/>
        </p:nvSpPr>
        <p:spPr>
          <a:xfrm>
            <a:off x="600075" y="5695950"/>
            <a:ext cx="953" cy="4410075"/>
          </a:xfrm>
          <a:custGeom>
            <a:avLst/>
            <a:gdLst/>
            <a:ahLst/>
            <a:cxnLst/>
            <a:rect l="0" t="0" r="0" b="0"/>
            <a:pathLst>
              <a:path w="953" h="4410075">
                <a:moveTo>
                  <a:pt x="0" y="0"/>
                </a:moveTo>
                <a:lnTo>
                  <a:pt x="0" y="44100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E82C965A-DDD0-4013-9D2B-01036346422D}"/>
              </a:ext>
            </a:extLst>
          </p:cNvPr>
          <p:cNvSpPr>
            <a:spLocks noGrp="1"/>
          </p:cNvSpPr>
          <p:nvPr/>
        </p:nvSpPr>
        <p:spPr>
          <a:xfrm>
            <a:off x="533400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7CE2139D-F80B-4B8B-BF04-D773C2C26260}"/>
              </a:ext>
            </a:extLst>
          </p:cNvPr>
          <p:cNvSpPr>
            <a:spLocks noGrp="1"/>
          </p:cNvSpPr>
          <p:nvPr/>
        </p:nvSpPr>
        <p:spPr>
          <a:xfrm>
            <a:off x="600075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13B47900-9EAB-44A8-BAB0-170C3A54BF64}"/>
              </a:ext>
            </a:extLst>
          </p:cNvPr>
          <p:cNvSpPr>
            <a:spLocks noGrp="1"/>
          </p:cNvSpPr>
          <p:nvPr/>
        </p:nvSpPr>
        <p:spPr>
          <a:xfrm>
            <a:off x="600075" y="10791825"/>
            <a:ext cx="953" cy="2876550"/>
          </a:xfrm>
          <a:custGeom>
            <a:avLst/>
            <a:gdLst/>
            <a:ahLst/>
            <a:cxnLst/>
            <a:rect l="0" t="0" r="0" b="0"/>
            <a:pathLst>
              <a:path w="953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54706AC8-99DF-4F9E-8086-230FF459A9C2}"/>
              </a:ext>
            </a:extLst>
          </p:cNvPr>
          <p:cNvSpPr>
            <a:spLocks noGrp="1"/>
          </p:cNvSpPr>
          <p:nvPr/>
        </p:nvSpPr>
        <p:spPr>
          <a:xfrm>
            <a:off x="533400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CE2D169E-683C-44A9-98C6-3964D6C43A76}"/>
              </a:ext>
            </a:extLst>
          </p:cNvPr>
          <p:cNvSpPr>
            <a:spLocks noGrp="1"/>
          </p:cNvSpPr>
          <p:nvPr/>
        </p:nvSpPr>
        <p:spPr>
          <a:xfrm>
            <a:off x="600075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F046DB0-281F-4A11-942F-5A48B97C7E22}"/>
              </a:ext>
            </a:extLst>
          </p:cNvPr>
          <p:cNvSpPr>
            <a:spLocks noGrp="1"/>
          </p:cNvSpPr>
          <p:nvPr/>
        </p:nvSpPr>
        <p:spPr>
          <a:xfrm>
            <a:off x="361950" y="131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8C5DDC-79FB-4117-AAB1-A6C91C6A9CDF}"/>
              </a:ext>
            </a:extLst>
          </p:cNvPr>
          <p:cNvSpPr>
            <a:spLocks noGrp="1"/>
          </p:cNvSpPr>
          <p:nvPr/>
        </p:nvSpPr>
        <p:spPr>
          <a:xfrm>
            <a:off x="1238250" y="133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60C6E88-2235-429A-8704-CC3F9C5FD410}"/>
              </a:ext>
            </a:extLst>
          </p:cNvPr>
          <p:cNvSpPr>
            <a:spLocks noGrp="1"/>
          </p:cNvSpPr>
          <p:nvPr/>
        </p:nvSpPr>
        <p:spPr>
          <a:xfrm>
            <a:off x="3524250" y="136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Experimental map and CA2 receptor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2FF3B449-72FB-4B56-AF1C-F3C27D2EA691}"/>
              </a:ext>
            </a:extLst>
          </p:cNvPr>
          <p:cNvSpPr>
            <a:spLocks noGrp="1"/>
          </p:cNvSpPr>
          <p:nvPr/>
        </p:nvSpPr>
        <p:spPr>
          <a:xfrm>
            <a:off x="1238250" y="189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AE1390-86A6-4C01-93AB-0E4FC4C25D09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DE6413-FC35-4121-ABB3-66E773714043}"/>
              </a:ext>
            </a:extLst>
          </p:cNvPr>
          <p:cNvSpPr>
            <a:spLocks noGrp="1"/>
          </p:cNvSpPr>
          <p:nvPr/>
        </p:nvSpPr>
        <p:spPr>
          <a:xfrm>
            <a:off x="16573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experimental map</a:t>
            </a:r>
          </a:p>
        </p:txBody>
      </p:sp>
      <p:pic>
        <p:nvPicPr>
          <p:cNvPr id="99" name="图片 9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05000" y="2495550"/>
            <a:ext cx="3238500" cy="242887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970A229-9016-4907-AA77-28814D089F2D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8C17C1B-D949-449C-9421-8299C1A4969D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CA2 receptor</a:t>
            </a: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43750" y="2495550"/>
            <a:ext cx="3238500" cy="242887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75503393-6730-4B7D-B997-88F5BC1FCD34}"/>
              </a:ext>
            </a:extLst>
          </p:cNvPr>
          <p:cNvSpPr>
            <a:spLocks noGrp="1"/>
          </p:cNvSpPr>
          <p:nvPr/>
        </p:nvSpPr>
        <p:spPr>
          <a:xfrm>
            <a:off x="117157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862387F-F39F-4E36-8FA9-63DB99A28AC0}"/>
              </a:ext>
            </a:extLst>
          </p:cNvPr>
          <p:cNvSpPr>
            <a:spLocks noGrp="1"/>
          </p:cNvSpPr>
          <p:nvPr/>
        </p:nvSpPr>
        <p:spPr>
          <a:xfrm>
            <a:off x="121348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receptor (reference)</a:t>
            </a: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382500" y="2495550"/>
            <a:ext cx="3238500" cy="2428875"/>
          </a:xfrm>
          <a:prstGeom prst="rect">
            <a:avLst/>
          </a:prstGeom>
        </p:spPr>
      </p:pic>
      <p:sp>
        <p:nvSpPr>
          <p:cNvPr id="25" name="椭圆 24">
            <a:extLst>
              <a:ext uri="{FF2B5EF4-FFF2-40B4-BE49-F238E27FC236}">
                <a16:creationId xmlns:a16="http://schemas.microsoft.com/office/drawing/2014/main" id="{D9FC42BF-DA56-4F3D-9603-56562D031849}"/>
              </a:ext>
            </a:extLst>
          </p:cNvPr>
          <p:cNvSpPr>
            <a:spLocks noGrp="1"/>
          </p:cNvSpPr>
          <p:nvPr/>
        </p:nvSpPr>
        <p:spPr>
          <a:xfrm>
            <a:off x="361950" y="512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D203CD2-492B-445B-8EBB-6797D4C9E0CE}"/>
              </a:ext>
            </a:extLst>
          </p:cNvPr>
          <p:cNvSpPr>
            <a:spLocks noGrp="1"/>
          </p:cNvSpPr>
          <p:nvPr/>
        </p:nvSpPr>
        <p:spPr>
          <a:xfrm>
            <a:off x="1238250" y="514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F1C61D9-2E1C-4638-8FF1-E8EA8D7F974B}"/>
              </a:ext>
            </a:extLst>
          </p:cNvPr>
          <p:cNvSpPr>
            <a:spLocks noGrp="1"/>
          </p:cNvSpPr>
          <p:nvPr/>
        </p:nvSpPr>
        <p:spPr>
          <a:xfrm>
            <a:off x="3524250" y="517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Ranked density regions, site 2 uses charged attempt 1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FC8D6A35-7F0E-407C-93AE-2668D8CA6B91}"/>
              </a:ext>
            </a:extLst>
          </p:cNvPr>
          <p:cNvSpPr>
            <a:spLocks noGrp="1"/>
          </p:cNvSpPr>
          <p:nvPr/>
        </p:nvSpPr>
        <p:spPr>
          <a:xfrm>
            <a:off x="1238250" y="570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B4452D3-EF6F-477D-9A8A-DE206373CC3B}"/>
              </a:ext>
            </a:extLst>
          </p:cNvPr>
          <p:cNvSpPr>
            <a:spLocks noGrp="1"/>
          </p:cNvSpPr>
          <p:nvPr/>
        </p:nvSpPr>
        <p:spPr>
          <a:xfrm>
            <a:off x="1238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ABD0DA6-93B4-4221-AD8D-6F22CFD6830C}"/>
              </a:ext>
            </a:extLst>
          </p:cNvPr>
          <p:cNvSpPr>
            <a:spLocks noGrp="1"/>
          </p:cNvSpPr>
          <p:nvPr/>
        </p:nvSpPr>
        <p:spPr>
          <a:xfrm>
            <a:off x="1657350" y="5915025"/>
            <a:ext cx="5486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Global candidates</a:t>
            </a:r>
          </a:p>
        </p:txBody>
      </p:sp>
      <p:pic>
        <p:nvPicPr>
          <p:cNvPr id="112" name="图片 111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222500" y="6381750"/>
            <a:ext cx="3937000" cy="2952750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046AF31B-4F20-4971-AAE3-386B6FF580EC}"/>
              </a:ext>
            </a:extLst>
          </p:cNvPr>
          <p:cNvSpPr>
            <a:spLocks noGrp="1"/>
          </p:cNvSpPr>
          <p:nvPr/>
        </p:nvSpPr>
        <p:spPr>
          <a:xfrm>
            <a:off x="1238250" y="9467850"/>
            <a:ext cx="59055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All 3 predicted blobs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DCC7EF5-6151-4030-991C-1E8AA35822DC}"/>
              </a:ext>
            </a:extLst>
          </p:cNvPr>
          <p:cNvSpPr>
            <a:spLocks noGrp="1"/>
          </p:cNvSpPr>
          <p:nvPr/>
        </p:nvSpPr>
        <p:spPr>
          <a:xfrm>
            <a:off x="800100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2B6B6F0-C02D-4975-91A2-5A7B5E1BB093}"/>
              </a:ext>
            </a:extLst>
          </p:cNvPr>
          <p:cNvSpPr>
            <a:spLocks noGrp="1"/>
          </p:cNvSpPr>
          <p:nvPr/>
        </p:nvSpPr>
        <p:spPr>
          <a:xfrm>
            <a:off x="842010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neighborhood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B19D4F5-F70B-4531-BDAA-647B89CDB36D}"/>
              </a:ext>
            </a:extLst>
          </p:cNvPr>
          <p:cNvSpPr>
            <a:spLocks noGrp="1"/>
          </p:cNvSpPr>
          <p:nvPr/>
        </p:nvSpPr>
        <p:spPr>
          <a:xfrm>
            <a:off x="12287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F7C3890-8D4E-494A-A5F1-F71F9300FA67}"/>
              </a:ext>
            </a:extLst>
          </p:cNvPr>
          <p:cNvSpPr>
            <a:spLocks noGrp="1"/>
          </p:cNvSpPr>
          <p:nvPr/>
        </p:nvSpPr>
        <p:spPr>
          <a:xfrm>
            <a:off x="1270635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 prediction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BC20E91-ADFA-47EE-8937-ACA85ACF75E5}"/>
              </a:ext>
            </a:extLst>
          </p:cNvPr>
          <p:cNvSpPr>
            <a:spLocks noGrp="1"/>
          </p:cNvSpPr>
          <p:nvPr/>
        </p:nvSpPr>
        <p:spPr>
          <a:xfrm>
            <a:off x="8001000" y="6353175"/>
            <a:ext cx="8239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Rank 2: target ligand</a:t>
            </a:r>
          </a:p>
        </p:txBody>
      </p:sp>
      <p:pic>
        <p:nvPicPr>
          <p:cNvPr id="119" name="图片 118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261350" y="6772275"/>
            <a:ext cx="3479800" cy="2609850"/>
          </a:xfrm>
          <a:prstGeom prst="rect">
            <a:avLst/>
          </a:prstGeom>
        </p:spPr>
      </p:pic>
      <p:pic>
        <p:nvPicPr>
          <p:cNvPr id="120" name="图片 119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2547600" y="6772275"/>
            <a:ext cx="3479800" cy="2609850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7CCFFDF7-80D7-44DB-85AF-CFB3328443F3}"/>
              </a:ext>
            </a:extLst>
          </p:cNvPr>
          <p:cNvSpPr>
            <a:spLocks noGrp="1"/>
          </p:cNvSpPr>
          <p:nvPr/>
        </p:nvSpPr>
        <p:spPr>
          <a:xfrm>
            <a:off x="8001000" y="9477375"/>
            <a:ext cx="8286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Rank 1: free scope skip</a:t>
            </a: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4E56DBA0-B859-4BC9-B9F4-97A44B9F785F}"/>
              </a:ext>
            </a:extLst>
          </p:cNvPr>
          <p:cNvSpPr>
            <a:spLocks noGrp="1"/>
          </p:cNvSpPr>
          <p:nvPr/>
        </p:nvSpPr>
        <p:spPr>
          <a:xfrm>
            <a:off x="361950" y="1022032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070BBE1-DC63-4468-9802-7D75906ABB85}"/>
              </a:ext>
            </a:extLst>
          </p:cNvPr>
          <p:cNvSpPr>
            <a:spLocks noGrp="1"/>
          </p:cNvSpPr>
          <p:nvPr/>
        </p:nvSpPr>
        <p:spPr>
          <a:xfrm>
            <a:off x="1238250" y="1023937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F1367E1-FD83-4DD0-B08F-F4687EE4424C}"/>
              </a:ext>
            </a:extLst>
          </p:cNvPr>
          <p:cNvSpPr>
            <a:spLocks noGrp="1"/>
          </p:cNvSpPr>
          <p:nvPr/>
        </p:nvSpPr>
        <p:spPr>
          <a:xfrm>
            <a:off x="3524250" y="1026795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RDKit structures of every supplied SMILES identity</a:t>
            </a: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BD3D9419-33FD-4AD4-8DE7-0008FBF48089}"/>
              </a:ext>
            </a:extLst>
          </p:cNvPr>
          <p:cNvSpPr>
            <a:spLocks noGrp="1"/>
          </p:cNvSpPr>
          <p:nvPr/>
        </p:nvSpPr>
        <p:spPr>
          <a:xfrm>
            <a:off x="1238250" y="1080135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CCFF718-A53D-45A6-BB08-E047D2AE5335}"/>
              </a:ext>
            </a:extLst>
          </p:cNvPr>
          <p:cNvSpPr>
            <a:spLocks noGrp="1"/>
          </p:cNvSpPr>
          <p:nvPr/>
        </p:nvSpPr>
        <p:spPr>
          <a:xfrm>
            <a:off x="942975" y="10915650"/>
            <a:ext cx="28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6" name="Identity 1, matched">
            <a:extLst>
              <a:ext uri="{FF2B5EF4-FFF2-40B4-BE49-F238E27FC236}">
                <a16:creationId xmlns:a16="http://schemas.microsoft.com/office/drawing/2014/main" id="{319B08CA-89B4-4445-BDE2-4467568AAC32}"/>
              </a:ext>
            </a:extLst>
          </p:cNvPr>
          <p:cNvSpPr>
            <a:spLocks noGrp="1"/>
          </p:cNvSpPr>
          <p:nvPr/>
        </p:nvSpPr>
        <p:spPr>
          <a:xfrm>
            <a:off x="1238250" y="10887075"/>
            <a:ext cx="4838700" cy="2667000"/>
          </a:xfrm>
          <a:prstGeom prst="rect">
            <a:avLst/>
          </a:prstGeom>
          <a:solidFill>
            <a:srgbClr val="FFFFFF"/>
          </a:solidFill>
          <a:ln w="28575">
            <a:solidFill>
              <a:srgbClr val="3169B3"/>
            </a:solidFill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DF40D63-EEE7-4F9C-A0F9-879C8D02F8F0}"/>
              </a:ext>
            </a:extLst>
          </p:cNvPr>
          <p:cNvSpPr>
            <a:spLocks noGrp="1"/>
          </p:cNvSpPr>
          <p:nvPr/>
        </p:nvSpPr>
        <p:spPr>
          <a:xfrm>
            <a:off x="14097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1  AGS</a:t>
            </a:r>
          </a:p>
        </p:txBody>
      </p:sp>
      <p:pic>
        <p:nvPicPr>
          <p:cNvPr id="129" name="图形 1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2885990" y="11382375"/>
            <a:ext cx="1543220" cy="1666875"/>
          </a:xfrm>
          <a:prstGeom prst="rect">
            <a:avLst/>
          </a:prstGeom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id="{B8EAA6BB-536A-4BE6-9D3F-5705227DA988}"/>
              </a:ext>
            </a:extLst>
          </p:cNvPr>
          <p:cNvSpPr>
            <a:spLocks noGrp="1"/>
          </p:cNvSpPr>
          <p:nvPr/>
        </p:nvSpPr>
        <p:spPr>
          <a:xfrm>
            <a:off x="14097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Matched identity</a:t>
            </a:r>
          </a:p>
        </p:txBody>
      </p:sp>
      <p:sp>
        <p:nvSpPr>
          <p:cNvPr id="50" name="Identity 2, outside Stage3 scope">
            <a:extLst>
              <a:ext uri="{FF2B5EF4-FFF2-40B4-BE49-F238E27FC236}">
                <a16:creationId xmlns:a16="http://schemas.microsoft.com/office/drawing/2014/main" id="{3F56C416-1A9B-42A5-9796-DE942F5DF4E4}"/>
              </a:ext>
            </a:extLst>
          </p:cNvPr>
          <p:cNvSpPr>
            <a:spLocks noGrp="1"/>
          </p:cNvSpPr>
          <p:nvPr/>
        </p:nvSpPr>
        <p:spPr>
          <a:xfrm>
            <a:off x="6343650" y="10887075"/>
            <a:ext cx="48387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6020087-4C46-4435-BF53-2C8A29B83BB4}"/>
              </a:ext>
            </a:extLst>
          </p:cNvPr>
          <p:cNvSpPr>
            <a:spLocks noGrp="1"/>
          </p:cNvSpPr>
          <p:nvPr/>
        </p:nvSpPr>
        <p:spPr>
          <a:xfrm>
            <a:off x="65151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2  Identity2</a:t>
            </a:r>
          </a:p>
        </p:txBody>
      </p:sp>
      <p:pic>
        <p:nvPicPr>
          <p:cNvPr id="133" name="图形 1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7488331" y="11382375"/>
            <a:ext cx="2549338" cy="1666875"/>
          </a:xfrm>
          <a:prstGeom prst="rect">
            <a:avLst/>
          </a:prstGeom>
        </p:spPr>
      </p:pic>
      <p:sp>
        <p:nvSpPr>
          <p:cNvPr id="53" name="矩形 52">
            <a:extLst>
              <a:ext uri="{FF2B5EF4-FFF2-40B4-BE49-F238E27FC236}">
                <a16:creationId xmlns:a16="http://schemas.microsoft.com/office/drawing/2014/main" id="{1FF5BAD7-67B7-4BDC-B331-8991073DB1D9}"/>
              </a:ext>
            </a:extLst>
          </p:cNvPr>
          <p:cNvSpPr>
            <a:spLocks noGrp="1"/>
          </p:cNvSpPr>
          <p:nvPr/>
        </p:nvSpPr>
        <p:spPr>
          <a:xfrm>
            <a:off x="65151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Outside Stage3 scope</a:t>
            </a:r>
          </a:p>
        </p:txBody>
      </p:sp>
      <p:sp>
        <p:nvSpPr>
          <p:cNvPr id="54" name="Identity 3, outside Stage3 scope">
            <a:extLst>
              <a:ext uri="{FF2B5EF4-FFF2-40B4-BE49-F238E27FC236}">
                <a16:creationId xmlns:a16="http://schemas.microsoft.com/office/drawing/2014/main" id="{D3D81539-82AE-4AF5-8A93-ED9F94D672C4}"/>
              </a:ext>
            </a:extLst>
          </p:cNvPr>
          <p:cNvSpPr>
            <a:spLocks noGrp="1"/>
          </p:cNvSpPr>
          <p:nvPr/>
        </p:nvSpPr>
        <p:spPr>
          <a:xfrm>
            <a:off x="11449050" y="10887075"/>
            <a:ext cx="48387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3A413BF-F505-471A-B92D-BF0F75C9D5F0}"/>
              </a:ext>
            </a:extLst>
          </p:cNvPr>
          <p:cNvSpPr>
            <a:spLocks noGrp="1"/>
          </p:cNvSpPr>
          <p:nvPr/>
        </p:nvSpPr>
        <p:spPr>
          <a:xfrm>
            <a:off x="116205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3  ZN</a:t>
            </a:r>
          </a:p>
        </p:txBody>
      </p:sp>
      <p:pic>
        <p:nvPicPr>
          <p:cNvPr id="137" name="图形 1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12511088" y="11382375"/>
            <a:ext cx="2714625" cy="1666875"/>
          </a:xfrm>
          <a:prstGeom prst="rect">
            <a:avLst/>
          </a:prstGeom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93C397E0-8FB1-4F3A-81F0-C9C629C9D8BB}"/>
              </a:ext>
            </a:extLst>
          </p:cNvPr>
          <p:cNvSpPr>
            <a:spLocks noGrp="1"/>
          </p:cNvSpPr>
          <p:nvPr/>
        </p:nvSpPr>
        <p:spPr>
          <a:xfrm>
            <a:off x="116205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Outside Stage3 scope</a:t>
            </a: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DAA8488E-3935-401B-AD4A-86A6C26286C2}"/>
              </a:ext>
            </a:extLst>
          </p:cNvPr>
          <p:cNvSpPr>
            <a:spLocks noGrp="1"/>
          </p:cNvSpPr>
          <p:nvPr/>
        </p:nvSpPr>
        <p:spPr>
          <a:xfrm>
            <a:off x="361950" y="1378267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B2F6CFA-9F1B-445D-86B9-7CD90DD5F008}"/>
              </a:ext>
            </a:extLst>
          </p:cNvPr>
          <p:cNvSpPr>
            <a:spLocks noGrp="1"/>
          </p:cNvSpPr>
          <p:nvPr/>
        </p:nvSpPr>
        <p:spPr>
          <a:xfrm>
            <a:off x="1238250" y="1380172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396E77A-EECE-4DEA-A8EE-C6BAEF460623}"/>
              </a:ext>
            </a:extLst>
          </p:cNvPr>
          <p:cNvSpPr>
            <a:spLocks noGrp="1"/>
          </p:cNvSpPr>
          <p:nvPr/>
        </p:nvSpPr>
        <p:spPr>
          <a:xfrm>
            <a:off x="3524250" y="1383030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local_cov-C self-ranking Top-1, one pose in three views</a:t>
            </a:r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DBA472D0-2BC1-4540-9A04-E9BFDC8ABFBD}"/>
              </a:ext>
            </a:extLst>
          </p:cNvPr>
          <p:cNvSpPr>
            <a:spLocks noGrp="1"/>
          </p:cNvSpPr>
          <p:nvPr/>
        </p:nvSpPr>
        <p:spPr>
          <a:xfrm>
            <a:off x="1238250" y="1436370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1D2C1AB-9B7E-4E12-8D55-F8F29ACB5697}"/>
              </a:ext>
            </a:extLst>
          </p:cNvPr>
          <p:cNvSpPr>
            <a:spLocks noGrp="1"/>
          </p:cNvSpPr>
          <p:nvPr/>
        </p:nvSpPr>
        <p:spPr>
          <a:xfrm>
            <a:off x="12382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02CA27F-C96D-4C22-AE1F-47A2C1D557B3}"/>
              </a:ext>
            </a:extLst>
          </p:cNvPr>
          <p:cNvSpPr>
            <a:spLocks noGrp="1"/>
          </p:cNvSpPr>
          <p:nvPr/>
        </p:nvSpPr>
        <p:spPr>
          <a:xfrm>
            <a:off x="16573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Receptor surface</a:t>
            </a:r>
          </a:p>
        </p:txBody>
      </p:sp>
      <p:pic>
        <p:nvPicPr>
          <p:cNvPr id="145" name="图片 144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949450" y="14982825"/>
            <a:ext cx="3149600" cy="2362200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D7699027-74A4-4741-B6A0-4FBAD00843A3}"/>
              </a:ext>
            </a:extLst>
          </p:cNvPr>
          <p:cNvSpPr>
            <a:spLocks noGrp="1"/>
          </p:cNvSpPr>
          <p:nvPr/>
        </p:nvSpPr>
        <p:spPr>
          <a:xfrm>
            <a:off x="647700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7846CC3D-125E-4E62-9022-58EFCDCF0584}"/>
              </a:ext>
            </a:extLst>
          </p:cNvPr>
          <p:cNvSpPr>
            <a:spLocks noGrp="1"/>
          </p:cNvSpPr>
          <p:nvPr/>
        </p:nvSpPr>
        <p:spPr>
          <a:xfrm>
            <a:off x="689610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pic>
        <p:nvPicPr>
          <p:cNvPr id="148" name="图片 147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7188200" y="14982825"/>
            <a:ext cx="3149600" cy="2362200"/>
          </a:xfrm>
          <a:prstGeom prst="rect">
            <a:avLst/>
          </a:prstGeom>
        </p:spPr>
      </p:pic>
      <p:sp>
        <p:nvSpPr>
          <p:cNvPr id="68" name="矩形 67">
            <a:extLst>
              <a:ext uri="{FF2B5EF4-FFF2-40B4-BE49-F238E27FC236}">
                <a16:creationId xmlns:a16="http://schemas.microsoft.com/office/drawing/2014/main" id="{DF84D599-9AF6-439A-AB95-4BD60D19D81F}"/>
              </a:ext>
            </a:extLst>
          </p:cNvPr>
          <p:cNvSpPr>
            <a:spLocks noGrp="1"/>
          </p:cNvSpPr>
          <p:nvPr/>
        </p:nvSpPr>
        <p:spPr>
          <a:xfrm>
            <a:off x="117157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41E3C03-198E-4448-BF8E-0653B3E4332A}"/>
              </a:ext>
            </a:extLst>
          </p:cNvPr>
          <p:cNvSpPr>
            <a:spLocks noGrp="1"/>
          </p:cNvSpPr>
          <p:nvPr/>
        </p:nvSpPr>
        <p:spPr>
          <a:xfrm>
            <a:off x="121348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Deposited pose overlay</a:t>
            </a:r>
          </a:p>
        </p:txBody>
      </p:sp>
      <p:pic>
        <p:nvPicPr>
          <p:cNvPr id="151" name="图片 150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12426950" y="14982825"/>
            <a:ext cx="3149600" cy="2362200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03452A48-A96F-4021-8A18-8285961DA440}"/>
              </a:ext>
            </a:extLst>
          </p:cNvPr>
          <p:cNvSpPr>
            <a:spLocks noGrp="1"/>
          </p:cNvSpPr>
          <p:nvPr/>
        </p:nvSpPr>
        <p:spPr>
          <a:xfrm>
            <a:off x="1238250" y="17506950"/>
            <a:ext cx="15049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Heavy-atom RMSD 0.91 Å     Clash 0     50 poses, 100 steps</a:t>
            </a:r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4BF17C03-D777-4DBD-A6FF-8BCC98A0FCAF}"/>
              </a:ext>
            </a:extLst>
          </p:cNvPr>
          <p:cNvSpPr>
            <a:spLocks noGrp="1"/>
          </p:cNvSpPr>
          <p:nvPr/>
        </p:nvSpPr>
        <p:spPr>
          <a:xfrm>
            <a:off x="1238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EACB8C4-521D-4CCE-81EA-8C5F37CC94EC}"/>
              </a:ext>
            </a:extLst>
          </p:cNvPr>
          <p:cNvSpPr>
            <a:spLocks noGrp="1"/>
          </p:cNvSpPr>
          <p:nvPr/>
        </p:nvSpPr>
        <p:spPr>
          <a:xfrm>
            <a:off x="1647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A54C6AED-95FD-4B79-A459-22061E8F52E8}"/>
              </a:ext>
            </a:extLst>
          </p:cNvPr>
          <p:cNvSpPr>
            <a:spLocks noGrp="1"/>
          </p:cNvSpPr>
          <p:nvPr/>
        </p:nvSpPr>
        <p:spPr>
          <a:xfrm>
            <a:off x="4286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16773"/>
            </a:solidFill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4CBA068-48AC-46BC-845B-FE43FB06F427}"/>
              </a:ext>
            </a:extLst>
          </p:cNvPr>
          <p:cNvSpPr>
            <a:spLocks noGrp="1"/>
          </p:cNvSpPr>
          <p:nvPr/>
        </p:nvSpPr>
        <p:spPr>
          <a:xfrm>
            <a:off x="4695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F30F9E07-C7A0-4763-B40B-A9B042C2F28A}"/>
              </a:ext>
            </a:extLst>
          </p:cNvPr>
          <p:cNvSpPr>
            <a:spLocks noGrp="1"/>
          </p:cNvSpPr>
          <p:nvPr/>
        </p:nvSpPr>
        <p:spPr>
          <a:xfrm>
            <a:off x="7334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7BF489C-BD32-4BA1-931A-162AC93AD171}"/>
              </a:ext>
            </a:extLst>
          </p:cNvPr>
          <p:cNvSpPr>
            <a:spLocks noGrp="1"/>
          </p:cNvSpPr>
          <p:nvPr/>
        </p:nvSpPr>
        <p:spPr>
          <a:xfrm>
            <a:off x="7743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Target blob</a:t>
            </a:r>
          </a:p>
        </p:txBody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EF58F6C7-8C1F-4DEB-8FD6-ED563315ADA5}"/>
              </a:ext>
            </a:extLst>
          </p:cNvPr>
          <p:cNvSpPr>
            <a:spLocks noGrp="1"/>
          </p:cNvSpPr>
          <p:nvPr/>
        </p:nvSpPr>
        <p:spPr>
          <a:xfrm>
            <a:off x="10382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421301B-CF11-4DC7-8BB7-ABC075DA6AB1}"/>
              </a:ext>
            </a:extLst>
          </p:cNvPr>
          <p:cNvSpPr>
            <a:spLocks noGrp="1"/>
          </p:cNvSpPr>
          <p:nvPr/>
        </p:nvSpPr>
        <p:spPr>
          <a:xfrm>
            <a:off x="10791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Predicted pose</a:t>
            </a:r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0CEF0BCB-2C88-4582-9EBD-AF0F017BC48D}"/>
              </a:ext>
            </a:extLst>
          </p:cNvPr>
          <p:cNvSpPr>
            <a:spLocks noGrp="1"/>
          </p:cNvSpPr>
          <p:nvPr/>
        </p:nvSpPr>
        <p:spPr>
          <a:xfrm>
            <a:off x="13430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709B3374-91AC-4A00-8E39-3D8F4FD1D927}"/>
              </a:ext>
            </a:extLst>
          </p:cNvPr>
          <p:cNvSpPr>
            <a:spLocks noGrp="1"/>
          </p:cNvSpPr>
          <p:nvPr/>
        </p:nvSpPr>
        <p:spPr>
          <a:xfrm>
            <a:off x="13839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Deposited pose</a:t>
            </a:r>
          </a:p>
        </p:txBody>
      </p:sp>
    </p:spTree>
    <p:extLst>
      <p:ext uri="{BB962C8B-B14F-4D97-AF65-F5344CB8AC3E}">
        <p14:creationId xmlns:p14="http://schemas.microsoft.com/office/powerpoint/2010/main" val="8422725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1702</Words>
  <Application>Microsoft Office PowerPoint</Application>
  <DocSecurity>0</DocSecurity>
  <PresentationFormat>自定义</PresentationFormat>
  <Paragraphs>340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Hongen Peng</cp:lastModifiedBy>
  <cp:revision>8</cp:revision>
  <dcterms:created xsi:type="dcterms:W3CDTF">2026-10-03T12:47:40Z</dcterms:created>
  <dcterms:modified xsi:type="dcterms:W3CDTF">2026-10-03T14:10:12Z</dcterms:modified>
</cp:coreProperties>
</file>