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3E0CE6BD.xml" ContentType="application/vnd.ms-powerpoint.comments+xml"/>
  <Override PartName="/ppt/notesSlides/notesSlide2.xml" ContentType="application/vnd.openxmlformats-officedocument.presentationml.notesSlide+xml"/>
  <Override PartName="/ppt/comments/modernComment_101_2E13A015.xml" ContentType="application/vnd.ms-powerpoint.comments+xml"/>
  <Override PartName="/ppt/notesSlides/notesSlide3.xml" ContentType="application/vnd.openxmlformats-officedocument.presentationml.notesSlide+xml"/>
  <Override PartName="/ppt/comments/modernComment_102_585D82B.xml" ContentType="application/vnd.ms-powerpoint.comments+xml"/>
  <Override PartName="/ppt/notesSlides/notesSlide4.xml" ContentType="application/vnd.openxmlformats-officedocument.presentationml.notesSlide+xml"/>
  <Override PartName="/ppt/comments/modernComment_103_2D35A60C.xml" ContentType="application/vnd.ms-powerpoint.comments+xml"/>
  <Override PartName="/ppt/notesSlides/notesSlide5.xml" ContentType="application/vnd.openxmlformats-officedocument.presentationml.notesSlide+xml"/>
  <Override PartName="/ppt/comments/modernComment_104_6CE85E87.xml" ContentType="application/vnd.ms-powerpoint.comments+xml"/>
  <Override PartName="/ppt/notesSlides/notesSlide6.xml" ContentType="application/vnd.openxmlformats-officedocument.presentationml.notesSlide+xml"/>
  <Override PartName="/ppt/comments/modernComment_105_177550AD.xml" ContentType="application/vnd.ms-powerpoint.comments+xml"/>
  <Override PartName="/ppt/notesSlides/notesSlide7.xml" ContentType="application/vnd.openxmlformats-officedocument.presentationml.notesSlide+xml"/>
  <Override PartName="/ppt/comments/modernComment_106_42C49E7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7145000" cy="2000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821" autoAdjust="0"/>
  </p:normalViewPr>
  <p:slideViewPr>
    <p:cSldViewPr snapToGrid="0">
      <p:cViewPr varScale="1">
        <p:scale>
          <a:sx n="22" d="100"/>
          <a:sy n="22" d="100"/>
        </p:scale>
        <p:origin x="2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0_3E0CE6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AB2B8D-1F49-4F2A-B21E-46B60BADEF54}" authorId="{D3F71A66-0C34-DF1A-5236-FECDBC820DCB}" created="2026-10-03T15:30:10.302">
    <pc:sldMkLst xmlns:pc="http://schemas.microsoft.com/office/powerpoint/2013/main/command">
      <pc:docMk/>
      <pc:sldMk cId="1041032893" sldId="256"/>
    </pc:sldMkLst>
    <p188:pos x="0" y="0"/>
    <p188:txBody>
      <a:bodyPr/>
      <a:lstStyle/>
      <a:p>
        <a:r>
          <a:rPr lang="zh-CN" altLang="en-US"/>
          <a:t>@@e2e-flow-9llg</a:t>
        </a:r>
      </a:p>
    </p188:txBody>
  </p188:cm>
  <p188:cm id="{F41605AA-CD6C-4AA1-A9F8-F79E1CD261B3}" authorId="{D3F71A66-0C34-DF1A-5236-FECDBC820DCB}" created="2026-10-03T15:30:10.324">
    <pc:sldMkLst xmlns:pc="http://schemas.microsoft.com/office/powerpoint/2013/main/command">
      <pc:docMk/>
      <pc:sldMk cId="1041032893" sldId="256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1_2E13A01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4CD8DD-C35C-4FFF-A19B-43DD7D22220E}" authorId="{D3F71A66-0C34-DF1A-5236-FECDBC820DCB}" created="2026-10-03T15:30:10.838">
    <pc:sldMkLst xmlns:pc="http://schemas.microsoft.com/office/powerpoint/2013/main/command">
      <pc:docMk/>
      <pc:sldMk cId="773038101" sldId="257"/>
    </pc:sldMkLst>
    <p188:pos x="0" y="0"/>
    <p188:txBody>
      <a:bodyPr/>
      <a:lstStyle/>
      <a:p>
        <a:r>
          <a:rPr lang="zh-CN" altLang="en-US"/>
          <a:t>@@e2e-flow-9bjj</a:t>
        </a:r>
      </a:p>
    </p188:txBody>
  </p188:cm>
  <p188:cm id="{516BEBDB-CEE3-46F4-9D84-AC6097F92AF0}" authorId="{D3F71A66-0C34-DF1A-5236-FECDBC820DCB}" created="2026-10-03T15:30:10.841">
    <pc:sldMkLst xmlns:pc="http://schemas.microsoft.com/office/powerpoint/2013/main/command">
      <pc:docMk/>
      <pc:sldMk cId="773038101" sldId="257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2_585D8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BE6C4D-A8D4-4C23-854C-A41CD043C9C4}" authorId="{D3F71A66-0C34-DF1A-5236-FECDBC820DCB}" created="2026-10-03T15:30:12.347">
    <pc:sldMkLst xmlns:pc="http://schemas.microsoft.com/office/powerpoint/2013/main/command">
      <pc:docMk/>
      <pc:sldMk cId="92657707" sldId="258"/>
    </pc:sldMkLst>
    <p188:pos x="0" y="0"/>
    <p188:txBody>
      <a:bodyPr/>
      <a:lstStyle/>
      <a:p>
        <a:r>
          <a:rPr lang="zh-CN" altLang="en-US"/>
          <a:t>@@e2e-flow-30ga</a:t>
        </a:r>
      </a:p>
    </p188:txBody>
  </p188:cm>
  <p188:cm id="{49DE37FD-B525-41ED-A137-B37E95CD4656}" authorId="{D3F71A66-0C34-DF1A-5236-FECDBC820DCB}" created="2026-10-03T15:30:12.350">
    <pc:sldMkLst xmlns:pc="http://schemas.microsoft.com/office/powerpoint/2013/main/command">
      <pc:docMk/>
      <pc:sldMk cId="92657707" sldId="258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3_2D35A6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D559A3D-B2E5-48B4-AC3F-279D80818771}" authorId="{D3F71A66-0C34-DF1A-5236-FECDBC820DCB}" created="2026-10-03T15:30:12.713">
    <pc:sldMkLst xmlns:pc="http://schemas.microsoft.com/office/powerpoint/2013/main/command">
      <pc:docMk/>
      <pc:sldMk cId="758490636" sldId="259"/>
    </pc:sldMkLst>
    <p188:pos x="0" y="0"/>
    <p188:txBody>
      <a:bodyPr/>
      <a:lstStyle/>
      <a:p>
        <a:r>
          <a:rPr lang="zh-CN" altLang="en-US"/>
          <a:t>@@e2e-flow-9qru</a:t>
        </a:r>
      </a:p>
    </p188:txBody>
  </p188:cm>
  <p188:cm id="{26261A9E-3A0C-40A1-A34D-B9FAD324A1D5}" authorId="{D3F71A66-0C34-DF1A-5236-FECDBC820DCB}" created="2026-10-03T15:30:12.714">
    <pc:sldMkLst xmlns:pc="http://schemas.microsoft.com/office/powerpoint/2013/main/command">
      <pc:docMk/>
      <pc:sldMk cId="758490636" sldId="259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4_6CE85E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32D2889-9AD4-4983-9E48-0901758855CB}" authorId="{D3F71A66-0C34-DF1A-5236-FECDBC820DCB}" created="2026-10-03T15:30:13.027">
    <pc:sldMkLst xmlns:pc="http://schemas.microsoft.com/office/powerpoint/2013/main/command">
      <pc:docMk/>
      <pc:sldMk cId="1827167879" sldId="260"/>
    </pc:sldMkLst>
    <p188:pos x="0" y="0"/>
    <p188:txBody>
      <a:bodyPr/>
      <a:lstStyle/>
      <a:p>
        <a:r>
          <a:rPr lang="zh-CN" altLang="en-US"/>
          <a:t>@@e2e-flow-9rd8</a:t>
        </a:r>
      </a:p>
    </p188:txBody>
  </p188:cm>
  <p188:cm id="{159F82F1-35BE-4AA7-8D62-E6B4D2EB254C}" authorId="{D3F71A66-0C34-DF1A-5236-FECDBC820DCB}" created="2026-10-03T15:30:13.029">
    <pc:sldMkLst xmlns:pc="http://schemas.microsoft.com/office/powerpoint/2013/main/command">
      <pc:docMk/>
      <pc:sldMk cId="1827167879" sldId="260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5_177550A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E013182-F61C-4C5E-8C27-C786AC88A6BB}" authorId="{D3F71A66-0C34-DF1A-5236-FECDBC820DCB}" created="2026-10-03T15:30:13.371">
    <pc:sldMkLst xmlns:pc="http://schemas.microsoft.com/office/powerpoint/2013/main/command">
      <pc:docMk/>
      <pc:sldMk cId="393564333" sldId="261"/>
    </pc:sldMkLst>
    <p188:pos x="0" y="0"/>
    <p188:txBody>
      <a:bodyPr/>
      <a:lstStyle/>
      <a:p>
        <a:r>
          <a:rPr lang="zh-CN" altLang="en-US"/>
          <a:t>@@e2e-flow-9wup</a:t>
        </a:r>
      </a:p>
    </p188:txBody>
  </p188:cm>
  <p188:cm id="{DD7CCA7D-A36E-458C-A2E4-97DF20A309DE}" authorId="{D3F71A66-0C34-DF1A-5236-FECDBC820DCB}" created="2026-10-03T15:30:13.372">
    <pc:sldMkLst xmlns:pc="http://schemas.microsoft.com/office/powerpoint/2013/main/command">
      <pc:docMk/>
      <pc:sldMk cId="393564333" sldId="261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6_42C49E7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90BF3C-6995-4F18-B01D-042D14E572C5}" authorId="{D3F71A66-0C34-DF1A-5236-FECDBC820DCB}" created="2026-10-03T15:30:13.752">
    <pc:sldMkLst xmlns:pc="http://schemas.microsoft.com/office/powerpoint/2013/main/command">
      <pc:docMk/>
      <pc:sldMk cId="1120181874" sldId="262"/>
    </pc:sldMkLst>
    <p188:pos x="0" y="0"/>
    <p188:txBody>
      <a:bodyPr/>
      <a:lstStyle/>
      <a:p>
        <a:r>
          <a:rPr lang="zh-CN" altLang="en-US"/>
          <a:t>@@e2e-flow-9xzl</a:t>
        </a:r>
      </a:p>
    </p188:txBody>
  </p188:cm>
  <p188:cm id="{F735580C-8BEC-4B30-9E0E-BFCC77BB6FA4}" authorId="{D3F71A66-0C34-DF1A-5236-FECDBC820DCB}" created="2026-10-03T15:30:13.753">
    <pc:sldMkLst xmlns:pc="http://schemas.microsoft.com/office/powerpoint/2013/main/command">
      <pc:docMk/>
      <pc:sldMk cId="1120181874" sldId="262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>9LLG 中 A1EKL（R:602） 的端到端构象重建。</ns1:t>
            </ns1:r>
            <ns1:r>
              <ns1:rPr lang="zh-CN" altLang="zh-CN" sz="1200" kern="1200" dirty="0">
                <ns1:effectLst/>
              </ns1:rPr>
              <ns1:t>a–c，实验密度、CryoAtom2 重建受体及真实受体（GT）。d，Find 候选区域，图中的框关联着右侧的局部视图；e、f，真实的 </ns1:t>
            </ns1:r>
            <ns1:r>
              <ns1:rPr lang="en-US" altLang="zh-CN" sz="1200" kern="1200" dirty="0">
                <ns1:effectLst/>
              </ns1:rPr>
              <ns1:t>ligand</ns1:t>
            </ns1:r>
            <ns1:r>
              <ns1:rPr lang="zh-CN" altLang="zh-CN" sz="1200" kern="1200" dirty="0">
                <ns1:effectLst/>
              </ns1:rPr>
              <ns1:t> </ns1:t>
            </ns1:r>
            <ns1:r>
              <ns1:rPr lang="en-US" altLang="zh-CN" sz="1200" kern="1200" dirty="0">
                <ns1:effectLst/>
              </ns1:rPr>
              <ns1:t>area</ns1:t>
            </ns1:r>
            <ns1:r>
              <ns1:rPr lang="zh-CN" altLang="zh-CN" sz="1200" kern="1200" dirty="0">
                <ns1:effectLst/>
              </ns1:rPr>
              <ns1:t> 与 Find 预测的配体区域，它们的朝向和尺度都一致。g，同一 PDB 的全部化学身份，蓝框为 Match 的匹配结果。h–j，PocketXMol-tuned 生成的 top-1 </ns1:t>
            </ns1:r>
            <ns1:r>
              <ns1:rPr lang="en-US" altLang="zh-CN" sz="1200" kern="1200" dirty="0">
                <ns1:effectLst/>
              </ns1:rPr>
              <ns1:t>pose</ns1:t>
            </ns1:r>
            <ns1:r>
              <ns1:rPr lang="zh-CN" altLang="zh-CN" sz="1200" kern="1200" dirty="0">
                <ns1:effectLst/>
              </ns1:rPr>
              <ns1:t> 在受体表面、实验密度及沉积构象叠加中的视图。受体绿色，密度灰色，目标区域橙色，预测构象蓝色，沉积构象青绿色。真实受体仅用于参考显示与最终评价，全程均不作为模型的输入。</ns1:t>
            </ns1:r>
            <ns1:endParaRPr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>9BJJ 中 ATP（B:901）的端到端构象重建。a–c，实验密度、CryoAtom2 重建受体及真实受体（GT）。d，Find 候选区域，图中的框关联着右侧的局部视图；e、f，真实的 </ns1:t>
            </ns1:r>
            <ns1:r>
              <ns1:rPr lang="en-US" altLang="zh-CN" dirty="0"/>
              <ns1:t>ligand</ns1:t>
            </ns1:r>
            <ns1:r>
              <ns1:rPr lang="zh-CN" altLang="en-US" dirty="0"/>
              <ns1:t> </ns1:t>
            </ns1:r>
            <ns1:r>
              <ns1:rPr lang="en-US" altLang="zh-CN" dirty="0"/>
              <ns1:t>area</ns1:t>
            </ns1:r>
            <ns1:r>
              <ns1:rPr lang="zh-CN" altLang="en-US" dirty="0"/>
              <ns1:t> 与 Find 预测的配体区域，它们的朝向和尺度都一致。g，同一 PDB 的全部化学身份，蓝框为 Match 的匹配结果。h–j，PocketXMol-tuned 生成的 top-1 </ns1:t>
            </ns1:r>
            <ns1:r>
              <ns1:rPr lang="en-US" altLang="zh-CN" dirty="0"/>
              <ns1:t>pose</ns1:t>
            </ns1:r>
            <ns1:r>
              <ns1:rPr lang="zh-CN" altLang="en-US" dirty="0"/>
              <ns1:t> 在受体表面、实验密度及沉积构象叠加中的视图。受体绿色，密度灰色，目标区域橙色，预测构象蓝色，沉积构象青绿色。真实受体仅用于参考显示与最终评价，全程均不作为模型的输入。</ns1:t>
            </ns1:r>
            <ns1:endParaRPr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>30GA 中 ATP（N:401）的端到端构象重建。</ns1:t>
            </ns1:r>
            <ns1:r>
              <ns1:rPr lang="zh-CN" altLang="zh-CN" sz="1200" kern="1200" dirty="0">
                <ns1:effectLst/>
              </ns1:rPr>
              <ns1:t>a–c，实验密度、CryoAtom2 重建受体及真实受体（GT）。d，Find 候选区域，图中的框关联着右侧的局部视图；e、f，真实的 </ns1:t>
            </ns1:r>
            <ns1:r>
              <ns1:rPr lang="en-US" altLang="zh-CN" sz="1200" kern="1200" dirty="0">
                <ns1:effectLst/>
              </ns1:rPr>
              <ns1:t>ligand</ns1:t>
            </ns1:r>
            <ns1:r>
              <ns1:rPr lang="zh-CN" altLang="zh-CN" sz="1200" kern="1200" dirty="0">
                <ns1:effectLst/>
              </ns1:rPr>
              <ns1:t> </ns1:t>
            </ns1:r>
            <ns1:r>
              <ns1:rPr lang="en-US" altLang="zh-CN" sz="1200" kern="1200" dirty="0">
                <ns1:effectLst/>
              </ns1:rPr>
              <ns1:t>area</ns1:t>
            </ns1:r>
            <ns1:r>
              <ns1:rPr lang="zh-CN" altLang="zh-CN" sz="1200" kern="1200" dirty="0">
                <ns1:effectLst/>
              </ns1:rPr>
              <ns1:t> 与 Find 预测的配体区域，它们的朝向和尺度都一致。g，同一 PDB 的全部化学身份，蓝框为 Match 的匹配结果。h–j，PocketXMol-tuned 生成的 top-1 </ns1:t>
            </ns1:r>
            <ns1:r>
              <ns1:rPr lang="en-US" altLang="zh-CN" sz="1200" kern="1200" dirty="0">
                <ns1:effectLst/>
              </ns1:rPr>
              <ns1:t>pose</ns1:t>
            </ns1:r>
            <ns1:r>
              <ns1:rPr lang="zh-CN" altLang="zh-CN" sz="1200" kern="1200">
                <ns1:effectLst/>
              </ns1:rPr>
              <ns1:t> 在受体表面、实验密度及沉积构象叠加中的视图。受体绿色，密度灰色，目标区域橙色，预测构象蓝色，沉积构象青绿色。真实受体仅用于参考显示与最终评价，全程均不作为模型的输入。</ns1:t>
            </ns1:r>
            <ns1:endParaRPr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9QRU </a:t>
            </a:r>
            <a:r>
              <a:rPr lang="zh-CN" altLang="en-US"/>
              <a:t>的完整重建流程。首位背景消耗一次尝试，未进入 </a:t>
            </a:r>
            <a:r>
              <a:rPr lang="en-US" altLang="zh-CN"/>
              <a:t>Match </a:t>
            </a:r>
            <a:r>
              <a:rPr lang="zh-CN" altLang="en-US"/>
              <a:t>或 </a:t>
            </a:r>
            <a:r>
              <a:rPr lang="en-US" altLang="zh-CN"/>
              <a:t>Build</a:t>
            </a:r>
            <a:r>
              <a:rPr lang="zh-CN" altLang="en-US"/>
              <a:t>；第二位 </a:t>
            </a:r>
            <a:r>
              <a:rPr lang="en-US" altLang="zh-CN"/>
              <a:t>A1JAX(B:2801) </a:t>
            </a:r>
            <a:r>
              <a:rPr lang="zh-CN" altLang="en-US"/>
              <a:t>完成重建。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3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0.63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用于参考显示与最终评价。该候选原入选标记为 </a:t>
            </a:r>
            <a:r>
              <a:rPr lang="en-US" altLang="zh-CN"/>
              <a:t>false</a:t>
            </a:r>
            <a:r>
              <a:rPr lang="zh-CN" altLang="en-US"/>
              <a:t>，仍按完整顺序评价。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9RD8 </a:t>
            </a:r>
            <a:r>
              <a:rPr lang="zh-CN" altLang="en-US"/>
              <a:t>的完整重建流程。首位 </a:t>
            </a:r>
            <a:r>
              <a:rPr lang="en-US" altLang="zh-CN"/>
              <a:t>BCT(A:902) </a:t>
            </a:r>
            <a:r>
              <a:rPr lang="zh-CN" altLang="en-US"/>
              <a:t>依次完成区域检出、身份匹配和构象重建。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4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0.96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9WUP </a:t>
            </a:r>
            <a:r>
              <a:rPr lang="zh-CN" altLang="en-US"/>
              <a:t>的完整重建流程。前 </a:t>
            </a:r>
            <a:r>
              <a:rPr lang="en-US" altLang="zh-CN"/>
              <a:t>2 </a:t>
            </a:r>
            <a:r>
              <a:rPr lang="zh-CN" altLang="en-US"/>
              <a:t>位范围外小分子身份匹配正确，免费跳过，第 </a:t>
            </a:r>
            <a:r>
              <a:rPr lang="en-US" altLang="zh-CN"/>
              <a:t>3 </a:t>
            </a:r>
            <a:r>
              <a:rPr lang="zh-CN" altLang="en-US"/>
              <a:t>位 </a:t>
            </a:r>
            <a:r>
              <a:rPr lang="en-US" altLang="zh-CN"/>
              <a:t>FMN(B:1103) </a:t>
            </a:r>
            <a:r>
              <a:rPr lang="zh-CN" altLang="en-US"/>
              <a:t>为首个计费候选。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4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0.52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9XZL </a:t>
            </a:r>
            <a:r>
              <a:rPr lang="zh-CN" altLang="en-US"/>
              <a:t>的完整重建流程。首位非小分子被 </a:t>
            </a:r>
            <a:r>
              <a:rPr lang="en-US" altLang="zh-CN"/>
              <a:t>Match </a:t>
            </a:r>
            <a:r>
              <a:rPr lang="zh-CN" altLang="en-US"/>
              <a:t>正确识别为非小分子，免费跳过，第 </a:t>
            </a:r>
            <a:r>
              <a:rPr lang="en-US" altLang="zh-CN"/>
              <a:t>2 </a:t>
            </a:r>
            <a:r>
              <a:rPr lang="zh-CN" altLang="en-US"/>
              <a:t>位 </a:t>
            </a:r>
            <a:r>
              <a:rPr lang="en-US" altLang="zh-CN"/>
              <a:t>AGS(F:1001) </a:t>
            </a:r>
            <a:r>
              <a:rPr lang="zh-CN" altLang="en-US"/>
              <a:t>为首个计费候选。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3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0.91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7586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0_3E0CE6BD.xml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microsoft.com/office/2018/10/relationships/comments" Target="../comments/modernComment_101_2E13A015.xml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21.svg"/><Relationship Id="rId3" Type="http://schemas.microsoft.com/office/2018/10/relationships/comments" Target="../comments/modernComment_102_585D82B.xml"/><Relationship Id="rId7" Type="http://schemas.openxmlformats.org/officeDocument/2006/relationships/image" Target="../media/image28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4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7.svg"/><Relationship Id="rId3" Type="http://schemas.microsoft.com/office/2018/10/relationships/comments" Target="../comments/modernComment_103_2D35A60C.xml"/><Relationship Id="rId7" Type="http://schemas.openxmlformats.org/officeDocument/2006/relationships/image" Target="../media/image39.png"/><Relationship Id="rId12" Type="http://schemas.openxmlformats.org/officeDocument/2006/relationships/image" Target="../media/image44.svg"/><Relationship Id="rId17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6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5.svg"/><Relationship Id="rId3" Type="http://schemas.microsoft.com/office/2018/10/relationships/comments" Target="../comments/modernComment_104_6CE85E87.xml"/><Relationship Id="rId7" Type="http://schemas.openxmlformats.org/officeDocument/2006/relationships/image" Target="../media/image52.png"/><Relationship Id="rId12" Type="http://schemas.openxmlformats.org/officeDocument/2006/relationships/image" Target="../media/image57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svg"/><Relationship Id="rId5" Type="http://schemas.openxmlformats.org/officeDocument/2006/relationships/image" Target="../media/image50.png"/><Relationship Id="rId15" Type="http://schemas.openxmlformats.org/officeDocument/2006/relationships/image" Target="../media/image59.png"/><Relationship Id="rId10" Type="http://schemas.openxmlformats.org/officeDocument/2006/relationships/image" Target="../media/image55.sv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svg"/><Relationship Id="rId3" Type="http://schemas.microsoft.com/office/2018/10/relationships/comments" Target="../comments/modernComment_105_177550AD.xml"/><Relationship Id="rId7" Type="http://schemas.openxmlformats.org/officeDocument/2006/relationships/image" Target="../media/image64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11" Type="http://schemas.openxmlformats.org/officeDocument/2006/relationships/image" Target="../media/image68.sv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sv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1.png"/><Relationship Id="rId3" Type="http://schemas.microsoft.com/office/2018/10/relationships/comments" Target="../comments/modernComment_106_42C49E72.xml"/><Relationship Id="rId7" Type="http://schemas.openxmlformats.org/officeDocument/2006/relationships/image" Target="../media/image77.png"/><Relationship Id="rId12" Type="http://schemas.openxmlformats.org/officeDocument/2006/relationships/image" Target="../media/image4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21.svg"/><Relationship Id="rId5" Type="http://schemas.openxmlformats.org/officeDocument/2006/relationships/image" Target="../media/image75.png"/><Relationship Id="rId15" Type="http://schemas.openxmlformats.org/officeDocument/2006/relationships/image" Target="../media/image83.png"/><Relationship Id="rId10" Type="http://schemas.openxmlformats.org/officeDocument/2006/relationships/image" Target="../media/image80.sv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矩形 100">
            <a:extLst>
              <a:ext uri="{FF2B5EF4-FFF2-40B4-BE49-F238E27FC236}">
                <a16:creationId xmlns:a16="http://schemas.microsoft.com/office/drawing/2014/main" id="{BEB91898-99A3-426A-B9B1-59BC401AD588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9LLG  A1EKL (R:602)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D8C9FC-8434-493C-B188-C4BDBAA01F73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88EA0D68-7261-48AC-BE65-A5F4E773886E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AEA97188-8CED-43AB-B081-C6CC4483D2CE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523C709D-01F9-481C-8A02-E0B01A0BAE3C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DF2D3FE7-1C84-487F-A3DA-05EA87FE6D02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9C671BF-286D-4043-857B-99310AA86F5F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F473F333-3E2A-43A1-B9C7-F4DB3DA5F37D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5A3CC8F-071F-4CCA-9621-9A8CF580FF85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BEE1C51C-FEA1-4174-AAFB-8291419190F9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AD47D1B-81DE-4E83-BBC3-830CB1C22E08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3675378-58CD-4221-B46E-11C22A1CBE62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5C05BA0-49DA-4D7C-9B91-4662E531ED27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D35A0C-33BA-4CE8-85E7-581221141921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EC1AEBCB-C611-410C-906B-C1488DF68781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BE0A7E-6787-4E07-B5CB-5FC8CFABC8FE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8FCFFD5-0524-4A46-9B13-308FA8F89B0E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8" name="global_density_same_scale" descr="9LLG global_density_same_scale; native ChimeraX; source C:\Users\15919\Desktop\论文草稿\画图\formal\E2E_flow_v2_20261003\9llg\renders\global_density_same_scale.png; editable crop only"/>
          <p:cNvPicPr>
            <a:picLocks noChangeAspect="1"/>
          </p:cNvPicPr>
          <p:nvPr/>
        </p:nvPicPr>
        <p:blipFill>
          <a:blip r:embed="rId4"/>
          <a:srcRect l="19010" t="9983" r="20810" b="14831"/>
          <a:stretch>
            <a:fillRect/>
          </a:stretch>
        </p:blipFill>
        <p:spPr>
          <a:xfrm>
            <a:off x="1999458" y="2476500"/>
            <a:ext cx="3049584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A83F8A89-0D0C-42A5-8946-46EAD8039C7B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0F5B711-25CF-4953-8527-D5088994E240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1" name="global_ca2" descr="9LLG global_ca2; native ChimeraX; source C:\Users\15919\Desktop\论文草稿\画图\formal\E2E_flow_20261003\9llg\renders\global_ca2.png; editable crop only"/>
          <p:cNvPicPr>
            <a:picLocks noChangeAspect="1"/>
          </p:cNvPicPr>
          <p:nvPr/>
        </p:nvPicPr>
        <p:blipFill>
          <a:blip r:embed="rId5"/>
          <a:srcRect l="19010" t="9983" r="20810" b="14831"/>
          <a:stretch>
            <a:fillRect/>
          </a:stretch>
        </p:blipFill>
        <p:spPr>
          <a:xfrm>
            <a:off x="7238208" y="2476500"/>
            <a:ext cx="3049584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D53312E-DE43-4639-8878-4BD719013860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0EC217-AB33-4830-BE42-3E973315B48E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4" name="global_gt" descr="9LLG global_gt; native ChimeraX; source C:\Users\15919\Desktop\论文草稿\画图\formal\E2E_flow_20261003\9llg\renders\global_gt.png; editable crop only"/>
          <p:cNvPicPr>
            <a:picLocks noChangeAspect="1"/>
          </p:cNvPicPr>
          <p:nvPr/>
        </p:nvPicPr>
        <p:blipFill>
          <a:blip r:embed="rId6"/>
          <a:srcRect l="19010" t="9983" r="20810" b="14831"/>
          <a:stretch>
            <a:fillRect/>
          </a:stretch>
        </p:blipFill>
        <p:spPr>
          <a:xfrm>
            <a:off x="12476958" y="2476500"/>
            <a:ext cx="3049584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EBE94D98-F1FE-4084-B537-8AA7E514CED7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79DCB3F6-059F-4EC9-A586-4D40FC61FB68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2703250B-C8BC-4743-966B-55CAFBB7ED76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65A6FF4-5579-4781-80F5-3BE4AB2113CF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8926B85D-CA85-422B-8B40-A213E9023B76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8B0685BF-E136-486F-89E2-B0C16E8A9929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BEB7D5B3-C116-4383-90F4-20B60B67B154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FEDDDC05-A3B1-4E1C-BF0F-1AC1CA08EE9F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79E6BB73-94B0-49C7-83EA-39B053541011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29DDE9E5-FD35-4B08-9B1E-26A20E81A25E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59808BE-2246-4EB1-99C2-4E836D8039B5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19018AC9-ABF9-4D59-B442-AD81E8D89365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30E4BB3D-DB47-4A4F-A57E-580AD8C0C107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494AE85-9134-40B2-95C7-77EE18AFFCA6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32D4E7D-9955-4A5E-A78E-3A90CD9949F2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1EC18E51-16A5-47D0-B1E6-BA7408EEC8F7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CB1F4480-1BE8-4A46-AB5E-C1C1C761F4EC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B2A466C8-5F80-4EAB-8193-AE7701265D98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22711D7-B3E7-476F-A48C-A763EB874AD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1007B89-C2EA-4BAC-B997-CB1FC5FE33B6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AE5400A0-3511-466C-8F2A-004CC886B507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BC6BAFCC-DB36-469E-93D7-AD98727560A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B84A9698-1C2E-4F07-A385-C86182B2C6C4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CF1165-4285-47A5-89F2-DA0BD96046E7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E29A0A8-AFE9-4A28-9D54-CA0ECBCB9E03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47085D7C-A566-4DB8-A283-93D42355323A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C503087-BF8E-4BBA-ABC4-35B0789A6B19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CB475E-99BE-4092-BE88-9EB518A88A3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3" name="global_find" descr="9LLG global_find; native ChimeraX; source C:\Users\15919\Desktop\论文草稿\画图\formal\E2E_flow_v2_20261003\9llg\renders\global_find.png; editable crop only"/>
          <p:cNvPicPr>
            <a:picLocks noChangeAspect="1"/>
          </p:cNvPicPr>
          <p:nvPr/>
        </p:nvPicPr>
        <p:blipFill>
          <a:blip r:embed="rId7"/>
          <a:srcRect l="19010" t="9983" r="23368" b="14831"/>
          <a:stretch>
            <a:fillRect/>
          </a:stretch>
        </p:blipFill>
        <p:spPr>
          <a:xfrm>
            <a:off x="2098361" y="6715125"/>
            <a:ext cx="4185277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C3CBA454-24DE-458D-AAEB-853E147516F6}"/>
              </a:ext>
            </a:extLst>
          </p:cNvPr>
          <p:cNvSpPr>
            <a:spLocks noGrp="1"/>
          </p:cNvSpPr>
          <p:nvPr/>
        </p:nvSpPr>
        <p:spPr>
          <a:xfrm>
            <a:off x="4484420" y="7450649"/>
            <a:ext cx="699845" cy="796183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9D6B203-0840-4559-BCCF-FB60C3EAE482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6CACA13-8C36-4ECE-ABCE-812352A52564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63C9CB0-49FB-4B9E-BC2F-166FAA58ACD5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2DB4897-DF10-40DC-A35C-27A3F4CB9E5B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83922EE-329C-430C-82D0-108D1FAB5024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0" name="local_gt" descr="9LLG local_gt; native ChimeraX; source C:\Users\15919\Desktop\论文草稿\画图\formal\E2E_flow_20261003\9llg\renders\local_gt.png; editable crop only"/>
          <p:cNvPicPr>
            <a:picLocks noChangeAspect="1"/>
          </p:cNvPicPr>
          <p:nvPr/>
        </p:nvPicPr>
        <p:blipFill>
          <a:blip r:embed="rId8"/>
          <a:srcRect l="7917" r="7569"/>
          <a:stretch>
            <a:fillRect/>
          </a:stretch>
        </p:blipFill>
        <p:spPr>
          <a:xfrm>
            <a:off x="8051491" y="7115175"/>
            <a:ext cx="3756642" cy="3333750"/>
          </a:xfrm>
          <a:prstGeom prst="rect">
            <a:avLst/>
          </a:prstGeom>
        </p:spPr>
      </p:pic>
      <p:pic>
        <p:nvPicPr>
          <p:cNvPr id="161" name="local_find" descr="9LLG local_find; native ChimeraX; source C:\Users\15919\Desktop\论文草稿\画图\formal\E2E_flow_20261003\9llg\renders\local_find.png; editable crop only"/>
          <p:cNvPicPr>
            <a:picLocks noChangeAspect="1"/>
          </p:cNvPicPr>
          <p:nvPr/>
        </p:nvPicPr>
        <p:blipFill>
          <a:blip r:embed="rId9"/>
          <a:srcRect l="7917" r="7569"/>
          <a:stretch>
            <a:fillRect/>
          </a:stretch>
        </p:blipFill>
        <p:spPr>
          <a:xfrm>
            <a:off x="12385366" y="7115175"/>
            <a:ext cx="3756642" cy="3333750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EDF98519-5605-454B-9B2B-B8B9EFFA4BDD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F225954-4604-4027-9E02-22A8470C2B3E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18D018E-4CE4-472A-8D2E-02CFF6EA5B58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D0E1DF5-F6D3-41BE-9236-4C244ADD1EE7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DD56616-78FC-4B36-B0C6-6A7C1D25EDBD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59E22DF3-967A-431E-99E2-A4642A6F8459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A4D1918-51AC-446A-ABF4-6409911D1285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Identity1</a:t>
            </a:r>
          </a:p>
        </p:txBody>
      </p:sp>
      <p:pic>
        <p:nvPicPr>
          <p:cNvPr id="169" name="图形 16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380453"/>
            <a:ext cx="4552950" cy="1794795"/>
          </a:xfrm>
          <a:prstGeom prst="rect">
            <a:avLst/>
          </a:prstGeom>
        </p:spPr>
      </p:pic>
      <p:sp>
        <p:nvSpPr>
          <p:cNvPr id="70" name="Identity 2">
            <a:extLst>
              <a:ext uri="{FF2B5EF4-FFF2-40B4-BE49-F238E27FC236}">
                <a16:creationId xmlns:a16="http://schemas.microsoft.com/office/drawing/2014/main" id="{CEAE535E-9690-4333-8C99-2C7D7420F8D6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E84A471-BE91-4073-945C-C4455AED0C3A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2  A1EKL</a:t>
            </a:r>
          </a:p>
        </p:txBody>
      </p:sp>
      <p:pic>
        <p:nvPicPr>
          <p:cNvPr id="172" name="图形 17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486525" y="12328296"/>
            <a:ext cx="4552950" cy="1899108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FEAD430E-0061-45E7-BBDB-146696BEE50C}"/>
              </a:ext>
            </a:extLst>
          </p:cNvPr>
          <p:cNvSpPr>
            <a:spLocks noGrp="1"/>
          </p:cNvSpPr>
          <p:nvPr/>
        </p:nvSpPr>
        <p:spPr>
          <a:xfrm>
            <a:off x="65151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4" name="Identity 3">
            <a:extLst>
              <a:ext uri="{FF2B5EF4-FFF2-40B4-BE49-F238E27FC236}">
                <a16:creationId xmlns:a16="http://schemas.microsoft.com/office/drawing/2014/main" id="{7DE7A990-FFFE-4318-B1E8-832A8B17975D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14A7C4A-D13F-4C9B-A4E4-A62990A55C27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6" name="图形 1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1591925" y="12475927"/>
            <a:ext cx="4552950" cy="1603845"/>
          </a:xfrm>
          <a:prstGeom prst="rect">
            <a:avLst/>
          </a:prstGeom>
        </p:spPr>
      </p:pic>
      <p:sp>
        <p:nvSpPr>
          <p:cNvPr id="77" name="椭圆 76">
            <a:extLst>
              <a:ext uri="{FF2B5EF4-FFF2-40B4-BE49-F238E27FC236}">
                <a16:creationId xmlns:a16="http://schemas.microsoft.com/office/drawing/2014/main" id="{C05E8358-200E-4894-89BC-F7384830FF33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1027EF6C-B889-4F80-9706-FAD66D6F3F0E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B02AA590-B96E-46CD-99E0-BD2A1ACA9CD2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282EB5DA-6D87-417B-B22C-C11AC1FFF295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D9C60D3-1DCB-43CC-A114-6A4258B0F568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34F8E71-9BF3-48A8-AF6B-AFCEAB22DCA9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3" name="dock_receptor" descr="9LLG dock_receptor; native ChimeraX; source C:\Users\15919\Desktop\论文草稿\画图\formal\E2E_flow_20261003\9llg\renders\dock_receptor.png; editable crop only"/>
          <p:cNvPicPr>
            <a:picLocks noChangeAspect="1"/>
          </p:cNvPicPr>
          <p:nvPr/>
        </p:nvPicPr>
        <p:blipFill>
          <a:blip r:embed="rId13"/>
          <a:srcRect l="2083" r="278"/>
          <a:stretch>
            <a:fillRect/>
          </a:stretch>
        </p:blipFill>
        <p:spPr>
          <a:xfrm>
            <a:off x="1664229" y="15944850"/>
            <a:ext cx="3720042" cy="2857500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81CCBF09-AEEE-4520-BC43-298218FCA953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0B7E9DF-B1B7-4C6C-920E-05BF4DE8EE88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6" name="dock_density" descr="9LLG dock_density; native ChimeraX; source C:\Users\15919\Desktop\论文草稿\画图\formal\E2E_flow_20261003\9llg\renders\dock_density.png; editable crop only"/>
          <p:cNvPicPr>
            <a:picLocks noChangeAspect="1"/>
          </p:cNvPicPr>
          <p:nvPr/>
        </p:nvPicPr>
        <p:blipFill>
          <a:blip r:embed="rId14"/>
          <a:srcRect l="2083" r="278"/>
          <a:stretch>
            <a:fillRect/>
          </a:stretch>
        </p:blipFill>
        <p:spPr>
          <a:xfrm>
            <a:off x="6902979" y="15944850"/>
            <a:ext cx="3720042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41B90D40-79F5-4475-B6D2-45BA0D0A071C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B821DD3-F2C2-4B40-9F17-12163BEEE6EB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89" name="dock_gt_overlay" descr="9LLG dock_gt_overlay; native ChimeraX; source C:\Users\15919\Desktop\论文草稿\画图\formal\E2E_flow_20261003\9llg\renders\dock_gt_overlay.png; editable crop only"/>
          <p:cNvPicPr>
            <a:picLocks noChangeAspect="1"/>
          </p:cNvPicPr>
          <p:nvPr/>
        </p:nvPicPr>
        <p:blipFill>
          <a:blip r:embed="rId15"/>
          <a:srcRect l="2083" r="278"/>
          <a:stretch>
            <a:fillRect/>
          </a:stretch>
        </p:blipFill>
        <p:spPr>
          <a:xfrm>
            <a:off x="12141729" y="15944850"/>
            <a:ext cx="3720042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364EEBB1-DEEE-4A03-AC00-B7AED0845155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0.88 Å</a:t>
            </a:r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738DCD20-AECC-4963-8D5A-D6FF4AB6637B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C3C239-96FA-42C3-925A-EE03A971B4E8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B33051E-DFB7-4691-9D5B-AF3F753716DA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8605FC4C-BF71-4715-B4CD-911460987A37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F2C49C0B-FE77-431A-8EE9-F0FEF60F3103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ACBF10C-FE8B-4D65-8B93-8F24B2BD69C8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E599A4A8-0C0A-4006-8032-23AC8D2A9476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0C26DF4E-DEB8-4457-9B9F-A1724139E82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A0F16A07-BC9E-4765-9268-58854D2B624E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A4E03D8F-AC6C-414C-B067-874BE9576BB7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0410328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矩形 100">
            <a:extLst>
              <a:ext uri="{FF2B5EF4-FFF2-40B4-BE49-F238E27FC236}">
                <a16:creationId xmlns:a16="http://schemas.microsoft.com/office/drawing/2014/main" id="{6E8A190C-351A-4336-88ED-54BFE6C16E3B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9BJJ  ATP (B:901)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9D17AE-11D6-4C86-B315-586F35A64901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F9E167DD-403D-428D-8E8E-BE019F0A1A07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9E910063-4521-4527-9ACC-38F72E5AE181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61D30FA-86FA-400A-84CC-3E7BC5D905B7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586F4018-FBCA-49DB-82DB-C92F9B132BC8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F265B55F-7BDD-4DC7-B8B9-FD39CDBD034B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0104540-03D2-4885-8A9C-758808CD1FCC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FD498706-DFA7-4F4C-838D-9B734DAB4FC9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C05B2FF0-D018-432E-99E4-E65A37EED0D8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5B18EE52-48C4-4AFE-8264-380B689B31B2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1D26ECB-C81C-40C6-9871-5A1CEF133012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8CD5A9-77EF-4202-B434-00CF9C34217B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26BA89-5DFE-4896-9F73-380DC458DEC0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347E5258-A873-4D83-9276-CF9146555350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0B5B8C0-A097-42C4-9CEA-36822EB0382B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F00FD17-40BA-4F26-AD41-E8499F3808AF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8" name="global_density_same_scale" descr="9BJJ global_density_same_scale; native ChimeraX; source C:\Users\15919\Desktop\论文草稿\画图\formal\E2E_flow_v2_20261003\9bjj\renders\global_density_same_scale.png; editable crop only"/>
          <p:cNvPicPr>
            <a:picLocks noChangeAspect="1"/>
          </p:cNvPicPr>
          <p:nvPr/>
        </p:nvPicPr>
        <p:blipFill>
          <a:blip r:embed="rId4"/>
          <a:srcRect l="23623" t="10273" r="23038" b="11437"/>
          <a:stretch>
            <a:fillRect/>
          </a:stretch>
        </p:blipFill>
        <p:spPr>
          <a:xfrm>
            <a:off x="2226370" y="2476500"/>
            <a:ext cx="2595760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EB830DB4-7188-4396-8EAD-694DD3E59093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0B0EF7B-EC9E-438F-BE9C-FDE151264276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1" name="global_ca2" descr="9BJJ global_ca2; native ChimeraX; source C:\Users\15919\Desktop\论文草稿\画图\formal\E2E_flow_20261003\9bjj\renders\global_ca2.png; editable crop only"/>
          <p:cNvPicPr>
            <a:picLocks noChangeAspect="1"/>
          </p:cNvPicPr>
          <p:nvPr/>
        </p:nvPicPr>
        <p:blipFill>
          <a:blip r:embed="rId5"/>
          <a:srcRect l="23623" t="10273" r="23038" b="11437"/>
          <a:stretch>
            <a:fillRect/>
          </a:stretch>
        </p:blipFill>
        <p:spPr>
          <a:xfrm>
            <a:off x="7465120" y="2476500"/>
            <a:ext cx="2595760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EE0DA118-D2BF-4E1A-9E11-CE96A3BE0D2D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1F4E77B-A591-4D2E-B11F-1ADB9149062E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4" name="global_gt" descr="9BJJ global_gt; native ChimeraX; source C:\Users\15919\Desktop\论文草稿\画图\formal\E2E_flow_20261003\9bjj\renders\global_gt.png; editable crop only"/>
          <p:cNvPicPr>
            <a:picLocks noChangeAspect="1"/>
          </p:cNvPicPr>
          <p:nvPr/>
        </p:nvPicPr>
        <p:blipFill>
          <a:blip r:embed="rId6"/>
          <a:srcRect l="23623" t="10273" r="23038" b="11437"/>
          <a:stretch>
            <a:fillRect/>
          </a:stretch>
        </p:blipFill>
        <p:spPr>
          <a:xfrm>
            <a:off x="12703870" y="2476500"/>
            <a:ext cx="2595760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D622CF6-F0C9-435E-8ECA-CCD0C126AC9C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3D470473-3BB8-4424-B028-0C5D4A35EBD5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9C6DC44-DFF5-4BCC-88AF-D71EECDD2B7C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EE1F60E-E99B-47A8-AB0A-367645A72212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232CB3F-CBC3-4757-B0AC-980A3FD2A240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5A5A8EF2-DFFC-46D9-8A71-B20ECA065466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E6F0BF2C-FDB7-4489-85F7-9122EFFFCCE8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DBAAEDC8-1D19-4406-A7FB-07F4A2B173D4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4F8DECE4-2AF4-47A8-93D7-38D6EA37D22D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992961F8-0967-48C5-A243-7DCC051E31C0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2FC7FEC-59E8-4CF7-98CD-5CC67C4D8051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04AA7B1-A70F-4E0D-B33B-C176CFFFA69F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9680BE15-7E49-407F-A9BB-52036E72EE00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DD947AA1-C2D0-4581-AD02-59BCA992E24B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403F339-618A-4102-BAEC-A0991F9F8187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94206DCF-BD58-42FC-90FA-CE4EF3FB028D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B155BB60-EE24-4D8B-B76E-D1806F2E9F67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917F37-361A-403D-B8BB-1906BE42DF7D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DF4CD8A7-9635-4C69-9593-E8C6F205C9A6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9248BDF-8505-4E7D-92B2-73CB409EF2ED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99D98EF7-5536-4BDB-8FA2-28E81540BB79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CE351459-6B5A-441B-9188-D0C12663A9FA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B3672FB7-3C2F-4621-A8EA-157B678318D9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4FCBC44-1E45-4D6C-8A0A-924A2676C8C9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7BC6CF5-D62B-4A26-BBF1-990E34EEEEF4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A6E7C52D-7662-4C16-B39B-83855F702029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20A6E3-35C4-4781-811A-D9219C95A30A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45D12D5-09F2-409B-8849-0E3FE17A33A6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3" name="global_find" descr="9BJJ global_find; native ChimeraX; source C:\Users\15919\Desktop\论文草稿\画图\formal\E2E_flow_v2_20261003\9bjj\renders\global_find.png; editable crop only"/>
          <p:cNvPicPr>
            <a:picLocks noChangeAspect="1"/>
          </p:cNvPicPr>
          <p:nvPr/>
        </p:nvPicPr>
        <p:blipFill>
          <a:blip r:embed="rId7"/>
          <a:srcRect l="23623" t="10273" r="23038" b="11437"/>
          <a:stretch>
            <a:fillRect/>
          </a:stretch>
        </p:blipFill>
        <p:spPr>
          <a:xfrm>
            <a:off x="2330705" y="6715125"/>
            <a:ext cx="3720590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26AD5E49-1FFE-43FB-987E-69DD1F0C2C11}"/>
              </a:ext>
            </a:extLst>
          </p:cNvPr>
          <p:cNvSpPr>
            <a:spLocks noGrp="1"/>
          </p:cNvSpPr>
          <p:nvPr/>
        </p:nvSpPr>
        <p:spPr>
          <a:xfrm>
            <a:off x="3387097" y="7605493"/>
            <a:ext cx="610291" cy="606721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3C33B57-64F9-46BB-89C2-686FE3D3AAD1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2E6972F-F193-472B-A261-C38A57A49217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196A30A-4E89-45AB-8AC9-84E16EB4ACF7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9E6268A-896A-4376-B92C-435EA5880054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35D9102-50F1-4E05-B1E0-BF360EE18FE8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0" name="local_gt" descr="9BJJ local_gt; native ChimeraX; source C:\Users\15919\Desktop\论文草稿\画图\formal\E2E_flow_20261003\9bjj\renders\local_gt.png; editable crop only"/>
          <p:cNvPicPr>
            <a:picLocks noChangeAspect="1"/>
          </p:cNvPicPr>
          <p:nvPr/>
        </p:nvPicPr>
        <p:blipFill>
          <a:blip r:embed="rId8"/>
          <a:srcRect l="278" t="4352" r="13472"/>
          <a:stretch>
            <a:fillRect/>
          </a:stretch>
        </p:blipFill>
        <p:spPr>
          <a:xfrm>
            <a:off x="7925690" y="7115175"/>
            <a:ext cx="4008245" cy="3333750"/>
          </a:xfrm>
          <a:prstGeom prst="rect">
            <a:avLst/>
          </a:prstGeom>
        </p:spPr>
      </p:pic>
      <p:pic>
        <p:nvPicPr>
          <p:cNvPr id="161" name="local_find" descr="9BJJ local_find; native ChimeraX; source C:\Users\15919\Desktop\论文草稿\画图\formal\E2E_flow_20261003\9bjj\renders\local_find.png; editable crop only"/>
          <p:cNvPicPr>
            <a:picLocks noChangeAspect="1"/>
          </p:cNvPicPr>
          <p:nvPr/>
        </p:nvPicPr>
        <p:blipFill>
          <a:blip r:embed="rId9"/>
          <a:srcRect l="278" t="4352" r="13472"/>
          <a:stretch>
            <a:fillRect/>
          </a:stretch>
        </p:blipFill>
        <p:spPr>
          <a:xfrm>
            <a:off x="12259565" y="7115175"/>
            <a:ext cx="4008245" cy="3333750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60C90354-E804-477A-98C4-B074AE0E3A24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EDCEFB7-A4FC-46C2-81E3-5B625A4FF2EA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F3C585D-3820-4631-BFEE-9E332511A465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0F4FAFED-5347-4700-A20B-CBADE319D7D8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6B2DBC9-223B-4209-9183-8D3FAB9961F8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DD23A57E-5BEE-47C8-8B1B-C0BC2C0B25CD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DE6385C-C978-4127-850A-1496E02D0F1E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ATP</a:t>
            </a:r>
          </a:p>
        </p:txBody>
      </p:sp>
      <p:pic>
        <p:nvPicPr>
          <p:cNvPr id="169" name="图形 16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280005"/>
            <a:ext cx="4552950" cy="1995690"/>
          </a:xfrm>
          <a:prstGeom prst="rect">
            <a:avLst/>
          </a:prstGeom>
        </p:spPr>
      </p:pic>
      <p:sp>
        <p:nvSpPr>
          <p:cNvPr id="70" name="矩形 69">
            <a:extLst>
              <a:ext uri="{FF2B5EF4-FFF2-40B4-BE49-F238E27FC236}">
                <a16:creationId xmlns:a16="http://schemas.microsoft.com/office/drawing/2014/main" id="{74E31AFC-40E2-464B-A244-5C5B3C78DD83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1" name="Identity 2">
            <a:extLst>
              <a:ext uri="{FF2B5EF4-FFF2-40B4-BE49-F238E27FC236}">
                <a16:creationId xmlns:a16="http://schemas.microsoft.com/office/drawing/2014/main" id="{7043BE07-3426-4571-BDB3-DF6365495AA0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4160CDE-E29B-4996-9A80-82FAEE938B2E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3" name="图形 17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850513" y="12230100"/>
            <a:ext cx="3824974" cy="2095500"/>
          </a:xfrm>
          <a:prstGeom prst="rect">
            <a:avLst/>
          </a:prstGeom>
        </p:spPr>
      </p:pic>
      <p:sp>
        <p:nvSpPr>
          <p:cNvPr id="74" name="Identity 3">
            <a:extLst>
              <a:ext uri="{FF2B5EF4-FFF2-40B4-BE49-F238E27FC236}">
                <a16:creationId xmlns:a16="http://schemas.microsoft.com/office/drawing/2014/main" id="{331C57FC-6C88-4F4C-905E-AC56640C2BB0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3FE0653-A18E-4CC6-9FE7-75127853B621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6" name="图形 1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222224" y="12896850"/>
            <a:ext cx="1292352" cy="762000"/>
          </a:xfrm>
          <a:prstGeom prst="rect">
            <a:avLst/>
          </a:prstGeom>
        </p:spPr>
      </p:pic>
      <p:sp>
        <p:nvSpPr>
          <p:cNvPr id="77" name="椭圆 76">
            <a:extLst>
              <a:ext uri="{FF2B5EF4-FFF2-40B4-BE49-F238E27FC236}">
                <a16:creationId xmlns:a16="http://schemas.microsoft.com/office/drawing/2014/main" id="{3C2A00A1-8C8B-4411-B931-C0ED30D1D5D6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F28F304-C183-4452-8580-818304FA9831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5185AE9-A89B-4830-BDEA-DEBEBCA2D673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88690496-7BE9-4FD1-AB7F-ABCA4DB38234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2E92A20-3C12-450E-A333-BA7CA199081C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4B39306-9399-472C-ADF6-A6CBDC526C35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3" name="dock_receptor" descr="9BJJ dock_receptor; native ChimeraX; source C:\Users\15919\Desktop\论文草稿\画图\formal\E2E_flow_20261003\9bjj\renders\dock_receptor.png; editable crop only"/>
          <p:cNvPicPr>
            <a:picLocks noChangeAspect="1"/>
          </p:cNvPicPr>
          <p:nvPr/>
        </p:nvPicPr>
        <p:blipFill>
          <a:blip r:embed="rId13"/>
          <a:srcRect r="9792"/>
          <a:stretch>
            <a:fillRect/>
          </a:stretch>
        </p:blipFill>
        <p:spPr>
          <a:xfrm>
            <a:off x="1805781" y="15944850"/>
            <a:ext cx="3436938" cy="2857500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9A070CD1-BEDC-460B-BF2D-F4181FC0A0CD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E17CA57-C2A9-4B2F-A9C5-A737B999716D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6" name="dock_density" descr="9BJJ dock_density; native ChimeraX; source C:\Users\15919\Desktop\论文草稿\画图\formal\E2E_flow_20261003\9bjj\renders\dock_density.png; editable crop only"/>
          <p:cNvPicPr>
            <a:picLocks noChangeAspect="1"/>
          </p:cNvPicPr>
          <p:nvPr/>
        </p:nvPicPr>
        <p:blipFill>
          <a:blip r:embed="rId14"/>
          <a:srcRect r="9792"/>
          <a:stretch>
            <a:fillRect/>
          </a:stretch>
        </p:blipFill>
        <p:spPr>
          <a:xfrm>
            <a:off x="7044531" y="15944850"/>
            <a:ext cx="3436938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C3D6653A-C69D-4536-9B18-CD515804AFB6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EFCE48DF-761C-480D-9D99-633CD33FAD1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89" name="dock_gt_overlay" descr="9BJJ dock_gt_overlay; native ChimeraX; source C:\Users\15919\Desktop\论文草稿\画图\formal\E2E_flow_20261003\9bjj\renders\dock_gt_overlay.png; editable crop only"/>
          <p:cNvPicPr>
            <a:picLocks noChangeAspect="1"/>
          </p:cNvPicPr>
          <p:nvPr/>
        </p:nvPicPr>
        <p:blipFill>
          <a:blip r:embed="rId15"/>
          <a:srcRect r="9792"/>
          <a:stretch>
            <a:fillRect/>
          </a:stretch>
        </p:blipFill>
        <p:spPr>
          <a:xfrm>
            <a:off x="12283281" y="15944850"/>
            <a:ext cx="3436938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CAA8BF99-D1AB-475B-B883-6D5F55EE1AF5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0.80 Å</a:t>
            </a:r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ACD35CF8-B905-4AC9-B339-45C8ECD5405D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5130618C-BE09-40B2-ABD6-CE38CE29D242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92DC0326-C0F1-4085-BA5A-E8F90950883E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AF1A507-67F5-47B3-9DA0-9EF5E01C9E28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69B3AC0E-1AC9-481F-AD05-C33E26672DE9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FFBD9E7D-BCCC-473F-A19C-13A360D97E4C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385FA8E-5AB4-4F62-B84D-3A7E9F2B401B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81A1B17-89A8-4934-AB8B-5E4486AD414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190BEA7D-965F-4B8A-9294-05AB18B6CBA7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9DE3FD7A-6E8D-4924-98C7-42FCD1886C02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77303810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0056FC55-D0A1-496A-A73D-B43D44F078BB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30GA  ATP (N:401)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71334A-D5CD-4385-84A0-9A965C3AE2B2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Background at rank 1, successful reconstruction at rank 2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CBD98F11-DF83-4CCA-A82C-4FCD4A50584D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77DBCEC3-FEC8-4DC0-BD60-5C3071DE44E0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B1AF566D-AE09-43E1-B0B2-A5C821F4ECC6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EF493587-96F2-4359-9AE0-8BC55742BCC7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C374519-0ADA-4C12-BE50-CA0FE32BF740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911F2B84-8015-40B7-B2F1-842CF758B4C6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3BD2191-8757-46AB-9201-BC24777E1FE4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98F18571-2715-4DF9-B30A-B104CFFFD759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D3DAF062-6CE5-4462-86E5-32866CA6AAFF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EA26B35-514B-4129-A802-0EADF2FB6A33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6F5C38-42ED-4C77-A94D-C892CE5A64C9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0456305-27B3-4A18-AAB6-9158E1A022E7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F28163E4-F6FB-475E-AE08-DF5DA617B855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5DCF1A9-DD68-42B6-B5E1-6BFAAAD4E510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3A885A-E56D-4855-BA59-445EAE6B2CEF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9" name="global_density_same_scale" descr="30GA global_density_same_scale; native ChimeraX; source C:\Users\15919\Desktop\论文草稿\画图\formal\E2E_flow_v2_20261003\30ga\renders\global_density_same_scale.png; editable crop only"/>
          <p:cNvPicPr>
            <a:picLocks noChangeAspect="1"/>
          </p:cNvPicPr>
          <p:nvPr/>
        </p:nvPicPr>
        <p:blipFill>
          <a:blip r:embed="rId4"/>
          <a:srcRect l="25424" t="11120" r="24556" b="6217"/>
          <a:stretch>
            <a:fillRect/>
          </a:stretch>
        </p:blipFill>
        <p:spPr>
          <a:xfrm>
            <a:off x="2371521" y="2476500"/>
            <a:ext cx="2305458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D20EC9C5-701D-4AEA-8F04-6BFFA4A2EC7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2D4B86-DE13-42A7-A2DF-637E40A70150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2" name="global_ca2" descr="30GA global_ca2; native ChimeraX; source C:\Users\15919\Desktop\论文草稿\画图\formal\E2E_flow_20261003\30ga\renders\global_ca2.png; editable crop only"/>
          <p:cNvPicPr>
            <a:picLocks noChangeAspect="1"/>
          </p:cNvPicPr>
          <p:nvPr/>
        </p:nvPicPr>
        <p:blipFill>
          <a:blip r:embed="rId5"/>
          <a:srcRect l="25424" t="11120" r="24556" b="6217"/>
          <a:stretch>
            <a:fillRect/>
          </a:stretch>
        </p:blipFill>
        <p:spPr>
          <a:xfrm>
            <a:off x="7610271" y="2476500"/>
            <a:ext cx="2305458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D9C0B9F8-88A1-4CFC-AD18-480218B5AD65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D6583E1-7CA9-45F4-872E-274925639CDC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5" name="global_gt" descr="30GA global_gt; native ChimeraX; source C:\Users\15919\Desktop\论文草稿\画图\formal\E2E_flow_20261003\30ga\renders\global_gt.png; editable crop only"/>
          <p:cNvPicPr>
            <a:picLocks noChangeAspect="1"/>
          </p:cNvPicPr>
          <p:nvPr/>
        </p:nvPicPr>
        <p:blipFill>
          <a:blip r:embed="rId6"/>
          <a:srcRect l="25424" t="11120" r="24556" b="6217"/>
          <a:stretch>
            <a:fillRect/>
          </a:stretch>
        </p:blipFill>
        <p:spPr>
          <a:xfrm>
            <a:off x="12849021" y="2476500"/>
            <a:ext cx="2305458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87E6E328-4738-4412-A529-471133FC4ABD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2BF4537C-2576-4483-933F-DF4F340BA8BB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D493BF1-9F92-4EDD-9A19-19DF06665B49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BDA41FE7-F222-49CB-ADD4-3096DBC1306F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539AEACA-8243-4079-B759-C6A93A9DA634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65D5534F-D8FC-423A-8412-30C7195E7F3A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24D76DA2-E76D-4436-98FA-3BE95CAC1C00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B9F2CDDA-AAE3-47A0-9462-272DFA93C2D3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880538F2-5DF9-4FAE-B986-7681B3811442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EB2F8EC0-2BFB-4845-948D-8B1709C2E81E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5B4427B-B22F-4BB1-B18B-71601E2B1BF6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77A30840-12BD-44D2-B730-F2D2AE4A9846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BA7DD094-BA65-4173-84D9-598B175A6E3F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66502B7-08A4-46B1-875B-F674E1B7F7E1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95594F54-DD9D-4B0C-9923-93482A862814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5BFF7372-E0CF-444A-8D93-78A8A563390E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25EEBEC1-13EC-4391-BA1B-87B3B7421C09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FC8B96E8-2F48-421E-A13A-55BD80591209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53705AE6-DB6A-40FB-8515-8DDCB54E85B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A98A5839-C716-4F82-B577-B16AA10148A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E1C5BA98-5179-4A91-B24C-396790C51645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BB01C76C-189B-4729-91AA-C7C12216E2C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1562659-307B-4F60-AC2C-9C5A777FDBC7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6A76CEC-A2E7-4487-9B91-E508C1C13232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92DA808-51EA-4865-BC46-929E7057653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77917790-EB56-4FAC-9A03-02D9ACA39AA4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104F452-3E22-4E00-9E1D-C0209BE7D7A1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C83A242-C727-44E5-A1CA-1DDD84E5B8F9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4" name="global_find" descr="30GA global_find; native ChimeraX; source C:\Users\15919\Desktop\论文草稿\画图\formal\E2E_flow_v2_20261003\30ga\renders\global_find.png; editable crop only"/>
          <p:cNvPicPr>
            <a:picLocks noChangeAspect="1"/>
          </p:cNvPicPr>
          <p:nvPr/>
        </p:nvPicPr>
        <p:blipFill>
          <a:blip r:embed="rId7"/>
          <a:srcRect l="25424" t="11120" r="24658" b="6217"/>
          <a:stretch>
            <a:fillRect/>
          </a:stretch>
        </p:blipFill>
        <p:spPr>
          <a:xfrm>
            <a:off x="2542117" y="6715125"/>
            <a:ext cx="3297766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541B3D7D-B162-442D-8C0F-242ABB5F90B4}"/>
              </a:ext>
            </a:extLst>
          </p:cNvPr>
          <p:cNvSpPr>
            <a:spLocks noGrp="1"/>
          </p:cNvSpPr>
          <p:nvPr/>
        </p:nvSpPr>
        <p:spPr>
          <a:xfrm>
            <a:off x="3361109" y="8544216"/>
            <a:ext cx="425874" cy="391269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background blob 0">
            <a:extLst>
              <a:ext uri="{FF2B5EF4-FFF2-40B4-BE49-F238E27FC236}">
                <a16:creationId xmlns:a16="http://schemas.microsoft.com/office/drawing/2014/main" id="{6FDB48F2-821F-4B97-902A-9BFD07FC0807}"/>
              </a:ext>
            </a:extLst>
          </p:cNvPr>
          <p:cNvSpPr>
            <a:spLocks noGrp="1"/>
          </p:cNvSpPr>
          <p:nvPr/>
        </p:nvSpPr>
        <p:spPr>
          <a:xfrm>
            <a:off x="3583277" y="7764066"/>
            <a:ext cx="367019" cy="367019"/>
          </a:xfrm>
          <a:prstGeom prst="rect">
            <a:avLst/>
          </a:prstGeom>
          <a:noFill/>
          <a:ln w="28575">
            <a:solidFill>
              <a:srgbClr val="9F87A9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8F7FF78-C683-4F24-BBB2-B1EF0C215456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4918899-3D3A-4360-B015-EB3DF24BAE03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DBF07CD-E9AE-4002-A87F-147339430ABF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14545ED-6CBF-439C-B1A8-3AA215129672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369783-1D04-4B3E-95A7-C1325A15CCEC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9F87A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F87A9"/>
                </a:solidFill>
                <a:latin typeface="Arial"/>
                <a:ea typeface="Arial"/>
                <a:cs typeface="Arial"/>
              </a:rPr>
              <a:t>Rank 1: background, one attempt</a:t>
            </a:r>
          </a:p>
        </p:txBody>
      </p:sp>
      <p:pic>
        <p:nvPicPr>
          <p:cNvPr id="162" name="background_gt" descr="30GA background_gt; native ChimeraX; source C:\Users\15919\Desktop\论文草稿\画图\formal\E2E_flow_20261003\30ga\renders\background_gt.png; editable crop only"/>
          <p:cNvPicPr>
            <a:picLocks noChangeAspect="1"/>
          </p:cNvPicPr>
          <p:nvPr/>
        </p:nvPicPr>
        <p:blipFill>
          <a:blip r:embed="rId8"/>
          <a:srcRect l="29167" t="30741" r="27361" b="22963"/>
          <a:stretch>
            <a:fillRect/>
          </a:stretch>
        </p:blipFill>
        <p:spPr>
          <a:xfrm>
            <a:off x="8886349" y="7096125"/>
            <a:ext cx="2086928" cy="1666875"/>
          </a:xfrm>
          <a:prstGeom prst="rect">
            <a:avLst/>
          </a:prstGeom>
        </p:spPr>
      </p:pic>
      <p:pic>
        <p:nvPicPr>
          <p:cNvPr id="163" name="background_find" descr="30GA background_find; native ChimeraX; source C:\Users\15919\Desktop\论文草稿\画图\formal\E2E_flow_20261003\30ga\renders\background_find.png; editable crop only"/>
          <p:cNvPicPr>
            <a:picLocks noChangeAspect="1"/>
          </p:cNvPicPr>
          <p:nvPr/>
        </p:nvPicPr>
        <p:blipFill>
          <a:blip r:embed="rId9"/>
          <a:srcRect l="29167" t="30741" r="27361" b="22963"/>
          <a:stretch>
            <a:fillRect/>
          </a:stretch>
        </p:blipFill>
        <p:spPr>
          <a:xfrm>
            <a:off x="13220224" y="7096125"/>
            <a:ext cx="2086928" cy="1666875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90FB0AE8-6B25-4F2E-B0D6-2AECDFA60BFF}"/>
              </a:ext>
            </a:extLst>
          </p:cNvPr>
          <p:cNvSpPr>
            <a:spLocks noGrp="1"/>
          </p:cNvSpPr>
          <p:nvPr/>
        </p:nvSpPr>
        <p:spPr>
          <a:xfrm>
            <a:off x="7905750" y="878205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ligand, next attempt</a:t>
            </a:r>
          </a:p>
        </p:txBody>
      </p:sp>
      <p:pic>
        <p:nvPicPr>
          <p:cNvPr id="165" name="local_gt" descr="30GA local_gt; native ChimeraX; source C:\Users\15919\Desktop\论文草稿\画图\formal\E2E_flow_20261003\30ga\renders\local_gt.png; editable crop only"/>
          <p:cNvPicPr>
            <a:picLocks noChangeAspect="1"/>
          </p:cNvPicPr>
          <p:nvPr/>
        </p:nvPicPr>
        <p:blipFill>
          <a:blip r:embed="rId10"/>
          <a:srcRect l="13403" r="8125" b="11667"/>
          <a:stretch>
            <a:fillRect/>
          </a:stretch>
        </p:blipFill>
        <p:spPr>
          <a:xfrm>
            <a:off x="8942617" y="9163050"/>
            <a:ext cx="1974391" cy="1666875"/>
          </a:xfrm>
          <a:prstGeom prst="rect">
            <a:avLst/>
          </a:prstGeom>
        </p:spPr>
      </p:pic>
      <p:pic>
        <p:nvPicPr>
          <p:cNvPr id="166" name="local_find" descr="30GA local_find; native ChimeraX; source C:\Users\15919\Desktop\论文草稿\画图\formal\E2E_flow_20261003\30ga\renders\local_find.png; editable crop only"/>
          <p:cNvPicPr>
            <a:picLocks noChangeAspect="1"/>
          </p:cNvPicPr>
          <p:nvPr/>
        </p:nvPicPr>
        <p:blipFill>
          <a:blip r:embed="rId11"/>
          <a:srcRect l="13403" r="8125" b="11667"/>
          <a:stretch>
            <a:fillRect/>
          </a:stretch>
        </p:blipFill>
        <p:spPr>
          <a:xfrm>
            <a:off x="13276492" y="9163050"/>
            <a:ext cx="1974391" cy="1666875"/>
          </a:xfrm>
          <a:prstGeom prst="rect">
            <a:avLst/>
          </a:prstGeom>
        </p:spPr>
      </p:pic>
      <p:sp>
        <p:nvSpPr>
          <p:cNvPr id="66" name="椭圆 65">
            <a:extLst>
              <a:ext uri="{FF2B5EF4-FFF2-40B4-BE49-F238E27FC236}">
                <a16:creationId xmlns:a16="http://schemas.microsoft.com/office/drawing/2014/main" id="{563B8205-B31E-47C7-87C4-6785A215234A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569CFF6-7AA2-46D2-805D-0BC0AE1F6A6D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82CE6C27-F35E-4587-B200-292ABB502E6D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9" name="任意多边形: 形状 68">
            <a:extLst>
              <a:ext uri="{FF2B5EF4-FFF2-40B4-BE49-F238E27FC236}">
                <a16:creationId xmlns:a16="http://schemas.microsoft.com/office/drawing/2014/main" id="{39359385-CA51-400A-84B9-DFFB40B1AFDC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D3312FB-3082-4479-8C5E-49009C460887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1" name="Identity 1">
            <a:extLst>
              <a:ext uri="{FF2B5EF4-FFF2-40B4-BE49-F238E27FC236}">
                <a16:creationId xmlns:a16="http://schemas.microsoft.com/office/drawing/2014/main" id="{1327FF95-CDA2-44B8-94A8-FC0C21829C54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73914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CD48B20-BF70-4C18-A6A2-70A9268A3D06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7048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ATP</a:t>
            </a:r>
          </a:p>
        </p:txBody>
      </p:sp>
      <p:pic>
        <p:nvPicPr>
          <p:cNvPr id="174" name="图形 17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543622" y="12230100"/>
            <a:ext cx="4780657" cy="2095500"/>
          </a:xfrm>
          <a:prstGeom prst="rect">
            <a:avLst/>
          </a:prstGeom>
        </p:spPr>
      </p:pic>
      <p:sp>
        <p:nvSpPr>
          <p:cNvPr id="74" name="矩形 73">
            <a:extLst>
              <a:ext uri="{FF2B5EF4-FFF2-40B4-BE49-F238E27FC236}">
                <a16:creationId xmlns:a16="http://schemas.microsoft.com/office/drawing/2014/main" id="{8FCBD187-DE15-4C3F-AAEB-2E649D1D52AC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7048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5" name="Identity 2">
            <a:extLst>
              <a:ext uri="{FF2B5EF4-FFF2-40B4-BE49-F238E27FC236}">
                <a16:creationId xmlns:a16="http://schemas.microsoft.com/office/drawing/2014/main" id="{0B92F1BB-894C-4F50-85C6-338CA5FBCBD6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73914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8116FE30-436A-492E-9CA6-BAA6DC599B93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7048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8" name="图形 17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1945874" y="12896850"/>
            <a:ext cx="1292352" cy="762000"/>
          </a:xfrm>
          <a:prstGeom prst="rect">
            <a:avLst/>
          </a:prstGeom>
        </p:spPr>
      </p:pic>
      <p:sp>
        <p:nvSpPr>
          <p:cNvPr id="78" name="椭圆 77">
            <a:extLst>
              <a:ext uri="{FF2B5EF4-FFF2-40B4-BE49-F238E27FC236}">
                <a16:creationId xmlns:a16="http://schemas.microsoft.com/office/drawing/2014/main" id="{3B7FC672-0D97-4020-BD36-77D036777E29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A947DA2-DD7F-4EE3-B0A5-074C75F2021D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900CFBD-A001-4BCC-8ACC-545EA164E148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E52C77B3-AE90-487D-9495-FF97F99212D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8B579F4-D1A4-4B99-B59F-544D652A09A7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09590B9-3EE8-4F50-875B-4D3BD039F9B6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5" name="dock_receptor" descr="30GA dock_receptor; native ChimeraX; source C:\Users\15919\Desktop\论文草稿\画图\formal\E2E_flow_20261003\30ga\renders\dock_receptor.png; editable crop only"/>
          <p:cNvPicPr>
            <a:picLocks noChangeAspect="1"/>
          </p:cNvPicPr>
          <p:nvPr/>
        </p:nvPicPr>
        <p:blipFill>
          <a:blip r:embed="rId14"/>
          <a:srcRect l="9583" r="3611" b="3426"/>
          <a:stretch>
            <a:fillRect/>
          </a:stretch>
        </p:blipFill>
        <p:spPr>
          <a:xfrm>
            <a:off x="1811942" y="15944850"/>
            <a:ext cx="3424616" cy="2857500"/>
          </a:xfrm>
          <a:prstGeom prst="rect">
            <a:avLst/>
          </a:prstGeom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40170247-1808-46C6-861E-9801039B8C62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CC33AFFC-7489-4837-ADD3-2D9BB5402D7C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8" name="dock_density" descr="30GA dock_density; native ChimeraX; source C:\Users\15919\Desktop\论文草稿\画图\formal\E2E_flow_20261003\30ga\renders\dock_density.png; editable crop only"/>
          <p:cNvPicPr>
            <a:picLocks noChangeAspect="1"/>
          </p:cNvPicPr>
          <p:nvPr/>
        </p:nvPicPr>
        <p:blipFill>
          <a:blip r:embed="rId15"/>
          <a:srcRect l="9583" r="3611" b="3426"/>
          <a:stretch>
            <a:fillRect/>
          </a:stretch>
        </p:blipFill>
        <p:spPr>
          <a:xfrm>
            <a:off x="7050692" y="15944850"/>
            <a:ext cx="3424616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C9EC52B4-4582-426D-A08A-7CE5977DB913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D0BE5346-0237-418D-BCA0-00DC879DC60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1" name="dock_gt_overlay" descr="30GA dock_gt_overlay; native ChimeraX; source C:\Users\15919\Desktop\论文草稿\画图\formal\E2E_flow_20261003\30ga\renders\dock_gt_overlay.png; editable crop only"/>
          <p:cNvPicPr>
            <a:picLocks noChangeAspect="1"/>
          </p:cNvPicPr>
          <p:nvPr/>
        </p:nvPicPr>
        <p:blipFill>
          <a:blip r:embed="rId16"/>
          <a:srcRect l="9583" r="3611" b="3426"/>
          <a:stretch>
            <a:fillRect/>
          </a:stretch>
        </p:blipFill>
        <p:spPr>
          <a:xfrm>
            <a:off x="12289442" y="15944850"/>
            <a:ext cx="3424616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BBF8633F-8A25-4FD9-9846-AD4D50CD3E98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1.04 Å</a:t>
            </a: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CCF4F1-D639-455E-8FBD-18135BC3178F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04A92D1-4DCC-48F4-8B78-6CD8F0696991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FB4CE45D-28BB-452D-8021-6B7D187B56BE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938D2C2-02EB-483F-91EC-1A06E363AE30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1D09957C-85E5-4C2E-B8AA-6148193DADC5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D0E5503C-4B1B-4EFD-A7C4-462051322C25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1901A15-C59B-41FE-8868-2BEA1374194B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E675382-BB7C-45CC-983C-863B211C0B5B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446E71F3-B0D4-440A-B8F3-BB96CDB5AA50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B5B49F2-0ED3-4A70-958B-112C6AA67142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9265770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矩形 104">
            <a:extLst>
              <a:ext uri="{FF2B5EF4-FFF2-40B4-BE49-F238E27FC236}">
                <a16:creationId xmlns:a16="http://schemas.microsoft.com/office/drawing/2014/main" id="{B4300EF5-A3E5-465B-806B-3B0DF428A301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9QRU  A1JAX (B:2801)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603FF7-5270-4B7F-947D-8FBDB2D64D94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Background at rank 1, successful reconstruction at rank 2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2D981AC1-DA3E-4599-9234-446444188926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C3F5A0EA-C028-48E3-935B-73BC07E36A20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5857420-48BA-4958-9703-E31BA4E578D3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F106E19A-3838-460D-8918-2D8E7F95AEDD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7962B80-275E-48E1-8334-7434CAA0400A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7A18B0-9CEF-4289-87CB-9B3A43B098F5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053B2CC-F496-4537-8662-83F1B2DCB21D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750F0F09-5016-4D54-8677-190B1A762C3C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5BE4F559-A946-48BD-A177-A8CC938C4144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97CB978-61A3-4BCB-9956-CA4436493BB4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5D0B88E-330C-454A-A821-B9E51A27669D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7BFCB8A-2358-4373-88E1-CF1271F60414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2EA342B6-8BFC-4209-86F2-02F84155993A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F39A27-284F-4F2C-A1D8-6E36BBCF8577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6B0CC1-2FC4-4B84-A2DA-974D9292F62D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2" name="global_density_same_scale" descr="9QRU global_density_same_scale; native ChimeraX; source C:\Users\15919\Desktop\论文草稿\画图\formal\E2E_flow_v2_20261003\9qru\renders\global_density_same_scale.png; editable crop only"/>
          <p:cNvPicPr>
            <a:picLocks noChangeAspect="1"/>
          </p:cNvPicPr>
          <p:nvPr/>
        </p:nvPicPr>
        <p:blipFill>
          <a:blip r:embed="rId4"/>
          <a:srcRect l="19233" t="17083" r="20357" b="13735"/>
          <a:stretch>
            <a:fillRect/>
          </a:stretch>
        </p:blipFill>
        <p:spPr>
          <a:xfrm>
            <a:off x="1860804" y="2476500"/>
            <a:ext cx="3326892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A98840E9-6017-4C7B-B899-5D162F037D7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CE6E7A5-F702-4D1C-89C4-32D3A338BB56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5" name="global_ca2" descr="9QRU global_ca2; native ChimeraX; source C:\Users\15919\Desktop\论文草稿\画图\formal\E2E_flow_20261003\9qru\renders\global_ca2.png; editable crop only"/>
          <p:cNvPicPr>
            <a:picLocks noChangeAspect="1"/>
          </p:cNvPicPr>
          <p:nvPr/>
        </p:nvPicPr>
        <p:blipFill>
          <a:blip r:embed="rId5"/>
          <a:srcRect l="19233" t="17083" r="20357" b="13735"/>
          <a:stretch>
            <a:fillRect/>
          </a:stretch>
        </p:blipFill>
        <p:spPr>
          <a:xfrm>
            <a:off x="7099554" y="2476500"/>
            <a:ext cx="3326892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F668267E-AEBB-44C4-B44B-F6FEE63EFC5C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0CE058-18C3-4D68-BD10-7C52B71F7F5B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8" name="global_gt" descr="9QRU global_gt; native ChimeraX; source C:\Users\15919\Desktop\论文草稿\画图\formal\E2E_flow_20261003\9qru\renders\global_gt.png; editable crop only"/>
          <p:cNvPicPr>
            <a:picLocks noChangeAspect="1"/>
          </p:cNvPicPr>
          <p:nvPr/>
        </p:nvPicPr>
        <p:blipFill>
          <a:blip r:embed="rId6"/>
          <a:srcRect l="19233" t="17083" r="20357" b="13735"/>
          <a:stretch>
            <a:fillRect/>
          </a:stretch>
        </p:blipFill>
        <p:spPr>
          <a:xfrm>
            <a:off x="12338304" y="2476500"/>
            <a:ext cx="3326892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451FB21C-CC71-4B5F-90B2-7D3E30CBC21D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44FAF477-F764-49BB-A883-A1B4D6F1405A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1381405-1C04-4EC3-8D76-0A9508372CA5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9A048292-1314-4456-9822-CD81D98485D7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7D3966AA-D562-4220-969F-8E8F09A575CF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BF650BA3-AF1A-4F54-91BE-8DF9DE4746FE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D24B7B6D-E6D7-4C91-8F11-7C877079A218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A0815381-0081-4EE6-A0AB-E048BAF66BEE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430E3D-8E0B-4C1A-9D0A-D093E49FBC55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1A48547F-B4C6-4D24-A252-E5B5347EB19D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DB738779-B7CD-4A88-B1C1-A1991A253060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20E37C15-3504-4DBB-AD82-8F03C95099CE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7417DFCB-312C-41F7-B99E-3FEE6B9C6F1D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36562CF-9850-46C3-9875-40EFE8C09B3F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046D726-9BC3-41BA-853B-00185AE73EA9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A37CACF6-5B43-4243-BA03-4705E957974A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D6DD490D-D0F9-4E5D-BCA1-820D2CBDCEB3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9237E34-D6FC-43C0-97AF-C669E5AF7BE3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C07DDBD8-BF7B-469F-819B-7BF7E98EA7ED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9C20E58F-F400-4A41-9DE1-95AA30D2D64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640D7C5D-4074-42FE-9036-FA92096C297E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4C58929F-0272-47B8-BE00-7C4143E63B42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8A01958-7C1D-4A97-A186-C8499C938ED0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13D2895-AD7C-4A32-8CA0-87AF9A924FA0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3123D33-98BE-4F6E-A416-4E2505454E4F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777A5B33-91C9-4E9F-AB3B-97B640892680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19B9C8D4-BC7B-42F9-A7ED-F433CDEC0EC5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BD36547-BB5D-42A8-A385-C96AC4A5BB0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7" name="global_find" descr="9QRU global_find; native ChimeraX; source C:\Users\15919\Desktop\论文草稿\画图\formal\E2E_flow_v2_20261003\9qru\renders\global_find.png; editable crop only"/>
          <p:cNvPicPr>
            <a:picLocks noChangeAspect="1"/>
          </p:cNvPicPr>
          <p:nvPr/>
        </p:nvPicPr>
        <p:blipFill>
          <a:blip r:embed="rId7"/>
          <a:srcRect l="21857" t="17083" r="20550" b="29557"/>
          <a:stretch>
            <a:fillRect/>
          </a:stretch>
        </p:blipFill>
        <p:spPr>
          <a:xfrm>
            <a:off x="1243845" y="6715125"/>
            <a:ext cx="5894310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2DC5F5D4-1B77-4D37-ABD5-715C52204D46}"/>
              </a:ext>
            </a:extLst>
          </p:cNvPr>
          <p:cNvSpPr>
            <a:spLocks noGrp="1"/>
          </p:cNvSpPr>
          <p:nvPr/>
        </p:nvSpPr>
        <p:spPr>
          <a:xfrm>
            <a:off x="4757833" y="7884547"/>
            <a:ext cx="1269423" cy="1023960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background blob 0">
            <a:extLst>
              <a:ext uri="{FF2B5EF4-FFF2-40B4-BE49-F238E27FC236}">
                <a16:creationId xmlns:a16="http://schemas.microsoft.com/office/drawing/2014/main" id="{E6570112-5CC8-49D8-989A-F4B18C2A4B80}"/>
              </a:ext>
            </a:extLst>
          </p:cNvPr>
          <p:cNvSpPr>
            <a:spLocks noGrp="1"/>
          </p:cNvSpPr>
          <p:nvPr/>
        </p:nvSpPr>
        <p:spPr>
          <a:xfrm>
            <a:off x="5543927" y="8118965"/>
            <a:ext cx="601678" cy="581998"/>
          </a:xfrm>
          <a:prstGeom prst="rect">
            <a:avLst/>
          </a:prstGeom>
          <a:noFill/>
          <a:ln w="28575">
            <a:solidFill>
              <a:srgbClr val="9F87A9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FC5B610-30AC-4BA0-A2C3-41034AB191C4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97B8803-109D-4ECA-854A-B695AD88AFDE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BBC405-F081-4F3A-A675-45309A1433E6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BAB046D-9D54-4ACB-BCF4-58FE251049FD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2699EE1-9CFE-436E-8906-A70D895D9996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9F87A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F87A9"/>
                </a:solidFill>
                <a:latin typeface="Arial"/>
                <a:ea typeface="Arial"/>
                <a:cs typeface="Arial"/>
              </a:rPr>
              <a:t>Rank 1: background, one attempt</a:t>
            </a:r>
          </a:p>
        </p:txBody>
      </p:sp>
      <p:pic>
        <p:nvPicPr>
          <p:cNvPr id="165" name="background_gt" descr="9QRU background_gt; native ChimeraX; source C:\Users\15919\Desktop\论文草稿\画图\formal\E2E_flow_20261003\9qru\renders\background_gt.png; editable crop only"/>
          <p:cNvPicPr>
            <a:picLocks noChangeAspect="1"/>
          </p:cNvPicPr>
          <p:nvPr/>
        </p:nvPicPr>
        <p:blipFill>
          <a:blip r:embed="rId8"/>
          <a:srcRect l="31319" t="30278" r="31181" b="22407"/>
          <a:stretch>
            <a:fillRect/>
          </a:stretch>
        </p:blipFill>
        <p:spPr>
          <a:xfrm>
            <a:off x="9049076" y="7096125"/>
            <a:ext cx="1761473" cy="1666875"/>
          </a:xfrm>
          <a:prstGeom prst="rect">
            <a:avLst/>
          </a:prstGeom>
        </p:spPr>
      </p:pic>
      <p:pic>
        <p:nvPicPr>
          <p:cNvPr id="166" name="background_find" descr="9QRU background_find; native ChimeraX; source C:\Users\15919\Desktop\论文草稿\画图\formal\E2E_flow_20261003\9qru\renders\background_find.png; editable crop only"/>
          <p:cNvPicPr>
            <a:picLocks noChangeAspect="1"/>
          </p:cNvPicPr>
          <p:nvPr/>
        </p:nvPicPr>
        <p:blipFill>
          <a:blip r:embed="rId9"/>
          <a:srcRect l="31319" t="30278" r="31181" b="22407"/>
          <a:stretch>
            <a:fillRect/>
          </a:stretch>
        </p:blipFill>
        <p:spPr>
          <a:xfrm>
            <a:off x="13382951" y="7096125"/>
            <a:ext cx="1761473" cy="1666875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D8E83D16-033E-4BFE-B7F0-41809A47B694}"/>
              </a:ext>
            </a:extLst>
          </p:cNvPr>
          <p:cNvSpPr>
            <a:spLocks noGrp="1"/>
          </p:cNvSpPr>
          <p:nvPr/>
        </p:nvSpPr>
        <p:spPr>
          <a:xfrm>
            <a:off x="7905750" y="878205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ligand, next attempt</a:t>
            </a:r>
          </a:p>
        </p:txBody>
      </p:sp>
      <p:pic>
        <p:nvPicPr>
          <p:cNvPr id="168" name="local_gt" descr="9QRU local_gt; native ChimeraX; source C:\Users\15919\Desktop\论文草稿\画图\formal\E2E_flow_20261003\9qru\renders\local_gt.png; editable crop only"/>
          <p:cNvPicPr>
            <a:picLocks noChangeAspect="1"/>
          </p:cNvPicPr>
          <p:nvPr/>
        </p:nvPicPr>
        <p:blipFill>
          <a:blip r:embed="rId10"/>
          <a:srcRect l="10833" t="24815" r="23472" b="8704"/>
          <a:stretch>
            <a:fillRect/>
          </a:stretch>
        </p:blipFill>
        <p:spPr>
          <a:xfrm>
            <a:off x="8831718" y="9163050"/>
            <a:ext cx="2196189" cy="1666875"/>
          </a:xfrm>
          <a:prstGeom prst="rect">
            <a:avLst/>
          </a:prstGeom>
        </p:spPr>
      </p:pic>
      <p:pic>
        <p:nvPicPr>
          <p:cNvPr id="169" name="local_find" descr="9QRU local_find; native ChimeraX; source C:\Users\15919\Desktop\论文草稿\画图\formal\E2E_flow_20261003\9qru\renders\local_find.png; editable crop only"/>
          <p:cNvPicPr>
            <a:picLocks noChangeAspect="1"/>
          </p:cNvPicPr>
          <p:nvPr/>
        </p:nvPicPr>
        <p:blipFill>
          <a:blip r:embed="rId11"/>
          <a:srcRect l="10833" t="24815" r="23472" b="8704"/>
          <a:stretch>
            <a:fillRect/>
          </a:stretch>
        </p:blipFill>
        <p:spPr>
          <a:xfrm>
            <a:off x="13165593" y="9163050"/>
            <a:ext cx="2196189" cy="1666875"/>
          </a:xfrm>
          <a:prstGeom prst="rect">
            <a:avLst/>
          </a:prstGeom>
        </p:spPr>
      </p:pic>
      <p:sp>
        <p:nvSpPr>
          <p:cNvPr id="66" name="椭圆 65">
            <a:extLst>
              <a:ext uri="{FF2B5EF4-FFF2-40B4-BE49-F238E27FC236}">
                <a16:creationId xmlns:a16="http://schemas.microsoft.com/office/drawing/2014/main" id="{DAC7FEF7-46DE-4F3C-AA23-87BFDC33E98F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09413D0-7426-4D39-A34A-0F46EFB1AB20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C71E1A80-B0E5-42B4-90AF-C707B776A26D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9" name="任意多边形: 形状 68">
            <a:extLst>
              <a:ext uri="{FF2B5EF4-FFF2-40B4-BE49-F238E27FC236}">
                <a16:creationId xmlns:a16="http://schemas.microsoft.com/office/drawing/2014/main" id="{10B59FE0-A7FD-4A61-973E-E380771E5FBA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CBE0008-1263-4F0D-BBB9-F947CDACB74E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1" name="Identity 1">
            <a:extLst>
              <a:ext uri="{FF2B5EF4-FFF2-40B4-BE49-F238E27FC236}">
                <a16:creationId xmlns:a16="http://schemas.microsoft.com/office/drawing/2014/main" id="{19EDFC25-48E9-4916-91E8-572DC3416D66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27EDA25B-8EEA-4B5C-94F0-F8333560F24C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A1JAX</a:t>
            </a:r>
          </a:p>
        </p:txBody>
      </p:sp>
      <p:pic>
        <p:nvPicPr>
          <p:cNvPr id="177" name="图形 17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81125" y="12400834"/>
            <a:ext cx="4552950" cy="1754031"/>
          </a:xfrm>
          <a:prstGeom prst="rect">
            <a:avLst/>
          </a:prstGeom>
        </p:spPr>
      </p:pic>
      <p:sp>
        <p:nvSpPr>
          <p:cNvPr id="74" name="矩形 73">
            <a:extLst>
              <a:ext uri="{FF2B5EF4-FFF2-40B4-BE49-F238E27FC236}">
                <a16:creationId xmlns:a16="http://schemas.microsoft.com/office/drawing/2014/main" id="{05CE298E-171A-4C29-9028-A15430F79FCF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5" name="Identity 2">
            <a:extLst>
              <a:ext uri="{FF2B5EF4-FFF2-40B4-BE49-F238E27FC236}">
                <a16:creationId xmlns:a16="http://schemas.microsoft.com/office/drawing/2014/main" id="{A9F28B2D-9C0A-4964-B5C1-60801F234CC0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830948-DB27-4B7F-8245-7BB82B2D32F8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81" name="图形 18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6486525" y="12380453"/>
            <a:ext cx="4552950" cy="1794795"/>
          </a:xfrm>
          <a:prstGeom prst="rect">
            <a:avLst/>
          </a:prstGeom>
        </p:spPr>
      </p:pic>
      <p:sp>
        <p:nvSpPr>
          <p:cNvPr id="78" name="Identity 3">
            <a:extLst>
              <a:ext uri="{FF2B5EF4-FFF2-40B4-BE49-F238E27FC236}">
                <a16:creationId xmlns:a16="http://schemas.microsoft.com/office/drawing/2014/main" id="{C0D0ED14-7496-418D-BB28-9682247A31B8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6BCF13E-B5B9-4B16-817D-71040378578F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84" name="图形 18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3161390" y="12896850"/>
            <a:ext cx="1414021" cy="762000"/>
          </a:xfrm>
          <a:prstGeom prst="rect">
            <a:avLst/>
          </a:prstGeom>
        </p:spPr>
      </p:pic>
      <p:sp>
        <p:nvSpPr>
          <p:cNvPr id="81" name="椭圆 80">
            <a:extLst>
              <a:ext uri="{FF2B5EF4-FFF2-40B4-BE49-F238E27FC236}">
                <a16:creationId xmlns:a16="http://schemas.microsoft.com/office/drawing/2014/main" id="{2E5FD214-D2D3-4A96-8BA8-6D3BC10ED4A0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41C3287-C774-46A0-8596-861E29E909A6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9F32CDA-10B5-4B8B-9E72-703D4B1E03BD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4D95A25C-5210-43BE-9805-DCE4CF34265E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A201B38-176E-435F-9E5A-870DDE7839DD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9E5A980-5351-42BD-BC62-23C7DD984ABD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91" name="dock_receptor" descr="9QRU dock_receptor; native ChimeraX; source C:\Users\15919\Desktop\论文草稿\画图\formal\E2E_flow_20261003\9qru\renders\dock_receptor.png; editable crop only"/>
          <p:cNvPicPr>
            <a:picLocks noChangeAspect="1"/>
          </p:cNvPicPr>
          <p:nvPr/>
        </p:nvPicPr>
        <p:blipFill>
          <a:blip r:embed="rId15"/>
          <a:srcRect l="6181" t="21944" r="37014"/>
          <a:stretch>
            <a:fillRect/>
          </a:stretch>
        </p:blipFill>
        <p:spPr>
          <a:xfrm>
            <a:off x="2137871" y="15944850"/>
            <a:ext cx="2772758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C24B7525-11AB-4BEA-BCF0-65D16AE35558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9FB4FBD-CA96-4C96-A398-EFBAAFA1D875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4" name="dock_density" descr="9QRU dock_density; native ChimeraX; source C:\Users\15919\Desktop\论文草稿\画图\formal\E2E_flow_20261003\9qru\renders\dock_density.png; editable crop only"/>
          <p:cNvPicPr>
            <a:picLocks noChangeAspect="1"/>
          </p:cNvPicPr>
          <p:nvPr/>
        </p:nvPicPr>
        <p:blipFill>
          <a:blip r:embed="rId16"/>
          <a:srcRect l="6181" t="21944" r="37014"/>
          <a:stretch>
            <a:fillRect/>
          </a:stretch>
        </p:blipFill>
        <p:spPr>
          <a:xfrm>
            <a:off x="7376621" y="15944850"/>
            <a:ext cx="2772758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72995779-FBAA-4B95-8FAD-8CA94866CE9A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C7DB71A-AC29-404A-9AAD-F53EB94B79DE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7" name="dock_gt_overlay" descr="9QRU dock_gt_overlay; native ChimeraX; source C:\Users\15919\Desktop\论文草稿\画图\formal\E2E_flow_20261003\9qru\renders\dock_gt_overlay.png; editable crop only"/>
          <p:cNvPicPr>
            <a:picLocks noChangeAspect="1"/>
          </p:cNvPicPr>
          <p:nvPr/>
        </p:nvPicPr>
        <p:blipFill>
          <a:blip r:embed="rId17"/>
          <a:srcRect l="6181" t="21944" r="37014"/>
          <a:stretch>
            <a:fillRect/>
          </a:stretch>
        </p:blipFill>
        <p:spPr>
          <a:xfrm>
            <a:off x="12615371" y="15944850"/>
            <a:ext cx="2772758" cy="2857500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DE2C0EF-1441-46F0-8A85-B626E86808ED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0.63 Å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A2D0C05B-CB11-4251-9E28-CB8188D98BA4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D1CBA8C-A323-4E8A-82EB-CCC1058E50D6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B169350B-1E4C-4FE6-B1BC-66594996B6AC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6E7BA2B-3683-4CE2-808F-89A49BC2228A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60F3D98C-9760-4CE0-B89F-7CC0D5CE9F5C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2D571C34-AC05-46F9-9B12-3EC92980CF47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C9032149-87BA-43BE-BF46-06518F986DE1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5C55495-FCB6-4C38-A6B7-91558E019503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227335F3-E081-4F54-9B79-D63995D0A68A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99EB18A-9130-4086-9D2C-F2A1E28E956F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7584906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矩形 103">
            <a:extLst>
              <a:ext uri="{FF2B5EF4-FFF2-40B4-BE49-F238E27FC236}">
                <a16:creationId xmlns:a16="http://schemas.microsoft.com/office/drawing/2014/main" id="{73ED2739-366D-467F-B815-31358609CF55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9RD8  BCT (A:902)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E0E1DF-A26E-457E-8F80-E09EBE4C4E84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26739D86-99B4-4A44-9791-EFD01742BF6B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DBF83F0-18AE-4384-AEB4-141F8EB5FEF7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ECA64C1-8249-4157-947E-F11FD37DBCF0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284DDC28-D97C-4D15-B84E-36CD28C62E35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11D2558-661D-437C-B84F-5A299F7A32D5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C474144-44FA-4521-981A-C5C727518047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9148FA-2534-44F1-8304-A804CC5B127A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E5BFE118-D371-4548-B8F5-17BBEEA77CDE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2C9E23B-90C4-4E1D-BD68-4850A66657DD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0FFAE00-C2B5-4BE4-9AD4-BDEC5CC92C9D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DC426D4-CD2F-4B87-8545-BE00177D4EF9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11259F-2047-48D9-87DB-EAF6444E6C1B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7BFE7F32-8D7E-433F-B915-863E28DFED12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2FFDEB-0274-445A-A089-7B612C081740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52EE78-64CB-499F-A7FB-317D5153BB3B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1" name="global_density_same_scale" descr="9RD8 global_density_same_scale; native ChimeraX; source C:\Users\15919\Desktop\论文草稿\画图\formal\E2E_flow_v2_20261003\9rd8\renders\global_density_same_scale.png; editable crop only"/>
          <p:cNvPicPr>
            <a:picLocks noChangeAspect="1"/>
          </p:cNvPicPr>
          <p:nvPr/>
        </p:nvPicPr>
        <p:blipFill>
          <a:blip r:embed="rId4"/>
          <a:srcRect l="28427" t="14070" r="19369" b="14544"/>
          <a:stretch>
            <a:fillRect/>
          </a:stretch>
        </p:blipFill>
        <p:spPr>
          <a:xfrm>
            <a:off x="2131132" y="2476500"/>
            <a:ext cx="2786237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8F4E486F-F929-4A97-BF93-1BAEE4A91CFC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0F89DB-8637-49CD-97D4-A1C3E47CB9D7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4" name="global_ca2" descr="9RD8 global_ca2; native ChimeraX; source C:\Users\15919\Desktop\论文草稿\画图\formal\E2E_flow_20261003\9rd8\renders\global_ca2.png; editable crop only"/>
          <p:cNvPicPr>
            <a:picLocks noChangeAspect="1"/>
          </p:cNvPicPr>
          <p:nvPr/>
        </p:nvPicPr>
        <p:blipFill>
          <a:blip r:embed="rId5"/>
          <a:srcRect l="28427" t="14070" r="19369" b="14544"/>
          <a:stretch>
            <a:fillRect/>
          </a:stretch>
        </p:blipFill>
        <p:spPr>
          <a:xfrm>
            <a:off x="7369882" y="2476500"/>
            <a:ext cx="2786237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B72BD906-DA8A-4975-A733-96D2BC357647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FDB366C-B9E7-4DA0-B283-B1E7397C4405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7" name="global_gt" descr="9RD8 global_gt; native ChimeraX; source C:\Users\15919\Desktop\论文草稿\画图\formal\E2E_flow_20261003\9rd8\renders\global_gt.png; editable crop only"/>
          <p:cNvPicPr>
            <a:picLocks noChangeAspect="1"/>
          </p:cNvPicPr>
          <p:nvPr/>
        </p:nvPicPr>
        <p:blipFill>
          <a:blip r:embed="rId6"/>
          <a:srcRect l="28427" t="14070" r="19369" b="14544"/>
          <a:stretch>
            <a:fillRect/>
          </a:stretch>
        </p:blipFill>
        <p:spPr>
          <a:xfrm>
            <a:off x="12608632" y="2476500"/>
            <a:ext cx="2786237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5AAAAD67-9CBA-401C-BFD9-7474B0501E53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54D7B1BE-2FCB-44FD-A98F-4D3F4B441860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43546B0F-11CE-4C6B-86A3-CD4E3AE61E2E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2F5EDB4B-6488-42BB-AE91-53565FAF54C9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33D588E2-4B56-4A1C-8194-6B04198033E3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536190A5-BCF5-4E26-A57F-45F2A7D0447C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189B6273-F054-4BA5-8498-7A0BC17AFEE2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0E0CC82D-EFCC-41B7-A8E3-51B62FE6DCD7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EE5C025-C9A9-49ED-BAC7-87A8D18E9EDB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20E26F69-3596-4228-AFD7-0B9F2D965FF6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0F8D7FB6-0111-4BB8-852D-C5B5A2432BCD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46184484-5718-4F2D-8971-70044A4B63CE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5AFD1FFE-B3C2-481A-910B-EDF724199570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203BA16A-5AA8-4D58-A200-FD10A1CF7423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7C1E370-0806-4E7D-947C-B50501A22490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198AFED6-9414-462B-BAF4-48935CF4A546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C57193C3-1B00-49D3-ADCF-545C8C90B7F5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D449F5A-8C39-4B47-96DA-42E1DFF4C8B2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2D983FE5-598E-4CE4-9BBB-4855E264DA57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FE8B7C7-DCF8-4AB3-B57C-58C5275550C0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0B2647CB-C773-4757-A761-2A06253719F2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67202AA8-6C34-42B5-ABB3-2B8CF8F5D60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2D8E2EE-9C21-4117-AD94-047CC886F8CF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C541B8-9C83-42BC-9EF0-C25717FD591B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74150FB-076F-4CD8-AFDC-50F98CB75C5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34C688B9-001B-4585-9CF8-1D1A9DEA0111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B2FAD52-9FF1-44E7-B71A-219CA733B9A9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148F9B3-AC8D-4F2D-B372-1714A53A9215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6" name="global_find" descr="9RD8 global_find; native ChimeraX; source C:\Users\15919\Desktop\论文草稿\画图\formal\E2E_flow_v2_20261003\9rd8\renders\global_find.png; editable crop only"/>
          <p:cNvPicPr>
            <a:picLocks noChangeAspect="1"/>
          </p:cNvPicPr>
          <p:nvPr/>
        </p:nvPicPr>
        <p:blipFill>
          <a:blip r:embed="rId7"/>
          <a:srcRect l="28427" t="14070" r="19369" b="14544"/>
          <a:stretch>
            <a:fillRect/>
          </a:stretch>
        </p:blipFill>
        <p:spPr>
          <a:xfrm>
            <a:off x="2194197" y="6715125"/>
            <a:ext cx="3993606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581A778E-86BA-4A3F-B21C-6BD5B86B4DCE}"/>
              </a:ext>
            </a:extLst>
          </p:cNvPr>
          <p:cNvSpPr>
            <a:spLocks noGrp="1"/>
          </p:cNvSpPr>
          <p:nvPr/>
        </p:nvSpPr>
        <p:spPr>
          <a:xfrm>
            <a:off x="3450128" y="8438834"/>
            <a:ext cx="505541" cy="566736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13964DC-1E9E-4CDD-857E-9E1D7532C366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20444C6-8187-4B8A-83F8-1F058279CFEC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F4A2D81-44B4-4C64-847A-FF25381326EE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D300F4-AFF9-4F84-802C-01C9128B5419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84C0BD-C666-403F-9F4E-3E71537CBC7F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3" name="local_gt" descr="9RD8 local_gt; native ChimeraX; source C:\Users\15919\Desktop\论文草稿\画图\formal\E2E_flow_20261003\9rd8\renders\local_gt.png; editable crop only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905750" y="7264003"/>
            <a:ext cx="4048125" cy="3036094"/>
          </a:xfrm>
          <a:prstGeom prst="rect">
            <a:avLst/>
          </a:prstGeom>
        </p:spPr>
      </p:pic>
      <p:pic>
        <p:nvPicPr>
          <p:cNvPr id="164" name="local_find" descr="9RD8 local_find; native ChimeraX; source C:\Users\15919\Desktop\论文草稿\画图\formal\E2E_flow_20261003\9rd8\renders\local_find.png; editable crop only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2239625" y="7264003"/>
            <a:ext cx="4048125" cy="3036094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6D44579A-FB27-4E18-B155-65203D82D079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22B43984-0D88-401B-9729-E6A56B68FA2D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92C812F-6CCE-4D06-B578-8FFBD3758343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6AAADC00-813C-4BB1-A205-C0744CA85CC8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B069835-190D-4FDE-AFC9-5408C670FA77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55D63C9D-6353-4553-9530-CE9793611124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A89806F-6BE3-480F-A3CE-E7A19F171C23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Identity1</a:t>
            </a:r>
          </a:p>
        </p:txBody>
      </p:sp>
      <p:pic>
        <p:nvPicPr>
          <p:cNvPr id="172" name="图形 17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505243"/>
            <a:ext cx="3276600" cy="1545215"/>
          </a:xfrm>
          <a:prstGeom prst="rect">
            <a:avLst/>
          </a:prstGeom>
        </p:spPr>
      </p:pic>
      <p:sp>
        <p:nvSpPr>
          <p:cNvPr id="70" name="Identity 2">
            <a:extLst>
              <a:ext uri="{FF2B5EF4-FFF2-40B4-BE49-F238E27FC236}">
                <a16:creationId xmlns:a16="http://schemas.microsoft.com/office/drawing/2014/main" id="{09A3F9CA-1731-4A12-BAA1-3FDF8806E868}"/>
              </a:ext>
            </a:extLst>
          </p:cNvPr>
          <p:cNvSpPr>
            <a:spLocks noGrp="1"/>
          </p:cNvSpPr>
          <p:nvPr/>
        </p:nvSpPr>
        <p:spPr>
          <a:xfrm>
            <a:off x="5067300" y="11715750"/>
            <a:ext cx="356235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62DE5F8-5D47-46C1-875B-59533B8EA9FF}"/>
              </a:ext>
            </a:extLst>
          </p:cNvPr>
          <p:cNvSpPr>
            <a:spLocks noGrp="1"/>
          </p:cNvSpPr>
          <p:nvPr/>
        </p:nvSpPr>
        <p:spPr>
          <a:xfrm>
            <a:off x="52387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2  BCT</a:t>
            </a:r>
          </a:p>
        </p:txBody>
      </p:sp>
      <p:pic>
        <p:nvPicPr>
          <p:cNvPr id="175" name="图形 17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537911" y="12230100"/>
            <a:ext cx="2621127" cy="2095500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0990235E-DE0C-4E6F-ABF5-645E99715993}"/>
              </a:ext>
            </a:extLst>
          </p:cNvPr>
          <p:cNvSpPr>
            <a:spLocks noGrp="1"/>
          </p:cNvSpPr>
          <p:nvPr/>
        </p:nvSpPr>
        <p:spPr>
          <a:xfrm>
            <a:off x="5238750" y="14249400"/>
            <a:ext cx="3219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4" name="Identity 3">
            <a:extLst>
              <a:ext uri="{FF2B5EF4-FFF2-40B4-BE49-F238E27FC236}">
                <a16:creationId xmlns:a16="http://schemas.microsoft.com/office/drawing/2014/main" id="{6B44253F-7260-4A03-8181-C37428823BE0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C9172D9-84C4-4889-BCE8-F8B123580321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9" name="图形 17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039225" y="12356477"/>
            <a:ext cx="3276600" cy="1842747"/>
          </a:xfrm>
          <a:prstGeom prst="rect">
            <a:avLst/>
          </a:prstGeom>
        </p:spPr>
      </p:pic>
      <p:sp>
        <p:nvSpPr>
          <p:cNvPr id="77" name="Identity 4">
            <a:extLst>
              <a:ext uri="{FF2B5EF4-FFF2-40B4-BE49-F238E27FC236}">
                <a16:creationId xmlns:a16="http://schemas.microsoft.com/office/drawing/2014/main" id="{3148E277-67C6-49F7-95DD-4F05822F79DA}"/>
              </a:ext>
            </a:extLst>
          </p:cNvPr>
          <p:cNvSpPr>
            <a:spLocks noGrp="1"/>
          </p:cNvSpPr>
          <p:nvPr/>
        </p:nvSpPr>
        <p:spPr>
          <a:xfrm>
            <a:off x="127254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2648261-725C-4E2C-9449-A6BAAE851B94}"/>
              </a:ext>
            </a:extLst>
          </p:cNvPr>
          <p:cNvSpPr>
            <a:spLocks noGrp="1"/>
          </p:cNvSpPr>
          <p:nvPr/>
        </p:nvSpPr>
        <p:spPr>
          <a:xfrm>
            <a:off x="128968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4  Identity4</a:t>
            </a:r>
          </a:p>
        </p:txBody>
      </p:sp>
      <p:pic>
        <p:nvPicPr>
          <p:cNvPr id="182" name="图形 18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3799565" y="12896850"/>
            <a:ext cx="1414021" cy="762000"/>
          </a:xfrm>
          <a:prstGeom prst="rect">
            <a:avLst/>
          </a:prstGeom>
        </p:spPr>
      </p:pic>
      <p:sp>
        <p:nvSpPr>
          <p:cNvPr id="80" name="椭圆 79">
            <a:extLst>
              <a:ext uri="{FF2B5EF4-FFF2-40B4-BE49-F238E27FC236}">
                <a16:creationId xmlns:a16="http://schemas.microsoft.com/office/drawing/2014/main" id="{47C8CCE5-3E0F-4902-B7EE-5009211122FF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6E604B8-32C4-4557-B3AD-E1E5A9E8F8FC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026A1E7D-75C2-4387-A862-4A6B39FCED7D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57148735-756C-4DC4-A3BC-2F8DFC7E2F74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4A19E4E-C482-41E1-8C62-D97B98CE858F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03073D1-F848-47A2-89A6-F7D61ACE1246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9" name="dock_receptor" descr="9RD8 dock_receptor; native ChimeraX; source C:\Users\15919\Desktop\论文草稿\画图\formal\E2E_flow_20261003\9rd8\renders\dock_receptor.png; editable crop only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1619250" y="15944850"/>
            <a:ext cx="3810000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18E8132C-A0FC-4D2D-A46D-4134B6699A96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3B22D851-E8A0-4680-80C2-9AB50E1C1753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2" name="dock_density" descr="9RD8 dock_density; native ChimeraX; source C:\Users\15919\Desktop\论文草稿\画图\formal\E2E_flow_20261003\9rd8\renders\dock_density.png; editable crop only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6858000" y="15944850"/>
            <a:ext cx="3810000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08729BAF-E055-426C-A5EE-7B90FE3B51F0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BA50ABC3-EB6D-4722-BDE1-429F007F8FEB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5" name="dock_gt_overlay" descr="9RD8 dock_gt_overlay; native ChimeraX; source C:\Users\15919\Desktop\论文草稿\画图\formal\E2E_flow_20261003\9rd8\renders\dock_gt_overlay.png; editable crop only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12096750" y="15944850"/>
            <a:ext cx="3810000" cy="2857500"/>
          </a:xfrm>
          <a:prstGeom prst="rect">
            <a:avLst/>
          </a:prstGeom>
        </p:spPr>
      </p:pic>
      <p:sp>
        <p:nvSpPr>
          <p:cNvPr id="93" name="矩形 92">
            <a:extLst>
              <a:ext uri="{FF2B5EF4-FFF2-40B4-BE49-F238E27FC236}">
                <a16:creationId xmlns:a16="http://schemas.microsoft.com/office/drawing/2014/main" id="{AA81822E-9DED-4CE7-9D8C-B75ABB4B9A4A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0.96 Å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3529AE8C-B36E-475B-BE66-41BB43925C47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8069B561-2B4A-4017-9954-3A20CF9AA988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51E1B643-5B67-4359-A4CF-B84EA6C18EE0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B0F5E6D2-E09F-4C91-B38A-D6CDA4E02704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5B5B048F-DA4E-439D-9603-17CF01CE44B8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0CF27A83-4F78-4E5F-B33F-672472E3DA6E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54E800E-39DE-448A-9B57-328953BAA528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A76DD620-59C7-4D0F-9D4D-186D8796D74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6082A2D-B52B-43FC-83A1-9D8E290A1EB8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2592ADC-779D-4F1B-BDE5-52D50846A433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8271678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矩形 104">
            <a:extLst>
              <a:ext uri="{FF2B5EF4-FFF2-40B4-BE49-F238E27FC236}">
                <a16:creationId xmlns:a16="http://schemas.microsoft.com/office/drawing/2014/main" id="{2CB0F356-CCB3-4937-A0A0-81DE14780F0A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9WUP  FMN (B:1103)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5399B1-0001-4CEE-8AEA-5DD430B7BD4D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Earlier out-of-scope ligands; reconstruction at rank 3</a:t>
            </a:r>
            <a:endParaRPr sz="2400" b="0">
              <a:solidFill>
                <a:srgbClr val="60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1F920579-82C3-4BA5-B80E-1755849FC6A4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67C15B3-DBF4-4BA7-BCE1-FFE4338D003F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28D8491C-CC1D-47BB-B444-D5E8DBA60F16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12E1248A-B572-43A0-AEE2-D42208D7439D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5410096-465E-473D-A748-FE8005A0CC39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09D97444-BE2A-4E3C-A037-15A02786A05B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25DAB9AF-5A67-400F-8C78-81D9E48B7139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8D9132B-30C5-4A55-9A0B-D67BF68100E2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0B13E514-859F-42AC-AAD1-405DE8E1348F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73E8777-680D-48D1-947F-F7E48605686A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226775-86B0-49CE-B144-CF8BCDAAC6F5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FC67D4-5268-44DE-9DCC-75986F13B35D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90E9F6EF-AAF5-4523-829D-19E8B6ACD068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DAA359-65C6-4229-B765-AE90B52BD6F8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A1E9B-A1B6-4E74-940D-F0566358A6C9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2" name="global_density_same_scale" descr="9WUP global_density_same_scale; native ChimeraX; source C:\Users\15919\Desktop\论文草稿\画图\formal\E2E_flow_v2_20261003\9wup\renders\global_density_same_scale.png; editable crop only"/>
          <p:cNvPicPr>
            <a:picLocks noChangeAspect="1"/>
          </p:cNvPicPr>
          <p:nvPr/>
        </p:nvPicPr>
        <p:blipFill>
          <a:blip r:embed="rId4"/>
          <a:srcRect l="24138" t="16566" r="24407" b="11071"/>
          <a:stretch>
            <a:fillRect/>
          </a:stretch>
        </p:blipFill>
        <p:spPr>
          <a:xfrm>
            <a:off x="2169671" y="2476500"/>
            <a:ext cx="2709158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287D1366-48CC-4286-9234-F4368E1E62D9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A23DD6-0D51-4709-B8F4-4A611FA64DB7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5" name="global_ca2" descr="9WUP global_ca2; native ChimeraX; source C:\Users\15919\Desktop\论文草稿\画图\formal\E2E_flow_20261003\9wup\renders\global_ca2.png; editable crop only"/>
          <p:cNvPicPr>
            <a:picLocks noChangeAspect="1"/>
          </p:cNvPicPr>
          <p:nvPr/>
        </p:nvPicPr>
        <p:blipFill>
          <a:blip r:embed="rId5"/>
          <a:srcRect l="24138" t="16566" r="24407" b="11071"/>
          <a:stretch>
            <a:fillRect/>
          </a:stretch>
        </p:blipFill>
        <p:spPr>
          <a:xfrm>
            <a:off x="7408421" y="2476500"/>
            <a:ext cx="2709158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8787A77A-3098-477D-BD9B-4F88C2667823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061F349-CBB7-42AE-8D74-8E7955B5D2E5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8" name="global_gt" descr="9WUP global_gt; native ChimeraX; source C:\Users\15919\Desktop\论文草稿\画图\formal\E2E_flow_20261003\9wup\renders\global_gt.png; editable crop only"/>
          <p:cNvPicPr>
            <a:picLocks noChangeAspect="1"/>
          </p:cNvPicPr>
          <p:nvPr/>
        </p:nvPicPr>
        <p:blipFill>
          <a:blip r:embed="rId6"/>
          <a:srcRect l="24138" t="16566" r="24407" b="11071"/>
          <a:stretch>
            <a:fillRect/>
          </a:stretch>
        </p:blipFill>
        <p:spPr>
          <a:xfrm>
            <a:off x="12647171" y="2476500"/>
            <a:ext cx="2709158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CC8D14-FD1D-4B95-A7FF-A095E4ADEA2F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262B3B17-864A-4670-AE6D-CCA2651C652F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5B153D4-05F7-43A5-B74B-285ED5DC031C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B0D5A2C4-B09E-4BD5-9EEA-7927476149FA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1330823-2FAF-4A38-A953-261A6458BDAB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B4513124-789A-450F-80B0-5B275A1A85E0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2940C247-7C8A-437B-BFE5-524A0B94689B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6FBC14A4-4B43-4ABD-A611-0B06D7A5B943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16A763-8DAA-42D1-A4C5-A80EDAADFE33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5CB6E762-C1AB-4404-A4A6-0BE98454031F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813635EC-47FE-42EB-848E-9DB15DD919A1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8D94A87E-0840-4CC0-96EA-76A136FCF113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60B18C2F-082E-4550-86D5-CB69A20A95DD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DF2871B7-5F47-42E4-8601-76BF0B57C6D5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FDC4D69-CC74-400E-8A48-A54DA6DB5692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373ED4A3-1B0E-4D71-A1D4-5D2C963E68A1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37FCA545-B24F-41E6-98F6-86048BA78162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5048317D-B713-4742-977B-6356B3E10F33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562FA9A5-80E6-4D6D-B6D1-23128816816F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922BF5B2-6424-435C-8FF3-67537E91C31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24207CF0-4F2E-4F87-BC35-28E7AE74D44F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3C5F010D-6E1B-41A0-B5D6-E5B9E4764556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E46F77E-0A73-4F14-913C-896AB94BC0E1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47CA958-F28C-4834-8A23-C0C3AA36DE34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A0D9BDE-9B88-482F-8A5E-A0BD56407DEE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B58881E5-ACBC-42C3-BBDE-9744BF0EEF17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92239BA-08AC-44E1-9914-0893BBE6D851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0C507A0-FB7E-4E3C-B035-FA99889BAC8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7" name="global_find" descr="9WUP global_find; native ChimeraX; source C:\Users\15919\Desktop\论文草稿\画图\formal\E2E_flow_v2_20261003\9wup\renders\global_find.png; editable crop only"/>
          <p:cNvPicPr>
            <a:picLocks noChangeAspect="1"/>
          </p:cNvPicPr>
          <p:nvPr/>
        </p:nvPicPr>
        <p:blipFill>
          <a:blip r:embed="rId7"/>
          <a:srcRect l="24138" t="16663" r="24418" b="11071"/>
          <a:stretch>
            <a:fillRect/>
          </a:stretch>
        </p:blipFill>
        <p:spPr>
          <a:xfrm>
            <a:off x="2247243" y="6715125"/>
            <a:ext cx="3887513" cy="4095750"/>
          </a:xfrm>
          <a:prstGeom prst="rect">
            <a:avLst/>
          </a:prstGeom>
        </p:spPr>
      </p:pic>
      <p:sp>
        <p:nvSpPr>
          <p:cNvPr id="54" name="target blob 2">
            <a:extLst>
              <a:ext uri="{FF2B5EF4-FFF2-40B4-BE49-F238E27FC236}">
                <a16:creationId xmlns:a16="http://schemas.microsoft.com/office/drawing/2014/main" id="{3E280084-57A2-4646-8C42-08E770DE630A}"/>
              </a:ext>
            </a:extLst>
          </p:cNvPr>
          <p:cNvSpPr>
            <a:spLocks noGrp="1"/>
          </p:cNvSpPr>
          <p:nvPr/>
        </p:nvSpPr>
        <p:spPr>
          <a:xfrm>
            <a:off x="3704114" y="7997490"/>
            <a:ext cx="569603" cy="652694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3E1EC34-4DB0-4753-9A88-053F2E2AF97D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490EB70-62E0-44D4-ACED-CA68E41D033C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83C1E1C-EE08-420E-AE05-578F163CD2FD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176CA72-BC98-4B57-AD49-731C6682B77D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B1EB216-59CB-4CF7-9035-AD68CFB88A03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3: target ligand</a:t>
            </a:r>
          </a:p>
        </p:txBody>
      </p:sp>
      <p:pic>
        <p:nvPicPr>
          <p:cNvPr id="164" name="local_gt" descr="9WUP local_gt; native ChimeraX; source C:\Users\15919\Desktop\论文草稿\画图\formal\E2E_flow_20261003\9wup\renders\local_gt.png; editable crop only"/>
          <p:cNvPicPr>
            <a:picLocks noChangeAspect="1"/>
          </p:cNvPicPr>
          <p:nvPr/>
        </p:nvPicPr>
        <p:blipFill>
          <a:blip r:embed="rId8"/>
          <a:srcRect l="9444" t="1944" r="14236" b="2407"/>
          <a:stretch>
            <a:fillRect/>
          </a:stretch>
        </p:blipFill>
        <p:spPr>
          <a:xfrm>
            <a:off x="8156438" y="7115175"/>
            <a:ext cx="3546749" cy="3333750"/>
          </a:xfrm>
          <a:prstGeom prst="rect">
            <a:avLst/>
          </a:prstGeom>
        </p:spPr>
      </p:pic>
      <p:pic>
        <p:nvPicPr>
          <p:cNvPr id="165" name="local_find" descr="9WUP local_find; native ChimeraX; source C:\Users\15919\Desktop\论文草稿\画图\formal\E2E_flow_20261003\9wup\renders\local_find.png; editable crop only"/>
          <p:cNvPicPr>
            <a:picLocks noChangeAspect="1"/>
          </p:cNvPicPr>
          <p:nvPr/>
        </p:nvPicPr>
        <p:blipFill>
          <a:blip r:embed="rId9"/>
          <a:srcRect l="9444" t="1944" r="14236" b="2407"/>
          <a:stretch>
            <a:fillRect/>
          </a:stretch>
        </p:blipFill>
        <p:spPr>
          <a:xfrm>
            <a:off x="12490313" y="7115175"/>
            <a:ext cx="3546749" cy="3333750"/>
          </a:xfrm>
          <a:prstGeom prst="rect">
            <a:avLst/>
          </a:prstGeom>
        </p:spPr>
      </p:pic>
      <p:sp>
        <p:nvSpPr>
          <p:cNvPr id="62" name="矩形 61">
            <a:extLst>
              <a:ext uri="{FF2B5EF4-FFF2-40B4-BE49-F238E27FC236}">
                <a16:creationId xmlns:a16="http://schemas.microsoft.com/office/drawing/2014/main" id="{EF6A0C52-45FF-4E2E-9B2B-7CDAC3EC0851}"/>
              </a:ext>
            </a:extLst>
          </p:cNvPr>
          <p:cNvSpPr>
            <a:spLocks noGrp="1"/>
          </p:cNvSpPr>
          <p:nvPr/>
        </p:nvSpPr>
        <p:spPr>
          <a:xfrm>
            <a:off x="7905750" y="1055370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0">
                <a:solidFill>
                  <a:srgbClr val="9A907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9A907C"/>
                </a:solidFill>
                <a:latin typeface="Arial"/>
                <a:ea typeface="Arial"/>
                <a:cs typeface="Arial"/>
              </a:rPr>
              <a:t>Ranks 1–2: free scope skips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56289AD2-8CDB-4119-BF59-1659BDB541DC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97F4AAA-60D0-4244-88FD-AEF83E7EBA34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D76AC07-393B-4C85-ABFE-D58385BD56F9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1F62546A-5937-4334-B828-8BD00D10A136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073EC6A-1958-4EDF-86F9-C1412E7900E4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8" name="Identity 1">
            <a:extLst>
              <a:ext uri="{FF2B5EF4-FFF2-40B4-BE49-F238E27FC236}">
                <a16:creationId xmlns:a16="http://schemas.microsoft.com/office/drawing/2014/main" id="{AD4A9EDB-65FD-456D-9DBE-84FA7A5261F3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5D270341-5FA4-4D28-B396-F375F9C6C7B5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HEM</a:t>
            </a:r>
          </a:p>
        </p:txBody>
      </p:sp>
      <p:pic>
        <p:nvPicPr>
          <p:cNvPr id="174" name="图形 17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587500" y="12230100"/>
            <a:ext cx="2863850" cy="2095500"/>
          </a:xfrm>
          <a:prstGeom prst="rect">
            <a:avLst/>
          </a:prstGeom>
        </p:spPr>
      </p:pic>
      <p:sp>
        <p:nvSpPr>
          <p:cNvPr id="71" name="Identity 2">
            <a:extLst>
              <a:ext uri="{FF2B5EF4-FFF2-40B4-BE49-F238E27FC236}">
                <a16:creationId xmlns:a16="http://schemas.microsoft.com/office/drawing/2014/main" id="{73A0787B-FA7D-4C37-AA61-47441D4EF1B6}"/>
              </a:ext>
            </a:extLst>
          </p:cNvPr>
          <p:cNvSpPr>
            <a:spLocks noGrp="1"/>
          </p:cNvSpPr>
          <p:nvPr/>
        </p:nvSpPr>
        <p:spPr>
          <a:xfrm>
            <a:off x="50673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9805F0E-F80F-4620-9D21-E5AFEC85AF57}"/>
              </a:ext>
            </a:extLst>
          </p:cNvPr>
          <p:cNvSpPr>
            <a:spLocks noGrp="1"/>
          </p:cNvSpPr>
          <p:nvPr/>
        </p:nvSpPr>
        <p:spPr>
          <a:xfrm>
            <a:off x="52387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7" name="图形 17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308324" y="12230100"/>
            <a:ext cx="3080301" cy="2095500"/>
          </a:xfrm>
          <a:prstGeom prst="rect">
            <a:avLst/>
          </a:prstGeom>
        </p:spPr>
      </p:pic>
      <p:sp>
        <p:nvSpPr>
          <p:cNvPr id="74" name="Identity 3">
            <a:extLst>
              <a:ext uri="{FF2B5EF4-FFF2-40B4-BE49-F238E27FC236}">
                <a16:creationId xmlns:a16="http://schemas.microsoft.com/office/drawing/2014/main" id="{644BF074-65C6-4DF0-8C4E-11098B1B2CE2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356235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463C7D47-DCE3-4DE8-B57A-2787A707F49B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3  FMN</a:t>
            </a:r>
          </a:p>
        </p:txBody>
      </p:sp>
      <p:pic>
        <p:nvPicPr>
          <p:cNvPr id="180" name="图形 17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039225" y="12286575"/>
            <a:ext cx="3276600" cy="1982550"/>
          </a:xfrm>
          <a:prstGeom prst="rect">
            <a:avLst/>
          </a:prstGeom>
        </p:spPr>
      </p:pic>
      <p:sp>
        <p:nvSpPr>
          <p:cNvPr id="77" name="矩形 76">
            <a:extLst>
              <a:ext uri="{FF2B5EF4-FFF2-40B4-BE49-F238E27FC236}">
                <a16:creationId xmlns:a16="http://schemas.microsoft.com/office/drawing/2014/main" id="{A1BEEC26-8C73-47B2-9090-D1E25A38247B}"/>
              </a:ext>
            </a:extLst>
          </p:cNvPr>
          <p:cNvSpPr>
            <a:spLocks noGrp="1"/>
          </p:cNvSpPr>
          <p:nvPr/>
        </p:nvSpPr>
        <p:spPr>
          <a:xfrm>
            <a:off x="9067800" y="14249400"/>
            <a:ext cx="3219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8" name="Identity 4">
            <a:extLst>
              <a:ext uri="{FF2B5EF4-FFF2-40B4-BE49-F238E27FC236}">
                <a16:creationId xmlns:a16="http://schemas.microsoft.com/office/drawing/2014/main" id="{C569D45F-855A-475D-81C8-3AA463B67B99}"/>
              </a:ext>
            </a:extLst>
          </p:cNvPr>
          <p:cNvSpPr>
            <a:spLocks noGrp="1"/>
          </p:cNvSpPr>
          <p:nvPr/>
        </p:nvSpPr>
        <p:spPr>
          <a:xfrm>
            <a:off x="127254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F4ECF0-E4C6-4C6A-8EDA-FAE0907325FB}"/>
              </a:ext>
            </a:extLst>
          </p:cNvPr>
          <p:cNvSpPr>
            <a:spLocks noGrp="1"/>
          </p:cNvSpPr>
          <p:nvPr/>
        </p:nvSpPr>
        <p:spPr>
          <a:xfrm>
            <a:off x="128968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4  Identity4</a:t>
            </a:r>
          </a:p>
        </p:txBody>
      </p:sp>
      <p:pic>
        <p:nvPicPr>
          <p:cNvPr id="184" name="图形 18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2868275" y="12338824"/>
            <a:ext cx="3276600" cy="1878051"/>
          </a:xfrm>
          <a:prstGeom prst="rect">
            <a:avLst/>
          </a:prstGeom>
        </p:spPr>
      </p:pic>
      <p:sp>
        <p:nvSpPr>
          <p:cNvPr id="81" name="椭圆 80">
            <a:extLst>
              <a:ext uri="{FF2B5EF4-FFF2-40B4-BE49-F238E27FC236}">
                <a16:creationId xmlns:a16="http://schemas.microsoft.com/office/drawing/2014/main" id="{3F3E5F11-E158-402D-B706-5482C54B5857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55538D2C-1612-4FC6-9B98-5DBC3DA4245E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1FB312D-6A7D-4C79-9A8C-B0ED2E42B724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4E98B05-4EFE-49A4-AD22-3BC6112FA94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3C27F31-23FA-4632-B4AA-001EB3D8DCC0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EF53C48B-0B84-46FE-9185-3F4D5E31DB4E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91" name="dock_receptor" descr="9WUP dock_receptor; native ChimeraX; source C:\Users\15919\Desktop\论文草稿\画图\formal\E2E_flow_20261003\9wup\renders\dock_receptor.png; editable crop only"/>
          <p:cNvPicPr>
            <a:picLocks noChangeAspect="1"/>
          </p:cNvPicPr>
          <p:nvPr/>
        </p:nvPicPr>
        <p:blipFill>
          <a:blip r:embed="rId14"/>
          <a:srcRect l="4861" r="8889"/>
          <a:stretch>
            <a:fillRect/>
          </a:stretch>
        </p:blipFill>
        <p:spPr>
          <a:xfrm>
            <a:off x="1881188" y="15944850"/>
            <a:ext cx="3286125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7A480862-F8FE-47F8-B242-9CD174F692FF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65502F2-6DCC-43A9-AA04-30E59F1EF59F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4" name="dock_density" descr="9WUP dock_density; native ChimeraX; source C:\Users\15919\Desktop\论文草稿\画图\formal\E2E_flow_20261003\9wup\renders\dock_density.png; editable crop only"/>
          <p:cNvPicPr>
            <a:picLocks noChangeAspect="1"/>
          </p:cNvPicPr>
          <p:nvPr/>
        </p:nvPicPr>
        <p:blipFill>
          <a:blip r:embed="rId15"/>
          <a:srcRect l="4861" r="8889"/>
          <a:stretch>
            <a:fillRect/>
          </a:stretch>
        </p:blipFill>
        <p:spPr>
          <a:xfrm>
            <a:off x="7119938" y="15944850"/>
            <a:ext cx="3286125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2D308A95-E2D5-4B6B-8AE6-D073492FBEF6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FB374925-F197-45DA-890F-C81419E49D80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7" name="dock_gt_overlay" descr="9WUP dock_gt_overlay; native ChimeraX; source C:\Users\15919\Desktop\论文草稿\画图\formal\E2E_flow_20261003\9wup\renders\dock_gt_overlay.png; editable crop only"/>
          <p:cNvPicPr>
            <a:picLocks noChangeAspect="1"/>
          </p:cNvPicPr>
          <p:nvPr/>
        </p:nvPicPr>
        <p:blipFill>
          <a:blip r:embed="rId16"/>
          <a:srcRect l="4861" r="8889"/>
          <a:stretch>
            <a:fillRect/>
          </a:stretch>
        </p:blipFill>
        <p:spPr>
          <a:xfrm>
            <a:off x="12358688" y="15944850"/>
            <a:ext cx="3286125" cy="2857500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175749A7-01C1-45A7-8825-47935EB8667C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0.52 Å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C694928F-B967-4D8A-8C92-576CB89ABA4F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6E5C265-24AB-4B9F-96B4-EF05BC060F1B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F04618D4-AEEB-400F-997C-8009EE537C73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E7961E8-DB32-4EDC-88FA-CEB6A6176704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942492D7-62BE-4518-A916-485480A1A708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94B7D59E-38DB-417A-AEA5-A7856D25B473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39ED7D58-5D99-4528-B181-AD89CE43676C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D6EBB6FC-F664-4B2F-8CC1-C960FC54E508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3C0A676B-2C85-410B-A0A2-6B9E73420FE8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025B2E3C-D3B3-4AF5-8334-2154D0734737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3935643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76B13EE0-6EA4-4E82-90D9-B27A06C1538D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9XZL  AGS (F:1001)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6E118C1-26E4-4213-886A-6D55FE6F0861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Earlier out-of-scope ligands; reconstruction at rank 2</a:t>
            </a:r>
            <a:endParaRPr sz="2400" b="0">
              <a:solidFill>
                <a:srgbClr val="60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94CEE811-C027-4840-9DF0-231B07C59599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B8FB8B4-C739-42AF-806F-2F0B5A114873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B8092058-CA90-4ACC-A1B9-F4BBCD53D043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5851F8B9-2A85-4CB5-8BAA-6BEAD9A51DFE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27DD6E6C-523F-4945-83FE-334E168542BD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96EECFC0-1971-497D-B8B5-6FB088A959E9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5C1AAC89-4AE9-4F21-8420-7D58F55F5161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8EFF5552-56F8-4727-B666-1761309E1187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D5D71CA-6526-4175-9854-08A61A20D72C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5DFF642B-1C59-4216-8527-F8657EDB0987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D63F4B-F554-479A-82F4-85C49123049B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4CECC9-24B6-4C81-9A58-2703AEB4614B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5A57B493-2585-47E8-9243-016AA83D145A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968062-51B2-49C7-9C4D-F4DCB6ACEBF5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B7DD893-166C-421C-8848-D5B2EFCC29D7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9" name="global_density_same_scale" descr="9XZL global_density_same_scale; native ChimeraX; source C:\Users\15919\Desktop\论文草稿\画图\formal\E2E_flow_v2_20261003\9xzl\renders\global_density_same_scale.png; editable crop only"/>
          <p:cNvPicPr>
            <a:picLocks noChangeAspect="1"/>
          </p:cNvPicPr>
          <p:nvPr/>
        </p:nvPicPr>
        <p:blipFill>
          <a:blip r:embed="rId4"/>
          <a:srcRect l="23964" t="13000" r="26593" b="16533"/>
          <a:stretch>
            <a:fillRect/>
          </a:stretch>
        </p:blipFill>
        <p:spPr>
          <a:xfrm>
            <a:off x="2187587" y="2476500"/>
            <a:ext cx="2673325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1C3F12D3-C89E-4AA6-BA0C-36E97AD2CE6F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2D08C56-6B73-45CC-8673-EEFC7AD1E2B1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2" name="global_ca2" descr="9XZL global_ca2; native ChimeraX; source C:\Users\15919\Desktop\论文草稿\画图\formal\E2E_flow_20261003\9xzl\renders\global_ca2.png; editable crop only"/>
          <p:cNvPicPr>
            <a:picLocks noChangeAspect="1"/>
          </p:cNvPicPr>
          <p:nvPr/>
        </p:nvPicPr>
        <p:blipFill>
          <a:blip r:embed="rId5"/>
          <a:srcRect l="23964" t="13000" r="26593" b="16533"/>
          <a:stretch>
            <a:fillRect/>
          </a:stretch>
        </p:blipFill>
        <p:spPr>
          <a:xfrm>
            <a:off x="7426337" y="2476500"/>
            <a:ext cx="2673325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B44423D2-5E2B-4CF5-981F-B272312CDEAF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C75EDBD-A824-4B0E-B992-CAA01116DB92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5" name="global_gt" descr="9XZL global_gt; native ChimeraX; source C:\Users\15919\Desktop\论文草稿\画图\formal\E2E_flow_20261003\9xzl\renders\global_gt.png; editable crop only"/>
          <p:cNvPicPr>
            <a:picLocks noChangeAspect="1"/>
          </p:cNvPicPr>
          <p:nvPr/>
        </p:nvPicPr>
        <p:blipFill>
          <a:blip r:embed="rId6"/>
          <a:srcRect l="23964" t="13000" r="26593" b="16533"/>
          <a:stretch>
            <a:fillRect/>
          </a:stretch>
        </p:blipFill>
        <p:spPr>
          <a:xfrm>
            <a:off x="12665087" y="2476500"/>
            <a:ext cx="2673325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8621851E-32A0-4657-B8AA-8D147A56F367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ED90248B-9E74-4FBF-AF44-B49EBA8B8C4B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94B21706-5F04-4042-A132-03736F10DD22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DA0BB47-DD47-43BD-B0F1-CFA82CF297E5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1DD85B6D-F17F-47FD-A738-AD18F5A635D0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2F163A72-B820-4750-97F9-0E60DAB56E86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A641FFDF-BE8E-4AF1-92B5-E2B2464AA749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C9178D22-C9F0-4A6F-8074-9D3ECC91B098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2A8DDC-6C28-4C69-817C-C3CC438354ED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6797DB43-E90E-4F0E-921B-A6E1605BA0F4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E0A4B249-1423-461C-A14F-7681290EC0EC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41BC7716-358A-44A9-864E-989B835F809F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7DA232FB-4622-4B4C-8D76-241579492B6C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5A6D9D7-D6DC-4944-925A-1379E4B45A46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CAE7887-C2C2-45FC-B717-93441B6E85E9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BE575AD0-5CA9-42B4-B6B7-DB507BD89BB3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9B37A4EB-9A13-419E-9C27-00B541A0BE91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46F0F6A-0442-43B9-89AB-40289AB2A5FB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737D9E-24B1-4F7E-B53C-B8968CFD523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F4ACEE3-C888-4EED-9C59-0E7ADD00451E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6312D13D-430D-4200-B818-DB2A7F65DEC5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DC16CF92-AA4C-4330-8718-CB54CF734139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3DA04322-DF6C-475E-A768-21F71FA4A156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6F3713E-AF41-4581-87D7-1A6023F04794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8FB25-053D-4D8D-96F3-DEA269A04DB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6F55BAA9-5119-472C-9BE4-7E7A54D44953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9ED4777-C375-45B3-B454-BF7D9D26DF23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8B89989-BB28-44FC-9EBD-D8A78C8AFD22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4" name="global_find" descr="9XZL global_find; native ChimeraX; source C:\Users\15919\Desktop\论文草稿\画图\formal\E2E_flow_v2_20261003\9xzl\renders\global_find.png; editable crop only"/>
          <p:cNvPicPr>
            <a:picLocks noChangeAspect="1"/>
          </p:cNvPicPr>
          <p:nvPr/>
        </p:nvPicPr>
        <p:blipFill>
          <a:blip r:embed="rId7"/>
          <a:srcRect l="23964" t="14727" r="26652" b="16537"/>
          <a:stretch>
            <a:fillRect/>
          </a:stretch>
        </p:blipFill>
        <p:spPr>
          <a:xfrm>
            <a:off x="2229239" y="6715125"/>
            <a:ext cx="3923521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69301BF5-CAA2-45FE-AA62-F67BA00660A7}"/>
              </a:ext>
            </a:extLst>
          </p:cNvPr>
          <p:cNvSpPr>
            <a:spLocks noGrp="1"/>
          </p:cNvSpPr>
          <p:nvPr/>
        </p:nvSpPr>
        <p:spPr>
          <a:xfrm>
            <a:off x="4305887" y="8246231"/>
            <a:ext cx="706178" cy="727502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A470AFC-5C9E-4968-BC2E-B9CF4D0E18E7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709E952-AD42-4554-8866-986E62DCD644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37FD02D-75E1-40B7-85AD-62B4BF5B7A79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64F9E31-7FD5-4A99-8906-C4811112CDB5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ED905CA-A4E0-4D5D-A977-FD5BDE29A3D1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</a:t>
            </a:r>
          </a:p>
        </p:txBody>
      </p:sp>
      <p:pic>
        <p:nvPicPr>
          <p:cNvPr id="161" name="local_gt" descr="9XZL local_gt; native ChimeraX; source C:\Users\15919\Desktop\论文草稿\画图\formal\E2E_flow_20261003\9xzl\renders\local_gt.png; editable crop only"/>
          <p:cNvPicPr>
            <a:picLocks noChangeAspect="1"/>
          </p:cNvPicPr>
          <p:nvPr/>
        </p:nvPicPr>
        <p:blipFill>
          <a:blip r:embed="rId8"/>
          <a:srcRect l="18125" r="10556" b="3611"/>
          <a:stretch>
            <a:fillRect/>
          </a:stretch>
        </p:blipFill>
        <p:spPr>
          <a:xfrm>
            <a:off x="8285355" y="7115175"/>
            <a:ext cx="3288916" cy="3333750"/>
          </a:xfrm>
          <a:prstGeom prst="rect">
            <a:avLst/>
          </a:prstGeom>
        </p:spPr>
      </p:pic>
      <p:pic>
        <p:nvPicPr>
          <p:cNvPr id="162" name="local_find" descr="9XZL local_find; native ChimeraX; source C:\Users\15919\Desktop\论文草稿\画图\formal\E2E_flow_20261003\9xzl\renders\local_find.png; editable crop only"/>
          <p:cNvPicPr>
            <a:picLocks noChangeAspect="1"/>
          </p:cNvPicPr>
          <p:nvPr/>
        </p:nvPicPr>
        <p:blipFill>
          <a:blip r:embed="rId9"/>
          <a:srcRect l="18125" r="10556" b="3611"/>
          <a:stretch>
            <a:fillRect/>
          </a:stretch>
        </p:blipFill>
        <p:spPr>
          <a:xfrm>
            <a:off x="12619230" y="7115175"/>
            <a:ext cx="3288916" cy="3333750"/>
          </a:xfrm>
          <a:prstGeom prst="rect">
            <a:avLst/>
          </a:prstGeom>
        </p:spPr>
      </p:pic>
      <p:sp>
        <p:nvSpPr>
          <p:cNvPr id="62" name="矩形 61">
            <a:extLst>
              <a:ext uri="{FF2B5EF4-FFF2-40B4-BE49-F238E27FC236}">
                <a16:creationId xmlns:a16="http://schemas.microsoft.com/office/drawing/2014/main" id="{CE6DCEDF-349E-47F3-B692-AC58A17D10B8}"/>
              </a:ext>
            </a:extLst>
          </p:cNvPr>
          <p:cNvSpPr>
            <a:spLocks noGrp="1"/>
          </p:cNvSpPr>
          <p:nvPr/>
        </p:nvSpPr>
        <p:spPr>
          <a:xfrm>
            <a:off x="7905750" y="1055370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0">
                <a:solidFill>
                  <a:srgbClr val="9A907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9A907C"/>
                </a:solidFill>
                <a:latin typeface="Arial"/>
                <a:ea typeface="Arial"/>
                <a:cs typeface="Arial"/>
              </a:rPr>
              <a:t>Rank 1: free scope skip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62BA612-7ED3-4964-B96F-1E9FA59ED256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D410E43-989C-4DCE-A71D-E89020A93A80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E3A797C1-30A9-40CF-B75F-0D398945BAA7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45E61F0A-17C3-4C7A-B70B-CDDDF2346B96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5D5CDEE-E046-4670-9E30-BF209C53F8F1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8" name="Identity 1">
            <a:extLst>
              <a:ext uri="{FF2B5EF4-FFF2-40B4-BE49-F238E27FC236}">
                <a16:creationId xmlns:a16="http://schemas.microsoft.com/office/drawing/2014/main" id="{09A046F1-13EF-48A3-BE08-27FC18AE2606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F2F87956-7BBF-4FB6-BCE8-1D8037695139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AGS</a:t>
            </a:r>
          </a:p>
        </p:txBody>
      </p:sp>
      <p:pic>
        <p:nvPicPr>
          <p:cNvPr id="171" name="图形 17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311983"/>
            <a:ext cx="4552950" cy="1931735"/>
          </a:xfrm>
          <a:prstGeom prst="rect">
            <a:avLst/>
          </a:prstGeom>
        </p:spPr>
      </p:pic>
      <p:sp>
        <p:nvSpPr>
          <p:cNvPr id="71" name="矩形 70">
            <a:extLst>
              <a:ext uri="{FF2B5EF4-FFF2-40B4-BE49-F238E27FC236}">
                <a16:creationId xmlns:a16="http://schemas.microsoft.com/office/drawing/2014/main" id="{B94C7794-5A2F-464C-8DAC-8E1998406B05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2" name="Identity 2">
            <a:extLst>
              <a:ext uri="{FF2B5EF4-FFF2-40B4-BE49-F238E27FC236}">
                <a16:creationId xmlns:a16="http://schemas.microsoft.com/office/drawing/2014/main" id="{61EA0381-AC4E-4E04-8FCE-45187A447A37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B9C5E8C-732A-4AF8-9BAD-1D0E81EF6F36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5" name="图形 17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116824" y="12896850"/>
            <a:ext cx="1292352" cy="762000"/>
          </a:xfrm>
          <a:prstGeom prst="rect">
            <a:avLst/>
          </a:prstGeom>
        </p:spPr>
      </p:pic>
      <p:sp>
        <p:nvSpPr>
          <p:cNvPr id="75" name="Identity 3">
            <a:extLst>
              <a:ext uri="{FF2B5EF4-FFF2-40B4-BE49-F238E27FC236}">
                <a16:creationId xmlns:a16="http://schemas.microsoft.com/office/drawing/2014/main" id="{21F8E5D5-CC18-4860-AF7C-41386F645D30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824A3214-9BD0-41E5-A7EB-D1C852270827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ZN</a:t>
            </a:r>
          </a:p>
        </p:txBody>
      </p:sp>
      <p:pic>
        <p:nvPicPr>
          <p:cNvPr id="178" name="图形 17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161390" y="12896850"/>
            <a:ext cx="1414021" cy="762000"/>
          </a:xfrm>
          <a:prstGeom prst="rect">
            <a:avLst/>
          </a:prstGeom>
        </p:spPr>
      </p:pic>
      <p:sp>
        <p:nvSpPr>
          <p:cNvPr id="78" name="椭圆 77">
            <a:extLst>
              <a:ext uri="{FF2B5EF4-FFF2-40B4-BE49-F238E27FC236}">
                <a16:creationId xmlns:a16="http://schemas.microsoft.com/office/drawing/2014/main" id="{3097AE96-F7BE-42E2-B8DE-04E31E82C0B7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D50F418-DE0C-4A63-BFA4-41DFD49F4E98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7FD2928-F1AC-41F0-9537-AE421F2F2779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0D79978-DB28-4FF0-9711-00AC12C60DD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938CCE9-F567-4AD9-9AD8-203D79200B8C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9B8224D-92F7-4515-B2A2-46736FB82045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5" name="dock_receptor" descr="9XZL dock_receptor; native ChimeraX; source C:\Users\15919\Desktop\论文草稿\画图\formal\E2E_flow_20261003\9xzl\renders\dock_receptor.png; editable crop only"/>
          <p:cNvPicPr>
            <a:picLocks noChangeAspect="1"/>
          </p:cNvPicPr>
          <p:nvPr/>
        </p:nvPicPr>
        <p:blipFill>
          <a:blip r:embed="rId13"/>
          <a:srcRect l="12569" r="7361"/>
          <a:stretch>
            <a:fillRect/>
          </a:stretch>
        </p:blipFill>
        <p:spPr>
          <a:xfrm>
            <a:off x="1998927" y="15944850"/>
            <a:ext cx="3050646" cy="2857500"/>
          </a:xfrm>
          <a:prstGeom prst="rect">
            <a:avLst/>
          </a:prstGeom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84A722DC-7573-4E82-A5E8-01BA0E068780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B76E524-462C-4B8E-9301-296E931B9CB2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8" name="dock_density" descr="9XZL dock_density; native ChimeraX; source C:\Users\15919\Desktop\论文草稿\画图\formal\E2E_flow_20261003\9xzl\renders\dock_density.png; editable crop only"/>
          <p:cNvPicPr>
            <a:picLocks noChangeAspect="1"/>
          </p:cNvPicPr>
          <p:nvPr/>
        </p:nvPicPr>
        <p:blipFill>
          <a:blip r:embed="rId14"/>
          <a:srcRect l="12569" r="7361"/>
          <a:stretch>
            <a:fillRect/>
          </a:stretch>
        </p:blipFill>
        <p:spPr>
          <a:xfrm>
            <a:off x="7237677" y="15944850"/>
            <a:ext cx="3050646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527C2401-A782-4277-8B9E-AA8EA399FEA5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48036AE-2F54-4F08-ABAD-CAF3762B707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1" name="dock_gt_overlay" descr="9XZL dock_gt_overlay; native ChimeraX; source C:\Users\15919\Desktop\论文草稿\画图\formal\E2E_flow_20261003\9xzl\renders\dock_gt_overlay.png; editable crop only"/>
          <p:cNvPicPr>
            <a:picLocks noChangeAspect="1"/>
          </p:cNvPicPr>
          <p:nvPr/>
        </p:nvPicPr>
        <p:blipFill>
          <a:blip r:embed="rId15"/>
          <a:srcRect l="12569" r="7361"/>
          <a:stretch>
            <a:fillRect/>
          </a:stretch>
        </p:blipFill>
        <p:spPr>
          <a:xfrm>
            <a:off x="12476427" y="15944850"/>
            <a:ext cx="3050646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299AFDDD-5D02-45B8-9B1E-D82213AE3F48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0.91 Å</a:t>
            </a: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350E5194-7A5E-412B-BF44-595EA6FC5F5C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0AE963-A20E-415F-A193-66F763BB7FAD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A8FA16A9-6056-4314-9FB7-15DF7687F3E7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D93B7FC-43E1-48B4-9DF6-FC22637B799D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6ED8ED8E-2A0E-48FF-958F-D4EBA493E0F5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150A1D3C-E229-437D-A8DE-F14910B6AAE0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FBC07269-8406-4C75-97D9-7611191D9B73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8F9035-7960-497D-910C-0E4AC94683AA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0A3331C2-9AEC-4249-9398-E894BE0CF489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7F88EA65-CD0D-47DB-9893-6730252BEC53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1201818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2631</Words>
  <Application>Microsoft Office PowerPoint</Application>
  <DocSecurity>0</DocSecurity>
  <PresentationFormat>自定义</PresentationFormat>
  <Paragraphs>327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21</cp:revision>
  <dcterms:created xsi:type="dcterms:W3CDTF">2026-10-03T15:27:45Z</dcterms:created>
  <dcterms:modified xsi:type="dcterms:W3CDTF">2026-10-04T06:53:05Z</dcterms:modified>
</cp:coreProperties>
</file>