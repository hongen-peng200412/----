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10795000"/>
  <p:notesSz cx="10795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7486" autoAdjust="0"/>
  </p:normalViewPr>
  <p:slideViewPr>
    <p:cSldViewPr snapToGrid="0" snapToObjects="1">
      <p:cViewPr varScale="1">
        <p:scale>
          <a:sx n="47" d="100"/>
          <a:sy n="47" d="100"/>
        </p:scale>
        <p:origin x="14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8C2FC2-D9AB-488B-B9ED-0C0227DDBAC8}" authorId="{D3F71A66-0C34-DF1A-5236-FECDBC820DCB}" created="2026-10-01T09:38:08.524">
    <pc:sldMkLst xmlns:pc="http://schemas.microsoft.com/office/powerpoint/2013/main/command">
      <pc:docMk/>
      <pc:sldMk cId="0" sldId="256"/>
    </pc:sldMkLst>
    <p188:pos x="101600" y="101600"/>
    <p188:txBody>
      <a:bodyPr/>
      <a:lstStyle/>
      <a:p>
        <a:r>
          <a:rPr lang="zh-CN" altLang="en-US"/>
          <a:t>@@stage2-radar-pair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23AB8C-3E60-4560-A8B1-22D3EBE4A200}" authorId="{D3F71A66-0C34-DF1A-5236-FECDBC820DCB}" created="2026-10-01T09:38:08.529">
    <pc:sldMkLst xmlns:pc="http://schemas.microsoft.com/office/powerpoint/2013/main/command">
      <pc:docMk/>
      <pc:sldMk cId="0" sldId="257"/>
    </pc:sldMkLst>
    <p188:pos x="101600" y="101600"/>
    <p188:txBody>
      <a:bodyPr/>
      <a:lstStyle/>
      <a:p>
        <a:r>
          <a:rPr lang="zh-CN" altLang="en-US"/>
          <a:t>@@stage2-strongest-pair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2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4 | </a:t>
            </a:r>
            <a:r>
              <a:rPr lang="zh-CN" altLang="en-US" dirty="0"/>
              <a:t>真实受体（</a:t>
            </a:r>
            <a:r>
              <a:rPr lang="en-US" altLang="zh-CN" dirty="0"/>
              <a:t>a</a:t>
            </a:r>
            <a:r>
              <a:rPr lang="zh-CN" altLang="en-US" dirty="0"/>
              <a:t>）和 </a:t>
            </a:r>
            <a:r>
              <a:rPr lang="en-US" altLang="zh-CN" dirty="0"/>
              <a:t>CryoAtom2</a:t>
            </a:r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）条件下的前景 </a:t>
            </a:r>
            <a:r>
              <a:rPr lang="en-US" altLang="zh-CN" dirty="0"/>
              <a:t>F1 </a:t>
            </a:r>
            <a:r>
              <a:rPr lang="zh-CN" altLang="en-US" dirty="0"/>
              <a:t>与 配体身份匹配正确率。六轴自顶端顺时针为总体 </a:t>
            </a:r>
            <a:r>
              <a:rPr lang="en-US" altLang="zh-CN" dirty="0"/>
              <a:t>SMILES</a:t>
            </a:r>
            <a:r>
              <a:rPr lang="zh-CN" altLang="en-US" dirty="0"/>
              <a:t>、小分子、糖、前景 </a:t>
            </a:r>
            <a:r>
              <a:rPr lang="en-US" altLang="zh-CN" dirty="0"/>
              <a:t>F1</a:t>
            </a:r>
            <a:r>
              <a:rPr lang="zh-CN" altLang="en-US" dirty="0"/>
              <a:t>、金属离子和肽类；径向坐标为 </a:t>
            </a:r>
            <a:r>
              <a:rPr lang="en-US" altLang="zh-CN" dirty="0"/>
              <a:t>20–100%</a:t>
            </a:r>
            <a:r>
              <a:rPr lang="zh-CN" altLang="en-US" dirty="0"/>
              <a:t>。前景阈值由验证集冻结。真实受体条件下有 </a:t>
            </a:r>
            <a:r>
              <a:rPr lang="en-US" altLang="zh-CN" dirty="0"/>
              <a:t>1,653 </a:t>
            </a:r>
            <a:r>
              <a:rPr lang="zh-CN" altLang="en-US" dirty="0"/>
              <a:t>个候选，其中</a:t>
            </a:r>
            <a:r>
              <a:rPr lang="en-US" altLang="zh-CN" dirty="0"/>
              <a:t>1,238 </a:t>
            </a:r>
            <a:r>
              <a:rPr lang="zh-CN" altLang="en-US" dirty="0"/>
              <a:t>个为前景，具体对应 </a:t>
            </a:r>
            <a:r>
              <a:rPr lang="en-US" altLang="zh-CN" dirty="0"/>
              <a:t>389 </a:t>
            </a:r>
            <a:r>
              <a:rPr lang="zh-CN" altLang="en-US" dirty="0"/>
              <a:t>个小分子、</a:t>
            </a:r>
            <a:r>
              <a:rPr lang="en-US" altLang="zh-CN" dirty="0"/>
              <a:t>284 </a:t>
            </a:r>
            <a:r>
              <a:rPr lang="zh-CN" altLang="en-US" dirty="0"/>
              <a:t>个糖、</a:t>
            </a:r>
            <a:r>
              <a:rPr lang="en-US" altLang="zh-CN" dirty="0"/>
              <a:t>564 </a:t>
            </a:r>
            <a:r>
              <a:rPr lang="zh-CN" altLang="en-US" dirty="0"/>
              <a:t>个金属离子和</a:t>
            </a:r>
            <a:r>
              <a:rPr lang="en-US" altLang="zh-CN" dirty="0"/>
              <a:t>1 </a:t>
            </a:r>
            <a:r>
              <a:rPr lang="zh-CN" altLang="en-US" dirty="0"/>
              <a:t>个肽；</a:t>
            </a:r>
            <a:r>
              <a:rPr lang="en-US" altLang="zh-CN" dirty="0"/>
              <a:t>CryoAtom2 </a:t>
            </a:r>
            <a:r>
              <a:rPr lang="zh-CN" altLang="en-US" dirty="0"/>
              <a:t>条件下有 </a:t>
            </a:r>
            <a:r>
              <a:rPr lang="en-US" altLang="zh-CN" dirty="0"/>
              <a:t>1,651 </a:t>
            </a:r>
            <a:r>
              <a:rPr lang="zh-CN" altLang="en-US" dirty="0"/>
              <a:t>个候选，其中 </a:t>
            </a:r>
            <a:r>
              <a:rPr lang="en-US" altLang="zh-CN" dirty="0"/>
              <a:t>1,160 </a:t>
            </a:r>
            <a:r>
              <a:rPr lang="zh-CN" altLang="en-US" dirty="0"/>
              <a:t>个为前景，具体对应 </a:t>
            </a:r>
            <a:r>
              <a:rPr lang="en-US" altLang="zh-CN" dirty="0"/>
              <a:t>348 </a:t>
            </a:r>
            <a:r>
              <a:rPr lang="zh-CN" altLang="en-US" dirty="0"/>
              <a:t>个小分子、</a:t>
            </a:r>
            <a:r>
              <a:rPr lang="en-US" altLang="zh-CN" dirty="0"/>
              <a:t>277</a:t>
            </a:r>
            <a:r>
              <a:rPr lang="zh-CN" altLang="en-US" dirty="0"/>
              <a:t>个糖、</a:t>
            </a:r>
            <a:r>
              <a:rPr lang="en-US" altLang="zh-CN" dirty="0"/>
              <a:t>534</a:t>
            </a:r>
            <a:r>
              <a:rPr lang="zh-CN" altLang="en-US" dirty="0"/>
              <a:t>个金属离子和 </a:t>
            </a:r>
            <a:r>
              <a:rPr lang="en-US" altLang="zh-CN" dirty="0"/>
              <a:t>1 </a:t>
            </a:r>
            <a:r>
              <a:rPr lang="zh-CN" altLang="en-US" dirty="0"/>
              <a:t>个肽。特别地，菱形表示 </a:t>
            </a:r>
            <a:r>
              <a:rPr lang="en-US" altLang="zh-CN" dirty="0"/>
              <a:t>EMERALD-ID </a:t>
            </a:r>
            <a:r>
              <a:rPr lang="zh-CN" altLang="en-US" dirty="0"/>
              <a:t>在独立小分子测试集上的准确率，并只在返回有效预测结果的位点上取平均，其中真实受体条件下有</a:t>
            </a:r>
            <a:r>
              <a:rPr lang="en-US" altLang="zh-CN" dirty="0"/>
              <a:t>282 </a:t>
            </a:r>
            <a:r>
              <a:rPr lang="zh-CN" altLang="en-US" dirty="0"/>
              <a:t>个位点返回了预测结果，</a:t>
            </a:r>
            <a:r>
              <a:rPr lang="en-US" altLang="zh-CN" dirty="0"/>
              <a:t>CryoAtom2 </a:t>
            </a:r>
            <a:r>
              <a:rPr lang="zh-CN" altLang="en-US" dirty="0"/>
              <a:t>条件下则有</a:t>
            </a:r>
            <a:r>
              <a:rPr lang="en-US" altLang="zh-CN" dirty="0"/>
              <a:t>313 </a:t>
            </a:r>
            <a:r>
              <a:rPr lang="zh-CN" altLang="en-US" dirty="0"/>
              <a:t>个位点返回了预测结果。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图 5 | strongest 模型在真实受体（a）和 CryoAtom2受体（b）条件下的配体身份匹配精度，与竞争的配体身份数的关系。在真实受体条件下，竞争配体身份数为1，2，3，4，</a:t>
            </a:r>
            <a:r>
              <a:rPr lang="en-US" altLang="zh-CN"/>
              <a:t>&gt;=</a:t>
            </a:r>
            <a:r>
              <a:rPr lang="zh-CN" altLang="zh-CN"/>
              <a:t>5</a:t>
            </a:r>
            <a:r>
              <a:rPr lang="zh-CN" altLang="zh-CN" dirty="0"/>
              <a:t>的位点分别有419、459、113、85、162；在CryoAtom2 条件下，竞争配体身份数为1，2，3，4，</a:t>
            </a:r>
            <a:r>
              <a:rPr lang="en-US" altLang="zh-CN" dirty="0"/>
              <a:t>&gt;=</a:t>
            </a:r>
            <a:r>
              <a:rPr lang="zh-CN" altLang="zh-CN" dirty="0"/>
              <a:t>5的位点分别有413、443、91、63、150。竞争配体身份数为1，意味着这个候选区域所在的PDB中只有一种配体身份，准确率自然为100%。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5600" y="1905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60400" y="1905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receptor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02038" y="2103438"/>
            <a:ext cx="1381125" cy="13811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09431" y="197456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81288" y="1182688"/>
            <a:ext cx="3222625" cy="32226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47738" y="1085192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51100" y="9525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7315" y="8628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flipV="1">
            <a:off x="4292600" y="952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51200" y="533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flipV="1">
            <a:off x="4292600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7909" y="140335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2600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8694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92600" y="2794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51200" y="48895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 flipV="1">
            <a:off x="2697814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1546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697814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15460" y="15367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92600" y="1233262"/>
            <a:ext cx="1446171" cy="72579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5304784" y="1959053"/>
            <a:ext cx="433988" cy="1419332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4292600" y="3378384"/>
            <a:ext cx="1012184" cy="935506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35661" y="3635164"/>
            <a:ext cx="1456939" cy="678727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97814" y="1873250"/>
            <a:ext cx="137847" cy="1761914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2697814" y="1233262"/>
            <a:ext cx="1594786" cy="63998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48150" y="1188812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94321" y="191460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60334" y="333393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48150" y="4269441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91211" y="359071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2600" y="1328089"/>
            <a:ext cx="1400050" cy="65759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5150359" y="1985681"/>
            <a:ext cx="542291" cy="1303546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4292600" y="3289227"/>
            <a:ext cx="857759" cy="980233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906352" y="3594351"/>
            <a:ext cx="1386248" cy="675110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697814" y="1873250"/>
            <a:ext cx="208538" cy="172110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2697814" y="1328089"/>
            <a:ext cx="1594786" cy="54516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48150" y="1283639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648200" y="194123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105909" y="3244777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248150" y="422501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61902" y="354990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92600" y="1445228"/>
            <a:ext cx="1271934" cy="61442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5143340" y="2059649"/>
            <a:ext cx="421194" cy="122552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4292600" y="3285175"/>
            <a:ext cx="850740" cy="995367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037130" y="3518846"/>
            <a:ext cx="1255470" cy="76169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697814" y="1873250"/>
            <a:ext cx="339316" cy="164559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2697814" y="1445228"/>
            <a:ext cx="1594786" cy="428022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248150" y="1400778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520084" y="201519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098890" y="3240725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248150" y="4236092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992680" y="3474396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292600" y="1426634"/>
            <a:ext cx="1369302" cy="57679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5009973" y="2003433"/>
            <a:ext cx="651929" cy="120474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4292600" y="3208175"/>
            <a:ext cx="717373" cy="109612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001785" y="3539252"/>
            <a:ext cx="1290815" cy="765048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697814" y="1873250"/>
            <a:ext cx="303971" cy="166600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flipV="1">
            <a:off x="2697814" y="1426634"/>
            <a:ext cx="1594786" cy="44661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248150" y="138218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617452" y="1958983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965523" y="3163725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248150" y="425985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957335" y="3494802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452101" y="1984336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763000" y="21209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902700" y="20764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296400" y="19812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75" name="Shape 72"/>
          <p:cNvSpPr/>
          <p:nvPr/>
        </p:nvSpPr>
        <p:spPr>
          <a:xfrm>
            <a:off x="8763000" y="25146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902700" y="24701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296400" y="23749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8763000" y="29083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902700" y="28638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296400" y="27686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8763000" y="33020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902700" y="32575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296400" y="31623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8851900" y="36195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296400" y="35560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  <p:sp>
        <p:nvSpPr>
          <p:cNvPr id="86" name="Text 83"/>
          <p:cNvSpPr/>
          <p:nvPr/>
        </p:nvSpPr>
        <p:spPr>
          <a:xfrm>
            <a:off x="355600" y="54610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87" name="Text 84"/>
          <p:cNvSpPr/>
          <p:nvPr/>
        </p:nvSpPr>
        <p:spPr>
          <a:xfrm>
            <a:off x="660400" y="54610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 receptor</a:t>
            </a:r>
            <a:endParaRPr lang="en-US" sz="1800" dirty="0"/>
          </a:p>
        </p:txBody>
      </p:sp>
      <p:sp>
        <p:nvSpPr>
          <p:cNvPr id="88" name="Shape 85"/>
          <p:cNvSpPr/>
          <p:nvPr/>
        </p:nvSpPr>
        <p:spPr>
          <a:xfrm>
            <a:off x="3602038" y="7373938"/>
            <a:ext cx="1381125" cy="13811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509431" y="724506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2681288" y="6453188"/>
            <a:ext cx="3222625" cy="32226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747738" y="6355692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2451100" y="62230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807315" y="61333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 flipV="1">
            <a:off x="4292600" y="6223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251200" y="5803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96" name="Shape 93"/>
          <p:cNvSpPr/>
          <p:nvPr/>
        </p:nvSpPr>
        <p:spPr>
          <a:xfrm flipV="1">
            <a:off x="4292600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417909" y="667385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98" name="Shape 95"/>
          <p:cNvSpPr/>
          <p:nvPr/>
        </p:nvSpPr>
        <p:spPr>
          <a:xfrm>
            <a:off x="4292600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518694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00" name="Shape 97"/>
          <p:cNvSpPr/>
          <p:nvPr/>
        </p:nvSpPr>
        <p:spPr>
          <a:xfrm>
            <a:off x="4292600" y="8064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3251200" y="101600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dirty="0"/>
          </a:p>
        </p:txBody>
      </p:sp>
      <p:sp>
        <p:nvSpPr>
          <p:cNvPr id="102" name="Shape 99"/>
          <p:cNvSpPr/>
          <p:nvPr/>
        </p:nvSpPr>
        <p:spPr>
          <a:xfrm flipV="1">
            <a:off x="2697814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31546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104" name="Shape 101"/>
          <p:cNvSpPr/>
          <p:nvPr/>
        </p:nvSpPr>
        <p:spPr>
          <a:xfrm>
            <a:off x="2697814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315460" y="68072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106" name="Shape 103"/>
          <p:cNvSpPr/>
          <p:nvPr/>
        </p:nvSpPr>
        <p:spPr>
          <a:xfrm>
            <a:off x="4292600" y="6532563"/>
            <a:ext cx="1428662" cy="707099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 flipV="1">
            <a:off x="5246881" y="7239661"/>
            <a:ext cx="474382" cy="1375793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 flipV="1">
            <a:off x="4292600" y="8615454"/>
            <a:ext cx="954281" cy="89584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2839673" y="8903348"/>
            <a:ext cx="1452927" cy="60794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697814" y="7143750"/>
            <a:ext cx="141858" cy="175959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 flipV="1">
            <a:off x="2697814" y="6532563"/>
            <a:ext cx="1594786" cy="61118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248150" y="648811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5676812" y="7195211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5202431" y="857100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248150" y="9466846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795223" y="8858898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292600" y="6554391"/>
            <a:ext cx="1451576" cy="67204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 flipV="1">
            <a:off x="5246881" y="7226432"/>
            <a:ext cx="497295" cy="138902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 flipV="1">
            <a:off x="4292600" y="8615454"/>
            <a:ext cx="954281" cy="880669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2895669" y="8871018"/>
            <a:ext cx="1396931" cy="625105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2697814" y="7143750"/>
            <a:ext cx="197855" cy="1727268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 flipV="1">
            <a:off x="2697814" y="6554391"/>
            <a:ext cx="1594786" cy="589359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248150" y="650994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699726" y="7181982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202431" y="8571004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248150" y="9451673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2851219" y="8826568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292600" y="6677422"/>
            <a:ext cx="1337008" cy="61515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 flipV="1">
            <a:off x="5167717" y="7292578"/>
            <a:ext cx="461891" cy="127717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 flipV="1">
            <a:off x="4292600" y="8569749"/>
            <a:ext cx="875117" cy="93222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11396" y="8804204"/>
            <a:ext cx="1281204" cy="69776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2697814" y="7143750"/>
            <a:ext cx="313581" cy="1660454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 flipV="1">
            <a:off x="2697814" y="6677422"/>
            <a:ext cx="1594786" cy="466328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248150" y="6632972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5585158" y="7248128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123267" y="852529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4248150" y="945752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2966946" y="8759754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292600" y="6663531"/>
            <a:ext cx="1422934" cy="579438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 flipV="1">
            <a:off x="5074160" y="7242969"/>
            <a:ext cx="641374" cy="1272765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 flipV="1">
            <a:off x="4292600" y="8515734"/>
            <a:ext cx="781560" cy="99097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2992730" y="8814980"/>
            <a:ext cx="1299870" cy="69173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697814" y="7143750"/>
            <a:ext cx="294916" cy="1671230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 flipV="1">
            <a:off x="2697814" y="6663531"/>
            <a:ext cx="1594786" cy="48021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4248150" y="661908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671084" y="7198519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029710" y="847128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4248150" y="9462263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2948280" y="877053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480038" y="7238706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8763000" y="73914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902700" y="73469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9296400" y="72517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158" name="Shape 155"/>
          <p:cNvSpPr/>
          <p:nvPr/>
        </p:nvSpPr>
        <p:spPr>
          <a:xfrm>
            <a:off x="8763000" y="77851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8902700" y="77406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9296400" y="76454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161" name="Shape 158"/>
          <p:cNvSpPr/>
          <p:nvPr/>
        </p:nvSpPr>
        <p:spPr>
          <a:xfrm>
            <a:off x="8763000" y="81788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902700" y="81343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9296400" y="80391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164" name="Shape 161"/>
          <p:cNvSpPr/>
          <p:nvPr/>
        </p:nvSpPr>
        <p:spPr>
          <a:xfrm>
            <a:off x="8763000" y="85725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8902700" y="85280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9296400" y="84328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167" name="Shape 164"/>
          <p:cNvSpPr/>
          <p:nvPr/>
        </p:nvSpPr>
        <p:spPr>
          <a:xfrm>
            <a:off x="8851900" y="88900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9296400" y="88265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3175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strongest · Real receptor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333500" y="44704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1200" y="43307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333500" y="37922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1200" y="36525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33500" y="31140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1200" y="29743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33500" y="24358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1200" y="22961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333500" y="17576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1200" y="16179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33500" y="10795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1200" y="9398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333500" y="10795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5900" y="12700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7145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224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766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845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387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66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087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9629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708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714500" y="1079500"/>
            <a:ext cx="1562100" cy="176151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76600" y="1255651"/>
            <a:ext cx="1562100" cy="25673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38700" y="1512381"/>
            <a:ext cx="1562100" cy="72498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2237368"/>
            <a:ext cx="1562100" cy="38345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25800" y="120485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87900" y="146158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50000" y="21865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12100" y="257001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714500" y="1079500"/>
            <a:ext cx="1562100" cy="598394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76600" y="1677894"/>
            <a:ext cx="1562100" cy="10229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38700" y="1688123"/>
            <a:ext cx="1562100" cy="133136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0" y="1821259"/>
            <a:ext cx="1562100" cy="87997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225800" y="1627094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87900" y="1637323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350000" y="1770459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912100" y="2650435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7145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32766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838700" y="1079500"/>
            <a:ext cx="1562100" cy="28257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6400800" y="1340338"/>
            <a:ext cx="1562100" cy="2173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225800" y="137243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879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50000" y="131127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912100" y="12895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966200" y="22352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099550" y="21844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99600" y="20955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8966200" y="26289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099550" y="25781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499600" y="24892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8966200" y="30226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099550" y="29718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499600" y="28829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8966200" y="34163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099550" y="33655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499600" y="32766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571500" y="54610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strongest · CryoAtom2 receptor</a:t>
            </a:r>
            <a:endParaRPr lang="en-US" sz="2000" dirty="0"/>
          </a:p>
        </p:txBody>
      </p:sp>
      <p:sp>
        <p:nvSpPr>
          <p:cNvPr id="69" name="Shape 66"/>
          <p:cNvSpPr/>
          <p:nvPr/>
        </p:nvSpPr>
        <p:spPr>
          <a:xfrm>
            <a:off x="1333500" y="96139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11200" y="94742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1333500" y="89357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11200" y="87960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1333500" y="82575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11200" y="81178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1333500" y="75793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11200" y="74396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1333500" y="69011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11200" y="67614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1333500" y="62230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11200" y="60833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1333500" y="62230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215900" y="64135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17145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4224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32766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9845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48387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5466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64008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61087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" name="Shape 88"/>
          <p:cNvSpPr/>
          <p:nvPr/>
        </p:nvSpPr>
        <p:spPr>
          <a:xfrm>
            <a:off x="79629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6708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93" name="Text 90"/>
          <p:cNvSpPr/>
          <p:nvPr/>
        </p:nvSpPr>
        <p:spPr>
          <a:xfrm>
            <a:off x="2984500" y="10312400"/>
            <a:ext cx="3556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SMILES per PDB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1714500" y="6223000"/>
            <a:ext cx="1562100" cy="178468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3276600" y="6401468"/>
            <a:ext cx="1562100" cy="480873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838700" y="6882342"/>
            <a:ext cx="1562100" cy="74378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00800" y="7626131"/>
            <a:ext cx="1562100" cy="63140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225800" y="63506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787900" y="6831542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350000" y="757533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912100" y="820674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714500" y="6223000"/>
            <a:ext cx="1562100" cy="678180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276600" y="6901180"/>
            <a:ext cx="1562100" cy="8750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838700" y="6988687"/>
            <a:ext cx="1562100" cy="11343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6400800" y="7102122"/>
            <a:ext cx="1562100" cy="1043278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225800" y="685038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787900" y="6937887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350000" y="7051322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912100" y="8094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7145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 flipV="1">
            <a:off x="32766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838700" y="6223000"/>
            <a:ext cx="15621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6400800" y="6223000"/>
            <a:ext cx="1562100" cy="260838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3225800" y="652863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7879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63500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912100" y="64330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8966200" y="73787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9099550" y="73279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9499600" y="72390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125" name="Shape 122"/>
          <p:cNvSpPr/>
          <p:nvPr/>
        </p:nvSpPr>
        <p:spPr>
          <a:xfrm>
            <a:off x="8966200" y="77724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9099550" y="7721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9499600" y="76327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128" name="Shape 125"/>
          <p:cNvSpPr/>
          <p:nvPr/>
        </p:nvSpPr>
        <p:spPr>
          <a:xfrm>
            <a:off x="8966200" y="81661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099550" y="81153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9499600" y="80264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131" name="Shape 128"/>
          <p:cNvSpPr/>
          <p:nvPr/>
        </p:nvSpPr>
        <p:spPr>
          <a:xfrm>
            <a:off x="8966200" y="85598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9099550" y="85090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9499600" y="84201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574</Words>
  <Application>Microsoft Office PowerPoint</Application>
  <PresentationFormat>自定义</PresentationFormat>
  <Paragraphs>71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Matcher manuscript</dc:creator>
  <cp:lastModifiedBy>Hongen Peng</cp:lastModifiedBy>
  <cp:revision>4</cp:revision>
  <dcterms:created xsi:type="dcterms:W3CDTF">2026-10-01T09:38:06Z</dcterms:created>
  <dcterms:modified xsi:type="dcterms:W3CDTF">2026-10-01T11:42:16Z</dcterms:modified>
</cp:coreProperties>
</file>