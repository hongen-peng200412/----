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C3F98DC3.xml" ContentType="application/vnd.ms-powerpoint.comments+xml"/>
  <Override PartName="/ppt/notesSlides/notesSlide2.xml" ContentType="application/vnd.openxmlformats-officedocument.presentationml.notesSlide+xml"/>
  <Override PartName="/ppt/comments/modernComment_101_BB95191A.xml" ContentType="application/vnd.ms-powerpoint.comments+xml"/>
  <Override PartName="/ppt/notesSlides/notesSlide3.xml" ContentType="application/vnd.openxmlformats-officedocument.presentationml.notesSlide+xml"/>
  <Override PartName="/ppt/comments/modernComment_102_82C1B79D.xml" ContentType="application/vnd.ms-powerpoint.comments+xml"/>
  <Override PartName="/ppt/notesSlides/notesSlide4.xml" ContentType="application/vnd.openxmlformats-officedocument.presentationml.notesSlide+xml"/>
  <Override PartName="/ppt/comments/modernComment_103_AE685A17.xml" ContentType="application/vnd.ms-powerpoint.comments+xml"/>
  <Override PartName="/ppt/notesSlides/notesSlide5.xml" ContentType="application/vnd.openxmlformats-officedocument.presentationml.notesSlide+xml"/>
  <Override PartName="/ppt/comments/modernComment_104_E4BD5C69.xml" ContentType="application/vnd.ms-powerpoint.comments+xml"/>
  <Override PartName="/ppt/notesSlides/notesSlide6.xml" ContentType="application/vnd.openxmlformats-officedocument.presentationml.notesSlide+xml"/>
  <Override PartName="/ppt/comments/modernComment_105_FEE6D2FC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omments/modernComment_100_C3F98DC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F75BFE5-C007-4B38-80E4-C609E3E86DDA}" authorId="{D3F71A66-0C34-DF1A-5236-FECDBC820DCB}" created="2026-09-30T15:23:04.021">
    <pc:sldMkLst xmlns:pc="http://schemas.microsoft.com/office/powerpoint/2013/main/command">
      <pc:docMk/>
      <pc:sldMk cId="3287911875" sldId="256"/>
    </pc:sldMkLst>
    <p188:pos x="101600" y="101600"/>
    <p188:txBody>
      <a:bodyPr/>
      <a:lstStyle/>
      <a:p>
        <a:r>
          <a:rPr lang="zh-CN" altLang="en-US"/>
          <a:t>@@stage2-radar-real</a:t>
        </a:r>
      </a:p>
    </p188:txBody>
  </p188:cm>
  <p188:cm id="{739B53E2-4C5B-4B9D-A463-B5201F100C3A}" authorId="{D3F71A66-0C34-DF1A-5236-FECDBC820DCB}" created="2026-09-30T15:23:04.031">
    <pc:sldMkLst xmlns:pc="http://schemas.microsoft.com/office/powerpoint/2013/main/command">
      <pc:docMk/>
      <pc:sldMk cId="3287911875" sldId="256"/>
    </pc:sldMkLst>
    <p188:pos x="228600" y="228600"/>
    <p188:txBody>
      <a:bodyPr/>
      <a:lstStyle/>
      <a:p>
        <a:r>
          <a:rPr lang="zh-CN" altLang="en-US"/>
          <a:t>Source: stage2_radar_real.png; data.json; plot_stage2.py</a:t>
        </a:r>
      </a:p>
    </p188:txBody>
  </p188:cm>
</p188:cmLst>
</file>

<file path=ppt/comments/modernComment_101_BB95191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3540BC5-5B60-45E0-AB1F-7ADE6635454C}" authorId="{D3F71A66-0C34-DF1A-5236-FECDBC820DCB}" created="2026-09-30T15:23:04.194">
    <pc:sldMkLst xmlns:pc="http://schemas.microsoft.com/office/powerpoint/2013/main/command">
      <pc:docMk/>
      <pc:sldMk cId="3147110682" sldId="257"/>
    </pc:sldMkLst>
    <p188:pos x="101600" y="101600"/>
    <p188:txBody>
      <a:bodyPr/>
      <a:lstStyle/>
      <a:p>
        <a:r>
          <a:rPr lang="zh-CN" altLang="en-US"/>
          <a:t>@@stage2-radar-cryo</a:t>
        </a:r>
      </a:p>
    </p188:txBody>
  </p188:cm>
  <p188:cm id="{5FC8A10B-AC8F-4F1B-8689-DCDCEE11EED8}" authorId="{D3F71A66-0C34-DF1A-5236-FECDBC820DCB}" created="2026-09-30T15:23:04.196">
    <pc:sldMkLst xmlns:pc="http://schemas.microsoft.com/office/powerpoint/2013/main/command">
      <pc:docMk/>
      <pc:sldMk cId="3147110682" sldId="257"/>
    </pc:sldMkLst>
    <p188:pos x="228600" y="228600"/>
    <p188:txBody>
      <a:bodyPr/>
      <a:lstStyle/>
      <a:p>
        <a:r>
          <a:rPr lang="zh-CN" altLang="en-US"/>
          <a:t>Source: stage2_radar_cryo.png; data.json; plot_stage2.py</a:t>
        </a:r>
      </a:p>
    </p188:txBody>
  </p188:cm>
</p188:cmLst>
</file>

<file path=ppt/comments/modernComment_102_82C1B79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864152-28B1-438B-AF67-59E24082BDF6}" authorId="{D3F71A66-0C34-DF1A-5236-FECDBC820DCB}" created="2026-09-30T15:23:04.232">
    <pc:sldMkLst xmlns:pc="http://schemas.microsoft.com/office/powerpoint/2013/main/command">
      <pc:docMk/>
      <pc:sldMk cId="2193733533" sldId="258"/>
    </pc:sldMkLst>
    <p188:pos x="101600" y="101600"/>
    <p188:txBody>
      <a:bodyPr/>
      <a:lstStyle/>
      <a:p>
        <a:r>
          <a:rPr lang="zh-CN" altLang="en-US"/>
          <a:t>@@stage2-strongest-real</a:t>
        </a:r>
      </a:p>
    </p188:txBody>
  </p188:cm>
  <p188:cm id="{2FFF88E4-0087-4291-847A-5541EE2B7385}" authorId="{D3F71A66-0C34-DF1A-5236-FECDBC820DCB}" created="2026-09-30T15:23:04.233">
    <pc:sldMkLst xmlns:pc="http://schemas.microsoft.com/office/powerpoint/2013/main/command">
      <pc:docMk/>
      <pc:sldMk cId="2193733533" sldId="258"/>
    </pc:sldMkLst>
    <p188:pos x="228600" y="228600"/>
    <p188:txBody>
      <a:bodyPr/>
      <a:lstStyle/>
      <a:p>
        <a:r>
          <a:rPr lang="zh-CN" altLang="en-US"/>
          <a:t>Source: stage2_strongest_categories_real.png; data.json; plot_stage2.py</a:t>
        </a:r>
      </a:p>
    </p188:txBody>
  </p188:cm>
</p188:cmLst>
</file>

<file path=ppt/comments/modernComment_103_AE685A1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E4C56DB-7770-4944-B01C-8EE699BB5182}" authorId="{D3F71A66-0C34-DF1A-5236-FECDBC820DCB}" created="2026-09-30T15:23:04.253">
    <pc:sldMkLst xmlns:pc="http://schemas.microsoft.com/office/powerpoint/2013/main/command">
      <pc:docMk/>
      <pc:sldMk cId="2926074391" sldId="259"/>
    </pc:sldMkLst>
    <p188:pos x="101600" y="101600"/>
    <p188:txBody>
      <a:bodyPr/>
      <a:lstStyle/>
      <a:p>
        <a:r>
          <a:rPr lang="zh-CN" altLang="en-US"/>
          <a:t>@@stage2-strongest-cryo</a:t>
        </a:r>
      </a:p>
    </p188:txBody>
  </p188:cm>
  <p188:cm id="{111B2569-FA67-4266-9493-8C3829D9F88E}" authorId="{D3F71A66-0C34-DF1A-5236-FECDBC820DCB}" created="2026-09-30T15:23:04.255">
    <pc:sldMkLst xmlns:pc="http://schemas.microsoft.com/office/powerpoint/2013/main/command">
      <pc:docMk/>
      <pc:sldMk cId="2926074391" sldId="259"/>
    </pc:sldMkLst>
    <p188:pos x="228600" y="228600"/>
    <p188:txBody>
      <a:bodyPr/>
      <a:lstStyle/>
      <a:p>
        <a:r>
          <a:rPr lang="zh-CN" altLang="en-US"/>
          <a:t>Source: stage2_strongest_categories_cryo.png; data.json; plot_stage2.py</a:t>
        </a:r>
      </a:p>
    </p188:txBody>
  </p188:cm>
</p188:cmLst>
</file>

<file path=ppt/comments/modernComment_104_E4BD5C6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D35B16C-564B-4ADD-B25F-40C550096F80}" authorId="{D3F71A66-0C34-DF1A-5236-FECDBC820DCB}" created="2026-09-30T15:23:04.294">
    <pc:sldMkLst xmlns:pc="http://schemas.microsoft.com/office/powerpoint/2013/main/command">
      <pc:docMk/>
      <pc:sldMk cId="3837615209" sldId="260"/>
    </pc:sldMkLst>
    <p188:pos x="101600" y="101600"/>
    <p188:txBody>
      <a:bodyPr/>
      <a:lstStyle/>
      <a:p>
        <a:r>
          <a:rPr lang="zh-CN" altLang="en-US"/>
          <a:t>@@stage2-known-site-real</a:t>
        </a:r>
      </a:p>
    </p188:txBody>
  </p188:cm>
  <p188:cm id="{9E5C8976-F9B5-47E4-82C5-7D3B679DEB9B}" authorId="{D3F71A66-0C34-DF1A-5236-FECDBC820DCB}" created="2026-09-30T15:23:04.297">
    <pc:sldMkLst xmlns:pc="http://schemas.microsoft.com/office/powerpoint/2013/main/command">
      <pc:docMk/>
      <pc:sldMk cId="3837615209" sldId="260"/>
    </pc:sldMkLst>
    <p188:pos x="228600" y="228600"/>
    <p188:txBody>
      <a:bodyPr/>
      <a:lstStyle/>
      <a:p>
        <a:r>
          <a:rPr lang="zh-CN" altLang="en-US"/>
          <a:t>Source: stage2_known_site_real.png; data.json; plot_stage2.py</a:t>
        </a:r>
      </a:p>
    </p188:txBody>
  </p188:cm>
</p188:cmLst>
</file>

<file path=ppt/comments/modernComment_105_FEE6D2F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3A752C-FC96-4740-9DEB-E68385C1A8A4}" authorId="{D3F71A66-0C34-DF1A-5236-FECDBC820DCB}" created="2026-09-30T15:23:04.333">
    <pc:sldMkLst xmlns:pc="http://schemas.microsoft.com/office/powerpoint/2013/main/command">
      <pc:docMk/>
      <pc:sldMk cId="4276540156" sldId="261"/>
    </pc:sldMkLst>
    <p188:pos x="101600" y="101600"/>
    <p188:txBody>
      <a:bodyPr/>
      <a:lstStyle/>
      <a:p>
        <a:r>
          <a:rPr lang="zh-CN" altLang="en-US"/>
          <a:t>@@stage2-known-site-cryo</a:t>
        </a:r>
      </a:p>
    </p188:txBody>
  </p188:cm>
  <p188:cm id="{8DF43E4F-0FB6-4588-8264-A7B4966F8E8C}" authorId="{D3F71A66-0C34-DF1A-5236-FECDBC820DCB}" created="2026-09-30T15:23:04.334">
    <pc:sldMkLst xmlns:pc="http://schemas.microsoft.com/office/powerpoint/2013/main/command">
      <pc:docMk/>
      <pc:sldMk cId="4276540156" sldId="261"/>
    </pc:sldMkLst>
    <p188:pos x="228600" y="228600"/>
    <p188:txBody>
      <a:bodyPr/>
      <a:lstStyle/>
      <a:p>
        <a:r>
          <a:rPr lang="zh-CN" altLang="en-US"/>
          <a:t>Source: stage2_known_site_cryo.png; data.json; plot_stage2.py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0A5AB7-765F-4448-82DB-DAE6146571A0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E3138D-F75E-4E84-BC2B-6B3A073BAB1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854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</a:t>
            </a:r>
            <a:r>
              <a:rPr lang="en-US" altLang="zh-CN"/>
              <a:t>4 | </a:t>
            </a:r>
            <a:r>
              <a:rPr lang="zh-CN" altLang="en-US"/>
              <a:t>真实受体条件下的 </a:t>
            </a:r>
            <a:r>
              <a:rPr lang="en-US" altLang="zh-CN"/>
              <a:t>Match </a:t>
            </a:r>
            <a:r>
              <a:rPr lang="zh-CN" altLang="en-US"/>
              <a:t>模型变体比较。六轴依次显示冻结 </a:t>
            </a:r>
            <a:r>
              <a:rPr lang="en-US" altLang="zh-CN"/>
              <a:t>validation </a:t>
            </a:r>
            <a:r>
              <a:rPr lang="zh-CN" altLang="en-US"/>
              <a:t>阈值下的前景 </a:t>
            </a:r>
            <a:r>
              <a:rPr lang="en-US" altLang="zh-CN"/>
              <a:t>F1</a:t>
            </a:r>
            <a:r>
              <a:rPr lang="zh-CN" altLang="en-US"/>
              <a:t>、总体及小分子、糖、金属离子、肽类的 </a:t>
            </a:r>
            <a:r>
              <a:rPr lang="en-US" altLang="zh-CN"/>
              <a:t>SMILES </a:t>
            </a:r>
            <a:r>
              <a:rPr lang="zh-CN" altLang="en-US"/>
              <a:t>匹配准确率。四个 </a:t>
            </a:r>
            <a:r>
              <a:rPr lang="en-US" altLang="zh-CN"/>
              <a:t>Matcher </a:t>
            </a:r>
            <a:r>
              <a:rPr lang="zh-CN" altLang="en-US"/>
              <a:t>变体使用完整 </a:t>
            </a:r>
            <a:r>
              <a:rPr lang="en-US" altLang="zh-CN"/>
              <a:t>held_out_test_0 </a:t>
            </a:r>
            <a:r>
              <a:rPr lang="zh-CN" altLang="en-US"/>
              <a:t>中的 </a:t>
            </a:r>
            <a:r>
              <a:rPr lang="en-US" altLang="zh-CN"/>
              <a:t>selected </a:t>
            </a:r>
            <a:r>
              <a:rPr lang="zh-CN" altLang="en-US"/>
              <a:t>候选；身份准确率仅以真实前景且身份受支持的候选为分母。肽类只有一个样本。</a:t>
            </a:r>
            <a:r>
              <a:rPr lang="en-US" altLang="zh-CN"/>
              <a:t>EMERALD-ID </a:t>
            </a:r>
            <a:r>
              <a:rPr lang="zh-CN" altLang="en-US"/>
              <a:t>的菱形仅表示另一组小分子已知位点的 </a:t>
            </a:r>
            <a:r>
              <a:rPr lang="en-US" altLang="zh-CN"/>
              <a:t>Top-1 </a:t>
            </a:r>
            <a:r>
              <a:rPr lang="zh-CN" altLang="en-US"/>
              <a:t>准确率，不连成六轴轮廓。雷达径向刻度从 </a:t>
            </a:r>
            <a:r>
              <a:rPr lang="en-US" altLang="zh-CN"/>
              <a:t>30% </a:t>
            </a:r>
            <a:r>
              <a:rPr lang="zh-CN" altLang="en-US"/>
              <a:t>起。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3138D-F75E-4E84-BC2B-6B3A073BAB1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04576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</a:t>
            </a:r>
            <a:r>
              <a:rPr lang="en-US" altLang="zh-CN"/>
              <a:t>5 | CryoAtom2 </a:t>
            </a:r>
            <a:r>
              <a:rPr lang="zh-CN" altLang="en-US"/>
              <a:t>受体条件下的 </a:t>
            </a:r>
            <a:r>
              <a:rPr lang="en-US" altLang="zh-CN"/>
              <a:t>Match </a:t>
            </a:r>
            <a:r>
              <a:rPr lang="zh-CN" altLang="en-US"/>
              <a:t>模型变体比较。六轴与图</a:t>
            </a:r>
            <a:r>
              <a:rPr lang="en-US" altLang="zh-CN"/>
              <a:t>4</a:t>
            </a:r>
            <a:r>
              <a:rPr lang="zh-CN" altLang="en-US"/>
              <a:t>定义相同，使用相同的 </a:t>
            </a:r>
            <a:r>
              <a:rPr lang="en-US" altLang="zh-CN"/>
              <a:t>179 </a:t>
            </a:r>
            <a:r>
              <a:rPr lang="zh-CN" altLang="en-US"/>
              <a:t>个测试 </a:t>
            </a:r>
            <a:r>
              <a:rPr lang="en-US" altLang="zh-CN"/>
              <a:t>PDB</a:t>
            </a:r>
            <a:r>
              <a:rPr lang="zh-CN" altLang="en-US"/>
              <a:t>，但候选由 </a:t>
            </a:r>
            <a:r>
              <a:rPr lang="en-US" altLang="zh-CN"/>
              <a:t>CryoAtom2 </a:t>
            </a:r>
            <a:r>
              <a:rPr lang="zh-CN" altLang="en-US"/>
              <a:t>受体条件下的 </a:t>
            </a:r>
            <a:r>
              <a:rPr lang="en-US" altLang="zh-CN"/>
              <a:t>Find </a:t>
            </a:r>
            <a:r>
              <a:rPr lang="zh-CN" altLang="en-US"/>
              <a:t>推理产生。肽类身份只有一个支持样本。</a:t>
            </a:r>
            <a:r>
              <a:rPr lang="en-US" altLang="zh-CN"/>
              <a:t>EMERALD-ID </a:t>
            </a:r>
            <a:r>
              <a:rPr lang="zh-CN" altLang="en-US"/>
              <a:t>的单个菱形表示小分子已知位点准确率，不代表其他类别或前景检测。径向刻度从 </a:t>
            </a:r>
            <a:r>
              <a:rPr lang="en-US" altLang="zh-CN"/>
              <a:t>30% </a:t>
            </a:r>
            <a:r>
              <a:rPr lang="zh-CN" altLang="en-US"/>
              <a:t>起。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3138D-F75E-4E84-BC2B-6B3A073BAB1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0556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</a:t>
            </a:r>
            <a:r>
              <a:rPr lang="en-US" altLang="zh-CN"/>
              <a:t>6 | strongest-1 </a:t>
            </a:r>
            <a:r>
              <a:rPr lang="zh-CN" altLang="en-US"/>
              <a:t>在真实受体条件下的身份匹配准确率随候选身份数变化。横轴是每个 </a:t>
            </a:r>
            <a:r>
              <a:rPr lang="en-US" altLang="zh-CN"/>
              <a:t>PDB </a:t>
            </a:r>
            <a:r>
              <a:rPr lang="zh-CN" altLang="en-US"/>
              <a:t>提供给 </a:t>
            </a:r>
            <a:r>
              <a:rPr lang="en-US" altLang="zh-CN"/>
              <a:t>Matcher </a:t>
            </a:r>
            <a:r>
              <a:rPr lang="zh-CN" altLang="en-US"/>
              <a:t>的精确 </a:t>
            </a:r>
            <a:r>
              <a:rPr lang="en-US" altLang="zh-CN"/>
              <a:t>SMILES </a:t>
            </a:r>
            <a:r>
              <a:rPr lang="zh-CN" altLang="en-US"/>
              <a:t>去重数，</a:t>
            </a:r>
            <a:r>
              <a:rPr lang="en-US" altLang="zh-CN"/>
              <a:t>5 </a:t>
            </a:r>
            <a:r>
              <a:rPr lang="zh-CN" altLang="en-US"/>
              <a:t>个及以上合并；纵轴为完整测试集中 </a:t>
            </a:r>
            <a:r>
              <a:rPr lang="en-US" altLang="zh-CN"/>
              <a:t>selected</a:t>
            </a:r>
            <a:r>
              <a:rPr lang="zh-CN" altLang="en-US"/>
              <a:t>、真实前景且身份受支持候选的类别内准确率。图例中的 </a:t>
            </a:r>
            <a:r>
              <a:rPr lang="en-US" altLang="zh-CN"/>
              <a:t>n </a:t>
            </a:r>
            <a:r>
              <a:rPr lang="zh-CN" altLang="en-US"/>
              <a:t>是各类别的候选支持数。肽类仅有一个位于单身份 </a:t>
            </a:r>
            <a:r>
              <a:rPr lang="en-US" altLang="zh-CN"/>
              <a:t>PDB </a:t>
            </a:r>
            <a:r>
              <a:rPr lang="zh-CN" altLang="en-US"/>
              <a:t>的样本，因此不形成连续曲线。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3138D-F75E-4E84-BC2B-6B3A073BAB1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22219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</a:t>
            </a:r>
            <a:r>
              <a:rPr lang="en-US" altLang="zh-CN"/>
              <a:t>7 | strongest-1 </a:t>
            </a:r>
            <a:r>
              <a:rPr lang="zh-CN" altLang="en-US"/>
              <a:t>在 </a:t>
            </a:r>
            <a:r>
              <a:rPr lang="en-US" altLang="zh-CN"/>
              <a:t>CryoAtom2 </a:t>
            </a:r>
            <a:r>
              <a:rPr lang="zh-CN" altLang="en-US"/>
              <a:t>受体条件下的分层身份匹配。横轴是 </a:t>
            </a:r>
            <a:r>
              <a:rPr lang="en-US" altLang="zh-CN"/>
              <a:t>PDB </a:t>
            </a:r>
            <a:r>
              <a:rPr lang="zh-CN" altLang="en-US"/>
              <a:t>内实际提供给 </a:t>
            </a:r>
            <a:r>
              <a:rPr lang="en-US" altLang="zh-CN"/>
              <a:t>Matcher </a:t>
            </a:r>
            <a:r>
              <a:rPr lang="zh-CN" altLang="en-US"/>
              <a:t>的精确 </a:t>
            </a:r>
            <a:r>
              <a:rPr lang="en-US" altLang="zh-CN"/>
              <a:t>SMILES </a:t>
            </a:r>
            <a:r>
              <a:rPr lang="zh-CN" altLang="en-US"/>
              <a:t>去重数，纵轴为相应类别的正确数除以身份受支持的 </a:t>
            </a:r>
            <a:r>
              <a:rPr lang="en-US" altLang="zh-CN"/>
              <a:t>selected </a:t>
            </a:r>
            <a:r>
              <a:rPr lang="zh-CN" altLang="en-US"/>
              <a:t>真前景候选数。</a:t>
            </a:r>
            <a:r>
              <a:rPr lang="en-US" altLang="zh-CN"/>
              <a:t>5 </a:t>
            </a:r>
            <a:r>
              <a:rPr lang="zh-CN" altLang="en-US"/>
              <a:t>个及以上身份合并，图例标出每类总支持数；肽类仅有一个样本。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3138D-F75E-4E84-BC2B-6B3A073BAB10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9991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</a:t>
            </a:r>
            <a:r>
              <a:rPr lang="en-US" altLang="zh-CN"/>
              <a:t>8 | </a:t>
            </a:r>
            <a:r>
              <a:rPr lang="zh-CN" altLang="en-US"/>
              <a:t>真实受体条件下 </a:t>
            </a:r>
            <a:r>
              <a:rPr lang="en-US" altLang="zh-CN"/>
              <a:t>density_only-106 </a:t>
            </a:r>
            <a:r>
              <a:rPr lang="zh-CN" altLang="en-US"/>
              <a:t>与官方 </a:t>
            </a:r>
            <a:r>
              <a:rPr lang="en-US" altLang="zh-CN"/>
              <a:t>EMERALD-ID </a:t>
            </a:r>
            <a:r>
              <a:rPr lang="zh-CN" altLang="en-US"/>
              <a:t>的小分子已知位点比较。冻结的 </a:t>
            </a:r>
            <a:r>
              <a:rPr lang="en-US" altLang="zh-CN"/>
              <a:t>84 </a:t>
            </a:r>
            <a:r>
              <a:rPr lang="zh-CN" altLang="en-US"/>
              <a:t>个 </a:t>
            </a:r>
            <a:r>
              <a:rPr lang="en-US" altLang="zh-CN"/>
              <a:t>PDB </a:t>
            </a:r>
            <a:r>
              <a:rPr lang="zh-CN" altLang="en-US"/>
              <a:t>包含 </a:t>
            </a:r>
            <a:r>
              <a:rPr lang="en-US" altLang="zh-CN"/>
              <a:t>357 </a:t>
            </a:r>
            <a:r>
              <a:rPr lang="zh-CN" altLang="en-US"/>
              <a:t>个 </a:t>
            </a:r>
            <a:r>
              <a:rPr lang="en-US" altLang="zh-CN"/>
              <a:t>occurrence </a:t>
            </a:r>
            <a:r>
              <a:rPr lang="zh-CN" altLang="en-US"/>
              <a:t>位点；横轴是各 </a:t>
            </a:r>
            <a:r>
              <a:rPr lang="en-US" altLang="zh-CN"/>
              <a:t>PDB </a:t>
            </a:r>
            <a:r>
              <a:rPr lang="zh-CN" altLang="en-US"/>
              <a:t>的小分子精确 </a:t>
            </a:r>
            <a:r>
              <a:rPr lang="en-US" altLang="zh-CN"/>
              <a:t>SMILES </a:t>
            </a:r>
            <a:r>
              <a:rPr lang="zh-CN" altLang="en-US"/>
              <a:t>去重数，刻度下方给出固定查询点数。实线以该组所有查询点为分母，准备或评分失败仍计入分母；虚线仅以至少有一个候选 </a:t>
            </a:r>
            <a:r>
              <a:rPr lang="en-US" altLang="zh-CN"/>
              <a:t>SMILES </a:t>
            </a:r>
            <a:r>
              <a:rPr lang="zh-CN" altLang="en-US"/>
              <a:t>取得分数的查询点为分母。部分身份失败时，仍按其余有效分数选择身份。</a:t>
            </a:r>
            <a:r>
              <a:rPr lang="en-US" altLang="zh-CN"/>
              <a:t>Matcher </a:t>
            </a:r>
            <a:r>
              <a:rPr lang="zh-CN" altLang="en-US"/>
              <a:t>每个位点均有分数，故两条蓝线数值重合。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3138D-F75E-4E84-BC2B-6B3A073BAB10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5616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</a:t>
            </a:r>
            <a:r>
              <a:rPr lang="en-US" altLang="zh-CN"/>
              <a:t>9 | CryoAtom2 </a:t>
            </a:r>
            <a:r>
              <a:rPr lang="zh-CN" altLang="en-US"/>
              <a:t>受体条件下的小分子已知位点身份比较。使用与图</a:t>
            </a:r>
            <a:r>
              <a:rPr lang="en-US" altLang="zh-CN"/>
              <a:t>8</a:t>
            </a:r>
            <a:r>
              <a:rPr lang="zh-CN" altLang="en-US"/>
              <a:t>完全相同的 </a:t>
            </a:r>
            <a:r>
              <a:rPr lang="en-US" altLang="zh-CN"/>
              <a:t>84 </a:t>
            </a:r>
            <a:r>
              <a:rPr lang="zh-CN" altLang="en-US"/>
              <a:t>个 </a:t>
            </a:r>
            <a:r>
              <a:rPr lang="en-US" altLang="zh-CN"/>
              <a:t>PDB</a:t>
            </a:r>
            <a:r>
              <a:rPr lang="zh-CN" altLang="en-US"/>
              <a:t>、</a:t>
            </a:r>
            <a:r>
              <a:rPr lang="en-US" altLang="zh-CN"/>
              <a:t>357 </a:t>
            </a:r>
            <a:r>
              <a:rPr lang="zh-CN" altLang="en-US"/>
              <a:t>个真实位置和每个 </a:t>
            </a:r>
            <a:r>
              <a:rPr lang="en-US" altLang="zh-CN"/>
              <a:t>PDB </a:t>
            </a:r>
            <a:r>
              <a:rPr lang="zh-CN" altLang="en-US"/>
              <a:t>的小分子候选 </a:t>
            </a:r>
            <a:r>
              <a:rPr lang="en-US" altLang="zh-CN"/>
              <a:t>SMILES </a:t>
            </a:r>
            <a:r>
              <a:rPr lang="zh-CN" altLang="en-US"/>
              <a:t>集合，只改变受体条件。实线保留全部查询点；虚线只统计至少一个身份有分数的位点。两种方法均采用同一位点的 </a:t>
            </a:r>
            <a:r>
              <a:rPr lang="en-US" altLang="zh-CN"/>
              <a:t>Top-1 </a:t>
            </a:r>
            <a:r>
              <a:rPr lang="zh-CN" altLang="en-US"/>
              <a:t>精确 </a:t>
            </a:r>
            <a:r>
              <a:rPr lang="en-US" altLang="zh-CN"/>
              <a:t>SMILES </a:t>
            </a:r>
            <a:r>
              <a:rPr lang="zh-CN" altLang="en-US"/>
              <a:t>命中口径，刻度下方标出各组固定支持数。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3138D-F75E-4E84-BC2B-6B3A073BAB1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4445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024BAA-D44B-9BE0-B389-D86FF01FFC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A7270D6-F173-A561-F52D-F2372E672D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249FE12-EA30-9E32-9196-C85C091C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7B7809-C363-9B4E-30EC-53C3A8AC5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F66AA7-E7E4-2C85-CA90-B77122DE4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6765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D284C3-9001-5C19-E22E-16E8964FA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6A723A-CBFF-B9E2-B59E-0DC0742CF8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ECDE7D-0E99-8332-2578-4BA0E31A0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388234-2C47-60CD-89A7-DF182AD0E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BC085C-03CF-A254-4272-7F556A5C4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5386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221984-0CBF-29AC-3659-DC9C0BE8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78BDA1-6581-BEDA-5B72-3056519FDD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235195-5534-84C4-6EA3-1B9DC91D8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73E02B-9341-B848-3620-438B651E7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D47BD2-80F0-77DB-3C07-BBF4BF264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3840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7A8F6C-8EA8-32DA-D040-6A4F86676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49954F-BE88-3175-55DF-B43F7BC1C4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A023A2-FCEE-08E8-4346-D4DDA57AF6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3C7245-BADB-B0A0-8860-8FCDAC76A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9360CB-F0B9-8F7C-ED23-9FD593683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1D4C925-ED07-29B8-B1AF-86675008E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7812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6B4B48-B979-5E72-2EC2-55A5FD127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1D9607E-42DC-83FD-0FDB-AF7C315A8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FBD6EB1-CDE1-0A76-9B2E-20289AF960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B51CEEC-1F63-1719-6B71-7CE1F92CD0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334A894-BE0B-1972-F54F-7CF8B3E545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A5308A5-C15D-DDFF-CCC6-BDF3563B8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9DC0DFA-9E4A-DD73-1F42-0C32914B1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9F3E903-9AC7-9AB7-74E7-89ECC2225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9201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CEC995-B180-D8B1-39F3-78FB7073D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391BC48-DFAD-681F-B0C6-DCE10EBB3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5738F75-4466-D035-2352-013D838F3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CCACE8A-FE96-C39F-5500-2CC604D13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755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CFECF35-1270-EBBC-1B48-B7F97A4D3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0839583-A6D1-8166-211F-29489F887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9BC2DB-86DA-0D4E-3F65-8798D6A87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22933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ECEF45-B03E-1533-AC3C-FE007008B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CB9227-8DFE-BEC1-7DE2-3261E34592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82A16A-4AC0-40AF-44C2-1832038D1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A846BC-AF47-9507-7E1C-51744EBB5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EFEBC2-56B1-C931-5D8C-5CB6EC32E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2DF0E35-01F0-2783-873F-8E1EFC2B2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1536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8E511A-E7EB-73DB-8A62-C80134B0B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23FA2AA-B16C-260C-797A-2815AA64D0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4FC270-A8BA-66EC-A301-C2E825AEC4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775E97-4D64-87E4-0F7A-1905F3D7B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6235B5-0EE1-C272-8AB8-334A1F53B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2C29213-6B26-2E7E-72CD-892EB7C59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2512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96B77D-BD2E-68F7-1543-37C11ABF3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1333D7-FD4C-BCF6-9C73-0334E6ACDB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B3C5B2-3921-C8CC-69D7-8BBE7ACE4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066D22-201A-702D-53A8-DAB662856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0ED083-282E-E112-CBDA-91C154B42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09274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7AC1232-3039-54B2-1BB6-578E0F0BC7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10D807A-BDF6-CF1D-DD7E-F7DA3635A0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D37D091-3484-DE91-F1B8-7D647A3A0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31D22E-B096-FEC7-09E6-7E31CDECE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08A4EB-52F6-5B33-E9D6-632001564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21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147E785-8638-08E6-F522-DA2E1A847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09FD1F-3589-3658-0584-2A73EBC89D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092045-8971-A7B9-B45C-D9D733B60D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E7EA69-2CBB-4583-B086-D901A7792016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109FCE-97B5-D8A3-C0DD-7862ACB39F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F5A5BE-73A1-59F5-E544-5F3068A09A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73A7D1-F7A2-48C4-8C4F-E191A6B30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73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C3F98DC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BB95191A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82C1B79D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AE685A17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E4BD5C6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FEE6D2FC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81AD6B9-0BFA-F431-BC4C-6C57205A34C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9489" y="127000"/>
            <a:ext cx="8313022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91187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BB10EDE-187D-B52D-8A98-DE35B55E578F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806" y="127000"/>
            <a:ext cx="8646387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1106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501F0B8-B13E-6337-A02E-1010B323A5B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304" y="127000"/>
            <a:ext cx="11257392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7335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0806867-C2C8-DD47-E7F7-2E3B7EB42B9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695" y="127000"/>
            <a:ext cx="11252610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0743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74B3187-2164-1E5D-50CC-2B277DAFEA1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738" y="127000"/>
            <a:ext cx="11694524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61520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26C2BCC-B139-A89E-1256-4FCC8DFA3392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261" y="127000"/>
            <a:ext cx="11689479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54015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786</Words>
  <Application>Microsoft Office PowerPoint</Application>
  <PresentationFormat>自定义</PresentationFormat>
  <Paragraphs>12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Hongen Peng</dc:creator>
  <cp:lastModifiedBy>Hongen Peng</cp:lastModifiedBy>
  <cp:revision>1</cp:revision>
  <dcterms:created xsi:type="dcterms:W3CDTF">2026-09-30T15:23:04Z</dcterms:created>
  <dcterms:modified xsi:type="dcterms:W3CDTF">2026-09-30T15:23:04Z</dcterms:modified>
</cp:coreProperties>
</file>