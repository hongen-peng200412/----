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0.xml" ContentType="application/vnd.ms-powerpoint.comments+xml"/>
  <Override PartName="/ppt/notesSlides/notesSlide2.xml" ContentType="application/vnd.openxmlformats-officedocument.presentationml.notesSlide+xml"/>
  <Override PartName="/ppt/comments/modernComment_101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10795000"/>
  <p:notesSz cx="10795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3F71A66-0C34-DF1A-5236-FECDBC820DCB}" name="Hongen Peng" initials="HP" userId="965de47efeb7ffa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59787" autoAdjust="0"/>
  </p:normalViewPr>
  <p:slideViewPr>
    <p:cSldViewPr snapToGrid="0" snapToObjects="1">
      <p:cViewPr varScale="1">
        <p:scale>
          <a:sx n="42" d="100"/>
          <a:sy n="42" d="100"/>
        </p:scale>
        <p:origin x="166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8/10/relationships/authors" Target="authors.xml"/></Relationships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88C2FC2-D9AB-488B-B9ED-0C0227DDBAC8}" authorId="{D3F71A66-0C34-DF1A-5236-FECDBC820DCB}" created="2026-10-01T09:38:08.524">
    <pc:sldMkLst xmlns:pc="http://schemas.microsoft.com/office/powerpoint/2013/main/command">
      <pc:docMk/>
      <pc:sldMk cId="0" sldId="256"/>
    </pc:sldMkLst>
    <p188:pos x="101600" y="101600"/>
    <p188:txBody>
      <a:bodyPr/>
      <a:lstStyle/>
      <a:p>
        <a:r>
          <a:rPr lang="zh-CN" altLang="en-US"/>
          <a:t>@@stage2-radar-pair</a:t>
        </a:r>
      </a:p>
    </p188:txBody>
  </p188:cm>
</p188:cmLst>
</file>

<file path=ppt/comments/modernComment_10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723AB8C-3E60-4560-A8B1-22D3EBE4A200}" authorId="{D3F71A66-0C34-DF1A-5236-FECDBC820DCB}" created="2026-10-01T09:38:08.529">
    <pc:sldMkLst xmlns:pc="http://schemas.microsoft.com/office/powerpoint/2013/main/command">
      <pc:docMk/>
      <pc:sldMk cId="0" sldId="257"/>
    </pc:sldMkLst>
    <p188:pos x="101600" y="101600"/>
    <p188:txBody>
      <a:bodyPr/>
      <a:lstStyle/>
      <a:p>
        <a:r>
          <a:rPr lang="zh-CN" altLang="en-US"/>
          <a:t>@@stage2-strongest-pair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323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各模型在真实受体（</a:t>
            </a:r>
            <a:r>
              <a:rPr lang="en-US" altLang="zh-CN" dirty="0"/>
              <a:t>a</a:t>
            </a:r>
            <a:r>
              <a:rPr lang="zh-CN" altLang="en-US" dirty="0"/>
              <a:t>）和 </a:t>
            </a:r>
            <a:r>
              <a:rPr lang="en-US" altLang="zh-CN" dirty="0"/>
              <a:t>CryoAtom2</a:t>
            </a:r>
            <a:r>
              <a:rPr lang="zh-CN" altLang="en-US" dirty="0"/>
              <a:t>（</a:t>
            </a:r>
            <a:r>
              <a:rPr lang="en-US" altLang="zh-CN" dirty="0"/>
              <a:t>b</a:t>
            </a:r>
            <a:r>
              <a:rPr lang="zh-CN" altLang="en-US" dirty="0"/>
              <a:t>）条件下的前景 </a:t>
            </a:r>
            <a:r>
              <a:rPr lang="en-US" altLang="zh-CN" dirty="0"/>
              <a:t>F1 </a:t>
            </a:r>
            <a:r>
              <a:rPr lang="zh-CN" altLang="en-US" dirty="0"/>
              <a:t>与配体身份匹配正确率。六轴自顶端顺时针为总体 </a:t>
            </a:r>
            <a:r>
              <a:rPr lang="en-US" altLang="zh-CN" dirty="0"/>
              <a:t>SMILES</a:t>
            </a:r>
            <a:r>
              <a:rPr lang="zh-CN" altLang="en-US" dirty="0"/>
              <a:t>、小分子、糖、前景 </a:t>
            </a:r>
            <a:r>
              <a:rPr lang="en-US" altLang="zh-CN" dirty="0"/>
              <a:t>F1</a:t>
            </a:r>
            <a:r>
              <a:rPr lang="zh-CN" altLang="en-US" dirty="0"/>
              <a:t>、金属离子和肽类，径向坐标为 </a:t>
            </a:r>
            <a:r>
              <a:rPr lang="en-US" altLang="zh-CN" dirty="0"/>
              <a:t>20–100%</a:t>
            </a:r>
            <a:r>
              <a:rPr lang="zh-CN" altLang="en-US" dirty="0"/>
              <a:t>。真实受体条件下有 </a:t>
            </a:r>
            <a:r>
              <a:rPr lang="en-US" altLang="zh-CN" dirty="0"/>
              <a:t>1,653 </a:t>
            </a:r>
            <a:r>
              <a:rPr lang="zh-CN" altLang="en-US" dirty="0"/>
              <a:t>个待分类和匹配的候选，其中</a:t>
            </a:r>
            <a:r>
              <a:rPr lang="en-US" altLang="zh-CN" dirty="0"/>
              <a:t>1,238 </a:t>
            </a:r>
            <a:r>
              <a:rPr lang="zh-CN" altLang="en-US" dirty="0"/>
              <a:t>个为前景，具体对应 </a:t>
            </a:r>
            <a:r>
              <a:rPr lang="en-US" altLang="zh-CN" dirty="0"/>
              <a:t>389 </a:t>
            </a:r>
            <a:r>
              <a:rPr lang="zh-CN" altLang="en-US" dirty="0"/>
              <a:t>个小分子、</a:t>
            </a:r>
            <a:r>
              <a:rPr lang="en-US" altLang="zh-CN" dirty="0"/>
              <a:t>284 </a:t>
            </a:r>
            <a:r>
              <a:rPr lang="zh-CN" altLang="en-US" dirty="0"/>
              <a:t>个糖、</a:t>
            </a:r>
            <a:r>
              <a:rPr lang="en-US" altLang="zh-CN" dirty="0"/>
              <a:t>564 </a:t>
            </a:r>
            <a:r>
              <a:rPr lang="zh-CN" altLang="en-US" dirty="0"/>
              <a:t>个金属离子和</a:t>
            </a:r>
            <a:r>
              <a:rPr lang="en-US" altLang="zh-CN" dirty="0"/>
              <a:t>1 </a:t>
            </a:r>
            <a:r>
              <a:rPr lang="zh-CN" altLang="en-US" dirty="0"/>
              <a:t>个肽；</a:t>
            </a:r>
            <a:r>
              <a:rPr lang="en-US" altLang="zh-CN" dirty="0"/>
              <a:t>CryoAtom2 </a:t>
            </a:r>
            <a:r>
              <a:rPr lang="zh-CN" altLang="en-US" dirty="0"/>
              <a:t>条件下有 </a:t>
            </a:r>
            <a:r>
              <a:rPr lang="en-US" altLang="zh-CN" dirty="0"/>
              <a:t>1,651 </a:t>
            </a:r>
            <a:r>
              <a:rPr lang="zh-CN" altLang="en-US" dirty="0"/>
              <a:t>个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待分类和匹配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</a:t>
            </a:r>
            <a:r>
              <a:rPr lang="zh-CN" altLang="en-US" dirty="0"/>
              <a:t>候选，其中 </a:t>
            </a:r>
            <a:r>
              <a:rPr lang="en-US" altLang="zh-CN" dirty="0"/>
              <a:t>1,160 </a:t>
            </a:r>
            <a:r>
              <a:rPr lang="zh-CN" altLang="en-US" dirty="0"/>
              <a:t>个为前景，具体对应 </a:t>
            </a:r>
            <a:r>
              <a:rPr lang="en-US" altLang="zh-CN" dirty="0"/>
              <a:t>348 </a:t>
            </a:r>
            <a:r>
              <a:rPr lang="zh-CN" altLang="en-US" dirty="0"/>
              <a:t>个小分子、</a:t>
            </a:r>
            <a:r>
              <a:rPr lang="en-US" altLang="zh-CN" dirty="0"/>
              <a:t>277</a:t>
            </a:r>
            <a:r>
              <a:rPr lang="zh-CN" altLang="en-US" dirty="0"/>
              <a:t>个糖、</a:t>
            </a:r>
            <a:r>
              <a:rPr lang="en-US" altLang="zh-CN" dirty="0"/>
              <a:t>534</a:t>
            </a:r>
            <a:r>
              <a:rPr lang="zh-CN" altLang="en-US" dirty="0"/>
              <a:t>个金属离子和 </a:t>
            </a:r>
            <a:r>
              <a:rPr lang="en-US" altLang="zh-CN" dirty="0"/>
              <a:t>1 </a:t>
            </a:r>
            <a:r>
              <a:rPr lang="zh-CN" altLang="en-US" dirty="0"/>
              <a:t>个肽。特别地，菱形表示 </a:t>
            </a:r>
            <a:r>
              <a:rPr lang="en-US" altLang="zh-CN" dirty="0"/>
              <a:t>EMERALD-ID </a:t>
            </a:r>
            <a:r>
              <a:rPr lang="zh-CN" altLang="en-US" dirty="0"/>
              <a:t>在独立小分子测试集上的准确率，并只在返回有效预测结果的位点上取平均，其中真实受体条件下有</a:t>
            </a:r>
            <a:r>
              <a:rPr lang="en-US" altLang="zh-CN" dirty="0"/>
              <a:t>282 </a:t>
            </a:r>
            <a:r>
              <a:rPr lang="zh-CN" altLang="en-US" dirty="0"/>
              <a:t>个位点返回了预测结果，</a:t>
            </a:r>
            <a:r>
              <a:rPr lang="en-US" altLang="zh-CN" dirty="0"/>
              <a:t>CryoAtom2 </a:t>
            </a:r>
            <a:r>
              <a:rPr lang="zh-CN" altLang="en-US" dirty="0"/>
              <a:t>条件下则有</a:t>
            </a:r>
            <a:r>
              <a:rPr lang="en-US" altLang="zh-CN" dirty="0"/>
              <a:t>313 </a:t>
            </a:r>
            <a:r>
              <a:rPr lang="zh-CN" altLang="en-US" dirty="0"/>
              <a:t>个位点返回了预测结果。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strongest 模型在真实受体（a）和 CryoAtom2受体（b）条件下的配体身份匹配精度，与竞争的配体身份数的关系。在真实受体条件下，竞争配体身份数为1，2，3，4，</a:t>
            </a:r>
            <a:r>
              <a:rPr lang="en-US" altLang="zh-CN" dirty="0"/>
              <a:t>&gt;=</a:t>
            </a:r>
            <a:r>
              <a:rPr lang="zh-CN" altLang="zh-CN" dirty="0"/>
              <a:t>5的位点分别有419、459、113、85、162；在CryoAtom2 条件下，竞争配体身份数为1，2，3，4，</a:t>
            </a:r>
            <a:r>
              <a:rPr lang="en-US" altLang="zh-CN" dirty="0"/>
              <a:t>&gt;=</a:t>
            </a:r>
            <a:r>
              <a:rPr lang="zh-CN" altLang="zh-CN" dirty="0"/>
              <a:t>5的位点分别有413、443、91、63、150。竞争配体身份数为1，意味着这个候选区域所在的PDB中只有一种配体身份，准确率自然为100%。</a:t>
            </a:r>
            <a:endParaRPr lang="en-US" dirty="0"/>
          </a:p>
          <a:p>
            <a:r>
              <a:rPr lang="en-US" dirty="0"/>
              <a:t>ENGLISH:</a:t>
            </a:r>
          </a:p>
          <a:p>
            <a:r>
              <a:rPr lang="en-US" dirty="0" err="1"/>
              <a:t>LigandSeek</a:t>
            </a:r>
            <a:r>
              <a:rPr lang="en-US" dirty="0"/>
              <a:t>-Match identity matching accuracy by number of competing ligand identities.</a:t>
            </a:r>
          </a:p>
          <a:p>
            <a:r>
              <a:rPr lang="en-US" dirty="0"/>
              <a:t>a, Results for the strongest model with deposited receptor structures.</a:t>
            </a:r>
          </a:p>
          <a:p>
            <a:r>
              <a:rPr lang="en-US" dirty="0"/>
              <a:t>b, Corresponding results for the strongest model with CryoAtom2-reconstructed receptor structures.</a:t>
            </a:r>
          </a:p>
          <a:p>
            <a:r>
              <a:rPr lang="en-US" dirty="0"/>
              <a:t>With deposited receptors, groups with 1, 2, 3, 4 and ≥5 competing identities contain 419, 459, 113, 85 and 162 sites, respectively. With CryoAtom2-reconstructed receptors, the corresponding groups contain 413, 443, 91, 63 and 150 sites, respectively.</a:t>
            </a:r>
          </a:p>
          <a:p>
            <a:r>
              <a:rPr lang="en-US" dirty="0"/>
              <a:t>One competing identity means that the candidate region belongs to a PDB entry containing only one ligand identity, giving 100% matching accuracy by 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1_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55600" y="190500"/>
            <a:ext cx="254000" cy="330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660400" y="190500"/>
            <a:ext cx="3810000" cy="330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Deposited receptor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3602038" y="2103438"/>
            <a:ext cx="1381125" cy="1381125"/>
          </a:xfrm>
          <a:prstGeom prst="ellipse">
            <a:avLst/>
          </a:prstGeom>
          <a:solidFill>
            <a:srgbClr val="FFFFFF">
              <a:alpha val="0"/>
            </a:srgbClr>
          </a:solidFill>
          <a:ln w="10160">
            <a:solidFill>
              <a:srgbClr val="DDE3E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09431" y="1974568"/>
            <a:ext cx="355600" cy="254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681288" y="1182688"/>
            <a:ext cx="3222625" cy="3222625"/>
          </a:xfrm>
          <a:prstGeom prst="ellipse">
            <a:avLst/>
          </a:prstGeom>
          <a:solidFill>
            <a:srgbClr val="FFFFFF">
              <a:alpha val="0"/>
            </a:srgbClr>
          </a:solidFill>
          <a:ln w="10160">
            <a:solidFill>
              <a:srgbClr val="DDE3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47738" y="1085192"/>
            <a:ext cx="355600" cy="254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451100" y="952500"/>
            <a:ext cx="3683000" cy="3683000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A3AFB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07315" y="862848"/>
            <a:ext cx="355600" cy="254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 flipV="1">
            <a:off x="4292600" y="952500"/>
            <a:ext cx="127" cy="184150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51200" y="5334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SMILES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 flipV="1">
            <a:off x="4292600" y="187325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17909" y="140335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molecule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292600" y="279400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86940" y="37719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Sugar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292600" y="2794000"/>
            <a:ext cx="127" cy="184150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96920" y="487426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Foreground F1</a:t>
            </a:r>
            <a:endParaRPr lang="en-US" sz="1400" i="1" dirty="0"/>
          </a:p>
        </p:txBody>
      </p:sp>
      <p:sp>
        <p:nvSpPr>
          <p:cNvPr id="19" name="Shape 16"/>
          <p:cNvSpPr/>
          <p:nvPr/>
        </p:nvSpPr>
        <p:spPr>
          <a:xfrm flipV="1">
            <a:off x="2697814" y="279400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315460" y="37719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 ion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697814" y="187325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315460" y="15367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Peptide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292600" y="1233262"/>
            <a:ext cx="1446171" cy="725791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flipV="1">
            <a:off x="5304784" y="1959053"/>
            <a:ext cx="433988" cy="1419332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 flipV="1">
            <a:off x="4292600" y="3378384"/>
            <a:ext cx="1012184" cy="935506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835661" y="3635164"/>
            <a:ext cx="1456939" cy="678727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697814" y="1873250"/>
            <a:ext cx="137847" cy="1761914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 flipV="1">
            <a:off x="2697814" y="1233262"/>
            <a:ext cx="1594786" cy="639988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248150" y="1188812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694321" y="1914603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260334" y="3333934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248150" y="4269441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791211" y="3590714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653364" y="1828800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292600" y="1328089"/>
            <a:ext cx="1400050" cy="657592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 flipV="1">
            <a:off x="5150359" y="1985681"/>
            <a:ext cx="542291" cy="1303546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 flipV="1">
            <a:off x="4292600" y="3289227"/>
            <a:ext cx="857759" cy="980233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906352" y="3594351"/>
            <a:ext cx="1386248" cy="675110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697814" y="1873250"/>
            <a:ext cx="208538" cy="1721101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 flipV="1">
            <a:off x="2697814" y="1328089"/>
            <a:ext cx="1594786" cy="545161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248150" y="1283639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648200" y="1941231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105909" y="3244777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248150" y="4225010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861902" y="3549901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653364" y="1828800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292600" y="1445228"/>
            <a:ext cx="1271934" cy="614421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 flipV="1">
            <a:off x="5143340" y="2059649"/>
            <a:ext cx="421194" cy="1225526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 flipV="1">
            <a:off x="4292600" y="3285175"/>
            <a:ext cx="850740" cy="995367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3037130" y="3518846"/>
            <a:ext cx="1255470" cy="761696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697814" y="1873250"/>
            <a:ext cx="339316" cy="1645596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 flipV="1">
            <a:off x="2697814" y="1445228"/>
            <a:ext cx="1594786" cy="428022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248150" y="1400778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520084" y="2015199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5098890" y="3240725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248150" y="4236092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992680" y="3474396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653364" y="1828800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4292600" y="1426634"/>
            <a:ext cx="1369302" cy="576799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 flipV="1">
            <a:off x="5009973" y="2003433"/>
            <a:ext cx="651929" cy="1204742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 flipV="1">
            <a:off x="4292600" y="3208175"/>
            <a:ext cx="717373" cy="1096126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3001785" y="3539252"/>
            <a:ext cx="1290815" cy="765048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697814" y="1873250"/>
            <a:ext cx="303971" cy="1666002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 flipV="1">
            <a:off x="2697814" y="1426634"/>
            <a:ext cx="1594786" cy="446616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4248150" y="1382184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5617452" y="1958983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4965523" y="3163725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4248150" y="4259851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2957335" y="3494802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2653364" y="1828800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5452101" y="1984336"/>
            <a:ext cx="177800" cy="177800"/>
          </a:xfrm>
          <a:prstGeom prst="diamond">
            <a:avLst/>
          </a:prstGeom>
          <a:solidFill>
            <a:srgbClr val="B469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8763000" y="2120900"/>
            <a:ext cx="368300" cy="127"/>
          </a:xfrm>
          <a:prstGeom prst="line">
            <a:avLst/>
          </a:prstGeom>
          <a:noFill/>
          <a:ln w="31750">
            <a:solidFill>
              <a:srgbClr val="BE493B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8902700" y="2076450"/>
            <a:ext cx="88900" cy="88900"/>
          </a:xfrm>
          <a:prstGeom prst="ellipse">
            <a:avLst/>
          </a:prstGeom>
          <a:solidFill>
            <a:srgbClr val="BE493B"/>
          </a:solidFill>
          <a:ln w="3810">
            <a:solidFill>
              <a:srgbClr val="BE493B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9296400" y="19812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</a:t>
            </a:r>
            <a:endParaRPr lang="en-US" sz="1500" dirty="0"/>
          </a:p>
        </p:txBody>
      </p:sp>
      <p:sp>
        <p:nvSpPr>
          <p:cNvPr id="75" name="Shape 72"/>
          <p:cNvSpPr/>
          <p:nvPr/>
        </p:nvSpPr>
        <p:spPr>
          <a:xfrm>
            <a:off x="8763000" y="2514600"/>
            <a:ext cx="368300" cy="127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8902700" y="2470150"/>
            <a:ext cx="88900" cy="889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9296400" y="23749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voxel-only</a:t>
            </a:r>
            <a:endParaRPr lang="en-US" sz="1500" dirty="0"/>
          </a:p>
        </p:txBody>
      </p:sp>
      <p:sp>
        <p:nvSpPr>
          <p:cNvPr id="78" name="Shape 75"/>
          <p:cNvSpPr/>
          <p:nvPr/>
        </p:nvSpPr>
        <p:spPr>
          <a:xfrm>
            <a:off x="8763000" y="2908300"/>
            <a:ext cx="368300" cy="127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8902700" y="2863850"/>
            <a:ext cx="88900" cy="889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9296400" y="27686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density-only</a:t>
            </a:r>
            <a:endParaRPr lang="en-US" sz="1500" dirty="0"/>
          </a:p>
        </p:txBody>
      </p:sp>
      <p:sp>
        <p:nvSpPr>
          <p:cNvPr id="81" name="Shape 78"/>
          <p:cNvSpPr/>
          <p:nvPr/>
        </p:nvSpPr>
        <p:spPr>
          <a:xfrm>
            <a:off x="8763000" y="3302000"/>
            <a:ext cx="368300" cy="127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8902700" y="3257550"/>
            <a:ext cx="88900" cy="889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9296400" y="31623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pocket-only</a:t>
            </a:r>
            <a:endParaRPr lang="en-US" sz="1500" dirty="0"/>
          </a:p>
        </p:txBody>
      </p:sp>
      <p:sp>
        <p:nvSpPr>
          <p:cNvPr id="84" name="Shape 81"/>
          <p:cNvSpPr/>
          <p:nvPr/>
        </p:nvSpPr>
        <p:spPr>
          <a:xfrm>
            <a:off x="8851900" y="3619500"/>
            <a:ext cx="152400" cy="152400"/>
          </a:xfrm>
          <a:prstGeom prst="diamond">
            <a:avLst/>
          </a:prstGeom>
          <a:solidFill>
            <a:srgbClr val="B469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9296400" y="35560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EMERALD-ID</a:t>
            </a:r>
            <a:endParaRPr lang="en-US" sz="1500" dirty="0"/>
          </a:p>
        </p:txBody>
      </p:sp>
      <p:sp>
        <p:nvSpPr>
          <p:cNvPr id="86" name="Text 83"/>
          <p:cNvSpPr/>
          <p:nvPr/>
        </p:nvSpPr>
        <p:spPr>
          <a:xfrm>
            <a:off x="355600" y="5461000"/>
            <a:ext cx="254000" cy="330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700" dirty="0"/>
          </a:p>
        </p:txBody>
      </p:sp>
      <p:sp>
        <p:nvSpPr>
          <p:cNvPr id="87" name="Text 84"/>
          <p:cNvSpPr/>
          <p:nvPr/>
        </p:nvSpPr>
        <p:spPr>
          <a:xfrm>
            <a:off x="660400" y="5461000"/>
            <a:ext cx="3810000" cy="330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CryoAtom2 receptor</a:t>
            </a:r>
            <a:endParaRPr lang="en-US" sz="1800" dirty="0"/>
          </a:p>
        </p:txBody>
      </p:sp>
      <p:sp>
        <p:nvSpPr>
          <p:cNvPr id="88" name="Shape 85"/>
          <p:cNvSpPr/>
          <p:nvPr/>
        </p:nvSpPr>
        <p:spPr>
          <a:xfrm>
            <a:off x="3602038" y="7373938"/>
            <a:ext cx="1381125" cy="1381125"/>
          </a:xfrm>
          <a:prstGeom prst="ellipse">
            <a:avLst/>
          </a:prstGeom>
          <a:solidFill>
            <a:srgbClr val="FFFFFF">
              <a:alpha val="0"/>
            </a:srgbClr>
          </a:solidFill>
          <a:ln w="10160">
            <a:solidFill>
              <a:srgbClr val="DDE3E6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4509431" y="7245068"/>
            <a:ext cx="355600" cy="254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  <p:sp>
        <p:nvSpPr>
          <p:cNvPr id="90" name="Shape 87"/>
          <p:cNvSpPr/>
          <p:nvPr/>
        </p:nvSpPr>
        <p:spPr>
          <a:xfrm>
            <a:off x="2681288" y="6453188"/>
            <a:ext cx="3222625" cy="3222625"/>
          </a:xfrm>
          <a:prstGeom prst="ellipse">
            <a:avLst/>
          </a:prstGeom>
          <a:solidFill>
            <a:srgbClr val="FFFFFF">
              <a:alpha val="0"/>
            </a:srgbClr>
          </a:solidFill>
          <a:ln w="10160">
            <a:solidFill>
              <a:srgbClr val="DDE3E6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4747738" y="6355692"/>
            <a:ext cx="355600" cy="254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200" dirty="0"/>
          </a:p>
        </p:txBody>
      </p:sp>
      <p:sp>
        <p:nvSpPr>
          <p:cNvPr id="92" name="Shape 89"/>
          <p:cNvSpPr/>
          <p:nvPr/>
        </p:nvSpPr>
        <p:spPr>
          <a:xfrm>
            <a:off x="2451100" y="6223000"/>
            <a:ext cx="3683000" cy="3683000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A3AFB6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4807315" y="6133348"/>
            <a:ext cx="355600" cy="254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200" dirty="0"/>
          </a:p>
        </p:txBody>
      </p:sp>
      <p:sp>
        <p:nvSpPr>
          <p:cNvPr id="94" name="Shape 91"/>
          <p:cNvSpPr/>
          <p:nvPr/>
        </p:nvSpPr>
        <p:spPr>
          <a:xfrm flipV="1">
            <a:off x="4292600" y="6223000"/>
            <a:ext cx="127" cy="184150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3251200" y="58039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SMILES</a:t>
            </a:r>
            <a:endParaRPr lang="en-US" sz="1400" dirty="0"/>
          </a:p>
        </p:txBody>
      </p:sp>
      <p:sp>
        <p:nvSpPr>
          <p:cNvPr id="96" name="Shape 93"/>
          <p:cNvSpPr/>
          <p:nvPr/>
        </p:nvSpPr>
        <p:spPr>
          <a:xfrm flipV="1">
            <a:off x="4292600" y="714375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5417909" y="667385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molecule</a:t>
            </a:r>
            <a:endParaRPr lang="en-US" sz="1400" dirty="0"/>
          </a:p>
        </p:txBody>
      </p:sp>
      <p:sp>
        <p:nvSpPr>
          <p:cNvPr id="98" name="Shape 95"/>
          <p:cNvSpPr/>
          <p:nvPr/>
        </p:nvSpPr>
        <p:spPr>
          <a:xfrm>
            <a:off x="4292600" y="806450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5186940" y="90424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Sugar</a:t>
            </a:r>
            <a:endParaRPr lang="en-US" sz="1400" dirty="0"/>
          </a:p>
        </p:txBody>
      </p:sp>
      <p:sp>
        <p:nvSpPr>
          <p:cNvPr id="100" name="Shape 97"/>
          <p:cNvSpPr/>
          <p:nvPr/>
        </p:nvSpPr>
        <p:spPr>
          <a:xfrm>
            <a:off x="4292600" y="8064500"/>
            <a:ext cx="127" cy="184150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3296920" y="1014476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02830"/>
                </a:solidFill>
                <a:latin typeface="Arial" pitchFamily="34" charset="0"/>
                <a:cs typeface="Arial" pitchFamily="34" charset="-120"/>
              </a:rPr>
              <a:t>Foreground</a:t>
            </a: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F1</a:t>
            </a:r>
            <a:endParaRPr lang="en-US" sz="1400" dirty="0"/>
          </a:p>
        </p:txBody>
      </p:sp>
      <p:sp>
        <p:nvSpPr>
          <p:cNvPr id="102" name="Shape 99"/>
          <p:cNvSpPr/>
          <p:nvPr/>
        </p:nvSpPr>
        <p:spPr>
          <a:xfrm flipV="1">
            <a:off x="2697814" y="806450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1315460" y="90424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 ion</a:t>
            </a:r>
            <a:endParaRPr lang="en-US" sz="1400" dirty="0"/>
          </a:p>
        </p:txBody>
      </p:sp>
      <p:sp>
        <p:nvSpPr>
          <p:cNvPr id="104" name="Shape 101"/>
          <p:cNvSpPr/>
          <p:nvPr/>
        </p:nvSpPr>
        <p:spPr>
          <a:xfrm>
            <a:off x="2697814" y="714375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1315460" y="68072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Peptide</a:t>
            </a:r>
            <a:endParaRPr lang="en-US" sz="1400" dirty="0"/>
          </a:p>
        </p:txBody>
      </p:sp>
      <p:sp>
        <p:nvSpPr>
          <p:cNvPr id="106" name="Shape 103"/>
          <p:cNvSpPr/>
          <p:nvPr/>
        </p:nvSpPr>
        <p:spPr>
          <a:xfrm>
            <a:off x="4292600" y="6532563"/>
            <a:ext cx="1428662" cy="707099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 flipV="1">
            <a:off x="5246881" y="7239661"/>
            <a:ext cx="474382" cy="1375793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 flipV="1">
            <a:off x="4292600" y="8615454"/>
            <a:ext cx="954281" cy="895841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2839673" y="8903348"/>
            <a:ext cx="1452927" cy="607948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2697814" y="7143750"/>
            <a:ext cx="141858" cy="1759598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 flipV="1">
            <a:off x="2697814" y="6532563"/>
            <a:ext cx="1594786" cy="611188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4248150" y="6488113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5676812" y="7195211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5202431" y="8571004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4248150" y="9466846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2795223" y="8858898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2653364" y="7099300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4292600" y="6554391"/>
            <a:ext cx="1451576" cy="672042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 flipV="1">
            <a:off x="5246881" y="7226432"/>
            <a:ext cx="497295" cy="1389022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 flipV="1">
            <a:off x="4292600" y="8615454"/>
            <a:ext cx="954281" cy="880669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2895669" y="8871018"/>
            <a:ext cx="1396931" cy="625105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2697814" y="7143750"/>
            <a:ext cx="197855" cy="1727268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 flipV="1">
            <a:off x="2697814" y="6554391"/>
            <a:ext cx="1594786" cy="589359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4248150" y="6509941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5699726" y="7181982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5202431" y="8571004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4248150" y="9451673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2851219" y="8826568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2653364" y="7099300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4292600" y="6677422"/>
            <a:ext cx="1337008" cy="615156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 flipV="1">
            <a:off x="5167717" y="7292578"/>
            <a:ext cx="461891" cy="1277171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 flipV="1">
            <a:off x="4292600" y="8569749"/>
            <a:ext cx="875117" cy="932221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3011396" y="8804204"/>
            <a:ext cx="1281204" cy="697766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2697814" y="7143750"/>
            <a:ext cx="313581" cy="1660454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 flipV="1">
            <a:off x="2697814" y="6677422"/>
            <a:ext cx="1594786" cy="466328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4248150" y="6632972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5585158" y="7248128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5123267" y="8525299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4248150" y="9457520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2966946" y="8759754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2653364" y="7099300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4292600" y="6663531"/>
            <a:ext cx="1422934" cy="579438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 flipV="1">
            <a:off x="5074160" y="7242969"/>
            <a:ext cx="641374" cy="1272765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 flipV="1">
            <a:off x="4292600" y="8515734"/>
            <a:ext cx="781560" cy="990979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2992730" y="8814980"/>
            <a:ext cx="1299870" cy="691732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2697814" y="7143750"/>
            <a:ext cx="294916" cy="1671230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 flipV="1">
            <a:off x="2697814" y="6663531"/>
            <a:ext cx="1594786" cy="480219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4248150" y="6619081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5671084" y="7198519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5029710" y="8471284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4248150" y="9462263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2948280" y="8770530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2653364" y="7099300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5480038" y="7238706"/>
            <a:ext cx="177800" cy="177800"/>
          </a:xfrm>
          <a:prstGeom prst="diamond">
            <a:avLst/>
          </a:prstGeom>
          <a:solidFill>
            <a:srgbClr val="B469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8763000" y="7391400"/>
            <a:ext cx="368300" cy="127"/>
          </a:xfrm>
          <a:prstGeom prst="line">
            <a:avLst/>
          </a:prstGeom>
          <a:noFill/>
          <a:ln w="31750">
            <a:solidFill>
              <a:srgbClr val="BE493B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8902700" y="7346950"/>
            <a:ext cx="88900" cy="88900"/>
          </a:xfrm>
          <a:prstGeom prst="ellipse">
            <a:avLst/>
          </a:prstGeom>
          <a:solidFill>
            <a:srgbClr val="BE493B"/>
          </a:solidFill>
          <a:ln w="3810">
            <a:solidFill>
              <a:srgbClr val="BE493B"/>
            </a:solidFill>
            <a:prstDash val="solid"/>
          </a:ln>
        </p:spPr>
      </p:sp>
      <p:sp>
        <p:nvSpPr>
          <p:cNvPr id="157" name="Text 154"/>
          <p:cNvSpPr/>
          <p:nvPr/>
        </p:nvSpPr>
        <p:spPr>
          <a:xfrm>
            <a:off x="9296400" y="72517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</a:t>
            </a:r>
            <a:endParaRPr lang="en-US" sz="1500" dirty="0"/>
          </a:p>
        </p:txBody>
      </p:sp>
      <p:sp>
        <p:nvSpPr>
          <p:cNvPr id="158" name="Shape 155"/>
          <p:cNvSpPr/>
          <p:nvPr/>
        </p:nvSpPr>
        <p:spPr>
          <a:xfrm>
            <a:off x="8763000" y="7785100"/>
            <a:ext cx="368300" cy="127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8902700" y="7740650"/>
            <a:ext cx="88900" cy="889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160" name="Text 157"/>
          <p:cNvSpPr/>
          <p:nvPr/>
        </p:nvSpPr>
        <p:spPr>
          <a:xfrm>
            <a:off x="9296400" y="76454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voxel-only</a:t>
            </a:r>
            <a:endParaRPr lang="en-US" sz="1500" dirty="0"/>
          </a:p>
        </p:txBody>
      </p:sp>
      <p:sp>
        <p:nvSpPr>
          <p:cNvPr id="161" name="Shape 158"/>
          <p:cNvSpPr/>
          <p:nvPr/>
        </p:nvSpPr>
        <p:spPr>
          <a:xfrm>
            <a:off x="8763000" y="8178800"/>
            <a:ext cx="368300" cy="127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8902700" y="8134350"/>
            <a:ext cx="88900" cy="889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63" name="Text 160"/>
          <p:cNvSpPr/>
          <p:nvPr/>
        </p:nvSpPr>
        <p:spPr>
          <a:xfrm>
            <a:off x="9296400" y="80391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density-only</a:t>
            </a:r>
            <a:endParaRPr lang="en-US" sz="1500" dirty="0"/>
          </a:p>
        </p:txBody>
      </p:sp>
      <p:sp>
        <p:nvSpPr>
          <p:cNvPr id="164" name="Shape 161"/>
          <p:cNvSpPr/>
          <p:nvPr/>
        </p:nvSpPr>
        <p:spPr>
          <a:xfrm>
            <a:off x="8763000" y="8572500"/>
            <a:ext cx="368300" cy="127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8902700" y="8528050"/>
            <a:ext cx="88900" cy="889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66" name="Text 163"/>
          <p:cNvSpPr/>
          <p:nvPr/>
        </p:nvSpPr>
        <p:spPr>
          <a:xfrm>
            <a:off x="9296400" y="84328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pocket-only</a:t>
            </a:r>
            <a:endParaRPr lang="en-US" sz="1500" dirty="0"/>
          </a:p>
        </p:txBody>
      </p:sp>
      <p:sp>
        <p:nvSpPr>
          <p:cNvPr id="167" name="Shape 164"/>
          <p:cNvSpPr/>
          <p:nvPr/>
        </p:nvSpPr>
        <p:spPr>
          <a:xfrm>
            <a:off x="8851900" y="8890000"/>
            <a:ext cx="152400" cy="152400"/>
          </a:xfrm>
          <a:prstGeom prst="diamond">
            <a:avLst/>
          </a:prstGeom>
          <a:solidFill>
            <a:srgbClr val="B469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8" name="Text 165"/>
          <p:cNvSpPr/>
          <p:nvPr/>
        </p:nvSpPr>
        <p:spPr>
          <a:xfrm>
            <a:off x="9296400" y="88265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EMERALD-ID</a:t>
            </a:r>
            <a:endParaRPr lang="en-US" sz="15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317500"/>
            <a:ext cx="5207000" cy="355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strongest · Deposited receptor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1333500" y="4470400"/>
            <a:ext cx="7048500" cy="127"/>
          </a:xfrm>
          <a:prstGeom prst="line">
            <a:avLst/>
          </a:prstGeom>
          <a:noFill/>
          <a:ln w="16510">
            <a:solidFill>
              <a:srgbClr val="26313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1200" y="433070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333500" y="379222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1200" y="365252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333500" y="311404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1200" y="297434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333500" y="243586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1200" y="229616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333500" y="175768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1200" y="161798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333500" y="107950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1200" y="93980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333500" y="1079500"/>
            <a:ext cx="127" cy="3390900"/>
          </a:xfrm>
          <a:prstGeom prst="line">
            <a:avLst/>
          </a:prstGeom>
          <a:noFill/>
          <a:ln w="16510">
            <a:solidFill>
              <a:srgbClr val="26313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15900" y="1270000"/>
            <a:ext cx="419100" cy="298450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SMILES matching accuracy (%)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1714500" y="44704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22400" y="46101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276600" y="44704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984500" y="46101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838700" y="44704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46600" y="46101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400800" y="44704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08700" y="46101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7962900" y="44704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70800" y="46101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≥5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1714500" y="1079500"/>
            <a:ext cx="1562100" cy="176151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276600" y="1255651"/>
            <a:ext cx="1562100" cy="256730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838700" y="1512381"/>
            <a:ext cx="1562100" cy="724987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400800" y="2237368"/>
            <a:ext cx="1562100" cy="383450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663700" y="1028700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25800" y="1204851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787900" y="1461581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350000" y="2186568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912100" y="2570018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714500" y="1079500"/>
            <a:ext cx="1562100" cy="598394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276600" y="1677894"/>
            <a:ext cx="1562100" cy="10229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838700" y="1688123"/>
            <a:ext cx="1562100" cy="133136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400800" y="1821259"/>
            <a:ext cx="1562100" cy="879975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663700" y="1028700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225800" y="1627094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787900" y="1637323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350000" y="1770459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912100" y="2650435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714500" y="1079500"/>
            <a:ext cx="1562100" cy="343735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 flipV="1">
            <a:off x="3276600" y="1079500"/>
            <a:ext cx="1562100" cy="343735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838700" y="1079500"/>
            <a:ext cx="1562100" cy="282575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 flipV="1">
            <a:off x="6400800" y="1340338"/>
            <a:ext cx="1562100" cy="21737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1663700" y="10287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3225800" y="1372435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787900" y="10287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350000" y="1311275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912100" y="1289538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663700" y="1028700"/>
            <a:ext cx="101600" cy="101600"/>
          </a:xfrm>
          <a:prstGeom prst="ellipse">
            <a:avLst/>
          </a:prstGeom>
          <a:solidFill>
            <a:srgbClr val="B46932"/>
          </a:solidFill>
          <a:ln w="3810">
            <a:solidFill>
              <a:srgbClr val="B46932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966200" y="2235200"/>
            <a:ext cx="368300" cy="127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9099550" y="2184400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9499600" y="20955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molecule</a:t>
            </a:r>
            <a:endParaRPr lang="en-US" sz="1500" dirty="0"/>
          </a:p>
        </p:txBody>
      </p:sp>
      <p:sp>
        <p:nvSpPr>
          <p:cNvPr id="59" name="Shape 56"/>
          <p:cNvSpPr/>
          <p:nvPr/>
        </p:nvSpPr>
        <p:spPr>
          <a:xfrm>
            <a:off x="8966200" y="2628900"/>
            <a:ext cx="368300" cy="127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9099550" y="2578100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9499600" y="24892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Sugar</a:t>
            </a:r>
            <a:endParaRPr lang="en-US" sz="1500" dirty="0"/>
          </a:p>
        </p:txBody>
      </p:sp>
      <p:sp>
        <p:nvSpPr>
          <p:cNvPr id="62" name="Shape 59"/>
          <p:cNvSpPr/>
          <p:nvPr/>
        </p:nvSpPr>
        <p:spPr>
          <a:xfrm>
            <a:off x="8966200" y="3022600"/>
            <a:ext cx="368300" cy="127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9099550" y="29718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9499600" y="28829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 ion</a:t>
            </a:r>
            <a:endParaRPr lang="en-US" sz="1500" dirty="0"/>
          </a:p>
        </p:txBody>
      </p:sp>
      <p:sp>
        <p:nvSpPr>
          <p:cNvPr id="65" name="Shape 62"/>
          <p:cNvSpPr/>
          <p:nvPr/>
        </p:nvSpPr>
        <p:spPr>
          <a:xfrm>
            <a:off x="8966200" y="3416300"/>
            <a:ext cx="368300" cy="127"/>
          </a:xfrm>
          <a:prstGeom prst="line">
            <a:avLst/>
          </a:prstGeom>
          <a:noFill/>
          <a:ln w="31750">
            <a:solidFill>
              <a:srgbClr val="B46932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9099550" y="3365500"/>
            <a:ext cx="101600" cy="101600"/>
          </a:xfrm>
          <a:prstGeom prst="ellipse">
            <a:avLst/>
          </a:prstGeom>
          <a:solidFill>
            <a:srgbClr val="B46932"/>
          </a:solidFill>
          <a:ln w="3810">
            <a:solidFill>
              <a:srgbClr val="B46932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9499600" y="32766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Peptide</a:t>
            </a:r>
            <a:endParaRPr lang="en-US" sz="1500" dirty="0"/>
          </a:p>
        </p:txBody>
      </p:sp>
      <p:sp>
        <p:nvSpPr>
          <p:cNvPr id="68" name="Text 65"/>
          <p:cNvSpPr/>
          <p:nvPr/>
        </p:nvSpPr>
        <p:spPr>
          <a:xfrm>
            <a:off x="571500" y="5461000"/>
            <a:ext cx="5207000" cy="355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strongest · CryoAtom2 receptor</a:t>
            </a:r>
            <a:endParaRPr lang="en-US" sz="2000" dirty="0"/>
          </a:p>
        </p:txBody>
      </p:sp>
      <p:sp>
        <p:nvSpPr>
          <p:cNvPr id="69" name="Shape 66"/>
          <p:cNvSpPr/>
          <p:nvPr/>
        </p:nvSpPr>
        <p:spPr>
          <a:xfrm>
            <a:off x="1333500" y="9613900"/>
            <a:ext cx="7048500" cy="127"/>
          </a:xfrm>
          <a:prstGeom prst="line">
            <a:avLst/>
          </a:prstGeom>
          <a:noFill/>
          <a:ln w="16510">
            <a:solidFill>
              <a:srgbClr val="26313A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711200" y="947420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71" name="Shape 68"/>
          <p:cNvSpPr/>
          <p:nvPr/>
        </p:nvSpPr>
        <p:spPr>
          <a:xfrm>
            <a:off x="1333500" y="893572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711200" y="879602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00" dirty="0"/>
          </a:p>
        </p:txBody>
      </p:sp>
      <p:sp>
        <p:nvSpPr>
          <p:cNvPr id="73" name="Shape 70"/>
          <p:cNvSpPr/>
          <p:nvPr/>
        </p:nvSpPr>
        <p:spPr>
          <a:xfrm>
            <a:off x="1333500" y="825754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711200" y="811784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300" dirty="0"/>
          </a:p>
        </p:txBody>
      </p:sp>
      <p:sp>
        <p:nvSpPr>
          <p:cNvPr id="75" name="Shape 72"/>
          <p:cNvSpPr/>
          <p:nvPr/>
        </p:nvSpPr>
        <p:spPr>
          <a:xfrm>
            <a:off x="1333500" y="757936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711200" y="743966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300" dirty="0"/>
          </a:p>
        </p:txBody>
      </p:sp>
      <p:sp>
        <p:nvSpPr>
          <p:cNvPr id="77" name="Shape 74"/>
          <p:cNvSpPr/>
          <p:nvPr/>
        </p:nvSpPr>
        <p:spPr>
          <a:xfrm>
            <a:off x="1333500" y="690118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711200" y="676148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300" dirty="0"/>
          </a:p>
        </p:txBody>
      </p:sp>
      <p:sp>
        <p:nvSpPr>
          <p:cNvPr id="79" name="Shape 76"/>
          <p:cNvSpPr/>
          <p:nvPr/>
        </p:nvSpPr>
        <p:spPr>
          <a:xfrm>
            <a:off x="1333500" y="622300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711200" y="608330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300" dirty="0"/>
          </a:p>
        </p:txBody>
      </p:sp>
      <p:sp>
        <p:nvSpPr>
          <p:cNvPr id="81" name="Shape 78"/>
          <p:cNvSpPr/>
          <p:nvPr/>
        </p:nvSpPr>
        <p:spPr>
          <a:xfrm>
            <a:off x="1333500" y="6223000"/>
            <a:ext cx="127" cy="3390900"/>
          </a:xfrm>
          <a:prstGeom prst="line">
            <a:avLst/>
          </a:prstGeom>
          <a:noFill/>
          <a:ln w="16510">
            <a:solidFill>
              <a:srgbClr val="26313A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215900" y="6413500"/>
            <a:ext cx="419100" cy="298450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SMILES matching accuracy (%)</a:t>
            </a:r>
            <a:endParaRPr lang="en-US" sz="1400" dirty="0"/>
          </a:p>
        </p:txBody>
      </p:sp>
      <p:sp>
        <p:nvSpPr>
          <p:cNvPr id="83" name="Shape 80"/>
          <p:cNvSpPr/>
          <p:nvPr/>
        </p:nvSpPr>
        <p:spPr>
          <a:xfrm>
            <a:off x="1714500" y="96139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1422400" y="97536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5" name="Shape 82"/>
          <p:cNvSpPr/>
          <p:nvPr/>
        </p:nvSpPr>
        <p:spPr>
          <a:xfrm>
            <a:off x="3276600" y="96139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2984500" y="97536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7" name="Shape 84"/>
          <p:cNvSpPr/>
          <p:nvPr/>
        </p:nvSpPr>
        <p:spPr>
          <a:xfrm>
            <a:off x="4838700" y="96139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4546600" y="97536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89" name="Shape 86"/>
          <p:cNvSpPr/>
          <p:nvPr/>
        </p:nvSpPr>
        <p:spPr>
          <a:xfrm>
            <a:off x="6400800" y="96139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6108700" y="97536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91" name="Shape 88"/>
          <p:cNvSpPr/>
          <p:nvPr/>
        </p:nvSpPr>
        <p:spPr>
          <a:xfrm>
            <a:off x="7962900" y="96139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7670800" y="97536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≥5</a:t>
            </a:r>
            <a:endParaRPr lang="en-US" sz="1400" dirty="0"/>
          </a:p>
        </p:txBody>
      </p:sp>
      <p:sp>
        <p:nvSpPr>
          <p:cNvPr id="93" name="Text 90"/>
          <p:cNvSpPr/>
          <p:nvPr/>
        </p:nvSpPr>
        <p:spPr>
          <a:xfrm>
            <a:off x="2984500" y="10312400"/>
            <a:ext cx="3556000" cy="355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SMILES per PDB</a:t>
            </a:r>
            <a:endParaRPr lang="en-US" sz="1500" dirty="0"/>
          </a:p>
        </p:txBody>
      </p:sp>
      <p:sp>
        <p:nvSpPr>
          <p:cNvPr id="94" name="Shape 91"/>
          <p:cNvSpPr/>
          <p:nvPr/>
        </p:nvSpPr>
        <p:spPr>
          <a:xfrm>
            <a:off x="1714500" y="6223000"/>
            <a:ext cx="1562100" cy="178468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3276600" y="6401468"/>
            <a:ext cx="1562100" cy="480873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4838700" y="6882342"/>
            <a:ext cx="1562100" cy="743789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6400800" y="7626131"/>
            <a:ext cx="1562100" cy="631409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1663700" y="6172200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3225800" y="6350668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4787900" y="6831542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6350000" y="7575331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7912100" y="8206740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1714500" y="6223000"/>
            <a:ext cx="1562100" cy="678180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3276600" y="6901180"/>
            <a:ext cx="1562100" cy="87507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4838700" y="6988687"/>
            <a:ext cx="1562100" cy="113435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6400800" y="7102122"/>
            <a:ext cx="1562100" cy="1043278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1663700" y="6172200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3225800" y="6850380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4787900" y="6937887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6350000" y="7051322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7912100" y="8094600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1714500" y="6223000"/>
            <a:ext cx="1562100" cy="356430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 flipV="1">
            <a:off x="3276600" y="6223000"/>
            <a:ext cx="1562100" cy="356430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838700" y="6223000"/>
            <a:ext cx="1562100" cy="127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6400800" y="6223000"/>
            <a:ext cx="1562100" cy="260838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1663700" y="61722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3225800" y="652863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4787900" y="61722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6350000" y="61722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7912100" y="6433038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1663700" y="6172200"/>
            <a:ext cx="101600" cy="101600"/>
          </a:xfrm>
          <a:prstGeom prst="ellipse">
            <a:avLst/>
          </a:prstGeom>
          <a:solidFill>
            <a:srgbClr val="B46932"/>
          </a:solidFill>
          <a:ln w="3810">
            <a:solidFill>
              <a:srgbClr val="B46932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8966200" y="7378700"/>
            <a:ext cx="368300" cy="127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9099550" y="7327900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9499600" y="72390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molecule</a:t>
            </a:r>
            <a:endParaRPr lang="en-US" sz="1500" dirty="0"/>
          </a:p>
        </p:txBody>
      </p:sp>
      <p:sp>
        <p:nvSpPr>
          <p:cNvPr id="125" name="Shape 122"/>
          <p:cNvSpPr/>
          <p:nvPr/>
        </p:nvSpPr>
        <p:spPr>
          <a:xfrm>
            <a:off x="8966200" y="7772400"/>
            <a:ext cx="368300" cy="127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9099550" y="7721600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9499600" y="76327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Sugar</a:t>
            </a:r>
            <a:endParaRPr lang="en-US" sz="1500" dirty="0"/>
          </a:p>
        </p:txBody>
      </p:sp>
      <p:sp>
        <p:nvSpPr>
          <p:cNvPr id="128" name="Shape 125"/>
          <p:cNvSpPr/>
          <p:nvPr/>
        </p:nvSpPr>
        <p:spPr>
          <a:xfrm>
            <a:off x="8966200" y="8166100"/>
            <a:ext cx="368300" cy="127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9099550" y="81153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30" name="Text 127"/>
          <p:cNvSpPr/>
          <p:nvPr/>
        </p:nvSpPr>
        <p:spPr>
          <a:xfrm>
            <a:off x="9499600" y="80264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 ion</a:t>
            </a:r>
            <a:endParaRPr lang="en-US" sz="1500" dirty="0"/>
          </a:p>
        </p:txBody>
      </p:sp>
      <p:sp>
        <p:nvSpPr>
          <p:cNvPr id="131" name="Shape 128"/>
          <p:cNvSpPr/>
          <p:nvPr/>
        </p:nvSpPr>
        <p:spPr>
          <a:xfrm>
            <a:off x="8966200" y="8559800"/>
            <a:ext cx="368300" cy="127"/>
          </a:xfrm>
          <a:prstGeom prst="line">
            <a:avLst/>
          </a:prstGeom>
          <a:noFill/>
          <a:ln w="31750">
            <a:solidFill>
              <a:srgbClr val="B46932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9099550" y="8509000"/>
            <a:ext cx="101600" cy="101600"/>
          </a:xfrm>
          <a:prstGeom prst="ellipse">
            <a:avLst/>
          </a:prstGeom>
          <a:solidFill>
            <a:srgbClr val="B46932"/>
          </a:solidFill>
          <a:ln w="3810">
            <a:solidFill>
              <a:srgbClr val="B46932"/>
            </a:solidFill>
            <a:prstDash val="solid"/>
          </a:ln>
        </p:spPr>
      </p:sp>
      <p:sp>
        <p:nvSpPr>
          <p:cNvPr id="133" name="Text 130"/>
          <p:cNvSpPr/>
          <p:nvPr/>
        </p:nvSpPr>
        <p:spPr>
          <a:xfrm>
            <a:off x="9499600" y="84201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Peptide</a:t>
            </a:r>
            <a:endParaRPr lang="en-US" sz="15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1100</TotalTime>
  <Words>693</Words>
  <Application>Microsoft Office PowerPoint</Application>
  <PresentationFormat>自定义</PresentationFormat>
  <Paragraphs>77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5" baseType="lpstr">
      <vt:lpstr>等线</vt:lpstr>
      <vt:lpstr>Arial</vt:lpstr>
      <vt:lpstr>Office Theme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Matcher manuscript</dc:creator>
  <cp:lastModifiedBy>Hongen Peng</cp:lastModifiedBy>
  <cp:revision>11</cp:revision>
  <dcterms:created xsi:type="dcterms:W3CDTF">2026-10-01T09:38:06Z</dcterms:created>
  <dcterms:modified xsi:type="dcterms:W3CDTF">2026-10-24T06:03:51Z</dcterms:modified>
</cp:coreProperties>
</file>