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comments/modernComment_104_89D70C85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comments/modernComment_103_9E83D0F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15240000" cy="127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3278" autoAdjust="0"/>
  </p:normalViewPr>
  <p:slideViewPr>
    <p:cSldViewPr snapToGrid="0" snapToObjects="1">
      <p:cViewPr varScale="1">
        <p:scale>
          <a:sx n="32" d="100"/>
          <a:sy n="32" d="100"/>
        </p:scale>
        <p:origin x="17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848A0F-7261-4253-B576-2BE40517B3E8}" authorId="{D3F71A66-0C34-DF1A-5236-FECDBC820DCB}" created="2026-09-18T14:10:24.6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grpSpMk id="3" creationId="{00000000-0000-0000-0000-000000000000}"/>
    </ac:deMkLst>
    <p188:txBody>
      <a:bodyPr/>
      <a:lstStyle/>
      <a:p>
        <a:r>
          <a:rPr lang="zh-CN" altLang="en-US"/>
          <a:t>本轮你要完成的基本任务就是a的细化。对于a这一部分：可以参考第二张ppt（P2）作为大纲，以及我增加的附件图（P3）。
对于a，一个基本的设想是：先用半卡通结构（pymol/chimear含量不必过高；实际例子可以单独放到另外一个"真-实例"）图，而那个以后再说。
你可以操控计算机、联网或者服务器下载对应的文件、使用pymol或chimera。</a:t>
        </a:r>
      </a:p>
    </p188:txBody>
  </p188:cm>
</p188:cmLst>
</file>

<file path=ppt/comments/modernComment_103_9E83D0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EC79BC-8F6D-4F62-B210-E4F601C72BF0}" authorId="{D3F71A66-0C34-DF1A-5236-FECDBC820DCB}" created="2026-09-18T14:17:27.5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59438842" sldId="259"/>
      <ac:picMk id="2" creationId="{6B5E1109-869D-608C-845B-3B0A2DEF64C9}"/>
    </ac:deMkLst>
    <p188:txBody>
      <a:bodyPr/>
      <a:lstStyle/>
      <a:p>
        <a:r>
          <a:rPr lang="zh-CN" altLang="en-US"/>
          <a:t>1.这个图是别人给我画的，背景的密度是在chimear里面导出的，但是我仍然不知道制作的细节：后续需要你复现。
2.所以对应于P2的大纲，这张图还缺少了：一个形状类似的绿色实例（代表有相同身份）、深灰色实例（代表假阳性的预测实例）。
3.本地有chimera，且可以导出图片。你具体的工作流程是：全程尽量使用控制我的计算机，chimera的可视化界面操作，也可以使用命令或代码，打开另一张形状不一样的密度图，按照P2大纲完成绘制。</a:t>
        </a:r>
      </a:p>
    </p188:txBody>
  </p188:cm>
</p188:cmLst>
</file>

<file path=ppt/comments/modernComment_104_89D70C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40A743-9A6C-4A02-B2E0-5DDF84EACADD}" authorId="{D3F71A66-0C34-DF1A-5236-FECDBC820DCB}" created="2026-09-18T14:24:49.8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12572037" sldId="260"/>
      <ac:inkMk id="33" creationId="{045249A6-E3F6-D478-2D67-7439F69A2A71}"/>
    </ac:deMkLst>
    <p188:txBody>
      <a:bodyPr/>
      <a:lstStyle/>
      <a:p>
        <a:r>
          <a:rPr lang="zh-CN" altLang="en-US"/>
          <a:t>这部分的"SMILE X”应该换成卡通式的简单图拓扑，但保持颜色一致</a:t>
        </a:r>
      </a:p>
    </p188:txBody>
  </p188:cm>
  <p188:cm id="{814136F4-2058-4617-935F-D1CA97685703}" authorId="{D3F71A66-0C34-DF1A-5236-FECDBC820DCB}" created="2026-09-18T14:25:01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12572037" sldId="260"/>
      <ac:inkMk id="4" creationId="{068211C0-C44E-BFE7-F805-A7165B86E15F}"/>
    </ac:deMkLst>
    <p188:txBody>
      <a:bodyPr/>
      <a:lstStyle/>
      <a:p>
        <a:r>
          <a:rPr lang="zh-CN" altLang="en-US"/>
          <a:t>参考P3</a:t>
        </a:r>
      </a:p>
    </p188:txBody>
  </p188:cm>
  <p188:cm id="{00523FEE-0488-4DB3-8F91-985F2592F88A}" authorId="{D3F71A66-0C34-DF1A-5236-FECDBC820DCB}" created="2026-09-18T14:28:58.9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12572037" sldId="260"/>
      <ac:inkMk id="34" creationId="{F3000649-C7EC-845D-FC28-0C209E88C041}"/>
    </ac:deMkLst>
    <p188:txBody>
      <a:bodyPr/>
      <a:lstStyle/>
      <a:p>
        <a:r>
          <a:rPr lang="zh-CN" altLang="en-US"/>
          <a:t>可以用pymol卡通结构，但颜色不要太复杂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18:06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2608 468 24575,'-10'0'9,"-1"1"0,1 1 0,0-1 0,0 2 0,-1 0 0,2 0-1,-19 9 1,-65 40-786,79-43 353,-315 225-8712,220-141 8789,5 4 0,4 4 1,4 5-1,-135 195 0,40-3 2018,-179 382-1,167-228 929,100-184-2562,13 5 1,-58 295-1,-86 913-1161,142 16-1,90 452 284,8-1010 563,-6 1595 278,75-923-1158,69-549 1158,52-9 0,166 1085 14,-361-2130-14,144 1072-947,40-10 11,27-110 1503,-115-614 870,-68-263-818,4-3 1,47 87-1,16-4-2057,221 281 0,22-68 1455,-250-283-57,189 185-509,-18-18 4499,-28-8 3337,124 183-6595,-295-355-692,138 136 0,99 39 0,-247-214 0,-20-15 0,0-2 0,2-1 0,41 21 0,69 30 0,-24-11 0,168 64 0,138 1 0,6-24 0,-419-101 0,398 72 0,2-25 0,-366-45 0,79 9 0,168-5 0,-256-11 0,0-3 0,-1 0 0,0-3 0,39-12 0,138-60 0,-19-3-294,238-141-1,-284 134 99,-4-7 0,135-120-1,377-422 197,-466 419-422,-9-9 0,164-276 0,241-535-292,199-705 714,-417 691-5946,-227 594 5876,425-1773-1811,-274 358 639,-230 871 1188,-46 0 745,-24 391-552,-41 1-150,-144-433-44,-94 21-67,-63 18-5,-29 12 56,311 820 69,-366-929 2,57 201 504,-52 27 76,132 363-288,-513-672-1,187 382-574,-35 31 4039,641 752-4175,-328-351-4945,165 192 6143,-9 11 3454,65 73 2662,-5 8-5679,-136-67-1787,198 116 571,-2 2 0,-1 4 0,-1 3 0,-103-26 0,128 43 0,0 2 0,-1 1 0,-58 0 0,-457 8 0,223 2 0,-325 28 0,512-13 0,1 8 0,-198 58 0,-89 73 0,173-42 0,-58 25 0,89-48 0,-47 22 0,231-86-682,-67 48-1,94-59-6143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23:53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1700 0 24575,'-3'1'0,"0"0"0,-1 0 0,1 0 0,1 1 0,-1-1 0,0 1 0,0-1 0,0 1 0,1 0 0,-1 0 0,1 0 0,0 1 0,-1-1 0,1 0 0,0 1 0,-2 3 0,-4 3 0,-96 118 0,-23 26 0,6-13 0,104-116 0,1 2 0,1 0 0,2 0 0,-12 30 0,10-19 0,-28 46 0,-2-6 0,3 2 0,-42 111 0,62-120 0,15-47 0,0 0 0,-2 0 0,-12 23 0,7-17 0,1 1 0,-12 40 0,-12 29 0,-158 305 0,31-66 0,41-16 0,83-206 0,-81 282 0,100-287 0,-9 169 0,19-148 0,-43 459 0,10-108 0,24 633 0,41-799-485,13-2 1,90 371-1,75 157 485,-112-484 0,31 214 182,-19 6-1553,17 96-3742,234 887 4538,-52-457-1305,37-14 5581,-121-336-2704,-42-135-1636,8 15-4360,39 129 4815,-94-357 717,65 206 1234,25-12-711,-73-261 1609,7 18 215,-109-264-3271,5-1-1,60 93 1,131 153-7745,-83-144 5737,-43-70 5413,-103-118-2993,-5-4 310,0-1 0,0 1 0,1-1 0,-1 0 0,1 1 0,0-1 0,0 0 0,-1-1 0,6 3 0,-6-3-178,0-1 0,0 0 1,0 0-1,0 0 0,1 0 0,-1 0 0,0 0 1,0-1-1,0 1 0,0-1 0,0 1 0,0-1 0,0 0 1,0 0-1,0 0 0,0 0 0,0 0 0,-1 0 1,3-3-1,56-43 3438,31-42-2416,-80 78-1207,126-135-302,38-52-1003,30-56 393,22-52-1494,28-74 2235,-18-11 0,188-424-1,-124 59 204,-238 553 0,64-382 0,-93 290-676,-12-1 0,-24-423 0,-16 463 223,-11 0 0,-92-374 0,-110-244 453,112 433 0,-312-1014-493,89 503-2973,88 262 1813,70 84 1653,71 215 0,-109-360 841,34-5 720,175 699-1317,-78-397 10356,60 258-15008,-184-988 3533,174 978 790,24 126 477,-39-213-886,28 98 6250,-49-442-4626,23 99-1130,46 448 0,-8-191 0,-14-127 0,-42-169-1130,13 201-9897,35 275 9402,-60-161-1,43 160 6504,-87-158-1,119 244-3958,-1 1-1,0 0 1,-25-26 0,30 36-778,0 0 0,0 1 1,-1-1-1,1 2 0,-1-1 1,0 0-1,0 1 0,0 0 1,-1 1-1,1-1 0,-1 1 1,1 0-1,-11-1 0,-29 1-1670,-75 4-1,29 1-1064,-135-2 2197,-307-1 7073,162-1-8667,345 1-4835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14:28:08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1750 1 24575,'-3'1'0,"1"0"0,-1 0 0,1 0 0,-1 0 0,1 1 0,-1-1 0,1 1 0,0 0 0,0 0 0,0 0 0,0 0 0,0 0 0,0 0 0,1 0 0,-3 4 0,-4 4 0,-26 26-551,-117 129 1501,58-48-8133,27-40 6688,25-32 1940,15-12 3259,8-6-4109,-26 55 1,-1 1-657,-38 46 1232,-38 64-6154,87-131 3497,-35 82 0,32-52 1532,-61 143 1039,54-132 3691,3 2-3562,-59 133-1551,11-31 337,8 4 0,10 3 0,9 4 0,-35 240 0,-7 475 35,63 8-468,26 860-2904,16-1482 2735,4-10-38,68 465-1,58-21 385,-56-341 256,272 1411-3684,-50-620 2674,-297-1201 1010,174 594 491,-91-321-338,183 523-153,54-23-1931,-42-198-971,-83-195 5624,-151-307 1152,3-1 0,110 130 0,-109-152-3724,2-1-1,84 64 1,126 71-186,-89-80 36,273 125 0,-333-183 0,198 57 0,124 1 0,-423-103 0,52 13 0,-44-11 0,0 0 0,0 0 0,0-2 0,0 0 0,1-1 0,-1-1 0,1-1 0,28-3 0,75-24 470,60-26-5007,-43 11 1064,-39 15 791,113-35 1398,-175 49 1519,-2-2 1,0-2-1,57-36 1,-28 4 3166,-2-2 0,61-64 1,7-8-3046,-41 47-357,19-16 0,99-109 0,98-190 50,-32-27-4470,-233 353 2514,88-141-2020,136-297 1,88-415 3421,-103-23 504,-197 703 0,91-449 0,-73 96 0,-45-5 0,-19 377 0,-4 138 20,56-2265 5918,-63 1981-5938,-100-694 0,-101 64 0,22 376 605,132 458 369,-67-206 3705,-64-180-2922,10 32-1318,-169-556-1532,124 487 1093,150 431-5222,-86-143 0,48 107 2834,2 1 4645,66 119-253,21 41 970,-1 1-1,-38-46 1,34 50-2493,-31-27 0,7 6-481,30 28 0,0 2 0,-24-19 0,11 12 0,15 12 0,1-1 0,-1 2 0,-1 0 0,0 0 0,-21-7 0,-79-32 0,60 24 0,-53-25 0,50 20 0,-98-31 0,68 34 923,-86-25-3785,-88-16-5763,-81-6 7907,97 22 4506,3-3 3706,186 39-7494,20 4 0,-1 2 0,-50-5 0,-223 11 0,154 4 0,-1578-2-1365,1706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08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V1 | </a:t>
            </a:r>
            <a:r>
              <a:rPr lang="zh-CN" altLang="en-US" dirty="0"/>
              <a:t>平衡型模型主图</a:t>
            </a:r>
          </a:p>
          <a:p>
            <a:endParaRPr lang="zh-CN" altLang="en-US" dirty="0"/>
          </a:p>
          <a:p>
            <a:r>
              <a:rPr lang="zh-CN" altLang="en-US" dirty="0"/>
              <a:t>来源：</a:t>
            </a:r>
            <a:r>
              <a:rPr lang="en-US" altLang="zh-CN" dirty="0"/>
              <a:t>V1_balanced_main_figure.svg</a:t>
            </a:r>
            <a:r>
              <a:rPr lang="zh-CN" altLang="en-US" dirty="0"/>
              <a:t>。本页保留该 </a:t>
            </a:r>
            <a:r>
              <a:rPr lang="en-US" altLang="zh-CN" dirty="0"/>
              <a:t>SVG </a:t>
            </a:r>
            <a:r>
              <a:rPr lang="zh-CN" altLang="en-US" dirty="0"/>
              <a:t>的内容、文字、颜色和分区，不新增科学结论。</a:t>
            </a:r>
          </a:p>
          <a:p>
            <a:r>
              <a:rPr lang="zh-CN" altLang="en-US" dirty="0"/>
              <a:t>所有 </a:t>
            </a:r>
            <a:r>
              <a:rPr lang="en-US" altLang="zh-CN" dirty="0"/>
              <a:t>550 </a:t>
            </a:r>
            <a:r>
              <a:rPr lang="zh-CN" altLang="en-US" dirty="0"/>
              <a:t>个可见基本对象均为 </a:t>
            </a:r>
            <a:r>
              <a:rPr lang="en-US" altLang="zh-CN" dirty="0"/>
              <a:t>PowerPoint </a:t>
            </a:r>
            <a:r>
              <a:rPr lang="zh-CN" altLang="en-US" dirty="0"/>
              <a:t>原生可编辑对象；包括 </a:t>
            </a:r>
            <a:r>
              <a:rPr lang="en-US" altLang="zh-CN" dirty="0"/>
              <a:t>81 </a:t>
            </a:r>
            <a:r>
              <a:rPr lang="zh-CN" altLang="en-US" dirty="0"/>
              <a:t>个文本框。无整图图片、</a:t>
            </a:r>
            <a:r>
              <a:rPr lang="en-US" altLang="zh-CN" dirty="0"/>
              <a:t>SVG</a:t>
            </a:r>
            <a:r>
              <a:rPr lang="zh-CN" altLang="en-US" dirty="0"/>
              <a:t> 图片或嵌入对象。</a:t>
            </a:r>
          </a:p>
          <a:p>
            <a:endParaRPr lang="zh-CN" altLang="en-US" dirty="0"/>
          </a:p>
          <a:p>
            <a:r>
              <a:rPr lang="zh-CN" altLang="en-US" dirty="0"/>
              <a:t>编辑：在组合内再次单击可选择子对象；也可使用“取消组合”逐层展开。文本可直接输入；线条、箭头、矩形、圆点可修改格式；自由轮廓可使用“编辑顶点”。使用“选择窗格”可按名称定位分图、结构图预留区和文字。</a:t>
            </a:r>
          </a:p>
          <a:p>
            <a:endParaRPr lang="zh-CN" altLang="en-US" dirty="0"/>
          </a:p>
          <a:p>
            <a:r>
              <a:rPr lang="zh-CN" altLang="en-US" dirty="0"/>
              <a:t>三页统一为 </a:t>
            </a:r>
            <a:r>
              <a:rPr lang="en-US" altLang="zh-CN" dirty="0"/>
              <a:t>1200 × 1000 pt </a:t>
            </a:r>
            <a:r>
              <a:rPr lang="zh-CN" altLang="en-US" dirty="0"/>
              <a:t>画布，原图等比保留；较矮的版本垂直居中，未拉伸。保持 </a:t>
            </a:r>
            <a:r>
              <a:rPr lang="en-US" altLang="zh-CN" dirty="0"/>
              <a:t>Arial </a:t>
            </a:r>
            <a:r>
              <a:rPr lang="zh-CN" altLang="en-US" dirty="0"/>
              <a:t>字体；不附带任何字体文件。</a:t>
            </a:r>
          </a:p>
          <a:p>
            <a:endParaRPr lang="zh-CN" altLang="en-US" dirty="0"/>
          </a:p>
          <a:p>
            <a:r>
              <a:rPr lang="en-US" altLang="zh-CN" dirty="0"/>
              <a:t>R1 / R2 / R3 </a:t>
            </a:r>
            <a:r>
              <a:rPr lang="zh-CN" altLang="en-US" dirty="0"/>
              <a:t>仍为真实结构渲染的预留区。密度小格、原子点集和匹配示例均为原图示意，不是新增实验或预测结果。方法与源码的待确认事项仍以原设计包中的核对说明为准。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microsoft.com/office/2018/10/relationships/comments" Target="../comments/modernComment_104_89D70C8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3_9E83D0FA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1 | 平衡型模型主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| 可编辑白色背景"/>
          <p:cNvSpPr/>
          <p:nvPr/>
        </p:nvSpPr>
        <p:spPr>
          <a:xfrm>
            <a:off x="0" y="254000"/>
            <a:ext cx="15240000" cy="1219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3" name="a | Overview: Find → Match → Build"/>
          <p:cNvGrpSpPr/>
          <p:nvPr/>
        </p:nvGrpSpPr>
        <p:grpSpPr>
          <a:xfrm>
            <a:off x="304800" y="387350"/>
            <a:ext cx="14630400" cy="3244850"/>
            <a:chOff x="304800" y="387350"/>
            <a:chExt cx="14630400" cy="3244850"/>
          </a:xfrm>
        </p:grpSpPr>
        <p:sp>
          <p:nvSpPr>
            <p:cNvPr id="4" name="Text | a"/>
            <p:cNvSpPr txBox="1"/>
            <p:nvPr/>
          </p:nvSpPr>
          <p:spPr>
            <a:xfrm>
              <a:off x="304800" y="387350"/>
              <a:ext cx="426720" cy="3289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</a:t>
              </a:r>
              <a:endParaRPr lang="en-US" sz="1850"/>
            </a:p>
          </p:txBody>
        </p:sp>
        <p:sp>
          <p:nvSpPr>
            <p:cNvPr id="5" name="Text | Pocket_Plus: from cryo-EM density to ligand poses"/>
            <p:cNvSpPr txBox="1"/>
            <p:nvPr/>
          </p:nvSpPr>
          <p:spPr>
            <a:xfrm>
              <a:off x="622300" y="419100"/>
              <a:ext cx="5129590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Pocket_Plus: from cryo-EM density to ligand poses</a:t>
              </a:r>
              <a:endParaRPr lang="en-US" sz="1600" dirty="0"/>
            </a:p>
          </p:txBody>
        </p:sp>
        <p:grpSp>
          <p:nvGrpSpPr>
            <p:cNvPr id="6" name="R1 | 真实结构图预留区（全部可编辑）"/>
            <p:cNvGrpSpPr/>
            <p:nvPr/>
          </p:nvGrpSpPr>
          <p:grpSpPr>
            <a:xfrm>
              <a:off x="304800" y="1168400"/>
              <a:ext cx="2336800" cy="1765300"/>
              <a:chOff x="304800" y="1168400"/>
              <a:chExt cx="2336800" cy="1765300"/>
            </a:xfrm>
          </p:grpSpPr>
          <p:sp>
            <p:nvSpPr>
              <p:cNvPr id="7" name="Render slot border | 007"/>
              <p:cNvSpPr/>
              <p:nvPr/>
            </p:nvSpPr>
            <p:spPr>
              <a:xfrm>
                <a:off x="304800" y="1168400"/>
                <a:ext cx="2336800" cy="1765300"/>
              </a:xfrm>
              <a:prstGeom prst="rect">
                <a:avLst/>
              </a:prstGeom>
              <a:solidFill>
                <a:srgbClr val="F8FAFB"/>
              </a:solidFill>
              <a:ln w="15240" cap="flat" cmpd="sng" algn="ctr">
                <a:solidFill>
                  <a:srgbClr val="B9C2C9"/>
                </a:solidFill>
                <a:custDash>
                  <a:ds d="416667" sp="333333"/>
                </a:custDash>
                <a:miter lim="800000"/>
                <a:headEnd type="none" w="med" len="med"/>
                <a:tailEnd type="none" w="med" len="med"/>
              </a:ln>
            </p:spPr>
          </p:sp>
          <p:sp>
            <p:nvSpPr>
              <p:cNvPr id="8" name="Line / bond / contour | 008"/>
              <p:cNvSpPr/>
              <p:nvPr/>
            </p:nvSpPr>
            <p:spPr>
              <a:xfrm>
                <a:off x="419100" y="12827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15240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" name="Line / bond / contour | 009"/>
              <p:cNvSpPr/>
              <p:nvPr/>
            </p:nvSpPr>
            <p:spPr>
              <a:xfrm>
                <a:off x="2374900" y="12827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" name="Line / bond / contour | 010"/>
              <p:cNvSpPr/>
              <p:nvPr/>
            </p:nvSpPr>
            <p:spPr>
              <a:xfrm>
                <a:off x="419100" y="26670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152400" y="152400"/>
                    </a:move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" name="Line / bond / contour | 011"/>
              <p:cNvSpPr/>
              <p:nvPr/>
            </p:nvSpPr>
            <p:spPr>
              <a:xfrm>
                <a:off x="2374900" y="26670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0" y="152400"/>
                    </a:moveTo>
                    <a:lnTo>
                      <a:pt x="152400" y="152400"/>
                    </a:lnTo>
                    <a:lnTo>
                      <a:pt x="152400" y="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" name="Text | R1  /  STRUCTURE RENDER"/>
              <p:cNvSpPr txBox="1"/>
              <p:nvPr/>
            </p:nvSpPr>
            <p:spPr>
              <a:xfrm>
                <a:off x="359418" y="1653540"/>
                <a:ext cx="2227564" cy="218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horzOverflow="overflow" wrap="none" lIns="0" tIns="0" rIns="0" bIns="0" rtlCol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0" b="1" i="0" u="none" strike="noStrike" baseline="0" dirty="0">
                    <a:solidFill>
                      <a:srgbClr val="20262B"/>
                    </a:solidFill>
                    <a:latin typeface="Arial"/>
                    <a:ea typeface="Arial"/>
                    <a:cs typeface="Arial"/>
                  </a:rPr>
                  <a:t>R1  /  STRUCTURE RENDER</a:t>
                </a:r>
                <a:endParaRPr lang="en-US" sz="1230"/>
              </a:p>
            </p:txBody>
          </p:sp>
          <p:sp>
            <p:nvSpPr>
              <p:cNvPr id="13" name="Text | Receptor + density"/>
              <p:cNvSpPr txBox="1"/>
              <p:nvPr/>
            </p:nvSpPr>
            <p:spPr>
              <a:xfrm>
                <a:off x="679232" y="1917700"/>
                <a:ext cx="1587937" cy="24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horzOverflow="overflow" wrap="none" lIns="0" tIns="0" rIns="0" bIns="0" rtlCol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0" i="0" u="none" strike="noStrike" baseline="0" dirty="0">
                    <a:solidFill>
                      <a:srgbClr val="20262B"/>
                    </a:solidFill>
                    <a:latin typeface="Arial"/>
                    <a:ea typeface="Arial"/>
                    <a:cs typeface="Arial"/>
                  </a:rPr>
                  <a:t>Receptor + density</a:t>
                </a:r>
                <a:endParaRPr lang="en-US" sz="1350"/>
              </a:p>
            </p:txBody>
          </p:sp>
          <p:sp>
            <p:nvSpPr>
              <p:cNvPr id="14" name="Text | Global view to insert"/>
              <p:cNvSpPr txBox="1"/>
              <p:nvPr/>
            </p:nvSpPr>
            <p:spPr>
              <a:xfrm>
                <a:off x="715992" y="2203450"/>
                <a:ext cx="15144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horzOverflow="overflow" wrap="none" lIns="0" tIns="0" rIns="0" bIns="0" rtlCol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u="none" strike="noStrike" baseline="0" dirty="0">
                    <a:solidFill>
                      <a:srgbClr val="59636C"/>
                    </a:solidFill>
                    <a:latin typeface="Arial"/>
                    <a:ea typeface="Arial"/>
                    <a:cs typeface="Arial"/>
                  </a:rPr>
                  <a:t>Global view to insert</a:t>
                </a:r>
                <a:endParaRPr lang="en-US" sz="1200"/>
              </a:p>
            </p:txBody>
          </p:sp>
        </p:grpSp>
        <p:sp>
          <p:nvSpPr>
            <p:cNvPr id="15" name="Text | Receptor A + map M"/>
            <p:cNvSpPr txBox="1"/>
            <p:nvPr/>
          </p:nvSpPr>
          <p:spPr>
            <a:xfrm>
              <a:off x="648047" y="3048000"/>
              <a:ext cx="1650305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Receptor A + map M</a:t>
              </a:r>
              <a:endParaRPr lang="en-US" sz="1300"/>
            </a:p>
          </p:txBody>
        </p:sp>
        <p:cxnSp>
          <p:nvCxnSpPr>
            <p:cNvPr id="16" name="Arrow | 016"/>
            <p:cNvCxnSpPr/>
            <p:nvPr/>
          </p:nvCxnSpPr>
          <p:spPr>
            <a:xfrm>
              <a:off x="2743200" y="2070100"/>
              <a:ext cx="326034" cy="0"/>
            </a:xfrm>
            <a:prstGeom prst="line">
              <a:avLst/>
            </a:prstGeom>
            <a:noFill/>
            <a:ln w="17780" cap="rnd" cmpd="sng" algn="ctr">
              <a:solidFill>
                <a:srgbClr val="20262B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Panel / block / cell | 017"/>
            <p:cNvSpPr/>
            <p:nvPr/>
          </p:nvSpPr>
          <p:spPr>
            <a:xfrm>
              <a:off x="3149600" y="1270000"/>
              <a:ext cx="2590800" cy="1727200"/>
            </a:xfrm>
            <a:prstGeom prst="roundRect">
              <a:avLst>
                <a:gd name="adj" fmla="val 2206"/>
              </a:avLst>
            </a:prstGeom>
            <a:solidFill>
              <a:srgbClr val="ECF3F8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" name="Panel / block / cell | 018"/>
            <p:cNvSpPr/>
            <p:nvPr/>
          </p:nvSpPr>
          <p:spPr>
            <a:xfrm>
              <a:off x="3149600" y="1270000"/>
              <a:ext cx="2590800" cy="38100"/>
            </a:xfrm>
            <a:prstGeom prst="rect">
              <a:avLst/>
            </a:prstGeom>
            <a:solidFill>
              <a:srgbClr val="397BA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" name="Text | Find"/>
            <p:cNvSpPr txBox="1"/>
            <p:nvPr/>
          </p:nvSpPr>
          <p:spPr>
            <a:xfrm>
              <a:off x="3314700" y="1371600"/>
              <a:ext cx="601543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Find</a:t>
              </a:r>
              <a:endParaRPr lang="en-US" sz="1600"/>
            </a:p>
          </p:txBody>
        </p:sp>
        <p:sp>
          <p:nvSpPr>
            <p:cNvPr id="20" name="Panel / block / cell | 020"/>
            <p:cNvSpPr/>
            <p:nvPr/>
          </p:nvSpPr>
          <p:spPr>
            <a:xfrm>
              <a:off x="6210300" y="1270000"/>
              <a:ext cx="2603500" cy="1727200"/>
            </a:xfrm>
            <a:prstGeom prst="roundRect">
              <a:avLst>
                <a:gd name="adj" fmla="val 2206"/>
              </a:avLst>
            </a:prstGeom>
            <a:solidFill>
              <a:srgbClr val="EDF6F3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" name="Panel / block / cell | 021"/>
            <p:cNvSpPr/>
            <p:nvPr/>
          </p:nvSpPr>
          <p:spPr>
            <a:xfrm>
              <a:off x="6210300" y="1270000"/>
              <a:ext cx="2603500" cy="38100"/>
            </a:xfrm>
            <a:prstGeom prst="rect">
              <a:avLst/>
            </a:prstGeom>
            <a:solidFill>
              <a:srgbClr val="24897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" name="Text | Match"/>
            <p:cNvSpPr txBox="1"/>
            <p:nvPr/>
          </p:nvSpPr>
          <p:spPr>
            <a:xfrm>
              <a:off x="6375400" y="1371600"/>
              <a:ext cx="759797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Match</a:t>
              </a:r>
              <a:endParaRPr lang="en-US" sz="1600"/>
            </a:p>
          </p:txBody>
        </p:sp>
        <p:sp>
          <p:nvSpPr>
            <p:cNvPr id="23" name="Panel / block / cell | 023"/>
            <p:cNvSpPr/>
            <p:nvPr/>
          </p:nvSpPr>
          <p:spPr>
            <a:xfrm>
              <a:off x="9283700" y="1270000"/>
              <a:ext cx="2806700" cy="1727200"/>
            </a:xfrm>
            <a:prstGeom prst="roundRect">
              <a:avLst>
                <a:gd name="adj" fmla="val 2206"/>
              </a:avLst>
            </a:prstGeom>
            <a:solidFill>
              <a:srgbClr val="FAF4E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" name="Panel / block / cell | 024"/>
            <p:cNvSpPr/>
            <p:nvPr/>
          </p:nvSpPr>
          <p:spPr>
            <a:xfrm>
              <a:off x="9283700" y="1270000"/>
              <a:ext cx="2806700" cy="38100"/>
            </a:xfrm>
            <a:prstGeom prst="rect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" name="Text | Build"/>
            <p:cNvSpPr txBox="1"/>
            <p:nvPr/>
          </p:nvSpPr>
          <p:spPr>
            <a:xfrm>
              <a:off x="9448800" y="1371600"/>
              <a:ext cx="680621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Build</a:t>
              </a:r>
              <a:endParaRPr lang="en-US" sz="1600"/>
            </a:p>
          </p:txBody>
        </p:sp>
        <p:sp>
          <p:nvSpPr>
            <p:cNvPr id="26" name="Vector surface / outline | 026"/>
            <p:cNvSpPr/>
            <p:nvPr/>
          </p:nvSpPr>
          <p:spPr>
            <a:xfrm>
              <a:off x="3352800" y="1854200"/>
              <a:ext cx="546100" cy="76200"/>
            </a:xfrm>
            <a:custGeom>
              <a:avLst/>
              <a:gdLst/>
              <a:ahLst/>
              <a:cxnLst/>
              <a:rect l="0" t="0" r="w" b="h"/>
              <a:pathLst>
                <a:path w="546100" h="76200" extrusionOk="0">
                  <a:moveTo>
                    <a:pt x="0" y="76200"/>
                  </a:moveTo>
                  <a:lnTo>
                    <a:pt x="76200" y="0"/>
                  </a:lnTo>
                  <a:lnTo>
                    <a:pt x="546100" y="0"/>
                  </a:lnTo>
                  <a:lnTo>
                    <a:pt x="469900" y="76200"/>
                  </a:lnTo>
                  <a:close/>
                </a:path>
              </a:pathLst>
            </a:custGeom>
            <a:solidFill>
              <a:srgbClr val="D1E1EA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" name="Vector surface / outline | 027"/>
            <p:cNvSpPr/>
            <p:nvPr/>
          </p:nvSpPr>
          <p:spPr>
            <a:xfrm>
              <a:off x="3822700" y="1854200"/>
              <a:ext cx="76200" cy="622300"/>
            </a:xfrm>
            <a:custGeom>
              <a:avLst/>
              <a:gdLst/>
              <a:ahLst/>
              <a:cxnLst/>
              <a:rect l="0" t="0" r="w" b="h"/>
              <a:pathLst>
                <a:path w="76200" h="622300" extrusionOk="0">
                  <a:moveTo>
                    <a:pt x="0" y="76200"/>
                  </a:moveTo>
                  <a:lnTo>
                    <a:pt x="76200" y="0"/>
                  </a:lnTo>
                  <a:lnTo>
                    <a:pt x="76200" y="5461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B0CADB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Panel / block / cell | 028"/>
            <p:cNvSpPr/>
            <p:nvPr/>
          </p:nvSpPr>
          <p:spPr>
            <a:xfrm>
              <a:off x="3352800" y="1930400"/>
              <a:ext cx="469900" cy="546100"/>
            </a:xfrm>
            <a:prstGeom prst="rect">
              <a:avLst/>
            </a:prstGeom>
            <a:solidFill>
              <a:srgbClr val="E5EEF3"/>
            </a:solidFill>
            <a:ln w="11430" cap="flat" cmpd="sng" algn="ctr">
              <a:solidFill>
                <a:srgbClr val="397BA5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29" name="Line / bond / contour | 029"/>
            <p:cNvCxnSpPr/>
            <p:nvPr/>
          </p:nvCxnSpPr>
          <p:spPr>
            <a:xfrm>
              <a:off x="3507867" y="1930400"/>
              <a:ext cx="0" cy="546100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Line / bond / contour | 030"/>
            <p:cNvCxnSpPr/>
            <p:nvPr/>
          </p:nvCxnSpPr>
          <p:spPr>
            <a:xfrm>
              <a:off x="3662934" y="1930400"/>
              <a:ext cx="0" cy="546100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Arrow | 031"/>
            <p:cNvCxnSpPr/>
            <p:nvPr/>
          </p:nvCxnSpPr>
          <p:spPr>
            <a:xfrm>
              <a:off x="4000500" y="2197100"/>
              <a:ext cx="311506" cy="0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" name="Vector surface / outline | 032"/>
            <p:cNvSpPr/>
            <p:nvPr/>
          </p:nvSpPr>
          <p:spPr>
            <a:xfrm>
              <a:off x="4405122" y="1881886"/>
              <a:ext cx="486029" cy="444119"/>
            </a:xfrm>
            <a:custGeom>
              <a:avLst/>
              <a:gdLst/>
              <a:ahLst/>
              <a:cxnLst/>
              <a:rect l="0" t="0" r="w" b="h"/>
              <a:pathLst>
                <a:path w="486029" h="444119" extrusionOk="0">
                  <a:moveTo>
                    <a:pt x="486029" y="244729"/>
                  </a:moveTo>
                  <a:lnTo>
                    <a:pt x="478409" y="335915"/>
                  </a:lnTo>
                  <a:lnTo>
                    <a:pt x="416052" y="406527"/>
                  </a:lnTo>
                  <a:lnTo>
                    <a:pt x="331470" y="444119"/>
                  </a:lnTo>
                  <a:lnTo>
                    <a:pt x="243332" y="433070"/>
                  </a:lnTo>
                  <a:lnTo>
                    <a:pt x="163322" y="425577"/>
                  </a:lnTo>
                  <a:lnTo>
                    <a:pt x="59055" y="417322"/>
                  </a:lnTo>
                  <a:lnTo>
                    <a:pt x="0" y="339090"/>
                  </a:lnTo>
                  <a:lnTo>
                    <a:pt x="23749" y="244729"/>
                  </a:lnTo>
                  <a:lnTo>
                    <a:pt x="51308" y="170180"/>
                  </a:lnTo>
                  <a:lnTo>
                    <a:pt x="89154" y="100330"/>
                  </a:lnTo>
                  <a:lnTo>
                    <a:pt x="154559" y="43942"/>
                  </a:lnTo>
                  <a:lnTo>
                    <a:pt x="243332" y="0"/>
                  </a:lnTo>
                  <a:lnTo>
                    <a:pt x="340233" y="25527"/>
                  </a:lnTo>
                  <a:lnTo>
                    <a:pt x="385953" y="111125"/>
                  </a:lnTo>
                  <a:lnTo>
                    <a:pt x="427101" y="173355"/>
                  </a:lnTo>
                  <a:close/>
                </a:path>
              </a:pathLst>
            </a:custGeom>
            <a:solidFill>
              <a:srgbClr val="CFDFE9"/>
            </a:solidFill>
            <a:ln w="1270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" name="Vector surface / outline | 033"/>
            <p:cNvSpPr/>
            <p:nvPr/>
          </p:nvSpPr>
          <p:spPr>
            <a:xfrm>
              <a:off x="5082032" y="1899285"/>
              <a:ext cx="343408" cy="310388"/>
            </a:xfrm>
            <a:custGeom>
              <a:avLst/>
              <a:gdLst/>
              <a:ahLst/>
              <a:cxnLst/>
              <a:rect l="0" t="0" r="w" b="h"/>
              <a:pathLst>
                <a:path w="343408" h="310388" extrusionOk="0">
                  <a:moveTo>
                    <a:pt x="343408" y="164465"/>
                  </a:moveTo>
                  <a:lnTo>
                    <a:pt x="318389" y="228473"/>
                  </a:lnTo>
                  <a:lnTo>
                    <a:pt x="263017" y="266319"/>
                  </a:lnTo>
                  <a:lnTo>
                    <a:pt x="212725" y="294894"/>
                  </a:lnTo>
                  <a:lnTo>
                    <a:pt x="155829" y="307340"/>
                  </a:lnTo>
                  <a:lnTo>
                    <a:pt x="92202" y="310388"/>
                  </a:lnTo>
                  <a:lnTo>
                    <a:pt x="22860" y="290830"/>
                  </a:lnTo>
                  <a:lnTo>
                    <a:pt x="0" y="225806"/>
                  </a:lnTo>
                  <a:lnTo>
                    <a:pt x="19812" y="164465"/>
                  </a:lnTo>
                  <a:lnTo>
                    <a:pt x="19431" y="110871"/>
                  </a:lnTo>
                  <a:lnTo>
                    <a:pt x="34163" y="48895"/>
                  </a:lnTo>
                  <a:lnTo>
                    <a:pt x="88900" y="10922"/>
                  </a:lnTo>
                  <a:lnTo>
                    <a:pt x="155829" y="0"/>
                  </a:lnTo>
                  <a:lnTo>
                    <a:pt x="216027" y="26416"/>
                  </a:lnTo>
                  <a:lnTo>
                    <a:pt x="251714" y="73406"/>
                  </a:lnTo>
                  <a:lnTo>
                    <a:pt x="298958" y="108077"/>
                  </a:lnTo>
                  <a:close/>
                </a:path>
              </a:pathLst>
            </a:custGeom>
            <a:solidFill>
              <a:srgbClr val="CFDFE9"/>
            </a:solidFill>
            <a:ln w="1270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Vector surface / outline | 034"/>
            <p:cNvSpPr/>
            <p:nvPr/>
          </p:nvSpPr>
          <p:spPr>
            <a:xfrm>
              <a:off x="4870831" y="2278253"/>
              <a:ext cx="561975" cy="267716"/>
            </a:xfrm>
            <a:custGeom>
              <a:avLst/>
              <a:gdLst/>
              <a:ahLst/>
              <a:cxnLst/>
              <a:rect l="0" t="0" r="w" b="h"/>
              <a:pathLst>
                <a:path w="561975" h="267716" extrusionOk="0">
                  <a:moveTo>
                    <a:pt x="561975" y="127762"/>
                  </a:moveTo>
                  <a:lnTo>
                    <a:pt x="491236" y="177292"/>
                  </a:lnTo>
                  <a:lnTo>
                    <a:pt x="409829" y="206883"/>
                  </a:lnTo>
                  <a:lnTo>
                    <a:pt x="348869" y="245237"/>
                  </a:lnTo>
                  <a:lnTo>
                    <a:pt x="251460" y="267716"/>
                  </a:lnTo>
                  <a:lnTo>
                    <a:pt x="141224" y="260604"/>
                  </a:lnTo>
                  <a:lnTo>
                    <a:pt x="48387" y="229235"/>
                  </a:lnTo>
                  <a:lnTo>
                    <a:pt x="24511" y="174625"/>
                  </a:lnTo>
                  <a:lnTo>
                    <a:pt x="30353" y="127762"/>
                  </a:lnTo>
                  <a:lnTo>
                    <a:pt x="0" y="75819"/>
                  </a:lnTo>
                  <a:lnTo>
                    <a:pt x="33909" y="19177"/>
                  </a:lnTo>
                  <a:lnTo>
                    <a:pt x="145415" y="0"/>
                  </a:lnTo>
                  <a:lnTo>
                    <a:pt x="251460" y="2286"/>
                  </a:lnTo>
                  <a:lnTo>
                    <a:pt x="344678" y="15367"/>
                  </a:lnTo>
                  <a:lnTo>
                    <a:pt x="424307" y="41529"/>
                  </a:lnTo>
                  <a:lnTo>
                    <a:pt x="515747" y="73152"/>
                  </a:lnTo>
                  <a:close/>
                </a:path>
              </a:pathLst>
            </a:custGeom>
            <a:solidFill>
              <a:srgbClr val="CFDFE9"/>
            </a:solidFill>
            <a:ln w="1270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" name="Text | Locate ligand regions"/>
            <p:cNvSpPr txBox="1"/>
            <p:nvPr/>
          </p:nvSpPr>
          <p:spPr>
            <a:xfrm>
              <a:off x="3585299" y="2654300"/>
              <a:ext cx="1719401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Locate ligand regions</a:t>
              </a:r>
              <a:endParaRPr lang="en-US" sz="1300"/>
            </a:p>
          </p:txBody>
        </p:sp>
        <p:cxnSp>
          <p:nvCxnSpPr>
            <p:cNvPr id="36" name="Arrow | 036"/>
            <p:cNvCxnSpPr/>
            <p:nvPr/>
          </p:nvCxnSpPr>
          <p:spPr>
            <a:xfrm>
              <a:off x="5829300" y="2070100"/>
              <a:ext cx="300634" cy="0"/>
            </a:xfrm>
            <a:prstGeom prst="line">
              <a:avLst/>
            </a:prstGeom>
            <a:noFill/>
            <a:ln w="17780" cap="rnd" cmpd="sng" algn="ctr">
              <a:solidFill>
                <a:srgbClr val="20262B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7" name="Panel / block / cell | 037"/>
            <p:cNvSpPr/>
            <p:nvPr/>
          </p:nvSpPr>
          <p:spPr>
            <a:xfrm>
              <a:off x="6680200" y="1930400"/>
              <a:ext cx="469900" cy="1905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" name="Panel / block / cell | 038"/>
            <p:cNvSpPr/>
            <p:nvPr/>
          </p:nvSpPr>
          <p:spPr>
            <a:xfrm>
              <a:off x="7175500" y="1930400"/>
              <a:ext cx="469900" cy="190500"/>
            </a:xfrm>
            <a:prstGeom prst="rect">
              <a:avLst/>
            </a:prstGeom>
            <a:solidFill>
              <a:srgbClr val="50A19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9" name="Line / bond / contour | 039"/>
            <p:cNvSpPr/>
            <p:nvPr/>
          </p:nvSpPr>
          <p:spPr>
            <a:xfrm>
              <a:off x="7359650" y="1987550"/>
              <a:ext cx="101600" cy="76200"/>
            </a:xfrm>
            <a:custGeom>
              <a:avLst/>
              <a:gdLst/>
              <a:ahLst/>
              <a:cxnLst/>
              <a:rect l="0" t="0" r="w" b="h"/>
              <a:pathLst>
                <a:path w="101600" h="76200" fill="none" extrusionOk="0">
                  <a:moveTo>
                    <a:pt x="0" y="38100"/>
                  </a:moveTo>
                  <a:lnTo>
                    <a:pt x="38100" y="76200"/>
                  </a:lnTo>
                  <a:lnTo>
                    <a:pt x="101600" y="0"/>
                  </a:lnTo>
                </a:path>
              </a:pathLst>
            </a:custGeom>
            <a:noFill/>
            <a:ln w="1905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" name="Panel / block / cell | 040"/>
            <p:cNvSpPr/>
            <p:nvPr/>
          </p:nvSpPr>
          <p:spPr>
            <a:xfrm>
              <a:off x="7670800" y="1930400"/>
              <a:ext cx="469900" cy="1905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1" name="Panel / block / cell | 041"/>
            <p:cNvSpPr/>
            <p:nvPr/>
          </p:nvSpPr>
          <p:spPr>
            <a:xfrm>
              <a:off x="6680200" y="2146300"/>
              <a:ext cx="469900" cy="190500"/>
            </a:xfrm>
            <a:prstGeom prst="rect">
              <a:avLst/>
            </a:prstGeom>
            <a:solidFill>
              <a:srgbClr val="50A19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2" name="Line / bond / contour | 042"/>
            <p:cNvSpPr/>
            <p:nvPr/>
          </p:nvSpPr>
          <p:spPr>
            <a:xfrm>
              <a:off x="6864350" y="2203450"/>
              <a:ext cx="101600" cy="76200"/>
            </a:xfrm>
            <a:custGeom>
              <a:avLst/>
              <a:gdLst/>
              <a:ahLst/>
              <a:cxnLst/>
              <a:rect l="0" t="0" r="w" b="h"/>
              <a:pathLst>
                <a:path w="101600" h="76200" fill="none" extrusionOk="0">
                  <a:moveTo>
                    <a:pt x="0" y="38100"/>
                  </a:moveTo>
                  <a:lnTo>
                    <a:pt x="38100" y="76200"/>
                  </a:lnTo>
                  <a:lnTo>
                    <a:pt x="101600" y="0"/>
                  </a:lnTo>
                </a:path>
              </a:pathLst>
            </a:custGeom>
            <a:noFill/>
            <a:ln w="1905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" name="Panel / block / cell | 043"/>
            <p:cNvSpPr/>
            <p:nvPr/>
          </p:nvSpPr>
          <p:spPr>
            <a:xfrm>
              <a:off x="7175500" y="2146300"/>
              <a:ext cx="469900" cy="1905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4" name="Panel / block / cell | 044"/>
            <p:cNvSpPr/>
            <p:nvPr/>
          </p:nvSpPr>
          <p:spPr>
            <a:xfrm>
              <a:off x="7670800" y="2146300"/>
              <a:ext cx="469900" cy="1905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" name="Panel / block / cell | 045"/>
            <p:cNvSpPr/>
            <p:nvPr/>
          </p:nvSpPr>
          <p:spPr>
            <a:xfrm>
              <a:off x="6680200" y="2362200"/>
              <a:ext cx="469900" cy="1905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" name="Panel / block / cell | 046"/>
            <p:cNvSpPr/>
            <p:nvPr/>
          </p:nvSpPr>
          <p:spPr>
            <a:xfrm>
              <a:off x="7175500" y="2362200"/>
              <a:ext cx="469900" cy="1905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" name="Panel / block / cell | 047"/>
            <p:cNvSpPr/>
            <p:nvPr/>
          </p:nvSpPr>
          <p:spPr>
            <a:xfrm>
              <a:off x="7670800" y="2362200"/>
              <a:ext cx="469900" cy="190500"/>
            </a:xfrm>
            <a:prstGeom prst="rect">
              <a:avLst/>
            </a:prstGeom>
            <a:solidFill>
              <a:srgbClr val="8D959C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8" name="Line / bond / contour | 048"/>
            <p:cNvCxnSpPr/>
            <p:nvPr/>
          </p:nvCxnSpPr>
          <p:spPr>
            <a:xfrm>
              <a:off x="7867650" y="2419350"/>
              <a:ext cx="76200" cy="76200"/>
            </a:xfrm>
            <a:prstGeom prst="line">
              <a:avLst/>
            </a:prstGeom>
            <a:noFill/>
            <a:ln w="1524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Line / bond / contour | 049"/>
            <p:cNvCxnSpPr/>
            <p:nvPr/>
          </p:nvCxnSpPr>
          <p:spPr>
            <a:xfrm flipV="1">
              <a:off x="7867650" y="2419350"/>
              <a:ext cx="76200" cy="76200"/>
            </a:xfrm>
            <a:prstGeom prst="line">
              <a:avLst/>
            </a:prstGeom>
            <a:noFill/>
            <a:ln w="1524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Text | S1"/>
            <p:cNvSpPr txBox="1"/>
            <p:nvPr/>
          </p:nvSpPr>
          <p:spPr>
            <a:xfrm>
              <a:off x="6750824" y="1676400"/>
              <a:ext cx="3286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S1</a:t>
              </a:r>
              <a:endParaRPr lang="en-US" sz="1200"/>
            </a:p>
          </p:txBody>
        </p:sp>
        <p:sp>
          <p:nvSpPr>
            <p:cNvPr id="51" name="Text | S2"/>
            <p:cNvSpPr txBox="1"/>
            <p:nvPr/>
          </p:nvSpPr>
          <p:spPr>
            <a:xfrm>
              <a:off x="7246124" y="1676400"/>
              <a:ext cx="3286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S2</a:t>
              </a:r>
              <a:endParaRPr lang="en-US" sz="1200"/>
            </a:p>
          </p:txBody>
        </p:sp>
        <p:sp>
          <p:nvSpPr>
            <p:cNvPr id="52" name="Text | ∅"/>
            <p:cNvSpPr txBox="1"/>
            <p:nvPr/>
          </p:nvSpPr>
          <p:spPr>
            <a:xfrm>
              <a:off x="7758430" y="1676400"/>
              <a:ext cx="2946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∅</a:t>
              </a:r>
              <a:endParaRPr lang="en-US" sz="1200"/>
            </a:p>
          </p:txBody>
        </p:sp>
        <p:sp>
          <p:nvSpPr>
            <p:cNvPr id="53" name="Text | Assign identity / reject"/>
            <p:cNvSpPr txBox="1"/>
            <p:nvPr/>
          </p:nvSpPr>
          <p:spPr>
            <a:xfrm>
              <a:off x="6627842" y="2654300"/>
              <a:ext cx="1755715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Assign identity / reject</a:t>
              </a:r>
              <a:endParaRPr lang="en-US" sz="1300"/>
            </a:p>
          </p:txBody>
        </p:sp>
        <p:cxnSp>
          <p:nvCxnSpPr>
            <p:cNvPr id="54" name="Arrow | 054"/>
            <p:cNvCxnSpPr/>
            <p:nvPr/>
          </p:nvCxnSpPr>
          <p:spPr>
            <a:xfrm>
              <a:off x="8902700" y="2070100"/>
              <a:ext cx="300634" cy="0"/>
            </a:xfrm>
            <a:prstGeom prst="line">
              <a:avLst/>
            </a:prstGeom>
            <a:noFill/>
            <a:ln w="17780" cap="rnd" cmpd="sng" algn="ctr">
              <a:solidFill>
                <a:srgbClr val="20262B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Line / bond / contour | 055"/>
            <p:cNvCxnSpPr/>
            <p:nvPr/>
          </p:nvCxnSpPr>
          <p:spPr>
            <a:xfrm>
              <a:off x="9559290" y="2146808"/>
              <a:ext cx="170180" cy="176784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Line / bond / contour | 056"/>
            <p:cNvCxnSpPr/>
            <p:nvPr/>
          </p:nvCxnSpPr>
          <p:spPr>
            <a:xfrm flipV="1">
              <a:off x="9729470" y="2293112"/>
              <a:ext cx="221234" cy="30480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Line / bond / contour | 057"/>
            <p:cNvCxnSpPr/>
            <p:nvPr/>
          </p:nvCxnSpPr>
          <p:spPr>
            <a:xfrm flipV="1">
              <a:off x="9950704" y="2122424"/>
              <a:ext cx="161671" cy="170688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Line / bond / contour | 058"/>
            <p:cNvCxnSpPr/>
            <p:nvPr/>
          </p:nvCxnSpPr>
          <p:spPr>
            <a:xfrm flipH="1" flipV="1">
              <a:off x="9950704" y="1939544"/>
              <a:ext cx="161671" cy="182880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Line / bond / contour | 059"/>
            <p:cNvCxnSpPr/>
            <p:nvPr/>
          </p:nvCxnSpPr>
          <p:spPr>
            <a:xfrm flipH="1">
              <a:off x="9729470" y="1939544"/>
              <a:ext cx="221234" cy="36576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Line / bond / contour | 060"/>
            <p:cNvCxnSpPr/>
            <p:nvPr/>
          </p:nvCxnSpPr>
          <p:spPr>
            <a:xfrm flipH="1">
              <a:off x="9559290" y="1976120"/>
              <a:ext cx="170180" cy="170688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Line / bond / contour | 061"/>
            <p:cNvCxnSpPr/>
            <p:nvPr/>
          </p:nvCxnSpPr>
          <p:spPr>
            <a:xfrm>
              <a:off x="10112375" y="2122424"/>
              <a:ext cx="178689" cy="158496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Point / atom | 062"/>
            <p:cNvSpPr/>
            <p:nvPr/>
          </p:nvSpPr>
          <p:spPr>
            <a:xfrm>
              <a:off x="9526270" y="2113788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63" name="Point / atom | 063"/>
            <p:cNvSpPr/>
            <p:nvPr/>
          </p:nvSpPr>
          <p:spPr>
            <a:xfrm>
              <a:off x="9696450" y="2290572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64" name="Point / atom | 064"/>
            <p:cNvSpPr/>
            <p:nvPr/>
          </p:nvSpPr>
          <p:spPr>
            <a:xfrm>
              <a:off x="9917684" y="2260092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65" name="Point / atom | 065"/>
            <p:cNvSpPr/>
            <p:nvPr/>
          </p:nvSpPr>
          <p:spPr>
            <a:xfrm>
              <a:off x="10079355" y="2089404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66" name="Point / atom | 066"/>
            <p:cNvSpPr/>
            <p:nvPr/>
          </p:nvSpPr>
          <p:spPr>
            <a:xfrm>
              <a:off x="9917684" y="1906524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67" name="Point / atom | 067"/>
            <p:cNvSpPr/>
            <p:nvPr/>
          </p:nvSpPr>
          <p:spPr>
            <a:xfrm>
              <a:off x="9696450" y="1943100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68" name="Point / atom | 068"/>
            <p:cNvSpPr/>
            <p:nvPr/>
          </p:nvSpPr>
          <p:spPr>
            <a:xfrm>
              <a:off x="10258044" y="2247900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69" name="Arrow | 069"/>
            <p:cNvCxnSpPr/>
            <p:nvPr/>
          </p:nvCxnSpPr>
          <p:spPr>
            <a:xfrm>
              <a:off x="10388600" y="2197100"/>
              <a:ext cx="286106" cy="0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" name="Line / bond / contour | 070"/>
            <p:cNvCxnSpPr/>
            <p:nvPr/>
          </p:nvCxnSpPr>
          <p:spPr>
            <a:xfrm flipV="1">
              <a:off x="10887710" y="1994408"/>
              <a:ext cx="210820" cy="176784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Line / bond / contour | 071"/>
            <p:cNvCxnSpPr/>
            <p:nvPr/>
          </p:nvCxnSpPr>
          <p:spPr>
            <a:xfrm>
              <a:off x="11098530" y="1994408"/>
              <a:ext cx="274066" cy="30480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Line / bond / contour | 072"/>
            <p:cNvCxnSpPr/>
            <p:nvPr/>
          </p:nvCxnSpPr>
          <p:spPr>
            <a:xfrm>
              <a:off x="11372596" y="2024888"/>
              <a:ext cx="200279" cy="170688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Line / bond / contour | 073"/>
            <p:cNvCxnSpPr/>
            <p:nvPr/>
          </p:nvCxnSpPr>
          <p:spPr>
            <a:xfrm flipH="1">
              <a:off x="11372596" y="2195576"/>
              <a:ext cx="200279" cy="182880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Line / bond / contour | 074"/>
            <p:cNvCxnSpPr/>
            <p:nvPr/>
          </p:nvCxnSpPr>
          <p:spPr>
            <a:xfrm flipH="1" flipV="1">
              <a:off x="11098530" y="2341880"/>
              <a:ext cx="274066" cy="36576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Line / bond / contour | 075"/>
            <p:cNvCxnSpPr/>
            <p:nvPr/>
          </p:nvCxnSpPr>
          <p:spPr>
            <a:xfrm flipH="1" flipV="1">
              <a:off x="10887710" y="2171192"/>
              <a:ext cx="210820" cy="170688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Line / bond / contour | 076"/>
            <p:cNvCxnSpPr/>
            <p:nvPr/>
          </p:nvCxnSpPr>
          <p:spPr>
            <a:xfrm flipV="1">
              <a:off x="11572875" y="2037080"/>
              <a:ext cx="221361" cy="158496"/>
            </a:xfrm>
            <a:prstGeom prst="line">
              <a:avLst/>
            </a:prstGeom>
            <a:noFill/>
            <a:ln w="2413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Point / atom | 077"/>
            <p:cNvSpPr/>
            <p:nvPr/>
          </p:nvSpPr>
          <p:spPr>
            <a:xfrm>
              <a:off x="10854690" y="2138172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78" name="Point / atom | 078"/>
            <p:cNvSpPr/>
            <p:nvPr/>
          </p:nvSpPr>
          <p:spPr>
            <a:xfrm>
              <a:off x="11065510" y="1961388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79" name="Point / atom | 079"/>
            <p:cNvSpPr/>
            <p:nvPr/>
          </p:nvSpPr>
          <p:spPr>
            <a:xfrm>
              <a:off x="11339576" y="1991868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80" name="Point / atom | 080"/>
            <p:cNvSpPr/>
            <p:nvPr/>
          </p:nvSpPr>
          <p:spPr>
            <a:xfrm>
              <a:off x="11539855" y="2162556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81" name="Point / atom | 081"/>
            <p:cNvSpPr/>
            <p:nvPr/>
          </p:nvSpPr>
          <p:spPr>
            <a:xfrm>
              <a:off x="11339576" y="2345436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82" name="Point / atom | 082"/>
            <p:cNvSpPr/>
            <p:nvPr/>
          </p:nvSpPr>
          <p:spPr>
            <a:xfrm>
              <a:off x="11065510" y="2308860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83" name="Point / atom | 083"/>
            <p:cNvSpPr/>
            <p:nvPr/>
          </p:nvSpPr>
          <p:spPr>
            <a:xfrm>
              <a:off x="11761216" y="2004060"/>
              <a:ext cx="66040" cy="66040"/>
            </a:xfrm>
            <a:prstGeom prst="ellipse">
              <a:avLst/>
            </a:prstGeom>
            <a:solidFill>
              <a:srgbClr val="B8833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84" name="Text | Density-guided docking"/>
            <p:cNvSpPr txBox="1"/>
            <p:nvPr/>
          </p:nvSpPr>
          <p:spPr>
            <a:xfrm>
              <a:off x="9747687" y="2654300"/>
              <a:ext cx="1866027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Density-guided docking</a:t>
              </a:r>
              <a:endParaRPr lang="en-US" sz="1300"/>
            </a:p>
          </p:txBody>
        </p:sp>
        <p:cxnSp>
          <p:nvCxnSpPr>
            <p:cNvPr id="85" name="Arrow | 085"/>
            <p:cNvCxnSpPr/>
            <p:nvPr/>
          </p:nvCxnSpPr>
          <p:spPr>
            <a:xfrm>
              <a:off x="12179300" y="2070100"/>
              <a:ext cx="262534" cy="0"/>
            </a:xfrm>
            <a:prstGeom prst="line">
              <a:avLst/>
            </a:prstGeom>
            <a:noFill/>
            <a:ln w="17780" cap="rnd" cmpd="sng" algn="ctr">
              <a:solidFill>
                <a:srgbClr val="20262B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86" name="R3 | 配体构象渲染预留区（全部可编辑）"/>
            <p:cNvGrpSpPr/>
            <p:nvPr/>
          </p:nvGrpSpPr>
          <p:grpSpPr>
            <a:xfrm>
              <a:off x="12534900" y="1168400"/>
              <a:ext cx="2400300" cy="1765300"/>
              <a:chOff x="12534900" y="1168400"/>
              <a:chExt cx="2400300" cy="1765300"/>
            </a:xfrm>
          </p:grpSpPr>
          <p:sp>
            <p:nvSpPr>
              <p:cNvPr id="87" name="Render slot border | 087"/>
              <p:cNvSpPr/>
              <p:nvPr/>
            </p:nvSpPr>
            <p:spPr>
              <a:xfrm>
                <a:off x="12534900" y="1168400"/>
                <a:ext cx="2400300" cy="1765300"/>
              </a:xfrm>
              <a:prstGeom prst="rect">
                <a:avLst/>
              </a:prstGeom>
              <a:solidFill>
                <a:srgbClr val="F8FAFB"/>
              </a:solidFill>
              <a:ln w="15240" cap="flat" cmpd="sng" algn="ctr">
                <a:solidFill>
                  <a:srgbClr val="B9C2C9"/>
                </a:solidFill>
                <a:custDash>
                  <a:ds d="416667" sp="333333"/>
                </a:custDash>
                <a:miter lim="800000"/>
                <a:headEnd type="none" w="med" len="med"/>
                <a:tailEnd type="none" w="med" len="med"/>
              </a:ln>
            </p:spPr>
          </p:sp>
          <p:sp>
            <p:nvSpPr>
              <p:cNvPr id="88" name="Line / bond / contour | 088"/>
              <p:cNvSpPr/>
              <p:nvPr/>
            </p:nvSpPr>
            <p:spPr>
              <a:xfrm>
                <a:off x="12649200" y="12827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15240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" name="Line / bond / contour | 089"/>
              <p:cNvSpPr/>
              <p:nvPr/>
            </p:nvSpPr>
            <p:spPr>
              <a:xfrm>
                <a:off x="14668500" y="12827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" name="Line / bond / contour | 090"/>
              <p:cNvSpPr/>
              <p:nvPr/>
            </p:nvSpPr>
            <p:spPr>
              <a:xfrm>
                <a:off x="12649200" y="26670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152400" y="152400"/>
                    </a:move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" name="Line / bond / contour | 091"/>
              <p:cNvSpPr/>
              <p:nvPr/>
            </p:nvSpPr>
            <p:spPr>
              <a:xfrm>
                <a:off x="14668500" y="2667000"/>
                <a:ext cx="152400" cy="152400"/>
              </a:xfrm>
              <a:custGeom>
                <a:avLst/>
                <a:gdLst/>
                <a:ahLst/>
                <a:cxnLst/>
                <a:rect l="0" t="0" r="w" b="h"/>
                <a:pathLst>
                  <a:path w="152400" h="152400" fill="none" extrusionOk="0">
                    <a:moveTo>
                      <a:pt x="0" y="152400"/>
                    </a:moveTo>
                    <a:lnTo>
                      <a:pt x="152400" y="152400"/>
                    </a:lnTo>
                    <a:lnTo>
                      <a:pt x="152400" y="0"/>
                    </a:lnTo>
                  </a:path>
                </a:pathLst>
              </a:custGeom>
              <a:noFill/>
              <a:ln w="12700" cap="rnd" cmpd="sng" algn="ctr">
                <a:solidFill>
                  <a:srgbClr val="A9B2B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" name="Text | R3  /  STRUCTURE RENDER"/>
              <p:cNvSpPr txBox="1"/>
              <p:nvPr/>
            </p:nvSpPr>
            <p:spPr>
              <a:xfrm>
                <a:off x="12621268" y="1653540"/>
                <a:ext cx="2227564" cy="218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horzOverflow="overflow" wrap="none" lIns="0" tIns="0" rIns="0" bIns="0" rtlCol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30" b="1" i="0" u="none" strike="noStrike" baseline="0" dirty="0">
                    <a:solidFill>
                      <a:srgbClr val="20262B"/>
                    </a:solidFill>
                    <a:latin typeface="Arial"/>
                    <a:ea typeface="Arial"/>
                    <a:cs typeface="Arial"/>
                  </a:rPr>
                  <a:t>R3  /  STRUCTURE RENDER</a:t>
                </a:r>
                <a:endParaRPr lang="en-US" sz="1230"/>
              </a:p>
            </p:txBody>
          </p:sp>
          <p:sp>
            <p:nvSpPr>
              <p:cNvPr id="93" name="Text | Ligand pose + density"/>
              <p:cNvSpPr txBox="1"/>
              <p:nvPr/>
            </p:nvSpPr>
            <p:spPr>
              <a:xfrm>
                <a:off x="12821791" y="1917700"/>
                <a:ext cx="1826518" cy="24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horzOverflow="overflow" wrap="none" lIns="0" tIns="0" rIns="0" bIns="0" rtlCol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0" i="0" u="none" strike="noStrike" baseline="0" dirty="0">
                    <a:solidFill>
                      <a:srgbClr val="20262B"/>
                    </a:solidFill>
                    <a:latin typeface="Arial"/>
                    <a:ea typeface="Arial"/>
                    <a:cs typeface="Arial"/>
                  </a:rPr>
                  <a:t>Ligand pose + density</a:t>
                </a:r>
                <a:endParaRPr lang="en-US" sz="1350" dirty="0"/>
              </a:p>
            </p:txBody>
          </p:sp>
          <p:sp>
            <p:nvSpPr>
              <p:cNvPr id="94" name="Text | Local view to insert"/>
              <p:cNvSpPr txBox="1"/>
              <p:nvPr/>
            </p:nvSpPr>
            <p:spPr>
              <a:xfrm>
                <a:off x="13015942" y="2203450"/>
                <a:ext cx="14382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horzOverflow="overflow" wrap="none" lIns="0" tIns="0" rIns="0" bIns="0" rtlCol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u="none" strike="noStrike" baseline="0" dirty="0">
                    <a:solidFill>
                      <a:srgbClr val="59636C"/>
                    </a:solidFill>
                    <a:latin typeface="Arial"/>
                    <a:ea typeface="Arial"/>
                    <a:cs typeface="Arial"/>
                  </a:rPr>
                  <a:t>Local view to insert</a:t>
                </a:r>
                <a:endParaRPr lang="en-US" sz="1200"/>
              </a:p>
            </p:txBody>
          </p:sp>
        </p:grpSp>
        <p:sp>
          <p:nvSpPr>
            <p:cNvPr id="95" name="Text | All-atom reconstruction"/>
            <p:cNvSpPr txBox="1"/>
            <p:nvPr/>
          </p:nvSpPr>
          <p:spPr>
            <a:xfrm>
              <a:off x="12809607" y="3048000"/>
              <a:ext cx="1838186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All-atom reconstruction</a:t>
              </a:r>
              <a:endParaRPr lang="en-US" sz="1300"/>
            </a:p>
          </p:txBody>
        </p:sp>
        <p:sp>
          <p:nvSpPr>
            <p:cNvPr id="96" name="Text | User-provided ligand identities {S_k}"/>
            <p:cNvSpPr txBox="1"/>
            <p:nvPr/>
          </p:nvSpPr>
          <p:spPr>
            <a:xfrm>
              <a:off x="7461240" y="793750"/>
              <a:ext cx="2705120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User-provided ligand identities {S_k}</a:t>
              </a:r>
              <a:endParaRPr lang="en-US" sz="1250"/>
            </a:p>
          </p:txBody>
        </p:sp>
        <p:cxnSp>
          <p:nvCxnSpPr>
            <p:cNvPr id="97" name="Arrow | 097"/>
            <p:cNvCxnSpPr/>
            <p:nvPr/>
          </p:nvCxnSpPr>
          <p:spPr>
            <a:xfrm>
              <a:off x="7518400" y="1028700"/>
              <a:ext cx="0" cy="209906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8" name="Arrow | 098"/>
            <p:cNvCxnSpPr/>
            <p:nvPr/>
          </p:nvCxnSpPr>
          <p:spPr>
            <a:xfrm>
              <a:off x="10655300" y="1028700"/>
              <a:ext cx="0" cy="209906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9" name="Arrow | 099"/>
            <p:cNvSpPr/>
            <p:nvPr/>
          </p:nvSpPr>
          <p:spPr>
            <a:xfrm>
              <a:off x="5740400" y="2844800"/>
              <a:ext cx="1765300" cy="533400"/>
            </a:xfrm>
            <a:custGeom>
              <a:avLst/>
              <a:gdLst/>
              <a:ahLst/>
              <a:cxnLst/>
              <a:rect l="0" t="0" r="w" b="h"/>
              <a:pathLst>
                <a:path w="1765300" h="533400" fill="none" extrusionOk="0">
                  <a:moveTo>
                    <a:pt x="0" y="0"/>
                  </a:moveTo>
                  <a:lnTo>
                    <a:pt x="215900" y="0"/>
                  </a:lnTo>
                  <a:lnTo>
                    <a:pt x="215900" y="533400"/>
                  </a:lnTo>
                  <a:lnTo>
                    <a:pt x="1765300" y="533400"/>
                  </a:lnTo>
                  <a:lnTo>
                    <a:pt x="1765300" y="196799"/>
                  </a:lnTo>
                </a:path>
              </a:pathLst>
            </a:custGeom>
            <a:noFill/>
            <a:ln w="13335" cap="rnd" cmpd="sng" algn="ctr">
              <a:solidFill>
                <a:srgbClr val="59636C"/>
              </a:solidFill>
              <a:custDash>
                <a:ds d="380952" sp="285714"/>
              </a:custDash>
              <a:round/>
              <a:headEnd type="none" w="med" len="med"/>
              <a:tailEnd type="triangle" w="med" len="med"/>
            </a:ln>
          </p:spPr>
        </p:sp>
        <p:sp>
          <p:nvSpPr>
            <p:cNvPr id="100" name="Panel / block / cell | 100"/>
            <p:cNvSpPr/>
            <p:nvPr/>
          </p:nvSpPr>
          <p:spPr>
            <a:xfrm>
              <a:off x="5857494" y="3416300"/>
              <a:ext cx="1188212" cy="2159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01" name="Text | AUX from Find"/>
            <p:cNvSpPr txBox="1"/>
            <p:nvPr/>
          </p:nvSpPr>
          <p:spPr>
            <a:xfrm>
              <a:off x="5880814" y="3416300"/>
              <a:ext cx="11415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AUX from Find</a:t>
              </a:r>
              <a:endParaRPr lang="en-US" sz="1200"/>
            </a:p>
          </p:txBody>
        </p:sp>
      </p:grpSp>
      <p:cxnSp>
        <p:nvCxnSpPr>
          <p:cNvPr id="102" name="Line / bond / contour | 102"/>
          <p:cNvCxnSpPr/>
          <p:nvPr/>
        </p:nvCxnSpPr>
        <p:spPr>
          <a:xfrm>
            <a:off x="304800" y="3797300"/>
            <a:ext cx="14630400" cy="0"/>
          </a:xfrm>
          <a:prstGeom prst="line">
            <a:avLst/>
          </a:prstGeom>
          <a:noFill/>
          <a:ln w="12700" cap="rnd" cmpd="sng" algn="ctr">
            <a:solidFill>
              <a:srgbClr val="E1E6E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3" name="b | Shared input representation"/>
          <p:cNvGrpSpPr/>
          <p:nvPr/>
        </p:nvGrpSpPr>
        <p:grpSpPr>
          <a:xfrm>
            <a:off x="304800" y="3917950"/>
            <a:ext cx="3975100" cy="8220710"/>
            <a:chOff x="304800" y="3917950"/>
            <a:chExt cx="3975100" cy="8220710"/>
          </a:xfrm>
        </p:grpSpPr>
        <p:sp>
          <p:nvSpPr>
            <p:cNvPr id="104" name="Text | b"/>
            <p:cNvSpPr txBox="1"/>
            <p:nvPr/>
          </p:nvSpPr>
          <p:spPr>
            <a:xfrm>
              <a:off x="304800" y="3917950"/>
              <a:ext cx="426720" cy="3289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</a:t>
              </a:r>
              <a:endParaRPr lang="en-US" sz="1850"/>
            </a:p>
          </p:txBody>
        </p:sp>
        <p:sp>
          <p:nvSpPr>
            <p:cNvPr id="105" name="Text | Shared input representation"/>
            <p:cNvSpPr txBox="1"/>
            <p:nvPr/>
          </p:nvSpPr>
          <p:spPr>
            <a:xfrm>
              <a:off x="622300" y="3949700"/>
              <a:ext cx="2882483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Shared input representation</a:t>
              </a:r>
              <a:endParaRPr lang="en-US" sz="1600" dirty="0"/>
            </a:p>
          </p:txBody>
        </p:sp>
        <p:sp>
          <p:nvSpPr>
            <p:cNvPr id="106" name="Text | Multi-view density bank"/>
            <p:cNvSpPr txBox="1"/>
            <p:nvPr/>
          </p:nvSpPr>
          <p:spPr>
            <a:xfrm>
              <a:off x="406400" y="4394200"/>
              <a:ext cx="2153067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Multi-view density bank</a:t>
              </a:r>
              <a:endParaRPr lang="en-US" sz="1400"/>
            </a:p>
          </p:txBody>
        </p:sp>
        <p:sp>
          <p:nvSpPr>
            <p:cNvPr id="107" name="Panel / block / cell | 107"/>
            <p:cNvSpPr/>
            <p:nvPr/>
          </p:nvSpPr>
          <p:spPr>
            <a:xfrm>
              <a:off x="406400" y="4787900"/>
              <a:ext cx="749300" cy="609600"/>
            </a:xfrm>
            <a:prstGeom prst="rect">
              <a:avLst/>
            </a:prstGeom>
            <a:solidFill>
              <a:srgbClr val="FFFFFF"/>
            </a:solidFill>
            <a:ln w="1016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08" name="Density voxel / cell | 108"/>
            <p:cNvSpPr/>
            <p:nvPr/>
          </p:nvSpPr>
          <p:spPr>
            <a:xfrm>
              <a:off x="408940" y="4790440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09" name="Density voxel / cell | 109"/>
            <p:cNvSpPr/>
            <p:nvPr/>
          </p:nvSpPr>
          <p:spPr>
            <a:xfrm>
              <a:off x="502603" y="4790440"/>
              <a:ext cx="88582" cy="82006"/>
            </a:xfrm>
            <a:prstGeom prst="rect">
              <a:avLst/>
            </a:prstGeom>
            <a:solidFill>
              <a:srgbClr val="F4F8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0" name="Density voxel / cell | 110"/>
            <p:cNvSpPr/>
            <p:nvPr/>
          </p:nvSpPr>
          <p:spPr>
            <a:xfrm>
              <a:off x="596265" y="4790440"/>
              <a:ext cx="88582" cy="82006"/>
            </a:xfrm>
            <a:prstGeom prst="rect">
              <a:avLst/>
            </a:prstGeom>
            <a:solidFill>
              <a:srgbClr val="E7EFF4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1" name="Density voxel / cell | 111"/>
            <p:cNvSpPr/>
            <p:nvPr/>
          </p:nvSpPr>
          <p:spPr>
            <a:xfrm>
              <a:off x="689928" y="4790440"/>
              <a:ext cx="88582" cy="82006"/>
            </a:xfrm>
            <a:prstGeom prst="rect">
              <a:avLst/>
            </a:prstGeom>
            <a:solidFill>
              <a:srgbClr val="EBF2F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2" name="Density voxel / cell | 112"/>
            <p:cNvSpPr/>
            <p:nvPr/>
          </p:nvSpPr>
          <p:spPr>
            <a:xfrm>
              <a:off x="783590" y="4790440"/>
              <a:ext cx="88582" cy="82006"/>
            </a:xfrm>
            <a:prstGeom prst="rect">
              <a:avLst/>
            </a:prstGeom>
            <a:solidFill>
              <a:srgbClr val="F9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3" name="Density voxel / cell | 113"/>
            <p:cNvSpPr/>
            <p:nvPr/>
          </p:nvSpPr>
          <p:spPr>
            <a:xfrm>
              <a:off x="877252" y="4790440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4" name="Density voxel / cell | 114"/>
            <p:cNvSpPr/>
            <p:nvPr/>
          </p:nvSpPr>
          <p:spPr>
            <a:xfrm>
              <a:off x="970915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5" name="Density voxel / cell | 115"/>
            <p:cNvSpPr/>
            <p:nvPr/>
          </p:nvSpPr>
          <p:spPr>
            <a:xfrm>
              <a:off x="1064578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6" name="Density voxel / cell | 116"/>
            <p:cNvSpPr/>
            <p:nvPr/>
          </p:nvSpPr>
          <p:spPr>
            <a:xfrm>
              <a:off x="408940" y="4877526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7" name="Density voxel / cell | 117"/>
            <p:cNvSpPr/>
            <p:nvPr/>
          </p:nvSpPr>
          <p:spPr>
            <a:xfrm>
              <a:off x="502603" y="4877526"/>
              <a:ext cx="88582" cy="82006"/>
            </a:xfrm>
            <a:prstGeom prst="rect">
              <a:avLst/>
            </a:prstGeom>
            <a:solidFill>
              <a:srgbClr val="E1EBF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8" name="Density voxel / cell | 118"/>
            <p:cNvSpPr/>
            <p:nvPr/>
          </p:nvSpPr>
          <p:spPr>
            <a:xfrm>
              <a:off x="596265" y="4877526"/>
              <a:ext cx="88582" cy="82006"/>
            </a:xfrm>
            <a:prstGeom prst="rect">
              <a:avLst/>
            </a:prstGeom>
            <a:solidFill>
              <a:srgbClr val="BAD1E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19" name="Density voxel / cell | 119"/>
            <p:cNvSpPr/>
            <p:nvPr/>
          </p:nvSpPr>
          <p:spPr>
            <a:xfrm>
              <a:off x="689928" y="4877526"/>
              <a:ext cx="88582" cy="82006"/>
            </a:xfrm>
            <a:prstGeom prst="rect">
              <a:avLst/>
            </a:prstGeom>
            <a:solidFill>
              <a:srgbClr val="C7DAE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0" name="Density voxel / cell | 120"/>
            <p:cNvSpPr/>
            <p:nvPr/>
          </p:nvSpPr>
          <p:spPr>
            <a:xfrm>
              <a:off x="783590" y="4877526"/>
              <a:ext cx="88582" cy="82006"/>
            </a:xfrm>
            <a:prstGeom prst="rect">
              <a:avLst/>
            </a:prstGeom>
            <a:solidFill>
              <a:srgbClr val="EFF4F8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1" name="Density voxel / cell | 121"/>
            <p:cNvSpPr/>
            <p:nvPr/>
          </p:nvSpPr>
          <p:spPr>
            <a:xfrm>
              <a:off x="877252" y="4877526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2" name="Density voxel / cell | 122"/>
            <p:cNvSpPr/>
            <p:nvPr/>
          </p:nvSpPr>
          <p:spPr>
            <a:xfrm>
              <a:off x="970915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3" name="Density voxel / cell | 123"/>
            <p:cNvSpPr/>
            <p:nvPr/>
          </p:nvSpPr>
          <p:spPr>
            <a:xfrm>
              <a:off x="1064578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4" name="Density voxel / cell | 124"/>
            <p:cNvSpPr/>
            <p:nvPr/>
          </p:nvSpPr>
          <p:spPr>
            <a:xfrm>
              <a:off x="408940" y="4964611"/>
              <a:ext cx="88582" cy="82006"/>
            </a:xfrm>
            <a:prstGeom prst="rect">
              <a:avLst/>
            </a:prstGeom>
            <a:solidFill>
              <a:srgbClr val="F8FA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5" name="Density voxel / cell | 125"/>
            <p:cNvSpPr/>
            <p:nvPr/>
          </p:nvSpPr>
          <p:spPr>
            <a:xfrm>
              <a:off x="502603" y="4964611"/>
              <a:ext cx="88582" cy="82006"/>
            </a:xfrm>
            <a:prstGeom prst="rect">
              <a:avLst/>
            </a:prstGeom>
            <a:solidFill>
              <a:srgbClr val="CFDFE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6" name="Density voxel / cell | 126"/>
            <p:cNvSpPr/>
            <p:nvPr/>
          </p:nvSpPr>
          <p:spPr>
            <a:xfrm>
              <a:off x="596265" y="4964611"/>
              <a:ext cx="88582" cy="82006"/>
            </a:xfrm>
            <a:prstGeom prst="rect">
              <a:avLst/>
            </a:prstGeom>
            <a:solidFill>
              <a:srgbClr val="91B5C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7" name="Density voxel / cell | 127"/>
            <p:cNvSpPr/>
            <p:nvPr/>
          </p:nvSpPr>
          <p:spPr>
            <a:xfrm>
              <a:off x="689928" y="4964611"/>
              <a:ext cx="88582" cy="82006"/>
            </a:xfrm>
            <a:prstGeom prst="rect">
              <a:avLst/>
            </a:prstGeom>
            <a:solidFill>
              <a:srgbClr val="A5C3D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8" name="Density voxel / cell | 128"/>
            <p:cNvSpPr/>
            <p:nvPr/>
          </p:nvSpPr>
          <p:spPr>
            <a:xfrm>
              <a:off x="783590" y="4964611"/>
              <a:ext cx="88582" cy="82006"/>
            </a:xfrm>
            <a:prstGeom prst="rect">
              <a:avLst/>
            </a:prstGeom>
            <a:solidFill>
              <a:srgbClr val="E4EDF3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29" name="Density voxel / cell | 129"/>
            <p:cNvSpPr/>
            <p:nvPr/>
          </p:nvSpPr>
          <p:spPr>
            <a:xfrm>
              <a:off x="877252" y="4964611"/>
              <a:ext cx="88582" cy="82006"/>
            </a:xfrm>
            <a:prstGeom prst="rect">
              <a:avLst/>
            </a:prstGeom>
            <a:solidFill>
              <a:srgbClr val="F9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0" name="Density voxel / cell | 130"/>
            <p:cNvSpPr/>
            <p:nvPr/>
          </p:nvSpPr>
          <p:spPr>
            <a:xfrm>
              <a:off x="970915" y="4964611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1" name="Density voxel / cell | 131"/>
            <p:cNvSpPr/>
            <p:nvPr/>
          </p:nvSpPr>
          <p:spPr>
            <a:xfrm>
              <a:off x="1064578" y="4964611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2" name="Density voxel / cell | 132"/>
            <p:cNvSpPr/>
            <p:nvPr/>
          </p:nvSpPr>
          <p:spPr>
            <a:xfrm>
              <a:off x="408940" y="5051697"/>
              <a:ext cx="88582" cy="82006"/>
            </a:xfrm>
            <a:prstGeom prst="rect">
              <a:avLst/>
            </a:prstGeom>
            <a:solidFill>
              <a:srgbClr val="F8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3" name="Density voxel / cell | 133"/>
            <p:cNvSpPr/>
            <p:nvPr/>
          </p:nvSpPr>
          <p:spPr>
            <a:xfrm>
              <a:off x="502603" y="5051697"/>
              <a:ext cx="88582" cy="82006"/>
            </a:xfrm>
            <a:prstGeom prst="rect">
              <a:avLst/>
            </a:prstGeom>
            <a:solidFill>
              <a:srgbClr val="D4E3E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4" name="Density voxel / cell | 134"/>
            <p:cNvSpPr/>
            <p:nvPr/>
          </p:nvSpPr>
          <p:spPr>
            <a:xfrm>
              <a:off x="596265" y="5051697"/>
              <a:ext cx="88582" cy="82006"/>
            </a:xfrm>
            <a:prstGeom prst="rect">
              <a:avLst/>
            </a:prstGeom>
            <a:solidFill>
              <a:srgbClr val="9DBDD2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5" name="Density voxel / cell | 135"/>
            <p:cNvSpPr/>
            <p:nvPr/>
          </p:nvSpPr>
          <p:spPr>
            <a:xfrm>
              <a:off x="689928" y="5051697"/>
              <a:ext cx="88582" cy="82006"/>
            </a:xfrm>
            <a:prstGeom prst="rect">
              <a:avLst/>
            </a:prstGeom>
            <a:solidFill>
              <a:srgbClr val="ADC9D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6" name="Density voxel / cell | 136"/>
            <p:cNvSpPr/>
            <p:nvPr/>
          </p:nvSpPr>
          <p:spPr>
            <a:xfrm>
              <a:off x="783590" y="5051697"/>
              <a:ext cx="88582" cy="82006"/>
            </a:xfrm>
            <a:prstGeom prst="rect">
              <a:avLst/>
            </a:prstGeom>
            <a:solidFill>
              <a:srgbClr val="D8E5E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7" name="Density voxel / cell | 137"/>
            <p:cNvSpPr/>
            <p:nvPr/>
          </p:nvSpPr>
          <p:spPr>
            <a:xfrm>
              <a:off x="877252" y="5051697"/>
              <a:ext cx="88582" cy="82006"/>
            </a:xfrm>
            <a:prstGeom prst="rect">
              <a:avLst/>
            </a:prstGeom>
            <a:solidFill>
              <a:srgbClr val="D4E2E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8" name="Density voxel / cell | 138"/>
            <p:cNvSpPr/>
            <p:nvPr/>
          </p:nvSpPr>
          <p:spPr>
            <a:xfrm>
              <a:off x="970915" y="5051697"/>
              <a:ext cx="88582" cy="82006"/>
            </a:xfrm>
            <a:prstGeom prst="rect">
              <a:avLst/>
            </a:prstGeom>
            <a:solidFill>
              <a:srgbClr val="E1EBF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39" name="Density voxel / cell | 139"/>
            <p:cNvSpPr/>
            <p:nvPr/>
          </p:nvSpPr>
          <p:spPr>
            <a:xfrm>
              <a:off x="1064578" y="5051697"/>
              <a:ext cx="88582" cy="82006"/>
            </a:xfrm>
            <a:prstGeom prst="rect">
              <a:avLst/>
            </a:prstGeom>
            <a:solidFill>
              <a:srgbClr val="F9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0" name="Density voxel / cell | 140"/>
            <p:cNvSpPr/>
            <p:nvPr/>
          </p:nvSpPr>
          <p:spPr>
            <a:xfrm>
              <a:off x="408940" y="5138783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1" name="Density voxel / cell | 141"/>
            <p:cNvSpPr/>
            <p:nvPr/>
          </p:nvSpPr>
          <p:spPr>
            <a:xfrm>
              <a:off x="502603" y="5138783"/>
              <a:ext cx="88582" cy="82006"/>
            </a:xfrm>
            <a:prstGeom prst="rect">
              <a:avLst/>
            </a:prstGeom>
            <a:solidFill>
              <a:srgbClr val="EAF1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2" name="Density voxel / cell | 142"/>
            <p:cNvSpPr/>
            <p:nvPr/>
          </p:nvSpPr>
          <p:spPr>
            <a:xfrm>
              <a:off x="596265" y="5138783"/>
              <a:ext cx="88582" cy="82006"/>
            </a:xfrm>
            <a:prstGeom prst="rect">
              <a:avLst/>
            </a:prstGeom>
            <a:solidFill>
              <a:srgbClr val="CEDEE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3" name="Density voxel / cell | 143"/>
            <p:cNvSpPr/>
            <p:nvPr/>
          </p:nvSpPr>
          <p:spPr>
            <a:xfrm>
              <a:off x="689928" y="5138783"/>
              <a:ext cx="88582" cy="82006"/>
            </a:xfrm>
            <a:prstGeom prst="rect">
              <a:avLst/>
            </a:prstGeom>
            <a:solidFill>
              <a:srgbClr val="D2E1E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4" name="Density voxel / cell | 144"/>
            <p:cNvSpPr/>
            <p:nvPr/>
          </p:nvSpPr>
          <p:spPr>
            <a:xfrm>
              <a:off x="783590" y="5138783"/>
              <a:ext cx="88582" cy="82006"/>
            </a:xfrm>
            <a:prstGeom prst="rect">
              <a:avLst/>
            </a:prstGeom>
            <a:solidFill>
              <a:srgbClr val="C4D8E4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5" name="Density voxel / cell | 145"/>
            <p:cNvSpPr/>
            <p:nvPr/>
          </p:nvSpPr>
          <p:spPr>
            <a:xfrm>
              <a:off x="877252" y="5138783"/>
              <a:ext cx="88582" cy="82006"/>
            </a:xfrm>
            <a:prstGeom prst="rect">
              <a:avLst/>
            </a:prstGeom>
            <a:solidFill>
              <a:srgbClr val="82ACC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6" name="Density voxel / cell | 146"/>
            <p:cNvSpPr/>
            <p:nvPr/>
          </p:nvSpPr>
          <p:spPr>
            <a:xfrm>
              <a:off x="970915" y="5138783"/>
              <a:ext cx="88582" cy="82006"/>
            </a:xfrm>
            <a:prstGeom prst="rect">
              <a:avLst/>
            </a:prstGeom>
            <a:solidFill>
              <a:srgbClr val="A3C2D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7" name="Density voxel / cell | 147"/>
            <p:cNvSpPr/>
            <p:nvPr/>
          </p:nvSpPr>
          <p:spPr>
            <a:xfrm>
              <a:off x="1064578" y="5138783"/>
              <a:ext cx="88582" cy="82006"/>
            </a:xfrm>
            <a:prstGeom prst="rect">
              <a:avLst/>
            </a:prstGeom>
            <a:solidFill>
              <a:srgbClr val="ECF2F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8" name="Density voxel / cell | 148"/>
            <p:cNvSpPr/>
            <p:nvPr/>
          </p:nvSpPr>
          <p:spPr>
            <a:xfrm>
              <a:off x="408940" y="5225869"/>
              <a:ext cx="88582" cy="82006"/>
            </a:xfrm>
            <a:prstGeom prst="rect">
              <a:avLst/>
            </a:prstGeom>
            <a:solidFill>
              <a:srgbClr val="FEFE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49" name="Density voxel / cell | 149"/>
            <p:cNvSpPr/>
            <p:nvPr/>
          </p:nvSpPr>
          <p:spPr>
            <a:xfrm>
              <a:off x="502603" y="5225869"/>
              <a:ext cx="88582" cy="82006"/>
            </a:xfrm>
            <a:prstGeom prst="rect">
              <a:avLst/>
            </a:prstGeom>
            <a:solidFill>
              <a:srgbClr val="F9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0" name="Density voxel / cell | 150"/>
            <p:cNvSpPr/>
            <p:nvPr/>
          </p:nvSpPr>
          <p:spPr>
            <a:xfrm>
              <a:off x="596265" y="5225869"/>
              <a:ext cx="88582" cy="82006"/>
            </a:xfrm>
            <a:prstGeom prst="rect">
              <a:avLst/>
            </a:prstGeom>
            <a:solidFill>
              <a:srgbClr val="F1F6F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1" name="Density voxel / cell | 151"/>
            <p:cNvSpPr/>
            <p:nvPr/>
          </p:nvSpPr>
          <p:spPr>
            <a:xfrm>
              <a:off x="689928" y="5225869"/>
              <a:ext cx="88582" cy="82006"/>
            </a:xfrm>
            <a:prstGeom prst="rect">
              <a:avLst/>
            </a:prstGeom>
            <a:solidFill>
              <a:srgbClr val="EFF5F8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2" name="Density voxel / cell | 152"/>
            <p:cNvSpPr/>
            <p:nvPr/>
          </p:nvSpPr>
          <p:spPr>
            <a:xfrm>
              <a:off x="783590" y="5225869"/>
              <a:ext cx="88582" cy="82006"/>
            </a:xfrm>
            <a:prstGeom prst="rect">
              <a:avLst/>
            </a:prstGeom>
            <a:solidFill>
              <a:srgbClr val="D2E1E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3" name="Density voxel / cell | 153"/>
            <p:cNvSpPr/>
            <p:nvPr/>
          </p:nvSpPr>
          <p:spPr>
            <a:xfrm>
              <a:off x="877252" y="5225869"/>
              <a:ext cx="88582" cy="82006"/>
            </a:xfrm>
            <a:prstGeom prst="rect">
              <a:avLst/>
            </a:prstGeom>
            <a:solidFill>
              <a:srgbClr val="91B6C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4" name="Density voxel / cell | 154"/>
            <p:cNvSpPr/>
            <p:nvPr/>
          </p:nvSpPr>
          <p:spPr>
            <a:xfrm>
              <a:off x="970915" y="5225869"/>
              <a:ext cx="88582" cy="82006"/>
            </a:xfrm>
            <a:prstGeom prst="rect">
              <a:avLst/>
            </a:prstGeom>
            <a:solidFill>
              <a:srgbClr val="AEC9D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5" name="Density voxel / cell | 155"/>
            <p:cNvSpPr/>
            <p:nvPr/>
          </p:nvSpPr>
          <p:spPr>
            <a:xfrm>
              <a:off x="1064578" y="5225869"/>
              <a:ext cx="88582" cy="82006"/>
            </a:xfrm>
            <a:prstGeom prst="rect">
              <a:avLst/>
            </a:prstGeom>
            <a:solidFill>
              <a:srgbClr val="EEF4F7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6" name="Density voxel / cell | 156"/>
            <p:cNvSpPr/>
            <p:nvPr/>
          </p:nvSpPr>
          <p:spPr>
            <a:xfrm>
              <a:off x="408940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7" name="Density voxel / cell | 157"/>
            <p:cNvSpPr/>
            <p:nvPr/>
          </p:nvSpPr>
          <p:spPr>
            <a:xfrm>
              <a:off x="502603" y="5312954"/>
              <a:ext cx="88582" cy="82006"/>
            </a:xfrm>
            <a:prstGeom prst="rect">
              <a:avLst/>
            </a:prstGeom>
            <a:solidFill>
              <a:srgbClr val="FEFE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8" name="Density voxel / cell | 158"/>
            <p:cNvSpPr/>
            <p:nvPr/>
          </p:nvSpPr>
          <p:spPr>
            <a:xfrm>
              <a:off x="596265" y="5312954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59" name="Density voxel / cell | 159"/>
            <p:cNvSpPr/>
            <p:nvPr/>
          </p:nvSpPr>
          <p:spPr>
            <a:xfrm>
              <a:off x="689928" y="5312954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0" name="Density voxel / cell | 160"/>
            <p:cNvSpPr/>
            <p:nvPr/>
          </p:nvSpPr>
          <p:spPr>
            <a:xfrm>
              <a:off x="783590" y="5312954"/>
              <a:ext cx="88582" cy="82006"/>
            </a:xfrm>
            <a:prstGeom prst="rect">
              <a:avLst/>
            </a:prstGeom>
            <a:solidFill>
              <a:srgbClr val="F4F7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1" name="Density voxel / cell | 161"/>
            <p:cNvSpPr/>
            <p:nvPr/>
          </p:nvSpPr>
          <p:spPr>
            <a:xfrm>
              <a:off x="877252" y="5312954"/>
              <a:ext cx="88582" cy="82006"/>
            </a:xfrm>
            <a:prstGeom prst="rect">
              <a:avLst/>
            </a:prstGeom>
            <a:solidFill>
              <a:srgbClr val="E3ECF2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2" name="Density voxel / cell | 162"/>
            <p:cNvSpPr/>
            <p:nvPr/>
          </p:nvSpPr>
          <p:spPr>
            <a:xfrm>
              <a:off x="970915" y="5312954"/>
              <a:ext cx="88582" cy="82006"/>
            </a:xfrm>
            <a:prstGeom prst="rect">
              <a:avLst/>
            </a:prstGeom>
            <a:solidFill>
              <a:srgbClr val="EAF1F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3" name="Density voxel / cell | 163"/>
            <p:cNvSpPr/>
            <p:nvPr/>
          </p:nvSpPr>
          <p:spPr>
            <a:xfrm>
              <a:off x="1064578" y="5312954"/>
              <a:ext cx="88582" cy="82006"/>
            </a:xfrm>
            <a:prstGeom prst="rect">
              <a:avLst/>
            </a:prstGeom>
            <a:solidFill>
              <a:srgbClr val="FB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4" name="Text | M_exp"/>
            <p:cNvSpPr txBox="1"/>
            <p:nvPr/>
          </p:nvSpPr>
          <p:spPr>
            <a:xfrm>
              <a:off x="469791" y="5480050"/>
              <a:ext cx="622518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M_exp</a:t>
              </a:r>
              <a:endParaRPr lang="en-US" sz="1250"/>
            </a:p>
          </p:txBody>
        </p:sp>
        <p:sp>
          <p:nvSpPr>
            <p:cNvPr id="165" name="Panel / block / cell | 165"/>
            <p:cNvSpPr/>
            <p:nvPr/>
          </p:nvSpPr>
          <p:spPr>
            <a:xfrm>
              <a:off x="1409700" y="4787900"/>
              <a:ext cx="749300" cy="609600"/>
            </a:xfrm>
            <a:prstGeom prst="rect">
              <a:avLst/>
            </a:prstGeom>
            <a:solidFill>
              <a:srgbClr val="FFFFFF"/>
            </a:solidFill>
            <a:ln w="1016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6" name="Density voxel / cell | 166"/>
            <p:cNvSpPr/>
            <p:nvPr/>
          </p:nvSpPr>
          <p:spPr>
            <a:xfrm>
              <a:off x="1412240" y="4790440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7" name="Density voxel / cell | 167"/>
            <p:cNvSpPr/>
            <p:nvPr/>
          </p:nvSpPr>
          <p:spPr>
            <a:xfrm>
              <a:off x="1505902" y="4790440"/>
              <a:ext cx="88582" cy="82006"/>
            </a:xfrm>
            <a:prstGeom prst="rect">
              <a:avLst/>
            </a:prstGeom>
            <a:solidFill>
              <a:srgbClr val="F3F7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8" name="Density voxel / cell | 168"/>
            <p:cNvSpPr/>
            <p:nvPr/>
          </p:nvSpPr>
          <p:spPr>
            <a:xfrm>
              <a:off x="1599565" y="4790440"/>
              <a:ext cx="88582" cy="82006"/>
            </a:xfrm>
            <a:prstGeom prst="rect">
              <a:avLst/>
            </a:prstGeom>
            <a:solidFill>
              <a:srgbClr val="E4EDF3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69" name="Density voxel / cell | 169"/>
            <p:cNvSpPr/>
            <p:nvPr/>
          </p:nvSpPr>
          <p:spPr>
            <a:xfrm>
              <a:off x="1693227" y="4790440"/>
              <a:ext cx="88582" cy="82006"/>
            </a:xfrm>
            <a:prstGeom prst="rect">
              <a:avLst/>
            </a:prstGeom>
            <a:solidFill>
              <a:srgbClr val="E9F0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0" name="Density voxel / cell | 170"/>
            <p:cNvSpPr/>
            <p:nvPr/>
          </p:nvSpPr>
          <p:spPr>
            <a:xfrm>
              <a:off x="1786890" y="4790440"/>
              <a:ext cx="88582" cy="82006"/>
            </a:xfrm>
            <a:prstGeom prst="rect">
              <a:avLst/>
            </a:prstGeom>
            <a:solidFill>
              <a:srgbClr val="F9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1" name="Density voxel / cell | 171"/>
            <p:cNvSpPr/>
            <p:nvPr/>
          </p:nvSpPr>
          <p:spPr>
            <a:xfrm>
              <a:off x="1880552" y="4790440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2" name="Density voxel / cell | 172"/>
            <p:cNvSpPr/>
            <p:nvPr/>
          </p:nvSpPr>
          <p:spPr>
            <a:xfrm>
              <a:off x="1974215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3" name="Density voxel / cell | 173"/>
            <p:cNvSpPr/>
            <p:nvPr/>
          </p:nvSpPr>
          <p:spPr>
            <a:xfrm>
              <a:off x="2067877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4" name="Density voxel / cell | 174"/>
            <p:cNvSpPr/>
            <p:nvPr/>
          </p:nvSpPr>
          <p:spPr>
            <a:xfrm>
              <a:off x="1412240" y="4877526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5" name="Density voxel / cell | 175"/>
            <p:cNvSpPr/>
            <p:nvPr/>
          </p:nvSpPr>
          <p:spPr>
            <a:xfrm>
              <a:off x="1505902" y="4877526"/>
              <a:ext cx="88582" cy="82006"/>
            </a:xfrm>
            <a:prstGeom prst="rect">
              <a:avLst/>
            </a:prstGeom>
            <a:solidFill>
              <a:srgbClr val="DDE8E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6" name="Density voxel / cell | 176"/>
            <p:cNvSpPr/>
            <p:nvPr/>
          </p:nvSpPr>
          <p:spPr>
            <a:xfrm>
              <a:off x="1599565" y="4877526"/>
              <a:ext cx="88582" cy="82006"/>
            </a:xfrm>
            <a:prstGeom prst="rect">
              <a:avLst/>
            </a:prstGeom>
            <a:solidFill>
              <a:srgbClr val="B1CBD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7" name="Density voxel / cell | 177"/>
            <p:cNvSpPr/>
            <p:nvPr/>
          </p:nvSpPr>
          <p:spPr>
            <a:xfrm>
              <a:off x="1693227" y="4877526"/>
              <a:ext cx="88582" cy="82006"/>
            </a:xfrm>
            <a:prstGeom prst="rect">
              <a:avLst/>
            </a:prstGeom>
            <a:solidFill>
              <a:srgbClr val="BFD5E2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8" name="Density voxel / cell | 178"/>
            <p:cNvSpPr/>
            <p:nvPr/>
          </p:nvSpPr>
          <p:spPr>
            <a:xfrm>
              <a:off x="1786890" y="4877526"/>
              <a:ext cx="88582" cy="82006"/>
            </a:xfrm>
            <a:prstGeom prst="rect">
              <a:avLst/>
            </a:prstGeom>
            <a:solidFill>
              <a:srgbClr val="EDF3F7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79" name="Density voxel / cell | 179"/>
            <p:cNvSpPr/>
            <p:nvPr/>
          </p:nvSpPr>
          <p:spPr>
            <a:xfrm>
              <a:off x="1880552" y="4877526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0" name="Density voxel / cell | 180"/>
            <p:cNvSpPr/>
            <p:nvPr/>
          </p:nvSpPr>
          <p:spPr>
            <a:xfrm>
              <a:off x="1974215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1" name="Density voxel / cell | 181"/>
            <p:cNvSpPr/>
            <p:nvPr/>
          </p:nvSpPr>
          <p:spPr>
            <a:xfrm>
              <a:off x="2067877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2" name="Density voxel / cell | 182"/>
            <p:cNvSpPr/>
            <p:nvPr/>
          </p:nvSpPr>
          <p:spPr>
            <a:xfrm>
              <a:off x="1412240" y="4964611"/>
              <a:ext cx="88582" cy="82006"/>
            </a:xfrm>
            <a:prstGeom prst="rect">
              <a:avLst/>
            </a:prstGeom>
            <a:solidFill>
              <a:srgbClr val="F7F9F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3" name="Density voxel / cell | 183"/>
            <p:cNvSpPr/>
            <p:nvPr/>
          </p:nvSpPr>
          <p:spPr>
            <a:xfrm>
              <a:off x="1505902" y="4964611"/>
              <a:ext cx="88582" cy="82006"/>
            </a:xfrm>
            <a:prstGeom prst="rect">
              <a:avLst/>
            </a:prstGeom>
            <a:solidFill>
              <a:srgbClr val="C9DBE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4" name="Density voxel / cell | 184"/>
            <p:cNvSpPr/>
            <p:nvPr/>
          </p:nvSpPr>
          <p:spPr>
            <a:xfrm>
              <a:off x="1599565" y="4964611"/>
              <a:ext cx="88582" cy="82006"/>
            </a:xfrm>
            <a:prstGeom prst="rect">
              <a:avLst/>
            </a:prstGeom>
            <a:solidFill>
              <a:srgbClr val="82ACC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5" name="Density voxel / cell | 185"/>
            <p:cNvSpPr/>
            <p:nvPr/>
          </p:nvSpPr>
          <p:spPr>
            <a:xfrm>
              <a:off x="1693227" y="4964611"/>
              <a:ext cx="88582" cy="82006"/>
            </a:xfrm>
            <a:prstGeom prst="rect">
              <a:avLst/>
            </a:prstGeom>
            <a:solidFill>
              <a:srgbClr val="99BBD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6" name="Density voxel / cell | 186"/>
            <p:cNvSpPr/>
            <p:nvPr/>
          </p:nvSpPr>
          <p:spPr>
            <a:xfrm>
              <a:off x="1786890" y="4964611"/>
              <a:ext cx="88582" cy="82006"/>
            </a:xfrm>
            <a:prstGeom prst="rect">
              <a:avLst/>
            </a:prstGeom>
            <a:solidFill>
              <a:srgbClr val="E2ECF2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7" name="Density voxel / cell | 187"/>
            <p:cNvSpPr/>
            <p:nvPr/>
          </p:nvSpPr>
          <p:spPr>
            <a:xfrm>
              <a:off x="1880552" y="4964611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8" name="Density voxel / cell | 188"/>
            <p:cNvSpPr/>
            <p:nvPr/>
          </p:nvSpPr>
          <p:spPr>
            <a:xfrm>
              <a:off x="1974215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89" name="Density voxel / cell | 189"/>
            <p:cNvSpPr/>
            <p:nvPr/>
          </p:nvSpPr>
          <p:spPr>
            <a:xfrm>
              <a:off x="2067877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0" name="Density voxel / cell | 190"/>
            <p:cNvSpPr/>
            <p:nvPr/>
          </p:nvSpPr>
          <p:spPr>
            <a:xfrm>
              <a:off x="1412240" y="5051697"/>
              <a:ext cx="88582" cy="82006"/>
            </a:xfrm>
            <a:prstGeom prst="rect">
              <a:avLst/>
            </a:prstGeom>
            <a:solidFill>
              <a:srgbClr val="F8FA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1" name="Density voxel / cell | 191"/>
            <p:cNvSpPr/>
            <p:nvPr/>
          </p:nvSpPr>
          <p:spPr>
            <a:xfrm>
              <a:off x="1505902" y="5051697"/>
              <a:ext cx="88582" cy="82006"/>
            </a:xfrm>
            <a:prstGeom prst="rect">
              <a:avLst/>
            </a:prstGeom>
            <a:solidFill>
              <a:srgbClr val="CFDFE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2" name="Density voxel / cell | 192"/>
            <p:cNvSpPr/>
            <p:nvPr/>
          </p:nvSpPr>
          <p:spPr>
            <a:xfrm>
              <a:off x="1599565" y="5051697"/>
              <a:ext cx="88582" cy="82006"/>
            </a:xfrm>
            <a:prstGeom prst="rect">
              <a:avLst/>
            </a:prstGeom>
            <a:solidFill>
              <a:srgbClr val="90B5C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3" name="Density voxel / cell | 193"/>
            <p:cNvSpPr/>
            <p:nvPr/>
          </p:nvSpPr>
          <p:spPr>
            <a:xfrm>
              <a:off x="1693227" y="5051697"/>
              <a:ext cx="88582" cy="82006"/>
            </a:xfrm>
            <a:prstGeom prst="rect">
              <a:avLst/>
            </a:prstGeom>
            <a:solidFill>
              <a:srgbClr val="A5C3D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4" name="Density voxel / cell | 194"/>
            <p:cNvSpPr/>
            <p:nvPr/>
          </p:nvSpPr>
          <p:spPr>
            <a:xfrm>
              <a:off x="1786890" y="5051697"/>
              <a:ext cx="88582" cy="82006"/>
            </a:xfrm>
            <a:prstGeom prst="rect">
              <a:avLst/>
            </a:prstGeom>
            <a:solidFill>
              <a:srgbClr val="E5EEF3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5" name="Density voxel / cell | 195"/>
            <p:cNvSpPr/>
            <p:nvPr/>
          </p:nvSpPr>
          <p:spPr>
            <a:xfrm>
              <a:off x="1880552" y="5051697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6" name="Density voxel / cell | 196"/>
            <p:cNvSpPr/>
            <p:nvPr/>
          </p:nvSpPr>
          <p:spPr>
            <a:xfrm>
              <a:off x="1974215" y="5051697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7" name="Density voxel / cell | 197"/>
            <p:cNvSpPr/>
            <p:nvPr/>
          </p:nvSpPr>
          <p:spPr>
            <a:xfrm>
              <a:off x="2067877" y="5051697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8" name="Density voxel / cell | 198"/>
            <p:cNvSpPr/>
            <p:nvPr/>
          </p:nvSpPr>
          <p:spPr>
            <a:xfrm>
              <a:off x="1412240" y="5138783"/>
              <a:ext cx="88582" cy="82006"/>
            </a:xfrm>
            <a:prstGeom prst="rect">
              <a:avLst/>
            </a:prstGeom>
            <a:solidFill>
              <a:srgbClr val="FBFD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199" name="Density voxel / cell | 199"/>
            <p:cNvSpPr/>
            <p:nvPr/>
          </p:nvSpPr>
          <p:spPr>
            <a:xfrm>
              <a:off x="1505902" y="5138783"/>
              <a:ext cx="88582" cy="82006"/>
            </a:xfrm>
            <a:prstGeom prst="rect">
              <a:avLst/>
            </a:prstGeom>
            <a:solidFill>
              <a:srgbClr val="E7EFF4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0" name="Density voxel / cell | 200"/>
            <p:cNvSpPr/>
            <p:nvPr/>
          </p:nvSpPr>
          <p:spPr>
            <a:xfrm>
              <a:off x="1599565" y="5138783"/>
              <a:ext cx="88582" cy="82006"/>
            </a:xfrm>
            <a:prstGeom prst="rect">
              <a:avLst/>
            </a:prstGeom>
            <a:solidFill>
              <a:srgbClr val="C8DAE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1" name="Density voxel / cell | 201"/>
            <p:cNvSpPr/>
            <p:nvPr/>
          </p:nvSpPr>
          <p:spPr>
            <a:xfrm>
              <a:off x="1693227" y="5138783"/>
              <a:ext cx="88582" cy="82006"/>
            </a:xfrm>
            <a:prstGeom prst="rect">
              <a:avLst/>
            </a:prstGeom>
            <a:solidFill>
              <a:srgbClr val="D2E1E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2" name="Density voxel / cell | 202"/>
            <p:cNvSpPr/>
            <p:nvPr/>
          </p:nvSpPr>
          <p:spPr>
            <a:xfrm>
              <a:off x="1786890" y="5138783"/>
              <a:ext cx="88582" cy="82006"/>
            </a:xfrm>
            <a:prstGeom prst="rect">
              <a:avLst/>
            </a:prstGeom>
            <a:solidFill>
              <a:srgbClr val="F2F6F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3" name="Density voxel / cell | 203"/>
            <p:cNvSpPr/>
            <p:nvPr/>
          </p:nvSpPr>
          <p:spPr>
            <a:xfrm>
              <a:off x="1880552" y="5138783"/>
              <a:ext cx="88582" cy="82006"/>
            </a:xfrm>
            <a:prstGeom prst="rect">
              <a:avLst/>
            </a:prstGeom>
            <a:solidFill>
              <a:srgbClr val="FE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4" name="Density voxel / cell | 204"/>
            <p:cNvSpPr/>
            <p:nvPr/>
          </p:nvSpPr>
          <p:spPr>
            <a:xfrm>
              <a:off x="1974215" y="5138783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5" name="Density voxel / cell | 205"/>
            <p:cNvSpPr/>
            <p:nvPr/>
          </p:nvSpPr>
          <p:spPr>
            <a:xfrm>
              <a:off x="2067877" y="5138783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6" name="Density voxel / cell | 206"/>
            <p:cNvSpPr/>
            <p:nvPr/>
          </p:nvSpPr>
          <p:spPr>
            <a:xfrm>
              <a:off x="1412240" y="5225869"/>
              <a:ext cx="88582" cy="82006"/>
            </a:xfrm>
            <a:prstGeom prst="rect">
              <a:avLst/>
            </a:prstGeom>
            <a:solidFill>
              <a:srgbClr val="FEFE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7" name="Density voxel / cell | 207"/>
            <p:cNvSpPr/>
            <p:nvPr/>
          </p:nvSpPr>
          <p:spPr>
            <a:xfrm>
              <a:off x="1505902" y="5225869"/>
              <a:ext cx="88582" cy="82006"/>
            </a:xfrm>
            <a:prstGeom prst="rect">
              <a:avLst/>
            </a:prstGeom>
            <a:solidFill>
              <a:srgbClr val="F8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8" name="Density voxel / cell | 208"/>
            <p:cNvSpPr/>
            <p:nvPr/>
          </p:nvSpPr>
          <p:spPr>
            <a:xfrm>
              <a:off x="1599565" y="5225869"/>
              <a:ext cx="88582" cy="82006"/>
            </a:xfrm>
            <a:prstGeom prst="rect">
              <a:avLst/>
            </a:prstGeom>
            <a:solidFill>
              <a:srgbClr val="F0F5F8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09" name="Density voxel / cell | 209"/>
            <p:cNvSpPr/>
            <p:nvPr/>
          </p:nvSpPr>
          <p:spPr>
            <a:xfrm>
              <a:off x="1693227" y="5225869"/>
              <a:ext cx="88582" cy="82006"/>
            </a:xfrm>
            <a:prstGeom prst="rect">
              <a:avLst/>
            </a:prstGeom>
            <a:solidFill>
              <a:srgbClr val="F3F7F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0" name="Density voxel / cell | 210"/>
            <p:cNvSpPr/>
            <p:nvPr/>
          </p:nvSpPr>
          <p:spPr>
            <a:xfrm>
              <a:off x="1786890" y="5225869"/>
              <a:ext cx="88582" cy="82006"/>
            </a:xfrm>
            <a:prstGeom prst="rect">
              <a:avLst/>
            </a:prstGeom>
            <a:solidFill>
              <a:srgbClr val="FBFD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1" name="Density voxel / cell | 211"/>
            <p:cNvSpPr/>
            <p:nvPr/>
          </p:nvSpPr>
          <p:spPr>
            <a:xfrm>
              <a:off x="1880552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2" name="Density voxel / cell | 212"/>
            <p:cNvSpPr/>
            <p:nvPr/>
          </p:nvSpPr>
          <p:spPr>
            <a:xfrm>
              <a:off x="1974215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3" name="Density voxel / cell | 213"/>
            <p:cNvSpPr/>
            <p:nvPr/>
          </p:nvSpPr>
          <p:spPr>
            <a:xfrm>
              <a:off x="2067877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4" name="Density voxel / cell | 214"/>
            <p:cNvSpPr/>
            <p:nvPr/>
          </p:nvSpPr>
          <p:spPr>
            <a:xfrm>
              <a:off x="1412240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5" name="Density voxel / cell | 215"/>
            <p:cNvSpPr/>
            <p:nvPr/>
          </p:nvSpPr>
          <p:spPr>
            <a:xfrm>
              <a:off x="1505902" y="5312954"/>
              <a:ext cx="88582" cy="82006"/>
            </a:xfrm>
            <a:prstGeom prst="rect">
              <a:avLst/>
            </a:prstGeom>
            <a:solidFill>
              <a:srgbClr val="FEFE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6" name="Density voxel / cell | 216"/>
            <p:cNvSpPr/>
            <p:nvPr/>
          </p:nvSpPr>
          <p:spPr>
            <a:xfrm>
              <a:off x="1599565" y="5312954"/>
              <a:ext cx="88582" cy="82006"/>
            </a:xfrm>
            <a:prstGeom prst="rect">
              <a:avLst/>
            </a:prstGeom>
            <a:solidFill>
              <a:srgbClr val="FD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7" name="Density voxel / cell | 217"/>
            <p:cNvSpPr/>
            <p:nvPr/>
          </p:nvSpPr>
          <p:spPr>
            <a:xfrm>
              <a:off x="1693227" y="5312954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8" name="Density voxel / cell | 218"/>
            <p:cNvSpPr/>
            <p:nvPr/>
          </p:nvSpPr>
          <p:spPr>
            <a:xfrm>
              <a:off x="1786890" y="5312954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19" name="Density voxel / cell | 219"/>
            <p:cNvSpPr/>
            <p:nvPr/>
          </p:nvSpPr>
          <p:spPr>
            <a:xfrm>
              <a:off x="1880552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0" name="Density voxel / cell | 220"/>
            <p:cNvSpPr/>
            <p:nvPr/>
          </p:nvSpPr>
          <p:spPr>
            <a:xfrm>
              <a:off x="1974215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1" name="Density voxel / cell | 221"/>
            <p:cNvSpPr/>
            <p:nvPr/>
          </p:nvSpPr>
          <p:spPr>
            <a:xfrm>
              <a:off x="2067877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2" name="Text | M_sim"/>
            <p:cNvSpPr txBox="1"/>
            <p:nvPr/>
          </p:nvSpPr>
          <p:spPr>
            <a:xfrm>
              <a:off x="1477625" y="5480050"/>
              <a:ext cx="613450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M_sim</a:t>
              </a:r>
              <a:endParaRPr lang="en-US" sz="1250"/>
            </a:p>
          </p:txBody>
        </p:sp>
        <p:sp>
          <p:nvSpPr>
            <p:cNvPr id="223" name="Panel / block / cell | 223"/>
            <p:cNvSpPr/>
            <p:nvPr/>
          </p:nvSpPr>
          <p:spPr>
            <a:xfrm>
              <a:off x="2413000" y="4787900"/>
              <a:ext cx="749300" cy="609600"/>
            </a:xfrm>
            <a:prstGeom prst="rect">
              <a:avLst/>
            </a:prstGeom>
            <a:solidFill>
              <a:srgbClr val="FFFFFF"/>
            </a:solidFill>
            <a:ln w="1016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4" name="Density voxel / cell | 224"/>
            <p:cNvSpPr/>
            <p:nvPr/>
          </p:nvSpPr>
          <p:spPr>
            <a:xfrm>
              <a:off x="2415540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5" name="Density voxel / cell | 225"/>
            <p:cNvSpPr/>
            <p:nvPr/>
          </p:nvSpPr>
          <p:spPr>
            <a:xfrm>
              <a:off x="2509202" y="4790440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6" name="Density voxel / cell | 226"/>
            <p:cNvSpPr/>
            <p:nvPr/>
          </p:nvSpPr>
          <p:spPr>
            <a:xfrm>
              <a:off x="2602865" y="4790440"/>
              <a:ext cx="88582" cy="82006"/>
            </a:xfrm>
            <a:prstGeom prst="rect">
              <a:avLst/>
            </a:prstGeom>
            <a:solidFill>
              <a:srgbClr val="F9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7" name="Density voxel / cell | 227"/>
            <p:cNvSpPr/>
            <p:nvPr/>
          </p:nvSpPr>
          <p:spPr>
            <a:xfrm>
              <a:off x="2696528" y="4790440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8" name="Density voxel / cell | 228"/>
            <p:cNvSpPr/>
            <p:nvPr/>
          </p:nvSpPr>
          <p:spPr>
            <a:xfrm>
              <a:off x="2790190" y="4790440"/>
              <a:ext cx="88582" cy="82006"/>
            </a:xfrm>
            <a:prstGeom prst="rect">
              <a:avLst/>
            </a:prstGeom>
            <a:solidFill>
              <a:srgbClr val="FE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29" name="Density voxel / cell | 229"/>
            <p:cNvSpPr/>
            <p:nvPr/>
          </p:nvSpPr>
          <p:spPr>
            <a:xfrm>
              <a:off x="2883852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0" name="Density voxel / cell | 230"/>
            <p:cNvSpPr/>
            <p:nvPr/>
          </p:nvSpPr>
          <p:spPr>
            <a:xfrm>
              <a:off x="2977515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1" name="Density voxel / cell | 231"/>
            <p:cNvSpPr/>
            <p:nvPr/>
          </p:nvSpPr>
          <p:spPr>
            <a:xfrm>
              <a:off x="3071178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2" name="Density voxel / cell | 232"/>
            <p:cNvSpPr/>
            <p:nvPr/>
          </p:nvSpPr>
          <p:spPr>
            <a:xfrm>
              <a:off x="2415540" y="4877526"/>
              <a:ext cx="88582" cy="82006"/>
            </a:xfrm>
            <a:prstGeom prst="rect">
              <a:avLst/>
            </a:prstGeom>
            <a:solidFill>
              <a:srgbClr val="FE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3" name="Density voxel / cell | 233"/>
            <p:cNvSpPr/>
            <p:nvPr/>
          </p:nvSpPr>
          <p:spPr>
            <a:xfrm>
              <a:off x="2509202" y="4877526"/>
              <a:ext cx="88582" cy="82006"/>
            </a:xfrm>
            <a:prstGeom prst="rect">
              <a:avLst/>
            </a:prstGeom>
            <a:solidFill>
              <a:srgbClr val="F8FA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4" name="Density voxel / cell | 234"/>
            <p:cNvSpPr/>
            <p:nvPr/>
          </p:nvSpPr>
          <p:spPr>
            <a:xfrm>
              <a:off x="2602865" y="4877526"/>
              <a:ext cx="88582" cy="82006"/>
            </a:xfrm>
            <a:prstGeom prst="rect">
              <a:avLst/>
            </a:prstGeom>
            <a:solidFill>
              <a:srgbClr val="EEF4F7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5" name="Density voxel / cell | 235"/>
            <p:cNvSpPr/>
            <p:nvPr/>
          </p:nvSpPr>
          <p:spPr>
            <a:xfrm>
              <a:off x="2696528" y="4877526"/>
              <a:ext cx="88582" cy="82006"/>
            </a:xfrm>
            <a:prstGeom prst="rect">
              <a:avLst/>
            </a:prstGeom>
            <a:solidFill>
              <a:srgbClr val="F1F6F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6" name="Density voxel / cell | 236"/>
            <p:cNvSpPr/>
            <p:nvPr/>
          </p:nvSpPr>
          <p:spPr>
            <a:xfrm>
              <a:off x="2790190" y="4877526"/>
              <a:ext cx="88582" cy="82006"/>
            </a:xfrm>
            <a:prstGeom prst="rect">
              <a:avLst/>
            </a:prstGeom>
            <a:solidFill>
              <a:srgbClr val="FB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7" name="Density voxel / cell | 237"/>
            <p:cNvSpPr/>
            <p:nvPr/>
          </p:nvSpPr>
          <p:spPr>
            <a:xfrm>
              <a:off x="2883852" y="4877526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8" name="Density voxel / cell | 238"/>
            <p:cNvSpPr/>
            <p:nvPr/>
          </p:nvSpPr>
          <p:spPr>
            <a:xfrm>
              <a:off x="2977515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39" name="Density voxel / cell | 239"/>
            <p:cNvSpPr/>
            <p:nvPr/>
          </p:nvSpPr>
          <p:spPr>
            <a:xfrm>
              <a:off x="3071178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0" name="Density voxel / cell | 240"/>
            <p:cNvSpPr/>
            <p:nvPr/>
          </p:nvSpPr>
          <p:spPr>
            <a:xfrm>
              <a:off x="2415540" y="4964611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1" name="Density voxel / cell | 241"/>
            <p:cNvSpPr/>
            <p:nvPr/>
          </p:nvSpPr>
          <p:spPr>
            <a:xfrm>
              <a:off x="2509202" y="4964611"/>
              <a:ext cx="88582" cy="82006"/>
            </a:xfrm>
            <a:prstGeom prst="rect">
              <a:avLst/>
            </a:prstGeom>
            <a:solidFill>
              <a:srgbClr val="F3F7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2" name="Density voxel / cell | 242"/>
            <p:cNvSpPr/>
            <p:nvPr/>
          </p:nvSpPr>
          <p:spPr>
            <a:xfrm>
              <a:off x="2602865" y="4964611"/>
              <a:ext cx="88582" cy="82006"/>
            </a:xfrm>
            <a:prstGeom prst="rect">
              <a:avLst/>
            </a:prstGeom>
            <a:solidFill>
              <a:srgbClr val="E4EDF3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3" name="Density voxel / cell | 243"/>
            <p:cNvSpPr/>
            <p:nvPr/>
          </p:nvSpPr>
          <p:spPr>
            <a:xfrm>
              <a:off x="2696528" y="4964611"/>
              <a:ext cx="88582" cy="82006"/>
            </a:xfrm>
            <a:prstGeom prst="rect">
              <a:avLst/>
            </a:prstGeom>
            <a:solidFill>
              <a:srgbClr val="E9F1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4" name="Density voxel / cell | 244"/>
            <p:cNvSpPr/>
            <p:nvPr/>
          </p:nvSpPr>
          <p:spPr>
            <a:xfrm>
              <a:off x="2790190" y="4964611"/>
              <a:ext cx="88582" cy="82006"/>
            </a:xfrm>
            <a:prstGeom prst="rect">
              <a:avLst/>
            </a:prstGeom>
            <a:solidFill>
              <a:srgbClr val="F7FAF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5" name="Density voxel / cell | 245"/>
            <p:cNvSpPr/>
            <p:nvPr/>
          </p:nvSpPr>
          <p:spPr>
            <a:xfrm>
              <a:off x="2883852" y="4964611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6" name="Density voxel / cell | 246"/>
            <p:cNvSpPr/>
            <p:nvPr/>
          </p:nvSpPr>
          <p:spPr>
            <a:xfrm>
              <a:off x="2977515" y="4964611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7" name="Density voxel / cell | 247"/>
            <p:cNvSpPr/>
            <p:nvPr/>
          </p:nvSpPr>
          <p:spPr>
            <a:xfrm>
              <a:off x="3071178" y="4964611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8" name="Density voxel / cell | 248"/>
            <p:cNvSpPr/>
            <p:nvPr/>
          </p:nvSpPr>
          <p:spPr>
            <a:xfrm>
              <a:off x="2415540" y="5051697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49" name="Density voxel / cell | 249"/>
            <p:cNvSpPr/>
            <p:nvPr/>
          </p:nvSpPr>
          <p:spPr>
            <a:xfrm>
              <a:off x="2509202" y="5051697"/>
              <a:ext cx="88582" cy="82006"/>
            </a:xfrm>
            <a:prstGeom prst="rect">
              <a:avLst/>
            </a:prstGeom>
            <a:solidFill>
              <a:srgbClr val="F5F8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0" name="Density voxel / cell | 250"/>
            <p:cNvSpPr/>
            <p:nvPr/>
          </p:nvSpPr>
          <p:spPr>
            <a:xfrm>
              <a:off x="2602865" y="5051697"/>
              <a:ext cx="88582" cy="82006"/>
            </a:xfrm>
            <a:prstGeom prst="rect">
              <a:avLst/>
            </a:prstGeom>
            <a:solidFill>
              <a:srgbClr val="E7EFF4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1" name="Density voxel / cell | 251"/>
            <p:cNvSpPr/>
            <p:nvPr/>
          </p:nvSpPr>
          <p:spPr>
            <a:xfrm>
              <a:off x="2696528" y="5051697"/>
              <a:ext cx="88582" cy="82006"/>
            </a:xfrm>
            <a:prstGeom prst="rect">
              <a:avLst/>
            </a:prstGeom>
            <a:solidFill>
              <a:srgbClr val="EAF1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2" name="Density voxel / cell | 252"/>
            <p:cNvSpPr/>
            <p:nvPr/>
          </p:nvSpPr>
          <p:spPr>
            <a:xfrm>
              <a:off x="2790190" y="5051697"/>
              <a:ext cx="88582" cy="82006"/>
            </a:xfrm>
            <a:prstGeom prst="rect">
              <a:avLst/>
            </a:prstGeom>
            <a:solidFill>
              <a:srgbClr val="E9F1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3" name="Density voxel / cell | 253"/>
            <p:cNvSpPr/>
            <p:nvPr/>
          </p:nvSpPr>
          <p:spPr>
            <a:xfrm>
              <a:off x="2883852" y="5051697"/>
              <a:ext cx="88582" cy="82006"/>
            </a:xfrm>
            <a:prstGeom prst="rect">
              <a:avLst/>
            </a:prstGeom>
            <a:solidFill>
              <a:srgbClr val="D4E3E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4" name="Density voxel / cell | 254"/>
            <p:cNvSpPr/>
            <p:nvPr/>
          </p:nvSpPr>
          <p:spPr>
            <a:xfrm>
              <a:off x="2977515" y="5051697"/>
              <a:ext cx="88582" cy="82006"/>
            </a:xfrm>
            <a:prstGeom prst="rect">
              <a:avLst/>
            </a:prstGeom>
            <a:solidFill>
              <a:srgbClr val="E0EAF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5" name="Density voxel / cell | 255"/>
            <p:cNvSpPr/>
            <p:nvPr/>
          </p:nvSpPr>
          <p:spPr>
            <a:xfrm>
              <a:off x="3071178" y="5051697"/>
              <a:ext cx="88582" cy="82006"/>
            </a:xfrm>
            <a:prstGeom prst="rect">
              <a:avLst/>
            </a:prstGeom>
            <a:solidFill>
              <a:srgbClr val="F8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6" name="Density voxel / cell | 256"/>
            <p:cNvSpPr/>
            <p:nvPr/>
          </p:nvSpPr>
          <p:spPr>
            <a:xfrm>
              <a:off x="2415540" y="5138783"/>
              <a:ext cx="88582" cy="82006"/>
            </a:xfrm>
            <a:prstGeom prst="rect">
              <a:avLst/>
            </a:prstGeom>
            <a:solidFill>
              <a:srgbClr val="FEFE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7" name="Density voxel / cell | 257"/>
            <p:cNvSpPr/>
            <p:nvPr/>
          </p:nvSpPr>
          <p:spPr>
            <a:xfrm>
              <a:off x="2509202" y="5138783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8" name="Density voxel / cell | 258"/>
            <p:cNvSpPr/>
            <p:nvPr/>
          </p:nvSpPr>
          <p:spPr>
            <a:xfrm>
              <a:off x="2602865" y="5138783"/>
              <a:ext cx="88582" cy="82006"/>
            </a:xfrm>
            <a:prstGeom prst="rect">
              <a:avLst/>
            </a:prstGeom>
            <a:solidFill>
              <a:srgbClr val="F3F7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59" name="Density voxel / cell | 259"/>
            <p:cNvSpPr/>
            <p:nvPr/>
          </p:nvSpPr>
          <p:spPr>
            <a:xfrm>
              <a:off x="2696528" y="5138783"/>
              <a:ext cx="88582" cy="82006"/>
            </a:xfrm>
            <a:prstGeom prst="rect">
              <a:avLst/>
            </a:prstGeom>
            <a:solidFill>
              <a:srgbClr val="F0F5F8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0" name="Density voxel / cell | 260"/>
            <p:cNvSpPr/>
            <p:nvPr/>
          </p:nvSpPr>
          <p:spPr>
            <a:xfrm>
              <a:off x="2790190" y="5138783"/>
              <a:ext cx="88582" cy="82006"/>
            </a:xfrm>
            <a:prstGeom prst="rect">
              <a:avLst/>
            </a:prstGeom>
            <a:solidFill>
              <a:srgbClr val="CBDCE7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1" name="Density voxel / cell | 261"/>
            <p:cNvSpPr/>
            <p:nvPr/>
          </p:nvSpPr>
          <p:spPr>
            <a:xfrm>
              <a:off x="2883852" y="5138783"/>
              <a:ext cx="88582" cy="82006"/>
            </a:xfrm>
            <a:prstGeom prst="rect">
              <a:avLst/>
            </a:prstGeom>
            <a:solidFill>
              <a:srgbClr val="7FAAC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2" name="Density voxel / cell | 262"/>
            <p:cNvSpPr/>
            <p:nvPr/>
          </p:nvSpPr>
          <p:spPr>
            <a:xfrm>
              <a:off x="2977515" y="5138783"/>
              <a:ext cx="88582" cy="82006"/>
            </a:xfrm>
            <a:prstGeom prst="rect">
              <a:avLst/>
            </a:prstGeom>
            <a:solidFill>
              <a:srgbClr val="A0C0D4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3" name="Density voxel / cell | 263"/>
            <p:cNvSpPr/>
            <p:nvPr/>
          </p:nvSpPr>
          <p:spPr>
            <a:xfrm>
              <a:off x="3071178" y="5138783"/>
              <a:ext cx="88582" cy="82006"/>
            </a:xfrm>
            <a:prstGeom prst="rect">
              <a:avLst/>
            </a:prstGeom>
            <a:solidFill>
              <a:srgbClr val="EBF2F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4" name="Density voxel / cell | 264"/>
            <p:cNvSpPr/>
            <p:nvPr/>
          </p:nvSpPr>
          <p:spPr>
            <a:xfrm>
              <a:off x="2415540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5" name="Density voxel / cell | 265"/>
            <p:cNvSpPr/>
            <p:nvPr/>
          </p:nvSpPr>
          <p:spPr>
            <a:xfrm>
              <a:off x="2509202" y="5225869"/>
              <a:ext cx="88582" cy="82006"/>
            </a:xfrm>
            <a:prstGeom prst="rect">
              <a:avLst/>
            </a:prstGeom>
            <a:solidFill>
              <a:srgbClr val="FE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6" name="Density voxel / cell | 266"/>
            <p:cNvSpPr/>
            <p:nvPr/>
          </p:nvSpPr>
          <p:spPr>
            <a:xfrm>
              <a:off x="2602865" y="5225869"/>
              <a:ext cx="88582" cy="82006"/>
            </a:xfrm>
            <a:prstGeom prst="rect">
              <a:avLst/>
            </a:prstGeom>
            <a:solidFill>
              <a:srgbClr val="FCFD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7" name="Density voxel / cell | 267"/>
            <p:cNvSpPr/>
            <p:nvPr/>
          </p:nvSpPr>
          <p:spPr>
            <a:xfrm>
              <a:off x="2696528" y="5225869"/>
              <a:ext cx="88582" cy="82006"/>
            </a:xfrm>
            <a:prstGeom prst="rect">
              <a:avLst/>
            </a:prstGeom>
            <a:solidFill>
              <a:srgbClr val="F8FA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8" name="Density voxel / cell | 268"/>
            <p:cNvSpPr/>
            <p:nvPr/>
          </p:nvSpPr>
          <p:spPr>
            <a:xfrm>
              <a:off x="2790190" y="5225869"/>
              <a:ext cx="88582" cy="82006"/>
            </a:xfrm>
            <a:prstGeom prst="rect">
              <a:avLst/>
            </a:prstGeom>
            <a:solidFill>
              <a:srgbClr val="D3E1E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69" name="Density voxel / cell | 269"/>
            <p:cNvSpPr/>
            <p:nvPr/>
          </p:nvSpPr>
          <p:spPr>
            <a:xfrm>
              <a:off x="2883852" y="5225869"/>
              <a:ext cx="88582" cy="82006"/>
            </a:xfrm>
            <a:prstGeom prst="rect">
              <a:avLst/>
            </a:prstGeom>
            <a:solidFill>
              <a:srgbClr val="8EB4C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0" name="Density voxel / cell | 270"/>
            <p:cNvSpPr/>
            <p:nvPr/>
          </p:nvSpPr>
          <p:spPr>
            <a:xfrm>
              <a:off x="2977515" y="5225869"/>
              <a:ext cx="88582" cy="82006"/>
            </a:xfrm>
            <a:prstGeom prst="rect">
              <a:avLst/>
            </a:prstGeom>
            <a:solidFill>
              <a:srgbClr val="ABC7D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1" name="Density voxel / cell | 271"/>
            <p:cNvSpPr/>
            <p:nvPr/>
          </p:nvSpPr>
          <p:spPr>
            <a:xfrm>
              <a:off x="3071178" y="5225869"/>
              <a:ext cx="88582" cy="82006"/>
            </a:xfrm>
            <a:prstGeom prst="rect">
              <a:avLst/>
            </a:prstGeom>
            <a:solidFill>
              <a:srgbClr val="EDF3F7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2" name="Density voxel / cell | 272"/>
            <p:cNvSpPr/>
            <p:nvPr/>
          </p:nvSpPr>
          <p:spPr>
            <a:xfrm>
              <a:off x="2415540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3" name="Density voxel / cell | 273"/>
            <p:cNvSpPr/>
            <p:nvPr/>
          </p:nvSpPr>
          <p:spPr>
            <a:xfrm>
              <a:off x="2509202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4" name="Density voxel / cell | 274"/>
            <p:cNvSpPr/>
            <p:nvPr/>
          </p:nvSpPr>
          <p:spPr>
            <a:xfrm>
              <a:off x="2602865" y="5312954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5" name="Density voxel / cell | 275"/>
            <p:cNvSpPr/>
            <p:nvPr/>
          </p:nvSpPr>
          <p:spPr>
            <a:xfrm>
              <a:off x="2696528" y="5312954"/>
              <a:ext cx="88582" cy="82006"/>
            </a:xfrm>
            <a:prstGeom prst="rect">
              <a:avLst/>
            </a:prstGeom>
            <a:solidFill>
              <a:srgbClr val="FDFE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6" name="Density voxel / cell | 276"/>
            <p:cNvSpPr/>
            <p:nvPr/>
          </p:nvSpPr>
          <p:spPr>
            <a:xfrm>
              <a:off x="2790190" y="5312954"/>
              <a:ext cx="88582" cy="82006"/>
            </a:xfrm>
            <a:prstGeom prst="rect">
              <a:avLst/>
            </a:prstGeom>
            <a:solidFill>
              <a:srgbClr val="F4F7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7" name="Density voxel / cell | 277"/>
            <p:cNvSpPr/>
            <p:nvPr/>
          </p:nvSpPr>
          <p:spPr>
            <a:xfrm>
              <a:off x="2883852" y="5312954"/>
              <a:ext cx="88582" cy="82006"/>
            </a:xfrm>
            <a:prstGeom prst="rect">
              <a:avLst/>
            </a:prstGeom>
            <a:solidFill>
              <a:srgbClr val="E2ECF2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8" name="Density voxel / cell | 278"/>
            <p:cNvSpPr/>
            <p:nvPr/>
          </p:nvSpPr>
          <p:spPr>
            <a:xfrm>
              <a:off x="2977515" y="5312954"/>
              <a:ext cx="88582" cy="82006"/>
            </a:xfrm>
            <a:prstGeom prst="rect">
              <a:avLst/>
            </a:prstGeom>
            <a:solidFill>
              <a:srgbClr val="EAF1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79" name="Density voxel / cell | 279"/>
            <p:cNvSpPr/>
            <p:nvPr/>
          </p:nvSpPr>
          <p:spPr>
            <a:xfrm>
              <a:off x="3071178" y="5312954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0" name="Text | M_diff"/>
            <p:cNvSpPr txBox="1"/>
            <p:nvPr/>
          </p:nvSpPr>
          <p:spPr>
            <a:xfrm>
              <a:off x="2499916" y="5480050"/>
              <a:ext cx="575469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M_diff</a:t>
              </a:r>
              <a:endParaRPr lang="en-US" sz="1250"/>
            </a:p>
          </p:txBody>
        </p:sp>
        <p:sp>
          <p:nvSpPr>
            <p:cNvPr id="281" name="Panel / block / cell | 281"/>
            <p:cNvSpPr/>
            <p:nvPr/>
          </p:nvSpPr>
          <p:spPr>
            <a:xfrm>
              <a:off x="3416300" y="4787900"/>
              <a:ext cx="749300" cy="609600"/>
            </a:xfrm>
            <a:prstGeom prst="rect">
              <a:avLst/>
            </a:prstGeom>
            <a:solidFill>
              <a:srgbClr val="FFFFFF"/>
            </a:solidFill>
            <a:ln w="1016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2" name="Density voxel / cell | 282"/>
            <p:cNvSpPr/>
            <p:nvPr/>
          </p:nvSpPr>
          <p:spPr>
            <a:xfrm>
              <a:off x="3418840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3" name="Density voxel / cell | 283"/>
            <p:cNvSpPr/>
            <p:nvPr/>
          </p:nvSpPr>
          <p:spPr>
            <a:xfrm>
              <a:off x="3512502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4" name="Density voxel / cell | 284"/>
            <p:cNvSpPr/>
            <p:nvPr/>
          </p:nvSpPr>
          <p:spPr>
            <a:xfrm>
              <a:off x="3606165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5" name="Density voxel / cell | 285"/>
            <p:cNvSpPr/>
            <p:nvPr/>
          </p:nvSpPr>
          <p:spPr>
            <a:xfrm>
              <a:off x="3699828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6" name="Density voxel / cell | 286"/>
            <p:cNvSpPr/>
            <p:nvPr/>
          </p:nvSpPr>
          <p:spPr>
            <a:xfrm>
              <a:off x="3793490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7" name="Density voxel / cell | 287"/>
            <p:cNvSpPr/>
            <p:nvPr/>
          </p:nvSpPr>
          <p:spPr>
            <a:xfrm>
              <a:off x="3887152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8" name="Density voxel / cell | 288"/>
            <p:cNvSpPr/>
            <p:nvPr/>
          </p:nvSpPr>
          <p:spPr>
            <a:xfrm>
              <a:off x="3980815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89" name="Density voxel / cell | 289"/>
            <p:cNvSpPr/>
            <p:nvPr/>
          </p:nvSpPr>
          <p:spPr>
            <a:xfrm>
              <a:off x="4074478" y="4790440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0" name="Density voxel / cell | 290"/>
            <p:cNvSpPr/>
            <p:nvPr/>
          </p:nvSpPr>
          <p:spPr>
            <a:xfrm>
              <a:off x="3418840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1" name="Density voxel / cell | 291"/>
            <p:cNvSpPr/>
            <p:nvPr/>
          </p:nvSpPr>
          <p:spPr>
            <a:xfrm>
              <a:off x="3512502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2" name="Density voxel / cell | 292"/>
            <p:cNvSpPr/>
            <p:nvPr/>
          </p:nvSpPr>
          <p:spPr>
            <a:xfrm>
              <a:off x="3606165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3" name="Density voxel / cell | 293"/>
            <p:cNvSpPr/>
            <p:nvPr/>
          </p:nvSpPr>
          <p:spPr>
            <a:xfrm>
              <a:off x="3699828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4" name="Density voxel / cell | 294"/>
            <p:cNvSpPr/>
            <p:nvPr/>
          </p:nvSpPr>
          <p:spPr>
            <a:xfrm>
              <a:off x="3793490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5" name="Density voxel / cell | 295"/>
            <p:cNvSpPr/>
            <p:nvPr/>
          </p:nvSpPr>
          <p:spPr>
            <a:xfrm>
              <a:off x="3887152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6" name="Density voxel / cell | 296"/>
            <p:cNvSpPr/>
            <p:nvPr/>
          </p:nvSpPr>
          <p:spPr>
            <a:xfrm>
              <a:off x="3980815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7" name="Density voxel / cell | 297"/>
            <p:cNvSpPr/>
            <p:nvPr/>
          </p:nvSpPr>
          <p:spPr>
            <a:xfrm>
              <a:off x="4074478" y="4877526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8" name="Density voxel / cell | 298"/>
            <p:cNvSpPr/>
            <p:nvPr/>
          </p:nvSpPr>
          <p:spPr>
            <a:xfrm>
              <a:off x="3418840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299" name="Density voxel / cell | 299"/>
            <p:cNvSpPr/>
            <p:nvPr/>
          </p:nvSpPr>
          <p:spPr>
            <a:xfrm>
              <a:off x="3512502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0" name="Density voxel / cell | 300"/>
            <p:cNvSpPr/>
            <p:nvPr/>
          </p:nvSpPr>
          <p:spPr>
            <a:xfrm>
              <a:off x="3606165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1" name="Density voxel / cell | 301"/>
            <p:cNvSpPr/>
            <p:nvPr/>
          </p:nvSpPr>
          <p:spPr>
            <a:xfrm>
              <a:off x="3699828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2" name="Density voxel / cell | 302"/>
            <p:cNvSpPr/>
            <p:nvPr/>
          </p:nvSpPr>
          <p:spPr>
            <a:xfrm>
              <a:off x="3793490" y="4964611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3" name="Density voxel / cell | 303"/>
            <p:cNvSpPr/>
            <p:nvPr/>
          </p:nvSpPr>
          <p:spPr>
            <a:xfrm>
              <a:off x="3887152" y="4964611"/>
              <a:ext cx="88582" cy="82006"/>
            </a:xfrm>
            <a:prstGeom prst="rect">
              <a:avLst/>
            </a:prstGeom>
            <a:solidFill>
              <a:srgbClr val="FCFD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4" name="Density voxel / cell | 304"/>
            <p:cNvSpPr/>
            <p:nvPr/>
          </p:nvSpPr>
          <p:spPr>
            <a:xfrm>
              <a:off x="3980815" y="4964611"/>
              <a:ext cx="88582" cy="82006"/>
            </a:xfrm>
            <a:prstGeom prst="rect">
              <a:avLst/>
            </a:prstGeom>
            <a:solidFill>
              <a:srgbClr val="FC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5" name="Density voxel / cell | 305"/>
            <p:cNvSpPr/>
            <p:nvPr/>
          </p:nvSpPr>
          <p:spPr>
            <a:xfrm>
              <a:off x="4074478" y="4964611"/>
              <a:ext cx="88582" cy="82006"/>
            </a:xfrm>
            <a:prstGeom prst="rect">
              <a:avLst/>
            </a:prstGeom>
            <a:solidFill>
              <a:srgbClr val="FE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6" name="Density voxel / cell | 306"/>
            <p:cNvSpPr/>
            <p:nvPr/>
          </p:nvSpPr>
          <p:spPr>
            <a:xfrm>
              <a:off x="3418840" y="5051697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7" name="Density voxel / cell | 307"/>
            <p:cNvSpPr/>
            <p:nvPr/>
          </p:nvSpPr>
          <p:spPr>
            <a:xfrm>
              <a:off x="3512502" y="5051697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8" name="Density voxel / cell | 308"/>
            <p:cNvSpPr/>
            <p:nvPr/>
          </p:nvSpPr>
          <p:spPr>
            <a:xfrm>
              <a:off x="3606165" y="5051697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09" name="Density voxel / cell | 309"/>
            <p:cNvSpPr/>
            <p:nvPr/>
          </p:nvSpPr>
          <p:spPr>
            <a:xfrm>
              <a:off x="3699828" y="5051697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0" name="Density voxel / cell | 310"/>
            <p:cNvSpPr/>
            <p:nvPr/>
          </p:nvSpPr>
          <p:spPr>
            <a:xfrm>
              <a:off x="3793490" y="5051697"/>
              <a:ext cx="88582" cy="82006"/>
            </a:xfrm>
            <a:prstGeom prst="rect">
              <a:avLst/>
            </a:prstGeom>
            <a:solidFill>
              <a:srgbClr val="F4F7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1" name="Density voxel / cell | 311"/>
            <p:cNvSpPr/>
            <p:nvPr/>
          </p:nvSpPr>
          <p:spPr>
            <a:xfrm>
              <a:off x="3887152" y="5051697"/>
              <a:ext cx="88582" cy="82006"/>
            </a:xfrm>
            <a:prstGeom prst="rect">
              <a:avLst/>
            </a:prstGeom>
            <a:solidFill>
              <a:srgbClr val="D5E3E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2" name="Density voxel / cell | 312"/>
            <p:cNvSpPr/>
            <p:nvPr/>
          </p:nvSpPr>
          <p:spPr>
            <a:xfrm>
              <a:off x="3980815" y="5051697"/>
              <a:ext cx="88582" cy="82006"/>
            </a:xfrm>
            <a:prstGeom prst="rect">
              <a:avLst/>
            </a:prstGeom>
            <a:solidFill>
              <a:srgbClr val="E0EAF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3" name="Density voxel / cell | 313"/>
            <p:cNvSpPr/>
            <p:nvPr/>
          </p:nvSpPr>
          <p:spPr>
            <a:xfrm>
              <a:off x="4074478" y="5051697"/>
              <a:ext cx="88582" cy="82006"/>
            </a:xfrm>
            <a:prstGeom prst="rect">
              <a:avLst/>
            </a:prstGeom>
            <a:solidFill>
              <a:srgbClr val="F8FBF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4" name="Density voxel / cell | 314"/>
            <p:cNvSpPr/>
            <p:nvPr/>
          </p:nvSpPr>
          <p:spPr>
            <a:xfrm>
              <a:off x="3418840" y="5138783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5" name="Density voxel / cell | 315"/>
            <p:cNvSpPr/>
            <p:nvPr/>
          </p:nvSpPr>
          <p:spPr>
            <a:xfrm>
              <a:off x="3512502" y="5138783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6" name="Density voxel / cell | 316"/>
            <p:cNvSpPr/>
            <p:nvPr/>
          </p:nvSpPr>
          <p:spPr>
            <a:xfrm>
              <a:off x="3606165" y="5138783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7" name="Density voxel / cell | 317"/>
            <p:cNvSpPr/>
            <p:nvPr/>
          </p:nvSpPr>
          <p:spPr>
            <a:xfrm>
              <a:off x="3699828" y="5138783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8" name="Density voxel / cell | 318"/>
            <p:cNvSpPr/>
            <p:nvPr/>
          </p:nvSpPr>
          <p:spPr>
            <a:xfrm>
              <a:off x="3793490" y="5138783"/>
              <a:ext cx="88582" cy="82006"/>
            </a:xfrm>
            <a:prstGeom prst="rect">
              <a:avLst/>
            </a:prstGeom>
            <a:solidFill>
              <a:srgbClr val="D0E0E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19" name="Density voxel / cell | 319"/>
            <p:cNvSpPr/>
            <p:nvPr/>
          </p:nvSpPr>
          <p:spPr>
            <a:xfrm>
              <a:off x="3887152" y="5138783"/>
              <a:ext cx="88582" cy="82006"/>
            </a:xfrm>
            <a:prstGeom prst="rect">
              <a:avLst/>
            </a:prstGeom>
            <a:solidFill>
              <a:srgbClr val="7FAAC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0" name="Density voxel / cell | 320"/>
            <p:cNvSpPr/>
            <p:nvPr/>
          </p:nvSpPr>
          <p:spPr>
            <a:xfrm>
              <a:off x="3980815" y="5138783"/>
              <a:ext cx="88582" cy="82006"/>
            </a:xfrm>
            <a:prstGeom prst="rect">
              <a:avLst/>
            </a:prstGeom>
            <a:solidFill>
              <a:srgbClr val="A0C0D4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1" name="Density voxel / cell | 321"/>
            <p:cNvSpPr/>
            <p:nvPr/>
          </p:nvSpPr>
          <p:spPr>
            <a:xfrm>
              <a:off x="4074478" y="5138783"/>
              <a:ext cx="88582" cy="82006"/>
            </a:xfrm>
            <a:prstGeom prst="rect">
              <a:avLst/>
            </a:prstGeom>
            <a:solidFill>
              <a:srgbClr val="EBF2F6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2" name="Density voxel / cell | 322"/>
            <p:cNvSpPr/>
            <p:nvPr/>
          </p:nvSpPr>
          <p:spPr>
            <a:xfrm>
              <a:off x="3418840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3" name="Density voxel / cell | 323"/>
            <p:cNvSpPr/>
            <p:nvPr/>
          </p:nvSpPr>
          <p:spPr>
            <a:xfrm>
              <a:off x="3512502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4" name="Density voxel / cell | 324"/>
            <p:cNvSpPr/>
            <p:nvPr/>
          </p:nvSpPr>
          <p:spPr>
            <a:xfrm>
              <a:off x="3606165" y="5225869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5" name="Density voxel / cell | 325"/>
            <p:cNvSpPr/>
            <p:nvPr/>
          </p:nvSpPr>
          <p:spPr>
            <a:xfrm>
              <a:off x="3699828" y="5225869"/>
              <a:ext cx="88582" cy="82006"/>
            </a:xfrm>
            <a:prstGeom prst="rect">
              <a:avLst/>
            </a:prstGeom>
            <a:solidFill>
              <a:srgbClr val="FDFDF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6" name="Density voxel / cell | 326"/>
            <p:cNvSpPr/>
            <p:nvPr/>
          </p:nvSpPr>
          <p:spPr>
            <a:xfrm>
              <a:off x="3793490" y="5225869"/>
              <a:ext cx="88582" cy="82006"/>
            </a:xfrm>
            <a:prstGeom prst="rect">
              <a:avLst/>
            </a:prstGeom>
            <a:solidFill>
              <a:srgbClr val="D4E2EB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7" name="Density voxel / cell | 327"/>
            <p:cNvSpPr/>
            <p:nvPr/>
          </p:nvSpPr>
          <p:spPr>
            <a:xfrm>
              <a:off x="3887152" y="5225869"/>
              <a:ext cx="88582" cy="82006"/>
            </a:xfrm>
            <a:prstGeom prst="rect">
              <a:avLst/>
            </a:prstGeom>
            <a:solidFill>
              <a:srgbClr val="8EB4CC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8" name="Density voxel / cell | 328"/>
            <p:cNvSpPr/>
            <p:nvPr/>
          </p:nvSpPr>
          <p:spPr>
            <a:xfrm>
              <a:off x="3980815" y="5225869"/>
              <a:ext cx="88582" cy="82006"/>
            </a:xfrm>
            <a:prstGeom prst="rect">
              <a:avLst/>
            </a:prstGeom>
            <a:solidFill>
              <a:srgbClr val="ABC7D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29" name="Density voxel / cell | 329"/>
            <p:cNvSpPr/>
            <p:nvPr/>
          </p:nvSpPr>
          <p:spPr>
            <a:xfrm>
              <a:off x="4074478" y="5225869"/>
              <a:ext cx="88582" cy="82006"/>
            </a:xfrm>
            <a:prstGeom prst="rect">
              <a:avLst/>
            </a:prstGeom>
            <a:solidFill>
              <a:srgbClr val="EDF3F7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0" name="Density voxel / cell | 330"/>
            <p:cNvSpPr/>
            <p:nvPr/>
          </p:nvSpPr>
          <p:spPr>
            <a:xfrm>
              <a:off x="3418840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1" name="Density voxel / cell | 331"/>
            <p:cNvSpPr/>
            <p:nvPr/>
          </p:nvSpPr>
          <p:spPr>
            <a:xfrm>
              <a:off x="3512502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2" name="Density voxel / cell | 332"/>
            <p:cNvSpPr/>
            <p:nvPr/>
          </p:nvSpPr>
          <p:spPr>
            <a:xfrm>
              <a:off x="3606165" y="5312954"/>
              <a:ext cx="88582" cy="820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3" name="Density voxel / cell | 333"/>
            <p:cNvSpPr/>
            <p:nvPr/>
          </p:nvSpPr>
          <p:spPr>
            <a:xfrm>
              <a:off x="3699828" y="5312954"/>
              <a:ext cx="88582" cy="82006"/>
            </a:xfrm>
            <a:prstGeom prst="rect">
              <a:avLst/>
            </a:prstGeom>
            <a:solidFill>
              <a:srgbClr val="FEFE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4" name="Density voxel / cell | 334"/>
            <p:cNvSpPr/>
            <p:nvPr/>
          </p:nvSpPr>
          <p:spPr>
            <a:xfrm>
              <a:off x="3793490" y="5312954"/>
              <a:ext cx="88582" cy="82006"/>
            </a:xfrm>
            <a:prstGeom prst="rect">
              <a:avLst/>
            </a:prstGeom>
            <a:solidFill>
              <a:srgbClr val="F4F8FA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5" name="Density voxel / cell | 335"/>
            <p:cNvSpPr/>
            <p:nvPr/>
          </p:nvSpPr>
          <p:spPr>
            <a:xfrm>
              <a:off x="3887152" y="5312954"/>
              <a:ext cx="88582" cy="82006"/>
            </a:xfrm>
            <a:prstGeom prst="rect">
              <a:avLst/>
            </a:prstGeom>
            <a:solidFill>
              <a:srgbClr val="E2ECF2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6" name="Density voxel / cell | 336"/>
            <p:cNvSpPr/>
            <p:nvPr/>
          </p:nvSpPr>
          <p:spPr>
            <a:xfrm>
              <a:off x="3980815" y="5312954"/>
              <a:ext cx="88582" cy="82006"/>
            </a:xfrm>
            <a:prstGeom prst="rect">
              <a:avLst/>
            </a:prstGeom>
            <a:solidFill>
              <a:srgbClr val="EAF1F5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7" name="Density voxel / cell | 337"/>
            <p:cNvSpPr/>
            <p:nvPr/>
          </p:nvSpPr>
          <p:spPr>
            <a:xfrm>
              <a:off x="4074478" y="5312954"/>
              <a:ext cx="88582" cy="82006"/>
            </a:xfrm>
            <a:prstGeom prst="rect">
              <a:avLst/>
            </a:prstGeom>
            <a:solidFill>
              <a:srgbClr val="FAFCF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38" name="Text | M_diff+"/>
            <p:cNvSpPr txBox="1"/>
            <p:nvPr/>
          </p:nvSpPr>
          <p:spPr>
            <a:xfrm>
              <a:off x="3456861" y="5480050"/>
              <a:ext cx="668179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M_diff+</a:t>
              </a:r>
              <a:endParaRPr lang="en-US" sz="1250"/>
            </a:p>
          </p:txBody>
        </p:sp>
        <p:sp>
          <p:nvSpPr>
            <p:cNvPr id="339" name="Text | 4 base fields"/>
            <p:cNvSpPr txBox="1"/>
            <p:nvPr/>
          </p:nvSpPr>
          <p:spPr>
            <a:xfrm>
              <a:off x="1719880" y="5788660"/>
              <a:ext cx="1157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2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4 base fields</a:t>
              </a:r>
              <a:endParaRPr lang="en-US" sz="1320"/>
            </a:p>
          </p:txBody>
        </p:sp>
        <p:cxnSp>
          <p:nvCxnSpPr>
            <p:cNvPr id="340" name="Arrow | 340"/>
            <p:cNvCxnSpPr/>
            <p:nvPr/>
          </p:nvCxnSpPr>
          <p:spPr>
            <a:xfrm>
              <a:off x="2298700" y="6070600"/>
              <a:ext cx="0" cy="197206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1" name="Panel / block / cell | 341"/>
            <p:cNvSpPr/>
            <p:nvPr/>
          </p:nvSpPr>
          <p:spPr>
            <a:xfrm>
              <a:off x="419100" y="6350000"/>
              <a:ext cx="3860800" cy="698500"/>
            </a:xfrm>
            <a:prstGeom prst="roundRect">
              <a:avLst>
                <a:gd name="adj" fmla="val 5455"/>
              </a:avLst>
            </a:prstGeom>
            <a:solidFill>
              <a:srgbClr val="F6F8F9"/>
            </a:solidFill>
            <a:ln w="1397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42" name="Text | 2 normalizations"/>
            <p:cNvSpPr txBox="1"/>
            <p:nvPr/>
          </p:nvSpPr>
          <p:spPr>
            <a:xfrm>
              <a:off x="1569303" y="6483350"/>
              <a:ext cx="1560393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2 normalizations</a:t>
              </a:r>
              <a:endParaRPr lang="en-US" sz="1400"/>
            </a:p>
          </p:txBody>
        </p:sp>
        <p:sp>
          <p:nvSpPr>
            <p:cNvPr id="343" name="Text | Raw / clipped z-score"/>
            <p:cNvSpPr txBox="1"/>
            <p:nvPr/>
          </p:nvSpPr>
          <p:spPr>
            <a:xfrm>
              <a:off x="1517739" y="6731000"/>
              <a:ext cx="1663521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Raw / clipped z-score</a:t>
              </a:r>
              <a:endParaRPr lang="en-US" sz="1250"/>
            </a:p>
          </p:txBody>
        </p:sp>
        <p:cxnSp>
          <p:nvCxnSpPr>
            <p:cNvPr id="344" name="Arrow | 344"/>
            <p:cNvCxnSpPr/>
            <p:nvPr/>
          </p:nvCxnSpPr>
          <p:spPr>
            <a:xfrm>
              <a:off x="2298700" y="7137400"/>
              <a:ext cx="0" cy="222606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5" name="Panel / block / cell | 345"/>
            <p:cNvSpPr/>
            <p:nvPr/>
          </p:nvSpPr>
          <p:spPr>
            <a:xfrm>
              <a:off x="419100" y="7442200"/>
              <a:ext cx="3860800" cy="927100"/>
            </a:xfrm>
            <a:prstGeom prst="roundRect">
              <a:avLst>
                <a:gd name="adj" fmla="val 4110"/>
              </a:avLst>
            </a:prstGeom>
            <a:solidFill>
              <a:srgbClr val="F6F8F9"/>
            </a:solidFill>
            <a:ln w="1397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46" name="Panel / block / cell | 346"/>
            <p:cNvSpPr/>
            <p:nvPr/>
          </p:nvSpPr>
          <p:spPr>
            <a:xfrm>
              <a:off x="571500" y="7594600"/>
              <a:ext cx="3556000" cy="609600"/>
            </a:xfrm>
            <a:prstGeom prst="rect">
              <a:avLst/>
            </a:prstGeom>
            <a:solidFill>
              <a:srgbClr val="F6F8F9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47" name="Text | 7 spatial views"/>
            <p:cNvSpPr txBox="1"/>
            <p:nvPr/>
          </p:nvSpPr>
          <p:spPr>
            <a:xfrm>
              <a:off x="1648142" y="7543800"/>
              <a:ext cx="1402715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7 spatial views</a:t>
              </a:r>
              <a:endParaRPr lang="en-US" sz="1400"/>
            </a:p>
          </p:txBody>
        </p:sp>
        <p:sp>
          <p:nvSpPr>
            <p:cNvPr id="348" name="Text | Identity · Gaussian ×2 · DoG ×2"/>
            <p:cNvSpPr txBox="1"/>
            <p:nvPr/>
          </p:nvSpPr>
          <p:spPr>
            <a:xfrm>
              <a:off x="1183950" y="7846060"/>
              <a:ext cx="2331101" cy="21691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Identity · Gaussian ×2 · DoG ×2</a:t>
              </a:r>
              <a:endParaRPr lang="en-US" sz="1220"/>
            </a:p>
          </p:txBody>
        </p:sp>
        <p:sp>
          <p:nvSpPr>
            <p:cNvPr id="349" name="Text | Receptor suppression ×2"/>
            <p:cNvSpPr txBox="1"/>
            <p:nvPr/>
          </p:nvSpPr>
          <p:spPr>
            <a:xfrm>
              <a:off x="1414226" y="8087360"/>
              <a:ext cx="1870547" cy="21691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Receptor suppression ×2</a:t>
              </a:r>
              <a:endParaRPr lang="en-US" sz="1220"/>
            </a:p>
          </p:txBody>
        </p:sp>
        <p:cxnSp>
          <p:nvCxnSpPr>
            <p:cNvPr id="350" name="Arrow | 350"/>
            <p:cNvCxnSpPr/>
            <p:nvPr/>
          </p:nvCxnSpPr>
          <p:spPr>
            <a:xfrm>
              <a:off x="2298700" y="8445500"/>
              <a:ext cx="0" cy="171806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51" name="Panel / block / cell | 351"/>
            <p:cNvSpPr/>
            <p:nvPr/>
          </p:nvSpPr>
          <p:spPr>
            <a:xfrm>
              <a:off x="1028700" y="87249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52" name="Panel / block / cell | 352"/>
            <p:cNvSpPr/>
            <p:nvPr/>
          </p:nvSpPr>
          <p:spPr>
            <a:xfrm>
              <a:off x="965200" y="87630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53" name="Panel / block / cell | 353"/>
            <p:cNvSpPr/>
            <p:nvPr/>
          </p:nvSpPr>
          <p:spPr>
            <a:xfrm>
              <a:off x="901700" y="88011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54" name="Panel / block / cell | 354"/>
            <p:cNvSpPr/>
            <p:nvPr/>
          </p:nvSpPr>
          <p:spPr>
            <a:xfrm>
              <a:off x="838200" y="88392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55" name="Panel / block / cell | 355"/>
            <p:cNvSpPr/>
            <p:nvPr/>
          </p:nvSpPr>
          <p:spPr>
            <a:xfrm>
              <a:off x="774700" y="88773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56" name="Panel / block / cell | 356"/>
            <p:cNvSpPr/>
            <p:nvPr/>
          </p:nvSpPr>
          <p:spPr>
            <a:xfrm>
              <a:off x="711200" y="89154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57" name="Panel / block / cell | 357"/>
            <p:cNvSpPr/>
            <p:nvPr/>
          </p:nvSpPr>
          <p:spPr>
            <a:xfrm>
              <a:off x="647700" y="8953500"/>
              <a:ext cx="927100" cy="546100"/>
            </a:xfrm>
            <a:prstGeom prst="rect">
              <a:avLst/>
            </a:prstGeom>
            <a:solidFill>
              <a:srgbClr val="E3EDF2"/>
            </a:solidFill>
            <a:ln w="10795" cap="flat" cmpd="sng" algn="ctr">
              <a:solidFill>
                <a:srgbClr val="84ADC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358" name="Line / bond / contour | 358"/>
            <p:cNvCxnSpPr/>
            <p:nvPr/>
          </p:nvCxnSpPr>
          <p:spPr>
            <a:xfrm>
              <a:off x="647700" y="9090025"/>
              <a:ext cx="927100" cy="0"/>
            </a:xfrm>
            <a:prstGeom prst="line">
              <a:avLst/>
            </a:prstGeom>
            <a:noFill/>
            <a:ln w="8255" cap="rnd" cmpd="sng" algn="ctr">
              <a:solidFill>
                <a:srgbClr val="AAC6D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Line / bond / contour | 359"/>
            <p:cNvCxnSpPr/>
            <p:nvPr/>
          </p:nvCxnSpPr>
          <p:spPr>
            <a:xfrm>
              <a:off x="647700" y="9226550"/>
              <a:ext cx="927100" cy="0"/>
            </a:xfrm>
            <a:prstGeom prst="line">
              <a:avLst/>
            </a:prstGeom>
            <a:noFill/>
            <a:ln w="8255" cap="rnd" cmpd="sng" algn="ctr">
              <a:solidFill>
                <a:srgbClr val="AAC6D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Line / bond / contour | 360"/>
            <p:cNvCxnSpPr/>
            <p:nvPr/>
          </p:nvCxnSpPr>
          <p:spPr>
            <a:xfrm>
              <a:off x="647700" y="9363075"/>
              <a:ext cx="927100" cy="0"/>
            </a:xfrm>
            <a:prstGeom prst="line">
              <a:avLst/>
            </a:prstGeom>
            <a:noFill/>
            <a:ln w="8255" cap="rnd" cmpd="sng" algn="ctr">
              <a:solidFill>
                <a:srgbClr val="AAC6D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1" name="Text | 56 channels"/>
            <p:cNvSpPr txBox="1"/>
            <p:nvPr/>
          </p:nvSpPr>
          <p:spPr>
            <a:xfrm>
              <a:off x="2252970" y="8826500"/>
              <a:ext cx="1336060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56 channels</a:t>
              </a:r>
              <a:endParaRPr lang="en-US" sz="1600"/>
            </a:p>
          </p:txBody>
        </p:sp>
        <p:sp>
          <p:nvSpPr>
            <p:cNvPr id="362" name="Text | 4 × 2 × 7"/>
            <p:cNvSpPr txBox="1"/>
            <p:nvPr/>
          </p:nvSpPr>
          <p:spPr>
            <a:xfrm>
              <a:off x="2520166" y="9144000"/>
              <a:ext cx="801668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4 × 2 × 7</a:t>
              </a:r>
              <a:endParaRPr lang="en-US" sz="1300"/>
            </a:p>
          </p:txBody>
        </p:sp>
        <p:cxnSp>
          <p:nvCxnSpPr>
            <p:cNvPr id="363" name="Line / bond / contour | 363"/>
            <p:cNvCxnSpPr/>
            <p:nvPr/>
          </p:nvCxnSpPr>
          <p:spPr>
            <a:xfrm>
              <a:off x="419100" y="9766300"/>
              <a:ext cx="3860800" cy="0"/>
            </a:xfrm>
            <a:prstGeom prst="line">
              <a:avLst/>
            </a:prstGeom>
            <a:noFill/>
            <a:ln w="12700" cap="rnd" cmpd="sng" algn="ctr">
              <a:solidFill>
                <a:srgbClr val="E1E6E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4" name="Text | Receptor atom representation"/>
            <p:cNvSpPr txBox="1"/>
            <p:nvPr/>
          </p:nvSpPr>
          <p:spPr>
            <a:xfrm>
              <a:off x="419100" y="9906000"/>
              <a:ext cx="2686764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Receptor atom representation</a:t>
              </a:r>
              <a:endParaRPr lang="en-US" sz="1400"/>
            </a:p>
          </p:txBody>
        </p:sp>
        <p:cxnSp>
          <p:nvCxnSpPr>
            <p:cNvPr id="365" name="Line / bond / contour | 365"/>
            <p:cNvCxnSpPr/>
            <p:nvPr/>
          </p:nvCxnSpPr>
          <p:spPr>
            <a:xfrm flipV="1">
              <a:off x="537464" y="10426954"/>
              <a:ext cx="224536" cy="228346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Line / bond / contour | 366"/>
            <p:cNvCxnSpPr/>
            <p:nvPr/>
          </p:nvCxnSpPr>
          <p:spPr>
            <a:xfrm>
              <a:off x="537464" y="10655300"/>
              <a:ext cx="409448" cy="110490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Line / bond / contour | 367"/>
            <p:cNvCxnSpPr/>
            <p:nvPr/>
          </p:nvCxnSpPr>
          <p:spPr>
            <a:xfrm>
              <a:off x="762000" y="10426954"/>
              <a:ext cx="383032" cy="95758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Line / bond / contour | 368"/>
            <p:cNvCxnSpPr/>
            <p:nvPr/>
          </p:nvCxnSpPr>
          <p:spPr>
            <a:xfrm flipV="1">
              <a:off x="946912" y="10522712"/>
              <a:ext cx="198120" cy="243078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Line / bond / contour | 369"/>
            <p:cNvCxnSpPr/>
            <p:nvPr/>
          </p:nvCxnSpPr>
          <p:spPr>
            <a:xfrm>
              <a:off x="946912" y="10765790"/>
              <a:ext cx="92456" cy="228346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Line / bond / contour | 370"/>
            <p:cNvCxnSpPr/>
            <p:nvPr/>
          </p:nvCxnSpPr>
          <p:spPr>
            <a:xfrm>
              <a:off x="1145032" y="10522712"/>
              <a:ext cx="409448" cy="51562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Line / bond / contour | 371"/>
            <p:cNvCxnSpPr/>
            <p:nvPr/>
          </p:nvCxnSpPr>
          <p:spPr>
            <a:xfrm flipV="1">
              <a:off x="1303528" y="10574274"/>
              <a:ext cx="250952" cy="272542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Line / bond / contour | 372"/>
            <p:cNvCxnSpPr/>
            <p:nvPr/>
          </p:nvCxnSpPr>
          <p:spPr>
            <a:xfrm flipH="1">
              <a:off x="1039368" y="10846816"/>
              <a:ext cx="264160" cy="147320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Line / bond / contour | 373"/>
            <p:cNvCxnSpPr/>
            <p:nvPr/>
          </p:nvCxnSpPr>
          <p:spPr>
            <a:xfrm>
              <a:off x="1554480" y="10574274"/>
              <a:ext cx="79248" cy="338836"/>
            </a:xfrm>
            <a:prstGeom prst="line">
              <a:avLst/>
            </a:prstGeom>
            <a:noFill/>
            <a:ln w="13335" cap="rnd" cmpd="sng" algn="ctr">
              <a:solidFill>
                <a:srgbClr val="A495B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4" name="Point / atom | 374"/>
            <p:cNvSpPr/>
            <p:nvPr/>
          </p:nvSpPr>
          <p:spPr>
            <a:xfrm>
              <a:off x="494284" y="10612120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75" name="Point / atom | 375"/>
            <p:cNvSpPr/>
            <p:nvPr/>
          </p:nvSpPr>
          <p:spPr>
            <a:xfrm>
              <a:off x="718820" y="10383774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76" name="Point / atom | 376"/>
            <p:cNvSpPr/>
            <p:nvPr/>
          </p:nvSpPr>
          <p:spPr>
            <a:xfrm>
              <a:off x="903732" y="10722610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77" name="Point / atom | 377"/>
            <p:cNvSpPr/>
            <p:nvPr/>
          </p:nvSpPr>
          <p:spPr>
            <a:xfrm>
              <a:off x="1101852" y="10479532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78" name="Point / atom | 378"/>
            <p:cNvSpPr/>
            <p:nvPr/>
          </p:nvSpPr>
          <p:spPr>
            <a:xfrm>
              <a:off x="1260348" y="10803636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79" name="Point / atom | 379"/>
            <p:cNvSpPr/>
            <p:nvPr/>
          </p:nvSpPr>
          <p:spPr>
            <a:xfrm>
              <a:off x="1511300" y="10531094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0" name="Point / atom | 380"/>
            <p:cNvSpPr/>
            <p:nvPr/>
          </p:nvSpPr>
          <p:spPr>
            <a:xfrm>
              <a:off x="1590548" y="10869930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1" name="Point / atom | 381"/>
            <p:cNvSpPr/>
            <p:nvPr/>
          </p:nvSpPr>
          <p:spPr>
            <a:xfrm>
              <a:off x="996188" y="10950956"/>
              <a:ext cx="86360" cy="86360"/>
            </a:xfrm>
            <a:prstGeom prst="ellipse">
              <a:avLst/>
            </a:prstGeom>
            <a:solidFill>
              <a:srgbClr val="A192B4"/>
            </a:solidFill>
            <a:ln w="11430" cap="flat" cmpd="sng" algn="ctr">
              <a:solidFill>
                <a:srgbClr val="85729D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382" name="Arrow | 382"/>
            <p:cNvCxnSpPr/>
            <p:nvPr/>
          </p:nvCxnSpPr>
          <p:spPr>
            <a:xfrm>
              <a:off x="1828800" y="10655300"/>
              <a:ext cx="324206" cy="0"/>
            </a:xfrm>
            <a:prstGeom prst="line">
              <a:avLst/>
            </a:prstGeom>
            <a:noFill/>
            <a:ln w="1397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3" name="Panel / block / cell | 383"/>
            <p:cNvSpPr/>
            <p:nvPr/>
          </p:nvSpPr>
          <p:spPr>
            <a:xfrm>
              <a:off x="2298700" y="10388600"/>
              <a:ext cx="234696" cy="304800"/>
            </a:xfrm>
            <a:prstGeom prst="rect">
              <a:avLst/>
            </a:prstGeom>
            <a:solidFill>
              <a:srgbClr val="C8C0D3"/>
            </a:solidFill>
            <a:ln w="889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4" name="Panel / block / cell | 384"/>
            <p:cNvSpPr/>
            <p:nvPr/>
          </p:nvSpPr>
          <p:spPr>
            <a:xfrm>
              <a:off x="2533396" y="10388600"/>
              <a:ext cx="977900" cy="304800"/>
            </a:xfrm>
            <a:prstGeom prst="rect">
              <a:avLst/>
            </a:prstGeom>
            <a:solidFill>
              <a:srgbClr val="A6C4D6"/>
            </a:solidFill>
            <a:ln w="889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5" name="Panel / block / cell | 385"/>
            <p:cNvSpPr/>
            <p:nvPr/>
          </p:nvSpPr>
          <p:spPr>
            <a:xfrm>
              <a:off x="3511296" y="10388600"/>
              <a:ext cx="312928" cy="304800"/>
            </a:xfrm>
            <a:prstGeom prst="rect">
              <a:avLst/>
            </a:prstGeom>
            <a:solidFill>
              <a:srgbClr val="9CCAC3"/>
            </a:solidFill>
            <a:ln w="889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6" name="Panel / block / cell | 386"/>
            <p:cNvSpPr/>
            <p:nvPr/>
          </p:nvSpPr>
          <p:spPr>
            <a:xfrm>
              <a:off x="3824224" y="10388600"/>
              <a:ext cx="39116" cy="304800"/>
            </a:xfrm>
            <a:prstGeom prst="rect">
              <a:avLst/>
            </a:prstGeom>
            <a:solidFill>
              <a:srgbClr val="DFC7A4"/>
            </a:solidFill>
            <a:ln w="889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7" name="Panel / block / cell | 387"/>
            <p:cNvSpPr/>
            <p:nvPr/>
          </p:nvSpPr>
          <p:spPr>
            <a:xfrm>
              <a:off x="3863340" y="10388600"/>
              <a:ext cx="352044" cy="304800"/>
            </a:xfrm>
            <a:prstGeom prst="rect">
              <a:avLst/>
            </a:prstGeom>
            <a:solidFill>
              <a:srgbClr val="C5D0D5"/>
            </a:solidFill>
            <a:ln w="889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8" name="Panel / block / cell | 388"/>
            <p:cNvSpPr/>
            <p:nvPr/>
          </p:nvSpPr>
          <p:spPr>
            <a:xfrm>
              <a:off x="4215384" y="10388600"/>
              <a:ext cx="39116" cy="304800"/>
            </a:xfrm>
            <a:prstGeom prst="rect">
              <a:avLst/>
            </a:prstGeom>
            <a:solidFill>
              <a:srgbClr val="CBCAD0"/>
            </a:solidFill>
            <a:ln w="889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389" name="Text | 6 + 25 + 8 + 1 + 9 + 1"/>
            <p:cNvSpPr txBox="1"/>
            <p:nvPr/>
          </p:nvSpPr>
          <p:spPr>
            <a:xfrm>
              <a:off x="2474615" y="10795000"/>
              <a:ext cx="1603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6 + 25 + 8 + 1 + 9 + 1</a:t>
              </a:r>
              <a:endParaRPr lang="en-US" sz="1200"/>
            </a:p>
          </p:txBody>
        </p:sp>
        <p:sp>
          <p:nvSpPr>
            <p:cNvPr id="390" name="Text | 50 features per atom"/>
            <p:cNvSpPr txBox="1"/>
            <p:nvPr/>
          </p:nvSpPr>
          <p:spPr>
            <a:xfrm>
              <a:off x="2381478" y="11099800"/>
              <a:ext cx="1764844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50 features per atom</a:t>
              </a:r>
              <a:endParaRPr lang="en-US" sz="1300"/>
            </a:p>
          </p:txBody>
        </p:sp>
        <p:sp>
          <p:nvSpPr>
            <p:cNvPr id="391" name="Text | Protein / RNA / DNA"/>
            <p:cNvSpPr txBox="1"/>
            <p:nvPr/>
          </p:nvSpPr>
          <p:spPr>
            <a:xfrm>
              <a:off x="309642" y="11150600"/>
              <a:ext cx="15143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Protein / RNA / DNA</a:t>
              </a:r>
              <a:endParaRPr lang="en-US" sz="1200"/>
            </a:p>
          </p:txBody>
        </p:sp>
        <p:cxnSp>
          <p:nvCxnSpPr>
            <p:cNvPr id="392" name="Line / bond / contour | 392"/>
            <p:cNvCxnSpPr/>
            <p:nvPr/>
          </p:nvCxnSpPr>
          <p:spPr>
            <a:xfrm>
              <a:off x="419100" y="11518900"/>
              <a:ext cx="3860800" cy="0"/>
            </a:xfrm>
            <a:prstGeom prst="line">
              <a:avLst/>
            </a:prstGeom>
            <a:noFill/>
            <a:ln w="12700" cap="rnd" cmpd="sng" algn="ctr">
              <a:solidFill>
                <a:srgbClr val="E1E6E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3" name="Text | Crops: Find 80³; Match / Build 48³"/>
            <p:cNvSpPr txBox="1"/>
            <p:nvPr/>
          </p:nvSpPr>
          <p:spPr>
            <a:xfrm>
              <a:off x="419100" y="11652250"/>
              <a:ext cx="2519462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Crops: Find 80³; Match / Build 48³</a:t>
              </a:r>
              <a:endParaRPr lang="en-US" sz="1250"/>
            </a:p>
          </p:txBody>
        </p:sp>
        <p:sp>
          <p:nvSpPr>
            <p:cNvPr id="394" name="Text | Shared construction; separate encoders."/>
            <p:cNvSpPr txBox="1"/>
            <p:nvPr/>
          </p:nvSpPr>
          <p:spPr>
            <a:xfrm>
              <a:off x="419100" y="11925300"/>
              <a:ext cx="2887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Shared construction; separate encoders.</a:t>
              </a:r>
              <a:endParaRPr lang="en-US" sz="1200"/>
            </a:p>
          </p:txBody>
        </p:sp>
      </p:grpSp>
      <p:cxnSp>
        <p:nvCxnSpPr>
          <p:cNvPr id="395" name="Line / bond / contour | 395"/>
          <p:cNvCxnSpPr/>
          <p:nvPr/>
        </p:nvCxnSpPr>
        <p:spPr>
          <a:xfrm>
            <a:off x="4597400" y="4038600"/>
            <a:ext cx="0" cy="8051800"/>
          </a:xfrm>
          <a:prstGeom prst="line">
            <a:avLst/>
          </a:prstGeom>
          <a:noFill/>
          <a:ln w="12700" cap="rnd" cmpd="sng" algn="ctr">
            <a:solidFill>
              <a:srgbClr val="E1E6E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6" name="c | Find: voxel and point pathways"/>
          <p:cNvGrpSpPr/>
          <p:nvPr/>
        </p:nvGrpSpPr>
        <p:grpSpPr>
          <a:xfrm>
            <a:off x="4927600" y="3917950"/>
            <a:ext cx="9842500" cy="4957826"/>
            <a:chOff x="4927600" y="3917950"/>
            <a:chExt cx="9842500" cy="4957826"/>
          </a:xfrm>
        </p:grpSpPr>
        <p:sp>
          <p:nvSpPr>
            <p:cNvPr id="397" name="Text | c"/>
            <p:cNvSpPr txBox="1"/>
            <p:nvPr/>
          </p:nvSpPr>
          <p:spPr>
            <a:xfrm>
              <a:off x="4927600" y="3917950"/>
              <a:ext cx="426720" cy="3289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850"/>
            </a:p>
          </p:txBody>
        </p:sp>
        <p:sp>
          <p:nvSpPr>
            <p:cNvPr id="398" name="Text | Find: coupled voxel and point pathways"/>
            <p:cNvSpPr txBox="1"/>
            <p:nvPr/>
          </p:nvSpPr>
          <p:spPr>
            <a:xfrm>
              <a:off x="5245100" y="3949700"/>
              <a:ext cx="4033818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Find: coupled voxel and point pathways</a:t>
              </a:r>
              <a:endParaRPr lang="en-US" sz="1600"/>
            </a:p>
          </p:txBody>
        </p:sp>
        <p:sp>
          <p:nvSpPr>
            <p:cNvPr id="399" name="Panel / block / cell | 399"/>
            <p:cNvSpPr/>
            <p:nvPr/>
          </p:nvSpPr>
          <p:spPr>
            <a:xfrm>
              <a:off x="5105400" y="4800600"/>
              <a:ext cx="1625600" cy="685800"/>
            </a:xfrm>
            <a:prstGeom prst="roundRect">
              <a:avLst>
                <a:gd name="adj" fmla="val 5556"/>
              </a:avLst>
            </a:prstGeom>
            <a:solidFill>
              <a:srgbClr val="ECF3F8"/>
            </a:solidFill>
            <a:ln w="13970" cap="flat" cmpd="sng" algn="ctr">
              <a:solidFill>
                <a:srgbClr val="6195B7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00" name="Text | 56-channel"/>
            <p:cNvSpPr txBox="1"/>
            <p:nvPr/>
          </p:nvSpPr>
          <p:spPr>
            <a:xfrm>
              <a:off x="5434806" y="4931346"/>
              <a:ext cx="966788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56-channel</a:t>
              </a:r>
              <a:endParaRPr lang="en-US" sz="1300"/>
            </a:p>
          </p:txBody>
        </p:sp>
        <p:sp>
          <p:nvSpPr>
            <p:cNvPr id="401" name="Text | density input"/>
            <p:cNvSpPr txBox="1"/>
            <p:nvPr/>
          </p:nvSpPr>
          <p:spPr>
            <a:xfrm>
              <a:off x="5379780" y="5141024"/>
              <a:ext cx="1076841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density input</a:t>
              </a:r>
              <a:endParaRPr lang="en-US" sz="1300"/>
            </a:p>
          </p:txBody>
        </p:sp>
        <p:sp>
          <p:nvSpPr>
            <p:cNvPr id="402" name="Panel / block / cell | 402"/>
            <p:cNvSpPr/>
            <p:nvPr/>
          </p:nvSpPr>
          <p:spPr>
            <a:xfrm>
              <a:off x="5105400" y="6045200"/>
              <a:ext cx="1625600" cy="787400"/>
            </a:xfrm>
            <a:prstGeom prst="roundRect">
              <a:avLst>
                <a:gd name="adj" fmla="val 4839"/>
              </a:avLst>
            </a:prstGeom>
            <a:solidFill>
              <a:srgbClr val="F3EFF7"/>
            </a:solidFill>
            <a:ln w="13970" cap="flat" cmpd="sng" algn="ctr">
              <a:solidFill>
                <a:srgbClr val="9D8EB1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03" name="Text | Receptor"/>
            <p:cNvSpPr txBox="1"/>
            <p:nvPr/>
          </p:nvSpPr>
          <p:spPr>
            <a:xfrm>
              <a:off x="5508317" y="6226746"/>
              <a:ext cx="819765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Receptor</a:t>
              </a:r>
              <a:endParaRPr lang="en-US" sz="1300"/>
            </a:p>
          </p:txBody>
        </p:sp>
        <p:sp>
          <p:nvSpPr>
            <p:cNvPr id="404" name="Text | embedding"/>
            <p:cNvSpPr txBox="1"/>
            <p:nvPr/>
          </p:nvSpPr>
          <p:spPr>
            <a:xfrm>
              <a:off x="5434806" y="6436424"/>
              <a:ext cx="966788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embedding</a:t>
              </a:r>
              <a:endParaRPr lang="en-US" sz="1300"/>
            </a:p>
          </p:txBody>
        </p:sp>
        <p:sp>
          <p:nvSpPr>
            <p:cNvPr id="405" name="Panel / block / cell | 405"/>
            <p:cNvSpPr/>
            <p:nvPr/>
          </p:nvSpPr>
          <p:spPr>
            <a:xfrm>
              <a:off x="5105400" y="7454900"/>
              <a:ext cx="1625600" cy="647700"/>
            </a:xfrm>
            <a:prstGeom prst="roundRect">
              <a:avLst>
                <a:gd name="adj" fmla="val 5882"/>
              </a:avLst>
            </a:prstGeom>
            <a:solidFill>
              <a:srgbClr val="FAF4E9"/>
            </a:solidFill>
            <a:ln w="13970" cap="flat" cmpd="sng" algn="ctr">
              <a:solidFill>
                <a:srgbClr val="CDA872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06" name="Text | Pseudo atoms P"/>
            <p:cNvSpPr txBox="1"/>
            <p:nvPr/>
          </p:nvSpPr>
          <p:spPr>
            <a:xfrm>
              <a:off x="5257727" y="7674737"/>
              <a:ext cx="1320947" cy="224028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Pseudo atoms P</a:t>
              </a:r>
              <a:endParaRPr lang="en-US" sz="1260"/>
            </a:p>
          </p:txBody>
        </p:sp>
        <p:sp>
          <p:nvSpPr>
            <p:cNvPr id="407" name="Text | 3D voxel U-Net"/>
            <p:cNvSpPr txBox="1"/>
            <p:nvPr/>
          </p:nvSpPr>
          <p:spPr>
            <a:xfrm>
              <a:off x="7543800" y="4521200"/>
              <a:ext cx="1412319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3D voxel U-Net</a:t>
              </a:r>
              <a:endParaRPr lang="en-US" sz="1400"/>
            </a:p>
          </p:txBody>
        </p:sp>
        <p:cxnSp>
          <p:nvCxnSpPr>
            <p:cNvPr id="408" name="Arrow | 408"/>
            <p:cNvCxnSpPr/>
            <p:nvPr/>
          </p:nvCxnSpPr>
          <p:spPr>
            <a:xfrm>
              <a:off x="8112379" y="5496814"/>
              <a:ext cx="403893" cy="91074"/>
            </a:xfrm>
            <a:prstGeom prst="line">
              <a:avLst/>
            </a:prstGeom>
            <a:noFill/>
            <a:ln w="1397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9" name="Arrow | 409"/>
            <p:cNvCxnSpPr/>
            <p:nvPr/>
          </p:nvCxnSpPr>
          <p:spPr>
            <a:xfrm>
              <a:off x="9230709" y="5586412"/>
              <a:ext cx="403664" cy="144564"/>
            </a:xfrm>
            <a:prstGeom prst="line">
              <a:avLst/>
            </a:prstGeom>
            <a:noFill/>
            <a:ln w="1397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0" name="Arrow | 410"/>
            <p:cNvCxnSpPr/>
            <p:nvPr/>
          </p:nvCxnSpPr>
          <p:spPr>
            <a:xfrm flipV="1">
              <a:off x="10349040" y="5584152"/>
              <a:ext cx="403664" cy="144564"/>
            </a:xfrm>
            <a:prstGeom prst="line">
              <a:avLst/>
            </a:prstGeom>
            <a:noFill/>
            <a:ln w="1397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1" name="Arrow | 411"/>
            <p:cNvCxnSpPr/>
            <p:nvPr/>
          </p:nvCxnSpPr>
          <p:spPr>
            <a:xfrm flipV="1">
              <a:off x="11467370" y="5495339"/>
              <a:ext cx="403893" cy="91074"/>
            </a:xfrm>
            <a:prstGeom prst="line">
              <a:avLst/>
            </a:prstGeom>
            <a:noFill/>
            <a:ln w="1397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2" name="Line / bond / contour | 412"/>
            <p:cNvSpPr/>
            <p:nvPr/>
          </p:nvSpPr>
          <p:spPr>
            <a:xfrm>
              <a:off x="7758240" y="4965700"/>
              <a:ext cx="4473321" cy="113538"/>
            </a:xfrm>
            <a:custGeom>
              <a:avLst/>
              <a:gdLst/>
              <a:ahLst/>
              <a:cxnLst/>
              <a:rect l="0" t="0" r="w" b="h"/>
              <a:pathLst>
                <a:path w="4473321" h="113538" fill="none" extrusionOk="0">
                  <a:moveTo>
                    <a:pt x="0" y="113538"/>
                  </a:moveTo>
                  <a:lnTo>
                    <a:pt x="0" y="0"/>
                  </a:lnTo>
                  <a:lnTo>
                    <a:pt x="4473321" y="0"/>
                  </a:lnTo>
                  <a:lnTo>
                    <a:pt x="4473321" y="113538"/>
                  </a:lnTo>
                </a:path>
              </a:pathLst>
            </a:custGeom>
            <a:noFill/>
            <a:ln w="12065" cap="rnd" cmpd="sng" algn="ctr">
              <a:solidFill>
                <a:srgbClr val="74A3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" name="Line / bond / contour | 413"/>
            <p:cNvSpPr/>
            <p:nvPr/>
          </p:nvSpPr>
          <p:spPr>
            <a:xfrm>
              <a:off x="8876570" y="5105400"/>
              <a:ext cx="2236660" cy="163576"/>
            </a:xfrm>
            <a:custGeom>
              <a:avLst/>
              <a:gdLst/>
              <a:ahLst/>
              <a:cxnLst/>
              <a:rect l="0" t="0" r="w" b="h"/>
              <a:pathLst>
                <a:path w="2236660" h="163576" fill="none" extrusionOk="0">
                  <a:moveTo>
                    <a:pt x="0" y="163576"/>
                  </a:moveTo>
                  <a:lnTo>
                    <a:pt x="0" y="0"/>
                  </a:lnTo>
                  <a:lnTo>
                    <a:pt x="2236660" y="0"/>
                  </a:lnTo>
                  <a:lnTo>
                    <a:pt x="2236660" y="163576"/>
                  </a:lnTo>
                </a:path>
              </a:pathLst>
            </a:custGeom>
            <a:noFill/>
            <a:ln w="12065" cap="rnd" cmpd="sng" algn="ctr">
              <a:solidFill>
                <a:srgbClr val="74A3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4" name="Vector surface / outline | 414"/>
            <p:cNvSpPr/>
            <p:nvPr/>
          </p:nvSpPr>
          <p:spPr>
            <a:xfrm>
              <a:off x="7467600" y="5053838"/>
              <a:ext cx="644779" cy="63500"/>
            </a:xfrm>
            <a:custGeom>
              <a:avLst/>
              <a:gdLst/>
              <a:ahLst/>
              <a:cxnLst/>
              <a:rect l="0" t="0" r="w" b="h"/>
              <a:pathLst>
                <a:path w="644779" h="63500" extrusionOk="0">
                  <a:moveTo>
                    <a:pt x="0" y="63500"/>
                  </a:moveTo>
                  <a:lnTo>
                    <a:pt x="63500" y="0"/>
                  </a:lnTo>
                  <a:lnTo>
                    <a:pt x="644779" y="0"/>
                  </a:lnTo>
                  <a:lnTo>
                    <a:pt x="581279" y="63500"/>
                  </a:lnTo>
                  <a:close/>
                </a:path>
              </a:pathLst>
            </a:custGeom>
            <a:solidFill>
              <a:srgbClr val="D1E1EA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5" name="Vector surface / outline | 415"/>
            <p:cNvSpPr/>
            <p:nvPr/>
          </p:nvSpPr>
          <p:spPr>
            <a:xfrm>
              <a:off x="8048879" y="5053838"/>
              <a:ext cx="63500" cy="822452"/>
            </a:xfrm>
            <a:custGeom>
              <a:avLst/>
              <a:gdLst/>
              <a:ahLst/>
              <a:cxnLst/>
              <a:rect l="0" t="0" r="w" b="h"/>
              <a:pathLst>
                <a:path w="63500" h="822452" extrusionOk="0">
                  <a:moveTo>
                    <a:pt x="0" y="63500"/>
                  </a:moveTo>
                  <a:lnTo>
                    <a:pt x="63500" y="0"/>
                  </a:lnTo>
                  <a:lnTo>
                    <a:pt x="63500" y="758952"/>
                  </a:lnTo>
                  <a:lnTo>
                    <a:pt x="0" y="822452"/>
                  </a:lnTo>
                  <a:close/>
                </a:path>
              </a:pathLst>
            </a:custGeom>
            <a:solidFill>
              <a:srgbClr val="B0CADB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6" name="Panel / block / cell | 416"/>
            <p:cNvSpPr/>
            <p:nvPr/>
          </p:nvSpPr>
          <p:spPr>
            <a:xfrm>
              <a:off x="7467600" y="5117338"/>
              <a:ext cx="581279" cy="758952"/>
            </a:xfrm>
            <a:prstGeom prst="rect">
              <a:avLst/>
            </a:prstGeom>
            <a:solidFill>
              <a:srgbClr val="E5EEF3"/>
            </a:solidFill>
            <a:ln w="11430" cap="flat" cmpd="sng" algn="ctr">
              <a:solidFill>
                <a:srgbClr val="397BA5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17" name="Line / bond / contour | 417"/>
            <p:cNvCxnSpPr/>
            <p:nvPr/>
          </p:nvCxnSpPr>
          <p:spPr>
            <a:xfrm>
              <a:off x="7659422" y="5117338"/>
              <a:ext cx="0" cy="758952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Line / bond / contour | 418"/>
            <p:cNvCxnSpPr/>
            <p:nvPr/>
          </p:nvCxnSpPr>
          <p:spPr>
            <a:xfrm>
              <a:off x="7851244" y="5117338"/>
              <a:ext cx="0" cy="758952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9" name="Vector surface / outline | 419"/>
            <p:cNvSpPr/>
            <p:nvPr/>
          </p:nvSpPr>
          <p:spPr>
            <a:xfrm>
              <a:off x="8585930" y="5243576"/>
              <a:ext cx="644779" cy="63500"/>
            </a:xfrm>
            <a:custGeom>
              <a:avLst/>
              <a:gdLst/>
              <a:ahLst/>
              <a:cxnLst/>
              <a:rect l="0" t="0" r="w" b="h"/>
              <a:pathLst>
                <a:path w="644779" h="63500" extrusionOk="0">
                  <a:moveTo>
                    <a:pt x="0" y="63500"/>
                  </a:moveTo>
                  <a:lnTo>
                    <a:pt x="63500" y="0"/>
                  </a:lnTo>
                  <a:lnTo>
                    <a:pt x="644779" y="0"/>
                  </a:lnTo>
                  <a:lnTo>
                    <a:pt x="581279" y="63500"/>
                  </a:lnTo>
                  <a:close/>
                </a:path>
              </a:pathLst>
            </a:custGeom>
            <a:solidFill>
              <a:srgbClr val="D1E1EA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" name="Vector surface / outline | 420"/>
            <p:cNvSpPr/>
            <p:nvPr/>
          </p:nvSpPr>
          <p:spPr>
            <a:xfrm>
              <a:off x="9167209" y="5243576"/>
              <a:ext cx="63500" cy="622173"/>
            </a:xfrm>
            <a:custGeom>
              <a:avLst/>
              <a:gdLst/>
              <a:ahLst/>
              <a:cxnLst/>
              <a:rect l="0" t="0" r="w" b="h"/>
              <a:pathLst>
                <a:path w="63500" h="622173" extrusionOk="0">
                  <a:moveTo>
                    <a:pt x="0" y="63500"/>
                  </a:moveTo>
                  <a:lnTo>
                    <a:pt x="63500" y="0"/>
                  </a:lnTo>
                  <a:lnTo>
                    <a:pt x="63500" y="558673"/>
                  </a:lnTo>
                  <a:lnTo>
                    <a:pt x="0" y="622173"/>
                  </a:lnTo>
                  <a:close/>
                </a:path>
              </a:pathLst>
            </a:custGeom>
            <a:solidFill>
              <a:srgbClr val="B0CADB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1" name="Panel / block / cell | 421"/>
            <p:cNvSpPr/>
            <p:nvPr/>
          </p:nvSpPr>
          <p:spPr>
            <a:xfrm>
              <a:off x="8585930" y="5307076"/>
              <a:ext cx="581279" cy="558673"/>
            </a:xfrm>
            <a:prstGeom prst="rect">
              <a:avLst/>
            </a:prstGeom>
            <a:solidFill>
              <a:srgbClr val="E5EEF3"/>
            </a:solidFill>
            <a:ln w="11430" cap="flat" cmpd="sng" algn="ctr">
              <a:solidFill>
                <a:srgbClr val="397BA5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22" name="Line / bond / contour | 422"/>
            <p:cNvCxnSpPr/>
            <p:nvPr/>
          </p:nvCxnSpPr>
          <p:spPr>
            <a:xfrm>
              <a:off x="8777752" y="5307076"/>
              <a:ext cx="0" cy="558673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Line / bond / contour | 423"/>
            <p:cNvCxnSpPr/>
            <p:nvPr/>
          </p:nvCxnSpPr>
          <p:spPr>
            <a:xfrm>
              <a:off x="8969574" y="5307076"/>
              <a:ext cx="0" cy="558673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4" name="Vector surface / outline | 424"/>
            <p:cNvSpPr/>
            <p:nvPr/>
          </p:nvSpPr>
          <p:spPr>
            <a:xfrm>
              <a:off x="9704260" y="5475478"/>
              <a:ext cx="644779" cy="63500"/>
            </a:xfrm>
            <a:custGeom>
              <a:avLst/>
              <a:gdLst/>
              <a:ahLst/>
              <a:cxnLst/>
              <a:rect l="0" t="0" r="w" b="h"/>
              <a:pathLst>
                <a:path w="644779" h="63500" extrusionOk="0">
                  <a:moveTo>
                    <a:pt x="0" y="63500"/>
                  </a:moveTo>
                  <a:lnTo>
                    <a:pt x="63500" y="0"/>
                  </a:lnTo>
                  <a:lnTo>
                    <a:pt x="644779" y="0"/>
                  </a:lnTo>
                  <a:lnTo>
                    <a:pt x="581279" y="63500"/>
                  </a:lnTo>
                  <a:close/>
                </a:path>
              </a:pathLst>
            </a:custGeom>
            <a:solidFill>
              <a:srgbClr val="D1E1EA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5" name="Vector surface / outline | 425"/>
            <p:cNvSpPr/>
            <p:nvPr/>
          </p:nvSpPr>
          <p:spPr>
            <a:xfrm>
              <a:off x="10285540" y="5475478"/>
              <a:ext cx="63500" cy="442976"/>
            </a:xfrm>
            <a:custGeom>
              <a:avLst/>
              <a:gdLst/>
              <a:ahLst/>
              <a:cxnLst/>
              <a:rect l="0" t="0" r="w" b="h"/>
              <a:pathLst>
                <a:path w="63500" h="442976" extrusionOk="0">
                  <a:moveTo>
                    <a:pt x="0" y="63500"/>
                  </a:moveTo>
                  <a:lnTo>
                    <a:pt x="63500" y="0"/>
                  </a:lnTo>
                  <a:lnTo>
                    <a:pt x="63500" y="379476"/>
                  </a:lnTo>
                  <a:lnTo>
                    <a:pt x="0" y="442976"/>
                  </a:lnTo>
                  <a:close/>
                </a:path>
              </a:pathLst>
            </a:custGeom>
            <a:solidFill>
              <a:srgbClr val="B0CADB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6" name="Panel / block / cell | 426"/>
            <p:cNvSpPr/>
            <p:nvPr/>
          </p:nvSpPr>
          <p:spPr>
            <a:xfrm>
              <a:off x="9704260" y="5538978"/>
              <a:ext cx="581279" cy="379476"/>
            </a:xfrm>
            <a:prstGeom prst="rect">
              <a:avLst/>
            </a:prstGeom>
            <a:solidFill>
              <a:srgbClr val="E5EEF3"/>
            </a:solidFill>
            <a:ln w="11430" cap="flat" cmpd="sng" algn="ctr">
              <a:solidFill>
                <a:srgbClr val="397BA5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27" name="Line / bond / contour | 427"/>
            <p:cNvCxnSpPr/>
            <p:nvPr/>
          </p:nvCxnSpPr>
          <p:spPr>
            <a:xfrm>
              <a:off x="9896083" y="5538978"/>
              <a:ext cx="0" cy="379476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Line / bond / contour | 428"/>
            <p:cNvCxnSpPr/>
            <p:nvPr/>
          </p:nvCxnSpPr>
          <p:spPr>
            <a:xfrm>
              <a:off x="10087905" y="5538978"/>
              <a:ext cx="0" cy="379476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9" name="Vector surface / outline | 429"/>
            <p:cNvSpPr/>
            <p:nvPr/>
          </p:nvSpPr>
          <p:spPr>
            <a:xfrm>
              <a:off x="10822591" y="5243576"/>
              <a:ext cx="644779" cy="63500"/>
            </a:xfrm>
            <a:custGeom>
              <a:avLst/>
              <a:gdLst/>
              <a:ahLst/>
              <a:cxnLst/>
              <a:rect l="0" t="0" r="w" b="h"/>
              <a:pathLst>
                <a:path w="644779" h="63500" extrusionOk="0">
                  <a:moveTo>
                    <a:pt x="0" y="63500"/>
                  </a:moveTo>
                  <a:lnTo>
                    <a:pt x="63500" y="0"/>
                  </a:lnTo>
                  <a:lnTo>
                    <a:pt x="644779" y="0"/>
                  </a:lnTo>
                  <a:lnTo>
                    <a:pt x="581279" y="63500"/>
                  </a:lnTo>
                  <a:close/>
                </a:path>
              </a:pathLst>
            </a:custGeom>
            <a:solidFill>
              <a:srgbClr val="D1E1EA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" name="Vector surface / outline | 430"/>
            <p:cNvSpPr/>
            <p:nvPr/>
          </p:nvSpPr>
          <p:spPr>
            <a:xfrm>
              <a:off x="11403870" y="5243576"/>
              <a:ext cx="63500" cy="622173"/>
            </a:xfrm>
            <a:custGeom>
              <a:avLst/>
              <a:gdLst/>
              <a:ahLst/>
              <a:cxnLst/>
              <a:rect l="0" t="0" r="w" b="h"/>
              <a:pathLst>
                <a:path w="63500" h="622173" extrusionOk="0">
                  <a:moveTo>
                    <a:pt x="0" y="63500"/>
                  </a:moveTo>
                  <a:lnTo>
                    <a:pt x="63500" y="0"/>
                  </a:lnTo>
                  <a:lnTo>
                    <a:pt x="63500" y="558673"/>
                  </a:lnTo>
                  <a:lnTo>
                    <a:pt x="0" y="622173"/>
                  </a:lnTo>
                  <a:close/>
                </a:path>
              </a:pathLst>
            </a:custGeom>
            <a:solidFill>
              <a:srgbClr val="B0CADB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1" name="Panel / block / cell | 431"/>
            <p:cNvSpPr/>
            <p:nvPr/>
          </p:nvSpPr>
          <p:spPr>
            <a:xfrm>
              <a:off x="10822591" y="5307076"/>
              <a:ext cx="581279" cy="558673"/>
            </a:xfrm>
            <a:prstGeom prst="rect">
              <a:avLst/>
            </a:prstGeom>
            <a:solidFill>
              <a:srgbClr val="E5EEF3"/>
            </a:solidFill>
            <a:ln w="11430" cap="flat" cmpd="sng" algn="ctr">
              <a:solidFill>
                <a:srgbClr val="397BA5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32" name="Line / bond / contour | 432"/>
            <p:cNvCxnSpPr/>
            <p:nvPr/>
          </p:nvCxnSpPr>
          <p:spPr>
            <a:xfrm>
              <a:off x="11014413" y="5307076"/>
              <a:ext cx="0" cy="558673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Line / bond / contour | 433"/>
            <p:cNvCxnSpPr/>
            <p:nvPr/>
          </p:nvCxnSpPr>
          <p:spPr>
            <a:xfrm>
              <a:off x="11206235" y="5307076"/>
              <a:ext cx="0" cy="558673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4" name="Vector surface / outline | 434"/>
            <p:cNvSpPr/>
            <p:nvPr/>
          </p:nvSpPr>
          <p:spPr>
            <a:xfrm>
              <a:off x="11940921" y="5053838"/>
              <a:ext cx="644779" cy="63500"/>
            </a:xfrm>
            <a:custGeom>
              <a:avLst/>
              <a:gdLst/>
              <a:ahLst/>
              <a:cxnLst/>
              <a:rect l="0" t="0" r="w" b="h"/>
              <a:pathLst>
                <a:path w="644779" h="63500" extrusionOk="0">
                  <a:moveTo>
                    <a:pt x="0" y="63500"/>
                  </a:moveTo>
                  <a:lnTo>
                    <a:pt x="63500" y="0"/>
                  </a:lnTo>
                  <a:lnTo>
                    <a:pt x="644779" y="0"/>
                  </a:lnTo>
                  <a:lnTo>
                    <a:pt x="581279" y="63500"/>
                  </a:lnTo>
                  <a:close/>
                </a:path>
              </a:pathLst>
            </a:custGeom>
            <a:solidFill>
              <a:srgbClr val="D1E1EA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5" name="Vector surface / outline | 435"/>
            <p:cNvSpPr/>
            <p:nvPr/>
          </p:nvSpPr>
          <p:spPr>
            <a:xfrm>
              <a:off x="12522200" y="5053838"/>
              <a:ext cx="63500" cy="822452"/>
            </a:xfrm>
            <a:custGeom>
              <a:avLst/>
              <a:gdLst/>
              <a:ahLst/>
              <a:cxnLst/>
              <a:rect l="0" t="0" r="w" b="h"/>
              <a:pathLst>
                <a:path w="63500" h="822452" extrusionOk="0">
                  <a:moveTo>
                    <a:pt x="0" y="63500"/>
                  </a:moveTo>
                  <a:lnTo>
                    <a:pt x="63500" y="0"/>
                  </a:lnTo>
                  <a:lnTo>
                    <a:pt x="63500" y="758952"/>
                  </a:lnTo>
                  <a:lnTo>
                    <a:pt x="0" y="822452"/>
                  </a:lnTo>
                  <a:close/>
                </a:path>
              </a:pathLst>
            </a:custGeom>
            <a:solidFill>
              <a:srgbClr val="B0CADB"/>
            </a:solidFill>
            <a:ln w="1143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6" name="Panel / block / cell | 436"/>
            <p:cNvSpPr/>
            <p:nvPr/>
          </p:nvSpPr>
          <p:spPr>
            <a:xfrm>
              <a:off x="11940921" y="5117338"/>
              <a:ext cx="581279" cy="758952"/>
            </a:xfrm>
            <a:prstGeom prst="rect">
              <a:avLst/>
            </a:prstGeom>
            <a:solidFill>
              <a:srgbClr val="E5EEF3"/>
            </a:solidFill>
            <a:ln w="11430" cap="flat" cmpd="sng" algn="ctr">
              <a:solidFill>
                <a:srgbClr val="397BA5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37" name="Line / bond / contour | 437"/>
            <p:cNvCxnSpPr/>
            <p:nvPr/>
          </p:nvCxnSpPr>
          <p:spPr>
            <a:xfrm>
              <a:off x="12132743" y="5117338"/>
              <a:ext cx="0" cy="758952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" name="Line / bond / contour | 438"/>
            <p:cNvCxnSpPr/>
            <p:nvPr/>
          </p:nvCxnSpPr>
          <p:spPr>
            <a:xfrm>
              <a:off x="12324565" y="5117338"/>
              <a:ext cx="0" cy="758952"/>
            </a:xfrm>
            <a:prstGeom prst="line">
              <a:avLst/>
            </a:prstGeom>
            <a:noFill/>
            <a:ln w="7620" cap="rnd" cmpd="sng" algn="ctr">
              <a:solidFill>
                <a:srgbClr val="A4C2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9" name="Arrow | 439"/>
            <p:cNvCxnSpPr/>
            <p:nvPr/>
          </p:nvCxnSpPr>
          <p:spPr>
            <a:xfrm>
              <a:off x="6807200" y="5143500"/>
              <a:ext cx="566115" cy="0"/>
            </a:xfrm>
            <a:prstGeom prst="line">
              <a:avLst/>
            </a:prstGeom>
            <a:noFill/>
            <a:ln w="1524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0" name="Arrow | 440"/>
            <p:cNvSpPr/>
            <p:nvPr/>
          </p:nvSpPr>
          <p:spPr>
            <a:xfrm>
              <a:off x="6743700" y="5638800"/>
              <a:ext cx="641706" cy="635000"/>
            </a:xfrm>
            <a:custGeom>
              <a:avLst/>
              <a:gdLst/>
              <a:ahLst/>
              <a:cxnLst/>
              <a:rect l="0" t="0" r="w" b="h"/>
              <a:pathLst>
                <a:path w="641706" h="635000" fill="none" extrusionOk="0">
                  <a:moveTo>
                    <a:pt x="0" y="635000"/>
                  </a:moveTo>
                  <a:lnTo>
                    <a:pt x="304800" y="635000"/>
                  </a:lnTo>
                  <a:lnTo>
                    <a:pt x="304800" y="0"/>
                  </a:lnTo>
                  <a:lnTo>
                    <a:pt x="641706" y="0"/>
                  </a:lnTo>
                </a:path>
              </a:pathLst>
            </a:custGeom>
            <a:noFill/>
            <a:ln w="1397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1" name="Text | Scatter"/>
            <p:cNvSpPr txBox="1"/>
            <p:nvPr/>
          </p:nvSpPr>
          <p:spPr>
            <a:xfrm>
              <a:off x="6621671" y="5765800"/>
              <a:ext cx="625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Scatter</a:t>
              </a:r>
              <a:endParaRPr lang="en-US" sz="1200"/>
            </a:p>
          </p:txBody>
        </p:sp>
        <p:sp>
          <p:nvSpPr>
            <p:cNvPr id="442" name="Text | Point Transformer V3"/>
            <p:cNvSpPr txBox="1"/>
            <p:nvPr/>
          </p:nvSpPr>
          <p:spPr>
            <a:xfrm>
              <a:off x="7543800" y="6959600"/>
              <a:ext cx="1955681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Point Transformer V3</a:t>
              </a:r>
              <a:endParaRPr lang="en-US" sz="1400"/>
            </a:p>
          </p:txBody>
        </p:sp>
        <p:cxnSp>
          <p:nvCxnSpPr>
            <p:cNvPr id="443" name="Arrow | 443"/>
            <p:cNvCxnSpPr/>
            <p:nvPr/>
          </p:nvCxnSpPr>
          <p:spPr>
            <a:xfrm>
              <a:off x="8112379" y="7771892"/>
              <a:ext cx="403925" cy="81205"/>
            </a:xfrm>
            <a:prstGeom prst="line">
              <a:avLst/>
            </a:prstGeom>
            <a:noFill/>
            <a:ln w="1397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4" name="Arrow | 444"/>
            <p:cNvCxnSpPr/>
            <p:nvPr/>
          </p:nvCxnSpPr>
          <p:spPr>
            <a:xfrm>
              <a:off x="9230709" y="7851775"/>
              <a:ext cx="403739" cy="128913"/>
            </a:xfrm>
            <a:prstGeom prst="line">
              <a:avLst/>
            </a:prstGeom>
            <a:noFill/>
            <a:ln w="1397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5" name="Arrow | 445"/>
            <p:cNvCxnSpPr/>
            <p:nvPr/>
          </p:nvCxnSpPr>
          <p:spPr>
            <a:xfrm flipV="1">
              <a:off x="10349040" y="7849735"/>
              <a:ext cx="403739" cy="128913"/>
            </a:xfrm>
            <a:prstGeom prst="line">
              <a:avLst/>
            </a:prstGeom>
            <a:noFill/>
            <a:ln w="1397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6" name="Arrow | 446"/>
            <p:cNvCxnSpPr/>
            <p:nvPr/>
          </p:nvCxnSpPr>
          <p:spPr>
            <a:xfrm flipV="1">
              <a:off x="11467370" y="7770570"/>
              <a:ext cx="403925" cy="81205"/>
            </a:xfrm>
            <a:prstGeom prst="line">
              <a:avLst/>
            </a:prstGeom>
            <a:noFill/>
            <a:ln w="1397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7" name="Line / bond / contour | 447"/>
            <p:cNvSpPr/>
            <p:nvPr/>
          </p:nvSpPr>
          <p:spPr>
            <a:xfrm>
              <a:off x="7758240" y="7302500"/>
              <a:ext cx="4473321" cy="92964"/>
            </a:xfrm>
            <a:custGeom>
              <a:avLst/>
              <a:gdLst/>
              <a:ahLst/>
              <a:cxnLst/>
              <a:rect l="0" t="0" r="w" b="h"/>
              <a:pathLst>
                <a:path w="4473321" h="92964" fill="none" extrusionOk="0">
                  <a:moveTo>
                    <a:pt x="0" y="92964"/>
                  </a:moveTo>
                  <a:lnTo>
                    <a:pt x="0" y="0"/>
                  </a:lnTo>
                  <a:lnTo>
                    <a:pt x="4473321" y="0"/>
                  </a:lnTo>
                  <a:lnTo>
                    <a:pt x="4473321" y="92964"/>
                  </a:lnTo>
                </a:path>
              </a:pathLst>
            </a:custGeom>
            <a:noFill/>
            <a:ln w="12065" cap="rnd" cmpd="sng" algn="ctr">
              <a:solidFill>
                <a:srgbClr val="AA9CBA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8" name="Line / bond / contour | 448"/>
            <p:cNvSpPr/>
            <p:nvPr/>
          </p:nvSpPr>
          <p:spPr>
            <a:xfrm>
              <a:off x="8876570" y="7442200"/>
              <a:ext cx="2236660" cy="122428"/>
            </a:xfrm>
            <a:custGeom>
              <a:avLst/>
              <a:gdLst/>
              <a:ahLst/>
              <a:cxnLst/>
              <a:rect l="0" t="0" r="w" b="h"/>
              <a:pathLst>
                <a:path w="2236660" h="122428" fill="none" extrusionOk="0">
                  <a:moveTo>
                    <a:pt x="0" y="122428"/>
                  </a:moveTo>
                  <a:lnTo>
                    <a:pt x="0" y="0"/>
                  </a:lnTo>
                  <a:lnTo>
                    <a:pt x="2236660" y="0"/>
                  </a:lnTo>
                  <a:lnTo>
                    <a:pt x="2236660" y="122428"/>
                  </a:lnTo>
                </a:path>
              </a:pathLst>
            </a:custGeom>
            <a:noFill/>
            <a:ln w="12065" cap="rnd" cmpd="sng" algn="ctr">
              <a:solidFill>
                <a:srgbClr val="AA9CBA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9" name="Panel / block / cell | 449"/>
            <p:cNvSpPr/>
            <p:nvPr/>
          </p:nvSpPr>
          <p:spPr>
            <a:xfrm>
              <a:off x="7467600" y="7433564"/>
              <a:ext cx="581279" cy="676656"/>
            </a:xfrm>
            <a:prstGeom prst="roundRect">
              <a:avLst>
                <a:gd name="adj" fmla="val 4370"/>
              </a:avLst>
            </a:prstGeom>
            <a:solidFill>
              <a:srgbClr val="F3F1F5"/>
            </a:solidFill>
            <a:ln w="11430" cap="flat" cmpd="sng" algn="ctr">
              <a:solidFill>
                <a:srgbClr val="A597B6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0" name="Point / atom | 450"/>
            <p:cNvSpPr/>
            <p:nvPr/>
          </p:nvSpPr>
          <p:spPr>
            <a:xfrm>
              <a:off x="7571547" y="760776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1" name="Point / atom | 451"/>
            <p:cNvSpPr/>
            <p:nvPr/>
          </p:nvSpPr>
          <p:spPr>
            <a:xfrm>
              <a:off x="7722680" y="760776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2" name="Point / atom | 452"/>
            <p:cNvSpPr/>
            <p:nvPr/>
          </p:nvSpPr>
          <p:spPr>
            <a:xfrm>
              <a:off x="7873812" y="760776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3" name="Point / atom | 453"/>
            <p:cNvSpPr/>
            <p:nvPr/>
          </p:nvSpPr>
          <p:spPr>
            <a:xfrm>
              <a:off x="7571547" y="7858130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4" name="Point / atom | 454"/>
            <p:cNvSpPr/>
            <p:nvPr/>
          </p:nvSpPr>
          <p:spPr>
            <a:xfrm>
              <a:off x="7722680" y="7858130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5" name="Point / atom | 455"/>
            <p:cNvSpPr/>
            <p:nvPr/>
          </p:nvSpPr>
          <p:spPr>
            <a:xfrm>
              <a:off x="7873812" y="7858130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56" name="Line / bond / contour | 456"/>
            <p:cNvCxnSpPr/>
            <p:nvPr/>
          </p:nvCxnSpPr>
          <p:spPr>
            <a:xfrm>
              <a:off x="7607107" y="7643327"/>
              <a:ext cx="302265" cy="250363"/>
            </a:xfrm>
            <a:prstGeom prst="line">
              <a:avLst/>
            </a:prstGeom>
            <a:noFill/>
            <a:ln w="10160" cap="rnd" cmpd="sng" algn="ctr">
              <a:solidFill>
                <a:srgbClr val="C8C0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" name="Panel / block / cell | 457"/>
            <p:cNvSpPr/>
            <p:nvPr/>
          </p:nvSpPr>
          <p:spPr>
            <a:xfrm>
              <a:off x="8585930" y="7602728"/>
              <a:ext cx="581279" cy="498094"/>
            </a:xfrm>
            <a:prstGeom prst="roundRect">
              <a:avLst>
                <a:gd name="adj" fmla="val 5099"/>
              </a:avLst>
            </a:prstGeom>
            <a:solidFill>
              <a:srgbClr val="F3F1F5"/>
            </a:solidFill>
            <a:ln w="11430" cap="flat" cmpd="sng" algn="ctr">
              <a:solidFill>
                <a:srgbClr val="A597B6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8" name="Point / atom | 458"/>
            <p:cNvSpPr/>
            <p:nvPr/>
          </p:nvSpPr>
          <p:spPr>
            <a:xfrm>
              <a:off x="8689877" y="772157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59" name="Point / atom | 459"/>
            <p:cNvSpPr/>
            <p:nvPr/>
          </p:nvSpPr>
          <p:spPr>
            <a:xfrm>
              <a:off x="8841010" y="772157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0" name="Point / atom | 460"/>
            <p:cNvSpPr/>
            <p:nvPr/>
          </p:nvSpPr>
          <p:spPr>
            <a:xfrm>
              <a:off x="8992142" y="772157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1" name="Point / atom | 461"/>
            <p:cNvSpPr/>
            <p:nvPr/>
          </p:nvSpPr>
          <p:spPr>
            <a:xfrm>
              <a:off x="8689877" y="7905872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2" name="Point / atom | 462"/>
            <p:cNvSpPr/>
            <p:nvPr/>
          </p:nvSpPr>
          <p:spPr>
            <a:xfrm>
              <a:off x="8841010" y="7905872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3" name="Point / atom | 463"/>
            <p:cNvSpPr/>
            <p:nvPr/>
          </p:nvSpPr>
          <p:spPr>
            <a:xfrm>
              <a:off x="8992142" y="7905872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64" name="Line / bond / contour | 464"/>
            <p:cNvCxnSpPr/>
            <p:nvPr/>
          </p:nvCxnSpPr>
          <p:spPr>
            <a:xfrm>
              <a:off x="8725437" y="7757137"/>
              <a:ext cx="302265" cy="184295"/>
            </a:xfrm>
            <a:prstGeom prst="line">
              <a:avLst/>
            </a:prstGeom>
            <a:noFill/>
            <a:ln w="10160" cap="rnd" cmpd="sng" algn="ctr">
              <a:solidFill>
                <a:srgbClr val="C8C0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5" name="Panel / block / cell | 465"/>
            <p:cNvSpPr/>
            <p:nvPr/>
          </p:nvSpPr>
          <p:spPr>
            <a:xfrm>
              <a:off x="9704260" y="7809484"/>
              <a:ext cx="581279" cy="338328"/>
            </a:xfrm>
            <a:prstGeom prst="roundRect">
              <a:avLst>
                <a:gd name="adj" fmla="val 7508"/>
              </a:avLst>
            </a:prstGeom>
            <a:solidFill>
              <a:srgbClr val="F3F1F5"/>
            </a:solidFill>
            <a:ln w="11430" cap="flat" cmpd="sng" algn="ctr">
              <a:solidFill>
                <a:srgbClr val="A597B6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6" name="Point / atom | 466"/>
            <p:cNvSpPr/>
            <p:nvPr/>
          </p:nvSpPr>
          <p:spPr>
            <a:xfrm>
              <a:off x="9808207" y="7878806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7" name="Point / atom | 467"/>
            <p:cNvSpPr/>
            <p:nvPr/>
          </p:nvSpPr>
          <p:spPr>
            <a:xfrm>
              <a:off x="9959340" y="7878806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8" name="Point / atom | 468"/>
            <p:cNvSpPr/>
            <p:nvPr/>
          </p:nvSpPr>
          <p:spPr>
            <a:xfrm>
              <a:off x="10110473" y="7878806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69" name="Point / atom | 469"/>
            <p:cNvSpPr/>
            <p:nvPr/>
          </p:nvSpPr>
          <p:spPr>
            <a:xfrm>
              <a:off x="9808207" y="800398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0" name="Point / atom | 470"/>
            <p:cNvSpPr/>
            <p:nvPr/>
          </p:nvSpPr>
          <p:spPr>
            <a:xfrm>
              <a:off x="9959340" y="800398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1" name="Point / atom | 471"/>
            <p:cNvSpPr/>
            <p:nvPr/>
          </p:nvSpPr>
          <p:spPr>
            <a:xfrm>
              <a:off x="10110473" y="800398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72" name="Line / bond / contour | 472"/>
            <p:cNvCxnSpPr/>
            <p:nvPr/>
          </p:nvCxnSpPr>
          <p:spPr>
            <a:xfrm>
              <a:off x="9843767" y="7914366"/>
              <a:ext cx="302265" cy="125181"/>
            </a:xfrm>
            <a:prstGeom prst="line">
              <a:avLst/>
            </a:prstGeom>
            <a:noFill/>
            <a:ln w="10160" cap="rnd" cmpd="sng" algn="ctr">
              <a:solidFill>
                <a:srgbClr val="C8C0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3" name="Panel / block / cell | 473"/>
            <p:cNvSpPr/>
            <p:nvPr/>
          </p:nvSpPr>
          <p:spPr>
            <a:xfrm>
              <a:off x="10822591" y="7602728"/>
              <a:ext cx="581279" cy="498094"/>
            </a:xfrm>
            <a:prstGeom prst="roundRect">
              <a:avLst>
                <a:gd name="adj" fmla="val 5099"/>
              </a:avLst>
            </a:prstGeom>
            <a:solidFill>
              <a:srgbClr val="F3F1F5"/>
            </a:solidFill>
            <a:ln w="11430" cap="flat" cmpd="sng" algn="ctr">
              <a:solidFill>
                <a:srgbClr val="A597B6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4" name="Point / atom | 474"/>
            <p:cNvSpPr/>
            <p:nvPr/>
          </p:nvSpPr>
          <p:spPr>
            <a:xfrm>
              <a:off x="10926538" y="772157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5" name="Point / atom | 475"/>
            <p:cNvSpPr/>
            <p:nvPr/>
          </p:nvSpPr>
          <p:spPr>
            <a:xfrm>
              <a:off x="11077670" y="772157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6" name="Point / atom | 476"/>
            <p:cNvSpPr/>
            <p:nvPr/>
          </p:nvSpPr>
          <p:spPr>
            <a:xfrm>
              <a:off x="11228803" y="772157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7" name="Point / atom | 477"/>
            <p:cNvSpPr/>
            <p:nvPr/>
          </p:nvSpPr>
          <p:spPr>
            <a:xfrm>
              <a:off x="10926538" y="7905872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8" name="Point / atom | 478"/>
            <p:cNvSpPr/>
            <p:nvPr/>
          </p:nvSpPr>
          <p:spPr>
            <a:xfrm>
              <a:off x="11077670" y="7905872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79" name="Point / atom | 479"/>
            <p:cNvSpPr/>
            <p:nvPr/>
          </p:nvSpPr>
          <p:spPr>
            <a:xfrm>
              <a:off x="11228803" y="7905872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80" name="Line / bond / contour | 480"/>
            <p:cNvCxnSpPr/>
            <p:nvPr/>
          </p:nvCxnSpPr>
          <p:spPr>
            <a:xfrm>
              <a:off x="10962098" y="7757137"/>
              <a:ext cx="302265" cy="184295"/>
            </a:xfrm>
            <a:prstGeom prst="line">
              <a:avLst/>
            </a:prstGeom>
            <a:noFill/>
            <a:ln w="10160" cap="rnd" cmpd="sng" algn="ctr">
              <a:solidFill>
                <a:srgbClr val="C8C0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1" name="Panel / block / cell | 481"/>
            <p:cNvSpPr/>
            <p:nvPr/>
          </p:nvSpPr>
          <p:spPr>
            <a:xfrm>
              <a:off x="11940921" y="7433564"/>
              <a:ext cx="581279" cy="676656"/>
            </a:xfrm>
            <a:prstGeom prst="roundRect">
              <a:avLst>
                <a:gd name="adj" fmla="val 4370"/>
              </a:avLst>
            </a:prstGeom>
            <a:solidFill>
              <a:srgbClr val="F3F1F5"/>
            </a:solidFill>
            <a:ln w="11430" cap="flat" cmpd="sng" algn="ctr">
              <a:solidFill>
                <a:srgbClr val="A597B6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82" name="Point / atom | 482"/>
            <p:cNvSpPr/>
            <p:nvPr/>
          </p:nvSpPr>
          <p:spPr>
            <a:xfrm>
              <a:off x="12044868" y="760776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83" name="Point / atom | 483"/>
            <p:cNvSpPr/>
            <p:nvPr/>
          </p:nvSpPr>
          <p:spPr>
            <a:xfrm>
              <a:off x="12196000" y="760776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84" name="Point / atom | 484"/>
            <p:cNvSpPr/>
            <p:nvPr/>
          </p:nvSpPr>
          <p:spPr>
            <a:xfrm>
              <a:off x="12347133" y="7607767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85" name="Point / atom | 485"/>
            <p:cNvSpPr/>
            <p:nvPr/>
          </p:nvSpPr>
          <p:spPr>
            <a:xfrm>
              <a:off x="12044868" y="7858130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86" name="Point / atom | 486"/>
            <p:cNvSpPr/>
            <p:nvPr/>
          </p:nvSpPr>
          <p:spPr>
            <a:xfrm>
              <a:off x="12196000" y="7858130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87" name="Point / atom | 487"/>
            <p:cNvSpPr/>
            <p:nvPr/>
          </p:nvSpPr>
          <p:spPr>
            <a:xfrm>
              <a:off x="12347133" y="7858130"/>
              <a:ext cx="71120" cy="71120"/>
            </a:xfrm>
            <a:prstGeom prst="ellipse">
              <a:avLst/>
            </a:prstGeom>
            <a:solidFill>
              <a:srgbClr val="9A8AAE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88" name="Line / bond / contour | 488"/>
            <p:cNvCxnSpPr/>
            <p:nvPr/>
          </p:nvCxnSpPr>
          <p:spPr>
            <a:xfrm>
              <a:off x="12080428" y="7643327"/>
              <a:ext cx="302265" cy="250363"/>
            </a:xfrm>
            <a:prstGeom prst="line">
              <a:avLst/>
            </a:prstGeom>
            <a:noFill/>
            <a:ln w="10160" cap="rnd" cmpd="sng" algn="ctr">
              <a:solidFill>
                <a:srgbClr val="C8C0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9" name="Arrow | 489"/>
            <p:cNvSpPr/>
            <p:nvPr/>
          </p:nvSpPr>
          <p:spPr>
            <a:xfrm>
              <a:off x="6743700" y="6591300"/>
              <a:ext cx="629006" cy="1104900"/>
            </a:xfrm>
            <a:custGeom>
              <a:avLst/>
              <a:gdLst/>
              <a:ahLst/>
              <a:cxnLst/>
              <a:rect l="0" t="0" r="w" b="h"/>
              <a:pathLst>
                <a:path w="629006" h="1104900" fill="none" extrusionOk="0">
                  <a:moveTo>
                    <a:pt x="0" y="0"/>
                  </a:moveTo>
                  <a:lnTo>
                    <a:pt x="215900" y="0"/>
                  </a:lnTo>
                  <a:lnTo>
                    <a:pt x="215900" y="1104900"/>
                  </a:lnTo>
                  <a:lnTo>
                    <a:pt x="629006" y="1104900"/>
                  </a:lnTo>
                </a:path>
              </a:pathLst>
            </a:custGeom>
            <a:noFill/>
            <a:ln w="1397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0" name="Arrow | 490"/>
            <p:cNvSpPr/>
            <p:nvPr/>
          </p:nvSpPr>
          <p:spPr>
            <a:xfrm>
              <a:off x="6743700" y="7689494"/>
              <a:ext cx="215900" cy="95606"/>
            </a:xfrm>
            <a:custGeom>
              <a:avLst/>
              <a:gdLst/>
              <a:ahLst/>
              <a:cxnLst/>
              <a:rect l="0" t="0" r="w" b="h"/>
              <a:pathLst>
                <a:path w="215900" h="95606" fill="none" extrusionOk="0">
                  <a:moveTo>
                    <a:pt x="0" y="95606"/>
                  </a:moveTo>
                  <a:lnTo>
                    <a:pt x="215900" y="95606"/>
                  </a:lnTo>
                  <a:lnTo>
                    <a:pt x="215900" y="0"/>
                  </a:lnTo>
                </a:path>
              </a:pathLst>
            </a:custGeom>
            <a:noFill/>
            <a:ln w="13970" cap="rnd" cmpd="sng" algn="ctr">
              <a:solidFill>
                <a:srgbClr val="B8833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" name="Point / atom | 491"/>
            <p:cNvSpPr/>
            <p:nvPr/>
          </p:nvSpPr>
          <p:spPr>
            <a:xfrm>
              <a:off x="6924040" y="7660640"/>
              <a:ext cx="71120" cy="71120"/>
            </a:xfrm>
            <a:prstGeom prst="ellipse">
              <a:avLst/>
            </a:prstGeom>
            <a:solidFill>
              <a:srgbClr val="85729D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492" name="Arrow | 492"/>
            <p:cNvCxnSpPr/>
            <p:nvPr/>
          </p:nvCxnSpPr>
          <p:spPr>
            <a:xfrm>
              <a:off x="7772400" y="6032500"/>
              <a:ext cx="0" cy="946201"/>
            </a:xfrm>
            <a:prstGeom prst="line">
              <a:avLst/>
            </a:prstGeom>
            <a:noFill/>
            <a:ln w="13335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3" name="Arrow | 493"/>
            <p:cNvCxnSpPr/>
            <p:nvPr/>
          </p:nvCxnSpPr>
          <p:spPr>
            <a:xfrm>
              <a:off x="8902700" y="6032500"/>
              <a:ext cx="0" cy="946201"/>
            </a:xfrm>
            <a:prstGeom prst="line">
              <a:avLst/>
            </a:prstGeom>
            <a:noFill/>
            <a:ln w="13335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4" name="Arrow | 494"/>
            <p:cNvCxnSpPr/>
            <p:nvPr/>
          </p:nvCxnSpPr>
          <p:spPr>
            <a:xfrm>
              <a:off x="10033000" y="6032500"/>
              <a:ext cx="0" cy="946201"/>
            </a:xfrm>
            <a:prstGeom prst="line">
              <a:avLst/>
            </a:prstGeom>
            <a:noFill/>
            <a:ln w="13335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5" name="Arrow | 495"/>
            <p:cNvCxnSpPr/>
            <p:nvPr/>
          </p:nvCxnSpPr>
          <p:spPr>
            <a:xfrm>
              <a:off x="11150600" y="6032500"/>
              <a:ext cx="0" cy="946201"/>
            </a:xfrm>
            <a:prstGeom prst="line">
              <a:avLst/>
            </a:prstGeom>
            <a:noFill/>
            <a:ln w="13335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6" name="Arrow | 496"/>
            <p:cNvCxnSpPr/>
            <p:nvPr/>
          </p:nvCxnSpPr>
          <p:spPr>
            <a:xfrm>
              <a:off x="12293600" y="6032500"/>
              <a:ext cx="0" cy="946201"/>
            </a:xfrm>
            <a:prstGeom prst="line">
              <a:avLst/>
            </a:prstGeom>
            <a:noFill/>
            <a:ln w="13335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97" name="Panel / block / cell | 497"/>
            <p:cNvSpPr/>
            <p:nvPr/>
          </p:nvSpPr>
          <p:spPr>
            <a:xfrm>
              <a:off x="8586845" y="6391910"/>
              <a:ext cx="2892311" cy="2247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498" name="Text | Multi-scale voxel-to-point fusion"/>
            <p:cNvSpPr txBox="1"/>
            <p:nvPr/>
          </p:nvSpPr>
          <p:spPr>
            <a:xfrm>
              <a:off x="8829746" y="6391910"/>
              <a:ext cx="2406507" cy="22580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Multi-scale voxel-to-point fusion</a:t>
              </a:r>
              <a:endParaRPr lang="en-US" sz="1270"/>
            </a:p>
          </p:txBody>
        </p:sp>
        <p:sp>
          <p:nvSpPr>
            <p:cNvPr id="499" name="Panel / block / cell | 499"/>
            <p:cNvSpPr/>
            <p:nvPr/>
          </p:nvSpPr>
          <p:spPr>
            <a:xfrm>
              <a:off x="12954000" y="5003800"/>
              <a:ext cx="1816100" cy="838200"/>
            </a:xfrm>
            <a:prstGeom prst="roundRect">
              <a:avLst>
                <a:gd name="adj" fmla="val 4545"/>
              </a:avLst>
            </a:prstGeom>
            <a:solidFill>
              <a:srgbClr val="ECF3F8"/>
            </a:solidFill>
            <a:ln w="13970" cap="flat" cmpd="sng" algn="ctr">
              <a:solidFill>
                <a:srgbClr val="70A0BE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00" name="Text | Ligand-area"/>
            <p:cNvSpPr txBox="1"/>
            <p:nvPr/>
          </p:nvSpPr>
          <p:spPr>
            <a:xfrm>
              <a:off x="13357852" y="5215642"/>
              <a:ext cx="1008396" cy="22580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Ligand-area</a:t>
              </a:r>
              <a:endParaRPr lang="en-US" sz="1270"/>
            </a:p>
          </p:txBody>
        </p:sp>
        <p:sp>
          <p:nvSpPr>
            <p:cNvPr id="501" name="Text | probability"/>
            <p:cNvSpPr txBox="1"/>
            <p:nvPr/>
          </p:nvSpPr>
          <p:spPr>
            <a:xfrm>
              <a:off x="13420687" y="5420481"/>
              <a:ext cx="882725" cy="22580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probability</a:t>
              </a:r>
              <a:endParaRPr lang="en-US" sz="1270"/>
            </a:p>
          </p:txBody>
        </p:sp>
        <p:cxnSp>
          <p:nvCxnSpPr>
            <p:cNvPr id="502" name="Arrow | 502"/>
            <p:cNvCxnSpPr/>
            <p:nvPr/>
          </p:nvCxnSpPr>
          <p:spPr>
            <a:xfrm>
              <a:off x="12623800" y="5448300"/>
              <a:ext cx="248615" cy="0"/>
            </a:xfrm>
            <a:prstGeom prst="line">
              <a:avLst/>
            </a:prstGeom>
            <a:noFill/>
            <a:ln w="15240" cap="rnd" cmpd="sng" algn="ctr">
              <a:solidFill>
                <a:srgbClr val="397BA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3" name="Panel / block / cell | 503"/>
            <p:cNvSpPr/>
            <p:nvPr/>
          </p:nvSpPr>
          <p:spPr>
            <a:xfrm>
              <a:off x="12954000" y="7404100"/>
              <a:ext cx="1816100" cy="838200"/>
            </a:xfrm>
            <a:prstGeom prst="roundRect">
              <a:avLst>
                <a:gd name="adj" fmla="val 4545"/>
              </a:avLst>
            </a:prstGeom>
            <a:solidFill>
              <a:srgbClr val="F3EFF7"/>
            </a:solidFill>
            <a:ln w="13970" cap="flat" cmpd="sng" algn="ctr">
              <a:solidFill>
                <a:srgbClr val="A495B6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04" name="Text | Atom binding"/>
            <p:cNvSpPr txBox="1"/>
            <p:nvPr/>
          </p:nvSpPr>
          <p:spPr>
            <a:xfrm>
              <a:off x="13317569" y="7615942"/>
              <a:ext cx="1088962" cy="22580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Atom binding</a:t>
              </a:r>
              <a:endParaRPr lang="en-US" sz="1270"/>
            </a:p>
          </p:txBody>
        </p:sp>
        <p:sp>
          <p:nvSpPr>
            <p:cNvPr id="505" name="Text | probability q_i"/>
            <p:cNvSpPr txBox="1"/>
            <p:nvPr/>
          </p:nvSpPr>
          <p:spPr>
            <a:xfrm>
              <a:off x="13290671" y="7820781"/>
              <a:ext cx="1142758" cy="22580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probability q_i</a:t>
              </a:r>
              <a:endParaRPr lang="en-US" sz="1270"/>
            </a:p>
          </p:txBody>
        </p:sp>
        <p:cxnSp>
          <p:nvCxnSpPr>
            <p:cNvPr id="506" name="Arrow | 506"/>
            <p:cNvCxnSpPr/>
            <p:nvPr/>
          </p:nvCxnSpPr>
          <p:spPr>
            <a:xfrm>
              <a:off x="12623800" y="7747000"/>
              <a:ext cx="248615" cy="0"/>
            </a:xfrm>
            <a:prstGeom prst="line">
              <a:avLst/>
            </a:prstGeom>
            <a:noFill/>
            <a:ln w="15240" cap="rnd" cmpd="sng" algn="ctr">
              <a:solidFill>
                <a:srgbClr val="85729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7" name="Arrow | 507"/>
            <p:cNvSpPr/>
            <p:nvPr/>
          </p:nvSpPr>
          <p:spPr>
            <a:xfrm>
              <a:off x="7315200" y="5473700"/>
              <a:ext cx="5448300" cy="2933700"/>
            </a:xfrm>
            <a:custGeom>
              <a:avLst/>
              <a:gdLst/>
              <a:ahLst/>
              <a:cxnLst/>
              <a:rect l="0" t="0" r="w" b="h"/>
              <a:pathLst>
                <a:path w="5448300" h="2933700" fill="none" extrusionOk="0">
                  <a:moveTo>
                    <a:pt x="5359400" y="63500"/>
                  </a:moveTo>
                  <a:lnTo>
                    <a:pt x="5448300" y="63500"/>
                  </a:lnTo>
                  <a:lnTo>
                    <a:pt x="5448300" y="2933700"/>
                  </a:lnTo>
                  <a:lnTo>
                    <a:pt x="0" y="2933700"/>
                  </a:lnTo>
                  <a:lnTo>
                    <a:pt x="0" y="0"/>
                  </a:lnTo>
                  <a:lnTo>
                    <a:pt x="107696" y="0"/>
                  </a:lnTo>
                </a:path>
              </a:pathLst>
            </a:custGeom>
            <a:noFill/>
            <a:ln w="12700" cap="rnd" cmpd="sng" algn="ctr">
              <a:solidFill>
                <a:srgbClr val="59636C"/>
              </a:solidFill>
              <a:custDash>
                <a:ds d="400000" sp="300000"/>
              </a:custDash>
              <a:round/>
              <a:headEnd type="none" w="med" len="med"/>
              <a:tailEnd type="triangle" w="med" len="med"/>
            </a:ln>
          </p:spPr>
        </p:sp>
        <p:cxnSp>
          <p:nvCxnSpPr>
            <p:cNvPr id="508" name="Line / bond / contour | 508"/>
            <p:cNvCxnSpPr/>
            <p:nvPr/>
          </p:nvCxnSpPr>
          <p:spPr>
            <a:xfrm>
              <a:off x="12623800" y="7988300"/>
              <a:ext cx="139700" cy="0"/>
            </a:xfrm>
            <a:prstGeom prst="line">
              <a:avLst/>
            </a:prstGeom>
            <a:noFill/>
            <a:ln w="12700" cap="rnd" cmpd="sng" algn="ctr">
              <a:solidFill>
                <a:srgbClr val="59636C"/>
              </a:solidFill>
              <a:custDash>
                <a:ds d="400000" sp="300000"/>
              </a:custDash>
              <a:round/>
              <a:headEnd type="none" w="med" len="med"/>
              <a:tailEnd type="none" w="med" len="med"/>
            </a:ln>
          </p:spPr>
        </p:cxnSp>
        <p:cxnSp>
          <p:nvCxnSpPr>
            <p:cNvPr id="509" name="Arrow | 509"/>
            <p:cNvCxnSpPr/>
            <p:nvPr/>
          </p:nvCxnSpPr>
          <p:spPr>
            <a:xfrm>
              <a:off x="7315200" y="7962900"/>
              <a:ext cx="107696" cy="0"/>
            </a:xfrm>
            <a:prstGeom prst="line">
              <a:avLst/>
            </a:prstGeom>
            <a:noFill/>
            <a:ln w="12700" cap="rnd" cmpd="sng" algn="ctr">
              <a:solidFill>
                <a:srgbClr val="59636C"/>
              </a:solidFill>
              <a:custDash>
                <a:ds d="400000" sp="300000"/>
              </a:custDash>
              <a:round/>
              <a:headEnd type="none" w="med" len="med"/>
              <a:tailEnd type="triangle" w="med" len="med"/>
            </a:ln>
          </p:spPr>
        </p:cxnSp>
        <p:sp>
          <p:nvSpPr>
            <p:cNvPr id="510" name="Panel / block / cell | 510"/>
            <p:cNvSpPr/>
            <p:nvPr/>
          </p:nvSpPr>
          <p:spPr>
            <a:xfrm>
              <a:off x="8855964" y="8331200"/>
              <a:ext cx="2354072" cy="2159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11" name="Text | Recycle voxel / point states"/>
            <p:cNvSpPr txBox="1"/>
            <p:nvPr/>
          </p:nvSpPr>
          <p:spPr>
            <a:xfrm>
              <a:off x="9038600" y="8331200"/>
              <a:ext cx="1988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Recycle voxel / point states</a:t>
              </a:r>
              <a:endParaRPr lang="en-US" sz="1200"/>
            </a:p>
          </p:txBody>
        </p:sp>
        <p:sp>
          <p:nvSpPr>
            <p:cNvPr id="512" name="Text | Auxiliary heads: binding area · ligand distance · protein / nucleic mainchain"/>
            <p:cNvSpPr txBox="1"/>
            <p:nvPr/>
          </p:nvSpPr>
          <p:spPr>
            <a:xfrm>
              <a:off x="5067300" y="8658860"/>
              <a:ext cx="5276588" cy="216916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Auxiliary heads: binding area · ligand distance · protein / nucleic mainchain</a:t>
              </a:r>
              <a:endParaRPr lang="en-US" sz="1220"/>
            </a:p>
          </p:txBody>
        </p:sp>
      </p:grpSp>
      <p:cxnSp>
        <p:nvCxnSpPr>
          <p:cNvPr id="513" name="Line / bond / contour | 513"/>
          <p:cNvCxnSpPr/>
          <p:nvPr/>
        </p:nvCxnSpPr>
        <p:spPr>
          <a:xfrm>
            <a:off x="4927600" y="9067800"/>
            <a:ext cx="10007600" cy="0"/>
          </a:xfrm>
          <a:prstGeom prst="line">
            <a:avLst/>
          </a:prstGeom>
          <a:noFill/>
          <a:ln w="12700" cap="rnd" cmpd="sng" algn="ctr">
            <a:solidFill>
              <a:srgbClr val="E1E6E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4" name="d | Match and Build"/>
          <p:cNvGrpSpPr/>
          <p:nvPr/>
        </p:nvGrpSpPr>
        <p:grpSpPr>
          <a:xfrm>
            <a:off x="4927600" y="9175750"/>
            <a:ext cx="9829800" cy="2889758"/>
            <a:chOff x="4927600" y="9175750"/>
            <a:chExt cx="9829800" cy="2889758"/>
          </a:xfrm>
        </p:grpSpPr>
        <p:sp>
          <p:nvSpPr>
            <p:cNvPr id="515" name="Text | d"/>
            <p:cNvSpPr txBox="1"/>
            <p:nvPr/>
          </p:nvSpPr>
          <p:spPr>
            <a:xfrm>
              <a:off x="4927600" y="9175750"/>
              <a:ext cx="426720" cy="3289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d</a:t>
              </a:r>
              <a:endParaRPr lang="en-US" sz="1850"/>
            </a:p>
          </p:txBody>
        </p:sp>
        <p:sp>
          <p:nvSpPr>
            <p:cNvPr id="516" name="Text | Match and Build: explicit task boundaries"/>
            <p:cNvSpPr txBox="1"/>
            <p:nvPr/>
          </p:nvSpPr>
          <p:spPr>
            <a:xfrm>
              <a:off x="5245100" y="9207500"/>
              <a:ext cx="4180959" cy="28448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Match and Build: explicit task boundaries</a:t>
              </a:r>
              <a:endParaRPr lang="en-US" sz="1600"/>
            </a:p>
          </p:txBody>
        </p:sp>
        <p:sp>
          <p:nvSpPr>
            <p:cNvPr id="517" name="Text | Match"/>
            <p:cNvSpPr txBox="1"/>
            <p:nvPr/>
          </p:nvSpPr>
          <p:spPr>
            <a:xfrm>
              <a:off x="5105400" y="9613900"/>
              <a:ext cx="671175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Match</a:t>
              </a:r>
              <a:endParaRPr lang="en-US" sz="1400"/>
            </a:p>
          </p:txBody>
        </p:sp>
        <p:sp>
          <p:nvSpPr>
            <p:cNvPr id="518" name="Text | Build"/>
            <p:cNvSpPr txBox="1"/>
            <p:nvPr/>
          </p:nvSpPr>
          <p:spPr>
            <a:xfrm>
              <a:off x="10020300" y="9613900"/>
              <a:ext cx="601881" cy="24892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Build</a:t>
              </a:r>
              <a:endParaRPr lang="en-US" sz="1400"/>
            </a:p>
          </p:txBody>
        </p:sp>
        <p:sp>
          <p:nvSpPr>
            <p:cNvPr id="519" name="Text | S1"/>
            <p:cNvSpPr txBox="1"/>
            <p:nvPr/>
          </p:nvSpPr>
          <p:spPr>
            <a:xfrm>
              <a:off x="5652839" y="9975850"/>
              <a:ext cx="340221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S1</a:t>
              </a:r>
              <a:endParaRPr lang="en-US" sz="1250"/>
            </a:p>
          </p:txBody>
        </p:sp>
        <p:sp>
          <p:nvSpPr>
            <p:cNvPr id="520" name="Text | S2"/>
            <p:cNvSpPr txBox="1"/>
            <p:nvPr/>
          </p:nvSpPr>
          <p:spPr>
            <a:xfrm>
              <a:off x="6173539" y="9975850"/>
              <a:ext cx="340221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S2</a:t>
              </a:r>
              <a:endParaRPr lang="en-US" sz="1250"/>
            </a:p>
          </p:txBody>
        </p:sp>
        <p:sp>
          <p:nvSpPr>
            <p:cNvPr id="521" name="Text | ∅"/>
            <p:cNvSpPr txBox="1"/>
            <p:nvPr/>
          </p:nvSpPr>
          <p:spPr>
            <a:xfrm>
              <a:off x="6711950" y="9975850"/>
              <a:ext cx="304800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∅</a:t>
              </a:r>
              <a:endParaRPr lang="en-US" sz="1250"/>
            </a:p>
          </p:txBody>
        </p:sp>
        <p:sp>
          <p:nvSpPr>
            <p:cNvPr id="522" name="Text | B1"/>
            <p:cNvSpPr txBox="1"/>
            <p:nvPr/>
          </p:nvSpPr>
          <p:spPr>
            <a:xfrm>
              <a:off x="5095379" y="10299700"/>
              <a:ext cx="340221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B1</a:t>
              </a:r>
              <a:endParaRPr lang="en-US" sz="1250"/>
            </a:p>
          </p:txBody>
        </p:sp>
        <p:sp>
          <p:nvSpPr>
            <p:cNvPr id="523" name="Text | B2"/>
            <p:cNvSpPr txBox="1"/>
            <p:nvPr/>
          </p:nvSpPr>
          <p:spPr>
            <a:xfrm>
              <a:off x="5095379" y="10617200"/>
              <a:ext cx="340221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B2</a:t>
              </a:r>
              <a:endParaRPr lang="en-US" sz="1250"/>
            </a:p>
          </p:txBody>
        </p:sp>
        <p:sp>
          <p:nvSpPr>
            <p:cNvPr id="524" name="Text | B3"/>
            <p:cNvSpPr txBox="1"/>
            <p:nvPr/>
          </p:nvSpPr>
          <p:spPr>
            <a:xfrm>
              <a:off x="5095379" y="10934700"/>
              <a:ext cx="340221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B3</a:t>
              </a:r>
              <a:endParaRPr lang="en-US" sz="1250"/>
            </a:p>
          </p:txBody>
        </p:sp>
        <p:sp>
          <p:nvSpPr>
            <p:cNvPr id="525" name="Panel / block / cell | 525"/>
            <p:cNvSpPr/>
            <p:nvPr/>
          </p:nvSpPr>
          <p:spPr>
            <a:xfrm>
              <a:off x="5575300" y="10261600"/>
              <a:ext cx="495300" cy="2921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26" name="Panel / block / cell | 526"/>
            <p:cNvSpPr/>
            <p:nvPr/>
          </p:nvSpPr>
          <p:spPr>
            <a:xfrm>
              <a:off x="6096000" y="10261600"/>
              <a:ext cx="495300" cy="292100"/>
            </a:xfrm>
            <a:prstGeom prst="rect">
              <a:avLst/>
            </a:prstGeom>
            <a:solidFill>
              <a:srgbClr val="50A19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27" name="Line / bond / contour | 527"/>
            <p:cNvSpPr/>
            <p:nvPr/>
          </p:nvSpPr>
          <p:spPr>
            <a:xfrm>
              <a:off x="6292850" y="10369550"/>
              <a:ext cx="101600" cy="76200"/>
            </a:xfrm>
            <a:custGeom>
              <a:avLst/>
              <a:gdLst/>
              <a:ahLst/>
              <a:cxnLst/>
              <a:rect l="0" t="0" r="w" b="h"/>
              <a:pathLst>
                <a:path w="101600" h="76200" fill="none" extrusionOk="0">
                  <a:moveTo>
                    <a:pt x="0" y="38100"/>
                  </a:moveTo>
                  <a:lnTo>
                    <a:pt x="38100" y="76200"/>
                  </a:lnTo>
                  <a:lnTo>
                    <a:pt x="101600" y="0"/>
                  </a:lnTo>
                </a:path>
              </a:pathLst>
            </a:custGeom>
            <a:noFill/>
            <a:ln w="1905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8" name="Panel / block / cell | 528"/>
            <p:cNvSpPr/>
            <p:nvPr/>
          </p:nvSpPr>
          <p:spPr>
            <a:xfrm>
              <a:off x="6616700" y="10261600"/>
              <a:ext cx="495300" cy="2921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29" name="Panel / block / cell | 529"/>
            <p:cNvSpPr/>
            <p:nvPr/>
          </p:nvSpPr>
          <p:spPr>
            <a:xfrm>
              <a:off x="5575300" y="10579100"/>
              <a:ext cx="495300" cy="292100"/>
            </a:xfrm>
            <a:prstGeom prst="rect">
              <a:avLst/>
            </a:prstGeom>
            <a:solidFill>
              <a:srgbClr val="50A19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30" name="Line / bond / contour | 530"/>
            <p:cNvSpPr/>
            <p:nvPr/>
          </p:nvSpPr>
          <p:spPr>
            <a:xfrm>
              <a:off x="5772150" y="10687050"/>
              <a:ext cx="101600" cy="76200"/>
            </a:xfrm>
            <a:custGeom>
              <a:avLst/>
              <a:gdLst/>
              <a:ahLst/>
              <a:cxnLst/>
              <a:rect l="0" t="0" r="w" b="h"/>
              <a:pathLst>
                <a:path w="101600" h="76200" fill="none" extrusionOk="0">
                  <a:moveTo>
                    <a:pt x="0" y="38100"/>
                  </a:moveTo>
                  <a:lnTo>
                    <a:pt x="38100" y="76200"/>
                  </a:lnTo>
                  <a:lnTo>
                    <a:pt x="101600" y="0"/>
                  </a:lnTo>
                </a:path>
              </a:pathLst>
            </a:custGeom>
            <a:noFill/>
            <a:ln w="1905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1" name="Panel / block / cell | 531"/>
            <p:cNvSpPr/>
            <p:nvPr/>
          </p:nvSpPr>
          <p:spPr>
            <a:xfrm>
              <a:off x="6096000" y="10579100"/>
              <a:ext cx="495300" cy="2921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32" name="Panel / block / cell | 532"/>
            <p:cNvSpPr/>
            <p:nvPr/>
          </p:nvSpPr>
          <p:spPr>
            <a:xfrm>
              <a:off x="6616700" y="10579100"/>
              <a:ext cx="495300" cy="2921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33" name="Panel / block / cell | 533"/>
            <p:cNvSpPr/>
            <p:nvPr/>
          </p:nvSpPr>
          <p:spPr>
            <a:xfrm>
              <a:off x="5575300" y="10896600"/>
              <a:ext cx="495300" cy="2921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34" name="Panel / block / cell | 534"/>
            <p:cNvSpPr/>
            <p:nvPr/>
          </p:nvSpPr>
          <p:spPr>
            <a:xfrm>
              <a:off x="6096000" y="10896600"/>
              <a:ext cx="495300" cy="292100"/>
            </a:xfrm>
            <a:prstGeom prst="rect">
              <a:avLst/>
            </a:prstGeom>
            <a:solidFill>
              <a:srgbClr val="F0F3F4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35" name="Panel / block / cell | 535"/>
            <p:cNvSpPr/>
            <p:nvPr/>
          </p:nvSpPr>
          <p:spPr>
            <a:xfrm>
              <a:off x="6616700" y="10896600"/>
              <a:ext cx="495300" cy="292100"/>
            </a:xfrm>
            <a:prstGeom prst="rect">
              <a:avLst/>
            </a:prstGeom>
            <a:solidFill>
              <a:srgbClr val="8D959C"/>
            </a:solidFill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cxnSp>
          <p:nvCxnSpPr>
            <p:cNvPr id="536" name="Line / bond / contour | 536"/>
            <p:cNvCxnSpPr/>
            <p:nvPr/>
          </p:nvCxnSpPr>
          <p:spPr>
            <a:xfrm>
              <a:off x="6826250" y="11004550"/>
              <a:ext cx="76200" cy="76200"/>
            </a:xfrm>
            <a:prstGeom prst="line">
              <a:avLst/>
            </a:prstGeom>
            <a:noFill/>
            <a:ln w="1524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Line / bond / contour | 537"/>
            <p:cNvCxnSpPr/>
            <p:nvPr/>
          </p:nvCxnSpPr>
          <p:spPr>
            <a:xfrm flipV="1">
              <a:off x="6826250" y="11004550"/>
              <a:ext cx="76200" cy="76200"/>
            </a:xfrm>
            <a:prstGeom prst="line">
              <a:avLst/>
            </a:prstGeom>
            <a:noFill/>
            <a:ln w="15240" cap="rnd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38" name="Text | B1 → S2"/>
            <p:cNvSpPr txBox="1"/>
            <p:nvPr/>
          </p:nvSpPr>
          <p:spPr>
            <a:xfrm>
              <a:off x="7543800" y="10280650"/>
              <a:ext cx="839788" cy="2400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B1 → S2</a:t>
              </a:r>
              <a:endParaRPr lang="en-US" sz="1350"/>
            </a:p>
          </p:txBody>
        </p:sp>
        <p:sp>
          <p:nvSpPr>
            <p:cNvPr id="539" name="Text | B2 → S1"/>
            <p:cNvSpPr txBox="1"/>
            <p:nvPr/>
          </p:nvSpPr>
          <p:spPr>
            <a:xfrm>
              <a:off x="7543800" y="10648950"/>
              <a:ext cx="839788" cy="2400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B2 → S1</a:t>
              </a:r>
              <a:endParaRPr lang="en-US" sz="1350"/>
            </a:p>
          </p:txBody>
        </p:sp>
        <p:sp>
          <p:nvSpPr>
            <p:cNvPr id="540" name="Text | B3 → ∅  (reject)"/>
            <p:cNvSpPr txBox="1"/>
            <p:nvPr/>
          </p:nvSpPr>
          <p:spPr>
            <a:xfrm>
              <a:off x="7543800" y="11017250"/>
              <a:ext cx="1387336" cy="24003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B3 → ∅  (reject)</a:t>
              </a:r>
              <a:endParaRPr lang="en-US" sz="1350"/>
            </a:p>
          </p:txBody>
        </p:sp>
        <p:sp>
          <p:nvSpPr>
            <p:cNvPr id="541" name="Text | Blobs + AUX + supplied identities"/>
            <p:cNvSpPr txBox="1"/>
            <p:nvPr/>
          </p:nvSpPr>
          <p:spPr>
            <a:xfrm>
              <a:off x="5118100" y="11410950"/>
              <a:ext cx="2484636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Blobs + AUX + supplied identities</a:t>
              </a:r>
              <a:endParaRPr lang="en-US" sz="1250"/>
            </a:p>
          </p:txBody>
        </p:sp>
        <p:sp>
          <p:nvSpPr>
            <p:cNvPr id="542" name="Text | Illustrative assignments, not predictions."/>
            <p:cNvSpPr txBox="1"/>
            <p:nvPr/>
          </p:nvSpPr>
          <p:spPr>
            <a:xfrm>
              <a:off x="5118100" y="11671300"/>
              <a:ext cx="2844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59636C"/>
                  </a:solidFill>
                  <a:latin typeface="Arial"/>
                  <a:ea typeface="Arial"/>
                  <a:cs typeface="Arial"/>
                </a:rPr>
                <a:t>Illustrative assignments, not predictions.</a:t>
              </a:r>
              <a:endParaRPr lang="en-US" sz="1200"/>
            </a:p>
          </p:txBody>
        </p:sp>
        <p:cxnSp>
          <p:nvCxnSpPr>
            <p:cNvPr id="543" name="Line / bond / contour | 543"/>
            <p:cNvCxnSpPr/>
            <p:nvPr/>
          </p:nvCxnSpPr>
          <p:spPr>
            <a:xfrm>
              <a:off x="9728200" y="9715500"/>
              <a:ext cx="0" cy="2247900"/>
            </a:xfrm>
            <a:prstGeom prst="line">
              <a:avLst/>
            </a:prstGeom>
            <a:noFill/>
            <a:ln w="12700" cap="rnd" cmpd="sng" algn="ctr">
              <a:solidFill>
                <a:srgbClr val="E1E6E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4" name="Panel / block / cell | 544"/>
            <p:cNvSpPr/>
            <p:nvPr/>
          </p:nvSpPr>
          <p:spPr>
            <a:xfrm>
              <a:off x="10020300" y="10007600"/>
              <a:ext cx="4737100" cy="482600"/>
            </a:xfrm>
            <a:prstGeom prst="roundRect">
              <a:avLst>
                <a:gd name="adj" fmla="val 7895"/>
              </a:avLst>
            </a:prstGeom>
            <a:solidFill>
              <a:srgbClr val="F6F8F9"/>
            </a:solidFill>
            <a:ln w="1397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45" name="Text | Site p + SMILES + local receptor pocket"/>
            <p:cNvSpPr txBox="1"/>
            <p:nvPr/>
          </p:nvSpPr>
          <p:spPr>
            <a:xfrm>
              <a:off x="10873470" y="10143236"/>
              <a:ext cx="3030760" cy="227584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Site p + SMILES + local receptor pocket</a:t>
              </a:r>
              <a:endParaRPr lang="en-US" sz="1280"/>
            </a:p>
          </p:txBody>
        </p:sp>
        <p:sp>
          <p:nvSpPr>
            <p:cNvPr id="546" name="Arrow | 546"/>
            <p:cNvSpPr/>
            <p:nvPr/>
          </p:nvSpPr>
          <p:spPr>
            <a:xfrm>
              <a:off x="11163300" y="10515600"/>
              <a:ext cx="1244600" cy="273101"/>
            </a:xfrm>
            <a:custGeom>
              <a:avLst/>
              <a:gdLst/>
              <a:ahLst/>
              <a:cxnLst/>
              <a:rect l="0" t="0" r="w" b="h"/>
              <a:pathLst>
                <a:path w="1244600" h="273101" fill="none" extrusionOk="0">
                  <a:moveTo>
                    <a:pt x="1244600" y="0"/>
                  </a:moveTo>
                  <a:lnTo>
                    <a:pt x="1244600" y="139700"/>
                  </a:lnTo>
                  <a:lnTo>
                    <a:pt x="0" y="139700"/>
                  </a:lnTo>
                  <a:lnTo>
                    <a:pt x="0" y="273101"/>
                  </a:lnTo>
                </a:path>
              </a:pathLst>
            </a:custGeom>
            <a:noFill/>
            <a:ln w="13335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7" name="Arrow | 547"/>
            <p:cNvSpPr/>
            <p:nvPr/>
          </p:nvSpPr>
          <p:spPr>
            <a:xfrm>
              <a:off x="12407900" y="10655300"/>
              <a:ext cx="1282700" cy="133401"/>
            </a:xfrm>
            <a:custGeom>
              <a:avLst/>
              <a:gdLst/>
              <a:ahLst/>
              <a:cxnLst/>
              <a:rect l="0" t="0" r="w" b="h"/>
              <a:pathLst>
                <a:path w="1282700" h="133401" fill="none" extrusionOk="0">
                  <a:moveTo>
                    <a:pt x="0" y="0"/>
                  </a:moveTo>
                  <a:lnTo>
                    <a:pt x="1282700" y="0"/>
                  </a:lnTo>
                  <a:lnTo>
                    <a:pt x="1282700" y="133401"/>
                  </a:lnTo>
                </a:path>
              </a:pathLst>
            </a:custGeom>
            <a:noFill/>
            <a:ln w="13335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8" name="Panel / block / cell | 548"/>
            <p:cNvSpPr/>
            <p:nvPr/>
          </p:nvSpPr>
          <p:spPr>
            <a:xfrm>
              <a:off x="10020300" y="10858500"/>
              <a:ext cx="2273300" cy="660400"/>
            </a:xfrm>
            <a:prstGeom prst="roundRect">
              <a:avLst>
                <a:gd name="adj" fmla="val 5769"/>
              </a:avLst>
            </a:prstGeom>
            <a:solidFill>
              <a:srgbClr val="FAF4E9"/>
            </a:solidFill>
            <a:ln w="13970" cap="flat" cmpd="sng" algn="ctr">
              <a:solidFill>
                <a:srgbClr val="CDA872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49" name="Text | With density"/>
            <p:cNvSpPr txBox="1"/>
            <p:nvPr/>
          </p:nvSpPr>
          <p:spPr>
            <a:xfrm>
              <a:off x="10592028" y="10985500"/>
              <a:ext cx="1129844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With density</a:t>
              </a:r>
              <a:endParaRPr lang="en-US" sz="1300"/>
            </a:p>
          </p:txBody>
        </p:sp>
        <p:sp>
          <p:nvSpPr>
            <p:cNvPr id="550" name="Text | Fine-tuned PocketXmol"/>
            <p:cNvSpPr txBox="1"/>
            <p:nvPr/>
          </p:nvSpPr>
          <p:spPr>
            <a:xfrm>
              <a:off x="10258911" y="11220450"/>
              <a:ext cx="1796078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Fine-tuned PocketXmol</a:t>
              </a:r>
              <a:endParaRPr lang="en-US" sz="1250"/>
            </a:p>
          </p:txBody>
        </p:sp>
        <p:sp>
          <p:nvSpPr>
            <p:cNvPr id="551" name="Panel / block / cell | 551"/>
            <p:cNvSpPr/>
            <p:nvPr/>
          </p:nvSpPr>
          <p:spPr>
            <a:xfrm>
              <a:off x="12484100" y="10858500"/>
              <a:ext cx="2273300" cy="660400"/>
            </a:xfrm>
            <a:prstGeom prst="roundRect">
              <a:avLst>
                <a:gd name="adj" fmla="val 5769"/>
              </a:avLst>
            </a:prstGeom>
            <a:solidFill>
              <a:srgbClr val="F6F8F9"/>
            </a:solidFill>
            <a:ln w="13970" cap="flat" cmpd="sng" algn="ctr">
              <a:solidFill>
                <a:srgbClr val="A9B2B9"/>
              </a:solidFill>
              <a:prstDash val="solid"/>
              <a:miter lim="800000"/>
              <a:headEnd type="none" w="med" len="med"/>
              <a:tailEnd type="none" w="med" len="med"/>
            </a:ln>
          </p:spPr>
        </p:sp>
        <p:sp>
          <p:nvSpPr>
            <p:cNvPr id="552" name="Text | Without density"/>
            <p:cNvSpPr txBox="1"/>
            <p:nvPr/>
          </p:nvSpPr>
          <p:spPr>
            <a:xfrm>
              <a:off x="12927489" y="10985500"/>
              <a:ext cx="1386522" cy="23114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Without density</a:t>
              </a:r>
              <a:endParaRPr lang="en-US" sz="1300"/>
            </a:p>
          </p:txBody>
        </p:sp>
        <p:sp>
          <p:nvSpPr>
            <p:cNvPr id="553" name="Text | Official PocketXmol"/>
            <p:cNvSpPr txBox="1"/>
            <p:nvPr/>
          </p:nvSpPr>
          <p:spPr>
            <a:xfrm>
              <a:off x="12861032" y="11220450"/>
              <a:ext cx="1519436" cy="22225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Official PocketXmol</a:t>
              </a:r>
              <a:endParaRPr lang="en-US" sz="1250"/>
            </a:p>
          </p:txBody>
        </p:sp>
        <p:sp>
          <p:nvSpPr>
            <p:cNvPr id="554" name="Arrow | 554"/>
            <p:cNvSpPr/>
            <p:nvPr/>
          </p:nvSpPr>
          <p:spPr>
            <a:xfrm>
              <a:off x="11163300" y="11582400"/>
              <a:ext cx="1237996" cy="165100"/>
            </a:xfrm>
            <a:custGeom>
              <a:avLst/>
              <a:gdLst/>
              <a:ahLst/>
              <a:cxnLst/>
              <a:rect l="0" t="0" r="w" b="h"/>
              <a:pathLst>
                <a:path w="1237996" h="165100" fill="none" extrusionOk="0">
                  <a:moveTo>
                    <a:pt x="0" y="0"/>
                  </a:moveTo>
                  <a:lnTo>
                    <a:pt x="0" y="165100"/>
                  </a:lnTo>
                  <a:lnTo>
                    <a:pt x="1237996" y="165100"/>
                  </a:lnTo>
                </a:path>
              </a:pathLst>
            </a:custGeom>
            <a:noFill/>
            <a:ln w="1270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5" name="Arrow | 555"/>
            <p:cNvSpPr/>
            <p:nvPr/>
          </p:nvSpPr>
          <p:spPr>
            <a:xfrm>
              <a:off x="12528804" y="11582400"/>
              <a:ext cx="1110996" cy="165100"/>
            </a:xfrm>
            <a:custGeom>
              <a:avLst/>
              <a:gdLst/>
              <a:ahLst/>
              <a:cxnLst/>
              <a:rect l="0" t="0" r="w" b="h"/>
              <a:pathLst>
                <a:path w="1110996" h="165100" fill="none" extrusionOk="0">
                  <a:moveTo>
                    <a:pt x="1110996" y="0"/>
                  </a:moveTo>
                  <a:lnTo>
                    <a:pt x="1110996" y="165100"/>
                  </a:lnTo>
                  <a:lnTo>
                    <a:pt x="0" y="165100"/>
                  </a:lnTo>
                </a:path>
              </a:pathLst>
            </a:custGeom>
            <a:noFill/>
            <a:ln w="12700" cap="rnd" cmpd="sng" algn="ctr">
              <a:solidFill>
                <a:srgbClr val="59636C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6" name="Text | All-atom ligand pose(s)"/>
            <p:cNvSpPr txBox="1"/>
            <p:nvPr/>
          </p:nvSpPr>
          <p:spPr>
            <a:xfrm>
              <a:off x="11516257" y="11841480"/>
              <a:ext cx="1783286" cy="224028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0" b="0" i="0" u="none" strike="noStrike" baseline="0" dirty="0">
                  <a:solidFill>
                    <a:srgbClr val="20262B"/>
                  </a:solidFill>
                  <a:latin typeface="Arial"/>
                  <a:ea typeface="Arial"/>
                  <a:cs typeface="Arial"/>
                </a:rPr>
                <a:t>All-atom ligand pose(s)</a:t>
              </a:r>
              <a:endParaRPr lang="en-US" sz="1260"/>
            </a:p>
          </p:txBody>
        </p:sp>
      </p:grpSp>
      <p:grpSp>
        <p:nvGrpSpPr>
          <p:cNvPr id="557" name="Figure disclaimer / 图注提示"/>
          <p:cNvGrpSpPr/>
          <p:nvPr/>
        </p:nvGrpSpPr>
        <p:grpSpPr>
          <a:xfrm>
            <a:off x="304800" y="12192000"/>
            <a:ext cx="7669470" cy="213360"/>
            <a:chOff x="304800" y="12192000"/>
            <a:chExt cx="7669470" cy="213360"/>
          </a:xfrm>
        </p:grpSpPr>
        <p:sp>
          <p:nvSpPr>
            <p:cNvPr id="558" name="Text | Schematic only. R1 / R3 mark reserved structure renders; dimensions and task interfaces follow the m"/>
            <p:cNvSpPr txBox="1"/>
            <p:nvPr/>
          </p:nvSpPr>
          <p:spPr>
            <a:xfrm>
              <a:off x="304800" y="12192000"/>
              <a:ext cx="7669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horzOverflow="overflow" wrap="none" lIns="0" tIns="0" rIns="0" bIns="0" rtlCol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baseline="0" dirty="0">
                  <a:solidFill>
                    <a:srgbClr val="59636C"/>
                  </a:solidFill>
                  <a:latin typeface="Arial"/>
                  <a:ea typeface="Arial"/>
                  <a:cs typeface="Arial"/>
                </a:rPr>
                <a:t>Schematic only. R1 / R3 mark reserved structure renders; dimensions and task interfaces follow the manuscript.</a:t>
              </a:r>
              <a:endParaRPr lang="en-US" sz="1200"/>
            </a:p>
          </p:txBody>
        </p:sp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E149CC-AA4D-0956-88A3-5C68B9877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74" y="1817648"/>
            <a:ext cx="14324966" cy="41560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68211C0-C44E-BFE7-F805-A7165B86E15F}"/>
                  </a:ext>
                </a:extLst>
              </p14:cNvPr>
              <p14:cNvContentPartPr/>
              <p14:nvPr/>
            </p14:nvContentPartPr>
            <p14:xfrm>
              <a:off x="3465817" y="857599"/>
              <a:ext cx="4619520" cy="9268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68211C0-C44E-BFE7-F805-A7165B86E1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9697" y="851479"/>
                <a:ext cx="4631760" cy="9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045249A6-E3F6-D478-2D67-7439F69A2A71}"/>
                  </a:ext>
                </a:extLst>
              </p14:cNvPr>
              <p14:cNvContentPartPr/>
              <p14:nvPr/>
            </p14:nvContentPartPr>
            <p14:xfrm>
              <a:off x="9903697" y="1973599"/>
              <a:ext cx="2349000" cy="721944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045249A6-E3F6-D478-2D67-7439F69A2A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97577" y="1967479"/>
                <a:ext cx="2361240" cy="72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F3000649-C7EC-845D-FC28-0C209E88C041}"/>
                  </a:ext>
                </a:extLst>
              </p14:cNvPr>
              <p14:cNvContentPartPr/>
              <p14:nvPr/>
            </p14:nvContentPartPr>
            <p14:xfrm>
              <a:off x="34985" y="4120406"/>
              <a:ext cx="3041640" cy="625824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F3000649-C7EC-845D-FC28-0C209E88C0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865" y="4114286"/>
                <a:ext cx="3053880" cy="627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25720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>
            <a:extLst>
              <a:ext uri="{FF2B5EF4-FFF2-40B4-BE49-F238E27FC236}">
                <a16:creationId xmlns:a16="http://schemas.microsoft.com/office/drawing/2014/main" id="{6B5E1109-869D-608C-845B-3B0A2DEF6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503" y="1047765"/>
            <a:ext cx="11240000" cy="9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388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608</Words>
  <Application>Microsoft Office PowerPoint</Application>
  <PresentationFormat>自定义</PresentationFormat>
  <Paragraphs>91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Pocket_Plus | Three editable model figures</dc:title>
  <dc:subject>Native editable reconstruction of the supplied V1, V2 and V3 SVG figures</dc:subject>
  <dc:creator>Hongen Peng</dc:creator>
  <cp:keywords>Pocket_Plus, model figure, native shapes, editable, Find, Match, Build</cp:keywords>
  <dc:description>All visible objects are native editable PowerPoint shapes or text. No flattened figure images.</dc:description>
  <cp:lastModifiedBy>Hongen Peng</cp:lastModifiedBy>
  <cp:revision>4</cp:revision>
  <dcterms:created xsi:type="dcterms:W3CDTF">2013-01-27T09:14:16Z</dcterms:created>
  <dcterms:modified xsi:type="dcterms:W3CDTF">2026-09-29T14:35:45Z</dcterms:modified>
  <cp:category/>
</cp:coreProperties>
</file>