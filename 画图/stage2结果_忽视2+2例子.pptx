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9787" autoAdjust="0"/>
  </p:normalViewPr>
  <p:slideViewPr>
    <p:cSldViewPr snapToGrid="0" snapToObjects="1">
      <p:cViewPr varScale="1">
        <p:scale>
          <a:sx n="42" d="100"/>
          <a:sy n="42" d="100"/>
        </p:scale>
        <p:origin x="16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  <p188:cm id="{B9F283BF-D9BC-4558-8ECB-9B7F69678842}" authorId="{D3F71A66-0C34-DF1A-5236-FECDBC820DCB}" created="2026-10-22T15:53:22.979Z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t>PROVENANCE v1</a:t>
        </a:r>
      </a:p>
      <a:p>
        <a:r>
          <a:t>id: stage2-radar-pair</a:t>
        </a:r>
      </a:p>
      <a:p>
        <a:r>
          <a:t>source: 画图/画图代码/stage2/calculate/图表追溯.md</a:t>
        </a:r>
      </a:p>
      <a:p>
        <a:r>
          <a:t/>
        </a:r>
      </a:p>
      <a:p>
        <a:r>
          <a:t>## stage2-radar-pair｜四种 Match 模型的六轴比较</a:t>
        </a:r>
      </a:p>
      <a:p>
        <a:r>
          <a:t/>
        </a:r>
      </a:p>
      <a:p>
        <a:r>
          <a:t>**共享关系与本图选择。** 本图与`@@stage2-strongest-pair`关联的共享代码位于 `stage2/calculate/stage2-results-shared/`。六轴图和按身份数分组图共用冻结新口径及绘图实现，可一起构建两页PPT；各自入口分别选择radar或categories，不重新筛选实例或修改八个F1之外的统计。 本图选择radar六轴，默认new口径，上下分别为GT和CA2。</a:t>
        </a:r>
      </a:p>
      <a:p>
        <a:r>
          <a:t/>
        </a:r>
      </a:p>
      <a:p>
        <a:r>
          <a:t>**清空temp后的完整重建。** 从仓库根执行 `python -X utf8 -B 转换工具/ops/rebuild_figures.py --figure stage2-radar-pair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当前第 1 页的 a／b 分别为沉积受体／CryoAtom2 受体。六轴从顶部顺时针为总体身份、小分子、糖、前景 F1、金属离子、肽。strongest／voxel-only／density-only／pocket-only 的实际源实验键依次为 `strongest-1/density_only-106/density_only-0/pocket_only-0`。图中径向下界 20%，轮廓面积不作为指标。</a:t>
        </a:r>
      </a:p>
      <a:p>
        <a:r>
          <a:t/>
        </a:r>
      </a:p>
      <a:p>
        <a:r>
          <a:t>稳定独立重绘入口是 `stage2-radar-pair/ops/render.py`，只调用共享 `stage2-results-shared/plot_stage2_pairs.py::plot_radar_pair()`；原生 PPT 版本由 `build_editable_deck.mjs::drawRadarPanel()` 生成。两者默认读取当前新口径，只有显式传入 `--profile old` 才读取旧口径。当前正式新口径页历史上由原生旧图局部修补而来：归档在 `archive/calculate/stage2-profile-patch/patch_deck.py` 的 `points()/update_shape()` 将新 F1 映射到原对象，只更新 8 个点及 16 条相邻线段，并修改双语备注；保持其他作者对象。该历史修补有旧坐标和输入散列断言，不可反复套在已经修补过的 PPT 上。当前长期生成已直接读新 JSON，不依赖历史 patch。Python 默认写 `output/stage2-results/regenerated/&lt;稳定图名&gt;/`；JS 默认写 `temp/stage2-deck-build/`，均支持 `--output`。JS 从 `两种口径图注.json` 读取对应双语图注，先生成候选图集，不重建覆盖作者当前图页。</a:t>
        </a:r>
      </a:p>
      <a:p>
        <a:r>
          <a:t/>
        </a:r>
      </a:p>
      <a:p>
        <a:r>
          <a:t>原数值链是四模型 `frozen_test.json` → `stage2-radar-pair/ops/export_selected.py::export_selected()` 本地导出 selected 候选（原服务器导出命令 `stage2-radar-pair/export_selected.sh` 仍保留）→ `aggregate.py::aggregate()` → `data_忽视2+2例子.json/两种口径统计.json` → 直接绘图。四个完整原件从相邻 Matcher 本地冻结备份只读复制到 `output/stage2-results/frozen/&lt;模型&gt;.json`，逐一核对以下源 SHA-256：</a:t>
        </a:r>
      </a:p>
      <a:p>
        <a:r>
          <a:t/>
        </a:r>
      </a:p>
      <a:p>
        <a:r>
          <a:t>| 模型 | 完整冻结 JSON 的 SHA-256 |</a:t>
        </a:r>
      </a:p>
      <a:p>
        <a:r>
          <a:t>| --- | --- |</a:t>
        </a:r>
      </a:p>
      <a:p>
        <a:r>
          <a:t>| strongest-1 | 2ddfb14c063c8cdbe1ffebeb7be9493ae6014d73bf6e6be9eaca1746cb85495d |</a:t>
        </a:r>
      </a:p>
      <a:p>
        <a:r>
          <a:t>| density_only-106 | 33db6aef2de269203aa0e67729999d23e417e7caece33a2b27787c360fc1074d |</a:t>
        </a:r>
      </a:p>
      <a:p>
        <a:r>
          <a:t>| density_only-0 | cbfe0d18f03433f640806ed77ee6f1bdce6d4e472258a0101e0ad822dfa779a5 |</a:t>
        </a:r>
      </a:p>
      <a:p>
        <a:r>
          <a:t>| pocket_only-0 | f699dd0c4334fb4816ef4c0a220ec75e33370d13da696ada069bddf597137327 |</a:t>
        </a:r>
      </a:p>
      <a:p>
        <a:r>
          <a:t/>
        </a:r>
      </a:p>
      <a:p>
        <a:r>
          <a:t>正式服务器根是 `/storage/penghongen/Matcher/evaluation/final_smiles/&lt;模型&gt;/frozen_test.json`。`selected_predictions.json` 另保存逐候选 `pdb_id/centered_box_index/source_blob_index/matched_occurrence_id/foreground_probability/foreground_target/identity_supported/identity_correct` 及阈值、源散列，不以该摘录替代现在已保全的完整原件。</a:t>
        </a:r>
      </a:p>
      <a:p>
        <a:r>
          <a:t/>
        </a:r>
      </a:p>
      <a:p>
        <a:r>
          <a:t>当前排除规则是 `foreground_target and not identity_supported`，各受体排除来自 9ian、9oq7 的两个真前景候选，不删除身份不支持的背景。GT／CA2 候选总数从 1,653／1,651 改为 1,651／1,649；原背景数 413／489 不变；身份准确率分母仍为 1,238／1,160，不再次扣四个病例。F1 用各模型 BEST validation 冻结阈值，`aggregate.py` 复用已保全的 Matcher `source_code/matcher_metrics.py::foreground_counts()/foreground_average_precision()` 原函数快照（`source.json` 保存原位置与散列），先证明旧 F1/PRAUC 与原件一致，再按该排除重算。端到端候选排序与计费序列不使用本排除。</a:t>
        </a:r>
      </a:p>
      <a:p>
        <a:r>
          <a:t/>
        </a:r>
      </a:p>
      <a:p>
        <a:r>
          <a:t>strongest 的 GT 总体身份为 1087/1238=87.8029%，CA2 为 1004/1160=86.5517%，对应正文 87.8%／86.6%；新 F1 为 0.8604898828541001／0.8287088420273769，对应 86.0%／82.9%。类别支持数 GT 为小分子389、糖284、金属564、肽1，CA2 为348、277、534、1。肽只有一个候选，不从100%推断类别普遍能力。</a:t>
        </a:r>
      </a:p>
      <a:p>
        <a:r>
          <a:t/>
        </a:r>
      </a:p>
      <a:p>
        <a:r>
          <a:t>EMERALD-ID 只在小分子轴上画独立菱形，GT 为233/282=82.6241%，CA2 为263/313=84.0256%。其原查询范围84 PDB／357真实小分子位点，经成本截去最高10% PDB，不要求Find检出blob；分母282／313是至少一个候选身份有有效评分的位点。它与Match selected-blob小分子轴统计对象不同；不能把两个菱形解释为同一批blob的严格输入控制比较。原报告已保存于 `reports/nxu小分子真实测试.md` 与 `nxu小分子CryoAtom2测试.md`，原逐点根为 `/storage/penghongen/Matcher/evaluation/test_EMERALD-ID/`，本轮未把全部Rosetta逐点目录复制到本地。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  <p188:cm id="{91DCF31D-B599-4476-B332-A05BDFCA8C82}" authorId="{D3F71A66-0C34-DF1A-5236-FECDBC820DCB}" created="2026-10-22T15:53:22.979Z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t>PROVENANCE v1</a:t>
        </a:r>
      </a:p>
      <a:p>
        <a:r>
          <a:t>id: stage2-strongest-pair</a:t>
        </a:r>
      </a:p>
      <a:p>
        <a:r>
          <a:t>source: 画图/画图代码/stage2/calculate/图表追溯.md</a:t>
        </a:r>
      </a:p>
      <a:p>
        <a:r>
          <a:t/>
        </a:r>
      </a:p>
      <a:p>
        <a:r>
          <a:t>## stage2-strongest-pair｜按竞争身份数量分组的 strongest 匹配率</a:t>
        </a:r>
      </a:p>
      <a:p>
        <a:r>
          <a:t/>
        </a:r>
      </a:p>
      <a:p>
        <a:r>
          <a:t>**共享关系与本图选择。** 本图与`@@stage2-radar-pair`关联的共享代码位于 `stage2/calculate/stage2-results-shared/`。六轴图和按身份数分组图共用冻结新口径及绘图实现，可一起构建两页PPT；各自入口分别选择radar或categories，不重新筛选实例或修改八个F1之外的统计。 本图选择categories按候选身份数分组的正确数／支持数，默认new口径。</a:t>
        </a:r>
      </a:p>
      <a:p>
        <a:r>
          <a:t/>
        </a:r>
      </a:p>
      <a:p>
        <a:r>
          <a:t>**清空temp后的完整重建。** 从仓库根执行 `python -X utf8 -B 转换工具/ops/rebuild_figures.py --figure stage2-strongest-pair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当前第 2 页的 a／b 为 GT／CA2。稳定独立入口为 `stage2-strongest-pair/ops/render.py`，直接图形复用 `stage2-results-shared/plot_stage2_pairs.py::plot_categories_pair()`，原生PPT版本由 `build_editable_deck.mjs::drawCategoryPanel()` 生成，读取 `strongest_by_candidate_smiles_count`。按该 PDB 实际提供给 Matcher 的精确 SMILES 去重数分组，五组是1、2、3、4、≥5；不是仅数真实小分子身份，也不是实例数。各类准确率为该组身份受支持、selected 真前景候选的正确数／支持数，支持为0时不画连接到0的伪数据。</a:t>
        </a:r>
      </a:p>
      <a:p>
        <a:r>
          <a:t/>
        </a:r>
      </a:p>
      <a:p>
        <a:r>
          <a:t>当前GT五组支持数为419／459／113／85／162，CA2为413／443／91／63／150；分别合计1238／1160。每类五组正确数和支持数分别加和等于主图相应分类计数，绘图入口检查该等式。GT小分子在两身份组为73/77=94.8052%，四身份组为27/41=65.8537%，对应正文94.8%／65.9%。身份数&lt;4的GT样本991/1238=80.05%，CA2为947/1160=81.64%，解释正文“约80%”的分母。</a:t>
        </a:r>
      </a:p>
      <a:p>
        <a:r>
          <a:t/>
        </a:r>
      </a:p>
      <a:p>
        <a:r>
          <a:t>完整strongest冻结文件保存 `real_manifest_path/cryoatom2_manifest_path`，分别指向服务器 `/storage/penghongen/Matcher/manifests/test0_real_smiles_v1/manifest.json` 与 `test0_cryoatom2_smiles_v1/manifest.json`。两份原manifest及各自 `held_out_test_0_identities.jsonl/held_out_test_0_candidates.jsonl` 已从服务器只读保全到 `output/stage2-results/manifests/&lt;manifest目录&gt;/`；每个身份文件有347条PDB/SMILES身份记录，源清单为179 PDB，两受体身份轴相同。`ops/rebuild_groups.py::rebuild_groups()` 从这些实际输入身份精确去重，再连接strongest完整冻结预测，已重建四类别×五组×正确/支持计数并与当前图JSON逐值相同。它不使用只有77-PDB范围的端到端身份轴，也不从预测目标反推未命中身份。逐件来源和SHA-256见 `manifests/source_receipt.json`。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各模型在真实受体（a）和 CryoAtom2 重建受体（b）条件下的前景 F1 与配体身份匹配准确率。从顶部顺时针依次为总体 SMILES、小分子、糖类、前景 F1、金属离子和肽类六个轴，径向数值范围为 20%–100%。真实受体条件下，1,651 个候选需要进行分类和匹配，其中 1,238 个为前景，包括 389 个小分子、284 个糖类、564 个金属离子和 1 个肽类。CryoAtom2 重建受体条件下，1,649 个候选需要进行分类和匹配，其中 1,160 个为前景，包括 348 个小分子、277 个糖类、534 个金属离子和 1 个肽类。肽类仅占完整数据集中配体实例的 0.08%；未对这一稀有类别额外富集，因此仅有一个肽类测试案例。菱形表示 EMERALD-ID 在独立小分子测试集上的准确率，仅在返回有效预测的位点上取平均。真实受体和 CryoAtom2 重建受体条件下分别有 282 和 313 个位点返回预测。</a:t>
            </a:r>
            <a:endParaRPr lang="zh-CN"/>
          </a:p>
          <a:p>
            <a:r>
              <a:rPr lang="en-US" altLang="zh-CN" dirty="0"/>
              <a:t>ENGLISH:</a:t>
            </a:r>
          </a:p>
          <a:p>
            <a:r>
              <a:rPr lang="zh-CN" altLang="zh-CN" dirty="0"/>
              <a:t>Foreground F1 and ligand identity matching accuracy of each model with deposited receptors (a) and CryoAtom2-reconstructed receptors (b). Clockwise from the top, the six axes show overall SMILES, small molecules, sugars, foreground F1, metal ions and peptides. Radial values range from 20% to 100%. With deposited receptors, 1,651 candidates require classification and matching, of which 1,238 are foreground. These comprise 389 small molecules, 284 sugars, 564 metal ions and 1 peptide. With CryoAtom2-reconstructed receptors, 1,649 candidates require classification and matching, of which 1,160 are foreground. These comprise 348 small molecules, 277 sugars, 534 metal ions and 1 peptide. Peptides account for only 0.08% of ligand instances in the full dataset; this rare category was not additionally enriched, resulting in a single peptide test case. Diamonds indicate EMERALD-ID accuracy on an independent small-molecule test set, averaged only over sites returning valid predictions. Predictions were returned at 282 sites with deposited receptors and 313 sites with CryoAtom2-reconstructed receptors.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strongest 的配体身份匹配准确率随候选配体身份数量的变化，分别展示真实受体（a）和 CryoAtom2 重建受体（b）条件。真实受体条件下，含 1、2、3、4 和 ≥5 个竞争配体身份的分组分别包含 419、459、113、85 和 162 个位点。CryoAtom2 重建受体条件下，对应分组分别包含 413、443、91、63 和 150 个位点。一个候选身份表示所有候选区域所属的 PDB 均仅含一种配体身份，因此准确率自然为 100%。</a:t>
            </a:r>
            <a:endParaRPr lang="zh-CN"/>
          </a:p>
          <a:p>
            <a:r>
              <a:rPr lang="en-US" dirty="0"/>
              <a:t>ENGLISH:</a:t>
            </a:r>
          </a:p>
          <a:p>
            <a:r>
              <a:rPr lang="en-US" dirty="0"/>
              <a:t>Ligand identity matching accuracy of strongest versus the number of candidate ligand identities, with deposited receptors (a) and CryoAtom2-reconstructed receptors (b). With deposited receptors, groups with 1, 2, 3, 4 and ≥5 </a:t>
            </a:r>
            <a:r>
              <a:rPr lang="zh-CN" altLang="zh-CN" dirty="0"/>
              <a:t>competing ligand identities</a:t>
            </a:r>
            <a:r>
              <a:rPr lang="en-US" altLang="zh-CN" dirty="0"/>
              <a:t> </a:t>
            </a:r>
            <a:r>
              <a:rPr lang="en-US" dirty="0"/>
              <a:t>contain 419, 459, 113, 85 and 162 sites, respectively. With CryoAtom2-reconstructed receptors, the corresponding groups contain 413, 443, 91, 63 and 150 sites, respectively. One candidate identity means that all candidate regions belongs to a PDB entry containing only one ligand identity, so accuracy is naturally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98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920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915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7971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458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448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485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18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5583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564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457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37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6255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836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7259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0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4504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0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16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173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6927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38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13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167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Deposited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</a:t>
            </a:r>
            <a:r>
              <a:rPr lang="en-US" altLang="zh-CN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identities</a:t>
            </a: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1050</TotalTime>
  <Words>1791</Words>
  <Application>Microsoft Office PowerPoint</Application>
  <PresentationFormat>自定义</PresentationFormat>
  <Paragraphs>77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23</cp:revision>
  <dcterms:created xsi:type="dcterms:W3CDTF">2026-10-01T09:38:06Z</dcterms:created>
  <dcterms:modified xsi:type="dcterms:W3CDTF">2026-10-07T08:25:27Z</dcterms:modified>
</cp:coreProperties>
</file>