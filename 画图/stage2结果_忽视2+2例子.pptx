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10795000"/>
  <p:notesSz cx="10795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9787" autoAdjust="0"/>
  </p:normalViewPr>
  <p:slideViewPr>
    <p:cSldViewPr snapToGrid="0" snapToObjects="1">
      <p:cViewPr varScale="1">
        <p:scale>
          <a:sx n="42" d="100"/>
          <a:sy n="42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8C2FC2-D9AB-488B-B9ED-0C0227DDBAC8}" authorId="{D3F71A66-0C34-DF1A-5236-FECDBC820DCB}" created="2026-10-01T09:38:08.524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rPr lang="zh-CN" altLang="en-US"/>
          <a:t>@@stage2-radar-pair</a:t>
        </a:r>
      </a:p>
    </p188:txBody>
  </p188:cm>
  <p188:cm id="{B9F283BF-D9BC-4558-8ECB-9B7F69678842}" authorId="{D3F71A66-0C34-DF1A-5236-FECDBC820DCB}" created="2026-10-22T15:53:22.979Z">
    <pc:sldMkLst xmlns:pc="http://schemas.microsoft.com/office/powerpoint/2013/main/command">
      <pc:docMk/>
      <pc:sldMk cId="0" sldId="256"/>
    </pc:sldMkLst>
    <p188:pos x="101600" y="101600"/>
    <p188:txBody>
      <a:bodyPr/>
      <a:lstStyle/>
      <a:p>
        <a:r>
          <a:t>PROVENANCE v1</a:t>
        </a:r>
      </a:p>
      <a:p>
        <a:r>
          <a:t>id: stage2-radar-pair</a:t>
        </a:r>
      </a:p>
      <a:p>
        <a:r>
          <a:t>source: 画图/画图代码/stage2/calculate/图表追溯.md</a:t>
        </a:r>
      </a:p>
      <a:p>
        <a:r>
          <a:t/>
        </a:r>
      </a:p>
      <a:p>
        <a:r>
          <a:t>## stage2-radar-pair｜四种 Match 模型的六轴比较</a:t>
        </a:r>
      </a:p>
      <a:p>
        <a:r>
          <a:t/>
        </a:r>
      </a:p>
      <a:p>
        <a:r>
          <a:t>**共享关系与本图选择。** 本图与`@@stage2-strongest-pair`关联的共享代码位于 `stage2/calculate/stage2-results-shared/`。六轴图和按身份数分组图共用冻结新口径及绘图实现，可一起构建两页PPT；各自入口分别选择radar或categories，不重新筛选实例或修改八个F1之外的统计。 本图选择radar六轴，默认new口径，上下分别为GT和CA2。</a:t>
        </a:r>
      </a:p>
      <a:p>
        <a:r>
          <a:t/>
        </a:r>
      </a:p>
      <a:p>
        <a:r>
          <a:t>**清空temp后的完整重建。** 从仓库根执行 `python -X utf8 -B 转换工具/ops/rebuild_figures.py --figure stage2-radar-pair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当前第 1 页的 a／b 分别为沉积受体／CryoAtom2 受体。六轴从顶部顺时针为总体身份、小分子、糖、前景 F1、金属离子、肽。strongest／voxel-only／density-only／pocket-only 的实际源实验键依次为 `strongest-1/density_only-106/density_only-0/pocket_only-0`。图中径向下界 20%，轮廓面积不作为指标。</a:t>
        </a:r>
      </a:p>
      <a:p>
        <a:r>
          <a:t/>
        </a:r>
      </a:p>
      <a:p>
        <a:r>
          <a:t>稳定独立重绘入口是 `stage2-radar-pair/ops/render.py`，只调用共享 `stage2-results-shared/plot_stage2_pairs.py::plot_radar_pair()`；原生 PPT 版本由 `build_editable_deck.mjs::drawRadarPanel()` 生成。两者默认读取当前新口径，只有显式传入 `--profile old` 才读取旧口径。当前正式新口径页历史上由原生旧图局部修补而来：归档在 `archive/calculate/stage2-profile-patch/patch_deck.py` 的 `points()/update_shape()` 将新 F1 映射到原对象，只更新 8 个点及 16 条相邻线段，并修改双语备注；保持其他作者对象。该历史修补有旧坐标和输入散列断言，不可反复套在已经修补过的 PPT 上。当前长期生成已直接读新 JSON，不依赖历史 patch。Python 默认写 `output/stage2-results/regenerated/&lt;稳定图名&gt;/`；JS 默认写 `temp/stage2-deck-build/`，均支持 `--output`。JS 从 `两种口径图注.json` 读取对应双语图注，先生成候选图集，不重建覆盖作者当前图页。</a:t>
        </a:r>
      </a:p>
      <a:p>
        <a:r>
          <a:t/>
        </a:r>
      </a:p>
      <a:p>
        <a:r>
          <a:t>原数值链是四模型 `frozen_test.json` → `stage2-radar-pair/ops/export_selected.py::export_selected()` 本地导出 selected 候选（原服务器导出命令 `stage2-radar-pair/export_selected.sh` 仍保留）→ `aggregate.py::aggregate()` → `data_忽视2+2例子.json/两种口径统计.json` → 直接绘图。四个完整原件从相邻 Matcher 本地冻结备份只读复制到 `output/stage2-results/frozen/&lt;模型&gt;.json`，逐一核对以下源 SHA-256：</a:t>
        </a:r>
      </a:p>
      <a:p>
        <a:r>
          <a:t/>
        </a:r>
      </a:p>
      <a:p>
        <a:r>
          <a:t>| 模型 | 完整冻结 JSON 的 SHA-256 |</a:t>
        </a:r>
      </a:p>
      <a:p>
        <a:r>
          <a:t>| --- | --- |</a:t>
        </a:r>
      </a:p>
      <a:p>
        <a:r>
          <a:t>| strongest-1 | 2ddfb14c063c8cdbe1ffebeb7be9493ae6014d73bf6e6be9eaca1746cb85495d |</a:t>
        </a:r>
      </a:p>
      <a:p>
        <a:r>
          <a:t>| density_only-106 | 33db6aef2de269203aa0e67729999d23e417e7caece33a2b27787c360fc1074d |</a:t>
        </a:r>
      </a:p>
      <a:p>
        <a:r>
          <a:t>| density_only-0 | cbfe0d18f03433f640806ed77ee6f1bdce6d4e472258a0101e0ad822dfa779a5 |</a:t>
        </a:r>
      </a:p>
      <a:p>
        <a:r>
          <a:t>| pocket_only-0 | f699dd0c4334fb4816ef4c0a220ec75e33370d13da696ada069bddf597137327 |</a:t>
        </a:r>
      </a:p>
      <a:p>
        <a:r>
          <a:t/>
        </a:r>
      </a:p>
      <a:p>
        <a:r>
          <a:t>正式服务器根是 `/storage/penghongen/Matcher/evaluation/final_smiles/&lt;模型&gt;/frozen_test.json`。`selected_predictions.json` 另保存逐候选 `pdb_id/centered_box_index/source_blob_index/matched_occurrence_id/foreground_probability/foreground_target/identity_supported/identity_correct` 及阈值、源散列，不以该摘录替代现在已保全的完整原件。</a:t>
        </a:r>
      </a:p>
      <a:p>
        <a:r>
          <a:t/>
        </a:r>
      </a:p>
      <a:p>
        <a:r>
          <a:t>当前排除规则是 `foreground_target and not identity_supported`，各受体排除来自 9ian、9oq7 的两个真前景候选，不删除身份不支持的背景。GT／CA2 候选总数从 1,653／1,651 改为 1,651／1,649；原背景数 413／489 不变；身份准确率分母仍为 1,238／1,160，不再次扣四个病例。F1 用各模型 BEST validation 冻结阈值，`aggregate.py` 复用已保全的 Matcher `source_code/matcher_metrics.py::foreground_counts()/foreground_average_precision()` 原函数快照（`source.json` 保存原位置与散列），先证明旧 F1/PRAUC 与原件一致，再按该排除重算。端到端候选排序与计费序列不使用本排除。</a:t>
        </a:r>
      </a:p>
      <a:p>
        <a:r>
          <a:t/>
        </a:r>
      </a:p>
      <a:p>
        <a:r>
          <a:t>strongest 的 GT 总体身份为 1087/1238=87.8029%，CA2 为 1004/1160=86.5517%，对应正文 87.8%／86.6%；新 F1 为 0.8604898828541001／0.8287088420273769，对应 86.0%／82.9%。类别支持数 GT 为小分子389、糖284、金属564、肽1，CA2 为348、277、534、1。肽只有一个候选，不从100%推断类别普遍能力。</a:t>
        </a:r>
      </a:p>
      <a:p>
        <a:r>
          <a:t/>
        </a:r>
      </a:p>
      <a:p>
        <a:r>
          <a:t>EMERALD-ID 只在小分子轴上画独立菱形，GT 为233/282=82.6241%，CA2 为263/313=84.0256%。其原查询范围84 PDB／357真实小分子位点，经成本截去最高10% PDB，不要求Find检出blob；分母282／313是至少一个候选身份有有效评分的位点。它与Match selected-blob小分子轴统计对象不同；不能把两个菱形解释为同一批blob的严格输入控制比较。原报告已保存于 `reports/nxu小分子真实测试.md` 与 `nxu小分子CryoAtom2测试.md`，原逐点根为 `/storage/penghongen/Matcher/evaluation/test_EMERALD-ID/`，本轮未把全部Rosetta逐点目录复制到本地。</a:t>
        </a:r>
      </a:p>
    </p188:txBody>
  </p188:cm>
</p188:cmLst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723AB8C-3E60-4560-A8B1-22D3EBE4A200}" authorId="{D3F71A66-0C34-DF1A-5236-FECDBC820DCB}" created="2026-10-01T09:38:08.529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rPr lang="zh-CN" altLang="en-US"/>
          <a:t>@@stage2-strongest-pair</a:t>
        </a:r>
      </a:p>
    </p188:txBody>
  </p188:cm>
  <p188:cm id="{91DCF31D-B599-4476-B332-A05BDFCA8C82}" authorId="{D3F71A66-0C34-DF1A-5236-FECDBC820DCB}" created="2026-10-22T15:53:22.979Z">
    <pc:sldMkLst xmlns:pc="http://schemas.microsoft.com/office/powerpoint/2013/main/command">
      <pc:docMk/>
      <pc:sldMk cId="0" sldId="257"/>
    </pc:sldMkLst>
    <p188:pos x="101600" y="101600"/>
    <p188:txBody>
      <a:bodyPr/>
      <a:lstStyle/>
      <a:p>
        <a:r>
          <a:t>PROVENANCE v1</a:t>
        </a:r>
      </a:p>
      <a:p>
        <a:r>
          <a:t>id: stage2-strongest-pair</a:t>
        </a:r>
      </a:p>
      <a:p>
        <a:r>
          <a:t>source: 画图/画图代码/stage2/calculate/图表追溯.md</a:t>
        </a:r>
      </a:p>
      <a:p>
        <a:r>
          <a:t/>
        </a:r>
      </a:p>
      <a:p>
        <a:r>
          <a:t>## stage2-strongest-pair｜按竞争身份数量分组的 strongest 匹配率</a:t>
        </a:r>
      </a:p>
      <a:p>
        <a:r>
          <a:t/>
        </a:r>
      </a:p>
      <a:p>
        <a:r>
          <a:t>**共享关系与本图选择。** 本图与`@@stage2-radar-pair`关联的共享代码位于 `stage2/calculate/stage2-results-shared/`。六轴图和按身份数分组图共用冻结新口径及绘图实现，可一起构建两页PPT；各自入口分别选择radar或categories，不重新筛选实例或修改八个F1之外的统计。 本图选择categories按候选身份数分组的正确数／支持数，默认new口径。</a:t>
        </a:r>
      </a:p>
      <a:p>
        <a:r>
          <a:t/>
        </a:r>
      </a:p>
      <a:p>
        <a:r>
          <a:t>**清空temp后的完整重建。** 从仓库根执行 `python -X utf8 -B 转换工具/ops/rebuild_figures.py --figure stage2-strongest-pair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当前第 2 页的 a／b 为 GT／CA2。稳定独立入口为 `stage2-strongest-pair/ops/render.py`，直接图形复用 `stage2-results-shared/plot_stage2_pairs.py::plot_categories_pair()`，原生PPT版本由 `build_editable_deck.mjs::drawCategoryPanel()` 生成，读取 `strongest_by_candidate_smiles_count`。按该 PDB 实际提供给 Matcher 的精确 SMILES 去重数分组，五组是1、2、3、4、≥5；不是仅数真实小分子身份，也不是实例数。各类准确率为该组身份受支持、selected 真前景候选的正确数／支持数，支持为0时不画连接到0的伪数据。</a:t>
        </a:r>
      </a:p>
      <a:p>
        <a:r>
          <a:t/>
        </a:r>
      </a:p>
      <a:p>
        <a:r>
          <a:t>当前GT五组支持数为419／459／113／85／162，CA2为413／443／91／63／150；分别合计1238／1160。每类五组正确数和支持数分别加和等于主图相应分类计数，绘图入口检查该等式。GT小分子在两身份组为73/77=94.8052%，四身份组为27/41=65.8537%，对应正文94.8%／65.9%。身份数&lt;4的GT样本991/1238=80.05%，CA2为947/1160=81.64%，解释正文“约80%”的分母。</a:t>
        </a:r>
      </a:p>
      <a:p>
        <a:r>
          <a:t/>
        </a:r>
      </a:p>
      <a:p>
        <a:r>
          <a:t>完整strongest冻结文件保存 `real_manifest_path/cryoatom2_manifest_path`，分别指向服务器 `/storage/penghongen/Matcher/manifests/test0_real_smiles_v1/manifest.json` 与 `test0_cryoatom2_smiles_v1/manifest.json`。两份原manifest及各自 `held_out_test_0_identities.jsonl/held_out_test_0_candidates.jsonl` 已从服务器只读保全到 `output/stage2-results/manifests/&lt;manifest目录&gt;/`；每个身份文件有347条PDB/SMILES身份记录，源清单为179 PDB，两受体身份轴相同。`ops/rebuild_groups.py::rebuild_groups()` 从这些实际输入身份精确去重，再连接strongest完整冻结预测，已重建四类别×五组×正确/支持计数并与当前图JSON逐值相同。它不使用只有77-PDB范围的端到端身份轴，也不从预测目标反推未命中身份。逐件来源和SHA-256见 `manifests/source_receipt.json`。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2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各模型在真实受体（a）和 CryoAtom2 重建受体（b）条件下的前景 F1 与配体身份匹配准确率。从顶部顺时针依次为总体 SMILES、小分子、糖类、前景 F1、金属离子和肽类六个轴，径向数值范围为 20%–100%。真实受体条件下，1,651 个候选需要进行分类和匹配，其中 1,238 个为前景，包括 389 个小分子、284 个糖类、564 个金属离子和 1 个肽类。CryoAtom2 重建受体条件下，1,649 个候选需要进行分类和匹配，其中 1,160 个为前景，包括 348 个小分子、277 个糖类、534 个金属离子和 1 个肽类。肽类仅占完整数据集中配体实例的 0.08%；未对这一稀有类别额外富集，因此仅有一个肽类测试案例。菱形表示 EMERALD-ID 在独立小分子测试集上的准确率，仅在返回有效预测的位点上取平均。真实受体和 CryoAtom2 重建受体条件下分别有 282 和 313 个位点返回预测。</a:t>
            </a:r>
            <a:endParaRPr lang="zh-CN"/>
          </a:p>
          <a:p>
            <a:r>
              <a:rPr lang="en-US" altLang="zh-CN" dirty="0"/>
              <a:t>ENGLISH:</a:t>
            </a:r>
          </a:p>
          <a:p>
            <a:r>
              <a:rPr lang="zh-CN" altLang="zh-CN" dirty="0"/>
              <a:t>Foreground F1 and ligand identity matching accuracy of each model with deposited receptors (a) and CryoAtom2-reconstructed receptors (b). Clockwise from the top, the six axes show overall SMILES, small molecules, sugars, foreground F1, metal ions and peptides. Radial values range from 20% to 100%. With deposited receptors, 1,651 candidates require classification and matching, of which 1,238 are foreground. These comprise 389 small molecules, 284 sugars, 564 metal ions and 1 peptide. With CryoAtom2-reconstructed receptors, 1,649 candidates require classification and matching, of which 1,160 are foreground. These comprise 348 small molecules, 277 sugars, 534 metal ions and 1 peptide. Peptides account for only 0.08% of ligand instances in the full dataset; this rare category was not additionally enriched, resulting in a single peptide test case. Diamonds indicate EMERALD-ID accuracy on an independent small-molecule test set, averaged only over sites returning valid predictions. Predictions were returned at 282 sites with deposited receptors and 313 sites with CryoAtom2-reconstructed receptors.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strongest 的配体身份匹配准确率随候选配体身份数量的变化，分别展示真实受体（a）和 CryoAtom2 重建受体（b）条件。真实受体条件下，含 1、2、3、4 和 ≥5 个竞争配体身份的分组分别包含 419、459、113、85 和 162 个位点。CryoAtom2 重建受体条件下，对应分组分别包含 413、443、91、63 和 150 个位点。一个候选身份表示所有候选区域所属的 PDB 均仅含一种配体身份，因此准确率自然为 100%。</a:t>
            </a:r>
            <a:endParaRPr lang="zh-CN"/>
          </a:p>
          <a:p>
            <a:r>
              <a:rPr lang="en-US" dirty="0"/>
              <a:t>ENGLISH:</a:t>
            </a:r>
          </a:p>
          <a:p>
            <a:r>
              <a:rPr lang="en-US" dirty="0"/>
              <a:t>Ligand identity matching accuracy of strongest versus the number of candidate ligand identities, with deposited receptors (a) and CryoAtom2-reconstructed receptors (b). With deposited receptors, groups with 1, 2, 3, 4 and ≥5 </a:t>
            </a:r>
            <a:r>
              <a:rPr lang="zh-CN" altLang="zh-CN" dirty="0"/>
              <a:t>competing ligand identities</a:t>
            </a:r>
            <a:r>
              <a:rPr lang="en-US" altLang="zh-CN" dirty="0"/>
              <a:t> </a:t>
            </a:r>
            <a:r>
              <a:rPr lang="en-US" dirty="0"/>
              <a:t>contain 419, 459, 113, 85 and 162 sites, respectively. With CryoAtom2-reconstructed receptors, the corresponding groups contain 413, 443, 91, 63 and 150 sites, respectively. One candidate identity means that all candidate regions belongs to a PDB entry containing only one ligand identity, so accuracy is naturally 100%.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5600" y="1905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660400" y="1905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Deposited receptor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02038" y="21034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09431" y="19745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681288" y="11826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47738" y="10851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451100" y="9525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7315" y="8628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 flipV="1">
            <a:off x="4292600" y="952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51200" y="533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 flipV="1">
            <a:off x="4292600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7909" y="14033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92600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8694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292600" y="2794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96920" y="487426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i="1" dirty="0"/>
          </a:p>
        </p:txBody>
      </p:sp>
      <p:sp>
        <p:nvSpPr>
          <p:cNvPr id="19" name="Shape 16"/>
          <p:cNvSpPr/>
          <p:nvPr/>
        </p:nvSpPr>
        <p:spPr>
          <a:xfrm flipV="1">
            <a:off x="2697814" y="27940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315460" y="3771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697814" y="18732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315460" y="15367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292600" y="1233262"/>
            <a:ext cx="1446171" cy="72579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V="1">
            <a:off x="5304784" y="1959053"/>
            <a:ext cx="433988" cy="1419332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4292600" y="3378384"/>
            <a:ext cx="1012184" cy="93598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5661" y="3635164"/>
            <a:ext cx="1456939" cy="67920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97814" y="1873250"/>
            <a:ext cx="137847" cy="1761914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2697814" y="1233262"/>
            <a:ext cx="1594786" cy="6399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48150" y="1188812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694321" y="191460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260334" y="333393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48150" y="4269915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791211" y="359071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2600" y="1328089"/>
            <a:ext cx="1400050" cy="65759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 flipV="1">
            <a:off x="5150359" y="1985681"/>
            <a:ext cx="542291" cy="1303546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4292600" y="3289227"/>
            <a:ext cx="857759" cy="97971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06352" y="3594351"/>
            <a:ext cx="1386248" cy="67458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697814" y="1873250"/>
            <a:ext cx="208538" cy="172110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 flipV="1">
            <a:off x="2697814" y="1328089"/>
            <a:ext cx="1594786" cy="545161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48150" y="128363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48200" y="194123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105909" y="3244777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248150" y="4224489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861902" y="354990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292600" y="1445228"/>
            <a:ext cx="1271934" cy="61442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flipV="1">
            <a:off x="5143340" y="2059649"/>
            <a:ext cx="421194" cy="122552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4292600" y="3285175"/>
            <a:ext cx="850740" cy="99485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037130" y="3518846"/>
            <a:ext cx="1255470" cy="761187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697814" y="1873250"/>
            <a:ext cx="339316" cy="164559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flipV="1">
            <a:off x="2697814" y="1445228"/>
            <a:ext cx="1594786" cy="428022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248150" y="140077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520084" y="20151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098890" y="3240725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248150" y="4235583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92680" y="3474396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292600" y="1426634"/>
            <a:ext cx="1369302" cy="57679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V="1">
            <a:off x="5009973" y="2003433"/>
            <a:ext cx="651929" cy="120474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flipV="1">
            <a:off x="4292600" y="3208175"/>
            <a:ext cx="717373" cy="109564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3001785" y="3539252"/>
            <a:ext cx="1290815" cy="76457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697814" y="1873250"/>
            <a:ext cx="303971" cy="1666002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flipV="1">
            <a:off x="2697814" y="1426634"/>
            <a:ext cx="1594786" cy="44661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4248150" y="13821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17452" y="1958983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965523" y="316372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248150" y="4259375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2957335" y="3494802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653364" y="18288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52101" y="198433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763000" y="21209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902700" y="20764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9296400" y="19812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8763000" y="25146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902700" y="24701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296400" y="23749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8763000" y="29083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902700" y="28638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9296400" y="27686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8763000" y="33020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902700" y="32575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296400" y="31623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84" name="Shape 81"/>
          <p:cNvSpPr/>
          <p:nvPr/>
        </p:nvSpPr>
        <p:spPr>
          <a:xfrm>
            <a:off x="8851900" y="36195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296400" y="35560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  <p:sp>
        <p:nvSpPr>
          <p:cNvPr id="86" name="Text 83"/>
          <p:cNvSpPr/>
          <p:nvPr/>
        </p:nvSpPr>
        <p:spPr>
          <a:xfrm>
            <a:off x="355600" y="5461000"/>
            <a:ext cx="254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87" name="Text 84"/>
          <p:cNvSpPr/>
          <p:nvPr/>
        </p:nvSpPr>
        <p:spPr>
          <a:xfrm>
            <a:off x="660400" y="5461000"/>
            <a:ext cx="3810000" cy="330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CryoAtom2 receptor</a:t>
            </a:r>
            <a:endParaRPr lang="en-US" sz="1800" dirty="0"/>
          </a:p>
        </p:txBody>
      </p:sp>
      <p:sp>
        <p:nvSpPr>
          <p:cNvPr id="88" name="Shape 85"/>
          <p:cNvSpPr/>
          <p:nvPr/>
        </p:nvSpPr>
        <p:spPr>
          <a:xfrm>
            <a:off x="3602038" y="7373938"/>
            <a:ext cx="1381125" cy="13811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509431" y="724506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90" name="Shape 87"/>
          <p:cNvSpPr/>
          <p:nvPr/>
        </p:nvSpPr>
        <p:spPr>
          <a:xfrm>
            <a:off x="2681288" y="6453188"/>
            <a:ext cx="3222625" cy="3222625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DE3E6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4747738" y="6355692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  <p:sp>
        <p:nvSpPr>
          <p:cNvPr id="92" name="Shape 89"/>
          <p:cNvSpPr/>
          <p:nvPr/>
        </p:nvSpPr>
        <p:spPr>
          <a:xfrm>
            <a:off x="2451100" y="6223000"/>
            <a:ext cx="3683000" cy="3683000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A3AFB6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807315" y="6133348"/>
            <a:ext cx="355600" cy="254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72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200" dirty="0"/>
          </a:p>
        </p:txBody>
      </p:sp>
      <p:sp>
        <p:nvSpPr>
          <p:cNvPr id="94" name="Shape 91"/>
          <p:cNvSpPr/>
          <p:nvPr/>
        </p:nvSpPr>
        <p:spPr>
          <a:xfrm flipV="1">
            <a:off x="4292600" y="62230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251200" y="58039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SMILES</a:t>
            </a:r>
            <a:endParaRPr lang="en-US" sz="1400" dirty="0"/>
          </a:p>
        </p:txBody>
      </p:sp>
      <p:sp>
        <p:nvSpPr>
          <p:cNvPr id="96" name="Shape 93"/>
          <p:cNvSpPr/>
          <p:nvPr/>
        </p:nvSpPr>
        <p:spPr>
          <a:xfrm flipV="1">
            <a:off x="4292600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417909" y="667385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400" dirty="0"/>
          </a:p>
        </p:txBody>
      </p:sp>
      <p:sp>
        <p:nvSpPr>
          <p:cNvPr id="98" name="Shape 95"/>
          <p:cNvSpPr/>
          <p:nvPr/>
        </p:nvSpPr>
        <p:spPr>
          <a:xfrm>
            <a:off x="4292600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518694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400" dirty="0"/>
          </a:p>
        </p:txBody>
      </p:sp>
      <p:sp>
        <p:nvSpPr>
          <p:cNvPr id="100" name="Shape 97"/>
          <p:cNvSpPr/>
          <p:nvPr/>
        </p:nvSpPr>
        <p:spPr>
          <a:xfrm>
            <a:off x="4292600" y="8064500"/>
            <a:ext cx="127" cy="184150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3296920" y="1014476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Foreground F1</a:t>
            </a:r>
            <a:endParaRPr lang="en-US" sz="1400" i="1" dirty="0"/>
          </a:p>
        </p:txBody>
      </p:sp>
      <p:sp>
        <p:nvSpPr>
          <p:cNvPr id="102" name="Shape 99"/>
          <p:cNvSpPr/>
          <p:nvPr/>
        </p:nvSpPr>
        <p:spPr>
          <a:xfrm flipV="1">
            <a:off x="2697814" y="806450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315460" y="90424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400" dirty="0"/>
          </a:p>
        </p:txBody>
      </p:sp>
      <p:sp>
        <p:nvSpPr>
          <p:cNvPr id="104" name="Shape 101"/>
          <p:cNvSpPr/>
          <p:nvPr/>
        </p:nvSpPr>
        <p:spPr>
          <a:xfrm>
            <a:off x="2697814" y="7143750"/>
            <a:ext cx="1594786" cy="920750"/>
          </a:xfrm>
          <a:prstGeom prst="line">
            <a:avLst/>
          </a:prstGeom>
          <a:noFill/>
          <a:ln w="8890">
            <a:solidFill>
              <a:srgbClr val="DDE3E6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315460" y="6807200"/>
            <a:ext cx="20828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400" dirty="0"/>
          </a:p>
        </p:txBody>
      </p:sp>
      <p:sp>
        <p:nvSpPr>
          <p:cNvPr id="106" name="Shape 103"/>
          <p:cNvSpPr/>
          <p:nvPr/>
        </p:nvSpPr>
        <p:spPr>
          <a:xfrm>
            <a:off x="4292600" y="6532563"/>
            <a:ext cx="1428662" cy="707099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 flipV="1">
            <a:off x="5246881" y="7239661"/>
            <a:ext cx="474382" cy="1375793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 flipV="1">
            <a:off x="4292600" y="8615454"/>
            <a:ext cx="954281" cy="896255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2839673" y="8903348"/>
            <a:ext cx="1452927" cy="608361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697814" y="7143750"/>
            <a:ext cx="141858" cy="175959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 flipV="1">
            <a:off x="2697814" y="6532563"/>
            <a:ext cx="1594786" cy="611188"/>
          </a:xfrm>
          <a:prstGeom prst="line">
            <a:avLst/>
          </a:prstGeom>
          <a:noFill/>
          <a:ln w="30480">
            <a:solidFill>
              <a:srgbClr val="BE493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4248150" y="6488113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5676812" y="7195211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4248150" y="9467259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2795223" y="8858898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BE493B"/>
          </a:solidFill>
          <a:ln w="5080">
            <a:solidFill>
              <a:srgbClr val="BE493B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292600" y="6554391"/>
            <a:ext cx="1451576" cy="67204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 flipV="1">
            <a:off x="5246881" y="7226432"/>
            <a:ext cx="497295" cy="1389022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 flipV="1">
            <a:off x="4292600" y="8615454"/>
            <a:ext cx="954281" cy="88006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2895669" y="8871018"/>
            <a:ext cx="1396931" cy="624504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2697814" y="7143750"/>
            <a:ext cx="197855" cy="1727268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 flipV="1">
            <a:off x="2697814" y="6554391"/>
            <a:ext cx="1594786" cy="589359"/>
          </a:xfrm>
          <a:prstGeom prst="line">
            <a:avLst/>
          </a:prstGeom>
          <a:noFill/>
          <a:ln w="30480">
            <a:solidFill>
              <a:srgbClr val="265B8A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4248150" y="6509941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5699726" y="7181982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202431" y="8571004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4248150" y="9451073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2851219" y="8826568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265B8A"/>
          </a:solidFill>
          <a:ln w="5080">
            <a:solidFill>
              <a:srgbClr val="265B8A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4292600" y="6677422"/>
            <a:ext cx="1337008" cy="615156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 flipV="1">
            <a:off x="5167717" y="7292578"/>
            <a:ext cx="461891" cy="1277171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 flipV="1">
            <a:off x="4292600" y="8569749"/>
            <a:ext cx="875117" cy="9316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11396" y="8804204"/>
            <a:ext cx="1281204" cy="697173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2697814" y="7143750"/>
            <a:ext cx="313581" cy="1660454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 flipV="1">
            <a:off x="2697814" y="6677422"/>
            <a:ext cx="1594786" cy="466328"/>
          </a:xfrm>
          <a:prstGeom prst="line">
            <a:avLst/>
          </a:prstGeom>
          <a:noFill/>
          <a:ln w="30480">
            <a:solidFill>
              <a:srgbClr val="438D7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4248150" y="6632972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5585158" y="7248128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123267" y="8525299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248150" y="9456927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2966946" y="8759754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438D79"/>
          </a:solidFill>
          <a:ln w="5080">
            <a:solidFill>
              <a:srgbClr val="438D7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4292600" y="6663531"/>
            <a:ext cx="1422934" cy="579438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 flipV="1">
            <a:off x="5074160" y="7242969"/>
            <a:ext cx="641374" cy="1272765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 flipV="1">
            <a:off x="4292600" y="8515734"/>
            <a:ext cx="781560" cy="990386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2992730" y="8814980"/>
            <a:ext cx="1299870" cy="69113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2697814" y="7143750"/>
            <a:ext cx="294916" cy="1671230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 flipV="1">
            <a:off x="2697814" y="6663531"/>
            <a:ext cx="1594786" cy="480219"/>
          </a:xfrm>
          <a:prstGeom prst="line">
            <a:avLst/>
          </a:prstGeom>
          <a:noFill/>
          <a:ln w="30480">
            <a:solidFill>
              <a:srgbClr val="8A6D9B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4248150" y="6619081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671084" y="7198519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5029710" y="8471284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4248150" y="946167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2948280" y="877053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2653364" y="7099300"/>
            <a:ext cx="88900" cy="88900"/>
          </a:xfrm>
          <a:prstGeom prst="ellipse">
            <a:avLst/>
          </a:prstGeom>
          <a:solidFill>
            <a:srgbClr val="8A6D9B"/>
          </a:solidFill>
          <a:ln w="5080">
            <a:solidFill>
              <a:srgbClr val="8A6D9B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480038" y="7238706"/>
            <a:ext cx="177800" cy="1778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8763000" y="7391400"/>
            <a:ext cx="368300" cy="127"/>
          </a:xfrm>
          <a:prstGeom prst="line">
            <a:avLst/>
          </a:prstGeom>
          <a:noFill/>
          <a:ln w="31750">
            <a:solidFill>
              <a:srgbClr val="BE493B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8902700" y="7346950"/>
            <a:ext cx="88900" cy="88900"/>
          </a:xfrm>
          <a:prstGeom prst="ellipse">
            <a:avLst/>
          </a:prstGeom>
          <a:solidFill>
            <a:srgbClr val="BE493B"/>
          </a:solidFill>
          <a:ln w="3810">
            <a:solidFill>
              <a:srgbClr val="BE493B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9296400" y="72517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500" dirty="0"/>
          </a:p>
        </p:txBody>
      </p:sp>
      <p:sp>
        <p:nvSpPr>
          <p:cNvPr id="158" name="Shape 155"/>
          <p:cNvSpPr/>
          <p:nvPr/>
        </p:nvSpPr>
        <p:spPr>
          <a:xfrm>
            <a:off x="8763000" y="77851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902700" y="7740650"/>
            <a:ext cx="88900" cy="889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9296400" y="76454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voxel-only</a:t>
            </a:r>
            <a:endParaRPr lang="en-US" sz="1500" dirty="0"/>
          </a:p>
        </p:txBody>
      </p:sp>
      <p:sp>
        <p:nvSpPr>
          <p:cNvPr id="161" name="Shape 158"/>
          <p:cNvSpPr/>
          <p:nvPr/>
        </p:nvSpPr>
        <p:spPr>
          <a:xfrm>
            <a:off x="8763000" y="81788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8902700" y="8134350"/>
            <a:ext cx="88900" cy="889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296400" y="80391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density-only</a:t>
            </a:r>
            <a:endParaRPr lang="en-US" sz="1500" dirty="0"/>
          </a:p>
        </p:txBody>
      </p:sp>
      <p:sp>
        <p:nvSpPr>
          <p:cNvPr id="164" name="Shape 161"/>
          <p:cNvSpPr/>
          <p:nvPr/>
        </p:nvSpPr>
        <p:spPr>
          <a:xfrm>
            <a:off x="8763000" y="85725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8902700" y="8528050"/>
            <a:ext cx="88900" cy="889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9296400" y="84328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pocket-only</a:t>
            </a:r>
            <a:endParaRPr lang="en-US" sz="1500" dirty="0"/>
          </a:p>
        </p:txBody>
      </p:sp>
      <p:sp>
        <p:nvSpPr>
          <p:cNvPr id="167" name="Shape 164"/>
          <p:cNvSpPr/>
          <p:nvPr/>
        </p:nvSpPr>
        <p:spPr>
          <a:xfrm>
            <a:off x="8851900" y="8890000"/>
            <a:ext cx="152400" cy="152400"/>
          </a:xfrm>
          <a:prstGeom prst="diamond">
            <a:avLst/>
          </a:prstGeom>
          <a:solidFill>
            <a:srgbClr val="B469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9296400" y="8826500"/>
            <a:ext cx="26035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EMERALD-ID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175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strongest · Deposited receptor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1333500" y="44704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1200" y="43307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333500" y="37922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1200" y="36525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33500" y="31140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1200" y="29743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33500" y="24358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1200" y="22961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333500" y="17576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1200" y="16179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33500" y="10795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1200" y="9398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333500" y="10795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5900" y="12700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7145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4224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766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9845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387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466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008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087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962900" y="44704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70800" y="46101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1714500" y="1079500"/>
            <a:ext cx="1562100" cy="176151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76600" y="1255651"/>
            <a:ext cx="1562100" cy="25673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38700" y="1512381"/>
            <a:ext cx="1562100" cy="72498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0" y="2237368"/>
            <a:ext cx="1562100" cy="383450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25800" y="120485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787900" y="146158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50000" y="21865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912100" y="257001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714500" y="1079500"/>
            <a:ext cx="1562100" cy="598394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276600" y="1677894"/>
            <a:ext cx="1562100" cy="10229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38700" y="1688123"/>
            <a:ext cx="1562100" cy="133136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0" y="1821259"/>
            <a:ext cx="1562100" cy="87997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25800" y="1627094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87900" y="1637323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350000" y="1770459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912100" y="2650435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7145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flipV="1">
            <a:off x="3276600" y="1079500"/>
            <a:ext cx="1562100" cy="34373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38700" y="1079500"/>
            <a:ext cx="1562100" cy="282575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6400800" y="1340338"/>
            <a:ext cx="1562100" cy="2173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225800" y="137243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87900" y="10287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350000" y="1311275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912100" y="12895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663700" y="10287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966200" y="22352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099550" y="21844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499600" y="20955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8966200" y="26289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099550" y="25781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499600" y="24892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62" name="Shape 59"/>
          <p:cNvSpPr/>
          <p:nvPr/>
        </p:nvSpPr>
        <p:spPr>
          <a:xfrm>
            <a:off x="8966200" y="30226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9550" y="29718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499600" y="28829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8966200" y="34163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099550" y="33655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9499600" y="32766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  <p:sp>
        <p:nvSpPr>
          <p:cNvPr id="68" name="Text 65"/>
          <p:cNvSpPr/>
          <p:nvPr/>
        </p:nvSpPr>
        <p:spPr>
          <a:xfrm>
            <a:off x="571500" y="5461000"/>
            <a:ext cx="5207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strongest · CryoAtom2 receptor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1333500" y="9613900"/>
            <a:ext cx="7048500" cy="127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11200" y="94742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1333500" y="893572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11200" y="879602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1333500" y="825754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11200" y="811784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1333500" y="757936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711200" y="743966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1333500" y="690118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11200" y="676148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1333500" y="6223000"/>
            <a:ext cx="7048500" cy="127"/>
          </a:xfrm>
          <a:prstGeom prst="line">
            <a:avLst/>
          </a:prstGeom>
          <a:noFill/>
          <a:ln w="10160">
            <a:solidFill>
              <a:srgbClr val="DDE3E6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11200" y="6083300"/>
            <a:ext cx="482600" cy="292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</p:txBody>
      </p:sp>
      <p:sp>
        <p:nvSpPr>
          <p:cNvPr id="81" name="Shape 78"/>
          <p:cNvSpPr/>
          <p:nvPr/>
        </p:nvSpPr>
        <p:spPr>
          <a:xfrm>
            <a:off x="1333500" y="6223000"/>
            <a:ext cx="127" cy="3390900"/>
          </a:xfrm>
          <a:prstGeom prst="line">
            <a:avLst/>
          </a:prstGeom>
          <a:noFill/>
          <a:ln w="16510">
            <a:solidFill>
              <a:srgbClr val="26313A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215900" y="6413500"/>
            <a:ext cx="419100" cy="2984500"/>
          </a:xfrm>
          <a:prstGeom prst="rect">
            <a:avLst/>
          </a:prstGeom>
          <a:noFill/>
          <a:ln/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SMILES matching accuracy (%)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17145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14224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32766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9845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48387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45466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9" name="Shape 86"/>
          <p:cNvSpPr/>
          <p:nvPr/>
        </p:nvSpPr>
        <p:spPr>
          <a:xfrm>
            <a:off x="64008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1087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7962900" y="9613900"/>
            <a:ext cx="127" cy="88900"/>
          </a:xfrm>
          <a:prstGeom prst="line">
            <a:avLst/>
          </a:prstGeom>
          <a:noFill/>
          <a:ln w="12700">
            <a:solidFill>
              <a:srgbClr val="26313A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670800" y="9753600"/>
            <a:ext cx="584200" cy="279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≥5</a:t>
            </a:r>
            <a:endParaRPr lang="en-US" sz="1400" dirty="0"/>
          </a:p>
        </p:txBody>
      </p:sp>
      <p:sp>
        <p:nvSpPr>
          <p:cNvPr id="93" name="Text 90"/>
          <p:cNvSpPr/>
          <p:nvPr/>
        </p:nvSpPr>
        <p:spPr>
          <a:xfrm>
            <a:off x="2984500" y="10312400"/>
            <a:ext cx="3556000" cy="355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</a:t>
            </a:r>
            <a:r>
              <a:rPr lang="en-US" altLang="zh-CN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identities</a:t>
            </a:r>
            <a:r>
              <a:rPr lang="en-US" sz="1500" dirty="0">
                <a:solidFill>
                  <a:srgbClr val="263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PDB</a:t>
            </a:r>
            <a:endParaRPr lang="en-US" sz="1500" dirty="0"/>
          </a:p>
        </p:txBody>
      </p:sp>
      <p:sp>
        <p:nvSpPr>
          <p:cNvPr id="94" name="Shape 91"/>
          <p:cNvSpPr/>
          <p:nvPr/>
        </p:nvSpPr>
        <p:spPr>
          <a:xfrm>
            <a:off x="1714500" y="6223000"/>
            <a:ext cx="1562100" cy="178468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3276600" y="6401468"/>
            <a:ext cx="1562100" cy="480873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838700" y="6882342"/>
            <a:ext cx="1562100" cy="74378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400800" y="7626131"/>
            <a:ext cx="1562100" cy="631409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3225800" y="6350668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4787900" y="6831542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50000" y="7575331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912100" y="820674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1714500" y="6223000"/>
            <a:ext cx="1562100" cy="678180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3276600" y="6901180"/>
            <a:ext cx="1562100" cy="8750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4838700" y="6988687"/>
            <a:ext cx="1562100" cy="113435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6400800" y="7102122"/>
            <a:ext cx="1562100" cy="1043278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225800" y="685038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4787900" y="6937887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50000" y="7051322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912100" y="8094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17145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 flipV="1">
            <a:off x="3276600" y="6223000"/>
            <a:ext cx="1562100" cy="356430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838700" y="6223000"/>
            <a:ext cx="15621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6400800" y="6223000"/>
            <a:ext cx="1562100" cy="260838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3225800" y="652863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47879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50000" y="61722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12100" y="6433038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1663700" y="61722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966200" y="7378700"/>
            <a:ext cx="368300" cy="127"/>
          </a:xfrm>
          <a:prstGeom prst="line">
            <a:avLst/>
          </a:prstGeom>
          <a:noFill/>
          <a:ln w="31750">
            <a:solidFill>
              <a:srgbClr val="265B8A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9099550" y="7327900"/>
            <a:ext cx="101600" cy="101600"/>
          </a:xfrm>
          <a:prstGeom prst="ellipse">
            <a:avLst/>
          </a:prstGeom>
          <a:solidFill>
            <a:srgbClr val="265B8A"/>
          </a:solidFill>
          <a:ln w="3810">
            <a:solidFill>
              <a:srgbClr val="265B8A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9499600" y="72390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molecule</a:t>
            </a:r>
            <a:endParaRPr lang="en-US" sz="1500" dirty="0"/>
          </a:p>
        </p:txBody>
      </p:sp>
      <p:sp>
        <p:nvSpPr>
          <p:cNvPr id="125" name="Shape 122"/>
          <p:cNvSpPr/>
          <p:nvPr/>
        </p:nvSpPr>
        <p:spPr>
          <a:xfrm>
            <a:off x="8966200" y="7772400"/>
            <a:ext cx="368300" cy="127"/>
          </a:xfrm>
          <a:prstGeom prst="line">
            <a:avLst/>
          </a:prstGeom>
          <a:noFill/>
          <a:ln w="31750">
            <a:solidFill>
              <a:srgbClr val="8A6D9B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9099550" y="7721600"/>
            <a:ext cx="101600" cy="101600"/>
          </a:xfrm>
          <a:prstGeom prst="ellipse">
            <a:avLst/>
          </a:prstGeom>
          <a:solidFill>
            <a:srgbClr val="8A6D9B"/>
          </a:solidFill>
          <a:ln w="3810">
            <a:solidFill>
              <a:srgbClr val="8A6D9B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9499600" y="76327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Sugar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8966200" y="8166100"/>
            <a:ext cx="368300" cy="127"/>
          </a:xfrm>
          <a:prstGeom prst="line">
            <a:avLst/>
          </a:prstGeom>
          <a:noFill/>
          <a:ln w="31750">
            <a:solidFill>
              <a:srgbClr val="438D79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9099550" y="8115300"/>
            <a:ext cx="101600" cy="101600"/>
          </a:xfrm>
          <a:prstGeom prst="ellipse">
            <a:avLst/>
          </a:prstGeom>
          <a:solidFill>
            <a:srgbClr val="438D79"/>
          </a:solidFill>
          <a:ln w="3810">
            <a:solidFill>
              <a:srgbClr val="438D79"/>
            </a:solidFill>
            <a:prstDash val="solid"/>
          </a:ln>
        </p:spPr>
      </p:sp>
      <p:sp>
        <p:nvSpPr>
          <p:cNvPr id="130" name="Text 127"/>
          <p:cNvSpPr/>
          <p:nvPr/>
        </p:nvSpPr>
        <p:spPr>
          <a:xfrm>
            <a:off x="9499600" y="80264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ion</a:t>
            </a:r>
            <a:endParaRPr lang="en-US" sz="1500" dirty="0"/>
          </a:p>
        </p:txBody>
      </p:sp>
      <p:sp>
        <p:nvSpPr>
          <p:cNvPr id="131" name="Shape 128"/>
          <p:cNvSpPr/>
          <p:nvPr/>
        </p:nvSpPr>
        <p:spPr>
          <a:xfrm>
            <a:off x="8966200" y="8559800"/>
            <a:ext cx="368300" cy="127"/>
          </a:xfrm>
          <a:prstGeom prst="line">
            <a:avLst/>
          </a:prstGeom>
          <a:noFill/>
          <a:ln w="31750">
            <a:solidFill>
              <a:srgbClr val="B46932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9099550" y="8509000"/>
            <a:ext cx="101600" cy="101600"/>
          </a:xfrm>
          <a:prstGeom prst="ellipse">
            <a:avLst/>
          </a:prstGeom>
          <a:solidFill>
            <a:srgbClr val="B46932"/>
          </a:solidFill>
          <a:ln w="3810">
            <a:solidFill>
              <a:srgbClr val="B46932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9499600" y="8420100"/>
            <a:ext cx="2641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02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Peptide</a:t>
            </a:r>
            <a:endParaRPr lang="en-US" sz="150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1050</TotalTime>
  <Words>1774</Words>
  <Application>Microsoft Office PowerPoint</Application>
  <PresentationFormat>自定义</PresentationFormat>
  <Paragraphs>75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Matcher manuscript</dc:creator>
  <cp:lastModifiedBy>Hongen Peng</cp:lastModifiedBy>
  <cp:revision>24</cp:revision>
  <dcterms:created xsi:type="dcterms:W3CDTF">2026-10-01T09:38:06Z</dcterms:created>
  <dcterms:modified xsi:type="dcterms:W3CDTF">2026-10-24T08:27:56Z</dcterms:modified>
</cp:coreProperties>
</file>