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10795000"/>
  <p:notesSz cx="10795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9787" autoAdjust="0"/>
  </p:normalViewPr>
  <p:slideViewPr>
    <p:cSldViewPr snapToGrid="0" snapToObjects="1">
      <p:cViewPr varScale="1">
        <p:scale>
          <a:sx n="42" d="100"/>
          <a:sy n="42" d="100"/>
        </p:scale>
        <p:origin x="166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88C2FC2-D9AB-488B-B9ED-0C0227DDBAC8}" authorId="{D3F71A66-0C34-DF1A-5236-FECDBC820DCB}" created="2026-10-01T09:38:08.524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@@stage2-radar-pair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723AB8C-3E60-4560-A8B1-22D3EBE4A200}" authorId="{D3F71A66-0C34-DF1A-5236-FECDBC820DCB}" created="2026-10-01T09:38:08.529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@@stage2-strongest-pair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323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dirty="0"/>
              <a:t>各模型在真实受体（a）和 CryoAtom2（b）条件下的前景 F1 与配体身份匹配正确率。六轴自顶端顺时针为总体 SMILES、小分子、糖、前景 F1、金属离子和肽类，径向坐标为 20–100%。真实受体条件下有 1,651 个待分类和匹配的候选，其中 1,238 个为前景，具体对应 389 个小分子、284 个糖、564 个金属离子和 1 个肽；CryoAtom2 条件下有 1,649 个待分类和匹配的候选，其中 1,160 个为前景，具体对应 348 个小分子、277 个糖、534 个金属离子和 1 个肽。肽类在完整数据集中的配体实例中仅占 0.08%</a:t>
            </a:r>
            <a:r>
              <a:rPr lang="zh-CN" altLang="en-US" dirty="0"/>
              <a:t>，</a:t>
            </a:r>
            <a:r>
              <a:rPr lang="zh-CN" altLang="zh-CN" dirty="0"/>
              <a:t>我们未对这一稀有类别进行额外富集，因此测试集中仅包含 1 个肽类实例。特别地，菱形表示 EMERALD-ID 在独立小分子测试集上的准确率，并仅在返回有效预测结果的位点上取平均，其中真实受体条件下有 282 个位点返回了预测结果，CryoAtom2 条件下则有 313 个位点返回了预测结果。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ENGLISH:</a:t>
            </a:r>
          </a:p>
          <a:p>
            <a:r>
              <a:rPr lang="zh-CN" altLang="zh-CN" dirty="0"/>
              <a:t>Foreground F1 and ligand identity matching accuracy of each model with deposited receptors (a) and CryoAtom2-reconstructed receptors (b). Clockwise from the top, the six axes show overall SMILES, small molecules, sugars, foreground F1, metal ions and peptides. Radial values range from 20% to 100%. With deposited receptors, 1,651 candidates require classification and matching, of which 1,238 are foreground. These comprise 389 small molecules, 284 sugars, 564 metal ions and 1 peptide. With CryoAtom2-reconstructed receptors, 1,649 candidates require classification and matching, of which 1,160 are foreground. These comprise 348 small molecules, 277 sugars, 534 metal ions and 1 peptide. Peptides account for only 0.08% of ligand instances in the full dataset; this rare category was not additionally enriched, resulting in a single peptide test case. Diamonds indicate EMERALD-ID accuracy on an independent small-molecule test set, averaged only over sites returning valid predictions. Predictions were returned at 282 sites with deposited receptors and 313 sites with CryoAtom2-reconstructed receptors.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dirty="0"/>
              <a:t>strongest 模型在真实受体（a）和 CryoAtom2受体（b）条件下的配体身份匹配精度，与</a:t>
            </a:r>
            <a:r>
              <a:rPr lang="zh-CN" altLang="en-US" dirty="0"/>
              <a:t>候选</a:t>
            </a:r>
            <a:r>
              <a:rPr lang="zh-CN" altLang="zh-CN" dirty="0"/>
              <a:t>的配体身份数的关系。在真实受体条件下，竞争配体身份数为1，2，3，4，</a:t>
            </a:r>
            <a:r>
              <a:rPr lang="en-US" altLang="zh-CN" dirty="0"/>
              <a:t>&gt;=</a:t>
            </a:r>
            <a:r>
              <a:rPr lang="zh-CN" altLang="zh-CN" dirty="0"/>
              <a:t>5的位点分别有419、459、113、85、162；在CryoAtom2 条件下，竞争配体身份数为1，2，3，4，</a:t>
            </a:r>
            <a:r>
              <a:rPr lang="en-US" altLang="zh-CN" dirty="0"/>
              <a:t>&gt;=</a:t>
            </a:r>
            <a:r>
              <a:rPr lang="zh-CN" altLang="zh-CN" dirty="0"/>
              <a:t>5的位点分别有413、443、91、63、150。竞争配体身份数为1，意味着</a:t>
            </a:r>
            <a:r>
              <a:rPr lang="zh-CN" altLang="en-US" dirty="0"/>
              <a:t>所有</a:t>
            </a:r>
            <a:r>
              <a:rPr lang="zh-CN" altLang="zh-CN" dirty="0"/>
              <a:t>候选区域所在的PDB中只有一种配体身份，准确率自然为100%。</a:t>
            </a:r>
            <a:endParaRPr lang="en-US" altLang="zh-CN" dirty="0"/>
          </a:p>
          <a:p>
            <a:endParaRPr lang="en-US" dirty="0"/>
          </a:p>
          <a:p>
            <a:r>
              <a:rPr lang="en-US" dirty="0"/>
              <a:t>ENGLISH:</a:t>
            </a:r>
          </a:p>
          <a:p>
            <a:r>
              <a:rPr lang="en-US" dirty="0"/>
              <a:t>Ligand identity matching accuracy of strongest versus the number of candidate ligand identities, with deposited receptors (a) and CryoAtom2-reconstructed receptors (b). With deposited receptors, groups with 1, 2, 3, 4 and ≥5 </a:t>
            </a:r>
            <a:r>
              <a:rPr lang="zh-CN" altLang="zh-CN" dirty="0"/>
              <a:t>competing ligand identities</a:t>
            </a:r>
            <a:r>
              <a:rPr lang="en-US" altLang="zh-CN" dirty="0"/>
              <a:t> </a:t>
            </a:r>
            <a:r>
              <a:rPr lang="en-US" dirty="0"/>
              <a:t>contain 419, 459, 113, 85 and 162 sites, respectively. With CryoAtom2-reconstructed receptors, the corresponding groups contain 413, 443, 91, 63 and 150 sites, respectively. One candidate identity means that all candidate regions belongs to a PDB entry containing only one ligand identity, so accuracy is naturally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55600" y="1905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60400" y="1905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3602038" y="21034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09431" y="19745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81288" y="11826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47738" y="10851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51100" y="9525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07315" y="8628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 flipV="1">
            <a:off x="4292600" y="952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51200" y="533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 flipV="1">
            <a:off x="4292600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17909" y="14033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2600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8694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92600" y="2794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1200" y="48895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 flipV="1">
            <a:off x="2697814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1546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697814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315460" y="15367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292600" y="1233262"/>
            <a:ext cx="1446171" cy="72579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5304784" y="1959053"/>
            <a:ext cx="433988" cy="1419332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292600" y="3378384"/>
            <a:ext cx="1012184" cy="93598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835661" y="3635164"/>
            <a:ext cx="1456939" cy="67920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697814" y="1873250"/>
            <a:ext cx="137847" cy="1761914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697814" y="1233262"/>
            <a:ext cx="1594786" cy="6399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48150" y="1188812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94321" y="191460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260334" y="333393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48150" y="4269915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791211" y="359071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2600" y="1328089"/>
            <a:ext cx="1400050" cy="65759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5150359" y="1985681"/>
            <a:ext cx="542291" cy="1303546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292600" y="3289227"/>
            <a:ext cx="857759" cy="97971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906352" y="3594351"/>
            <a:ext cx="1386248" cy="674588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697814" y="1873250"/>
            <a:ext cx="208538" cy="172110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2697814" y="1328089"/>
            <a:ext cx="1594786" cy="54516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48150" y="1283639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48200" y="194123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105909" y="3244777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248150" y="4224489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861902" y="354990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92600" y="1445228"/>
            <a:ext cx="1271934" cy="61442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5143340" y="2059649"/>
            <a:ext cx="421194" cy="122552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4292600" y="3285175"/>
            <a:ext cx="850740" cy="99485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037130" y="3518846"/>
            <a:ext cx="1255470" cy="761187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2697814" y="1873250"/>
            <a:ext cx="339316" cy="164559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2697814" y="1445228"/>
            <a:ext cx="1594786" cy="428022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248150" y="140077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520084" y="20151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098890" y="3240725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248150" y="4235583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992680" y="3474396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292600" y="1426634"/>
            <a:ext cx="1369302" cy="57679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5009973" y="2003433"/>
            <a:ext cx="651929" cy="120474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4292600" y="3208175"/>
            <a:ext cx="717373" cy="109564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3001785" y="3539252"/>
            <a:ext cx="1290815" cy="76457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697814" y="1873250"/>
            <a:ext cx="303971" cy="166600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2697814" y="1426634"/>
            <a:ext cx="1594786" cy="44661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48150" y="13821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17452" y="1958983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965523" y="3163725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248150" y="4259375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2957335" y="3494802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452101" y="198433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763000" y="21209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902700" y="20764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9296400" y="19812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75" name="Shape 72"/>
          <p:cNvSpPr/>
          <p:nvPr/>
        </p:nvSpPr>
        <p:spPr>
          <a:xfrm>
            <a:off x="8763000" y="25146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902700" y="24701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9296400" y="23749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8763000" y="29083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8902700" y="28638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9296400" y="27686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81" name="Shape 78"/>
          <p:cNvSpPr/>
          <p:nvPr/>
        </p:nvSpPr>
        <p:spPr>
          <a:xfrm>
            <a:off x="8763000" y="33020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8902700" y="32575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9296400" y="31623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84" name="Shape 81"/>
          <p:cNvSpPr/>
          <p:nvPr/>
        </p:nvSpPr>
        <p:spPr>
          <a:xfrm>
            <a:off x="8851900" y="36195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9296400" y="35560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  <p:sp>
        <p:nvSpPr>
          <p:cNvPr id="86" name="Text 83"/>
          <p:cNvSpPr/>
          <p:nvPr/>
        </p:nvSpPr>
        <p:spPr>
          <a:xfrm>
            <a:off x="355600" y="54610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87" name="Text 84"/>
          <p:cNvSpPr/>
          <p:nvPr/>
        </p:nvSpPr>
        <p:spPr>
          <a:xfrm>
            <a:off x="660400" y="54610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800" dirty="0"/>
          </a:p>
        </p:txBody>
      </p:sp>
      <p:sp>
        <p:nvSpPr>
          <p:cNvPr id="88" name="Shape 85"/>
          <p:cNvSpPr/>
          <p:nvPr/>
        </p:nvSpPr>
        <p:spPr>
          <a:xfrm>
            <a:off x="3602038" y="73739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9" name="Text 86"/>
          <p:cNvSpPr/>
          <p:nvPr/>
        </p:nvSpPr>
        <p:spPr>
          <a:xfrm>
            <a:off x="4509431" y="72450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90" name="Shape 87"/>
          <p:cNvSpPr/>
          <p:nvPr/>
        </p:nvSpPr>
        <p:spPr>
          <a:xfrm>
            <a:off x="2681288" y="64531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4747738" y="63556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2" name="Shape 89"/>
          <p:cNvSpPr/>
          <p:nvPr/>
        </p:nvSpPr>
        <p:spPr>
          <a:xfrm>
            <a:off x="2451100" y="62230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4807315" y="61333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94" name="Shape 91"/>
          <p:cNvSpPr/>
          <p:nvPr/>
        </p:nvSpPr>
        <p:spPr>
          <a:xfrm flipV="1">
            <a:off x="4292600" y="6223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3251200" y="5803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 flipV="1">
            <a:off x="4292600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5417909" y="66738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98" name="Shape 95"/>
          <p:cNvSpPr/>
          <p:nvPr/>
        </p:nvSpPr>
        <p:spPr>
          <a:xfrm>
            <a:off x="4292600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518694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4292600" y="8064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1" name="Text 98"/>
          <p:cNvSpPr/>
          <p:nvPr/>
        </p:nvSpPr>
        <p:spPr>
          <a:xfrm>
            <a:off x="3251200" y="101600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02" name="Shape 99"/>
          <p:cNvSpPr/>
          <p:nvPr/>
        </p:nvSpPr>
        <p:spPr>
          <a:xfrm flipV="1">
            <a:off x="2697814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131546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697814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1315460" y="68072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4292600" y="6532563"/>
            <a:ext cx="1428662" cy="707099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V="1">
            <a:off x="5246881" y="7239661"/>
            <a:ext cx="474382" cy="1375793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V="1">
            <a:off x="4292600" y="8615454"/>
            <a:ext cx="954281" cy="896255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2839673" y="8903348"/>
            <a:ext cx="1452927" cy="60836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697814" y="7143750"/>
            <a:ext cx="141858" cy="175959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2697814" y="6532563"/>
            <a:ext cx="1594786" cy="6111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4248150" y="648811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5676812" y="7195211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4248150" y="9467259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2795223" y="8858898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292600" y="6554391"/>
            <a:ext cx="1451576" cy="67204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 flipV="1">
            <a:off x="5246881" y="7226432"/>
            <a:ext cx="497295" cy="138902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 flipV="1">
            <a:off x="4292600" y="8615454"/>
            <a:ext cx="954281" cy="88006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2895669" y="8871018"/>
            <a:ext cx="1396931" cy="624504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2697814" y="7143750"/>
            <a:ext cx="197855" cy="1727268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V="1">
            <a:off x="2697814" y="6554391"/>
            <a:ext cx="1594786" cy="58935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4248150" y="650994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5699726" y="7181982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4248150" y="9451073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2851219" y="8826568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4292600" y="6677422"/>
            <a:ext cx="1337008" cy="61515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 flipV="1">
            <a:off x="5167717" y="7292578"/>
            <a:ext cx="461891" cy="127717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 flipV="1">
            <a:off x="4292600" y="8569749"/>
            <a:ext cx="875117" cy="93162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3011396" y="8804204"/>
            <a:ext cx="1281204" cy="697173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2697814" y="7143750"/>
            <a:ext cx="313581" cy="1660454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697814" y="6677422"/>
            <a:ext cx="1594786" cy="46632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4248150" y="6632972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5585158" y="724812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5123267" y="85252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4248150" y="9456927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966946" y="8759754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4292600" y="6663531"/>
            <a:ext cx="1422934" cy="579438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V="1">
            <a:off x="5074160" y="7242969"/>
            <a:ext cx="641374" cy="1272765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V="1">
            <a:off x="4292600" y="8515734"/>
            <a:ext cx="781560" cy="99038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2992730" y="8814980"/>
            <a:ext cx="1299870" cy="69113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697814" y="7143750"/>
            <a:ext cx="294916" cy="1671230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V="1">
            <a:off x="2697814" y="6663531"/>
            <a:ext cx="1594786" cy="48021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4248150" y="6619081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>
            <a:off x="5671084" y="7198519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5029710" y="84712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>
            <a:off x="4248150" y="946167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>
            <a:off x="2948280" y="877053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5480038" y="723870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8763000" y="73914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8902700" y="73469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157" name="Text 154"/>
          <p:cNvSpPr/>
          <p:nvPr/>
        </p:nvSpPr>
        <p:spPr>
          <a:xfrm>
            <a:off x="9296400" y="72517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158" name="Shape 155"/>
          <p:cNvSpPr/>
          <p:nvPr/>
        </p:nvSpPr>
        <p:spPr>
          <a:xfrm>
            <a:off x="8763000" y="77851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8902700" y="77406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60" name="Text 157"/>
          <p:cNvSpPr/>
          <p:nvPr/>
        </p:nvSpPr>
        <p:spPr>
          <a:xfrm>
            <a:off x="9296400" y="76454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161" name="Shape 158"/>
          <p:cNvSpPr/>
          <p:nvPr/>
        </p:nvSpPr>
        <p:spPr>
          <a:xfrm>
            <a:off x="8763000" y="81788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8902700" y="81343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63" name="Text 160"/>
          <p:cNvSpPr/>
          <p:nvPr/>
        </p:nvSpPr>
        <p:spPr>
          <a:xfrm>
            <a:off x="9296400" y="80391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164" name="Shape 161"/>
          <p:cNvSpPr/>
          <p:nvPr/>
        </p:nvSpPr>
        <p:spPr>
          <a:xfrm>
            <a:off x="8763000" y="85725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8902700" y="85280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66" name="Text 163"/>
          <p:cNvSpPr/>
          <p:nvPr/>
        </p:nvSpPr>
        <p:spPr>
          <a:xfrm>
            <a:off x="9296400" y="84328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167" name="Shape 164"/>
          <p:cNvSpPr/>
          <p:nvPr/>
        </p:nvSpPr>
        <p:spPr>
          <a:xfrm>
            <a:off x="8851900" y="88900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8" name="Text 165"/>
          <p:cNvSpPr/>
          <p:nvPr/>
        </p:nvSpPr>
        <p:spPr>
          <a:xfrm>
            <a:off x="9296400" y="88265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3175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strongest · Deposited receptor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1333500" y="44704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1200" y="43307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333500" y="37922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1200" y="36525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333500" y="31140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1200" y="29743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333500" y="24358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1200" y="22961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333500" y="17576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1200" y="16179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33500" y="10795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1200" y="9398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333500" y="10795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15900" y="12700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7145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224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2766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9845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387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466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4008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1087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9629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708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714500" y="1079500"/>
            <a:ext cx="1562100" cy="176151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276600" y="1255651"/>
            <a:ext cx="1562100" cy="25673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38700" y="1512381"/>
            <a:ext cx="1562100" cy="72498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2237368"/>
            <a:ext cx="1562100" cy="38345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25800" y="120485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787900" y="146158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350000" y="21865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12100" y="257001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714500" y="1079500"/>
            <a:ext cx="1562100" cy="598394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276600" y="1677894"/>
            <a:ext cx="1562100" cy="10229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38700" y="1688123"/>
            <a:ext cx="1562100" cy="133136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400800" y="1821259"/>
            <a:ext cx="1562100" cy="87997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225800" y="1627094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87900" y="1637323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350000" y="1770459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912100" y="2650435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7145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32766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838700" y="1079500"/>
            <a:ext cx="1562100" cy="28257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6400800" y="1340338"/>
            <a:ext cx="1562100" cy="2173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225800" y="137243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7879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350000" y="131127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912100" y="12895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966200" y="22352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099550" y="21844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9499600" y="20955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59" name="Shape 56"/>
          <p:cNvSpPr/>
          <p:nvPr/>
        </p:nvSpPr>
        <p:spPr>
          <a:xfrm>
            <a:off x="8966200" y="26289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099550" y="25781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9499600" y="24892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62" name="Shape 59"/>
          <p:cNvSpPr/>
          <p:nvPr/>
        </p:nvSpPr>
        <p:spPr>
          <a:xfrm>
            <a:off x="8966200" y="30226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099550" y="29718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9499600" y="28829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65" name="Shape 62"/>
          <p:cNvSpPr/>
          <p:nvPr/>
        </p:nvSpPr>
        <p:spPr>
          <a:xfrm>
            <a:off x="8966200" y="34163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099550" y="33655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499600" y="32766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  <p:sp>
        <p:nvSpPr>
          <p:cNvPr id="68" name="Text 65"/>
          <p:cNvSpPr/>
          <p:nvPr/>
        </p:nvSpPr>
        <p:spPr>
          <a:xfrm>
            <a:off x="571500" y="54610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strongest · CryoAtom2 receptor</a:t>
            </a:r>
            <a:endParaRPr lang="en-US" sz="2000" dirty="0"/>
          </a:p>
        </p:txBody>
      </p:sp>
      <p:sp>
        <p:nvSpPr>
          <p:cNvPr id="69" name="Shape 66"/>
          <p:cNvSpPr/>
          <p:nvPr/>
        </p:nvSpPr>
        <p:spPr>
          <a:xfrm>
            <a:off x="1333500" y="96139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11200" y="94742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71" name="Shape 68"/>
          <p:cNvSpPr/>
          <p:nvPr/>
        </p:nvSpPr>
        <p:spPr>
          <a:xfrm>
            <a:off x="1333500" y="89357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11200" y="87960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3" name="Shape 70"/>
          <p:cNvSpPr/>
          <p:nvPr/>
        </p:nvSpPr>
        <p:spPr>
          <a:xfrm>
            <a:off x="1333500" y="82575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11200" y="81178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75" name="Shape 72"/>
          <p:cNvSpPr/>
          <p:nvPr/>
        </p:nvSpPr>
        <p:spPr>
          <a:xfrm>
            <a:off x="1333500" y="75793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711200" y="74396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77" name="Shape 74"/>
          <p:cNvSpPr/>
          <p:nvPr/>
        </p:nvSpPr>
        <p:spPr>
          <a:xfrm>
            <a:off x="1333500" y="69011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711200" y="67614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79" name="Shape 76"/>
          <p:cNvSpPr/>
          <p:nvPr/>
        </p:nvSpPr>
        <p:spPr>
          <a:xfrm>
            <a:off x="1333500" y="62230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711200" y="60833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81" name="Shape 78"/>
          <p:cNvSpPr/>
          <p:nvPr/>
        </p:nvSpPr>
        <p:spPr>
          <a:xfrm>
            <a:off x="1333500" y="62230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215900" y="64135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83" name="Shape 80"/>
          <p:cNvSpPr/>
          <p:nvPr/>
        </p:nvSpPr>
        <p:spPr>
          <a:xfrm>
            <a:off x="17145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14224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5" name="Shape 82"/>
          <p:cNvSpPr/>
          <p:nvPr/>
        </p:nvSpPr>
        <p:spPr>
          <a:xfrm>
            <a:off x="32766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29845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7" name="Shape 84"/>
          <p:cNvSpPr/>
          <p:nvPr/>
        </p:nvSpPr>
        <p:spPr>
          <a:xfrm>
            <a:off x="48387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45466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9" name="Shape 86"/>
          <p:cNvSpPr/>
          <p:nvPr/>
        </p:nvSpPr>
        <p:spPr>
          <a:xfrm>
            <a:off x="64008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61087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91" name="Shape 88"/>
          <p:cNvSpPr/>
          <p:nvPr/>
        </p:nvSpPr>
        <p:spPr>
          <a:xfrm>
            <a:off x="79629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76708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93" name="Text 90"/>
          <p:cNvSpPr/>
          <p:nvPr/>
        </p:nvSpPr>
        <p:spPr>
          <a:xfrm>
            <a:off x="2984500" y="10312400"/>
            <a:ext cx="3556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</a:t>
            </a:r>
            <a:r>
              <a:rPr lang="en-US" altLang="zh-CN" sz="15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identities</a:t>
            </a:r>
            <a:r>
              <a:rPr lang="en-US" sz="15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PDB</a:t>
            </a:r>
            <a:endParaRPr lang="en-US" sz="1500" dirty="0"/>
          </a:p>
        </p:txBody>
      </p:sp>
      <p:sp>
        <p:nvSpPr>
          <p:cNvPr id="94" name="Shape 91"/>
          <p:cNvSpPr/>
          <p:nvPr/>
        </p:nvSpPr>
        <p:spPr>
          <a:xfrm>
            <a:off x="1714500" y="6223000"/>
            <a:ext cx="1562100" cy="178468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3276600" y="6401468"/>
            <a:ext cx="1562100" cy="480873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4838700" y="6882342"/>
            <a:ext cx="1562100" cy="74378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6400800" y="7626131"/>
            <a:ext cx="1562100" cy="63140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3225800" y="63506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4787900" y="6831542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6350000" y="757533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7912100" y="820674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1714500" y="6223000"/>
            <a:ext cx="1562100" cy="678180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3276600" y="6901180"/>
            <a:ext cx="1562100" cy="8750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4838700" y="6988687"/>
            <a:ext cx="1562100" cy="11343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6400800" y="7102122"/>
            <a:ext cx="1562100" cy="1043278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3225800" y="685038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4787900" y="6937887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6350000" y="7051322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7912100" y="8094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7145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 flipV="1">
            <a:off x="32766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38700" y="6223000"/>
            <a:ext cx="15621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6400800" y="6223000"/>
            <a:ext cx="1562100" cy="260838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3225800" y="652863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7879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63500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7912100" y="64330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8966200" y="73787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9099550" y="73279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24" name="Text 121"/>
          <p:cNvSpPr/>
          <p:nvPr/>
        </p:nvSpPr>
        <p:spPr>
          <a:xfrm>
            <a:off x="9499600" y="72390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125" name="Shape 122"/>
          <p:cNvSpPr/>
          <p:nvPr/>
        </p:nvSpPr>
        <p:spPr>
          <a:xfrm>
            <a:off x="8966200" y="77724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9099550" y="7721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27" name="Text 124"/>
          <p:cNvSpPr/>
          <p:nvPr/>
        </p:nvSpPr>
        <p:spPr>
          <a:xfrm>
            <a:off x="9499600" y="76327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128" name="Shape 125"/>
          <p:cNvSpPr/>
          <p:nvPr/>
        </p:nvSpPr>
        <p:spPr>
          <a:xfrm>
            <a:off x="8966200" y="81661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9099550" y="81153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30" name="Text 127"/>
          <p:cNvSpPr/>
          <p:nvPr/>
        </p:nvSpPr>
        <p:spPr>
          <a:xfrm>
            <a:off x="9499600" y="80264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131" name="Shape 128"/>
          <p:cNvSpPr/>
          <p:nvPr/>
        </p:nvSpPr>
        <p:spPr>
          <a:xfrm>
            <a:off x="8966200" y="85598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9099550" y="85090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33" name="Text 130"/>
          <p:cNvSpPr/>
          <p:nvPr/>
        </p:nvSpPr>
        <p:spPr>
          <a:xfrm>
            <a:off x="9499600" y="84201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1050</TotalTime>
  <Words>1791</Words>
  <Application>Microsoft Office PowerPoint</Application>
  <PresentationFormat>自定义</PresentationFormat>
  <Paragraphs>77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Matcher manuscript</dc:creator>
  <cp:lastModifiedBy>Hongen Peng</cp:lastModifiedBy>
  <cp:revision>23</cp:revision>
  <dcterms:created xsi:type="dcterms:W3CDTF">2026-10-01T09:38:06Z</dcterms:created>
  <dcterms:modified xsi:type="dcterms:W3CDTF">2026-10-07T08:25:27Z</dcterms:modified>
</cp:coreProperties>
</file>