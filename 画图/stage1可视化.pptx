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notesSlides/notesSlide9.xml" ContentType="application/vnd.openxmlformats-officedocument.presentationml.notesSlide+xml"/>
  <Override PartName="/ppt/comments/modernComment_108_80165C69.xml" ContentType="application/vnd.ms-powerpoint.comments+xml"/>
  <Override PartName="/ppt/notesSlides/notesSlide10.xml" ContentType="application/vnd.openxmlformats-officedocument.presentationml.notesSlide+xml"/>
  <Override PartName="/ppt/comments/modernComment_10D_B6197D51.xml" ContentType="application/vnd.ms-powerpoint.comments+xml"/>
  <Override PartName="/ppt/notesSlides/notesSlide11.xml" ContentType="application/vnd.openxmlformats-officedocument.presentationml.notesSlide+xml"/>
  <Override PartName="/ppt/comments/modernComment_109_B9388BDD.xml" ContentType="application/vnd.ms-powerpoint.comments+xml"/>
  <Override PartName="/ppt/notesSlides/notesSlide12.xml" ContentType="application/vnd.openxmlformats-officedocument.presentationml.notesSlide+xml"/>
  <Override PartName="/ppt/comments/modernComment_10A_1BDD1AF3.xml" ContentType="application/vnd.ms-powerpoint.comments+xml"/>
  <Override PartName="/ppt/notesSlides/notesSlide13.xml" ContentType="application/vnd.openxmlformats-officedocument.presentationml.notesSlide+xml"/>
  <Override PartName="/ppt/comments/modernComment_10B_FE8A904A.xml" ContentType="application/vnd.ms-powerpoint.comments+xml"/>
  <Override PartName="/ppt/notesSlides/notesSlide14.xml" ContentType="application/vnd.openxmlformats-officedocument.presentationml.notesSlide+xml"/>
  <Override PartName="/ppt/comments/modernComment_10C_7F7C769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0E2142-CE14-45B4-98C8-5B3CA55088DC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382" autoAdjust="0"/>
  </p:normalViewPr>
  <p:slideViewPr>
    <p:cSldViewPr snapToGrid="0">
      <p:cViewPr varScale="1">
        <p:scale>
          <a:sx n="30" d="100"/>
          <a:sy n="30" d="100"/>
        </p:scale>
        <p:origin x="1828" y="36"/>
      </p:cViewPr>
      <p:guideLst/>
    </p:cSldViewPr>
  </p:slideViewPr>
  <p:notesTextViewPr>
    <p:cViewPr>
      <p:scale>
        <a:sx n="1" d="1"/>
        <a:sy n="1" d="1"/>
      </p:scale>
      <p:origin x="0" y="-26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A_1BDD1A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6C397B9-F65B-457F-B3A1-6F71DB5D38ED}" authorId="{790E2142-CE14-45B4-98C8-5B3CA55088DC}" created="2026-10-27T17:31:30.797Z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PROVENANCE v1</a:t>
        </a:r>
      </a:p>
      <a:p>
        <a:r>
          <a:t>id: stage1-level-global-local-9ujf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stage1-level-global-local-9ujf｜9UJF 全局到局部六面板</a:t>
        </a:r>
      </a:p>
      <a:p>
        <a:r>
          <a:t/>
        </a:r>
      </a:p>
      <a:p>
        <a:r>
          <a:t>当前为 `画图/stage1可视化.pptx` 第11页，完整备选，尚未插入正文。a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`画图/画图代码/stage1/output/stage1-level-global-local/explicit_emdb_level/sources/9ujf/`；新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9，GTP，auth D:201。CA2/Emap 原生 blob 为 2/14，均是正式双向覆盖0.3一对一匹配中实际匹配该实例的候选。局部实例区域 Dice 为 0.864023/0.559701，IoU 为 0.760599/0.388601；它们不是全 PDB 语义 Dice。全局完整 candidate_selected 的 TP/FP 为 CA2 10/0、Emap 10/10，不为截图另筛候选。d 选 Emap blob 11，34个体素，与全部真值零交集；0.647059的体素中心距沉积受体重原子≤1.5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`画图/画图代码/stage1/output/stage1-level-global-local/explicit_emdb_level/scenes/9ujf/initial.cxs`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ujf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F36FF8EF-B010-4282-B8A6-E0CEFF3FE2C1}" authorId="{790E2142-CE14-45B4-98C8-5B3CA55088DC}" created="2026-10-28T00:54:58.347+08:00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@@stage1-level-global-local-9ujf</a:t>
        </a:r>
      </a:p>
    </p188:txBody>
  </p188:cm>
</p188:cmLst>
</file>

<file path=ppt/comments/modernComment_10B_FE8A90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037611-2302-4C88-B19F-555637DA6F0C}" authorId="{790E2142-CE14-45B4-98C8-5B3CA55088DC}" created="2026-10-27T17:31:30.797Z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PROVENANCE v1</a:t>
        </a:r>
      </a:p>
      <a:p>
        <a:r>
          <a:t>id: stage1-level-global-local-9wfu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stage1-level-global-local-9wfu｜9WFU 全局到局部六面板</a:t>
        </a:r>
      </a:p>
      <a:p>
        <a:r>
          <a:t/>
        </a:r>
      </a:p>
      <a:p>
        <a:r>
          <a:t>当前为 `画图/stage1可视化.pptx` 第12页，完整备选，尚未插入正文。a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`画图/画图代码/stage1/output/stage1-level-global-local/explicit_emdb_level/sources/9wfu/`；新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0，ATP，auth A:1401。CA2/Emap 原生 blob 为 1/1，均是正式双向覆盖0.3一对一匹配中实际匹配该实例的候选。局部实例区域 Dice 为 0.743034/0.654696，IoU 为 0.591133/0.486653；它们不是全 PDB 语义 Dice。全局完整 candidate_selected 的 TP/FP 为 CA2 2/0、Emap 2/8，不为截图另筛候选。d 选 Emap blob 5，78个体素，与全部真值零交集；0.423077的体素中心距沉积受体重原子≤1.5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`画图/画图代码/stage1/output/stage1-level-global-local/explicit_emdb_level/scenes/9wfu/initial.cxs`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wfu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6B5288FC-5B8F-4224-ABFF-9B8460530E6C}" authorId="{790E2142-CE14-45B4-98C8-5B3CA55088DC}" created="2026-10-28T00:54:58.357+08:00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@@stage1-level-global-local-9wfu</a:t>
        </a:r>
      </a:p>
    </p188:txBody>
  </p188:cm>
</p188:cmLst>
</file>

<file path=ppt/comments/modernComment_10C_7F7C76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307E812-1AEF-4508-B4A7-6E4F9ED04B72}" authorId="{790E2142-CE14-45B4-98C8-5B3CA55088DC}" created="2026-10-27T17:31:30.798Z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PROVENANCE v1</a:t>
        </a:r>
      </a:p>
      <a:p>
        <a:r>
          <a:t>id: stage1-level-global-local-9x0x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stage1-level-global-local-9x0x｜9X0X 全局到局部六面板</a:t>
        </a:r>
      </a:p>
      <a:p>
        <a:r>
          <a:t/>
        </a:r>
      </a:p>
      <a:p>
        <a:r>
          <a:t>当前为 `画图/stage1可视化.pptx` 第13页，完整备选，尚未插入正文。a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`画图/画图代码/stage1/output/stage1-level-global-local/explicit_emdb_level/sources/9x0x/`；新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7，PTY，auth T:801。CA2/Emap 原生 blob 为 9/16，均是正式双向覆盖0.3一对一匹配中实际匹配该实例的候选。局部实例区域 Dice 为 0.829876/0.404745，IoU 为 0.709220/0.253718；它们不是全 PDB 语义 Dice。全局完整 candidate_selected 的 TP/FP 为 CA2 14/1、Emap 12/65，不为截图另筛候选。d 选 Emap blob 39，58个体素，与全部真值零交集；0.862069的体素中心距沉积受体重原子≤1.5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@@stage1-level-global-local-9wfu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`画图/画图代码/stage1/output/stage1-level-global-local/explicit_emdb_level/scenes/9x0x/initial.cxs`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x0x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4F5D05D3-EF73-435B-B7EA-67AC7DA62D32}" authorId="{790E2142-CE14-45B4-98C8-5B3CA55088DC}" created="2026-10-28T00:54:58.369+08:00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@@stage1-level-global-local-9x0x</a:t>
        </a:r>
      </a:p>
    </p188:txBody>
  </p188:cm>
</p188:cmLst>
</file>

<file path=ppt/comments/modernComment_10D_B6197D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B8F1B64-E2B8-4663-B2E9-7C05F868310F}" authorId="{790E2142-CE14-45B4-98C8-5B3CA55088DC}" created="2026-10-27T17:31:30.796Z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PROVENANCE v1</a:t>
        </a:r>
      </a:p>
      <a:p>
        <a:r>
          <a:t>id: stage1-level-global-local-9nvs(v1)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stage1-level-global-local-9nvs(v1)｜9NVS 作者启用页的语义 Dice 与局部 IoU</a:t>
        </a:r>
      </a:p>
      <a:p>
        <a:r>
          <a:t/>
        </a:r>
      </a:p>
      <a:p>
        <a:r>
          <a:t>当前为 `画图/stage1可视化.pptx` 第10页，独立定位名 `@@stage1-level-global-local-9nvs(v1)`。中英文正文使用该页；第9页旧版保留。a–c 为全局真实区域与全部保留预测，d 保留受体上的假阳性示例，e/f 为同一 A1B32（auth B:1001，occurrence 1）的完整匹配区域。正式页保留作者手工图片、布局、框线、字体及裁切，仅填四个数值并局部调整双语备注；没有恢复作者删除的比例尺。</a:t>
        </a:r>
      </a:p>
      <a:p>
        <a:r>
          <a:t/>
        </a:r>
      </a:p>
      <a:p>
        <a:r>
          <a:t>本图与 @@stage1-level-global-local-9nvs、@@stage1-level-global-local-9nal、@@stage1-level-global-local-9ujf、@@stage1-level-global-local-9wfu、@@stage1-level-global-local-9x0x 完全共享 `stage1-level-global-local/` 的原始材料、ChimeraX六视角、相机和PPT装配，并共用 `stage1-global-local/` 的体素核查与MRC/CIF转换。`build_deck.mjs` 仅在 `FIGURE_ID=stage1-level-global-local-9nvs(v1)` 时为9NVS选择新版指标及图名，不改变另外四例或第9页旧版的生成语义；重建版沿用程序布局，作者正式页的人工调版继续保留。</a:t>
        </a:r>
      </a:p>
      <a:p>
        <a:r>
          <a:t/>
        </a:r>
      </a:p>
      <a:p>
        <a:r>
          <a:t>**来源与条件。** 原始材料为 `画图/画图代码/stage1/output/stage1-level-global-local/explicit_emdb_level/sources/9nvs/` 下 data、cryo、emap；Emap2lig仅使用显式EMDB推荐level L、官方阈值L/2，实际运行源码为 `37b0d9e7ad2a1b18fa096d91f154619085cee907`。GT/CA2与旧条件共享公共材料，不使用旧no_level的Emap预测。本地原件及逐文件SHA256由同条件目录的metadata、density与local_reuse来源回执连接。全局统计交叉核对 `stage1-results-revision/explicit_emdb_level/data/plot_data.json` 的 full、9nvs、Cryo/Emap、values.dice；局部交叉核对 prepared/9nvs/evidence.json。</a:t>
        </a:r>
      </a:p>
      <a:p>
        <a:r>
          <a:t/>
        </a:r>
      </a:p>
      <a:p>
        <a:r>
          <a:t>**指标与分母。** 上排计算全部 `candidate_selected` 预测体素的并集P与全部5个真实配体实例体素的并集G的语义 Dice：2|P∩G|/(|P|+|G|)。Emap的P/G/交集为868/2313/255，Dice=0.1603269412134549，显示0.160；CA2为2659/2313/1882，Dice=0.7570394207562349，显示0.757。原始掩码独立并集与evaluation.npz的semantic_tp/fp/fn逐项一致，没有逐实例平均或只对匹配候选计算。上排不再显示实例TP/FP数。</a:t>
        </a:r>
      </a:p>
      <a:p>
        <a:r>
          <a:t/>
        </a:r>
      </a:p>
      <a:p>
        <a:r>
          <a:t>下排为双向覆盖0.3的一对一评价中实际匹配到occurrence 1的原生Emap blob 2与CA2 blob 1，IoU=I/(P+G−I)。Emap的P/G/I为212/471/160，IoU=0.30592734225621415，显示0.306；CA2为473/471/374，IoU=0.656140350877193，显示0.656。旧局部Dice 0.468521/0.792373仍是有效历史指标，不再作为本页标签。0.3仅用于确认实例匹配，不是语义Dice或IoU的计算阈值。d仍为Emap blob 3、32体素，与全部真值零交集；0.781250的体素中心距沉积受体重原子≤1.5 Å。</a:t>
        </a:r>
      </a:p>
      <a:p>
        <a:r>
          <a:t/>
        </a:r>
      </a:p>
      <a:p>
        <a:r>
          <a:t>**坐标与完整重建。** 原子XYZ Å、掩码ZYX；MRC原点为首体素中心，裁零同步origin；0.5等值面、step1、无平滑。a–c及e/f各自共用相机与尺度，不重对齐分子。仓库根运行 `python -X utf8 -B 转换工具/ops/rebuild_figures.py --figure "stage1-level-global-local-9nvs(v1)"`，从冻结原件完整重做筛查、转换、初始/最终CXS、PNG及候选PPT，并选择v1标签；所有运行产物写新temp目录、屏蔽旧temp，正式PPT和作者个人会话只读。当前正式页备注由统一工具保留并同步候选来源批注。实施与验收记录见 [任务执行记录](../../../../talk/stage1_level_visualization_20261027/执行记录.md)。</a:t>
        </a:r>
      </a:p>
    </p188:txBody>
  </p188:cm>
  <p188:cm id="{82F1F04D-C534-42B2-B8D2-DF2D54EDB41C}" authorId="{D3F71A66-0C34-DF1A-5236-FECDBC820DCB}" created="2026-10-29T06:46:01.727">
    <pc:sldMkLst xmlns:pc="http://schemas.microsoft.com/office/powerpoint/2013/main/command">
      <pc:docMk/>
      <pc:sldMk cId="3055123793" sldId="269"/>
    </pc:sldMkLst>
    <p188:txBody>
      <a:bodyPr/>
      <a:lstStyle/>
      <a:p>
        <a:r>
          <a:rPr lang="zh-CN" altLang="en-US"/>
          <a:t>@@stage1-level-global-local-9nvs(v1)</a:t>
        </a:r>
      </a:p>
    </p188:txBody>
  </p188:cm>
</p188:cmLst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t>@@stage1-seven-group1-baseline-NO_LEVEL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t>@@stage1-seven-group2-baseline-NO_LEVEL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t>@@stage1-seven-group1-contrast-NO_LEVEL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t>@@stage1-seven-group2-contrast-NO_LEVEL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t>@@stage1-seven-group1-density-NO_LEVEL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t>@@stage1-seven-group2-density-NO_LEVEL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@@stage1-fourcase-main-NO_LEVEL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stage1-fourcase-main-NO_LEVEL｜四例真实配体区域与预测的三维比较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第7页四例版为历史原稿，本轮不在正文展示。生成时选定的四个病例身份如下；表中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@@stage1-threecase-main-NO_LEVEL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stage1-threecase-main-NO_LEVEL｜三例真实配体区域与预测的三维比较</a:t>
        </a:r>
      </a:p>
      <a:p>
        <a:r>
          <a:t/>
        </a:r>
      </a:p>
      <a:p>
        <a:r>
          <a:t>第8页三例版保留，本轮从中英文正文移出；面板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@@stage1-fourcase-main-NO_LEVEL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-NO_LEVEL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comments/modernComment_108_80165C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5B5E09-8953-40F4-A155-A8AE7D1D2A16}" authorId="{790E2142-CE14-45B4-98C8-5B3CA55088DC}" created="2026-10-27T17:31:30.796Z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PROVENANCE v1</a:t>
        </a:r>
      </a:p>
      <a:p>
        <a:r>
          <a:t>id: stage1-level-global-local-9nvs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stage1-level-global-local-9nvs｜9NVS 全局到局部六面板</a:t>
        </a:r>
      </a:p>
      <a:p>
        <a:r>
          <a:t/>
        </a:r>
      </a:p>
      <a:p>
        <a:r>
          <a:t>当前为 `画图/stage1可视化.pptx` 第9页，正文 Fig. 3。a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`画图/画图代码/stage1/output/stage1-level-global-local/explicit_emdb_level/sources/9nvs/`；新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1，A1B32，auth B:1001。CA2/Emap 原生 blob 为 1/2，均是正式双向覆盖0.3一对一匹配中实际匹配该实例的候选。局部实例区域 Dice 为 0.792373/0.468521，IoU 为 0.656140/0.305927；它们不是全 PDB 语义 Dice。全局完整 candidate_selected 的 TP/FP 为 CA2 5/0、Emap 1/5，不为截图另筛候选。d 选 Emap blob 3，32个体素，与全部真值零交集；0.781250的体素中心距沉积受体重原子≤1.5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@@stage1-level-global-local-9nal,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`画图/画图代码/stage1/output/stage1-level-global-local/explicit_emdb_level/scenes/9nvs/initial.cxs`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vs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8F255A64-E502-4DA2-85D6-623FA5735BB5}" authorId="{790E2142-CE14-45B4-98C8-5B3CA55088DC}" created="2026-10-28T00:54:58.320+08:00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@@stage1-level-global-local-9nvs</a:t>
        </a:r>
      </a:p>
    </p188:txBody>
  </p188:cm>
</p188:cmLst>
</file>

<file path=ppt/comments/modernComment_109_B9388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737B77-B460-46BD-8801-CEFF3C8C3E7D}" authorId="{790E2142-CE14-45B4-98C8-5B3CA55088DC}" created="2026-10-27T17:31:30.797Z">
    <pc:sldMkLst xmlns:pc="http://schemas.microsoft.com/office/powerpoint/2013/main/command">
      <pc:docMk/>
      <pc:sldMk cId="1784575115" sldId="257"/>
    </pc:sldMkLst>
    <p188:pos x="0" y="0"/>
    <p188:txBody>
      <a:bodyPr/>
      <a:lstStyle/>
      <a:p>
        <a:r>
          <a:t>PROVENANCE v1</a:t>
        </a:r>
      </a:p>
      <a:p>
        <a:r>
          <a:t>id: stage1-level-global-local-9nal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stage1-level-global-local-9nal｜9NAL 全局到局部六面板</a:t>
        </a:r>
      </a:p>
      <a:p>
        <a:r>
          <a:t/>
        </a:r>
      </a:p>
      <a:p>
        <a:r>
          <a:t>当前为 `画图/stage1可视化.pptx` 第10页，完整备选，尚未插入正文。a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`画图/画图代码/stage1/output/stage1-level-global-local/explicit_emdb_level/sources/9nal/`；新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1，ADP，auth A:1402。CA2/Emap 原生 blob 为 1/12，均是正式双向覆盖0.3一对一匹配中实际匹配该实例的候选。局部实例区域 Dice 为 0.630835/0.393195，IoU 为 0.460744/0.244706；它们不是全 PDB 语义 Dice。全局完整 candidate_selected 的 TP/FP 为 CA2 2/0、Emap 2/11，不为截图另筛候选。d 选 Emap blob 6，87个体素，与全部真值零交集；0.781609的体素中心距沉积受体重原子≤1.5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`画图/画图代码/stage1/output/stage1-level-global-local/explicit_emdb_level/scenes/9nal/initial.cxs`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al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CED216F1-ACDB-4B49-8603-9ED237483A74}" authorId="{D3F71A66-0C34-DF1A-5236-FECDBC820DCB}" created="2026-10-29T06:46:12.533">
    <pc:sldMkLst xmlns:pc="http://schemas.microsoft.com/office/powerpoint/2013/main/command">
      <pc:docMk/>
      <pc:sldMk cId="3107490781" sldId="265"/>
    </pc:sldMkLst>
    <p188:txBody>
      <a:bodyPr/>
      <a:lstStyle/>
      <a:p>
        <a:r>
          <a:rPr lang="zh-CN" altLang="en-US"/>
          <a:t>@@stage1-level-global-local-9nal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受体背景下配体区域检出的全局与局部比较：9NVS。a–</a:t>
            </a:r>
            <a:r>
              <a:rPr dirty="0" err="1"/>
              <a:t>c，真实配体区域（绿色</a:t>
            </a:r>
            <a:r>
              <a:rPr dirty="0"/>
              <a:t>）、Emap2lig-Find </a:t>
            </a:r>
            <a:r>
              <a:rPr dirty="0" err="1"/>
              <a:t>预测（橙色）和</a:t>
            </a:r>
            <a:r>
              <a:rPr dirty="0"/>
              <a:t> </a:t>
            </a:r>
            <a:r>
              <a:rPr dirty="0" err="1"/>
              <a:t>LigandSeek</a:t>
            </a:r>
            <a:r>
              <a:rPr dirty="0"/>
              <a:t>-Find 的 CA2 </a:t>
            </a:r>
            <a:r>
              <a:rPr dirty="0" err="1"/>
              <a:t>预测（蓝色</a:t>
            </a:r>
            <a:r>
              <a:rPr dirty="0"/>
              <a:t>）。</a:t>
            </a:r>
            <a:r>
              <a:rPr dirty="0" err="1"/>
              <a:t>a、b</a:t>
            </a:r>
            <a:r>
              <a:rPr dirty="0"/>
              <a:t> </a:t>
            </a:r>
            <a:r>
              <a:rPr dirty="0" err="1"/>
              <a:t>使用沉积受体，c</a:t>
            </a:r>
            <a:r>
              <a:rPr dirty="0"/>
              <a:t> </a:t>
            </a:r>
            <a:r>
              <a:rPr dirty="0" err="1"/>
              <a:t>使用</a:t>
            </a:r>
            <a:r>
              <a:rPr dirty="0"/>
              <a:t> CA2 </a:t>
            </a:r>
            <a:r>
              <a:rPr dirty="0" err="1"/>
              <a:t>受体；全部保留预测均显示。d，框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对应的受体上假阳性，与全部配体真实区域零交集。e、f，框</a:t>
            </a:r>
            <a:r>
              <a:rPr dirty="0"/>
              <a:t> ii </a:t>
            </a:r>
            <a:r>
              <a:rPr dirty="0" err="1"/>
              <a:t>对应的同一</a:t>
            </a:r>
            <a:r>
              <a:rPr dirty="0"/>
              <a:t> A1B32 (B:1001) </a:t>
            </a:r>
            <a:r>
              <a:rPr dirty="0" err="1"/>
              <a:t>实例，两方法均在双向覆盖阈值</a:t>
            </a:r>
            <a:r>
              <a:rPr dirty="0"/>
              <a:t> 0.3 的一对一评价中匹配该实例；Emap2lig 与 </a:t>
            </a:r>
            <a:r>
              <a:rPr dirty="0" err="1"/>
              <a:t>LigandSeek</a:t>
            </a:r>
            <a:r>
              <a:rPr dirty="0"/>
              <a:t> 的 Dice </a:t>
            </a:r>
            <a:r>
              <a:rPr dirty="0" err="1"/>
              <a:t>分别为</a:t>
            </a:r>
            <a:r>
              <a:rPr dirty="0"/>
              <a:t> 0.469 和 0.792。绿色网格表示真实区域，棒状原子表示沉积配体和相应受体邻域。a–c </a:t>
            </a:r>
            <a:r>
              <a:rPr dirty="0" err="1"/>
              <a:t>共用全局视角和尺度，e、f</a:t>
            </a:r>
            <a:r>
              <a:rPr dirty="0"/>
              <a:t> </a:t>
            </a:r>
            <a:r>
              <a:rPr dirty="0" err="1"/>
              <a:t>共用局部视角和尺度；掩码为</a:t>
            </a:r>
            <a:r>
              <a:rPr dirty="0"/>
              <a:t> 0.5 </a:t>
            </a:r>
            <a:r>
              <a:rPr dirty="0" err="1"/>
              <a:t>等值面，不平滑。比例尺：a</a:t>
            </a:r>
            <a:r>
              <a:rPr dirty="0"/>
              <a:t>–c，50 </a:t>
            </a:r>
            <a:r>
              <a:rPr dirty="0" err="1"/>
              <a:t>Å；d</a:t>
            </a:r>
            <a:r>
              <a:rPr dirty="0"/>
              <a:t>–f，5 Å。</a:t>
            </a:r>
          </a:p>
          <a:p>
            <a:r>
              <a:rPr dirty="0"/>
              <a:t>ENGLISH:</a:t>
            </a:r>
          </a:p>
          <a:p>
            <a:r>
              <a:rPr dirty="0"/>
              <a:t>Global and local comparison of ligand-region detection in 9NVS. a–c, Reference ligand regions (green), Emap2lig-Find predictions (orange), and </a:t>
            </a:r>
            <a:r>
              <a:rPr dirty="0" err="1"/>
              <a:t>LigandSeek</a:t>
            </a:r>
            <a:r>
              <a:rPr dirty="0"/>
              <a:t>-Find predictions with CA2 receptors (blue). Deposited receptors are shown in a and b, and the CA2 receptor in c. All retained predictions are displayed. d, The receptor-associated false positive marked by box </a:t>
            </a:r>
            <a:r>
              <a:rPr dirty="0" err="1"/>
              <a:t>i</a:t>
            </a:r>
            <a:r>
              <a:rPr dirty="0"/>
              <a:t> has zero overlap with all ground-truth ligand regions. </a:t>
            </a:r>
            <a:r>
              <a:rPr dirty="0" err="1"/>
              <a:t>e,f</a:t>
            </a:r>
            <a:r>
              <a:rPr dirty="0"/>
              <a:t>, The same A1B32 (B:1001) instance marked by box ii, matched by both methods under one-to-one evaluation at a bidirectional coverage threshold of 0.3. Dice is 0.469 for Emap2lig-Find and 0.792 for </a:t>
            </a:r>
            <a:r>
              <a:rPr dirty="0" err="1"/>
              <a:t>LigandSeek</a:t>
            </a:r>
            <a:r>
              <a:rPr dirty="0"/>
              <a:t>-Find. Green mesh denotes the ground-truth region; sticks show the deposited ligand and the corresponding receptor </a:t>
            </a:r>
            <a:r>
              <a:rPr dirty="0" err="1"/>
              <a:t>neighbourhood</a:t>
            </a:r>
            <a:r>
              <a:rPr dirty="0"/>
              <a:t>. Panels a–c share the global view and scale; e and f share the local view and scale. Binary masks are displayed at an </a:t>
            </a:r>
            <a:r>
              <a:rPr dirty="0" err="1"/>
              <a:t>isovalue</a:t>
            </a:r>
            <a:r>
              <a:rPr dirty="0"/>
              <a:t> of 0.5 without smoothing. </a:t>
            </a:r>
            <a:r>
              <a:rPr lang="en-US" dirty="0"/>
              <a:t>Scale bars, 50 Å (a–c), 5 Å (d–f).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3893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4B9D9-EE83-1F54-D96C-7AF88E46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290B7-8521-552A-1A7B-332088C77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87CE-EC3A-3D1D-9AC7-62F8BF531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对 </a:t>
            </a:r>
            <a:r>
              <a:rPr lang="en-US" altLang="zh-CN" dirty="0"/>
              <a:t>Emap2lig-Find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在 </a:t>
            </a:r>
            <a:r>
              <a:rPr lang="en-US" altLang="zh-CN" dirty="0"/>
              <a:t>9NVS </a:t>
            </a:r>
            <a:r>
              <a:rPr lang="zh-CN" altLang="en-US" dirty="0"/>
              <a:t>上进行配体区域检测的性能进行全局和局部比较。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以 </a:t>
            </a:r>
            <a:r>
              <a:rPr lang="en-US" altLang="zh-CN" dirty="0" err="1"/>
              <a:t>CryoAtom2 重构</a:t>
            </a:r>
            <a:r>
              <a:rPr lang="zh-CN" altLang="en-US" dirty="0"/>
              <a:t>的受体 </a:t>
            </a:r>
            <a:r>
              <a:rPr lang="en-US" altLang="zh-CN" dirty="0"/>
              <a:t>(CA2) </a:t>
            </a:r>
            <a:r>
              <a:rPr lang="zh-CN" altLang="en-US" dirty="0"/>
              <a:t>作为输入。</a:t>
            </a:r>
            <a:r>
              <a:rPr lang="en-US" altLang="zh-CN" dirty="0"/>
              <a:t>a–c </a:t>
            </a:r>
            <a:r>
              <a:rPr lang="zh-CN" altLang="en-US" dirty="0"/>
              <a:t>分别展示了参考配体区域（绿色）、</a:t>
            </a:r>
            <a:r>
              <a:rPr lang="en-US" altLang="zh-CN" dirty="0"/>
              <a:t>Emap2lig-Find </a:t>
            </a:r>
            <a:r>
              <a:rPr lang="zh-CN" altLang="en-US" dirty="0"/>
              <a:t>预测结果（橙色）以及使用 </a:t>
            </a:r>
            <a:r>
              <a:rPr lang="en-US" altLang="zh-CN" dirty="0"/>
              <a:t>CA2 </a:t>
            </a:r>
            <a:r>
              <a:rPr lang="zh-CN" altLang="en-US" dirty="0"/>
              <a:t>受体的 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预测结果（蓝色）。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中显示了已提交的受体，</a:t>
            </a:r>
            <a:r>
              <a:rPr lang="en-US" altLang="zh-CN" dirty="0"/>
              <a:t>c </a:t>
            </a:r>
            <a:r>
              <a:rPr lang="zh-CN" altLang="en-US" dirty="0"/>
              <a:t>中显示了 </a:t>
            </a:r>
            <a:r>
              <a:rPr lang="en-US" altLang="zh-CN" dirty="0"/>
              <a:t>CA2 </a:t>
            </a:r>
            <a:r>
              <a:rPr lang="zh-CN" altLang="en-US" dirty="0"/>
              <a:t>受体。图中显示了所有保留的预测结果。Emap2lig-Find 和 LigandSeek-Find 的全局语义 Dice 分别为 0.160 和 0.757。</a:t>
            </a:r>
            <a:r>
              <a:rPr lang="en-US" altLang="zh-CN" dirty="0"/>
              <a:t>d </a:t>
            </a:r>
            <a:r>
              <a:rPr lang="zh-CN" altLang="en-US" dirty="0"/>
              <a:t>中，方框 </a:t>
            </a:r>
            <a:r>
              <a:rPr lang="en-US" altLang="zh-CN" dirty="0" err="1"/>
              <a:t>i</a:t>
            </a:r>
            <a:r>
              <a:rPr lang="en-US" altLang="zh-CN" dirty="0"/>
              <a:t> </a:t>
            </a:r>
            <a:r>
              <a:rPr lang="zh-CN" altLang="en-US" dirty="0"/>
              <a:t>标记的受体相关假阳性区域与任何真实配体区域均无重叠。</a:t>
            </a:r>
            <a:r>
              <a:rPr lang="en-US" altLang="zh-CN" dirty="0"/>
              <a:t>e </a:t>
            </a:r>
            <a:r>
              <a:rPr lang="zh-CN" altLang="en-US" dirty="0"/>
              <a:t>和 </a:t>
            </a:r>
            <a:r>
              <a:rPr lang="en-US" altLang="zh-CN" dirty="0"/>
              <a:t>f </a:t>
            </a:r>
            <a:r>
              <a:rPr lang="zh-CN" altLang="en-US" dirty="0"/>
              <a:t>中，对同一 </a:t>
            </a:r>
            <a:r>
              <a:rPr lang="en-US" altLang="zh-CN" dirty="0"/>
              <a:t>A1B32 (B:1001) </a:t>
            </a:r>
            <a:r>
              <a:rPr lang="zh-CN" altLang="en-US" dirty="0"/>
              <a:t>实例（方框 </a:t>
            </a:r>
            <a:r>
              <a:rPr lang="en-US" altLang="zh-CN" dirty="0"/>
              <a:t>ii </a:t>
            </a:r>
            <a:r>
              <a:rPr lang="zh-CN" altLang="en-US" dirty="0"/>
              <a:t>标记）进行了比较（</a:t>
            </a:r>
            <a:r>
              <a:rPr lang="en-US" altLang="zh-CN" dirty="0"/>
              <a:t>IoU：Emap2lig-Find 为 0.306，LigandSeek-Find 为 0.656</a:t>
            </a:r>
            <a:r>
              <a:rPr lang="zh-CN" altLang="en-US" dirty="0"/>
              <a:t>）。绿色网格表示真实区域；棒状图表示沉积的配体和相邻的受体残基。图</a:t>
            </a:r>
            <a:r>
              <a:rPr lang="en-US" altLang="zh-CN" dirty="0"/>
              <a:t>a-c</a:t>
            </a:r>
            <a:r>
              <a:rPr lang="zh-CN" altLang="en-US" dirty="0"/>
              <a:t>共享全局视图和比例尺；图</a:t>
            </a:r>
            <a:r>
              <a:rPr lang="en-US" altLang="zh-CN" dirty="0"/>
              <a:t>e</a:t>
            </a:r>
            <a:r>
              <a:rPr lang="zh-CN" altLang="en-US" dirty="0"/>
              <a:t>和</a:t>
            </a:r>
            <a:r>
              <a:rPr lang="en-US" altLang="zh-CN" dirty="0"/>
              <a:t>f</a:t>
            </a:r>
            <a:r>
              <a:rPr lang="zh-CN" altLang="en-US" dirty="0"/>
              <a:t>共享局部视图和比例尺。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kern="1200" dirty="0"/>
              <a:t>Global and local comparison of Emap2lig-Find and LigandSeek-Find for ligand-region detection on 9NVS. </a:t>
            </a:r>
            <a:r>
              <a:rPr lang="zh-CN" altLang="zh-CN" dirty="0"/>
              <a:t>LigandSeek-Find takes the CryoAtom2-reconstructed receptor (CA2) as input</a:t>
            </a:r>
            <a:r>
              <a:rPr lang="en-US" altLang="zh-CN"/>
              <a:t>. </a:t>
            </a:r>
            <a:r>
              <a:rPr lang="zh-CN" altLang="zh-CN" b="1"/>
              <a:t>a</a:t>
            </a:r>
            <a:r>
              <a:rPr lang="zh-CN" altLang="zh-CN" b="1" dirty="0"/>
              <a:t>–c</a:t>
            </a:r>
            <a:r>
              <a:rPr lang="zh-CN" altLang="zh-CN" dirty="0"/>
              <a:t>, Reference ligand regions (green), Emap2lig-Find predictions (orange), and LigandSeek-Find predictions with CA2 receptors (blue). Deposited receptors are shown in </a:t>
            </a:r>
            <a:r>
              <a:rPr lang="zh-CN" altLang="zh-CN" b="1" dirty="0"/>
              <a:t>a</a:t>
            </a:r>
            <a:r>
              <a:rPr lang="zh-CN" altLang="zh-CN" dirty="0"/>
              <a:t> and </a:t>
            </a:r>
            <a:r>
              <a:rPr lang="zh-CN" altLang="zh-CN" b="1" dirty="0"/>
              <a:t>b</a:t>
            </a:r>
            <a:r>
              <a:rPr lang="zh-CN" altLang="zh-CN" dirty="0"/>
              <a:t>, and the CA2 receptor in </a:t>
            </a:r>
            <a:r>
              <a:rPr lang="zh-CN" altLang="zh-CN" b="1" dirty="0"/>
              <a:t>c</a:t>
            </a:r>
            <a:r>
              <a:rPr lang="zh-CN" altLang="zh-CN" dirty="0"/>
              <a:t>. All retained predictions are displayed. Global semantic Dice scores are 0.160 for Emap2lig-Find and 0.757 for LigandSeek-Find. </a:t>
            </a:r>
            <a:r>
              <a:rPr lang="zh-CN" altLang="zh-CN" b="1" dirty="0"/>
              <a:t>d</a:t>
            </a:r>
            <a:r>
              <a:rPr lang="zh-CN" altLang="zh-CN" dirty="0"/>
              <a:t>, The receptor-associated false positive marked by box </a:t>
            </a:r>
            <a:r>
              <a:rPr lang="zh-CN" altLang="zh-CN" b="1" dirty="0"/>
              <a:t>i</a:t>
            </a:r>
            <a:r>
              <a:rPr lang="zh-CN" altLang="zh-CN" dirty="0"/>
              <a:t> shows zero overlap with any ground-truth ligand region. </a:t>
            </a:r>
            <a:r>
              <a:rPr lang="zh-CN" altLang="zh-CN" b="1" dirty="0"/>
              <a:t>e,f</a:t>
            </a:r>
            <a:r>
              <a:rPr lang="zh-CN" altLang="zh-CN" dirty="0"/>
              <a:t>, Comparison on the same A1B32 (B:1001) instance marked by box </a:t>
            </a:r>
            <a:r>
              <a:rPr lang="zh-CN" altLang="zh-CN" b="1" dirty="0"/>
              <a:t>ii</a:t>
            </a:r>
            <a:r>
              <a:rPr lang="zh-CN" altLang="zh-CN" dirty="0"/>
              <a:t> (IoU: 0.306 for Emap2lig-Find vs. 0.656 for LigandSeek-Find). Green mesh denotes the ground-truth region; sticks show the deposited ligand and adjacent receptor residues. Panels </a:t>
            </a:r>
            <a:r>
              <a:rPr lang="zh-CN" altLang="zh-CN" b="1" dirty="0"/>
              <a:t>a–c</a:t>
            </a:r>
            <a:r>
              <a:rPr lang="zh-CN" altLang="zh-CN" dirty="0"/>
              <a:t> share the global view and scale; </a:t>
            </a:r>
            <a:r>
              <a:rPr lang="zh-CN" altLang="zh-CN" b="1" dirty="0"/>
              <a:t>e</a:t>
            </a:r>
            <a:r>
              <a:rPr lang="zh-CN" altLang="zh-CN" dirty="0"/>
              <a:t> and </a:t>
            </a:r>
            <a:r>
              <a:rPr lang="zh-CN" altLang="zh-CN" b="1" dirty="0"/>
              <a:t>f</a:t>
            </a:r>
            <a:r>
              <a:rPr lang="zh-CN" altLang="zh-CN" dirty="0"/>
              <a:t> share the local view and scale.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9F793-E380-4D0C-9940-C5DFF8347FC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7441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受体背景下配体区域检出的全局与局部比较：9NAL。a–c，真实配体区域（绿色）、Emap2lig-Find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ADP (A:1402) 实例，两方法均在双向覆盖阈值 0.3 的一对一评价中匹配该实例；Emap2lig 与 LigandSeek 的 Dice 分别为 0.393 和 0.631。绿色网格表示真实区域，棒状原子表示沉积配体和相应受体邻域。a–c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9NAL.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ADP (A:1402) instance marked by box ii, matched by both methods under one-to-one evaluation at a bidirectional coverage threshold of 0.3. Dice is 0.393 for Emap2lig-Find and 0.631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47823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受体背景下配体区域检出的全局与局部比较：9UJF。a–c，真实配体区域（绿色）、Emap2lig-Find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GTP (D:201) 实例，两方法均在双向覆盖阈值 0.3 的一对一评价中匹配该实例；Emap2lig 与 LigandSeek 的 Dice 分别为 0.560 和 0.864。绿色网格表示真实区域，棒状原子表示沉积配体和相应受体邻域。a–c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9UJF.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GTP (D:201) instance marked by box ii, matched by both methods under one-to-one evaluation at a bidirectional coverage threshold of 0.3. Dice is 0.560 for Emap2lig-Find and 0.864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6524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受体背景下配体区域检出的全局与局部比较：9WFU。a–c，真实配体区域（绿色）、Emap2lig-Find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ATP (A:1401) 实例，两方法均在双向覆盖阈值 0.3 的一对一评价中匹配该实例；Emap2lig 与 LigandSeek 的 Dice 分别为 0.655 和 0.743。绿色网格表示真实区域，棒状原子表示沉积配体和相应受体邻域。a–c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9WFU.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ATP (A:1401) instance marked by box ii, matched by both methods under one-to-one evaluation at a bidirectional coverage threshold of 0.3. Dice is 0.655 for Emap2lig-Find and 0.743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3872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受体背景下配体区域检出的全局与局部比较：9X0X。a–c，真实配体区域（绿色）、Emap2lig-Find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PTY (T:801) 实例，两方法均在双向覆盖阈值 0.3 的一对一评价中匹配该实例；Emap2lig 与 LigandSeek 的 Dice 分别为 0.405 和 0.830。绿色网格表示真实区域，棒状原子表示沉积配体和相应受体邻域。a–c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9X0X.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PTY (T:801) instance marked by box ii, matched by both methods under one-to-one evaluation at a bidirectional coverage threshold of 0.3. Dice is 0.405 for Emap2lig-Find and 0.830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8342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982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95.png"/><Relationship Id="rId7" Type="http://schemas.openxmlformats.org/officeDocument/2006/relationships/image" Target="../media/image67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65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70.png"/><Relationship Id="rId19" Type="http://schemas.openxmlformats.org/officeDocument/2006/relationships/image" Target="../media/image93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microsoft.com/office/2018/10/relationships/comments" Target="../comments/modernComment_108_80165C69.xml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microsoft.com/office/2018/10/relationships/comments" Target="../comments/modernComment_10D_B6197D51.xml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png"/><Relationship Id="rId3" Type="http://schemas.microsoft.com/office/2018/10/relationships/comments" Target="../comments/modernComment_109_B9388BDD.xml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Relationship Id="rId9" Type="http://schemas.openxmlformats.org/officeDocument/2006/relationships/image" Target="../media/image15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3" Type="http://schemas.microsoft.com/office/2018/10/relationships/comments" Target="../comments/modernComment_10A_1BDD1AF3.xml"/><Relationship Id="rId7" Type="http://schemas.openxmlformats.org/officeDocument/2006/relationships/image" Target="../media/image16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microsoft.com/office/2018/10/relationships/comments" Target="../comments/modernComment_10B_FE8A904A.xml"/><Relationship Id="rId7" Type="http://schemas.openxmlformats.org/officeDocument/2006/relationships/image" Target="../media/image16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3" Type="http://schemas.microsoft.com/office/2018/10/relationships/comments" Target="../comments/modernComment_10C_7F7C7691.xml"/><Relationship Id="rId7" Type="http://schemas.openxmlformats.org/officeDocument/2006/relationships/image" Target="../media/image1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5" Type="http://schemas.openxmlformats.org/officeDocument/2006/relationships/image" Target="../media/image173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8211AB-5D49-4C34-85E5-505191A23D0C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9NVS · A1B32 (B:1001)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C06F5F-630A-4211-93CE-21FF15DED6FF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ACBD24-8857-4EF2-A4C6-E1FBEC856D62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4374642-4647-440B-A8E2-00F30B0E2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7D3A022A-697D-46B7-BE4D-F6A4A0BB818B}"/>
              </a:ext>
            </a:extLst>
          </p:cNvPr>
          <p:cNvSpPr>
            <a:spLocks noGrp="1"/>
          </p:cNvSpPr>
          <p:nvPr/>
        </p:nvSpPr>
        <p:spPr>
          <a:xfrm>
            <a:off x="406184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C10081-84F9-42CD-B3EC-DD18C9A73001}"/>
              </a:ext>
            </a:extLst>
          </p:cNvPr>
          <p:cNvSpPr>
            <a:spLocks noGrp="1"/>
          </p:cNvSpPr>
          <p:nvPr/>
        </p:nvSpPr>
        <p:spPr>
          <a:xfrm>
            <a:off x="401421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22867F-FD4D-4FB6-8CCD-48447D6877B9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B445F4-1E33-4A42-8FED-63F85C5DCF70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64A4-7B8F-4EB1-9B08-CFD5EE4304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C6E1BB1-DF74-4883-AE97-541870AD6A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161FFE3B-08EF-4104-9367-3D8848D6C0CF}"/>
              </a:ext>
            </a:extLst>
          </p:cNvPr>
          <p:cNvSpPr>
            <a:spLocks noGrp="1"/>
          </p:cNvSpPr>
          <p:nvPr/>
        </p:nvSpPr>
        <p:spPr>
          <a:xfrm>
            <a:off x="9062469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C49B7C-AD67-4BD6-8BA9-AE511B11F0F8}"/>
              </a:ext>
            </a:extLst>
          </p:cNvPr>
          <p:cNvSpPr>
            <a:spLocks noGrp="1"/>
          </p:cNvSpPr>
          <p:nvPr/>
        </p:nvSpPr>
        <p:spPr>
          <a:xfrm>
            <a:off x="9014844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149C45-8D6C-4F95-87E1-DCB2493C855E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 · FP 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58F4DF-76F9-4BCA-B8D2-B16F8C88DDCA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A1A762-894B-49E0-8FB5-76D77FE7185D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63591F0-D001-4E1E-82CC-930C36DCD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82F1DD9F-7397-4F1F-B28E-546C4B82CBC8}"/>
              </a:ext>
            </a:extLst>
          </p:cNvPr>
          <p:cNvSpPr>
            <a:spLocks noGrp="1"/>
          </p:cNvSpPr>
          <p:nvPr/>
        </p:nvSpPr>
        <p:spPr>
          <a:xfrm>
            <a:off x="1406309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96F1EFC-0A9B-4DF9-B643-E3DD38F5BFE0}"/>
              </a:ext>
            </a:extLst>
          </p:cNvPr>
          <p:cNvSpPr>
            <a:spLocks noGrp="1"/>
          </p:cNvSpPr>
          <p:nvPr/>
        </p:nvSpPr>
        <p:spPr>
          <a:xfrm>
            <a:off x="1401546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C50DFF4-9E2A-46F8-B8AF-195FA5FDB271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5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43AE75E-15EE-4036-9D83-5DAE275EDC1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73A1B0-1A89-477C-836B-E66B4D109CE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3011A0B0-3C0F-4E36-A11B-3B92B50770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2951A63A-CD86-495F-8D2D-DFB770114991}"/>
              </a:ext>
            </a:extLst>
          </p:cNvPr>
          <p:cNvSpPr>
            <a:spLocks noGrp="1"/>
          </p:cNvSpPr>
          <p:nvPr/>
        </p:nvSpPr>
        <p:spPr>
          <a:xfrm>
            <a:off x="4131604" y="9534525"/>
            <a:ext cx="773771" cy="95"/>
          </a:xfrm>
          <a:custGeom>
            <a:avLst/>
            <a:gdLst/>
            <a:ahLst/>
            <a:cxnLst/>
            <a:rect l="0" t="0" r="0" b="0"/>
            <a:pathLst>
              <a:path w="773771" h="95">
                <a:moveTo>
                  <a:pt x="0" y="0"/>
                </a:moveTo>
                <a:lnTo>
                  <a:pt x="77377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767AB0-ACE2-4B4E-AFCB-98B0BEDCF656}"/>
              </a:ext>
            </a:extLst>
          </p:cNvPr>
          <p:cNvSpPr>
            <a:spLocks noGrp="1"/>
          </p:cNvSpPr>
          <p:nvPr/>
        </p:nvSpPr>
        <p:spPr>
          <a:xfrm>
            <a:off x="4083979" y="9229725"/>
            <a:ext cx="110714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156E11-FEEA-44CA-880E-C3CB732CBD8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891BF7-593E-4DB8-86A3-87946DF53BA6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0C4FF6-63C1-4841-B5B7-69FE20E399B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668F295D-BA0B-4904-978F-249252453C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EAB333AE-F1A1-49F9-86C5-76B5B5F6DB7F}"/>
              </a:ext>
            </a:extLst>
          </p:cNvPr>
          <p:cNvSpPr>
            <a:spLocks noGrp="1"/>
          </p:cNvSpPr>
          <p:nvPr/>
        </p:nvSpPr>
        <p:spPr>
          <a:xfrm>
            <a:off x="9231958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7C4C948-21D9-4C7A-A640-C882014CC4A9}"/>
              </a:ext>
            </a:extLst>
          </p:cNvPr>
          <p:cNvSpPr>
            <a:spLocks noGrp="1"/>
          </p:cNvSpPr>
          <p:nvPr/>
        </p:nvSpPr>
        <p:spPr>
          <a:xfrm>
            <a:off x="9184333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832F90-3A0A-4FA4-9024-63808A3D9194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0.469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B2DB2BF-A3B4-4E65-BC5C-DB509FF351A3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5CB08CF-EBDD-4A29-A400-B61894646886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B08A51A-A502-4EF8-BA99-5709835CB3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6003B87-E1DE-430F-AD38-2F85A6DE92E1}"/>
              </a:ext>
            </a:extLst>
          </p:cNvPr>
          <p:cNvSpPr>
            <a:spLocks noGrp="1"/>
          </p:cNvSpPr>
          <p:nvPr/>
        </p:nvSpPr>
        <p:spPr>
          <a:xfrm>
            <a:off x="14232583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96484-9D1E-4E55-9D0A-47230CD93D2E}"/>
              </a:ext>
            </a:extLst>
          </p:cNvPr>
          <p:cNvSpPr>
            <a:spLocks noGrp="1"/>
          </p:cNvSpPr>
          <p:nvPr/>
        </p:nvSpPr>
        <p:spPr>
          <a:xfrm>
            <a:off x="14184958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84BA881-690C-428D-9C9D-D3B6337F642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0.792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DD315-9238-4BCC-BEB9-C25EEB6502D7}"/>
              </a:ext>
            </a:extLst>
          </p:cNvPr>
          <p:cNvSpPr>
            <a:spLocks noGrp="1"/>
          </p:cNvSpPr>
          <p:nvPr/>
        </p:nvSpPr>
        <p:spPr>
          <a:xfrm>
            <a:off x="6956611" y="2747301"/>
            <a:ext cx="308724" cy="26909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DF20C0-A233-445D-BB13-A06600AE6962}"/>
              </a:ext>
            </a:extLst>
          </p:cNvPr>
          <p:cNvSpPr>
            <a:spLocks noGrp="1"/>
          </p:cNvSpPr>
          <p:nvPr/>
        </p:nvSpPr>
        <p:spPr>
          <a:xfrm>
            <a:off x="6689911" y="273421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043E3F-C453-499C-AC96-4095355C21B9}"/>
              </a:ext>
            </a:extLst>
          </p:cNvPr>
          <p:cNvSpPr>
            <a:spLocks noGrp="1"/>
          </p:cNvSpPr>
          <p:nvPr/>
        </p:nvSpPr>
        <p:spPr>
          <a:xfrm>
            <a:off x="7143253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6D8159D-E286-418A-9DB9-6705CEA39A80}"/>
              </a:ext>
            </a:extLst>
          </p:cNvPr>
          <p:cNvSpPr>
            <a:spLocks noGrp="1"/>
          </p:cNvSpPr>
          <p:nvPr/>
        </p:nvSpPr>
        <p:spPr>
          <a:xfrm>
            <a:off x="7143253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6233B-9E88-42FE-A5FE-DD0B97F2EC5D}"/>
              </a:ext>
            </a:extLst>
          </p:cNvPr>
          <p:cNvSpPr>
            <a:spLocks noGrp="1"/>
          </p:cNvSpPr>
          <p:nvPr/>
        </p:nvSpPr>
        <p:spPr>
          <a:xfrm>
            <a:off x="12143878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1A13C12-79F2-4115-B1EB-4C5A927C81E3}"/>
              </a:ext>
            </a:extLst>
          </p:cNvPr>
          <p:cNvSpPr>
            <a:spLocks noGrp="1"/>
          </p:cNvSpPr>
          <p:nvPr/>
        </p:nvSpPr>
        <p:spPr>
          <a:xfrm>
            <a:off x="12143878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4894909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C001B-2013-F52F-8D83-AC330E9B8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138852D3-26B0-7F6B-A36B-8AF23F3720F2}"/>
              </a:ext>
            </a:extLst>
          </p:cNvPr>
          <p:cNvSpPr>
            <a:spLocks noGrp="1"/>
          </p:cNvSpPr>
          <p:nvPr/>
        </p:nvSpPr>
        <p:spPr>
          <a:xfrm>
            <a:off x="2681696" y="3481388"/>
            <a:ext cx="3399548" cy="3619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>
                <a:solidFill>
                  <a:srgbClr val="333333"/>
                </a:solidFill>
              </a:rPr>
              <a:t>PDB ID: 9NVS 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19DA22-24D5-A001-CB25-6361CF777A75}"/>
              </a:ext>
            </a:extLst>
          </p:cNvPr>
          <p:cNvSpPr>
            <a:spLocks noGrp="1"/>
          </p:cNvSpPr>
          <p:nvPr/>
        </p:nvSpPr>
        <p:spPr>
          <a:xfrm>
            <a:off x="2019300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CEBD4BC-932C-78F3-E22F-41E0051AA1BE}"/>
              </a:ext>
            </a:extLst>
          </p:cNvPr>
          <p:cNvSpPr>
            <a:spLocks noGrp="1"/>
          </p:cNvSpPr>
          <p:nvPr/>
        </p:nvSpPr>
        <p:spPr>
          <a:xfrm>
            <a:off x="2428875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BA8D847-F86A-3AB7-237A-5BB7ABEC5487}"/>
              </a:ext>
            </a:extLst>
          </p:cNvPr>
          <p:cNvPicPr>
            <a:picLocks/>
          </p:cNvPicPr>
          <p:nvPr/>
        </p:nvPicPr>
        <p:blipFill>
          <a:blip r:embed="rId4"/>
          <a:srcRect l="20516" t="6863" r="19545" b="14461"/>
          <a:stretch>
            <a:fillRect/>
          </a:stretch>
        </p:blipFill>
        <p:spPr>
          <a:xfrm>
            <a:off x="2063714" y="485774"/>
            <a:ext cx="2911758" cy="305752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B3C9A4FE-FF05-13E4-055D-963A0922B015}"/>
              </a:ext>
            </a:extLst>
          </p:cNvPr>
          <p:cNvSpPr>
            <a:spLocks noGrp="1"/>
          </p:cNvSpPr>
          <p:nvPr/>
        </p:nvSpPr>
        <p:spPr>
          <a:xfrm>
            <a:off x="6151748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F12D5E4-000A-7FB9-6A5D-8E7FEC3B0FBC}"/>
              </a:ext>
            </a:extLst>
          </p:cNvPr>
          <p:cNvSpPr>
            <a:spLocks noGrp="1"/>
          </p:cNvSpPr>
          <p:nvPr/>
        </p:nvSpPr>
        <p:spPr>
          <a:xfrm>
            <a:off x="6561323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49AB631-F738-DFD4-BBAB-C1F00E39ECE5}"/>
              </a:ext>
            </a:extLst>
          </p:cNvPr>
          <p:cNvPicPr>
            <a:picLocks/>
          </p:cNvPicPr>
          <p:nvPr/>
        </p:nvPicPr>
        <p:blipFill>
          <a:blip r:embed="rId5"/>
          <a:srcRect l="21285" t="7598" r="20306" b="13727"/>
          <a:stretch>
            <a:fillRect/>
          </a:stretch>
        </p:blipFill>
        <p:spPr>
          <a:xfrm>
            <a:off x="6151748" y="504824"/>
            <a:ext cx="2837312" cy="3057526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4A42EBEF-12F5-6181-0CCE-68DB8E4BE3BB}"/>
              </a:ext>
            </a:extLst>
          </p:cNvPr>
          <p:cNvSpPr>
            <a:spLocks noGrp="1"/>
          </p:cNvSpPr>
          <p:nvPr/>
        </p:nvSpPr>
        <p:spPr>
          <a:xfrm>
            <a:off x="6366060" y="3468081"/>
            <a:ext cx="2226054" cy="365631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dirty="0"/>
              <a:t>Semantic Dice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0.160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617961-E6A0-A09F-74ED-151BA6EC196F}"/>
              </a:ext>
            </a:extLst>
          </p:cNvPr>
          <p:cNvSpPr>
            <a:spLocks noGrp="1"/>
          </p:cNvSpPr>
          <p:nvPr/>
        </p:nvSpPr>
        <p:spPr>
          <a:xfrm>
            <a:off x="9755854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9DFFF6-6715-37BE-2D85-E19EDEF93E43}"/>
              </a:ext>
            </a:extLst>
          </p:cNvPr>
          <p:cNvSpPr>
            <a:spLocks noGrp="1"/>
          </p:cNvSpPr>
          <p:nvPr/>
        </p:nvSpPr>
        <p:spPr>
          <a:xfrm>
            <a:off x="10165429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C1340068-ED42-F1DF-56A7-4F373965A0C9}"/>
              </a:ext>
            </a:extLst>
          </p:cNvPr>
          <p:cNvPicPr>
            <a:picLocks/>
          </p:cNvPicPr>
          <p:nvPr/>
        </p:nvPicPr>
        <p:blipFill>
          <a:blip r:embed="rId6"/>
          <a:srcRect l="27228" t="7598" r="17796" b="14216"/>
          <a:stretch>
            <a:fillRect/>
          </a:stretch>
        </p:blipFill>
        <p:spPr>
          <a:xfrm>
            <a:off x="9952946" y="533399"/>
            <a:ext cx="2670551" cy="3038476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326417F5-DE75-803E-6929-B27C9C13769A}"/>
              </a:ext>
            </a:extLst>
          </p:cNvPr>
          <p:cNvSpPr>
            <a:spLocks noGrp="1"/>
          </p:cNvSpPr>
          <p:nvPr/>
        </p:nvSpPr>
        <p:spPr>
          <a:xfrm>
            <a:off x="10172641" y="3471579"/>
            <a:ext cx="1727119" cy="333374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altLang="zh-CN" dirty="0"/>
              <a:t>Semantic Dice: 0.757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40F4749-1D83-FC68-F315-2CFC6FF1FDA9}"/>
              </a:ext>
            </a:extLst>
          </p:cNvPr>
          <p:cNvSpPr>
            <a:spLocks noGrp="1"/>
          </p:cNvSpPr>
          <p:nvPr/>
        </p:nvSpPr>
        <p:spPr>
          <a:xfrm>
            <a:off x="2019300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400AA3B-A5D7-989D-27D9-0F2FFE2F1583}"/>
              </a:ext>
            </a:extLst>
          </p:cNvPr>
          <p:cNvSpPr>
            <a:spLocks noGrp="1"/>
          </p:cNvSpPr>
          <p:nvPr/>
        </p:nvSpPr>
        <p:spPr>
          <a:xfrm>
            <a:off x="2428875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</a:t>
            </a: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914A611-373C-8B57-0E72-EED9086573BE}"/>
              </a:ext>
            </a:extLst>
          </p:cNvPr>
          <p:cNvPicPr>
            <a:picLocks/>
          </p:cNvPicPr>
          <p:nvPr/>
        </p:nvPicPr>
        <p:blipFill>
          <a:blip r:embed="rId7"/>
          <a:srcRect l="21438" t="17075" r="24752" b="25245"/>
          <a:stretch>
            <a:fillRect/>
          </a:stretch>
        </p:blipFill>
        <p:spPr>
          <a:xfrm>
            <a:off x="2281896" y="5243008"/>
            <a:ext cx="2613954" cy="224155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4488EBCB-AC01-B9CE-1B82-2060F2824730}"/>
              </a:ext>
            </a:extLst>
          </p:cNvPr>
          <p:cNvSpPr>
            <a:spLocks noGrp="1"/>
          </p:cNvSpPr>
          <p:nvPr/>
        </p:nvSpPr>
        <p:spPr>
          <a:xfrm>
            <a:off x="2681696" y="7919719"/>
            <a:ext cx="1855851" cy="44431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alse </a:t>
            </a:r>
            <a:r>
              <a:rPr lang="en-US" dirty="0"/>
              <a:t>p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ositive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602FD52-FBB6-2BC0-D696-2A156D0A789D}"/>
              </a:ext>
            </a:extLst>
          </p:cNvPr>
          <p:cNvSpPr>
            <a:spLocks noGrp="1"/>
          </p:cNvSpPr>
          <p:nvPr/>
        </p:nvSpPr>
        <p:spPr>
          <a:xfrm>
            <a:off x="6151748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C87454-996E-FFD5-DFF5-54B12BE62FBB}"/>
              </a:ext>
            </a:extLst>
          </p:cNvPr>
          <p:cNvSpPr>
            <a:spLocks noGrp="1"/>
          </p:cNvSpPr>
          <p:nvPr/>
        </p:nvSpPr>
        <p:spPr>
          <a:xfrm>
            <a:off x="6561323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8D26188F-09DE-1D4E-7685-F8A561989DF2}"/>
              </a:ext>
            </a:extLst>
          </p:cNvPr>
          <p:cNvPicPr>
            <a:picLocks/>
          </p:cNvPicPr>
          <p:nvPr/>
        </p:nvPicPr>
        <p:blipFill>
          <a:blip r:embed="rId8"/>
          <a:srcRect l="24642" t="4164" r="21549" b="10542"/>
          <a:stretch>
            <a:fillRect/>
          </a:stretch>
        </p:blipFill>
        <p:spPr>
          <a:xfrm>
            <a:off x="6245080" y="4706433"/>
            <a:ext cx="2613954" cy="33147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4D68863B-3D54-08F1-B2C4-2948F5E263CB}"/>
              </a:ext>
            </a:extLst>
          </p:cNvPr>
          <p:cNvSpPr>
            <a:spLocks noGrp="1"/>
          </p:cNvSpPr>
          <p:nvPr/>
        </p:nvSpPr>
        <p:spPr>
          <a:xfrm>
            <a:off x="6841927" y="7919719"/>
            <a:ext cx="887159" cy="374557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IoU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0.306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7EC619D-13ED-D5CA-F139-BEB7447D71C1}"/>
              </a:ext>
            </a:extLst>
          </p:cNvPr>
          <p:cNvSpPr>
            <a:spLocks noGrp="1"/>
          </p:cNvSpPr>
          <p:nvPr/>
        </p:nvSpPr>
        <p:spPr>
          <a:xfrm>
            <a:off x="9755854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6E1E5CE-70BA-83AA-89D8-15EA76C83282}"/>
              </a:ext>
            </a:extLst>
          </p:cNvPr>
          <p:cNvSpPr>
            <a:spLocks noGrp="1"/>
          </p:cNvSpPr>
          <p:nvPr/>
        </p:nvSpPr>
        <p:spPr>
          <a:xfrm>
            <a:off x="10165429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</a:t>
            </a:r>
            <a:r>
              <a:rPr sz="202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7C400282-4F3F-6138-4B38-11B56577AAC6}"/>
              </a:ext>
            </a:extLst>
          </p:cNvPr>
          <p:cNvPicPr>
            <a:picLocks/>
          </p:cNvPicPr>
          <p:nvPr/>
        </p:nvPicPr>
        <p:blipFill>
          <a:blip r:embed="rId9"/>
          <a:srcRect l="20523" t="6291" r="22699" b="8415"/>
          <a:stretch>
            <a:fillRect/>
          </a:stretch>
        </p:blipFill>
        <p:spPr>
          <a:xfrm>
            <a:off x="10005064" y="4725483"/>
            <a:ext cx="2758133" cy="33147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BB8E72D7-AE27-3CBB-BAD5-57FE76CF037A}"/>
              </a:ext>
            </a:extLst>
          </p:cNvPr>
          <p:cNvSpPr>
            <a:spLocks noGrp="1"/>
          </p:cNvSpPr>
          <p:nvPr/>
        </p:nvSpPr>
        <p:spPr>
          <a:xfrm>
            <a:off x="10739747" y="7989476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IoU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0.656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B8E9C90-555B-6EA1-E18E-A6BFF70DB995}"/>
              </a:ext>
            </a:extLst>
          </p:cNvPr>
          <p:cNvSpPr>
            <a:spLocks noGrp="1"/>
          </p:cNvSpPr>
          <p:nvPr/>
        </p:nvSpPr>
        <p:spPr>
          <a:xfrm>
            <a:off x="6883202" y="1832901"/>
            <a:ext cx="308724" cy="26909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88BD163-FBCD-25AA-D797-BDA642DE4C79}"/>
              </a:ext>
            </a:extLst>
          </p:cNvPr>
          <p:cNvSpPr>
            <a:spLocks noGrp="1"/>
          </p:cNvSpPr>
          <p:nvPr/>
        </p:nvSpPr>
        <p:spPr>
          <a:xfrm>
            <a:off x="6616502" y="181981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1506A-403A-F44A-A452-F470C02CC587}"/>
              </a:ext>
            </a:extLst>
          </p:cNvPr>
          <p:cNvSpPr>
            <a:spLocks noGrp="1"/>
          </p:cNvSpPr>
          <p:nvPr/>
        </p:nvSpPr>
        <p:spPr>
          <a:xfrm>
            <a:off x="7069844" y="16163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65E1CC-7AB1-4B7D-7F4E-D4FE9EF4DD2C}"/>
              </a:ext>
            </a:extLst>
          </p:cNvPr>
          <p:cNvSpPr>
            <a:spLocks noGrp="1"/>
          </p:cNvSpPr>
          <p:nvPr/>
        </p:nvSpPr>
        <p:spPr>
          <a:xfrm>
            <a:off x="7069844" y="12448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0F970F-55D2-D065-3680-E9140AA192F2}"/>
              </a:ext>
            </a:extLst>
          </p:cNvPr>
          <p:cNvSpPr>
            <a:spLocks noGrp="1"/>
          </p:cNvSpPr>
          <p:nvPr/>
        </p:nvSpPr>
        <p:spPr>
          <a:xfrm>
            <a:off x="10582417" y="1644926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731D942-938D-86EF-BD58-7F006B93E357}"/>
              </a:ext>
            </a:extLst>
          </p:cNvPr>
          <p:cNvSpPr>
            <a:spLocks noGrp="1"/>
          </p:cNvSpPr>
          <p:nvPr/>
        </p:nvSpPr>
        <p:spPr>
          <a:xfrm>
            <a:off x="10582417" y="12734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0551237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9B74A1F-6B45-41BA-9F45-E93288557EC1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9NAL · ADP (A:1402)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A9D234-895C-4D10-95F6-139A9864D1A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385050-590A-409D-BBD8-DFA98A8FB4EE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9C261B4-07BC-4B9D-A4E0-55ADADB3C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304F6551-687A-4139-ADC6-CA809D2E981E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612C0B-3E53-4AEB-BF58-18909F220C1E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88DA65-76E7-4924-A0F8-79D8A2AF01A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232C114-A1DA-4093-8438-F94FC1E9A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4DA03DD1-DB8F-47C1-A9CA-5BA6ED8958C6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FF9DCA-0005-48CB-8FEF-2CADC27D657B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C44FED8-B5D6-46A9-9A37-21B332BE99E9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F7F12A9-355B-4B16-8C25-A97DE6191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FD1FF34C-1B61-497B-8901-72F9E6A41247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B274D41-4AC7-4D1F-A6AB-96B654AB1E28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1ED508-33CB-45FF-A47A-D253E443080B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6C973A9-1DE7-484B-9004-375B6D9875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AD3BF614-326D-4187-9B6B-71152478CFF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15E48D9-E234-496F-8831-58D6E3B5FA5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325BE81-A1DE-48F9-A8C9-67F07E239AD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AA77FCB1-4AB5-4AA4-97B1-23C2A2302B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BBDAF20C-461D-4119-85D0-9EA0075A4408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0.393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86F97A-E34A-4E59-A415-69564C13FE9F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BB6A267-B958-4167-9636-4C9E5E6CE411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9064DB0-715F-470A-90C3-61103BCCF6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50985600-847F-4919-8A19-4E8E49B87D23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0.631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0082819-79C1-4EA2-BDBB-83B38D7EFDA9}"/>
              </a:ext>
            </a:extLst>
          </p:cNvPr>
          <p:cNvSpPr>
            <a:spLocks noGrp="1"/>
          </p:cNvSpPr>
          <p:nvPr/>
        </p:nvSpPr>
        <p:spPr>
          <a:xfrm>
            <a:off x="7476387" y="3369670"/>
            <a:ext cx="516223" cy="554494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AB5C86E-7E9A-44D8-86B3-FF788E5A2DDB}"/>
              </a:ext>
            </a:extLst>
          </p:cNvPr>
          <p:cNvSpPr>
            <a:spLocks noGrp="1"/>
          </p:cNvSpPr>
          <p:nvPr/>
        </p:nvSpPr>
        <p:spPr>
          <a:xfrm>
            <a:off x="7209687" y="349928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746B99-D813-4DA4-8F96-41EC43B7B581}"/>
              </a:ext>
            </a:extLst>
          </p:cNvPr>
          <p:cNvSpPr>
            <a:spLocks noGrp="1"/>
          </p:cNvSpPr>
          <p:nvPr/>
        </p:nvSpPr>
        <p:spPr>
          <a:xfrm>
            <a:off x="7603426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3CA3A6-29D0-4C64-AFA9-862D61BAD591}"/>
              </a:ext>
            </a:extLst>
          </p:cNvPr>
          <p:cNvSpPr>
            <a:spLocks noGrp="1"/>
          </p:cNvSpPr>
          <p:nvPr/>
        </p:nvSpPr>
        <p:spPr>
          <a:xfrm>
            <a:off x="7603426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4CE1E34-CE3D-4867-9F93-085D5E9A2C02}"/>
              </a:ext>
            </a:extLst>
          </p:cNvPr>
          <p:cNvSpPr>
            <a:spLocks noGrp="1"/>
          </p:cNvSpPr>
          <p:nvPr/>
        </p:nvSpPr>
        <p:spPr>
          <a:xfrm>
            <a:off x="12604051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0537797-405D-4ED7-96E2-A954DD234DE7}"/>
              </a:ext>
            </a:extLst>
          </p:cNvPr>
          <p:cNvSpPr>
            <a:spLocks noGrp="1"/>
          </p:cNvSpPr>
          <p:nvPr/>
        </p:nvSpPr>
        <p:spPr>
          <a:xfrm>
            <a:off x="12604051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1074907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A5F4F8D-062A-4B0F-8059-7FD264D41A8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9UJF · GTP (D:201)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84DCAE-9797-4D76-9DC9-7CABCDB754C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4E6777-EF92-4151-B230-000EA9BD9AB6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C4D315-98A7-495C-A66F-AB4EF2673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2AACDF3-E1CE-4ECE-BE99-F8AAD7988664}"/>
              </a:ext>
            </a:extLst>
          </p:cNvPr>
          <p:cNvSpPr>
            <a:spLocks noGrp="1"/>
          </p:cNvSpPr>
          <p:nvPr/>
        </p:nvSpPr>
        <p:spPr>
          <a:xfrm>
            <a:off x="345231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248F03-8F1F-447A-8B00-537CEF2C8EBC}"/>
              </a:ext>
            </a:extLst>
          </p:cNvPr>
          <p:cNvSpPr>
            <a:spLocks noGrp="1"/>
          </p:cNvSpPr>
          <p:nvPr/>
        </p:nvSpPr>
        <p:spPr>
          <a:xfrm>
            <a:off x="340468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4E24AE-0146-4372-ABBD-7842C493EB7C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CBE0EE-865D-49B5-8699-89DC3F6C269A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FD980DA-E3B6-4D7A-AA88-4DE9D53CAA4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3C3898C-C7B2-4100-AF4E-9426B55673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8FEA5334-497A-48D3-AFF5-B4073206E1EC}"/>
              </a:ext>
            </a:extLst>
          </p:cNvPr>
          <p:cNvSpPr>
            <a:spLocks noGrp="1"/>
          </p:cNvSpPr>
          <p:nvPr/>
        </p:nvSpPr>
        <p:spPr>
          <a:xfrm>
            <a:off x="8452935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1454BD1-4BB7-486E-B319-EA99F97A9FBF}"/>
              </a:ext>
            </a:extLst>
          </p:cNvPr>
          <p:cNvSpPr>
            <a:spLocks noGrp="1"/>
          </p:cNvSpPr>
          <p:nvPr/>
        </p:nvSpPr>
        <p:spPr>
          <a:xfrm>
            <a:off x="8405310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9BC457-B1FA-4BAB-9AC4-8D71FB83D4F8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10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54DA1C-EC27-45BB-AC10-CA9254C1BDC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F257BDC-3037-4CCC-BEEA-D3C0F251641B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CA152611-72DB-4AAC-AB91-469BF1AC8A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42DE825-7D00-4121-A03F-EEDBD3022D89}"/>
              </a:ext>
            </a:extLst>
          </p:cNvPr>
          <p:cNvSpPr>
            <a:spLocks noGrp="1"/>
          </p:cNvSpPr>
          <p:nvPr/>
        </p:nvSpPr>
        <p:spPr>
          <a:xfrm>
            <a:off x="1345356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41919B8-C044-4323-B6FB-463F549B2426}"/>
              </a:ext>
            </a:extLst>
          </p:cNvPr>
          <p:cNvSpPr>
            <a:spLocks noGrp="1"/>
          </p:cNvSpPr>
          <p:nvPr/>
        </p:nvSpPr>
        <p:spPr>
          <a:xfrm>
            <a:off x="1340593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B169F0-741C-4B9E-A157-A06B513B6EA2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5A169B3-4832-47A9-B36B-7AEECC120A7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1AEE408-391C-4EF0-A69D-990CC7789DAD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BDB9AFD-3C32-482B-B323-60F9AC9E5F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2F17CDC-8A52-4D7E-87D3-3A1925A04E0B}"/>
              </a:ext>
            </a:extLst>
          </p:cNvPr>
          <p:cNvSpPr>
            <a:spLocks noGrp="1"/>
          </p:cNvSpPr>
          <p:nvPr/>
        </p:nvSpPr>
        <p:spPr>
          <a:xfrm>
            <a:off x="4251267" y="9534525"/>
            <a:ext cx="654108" cy="95"/>
          </a:xfrm>
          <a:custGeom>
            <a:avLst/>
            <a:gdLst/>
            <a:ahLst/>
            <a:cxnLst/>
            <a:rect l="0" t="0" r="0" b="0"/>
            <a:pathLst>
              <a:path w="654108" h="95">
                <a:moveTo>
                  <a:pt x="0" y="0"/>
                </a:moveTo>
                <a:lnTo>
                  <a:pt x="65410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15774E7-18F3-4B23-BFC6-7AFA23B2B620}"/>
              </a:ext>
            </a:extLst>
          </p:cNvPr>
          <p:cNvSpPr>
            <a:spLocks noGrp="1"/>
          </p:cNvSpPr>
          <p:nvPr/>
        </p:nvSpPr>
        <p:spPr>
          <a:xfrm>
            <a:off x="4203642" y="9229725"/>
            <a:ext cx="98748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31D42FF-7C5C-49F5-81BC-2F2F6C42B03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601A1B9-42AE-41BE-B322-6C7DA45B735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D67407E-C083-4B0B-8CB4-C81FE1A08A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1CB139D5-BE5E-4B8F-A74A-8B6B605EA0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42F6A662-1043-43C1-8074-E91A59BF4193}"/>
              </a:ext>
            </a:extLst>
          </p:cNvPr>
          <p:cNvSpPr>
            <a:spLocks noGrp="1"/>
          </p:cNvSpPr>
          <p:nvPr/>
        </p:nvSpPr>
        <p:spPr>
          <a:xfrm>
            <a:off x="9233671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59CE36-20A3-4AC5-8C62-5FAE66588721}"/>
              </a:ext>
            </a:extLst>
          </p:cNvPr>
          <p:cNvSpPr>
            <a:spLocks noGrp="1"/>
          </p:cNvSpPr>
          <p:nvPr/>
        </p:nvSpPr>
        <p:spPr>
          <a:xfrm>
            <a:off x="9186046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C5145F0-B8AA-40D3-9C4A-EBC797E23AFB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0.560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DEA79E5-456C-414B-BAA7-1B3AF2B90E2E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FC8A7C8-FF28-4A42-8119-A85FB48AA2FF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C13B3E63-FDB7-41C3-8001-066972B4BB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3A114CAD-243A-42AF-AB7B-E23993FA7DFC}"/>
              </a:ext>
            </a:extLst>
          </p:cNvPr>
          <p:cNvSpPr>
            <a:spLocks noGrp="1"/>
          </p:cNvSpPr>
          <p:nvPr/>
        </p:nvSpPr>
        <p:spPr>
          <a:xfrm>
            <a:off x="14234296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F368EEB-6539-4BE1-B108-93AFAEE1FC5A}"/>
              </a:ext>
            </a:extLst>
          </p:cNvPr>
          <p:cNvSpPr>
            <a:spLocks noGrp="1"/>
          </p:cNvSpPr>
          <p:nvPr/>
        </p:nvSpPr>
        <p:spPr>
          <a:xfrm>
            <a:off x="14186671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3219AED-4A74-4424-8D26-45CE72FAD7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0.864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B667A2C-2F82-4037-ACEF-8BFCDA5F3454}"/>
              </a:ext>
            </a:extLst>
          </p:cNvPr>
          <p:cNvSpPr>
            <a:spLocks noGrp="1"/>
          </p:cNvSpPr>
          <p:nvPr/>
        </p:nvSpPr>
        <p:spPr>
          <a:xfrm>
            <a:off x="6656842" y="2493412"/>
            <a:ext cx="498317" cy="4421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842CFF5-8B70-4EB3-9569-3CFC6DB0470A}"/>
              </a:ext>
            </a:extLst>
          </p:cNvPr>
          <p:cNvSpPr>
            <a:spLocks noGrp="1"/>
          </p:cNvSpPr>
          <p:nvPr/>
        </p:nvSpPr>
        <p:spPr>
          <a:xfrm>
            <a:off x="6390142" y="256682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A48C0CB-0076-4306-A531-95B127619C0E}"/>
              </a:ext>
            </a:extLst>
          </p:cNvPr>
          <p:cNvSpPr>
            <a:spLocks noGrp="1"/>
          </p:cNvSpPr>
          <p:nvPr/>
        </p:nvSpPr>
        <p:spPr>
          <a:xfrm>
            <a:off x="8075062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6A7A870-7F54-430F-AC1F-E8F5A127327A}"/>
              </a:ext>
            </a:extLst>
          </p:cNvPr>
          <p:cNvSpPr>
            <a:spLocks noGrp="1"/>
          </p:cNvSpPr>
          <p:nvPr/>
        </p:nvSpPr>
        <p:spPr>
          <a:xfrm>
            <a:off x="8075062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222F974-1202-42FF-B1B4-3F4ABDEB2E64}"/>
              </a:ext>
            </a:extLst>
          </p:cNvPr>
          <p:cNvSpPr>
            <a:spLocks noGrp="1"/>
          </p:cNvSpPr>
          <p:nvPr/>
        </p:nvSpPr>
        <p:spPr>
          <a:xfrm>
            <a:off x="13075687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672C826-764F-417F-B1B8-3D11F4281EC9}"/>
              </a:ext>
            </a:extLst>
          </p:cNvPr>
          <p:cNvSpPr>
            <a:spLocks noGrp="1"/>
          </p:cNvSpPr>
          <p:nvPr/>
        </p:nvSpPr>
        <p:spPr>
          <a:xfrm>
            <a:off x="13075687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674751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3CD5FFA-07BB-474C-8BB7-8E4AD31FC2C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9WFU · ATP (A:1401)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96470B-981E-4FF7-BFD7-C305F8ED7214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48922D-9DCC-4660-A869-CFBB97206CA5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60C88A-1D58-4808-A976-CFC0695AF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80858462-2376-454F-9D0C-62AC43A1C9AA}"/>
              </a:ext>
            </a:extLst>
          </p:cNvPr>
          <p:cNvSpPr>
            <a:spLocks noGrp="1"/>
          </p:cNvSpPr>
          <p:nvPr/>
        </p:nvSpPr>
        <p:spPr>
          <a:xfrm>
            <a:off x="339896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B0F7FF-44BA-46C9-9A23-95ABDC59A2C6}"/>
              </a:ext>
            </a:extLst>
          </p:cNvPr>
          <p:cNvSpPr>
            <a:spLocks noGrp="1"/>
          </p:cNvSpPr>
          <p:nvPr/>
        </p:nvSpPr>
        <p:spPr>
          <a:xfrm>
            <a:off x="335133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EDFF1F-AAD8-4106-9931-47149BD3B56A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FAACF8-4927-486F-9595-51F67F01C0B8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DB5193-7284-493D-BF2B-A66C26839BF7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7942F9A-5D68-4226-A3FA-2B0A0D0AF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92F476DE-5C4F-482F-B701-3C7E26FB3EE2}"/>
              </a:ext>
            </a:extLst>
          </p:cNvPr>
          <p:cNvSpPr>
            <a:spLocks noGrp="1"/>
          </p:cNvSpPr>
          <p:nvPr/>
        </p:nvSpPr>
        <p:spPr>
          <a:xfrm>
            <a:off x="8399588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856CCE-E867-4D49-99A2-BD141B96A01B}"/>
              </a:ext>
            </a:extLst>
          </p:cNvPr>
          <p:cNvSpPr>
            <a:spLocks noGrp="1"/>
          </p:cNvSpPr>
          <p:nvPr/>
        </p:nvSpPr>
        <p:spPr>
          <a:xfrm>
            <a:off x="8351963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65CB03-B51A-46CD-94C5-697CB53BCE8D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8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7EC222-BF57-451A-BA0D-A0422A32991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3D6F1E-12E6-465A-A233-B797A24B2512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8E8C1A5-3265-445D-8177-49272C78E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5B60FA1-330F-4ED2-8489-EBED06A20F65}"/>
              </a:ext>
            </a:extLst>
          </p:cNvPr>
          <p:cNvSpPr>
            <a:spLocks noGrp="1"/>
          </p:cNvSpPr>
          <p:nvPr/>
        </p:nvSpPr>
        <p:spPr>
          <a:xfrm>
            <a:off x="1340021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4356E3-3B74-471C-8752-BFEF41EF3F0F}"/>
              </a:ext>
            </a:extLst>
          </p:cNvPr>
          <p:cNvSpPr>
            <a:spLocks noGrp="1"/>
          </p:cNvSpPr>
          <p:nvPr/>
        </p:nvSpPr>
        <p:spPr>
          <a:xfrm>
            <a:off x="1335258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AAB7AF6-5CF6-4AFB-9737-1A838E4880A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89AFC99-A763-4962-A379-C60AAB92BEBA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62D009-5385-4AD7-B29D-C9DB21457EF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0CFAB44-0405-4A77-BF69-64FCAE9E91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0C1F289-2B9A-4AA0-8411-E946FEA2B884}"/>
              </a:ext>
            </a:extLst>
          </p:cNvPr>
          <p:cNvSpPr>
            <a:spLocks noGrp="1"/>
          </p:cNvSpPr>
          <p:nvPr/>
        </p:nvSpPr>
        <p:spPr>
          <a:xfrm>
            <a:off x="4318380" y="9534525"/>
            <a:ext cx="586995" cy="95"/>
          </a:xfrm>
          <a:custGeom>
            <a:avLst/>
            <a:gdLst/>
            <a:ahLst/>
            <a:cxnLst/>
            <a:rect l="0" t="0" r="0" b="0"/>
            <a:pathLst>
              <a:path w="586995" h="95">
                <a:moveTo>
                  <a:pt x="0" y="0"/>
                </a:moveTo>
                <a:lnTo>
                  <a:pt x="58699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D367DE-5DB5-4545-9CAC-2B13306F0B22}"/>
              </a:ext>
            </a:extLst>
          </p:cNvPr>
          <p:cNvSpPr>
            <a:spLocks noGrp="1"/>
          </p:cNvSpPr>
          <p:nvPr/>
        </p:nvSpPr>
        <p:spPr>
          <a:xfrm>
            <a:off x="4270755" y="9229725"/>
            <a:ext cx="92037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EF8F20-FC49-47DA-BAC6-318A3E101203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F3BB37-7BDB-445A-AED2-C1C432478A2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69EE9AC-C32B-4C0C-B9FF-184726EB93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E33C0806-A0F5-4535-9E3D-0867489D03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7A680C91-13F3-437A-B1A0-5197CC9C7B33}"/>
              </a:ext>
            </a:extLst>
          </p:cNvPr>
          <p:cNvSpPr>
            <a:spLocks noGrp="1"/>
          </p:cNvSpPr>
          <p:nvPr/>
        </p:nvSpPr>
        <p:spPr>
          <a:xfrm>
            <a:off x="9108023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E473EE8-6B7F-453F-8DB2-2DA74AF86BE0}"/>
              </a:ext>
            </a:extLst>
          </p:cNvPr>
          <p:cNvSpPr>
            <a:spLocks noGrp="1"/>
          </p:cNvSpPr>
          <p:nvPr/>
        </p:nvSpPr>
        <p:spPr>
          <a:xfrm>
            <a:off x="9060398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7ED8CAC-B4C8-4CA3-91DF-9F8FAF4CC09C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0.655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577BF95-342D-4B0E-A8A8-B3D77B15870C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851F4F1-D9B2-4F87-BC27-372EBFED9765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86D21134-854F-49DD-A5D8-7918DF0930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CA05B82-9E80-409C-AF59-B728CEDCFD93}"/>
              </a:ext>
            </a:extLst>
          </p:cNvPr>
          <p:cNvSpPr>
            <a:spLocks noGrp="1"/>
          </p:cNvSpPr>
          <p:nvPr/>
        </p:nvSpPr>
        <p:spPr>
          <a:xfrm>
            <a:off x="14108648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DBD61EE-7DF5-43A1-BED1-40E6222C729B}"/>
              </a:ext>
            </a:extLst>
          </p:cNvPr>
          <p:cNvSpPr>
            <a:spLocks noGrp="1"/>
          </p:cNvSpPr>
          <p:nvPr/>
        </p:nvSpPr>
        <p:spPr>
          <a:xfrm>
            <a:off x="14061023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5611CE9-53D7-4C1D-8056-E928698128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0.743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288AAF5-61F0-48BC-9132-5FB4DF75B592}"/>
              </a:ext>
            </a:extLst>
          </p:cNvPr>
          <p:cNvSpPr>
            <a:spLocks noGrp="1"/>
          </p:cNvSpPr>
          <p:nvPr/>
        </p:nvSpPr>
        <p:spPr>
          <a:xfrm>
            <a:off x="7107134" y="3085990"/>
            <a:ext cx="562431" cy="5940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0F92996-D047-4BC0-B1A2-68CC3DBB1530}"/>
              </a:ext>
            </a:extLst>
          </p:cNvPr>
          <p:cNvSpPr>
            <a:spLocks noGrp="1"/>
          </p:cNvSpPr>
          <p:nvPr/>
        </p:nvSpPr>
        <p:spPr>
          <a:xfrm>
            <a:off x="6840434" y="323535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0579C5D-6E9F-44FF-9484-39723C8319F5}"/>
              </a:ext>
            </a:extLst>
          </p:cNvPr>
          <p:cNvSpPr>
            <a:spLocks noGrp="1"/>
          </p:cNvSpPr>
          <p:nvPr/>
        </p:nvSpPr>
        <p:spPr>
          <a:xfrm>
            <a:off x="6315515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F59122F-5CCE-46EE-A309-F709D555E11B}"/>
              </a:ext>
            </a:extLst>
          </p:cNvPr>
          <p:cNvSpPr>
            <a:spLocks noGrp="1"/>
          </p:cNvSpPr>
          <p:nvPr/>
        </p:nvSpPr>
        <p:spPr>
          <a:xfrm>
            <a:off x="6315515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E507858-7B30-4819-B6A9-7F0C9B49E3BA}"/>
              </a:ext>
            </a:extLst>
          </p:cNvPr>
          <p:cNvSpPr>
            <a:spLocks noGrp="1"/>
          </p:cNvSpPr>
          <p:nvPr/>
        </p:nvSpPr>
        <p:spPr>
          <a:xfrm>
            <a:off x="11316140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5167F0C-A437-4024-B836-8493BA6D2D32}"/>
              </a:ext>
            </a:extLst>
          </p:cNvPr>
          <p:cNvSpPr>
            <a:spLocks noGrp="1"/>
          </p:cNvSpPr>
          <p:nvPr/>
        </p:nvSpPr>
        <p:spPr>
          <a:xfrm>
            <a:off x="11316140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2704937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C89E9FF2-084F-4205-BD22-D618F38CF91D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9X0X · PTY (T:801)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2BA6CF-F536-4D82-96C2-A2BC40438901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DFE8B5-CFA0-4C07-9A0F-8B66DF272348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B98F68F-04B1-44A6-9586-7677A14A7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A578AF0-81A5-4B70-8549-5E76F2A2897B}"/>
              </a:ext>
            </a:extLst>
          </p:cNvPr>
          <p:cNvSpPr>
            <a:spLocks noGrp="1"/>
          </p:cNvSpPr>
          <p:nvPr/>
        </p:nvSpPr>
        <p:spPr>
          <a:xfrm>
            <a:off x="403837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BC25DF-9F2D-44F3-B17A-70508BEB9227}"/>
              </a:ext>
            </a:extLst>
          </p:cNvPr>
          <p:cNvSpPr>
            <a:spLocks noGrp="1"/>
          </p:cNvSpPr>
          <p:nvPr/>
        </p:nvSpPr>
        <p:spPr>
          <a:xfrm>
            <a:off x="399074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172F44-B8E3-4961-8F3F-55E2DA36CEC3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3F08C-3E38-4DD7-8D2A-34BB81BC2BA3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DC4719C-F689-438C-9E13-6E044F89EC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AA6AAFA-7A6A-467D-ADC4-1CF76CB2F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7FC72173-4897-4A38-8541-5A7A925DFB23}"/>
              </a:ext>
            </a:extLst>
          </p:cNvPr>
          <p:cNvSpPr>
            <a:spLocks noGrp="1"/>
          </p:cNvSpPr>
          <p:nvPr/>
        </p:nvSpPr>
        <p:spPr>
          <a:xfrm>
            <a:off x="9038999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E162C0-AD5C-4240-897C-828677FC67A9}"/>
              </a:ext>
            </a:extLst>
          </p:cNvPr>
          <p:cNvSpPr>
            <a:spLocks noGrp="1"/>
          </p:cNvSpPr>
          <p:nvPr/>
        </p:nvSpPr>
        <p:spPr>
          <a:xfrm>
            <a:off x="8991374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A276D9-D745-41CD-9917-34B6BDC1C5A9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12 · FP 65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D7CE1F-BE1A-465D-80AB-6866E6493D61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7EF973-51B3-4993-8AEB-4DA5E3086EAA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688571F-35D8-4C12-9FEF-6DB1756EB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FE8D59EF-C299-4B23-BFB2-80302B3B5CE5}"/>
              </a:ext>
            </a:extLst>
          </p:cNvPr>
          <p:cNvSpPr>
            <a:spLocks noGrp="1"/>
          </p:cNvSpPr>
          <p:nvPr/>
        </p:nvSpPr>
        <p:spPr>
          <a:xfrm>
            <a:off x="1403962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F5BA21-8208-4FAD-8176-41CC834A8DB2}"/>
              </a:ext>
            </a:extLst>
          </p:cNvPr>
          <p:cNvSpPr>
            <a:spLocks noGrp="1"/>
          </p:cNvSpPr>
          <p:nvPr/>
        </p:nvSpPr>
        <p:spPr>
          <a:xfrm>
            <a:off x="1399199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D956C2A-AFC7-4986-AC44-A2BCC91FD43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14 · FP 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D10A99E-CD56-42D9-8CD6-8C0DD9B5788C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6D39F0-FE4C-41D3-B6C8-5AB4181CED4A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5E8CC97-589A-42F5-98EE-7321F7F5EB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84029989-1685-4021-BB95-E6CA2E4EF347}"/>
              </a:ext>
            </a:extLst>
          </p:cNvPr>
          <p:cNvSpPr>
            <a:spLocks noGrp="1"/>
          </p:cNvSpPr>
          <p:nvPr/>
        </p:nvSpPr>
        <p:spPr>
          <a:xfrm>
            <a:off x="4316591" y="9534525"/>
            <a:ext cx="588784" cy="95"/>
          </a:xfrm>
          <a:custGeom>
            <a:avLst/>
            <a:gdLst/>
            <a:ahLst/>
            <a:cxnLst/>
            <a:rect l="0" t="0" r="0" b="0"/>
            <a:pathLst>
              <a:path w="588784" h="95">
                <a:moveTo>
                  <a:pt x="0" y="0"/>
                </a:moveTo>
                <a:lnTo>
                  <a:pt x="588784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D8E1DA-A043-41AC-9838-DAC4A5CC1683}"/>
              </a:ext>
            </a:extLst>
          </p:cNvPr>
          <p:cNvSpPr>
            <a:spLocks noGrp="1"/>
          </p:cNvSpPr>
          <p:nvPr/>
        </p:nvSpPr>
        <p:spPr>
          <a:xfrm>
            <a:off x="4268966" y="9229725"/>
            <a:ext cx="922159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AD8372-7ED8-42C9-83BF-CE3D45A61265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A0FC22-FD51-43FF-8CDD-EA9AE7DFEB4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FC083E-E95D-4ABE-B598-036F6D8207D6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F8F94A3E-53F8-45EB-9772-089031ADF9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B29091C-5309-41F4-A71C-A2D441108776}"/>
              </a:ext>
            </a:extLst>
          </p:cNvPr>
          <p:cNvSpPr>
            <a:spLocks noGrp="1"/>
          </p:cNvSpPr>
          <p:nvPr/>
        </p:nvSpPr>
        <p:spPr>
          <a:xfrm>
            <a:off x="9451042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36B9D-E4EA-4698-B7A2-1273B5B7AB86}"/>
              </a:ext>
            </a:extLst>
          </p:cNvPr>
          <p:cNvSpPr>
            <a:spLocks noGrp="1"/>
          </p:cNvSpPr>
          <p:nvPr/>
        </p:nvSpPr>
        <p:spPr>
          <a:xfrm>
            <a:off x="9403417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2048C82-AFAD-41E3-9169-9B89F5A5AA9A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0.405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1F7989-25E5-47D1-8A47-68647D8AE96B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91B278-841F-4681-8131-4B134EF7BCCA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18350010-D8B1-4538-8995-A1C6FD6DE1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4561788-B646-4D7C-B56F-95C32EBDA8F2}"/>
              </a:ext>
            </a:extLst>
          </p:cNvPr>
          <p:cNvSpPr>
            <a:spLocks noGrp="1"/>
          </p:cNvSpPr>
          <p:nvPr/>
        </p:nvSpPr>
        <p:spPr>
          <a:xfrm>
            <a:off x="14451667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8DB83C3-FCAD-42F3-A3FF-8ECD65B93AED}"/>
              </a:ext>
            </a:extLst>
          </p:cNvPr>
          <p:cNvSpPr>
            <a:spLocks noGrp="1"/>
          </p:cNvSpPr>
          <p:nvPr/>
        </p:nvSpPr>
        <p:spPr>
          <a:xfrm>
            <a:off x="14404042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F8F14EE-971A-4598-A54E-F342DB988CB8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0.830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1606DDD-DD02-49D7-84F9-2A7CAF2C738C}"/>
              </a:ext>
            </a:extLst>
          </p:cNvPr>
          <p:cNvSpPr>
            <a:spLocks noGrp="1"/>
          </p:cNvSpPr>
          <p:nvPr/>
        </p:nvSpPr>
        <p:spPr>
          <a:xfrm>
            <a:off x="7926642" y="3791732"/>
            <a:ext cx="379091" cy="35511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31BD5C7-AAB6-493C-96F5-89CC69692EE2}"/>
              </a:ext>
            </a:extLst>
          </p:cNvPr>
          <p:cNvSpPr>
            <a:spLocks noGrp="1"/>
          </p:cNvSpPr>
          <p:nvPr/>
        </p:nvSpPr>
        <p:spPr>
          <a:xfrm>
            <a:off x="7659942" y="382165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F32E40-28BE-4D91-80B4-0956059EAEFE}"/>
              </a:ext>
            </a:extLst>
          </p:cNvPr>
          <p:cNvSpPr>
            <a:spLocks noGrp="1"/>
          </p:cNvSpPr>
          <p:nvPr/>
        </p:nvSpPr>
        <p:spPr>
          <a:xfrm>
            <a:off x="8072795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313037-FBA7-4A8D-B561-211958C017DB}"/>
              </a:ext>
            </a:extLst>
          </p:cNvPr>
          <p:cNvSpPr>
            <a:spLocks noGrp="1"/>
          </p:cNvSpPr>
          <p:nvPr/>
        </p:nvSpPr>
        <p:spPr>
          <a:xfrm>
            <a:off x="8072795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A205DA4-9422-4CD3-BA02-8C6E9E2A94BF}"/>
              </a:ext>
            </a:extLst>
          </p:cNvPr>
          <p:cNvSpPr>
            <a:spLocks noGrp="1"/>
          </p:cNvSpPr>
          <p:nvPr/>
        </p:nvSpPr>
        <p:spPr>
          <a:xfrm>
            <a:off x="13073420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3BD688A-0FFA-4809-AA80-5F9FB2A0C2FA}"/>
              </a:ext>
            </a:extLst>
          </p:cNvPr>
          <p:cNvSpPr>
            <a:spLocks noGrp="1"/>
          </p:cNvSpPr>
          <p:nvPr/>
        </p:nvSpPr>
        <p:spPr>
          <a:xfrm>
            <a:off x="13073420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3886324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4711</Words>
  <Application>Microsoft Office PowerPoint</Application>
  <DocSecurity>0</DocSecurity>
  <PresentationFormat>自定义</PresentationFormat>
  <Paragraphs>218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27</cp:revision>
  <dcterms:created xsi:type="dcterms:W3CDTF">2026-09-30T07:02:47Z</dcterms:created>
  <dcterms:modified xsi:type="dcterms:W3CDTF">2026-10-29T14:44:13Z</dcterms:modified>
</cp:coreProperties>
</file>