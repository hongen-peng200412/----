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CD59618.xml" ContentType="application/vnd.ms-powerpoint.comments+xml"/>
  <Override PartName="/ppt/notesSlides/notesSlide2.xml" ContentType="application/vnd.openxmlformats-officedocument.presentationml.notesSlide+xml"/>
  <Override PartName="/ppt/comments/modernComment_101_3C193DAF.xml" ContentType="application/vnd.ms-powerpoint.comments+xml"/>
  <Override PartName="/ppt/notesSlides/notesSlide3.xml" ContentType="application/vnd.openxmlformats-officedocument.presentationml.notesSlide+xml"/>
  <Override PartName="/ppt/comments/modernComment_102_1FF3B62.xml" ContentType="application/vnd.ms-powerpoint.comments+xml"/>
  <Override PartName="/ppt/notesSlides/notesSlide4.xml" ContentType="application/vnd.openxmlformats-officedocument.presentationml.notesSlide+xml"/>
  <Override PartName="/ppt/comments/modernComment_103_60806ABA.xml" ContentType="application/vnd.ms-powerpoint.comments+xml"/>
  <Override PartName="/ppt/notesSlides/notesSlide5.xml" ContentType="application/vnd.openxmlformats-officedocument.presentationml.notesSlide+xml"/>
  <Override PartName="/ppt/comments/modernComment_104_E4BE9DE.xml" ContentType="application/vnd.ms-powerpoint.comments+xml"/>
  <Override PartName="/ppt/notesSlides/notesSlide6.xml" ContentType="application/vnd.openxmlformats-officedocument.presentationml.notesSlide+xml"/>
  <Override PartName="/ppt/comments/modernComment_105_32B353B8.xml" ContentType="application/vnd.ms-powerpoint.comments+xml"/>
  <Override PartName="/ppt/notesSlides/notesSlide7.xml" ContentType="application/vnd.openxmlformats-officedocument.presentationml.notesSlide+xml"/>
  <Override PartName="/ppt/comments/modernComment_106_4D23C4E3.xml" ContentType="application/vnd.ms-powerpoint.comments+xml"/>
  <Override PartName="/ppt/notesSlides/notesSlide8.xml" ContentType="application/vnd.openxmlformats-officedocument.presentationml.notesSlide+xml"/>
  <Override PartName="/ppt/comments/modernComment_107_5D17F744.xml" ContentType="application/vnd.ms-powerpoint.comments+xml"/>
  <Override PartName="/ppt/notesSlides/notesSlide9.xml" ContentType="application/vnd.openxmlformats-officedocument.presentationml.notesSlide+xml"/>
  <Override PartName="/ppt/comments/modernComment_108_55DCD08B.xml" ContentType="application/vnd.ms-powerpoint.comments+xml"/>
  <Override PartName="/ppt/notesSlides/notesSlide10.xml" ContentType="application/vnd.openxmlformats-officedocument.presentationml.notesSlide+xml"/>
  <Override PartName="/ppt/comments/modernComment_109_6AE8E2C3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5240000" cy="12001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F71A66-0C34-DF1A-5236-FECDBC820DCB}" name="Hongen Peng" initials="HP" userId="965de47efeb7ff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modernComment_100_CD5961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2A8F164-538E-4CE3-A37C-B70E8B0107B6}" authorId="{D3F71A66-0C34-DF1A-5236-FECDBC820DCB}" created="2026-10-03T11:27:15.344">
    <pc:sldMkLst xmlns:pc="http://schemas.microsoft.com/office/powerpoint/2013/main/command">
      <pc:docMk/>
      <pc:sldMk cId="215324184" sldId="256"/>
    </pc:sldMkLst>
    <p188:pos x="0" y="0"/>
    <p188:txBody>
      <a:bodyPr/>
      <a:lstStyle/>
      <a:p>
        <a:r>
          <a:rPr lang="zh-CN" altLang="en-US"/>
          <a:t>@@e2e-cases-main</a:t>
        </a:r>
      </a:p>
    </p188:txBody>
  </p188:cm>
  <p188:cm id="{F4AF3DB8-BE3F-4AD5-B96D-5408C0D2E807}" authorId="{D3F71A66-0C34-DF1A-5236-FECDBC820DCB}" created="2026-10-03T11:27:15.345">
    <pc:sldMkLst xmlns:pc="http://schemas.microsoft.com/office/powerpoint/2013/main/command">
      <pc:docMk/>
      <pc:sldMk cId="215324184" sldId="256"/>
    </pc:sldMkLst>
    <p188:pos x="0" y="0"/>
    <p188:txBody>
      <a:bodyPr/>
      <a:lstStyle/>
      <a:p>
        <a:r>
          <a:rPr lang="zh-CN" altLang="en-US"/>
          <a:t>Frozen CA2 end-to-end local-c1; native ChimeraX 1.10.1 cxc/cxs; exact input/pose/ranking sources: 画图/画图代码/e2e_cases_20261003/README.md and 画图/formal/E2E_cases_20261003/&lt;pdb&gt;/data.json. Receptor, density, blob and ligand are separate scientific models in CXS; PPT labels and panel positions are native editable objects.</a:t>
        </a:r>
      </a:p>
    </p188:txBody>
  </p188:cm>
</p188:cmLst>
</file>

<file path=ppt/comments/modernComment_101_3C193DA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28CB3D2-5717-46C1-8657-5832DA2EFB44}" authorId="{D3F71A66-0C34-DF1A-5236-FECDBC820DCB}" created="2026-10-03T11:27:15.608">
    <pc:sldMkLst xmlns:pc="http://schemas.microsoft.com/office/powerpoint/2013/main/command">
      <pc:docMk/>
      <pc:sldMk cId="1008287151" sldId="257"/>
    </pc:sldMkLst>
    <p188:pos x="0" y="0"/>
    <p188:txBody>
      <a:bodyPr/>
      <a:lstStyle/>
      <a:p>
        <a:r>
          <a:rPr lang="zh-CN" altLang="en-US"/>
          <a:t>@@e2e-cases-multi-identity</a:t>
        </a:r>
      </a:p>
    </p188:txBody>
  </p188:cm>
  <p188:cm id="{DEECA19A-D923-403A-BC0E-47B3DAAFAD2D}" authorId="{D3F71A66-0C34-DF1A-5236-FECDBC820DCB}" created="2026-10-03T11:27:15.609">
    <pc:sldMkLst xmlns:pc="http://schemas.microsoft.com/office/powerpoint/2013/main/command">
      <pc:docMk/>
      <pc:sldMk cId="1008287151" sldId="257"/>
    </pc:sldMkLst>
    <p188:pos x="0" y="0"/>
    <p188:txBody>
      <a:bodyPr/>
      <a:lstStyle/>
      <a:p>
        <a:r>
          <a:rPr lang="zh-CN" altLang="en-US"/>
          <a:t>Frozen CA2 end-to-end local-c1; native ChimeraX 1.10.1 cxc/cxs; exact input/pose/ranking sources: 画图/画图代码/e2e_cases_20261003/README.md and 画图/formal/E2E_cases_20261003/&lt;pdb&gt;/data.json. Receptor, density, blob and ligand are separate scientific models in CXS; PPT labels and panel positions are native editable objects.</a:t>
        </a:r>
      </a:p>
    </p188:txBody>
  </p188:cm>
</p188:cmLst>
</file>

<file path=ppt/comments/modernComment_102_1FF3B6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3A4096B-7C9E-4F0F-ACB4-53187960539D}" authorId="{D3F71A66-0C34-DF1A-5236-FECDBC820DCB}" created="2026-10-03T11:27:15.851">
    <pc:sldMkLst xmlns:pc="http://schemas.microsoft.com/office/powerpoint/2013/main/command">
      <pc:docMk/>
      <pc:sldMk cId="33504098" sldId="258"/>
    </pc:sldMkLst>
    <p188:pos x="0" y="0"/>
    <p188:txBody>
      <a:bodyPr/>
      <a:lstStyle/>
      <a:p>
        <a:r>
          <a:rPr lang="zh-CN" altLang="en-US"/>
          <a:t>@@e2e-cases-scope</a:t>
        </a:r>
      </a:p>
    </p188:txBody>
  </p188:cm>
  <p188:cm id="{54578490-0006-45B8-8FC2-461A8E147FCD}" authorId="{D3F71A66-0C34-DF1A-5236-FECDBC820DCB}" created="2026-10-03T11:27:15.852">
    <pc:sldMkLst xmlns:pc="http://schemas.microsoft.com/office/powerpoint/2013/main/command">
      <pc:docMk/>
      <pc:sldMk cId="33504098" sldId="258"/>
    </pc:sldMkLst>
    <p188:pos x="0" y="0"/>
    <p188:txBody>
      <a:bodyPr/>
      <a:lstStyle/>
      <a:p>
        <a:r>
          <a:rPr lang="zh-CN" altLang="en-US"/>
          <a:t>Frozen CA2 end-to-end local-c1; native ChimeraX 1.10.1 cxc/cxs; exact input/pose/ranking sources: 画图/画图代码/e2e_cases_20261003/README.md and 画图/formal/E2E_cases_20261003/&lt;pdb&gt;/data.json. Receptor, density, blob and ligand are separate scientific models in CXS; PPT labels and panel positions are native editable objects.</a:t>
        </a:r>
      </a:p>
    </p188:txBody>
  </p188:cm>
</p188:cmLst>
</file>

<file path=ppt/comments/modernComment_103_60806A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4A80F5E-F03D-476D-BB1D-84A2A5B4F09E}" authorId="{D3F71A66-0C34-DF1A-5236-FECDBC820DCB}" created="2026-10-03T11:27:16.099">
    <pc:sldMkLst xmlns:pc="http://schemas.microsoft.com/office/powerpoint/2013/main/command">
      <pc:docMk/>
      <pc:sldMk cId="1619028666" sldId="259"/>
    </pc:sldMkLst>
    <p188:pos x="0" y="0"/>
    <p188:txBody>
      <a:bodyPr/>
      <a:lstStyle/>
      <a:p>
        <a:r>
          <a:rPr lang="zh-CN" altLang="en-US"/>
          <a:t>@@e2e-case-9bjj</a:t>
        </a:r>
      </a:p>
    </p188:txBody>
  </p188:cm>
  <p188:cm id="{A5BC4CC3-FA29-4977-957A-D32FEE7BD067}" authorId="{D3F71A66-0C34-DF1A-5236-FECDBC820DCB}" created="2026-10-03T11:27:16.100">
    <pc:sldMkLst xmlns:pc="http://schemas.microsoft.com/office/powerpoint/2013/main/command">
      <pc:docMk/>
      <pc:sldMk cId="1619028666" sldId="259"/>
    </pc:sldMkLst>
    <p188:pos x="0" y="0"/>
    <p188:txBody>
      <a:bodyPr/>
      <a:lstStyle/>
      <a:p>
        <a:r>
          <a:rPr lang="zh-CN" altLang="en-US"/>
          <a:t>Frozen CA2 end-to-end local-c1; native ChimeraX 1.10.1 cxc/cxs; exact input/pose/ranking sources: 画图/画图代码/e2e_cases_20261003/README.md and 画图/formal/E2E_cases_20261003/&lt;pdb&gt;/data.json. Receptor, density, blob and ligand are separate scientific models in CXS; PPT labels and panel positions are native editable objects.</a:t>
        </a:r>
      </a:p>
    </p188:txBody>
  </p188:cm>
</p188:cmLst>
</file>

<file path=ppt/comments/modernComment_104_E4BE9D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5607500-0F03-4C08-8356-10CB936950F8}" authorId="{D3F71A66-0C34-DF1A-5236-FECDBC820DCB}" created="2026-10-03T11:27:16.317">
    <pc:sldMkLst xmlns:pc="http://schemas.microsoft.com/office/powerpoint/2013/main/command">
      <pc:docMk/>
      <pc:sldMk cId="239856094" sldId="260"/>
    </pc:sldMkLst>
    <p188:pos x="0" y="0"/>
    <p188:txBody>
      <a:bodyPr/>
      <a:lstStyle/>
      <a:p>
        <a:r>
          <a:rPr lang="zh-CN" altLang="en-US"/>
          <a:t>@@e2e-case-30ga</a:t>
        </a:r>
      </a:p>
    </p188:txBody>
  </p188:cm>
  <p188:cm id="{BE58C03E-00C9-41D3-800C-2224504AAC35}" authorId="{D3F71A66-0C34-DF1A-5236-FECDBC820DCB}" created="2026-10-03T11:27:16.319">
    <pc:sldMkLst xmlns:pc="http://schemas.microsoft.com/office/powerpoint/2013/main/command">
      <pc:docMk/>
      <pc:sldMk cId="239856094" sldId="260"/>
    </pc:sldMkLst>
    <p188:pos x="0" y="0"/>
    <p188:txBody>
      <a:bodyPr/>
      <a:lstStyle/>
      <a:p>
        <a:r>
          <a:rPr lang="zh-CN" altLang="en-US"/>
          <a:t>Frozen CA2 end-to-end local-c1; native ChimeraX 1.10.1 cxc/cxs; exact input/pose/ranking sources: 画图/画图代码/e2e_cases_20261003/README.md and 画图/formal/E2E_cases_20261003/&lt;pdb&gt;/data.json. Receptor, density, blob and ligand are separate scientific models in CXS; PPT labels and panel positions are native editable objects.</a:t>
        </a:r>
      </a:p>
    </p188:txBody>
  </p188:cm>
</p188:cmLst>
</file>

<file path=ppt/comments/modernComment_105_32B353B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52CADD7-F67D-4B6F-9485-EF6EB04E452B}" authorId="{D3F71A66-0C34-DF1A-5236-FECDBC820DCB}" created="2026-10-03T11:27:16.528">
    <pc:sldMkLst xmlns:pc="http://schemas.microsoft.com/office/powerpoint/2013/main/command">
      <pc:docMk/>
      <pc:sldMk cId="850613176" sldId="261"/>
    </pc:sldMkLst>
    <p188:pos x="0" y="0"/>
    <p188:txBody>
      <a:bodyPr/>
      <a:lstStyle/>
      <a:p>
        <a:r>
          <a:rPr lang="zh-CN" altLang="en-US"/>
          <a:t>@@e2e-case-9llg</a:t>
        </a:r>
      </a:p>
    </p188:txBody>
  </p188:cm>
  <p188:cm id="{FC4D4CF5-C3C7-41C4-BC2A-368AABAB8075}" authorId="{D3F71A66-0C34-DF1A-5236-FECDBC820DCB}" created="2026-10-03T11:27:16.528">
    <pc:sldMkLst xmlns:pc="http://schemas.microsoft.com/office/powerpoint/2013/main/command">
      <pc:docMk/>
      <pc:sldMk cId="850613176" sldId="261"/>
    </pc:sldMkLst>
    <p188:pos x="0" y="0"/>
    <p188:txBody>
      <a:bodyPr/>
      <a:lstStyle/>
      <a:p>
        <a:r>
          <a:rPr lang="zh-CN" altLang="en-US"/>
          <a:t>Frozen CA2 end-to-end local-c1; native ChimeraX 1.10.1 cxc/cxs; exact input/pose/ranking sources: 画图/画图代码/e2e_cases_20261003/README.md and 画图/formal/E2E_cases_20261003/&lt;pdb&gt;/data.json. Receptor, density, blob and ligand are separate scientific models in CXS; PPT labels and panel positions are native editable objects.</a:t>
        </a:r>
      </a:p>
    </p188:txBody>
  </p188:cm>
</p188:cmLst>
</file>

<file path=ppt/comments/modernComment_106_4D23C4E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0B989D2-471B-48C7-9093-B95789799D30}" authorId="{D3F71A66-0C34-DF1A-5236-FECDBC820DCB}" created="2026-10-03T11:27:16.735">
    <pc:sldMkLst xmlns:pc="http://schemas.microsoft.com/office/powerpoint/2013/main/command">
      <pc:docMk/>
      <pc:sldMk cId="1294189795" sldId="262"/>
    </pc:sldMkLst>
    <p188:pos x="0" y="0"/>
    <p188:txBody>
      <a:bodyPr/>
      <a:lstStyle/>
      <a:p>
        <a:r>
          <a:rPr lang="zh-CN" altLang="en-US"/>
          <a:t>@@e2e-case-9rd8</a:t>
        </a:r>
      </a:p>
    </p188:txBody>
  </p188:cm>
  <p188:cm id="{21DD9B64-D96E-47A5-A0F3-F2A11085FF54}" authorId="{D3F71A66-0C34-DF1A-5236-FECDBC820DCB}" created="2026-10-03T11:27:16.736">
    <pc:sldMkLst xmlns:pc="http://schemas.microsoft.com/office/powerpoint/2013/main/command">
      <pc:docMk/>
      <pc:sldMk cId="1294189795" sldId="262"/>
    </pc:sldMkLst>
    <p188:pos x="0" y="0"/>
    <p188:txBody>
      <a:bodyPr/>
      <a:lstStyle/>
      <a:p>
        <a:r>
          <a:rPr lang="zh-CN" altLang="en-US"/>
          <a:t>Frozen CA2 end-to-end local-c1; native ChimeraX 1.10.1 cxc/cxs; exact input/pose/ranking sources: 画图/画图代码/e2e_cases_20261003/README.md and 画图/formal/E2E_cases_20261003/&lt;pdb&gt;/data.json. Receptor, density, blob and ligand are separate scientific models in CXS; PPT labels and panel positions are native editable objects.</a:t>
        </a:r>
      </a:p>
    </p188:txBody>
  </p188:cm>
</p188:cmLst>
</file>

<file path=ppt/comments/modernComment_107_5D17F74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CA3065F-4457-4719-8A86-BD273E5463C0}" authorId="{D3F71A66-0C34-DF1A-5236-FECDBC820DCB}" created="2026-10-03T11:27:16.933">
    <pc:sldMkLst xmlns:pc="http://schemas.microsoft.com/office/powerpoint/2013/main/command">
      <pc:docMk/>
      <pc:sldMk cId="1561851716" sldId="263"/>
    </pc:sldMkLst>
    <p188:pos x="0" y="0"/>
    <p188:txBody>
      <a:bodyPr/>
      <a:lstStyle/>
      <a:p>
        <a:r>
          <a:rPr lang="zh-CN" altLang="en-US"/>
          <a:t>@@e2e-case-9qru</a:t>
        </a:r>
      </a:p>
    </p188:txBody>
  </p188:cm>
  <p188:cm id="{18B562E2-3CE7-4D95-A887-72E0649A116A}" authorId="{D3F71A66-0C34-DF1A-5236-FECDBC820DCB}" created="2026-10-03T11:27:16.934">
    <pc:sldMkLst xmlns:pc="http://schemas.microsoft.com/office/powerpoint/2013/main/command">
      <pc:docMk/>
      <pc:sldMk cId="1561851716" sldId="263"/>
    </pc:sldMkLst>
    <p188:pos x="0" y="0"/>
    <p188:txBody>
      <a:bodyPr/>
      <a:lstStyle/>
      <a:p>
        <a:r>
          <a:rPr lang="zh-CN" altLang="en-US"/>
          <a:t>Frozen CA2 end-to-end local-c1; native ChimeraX 1.10.1 cxc/cxs; exact input/pose/ranking sources: 画图/画图代码/e2e_cases_20261003/README.md and 画图/formal/E2E_cases_20261003/&lt;pdb&gt;/data.json. Receptor, density, blob and ligand are separate scientific models in CXS; PPT labels and panel positions are native editable objects.</a:t>
        </a:r>
      </a:p>
    </p188:txBody>
  </p188:cm>
</p188:cmLst>
</file>

<file path=ppt/comments/modernComment_108_55DCD08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5FA8859-BECB-4817-923A-522214A4111B}" authorId="{D3F71A66-0C34-DF1A-5236-FECDBC820DCB}" created="2026-10-03T11:27:17.132">
    <pc:sldMkLst xmlns:pc="http://schemas.microsoft.com/office/powerpoint/2013/main/command">
      <pc:docMk/>
      <pc:sldMk cId="1440534667" sldId="264"/>
    </pc:sldMkLst>
    <p188:pos x="0" y="0"/>
    <p188:txBody>
      <a:bodyPr/>
      <a:lstStyle/>
      <a:p>
        <a:r>
          <a:rPr lang="zh-CN" altLang="en-US"/>
          <a:t>@@e2e-case-9wup</a:t>
        </a:r>
      </a:p>
    </p188:txBody>
  </p188:cm>
  <p188:cm id="{7F76523B-33DC-4482-B892-467E869A9157}" authorId="{D3F71A66-0C34-DF1A-5236-FECDBC820DCB}" created="2026-10-03T11:27:17.133">
    <pc:sldMkLst xmlns:pc="http://schemas.microsoft.com/office/powerpoint/2013/main/command">
      <pc:docMk/>
      <pc:sldMk cId="1440534667" sldId="264"/>
    </pc:sldMkLst>
    <p188:pos x="0" y="0"/>
    <p188:txBody>
      <a:bodyPr/>
      <a:lstStyle/>
      <a:p>
        <a:r>
          <a:rPr lang="zh-CN" altLang="en-US"/>
          <a:t>Frozen CA2 end-to-end local-c1; native ChimeraX 1.10.1 cxc/cxs; exact input/pose/ranking sources: 画图/画图代码/e2e_cases_20261003/README.md and 画图/formal/E2E_cases_20261003/&lt;pdb&gt;/data.json. Receptor, density, blob and ligand are separate scientific models in CXS; PPT labels and panel positions are native editable objects.</a:t>
        </a:r>
      </a:p>
    </p188:txBody>
  </p188:cm>
</p188:cmLst>
</file>

<file path=ppt/comments/modernComment_109_6AE8E2C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8A2D45E-DA48-409F-A5CA-BE89F7E55496}" authorId="{D3F71A66-0C34-DF1A-5236-FECDBC820DCB}" created="2026-10-03T11:27:17.355">
    <pc:sldMkLst xmlns:pc="http://schemas.microsoft.com/office/powerpoint/2013/main/command">
      <pc:docMk/>
      <pc:sldMk cId="1793647299" sldId="265"/>
    </pc:sldMkLst>
    <p188:pos x="0" y="0"/>
    <p188:txBody>
      <a:bodyPr/>
      <a:lstStyle/>
      <a:p>
        <a:r>
          <a:rPr lang="zh-CN" altLang="en-US"/>
          <a:t>@@e2e-case-9xzl</a:t>
        </a:r>
      </a:p>
    </p188:txBody>
  </p188:cm>
  <p188:cm id="{F387EA7D-C0CD-4290-B3D6-E6128121168B}" authorId="{D3F71A66-0C34-DF1A-5236-FECDBC820DCB}" created="2026-10-03T11:27:17.355">
    <pc:sldMkLst xmlns:pc="http://schemas.microsoft.com/office/powerpoint/2013/main/command">
      <pc:docMk/>
      <pc:sldMk cId="1793647299" sldId="265"/>
    </pc:sldMkLst>
    <p188:pos x="0" y="0"/>
    <p188:txBody>
      <a:bodyPr/>
      <a:lstStyle/>
      <a:p>
        <a:r>
          <a:rPr lang="zh-CN" altLang="en-US"/>
          <a:t>Frozen CA2 end-to-end local-c1; native ChimeraX 1.10.1 cxc/cxs; exact input/pose/ranking sources: 画图/画图代码/e2e_cases_20261003/README.md and 画图/formal/E2E_cases_20261003/&lt;pdb&gt;/data.json. Receptor, density, blob and ligand are separate scientific models in CXS; PPT labels and panel positions are native editable objects.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 12｜CryoAtom2 受体条件下的 Find–Match–Build 重建实例。a–c，9BJJ 的首位候选对应 ATP（B:901），依次完成区域检出、精确 SMILES 身份匹配和构象重建。d–f，30GA 的首位候选为背景，按评测规则消耗一次尝试，未进入 Match 或 Build；第二位候选对应 ATP（N:401），随后完成重建。Find 列显示候选区域，Match 列标出匹配身份，Build 列叠加预测与沉积构象。受体为绿色，实验密度为灰色网格，小分子候选 blob 为橙色，背景 blob 为灰紫色，预测配体为蓝色，沉积配体为青绿色。Build 展示每个位点 50 个姿态中按 self-ranking 排序的首位姿态，两个实例的重原子 RMSD 分别为 0.80 Å 和 1.04 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 13｜多个小分子身份候选下的端到端重建。a–c，9LLG 的首位 blob 对应 A1EKL（R:602），Matcher 在三个合格小分子精确 SMILES 中匹配到正确身份，local_cov-C 首位姿态的 RMSD 为 0.88 Å。d–f，9QRU 首位背景候选消耗一次尝试，第二位 blob 对应 A1JAX（B:2801），在两个合格小分子身份中匹配成功，首位姿态的 RMSD 为 0.63 Å。9QRU 的第二位 blob 是完整候选顺序中的追加候选，原入选标记为 false，仍按既定评价规则进入对接。列顺序、颜色与 Top-1 定义同图 12。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备选图｜Stage3 适用范围门禁与后续小分子重建。9WUP 的前两个前景实例不在冻结 Stage3 合格范围，按既定门禁免费跳过，第三位 FMN（B:1103）成为首个计费位点；9XZL 的首位离子候选也免费跳过，第二位 AGS（F:1001）进入重建。对应 local_cov-C 自评分首位 RMSD 为 0.52 Å 和 0.91 Å。这是带 Stage3 范围门禁的冻结评价轨迹，不表示模型在盲测中自行排除了这些前景。颜色与姿态定义同主图。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9BJJ 端到端案例详图。ATP (B:901)；Site rank 1 · charged attempt 1。Matcher 的精确 SMILES 与冻结目标身份相同，2 个合格小分子身份参与本轮匹配。Build 为第一次 local_cov-C 的实际 self-ranking Top-1（sample_index=21），重原子 RMSD 0.80 Å。底部两图共用朝向与尺度，以沉积区域对照冻结预测 blob。三维视图均由 ChimeraX 原生命令生成，沉积结构仅用于参考显示和最终评价。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30GA 端到端案例详图。ATP (N:401)；Site rank 2 · charged attempt 2。Matcher 的精确 SMILES 与冻结目标身份相同，1 个合格小分子身份参与本轮匹配。Build 为第一次 local_cov-C 的实际 self-ranking Top-1（sample_index=19），重原子 RMSD 1.04 Å。底部两图共用朝向与尺度，以沉积区域对照冻结预测 blob。三维视图均由 ChimeraX 原生命令生成，沉积结构仅用于参考显示和最终评价。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9LLG 端到端案例详图。A1EKL (R:602)；Site rank 1 · charged attempt 1。Matcher 的精确 SMILES 与冻结目标身份相同，3 个合格小分子身份参与本轮匹配。Build 为第一次 local_cov-C 的实际 self-ranking Top-1（sample_index=20），重原子 RMSD 0.88 Å。底部两图共用朝向与尺度，以沉积区域对照冻结预测 blob。三维视图均由 ChimeraX 原生命令生成，沉积结构仅用于参考显示和最终评价。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9RD8 端到端案例详图。BCT (A:902)；Site rank 1 · charged attempt 1。Matcher 的精确 SMILES 与冻结目标身份相同，3 个合格小分子身份参与本轮匹配。Build 为第一次 local_cov-C 的实际 self-ranking Top-1（sample_index=7），重原子 RMSD 0.96 Å。底部两图共用朝向与尺度，以沉积区域对照冻结预测 blob。三维视图均由 ChimeraX 原生命令生成，沉积结构仅用于参考显示和最终评价。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9QRU 端到端案例详图。A1JAX (B:2801)；Site rank 2 · charged attempt 2。Matcher 的精确 SMILES 与冻结目标身份相同，2 个合格小分子身份参与本轮匹配。Build 为第一次 local_cov-C 的实际 self-ranking Top-1（sample_index=4），重原子 RMSD 0.63 Å。底部两图共用朝向与尺度，以沉积区域对照冻结预测 blob。三维视图均由 ChimeraX 原生命令生成，沉积结构仅用于参考显示和最终评价。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9WUP 端到端案例详图。FMN (B:1103)；Site rank 3 · charged attempt 1。Matcher 的精确 SMILES 与冻结目标身份相同，4 个合格小分子身份参与本轮匹配。Build 为第一次 local_cov-C 的实际 self-ranking Top-1（sample_index=19），重原子 RMSD 0.52 Å。底部两图共用朝向与尺度，以沉积区域对照冻结预测 blob。三维视图均由 ChimeraX 原生命令生成，沉积结构仅用于参考显示和最终评价。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9XZL 端到端案例详图。AGS (F:1001)；Site rank 2 · charged attempt 1。Matcher 的精确 SMILES 与冻结目标身份相同，1 个合格小分子身份参与本轮匹配。Build 为第一次 local_cov-C 的实际 self-ranking Top-1（sample_index=5），重原子 RMSD 0.91 Å。底部两图共用朝向与尺度，以沉积区域对照冻结预测 blob。三维视图均由 ChimeraX 原生命令生成，沉积结构仅用于参考显示和最终评价。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18/10/relationships/comments" Target="../comments/modernComment_100_CD59618.xm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18/10/relationships/comments" Target="../comments/modernComment_101_3C193DAF.xm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microsoft.com/office/2018/10/relationships/comments" Target="../comments/modernComment_102_1FF3B62.xm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microsoft.com/office/2018/10/relationships/comments" Target="../comments/modernComment_103_60806ABA.xm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microsoft.com/office/2018/10/relationships/comments" Target="../comments/modernComment_104_E4BE9DE.xml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microsoft.com/office/2018/10/relationships/comments" Target="../comments/modernComment_105_32B353B8.xml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microsoft.com/office/2018/10/relationships/comments" Target="../comments/modernComment_106_4D23C4E3.xml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microsoft.com/office/2018/10/relationships/comments" Target="../comments/modernComment_107_5D17F744.xm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microsoft.com/office/2018/10/relationships/comments" Target="../comments/modernComment_108_55DCD08B.xml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microsoft.com/office/2018/10/relationships/comments" Target="../comments/modernComment_109_6AE8E2C3.xml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420B763C-5602-4B60-8B84-F8AFBD80A5C6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4000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540BF3-A8C9-43BC-BAA6-843FAA874C74}"/>
              </a:ext>
            </a:extLst>
          </p:cNvPr>
          <p:cNvSpPr>
            <a:spLocks noGrp="1"/>
          </p:cNvSpPr>
          <p:nvPr/>
        </p:nvSpPr>
        <p:spPr>
          <a:xfrm>
            <a:off x="5838825" y="209550"/>
            <a:ext cx="4000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3196C0-B103-49E2-81FE-B90B0B6CABB2}"/>
              </a:ext>
            </a:extLst>
          </p:cNvPr>
          <p:cNvSpPr>
            <a:spLocks noGrp="1"/>
          </p:cNvSpPr>
          <p:nvPr/>
        </p:nvSpPr>
        <p:spPr>
          <a:xfrm>
            <a:off x="10572750" y="209550"/>
            <a:ext cx="4000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ACDFDDAD-D7DB-42AB-A278-76A6E25A56F8}"/>
              </a:ext>
            </a:extLst>
          </p:cNvPr>
          <p:cNvSpPr>
            <a:spLocks noGrp="1"/>
          </p:cNvSpPr>
          <p:nvPr/>
        </p:nvSpPr>
        <p:spPr>
          <a:xfrm>
            <a:off x="4667250" y="419100"/>
            <a:ext cx="762000" cy="953"/>
          </a:xfrm>
          <a:custGeom>
            <a:avLst/>
            <a:gdLst/>
            <a:ahLst/>
            <a:cxnLst/>
            <a:rect l="0" t="0" r="0" b="0"/>
            <a:pathLst>
              <a:path w="762000" h="953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19050">
            <a:solidFill>
              <a:srgbClr val="667783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0A8E7A0F-B0E3-4947-965F-9C5C19A33CCA}"/>
              </a:ext>
            </a:extLst>
          </p:cNvPr>
          <p:cNvSpPr>
            <a:spLocks noGrp="1"/>
          </p:cNvSpPr>
          <p:nvPr/>
        </p:nvSpPr>
        <p:spPr>
          <a:xfrm>
            <a:off x="5314950" y="352425"/>
            <a:ext cx="114300" cy="66675"/>
          </a:xfrm>
          <a:custGeom>
            <a:avLst/>
            <a:gdLst/>
            <a:ahLst/>
            <a:cxnLst/>
            <a:rect l="0" t="0" r="0" b="0"/>
            <a:pathLst>
              <a:path w="114300" h="66675">
                <a:moveTo>
                  <a:pt x="0" y="0"/>
                </a:moveTo>
                <a:lnTo>
                  <a:pt x="114300" y="66675"/>
                </a:lnTo>
              </a:path>
            </a:pathLst>
          </a:custGeom>
          <a:noFill/>
          <a:ln w="19050">
            <a:solidFill>
              <a:srgbClr val="667783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E39B9D3-B9C1-44A8-BAEC-CC93306D09AC}"/>
              </a:ext>
            </a:extLst>
          </p:cNvPr>
          <p:cNvSpPr>
            <a:spLocks noGrp="1"/>
          </p:cNvSpPr>
          <p:nvPr/>
        </p:nvSpPr>
        <p:spPr>
          <a:xfrm>
            <a:off x="5314950" y="419100"/>
            <a:ext cx="114300" cy="66675"/>
          </a:xfrm>
          <a:custGeom>
            <a:avLst/>
            <a:gdLst/>
            <a:ahLst/>
            <a:cxnLst/>
            <a:rect l="0" t="0" r="0" b="0"/>
            <a:pathLst>
              <a:path w="114300" h="66675">
                <a:moveTo>
                  <a:pt x="0" y="66675"/>
                </a:moveTo>
                <a:lnTo>
                  <a:pt x="114300" y="0"/>
                </a:lnTo>
              </a:path>
            </a:pathLst>
          </a:custGeom>
          <a:noFill/>
          <a:ln w="19050">
            <a:solidFill>
              <a:srgbClr val="667783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2DD2895-2137-4644-B4E7-5EBF2915E715}"/>
              </a:ext>
            </a:extLst>
          </p:cNvPr>
          <p:cNvSpPr>
            <a:spLocks noGrp="1"/>
          </p:cNvSpPr>
          <p:nvPr/>
        </p:nvSpPr>
        <p:spPr>
          <a:xfrm>
            <a:off x="9525000" y="419100"/>
            <a:ext cx="762000" cy="953"/>
          </a:xfrm>
          <a:custGeom>
            <a:avLst/>
            <a:gdLst/>
            <a:ahLst/>
            <a:cxnLst/>
            <a:rect l="0" t="0" r="0" b="0"/>
            <a:pathLst>
              <a:path w="762000" h="953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19050">
            <a:solidFill>
              <a:srgbClr val="667783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12EC2950-DCCC-48A1-90C2-0CC2A2748214}"/>
              </a:ext>
            </a:extLst>
          </p:cNvPr>
          <p:cNvSpPr>
            <a:spLocks noGrp="1"/>
          </p:cNvSpPr>
          <p:nvPr/>
        </p:nvSpPr>
        <p:spPr>
          <a:xfrm>
            <a:off x="10172700" y="352425"/>
            <a:ext cx="114300" cy="66675"/>
          </a:xfrm>
          <a:custGeom>
            <a:avLst/>
            <a:gdLst/>
            <a:ahLst/>
            <a:cxnLst/>
            <a:rect l="0" t="0" r="0" b="0"/>
            <a:pathLst>
              <a:path w="114300" h="66675">
                <a:moveTo>
                  <a:pt x="0" y="0"/>
                </a:moveTo>
                <a:lnTo>
                  <a:pt x="114300" y="66675"/>
                </a:lnTo>
              </a:path>
            </a:pathLst>
          </a:custGeom>
          <a:noFill/>
          <a:ln w="19050">
            <a:solidFill>
              <a:srgbClr val="667783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D2B7D5C7-F6C4-4B19-8223-DBBDDCD5F54D}"/>
              </a:ext>
            </a:extLst>
          </p:cNvPr>
          <p:cNvSpPr>
            <a:spLocks noGrp="1"/>
          </p:cNvSpPr>
          <p:nvPr/>
        </p:nvSpPr>
        <p:spPr>
          <a:xfrm>
            <a:off x="10172700" y="419100"/>
            <a:ext cx="114300" cy="66675"/>
          </a:xfrm>
          <a:custGeom>
            <a:avLst/>
            <a:gdLst/>
            <a:ahLst/>
            <a:cxnLst/>
            <a:rect l="0" t="0" r="0" b="0"/>
            <a:pathLst>
              <a:path w="114300" h="66675">
                <a:moveTo>
                  <a:pt x="0" y="66675"/>
                </a:moveTo>
                <a:lnTo>
                  <a:pt x="114300" y="0"/>
                </a:lnTo>
              </a:path>
            </a:pathLst>
          </a:custGeom>
          <a:noFill/>
          <a:ln w="19050">
            <a:solidFill>
              <a:srgbClr val="667783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FF03E19-361D-4054-B5FF-308C4F1ADCC5}"/>
              </a:ext>
            </a:extLst>
          </p:cNvPr>
          <p:cNvSpPr>
            <a:spLocks noGrp="1"/>
          </p:cNvSpPr>
          <p:nvPr/>
        </p:nvSpPr>
        <p:spPr>
          <a:xfrm>
            <a:off x="523875" y="904875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  9BJJ · ATP (B:901)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7719D-8DDB-4EC6-BF51-3B81BFC249D6}"/>
              </a:ext>
            </a:extLst>
          </p:cNvPr>
          <p:cNvSpPr>
            <a:spLocks noGrp="1"/>
          </p:cNvSpPr>
          <p:nvPr/>
        </p:nvSpPr>
        <p:spPr>
          <a:xfrm>
            <a:off x="523875" y="1323975"/>
            <a:ext cx="4953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First-ranked site succeeds</a:t>
            </a: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8625" y="1668066"/>
            <a:ext cx="4619625" cy="346471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6EFCA24-12F1-41EF-ACE2-83AF7481EE42}"/>
              </a:ext>
            </a:extLst>
          </p:cNvPr>
          <p:cNvSpPr>
            <a:spLocks noGrp="1"/>
          </p:cNvSpPr>
          <p:nvPr/>
        </p:nvSpPr>
        <p:spPr>
          <a:xfrm>
            <a:off x="523875" y="5172075"/>
            <a:ext cx="50006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Site rank 1 · charged attempt 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45C1E6-B997-4EC9-96D6-D3F3E270ADD2}"/>
              </a:ext>
            </a:extLst>
          </p:cNvPr>
          <p:cNvSpPr>
            <a:spLocks noGrp="1"/>
          </p:cNvSpPr>
          <p:nvPr/>
        </p:nvSpPr>
        <p:spPr>
          <a:xfrm>
            <a:off x="5810250" y="1666875"/>
            <a:ext cx="381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16625" y="2000250"/>
            <a:ext cx="3492500" cy="261937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44F050E1-27E0-4920-A4D5-EEF6CC5BE32D}"/>
              </a:ext>
            </a:extLst>
          </p:cNvPr>
          <p:cNvSpPr>
            <a:spLocks noGrp="1"/>
          </p:cNvSpPr>
          <p:nvPr/>
        </p:nvSpPr>
        <p:spPr>
          <a:xfrm>
            <a:off x="5810250" y="4810125"/>
            <a:ext cx="428625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2 eligible small-molecule SMILES</a:t>
            </a:r>
          </a:p>
          <a:p>
            <a:pPr>
              <a:defRPr sz="18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Exact SMILES match: ATP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382250" y="1715691"/>
            <a:ext cx="4429125" cy="3321844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DB60065B-84EF-464F-98D7-CB2D692F8030}"/>
              </a:ext>
            </a:extLst>
          </p:cNvPr>
          <p:cNvSpPr>
            <a:spLocks noGrp="1"/>
          </p:cNvSpPr>
          <p:nvPr/>
        </p:nvSpPr>
        <p:spPr>
          <a:xfrm>
            <a:off x="10572750" y="1666875"/>
            <a:ext cx="381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4748F4-CE1E-4050-8150-9FF5EAAD00CC}"/>
              </a:ext>
            </a:extLst>
          </p:cNvPr>
          <p:cNvSpPr>
            <a:spLocks noGrp="1"/>
          </p:cNvSpPr>
          <p:nvPr/>
        </p:nvSpPr>
        <p:spPr>
          <a:xfrm>
            <a:off x="10572750" y="5143500"/>
            <a:ext cx="4381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Self-ranking Top-1 · RMSD 0.80 Å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47169DB-04E7-49EB-A09E-7B7FC77E5826}"/>
              </a:ext>
            </a:extLst>
          </p:cNvPr>
          <p:cNvSpPr>
            <a:spLocks noGrp="1"/>
          </p:cNvSpPr>
          <p:nvPr/>
        </p:nvSpPr>
        <p:spPr>
          <a:xfrm>
            <a:off x="523875" y="6096000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  30GA · ATP (N:401)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53FB1A6-08B3-4294-9970-2B41C94EB086}"/>
              </a:ext>
            </a:extLst>
          </p:cNvPr>
          <p:cNvSpPr>
            <a:spLocks noGrp="1"/>
          </p:cNvSpPr>
          <p:nvPr/>
        </p:nvSpPr>
        <p:spPr>
          <a:xfrm>
            <a:off x="523875" y="6515100"/>
            <a:ext cx="4953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Background first, ligand second</a:t>
            </a:r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28625" y="6859191"/>
            <a:ext cx="4619625" cy="3464719"/>
          </a:xfrm>
          <a:prstGeom prst="rect">
            <a:avLst/>
          </a:prstGeom>
        </p:spPr>
      </p:pic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869C11CA-AA41-4A27-804E-50A8DA10ACC5}"/>
              </a:ext>
            </a:extLst>
          </p:cNvPr>
          <p:cNvSpPr>
            <a:spLocks noGrp="1"/>
          </p:cNvSpPr>
          <p:nvPr/>
        </p:nvSpPr>
        <p:spPr>
          <a:xfrm>
            <a:off x="2437979" y="7232491"/>
            <a:ext cx="725464" cy="97035"/>
          </a:xfrm>
          <a:custGeom>
            <a:avLst/>
            <a:gdLst/>
            <a:ahLst/>
            <a:cxnLst/>
            <a:rect l="0" t="0" r="0" b="0"/>
            <a:pathLst>
              <a:path w="725464" h="97035">
                <a:moveTo>
                  <a:pt x="0" y="0"/>
                </a:moveTo>
                <a:lnTo>
                  <a:pt x="725464" y="97035"/>
                </a:lnTo>
              </a:path>
            </a:pathLst>
          </a:custGeom>
          <a:noFill/>
          <a:ln w="19050">
            <a:solidFill>
              <a:srgbClr val="9F87A9"/>
            </a:solidFill>
          </a:ln>
        </p:spPr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FAB8D329-8887-41E8-A283-F24AC4742F92}"/>
              </a:ext>
            </a:extLst>
          </p:cNvPr>
          <p:cNvSpPr>
            <a:spLocks noGrp="1"/>
          </p:cNvSpPr>
          <p:nvPr/>
        </p:nvSpPr>
        <p:spPr>
          <a:xfrm>
            <a:off x="2039779" y="7014210"/>
            <a:ext cx="381000" cy="3810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9F87A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F87A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51506735-B448-4426-9043-0F796B059D6F}"/>
              </a:ext>
            </a:extLst>
          </p:cNvPr>
          <p:cNvSpPr>
            <a:spLocks noGrp="1"/>
          </p:cNvSpPr>
          <p:nvPr/>
        </p:nvSpPr>
        <p:spPr>
          <a:xfrm>
            <a:off x="1789224" y="9645548"/>
            <a:ext cx="792147" cy="154134"/>
          </a:xfrm>
          <a:custGeom>
            <a:avLst/>
            <a:gdLst/>
            <a:ahLst/>
            <a:cxnLst/>
            <a:rect l="0" t="0" r="0" b="0"/>
            <a:pathLst>
              <a:path w="792147" h="154134">
                <a:moveTo>
                  <a:pt x="0" y="154134"/>
                </a:moveTo>
                <a:lnTo>
                  <a:pt x="792147" y="0"/>
                </a:lnTo>
              </a:path>
            </a:pathLst>
          </a:custGeom>
          <a:noFill/>
          <a:ln w="19050">
            <a:solidFill>
              <a:srgbClr val="E9983C"/>
            </a:solidFill>
          </a:ln>
        </p:spPr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5F95406-77A9-422E-9601-7843E59374BE}"/>
              </a:ext>
            </a:extLst>
          </p:cNvPr>
          <p:cNvSpPr>
            <a:spLocks noGrp="1"/>
          </p:cNvSpPr>
          <p:nvPr/>
        </p:nvSpPr>
        <p:spPr>
          <a:xfrm>
            <a:off x="1393031" y="9649206"/>
            <a:ext cx="381000" cy="3810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3FE114A-61B1-40B9-A8AF-799B10689BB7}"/>
              </a:ext>
            </a:extLst>
          </p:cNvPr>
          <p:cNvSpPr>
            <a:spLocks noGrp="1"/>
          </p:cNvSpPr>
          <p:nvPr/>
        </p:nvSpPr>
        <p:spPr>
          <a:xfrm>
            <a:off x="523875" y="10363200"/>
            <a:ext cx="50006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Site rank 2 · charged attempt 2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F63E78C-4640-41A8-BCAA-388488E93DD0}"/>
              </a:ext>
            </a:extLst>
          </p:cNvPr>
          <p:cNvSpPr>
            <a:spLocks noGrp="1"/>
          </p:cNvSpPr>
          <p:nvPr/>
        </p:nvSpPr>
        <p:spPr>
          <a:xfrm>
            <a:off x="523875" y="10715625"/>
            <a:ext cx="50006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F87A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F87A9"/>
                </a:solidFill>
                <a:latin typeface="Arial"/>
                <a:ea typeface="Arial"/>
                <a:cs typeface="Arial"/>
              </a:rPr>
              <a:t>Rank 1: background · one attempt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9DDDB2A-2237-402C-8E04-D1CD4BF70517}"/>
              </a:ext>
            </a:extLst>
          </p:cNvPr>
          <p:cNvSpPr>
            <a:spLocks noGrp="1"/>
          </p:cNvSpPr>
          <p:nvPr/>
        </p:nvSpPr>
        <p:spPr>
          <a:xfrm>
            <a:off x="5810250" y="6858000"/>
            <a:ext cx="381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016625" y="7191375"/>
            <a:ext cx="3492500" cy="2619375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39713107-034E-4710-8465-8227F88B45FB}"/>
              </a:ext>
            </a:extLst>
          </p:cNvPr>
          <p:cNvSpPr>
            <a:spLocks noGrp="1"/>
          </p:cNvSpPr>
          <p:nvPr/>
        </p:nvSpPr>
        <p:spPr>
          <a:xfrm>
            <a:off x="5810250" y="10001250"/>
            <a:ext cx="428625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1 eligible small-molecule SMILES</a:t>
            </a:r>
          </a:p>
          <a:p>
            <a:pPr>
              <a:defRPr sz="18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Exact SMILES match: ATP</a:t>
            </a:r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382250" y="6906816"/>
            <a:ext cx="4429125" cy="3321844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AEDAF298-665C-4E21-90CB-ECAC2389453D}"/>
              </a:ext>
            </a:extLst>
          </p:cNvPr>
          <p:cNvSpPr>
            <a:spLocks noGrp="1"/>
          </p:cNvSpPr>
          <p:nvPr/>
        </p:nvSpPr>
        <p:spPr>
          <a:xfrm>
            <a:off x="10572750" y="6858000"/>
            <a:ext cx="381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E1A95EF-E97D-48A2-8DB5-EB5A3AEE391C}"/>
              </a:ext>
            </a:extLst>
          </p:cNvPr>
          <p:cNvSpPr>
            <a:spLocks noGrp="1"/>
          </p:cNvSpPr>
          <p:nvPr/>
        </p:nvSpPr>
        <p:spPr>
          <a:xfrm>
            <a:off x="10572750" y="10334625"/>
            <a:ext cx="4381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Self-ranking Top-1 · RMSD 1.04 Å</a:t>
            </a: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2FCC523D-627C-4D34-B196-AE61EA4C9338}"/>
              </a:ext>
            </a:extLst>
          </p:cNvPr>
          <p:cNvSpPr>
            <a:spLocks noGrp="1"/>
          </p:cNvSpPr>
          <p:nvPr/>
        </p:nvSpPr>
        <p:spPr>
          <a:xfrm>
            <a:off x="52387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206DC71-EF34-4999-B705-D7C551AD185B}"/>
              </a:ext>
            </a:extLst>
          </p:cNvPr>
          <p:cNvSpPr>
            <a:spLocks noGrp="1"/>
          </p:cNvSpPr>
          <p:nvPr/>
        </p:nvSpPr>
        <p:spPr>
          <a:xfrm>
            <a:off x="87630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CA2 receptor</a:t>
            </a: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EC97C934-D73D-4397-9A1B-B947B1BF6A67}"/>
              </a:ext>
            </a:extLst>
          </p:cNvPr>
          <p:cNvSpPr>
            <a:spLocks noGrp="1"/>
          </p:cNvSpPr>
          <p:nvPr/>
        </p:nvSpPr>
        <p:spPr>
          <a:xfrm>
            <a:off x="3409950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A0A9AD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B3D65D2-CB52-4C66-B5FC-B67589C85C47}"/>
              </a:ext>
            </a:extLst>
          </p:cNvPr>
          <p:cNvSpPr>
            <a:spLocks noGrp="1"/>
          </p:cNvSpPr>
          <p:nvPr/>
        </p:nvSpPr>
        <p:spPr>
          <a:xfrm>
            <a:off x="3762375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CC539C18-597E-438F-B17A-9CAFF0ACFE0B}"/>
              </a:ext>
            </a:extLst>
          </p:cNvPr>
          <p:cNvSpPr>
            <a:spLocks noGrp="1"/>
          </p:cNvSpPr>
          <p:nvPr/>
        </p:nvSpPr>
        <p:spPr>
          <a:xfrm>
            <a:off x="629602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236D807-6614-400D-9A82-9FDBD1844BDC}"/>
              </a:ext>
            </a:extLst>
          </p:cNvPr>
          <p:cNvSpPr>
            <a:spLocks noGrp="1"/>
          </p:cNvSpPr>
          <p:nvPr/>
        </p:nvSpPr>
        <p:spPr>
          <a:xfrm>
            <a:off x="664845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Predicted blob</a:t>
            </a: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3497B702-19AC-4952-A8FF-08DE8327D9DA}"/>
              </a:ext>
            </a:extLst>
          </p:cNvPr>
          <p:cNvSpPr>
            <a:spLocks noGrp="1"/>
          </p:cNvSpPr>
          <p:nvPr/>
        </p:nvSpPr>
        <p:spPr>
          <a:xfrm>
            <a:off x="9182100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0ABDC21-7D1F-43FB-8EA0-B1E568EB440B}"/>
              </a:ext>
            </a:extLst>
          </p:cNvPr>
          <p:cNvSpPr>
            <a:spLocks noGrp="1"/>
          </p:cNvSpPr>
          <p:nvPr/>
        </p:nvSpPr>
        <p:spPr>
          <a:xfrm>
            <a:off x="9534525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Top-1 pose</a:t>
            </a: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6F4B4B5F-FAD1-4839-ABD8-259D89673879}"/>
              </a:ext>
            </a:extLst>
          </p:cNvPr>
          <p:cNvSpPr>
            <a:spLocks noGrp="1"/>
          </p:cNvSpPr>
          <p:nvPr/>
        </p:nvSpPr>
        <p:spPr>
          <a:xfrm>
            <a:off x="1206817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F1BB4CF-FC7A-40E2-ADF1-AD92D093B1DA}"/>
              </a:ext>
            </a:extLst>
          </p:cNvPr>
          <p:cNvSpPr>
            <a:spLocks noGrp="1"/>
          </p:cNvSpPr>
          <p:nvPr/>
        </p:nvSpPr>
        <p:spPr>
          <a:xfrm>
            <a:off x="1242060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Deposited ligand</a:t>
            </a:r>
          </a:p>
        </p:txBody>
      </p:sp>
    </p:spTree>
    <p:extLst>
      <p:ext uri="{BB962C8B-B14F-4D97-AF65-F5344CB8AC3E}">
        <p14:creationId xmlns:p14="http://schemas.microsoft.com/office/powerpoint/2010/main" val="21532418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D9327F5F-35FF-4287-B2F4-75B66651AAFE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4000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7064741-76B5-46C3-9D71-4613604BCEF1}"/>
              </a:ext>
            </a:extLst>
          </p:cNvPr>
          <p:cNvSpPr>
            <a:spLocks noGrp="1"/>
          </p:cNvSpPr>
          <p:nvPr/>
        </p:nvSpPr>
        <p:spPr>
          <a:xfrm>
            <a:off x="5838825" y="209550"/>
            <a:ext cx="4000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CCFA9EF-D0A8-452E-B204-FAB66FA5A745}"/>
              </a:ext>
            </a:extLst>
          </p:cNvPr>
          <p:cNvSpPr>
            <a:spLocks noGrp="1"/>
          </p:cNvSpPr>
          <p:nvPr/>
        </p:nvSpPr>
        <p:spPr>
          <a:xfrm>
            <a:off x="10572750" y="209550"/>
            <a:ext cx="4000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4E147AF6-36E3-4312-9D78-12ABA5D66694}"/>
              </a:ext>
            </a:extLst>
          </p:cNvPr>
          <p:cNvSpPr>
            <a:spLocks noGrp="1"/>
          </p:cNvSpPr>
          <p:nvPr/>
        </p:nvSpPr>
        <p:spPr>
          <a:xfrm>
            <a:off x="4667250" y="419100"/>
            <a:ext cx="762000" cy="953"/>
          </a:xfrm>
          <a:custGeom>
            <a:avLst/>
            <a:gdLst/>
            <a:ahLst/>
            <a:cxnLst/>
            <a:rect l="0" t="0" r="0" b="0"/>
            <a:pathLst>
              <a:path w="762000" h="953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19050">
            <a:solidFill>
              <a:srgbClr val="667783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FF989398-1B2D-442F-8A2E-4831E0D248B5}"/>
              </a:ext>
            </a:extLst>
          </p:cNvPr>
          <p:cNvSpPr>
            <a:spLocks noGrp="1"/>
          </p:cNvSpPr>
          <p:nvPr/>
        </p:nvSpPr>
        <p:spPr>
          <a:xfrm>
            <a:off x="5314950" y="352425"/>
            <a:ext cx="114300" cy="66675"/>
          </a:xfrm>
          <a:custGeom>
            <a:avLst/>
            <a:gdLst/>
            <a:ahLst/>
            <a:cxnLst/>
            <a:rect l="0" t="0" r="0" b="0"/>
            <a:pathLst>
              <a:path w="114300" h="66675">
                <a:moveTo>
                  <a:pt x="0" y="0"/>
                </a:moveTo>
                <a:lnTo>
                  <a:pt x="114300" y="66675"/>
                </a:lnTo>
              </a:path>
            </a:pathLst>
          </a:custGeom>
          <a:noFill/>
          <a:ln w="19050">
            <a:solidFill>
              <a:srgbClr val="667783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3CCE870E-4FC7-46FB-8BAA-862B3DBE0CEC}"/>
              </a:ext>
            </a:extLst>
          </p:cNvPr>
          <p:cNvSpPr>
            <a:spLocks noGrp="1"/>
          </p:cNvSpPr>
          <p:nvPr/>
        </p:nvSpPr>
        <p:spPr>
          <a:xfrm>
            <a:off x="5314950" y="419100"/>
            <a:ext cx="114300" cy="66675"/>
          </a:xfrm>
          <a:custGeom>
            <a:avLst/>
            <a:gdLst/>
            <a:ahLst/>
            <a:cxnLst/>
            <a:rect l="0" t="0" r="0" b="0"/>
            <a:pathLst>
              <a:path w="114300" h="66675">
                <a:moveTo>
                  <a:pt x="0" y="66675"/>
                </a:moveTo>
                <a:lnTo>
                  <a:pt x="114300" y="0"/>
                </a:lnTo>
              </a:path>
            </a:pathLst>
          </a:custGeom>
          <a:noFill/>
          <a:ln w="19050">
            <a:solidFill>
              <a:srgbClr val="667783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3FBC033D-7C61-492B-AC7E-4FCA7BB1DF24}"/>
              </a:ext>
            </a:extLst>
          </p:cNvPr>
          <p:cNvSpPr>
            <a:spLocks noGrp="1"/>
          </p:cNvSpPr>
          <p:nvPr/>
        </p:nvSpPr>
        <p:spPr>
          <a:xfrm>
            <a:off x="9525000" y="419100"/>
            <a:ext cx="762000" cy="953"/>
          </a:xfrm>
          <a:custGeom>
            <a:avLst/>
            <a:gdLst/>
            <a:ahLst/>
            <a:cxnLst/>
            <a:rect l="0" t="0" r="0" b="0"/>
            <a:pathLst>
              <a:path w="762000" h="953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19050">
            <a:solidFill>
              <a:srgbClr val="667783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3333EC9E-CCF5-42F1-BB56-BC64DCF48199}"/>
              </a:ext>
            </a:extLst>
          </p:cNvPr>
          <p:cNvSpPr>
            <a:spLocks noGrp="1"/>
          </p:cNvSpPr>
          <p:nvPr/>
        </p:nvSpPr>
        <p:spPr>
          <a:xfrm>
            <a:off x="10172700" y="352425"/>
            <a:ext cx="114300" cy="66675"/>
          </a:xfrm>
          <a:custGeom>
            <a:avLst/>
            <a:gdLst/>
            <a:ahLst/>
            <a:cxnLst/>
            <a:rect l="0" t="0" r="0" b="0"/>
            <a:pathLst>
              <a:path w="114300" h="66675">
                <a:moveTo>
                  <a:pt x="0" y="0"/>
                </a:moveTo>
                <a:lnTo>
                  <a:pt x="114300" y="66675"/>
                </a:lnTo>
              </a:path>
            </a:pathLst>
          </a:custGeom>
          <a:noFill/>
          <a:ln w="19050">
            <a:solidFill>
              <a:srgbClr val="667783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1AB5C726-359C-4FB6-A494-7D459583CE04}"/>
              </a:ext>
            </a:extLst>
          </p:cNvPr>
          <p:cNvSpPr>
            <a:spLocks noGrp="1"/>
          </p:cNvSpPr>
          <p:nvPr/>
        </p:nvSpPr>
        <p:spPr>
          <a:xfrm>
            <a:off x="10172700" y="419100"/>
            <a:ext cx="114300" cy="66675"/>
          </a:xfrm>
          <a:custGeom>
            <a:avLst/>
            <a:gdLst/>
            <a:ahLst/>
            <a:cxnLst/>
            <a:rect l="0" t="0" r="0" b="0"/>
            <a:pathLst>
              <a:path w="114300" h="66675">
                <a:moveTo>
                  <a:pt x="0" y="66675"/>
                </a:moveTo>
                <a:lnTo>
                  <a:pt x="114300" y="0"/>
                </a:lnTo>
              </a:path>
            </a:pathLst>
          </a:custGeom>
          <a:noFill/>
          <a:ln w="19050">
            <a:solidFill>
              <a:srgbClr val="667783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C15E22-4CF6-49D1-AA0F-FB9DA55915AD}"/>
              </a:ext>
            </a:extLst>
          </p:cNvPr>
          <p:cNvSpPr>
            <a:spLocks noGrp="1"/>
          </p:cNvSpPr>
          <p:nvPr/>
        </p:nvSpPr>
        <p:spPr>
          <a:xfrm>
            <a:off x="523875" y="904875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  9LLG · A1EKL (R:602)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929D57-142C-42EE-BDF1-DFB2ED7F4EB4}"/>
              </a:ext>
            </a:extLst>
          </p:cNvPr>
          <p:cNvSpPr>
            <a:spLocks noGrp="1"/>
          </p:cNvSpPr>
          <p:nvPr/>
        </p:nvSpPr>
        <p:spPr>
          <a:xfrm>
            <a:off x="523875" y="1323975"/>
            <a:ext cx="4953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First-ranked site succeeds</a:t>
            </a: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8625" y="1668066"/>
            <a:ext cx="4619625" cy="346471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B58B7D9-C968-44E3-A70C-C85DF12E9DD7}"/>
              </a:ext>
            </a:extLst>
          </p:cNvPr>
          <p:cNvSpPr>
            <a:spLocks noGrp="1"/>
          </p:cNvSpPr>
          <p:nvPr/>
        </p:nvSpPr>
        <p:spPr>
          <a:xfrm>
            <a:off x="523875" y="5172075"/>
            <a:ext cx="50006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Site rank 1 · charged attempt 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3CC2EF9-03F0-4A23-9433-1316D2DFEF89}"/>
              </a:ext>
            </a:extLst>
          </p:cNvPr>
          <p:cNvSpPr>
            <a:spLocks noGrp="1"/>
          </p:cNvSpPr>
          <p:nvPr/>
        </p:nvSpPr>
        <p:spPr>
          <a:xfrm>
            <a:off x="5810250" y="1666875"/>
            <a:ext cx="381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16625" y="2000250"/>
            <a:ext cx="3492500" cy="261937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687DD986-7CF2-4874-9D36-A3AE083D09BC}"/>
              </a:ext>
            </a:extLst>
          </p:cNvPr>
          <p:cNvSpPr>
            <a:spLocks noGrp="1"/>
          </p:cNvSpPr>
          <p:nvPr/>
        </p:nvSpPr>
        <p:spPr>
          <a:xfrm>
            <a:off x="5810250" y="4810125"/>
            <a:ext cx="428625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3 eligible small-molecule SMILES</a:t>
            </a:r>
          </a:p>
          <a:p>
            <a:pPr>
              <a:defRPr sz="18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Exact SMILES match: A1EKL</a:t>
            </a: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382250" y="1715691"/>
            <a:ext cx="4429125" cy="3321844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E17B9196-DA80-4B7E-81FA-B8A76AC65435}"/>
              </a:ext>
            </a:extLst>
          </p:cNvPr>
          <p:cNvSpPr>
            <a:spLocks noGrp="1"/>
          </p:cNvSpPr>
          <p:nvPr/>
        </p:nvSpPr>
        <p:spPr>
          <a:xfrm>
            <a:off x="10572750" y="1666875"/>
            <a:ext cx="381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2A70543-96B1-4714-A2C2-05AA2EA14574}"/>
              </a:ext>
            </a:extLst>
          </p:cNvPr>
          <p:cNvSpPr>
            <a:spLocks noGrp="1"/>
          </p:cNvSpPr>
          <p:nvPr/>
        </p:nvSpPr>
        <p:spPr>
          <a:xfrm>
            <a:off x="10572750" y="5143500"/>
            <a:ext cx="4381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Self-ranking Top-1 · RMSD 0.88 Å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3D6FEF3-C160-4EAB-9E6F-6CBEABFF3116}"/>
              </a:ext>
            </a:extLst>
          </p:cNvPr>
          <p:cNvSpPr>
            <a:spLocks noGrp="1"/>
          </p:cNvSpPr>
          <p:nvPr/>
        </p:nvSpPr>
        <p:spPr>
          <a:xfrm>
            <a:off x="523875" y="6096000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  9QRU · A1JAX (B:2801)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B83C3F2-E938-4BEB-824E-BF66799B4B4A}"/>
              </a:ext>
            </a:extLst>
          </p:cNvPr>
          <p:cNvSpPr>
            <a:spLocks noGrp="1"/>
          </p:cNvSpPr>
          <p:nvPr/>
        </p:nvSpPr>
        <p:spPr>
          <a:xfrm>
            <a:off x="523875" y="6515100"/>
            <a:ext cx="4953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Background first, ligand second</a:t>
            </a:r>
          </a:p>
        </p:txBody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28625" y="6859191"/>
            <a:ext cx="4619625" cy="3464719"/>
          </a:xfrm>
          <a:prstGeom prst="rect">
            <a:avLst/>
          </a:prstGeom>
        </p:spPr>
      </p:pic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B0DE974-0DD0-4434-9780-892C7BF97165}"/>
              </a:ext>
            </a:extLst>
          </p:cNvPr>
          <p:cNvSpPr>
            <a:spLocks noGrp="1"/>
          </p:cNvSpPr>
          <p:nvPr/>
        </p:nvSpPr>
        <p:spPr>
          <a:xfrm>
            <a:off x="2969419" y="8537594"/>
            <a:ext cx="628049" cy="154502"/>
          </a:xfrm>
          <a:custGeom>
            <a:avLst/>
            <a:gdLst/>
            <a:ahLst/>
            <a:cxnLst/>
            <a:rect l="0" t="0" r="0" b="0"/>
            <a:pathLst>
              <a:path w="628049" h="154502">
                <a:moveTo>
                  <a:pt x="628049" y="0"/>
                </a:moveTo>
                <a:lnTo>
                  <a:pt x="0" y="154502"/>
                </a:lnTo>
              </a:path>
            </a:pathLst>
          </a:custGeom>
          <a:noFill/>
          <a:ln w="19050">
            <a:solidFill>
              <a:srgbClr val="9F87A9"/>
            </a:solidFill>
          </a:ln>
        </p:spPr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969BD42D-50AC-44EB-A9A7-C0877DEBF2A3}"/>
              </a:ext>
            </a:extLst>
          </p:cNvPr>
          <p:cNvSpPr>
            <a:spLocks noGrp="1"/>
          </p:cNvSpPr>
          <p:nvPr/>
        </p:nvSpPr>
        <p:spPr>
          <a:xfrm>
            <a:off x="3610451" y="8297037"/>
            <a:ext cx="381000" cy="3810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9F87A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F87A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53C64880-2570-40ED-9D58-CB885C80E030}"/>
              </a:ext>
            </a:extLst>
          </p:cNvPr>
          <p:cNvSpPr>
            <a:spLocks noGrp="1"/>
          </p:cNvSpPr>
          <p:nvPr/>
        </p:nvSpPr>
        <p:spPr>
          <a:xfrm>
            <a:off x="1587553" y="8931326"/>
            <a:ext cx="545714" cy="262741"/>
          </a:xfrm>
          <a:custGeom>
            <a:avLst/>
            <a:gdLst/>
            <a:ahLst/>
            <a:cxnLst/>
            <a:rect l="0" t="0" r="0" b="0"/>
            <a:pathLst>
              <a:path w="545714" h="262741">
                <a:moveTo>
                  <a:pt x="0" y="262741"/>
                </a:moveTo>
                <a:lnTo>
                  <a:pt x="545714" y="0"/>
                </a:lnTo>
              </a:path>
            </a:pathLst>
          </a:custGeom>
          <a:noFill/>
          <a:ln w="19050">
            <a:solidFill>
              <a:srgbClr val="E9983C"/>
            </a:solidFill>
          </a:ln>
        </p:spPr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5E3C12D3-B361-43F4-9512-955E627575EA}"/>
              </a:ext>
            </a:extLst>
          </p:cNvPr>
          <p:cNvSpPr>
            <a:spLocks noGrp="1"/>
          </p:cNvSpPr>
          <p:nvPr/>
        </p:nvSpPr>
        <p:spPr>
          <a:xfrm>
            <a:off x="1208246" y="9094470"/>
            <a:ext cx="381000" cy="3810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57B1192-F547-40F2-8B17-3999A7205996}"/>
              </a:ext>
            </a:extLst>
          </p:cNvPr>
          <p:cNvSpPr>
            <a:spLocks noGrp="1"/>
          </p:cNvSpPr>
          <p:nvPr/>
        </p:nvSpPr>
        <p:spPr>
          <a:xfrm>
            <a:off x="523875" y="10363200"/>
            <a:ext cx="50006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Site rank 2 · charged attempt 2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423AB22-D298-4A3B-8268-6450BE5F0E60}"/>
              </a:ext>
            </a:extLst>
          </p:cNvPr>
          <p:cNvSpPr>
            <a:spLocks noGrp="1"/>
          </p:cNvSpPr>
          <p:nvPr/>
        </p:nvSpPr>
        <p:spPr>
          <a:xfrm>
            <a:off x="523875" y="10715625"/>
            <a:ext cx="50006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F87A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F87A9"/>
                </a:solidFill>
                <a:latin typeface="Arial"/>
                <a:ea typeface="Arial"/>
                <a:cs typeface="Arial"/>
              </a:rPr>
              <a:t>Rank 1: background · one attempt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26167CA-ED1B-416C-A344-9208BAC3909A}"/>
              </a:ext>
            </a:extLst>
          </p:cNvPr>
          <p:cNvSpPr>
            <a:spLocks noGrp="1"/>
          </p:cNvSpPr>
          <p:nvPr/>
        </p:nvSpPr>
        <p:spPr>
          <a:xfrm>
            <a:off x="5810250" y="6858000"/>
            <a:ext cx="381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pic>
        <p:nvPicPr>
          <p:cNvPr id="75" name="图片 74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016625" y="7191375"/>
            <a:ext cx="3492500" cy="2619375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D9949B03-9C8F-47B1-9F7A-958998938CA4}"/>
              </a:ext>
            </a:extLst>
          </p:cNvPr>
          <p:cNvSpPr>
            <a:spLocks noGrp="1"/>
          </p:cNvSpPr>
          <p:nvPr/>
        </p:nvSpPr>
        <p:spPr>
          <a:xfrm>
            <a:off x="5810250" y="10001250"/>
            <a:ext cx="428625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2 eligible small-molecule SMILES</a:t>
            </a:r>
          </a:p>
          <a:p>
            <a:pPr>
              <a:defRPr sz="18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Exact SMILES match: A1JAX</a:t>
            </a:r>
          </a:p>
        </p:txBody>
      </p:sp>
      <p:pic>
        <p:nvPicPr>
          <p:cNvPr id="77" name="图片 76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382250" y="6906816"/>
            <a:ext cx="4429125" cy="3321844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B77FBD2A-A657-4C4F-8700-C0E4401B847A}"/>
              </a:ext>
            </a:extLst>
          </p:cNvPr>
          <p:cNvSpPr>
            <a:spLocks noGrp="1"/>
          </p:cNvSpPr>
          <p:nvPr/>
        </p:nvSpPr>
        <p:spPr>
          <a:xfrm>
            <a:off x="10572750" y="6858000"/>
            <a:ext cx="381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E85BF8A-79DF-439B-865C-AC081E0724BC}"/>
              </a:ext>
            </a:extLst>
          </p:cNvPr>
          <p:cNvSpPr>
            <a:spLocks noGrp="1"/>
          </p:cNvSpPr>
          <p:nvPr/>
        </p:nvSpPr>
        <p:spPr>
          <a:xfrm>
            <a:off x="10572750" y="10334625"/>
            <a:ext cx="4381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Self-ranking Top-1 · RMSD 0.63 Å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250ACE4-9764-40A4-875B-653A4FA81F81}"/>
              </a:ext>
            </a:extLst>
          </p:cNvPr>
          <p:cNvSpPr>
            <a:spLocks noGrp="1"/>
          </p:cNvSpPr>
          <p:nvPr/>
        </p:nvSpPr>
        <p:spPr>
          <a:xfrm>
            <a:off x="10572750" y="10744200"/>
            <a:ext cx="428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Appended candidate (unselected)</a:t>
            </a: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FA43529E-E9FD-4406-A733-DB4451CA6056}"/>
              </a:ext>
            </a:extLst>
          </p:cNvPr>
          <p:cNvSpPr>
            <a:spLocks noGrp="1"/>
          </p:cNvSpPr>
          <p:nvPr/>
        </p:nvSpPr>
        <p:spPr>
          <a:xfrm>
            <a:off x="52387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2D5EC19-F634-4296-84FC-E35366B8325C}"/>
              </a:ext>
            </a:extLst>
          </p:cNvPr>
          <p:cNvSpPr>
            <a:spLocks noGrp="1"/>
          </p:cNvSpPr>
          <p:nvPr/>
        </p:nvSpPr>
        <p:spPr>
          <a:xfrm>
            <a:off x="87630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CA2 receptor</a:t>
            </a: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3D1BE1F6-1094-4F1F-BEF2-A7B37231453D}"/>
              </a:ext>
            </a:extLst>
          </p:cNvPr>
          <p:cNvSpPr>
            <a:spLocks noGrp="1"/>
          </p:cNvSpPr>
          <p:nvPr/>
        </p:nvSpPr>
        <p:spPr>
          <a:xfrm>
            <a:off x="3409950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A0A9AD"/>
            </a:solidFill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D0C465E-4245-4483-9E5F-2893794B325F}"/>
              </a:ext>
            </a:extLst>
          </p:cNvPr>
          <p:cNvSpPr>
            <a:spLocks noGrp="1"/>
          </p:cNvSpPr>
          <p:nvPr/>
        </p:nvSpPr>
        <p:spPr>
          <a:xfrm>
            <a:off x="3762375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DFE51855-E3B4-4ABF-A993-9296EDEA1846}"/>
              </a:ext>
            </a:extLst>
          </p:cNvPr>
          <p:cNvSpPr>
            <a:spLocks noGrp="1"/>
          </p:cNvSpPr>
          <p:nvPr/>
        </p:nvSpPr>
        <p:spPr>
          <a:xfrm>
            <a:off x="629602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11EAA04-3851-425F-A58F-1E073A0B783F}"/>
              </a:ext>
            </a:extLst>
          </p:cNvPr>
          <p:cNvSpPr>
            <a:spLocks noGrp="1"/>
          </p:cNvSpPr>
          <p:nvPr/>
        </p:nvSpPr>
        <p:spPr>
          <a:xfrm>
            <a:off x="664845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Predicted blob</a:t>
            </a: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D697881B-F9CD-467E-8954-7AF93CD10F58}"/>
              </a:ext>
            </a:extLst>
          </p:cNvPr>
          <p:cNvSpPr>
            <a:spLocks noGrp="1"/>
          </p:cNvSpPr>
          <p:nvPr/>
        </p:nvSpPr>
        <p:spPr>
          <a:xfrm>
            <a:off x="9182100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1905797-0015-4DC2-B4E6-022C711D855D}"/>
              </a:ext>
            </a:extLst>
          </p:cNvPr>
          <p:cNvSpPr>
            <a:spLocks noGrp="1"/>
          </p:cNvSpPr>
          <p:nvPr/>
        </p:nvSpPr>
        <p:spPr>
          <a:xfrm>
            <a:off x="9534525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Top-1 pose</a:t>
            </a: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60C922B8-44B9-47C2-B962-936B023D9366}"/>
              </a:ext>
            </a:extLst>
          </p:cNvPr>
          <p:cNvSpPr>
            <a:spLocks noGrp="1"/>
          </p:cNvSpPr>
          <p:nvPr/>
        </p:nvSpPr>
        <p:spPr>
          <a:xfrm>
            <a:off x="1206817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C36699B-931C-46BA-BE7A-06CF3046E270}"/>
              </a:ext>
            </a:extLst>
          </p:cNvPr>
          <p:cNvSpPr>
            <a:spLocks noGrp="1"/>
          </p:cNvSpPr>
          <p:nvPr/>
        </p:nvSpPr>
        <p:spPr>
          <a:xfrm>
            <a:off x="1242060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Deposited ligand</a:t>
            </a:r>
          </a:p>
        </p:txBody>
      </p:sp>
    </p:spTree>
    <p:extLst>
      <p:ext uri="{BB962C8B-B14F-4D97-AF65-F5344CB8AC3E}">
        <p14:creationId xmlns:p14="http://schemas.microsoft.com/office/powerpoint/2010/main" val="10082871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37CA21B4-52BD-42E0-B8CF-F5BB445EE921}"/>
              </a:ext>
            </a:extLst>
          </p:cNvPr>
          <p:cNvSpPr>
            <a:spLocks noGrp="1"/>
          </p:cNvSpPr>
          <p:nvPr/>
        </p:nvSpPr>
        <p:spPr>
          <a:xfrm>
            <a:off x="590550" y="209550"/>
            <a:ext cx="4000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B5DF57-0A16-4B55-8B36-0C6242719064}"/>
              </a:ext>
            </a:extLst>
          </p:cNvPr>
          <p:cNvSpPr>
            <a:spLocks noGrp="1"/>
          </p:cNvSpPr>
          <p:nvPr/>
        </p:nvSpPr>
        <p:spPr>
          <a:xfrm>
            <a:off x="5838825" y="209550"/>
            <a:ext cx="4000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806F71-4E8D-4635-8872-196D77254BC4}"/>
              </a:ext>
            </a:extLst>
          </p:cNvPr>
          <p:cNvSpPr>
            <a:spLocks noGrp="1"/>
          </p:cNvSpPr>
          <p:nvPr/>
        </p:nvSpPr>
        <p:spPr>
          <a:xfrm>
            <a:off x="10572750" y="209550"/>
            <a:ext cx="4000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5CE3C3F-645F-4DD5-907C-A124FE0F9E74}"/>
              </a:ext>
            </a:extLst>
          </p:cNvPr>
          <p:cNvSpPr>
            <a:spLocks noGrp="1"/>
          </p:cNvSpPr>
          <p:nvPr/>
        </p:nvSpPr>
        <p:spPr>
          <a:xfrm>
            <a:off x="4667250" y="419100"/>
            <a:ext cx="762000" cy="953"/>
          </a:xfrm>
          <a:custGeom>
            <a:avLst/>
            <a:gdLst/>
            <a:ahLst/>
            <a:cxnLst/>
            <a:rect l="0" t="0" r="0" b="0"/>
            <a:pathLst>
              <a:path w="762000" h="953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19050">
            <a:solidFill>
              <a:srgbClr val="667783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895E1941-64A7-419E-8E28-5DA68CD3B6A0}"/>
              </a:ext>
            </a:extLst>
          </p:cNvPr>
          <p:cNvSpPr>
            <a:spLocks noGrp="1"/>
          </p:cNvSpPr>
          <p:nvPr/>
        </p:nvSpPr>
        <p:spPr>
          <a:xfrm>
            <a:off x="5314950" y="352425"/>
            <a:ext cx="114300" cy="66675"/>
          </a:xfrm>
          <a:custGeom>
            <a:avLst/>
            <a:gdLst/>
            <a:ahLst/>
            <a:cxnLst/>
            <a:rect l="0" t="0" r="0" b="0"/>
            <a:pathLst>
              <a:path w="114300" h="66675">
                <a:moveTo>
                  <a:pt x="0" y="0"/>
                </a:moveTo>
                <a:lnTo>
                  <a:pt x="114300" y="66675"/>
                </a:lnTo>
              </a:path>
            </a:pathLst>
          </a:custGeom>
          <a:noFill/>
          <a:ln w="19050">
            <a:solidFill>
              <a:srgbClr val="667783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850118A5-852B-41F3-B8FB-80B2269BD8F2}"/>
              </a:ext>
            </a:extLst>
          </p:cNvPr>
          <p:cNvSpPr>
            <a:spLocks noGrp="1"/>
          </p:cNvSpPr>
          <p:nvPr/>
        </p:nvSpPr>
        <p:spPr>
          <a:xfrm>
            <a:off x="5314950" y="419100"/>
            <a:ext cx="114300" cy="66675"/>
          </a:xfrm>
          <a:custGeom>
            <a:avLst/>
            <a:gdLst/>
            <a:ahLst/>
            <a:cxnLst/>
            <a:rect l="0" t="0" r="0" b="0"/>
            <a:pathLst>
              <a:path w="114300" h="66675">
                <a:moveTo>
                  <a:pt x="0" y="66675"/>
                </a:moveTo>
                <a:lnTo>
                  <a:pt x="114300" y="0"/>
                </a:lnTo>
              </a:path>
            </a:pathLst>
          </a:custGeom>
          <a:noFill/>
          <a:ln w="19050">
            <a:solidFill>
              <a:srgbClr val="667783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4B66681B-09CA-4A6C-999A-581D89801C1E}"/>
              </a:ext>
            </a:extLst>
          </p:cNvPr>
          <p:cNvSpPr>
            <a:spLocks noGrp="1"/>
          </p:cNvSpPr>
          <p:nvPr/>
        </p:nvSpPr>
        <p:spPr>
          <a:xfrm>
            <a:off x="9525000" y="419100"/>
            <a:ext cx="762000" cy="953"/>
          </a:xfrm>
          <a:custGeom>
            <a:avLst/>
            <a:gdLst/>
            <a:ahLst/>
            <a:cxnLst/>
            <a:rect l="0" t="0" r="0" b="0"/>
            <a:pathLst>
              <a:path w="762000" h="953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19050">
            <a:solidFill>
              <a:srgbClr val="667783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0FD401B0-22B2-469F-9EB4-E5A81485384C}"/>
              </a:ext>
            </a:extLst>
          </p:cNvPr>
          <p:cNvSpPr>
            <a:spLocks noGrp="1"/>
          </p:cNvSpPr>
          <p:nvPr/>
        </p:nvSpPr>
        <p:spPr>
          <a:xfrm>
            <a:off x="10172700" y="352425"/>
            <a:ext cx="114300" cy="66675"/>
          </a:xfrm>
          <a:custGeom>
            <a:avLst/>
            <a:gdLst/>
            <a:ahLst/>
            <a:cxnLst/>
            <a:rect l="0" t="0" r="0" b="0"/>
            <a:pathLst>
              <a:path w="114300" h="66675">
                <a:moveTo>
                  <a:pt x="0" y="0"/>
                </a:moveTo>
                <a:lnTo>
                  <a:pt x="114300" y="66675"/>
                </a:lnTo>
              </a:path>
            </a:pathLst>
          </a:custGeom>
          <a:noFill/>
          <a:ln w="19050">
            <a:solidFill>
              <a:srgbClr val="667783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AB8DEE75-9338-4CBF-B055-8EE7A81D598E}"/>
              </a:ext>
            </a:extLst>
          </p:cNvPr>
          <p:cNvSpPr>
            <a:spLocks noGrp="1"/>
          </p:cNvSpPr>
          <p:nvPr/>
        </p:nvSpPr>
        <p:spPr>
          <a:xfrm>
            <a:off x="10172700" y="419100"/>
            <a:ext cx="114300" cy="66675"/>
          </a:xfrm>
          <a:custGeom>
            <a:avLst/>
            <a:gdLst/>
            <a:ahLst/>
            <a:cxnLst/>
            <a:rect l="0" t="0" r="0" b="0"/>
            <a:pathLst>
              <a:path w="114300" h="66675">
                <a:moveTo>
                  <a:pt x="0" y="66675"/>
                </a:moveTo>
                <a:lnTo>
                  <a:pt x="114300" y="0"/>
                </a:lnTo>
              </a:path>
            </a:pathLst>
          </a:custGeom>
          <a:noFill/>
          <a:ln w="19050">
            <a:solidFill>
              <a:srgbClr val="667783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98D109-EF9E-41AE-A983-18BECC58C04B}"/>
              </a:ext>
            </a:extLst>
          </p:cNvPr>
          <p:cNvSpPr>
            <a:spLocks noGrp="1"/>
          </p:cNvSpPr>
          <p:nvPr/>
        </p:nvSpPr>
        <p:spPr>
          <a:xfrm>
            <a:off x="523875" y="904875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  9WUP · FMN (B:1103)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14DEF1-B4C9-495F-B265-D59C0A808A90}"/>
              </a:ext>
            </a:extLst>
          </p:cNvPr>
          <p:cNvSpPr>
            <a:spLocks noGrp="1"/>
          </p:cNvSpPr>
          <p:nvPr/>
        </p:nvSpPr>
        <p:spPr>
          <a:xfrm>
            <a:off x="523875" y="1323975"/>
            <a:ext cx="4953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Out-of-scope foreground precedes ligand</a:t>
            </a:r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8625" y="1668066"/>
            <a:ext cx="4619625" cy="3464719"/>
          </a:xfrm>
          <a:prstGeom prst="rect">
            <a:avLst/>
          </a:prstGeom>
        </p:spPr>
      </p:pic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5BC1B103-1996-4617-A0DB-A4B7B81DF568}"/>
              </a:ext>
            </a:extLst>
          </p:cNvPr>
          <p:cNvSpPr>
            <a:spLocks noGrp="1"/>
          </p:cNvSpPr>
          <p:nvPr/>
        </p:nvSpPr>
        <p:spPr>
          <a:xfrm>
            <a:off x="2052295" y="3539109"/>
            <a:ext cx="288855" cy="299816"/>
          </a:xfrm>
          <a:custGeom>
            <a:avLst/>
            <a:gdLst/>
            <a:ahLst/>
            <a:cxnLst/>
            <a:rect l="0" t="0" r="0" b="0"/>
            <a:pathLst>
              <a:path w="288855" h="299816">
                <a:moveTo>
                  <a:pt x="0" y="299816"/>
                </a:moveTo>
                <a:lnTo>
                  <a:pt x="288855" y="0"/>
                </a:lnTo>
              </a:path>
            </a:pathLst>
          </a:custGeom>
          <a:noFill/>
          <a:ln w="19050">
            <a:solidFill>
              <a:srgbClr val="E9983C"/>
            </a:solidFill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B9AB2E3-2976-4901-8B70-2EF304D0C4FE}"/>
              </a:ext>
            </a:extLst>
          </p:cNvPr>
          <p:cNvSpPr>
            <a:spLocks noGrp="1"/>
          </p:cNvSpPr>
          <p:nvPr/>
        </p:nvSpPr>
        <p:spPr>
          <a:xfrm>
            <a:off x="1716405" y="3799332"/>
            <a:ext cx="381000" cy="3810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DA437AA-A45C-405A-9F15-8430F04ECE85}"/>
              </a:ext>
            </a:extLst>
          </p:cNvPr>
          <p:cNvSpPr>
            <a:spLocks noGrp="1"/>
          </p:cNvSpPr>
          <p:nvPr/>
        </p:nvSpPr>
        <p:spPr>
          <a:xfrm>
            <a:off x="523875" y="5172075"/>
            <a:ext cx="50006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Site rank 3 · charged attempt 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3FEB14-B6A4-4896-B8F9-4B501A96882B}"/>
              </a:ext>
            </a:extLst>
          </p:cNvPr>
          <p:cNvSpPr>
            <a:spLocks noGrp="1"/>
          </p:cNvSpPr>
          <p:nvPr/>
        </p:nvSpPr>
        <p:spPr>
          <a:xfrm>
            <a:off x="523875" y="5524500"/>
            <a:ext cx="528637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58A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58A74"/>
                </a:solidFill>
                <a:latin typeface="Arial"/>
                <a:ea typeface="Arial"/>
                <a:cs typeface="Arial"/>
              </a:rPr>
              <a:t>Earlier sites: Stage3 scope gate · free skip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FAAE02-A601-4B3B-9F2E-695619D61156}"/>
              </a:ext>
            </a:extLst>
          </p:cNvPr>
          <p:cNvSpPr>
            <a:spLocks noGrp="1"/>
          </p:cNvSpPr>
          <p:nvPr/>
        </p:nvSpPr>
        <p:spPr>
          <a:xfrm>
            <a:off x="5810250" y="1666875"/>
            <a:ext cx="381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16625" y="2000250"/>
            <a:ext cx="3492500" cy="261937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5A7BF039-3FFB-45B0-BD4E-CF2ED3E5BF35}"/>
              </a:ext>
            </a:extLst>
          </p:cNvPr>
          <p:cNvSpPr>
            <a:spLocks noGrp="1"/>
          </p:cNvSpPr>
          <p:nvPr/>
        </p:nvSpPr>
        <p:spPr>
          <a:xfrm>
            <a:off x="5810250" y="4810125"/>
            <a:ext cx="428625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4 eligible small-molecule SMILES</a:t>
            </a:r>
          </a:p>
          <a:p>
            <a:pPr>
              <a:defRPr sz="18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Exact SMILES match: FMN</a:t>
            </a:r>
          </a:p>
        </p:txBody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382250" y="1715691"/>
            <a:ext cx="4429125" cy="3321844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19B64630-A32E-42AB-BA2B-8645545EF290}"/>
              </a:ext>
            </a:extLst>
          </p:cNvPr>
          <p:cNvSpPr>
            <a:spLocks noGrp="1"/>
          </p:cNvSpPr>
          <p:nvPr/>
        </p:nvSpPr>
        <p:spPr>
          <a:xfrm>
            <a:off x="10572750" y="1666875"/>
            <a:ext cx="381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D67C05F-2B2F-4B0A-921D-E19C8A47BCC2}"/>
              </a:ext>
            </a:extLst>
          </p:cNvPr>
          <p:cNvSpPr>
            <a:spLocks noGrp="1"/>
          </p:cNvSpPr>
          <p:nvPr/>
        </p:nvSpPr>
        <p:spPr>
          <a:xfrm>
            <a:off x="10572750" y="5143500"/>
            <a:ext cx="4381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Self-ranking Top-1 · RMSD 0.52 Å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9A9BB2-DF74-4960-BB91-FBC4B5A11905}"/>
              </a:ext>
            </a:extLst>
          </p:cNvPr>
          <p:cNvSpPr>
            <a:spLocks noGrp="1"/>
          </p:cNvSpPr>
          <p:nvPr/>
        </p:nvSpPr>
        <p:spPr>
          <a:xfrm>
            <a:off x="523875" y="6096000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  9XZL · AGS (F:1001)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786938E-4023-42C0-A3EF-0270F0A41A1C}"/>
              </a:ext>
            </a:extLst>
          </p:cNvPr>
          <p:cNvSpPr>
            <a:spLocks noGrp="1"/>
          </p:cNvSpPr>
          <p:nvPr/>
        </p:nvSpPr>
        <p:spPr>
          <a:xfrm>
            <a:off x="523875" y="6515100"/>
            <a:ext cx="4953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Out-of-scope foreground precedes ligand</a:t>
            </a:r>
          </a:p>
        </p:txBody>
      </p:sp>
      <p:pic>
        <p:nvPicPr>
          <p:cNvPr id="72" name="图片 71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28625" y="6859191"/>
            <a:ext cx="4619625" cy="3464719"/>
          </a:xfrm>
          <a:prstGeom prst="rect">
            <a:avLst/>
          </a:prstGeom>
        </p:spPr>
      </p:pic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02870DD8-63E8-459E-B738-645985C9EEDB}"/>
              </a:ext>
            </a:extLst>
          </p:cNvPr>
          <p:cNvSpPr>
            <a:spLocks noGrp="1"/>
          </p:cNvSpPr>
          <p:nvPr/>
        </p:nvSpPr>
        <p:spPr>
          <a:xfrm>
            <a:off x="1875735" y="7926601"/>
            <a:ext cx="590145" cy="186490"/>
          </a:xfrm>
          <a:custGeom>
            <a:avLst/>
            <a:gdLst/>
            <a:ahLst/>
            <a:cxnLst/>
            <a:rect l="0" t="0" r="0" b="0"/>
            <a:pathLst>
              <a:path w="590145" h="186490">
                <a:moveTo>
                  <a:pt x="0" y="0"/>
                </a:moveTo>
                <a:lnTo>
                  <a:pt x="590145" y="186490"/>
                </a:lnTo>
              </a:path>
            </a:pathLst>
          </a:custGeom>
          <a:noFill/>
          <a:ln w="19050">
            <a:solidFill>
              <a:srgbClr val="958A74"/>
            </a:solidFill>
          </a:ln>
        </p:spPr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2EC09497-B02A-4134-B228-D004E52DA406}"/>
              </a:ext>
            </a:extLst>
          </p:cNvPr>
          <p:cNvSpPr>
            <a:spLocks noGrp="1"/>
          </p:cNvSpPr>
          <p:nvPr/>
        </p:nvSpPr>
        <p:spPr>
          <a:xfrm>
            <a:off x="1485424" y="7672959"/>
            <a:ext cx="381000" cy="3810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958A7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58A7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14262A81-59EF-408F-B1DE-7C11FE78CB49}"/>
              </a:ext>
            </a:extLst>
          </p:cNvPr>
          <p:cNvSpPr>
            <a:spLocks noGrp="1"/>
          </p:cNvSpPr>
          <p:nvPr/>
        </p:nvSpPr>
        <p:spPr>
          <a:xfrm>
            <a:off x="3154204" y="8799576"/>
            <a:ext cx="590595" cy="234662"/>
          </a:xfrm>
          <a:custGeom>
            <a:avLst/>
            <a:gdLst/>
            <a:ahLst/>
            <a:cxnLst/>
            <a:rect l="0" t="0" r="0" b="0"/>
            <a:pathLst>
              <a:path w="590595" h="234662">
                <a:moveTo>
                  <a:pt x="590595" y="234662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E9983C"/>
            </a:solidFill>
          </a:ln>
        </p:spPr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4CC0F996-3634-4613-A337-E09FAAABC1A1}"/>
              </a:ext>
            </a:extLst>
          </p:cNvPr>
          <p:cNvSpPr>
            <a:spLocks noGrp="1"/>
          </p:cNvSpPr>
          <p:nvPr/>
        </p:nvSpPr>
        <p:spPr>
          <a:xfrm>
            <a:off x="3749040" y="8921115"/>
            <a:ext cx="381000" cy="3810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33B0C6F-DDCB-4793-85A2-D4EF06EE7D6D}"/>
              </a:ext>
            </a:extLst>
          </p:cNvPr>
          <p:cNvSpPr>
            <a:spLocks noGrp="1"/>
          </p:cNvSpPr>
          <p:nvPr/>
        </p:nvSpPr>
        <p:spPr>
          <a:xfrm>
            <a:off x="523875" y="10363200"/>
            <a:ext cx="50006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Site rank 2 · charged attempt 1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26AD44D-F51B-44E8-873D-5A909E44EDFA}"/>
              </a:ext>
            </a:extLst>
          </p:cNvPr>
          <p:cNvSpPr>
            <a:spLocks noGrp="1"/>
          </p:cNvSpPr>
          <p:nvPr/>
        </p:nvSpPr>
        <p:spPr>
          <a:xfrm>
            <a:off x="523875" y="10715625"/>
            <a:ext cx="528637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958A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58A74"/>
                </a:solidFill>
                <a:latin typeface="Arial"/>
                <a:ea typeface="Arial"/>
                <a:cs typeface="Arial"/>
              </a:rPr>
              <a:t>Earlier sites: Stage3 scope gate · free skip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42006E8-9617-4912-BC48-B8297D93C3AC}"/>
              </a:ext>
            </a:extLst>
          </p:cNvPr>
          <p:cNvSpPr>
            <a:spLocks noGrp="1"/>
          </p:cNvSpPr>
          <p:nvPr/>
        </p:nvSpPr>
        <p:spPr>
          <a:xfrm>
            <a:off x="5810250" y="6858000"/>
            <a:ext cx="381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pic>
        <p:nvPicPr>
          <p:cNvPr id="80" name="图片 79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016625" y="7191375"/>
            <a:ext cx="3492500" cy="2619375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EA7C468F-752F-435A-88E3-717AFF0B4B82}"/>
              </a:ext>
            </a:extLst>
          </p:cNvPr>
          <p:cNvSpPr>
            <a:spLocks noGrp="1"/>
          </p:cNvSpPr>
          <p:nvPr/>
        </p:nvSpPr>
        <p:spPr>
          <a:xfrm>
            <a:off x="5810250" y="10001250"/>
            <a:ext cx="428625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1 eligible small-molecule SMILES</a:t>
            </a:r>
          </a:p>
          <a:p>
            <a:pPr>
              <a:defRPr sz="18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Exact SMILES match: AGS</a:t>
            </a: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382250" y="6906816"/>
            <a:ext cx="4429125" cy="3321844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C5E925D0-0CA1-46B6-9098-E17D35266BB3}"/>
              </a:ext>
            </a:extLst>
          </p:cNvPr>
          <p:cNvSpPr>
            <a:spLocks noGrp="1"/>
          </p:cNvSpPr>
          <p:nvPr/>
        </p:nvSpPr>
        <p:spPr>
          <a:xfrm>
            <a:off x="10572750" y="6858000"/>
            <a:ext cx="381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B44E10E-3C0A-41FD-8DD7-FA165AE2FCEC}"/>
              </a:ext>
            </a:extLst>
          </p:cNvPr>
          <p:cNvSpPr>
            <a:spLocks noGrp="1"/>
          </p:cNvSpPr>
          <p:nvPr/>
        </p:nvSpPr>
        <p:spPr>
          <a:xfrm>
            <a:off x="10572750" y="10334625"/>
            <a:ext cx="4381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Self-ranking Top-1 · RMSD 0.91 Å</a:t>
            </a: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91DA6B80-990B-4700-9C24-3D3D3305667E}"/>
              </a:ext>
            </a:extLst>
          </p:cNvPr>
          <p:cNvSpPr>
            <a:spLocks noGrp="1"/>
          </p:cNvSpPr>
          <p:nvPr/>
        </p:nvSpPr>
        <p:spPr>
          <a:xfrm>
            <a:off x="52387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81767D9-E32B-42F4-854A-2B2BD29B6CAD}"/>
              </a:ext>
            </a:extLst>
          </p:cNvPr>
          <p:cNvSpPr>
            <a:spLocks noGrp="1"/>
          </p:cNvSpPr>
          <p:nvPr/>
        </p:nvSpPr>
        <p:spPr>
          <a:xfrm>
            <a:off x="87630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CA2 receptor</a:t>
            </a: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64ED370B-8A72-4847-940B-843CBC0FB542}"/>
              </a:ext>
            </a:extLst>
          </p:cNvPr>
          <p:cNvSpPr>
            <a:spLocks noGrp="1"/>
          </p:cNvSpPr>
          <p:nvPr/>
        </p:nvSpPr>
        <p:spPr>
          <a:xfrm>
            <a:off x="3409950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A0A9AD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CF1CD36-711E-42E3-8F0F-CDEEC3746950}"/>
              </a:ext>
            </a:extLst>
          </p:cNvPr>
          <p:cNvSpPr>
            <a:spLocks noGrp="1"/>
          </p:cNvSpPr>
          <p:nvPr/>
        </p:nvSpPr>
        <p:spPr>
          <a:xfrm>
            <a:off x="3762375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1B483BA0-4F12-4C7E-BAFD-8D5B04971D1E}"/>
              </a:ext>
            </a:extLst>
          </p:cNvPr>
          <p:cNvSpPr>
            <a:spLocks noGrp="1"/>
          </p:cNvSpPr>
          <p:nvPr/>
        </p:nvSpPr>
        <p:spPr>
          <a:xfrm>
            <a:off x="629602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82483F7-B566-468A-B581-D5012FFAF4E8}"/>
              </a:ext>
            </a:extLst>
          </p:cNvPr>
          <p:cNvSpPr>
            <a:spLocks noGrp="1"/>
          </p:cNvSpPr>
          <p:nvPr/>
        </p:nvSpPr>
        <p:spPr>
          <a:xfrm>
            <a:off x="664845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Predicted blob</a:t>
            </a: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03725435-3264-4FD6-B31A-12C9AD388812}"/>
              </a:ext>
            </a:extLst>
          </p:cNvPr>
          <p:cNvSpPr>
            <a:spLocks noGrp="1"/>
          </p:cNvSpPr>
          <p:nvPr/>
        </p:nvSpPr>
        <p:spPr>
          <a:xfrm>
            <a:off x="9182100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790A930-6795-444F-A267-F07935D73BC1}"/>
              </a:ext>
            </a:extLst>
          </p:cNvPr>
          <p:cNvSpPr>
            <a:spLocks noGrp="1"/>
          </p:cNvSpPr>
          <p:nvPr/>
        </p:nvSpPr>
        <p:spPr>
          <a:xfrm>
            <a:off x="9534525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Top-1 pose</a:t>
            </a:r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470F8AA2-5435-4832-8755-4CD7F0AD6433}"/>
              </a:ext>
            </a:extLst>
          </p:cNvPr>
          <p:cNvSpPr>
            <a:spLocks noGrp="1"/>
          </p:cNvSpPr>
          <p:nvPr/>
        </p:nvSpPr>
        <p:spPr>
          <a:xfrm>
            <a:off x="1206817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62E59D7-5E49-4939-B9AE-101B09D1594C}"/>
              </a:ext>
            </a:extLst>
          </p:cNvPr>
          <p:cNvSpPr>
            <a:spLocks noGrp="1"/>
          </p:cNvSpPr>
          <p:nvPr/>
        </p:nvSpPr>
        <p:spPr>
          <a:xfrm>
            <a:off x="1242060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Deposited ligand</a:t>
            </a:r>
          </a:p>
        </p:txBody>
      </p:sp>
    </p:spTree>
    <p:extLst>
      <p:ext uri="{BB962C8B-B14F-4D97-AF65-F5344CB8AC3E}">
        <p14:creationId xmlns:p14="http://schemas.microsoft.com/office/powerpoint/2010/main" val="335040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B7740A5B-6F25-4068-998A-2FD3159C500B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9048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9BJJ · ATP (B:901)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8D4F9AE-F3E1-461A-9113-22DA4E55839D}"/>
              </a:ext>
            </a:extLst>
          </p:cNvPr>
          <p:cNvSpPr>
            <a:spLocks noGrp="1"/>
          </p:cNvSpPr>
          <p:nvPr/>
        </p:nvSpPr>
        <p:spPr>
          <a:xfrm>
            <a:off x="523875" y="714375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First-ranked site succeeds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47AF90-84F4-4D75-9B0A-34B53AE83EB1}"/>
              </a:ext>
            </a:extLst>
          </p:cNvPr>
          <p:cNvSpPr>
            <a:spLocks noGrp="1"/>
          </p:cNvSpPr>
          <p:nvPr/>
        </p:nvSpPr>
        <p:spPr>
          <a:xfrm>
            <a:off x="523875" y="12192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81000" y="1695450"/>
            <a:ext cx="6667500" cy="500062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7919935-307A-4820-A78C-E879C432441C}"/>
              </a:ext>
            </a:extLst>
          </p:cNvPr>
          <p:cNvSpPr>
            <a:spLocks noGrp="1"/>
          </p:cNvSpPr>
          <p:nvPr/>
        </p:nvSpPr>
        <p:spPr>
          <a:xfrm>
            <a:off x="523875" y="6705600"/>
            <a:ext cx="6286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Site rank 1 · charged attempt 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D21D50-4A2E-4928-B885-0F5844A050C5}"/>
              </a:ext>
            </a:extLst>
          </p:cNvPr>
          <p:cNvSpPr>
            <a:spLocks noGrp="1"/>
          </p:cNvSpPr>
          <p:nvPr/>
        </p:nvSpPr>
        <p:spPr>
          <a:xfrm>
            <a:off x="523875" y="7096125"/>
            <a:ext cx="6381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#1  p=0.982  target ligand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45CDF4-A8D8-489E-BB9F-DE268FBFF314}"/>
              </a:ext>
            </a:extLst>
          </p:cNvPr>
          <p:cNvSpPr>
            <a:spLocks noGrp="1"/>
          </p:cNvSpPr>
          <p:nvPr/>
        </p:nvSpPr>
        <p:spPr>
          <a:xfrm>
            <a:off x="7762875" y="12192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381875" y="1638300"/>
            <a:ext cx="3810000" cy="28575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96532CB-ADDC-48EE-9A8F-80F8EE9102F4}"/>
              </a:ext>
            </a:extLst>
          </p:cNvPr>
          <p:cNvSpPr>
            <a:spLocks noGrp="1"/>
          </p:cNvSpPr>
          <p:nvPr/>
        </p:nvSpPr>
        <p:spPr>
          <a:xfrm>
            <a:off x="11525250" y="1857375"/>
            <a:ext cx="3143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ATP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188D65-8744-4141-8395-21610561329C}"/>
              </a:ext>
            </a:extLst>
          </p:cNvPr>
          <p:cNvSpPr>
            <a:spLocks noGrp="1"/>
          </p:cNvSpPr>
          <p:nvPr/>
        </p:nvSpPr>
        <p:spPr>
          <a:xfrm>
            <a:off x="11525250" y="2428875"/>
            <a:ext cx="3333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2 eligible small-molecule</a:t>
            </a:r>
          </a:p>
          <a:p>
            <a:pPr>
              <a:defRPr sz="187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SMILES identities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B619D7-26E0-4177-B804-B475D7F688CC}"/>
              </a:ext>
            </a:extLst>
          </p:cNvPr>
          <p:cNvSpPr>
            <a:spLocks noGrp="1"/>
          </p:cNvSpPr>
          <p:nvPr/>
        </p:nvSpPr>
        <p:spPr>
          <a:xfrm>
            <a:off x="11525250" y="3524250"/>
            <a:ext cx="328612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Exact SMILES match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EDE31B-822C-4C8B-9493-EA62923035FB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685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Build · self-ranking Top-1</a:t>
            </a: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667625" y="5334000"/>
            <a:ext cx="7048500" cy="528637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590B808-0CE9-4026-8372-0486048355A8}"/>
              </a:ext>
            </a:extLst>
          </p:cNvPr>
          <p:cNvSpPr>
            <a:spLocks noGrp="1"/>
          </p:cNvSpPr>
          <p:nvPr/>
        </p:nvSpPr>
        <p:spPr>
          <a:xfrm>
            <a:off x="7762875" y="1068705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RMSD 0.80 Å · Clash 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419F19-0DBF-46E8-A7E0-677D32B24FBC}"/>
              </a:ext>
            </a:extLst>
          </p:cNvPr>
          <p:cNvSpPr>
            <a:spLocks noGrp="1"/>
          </p:cNvSpPr>
          <p:nvPr/>
        </p:nvSpPr>
        <p:spPr>
          <a:xfrm>
            <a:off x="523875" y="8477250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region (reference)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6388AD-475D-4798-A99B-A2D07E2878B5}"/>
              </a:ext>
            </a:extLst>
          </p:cNvPr>
          <p:cNvSpPr>
            <a:spLocks noGrp="1"/>
          </p:cNvSpPr>
          <p:nvPr/>
        </p:nvSpPr>
        <p:spPr>
          <a:xfrm>
            <a:off x="4048125" y="84772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Predicted blob + CA2</a:t>
            </a: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81000" y="8877300"/>
            <a:ext cx="3238500" cy="2428875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952875" y="8877300"/>
            <a:ext cx="3238500" cy="2428875"/>
          </a:xfrm>
          <a:prstGeom prst="rect">
            <a:avLst/>
          </a:prstGeom>
        </p:spPr>
      </p:pic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280A9AE9-6F39-42E6-B923-61ADFECB50FA}"/>
              </a:ext>
            </a:extLst>
          </p:cNvPr>
          <p:cNvSpPr>
            <a:spLocks noGrp="1"/>
          </p:cNvSpPr>
          <p:nvPr/>
        </p:nvSpPr>
        <p:spPr>
          <a:xfrm>
            <a:off x="52387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7C1BF2-B892-4EF6-ACE1-E918DB8E8056}"/>
              </a:ext>
            </a:extLst>
          </p:cNvPr>
          <p:cNvSpPr>
            <a:spLocks noGrp="1"/>
          </p:cNvSpPr>
          <p:nvPr/>
        </p:nvSpPr>
        <p:spPr>
          <a:xfrm>
            <a:off x="87630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D5589969-F6C2-4E1F-AF5D-DA286EF2B39B}"/>
              </a:ext>
            </a:extLst>
          </p:cNvPr>
          <p:cNvSpPr>
            <a:spLocks noGrp="1"/>
          </p:cNvSpPr>
          <p:nvPr/>
        </p:nvSpPr>
        <p:spPr>
          <a:xfrm>
            <a:off x="3409950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A0A9AD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F2EF577-350A-4D39-BA0E-6FDB5B1BEF31}"/>
              </a:ext>
            </a:extLst>
          </p:cNvPr>
          <p:cNvSpPr>
            <a:spLocks noGrp="1"/>
          </p:cNvSpPr>
          <p:nvPr/>
        </p:nvSpPr>
        <p:spPr>
          <a:xfrm>
            <a:off x="3762375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1B20DF00-7099-45BE-829A-2D65A143D84A}"/>
              </a:ext>
            </a:extLst>
          </p:cNvPr>
          <p:cNvSpPr>
            <a:spLocks noGrp="1"/>
          </p:cNvSpPr>
          <p:nvPr/>
        </p:nvSpPr>
        <p:spPr>
          <a:xfrm>
            <a:off x="629602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03F830B-8CFA-42D3-A09E-5386E05F378A}"/>
              </a:ext>
            </a:extLst>
          </p:cNvPr>
          <p:cNvSpPr>
            <a:spLocks noGrp="1"/>
          </p:cNvSpPr>
          <p:nvPr/>
        </p:nvSpPr>
        <p:spPr>
          <a:xfrm>
            <a:off x="664845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Predicted blob</a:t>
            </a: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3D141A77-8AA0-4FA0-9448-C8E3DAC56CA6}"/>
              </a:ext>
            </a:extLst>
          </p:cNvPr>
          <p:cNvSpPr>
            <a:spLocks noGrp="1"/>
          </p:cNvSpPr>
          <p:nvPr/>
        </p:nvSpPr>
        <p:spPr>
          <a:xfrm>
            <a:off x="9182100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6907D4E-3DED-4CB5-AA49-42AF8F2FF50F}"/>
              </a:ext>
            </a:extLst>
          </p:cNvPr>
          <p:cNvSpPr>
            <a:spLocks noGrp="1"/>
          </p:cNvSpPr>
          <p:nvPr/>
        </p:nvSpPr>
        <p:spPr>
          <a:xfrm>
            <a:off x="9534525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Top-1 pose</a:t>
            </a: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CC66E380-6AA5-41B4-BCC1-45244DA0B295}"/>
              </a:ext>
            </a:extLst>
          </p:cNvPr>
          <p:cNvSpPr>
            <a:spLocks noGrp="1"/>
          </p:cNvSpPr>
          <p:nvPr/>
        </p:nvSpPr>
        <p:spPr>
          <a:xfrm>
            <a:off x="1206817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8FC47F1-82CF-4366-93F8-761E4D1A21C7}"/>
              </a:ext>
            </a:extLst>
          </p:cNvPr>
          <p:cNvSpPr>
            <a:spLocks noGrp="1"/>
          </p:cNvSpPr>
          <p:nvPr/>
        </p:nvSpPr>
        <p:spPr>
          <a:xfrm>
            <a:off x="1242060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Deposited ligand</a:t>
            </a:r>
          </a:p>
        </p:txBody>
      </p:sp>
    </p:spTree>
    <p:extLst>
      <p:ext uri="{BB962C8B-B14F-4D97-AF65-F5344CB8AC3E}">
        <p14:creationId xmlns:p14="http://schemas.microsoft.com/office/powerpoint/2010/main" val="161902866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0333960E-E658-4D14-91F2-DA2F6860A9E2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9048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30GA · ATP (N:401)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E4738E-4BB0-47EE-B75B-34C4CD8ECDF9}"/>
              </a:ext>
            </a:extLst>
          </p:cNvPr>
          <p:cNvSpPr>
            <a:spLocks noGrp="1"/>
          </p:cNvSpPr>
          <p:nvPr/>
        </p:nvSpPr>
        <p:spPr>
          <a:xfrm>
            <a:off x="523875" y="714375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Background first, ligand second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E28480-CB96-4A2E-9FE0-DC6262470357}"/>
              </a:ext>
            </a:extLst>
          </p:cNvPr>
          <p:cNvSpPr>
            <a:spLocks noGrp="1"/>
          </p:cNvSpPr>
          <p:nvPr/>
        </p:nvSpPr>
        <p:spPr>
          <a:xfrm>
            <a:off x="523875" y="12192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81000" y="1695450"/>
            <a:ext cx="6667500" cy="5000625"/>
          </a:xfrm>
          <a:prstGeom prst="rect">
            <a:avLst/>
          </a:prstGeom>
        </p:spPr>
      </p:pic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587679DE-7A1E-418B-A3A6-A46709BF06B4}"/>
              </a:ext>
            </a:extLst>
          </p:cNvPr>
          <p:cNvSpPr>
            <a:spLocks noGrp="1"/>
          </p:cNvSpPr>
          <p:nvPr/>
        </p:nvSpPr>
        <p:spPr>
          <a:xfrm>
            <a:off x="3189028" y="2223275"/>
            <a:ext cx="1139132" cy="152260"/>
          </a:xfrm>
          <a:custGeom>
            <a:avLst/>
            <a:gdLst/>
            <a:ahLst/>
            <a:cxnLst/>
            <a:rect l="0" t="0" r="0" b="0"/>
            <a:pathLst>
              <a:path w="1139132" h="152260">
                <a:moveTo>
                  <a:pt x="0" y="0"/>
                </a:moveTo>
                <a:lnTo>
                  <a:pt x="1139132" y="152260"/>
                </a:lnTo>
              </a:path>
            </a:pathLst>
          </a:custGeom>
          <a:noFill/>
          <a:ln w="19050">
            <a:solidFill>
              <a:srgbClr val="9F87A9"/>
            </a:solidFill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1E8F6FF-01F9-4822-B8DE-FCF6F23CED2E}"/>
              </a:ext>
            </a:extLst>
          </p:cNvPr>
          <p:cNvSpPr>
            <a:spLocks noGrp="1"/>
          </p:cNvSpPr>
          <p:nvPr/>
        </p:nvSpPr>
        <p:spPr>
          <a:xfrm>
            <a:off x="2790825" y="2005013"/>
            <a:ext cx="381000" cy="3810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9F87A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F87A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61B587B2-F083-446D-A508-99D62BC59AAB}"/>
              </a:ext>
            </a:extLst>
          </p:cNvPr>
          <p:cNvSpPr>
            <a:spLocks noGrp="1"/>
          </p:cNvSpPr>
          <p:nvPr/>
        </p:nvSpPr>
        <p:spPr>
          <a:xfrm>
            <a:off x="2253573" y="5715953"/>
            <a:ext cx="1234482" cy="240038"/>
          </a:xfrm>
          <a:custGeom>
            <a:avLst/>
            <a:gdLst/>
            <a:ahLst/>
            <a:cxnLst/>
            <a:rect l="0" t="0" r="0" b="0"/>
            <a:pathLst>
              <a:path w="1234482" h="240038">
                <a:moveTo>
                  <a:pt x="0" y="240038"/>
                </a:moveTo>
                <a:lnTo>
                  <a:pt x="1234482" y="0"/>
                </a:lnTo>
              </a:path>
            </a:pathLst>
          </a:custGeom>
          <a:noFill/>
          <a:ln w="19050">
            <a:solidFill>
              <a:srgbClr val="E9983C"/>
            </a:solidFill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3A59B21-FE0B-4175-B837-C2E38D6C6D82}"/>
              </a:ext>
            </a:extLst>
          </p:cNvPr>
          <p:cNvSpPr>
            <a:spLocks noGrp="1"/>
          </p:cNvSpPr>
          <p:nvPr/>
        </p:nvSpPr>
        <p:spPr>
          <a:xfrm>
            <a:off x="1857375" y="5805488"/>
            <a:ext cx="381000" cy="3810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CC43E7-C115-4811-94C9-6149A18DE0FF}"/>
              </a:ext>
            </a:extLst>
          </p:cNvPr>
          <p:cNvSpPr>
            <a:spLocks noGrp="1"/>
          </p:cNvSpPr>
          <p:nvPr/>
        </p:nvSpPr>
        <p:spPr>
          <a:xfrm>
            <a:off x="523875" y="6705600"/>
            <a:ext cx="6286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Site rank 2 · charged attempt 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CBA4E50-76DC-458C-A634-E82A1C455390}"/>
              </a:ext>
            </a:extLst>
          </p:cNvPr>
          <p:cNvSpPr>
            <a:spLocks noGrp="1"/>
          </p:cNvSpPr>
          <p:nvPr/>
        </p:nvSpPr>
        <p:spPr>
          <a:xfrm>
            <a:off x="523875" y="7096125"/>
            <a:ext cx="6381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9F87A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F87A9"/>
                </a:solidFill>
                <a:latin typeface="Arial"/>
                <a:ea typeface="Arial"/>
                <a:cs typeface="Arial"/>
              </a:rPr>
              <a:t>#1  p=0.984  background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C0DE0C-101A-41B9-868E-A4AE3A4B01F7}"/>
              </a:ext>
            </a:extLst>
          </p:cNvPr>
          <p:cNvSpPr>
            <a:spLocks noGrp="1"/>
          </p:cNvSpPr>
          <p:nvPr/>
        </p:nvSpPr>
        <p:spPr>
          <a:xfrm>
            <a:off x="523875" y="7429500"/>
            <a:ext cx="6381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#2  p=0.982  target ligand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83B9D7A-86D2-456C-947C-3B5C9AA8E69F}"/>
              </a:ext>
            </a:extLst>
          </p:cNvPr>
          <p:cNvSpPr>
            <a:spLocks noGrp="1"/>
          </p:cNvSpPr>
          <p:nvPr/>
        </p:nvSpPr>
        <p:spPr>
          <a:xfrm>
            <a:off x="7762875" y="12192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381875" y="1638300"/>
            <a:ext cx="3810000" cy="28575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6101BC96-FAE9-4B34-ACC7-1794268B2E13}"/>
              </a:ext>
            </a:extLst>
          </p:cNvPr>
          <p:cNvSpPr>
            <a:spLocks noGrp="1"/>
          </p:cNvSpPr>
          <p:nvPr/>
        </p:nvSpPr>
        <p:spPr>
          <a:xfrm>
            <a:off x="11525250" y="1857375"/>
            <a:ext cx="3143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ATP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6081145-A52E-4C88-B62A-7AE4775844C1}"/>
              </a:ext>
            </a:extLst>
          </p:cNvPr>
          <p:cNvSpPr>
            <a:spLocks noGrp="1"/>
          </p:cNvSpPr>
          <p:nvPr/>
        </p:nvSpPr>
        <p:spPr>
          <a:xfrm>
            <a:off x="11525250" y="2428875"/>
            <a:ext cx="3333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1 eligible small-molecule</a:t>
            </a:r>
          </a:p>
          <a:p>
            <a:pPr>
              <a:defRPr sz="187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SMILES identities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C881967-9197-43B0-839B-243F62F33B56}"/>
              </a:ext>
            </a:extLst>
          </p:cNvPr>
          <p:cNvSpPr>
            <a:spLocks noGrp="1"/>
          </p:cNvSpPr>
          <p:nvPr/>
        </p:nvSpPr>
        <p:spPr>
          <a:xfrm>
            <a:off x="11525250" y="3524250"/>
            <a:ext cx="328612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Exact SMILES match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626711-9DEA-4BC9-B2EB-A39C7C952FBF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685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Build · self-ranking Top-1</a:t>
            </a: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667625" y="5334000"/>
            <a:ext cx="7048500" cy="528637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D11507A2-978A-4E3A-AF52-4BCB343B5462}"/>
              </a:ext>
            </a:extLst>
          </p:cNvPr>
          <p:cNvSpPr>
            <a:spLocks noGrp="1"/>
          </p:cNvSpPr>
          <p:nvPr/>
        </p:nvSpPr>
        <p:spPr>
          <a:xfrm>
            <a:off x="7762875" y="1068705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RMSD 1.04 Å · Clash 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D170CE4-1574-412D-A79A-A198787447FF}"/>
              </a:ext>
            </a:extLst>
          </p:cNvPr>
          <p:cNvSpPr>
            <a:spLocks noGrp="1"/>
          </p:cNvSpPr>
          <p:nvPr/>
        </p:nvSpPr>
        <p:spPr>
          <a:xfrm>
            <a:off x="523875" y="8477250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region (reference)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1A22-20F9-4D96-956A-5737FEB14F21}"/>
              </a:ext>
            </a:extLst>
          </p:cNvPr>
          <p:cNvSpPr>
            <a:spLocks noGrp="1"/>
          </p:cNvSpPr>
          <p:nvPr/>
        </p:nvSpPr>
        <p:spPr>
          <a:xfrm>
            <a:off x="4048125" y="84772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Predicted blob + CA2</a:t>
            </a: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81000" y="8877300"/>
            <a:ext cx="3238500" cy="2428875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952875" y="8877300"/>
            <a:ext cx="3238500" cy="2428875"/>
          </a:xfrm>
          <a:prstGeom prst="rect">
            <a:avLst/>
          </a:prstGeom>
        </p:spPr>
      </p:pic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FEF8A327-58CB-4DE9-8D1A-3C7B8054B41B}"/>
              </a:ext>
            </a:extLst>
          </p:cNvPr>
          <p:cNvSpPr>
            <a:spLocks noGrp="1"/>
          </p:cNvSpPr>
          <p:nvPr/>
        </p:nvSpPr>
        <p:spPr>
          <a:xfrm>
            <a:off x="52387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A2B2D2F-DA27-442B-838D-92C1622B665D}"/>
              </a:ext>
            </a:extLst>
          </p:cNvPr>
          <p:cNvSpPr>
            <a:spLocks noGrp="1"/>
          </p:cNvSpPr>
          <p:nvPr/>
        </p:nvSpPr>
        <p:spPr>
          <a:xfrm>
            <a:off x="87630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0BB4AA77-656F-45F7-80B8-2B736655E2C1}"/>
              </a:ext>
            </a:extLst>
          </p:cNvPr>
          <p:cNvSpPr>
            <a:spLocks noGrp="1"/>
          </p:cNvSpPr>
          <p:nvPr/>
        </p:nvSpPr>
        <p:spPr>
          <a:xfrm>
            <a:off x="3409950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A0A9AD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2EC7B60-FA69-44C4-B007-34FF074B3D68}"/>
              </a:ext>
            </a:extLst>
          </p:cNvPr>
          <p:cNvSpPr>
            <a:spLocks noGrp="1"/>
          </p:cNvSpPr>
          <p:nvPr/>
        </p:nvSpPr>
        <p:spPr>
          <a:xfrm>
            <a:off x="3762375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D6E620C3-B372-4FE1-BF09-4546CCFD006E}"/>
              </a:ext>
            </a:extLst>
          </p:cNvPr>
          <p:cNvSpPr>
            <a:spLocks noGrp="1"/>
          </p:cNvSpPr>
          <p:nvPr/>
        </p:nvSpPr>
        <p:spPr>
          <a:xfrm>
            <a:off x="629602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E161A5C-347C-496B-9D57-A46202A8EB8C}"/>
              </a:ext>
            </a:extLst>
          </p:cNvPr>
          <p:cNvSpPr>
            <a:spLocks noGrp="1"/>
          </p:cNvSpPr>
          <p:nvPr/>
        </p:nvSpPr>
        <p:spPr>
          <a:xfrm>
            <a:off x="664845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Predicted blob</a:t>
            </a:r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C1C745A9-A62B-428A-90D9-CBF37790ADEA}"/>
              </a:ext>
            </a:extLst>
          </p:cNvPr>
          <p:cNvSpPr>
            <a:spLocks noGrp="1"/>
          </p:cNvSpPr>
          <p:nvPr/>
        </p:nvSpPr>
        <p:spPr>
          <a:xfrm>
            <a:off x="9182100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EDB587E-6762-4FB9-A26C-99FB1DAB33C2}"/>
              </a:ext>
            </a:extLst>
          </p:cNvPr>
          <p:cNvSpPr>
            <a:spLocks noGrp="1"/>
          </p:cNvSpPr>
          <p:nvPr/>
        </p:nvSpPr>
        <p:spPr>
          <a:xfrm>
            <a:off x="9534525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Top-1 pose</a:t>
            </a:r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1FB6B2F0-16BB-45D3-867A-5C8645AB96C7}"/>
              </a:ext>
            </a:extLst>
          </p:cNvPr>
          <p:cNvSpPr>
            <a:spLocks noGrp="1"/>
          </p:cNvSpPr>
          <p:nvPr/>
        </p:nvSpPr>
        <p:spPr>
          <a:xfrm>
            <a:off x="1206817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C74F99B-464D-4D41-874A-104B4ACF6EC5}"/>
              </a:ext>
            </a:extLst>
          </p:cNvPr>
          <p:cNvSpPr>
            <a:spLocks noGrp="1"/>
          </p:cNvSpPr>
          <p:nvPr/>
        </p:nvSpPr>
        <p:spPr>
          <a:xfrm>
            <a:off x="1242060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Deposited ligand</a:t>
            </a:r>
          </a:p>
        </p:txBody>
      </p:sp>
    </p:spTree>
    <p:extLst>
      <p:ext uri="{BB962C8B-B14F-4D97-AF65-F5344CB8AC3E}">
        <p14:creationId xmlns:p14="http://schemas.microsoft.com/office/powerpoint/2010/main" val="2398560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1F92B5E5-C6C0-4C4A-A912-FCE5C9920D81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9048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9LLG · A1EKL (R:602)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1C7DA9-543C-42BC-A8B0-073C65ABDB3A}"/>
              </a:ext>
            </a:extLst>
          </p:cNvPr>
          <p:cNvSpPr>
            <a:spLocks noGrp="1"/>
          </p:cNvSpPr>
          <p:nvPr/>
        </p:nvSpPr>
        <p:spPr>
          <a:xfrm>
            <a:off x="523875" y="714375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First-ranked site succeeds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AC68AF-CC08-40A4-A874-B6A6FC2FAC45}"/>
              </a:ext>
            </a:extLst>
          </p:cNvPr>
          <p:cNvSpPr>
            <a:spLocks noGrp="1"/>
          </p:cNvSpPr>
          <p:nvPr/>
        </p:nvSpPr>
        <p:spPr>
          <a:xfrm>
            <a:off x="523875" y="12192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81000" y="1695450"/>
            <a:ext cx="6667500" cy="500062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593B648-65A9-4DB4-8260-9CCBA9935D90}"/>
              </a:ext>
            </a:extLst>
          </p:cNvPr>
          <p:cNvSpPr>
            <a:spLocks noGrp="1"/>
          </p:cNvSpPr>
          <p:nvPr/>
        </p:nvSpPr>
        <p:spPr>
          <a:xfrm>
            <a:off x="523875" y="6705600"/>
            <a:ext cx="6286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Site rank 1 · charged attempt 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FBAF71-E53D-41F6-92E7-95C9A5AAAFCA}"/>
              </a:ext>
            </a:extLst>
          </p:cNvPr>
          <p:cNvSpPr>
            <a:spLocks noGrp="1"/>
          </p:cNvSpPr>
          <p:nvPr/>
        </p:nvSpPr>
        <p:spPr>
          <a:xfrm>
            <a:off x="523875" y="7096125"/>
            <a:ext cx="6381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#1  p=0.974  target ligand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521C99-1776-46AF-BDAA-6FB243571C1C}"/>
              </a:ext>
            </a:extLst>
          </p:cNvPr>
          <p:cNvSpPr>
            <a:spLocks noGrp="1"/>
          </p:cNvSpPr>
          <p:nvPr/>
        </p:nvSpPr>
        <p:spPr>
          <a:xfrm>
            <a:off x="7762875" y="12192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381875" y="1638300"/>
            <a:ext cx="3810000" cy="28575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87DAFE9-E6AA-4B62-BCD1-F9BDEF578742}"/>
              </a:ext>
            </a:extLst>
          </p:cNvPr>
          <p:cNvSpPr>
            <a:spLocks noGrp="1"/>
          </p:cNvSpPr>
          <p:nvPr/>
        </p:nvSpPr>
        <p:spPr>
          <a:xfrm>
            <a:off x="11525250" y="1857375"/>
            <a:ext cx="3143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A1EKL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E905F4-38B5-4B70-A321-CA0273989F46}"/>
              </a:ext>
            </a:extLst>
          </p:cNvPr>
          <p:cNvSpPr>
            <a:spLocks noGrp="1"/>
          </p:cNvSpPr>
          <p:nvPr/>
        </p:nvSpPr>
        <p:spPr>
          <a:xfrm>
            <a:off x="11525250" y="2428875"/>
            <a:ext cx="3333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3 eligible small-molecule</a:t>
            </a:r>
          </a:p>
          <a:p>
            <a:pPr>
              <a:defRPr sz="187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SMILES identities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0483B0-CEC5-46B8-A624-89ABBEF690DE}"/>
              </a:ext>
            </a:extLst>
          </p:cNvPr>
          <p:cNvSpPr>
            <a:spLocks noGrp="1"/>
          </p:cNvSpPr>
          <p:nvPr/>
        </p:nvSpPr>
        <p:spPr>
          <a:xfrm>
            <a:off x="11525250" y="3524250"/>
            <a:ext cx="328612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Exact SMILES match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9EC076-B2A9-48EE-8D1D-0C57FB3F2235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685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Build · self-ranking Top-1</a:t>
            </a: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667625" y="5334000"/>
            <a:ext cx="7048500" cy="528637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1B8C49A6-B76B-4924-BCA6-2F65E3EAC30B}"/>
              </a:ext>
            </a:extLst>
          </p:cNvPr>
          <p:cNvSpPr>
            <a:spLocks noGrp="1"/>
          </p:cNvSpPr>
          <p:nvPr/>
        </p:nvSpPr>
        <p:spPr>
          <a:xfrm>
            <a:off x="7762875" y="1068705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RMSD 0.88 Å · Clash 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943D751-035A-4D92-BCA5-4DC87179FAB8}"/>
              </a:ext>
            </a:extLst>
          </p:cNvPr>
          <p:cNvSpPr>
            <a:spLocks noGrp="1"/>
          </p:cNvSpPr>
          <p:nvPr/>
        </p:nvSpPr>
        <p:spPr>
          <a:xfrm>
            <a:off x="523875" y="8477250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region (reference)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D709485-9DB9-4102-A585-C7919F783BF9}"/>
              </a:ext>
            </a:extLst>
          </p:cNvPr>
          <p:cNvSpPr>
            <a:spLocks noGrp="1"/>
          </p:cNvSpPr>
          <p:nvPr/>
        </p:nvSpPr>
        <p:spPr>
          <a:xfrm>
            <a:off x="4048125" y="84772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Predicted blob + CA2</a:t>
            </a: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81000" y="8877300"/>
            <a:ext cx="3238500" cy="2428875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952875" y="8877300"/>
            <a:ext cx="3238500" cy="2428875"/>
          </a:xfrm>
          <a:prstGeom prst="rect">
            <a:avLst/>
          </a:prstGeom>
        </p:spPr>
      </p:pic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037FEA1-6886-45FD-8E74-09B9941765D6}"/>
              </a:ext>
            </a:extLst>
          </p:cNvPr>
          <p:cNvSpPr>
            <a:spLocks noGrp="1"/>
          </p:cNvSpPr>
          <p:nvPr/>
        </p:nvSpPr>
        <p:spPr>
          <a:xfrm>
            <a:off x="52387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10D59FE-833C-4B4D-9BEF-1616832EB6F3}"/>
              </a:ext>
            </a:extLst>
          </p:cNvPr>
          <p:cNvSpPr>
            <a:spLocks noGrp="1"/>
          </p:cNvSpPr>
          <p:nvPr/>
        </p:nvSpPr>
        <p:spPr>
          <a:xfrm>
            <a:off x="87630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F6912CEF-1520-41B6-B38A-379CF438D45A}"/>
              </a:ext>
            </a:extLst>
          </p:cNvPr>
          <p:cNvSpPr>
            <a:spLocks noGrp="1"/>
          </p:cNvSpPr>
          <p:nvPr/>
        </p:nvSpPr>
        <p:spPr>
          <a:xfrm>
            <a:off x="3409950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A0A9AD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D704EFA-ED5C-42DD-9FA2-2AC178847FE4}"/>
              </a:ext>
            </a:extLst>
          </p:cNvPr>
          <p:cNvSpPr>
            <a:spLocks noGrp="1"/>
          </p:cNvSpPr>
          <p:nvPr/>
        </p:nvSpPr>
        <p:spPr>
          <a:xfrm>
            <a:off x="3762375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B0DDAF8-371A-4A05-BF6F-E023335B198A}"/>
              </a:ext>
            </a:extLst>
          </p:cNvPr>
          <p:cNvSpPr>
            <a:spLocks noGrp="1"/>
          </p:cNvSpPr>
          <p:nvPr/>
        </p:nvSpPr>
        <p:spPr>
          <a:xfrm>
            <a:off x="629602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EE2E6E5-84EC-40B1-8131-0D1BECBD5770}"/>
              </a:ext>
            </a:extLst>
          </p:cNvPr>
          <p:cNvSpPr>
            <a:spLocks noGrp="1"/>
          </p:cNvSpPr>
          <p:nvPr/>
        </p:nvSpPr>
        <p:spPr>
          <a:xfrm>
            <a:off x="664845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Predicted blob</a:t>
            </a: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FED3DF43-570F-4813-A726-4AE1EBA0105A}"/>
              </a:ext>
            </a:extLst>
          </p:cNvPr>
          <p:cNvSpPr>
            <a:spLocks noGrp="1"/>
          </p:cNvSpPr>
          <p:nvPr/>
        </p:nvSpPr>
        <p:spPr>
          <a:xfrm>
            <a:off x="9182100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5A63565-6FFE-4842-B717-09897E0148F7}"/>
              </a:ext>
            </a:extLst>
          </p:cNvPr>
          <p:cNvSpPr>
            <a:spLocks noGrp="1"/>
          </p:cNvSpPr>
          <p:nvPr/>
        </p:nvSpPr>
        <p:spPr>
          <a:xfrm>
            <a:off x="9534525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Top-1 pose</a:t>
            </a: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C6ABC480-A4F7-433C-9F95-B1C7095D3E9E}"/>
              </a:ext>
            </a:extLst>
          </p:cNvPr>
          <p:cNvSpPr>
            <a:spLocks noGrp="1"/>
          </p:cNvSpPr>
          <p:nvPr/>
        </p:nvSpPr>
        <p:spPr>
          <a:xfrm>
            <a:off x="1206817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7DAC05A-13C6-4521-ADDE-E6FCE15BDE88}"/>
              </a:ext>
            </a:extLst>
          </p:cNvPr>
          <p:cNvSpPr>
            <a:spLocks noGrp="1"/>
          </p:cNvSpPr>
          <p:nvPr/>
        </p:nvSpPr>
        <p:spPr>
          <a:xfrm>
            <a:off x="1242060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Deposited ligand</a:t>
            </a:r>
          </a:p>
        </p:txBody>
      </p:sp>
    </p:spTree>
    <p:extLst>
      <p:ext uri="{BB962C8B-B14F-4D97-AF65-F5344CB8AC3E}">
        <p14:creationId xmlns:p14="http://schemas.microsoft.com/office/powerpoint/2010/main" val="8506131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244E16D5-017A-4734-B903-94A39F78EC59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9048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9RD8 · BCT (A:902)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4A160B-FEB7-43AE-B9C8-D41280204382}"/>
              </a:ext>
            </a:extLst>
          </p:cNvPr>
          <p:cNvSpPr>
            <a:spLocks noGrp="1"/>
          </p:cNvSpPr>
          <p:nvPr/>
        </p:nvSpPr>
        <p:spPr>
          <a:xfrm>
            <a:off x="523875" y="714375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First-ranked site succeeds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302627-FAC1-4FAA-83EB-6E966F1B4DED}"/>
              </a:ext>
            </a:extLst>
          </p:cNvPr>
          <p:cNvSpPr>
            <a:spLocks noGrp="1"/>
          </p:cNvSpPr>
          <p:nvPr/>
        </p:nvSpPr>
        <p:spPr>
          <a:xfrm>
            <a:off x="523875" y="12192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81000" y="1695450"/>
            <a:ext cx="6667500" cy="500062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467A17C-8641-45F2-A693-036868C9EDF9}"/>
              </a:ext>
            </a:extLst>
          </p:cNvPr>
          <p:cNvSpPr>
            <a:spLocks noGrp="1"/>
          </p:cNvSpPr>
          <p:nvPr/>
        </p:nvSpPr>
        <p:spPr>
          <a:xfrm>
            <a:off x="523875" y="6705600"/>
            <a:ext cx="6286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Site rank 1 · charged attempt 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E8F217-830E-4354-8DD1-A0583A5EA679}"/>
              </a:ext>
            </a:extLst>
          </p:cNvPr>
          <p:cNvSpPr>
            <a:spLocks noGrp="1"/>
          </p:cNvSpPr>
          <p:nvPr/>
        </p:nvSpPr>
        <p:spPr>
          <a:xfrm>
            <a:off x="523875" y="7096125"/>
            <a:ext cx="6381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#1  p=0.969  target ligand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E00977-4190-4FC8-BCDE-C0A1CD135A3D}"/>
              </a:ext>
            </a:extLst>
          </p:cNvPr>
          <p:cNvSpPr>
            <a:spLocks noGrp="1"/>
          </p:cNvSpPr>
          <p:nvPr/>
        </p:nvSpPr>
        <p:spPr>
          <a:xfrm>
            <a:off x="7762875" y="12192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381875" y="1638300"/>
            <a:ext cx="3810000" cy="28575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6ECF1FD-6880-4662-9FF4-25D678BBFCC2}"/>
              </a:ext>
            </a:extLst>
          </p:cNvPr>
          <p:cNvSpPr>
            <a:spLocks noGrp="1"/>
          </p:cNvSpPr>
          <p:nvPr/>
        </p:nvSpPr>
        <p:spPr>
          <a:xfrm>
            <a:off x="11525250" y="1857375"/>
            <a:ext cx="3143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BCT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CF17E6-0505-45B3-84B2-BCB7681072B4}"/>
              </a:ext>
            </a:extLst>
          </p:cNvPr>
          <p:cNvSpPr>
            <a:spLocks noGrp="1"/>
          </p:cNvSpPr>
          <p:nvPr/>
        </p:nvSpPr>
        <p:spPr>
          <a:xfrm>
            <a:off x="11525250" y="2428875"/>
            <a:ext cx="3333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3 eligible small-molecule</a:t>
            </a:r>
          </a:p>
          <a:p>
            <a:pPr>
              <a:defRPr sz="187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SMILES identities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8F0F16-4B58-4EDA-B56D-76E6F531402B}"/>
              </a:ext>
            </a:extLst>
          </p:cNvPr>
          <p:cNvSpPr>
            <a:spLocks noGrp="1"/>
          </p:cNvSpPr>
          <p:nvPr/>
        </p:nvSpPr>
        <p:spPr>
          <a:xfrm>
            <a:off x="11525250" y="3524250"/>
            <a:ext cx="328612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Exact SMILES match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1C4851B-C1F4-49DC-B4F6-2C51958A72C5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685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Build · self-ranking Top-1</a:t>
            </a: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667625" y="5334000"/>
            <a:ext cx="7048500" cy="528637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98E91895-F931-49AD-AF6F-847B3D7FCA54}"/>
              </a:ext>
            </a:extLst>
          </p:cNvPr>
          <p:cNvSpPr>
            <a:spLocks noGrp="1"/>
          </p:cNvSpPr>
          <p:nvPr/>
        </p:nvSpPr>
        <p:spPr>
          <a:xfrm>
            <a:off x="7762875" y="1068705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RMSD 0.96 Å · Clash 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00585BE-0941-4170-B2B7-D36332C36182}"/>
              </a:ext>
            </a:extLst>
          </p:cNvPr>
          <p:cNvSpPr>
            <a:spLocks noGrp="1"/>
          </p:cNvSpPr>
          <p:nvPr/>
        </p:nvSpPr>
        <p:spPr>
          <a:xfrm>
            <a:off x="523875" y="8477250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region (reference)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F055337-AEF5-4FCB-89D3-E37C445F5FCF}"/>
              </a:ext>
            </a:extLst>
          </p:cNvPr>
          <p:cNvSpPr>
            <a:spLocks noGrp="1"/>
          </p:cNvSpPr>
          <p:nvPr/>
        </p:nvSpPr>
        <p:spPr>
          <a:xfrm>
            <a:off x="4048125" y="84772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Predicted blob + CA2</a:t>
            </a: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81000" y="8877300"/>
            <a:ext cx="3238500" cy="2428875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952875" y="8877300"/>
            <a:ext cx="3238500" cy="2428875"/>
          </a:xfrm>
          <a:prstGeom prst="rect">
            <a:avLst/>
          </a:prstGeom>
        </p:spPr>
      </p:pic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0FC2CFF6-A74C-4DA5-B8D9-19D2E333B4FD}"/>
              </a:ext>
            </a:extLst>
          </p:cNvPr>
          <p:cNvSpPr>
            <a:spLocks noGrp="1"/>
          </p:cNvSpPr>
          <p:nvPr/>
        </p:nvSpPr>
        <p:spPr>
          <a:xfrm>
            <a:off x="52387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BEF86D7-4509-4E69-B36E-B905DD9801FC}"/>
              </a:ext>
            </a:extLst>
          </p:cNvPr>
          <p:cNvSpPr>
            <a:spLocks noGrp="1"/>
          </p:cNvSpPr>
          <p:nvPr/>
        </p:nvSpPr>
        <p:spPr>
          <a:xfrm>
            <a:off x="87630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D2EADC70-B4F1-45A1-90EE-F603AEA696E9}"/>
              </a:ext>
            </a:extLst>
          </p:cNvPr>
          <p:cNvSpPr>
            <a:spLocks noGrp="1"/>
          </p:cNvSpPr>
          <p:nvPr/>
        </p:nvSpPr>
        <p:spPr>
          <a:xfrm>
            <a:off x="3409950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A0A9AD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1D71FA-D3C4-40F5-A33A-F3D8FBE6B03C}"/>
              </a:ext>
            </a:extLst>
          </p:cNvPr>
          <p:cNvSpPr>
            <a:spLocks noGrp="1"/>
          </p:cNvSpPr>
          <p:nvPr/>
        </p:nvSpPr>
        <p:spPr>
          <a:xfrm>
            <a:off x="3762375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D0B16624-2C52-49D9-9ED2-F8D042D3372D}"/>
              </a:ext>
            </a:extLst>
          </p:cNvPr>
          <p:cNvSpPr>
            <a:spLocks noGrp="1"/>
          </p:cNvSpPr>
          <p:nvPr/>
        </p:nvSpPr>
        <p:spPr>
          <a:xfrm>
            <a:off x="629602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90B4851-4025-42BD-9757-18412371D488}"/>
              </a:ext>
            </a:extLst>
          </p:cNvPr>
          <p:cNvSpPr>
            <a:spLocks noGrp="1"/>
          </p:cNvSpPr>
          <p:nvPr/>
        </p:nvSpPr>
        <p:spPr>
          <a:xfrm>
            <a:off x="664845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Predicted blob</a:t>
            </a: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7953118C-C860-4670-A111-A0EBE5777F25}"/>
              </a:ext>
            </a:extLst>
          </p:cNvPr>
          <p:cNvSpPr>
            <a:spLocks noGrp="1"/>
          </p:cNvSpPr>
          <p:nvPr/>
        </p:nvSpPr>
        <p:spPr>
          <a:xfrm>
            <a:off x="9182100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EB63ACC-A90F-4987-B843-75E04F751C4C}"/>
              </a:ext>
            </a:extLst>
          </p:cNvPr>
          <p:cNvSpPr>
            <a:spLocks noGrp="1"/>
          </p:cNvSpPr>
          <p:nvPr/>
        </p:nvSpPr>
        <p:spPr>
          <a:xfrm>
            <a:off x="9534525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Top-1 pose</a:t>
            </a: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A1CCE1C8-7B34-42FD-82E9-85ECD5D6BAD6}"/>
              </a:ext>
            </a:extLst>
          </p:cNvPr>
          <p:cNvSpPr>
            <a:spLocks noGrp="1"/>
          </p:cNvSpPr>
          <p:nvPr/>
        </p:nvSpPr>
        <p:spPr>
          <a:xfrm>
            <a:off x="1206817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DE253B7-5A69-498D-B8EC-9A5C421895EA}"/>
              </a:ext>
            </a:extLst>
          </p:cNvPr>
          <p:cNvSpPr>
            <a:spLocks noGrp="1"/>
          </p:cNvSpPr>
          <p:nvPr/>
        </p:nvSpPr>
        <p:spPr>
          <a:xfrm>
            <a:off x="1242060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Deposited ligand</a:t>
            </a:r>
          </a:p>
        </p:txBody>
      </p:sp>
    </p:spTree>
    <p:extLst>
      <p:ext uri="{BB962C8B-B14F-4D97-AF65-F5344CB8AC3E}">
        <p14:creationId xmlns:p14="http://schemas.microsoft.com/office/powerpoint/2010/main" val="12941897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8917042B-03A4-46ED-BF9D-21EA87840CEF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9048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9QRU · A1JAX (B:2801)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D44EC7C-2BB4-47A3-A45C-BB4E9228F33A}"/>
              </a:ext>
            </a:extLst>
          </p:cNvPr>
          <p:cNvSpPr>
            <a:spLocks noGrp="1"/>
          </p:cNvSpPr>
          <p:nvPr/>
        </p:nvSpPr>
        <p:spPr>
          <a:xfrm>
            <a:off x="523875" y="714375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Background first, ligand second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60F96C-99D5-4316-85DA-796218EFFD1F}"/>
              </a:ext>
            </a:extLst>
          </p:cNvPr>
          <p:cNvSpPr>
            <a:spLocks noGrp="1"/>
          </p:cNvSpPr>
          <p:nvPr/>
        </p:nvSpPr>
        <p:spPr>
          <a:xfrm>
            <a:off x="523875" y="12192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81000" y="1695450"/>
            <a:ext cx="6667500" cy="5000625"/>
          </a:xfrm>
          <a:prstGeom prst="rect">
            <a:avLst/>
          </a:prstGeom>
        </p:spPr>
      </p:pic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459B7038-7318-43FC-856D-2D023311EE55}"/>
              </a:ext>
            </a:extLst>
          </p:cNvPr>
          <p:cNvSpPr>
            <a:spLocks noGrp="1"/>
          </p:cNvSpPr>
          <p:nvPr/>
        </p:nvSpPr>
        <p:spPr>
          <a:xfrm>
            <a:off x="4048125" y="4095769"/>
            <a:ext cx="996659" cy="245012"/>
          </a:xfrm>
          <a:custGeom>
            <a:avLst/>
            <a:gdLst/>
            <a:ahLst/>
            <a:cxnLst/>
            <a:rect l="0" t="0" r="0" b="0"/>
            <a:pathLst>
              <a:path w="996659" h="245012">
                <a:moveTo>
                  <a:pt x="996659" y="0"/>
                </a:moveTo>
                <a:lnTo>
                  <a:pt x="0" y="245012"/>
                </a:lnTo>
              </a:path>
            </a:pathLst>
          </a:custGeom>
          <a:noFill/>
          <a:ln w="19050">
            <a:solidFill>
              <a:srgbClr val="9F87A9"/>
            </a:solidFill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81B916C-B099-4EAD-8F1C-EB5DD807194D}"/>
              </a:ext>
            </a:extLst>
          </p:cNvPr>
          <p:cNvSpPr>
            <a:spLocks noGrp="1"/>
          </p:cNvSpPr>
          <p:nvPr/>
        </p:nvSpPr>
        <p:spPr>
          <a:xfrm>
            <a:off x="5057775" y="3855244"/>
            <a:ext cx="381000" cy="3810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9F87A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F87A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456D6B51-B4C8-4A61-AF3E-1A399B97AC58}"/>
              </a:ext>
            </a:extLst>
          </p:cNvPr>
          <p:cNvSpPr>
            <a:spLocks noGrp="1"/>
          </p:cNvSpPr>
          <p:nvPr/>
        </p:nvSpPr>
        <p:spPr>
          <a:xfrm>
            <a:off x="1970006" y="4685824"/>
            <a:ext cx="871302" cy="419211"/>
          </a:xfrm>
          <a:custGeom>
            <a:avLst/>
            <a:gdLst/>
            <a:ahLst/>
            <a:cxnLst/>
            <a:rect l="0" t="0" r="0" b="0"/>
            <a:pathLst>
              <a:path w="871302" h="419211">
                <a:moveTo>
                  <a:pt x="0" y="419211"/>
                </a:moveTo>
                <a:lnTo>
                  <a:pt x="871302" y="0"/>
                </a:lnTo>
              </a:path>
            </a:pathLst>
          </a:custGeom>
          <a:noFill/>
          <a:ln w="19050">
            <a:solidFill>
              <a:srgbClr val="E9983C"/>
            </a:solidFill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C88B476-0EC2-4B91-9726-B1F6011D5EF3}"/>
              </a:ext>
            </a:extLst>
          </p:cNvPr>
          <p:cNvSpPr>
            <a:spLocks noGrp="1"/>
          </p:cNvSpPr>
          <p:nvPr/>
        </p:nvSpPr>
        <p:spPr>
          <a:xfrm>
            <a:off x="1590675" y="5005388"/>
            <a:ext cx="381000" cy="3810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D4ABD07-B842-4120-A5CF-BC42BA59563D}"/>
              </a:ext>
            </a:extLst>
          </p:cNvPr>
          <p:cNvSpPr>
            <a:spLocks noGrp="1"/>
          </p:cNvSpPr>
          <p:nvPr/>
        </p:nvSpPr>
        <p:spPr>
          <a:xfrm>
            <a:off x="523875" y="6705600"/>
            <a:ext cx="6286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Site rank 2 · charged attempt 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A7777B-3685-4ADA-80D3-B30243A8B261}"/>
              </a:ext>
            </a:extLst>
          </p:cNvPr>
          <p:cNvSpPr>
            <a:spLocks noGrp="1"/>
          </p:cNvSpPr>
          <p:nvPr/>
        </p:nvSpPr>
        <p:spPr>
          <a:xfrm>
            <a:off x="523875" y="7096125"/>
            <a:ext cx="6381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9F87A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F87A9"/>
                </a:solidFill>
                <a:latin typeface="Arial"/>
                <a:ea typeface="Arial"/>
                <a:cs typeface="Arial"/>
              </a:rPr>
              <a:t>#1  p=0.891  background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247A4F-37F7-4DE7-9122-190D40971F1F}"/>
              </a:ext>
            </a:extLst>
          </p:cNvPr>
          <p:cNvSpPr>
            <a:spLocks noGrp="1"/>
          </p:cNvSpPr>
          <p:nvPr/>
        </p:nvSpPr>
        <p:spPr>
          <a:xfrm>
            <a:off x="523875" y="7429500"/>
            <a:ext cx="6381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#2  p=0.784  target ligand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70F3D0-C5D3-4F00-B096-9976C9C6DACD}"/>
              </a:ext>
            </a:extLst>
          </p:cNvPr>
          <p:cNvSpPr>
            <a:spLocks noGrp="1"/>
          </p:cNvSpPr>
          <p:nvPr/>
        </p:nvSpPr>
        <p:spPr>
          <a:xfrm>
            <a:off x="7762875" y="12192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381875" y="1638300"/>
            <a:ext cx="3810000" cy="28575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9DF3B07E-353E-4AB4-AD00-09570A1796E5}"/>
              </a:ext>
            </a:extLst>
          </p:cNvPr>
          <p:cNvSpPr>
            <a:spLocks noGrp="1"/>
          </p:cNvSpPr>
          <p:nvPr/>
        </p:nvSpPr>
        <p:spPr>
          <a:xfrm>
            <a:off x="11525250" y="1857375"/>
            <a:ext cx="3143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A1JAX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DA23D3-C996-4D65-9753-EB1E6AC9417B}"/>
              </a:ext>
            </a:extLst>
          </p:cNvPr>
          <p:cNvSpPr>
            <a:spLocks noGrp="1"/>
          </p:cNvSpPr>
          <p:nvPr/>
        </p:nvSpPr>
        <p:spPr>
          <a:xfrm>
            <a:off x="11525250" y="2428875"/>
            <a:ext cx="3333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2 eligible small-molecule</a:t>
            </a:r>
          </a:p>
          <a:p>
            <a:pPr>
              <a:defRPr sz="187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SMILES identities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A62E108-1F6A-4F24-BEF8-4B43BFFAC5D1}"/>
              </a:ext>
            </a:extLst>
          </p:cNvPr>
          <p:cNvSpPr>
            <a:spLocks noGrp="1"/>
          </p:cNvSpPr>
          <p:nvPr/>
        </p:nvSpPr>
        <p:spPr>
          <a:xfrm>
            <a:off x="11525250" y="3524250"/>
            <a:ext cx="328612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Exact SMILES match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1C5AE1-610E-4DEF-86E5-9945A76E64AC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685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Build · self-ranking Top-1</a:t>
            </a: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667625" y="5334000"/>
            <a:ext cx="7048500" cy="528637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18AF5043-87E3-48D6-8C30-44C0479BABB8}"/>
              </a:ext>
            </a:extLst>
          </p:cNvPr>
          <p:cNvSpPr>
            <a:spLocks noGrp="1"/>
          </p:cNvSpPr>
          <p:nvPr/>
        </p:nvSpPr>
        <p:spPr>
          <a:xfrm>
            <a:off x="7762875" y="1068705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RMSD 0.63 Å · Clash 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3C8D6A0-BE2B-4467-A2AE-4DA79294074E}"/>
              </a:ext>
            </a:extLst>
          </p:cNvPr>
          <p:cNvSpPr>
            <a:spLocks noGrp="1"/>
          </p:cNvSpPr>
          <p:nvPr/>
        </p:nvSpPr>
        <p:spPr>
          <a:xfrm>
            <a:off x="523875" y="8477250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region (reference)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1C5F305-5E67-4EF4-A0BA-2A31FB3B2BD4}"/>
              </a:ext>
            </a:extLst>
          </p:cNvPr>
          <p:cNvSpPr>
            <a:spLocks noGrp="1"/>
          </p:cNvSpPr>
          <p:nvPr/>
        </p:nvSpPr>
        <p:spPr>
          <a:xfrm>
            <a:off x="4048125" y="84772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Predicted blob + CA2</a:t>
            </a: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81000" y="8877300"/>
            <a:ext cx="3238500" cy="2428875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952875" y="8877300"/>
            <a:ext cx="3238500" cy="2428875"/>
          </a:xfrm>
          <a:prstGeom prst="rect">
            <a:avLst/>
          </a:prstGeom>
        </p:spPr>
      </p:pic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9620C0C4-4027-436A-929B-3CEA000BB57A}"/>
              </a:ext>
            </a:extLst>
          </p:cNvPr>
          <p:cNvSpPr>
            <a:spLocks noGrp="1"/>
          </p:cNvSpPr>
          <p:nvPr/>
        </p:nvSpPr>
        <p:spPr>
          <a:xfrm>
            <a:off x="52387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EE3FA9A-79E8-4DA5-B920-2FA09A9C1D42}"/>
              </a:ext>
            </a:extLst>
          </p:cNvPr>
          <p:cNvSpPr>
            <a:spLocks noGrp="1"/>
          </p:cNvSpPr>
          <p:nvPr/>
        </p:nvSpPr>
        <p:spPr>
          <a:xfrm>
            <a:off x="87630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BE20F52C-9586-49EF-B886-98FB2AFED4BD}"/>
              </a:ext>
            </a:extLst>
          </p:cNvPr>
          <p:cNvSpPr>
            <a:spLocks noGrp="1"/>
          </p:cNvSpPr>
          <p:nvPr/>
        </p:nvSpPr>
        <p:spPr>
          <a:xfrm>
            <a:off x="3409950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A0A9AD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C51F2D0-1037-469F-85FB-3A949F096037}"/>
              </a:ext>
            </a:extLst>
          </p:cNvPr>
          <p:cNvSpPr>
            <a:spLocks noGrp="1"/>
          </p:cNvSpPr>
          <p:nvPr/>
        </p:nvSpPr>
        <p:spPr>
          <a:xfrm>
            <a:off x="3762375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516A641A-07AE-43E6-B041-D3F5188C2C89}"/>
              </a:ext>
            </a:extLst>
          </p:cNvPr>
          <p:cNvSpPr>
            <a:spLocks noGrp="1"/>
          </p:cNvSpPr>
          <p:nvPr/>
        </p:nvSpPr>
        <p:spPr>
          <a:xfrm>
            <a:off x="629602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70EF629-BF8F-4778-8AEA-D13F368893AF}"/>
              </a:ext>
            </a:extLst>
          </p:cNvPr>
          <p:cNvSpPr>
            <a:spLocks noGrp="1"/>
          </p:cNvSpPr>
          <p:nvPr/>
        </p:nvSpPr>
        <p:spPr>
          <a:xfrm>
            <a:off x="664845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Predicted blob</a:t>
            </a:r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1252BE62-A619-410F-904F-47E3F6FA4484}"/>
              </a:ext>
            </a:extLst>
          </p:cNvPr>
          <p:cNvSpPr>
            <a:spLocks noGrp="1"/>
          </p:cNvSpPr>
          <p:nvPr/>
        </p:nvSpPr>
        <p:spPr>
          <a:xfrm>
            <a:off x="9182100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BB11ACA-B193-4914-8790-EC3493444773}"/>
              </a:ext>
            </a:extLst>
          </p:cNvPr>
          <p:cNvSpPr>
            <a:spLocks noGrp="1"/>
          </p:cNvSpPr>
          <p:nvPr/>
        </p:nvSpPr>
        <p:spPr>
          <a:xfrm>
            <a:off x="9534525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Top-1 pose</a:t>
            </a:r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52144FF6-0C06-4043-B8F9-F6EECFAC9F8F}"/>
              </a:ext>
            </a:extLst>
          </p:cNvPr>
          <p:cNvSpPr>
            <a:spLocks noGrp="1"/>
          </p:cNvSpPr>
          <p:nvPr/>
        </p:nvSpPr>
        <p:spPr>
          <a:xfrm>
            <a:off x="1206817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DD015F7-31E7-4522-8825-C3B4A53765B2}"/>
              </a:ext>
            </a:extLst>
          </p:cNvPr>
          <p:cNvSpPr>
            <a:spLocks noGrp="1"/>
          </p:cNvSpPr>
          <p:nvPr/>
        </p:nvSpPr>
        <p:spPr>
          <a:xfrm>
            <a:off x="1242060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Deposited ligand</a:t>
            </a:r>
          </a:p>
        </p:txBody>
      </p:sp>
    </p:spTree>
    <p:extLst>
      <p:ext uri="{BB962C8B-B14F-4D97-AF65-F5344CB8AC3E}">
        <p14:creationId xmlns:p14="http://schemas.microsoft.com/office/powerpoint/2010/main" val="156185171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8948262F-3CAE-4D46-A7ED-7B9B791E018B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9048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9WUP · FMN (B:1103)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A6F660-5E08-4F05-8B59-C6E549BA4775}"/>
              </a:ext>
            </a:extLst>
          </p:cNvPr>
          <p:cNvSpPr>
            <a:spLocks noGrp="1"/>
          </p:cNvSpPr>
          <p:nvPr/>
        </p:nvSpPr>
        <p:spPr>
          <a:xfrm>
            <a:off x="523875" y="714375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Out-of-scope foreground precedes ligand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9F3A8D-3572-4100-A311-E20A6378C0B8}"/>
              </a:ext>
            </a:extLst>
          </p:cNvPr>
          <p:cNvSpPr>
            <a:spLocks noGrp="1"/>
          </p:cNvSpPr>
          <p:nvPr/>
        </p:nvSpPr>
        <p:spPr>
          <a:xfrm>
            <a:off x="523875" y="12192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81000" y="1695450"/>
            <a:ext cx="6667500" cy="5000625"/>
          </a:xfrm>
          <a:prstGeom prst="rect">
            <a:avLst/>
          </a:prstGeom>
        </p:spPr>
      </p:pic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4EC3B32C-BF84-4047-967D-70A8AF6F219D}"/>
              </a:ext>
            </a:extLst>
          </p:cNvPr>
          <p:cNvSpPr>
            <a:spLocks noGrp="1"/>
          </p:cNvSpPr>
          <p:nvPr/>
        </p:nvSpPr>
        <p:spPr>
          <a:xfrm>
            <a:off x="2660042" y="4395788"/>
            <a:ext cx="481303" cy="499224"/>
          </a:xfrm>
          <a:custGeom>
            <a:avLst/>
            <a:gdLst/>
            <a:ahLst/>
            <a:cxnLst/>
            <a:rect l="0" t="0" r="0" b="0"/>
            <a:pathLst>
              <a:path w="481303" h="499224">
                <a:moveTo>
                  <a:pt x="0" y="499224"/>
                </a:moveTo>
                <a:lnTo>
                  <a:pt x="481303" y="0"/>
                </a:lnTo>
              </a:path>
            </a:pathLst>
          </a:custGeom>
          <a:noFill/>
          <a:ln w="19050">
            <a:solidFill>
              <a:srgbClr val="E9983C"/>
            </a:solidFill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B614933-03C7-4035-BA90-204CA28A9814}"/>
              </a:ext>
            </a:extLst>
          </p:cNvPr>
          <p:cNvSpPr>
            <a:spLocks noGrp="1"/>
          </p:cNvSpPr>
          <p:nvPr/>
        </p:nvSpPr>
        <p:spPr>
          <a:xfrm>
            <a:off x="2324100" y="4855369"/>
            <a:ext cx="381000" cy="3810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1507A7B-A6AD-480F-A0DB-E2B3BA0BAB71}"/>
              </a:ext>
            </a:extLst>
          </p:cNvPr>
          <p:cNvSpPr>
            <a:spLocks noGrp="1"/>
          </p:cNvSpPr>
          <p:nvPr/>
        </p:nvSpPr>
        <p:spPr>
          <a:xfrm>
            <a:off x="523875" y="6705600"/>
            <a:ext cx="6286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Site rank 3 · charged attempt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70C375-3421-4892-98C8-0F70DE139E34}"/>
              </a:ext>
            </a:extLst>
          </p:cNvPr>
          <p:cNvSpPr>
            <a:spLocks noGrp="1"/>
          </p:cNvSpPr>
          <p:nvPr/>
        </p:nvSpPr>
        <p:spPr>
          <a:xfrm>
            <a:off x="523875" y="7096125"/>
            <a:ext cx="6381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958A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58A74"/>
                </a:solidFill>
                <a:latin typeface="Arial"/>
                <a:ea typeface="Arial"/>
                <a:cs typeface="Arial"/>
              </a:rPr>
              <a:t>#1  p=0.985  outside Stage3 scope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8CB204-93C5-4383-9C8E-315ACE1D9A4D}"/>
              </a:ext>
            </a:extLst>
          </p:cNvPr>
          <p:cNvSpPr>
            <a:spLocks noGrp="1"/>
          </p:cNvSpPr>
          <p:nvPr/>
        </p:nvSpPr>
        <p:spPr>
          <a:xfrm>
            <a:off x="523875" y="7429500"/>
            <a:ext cx="6381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958A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58A74"/>
                </a:solidFill>
                <a:latin typeface="Arial"/>
                <a:ea typeface="Arial"/>
                <a:cs typeface="Arial"/>
              </a:rPr>
              <a:t>#2  p=0.982  outside Stage3 scope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2590AB1-99AA-43E9-84AA-F0021015320F}"/>
              </a:ext>
            </a:extLst>
          </p:cNvPr>
          <p:cNvSpPr>
            <a:spLocks noGrp="1"/>
          </p:cNvSpPr>
          <p:nvPr/>
        </p:nvSpPr>
        <p:spPr>
          <a:xfrm>
            <a:off x="523875" y="7762875"/>
            <a:ext cx="6381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#3  p=0.981  target ligand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93A35F-51CC-4E02-AEF3-FCD28063356D}"/>
              </a:ext>
            </a:extLst>
          </p:cNvPr>
          <p:cNvSpPr>
            <a:spLocks noGrp="1"/>
          </p:cNvSpPr>
          <p:nvPr/>
        </p:nvSpPr>
        <p:spPr>
          <a:xfrm>
            <a:off x="7762875" y="12192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381875" y="1638300"/>
            <a:ext cx="3810000" cy="28575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AF8F139D-5072-450B-9A7B-74AF0324D39B}"/>
              </a:ext>
            </a:extLst>
          </p:cNvPr>
          <p:cNvSpPr>
            <a:spLocks noGrp="1"/>
          </p:cNvSpPr>
          <p:nvPr/>
        </p:nvSpPr>
        <p:spPr>
          <a:xfrm>
            <a:off x="11525250" y="1857375"/>
            <a:ext cx="3143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FMN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6ED6EE5-1FC3-46CF-9423-391BD2A8FACC}"/>
              </a:ext>
            </a:extLst>
          </p:cNvPr>
          <p:cNvSpPr>
            <a:spLocks noGrp="1"/>
          </p:cNvSpPr>
          <p:nvPr/>
        </p:nvSpPr>
        <p:spPr>
          <a:xfrm>
            <a:off x="11525250" y="2428875"/>
            <a:ext cx="3333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4 eligible small-molecule</a:t>
            </a:r>
          </a:p>
          <a:p>
            <a:pPr>
              <a:defRPr sz="187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SMILES identities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BC121-1C84-413A-9677-BED2D2143A01}"/>
              </a:ext>
            </a:extLst>
          </p:cNvPr>
          <p:cNvSpPr>
            <a:spLocks noGrp="1"/>
          </p:cNvSpPr>
          <p:nvPr/>
        </p:nvSpPr>
        <p:spPr>
          <a:xfrm>
            <a:off x="11525250" y="3524250"/>
            <a:ext cx="328612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Exact SMILES match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A73FFB4-BDC0-45B9-B710-2A6F720DE0DA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685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Build · self-ranking Top-1</a:t>
            </a: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667625" y="5334000"/>
            <a:ext cx="7048500" cy="5286375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28CB7AFD-F49A-47A6-89D9-1391F8CD68BB}"/>
              </a:ext>
            </a:extLst>
          </p:cNvPr>
          <p:cNvSpPr>
            <a:spLocks noGrp="1"/>
          </p:cNvSpPr>
          <p:nvPr/>
        </p:nvSpPr>
        <p:spPr>
          <a:xfrm>
            <a:off x="7762875" y="1068705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RMSD 0.52 Å · Clash 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11762CB-DE16-47DD-87F7-75228EFD6C86}"/>
              </a:ext>
            </a:extLst>
          </p:cNvPr>
          <p:cNvSpPr>
            <a:spLocks noGrp="1"/>
          </p:cNvSpPr>
          <p:nvPr/>
        </p:nvSpPr>
        <p:spPr>
          <a:xfrm>
            <a:off x="523875" y="8477250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region (reference)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91EDEE5-58A9-49A8-8BFA-FF324C7C4B0E}"/>
              </a:ext>
            </a:extLst>
          </p:cNvPr>
          <p:cNvSpPr>
            <a:spLocks noGrp="1"/>
          </p:cNvSpPr>
          <p:nvPr/>
        </p:nvSpPr>
        <p:spPr>
          <a:xfrm>
            <a:off x="4048125" y="84772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Predicted blob + CA2</a:t>
            </a: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81000" y="8877300"/>
            <a:ext cx="3238500" cy="2428875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952875" y="8877300"/>
            <a:ext cx="3238500" cy="2428875"/>
          </a:xfrm>
          <a:prstGeom prst="rect">
            <a:avLst/>
          </a:prstGeom>
        </p:spPr>
      </p:pic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CCB2774D-83A9-49B1-9FBA-D0AE02459300}"/>
              </a:ext>
            </a:extLst>
          </p:cNvPr>
          <p:cNvSpPr>
            <a:spLocks noGrp="1"/>
          </p:cNvSpPr>
          <p:nvPr/>
        </p:nvSpPr>
        <p:spPr>
          <a:xfrm>
            <a:off x="52387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1462D42-75C1-475E-BFC7-9A1C34B7F51A}"/>
              </a:ext>
            </a:extLst>
          </p:cNvPr>
          <p:cNvSpPr>
            <a:spLocks noGrp="1"/>
          </p:cNvSpPr>
          <p:nvPr/>
        </p:nvSpPr>
        <p:spPr>
          <a:xfrm>
            <a:off x="87630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5DDD0C17-1273-4524-B24F-D62625C9A20A}"/>
              </a:ext>
            </a:extLst>
          </p:cNvPr>
          <p:cNvSpPr>
            <a:spLocks noGrp="1"/>
          </p:cNvSpPr>
          <p:nvPr/>
        </p:nvSpPr>
        <p:spPr>
          <a:xfrm>
            <a:off x="3409950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A0A9AD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3E20477-56C3-451D-B337-AA1D8DE0D65E}"/>
              </a:ext>
            </a:extLst>
          </p:cNvPr>
          <p:cNvSpPr>
            <a:spLocks noGrp="1"/>
          </p:cNvSpPr>
          <p:nvPr/>
        </p:nvSpPr>
        <p:spPr>
          <a:xfrm>
            <a:off x="3762375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7F3778B1-01B2-42C1-B654-6FA8BEF6C568}"/>
              </a:ext>
            </a:extLst>
          </p:cNvPr>
          <p:cNvSpPr>
            <a:spLocks noGrp="1"/>
          </p:cNvSpPr>
          <p:nvPr/>
        </p:nvSpPr>
        <p:spPr>
          <a:xfrm>
            <a:off x="629602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C30F498-195C-41CE-B78A-A1B41E36C5B8}"/>
              </a:ext>
            </a:extLst>
          </p:cNvPr>
          <p:cNvSpPr>
            <a:spLocks noGrp="1"/>
          </p:cNvSpPr>
          <p:nvPr/>
        </p:nvSpPr>
        <p:spPr>
          <a:xfrm>
            <a:off x="664845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Predicted blob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609165BA-460D-4E1C-9D18-73AAAFCD6E97}"/>
              </a:ext>
            </a:extLst>
          </p:cNvPr>
          <p:cNvSpPr>
            <a:spLocks noGrp="1"/>
          </p:cNvSpPr>
          <p:nvPr/>
        </p:nvSpPr>
        <p:spPr>
          <a:xfrm>
            <a:off x="9182100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634CC0-9F80-4E4A-9F5C-90619B8A717C}"/>
              </a:ext>
            </a:extLst>
          </p:cNvPr>
          <p:cNvSpPr>
            <a:spLocks noGrp="1"/>
          </p:cNvSpPr>
          <p:nvPr/>
        </p:nvSpPr>
        <p:spPr>
          <a:xfrm>
            <a:off x="9534525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Top-1 pose</a:t>
            </a: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5428E5DF-9485-4D93-913C-C2BF8E9C941F}"/>
              </a:ext>
            </a:extLst>
          </p:cNvPr>
          <p:cNvSpPr>
            <a:spLocks noGrp="1"/>
          </p:cNvSpPr>
          <p:nvPr/>
        </p:nvSpPr>
        <p:spPr>
          <a:xfrm>
            <a:off x="1206817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ED7DE80-D046-48D2-8924-9ACB1078E1CC}"/>
              </a:ext>
            </a:extLst>
          </p:cNvPr>
          <p:cNvSpPr>
            <a:spLocks noGrp="1"/>
          </p:cNvSpPr>
          <p:nvPr/>
        </p:nvSpPr>
        <p:spPr>
          <a:xfrm>
            <a:off x="1242060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Deposited ligand</a:t>
            </a:r>
          </a:p>
        </p:txBody>
      </p:sp>
    </p:spTree>
    <p:extLst>
      <p:ext uri="{BB962C8B-B14F-4D97-AF65-F5344CB8AC3E}">
        <p14:creationId xmlns:p14="http://schemas.microsoft.com/office/powerpoint/2010/main" val="144053466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18426802-6B70-4090-A5A0-58ECD78CD6CE}"/>
              </a:ext>
            </a:extLst>
          </p:cNvPr>
          <p:cNvSpPr>
            <a:spLocks noGrp="1"/>
          </p:cNvSpPr>
          <p:nvPr/>
        </p:nvSpPr>
        <p:spPr>
          <a:xfrm>
            <a:off x="523875" y="228600"/>
            <a:ext cx="9048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9XZL · AGS (F:1001)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FD1127-428E-4E2C-8460-8DD01E8D45DE}"/>
              </a:ext>
            </a:extLst>
          </p:cNvPr>
          <p:cNvSpPr>
            <a:spLocks noGrp="1"/>
          </p:cNvSpPr>
          <p:nvPr/>
        </p:nvSpPr>
        <p:spPr>
          <a:xfrm>
            <a:off x="523875" y="714375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Out-of-scope foreground precedes ligand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E14F6C-A4E2-4F4E-9A96-84429527B171}"/>
              </a:ext>
            </a:extLst>
          </p:cNvPr>
          <p:cNvSpPr>
            <a:spLocks noGrp="1"/>
          </p:cNvSpPr>
          <p:nvPr/>
        </p:nvSpPr>
        <p:spPr>
          <a:xfrm>
            <a:off x="523875" y="12192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81000" y="1695450"/>
            <a:ext cx="6667500" cy="5000625"/>
          </a:xfrm>
          <a:prstGeom prst="rect">
            <a:avLst/>
          </a:prstGeom>
        </p:spPr>
      </p:pic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F0428E8-146D-4BD9-BBC2-229D96C3668C}"/>
              </a:ext>
            </a:extLst>
          </p:cNvPr>
          <p:cNvSpPr>
            <a:spLocks noGrp="1"/>
          </p:cNvSpPr>
          <p:nvPr/>
        </p:nvSpPr>
        <p:spPr>
          <a:xfrm>
            <a:off x="2381048" y="3208733"/>
            <a:ext cx="940319" cy="296943"/>
          </a:xfrm>
          <a:custGeom>
            <a:avLst/>
            <a:gdLst/>
            <a:ahLst/>
            <a:cxnLst/>
            <a:rect l="0" t="0" r="0" b="0"/>
            <a:pathLst>
              <a:path w="940319" h="296943">
                <a:moveTo>
                  <a:pt x="0" y="0"/>
                </a:moveTo>
                <a:lnTo>
                  <a:pt x="940319" y="296943"/>
                </a:lnTo>
              </a:path>
            </a:pathLst>
          </a:custGeom>
          <a:noFill/>
          <a:ln w="19050">
            <a:solidFill>
              <a:srgbClr val="958A74"/>
            </a:solidFill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4F6ECBF-F059-4384-A6DC-1F4093C965EC}"/>
              </a:ext>
            </a:extLst>
          </p:cNvPr>
          <p:cNvSpPr>
            <a:spLocks noGrp="1"/>
          </p:cNvSpPr>
          <p:nvPr/>
        </p:nvSpPr>
        <p:spPr>
          <a:xfrm>
            <a:off x="1990725" y="2955131"/>
            <a:ext cx="381000" cy="3810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958A7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58A7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2675A2A4-1419-490E-A05B-7C21454F39F8}"/>
              </a:ext>
            </a:extLst>
          </p:cNvPr>
          <p:cNvSpPr>
            <a:spLocks noGrp="1"/>
          </p:cNvSpPr>
          <p:nvPr/>
        </p:nvSpPr>
        <p:spPr>
          <a:xfrm>
            <a:off x="4314825" y="4495800"/>
            <a:ext cx="938716" cy="372725"/>
          </a:xfrm>
          <a:custGeom>
            <a:avLst/>
            <a:gdLst/>
            <a:ahLst/>
            <a:cxnLst/>
            <a:rect l="0" t="0" r="0" b="0"/>
            <a:pathLst>
              <a:path w="938716" h="372725">
                <a:moveTo>
                  <a:pt x="938716" y="37272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E9983C"/>
            </a:solidFill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2EA5985-4726-42AE-A281-136A44B65237}"/>
              </a:ext>
            </a:extLst>
          </p:cNvPr>
          <p:cNvSpPr>
            <a:spLocks noGrp="1"/>
          </p:cNvSpPr>
          <p:nvPr/>
        </p:nvSpPr>
        <p:spPr>
          <a:xfrm>
            <a:off x="5257800" y="4755356"/>
            <a:ext cx="381000" cy="3810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888C33B-5521-44B8-9B09-C71F14855E52}"/>
              </a:ext>
            </a:extLst>
          </p:cNvPr>
          <p:cNvSpPr>
            <a:spLocks noGrp="1"/>
          </p:cNvSpPr>
          <p:nvPr/>
        </p:nvSpPr>
        <p:spPr>
          <a:xfrm>
            <a:off x="523875" y="6705600"/>
            <a:ext cx="6286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Site rank 2 · charged attempt 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FE75C35-A633-4093-89CC-1849192B024C}"/>
              </a:ext>
            </a:extLst>
          </p:cNvPr>
          <p:cNvSpPr>
            <a:spLocks noGrp="1"/>
          </p:cNvSpPr>
          <p:nvPr/>
        </p:nvSpPr>
        <p:spPr>
          <a:xfrm>
            <a:off x="523875" y="7096125"/>
            <a:ext cx="6381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958A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58A74"/>
                </a:solidFill>
                <a:latin typeface="Arial"/>
                <a:ea typeface="Arial"/>
                <a:cs typeface="Arial"/>
              </a:rPr>
              <a:t>#1  p=0.994  outside Stage3 scope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B5B1A41-AA90-4C63-A099-1FA25F4939C5}"/>
              </a:ext>
            </a:extLst>
          </p:cNvPr>
          <p:cNvSpPr>
            <a:spLocks noGrp="1"/>
          </p:cNvSpPr>
          <p:nvPr/>
        </p:nvSpPr>
        <p:spPr>
          <a:xfrm>
            <a:off x="523875" y="7429500"/>
            <a:ext cx="6381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#2  p=0.983  target ligand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BDAD3FC-2CA2-480F-9C0B-F539C6E72008}"/>
              </a:ext>
            </a:extLst>
          </p:cNvPr>
          <p:cNvSpPr>
            <a:spLocks noGrp="1"/>
          </p:cNvSpPr>
          <p:nvPr/>
        </p:nvSpPr>
        <p:spPr>
          <a:xfrm>
            <a:off x="7762875" y="12192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381875" y="1638300"/>
            <a:ext cx="3810000" cy="28575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6BB8120-DB79-4E44-9AC6-A022B72C03EC}"/>
              </a:ext>
            </a:extLst>
          </p:cNvPr>
          <p:cNvSpPr>
            <a:spLocks noGrp="1"/>
          </p:cNvSpPr>
          <p:nvPr/>
        </p:nvSpPr>
        <p:spPr>
          <a:xfrm>
            <a:off x="11525250" y="1857375"/>
            <a:ext cx="3143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AGS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B025843-18B6-4735-980A-25F16BC2719A}"/>
              </a:ext>
            </a:extLst>
          </p:cNvPr>
          <p:cNvSpPr>
            <a:spLocks noGrp="1"/>
          </p:cNvSpPr>
          <p:nvPr/>
        </p:nvSpPr>
        <p:spPr>
          <a:xfrm>
            <a:off x="11525250" y="2428875"/>
            <a:ext cx="3333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1 eligible small-molecule</a:t>
            </a:r>
          </a:p>
          <a:p>
            <a:pPr>
              <a:defRPr sz="187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SMILES identities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C41F6FD-CCA0-4ACE-9401-13BE9760835A}"/>
              </a:ext>
            </a:extLst>
          </p:cNvPr>
          <p:cNvSpPr>
            <a:spLocks noGrp="1"/>
          </p:cNvSpPr>
          <p:nvPr/>
        </p:nvSpPr>
        <p:spPr>
          <a:xfrm>
            <a:off x="11525250" y="3524250"/>
            <a:ext cx="328612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Exact SMILES match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4D5832-CD8D-4066-83AA-D7C2CD70260A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685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Build · self-ranking Top-1</a:t>
            </a: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667625" y="5334000"/>
            <a:ext cx="7048500" cy="528637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75791B5B-356E-46AD-B16D-F61388CA930A}"/>
              </a:ext>
            </a:extLst>
          </p:cNvPr>
          <p:cNvSpPr>
            <a:spLocks noGrp="1"/>
          </p:cNvSpPr>
          <p:nvPr/>
        </p:nvSpPr>
        <p:spPr>
          <a:xfrm>
            <a:off x="7762875" y="1068705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RMSD 0.91 Å · Clash 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1E3E44D-720B-417D-B2C8-67020EC133C2}"/>
              </a:ext>
            </a:extLst>
          </p:cNvPr>
          <p:cNvSpPr>
            <a:spLocks noGrp="1"/>
          </p:cNvSpPr>
          <p:nvPr/>
        </p:nvSpPr>
        <p:spPr>
          <a:xfrm>
            <a:off x="523875" y="8477250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region (reference)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35BB8AA-6710-417E-BF7D-A437BED27E7F}"/>
              </a:ext>
            </a:extLst>
          </p:cNvPr>
          <p:cNvSpPr>
            <a:spLocks noGrp="1"/>
          </p:cNvSpPr>
          <p:nvPr/>
        </p:nvSpPr>
        <p:spPr>
          <a:xfrm>
            <a:off x="4048125" y="84772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Predicted blob + CA2</a:t>
            </a: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81000" y="8877300"/>
            <a:ext cx="3238500" cy="2428875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952875" y="8877300"/>
            <a:ext cx="3238500" cy="2428875"/>
          </a:xfrm>
          <a:prstGeom prst="rect">
            <a:avLst/>
          </a:prstGeom>
        </p:spPr>
      </p:pic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416C02E0-7D73-453A-B58B-04877FB796FE}"/>
              </a:ext>
            </a:extLst>
          </p:cNvPr>
          <p:cNvSpPr>
            <a:spLocks noGrp="1"/>
          </p:cNvSpPr>
          <p:nvPr/>
        </p:nvSpPr>
        <p:spPr>
          <a:xfrm>
            <a:off x="52387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D4C09A5-4DB8-4E20-8E2D-7B284CFCE2F7}"/>
              </a:ext>
            </a:extLst>
          </p:cNvPr>
          <p:cNvSpPr>
            <a:spLocks noGrp="1"/>
          </p:cNvSpPr>
          <p:nvPr/>
        </p:nvSpPr>
        <p:spPr>
          <a:xfrm>
            <a:off x="87630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3137F809-4A0B-4764-9EC8-2715E4135826}"/>
              </a:ext>
            </a:extLst>
          </p:cNvPr>
          <p:cNvSpPr>
            <a:spLocks noGrp="1"/>
          </p:cNvSpPr>
          <p:nvPr/>
        </p:nvSpPr>
        <p:spPr>
          <a:xfrm>
            <a:off x="3409950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A0A9AD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9C6C0B6-F63F-48A8-A167-3901EBFC63C2}"/>
              </a:ext>
            </a:extLst>
          </p:cNvPr>
          <p:cNvSpPr>
            <a:spLocks noGrp="1"/>
          </p:cNvSpPr>
          <p:nvPr/>
        </p:nvSpPr>
        <p:spPr>
          <a:xfrm>
            <a:off x="3762375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D03D0684-D152-4522-AC3C-30569E88316D}"/>
              </a:ext>
            </a:extLst>
          </p:cNvPr>
          <p:cNvSpPr>
            <a:spLocks noGrp="1"/>
          </p:cNvSpPr>
          <p:nvPr/>
        </p:nvSpPr>
        <p:spPr>
          <a:xfrm>
            <a:off x="629602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2FE4280-0C53-4251-B214-02AE8CE16B08}"/>
              </a:ext>
            </a:extLst>
          </p:cNvPr>
          <p:cNvSpPr>
            <a:spLocks noGrp="1"/>
          </p:cNvSpPr>
          <p:nvPr/>
        </p:nvSpPr>
        <p:spPr>
          <a:xfrm>
            <a:off x="664845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Predicted blob</a:t>
            </a:r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0A65F7AB-3D49-4B9D-918E-B1339CC683C2}"/>
              </a:ext>
            </a:extLst>
          </p:cNvPr>
          <p:cNvSpPr>
            <a:spLocks noGrp="1"/>
          </p:cNvSpPr>
          <p:nvPr/>
        </p:nvSpPr>
        <p:spPr>
          <a:xfrm>
            <a:off x="9182100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21D40C7-C743-4456-9D46-AF6B79B0989C}"/>
              </a:ext>
            </a:extLst>
          </p:cNvPr>
          <p:cNvSpPr>
            <a:spLocks noGrp="1"/>
          </p:cNvSpPr>
          <p:nvPr/>
        </p:nvSpPr>
        <p:spPr>
          <a:xfrm>
            <a:off x="9534525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Top-1 pose</a:t>
            </a:r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885832B6-E7F2-42CF-B0F5-D6E93138051F}"/>
              </a:ext>
            </a:extLst>
          </p:cNvPr>
          <p:cNvSpPr>
            <a:spLocks noGrp="1"/>
          </p:cNvSpPr>
          <p:nvPr/>
        </p:nvSpPr>
        <p:spPr>
          <a:xfrm>
            <a:off x="12068175" y="11591925"/>
            <a:ext cx="266700" cy="953"/>
          </a:xfrm>
          <a:custGeom>
            <a:avLst/>
            <a:gdLst/>
            <a:ahLst/>
            <a:cxnLst/>
            <a:rect l="0" t="0" r="0" b="0"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8AA78FD-54EE-4B91-A64F-05E4542BCFDC}"/>
              </a:ext>
            </a:extLst>
          </p:cNvPr>
          <p:cNvSpPr>
            <a:spLocks noGrp="1"/>
          </p:cNvSpPr>
          <p:nvPr/>
        </p:nvSpPr>
        <p:spPr>
          <a:xfrm>
            <a:off x="12420600" y="11430000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7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83"/>
                </a:solidFill>
                <a:latin typeface="Arial"/>
                <a:ea typeface="Arial"/>
                <a:cs typeface="Arial"/>
              </a:rPr>
              <a:t>Deposited ligand</a:t>
            </a:r>
          </a:p>
        </p:txBody>
      </p:sp>
    </p:spTree>
    <p:extLst>
      <p:ext uri="{BB962C8B-B14F-4D97-AF65-F5344CB8AC3E}">
        <p14:creationId xmlns:p14="http://schemas.microsoft.com/office/powerpoint/2010/main" val="179364729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1416</Words>
  <Application>Microsoft Office PowerPoint</Application>
  <DocSecurity>0</DocSecurity>
  <PresentationFormat>自定义</PresentationFormat>
  <Paragraphs>239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Hongen Peng</cp:lastModifiedBy>
  <cp:revision>1</cp:revision>
  <dcterms:created xsi:type="dcterms:W3CDTF">2026-10-03T11:27:10Z</dcterms:created>
  <dcterms:modified xsi:type="dcterms:W3CDTF">2026-10-03T11:27:17Z</dcterms:modified>
</cp:coreProperties>
</file>