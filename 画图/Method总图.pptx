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E04F3CE8.xml" ContentType="application/vnd.ms-powerpoint.comments+xml"/>
  <Override PartName="/ppt/notesSlides/notesSlide2.xml" ContentType="application/vnd.openxmlformats-officedocument.presentationml.notesSlide+xml"/>
  <Override PartName="/ppt/comments/modernComment_102_E04F3CE8.xml" ContentType="application/vnd.ms-powerpoint.comments+xml"/>
  <Override PartName="/ppt/notesSlides/notesSlide3.xml" ContentType="application/vnd.openxmlformats-officedocument.presentationml.notesSlide+xml"/>
  <Override PartName="/ppt/comments/modernComment_100_E04F3CE8.xml" ContentType="application/vnd.ms-powerpoint.comments+xml"/>
  <Override PartName="/ppt/notesSlides/notesSlide4.xml" ContentType="application/vnd.openxmlformats-officedocument.presentationml.notesSlide+xml"/>
  <Override PartName="/ppt/comments/modernComment_103_E7B34CC8.xml" ContentType="application/vnd.ms-powerpoint.comments+xml"/>
  <Override PartName="/ppt/notesSlides/notesSlide5.xml" ContentType="application/vnd.openxmlformats-officedocument.presentationml.notesSlide+xml"/>
  <Override PartName="/ppt/comments/modernComment_104_D1BA0CE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56" r:id="rId4"/>
    <p:sldId id="259" r:id="rId5"/>
    <p:sldId id="260" r:id="rId6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CCB8"/>
    <a:srgbClr val="B8A9D9"/>
    <a:srgbClr val="4083B4"/>
    <a:srgbClr val="C3D4E6"/>
    <a:srgbClr val="EDE7F5"/>
    <a:srgbClr val="EDF3FA"/>
    <a:srgbClr val="D8A95A"/>
    <a:srgbClr val="FAF1DE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45" autoAdjust="0"/>
  </p:normalViewPr>
  <p:slideViewPr>
    <p:cSldViewPr snapToGrid="0">
      <p:cViewPr>
        <p:scale>
          <a:sx n="125" d="100"/>
          <a:sy n="125" d="100"/>
        </p:scale>
        <p:origin x="79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100_E04F3C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7938EA-5369-4EDF-8742-6BC1D724451B}" authorId="{D3F71A66-0C34-DF1A-5236-FECDBC820DCB}" created="2026-10-22T02:42:32.147">
    <pc:sldMkLst xmlns:pc="http://schemas.microsoft.com/office/powerpoint/2013/main/command">
      <pc:docMk/>
      <pc:sldMk cId="3763289320" sldId="256"/>
    </pc:sldMkLst>
    <p188:txBody>
      <a:bodyPr/>
      <a:lstStyle/>
      <a:p>
        <a:r>
          <a:t>@@fig-method-v9</a:t>
        </a:r>
      </a:p>
    </p188:txBody>
  </p188:cm>
  <p188:cm id="{7AA102D2-F700-4FF5-AB3B-402CA5D4531E}" authorId="{D3F71A66-0C34-DF1A-5236-FECDBC820DCB}" created="2026-10-26T07:11:39.638Z">
    <pc:sldMkLst xmlns:pc="http://schemas.microsoft.com/office/powerpoint/2013/main/command">
      <pc:docMk/>
      <pc:sldMk cId="3763289320" sldId="256"/>
    </pc:sldMkLst>
    <p188:txBody>
      <a:bodyPr/>
      <a:lstStyle/>
      <a:p>
        <a:r>
          <a:t>PROVENANCE v1</a:t>
        </a:r>
      </a:p>
      <a:p>
        <a:r>
          <a:t>id: fig-method-v9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fig-method-v9｜网络架构：text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本图与`@@fig-overview_v3`、`@@fig-overview_v3-original`、`@@fig-overview_v3-unified`、`@@fig-overview_v3-components`、`@@fig-method-v9-original`、`@@fig-method-v9-unified`、`@@fig-method-v9-components`共用 `画图/画图代码/e2e/visualization/fig12-revision`。当前图集中的本页为 `画图/Method总图.pptx` 第3页；`variant_manifest.json` 的生成配色为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1_E04F3C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FC1CBE-DB23-4F99-9FE8-4D1FAE5B4192}" authorId="{D3F71A66-0C34-DF1A-5236-FECDBC820DCB}" created="2026-10-22T02:42:32.147">
    <pc:sldMkLst xmlns:pc="http://schemas.microsoft.com/office/powerpoint/2013/main/command">
      <pc:docMk/>
      <pc:sldMk cId="3763289320" sldId="257"/>
    </pc:sldMkLst>
    <p188:txBody>
      <a:bodyPr/>
      <a:lstStyle/>
      <a:p>
        <a:r>
          <a:t>@@fig-method-v9-original</a:t>
        </a:r>
      </a:p>
    </p188:txBody>
  </p188:cm>
  <p188:cm id="{9B2AC575-5328-4A75-8DBD-A0A7A5CE1B5F}" authorId="{D3F71A66-0C34-DF1A-5236-FECDBC820DCB}" created="2026-10-26T07:11:39.638Z">
    <pc:sldMkLst xmlns:pc="http://schemas.microsoft.com/office/powerpoint/2013/main/command">
      <pc:docMk/>
      <pc:sldMk cId="3763289320" sldId="257"/>
    </pc:sldMkLst>
    <p188:txBody>
      <a:bodyPr/>
      <a:lstStyle/>
      <a:p>
        <a:r>
          <a:t>PROVENANCE v1</a:t>
        </a:r>
      </a:p>
      <a:p>
        <a:r>
          <a:t>id: fig-method-v9-original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fig-method-v9-original｜网络架构：original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本图与`@@fig-overview_v3`、`@@fig-overview_v3-original`、`@@fig-overview_v3-unified`、`@@fig-overview_v3-components`、`@@fig-method-v9`、`@@fig-method-v9-unified`、`@@fig-method-v9-components`共用 `画图/画图代码/e2e/visualization/fig12-revision`。当前图集中的本页为 `画图/Method总图.pptx` 第1页；`variant_manifest.json` 的生成配色为 `original`。前三页只切换配色，Pocket固定为2B；第四页提供独立组件，不与配色做交叉总图。共享的是坐标渲染与原生对象装配，不共同计算新的模型结果。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fig-method-v9-original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2_E04F3C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7A1043-CC2C-4CF5-B34E-88EDAC39683F}" authorId="{D3F71A66-0C34-DF1A-5236-FECDBC820DCB}" created="2026-10-22T02:42:32.147">
    <pc:sldMkLst xmlns:pc="http://schemas.microsoft.com/office/powerpoint/2013/main/command">
      <pc:docMk/>
      <pc:sldMk cId="0" sldId="258"/>
    </pc:sldMkLst>
    <p188:txBody>
      <a:bodyPr/>
      <a:lstStyle/>
      <a:p>
        <a:r>
          <a:t>@@fig-method-v9-unified</a:t>
        </a:r>
      </a:p>
    </p188:txBody>
  </p188:cm>
  <p188:cm id="{0FAB8D85-4B1E-4E16-A11E-F70F4196C1B4}" authorId="{D3F71A66-0C34-DF1A-5236-FECDBC820DCB}" created="2026-10-26T07:11:39.638Z">
    <pc:sldMkLst xmlns:pc="http://schemas.microsoft.com/office/powerpoint/2013/main/command">
      <pc:docMk/>
      <pc:sldMk cId="0" sldId="258"/>
    </pc:sldMkLst>
    <p188:txBody>
      <a:bodyPr/>
      <a:lstStyle/>
      <a:p>
        <a:r>
          <a:t>PROVENANCE v1</a:t>
        </a:r>
      </a:p>
      <a:p>
        <a:r>
          <a:t>id: fig-method-v9-unified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fig-method-v9-unified｜网络架构：unified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本图与`@@fig-overview_v3`、`@@fig-overview_v3-original`、`@@fig-overview_v3-unified`、`@@fig-overview_v3-components`、`@@fig-method-v9`、`@@fig-method-v9-original`、`@@fig-method-v9-components`共用 `画图/画图代码/e2e/visualization/fig12-revision`。当前图集中的本页为 `画图/Method总图.pptx` 第2页；`variant_manifest.json` 的生成配色为 `unified`。前三页只切换配色，Pocket固定为2B；第四页提供独立组件，不与配色做交叉总图。共享的是坐标渲染与原生对象装配，不共同计算新的模型结果。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fig-method-v9-unified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3_E7B34CC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C2A722B-215D-45E7-BFE2-D2335A151FD8}" authorId="{D3F71A66-0C34-DF1A-5236-FECDBC820DCB}" created="2026-10-22T02:42:32.147">
    <pc:sldMkLst xmlns:pc="http://schemas.microsoft.com/office/powerpoint/2013/main/command">
      <pc:docMk/>
      <pc:sldMk cId="3763289320" sldId="256"/>
    </pc:sldMkLst>
    <p188:txBody>
      <a:bodyPr/>
      <a:lstStyle/>
      <a:p>
        <a:r>
          <a:t>@@fig-method-v9-EDITING-4</a:t>
        </a:r>
      </a:p>
    </p188:txBody>
  </p188:cm>
  <p188:cm id="{F7E6DA0E-7995-4AFD-AFAB-B7ACAC6094A9}" authorId="{D3F71A66-0C34-DF1A-5236-FECDBC820DCB}" created="2026-10-26T07:11:39.638Z">
    <pc:sldMkLst xmlns:pc="http://schemas.microsoft.com/office/powerpoint/2013/main/command">
      <pc:docMk/>
      <pc:sldMk cId="3763289320" sldId="256"/>
    </pc:sldMkLst>
    <p188:txBody>
      <a:bodyPr/>
      <a:lstStyle/>
      <a:p>
        <a:r>
          <a:t>编辑稿来源副本：fig-method-v9-EDITING-4。复制自 @@fig-method-v9；本页未选入正文。</a:t>
        </a:r>
      </a:p>
      <a:p>
        <a:r>
          <a:t/>
        </a:r>
      </a:p>
      <a:p>
        <a:r>
          <a:t>PROVENANCE v1</a:t>
        </a:r>
      </a:p>
      <a:p>
        <a:r>
          <a:t>id: fig-method-v9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fig-method-v9｜网络架构：text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本图与`@@fig-overview_v3`、`@@fig-overview_v3-original`、`@@fig-overview_v3-unified`、`@@fig-overview_v3-components`、`@@fig-method-v9-original`、`@@fig-method-v9-unified`、`@@fig-method-v9-components`共用 `画图/画图代码/e2e/visualization/fig12-revision`。`variant_manifest.json` 按稳定图名选择 `画图/Method总图.pptx`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comments/modernComment_104_D1BA0CE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712C0E-5422-4818-88D5-845D43010D84}" authorId="{D3F71A66-0C34-DF1A-5236-FECDBC820DCB}" created="2026-10-22T02:42:32.147">
    <pc:sldMkLst xmlns:pc="http://schemas.microsoft.com/office/powerpoint/2013/main/command">
      <pc:docMk/>
      <pc:sldMk cId="3763289320" sldId="256"/>
    </pc:sldMkLst>
    <p188:txBody>
      <a:bodyPr/>
      <a:lstStyle/>
      <a:p>
        <a:r>
          <a:t>@@fig-method-v9-EDITING-5</a:t>
        </a:r>
      </a:p>
    </p188:txBody>
  </p188:cm>
  <p188:cm id="{396A21D9-3035-47FC-B3FC-05DCEA3D31D3}" authorId="{D3F71A66-0C34-DF1A-5236-FECDBC820DCB}" created="2026-10-26T07:11:39.638Z">
    <pc:sldMkLst xmlns:pc="http://schemas.microsoft.com/office/powerpoint/2013/main/command">
      <pc:docMk/>
      <pc:sldMk cId="3763289320" sldId="256"/>
    </pc:sldMkLst>
    <p188:txBody>
      <a:bodyPr/>
      <a:lstStyle/>
      <a:p>
        <a:r>
          <a:t>编辑稿来源副本：fig-method-v9-EDITING-5。复制自 @@fig-method-v9；本页未选入正文。</a:t>
        </a:r>
      </a:p>
      <a:p>
        <a:r>
          <a:t/>
        </a:r>
      </a:p>
      <a:p>
        <a:r>
          <a:t>PROVENANCE v1</a:t>
        </a:r>
      </a:p>
      <a:p>
        <a:r>
          <a:t>id: fig-method-v9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fig-method-v9｜网络架构：text</a:t>
        </a:r>
      </a:p>
      <a:p>
        <a:r>
          <a:t/>
        </a:r>
      </a:p>
      <a:p>
        <a:r>
          <a:t>**共享关系与本页选择。** 本图与`@@fig-overview_v3`、`@@fig-overview_v3-original`、`@@fig-overview_v3-unified`、`@@fig-overview_v3-components`、`@@fig-method-v9-original`、`@@fig-method-v9-unified`、`@@fig-method-v9-components`共用 `画图/画图代码/e2e/visualization/fig12-revision`。`variant_manifest.json` 按稳定图名选择 `画图/Method总图.pptx` 第1页，配色为 `text`。前三页只切换配色，Pocket固定为2B；第四页提供独立组件，不与配色做交叉总图。共享的是坐标渲染与原生对象装配，不共同计算新的模型结果。</a:t>
        </a:r>
      </a:p>
      <a:p>
        <a:r>
          <a:t/>
        </a:r>
      </a:p>
      <a:p>
        <a:r>
          <a:t>**直接绘图逻辑与边界。** `prepare_geometry.py` 读取合法SMILES及冻结blob体素中心；`render_structures.py` 按原首选坐标在PyMOL重渲染；`build_components.mjs` 仅构造授权的输入、化学身份、匹配直线、图示和组件页；`assemble.py` 直接复用作者的路径、节点、字体及媒体。保留原 embedding 邻域图、受体到体素/点云的输入拓扑、U-Net、PTv3和Match网络。只替换获认可的 density bank 图示。预处理、网络和输出平移分摊间距，Match整块平移；a/b左右边界及c上下边界对齐。Find三幅预览使用相同组件框。Build输入相同SMILES、圈出Cc1ccccc1并留上下间距；默认DG-PocketXMol及其他工具列表保留。 未授权的原生图形不重绘。原配色完整保留，text统一装饰文字，unified进一步收敛中性色和装饰背景；身份、特征和真实结构的元素色保留。</a:t>
        </a:r>
      </a:p>
      <a:p>
        <a:r>
          <a:t/>
        </a:r>
      </a:p>
      <a:p>
        <a:r>
          <a:t>**真实坐标、连接键和选择。** `source/candidate_cases.json` 固定16个病例键，连接 `stage3/output/stage3-cases-main/screening/assets/&lt;病例&gt;/arrays.npz` 与 `metadata.json`。`tuned` 是(N,3)的XYZ坐标，单位Å；`element`、`bonds`沿同一原子轴。`metrics.tuned.sample_index`保留原模型自评分首位，不按RMSD换序。四幅采用实例是9BJJ的A1AP0（E:1001）、9LLG的CLR（R:603）、30GA的ATP（L:401）、9WUP的FAD（A:1103），使用沉积受体；全部16例保留在备选页。公开CIF仅补充折叠背景，先与冻结口袋坐标核对，下载地址及散列在source_manifest.json。</a:t>
        </a:r>
      </a:p>
      <a:p>
        <a:r>
          <a:t/>
        </a:r>
      </a:p>
      <a:p>
        <a:r>
          <a:t>**方法图实例与显示。** 方法图输出为9BJJ、ATP（B:901）、occurrence_id=4、source_blob_index=0、sample_index=21的原首选，受体为CryoAtom2。两处Pocket分别保留Match的blob 10Å包络、Build的Find质心15Å球；sticks仅显示空腔附近的输入原子，外围cartoon提供结构背景。scheme1含辅助半透明surface，2B无surface，cartoon版从输出仅隐藏配体且关闭全部sticks。三种表示共用相机、1500×1100画布和透明裁边矩形。`render_manifest.json`保存原子选择、自排序下标、相机及坐标对应核对，`selection.json`保存四例选择和裁边。Fig1的9HJX背景与候选连线、Fig2全局blob是架构示意，真实pose的病例身份独立列明。</a:t>
        </a:r>
      </a:p>
      <a:p>
        <a:r>
          <a:t/>
        </a:r>
      </a:p>
      <a:p>
        <a:r>
          <a:t>**完整重建、版本与检查。** 本轮从仓库根执行 `D:/Anaconda/python.exe -X utf8 -B 转换工具/ops/rebuild_figures.py --figure fig-method-v9 --generated-captions`；新图注随本轮编号与实例更新。以后只重建图形时默认不加该选项，沿用正式PPT中的作者图注。运行依次准备几何、PyMOL原生重渲染、Artifact Tool组件和PPT装配，Python与Node屏蔽旧temp并禁止改写冻结输入。作者原始两页、两轮手绘及后续五张布局反馈保存在source。生成留档位于 `画图/画图代码/e2e/output/fig12-revision/regenerated`。检查覆盖540个原生组件、Match块内布局、编号与交叉直线、预览大小、面板边界、两份备选页一致性、PowerPoint逐页导出、正文实际宽度下字体、碰撞与PDF对齐；图内B标签叠加原生三维背景按作者要求单独审读。本轮完整重建与逐页审读已通过，实际发布及正文编译证据见 `talk/fig12_revision_20261026/执行记录.md`。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46E33-EAC0-DB41-B144-2F6CD7C1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F84A2-6A4B-93D1-EB24-86D3764CE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23B58-F312-EC14-A69B-A95495E16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8DA8E-1CEB-2EDA-3870-1951FA968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156425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FF6BC-628B-87E4-3031-4A559211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7DE87-09EC-2A47-EC1B-A7BB908DF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EE821-D0FD-3BBB-5363-C6BD85C6C2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ENGLISH:</a:t>
            </a:r>
          </a:p>
          <a:p>
            <a:r>
              <a:rPr lang="en-US" altLang="zh-CN" dirty="0"/>
              <a:t>Network architecture and data flow of the </a:t>
            </a:r>
            <a:r>
              <a:rPr lang="en-US" altLang="zh-CN" dirty="0" err="1"/>
              <a:t>LigandSeek</a:t>
            </a:r>
            <a:r>
              <a:rPr lang="en-US" altLang="zh-CN" dirty="0"/>
              <a:t> Find–Match–Build framework.</a:t>
            </a:r>
          </a:p>
          <a:p>
            <a:r>
              <a:rPr lang="en-US" altLang="zh-CN" b="1" dirty="0"/>
              <a:t>a, </a:t>
            </a:r>
            <a:r>
              <a:rPr lang="en-US" altLang="zh-CN" dirty="0"/>
              <a:t>Find encodes density and receptor information to produce candidate ligand regions (blobs in $\</a:t>
            </a:r>
            <a:r>
              <a:rPr lang="en-US" altLang="zh-CN" dirty="0" err="1"/>
              <a:t>mathbb</a:t>
            </a:r>
            <a:r>
              <a:rPr lang="en-US" altLang="zh-CN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altLang="zh-CN" sz="1200" b="1" kern="1200" dirty="0"/>
              <a:t>b, </a:t>
            </a:r>
            <a:r>
              <a:rPr lang="en-US" altLang="zh-CN" dirty="0"/>
              <a:t>Match classifies candidates as foreground or background and assigns ligand identities. A 3D U-Net encodes a local voxel crop. Pooling, cross-attention and </a:t>
            </a:r>
            <a:r>
              <a:rPr lang="en-US" altLang="zh-CN" dirty="0" err="1"/>
              <a:t>FiLM</a:t>
            </a:r>
            <a:r>
              <a:rPr lang="en-US" altLang="zh-CN" dirty="0"/>
              <a:t> integrate pocket and blob information with auxiliary features from Find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altLang="zh-CN" sz="1200" b="1" kern="1200" dirty="0"/>
              <a:t>c, </a:t>
            </a:r>
            <a:r>
              <a:rPr lang="en-US" altLang="zh-CN" dirty="0"/>
              <a:t>Build uses the binding site, SMILES identity, pocket and density information with downstream docking tools to reconstruct an all-atom ligand pose. </a:t>
            </a:r>
            <a:r>
              <a:rPr lang="en-US" altLang="zh-CN" dirty="0" err="1"/>
              <a:t>PocketXMol</a:t>
            </a:r>
            <a:r>
              <a:rPr lang="en-US" altLang="zh-CN"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F256E-045F-A942-C0BA-85F6F8D01F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786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1_E04F3CE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2_E04F3CE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0_E04F3CE8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E7B34CC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D1BA0CEE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hod / original"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38193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868797" y="85630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469817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0259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46981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37636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962711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962711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962566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2128828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777479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426130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962711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2053680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484443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932283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354586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778141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848673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832852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962711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809120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32993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420626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187803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8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228756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2067869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589586" y="1155648"/>
            <a:ext cx="150375" cy="10272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366446" y="1024437"/>
            <a:ext cx="168602" cy="95394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374195" y="1164655"/>
            <a:ext cx="152150" cy="82991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34582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71808C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7180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963973" y="415407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99903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999664" y="14714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574918" y="14714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DG-PocketXMol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99281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5044453" y="2647450"/>
            <a:ext cx="1047750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504132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3605650" cy="3967446"/>
            <a:chOff x="1936337" y="669608"/>
            <a:chExt cx="847972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3172901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3269449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3181873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3192663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1518479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3260557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1544003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3107055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5444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856838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892081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6428338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587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704688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8828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842858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84733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866738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9305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990063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9305507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628238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676857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6152113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8133932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518129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7305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52273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79095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7508759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776983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569082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78148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718319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7154524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9210972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9182301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666874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807779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913156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3147792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2272349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975515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946844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546890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5006120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761327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737991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617154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588484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417159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974562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52672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10133903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10105233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10123426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709696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68635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858411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929398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8010400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993380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970044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932896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508587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2900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3817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4379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5086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4119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5678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5633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6303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5811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5724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5646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7030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4224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4998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4899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4077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5380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5343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5220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5246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5786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5982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6179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6376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6573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6770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6967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7164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792289" y="1489896"/>
            <a:ext cx="162207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938919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8199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8077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786560" y="656526"/>
            <a:ext cx="163405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934388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8119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998402" y="452120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564187" y="452120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596570" y="1029390"/>
            <a:ext cx="168602" cy="95394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0508" name="F2-bank-channel">
            <a:extLst>
              <a:ext uri="{FF2B5EF4-FFF2-40B4-BE49-F238E27FC236}">
                <a16:creationId xmlns:a16="http://schemas.microsoft.com/office/drawing/2014/main" id="{E8F7522B-3B27-4338-8014-8A4EEE25C15E}"/>
              </a:ext>
            </a:extLst>
          </p:cNvPr>
          <p:cNvSpPr>
            <a:spLocks noGrp="1"/>
          </p:cNvSpPr>
          <p:nvPr/>
        </p:nvSpPr>
        <p:spPr>
          <a:xfrm>
            <a:off x="1432560" y="50863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09" name="F2-bank-channel">
            <a:extLst>
              <a:ext uri="{FF2B5EF4-FFF2-40B4-BE49-F238E27FC236}">
                <a16:creationId xmlns:a16="http://schemas.microsoft.com/office/drawing/2014/main" id="{44CA542A-604D-4AA5-B11D-B6617579A677}"/>
              </a:ext>
            </a:extLst>
          </p:cNvPr>
          <p:cNvSpPr>
            <a:spLocks noGrp="1"/>
          </p:cNvSpPr>
          <p:nvPr/>
        </p:nvSpPr>
        <p:spPr>
          <a:xfrm>
            <a:off x="1424940" y="51530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0" name="F2-bank-channel">
            <a:extLst>
              <a:ext uri="{FF2B5EF4-FFF2-40B4-BE49-F238E27FC236}">
                <a16:creationId xmlns:a16="http://schemas.microsoft.com/office/drawing/2014/main" id="{94C83CC1-C6DF-4DC5-87DF-BCD87221CF3B}"/>
              </a:ext>
            </a:extLst>
          </p:cNvPr>
          <p:cNvSpPr>
            <a:spLocks noGrp="1"/>
          </p:cNvSpPr>
          <p:nvPr/>
        </p:nvSpPr>
        <p:spPr>
          <a:xfrm>
            <a:off x="1417320" y="52197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1" name="F2-bank-channel">
            <a:extLst>
              <a:ext uri="{FF2B5EF4-FFF2-40B4-BE49-F238E27FC236}">
                <a16:creationId xmlns:a16="http://schemas.microsoft.com/office/drawing/2014/main" id="{1ABD8E71-8A8E-4A01-9656-5F57A7EAD863}"/>
              </a:ext>
            </a:extLst>
          </p:cNvPr>
          <p:cNvSpPr>
            <a:spLocks noGrp="1"/>
          </p:cNvSpPr>
          <p:nvPr/>
        </p:nvSpPr>
        <p:spPr>
          <a:xfrm>
            <a:off x="1409700" y="52863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2" name="F2-bank-channel">
            <a:extLst>
              <a:ext uri="{FF2B5EF4-FFF2-40B4-BE49-F238E27FC236}">
                <a16:creationId xmlns:a16="http://schemas.microsoft.com/office/drawing/2014/main" id="{A1E78B7C-AF8B-46CF-BE9A-7739D3A000CC}"/>
              </a:ext>
            </a:extLst>
          </p:cNvPr>
          <p:cNvSpPr>
            <a:spLocks noGrp="1"/>
          </p:cNvSpPr>
          <p:nvPr/>
        </p:nvSpPr>
        <p:spPr>
          <a:xfrm>
            <a:off x="1402080" y="53530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3" name="F2-bank-channel">
            <a:extLst>
              <a:ext uri="{FF2B5EF4-FFF2-40B4-BE49-F238E27FC236}">
                <a16:creationId xmlns:a16="http://schemas.microsoft.com/office/drawing/2014/main" id="{F902D412-512B-42B7-B05D-EDD9258097DC}"/>
              </a:ext>
            </a:extLst>
          </p:cNvPr>
          <p:cNvSpPr>
            <a:spLocks noGrp="1"/>
          </p:cNvSpPr>
          <p:nvPr/>
        </p:nvSpPr>
        <p:spPr>
          <a:xfrm>
            <a:off x="1394460" y="54197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4" name="F2-bank-channel">
            <a:extLst>
              <a:ext uri="{FF2B5EF4-FFF2-40B4-BE49-F238E27FC236}">
                <a16:creationId xmlns:a16="http://schemas.microsoft.com/office/drawing/2014/main" id="{CA6824A1-9C37-4EE2-8CF4-7C88BCE1DBE6}"/>
              </a:ext>
            </a:extLst>
          </p:cNvPr>
          <p:cNvSpPr>
            <a:spLocks noGrp="1"/>
          </p:cNvSpPr>
          <p:nvPr/>
        </p:nvSpPr>
        <p:spPr>
          <a:xfrm>
            <a:off x="1386840" y="54864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5" name="F2-bank-channel">
            <a:extLst>
              <a:ext uri="{FF2B5EF4-FFF2-40B4-BE49-F238E27FC236}">
                <a16:creationId xmlns:a16="http://schemas.microsoft.com/office/drawing/2014/main" id="{2705DA7A-40F9-48D2-946C-8019421C16B7}"/>
              </a:ext>
            </a:extLst>
          </p:cNvPr>
          <p:cNvSpPr>
            <a:spLocks noGrp="1"/>
          </p:cNvSpPr>
          <p:nvPr/>
        </p:nvSpPr>
        <p:spPr>
          <a:xfrm>
            <a:off x="1379220" y="55530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6" name="F2-bank-channel">
            <a:extLst>
              <a:ext uri="{FF2B5EF4-FFF2-40B4-BE49-F238E27FC236}">
                <a16:creationId xmlns:a16="http://schemas.microsoft.com/office/drawing/2014/main" id="{E1B9C475-D32F-4E88-9AAA-6701AFC1AC14}"/>
              </a:ext>
            </a:extLst>
          </p:cNvPr>
          <p:cNvSpPr>
            <a:spLocks noGrp="1"/>
          </p:cNvSpPr>
          <p:nvPr/>
        </p:nvSpPr>
        <p:spPr>
          <a:xfrm>
            <a:off x="1371600" y="56197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17" name="F2-density-voxel">
            <a:extLst>
              <a:ext uri="{FF2B5EF4-FFF2-40B4-BE49-F238E27FC236}">
                <a16:creationId xmlns:a16="http://schemas.microsoft.com/office/drawing/2014/main" id="{A49953DB-68D8-42EB-963F-DD42F453137D}"/>
              </a:ext>
            </a:extLst>
          </p:cNvPr>
          <p:cNvSpPr>
            <a:spLocks noGrp="1"/>
          </p:cNvSpPr>
          <p:nvPr/>
        </p:nvSpPr>
        <p:spPr>
          <a:xfrm>
            <a:off x="1390650" y="571500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18" name="F2-density-voxel">
            <a:extLst>
              <a:ext uri="{FF2B5EF4-FFF2-40B4-BE49-F238E27FC236}">
                <a16:creationId xmlns:a16="http://schemas.microsoft.com/office/drawing/2014/main" id="{ECECDED8-7BB6-465D-90CE-1566D913C0F0}"/>
              </a:ext>
            </a:extLst>
          </p:cNvPr>
          <p:cNvSpPr>
            <a:spLocks noGrp="1"/>
          </p:cNvSpPr>
          <p:nvPr/>
        </p:nvSpPr>
        <p:spPr>
          <a:xfrm>
            <a:off x="1443038" y="571500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19" name="F2-density-voxel">
            <a:extLst>
              <a:ext uri="{FF2B5EF4-FFF2-40B4-BE49-F238E27FC236}">
                <a16:creationId xmlns:a16="http://schemas.microsoft.com/office/drawing/2014/main" id="{49E89024-8821-43E6-B830-D5D2C6143679}"/>
              </a:ext>
            </a:extLst>
          </p:cNvPr>
          <p:cNvSpPr>
            <a:spLocks noGrp="1"/>
          </p:cNvSpPr>
          <p:nvPr/>
        </p:nvSpPr>
        <p:spPr>
          <a:xfrm>
            <a:off x="1495425" y="571500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20" name="F2-density-voxel">
            <a:extLst>
              <a:ext uri="{FF2B5EF4-FFF2-40B4-BE49-F238E27FC236}">
                <a16:creationId xmlns:a16="http://schemas.microsoft.com/office/drawing/2014/main" id="{3A635687-B1F5-496B-9A49-461D8BC35087}"/>
              </a:ext>
            </a:extLst>
          </p:cNvPr>
          <p:cNvSpPr>
            <a:spLocks noGrp="1"/>
          </p:cNvSpPr>
          <p:nvPr/>
        </p:nvSpPr>
        <p:spPr>
          <a:xfrm>
            <a:off x="1547813" y="571500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21" name="F2-density-voxel">
            <a:extLst>
              <a:ext uri="{FF2B5EF4-FFF2-40B4-BE49-F238E27FC236}">
                <a16:creationId xmlns:a16="http://schemas.microsoft.com/office/drawing/2014/main" id="{FEC54E9C-643D-4824-B955-66BA7E401A0E}"/>
              </a:ext>
            </a:extLst>
          </p:cNvPr>
          <p:cNvSpPr>
            <a:spLocks noGrp="1"/>
          </p:cNvSpPr>
          <p:nvPr/>
        </p:nvSpPr>
        <p:spPr>
          <a:xfrm>
            <a:off x="1390650" y="614363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22" name="F2-density-voxel">
            <a:extLst>
              <a:ext uri="{FF2B5EF4-FFF2-40B4-BE49-F238E27FC236}">
                <a16:creationId xmlns:a16="http://schemas.microsoft.com/office/drawing/2014/main" id="{ED2290E5-D29A-42C8-863E-1A0B5A093DAF}"/>
              </a:ext>
            </a:extLst>
          </p:cNvPr>
          <p:cNvSpPr>
            <a:spLocks noGrp="1"/>
          </p:cNvSpPr>
          <p:nvPr/>
        </p:nvSpPr>
        <p:spPr>
          <a:xfrm>
            <a:off x="1443038" y="614363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23" name="F2-density-voxel">
            <a:extLst>
              <a:ext uri="{FF2B5EF4-FFF2-40B4-BE49-F238E27FC236}">
                <a16:creationId xmlns:a16="http://schemas.microsoft.com/office/drawing/2014/main" id="{C030A993-BA02-4CBF-A526-9AF795928873}"/>
              </a:ext>
            </a:extLst>
          </p:cNvPr>
          <p:cNvSpPr>
            <a:spLocks noGrp="1"/>
          </p:cNvSpPr>
          <p:nvPr/>
        </p:nvSpPr>
        <p:spPr>
          <a:xfrm>
            <a:off x="1495425" y="614363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24" name="F2-density-voxel">
            <a:extLst>
              <a:ext uri="{FF2B5EF4-FFF2-40B4-BE49-F238E27FC236}">
                <a16:creationId xmlns:a16="http://schemas.microsoft.com/office/drawing/2014/main" id="{EC212EF2-C0F1-41AF-B3CE-D957D17932A0}"/>
              </a:ext>
            </a:extLst>
          </p:cNvPr>
          <p:cNvSpPr>
            <a:spLocks noGrp="1"/>
          </p:cNvSpPr>
          <p:nvPr/>
        </p:nvSpPr>
        <p:spPr>
          <a:xfrm>
            <a:off x="1547813" y="614363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25" name="F2-density-voxel">
            <a:extLst>
              <a:ext uri="{FF2B5EF4-FFF2-40B4-BE49-F238E27FC236}">
                <a16:creationId xmlns:a16="http://schemas.microsoft.com/office/drawing/2014/main" id="{8E8D1CD2-DC81-4A69-849C-F21783FD798D}"/>
              </a:ext>
            </a:extLst>
          </p:cNvPr>
          <p:cNvSpPr>
            <a:spLocks noGrp="1"/>
          </p:cNvSpPr>
          <p:nvPr/>
        </p:nvSpPr>
        <p:spPr>
          <a:xfrm>
            <a:off x="1390650" y="657225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26" name="F2-density-voxel">
            <a:extLst>
              <a:ext uri="{FF2B5EF4-FFF2-40B4-BE49-F238E27FC236}">
                <a16:creationId xmlns:a16="http://schemas.microsoft.com/office/drawing/2014/main" id="{CEA7FE12-330D-4160-8BE6-769BF6A26577}"/>
              </a:ext>
            </a:extLst>
          </p:cNvPr>
          <p:cNvSpPr>
            <a:spLocks noGrp="1"/>
          </p:cNvSpPr>
          <p:nvPr/>
        </p:nvSpPr>
        <p:spPr>
          <a:xfrm>
            <a:off x="1443038" y="657225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27" name="F2-density-voxel">
            <a:extLst>
              <a:ext uri="{FF2B5EF4-FFF2-40B4-BE49-F238E27FC236}">
                <a16:creationId xmlns:a16="http://schemas.microsoft.com/office/drawing/2014/main" id="{BE225EBF-D266-4631-9D7E-1B21643503B4}"/>
              </a:ext>
            </a:extLst>
          </p:cNvPr>
          <p:cNvSpPr>
            <a:spLocks noGrp="1"/>
          </p:cNvSpPr>
          <p:nvPr/>
        </p:nvSpPr>
        <p:spPr>
          <a:xfrm>
            <a:off x="1495425" y="657225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28" name="F2-density-voxel">
            <a:extLst>
              <a:ext uri="{FF2B5EF4-FFF2-40B4-BE49-F238E27FC236}">
                <a16:creationId xmlns:a16="http://schemas.microsoft.com/office/drawing/2014/main" id="{D56EA4DF-3429-4429-A2AA-6D7C9D33B341}"/>
              </a:ext>
            </a:extLst>
          </p:cNvPr>
          <p:cNvSpPr>
            <a:spLocks noGrp="1"/>
          </p:cNvSpPr>
          <p:nvPr/>
        </p:nvSpPr>
        <p:spPr>
          <a:xfrm>
            <a:off x="1547813" y="657225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29" name="F2-density-voxel">
            <a:extLst>
              <a:ext uri="{FF2B5EF4-FFF2-40B4-BE49-F238E27FC236}">
                <a16:creationId xmlns:a16="http://schemas.microsoft.com/office/drawing/2014/main" id="{F4CB67F8-3427-42E0-B222-3C4C5B421A28}"/>
              </a:ext>
            </a:extLst>
          </p:cNvPr>
          <p:cNvSpPr>
            <a:spLocks noGrp="1"/>
          </p:cNvSpPr>
          <p:nvPr/>
        </p:nvSpPr>
        <p:spPr>
          <a:xfrm>
            <a:off x="1390650" y="700088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30" name="F2-density-voxel">
            <a:extLst>
              <a:ext uri="{FF2B5EF4-FFF2-40B4-BE49-F238E27FC236}">
                <a16:creationId xmlns:a16="http://schemas.microsoft.com/office/drawing/2014/main" id="{E62F2DC6-612B-4891-B2B7-8020312C0678}"/>
              </a:ext>
            </a:extLst>
          </p:cNvPr>
          <p:cNvSpPr>
            <a:spLocks noGrp="1"/>
          </p:cNvSpPr>
          <p:nvPr/>
        </p:nvSpPr>
        <p:spPr>
          <a:xfrm>
            <a:off x="1443038" y="700088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31" name="F2-density-voxel">
            <a:extLst>
              <a:ext uri="{FF2B5EF4-FFF2-40B4-BE49-F238E27FC236}">
                <a16:creationId xmlns:a16="http://schemas.microsoft.com/office/drawing/2014/main" id="{3D79F01F-5243-4E3C-8AA7-EE2C8B8C7E29}"/>
              </a:ext>
            </a:extLst>
          </p:cNvPr>
          <p:cNvSpPr>
            <a:spLocks noGrp="1"/>
          </p:cNvSpPr>
          <p:nvPr/>
        </p:nvSpPr>
        <p:spPr>
          <a:xfrm>
            <a:off x="1495425" y="700088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32" name="F2-density-voxel">
            <a:extLst>
              <a:ext uri="{FF2B5EF4-FFF2-40B4-BE49-F238E27FC236}">
                <a16:creationId xmlns:a16="http://schemas.microsoft.com/office/drawing/2014/main" id="{7F5BC88D-76D1-4A24-B998-8BD41F9AADDB}"/>
              </a:ext>
            </a:extLst>
          </p:cNvPr>
          <p:cNvSpPr>
            <a:spLocks noGrp="1"/>
          </p:cNvSpPr>
          <p:nvPr/>
        </p:nvSpPr>
        <p:spPr>
          <a:xfrm>
            <a:off x="1547813" y="700088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33" name="F2-spatial-transform">
            <a:extLst>
              <a:ext uri="{FF2B5EF4-FFF2-40B4-BE49-F238E27FC236}">
                <a16:creationId xmlns:a16="http://schemas.microsoft.com/office/drawing/2014/main" id="{A85283F8-9FE2-48A1-8429-5356F2D370E2}"/>
              </a:ext>
            </a:extLst>
          </p:cNvPr>
          <p:cNvSpPr>
            <a:spLocks noGrp="1"/>
          </p:cNvSpPr>
          <p:nvPr/>
        </p:nvSpPr>
        <p:spPr>
          <a:xfrm>
            <a:off x="966788" y="438150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Spatial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50534" name="F2-atom-embeddings-input">
            <a:extLst>
              <a:ext uri="{FF2B5EF4-FFF2-40B4-BE49-F238E27FC236}">
                <a16:creationId xmlns:a16="http://schemas.microsoft.com/office/drawing/2014/main" id="{0B4B93C5-B055-4ECE-8D5F-9FD8F9F29D6A}"/>
              </a:ext>
            </a:extLst>
          </p:cNvPr>
          <p:cNvSpPr>
            <a:spLocks noGrp="1"/>
          </p:cNvSpPr>
          <p:nvPr/>
        </p:nvSpPr>
        <p:spPr>
          <a:xfrm>
            <a:off x="966788" y="1171575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Atom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embeddings</a:t>
            </a:r>
          </a:p>
        </p:txBody>
      </p:sp>
      <p:pic>
        <p:nvPicPr>
          <p:cNvPr id="50541" name="图片 50540">
            <a:extLst>
              <a:ext uri="{FF2B5EF4-FFF2-40B4-BE49-F238E27FC236}">
                <a16:creationId xmlns:a16="http://schemas.microsoft.com/office/drawing/2014/main" id="{CC697937-E8CE-4EDF-BB17-1FEA96E39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83208" y="2971800"/>
            <a:ext cx="414760" cy="342900"/>
          </a:xfrm>
          <a:prstGeom prst="rect">
            <a:avLst/>
          </a:prstGeom>
        </p:spPr>
      </p:pic>
      <p:pic>
        <p:nvPicPr>
          <p:cNvPr id="50542" name="图片 50541">
            <a:extLst>
              <a:ext uri="{FF2B5EF4-FFF2-40B4-BE49-F238E27FC236}">
                <a16:creationId xmlns:a16="http://schemas.microsoft.com/office/drawing/2014/main" id="{438EEB95-3CA6-4E7A-A194-3246AD9537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543" name="F2-Build-selected">
            <a:extLst>
              <a:ext uri="{FF2B5EF4-FFF2-40B4-BE49-F238E27FC236}">
                <a16:creationId xmlns:a16="http://schemas.microsoft.com/office/drawing/2014/main" id="{DE962B78-B7D5-48B9-87F8-2B7091442BBC}"/>
              </a:ext>
            </a:extLst>
          </p:cNvPr>
          <p:cNvSpPr>
            <a:spLocks noGrp="1"/>
          </p:cNvSpPr>
          <p:nvPr/>
        </p:nvSpPr>
        <p:spPr>
          <a:xfrm>
            <a:off x="5048250" y="1268730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544" name="F2-Build-SMILES-0">
            <a:extLst>
              <a:ext uri="{FF2B5EF4-FFF2-40B4-BE49-F238E27FC236}">
                <a16:creationId xmlns:a16="http://schemas.microsoft.com/office/drawing/2014/main" id="{78E3ED61-275F-4084-A0ED-58027336CEDD}"/>
              </a:ext>
            </a:extLst>
          </p:cNvPr>
          <p:cNvSpPr>
            <a:spLocks noGrp="1"/>
          </p:cNvSpPr>
          <p:nvPr/>
        </p:nvSpPr>
        <p:spPr>
          <a:xfrm>
            <a:off x="5067300" y="108585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545" name="F2-Build-SMILES-7.8">
            <a:extLst>
              <a:ext uri="{FF2B5EF4-FFF2-40B4-BE49-F238E27FC236}">
                <a16:creationId xmlns:a16="http://schemas.microsoft.com/office/drawing/2014/main" id="{D4F86145-7D8F-43EC-916E-D3D9668CBA5D}"/>
              </a:ext>
            </a:extLst>
          </p:cNvPr>
          <p:cNvSpPr>
            <a:spLocks noGrp="1"/>
          </p:cNvSpPr>
          <p:nvPr/>
        </p:nvSpPr>
        <p:spPr>
          <a:xfrm>
            <a:off x="5067300" y="11601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546" name="F2-Build-continuation">
            <a:extLst>
              <a:ext uri="{FF2B5EF4-FFF2-40B4-BE49-F238E27FC236}">
                <a16:creationId xmlns:a16="http://schemas.microsoft.com/office/drawing/2014/main" id="{69E4AF15-4441-4953-BC21-A9A09B8807EC}"/>
              </a:ext>
            </a:extLst>
          </p:cNvPr>
          <p:cNvSpPr>
            <a:spLocks noGrp="1"/>
          </p:cNvSpPr>
          <p:nvPr/>
        </p:nvSpPr>
        <p:spPr>
          <a:xfrm>
            <a:off x="5067300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547" name="F2-Build-continuation">
            <a:extLst>
              <a:ext uri="{FF2B5EF4-FFF2-40B4-BE49-F238E27FC236}">
                <a16:creationId xmlns:a16="http://schemas.microsoft.com/office/drawing/2014/main" id="{A73B5841-5DC8-4503-BDE2-815DBBEFE500}"/>
              </a:ext>
            </a:extLst>
          </p:cNvPr>
          <p:cNvSpPr>
            <a:spLocks noGrp="1"/>
          </p:cNvSpPr>
          <p:nvPr/>
        </p:nvSpPr>
        <p:spPr>
          <a:xfrm>
            <a:off x="5087303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548" name="F2-Build-continuation">
            <a:extLst>
              <a:ext uri="{FF2B5EF4-FFF2-40B4-BE49-F238E27FC236}">
                <a16:creationId xmlns:a16="http://schemas.microsoft.com/office/drawing/2014/main" id="{2CD955D9-21C2-4AE5-9635-C9F55AC072BD}"/>
              </a:ext>
            </a:extLst>
          </p:cNvPr>
          <p:cNvSpPr>
            <a:spLocks noGrp="1"/>
          </p:cNvSpPr>
          <p:nvPr/>
        </p:nvSpPr>
        <p:spPr>
          <a:xfrm>
            <a:off x="5107305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549" name="F2-Build-SMILES-19.8">
            <a:extLst>
              <a:ext uri="{FF2B5EF4-FFF2-40B4-BE49-F238E27FC236}">
                <a16:creationId xmlns:a16="http://schemas.microsoft.com/office/drawing/2014/main" id="{F825F396-DC00-4D1F-95F0-5208E2576D2C}"/>
              </a:ext>
            </a:extLst>
          </p:cNvPr>
          <p:cNvSpPr>
            <a:spLocks noGrp="1"/>
          </p:cNvSpPr>
          <p:nvPr/>
        </p:nvSpPr>
        <p:spPr>
          <a:xfrm>
            <a:off x="5067300" y="12744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550" name="F2-Build-SMILES-27.599999999999998">
            <a:extLst>
              <a:ext uri="{FF2B5EF4-FFF2-40B4-BE49-F238E27FC236}">
                <a16:creationId xmlns:a16="http://schemas.microsoft.com/office/drawing/2014/main" id="{42E599AD-9784-4B26-ADAB-718990C44186}"/>
              </a:ext>
            </a:extLst>
          </p:cNvPr>
          <p:cNvSpPr>
            <a:spLocks noGrp="1"/>
          </p:cNvSpPr>
          <p:nvPr/>
        </p:nvSpPr>
        <p:spPr>
          <a:xfrm>
            <a:off x="5067300" y="134874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pic>
        <p:nvPicPr>
          <p:cNvPr id="50551" name="图片 50550">
            <a:extLst>
              <a:ext uri="{FF2B5EF4-FFF2-40B4-BE49-F238E27FC236}">
                <a16:creationId xmlns:a16="http://schemas.microsoft.com/office/drawing/2014/main" id="{788E8304-A748-4BB4-8B4F-8A9E612C08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  <p:grpSp>
        <p:nvGrpSpPr>
          <p:cNvPr id="50552" name="Find preview 15"/>
          <p:cNvGrpSpPr/>
          <p:nvPr/>
        </p:nvGrpSpPr>
        <p:grpSpPr>
          <a:xfrm>
            <a:off x="511635" y="471488"/>
            <a:ext cx="404812" cy="395288"/>
            <a:chOff x="511635" y="471488"/>
            <a:chExt cx="404812" cy="395288"/>
          </a:xfrm>
        </p:grpSpPr>
        <p:pic>
          <p:nvPicPr>
            <p:cNvPr id="1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8CF1199C-6488-C5B6-B489-1131732B4FB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11635" y="475859"/>
              <a:ext cx="404812" cy="386544"/>
            </a:xfrm>
            <a:prstGeom prst="rect">
              <a:avLst/>
            </a:prstGeom>
          </p:spPr>
        </p:pic>
        <p:sp>
          <p:nvSpPr>
            <p:cNvPr id="50535" name="crop-cube">
              <a:extLst>
                <a:ext uri="{FF2B5EF4-FFF2-40B4-BE49-F238E27FC236}">
                  <a16:creationId xmlns:a16="http://schemas.microsoft.com/office/drawing/2014/main" id="{25839399-079E-4307-9725-E085483F7FD6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626745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36" name="crop-cube">
              <a:extLst>
                <a:ext uri="{FF2B5EF4-FFF2-40B4-BE49-F238E27FC236}">
                  <a16:creationId xmlns:a16="http://schemas.microsoft.com/office/drawing/2014/main" id="{07D86F79-577D-4116-BDEA-F38D19D792BA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626745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37" name="F2-density-crop-size">
              <a:extLst>
                <a:ext uri="{FF2B5EF4-FFF2-40B4-BE49-F238E27FC236}">
                  <a16:creationId xmlns:a16="http://schemas.microsoft.com/office/drawing/2014/main" id="{9B6ECDDF-4CA0-44BE-83B1-7FF800ECF209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766763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553" name="Find preview 1435"/>
          <p:cNvGrpSpPr/>
          <p:nvPr/>
        </p:nvGrpSpPr>
        <p:grpSpPr>
          <a:xfrm>
            <a:off x="511635" y="1252538"/>
            <a:ext cx="404812" cy="395288"/>
            <a:chOff x="511635" y="1252538"/>
            <a:chExt cx="404812" cy="395288"/>
          </a:xfrm>
        </p:grpSpPr>
        <p:pic>
          <p:nvPicPr>
            <p:cNvPr id="1435" name="Find clear receptor" descr="Receptor cartoon rendered from unchanged local coordinates, chain C1 of the 9LLG CA2 model.">
              <a:extLst>
                <a:ext uri="{FF2B5EF4-FFF2-40B4-BE49-F238E27FC236}">
                  <a16:creationId xmlns:a16="http://schemas.microsoft.com/office/drawing/2014/main" id="{24C88AB2-5918-0F4D-EDE6-0D89FC02F100}"/>
                </a:ext>
              </a:extLst>
            </p:cNvPr>
            <p:cNvPicPr/>
            <p:nvPr/>
          </p:nvPicPr>
          <p:blipFill>
            <a:blip r:embed="rId7"/>
            <a:srcRect l="16857" t="30389" r="19786" b="22500"/>
            <a:stretch>
              <a:fillRect/>
            </a:stretch>
          </p:blipFill>
          <p:spPr>
            <a:xfrm>
              <a:off x="511635" y="1256674"/>
              <a:ext cx="404812" cy="387014"/>
            </a:xfrm>
            <a:prstGeom prst="rect">
              <a:avLst/>
            </a:prstGeom>
          </p:spPr>
        </p:pic>
        <p:sp>
          <p:nvSpPr>
            <p:cNvPr id="50538" name="crop-cube">
              <a:extLst>
                <a:ext uri="{FF2B5EF4-FFF2-40B4-BE49-F238E27FC236}">
                  <a16:creationId xmlns:a16="http://schemas.microsoft.com/office/drawing/2014/main" id="{B083B324-58BF-4271-92CE-6A3DCE5DBE53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1404938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39" name="crop-cube">
              <a:extLst>
                <a:ext uri="{FF2B5EF4-FFF2-40B4-BE49-F238E27FC236}">
                  <a16:creationId xmlns:a16="http://schemas.microsoft.com/office/drawing/2014/main" id="{0E8C65BE-9745-4184-B8B7-6FD5E9341DBD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1404938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40" name="F2-receptor-crop-size">
              <a:extLst>
                <a:ext uri="{FF2B5EF4-FFF2-40B4-BE49-F238E27FC236}">
                  <a16:creationId xmlns:a16="http://schemas.microsoft.com/office/drawing/2014/main" id="{11CB5595-3267-408D-9A25-39E3920D0458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1544955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554" name="Find preview 25"/>
          <p:cNvGrpSpPr/>
          <p:nvPr/>
        </p:nvGrpSpPr>
        <p:grpSpPr>
          <a:xfrm>
            <a:off x="4349067" y="495300"/>
            <a:ext cx="404812" cy="395288"/>
            <a:chOff x="4349067" y="495300"/>
            <a:chExt cx="404812" cy="395288"/>
          </a:xfrm>
        </p:grpSpPr>
        <p:pic>
          <p:nvPicPr>
            <p:cNvPr id="2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E01FAF0F-7383-AEC3-8192-CE781D4C8B97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349067" y="499672"/>
              <a:ext cx="404812" cy="386544"/>
            </a:xfrm>
            <a:prstGeom prst="rect">
              <a:avLst/>
            </a:prstGeom>
          </p:spPr>
        </p:pic>
        <p:grpSp>
          <p:nvGrpSpPr>
            <p:cNvPr id="50496" name="Global copy of blob 758">
              <a:extLst>
                <a:ext uri="{FF2B5EF4-FFF2-40B4-BE49-F238E27FC236}">
                  <a16:creationId xmlns:a16="http://schemas.microsoft.com/office/drawing/2014/main" id="{00C0C92B-D4C8-0994-E860-1581EB873D86}"/>
                </a:ext>
              </a:extLst>
            </p:cNvPr>
            <p:cNvGrpSpPr/>
            <p:nvPr/>
          </p:nvGrpSpPr>
          <p:grpSpPr>
            <a:xfrm>
              <a:off x="4435335" y="623158"/>
              <a:ext cx="42515" cy="24054"/>
              <a:chOff x="1928706" y="3559489"/>
              <a:chExt cx="227897" cy="155682"/>
            </a:xfrm>
          </p:grpSpPr>
          <p:sp>
            <p:nvSpPr>
              <p:cNvPr id="50497" name="Candidate blob | editable contour">
                <a:extLst>
                  <a:ext uri="{FF2B5EF4-FFF2-40B4-BE49-F238E27FC236}">
                    <a16:creationId xmlns:a16="http://schemas.microsoft.com/office/drawing/2014/main" id="{A172A8B3-EFA3-33C9-CD2B-307B24D7293D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98" name="ellipse_2612">
                <a:extLst>
                  <a:ext uri="{FF2B5EF4-FFF2-40B4-BE49-F238E27FC236}">
                    <a16:creationId xmlns:a16="http://schemas.microsoft.com/office/drawing/2014/main" id="{CF37E813-914E-4383-9CE9-1C5F4095124F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499" name="Global copy of blob 6">
              <a:extLst>
                <a:ext uri="{FF2B5EF4-FFF2-40B4-BE49-F238E27FC236}">
                  <a16:creationId xmlns:a16="http://schemas.microsoft.com/office/drawing/2014/main" id="{52582F41-8562-EDCF-D547-FEE06D78B091}"/>
                </a:ext>
              </a:extLst>
            </p:cNvPr>
            <p:cNvGrpSpPr/>
            <p:nvPr/>
          </p:nvGrpSpPr>
          <p:grpSpPr>
            <a:xfrm rot="3197729">
              <a:off x="4592894" y="646215"/>
              <a:ext cx="42515" cy="24054"/>
              <a:chOff x="1928706" y="3559489"/>
              <a:chExt cx="227897" cy="155682"/>
            </a:xfrm>
          </p:grpSpPr>
          <p:sp>
            <p:nvSpPr>
              <p:cNvPr id="50500" name="Candidate blob | editable contour">
                <a:extLst>
                  <a:ext uri="{FF2B5EF4-FFF2-40B4-BE49-F238E27FC236}">
                    <a16:creationId xmlns:a16="http://schemas.microsoft.com/office/drawing/2014/main" id="{AC599FE5-B7C8-2310-361D-307EF409B159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01" name="ellipse_2612">
                <a:extLst>
                  <a:ext uri="{FF2B5EF4-FFF2-40B4-BE49-F238E27FC236}">
                    <a16:creationId xmlns:a16="http://schemas.microsoft.com/office/drawing/2014/main" id="{899D545A-9188-B8A5-5122-F55763321954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02" name="Global copy of blob 761">
              <a:extLst>
                <a:ext uri="{FF2B5EF4-FFF2-40B4-BE49-F238E27FC236}">
                  <a16:creationId xmlns:a16="http://schemas.microsoft.com/office/drawing/2014/main" id="{D7299A48-8BF0-7050-EF56-14DA3F495CB7}"/>
                </a:ext>
              </a:extLst>
            </p:cNvPr>
            <p:cNvGrpSpPr/>
            <p:nvPr/>
          </p:nvGrpSpPr>
          <p:grpSpPr>
            <a:xfrm>
              <a:off x="4422037" y="755380"/>
              <a:ext cx="38366" cy="20927"/>
              <a:chOff x="1928706" y="3559489"/>
              <a:chExt cx="227897" cy="155682"/>
            </a:xfrm>
          </p:grpSpPr>
          <p:sp>
            <p:nvSpPr>
              <p:cNvPr id="50503" name="Candidate blob | editable contour">
                <a:extLst>
                  <a:ext uri="{FF2B5EF4-FFF2-40B4-BE49-F238E27FC236}">
                    <a16:creationId xmlns:a16="http://schemas.microsoft.com/office/drawing/2014/main" id="{8902F596-0D84-3C56-EB93-D63FC7E9041E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4633" y="103508"/>
                    </a:moveTo>
                    <a:cubicBezTo>
                      <a:pt x="0" y="80701"/>
                      <a:pt x="17781" y="72087"/>
                      <a:pt x="35225" y="64107"/>
                    </a:cubicBezTo>
                    <a:cubicBezTo>
                      <a:pt x="54476" y="49917"/>
                      <a:pt x="72264" y="52549"/>
                      <a:pt x="92778" y="35736"/>
                    </a:cubicBezTo>
                    <a:cubicBezTo>
                      <a:pt x="110195" y="21040"/>
                      <a:pt x="104326" y="5059"/>
                      <a:pt x="115221" y="1753"/>
                    </a:cubicBezTo>
                    <a:cubicBezTo>
                      <a:pt x="125241" y="0"/>
                      <a:pt x="159037" y="3786"/>
                      <a:pt x="180838" y="12966"/>
                    </a:cubicBezTo>
                    <a:cubicBezTo>
                      <a:pt x="198427" y="23372"/>
                      <a:pt x="209170" y="39484"/>
                      <a:pt x="212983" y="52913"/>
                    </a:cubicBezTo>
                    <a:cubicBezTo>
                      <a:pt x="216818" y="61184"/>
                      <a:pt x="227897" y="67151"/>
                      <a:pt x="223406" y="85389"/>
                    </a:cubicBezTo>
                    <a:cubicBezTo>
                      <a:pt x="220211" y="103077"/>
                      <a:pt x="208185" y="131257"/>
                      <a:pt x="201464" y="141174"/>
                    </a:cubicBezTo>
                    <a:cubicBezTo>
                      <a:pt x="189414" y="144450"/>
                      <a:pt x="161966" y="148455"/>
                      <a:pt x="136762" y="150513"/>
                    </a:cubicBezTo>
                    <a:cubicBezTo>
                      <a:pt x="110048" y="155682"/>
                      <a:pt x="82946" y="155682"/>
                      <a:pt x="72733" y="149421"/>
                    </a:cubicBezTo>
                    <a:cubicBezTo>
                      <a:pt x="54091" y="147525"/>
                      <a:pt x="13199" y="123788"/>
                      <a:pt x="4633" y="103508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04" name="ellipse_2612">
                <a:extLst>
                  <a:ext uri="{FF2B5EF4-FFF2-40B4-BE49-F238E27FC236}">
                    <a16:creationId xmlns:a16="http://schemas.microsoft.com/office/drawing/2014/main" id="{85D74281-2FE6-E2D2-EFBA-AF54A45686E3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05" name="Global copy of blob 755">
              <a:extLst>
                <a:ext uri="{FF2B5EF4-FFF2-40B4-BE49-F238E27FC236}">
                  <a16:creationId xmlns:a16="http://schemas.microsoft.com/office/drawing/2014/main" id="{3B821B97-56A6-DCED-E85F-DBF945F3EA13}"/>
                </a:ext>
              </a:extLst>
            </p:cNvPr>
            <p:cNvGrpSpPr/>
            <p:nvPr/>
          </p:nvGrpSpPr>
          <p:grpSpPr>
            <a:xfrm>
              <a:off x="4533706" y="791322"/>
              <a:ext cx="37919" cy="25902"/>
              <a:chOff x="1928706" y="3559489"/>
              <a:chExt cx="227897" cy="155682"/>
            </a:xfrm>
          </p:grpSpPr>
          <p:sp>
            <p:nvSpPr>
              <p:cNvPr id="50506" name="Candidate blob | editable contour">
                <a:extLst>
                  <a:ext uri="{FF2B5EF4-FFF2-40B4-BE49-F238E27FC236}">
                    <a16:creationId xmlns:a16="http://schemas.microsoft.com/office/drawing/2014/main" id="{B3B117DA-D182-38E6-AD16-B4776AD2C7B7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07" name="ellipse_2612">
                <a:extLst>
                  <a:ext uri="{FF2B5EF4-FFF2-40B4-BE49-F238E27FC236}">
                    <a16:creationId xmlns:a16="http://schemas.microsoft.com/office/drawing/2014/main" id="{901C6437-E94C-AFDE-D242-E688A89ABBDB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</p:spTree>
    <p:extLst>
      <p:ext uri="{BB962C8B-B14F-4D97-AF65-F5344CB8AC3E}">
        <p14:creationId xmlns:p14="http://schemas.microsoft.com/office/powerpoint/2010/main" val="37632893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hod / unified"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381930" cy="1756103"/>
          </a:xfrm>
          <a:prstGeom prst="roundRect">
            <a:avLst>
              <a:gd name="adj" fmla="val 2000"/>
            </a:avLst>
          </a:prstGeom>
          <a:solidFill>
            <a:srgbClr val="F1F4F5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1F4F5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868797" y="85630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1F4F5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263442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263442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469817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0259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46981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37636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962711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F1F4F5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962711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962566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263442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2128828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777479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426130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962711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1F4F5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2053680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484443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932283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354586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778141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848673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832852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263442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962711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809120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63442"/>
                </a:solidFill>
                <a:latin typeface="Arial"/>
              </a:rPr>
              <a:t>F</a:t>
            </a:r>
            <a:r>
              <a:rPr sz="588" dirty="0">
                <a:solidFill>
                  <a:srgbClr val="263442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32993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420626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263442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187803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63442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63442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263442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263442"/>
                </a:solidFill>
                <a:latin typeface="Arial"/>
              </a:rPr>
              <a:t>ase s</a:t>
            </a:r>
            <a:r>
              <a:rPr sz="600" dirty="0">
                <a:solidFill>
                  <a:srgbClr val="263442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263442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263442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263442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263442"/>
                </a:solidFill>
                <a:latin typeface="Arial"/>
              </a:rPr>
              <a:t>fg</a:t>
            </a:r>
            <a:endParaRPr sz="780" baseline="32000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263442"/>
                </a:solidFill>
                <a:latin typeface="Arial"/>
              </a:rPr>
              <a:t>RDKit</a:t>
            </a:r>
            <a:endParaRPr sz="536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Graph</a:t>
            </a:r>
            <a:r>
              <a:rPr sz="580" dirty="0">
                <a:solidFill>
                  <a:srgbClr val="263442"/>
                </a:solidFill>
                <a:latin typeface="Arial"/>
              </a:rPr>
              <a:t> </a:t>
            </a:r>
            <a:r>
              <a:rPr sz="588" dirty="0">
                <a:solidFill>
                  <a:srgbClr val="263442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263442"/>
                </a:solidFill>
                <a:latin typeface="Arial"/>
              </a:rPr>
              <a:t>  </a:t>
            </a:r>
            <a:r>
              <a:rPr sz="519" dirty="0">
                <a:solidFill>
                  <a:srgbClr val="263442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263442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Context</a:t>
            </a:r>
            <a:r>
              <a:rPr sz="580" dirty="0">
                <a:solidFill>
                  <a:srgbClr val="263442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228756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263442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263442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263442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263442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263442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2067869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589586" y="1155648"/>
            <a:ext cx="150375" cy="10272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366446" y="1024437"/>
            <a:ext cx="168602" cy="95394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374195" y="1164655"/>
            <a:ext cx="152150" cy="82991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34582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963973" y="415407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99903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999664" y="14714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574918" y="14714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1F4F5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263442"/>
                </a:solidFill>
                <a:latin typeface="Arial"/>
              </a:rPr>
              <a:t>DG-PocketXMol</a:t>
            </a:r>
            <a:endParaRPr sz="623" b="1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99281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F1F4F5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5044453" y="2647450"/>
            <a:ext cx="1047750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263442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263442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263442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504132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 </a:t>
            </a:r>
            <a:r>
              <a:rPr sz="554" dirty="0">
                <a:solidFill>
                  <a:srgbClr val="263442"/>
                </a:solidFill>
                <a:latin typeface="Arial"/>
              </a:rPr>
              <a:t>Vina 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263442"/>
                </a:solidFill>
                <a:latin typeface="Arial"/>
              </a:rPr>
              <a:t>DiffDock</a:t>
            </a:r>
            <a:r>
              <a:rPr sz="554" dirty="0">
                <a:solidFill>
                  <a:srgbClr val="263442"/>
                </a:solidFill>
                <a:latin typeface="Arial"/>
              </a:rPr>
              <a:t> 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· EMERALD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263442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263442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263442"/>
                </a:solidFill>
                <a:latin typeface="Arial"/>
              </a:rPr>
              <a:t>·</a:t>
            </a:r>
            <a:endParaRPr sz="554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3605650" cy="3967446"/>
            <a:chOff x="1936337" y="669608"/>
            <a:chExt cx="847972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3172901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3269449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3181873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3192663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1518479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334020" y="3260557"/>
              <a:ext cx="842366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1544003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3107055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5444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856838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892081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6428338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587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704688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8828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842858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84733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866738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9305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990063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9305507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628238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676857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6152113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8133932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518129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7305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52273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79095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7508759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776983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569082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78148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718319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7154524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9210972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9182301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666874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807779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913156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3147792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2272349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975515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946844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546890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5006120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761327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737991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617154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588484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417159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974562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52672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10133903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10105233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10123426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709696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68635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858411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929398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8010400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993380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970044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932896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508587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2900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263442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3817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4379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5086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4119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5678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5633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6303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5811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5724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5646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7030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4224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4998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4899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4077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5380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5343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5220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5246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5786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5982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6179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6376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6573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6770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6967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7164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792289" y="1489896"/>
            <a:ext cx="162207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938919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8199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8077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786560" y="656526"/>
            <a:ext cx="163405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934388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8119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998402" y="452120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564187" y="452120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596570" y="1029390"/>
            <a:ext cx="168602" cy="95394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0567" name="F2-bank-channel">
            <a:extLst>
              <a:ext uri="{FF2B5EF4-FFF2-40B4-BE49-F238E27FC236}">
                <a16:creationId xmlns:a16="http://schemas.microsoft.com/office/drawing/2014/main" id="{E8F7522B-3B27-4338-8014-8A4EEE25C15E}"/>
              </a:ext>
            </a:extLst>
          </p:cNvPr>
          <p:cNvSpPr>
            <a:spLocks noGrp="1"/>
          </p:cNvSpPr>
          <p:nvPr/>
        </p:nvSpPr>
        <p:spPr>
          <a:xfrm>
            <a:off x="1432560" y="50863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68" name="F2-bank-channel">
            <a:extLst>
              <a:ext uri="{FF2B5EF4-FFF2-40B4-BE49-F238E27FC236}">
                <a16:creationId xmlns:a16="http://schemas.microsoft.com/office/drawing/2014/main" id="{44CA542A-604D-4AA5-B11D-B6617579A677}"/>
              </a:ext>
            </a:extLst>
          </p:cNvPr>
          <p:cNvSpPr>
            <a:spLocks noGrp="1"/>
          </p:cNvSpPr>
          <p:nvPr/>
        </p:nvSpPr>
        <p:spPr>
          <a:xfrm>
            <a:off x="1424940" y="51530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69" name="F2-bank-channel">
            <a:extLst>
              <a:ext uri="{FF2B5EF4-FFF2-40B4-BE49-F238E27FC236}">
                <a16:creationId xmlns:a16="http://schemas.microsoft.com/office/drawing/2014/main" id="{94C83CC1-C6DF-4DC5-87DF-BCD87221CF3B}"/>
              </a:ext>
            </a:extLst>
          </p:cNvPr>
          <p:cNvSpPr>
            <a:spLocks noGrp="1"/>
          </p:cNvSpPr>
          <p:nvPr/>
        </p:nvSpPr>
        <p:spPr>
          <a:xfrm>
            <a:off x="1417320" y="52197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0" name="F2-bank-channel">
            <a:extLst>
              <a:ext uri="{FF2B5EF4-FFF2-40B4-BE49-F238E27FC236}">
                <a16:creationId xmlns:a16="http://schemas.microsoft.com/office/drawing/2014/main" id="{1ABD8E71-8A8E-4A01-9656-5F57A7EAD863}"/>
              </a:ext>
            </a:extLst>
          </p:cNvPr>
          <p:cNvSpPr>
            <a:spLocks noGrp="1"/>
          </p:cNvSpPr>
          <p:nvPr/>
        </p:nvSpPr>
        <p:spPr>
          <a:xfrm>
            <a:off x="1409700" y="52863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1" name="F2-bank-channel">
            <a:extLst>
              <a:ext uri="{FF2B5EF4-FFF2-40B4-BE49-F238E27FC236}">
                <a16:creationId xmlns:a16="http://schemas.microsoft.com/office/drawing/2014/main" id="{A1E78B7C-AF8B-46CF-BE9A-7739D3A000CC}"/>
              </a:ext>
            </a:extLst>
          </p:cNvPr>
          <p:cNvSpPr>
            <a:spLocks noGrp="1"/>
          </p:cNvSpPr>
          <p:nvPr/>
        </p:nvSpPr>
        <p:spPr>
          <a:xfrm>
            <a:off x="1402080" y="53530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2" name="F2-bank-channel">
            <a:extLst>
              <a:ext uri="{FF2B5EF4-FFF2-40B4-BE49-F238E27FC236}">
                <a16:creationId xmlns:a16="http://schemas.microsoft.com/office/drawing/2014/main" id="{F902D412-512B-42B7-B05D-EDD9258097DC}"/>
              </a:ext>
            </a:extLst>
          </p:cNvPr>
          <p:cNvSpPr>
            <a:spLocks noGrp="1"/>
          </p:cNvSpPr>
          <p:nvPr/>
        </p:nvSpPr>
        <p:spPr>
          <a:xfrm>
            <a:off x="1394460" y="54197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3" name="F2-bank-channel">
            <a:extLst>
              <a:ext uri="{FF2B5EF4-FFF2-40B4-BE49-F238E27FC236}">
                <a16:creationId xmlns:a16="http://schemas.microsoft.com/office/drawing/2014/main" id="{CA6824A1-9C37-4EE2-8CF4-7C88BCE1DBE6}"/>
              </a:ext>
            </a:extLst>
          </p:cNvPr>
          <p:cNvSpPr>
            <a:spLocks noGrp="1"/>
          </p:cNvSpPr>
          <p:nvPr/>
        </p:nvSpPr>
        <p:spPr>
          <a:xfrm>
            <a:off x="1386840" y="54864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4" name="F2-bank-channel">
            <a:extLst>
              <a:ext uri="{FF2B5EF4-FFF2-40B4-BE49-F238E27FC236}">
                <a16:creationId xmlns:a16="http://schemas.microsoft.com/office/drawing/2014/main" id="{2705DA7A-40F9-48D2-946C-8019421C16B7}"/>
              </a:ext>
            </a:extLst>
          </p:cNvPr>
          <p:cNvSpPr>
            <a:spLocks noGrp="1"/>
          </p:cNvSpPr>
          <p:nvPr/>
        </p:nvSpPr>
        <p:spPr>
          <a:xfrm>
            <a:off x="1379220" y="55530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5" name="F2-bank-channel">
            <a:extLst>
              <a:ext uri="{FF2B5EF4-FFF2-40B4-BE49-F238E27FC236}">
                <a16:creationId xmlns:a16="http://schemas.microsoft.com/office/drawing/2014/main" id="{E1B9C475-D32F-4E88-9AAA-6701AFC1AC14}"/>
              </a:ext>
            </a:extLst>
          </p:cNvPr>
          <p:cNvSpPr>
            <a:spLocks noGrp="1"/>
          </p:cNvSpPr>
          <p:nvPr/>
        </p:nvSpPr>
        <p:spPr>
          <a:xfrm>
            <a:off x="1371600" y="56197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576" name="F2-density-voxel">
            <a:extLst>
              <a:ext uri="{FF2B5EF4-FFF2-40B4-BE49-F238E27FC236}">
                <a16:creationId xmlns:a16="http://schemas.microsoft.com/office/drawing/2014/main" id="{A49953DB-68D8-42EB-963F-DD42F453137D}"/>
              </a:ext>
            </a:extLst>
          </p:cNvPr>
          <p:cNvSpPr>
            <a:spLocks noGrp="1"/>
          </p:cNvSpPr>
          <p:nvPr/>
        </p:nvSpPr>
        <p:spPr>
          <a:xfrm>
            <a:off x="1390650" y="571500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77" name="F2-density-voxel">
            <a:extLst>
              <a:ext uri="{FF2B5EF4-FFF2-40B4-BE49-F238E27FC236}">
                <a16:creationId xmlns:a16="http://schemas.microsoft.com/office/drawing/2014/main" id="{ECECDED8-7BB6-465D-90CE-1566D913C0F0}"/>
              </a:ext>
            </a:extLst>
          </p:cNvPr>
          <p:cNvSpPr>
            <a:spLocks noGrp="1"/>
          </p:cNvSpPr>
          <p:nvPr/>
        </p:nvSpPr>
        <p:spPr>
          <a:xfrm>
            <a:off x="1443038" y="571500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78" name="F2-density-voxel">
            <a:extLst>
              <a:ext uri="{FF2B5EF4-FFF2-40B4-BE49-F238E27FC236}">
                <a16:creationId xmlns:a16="http://schemas.microsoft.com/office/drawing/2014/main" id="{49E89024-8821-43E6-B830-D5D2C6143679}"/>
              </a:ext>
            </a:extLst>
          </p:cNvPr>
          <p:cNvSpPr>
            <a:spLocks noGrp="1"/>
          </p:cNvSpPr>
          <p:nvPr/>
        </p:nvSpPr>
        <p:spPr>
          <a:xfrm>
            <a:off x="1495425" y="571500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79" name="F2-density-voxel">
            <a:extLst>
              <a:ext uri="{FF2B5EF4-FFF2-40B4-BE49-F238E27FC236}">
                <a16:creationId xmlns:a16="http://schemas.microsoft.com/office/drawing/2014/main" id="{3A635687-B1F5-496B-9A49-461D8BC35087}"/>
              </a:ext>
            </a:extLst>
          </p:cNvPr>
          <p:cNvSpPr>
            <a:spLocks noGrp="1"/>
          </p:cNvSpPr>
          <p:nvPr/>
        </p:nvSpPr>
        <p:spPr>
          <a:xfrm>
            <a:off x="1547813" y="571500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0" name="F2-density-voxel">
            <a:extLst>
              <a:ext uri="{FF2B5EF4-FFF2-40B4-BE49-F238E27FC236}">
                <a16:creationId xmlns:a16="http://schemas.microsoft.com/office/drawing/2014/main" id="{FEC54E9C-643D-4824-B955-66BA7E401A0E}"/>
              </a:ext>
            </a:extLst>
          </p:cNvPr>
          <p:cNvSpPr>
            <a:spLocks noGrp="1"/>
          </p:cNvSpPr>
          <p:nvPr/>
        </p:nvSpPr>
        <p:spPr>
          <a:xfrm>
            <a:off x="1390650" y="614363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81" name="F2-density-voxel">
            <a:extLst>
              <a:ext uri="{FF2B5EF4-FFF2-40B4-BE49-F238E27FC236}">
                <a16:creationId xmlns:a16="http://schemas.microsoft.com/office/drawing/2014/main" id="{ED2290E5-D29A-42C8-863E-1A0B5A093DAF}"/>
              </a:ext>
            </a:extLst>
          </p:cNvPr>
          <p:cNvSpPr>
            <a:spLocks noGrp="1"/>
          </p:cNvSpPr>
          <p:nvPr/>
        </p:nvSpPr>
        <p:spPr>
          <a:xfrm>
            <a:off x="1443038" y="614363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82" name="F2-density-voxel">
            <a:extLst>
              <a:ext uri="{FF2B5EF4-FFF2-40B4-BE49-F238E27FC236}">
                <a16:creationId xmlns:a16="http://schemas.microsoft.com/office/drawing/2014/main" id="{C030A993-BA02-4CBF-A526-9AF795928873}"/>
              </a:ext>
            </a:extLst>
          </p:cNvPr>
          <p:cNvSpPr>
            <a:spLocks noGrp="1"/>
          </p:cNvSpPr>
          <p:nvPr/>
        </p:nvSpPr>
        <p:spPr>
          <a:xfrm>
            <a:off x="1495425" y="614363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3" name="F2-density-voxel">
            <a:extLst>
              <a:ext uri="{FF2B5EF4-FFF2-40B4-BE49-F238E27FC236}">
                <a16:creationId xmlns:a16="http://schemas.microsoft.com/office/drawing/2014/main" id="{EC212EF2-C0F1-41AF-B3CE-D957D17932A0}"/>
              </a:ext>
            </a:extLst>
          </p:cNvPr>
          <p:cNvSpPr>
            <a:spLocks noGrp="1"/>
          </p:cNvSpPr>
          <p:nvPr/>
        </p:nvSpPr>
        <p:spPr>
          <a:xfrm>
            <a:off x="1547813" y="614363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84" name="F2-density-voxel">
            <a:extLst>
              <a:ext uri="{FF2B5EF4-FFF2-40B4-BE49-F238E27FC236}">
                <a16:creationId xmlns:a16="http://schemas.microsoft.com/office/drawing/2014/main" id="{8E8D1CD2-DC81-4A69-849C-F21783FD798D}"/>
              </a:ext>
            </a:extLst>
          </p:cNvPr>
          <p:cNvSpPr>
            <a:spLocks noGrp="1"/>
          </p:cNvSpPr>
          <p:nvPr/>
        </p:nvSpPr>
        <p:spPr>
          <a:xfrm>
            <a:off x="1390650" y="657225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85" name="F2-density-voxel">
            <a:extLst>
              <a:ext uri="{FF2B5EF4-FFF2-40B4-BE49-F238E27FC236}">
                <a16:creationId xmlns:a16="http://schemas.microsoft.com/office/drawing/2014/main" id="{CEA7FE12-330D-4160-8BE6-769BF6A26577}"/>
              </a:ext>
            </a:extLst>
          </p:cNvPr>
          <p:cNvSpPr>
            <a:spLocks noGrp="1"/>
          </p:cNvSpPr>
          <p:nvPr/>
        </p:nvSpPr>
        <p:spPr>
          <a:xfrm>
            <a:off x="1443038" y="657225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6" name="F2-density-voxel">
            <a:extLst>
              <a:ext uri="{FF2B5EF4-FFF2-40B4-BE49-F238E27FC236}">
                <a16:creationId xmlns:a16="http://schemas.microsoft.com/office/drawing/2014/main" id="{BE225EBF-D266-4631-9D7E-1B21643503B4}"/>
              </a:ext>
            </a:extLst>
          </p:cNvPr>
          <p:cNvSpPr>
            <a:spLocks noGrp="1"/>
          </p:cNvSpPr>
          <p:nvPr/>
        </p:nvSpPr>
        <p:spPr>
          <a:xfrm>
            <a:off x="1495425" y="657225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87" name="F2-density-voxel">
            <a:extLst>
              <a:ext uri="{FF2B5EF4-FFF2-40B4-BE49-F238E27FC236}">
                <a16:creationId xmlns:a16="http://schemas.microsoft.com/office/drawing/2014/main" id="{D56EA4DF-3429-4429-A2AA-6D7C9D33B341}"/>
              </a:ext>
            </a:extLst>
          </p:cNvPr>
          <p:cNvSpPr>
            <a:spLocks noGrp="1"/>
          </p:cNvSpPr>
          <p:nvPr/>
        </p:nvSpPr>
        <p:spPr>
          <a:xfrm>
            <a:off x="1547813" y="657225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88" name="F2-density-voxel">
            <a:extLst>
              <a:ext uri="{FF2B5EF4-FFF2-40B4-BE49-F238E27FC236}">
                <a16:creationId xmlns:a16="http://schemas.microsoft.com/office/drawing/2014/main" id="{F4CB67F8-3427-42E0-B222-3C4C5B421A28}"/>
              </a:ext>
            </a:extLst>
          </p:cNvPr>
          <p:cNvSpPr>
            <a:spLocks noGrp="1"/>
          </p:cNvSpPr>
          <p:nvPr/>
        </p:nvSpPr>
        <p:spPr>
          <a:xfrm>
            <a:off x="1390650" y="700088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589" name="F2-density-voxel">
            <a:extLst>
              <a:ext uri="{FF2B5EF4-FFF2-40B4-BE49-F238E27FC236}">
                <a16:creationId xmlns:a16="http://schemas.microsoft.com/office/drawing/2014/main" id="{E62F2DC6-612B-4891-B2B7-8020312C0678}"/>
              </a:ext>
            </a:extLst>
          </p:cNvPr>
          <p:cNvSpPr>
            <a:spLocks noGrp="1"/>
          </p:cNvSpPr>
          <p:nvPr/>
        </p:nvSpPr>
        <p:spPr>
          <a:xfrm>
            <a:off x="1443038" y="700088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590" name="F2-density-voxel">
            <a:extLst>
              <a:ext uri="{FF2B5EF4-FFF2-40B4-BE49-F238E27FC236}">
                <a16:creationId xmlns:a16="http://schemas.microsoft.com/office/drawing/2014/main" id="{3D79F01F-5243-4E3C-8AA7-EE2C8B8C7E29}"/>
              </a:ext>
            </a:extLst>
          </p:cNvPr>
          <p:cNvSpPr>
            <a:spLocks noGrp="1"/>
          </p:cNvSpPr>
          <p:nvPr/>
        </p:nvSpPr>
        <p:spPr>
          <a:xfrm>
            <a:off x="1495425" y="700088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591" name="F2-density-voxel">
            <a:extLst>
              <a:ext uri="{FF2B5EF4-FFF2-40B4-BE49-F238E27FC236}">
                <a16:creationId xmlns:a16="http://schemas.microsoft.com/office/drawing/2014/main" id="{7F5BC88D-76D1-4A24-B998-8BD41F9AADDB}"/>
              </a:ext>
            </a:extLst>
          </p:cNvPr>
          <p:cNvSpPr>
            <a:spLocks noGrp="1"/>
          </p:cNvSpPr>
          <p:nvPr/>
        </p:nvSpPr>
        <p:spPr>
          <a:xfrm>
            <a:off x="1547813" y="700088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592" name="F2-spatial-transform">
            <a:extLst>
              <a:ext uri="{FF2B5EF4-FFF2-40B4-BE49-F238E27FC236}">
                <a16:creationId xmlns:a16="http://schemas.microsoft.com/office/drawing/2014/main" id="{A85283F8-9FE2-48A1-8429-5356F2D370E2}"/>
              </a:ext>
            </a:extLst>
          </p:cNvPr>
          <p:cNvSpPr>
            <a:spLocks noGrp="1"/>
          </p:cNvSpPr>
          <p:nvPr/>
        </p:nvSpPr>
        <p:spPr>
          <a:xfrm>
            <a:off x="966788" y="438150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Spatial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50593" name="F2-atom-embeddings-input">
            <a:extLst>
              <a:ext uri="{FF2B5EF4-FFF2-40B4-BE49-F238E27FC236}">
                <a16:creationId xmlns:a16="http://schemas.microsoft.com/office/drawing/2014/main" id="{0B4B93C5-B055-4ECE-8D5F-9FD8F9F29D6A}"/>
              </a:ext>
            </a:extLst>
          </p:cNvPr>
          <p:cNvSpPr>
            <a:spLocks noGrp="1"/>
          </p:cNvSpPr>
          <p:nvPr/>
        </p:nvSpPr>
        <p:spPr>
          <a:xfrm>
            <a:off x="966788" y="1171575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Atom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embeddings</a:t>
            </a:r>
          </a:p>
        </p:txBody>
      </p:sp>
      <p:pic>
        <p:nvPicPr>
          <p:cNvPr id="50600" name="图片 50599">
            <a:extLst>
              <a:ext uri="{FF2B5EF4-FFF2-40B4-BE49-F238E27FC236}">
                <a16:creationId xmlns:a16="http://schemas.microsoft.com/office/drawing/2014/main" id="{CC697937-E8CE-4EDF-BB17-1FEA96E39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83208" y="2971800"/>
            <a:ext cx="414760" cy="342900"/>
          </a:xfrm>
          <a:prstGeom prst="rect">
            <a:avLst/>
          </a:prstGeom>
        </p:spPr>
      </p:pic>
      <p:pic>
        <p:nvPicPr>
          <p:cNvPr id="50601" name="图片 50600">
            <a:extLst>
              <a:ext uri="{FF2B5EF4-FFF2-40B4-BE49-F238E27FC236}">
                <a16:creationId xmlns:a16="http://schemas.microsoft.com/office/drawing/2014/main" id="{438EEB95-3CA6-4E7A-A194-3246AD9537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602" name="F2-Build-selected">
            <a:extLst>
              <a:ext uri="{FF2B5EF4-FFF2-40B4-BE49-F238E27FC236}">
                <a16:creationId xmlns:a16="http://schemas.microsoft.com/office/drawing/2014/main" id="{DE962B78-B7D5-48B9-87F8-2B7091442BBC}"/>
              </a:ext>
            </a:extLst>
          </p:cNvPr>
          <p:cNvSpPr>
            <a:spLocks noGrp="1"/>
          </p:cNvSpPr>
          <p:nvPr/>
        </p:nvSpPr>
        <p:spPr>
          <a:xfrm>
            <a:off x="5048250" y="1268730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603" name="F2-Build-SMILES-0">
            <a:extLst>
              <a:ext uri="{FF2B5EF4-FFF2-40B4-BE49-F238E27FC236}">
                <a16:creationId xmlns:a16="http://schemas.microsoft.com/office/drawing/2014/main" id="{78E3ED61-275F-4084-A0ED-58027336CEDD}"/>
              </a:ext>
            </a:extLst>
          </p:cNvPr>
          <p:cNvSpPr>
            <a:spLocks noGrp="1"/>
          </p:cNvSpPr>
          <p:nvPr/>
        </p:nvSpPr>
        <p:spPr>
          <a:xfrm>
            <a:off x="5067300" y="108585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604" name="F2-Build-SMILES-7.8">
            <a:extLst>
              <a:ext uri="{FF2B5EF4-FFF2-40B4-BE49-F238E27FC236}">
                <a16:creationId xmlns:a16="http://schemas.microsoft.com/office/drawing/2014/main" id="{D4F86145-7D8F-43EC-916E-D3D9668CBA5D}"/>
              </a:ext>
            </a:extLst>
          </p:cNvPr>
          <p:cNvSpPr>
            <a:spLocks noGrp="1"/>
          </p:cNvSpPr>
          <p:nvPr/>
        </p:nvSpPr>
        <p:spPr>
          <a:xfrm>
            <a:off x="5067300" y="11601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50605" name="F2-Build-continuation">
            <a:extLst>
              <a:ext uri="{FF2B5EF4-FFF2-40B4-BE49-F238E27FC236}">
                <a16:creationId xmlns:a16="http://schemas.microsoft.com/office/drawing/2014/main" id="{69E4AF15-4441-4953-BC21-A9A09B8807EC}"/>
              </a:ext>
            </a:extLst>
          </p:cNvPr>
          <p:cNvSpPr>
            <a:spLocks noGrp="1"/>
          </p:cNvSpPr>
          <p:nvPr/>
        </p:nvSpPr>
        <p:spPr>
          <a:xfrm>
            <a:off x="5067300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606" name="F2-Build-continuation">
            <a:extLst>
              <a:ext uri="{FF2B5EF4-FFF2-40B4-BE49-F238E27FC236}">
                <a16:creationId xmlns:a16="http://schemas.microsoft.com/office/drawing/2014/main" id="{A73B5841-5DC8-4503-BDE2-815DBBEFE500}"/>
              </a:ext>
            </a:extLst>
          </p:cNvPr>
          <p:cNvSpPr>
            <a:spLocks noGrp="1"/>
          </p:cNvSpPr>
          <p:nvPr/>
        </p:nvSpPr>
        <p:spPr>
          <a:xfrm>
            <a:off x="5087303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607" name="F2-Build-continuation">
            <a:extLst>
              <a:ext uri="{FF2B5EF4-FFF2-40B4-BE49-F238E27FC236}">
                <a16:creationId xmlns:a16="http://schemas.microsoft.com/office/drawing/2014/main" id="{2CD955D9-21C2-4AE5-9635-C9F55AC072BD}"/>
              </a:ext>
            </a:extLst>
          </p:cNvPr>
          <p:cNvSpPr>
            <a:spLocks noGrp="1"/>
          </p:cNvSpPr>
          <p:nvPr/>
        </p:nvSpPr>
        <p:spPr>
          <a:xfrm>
            <a:off x="5107305" y="1254443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608" name="F2-Build-SMILES-19.8">
            <a:extLst>
              <a:ext uri="{FF2B5EF4-FFF2-40B4-BE49-F238E27FC236}">
                <a16:creationId xmlns:a16="http://schemas.microsoft.com/office/drawing/2014/main" id="{F825F396-DC00-4D1F-95F0-5208E2576D2C}"/>
              </a:ext>
            </a:extLst>
          </p:cNvPr>
          <p:cNvSpPr>
            <a:spLocks noGrp="1"/>
          </p:cNvSpPr>
          <p:nvPr/>
        </p:nvSpPr>
        <p:spPr>
          <a:xfrm>
            <a:off x="5067300" y="1274445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4634E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50609" name="F2-Build-SMILES-27.599999999999998">
            <a:extLst>
              <a:ext uri="{FF2B5EF4-FFF2-40B4-BE49-F238E27FC236}">
                <a16:creationId xmlns:a16="http://schemas.microsoft.com/office/drawing/2014/main" id="{42E599AD-9784-4B26-ADAB-718990C44186}"/>
              </a:ext>
            </a:extLst>
          </p:cNvPr>
          <p:cNvSpPr>
            <a:spLocks noGrp="1"/>
          </p:cNvSpPr>
          <p:nvPr/>
        </p:nvSpPr>
        <p:spPr>
          <a:xfrm>
            <a:off x="5067300" y="134874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pic>
        <p:nvPicPr>
          <p:cNvPr id="50610" name="图片 50609">
            <a:extLst>
              <a:ext uri="{FF2B5EF4-FFF2-40B4-BE49-F238E27FC236}">
                <a16:creationId xmlns:a16="http://schemas.microsoft.com/office/drawing/2014/main" id="{788E8304-A748-4BB4-8B4F-8A9E612C08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  <p:grpSp>
        <p:nvGrpSpPr>
          <p:cNvPr id="50611" name="Find preview 15"/>
          <p:cNvGrpSpPr/>
          <p:nvPr/>
        </p:nvGrpSpPr>
        <p:grpSpPr>
          <a:xfrm>
            <a:off x="511635" y="471488"/>
            <a:ext cx="404812" cy="395288"/>
            <a:chOff x="511635" y="471488"/>
            <a:chExt cx="404812" cy="395288"/>
          </a:xfrm>
        </p:grpSpPr>
        <p:pic>
          <p:nvPicPr>
            <p:cNvPr id="1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8CF1199C-6488-C5B6-B489-1131732B4FB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11635" y="475859"/>
              <a:ext cx="404812" cy="386544"/>
            </a:xfrm>
            <a:prstGeom prst="rect">
              <a:avLst/>
            </a:prstGeom>
          </p:spPr>
        </p:pic>
        <p:sp>
          <p:nvSpPr>
            <p:cNvPr id="50594" name="crop-cube">
              <a:extLst>
                <a:ext uri="{FF2B5EF4-FFF2-40B4-BE49-F238E27FC236}">
                  <a16:creationId xmlns:a16="http://schemas.microsoft.com/office/drawing/2014/main" id="{25839399-079E-4307-9725-E085483F7FD6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626745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5" name="crop-cube">
              <a:extLst>
                <a:ext uri="{FF2B5EF4-FFF2-40B4-BE49-F238E27FC236}">
                  <a16:creationId xmlns:a16="http://schemas.microsoft.com/office/drawing/2014/main" id="{07D86F79-577D-4116-BDEA-F38D19D792BA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626745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6" name="F2-density-crop-size">
              <a:extLst>
                <a:ext uri="{FF2B5EF4-FFF2-40B4-BE49-F238E27FC236}">
                  <a16:creationId xmlns:a16="http://schemas.microsoft.com/office/drawing/2014/main" id="{9B6ECDDF-4CA0-44BE-83B1-7FF800ECF209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766763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612" name="Find preview 1435"/>
          <p:cNvGrpSpPr/>
          <p:nvPr/>
        </p:nvGrpSpPr>
        <p:grpSpPr>
          <a:xfrm>
            <a:off x="511635" y="1252538"/>
            <a:ext cx="404812" cy="395288"/>
            <a:chOff x="511635" y="1252538"/>
            <a:chExt cx="404812" cy="395288"/>
          </a:xfrm>
        </p:grpSpPr>
        <p:pic>
          <p:nvPicPr>
            <p:cNvPr id="1435" name="Find clear receptor" descr="Receptor cartoon rendered from unchanged local coordinates, chain C1 of the 9LLG CA2 model.">
              <a:extLst>
                <a:ext uri="{FF2B5EF4-FFF2-40B4-BE49-F238E27FC236}">
                  <a16:creationId xmlns:a16="http://schemas.microsoft.com/office/drawing/2014/main" id="{24C88AB2-5918-0F4D-EDE6-0D89FC02F100}"/>
                </a:ext>
              </a:extLst>
            </p:cNvPr>
            <p:cNvPicPr/>
            <p:nvPr/>
          </p:nvPicPr>
          <p:blipFill>
            <a:blip r:embed="rId7"/>
            <a:srcRect l="16857" t="30389" r="19786" b="22500"/>
            <a:stretch>
              <a:fillRect/>
            </a:stretch>
          </p:blipFill>
          <p:spPr>
            <a:xfrm>
              <a:off x="511635" y="1256674"/>
              <a:ext cx="404812" cy="387014"/>
            </a:xfrm>
            <a:prstGeom prst="rect">
              <a:avLst/>
            </a:prstGeom>
          </p:spPr>
        </p:pic>
        <p:sp>
          <p:nvSpPr>
            <p:cNvPr id="50597" name="crop-cube">
              <a:extLst>
                <a:ext uri="{FF2B5EF4-FFF2-40B4-BE49-F238E27FC236}">
                  <a16:creationId xmlns:a16="http://schemas.microsoft.com/office/drawing/2014/main" id="{B083B324-58BF-4271-92CE-6A3DCE5DBE53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1404938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8" name="crop-cube">
              <a:extLst>
                <a:ext uri="{FF2B5EF4-FFF2-40B4-BE49-F238E27FC236}">
                  <a16:creationId xmlns:a16="http://schemas.microsoft.com/office/drawing/2014/main" id="{0E8C65BE-9745-4184-B8B7-6FD5E9341DBD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1404938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599" name="F2-receptor-crop-size">
              <a:extLst>
                <a:ext uri="{FF2B5EF4-FFF2-40B4-BE49-F238E27FC236}">
                  <a16:creationId xmlns:a16="http://schemas.microsoft.com/office/drawing/2014/main" id="{11CB5595-3267-408D-9A25-39E3920D0458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1544955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613" name="Find preview 25"/>
          <p:cNvGrpSpPr/>
          <p:nvPr/>
        </p:nvGrpSpPr>
        <p:grpSpPr>
          <a:xfrm>
            <a:off x="4349067" y="495300"/>
            <a:ext cx="404812" cy="395288"/>
            <a:chOff x="4349067" y="495300"/>
            <a:chExt cx="404812" cy="395288"/>
          </a:xfrm>
        </p:grpSpPr>
        <p:pic>
          <p:nvPicPr>
            <p:cNvPr id="2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E01FAF0F-7383-AEC3-8192-CE781D4C8B97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349067" y="499672"/>
              <a:ext cx="404812" cy="386544"/>
            </a:xfrm>
            <a:prstGeom prst="rect">
              <a:avLst/>
            </a:prstGeom>
          </p:spPr>
        </p:pic>
        <p:grpSp>
          <p:nvGrpSpPr>
            <p:cNvPr id="50555" name="Global copy of blob 758">
              <a:extLst>
                <a:ext uri="{FF2B5EF4-FFF2-40B4-BE49-F238E27FC236}">
                  <a16:creationId xmlns:a16="http://schemas.microsoft.com/office/drawing/2014/main" id="{00C0C92B-D4C8-0994-E860-1581EB873D86}"/>
                </a:ext>
              </a:extLst>
            </p:cNvPr>
            <p:cNvGrpSpPr/>
            <p:nvPr/>
          </p:nvGrpSpPr>
          <p:grpSpPr>
            <a:xfrm>
              <a:off x="4435335" y="623158"/>
              <a:ext cx="42515" cy="24054"/>
              <a:chOff x="1928706" y="3559489"/>
              <a:chExt cx="227897" cy="155682"/>
            </a:xfrm>
          </p:grpSpPr>
          <p:sp>
            <p:nvSpPr>
              <p:cNvPr id="50556" name="Candidate blob | editable contour">
                <a:extLst>
                  <a:ext uri="{FF2B5EF4-FFF2-40B4-BE49-F238E27FC236}">
                    <a16:creationId xmlns:a16="http://schemas.microsoft.com/office/drawing/2014/main" id="{A172A8B3-EFA3-33C9-CD2B-307B24D7293D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57" name="ellipse_2612">
                <a:extLst>
                  <a:ext uri="{FF2B5EF4-FFF2-40B4-BE49-F238E27FC236}">
                    <a16:creationId xmlns:a16="http://schemas.microsoft.com/office/drawing/2014/main" id="{CF37E813-914E-4383-9CE9-1C5F4095124F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58" name="Global copy of blob 6">
              <a:extLst>
                <a:ext uri="{FF2B5EF4-FFF2-40B4-BE49-F238E27FC236}">
                  <a16:creationId xmlns:a16="http://schemas.microsoft.com/office/drawing/2014/main" id="{52582F41-8562-EDCF-D547-FEE06D78B091}"/>
                </a:ext>
              </a:extLst>
            </p:cNvPr>
            <p:cNvGrpSpPr/>
            <p:nvPr/>
          </p:nvGrpSpPr>
          <p:grpSpPr>
            <a:xfrm rot="3197729">
              <a:off x="4592894" y="646215"/>
              <a:ext cx="42515" cy="24054"/>
              <a:chOff x="1928706" y="3559489"/>
              <a:chExt cx="227897" cy="155682"/>
            </a:xfrm>
          </p:grpSpPr>
          <p:sp>
            <p:nvSpPr>
              <p:cNvPr id="50559" name="Candidate blob | editable contour">
                <a:extLst>
                  <a:ext uri="{FF2B5EF4-FFF2-40B4-BE49-F238E27FC236}">
                    <a16:creationId xmlns:a16="http://schemas.microsoft.com/office/drawing/2014/main" id="{AC599FE5-B7C8-2310-361D-307EF409B159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60" name="ellipse_2612">
                <a:extLst>
                  <a:ext uri="{FF2B5EF4-FFF2-40B4-BE49-F238E27FC236}">
                    <a16:creationId xmlns:a16="http://schemas.microsoft.com/office/drawing/2014/main" id="{899D545A-9188-B8A5-5122-F55763321954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61" name="Global copy of blob 761">
              <a:extLst>
                <a:ext uri="{FF2B5EF4-FFF2-40B4-BE49-F238E27FC236}">
                  <a16:creationId xmlns:a16="http://schemas.microsoft.com/office/drawing/2014/main" id="{D7299A48-8BF0-7050-EF56-14DA3F495CB7}"/>
                </a:ext>
              </a:extLst>
            </p:cNvPr>
            <p:cNvGrpSpPr/>
            <p:nvPr/>
          </p:nvGrpSpPr>
          <p:grpSpPr>
            <a:xfrm>
              <a:off x="4422037" y="755380"/>
              <a:ext cx="38366" cy="20927"/>
              <a:chOff x="1928706" y="3559489"/>
              <a:chExt cx="227897" cy="155682"/>
            </a:xfrm>
          </p:grpSpPr>
          <p:sp>
            <p:nvSpPr>
              <p:cNvPr id="50562" name="Candidate blob | editable contour">
                <a:extLst>
                  <a:ext uri="{FF2B5EF4-FFF2-40B4-BE49-F238E27FC236}">
                    <a16:creationId xmlns:a16="http://schemas.microsoft.com/office/drawing/2014/main" id="{8902F596-0D84-3C56-EB93-D63FC7E9041E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4633" y="103508"/>
                    </a:moveTo>
                    <a:cubicBezTo>
                      <a:pt x="0" y="80701"/>
                      <a:pt x="17781" y="72087"/>
                      <a:pt x="35225" y="64107"/>
                    </a:cubicBezTo>
                    <a:cubicBezTo>
                      <a:pt x="54476" y="49917"/>
                      <a:pt x="72264" y="52549"/>
                      <a:pt x="92778" y="35736"/>
                    </a:cubicBezTo>
                    <a:cubicBezTo>
                      <a:pt x="110195" y="21040"/>
                      <a:pt x="104326" y="5059"/>
                      <a:pt x="115221" y="1753"/>
                    </a:cubicBezTo>
                    <a:cubicBezTo>
                      <a:pt x="125241" y="0"/>
                      <a:pt x="159037" y="3786"/>
                      <a:pt x="180838" y="12966"/>
                    </a:cubicBezTo>
                    <a:cubicBezTo>
                      <a:pt x="198427" y="23372"/>
                      <a:pt x="209170" y="39484"/>
                      <a:pt x="212983" y="52913"/>
                    </a:cubicBezTo>
                    <a:cubicBezTo>
                      <a:pt x="216818" y="61184"/>
                      <a:pt x="227897" y="67151"/>
                      <a:pt x="223406" y="85389"/>
                    </a:cubicBezTo>
                    <a:cubicBezTo>
                      <a:pt x="220211" y="103077"/>
                      <a:pt x="208185" y="131257"/>
                      <a:pt x="201464" y="141174"/>
                    </a:cubicBezTo>
                    <a:cubicBezTo>
                      <a:pt x="189414" y="144450"/>
                      <a:pt x="161966" y="148455"/>
                      <a:pt x="136762" y="150513"/>
                    </a:cubicBezTo>
                    <a:cubicBezTo>
                      <a:pt x="110048" y="155682"/>
                      <a:pt x="82946" y="155682"/>
                      <a:pt x="72733" y="149421"/>
                    </a:cubicBezTo>
                    <a:cubicBezTo>
                      <a:pt x="54091" y="147525"/>
                      <a:pt x="13199" y="123788"/>
                      <a:pt x="4633" y="103508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63" name="ellipse_2612">
                <a:extLst>
                  <a:ext uri="{FF2B5EF4-FFF2-40B4-BE49-F238E27FC236}">
                    <a16:creationId xmlns:a16="http://schemas.microsoft.com/office/drawing/2014/main" id="{85D74281-2FE6-E2D2-EFBA-AF54A45686E3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50564" name="Global copy of blob 755">
              <a:extLst>
                <a:ext uri="{FF2B5EF4-FFF2-40B4-BE49-F238E27FC236}">
                  <a16:creationId xmlns:a16="http://schemas.microsoft.com/office/drawing/2014/main" id="{3B821B97-56A6-DCED-E85F-DBF945F3EA13}"/>
                </a:ext>
              </a:extLst>
            </p:cNvPr>
            <p:cNvGrpSpPr/>
            <p:nvPr/>
          </p:nvGrpSpPr>
          <p:grpSpPr>
            <a:xfrm>
              <a:off x="4533706" y="791322"/>
              <a:ext cx="37919" cy="25902"/>
              <a:chOff x="1928706" y="3559489"/>
              <a:chExt cx="227897" cy="155682"/>
            </a:xfrm>
          </p:grpSpPr>
          <p:sp>
            <p:nvSpPr>
              <p:cNvPr id="50565" name="Candidate blob | editable contour">
                <a:extLst>
                  <a:ext uri="{FF2B5EF4-FFF2-40B4-BE49-F238E27FC236}">
                    <a16:creationId xmlns:a16="http://schemas.microsoft.com/office/drawing/2014/main" id="{B3B117DA-D182-38E6-AD16-B4776AD2C7B7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66" name="ellipse_2612">
                <a:extLst>
                  <a:ext uri="{FF2B5EF4-FFF2-40B4-BE49-F238E27FC236}">
                    <a16:creationId xmlns:a16="http://schemas.microsoft.com/office/drawing/2014/main" id="{901C6437-E94C-AFDE-D242-E688A89ABBDB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</p:spTree>
    <p:extLst>
      <p:ext uri="{BB962C8B-B14F-4D97-AF65-F5344CB8AC3E}">
        <p14:creationId xmlns:p14="http://schemas.microsoft.com/office/powerpoint/2010/main" val="37632893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hod / text"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9164"/>
            <a:ext cx="438193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4235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868797" y="84564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45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263442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263442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570715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90790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570714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464564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962711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962711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962566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i="1" dirty="0">
                <a:solidFill>
                  <a:srgbClr val="263442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2128828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777479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426130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962711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2053680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484443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932283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354586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778141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solidFill>
                <a:srgbClr val="C3D4E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962711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263442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809120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63442"/>
                </a:solidFill>
                <a:latin typeface="Arial"/>
              </a:rPr>
              <a:t>F</a:t>
            </a:r>
            <a:r>
              <a:rPr sz="588" dirty="0">
                <a:solidFill>
                  <a:srgbClr val="263442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32993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4215551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263442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183161" y="3036990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63442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63442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263442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263442"/>
                </a:solidFill>
                <a:latin typeface="Arial"/>
              </a:rPr>
              <a:t>ase s</a:t>
            </a:r>
            <a:r>
              <a:rPr sz="600" dirty="0">
                <a:solidFill>
                  <a:srgbClr val="263442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263442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263442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263442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263442"/>
                </a:solidFill>
                <a:latin typeface="Arial"/>
              </a:rPr>
              <a:t>fg</a:t>
            </a:r>
            <a:endParaRPr sz="780" baseline="32000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263442"/>
                </a:solidFill>
                <a:latin typeface="Arial"/>
              </a:rPr>
              <a:t>RDKit</a:t>
            </a:r>
            <a:endParaRPr sz="536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Graph</a:t>
            </a:r>
            <a:r>
              <a:rPr sz="580" dirty="0">
                <a:solidFill>
                  <a:srgbClr val="263442"/>
                </a:solidFill>
                <a:latin typeface="Arial"/>
              </a:rPr>
              <a:t> </a:t>
            </a:r>
            <a:r>
              <a:rPr sz="588" dirty="0">
                <a:solidFill>
                  <a:srgbClr val="263442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263442"/>
                </a:solidFill>
                <a:latin typeface="Arial"/>
              </a:rPr>
              <a:t>  </a:t>
            </a:r>
            <a:r>
              <a:rPr sz="519" dirty="0">
                <a:solidFill>
                  <a:srgbClr val="263442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263442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Context</a:t>
            </a:r>
            <a:r>
              <a:rPr sz="580" dirty="0">
                <a:solidFill>
                  <a:srgbClr val="263442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234406" y="4162465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263442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263442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263442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263442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2067869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387530" y="1039644"/>
            <a:ext cx="163890" cy="111953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382818" y="917369"/>
            <a:ext cx="168602" cy="95394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 rot="364243">
            <a:off x="4589593" y="1028968"/>
            <a:ext cx="127658" cy="129194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34582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963973" y="420252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999032" y="92146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999664" y="14807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574918" y="1480706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263442"/>
                </a:solidFill>
                <a:latin typeface="Arial"/>
              </a:rPr>
              <a:t>DG-PocketXMol</a:t>
            </a:r>
            <a:endParaRPr sz="623" b="1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fine-tuning</a:t>
            </a:r>
          </a:p>
        </p:txBody>
      </p:sp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966222" y="284723"/>
            <a:ext cx="3748525" cy="3967446"/>
            <a:chOff x="2272349" y="669608"/>
            <a:chExt cx="8815739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3192811" y="669608"/>
              <a:ext cx="1028701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3269449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3230999" y="695478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3192663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10325612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10421457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10517302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10613147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708993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804838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900683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996529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860262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953131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4046000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4138868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4231737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4324606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417475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510343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80036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806078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8117937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 flipV="1">
              <a:off x="2475621" y="1410958"/>
              <a:ext cx="692378" cy="107521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475621" y="3260557"/>
              <a:ext cx="692378" cy="107521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solidFill>
              <a:srgbClr val="4083B4"/>
            </a:solidFill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3123088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1544003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750468" y="3107055"/>
              <a:ext cx="409314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10116443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5444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856838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892081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6428338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5874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704688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88280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8428588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84733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866738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930556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990063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9305507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628238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676857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6152113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8133932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518129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7305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52273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79095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7508759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776983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569082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78148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718319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7154524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9210972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9182301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666874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5155417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5126747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807779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913156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3147792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2301020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2272349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975515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946844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546890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5006120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761327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737991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397502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617154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588484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417159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974562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426172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52672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932170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530941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502271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509540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10133903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10105233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10123426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10094756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709696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68635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858411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9293989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960840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8010400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993380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970044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523512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494841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932896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508587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2900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263442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381760" y="1318283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3D4E6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4379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5086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4119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5678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5633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6303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5811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5724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5646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7030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4224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4083B4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4998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4899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4083B4"/>
          </a:solidFill>
          <a:ln w="0" cap="rnd">
            <a:solidFill>
              <a:srgbClr val="4083B4"/>
            </a:solidFill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4077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5380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4083B4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5343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4083B4"/>
          </a:solidFill>
          <a:ln w="0" cap="rnd">
            <a:solidFill>
              <a:srgbClr val="4083B4"/>
            </a:solidFill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5220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4083B4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5246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5786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5982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6179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6376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6573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6770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6967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7164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797053" y="1469001"/>
            <a:ext cx="157162" cy="66614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938919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solidFill>
              <a:srgbClr val="4083B4"/>
            </a:solidFill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 flipH="1">
            <a:off x="1817789" y="835707"/>
            <a:ext cx="45719" cy="699723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 flipV="1">
            <a:off x="1797146" y="610807"/>
            <a:ext cx="148072" cy="45719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934388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996634" y="457662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564187" y="456353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582892" y="901286"/>
            <a:ext cx="140909" cy="118817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0449" name="F2-bank-channel">
            <a:extLst>
              <a:ext uri="{FF2B5EF4-FFF2-40B4-BE49-F238E27FC236}">
                <a16:creationId xmlns:a16="http://schemas.microsoft.com/office/drawing/2014/main" id="{E8F7522B-3B27-4338-8014-8A4EEE25C15E}"/>
              </a:ext>
            </a:extLst>
          </p:cNvPr>
          <p:cNvSpPr>
            <a:spLocks noGrp="1"/>
          </p:cNvSpPr>
          <p:nvPr/>
        </p:nvSpPr>
        <p:spPr>
          <a:xfrm>
            <a:off x="1483362" y="50863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0" name="F2-bank-channel">
            <a:extLst>
              <a:ext uri="{FF2B5EF4-FFF2-40B4-BE49-F238E27FC236}">
                <a16:creationId xmlns:a16="http://schemas.microsoft.com/office/drawing/2014/main" id="{44CA542A-604D-4AA5-B11D-B6617579A677}"/>
              </a:ext>
            </a:extLst>
          </p:cNvPr>
          <p:cNvSpPr>
            <a:spLocks noGrp="1"/>
          </p:cNvSpPr>
          <p:nvPr/>
        </p:nvSpPr>
        <p:spPr>
          <a:xfrm>
            <a:off x="1475742" y="51530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1" name="F2-bank-channel">
            <a:extLst>
              <a:ext uri="{FF2B5EF4-FFF2-40B4-BE49-F238E27FC236}">
                <a16:creationId xmlns:a16="http://schemas.microsoft.com/office/drawing/2014/main" id="{94C83CC1-C6DF-4DC5-87DF-BCD87221CF3B}"/>
              </a:ext>
            </a:extLst>
          </p:cNvPr>
          <p:cNvSpPr>
            <a:spLocks noGrp="1"/>
          </p:cNvSpPr>
          <p:nvPr/>
        </p:nvSpPr>
        <p:spPr>
          <a:xfrm>
            <a:off x="1468122" y="52197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2" name="F2-bank-channel">
            <a:extLst>
              <a:ext uri="{FF2B5EF4-FFF2-40B4-BE49-F238E27FC236}">
                <a16:creationId xmlns:a16="http://schemas.microsoft.com/office/drawing/2014/main" id="{1ABD8E71-8A8E-4A01-9656-5F57A7EAD863}"/>
              </a:ext>
            </a:extLst>
          </p:cNvPr>
          <p:cNvSpPr>
            <a:spLocks noGrp="1"/>
          </p:cNvSpPr>
          <p:nvPr/>
        </p:nvSpPr>
        <p:spPr>
          <a:xfrm>
            <a:off x="1460502" y="52863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3" name="F2-bank-channel">
            <a:extLst>
              <a:ext uri="{FF2B5EF4-FFF2-40B4-BE49-F238E27FC236}">
                <a16:creationId xmlns:a16="http://schemas.microsoft.com/office/drawing/2014/main" id="{A1E78B7C-AF8B-46CF-BE9A-7739D3A000CC}"/>
              </a:ext>
            </a:extLst>
          </p:cNvPr>
          <p:cNvSpPr>
            <a:spLocks noGrp="1"/>
          </p:cNvSpPr>
          <p:nvPr/>
        </p:nvSpPr>
        <p:spPr>
          <a:xfrm>
            <a:off x="1452882" y="53530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4" name="F2-bank-channel">
            <a:extLst>
              <a:ext uri="{FF2B5EF4-FFF2-40B4-BE49-F238E27FC236}">
                <a16:creationId xmlns:a16="http://schemas.microsoft.com/office/drawing/2014/main" id="{F902D412-512B-42B7-B05D-EDD9258097DC}"/>
              </a:ext>
            </a:extLst>
          </p:cNvPr>
          <p:cNvSpPr>
            <a:spLocks noGrp="1"/>
          </p:cNvSpPr>
          <p:nvPr/>
        </p:nvSpPr>
        <p:spPr>
          <a:xfrm>
            <a:off x="1445262" y="541973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5" name="F2-bank-channel">
            <a:extLst>
              <a:ext uri="{FF2B5EF4-FFF2-40B4-BE49-F238E27FC236}">
                <a16:creationId xmlns:a16="http://schemas.microsoft.com/office/drawing/2014/main" id="{CA6824A1-9C37-4EE2-8CF4-7C88BCE1DBE6}"/>
              </a:ext>
            </a:extLst>
          </p:cNvPr>
          <p:cNvSpPr>
            <a:spLocks noGrp="1"/>
          </p:cNvSpPr>
          <p:nvPr/>
        </p:nvSpPr>
        <p:spPr>
          <a:xfrm>
            <a:off x="1437642" y="548640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6" name="F2-bank-channel">
            <a:extLst>
              <a:ext uri="{FF2B5EF4-FFF2-40B4-BE49-F238E27FC236}">
                <a16:creationId xmlns:a16="http://schemas.microsoft.com/office/drawing/2014/main" id="{2705DA7A-40F9-48D2-946C-8019421C16B7}"/>
              </a:ext>
            </a:extLst>
          </p:cNvPr>
          <p:cNvSpPr>
            <a:spLocks noGrp="1"/>
          </p:cNvSpPr>
          <p:nvPr/>
        </p:nvSpPr>
        <p:spPr>
          <a:xfrm>
            <a:off x="1430022" y="555308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7" name="F2-bank-channel">
            <a:extLst>
              <a:ext uri="{FF2B5EF4-FFF2-40B4-BE49-F238E27FC236}">
                <a16:creationId xmlns:a16="http://schemas.microsoft.com/office/drawing/2014/main" id="{E1B9C475-D32F-4E88-9AAA-6701AFC1AC14}"/>
              </a:ext>
            </a:extLst>
          </p:cNvPr>
          <p:cNvSpPr>
            <a:spLocks noGrp="1"/>
          </p:cNvSpPr>
          <p:nvPr/>
        </p:nvSpPr>
        <p:spPr>
          <a:xfrm>
            <a:off x="1422402" y="561975"/>
            <a:ext cx="257175" cy="190500"/>
          </a:xfrm>
          <a:prstGeom prst="rect">
            <a:avLst/>
          </a:prstGeom>
          <a:solidFill>
            <a:srgbClr val="EBF7FC"/>
          </a:solidFill>
          <a:ln w="4286">
            <a:solidFill>
              <a:srgbClr val="A6C5DF"/>
            </a:solidFill>
          </a:ln>
        </p:spPr>
      </p:sp>
      <p:sp>
        <p:nvSpPr>
          <p:cNvPr id="50458" name="F2-density-voxel">
            <a:extLst>
              <a:ext uri="{FF2B5EF4-FFF2-40B4-BE49-F238E27FC236}">
                <a16:creationId xmlns:a16="http://schemas.microsoft.com/office/drawing/2014/main" id="{A49953DB-68D8-42EB-963F-DD42F453137D}"/>
              </a:ext>
            </a:extLst>
          </p:cNvPr>
          <p:cNvSpPr>
            <a:spLocks noGrp="1"/>
          </p:cNvSpPr>
          <p:nvPr/>
        </p:nvSpPr>
        <p:spPr>
          <a:xfrm>
            <a:off x="1441452" y="571500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59" name="F2-density-voxel">
            <a:extLst>
              <a:ext uri="{FF2B5EF4-FFF2-40B4-BE49-F238E27FC236}">
                <a16:creationId xmlns:a16="http://schemas.microsoft.com/office/drawing/2014/main" id="{ECECDED8-7BB6-465D-90CE-1566D913C0F0}"/>
              </a:ext>
            </a:extLst>
          </p:cNvPr>
          <p:cNvSpPr>
            <a:spLocks noGrp="1"/>
          </p:cNvSpPr>
          <p:nvPr/>
        </p:nvSpPr>
        <p:spPr>
          <a:xfrm>
            <a:off x="1493840" y="571500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60" name="F2-density-voxel">
            <a:extLst>
              <a:ext uri="{FF2B5EF4-FFF2-40B4-BE49-F238E27FC236}">
                <a16:creationId xmlns:a16="http://schemas.microsoft.com/office/drawing/2014/main" id="{49E89024-8821-43E6-B830-D5D2C6143679}"/>
              </a:ext>
            </a:extLst>
          </p:cNvPr>
          <p:cNvSpPr>
            <a:spLocks noGrp="1"/>
          </p:cNvSpPr>
          <p:nvPr/>
        </p:nvSpPr>
        <p:spPr>
          <a:xfrm>
            <a:off x="1546227" y="571500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61" name="F2-density-voxel">
            <a:extLst>
              <a:ext uri="{FF2B5EF4-FFF2-40B4-BE49-F238E27FC236}">
                <a16:creationId xmlns:a16="http://schemas.microsoft.com/office/drawing/2014/main" id="{3A635687-B1F5-496B-9A49-461D8BC35087}"/>
              </a:ext>
            </a:extLst>
          </p:cNvPr>
          <p:cNvSpPr>
            <a:spLocks noGrp="1"/>
          </p:cNvSpPr>
          <p:nvPr/>
        </p:nvSpPr>
        <p:spPr>
          <a:xfrm>
            <a:off x="1598615" y="571500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62" name="F2-density-voxel">
            <a:extLst>
              <a:ext uri="{FF2B5EF4-FFF2-40B4-BE49-F238E27FC236}">
                <a16:creationId xmlns:a16="http://schemas.microsoft.com/office/drawing/2014/main" id="{FEC54E9C-643D-4824-B955-66BA7E401A0E}"/>
              </a:ext>
            </a:extLst>
          </p:cNvPr>
          <p:cNvSpPr>
            <a:spLocks noGrp="1"/>
          </p:cNvSpPr>
          <p:nvPr/>
        </p:nvSpPr>
        <p:spPr>
          <a:xfrm>
            <a:off x="1441452" y="614363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63" name="F2-density-voxel">
            <a:extLst>
              <a:ext uri="{FF2B5EF4-FFF2-40B4-BE49-F238E27FC236}">
                <a16:creationId xmlns:a16="http://schemas.microsoft.com/office/drawing/2014/main" id="{ED2290E5-D29A-42C8-863E-1A0B5A093DAF}"/>
              </a:ext>
            </a:extLst>
          </p:cNvPr>
          <p:cNvSpPr>
            <a:spLocks noGrp="1"/>
          </p:cNvSpPr>
          <p:nvPr/>
        </p:nvSpPr>
        <p:spPr>
          <a:xfrm>
            <a:off x="1493840" y="614363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64" name="F2-density-voxel">
            <a:extLst>
              <a:ext uri="{FF2B5EF4-FFF2-40B4-BE49-F238E27FC236}">
                <a16:creationId xmlns:a16="http://schemas.microsoft.com/office/drawing/2014/main" id="{C030A993-BA02-4CBF-A526-9AF795928873}"/>
              </a:ext>
            </a:extLst>
          </p:cNvPr>
          <p:cNvSpPr>
            <a:spLocks noGrp="1"/>
          </p:cNvSpPr>
          <p:nvPr/>
        </p:nvSpPr>
        <p:spPr>
          <a:xfrm>
            <a:off x="1546227" y="614363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65" name="F2-density-voxel">
            <a:extLst>
              <a:ext uri="{FF2B5EF4-FFF2-40B4-BE49-F238E27FC236}">
                <a16:creationId xmlns:a16="http://schemas.microsoft.com/office/drawing/2014/main" id="{EC212EF2-C0F1-41AF-B3CE-D957D17932A0}"/>
              </a:ext>
            </a:extLst>
          </p:cNvPr>
          <p:cNvSpPr>
            <a:spLocks noGrp="1"/>
          </p:cNvSpPr>
          <p:nvPr/>
        </p:nvSpPr>
        <p:spPr>
          <a:xfrm>
            <a:off x="1598615" y="614363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66" name="F2-density-voxel">
            <a:extLst>
              <a:ext uri="{FF2B5EF4-FFF2-40B4-BE49-F238E27FC236}">
                <a16:creationId xmlns:a16="http://schemas.microsoft.com/office/drawing/2014/main" id="{8E8D1CD2-DC81-4A69-849C-F21783FD798D}"/>
              </a:ext>
            </a:extLst>
          </p:cNvPr>
          <p:cNvSpPr>
            <a:spLocks noGrp="1"/>
          </p:cNvSpPr>
          <p:nvPr/>
        </p:nvSpPr>
        <p:spPr>
          <a:xfrm>
            <a:off x="1441452" y="657225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67" name="F2-density-voxel">
            <a:extLst>
              <a:ext uri="{FF2B5EF4-FFF2-40B4-BE49-F238E27FC236}">
                <a16:creationId xmlns:a16="http://schemas.microsoft.com/office/drawing/2014/main" id="{CEA7FE12-330D-4160-8BE6-769BF6A26577}"/>
              </a:ext>
            </a:extLst>
          </p:cNvPr>
          <p:cNvSpPr>
            <a:spLocks noGrp="1"/>
          </p:cNvSpPr>
          <p:nvPr/>
        </p:nvSpPr>
        <p:spPr>
          <a:xfrm>
            <a:off x="1493840" y="657225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68" name="F2-density-voxel">
            <a:extLst>
              <a:ext uri="{FF2B5EF4-FFF2-40B4-BE49-F238E27FC236}">
                <a16:creationId xmlns:a16="http://schemas.microsoft.com/office/drawing/2014/main" id="{BE225EBF-D266-4631-9D7E-1B21643503B4}"/>
              </a:ext>
            </a:extLst>
          </p:cNvPr>
          <p:cNvSpPr>
            <a:spLocks noGrp="1"/>
          </p:cNvSpPr>
          <p:nvPr/>
        </p:nvSpPr>
        <p:spPr>
          <a:xfrm>
            <a:off x="1546227" y="657225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69" name="F2-density-voxel">
            <a:extLst>
              <a:ext uri="{FF2B5EF4-FFF2-40B4-BE49-F238E27FC236}">
                <a16:creationId xmlns:a16="http://schemas.microsoft.com/office/drawing/2014/main" id="{D56EA4DF-3429-4429-A2AA-6D7C9D33B341}"/>
              </a:ext>
            </a:extLst>
          </p:cNvPr>
          <p:cNvSpPr>
            <a:spLocks noGrp="1"/>
          </p:cNvSpPr>
          <p:nvPr/>
        </p:nvSpPr>
        <p:spPr>
          <a:xfrm>
            <a:off x="1598615" y="657225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70" name="F2-density-voxel">
            <a:extLst>
              <a:ext uri="{FF2B5EF4-FFF2-40B4-BE49-F238E27FC236}">
                <a16:creationId xmlns:a16="http://schemas.microsoft.com/office/drawing/2014/main" id="{F4CB67F8-3427-42E0-B222-3C4C5B421A28}"/>
              </a:ext>
            </a:extLst>
          </p:cNvPr>
          <p:cNvSpPr>
            <a:spLocks noGrp="1"/>
          </p:cNvSpPr>
          <p:nvPr/>
        </p:nvSpPr>
        <p:spPr>
          <a:xfrm>
            <a:off x="1441452" y="700088"/>
            <a:ext cx="52388" cy="42863"/>
          </a:xfrm>
          <a:prstGeom prst="rect">
            <a:avLst/>
          </a:prstGeom>
          <a:solidFill>
            <a:srgbClr val="B6DDE7"/>
          </a:solidFill>
          <a:ln w="0">
            <a:noFill/>
          </a:ln>
        </p:spPr>
      </p:sp>
      <p:sp>
        <p:nvSpPr>
          <p:cNvPr id="50471" name="F2-density-voxel">
            <a:extLst>
              <a:ext uri="{FF2B5EF4-FFF2-40B4-BE49-F238E27FC236}">
                <a16:creationId xmlns:a16="http://schemas.microsoft.com/office/drawing/2014/main" id="{E62F2DC6-612B-4891-B2B7-8020312C0678}"/>
              </a:ext>
            </a:extLst>
          </p:cNvPr>
          <p:cNvSpPr>
            <a:spLocks noGrp="1"/>
          </p:cNvSpPr>
          <p:nvPr/>
        </p:nvSpPr>
        <p:spPr>
          <a:xfrm>
            <a:off x="1493840" y="700088"/>
            <a:ext cx="52388" cy="42863"/>
          </a:xfrm>
          <a:prstGeom prst="rect">
            <a:avLst/>
          </a:prstGeom>
          <a:solidFill>
            <a:srgbClr val="CCE5EE"/>
          </a:solidFill>
          <a:ln w="0">
            <a:noFill/>
          </a:ln>
        </p:spPr>
      </p:sp>
      <p:sp>
        <p:nvSpPr>
          <p:cNvPr id="50472" name="F2-density-voxel">
            <a:extLst>
              <a:ext uri="{FF2B5EF4-FFF2-40B4-BE49-F238E27FC236}">
                <a16:creationId xmlns:a16="http://schemas.microsoft.com/office/drawing/2014/main" id="{3D79F01F-5243-4E3C-8AA7-EE2C8B8C7E29}"/>
              </a:ext>
            </a:extLst>
          </p:cNvPr>
          <p:cNvSpPr>
            <a:spLocks noGrp="1"/>
          </p:cNvSpPr>
          <p:nvPr/>
        </p:nvSpPr>
        <p:spPr>
          <a:xfrm>
            <a:off x="1546227" y="700088"/>
            <a:ext cx="52388" cy="42863"/>
          </a:xfrm>
          <a:prstGeom prst="rect">
            <a:avLst/>
          </a:prstGeom>
          <a:solidFill>
            <a:srgbClr val="86C0D7"/>
          </a:solidFill>
          <a:ln w="0">
            <a:noFill/>
          </a:ln>
        </p:spPr>
      </p:sp>
      <p:sp>
        <p:nvSpPr>
          <p:cNvPr id="50473" name="F2-density-voxel">
            <a:extLst>
              <a:ext uri="{FF2B5EF4-FFF2-40B4-BE49-F238E27FC236}">
                <a16:creationId xmlns:a16="http://schemas.microsoft.com/office/drawing/2014/main" id="{7F5BC88D-76D1-4A24-B998-8BD41F9AADDB}"/>
              </a:ext>
            </a:extLst>
          </p:cNvPr>
          <p:cNvSpPr>
            <a:spLocks noGrp="1"/>
          </p:cNvSpPr>
          <p:nvPr/>
        </p:nvSpPr>
        <p:spPr>
          <a:xfrm>
            <a:off x="1598615" y="700088"/>
            <a:ext cx="52388" cy="42863"/>
          </a:xfrm>
          <a:prstGeom prst="rect">
            <a:avLst/>
          </a:prstGeom>
          <a:solidFill>
            <a:srgbClr val="4D9ABB"/>
          </a:solidFill>
          <a:ln w="0">
            <a:noFill/>
          </a:ln>
        </p:spPr>
      </p:sp>
      <p:sp>
        <p:nvSpPr>
          <p:cNvPr id="50474" name="F2-spatial-transform">
            <a:extLst>
              <a:ext uri="{FF2B5EF4-FFF2-40B4-BE49-F238E27FC236}">
                <a16:creationId xmlns:a16="http://schemas.microsoft.com/office/drawing/2014/main" id="{A85283F8-9FE2-48A1-8429-5356F2D370E2}"/>
              </a:ext>
            </a:extLst>
          </p:cNvPr>
          <p:cNvSpPr>
            <a:spLocks noGrp="1"/>
          </p:cNvSpPr>
          <p:nvPr/>
        </p:nvSpPr>
        <p:spPr>
          <a:xfrm>
            <a:off x="1011739" y="549713"/>
            <a:ext cx="376238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Spatial</a:t>
            </a: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transform</a:t>
            </a:r>
          </a:p>
        </p:txBody>
      </p:sp>
      <p:sp>
        <p:nvSpPr>
          <p:cNvPr id="50475" name="F2-atom-embeddings-input">
            <a:extLst>
              <a:ext uri="{FF2B5EF4-FFF2-40B4-BE49-F238E27FC236}">
                <a16:creationId xmlns:a16="http://schemas.microsoft.com/office/drawing/2014/main" id="{0B4B93C5-B055-4ECE-8D5F-9FD8F9F29D6A}"/>
              </a:ext>
            </a:extLst>
          </p:cNvPr>
          <p:cNvSpPr>
            <a:spLocks noGrp="1"/>
          </p:cNvSpPr>
          <p:nvPr/>
        </p:nvSpPr>
        <p:spPr>
          <a:xfrm>
            <a:off x="1040427" y="1287494"/>
            <a:ext cx="327329" cy="1809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E</a:t>
            </a:r>
            <a:r>
              <a:rPr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mbedding</a:t>
            </a:r>
            <a:endParaRPr lang="en-US" sz="460" b="0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  <a:p>
            <a:pPr algn="ctr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46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head</a:t>
            </a:r>
            <a:endParaRPr sz="460" b="0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0482" name="图片 50481">
            <a:extLst>
              <a:ext uri="{FF2B5EF4-FFF2-40B4-BE49-F238E27FC236}">
                <a16:creationId xmlns:a16="http://schemas.microsoft.com/office/drawing/2014/main" id="{CC697937-E8CE-4EDF-BB17-1FEA96E39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83208" y="2943948"/>
            <a:ext cx="414760" cy="342900"/>
          </a:xfrm>
          <a:prstGeom prst="rect">
            <a:avLst/>
          </a:prstGeom>
        </p:spPr>
      </p:pic>
      <p:pic>
        <p:nvPicPr>
          <p:cNvPr id="50483" name="图片 50482">
            <a:extLst>
              <a:ext uri="{FF2B5EF4-FFF2-40B4-BE49-F238E27FC236}">
                <a16:creationId xmlns:a16="http://schemas.microsoft.com/office/drawing/2014/main" id="{438EEB95-3CA6-4E7A-A194-3246AD9537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484" name="F2-Build-selected">
            <a:extLst>
              <a:ext uri="{FF2B5EF4-FFF2-40B4-BE49-F238E27FC236}">
                <a16:creationId xmlns:a16="http://schemas.microsoft.com/office/drawing/2014/main" id="{DE962B78-B7D5-48B9-87F8-2B7091442BBC}"/>
              </a:ext>
            </a:extLst>
          </p:cNvPr>
          <p:cNvSpPr>
            <a:spLocks noGrp="1"/>
          </p:cNvSpPr>
          <p:nvPr/>
        </p:nvSpPr>
        <p:spPr>
          <a:xfrm>
            <a:off x="5054601" y="1283549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485" name="F2-Build-SMILES-0">
            <a:extLst>
              <a:ext uri="{FF2B5EF4-FFF2-40B4-BE49-F238E27FC236}">
                <a16:creationId xmlns:a16="http://schemas.microsoft.com/office/drawing/2014/main" id="{78E3ED61-275F-4084-A0ED-58027336CEDD}"/>
              </a:ext>
            </a:extLst>
          </p:cNvPr>
          <p:cNvSpPr>
            <a:spLocks noGrp="1"/>
          </p:cNvSpPr>
          <p:nvPr/>
        </p:nvSpPr>
        <p:spPr>
          <a:xfrm>
            <a:off x="5101503" y="113666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486" name="F2-Build-SMILES-7.8">
            <a:extLst>
              <a:ext uri="{FF2B5EF4-FFF2-40B4-BE49-F238E27FC236}">
                <a16:creationId xmlns:a16="http://schemas.microsoft.com/office/drawing/2014/main" id="{D4F86145-7D8F-43EC-916E-D3D9668CBA5D}"/>
              </a:ext>
            </a:extLst>
          </p:cNvPr>
          <p:cNvSpPr>
            <a:spLocks noGrp="1"/>
          </p:cNvSpPr>
          <p:nvPr/>
        </p:nvSpPr>
        <p:spPr>
          <a:xfrm>
            <a:off x="5101503" y="1199841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CC(=O)O</a:t>
            </a:r>
          </a:p>
        </p:txBody>
      </p:sp>
      <p:sp>
        <p:nvSpPr>
          <p:cNvPr id="50487" name="F2-Build-continuation">
            <a:extLst>
              <a:ext uri="{FF2B5EF4-FFF2-40B4-BE49-F238E27FC236}">
                <a16:creationId xmlns:a16="http://schemas.microsoft.com/office/drawing/2014/main" id="{69E4AF15-4441-4953-BC21-A9A09B8807EC}"/>
              </a:ext>
            </a:extLst>
          </p:cNvPr>
          <p:cNvSpPr>
            <a:spLocks noGrp="1"/>
          </p:cNvSpPr>
          <p:nvPr/>
        </p:nvSpPr>
        <p:spPr>
          <a:xfrm>
            <a:off x="510626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8" name="F2-Build-continuation">
            <a:extLst>
              <a:ext uri="{FF2B5EF4-FFF2-40B4-BE49-F238E27FC236}">
                <a16:creationId xmlns:a16="http://schemas.microsoft.com/office/drawing/2014/main" id="{A73B5841-5DC8-4503-BDE2-815DBBEFE500}"/>
              </a:ext>
            </a:extLst>
          </p:cNvPr>
          <p:cNvSpPr>
            <a:spLocks noGrp="1"/>
          </p:cNvSpPr>
          <p:nvPr/>
        </p:nvSpPr>
        <p:spPr>
          <a:xfrm>
            <a:off x="5119918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9" name="F2-Build-continuation">
            <a:extLst>
              <a:ext uri="{FF2B5EF4-FFF2-40B4-BE49-F238E27FC236}">
                <a16:creationId xmlns:a16="http://schemas.microsoft.com/office/drawing/2014/main" id="{2CD955D9-21C2-4AE5-9635-C9F55AC072BD}"/>
              </a:ext>
            </a:extLst>
          </p:cNvPr>
          <p:cNvSpPr>
            <a:spLocks noGrp="1"/>
          </p:cNvSpPr>
          <p:nvPr/>
        </p:nvSpPr>
        <p:spPr>
          <a:xfrm>
            <a:off x="513515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90" name="F2-Build-SMILES-19.8">
            <a:extLst>
              <a:ext uri="{FF2B5EF4-FFF2-40B4-BE49-F238E27FC236}">
                <a16:creationId xmlns:a16="http://schemas.microsoft.com/office/drawing/2014/main" id="{F825F396-DC00-4D1F-95F0-5208E2576D2C}"/>
              </a:ext>
            </a:extLst>
          </p:cNvPr>
          <p:cNvSpPr>
            <a:spLocks noGrp="1"/>
          </p:cNvSpPr>
          <p:nvPr/>
        </p:nvSpPr>
        <p:spPr>
          <a:xfrm>
            <a:off x="5101503" y="1285559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>
                <a:solidFill>
                  <a:srgbClr val="263442"/>
                </a:solidFill>
              </a:rPr>
              <a:t>Cc1ccccc1</a:t>
            </a:r>
          </a:p>
        </p:txBody>
      </p:sp>
      <p:sp>
        <p:nvSpPr>
          <p:cNvPr id="50491" name="F2-Build-SMILES-27.599999999999998">
            <a:extLst>
              <a:ext uri="{FF2B5EF4-FFF2-40B4-BE49-F238E27FC236}">
                <a16:creationId xmlns:a16="http://schemas.microsoft.com/office/drawing/2014/main" id="{42E599AD-9784-4B26-ADAB-718990C44186}"/>
              </a:ext>
            </a:extLst>
          </p:cNvPr>
          <p:cNvSpPr>
            <a:spLocks noGrp="1"/>
          </p:cNvSpPr>
          <p:nvPr/>
        </p:nvSpPr>
        <p:spPr>
          <a:xfrm>
            <a:off x="5101503" y="1359854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CC(N)=O</a:t>
            </a:r>
          </a:p>
        </p:txBody>
      </p:sp>
      <p:pic>
        <p:nvPicPr>
          <p:cNvPr id="50492" name="图片 50491">
            <a:extLst>
              <a:ext uri="{FF2B5EF4-FFF2-40B4-BE49-F238E27FC236}">
                <a16:creationId xmlns:a16="http://schemas.microsoft.com/office/drawing/2014/main" id="{788E8304-A748-4BB4-8B4F-8A9E612C08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  <p:grpSp>
        <p:nvGrpSpPr>
          <p:cNvPr id="50493" name="Find preview 15"/>
          <p:cNvGrpSpPr/>
          <p:nvPr/>
        </p:nvGrpSpPr>
        <p:grpSpPr>
          <a:xfrm>
            <a:off x="612533" y="471488"/>
            <a:ext cx="404812" cy="395288"/>
            <a:chOff x="511635" y="471488"/>
            <a:chExt cx="404812" cy="395288"/>
          </a:xfrm>
        </p:grpSpPr>
        <p:pic>
          <p:nvPicPr>
            <p:cNvPr id="1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8CF1199C-6488-C5B6-B489-1131732B4FB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11635" y="475859"/>
              <a:ext cx="404812" cy="386544"/>
            </a:xfrm>
            <a:prstGeom prst="rect">
              <a:avLst/>
            </a:prstGeom>
          </p:spPr>
        </p:pic>
        <p:sp>
          <p:nvSpPr>
            <p:cNvPr id="50476" name="crop-cube">
              <a:extLst>
                <a:ext uri="{FF2B5EF4-FFF2-40B4-BE49-F238E27FC236}">
                  <a16:creationId xmlns:a16="http://schemas.microsoft.com/office/drawing/2014/main" id="{25839399-079E-4307-9725-E085483F7FD6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626745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77" name="crop-cube">
              <a:extLst>
                <a:ext uri="{FF2B5EF4-FFF2-40B4-BE49-F238E27FC236}">
                  <a16:creationId xmlns:a16="http://schemas.microsoft.com/office/drawing/2014/main" id="{07D86F79-577D-4116-BDEA-F38D19D792BA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626745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78" name="F2-density-crop-size">
              <a:extLst>
                <a:ext uri="{FF2B5EF4-FFF2-40B4-BE49-F238E27FC236}">
                  <a16:creationId xmlns:a16="http://schemas.microsoft.com/office/drawing/2014/main" id="{9B6ECDDF-4CA0-44BE-83B1-7FF800ECF209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766763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494" name="Find preview 1435"/>
          <p:cNvGrpSpPr/>
          <p:nvPr/>
        </p:nvGrpSpPr>
        <p:grpSpPr>
          <a:xfrm>
            <a:off x="612533" y="1252538"/>
            <a:ext cx="404812" cy="395288"/>
            <a:chOff x="511635" y="1252538"/>
            <a:chExt cx="404812" cy="395288"/>
          </a:xfrm>
        </p:grpSpPr>
        <p:pic>
          <p:nvPicPr>
            <p:cNvPr id="1435" name="Find clear receptor" descr="Receptor cartoon rendered from unchanged local coordinates, chain C1 of the 9LLG CA2 model.">
              <a:extLst>
                <a:ext uri="{FF2B5EF4-FFF2-40B4-BE49-F238E27FC236}">
                  <a16:creationId xmlns:a16="http://schemas.microsoft.com/office/drawing/2014/main" id="{24C88AB2-5918-0F4D-EDE6-0D89FC02F100}"/>
                </a:ext>
              </a:extLst>
            </p:cNvPr>
            <p:cNvPicPr/>
            <p:nvPr/>
          </p:nvPicPr>
          <p:blipFill>
            <a:blip r:embed="rId7"/>
            <a:srcRect l="16857" t="30389" r="19786" b="22500"/>
            <a:stretch>
              <a:fillRect/>
            </a:stretch>
          </p:blipFill>
          <p:spPr>
            <a:xfrm>
              <a:off x="511635" y="1256674"/>
              <a:ext cx="404812" cy="387014"/>
            </a:xfrm>
            <a:prstGeom prst="rect">
              <a:avLst/>
            </a:prstGeom>
          </p:spPr>
        </p:pic>
        <p:sp>
          <p:nvSpPr>
            <p:cNvPr id="50479" name="crop-cube">
              <a:extLst>
                <a:ext uri="{FF2B5EF4-FFF2-40B4-BE49-F238E27FC236}">
                  <a16:creationId xmlns:a16="http://schemas.microsoft.com/office/drawing/2014/main" id="{B083B324-58BF-4271-92CE-6A3DCE5DBE53}"/>
                </a:ext>
              </a:extLst>
            </p:cNvPr>
            <p:cNvSpPr>
              <a:spLocks noGrp="1"/>
            </p:cNvSpPr>
            <p:nvPr/>
          </p:nvSpPr>
          <p:spPr>
            <a:xfrm>
              <a:off x="700088" y="1404938"/>
              <a:ext cx="119063" cy="119063"/>
            </a:xfrm>
            <a:custGeom>
              <a:avLst/>
              <a:gdLst/>
              <a:ahLst/>
              <a:cxnLst/>
              <a:rect l="0" t="0" r="0" b="0"/>
              <a:pathLst>
                <a:path w="119063" h="119063">
                  <a:moveTo>
                    <a:pt x="0" y="30956"/>
                  </a:moveTo>
                  <a:lnTo>
                    <a:pt x="88106" y="30956"/>
                  </a:lnTo>
                  <a:lnTo>
                    <a:pt x="88106" y="119063"/>
                  </a:lnTo>
                  <a:lnTo>
                    <a:pt x="0" y="119063"/>
                  </a:lnTo>
                  <a:lnTo>
                    <a:pt x="0" y="30956"/>
                  </a:lnTo>
                  <a:lnTo>
                    <a:pt x="30956" y="0"/>
                  </a:lnTo>
                  <a:lnTo>
                    <a:pt x="119063" y="0"/>
                  </a:lnTo>
                  <a:lnTo>
                    <a:pt x="119063" y="88106"/>
                  </a:lnTo>
                  <a:lnTo>
                    <a:pt x="88106" y="119063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80" name="crop-cube">
              <a:extLst>
                <a:ext uri="{FF2B5EF4-FFF2-40B4-BE49-F238E27FC236}">
                  <a16:creationId xmlns:a16="http://schemas.microsoft.com/office/drawing/2014/main" id="{0E8C65BE-9745-4184-B8B7-6FD5E9341DBD}"/>
                </a:ext>
              </a:extLst>
            </p:cNvPr>
            <p:cNvSpPr>
              <a:spLocks noGrp="1"/>
            </p:cNvSpPr>
            <p:nvPr/>
          </p:nvSpPr>
          <p:spPr>
            <a:xfrm>
              <a:off x="788194" y="1404938"/>
              <a:ext cx="30956" cy="30956"/>
            </a:xfrm>
            <a:custGeom>
              <a:avLst/>
              <a:gdLst/>
              <a:ahLst/>
              <a:cxnLst/>
              <a:rect l="0" t="0" r="0" b="0"/>
              <a:pathLst>
                <a:path w="30956" h="30956">
                  <a:moveTo>
                    <a:pt x="0" y="30956"/>
                  </a:moveTo>
                  <a:lnTo>
                    <a:pt x="30956" y="0"/>
                  </a:lnTo>
                </a:path>
              </a:pathLst>
            </a:custGeom>
            <a:noFill/>
            <a:ln w="8573">
              <a:solidFill>
                <a:srgbClr val="263442"/>
              </a:solidFill>
            </a:ln>
          </p:spPr>
        </p:sp>
        <p:sp>
          <p:nvSpPr>
            <p:cNvPr id="50481" name="F2-receptor-crop-size">
              <a:extLst>
                <a:ext uri="{FF2B5EF4-FFF2-40B4-BE49-F238E27FC236}">
                  <a16:creationId xmlns:a16="http://schemas.microsoft.com/office/drawing/2014/main" id="{11CB5595-3267-408D-9A25-39E3920D0458}"/>
                </a:ext>
              </a:extLst>
            </p:cNvPr>
            <p:cNvSpPr>
              <a:spLocks noGrp="1"/>
            </p:cNvSpPr>
            <p:nvPr/>
          </p:nvSpPr>
          <p:spPr>
            <a:xfrm>
              <a:off x="640556" y="1544955"/>
              <a:ext cx="238125" cy="952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600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80³</a:t>
              </a:r>
            </a:p>
          </p:txBody>
        </p:sp>
      </p:grpSp>
      <p:grpSp>
        <p:nvGrpSpPr>
          <p:cNvPr id="50495" name="Find preview 25"/>
          <p:cNvGrpSpPr/>
          <p:nvPr/>
        </p:nvGrpSpPr>
        <p:grpSpPr>
          <a:xfrm>
            <a:off x="4349067" y="499672"/>
            <a:ext cx="404812" cy="386544"/>
            <a:chOff x="4349067" y="499672"/>
            <a:chExt cx="404812" cy="386544"/>
          </a:xfrm>
        </p:grpSpPr>
        <p:pic>
          <p:nvPicPr>
            <p:cNvPr id="25" name="Find corresponding experimental density" descr="Experimental 9LLG density around chain C1 of the displayed CryoAtom2 receptor, at the original contour level and the identical camera orientation.">
              <a:extLst>
                <a:ext uri="{FF2B5EF4-FFF2-40B4-BE49-F238E27FC236}">
                  <a16:creationId xmlns:a16="http://schemas.microsoft.com/office/drawing/2014/main" id="{E01FAF0F-7383-AEC3-8192-CE781D4C8B97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4349067" y="499672"/>
              <a:ext cx="404812" cy="386544"/>
            </a:xfrm>
            <a:prstGeom prst="rect">
              <a:avLst/>
            </a:prstGeom>
          </p:spPr>
        </p:pic>
        <p:grpSp>
          <p:nvGrpSpPr>
            <p:cNvPr id="50437" name="Global copy of blob 758">
              <a:extLst>
                <a:ext uri="{FF2B5EF4-FFF2-40B4-BE49-F238E27FC236}">
                  <a16:creationId xmlns:a16="http://schemas.microsoft.com/office/drawing/2014/main" id="{00C0C92B-D4C8-0994-E860-1581EB873D86}"/>
                </a:ext>
              </a:extLst>
            </p:cNvPr>
            <p:cNvGrpSpPr/>
            <p:nvPr/>
          </p:nvGrpSpPr>
          <p:grpSpPr>
            <a:xfrm>
              <a:off x="4445066" y="623158"/>
              <a:ext cx="92055" cy="24054"/>
              <a:chOff x="1980855" y="3559489"/>
              <a:chExt cx="493446" cy="155682"/>
            </a:xfrm>
          </p:grpSpPr>
          <p:sp>
            <p:nvSpPr>
              <p:cNvPr id="50438" name="Candidate blob | editable contour">
                <a:extLst>
                  <a:ext uri="{FF2B5EF4-FFF2-40B4-BE49-F238E27FC236}">
                    <a16:creationId xmlns:a16="http://schemas.microsoft.com/office/drawing/2014/main" id="{A172A8B3-EFA3-33C9-CD2B-307B24D7293D}"/>
                  </a:ext>
                </a:extLst>
              </p:cNvPr>
              <p:cNvSpPr/>
              <p:nvPr/>
            </p:nvSpPr>
            <p:spPr>
              <a:xfrm>
                <a:off x="2246406" y="3559489"/>
                <a:ext cx="227895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3521" y="100385"/>
                    </a:moveTo>
                    <a:cubicBezTo>
                      <a:pt x="0" y="80701"/>
                      <a:pt x="26006" y="62787"/>
                      <a:pt x="43453" y="54263"/>
                    </a:cubicBezTo>
                    <a:cubicBezTo>
                      <a:pt x="58843" y="43224"/>
                      <a:pt x="83460" y="52781"/>
                      <a:pt x="99588" y="43358"/>
                    </a:cubicBezTo>
                    <a:cubicBezTo>
                      <a:pt x="112436" y="32945"/>
                      <a:pt x="102548" y="9475"/>
                      <a:pt x="114181" y="4123"/>
                    </a:cubicBezTo>
                    <a:cubicBezTo>
                      <a:pt x="125241" y="0"/>
                      <a:pt x="158214" y="2398"/>
                      <a:pt x="179365" y="5837"/>
                    </a:cubicBezTo>
                    <a:cubicBezTo>
                      <a:pt x="197301" y="9996"/>
                      <a:pt x="210134" y="19340"/>
                      <a:pt x="216909" y="31256"/>
                    </a:cubicBezTo>
                    <a:cubicBezTo>
                      <a:pt x="221237" y="45342"/>
                      <a:pt x="227897" y="67151"/>
                      <a:pt x="224378" y="79920"/>
                    </a:cubicBezTo>
                    <a:cubicBezTo>
                      <a:pt x="219253" y="92918"/>
                      <a:pt x="191986" y="104353"/>
                      <a:pt x="170629" y="115250"/>
                    </a:cubicBezTo>
                    <a:cubicBezTo>
                      <a:pt x="155563" y="129736"/>
                      <a:pt x="143418" y="146104"/>
                      <a:pt x="126157" y="151452"/>
                    </a:cubicBezTo>
                    <a:cubicBezTo>
                      <a:pt x="110048" y="155682"/>
                      <a:pt x="82946" y="155682"/>
                      <a:pt x="52808" y="150002"/>
                    </a:cubicBezTo>
                    <a:cubicBezTo>
                      <a:pt x="28847" y="143645"/>
                      <a:pt x="5675" y="118994"/>
                      <a:pt x="3521" y="10038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39" name="ellipse_2612">
                <a:extLst>
                  <a:ext uri="{FF2B5EF4-FFF2-40B4-BE49-F238E27FC236}">
                    <a16:creationId xmlns:a16="http://schemas.microsoft.com/office/drawing/2014/main" id="{CF37E813-914E-4383-9CE9-1C5F4095124F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50442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 rot="3197729">
              <a:off x="4608138" y="649456"/>
              <a:ext cx="10571" cy="3071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445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4430816" y="761249"/>
              <a:ext cx="9540" cy="2671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448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4542383" y="798587"/>
              <a:ext cx="9428" cy="33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" name="V8 density and receptor to voxel">
            <a:extLst>
              <a:ext uri="{FF2B5EF4-FFF2-40B4-BE49-F238E27FC236}">
                <a16:creationId xmlns:a16="http://schemas.microsoft.com/office/drawing/2014/main" id="{6CB6A47B-4EF1-2B06-7255-E23CEE529CCF}"/>
              </a:ext>
            </a:extLst>
          </p:cNvPr>
          <p:cNvSpPr/>
          <p:nvPr/>
        </p:nvSpPr>
        <p:spPr>
          <a:xfrm flipV="1">
            <a:off x="1864197" y="790091"/>
            <a:ext cx="77018" cy="45719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31" name="V8 density and receptor to voxel head">
            <a:extLst>
              <a:ext uri="{FF2B5EF4-FFF2-40B4-BE49-F238E27FC236}">
                <a16:creationId xmlns:a16="http://schemas.microsoft.com/office/drawing/2014/main" id="{DF62D5B1-80E9-3975-FF99-0CA56F3741F9}"/>
              </a:ext>
            </a:extLst>
          </p:cNvPr>
          <p:cNvSpPr/>
          <p:nvPr/>
        </p:nvSpPr>
        <p:spPr>
          <a:xfrm>
            <a:off x="1935117" y="822853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4021CE7-7079-B8B1-FE1F-2395F0A6A9F4}"/>
              </a:ext>
            </a:extLst>
          </p:cNvPr>
          <p:cNvSpPr txBox="1"/>
          <p:nvPr/>
        </p:nvSpPr>
        <p:spPr>
          <a:xfrm>
            <a:off x="2806249" y="1439947"/>
            <a:ext cx="502061" cy="1976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650" i="1" dirty="0">
                <a:solidFill>
                  <a:srgbClr val="263442"/>
                </a:solidFill>
                <a:latin typeface="Arial"/>
              </a:rPr>
              <a:t>Recycle</a:t>
            </a:r>
          </a:p>
        </p:txBody>
      </p:sp>
      <p:grpSp>
        <p:nvGrpSpPr>
          <p:cNvPr id="21" name="Find candidate blob 2">
            <a:extLst>
              <a:ext uri="{FF2B5EF4-FFF2-40B4-BE49-F238E27FC236}">
                <a16:creationId xmlns:a16="http://schemas.microsoft.com/office/drawing/2014/main" id="{7CF4B83B-CE40-0943-83BF-857F63F584FC}"/>
              </a:ext>
            </a:extLst>
          </p:cNvPr>
          <p:cNvGrpSpPr/>
          <p:nvPr/>
        </p:nvGrpSpPr>
        <p:grpSpPr>
          <a:xfrm rot="3197729">
            <a:off x="4616630" y="633066"/>
            <a:ext cx="35227" cy="29704"/>
            <a:chOff x="1928706" y="3559489"/>
            <a:chExt cx="227897" cy="155682"/>
          </a:xfrm>
        </p:grpSpPr>
        <p:sp>
          <p:nvSpPr>
            <p:cNvPr id="23" name="Candidate blob | editable contour">
              <a:extLst>
                <a:ext uri="{FF2B5EF4-FFF2-40B4-BE49-F238E27FC236}">
                  <a16:creationId xmlns:a16="http://schemas.microsoft.com/office/drawing/2014/main" id="{0EF5C813-7F44-77DD-67FE-EE476608E03B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" name="ellipse_2612">
              <a:extLst>
                <a:ext uri="{FF2B5EF4-FFF2-40B4-BE49-F238E27FC236}">
                  <a16:creationId xmlns:a16="http://schemas.microsoft.com/office/drawing/2014/main" id="{F5FA3B82-7CD0-DDDF-A968-EC80FAC5CC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0" name="Find candidate blob 3">
            <a:extLst>
              <a:ext uri="{FF2B5EF4-FFF2-40B4-BE49-F238E27FC236}">
                <a16:creationId xmlns:a16="http://schemas.microsoft.com/office/drawing/2014/main" id="{7DFC79E6-A537-A8EE-9E23-73695EEDEA87}"/>
              </a:ext>
            </a:extLst>
          </p:cNvPr>
          <p:cNvGrpSpPr/>
          <p:nvPr/>
        </p:nvGrpSpPr>
        <p:grpSpPr>
          <a:xfrm rot="364243">
            <a:off x="4534839" y="709850"/>
            <a:ext cx="31915" cy="32299"/>
            <a:chOff x="1928706" y="3559489"/>
            <a:chExt cx="227897" cy="155682"/>
          </a:xfrm>
        </p:grpSpPr>
        <p:sp>
          <p:nvSpPr>
            <p:cNvPr id="32" name="Candidate blob | editable contour">
              <a:extLst>
                <a:ext uri="{FF2B5EF4-FFF2-40B4-BE49-F238E27FC236}">
                  <a16:creationId xmlns:a16="http://schemas.microsoft.com/office/drawing/2014/main" id="{EF3C7BE5-312A-39EB-D945-E725D09FC5C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" name="ellipse_2612">
              <a:extLst>
                <a:ext uri="{FF2B5EF4-FFF2-40B4-BE49-F238E27FC236}">
                  <a16:creationId xmlns:a16="http://schemas.microsoft.com/office/drawing/2014/main" id="{0A4821A8-67B8-19F4-30E2-0FE8715E5DA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8" name="Find candidate blob 1">
            <a:extLst>
              <a:ext uri="{FF2B5EF4-FFF2-40B4-BE49-F238E27FC236}">
                <a16:creationId xmlns:a16="http://schemas.microsoft.com/office/drawing/2014/main" id="{D9521CD7-F7FB-7490-A23A-67B39E4FD95D}"/>
              </a:ext>
            </a:extLst>
          </p:cNvPr>
          <p:cNvGrpSpPr/>
          <p:nvPr/>
        </p:nvGrpSpPr>
        <p:grpSpPr>
          <a:xfrm>
            <a:off x="4427985" y="745957"/>
            <a:ext cx="40973" cy="27988"/>
            <a:chOff x="1928706" y="3559489"/>
            <a:chExt cx="227897" cy="155682"/>
          </a:xfrm>
        </p:grpSpPr>
        <p:sp>
          <p:nvSpPr>
            <p:cNvPr id="39" name="Candidate blob | editable contour">
              <a:extLst>
                <a:ext uri="{FF2B5EF4-FFF2-40B4-BE49-F238E27FC236}">
                  <a16:creationId xmlns:a16="http://schemas.microsoft.com/office/drawing/2014/main" id="{B913F94B-9211-6007-A9F1-AA1E18C1D543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" name="ellipse_2612">
              <a:extLst>
                <a:ext uri="{FF2B5EF4-FFF2-40B4-BE49-F238E27FC236}">
                  <a16:creationId xmlns:a16="http://schemas.microsoft.com/office/drawing/2014/main" id="{D504CB61-AEF5-1C11-4CCF-573A1133E2A9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</p:spTree>
    <p:extLst>
      <p:ext uri="{BB962C8B-B14F-4D97-AF65-F5344CB8AC3E}">
        <p14:creationId xmlns:p14="http://schemas.microsoft.com/office/powerpoint/2010/main" val="37632893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7B64D-7A77-F60D-7442-326FC95E9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FC627B7-65E2-629B-AF96-4153D9C4C613}"/>
              </a:ext>
            </a:extLst>
          </p:cNvPr>
          <p:cNvSpPr/>
          <p:nvPr/>
        </p:nvSpPr>
        <p:spPr>
          <a:xfrm>
            <a:off x="450985" y="1884235"/>
            <a:ext cx="438193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F707A988-F9F8-7FA7-FB3B-D97A542C867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8F8D01C0-EC13-99C1-A142-95D90429D0FC}"/>
                </a:ext>
              </a:extLst>
            </p:cNvPr>
            <p:cNvSpPr/>
            <p:nvPr/>
          </p:nvSpPr>
          <p:spPr>
            <a:xfrm>
              <a:off x="1582841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9" name="TextBox 6">
            <a:extLst>
              <a:ext uri="{FF2B5EF4-FFF2-40B4-BE49-F238E27FC236}">
                <a16:creationId xmlns:a16="http://schemas.microsoft.com/office/drawing/2014/main" id="{A14EE797-C9EF-44F5-835D-72A03D67D378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56E9738-1492-9694-D0DE-F5D5CDB9649A}"/>
              </a:ext>
            </a:extLst>
          </p:cNvPr>
          <p:cNvSpPr txBox="1"/>
          <p:nvPr/>
        </p:nvSpPr>
        <p:spPr>
          <a:xfrm>
            <a:off x="677200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263442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A93D310-5207-587E-2BA3-DC80941D23FD}"/>
              </a:ext>
            </a:extLst>
          </p:cNvPr>
          <p:cNvSpPr txBox="1"/>
          <p:nvPr/>
        </p:nvSpPr>
        <p:spPr>
          <a:xfrm>
            <a:off x="677751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C10800BB-7284-A6DD-0DCD-A877E466C976}"/>
              </a:ext>
            </a:extLst>
          </p:cNvPr>
          <p:cNvSpPr txBox="1"/>
          <p:nvPr/>
        </p:nvSpPr>
        <p:spPr>
          <a:xfrm>
            <a:off x="2706672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263442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24BF5C95-577F-820B-6CFF-875386FE5297}"/>
              </a:ext>
            </a:extLst>
          </p:cNvPr>
          <p:cNvSpPr/>
          <p:nvPr/>
        </p:nvSpPr>
        <p:spPr>
          <a:xfrm>
            <a:off x="2617408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4E010E90-8147-72CF-1775-7586F1FF8849}"/>
              </a:ext>
            </a:extLst>
          </p:cNvPr>
          <p:cNvSpPr txBox="1"/>
          <p:nvPr/>
        </p:nvSpPr>
        <p:spPr>
          <a:xfrm>
            <a:off x="669841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ED7DBB6A-75FE-A62B-A2BD-30F7F99177DD}"/>
              </a:ext>
            </a:extLst>
          </p:cNvPr>
          <p:cNvSpPr txBox="1"/>
          <p:nvPr/>
        </p:nvSpPr>
        <p:spPr>
          <a:xfrm>
            <a:off x="1152374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263442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9EA0CF2F-F365-27E1-2841-73BE399C76AA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199858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A28BD504-1A65-FE04-AC32-C95372ED882F}"/>
              </a:ext>
            </a:extLst>
          </p:cNvPr>
          <p:cNvSpPr txBox="1"/>
          <p:nvPr/>
        </p:nvSpPr>
        <p:spPr>
          <a:xfrm>
            <a:off x="709890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97BB178F-66E8-21A2-449D-15B18C24272A}"/>
              </a:ext>
            </a:extLst>
          </p:cNvPr>
          <p:cNvSpPr txBox="1"/>
          <p:nvPr/>
        </p:nvSpPr>
        <p:spPr>
          <a:xfrm>
            <a:off x="1159452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263442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1B313850-AE22-E019-39B5-418A38CE5523}"/>
              </a:ext>
            </a:extLst>
          </p:cNvPr>
          <p:cNvGrpSpPr/>
          <p:nvPr/>
        </p:nvGrpSpPr>
        <p:grpSpPr>
          <a:xfrm>
            <a:off x="1183161" y="3036990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86AE8E3B-3F06-E80E-A6FB-582554A7D602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9A514C45-22FC-6E6A-A791-C524FFB1838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7D5A47E7-B804-C9F8-94A3-D8769D4D8091}"/>
              </a:ext>
            </a:extLst>
          </p:cNvPr>
          <p:cNvSpPr txBox="1"/>
          <p:nvPr/>
        </p:nvSpPr>
        <p:spPr>
          <a:xfrm>
            <a:off x="1701262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63442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DD22A993-EFF8-C9E0-B9D0-AB1E2D1117C2}"/>
              </a:ext>
            </a:extLst>
          </p:cNvPr>
          <p:cNvGrpSpPr/>
          <p:nvPr/>
        </p:nvGrpSpPr>
        <p:grpSpPr>
          <a:xfrm>
            <a:off x="1718368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B776A06B-6723-1701-2943-D750F1A0CF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C74D993C-92B1-4C13-A16A-E5DA0A019B7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F7F23AD6-F5AA-E9E7-A9BB-E7FC657A4E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8BFD6FE-AFD2-4CCC-AD83-529F9791ACED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E2D76836-6F2E-E1AA-D36B-62BB812BC6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C6729901-73B8-7EAD-A076-2EBBF83183E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18B11A1B-9D2D-152F-BE88-AE40D9656428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5EA48F57-A1B9-A794-975E-53CF0C2757D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2C39F1B7-84C5-51E6-AD57-B1FAC983E60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FEF35C23-9B6F-E1B7-74BA-E7D5F3A51B8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92282E01-65E6-9D6C-7E95-FAB31A922C04}"/>
              </a:ext>
            </a:extLst>
          </p:cNvPr>
          <p:cNvGrpSpPr/>
          <p:nvPr/>
        </p:nvGrpSpPr>
        <p:grpSpPr>
          <a:xfrm>
            <a:off x="1781144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B89C8201-EDB3-8CA7-B0C3-FE3939BDC8B1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813CB313-5E5E-FAF3-7906-9FD679D0D760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6F198F1A-7665-6732-FA7A-B4A75E2116DD}"/>
              </a:ext>
            </a:extLst>
          </p:cNvPr>
          <p:cNvSpPr/>
          <p:nvPr/>
        </p:nvSpPr>
        <p:spPr>
          <a:xfrm>
            <a:off x="1824075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69D5E15F-B40B-1FCF-AD65-20BBA8E44A3D}"/>
              </a:ext>
            </a:extLst>
          </p:cNvPr>
          <p:cNvSpPr txBox="1"/>
          <p:nvPr/>
        </p:nvSpPr>
        <p:spPr>
          <a:xfrm>
            <a:off x="1659904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63442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0E692954-2308-7138-E445-1E60C34EF072}"/>
              </a:ext>
            </a:extLst>
          </p:cNvPr>
          <p:cNvSpPr txBox="1"/>
          <p:nvPr/>
        </p:nvSpPr>
        <p:spPr>
          <a:xfrm>
            <a:off x="2077123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263442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263442"/>
                </a:solidFill>
                <a:latin typeface="Arial"/>
              </a:rPr>
              <a:t>ase s</a:t>
            </a:r>
            <a:r>
              <a:rPr sz="600" dirty="0">
                <a:solidFill>
                  <a:srgbClr val="263442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006CDC54-176E-A544-85BB-E3F8337120B6}"/>
              </a:ext>
            </a:extLst>
          </p:cNvPr>
          <p:cNvSpPr txBox="1"/>
          <p:nvPr/>
        </p:nvSpPr>
        <p:spPr>
          <a:xfrm>
            <a:off x="2252881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>
                <a:solidFill>
                  <a:srgbClr val="263442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6E7B1605-8BC9-7F0C-2B4A-EEE57D4CF72C}"/>
              </a:ext>
            </a:extLst>
          </p:cNvPr>
          <p:cNvSpPr/>
          <p:nvPr/>
        </p:nvSpPr>
        <p:spPr>
          <a:xfrm>
            <a:off x="2156411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3C72FC95-4CAC-E180-D0F7-D967684E73B7}"/>
              </a:ext>
            </a:extLst>
          </p:cNvPr>
          <p:cNvSpPr/>
          <p:nvPr/>
        </p:nvSpPr>
        <p:spPr>
          <a:xfrm>
            <a:off x="2204438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80ADACA9-AFD9-FC29-11A4-FA5288EA9CBF}"/>
              </a:ext>
            </a:extLst>
          </p:cNvPr>
          <p:cNvSpPr/>
          <p:nvPr/>
        </p:nvSpPr>
        <p:spPr>
          <a:xfrm>
            <a:off x="2252465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CF774C98-FB78-69C1-B203-F147DC79112C}"/>
              </a:ext>
            </a:extLst>
          </p:cNvPr>
          <p:cNvSpPr/>
          <p:nvPr/>
        </p:nvSpPr>
        <p:spPr>
          <a:xfrm>
            <a:off x="2300493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723C4192-469C-8EF1-62B7-96114AFF5635}"/>
              </a:ext>
            </a:extLst>
          </p:cNvPr>
          <p:cNvSpPr/>
          <p:nvPr/>
        </p:nvSpPr>
        <p:spPr>
          <a:xfrm>
            <a:off x="2348521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B53F4172-5711-7CD1-4385-DE8B372D08C9}"/>
              </a:ext>
            </a:extLst>
          </p:cNvPr>
          <p:cNvSpPr/>
          <p:nvPr/>
        </p:nvSpPr>
        <p:spPr>
          <a:xfrm>
            <a:off x="2396548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95A43773-AB2E-0996-93EB-A77F4B607E08}"/>
              </a:ext>
            </a:extLst>
          </p:cNvPr>
          <p:cNvSpPr/>
          <p:nvPr/>
        </p:nvSpPr>
        <p:spPr>
          <a:xfrm>
            <a:off x="2444575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4F02DF07-05A0-8FF0-64A2-0C7F7FAE44B0}"/>
              </a:ext>
            </a:extLst>
          </p:cNvPr>
          <p:cNvSpPr/>
          <p:nvPr/>
        </p:nvSpPr>
        <p:spPr>
          <a:xfrm>
            <a:off x="669841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DD55168B-C7D2-6D72-A2B2-BDBE15EC3467}"/>
              </a:ext>
            </a:extLst>
          </p:cNvPr>
          <p:cNvSpPr/>
          <p:nvPr/>
        </p:nvSpPr>
        <p:spPr>
          <a:xfrm>
            <a:off x="1365954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B22705-AEA7-220D-4C41-343540C62E9B}"/>
              </a:ext>
            </a:extLst>
          </p:cNvPr>
          <p:cNvSpPr txBox="1"/>
          <p:nvPr/>
        </p:nvSpPr>
        <p:spPr>
          <a:xfrm>
            <a:off x="1735251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67677EF5-0EF0-5E50-5CFE-BFA5E85B151B}"/>
              </a:ext>
            </a:extLst>
          </p:cNvPr>
          <p:cNvSpPr/>
          <p:nvPr/>
        </p:nvSpPr>
        <p:spPr>
          <a:xfrm>
            <a:off x="2156994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263442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53CB3D91-74AC-F077-1594-2B46B110F31A}"/>
              </a:ext>
            </a:extLst>
          </p:cNvPr>
          <p:cNvSpPr txBox="1"/>
          <p:nvPr/>
        </p:nvSpPr>
        <p:spPr>
          <a:xfrm>
            <a:off x="2097664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389E14FA-A8C0-F713-72C7-4CAEEE4B35AA}"/>
              </a:ext>
            </a:extLst>
          </p:cNvPr>
          <p:cNvSpPr/>
          <p:nvPr/>
        </p:nvSpPr>
        <p:spPr>
          <a:xfrm>
            <a:off x="1160262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ABCA1F3E-8C1A-9D8F-1B66-D8B756D5D671}"/>
              </a:ext>
            </a:extLst>
          </p:cNvPr>
          <p:cNvSpPr/>
          <p:nvPr/>
        </p:nvSpPr>
        <p:spPr>
          <a:xfrm>
            <a:off x="2141171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39DCE1FE-7434-9B99-FFDC-11DC56472CE5}"/>
              </a:ext>
            </a:extLst>
          </p:cNvPr>
          <p:cNvSpPr/>
          <p:nvPr/>
        </p:nvSpPr>
        <p:spPr>
          <a:xfrm>
            <a:off x="2189198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53996D92-95FA-C762-D23F-DBEB4441715D}"/>
              </a:ext>
            </a:extLst>
          </p:cNvPr>
          <p:cNvSpPr/>
          <p:nvPr/>
        </p:nvSpPr>
        <p:spPr>
          <a:xfrm>
            <a:off x="2237225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E5FD4FA7-890C-2C5C-5CC6-467BB4177819}"/>
              </a:ext>
            </a:extLst>
          </p:cNvPr>
          <p:cNvSpPr/>
          <p:nvPr/>
        </p:nvSpPr>
        <p:spPr>
          <a:xfrm>
            <a:off x="2285253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02DA2CDF-0F30-6ADF-EA04-BFB20B1CB7EC}"/>
              </a:ext>
            </a:extLst>
          </p:cNvPr>
          <p:cNvSpPr/>
          <p:nvPr/>
        </p:nvSpPr>
        <p:spPr>
          <a:xfrm>
            <a:off x="2333281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B093F65D-E7DE-EDCA-66A9-A92130AE213B}"/>
              </a:ext>
            </a:extLst>
          </p:cNvPr>
          <p:cNvSpPr/>
          <p:nvPr/>
        </p:nvSpPr>
        <p:spPr>
          <a:xfrm>
            <a:off x="2381308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FF327357-7203-C784-BF81-FA2EAB44CF22}"/>
              </a:ext>
            </a:extLst>
          </p:cNvPr>
          <p:cNvSpPr/>
          <p:nvPr/>
        </p:nvSpPr>
        <p:spPr>
          <a:xfrm>
            <a:off x="2429335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E1E21687-6114-42DF-0799-D5FA0E6538E0}"/>
              </a:ext>
            </a:extLst>
          </p:cNvPr>
          <p:cNvSpPr txBox="1"/>
          <p:nvPr/>
        </p:nvSpPr>
        <p:spPr>
          <a:xfrm>
            <a:off x="2026801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h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CCDDE67C-3CDD-60C8-7B63-CC00707ED483}"/>
              </a:ext>
            </a:extLst>
          </p:cNvPr>
          <p:cNvSpPr/>
          <p:nvPr/>
        </p:nvSpPr>
        <p:spPr>
          <a:xfrm>
            <a:off x="756855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E55BA254-4AFA-64B6-AD91-98E14E64332B}"/>
              </a:ext>
            </a:extLst>
          </p:cNvPr>
          <p:cNvSpPr txBox="1"/>
          <p:nvPr/>
        </p:nvSpPr>
        <p:spPr>
          <a:xfrm>
            <a:off x="1758300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7" i="1" dirty="0" err="1">
                <a:solidFill>
                  <a:srgbClr val="263442"/>
                </a:solidFill>
                <a:latin typeface="Times New Roman"/>
              </a:rPr>
              <a:t>p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</a:t>
            </a:r>
            <a:r>
              <a:rPr sz="780" baseline="32000" dirty="0" err="1">
                <a:solidFill>
                  <a:srgbClr val="263442"/>
                </a:solidFill>
                <a:latin typeface="Arial"/>
              </a:rPr>
              <a:t>fg</a:t>
            </a:r>
            <a:endParaRPr sz="780" baseline="32000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244B118A-DDC8-016F-2963-BF2DB7343C33}"/>
              </a:ext>
            </a:extLst>
          </p:cNvPr>
          <p:cNvSpPr txBox="1"/>
          <p:nvPr/>
        </p:nvSpPr>
        <p:spPr>
          <a:xfrm>
            <a:off x="1489562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5F45016B-08D5-834D-A1D4-E97C79EC04BA}"/>
              </a:ext>
            </a:extLst>
          </p:cNvPr>
          <p:cNvSpPr txBox="1"/>
          <p:nvPr/>
        </p:nvSpPr>
        <p:spPr>
          <a:xfrm>
            <a:off x="3026355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63442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DD17CC05-72A9-AEBA-C103-AAFADADD8B2E}"/>
              </a:ext>
            </a:extLst>
          </p:cNvPr>
          <p:cNvSpPr/>
          <p:nvPr/>
        </p:nvSpPr>
        <p:spPr>
          <a:xfrm>
            <a:off x="3205025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9090FD91-FD54-210D-15B0-2C3046261415}"/>
              </a:ext>
            </a:extLst>
          </p:cNvPr>
          <p:cNvSpPr txBox="1"/>
          <p:nvPr/>
        </p:nvSpPr>
        <p:spPr>
          <a:xfrm>
            <a:off x="3260398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95781AF6-078E-F20A-04FF-C397DB038C6A}"/>
              </a:ext>
            </a:extLst>
          </p:cNvPr>
          <p:cNvSpPr txBox="1"/>
          <p:nvPr/>
        </p:nvSpPr>
        <p:spPr>
          <a:xfrm>
            <a:off x="3260398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0D069A1F-0247-7746-9543-E276D4CCBF0F}"/>
              </a:ext>
            </a:extLst>
          </p:cNvPr>
          <p:cNvSpPr/>
          <p:nvPr/>
        </p:nvSpPr>
        <p:spPr>
          <a:xfrm>
            <a:off x="3236667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611A6388-BC4E-8068-C219-2C0BEF1EC5B0}"/>
              </a:ext>
            </a:extLst>
          </p:cNvPr>
          <p:cNvSpPr txBox="1"/>
          <p:nvPr/>
        </p:nvSpPr>
        <p:spPr>
          <a:xfrm>
            <a:off x="3268308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3199603B-AE3E-9048-6878-7E24B4C9CF7B}"/>
              </a:ext>
            </a:extLst>
          </p:cNvPr>
          <p:cNvSpPr txBox="1"/>
          <p:nvPr/>
        </p:nvSpPr>
        <p:spPr>
          <a:xfrm>
            <a:off x="3260398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96B75827-650A-84E3-8891-F3501460DB44}"/>
              </a:ext>
            </a:extLst>
          </p:cNvPr>
          <p:cNvSpPr txBox="1"/>
          <p:nvPr/>
        </p:nvSpPr>
        <p:spPr>
          <a:xfrm>
            <a:off x="2741172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263442"/>
                </a:solidFill>
                <a:latin typeface="Arial"/>
              </a:rPr>
              <a:t>RDKit</a:t>
            </a:r>
            <a:endParaRPr sz="536" dirty="0">
              <a:solidFill>
                <a:srgbClr val="263442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6D909A-FBCE-2A66-C267-597733A51C98}"/>
              </a:ext>
            </a:extLst>
          </p:cNvPr>
          <p:cNvGrpSpPr/>
          <p:nvPr/>
        </p:nvGrpSpPr>
        <p:grpSpPr>
          <a:xfrm>
            <a:off x="2817417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9800A437-EAD0-1E9D-108E-30536D9760E5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9DD250D2-927E-0686-5561-738092B314A9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DED5C0A4-EA23-D244-084C-DCABF091B955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5C9764E3-37BF-D6E7-2166-E78FE57B5210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1345CEF1-3437-09CC-6202-5137CAE60AD1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C20A2363-C3FE-3A59-D7C2-DE4FAFD087A8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068619A3-A19E-3EDB-761C-02EC8E1400AA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4FD18AF3-B2EE-076E-771B-1CA587F14172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A6F18BB3-9E47-6451-1DC0-8EFE3988F69B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9C7AB981-5433-6258-8E3F-C926F91347B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879B20B0-B106-3A4F-890D-24AC50EFBBA5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FBC76B9D-9146-98E7-60F4-D39BB3708A64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5734FFA9-6B89-5D4A-73A4-076D2D9BA829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BB324F7C-D9DA-70DF-8E8F-ABCEF7330D38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E9251ABF-7B99-141E-C377-37D027D907C7}"/>
              </a:ext>
            </a:extLst>
          </p:cNvPr>
          <p:cNvSpPr txBox="1"/>
          <p:nvPr/>
        </p:nvSpPr>
        <p:spPr>
          <a:xfrm>
            <a:off x="2791488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4B44CD68-2836-7BA9-3FB4-7198372C019F}"/>
              </a:ext>
            </a:extLst>
          </p:cNvPr>
          <p:cNvSpPr/>
          <p:nvPr/>
        </p:nvSpPr>
        <p:spPr>
          <a:xfrm>
            <a:off x="2777865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821E68C1-798E-5819-5746-558BEF0F08AC}"/>
              </a:ext>
            </a:extLst>
          </p:cNvPr>
          <p:cNvSpPr txBox="1"/>
          <p:nvPr/>
        </p:nvSpPr>
        <p:spPr>
          <a:xfrm>
            <a:off x="2991445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822DB4C9-9DD2-20A5-0B26-FC8BEB9DB04D}"/>
              </a:ext>
            </a:extLst>
          </p:cNvPr>
          <p:cNvSpPr/>
          <p:nvPr/>
        </p:nvSpPr>
        <p:spPr>
          <a:xfrm>
            <a:off x="2651299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Graph</a:t>
            </a:r>
            <a:r>
              <a:rPr sz="580" dirty="0">
                <a:solidFill>
                  <a:srgbClr val="263442"/>
                </a:solidFill>
                <a:latin typeface="Arial"/>
              </a:rPr>
              <a:t> </a:t>
            </a:r>
            <a:r>
              <a:rPr sz="588" dirty="0">
                <a:solidFill>
                  <a:srgbClr val="263442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2731FFA8-B15E-3AEA-CC03-818DBEDFD756}"/>
              </a:ext>
            </a:extLst>
          </p:cNvPr>
          <p:cNvSpPr/>
          <p:nvPr/>
        </p:nvSpPr>
        <p:spPr>
          <a:xfrm>
            <a:off x="3413848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9EE2BC5B-81B0-EAC8-C80C-97AE4C608D1A}"/>
              </a:ext>
            </a:extLst>
          </p:cNvPr>
          <p:cNvSpPr/>
          <p:nvPr/>
        </p:nvSpPr>
        <p:spPr>
          <a:xfrm>
            <a:off x="3481889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225A77C2-97C5-659E-F147-9184C3013556}"/>
              </a:ext>
            </a:extLst>
          </p:cNvPr>
          <p:cNvSpPr/>
          <p:nvPr/>
        </p:nvSpPr>
        <p:spPr>
          <a:xfrm>
            <a:off x="3523136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186E1E7B-AAAA-465B-F4E9-09260E26F11A}"/>
              </a:ext>
            </a:extLst>
          </p:cNvPr>
          <p:cNvSpPr/>
          <p:nvPr/>
        </p:nvSpPr>
        <p:spPr>
          <a:xfrm>
            <a:off x="3564383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C0A16A80-0D1D-2C8D-DAE7-9F065A28299F}"/>
              </a:ext>
            </a:extLst>
          </p:cNvPr>
          <p:cNvSpPr/>
          <p:nvPr/>
        </p:nvSpPr>
        <p:spPr>
          <a:xfrm>
            <a:off x="3605630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1EAF1F38-4B31-A6D3-2DF5-EE42DFD5C980}"/>
              </a:ext>
            </a:extLst>
          </p:cNvPr>
          <p:cNvSpPr/>
          <p:nvPr/>
        </p:nvSpPr>
        <p:spPr>
          <a:xfrm>
            <a:off x="3646877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B17182-86D4-C8D3-0285-D95DA74B692A}"/>
              </a:ext>
            </a:extLst>
          </p:cNvPr>
          <p:cNvSpPr/>
          <p:nvPr/>
        </p:nvSpPr>
        <p:spPr>
          <a:xfrm>
            <a:off x="3688124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210BAA28-E435-7A59-96B3-6D6E04F902E8}"/>
              </a:ext>
            </a:extLst>
          </p:cNvPr>
          <p:cNvSpPr/>
          <p:nvPr/>
        </p:nvSpPr>
        <p:spPr>
          <a:xfrm>
            <a:off x="3729371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9CEDB9B2-0C88-F275-9C4B-4818C98F0183}"/>
              </a:ext>
            </a:extLst>
          </p:cNvPr>
          <p:cNvSpPr txBox="1"/>
          <p:nvPr/>
        </p:nvSpPr>
        <p:spPr>
          <a:xfrm>
            <a:off x="3307860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1618832E-319A-3748-30F2-A9099F4CA408}"/>
              </a:ext>
            </a:extLst>
          </p:cNvPr>
          <p:cNvSpPr txBox="1"/>
          <p:nvPr/>
        </p:nvSpPr>
        <p:spPr>
          <a:xfrm>
            <a:off x="3814124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263442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A76FD42D-9DD8-4DBE-E894-91056B46B2E6}"/>
              </a:ext>
            </a:extLst>
          </p:cNvPr>
          <p:cNvSpPr txBox="1"/>
          <p:nvPr/>
        </p:nvSpPr>
        <p:spPr>
          <a:xfrm>
            <a:off x="4328298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263442"/>
                </a:solidFill>
                <a:latin typeface="Arial"/>
              </a:rPr>
              <a:t>  </a:t>
            </a:r>
            <a:r>
              <a:rPr sz="519" dirty="0">
                <a:solidFill>
                  <a:srgbClr val="263442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263442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584738FF-0AE6-EB73-199F-7B6562482DCD}"/>
              </a:ext>
            </a:extLst>
          </p:cNvPr>
          <p:cNvSpPr/>
          <p:nvPr/>
        </p:nvSpPr>
        <p:spPr>
          <a:xfrm>
            <a:off x="4095413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73438984-DB89-5C67-4DC7-19CB81DAF114}"/>
              </a:ext>
            </a:extLst>
          </p:cNvPr>
          <p:cNvSpPr txBox="1"/>
          <p:nvPr/>
        </p:nvSpPr>
        <p:spPr>
          <a:xfrm>
            <a:off x="4083077" y="3197919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B95B568E-DC28-E92A-B30F-AAC2819309D3}"/>
              </a:ext>
            </a:extLst>
          </p:cNvPr>
          <p:cNvSpPr/>
          <p:nvPr/>
        </p:nvSpPr>
        <p:spPr>
          <a:xfrm>
            <a:off x="4178001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49F90772-B73D-18AA-8112-1FC74357A143}"/>
              </a:ext>
            </a:extLst>
          </p:cNvPr>
          <p:cNvSpPr/>
          <p:nvPr/>
        </p:nvSpPr>
        <p:spPr>
          <a:xfrm>
            <a:off x="4226123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2606B9A8-671A-E9F6-E785-70A1C3A13D99}"/>
              </a:ext>
            </a:extLst>
          </p:cNvPr>
          <p:cNvSpPr/>
          <p:nvPr/>
        </p:nvSpPr>
        <p:spPr>
          <a:xfrm>
            <a:off x="4274244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0B616536-258D-B9DB-40A9-F099B3E6E1CB}"/>
              </a:ext>
            </a:extLst>
          </p:cNvPr>
          <p:cNvSpPr/>
          <p:nvPr/>
        </p:nvSpPr>
        <p:spPr>
          <a:xfrm>
            <a:off x="4322366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9BF44F02-CE8D-554C-9A02-24965AB5CC76}"/>
              </a:ext>
            </a:extLst>
          </p:cNvPr>
          <p:cNvSpPr/>
          <p:nvPr/>
        </p:nvSpPr>
        <p:spPr>
          <a:xfrm>
            <a:off x="4370487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5B31D51E-36DA-C36B-8F25-9F2F41C8D4AF}"/>
              </a:ext>
            </a:extLst>
          </p:cNvPr>
          <p:cNvSpPr/>
          <p:nvPr/>
        </p:nvSpPr>
        <p:spPr>
          <a:xfrm>
            <a:off x="4418609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BC183C3F-6B7D-41CF-4541-E21AC9F1353B}"/>
              </a:ext>
            </a:extLst>
          </p:cNvPr>
          <p:cNvSpPr txBox="1"/>
          <p:nvPr/>
        </p:nvSpPr>
        <p:spPr>
          <a:xfrm>
            <a:off x="4083077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1B96B677-C8CA-D4E1-04B9-63442EC0EBBD}"/>
              </a:ext>
            </a:extLst>
          </p:cNvPr>
          <p:cNvSpPr/>
          <p:nvPr/>
        </p:nvSpPr>
        <p:spPr>
          <a:xfrm>
            <a:off x="4178001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0479A669-6250-9BF8-0944-79BE154212D4}"/>
              </a:ext>
            </a:extLst>
          </p:cNvPr>
          <p:cNvSpPr/>
          <p:nvPr/>
        </p:nvSpPr>
        <p:spPr>
          <a:xfrm>
            <a:off x="4226123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E402DAB2-5B87-AD14-BFB5-DA02303FEE3E}"/>
              </a:ext>
            </a:extLst>
          </p:cNvPr>
          <p:cNvSpPr/>
          <p:nvPr/>
        </p:nvSpPr>
        <p:spPr>
          <a:xfrm>
            <a:off x="4274244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04E2E176-ADF3-7106-5DA7-1360A1A3BBB3}"/>
              </a:ext>
            </a:extLst>
          </p:cNvPr>
          <p:cNvSpPr/>
          <p:nvPr/>
        </p:nvSpPr>
        <p:spPr>
          <a:xfrm>
            <a:off x="4322366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DF4B491A-97D3-7775-71DE-07B174ADE0BA}"/>
              </a:ext>
            </a:extLst>
          </p:cNvPr>
          <p:cNvSpPr/>
          <p:nvPr/>
        </p:nvSpPr>
        <p:spPr>
          <a:xfrm>
            <a:off x="4370487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83542581-ACA6-7A83-60BE-8789F40169F7}"/>
              </a:ext>
            </a:extLst>
          </p:cNvPr>
          <p:cNvSpPr/>
          <p:nvPr/>
        </p:nvSpPr>
        <p:spPr>
          <a:xfrm>
            <a:off x="4418609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A804BF0E-3EF3-0A97-1061-713D24482E29}"/>
              </a:ext>
            </a:extLst>
          </p:cNvPr>
          <p:cNvSpPr txBox="1"/>
          <p:nvPr/>
        </p:nvSpPr>
        <p:spPr>
          <a:xfrm>
            <a:off x="4083077" y="3342522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2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C453A06A-CFAD-A122-B241-D1454CD63B0E}"/>
              </a:ext>
            </a:extLst>
          </p:cNvPr>
          <p:cNvSpPr/>
          <p:nvPr/>
        </p:nvSpPr>
        <p:spPr>
          <a:xfrm>
            <a:off x="4178001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3FDCB02D-1F20-BE1A-8059-87048318830E}"/>
              </a:ext>
            </a:extLst>
          </p:cNvPr>
          <p:cNvSpPr/>
          <p:nvPr/>
        </p:nvSpPr>
        <p:spPr>
          <a:xfrm>
            <a:off x="4226123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8A00130E-B77B-018F-79B4-3DACC3D0CB72}"/>
              </a:ext>
            </a:extLst>
          </p:cNvPr>
          <p:cNvSpPr/>
          <p:nvPr/>
        </p:nvSpPr>
        <p:spPr>
          <a:xfrm>
            <a:off x="4274244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39A2222F-FB7D-9368-65C4-60563B4E4C89}"/>
              </a:ext>
            </a:extLst>
          </p:cNvPr>
          <p:cNvSpPr/>
          <p:nvPr/>
        </p:nvSpPr>
        <p:spPr>
          <a:xfrm>
            <a:off x="4322366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57D7CA2A-1A3A-89C0-4F7B-B051B2CDA9CF}"/>
              </a:ext>
            </a:extLst>
          </p:cNvPr>
          <p:cNvSpPr/>
          <p:nvPr/>
        </p:nvSpPr>
        <p:spPr>
          <a:xfrm>
            <a:off x="4370487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D10610BC-66DF-E3BF-30FE-A4E063B90C63}"/>
              </a:ext>
            </a:extLst>
          </p:cNvPr>
          <p:cNvSpPr/>
          <p:nvPr/>
        </p:nvSpPr>
        <p:spPr>
          <a:xfrm>
            <a:off x="4418609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15C73F42-95BD-3561-D3C5-4CF32F629278}"/>
              </a:ext>
            </a:extLst>
          </p:cNvPr>
          <p:cNvSpPr txBox="1"/>
          <p:nvPr/>
        </p:nvSpPr>
        <p:spPr>
          <a:xfrm>
            <a:off x="4336209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263442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B65B0B5D-1DDF-5E05-E112-4F02301F0522}"/>
              </a:ext>
            </a:extLst>
          </p:cNvPr>
          <p:cNvSpPr/>
          <p:nvPr/>
        </p:nvSpPr>
        <p:spPr>
          <a:xfrm>
            <a:off x="3980242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Context</a:t>
            </a:r>
            <a:r>
              <a:rPr sz="580" dirty="0">
                <a:solidFill>
                  <a:srgbClr val="263442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18FB8BB5-0A48-9AEB-30D6-FC634B493DE9}"/>
              </a:ext>
            </a:extLst>
          </p:cNvPr>
          <p:cNvSpPr/>
          <p:nvPr/>
        </p:nvSpPr>
        <p:spPr>
          <a:xfrm>
            <a:off x="3434426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8C93B5B8-3EC1-2BE3-654E-78E192573EF5}"/>
              </a:ext>
            </a:extLst>
          </p:cNvPr>
          <p:cNvSpPr/>
          <p:nvPr/>
        </p:nvSpPr>
        <p:spPr>
          <a:xfrm>
            <a:off x="3458158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5C269699-ACA7-ACDE-CE01-8B8DFB9CC25B}"/>
              </a:ext>
            </a:extLst>
          </p:cNvPr>
          <p:cNvSpPr/>
          <p:nvPr/>
        </p:nvSpPr>
        <p:spPr>
          <a:xfrm>
            <a:off x="3506185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80BC8B55-2516-4742-457C-B38F5999D718}"/>
              </a:ext>
            </a:extLst>
          </p:cNvPr>
          <p:cNvSpPr/>
          <p:nvPr/>
        </p:nvSpPr>
        <p:spPr>
          <a:xfrm>
            <a:off x="3554212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0D56F0E2-5256-8B92-66FB-B07674AD5113}"/>
              </a:ext>
            </a:extLst>
          </p:cNvPr>
          <p:cNvSpPr/>
          <p:nvPr/>
        </p:nvSpPr>
        <p:spPr>
          <a:xfrm>
            <a:off x="3602239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00733054-81CB-66E0-5F52-815FD0ACC7BD}"/>
              </a:ext>
            </a:extLst>
          </p:cNvPr>
          <p:cNvSpPr/>
          <p:nvPr/>
        </p:nvSpPr>
        <p:spPr>
          <a:xfrm>
            <a:off x="3650267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25E09A93-D331-56EF-49F7-5A36DD151506}"/>
              </a:ext>
            </a:extLst>
          </p:cNvPr>
          <p:cNvSpPr/>
          <p:nvPr/>
        </p:nvSpPr>
        <p:spPr>
          <a:xfrm>
            <a:off x="3698294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E9D78520-8F53-06F8-718D-D3525FBA8CF1}"/>
              </a:ext>
            </a:extLst>
          </p:cNvPr>
          <p:cNvSpPr/>
          <p:nvPr/>
        </p:nvSpPr>
        <p:spPr>
          <a:xfrm>
            <a:off x="3746321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8FAF63F3-8737-113A-9037-146907D865A6}"/>
              </a:ext>
            </a:extLst>
          </p:cNvPr>
          <p:cNvSpPr txBox="1"/>
          <p:nvPr/>
        </p:nvSpPr>
        <p:spPr>
          <a:xfrm>
            <a:off x="3827018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5" i="1">
                <a:solidFill>
                  <a:srgbClr val="263442"/>
                </a:solidFill>
                <a:latin typeface="Times New Roman"/>
              </a:rPr>
              <a:t>g</a:t>
            </a:r>
            <a:r>
              <a:rPr sz="780" i="1" baseline="-28000">
                <a:solidFill>
                  <a:srgbClr val="263442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050956BC-2DB8-EF65-6EC6-76FB4E26F284}"/>
              </a:ext>
            </a:extLst>
          </p:cNvPr>
          <p:cNvSpPr/>
          <p:nvPr/>
        </p:nvSpPr>
        <p:spPr>
          <a:xfrm>
            <a:off x="3234406" y="4162465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263442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C5B68C55-AA22-AC18-D039-9FB6FBA3EE36}"/>
              </a:ext>
            </a:extLst>
          </p:cNvPr>
          <p:cNvSpPr txBox="1"/>
          <p:nvPr/>
        </p:nvSpPr>
        <p:spPr>
          <a:xfrm>
            <a:off x="3229878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263442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4CC29EA1-28C6-9EAC-6BB5-72CAEF386E8A}"/>
              </a:ext>
            </a:extLst>
          </p:cNvPr>
          <p:cNvSpPr txBox="1"/>
          <p:nvPr/>
        </p:nvSpPr>
        <p:spPr>
          <a:xfrm>
            <a:off x="3884649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1" i="1" dirty="0" err="1">
                <a:solidFill>
                  <a:srgbClr val="263442"/>
                </a:solidFill>
                <a:latin typeface="Times New Roman"/>
              </a:rPr>
              <a:t>s</a:t>
            </a:r>
            <a:r>
              <a:rPr sz="780" i="1" baseline="-28000" dirty="0" err="1">
                <a:solidFill>
                  <a:srgbClr val="263442"/>
                </a:solidFill>
                <a:latin typeface="Times New Roman"/>
              </a:rPr>
              <a:t>j,k</a:t>
            </a:r>
            <a:endParaRPr sz="780" i="1" baseline="-28000" dirty="0">
              <a:solidFill>
                <a:srgbClr val="263442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7F5BD3BB-E341-8488-D8E3-F41EE097145B}"/>
              </a:ext>
            </a:extLst>
          </p:cNvPr>
          <p:cNvSpPr txBox="1"/>
          <p:nvPr/>
        </p:nvSpPr>
        <p:spPr>
          <a:xfrm>
            <a:off x="4144023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263442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8B70FE84-6F8B-AB28-6032-AEBD7FD1D42B}"/>
              </a:ext>
            </a:extLst>
          </p:cNvPr>
          <p:cNvSpPr txBox="1"/>
          <p:nvPr/>
        </p:nvSpPr>
        <p:spPr>
          <a:xfrm>
            <a:off x="4382527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263442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0D2947FA-1234-956E-0F6E-D3CAFEAF9DB0}"/>
              </a:ext>
            </a:extLst>
          </p:cNvPr>
          <p:cNvSpPr txBox="1"/>
          <p:nvPr/>
        </p:nvSpPr>
        <p:spPr>
          <a:xfrm>
            <a:off x="4083077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263442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BD319A29-CAD1-6414-FFF1-98E062D4303E}"/>
              </a:ext>
            </a:extLst>
          </p:cNvPr>
          <p:cNvSpPr/>
          <p:nvPr/>
        </p:nvSpPr>
        <p:spPr>
          <a:xfrm>
            <a:off x="417800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048E476A-7EDB-CC84-62E5-44E142E10944}"/>
              </a:ext>
            </a:extLst>
          </p:cNvPr>
          <p:cNvSpPr/>
          <p:nvPr/>
        </p:nvSpPr>
        <p:spPr>
          <a:xfrm>
            <a:off x="428083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FBF79CEB-26C6-649C-8720-DB0B3E3C02F5}"/>
              </a:ext>
            </a:extLst>
          </p:cNvPr>
          <p:cNvSpPr/>
          <p:nvPr/>
        </p:nvSpPr>
        <p:spPr>
          <a:xfrm>
            <a:off x="438367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C72AE993-2695-50AD-D400-1420747CB73F}"/>
              </a:ext>
            </a:extLst>
          </p:cNvPr>
          <p:cNvSpPr/>
          <p:nvPr/>
        </p:nvSpPr>
        <p:spPr>
          <a:xfrm>
            <a:off x="448650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DD12F529-1D60-D3EA-4B52-1E1CD31649AC}"/>
              </a:ext>
            </a:extLst>
          </p:cNvPr>
          <p:cNvSpPr/>
          <p:nvPr/>
        </p:nvSpPr>
        <p:spPr>
          <a:xfrm>
            <a:off x="417800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1565FB41-81BB-2BB0-C331-3FD9A568414C}"/>
              </a:ext>
            </a:extLst>
          </p:cNvPr>
          <p:cNvSpPr/>
          <p:nvPr/>
        </p:nvSpPr>
        <p:spPr>
          <a:xfrm>
            <a:off x="428083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839E2F52-24FC-D707-8738-B4C3B607B824}"/>
              </a:ext>
            </a:extLst>
          </p:cNvPr>
          <p:cNvSpPr/>
          <p:nvPr/>
        </p:nvSpPr>
        <p:spPr>
          <a:xfrm>
            <a:off x="438367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A197F06D-6649-B38D-68C5-13DB1B8C05FE}"/>
              </a:ext>
            </a:extLst>
          </p:cNvPr>
          <p:cNvSpPr/>
          <p:nvPr/>
        </p:nvSpPr>
        <p:spPr>
          <a:xfrm>
            <a:off x="448650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A3855DAE-7657-16AD-0E62-17414D8A5592}"/>
              </a:ext>
            </a:extLst>
          </p:cNvPr>
          <p:cNvSpPr/>
          <p:nvPr/>
        </p:nvSpPr>
        <p:spPr>
          <a:xfrm>
            <a:off x="417800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D2E47B26-BDFE-E54F-941A-87A3443C8753}"/>
              </a:ext>
            </a:extLst>
          </p:cNvPr>
          <p:cNvSpPr/>
          <p:nvPr/>
        </p:nvSpPr>
        <p:spPr>
          <a:xfrm>
            <a:off x="428083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8FE85DCD-D046-4C14-0C39-2B4C746207E4}"/>
              </a:ext>
            </a:extLst>
          </p:cNvPr>
          <p:cNvSpPr/>
          <p:nvPr/>
        </p:nvSpPr>
        <p:spPr>
          <a:xfrm>
            <a:off x="438367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A8423138-820B-87EB-0909-B78830382E0C}"/>
              </a:ext>
            </a:extLst>
          </p:cNvPr>
          <p:cNvSpPr/>
          <p:nvPr/>
        </p:nvSpPr>
        <p:spPr>
          <a:xfrm>
            <a:off x="448650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2728F86D-4100-DD72-719E-C683DBA61FC5}"/>
              </a:ext>
            </a:extLst>
          </p:cNvPr>
          <p:cNvSpPr txBox="1"/>
          <p:nvPr/>
        </p:nvSpPr>
        <p:spPr>
          <a:xfrm>
            <a:off x="4178002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263442"/>
                </a:solidFill>
                <a:latin typeface="Arial"/>
              </a:rPr>
              <a:t>J × K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560AD6D0-CF22-6C6B-18A8-43850C182F54}"/>
              </a:ext>
            </a:extLst>
          </p:cNvPr>
          <p:cNvSpPr>
            <a:spLocks noGrp="1"/>
          </p:cNvSpPr>
          <p:nvPr/>
        </p:nvSpPr>
        <p:spPr>
          <a:xfrm>
            <a:off x="1600039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23CE1274-79AB-9776-43F5-7A28AB444814}"/>
              </a:ext>
            </a:extLst>
          </p:cNvPr>
          <p:cNvSpPr>
            <a:spLocks noGrp="1"/>
          </p:cNvSpPr>
          <p:nvPr/>
        </p:nvSpPr>
        <p:spPr>
          <a:xfrm>
            <a:off x="1202945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263442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2634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5" name="Match matrix 0-0">
            <a:extLst>
              <a:ext uri="{FF2B5EF4-FFF2-40B4-BE49-F238E27FC236}">
                <a16:creationId xmlns:a16="http://schemas.microsoft.com/office/drawing/2014/main" id="{B416E413-343A-A7D9-3C6D-FD611FB6D53E}"/>
              </a:ext>
            </a:extLst>
          </p:cNvPr>
          <p:cNvSpPr>
            <a:spLocks noGrp="1"/>
          </p:cNvSpPr>
          <p:nvPr/>
        </p:nvSpPr>
        <p:spPr>
          <a:xfrm>
            <a:off x="1641416" y="3083627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286" name="Match matrix 0-1">
            <a:extLst>
              <a:ext uri="{FF2B5EF4-FFF2-40B4-BE49-F238E27FC236}">
                <a16:creationId xmlns:a16="http://schemas.microsoft.com/office/drawing/2014/main" id="{8B001332-B3FE-6206-730F-D7F4246F7355}"/>
              </a:ext>
            </a:extLst>
          </p:cNvPr>
          <p:cNvSpPr>
            <a:spLocks noGrp="1"/>
          </p:cNvSpPr>
          <p:nvPr/>
        </p:nvSpPr>
        <p:spPr>
          <a:xfrm>
            <a:off x="1680904" y="3083627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287" name="Match matrix 0-2">
            <a:extLst>
              <a:ext uri="{FF2B5EF4-FFF2-40B4-BE49-F238E27FC236}">
                <a16:creationId xmlns:a16="http://schemas.microsoft.com/office/drawing/2014/main" id="{645A1AF6-B0E7-73BC-ABE3-87C193DC3035}"/>
              </a:ext>
            </a:extLst>
          </p:cNvPr>
          <p:cNvSpPr>
            <a:spLocks noGrp="1"/>
          </p:cNvSpPr>
          <p:nvPr/>
        </p:nvSpPr>
        <p:spPr>
          <a:xfrm>
            <a:off x="1720393" y="3083627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288" name="Match matrix 0-3">
            <a:extLst>
              <a:ext uri="{FF2B5EF4-FFF2-40B4-BE49-F238E27FC236}">
                <a16:creationId xmlns:a16="http://schemas.microsoft.com/office/drawing/2014/main" id="{14DB75F8-0447-6467-0168-89582C2A4B9C}"/>
              </a:ext>
            </a:extLst>
          </p:cNvPr>
          <p:cNvSpPr>
            <a:spLocks noGrp="1"/>
          </p:cNvSpPr>
          <p:nvPr/>
        </p:nvSpPr>
        <p:spPr>
          <a:xfrm>
            <a:off x="1759881" y="3083627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289" name="Match matrix 0-4">
            <a:extLst>
              <a:ext uri="{FF2B5EF4-FFF2-40B4-BE49-F238E27FC236}">
                <a16:creationId xmlns:a16="http://schemas.microsoft.com/office/drawing/2014/main" id="{82D0DE36-56C3-4E07-6F6F-E63308646351}"/>
              </a:ext>
            </a:extLst>
          </p:cNvPr>
          <p:cNvSpPr>
            <a:spLocks noGrp="1"/>
          </p:cNvSpPr>
          <p:nvPr/>
        </p:nvSpPr>
        <p:spPr>
          <a:xfrm>
            <a:off x="1799370" y="3083627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290" name="Match matrix 0-5">
            <a:extLst>
              <a:ext uri="{FF2B5EF4-FFF2-40B4-BE49-F238E27FC236}">
                <a16:creationId xmlns:a16="http://schemas.microsoft.com/office/drawing/2014/main" id="{66CBD0FA-9D56-932B-BDA6-F08AD4D541B0}"/>
              </a:ext>
            </a:extLst>
          </p:cNvPr>
          <p:cNvSpPr>
            <a:spLocks noGrp="1"/>
          </p:cNvSpPr>
          <p:nvPr/>
        </p:nvSpPr>
        <p:spPr>
          <a:xfrm>
            <a:off x="1838859" y="3083627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291" name="Match matrix 0-6">
            <a:extLst>
              <a:ext uri="{FF2B5EF4-FFF2-40B4-BE49-F238E27FC236}">
                <a16:creationId xmlns:a16="http://schemas.microsoft.com/office/drawing/2014/main" id="{5F813F36-1D0E-21EB-A694-8FED0006BE1A}"/>
              </a:ext>
            </a:extLst>
          </p:cNvPr>
          <p:cNvSpPr>
            <a:spLocks noGrp="1"/>
          </p:cNvSpPr>
          <p:nvPr/>
        </p:nvSpPr>
        <p:spPr>
          <a:xfrm>
            <a:off x="1878347" y="3083627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292" name="Match matrix 0-7">
            <a:extLst>
              <a:ext uri="{FF2B5EF4-FFF2-40B4-BE49-F238E27FC236}">
                <a16:creationId xmlns:a16="http://schemas.microsoft.com/office/drawing/2014/main" id="{CC5E3DFD-F560-5347-658E-B7506E05CF01}"/>
              </a:ext>
            </a:extLst>
          </p:cNvPr>
          <p:cNvSpPr>
            <a:spLocks noGrp="1"/>
          </p:cNvSpPr>
          <p:nvPr/>
        </p:nvSpPr>
        <p:spPr>
          <a:xfrm>
            <a:off x="1917836" y="3083627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293" name="Match matrix 1-0">
            <a:extLst>
              <a:ext uri="{FF2B5EF4-FFF2-40B4-BE49-F238E27FC236}">
                <a16:creationId xmlns:a16="http://schemas.microsoft.com/office/drawing/2014/main" id="{0E055A7F-4B45-5883-BA68-77C0358B79D9}"/>
              </a:ext>
            </a:extLst>
          </p:cNvPr>
          <p:cNvSpPr>
            <a:spLocks noGrp="1"/>
          </p:cNvSpPr>
          <p:nvPr/>
        </p:nvSpPr>
        <p:spPr>
          <a:xfrm>
            <a:off x="1641416" y="3115218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294" name="Match matrix 1-1">
            <a:extLst>
              <a:ext uri="{FF2B5EF4-FFF2-40B4-BE49-F238E27FC236}">
                <a16:creationId xmlns:a16="http://schemas.microsoft.com/office/drawing/2014/main" id="{F035F068-7999-F9B7-16BE-EC36046E45F2}"/>
              </a:ext>
            </a:extLst>
          </p:cNvPr>
          <p:cNvSpPr>
            <a:spLocks noGrp="1"/>
          </p:cNvSpPr>
          <p:nvPr/>
        </p:nvSpPr>
        <p:spPr>
          <a:xfrm>
            <a:off x="1680904" y="3115218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295" name="Match matrix 1-2">
            <a:extLst>
              <a:ext uri="{FF2B5EF4-FFF2-40B4-BE49-F238E27FC236}">
                <a16:creationId xmlns:a16="http://schemas.microsoft.com/office/drawing/2014/main" id="{55FB3DC2-777B-2228-7A87-C212D152323B}"/>
              </a:ext>
            </a:extLst>
          </p:cNvPr>
          <p:cNvSpPr>
            <a:spLocks noGrp="1"/>
          </p:cNvSpPr>
          <p:nvPr/>
        </p:nvSpPr>
        <p:spPr>
          <a:xfrm>
            <a:off x="1720393" y="3115218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296" name="Match matrix 1-3">
            <a:extLst>
              <a:ext uri="{FF2B5EF4-FFF2-40B4-BE49-F238E27FC236}">
                <a16:creationId xmlns:a16="http://schemas.microsoft.com/office/drawing/2014/main" id="{ADE189CC-69EC-001A-9C55-E893BB84209A}"/>
              </a:ext>
            </a:extLst>
          </p:cNvPr>
          <p:cNvSpPr>
            <a:spLocks noGrp="1"/>
          </p:cNvSpPr>
          <p:nvPr/>
        </p:nvSpPr>
        <p:spPr>
          <a:xfrm>
            <a:off x="1759881" y="3115218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297" name="Match matrix 1-4">
            <a:extLst>
              <a:ext uri="{FF2B5EF4-FFF2-40B4-BE49-F238E27FC236}">
                <a16:creationId xmlns:a16="http://schemas.microsoft.com/office/drawing/2014/main" id="{14746A9F-B724-D279-9129-1E1C16BE26C8}"/>
              </a:ext>
            </a:extLst>
          </p:cNvPr>
          <p:cNvSpPr>
            <a:spLocks noGrp="1"/>
          </p:cNvSpPr>
          <p:nvPr/>
        </p:nvSpPr>
        <p:spPr>
          <a:xfrm>
            <a:off x="1799370" y="3115218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298" name="Match matrix 1-5">
            <a:extLst>
              <a:ext uri="{FF2B5EF4-FFF2-40B4-BE49-F238E27FC236}">
                <a16:creationId xmlns:a16="http://schemas.microsoft.com/office/drawing/2014/main" id="{044793E8-EEB1-C701-066C-A8E7A137B941}"/>
              </a:ext>
            </a:extLst>
          </p:cNvPr>
          <p:cNvSpPr>
            <a:spLocks noGrp="1"/>
          </p:cNvSpPr>
          <p:nvPr/>
        </p:nvSpPr>
        <p:spPr>
          <a:xfrm>
            <a:off x="1838859" y="3115218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299" name="Match matrix 1-6">
            <a:extLst>
              <a:ext uri="{FF2B5EF4-FFF2-40B4-BE49-F238E27FC236}">
                <a16:creationId xmlns:a16="http://schemas.microsoft.com/office/drawing/2014/main" id="{B6CBECD3-56E9-33BF-DF05-B55939CF5084}"/>
              </a:ext>
            </a:extLst>
          </p:cNvPr>
          <p:cNvSpPr>
            <a:spLocks noGrp="1"/>
          </p:cNvSpPr>
          <p:nvPr/>
        </p:nvSpPr>
        <p:spPr>
          <a:xfrm>
            <a:off x="1878347" y="3115218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300" name="Match matrix 1-7">
            <a:extLst>
              <a:ext uri="{FF2B5EF4-FFF2-40B4-BE49-F238E27FC236}">
                <a16:creationId xmlns:a16="http://schemas.microsoft.com/office/drawing/2014/main" id="{240189F4-A0B1-F2A7-7E51-5BD404006357}"/>
              </a:ext>
            </a:extLst>
          </p:cNvPr>
          <p:cNvSpPr>
            <a:spLocks noGrp="1"/>
          </p:cNvSpPr>
          <p:nvPr/>
        </p:nvSpPr>
        <p:spPr>
          <a:xfrm>
            <a:off x="1917836" y="3115218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301" name="Match matrix 2-0">
            <a:extLst>
              <a:ext uri="{FF2B5EF4-FFF2-40B4-BE49-F238E27FC236}">
                <a16:creationId xmlns:a16="http://schemas.microsoft.com/office/drawing/2014/main" id="{F4696DF6-DB6B-25F0-9E37-1268A2746D2F}"/>
              </a:ext>
            </a:extLst>
          </p:cNvPr>
          <p:cNvSpPr>
            <a:spLocks noGrp="1"/>
          </p:cNvSpPr>
          <p:nvPr/>
        </p:nvSpPr>
        <p:spPr>
          <a:xfrm>
            <a:off x="1641416" y="3146809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302" name="Match matrix 2-1">
            <a:extLst>
              <a:ext uri="{FF2B5EF4-FFF2-40B4-BE49-F238E27FC236}">
                <a16:creationId xmlns:a16="http://schemas.microsoft.com/office/drawing/2014/main" id="{2D207207-4C97-CCB4-B2D7-52562B7027D0}"/>
              </a:ext>
            </a:extLst>
          </p:cNvPr>
          <p:cNvSpPr>
            <a:spLocks noGrp="1"/>
          </p:cNvSpPr>
          <p:nvPr/>
        </p:nvSpPr>
        <p:spPr>
          <a:xfrm>
            <a:off x="1680904" y="3146809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303" name="Match matrix 2-2">
            <a:extLst>
              <a:ext uri="{FF2B5EF4-FFF2-40B4-BE49-F238E27FC236}">
                <a16:creationId xmlns:a16="http://schemas.microsoft.com/office/drawing/2014/main" id="{A9634636-51C1-C600-D9D0-FD7D680C2DC8}"/>
              </a:ext>
            </a:extLst>
          </p:cNvPr>
          <p:cNvSpPr>
            <a:spLocks noGrp="1"/>
          </p:cNvSpPr>
          <p:nvPr/>
        </p:nvSpPr>
        <p:spPr>
          <a:xfrm>
            <a:off x="1720393" y="3146809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304" name="Match matrix 2-3">
            <a:extLst>
              <a:ext uri="{FF2B5EF4-FFF2-40B4-BE49-F238E27FC236}">
                <a16:creationId xmlns:a16="http://schemas.microsoft.com/office/drawing/2014/main" id="{1D38739B-6B32-0D3B-4CF1-790828E6075A}"/>
              </a:ext>
            </a:extLst>
          </p:cNvPr>
          <p:cNvSpPr>
            <a:spLocks noGrp="1"/>
          </p:cNvSpPr>
          <p:nvPr/>
        </p:nvSpPr>
        <p:spPr>
          <a:xfrm>
            <a:off x="1759881" y="3146809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305" name="Match matrix 2-4">
            <a:extLst>
              <a:ext uri="{FF2B5EF4-FFF2-40B4-BE49-F238E27FC236}">
                <a16:creationId xmlns:a16="http://schemas.microsoft.com/office/drawing/2014/main" id="{AFCA9374-A043-8F92-87BA-78ACA4797E78}"/>
              </a:ext>
            </a:extLst>
          </p:cNvPr>
          <p:cNvSpPr>
            <a:spLocks noGrp="1"/>
          </p:cNvSpPr>
          <p:nvPr/>
        </p:nvSpPr>
        <p:spPr>
          <a:xfrm>
            <a:off x="1799370" y="3146809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306" name="Match matrix 2-5">
            <a:extLst>
              <a:ext uri="{FF2B5EF4-FFF2-40B4-BE49-F238E27FC236}">
                <a16:creationId xmlns:a16="http://schemas.microsoft.com/office/drawing/2014/main" id="{71FAC164-8A2A-DB67-5807-5AA43B732CC8}"/>
              </a:ext>
            </a:extLst>
          </p:cNvPr>
          <p:cNvSpPr>
            <a:spLocks noGrp="1"/>
          </p:cNvSpPr>
          <p:nvPr/>
        </p:nvSpPr>
        <p:spPr>
          <a:xfrm>
            <a:off x="1838859" y="3146809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307" name="Match matrix 2-6">
            <a:extLst>
              <a:ext uri="{FF2B5EF4-FFF2-40B4-BE49-F238E27FC236}">
                <a16:creationId xmlns:a16="http://schemas.microsoft.com/office/drawing/2014/main" id="{50DAC91D-3A7D-0F83-025E-37910113A312}"/>
              </a:ext>
            </a:extLst>
          </p:cNvPr>
          <p:cNvSpPr>
            <a:spLocks noGrp="1"/>
          </p:cNvSpPr>
          <p:nvPr/>
        </p:nvSpPr>
        <p:spPr>
          <a:xfrm>
            <a:off x="1878347" y="3146809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308" name="Match matrix 2-7">
            <a:extLst>
              <a:ext uri="{FF2B5EF4-FFF2-40B4-BE49-F238E27FC236}">
                <a16:creationId xmlns:a16="http://schemas.microsoft.com/office/drawing/2014/main" id="{1CC6F73C-4C38-1487-8BD6-953A09BE5547}"/>
              </a:ext>
            </a:extLst>
          </p:cNvPr>
          <p:cNvSpPr>
            <a:spLocks noGrp="1"/>
          </p:cNvSpPr>
          <p:nvPr/>
        </p:nvSpPr>
        <p:spPr>
          <a:xfrm>
            <a:off x="1917836" y="3146809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309" name="Match matrix 3-0">
            <a:extLst>
              <a:ext uri="{FF2B5EF4-FFF2-40B4-BE49-F238E27FC236}">
                <a16:creationId xmlns:a16="http://schemas.microsoft.com/office/drawing/2014/main" id="{B50F8440-ECBD-1078-7DD1-7FD243527533}"/>
              </a:ext>
            </a:extLst>
          </p:cNvPr>
          <p:cNvSpPr>
            <a:spLocks noGrp="1"/>
          </p:cNvSpPr>
          <p:nvPr/>
        </p:nvSpPr>
        <p:spPr>
          <a:xfrm>
            <a:off x="1641416" y="3178400"/>
            <a:ext cx="37666" cy="29768"/>
          </a:xfrm>
          <a:prstGeom prst="rect">
            <a:avLst/>
          </a:prstGeom>
          <a:solidFill>
            <a:srgbClr val="88BEC3"/>
          </a:solidFill>
          <a:ln w="7290">
            <a:noFill/>
          </a:ln>
        </p:spPr>
      </p:sp>
      <p:sp>
        <p:nvSpPr>
          <p:cNvPr id="1310" name="Match matrix 3-1">
            <a:extLst>
              <a:ext uri="{FF2B5EF4-FFF2-40B4-BE49-F238E27FC236}">
                <a16:creationId xmlns:a16="http://schemas.microsoft.com/office/drawing/2014/main" id="{5B9AAD15-4A58-C263-4996-014666FAC873}"/>
              </a:ext>
            </a:extLst>
          </p:cNvPr>
          <p:cNvSpPr>
            <a:spLocks noGrp="1"/>
          </p:cNvSpPr>
          <p:nvPr/>
        </p:nvSpPr>
        <p:spPr>
          <a:xfrm>
            <a:off x="1680904" y="3178400"/>
            <a:ext cx="37666" cy="29768"/>
          </a:xfrm>
          <a:prstGeom prst="rect">
            <a:avLst/>
          </a:prstGeom>
          <a:solidFill>
            <a:srgbClr val="D6E5ED"/>
          </a:solidFill>
          <a:ln w="7290">
            <a:noFill/>
          </a:ln>
        </p:spPr>
      </p:sp>
      <p:sp>
        <p:nvSpPr>
          <p:cNvPr id="1311" name="Match matrix 3-2">
            <a:extLst>
              <a:ext uri="{FF2B5EF4-FFF2-40B4-BE49-F238E27FC236}">
                <a16:creationId xmlns:a16="http://schemas.microsoft.com/office/drawing/2014/main" id="{1B18711A-A1EE-7C4F-3C04-510E6CBEDEDE}"/>
              </a:ext>
            </a:extLst>
          </p:cNvPr>
          <p:cNvSpPr>
            <a:spLocks noGrp="1"/>
          </p:cNvSpPr>
          <p:nvPr/>
        </p:nvSpPr>
        <p:spPr>
          <a:xfrm>
            <a:off x="1720393" y="3178400"/>
            <a:ext cx="37666" cy="29768"/>
          </a:xfrm>
          <a:prstGeom prst="rect">
            <a:avLst/>
          </a:prstGeom>
          <a:solidFill>
            <a:srgbClr val="67AD9F"/>
          </a:solidFill>
          <a:ln w="7290">
            <a:noFill/>
          </a:ln>
        </p:spPr>
      </p:sp>
      <p:sp>
        <p:nvSpPr>
          <p:cNvPr id="1312" name="Match matrix 3-3">
            <a:extLst>
              <a:ext uri="{FF2B5EF4-FFF2-40B4-BE49-F238E27FC236}">
                <a16:creationId xmlns:a16="http://schemas.microsoft.com/office/drawing/2014/main" id="{BB631366-7783-7210-5E53-44EF4B4DC4DB}"/>
              </a:ext>
            </a:extLst>
          </p:cNvPr>
          <p:cNvSpPr>
            <a:spLocks noGrp="1"/>
          </p:cNvSpPr>
          <p:nvPr/>
        </p:nvSpPr>
        <p:spPr>
          <a:xfrm>
            <a:off x="1759881" y="3178400"/>
            <a:ext cx="37666" cy="29768"/>
          </a:xfrm>
          <a:prstGeom prst="rect">
            <a:avLst/>
          </a:prstGeom>
          <a:solidFill>
            <a:srgbClr val="3E8F9A"/>
          </a:solidFill>
          <a:ln w="7290">
            <a:noFill/>
          </a:ln>
        </p:spPr>
      </p:sp>
      <p:sp>
        <p:nvSpPr>
          <p:cNvPr id="1313" name="Match matrix 3-4">
            <a:extLst>
              <a:ext uri="{FF2B5EF4-FFF2-40B4-BE49-F238E27FC236}">
                <a16:creationId xmlns:a16="http://schemas.microsoft.com/office/drawing/2014/main" id="{D6443285-4572-A545-0BB2-9CB8594B7F27}"/>
              </a:ext>
            </a:extLst>
          </p:cNvPr>
          <p:cNvSpPr>
            <a:spLocks noGrp="1"/>
          </p:cNvSpPr>
          <p:nvPr/>
        </p:nvSpPr>
        <p:spPr>
          <a:xfrm>
            <a:off x="1799370" y="3178400"/>
            <a:ext cx="37666" cy="29768"/>
          </a:xfrm>
          <a:prstGeom prst="rect">
            <a:avLst/>
          </a:prstGeom>
          <a:solidFill>
            <a:srgbClr val="C4DDE0"/>
          </a:solidFill>
          <a:ln w="7290">
            <a:noFill/>
          </a:ln>
        </p:spPr>
      </p:sp>
      <p:sp>
        <p:nvSpPr>
          <p:cNvPr id="1314" name="Match matrix 3-5">
            <a:extLst>
              <a:ext uri="{FF2B5EF4-FFF2-40B4-BE49-F238E27FC236}">
                <a16:creationId xmlns:a16="http://schemas.microsoft.com/office/drawing/2014/main" id="{84BED74B-95DA-4E86-0E44-8B479E6365C1}"/>
              </a:ext>
            </a:extLst>
          </p:cNvPr>
          <p:cNvSpPr>
            <a:spLocks noGrp="1"/>
          </p:cNvSpPr>
          <p:nvPr/>
        </p:nvSpPr>
        <p:spPr>
          <a:xfrm>
            <a:off x="1838859" y="3178400"/>
            <a:ext cx="37666" cy="29768"/>
          </a:xfrm>
          <a:prstGeom prst="rect">
            <a:avLst/>
          </a:prstGeom>
          <a:solidFill>
            <a:srgbClr val="A3CDDA"/>
          </a:solidFill>
          <a:ln w="7290">
            <a:noFill/>
          </a:ln>
        </p:spPr>
      </p:sp>
      <p:sp>
        <p:nvSpPr>
          <p:cNvPr id="1315" name="Match matrix 3-6">
            <a:extLst>
              <a:ext uri="{FF2B5EF4-FFF2-40B4-BE49-F238E27FC236}">
                <a16:creationId xmlns:a16="http://schemas.microsoft.com/office/drawing/2014/main" id="{268CC8DC-41D3-0DF4-FD3D-1A3AF2CABDBF}"/>
              </a:ext>
            </a:extLst>
          </p:cNvPr>
          <p:cNvSpPr>
            <a:spLocks noGrp="1"/>
          </p:cNvSpPr>
          <p:nvPr/>
        </p:nvSpPr>
        <p:spPr>
          <a:xfrm>
            <a:off x="1878347" y="3178400"/>
            <a:ext cx="37666" cy="29768"/>
          </a:xfrm>
          <a:prstGeom prst="rect">
            <a:avLst/>
          </a:prstGeom>
          <a:solidFill>
            <a:srgbClr val="B6D8CC"/>
          </a:solidFill>
          <a:ln w="7290">
            <a:noFill/>
          </a:ln>
        </p:spPr>
      </p:sp>
      <p:sp>
        <p:nvSpPr>
          <p:cNvPr id="1316" name="Match matrix 3-7">
            <a:extLst>
              <a:ext uri="{FF2B5EF4-FFF2-40B4-BE49-F238E27FC236}">
                <a16:creationId xmlns:a16="http://schemas.microsoft.com/office/drawing/2014/main" id="{223065CD-9369-B2A7-19B9-7BC3CD291B46}"/>
              </a:ext>
            </a:extLst>
          </p:cNvPr>
          <p:cNvSpPr>
            <a:spLocks noGrp="1"/>
          </p:cNvSpPr>
          <p:nvPr/>
        </p:nvSpPr>
        <p:spPr>
          <a:xfrm>
            <a:off x="1917836" y="3178400"/>
            <a:ext cx="37666" cy="29768"/>
          </a:xfrm>
          <a:prstGeom prst="rect">
            <a:avLst/>
          </a:prstGeom>
          <a:solidFill>
            <a:srgbClr val="5B9FB6"/>
          </a:solidFill>
          <a:ln w="7290">
            <a:noFill/>
          </a:ln>
        </p:spPr>
      </p:sp>
      <p:sp>
        <p:nvSpPr>
          <p:cNvPr id="1318" name="SMILES continuation 806-628.2">
            <a:extLst>
              <a:ext uri="{FF2B5EF4-FFF2-40B4-BE49-F238E27FC236}">
                <a16:creationId xmlns:a16="http://schemas.microsoft.com/office/drawing/2014/main" id="{6ED60681-7272-D9FC-FCE3-9B4B62DF4C07}"/>
              </a:ext>
            </a:extLst>
          </p:cNvPr>
          <p:cNvSpPr>
            <a:spLocks noGrp="1"/>
          </p:cNvSpPr>
          <p:nvPr/>
        </p:nvSpPr>
        <p:spPr>
          <a:xfrm>
            <a:off x="3403213" y="2540229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19" name="SMILES continuation 812-628.2">
            <a:extLst>
              <a:ext uri="{FF2B5EF4-FFF2-40B4-BE49-F238E27FC236}">
                <a16:creationId xmlns:a16="http://schemas.microsoft.com/office/drawing/2014/main" id="{94285F84-1CB7-068A-59AB-878C6029D224}"/>
              </a:ext>
            </a:extLst>
          </p:cNvPr>
          <p:cNvSpPr>
            <a:spLocks noGrp="1"/>
          </p:cNvSpPr>
          <p:nvPr/>
        </p:nvSpPr>
        <p:spPr>
          <a:xfrm>
            <a:off x="3427514" y="2540229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0" name="SMILES continuation 818-628.2">
            <a:extLst>
              <a:ext uri="{FF2B5EF4-FFF2-40B4-BE49-F238E27FC236}">
                <a16:creationId xmlns:a16="http://schemas.microsoft.com/office/drawing/2014/main" id="{952A8E3D-47BE-D785-115D-ECA2858EBB1B}"/>
              </a:ext>
            </a:extLst>
          </p:cNvPr>
          <p:cNvSpPr>
            <a:spLocks noGrp="1"/>
          </p:cNvSpPr>
          <p:nvPr/>
        </p:nvSpPr>
        <p:spPr>
          <a:xfrm>
            <a:off x="3451814" y="2540229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1" name="SMILES continuation 806-667">
            <a:extLst>
              <a:ext uri="{FF2B5EF4-FFF2-40B4-BE49-F238E27FC236}">
                <a16:creationId xmlns:a16="http://schemas.microsoft.com/office/drawing/2014/main" id="{A1B597D7-616A-3425-03ED-B376393C2765}"/>
              </a:ext>
            </a:extLst>
          </p:cNvPr>
          <p:cNvSpPr>
            <a:spLocks noGrp="1"/>
          </p:cNvSpPr>
          <p:nvPr/>
        </p:nvSpPr>
        <p:spPr>
          <a:xfrm>
            <a:off x="3403213" y="2697373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2" name="SMILES continuation 812-667">
            <a:extLst>
              <a:ext uri="{FF2B5EF4-FFF2-40B4-BE49-F238E27FC236}">
                <a16:creationId xmlns:a16="http://schemas.microsoft.com/office/drawing/2014/main" id="{D449AFB9-3468-B0B0-BF99-47B9C63F42C7}"/>
              </a:ext>
            </a:extLst>
          </p:cNvPr>
          <p:cNvSpPr>
            <a:spLocks noGrp="1"/>
          </p:cNvSpPr>
          <p:nvPr/>
        </p:nvSpPr>
        <p:spPr>
          <a:xfrm>
            <a:off x="3427514" y="2697373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23" name="SMILES continuation 818-667">
            <a:extLst>
              <a:ext uri="{FF2B5EF4-FFF2-40B4-BE49-F238E27FC236}">
                <a16:creationId xmlns:a16="http://schemas.microsoft.com/office/drawing/2014/main" id="{722E7096-B775-8E09-6A4F-1A00190B82C6}"/>
              </a:ext>
            </a:extLst>
          </p:cNvPr>
          <p:cNvSpPr>
            <a:spLocks noGrp="1"/>
          </p:cNvSpPr>
          <p:nvPr/>
        </p:nvSpPr>
        <p:spPr>
          <a:xfrm>
            <a:off x="3451814" y="2697373"/>
            <a:ext cx="8100" cy="8100"/>
          </a:xfrm>
          <a:prstGeom prst="ellipse">
            <a:avLst/>
          </a:prstGeom>
          <a:solidFill>
            <a:srgbClr val="71808C"/>
          </a:solidFill>
          <a:ln w="0">
            <a:noFill/>
          </a:ln>
        </p:spPr>
      </p:sp>
      <p:sp>
        <p:nvSpPr>
          <p:cNvPr id="1371" name="Crop to summary refined">
            <a:extLst>
              <a:ext uri="{FF2B5EF4-FFF2-40B4-BE49-F238E27FC236}">
                <a16:creationId xmlns:a16="http://schemas.microsoft.com/office/drawing/2014/main" id="{9E1BDE2E-2E75-2212-D490-5151FB80A32D}"/>
              </a:ext>
            </a:extLst>
          </p:cNvPr>
          <p:cNvSpPr>
            <a:spLocks noGrp="1"/>
          </p:cNvSpPr>
          <p:nvPr/>
        </p:nvSpPr>
        <p:spPr>
          <a:xfrm>
            <a:off x="1619100" y="2578786"/>
            <a:ext cx="488443" cy="81"/>
          </a:xfrm>
          <a:custGeom>
            <a:avLst/>
            <a:gdLst/>
            <a:ahLst/>
            <a:cxnLst/>
            <a:rect l="0" t="0" r="0" b="0"/>
            <a:pathLst>
              <a:path w="1148715" h="191">
                <a:moveTo>
                  <a:pt x="0" y="0"/>
                </a:moveTo>
                <a:lnTo>
                  <a:pt x="1148715" y="0"/>
                </a:lnTo>
              </a:path>
            </a:pathLst>
          </a:custGeom>
          <a:noFill/>
          <a:ln w="8505">
            <a:solidFill>
              <a:srgbClr val="4083B4"/>
            </a:solidFill>
            <a:prstDash val="solid"/>
          </a:ln>
        </p:spPr>
      </p:sp>
      <p:sp>
        <p:nvSpPr>
          <p:cNvPr id="1372" name="Crop to summary refined head">
            <a:extLst>
              <a:ext uri="{FF2B5EF4-FFF2-40B4-BE49-F238E27FC236}">
                <a16:creationId xmlns:a16="http://schemas.microsoft.com/office/drawing/2014/main" id="{9337B009-9C09-E68B-4513-18466A1EF866}"/>
              </a:ext>
            </a:extLst>
          </p:cNvPr>
          <p:cNvSpPr>
            <a:spLocks noGrp="1"/>
          </p:cNvSpPr>
          <p:nvPr/>
        </p:nvSpPr>
        <p:spPr>
          <a:xfrm>
            <a:off x="2089115" y="2566595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4083B4"/>
          </a:solidFill>
          <a:ln w="0">
            <a:noFill/>
            <a:prstDash val="solid"/>
          </a:ln>
        </p:spPr>
      </p:sp>
      <p:sp>
        <p:nvSpPr>
          <p:cNvPr id="1373" name="Input split refined">
            <a:extLst>
              <a:ext uri="{FF2B5EF4-FFF2-40B4-BE49-F238E27FC236}">
                <a16:creationId xmlns:a16="http://schemas.microsoft.com/office/drawing/2014/main" id="{17ADB93B-2A0C-6D38-CE89-8E5128FE257F}"/>
              </a:ext>
            </a:extLst>
          </p:cNvPr>
          <p:cNvSpPr>
            <a:spLocks noGrp="1"/>
          </p:cNvSpPr>
          <p:nvPr/>
        </p:nvSpPr>
        <p:spPr>
          <a:xfrm>
            <a:off x="978413" y="3313799"/>
            <a:ext cx="360054" cy="68042"/>
          </a:xfrm>
          <a:custGeom>
            <a:avLst/>
            <a:gdLst/>
            <a:ahLst/>
            <a:cxnLst/>
            <a:rect l="0" t="0" r="0" b="0"/>
            <a:pathLst>
              <a:path w="846772" h="160020">
                <a:moveTo>
                  <a:pt x="846772" y="0"/>
                </a:moveTo>
                <a:lnTo>
                  <a:pt x="846772" y="160020"/>
                </a:lnTo>
                <a:lnTo>
                  <a:pt x="0" y="16002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4" name="Input split right refined">
            <a:extLst>
              <a:ext uri="{FF2B5EF4-FFF2-40B4-BE49-F238E27FC236}">
                <a16:creationId xmlns:a16="http://schemas.microsoft.com/office/drawing/2014/main" id="{73AF837B-33EA-3EB9-BAD8-A3B4E7D1505E}"/>
              </a:ext>
            </a:extLst>
          </p:cNvPr>
          <p:cNvSpPr>
            <a:spLocks noGrp="1"/>
          </p:cNvSpPr>
          <p:nvPr/>
        </p:nvSpPr>
        <p:spPr>
          <a:xfrm>
            <a:off x="1338468" y="3381841"/>
            <a:ext cx="351955" cy="81"/>
          </a:xfrm>
          <a:custGeom>
            <a:avLst/>
            <a:gdLst/>
            <a:ahLst/>
            <a:cxnLst/>
            <a:rect l="0" t="0" r="0" b="0"/>
            <a:pathLst>
              <a:path w="827723" h="191">
                <a:moveTo>
                  <a:pt x="0" y="0"/>
                </a:moveTo>
                <a:lnTo>
                  <a:pt x="827723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5" name="Inputs to pool refined">
            <a:extLst>
              <a:ext uri="{FF2B5EF4-FFF2-40B4-BE49-F238E27FC236}">
                <a16:creationId xmlns:a16="http://schemas.microsoft.com/office/drawing/2014/main" id="{E6341B7B-54C9-01F4-C95D-89C49091FE34}"/>
              </a:ext>
            </a:extLst>
          </p:cNvPr>
          <p:cNvSpPr>
            <a:spLocks noGrp="1"/>
          </p:cNvSpPr>
          <p:nvPr/>
        </p:nvSpPr>
        <p:spPr>
          <a:xfrm>
            <a:off x="978413" y="3381841"/>
            <a:ext cx="81" cy="61116"/>
          </a:xfrm>
          <a:custGeom>
            <a:avLst/>
            <a:gdLst/>
            <a:ahLst/>
            <a:cxnLst/>
            <a:rect l="0" t="0" r="0" b="0"/>
            <a:pathLst>
              <a:path w="191" h="143732">
                <a:moveTo>
                  <a:pt x="0" y="0"/>
                </a:moveTo>
                <a:lnTo>
                  <a:pt x="0" y="14373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6" name="Inputs to pool refined head">
            <a:extLst>
              <a:ext uri="{FF2B5EF4-FFF2-40B4-BE49-F238E27FC236}">
                <a16:creationId xmlns:a16="http://schemas.microsoft.com/office/drawing/2014/main" id="{816C3886-99A7-DE5B-3AE4-A2BA1559D1B6}"/>
              </a:ext>
            </a:extLst>
          </p:cNvPr>
          <p:cNvSpPr>
            <a:spLocks noGrp="1"/>
          </p:cNvSpPr>
          <p:nvPr/>
        </p:nvSpPr>
        <p:spPr>
          <a:xfrm>
            <a:off x="966222" y="342453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77" name="Inputs to attention refined">
            <a:extLst>
              <a:ext uri="{FF2B5EF4-FFF2-40B4-BE49-F238E27FC236}">
                <a16:creationId xmlns:a16="http://schemas.microsoft.com/office/drawing/2014/main" id="{ABA9FDA4-73E6-A18A-F579-E4271A58C290}"/>
              </a:ext>
            </a:extLst>
          </p:cNvPr>
          <p:cNvSpPr>
            <a:spLocks noGrp="1"/>
          </p:cNvSpPr>
          <p:nvPr/>
        </p:nvSpPr>
        <p:spPr>
          <a:xfrm>
            <a:off x="1690422" y="3381841"/>
            <a:ext cx="81" cy="61116"/>
          </a:xfrm>
          <a:custGeom>
            <a:avLst/>
            <a:gdLst/>
            <a:ahLst/>
            <a:cxnLst/>
            <a:rect l="0" t="0" r="0" b="0"/>
            <a:pathLst>
              <a:path w="191" h="143732">
                <a:moveTo>
                  <a:pt x="0" y="0"/>
                </a:moveTo>
                <a:lnTo>
                  <a:pt x="0" y="14373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78" name="Inputs to attention refined head">
            <a:extLst>
              <a:ext uri="{FF2B5EF4-FFF2-40B4-BE49-F238E27FC236}">
                <a16:creationId xmlns:a16="http://schemas.microsoft.com/office/drawing/2014/main" id="{DD39D9B4-452F-5CE4-E5F7-64506E9CBA6F}"/>
              </a:ext>
            </a:extLst>
          </p:cNvPr>
          <p:cNvSpPr>
            <a:spLocks noGrp="1"/>
          </p:cNvSpPr>
          <p:nvPr/>
        </p:nvSpPr>
        <p:spPr>
          <a:xfrm>
            <a:off x="1678231" y="342453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83" name="MLP to FiLM refined">
            <a:extLst>
              <a:ext uri="{FF2B5EF4-FFF2-40B4-BE49-F238E27FC236}">
                <a16:creationId xmlns:a16="http://schemas.microsoft.com/office/drawing/2014/main" id="{1C680C89-1788-D9D7-242C-84F62AFD5D50}"/>
              </a:ext>
            </a:extLst>
          </p:cNvPr>
          <p:cNvSpPr>
            <a:spLocks noGrp="1"/>
          </p:cNvSpPr>
          <p:nvPr/>
        </p:nvSpPr>
        <p:spPr>
          <a:xfrm>
            <a:off x="1508167" y="3813380"/>
            <a:ext cx="638905" cy="81"/>
          </a:xfrm>
          <a:custGeom>
            <a:avLst/>
            <a:gdLst/>
            <a:ahLst/>
            <a:cxnLst/>
            <a:rect l="0" t="0" r="0" b="0"/>
            <a:pathLst>
              <a:path w="1502569" h="191">
                <a:moveTo>
                  <a:pt x="0" y="0"/>
                </a:moveTo>
                <a:lnTo>
                  <a:pt x="1502569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84" name="MLP to FiLM refined head">
            <a:extLst>
              <a:ext uri="{FF2B5EF4-FFF2-40B4-BE49-F238E27FC236}">
                <a16:creationId xmlns:a16="http://schemas.microsoft.com/office/drawing/2014/main" id="{E12C0352-80FB-A05F-FE3A-DD5EC7B61B8C}"/>
              </a:ext>
            </a:extLst>
          </p:cNvPr>
          <p:cNvSpPr>
            <a:spLocks noGrp="1"/>
          </p:cNvSpPr>
          <p:nvPr/>
        </p:nvSpPr>
        <p:spPr>
          <a:xfrm>
            <a:off x="2128644" y="3801190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85" name="Summary to FiLM refined">
            <a:extLst>
              <a:ext uri="{FF2B5EF4-FFF2-40B4-BE49-F238E27FC236}">
                <a16:creationId xmlns:a16="http://schemas.microsoft.com/office/drawing/2014/main" id="{65815FC5-A34F-DBD0-5C14-A09E39261117}"/>
              </a:ext>
            </a:extLst>
          </p:cNvPr>
          <p:cNvSpPr>
            <a:spLocks noGrp="1"/>
          </p:cNvSpPr>
          <p:nvPr/>
        </p:nvSpPr>
        <p:spPr>
          <a:xfrm>
            <a:off x="2307254" y="2721673"/>
            <a:ext cx="81" cy="1006655"/>
          </a:xfrm>
          <a:custGeom>
            <a:avLst/>
            <a:gdLst/>
            <a:ahLst/>
            <a:cxnLst/>
            <a:rect l="0" t="0" r="0" b="0"/>
            <a:pathLst>
              <a:path w="191" h="2367439">
                <a:moveTo>
                  <a:pt x="0" y="0"/>
                </a:moveTo>
                <a:lnTo>
                  <a:pt x="0" y="2367439"/>
                </a:lnTo>
              </a:path>
            </a:pathLst>
          </a:custGeom>
          <a:noFill/>
          <a:ln w="8505">
            <a:solidFill>
              <a:srgbClr val="4083B4"/>
            </a:solidFill>
            <a:prstDash val="solid"/>
          </a:ln>
        </p:spPr>
      </p:sp>
      <p:sp>
        <p:nvSpPr>
          <p:cNvPr id="1386" name="Summary to FiLM refined head">
            <a:extLst>
              <a:ext uri="{FF2B5EF4-FFF2-40B4-BE49-F238E27FC236}">
                <a16:creationId xmlns:a16="http://schemas.microsoft.com/office/drawing/2014/main" id="{8E17E74B-EB93-FD9B-0B18-2FFC79AF3984}"/>
              </a:ext>
            </a:extLst>
          </p:cNvPr>
          <p:cNvSpPr>
            <a:spLocks noGrp="1"/>
          </p:cNvSpPr>
          <p:nvPr/>
        </p:nvSpPr>
        <p:spPr>
          <a:xfrm>
            <a:off x="2295063" y="370990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4083B4"/>
          </a:solidFill>
          <a:ln w="0">
            <a:noFill/>
            <a:prstDash val="solid"/>
          </a:ln>
        </p:spPr>
      </p:sp>
      <p:sp>
        <p:nvSpPr>
          <p:cNvPr id="1387" name="Summary to cross attention refined">
            <a:extLst>
              <a:ext uri="{FF2B5EF4-FFF2-40B4-BE49-F238E27FC236}">
                <a16:creationId xmlns:a16="http://schemas.microsoft.com/office/drawing/2014/main" id="{1FB94D03-607B-1E4E-8594-CF425A7C4E8A}"/>
              </a:ext>
            </a:extLst>
          </p:cNvPr>
          <p:cNvSpPr>
            <a:spLocks noGrp="1"/>
          </p:cNvSpPr>
          <p:nvPr/>
        </p:nvSpPr>
        <p:spPr>
          <a:xfrm>
            <a:off x="2024556" y="3528010"/>
            <a:ext cx="282698" cy="81"/>
          </a:xfrm>
          <a:custGeom>
            <a:avLst/>
            <a:gdLst/>
            <a:ahLst/>
            <a:cxnLst/>
            <a:rect l="0" t="0" r="0" b="0"/>
            <a:pathLst>
              <a:path w="664845" h="191">
                <a:moveTo>
                  <a:pt x="664845" y="0"/>
                </a:moveTo>
                <a:lnTo>
                  <a:pt x="0" y="0"/>
                </a:lnTo>
              </a:path>
            </a:pathLst>
          </a:custGeom>
          <a:noFill/>
          <a:ln w="8505">
            <a:solidFill>
              <a:srgbClr val="4083B4"/>
            </a:solidFill>
            <a:prstDash val="solid"/>
          </a:ln>
        </p:spPr>
      </p:sp>
      <p:sp>
        <p:nvSpPr>
          <p:cNvPr id="1388" name="Summary to cross attention refined head">
            <a:extLst>
              <a:ext uri="{FF2B5EF4-FFF2-40B4-BE49-F238E27FC236}">
                <a16:creationId xmlns:a16="http://schemas.microsoft.com/office/drawing/2014/main" id="{00C0D494-2ACE-5841-9C32-DEA46D076636}"/>
              </a:ext>
            </a:extLst>
          </p:cNvPr>
          <p:cNvSpPr>
            <a:spLocks noGrp="1"/>
          </p:cNvSpPr>
          <p:nvPr/>
        </p:nvSpPr>
        <p:spPr>
          <a:xfrm>
            <a:off x="2014633" y="3515819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0" y="28670"/>
                </a:moveTo>
                <a:lnTo>
                  <a:pt x="66675" y="57340"/>
                </a:lnTo>
                <a:lnTo>
                  <a:pt x="66675" y="0"/>
                </a:lnTo>
                <a:close/>
              </a:path>
            </a:pathLst>
          </a:custGeom>
          <a:solidFill>
            <a:srgbClr val="4083B4"/>
          </a:solidFill>
          <a:ln w="0">
            <a:noFill/>
            <a:prstDash val="solid"/>
          </a:ln>
        </p:spPr>
      </p:sp>
      <p:sp>
        <p:nvSpPr>
          <p:cNvPr id="1389" name="FiLM to candidate refined">
            <a:extLst>
              <a:ext uri="{FF2B5EF4-FFF2-40B4-BE49-F238E27FC236}">
                <a16:creationId xmlns:a16="http://schemas.microsoft.com/office/drawing/2014/main" id="{E1DFC7C4-E67B-154D-52E4-C0F085E1E129}"/>
              </a:ext>
            </a:extLst>
          </p:cNvPr>
          <p:cNvSpPr>
            <a:spLocks noGrp="1"/>
          </p:cNvSpPr>
          <p:nvPr/>
        </p:nvSpPr>
        <p:spPr>
          <a:xfrm>
            <a:off x="2307254" y="3888510"/>
            <a:ext cx="81" cy="91573"/>
          </a:xfrm>
          <a:custGeom>
            <a:avLst/>
            <a:gdLst/>
            <a:ahLst/>
            <a:cxnLst/>
            <a:rect l="0" t="0" r="0" b="0"/>
            <a:pathLst>
              <a:path w="191" h="215360">
                <a:moveTo>
                  <a:pt x="0" y="0"/>
                </a:moveTo>
                <a:lnTo>
                  <a:pt x="0" y="21536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0" name="FiLM to candidate refined head">
            <a:extLst>
              <a:ext uri="{FF2B5EF4-FFF2-40B4-BE49-F238E27FC236}">
                <a16:creationId xmlns:a16="http://schemas.microsoft.com/office/drawing/2014/main" id="{71F20AB3-4FD9-3FCF-7E41-F34B06A133B8}"/>
              </a:ext>
            </a:extLst>
          </p:cNvPr>
          <p:cNvSpPr>
            <a:spLocks noGrp="1"/>
          </p:cNvSpPr>
          <p:nvPr/>
        </p:nvSpPr>
        <p:spPr>
          <a:xfrm>
            <a:off x="2295063" y="3961655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1" name="Candidate to foreground refined">
            <a:extLst>
              <a:ext uri="{FF2B5EF4-FFF2-40B4-BE49-F238E27FC236}">
                <a16:creationId xmlns:a16="http://schemas.microsoft.com/office/drawing/2014/main" id="{6ABAD166-36A2-B1EE-94C7-250B579BF8AA}"/>
              </a:ext>
            </a:extLst>
          </p:cNvPr>
          <p:cNvSpPr>
            <a:spLocks noGrp="1"/>
          </p:cNvSpPr>
          <p:nvPr/>
        </p:nvSpPr>
        <p:spPr>
          <a:xfrm>
            <a:off x="1112836" y="4050109"/>
            <a:ext cx="1194418" cy="121908"/>
          </a:xfrm>
          <a:custGeom>
            <a:avLst/>
            <a:gdLst/>
            <a:ahLst/>
            <a:cxnLst/>
            <a:rect l="0" t="0" r="0" b="0"/>
            <a:pathLst>
              <a:path w="2809018" h="286702">
                <a:moveTo>
                  <a:pt x="2809018" y="0"/>
                </a:moveTo>
                <a:lnTo>
                  <a:pt x="2809018" y="95250"/>
                </a:lnTo>
                <a:lnTo>
                  <a:pt x="0" y="95250"/>
                </a:lnTo>
                <a:lnTo>
                  <a:pt x="0" y="28670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2" name="Candidate to foreground refined head">
            <a:extLst>
              <a:ext uri="{FF2B5EF4-FFF2-40B4-BE49-F238E27FC236}">
                <a16:creationId xmlns:a16="http://schemas.microsoft.com/office/drawing/2014/main" id="{254C3D79-4029-F04C-CE38-B386FCB2CFF5}"/>
              </a:ext>
            </a:extLst>
          </p:cNvPr>
          <p:cNvSpPr>
            <a:spLocks noGrp="1"/>
          </p:cNvSpPr>
          <p:nvPr/>
        </p:nvSpPr>
        <p:spPr>
          <a:xfrm>
            <a:off x="1100645" y="415359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3" name="Foreground to probability refined">
            <a:extLst>
              <a:ext uri="{FF2B5EF4-FFF2-40B4-BE49-F238E27FC236}">
                <a16:creationId xmlns:a16="http://schemas.microsoft.com/office/drawing/2014/main" id="{0C587F6B-733F-401F-4E81-4718E0A50EC8}"/>
              </a:ext>
            </a:extLst>
          </p:cNvPr>
          <p:cNvSpPr>
            <a:spLocks noGrp="1"/>
          </p:cNvSpPr>
          <p:nvPr/>
        </p:nvSpPr>
        <p:spPr>
          <a:xfrm>
            <a:off x="1453005" y="4239978"/>
            <a:ext cx="255440" cy="81"/>
          </a:xfrm>
          <a:custGeom>
            <a:avLst/>
            <a:gdLst/>
            <a:ahLst/>
            <a:cxnLst/>
            <a:rect l="0" t="0" r="0" b="0"/>
            <a:pathLst>
              <a:path w="600742" h="191">
                <a:moveTo>
                  <a:pt x="0" y="0"/>
                </a:moveTo>
                <a:lnTo>
                  <a:pt x="600742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4" name="Foreground to probability refined head">
            <a:extLst>
              <a:ext uri="{FF2B5EF4-FFF2-40B4-BE49-F238E27FC236}">
                <a16:creationId xmlns:a16="http://schemas.microsoft.com/office/drawing/2014/main" id="{F9313D95-5A6D-8445-B10C-5DB0A2045B8B}"/>
              </a:ext>
            </a:extLst>
          </p:cNvPr>
          <p:cNvSpPr>
            <a:spLocks noGrp="1"/>
          </p:cNvSpPr>
          <p:nvPr/>
        </p:nvSpPr>
        <p:spPr>
          <a:xfrm>
            <a:off x="1690017" y="4227788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5" name="Candidate to cosine refined">
            <a:extLst>
              <a:ext uri="{FF2B5EF4-FFF2-40B4-BE49-F238E27FC236}">
                <a16:creationId xmlns:a16="http://schemas.microsoft.com/office/drawing/2014/main" id="{1CD198CB-8A0C-2DEF-3922-933E3E189542}"/>
              </a:ext>
            </a:extLst>
          </p:cNvPr>
          <p:cNvSpPr>
            <a:spLocks noGrp="1"/>
          </p:cNvSpPr>
          <p:nvPr/>
        </p:nvSpPr>
        <p:spPr>
          <a:xfrm>
            <a:off x="2307254" y="4050109"/>
            <a:ext cx="911598" cy="189869"/>
          </a:xfrm>
          <a:custGeom>
            <a:avLst/>
            <a:gdLst/>
            <a:ahLst/>
            <a:cxnLst/>
            <a:rect l="0" t="0" r="0" b="0"/>
            <a:pathLst>
              <a:path w="2143887" h="446532">
                <a:moveTo>
                  <a:pt x="0" y="0"/>
                </a:moveTo>
                <a:lnTo>
                  <a:pt x="0" y="446532"/>
                </a:lnTo>
                <a:lnTo>
                  <a:pt x="2143887" y="446532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6" name="Candidate to cosine refined head">
            <a:extLst>
              <a:ext uri="{FF2B5EF4-FFF2-40B4-BE49-F238E27FC236}">
                <a16:creationId xmlns:a16="http://schemas.microsoft.com/office/drawing/2014/main" id="{136093CB-B48A-03C7-46F4-4A0B52F9B12A}"/>
              </a:ext>
            </a:extLst>
          </p:cNvPr>
          <p:cNvSpPr>
            <a:spLocks noGrp="1"/>
          </p:cNvSpPr>
          <p:nvPr/>
        </p:nvSpPr>
        <p:spPr>
          <a:xfrm>
            <a:off x="3200424" y="4227788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7" name="Selected identity to graph refined">
            <a:extLst>
              <a:ext uri="{FF2B5EF4-FFF2-40B4-BE49-F238E27FC236}">
                <a16:creationId xmlns:a16="http://schemas.microsoft.com/office/drawing/2014/main" id="{447DE57B-A949-54B0-4463-2DA9391E72DE}"/>
              </a:ext>
            </a:extLst>
          </p:cNvPr>
          <p:cNvSpPr>
            <a:spLocks noGrp="1"/>
          </p:cNvSpPr>
          <p:nvPr/>
        </p:nvSpPr>
        <p:spPr>
          <a:xfrm>
            <a:off x="2959807" y="2608432"/>
            <a:ext cx="276865" cy="253091"/>
          </a:xfrm>
          <a:custGeom>
            <a:avLst/>
            <a:gdLst/>
            <a:ahLst/>
            <a:cxnLst/>
            <a:rect l="0" t="0" r="0" b="0"/>
            <a:pathLst>
              <a:path w="651129" h="595217">
                <a:moveTo>
                  <a:pt x="651129" y="0"/>
                </a:moveTo>
                <a:lnTo>
                  <a:pt x="0" y="0"/>
                </a:lnTo>
                <a:lnTo>
                  <a:pt x="0" y="59521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398" name="Selected identity to graph refined head">
            <a:extLst>
              <a:ext uri="{FF2B5EF4-FFF2-40B4-BE49-F238E27FC236}">
                <a16:creationId xmlns:a16="http://schemas.microsoft.com/office/drawing/2014/main" id="{0BC3C3F9-74A0-136F-6923-5D37C51F8A78}"/>
              </a:ext>
            </a:extLst>
          </p:cNvPr>
          <p:cNvSpPr>
            <a:spLocks noGrp="1"/>
          </p:cNvSpPr>
          <p:nvPr/>
        </p:nvSpPr>
        <p:spPr>
          <a:xfrm>
            <a:off x="2947616" y="2843096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399" name="Graph to GNN refined">
            <a:extLst>
              <a:ext uri="{FF2B5EF4-FFF2-40B4-BE49-F238E27FC236}">
                <a16:creationId xmlns:a16="http://schemas.microsoft.com/office/drawing/2014/main" id="{8B840ECD-F306-C2FB-EB8F-3997FE53765D}"/>
              </a:ext>
            </a:extLst>
          </p:cNvPr>
          <p:cNvSpPr>
            <a:spLocks noGrp="1"/>
          </p:cNvSpPr>
          <p:nvPr/>
        </p:nvSpPr>
        <p:spPr>
          <a:xfrm>
            <a:off x="2959807" y="3164148"/>
            <a:ext cx="81" cy="65247"/>
          </a:xfrm>
          <a:custGeom>
            <a:avLst/>
            <a:gdLst/>
            <a:ahLst/>
            <a:cxnLst/>
            <a:rect l="0" t="0" r="0" b="0"/>
            <a:pathLst>
              <a:path w="191" h="153448">
                <a:moveTo>
                  <a:pt x="0" y="0"/>
                </a:moveTo>
                <a:lnTo>
                  <a:pt x="0" y="153448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0" name="Graph to GNN refined head">
            <a:extLst>
              <a:ext uri="{FF2B5EF4-FFF2-40B4-BE49-F238E27FC236}">
                <a16:creationId xmlns:a16="http://schemas.microsoft.com/office/drawing/2014/main" id="{36D0FFFE-A554-5CB2-3C9A-865FF1D2EAF8}"/>
              </a:ext>
            </a:extLst>
          </p:cNvPr>
          <p:cNvSpPr>
            <a:spLocks noGrp="1"/>
          </p:cNvSpPr>
          <p:nvPr/>
        </p:nvSpPr>
        <p:spPr>
          <a:xfrm>
            <a:off x="2947616" y="321096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1" name="GNN to graph attention refined">
            <a:extLst>
              <a:ext uri="{FF2B5EF4-FFF2-40B4-BE49-F238E27FC236}">
                <a16:creationId xmlns:a16="http://schemas.microsoft.com/office/drawing/2014/main" id="{1FE5F774-8BAE-ED56-4749-35C9502AFA63}"/>
              </a:ext>
            </a:extLst>
          </p:cNvPr>
          <p:cNvSpPr>
            <a:spLocks noGrp="1"/>
          </p:cNvSpPr>
          <p:nvPr/>
        </p:nvSpPr>
        <p:spPr>
          <a:xfrm>
            <a:off x="2959807" y="3373781"/>
            <a:ext cx="81" cy="116643"/>
          </a:xfrm>
          <a:custGeom>
            <a:avLst/>
            <a:gdLst/>
            <a:ahLst/>
            <a:cxnLst/>
            <a:rect l="0" t="0" r="0" b="0"/>
            <a:pathLst>
              <a:path w="191" h="274320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2" name="GNN to graph attention refined head">
            <a:extLst>
              <a:ext uri="{FF2B5EF4-FFF2-40B4-BE49-F238E27FC236}">
                <a16:creationId xmlns:a16="http://schemas.microsoft.com/office/drawing/2014/main" id="{9F3A2D19-9DA2-4AF5-8864-5DDFDD5A9939}"/>
              </a:ext>
            </a:extLst>
          </p:cNvPr>
          <p:cNvSpPr>
            <a:spLocks noGrp="1"/>
          </p:cNvSpPr>
          <p:nvPr/>
        </p:nvSpPr>
        <p:spPr>
          <a:xfrm>
            <a:off x="2947616" y="347199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3" name="Identity to SMI-TED refined">
            <a:extLst>
              <a:ext uri="{FF2B5EF4-FFF2-40B4-BE49-F238E27FC236}">
                <a16:creationId xmlns:a16="http://schemas.microsoft.com/office/drawing/2014/main" id="{5EA7717A-435C-409C-E00E-0B3D4289E41F}"/>
              </a:ext>
            </a:extLst>
          </p:cNvPr>
          <p:cNvSpPr>
            <a:spLocks noGrp="1"/>
          </p:cNvSpPr>
          <p:nvPr/>
        </p:nvSpPr>
        <p:spPr>
          <a:xfrm>
            <a:off x="3627427" y="2822562"/>
            <a:ext cx="81" cy="139040"/>
          </a:xfrm>
          <a:custGeom>
            <a:avLst/>
            <a:gdLst/>
            <a:ahLst/>
            <a:cxnLst/>
            <a:rect l="0" t="0" r="0" b="0"/>
            <a:pathLst>
              <a:path w="191" h="326993">
                <a:moveTo>
                  <a:pt x="0" y="0"/>
                </a:moveTo>
                <a:lnTo>
                  <a:pt x="0" y="326993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4" name="Identity to SMI-TED refined head">
            <a:extLst>
              <a:ext uri="{FF2B5EF4-FFF2-40B4-BE49-F238E27FC236}">
                <a16:creationId xmlns:a16="http://schemas.microsoft.com/office/drawing/2014/main" id="{80757E94-83C6-1C51-5DCF-38C3FEFEFD8D}"/>
              </a:ext>
            </a:extLst>
          </p:cNvPr>
          <p:cNvSpPr>
            <a:spLocks noGrp="1"/>
          </p:cNvSpPr>
          <p:nvPr/>
        </p:nvSpPr>
        <p:spPr>
          <a:xfrm>
            <a:off x="3615236" y="2943174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5" name="SMI-TED to language refined">
            <a:extLst>
              <a:ext uri="{FF2B5EF4-FFF2-40B4-BE49-F238E27FC236}">
                <a16:creationId xmlns:a16="http://schemas.microsoft.com/office/drawing/2014/main" id="{FCB97CD5-BA0E-5333-EA5A-74EA1A94A679}"/>
              </a:ext>
            </a:extLst>
          </p:cNvPr>
          <p:cNvSpPr>
            <a:spLocks noGrp="1"/>
          </p:cNvSpPr>
          <p:nvPr/>
        </p:nvSpPr>
        <p:spPr>
          <a:xfrm>
            <a:off x="3627427" y="3105988"/>
            <a:ext cx="81" cy="431094"/>
          </a:xfrm>
          <a:custGeom>
            <a:avLst/>
            <a:gdLst/>
            <a:ahLst/>
            <a:cxnLst/>
            <a:rect l="0" t="0" r="0" b="0"/>
            <a:pathLst>
              <a:path w="191" h="1013841">
                <a:moveTo>
                  <a:pt x="0" y="0"/>
                </a:moveTo>
                <a:lnTo>
                  <a:pt x="0" y="1013841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6" name="SMI-TED to language refined head">
            <a:extLst>
              <a:ext uri="{FF2B5EF4-FFF2-40B4-BE49-F238E27FC236}">
                <a16:creationId xmlns:a16="http://schemas.microsoft.com/office/drawing/2014/main" id="{C37BECDB-374B-3741-0F26-01338B0FCB10}"/>
              </a:ext>
            </a:extLst>
          </p:cNvPr>
          <p:cNvSpPr>
            <a:spLocks noGrp="1"/>
          </p:cNvSpPr>
          <p:nvPr/>
        </p:nvSpPr>
        <p:spPr>
          <a:xfrm>
            <a:off x="3615236" y="3518654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7" name="Other identities refined">
            <a:extLst>
              <a:ext uri="{FF2B5EF4-FFF2-40B4-BE49-F238E27FC236}">
                <a16:creationId xmlns:a16="http://schemas.microsoft.com/office/drawing/2014/main" id="{5D4E902B-EACC-2A9C-281A-3A2561CC1B68}"/>
              </a:ext>
            </a:extLst>
          </p:cNvPr>
          <p:cNvSpPr>
            <a:spLocks noGrp="1"/>
          </p:cNvSpPr>
          <p:nvPr/>
        </p:nvSpPr>
        <p:spPr>
          <a:xfrm>
            <a:off x="4043535" y="2373162"/>
            <a:ext cx="261029" cy="584107"/>
          </a:xfrm>
          <a:custGeom>
            <a:avLst/>
            <a:gdLst/>
            <a:ahLst/>
            <a:cxnLst/>
            <a:rect l="0" t="0" r="0" b="0"/>
            <a:pathLst>
              <a:path w="613886" h="1373695">
                <a:moveTo>
                  <a:pt x="0" y="0"/>
                </a:moveTo>
                <a:lnTo>
                  <a:pt x="613886" y="0"/>
                </a:lnTo>
                <a:lnTo>
                  <a:pt x="613886" y="1373695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08" name="Other identities refined head">
            <a:extLst>
              <a:ext uri="{FF2B5EF4-FFF2-40B4-BE49-F238E27FC236}">
                <a16:creationId xmlns:a16="http://schemas.microsoft.com/office/drawing/2014/main" id="{585855B8-06AD-82E2-DFBF-7CAB07225500}"/>
              </a:ext>
            </a:extLst>
          </p:cNvPr>
          <p:cNvSpPr>
            <a:spLocks noGrp="1"/>
          </p:cNvSpPr>
          <p:nvPr/>
        </p:nvSpPr>
        <p:spPr>
          <a:xfrm>
            <a:off x="4292374" y="2938840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09" name="Other identities middle refined">
            <a:extLst>
              <a:ext uri="{FF2B5EF4-FFF2-40B4-BE49-F238E27FC236}">
                <a16:creationId xmlns:a16="http://schemas.microsoft.com/office/drawing/2014/main" id="{5845A2D0-2B68-3D7F-F564-879463B2DE6E}"/>
              </a:ext>
            </a:extLst>
          </p:cNvPr>
          <p:cNvSpPr>
            <a:spLocks noGrp="1"/>
          </p:cNvSpPr>
          <p:nvPr/>
        </p:nvSpPr>
        <p:spPr>
          <a:xfrm>
            <a:off x="4043535" y="2487942"/>
            <a:ext cx="261029" cy="81"/>
          </a:xfrm>
          <a:custGeom>
            <a:avLst/>
            <a:gdLst/>
            <a:ahLst/>
            <a:cxnLst/>
            <a:rect l="0" t="0" r="0" b="0"/>
            <a:pathLst>
              <a:path w="613886" h="191">
                <a:moveTo>
                  <a:pt x="0" y="0"/>
                </a:moveTo>
                <a:lnTo>
                  <a:pt x="613886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0" name="Other identities lower refined">
            <a:extLst>
              <a:ext uri="{FF2B5EF4-FFF2-40B4-BE49-F238E27FC236}">
                <a16:creationId xmlns:a16="http://schemas.microsoft.com/office/drawing/2014/main" id="{939147A5-1559-6B56-113B-0218FE2A5098}"/>
              </a:ext>
            </a:extLst>
          </p:cNvPr>
          <p:cNvSpPr>
            <a:spLocks noGrp="1"/>
          </p:cNvSpPr>
          <p:nvPr/>
        </p:nvSpPr>
        <p:spPr>
          <a:xfrm>
            <a:off x="4043535" y="2778011"/>
            <a:ext cx="261029" cy="81"/>
          </a:xfrm>
          <a:custGeom>
            <a:avLst/>
            <a:gdLst/>
            <a:ahLst/>
            <a:cxnLst/>
            <a:rect l="0" t="0" r="0" b="0"/>
            <a:pathLst>
              <a:path w="613886" h="191">
                <a:moveTo>
                  <a:pt x="0" y="0"/>
                </a:moveTo>
                <a:lnTo>
                  <a:pt x="613886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1" name="Context SMI-TED to matrix refined">
            <a:extLst>
              <a:ext uri="{FF2B5EF4-FFF2-40B4-BE49-F238E27FC236}">
                <a16:creationId xmlns:a16="http://schemas.microsoft.com/office/drawing/2014/main" id="{82FC8DE0-86E7-CC90-4AEF-35224DC6479B}"/>
              </a:ext>
            </a:extLst>
          </p:cNvPr>
          <p:cNvSpPr>
            <a:spLocks noGrp="1"/>
          </p:cNvSpPr>
          <p:nvPr/>
        </p:nvSpPr>
        <p:spPr>
          <a:xfrm>
            <a:off x="4309020" y="3101655"/>
            <a:ext cx="81" cy="112309"/>
          </a:xfrm>
          <a:custGeom>
            <a:avLst/>
            <a:gdLst/>
            <a:ahLst/>
            <a:cxnLst/>
            <a:rect l="0" t="0" r="0" b="0"/>
            <a:pathLst>
              <a:path w="191" h="264128">
                <a:moveTo>
                  <a:pt x="0" y="0"/>
                </a:moveTo>
                <a:lnTo>
                  <a:pt x="0" y="264128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2" name="Context SMI-TED to matrix refined head">
            <a:extLst>
              <a:ext uri="{FF2B5EF4-FFF2-40B4-BE49-F238E27FC236}">
                <a16:creationId xmlns:a16="http://schemas.microsoft.com/office/drawing/2014/main" id="{886EE7B7-A311-C6BC-9DEB-7A7E7CFE4C37}"/>
              </a:ext>
            </a:extLst>
          </p:cNvPr>
          <p:cNvSpPr>
            <a:spLocks noGrp="1"/>
          </p:cNvSpPr>
          <p:nvPr/>
        </p:nvSpPr>
        <p:spPr>
          <a:xfrm>
            <a:off x="4296829" y="3195536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3" name="Context matrix to attention refined">
            <a:extLst>
              <a:ext uri="{FF2B5EF4-FFF2-40B4-BE49-F238E27FC236}">
                <a16:creationId xmlns:a16="http://schemas.microsoft.com/office/drawing/2014/main" id="{F9B67E34-0035-CF26-2F9A-8E325A480AEC}"/>
              </a:ext>
            </a:extLst>
          </p:cNvPr>
          <p:cNvSpPr>
            <a:spLocks noGrp="1"/>
          </p:cNvSpPr>
          <p:nvPr/>
        </p:nvSpPr>
        <p:spPr>
          <a:xfrm>
            <a:off x="4304565" y="3384231"/>
            <a:ext cx="81" cy="106194"/>
          </a:xfrm>
          <a:custGeom>
            <a:avLst/>
            <a:gdLst/>
            <a:ahLst/>
            <a:cxnLst/>
            <a:rect l="0" t="0" r="0" b="0"/>
            <a:pathLst>
              <a:path w="191" h="249745">
                <a:moveTo>
                  <a:pt x="0" y="0"/>
                </a:moveTo>
                <a:lnTo>
                  <a:pt x="0" y="249745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4" name="Context matrix to attention refined head">
            <a:extLst>
              <a:ext uri="{FF2B5EF4-FFF2-40B4-BE49-F238E27FC236}">
                <a16:creationId xmlns:a16="http://schemas.microsoft.com/office/drawing/2014/main" id="{09FFEE40-1A97-C1B6-5683-D74CF10A7756}"/>
              </a:ext>
            </a:extLst>
          </p:cNvPr>
          <p:cNvSpPr>
            <a:spLocks noGrp="1"/>
          </p:cNvSpPr>
          <p:nvPr/>
        </p:nvSpPr>
        <p:spPr>
          <a:xfrm>
            <a:off x="4292374" y="347199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5" name="Language query left refined">
            <a:extLst>
              <a:ext uri="{FF2B5EF4-FFF2-40B4-BE49-F238E27FC236}">
                <a16:creationId xmlns:a16="http://schemas.microsoft.com/office/drawing/2014/main" id="{1F368976-7279-B831-B4E2-A260DF4BED76}"/>
              </a:ext>
            </a:extLst>
          </p:cNvPr>
          <p:cNvSpPr>
            <a:spLocks noGrp="1"/>
          </p:cNvSpPr>
          <p:nvPr/>
        </p:nvSpPr>
        <p:spPr>
          <a:xfrm>
            <a:off x="3278227" y="3575477"/>
            <a:ext cx="203680" cy="81"/>
          </a:xfrm>
          <a:custGeom>
            <a:avLst/>
            <a:gdLst/>
            <a:ahLst/>
            <a:cxnLst/>
            <a:rect l="0" t="0" r="0" b="0"/>
            <a:pathLst>
              <a:path w="479012" h="191">
                <a:moveTo>
                  <a:pt x="479012" y="0"/>
                </a:moveTo>
                <a:lnTo>
                  <a:pt x="0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6" name="Language query left refined head">
            <a:extLst>
              <a:ext uri="{FF2B5EF4-FFF2-40B4-BE49-F238E27FC236}">
                <a16:creationId xmlns:a16="http://schemas.microsoft.com/office/drawing/2014/main" id="{F043D286-0469-AFA2-318C-CF92E666052B}"/>
              </a:ext>
            </a:extLst>
          </p:cNvPr>
          <p:cNvSpPr>
            <a:spLocks noGrp="1"/>
          </p:cNvSpPr>
          <p:nvPr/>
        </p:nvSpPr>
        <p:spPr>
          <a:xfrm>
            <a:off x="3268304" y="3563286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0" y="28670"/>
                </a:moveTo>
                <a:lnTo>
                  <a:pt x="66675" y="57340"/>
                </a:lnTo>
                <a:lnTo>
                  <a:pt x="66675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7" name="Language query right refined">
            <a:extLst>
              <a:ext uri="{FF2B5EF4-FFF2-40B4-BE49-F238E27FC236}">
                <a16:creationId xmlns:a16="http://schemas.microsoft.com/office/drawing/2014/main" id="{4C9A6B5C-61A1-433B-4364-CFE73D12726F}"/>
              </a:ext>
            </a:extLst>
          </p:cNvPr>
          <p:cNvSpPr>
            <a:spLocks noGrp="1"/>
          </p:cNvSpPr>
          <p:nvPr/>
        </p:nvSpPr>
        <p:spPr>
          <a:xfrm>
            <a:off x="3766670" y="3575477"/>
            <a:ext cx="203639" cy="81"/>
          </a:xfrm>
          <a:custGeom>
            <a:avLst/>
            <a:gdLst/>
            <a:ahLst/>
            <a:cxnLst/>
            <a:rect l="0" t="0" r="0" b="0"/>
            <a:pathLst>
              <a:path w="478917" h="191">
                <a:moveTo>
                  <a:pt x="0" y="0"/>
                </a:moveTo>
                <a:lnTo>
                  <a:pt x="478917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18" name="Language query right refined head">
            <a:extLst>
              <a:ext uri="{FF2B5EF4-FFF2-40B4-BE49-F238E27FC236}">
                <a16:creationId xmlns:a16="http://schemas.microsoft.com/office/drawing/2014/main" id="{26D04C63-B9BC-D37A-9376-850BCECF0BCF}"/>
              </a:ext>
            </a:extLst>
          </p:cNvPr>
          <p:cNvSpPr>
            <a:spLocks noGrp="1"/>
          </p:cNvSpPr>
          <p:nvPr/>
        </p:nvSpPr>
        <p:spPr>
          <a:xfrm>
            <a:off x="3951881" y="3563286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19" name="Language to fusion refined">
            <a:extLst>
              <a:ext uri="{FF2B5EF4-FFF2-40B4-BE49-F238E27FC236}">
                <a16:creationId xmlns:a16="http://schemas.microsoft.com/office/drawing/2014/main" id="{2DEC8330-5F69-BC61-2AC1-805A08100087}"/>
              </a:ext>
            </a:extLst>
          </p:cNvPr>
          <p:cNvSpPr>
            <a:spLocks noGrp="1"/>
          </p:cNvSpPr>
          <p:nvPr/>
        </p:nvSpPr>
        <p:spPr>
          <a:xfrm>
            <a:off x="3624268" y="3603949"/>
            <a:ext cx="81" cy="119843"/>
          </a:xfrm>
          <a:custGeom>
            <a:avLst/>
            <a:gdLst/>
            <a:ahLst/>
            <a:cxnLst/>
            <a:rect l="0" t="0" r="0" b="0"/>
            <a:pathLst>
              <a:path w="191" h="281845">
                <a:moveTo>
                  <a:pt x="0" y="0"/>
                </a:moveTo>
                <a:lnTo>
                  <a:pt x="0" y="281845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0" name="Language to fusion refined head">
            <a:extLst>
              <a:ext uri="{FF2B5EF4-FFF2-40B4-BE49-F238E27FC236}">
                <a16:creationId xmlns:a16="http://schemas.microsoft.com/office/drawing/2014/main" id="{E17CFC98-2569-8929-CDA9-59E30AEBD47F}"/>
              </a:ext>
            </a:extLst>
          </p:cNvPr>
          <p:cNvSpPr>
            <a:spLocks noGrp="1"/>
          </p:cNvSpPr>
          <p:nvPr/>
        </p:nvSpPr>
        <p:spPr>
          <a:xfrm>
            <a:off x="3612077" y="3705364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1" name="Graph attention to fusion refined">
            <a:extLst>
              <a:ext uri="{FF2B5EF4-FFF2-40B4-BE49-F238E27FC236}">
                <a16:creationId xmlns:a16="http://schemas.microsoft.com/office/drawing/2014/main" id="{D05174F6-D7FA-6D37-5419-62ACFFC680A2}"/>
              </a:ext>
            </a:extLst>
          </p:cNvPr>
          <p:cNvSpPr>
            <a:spLocks noGrp="1"/>
          </p:cNvSpPr>
          <p:nvPr/>
        </p:nvSpPr>
        <p:spPr>
          <a:xfrm>
            <a:off x="2959807" y="3650647"/>
            <a:ext cx="464710" cy="154269"/>
          </a:xfrm>
          <a:custGeom>
            <a:avLst/>
            <a:gdLst/>
            <a:ahLst/>
            <a:cxnLst/>
            <a:rect l="0" t="0" r="0" b="0"/>
            <a:pathLst>
              <a:path w="1092899" h="362807">
                <a:moveTo>
                  <a:pt x="0" y="0"/>
                </a:moveTo>
                <a:lnTo>
                  <a:pt x="0" y="362807"/>
                </a:lnTo>
                <a:lnTo>
                  <a:pt x="1092899" y="36280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2" name="Graph attention to fusion refined head">
            <a:extLst>
              <a:ext uri="{FF2B5EF4-FFF2-40B4-BE49-F238E27FC236}">
                <a16:creationId xmlns:a16="http://schemas.microsoft.com/office/drawing/2014/main" id="{63F70211-2258-AED9-24D9-40BDC84FE6C5}"/>
              </a:ext>
            </a:extLst>
          </p:cNvPr>
          <p:cNvSpPr>
            <a:spLocks noGrp="1"/>
          </p:cNvSpPr>
          <p:nvPr/>
        </p:nvSpPr>
        <p:spPr>
          <a:xfrm>
            <a:off x="3406089" y="3792725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3" name="Context attention to fusion refined">
            <a:extLst>
              <a:ext uri="{FF2B5EF4-FFF2-40B4-BE49-F238E27FC236}">
                <a16:creationId xmlns:a16="http://schemas.microsoft.com/office/drawing/2014/main" id="{B780D596-43ED-3CF0-DEA5-8C44787C511F}"/>
              </a:ext>
            </a:extLst>
          </p:cNvPr>
          <p:cNvSpPr>
            <a:spLocks noGrp="1"/>
          </p:cNvSpPr>
          <p:nvPr/>
        </p:nvSpPr>
        <p:spPr>
          <a:xfrm>
            <a:off x="3824060" y="3650647"/>
            <a:ext cx="480505" cy="154269"/>
          </a:xfrm>
          <a:custGeom>
            <a:avLst/>
            <a:gdLst/>
            <a:ahLst/>
            <a:cxnLst/>
            <a:rect l="0" t="0" r="0" b="0"/>
            <a:pathLst>
              <a:path w="1130046" h="362807">
                <a:moveTo>
                  <a:pt x="1130046" y="0"/>
                </a:moveTo>
                <a:lnTo>
                  <a:pt x="1130046" y="362807"/>
                </a:lnTo>
                <a:lnTo>
                  <a:pt x="0" y="36280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4" name="Context attention to fusion refined head">
            <a:extLst>
              <a:ext uri="{FF2B5EF4-FFF2-40B4-BE49-F238E27FC236}">
                <a16:creationId xmlns:a16="http://schemas.microsoft.com/office/drawing/2014/main" id="{91FB3439-428C-ED30-273D-0EF75EA41464}"/>
              </a:ext>
            </a:extLst>
          </p:cNvPr>
          <p:cNvSpPr>
            <a:spLocks noGrp="1"/>
          </p:cNvSpPr>
          <p:nvPr/>
        </p:nvSpPr>
        <p:spPr>
          <a:xfrm>
            <a:off x="3814137" y="3792725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0" y="28670"/>
                </a:moveTo>
                <a:lnTo>
                  <a:pt x="66675" y="57340"/>
                </a:lnTo>
                <a:lnTo>
                  <a:pt x="66675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5" name="Fusion to identity vector refined">
            <a:extLst>
              <a:ext uri="{FF2B5EF4-FFF2-40B4-BE49-F238E27FC236}">
                <a16:creationId xmlns:a16="http://schemas.microsoft.com/office/drawing/2014/main" id="{EF4A73B0-0E71-5EEA-32B4-CA04B70ED9A7}"/>
              </a:ext>
            </a:extLst>
          </p:cNvPr>
          <p:cNvSpPr>
            <a:spLocks noGrp="1"/>
          </p:cNvSpPr>
          <p:nvPr/>
        </p:nvSpPr>
        <p:spPr>
          <a:xfrm>
            <a:off x="3624268" y="3876116"/>
            <a:ext cx="81" cy="103966"/>
          </a:xfrm>
          <a:custGeom>
            <a:avLst/>
            <a:gdLst/>
            <a:ahLst/>
            <a:cxnLst/>
            <a:rect l="0" t="0" r="0" b="0"/>
            <a:pathLst>
              <a:path w="191" h="244507">
                <a:moveTo>
                  <a:pt x="0" y="0"/>
                </a:moveTo>
                <a:lnTo>
                  <a:pt x="0" y="244507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6" name="Fusion to identity vector refined head">
            <a:extLst>
              <a:ext uri="{FF2B5EF4-FFF2-40B4-BE49-F238E27FC236}">
                <a16:creationId xmlns:a16="http://schemas.microsoft.com/office/drawing/2014/main" id="{73AF682E-8677-8248-A2E8-E0A9FE2390B4}"/>
              </a:ext>
            </a:extLst>
          </p:cNvPr>
          <p:cNvSpPr>
            <a:spLocks noGrp="1"/>
          </p:cNvSpPr>
          <p:nvPr/>
        </p:nvSpPr>
        <p:spPr>
          <a:xfrm>
            <a:off x="3612077" y="3961655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7" name="Identity vector to cosine refined">
            <a:extLst>
              <a:ext uri="{FF2B5EF4-FFF2-40B4-BE49-F238E27FC236}">
                <a16:creationId xmlns:a16="http://schemas.microsoft.com/office/drawing/2014/main" id="{1FDA1251-9EF3-789D-C005-8103B7CA1E6D}"/>
              </a:ext>
            </a:extLst>
          </p:cNvPr>
          <p:cNvSpPr>
            <a:spLocks noGrp="1"/>
          </p:cNvSpPr>
          <p:nvPr/>
        </p:nvSpPr>
        <p:spPr>
          <a:xfrm>
            <a:off x="3624268" y="4046950"/>
            <a:ext cx="81" cy="107935"/>
          </a:xfrm>
          <a:custGeom>
            <a:avLst/>
            <a:gdLst/>
            <a:ahLst/>
            <a:cxnLst/>
            <a:rect l="0" t="0" r="0" b="0"/>
            <a:pathLst>
              <a:path w="191" h="253841">
                <a:moveTo>
                  <a:pt x="0" y="0"/>
                </a:moveTo>
                <a:lnTo>
                  <a:pt x="0" y="253841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28" name="Identity vector to cosine refined head">
            <a:extLst>
              <a:ext uri="{FF2B5EF4-FFF2-40B4-BE49-F238E27FC236}">
                <a16:creationId xmlns:a16="http://schemas.microsoft.com/office/drawing/2014/main" id="{2C39FFAB-4507-EFEF-B63A-6A5E9D50059D}"/>
              </a:ext>
            </a:extLst>
          </p:cNvPr>
          <p:cNvSpPr>
            <a:spLocks noGrp="1"/>
          </p:cNvSpPr>
          <p:nvPr/>
        </p:nvSpPr>
        <p:spPr>
          <a:xfrm>
            <a:off x="3612077" y="4136457"/>
            <a:ext cx="24381" cy="28351"/>
          </a:xfrm>
          <a:custGeom>
            <a:avLst/>
            <a:gdLst/>
            <a:ahLst/>
            <a:cxnLst/>
            <a:rect l="0" t="0" r="0" b="0"/>
            <a:pathLst>
              <a:path w="57340" h="66675">
                <a:moveTo>
                  <a:pt x="28670" y="66675"/>
                </a:moveTo>
                <a:lnTo>
                  <a:pt x="57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sp>
        <p:nvSpPr>
          <p:cNvPr id="1429" name="Cosine to score matrix refined">
            <a:extLst>
              <a:ext uri="{FF2B5EF4-FFF2-40B4-BE49-F238E27FC236}">
                <a16:creationId xmlns:a16="http://schemas.microsoft.com/office/drawing/2014/main" id="{E04F5FC6-9699-519A-D16F-8EE9818F00F5}"/>
              </a:ext>
            </a:extLst>
          </p:cNvPr>
          <p:cNvSpPr>
            <a:spLocks noGrp="1"/>
          </p:cNvSpPr>
          <p:nvPr/>
        </p:nvSpPr>
        <p:spPr>
          <a:xfrm>
            <a:off x="3798342" y="4239978"/>
            <a:ext cx="263217" cy="81"/>
          </a:xfrm>
          <a:custGeom>
            <a:avLst/>
            <a:gdLst/>
            <a:ahLst/>
            <a:cxnLst/>
            <a:rect l="0" t="0" r="0" b="0"/>
            <a:pathLst>
              <a:path w="619030" h="191">
                <a:moveTo>
                  <a:pt x="0" y="0"/>
                </a:moveTo>
                <a:lnTo>
                  <a:pt x="619030" y="0"/>
                </a:lnTo>
              </a:path>
            </a:pathLst>
          </a:custGeom>
          <a:noFill/>
          <a:ln w="8505">
            <a:solidFill>
              <a:srgbClr val="3B8C80"/>
            </a:solidFill>
            <a:prstDash val="solid"/>
          </a:ln>
        </p:spPr>
      </p:sp>
      <p:sp>
        <p:nvSpPr>
          <p:cNvPr id="1430" name="Cosine to score matrix refined head">
            <a:extLst>
              <a:ext uri="{FF2B5EF4-FFF2-40B4-BE49-F238E27FC236}">
                <a16:creationId xmlns:a16="http://schemas.microsoft.com/office/drawing/2014/main" id="{FBD20C15-58D6-2567-4AEA-DC21CC6181AC}"/>
              </a:ext>
            </a:extLst>
          </p:cNvPr>
          <p:cNvSpPr>
            <a:spLocks noGrp="1"/>
          </p:cNvSpPr>
          <p:nvPr/>
        </p:nvSpPr>
        <p:spPr>
          <a:xfrm>
            <a:off x="4043130" y="4227788"/>
            <a:ext cx="28351" cy="24381"/>
          </a:xfrm>
          <a:custGeom>
            <a:avLst/>
            <a:gdLst/>
            <a:ahLst/>
            <a:cxnLst/>
            <a:rect l="0" t="0" r="0" b="0"/>
            <a:pathLst>
              <a:path w="66675" h="57340">
                <a:moveTo>
                  <a:pt x="66675" y="28670"/>
                </a:moveTo>
                <a:lnTo>
                  <a:pt x="0" y="0"/>
                </a:lnTo>
                <a:lnTo>
                  <a:pt x="0" y="57340"/>
                </a:lnTo>
                <a:close/>
              </a:path>
            </a:pathLst>
          </a:custGeom>
          <a:solidFill>
            <a:srgbClr val="3B8C80"/>
          </a:solidFill>
          <a:ln w="0">
            <a:noFill/>
            <a:prstDash val="solid"/>
          </a:ln>
        </p:spPr>
      </p:sp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ADAB8147-CB8D-1259-2958-FFACF1BC4CE6}"/>
              </a:ext>
            </a:extLst>
          </p:cNvPr>
          <p:cNvPicPr/>
          <p:nvPr/>
        </p:nvPicPr>
        <p:blipFill>
          <a:blip r:embed="rId5"/>
          <a:srcRect l="16857" t="30389" r="19786" b="22500"/>
          <a:stretch>
            <a:fillRect/>
          </a:stretch>
        </p:blipFill>
        <p:spPr>
          <a:xfrm>
            <a:off x="725281" y="2388765"/>
            <a:ext cx="332109" cy="317507"/>
          </a:xfrm>
          <a:prstGeom prst="rect">
            <a:avLst/>
          </a:prstGeom>
        </p:spPr>
      </p:pic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530D0E88-B7AD-0C16-1553-B0FBBDF7CA34}"/>
              </a:ext>
            </a:extLst>
          </p:cNvPr>
          <p:cNvSpPr/>
          <p:nvPr/>
        </p:nvSpPr>
        <p:spPr>
          <a:xfrm>
            <a:off x="673037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D77EF1F3-1AF7-6B9E-2324-8C4C3F58A567}"/>
              </a:ext>
            </a:extLst>
          </p:cNvPr>
          <p:cNvSpPr/>
          <p:nvPr/>
        </p:nvSpPr>
        <p:spPr>
          <a:xfrm>
            <a:off x="978338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EF934342-AB9D-8E92-E736-4E36FC5D31B0}"/>
              </a:ext>
            </a:extLst>
          </p:cNvPr>
          <p:cNvSpPr/>
          <p:nvPr/>
        </p:nvSpPr>
        <p:spPr>
          <a:xfrm>
            <a:off x="1334211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831281E2-3FCE-84C8-0926-7F71AF7438A1}"/>
              </a:ext>
            </a:extLst>
          </p:cNvPr>
          <p:cNvSpPr/>
          <p:nvPr/>
        </p:nvSpPr>
        <p:spPr>
          <a:xfrm>
            <a:off x="1334211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0334D197-AE10-B687-5CAE-130CDA142296}"/>
              </a:ext>
            </a:extLst>
          </p:cNvPr>
          <p:cNvSpPr/>
          <p:nvPr/>
        </p:nvSpPr>
        <p:spPr>
          <a:xfrm>
            <a:off x="1322019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pic>
        <p:nvPicPr>
          <p:cNvPr id="50482" name="图片 50481">
            <a:extLst>
              <a:ext uri="{FF2B5EF4-FFF2-40B4-BE49-F238E27FC236}">
                <a16:creationId xmlns:a16="http://schemas.microsoft.com/office/drawing/2014/main" id="{74E3AA67-34D2-E15E-E7E4-4BA252A82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3208" y="2943948"/>
            <a:ext cx="41476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2874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52734-FCAE-2B81-54BC-B01F7B050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3F93B921-327F-EA56-1B22-0D09369772CD}"/>
              </a:ext>
            </a:extLst>
          </p:cNvPr>
          <p:cNvSpPr/>
          <p:nvPr/>
        </p:nvSpPr>
        <p:spPr>
          <a:xfrm>
            <a:off x="4868797" y="84564"/>
            <a:ext cx="1354615" cy="4331875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E6455CE4-B1DF-384C-F92E-829DDB28E816}"/>
              </a:ext>
            </a:extLst>
          </p:cNvPr>
          <p:cNvSpPr txBox="1"/>
          <p:nvPr/>
        </p:nvSpPr>
        <p:spPr>
          <a:xfrm>
            <a:off x="490238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263442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081F4C46-44A2-3E43-D338-0A52F1D83598}"/>
              </a:ext>
            </a:extLst>
          </p:cNvPr>
          <p:cNvSpPr txBox="1"/>
          <p:nvPr/>
        </p:nvSpPr>
        <p:spPr>
          <a:xfrm>
            <a:off x="506058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263442"/>
                </a:solidFill>
                <a:latin typeface="Arial"/>
              </a:rPr>
              <a:t>pose reconstruction</a:t>
            </a: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BF98272-1D43-106D-C4EA-676CFECC33CF}"/>
              </a:ext>
            </a:extLst>
          </p:cNvPr>
          <p:cNvSpPr>
            <a:spLocks noGrp="1"/>
          </p:cNvSpPr>
          <p:nvPr/>
        </p:nvSpPr>
        <p:spPr>
          <a:xfrm>
            <a:off x="4963973" y="420252"/>
            <a:ext cx="1158792" cy="130215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3B2D181B-8171-23E5-904D-1E8D8B07D388}"/>
              </a:ext>
            </a:extLst>
          </p:cNvPr>
          <p:cNvSpPr>
            <a:spLocks noGrp="1"/>
          </p:cNvSpPr>
          <p:nvPr/>
        </p:nvSpPr>
        <p:spPr>
          <a:xfrm>
            <a:off x="499263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1D7E3247-83A3-5643-3DAD-7118C029E905}"/>
              </a:ext>
            </a:extLst>
          </p:cNvPr>
          <p:cNvSpPr>
            <a:spLocks noGrp="1"/>
          </p:cNvSpPr>
          <p:nvPr/>
        </p:nvSpPr>
        <p:spPr>
          <a:xfrm>
            <a:off x="4999032" y="92146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DC9603B8-71EE-2C1D-249F-079678E93D98}"/>
              </a:ext>
            </a:extLst>
          </p:cNvPr>
          <p:cNvSpPr>
            <a:spLocks noGrp="1"/>
          </p:cNvSpPr>
          <p:nvPr/>
        </p:nvSpPr>
        <p:spPr>
          <a:xfrm>
            <a:off x="558126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25FC5404-5A0B-2BE5-8144-C74C3108E008}"/>
              </a:ext>
            </a:extLst>
          </p:cNvPr>
          <p:cNvSpPr>
            <a:spLocks noGrp="1"/>
          </p:cNvSpPr>
          <p:nvPr/>
        </p:nvSpPr>
        <p:spPr>
          <a:xfrm>
            <a:off x="4999664" y="148072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479D80EF-A625-1889-2F4D-C74FF6E2BB39}"/>
              </a:ext>
            </a:extLst>
          </p:cNvPr>
          <p:cNvSpPr>
            <a:spLocks noGrp="1"/>
          </p:cNvSpPr>
          <p:nvPr/>
        </p:nvSpPr>
        <p:spPr>
          <a:xfrm>
            <a:off x="5005380" y="15688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55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A743C77B-3F50-BBD8-13CB-52DCF781FE64}"/>
              </a:ext>
            </a:extLst>
          </p:cNvPr>
          <p:cNvSpPr>
            <a:spLocks noGrp="1"/>
          </p:cNvSpPr>
          <p:nvPr/>
        </p:nvSpPr>
        <p:spPr>
          <a:xfrm>
            <a:off x="5574918" y="1480706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F4F53E91-014C-CC30-59FD-5CB7B47AA24B}"/>
              </a:ext>
            </a:extLst>
          </p:cNvPr>
          <p:cNvSpPr>
            <a:spLocks noGrp="1"/>
          </p:cNvSpPr>
          <p:nvPr/>
        </p:nvSpPr>
        <p:spPr>
          <a:xfrm>
            <a:off x="504776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96EC49BA-932C-048E-0C29-D37711377096}"/>
              </a:ext>
            </a:extLst>
          </p:cNvPr>
          <p:cNvSpPr>
            <a:spLocks noGrp="1"/>
          </p:cNvSpPr>
          <p:nvPr/>
        </p:nvSpPr>
        <p:spPr>
          <a:xfrm>
            <a:off x="499281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3C1F0666-BDE2-8018-A15E-F23B75749AC3}"/>
              </a:ext>
            </a:extLst>
          </p:cNvPr>
          <p:cNvSpPr>
            <a:spLocks noGrp="1"/>
          </p:cNvSpPr>
          <p:nvPr/>
        </p:nvSpPr>
        <p:spPr>
          <a:xfrm>
            <a:off x="497978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485B6500-58C3-8694-DCBD-D5824BAE6312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65754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968C3470-AFF4-84BE-480A-4198D540DAFD}"/>
              </a:ext>
            </a:extLst>
          </p:cNvPr>
          <p:cNvSpPr/>
          <p:nvPr/>
        </p:nvSpPr>
        <p:spPr>
          <a:xfrm>
            <a:off x="493882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52EDB60B-0EF2-5740-F6D3-490228F31BBD}"/>
              </a:ext>
            </a:extLst>
          </p:cNvPr>
          <p:cNvSpPr/>
          <p:nvPr/>
        </p:nvSpPr>
        <p:spPr>
          <a:xfrm>
            <a:off x="499281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1E199BBA-7EEA-1D1F-CC07-CF5E10C73191}"/>
              </a:ext>
            </a:extLst>
          </p:cNvPr>
          <p:cNvGrpSpPr/>
          <p:nvPr/>
        </p:nvGrpSpPr>
        <p:grpSpPr>
          <a:xfrm>
            <a:off x="502494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B93E16-86CF-EC30-4B85-AB855EC83D6D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99B41AE2-EAF3-E315-4AA4-A4F793A4B44B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D63A76A4-2D29-1500-5803-AF39F7023C4D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A1261C35-D54B-E6F0-CEB8-92C3A4EA2F11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15486D53-C7E9-74F7-5606-71E9E67107C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22853855-37F0-F097-5AB4-2A71217CCECE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226FC415-F61D-9825-F4E2-7875354B9CE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98982A79-66E8-8186-5738-B9C8C265AD1D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E0CC02A3-C3BC-25F3-3ACA-F9C35A76437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FB579D51-2029-2A4F-F28A-9FD8CEA9C42E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3E039EDB-C0A1-D2F0-7622-DAD7B4C1DF8A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041C4C2A-1F3E-B385-6EEF-4CF845DD72CB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B944B134-0C5C-EDB4-7E05-356300CE5CF2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E85DB2C4-CA0B-3BB5-4FE0-95E7A522EBC4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7C1D8B1B-9067-04E4-D88D-BBCA8B15ED2D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5098931E-3497-BF84-30B9-8890AE9B2B81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9618D3B1-BB38-1D27-4208-D7DDBBCB03CB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719B8D8D-7D22-E395-EB7A-A30A5FC026F9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D90FE229-4700-A9A0-716D-42D3E47B5659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784D2088-B332-78C8-D599-5C842A0D4A05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7C0132AE-C614-5D01-CE24-74B5E2E20C19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2F32F87-5D6A-6C94-A7F6-4A91C761BE2C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6EE9ABF2-2C40-B5F6-1940-1775C9FA19E7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CF1C2D1C-D69A-6A2D-6E8B-E01FB0B07D7A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673FA697-764F-FA65-943A-B0B04E886AA9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5BFF00E4-D1C5-B041-B844-EA0112D3895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7F998603-B998-4B63-186F-B9B3006B1515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C16C5EE0-2590-6EDE-7060-6FEB5C29567C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D17D31A9-6859-682D-4432-49EED6892A5B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1ECC54AA-79B9-EDB8-EFBF-519A1F7E46B5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CDC88B96-6D61-535A-FDF3-6F5B19766313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A5A85E04-6EB6-EE3B-B74A-2FFE4D412899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3AA1487-88AF-6B87-467A-DBBA1B5879E8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126D8AAC-D550-6A76-7801-445CFF246FB7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6A4075E0-3906-50B3-9BCC-35B69C4DD9E9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6C28BDF3-9DEF-239E-4C81-1C35D6FB68F3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BCB28D41-0A15-B122-0B90-72ED412EE024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C7E8379B-ACDE-5BD9-361A-DE4ABFF8B41A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ECFFEA72-8626-56BD-8B3E-3037CF1AF8E8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BFCAF518-99F3-0A2C-AB70-DFC4C8589A44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9BF9FDFE-C42C-53CD-A061-7F45E2EE8D15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2682615C-84A0-1CD6-C8C0-03464596EB1F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631DB92D-913E-B01B-9AEB-960224667825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15790B56-0B8D-756D-0DCC-AB75E3B6FD11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1631C88D-1EB9-D6F4-95AF-DCCB642F9F9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FE9273CF-E566-6F37-1587-2BBB9D1E170A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EE131202-AC5D-2E28-6AED-B98076EEFF5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4C792408-71CE-6A7F-0B63-11CAA43A6679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8ED39DF3-C54D-C189-3815-4C683D281321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BD482086-500D-6E6D-896E-088B7D13BF76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D0E7FAF9-1563-DE48-E748-9126946B5C8E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E48EE981-48B8-EA3F-9CB0-F29B28DF82E7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18584D7C-FABD-E9F6-72C1-951301DDEDAD}"/>
              </a:ext>
            </a:extLst>
          </p:cNvPr>
          <p:cNvSpPr txBox="1"/>
          <p:nvPr/>
        </p:nvSpPr>
        <p:spPr>
          <a:xfrm>
            <a:off x="5270490" y="2150246"/>
            <a:ext cx="819150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263442"/>
                </a:solidFill>
                <a:latin typeface="Arial"/>
              </a:rPr>
              <a:t>DG-PocketXMol</a:t>
            </a:r>
            <a:endParaRPr sz="623" b="1" dirty="0">
              <a:solidFill>
                <a:srgbClr val="263442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08906595-0DA8-95EC-8632-3FEAE784B9F6}"/>
              </a:ext>
            </a:extLst>
          </p:cNvPr>
          <p:cNvSpPr txBox="1"/>
          <p:nvPr/>
        </p:nvSpPr>
        <p:spPr>
          <a:xfrm>
            <a:off x="5270983" y="2305119"/>
            <a:ext cx="819150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263442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263442"/>
                </a:solidFill>
                <a:latin typeface="Arial"/>
              </a:rPr>
              <a:t>fine-tuning</a:t>
            </a:r>
          </a:p>
        </p:txBody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9328B906-0B87-B09E-FB06-A9A62F2CE298}"/>
              </a:ext>
            </a:extLst>
          </p:cNvPr>
          <p:cNvSpPr/>
          <p:nvPr/>
        </p:nvSpPr>
        <p:spPr>
          <a:xfrm>
            <a:off x="4996634" y="457662"/>
            <a:ext cx="519754" cy="122809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1B6C4D97-E5BD-5494-DBFC-E1D9BAB5B434}"/>
              </a:ext>
            </a:extLst>
          </p:cNvPr>
          <p:cNvSpPr/>
          <p:nvPr/>
        </p:nvSpPr>
        <p:spPr>
          <a:xfrm>
            <a:off x="5564187" y="456353"/>
            <a:ext cx="527685" cy="122809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D5CCB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8E285AE8-5B25-317D-97AA-75401514E8A1}"/>
              </a:ext>
            </a:extLst>
          </p:cNvPr>
          <p:cNvSpPr/>
          <p:nvPr/>
        </p:nvSpPr>
        <p:spPr>
          <a:xfrm>
            <a:off x="5546090" y="1765305"/>
            <a:ext cx="1" cy="5622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9813B73F-CCCD-EA9A-376F-456AB1E610B1}"/>
              </a:ext>
            </a:extLst>
          </p:cNvPr>
          <p:cNvSpPr/>
          <p:nvPr/>
        </p:nvSpPr>
        <p:spPr>
          <a:xfrm>
            <a:off x="552418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07679385-E86D-06AF-3A36-FED40D7C95EE}"/>
              </a:ext>
            </a:extLst>
          </p:cNvPr>
          <p:cNvSpPr/>
          <p:nvPr/>
        </p:nvSpPr>
        <p:spPr>
          <a:xfrm>
            <a:off x="554609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B881CA9B-A096-8E3F-9899-573DA90CDCB3}"/>
              </a:ext>
            </a:extLst>
          </p:cNvPr>
          <p:cNvSpPr/>
          <p:nvPr/>
        </p:nvSpPr>
        <p:spPr>
          <a:xfrm>
            <a:off x="552418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89DCA6D5-3679-D415-5BE5-92A67333541D}"/>
              </a:ext>
            </a:extLst>
          </p:cNvPr>
          <p:cNvGrpSpPr/>
          <p:nvPr/>
        </p:nvGrpSpPr>
        <p:grpSpPr>
          <a:xfrm>
            <a:off x="509549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CEDDC562-8935-F160-6BF6-FBDE4980A53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9A6165B9-D072-913F-4F98-07DF1CDFAD9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BDE1AB30-8167-E025-0D16-C21F1775FD9B}"/>
              </a:ext>
            </a:extLst>
          </p:cNvPr>
          <p:cNvSpPr/>
          <p:nvPr/>
        </p:nvSpPr>
        <p:spPr>
          <a:xfrm>
            <a:off x="522429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pic>
        <p:nvPicPr>
          <p:cNvPr id="50483" name="图片 50482">
            <a:extLst>
              <a:ext uri="{FF2B5EF4-FFF2-40B4-BE49-F238E27FC236}">
                <a16:creationId xmlns:a16="http://schemas.microsoft.com/office/drawing/2014/main" id="{990BCBFC-9DD9-25BB-4CA2-DDF352D8C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631445" y="485775"/>
            <a:ext cx="414760" cy="342900"/>
          </a:xfrm>
          <a:prstGeom prst="rect">
            <a:avLst/>
          </a:prstGeom>
        </p:spPr>
      </p:pic>
      <p:sp>
        <p:nvSpPr>
          <p:cNvPr id="50484" name="F2-Build-selected">
            <a:extLst>
              <a:ext uri="{FF2B5EF4-FFF2-40B4-BE49-F238E27FC236}">
                <a16:creationId xmlns:a16="http://schemas.microsoft.com/office/drawing/2014/main" id="{6A2264C7-4360-FCD2-C7A2-680D5A04551A}"/>
              </a:ext>
            </a:extLst>
          </p:cNvPr>
          <p:cNvSpPr>
            <a:spLocks noGrp="1"/>
          </p:cNvSpPr>
          <p:nvPr/>
        </p:nvSpPr>
        <p:spPr>
          <a:xfrm>
            <a:off x="5054601" y="1283549"/>
            <a:ext cx="390525" cy="81915"/>
          </a:xfrm>
          <a:prstGeom prst="roundRect">
            <a:avLst>
              <a:gd name="adj" fmla="val 50000"/>
            </a:avLst>
          </a:prstGeom>
          <a:solidFill>
            <a:srgbClr val="DCF8EB"/>
          </a:solidFill>
          <a:ln w="7144">
            <a:solidFill>
              <a:srgbClr val="499D86"/>
            </a:solidFill>
          </a:ln>
        </p:spPr>
      </p:sp>
      <p:sp>
        <p:nvSpPr>
          <p:cNvPr id="50485" name="F2-Build-SMILES-0">
            <a:extLst>
              <a:ext uri="{FF2B5EF4-FFF2-40B4-BE49-F238E27FC236}">
                <a16:creationId xmlns:a16="http://schemas.microsoft.com/office/drawing/2014/main" id="{4008C2B1-D1D4-0B7F-4728-77E5B8661720}"/>
              </a:ext>
            </a:extLst>
          </p:cNvPr>
          <p:cNvSpPr>
            <a:spLocks noGrp="1"/>
          </p:cNvSpPr>
          <p:nvPr/>
        </p:nvSpPr>
        <p:spPr>
          <a:xfrm>
            <a:off x="5101503" y="1136660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b="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50486" name="F2-Build-SMILES-7.8">
            <a:extLst>
              <a:ext uri="{FF2B5EF4-FFF2-40B4-BE49-F238E27FC236}">
                <a16:creationId xmlns:a16="http://schemas.microsoft.com/office/drawing/2014/main" id="{86B011E1-6EAB-6837-DA53-54E94AA085EC}"/>
              </a:ext>
            </a:extLst>
          </p:cNvPr>
          <p:cNvSpPr>
            <a:spLocks noGrp="1"/>
          </p:cNvSpPr>
          <p:nvPr/>
        </p:nvSpPr>
        <p:spPr>
          <a:xfrm>
            <a:off x="5101503" y="1199841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CC(=O)O</a:t>
            </a:r>
          </a:p>
        </p:txBody>
      </p:sp>
      <p:sp>
        <p:nvSpPr>
          <p:cNvPr id="50487" name="F2-Build-continuation">
            <a:extLst>
              <a:ext uri="{FF2B5EF4-FFF2-40B4-BE49-F238E27FC236}">
                <a16:creationId xmlns:a16="http://schemas.microsoft.com/office/drawing/2014/main" id="{57445525-DCC1-B4E7-E3C5-43F5AED1AAB1}"/>
              </a:ext>
            </a:extLst>
          </p:cNvPr>
          <p:cNvSpPr>
            <a:spLocks noGrp="1"/>
          </p:cNvSpPr>
          <p:nvPr/>
        </p:nvSpPr>
        <p:spPr>
          <a:xfrm>
            <a:off x="510626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8" name="F2-Build-continuation">
            <a:extLst>
              <a:ext uri="{FF2B5EF4-FFF2-40B4-BE49-F238E27FC236}">
                <a16:creationId xmlns:a16="http://schemas.microsoft.com/office/drawing/2014/main" id="{D8380CD8-B1B4-24DE-92C0-E1C222863213}"/>
              </a:ext>
            </a:extLst>
          </p:cNvPr>
          <p:cNvSpPr>
            <a:spLocks noGrp="1"/>
          </p:cNvSpPr>
          <p:nvPr/>
        </p:nvSpPr>
        <p:spPr>
          <a:xfrm>
            <a:off x="5119918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89" name="F2-Build-continuation">
            <a:extLst>
              <a:ext uri="{FF2B5EF4-FFF2-40B4-BE49-F238E27FC236}">
                <a16:creationId xmlns:a16="http://schemas.microsoft.com/office/drawing/2014/main" id="{A87F8D1D-D087-B895-3967-34FD7403FA3D}"/>
              </a:ext>
            </a:extLst>
          </p:cNvPr>
          <p:cNvSpPr>
            <a:spLocks noGrp="1"/>
          </p:cNvSpPr>
          <p:nvPr/>
        </p:nvSpPr>
        <p:spPr>
          <a:xfrm>
            <a:off x="5135157" y="1268735"/>
            <a:ext cx="6668" cy="6668"/>
          </a:xfrm>
          <a:prstGeom prst="ellipse">
            <a:avLst/>
          </a:prstGeom>
          <a:solidFill>
            <a:srgbClr val="687780"/>
          </a:solidFill>
          <a:ln w="0">
            <a:noFill/>
          </a:ln>
        </p:spPr>
      </p:sp>
      <p:sp>
        <p:nvSpPr>
          <p:cNvPr id="50490" name="F2-Build-SMILES-19.8">
            <a:extLst>
              <a:ext uri="{FF2B5EF4-FFF2-40B4-BE49-F238E27FC236}">
                <a16:creationId xmlns:a16="http://schemas.microsoft.com/office/drawing/2014/main" id="{8D1E4611-7807-D068-11D8-0FDDECDECA18}"/>
              </a:ext>
            </a:extLst>
          </p:cNvPr>
          <p:cNvSpPr>
            <a:spLocks noGrp="1"/>
          </p:cNvSpPr>
          <p:nvPr/>
        </p:nvSpPr>
        <p:spPr>
          <a:xfrm>
            <a:off x="5101503" y="1285559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4634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>
                <a:solidFill>
                  <a:srgbClr val="263442"/>
                </a:solidFill>
              </a:rPr>
              <a:t>Cc1ccccc1</a:t>
            </a:r>
          </a:p>
        </p:txBody>
      </p:sp>
      <p:sp>
        <p:nvSpPr>
          <p:cNvPr id="50491" name="F2-Build-SMILES-27.599999999999998">
            <a:extLst>
              <a:ext uri="{FF2B5EF4-FFF2-40B4-BE49-F238E27FC236}">
                <a16:creationId xmlns:a16="http://schemas.microsoft.com/office/drawing/2014/main" id="{7C479AF4-50FE-543B-B4FD-111B42F262AA}"/>
              </a:ext>
            </a:extLst>
          </p:cNvPr>
          <p:cNvSpPr>
            <a:spLocks noGrp="1"/>
          </p:cNvSpPr>
          <p:nvPr/>
        </p:nvSpPr>
        <p:spPr>
          <a:xfrm>
            <a:off x="5101503" y="1359854"/>
            <a:ext cx="361950" cy="742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defPPr>
            <a:lvl1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1pPr>
            <a:lvl2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2pPr>
            <a:lvl3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3pPr>
            <a:lvl4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4pPr>
            <a:lvl5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5pPr>
            <a:lvl6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6pPr>
            <a:lvl7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7pPr>
            <a:lvl8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8pPr>
            <a:lvl9pPr algn="l"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4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480" dirty="0"/>
              <a:t>CC(N)=O</a:t>
            </a:r>
          </a:p>
        </p:txBody>
      </p:sp>
      <p:pic>
        <p:nvPicPr>
          <p:cNvPr id="50492" name="图片 50491">
            <a:extLst>
              <a:ext uri="{FF2B5EF4-FFF2-40B4-BE49-F238E27FC236}">
                <a16:creationId xmlns:a16="http://schemas.microsoft.com/office/drawing/2014/main" id="{4E683091-6004-F992-1701-5ECCC7280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149836" y="3476625"/>
            <a:ext cx="806478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3115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3298</Words>
  <Application>Microsoft Office PowerPoint</Application>
  <DocSecurity>0</DocSecurity>
  <PresentationFormat>自定义</PresentationFormat>
  <Paragraphs>427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164</cp:revision>
  <dcterms:created xsi:type="dcterms:W3CDTF">2026-10-01T15:00:20Z</dcterms:created>
  <dcterms:modified xsi:type="dcterms:W3CDTF">2026-10-27T13:45:38Z</dcterms:modified>
</cp:coreProperties>
</file>