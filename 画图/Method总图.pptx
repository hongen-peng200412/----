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1_E04F3CE8.xml" ContentType="application/vnd.ms-powerpoint.comments+xml"/>
  <Override PartName="/ppt/notesSlides/notesSlide2.xml" ContentType="application/vnd.openxmlformats-officedocument.presentationml.notesSlide+xml"/>
  <Override PartName="/ppt/comments/modernComment_102_E04F3CE8.xml" ContentType="application/vnd.ms-powerpoint.comments+xml"/>
  <Override PartName="/ppt/notesSlides/notesSlide3.xml" ContentType="application/vnd.openxmlformats-officedocument.presentationml.notesSlide+xml"/>
  <Override PartName="/ppt/comments/modernComment_100_E04F3CE8.xml" ContentType="application/vnd.ms-powerpoint.comments+xml"/>
  <Override PartName="/ppt/notesSlides/notesSlide4.xml" ContentType="application/vnd.openxmlformats-officedocument.presentationml.notesSlide+xml"/>
  <Override PartName="/ppt/comments/modernComment_105_2BBB712B.xml" ContentType="application/vnd.ms-powerpoint.comments+xml"/>
  <Override PartName="/ppt/notesSlides/notesSlide5.xml" ContentType="application/vnd.openxmlformats-officedocument.presentationml.notesSlide+xml"/>
  <Override PartName="/ppt/comments/modernComment_104_D1BA0CEE.xml" ContentType="application/vnd.ms-powerpoint.comments+xml"/>
  <Override PartName="/ppt/notesSlides/notesSlide6.xml" ContentType="application/vnd.openxmlformats-officedocument.presentationml.notesSlide+xml"/>
  <Override PartName="/ppt/comments/modernComment_107_B2520BCC.xml" ContentType="application/vnd.ms-powerpoint.comments+xml"/>
  <Override PartName="/ppt/notesSlides/notesSlide7.xml" ContentType="application/vnd.openxmlformats-officedocument.presentationml.notesSlide+xml"/>
  <Override PartName="/ppt/comments/modernComment_106_24E96010.xml" ContentType="application/vnd.ms-powerpoint.comments+xml"/>
  <Override PartName="/ppt/notesSlides/notesSlide8.xml" ContentType="application/vnd.openxmlformats-officedocument.presentationml.notesSlide+xml"/>
  <Override PartName="/ppt/comments/modernComment_108_2CD6C5BB.xml" ContentType="application/vnd.ms-powerpoint.comments+xml"/>
  <Override PartName="/ppt/notesSlides/notesSlide9.xml" ContentType="application/vnd.openxmlformats-officedocument.presentationml.notesSlide+xml"/>
  <Override PartName="/ppt/comments/modernComment_109_DE080B57.xml" ContentType="application/vnd.ms-powerpoint.comments+xml"/>
  <Override PartName="/ppt/notesSlides/notesSlide10.xml" ContentType="application/vnd.openxmlformats-officedocument.presentationml.notesSlide+xml"/>
  <Override PartName="/ppt/comments/modernComment_10A_9C66560.xml" ContentType="application/vnd.ms-powerpoint.comments+xml"/>
  <Override PartName="/ppt/notesSlides/notesSlide11.xml" ContentType="application/vnd.openxmlformats-officedocument.presentationml.notesSlide+xml"/>
  <Override PartName="/ppt/comments/modernComment_10B_DE9E33F8.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3"/>
  </p:notesMasterIdLst>
  <p:sldIdLst>
    <p:sldId id="257" r:id="rId2"/>
    <p:sldId id="258" r:id="rId3"/>
    <p:sldId id="256" r:id="rId4"/>
    <p:sldId id="261" r:id="rId5"/>
    <p:sldId id="260" r:id="rId6"/>
    <p:sldId id="263" r:id="rId7"/>
    <p:sldId id="262" r:id="rId8"/>
    <p:sldId id="264" r:id="rId9"/>
    <p:sldId id="265" r:id="rId10"/>
    <p:sldId id="266" r:id="rId11"/>
    <p:sldId id="267" r:id="rId12"/>
  </p:sldIdLst>
  <p:sldSz cx="6480175" cy="4468813"/>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3F71A66-0C34-DF1A-5236-FECDBC820DCB}" name="Hongen Peng" initials="HP" userId="965de47efeb7ffa5"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D5CCB8"/>
    <a:srgbClr val="B8A9D9"/>
    <a:srgbClr val="4083B4"/>
    <a:srgbClr val="C3D4E6"/>
    <a:srgbClr val="EDE7F5"/>
    <a:srgbClr val="EDF3FA"/>
    <a:srgbClr val="D8A95A"/>
    <a:srgbClr val="FAF1DE"/>
    <a:srgbClr val="15608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0745" autoAdjust="0"/>
  </p:normalViewPr>
  <p:slideViewPr>
    <p:cSldViewPr snapToGrid="0">
      <p:cViewPr>
        <p:scale>
          <a:sx n="150" d="100"/>
          <a:sy n="150" d="100"/>
        </p:scale>
        <p:origin x="-116"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microsoft.com/office/2018/10/relationships/authors" Target="author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omments/modernComment_10A_9C66560.xml><?xml version="1.0" encoding="utf-8"?>
<p188:cmLst xmlns:a="http://schemas.openxmlformats.org/drawingml/2006/main" xmlns:r="http://schemas.openxmlformats.org/officeDocument/2006/relationships" xmlns:p188="http://schemas.microsoft.com/office/powerpoint/2018/8/main">
  <p188:cm id="{E1E2E34D-6EED-48C7-BB40-5E89598F1CBB}" authorId="{D3F71A66-0C34-DF1A-5236-FECDBC820DCB}" created="2026-10-28T10:16:26.031Z">
    <pc:sldMkLst xmlns:pc="http://schemas.microsoft.com/office/powerpoint/2013/main/command">
      <pc:docMk/>
      <pc:sldMk cId="3763289320" sldId="265"/>
    </pc:sldMkLst>
    <p188:txBody>
      <a:bodyPr/>
      <a:lstStyle/>
      <a:p>
        <a:r>
          <a:t>PROVENANCE v1</a:t>
        </a:r>
      </a:p>
      <a:p>
        <a:r>
          <a:t>id: fig-method-ab-a4</a:t>
        </a:r>
      </a:p>
      <a:p>
        <a:r>
          <a:t>source: 画图/画图代码/e2e/visualization/图表追溯.md</a:t>
        </a:r>
      </a:p>
      <a:p>
        <a:r>
          <a:t/>
        </a:r>
      </a:p>
      <a:p>
        <a:r>
          <a:t>## fig-method-ab-a4｜方法图 a、b：A4</a:t>
        </a:r>
      </a:p>
      <a:p>
        <a:r>
          <a:t/>
        </a:r>
      </a:p>
      <a:p>
        <a:r>
          <a:t>**当前展示与本页选择。** 本图为 `画图/Method总图.pptx` 第10页的独立 Find、Match 候选, 保持在原整页画布的相同坐标, 右侧不含 Build。在共同间距基准上同时收敛普通流程箭头和非功能性内部容器边框。 Find 浅蓝、Match 浅绿大背景及其外框保留; 网络立体块、原子与分子图、密度库、特征条、身份矩阵和功能模块区别色保留。</a:t>
        </a:r>
      </a:p>
      <a:p>
        <a:r>
          <a:t/>
        </a:r>
      </a:p>
      <a:p>
        <a:r>
          <a:t>**共享关系与直接入口。** 本图与 `@@fig-method-ab-a0`、`@@fig-method-ab-a1`、`@@fig-method-ab-a2`、`@@fig-method-ab-a3`、`@@fig-method-ab-a5`、`@@fig-method-v9` 共用作者原生对象和冻结媒体, 六张候选使用同一 `method-ab-variants/build_variants.mjs` 的 `extractAB`、间距修正及 `recolour` 过程, 不重建旧版 Fig12 布局。版本由代码 `A4` 和独立图名选择; `render_native.ps1` 对本轮完整 PPT 作 PowerPoint 原生导出, `audit.py` 核对对象、媒体、白名单颜色与间距, `finalize.mjs` 验收 PPT 包、字体、画布和一方导入兼容性。</a:t>
        </a:r>
      </a:p>
      <a:p>
        <a:r>
          <a:t/>
        </a:r>
      </a:p>
      <a:p>
        <a:r>
          <a:t>**输入、坐标与科学边界。** 直接输入为 `e2e/output/method-ab-variants/source/author-20261028-deb03f10.pptx`, SHA-256 为 `deb03f100ba843a6588b1f52849a921b77aee0319409dfca40c53ff0283c7c9f`。它冻结作者当前五页文件, 当前 baseline 是第3页。提取时只移除右侧 c, 不更换既有结构或密度图片; 蛋白、密度与输出的原科学来源仍沿 `@@fig-method-v9` 记录, 本页没有新的实验数值、病例选择或构象预测。页内几何换算使用36000 EMU/mm。Find 按输入卡片和输出卡片平衡两侧间距; Match 按固定分隔线分别平移候选编码器与身份编码器, 仅伸长二者之间已有的 candidate-to-cosine 折线。字体、对象尺寸、相对比例与网络拓扑不变。</a:t>
        </a:r>
      </a:p>
      <a:p>
        <a:r>
          <a:t/>
        </a:r>
      </a:p>
      <a:p>
        <a:r>
          <a:t>**完整重建与核验。** 在仓库根运行 `python -X utf8 -B 转换工具/ops/rebuild_figures.py --figure fig-method-ab-a4 --generated-captions`。每次由冻结输入重新装配全部六个版本, 打开本次只读副本导出, 不读取旧 temp。共同生成物包括 `candidate.pptx`、`operations.json`、`variant_manifest.json`、`native-render.json`、`audit.json` 和验收副本; 指定本图仅选择主回执对象。作者第1、2、3、5页及嵌入媒体保全, 第4页只恢复为 baseline 的完整 a、b 副本。完整运行证据与发布状态见 `talk/method_ab_20261028/执行记录.md`; 本页供作者择优, 未替换正文当前引用。</a:t>
        </a:r>
      </a:p>
    </p188:txBody>
  </p188:cm>
  <p188:cm id="{48AE5FFF-8DD9-4613-9BE0-DAB39C86B51D}" authorId="{D3F71A66-0C34-DF1A-5236-FECDBC820DCB}" created="2026-10-28T10:16:26.031Z">
    <pc:sldMkLst xmlns:pc="http://schemas.microsoft.com/office/powerpoint/2013/main/command">
      <pc:docMk/>
      <pc:sldMk cId="3763289320" sldId="265"/>
    </pc:sldMkLst>
    <p188:txBody>
      <a:bodyPr/>
      <a:lstStyle/>
      <a:p>
        <a:r>
          <a:t>@@fig-method-ab-a4</a:t>
        </a:r>
      </a:p>
    </p188:txBody>
  </p188:cm>
</p188:cmLst>
</file>

<file path=ppt/comments/modernComment_10B_DE9E33F8.xml><?xml version="1.0" encoding="utf-8"?>
<p188:cmLst xmlns:a="http://schemas.openxmlformats.org/drawingml/2006/main" xmlns:r="http://schemas.openxmlformats.org/officeDocument/2006/relationships" xmlns:p188="http://schemas.microsoft.com/office/powerpoint/2018/8/main">
  <p188:cm id="{2DA2594F-C2C5-42AD-8791-C423016A23B9}" authorId="{D3F71A66-0C34-DF1A-5236-FECDBC820DCB}" created="2026-10-28T10:16:26.065Z">
    <pc:sldMkLst xmlns:pc="http://schemas.microsoft.com/office/powerpoint/2013/main/command">
      <pc:docMk/>
      <pc:sldMk cId="3763289320" sldId="266"/>
    </pc:sldMkLst>
    <p188:txBody>
      <a:bodyPr/>
      <a:lstStyle/>
      <a:p>
        <a:r>
          <a:t>PROVENANCE v1</a:t>
        </a:r>
      </a:p>
      <a:p>
        <a:r>
          <a:t>id: fig-method-ab-a5</a:t>
        </a:r>
      </a:p>
      <a:p>
        <a:r>
          <a:t>source: 画图/画图代码/e2e/visualization/图表追溯.md</a:t>
        </a:r>
      </a:p>
      <a:p>
        <a:r>
          <a:t/>
        </a:r>
      </a:p>
      <a:p>
        <a:r>
          <a:t>## fig-method-ab-a5｜方法图 a、b：A5</a:t>
        </a:r>
      </a:p>
      <a:p>
        <a:r>
          <a:t/>
        </a:r>
      </a:p>
      <a:p>
        <a:r>
          <a:t>**当前展示与本页选择。** 本图为 `画图/Method总图.pptx` 第11页的独立 Find、Match 候选, 保持在原整页画布的相同坐标, 右侧不含 Build。在共同间距基准上同时收敛普通流程箭头、内部容器边框与容器填充。 Find 浅蓝、Match 浅绿大背景及其外框保留; 网络立体块、原子与分子图、密度库、特征条、身份矩阵和功能模块区别色保留。</a:t>
        </a:r>
      </a:p>
      <a:p>
        <a:r>
          <a:t/>
        </a:r>
      </a:p>
      <a:p>
        <a:r>
          <a:t>**共享关系与直接入口。** 本图与 `@@fig-method-ab-a0`、`@@fig-method-ab-a1`、`@@fig-method-ab-a2`、`@@fig-method-ab-a3`、`@@fig-method-ab-a4`、`@@fig-method-v9` 共用作者原生对象和冻结媒体, 六张候选使用同一 `method-ab-variants/build_variants.mjs` 的 `extractAB`、间距修正及 `recolour` 过程, 不重建旧版 Fig12 布局。版本由代码 `A5` 和独立图名选择; `render_native.ps1` 对本轮完整 PPT 作 PowerPoint 原生导出, `audit.py` 核对对象、媒体、白名单颜色与间距, `finalize.mjs` 验收 PPT 包、字体、画布和一方导入兼容性。</a:t>
        </a:r>
      </a:p>
      <a:p>
        <a:r>
          <a:t/>
        </a:r>
      </a:p>
      <a:p>
        <a:r>
          <a:t>**输入、坐标与科学边界。** 直接输入为 `e2e/output/method-ab-variants/source/author-20261028-deb03f10.pptx`, SHA-256 为 `deb03f100ba843a6588b1f52849a921b77aee0319409dfca40c53ff0283c7c9f`。它冻结作者当前五页文件, 当前 baseline 是第3页。提取时只移除右侧 c, 不更换既有结构或密度图片; 蛋白、密度与输出的原科学来源仍沿 `@@fig-method-v9` 记录, 本页没有新的实验数值、病例选择或构象预测。页内几何换算使用36000 EMU/mm。Find 按输入卡片和输出卡片平衡两侧间距; Match 按固定分隔线分别平移候选编码器与身份编码器, 仅伸长二者之间已有的 candidate-to-cosine 折线。字体、对象尺寸、相对比例与网络拓扑不变。</a:t>
        </a:r>
      </a:p>
      <a:p>
        <a:r>
          <a:t/>
        </a:r>
      </a:p>
      <a:p>
        <a:r>
          <a:t>**完整重建与核验。** 在仓库根运行 `python -X utf8 -B 转换工具/ops/rebuild_figures.py --figure fig-method-ab-a5 --generated-captions`。每次由冻结输入重新装配全部六个版本, 打开本次只读副本导出, 不读取旧 temp。共同生成物包括 `candidate.pptx`、`operations.json`、`variant_manifest.json`、`native-render.json`、`audit.json` 和验收副本; 指定本图仅选择主回执对象。作者第1、2、3、5页及嵌入媒体保全, 第4页只恢复为 baseline 的完整 a、b 副本。完整运行证据与发布状态见 `talk/method_ab_20261028/执行记录.md`; 本页供作者择优, 未替换正文当前引用。</a:t>
        </a:r>
      </a:p>
    </p188:txBody>
  </p188:cm>
  <p188:cm id="{3859D3A7-BEDC-4BDE-A3EE-289D439D6F2A}" authorId="{D3F71A66-0C34-DF1A-5236-FECDBC820DCB}" created="2026-10-28T10:16:26.065Z">
    <pc:sldMkLst xmlns:pc="http://schemas.microsoft.com/office/powerpoint/2013/main/command">
      <pc:docMk/>
      <pc:sldMk cId="3763289320" sldId="266"/>
    </pc:sldMkLst>
    <p188:txBody>
      <a:bodyPr/>
      <a:lstStyle/>
      <a:p>
        <a:r>
          <a:t>@@fig-method-ab-a5</a:t>
        </a:r>
      </a:p>
    </p188:txBody>
  </p188:cm>
</p188:cmLst>
</file>

<file path=ppt/comments/modernComment_100_E04F3CE8.xml><?xml version="1.0" encoding="utf-8"?>
<p188:cmLst xmlns:a="http://schemas.openxmlformats.org/drawingml/2006/main" xmlns:r="http://schemas.openxmlformats.org/officeDocument/2006/relationships" xmlns:p188="http://schemas.microsoft.com/office/powerpoint/2018/8/main">
  <p188:cm id="{8E7938EA-5369-4EDF-8742-6BC1D724451B}" authorId="{D3F71A66-0C34-DF1A-5236-FECDBC820DCB}" created="2026-10-22T02:42:32.147">
    <pc:sldMkLst xmlns:pc="http://schemas.microsoft.com/office/powerpoint/2013/main/command">
      <pc:docMk/>
      <pc:sldMk cId="3763289320" sldId="256"/>
    </pc:sldMkLst>
    <p188:txBody>
      <a:bodyPr/>
      <a:lstStyle/>
      <a:p>
        <a:r>
          <a:t>@@fig-method-v9</a:t>
        </a:r>
      </a:p>
    </p188:txBody>
  </p188:cm>
  <p188:cm id="{7AA102D2-F700-4FF5-AB3B-402CA5D4531E}" authorId="{D3F71A66-0C34-DF1A-5236-FECDBC820DCB}" created="2026-10-26T07:11:39.638Z">
    <pc:sldMkLst xmlns:pc="http://schemas.microsoft.com/office/powerpoint/2013/main/command">
      <pc:docMk/>
      <pc:sldMk cId="3763289320" sldId="256"/>
    </pc:sldMkLst>
    <p188:txBody>
      <a:bodyPr/>
      <a:lstStyle/>
      <a:p>
        <a:r>
          <a:t>PROVENANCE v1</a:t>
        </a:r>
      </a:p>
      <a:p>
        <a:r>
          <a:t>id: fig-method-v9</a:t>
        </a:r>
      </a:p>
      <a:p>
        <a:r>
          <a:t>source: 画图/画图代码/e2e/visualization/图表追溯.md</a:t>
        </a:r>
      </a:p>
      <a:p>
        <a:r>
          <a:t/>
        </a:r>
      </a:p>
      <a:p>
        <a:r>
          <a:t>## fig-method-v9｜网络架构：text</a:t>
        </a:r>
      </a:p>
      <a:p>
        <a:r>
          <a:t/>
        </a:r>
      </a:p>
      <a:p>
        <a:r>
          <a:t>**共享关系与本页选择。** 本图与`@@fig-overview_v3`、`@@fig-overview_v3-original`、`@@fig-overview_v3-unified`、`@@fig-overview_v3-components`、`@@fig-method-v9-original`、`@@fig-method-v9-unified`、`@@fig-method-v9-components`共用 `画图/画图代码/e2e/visualization/fig12-revision`。当前图集中的本页为 `画图/Method总图.pptx` 第3页；`variant_manifest.json` 的生成配色为 `text`。前三页只切换配色，Pocket固定为2B；第四页提供独立组件，不与配色做交叉总图。共享的是坐标渲染与原生对象装配，不共同计算新的模型结果。</a:t>
        </a:r>
      </a:p>
      <a:p>
        <a:r>
          <a:t/>
        </a:r>
      </a:p>
      <a:p>
        <a:r>
          <a:t>**直接绘图逻辑与边界。** `prepare_geometry.py` 读取合法SMILES及冻结blob体素中心；`render_structures.py` 按原首选坐标在PyMOL重渲染；`build_components.mjs` 仅构造授权的输入、化学身份、匹配直线、图示和组件页；`assemble.py` 直接复用作者的路径、节点、字体及媒体。保留原 embedding 邻域图、受体到体素/点云的输入拓扑、U-Net、PTv3和Match网络。只替换获认可的 density bank 图示。预处理、网络和输出平移分摊间距，Match整块平移；a/b左右边界及c上下边界对齐。Find三幅预览使用相同组件框。Build输入相同SMILES、圈出Cc1ccccc1并留上下间距；默认DG-PocketXMol及其他工具列表保留。 未授权的原生图形不重绘。原配色完整保留，text统一装饰文字，unified进一步收敛中性色和装饰背景；身份、特征和真实结构的元素色保留。</a:t>
        </a:r>
      </a:p>
      <a:p>
        <a:r>
          <a:t/>
        </a:r>
      </a:p>
      <a:p>
        <a:r>
          <a:t>**真实坐标、连接键和选择。** `source/candidate_cases.json` 固定16个病例键，连接 `stage3/output/stage3-cases-main/screening/assets/&lt;病例&gt;/arrays.npz` 与 `metadata.json`。`tuned` 是(N,3)的XYZ坐标，单位Å；`element`、`bonds`沿同一原子轴。`metrics.tuned.sample_index`保留原模型自评分首位，不按RMSD换序。四幅采用实例是9BJJ的A1AP0（E:1001）、9LLG的CLR（R:603）、30GA的ATP（L:401）、9WUP的FAD（A:1103），使用沉积受体；全部16例保留在备选页。公开CIF仅补充折叠背景，先与冻结口袋坐标核对，下载地址及散列在source_manifest.json。</a:t>
        </a:r>
      </a:p>
      <a:p>
        <a:r>
          <a:t/>
        </a:r>
      </a:p>
      <a:p>
        <a:r>
          <a:t>**方法图实例与显示。** 方法图输出为9BJJ、ATP（B:901）、occurrence_id=4、source_blob_index=0、sample_index=21的原首选，受体为CryoAtom2。两处Pocket分别保留Match的blob 10Å包络、Build的Find质心15Å球；sticks仅显示空腔附近的输入原子，外围cartoon提供结构背景。scheme1含辅助半透明surface，2B无surface，cartoon版从输出仅隐藏配体且关闭全部sticks。三种表示共用相机、1500×1100画布和透明裁边矩形。`render_manifest.json`保存原子选择、自排序下标、相机及坐标对应核对，`selection.json`保存四例选择和裁边。Fig1的9HJX背景与候选连线、Fig2全局blob是架构示意，真实pose的病例身份独立列明。</a:t>
        </a:r>
      </a:p>
      <a:p>
        <a:r>
          <a:t/>
        </a:r>
      </a:p>
      <a:p>
        <a:r>
          <a:t>**完整重建、版本与检查。** 本轮从仓库根执行 `D:/Anaconda/python.exe -X utf8 -B 转换工具/ops/rebuild_figures.py --figure fig-method-v9 --generated-captions`；新图注随本轮编号与实例更新。以后只重建图形时默认不加该选项，沿用正式PPT中的作者图注。运行依次准备几何、PyMOL原生重渲染、Artifact Tool组件和PPT装配，Python与Node屏蔽旧temp并禁止改写冻结输入。作者原始两页、两轮手绘及后续五张布局反馈保存在source。生成留档位于 `画图/画图代码/e2e/output/fig12-revision/regenerated`。检查覆盖540个原生组件、Match块内布局、编号与交叉直线、预览大小、面板边界、两份备选页一致性、PowerPoint逐页导出、正文实际宽度下字体、碰撞与PDF对齐；图内B标签叠加原生三维背景按作者要求单独审读。本轮完整重建与逐页审读已通过，实际发布及正文编译证据见 `talk/fig12_revision_20261026/执行记录.md`。</a:t>
        </a:r>
      </a:p>
    </p188:txBody>
  </p188:cm>
</p188:cmLst>
</file>

<file path=ppt/comments/modernComment_101_E04F3CE8.xml><?xml version="1.0" encoding="utf-8"?>
<p188:cmLst xmlns:a="http://schemas.openxmlformats.org/drawingml/2006/main" xmlns:r="http://schemas.openxmlformats.org/officeDocument/2006/relationships" xmlns:p188="http://schemas.microsoft.com/office/powerpoint/2018/8/main">
  <p188:cm id="{4FFC1CBE-DB23-4F99-9FE8-4D1FAE5B4192}" authorId="{D3F71A66-0C34-DF1A-5236-FECDBC820DCB}" created="2026-10-22T02:42:32.147">
    <pc:sldMkLst xmlns:pc="http://schemas.microsoft.com/office/powerpoint/2013/main/command">
      <pc:docMk/>
      <pc:sldMk cId="3763289320" sldId="257"/>
    </pc:sldMkLst>
    <p188:txBody>
      <a:bodyPr/>
      <a:lstStyle/>
      <a:p>
        <a:r>
          <a:t>@@fig-method-v9-original</a:t>
        </a:r>
      </a:p>
    </p188:txBody>
  </p188:cm>
  <p188:cm id="{9B2AC575-5328-4A75-8DBD-A0A7A5CE1B5F}" authorId="{D3F71A66-0C34-DF1A-5236-FECDBC820DCB}" created="2026-10-26T07:11:39.638Z">
    <pc:sldMkLst xmlns:pc="http://schemas.microsoft.com/office/powerpoint/2013/main/command">
      <pc:docMk/>
      <pc:sldMk cId="3763289320" sldId="257"/>
    </pc:sldMkLst>
    <p188:txBody>
      <a:bodyPr/>
      <a:lstStyle/>
      <a:p>
        <a:r>
          <a:t>PROVENANCE v1</a:t>
        </a:r>
      </a:p>
      <a:p>
        <a:r>
          <a:t>id: fig-method-v9-original</a:t>
        </a:r>
      </a:p>
      <a:p>
        <a:r>
          <a:t>source: 画图/画图代码/e2e/visualization/图表追溯.md</a:t>
        </a:r>
      </a:p>
      <a:p>
        <a:r>
          <a:t/>
        </a:r>
      </a:p>
      <a:p>
        <a:r>
          <a:t>## fig-method-v9-original｜网络架构：original</a:t>
        </a:r>
      </a:p>
      <a:p>
        <a:r>
          <a:t/>
        </a:r>
      </a:p>
      <a:p>
        <a:r>
          <a:t>**共享关系与本页选择。** 本图与`@@fig-overview_v3`、`@@fig-overview_v3-original`、`@@fig-overview_v3-unified`、`@@fig-overview_v3-components`、`@@fig-method-v9`、`@@fig-method-v9-unified`、`@@fig-method-v9-components`共用 `画图/画图代码/e2e/visualization/fig12-revision`。当前图集中的本页为 `画图/Method总图.pptx` 第1页；`variant_manifest.json` 的生成配色为 `original`。前三页只切换配色，Pocket固定为2B；第四页提供独立组件，不与配色做交叉总图。共享的是坐标渲染与原生对象装配，不共同计算新的模型结果。</a:t>
        </a:r>
      </a:p>
      <a:p>
        <a:r>
          <a:t/>
        </a:r>
      </a:p>
      <a:p>
        <a:r>
          <a:t>**直接绘图逻辑与边界。** `prepare_geometry.py` 读取合法SMILES及冻结blob体素中心；`render_structures.py` 按原首选坐标在PyMOL重渲染；`build_components.mjs` 仅构造授权的输入、化学身份、匹配直线、图示和组件页；`assemble.py` 直接复用作者的路径、节点、字体及媒体。保留原 embedding 邻域图、受体到体素/点云的输入拓扑、U-Net、PTv3和Match网络。只替换获认可的 density bank 图示。预处理、网络和输出平移分摊间距，Match整块平移；a/b左右边界及c上下边界对齐。Find三幅预览使用相同组件框。Build输入相同SMILES、圈出Cc1ccccc1并留上下间距；默认DG-PocketXMol及其他工具列表保留。 未授权的原生图形不重绘。原配色完整保留，text统一装饰文字，unified进一步收敛中性色和装饰背景；身份、特征和真实结构的元素色保留。</a:t>
        </a:r>
      </a:p>
      <a:p>
        <a:r>
          <a:t/>
        </a:r>
      </a:p>
      <a:p>
        <a:r>
          <a:t>**真实坐标、连接键和选择。** `source/candidate_cases.json` 固定16个病例键，连接 `stage3/output/stage3-cases-main/screening/assets/&lt;病例&gt;/arrays.npz` 与 `metadata.json`。`tuned` 是(N,3)的XYZ坐标，单位Å；`element`、`bonds`沿同一原子轴。`metrics.tuned.sample_index`保留原模型自评分首位，不按RMSD换序。四幅采用实例是9BJJ的A1AP0（E:1001）、9LLG的CLR（R:603）、30GA的ATP（L:401）、9WUP的FAD（A:1103），使用沉积受体；全部16例保留在备选页。公开CIF仅补充折叠背景，先与冻结口袋坐标核对，下载地址及散列在source_manifest.json。</a:t>
        </a:r>
      </a:p>
      <a:p>
        <a:r>
          <a:t/>
        </a:r>
      </a:p>
      <a:p>
        <a:r>
          <a:t>**方法图实例与显示。** 方法图输出为9BJJ、ATP（B:901）、occurrence_id=4、source_blob_index=0、sample_index=21的原首选，受体为CryoAtom2。两处Pocket分别保留Match的blob 10Å包络、Build的Find质心15Å球；sticks仅显示空腔附近的输入原子，外围cartoon提供结构背景。scheme1含辅助半透明surface，2B无surface，cartoon版从输出仅隐藏配体且关闭全部sticks。三种表示共用相机、1500×1100画布和透明裁边矩形。`render_manifest.json`保存原子选择、自排序下标、相机及坐标对应核对，`selection.json`保存四例选择和裁边。Fig1的9HJX背景与候选连线、Fig2全局blob是架构示意，真实pose的病例身份独立列明。</a:t>
        </a:r>
      </a:p>
      <a:p>
        <a:r>
          <a:t/>
        </a:r>
      </a:p>
      <a:p>
        <a:r>
          <a:t>**完整重建、版本与检查。** 本轮从仓库根执行 `D:/Anaconda/python.exe -X utf8 -B 转换工具/ops/rebuild_figures.py --figure fig-method-v9-original --generated-captions`；新图注随本轮编号与实例更新。以后只重建图形时默认不加该选项，沿用正式PPT中的作者图注。运行依次准备几何、PyMOL原生重渲染、Artifact Tool组件和PPT装配，Python与Node屏蔽旧temp并禁止改写冻结输入。作者原始两页、两轮手绘及后续五张布局反馈保存在source。生成留档位于 `画图/画图代码/e2e/output/fig12-revision/regenerated`。检查覆盖540个原生组件、Match块内布局、编号与交叉直线、预览大小、面板边界、两份备选页一致性、PowerPoint逐页导出、正文实际宽度下字体、碰撞与PDF对齐；图内B标签叠加原生三维背景按作者要求单独审读。本轮完整重建与逐页审读已通过，实际发布及正文编译证据见 `talk/fig12_revision_20261026/执行记录.md`。</a:t>
        </a:r>
      </a:p>
    </p188:txBody>
  </p188:cm>
</p188:cmLst>
</file>

<file path=ppt/comments/modernComment_102_E04F3CE8.xml><?xml version="1.0" encoding="utf-8"?>
<p188:cmLst xmlns:a="http://schemas.openxmlformats.org/drawingml/2006/main" xmlns:r="http://schemas.openxmlformats.org/officeDocument/2006/relationships" xmlns:p188="http://schemas.microsoft.com/office/powerpoint/2018/8/main">
  <p188:cm id="{1D7A1043-CC2C-4CF5-B34E-88EDAC39683F}" authorId="{D3F71A66-0C34-DF1A-5236-FECDBC820DCB}" created="2026-10-22T02:42:32.147">
    <pc:sldMkLst xmlns:pc="http://schemas.microsoft.com/office/powerpoint/2013/main/command">
      <pc:docMk/>
      <pc:sldMk cId="0" sldId="258"/>
    </pc:sldMkLst>
    <p188:txBody>
      <a:bodyPr/>
      <a:lstStyle/>
      <a:p>
        <a:r>
          <a:t>@@fig-method-v9-unified</a:t>
        </a:r>
      </a:p>
    </p188:txBody>
  </p188:cm>
  <p188:cm id="{0FAB8D85-4B1E-4E16-A11E-F70F4196C1B4}" authorId="{D3F71A66-0C34-DF1A-5236-FECDBC820DCB}" created="2026-10-26T07:11:39.638Z">
    <pc:sldMkLst xmlns:pc="http://schemas.microsoft.com/office/powerpoint/2013/main/command">
      <pc:docMk/>
      <pc:sldMk cId="0" sldId="258"/>
    </pc:sldMkLst>
    <p188:txBody>
      <a:bodyPr/>
      <a:lstStyle/>
      <a:p>
        <a:r>
          <a:t>PROVENANCE v1</a:t>
        </a:r>
      </a:p>
      <a:p>
        <a:r>
          <a:t>id: fig-method-v9-unified</a:t>
        </a:r>
      </a:p>
      <a:p>
        <a:r>
          <a:t>source: 画图/画图代码/e2e/visualization/图表追溯.md</a:t>
        </a:r>
      </a:p>
      <a:p>
        <a:r>
          <a:t/>
        </a:r>
      </a:p>
      <a:p>
        <a:r>
          <a:t>## fig-method-v9-unified｜网络架构：unified</a:t>
        </a:r>
      </a:p>
      <a:p>
        <a:r>
          <a:t/>
        </a:r>
      </a:p>
      <a:p>
        <a:r>
          <a:t>**共享关系与本页选择。** 本图与`@@fig-overview_v3`、`@@fig-overview_v3-original`、`@@fig-overview_v3-unified`、`@@fig-overview_v3-components`、`@@fig-method-v9`、`@@fig-method-v9-original`、`@@fig-method-v9-components`共用 `画图/画图代码/e2e/visualization/fig12-revision`。当前图集中的本页为 `画图/Method总图.pptx` 第2页；`variant_manifest.json` 的生成配色为 `unified`。前三页只切换配色，Pocket固定为2B；第四页提供独立组件，不与配色做交叉总图。共享的是坐标渲染与原生对象装配，不共同计算新的模型结果。</a:t>
        </a:r>
      </a:p>
      <a:p>
        <a:r>
          <a:t/>
        </a:r>
      </a:p>
      <a:p>
        <a:r>
          <a:t>**直接绘图逻辑与边界。** `prepare_geometry.py` 读取合法SMILES及冻结blob体素中心；`render_structures.py` 按原首选坐标在PyMOL重渲染；`build_components.mjs` 仅构造授权的输入、化学身份、匹配直线、图示和组件页；`assemble.py` 直接复用作者的路径、节点、字体及媒体。保留原 embedding 邻域图、受体到体素/点云的输入拓扑、U-Net、PTv3和Match网络。只替换获认可的 density bank 图示。预处理、网络和输出平移分摊间距，Match整块平移；a/b左右边界及c上下边界对齐。Find三幅预览使用相同组件框。Build输入相同SMILES、圈出Cc1ccccc1并留上下间距；默认DG-PocketXMol及其他工具列表保留。 未授权的原生图形不重绘。原配色完整保留，text统一装饰文字，unified进一步收敛中性色和装饰背景；身份、特征和真实结构的元素色保留。</a:t>
        </a:r>
      </a:p>
      <a:p>
        <a:r>
          <a:t/>
        </a:r>
      </a:p>
      <a:p>
        <a:r>
          <a:t>**真实坐标、连接键和选择。** `source/candidate_cases.json` 固定16个病例键，连接 `stage3/output/stage3-cases-main/screening/assets/&lt;病例&gt;/arrays.npz` 与 `metadata.json`。`tuned` 是(N,3)的XYZ坐标，单位Å；`element`、`bonds`沿同一原子轴。`metrics.tuned.sample_index`保留原模型自评分首位，不按RMSD换序。四幅采用实例是9BJJ的A1AP0（E:1001）、9LLG的CLR（R:603）、30GA的ATP（L:401）、9WUP的FAD（A:1103），使用沉积受体；全部16例保留在备选页。公开CIF仅补充折叠背景，先与冻结口袋坐标核对，下载地址及散列在source_manifest.json。</a:t>
        </a:r>
      </a:p>
      <a:p>
        <a:r>
          <a:t/>
        </a:r>
      </a:p>
      <a:p>
        <a:r>
          <a:t>**方法图实例与显示。** 方法图输出为9BJJ、ATP（B:901）、occurrence_id=4、source_blob_index=0、sample_index=21的原首选，受体为CryoAtom2。两处Pocket分别保留Match的blob 10Å包络、Build的Find质心15Å球；sticks仅显示空腔附近的输入原子，外围cartoon提供结构背景。scheme1含辅助半透明surface，2B无surface，cartoon版从输出仅隐藏配体且关闭全部sticks。三种表示共用相机、1500×1100画布和透明裁边矩形。`render_manifest.json`保存原子选择、自排序下标、相机及坐标对应核对，`selection.json`保存四例选择和裁边。Fig1的9HJX背景与候选连线、Fig2全局blob是架构示意，真实pose的病例身份独立列明。</a:t>
        </a:r>
      </a:p>
      <a:p>
        <a:r>
          <a:t/>
        </a:r>
      </a:p>
      <a:p>
        <a:r>
          <a:t>**完整重建、版本与检查。** 本轮从仓库根执行 `D:/Anaconda/python.exe -X utf8 -B 转换工具/ops/rebuild_figures.py --figure fig-method-v9-unified --generated-captions`；新图注随本轮编号与实例更新。以后只重建图形时默认不加该选项，沿用正式PPT中的作者图注。运行依次准备几何、PyMOL原生重渲染、Artifact Tool组件和PPT装配，Python与Node屏蔽旧temp并禁止改写冻结输入。作者原始两页、两轮手绘及后续五张布局反馈保存在source。生成留档位于 `画图/画图代码/e2e/output/fig12-revision/regenerated`。检查覆盖540个原生组件、Match块内布局、编号与交叉直线、预览大小、面板边界、两份备选页一致性、PowerPoint逐页导出、正文实际宽度下字体、碰撞与PDF对齐；图内B标签叠加原生三维背景按作者要求单独审读。本轮完整重建与逐页审读已通过，实际发布及正文编译证据见 `talk/fig12_revision_20261026/执行记录.md`。</a:t>
        </a:r>
      </a:p>
    </p188:txBody>
  </p188:cm>
</p188:cmLst>
</file>

<file path=ppt/comments/modernComment_104_D1BA0CEE.xml><?xml version="1.0" encoding="utf-8"?>
<p188:cmLst xmlns:a="http://schemas.openxmlformats.org/drawingml/2006/main" xmlns:r="http://schemas.openxmlformats.org/officeDocument/2006/relationships" xmlns:p188="http://schemas.microsoft.com/office/powerpoint/2018/8/main">
  <p188:cm id="{FE712C0E-5422-4818-88D5-845D43010D84}" authorId="{D3F71A66-0C34-DF1A-5236-FECDBC820DCB}" created="2026-10-22T02:42:32.147">
    <pc:sldMkLst xmlns:pc="http://schemas.microsoft.com/office/powerpoint/2013/main/command">
      <pc:docMk/>
      <pc:sldMk cId="3763289320" sldId="256"/>
    </pc:sldMkLst>
    <p188:txBody>
      <a:bodyPr/>
      <a:lstStyle/>
      <a:p>
        <a:r>
          <a:t>@@fig-method-v9-EDITING-5</a:t>
        </a:r>
      </a:p>
    </p188:txBody>
  </p188:cm>
  <p188:cm id="{396A21D9-3035-47FC-B3FC-05DCEA3D31D3}" authorId="{D3F71A66-0C34-DF1A-5236-FECDBC820DCB}" created="2026-10-26T07:11:39.638Z">
    <pc:sldMkLst xmlns:pc="http://schemas.microsoft.com/office/powerpoint/2013/main/command">
      <pc:docMk/>
      <pc:sldMk cId="3763289320" sldId="256"/>
    </pc:sldMkLst>
    <p188:txBody>
      <a:bodyPr/>
      <a:lstStyle/>
      <a:p>
        <a:r>
          <a:t>编辑稿来源副本：fig-method-v9-EDITING-5。复制自 @@fig-method-v9；本页未选入正文。</a:t>
        </a:r>
      </a:p>
      <a:p>
        <a:r>
          <a:t/>
        </a:r>
      </a:p>
      <a:p>
        <a:r>
          <a:t>PROVENANCE v1</a:t>
        </a:r>
      </a:p>
      <a:p>
        <a:r>
          <a:t>id: fig-method-v9</a:t>
        </a:r>
      </a:p>
      <a:p>
        <a:r>
          <a:t>source: 画图/画图代码/e2e/visualization/图表追溯.md</a:t>
        </a:r>
      </a:p>
      <a:p>
        <a:r>
          <a:t/>
        </a:r>
      </a:p>
      <a:p>
        <a:r>
          <a:t>## fig-method-v9｜网络架构：text</a:t>
        </a:r>
      </a:p>
      <a:p>
        <a:r>
          <a:t/>
        </a:r>
      </a:p>
      <a:p>
        <a:r>
          <a:t>**共享关系与本页选择。** 本图与`@@fig-overview_v3`、`@@fig-overview_v3-original`、`@@fig-overview_v3-unified`、`@@fig-overview_v3-components`、`@@fig-method-v9-original`、`@@fig-method-v9-unified`、`@@fig-method-v9-components`共用 `画图/画图代码/e2e/visualization/fig12-revision`。`variant_manifest.json` 按稳定图名选择 `画图/Method总图.pptx` 第1页，配色为 `text`。前三页只切换配色，Pocket固定为2B；第四页提供独立组件，不与配色做交叉总图。共享的是坐标渲染与原生对象装配，不共同计算新的模型结果。</a:t>
        </a:r>
      </a:p>
      <a:p>
        <a:r>
          <a:t/>
        </a:r>
      </a:p>
      <a:p>
        <a:r>
          <a:t>**直接绘图逻辑与边界。** `prepare_geometry.py` 读取合法SMILES及冻结blob体素中心；`render_structures.py` 按原首选坐标在PyMOL重渲染；`build_components.mjs` 仅构造授权的输入、化学身份、匹配直线、图示和组件页；`assemble.py` 直接复用作者的路径、节点、字体及媒体。保留原 embedding 邻域图、受体到体素/点云的输入拓扑、U-Net、PTv3和Match网络。只替换获认可的 density bank 图示。预处理、网络和输出平移分摊间距，Match整块平移；a/b左右边界及c上下边界对齐。Find三幅预览使用相同组件框。Build输入相同SMILES、圈出Cc1ccccc1并留上下间距；默认DG-PocketXMol及其他工具列表保留。 未授权的原生图形不重绘。原配色完整保留，text统一装饰文字，unified进一步收敛中性色和装饰背景；身份、特征和真实结构的元素色保留。</a:t>
        </a:r>
      </a:p>
      <a:p>
        <a:r>
          <a:t/>
        </a:r>
      </a:p>
      <a:p>
        <a:r>
          <a:t>**真实坐标、连接键和选择。** `source/candidate_cases.json` 固定16个病例键，连接 `stage3/output/stage3-cases-main/screening/assets/&lt;病例&gt;/arrays.npz` 与 `metadata.json`。`tuned` 是(N,3)的XYZ坐标，单位Å；`element`、`bonds`沿同一原子轴。`metrics.tuned.sample_index`保留原模型自评分首位，不按RMSD换序。四幅采用实例是9BJJ的A1AP0（E:1001）、9LLG的CLR（R:603）、30GA的ATP（L:401）、9WUP的FAD（A:1103），使用沉积受体；全部16例保留在备选页。公开CIF仅补充折叠背景，先与冻结口袋坐标核对，下载地址及散列在source_manifest.json。</a:t>
        </a:r>
      </a:p>
      <a:p>
        <a:r>
          <a:t/>
        </a:r>
      </a:p>
      <a:p>
        <a:r>
          <a:t>**方法图实例与显示。** 方法图输出为9BJJ、ATP（B:901）、occurrence_id=4、source_blob_index=0、sample_index=21的原首选，受体为CryoAtom2。两处Pocket分别保留Match的blob 10Å包络、Build的Find质心15Å球；sticks仅显示空腔附近的输入原子，外围cartoon提供结构背景。scheme1含辅助半透明surface，2B无surface，cartoon版从输出仅隐藏配体且关闭全部sticks。三种表示共用相机、1500×1100画布和透明裁边矩形。`render_manifest.json`保存原子选择、自排序下标、相机及坐标对应核对，`selection.json`保存四例选择和裁边。Fig1的9HJX背景与候选连线、Fig2全局blob是架构示意，真实pose的病例身份独立列明。</a:t>
        </a:r>
      </a:p>
      <a:p>
        <a:r>
          <a:t/>
        </a:r>
      </a:p>
      <a:p>
        <a:r>
          <a:t>**完整重建、版本与检查。** 本轮从仓库根执行 `D:/Anaconda/python.exe -X utf8 -B 转换工具/ops/rebuild_figures.py --figure fig-method-v9 --generated-captions`；新图注随本轮编号与实例更新。以后只重建图形时默认不加该选项，沿用正式PPT中的作者图注。运行依次准备几何、PyMOL原生重渲染、Artifact Tool组件和PPT装配，Python与Node屏蔽旧temp并禁止改写冻结输入。作者原始两页、两轮手绘及后续五张布局反馈保存在source。生成留档位于 `画图/画图代码/e2e/output/fig12-revision/regenerated`。检查覆盖540个原生组件、Match块内布局、编号与交叉直线、预览大小、面板边界、两份备选页一致性、PowerPoint逐页导出、正文实际宽度下字体、碰撞与PDF对齐；图内B标签叠加原生三维背景按作者要求单独审读。本轮完整重建与逐页审读已通过，实际发布及正文编译证据见 `talk/fig12_revision_20261026/执行记录.md`。</a:t>
        </a:r>
      </a:p>
    </p188:txBody>
  </p188:cm>
</p188:cmLst>
</file>

<file path=ppt/comments/modernComment_105_2BBB712B.xml><?xml version="1.0" encoding="utf-8"?>
<p188:cmLst xmlns:a="http://schemas.openxmlformats.org/drawingml/2006/main" xmlns:r="http://schemas.openxmlformats.org/officeDocument/2006/relationships" xmlns:p188="http://schemas.microsoft.com/office/powerpoint/2018/8/main">
  <p188:cm id="{C03A6028-4ADF-41D2-B8AC-8968191B0EE2}" authorId="{D3F71A66-0C34-DF1A-5236-FECDBC820DCB}" created="2026-10-28T10:16:25.868Z">
    <pc:sldMkLst xmlns:pc="http://schemas.microsoft.com/office/powerpoint/2013/main/command">
      <pc:docMk/>
      <pc:sldMk cId="3763289320" sldId="259"/>
    </pc:sldMkLst>
    <p188:txBody>
      <a:bodyPr/>
      <a:lstStyle/>
      <a:p>
        <a:r>
          <a:t>@@fig-method-v9-EDITING-4</a:t>
        </a:r>
      </a:p>
    </p188:txBody>
  </p188:cm>
</p188:cmLst>
</file>

<file path=ppt/comments/modernComment_106_24E96010.xml><?xml version="1.0" encoding="utf-8"?>
<p188:cmLst xmlns:a="http://schemas.openxmlformats.org/drawingml/2006/main" xmlns:r="http://schemas.openxmlformats.org/officeDocument/2006/relationships" xmlns:p188="http://schemas.microsoft.com/office/powerpoint/2018/8/main">
  <p188:cm id="{4E25EA19-FE9B-4906-8EE9-709BAEABB45B}" authorId="{D3F71A66-0C34-DF1A-5236-FECDBC820DCB}" created="2026-10-28T10:16:25.898Z">
    <pc:sldMkLst xmlns:pc="http://schemas.microsoft.com/office/powerpoint/2013/main/command">
      <pc:docMk/>
      <pc:sldMk cId="3763289320" sldId="261"/>
    </pc:sldMkLst>
    <p188:txBody>
      <a:bodyPr/>
      <a:lstStyle/>
      <a:p>
        <a:r>
          <a:t>PROVENANCE v1</a:t>
        </a:r>
      </a:p>
      <a:p>
        <a:r>
          <a:t>id: fig-method-ab-a0</a:t>
        </a:r>
      </a:p>
      <a:p>
        <a:r>
          <a:t>source: 画图/画图代码/e2e/visualization/图表追溯.md</a:t>
        </a:r>
      </a:p>
      <a:p>
        <a:r>
          <a:t/>
        </a:r>
      </a:p>
      <a:p>
        <a:r>
          <a:t>## fig-method-ab-a0｜方法图 a、b：A0</a:t>
        </a:r>
      </a:p>
      <a:p>
        <a:r>
          <a:t/>
        </a:r>
      </a:p>
      <a:p>
        <a:r>
          <a:t>**当前展示与本页选择。** 本图为 `画图/Method总图.pptx` 第6页的独立 Find、Match 候选, 保持在原整页画布的相同坐标, 右侧不含 Build。仅修正 Find 与两个 Match encoder 的水平留白, 保留作者原色。 Find 浅蓝、Match 浅绿大背景及其外框保留; 网络立体块、原子与分子图、密度库、特征条、身份矩阵和功能模块区别色保留。</a:t>
        </a:r>
      </a:p>
      <a:p>
        <a:r>
          <a:t/>
        </a:r>
      </a:p>
      <a:p>
        <a:r>
          <a:t>**共享关系与直接入口。** 本图与 `@@fig-method-ab-a1`、`@@fig-method-ab-a2`、`@@fig-method-ab-a3`、`@@fig-method-ab-a4`、`@@fig-method-ab-a5`、`@@fig-method-v9` 共用作者原生对象和冻结媒体, 六张候选使用同一 `method-ab-variants/build_variants.mjs` 的 `extractAB`、间距修正及 `recolour` 过程, 不重建旧版 Fig12 布局。版本由代码 `A0` 和独立图名选择; `render_native.ps1` 对本轮完整 PPT 作 PowerPoint 原生导出, `audit.py` 核对对象、媒体、白名单颜色与间距, `finalize.mjs` 验收 PPT 包、字体、画布和一方导入兼容性。</a:t>
        </a:r>
      </a:p>
      <a:p>
        <a:r>
          <a:t/>
        </a:r>
      </a:p>
      <a:p>
        <a:r>
          <a:t>**输入、坐标与科学边界。** 直接输入为 `e2e/output/method-ab-variants/source/author-20261028-deb03f10.pptx`, SHA-256 为 `deb03f100ba843a6588b1f52849a921b77aee0319409dfca40c53ff0283c7c9f`。它冻结作者当前五页文件, 当前 baseline 是第3页。提取时只移除右侧 c, 不更换既有结构或密度图片; 蛋白、密度与输出的原科学来源仍沿 `@@fig-method-v9` 记录, 本页没有新的实验数值、病例选择或构象预测。页内几何换算使用36000 EMU/mm。Find 按输入卡片和输出卡片平衡两侧间距; Match 按固定分隔线分别平移候选编码器与身份编码器, 仅伸长二者之间已有的 candidate-to-cosine 折线。字体、对象尺寸、相对比例与网络拓扑不变。</a:t>
        </a:r>
      </a:p>
      <a:p>
        <a:r>
          <a:t/>
        </a:r>
      </a:p>
      <a:p>
        <a:r>
          <a:t>**完整重建与核验。** 在仓库根运行 `python -X utf8 -B 转换工具/ops/rebuild_figures.py --figure fig-method-ab-a0 --generated-captions`。每次由冻结输入重新装配全部六个版本, 打开本次只读副本导出, 不读取旧 temp。共同生成物包括 `candidate.pptx`、`operations.json`、`variant_manifest.json`、`native-render.json`、`audit.json` 和验收副本; 指定本图仅选择主回执对象。作者第1、2、3、5页及嵌入媒体保全, 第4页只恢复为 baseline 的完整 a、b 副本。完整运行证据与发布状态见 `talk/method_ab_20261028/执行记录.md`; 本页供作者择优, 未替换正文当前引用。</a:t>
        </a:r>
      </a:p>
    </p188:txBody>
  </p188:cm>
  <p188:cm id="{4F895BDD-0DED-4C2B-AB4A-969F179FC60E}" authorId="{D3F71A66-0C34-DF1A-5236-FECDBC820DCB}" created="2026-10-28T10:16:25.898Z">
    <pc:sldMkLst xmlns:pc="http://schemas.microsoft.com/office/powerpoint/2013/main/command">
      <pc:docMk/>
      <pc:sldMk cId="3763289320" sldId="261"/>
    </pc:sldMkLst>
    <p188:txBody>
      <a:bodyPr/>
      <a:lstStyle/>
      <a:p>
        <a:r>
          <a:t>@@fig-method-ab-a0</a:t>
        </a:r>
      </a:p>
    </p188:txBody>
  </p188:cm>
</p188:cmLst>
</file>

<file path=ppt/comments/modernComment_107_B2520BCC.xml><?xml version="1.0" encoding="utf-8"?>
<p188:cmLst xmlns:a="http://schemas.openxmlformats.org/drawingml/2006/main" xmlns:r="http://schemas.openxmlformats.org/officeDocument/2006/relationships" xmlns:p188="http://schemas.microsoft.com/office/powerpoint/2018/8/main">
  <p188:cm id="{3740DCB0-CA21-47C4-A727-B6BA528B7974}" authorId="{D3F71A66-0C34-DF1A-5236-FECDBC820DCB}" created="2026-10-28T10:16:25.929Z">
    <pc:sldMkLst xmlns:pc="http://schemas.microsoft.com/office/powerpoint/2013/main/command">
      <pc:docMk/>
      <pc:sldMk cId="3763289320" sldId="262"/>
    </pc:sldMkLst>
    <p188:txBody>
      <a:bodyPr/>
      <a:lstStyle/>
      <a:p>
        <a:r>
          <a:t>@@fig-method-ab-a1</a:t>
        </a:r>
      </a:p>
    </p188:txBody>
  </p188:cm>
  <p188:cm id="{BE9B85D1-40C3-4A3C-B3EA-267F16B22331}" authorId="{D3F71A66-0C34-DF1A-5236-FECDBC820DCB}" created="2026-10-28T10:16:25.929Z">
    <pc:sldMkLst xmlns:pc="http://schemas.microsoft.com/office/powerpoint/2013/main/command">
      <pc:docMk/>
      <pc:sldMk cId="3763289320" sldId="262"/>
    </pc:sldMkLst>
    <p188:txBody>
      <a:bodyPr/>
      <a:lstStyle/>
      <a:p>
        <a:r>
          <a:t>PROVENANCE v1</a:t>
        </a:r>
      </a:p>
      <a:p>
        <a:r>
          <a:t>id: fig-method-ab-a1</a:t>
        </a:r>
      </a:p>
      <a:p>
        <a:r>
          <a:t>source: 画图/画图代码/e2e/visualization/图表追溯.md</a:t>
        </a:r>
      </a:p>
      <a:p>
        <a:r>
          <a:t/>
        </a:r>
      </a:p>
      <a:p>
        <a:r>
          <a:t>## fig-method-ab-a1｜方法图 a、b：A1</a:t>
        </a:r>
      </a:p>
      <a:p>
        <a:r>
          <a:t/>
        </a:r>
      </a:p>
      <a:p>
        <a:r>
          <a:t>**当前展示与本页选择。** 本图为 `画图/Method总图.pptx` 第7页的独立 Find、Match 候选, 保持在原整页画布的相同坐标, 右侧不含 Build。在共同间距基准上仅将普通流程箭头收敛为灰色, skip connection 保持较浅的灰色层次。 Find 浅蓝、Match 浅绿大背景及其外框保留; 网络立体块、原子与分子图、密度库、特征条、身份矩阵和功能模块区别色保留。</a:t>
        </a:r>
      </a:p>
      <a:p>
        <a:r>
          <a:t/>
        </a:r>
      </a:p>
      <a:p>
        <a:r>
          <a:t>**共享关系与直接入口。** 本图与 `@@fig-method-ab-a0`、`@@fig-method-ab-a2`、`@@fig-method-ab-a3`、`@@fig-method-ab-a4`、`@@fig-method-ab-a5`、`@@fig-method-v9` 共用作者原生对象和冻结媒体, 六张候选使用同一 `method-ab-variants/build_variants.mjs` 的 `extractAB`、间距修正及 `recolour` 过程, 不重建旧版 Fig12 布局。版本由代码 `A1` 和独立图名选择; `render_native.ps1` 对本轮完整 PPT 作 PowerPoint 原生导出, `audit.py` 核对对象、媒体、白名单颜色与间距, `finalize.mjs` 验收 PPT 包、字体、画布和一方导入兼容性。</a:t>
        </a:r>
      </a:p>
      <a:p>
        <a:r>
          <a:t/>
        </a:r>
      </a:p>
      <a:p>
        <a:r>
          <a:t>**输入、坐标与科学边界。** 直接输入为 `e2e/output/method-ab-variants/source/author-20261028-deb03f10.pptx`, SHA-256 为 `deb03f100ba843a6588b1f52849a921b77aee0319409dfca40c53ff0283c7c9f`。它冻结作者当前五页文件, 当前 baseline 是第3页。提取时只移除右侧 c, 不更换既有结构或密度图片; 蛋白、密度与输出的原科学来源仍沿 `@@fig-method-v9` 记录, 本页没有新的实验数值、病例选择或构象预测。页内几何换算使用36000 EMU/mm。Find 按输入卡片和输出卡片平衡两侧间距; Match 按固定分隔线分别平移候选编码器与身份编码器, 仅伸长二者之间已有的 candidate-to-cosine 折线。字体、对象尺寸、相对比例与网络拓扑不变。</a:t>
        </a:r>
      </a:p>
      <a:p>
        <a:r>
          <a:t/>
        </a:r>
      </a:p>
      <a:p>
        <a:r>
          <a:t>**完整重建与核验。** 在仓库根运行 `python -X utf8 -B 转换工具/ops/rebuild_figures.py --figure fig-method-ab-a1 --generated-captions`。每次由冻结输入重新装配全部六个版本, 打开本次只读副本导出, 不读取旧 temp。共同生成物包括 `candidate.pptx`、`operations.json`、`variant_manifest.json`、`native-render.json`、`audit.json` 和验收副本; 指定本图仅选择主回执对象。作者第1、2、3、5页及嵌入媒体保全, 第4页只恢复为 baseline 的完整 a、b 副本。完整运行证据与发布状态见 `talk/method_ab_20261028/执行记录.md`; 本页供作者择优, 未替换正文当前引用。</a:t>
        </a:r>
      </a:p>
    </p188:txBody>
  </p188:cm>
</p188:cmLst>
</file>

<file path=ppt/comments/modernComment_108_2CD6C5BB.xml><?xml version="1.0" encoding="utf-8"?>
<p188:cmLst xmlns:a="http://schemas.openxmlformats.org/drawingml/2006/main" xmlns:r="http://schemas.openxmlformats.org/officeDocument/2006/relationships" xmlns:p188="http://schemas.microsoft.com/office/powerpoint/2018/8/main">
  <p188:cm id="{6C4F6D22-B96E-4801-BDC0-E06DE7798005}" authorId="{D3F71A66-0C34-DF1A-5236-FECDBC820DCB}" created="2026-10-28T10:16:25.959Z">
    <pc:sldMkLst xmlns:pc="http://schemas.microsoft.com/office/powerpoint/2013/main/command">
      <pc:docMk/>
      <pc:sldMk cId="3763289320" sldId="263"/>
    </pc:sldMkLst>
    <p188:txBody>
      <a:bodyPr/>
      <a:lstStyle/>
      <a:p>
        <a:r>
          <a:t>@@fig-method-ab-a2</a:t>
        </a:r>
      </a:p>
    </p188:txBody>
  </p188:cm>
  <p188:cm id="{88A92A9D-6A72-4AED-BFFB-BF7F6B64FCC6}" authorId="{D3F71A66-0C34-DF1A-5236-FECDBC820DCB}" created="2026-10-28T10:16:25.959Z">
    <pc:sldMkLst xmlns:pc="http://schemas.microsoft.com/office/powerpoint/2013/main/command">
      <pc:docMk/>
      <pc:sldMk cId="3763289320" sldId="263"/>
    </pc:sldMkLst>
    <p188:txBody>
      <a:bodyPr/>
      <a:lstStyle/>
      <a:p>
        <a:r>
          <a:t>PROVENANCE v1</a:t>
        </a:r>
      </a:p>
      <a:p>
        <a:r>
          <a:t>id: fig-method-ab-a2</a:t>
        </a:r>
      </a:p>
      <a:p>
        <a:r>
          <a:t>source: 画图/画图代码/e2e/visualization/图表追溯.md</a:t>
        </a:r>
      </a:p>
      <a:p>
        <a:r>
          <a:t/>
        </a:r>
      </a:p>
      <a:p>
        <a:r>
          <a:t>## fig-method-ab-a2｜方法图 a、b：A2</a:t>
        </a:r>
      </a:p>
      <a:p>
        <a:r>
          <a:t/>
        </a:r>
      </a:p>
      <a:p>
        <a:r>
          <a:t>**当前展示与本页选择。** 本图为 `画图/Method总图.pptx` 第8页的独立 Find、Match 候选, 保持在原整页画布的相同坐标, 右侧不含 Build。在共同间距基准上仅将非功能性内部容器的边框与分隔线收敛为灰色。 Find 浅蓝、Match 浅绿大背景及其外框保留; 网络立体块、原子与分子图、密度库、特征条、身份矩阵和功能模块区别色保留。</a:t>
        </a:r>
      </a:p>
      <a:p>
        <a:r>
          <a:t/>
        </a:r>
      </a:p>
      <a:p>
        <a:r>
          <a:t>**共享关系与直接入口。** 本图与 `@@fig-method-ab-a0`、`@@fig-method-ab-a1`、`@@fig-method-ab-a3`、`@@fig-method-ab-a4`、`@@fig-method-ab-a5`、`@@fig-method-v9` 共用作者原生对象和冻结媒体, 六张候选使用同一 `method-ab-variants/build_variants.mjs` 的 `extractAB`、间距修正及 `recolour` 过程, 不重建旧版 Fig12 布局。版本由代码 `A2` 和独立图名选择; `render_native.ps1` 对本轮完整 PPT 作 PowerPoint 原生导出, `audit.py` 核对对象、媒体、白名单颜色与间距, `finalize.mjs` 验收 PPT 包、字体、画布和一方导入兼容性。</a:t>
        </a:r>
      </a:p>
      <a:p>
        <a:r>
          <a:t/>
        </a:r>
      </a:p>
      <a:p>
        <a:r>
          <a:t>**输入、坐标与科学边界。** 直接输入为 `e2e/output/method-ab-variants/source/author-20261028-deb03f10.pptx`, SHA-256 为 `deb03f100ba843a6588b1f52849a921b77aee0319409dfca40c53ff0283c7c9f`。它冻结作者当前五页文件, 当前 baseline 是第3页。提取时只移除右侧 c, 不更换既有结构或密度图片; 蛋白、密度与输出的原科学来源仍沿 `@@fig-method-v9` 记录, 本页没有新的实验数值、病例选择或构象预测。页内几何换算使用36000 EMU/mm。Find 按输入卡片和输出卡片平衡两侧间距; Match 按固定分隔线分别平移候选编码器与身份编码器, 仅伸长二者之间已有的 candidate-to-cosine 折线。字体、对象尺寸、相对比例与网络拓扑不变。</a:t>
        </a:r>
      </a:p>
      <a:p>
        <a:r>
          <a:t/>
        </a:r>
      </a:p>
      <a:p>
        <a:r>
          <a:t>**完整重建与核验。** 在仓库根运行 `python -X utf8 -B 转换工具/ops/rebuild_figures.py --figure fig-method-ab-a2 --generated-captions`。每次由冻结输入重新装配全部六个版本, 打开本次只读副本导出, 不读取旧 temp。共同生成物包括 `candidate.pptx`、`operations.json`、`variant_manifest.json`、`native-render.json`、`audit.json` 和验收副本; 指定本图仅选择主回执对象。作者第1、2、3、5页及嵌入媒体保全, 第4页只恢复为 baseline 的完整 a、b 副本。完整运行证据与发布状态见 `talk/method_ab_20261028/执行记录.md`; 本页供作者择优, 未替换正文当前引用。</a:t>
        </a:r>
      </a:p>
    </p188:txBody>
  </p188:cm>
</p188:cmLst>
</file>

<file path=ppt/comments/modernComment_109_DE080B57.xml><?xml version="1.0" encoding="utf-8"?>
<p188:cmLst xmlns:a="http://schemas.openxmlformats.org/drawingml/2006/main" xmlns:r="http://schemas.openxmlformats.org/officeDocument/2006/relationships" xmlns:p188="http://schemas.microsoft.com/office/powerpoint/2018/8/main">
  <p188:cm id="{46420B4E-1153-4705-B91C-B1E63FD0F696}" authorId="{D3F71A66-0C34-DF1A-5236-FECDBC820DCB}" created="2026-10-28T10:16:25.991Z">
    <pc:sldMkLst xmlns:pc="http://schemas.microsoft.com/office/powerpoint/2013/main/command">
      <pc:docMk/>
      <pc:sldMk cId="3763289320" sldId="264"/>
    </pc:sldMkLst>
    <p188:txBody>
      <a:bodyPr/>
      <a:lstStyle/>
      <a:p>
        <a:r>
          <a:t>PROVENANCE v1</a:t>
        </a:r>
      </a:p>
      <a:p>
        <a:r>
          <a:t>id: fig-method-ab-a3</a:t>
        </a:r>
      </a:p>
      <a:p>
        <a:r>
          <a:t>source: 画图/画图代码/e2e/visualization/图表追溯.md</a:t>
        </a:r>
      </a:p>
      <a:p>
        <a:r>
          <a:t/>
        </a:r>
      </a:p>
      <a:p>
        <a:r>
          <a:t>## fig-method-ab-a3｜方法图 a、b：A3</a:t>
        </a:r>
      </a:p>
      <a:p>
        <a:r>
          <a:t/>
        </a:r>
      </a:p>
      <a:p>
        <a:r>
          <a:t>**当前展示与本页选择。** 本图为 `画图/Method总图.pptx` 第9页的独立 Find、Match 候选, 保持在原整页画布的相同坐标, 右侧不含 Build。在 A2 的内部边框基础上收敛非功能性容器填充; 白色卡片仍为白色。 Find 浅蓝、Match 浅绿大背景及其外框保留; 网络立体块、原子与分子图、密度库、特征条、身份矩阵和功能模块区别色保留。</a:t>
        </a:r>
      </a:p>
      <a:p>
        <a:r>
          <a:t/>
        </a:r>
      </a:p>
      <a:p>
        <a:r>
          <a:t>**共享关系与直接入口。** 本图与 `@@fig-method-ab-a0`、`@@fig-method-ab-a1`、`@@fig-method-ab-a2`、`@@fig-method-ab-a4`、`@@fig-method-ab-a5`、`@@fig-method-v9` 共用作者原生对象和冻结媒体, 六张候选使用同一 `method-ab-variants/build_variants.mjs` 的 `extractAB`、间距修正及 `recolour` 过程, 不重建旧版 Fig12 布局。版本由代码 `A3` 和独立图名选择; `render_native.ps1` 对本轮完整 PPT 作 PowerPoint 原生导出, `audit.py` 核对对象、媒体、白名单颜色与间距, `finalize.mjs` 验收 PPT 包、字体、画布和一方导入兼容性。</a:t>
        </a:r>
      </a:p>
      <a:p>
        <a:r>
          <a:t/>
        </a:r>
      </a:p>
      <a:p>
        <a:r>
          <a:t>**输入、坐标与科学边界。** 直接输入为 `e2e/output/method-ab-variants/source/author-20261028-deb03f10.pptx`, SHA-256 为 `deb03f100ba843a6588b1f52849a921b77aee0319409dfca40c53ff0283c7c9f`。它冻结作者当前五页文件, 当前 baseline 是第3页。提取时只移除右侧 c, 不更换既有结构或密度图片; 蛋白、密度与输出的原科学来源仍沿 `@@fig-method-v9` 记录, 本页没有新的实验数值、病例选择或构象预测。页内几何换算使用36000 EMU/mm。Find 按输入卡片和输出卡片平衡两侧间距; Match 按固定分隔线分别平移候选编码器与身份编码器, 仅伸长二者之间已有的 candidate-to-cosine 折线。字体、对象尺寸、相对比例与网络拓扑不变。</a:t>
        </a:r>
      </a:p>
      <a:p>
        <a:r>
          <a:t/>
        </a:r>
      </a:p>
      <a:p>
        <a:r>
          <a:t>**完整重建与核验。** 在仓库根运行 `python -X utf8 -B 转换工具/ops/rebuild_figures.py --figure fig-method-ab-a3 --generated-captions`。每次由冻结输入重新装配全部六个版本, 打开本次只读副本导出, 不读取旧 temp。共同生成物包括 `candidate.pptx`、`operations.json`、`variant_manifest.json`、`native-render.json`、`audit.json` 和验收副本; 指定本图仅选择主回执对象。作者第1、2、3、5页及嵌入媒体保全, 第4页只恢复为 baseline 的完整 a、b 副本。完整运行证据与发布状态见 `talk/method_ab_20261028/执行记录.md`; 本页供作者择优, 未替换正文当前引用。</a:t>
        </a:r>
      </a:p>
    </p188:txBody>
  </p188:cm>
  <p188:cm id="{87BCE2B7-85C3-4A35-8980-585189D95AF5}" authorId="{D3F71A66-0C34-DF1A-5236-FECDBC820DCB}" created="2026-10-28T10:16:25.991Z">
    <pc:sldMkLst xmlns:pc="http://schemas.microsoft.com/office/powerpoint/2013/main/command">
      <pc:docMk/>
      <pc:sldMk cId="3763289320" sldId="264"/>
    </pc:sldMkLst>
    <p188:txBody>
      <a:bodyPr/>
      <a:lstStyle/>
      <a:p>
        <a:r>
          <a:t>@@fig-method-ab-a3</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4FE49-5DA4-F327-2341-5C6C9A47D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E64168-A7DD-66D7-17F1-61CBA01325E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BCD1279-D9F3-0200-5439-F3BEE5F15F1C}"/>
              </a:ext>
            </a:extLst>
          </p:cNvPr>
          <p:cNvSpPr>
            <a:spLocks noGrp="1"/>
          </p:cNvSpPr>
          <p:nvPr>
            <p:ph type="body" sz="quarter" idx="3"/>
          </p:nvPr>
        </p:nvSpPr>
        <p:spPr/>
        <p:txBody>
          <a:bodyPr/>
          <a:lstStyle/>
          <a:p>
            <a:r>
              <a:rPr lang="en-US" altLang="zh-CN" dirty="0" err="1"/>
              <a:t>LigandSeek</a:t>
            </a:r>
            <a:r>
              <a:rPr lang="en-US" altLang="zh-CN" dirty="0"/>
              <a:t> Find–Match–Build </a:t>
            </a:r>
            <a:r>
              <a:rPr lang="zh-CN" altLang="en-US" dirty="0"/>
              <a:t>框架的网络架构和数据流。</a:t>
            </a:r>
          </a:p>
          <a:p>
            <a:r>
              <a:rPr lang="en-US" altLang="zh-CN" dirty="0"/>
              <a:t>a</a:t>
            </a:r>
            <a:r>
              <a:rPr lang="zh-CN" altLang="en-US" dirty="0"/>
              <a:t>，</a:t>
            </a:r>
            <a:r>
              <a:rPr lang="en-US" altLang="zh-CN" dirty="0"/>
              <a:t>Find </a:t>
            </a:r>
            <a:r>
              <a:rPr lang="zh-CN" altLang="en-US" dirty="0"/>
              <a:t>部分对密度和受体信息进行编码，生成候选配体区域（</a:t>
            </a:r>
            <a:r>
              <a:rPr lang="en-US" altLang="zh-CN" dirty="0"/>
              <a:t>$\</a:t>
            </a:r>
            <a:r>
              <a:rPr lang="en-US" altLang="zh-CN" dirty="0" err="1"/>
              <a:t>mathbb</a:t>
            </a:r>
            <a:r>
              <a:rPr lang="en-US" altLang="zh-CN" dirty="0"/>
              <a:t>{R}^3$ </a:t>
            </a:r>
            <a:r>
              <a:rPr lang="zh-CN" altLang="en-US" dirty="0"/>
              <a:t>中的 </a:t>
            </a:r>
            <a:r>
              <a:rPr lang="en-US" altLang="zh-CN" dirty="0"/>
              <a:t>blob</a:t>
            </a:r>
            <a:r>
              <a:rPr lang="zh-CN" altLang="en-US" dirty="0"/>
              <a:t>）和辅助特征。受体嵌入头对原子表示进行编码并提供它。</a:t>
            </a:r>
            <a:r>
              <a:rPr lang="en-US" altLang="zh-CN" dirty="0"/>
              <a:t>3D </a:t>
            </a:r>
            <a:r>
              <a:rPr lang="zh-CN" altLang="en-US" dirty="0"/>
              <a:t>体素 </a:t>
            </a:r>
            <a:r>
              <a:rPr lang="en-US" altLang="zh-CN" dirty="0"/>
              <a:t>U-Net </a:t>
            </a:r>
            <a:r>
              <a:rPr lang="zh-CN" altLang="en-US" dirty="0"/>
              <a:t>和 </a:t>
            </a:r>
            <a:r>
              <a:rPr lang="en-US" altLang="zh-CN" dirty="0"/>
              <a:t>Point Transformer V3 </a:t>
            </a:r>
            <a:r>
              <a:rPr lang="zh-CN" altLang="en-US" dirty="0"/>
              <a:t>结合密度和受体原子特征，并对其进行进一步编码。</a:t>
            </a:r>
            <a:r>
              <a:rPr lang="en-US" altLang="zh-CN" dirty="0"/>
              <a:t>AlphaFold3 </a:t>
            </a:r>
            <a:r>
              <a:rPr lang="zh-CN" altLang="en-US" dirty="0"/>
              <a:t>式的循环机制迭代地优化两个分支的预测结果。</a:t>
            </a:r>
          </a:p>
          <a:p>
            <a:r>
              <a:rPr lang="en-US" altLang="zh-CN" dirty="0"/>
              <a:t>b</a:t>
            </a:r>
            <a:r>
              <a:rPr lang="zh-CN" altLang="en-US" dirty="0"/>
              <a:t>，</a:t>
            </a:r>
            <a:r>
              <a:rPr lang="en-US" altLang="zh-CN" dirty="0"/>
              <a:t>Match </a:t>
            </a:r>
            <a:r>
              <a:rPr lang="zh-CN" altLang="en-US" dirty="0"/>
              <a:t>部分将候选配体分类为前景或背景，并分配配体身份。</a:t>
            </a:r>
            <a:r>
              <a:rPr lang="en-US" altLang="zh-CN" dirty="0"/>
              <a:t>3D U-Net </a:t>
            </a:r>
            <a:r>
              <a:rPr lang="zh-CN" altLang="en-US" dirty="0"/>
              <a:t>对局部体素区域进行编码。池化、交叉注意力机制和 </a:t>
            </a:r>
            <a:r>
              <a:rPr lang="en-US" altLang="zh-CN" dirty="0" err="1"/>
              <a:t>FiLM</a:t>
            </a:r>
            <a:r>
              <a:rPr lang="en-US" altLang="zh-CN" dirty="0"/>
              <a:t> </a:t>
            </a:r>
            <a:r>
              <a:rPr lang="zh-CN" altLang="en-US" dirty="0"/>
              <a:t>将口袋和 </a:t>
            </a:r>
            <a:r>
              <a:rPr lang="en-US" altLang="zh-CN" dirty="0"/>
              <a:t>blob </a:t>
            </a:r>
            <a:r>
              <a:rPr lang="zh-CN" altLang="en-US" dirty="0"/>
              <a:t>信息与 </a:t>
            </a:r>
            <a:r>
              <a:rPr lang="en-US" altLang="zh-CN" dirty="0"/>
              <a:t>Find </a:t>
            </a:r>
            <a:r>
              <a:rPr lang="zh-CN" altLang="en-US" dirty="0"/>
              <a:t>部分的辅助特征整合到候选配体表示中。身份编码器将分子图特征、</a:t>
            </a:r>
            <a:r>
              <a:rPr lang="en-US" altLang="zh-CN" dirty="0"/>
              <a:t>SMI-TED </a:t>
            </a:r>
            <a:r>
              <a:rPr lang="zh-CN" altLang="en-US" dirty="0"/>
              <a:t>语言表示和身份上下文整合到同一个 </a:t>
            </a:r>
            <a:r>
              <a:rPr lang="en-US" altLang="zh-CN" dirty="0"/>
              <a:t>PDB </a:t>
            </a:r>
            <a:r>
              <a:rPr lang="zh-CN" altLang="en-US" dirty="0"/>
              <a:t>条目中。前景头部预测前景概率，余弦评分生成候选配体与身份匹配分数。</a:t>
            </a:r>
          </a:p>
          <a:p>
            <a:r>
              <a:rPr lang="en-US" altLang="zh-CN" dirty="0"/>
              <a:t>c</a:t>
            </a:r>
            <a:r>
              <a:rPr lang="zh-CN" altLang="en-US" dirty="0"/>
              <a:t>，构建过程利用结合位点、</a:t>
            </a:r>
            <a:r>
              <a:rPr lang="en-US" altLang="zh-CN" dirty="0"/>
              <a:t>SMILES </a:t>
            </a:r>
            <a:r>
              <a:rPr lang="zh-CN" altLang="en-US" dirty="0"/>
              <a:t>标识符、口袋和密度信息以及下游对接工具，重建全原子配体姿态。默认选项为 </a:t>
            </a:r>
            <a:r>
              <a:rPr lang="en-US" altLang="zh-CN" dirty="0" err="1"/>
              <a:t>PocketXMol</a:t>
            </a:r>
            <a:r>
              <a:rPr lang="en-US" altLang="zh-CN" dirty="0"/>
              <a:t>-tuned</a:t>
            </a:r>
            <a:r>
              <a:rPr lang="zh-CN" altLang="en-US" dirty="0"/>
              <a:t>。</a:t>
            </a:r>
            <a:endParaRPr lang="en-US" altLang="zh-CN" dirty="0"/>
          </a:p>
          <a:p>
            <a:endParaRPr lang="en-US" altLang="zh-CN" dirty="0"/>
          </a:p>
          <a:p>
            <a:r>
              <a:rPr lang="en-US" altLang="zh-CN" b="1" dirty="0"/>
              <a:t>ENGLISH:</a:t>
            </a:r>
          </a:p>
          <a:p>
            <a:r>
              <a:rPr lang="en-US" altLang="zh-CN" dirty="0"/>
              <a:t>Network architecture and data flow of the </a:t>
            </a:r>
            <a:r>
              <a:rPr lang="en-US" altLang="zh-CN" dirty="0" err="1"/>
              <a:t>LigandSeek</a:t>
            </a:r>
            <a:r>
              <a:rPr lang="en-US" altLang="zh-CN" dirty="0"/>
              <a:t> Find–Match–Build framework.</a:t>
            </a:r>
          </a:p>
          <a:p>
            <a:r>
              <a:rPr lang="en-US" altLang="zh-CN" b="1" dirty="0"/>
              <a:t>a, </a:t>
            </a:r>
            <a:r>
              <a:rPr lang="en-US" altLang="zh-CN" dirty="0"/>
              <a:t>Find encodes density and receptor information to produce candidate ligand regions (blobs in $\</a:t>
            </a:r>
            <a:r>
              <a:rPr lang="en-US" altLang="zh-CN" dirty="0" err="1"/>
              <a:t>mathbb</a:t>
            </a:r>
            <a:r>
              <a:rPr lang="en-US" altLang="zh-CN" dirty="0"/>
              <a:t>{R}^3$) and auxiliary features. The receptor embedding head encodes and supplies atom representations. A 3D voxel U-Net and Point Transformer V3 combine density and receptor-atom features and further encode them. An AlphaFold3-style recycling mechanism iteratively refines predictions across both branches.</a:t>
            </a:r>
          </a:p>
          <a:p>
            <a:r>
              <a:rPr lang="en-US" altLang="zh-CN" sz="1200" b="1" kern="1200" dirty="0"/>
              <a:t>b, </a:t>
            </a:r>
            <a:r>
              <a:rPr lang="en-US" altLang="zh-CN" dirty="0"/>
              <a:t>Match classifies candidates as foreground or background and assigns ligand identities. A 3D U-Net encodes a local voxel crop. Pooling, cross-attention and </a:t>
            </a:r>
            <a:r>
              <a:rPr lang="en-US" altLang="zh-CN" dirty="0" err="1"/>
              <a:t>FiLM</a:t>
            </a:r>
            <a:r>
              <a:rPr lang="en-US" altLang="zh-CN" dirty="0"/>
              <a:t> integrate pocket and blob information with auxiliary features from Find into the candidate representation. The identity encoder combines molecular graph features, SMI-TED language representations and identity context within the same PDB entry. A foreground head predicts foreground probability, and cosine scoring produces candidate-to-identity matching scores.</a:t>
            </a:r>
          </a:p>
          <a:p>
            <a:r>
              <a:rPr lang="en-US" altLang="zh-CN" sz="1200" b="1" kern="1200" dirty="0"/>
              <a:t>c, </a:t>
            </a:r>
            <a:r>
              <a:rPr lang="en-US" altLang="zh-CN" dirty="0"/>
              <a:t>Build uses the binding site, SMILES identity, pocket and density information with downstream docking tools to reconstruct an all-atom ligand pose. </a:t>
            </a:r>
            <a:r>
              <a:rPr lang="en-US" altLang="zh-CN" dirty="0" err="1"/>
              <a:t>PocketXMol</a:t>
            </a:r>
            <a:r>
              <a:rPr lang="en-US" altLang="zh-CN" dirty="0"/>
              <a:t>-tuned is the default option.</a:t>
            </a:r>
          </a:p>
        </p:txBody>
      </p:sp>
      <p:sp>
        <p:nvSpPr>
          <p:cNvPr id="4" name="Slide Number Placeholder 3">
            <a:extLst>
              <a:ext uri="{FF2B5EF4-FFF2-40B4-BE49-F238E27FC236}">
                <a16:creationId xmlns:a16="http://schemas.microsoft.com/office/drawing/2014/main" id="{B32967F6-10B3-385E-E2B8-A13B6962FBA5}"/>
              </a:ext>
            </a:extLst>
          </p:cNvPr>
          <p:cNvSpPr>
            <a:spLocks noGrp="1"/>
          </p:cNvSpPr>
          <p:nvPr>
            <p:ph type="sldNum" sz="quarter" idx="5"/>
          </p:nvPr>
        </p:nvSpPr>
        <p:spPr/>
      </p:sp>
    </p:spTree>
    <p:extLst>
      <p:ext uri="{BB962C8B-B14F-4D97-AF65-F5344CB8AC3E}">
        <p14:creationId xmlns:p14="http://schemas.microsoft.com/office/powerpoint/2010/main" val="218823217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4FE49-5DA4-F327-2341-5C6C9A47D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E64168-A7DD-66D7-17F1-61CBA01325E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BCD1279-D9F3-0200-5439-F3BEE5F15F1C}"/>
              </a:ext>
            </a:extLst>
          </p:cNvPr>
          <p:cNvSpPr>
            <a:spLocks noGrp="1"/>
          </p:cNvSpPr>
          <p:nvPr>
            <p:ph type="body" sz="quarter" idx="3"/>
          </p:nvPr>
        </p:nvSpPr>
        <p:spPr/>
        <p:txBody>
          <a:bodyPr/>
          <a:lstStyle/>
          <a:p>
            <a:r>
              <a:rPr lang="en-US" altLang="zh-CN" dirty="0" err="1"/>
              <a:t>LigandSeek</a:t>
            </a:r>
            <a:r>
              <a:rPr lang="en-US" altLang="zh-CN" dirty="0"/>
              <a:t> Find–Match–Build </a:t>
            </a:r>
            <a:r>
              <a:rPr lang="zh-CN" altLang="en-US" dirty="0"/>
              <a:t>框架的网络架构和数据流。</a:t>
            </a:r>
          </a:p>
          <a:p>
            <a:r>
              <a:rPr lang="en-US" altLang="zh-CN" dirty="0"/>
              <a:t>a</a:t>
            </a:r>
            <a:r>
              <a:rPr lang="zh-CN" altLang="en-US" dirty="0"/>
              <a:t>，</a:t>
            </a:r>
            <a:r>
              <a:rPr lang="en-US" altLang="zh-CN" dirty="0"/>
              <a:t>Find </a:t>
            </a:r>
            <a:r>
              <a:rPr lang="zh-CN" altLang="en-US" dirty="0"/>
              <a:t>部分对密度和受体信息进行编码，生成候选配体区域（</a:t>
            </a:r>
            <a:r>
              <a:rPr lang="en-US" altLang="zh-CN" dirty="0"/>
              <a:t>$\</a:t>
            </a:r>
            <a:r>
              <a:rPr lang="en-US" altLang="zh-CN" dirty="0" err="1"/>
              <a:t>mathbb</a:t>
            </a:r>
            <a:r>
              <a:rPr lang="en-US" altLang="zh-CN" dirty="0"/>
              <a:t>{R}^3$ </a:t>
            </a:r>
            <a:r>
              <a:rPr lang="zh-CN" altLang="en-US" dirty="0"/>
              <a:t>中的 </a:t>
            </a:r>
            <a:r>
              <a:rPr lang="en-US" altLang="zh-CN" dirty="0"/>
              <a:t>blob</a:t>
            </a:r>
            <a:r>
              <a:rPr lang="zh-CN" altLang="en-US" dirty="0"/>
              <a:t>）和辅助特征。受体嵌入头对原子表示进行编码并提供它。</a:t>
            </a:r>
            <a:r>
              <a:rPr lang="en-US" altLang="zh-CN" dirty="0"/>
              <a:t>3D </a:t>
            </a:r>
            <a:r>
              <a:rPr lang="zh-CN" altLang="en-US" dirty="0"/>
              <a:t>体素 </a:t>
            </a:r>
            <a:r>
              <a:rPr lang="en-US" altLang="zh-CN" dirty="0"/>
              <a:t>U-Net </a:t>
            </a:r>
            <a:r>
              <a:rPr lang="zh-CN" altLang="en-US" dirty="0"/>
              <a:t>和 </a:t>
            </a:r>
            <a:r>
              <a:rPr lang="en-US" altLang="zh-CN" dirty="0"/>
              <a:t>Point Transformer V3 </a:t>
            </a:r>
            <a:r>
              <a:rPr lang="zh-CN" altLang="en-US" dirty="0"/>
              <a:t>结合密度和受体原子特征，并对其进行进一步编码。</a:t>
            </a:r>
            <a:r>
              <a:rPr lang="en-US" altLang="zh-CN" dirty="0"/>
              <a:t>AlphaFold3 </a:t>
            </a:r>
            <a:r>
              <a:rPr lang="zh-CN" altLang="en-US" dirty="0"/>
              <a:t>式的循环机制迭代地优化两个分支的预测结果。</a:t>
            </a:r>
          </a:p>
          <a:p>
            <a:r>
              <a:rPr lang="en-US" altLang="zh-CN" dirty="0"/>
              <a:t>b</a:t>
            </a:r>
            <a:r>
              <a:rPr lang="zh-CN" altLang="en-US" dirty="0"/>
              <a:t>，</a:t>
            </a:r>
            <a:r>
              <a:rPr lang="en-US" altLang="zh-CN" dirty="0"/>
              <a:t>Match </a:t>
            </a:r>
            <a:r>
              <a:rPr lang="zh-CN" altLang="en-US" dirty="0"/>
              <a:t>部分将候选配体分类为前景或背景，并分配配体身份。</a:t>
            </a:r>
            <a:r>
              <a:rPr lang="en-US" altLang="zh-CN" dirty="0"/>
              <a:t>3D U-Net </a:t>
            </a:r>
            <a:r>
              <a:rPr lang="zh-CN" altLang="en-US" dirty="0"/>
              <a:t>对局部体素区域进行编码。池化、交叉注意力机制和 </a:t>
            </a:r>
            <a:r>
              <a:rPr lang="en-US" altLang="zh-CN" dirty="0" err="1"/>
              <a:t>FiLM</a:t>
            </a:r>
            <a:r>
              <a:rPr lang="en-US" altLang="zh-CN" dirty="0"/>
              <a:t> </a:t>
            </a:r>
            <a:r>
              <a:rPr lang="zh-CN" altLang="en-US" dirty="0"/>
              <a:t>将口袋和 </a:t>
            </a:r>
            <a:r>
              <a:rPr lang="en-US" altLang="zh-CN" dirty="0"/>
              <a:t>blob </a:t>
            </a:r>
            <a:r>
              <a:rPr lang="zh-CN" altLang="en-US" dirty="0"/>
              <a:t>信息与 </a:t>
            </a:r>
            <a:r>
              <a:rPr lang="en-US" altLang="zh-CN" dirty="0"/>
              <a:t>Find </a:t>
            </a:r>
            <a:r>
              <a:rPr lang="zh-CN" altLang="en-US" dirty="0"/>
              <a:t>部分的辅助特征整合到候选配体表示中。身份编码器将分子图特征、</a:t>
            </a:r>
            <a:r>
              <a:rPr lang="en-US" altLang="zh-CN" dirty="0"/>
              <a:t>SMI-TED </a:t>
            </a:r>
            <a:r>
              <a:rPr lang="zh-CN" altLang="en-US" dirty="0"/>
              <a:t>语言表示和身份上下文整合到同一个 </a:t>
            </a:r>
            <a:r>
              <a:rPr lang="en-US" altLang="zh-CN" dirty="0"/>
              <a:t>PDB </a:t>
            </a:r>
            <a:r>
              <a:rPr lang="zh-CN" altLang="en-US" dirty="0"/>
              <a:t>条目中。前景头部预测前景概率，余弦评分生成候选配体与身份匹配分数。</a:t>
            </a:r>
          </a:p>
          <a:p>
            <a:r>
              <a:rPr lang="en-US" altLang="zh-CN" dirty="0"/>
              <a:t>c</a:t>
            </a:r>
            <a:r>
              <a:rPr lang="zh-CN" altLang="en-US" dirty="0"/>
              <a:t>，构建过程利用结合位点、</a:t>
            </a:r>
            <a:r>
              <a:rPr lang="en-US" altLang="zh-CN" dirty="0"/>
              <a:t>SMILES </a:t>
            </a:r>
            <a:r>
              <a:rPr lang="zh-CN" altLang="en-US" dirty="0"/>
              <a:t>标识符、口袋和密度信息以及下游对接工具，重建全原子配体姿态。默认选项为 </a:t>
            </a:r>
            <a:r>
              <a:rPr lang="en-US" altLang="zh-CN" dirty="0" err="1"/>
              <a:t>PocketXMol</a:t>
            </a:r>
            <a:r>
              <a:rPr lang="en-US" altLang="zh-CN" dirty="0"/>
              <a:t>-tuned</a:t>
            </a:r>
            <a:r>
              <a:rPr lang="zh-CN" altLang="en-US" dirty="0"/>
              <a:t>。</a:t>
            </a:r>
            <a:endParaRPr lang="en-US" altLang="zh-CN" dirty="0"/>
          </a:p>
          <a:p>
            <a:endParaRPr lang="en-US" altLang="zh-CN" dirty="0"/>
          </a:p>
          <a:p>
            <a:r>
              <a:rPr lang="en-US" altLang="zh-CN" b="1" dirty="0"/>
              <a:t>ENGLISH:</a:t>
            </a:r>
          </a:p>
          <a:p>
            <a:r>
              <a:rPr lang="en-US" altLang="zh-CN" dirty="0"/>
              <a:t>Network architecture and data flow of the </a:t>
            </a:r>
            <a:r>
              <a:rPr lang="en-US" altLang="zh-CN" dirty="0" err="1"/>
              <a:t>LigandSeek</a:t>
            </a:r>
            <a:r>
              <a:rPr lang="en-US" altLang="zh-CN" dirty="0"/>
              <a:t> Find–Match–Build framework.</a:t>
            </a:r>
          </a:p>
          <a:p>
            <a:r>
              <a:rPr lang="en-US" altLang="zh-CN" b="1" dirty="0"/>
              <a:t>a, </a:t>
            </a:r>
            <a:r>
              <a:rPr lang="en-US" altLang="zh-CN" dirty="0"/>
              <a:t>Find encodes density and receptor information to produce candidate ligand regions (blobs in $\</a:t>
            </a:r>
            <a:r>
              <a:rPr lang="en-US" altLang="zh-CN" dirty="0" err="1"/>
              <a:t>mathbb</a:t>
            </a:r>
            <a:r>
              <a:rPr lang="en-US" altLang="zh-CN" dirty="0"/>
              <a:t>{R}^3$) and auxiliary features. The receptor embedding head encodes and supplies atom representations. A 3D voxel U-Net and Point Transformer V3 combine density and receptor-atom features and further encode them. An AlphaFold3-style recycling mechanism iteratively refines predictions across both branches.</a:t>
            </a:r>
          </a:p>
          <a:p>
            <a:r>
              <a:rPr lang="en-US" altLang="zh-CN" sz="1200" b="1" kern="1200" dirty="0"/>
              <a:t>b, </a:t>
            </a:r>
            <a:r>
              <a:rPr lang="en-US" altLang="zh-CN" dirty="0"/>
              <a:t>Match classifies candidates as foreground or background and assigns ligand identities. A 3D U-Net encodes a local voxel crop. Pooling, cross-attention and </a:t>
            </a:r>
            <a:r>
              <a:rPr lang="en-US" altLang="zh-CN" dirty="0" err="1"/>
              <a:t>FiLM</a:t>
            </a:r>
            <a:r>
              <a:rPr lang="en-US" altLang="zh-CN" dirty="0"/>
              <a:t> integrate pocket and blob information with auxiliary features from Find into the candidate representation. The identity encoder combines molecular graph features, SMI-TED language representations and identity context within the same PDB entry. A foreground head predicts foreground probability, and cosine scoring produces candidate-to-identity matching scores.</a:t>
            </a:r>
          </a:p>
          <a:p>
            <a:r>
              <a:rPr lang="en-US" altLang="zh-CN" sz="1200" b="1" kern="1200" dirty="0"/>
              <a:t>c, </a:t>
            </a:r>
            <a:r>
              <a:rPr lang="en-US" altLang="zh-CN" dirty="0"/>
              <a:t>Build uses the binding site, SMILES identity, pocket and density information with downstream docking tools to reconstruct an all-atom ligand pose. </a:t>
            </a:r>
            <a:r>
              <a:rPr lang="en-US" altLang="zh-CN" dirty="0" err="1"/>
              <a:t>PocketXMol</a:t>
            </a:r>
            <a:r>
              <a:rPr lang="en-US" altLang="zh-CN" dirty="0"/>
              <a:t>-tuned is the default option.</a:t>
            </a:r>
          </a:p>
        </p:txBody>
      </p:sp>
      <p:sp>
        <p:nvSpPr>
          <p:cNvPr id="4" name="Slide Number Placeholder 3">
            <a:extLst>
              <a:ext uri="{FF2B5EF4-FFF2-40B4-BE49-F238E27FC236}">
                <a16:creationId xmlns:a16="http://schemas.microsoft.com/office/drawing/2014/main" id="{B32967F6-10B3-385E-E2B8-A13B6962FBA5}"/>
              </a:ext>
            </a:extLst>
          </p:cNvPr>
          <p:cNvSpPr>
            <a:spLocks noGrp="1"/>
          </p:cNvSpPr>
          <p:nvPr>
            <p:ph type="sldNum" sz="quarter" idx="5"/>
          </p:nvPr>
        </p:nvSpPr>
        <p:spPr/>
      </p:sp>
    </p:spTree>
    <p:extLst>
      <p:ext uri="{BB962C8B-B14F-4D97-AF65-F5344CB8AC3E}">
        <p14:creationId xmlns:p14="http://schemas.microsoft.com/office/powerpoint/2010/main" val="218823217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4FE49-5DA4-F327-2341-5C6C9A47D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E64168-A7DD-66D7-17F1-61CBA01325E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BCD1279-D9F3-0200-5439-F3BEE5F15F1C}"/>
              </a:ext>
            </a:extLst>
          </p:cNvPr>
          <p:cNvSpPr>
            <a:spLocks noGrp="1"/>
          </p:cNvSpPr>
          <p:nvPr>
            <p:ph type="body" sz="quarter" idx="3"/>
          </p:nvPr>
        </p:nvSpPr>
        <p:spPr/>
        <p:txBody>
          <a:bodyPr/>
          <a:lstStyle/>
          <a:p>
            <a:r>
              <a:rPr lang="en-US" altLang="zh-CN" dirty="0" err="1"/>
              <a:t>LigandSeek</a:t>
            </a:r>
            <a:r>
              <a:rPr lang="en-US" altLang="zh-CN" dirty="0"/>
              <a:t> Find–Match–Build </a:t>
            </a:r>
            <a:r>
              <a:rPr lang="zh-CN" altLang="en-US" dirty="0"/>
              <a:t>框架的网络架构和数据流。</a:t>
            </a:r>
          </a:p>
          <a:p>
            <a:r>
              <a:rPr lang="en-US" altLang="zh-CN" dirty="0"/>
              <a:t>a</a:t>
            </a:r>
            <a:r>
              <a:rPr lang="zh-CN" altLang="en-US" dirty="0"/>
              <a:t>，</a:t>
            </a:r>
            <a:r>
              <a:rPr lang="en-US" altLang="zh-CN" dirty="0"/>
              <a:t>Find </a:t>
            </a:r>
            <a:r>
              <a:rPr lang="zh-CN" altLang="en-US" dirty="0"/>
              <a:t>部分对密度和受体信息进行编码，生成候选配体区域（</a:t>
            </a:r>
            <a:r>
              <a:rPr lang="en-US" altLang="zh-CN" dirty="0"/>
              <a:t>$\</a:t>
            </a:r>
            <a:r>
              <a:rPr lang="en-US" altLang="zh-CN" dirty="0" err="1"/>
              <a:t>mathbb</a:t>
            </a:r>
            <a:r>
              <a:rPr lang="en-US" altLang="zh-CN" dirty="0"/>
              <a:t>{R}^3$ </a:t>
            </a:r>
            <a:r>
              <a:rPr lang="zh-CN" altLang="en-US" dirty="0"/>
              <a:t>中的 </a:t>
            </a:r>
            <a:r>
              <a:rPr lang="en-US" altLang="zh-CN" dirty="0"/>
              <a:t>blob</a:t>
            </a:r>
            <a:r>
              <a:rPr lang="zh-CN" altLang="en-US" dirty="0"/>
              <a:t>）和辅助特征。受体嵌入头对原子表示进行编码并提供它。</a:t>
            </a:r>
            <a:r>
              <a:rPr lang="en-US" altLang="zh-CN" dirty="0"/>
              <a:t>3D </a:t>
            </a:r>
            <a:r>
              <a:rPr lang="zh-CN" altLang="en-US" dirty="0"/>
              <a:t>体素 </a:t>
            </a:r>
            <a:r>
              <a:rPr lang="en-US" altLang="zh-CN" dirty="0"/>
              <a:t>U-Net </a:t>
            </a:r>
            <a:r>
              <a:rPr lang="zh-CN" altLang="en-US" dirty="0"/>
              <a:t>和 </a:t>
            </a:r>
            <a:r>
              <a:rPr lang="en-US" altLang="zh-CN" dirty="0"/>
              <a:t>Point Transformer V3 </a:t>
            </a:r>
            <a:r>
              <a:rPr lang="zh-CN" altLang="en-US" dirty="0"/>
              <a:t>结合密度和受体原子特征，并对其进行进一步编码。</a:t>
            </a:r>
            <a:r>
              <a:rPr lang="en-US" altLang="zh-CN" dirty="0"/>
              <a:t>AlphaFold3 </a:t>
            </a:r>
            <a:r>
              <a:rPr lang="zh-CN" altLang="en-US" dirty="0"/>
              <a:t>式的循环机制迭代地优化两个分支的预测结果。</a:t>
            </a:r>
          </a:p>
          <a:p>
            <a:r>
              <a:rPr lang="en-US" altLang="zh-CN" dirty="0"/>
              <a:t>b</a:t>
            </a:r>
            <a:r>
              <a:rPr lang="zh-CN" altLang="en-US" dirty="0"/>
              <a:t>，</a:t>
            </a:r>
            <a:r>
              <a:rPr lang="en-US" altLang="zh-CN" dirty="0"/>
              <a:t>Match </a:t>
            </a:r>
            <a:r>
              <a:rPr lang="zh-CN" altLang="en-US" dirty="0"/>
              <a:t>部分将候选配体分类为前景或背景，并分配配体身份。</a:t>
            </a:r>
            <a:r>
              <a:rPr lang="en-US" altLang="zh-CN" dirty="0"/>
              <a:t>3D U-Net </a:t>
            </a:r>
            <a:r>
              <a:rPr lang="zh-CN" altLang="en-US" dirty="0"/>
              <a:t>对局部体素区域进行编码。池化、交叉注意力机制和 </a:t>
            </a:r>
            <a:r>
              <a:rPr lang="en-US" altLang="zh-CN" dirty="0" err="1"/>
              <a:t>FiLM</a:t>
            </a:r>
            <a:r>
              <a:rPr lang="en-US" altLang="zh-CN" dirty="0"/>
              <a:t> </a:t>
            </a:r>
            <a:r>
              <a:rPr lang="zh-CN" altLang="en-US" dirty="0"/>
              <a:t>将口袋和 </a:t>
            </a:r>
            <a:r>
              <a:rPr lang="en-US" altLang="zh-CN" dirty="0"/>
              <a:t>blob </a:t>
            </a:r>
            <a:r>
              <a:rPr lang="zh-CN" altLang="en-US" dirty="0"/>
              <a:t>信息与 </a:t>
            </a:r>
            <a:r>
              <a:rPr lang="en-US" altLang="zh-CN" dirty="0"/>
              <a:t>Find </a:t>
            </a:r>
            <a:r>
              <a:rPr lang="zh-CN" altLang="en-US" dirty="0"/>
              <a:t>部分的辅助特征整合到候选配体表示中。身份编码器将分子图特征、</a:t>
            </a:r>
            <a:r>
              <a:rPr lang="en-US" altLang="zh-CN" dirty="0"/>
              <a:t>SMI-TED </a:t>
            </a:r>
            <a:r>
              <a:rPr lang="zh-CN" altLang="en-US" dirty="0"/>
              <a:t>语言表示和身份上下文整合到同一个 </a:t>
            </a:r>
            <a:r>
              <a:rPr lang="en-US" altLang="zh-CN" dirty="0"/>
              <a:t>PDB </a:t>
            </a:r>
            <a:r>
              <a:rPr lang="zh-CN" altLang="en-US" dirty="0"/>
              <a:t>条目中。前景头部预测前景概率，余弦评分生成候选配体与身份匹配分数。</a:t>
            </a:r>
          </a:p>
          <a:p>
            <a:r>
              <a:rPr lang="en-US" altLang="zh-CN" dirty="0"/>
              <a:t>c</a:t>
            </a:r>
            <a:r>
              <a:rPr lang="zh-CN" altLang="en-US" dirty="0"/>
              <a:t>，构建过程利用结合位点、</a:t>
            </a:r>
            <a:r>
              <a:rPr lang="en-US" altLang="zh-CN" dirty="0"/>
              <a:t>SMILES </a:t>
            </a:r>
            <a:r>
              <a:rPr lang="zh-CN" altLang="en-US" dirty="0"/>
              <a:t>标识符、口袋和密度信息以及下游对接工具，重建全原子配体姿态。默认选项为 </a:t>
            </a:r>
            <a:r>
              <a:rPr lang="en-US" altLang="zh-CN" dirty="0" err="1"/>
              <a:t>PocketXMol</a:t>
            </a:r>
            <a:r>
              <a:rPr lang="en-US" altLang="zh-CN" dirty="0"/>
              <a:t>-tuned</a:t>
            </a:r>
            <a:r>
              <a:rPr lang="zh-CN" altLang="en-US" dirty="0"/>
              <a:t>。</a:t>
            </a:r>
            <a:endParaRPr lang="en-US" altLang="zh-CN" dirty="0"/>
          </a:p>
          <a:p>
            <a:endParaRPr lang="en-US" altLang="zh-CN" dirty="0"/>
          </a:p>
          <a:p>
            <a:r>
              <a:rPr lang="en-US" altLang="zh-CN" b="1" dirty="0"/>
              <a:t>ENGLISH:</a:t>
            </a:r>
          </a:p>
          <a:p>
            <a:r>
              <a:rPr lang="en-US" altLang="zh-CN" dirty="0"/>
              <a:t>Network architecture and data flow of the </a:t>
            </a:r>
            <a:r>
              <a:rPr lang="en-US" altLang="zh-CN" dirty="0" err="1"/>
              <a:t>LigandSeek</a:t>
            </a:r>
            <a:r>
              <a:rPr lang="en-US" altLang="zh-CN" dirty="0"/>
              <a:t> Find–Match–Build framework.</a:t>
            </a:r>
          </a:p>
          <a:p>
            <a:r>
              <a:rPr lang="en-US" altLang="zh-CN" b="1" dirty="0"/>
              <a:t>a, </a:t>
            </a:r>
            <a:r>
              <a:rPr lang="en-US" altLang="zh-CN" dirty="0"/>
              <a:t>Find encodes density and receptor information to produce candidate ligand regions (blobs in $\</a:t>
            </a:r>
            <a:r>
              <a:rPr lang="en-US" altLang="zh-CN" dirty="0" err="1"/>
              <a:t>mathbb</a:t>
            </a:r>
            <a:r>
              <a:rPr lang="en-US" altLang="zh-CN" dirty="0"/>
              <a:t>{R}^3$) and auxiliary features. The receptor embedding head encodes and supplies atom representations. A 3D voxel U-Net and Point Transformer V3 combine density and receptor-atom features and further encode them. An AlphaFold3-style recycling mechanism iteratively refines predictions across both branches.</a:t>
            </a:r>
          </a:p>
          <a:p>
            <a:r>
              <a:rPr lang="en-US" altLang="zh-CN" sz="1200" b="1" kern="1200" dirty="0"/>
              <a:t>b, </a:t>
            </a:r>
            <a:r>
              <a:rPr lang="en-US" altLang="zh-CN" dirty="0"/>
              <a:t>Match classifies candidates as foreground or background and assigns ligand identities. A 3D U-Net encodes a local voxel crop. Pooling, cross-attention and </a:t>
            </a:r>
            <a:r>
              <a:rPr lang="en-US" altLang="zh-CN" dirty="0" err="1"/>
              <a:t>FiLM</a:t>
            </a:r>
            <a:r>
              <a:rPr lang="en-US" altLang="zh-CN" dirty="0"/>
              <a:t> integrate pocket and blob information with auxiliary features from Find into the candidate representation. The identity encoder combines molecular graph features, SMI-TED language representations and identity context within the same PDB entry. A foreground head predicts foreground probability, and cosine scoring produces candidate-to-identity matching scores.</a:t>
            </a:r>
          </a:p>
          <a:p>
            <a:r>
              <a:rPr lang="en-US" altLang="zh-CN" sz="1200" b="1" kern="1200" dirty="0"/>
              <a:t>c, </a:t>
            </a:r>
            <a:r>
              <a:rPr lang="en-US" altLang="zh-CN" dirty="0"/>
              <a:t>Build uses the binding site, SMILES identity, pocket and density information with downstream docking tools to reconstruct an all-atom ligand pose. </a:t>
            </a:r>
            <a:r>
              <a:rPr lang="en-US" altLang="zh-CN" dirty="0" err="1"/>
              <a:t>PocketXMol</a:t>
            </a:r>
            <a:r>
              <a:rPr lang="en-US" altLang="zh-CN" dirty="0"/>
              <a:t>-tuned is the default option.</a:t>
            </a:r>
          </a:p>
        </p:txBody>
      </p:sp>
      <p:sp>
        <p:nvSpPr>
          <p:cNvPr id="4" name="Slide Number Placeholder 3">
            <a:extLst>
              <a:ext uri="{FF2B5EF4-FFF2-40B4-BE49-F238E27FC236}">
                <a16:creationId xmlns:a16="http://schemas.microsoft.com/office/drawing/2014/main" id="{B32967F6-10B3-385E-E2B8-A13B6962FBA5}"/>
              </a:ext>
            </a:extLst>
          </p:cNvPr>
          <p:cNvSpPr>
            <a:spLocks noGrp="1"/>
          </p:cNvSpPr>
          <p:nvPr>
            <p:ph type="sldNum" sz="quarter" idx="5"/>
          </p:nvPr>
        </p:nvSpPr>
        <p:spPr/>
      </p:sp>
    </p:spTree>
    <p:extLst>
      <p:ext uri="{BB962C8B-B14F-4D97-AF65-F5344CB8AC3E}">
        <p14:creationId xmlns:p14="http://schemas.microsoft.com/office/powerpoint/2010/main" val="218823217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4FE49-5DA4-F327-2341-5C6C9A47D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E64168-A7DD-66D7-17F1-61CBA01325E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BCD1279-D9F3-0200-5439-F3BEE5F15F1C}"/>
              </a:ext>
            </a:extLst>
          </p:cNvPr>
          <p:cNvSpPr>
            <a:spLocks noGrp="1"/>
          </p:cNvSpPr>
          <p:nvPr>
            <p:ph type="body" sz="quarter" idx="3"/>
          </p:nvPr>
        </p:nvSpPr>
        <p:spPr/>
        <p:txBody>
          <a:bodyPr/>
          <a:lstStyle/>
          <a:p>
            <a:r>
              <a:t>LigandSeek-Find 与 LigandSeek-Match 的网络架构和数据流。</a:t>
            </a:r>
          </a:p>
          <a:p>
            <a:r>
              <a:t>a，Find 对密度和受体信息进行编码，生成候选配体区域和辅助特征。三维 U-Net 与 Point Transformer V3 结合密度和受体原子特征，并通过迭代回收机制更新表示。</a:t>
            </a:r>
          </a:p>
          <a:p>
            <a:r>
              <a:t>b，Match 通过候选编码器和身份编码器进行前景判别与配体身份匹配。候选编码器融合局部密度、口袋、候选区域及辅助特征；身份编码器整合分子图、SMI-TED 表示及同一 PDB 条目中的身份上下文。前景头预测前景概率，余弦评分给出候选与身份的匹配分数。</a:t>
            </a:r>
          </a:p>
          <a:p>
            <a:r>
              <a:t>ENGLISH:</a:t>
            </a:r>
          </a:p>
          <a:p>
            <a:r>
              <a:t>Network architecture and data flow of LigandSeek-Find and LigandSeek-Match.</a:t>
            </a:r>
          </a:p>
          <a:p>
            <a:r>
              <a:t>a, Find encodes density and receptor information to produce candidate ligand regions and auxiliary features. A 3D U-Net and Point Transformer V3 combine density and receptor-atom features, with recycling to update representations.</a:t>
            </a:r>
          </a:p>
          <a:p>
            <a:r>
              <a:t>b, Match uses candidate and identity encoders for foreground classification and ligand identity matching. The candidate encoder combines local density, pocket, candidate-region and auxiliary features. The identity encoder integrates molecular graphs, SMI-TED representations and identity context within the same PDB entry. A foreground head predicts foreground probability, and cosine scoring produces candidate-to-identity matching scores.</a:t>
            </a:r>
          </a:p>
        </p:txBody>
      </p:sp>
      <p:sp>
        <p:nvSpPr>
          <p:cNvPr id="4" name="Slide Number Placeholder 3">
            <a:extLst>
              <a:ext uri="{FF2B5EF4-FFF2-40B4-BE49-F238E27FC236}">
                <a16:creationId xmlns:a16="http://schemas.microsoft.com/office/drawing/2014/main" id="{B32967F6-10B3-385E-E2B8-A13B6962FBA5}"/>
              </a:ext>
            </a:extLst>
          </p:cNvPr>
          <p:cNvSpPr>
            <a:spLocks noGrp="1"/>
          </p:cNvSpPr>
          <p:nvPr>
            <p:ph type="sldNum" sz="quarter" idx="5"/>
          </p:nvPr>
        </p:nvSpPr>
        <p:spPr/>
      </p:sp>
    </p:spTree>
    <p:extLst>
      <p:ext uri="{BB962C8B-B14F-4D97-AF65-F5344CB8AC3E}">
        <p14:creationId xmlns:p14="http://schemas.microsoft.com/office/powerpoint/2010/main" val="4407337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2FF6BC-628B-87E4-3031-4A559211E4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27DE87-09EC-2A47-EC1B-A7BB908DF3D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990EE821-D0FD-3BBB-5363-C6BD85C6C2EC}"/>
              </a:ext>
            </a:extLst>
          </p:cNvPr>
          <p:cNvSpPr>
            <a:spLocks noGrp="1"/>
          </p:cNvSpPr>
          <p:nvPr>
            <p:ph type="body" sz="quarter" idx="3"/>
          </p:nvPr>
        </p:nvSpPr>
        <p:spPr/>
        <p:txBody>
          <a:bodyPr/>
          <a:lstStyle/>
          <a:p>
            <a:r>
              <a:rPr lang="en-US" altLang="zh-CN" dirty="0" err="1"/>
              <a:t>LigandSeek</a:t>
            </a:r>
            <a:r>
              <a:rPr lang="en-US" altLang="zh-CN" dirty="0"/>
              <a:t> Find–Match–Build </a:t>
            </a:r>
            <a:r>
              <a:rPr lang="zh-CN" altLang="en-US" dirty="0"/>
              <a:t>框架的网络架构和数据流。</a:t>
            </a:r>
          </a:p>
          <a:p>
            <a:r>
              <a:rPr lang="en-US" altLang="zh-CN" dirty="0"/>
              <a:t>a</a:t>
            </a:r>
            <a:r>
              <a:rPr lang="zh-CN" altLang="en-US" dirty="0"/>
              <a:t>，</a:t>
            </a:r>
            <a:r>
              <a:rPr lang="en-US" altLang="zh-CN" dirty="0"/>
              <a:t>Find </a:t>
            </a:r>
            <a:r>
              <a:rPr lang="zh-CN" altLang="en-US" dirty="0"/>
              <a:t>部分对密度和受体信息进行编码，生成候选配体区域（</a:t>
            </a:r>
            <a:r>
              <a:rPr lang="en-US" altLang="zh-CN" dirty="0"/>
              <a:t>$\</a:t>
            </a:r>
            <a:r>
              <a:rPr lang="en-US" altLang="zh-CN" dirty="0" err="1"/>
              <a:t>mathbb</a:t>
            </a:r>
            <a:r>
              <a:rPr lang="en-US" altLang="zh-CN" dirty="0"/>
              <a:t>{R}^3$ </a:t>
            </a:r>
            <a:r>
              <a:rPr lang="zh-CN" altLang="en-US" dirty="0"/>
              <a:t>中的 </a:t>
            </a:r>
            <a:r>
              <a:rPr lang="en-US" altLang="zh-CN" dirty="0"/>
              <a:t>blob</a:t>
            </a:r>
            <a:r>
              <a:rPr lang="zh-CN" altLang="en-US" dirty="0"/>
              <a:t>）和辅助特征。受体嵌入头对原子表示进行编码并提供它。</a:t>
            </a:r>
            <a:r>
              <a:rPr lang="en-US" altLang="zh-CN" dirty="0"/>
              <a:t>3D </a:t>
            </a:r>
            <a:r>
              <a:rPr lang="zh-CN" altLang="en-US" dirty="0"/>
              <a:t>体素 </a:t>
            </a:r>
            <a:r>
              <a:rPr lang="en-US" altLang="zh-CN" dirty="0"/>
              <a:t>U-Net </a:t>
            </a:r>
            <a:r>
              <a:rPr lang="zh-CN" altLang="en-US" dirty="0"/>
              <a:t>和 </a:t>
            </a:r>
            <a:r>
              <a:rPr lang="en-US" altLang="zh-CN" dirty="0"/>
              <a:t>Point Transformer V3 </a:t>
            </a:r>
            <a:r>
              <a:rPr lang="zh-CN" altLang="en-US" dirty="0"/>
              <a:t>结合密度和受体原子特征，并对其进行进一步编码。</a:t>
            </a:r>
            <a:r>
              <a:rPr lang="en-US" altLang="zh-CN" dirty="0"/>
              <a:t>AlphaFold3 </a:t>
            </a:r>
            <a:r>
              <a:rPr lang="zh-CN" altLang="en-US" dirty="0"/>
              <a:t>式的循环机制迭代地优化两个分支的预测结果。</a:t>
            </a:r>
          </a:p>
          <a:p>
            <a:r>
              <a:rPr lang="en-US" altLang="zh-CN" dirty="0"/>
              <a:t>b</a:t>
            </a:r>
            <a:r>
              <a:rPr lang="zh-CN" altLang="en-US" dirty="0"/>
              <a:t>，</a:t>
            </a:r>
            <a:r>
              <a:rPr lang="en-US" altLang="zh-CN" dirty="0"/>
              <a:t>Match </a:t>
            </a:r>
            <a:r>
              <a:rPr lang="zh-CN" altLang="en-US" dirty="0"/>
              <a:t>部分将候选配体分类为前景或背景，并分配配体身份。</a:t>
            </a:r>
            <a:r>
              <a:rPr lang="en-US" altLang="zh-CN" dirty="0"/>
              <a:t>3D U-Net </a:t>
            </a:r>
            <a:r>
              <a:rPr lang="zh-CN" altLang="en-US" dirty="0"/>
              <a:t>对局部体素区域进行编码。池化、交叉注意力机制和 </a:t>
            </a:r>
            <a:r>
              <a:rPr lang="en-US" altLang="zh-CN" dirty="0" err="1"/>
              <a:t>FiLM</a:t>
            </a:r>
            <a:r>
              <a:rPr lang="en-US" altLang="zh-CN" dirty="0"/>
              <a:t> </a:t>
            </a:r>
            <a:r>
              <a:rPr lang="zh-CN" altLang="en-US" dirty="0"/>
              <a:t>将口袋和 </a:t>
            </a:r>
            <a:r>
              <a:rPr lang="en-US" altLang="zh-CN" dirty="0"/>
              <a:t>blob </a:t>
            </a:r>
            <a:r>
              <a:rPr lang="zh-CN" altLang="en-US" dirty="0"/>
              <a:t>信息与 </a:t>
            </a:r>
            <a:r>
              <a:rPr lang="en-US" altLang="zh-CN" dirty="0"/>
              <a:t>Find </a:t>
            </a:r>
            <a:r>
              <a:rPr lang="zh-CN" altLang="en-US" dirty="0"/>
              <a:t>部分的辅助特征整合到候选配体表示中。身份编码器将分子图特征、</a:t>
            </a:r>
            <a:r>
              <a:rPr lang="en-US" altLang="zh-CN" dirty="0"/>
              <a:t>SMI-TED </a:t>
            </a:r>
            <a:r>
              <a:rPr lang="zh-CN" altLang="en-US" dirty="0"/>
              <a:t>语言表示和身份上下文整合到同一个 </a:t>
            </a:r>
            <a:r>
              <a:rPr lang="en-US" altLang="zh-CN" dirty="0"/>
              <a:t>PDB </a:t>
            </a:r>
            <a:r>
              <a:rPr lang="zh-CN" altLang="en-US" dirty="0"/>
              <a:t>条目中。前景头部预测前景概率，余弦评分生成候选配体与身份匹配分数。</a:t>
            </a:r>
          </a:p>
          <a:p>
            <a:r>
              <a:rPr lang="en-US" altLang="zh-CN" dirty="0"/>
              <a:t>c</a:t>
            </a:r>
            <a:r>
              <a:rPr lang="zh-CN" altLang="en-US" dirty="0"/>
              <a:t>，构建过程利用结合位点、</a:t>
            </a:r>
            <a:r>
              <a:rPr lang="en-US" altLang="zh-CN" dirty="0"/>
              <a:t>SMILES </a:t>
            </a:r>
            <a:r>
              <a:rPr lang="zh-CN" altLang="en-US" dirty="0"/>
              <a:t>标识符、口袋和密度信息以及下游对接工具，重建全原子配体姿态。默认选项为 </a:t>
            </a:r>
            <a:r>
              <a:rPr lang="en-US" altLang="zh-CN" dirty="0" err="1"/>
              <a:t>PocketXMol</a:t>
            </a:r>
            <a:r>
              <a:rPr lang="en-US" altLang="zh-CN" dirty="0"/>
              <a:t>-tuned</a:t>
            </a:r>
            <a:r>
              <a:rPr lang="zh-CN" altLang="en-US" dirty="0"/>
              <a:t>。</a:t>
            </a:r>
            <a:endParaRPr lang="en-US" altLang="zh-CN" dirty="0"/>
          </a:p>
          <a:p>
            <a:endParaRPr lang="en-US" altLang="zh-CN" dirty="0"/>
          </a:p>
          <a:p>
            <a:r>
              <a:rPr lang="en-US" altLang="zh-CN" b="1" dirty="0"/>
              <a:t>ENGLISH:</a:t>
            </a:r>
          </a:p>
          <a:p>
            <a:r>
              <a:rPr lang="en-US" altLang="zh-CN" dirty="0"/>
              <a:t>Network architecture and data flow of the </a:t>
            </a:r>
            <a:r>
              <a:rPr lang="en-US" altLang="zh-CN" dirty="0" err="1"/>
              <a:t>LigandSeek</a:t>
            </a:r>
            <a:r>
              <a:rPr lang="en-US" altLang="zh-CN" dirty="0"/>
              <a:t> Find–Match–Build framework.</a:t>
            </a:r>
          </a:p>
          <a:p>
            <a:r>
              <a:rPr lang="en-US" altLang="zh-CN" b="1" dirty="0"/>
              <a:t>a, </a:t>
            </a:r>
            <a:r>
              <a:rPr lang="en-US" altLang="zh-CN" dirty="0"/>
              <a:t>Find encodes density and receptor information to produce candidate ligand regions (blobs in $\</a:t>
            </a:r>
            <a:r>
              <a:rPr lang="en-US" altLang="zh-CN" dirty="0" err="1"/>
              <a:t>mathbb</a:t>
            </a:r>
            <a:r>
              <a:rPr lang="en-US" altLang="zh-CN" dirty="0"/>
              <a:t>{R}^3$) and auxiliary features. The receptor embedding head encodes and supplies atom representations. A 3D voxel U-Net and Point Transformer V3 combine density and receptor-atom features and further encode them. An AlphaFold3-style recycling mechanism iteratively refines predictions across both branches.</a:t>
            </a:r>
          </a:p>
          <a:p>
            <a:r>
              <a:rPr lang="en-US" altLang="zh-CN" sz="1200" b="1" kern="1200" dirty="0"/>
              <a:t>b, </a:t>
            </a:r>
            <a:r>
              <a:rPr lang="en-US" altLang="zh-CN" dirty="0"/>
              <a:t>Match classifies candidates as foreground or background and assigns ligand identities. A 3D U-Net encodes a local voxel crop. Pooling, cross-attention and </a:t>
            </a:r>
            <a:r>
              <a:rPr lang="en-US" altLang="zh-CN" dirty="0" err="1"/>
              <a:t>FiLM</a:t>
            </a:r>
            <a:r>
              <a:rPr lang="en-US" altLang="zh-CN" dirty="0"/>
              <a:t> integrate pocket and blob information with auxiliary features from Find into the candidate representation. The identity encoder combines molecular graph features, SMI-TED language representations and identity context within the same PDB entry. A foreground head predicts foreground probability, and cosine scoring produces candidate-to-identity matching scores.</a:t>
            </a:r>
          </a:p>
          <a:p>
            <a:r>
              <a:rPr lang="en-US" altLang="zh-CN" sz="1200" b="1" kern="1200" dirty="0"/>
              <a:t>c, </a:t>
            </a:r>
            <a:r>
              <a:rPr lang="en-US" altLang="zh-CN" dirty="0"/>
              <a:t>Build uses the binding site, SMILES identity, pocket and density information with downstream docking tools to reconstruct an all-atom ligand pose. </a:t>
            </a:r>
            <a:r>
              <a:rPr lang="en-US" altLang="zh-CN" dirty="0" err="1"/>
              <a:t>PocketXMol</a:t>
            </a:r>
            <a:r>
              <a:rPr lang="en-US" altLang="zh-CN" dirty="0"/>
              <a:t>-tuned is the default option.</a:t>
            </a:r>
          </a:p>
        </p:txBody>
      </p:sp>
      <p:sp>
        <p:nvSpPr>
          <p:cNvPr id="4" name="Slide Number Placeholder 3">
            <a:extLst>
              <a:ext uri="{FF2B5EF4-FFF2-40B4-BE49-F238E27FC236}">
                <a16:creationId xmlns:a16="http://schemas.microsoft.com/office/drawing/2014/main" id="{E6EF256E-045F-A942-C0BA-85F6F8D01F90}"/>
              </a:ext>
            </a:extLst>
          </p:cNvPr>
          <p:cNvSpPr>
            <a:spLocks noGrp="1"/>
          </p:cNvSpPr>
          <p:nvPr>
            <p:ph type="sldNum" sz="quarter" idx="5"/>
          </p:nvPr>
        </p:nvSpPr>
        <p:spPr/>
      </p:sp>
    </p:spTree>
    <p:extLst>
      <p:ext uri="{BB962C8B-B14F-4D97-AF65-F5344CB8AC3E}">
        <p14:creationId xmlns:p14="http://schemas.microsoft.com/office/powerpoint/2010/main" val="225478695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4FE49-5DA4-F327-2341-5C6C9A47D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E64168-A7DD-66D7-17F1-61CBA01325E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BCD1279-D9F3-0200-5439-F3BEE5F15F1C}"/>
              </a:ext>
            </a:extLst>
          </p:cNvPr>
          <p:cNvSpPr>
            <a:spLocks noGrp="1"/>
          </p:cNvSpPr>
          <p:nvPr>
            <p:ph type="body" sz="quarter" idx="3"/>
          </p:nvPr>
        </p:nvSpPr>
        <p:spPr/>
        <p:txBody>
          <a:bodyPr/>
          <a:lstStyle/>
          <a:p>
            <a:r>
              <a:t>LigandSeek-Find 与 LigandSeek-Match 的网络架构和数据流。</a:t>
            </a:r>
          </a:p>
          <a:p>
            <a:r>
              <a:t>a，Find 对密度和受体信息进行编码，生成候选配体区域和辅助特征。三维 U-Net 与 Point Transformer V3 结合密度和受体原子特征，并通过迭代回收机制更新表示。</a:t>
            </a:r>
          </a:p>
          <a:p>
            <a:r>
              <a:t>b，Match 通过候选编码器和身份编码器进行前景判别与配体身份匹配。候选编码器融合局部密度、口袋、候选区域及辅助特征；身份编码器整合分子图、SMI-TED 表示及同一 PDB 条目中的身份上下文。前景头预测前景概率，余弦评分给出候选与身份的匹配分数。</a:t>
            </a:r>
          </a:p>
          <a:p>
            <a:r>
              <a:t>ENGLISH:</a:t>
            </a:r>
          </a:p>
          <a:p>
            <a:r>
              <a:t>Network architecture and data flow of LigandSeek-Find and LigandSeek-Match.</a:t>
            </a:r>
          </a:p>
          <a:p>
            <a:r>
              <a:t>a, Find encodes density and receptor information to produce candidate ligand regions and auxiliary features. A 3D U-Net and Point Transformer V3 combine density and receptor-atom features, with recycling to update representations.</a:t>
            </a:r>
          </a:p>
          <a:p>
            <a:r>
              <a:t>b, Match uses candidate and identity encoders for foreground classification and ligand identity matching. The candidate encoder combines local density, pocket, candidate-region and auxiliary features. The identity encoder integrates molecular graphs, SMI-TED representations and identity context within the same PDB entry. A foreground head predicts foreground probability, and cosine scoring produces candidate-to-identity matching scores.</a:t>
            </a:r>
          </a:p>
        </p:txBody>
      </p:sp>
      <p:sp>
        <p:nvSpPr>
          <p:cNvPr id="4" name="Slide Number Placeholder 3">
            <a:extLst>
              <a:ext uri="{FF2B5EF4-FFF2-40B4-BE49-F238E27FC236}">
                <a16:creationId xmlns:a16="http://schemas.microsoft.com/office/drawing/2014/main" id="{B32967F6-10B3-385E-E2B8-A13B6962FBA5}"/>
              </a:ext>
            </a:extLst>
          </p:cNvPr>
          <p:cNvSpPr>
            <a:spLocks noGrp="1"/>
          </p:cNvSpPr>
          <p:nvPr>
            <p:ph type="sldNum" sz="quarter" idx="5"/>
          </p:nvPr>
        </p:nvSpPr>
        <p:spPr/>
      </p:sp>
    </p:spTree>
    <p:extLst>
      <p:ext uri="{BB962C8B-B14F-4D97-AF65-F5344CB8AC3E}">
        <p14:creationId xmlns:p14="http://schemas.microsoft.com/office/powerpoint/2010/main" val="297126542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4FE49-5DA4-F327-2341-5C6C9A47D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E64168-A7DD-66D7-17F1-61CBA01325E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BCD1279-D9F3-0200-5439-F3BEE5F15F1C}"/>
              </a:ext>
            </a:extLst>
          </p:cNvPr>
          <p:cNvSpPr>
            <a:spLocks noGrp="1"/>
          </p:cNvSpPr>
          <p:nvPr>
            <p:ph type="body" sz="quarter" idx="3"/>
          </p:nvPr>
        </p:nvSpPr>
        <p:spPr/>
        <p:txBody>
          <a:bodyPr/>
          <a:lstStyle/>
          <a:p>
            <a:r>
              <a:t>LigandSeek-Find 与 LigandSeek-Match 的网络架构和数据流。</a:t>
            </a:r>
          </a:p>
          <a:p>
            <a:r>
              <a:t>a，Find 对密度和受体信息进行编码，生成候选配体区域和辅助特征。三维 U-Net 与 Point Transformer V3 结合密度和受体原子特征，并通过迭代回收机制更新表示。</a:t>
            </a:r>
          </a:p>
          <a:p>
            <a:r>
              <a:t>b，Match 通过候选编码器和身份编码器进行前景判别与配体身份匹配。候选编码器融合局部密度、口袋、候选区域及辅助特征；身份编码器整合分子图、SMI-TED 表示及同一 PDB 条目中的身份上下文。前景头预测前景概率，余弦评分给出候选与身份的匹配分数。</a:t>
            </a:r>
          </a:p>
          <a:p>
            <a:r>
              <a:t>ENGLISH:</a:t>
            </a:r>
          </a:p>
          <a:p>
            <a:r>
              <a:t>Network architecture and data flow of LigandSeek-Find and LigandSeek-Match.</a:t>
            </a:r>
          </a:p>
          <a:p>
            <a:r>
              <a:t>a, Find encodes density and receptor information to produce candidate ligand regions and auxiliary features. A 3D U-Net and Point Transformer V3 combine density and receptor-atom features, with recycling to update representations.</a:t>
            </a:r>
          </a:p>
          <a:p>
            <a:r>
              <a:t>b, Match uses candidate and identity encoders for foreground classification and ligand identity matching. The candidate encoder combines local density, pocket, candidate-region and auxiliary features. The identity encoder integrates molecular graphs, SMI-TED representations and identity context within the same PDB entry. A foreground head predicts foreground probability, and cosine scoring produces candidate-to-identity matching scores.</a:t>
            </a:r>
          </a:p>
        </p:txBody>
      </p:sp>
      <p:sp>
        <p:nvSpPr>
          <p:cNvPr id="4" name="Slide Number Placeholder 3">
            <a:extLst>
              <a:ext uri="{FF2B5EF4-FFF2-40B4-BE49-F238E27FC236}">
                <a16:creationId xmlns:a16="http://schemas.microsoft.com/office/drawing/2014/main" id="{B32967F6-10B3-385E-E2B8-A13B6962FBA5}"/>
              </a:ext>
            </a:extLst>
          </p:cNvPr>
          <p:cNvSpPr>
            <a:spLocks noGrp="1"/>
          </p:cNvSpPr>
          <p:nvPr>
            <p:ph type="sldNum" sz="quarter" idx="5"/>
          </p:nvPr>
        </p:nvSpPr>
        <p:spPr/>
      </p:sp>
    </p:spTree>
    <p:extLst>
      <p:ext uri="{BB962C8B-B14F-4D97-AF65-F5344CB8AC3E}">
        <p14:creationId xmlns:p14="http://schemas.microsoft.com/office/powerpoint/2010/main" val="24559049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4FE49-5DA4-F327-2341-5C6C9A47D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E64168-A7DD-66D7-17F1-61CBA01325E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BCD1279-D9F3-0200-5439-F3BEE5F15F1C}"/>
              </a:ext>
            </a:extLst>
          </p:cNvPr>
          <p:cNvSpPr>
            <a:spLocks noGrp="1"/>
          </p:cNvSpPr>
          <p:nvPr>
            <p:ph type="body" sz="quarter" idx="3"/>
          </p:nvPr>
        </p:nvSpPr>
        <p:spPr/>
        <p:txBody>
          <a:bodyPr/>
          <a:lstStyle/>
          <a:p>
            <a:r>
              <a:t>LigandSeek-Find 与 LigandSeek-Match 的网络架构和数据流。</a:t>
            </a:r>
          </a:p>
          <a:p>
            <a:r>
              <a:t>a，Find 对密度和受体信息进行编码，生成候选配体区域和辅助特征。三维 U-Net 与 Point Transformer V3 结合密度和受体原子特征，并通过迭代回收机制更新表示。</a:t>
            </a:r>
          </a:p>
          <a:p>
            <a:r>
              <a:t>b，Match 通过候选编码器和身份编码器进行前景判别与配体身份匹配。候选编码器融合局部密度、口袋、候选区域及辅助特征；身份编码器整合分子图、SMI-TED 表示及同一 PDB 条目中的身份上下文。前景头预测前景概率，余弦评分给出候选与身份的匹配分数。</a:t>
            </a:r>
          </a:p>
          <a:p>
            <a:r>
              <a:t>ENGLISH:</a:t>
            </a:r>
          </a:p>
          <a:p>
            <a:r>
              <a:t>Network architecture and data flow of LigandSeek-Find and LigandSeek-Match.</a:t>
            </a:r>
          </a:p>
          <a:p>
            <a:r>
              <a:t>a, Find encodes density and receptor information to produce candidate ligand regions and auxiliary features. A 3D U-Net and Point Transformer V3 combine density and receptor-atom features, with recycling to update representations.</a:t>
            </a:r>
          </a:p>
          <a:p>
            <a:r>
              <a:t>b, Match uses candidate and identity encoders for foreground classification and ligand identity matching. The candidate encoder combines local density, pocket, candidate-region and auxiliary features. The identity encoder integrates molecular graphs, SMI-TED representations and identity context within the same PDB entry. A foreground head predicts foreground probability, and cosine scoring produces candidate-to-identity matching scores.</a:t>
            </a:r>
          </a:p>
        </p:txBody>
      </p:sp>
      <p:sp>
        <p:nvSpPr>
          <p:cNvPr id="4" name="Slide Number Placeholder 3">
            <a:extLst>
              <a:ext uri="{FF2B5EF4-FFF2-40B4-BE49-F238E27FC236}">
                <a16:creationId xmlns:a16="http://schemas.microsoft.com/office/drawing/2014/main" id="{B32967F6-10B3-385E-E2B8-A13B6962FBA5}"/>
              </a:ext>
            </a:extLst>
          </p:cNvPr>
          <p:cNvSpPr>
            <a:spLocks noGrp="1"/>
          </p:cNvSpPr>
          <p:nvPr>
            <p:ph type="sldNum" sz="quarter" idx="5"/>
          </p:nvPr>
        </p:nvSpPr>
        <p:spPr/>
      </p:sp>
    </p:spTree>
    <p:extLst>
      <p:ext uri="{BB962C8B-B14F-4D97-AF65-F5344CB8AC3E}">
        <p14:creationId xmlns:p14="http://schemas.microsoft.com/office/powerpoint/2010/main" val="39024106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4FE49-5DA4-F327-2341-5C6C9A47D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E64168-A7DD-66D7-17F1-61CBA01325E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BCD1279-D9F3-0200-5439-F3BEE5F15F1C}"/>
              </a:ext>
            </a:extLst>
          </p:cNvPr>
          <p:cNvSpPr>
            <a:spLocks noGrp="1"/>
          </p:cNvSpPr>
          <p:nvPr>
            <p:ph type="body" sz="quarter" idx="3"/>
          </p:nvPr>
        </p:nvSpPr>
        <p:spPr/>
        <p:txBody>
          <a:bodyPr/>
          <a:lstStyle/>
          <a:p>
            <a:r>
              <a:t>LigandSeek-Find 与 LigandSeek-Match 的网络架构和数据流。</a:t>
            </a:r>
          </a:p>
          <a:p>
            <a:r>
              <a:t>a，Find 对密度和受体信息进行编码，生成候选配体区域和辅助特征。三维 U-Net 与 Point Transformer V3 结合密度和受体原子特征，并通过迭代回收机制更新表示。</a:t>
            </a:r>
          </a:p>
          <a:p>
            <a:r>
              <a:t>b，Match 通过候选编码器和身份编码器进行前景判别与配体身份匹配。候选编码器融合局部密度、口袋、候选区域及辅助特征；身份编码器整合分子图、SMI-TED 表示及同一 PDB 条目中的身份上下文。前景头预测前景概率，余弦评分给出候选与身份的匹配分数。</a:t>
            </a:r>
          </a:p>
          <a:p>
            <a:r>
              <a:t>ENGLISH:</a:t>
            </a:r>
          </a:p>
          <a:p>
            <a:r>
              <a:t>Network architecture and data flow of LigandSeek-Find and LigandSeek-Match.</a:t>
            </a:r>
          </a:p>
          <a:p>
            <a:r>
              <a:t>a, Find encodes density and receptor information to produce candidate ligand regions and auxiliary features. A 3D U-Net and Point Transformer V3 combine density and receptor-atom features, with recycling to update representations.</a:t>
            </a:r>
          </a:p>
          <a:p>
            <a:r>
              <a:t>b, Match uses candidate and identity encoders for foreground classification and ligand identity matching. The candidate encoder combines local density, pocket, candidate-region and auxiliary features. The identity encoder integrates molecular graphs, SMI-TED representations and identity context within the same PDB entry. A foreground head predicts foreground probability, and cosine scoring produces candidate-to-identity matching scores.</a:t>
            </a:r>
          </a:p>
        </p:txBody>
      </p:sp>
      <p:sp>
        <p:nvSpPr>
          <p:cNvPr id="4" name="Slide Number Placeholder 3">
            <a:extLst>
              <a:ext uri="{FF2B5EF4-FFF2-40B4-BE49-F238E27FC236}">
                <a16:creationId xmlns:a16="http://schemas.microsoft.com/office/drawing/2014/main" id="{B32967F6-10B3-385E-E2B8-A13B6962FBA5}"/>
              </a:ext>
            </a:extLst>
          </p:cNvPr>
          <p:cNvSpPr>
            <a:spLocks noGrp="1"/>
          </p:cNvSpPr>
          <p:nvPr>
            <p:ph type="sldNum" sz="quarter" idx="5"/>
          </p:nvPr>
        </p:nvSpPr>
        <p:spPr/>
      </p:sp>
    </p:spTree>
    <p:extLst>
      <p:ext uri="{BB962C8B-B14F-4D97-AF65-F5344CB8AC3E}">
        <p14:creationId xmlns:p14="http://schemas.microsoft.com/office/powerpoint/2010/main" val="208673248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4FE49-5DA4-F327-2341-5C6C9A47D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E64168-A7DD-66D7-17F1-61CBA01325E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BCD1279-D9F3-0200-5439-F3BEE5F15F1C}"/>
              </a:ext>
            </a:extLst>
          </p:cNvPr>
          <p:cNvSpPr>
            <a:spLocks noGrp="1"/>
          </p:cNvSpPr>
          <p:nvPr>
            <p:ph type="body" sz="quarter" idx="3"/>
          </p:nvPr>
        </p:nvSpPr>
        <p:spPr/>
        <p:txBody>
          <a:bodyPr/>
          <a:lstStyle/>
          <a:p>
            <a:r>
              <a:t>LigandSeek-Find 与 LigandSeek-Match 的网络架构和数据流。</a:t>
            </a:r>
          </a:p>
          <a:p>
            <a:r>
              <a:t>a，Find 对密度和受体信息进行编码，生成候选配体区域和辅助特征。三维 U-Net 与 Point Transformer V3 结合密度和受体原子特征，并通过迭代回收机制更新表示。</a:t>
            </a:r>
          </a:p>
          <a:p>
            <a:r>
              <a:t>b，Match 通过候选编码器和身份编码器进行前景判别与配体身份匹配。候选编码器融合局部密度、口袋、候选区域及辅助特征；身份编码器整合分子图、SMI-TED 表示及同一 PDB 条目中的身份上下文。前景头预测前景概率，余弦评分给出候选与身份的匹配分数。</a:t>
            </a:r>
          </a:p>
          <a:p>
            <a:r>
              <a:t>ENGLISH:</a:t>
            </a:r>
          </a:p>
          <a:p>
            <a:r>
              <a:t>Network architecture and data flow of LigandSeek-Find and LigandSeek-Match.</a:t>
            </a:r>
          </a:p>
          <a:p>
            <a:r>
              <a:t>a, Find encodes density and receptor information to produce candidate ligand regions and auxiliary features. A 3D U-Net and Point Transformer V3 combine density and receptor-atom features, with recycling to update representations.</a:t>
            </a:r>
          </a:p>
          <a:p>
            <a:r>
              <a:t>b, Match uses candidate and identity encoders for foreground classification and ligand identity matching. The candidate encoder combines local density, pocket, candidate-region and auxiliary features. The identity encoder integrates molecular graphs, SMI-TED representations and identity context within the same PDB entry. A foreground head predicts foreground probability, and cosine scoring produces candidate-to-identity matching scores.</a:t>
            </a:r>
          </a:p>
        </p:txBody>
      </p:sp>
      <p:sp>
        <p:nvSpPr>
          <p:cNvPr id="4" name="Slide Number Placeholder 3">
            <a:extLst>
              <a:ext uri="{FF2B5EF4-FFF2-40B4-BE49-F238E27FC236}">
                <a16:creationId xmlns:a16="http://schemas.microsoft.com/office/drawing/2014/main" id="{B32967F6-10B3-385E-E2B8-A13B6962FBA5}"/>
              </a:ext>
            </a:extLst>
          </p:cNvPr>
          <p:cNvSpPr>
            <a:spLocks noGrp="1"/>
          </p:cNvSpPr>
          <p:nvPr>
            <p:ph type="sldNum" sz="quarter" idx="5"/>
          </p:nvPr>
        </p:nvSpPr>
        <p:spPr/>
      </p:sp>
    </p:spTree>
    <p:extLst>
      <p:ext uri="{BB962C8B-B14F-4D97-AF65-F5344CB8AC3E}">
        <p14:creationId xmlns:p14="http://schemas.microsoft.com/office/powerpoint/2010/main" val="12295295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4FE49-5DA4-F327-2341-5C6C9A47D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E64168-A7DD-66D7-17F1-61CBA01325E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BCD1279-D9F3-0200-5439-F3BEE5F15F1C}"/>
              </a:ext>
            </a:extLst>
          </p:cNvPr>
          <p:cNvSpPr>
            <a:spLocks noGrp="1"/>
          </p:cNvSpPr>
          <p:nvPr>
            <p:ph type="body" sz="quarter" idx="3"/>
          </p:nvPr>
        </p:nvSpPr>
        <p:spPr/>
        <p:txBody>
          <a:bodyPr/>
          <a:lstStyle/>
          <a:p>
            <a:r>
              <a:t>LigandSeek-Find 与 LigandSeek-Match 的网络架构和数据流。</a:t>
            </a:r>
          </a:p>
          <a:p>
            <a:r>
              <a:t>a，Find 对密度和受体信息进行编码，生成候选配体区域和辅助特征。三维 U-Net 与 Point Transformer V3 结合密度和受体原子特征，并通过迭代回收机制更新表示。</a:t>
            </a:r>
          </a:p>
          <a:p>
            <a:r>
              <a:t>b，Match 通过候选编码器和身份编码器进行前景判别与配体身份匹配。候选编码器融合局部密度、口袋、候选区域及辅助特征；身份编码器整合分子图、SMI-TED 表示及同一 PDB 条目中的身份上下文。前景头预测前景概率，余弦评分给出候选与身份的匹配分数。</a:t>
            </a:r>
          </a:p>
          <a:p>
            <a:r>
              <a:t>ENGLISH:</a:t>
            </a:r>
          </a:p>
          <a:p>
            <a:r>
              <a:t>Network architecture and data flow of LigandSeek-Find and LigandSeek-Match.</a:t>
            </a:r>
          </a:p>
          <a:p>
            <a:r>
              <a:t>a, Find encodes density and receptor information to produce candidate ligand regions and auxiliary features. A 3D U-Net and Point Transformer V3 combine density and receptor-atom features, with recycling to update representations.</a:t>
            </a:r>
          </a:p>
          <a:p>
            <a:r>
              <a:t>b, Match uses candidate and identity encoders for foreground classification and ligand identity matching. The candidate encoder combines local density, pocket, candidate-region and auxiliary features. The identity encoder integrates molecular graphs, SMI-TED representations and identity context within the same PDB entry. A foreground head predicts foreground probability, and cosine scoring produces candidate-to-identity matching scores.</a:t>
            </a:r>
          </a:p>
        </p:txBody>
      </p:sp>
      <p:sp>
        <p:nvSpPr>
          <p:cNvPr id="4" name="Slide Number Placeholder 3">
            <a:extLst>
              <a:ext uri="{FF2B5EF4-FFF2-40B4-BE49-F238E27FC236}">
                <a16:creationId xmlns:a16="http://schemas.microsoft.com/office/drawing/2014/main" id="{B32967F6-10B3-385E-E2B8-A13B6962FBA5}"/>
              </a:ext>
            </a:extLst>
          </p:cNvPr>
          <p:cNvSpPr>
            <a:spLocks noGrp="1"/>
          </p:cNvSpPr>
          <p:nvPr>
            <p:ph type="sldNum" sz="quarter" idx="5"/>
          </p:nvPr>
        </p:nvSpPr>
        <p:spPr/>
      </p:sp>
    </p:spTree>
    <p:extLst>
      <p:ext uri="{BB962C8B-B14F-4D97-AF65-F5344CB8AC3E}">
        <p14:creationId xmlns:p14="http://schemas.microsoft.com/office/powerpoint/2010/main" val="2687000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59610929"/>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0"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3" Type="http://schemas.microsoft.com/office/2018/10/relationships/comments" Target="../comments/modernComment_101_E04F3CE8.xml"/><Relationship Id="rId7"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10" Type="http://schemas.openxmlformats.org/officeDocument/2006/relationships/image" Target="../media/image7.png"/><Relationship Id="rId4" Type="http://schemas.openxmlformats.org/officeDocument/2006/relationships/image" Target="../media/image1.png"/><Relationship Id="rId9" Type="http://schemas.openxmlformats.org/officeDocument/2006/relationships/image" Target="../media/image6.png"/></Relationships>
</file>

<file path=ppt/slides/_rels/slide2.xml.rels><?xml version="1.0" encoding="UTF-8" standalone="yes"?>
<Relationships xmlns="http://schemas.openxmlformats.org/package/2006/relationships"><Relationship Id="rId8" Type="http://schemas.openxmlformats.org/officeDocument/2006/relationships/image" Target="../media/image5.png"/><Relationship Id="rId3" Type="http://schemas.microsoft.com/office/2018/10/relationships/comments" Target="../comments/modernComment_102_E04F3CE8.xml"/><Relationship Id="rId7"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10" Type="http://schemas.openxmlformats.org/officeDocument/2006/relationships/image" Target="../media/image7.png"/><Relationship Id="rId4" Type="http://schemas.openxmlformats.org/officeDocument/2006/relationships/image" Target="../media/image1.png"/><Relationship Id="rId9" Type="http://schemas.openxmlformats.org/officeDocument/2006/relationships/image" Target="../media/image6.png"/></Relationships>
</file>

<file path=ppt/slides/_rels/slide3.xml.rels><?xml version="1.0" encoding="UTF-8" standalone="yes"?>
<Relationships xmlns="http://schemas.openxmlformats.org/package/2006/relationships"><Relationship Id="rId8" Type="http://schemas.openxmlformats.org/officeDocument/2006/relationships/image" Target="../media/image5.png"/><Relationship Id="rId3" Type="http://schemas.microsoft.com/office/2018/10/relationships/comments" Target="../comments/modernComment_100_E04F3CE8.xml"/><Relationship Id="rId7"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10" Type="http://schemas.openxmlformats.org/officeDocument/2006/relationships/image" Target="../media/image7.png"/><Relationship Id="rId4" Type="http://schemas.openxmlformats.org/officeDocument/2006/relationships/image" Target="../media/image1.png"/><Relationship Id="rId9" Type="http://schemas.openxmlformats.org/officeDocument/2006/relationships/image" Target="../media/image6.png"/></Relationships>
</file>

<file path=ppt/slides/_rels/slide4.xml.rels><?xml version="1.0" encoding="UTF-8" standalone="yes"?>
<Relationships xmlns="http://schemas.openxmlformats.org/package/2006/relationships"><Relationship Id="rId8" Type="http://schemas.openxmlformats.org/officeDocument/2006/relationships/image" Target="../media/image5.png"/><Relationship Id="rId3" Type="http://schemas.microsoft.com/office/2018/10/relationships/comments" Target="../comments/modernComment_105_2BBB712B.xml"/><Relationship Id="rId7"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microsoft.com/office/2018/10/relationships/comments" Target="../comments/modernComment_104_D1BA0CEE.xm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8" Type="http://schemas.openxmlformats.org/officeDocument/2006/relationships/image" Target="../media/image5.png"/><Relationship Id="rId3" Type="http://schemas.microsoft.com/office/2018/10/relationships/comments" Target="../comments/modernComment_107_B2520BCC.xml"/><Relationship Id="rId7"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8" Type="http://schemas.openxmlformats.org/officeDocument/2006/relationships/image" Target="../media/image5.png"/><Relationship Id="rId3" Type="http://schemas.microsoft.com/office/2018/10/relationships/comments" Target="../comments/modernComment_106_24E96010.xml"/><Relationship Id="rId7"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8" Type="http://schemas.openxmlformats.org/officeDocument/2006/relationships/image" Target="../media/image5.png"/><Relationship Id="rId3" Type="http://schemas.microsoft.com/office/2018/10/relationships/comments" Target="../comments/modernComment_108_2CD6C5BB.xml"/><Relationship Id="rId7"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8" Type="http://schemas.openxmlformats.org/officeDocument/2006/relationships/image" Target="../media/image5.png"/><Relationship Id="rId3" Type="http://schemas.microsoft.com/office/2018/10/relationships/comments" Target="../comments/modernComment_109_DE080B57.xml"/><Relationship Id="rId7"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8" Type="http://schemas.openxmlformats.org/officeDocument/2006/relationships/image" Target="../media/image5.png"/><Relationship Id="rId3" Type="http://schemas.microsoft.com/office/2018/10/relationships/comments" Target="../comments/modernComment_10A_9C66560.xml"/><Relationship Id="rId7"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8" Type="http://schemas.openxmlformats.org/officeDocument/2006/relationships/image" Target="../media/image5.png"/><Relationship Id="rId3" Type="http://schemas.microsoft.com/office/2018/10/relationships/comments" Target="../comments/modernComment_10B_DE9E33F8.xml"/><Relationship Id="rId7"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method / original">
    <p:spTree>
      <p:nvGrpSpPr>
        <p:cNvPr id="1" name="">
          <a:extLst>
            <a:ext uri="{FF2B5EF4-FFF2-40B4-BE49-F238E27FC236}">
              <a16:creationId xmlns:a16="http://schemas.microsoft.com/office/drawing/2014/main" id="{7C3A6E18-01F8-B0BA-F43F-91B3A30C3C3E}"/>
            </a:ext>
          </a:extLst>
        </p:cNvPr>
        <p:cNvGrpSpPr/>
        <p:nvPr/>
      </p:nvGrpSpPr>
      <p:grpSpPr>
        <a:xfrm>
          <a:off x="0" y="0"/>
          <a:ext cx="0" cy="0"/>
          <a:chOff x="0" y="0"/>
          <a:chExt cx="0" cy="0"/>
        </a:xfrm>
      </p:grpSpPr>
      <p:sp>
        <p:nvSpPr>
          <p:cNvPr id="2" name="Panel | Find background">
            <a:extLst>
              <a:ext uri="{FF2B5EF4-FFF2-40B4-BE49-F238E27FC236}">
                <a16:creationId xmlns:a16="http://schemas.microsoft.com/office/drawing/2014/main" id="{A9090686-8929-C0A0-CCD3-B88878102309}"/>
              </a:ext>
            </a:extLst>
          </p:cNvPr>
          <p:cNvSpPr/>
          <p:nvPr/>
        </p:nvSpPr>
        <p:spPr>
          <a:xfrm>
            <a:off x="450985" y="85589"/>
            <a:ext cx="4381930" cy="1756103"/>
          </a:xfrm>
          <a:prstGeom prst="roundRect">
            <a:avLst>
              <a:gd name="adj" fmla="val 2000"/>
            </a:avLst>
          </a:prstGeom>
          <a:solidFill>
            <a:srgbClr val="F4F7FB"/>
          </a:solidFill>
          <a:ln w="9720">
            <a:solidFill>
              <a:srgbClr val="CFDB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3" name="Panel | Match background">
            <a:extLst>
              <a:ext uri="{FF2B5EF4-FFF2-40B4-BE49-F238E27FC236}">
                <a16:creationId xmlns:a16="http://schemas.microsoft.com/office/drawing/2014/main" id="{28703D02-0EE9-C5A6-609C-08019DDE7E4E}"/>
              </a:ext>
            </a:extLst>
          </p:cNvPr>
          <p:cNvSpPr/>
          <p:nvPr/>
        </p:nvSpPr>
        <p:spPr>
          <a:xfrm>
            <a:off x="450985" y="1885270"/>
            <a:ext cx="4381930" cy="2532204"/>
          </a:xfrm>
          <a:prstGeom prst="roundRect">
            <a:avLst>
              <a:gd name="adj" fmla="val 2000"/>
            </a:avLst>
          </a:prstGeom>
          <a:solidFill>
            <a:srgbClr val="F2F9F6"/>
          </a:solidFill>
          <a:ln w="9720">
            <a:solidFill>
              <a:srgbClr val="C8E2D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4" name="Panel | Build background">
            <a:extLst>
              <a:ext uri="{FF2B5EF4-FFF2-40B4-BE49-F238E27FC236}">
                <a16:creationId xmlns:a16="http://schemas.microsoft.com/office/drawing/2014/main" id="{ED204BA4-647E-6284-03F8-632FC35FBD82}"/>
              </a:ext>
            </a:extLst>
          </p:cNvPr>
          <p:cNvSpPr/>
          <p:nvPr/>
        </p:nvSpPr>
        <p:spPr>
          <a:xfrm>
            <a:off x="4868797" y="85630"/>
            <a:ext cx="1354615" cy="4331875"/>
          </a:xfrm>
          <a:prstGeom prst="roundRect">
            <a:avLst>
              <a:gd name="adj" fmla="val 2000"/>
            </a:avLst>
          </a:prstGeom>
          <a:solidFill>
            <a:srgbClr val="FAF6EE"/>
          </a:solidFill>
          <a:ln w="9720">
            <a:solidFill>
              <a:srgbClr val="E3D9C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grpSp>
        <p:nvGrpSpPr>
          <p:cNvPr id="5" name="Input boundary layer">
            <a:extLst>
              <a:ext uri="{FF2B5EF4-FFF2-40B4-BE49-F238E27FC236}">
                <a16:creationId xmlns:a16="http://schemas.microsoft.com/office/drawing/2014/main" id="{DDB8823C-1C5D-EC2B-D97C-140C79222FB0}"/>
              </a:ext>
            </a:extLst>
          </p:cNvPr>
          <p:cNvGrpSpPr/>
          <p:nvPr/>
        </p:nvGrpSpPr>
        <p:grpSpPr>
          <a:xfrm>
            <a:off x="0" y="0"/>
            <a:ext cx="6480175" cy="4468813"/>
            <a:chOff x="0" y="0"/>
            <a:chExt cx="15240000" cy="10509702"/>
          </a:xfrm>
        </p:grpSpPr>
        <p:sp>
          <p:nvSpPr>
            <p:cNvPr id="1478" name="V8 Match input boundary">
              <a:extLst>
                <a:ext uri="{FF2B5EF4-FFF2-40B4-BE49-F238E27FC236}">
                  <a16:creationId xmlns:a16="http://schemas.microsoft.com/office/drawing/2014/main" id="{7D0554F4-AE1C-63F1-A885-352F5424EDA9}"/>
                </a:ext>
              </a:extLst>
            </p:cNvPr>
            <p:cNvSpPr/>
            <p:nvPr/>
          </p:nvSpPr>
          <p:spPr>
            <a:xfrm>
              <a:off x="1582841" y="5281627"/>
              <a:ext cx="3163259" cy="2511755"/>
            </a:xfrm>
            <a:custGeom>
              <a:avLst/>
              <a:gdLst/>
              <a:ahLst/>
              <a:cxnLst/>
              <a:rect l="l" t="t" r="r" b="b"/>
              <a:pathLst>
                <a:path w="1345044" h="1068019">
                  <a:moveTo>
                    <a:pt x="31750" y="0"/>
                  </a:moveTo>
                  <a:lnTo>
                    <a:pt x="893699" y="0"/>
                  </a:lnTo>
                  <a:cubicBezTo>
                    <a:pt x="911162" y="0"/>
                    <a:pt x="925449" y="14288"/>
                    <a:pt x="925449" y="31750"/>
                  </a:cubicBezTo>
                  <a:lnTo>
                    <a:pt x="925449" y="489521"/>
                  </a:lnTo>
                  <a:cubicBezTo>
                    <a:pt x="925449" y="506984"/>
                    <a:pt x="939736" y="521271"/>
                    <a:pt x="957199" y="521271"/>
                  </a:cubicBezTo>
                  <a:lnTo>
                    <a:pt x="1313294" y="521271"/>
                  </a:lnTo>
                  <a:cubicBezTo>
                    <a:pt x="1330757" y="521271"/>
                    <a:pt x="1345044" y="535559"/>
                    <a:pt x="1345044" y="553021"/>
                  </a:cubicBezTo>
                  <a:lnTo>
                    <a:pt x="1345044" y="1036269"/>
                  </a:lnTo>
                  <a:cubicBezTo>
                    <a:pt x="1345044" y="1053732"/>
                    <a:pt x="1330757" y="1068019"/>
                    <a:pt x="1313294" y="1068019"/>
                  </a:cubicBezTo>
                  <a:lnTo>
                    <a:pt x="31750" y="1068019"/>
                  </a:lnTo>
                  <a:cubicBezTo>
                    <a:pt x="14288" y="1068019"/>
                    <a:pt x="0" y="1053732"/>
                    <a:pt x="0" y="1036269"/>
                  </a:cubicBezTo>
                  <a:lnTo>
                    <a:pt x="0" y="31750"/>
                  </a:lnTo>
                  <a:cubicBezTo>
                    <a:pt x="0" y="14288"/>
                    <a:pt x="14288" y="0"/>
                    <a:pt x="31750" y="0"/>
                  </a:cubicBezTo>
                  <a:close/>
                </a:path>
              </a:pathLst>
            </a:custGeom>
            <a:solidFill>
              <a:srgbClr val="FFFFFF"/>
            </a:solidFill>
            <a:ln w="7290" cap="rnd">
              <a:solidFill>
                <a:srgbClr val="B6CEC5"/>
              </a:solidFill>
              <a:prstDash val="solid"/>
              <a:round/>
            </a:ln>
          </p:spPr>
          <p:txBody>
            <a:bodyPr/>
            <a:lstStyle/>
            <a:p>
              <a:endParaRPr lang="zh-CN" altLang="en-US" dirty="0"/>
            </a:p>
          </p:txBody>
        </p:sp>
      </p:grpSp>
      <p:sp>
        <p:nvSpPr>
          <p:cNvPr id="7" name="TextBox 4">
            <a:extLst>
              <a:ext uri="{FF2B5EF4-FFF2-40B4-BE49-F238E27FC236}">
                <a16:creationId xmlns:a16="http://schemas.microsoft.com/office/drawing/2014/main" id="{ADBC3EDA-5434-B072-0369-64F7979021C5}"/>
              </a:ext>
            </a:extLst>
          </p:cNvPr>
          <p:cNvSpPr txBox="1"/>
          <p:nvPr/>
        </p:nvSpPr>
        <p:spPr>
          <a:xfrm>
            <a:off x="519056" y="107111"/>
            <a:ext cx="174028" cy="149656"/>
          </a:xfrm>
          <a:prstGeom prst="rect">
            <a:avLst/>
          </a:prstGeom>
          <a:noFill/>
        </p:spPr>
        <p:txBody>
          <a:bodyPr wrap="square" lIns="0" tIns="0" rIns="0" bIns="0" anchor="ctr">
            <a:spAutoFit/>
          </a:bodyPr>
          <a:lstStyle/>
          <a:p>
            <a:pPr algn="l">
              <a:lnSpc>
                <a:spcPct val="105000"/>
              </a:lnSpc>
            </a:pPr>
            <a:r>
              <a:rPr sz="995" b="1" dirty="0">
                <a:solidFill>
                  <a:srgbClr val="1E293B"/>
                </a:solidFill>
                <a:latin typeface="Arial"/>
              </a:rPr>
              <a:t>a</a:t>
            </a:r>
          </a:p>
        </p:txBody>
      </p:sp>
      <p:sp>
        <p:nvSpPr>
          <p:cNvPr id="8" name="TextBox 5">
            <a:extLst>
              <a:ext uri="{FF2B5EF4-FFF2-40B4-BE49-F238E27FC236}">
                <a16:creationId xmlns:a16="http://schemas.microsoft.com/office/drawing/2014/main" id="{BDE65E3A-EB06-F9D8-4F70-55D863BF89FB}"/>
              </a:ext>
            </a:extLst>
          </p:cNvPr>
          <p:cNvSpPr txBox="1"/>
          <p:nvPr/>
        </p:nvSpPr>
        <p:spPr>
          <a:xfrm>
            <a:off x="677263" y="120127"/>
            <a:ext cx="2531320" cy="123624"/>
          </a:xfrm>
          <a:prstGeom prst="rect">
            <a:avLst/>
          </a:prstGeom>
          <a:noFill/>
        </p:spPr>
        <p:txBody>
          <a:bodyPr wrap="square" lIns="0" tIns="0" rIns="0" bIns="0" anchor="ctr">
            <a:spAutoFit/>
          </a:bodyPr>
          <a:lstStyle/>
          <a:p>
            <a:pPr algn="l">
              <a:lnSpc>
                <a:spcPct val="105000"/>
              </a:lnSpc>
            </a:pPr>
            <a:r>
              <a:rPr sz="822">
                <a:solidFill>
                  <a:srgbClr val="1E293B"/>
                </a:solidFill>
                <a:latin typeface="Arial"/>
              </a:rPr>
              <a:t>Find: locate ligand regions</a:t>
            </a:r>
          </a:p>
        </p:txBody>
      </p:sp>
      <p:sp>
        <p:nvSpPr>
          <p:cNvPr id="9" name="TextBox 6">
            <a:extLst>
              <a:ext uri="{FF2B5EF4-FFF2-40B4-BE49-F238E27FC236}">
                <a16:creationId xmlns:a16="http://schemas.microsoft.com/office/drawing/2014/main" id="{F3FF857A-DE19-FC06-9455-89983F39C003}"/>
              </a:ext>
            </a:extLst>
          </p:cNvPr>
          <p:cNvSpPr txBox="1"/>
          <p:nvPr/>
        </p:nvSpPr>
        <p:spPr>
          <a:xfrm>
            <a:off x="519056" y="1909702"/>
            <a:ext cx="174028" cy="149656"/>
          </a:xfrm>
          <a:prstGeom prst="rect">
            <a:avLst/>
          </a:prstGeom>
          <a:noFill/>
        </p:spPr>
        <p:txBody>
          <a:bodyPr wrap="square" lIns="0" tIns="0" rIns="0" bIns="0" anchor="ctr">
            <a:spAutoFit/>
          </a:bodyPr>
          <a:lstStyle/>
          <a:p>
            <a:pPr>
              <a:lnSpc>
                <a:spcPct val="105000"/>
              </a:lnSpc>
            </a:pPr>
            <a:r>
              <a:rPr sz="995" b="1" dirty="0">
                <a:solidFill>
                  <a:srgbClr val="1E293B"/>
                </a:solidFill>
                <a:latin typeface="Arial"/>
              </a:rPr>
              <a:t>b</a:t>
            </a:r>
          </a:p>
        </p:txBody>
      </p:sp>
      <p:sp>
        <p:nvSpPr>
          <p:cNvPr id="10" name="TextBox 7">
            <a:extLst>
              <a:ext uri="{FF2B5EF4-FFF2-40B4-BE49-F238E27FC236}">
                <a16:creationId xmlns:a16="http://schemas.microsoft.com/office/drawing/2014/main" id="{70ECA487-21BB-6209-C18F-3026009B4E59}"/>
              </a:ext>
            </a:extLst>
          </p:cNvPr>
          <p:cNvSpPr txBox="1"/>
          <p:nvPr/>
        </p:nvSpPr>
        <p:spPr>
          <a:xfrm>
            <a:off x="677200" y="1931954"/>
            <a:ext cx="2847735" cy="123624"/>
          </a:xfrm>
          <a:prstGeom prst="rect">
            <a:avLst/>
          </a:prstGeom>
          <a:noFill/>
        </p:spPr>
        <p:txBody>
          <a:bodyPr wrap="square" lIns="0" tIns="0" rIns="0" bIns="0" anchor="ctr">
            <a:spAutoFit/>
          </a:bodyPr>
          <a:lstStyle/>
          <a:p>
            <a:pPr algn="l">
              <a:lnSpc>
                <a:spcPct val="105000"/>
              </a:lnSpc>
            </a:pPr>
            <a:r>
              <a:rPr sz="822" dirty="0">
                <a:solidFill>
                  <a:srgbClr val="1E293B"/>
                </a:solidFill>
                <a:latin typeface="Arial"/>
              </a:rPr>
              <a:t>Match: candidate-to-identity assignment</a:t>
            </a:r>
          </a:p>
        </p:txBody>
      </p:sp>
      <p:sp>
        <p:nvSpPr>
          <p:cNvPr id="11" name="TextBox 8">
            <a:extLst>
              <a:ext uri="{FF2B5EF4-FFF2-40B4-BE49-F238E27FC236}">
                <a16:creationId xmlns:a16="http://schemas.microsoft.com/office/drawing/2014/main" id="{C99C17F0-6544-6BC0-1417-555389742DB7}"/>
              </a:ext>
            </a:extLst>
          </p:cNvPr>
          <p:cNvSpPr txBox="1"/>
          <p:nvPr/>
        </p:nvSpPr>
        <p:spPr>
          <a:xfrm>
            <a:off x="4902380" y="107125"/>
            <a:ext cx="174028" cy="149656"/>
          </a:xfrm>
          <a:prstGeom prst="rect">
            <a:avLst/>
          </a:prstGeom>
          <a:noFill/>
        </p:spPr>
        <p:txBody>
          <a:bodyPr wrap="square" lIns="0" tIns="0" rIns="0" bIns="0" anchor="ctr">
            <a:spAutoFit/>
          </a:bodyPr>
          <a:lstStyle/>
          <a:p>
            <a:pPr algn="l">
              <a:lnSpc>
                <a:spcPct val="105000"/>
              </a:lnSpc>
            </a:pPr>
            <a:r>
              <a:rPr sz="995" b="1" dirty="0">
                <a:solidFill>
                  <a:srgbClr val="1E293B"/>
                </a:solidFill>
                <a:latin typeface="Arial"/>
              </a:rPr>
              <a:t>c</a:t>
            </a:r>
          </a:p>
        </p:txBody>
      </p:sp>
      <p:sp>
        <p:nvSpPr>
          <p:cNvPr id="12" name="TextBox 9">
            <a:extLst>
              <a:ext uri="{FF2B5EF4-FFF2-40B4-BE49-F238E27FC236}">
                <a16:creationId xmlns:a16="http://schemas.microsoft.com/office/drawing/2014/main" id="{7A43A7E7-A060-03F0-5B05-9A1425584A88}"/>
              </a:ext>
            </a:extLst>
          </p:cNvPr>
          <p:cNvSpPr txBox="1"/>
          <p:nvPr/>
        </p:nvSpPr>
        <p:spPr>
          <a:xfrm>
            <a:off x="5060587" y="120126"/>
            <a:ext cx="1202377" cy="239809"/>
          </a:xfrm>
          <a:prstGeom prst="rect">
            <a:avLst/>
          </a:prstGeom>
          <a:noFill/>
        </p:spPr>
        <p:txBody>
          <a:bodyPr wrap="square" lIns="0" tIns="0" rIns="0" bIns="0" anchor="ctr">
            <a:spAutoFit/>
          </a:bodyPr>
          <a:lstStyle/>
          <a:p>
            <a:pPr algn="l">
              <a:lnSpc>
                <a:spcPct val="98000"/>
              </a:lnSpc>
            </a:pPr>
            <a:r>
              <a:rPr sz="795" dirty="0">
                <a:solidFill>
                  <a:srgbClr val="1E293B"/>
                </a:solidFill>
                <a:latin typeface="Arial"/>
              </a:rPr>
              <a:t>Build: downstream</a:t>
            </a:r>
          </a:p>
          <a:p>
            <a:pPr algn="l">
              <a:lnSpc>
                <a:spcPct val="98000"/>
              </a:lnSpc>
            </a:pPr>
            <a:r>
              <a:rPr sz="795" dirty="0">
                <a:solidFill>
                  <a:srgbClr val="1E293B"/>
                </a:solidFill>
                <a:latin typeface="Arial"/>
              </a:rPr>
              <a:t>pose reconstruction</a:t>
            </a:r>
          </a:p>
        </p:txBody>
      </p:sp>
      <p:sp>
        <p:nvSpPr>
          <p:cNvPr id="13" name="Find | Density card">
            <a:extLst>
              <a:ext uri="{FF2B5EF4-FFF2-40B4-BE49-F238E27FC236}">
                <a16:creationId xmlns:a16="http://schemas.microsoft.com/office/drawing/2014/main" id="{CAB7453E-57E4-6069-E17B-BEBD584DE9C5}"/>
              </a:ext>
            </a:extLst>
          </p:cNvPr>
          <p:cNvSpPr/>
          <p:nvPr/>
        </p:nvSpPr>
        <p:spPr>
          <a:xfrm>
            <a:off x="469817" y="284774"/>
            <a:ext cx="488504" cy="680292"/>
          </a:xfrm>
          <a:prstGeom prst="roundRect">
            <a:avLst>
              <a:gd name="adj" fmla="val 6000"/>
            </a:avLst>
          </a:prstGeom>
          <a:solidFill>
            <a:srgbClr val="FFFFFF"/>
          </a:solidFill>
          <a:ln w="7290">
            <a:solidFill>
              <a:srgbClr val="CBD6E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14" name="TextBox 11">
            <a:extLst>
              <a:ext uri="{FF2B5EF4-FFF2-40B4-BE49-F238E27FC236}">
                <a16:creationId xmlns:a16="http://schemas.microsoft.com/office/drawing/2014/main" id="{E13F9DB9-2915-4D37-1A15-4DD879957FE6}"/>
              </a:ext>
            </a:extLst>
          </p:cNvPr>
          <p:cNvSpPr txBox="1"/>
          <p:nvPr/>
        </p:nvSpPr>
        <p:spPr>
          <a:xfrm>
            <a:off x="402592" y="318294"/>
            <a:ext cx="664471" cy="101503"/>
          </a:xfrm>
          <a:prstGeom prst="rect">
            <a:avLst/>
          </a:prstGeom>
          <a:noFill/>
        </p:spPr>
        <p:txBody>
          <a:bodyPr wrap="square" lIns="0" tIns="0" rIns="0" bIns="0" anchor="ctr">
            <a:spAutoFit/>
          </a:bodyPr>
          <a:lstStyle/>
          <a:p>
            <a:pPr algn="ctr">
              <a:lnSpc>
                <a:spcPct val="105000"/>
              </a:lnSpc>
            </a:pPr>
            <a:r>
              <a:rPr sz="675" dirty="0">
                <a:solidFill>
                  <a:srgbClr val="1E293B"/>
                </a:solidFill>
                <a:latin typeface="Arial"/>
              </a:rPr>
              <a:t>Density</a:t>
            </a:r>
          </a:p>
        </p:txBody>
      </p:sp>
      <p:sp>
        <p:nvSpPr>
          <p:cNvPr id="235" name="Find | Receptor card">
            <a:extLst>
              <a:ext uri="{FF2B5EF4-FFF2-40B4-BE49-F238E27FC236}">
                <a16:creationId xmlns:a16="http://schemas.microsoft.com/office/drawing/2014/main" id="{C39711EA-1578-1FDC-F7E5-415822DEC84F}"/>
              </a:ext>
            </a:extLst>
          </p:cNvPr>
          <p:cNvSpPr/>
          <p:nvPr/>
        </p:nvSpPr>
        <p:spPr>
          <a:xfrm>
            <a:off x="469816" y="1028349"/>
            <a:ext cx="489611" cy="727754"/>
          </a:xfrm>
          <a:prstGeom prst="roundRect">
            <a:avLst>
              <a:gd name="adj" fmla="val 6000"/>
            </a:avLst>
          </a:prstGeom>
          <a:solidFill>
            <a:srgbClr val="FFFFFF"/>
          </a:solidFill>
          <a:ln w="7290">
            <a:solidFill>
              <a:srgbClr val="CBD6E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6" name="TextBox 6212">
            <a:extLst>
              <a:ext uri="{FF2B5EF4-FFF2-40B4-BE49-F238E27FC236}">
                <a16:creationId xmlns:a16="http://schemas.microsoft.com/office/drawing/2014/main" id="{4566817F-CA11-3CA5-4ED5-534E4B65A1C1}"/>
              </a:ext>
            </a:extLst>
          </p:cNvPr>
          <p:cNvSpPr txBox="1"/>
          <p:nvPr/>
        </p:nvSpPr>
        <p:spPr>
          <a:xfrm>
            <a:off x="376366" y="1053973"/>
            <a:ext cx="664471" cy="101503"/>
          </a:xfrm>
          <a:prstGeom prst="rect">
            <a:avLst/>
          </a:prstGeom>
          <a:noFill/>
        </p:spPr>
        <p:txBody>
          <a:bodyPr wrap="square" lIns="0" tIns="0" rIns="0" bIns="0" anchor="ctr">
            <a:spAutoFit/>
          </a:bodyPr>
          <a:lstStyle/>
          <a:p>
            <a:pPr algn="ctr">
              <a:lnSpc>
                <a:spcPct val="105000"/>
              </a:lnSpc>
            </a:pPr>
            <a:r>
              <a:rPr sz="675" dirty="0">
                <a:solidFill>
                  <a:srgbClr val="1E293B"/>
                </a:solidFill>
                <a:latin typeface="Arial"/>
              </a:rPr>
              <a:t>Receptor</a:t>
            </a:r>
          </a:p>
        </p:txBody>
      </p:sp>
      <p:sp>
        <p:nvSpPr>
          <p:cNvPr id="237" name="Find | 3D voxel U-Net box">
            <a:extLst>
              <a:ext uri="{FF2B5EF4-FFF2-40B4-BE49-F238E27FC236}">
                <a16:creationId xmlns:a16="http://schemas.microsoft.com/office/drawing/2014/main" id="{84C31B5C-DB46-3102-A094-A625CBC3795B}"/>
              </a:ext>
            </a:extLst>
          </p:cNvPr>
          <p:cNvSpPr/>
          <p:nvPr/>
        </p:nvSpPr>
        <p:spPr>
          <a:xfrm>
            <a:off x="1962711" y="284774"/>
            <a:ext cx="2183263" cy="743575"/>
          </a:xfrm>
          <a:prstGeom prst="roundRect">
            <a:avLst>
              <a:gd name="adj" fmla="val 5000"/>
            </a:avLst>
          </a:prstGeom>
          <a:solidFill>
            <a:srgbClr val="EDF3FA"/>
          </a:solidFill>
          <a:ln w="7290">
            <a:solidFill>
              <a:srgbClr val="C3D4E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8" name="TextBox 6223">
            <a:extLst>
              <a:ext uri="{FF2B5EF4-FFF2-40B4-BE49-F238E27FC236}">
                <a16:creationId xmlns:a16="http://schemas.microsoft.com/office/drawing/2014/main" id="{D0BEE622-6A06-FAEC-A1B9-E12DAFA59B95}"/>
              </a:ext>
            </a:extLst>
          </p:cNvPr>
          <p:cNvSpPr txBox="1"/>
          <p:nvPr/>
        </p:nvSpPr>
        <p:spPr>
          <a:xfrm>
            <a:off x="1962711" y="310561"/>
            <a:ext cx="2183263" cy="106632"/>
          </a:xfrm>
          <a:prstGeom prst="rect">
            <a:avLst/>
          </a:prstGeom>
          <a:noFill/>
        </p:spPr>
        <p:txBody>
          <a:bodyPr wrap="square" lIns="0" tIns="0" rIns="0" bIns="0" anchor="ctr">
            <a:spAutoFit/>
          </a:bodyPr>
          <a:lstStyle/>
          <a:p>
            <a:pPr algn="ctr">
              <a:lnSpc>
                <a:spcPct val="105000"/>
              </a:lnSpc>
            </a:pPr>
            <a:r>
              <a:rPr sz="709">
                <a:solidFill>
                  <a:srgbClr val="1E293B"/>
                </a:solidFill>
                <a:latin typeface="Arial"/>
              </a:rPr>
              <a:t>3D voxel U-Net</a:t>
            </a:r>
          </a:p>
        </p:txBody>
      </p:sp>
      <p:sp>
        <p:nvSpPr>
          <p:cNvPr id="239" name="TextBox 6224">
            <a:extLst>
              <a:ext uri="{FF2B5EF4-FFF2-40B4-BE49-F238E27FC236}">
                <a16:creationId xmlns:a16="http://schemas.microsoft.com/office/drawing/2014/main" id="{6162AD09-868A-9802-DD3F-493AE18E658B}"/>
              </a:ext>
            </a:extLst>
          </p:cNvPr>
          <p:cNvSpPr txBox="1"/>
          <p:nvPr/>
        </p:nvSpPr>
        <p:spPr>
          <a:xfrm>
            <a:off x="1962566" y="415407"/>
            <a:ext cx="2183414" cy="84510"/>
          </a:xfrm>
          <a:prstGeom prst="rect">
            <a:avLst/>
          </a:prstGeom>
          <a:noFill/>
        </p:spPr>
        <p:txBody>
          <a:bodyPr wrap="square" lIns="0" tIns="0" rIns="0" bIns="0" anchor="ctr">
            <a:spAutoFit/>
          </a:bodyPr>
          <a:lstStyle/>
          <a:p>
            <a:pPr algn="ctr">
              <a:lnSpc>
                <a:spcPct val="105000"/>
              </a:lnSpc>
            </a:pPr>
            <a:r>
              <a:rPr sz="562" dirty="0">
                <a:solidFill>
                  <a:srgbClr val="5A6B7C"/>
                </a:solidFill>
                <a:latin typeface="Arial"/>
              </a:rPr>
              <a:t>Skip connections</a:t>
            </a:r>
          </a:p>
        </p:txBody>
      </p:sp>
      <p:sp>
        <p:nvSpPr>
          <p:cNvPr id="240" name="TextBox 10003">
            <a:extLst>
              <a:ext uri="{FF2B5EF4-FFF2-40B4-BE49-F238E27FC236}">
                <a16:creationId xmlns:a16="http://schemas.microsoft.com/office/drawing/2014/main" id="{09C48FDC-7786-8263-4A08-E75021FC8287}"/>
              </a:ext>
            </a:extLst>
          </p:cNvPr>
          <p:cNvSpPr txBox="1"/>
          <p:nvPr/>
        </p:nvSpPr>
        <p:spPr>
          <a:xfrm>
            <a:off x="2128828" y="905035"/>
            <a:ext cx="553726" cy="88422"/>
          </a:xfrm>
          <a:prstGeom prst="rect">
            <a:avLst/>
          </a:prstGeom>
          <a:noFill/>
        </p:spPr>
        <p:txBody>
          <a:bodyPr wrap="square" lIns="0" tIns="0" rIns="0" bIns="0" anchor="ctr">
            <a:spAutoFit/>
          </a:bodyPr>
          <a:lstStyle/>
          <a:p>
            <a:pPr algn="ctr">
              <a:lnSpc>
                <a:spcPct val="105000"/>
              </a:lnSpc>
            </a:pPr>
            <a:r>
              <a:rPr sz="588">
                <a:solidFill>
                  <a:srgbClr val="3B78A8"/>
                </a:solidFill>
                <a:latin typeface="Arial"/>
              </a:rPr>
              <a:t>Encoder</a:t>
            </a:r>
          </a:p>
        </p:txBody>
      </p:sp>
      <p:sp>
        <p:nvSpPr>
          <p:cNvPr id="241" name="TextBox 10004">
            <a:extLst>
              <a:ext uri="{FF2B5EF4-FFF2-40B4-BE49-F238E27FC236}">
                <a16:creationId xmlns:a16="http://schemas.microsoft.com/office/drawing/2014/main" id="{5D7C6AF6-28C5-C78C-2A6D-53148E9C5409}"/>
              </a:ext>
            </a:extLst>
          </p:cNvPr>
          <p:cNvSpPr txBox="1"/>
          <p:nvPr/>
        </p:nvSpPr>
        <p:spPr>
          <a:xfrm>
            <a:off x="2777479" y="905035"/>
            <a:ext cx="553726" cy="88422"/>
          </a:xfrm>
          <a:prstGeom prst="rect">
            <a:avLst/>
          </a:prstGeom>
          <a:noFill/>
        </p:spPr>
        <p:txBody>
          <a:bodyPr wrap="square" lIns="0" tIns="0" rIns="0" bIns="0" anchor="ctr">
            <a:spAutoFit/>
          </a:bodyPr>
          <a:lstStyle/>
          <a:p>
            <a:pPr algn="ctr">
              <a:lnSpc>
                <a:spcPct val="105000"/>
              </a:lnSpc>
            </a:pPr>
            <a:r>
              <a:rPr sz="588">
                <a:solidFill>
                  <a:srgbClr val="7E63A8"/>
                </a:solidFill>
                <a:latin typeface="Arial"/>
              </a:rPr>
              <a:t>Bottleneck</a:t>
            </a:r>
          </a:p>
        </p:txBody>
      </p:sp>
      <p:sp>
        <p:nvSpPr>
          <p:cNvPr id="242" name="TextBox 10005">
            <a:extLst>
              <a:ext uri="{FF2B5EF4-FFF2-40B4-BE49-F238E27FC236}">
                <a16:creationId xmlns:a16="http://schemas.microsoft.com/office/drawing/2014/main" id="{7CC49EB1-DBD1-A7E7-516D-CECCC1D041F1}"/>
              </a:ext>
            </a:extLst>
          </p:cNvPr>
          <p:cNvSpPr txBox="1"/>
          <p:nvPr/>
        </p:nvSpPr>
        <p:spPr>
          <a:xfrm>
            <a:off x="3426130" y="905035"/>
            <a:ext cx="553726" cy="88422"/>
          </a:xfrm>
          <a:prstGeom prst="rect">
            <a:avLst/>
          </a:prstGeom>
          <a:noFill/>
        </p:spPr>
        <p:txBody>
          <a:bodyPr wrap="square" lIns="0" tIns="0" rIns="0" bIns="0" anchor="ctr">
            <a:spAutoFit/>
          </a:bodyPr>
          <a:lstStyle/>
          <a:p>
            <a:pPr algn="ctr">
              <a:lnSpc>
                <a:spcPct val="105000"/>
              </a:lnSpc>
            </a:pPr>
            <a:r>
              <a:rPr sz="588">
                <a:solidFill>
                  <a:srgbClr val="368274"/>
                </a:solidFill>
                <a:latin typeface="Arial"/>
              </a:rPr>
              <a:t>Decoder</a:t>
            </a:r>
          </a:p>
        </p:txBody>
      </p:sp>
      <p:sp>
        <p:nvSpPr>
          <p:cNvPr id="243" name="Find | Point Transformer V3 box">
            <a:extLst>
              <a:ext uri="{FF2B5EF4-FFF2-40B4-BE49-F238E27FC236}">
                <a16:creationId xmlns:a16="http://schemas.microsoft.com/office/drawing/2014/main" id="{E6BB0EBE-E97F-0460-89AE-378626BAD4D7}"/>
              </a:ext>
            </a:extLst>
          </p:cNvPr>
          <p:cNvSpPr/>
          <p:nvPr/>
        </p:nvSpPr>
        <p:spPr>
          <a:xfrm>
            <a:off x="1962711" y="1170736"/>
            <a:ext cx="2183263" cy="585368"/>
          </a:xfrm>
          <a:prstGeom prst="roundRect">
            <a:avLst>
              <a:gd name="adj" fmla="val 5000"/>
            </a:avLst>
          </a:prstGeom>
          <a:solidFill>
            <a:srgbClr val="F2EEF8"/>
          </a:solidFill>
          <a:ln w="7290">
            <a:solidFill>
              <a:srgbClr val="D3CEE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grpSp>
        <p:nvGrpSpPr>
          <p:cNvPr id="244" name="Find | PTV3 stage 1 (no pseudo)">
            <a:extLst>
              <a:ext uri="{FF2B5EF4-FFF2-40B4-BE49-F238E27FC236}">
                <a16:creationId xmlns:a16="http://schemas.microsoft.com/office/drawing/2014/main" id="{B4F71929-AC06-8CA3-B3DD-0D60585A9033}"/>
              </a:ext>
            </a:extLst>
          </p:cNvPr>
          <p:cNvGrpSpPr/>
          <p:nvPr/>
        </p:nvGrpSpPr>
        <p:grpSpPr>
          <a:xfrm>
            <a:off x="2053680" y="1222153"/>
            <a:ext cx="276863" cy="197759"/>
            <a:chOff x="1837958" y="1438830"/>
            <a:chExt cx="279225" cy="243090"/>
          </a:xfrm>
        </p:grpSpPr>
        <p:sp>
          <p:nvSpPr>
            <p:cNvPr id="245" name="rect_1844">
              <a:extLst>
                <a:ext uri="{FF2B5EF4-FFF2-40B4-BE49-F238E27FC236}">
                  <a16:creationId xmlns:a16="http://schemas.microsoft.com/office/drawing/2014/main" id="{660AA888-4092-6DA6-78D3-4B888E2B2DA3}"/>
                </a:ext>
              </a:extLst>
            </p:cNvPr>
            <p:cNvSpPr/>
            <p:nvPr/>
          </p:nvSpPr>
          <p:spPr>
            <a:xfrm>
              <a:off x="1837958" y="1438830"/>
              <a:ext cx="279225" cy="243090"/>
            </a:xfrm>
            <a:prstGeom prst="roundRect">
              <a:avLst>
                <a:gd name="adj" fmla="val 6757"/>
              </a:avLst>
            </a:prstGeom>
            <a:solidFill>
              <a:srgbClr val="F8F5FC"/>
            </a:solidFill>
            <a:ln w="2540" cap="rnd" cmpd="sng" algn="ctr">
              <a:solidFill>
                <a:srgbClr val="BEAED5"/>
              </a:solidFill>
              <a:prstDash val="solid"/>
              <a:round/>
              <a:headEnd type="none" w="med" len="med"/>
              <a:tailEnd type="none" w="med" len="med"/>
            </a:ln>
            <a:effectLst/>
          </p:spPr>
        </p:sp>
        <p:sp>
          <p:nvSpPr>
            <p:cNvPr id="246" name="ellipse_1845">
              <a:extLst>
                <a:ext uri="{FF2B5EF4-FFF2-40B4-BE49-F238E27FC236}">
                  <a16:creationId xmlns:a16="http://schemas.microsoft.com/office/drawing/2014/main" id="{8ED69D04-8A29-A5B5-FEDE-87DBF5A86A21}"/>
                </a:ext>
              </a:extLst>
            </p:cNvPr>
            <p:cNvSpPr/>
            <p:nvPr/>
          </p:nvSpPr>
          <p:spPr>
            <a:xfrm>
              <a:off x="1911179" y="154988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47" name="ellipse_1846">
              <a:extLst>
                <a:ext uri="{FF2B5EF4-FFF2-40B4-BE49-F238E27FC236}">
                  <a16:creationId xmlns:a16="http://schemas.microsoft.com/office/drawing/2014/main" id="{2F757B70-05BB-1D52-EAD7-99F943EE0786}"/>
                </a:ext>
              </a:extLst>
            </p:cNvPr>
            <p:cNvSpPr/>
            <p:nvPr/>
          </p:nvSpPr>
          <p:spPr>
            <a:xfrm>
              <a:off x="2016057" y="15691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48" name="ellipse_1847">
              <a:extLst>
                <a:ext uri="{FF2B5EF4-FFF2-40B4-BE49-F238E27FC236}">
                  <a16:creationId xmlns:a16="http://schemas.microsoft.com/office/drawing/2014/main" id="{33900347-5FB5-F6C0-81F6-93C079B537C5}"/>
                </a:ext>
              </a:extLst>
            </p:cNvPr>
            <p:cNvSpPr/>
            <p:nvPr/>
          </p:nvSpPr>
          <p:spPr>
            <a:xfrm>
              <a:off x="1901005" y="1463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49" name="ellipse_1848">
              <a:extLst>
                <a:ext uri="{FF2B5EF4-FFF2-40B4-BE49-F238E27FC236}">
                  <a16:creationId xmlns:a16="http://schemas.microsoft.com/office/drawing/2014/main" id="{D9E3B372-BB0F-C9A4-3974-A8E7AF7737B7}"/>
                </a:ext>
              </a:extLst>
            </p:cNvPr>
            <p:cNvSpPr/>
            <p:nvPr/>
          </p:nvSpPr>
          <p:spPr>
            <a:xfrm>
              <a:off x="1966917" y="149122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50" name="ellipse_1849">
              <a:extLst>
                <a:ext uri="{FF2B5EF4-FFF2-40B4-BE49-F238E27FC236}">
                  <a16:creationId xmlns:a16="http://schemas.microsoft.com/office/drawing/2014/main" id="{65731899-DB97-2E91-5665-E8C978110F71}"/>
                </a:ext>
              </a:extLst>
            </p:cNvPr>
            <p:cNvSpPr/>
            <p:nvPr/>
          </p:nvSpPr>
          <p:spPr>
            <a:xfrm>
              <a:off x="1981202" y="14619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51" name="ellipse_1850">
              <a:extLst>
                <a:ext uri="{FF2B5EF4-FFF2-40B4-BE49-F238E27FC236}">
                  <a16:creationId xmlns:a16="http://schemas.microsoft.com/office/drawing/2014/main" id="{FB870BF7-7DC4-B374-8AD0-46EC506BB29E}"/>
                </a:ext>
              </a:extLst>
            </p:cNvPr>
            <p:cNvSpPr/>
            <p:nvPr/>
          </p:nvSpPr>
          <p:spPr>
            <a:xfrm>
              <a:off x="2025801" y="15227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52" name="ellipse_1851">
              <a:extLst>
                <a:ext uri="{FF2B5EF4-FFF2-40B4-BE49-F238E27FC236}">
                  <a16:creationId xmlns:a16="http://schemas.microsoft.com/office/drawing/2014/main" id="{FB5210B2-4DAF-5841-3925-445BB6BA8E65}"/>
                </a:ext>
              </a:extLst>
            </p:cNvPr>
            <p:cNvSpPr/>
            <p:nvPr/>
          </p:nvSpPr>
          <p:spPr>
            <a:xfrm>
              <a:off x="1923657" y="157409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53" name="ellipse_1852">
              <a:extLst>
                <a:ext uri="{FF2B5EF4-FFF2-40B4-BE49-F238E27FC236}">
                  <a16:creationId xmlns:a16="http://schemas.microsoft.com/office/drawing/2014/main" id="{5E297BB0-4B0B-7393-6335-0A8D413997FE}"/>
                </a:ext>
              </a:extLst>
            </p:cNvPr>
            <p:cNvSpPr/>
            <p:nvPr/>
          </p:nvSpPr>
          <p:spPr>
            <a:xfrm>
              <a:off x="2046951" y="149268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54" name="ellipse_1853">
              <a:extLst>
                <a:ext uri="{FF2B5EF4-FFF2-40B4-BE49-F238E27FC236}">
                  <a16:creationId xmlns:a16="http://schemas.microsoft.com/office/drawing/2014/main" id="{3460EDB7-F270-4A51-230E-76F07C518E5B}"/>
                </a:ext>
              </a:extLst>
            </p:cNvPr>
            <p:cNvSpPr/>
            <p:nvPr/>
          </p:nvSpPr>
          <p:spPr>
            <a:xfrm>
              <a:off x="1971403" y="1621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55" name="ellipse_1854">
              <a:extLst>
                <a:ext uri="{FF2B5EF4-FFF2-40B4-BE49-F238E27FC236}">
                  <a16:creationId xmlns:a16="http://schemas.microsoft.com/office/drawing/2014/main" id="{D7F22E2B-29AF-AAFC-9390-4763B76AC824}"/>
                </a:ext>
              </a:extLst>
            </p:cNvPr>
            <p:cNvSpPr/>
            <p:nvPr/>
          </p:nvSpPr>
          <p:spPr>
            <a:xfrm>
              <a:off x="1916632" y="148370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grpSp>
      <p:grpSp>
        <p:nvGrpSpPr>
          <p:cNvPr id="256" name="Find | PTV3 stage 2 (no pseudo)">
            <a:extLst>
              <a:ext uri="{FF2B5EF4-FFF2-40B4-BE49-F238E27FC236}">
                <a16:creationId xmlns:a16="http://schemas.microsoft.com/office/drawing/2014/main" id="{F4A044B8-F6CD-9A28-3075-23E9F1427BD6}"/>
              </a:ext>
            </a:extLst>
          </p:cNvPr>
          <p:cNvGrpSpPr/>
          <p:nvPr/>
        </p:nvGrpSpPr>
        <p:grpSpPr>
          <a:xfrm>
            <a:off x="2484443" y="1218198"/>
            <a:ext cx="269656" cy="205670"/>
            <a:chOff x="2276505" y="1465110"/>
            <a:chExt cx="243090" cy="190530"/>
          </a:xfrm>
        </p:grpSpPr>
        <p:sp>
          <p:nvSpPr>
            <p:cNvPr id="257" name="rect_1860">
              <a:extLst>
                <a:ext uri="{FF2B5EF4-FFF2-40B4-BE49-F238E27FC236}">
                  <a16:creationId xmlns:a16="http://schemas.microsoft.com/office/drawing/2014/main" id="{2A2BC9FE-9931-3C68-E213-012D2334D100}"/>
                </a:ext>
              </a:extLst>
            </p:cNvPr>
            <p:cNvSpPr/>
            <p:nvPr/>
          </p:nvSpPr>
          <p:spPr>
            <a:xfrm>
              <a:off x="2276505" y="1465110"/>
              <a:ext cx="243090" cy="190530"/>
            </a:xfrm>
            <a:prstGeom prst="roundRect">
              <a:avLst>
                <a:gd name="adj" fmla="val 8621"/>
              </a:avLst>
            </a:prstGeom>
            <a:solidFill>
              <a:srgbClr val="F8F5FC"/>
            </a:solidFill>
            <a:ln w="2540" cap="rnd" cmpd="sng" algn="ctr">
              <a:solidFill>
                <a:srgbClr val="BEAED5"/>
              </a:solidFill>
              <a:prstDash val="solid"/>
              <a:round/>
              <a:headEnd type="none" w="med" len="med"/>
              <a:tailEnd type="none" w="med" len="med"/>
            </a:ln>
            <a:effectLst/>
          </p:spPr>
        </p:sp>
        <p:sp>
          <p:nvSpPr>
            <p:cNvPr id="258" name="ellipse_1861">
              <a:extLst>
                <a:ext uri="{FF2B5EF4-FFF2-40B4-BE49-F238E27FC236}">
                  <a16:creationId xmlns:a16="http://schemas.microsoft.com/office/drawing/2014/main" id="{0D3FC1DA-E4D9-46A0-549F-86D3BA55D6FD}"/>
                </a:ext>
              </a:extLst>
            </p:cNvPr>
            <p:cNvSpPr/>
            <p:nvPr/>
          </p:nvSpPr>
          <p:spPr>
            <a:xfrm>
              <a:off x="2443383" y="14753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59" name="ellipse_1862">
              <a:extLst>
                <a:ext uri="{FF2B5EF4-FFF2-40B4-BE49-F238E27FC236}">
                  <a16:creationId xmlns:a16="http://schemas.microsoft.com/office/drawing/2014/main" id="{2E76A36E-124A-FF28-5F0C-9D8A556CAB6E}"/>
                </a:ext>
              </a:extLst>
            </p:cNvPr>
            <p:cNvSpPr/>
            <p:nvPr/>
          </p:nvSpPr>
          <p:spPr>
            <a:xfrm>
              <a:off x="2334302" y="149054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60" name="ellipse_1863">
              <a:extLst>
                <a:ext uri="{FF2B5EF4-FFF2-40B4-BE49-F238E27FC236}">
                  <a16:creationId xmlns:a16="http://schemas.microsoft.com/office/drawing/2014/main" id="{D535EE24-6485-F339-2CB7-F9EF085CB943}"/>
                </a:ext>
              </a:extLst>
            </p:cNvPr>
            <p:cNvSpPr/>
            <p:nvPr/>
          </p:nvSpPr>
          <p:spPr>
            <a:xfrm>
              <a:off x="2421391" y="151821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61" name="ellipse_1864">
              <a:extLst>
                <a:ext uri="{FF2B5EF4-FFF2-40B4-BE49-F238E27FC236}">
                  <a16:creationId xmlns:a16="http://schemas.microsoft.com/office/drawing/2014/main" id="{3E3B8E8E-0D51-B463-1AC5-8ABBD0D94E5F}"/>
                </a:ext>
              </a:extLst>
            </p:cNvPr>
            <p:cNvSpPr/>
            <p:nvPr/>
          </p:nvSpPr>
          <p:spPr>
            <a:xfrm>
              <a:off x="2395798" y="148175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62" name="ellipse_1865">
              <a:extLst>
                <a:ext uri="{FF2B5EF4-FFF2-40B4-BE49-F238E27FC236}">
                  <a16:creationId xmlns:a16="http://schemas.microsoft.com/office/drawing/2014/main" id="{A78CC97C-CF00-B4B4-232A-6540F415567F}"/>
                </a:ext>
              </a:extLst>
            </p:cNvPr>
            <p:cNvSpPr/>
            <p:nvPr/>
          </p:nvSpPr>
          <p:spPr>
            <a:xfrm>
              <a:off x="2345071" y="160888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63" name="ellipse_1866">
              <a:extLst>
                <a:ext uri="{FF2B5EF4-FFF2-40B4-BE49-F238E27FC236}">
                  <a16:creationId xmlns:a16="http://schemas.microsoft.com/office/drawing/2014/main" id="{1C7DD56E-5535-8B2E-615C-21EEB3FC0B60}"/>
                </a:ext>
              </a:extLst>
            </p:cNvPr>
            <p:cNvSpPr/>
            <p:nvPr/>
          </p:nvSpPr>
          <p:spPr>
            <a:xfrm>
              <a:off x="2455927" y="15235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64" name="ellipse_1867">
              <a:extLst>
                <a:ext uri="{FF2B5EF4-FFF2-40B4-BE49-F238E27FC236}">
                  <a16:creationId xmlns:a16="http://schemas.microsoft.com/office/drawing/2014/main" id="{53E5DFEF-A738-E1E2-6D82-562898867479}"/>
                </a:ext>
              </a:extLst>
            </p:cNvPr>
            <p:cNvSpPr/>
            <p:nvPr/>
          </p:nvSpPr>
          <p:spPr>
            <a:xfrm>
              <a:off x="2415612" y="15382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65" name="ellipse_1868">
              <a:extLst>
                <a:ext uri="{FF2B5EF4-FFF2-40B4-BE49-F238E27FC236}">
                  <a16:creationId xmlns:a16="http://schemas.microsoft.com/office/drawing/2014/main" id="{9F15DB89-4578-E9D4-B66C-9772D337DE92}"/>
                </a:ext>
              </a:extLst>
            </p:cNvPr>
            <p:cNvSpPr/>
            <p:nvPr/>
          </p:nvSpPr>
          <p:spPr>
            <a:xfrm>
              <a:off x="2384162" y="155385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grpSp>
      <p:grpSp>
        <p:nvGrpSpPr>
          <p:cNvPr id="266" name="Find | PTV3 stage 3 (no pseudo)">
            <a:extLst>
              <a:ext uri="{FF2B5EF4-FFF2-40B4-BE49-F238E27FC236}">
                <a16:creationId xmlns:a16="http://schemas.microsoft.com/office/drawing/2014/main" id="{8E5AF76E-A5D2-A1C4-1196-A1FB989CBECC}"/>
              </a:ext>
            </a:extLst>
          </p:cNvPr>
          <p:cNvGrpSpPr/>
          <p:nvPr/>
        </p:nvGrpSpPr>
        <p:grpSpPr>
          <a:xfrm>
            <a:off x="2932283" y="1230063"/>
            <a:ext cx="244120" cy="181939"/>
            <a:chOff x="2703555" y="1491390"/>
            <a:chExt cx="190530" cy="137970"/>
          </a:xfrm>
        </p:grpSpPr>
        <p:sp>
          <p:nvSpPr>
            <p:cNvPr id="267" name="rect_1874">
              <a:extLst>
                <a:ext uri="{FF2B5EF4-FFF2-40B4-BE49-F238E27FC236}">
                  <a16:creationId xmlns:a16="http://schemas.microsoft.com/office/drawing/2014/main" id="{75101B77-5988-FEB7-22BD-46F0384ADBC8}"/>
                </a:ext>
              </a:extLst>
            </p:cNvPr>
            <p:cNvSpPr/>
            <p:nvPr/>
          </p:nvSpPr>
          <p:spPr>
            <a:xfrm>
              <a:off x="2703555" y="1491390"/>
              <a:ext cx="190530" cy="137970"/>
            </a:xfrm>
            <a:prstGeom prst="roundRect">
              <a:avLst>
                <a:gd name="adj" fmla="val 11905"/>
              </a:avLst>
            </a:prstGeom>
            <a:solidFill>
              <a:srgbClr val="F8F5FC"/>
            </a:solidFill>
            <a:ln w="2540" cap="rnd" cmpd="sng" algn="ctr">
              <a:solidFill>
                <a:srgbClr val="BEAED5"/>
              </a:solidFill>
              <a:prstDash val="solid"/>
              <a:round/>
              <a:headEnd type="none" w="med" len="med"/>
              <a:tailEnd type="none" w="med" len="med"/>
            </a:ln>
            <a:effectLst/>
          </p:spPr>
        </p:sp>
        <p:sp>
          <p:nvSpPr>
            <p:cNvPr id="268" name="ellipse_1875">
              <a:extLst>
                <a:ext uri="{FF2B5EF4-FFF2-40B4-BE49-F238E27FC236}">
                  <a16:creationId xmlns:a16="http://schemas.microsoft.com/office/drawing/2014/main" id="{0F3768B9-45DC-D239-6ECE-6B199905A0E6}"/>
                </a:ext>
              </a:extLst>
            </p:cNvPr>
            <p:cNvSpPr/>
            <p:nvPr/>
          </p:nvSpPr>
          <p:spPr>
            <a:xfrm>
              <a:off x="2782342" y="152486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69" name="ellipse_1876">
              <a:extLst>
                <a:ext uri="{FF2B5EF4-FFF2-40B4-BE49-F238E27FC236}">
                  <a16:creationId xmlns:a16="http://schemas.microsoft.com/office/drawing/2014/main" id="{9AC2E9D9-EA81-CB60-9668-376E55C3B65A}"/>
                </a:ext>
              </a:extLst>
            </p:cNvPr>
            <p:cNvSpPr/>
            <p:nvPr/>
          </p:nvSpPr>
          <p:spPr>
            <a:xfrm>
              <a:off x="2750750" y="159446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70" name="ellipse_1877">
              <a:extLst>
                <a:ext uri="{FF2B5EF4-FFF2-40B4-BE49-F238E27FC236}">
                  <a16:creationId xmlns:a16="http://schemas.microsoft.com/office/drawing/2014/main" id="{193512C0-B984-BF26-53B2-A4C133832B19}"/>
                </a:ext>
              </a:extLst>
            </p:cNvPr>
            <p:cNvSpPr/>
            <p:nvPr/>
          </p:nvSpPr>
          <p:spPr>
            <a:xfrm>
              <a:off x="2743887" y="14971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71" name="ellipse_1878">
              <a:extLst>
                <a:ext uri="{FF2B5EF4-FFF2-40B4-BE49-F238E27FC236}">
                  <a16:creationId xmlns:a16="http://schemas.microsoft.com/office/drawing/2014/main" id="{010957FC-182F-1FF9-1554-385555C7E5BB}"/>
                </a:ext>
              </a:extLst>
            </p:cNvPr>
            <p:cNvSpPr/>
            <p:nvPr/>
          </p:nvSpPr>
          <p:spPr>
            <a:xfrm>
              <a:off x="2833390" y="151132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72" name="ellipse_1879">
              <a:extLst>
                <a:ext uri="{FF2B5EF4-FFF2-40B4-BE49-F238E27FC236}">
                  <a16:creationId xmlns:a16="http://schemas.microsoft.com/office/drawing/2014/main" id="{D3BED3D3-6945-FBFB-0ADC-29AB3D61D264}"/>
                </a:ext>
              </a:extLst>
            </p:cNvPr>
            <p:cNvSpPr/>
            <p:nvPr/>
          </p:nvSpPr>
          <p:spPr>
            <a:xfrm>
              <a:off x="2831792" y="156772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grpSp>
      <p:grpSp>
        <p:nvGrpSpPr>
          <p:cNvPr id="273" name="Find | PTV3 stage 4 (no pseudo)">
            <a:extLst>
              <a:ext uri="{FF2B5EF4-FFF2-40B4-BE49-F238E27FC236}">
                <a16:creationId xmlns:a16="http://schemas.microsoft.com/office/drawing/2014/main" id="{6152C243-7C11-72B4-655A-F6C20103F058}"/>
              </a:ext>
            </a:extLst>
          </p:cNvPr>
          <p:cNvGrpSpPr/>
          <p:nvPr/>
        </p:nvGrpSpPr>
        <p:grpSpPr>
          <a:xfrm>
            <a:off x="3354586" y="1218198"/>
            <a:ext cx="269656" cy="205670"/>
            <a:chOff x="3097755" y="1465110"/>
            <a:chExt cx="243090" cy="190530"/>
          </a:xfrm>
        </p:grpSpPr>
        <p:sp>
          <p:nvSpPr>
            <p:cNvPr id="274" name="rect_1885">
              <a:extLst>
                <a:ext uri="{FF2B5EF4-FFF2-40B4-BE49-F238E27FC236}">
                  <a16:creationId xmlns:a16="http://schemas.microsoft.com/office/drawing/2014/main" id="{02A84936-E0C4-22EE-AB39-B8147866C1E6}"/>
                </a:ext>
              </a:extLst>
            </p:cNvPr>
            <p:cNvSpPr/>
            <p:nvPr/>
          </p:nvSpPr>
          <p:spPr>
            <a:xfrm>
              <a:off x="3097755" y="1465110"/>
              <a:ext cx="243090" cy="190530"/>
            </a:xfrm>
            <a:prstGeom prst="roundRect">
              <a:avLst>
                <a:gd name="adj" fmla="val 8621"/>
              </a:avLst>
            </a:prstGeom>
            <a:solidFill>
              <a:srgbClr val="F8F5FC"/>
            </a:solidFill>
            <a:ln w="2540" cap="rnd" cmpd="sng" algn="ctr">
              <a:solidFill>
                <a:srgbClr val="BEAED5"/>
              </a:solidFill>
              <a:prstDash val="solid"/>
              <a:round/>
              <a:headEnd type="none" w="med" len="med"/>
              <a:tailEnd type="none" w="med" len="med"/>
            </a:ln>
            <a:effectLst/>
          </p:spPr>
        </p:sp>
        <p:sp>
          <p:nvSpPr>
            <p:cNvPr id="275" name="ellipse_1886">
              <a:extLst>
                <a:ext uri="{FF2B5EF4-FFF2-40B4-BE49-F238E27FC236}">
                  <a16:creationId xmlns:a16="http://schemas.microsoft.com/office/drawing/2014/main" id="{28C5B77C-D4DA-25CA-7F5E-FFB406D4948B}"/>
                </a:ext>
              </a:extLst>
            </p:cNvPr>
            <p:cNvSpPr/>
            <p:nvPr/>
          </p:nvSpPr>
          <p:spPr>
            <a:xfrm>
              <a:off x="3274804" y="154785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76" name="ellipse_1887">
              <a:extLst>
                <a:ext uri="{FF2B5EF4-FFF2-40B4-BE49-F238E27FC236}">
                  <a16:creationId xmlns:a16="http://schemas.microsoft.com/office/drawing/2014/main" id="{4B9C2CC8-3618-CEA6-223F-481DE7645A74}"/>
                </a:ext>
              </a:extLst>
            </p:cNvPr>
            <p:cNvSpPr/>
            <p:nvPr/>
          </p:nvSpPr>
          <p:spPr>
            <a:xfrm>
              <a:off x="3235593" y="156879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77" name="ellipse_1888">
              <a:extLst>
                <a:ext uri="{FF2B5EF4-FFF2-40B4-BE49-F238E27FC236}">
                  <a16:creationId xmlns:a16="http://schemas.microsoft.com/office/drawing/2014/main" id="{116AA07D-1658-6583-2048-22DAA979C713}"/>
                </a:ext>
              </a:extLst>
            </p:cNvPr>
            <p:cNvSpPr/>
            <p:nvPr/>
          </p:nvSpPr>
          <p:spPr>
            <a:xfrm>
              <a:off x="3215524" y="154839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78" name="ellipse_1889">
              <a:extLst>
                <a:ext uri="{FF2B5EF4-FFF2-40B4-BE49-F238E27FC236}">
                  <a16:creationId xmlns:a16="http://schemas.microsoft.com/office/drawing/2014/main" id="{B9996B1C-4365-A5B2-A0FA-BEEE1AE3580D}"/>
                </a:ext>
              </a:extLst>
            </p:cNvPr>
            <p:cNvSpPr/>
            <p:nvPr/>
          </p:nvSpPr>
          <p:spPr>
            <a:xfrm>
              <a:off x="3114632" y="15799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79" name="ellipse_1890">
              <a:extLst>
                <a:ext uri="{FF2B5EF4-FFF2-40B4-BE49-F238E27FC236}">
                  <a16:creationId xmlns:a16="http://schemas.microsoft.com/office/drawing/2014/main" id="{B24EA66B-C475-FD74-3653-99240EA2FC7D}"/>
                </a:ext>
              </a:extLst>
            </p:cNvPr>
            <p:cNvSpPr/>
            <p:nvPr/>
          </p:nvSpPr>
          <p:spPr>
            <a:xfrm>
              <a:off x="3288227" y="158414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80" name="ellipse_1891">
              <a:extLst>
                <a:ext uri="{FF2B5EF4-FFF2-40B4-BE49-F238E27FC236}">
                  <a16:creationId xmlns:a16="http://schemas.microsoft.com/office/drawing/2014/main" id="{7C05A257-A858-E4EC-CE72-2E262BB52B07}"/>
                </a:ext>
              </a:extLst>
            </p:cNvPr>
            <p:cNvSpPr/>
            <p:nvPr/>
          </p:nvSpPr>
          <p:spPr>
            <a:xfrm>
              <a:off x="3206468" y="16100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81" name="ellipse_1892">
              <a:extLst>
                <a:ext uri="{FF2B5EF4-FFF2-40B4-BE49-F238E27FC236}">
                  <a16:creationId xmlns:a16="http://schemas.microsoft.com/office/drawing/2014/main" id="{5029BF78-C694-94BA-2390-D6FC0A6BFD81}"/>
                </a:ext>
              </a:extLst>
            </p:cNvPr>
            <p:cNvSpPr/>
            <p:nvPr/>
          </p:nvSpPr>
          <p:spPr>
            <a:xfrm>
              <a:off x="3224851" y="161218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82" name="ellipse_1893">
              <a:extLst>
                <a:ext uri="{FF2B5EF4-FFF2-40B4-BE49-F238E27FC236}">
                  <a16:creationId xmlns:a16="http://schemas.microsoft.com/office/drawing/2014/main" id="{B400169A-5E49-FEE5-1915-FCB9E751F312}"/>
                </a:ext>
              </a:extLst>
            </p:cNvPr>
            <p:cNvSpPr/>
            <p:nvPr/>
          </p:nvSpPr>
          <p:spPr>
            <a:xfrm>
              <a:off x="3255857" y="14772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grpSp>
      <p:grpSp>
        <p:nvGrpSpPr>
          <p:cNvPr id="283" name="Find | PTV3 stage 5 (no pseudo)">
            <a:extLst>
              <a:ext uri="{FF2B5EF4-FFF2-40B4-BE49-F238E27FC236}">
                <a16:creationId xmlns:a16="http://schemas.microsoft.com/office/drawing/2014/main" id="{FE5D4BB8-AE08-CFDC-14F9-58D62B643799}"/>
              </a:ext>
            </a:extLst>
          </p:cNvPr>
          <p:cNvGrpSpPr/>
          <p:nvPr/>
        </p:nvGrpSpPr>
        <p:grpSpPr>
          <a:xfrm>
            <a:off x="3778141" y="1222153"/>
            <a:ext cx="276863" cy="197759"/>
            <a:chOff x="3473888" y="1438830"/>
            <a:chExt cx="279225" cy="243090"/>
          </a:xfrm>
        </p:grpSpPr>
        <p:sp>
          <p:nvSpPr>
            <p:cNvPr id="284" name="rect_1899">
              <a:extLst>
                <a:ext uri="{FF2B5EF4-FFF2-40B4-BE49-F238E27FC236}">
                  <a16:creationId xmlns:a16="http://schemas.microsoft.com/office/drawing/2014/main" id="{3C966A44-931E-3C61-C3E2-9910BF785D0E}"/>
                </a:ext>
              </a:extLst>
            </p:cNvPr>
            <p:cNvSpPr/>
            <p:nvPr/>
          </p:nvSpPr>
          <p:spPr>
            <a:xfrm>
              <a:off x="3473888" y="1438830"/>
              <a:ext cx="279225" cy="243090"/>
            </a:xfrm>
            <a:prstGeom prst="roundRect">
              <a:avLst>
                <a:gd name="adj" fmla="val 6757"/>
              </a:avLst>
            </a:prstGeom>
            <a:solidFill>
              <a:srgbClr val="F8F5FC"/>
            </a:solidFill>
            <a:ln w="2540" cap="rnd" cmpd="sng" algn="ctr">
              <a:solidFill>
                <a:srgbClr val="BEAED5"/>
              </a:solidFill>
              <a:prstDash val="solid"/>
              <a:round/>
              <a:headEnd type="none" w="med" len="med"/>
              <a:tailEnd type="none" w="med" len="med"/>
            </a:ln>
            <a:effectLst/>
          </p:spPr>
        </p:sp>
        <p:sp>
          <p:nvSpPr>
            <p:cNvPr id="285" name="ellipse_1900">
              <a:extLst>
                <a:ext uri="{FF2B5EF4-FFF2-40B4-BE49-F238E27FC236}">
                  <a16:creationId xmlns:a16="http://schemas.microsoft.com/office/drawing/2014/main" id="{0734BB70-ADDB-68EE-E4C9-F1E9F19AF6E7}"/>
                </a:ext>
              </a:extLst>
            </p:cNvPr>
            <p:cNvSpPr/>
            <p:nvPr/>
          </p:nvSpPr>
          <p:spPr>
            <a:xfrm>
              <a:off x="3538819" y="148253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86" name="ellipse_1901">
              <a:extLst>
                <a:ext uri="{FF2B5EF4-FFF2-40B4-BE49-F238E27FC236}">
                  <a16:creationId xmlns:a16="http://schemas.microsoft.com/office/drawing/2014/main" id="{50CDA3FC-9E47-A0FF-54FE-0B291B80C55E}"/>
                </a:ext>
              </a:extLst>
            </p:cNvPr>
            <p:cNvSpPr/>
            <p:nvPr/>
          </p:nvSpPr>
          <p:spPr>
            <a:xfrm>
              <a:off x="3631999" y="157809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87" name="ellipse_1902">
              <a:extLst>
                <a:ext uri="{FF2B5EF4-FFF2-40B4-BE49-F238E27FC236}">
                  <a16:creationId xmlns:a16="http://schemas.microsoft.com/office/drawing/2014/main" id="{FDEE2D57-7D4E-037C-452C-66A797AB07C9}"/>
                </a:ext>
              </a:extLst>
            </p:cNvPr>
            <p:cNvSpPr/>
            <p:nvPr/>
          </p:nvSpPr>
          <p:spPr>
            <a:xfrm>
              <a:off x="3687564" y="15901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88" name="ellipse_1903">
              <a:extLst>
                <a:ext uri="{FF2B5EF4-FFF2-40B4-BE49-F238E27FC236}">
                  <a16:creationId xmlns:a16="http://schemas.microsoft.com/office/drawing/2014/main" id="{B2C7060E-B2BB-F02D-5B6F-B7D323B087B4}"/>
                </a:ext>
              </a:extLst>
            </p:cNvPr>
            <p:cNvSpPr/>
            <p:nvPr/>
          </p:nvSpPr>
          <p:spPr>
            <a:xfrm>
              <a:off x="3686262" y="162539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89" name="ellipse_1904">
              <a:extLst>
                <a:ext uri="{FF2B5EF4-FFF2-40B4-BE49-F238E27FC236}">
                  <a16:creationId xmlns:a16="http://schemas.microsoft.com/office/drawing/2014/main" id="{7DE1C447-AFD4-DD7C-5DE0-0E96E8153D12}"/>
                </a:ext>
              </a:extLst>
            </p:cNvPr>
            <p:cNvSpPr/>
            <p:nvPr/>
          </p:nvSpPr>
          <p:spPr>
            <a:xfrm>
              <a:off x="3673847" y="145725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90" name="ellipse_1905">
              <a:extLst>
                <a:ext uri="{FF2B5EF4-FFF2-40B4-BE49-F238E27FC236}">
                  <a16:creationId xmlns:a16="http://schemas.microsoft.com/office/drawing/2014/main" id="{536BBD44-5D8E-E642-7EFE-DC301B9D3F7F}"/>
                </a:ext>
              </a:extLst>
            </p:cNvPr>
            <p:cNvSpPr/>
            <p:nvPr/>
          </p:nvSpPr>
          <p:spPr>
            <a:xfrm>
              <a:off x="3580150" y="160304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91" name="ellipse_1906">
              <a:extLst>
                <a:ext uri="{FF2B5EF4-FFF2-40B4-BE49-F238E27FC236}">
                  <a16:creationId xmlns:a16="http://schemas.microsoft.com/office/drawing/2014/main" id="{2D018CC6-8BB4-0573-830A-62F9771BB455}"/>
                </a:ext>
              </a:extLst>
            </p:cNvPr>
            <p:cNvSpPr/>
            <p:nvPr/>
          </p:nvSpPr>
          <p:spPr>
            <a:xfrm>
              <a:off x="3499431" y="147999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92" name="ellipse_1907">
              <a:extLst>
                <a:ext uri="{FF2B5EF4-FFF2-40B4-BE49-F238E27FC236}">
                  <a16:creationId xmlns:a16="http://schemas.microsoft.com/office/drawing/2014/main" id="{3D9BABC9-7179-80DF-931B-76C5D153BFA2}"/>
                </a:ext>
              </a:extLst>
            </p:cNvPr>
            <p:cNvSpPr/>
            <p:nvPr/>
          </p:nvSpPr>
          <p:spPr>
            <a:xfrm>
              <a:off x="3698498" y="163375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93" name="ellipse_1908">
              <a:extLst>
                <a:ext uri="{FF2B5EF4-FFF2-40B4-BE49-F238E27FC236}">
                  <a16:creationId xmlns:a16="http://schemas.microsoft.com/office/drawing/2014/main" id="{BF41BEF8-8F67-637A-F426-1015DD3C37FC}"/>
                </a:ext>
              </a:extLst>
            </p:cNvPr>
            <p:cNvSpPr/>
            <p:nvPr/>
          </p:nvSpPr>
          <p:spPr>
            <a:xfrm>
              <a:off x="3664475" y="160668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94" name="ellipse_1909">
              <a:extLst>
                <a:ext uri="{FF2B5EF4-FFF2-40B4-BE49-F238E27FC236}">
                  <a16:creationId xmlns:a16="http://schemas.microsoft.com/office/drawing/2014/main" id="{E57407DB-12F2-A10B-73ED-904E74E89684}"/>
                </a:ext>
              </a:extLst>
            </p:cNvPr>
            <p:cNvSpPr/>
            <p:nvPr/>
          </p:nvSpPr>
          <p:spPr>
            <a:xfrm>
              <a:off x="3577670" y="157500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grpSp>
      <p:sp>
        <p:nvSpPr>
          <p:cNvPr id="295" name="Rectangle 12150">
            <a:extLst>
              <a:ext uri="{FF2B5EF4-FFF2-40B4-BE49-F238E27FC236}">
                <a16:creationId xmlns:a16="http://schemas.microsoft.com/office/drawing/2014/main" id="{8BB2EAEF-8D89-55B5-F883-4E54E99BD78E}"/>
              </a:ext>
            </a:extLst>
          </p:cNvPr>
          <p:cNvSpPr/>
          <p:nvPr/>
        </p:nvSpPr>
        <p:spPr>
          <a:xfrm>
            <a:off x="2848673" y="1487151"/>
            <a:ext cx="411339" cy="102835"/>
          </a:xfrm>
          <a:prstGeom prst="rect">
            <a:avLst/>
          </a:prstGeom>
          <a:solidFill>
            <a:srgbClr val="F2EE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96" name="TextBox 12151">
            <a:extLst>
              <a:ext uri="{FF2B5EF4-FFF2-40B4-BE49-F238E27FC236}">
                <a16:creationId xmlns:a16="http://schemas.microsoft.com/office/drawing/2014/main" id="{EF55ECE2-C6C0-8216-6F8B-11F814326338}"/>
              </a:ext>
            </a:extLst>
          </p:cNvPr>
          <p:cNvSpPr txBox="1"/>
          <p:nvPr/>
        </p:nvSpPr>
        <p:spPr>
          <a:xfrm>
            <a:off x="2832852" y="1495608"/>
            <a:ext cx="442981" cy="85921"/>
          </a:xfrm>
          <a:prstGeom prst="rect">
            <a:avLst/>
          </a:prstGeom>
          <a:noFill/>
        </p:spPr>
        <p:txBody>
          <a:bodyPr wrap="square" lIns="0" tIns="0" rIns="0" bIns="0" anchor="ctr">
            <a:spAutoFit/>
          </a:bodyPr>
          <a:lstStyle/>
          <a:p>
            <a:pPr algn="ctr">
              <a:lnSpc>
                <a:spcPct val="105000"/>
              </a:lnSpc>
            </a:pPr>
            <a:r>
              <a:rPr sz="571" i="1">
                <a:solidFill>
                  <a:srgbClr val="3B7DB5"/>
                </a:solidFill>
                <a:latin typeface="Arial"/>
              </a:rPr>
              <a:t>Recycle</a:t>
            </a:r>
          </a:p>
        </p:txBody>
      </p:sp>
      <p:sp>
        <p:nvSpPr>
          <p:cNvPr id="297" name="TextBox 12152">
            <a:extLst>
              <a:ext uri="{FF2B5EF4-FFF2-40B4-BE49-F238E27FC236}">
                <a16:creationId xmlns:a16="http://schemas.microsoft.com/office/drawing/2014/main" id="{DA95DC65-9861-CC7E-7EFC-4B9E07722C91}"/>
              </a:ext>
            </a:extLst>
          </p:cNvPr>
          <p:cNvSpPr txBox="1"/>
          <p:nvPr/>
        </p:nvSpPr>
        <p:spPr>
          <a:xfrm>
            <a:off x="1962711" y="1615773"/>
            <a:ext cx="2183263" cy="106632"/>
          </a:xfrm>
          <a:prstGeom prst="rect">
            <a:avLst/>
          </a:prstGeom>
          <a:noFill/>
        </p:spPr>
        <p:txBody>
          <a:bodyPr wrap="square" lIns="0" tIns="0" rIns="0" bIns="0" anchor="ctr">
            <a:spAutoFit/>
          </a:bodyPr>
          <a:lstStyle/>
          <a:p>
            <a:pPr algn="ctr">
              <a:lnSpc>
                <a:spcPct val="105000"/>
              </a:lnSpc>
            </a:pPr>
            <a:r>
              <a:rPr sz="709">
                <a:solidFill>
                  <a:srgbClr val="1E293B"/>
                </a:solidFill>
                <a:latin typeface="Arial"/>
              </a:rPr>
              <a:t>Point Transformer V3</a:t>
            </a:r>
          </a:p>
        </p:txBody>
      </p:sp>
      <p:sp>
        <p:nvSpPr>
          <p:cNvPr id="298" name="TextBox 12153">
            <a:extLst>
              <a:ext uri="{FF2B5EF4-FFF2-40B4-BE49-F238E27FC236}">
                <a16:creationId xmlns:a16="http://schemas.microsoft.com/office/drawing/2014/main" id="{522E41DD-5F6E-76BD-E92F-5CBA886A651B}"/>
              </a:ext>
            </a:extLst>
          </p:cNvPr>
          <p:cNvSpPr txBox="1"/>
          <p:nvPr/>
        </p:nvSpPr>
        <p:spPr>
          <a:xfrm>
            <a:off x="2809120" y="1058360"/>
            <a:ext cx="767306" cy="88422"/>
          </a:xfrm>
          <a:prstGeom prst="rect">
            <a:avLst/>
          </a:prstGeom>
          <a:noFill/>
        </p:spPr>
        <p:txBody>
          <a:bodyPr wrap="square" lIns="0" tIns="0" rIns="0" bIns="0" anchor="ctr">
            <a:spAutoFit/>
          </a:bodyPr>
          <a:lstStyle/>
          <a:p>
            <a:pPr algn="ctr">
              <a:lnSpc>
                <a:spcPct val="105000"/>
              </a:lnSpc>
            </a:pPr>
            <a:r>
              <a:rPr lang="en-US" sz="588" dirty="0">
                <a:solidFill>
                  <a:srgbClr val="2B6CB0"/>
                </a:solidFill>
                <a:latin typeface="Arial"/>
              </a:rPr>
              <a:t>F</a:t>
            </a:r>
            <a:r>
              <a:rPr sz="588" dirty="0">
                <a:solidFill>
                  <a:srgbClr val="2B6CB0"/>
                </a:solidFill>
                <a:latin typeface="Arial"/>
              </a:rPr>
              <a:t>usion</a:t>
            </a:r>
          </a:p>
        </p:txBody>
      </p:sp>
      <p:sp>
        <p:nvSpPr>
          <p:cNvPr id="299" name="Find | Blobs output card">
            <a:extLst>
              <a:ext uri="{FF2B5EF4-FFF2-40B4-BE49-F238E27FC236}">
                <a16:creationId xmlns:a16="http://schemas.microsoft.com/office/drawing/2014/main" id="{6A602B9B-DE58-7AA0-FDBA-741F60C78A9B}"/>
              </a:ext>
            </a:extLst>
          </p:cNvPr>
          <p:cNvSpPr/>
          <p:nvPr/>
        </p:nvSpPr>
        <p:spPr>
          <a:xfrm>
            <a:off x="4329930" y="284775"/>
            <a:ext cx="442980" cy="1471328"/>
          </a:xfrm>
          <a:prstGeom prst="roundRect">
            <a:avLst>
              <a:gd name="adj" fmla="val 6000"/>
            </a:avLst>
          </a:prstGeom>
          <a:solidFill>
            <a:srgbClr val="FFFFFF"/>
          </a:solidFill>
          <a:ln w="7290">
            <a:solidFill>
              <a:srgbClr val="CBD6E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300" name="TextBox 12155">
            <a:extLst>
              <a:ext uri="{FF2B5EF4-FFF2-40B4-BE49-F238E27FC236}">
                <a16:creationId xmlns:a16="http://schemas.microsoft.com/office/drawing/2014/main" id="{1F7C0F6F-D082-C8AA-DE11-4286EF42AADB}"/>
              </a:ext>
            </a:extLst>
          </p:cNvPr>
          <p:cNvSpPr txBox="1"/>
          <p:nvPr/>
        </p:nvSpPr>
        <p:spPr>
          <a:xfrm>
            <a:off x="4206267" y="307007"/>
            <a:ext cx="696113" cy="111954"/>
          </a:xfrm>
          <a:prstGeom prst="rect">
            <a:avLst/>
          </a:prstGeom>
          <a:noFill/>
        </p:spPr>
        <p:txBody>
          <a:bodyPr wrap="square" lIns="0" tIns="0" rIns="0" bIns="0" anchor="ctr">
            <a:spAutoFit/>
          </a:bodyPr>
          <a:lstStyle/>
          <a:p>
            <a:pPr algn="ctr">
              <a:lnSpc>
                <a:spcPct val="105000"/>
              </a:lnSpc>
            </a:pPr>
            <a:r>
              <a:rPr sz="744" dirty="0">
                <a:solidFill>
                  <a:srgbClr val="1E293B"/>
                </a:solidFill>
                <a:latin typeface="Arial"/>
              </a:rPr>
              <a:t>Blobs</a:t>
            </a:r>
          </a:p>
        </p:txBody>
      </p:sp>
      <p:sp>
        <p:nvSpPr>
          <p:cNvPr id="301" name="TextBox 12160">
            <a:extLst>
              <a:ext uri="{FF2B5EF4-FFF2-40B4-BE49-F238E27FC236}">
                <a16:creationId xmlns:a16="http://schemas.microsoft.com/office/drawing/2014/main" id="{EBF2AA16-9B52-B84F-43EE-03BA82B2D4CA}"/>
              </a:ext>
            </a:extLst>
          </p:cNvPr>
          <p:cNvSpPr txBox="1"/>
          <p:nvPr/>
        </p:nvSpPr>
        <p:spPr>
          <a:xfrm>
            <a:off x="677751" y="2090304"/>
            <a:ext cx="1186556" cy="107978"/>
          </a:xfrm>
          <a:prstGeom prst="rect">
            <a:avLst/>
          </a:prstGeom>
          <a:noFill/>
        </p:spPr>
        <p:txBody>
          <a:bodyPr wrap="square" lIns="0" tIns="0" rIns="0" bIns="0" anchor="ctr">
            <a:spAutoFit/>
          </a:bodyPr>
          <a:lstStyle/>
          <a:p>
            <a:pPr algn="l">
              <a:lnSpc>
                <a:spcPct val="105000"/>
              </a:lnSpc>
            </a:pPr>
            <a:r>
              <a:rPr sz="718" dirty="0">
                <a:solidFill>
                  <a:srgbClr val="1E293B"/>
                </a:solidFill>
                <a:latin typeface="Arial"/>
              </a:rPr>
              <a:t>Candidate encoder</a:t>
            </a:r>
          </a:p>
        </p:txBody>
      </p:sp>
      <p:sp>
        <p:nvSpPr>
          <p:cNvPr id="302" name="TextBox 12161">
            <a:extLst>
              <a:ext uri="{FF2B5EF4-FFF2-40B4-BE49-F238E27FC236}">
                <a16:creationId xmlns:a16="http://schemas.microsoft.com/office/drawing/2014/main" id="{1FD101AA-9130-CD96-6414-B193E6D36851}"/>
              </a:ext>
            </a:extLst>
          </p:cNvPr>
          <p:cNvSpPr txBox="1"/>
          <p:nvPr/>
        </p:nvSpPr>
        <p:spPr>
          <a:xfrm>
            <a:off x="2706672" y="2090304"/>
            <a:ext cx="1186556" cy="107978"/>
          </a:xfrm>
          <a:prstGeom prst="rect">
            <a:avLst/>
          </a:prstGeom>
          <a:noFill/>
        </p:spPr>
        <p:txBody>
          <a:bodyPr wrap="square" lIns="0" tIns="0" rIns="0" bIns="0" anchor="ctr">
            <a:spAutoFit/>
          </a:bodyPr>
          <a:lstStyle/>
          <a:p>
            <a:pPr algn="l">
              <a:lnSpc>
                <a:spcPct val="105000"/>
              </a:lnSpc>
            </a:pPr>
            <a:r>
              <a:rPr sz="718" dirty="0">
                <a:solidFill>
                  <a:srgbClr val="1E293B"/>
                </a:solidFill>
                <a:latin typeface="Arial"/>
              </a:rPr>
              <a:t>Identity encoder</a:t>
            </a:r>
          </a:p>
        </p:txBody>
      </p:sp>
      <p:sp>
        <p:nvSpPr>
          <p:cNvPr id="303" name="Match | Center divider">
            <a:extLst>
              <a:ext uri="{FF2B5EF4-FFF2-40B4-BE49-F238E27FC236}">
                <a16:creationId xmlns:a16="http://schemas.microsoft.com/office/drawing/2014/main" id="{5A593D05-94F5-C55B-C8C6-B8F9E86B08C6}"/>
              </a:ext>
            </a:extLst>
          </p:cNvPr>
          <p:cNvSpPr/>
          <p:nvPr/>
        </p:nvSpPr>
        <p:spPr>
          <a:xfrm>
            <a:off x="2617408" y="2119981"/>
            <a:ext cx="1" cy="1945952"/>
          </a:xfrm>
          <a:custGeom>
            <a:avLst/>
            <a:gdLst/>
            <a:ahLst/>
            <a:cxnLst/>
            <a:rect l="0" t="0" r="w" b="h"/>
            <a:pathLst>
              <a:path w="1" h="2249424">
                <a:moveTo>
                  <a:pt x="0" y="0"/>
                </a:moveTo>
                <a:lnTo>
                  <a:pt x="0" y="2249424"/>
                </a:lnTo>
              </a:path>
            </a:pathLst>
          </a:custGeom>
          <a:noFill/>
          <a:ln w="9525" cap="rnd" cmpd="sng" algn="ctr">
            <a:solidFill>
              <a:srgbClr val="D0E2DA"/>
            </a:solidFill>
            <a:prstDash val="solid"/>
            <a:round/>
            <a:headEnd type="none" w="med" len="med"/>
            <a:tailEnd type="none" w="med" len="med"/>
          </a:ln>
        </p:spPr>
      </p:sp>
      <p:sp>
        <p:nvSpPr>
          <p:cNvPr id="304" name="TextBox 12164">
            <a:extLst>
              <a:ext uri="{FF2B5EF4-FFF2-40B4-BE49-F238E27FC236}">
                <a16:creationId xmlns:a16="http://schemas.microsoft.com/office/drawing/2014/main" id="{DA6D9C81-D325-B373-1580-DEE13789E3EE}"/>
              </a:ext>
            </a:extLst>
          </p:cNvPr>
          <p:cNvSpPr txBox="1"/>
          <p:nvPr/>
        </p:nvSpPr>
        <p:spPr>
          <a:xfrm>
            <a:off x="669841" y="2270869"/>
            <a:ext cx="442981" cy="93744"/>
          </a:xfrm>
          <a:prstGeom prst="rect">
            <a:avLst/>
          </a:prstGeom>
          <a:noFill/>
        </p:spPr>
        <p:txBody>
          <a:bodyPr wrap="square" lIns="0" tIns="0" rIns="0" bIns="0" anchor="ctr">
            <a:spAutoFit/>
          </a:bodyPr>
          <a:lstStyle/>
          <a:p>
            <a:pPr algn="ctr">
              <a:lnSpc>
                <a:spcPct val="105000"/>
              </a:lnSpc>
            </a:pPr>
            <a:r>
              <a:rPr sz="623">
                <a:solidFill>
                  <a:srgbClr val="1E293B"/>
                </a:solidFill>
                <a:latin typeface="Arial"/>
              </a:rPr>
              <a:t>Receptor</a:t>
            </a:r>
          </a:p>
        </p:txBody>
      </p:sp>
      <p:sp>
        <p:nvSpPr>
          <p:cNvPr id="305" name="TextBox 12166">
            <a:extLst>
              <a:ext uri="{FF2B5EF4-FFF2-40B4-BE49-F238E27FC236}">
                <a16:creationId xmlns:a16="http://schemas.microsoft.com/office/drawing/2014/main" id="{6E830D7E-FC74-3019-18B2-DDE04B6E60D0}"/>
              </a:ext>
            </a:extLst>
          </p:cNvPr>
          <p:cNvSpPr txBox="1"/>
          <p:nvPr/>
        </p:nvSpPr>
        <p:spPr>
          <a:xfrm>
            <a:off x="1152374" y="2270869"/>
            <a:ext cx="442981" cy="93744"/>
          </a:xfrm>
          <a:prstGeom prst="rect">
            <a:avLst/>
          </a:prstGeom>
          <a:noFill/>
        </p:spPr>
        <p:txBody>
          <a:bodyPr wrap="square" lIns="0" tIns="0" rIns="0" bIns="0" anchor="ctr">
            <a:spAutoFit/>
          </a:bodyPr>
          <a:lstStyle/>
          <a:p>
            <a:pPr algn="ctr">
              <a:lnSpc>
                <a:spcPct val="105000"/>
              </a:lnSpc>
            </a:pPr>
            <a:r>
              <a:rPr sz="623" dirty="0">
                <a:solidFill>
                  <a:srgbClr val="1E293B"/>
                </a:solidFill>
                <a:latin typeface="Arial"/>
              </a:rPr>
              <a:t>Density</a:t>
            </a:r>
          </a:p>
        </p:txBody>
      </p:sp>
      <p:pic>
        <p:nvPicPr>
          <p:cNvPr id="306" name="Match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7A47CBDC-2732-4D0F-C4FF-972DA2F1AA3E}"/>
              </a:ext>
            </a:extLst>
          </p:cNvPr>
          <p:cNvPicPr/>
          <p:nvPr/>
        </p:nvPicPr>
        <p:blipFill>
          <a:blip r:embed="rId4"/>
          <a:stretch>
            <a:fillRect/>
          </a:stretch>
        </p:blipFill>
        <p:spPr>
          <a:xfrm>
            <a:off x="1199858" y="2380847"/>
            <a:ext cx="347980" cy="332276"/>
          </a:xfrm>
          <a:prstGeom prst="rect">
            <a:avLst/>
          </a:prstGeom>
        </p:spPr>
      </p:pic>
      <p:sp>
        <p:nvSpPr>
          <p:cNvPr id="526" name="TextBox 12168">
            <a:extLst>
              <a:ext uri="{FF2B5EF4-FFF2-40B4-BE49-F238E27FC236}">
                <a16:creationId xmlns:a16="http://schemas.microsoft.com/office/drawing/2014/main" id="{50BD09F1-2D4A-FA0A-7AF2-981DD7585F3A}"/>
              </a:ext>
            </a:extLst>
          </p:cNvPr>
          <p:cNvSpPr txBox="1"/>
          <p:nvPr/>
        </p:nvSpPr>
        <p:spPr>
          <a:xfrm>
            <a:off x="709890" y="2851277"/>
            <a:ext cx="340209" cy="97203"/>
          </a:xfrm>
          <a:prstGeom prst="rect">
            <a:avLst/>
          </a:prstGeom>
          <a:noFill/>
        </p:spPr>
        <p:txBody>
          <a:bodyPr wrap="square" lIns="0" tIns="0" rIns="0" bIns="0" anchor="ctr">
            <a:spAutoFit/>
          </a:bodyPr>
          <a:lstStyle/>
          <a:p>
            <a:pPr algn="ctr">
              <a:lnSpc>
                <a:spcPct val="105000"/>
              </a:lnSpc>
            </a:pPr>
            <a:r>
              <a:rPr sz="623">
                <a:solidFill>
                  <a:srgbClr val="1E293B"/>
                </a:solidFill>
                <a:latin typeface="Arial"/>
              </a:rPr>
              <a:t>Pocket</a:t>
            </a:r>
          </a:p>
        </p:txBody>
      </p:sp>
      <p:sp>
        <p:nvSpPr>
          <p:cNvPr id="613" name="TextBox 12177">
            <a:extLst>
              <a:ext uri="{FF2B5EF4-FFF2-40B4-BE49-F238E27FC236}">
                <a16:creationId xmlns:a16="http://schemas.microsoft.com/office/drawing/2014/main" id="{086F717F-C0B1-CD04-AFB8-166092CD717F}"/>
              </a:ext>
            </a:extLst>
          </p:cNvPr>
          <p:cNvSpPr txBox="1"/>
          <p:nvPr/>
        </p:nvSpPr>
        <p:spPr>
          <a:xfrm>
            <a:off x="1159452" y="2851277"/>
            <a:ext cx="340209" cy="97203"/>
          </a:xfrm>
          <a:prstGeom prst="rect">
            <a:avLst/>
          </a:prstGeom>
          <a:noFill/>
        </p:spPr>
        <p:txBody>
          <a:bodyPr wrap="square" lIns="0" tIns="0" rIns="0" bIns="0" anchor="ctr">
            <a:spAutoFit/>
          </a:bodyPr>
          <a:lstStyle/>
          <a:p>
            <a:pPr algn="ctr">
              <a:lnSpc>
                <a:spcPct val="105000"/>
              </a:lnSpc>
            </a:pPr>
            <a:r>
              <a:rPr sz="623">
                <a:solidFill>
                  <a:srgbClr val="1E293B"/>
                </a:solidFill>
                <a:latin typeface="Arial"/>
              </a:rPr>
              <a:t>Blob</a:t>
            </a:r>
          </a:p>
        </p:txBody>
      </p:sp>
      <p:grpSp>
        <p:nvGrpSpPr>
          <p:cNvPr id="614" name="Match | Blob contour">
            <a:extLst>
              <a:ext uri="{FF2B5EF4-FFF2-40B4-BE49-F238E27FC236}">
                <a16:creationId xmlns:a16="http://schemas.microsoft.com/office/drawing/2014/main" id="{ECF83E2A-3199-B09F-F90E-31DC9848C382}"/>
              </a:ext>
            </a:extLst>
          </p:cNvPr>
          <p:cNvGrpSpPr/>
          <p:nvPr/>
        </p:nvGrpSpPr>
        <p:grpSpPr>
          <a:xfrm>
            <a:off x="1187803" y="3041632"/>
            <a:ext cx="291608" cy="199265"/>
            <a:chOff x="1928706" y="3559489"/>
            <a:chExt cx="227897" cy="155682"/>
          </a:xfrm>
        </p:grpSpPr>
        <p:sp>
          <p:nvSpPr>
            <p:cNvPr id="615" name="Candidate blob | editable contour">
              <a:extLst>
                <a:ext uri="{FF2B5EF4-FFF2-40B4-BE49-F238E27FC236}">
                  <a16:creationId xmlns:a16="http://schemas.microsoft.com/office/drawing/2014/main" id="{513F782E-E1DE-1B64-68A9-FB54BE71715F}"/>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16" name="ellipse_2612">
              <a:extLst>
                <a:ext uri="{FF2B5EF4-FFF2-40B4-BE49-F238E27FC236}">
                  <a16:creationId xmlns:a16="http://schemas.microsoft.com/office/drawing/2014/main" id="{12A4650A-7359-9456-1843-A3C9E08B2497}"/>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18" name="TextBox 12186">
            <a:extLst>
              <a:ext uri="{FF2B5EF4-FFF2-40B4-BE49-F238E27FC236}">
                <a16:creationId xmlns:a16="http://schemas.microsoft.com/office/drawing/2014/main" id="{88505915-A113-7FAA-6C15-3F2B10F6D7CB}"/>
              </a:ext>
            </a:extLst>
          </p:cNvPr>
          <p:cNvSpPr txBox="1"/>
          <p:nvPr/>
        </p:nvSpPr>
        <p:spPr>
          <a:xfrm>
            <a:off x="1701262" y="2259965"/>
            <a:ext cx="286938" cy="92333"/>
          </a:xfrm>
          <a:prstGeom prst="rect">
            <a:avLst/>
          </a:prstGeom>
          <a:noFill/>
        </p:spPr>
        <p:txBody>
          <a:bodyPr wrap="none" lIns="0" tIns="0" rIns="0" bIns="0" anchor="ctr">
            <a:spAutoFit/>
          </a:bodyPr>
          <a:lstStyle/>
          <a:p>
            <a:pPr algn="ctr">
              <a:lnSpc>
                <a:spcPct val="105000"/>
              </a:lnSpc>
            </a:pPr>
            <a:r>
              <a:rPr sz="614">
                <a:solidFill>
                  <a:srgbClr val="27364B"/>
                </a:solidFill>
                <a:latin typeface="Arial"/>
              </a:rPr>
              <a:t>48³ crop</a:t>
            </a:r>
          </a:p>
        </p:txBody>
      </p:sp>
      <p:grpSp>
        <p:nvGrpSpPr>
          <p:cNvPr id="619" name="48^3 crop 3D cube">
            <a:extLst>
              <a:ext uri="{FF2B5EF4-FFF2-40B4-BE49-F238E27FC236}">
                <a16:creationId xmlns:a16="http://schemas.microsoft.com/office/drawing/2014/main" id="{50441A72-5112-E010-1BBD-72FFF87A8B6E}"/>
              </a:ext>
            </a:extLst>
          </p:cNvPr>
          <p:cNvGrpSpPr/>
          <p:nvPr/>
        </p:nvGrpSpPr>
        <p:grpSpPr>
          <a:xfrm>
            <a:off x="1718368" y="2353114"/>
            <a:ext cx="251107" cy="197645"/>
            <a:chOff x="4043880" y="489960"/>
            <a:chExt cx="571680" cy="450000"/>
          </a:xfrm>
        </p:grpSpPr>
        <p:sp>
          <p:nvSpPr>
            <p:cNvPr id="620" name="asset_2027_0">
              <a:extLst>
                <a:ext uri="{FF2B5EF4-FFF2-40B4-BE49-F238E27FC236}">
                  <a16:creationId xmlns:a16="http://schemas.microsoft.com/office/drawing/2014/main" id="{2C26482F-D7D7-E3F6-FBCD-22AC82315E62}"/>
                </a:ext>
              </a:extLst>
            </p:cNvPr>
            <p:cNvSpPr>
              <a:spLocks noGrp="1"/>
            </p:cNvSpPr>
            <p:nvPr/>
          </p:nvSpPr>
          <p:spPr>
            <a:xfrm>
              <a:off x="4043880" y="489960"/>
              <a:ext cx="571680" cy="76500"/>
            </a:xfrm>
            <a:custGeom>
              <a:avLst/>
              <a:gdLst/>
              <a:ahLst/>
              <a:cxnLst/>
              <a:rect l="0" t="0" r="0" b="0"/>
              <a:pathLst>
                <a:path w="571680" h="76500">
                  <a:moveTo>
                    <a:pt x="0" y="76500"/>
                  </a:moveTo>
                  <a:lnTo>
                    <a:pt x="108619" y="0"/>
                  </a:lnTo>
                  <a:lnTo>
                    <a:pt x="571680" y="0"/>
                  </a:lnTo>
                  <a:lnTo>
                    <a:pt x="463061" y="76500"/>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621" name="asset_2027_1">
              <a:extLst>
                <a:ext uri="{FF2B5EF4-FFF2-40B4-BE49-F238E27FC236}">
                  <a16:creationId xmlns:a16="http://schemas.microsoft.com/office/drawing/2014/main" id="{F28AFBA7-0A71-99DE-9FF9-EBD0ADC1144C}"/>
                </a:ext>
              </a:extLst>
            </p:cNvPr>
            <p:cNvSpPr>
              <a:spLocks noGrp="1"/>
            </p:cNvSpPr>
            <p:nvPr/>
          </p:nvSpPr>
          <p:spPr>
            <a:xfrm>
              <a:off x="4506941" y="489960"/>
              <a:ext cx="108619" cy="450000"/>
            </a:xfrm>
            <a:custGeom>
              <a:avLst/>
              <a:gdLst/>
              <a:ahLst/>
              <a:cxnLst/>
              <a:rect l="0" t="0" r="0" b="0"/>
              <a:pathLst>
                <a:path w="108619" h="450000">
                  <a:moveTo>
                    <a:pt x="0" y="76500"/>
                  </a:moveTo>
                  <a:lnTo>
                    <a:pt x="108619" y="0"/>
                  </a:lnTo>
                  <a:lnTo>
                    <a:pt x="108619" y="373500"/>
                  </a:lnTo>
                  <a:lnTo>
                    <a:pt x="0" y="450000"/>
                  </a:lnTo>
                  <a:close/>
                </a:path>
              </a:pathLst>
            </a:custGeom>
            <a:solidFill>
              <a:srgbClr val="C9DFF3">
                <a:alpha val="22000"/>
              </a:srgbClr>
            </a:solidFill>
            <a:ln w="2700">
              <a:solidFill>
                <a:srgbClr val="A3C3E2"/>
              </a:solidFill>
            </a:ln>
          </p:spPr>
        </p:sp>
        <p:sp>
          <p:nvSpPr>
            <p:cNvPr id="622" name="asset_2027_2">
              <a:extLst>
                <a:ext uri="{FF2B5EF4-FFF2-40B4-BE49-F238E27FC236}">
                  <a16:creationId xmlns:a16="http://schemas.microsoft.com/office/drawing/2014/main" id="{97E064B3-0050-239C-C963-C5E4E31B84D2}"/>
                </a:ext>
              </a:extLst>
            </p:cNvPr>
            <p:cNvSpPr>
              <a:spLocks noGrp="1"/>
            </p:cNvSpPr>
            <p:nvPr/>
          </p:nvSpPr>
          <p:spPr>
            <a:xfrm>
              <a:off x="4043880" y="566460"/>
              <a:ext cx="463061" cy="373500"/>
            </a:xfrm>
            <a:prstGeom prst="rect">
              <a:avLst/>
            </a:prstGeom>
            <a:solidFill>
              <a:srgbClr val="E7F1FC">
                <a:alpha val="20000"/>
              </a:srgbClr>
            </a:solidFill>
            <a:ln w="2700">
              <a:solidFill>
                <a:srgbClr val="ABC9E7"/>
              </a:solidFill>
            </a:ln>
          </p:spPr>
        </p:sp>
        <p:sp>
          <p:nvSpPr>
            <p:cNvPr id="623" name="asset_2027_3">
              <a:extLst>
                <a:ext uri="{FF2B5EF4-FFF2-40B4-BE49-F238E27FC236}">
                  <a16:creationId xmlns:a16="http://schemas.microsoft.com/office/drawing/2014/main" id="{A2C54284-938E-B40D-7CE6-20A987BE1447}"/>
                </a:ext>
              </a:extLst>
            </p:cNvPr>
            <p:cNvSpPr>
              <a:spLocks noGrp="1"/>
            </p:cNvSpPr>
            <p:nvPr/>
          </p:nvSpPr>
          <p:spPr>
            <a:xfrm>
              <a:off x="4159645" y="566460"/>
              <a:ext cx="4" cy="373500"/>
            </a:xfrm>
            <a:prstGeom prst="line">
              <a:avLst/>
            </a:prstGeom>
            <a:noFill/>
            <a:ln w="1980">
              <a:solidFill>
                <a:srgbClr val="B8D2EB">
                  <a:alpha val="33000"/>
                </a:srgbClr>
              </a:solidFill>
            </a:ln>
          </p:spPr>
        </p:sp>
        <p:sp>
          <p:nvSpPr>
            <p:cNvPr id="624" name="asset_2027_4">
              <a:extLst>
                <a:ext uri="{FF2B5EF4-FFF2-40B4-BE49-F238E27FC236}">
                  <a16:creationId xmlns:a16="http://schemas.microsoft.com/office/drawing/2014/main" id="{0F8960CE-A059-8D07-91FB-C97F3078BCD9}"/>
                </a:ext>
              </a:extLst>
            </p:cNvPr>
            <p:cNvSpPr>
              <a:spLocks noGrp="1"/>
            </p:cNvSpPr>
            <p:nvPr/>
          </p:nvSpPr>
          <p:spPr>
            <a:xfrm>
              <a:off x="4043880" y="659835"/>
              <a:ext cx="463061" cy="4"/>
            </a:xfrm>
            <a:prstGeom prst="line">
              <a:avLst/>
            </a:prstGeom>
            <a:noFill/>
            <a:ln w="1980">
              <a:solidFill>
                <a:srgbClr val="B8D2EB">
                  <a:alpha val="33000"/>
                </a:srgbClr>
              </a:solidFill>
            </a:ln>
          </p:spPr>
        </p:sp>
        <p:sp>
          <p:nvSpPr>
            <p:cNvPr id="625" name="asset_2027_5">
              <a:extLst>
                <a:ext uri="{FF2B5EF4-FFF2-40B4-BE49-F238E27FC236}">
                  <a16:creationId xmlns:a16="http://schemas.microsoft.com/office/drawing/2014/main" id="{A5646F3B-E3B0-7C1C-2E27-F9E967647A65}"/>
                </a:ext>
              </a:extLst>
            </p:cNvPr>
            <p:cNvSpPr>
              <a:spLocks noGrp="1"/>
            </p:cNvSpPr>
            <p:nvPr/>
          </p:nvSpPr>
          <p:spPr>
            <a:xfrm>
              <a:off x="4275410" y="566460"/>
              <a:ext cx="4" cy="373500"/>
            </a:xfrm>
            <a:prstGeom prst="line">
              <a:avLst/>
            </a:prstGeom>
            <a:noFill/>
            <a:ln w="1980">
              <a:solidFill>
                <a:srgbClr val="B8D2EB">
                  <a:alpha val="33000"/>
                </a:srgbClr>
              </a:solidFill>
            </a:ln>
          </p:spPr>
        </p:sp>
        <p:sp>
          <p:nvSpPr>
            <p:cNvPr id="626" name="asset_2027_6">
              <a:extLst>
                <a:ext uri="{FF2B5EF4-FFF2-40B4-BE49-F238E27FC236}">
                  <a16:creationId xmlns:a16="http://schemas.microsoft.com/office/drawing/2014/main" id="{49CF1756-587C-D73A-CFD0-CE93821E4BC5}"/>
                </a:ext>
              </a:extLst>
            </p:cNvPr>
            <p:cNvSpPr>
              <a:spLocks noGrp="1"/>
            </p:cNvSpPr>
            <p:nvPr/>
          </p:nvSpPr>
          <p:spPr>
            <a:xfrm>
              <a:off x="4043880" y="753210"/>
              <a:ext cx="463061" cy="4"/>
            </a:xfrm>
            <a:prstGeom prst="line">
              <a:avLst/>
            </a:prstGeom>
            <a:noFill/>
            <a:ln w="1980">
              <a:solidFill>
                <a:srgbClr val="B8D2EB">
                  <a:alpha val="33000"/>
                </a:srgbClr>
              </a:solidFill>
            </a:ln>
          </p:spPr>
        </p:sp>
        <p:sp>
          <p:nvSpPr>
            <p:cNvPr id="627" name="asset_2027_7">
              <a:extLst>
                <a:ext uri="{FF2B5EF4-FFF2-40B4-BE49-F238E27FC236}">
                  <a16:creationId xmlns:a16="http://schemas.microsoft.com/office/drawing/2014/main" id="{617A40D8-F985-CF5E-C184-9CEE010688B0}"/>
                </a:ext>
              </a:extLst>
            </p:cNvPr>
            <p:cNvSpPr>
              <a:spLocks noGrp="1"/>
            </p:cNvSpPr>
            <p:nvPr/>
          </p:nvSpPr>
          <p:spPr>
            <a:xfrm>
              <a:off x="4391176" y="566460"/>
              <a:ext cx="4" cy="373500"/>
            </a:xfrm>
            <a:prstGeom prst="line">
              <a:avLst/>
            </a:prstGeom>
            <a:noFill/>
            <a:ln w="1980">
              <a:solidFill>
                <a:srgbClr val="B8D2EB">
                  <a:alpha val="33000"/>
                </a:srgbClr>
              </a:solidFill>
            </a:ln>
          </p:spPr>
        </p:sp>
        <p:sp>
          <p:nvSpPr>
            <p:cNvPr id="628" name="asset_2027_8">
              <a:extLst>
                <a:ext uri="{FF2B5EF4-FFF2-40B4-BE49-F238E27FC236}">
                  <a16:creationId xmlns:a16="http://schemas.microsoft.com/office/drawing/2014/main" id="{D74C2F96-9830-4E45-47CF-280DBDF3BBA6}"/>
                </a:ext>
              </a:extLst>
            </p:cNvPr>
            <p:cNvSpPr>
              <a:spLocks noGrp="1"/>
            </p:cNvSpPr>
            <p:nvPr/>
          </p:nvSpPr>
          <p:spPr>
            <a:xfrm>
              <a:off x="4043880" y="846585"/>
              <a:ext cx="463061" cy="4"/>
            </a:xfrm>
            <a:prstGeom prst="line">
              <a:avLst/>
            </a:prstGeom>
            <a:noFill/>
            <a:ln w="1980">
              <a:solidFill>
                <a:srgbClr val="B8D2EB">
                  <a:alpha val="33000"/>
                </a:srgbClr>
              </a:solidFill>
            </a:ln>
          </p:spPr>
        </p:sp>
        <p:sp>
          <p:nvSpPr>
            <p:cNvPr id="629" name="asset_2027_53">
              <a:extLst>
                <a:ext uri="{FF2B5EF4-FFF2-40B4-BE49-F238E27FC236}">
                  <a16:creationId xmlns:a16="http://schemas.microsoft.com/office/drawing/2014/main" id="{B57D82E4-2BD4-33AA-2164-941D5F47EC2E}"/>
                </a:ext>
              </a:extLst>
            </p:cNvPr>
            <p:cNvSpPr>
              <a:spLocks noGrp="1"/>
            </p:cNvSpPr>
            <p:nvPr/>
          </p:nvSpPr>
          <p:spPr>
            <a:xfrm>
              <a:off x="4043880" y="566460"/>
              <a:ext cx="463061" cy="373500"/>
            </a:xfrm>
            <a:custGeom>
              <a:avLst/>
              <a:gdLst/>
              <a:ahLst/>
              <a:cxnLst/>
              <a:rect l="0" t="0" r="0" b="0"/>
              <a:pathLst>
                <a:path w="463061" h="373500">
                  <a:moveTo>
                    <a:pt x="0" y="0"/>
                  </a:moveTo>
                  <a:lnTo>
                    <a:pt x="463061" y="0"/>
                  </a:lnTo>
                  <a:lnTo>
                    <a:pt x="463061" y="373500"/>
                  </a:lnTo>
                  <a:lnTo>
                    <a:pt x="0" y="373500"/>
                  </a:lnTo>
                  <a:close/>
                </a:path>
              </a:pathLst>
            </a:custGeom>
            <a:noFill/>
            <a:ln w="3600">
              <a:solidFill>
                <a:srgbClr val="8AB3D9"/>
              </a:solidFill>
            </a:ln>
          </p:spPr>
        </p:sp>
      </p:grpSp>
      <p:grpSp>
        <p:nvGrpSpPr>
          <p:cNvPr id="630" name="48^3 crop centered blob">
            <a:extLst>
              <a:ext uri="{FF2B5EF4-FFF2-40B4-BE49-F238E27FC236}">
                <a16:creationId xmlns:a16="http://schemas.microsoft.com/office/drawing/2014/main" id="{05F07842-8C1D-D758-5B6A-3324A46B243F}"/>
              </a:ext>
            </a:extLst>
          </p:cNvPr>
          <p:cNvGrpSpPr/>
          <p:nvPr/>
        </p:nvGrpSpPr>
        <p:grpSpPr>
          <a:xfrm>
            <a:off x="1781144" y="2424395"/>
            <a:ext cx="110568" cy="75332"/>
            <a:chOff x="1928706" y="3559489"/>
            <a:chExt cx="227897" cy="155682"/>
          </a:xfrm>
        </p:grpSpPr>
        <p:sp>
          <p:nvSpPr>
            <p:cNvPr id="631" name="Candidate blob | editable contour">
              <a:extLst>
                <a:ext uri="{FF2B5EF4-FFF2-40B4-BE49-F238E27FC236}">
                  <a16:creationId xmlns:a16="http://schemas.microsoft.com/office/drawing/2014/main" id="{9098312C-2F0E-B28B-B660-F9C51272B948}"/>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32" name="ellipse_2612">
              <a:extLst>
                <a:ext uri="{FF2B5EF4-FFF2-40B4-BE49-F238E27FC236}">
                  <a16:creationId xmlns:a16="http://schemas.microsoft.com/office/drawing/2014/main" id="{ACF53CE3-1C37-025F-02A8-70EEA8DCFD7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33" name="Blob centroid marker">
            <a:extLst>
              <a:ext uri="{FF2B5EF4-FFF2-40B4-BE49-F238E27FC236}">
                <a16:creationId xmlns:a16="http://schemas.microsoft.com/office/drawing/2014/main" id="{EDD959CF-D4D3-5624-F7B2-BF9345634585}"/>
              </a:ext>
            </a:extLst>
          </p:cNvPr>
          <p:cNvSpPr/>
          <p:nvPr/>
        </p:nvSpPr>
        <p:spPr>
          <a:xfrm>
            <a:off x="1824075" y="2450316"/>
            <a:ext cx="24301" cy="24301"/>
          </a:xfrm>
          <a:prstGeom prst="ellipse">
            <a:avLst/>
          </a:prstGeom>
          <a:solidFill>
            <a:srgbClr val="1D4ED8"/>
          </a:solidFill>
          <a:ln w="762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4" name="TextBox 12188">
            <a:extLst>
              <a:ext uri="{FF2B5EF4-FFF2-40B4-BE49-F238E27FC236}">
                <a16:creationId xmlns:a16="http://schemas.microsoft.com/office/drawing/2014/main" id="{2C0C5B7E-EB59-C12C-034A-66725ABF262F}"/>
              </a:ext>
            </a:extLst>
          </p:cNvPr>
          <p:cNvSpPr txBox="1"/>
          <p:nvPr/>
        </p:nvSpPr>
        <p:spPr>
          <a:xfrm>
            <a:off x="1659904" y="2614551"/>
            <a:ext cx="328616" cy="92333"/>
          </a:xfrm>
          <a:prstGeom prst="rect">
            <a:avLst/>
          </a:prstGeom>
          <a:noFill/>
        </p:spPr>
        <p:txBody>
          <a:bodyPr wrap="none" lIns="0" tIns="0" rIns="0" bIns="0" anchor="ctr">
            <a:spAutoFit/>
          </a:bodyPr>
          <a:lstStyle/>
          <a:p>
            <a:pPr algn="ctr">
              <a:lnSpc>
                <a:spcPct val="105000"/>
              </a:lnSpc>
            </a:pPr>
            <a:r>
              <a:rPr sz="614" dirty="0">
                <a:solidFill>
                  <a:srgbClr val="2B6CB0"/>
                </a:solidFill>
                <a:latin typeface="Arial"/>
              </a:rPr>
              <a:t>3D U-Net</a:t>
            </a:r>
          </a:p>
        </p:txBody>
      </p:sp>
      <p:sp>
        <p:nvSpPr>
          <p:cNvPr id="635" name="TextBox 12189">
            <a:extLst>
              <a:ext uri="{FF2B5EF4-FFF2-40B4-BE49-F238E27FC236}">
                <a16:creationId xmlns:a16="http://schemas.microsoft.com/office/drawing/2014/main" id="{8153BF98-6A0C-0786-710E-3D0EE8987AAA}"/>
              </a:ext>
            </a:extLst>
          </p:cNvPr>
          <p:cNvSpPr txBox="1"/>
          <p:nvPr/>
        </p:nvSpPr>
        <p:spPr>
          <a:xfrm>
            <a:off x="2077123" y="2623546"/>
            <a:ext cx="514564" cy="90218"/>
          </a:xfrm>
          <a:prstGeom prst="rect">
            <a:avLst/>
          </a:prstGeom>
          <a:noFill/>
        </p:spPr>
        <p:txBody>
          <a:bodyPr wrap="none" lIns="0" tIns="0" rIns="0" bIns="0" anchor="ctr">
            <a:spAutoFit/>
          </a:bodyPr>
          <a:lstStyle/>
          <a:p>
            <a:pPr algn="ctr">
              <a:lnSpc>
                <a:spcPct val="105000"/>
              </a:lnSpc>
            </a:pPr>
            <a:r>
              <a:rPr lang="en-US" sz="600" dirty="0">
                <a:solidFill>
                  <a:srgbClr val="1E293B"/>
                </a:solidFill>
                <a:latin typeface="Arial"/>
              </a:rPr>
              <a:t>B</a:t>
            </a:r>
            <a:r>
              <a:rPr lang="en-US" altLang="zh-CN" sz="600" dirty="0">
                <a:solidFill>
                  <a:srgbClr val="1E293B"/>
                </a:solidFill>
                <a:latin typeface="Arial"/>
              </a:rPr>
              <a:t>ase s</a:t>
            </a:r>
            <a:r>
              <a:rPr sz="600" dirty="0">
                <a:solidFill>
                  <a:srgbClr val="1E293B"/>
                </a:solidFill>
                <a:latin typeface="Arial"/>
              </a:rPr>
              <a:t>ummary</a:t>
            </a:r>
          </a:p>
        </p:txBody>
      </p:sp>
      <p:sp>
        <p:nvSpPr>
          <p:cNvPr id="636" name="Math | h_j^vox">
            <a:extLst>
              <a:ext uri="{FF2B5EF4-FFF2-40B4-BE49-F238E27FC236}">
                <a16:creationId xmlns:a16="http://schemas.microsoft.com/office/drawing/2014/main" id="{93EC2205-1821-C3E9-E08B-23B27F07452E}"/>
              </a:ext>
            </a:extLst>
          </p:cNvPr>
          <p:cNvSpPr txBox="1"/>
          <p:nvPr/>
        </p:nvSpPr>
        <p:spPr>
          <a:xfrm>
            <a:off x="2252881" y="2371206"/>
            <a:ext cx="169918" cy="126509"/>
          </a:xfrm>
          <a:prstGeom prst="rect">
            <a:avLst/>
          </a:prstGeom>
          <a:noFill/>
        </p:spPr>
        <p:txBody>
          <a:bodyPr wrap="none" lIns="0" tIns="0" rIns="0" bIns="0" anchor="ctr">
            <a:spAutoFit/>
          </a:bodyPr>
          <a:lstStyle/>
          <a:p>
            <a:pPr algn="ctr"/>
            <a:r>
              <a:rPr sz="855" i="1">
                <a:solidFill>
                  <a:srgbClr val="1E293B"/>
                </a:solidFill>
                <a:latin typeface="Times New Roman"/>
              </a:rPr>
              <a:t>h</a:t>
            </a:r>
            <a:r>
              <a:rPr sz="780" i="1" baseline="-28000">
                <a:solidFill>
                  <a:srgbClr val="1E293B"/>
                </a:solidFill>
                <a:latin typeface="Times New Roman"/>
              </a:rPr>
              <a:t>j</a:t>
            </a:r>
            <a:r>
              <a:rPr sz="780" baseline="32000">
                <a:solidFill>
                  <a:srgbClr val="1E293B"/>
                </a:solidFill>
                <a:latin typeface="Arial"/>
              </a:rPr>
              <a:t>vox</a:t>
            </a:r>
          </a:p>
        </p:txBody>
      </p:sp>
      <p:sp>
        <p:nvSpPr>
          <p:cNvPr id="637" name="Base summary bar_1">
            <a:extLst>
              <a:ext uri="{FF2B5EF4-FFF2-40B4-BE49-F238E27FC236}">
                <a16:creationId xmlns:a16="http://schemas.microsoft.com/office/drawing/2014/main" id="{99E9D3C4-A8BD-9C93-615E-C771AE07C8E3}"/>
              </a:ext>
            </a:extLst>
          </p:cNvPr>
          <p:cNvSpPr/>
          <p:nvPr/>
        </p:nvSpPr>
        <p:spPr>
          <a:xfrm>
            <a:off x="2156411" y="2549118"/>
            <a:ext cx="44072" cy="59328"/>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8" name="Base summary bar_2">
            <a:extLst>
              <a:ext uri="{FF2B5EF4-FFF2-40B4-BE49-F238E27FC236}">
                <a16:creationId xmlns:a16="http://schemas.microsoft.com/office/drawing/2014/main" id="{6BC787CE-AF83-7509-7C88-9AB58DB6F66F}"/>
              </a:ext>
            </a:extLst>
          </p:cNvPr>
          <p:cNvSpPr/>
          <p:nvPr/>
        </p:nvSpPr>
        <p:spPr>
          <a:xfrm>
            <a:off x="2204438" y="2549118"/>
            <a:ext cx="44072" cy="59328"/>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9" name="Base summary bar_3">
            <a:extLst>
              <a:ext uri="{FF2B5EF4-FFF2-40B4-BE49-F238E27FC236}">
                <a16:creationId xmlns:a16="http://schemas.microsoft.com/office/drawing/2014/main" id="{269240CC-07F6-8569-D6D0-2E898FDFE671}"/>
              </a:ext>
            </a:extLst>
          </p:cNvPr>
          <p:cNvSpPr/>
          <p:nvPr/>
        </p:nvSpPr>
        <p:spPr>
          <a:xfrm>
            <a:off x="2252465" y="2549118"/>
            <a:ext cx="44072" cy="59328"/>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0" name="Base summary bar_4">
            <a:extLst>
              <a:ext uri="{FF2B5EF4-FFF2-40B4-BE49-F238E27FC236}">
                <a16:creationId xmlns:a16="http://schemas.microsoft.com/office/drawing/2014/main" id="{D027E165-A9E7-E339-F192-6FC69D94CA5E}"/>
              </a:ext>
            </a:extLst>
          </p:cNvPr>
          <p:cNvSpPr/>
          <p:nvPr/>
        </p:nvSpPr>
        <p:spPr>
          <a:xfrm>
            <a:off x="2300493" y="2549118"/>
            <a:ext cx="44072" cy="59328"/>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1" name="Base summary bar_5">
            <a:extLst>
              <a:ext uri="{FF2B5EF4-FFF2-40B4-BE49-F238E27FC236}">
                <a16:creationId xmlns:a16="http://schemas.microsoft.com/office/drawing/2014/main" id="{AF544338-D23E-CE3C-A6B8-4FA37DCAD82E}"/>
              </a:ext>
            </a:extLst>
          </p:cNvPr>
          <p:cNvSpPr/>
          <p:nvPr/>
        </p:nvSpPr>
        <p:spPr>
          <a:xfrm>
            <a:off x="2348521" y="2549118"/>
            <a:ext cx="44072" cy="59328"/>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2" name="Base summary bar_6">
            <a:extLst>
              <a:ext uri="{FF2B5EF4-FFF2-40B4-BE49-F238E27FC236}">
                <a16:creationId xmlns:a16="http://schemas.microsoft.com/office/drawing/2014/main" id="{9F80EB35-B4A7-2FA2-7A0C-B02A9915E4EB}"/>
              </a:ext>
            </a:extLst>
          </p:cNvPr>
          <p:cNvSpPr/>
          <p:nvPr/>
        </p:nvSpPr>
        <p:spPr>
          <a:xfrm>
            <a:off x="2396548" y="2549118"/>
            <a:ext cx="44072" cy="59328"/>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3" name="Base summary bar_7">
            <a:extLst>
              <a:ext uri="{FF2B5EF4-FFF2-40B4-BE49-F238E27FC236}">
                <a16:creationId xmlns:a16="http://schemas.microsoft.com/office/drawing/2014/main" id="{763E1301-00D0-44E1-3425-288C0321EC85}"/>
              </a:ext>
            </a:extLst>
          </p:cNvPr>
          <p:cNvSpPr/>
          <p:nvPr/>
        </p:nvSpPr>
        <p:spPr>
          <a:xfrm>
            <a:off x="2444575" y="2549118"/>
            <a:ext cx="44072" cy="59328"/>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4" name="Op | Mean/max pool">
            <a:extLst>
              <a:ext uri="{FF2B5EF4-FFF2-40B4-BE49-F238E27FC236}">
                <a16:creationId xmlns:a16="http://schemas.microsoft.com/office/drawing/2014/main" id="{C4850A78-C957-EF45-0669-F1FA2501E311}"/>
              </a:ext>
            </a:extLst>
          </p:cNvPr>
          <p:cNvSpPr/>
          <p:nvPr/>
        </p:nvSpPr>
        <p:spPr>
          <a:xfrm>
            <a:off x="669841" y="3452879"/>
            <a:ext cx="617009"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1D6D5E"/>
                </a:solidFill>
                <a:latin typeface="Arial"/>
              </a:rPr>
              <a:t>Mean/max pool</a:t>
            </a:r>
          </a:p>
        </p:txBody>
      </p:sp>
      <p:sp>
        <p:nvSpPr>
          <p:cNvPr id="645" name="Op | Cross-attention">
            <a:extLst>
              <a:ext uri="{FF2B5EF4-FFF2-40B4-BE49-F238E27FC236}">
                <a16:creationId xmlns:a16="http://schemas.microsoft.com/office/drawing/2014/main" id="{11FEE5AE-99F9-B083-0D93-CFC8DBD07D63}"/>
              </a:ext>
            </a:extLst>
          </p:cNvPr>
          <p:cNvSpPr/>
          <p:nvPr/>
        </p:nvSpPr>
        <p:spPr>
          <a:xfrm>
            <a:off x="1365954" y="3452879"/>
            <a:ext cx="648651"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1D6D5E"/>
                </a:solidFill>
                <a:latin typeface="Arial"/>
              </a:rPr>
              <a:t>Cross-attention</a:t>
            </a:r>
          </a:p>
        </p:txBody>
      </p:sp>
      <p:sp>
        <p:nvSpPr>
          <p:cNvPr id="646" name="TextBox 12200">
            <a:extLst>
              <a:ext uri="{FF2B5EF4-FFF2-40B4-BE49-F238E27FC236}">
                <a16:creationId xmlns:a16="http://schemas.microsoft.com/office/drawing/2014/main" id="{884D8F93-171F-A6AB-A603-7E1006874447}"/>
              </a:ext>
            </a:extLst>
          </p:cNvPr>
          <p:cNvSpPr txBox="1"/>
          <p:nvPr/>
        </p:nvSpPr>
        <p:spPr>
          <a:xfrm>
            <a:off x="1735251" y="3370950"/>
            <a:ext cx="134652" cy="80599"/>
          </a:xfrm>
          <a:prstGeom prst="rect">
            <a:avLst/>
          </a:prstGeom>
          <a:noFill/>
        </p:spPr>
        <p:txBody>
          <a:bodyPr wrap="none" lIns="0" tIns="0" rIns="0" bIns="0" anchor="ctr">
            <a:spAutoFit/>
          </a:bodyPr>
          <a:lstStyle/>
          <a:p>
            <a:pPr algn="l">
              <a:lnSpc>
                <a:spcPct val="105000"/>
              </a:lnSpc>
            </a:pPr>
            <a:r>
              <a:rPr sz="536" dirty="0">
                <a:solidFill>
                  <a:srgbClr val="1D6D5E"/>
                </a:solidFill>
                <a:latin typeface="Arial"/>
              </a:rPr>
              <a:t>K, V</a:t>
            </a:r>
          </a:p>
        </p:txBody>
      </p:sp>
      <p:sp>
        <p:nvSpPr>
          <p:cNvPr id="647" name="Op | FiLM">
            <a:extLst>
              <a:ext uri="{FF2B5EF4-FFF2-40B4-BE49-F238E27FC236}">
                <a16:creationId xmlns:a16="http://schemas.microsoft.com/office/drawing/2014/main" id="{59F3449A-984C-C7E7-FC02-0C47B43E0DFD}"/>
              </a:ext>
            </a:extLst>
          </p:cNvPr>
          <p:cNvSpPr/>
          <p:nvPr/>
        </p:nvSpPr>
        <p:spPr>
          <a:xfrm>
            <a:off x="2156994" y="3738251"/>
            <a:ext cx="300518" cy="150259"/>
          </a:xfrm>
          <a:prstGeom prst="roundRect">
            <a:avLst>
              <a:gd name="adj" fmla="val 25000"/>
            </a:avLst>
          </a:prstGeom>
          <a:solidFill>
            <a:srgbClr val="EDE7F5"/>
          </a:solidFill>
          <a:ln w="7290">
            <a:solidFill>
              <a:srgbClr val="B8A9D9"/>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623">
                <a:solidFill>
                  <a:srgbClr val="4E3D73"/>
                </a:solidFill>
                <a:latin typeface="Arial"/>
              </a:rPr>
              <a:t>FiLM</a:t>
            </a:r>
          </a:p>
        </p:txBody>
      </p:sp>
      <p:sp>
        <p:nvSpPr>
          <p:cNvPr id="648" name="TextBox 12202">
            <a:extLst>
              <a:ext uri="{FF2B5EF4-FFF2-40B4-BE49-F238E27FC236}">
                <a16:creationId xmlns:a16="http://schemas.microsoft.com/office/drawing/2014/main" id="{6F9F40E0-7819-CEA2-6131-C4ABBC19B945}"/>
              </a:ext>
            </a:extLst>
          </p:cNvPr>
          <p:cNvSpPr txBox="1"/>
          <p:nvPr/>
        </p:nvSpPr>
        <p:spPr>
          <a:xfrm>
            <a:off x="2097664" y="3430400"/>
            <a:ext cx="126566" cy="84510"/>
          </a:xfrm>
          <a:prstGeom prst="rect">
            <a:avLst/>
          </a:prstGeom>
          <a:noFill/>
        </p:spPr>
        <p:txBody>
          <a:bodyPr wrap="square" lIns="0" tIns="0" rIns="0" bIns="0" anchor="ctr">
            <a:spAutoFit/>
          </a:bodyPr>
          <a:lstStyle/>
          <a:p>
            <a:pPr algn="ctr">
              <a:lnSpc>
                <a:spcPct val="105000"/>
              </a:lnSpc>
            </a:pPr>
            <a:r>
              <a:rPr sz="562">
                <a:solidFill>
                  <a:srgbClr val="3B7DB5"/>
                </a:solidFill>
                <a:latin typeface="Arial"/>
              </a:rPr>
              <a:t>Q</a:t>
            </a:r>
          </a:p>
        </p:txBody>
      </p:sp>
      <p:sp>
        <p:nvSpPr>
          <p:cNvPr id="649" name="Op | MLP">
            <a:extLst>
              <a:ext uri="{FF2B5EF4-FFF2-40B4-BE49-F238E27FC236}">
                <a16:creationId xmlns:a16="http://schemas.microsoft.com/office/drawing/2014/main" id="{554F5441-96D3-CFD3-6A6E-CA8C906F4B29}"/>
              </a:ext>
            </a:extLst>
          </p:cNvPr>
          <p:cNvSpPr/>
          <p:nvPr/>
        </p:nvSpPr>
        <p:spPr>
          <a:xfrm>
            <a:off x="1160262" y="3738251"/>
            <a:ext cx="347904" cy="150259"/>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1D6D5E"/>
                </a:solidFill>
                <a:latin typeface="Arial"/>
              </a:rPr>
              <a:t>MLP</a:t>
            </a:r>
          </a:p>
        </p:txBody>
      </p:sp>
      <p:sp>
        <p:nvSpPr>
          <p:cNvPr id="650" name="h_j bar_1">
            <a:extLst>
              <a:ext uri="{FF2B5EF4-FFF2-40B4-BE49-F238E27FC236}">
                <a16:creationId xmlns:a16="http://schemas.microsoft.com/office/drawing/2014/main" id="{99BF7016-0AEC-5CA1-43D0-0CC405933ADD}"/>
              </a:ext>
            </a:extLst>
          </p:cNvPr>
          <p:cNvSpPr/>
          <p:nvPr/>
        </p:nvSpPr>
        <p:spPr>
          <a:xfrm>
            <a:off x="2141171" y="3989994"/>
            <a:ext cx="44072" cy="56955"/>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1" name="h_j bar_2">
            <a:extLst>
              <a:ext uri="{FF2B5EF4-FFF2-40B4-BE49-F238E27FC236}">
                <a16:creationId xmlns:a16="http://schemas.microsoft.com/office/drawing/2014/main" id="{71708831-906F-DB31-D516-DA6520DB6B6E}"/>
              </a:ext>
            </a:extLst>
          </p:cNvPr>
          <p:cNvSpPr/>
          <p:nvPr/>
        </p:nvSpPr>
        <p:spPr>
          <a:xfrm>
            <a:off x="2189198" y="3989994"/>
            <a:ext cx="44072" cy="56955"/>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2" name="h_j bar_3">
            <a:extLst>
              <a:ext uri="{FF2B5EF4-FFF2-40B4-BE49-F238E27FC236}">
                <a16:creationId xmlns:a16="http://schemas.microsoft.com/office/drawing/2014/main" id="{E1CF9CE6-644D-2199-D558-FB2748AF4CA8}"/>
              </a:ext>
            </a:extLst>
          </p:cNvPr>
          <p:cNvSpPr/>
          <p:nvPr/>
        </p:nvSpPr>
        <p:spPr>
          <a:xfrm>
            <a:off x="2237225" y="3989994"/>
            <a:ext cx="44072" cy="56955"/>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3" name="h_j bar_4">
            <a:extLst>
              <a:ext uri="{FF2B5EF4-FFF2-40B4-BE49-F238E27FC236}">
                <a16:creationId xmlns:a16="http://schemas.microsoft.com/office/drawing/2014/main" id="{0B1E11C4-B6B0-8410-69CA-ECA06B016C11}"/>
              </a:ext>
            </a:extLst>
          </p:cNvPr>
          <p:cNvSpPr/>
          <p:nvPr/>
        </p:nvSpPr>
        <p:spPr>
          <a:xfrm>
            <a:off x="2285253" y="3989994"/>
            <a:ext cx="44072" cy="56955"/>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4" name="h_j bar_5">
            <a:extLst>
              <a:ext uri="{FF2B5EF4-FFF2-40B4-BE49-F238E27FC236}">
                <a16:creationId xmlns:a16="http://schemas.microsoft.com/office/drawing/2014/main" id="{2A27D763-25D4-1A48-A9AB-8AE10B5867F3}"/>
              </a:ext>
            </a:extLst>
          </p:cNvPr>
          <p:cNvSpPr/>
          <p:nvPr/>
        </p:nvSpPr>
        <p:spPr>
          <a:xfrm>
            <a:off x="2333281" y="3989994"/>
            <a:ext cx="44072" cy="56955"/>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5" name="h_j bar_6">
            <a:extLst>
              <a:ext uri="{FF2B5EF4-FFF2-40B4-BE49-F238E27FC236}">
                <a16:creationId xmlns:a16="http://schemas.microsoft.com/office/drawing/2014/main" id="{CC2DBA64-D0DF-1160-5FEF-C265BF4EAB35}"/>
              </a:ext>
            </a:extLst>
          </p:cNvPr>
          <p:cNvSpPr/>
          <p:nvPr/>
        </p:nvSpPr>
        <p:spPr>
          <a:xfrm>
            <a:off x="2381308" y="3989994"/>
            <a:ext cx="44072" cy="56955"/>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6" name="h_j bar_7">
            <a:extLst>
              <a:ext uri="{FF2B5EF4-FFF2-40B4-BE49-F238E27FC236}">
                <a16:creationId xmlns:a16="http://schemas.microsoft.com/office/drawing/2014/main" id="{3E031F7D-E2D9-9D11-0526-4D352C453584}"/>
              </a:ext>
            </a:extLst>
          </p:cNvPr>
          <p:cNvSpPr/>
          <p:nvPr/>
        </p:nvSpPr>
        <p:spPr>
          <a:xfrm>
            <a:off x="2429335" y="3989994"/>
            <a:ext cx="44072" cy="56955"/>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7" name="Math | h_j^">
            <a:extLst>
              <a:ext uri="{FF2B5EF4-FFF2-40B4-BE49-F238E27FC236}">
                <a16:creationId xmlns:a16="http://schemas.microsoft.com/office/drawing/2014/main" id="{9AC920D3-16D2-273E-04D3-53357E82FB0E}"/>
              </a:ext>
            </a:extLst>
          </p:cNvPr>
          <p:cNvSpPr txBox="1"/>
          <p:nvPr/>
        </p:nvSpPr>
        <p:spPr>
          <a:xfrm>
            <a:off x="2026801" y="3947306"/>
            <a:ext cx="70532" cy="126509"/>
          </a:xfrm>
          <a:prstGeom prst="rect">
            <a:avLst/>
          </a:prstGeom>
          <a:noFill/>
        </p:spPr>
        <p:txBody>
          <a:bodyPr wrap="none" lIns="0" tIns="0" rIns="0" bIns="0" anchor="ctr">
            <a:spAutoFit/>
          </a:bodyPr>
          <a:lstStyle/>
          <a:p>
            <a:pPr algn="ctr"/>
            <a:r>
              <a:rPr sz="855" i="1">
                <a:solidFill>
                  <a:srgbClr val="1E293B"/>
                </a:solidFill>
                <a:latin typeface="Times New Roman"/>
              </a:rPr>
              <a:t>h</a:t>
            </a:r>
            <a:r>
              <a:rPr sz="780" i="1" baseline="-28000">
                <a:solidFill>
                  <a:srgbClr val="1E293B"/>
                </a:solidFill>
                <a:latin typeface="Times New Roman"/>
              </a:rPr>
              <a:t>j</a:t>
            </a:r>
          </a:p>
        </p:txBody>
      </p:sp>
      <p:sp>
        <p:nvSpPr>
          <p:cNvPr id="658" name="Op | Foreground head">
            <a:extLst>
              <a:ext uri="{FF2B5EF4-FFF2-40B4-BE49-F238E27FC236}">
                <a16:creationId xmlns:a16="http://schemas.microsoft.com/office/drawing/2014/main" id="{772C4BD8-070D-6A2C-3C5B-CCE55BD09041}"/>
              </a:ext>
            </a:extLst>
          </p:cNvPr>
          <p:cNvSpPr/>
          <p:nvPr/>
        </p:nvSpPr>
        <p:spPr>
          <a:xfrm>
            <a:off x="756855" y="4181937"/>
            <a:ext cx="696113"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1D6D5E"/>
                </a:solidFill>
                <a:latin typeface="Arial"/>
              </a:rPr>
              <a:t>Foreground head</a:t>
            </a:r>
          </a:p>
        </p:txBody>
      </p:sp>
      <p:sp>
        <p:nvSpPr>
          <p:cNvPr id="659" name="Math | p_j^fg">
            <a:extLst>
              <a:ext uri="{FF2B5EF4-FFF2-40B4-BE49-F238E27FC236}">
                <a16:creationId xmlns:a16="http://schemas.microsoft.com/office/drawing/2014/main" id="{04752E8A-9FFA-1739-18D7-365FF5D9A529}"/>
              </a:ext>
            </a:extLst>
          </p:cNvPr>
          <p:cNvSpPr txBox="1"/>
          <p:nvPr/>
        </p:nvSpPr>
        <p:spPr>
          <a:xfrm>
            <a:off x="1758300" y="4176444"/>
            <a:ext cx="121828" cy="122341"/>
          </a:xfrm>
          <a:prstGeom prst="rect">
            <a:avLst/>
          </a:prstGeom>
          <a:noFill/>
        </p:spPr>
        <p:txBody>
          <a:bodyPr wrap="none" lIns="0" tIns="0" rIns="0" bIns="0" anchor="ctr">
            <a:spAutoFit/>
          </a:bodyPr>
          <a:lstStyle/>
          <a:p>
            <a:pPr algn="ctr"/>
            <a:r>
              <a:rPr sz="827" i="1" dirty="0" err="1">
                <a:solidFill>
                  <a:srgbClr val="1E293B"/>
                </a:solidFill>
                <a:latin typeface="Times New Roman"/>
              </a:rPr>
              <a:t>p</a:t>
            </a:r>
            <a:r>
              <a:rPr sz="780" i="1" baseline="-28000" dirty="0" err="1">
                <a:solidFill>
                  <a:srgbClr val="1E293B"/>
                </a:solidFill>
                <a:latin typeface="Times New Roman"/>
              </a:rPr>
              <a:t>j</a:t>
            </a:r>
            <a:r>
              <a:rPr sz="780" baseline="32000" dirty="0" err="1">
                <a:solidFill>
                  <a:srgbClr val="1E293B"/>
                </a:solidFill>
                <a:latin typeface="Arial"/>
              </a:rPr>
              <a:t>fg</a:t>
            </a:r>
            <a:endParaRPr sz="780" baseline="32000" dirty="0">
              <a:solidFill>
                <a:srgbClr val="1E293B"/>
              </a:solidFill>
              <a:latin typeface="Arial"/>
            </a:endParaRPr>
          </a:p>
        </p:txBody>
      </p:sp>
      <p:sp>
        <p:nvSpPr>
          <p:cNvPr id="660" name="TextBox 12215">
            <a:extLst>
              <a:ext uri="{FF2B5EF4-FFF2-40B4-BE49-F238E27FC236}">
                <a16:creationId xmlns:a16="http://schemas.microsoft.com/office/drawing/2014/main" id="{C45D4B31-EE62-7047-2BD0-7D7B985DADC4}"/>
              </a:ext>
            </a:extLst>
          </p:cNvPr>
          <p:cNvSpPr txBox="1"/>
          <p:nvPr/>
        </p:nvSpPr>
        <p:spPr>
          <a:xfrm>
            <a:off x="1489562" y="4310121"/>
            <a:ext cx="666849" cy="79445"/>
          </a:xfrm>
          <a:prstGeom prst="rect">
            <a:avLst/>
          </a:prstGeom>
          <a:noFill/>
        </p:spPr>
        <p:txBody>
          <a:bodyPr wrap="none" lIns="0" tIns="0" rIns="0" bIns="0" anchor="ctr">
            <a:spAutoFit/>
          </a:bodyPr>
          <a:lstStyle/>
          <a:p>
            <a:pPr algn="l">
              <a:lnSpc>
                <a:spcPct val="105000"/>
              </a:lnSpc>
            </a:pPr>
            <a:r>
              <a:rPr sz="528" dirty="0">
                <a:solidFill>
                  <a:srgbClr val="5A6B7C"/>
                </a:solidFill>
                <a:latin typeface="Arial"/>
              </a:rPr>
              <a:t>Foreground probability</a:t>
            </a:r>
          </a:p>
        </p:txBody>
      </p:sp>
      <p:sp>
        <p:nvSpPr>
          <p:cNvPr id="661" name="TextBox 12216">
            <a:extLst>
              <a:ext uri="{FF2B5EF4-FFF2-40B4-BE49-F238E27FC236}">
                <a16:creationId xmlns:a16="http://schemas.microsoft.com/office/drawing/2014/main" id="{978E7CF5-ACF2-460D-26F2-9B198BAAC63B}"/>
              </a:ext>
            </a:extLst>
          </p:cNvPr>
          <p:cNvSpPr txBox="1"/>
          <p:nvPr/>
        </p:nvSpPr>
        <p:spPr>
          <a:xfrm>
            <a:off x="3026355" y="2206291"/>
            <a:ext cx="1195840" cy="88422"/>
          </a:xfrm>
          <a:prstGeom prst="rect">
            <a:avLst/>
          </a:prstGeom>
          <a:noFill/>
        </p:spPr>
        <p:txBody>
          <a:bodyPr wrap="none" lIns="0" tIns="0" rIns="0" bIns="0" anchor="ctr">
            <a:spAutoFit/>
          </a:bodyPr>
          <a:lstStyle/>
          <a:p>
            <a:pPr algn="ctr">
              <a:lnSpc>
                <a:spcPct val="105000"/>
              </a:lnSpc>
            </a:pPr>
            <a:r>
              <a:rPr sz="588">
                <a:solidFill>
                  <a:srgbClr val="5A6B7C"/>
                </a:solidFill>
                <a:latin typeface="Arial"/>
              </a:rPr>
              <a:t>User-provided SMILES · same PDB</a:t>
            </a:r>
          </a:p>
        </p:txBody>
      </p:sp>
      <p:sp>
        <p:nvSpPr>
          <p:cNvPr id="662" name="Identity | SMILES list card">
            <a:extLst>
              <a:ext uri="{FF2B5EF4-FFF2-40B4-BE49-F238E27FC236}">
                <a16:creationId xmlns:a16="http://schemas.microsoft.com/office/drawing/2014/main" id="{7DA7890B-AB79-9717-CAA6-1EEE08F32188}"/>
              </a:ext>
            </a:extLst>
          </p:cNvPr>
          <p:cNvSpPr/>
          <p:nvPr/>
        </p:nvSpPr>
        <p:spPr>
          <a:xfrm>
            <a:off x="3205025" y="2309830"/>
            <a:ext cx="838500" cy="512745"/>
          </a:xfrm>
          <a:prstGeom prst="roundRect">
            <a:avLst>
              <a:gd name="adj" fmla="val 6000"/>
            </a:avLst>
          </a:prstGeom>
          <a:solidFill>
            <a:srgbClr val="FFFFFF"/>
          </a:solidFill>
          <a:ln w="7290">
            <a:solidFill>
              <a:srgbClr val="CBD6E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3" name="TextBox 12218">
            <a:extLst>
              <a:ext uri="{FF2B5EF4-FFF2-40B4-BE49-F238E27FC236}">
                <a16:creationId xmlns:a16="http://schemas.microsoft.com/office/drawing/2014/main" id="{86BB59AD-D134-C7C6-AEC0-14F6157A5F0B}"/>
              </a:ext>
            </a:extLst>
          </p:cNvPr>
          <p:cNvSpPr txBox="1"/>
          <p:nvPr/>
        </p:nvSpPr>
        <p:spPr>
          <a:xfrm>
            <a:off x="3260398" y="2338063"/>
            <a:ext cx="727754" cy="85921"/>
          </a:xfrm>
          <a:prstGeom prst="rect">
            <a:avLst/>
          </a:prstGeom>
          <a:noFill/>
        </p:spPr>
        <p:txBody>
          <a:bodyPr wrap="square" lIns="0" tIns="0" rIns="0" bIns="0" anchor="ctr">
            <a:spAutoFit/>
          </a:bodyPr>
          <a:lstStyle/>
          <a:p>
            <a:pPr algn="l">
              <a:lnSpc>
                <a:spcPct val="105000"/>
              </a:lnSpc>
            </a:pPr>
            <a:r>
              <a:rPr sz="571" dirty="0">
                <a:solidFill>
                  <a:srgbClr val="4E739E"/>
                </a:solidFill>
                <a:latin typeface="Arial"/>
              </a:rPr>
              <a:t>1   CCO</a:t>
            </a:r>
          </a:p>
        </p:txBody>
      </p:sp>
      <p:sp>
        <p:nvSpPr>
          <p:cNvPr id="664" name="TextBox 12219">
            <a:extLst>
              <a:ext uri="{FF2B5EF4-FFF2-40B4-BE49-F238E27FC236}">
                <a16:creationId xmlns:a16="http://schemas.microsoft.com/office/drawing/2014/main" id="{D5CEF1E2-0003-83A9-6C8B-869DF460C92C}"/>
              </a:ext>
            </a:extLst>
          </p:cNvPr>
          <p:cNvSpPr txBox="1"/>
          <p:nvPr/>
        </p:nvSpPr>
        <p:spPr>
          <a:xfrm>
            <a:off x="3260398" y="2440897"/>
            <a:ext cx="727754" cy="85921"/>
          </a:xfrm>
          <a:prstGeom prst="rect">
            <a:avLst/>
          </a:prstGeom>
          <a:noFill/>
        </p:spPr>
        <p:txBody>
          <a:bodyPr wrap="square" lIns="0" tIns="0" rIns="0" bIns="0" anchor="ctr">
            <a:spAutoFit/>
          </a:bodyPr>
          <a:lstStyle/>
          <a:p>
            <a:pPr algn="l">
              <a:lnSpc>
                <a:spcPct val="105000"/>
              </a:lnSpc>
            </a:pPr>
            <a:r>
              <a:rPr sz="571" dirty="0">
                <a:solidFill>
                  <a:srgbClr val="8E6B3E"/>
                </a:solidFill>
                <a:latin typeface="Arial"/>
              </a:rPr>
              <a:t>2   CC(=O)O</a:t>
            </a:r>
          </a:p>
        </p:txBody>
      </p:sp>
      <p:sp>
        <p:nvSpPr>
          <p:cNvPr id="665" name="Identity | Selected k pill">
            <a:extLst>
              <a:ext uri="{FF2B5EF4-FFF2-40B4-BE49-F238E27FC236}">
                <a16:creationId xmlns:a16="http://schemas.microsoft.com/office/drawing/2014/main" id="{484884C0-9180-67EB-D183-0D32CB2F3899}"/>
              </a:ext>
            </a:extLst>
          </p:cNvPr>
          <p:cNvSpPr/>
          <p:nvPr/>
        </p:nvSpPr>
        <p:spPr>
          <a:xfrm>
            <a:off x="3236667" y="2562853"/>
            <a:ext cx="775217" cy="118656"/>
          </a:xfrm>
          <a:prstGeom prst="roundRect">
            <a:avLst>
              <a:gd name="adj" fmla="val 18000"/>
            </a:avLst>
          </a:prstGeom>
          <a:solidFill>
            <a:srgbClr val="DCFCE7"/>
          </a:solidFill>
          <a:ln w="8890">
            <a:solidFill>
              <a:srgbClr val="3E997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6" name="TextBox 12222">
            <a:extLst>
              <a:ext uri="{FF2B5EF4-FFF2-40B4-BE49-F238E27FC236}">
                <a16:creationId xmlns:a16="http://schemas.microsoft.com/office/drawing/2014/main" id="{AF18D027-6125-FBDF-9BCD-9060B5C5E099}"/>
              </a:ext>
            </a:extLst>
          </p:cNvPr>
          <p:cNvSpPr txBox="1"/>
          <p:nvPr/>
        </p:nvSpPr>
        <p:spPr>
          <a:xfrm>
            <a:off x="3268308" y="2585570"/>
            <a:ext cx="711934" cy="85921"/>
          </a:xfrm>
          <a:prstGeom prst="rect">
            <a:avLst/>
          </a:prstGeom>
          <a:noFill/>
        </p:spPr>
        <p:txBody>
          <a:bodyPr wrap="square" lIns="0" tIns="0" rIns="0" bIns="0" anchor="ctr">
            <a:spAutoFit/>
          </a:bodyPr>
          <a:lstStyle/>
          <a:p>
            <a:pPr algn="l">
              <a:lnSpc>
                <a:spcPct val="105000"/>
              </a:lnSpc>
            </a:pPr>
            <a:r>
              <a:rPr sz="571" dirty="0">
                <a:solidFill>
                  <a:srgbClr val="14532D"/>
                </a:solidFill>
                <a:latin typeface="Arial"/>
              </a:rPr>
              <a:t>k   Cc1ccccc1</a:t>
            </a:r>
          </a:p>
        </p:txBody>
      </p:sp>
      <p:sp>
        <p:nvSpPr>
          <p:cNvPr id="667" name="TextBox 12224">
            <a:extLst>
              <a:ext uri="{FF2B5EF4-FFF2-40B4-BE49-F238E27FC236}">
                <a16:creationId xmlns:a16="http://schemas.microsoft.com/office/drawing/2014/main" id="{4F02AD2D-3369-26A3-6D2F-44659C880CB7}"/>
              </a:ext>
            </a:extLst>
          </p:cNvPr>
          <p:cNvSpPr txBox="1"/>
          <p:nvPr/>
        </p:nvSpPr>
        <p:spPr>
          <a:xfrm>
            <a:off x="3260398" y="2714369"/>
            <a:ext cx="727754" cy="85921"/>
          </a:xfrm>
          <a:prstGeom prst="rect">
            <a:avLst/>
          </a:prstGeom>
          <a:noFill/>
        </p:spPr>
        <p:txBody>
          <a:bodyPr wrap="square" lIns="0" tIns="0" rIns="0" bIns="0" anchor="ctr">
            <a:spAutoFit/>
          </a:bodyPr>
          <a:lstStyle/>
          <a:p>
            <a:pPr algn="l">
              <a:lnSpc>
                <a:spcPct val="105000"/>
              </a:lnSpc>
            </a:pPr>
            <a:r>
              <a:rPr sz="571" dirty="0">
                <a:solidFill>
                  <a:srgbClr val="6D5B97"/>
                </a:solidFill>
                <a:latin typeface="Arial"/>
              </a:rPr>
              <a:t>K   CC(N)=O</a:t>
            </a:r>
          </a:p>
        </p:txBody>
      </p:sp>
      <p:sp>
        <p:nvSpPr>
          <p:cNvPr id="668" name="TextBox 12225">
            <a:extLst>
              <a:ext uri="{FF2B5EF4-FFF2-40B4-BE49-F238E27FC236}">
                <a16:creationId xmlns:a16="http://schemas.microsoft.com/office/drawing/2014/main" id="{3E613D72-90CB-62FD-E861-8FE6E2F065B8}"/>
              </a:ext>
            </a:extLst>
          </p:cNvPr>
          <p:cNvSpPr txBox="1"/>
          <p:nvPr/>
        </p:nvSpPr>
        <p:spPr>
          <a:xfrm>
            <a:off x="2741172" y="2643822"/>
            <a:ext cx="181140" cy="80599"/>
          </a:xfrm>
          <a:prstGeom prst="rect">
            <a:avLst/>
          </a:prstGeom>
          <a:noFill/>
        </p:spPr>
        <p:txBody>
          <a:bodyPr wrap="none" lIns="0" tIns="0" rIns="0" bIns="0" anchor="ctr">
            <a:spAutoFit/>
          </a:bodyPr>
          <a:lstStyle/>
          <a:p>
            <a:pPr algn="l">
              <a:lnSpc>
                <a:spcPct val="105000"/>
              </a:lnSpc>
            </a:pPr>
            <a:r>
              <a:rPr sz="536" dirty="0" err="1">
                <a:solidFill>
                  <a:srgbClr val="5A6B7C"/>
                </a:solidFill>
                <a:latin typeface="Arial"/>
              </a:rPr>
              <a:t>RDKit</a:t>
            </a:r>
            <a:endParaRPr sz="536" dirty="0">
              <a:solidFill>
                <a:srgbClr val="5A6B7C"/>
              </a:solidFill>
              <a:latin typeface="Arial"/>
            </a:endParaRPr>
          </a:p>
        </p:txBody>
      </p:sp>
      <p:grpSp>
        <p:nvGrpSpPr>
          <p:cNvPr id="669" name="Identity | Own molecular graph">
            <a:extLst>
              <a:ext uri="{FF2B5EF4-FFF2-40B4-BE49-F238E27FC236}">
                <a16:creationId xmlns:a16="http://schemas.microsoft.com/office/drawing/2014/main" id="{683652C7-CC94-2A9C-935C-36CF7B7EB5E8}"/>
              </a:ext>
            </a:extLst>
          </p:cNvPr>
          <p:cNvGrpSpPr/>
          <p:nvPr/>
        </p:nvGrpSpPr>
        <p:grpSpPr>
          <a:xfrm>
            <a:off x="2817417" y="2888431"/>
            <a:ext cx="284773" cy="171742"/>
            <a:chOff x="3366271" y="3721905"/>
            <a:chExt cx="311024" cy="187573"/>
          </a:xfrm>
        </p:grpSpPr>
        <p:cxnSp>
          <p:nvCxnSpPr>
            <p:cNvPr id="670" name="path_2698">
              <a:extLst>
                <a:ext uri="{FF2B5EF4-FFF2-40B4-BE49-F238E27FC236}">
                  <a16:creationId xmlns:a16="http://schemas.microsoft.com/office/drawing/2014/main" id="{08C9C74A-0B12-2E3C-023F-C3DCDEFB7AF1}"/>
                </a:ext>
              </a:extLst>
            </p:cNvPr>
            <p:cNvCxnSpPr/>
            <p:nvPr/>
          </p:nvCxnSpPr>
          <p:spPr>
            <a:xfrm flipV="1">
              <a:off x="3381053" y="3736688"/>
              <a:ext cx="63663" cy="70463"/>
            </a:xfrm>
            <a:prstGeom prst="line">
              <a:avLst/>
            </a:prstGeom>
            <a:noFill/>
            <a:ln w="5256" cap="rnd" cmpd="sng" algn="ctr">
              <a:solidFill>
                <a:srgbClr val="238777"/>
              </a:solidFill>
              <a:prstDash val="solid"/>
              <a:round/>
              <a:headEnd type="none" w="med" len="med"/>
              <a:tailEnd type="none" w="med" len="med"/>
            </a:ln>
            <a:effectLst/>
          </p:spPr>
        </p:cxnSp>
        <p:cxnSp>
          <p:nvCxnSpPr>
            <p:cNvPr id="671" name="path_2699">
              <a:extLst>
                <a:ext uri="{FF2B5EF4-FFF2-40B4-BE49-F238E27FC236}">
                  <a16:creationId xmlns:a16="http://schemas.microsoft.com/office/drawing/2014/main" id="{1CF65ECB-9AC9-C310-5460-0B86FF6B2BC5}"/>
                </a:ext>
              </a:extLst>
            </p:cNvPr>
            <p:cNvCxnSpPr/>
            <p:nvPr/>
          </p:nvCxnSpPr>
          <p:spPr>
            <a:xfrm>
              <a:off x="3444717" y="3736688"/>
              <a:ext cx="113924" cy="14947"/>
            </a:xfrm>
            <a:prstGeom prst="line">
              <a:avLst/>
            </a:prstGeom>
            <a:noFill/>
            <a:ln w="5256" cap="rnd" cmpd="sng" algn="ctr">
              <a:solidFill>
                <a:srgbClr val="238777"/>
              </a:solidFill>
              <a:prstDash val="solid"/>
              <a:round/>
              <a:headEnd type="none" w="med" len="med"/>
              <a:tailEnd type="none" w="med" len="med"/>
            </a:ln>
            <a:effectLst/>
          </p:spPr>
        </p:cxnSp>
        <p:cxnSp>
          <p:nvCxnSpPr>
            <p:cNvPr id="672" name="path_2700">
              <a:extLst>
                <a:ext uri="{FF2B5EF4-FFF2-40B4-BE49-F238E27FC236}">
                  <a16:creationId xmlns:a16="http://schemas.microsoft.com/office/drawing/2014/main" id="{47F0AAAA-D782-D4D4-41E7-7304CCE8D568}"/>
                </a:ext>
              </a:extLst>
            </p:cNvPr>
            <p:cNvCxnSpPr/>
            <p:nvPr/>
          </p:nvCxnSpPr>
          <p:spPr>
            <a:xfrm>
              <a:off x="3558640" y="3751634"/>
              <a:ext cx="73715" cy="64058"/>
            </a:xfrm>
            <a:prstGeom prst="line">
              <a:avLst/>
            </a:prstGeom>
            <a:noFill/>
            <a:ln w="5256" cap="rnd" cmpd="sng" algn="ctr">
              <a:solidFill>
                <a:srgbClr val="238777"/>
              </a:solidFill>
              <a:prstDash val="solid"/>
              <a:round/>
              <a:headEnd type="none" w="med" len="med"/>
              <a:tailEnd type="none" w="med" len="med"/>
            </a:ln>
            <a:effectLst/>
          </p:spPr>
        </p:cxnSp>
        <p:cxnSp>
          <p:nvCxnSpPr>
            <p:cNvPr id="673" name="path_2701">
              <a:extLst>
                <a:ext uri="{FF2B5EF4-FFF2-40B4-BE49-F238E27FC236}">
                  <a16:creationId xmlns:a16="http://schemas.microsoft.com/office/drawing/2014/main" id="{672DEF92-FEF6-A8B8-A079-671D6D70071E}"/>
                </a:ext>
              </a:extLst>
            </p:cNvPr>
            <p:cNvCxnSpPr/>
            <p:nvPr/>
          </p:nvCxnSpPr>
          <p:spPr>
            <a:xfrm flipH="1">
              <a:off x="3561991" y="3815692"/>
              <a:ext cx="70365" cy="79004"/>
            </a:xfrm>
            <a:prstGeom prst="line">
              <a:avLst/>
            </a:prstGeom>
            <a:noFill/>
            <a:ln w="5256" cap="rnd" cmpd="sng" algn="ctr">
              <a:solidFill>
                <a:srgbClr val="238777"/>
              </a:solidFill>
              <a:prstDash val="solid"/>
              <a:round/>
              <a:headEnd type="none" w="med" len="med"/>
              <a:tailEnd type="none" w="med" len="med"/>
            </a:ln>
            <a:effectLst/>
          </p:spPr>
        </p:cxnSp>
        <p:cxnSp>
          <p:nvCxnSpPr>
            <p:cNvPr id="674" name="path_2702">
              <a:extLst>
                <a:ext uri="{FF2B5EF4-FFF2-40B4-BE49-F238E27FC236}">
                  <a16:creationId xmlns:a16="http://schemas.microsoft.com/office/drawing/2014/main" id="{B02A38E3-8AB1-C1CA-A784-7A02E63B2D09}"/>
                </a:ext>
              </a:extLst>
            </p:cNvPr>
            <p:cNvCxnSpPr/>
            <p:nvPr/>
          </p:nvCxnSpPr>
          <p:spPr>
            <a:xfrm flipH="1" flipV="1">
              <a:off x="3444717" y="3875479"/>
              <a:ext cx="117275" cy="19217"/>
            </a:xfrm>
            <a:prstGeom prst="line">
              <a:avLst/>
            </a:prstGeom>
            <a:noFill/>
            <a:ln w="5256" cap="rnd" cmpd="sng" algn="ctr">
              <a:solidFill>
                <a:srgbClr val="238777"/>
              </a:solidFill>
              <a:prstDash val="solid"/>
              <a:round/>
              <a:headEnd type="none" w="med" len="med"/>
              <a:tailEnd type="none" w="med" len="med"/>
            </a:ln>
            <a:effectLst/>
          </p:spPr>
        </p:cxnSp>
        <p:cxnSp>
          <p:nvCxnSpPr>
            <p:cNvPr id="675" name="path_2703">
              <a:extLst>
                <a:ext uri="{FF2B5EF4-FFF2-40B4-BE49-F238E27FC236}">
                  <a16:creationId xmlns:a16="http://schemas.microsoft.com/office/drawing/2014/main" id="{5EB27651-D3BE-22CD-39D8-D428781F5F97}"/>
                </a:ext>
              </a:extLst>
            </p:cNvPr>
            <p:cNvCxnSpPr/>
            <p:nvPr/>
          </p:nvCxnSpPr>
          <p:spPr>
            <a:xfrm flipH="1" flipV="1">
              <a:off x="3381053" y="3807151"/>
              <a:ext cx="63663" cy="68328"/>
            </a:xfrm>
            <a:prstGeom prst="line">
              <a:avLst/>
            </a:prstGeom>
            <a:noFill/>
            <a:ln w="5256" cap="rnd" cmpd="sng" algn="ctr">
              <a:solidFill>
                <a:srgbClr val="238777"/>
              </a:solidFill>
              <a:prstDash val="solid"/>
              <a:round/>
              <a:headEnd type="none" w="med" len="med"/>
              <a:tailEnd type="none" w="med" len="med"/>
            </a:ln>
            <a:effectLst/>
          </p:spPr>
        </p:cxnSp>
        <p:cxnSp>
          <p:nvCxnSpPr>
            <p:cNvPr id="676" name="path_2704">
              <a:extLst>
                <a:ext uri="{FF2B5EF4-FFF2-40B4-BE49-F238E27FC236}">
                  <a16:creationId xmlns:a16="http://schemas.microsoft.com/office/drawing/2014/main" id="{A3592B63-1411-3F57-5878-96E17C30AD75}"/>
                </a:ext>
              </a:extLst>
            </p:cNvPr>
            <p:cNvCxnSpPr/>
            <p:nvPr/>
          </p:nvCxnSpPr>
          <p:spPr>
            <a:xfrm flipV="1">
              <a:off x="3558640" y="3745228"/>
              <a:ext cx="103872" cy="6406"/>
            </a:xfrm>
            <a:prstGeom prst="line">
              <a:avLst/>
            </a:prstGeom>
            <a:noFill/>
            <a:ln w="5256" cap="rnd" cmpd="sng" algn="ctr">
              <a:solidFill>
                <a:srgbClr val="238777"/>
              </a:solidFill>
              <a:prstDash val="solid"/>
              <a:round/>
              <a:headEnd type="none" w="med" len="med"/>
              <a:tailEnd type="none" w="med" len="med"/>
            </a:ln>
            <a:effectLst/>
          </p:spPr>
        </p:cxnSp>
        <p:sp>
          <p:nvSpPr>
            <p:cNvPr id="677" name="ellipse_2705">
              <a:extLst>
                <a:ext uri="{FF2B5EF4-FFF2-40B4-BE49-F238E27FC236}">
                  <a16:creationId xmlns:a16="http://schemas.microsoft.com/office/drawing/2014/main" id="{C3D36D22-8CEB-B663-A605-02E9CFFED0C1}"/>
                </a:ext>
              </a:extLst>
            </p:cNvPr>
            <p:cNvSpPr/>
            <p:nvPr/>
          </p:nvSpPr>
          <p:spPr>
            <a:xfrm>
              <a:off x="3366271" y="3792368"/>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8" name="ellipse_2706">
              <a:extLst>
                <a:ext uri="{FF2B5EF4-FFF2-40B4-BE49-F238E27FC236}">
                  <a16:creationId xmlns:a16="http://schemas.microsoft.com/office/drawing/2014/main" id="{1F86BCBC-B96E-6EC5-AC9B-22A20629DF0F}"/>
                </a:ext>
              </a:extLst>
            </p:cNvPr>
            <p:cNvSpPr/>
            <p:nvPr/>
          </p:nvSpPr>
          <p:spPr>
            <a:xfrm>
              <a:off x="3429934" y="3721905"/>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9" name="ellipse_2707">
              <a:extLst>
                <a:ext uri="{FF2B5EF4-FFF2-40B4-BE49-F238E27FC236}">
                  <a16:creationId xmlns:a16="http://schemas.microsoft.com/office/drawing/2014/main" id="{0D7ED534-2755-74EA-6149-4A7E3A7E8992}"/>
                </a:ext>
              </a:extLst>
            </p:cNvPr>
            <p:cNvSpPr/>
            <p:nvPr/>
          </p:nvSpPr>
          <p:spPr>
            <a:xfrm>
              <a:off x="3543858" y="3736852"/>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0" name="ellipse_2708">
              <a:extLst>
                <a:ext uri="{FF2B5EF4-FFF2-40B4-BE49-F238E27FC236}">
                  <a16:creationId xmlns:a16="http://schemas.microsoft.com/office/drawing/2014/main" id="{01CC7294-C7B5-D1A4-A138-902105284B89}"/>
                </a:ext>
              </a:extLst>
            </p:cNvPr>
            <p:cNvSpPr/>
            <p:nvPr/>
          </p:nvSpPr>
          <p:spPr>
            <a:xfrm>
              <a:off x="3617573" y="3800909"/>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1" name="ellipse_2709">
              <a:extLst>
                <a:ext uri="{FF2B5EF4-FFF2-40B4-BE49-F238E27FC236}">
                  <a16:creationId xmlns:a16="http://schemas.microsoft.com/office/drawing/2014/main" id="{80734E48-9DE8-B4FD-D0D4-D53693BBEADF}"/>
                </a:ext>
              </a:extLst>
            </p:cNvPr>
            <p:cNvSpPr/>
            <p:nvPr/>
          </p:nvSpPr>
          <p:spPr>
            <a:xfrm>
              <a:off x="3547209" y="3879913"/>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2" name="ellipse_2710">
              <a:extLst>
                <a:ext uri="{FF2B5EF4-FFF2-40B4-BE49-F238E27FC236}">
                  <a16:creationId xmlns:a16="http://schemas.microsoft.com/office/drawing/2014/main" id="{3DB6F677-E1A0-2C7D-CADD-FB389865F633}"/>
                </a:ext>
              </a:extLst>
            </p:cNvPr>
            <p:cNvSpPr/>
            <p:nvPr/>
          </p:nvSpPr>
          <p:spPr>
            <a:xfrm>
              <a:off x="3429934" y="386069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3" name="ellipse_2711">
              <a:extLst>
                <a:ext uri="{FF2B5EF4-FFF2-40B4-BE49-F238E27FC236}">
                  <a16:creationId xmlns:a16="http://schemas.microsoft.com/office/drawing/2014/main" id="{D105DBC9-3C6D-0576-1E95-E04BFA9EB1EF}"/>
                </a:ext>
              </a:extLst>
            </p:cNvPr>
            <p:cNvSpPr/>
            <p:nvPr/>
          </p:nvSpPr>
          <p:spPr>
            <a:xfrm>
              <a:off x="3647730" y="373044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grpSp>
      <p:sp>
        <p:nvSpPr>
          <p:cNvPr id="684" name="TextBox 12226">
            <a:extLst>
              <a:ext uri="{FF2B5EF4-FFF2-40B4-BE49-F238E27FC236}">
                <a16:creationId xmlns:a16="http://schemas.microsoft.com/office/drawing/2014/main" id="{43DBD103-E22F-DA52-F0ED-122A5CA41D61}"/>
              </a:ext>
            </a:extLst>
          </p:cNvPr>
          <p:cNvSpPr txBox="1"/>
          <p:nvPr/>
        </p:nvSpPr>
        <p:spPr>
          <a:xfrm>
            <a:off x="2791488" y="3080344"/>
            <a:ext cx="336631" cy="80599"/>
          </a:xfrm>
          <a:prstGeom prst="rect">
            <a:avLst/>
          </a:prstGeom>
          <a:noFill/>
        </p:spPr>
        <p:txBody>
          <a:bodyPr wrap="none" lIns="0" tIns="0" rIns="0" bIns="0" anchor="ctr">
            <a:spAutoFit/>
          </a:bodyPr>
          <a:lstStyle/>
          <a:p>
            <a:pPr algn="ctr">
              <a:lnSpc>
                <a:spcPct val="105000"/>
              </a:lnSpc>
            </a:pPr>
            <a:r>
              <a:rPr sz="536">
                <a:solidFill>
                  <a:srgbClr val="5A6B7C"/>
                </a:solidFill>
                <a:latin typeface="Arial"/>
              </a:rPr>
              <a:t>Own graph</a:t>
            </a:r>
          </a:p>
        </p:txBody>
      </p:sp>
      <p:sp>
        <p:nvSpPr>
          <p:cNvPr id="685" name="Op | GNN">
            <a:extLst>
              <a:ext uri="{FF2B5EF4-FFF2-40B4-BE49-F238E27FC236}">
                <a16:creationId xmlns:a16="http://schemas.microsoft.com/office/drawing/2014/main" id="{98330FF3-2E5A-32C3-D33C-D78225E1943D}"/>
              </a:ext>
            </a:extLst>
          </p:cNvPr>
          <p:cNvSpPr/>
          <p:nvPr/>
        </p:nvSpPr>
        <p:spPr>
          <a:xfrm>
            <a:off x="2777865" y="3239299"/>
            <a:ext cx="363877"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1D6D5E"/>
                </a:solidFill>
                <a:latin typeface="Arial"/>
              </a:rPr>
              <a:t>GNN</a:t>
            </a:r>
          </a:p>
        </p:txBody>
      </p:sp>
      <p:sp>
        <p:nvSpPr>
          <p:cNvPr id="686" name="TextBox 12228">
            <a:extLst>
              <a:ext uri="{FF2B5EF4-FFF2-40B4-BE49-F238E27FC236}">
                <a16:creationId xmlns:a16="http://schemas.microsoft.com/office/drawing/2014/main" id="{26538413-3AE9-9872-D0A6-0AEA9E6FF809}"/>
              </a:ext>
            </a:extLst>
          </p:cNvPr>
          <p:cNvSpPr txBox="1"/>
          <p:nvPr/>
        </p:nvSpPr>
        <p:spPr>
          <a:xfrm>
            <a:off x="2991445" y="3388848"/>
            <a:ext cx="134652" cy="80599"/>
          </a:xfrm>
          <a:prstGeom prst="rect">
            <a:avLst/>
          </a:prstGeom>
          <a:noFill/>
        </p:spPr>
        <p:txBody>
          <a:bodyPr wrap="none" lIns="0" tIns="0" rIns="0" bIns="0" anchor="ctr">
            <a:spAutoFit/>
          </a:bodyPr>
          <a:lstStyle/>
          <a:p>
            <a:pPr algn="l">
              <a:lnSpc>
                <a:spcPct val="105000"/>
              </a:lnSpc>
            </a:pPr>
            <a:r>
              <a:rPr sz="536" dirty="0">
                <a:solidFill>
                  <a:srgbClr val="1D6D5E"/>
                </a:solidFill>
                <a:latin typeface="Arial"/>
              </a:rPr>
              <a:t>K, V</a:t>
            </a:r>
          </a:p>
        </p:txBody>
      </p:sp>
      <p:sp>
        <p:nvSpPr>
          <p:cNvPr id="687" name="Op | Graph attention">
            <a:extLst>
              <a:ext uri="{FF2B5EF4-FFF2-40B4-BE49-F238E27FC236}">
                <a16:creationId xmlns:a16="http://schemas.microsoft.com/office/drawing/2014/main" id="{5F3701CD-DCA3-D9CA-7FA3-D737E8718A60}"/>
              </a:ext>
            </a:extLst>
          </p:cNvPr>
          <p:cNvSpPr/>
          <p:nvPr/>
        </p:nvSpPr>
        <p:spPr>
          <a:xfrm>
            <a:off x="2651299" y="3500341"/>
            <a:ext cx="617009"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1D6D5E"/>
                </a:solidFill>
                <a:latin typeface="Arial"/>
              </a:rPr>
              <a:t>Graph</a:t>
            </a:r>
            <a:r>
              <a:rPr sz="580" dirty="0">
                <a:solidFill>
                  <a:srgbClr val="1D6D5E"/>
                </a:solidFill>
                <a:latin typeface="Arial"/>
              </a:rPr>
              <a:t> </a:t>
            </a:r>
            <a:r>
              <a:rPr sz="588" dirty="0">
                <a:solidFill>
                  <a:srgbClr val="1D6D5E"/>
                </a:solidFill>
                <a:latin typeface="Arial"/>
              </a:rPr>
              <a:t>attention</a:t>
            </a:r>
          </a:p>
        </p:txBody>
      </p:sp>
      <p:sp>
        <p:nvSpPr>
          <p:cNvPr id="688" name="Op | SMI-TED">
            <a:extLst>
              <a:ext uri="{FF2B5EF4-FFF2-40B4-BE49-F238E27FC236}">
                <a16:creationId xmlns:a16="http://schemas.microsoft.com/office/drawing/2014/main" id="{9F250B16-9768-CC2C-86AF-59769C8EEC4C}"/>
              </a:ext>
            </a:extLst>
          </p:cNvPr>
          <p:cNvSpPr/>
          <p:nvPr/>
        </p:nvSpPr>
        <p:spPr>
          <a:xfrm>
            <a:off x="3413848" y="2971538"/>
            <a:ext cx="427160"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1D6D5E"/>
                </a:solidFill>
                <a:latin typeface="Arial"/>
              </a:rPr>
              <a:t>SMI-TED</a:t>
            </a:r>
          </a:p>
        </p:txBody>
      </p:sp>
      <p:sp>
        <p:nvSpPr>
          <p:cNvPr id="689" name="Language vector v_k_1">
            <a:extLst>
              <a:ext uri="{FF2B5EF4-FFF2-40B4-BE49-F238E27FC236}">
                <a16:creationId xmlns:a16="http://schemas.microsoft.com/office/drawing/2014/main" id="{E695888D-D925-5392-2451-D7757F2B6BC7}"/>
              </a:ext>
            </a:extLst>
          </p:cNvPr>
          <p:cNvSpPr/>
          <p:nvPr/>
        </p:nvSpPr>
        <p:spPr>
          <a:xfrm>
            <a:off x="3481889"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0" name="Language vector v_k_2">
            <a:extLst>
              <a:ext uri="{FF2B5EF4-FFF2-40B4-BE49-F238E27FC236}">
                <a16:creationId xmlns:a16="http://schemas.microsoft.com/office/drawing/2014/main" id="{914284BD-BAB8-4AEA-A1F1-E7FC853BC87F}"/>
              </a:ext>
            </a:extLst>
          </p:cNvPr>
          <p:cNvSpPr/>
          <p:nvPr/>
        </p:nvSpPr>
        <p:spPr>
          <a:xfrm>
            <a:off x="3523136"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1" name="Language vector v_k_3">
            <a:extLst>
              <a:ext uri="{FF2B5EF4-FFF2-40B4-BE49-F238E27FC236}">
                <a16:creationId xmlns:a16="http://schemas.microsoft.com/office/drawing/2014/main" id="{A224CED9-3025-4474-CF80-E118B0ACA7AB}"/>
              </a:ext>
            </a:extLst>
          </p:cNvPr>
          <p:cNvSpPr/>
          <p:nvPr/>
        </p:nvSpPr>
        <p:spPr>
          <a:xfrm>
            <a:off x="3564383"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2" name="Language vector v_k_4">
            <a:extLst>
              <a:ext uri="{FF2B5EF4-FFF2-40B4-BE49-F238E27FC236}">
                <a16:creationId xmlns:a16="http://schemas.microsoft.com/office/drawing/2014/main" id="{3641CBF3-C5A5-2DC2-88CA-B3F2C816508D}"/>
              </a:ext>
            </a:extLst>
          </p:cNvPr>
          <p:cNvSpPr/>
          <p:nvPr/>
        </p:nvSpPr>
        <p:spPr>
          <a:xfrm>
            <a:off x="3605630" y="3547013"/>
            <a:ext cx="37291" cy="56955"/>
          </a:xfrm>
          <a:prstGeom prst="rect">
            <a:avLst/>
          </a:prstGeom>
          <a:solidFill>
            <a:srgbClr val="CBE7D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3" name="Language vector v_k_5">
            <a:extLst>
              <a:ext uri="{FF2B5EF4-FFF2-40B4-BE49-F238E27FC236}">
                <a16:creationId xmlns:a16="http://schemas.microsoft.com/office/drawing/2014/main" id="{B6BA4357-39F7-598C-72FA-2FC00B25A10F}"/>
              </a:ext>
            </a:extLst>
          </p:cNvPr>
          <p:cNvSpPr/>
          <p:nvPr/>
        </p:nvSpPr>
        <p:spPr>
          <a:xfrm>
            <a:off x="3646877"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4" name="Language vector v_k_6">
            <a:extLst>
              <a:ext uri="{FF2B5EF4-FFF2-40B4-BE49-F238E27FC236}">
                <a16:creationId xmlns:a16="http://schemas.microsoft.com/office/drawing/2014/main" id="{14F9C08B-08C8-5CC8-21F6-EC42430BFA81}"/>
              </a:ext>
            </a:extLst>
          </p:cNvPr>
          <p:cNvSpPr/>
          <p:nvPr/>
        </p:nvSpPr>
        <p:spPr>
          <a:xfrm>
            <a:off x="3688124"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5" name="Language vector v_k_7">
            <a:extLst>
              <a:ext uri="{FF2B5EF4-FFF2-40B4-BE49-F238E27FC236}">
                <a16:creationId xmlns:a16="http://schemas.microsoft.com/office/drawing/2014/main" id="{52E0E1B7-31F4-244C-BA32-494F415D5F2F}"/>
              </a:ext>
            </a:extLst>
          </p:cNvPr>
          <p:cNvSpPr/>
          <p:nvPr/>
        </p:nvSpPr>
        <p:spPr>
          <a:xfrm>
            <a:off x="3729371"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6" name="TextBox 12239">
            <a:extLst>
              <a:ext uri="{FF2B5EF4-FFF2-40B4-BE49-F238E27FC236}">
                <a16:creationId xmlns:a16="http://schemas.microsoft.com/office/drawing/2014/main" id="{DE6BD61F-48C0-C267-E36F-0AC7BC24100D}"/>
              </a:ext>
            </a:extLst>
          </p:cNvPr>
          <p:cNvSpPr txBox="1"/>
          <p:nvPr/>
        </p:nvSpPr>
        <p:spPr>
          <a:xfrm>
            <a:off x="3307860" y="3475189"/>
            <a:ext cx="126566" cy="81946"/>
          </a:xfrm>
          <a:prstGeom prst="rect">
            <a:avLst/>
          </a:prstGeom>
          <a:noFill/>
        </p:spPr>
        <p:txBody>
          <a:bodyPr wrap="square" lIns="0" tIns="0" rIns="0" bIns="0" anchor="ctr">
            <a:spAutoFit/>
          </a:bodyPr>
          <a:lstStyle/>
          <a:p>
            <a:pPr algn="ctr">
              <a:lnSpc>
                <a:spcPct val="105000"/>
              </a:lnSpc>
            </a:pPr>
            <a:r>
              <a:rPr sz="545" dirty="0">
                <a:solidFill>
                  <a:srgbClr val="1D6D5E"/>
                </a:solidFill>
                <a:latin typeface="Arial"/>
              </a:rPr>
              <a:t>Q</a:t>
            </a:r>
          </a:p>
        </p:txBody>
      </p:sp>
      <p:sp>
        <p:nvSpPr>
          <p:cNvPr id="697" name="TextBox 12240">
            <a:extLst>
              <a:ext uri="{FF2B5EF4-FFF2-40B4-BE49-F238E27FC236}">
                <a16:creationId xmlns:a16="http://schemas.microsoft.com/office/drawing/2014/main" id="{2ACBC05C-C556-BA36-3DA9-0D37D9382C06}"/>
              </a:ext>
            </a:extLst>
          </p:cNvPr>
          <p:cNvSpPr txBox="1"/>
          <p:nvPr/>
        </p:nvSpPr>
        <p:spPr>
          <a:xfrm>
            <a:off x="3814124" y="3475189"/>
            <a:ext cx="126566" cy="81946"/>
          </a:xfrm>
          <a:prstGeom prst="rect">
            <a:avLst/>
          </a:prstGeom>
          <a:noFill/>
        </p:spPr>
        <p:txBody>
          <a:bodyPr wrap="square" lIns="0" tIns="0" rIns="0" bIns="0" anchor="ctr">
            <a:spAutoFit/>
          </a:bodyPr>
          <a:lstStyle/>
          <a:p>
            <a:pPr algn="ctr">
              <a:lnSpc>
                <a:spcPct val="105000"/>
              </a:lnSpc>
            </a:pPr>
            <a:r>
              <a:rPr sz="545">
                <a:solidFill>
                  <a:srgbClr val="1D6D5E"/>
                </a:solidFill>
                <a:latin typeface="Arial"/>
              </a:rPr>
              <a:t>Q</a:t>
            </a:r>
          </a:p>
        </p:txBody>
      </p:sp>
      <p:sp>
        <p:nvSpPr>
          <p:cNvPr id="698" name="TextBox 12241">
            <a:extLst>
              <a:ext uri="{FF2B5EF4-FFF2-40B4-BE49-F238E27FC236}">
                <a16:creationId xmlns:a16="http://schemas.microsoft.com/office/drawing/2014/main" id="{0B3A68EF-7CF9-A2EB-24B2-085C5BF1F71F}"/>
              </a:ext>
            </a:extLst>
          </p:cNvPr>
          <p:cNvSpPr txBox="1"/>
          <p:nvPr/>
        </p:nvSpPr>
        <p:spPr>
          <a:xfrm>
            <a:off x="4328298" y="2542416"/>
            <a:ext cx="379698" cy="151836"/>
          </a:xfrm>
          <a:prstGeom prst="rect">
            <a:avLst/>
          </a:prstGeom>
          <a:noFill/>
        </p:spPr>
        <p:txBody>
          <a:bodyPr wrap="square" lIns="0" tIns="0" rIns="0" bIns="0" anchor="ctr">
            <a:spAutoFit/>
          </a:bodyPr>
          <a:lstStyle/>
          <a:p>
            <a:pPr algn="l">
              <a:lnSpc>
                <a:spcPct val="95000"/>
              </a:lnSpc>
            </a:pPr>
            <a:r>
              <a:rPr lang="en-US" sz="519" dirty="0">
                <a:solidFill>
                  <a:srgbClr val="5A6B7C"/>
                </a:solidFill>
                <a:latin typeface="Arial"/>
              </a:rPr>
              <a:t>  </a:t>
            </a:r>
            <a:r>
              <a:rPr sz="519" dirty="0">
                <a:solidFill>
                  <a:srgbClr val="5A6B7C"/>
                </a:solidFill>
                <a:latin typeface="Arial"/>
              </a:rPr>
              <a:t>Other</a:t>
            </a:r>
          </a:p>
          <a:p>
            <a:pPr algn="l">
              <a:lnSpc>
                <a:spcPct val="95000"/>
              </a:lnSpc>
            </a:pPr>
            <a:r>
              <a:rPr sz="519" dirty="0">
                <a:solidFill>
                  <a:srgbClr val="5A6B7C"/>
                </a:solidFill>
                <a:latin typeface="Arial"/>
              </a:rPr>
              <a:t>identities</a:t>
            </a:r>
          </a:p>
        </p:txBody>
      </p:sp>
      <p:sp>
        <p:nvSpPr>
          <p:cNvPr id="699" name="Op | SMI-TED">
            <a:extLst>
              <a:ext uri="{FF2B5EF4-FFF2-40B4-BE49-F238E27FC236}">
                <a16:creationId xmlns:a16="http://schemas.microsoft.com/office/drawing/2014/main" id="{6691CF15-5DAD-F305-5973-B1ACEFFF5CBF}"/>
              </a:ext>
            </a:extLst>
          </p:cNvPr>
          <p:cNvSpPr/>
          <p:nvPr/>
        </p:nvSpPr>
        <p:spPr>
          <a:xfrm>
            <a:off x="4095413" y="2967199"/>
            <a:ext cx="427160"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1D6D5E"/>
                </a:solidFill>
                <a:latin typeface="Arial"/>
              </a:rPr>
              <a:t>SMI-TED</a:t>
            </a:r>
          </a:p>
        </p:txBody>
      </p:sp>
      <p:sp>
        <p:nvSpPr>
          <p:cNvPr id="700" name="TextBox 12244">
            <a:extLst>
              <a:ext uri="{FF2B5EF4-FFF2-40B4-BE49-F238E27FC236}">
                <a16:creationId xmlns:a16="http://schemas.microsoft.com/office/drawing/2014/main" id="{13C55E5C-99C8-F46D-3353-FED4827206EC}"/>
              </a:ext>
            </a:extLst>
          </p:cNvPr>
          <p:cNvSpPr txBox="1"/>
          <p:nvPr/>
        </p:nvSpPr>
        <p:spPr>
          <a:xfrm>
            <a:off x="4083077" y="3197919"/>
            <a:ext cx="79104" cy="67711"/>
          </a:xfrm>
          <a:prstGeom prst="rect">
            <a:avLst/>
          </a:prstGeom>
          <a:noFill/>
        </p:spPr>
        <p:txBody>
          <a:bodyPr wrap="square" lIns="0" tIns="0" rIns="0" bIns="0" anchor="ctr">
            <a:spAutoFit/>
          </a:bodyPr>
          <a:lstStyle/>
          <a:p>
            <a:pPr algn="ctr">
              <a:lnSpc>
                <a:spcPct val="105000"/>
              </a:lnSpc>
            </a:pPr>
            <a:r>
              <a:rPr sz="522" dirty="0">
                <a:solidFill>
                  <a:srgbClr val="4E739E"/>
                </a:solidFill>
                <a:latin typeface="Arial"/>
              </a:rPr>
              <a:t>1</a:t>
            </a:r>
          </a:p>
        </p:txBody>
      </p:sp>
      <p:sp>
        <p:nvSpPr>
          <p:cNvPr id="701" name="Context bar 1_1">
            <a:extLst>
              <a:ext uri="{FF2B5EF4-FFF2-40B4-BE49-F238E27FC236}">
                <a16:creationId xmlns:a16="http://schemas.microsoft.com/office/drawing/2014/main" id="{F675EB2C-E3F4-CF25-F2F9-B217A0C64998}"/>
              </a:ext>
            </a:extLst>
          </p:cNvPr>
          <p:cNvSpPr/>
          <p:nvPr/>
        </p:nvSpPr>
        <p:spPr>
          <a:xfrm>
            <a:off x="4178001"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2" name="Context bar 1_2">
            <a:extLst>
              <a:ext uri="{FF2B5EF4-FFF2-40B4-BE49-F238E27FC236}">
                <a16:creationId xmlns:a16="http://schemas.microsoft.com/office/drawing/2014/main" id="{7015B7C2-EE7A-8CD3-BF9A-C8F6C295F2D3}"/>
              </a:ext>
            </a:extLst>
          </p:cNvPr>
          <p:cNvSpPr/>
          <p:nvPr/>
        </p:nvSpPr>
        <p:spPr>
          <a:xfrm>
            <a:off x="4226123"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3" name="Context bar 1_3">
            <a:extLst>
              <a:ext uri="{FF2B5EF4-FFF2-40B4-BE49-F238E27FC236}">
                <a16:creationId xmlns:a16="http://schemas.microsoft.com/office/drawing/2014/main" id="{0283D963-CC89-9552-BBFA-44417F9A5810}"/>
              </a:ext>
            </a:extLst>
          </p:cNvPr>
          <p:cNvSpPr/>
          <p:nvPr/>
        </p:nvSpPr>
        <p:spPr>
          <a:xfrm>
            <a:off x="4274244" y="3223887"/>
            <a:ext cx="44166" cy="34806"/>
          </a:xfrm>
          <a:prstGeom prst="rect">
            <a:avLst/>
          </a:prstGeom>
          <a:solidFill>
            <a:srgbClr val="BFD2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4" name="Context bar 1_4">
            <a:extLst>
              <a:ext uri="{FF2B5EF4-FFF2-40B4-BE49-F238E27FC236}">
                <a16:creationId xmlns:a16="http://schemas.microsoft.com/office/drawing/2014/main" id="{DFE762FA-D62F-609E-23C6-B16577CF789A}"/>
              </a:ext>
            </a:extLst>
          </p:cNvPr>
          <p:cNvSpPr/>
          <p:nvPr/>
        </p:nvSpPr>
        <p:spPr>
          <a:xfrm>
            <a:off x="4322366" y="3223887"/>
            <a:ext cx="44166" cy="34806"/>
          </a:xfrm>
          <a:prstGeom prst="rect">
            <a:avLst/>
          </a:prstGeom>
          <a:solidFill>
            <a:srgbClr val="7397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5" name="Context bar 1_5">
            <a:extLst>
              <a:ext uri="{FF2B5EF4-FFF2-40B4-BE49-F238E27FC236}">
                <a16:creationId xmlns:a16="http://schemas.microsoft.com/office/drawing/2014/main" id="{8A2B1ECE-222F-713D-5115-87805A38C6E9}"/>
              </a:ext>
            </a:extLst>
          </p:cNvPr>
          <p:cNvSpPr/>
          <p:nvPr/>
        </p:nvSpPr>
        <p:spPr>
          <a:xfrm>
            <a:off x="4370487"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6" name="Context bar 1_6">
            <a:extLst>
              <a:ext uri="{FF2B5EF4-FFF2-40B4-BE49-F238E27FC236}">
                <a16:creationId xmlns:a16="http://schemas.microsoft.com/office/drawing/2014/main" id="{F9202696-646F-1763-9139-E44B52B50C5F}"/>
              </a:ext>
            </a:extLst>
          </p:cNvPr>
          <p:cNvSpPr/>
          <p:nvPr/>
        </p:nvSpPr>
        <p:spPr>
          <a:xfrm>
            <a:off x="4418609"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7" name="TextBox 12251">
            <a:extLst>
              <a:ext uri="{FF2B5EF4-FFF2-40B4-BE49-F238E27FC236}">
                <a16:creationId xmlns:a16="http://schemas.microsoft.com/office/drawing/2014/main" id="{7BC06DFD-B767-BA41-2B05-2B0A38358B92}"/>
              </a:ext>
            </a:extLst>
          </p:cNvPr>
          <p:cNvSpPr txBox="1"/>
          <p:nvPr/>
        </p:nvSpPr>
        <p:spPr>
          <a:xfrm>
            <a:off x="4083077" y="3270220"/>
            <a:ext cx="79104" cy="67711"/>
          </a:xfrm>
          <a:prstGeom prst="rect">
            <a:avLst/>
          </a:prstGeom>
          <a:noFill/>
        </p:spPr>
        <p:txBody>
          <a:bodyPr wrap="square" lIns="0" tIns="0" rIns="0" bIns="0" anchor="ctr">
            <a:spAutoFit/>
          </a:bodyPr>
          <a:lstStyle/>
          <a:p>
            <a:pPr algn="ctr">
              <a:lnSpc>
                <a:spcPct val="105000"/>
              </a:lnSpc>
            </a:pPr>
            <a:r>
              <a:rPr sz="522" dirty="0">
                <a:solidFill>
                  <a:srgbClr val="8E6B3E"/>
                </a:solidFill>
                <a:latin typeface="Arial"/>
              </a:rPr>
              <a:t>2</a:t>
            </a:r>
          </a:p>
        </p:txBody>
      </p:sp>
      <p:sp>
        <p:nvSpPr>
          <p:cNvPr id="708" name="Context bar 2_1">
            <a:extLst>
              <a:ext uri="{FF2B5EF4-FFF2-40B4-BE49-F238E27FC236}">
                <a16:creationId xmlns:a16="http://schemas.microsoft.com/office/drawing/2014/main" id="{520858ED-2877-9676-9DDD-53EAA8E37558}"/>
              </a:ext>
            </a:extLst>
          </p:cNvPr>
          <p:cNvSpPr/>
          <p:nvPr/>
        </p:nvSpPr>
        <p:spPr>
          <a:xfrm>
            <a:off x="4178001"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9" name="Context bar 2_2">
            <a:extLst>
              <a:ext uri="{FF2B5EF4-FFF2-40B4-BE49-F238E27FC236}">
                <a16:creationId xmlns:a16="http://schemas.microsoft.com/office/drawing/2014/main" id="{50A3D4F9-D9FE-CC8B-21E7-D32E326D8875}"/>
              </a:ext>
            </a:extLst>
          </p:cNvPr>
          <p:cNvSpPr/>
          <p:nvPr/>
        </p:nvSpPr>
        <p:spPr>
          <a:xfrm>
            <a:off x="4226123"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0" name="Context bar 2_3">
            <a:extLst>
              <a:ext uri="{FF2B5EF4-FFF2-40B4-BE49-F238E27FC236}">
                <a16:creationId xmlns:a16="http://schemas.microsoft.com/office/drawing/2014/main" id="{4471AA3C-5A9C-CEE5-0418-953EC2227441}"/>
              </a:ext>
            </a:extLst>
          </p:cNvPr>
          <p:cNvSpPr/>
          <p:nvPr/>
        </p:nvSpPr>
        <p:spPr>
          <a:xfrm>
            <a:off x="4274244" y="3286664"/>
            <a:ext cx="44166" cy="34806"/>
          </a:xfrm>
          <a:prstGeom prst="rect">
            <a:avLst/>
          </a:prstGeom>
          <a:solidFill>
            <a:srgbClr val="E0CC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1" name="Context bar 2_4">
            <a:extLst>
              <a:ext uri="{FF2B5EF4-FFF2-40B4-BE49-F238E27FC236}">
                <a16:creationId xmlns:a16="http://schemas.microsoft.com/office/drawing/2014/main" id="{B321BB44-18FA-E7F3-2924-BC94493FEA4A}"/>
              </a:ext>
            </a:extLst>
          </p:cNvPr>
          <p:cNvSpPr/>
          <p:nvPr/>
        </p:nvSpPr>
        <p:spPr>
          <a:xfrm>
            <a:off x="4322366" y="3286664"/>
            <a:ext cx="44166" cy="34806"/>
          </a:xfrm>
          <a:prstGeom prst="rect">
            <a:avLst/>
          </a:prstGeom>
          <a:solidFill>
            <a:srgbClr val="B58E5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2" name="Context bar 2_5">
            <a:extLst>
              <a:ext uri="{FF2B5EF4-FFF2-40B4-BE49-F238E27FC236}">
                <a16:creationId xmlns:a16="http://schemas.microsoft.com/office/drawing/2014/main" id="{BF58521A-8C41-BE24-9704-AEAF70385316}"/>
              </a:ext>
            </a:extLst>
          </p:cNvPr>
          <p:cNvSpPr/>
          <p:nvPr/>
        </p:nvSpPr>
        <p:spPr>
          <a:xfrm>
            <a:off x="4370487"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3" name="Context bar 2_6">
            <a:extLst>
              <a:ext uri="{FF2B5EF4-FFF2-40B4-BE49-F238E27FC236}">
                <a16:creationId xmlns:a16="http://schemas.microsoft.com/office/drawing/2014/main" id="{4283B810-9FFF-25F8-1960-4F272603052B}"/>
              </a:ext>
            </a:extLst>
          </p:cNvPr>
          <p:cNvSpPr/>
          <p:nvPr/>
        </p:nvSpPr>
        <p:spPr>
          <a:xfrm>
            <a:off x="4418609"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4" name="TextBox 12258">
            <a:extLst>
              <a:ext uri="{FF2B5EF4-FFF2-40B4-BE49-F238E27FC236}">
                <a16:creationId xmlns:a16="http://schemas.microsoft.com/office/drawing/2014/main" id="{D4C78125-5C89-7F13-017C-2E1C11AE7FDD}"/>
              </a:ext>
            </a:extLst>
          </p:cNvPr>
          <p:cNvSpPr txBox="1"/>
          <p:nvPr/>
        </p:nvSpPr>
        <p:spPr>
          <a:xfrm>
            <a:off x="4083077" y="3342522"/>
            <a:ext cx="79104" cy="67711"/>
          </a:xfrm>
          <a:prstGeom prst="rect">
            <a:avLst/>
          </a:prstGeom>
          <a:noFill/>
        </p:spPr>
        <p:txBody>
          <a:bodyPr wrap="square" lIns="0" tIns="0" rIns="0" bIns="0" anchor="ctr">
            <a:spAutoFit/>
          </a:bodyPr>
          <a:lstStyle/>
          <a:p>
            <a:pPr algn="ctr">
              <a:lnSpc>
                <a:spcPct val="105000"/>
              </a:lnSpc>
            </a:pPr>
            <a:r>
              <a:rPr sz="522" dirty="0">
                <a:solidFill>
                  <a:srgbClr val="6D5B97"/>
                </a:solidFill>
                <a:latin typeface="Arial"/>
              </a:rPr>
              <a:t>K</a:t>
            </a:r>
          </a:p>
        </p:txBody>
      </p:sp>
      <p:sp>
        <p:nvSpPr>
          <p:cNvPr id="715" name="Context bar K_1">
            <a:extLst>
              <a:ext uri="{FF2B5EF4-FFF2-40B4-BE49-F238E27FC236}">
                <a16:creationId xmlns:a16="http://schemas.microsoft.com/office/drawing/2014/main" id="{6C63634F-2307-320B-8E95-2B6ADA84F565}"/>
              </a:ext>
            </a:extLst>
          </p:cNvPr>
          <p:cNvSpPr/>
          <p:nvPr/>
        </p:nvSpPr>
        <p:spPr>
          <a:xfrm>
            <a:off x="4178001"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6" name="Context bar K_2">
            <a:extLst>
              <a:ext uri="{FF2B5EF4-FFF2-40B4-BE49-F238E27FC236}">
                <a16:creationId xmlns:a16="http://schemas.microsoft.com/office/drawing/2014/main" id="{582A4CF2-1B99-BCF5-A8D3-EE93D5F5B81F}"/>
              </a:ext>
            </a:extLst>
          </p:cNvPr>
          <p:cNvSpPr/>
          <p:nvPr/>
        </p:nvSpPr>
        <p:spPr>
          <a:xfrm>
            <a:off x="4226123"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7" name="Context bar K_3">
            <a:extLst>
              <a:ext uri="{FF2B5EF4-FFF2-40B4-BE49-F238E27FC236}">
                <a16:creationId xmlns:a16="http://schemas.microsoft.com/office/drawing/2014/main" id="{607B41B1-A111-8D93-E207-5DF6221B54D2}"/>
              </a:ext>
            </a:extLst>
          </p:cNvPr>
          <p:cNvSpPr/>
          <p:nvPr/>
        </p:nvSpPr>
        <p:spPr>
          <a:xfrm>
            <a:off x="4274244" y="3349440"/>
            <a:ext cx="44166" cy="34806"/>
          </a:xfrm>
          <a:prstGeom prst="rect">
            <a:avLst/>
          </a:prstGeom>
          <a:solidFill>
            <a:srgbClr val="CBC2E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8" name="Context bar K_4">
            <a:extLst>
              <a:ext uri="{FF2B5EF4-FFF2-40B4-BE49-F238E27FC236}">
                <a16:creationId xmlns:a16="http://schemas.microsoft.com/office/drawing/2014/main" id="{9539C2E7-004F-E86E-852E-98E80C399402}"/>
              </a:ext>
            </a:extLst>
          </p:cNvPr>
          <p:cNvSpPr/>
          <p:nvPr/>
        </p:nvSpPr>
        <p:spPr>
          <a:xfrm>
            <a:off x="4322366" y="3349440"/>
            <a:ext cx="44166" cy="34806"/>
          </a:xfrm>
          <a:prstGeom prst="rect">
            <a:avLst/>
          </a:prstGeom>
          <a:solidFill>
            <a:srgbClr val="8E7DB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9" name="Context bar K_5">
            <a:extLst>
              <a:ext uri="{FF2B5EF4-FFF2-40B4-BE49-F238E27FC236}">
                <a16:creationId xmlns:a16="http://schemas.microsoft.com/office/drawing/2014/main" id="{2DE0B959-537B-893B-9987-81BBF3647FFD}"/>
              </a:ext>
            </a:extLst>
          </p:cNvPr>
          <p:cNvSpPr/>
          <p:nvPr/>
        </p:nvSpPr>
        <p:spPr>
          <a:xfrm>
            <a:off x="4370487"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0" name="Context bar K_6">
            <a:extLst>
              <a:ext uri="{FF2B5EF4-FFF2-40B4-BE49-F238E27FC236}">
                <a16:creationId xmlns:a16="http://schemas.microsoft.com/office/drawing/2014/main" id="{147CE38B-269C-4BBA-77C6-2810C1D11F1C}"/>
              </a:ext>
            </a:extLst>
          </p:cNvPr>
          <p:cNvSpPr/>
          <p:nvPr/>
        </p:nvSpPr>
        <p:spPr>
          <a:xfrm>
            <a:off x="4418609"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1" name="TextBox 12265">
            <a:extLst>
              <a:ext uri="{FF2B5EF4-FFF2-40B4-BE49-F238E27FC236}">
                <a16:creationId xmlns:a16="http://schemas.microsoft.com/office/drawing/2014/main" id="{979CEBC9-AC70-1276-123A-637171F58084}"/>
              </a:ext>
            </a:extLst>
          </p:cNvPr>
          <p:cNvSpPr txBox="1"/>
          <p:nvPr/>
        </p:nvSpPr>
        <p:spPr>
          <a:xfrm>
            <a:off x="4336209" y="3400472"/>
            <a:ext cx="134652" cy="80599"/>
          </a:xfrm>
          <a:prstGeom prst="rect">
            <a:avLst/>
          </a:prstGeom>
          <a:noFill/>
        </p:spPr>
        <p:txBody>
          <a:bodyPr wrap="none" lIns="0" tIns="0" rIns="0" bIns="0" anchor="ctr">
            <a:spAutoFit/>
          </a:bodyPr>
          <a:lstStyle/>
          <a:p>
            <a:pPr algn="l">
              <a:lnSpc>
                <a:spcPct val="105000"/>
              </a:lnSpc>
            </a:pPr>
            <a:r>
              <a:rPr sz="536" dirty="0">
                <a:solidFill>
                  <a:srgbClr val="1D6D5E"/>
                </a:solidFill>
                <a:latin typeface="Arial"/>
              </a:rPr>
              <a:t>K, V</a:t>
            </a:r>
          </a:p>
        </p:txBody>
      </p:sp>
      <p:sp>
        <p:nvSpPr>
          <p:cNvPr id="722" name="Op | Context attention">
            <a:extLst>
              <a:ext uri="{FF2B5EF4-FFF2-40B4-BE49-F238E27FC236}">
                <a16:creationId xmlns:a16="http://schemas.microsoft.com/office/drawing/2014/main" id="{640CE564-549E-0D15-B50A-E392C9DB6304}"/>
              </a:ext>
            </a:extLst>
          </p:cNvPr>
          <p:cNvSpPr/>
          <p:nvPr/>
        </p:nvSpPr>
        <p:spPr>
          <a:xfrm>
            <a:off x="3980242" y="3500341"/>
            <a:ext cx="648651"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1D6D5E"/>
                </a:solidFill>
                <a:latin typeface="Arial"/>
              </a:rPr>
              <a:t>Context</a:t>
            </a:r>
            <a:r>
              <a:rPr sz="580" dirty="0">
                <a:solidFill>
                  <a:srgbClr val="1D6D5E"/>
                </a:solidFill>
                <a:latin typeface="Arial"/>
              </a:rPr>
              <a:t> attention</a:t>
            </a:r>
          </a:p>
        </p:txBody>
      </p:sp>
      <p:sp>
        <p:nvSpPr>
          <p:cNvPr id="723" name="Op | Fusion">
            <a:extLst>
              <a:ext uri="{FF2B5EF4-FFF2-40B4-BE49-F238E27FC236}">
                <a16:creationId xmlns:a16="http://schemas.microsoft.com/office/drawing/2014/main" id="{FF74A918-BF09-C9F6-6A9B-D421CF97BC33}"/>
              </a:ext>
            </a:extLst>
          </p:cNvPr>
          <p:cNvSpPr/>
          <p:nvPr/>
        </p:nvSpPr>
        <p:spPr>
          <a:xfrm>
            <a:off x="3434426" y="3733697"/>
            <a:ext cx="379698" cy="14238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1D6D5E"/>
                </a:solidFill>
                <a:latin typeface="Arial"/>
              </a:rPr>
              <a:t>Fusion</a:t>
            </a:r>
          </a:p>
        </p:txBody>
      </p:sp>
      <p:sp>
        <p:nvSpPr>
          <p:cNvPr id="724" name="g_k bar_1">
            <a:extLst>
              <a:ext uri="{FF2B5EF4-FFF2-40B4-BE49-F238E27FC236}">
                <a16:creationId xmlns:a16="http://schemas.microsoft.com/office/drawing/2014/main" id="{CB9A6A2F-14EE-2004-CB53-FCE391ACED69}"/>
              </a:ext>
            </a:extLst>
          </p:cNvPr>
          <p:cNvSpPr/>
          <p:nvPr/>
        </p:nvSpPr>
        <p:spPr>
          <a:xfrm>
            <a:off x="3458158"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5" name="g_k bar_2">
            <a:extLst>
              <a:ext uri="{FF2B5EF4-FFF2-40B4-BE49-F238E27FC236}">
                <a16:creationId xmlns:a16="http://schemas.microsoft.com/office/drawing/2014/main" id="{E39FC69E-11ED-3FA2-32B9-5945059F2213}"/>
              </a:ext>
            </a:extLst>
          </p:cNvPr>
          <p:cNvSpPr/>
          <p:nvPr/>
        </p:nvSpPr>
        <p:spPr>
          <a:xfrm>
            <a:off x="3506185"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6" name="g_k bar_3">
            <a:extLst>
              <a:ext uri="{FF2B5EF4-FFF2-40B4-BE49-F238E27FC236}">
                <a16:creationId xmlns:a16="http://schemas.microsoft.com/office/drawing/2014/main" id="{543C1079-397B-91D4-0D56-9824953F1A51}"/>
              </a:ext>
            </a:extLst>
          </p:cNvPr>
          <p:cNvSpPr/>
          <p:nvPr/>
        </p:nvSpPr>
        <p:spPr>
          <a:xfrm>
            <a:off x="3554212"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7" name="g_k bar_4">
            <a:extLst>
              <a:ext uri="{FF2B5EF4-FFF2-40B4-BE49-F238E27FC236}">
                <a16:creationId xmlns:a16="http://schemas.microsoft.com/office/drawing/2014/main" id="{72768CF4-9EFB-DF24-7C89-6D351C730BA5}"/>
              </a:ext>
            </a:extLst>
          </p:cNvPr>
          <p:cNvSpPr/>
          <p:nvPr/>
        </p:nvSpPr>
        <p:spPr>
          <a:xfrm>
            <a:off x="3602239" y="3989994"/>
            <a:ext cx="44072" cy="56955"/>
          </a:xfrm>
          <a:prstGeom prst="rect">
            <a:avLst/>
          </a:prstGeom>
          <a:solidFill>
            <a:srgbClr val="68AB9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8" name="g_k bar_5">
            <a:extLst>
              <a:ext uri="{FF2B5EF4-FFF2-40B4-BE49-F238E27FC236}">
                <a16:creationId xmlns:a16="http://schemas.microsoft.com/office/drawing/2014/main" id="{4025AE17-AFDD-1F7D-9368-8E976FBC9D73}"/>
              </a:ext>
            </a:extLst>
          </p:cNvPr>
          <p:cNvSpPr/>
          <p:nvPr/>
        </p:nvSpPr>
        <p:spPr>
          <a:xfrm>
            <a:off x="3650267"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9" name="g_k bar_6">
            <a:extLst>
              <a:ext uri="{FF2B5EF4-FFF2-40B4-BE49-F238E27FC236}">
                <a16:creationId xmlns:a16="http://schemas.microsoft.com/office/drawing/2014/main" id="{894C2CFF-A654-8C7B-2480-AC98400CE487}"/>
              </a:ext>
            </a:extLst>
          </p:cNvPr>
          <p:cNvSpPr/>
          <p:nvPr/>
        </p:nvSpPr>
        <p:spPr>
          <a:xfrm>
            <a:off x="3698294"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0" name="g_k bar_7">
            <a:extLst>
              <a:ext uri="{FF2B5EF4-FFF2-40B4-BE49-F238E27FC236}">
                <a16:creationId xmlns:a16="http://schemas.microsoft.com/office/drawing/2014/main" id="{DC10EA75-05BB-E415-682D-FAFCD65B7377}"/>
              </a:ext>
            </a:extLst>
          </p:cNvPr>
          <p:cNvSpPr/>
          <p:nvPr/>
        </p:nvSpPr>
        <p:spPr>
          <a:xfrm>
            <a:off x="3746321"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1" name="Math | g_k^">
            <a:extLst>
              <a:ext uri="{FF2B5EF4-FFF2-40B4-BE49-F238E27FC236}">
                <a16:creationId xmlns:a16="http://schemas.microsoft.com/office/drawing/2014/main" id="{45321F2B-F3FA-58E1-92FE-B69A1AB20949}"/>
              </a:ext>
            </a:extLst>
          </p:cNvPr>
          <p:cNvSpPr txBox="1"/>
          <p:nvPr/>
        </p:nvSpPr>
        <p:spPr>
          <a:xfrm>
            <a:off x="3827018" y="3947306"/>
            <a:ext cx="84960" cy="126509"/>
          </a:xfrm>
          <a:prstGeom prst="rect">
            <a:avLst/>
          </a:prstGeom>
          <a:noFill/>
        </p:spPr>
        <p:txBody>
          <a:bodyPr wrap="none" lIns="0" tIns="0" rIns="0" bIns="0" anchor="ctr">
            <a:spAutoFit/>
          </a:bodyPr>
          <a:lstStyle/>
          <a:p>
            <a:pPr algn="ctr"/>
            <a:r>
              <a:rPr sz="855" i="1">
                <a:solidFill>
                  <a:srgbClr val="1E293B"/>
                </a:solidFill>
                <a:latin typeface="Times New Roman"/>
              </a:rPr>
              <a:t>g</a:t>
            </a:r>
            <a:r>
              <a:rPr sz="780" i="1" baseline="-28000">
                <a:solidFill>
                  <a:srgbClr val="1E293B"/>
                </a:solidFill>
                <a:latin typeface="Times New Roman"/>
              </a:rPr>
              <a:t>k</a:t>
            </a:r>
          </a:p>
        </p:txBody>
      </p:sp>
      <p:sp>
        <p:nvSpPr>
          <p:cNvPr id="732" name="Op | Cosine score">
            <a:extLst>
              <a:ext uri="{FF2B5EF4-FFF2-40B4-BE49-F238E27FC236}">
                <a16:creationId xmlns:a16="http://schemas.microsoft.com/office/drawing/2014/main" id="{9B88858F-88C1-DA3F-1992-E9C76D0D80AF}"/>
              </a:ext>
            </a:extLst>
          </p:cNvPr>
          <p:cNvSpPr/>
          <p:nvPr/>
        </p:nvSpPr>
        <p:spPr>
          <a:xfrm>
            <a:off x="3228756" y="4164813"/>
            <a:ext cx="569547"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a:solidFill>
                  <a:srgbClr val="1D6D5E"/>
                </a:solidFill>
                <a:latin typeface="Arial"/>
              </a:rPr>
              <a:t>Cosine score</a:t>
            </a:r>
          </a:p>
        </p:txBody>
      </p:sp>
      <p:sp>
        <p:nvSpPr>
          <p:cNvPr id="733" name="TextBox 12277">
            <a:extLst>
              <a:ext uri="{FF2B5EF4-FFF2-40B4-BE49-F238E27FC236}">
                <a16:creationId xmlns:a16="http://schemas.microsoft.com/office/drawing/2014/main" id="{7D6970C3-E7E9-652B-644D-A057CB503545}"/>
              </a:ext>
            </a:extLst>
          </p:cNvPr>
          <p:cNvSpPr txBox="1"/>
          <p:nvPr/>
        </p:nvSpPr>
        <p:spPr>
          <a:xfrm>
            <a:off x="3229878" y="4326634"/>
            <a:ext cx="585097" cy="79445"/>
          </a:xfrm>
          <a:prstGeom prst="rect">
            <a:avLst/>
          </a:prstGeom>
          <a:noFill/>
        </p:spPr>
        <p:txBody>
          <a:bodyPr wrap="none" lIns="0" tIns="0" rIns="0" bIns="0" anchor="ctr">
            <a:spAutoFit/>
          </a:bodyPr>
          <a:lstStyle/>
          <a:p>
            <a:pPr algn="ctr">
              <a:lnSpc>
                <a:spcPct val="105000"/>
              </a:lnSpc>
            </a:pPr>
            <a:r>
              <a:rPr sz="528" dirty="0">
                <a:solidFill>
                  <a:srgbClr val="5A6B7C"/>
                </a:solidFill>
                <a:latin typeface="Arial"/>
              </a:rPr>
              <a:t>Learned projections</a:t>
            </a:r>
          </a:p>
        </p:txBody>
      </p:sp>
      <p:sp>
        <p:nvSpPr>
          <p:cNvPr id="734" name="Math | s_j,k^">
            <a:extLst>
              <a:ext uri="{FF2B5EF4-FFF2-40B4-BE49-F238E27FC236}">
                <a16:creationId xmlns:a16="http://schemas.microsoft.com/office/drawing/2014/main" id="{BD0A37AE-0CF6-77DD-8048-3FF0945F4158}"/>
              </a:ext>
            </a:extLst>
          </p:cNvPr>
          <p:cNvSpPr txBox="1"/>
          <p:nvPr/>
        </p:nvSpPr>
        <p:spPr>
          <a:xfrm>
            <a:off x="3884649" y="4086560"/>
            <a:ext cx="104196" cy="117083"/>
          </a:xfrm>
          <a:prstGeom prst="rect">
            <a:avLst/>
          </a:prstGeom>
          <a:noFill/>
        </p:spPr>
        <p:txBody>
          <a:bodyPr wrap="none" lIns="0" tIns="0" rIns="0" bIns="0" anchor="ctr">
            <a:spAutoFit/>
          </a:bodyPr>
          <a:lstStyle/>
          <a:p>
            <a:pPr algn="ctr"/>
            <a:r>
              <a:rPr sz="791" i="1" dirty="0" err="1">
                <a:solidFill>
                  <a:srgbClr val="1E293B"/>
                </a:solidFill>
                <a:latin typeface="Times New Roman"/>
              </a:rPr>
              <a:t>s</a:t>
            </a:r>
            <a:r>
              <a:rPr sz="780" i="1" baseline="-28000" dirty="0" err="1">
                <a:solidFill>
                  <a:srgbClr val="1E293B"/>
                </a:solidFill>
                <a:latin typeface="Times New Roman"/>
              </a:rPr>
              <a:t>j,k</a:t>
            </a:r>
            <a:endParaRPr sz="780" i="1" baseline="-28000" dirty="0">
              <a:solidFill>
                <a:srgbClr val="1E293B"/>
              </a:solidFill>
              <a:latin typeface="Times New Roman"/>
            </a:endParaRPr>
          </a:p>
        </p:txBody>
      </p:sp>
      <p:sp>
        <p:nvSpPr>
          <p:cNvPr id="735" name="TextBox 12279">
            <a:extLst>
              <a:ext uri="{FF2B5EF4-FFF2-40B4-BE49-F238E27FC236}">
                <a16:creationId xmlns:a16="http://schemas.microsoft.com/office/drawing/2014/main" id="{C56E8311-ADDA-7C63-9110-2C3006BDD08E}"/>
              </a:ext>
            </a:extLst>
          </p:cNvPr>
          <p:cNvSpPr txBox="1"/>
          <p:nvPr/>
        </p:nvSpPr>
        <p:spPr>
          <a:xfrm>
            <a:off x="4144023" y="3931330"/>
            <a:ext cx="479297" cy="87268"/>
          </a:xfrm>
          <a:prstGeom prst="rect">
            <a:avLst/>
          </a:prstGeom>
          <a:noFill/>
        </p:spPr>
        <p:txBody>
          <a:bodyPr wrap="none" lIns="0" tIns="0" rIns="0" bIns="0" anchor="ctr">
            <a:spAutoFit/>
          </a:bodyPr>
          <a:lstStyle/>
          <a:p>
            <a:pPr algn="ctr">
              <a:lnSpc>
                <a:spcPct val="105000"/>
              </a:lnSpc>
            </a:pPr>
            <a:r>
              <a:rPr sz="580">
                <a:solidFill>
                  <a:srgbClr val="1E293B"/>
                </a:solidFill>
                <a:latin typeface="Arial"/>
              </a:rPr>
              <a:t>Identity scores</a:t>
            </a:r>
          </a:p>
        </p:txBody>
      </p:sp>
      <p:sp>
        <p:nvSpPr>
          <p:cNvPr id="736" name="TextBox 12280">
            <a:extLst>
              <a:ext uri="{FF2B5EF4-FFF2-40B4-BE49-F238E27FC236}">
                <a16:creationId xmlns:a16="http://schemas.microsoft.com/office/drawing/2014/main" id="{C640A1D5-D4D1-3FBF-0F27-45AD836A7FCE}"/>
              </a:ext>
            </a:extLst>
          </p:cNvPr>
          <p:cNvSpPr txBox="1"/>
          <p:nvPr/>
        </p:nvSpPr>
        <p:spPr>
          <a:xfrm>
            <a:off x="4382527" y="4018471"/>
            <a:ext cx="102835" cy="85921"/>
          </a:xfrm>
          <a:prstGeom prst="rect">
            <a:avLst/>
          </a:prstGeom>
          <a:noFill/>
        </p:spPr>
        <p:txBody>
          <a:bodyPr wrap="square" lIns="0" tIns="0" rIns="0" bIns="0" anchor="ctr">
            <a:spAutoFit/>
          </a:bodyPr>
          <a:lstStyle/>
          <a:p>
            <a:pPr algn="ctr">
              <a:lnSpc>
                <a:spcPct val="105000"/>
              </a:lnSpc>
            </a:pPr>
            <a:r>
              <a:rPr sz="571" dirty="0">
                <a:solidFill>
                  <a:srgbClr val="1D6D5E"/>
                </a:solidFill>
                <a:latin typeface="Arial"/>
              </a:rPr>
              <a:t>k</a:t>
            </a:r>
          </a:p>
        </p:txBody>
      </p:sp>
      <p:sp>
        <p:nvSpPr>
          <p:cNvPr id="737" name="TextBox 12281">
            <a:extLst>
              <a:ext uri="{FF2B5EF4-FFF2-40B4-BE49-F238E27FC236}">
                <a16:creationId xmlns:a16="http://schemas.microsoft.com/office/drawing/2014/main" id="{F472392A-4724-5EDA-C6D8-557EF063B52F}"/>
              </a:ext>
            </a:extLst>
          </p:cNvPr>
          <p:cNvSpPr txBox="1"/>
          <p:nvPr/>
        </p:nvSpPr>
        <p:spPr>
          <a:xfrm>
            <a:off x="4083077" y="4169314"/>
            <a:ext cx="87014" cy="85921"/>
          </a:xfrm>
          <a:prstGeom prst="rect">
            <a:avLst/>
          </a:prstGeom>
          <a:noFill/>
        </p:spPr>
        <p:txBody>
          <a:bodyPr wrap="square" lIns="0" tIns="0" rIns="0" bIns="0" anchor="ctr">
            <a:spAutoFit/>
          </a:bodyPr>
          <a:lstStyle/>
          <a:p>
            <a:pPr algn="ctr">
              <a:lnSpc>
                <a:spcPct val="105000"/>
              </a:lnSpc>
            </a:pPr>
            <a:r>
              <a:rPr sz="571">
                <a:solidFill>
                  <a:srgbClr val="1D6D5E"/>
                </a:solidFill>
                <a:latin typeface="Arial"/>
              </a:rPr>
              <a:t>j</a:t>
            </a:r>
          </a:p>
        </p:txBody>
      </p:sp>
      <p:sp>
        <p:nvSpPr>
          <p:cNvPr id="738" name="Matrix cell (0,0)">
            <a:extLst>
              <a:ext uri="{FF2B5EF4-FFF2-40B4-BE49-F238E27FC236}">
                <a16:creationId xmlns:a16="http://schemas.microsoft.com/office/drawing/2014/main" id="{1FAFF817-C1CE-5F45-E950-98E19AE452CF}"/>
              </a:ext>
            </a:extLst>
          </p:cNvPr>
          <p:cNvSpPr/>
          <p:nvPr/>
        </p:nvSpPr>
        <p:spPr>
          <a:xfrm>
            <a:off x="4178001"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9" name="Matrix cell (0,1)">
            <a:extLst>
              <a:ext uri="{FF2B5EF4-FFF2-40B4-BE49-F238E27FC236}">
                <a16:creationId xmlns:a16="http://schemas.microsoft.com/office/drawing/2014/main" id="{ED9FACB8-4D6A-044F-997F-E09503AC15AA}"/>
              </a:ext>
            </a:extLst>
          </p:cNvPr>
          <p:cNvSpPr/>
          <p:nvPr/>
        </p:nvSpPr>
        <p:spPr>
          <a:xfrm>
            <a:off x="4280836"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0" name="Matrix cell (0,2)">
            <a:extLst>
              <a:ext uri="{FF2B5EF4-FFF2-40B4-BE49-F238E27FC236}">
                <a16:creationId xmlns:a16="http://schemas.microsoft.com/office/drawing/2014/main" id="{DE25E670-FAB3-667C-5777-C71ED9075845}"/>
              </a:ext>
            </a:extLst>
          </p:cNvPr>
          <p:cNvSpPr/>
          <p:nvPr/>
        </p:nvSpPr>
        <p:spPr>
          <a:xfrm>
            <a:off x="4383671"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1" name="Matrix cell (0,3)">
            <a:extLst>
              <a:ext uri="{FF2B5EF4-FFF2-40B4-BE49-F238E27FC236}">
                <a16:creationId xmlns:a16="http://schemas.microsoft.com/office/drawing/2014/main" id="{D15A0AB1-9BF7-4E76-6CED-C525DFBAA5F7}"/>
              </a:ext>
            </a:extLst>
          </p:cNvPr>
          <p:cNvSpPr/>
          <p:nvPr/>
        </p:nvSpPr>
        <p:spPr>
          <a:xfrm>
            <a:off x="4486506"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2" name="Matrix cell (1,0)">
            <a:extLst>
              <a:ext uri="{FF2B5EF4-FFF2-40B4-BE49-F238E27FC236}">
                <a16:creationId xmlns:a16="http://schemas.microsoft.com/office/drawing/2014/main" id="{5C20FC23-8B30-D896-36CC-91D73273996F}"/>
              </a:ext>
            </a:extLst>
          </p:cNvPr>
          <p:cNvSpPr/>
          <p:nvPr/>
        </p:nvSpPr>
        <p:spPr>
          <a:xfrm>
            <a:off x="4178001"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3" name="Matrix cell (1,1)">
            <a:extLst>
              <a:ext uri="{FF2B5EF4-FFF2-40B4-BE49-F238E27FC236}">
                <a16:creationId xmlns:a16="http://schemas.microsoft.com/office/drawing/2014/main" id="{023C0380-7EA8-B629-5738-AD00698F49B6}"/>
              </a:ext>
            </a:extLst>
          </p:cNvPr>
          <p:cNvSpPr/>
          <p:nvPr/>
        </p:nvSpPr>
        <p:spPr>
          <a:xfrm>
            <a:off x="4280836"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4" name="Matrix cell (1,2)">
            <a:extLst>
              <a:ext uri="{FF2B5EF4-FFF2-40B4-BE49-F238E27FC236}">
                <a16:creationId xmlns:a16="http://schemas.microsoft.com/office/drawing/2014/main" id="{12FBEABC-63F9-0304-4A97-80811BFE2B66}"/>
              </a:ext>
            </a:extLst>
          </p:cNvPr>
          <p:cNvSpPr/>
          <p:nvPr/>
        </p:nvSpPr>
        <p:spPr>
          <a:xfrm>
            <a:off x="4383671" y="4176678"/>
            <a:ext cx="102835" cy="71193"/>
          </a:xfrm>
          <a:prstGeom prst="rect">
            <a:avLst/>
          </a:prstGeom>
          <a:solidFill>
            <a:srgbClr val="3C9486"/>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5" name="Matrix cell (1,3)">
            <a:extLst>
              <a:ext uri="{FF2B5EF4-FFF2-40B4-BE49-F238E27FC236}">
                <a16:creationId xmlns:a16="http://schemas.microsoft.com/office/drawing/2014/main" id="{90D1E1D0-D1D8-F490-5B4D-27F3093D1ECE}"/>
              </a:ext>
            </a:extLst>
          </p:cNvPr>
          <p:cNvSpPr/>
          <p:nvPr/>
        </p:nvSpPr>
        <p:spPr>
          <a:xfrm>
            <a:off x="4486506"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6" name="Matrix cell (2,0)">
            <a:extLst>
              <a:ext uri="{FF2B5EF4-FFF2-40B4-BE49-F238E27FC236}">
                <a16:creationId xmlns:a16="http://schemas.microsoft.com/office/drawing/2014/main" id="{158A66BE-E7B7-0506-657E-0BF13A0E4F5E}"/>
              </a:ext>
            </a:extLst>
          </p:cNvPr>
          <p:cNvSpPr/>
          <p:nvPr/>
        </p:nvSpPr>
        <p:spPr>
          <a:xfrm>
            <a:off x="4178001"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7" name="Matrix cell (2,1)">
            <a:extLst>
              <a:ext uri="{FF2B5EF4-FFF2-40B4-BE49-F238E27FC236}">
                <a16:creationId xmlns:a16="http://schemas.microsoft.com/office/drawing/2014/main" id="{3B18D166-F88A-573E-0225-1ACB99CB2512}"/>
              </a:ext>
            </a:extLst>
          </p:cNvPr>
          <p:cNvSpPr/>
          <p:nvPr/>
        </p:nvSpPr>
        <p:spPr>
          <a:xfrm>
            <a:off x="4280836"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8" name="Matrix cell (2,2)">
            <a:extLst>
              <a:ext uri="{FF2B5EF4-FFF2-40B4-BE49-F238E27FC236}">
                <a16:creationId xmlns:a16="http://schemas.microsoft.com/office/drawing/2014/main" id="{FC858539-3EA9-E4FE-E803-0C8FFAD3870F}"/>
              </a:ext>
            </a:extLst>
          </p:cNvPr>
          <p:cNvSpPr/>
          <p:nvPr/>
        </p:nvSpPr>
        <p:spPr>
          <a:xfrm>
            <a:off x="4383671"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9" name="Matrix cell (2,3)">
            <a:extLst>
              <a:ext uri="{FF2B5EF4-FFF2-40B4-BE49-F238E27FC236}">
                <a16:creationId xmlns:a16="http://schemas.microsoft.com/office/drawing/2014/main" id="{3713326C-75C4-31D8-12F4-1CA18BF652D7}"/>
              </a:ext>
            </a:extLst>
          </p:cNvPr>
          <p:cNvSpPr/>
          <p:nvPr/>
        </p:nvSpPr>
        <p:spPr>
          <a:xfrm>
            <a:off x="4486506"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50" name="TextBox 12294">
            <a:extLst>
              <a:ext uri="{FF2B5EF4-FFF2-40B4-BE49-F238E27FC236}">
                <a16:creationId xmlns:a16="http://schemas.microsoft.com/office/drawing/2014/main" id="{E992C05A-634A-6CF2-2936-1480C4EA17F1}"/>
              </a:ext>
            </a:extLst>
          </p:cNvPr>
          <p:cNvSpPr txBox="1"/>
          <p:nvPr/>
        </p:nvSpPr>
        <p:spPr>
          <a:xfrm>
            <a:off x="4178002" y="4312989"/>
            <a:ext cx="411339" cy="82587"/>
          </a:xfrm>
          <a:prstGeom prst="rect">
            <a:avLst/>
          </a:prstGeom>
          <a:noFill/>
        </p:spPr>
        <p:txBody>
          <a:bodyPr wrap="square" lIns="0" tIns="0" rIns="0" bIns="0" anchor="ctr">
            <a:spAutoFit/>
          </a:bodyPr>
          <a:lstStyle/>
          <a:p>
            <a:pPr algn="ctr">
              <a:lnSpc>
                <a:spcPct val="105000"/>
              </a:lnSpc>
            </a:pPr>
            <a:r>
              <a:rPr sz="536">
                <a:solidFill>
                  <a:srgbClr val="5A6B7C"/>
                </a:solidFill>
                <a:latin typeface="Arial"/>
              </a:rPr>
              <a:t>J × K</a:t>
            </a:r>
          </a:p>
        </p:txBody>
      </p:sp>
      <p:grpSp>
        <p:nvGrpSpPr>
          <p:cNvPr id="751" name="组合 13795">
            <a:extLst>
              <a:ext uri="{FF2B5EF4-FFF2-40B4-BE49-F238E27FC236}">
                <a16:creationId xmlns:a16="http://schemas.microsoft.com/office/drawing/2014/main" id="{7EA912CF-516A-2745-A5D0-8704116A4D72}"/>
              </a:ext>
            </a:extLst>
          </p:cNvPr>
          <p:cNvGrpSpPr/>
          <p:nvPr/>
        </p:nvGrpSpPr>
        <p:grpSpPr>
          <a:xfrm>
            <a:off x="2067869" y="554865"/>
            <a:ext cx="1978883" cy="340209"/>
            <a:chOff x="6312668" y="2448732"/>
            <a:chExt cx="1215499" cy="343631"/>
          </a:xfrm>
        </p:grpSpPr>
        <p:pic>
          <p:nvPicPr>
            <p:cNvPr id="752" name="图片 12">
              <a:extLst>
                <a:ext uri="{FF2B5EF4-FFF2-40B4-BE49-F238E27FC236}">
                  <a16:creationId xmlns:a16="http://schemas.microsoft.com/office/drawing/2014/main" id="{521CB8EA-9697-F11D-7107-B4A42B988070}"/>
                </a:ext>
              </a:extLst>
            </p:cNvPr>
            <p:cNvPicPr>
              <a:picLocks/>
            </p:cNvPicPr>
            <p:nvPr/>
          </p:nvPicPr>
          <p:blipFill>
            <a:blip r:embed="rId5"/>
            <a:srcRect l="70243" t="-18171" b="-1"/>
            <a:stretch>
              <a:fillRect/>
            </a:stretch>
          </p:blipFill>
          <p:spPr>
            <a:xfrm>
              <a:off x="7112075" y="2448732"/>
              <a:ext cx="416092" cy="323855"/>
            </a:xfrm>
            <a:prstGeom prst="rect">
              <a:avLst/>
            </a:prstGeom>
          </p:spPr>
        </p:pic>
        <p:pic>
          <p:nvPicPr>
            <p:cNvPr id="753" name="图片 12">
              <a:extLst>
                <a:ext uri="{FF2B5EF4-FFF2-40B4-BE49-F238E27FC236}">
                  <a16:creationId xmlns:a16="http://schemas.microsoft.com/office/drawing/2014/main" id="{546466D8-C7C6-7C8A-3307-95F68FB4F610}"/>
                </a:ext>
              </a:extLst>
            </p:cNvPr>
            <p:cNvPicPr>
              <a:picLocks/>
            </p:cNvPicPr>
            <p:nvPr/>
          </p:nvPicPr>
          <p:blipFill>
            <a:blip r:embed="rId5"/>
            <a:srcRect r="70534" b="-8235"/>
            <a:stretch>
              <a:fillRect/>
            </a:stretch>
          </p:blipFill>
          <p:spPr>
            <a:xfrm>
              <a:off x="6312668" y="2495741"/>
              <a:ext cx="412024" cy="296622"/>
            </a:xfrm>
            <a:prstGeom prst="rect">
              <a:avLst/>
            </a:prstGeom>
          </p:spPr>
        </p:pic>
        <p:pic>
          <p:nvPicPr>
            <p:cNvPr id="754" name="Picture 10000" descr="unet_block_18.png">
              <a:extLst>
                <a:ext uri="{FF2B5EF4-FFF2-40B4-BE49-F238E27FC236}">
                  <a16:creationId xmlns:a16="http://schemas.microsoft.com/office/drawing/2014/main" id="{75A7694C-DEA5-AFE8-E284-0A0D89F845C1}"/>
                </a:ext>
              </a:extLst>
            </p:cNvPr>
            <p:cNvPicPr>
              <a:picLocks noChangeAspect="1"/>
            </p:cNvPicPr>
            <p:nvPr/>
          </p:nvPicPr>
          <p:blipFill>
            <a:blip r:embed="rId6"/>
            <a:stretch>
              <a:fillRect/>
            </a:stretch>
          </p:blipFill>
          <p:spPr>
            <a:xfrm>
              <a:off x="6776851" y="2645026"/>
              <a:ext cx="276863" cy="126566"/>
            </a:xfrm>
            <a:prstGeom prst="rect">
              <a:avLst/>
            </a:prstGeom>
          </p:spPr>
        </p:pic>
      </p:grpSp>
      <p:grpSp>
        <p:nvGrpSpPr>
          <p:cNvPr id="755" name="Find candidate blob 1">
            <a:extLst>
              <a:ext uri="{FF2B5EF4-FFF2-40B4-BE49-F238E27FC236}">
                <a16:creationId xmlns:a16="http://schemas.microsoft.com/office/drawing/2014/main" id="{3B821B97-56A6-DCED-E85F-DBF945F3EA13}"/>
              </a:ext>
            </a:extLst>
          </p:cNvPr>
          <p:cNvGrpSpPr/>
          <p:nvPr/>
        </p:nvGrpSpPr>
        <p:grpSpPr>
          <a:xfrm>
            <a:off x="4589586" y="1155648"/>
            <a:ext cx="150375" cy="102721"/>
            <a:chOff x="1928706" y="3559489"/>
            <a:chExt cx="227897" cy="155682"/>
          </a:xfrm>
        </p:grpSpPr>
        <p:sp>
          <p:nvSpPr>
            <p:cNvPr id="756" name="Candidate blob | editable contour">
              <a:extLst>
                <a:ext uri="{FF2B5EF4-FFF2-40B4-BE49-F238E27FC236}">
                  <a16:creationId xmlns:a16="http://schemas.microsoft.com/office/drawing/2014/main" id="{B3B117DA-D182-38E6-AD16-B4776AD2C7B7}"/>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57" name="ellipse_2612">
              <a:extLst>
                <a:ext uri="{FF2B5EF4-FFF2-40B4-BE49-F238E27FC236}">
                  <a16:creationId xmlns:a16="http://schemas.microsoft.com/office/drawing/2014/main" id="{901C6437-E94C-AFDE-D242-E688A89ABBD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58" name="Find candidate blob 2">
            <a:extLst>
              <a:ext uri="{FF2B5EF4-FFF2-40B4-BE49-F238E27FC236}">
                <a16:creationId xmlns:a16="http://schemas.microsoft.com/office/drawing/2014/main" id="{00C0C92B-D4C8-0994-E860-1581EB873D86}"/>
              </a:ext>
            </a:extLst>
          </p:cNvPr>
          <p:cNvGrpSpPr/>
          <p:nvPr/>
        </p:nvGrpSpPr>
        <p:grpSpPr>
          <a:xfrm>
            <a:off x="4366446" y="1024437"/>
            <a:ext cx="168602" cy="95394"/>
            <a:chOff x="1928706" y="3559489"/>
            <a:chExt cx="227897" cy="155682"/>
          </a:xfrm>
        </p:grpSpPr>
        <p:sp>
          <p:nvSpPr>
            <p:cNvPr id="759" name="Candidate blob | editable contour">
              <a:extLst>
                <a:ext uri="{FF2B5EF4-FFF2-40B4-BE49-F238E27FC236}">
                  <a16:creationId xmlns:a16="http://schemas.microsoft.com/office/drawing/2014/main" id="{A172A8B3-EFA3-33C9-CD2B-307B24D7293D}"/>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0" name="ellipse_2612">
              <a:extLst>
                <a:ext uri="{FF2B5EF4-FFF2-40B4-BE49-F238E27FC236}">
                  <a16:creationId xmlns:a16="http://schemas.microsoft.com/office/drawing/2014/main" id="{CF37E813-914E-4383-9CE9-1C5F4095124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61" name="Find candidate blob 3">
            <a:extLst>
              <a:ext uri="{FF2B5EF4-FFF2-40B4-BE49-F238E27FC236}">
                <a16:creationId xmlns:a16="http://schemas.microsoft.com/office/drawing/2014/main" id="{D7299A48-8BF0-7050-EF56-14DA3F495CB7}"/>
              </a:ext>
            </a:extLst>
          </p:cNvPr>
          <p:cNvGrpSpPr/>
          <p:nvPr/>
        </p:nvGrpSpPr>
        <p:grpSpPr>
          <a:xfrm>
            <a:off x="4374195" y="1164655"/>
            <a:ext cx="152150" cy="82991"/>
            <a:chOff x="1928706" y="3559489"/>
            <a:chExt cx="227897" cy="155682"/>
          </a:xfrm>
        </p:grpSpPr>
        <p:sp>
          <p:nvSpPr>
            <p:cNvPr id="762" name="Candidate blob | editable contour">
              <a:extLst>
                <a:ext uri="{FF2B5EF4-FFF2-40B4-BE49-F238E27FC236}">
                  <a16:creationId xmlns:a16="http://schemas.microsoft.com/office/drawing/2014/main" id="{8902F596-0D84-3C56-EB93-D63FC7E9041E}"/>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3" name="ellipse_2612">
              <a:extLst>
                <a:ext uri="{FF2B5EF4-FFF2-40B4-BE49-F238E27FC236}">
                  <a16:creationId xmlns:a16="http://schemas.microsoft.com/office/drawing/2014/main" id="{85D74281-2FE6-E2D2-EFBA-AF54A45686E3}"/>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765" name="Find auxiliary label">
            <a:extLst>
              <a:ext uri="{FF2B5EF4-FFF2-40B4-BE49-F238E27FC236}">
                <a16:creationId xmlns:a16="http://schemas.microsoft.com/office/drawing/2014/main" id="{CAD88599-B783-720B-B6BD-9F787FCB6CF4}"/>
              </a:ext>
            </a:extLst>
          </p:cNvPr>
          <p:cNvSpPr>
            <a:spLocks noGrp="1"/>
          </p:cNvSpPr>
          <p:nvPr/>
        </p:nvSpPr>
        <p:spPr>
          <a:xfrm>
            <a:off x="4345824" y="1518303"/>
            <a:ext cx="433362" cy="157954"/>
          </a:xfrm>
          <a:prstGeom prst="rect">
            <a:avLst/>
          </a:prstGeom>
          <a:noFill/>
          <a:ln w="6885">
            <a:noFill/>
            <a:prstDash val="solid"/>
          </a:ln>
        </p:spPr>
        <p:txBody>
          <a:bodyPr lIns="0" tIns="0" rIns="0" bIns="0" anchor="ctr"/>
          <a:lstStyle>
            <a:defPPr algn="ctr">
              <a:defRPr sz="590" b="0">
                <a:solidFill>
                  <a:srgbClr val="71808C"/>
                </a:solidFill>
                <a:latin typeface="Arial"/>
                <a:ea typeface="Arial"/>
                <a:cs typeface="Arial"/>
              </a:defRPr>
            </a:defPPr>
            <a:lvl1pPr algn="ctr">
              <a:defRPr sz="590" b="0">
                <a:solidFill>
                  <a:srgbClr val="71808C"/>
                </a:solidFill>
                <a:latin typeface="Arial"/>
                <a:ea typeface="Arial"/>
                <a:cs typeface="Arial"/>
              </a:defRPr>
            </a:lvl1pPr>
            <a:lvl2pPr algn="ctr">
              <a:defRPr sz="590" b="0">
                <a:solidFill>
                  <a:srgbClr val="71808C"/>
                </a:solidFill>
                <a:latin typeface="Arial"/>
                <a:ea typeface="Arial"/>
                <a:cs typeface="Arial"/>
              </a:defRPr>
            </a:lvl2pPr>
            <a:lvl3pPr algn="ctr">
              <a:defRPr sz="590" b="0">
                <a:solidFill>
                  <a:srgbClr val="71808C"/>
                </a:solidFill>
                <a:latin typeface="Arial"/>
                <a:ea typeface="Arial"/>
                <a:cs typeface="Arial"/>
              </a:defRPr>
            </a:lvl3pPr>
            <a:lvl4pPr algn="ctr">
              <a:defRPr sz="590" b="0">
                <a:solidFill>
                  <a:srgbClr val="71808C"/>
                </a:solidFill>
                <a:latin typeface="Arial"/>
                <a:ea typeface="Arial"/>
                <a:cs typeface="Arial"/>
              </a:defRPr>
            </a:lvl4pPr>
            <a:lvl5pPr algn="ctr">
              <a:defRPr sz="590" b="0">
                <a:solidFill>
                  <a:srgbClr val="71808C"/>
                </a:solidFill>
                <a:latin typeface="Arial"/>
                <a:ea typeface="Arial"/>
                <a:cs typeface="Arial"/>
              </a:defRPr>
            </a:lvl5pPr>
            <a:lvl6pPr algn="ctr">
              <a:defRPr sz="590" b="0">
                <a:solidFill>
                  <a:srgbClr val="71808C"/>
                </a:solidFill>
                <a:latin typeface="Arial"/>
                <a:ea typeface="Arial"/>
                <a:cs typeface="Arial"/>
              </a:defRPr>
            </a:lvl6pPr>
            <a:lvl7pPr algn="ctr">
              <a:defRPr sz="590" b="0">
                <a:solidFill>
                  <a:srgbClr val="71808C"/>
                </a:solidFill>
                <a:latin typeface="Arial"/>
                <a:ea typeface="Arial"/>
                <a:cs typeface="Arial"/>
              </a:defRPr>
            </a:lvl7pPr>
            <a:lvl8pPr algn="ctr">
              <a:defRPr sz="590" b="0">
                <a:solidFill>
                  <a:srgbClr val="71808C"/>
                </a:solidFill>
                <a:latin typeface="Arial"/>
                <a:ea typeface="Arial"/>
                <a:cs typeface="Arial"/>
              </a:defRPr>
            </a:lvl8pPr>
            <a:lvl9pPr algn="ctr">
              <a:defRPr sz="590" b="0">
                <a:solidFill>
                  <a:srgbClr val="71808C"/>
                </a:solidFill>
                <a:latin typeface="Arial"/>
                <a:ea typeface="Arial"/>
                <a:cs typeface="Arial"/>
              </a:defRPr>
            </a:lvl9pPr>
          </a:lstStyle>
          <a:p>
            <a:pPr algn="ctr">
              <a:defRPr sz="590" b="0">
                <a:solidFill>
                  <a:srgbClr val="71808C"/>
                </a:solidFill>
                <a:latin typeface="Arial"/>
                <a:ea typeface="Arial"/>
                <a:cs typeface="Arial"/>
              </a:defRPr>
            </a:pPr>
            <a:r>
              <a:rPr sz="590" dirty="0">
                <a:solidFill>
                  <a:srgbClr val="71808C"/>
                </a:solidFill>
                <a:latin typeface="Arial"/>
                <a:ea typeface="Arial"/>
                <a:cs typeface="Arial"/>
              </a:rPr>
              <a:t>Auxiliary</a:t>
            </a:r>
          </a:p>
          <a:p>
            <a:pPr algn="ctr">
              <a:defRPr sz="590" b="0">
                <a:solidFill>
                  <a:srgbClr val="71808C"/>
                </a:solidFill>
                <a:latin typeface="Arial"/>
                <a:ea typeface="Arial"/>
                <a:cs typeface="Arial"/>
              </a:defRPr>
            </a:pPr>
            <a:r>
              <a:rPr sz="590" dirty="0">
                <a:solidFill>
                  <a:srgbClr val="71808C"/>
                </a:solidFill>
                <a:latin typeface="Arial"/>
                <a:ea typeface="Arial"/>
                <a:cs typeface="Arial"/>
              </a:rPr>
              <a:t>features</a:t>
            </a:r>
          </a:p>
        </p:txBody>
      </p:sp>
      <p:sp>
        <p:nvSpPr>
          <p:cNvPr id="766" name="Match auxiliary label">
            <a:extLst>
              <a:ext uri="{FF2B5EF4-FFF2-40B4-BE49-F238E27FC236}">
                <a16:creationId xmlns:a16="http://schemas.microsoft.com/office/drawing/2014/main" id="{C154BF4F-4214-59BC-DCE1-F9C23194AC63}"/>
              </a:ext>
            </a:extLst>
          </p:cNvPr>
          <p:cNvSpPr>
            <a:spLocks noGrp="1"/>
          </p:cNvSpPr>
          <p:nvPr/>
        </p:nvSpPr>
        <p:spPr>
          <a:xfrm>
            <a:off x="1600039" y="2843177"/>
            <a:ext cx="405011" cy="174155"/>
          </a:xfrm>
          <a:prstGeom prst="rect">
            <a:avLst/>
          </a:prstGeom>
          <a:noFill/>
          <a:ln w="6885">
            <a:noFill/>
            <a:prstDash val="solid"/>
          </a:ln>
        </p:spPr>
        <p:txBody>
          <a:bodyPr lIns="0" tIns="0" rIns="0" bIns="0" anchor="ctr"/>
          <a:lstStyle>
            <a:defPPr algn="ctr">
              <a:defRPr sz="590" b="1">
                <a:solidFill>
                  <a:srgbClr val="1E293B"/>
                </a:solidFill>
                <a:latin typeface="Arial"/>
                <a:ea typeface="Arial"/>
                <a:cs typeface="Arial"/>
              </a:defRPr>
            </a:defPPr>
            <a:lvl1pPr algn="ctr">
              <a:defRPr sz="590" b="1">
                <a:solidFill>
                  <a:srgbClr val="1E293B"/>
                </a:solidFill>
                <a:latin typeface="Arial"/>
                <a:ea typeface="Arial"/>
                <a:cs typeface="Arial"/>
              </a:defRPr>
            </a:lvl1pPr>
            <a:lvl2pPr algn="ctr">
              <a:defRPr sz="590" b="1">
                <a:solidFill>
                  <a:srgbClr val="1E293B"/>
                </a:solidFill>
                <a:latin typeface="Arial"/>
                <a:ea typeface="Arial"/>
                <a:cs typeface="Arial"/>
              </a:defRPr>
            </a:lvl2pPr>
            <a:lvl3pPr algn="ctr">
              <a:defRPr sz="590" b="1">
                <a:solidFill>
                  <a:srgbClr val="1E293B"/>
                </a:solidFill>
                <a:latin typeface="Arial"/>
                <a:ea typeface="Arial"/>
                <a:cs typeface="Arial"/>
              </a:defRPr>
            </a:lvl3pPr>
            <a:lvl4pPr algn="ctr">
              <a:defRPr sz="590" b="1">
                <a:solidFill>
                  <a:srgbClr val="1E293B"/>
                </a:solidFill>
                <a:latin typeface="Arial"/>
                <a:ea typeface="Arial"/>
                <a:cs typeface="Arial"/>
              </a:defRPr>
            </a:lvl4pPr>
            <a:lvl5pPr algn="ctr">
              <a:defRPr sz="590" b="1">
                <a:solidFill>
                  <a:srgbClr val="1E293B"/>
                </a:solidFill>
                <a:latin typeface="Arial"/>
                <a:ea typeface="Arial"/>
                <a:cs typeface="Arial"/>
              </a:defRPr>
            </a:lvl5pPr>
            <a:lvl6pPr algn="ctr">
              <a:defRPr sz="590" b="1">
                <a:solidFill>
                  <a:srgbClr val="1E293B"/>
                </a:solidFill>
                <a:latin typeface="Arial"/>
                <a:ea typeface="Arial"/>
                <a:cs typeface="Arial"/>
              </a:defRPr>
            </a:lvl6pPr>
            <a:lvl7pPr algn="ctr">
              <a:defRPr sz="590" b="1">
                <a:solidFill>
                  <a:srgbClr val="1E293B"/>
                </a:solidFill>
                <a:latin typeface="Arial"/>
                <a:ea typeface="Arial"/>
                <a:cs typeface="Arial"/>
              </a:defRPr>
            </a:lvl7pPr>
            <a:lvl8pPr algn="ctr">
              <a:defRPr sz="590" b="1">
                <a:solidFill>
                  <a:srgbClr val="1E293B"/>
                </a:solidFill>
                <a:latin typeface="Arial"/>
                <a:ea typeface="Arial"/>
                <a:cs typeface="Arial"/>
              </a:defRPr>
            </a:lvl8pPr>
            <a:lvl9pPr algn="ctr">
              <a:defRPr sz="590" b="1">
                <a:solidFill>
                  <a:srgbClr val="1E293B"/>
                </a:solidFill>
                <a:latin typeface="Arial"/>
                <a:ea typeface="Arial"/>
                <a:cs typeface="Arial"/>
              </a:defRPr>
            </a:lvl9pPr>
          </a:lstStyle>
          <a:p>
            <a:pPr algn="ctr">
              <a:defRPr sz="590" b="1">
                <a:solidFill>
                  <a:srgbClr val="1E293B"/>
                </a:solidFill>
                <a:latin typeface="Arial"/>
                <a:ea typeface="Arial"/>
                <a:cs typeface="Arial"/>
              </a:defRPr>
            </a:pPr>
            <a:r>
              <a:rPr sz="590" b="0" dirty="0">
                <a:solidFill>
                  <a:srgbClr val="1E293B"/>
                </a:solidFill>
                <a:latin typeface="Arial"/>
                <a:ea typeface="Arial"/>
                <a:cs typeface="Arial"/>
              </a:rPr>
              <a:t>Auxiliary</a:t>
            </a:r>
          </a:p>
          <a:p>
            <a:pPr algn="ctr">
              <a:defRPr sz="590" b="1">
                <a:solidFill>
                  <a:srgbClr val="1E293B"/>
                </a:solidFill>
                <a:latin typeface="Arial"/>
                <a:ea typeface="Arial"/>
                <a:cs typeface="Arial"/>
              </a:defRPr>
            </a:pPr>
            <a:r>
              <a:rPr sz="590" b="0" dirty="0">
                <a:solidFill>
                  <a:srgbClr val="1E293B"/>
                </a:solidFill>
                <a:latin typeface="Arial"/>
                <a:ea typeface="Arial"/>
                <a:cs typeface="Arial"/>
              </a:rPr>
              <a:t>features</a:t>
            </a:r>
          </a:p>
        </p:txBody>
      </p:sp>
      <p:sp>
        <p:nvSpPr>
          <p:cNvPr id="767" name="Concat label">
            <a:extLst>
              <a:ext uri="{FF2B5EF4-FFF2-40B4-BE49-F238E27FC236}">
                <a16:creationId xmlns:a16="http://schemas.microsoft.com/office/drawing/2014/main" id="{9D20C35C-694E-CDD5-F90A-040BE36EEE21}"/>
              </a:ext>
            </a:extLst>
          </p:cNvPr>
          <p:cNvSpPr>
            <a:spLocks noGrp="1"/>
          </p:cNvSpPr>
          <p:nvPr/>
        </p:nvSpPr>
        <p:spPr>
          <a:xfrm>
            <a:off x="1202945" y="3608830"/>
            <a:ext cx="259207" cy="81002"/>
          </a:xfrm>
          <a:prstGeom prst="rect">
            <a:avLst/>
          </a:prstGeom>
          <a:noFill/>
          <a:ln w="6885">
            <a:noFill/>
            <a:prstDash val="solid"/>
          </a:ln>
        </p:spPr>
        <p:txBody>
          <a:bodyPr lIns="0" tIns="0" rIns="0" bIns="0" anchor="ctr"/>
          <a:lstStyle>
            <a:defPPr algn="ctr">
              <a:defRPr sz="568" b="0">
                <a:solidFill>
                  <a:srgbClr val="71808C"/>
                </a:solidFill>
                <a:latin typeface="Arial"/>
                <a:ea typeface="Arial"/>
                <a:cs typeface="Arial"/>
              </a:defRPr>
            </a:defPPr>
            <a:lvl1pPr algn="ctr">
              <a:defRPr sz="568" b="0">
                <a:solidFill>
                  <a:srgbClr val="71808C"/>
                </a:solidFill>
                <a:latin typeface="Arial"/>
                <a:ea typeface="Arial"/>
                <a:cs typeface="Arial"/>
              </a:defRPr>
            </a:lvl1pPr>
            <a:lvl2pPr algn="ctr">
              <a:defRPr sz="568" b="0">
                <a:solidFill>
                  <a:srgbClr val="71808C"/>
                </a:solidFill>
                <a:latin typeface="Arial"/>
                <a:ea typeface="Arial"/>
                <a:cs typeface="Arial"/>
              </a:defRPr>
            </a:lvl2pPr>
            <a:lvl3pPr algn="ctr">
              <a:defRPr sz="568" b="0">
                <a:solidFill>
                  <a:srgbClr val="71808C"/>
                </a:solidFill>
                <a:latin typeface="Arial"/>
                <a:ea typeface="Arial"/>
                <a:cs typeface="Arial"/>
              </a:defRPr>
            </a:lvl3pPr>
            <a:lvl4pPr algn="ctr">
              <a:defRPr sz="568" b="0">
                <a:solidFill>
                  <a:srgbClr val="71808C"/>
                </a:solidFill>
                <a:latin typeface="Arial"/>
                <a:ea typeface="Arial"/>
                <a:cs typeface="Arial"/>
              </a:defRPr>
            </a:lvl4pPr>
            <a:lvl5pPr algn="ctr">
              <a:defRPr sz="568" b="0">
                <a:solidFill>
                  <a:srgbClr val="71808C"/>
                </a:solidFill>
                <a:latin typeface="Arial"/>
                <a:ea typeface="Arial"/>
                <a:cs typeface="Arial"/>
              </a:defRPr>
            </a:lvl5pPr>
            <a:lvl6pPr algn="ctr">
              <a:defRPr sz="568" b="0">
                <a:solidFill>
                  <a:srgbClr val="71808C"/>
                </a:solidFill>
                <a:latin typeface="Arial"/>
                <a:ea typeface="Arial"/>
                <a:cs typeface="Arial"/>
              </a:defRPr>
            </a:lvl6pPr>
            <a:lvl7pPr algn="ctr">
              <a:defRPr sz="568" b="0">
                <a:solidFill>
                  <a:srgbClr val="71808C"/>
                </a:solidFill>
                <a:latin typeface="Arial"/>
                <a:ea typeface="Arial"/>
                <a:cs typeface="Arial"/>
              </a:defRPr>
            </a:lvl7pPr>
            <a:lvl8pPr algn="ctr">
              <a:defRPr sz="568" b="0">
                <a:solidFill>
                  <a:srgbClr val="71808C"/>
                </a:solidFill>
                <a:latin typeface="Arial"/>
                <a:ea typeface="Arial"/>
                <a:cs typeface="Arial"/>
              </a:defRPr>
            </a:lvl8pPr>
            <a:lvl9pPr algn="ctr">
              <a:defRPr sz="568" b="0">
                <a:solidFill>
                  <a:srgbClr val="71808C"/>
                </a:solidFill>
                <a:latin typeface="Arial"/>
                <a:ea typeface="Arial"/>
                <a:cs typeface="Arial"/>
              </a:defRPr>
            </a:lvl9pPr>
          </a:lstStyle>
          <a:p>
            <a:pPr algn="ctr">
              <a:defRPr sz="568" b="0">
                <a:solidFill>
                  <a:srgbClr val="71808C"/>
                </a:solidFill>
                <a:latin typeface="Arial"/>
                <a:ea typeface="Arial"/>
                <a:cs typeface="Arial"/>
              </a:defRPr>
            </a:pPr>
            <a:r>
              <a:rPr sz="568" dirty="0" err="1">
                <a:solidFill>
                  <a:srgbClr val="71808C"/>
                </a:solidFill>
                <a:latin typeface="Arial"/>
                <a:ea typeface="Arial"/>
                <a:cs typeface="Arial"/>
              </a:rPr>
              <a:t>Concat</a:t>
            </a:r>
            <a:endParaRPr sz="568" dirty="0">
              <a:solidFill>
                <a:srgbClr val="71808C"/>
              </a:solidFill>
              <a:latin typeface="Arial"/>
              <a:ea typeface="Arial"/>
              <a:cs typeface="Arial"/>
            </a:endParaRPr>
          </a:p>
        </p:txBody>
      </p:sp>
      <p:sp>
        <p:nvSpPr>
          <p:cNvPr id="768" name="Build four inputs">
            <a:extLst>
              <a:ext uri="{FF2B5EF4-FFF2-40B4-BE49-F238E27FC236}">
                <a16:creationId xmlns:a16="http://schemas.microsoft.com/office/drawing/2014/main" id="{2C9F1979-7AE8-613B-79C6-EE0F3BBB1431}"/>
              </a:ext>
            </a:extLst>
          </p:cNvPr>
          <p:cNvSpPr>
            <a:spLocks noGrp="1"/>
          </p:cNvSpPr>
          <p:nvPr/>
        </p:nvSpPr>
        <p:spPr>
          <a:xfrm>
            <a:off x="4963973" y="415407"/>
            <a:ext cx="1158792" cy="1302153"/>
          </a:xfrm>
          <a:prstGeom prst="roundRect">
            <a:avLst>
              <a:gd name="adj" fmla="val 4554"/>
            </a:avLst>
          </a:prstGeom>
          <a:solidFill>
            <a:srgbClr val="FFFFFF"/>
          </a:solidFill>
          <a:ln w="7290">
            <a:solidFill>
              <a:srgbClr val="DFD6C3"/>
            </a:solidFill>
            <a:prstDash val="solid"/>
          </a:ln>
        </p:spPr>
        <p:txBody>
          <a:bodyPr/>
          <a:lstStyle/>
          <a:p>
            <a:endParaRPr lang="zh-CN" altLang="en-US" dirty="0"/>
          </a:p>
        </p:txBody>
      </p:sp>
      <p:sp>
        <p:nvSpPr>
          <p:cNvPr id="769" name="Site label">
            <a:extLst>
              <a:ext uri="{FF2B5EF4-FFF2-40B4-BE49-F238E27FC236}">
                <a16:creationId xmlns:a16="http://schemas.microsoft.com/office/drawing/2014/main" id="{73F4F6C8-22C1-E29B-D64D-362A1F82C0D7}"/>
              </a:ext>
            </a:extLst>
          </p:cNvPr>
          <p:cNvSpPr>
            <a:spLocks noGrp="1"/>
          </p:cNvSpPr>
          <p:nvPr/>
        </p:nvSpPr>
        <p:spPr>
          <a:xfrm>
            <a:off x="4992638" y="834972"/>
            <a:ext cx="514364" cy="101253"/>
          </a:xfrm>
          <a:prstGeom prst="rect">
            <a:avLst/>
          </a:prstGeom>
          <a:noFill/>
          <a:ln w="6885">
            <a:noFill/>
            <a:prstDash val="solid"/>
          </a:ln>
        </p:spPr>
        <p:txBody>
          <a:bodyPr lIns="0" tIns="0" rIns="0" bIns="0" anchor="ctr"/>
          <a:lstStyle>
            <a:defPPr algn="ctr">
              <a:defRPr sz="695" b="1">
                <a:solidFill>
                  <a:srgbClr val="1E293B"/>
                </a:solidFill>
                <a:latin typeface="Arial"/>
                <a:ea typeface="Arial"/>
                <a:cs typeface="Arial"/>
              </a:defRPr>
            </a:defPPr>
            <a:lvl1pPr algn="ctr">
              <a:defRPr sz="695" b="1">
                <a:solidFill>
                  <a:srgbClr val="1E293B"/>
                </a:solidFill>
                <a:latin typeface="Arial"/>
                <a:ea typeface="Arial"/>
                <a:cs typeface="Arial"/>
              </a:defRPr>
            </a:lvl1pPr>
            <a:lvl2pPr algn="ctr">
              <a:defRPr sz="695" b="1">
                <a:solidFill>
                  <a:srgbClr val="1E293B"/>
                </a:solidFill>
                <a:latin typeface="Arial"/>
                <a:ea typeface="Arial"/>
                <a:cs typeface="Arial"/>
              </a:defRPr>
            </a:lvl2pPr>
            <a:lvl3pPr algn="ctr">
              <a:defRPr sz="695" b="1">
                <a:solidFill>
                  <a:srgbClr val="1E293B"/>
                </a:solidFill>
                <a:latin typeface="Arial"/>
                <a:ea typeface="Arial"/>
                <a:cs typeface="Arial"/>
              </a:defRPr>
            </a:lvl3pPr>
            <a:lvl4pPr algn="ctr">
              <a:defRPr sz="695" b="1">
                <a:solidFill>
                  <a:srgbClr val="1E293B"/>
                </a:solidFill>
                <a:latin typeface="Arial"/>
                <a:ea typeface="Arial"/>
                <a:cs typeface="Arial"/>
              </a:defRPr>
            </a:lvl4pPr>
            <a:lvl5pPr algn="ctr">
              <a:defRPr sz="695" b="1">
                <a:solidFill>
                  <a:srgbClr val="1E293B"/>
                </a:solidFill>
                <a:latin typeface="Arial"/>
                <a:ea typeface="Arial"/>
                <a:cs typeface="Arial"/>
              </a:defRPr>
            </a:lvl5pPr>
            <a:lvl6pPr algn="ctr">
              <a:defRPr sz="695" b="1">
                <a:solidFill>
                  <a:srgbClr val="1E293B"/>
                </a:solidFill>
                <a:latin typeface="Arial"/>
                <a:ea typeface="Arial"/>
                <a:cs typeface="Arial"/>
              </a:defRPr>
            </a:lvl6pPr>
            <a:lvl7pPr algn="ctr">
              <a:defRPr sz="695" b="1">
                <a:solidFill>
                  <a:srgbClr val="1E293B"/>
                </a:solidFill>
                <a:latin typeface="Arial"/>
                <a:ea typeface="Arial"/>
                <a:cs typeface="Arial"/>
              </a:defRPr>
            </a:lvl7pPr>
            <a:lvl8pPr algn="ctr">
              <a:defRPr sz="695" b="1">
                <a:solidFill>
                  <a:srgbClr val="1E293B"/>
                </a:solidFill>
                <a:latin typeface="Arial"/>
                <a:ea typeface="Arial"/>
                <a:cs typeface="Arial"/>
              </a:defRPr>
            </a:lvl8pPr>
            <a:lvl9pPr algn="ctr">
              <a:defRPr sz="695" b="1">
                <a:solidFill>
                  <a:srgbClr val="1E293B"/>
                </a:solidFill>
                <a:latin typeface="Arial"/>
                <a:ea typeface="Arial"/>
                <a:cs typeface="Arial"/>
              </a:defRPr>
            </a:lvl9pPr>
          </a:lstStyle>
          <a:p>
            <a:pPr algn="ctr">
              <a:defRPr sz="695" b="1">
                <a:solidFill>
                  <a:srgbClr val="1E293B"/>
                </a:solidFill>
                <a:latin typeface="Arial"/>
                <a:ea typeface="Arial"/>
                <a:cs typeface="Arial"/>
              </a:defRPr>
            </a:pPr>
            <a:r>
              <a:rPr sz="695" b="0" dirty="0">
                <a:solidFill>
                  <a:srgbClr val="1E293B"/>
                </a:solidFill>
                <a:latin typeface="Arial"/>
                <a:ea typeface="Arial"/>
                <a:cs typeface="Arial"/>
              </a:rPr>
              <a:t>Site</a:t>
            </a:r>
          </a:p>
        </p:txBody>
      </p:sp>
      <p:sp>
        <p:nvSpPr>
          <p:cNvPr id="770" name="Site provenance">
            <a:extLst>
              <a:ext uri="{FF2B5EF4-FFF2-40B4-BE49-F238E27FC236}">
                <a16:creationId xmlns:a16="http://schemas.microsoft.com/office/drawing/2014/main" id="{216E0115-FC9F-C0B3-73C6-B6C82BB2F0A8}"/>
              </a:ext>
            </a:extLst>
          </p:cNvPr>
          <p:cNvSpPr>
            <a:spLocks noGrp="1"/>
          </p:cNvSpPr>
          <p:nvPr/>
        </p:nvSpPr>
        <p:spPr>
          <a:xfrm>
            <a:off x="4999032" y="935387"/>
            <a:ext cx="514364" cy="85052"/>
          </a:xfrm>
          <a:prstGeom prst="rect">
            <a:avLst/>
          </a:prstGeom>
          <a:noFill/>
          <a:ln w="6885">
            <a:noFill/>
            <a:prstDash val="solid"/>
          </a:ln>
        </p:spPr>
        <p:txBody>
          <a:bodyPr lIns="0" tIns="0" rIns="0" bIns="0" anchor="ctr"/>
          <a:lstStyle>
            <a:defPPr algn="ctr">
              <a:defRPr sz="590" b="0">
                <a:solidFill>
                  <a:srgbClr val="71808C"/>
                </a:solidFill>
                <a:latin typeface="Arial"/>
                <a:ea typeface="Arial"/>
                <a:cs typeface="Arial"/>
              </a:defRPr>
            </a:defPPr>
            <a:lvl1pPr algn="ctr">
              <a:defRPr sz="590" b="0">
                <a:solidFill>
                  <a:srgbClr val="71808C"/>
                </a:solidFill>
                <a:latin typeface="Arial"/>
                <a:ea typeface="Arial"/>
                <a:cs typeface="Arial"/>
              </a:defRPr>
            </a:lvl1pPr>
            <a:lvl2pPr algn="ctr">
              <a:defRPr sz="590" b="0">
                <a:solidFill>
                  <a:srgbClr val="71808C"/>
                </a:solidFill>
                <a:latin typeface="Arial"/>
                <a:ea typeface="Arial"/>
                <a:cs typeface="Arial"/>
              </a:defRPr>
            </a:lvl2pPr>
            <a:lvl3pPr algn="ctr">
              <a:defRPr sz="590" b="0">
                <a:solidFill>
                  <a:srgbClr val="71808C"/>
                </a:solidFill>
                <a:latin typeface="Arial"/>
                <a:ea typeface="Arial"/>
                <a:cs typeface="Arial"/>
              </a:defRPr>
            </a:lvl3pPr>
            <a:lvl4pPr algn="ctr">
              <a:defRPr sz="590" b="0">
                <a:solidFill>
                  <a:srgbClr val="71808C"/>
                </a:solidFill>
                <a:latin typeface="Arial"/>
                <a:ea typeface="Arial"/>
                <a:cs typeface="Arial"/>
              </a:defRPr>
            </a:lvl4pPr>
            <a:lvl5pPr algn="ctr">
              <a:defRPr sz="590" b="0">
                <a:solidFill>
                  <a:srgbClr val="71808C"/>
                </a:solidFill>
                <a:latin typeface="Arial"/>
                <a:ea typeface="Arial"/>
                <a:cs typeface="Arial"/>
              </a:defRPr>
            </a:lvl5pPr>
            <a:lvl6pPr algn="ctr">
              <a:defRPr sz="590" b="0">
                <a:solidFill>
                  <a:srgbClr val="71808C"/>
                </a:solidFill>
                <a:latin typeface="Arial"/>
                <a:ea typeface="Arial"/>
                <a:cs typeface="Arial"/>
              </a:defRPr>
            </a:lvl6pPr>
            <a:lvl7pPr algn="ctr">
              <a:defRPr sz="590" b="0">
                <a:solidFill>
                  <a:srgbClr val="71808C"/>
                </a:solidFill>
                <a:latin typeface="Arial"/>
                <a:ea typeface="Arial"/>
                <a:cs typeface="Arial"/>
              </a:defRPr>
            </a:lvl7pPr>
            <a:lvl8pPr algn="ctr">
              <a:defRPr sz="590" b="0">
                <a:solidFill>
                  <a:srgbClr val="71808C"/>
                </a:solidFill>
                <a:latin typeface="Arial"/>
                <a:ea typeface="Arial"/>
                <a:cs typeface="Arial"/>
              </a:defRPr>
            </a:lvl8pPr>
            <a:lvl9pPr algn="ctr">
              <a:defRPr sz="590" b="0">
                <a:solidFill>
                  <a:srgbClr val="71808C"/>
                </a:solidFill>
                <a:latin typeface="Arial"/>
                <a:ea typeface="Arial"/>
                <a:cs typeface="Arial"/>
              </a:defRPr>
            </a:lvl9pPr>
          </a:lstStyle>
          <a:p>
            <a:pPr algn="ctr">
              <a:defRPr sz="590" b="0">
                <a:solidFill>
                  <a:srgbClr val="71808C"/>
                </a:solidFill>
                <a:latin typeface="Arial"/>
                <a:ea typeface="Arial"/>
                <a:cs typeface="Arial"/>
              </a:defRPr>
            </a:pPr>
            <a:r>
              <a:rPr sz="590" dirty="0">
                <a:solidFill>
                  <a:srgbClr val="71808C"/>
                </a:solidFill>
                <a:latin typeface="Arial"/>
                <a:ea typeface="Arial"/>
                <a:cs typeface="Arial"/>
              </a:rPr>
              <a:t>from Find</a:t>
            </a:r>
          </a:p>
        </p:txBody>
      </p:sp>
      <p:sp>
        <p:nvSpPr>
          <p:cNvPr id="771" name="Pocket label">
            <a:extLst>
              <a:ext uri="{FF2B5EF4-FFF2-40B4-BE49-F238E27FC236}">
                <a16:creationId xmlns:a16="http://schemas.microsoft.com/office/drawing/2014/main" id="{198C300B-4031-D0E7-49A9-F255C1B29665}"/>
              </a:ext>
            </a:extLst>
          </p:cNvPr>
          <p:cNvSpPr>
            <a:spLocks noGrp="1"/>
          </p:cNvSpPr>
          <p:nvPr/>
        </p:nvSpPr>
        <p:spPr>
          <a:xfrm>
            <a:off x="5581260" y="854408"/>
            <a:ext cx="514364" cy="101253"/>
          </a:xfrm>
          <a:prstGeom prst="rect">
            <a:avLst/>
          </a:prstGeom>
          <a:noFill/>
          <a:ln w="6885">
            <a:noFill/>
            <a:prstDash val="solid"/>
          </a:ln>
        </p:spPr>
        <p:txBody>
          <a:bodyPr lIns="0" tIns="0" rIns="0" bIns="0" anchor="ctr"/>
          <a:lstStyle>
            <a:defPPr algn="ctr">
              <a:defRPr sz="695" b="1">
                <a:solidFill>
                  <a:srgbClr val="1E293B"/>
                </a:solidFill>
                <a:latin typeface="Arial"/>
                <a:ea typeface="Arial"/>
                <a:cs typeface="Arial"/>
              </a:defRPr>
            </a:defPPr>
            <a:lvl1pPr algn="ctr">
              <a:defRPr sz="695" b="1">
                <a:solidFill>
                  <a:srgbClr val="1E293B"/>
                </a:solidFill>
                <a:latin typeface="Arial"/>
                <a:ea typeface="Arial"/>
                <a:cs typeface="Arial"/>
              </a:defRPr>
            </a:lvl1pPr>
            <a:lvl2pPr algn="ctr">
              <a:defRPr sz="695" b="1">
                <a:solidFill>
                  <a:srgbClr val="1E293B"/>
                </a:solidFill>
                <a:latin typeface="Arial"/>
                <a:ea typeface="Arial"/>
                <a:cs typeface="Arial"/>
              </a:defRPr>
            </a:lvl2pPr>
            <a:lvl3pPr algn="ctr">
              <a:defRPr sz="695" b="1">
                <a:solidFill>
                  <a:srgbClr val="1E293B"/>
                </a:solidFill>
                <a:latin typeface="Arial"/>
                <a:ea typeface="Arial"/>
                <a:cs typeface="Arial"/>
              </a:defRPr>
            </a:lvl3pPr>
            <a:lvl4pPr algn="ctr">
              <a:defRPr sz="695" b="1">
                <a:solidFill>
                  <a:srgbClr val="1E293B"/>
                </a:solidFill>
                <a:latin typeface="Arial"/>
                <a:ea typeface="Arial"/>
                <a:cs typeface="Arial"/>
              </a:defRPr>
            </a:lvl4pPr>
            <a:lvl5pPr algn="ctr">
              <a:defRPr sz="695" b="1">
                <a:solidFill>
                  <a:srgbClr val="1E293B"/>
                </a:solidFill>
                <a:latin typeface="Arial"/>
                <a:ea typeface="Arial"/>
                <a:cs typeface="Arial"/>
              </a:defRPr>
            </a:lvl5pPr>
            <a:lvl6pPr algn="ctr">
              <a:defRPr sz="695" b="1">
                <a:solidFill>
                  <a:srgbClr val="1E293B"/>
                </a:solidFill>
                <a:latin typeface="Arial"/>
                <a:ea typeface="Arial"/>
                <a:cs typeface="Arial"/>
              </a:defRPr>
            </a:lvl6pPr>
            <a:lvl7pPr algn="ctr">
              <a:defRPr sz="695" b="1">
                <a:solidFill>
                  <a:srgbClr val="1E293B"/>
                </a:solidFill>
                <a:latin typeface="Arial"/>
                <a:ea typeface="Arial"/>
                <a:cs typeface="Arial"/>
              </a:defRPr>
            </a:lvl7pPr>
            <a:lvl8pPr algn="ctr">
              <a:defRPr sz="695" b="1">
                <a:solidFill>
                  <a:srgbClr val="1E293B"/>
                </a:solidFill>
                <a:latin typeface="Arial"/>
                <a:ea typeface="Arial"/>
                <a:cs typeface="Arial"/>
              </a:defRPr>
            </a:lvl8pPr>
            <a:lvl9pPr algn="ctr">
              <a:defRPr sz="695" b="1">
                <a:solidFill>
                  <a:srgbClr val="1E293B"/>
                </a:solidFill>
                <a:latin typeface="Arial"/>
                <a:ea typeface="Arial"/>
                <a:cs typeface="Arial"/>
              </a:defRPr>
            </a:lvl9pPr>
          </a:lstStyle>
          <a:p>
            <a:pPr algn="ctr">
              <a:defRPr sz="695" b="1">
                <a:solidFill>
                  <a:srgbClr val="1E293B"/>
                </a:solidFill>
                <a:latin typeface="Arial"/>
                <a:ea typeface="Arial"/>
                <a:cs typeface="Arial"/>
              </a:defRPr>
            </a:pPr>
            <a:r>
              <a:rPr sz="695" b="0" dirty="0">
                <a:solidFill>
                  <a:srgbClr val="1E293B"/>
                </a:solidFill>
                <a:latin typeface="Arial"/>
                <a:ea typeface="Arial"/>
                <a:cs typeface="Arial"/>
              </a:rPr>
              <a:t>Pocket</a:t>
            </a:r>
          </a:p>
        </p:txBody>
      </p:sp>
      <p:sp>
        <p:nvSpPr>
          <p:cNvPr id="773" name="SMILES label">
            <a:extLst>
              <a:ext uri="{FF2B5EF4-FFF2-40B4-BE49-F238E27FC236}">
                <a16:creationId xmlns:a16="http://schemas.microsoft.com/office/drawing/2014/main" id="{B948AB68-3B7B-785F-B6BB-80D92D824C67}"/>
              </a:ext>
            </a:extLst>
          </p:cNvPr>
          <p:cNvSpPr>
            <a:spLocks noGrp="1"/>
          </p:cNvSpPr>
          <p:nvPr/>
        </p:nvSpPr>
        <p:spPr>
          <a:xfrm>
            <a:off x="4999664" y="1471438"/>
            <a:ext cx="514364" cy="101253"/>
          </a:xfrm>
          <a:prstGeom prst="rect">
            <a:avLst/>
          </a:prstGeom>
          <a:noFill/>
          <a:ln w="6885">
            <a:noFill/>
            <a:prstDash val="solid"/>
          </a:ln>
        </p:spPr>
        <p:txBody>
          <a:bodyPr lIns="0" tIns="0" rIns="0" bIns="0" anchor="ctr"/>
          <a:lstStyle>
            <a:defPPr algn="ctr">
              <a:defRPr sz="695" b="1">
                <a:solidFill>
                  <a:srgbClr val="1E293B"/>
                </a:solidFill>
                <a:latin typeface="Arial"/>
                <a:ea typeface="Arial"/>
                <a:cs typeface="Arial"/>
              </a:defRPr>
            </a:defPPr>
            <a:lvl1pPr algn="ctr">
              <a:defRPr sz="695" b="1">
                <a:solidFill>
                  <a:srgbClr val="1E293B"/>
                </a:solidFill>
                <a:latin typeface="Arial"/>
                <a:ea typeface="Arial"/>
                <a:cs typeface="Arial"/>
              </a:defRPr>
            </a:lvl1pPr>
            <a:lvl2pPr algn="ctr">
              <a:defRPr sz="695" b="1">
                <a:solidFill>
                  <a:srgbClr val="1E293B"/>
                </a:solidFill>
                <a:latin typeface="Arial"/>
                <a:ea typeface="Arial"/>
                <a:cs typeface="Arial"/>
              </a:defRPr>
            </a:lvl2pPr>
            <a:lvl3pPr algn="ctr">
              <a:defRPr sz="695" b="1">
                <a:solidFill>
                  <a:srgbClr val="1E293B"/>
                </a:solidFill>
                <a:latin typeface="Arial"/>
                <a:ea typeface="Arial"/>
                <a:cs typeface="Arial"/>
              </a:defRPr>
            </a:lvl3pPr>
            <a:lvl4pPr algn="ctr">
              <a:defRPr sz="695" b="1">
                <a:solidFill>
                  <a:srgbClr val="1E293B"/>
                </a:solidFill>
                <a:latin typeface="Arial"/>
                <a:ea typeface="Arial"/>
                <a:cs typeface="Arial"/>
              </a:defRPr>
            </a:lvl4pPr>
            <a:lvl5pPr algn="ctr">
              <a:defRPr sz="695" b="1">
                <a:solidFill>
                  <a:srgbClr val="1E293B"/>
                </a:solidFill>
                <a:latin typeface="Arial"/>
                <a:ea typeface="Arial"/>
                <a:cs typeface="Arial"/>
              </a:defRPr>
            </a:lvl5pPr>
            <a:lvl6pPr algn="ctr">
              <a:defRPr sz="695" b="1">
                <a:solidFill>
                  <a:srgbClr val="1E293B"/>
                </a:solidFill>
                <a:latin typeface="Arial"/>
                <a:ea typeface="Arial"/>
                <a:cs typeface="Arial"/>
              </a:defRPr>
            </a:lvl6pPr>
            <a:lvl7pPr algn="ctr">
              <a:defRPr sz="695" b="1">
                <a:solidFill>
                  <a:srgbClr val="1E293B"/>
                </a:solidFill>
                <a:latin typeface="Arial"/>
                <a:ea typeface="Arial"/>
                <a:cs typeface="Arial"/>
              </a:defRPr>
            </a:lvl7pPr>
            <a:lvl8pPr algn="ctr">
              <a:defRPr sz="695" b="1">
                <a:solidFill>
                  <a:srgbClr val="1E293B"/>
                </a:solidFill>
                <a:latin typeface="Arial"/>
                <a:ea typeface="Arial"/>
                <a:cs typeface="Arial"/>
              </a:defRPr>
            </a:lvl8pPr>
            <a:lvl9pPr algn="ctr">
              <a:defRPr sz="695" b="1">
                <a:solidFill>
                  <a:srgbClr val="1E293B"/>
                </a:solidFill>
                <a:latin typeface="Arial"/>
                <a:ea typeface="Arial"/>
                <a:cs typeface="Arial"/>
              </a:defRPr>
            </a:lvl9pPr>
          </a:lstStyle>
          <a:p>
            <a:pPr algn="ctr">
              <a:defRPr sz="695" b="1">
                <a:solidFill>
                  <a:srgbClr val="1E293B"/>
                </a:solidFill>
                <a:latin typeface="Arial"/>
                <a:ea typeface="Arial"/>
                <a:cs typeface="Arial"/>
              </a:defRPr>
            </a:pPr>
            <a:r>
              <a:rPr sz="695" b="0" dirty="0">
                <a:solidFill>
                  <a:srgbClr val="1E293B"/>
                </a:solidFill>
                <a:latin typeface="Arial"/>
                <a:ea typeface="Arial"/>
                <a:cs typeface="Arial"/>
              </a:rPr>
              <a:t>SMILES</a:t>
            </a:r>
          </a:p>
        </p:txBody>
      </p:sp>
      <p:sp>
        <p:nvSpPr>
          <p:cNvPr id="774" name="SMILES provenance">
            <a:extLst>
              <a:ext uri="{FF2B5EF4-FFF2-40B4-BE49-F238E27FC236}">
                <a16:creationId xmlns:a16="http://schemas.microsoft.com/office/drawing/2014/main" id="{56FEBA1E-DDE0-4487-53DB-DA17479C3D9B}"/>
              </a:ext>
            </a:extLst>
          </p:cNvPr>
          <p:cNvSpPr>
            <a:spLocks noGrp="1"/>
          </p:cNvSpPr>
          <p:nvPr/>
        </p:nvSpPr>
        <p:spPr>
          <a:xfrm>
            <a:off x="5005380" y="1568821"/>
            <a:ext cx="514364" cy="85052"/>
          </a:xfrm>
          <a:prstGeom prst="rect">
            <a:avLst/>
          </a:prstGeom>
          <a:noFill/>
          <a:ln w="6885">
            <a:noFill/>
            <a:prstDash val="solid"/>
          </a:ln>
        </p:spPr>
        <p:txBody>
          <a:bodyPr lIns="0" tIns="0" rIns="0" bIns="0" anchor="ctr"/>
          <a:lstStyle>
            <a:defPPr algn="ctr">
              <a:defRPr sz="590" b="0">
                <a:solidFill>
                  <a:srgbClr val="71808C"/>
                </a:solidFill>
                <a:latin typeface="Arial"/>
                <a:ea typeface="Arial"/>
                <a:cs typeface="Arial"/>
              </a:defRPr>
            </a:defPPr>
            <a:lvl1pPr algn="ctr">
              <a:defRPr sz="590" b="0">
                <a:solidFill>
                  <a:srgbClr val="71808C"/>
                </a:solidFill>
                <a:latin typeface="Arial"/>
                <a:ea typeface="Arial"/>
                <a:cs typeface="Arial"/>
              </a:defRPr>
            </a:lvl1pPr>
            <a:lvl2pPr algn="ctr">
              <a:defRPr sz="590" b="0">
                <a:solidFill>
                  <a:srgbClr val="71808C"/>
                </a:solidFill>
                <a:latin typeface="Arial"/>
                <a:ea typeface="Arial"/>
                <a:cs typeface="Arial"/>
              </a:defRPr>
            </a:lvl2pPr>
            <a:lvl3pPr algn="ctr">
              <a:defRPr sz="590" b="0">
                <a:solidFill>
                  <a:srgbClr val="71808C"/>
                </a:solidFill>
                <a:latin typeface="Arial"/>
                <a:ea typeface="Arial"/>
                <a:cs typeface="Arial"/>
              </a:defRPr>
            </a:lvl3pPr>
            <a:lvl4pPr algn="ctr">
              <a:defRPr sz="590" b="0">
                <a:solidFill>
                  <a:srgbClr val="71808C"/>
                </a:solidFill>
                <a:latin typeface="Arial"/>
                <a:ea typeface="Arial"/>
                <a:cs typeface="Arial"/>
              </a:defRPr>
            </a:lvl4pPr>
            <a:lvl5pPr algn="ctr">
              <a:defRPr sz="590" b="0">
                <a:solidFill>
                  <a:srgbClr val="71808C"/>
                </a:solidFill>
                <a:latin typeface="Arial"/>
                <a:ea typeface="Arial"/>
                <a:cs typeface="Arial"/>
              </a:defRPr>
            </a:lvl5pPr>
            <a:lvl6pPr algn="ctr">
              <a:defRPr sz="590" b="0">
                <a:solidFill>
                  <a:srgbClr val="71808C"/>
                </a:solidFill>
                <a:latin typeface="Arial"/>
                <a:ea typeface="Arial"/>
                <a:cs typeface="Arial"/>
              </a:defRPr>
            </a:lvl6pPr>
            <a:lvl7pPr algn="ctr">
              <a:defRPr sz="590" b="0">
                <a:solidFill>
                  <a:srgbClr val="71808C"/>
                </a:solidFill>
                <a:latin typeface="Arial"/>
                <a:ea typeface="Arial"/>
                <a:cs typeface="Arial"/>
              </a:defRPr>
            </a:lvl7pPr>
            <a:lvl8pPr algn="ctr">
              <a:defRPr sz="590" b="0">
                <a:solidFill>
                  <a:srgbClr val="71808C"/>
                </a:solidFill>
                <a:latin typeface="Arial"/>
                <a:ea typeface="Arial"/>
                <a:cs typeface="Arial"/>
              </a:defRPr>
            </a:lvl8pPr>
            <a:lvl9pPr algn="ctr">
              <a:defRPr sz="590" b="0">
                <a:solidFill>
                  <a:srgbClr val="71808C"/>
                </a:solidFill>
                <a:latin typeface="Arial"/>
                <a:ea typeface="Arial"/>
                <a:cs typeface="Arial"/>
              </a:defRPr>
            </a:lvl9pPr>
          </a:lstStyle>
          <a:p>
            <a:pPr algn="ctr">
              <a:defRPr sz="590" b="0">
                <a:solidFill>
                  <a:srgbClr val="71808C"/>
                </a:solidFill>
                <a:latin typeface="Arial"/>
                <a:ea typeface="Arial"/>
                <a:cs typeface="Arial"/>
              </a:defRPr>
            </a:pPr>
            <a:r>
              <a:rPr sz="590" dirty="0">
                <a:solidFill>
                  <a:srgbClr val="71808C"/>
                </a:solidFill>
                <a:latin typeface="Arial"/>
                <a:ea typeface="Arial"/>
                <a:cs typeface="Arial"/>
              </a:rPr>
              <a:t>from Match</a:t>
            </a:r>
          </a:p>
        </p:txBody>
      </p:sp>
      <p:sp>
        <p:nvSpPr>
          <p:cNvPr id="775" name="Density input label">
            <a:extLst>
              <a:ext uri="{FF2B5EF4-FFF2-40B4-BE49-F238E27FC236}">
                <a16:creationId xmlns:a16="http://schemas.microsoft.com/office/drawing/2014/main" id="{E5A68BBB-3BB4-4F45-D8ED-99022E728E69}"/>
              </a:ext>
            </a:extLst>
          </p:cNvPr>
          <p:cNvSpPr>
            <a:spLocks noGrp="1"/>
          </p:cNvSpPr>
          <p:nvPr/>
        </p:nvSpPr>
        <p:spPr>
          <a:xfrm>
            <a:off x="5574918" y="1471422"/>
            <a:ext cx="514364" cy="101253"/>
          </a:xfrm>
          <a:prstGeom prst="rect">
            <a:avLst/>
          </a:prstGeom>
          <a:noFill/>
          <a:ln w="6885">
            <a:noFill/>
            <a:prstDash val="solid"/>
          </a:ln>
        </p:spPr>
        <p:txBody>
          <a:bodyPr lIns="0" tIns="0" rIns="0" bIns="0" anchor="ctr"/>
          <a:lstStyle>
            <a:defPPr algn="ctr">
              <a:defRPr sz="695" b="1">
                <a:solidFill>
                  <a:srgbClr val="1E293B"/>
                </a:solidFill>
                <a:latin typeface="Arial"/>
                <a:ea typeface="Arial"/>
                <a:cs typeface="Arial"/>
              </a:defRPr>
            </a:defPPr>
            <a:lvl1pPr algn="ctr">
              <a:defRPr sz="695" b="1">
                <a:solidFill>
                  <a:srgbClr val="1E293B"/>
                </a:solidFill>
                <a:latin typeface="Arial"/>
                <a:ea typeface="Arial"/>
                <a:cs typeface="Arial"/>
              </a:defRPr>
            </a:lvl1pPr>
            <a:lvl2pPr algn="ctr">
              <a:defRPr sz="695" b="1">
                <a:solidFill>
                  <a:srgbClr val="1E293B"/>
                </a:solidFill>
                <a:latin typeface="Arial"/>
                <a:ea typeface="Arial"/>
                <a:cs typeface="Arial"/>
              </a:defRPr>
            </a:lvl2pPr>
            <a:lvl3pPr algn="ctr">
              <a:defRPr sz="695" b="1">
                <a:solidFill>
                  <a:srgbClr val="1E293B"/>
                </a:solidFill>
                <a:latin typeface="Arial"/>
                <a:ea typeface="Arial"/>
                <a:cs typeface="Arial"/>
              </a:defRPr>
            </a:lvl3pPr>
            <a:lvl4pPr algn="ctr">
              <a:defRPr sz="695" b="1">
                <a:solidFill>
                  <a:srgbClr val="1E293B"/>
                </a:solidFill>
                <a:latin typeface="Arial"/>
                <a:ea typeface="Arial"/>
                <a:cs typeface="Arial"/>
              </a:defRPr>
            </a:lvl4pPr>
            <a:lvl5pPr algn="ctr">
              <a:defRPr sz="695" b="1">
                <a:solidFill>
                  <a:srgbClr val="1E293B"/>
                </a:solidFill>
                <a:latin typeface="Arial"/>
                <a:ea typeface="Arial"/>
                <a:cs typeface="Arial"/>
              </a:defRPr>
            </a:lvl5pPr>
            <a:lvl6pPr algn="ctr">
              <a:defRPr sz="695" b="1">
                <a:solidFill>
                  <a:srgbClr val="1E293B"/>
                </a:solidFill>
                <a:latin typeface="Arial"/>
                <a:ea typeface="Arial"/>
                <a:cs typeface="Arial"/>
              </a:defRPr>
            </a:lvl6pPr>
            <a:lvl7pPr algn="ctr">
              <a:defRPr sz="695" b="1">
                <a:solidFill>
                  <a:srgbClr val="1E293B"/>
                </a:solidFill>
                <a:latin typeface="Arial"/>
                <a:ea typeface="Arial"/>
                <a:cs typeface="Arial"/>
              </a:defRPr>
            </a:lvl7pPr>
            <a:lvl8pPr algn="ctr">
              <a:defRPr sz="695" b="1">
                <a:solidFill>
                  <a:srgbClr val="1E293B"/>
                </a:solidFill>
                <a:latin typeface="Arial"/>
                <a:ea typeface="Arial"/>
                <a:cs typeface="Arial"/>
              </a:defRPr>
            </a:lvl8pPr>
            <a:lvl9pPr algn="ctr">
              <a:defRPr sz="695" b="1">
                <a:solidFill>
                  <a:srgbClr val="1E293B"/>
                </a:solidFill>
                <a:latin typeface="Arial"/>
                <a:ea typeface="Arial"/>
                <a:cs typeface="Arial"/>
              </a:defRPr>
            </a:lvl9pPr>
          </a:lstStyle>
          <a:p>
            <a:pPr algn="ctr">
              <a:defRPr sz="695" b="1">
                <a:solidFill>
                  <a:srgbClr val="1E293B"/>
                </a:solidFill>
                <a:latin typeface="Arial"/>
                <a:ea typeface="Arial"/>
                <a:cs typeface="Arial"/>
              </a:defRPr>
            </a:pPr>
            <a:r>
              <a:rPr sz="695" b="0" dirty="0">
                <a:solidFill>
                  <a:srgbClr val="1E293B"/>
                </a:solidFill>
                <a:latin typeface="Arial"/>
                <a:ea typeface="Arial"/>
                <a:cs typeface="Arial"/>
              </a:rPr>
              <a:t>Density</a:t>
            </a:r>
          </a:p>
        </p:txBody>
      </p:sp>
      <p:sp>
        <p:nvSpPr>
          <p:cNvPr id="776" name="Docking tools title">
            <a:extLst>
              <a:ext uri="{FF2B5EF4-FFF2-40B4-BE49-F238E27FC236}">
                <a16:creationId xmlns:a16="http://schemas.microsoft.com/office/drawing/2014/main" id="{27E4029E-E39E-E596-2ECC-8620239CB25F}"/>
              </a:ext>
            </a:extLst>
          </p:cNvPr>
          <p:cNvSpPr>
            <a:spLocks noGrp="1"/>
          </p:cNvSpPr>
          <p:nvPr/>
        </p:nvSpPr>
        <p:spPr>
          <a:xfrm>
            <a:off x="5047760" y="1867770"/>
            <a:ext cx="1101630" cy="117453"/>
          </a:xfrm>
          <a:prstGeom prst="rect">
            <a:avLst/>
          </a:prstGeom>
          <a:noFill/>
          <a:ln w="6885">
            <a:noFill/>
            <a:prstDash val="solid"/>
          </a:ln>
        </p:spPr>
        <p:txBody>
          <a:bodyPr lIns="0" tIns="0" rIns="0" bIns="0" anchor="ctr"/>
          <a:lstStyle>
            <a:defPPr algn="ctr">
              <a:defRPr sz="702" b="1">
                <a:solidFill>
                  <a:srgbClr val="1E293B"/>
                </a:solidFill>
                <a:latin typeface="Arial"/>
                <a:ea typeface="Arial"/>
                <a:cs typeface="Arial"/>
              </a:defRPr>
            </a:defPPr>
            <a:lvl1pPr algn="ctr">
              <a:defRPr sz="702" b="1">
                <a:solidFill>
                  <a:srgbClr val="1E293B"/>
                </a:solidFill>
                <a:latin typeface="Arial"/>
                <a:ea typeface="Arial"/>
                <a:cs typeface="Arial"/>
              </a:defRPr>
            </a:lvl1pPr>
            <a:lvl2pPr algn="ctr">
              <a:defRPr sz="702" b="1">
                <a:solidFill>
                  <a:srgbClr val="1E293B"/>
                </a:solidFill>
                <a:latin typeface="Arial"/>
                <a:ea typeface="Arial"/>
                <a:cs typeface="Arial"/>
              </a:defRPr>
            </a:lvl2pPr>
            <a:lvl3pPr algn="ctr">
              <a:defRPr sz="702" b="1">
                <a:solidFill>
                  <a:srgbClr val="1E293B"/>
                </a:solidFill>
                <a:latin typeface="Arial"/>
                <a:ea typeface="Arial"/>
                <a:cs typeface="Arial"/>
              </a:defRPr>
            </a:lvl3pPr>
            <a:lvl4pPr algn="ctr">
              <a:defRPr sz="702" b="1">
                <a:solidFill>
                  <a:srgbClr val="1E293B"/>
                </a:solidFill>
                <a:latin typeface="Arial"/>
                <a:ea typeface="Arial"/>
                <a:cs typeface="Arial"/>
              </a:defRPr>
            </a:lvl4pPr>
            <a:lvl5pPr algn="ctr">
              <a:defRPr sz="702" b="1">
                <a:solidFill>
                  <a:srgbClr val="1E293B"/>
                </a:solidFill>
                <a:latin typeface="Arial"/>
                <a:ea typeface="Arial"/>
                <a:cs typeface="Arial"/>
              </a:defRPr>
            </a:lvl5pPr>
            <a:lvl6pPr algn="ctr">
              <a:defRPr sz="702" b="1">
                <a:solidFill>
                  <a:srgbClr val="1E293B"/>
                </a:solidFill>
                <a:latin typeface="Arial"/>
                <a:ea typeface="Arial"/>
                <a:cs typeface="Arial"/>
              </a:defRPr>
            </a:lvl6pPr>
            <a:lvl7pPr algn="ctr">
              <a:defRPr sz="702" b="1">
                <a:solidFill>
                  <a:srgbClr val="1E293B"/>
                </a:solidFill>
                <a:latin typeface="Arial"/>
                <a:ea typeface="Arial"/>
                <a:cs typeface="Arial"/>
              </a:defRPr>
            </a:lvl7pPr>
            <a:lvl8pPr algn="ctr">
              <a:defRPr sz="702" b="1">
                <a:solidFill>
                  <a:srgbClr val="1E293B"/>
                </a:solidFill>
                <a:latin typeface="Arial"/>
                <a:ea typeface="Arial"/>
                <a:cs typeface="Arial"/>
              </a:defRPr>
            </a:lvl8pPr>
            <a:lvl9pPr algn="ctr">
              <a:defRPr sz="702" b="1">
                <a:solidFill>
                  <a:srgbClr val="1E293B"/>
                </a:solidFill>
                <a:latin typeface="Arial"/>
                <a:ea typeface="Arial"/>
                <a:cs typeface="Arial"/>
              </a:defRPr>
            </a:lvl9pPr>
          </a:lstStyle>
          <a:p>
            <a:pPr algn="ctr">
              <a:defRPr sz="702" b="1">
                <a:solidFill>
                  <a:srgbClr val="1E293B"/>
                </a:solidFill>
                <a:latin typeface="Arial"/>
                <a:ea typeface="Arial"/>
                <a:cs typeface="Arial"/>
              </a:defRPr>
            </a:pPr>
            <a:r>
              <a:rPr lang="en-US" sz="702" b="0" dirty="0">
                <a:solidFill>
                  <a:srgbClr val="1E293B"/>
                </a:solidFill>
                <a:latin typeface="Arial"/>
                <a:ea typeface="Arial"/>
                <a:cs typeface="Arial"/>
              </a:rPr>
              <a:t>Downstream </a:t>
            </a:r>
            <a:r>
              <a:rPr lang="en-US" b="0" dirty="0"/>
              <a:t>d</a:t>
            </a:r>
            <a:r>
              <a:rPr sz="702" b="0" dirty="0">
                <a:solidFill>
                  <a:srgbClr val="1E293B"/>
                </a:solidFill>
                <a:latin typeface="Arial"/>
                <a:ea typeface="Arial"/>
                <a:cs typeface="Arial"/>
              </a:rPr>
              <a:t>ocking tools</a:t>
            </a:r>
          </a:p>
        </p:txBody>
      </p:sp>
      <p:sp>
        <p:nvSpPr>
          <p:cNvPr id="777" name="Build pose output">
            <a:extLst>
              <a:ext uri="{FF2B5EF4-FFF2-40B4-BE49-F238E27FC236}">
                <a16:creationId xmlns:a16="http://schemas.microsoft.com/office/drawing/2014/main" id="{0B218F6B-7A76-F3B6-A0A5-E42AE4C10B80}"/>
              </a:ext>
            </a:extLst>
          </p:cNvPr>
          <p:cNvSpPr>
            <a:spLocks noGrp="1"/>
          </p:cNvSpPr>
          <p:nvPr/>
        </p:nvSpPr>
        <p:spPr>
          <a:xfrm>
            <a:off x="4992811" y="3400604"/>
            <a:ext cx="1106489" cy="941449"/>
          </a:xfrm>
          <a:prstGeom prst="roundRect">
            <a:avLst>
              <a:gd name="adj" fmla="val 5395"/>
            </a:avLst>
          </a:prstGeom>
          <a:solidFill>
            <a:srgbClr val="FFFFFF"/>
          </a:solidFill>
          <a:ln w="7290">
            <a:solidFill>
              <a:srgbClr val="DFD6C3"/>
            </a:solidFill>
            <a:prstDash val="solid"/>
          </a:ln>
        </p:spPr>
      </p:sp>
      <p:sp>
        <p:nvSpPr>
          <p:cNvPr id="778" name="All atom pose label">
            <a:extLst>
              <a:ext uri="{FF2B5EF4-FFF2-40B4-BE49-F238E27FC236}">
                <a16:creationId xmlns:a16="http://schemas.microsoft.com/office/drawing/2014/main" id="{8FE77D82-0F62-5049-84A0-FD0D56FCE044}"/>
              </a:ext>
            </a:extLst>
          </p:cNvPr>
          <p:cNvSpPr>
            <a:spLocks noGrp="1"/>
          </p:cNvSpPr>
          <p:nvPr/>
        </p:nvSpPr>
        <p:spPr>
          <a:xfrm>
            <a:off x="4979784" y="4176444"/>
            <a:ext cx="1231233" cy="117453"/>
          </a:xfrm>
          <a:prstGeom prst="rect">
            <a:avLst/>
          </a:prstGeom>
          <a:noFill/>
          <a:ln w="6885">
            <a:noFill/>
            <a:prstDash val="solid"/>
          </a:ln>
        </p:spPr>
        <p:txBody>
          <a:bodyPr lIns="0" tIns="0" rIns="0" bIns="0" anchor="ctr"/>
          <a:lstStyle>
            <a:defPPr algn="ctr">
              <a:defRPr sz="695" b="1">
                <a:solidFill>
                  <a:srgbClr val="1E293B"/>
                </a:solidFill>
                <a:latin typeface="Arial"/>
                <a:ea typeface="Arial"/>
                <a:cs typeface="Arial"/>
              </a:defRPr>
            </a:defPPr>
            <a:lvl1pPr algn="ctr">
              <a:defRPr sz="695" b="1">
                <a:solidFill>
                  <a:srgbClr val="1E293B"/>
                </a:solidFill>
                <a:latin typeface="Arial"/>
                <a:ea typeface="Arial"/>
                <a:cs typeface="Arial"/>
              </a:defRPr>
            </a:lvl1pPr>
            <a:lvl2pPr algn="ctr">
              <a:defRPr sz="695" b="1">
                <a:solidFill>
                  <a:srgbClr val="1E293B"/>
                </a:solidFill>
                <a:latin typeface="Arial"/>
                <a:ea typeface="Arial"/>
                <a:cs typeface="Arial"/>
              </a:defRPr>
            </a:lvl2pPr>
            <a:lvl3pPr algn="ctr">
              <a:defRPr sz="695" b="1">
                <a:solidFill>
                  <a:srgbClr val="1E293B"/>
                </a:solidFill>
                <a:latin typeface="Arial"/>
                <a:ea typeface="Arial"/>
                <a:cs typeface="Arial"/>
              </a:defRPr>
            </a:lvl3pPr>
            <a:lvl4pPr algn="ctr">
              <a:defRPr sz="695" b="1">
                <a:solidFill>
                  <a:srgbClr val="1E293B"/>
                </a:solidFill>
                <a:latin typeface="Arial"/>
                <a:ea typeface="Arial"/>
                <a:cs typeface="Arial"/>
              </a:defRPr>
            </a:lvl4pPr>
            <a:lvl5pPr algn="ctr">
              <a:defRPr sz="695" b="1">
                <a:solidFill>
                  <a:srgbClr val="1E293B"/>
                </a:solidFill>
                <a:latin typeface="Arial"/>
                <a:ea typeface="Arial"/>
                <a:cs typeface="Arial"/>
              </a:defRPr>
            </a:lvl5pPr>
            <a:lvl6pPr algn="ctr">
              <a:defRPr sz="695" b="1">
                <a:solidFill>
                  <a:srgbClr val="1E293B"/>
                </a:solidFill>
                <a:latin typeface="Arial"/>
                <a:ea typeface="Arial"/>
                <a:cs typeface="Arial"/>
              </a:defRPr>
            </a:lvl6pPr>
            <a:lvl7pPr algn="ctr">
              <a:defRPr sz="695" b="1">
                <a:solidFill>
                  <a:srgbClr val="1E293B"/>
                </a:solidFill>
                <a:latin typeface="Arial"/>
                <a:ea typeface="Arial"/>
                <a:cs typeface="Arial"/>
              </a:defRPr>
            </a:lvl7pPr>
            <a:lvl8pPr algn="ctr">
              <a:defRPr sz="695" b="1">
                <a:solidFill>
                  <a:srgbClr val="1E293B"/>
                </a:solidFill>
                <a:latin typeface="Arial"/>
                <a:ea typeface="Arial"/>
                <a:cs typeface="Arial"/>
              </a:defRPr>
            </a:lvl8pPr>
            <a:lvl9pPr algn="ctr">
              <a:defRPr sz="695" b="1">
                <a:solidFill>
                  <a:srgbClr val="1E293B"/>
                </a:solidFill>
                <a:latin typeface="Arial"/>
                <a:ea typeface="Arial"/>
                <a:cs typeface="Arial"/>
              </a:defRPr>
            </a:lvl9pPr>
          </a:lstStyle>
          <a:p>
            <a:pPr algn="ctr">
              <a:defRPr sz="695" b="1">
                <a:solidFill>
                  <a:srgbClr val="1E293B"/>
                </a:solidFill>
                <a:latin typeface="Arial"/>
                <a:ea typeface="Arial"/>
                <a:cs typeface="Arial"/>
              </a:defRPr>
            </a:pPr>
            <a:r>
              <a:rPr sz="695" b="0" dirty="0">
                <a:solidFill>
                  <a:srgbClr val="1E293B"/>
                </a:solidFill>
                <a:latin typeface="Arial"/>
                <a:ea typeface="Arial"/>
                <a:cs typeface="Arial"/>
              </a:rPr>
              <a:t>All-atom ligand pose</a:t>
            </a:r>
          </a:p>
        </p:txBody>
      </p:sp>
      <p:pic>
        <p:nvPicPr>
          <p:cNvPr id="967" name="Buil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59E3DA4F-BD1F-6AD8-81F5-856ECED60067}"/>
              </a:ext>
            </a:extLst>
          </p:cNvPr>
          <p:cNvPicPr/>
          <p:nvPr/>
        </p:nvPicPr>
        <p:blipFill>
          <a:blip r:embed="rId4"/>
          <a:stretch>
            <a:fillRect/>
          </a:stretch>
        </p:blipFill>
        <p:spPr>
          <a:xfrm>
            <a:off x="5657542" y="1104265"/>
            <a:ext cx="361766" cy="345440"/>
          </a:xfrm>
          <a:prstGeom prst="rect">
            <a:avLst/>
          </a:prstGeom>
        </p:spPr>
      </p:pic>
      <p:sp>
        <p:nvSpPr>
          <p:cNvPr id="1187" name="Build | Engines frame">
            <a:extLst>
              <a:ext uri="{FF2B5EF4-FFF2-40B4-BE49-F238E27FC236}">
                <a16:creationId xmlns:a16="http://schemas.microsoft.com/office/drawing/2014/main" id="{79AD4C70-DD41-BB84-7331-69D7E3080E11}"/>
              </a:ext>
            </a:extLst>
          </p:cNvPr>
          <p:cNvSpPr/>
          <p:nvPr/>
        </p:nvSpPr>
        <p:spPr>
          <a:xfrm>
            <a:off x="4938821" y="2032000"/>
            <a:ext cx="1202377" cy="1172634"/>
          </a:xfrm>
          <a:prstGeom prst="roundRect">
            <a:avLst>
              <a:gd name="adj" fmla="val 5000"/>
            </a:avLst>
          </a:prstGeom>
          <a:solidFill>
            <a:srgbClr val="FFFFFF">
              <a:alpha val="50000"/>
            </a:srgbClr>
          </a:solidFill>
          <a:ln w="7290">
            <a:solidFill>
              <a:srgbClr val="D5CCB8"/>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1188" name="Build | Default PocketXMol card">
            <a:extLst>
              <a:ext uri="{FF2B5EF4-FFF2-40B4-BE49-F238E27FC236}">
                <a16:creationId xmlns:a16="http://schemas.microsoft.com/office/drawing/2014/main" id="{65696164-FF6C-2E64-A27D-E0452D5A76E9}"/>
              </a:ext>
            </a:extLst>
          </p:cNvPr>
          <p:cNvSpPr/>
          <p:nvPr/>
        </p:nvSpPr>
        <p:spPr>
          <a:xfrm>
            <a:off x="4992811" y="2089570"/>
            <a:ext cx="1106490" cy="456341"/>
          </a:xfrm>
          <a:prstGeom prst="roundRect">
            <a:avLst>
              <a:gd name="adj" fmla="val 8000"/>
            </a:avLst>
          </a:prstGeom>
          <a:solidFill>
            <a:srgbClr val="FAF1DE"/>
          </a:solidFill>
          <a:ln w="7290">
            <a:solidFill>
              <a:srgbClr val="D8A95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grpSp>
        <p:nvGrpSpPr>
          <p:cNvPr id="1189" name="Build | Density cube icon">
            <a:extLst>
              <a:ext uri="{FF2B5EF4-FFF2-40B4-BE49-F238E27FC236}">
                <a16:creationId xmlns:a16="http://schemas.microsoft.com/office/drawing/2014/main" id="{68B5FCE4-2F36-CAD0-B100-A4A97D0F3451}"/>
              </a:ext>
            </a:extLst>
          </p:cNvPr>
          <p:cNvGrpSpPr/>
          <p:nvPr/>
        </p:nvGrpSpPr>
        <p:grpSpPr>
          <a:xfrm>
            <a:off x="5024943" y="2171534"/>
            <a:ext cx="213580" cy="227238"/>
            <a:chOff x="2187720" y="5635440"/>
            <a:chExt cx="154440" cy="131400"/>
          </a:xfrm>
        </p:grpSpPr>
        <p:sp>
          <p:nvSpPr>
            <p:cNvPr id="1190" name="asset_3169_0">
              <a:extLst>
                <a:ext uri="{FF2B5EF4-FFF2-40B4-BE49-F238E27FC236}">
                  <a16:creationId xmlns:a16="http://schemas.microsoft.com/office/drawing/2014/main" id="{5FFB8783-18B8-9E3F-DF3D-D39890A83D04}"/>
                </a:ext>
              </a:extLst>
            </p:cNvPr>
            <p:cNvSpPr>
              <a:spLocks noGrp="1"/>
            </p:cNvSpPr>
            <p:nvPr/>
          </p:nvSpPr>
          <p:spPr>
            <a:xfrm>
              <a:off x="2187720" y="5635440"/>
              <a:ext cx="154440" cy="22338"/>
            </a:xfrm>
            <a:custGeom>
              <a:avLst/>
              <a:gdLst/>
              <a:ahLst/>
              <a:cxnLst/>
              <a:rect l="0" t="0" r="0" b="0"/>
              <a:pathLst>
                <a:path w="154440" h="22338">
                  <a:moveTo>
                    <a:pt x="0" y="22338"/>
                  </a:moveTo>
                  <a:lnTo>
                    <a:pt x="29344" y="0"/>
                  </a:lnTo>
                  <a:lnTo>
                    <a:pt x="154440" y="0"/>
                  </a:lnTo>
                  <a:lnTo>
                    <a:pt x="125096" y="22338"/>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1191" name="asset_3169_1">
              <a:extLst>
                <a:ext uri="{FF2B5EF4-FFF2-40B4-BE49-F238E27FC236}">
                  <a16:creationId xmlns:a16="http://schemas.microsoft.com/office/drawing/2014/main" id="{1EA12B72-72E8-2312-8F32-52AE6B165E9D}"/>
                </a:ext>
              </a:extLst>
            </p:cNvPr>
            <p:cNvSpPr>
              <a:spLocks noGrp="1"/>
            </p:cNvSpPr>
            <p:nvPr/>
          </p:nvSpPr>
          <p:spPr>
            <a:xfrm>
              <a:off x="2312816" y="5635440"/>
              <a:ext cx="29344" cy="131400"/>
            </a:xfrm>
            <a:custGeom>
              <a:avLst/>
              <a:gdLst/>
              <a:ahLst/>
              <a:cxnLst/>
              <a:rect l="0" t="0" r="0" b="0"/>
              <a:pathLst>
                <a:path w="29344" h="131400">
                  <a:moveTo>
                    <a:pt x="0" y="22338"/>
                  </a:moveTo>
                  <a:lnTo>
                    <a:pt x="29344" y="0"/>
                  </a:lnTo>
                  <a:lnTo>
                    <a:pt x="29344" y="109062"/>
                  </a:lnTo>
                  <a:lnTo>
                    <a:pt x="0" y="131400"/>
                  </a:lnTo>
                  <a:close/>
                </a:path>
              </a:pathLst>
            </a:custGeom>
            <a:solidFill>
              <a:srgbClr val="C9DFF3">
                <a:alpha val="22000"/>
              </a:srgbClr>
            </a:solidFill>
            <a:ln w="2700">
              <a:solidFill>
                <a:srgbClr val="A3C3E2"/>
              </a:solidFill>
            </a:ln>
          </p:spPr>
        </p:sp>
        <p:sp>
          <p:nvSpPr>
            <p:cNvPr id="1192" name="asset_3169_2">
              <a:extLst>
                <a:ext uri="{FF2B5EF4-FFF2-40B4-BE49-F238E27FC236}">
                  <a16:creationId xmlns:a16="http://schemas.microsoft.com/office/drawing/2014/main" id="{EDE3B5A8-D8FA-9133-41C2-DB6E1E75A6F9}"/>
                </a:ext>
              </a:extLst>
            </p:cNvPr>
            <p:cNvSpPr>
              <a:spLocks noGrp="1"/>
            </p:cNvSpPr>
            <p:nvPr/>
          </p:nvSpPr>
          <p:spPr>
            <a:xfrm>
              <a:off x="2187720" y="5657778"/>
              <a:ext cx="125096" cy="109062"/>
            </a:xfrm>
            <a:prstGeom prst="rect">
              <a:avLst/>
            </a:prstGeom>
            <a:solidFill>
              <a:srgbClr val="E7F1FC">
                <a:alpha val="20000"/>
              </a:srgbClr>
            </a:solidFill>
            <a:ln w="2700">
              <a:solidFill>
                <a:srgbClr val="ABC9E7"/>
              </a:solidFill>
            </a:ln>
          </p:spPr>
        </p:sp>
        <p:sp>
          <p:nvSpPr>
            <p:cNvPr id="1193" name="asset_3169_3">
              <a:extLst>
                <a:ext uri="{FF2B5EF4-FFF2-40B4-BE49-F238E27FC236}">
                  <a16:creationId xmlns:a16="http://schemas.microsoft.com/office/drawing/2014/main" id="{120BF363-735F-F584-10A8-02A0DD55EE7B}"/>
                </a:ext>
              </a:extLst>
            </p:cNvPr>
            <p:cNvSpPr>
              <a:spLocks noGrp="1"/>
            </p:cNvSpPr>
            <p:nvPr/>
          </p:nvSpPr>
          <p:spPr>
            <a:xfrm>
              <a:off x="2218994" y="5657778"/>
              <a:ext cx="4" cy="109062"/>
            </a:xfrm>
            <a:prstGeom prst="line">
              <a:avLst/>
            </a:prstGeom>
            <a:noFill/>
            <a:ln w="1980">
              <a:solidFill>
                <a:srgbClr val="B8D2EB">
                  <a:alpha val="33000"/>
                </a:srgbClr>
              </a:solidFill>
            </a:ln>
          </p:spPr>
        </p:sp>
        <p:sp>
          <p:nvSpPr>
            <p:cNvPr id="1194" name="asset_3169_4">
              <a:extLst>
                <a:ext uri="{FF2B5EF4-FFF2-40B4-BE49-F238E27FC236}">
                  <a16:creationId xmlns:a16="http://schemas.microsoft.com/office/drawing/2014/main" id="{E2829B7F-C588-BE5B-8D54-FBE1EBF2B8E5}"/>
                </a:ext>
              </a:extLst>
            </p:cNvPr>
            <p:cNvSpPr>
              <a:spLocks noGrp="1"/>
            </p:cNvSpPr>
            <p:nvPr/>
          </p:nvSpPr>
          <p:spPr>
            <a:xfrm>
              <a:off x="2187720" y="5685044"/>
              <a:ext cx="125096" cy="4"/>
            </a:xfrm>
            <a:prstGeom prst="line">
              <a:avLst/>
            </a:prstGeom>
            <a:noFill/>
            <a:ln w="1980">
              <a:solidFill>
                <a:srgbClr val="B8D2EB">
                  <a:alpha val="33000"/>
                </a:srgbClr>
              </a:solidFill>
            </a:ln>
          </p:spPr>
        </p:sp>
        <p:sp>
          <p:nvSpPr>
            <p:cNvPr id="1195" name="asset_3169_5">
              <a:extLst>
                <a:ext uri="{FF2B5EF4-FFF2-40B4-BE49-F238E27FC236}">
                  <a16:creationId xmlns:a16="http://schemas.microsoft.com/office/drawing/2014/main" id="{3DBA365A-AC44-C9B3-7E08-985ECB6E5232}"/>
                </a:ext>
              </a:extLst>
            </p:cNvPr>
            <p:cNvSpPr>
              <a:spLocks noGrp="1"/>
            </p:cNvSpPr>
            <p:nvPr/>
          </p:nvSpPr>
          <p:spPr>
            <a:xfrm>
              <a:off x="2250268" y="5657778"/>
              <a:ext cx="4" cy="109062"/>
            </a:xfrm>
            <a:prstGeom prst="line">
              <a:avLst/>
            </a:prstGeom>
            <a:noFill/>
            <a:ln w="1980">
              <a:solidFill>
                <a:srgbClr val="B8D2EB">
                  <a:alpha val="33000"/>
                </a:srgbClr>
              </a:solidFill>
            </a:ln>
          </p:spPr>
        </p:sp>
        <p:sp>
          <p:nvSpPr>
            <p:cNvPr id="1196" name="asset_3169_6">
              <a:extLst>
                <a:ext uri="{FF2B5EF4-FFF2-40B4-BE49-F238E27FC236}">
                  <a16:creationId xmlns:a16="http://schemas.microsoft.com/office/drawing/2014/main" id="{9F12D1AD-2ED4-77AF-F2EC-E76A62AE9C53}"/>
                </a:ext>
              </a:extLst>
            </p:cNvPr>
            <p:cNvSpPr>
              <a:spLocks noGrp="1"/>
            </p:cNvSpPr>
            <p:nvPr/>
          </p:nvSpPr>
          <p:spPr>
            <a:xfrm>
              <a:off x="2187720" y="5712309"/>
              <a:ext cx="125096" cy="4"/>
            </a:xfrm>
            <a:prstGeom prst="line">
              <a:avLst/>
            </a:prstGeom>
            <a:noFill/>
            <a:ln w="1980">
              <a:solidFill>
                <a:srgbClr val="B8D2EB">
                  <a:alpha val="33000"/>
                </a:srgbClr>
              </a:solidFill>
            </a:ln>
          </p:spPr>
        </p:sp>
        <p:sp>
          <p:nvSpPr>
            <p:cNvPr id="1197" name="asset_3169_7">
              <a:extLst>
                <a:ext uri="{FF2B5EF4-FFF2-40B4-BE49-F238E27FC236}">
                  <a16:creationId xmlns:a16="http://schemas.microsoft.com/office/drawing/2014/main" id="{530FF9D0-E22B-4C58-F523-2AC53D327A6E}"/>
                </a:ext>
              </a:extLst>
            </p:cNvPr>
            <p:cNvSpPr>
              <a:spLocks noGrp="1"/>
            </p:cNvSpPr>
            <p:nvPr/>
          </p:nvSpPr>
          <p:spPr>
            <a:xfrm>
              <a:off x="2281542" y="5657778"/>
              <a:ext cx="4" cy="109062"/>
            </a:xfrm>
            <a:prstGeom prst="line">
              <a:avLst/>
            </a:prstGeom>
            <a:noFill/>
            <a:ln w="1980">
              <a:solidFill>
                <a:srgbClr val="B8D2EB">
                  <a:alpha val="33000"/>
                </a:srgbClr>
              </a:solidFill>
            </a:ln>
          </p:spPr>
        </p:sp>
        <p:sp>
          <p:nvSpPr>
            <p:cNvPr id="1198" name="asset_3169_8">
              <a:extLst>
                <a:ext uri="{FF2B5EF4-FFF2-40B4-BE49-F238E27FC236}">
                  <a16:creationId xmlns:a16="http://schemas.microsoft.com/office/drawing/2014/main" id="{1E307AA0-A6C4-946A-18FD-30858587578A}"/>
                </a:ext>
              </a:extLst>
            </p:cNvPr>
            <p:cNvSpPr>
              <a:spLocks noGrp="1"/>
            </p:cNvSpPr>
            <p:nvPr/>
          </p:nvSpPr>
          <p:spPr>
            <a:xfrm>
              <a:off x="2187720" y="5739574"/>
              <a:ext cx="125096" cy="4"/>
            </a:xfrm>
            <a:prstGeom prst="line">
              <a:avLst/>
            </a:prstGeom>
            <a:noFill/>
            <a:ln w="1980">
              <a:solidFill>
                <a:srgbClr val="B8D2EB">
                  <a:alpha val="33000"/>
                </a:srgbClr>
              </a:solidFill>
            </a:ln>
          </p:spPr>
        </p:sp>
        <p:sp>
          <p:nvSpPr>
            <p:cNvPr id="1199" name="asset_3169_9">
              <a:extLst>
                <a:ext uri="{FF2B5EF4-FFF2-40B4-BE49-F238E27FC236}">
                  <a16:creationId xmlns:a16="http://schemas.microsoft.com/office/drawing/2014/main" id="{2C70D4C3-CC8E-18A5-188C-FB73FB31079A}"/>
                </a:ext>
              </a:extLst>
            </p:cNvPr>
            <p:cNvSpPr>
              <a:spLocks noGrp="1"/>
            </p:cNvSpPr>
            <p:nvPr/>
          </p:nvSpPr>
          <p:spPr>
            <a:xfrm>
              <a:off x="2198791" y="5672574"/>
              <a:ext cx="58245" cy="50256"/>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1200" name="asset_3169_10">
              <a:extLst>
                <a:ext uri="{FF2B5EF4-FFF2-40B4-BE49-F238E27FC236}">
                  <a16:creationId xmlns:a16="http://schemas.microsoft.com/office/drawing/2014/main" id="{9530488D-317A-3063-82AF-05EB1F0CA8B9}"/>
                </a:ext>
              </a:extLst>
            </p:cNvPr>
            <p:cNvSpPr>
              <a:spLocks noGrp="1"/>
            </p:cNvSpPr>
            <p:nvPr/>
          </p:nvSpPr>
          <p:spPr>
            <a:xfrm>
              <a:off x="2225487" y="5687232"/>
              <a:ext cx="63099" cy="54444"/>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1201" name="asset_3169_11">
              <a:extLst>
                <a:ext uri="{FF2B5EF4-FFF2-40B4-BE49-F238E27FC236}">
                  <a16:creationId xmlns:a16="http://schemas.microsoft.com/office/drawing/2014/main" id="{48323ECB-3BE3-307E-E823-C51C380A8650}"/>
                </a:ext>
              </a:extLst>
            </p:cNvPr>
            <p:cNvSpPr>
              <a:spLocks noGrp="1"/>
            </p:cNvSpPr>
            <p:nvPr/>
          </p:nvSpPr>
          <p:spPr>
            <a:xfrm>
              <a:off x="2248542" y="5660010"/>
              <a:ext cx="55818" cy="48162"/>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1202" name="asset_3169_12">
              <a:extLst>
                <a:ext uri="{FF2B5EF4-FFF2-40B4-BE49-F238E27FC236}">
                  <a16:creationId xmlns:a16="http://schemas.microsoft.com/office/drawing/2014/main" id="{C0C8C16B-9DED-677C-6432-EE50B45E7418}"/>
                </a:ext>
              </a:extLst>
            </p:cNvPr>
            <p:cNvSpPr>
              <a:spLocks noGrp="1"/>
            </p:cNvSpPr>
            <p:nvPr/>
          </p:nvSpPr>
          <p:spPr>
            <a:xfrm>
              <a:off x="2223060" y="5652681"/>
              <a:ext cx="53391" cy="46068"/>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1203" name="asset_3169_13">
              <a:extLst>
                <a:ext uri="{FF2B5EF4-FFF2-40B4-BE49-F238E27FC236}">
                  <a16:creationId xmlns:a16="http://schemas.microsoft.com/office/drawing/2014/main" id="{060B66F2-4388-65F4-6206-749CACAB0290}"/>
                </a:ext>
              </a:extLst>
            </p:cNvPr>
            <p:cNvSpPr>
              <a:spLocks noGrp="1"/>
            </p:cNvSpPr>
            <p:nvPr/>
          </p:nvSpPr>
          <p:spPr>
            <a:xfrm>
              <a:off x="2207281" y="5693871"/>
              <a:ext cx="30911" cy="266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4" name="asset_3169_14">
              <a:extLst>
                <a:ext uri="{FF2B5EF4-FFF2-40B4-BE49-F238E27FC236}">
                  <a16:creationId xmlns:a16="http://schemas.microsoft.com/office/drawing/2014/main" id="{13E2CBA3-7C02-4027-03E6-A698CD2EB714}"/>
                </a:ext>
              </a:extLst>
            </p:cNvPr>
            <p:cNvSpPr>
              <a:spLocks noGrp="1"/>
            </p:cNvSpPr>
            <p:nvPr/>
          </p:nvSpPr>
          <p:spPr>
            <a:xfrm>
              <a:off x="2253557" y="5697302"/>
              <a:ext cx="21556" cy="1860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5" name="asset_3169_15">
              <a:extLst>
                <a:ext uri="{FF2B5EF4-FFF2-40B4-BE49-F238E27FC236}">
                  <a16:creationId xmlns:a16="http://schemas.microsoft.com/office/drawing/2014/main" id="{D52AE182-CED9-F191-684F-C02E656634F9}"/>
                </a:ext>
              </a:extLst>
            </p:cNvPr>
            <p:cNvSpPr>
              <a:spLocks noGrp="1"/>
            </p:cNvSpPr>
            <p:nvPr/>
          </p:nvSpPr>
          <p:spPr>
            <a:xfrm>
              <a:off x="2278359" y="5672317"/>
              <a:ext cx="20931" cy="1806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6" name="asset_3169_16">
              <a:extLst>
                <a:ext uri="{FF2B5EF4-FFF2-40B4-BE49-F238E27FC236}">
                  <a16:creationId xmlns:a16="http://schemas.microsoft.com/office/drawing/2014/main" id="{89F2F434-5A13-55C5-50E0-3A863DFD674D}"/>
                </a:ext>
              </a:extLst>
            </p:cNvPr>
            <p:cNvSpPr>
              <a:spLocks noGrp="1"/>
            </p:cNvSpPr>
            <p:nvPr/>
          </p:nvSpPr>
          <p:spPr>
            <a:xfrm>
              <a:off x="2235959" y="5649092"/>
              <a:ext cx="26179" cy="2258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7" name="asset_3169_17">
              <a:extLst>
                <a:ext uri="{FF2B5EF4-FFF2-40B4-BE49-F238E27FC236}">
                  <a16:creationId xmlns:a16="http://schemas.microsoft.com/office/drawing/2014/main" id="{6F30CB2F-3FFE-E2E6-12A8-0C6F6E9862D8}"/>
                </a:ext>
              </a:extLst>
            </p:cNvPr>
            <p:cNvSpPr>
              <a:spLocks noGrp="1"/>
            </p:cNvSpPr>
            <p:nvPr/>
          </p:nvSpPr>
          <p:spPr>
            <a:xfrm>
              <a:off x="2230057" y="5690206"/>
              <a:ext cx="17158" cy="1480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8" name="asset_3169_18">
              <a:extLst>
                <a:ext uri="{FF2B5EF4-FFF2-40B4-BE49-F238E27FC236}">
                  <a16:creationId xmlns:a16="http://schemas.microsoft.com/office/drawing/2014/main" id="{688E0702-ABAA-1F53-2FEE-C044E75816FE}"/>
                </a:ext>
              </a:extLst>
            </p:cNvPr>
            <p:cNvSpPr>
              <a:spLocks noGrp="1"/>
            </p:cNvSpPr>
            <p:nvPr/>
          </p:nvSpPr>
          <p:spPr>
            <a:xfrm>
              <a:off x="2228799" y="5700798"/>
              <a:ext cx="17470" cy="1507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9" name="asset_3169_19">
              <a:extLst>
                <a:ext uri="{FF2B5EF4-FFF2-40B4-BE49-F238E27FC236}">
                  <a16:creationId xmlns:a16="http://schemas.microsoft.com/office/drawing/2014/main" id="{872FD139-9635-FDD4-0722-4E5EEB72AC26}"/>
                </a:ext>
              </a:extLst>
            </p:cNvPr>
            <p:cNvSpPr>
              <a:spLocks noGrp="1"/>
            </p:cNvSpPr>
            <p:nvPr/>
          </p:nvSpPr>
          <p:spPr>
            <a:xfrm>
              <a:off x="2264745" y="5672793"/>
              <a:ext cx="22335" cy="1927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0" name="asset_3169_20">
              <a:extLst>
                <a:ext uri="{FF2B5EF4-FFF2-40B4-BE49-F238E27FC236}">
                  <a16:creationId xmlns:a16="http://schemas.microsoft.com/office/drawing/2014/main" id="{2F589805-2015-0C9E-B861-49E63A36CA16}"/>
                </a:ext>
              </a:extLst>
            </p:cNvPr>
            <p:cNvSpPr>
              <a:spLocks noGrp="1"/>
            </p:cNvSpPr>
            <p:nvPr/>
          </p:nvSpPr>
          <p:spPr>
            <a:xfrm>
              <a:off x="2247802" y="5671816"/>
              <a:ext cx="29288" cy="252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1" name="asset_3169_21">
              <a:extLst>
                <a:ext uri="{FF2B5EF4-FFF2-40B4-BE49-F238E27FC236}">
                  <a16:creationId xmlns:a16="http://schemas.microsoft.com/office/drawing/2014/main" id="{0ACA986A-AF7E-C441-DA61-138FBBAA71F8}"/>
                </a:ext>
              </a:extLst>
            </p:cNvPr>
            <p:cNvSpPr>
              <a:spLocks noGrp="1"/>
            </p:cNvSpPr>
            <p:nvPr/>
          </p:nvSpPr>
          <p:spPr>
            <a:xfrm>
              <a:off x="2221472" y="5673188"/>
              <a:ext cx="24803" cy="2140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2" name="asset_3169_22">
              <a:extLst>
                <a:ext uri="{FF2B5EF4-FFF2-40B4-BE49-F238E27FC236}">
                  <a16:creationId xmlns:a16="http://schemas.microsoft.com/office/drawing/2014/main" id="{2D9591FC-2B85-F680-E4CA-E6BD7F3D89C9}"/>
                </a:ext>
              </a:extLst>
            </p:cNvPr>
            <p:cNvSpPr>
              <a:spLocks noGrp="1"/>
            </p:cNvSpPr>
            <p:nvPr/>
          </p:nvSpPr>
          <p:spPr>
            <a:xfrm>
              <a:off x="2231057" y="5701581"/>
              <a:ext cx="27548" cy="237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3" name="asset_3169_23">
              <a:extLst>
                <a:ext uri="{FF2B5EF4-FFF2-40B4-BE49-F238E27FC236}">
                  <a16:creationId xmlns:a16="http://schemas.microsoft.com/office/drawing/2014/main" id="{891DB7BF-9124-5E80-DEA3-AF8496902287}"/>
                </a:ext>
              </a:extLst>
            </p:cNvPr>
            <p:cNvSpPr>
              <a:spLocks noGrp="1"/>
            </p:cNvSpPr>
            <p:nvPr/>
          </p:nvSpPr>
          <p:spPr>
            <a:xfrm>
              <a:off x="2264932" y="5667506"/>
              <a:ext cx="28421" cy="2452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4" name="asset_3169_24">
              <a:extLst>
                <a:ext uri="{FF2B5EF4-FFF2-40B4-BE49-F238E27FC236}">
                  <a16:creationId xmlns:a16="http://schemas.microsoft.com/office/drawing/2014/main" id="{DE52E28A-6354-BE95-3C9A-A2C66025A871}"/>
                </a:ext>
              </a:extLst>
            </p:cNvPr>
            <p:cNvSpPr>
              <a:spLocks noGrp="1"/>
            </p:cNvSpPr>
            <p:nvPr/>
          </p:nvSpPr>
          <p:spPr>
            <a:xfrm>
              <a:off x="2231286" y="5661727"/>
              <a:ext cx="25293" cy="218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5" name="asset_3169_25">
              <a:extLst>
                <a:ext uri="{FF2B5EF4-FFF2-40B4-BE49-F238E27FC236}">
                  <a16:creationId xmlns:a16="http://schemas.microsoft.com/office/drawing/2014/main" id="{7988D7F5-9FD3-DE02-AC43-2C9102A603D8}"/>
                </a:ext>
              </a:extLst>
            </p:cNvPr>
            <p:cNvSpPr>
              <a:spLocks noGrp="1"/>
            </p:cNvSpPr>
            <p:nvPr/>
          </p:nvSpPr>
          <p:spPr>
            <a:xfrm>
              <a:off x="2203520" y="5678934"/>
              <a:ext cx="26056" cy="2248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6" name="asset_3169_26">
              <a:extLst>
                <a:ext uri="{FF2B5EF4-FFF2-40B4-BE49-F238E27FC236}">
                  <a16:creationId xmlns:a16="http://schemas.microsoft.com/office/drawing/2014/main" id="{C7CB8EF7-313A-8E8C-6DD1-7BDC7D92CCB0}"/>
                </a:ext>
              </a:extLst>
            </p:cNvPr>
            <p:cNvSpPr>
              <a:spLocks noGrp="1"/>
            </p:cNvSpPr>
            <p:nvPr/>
          </p:nvSpPr>
          <p:spPr>
            <a:xfrm>
              <a:off x="2258761" y="5717055"/>
              <a:ext cx="20939" cy="1806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7" name="asset_3169_27">
              <a:extLst>
                <a:ext uri="{FF2B5EF4-FFF2-40B4-BE49-F238E27FC236}">
                  <a16:creationId xmlns:a16="http://schemas.microsoft.com/office/drawing/2014/main" id="{73BCC20B-1FDA-F412-4DD8-A25B3302BB21}"/>
                </a:ext>
              </a:extLst>
            </p:cNvPr>
            <p:cNvSpPr>
              <a:spLocks noGrp="1"/>
            </p:cNvSpPr>
            <p:nvPr/>
          </p:nvSpPr>
          <p:spPr>
            <a:xfrm>
              <a:off x="2262469" y="5681666"/>
              <a:ext cx="24125" cy="2081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8" name="asset_3169_28">
              <a:extLst>
                <a:ext uri="{FF2B5EF4-FFF2-40B4-BE49-F238E27FC236}">
                  <a16:creationId xmlns:a16="http://schemas.microsoft.com/office/drawing/2014/main" id="{AF33B019-3B06-5B18-D90B-E00C3F3EDB2C}"/>
                </a:ext>
              </a:extLst>
            </p:cNvPr>
            <p:cNvSpPr>
              <a:spLocks noGrp="1"/>
            </p:cNvSpPr>
            <p:nvPr/>
          </p:nvSpPr>
          <p:spPr>
            <a:xfrm>
              <a:off x="2238082" y="5671347"/>
              <a:ext cx="27389" cy="2363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9" name="asset_3169_29">
              <a:extLst>
                <a:ext uri="{FF2B5EF4-FFF2-40B4-BE49-F238E27FC236}">
                  <a16:creationId xmlns:a16="http://schemas.microsoft.com/office/drawing/2014/main" id="{0FB4133A-9D97-E251-1B43-C62FA8130666}"/>
                </a:ext>
              </a:extLst>
            </p:cNvPr>
            <p:cNvSpPr>
              <a:spLocks noGrp="1"/>
            </p:cNvSpPr>
            <p:nvPr/>
          </p:nvSpPr>
          <p:spPr>
            <a:xfrm>
              <a:off x="2220795" y="5698579"/>
              <a:ext cx="25648" cy="2213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0" name="asset_3169_30">
              <a:extLst>
                <a:ext uri="{FF2B5EF4-FFF2-40B4-BE49-F238E27FC236}">
                  <a16:creationId xmlns:a16="http://schemas.microsoft.com/office/drawing/2014/main" id="{69D50226-8CEE-09CA-92F4-EA747B547FF4}"/>
                </a:ext>
              </a:extLst>
            </p:cNvPr>
            <p:cNvSpPr>
              <a:spLocks noGrp="1"/>
            </p:cNvSpPr>
            <p:nvPr/>
          </p:nvSpPr>
          <p:spPr>
            <a:xfrm>
              <a:off x="2243067" y="5723084"/>
              <a:ext cx="17688" cy="1526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1" name="asset_3169_31">
              <a:extLst>
                <a:ext uri="{FF2B5EF4-FFF2-40B4-BE49-F238E27FC236}">
                  <a16:creationId xmlns:a16="http://schemas.microsoft.com/office/drawing/2014/main" id="{8D9ECD96-25F9-4FC6-1C5E-5B500507A23C}"/>
                </a:ext>
              </a:extLst>
            </p:cNvPr>
            <p:cNvSpPr>
              <a:spLocks noGrp="1"/>
            </p:cNvSpPr>
            <p:nvPr/>
          </p:nvSpPr>
          <p:spPr>
            <a:xfrm>
              <a:off x="2257337" y="5659622"/>
              <a:ext cx="26336" cy="227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2" name="asset_3169_32">
              <a:extLst>
                <a:ext uri="{FF2B5EF4-FFF2-40B4-BE49-F238E27FC236}">
                  <a16:creationId xmlns:a16="http://schemas.microsoft.com/office/drawing/2014/main" id="{791FDFAC-6025-C51A-7F75-7437ACC6E354}"/>
                </a:ext>
              </a:extLst>
            </p:cNvPr>
            <p:cNvSpPr>
              <a:spLocks noGrp="1"/>
            </p:cNvSpPr>
            <p:nvPr/>
          </p:nvSpPr>
          <p:spPr>
            <a:xfrm>
              <a:off x="2256492" y="5666095"/>
              <a:ext cx="23460" cy="2024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3" name="asset_3169_33">
              <a:extLst>
                <a:ext uri="{FF2B5EF4-FFF2-40B4-BE49-F238E27FC236}">
                  <a16:creationId xmlns:a16="http://schemas.microsoft.com/office/drawing/2014/main" id="{DA973672-CCD0-6C59-1B34-7C6CC5E48F20}"/>
                </a:ext>
              </a:extLst>
            </p:cNvPr>
            <p:cNvSpPr>
              <a:spLocks noGrp="1"/>
            </p:cNvSpPr>
            <p:nvPr/>
          </p:nvSpPr>
          <p:spPr>
            <a:xfrm>
              <a:off x="2210503" y="5688799"/>
              <a:ext cx="30840" cy="266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4" name="asset_3169_34">
              <a:extLst>
                <a:ext uri="{FF2B5EF4-FFF2-40B4-BE49-F238E27FC236}">
                  <a16:creationId xmlns:a16="http://schemas.microsoft.com/office/drawing/2014/main" id="{43DD86C8-6E09-99CE-6266-42DC4FA64456}"/>
                </a:ext>
              </a:extLst>
            </p:cNvPr>
            <p:cNvSpPr>
              <a:spLocks noGrp="1"/>
            </p:cNvSpPr>
            <p:nvPr/>
          </p:nvSpPr>
          <p:spPr>
            <a:xfrm>
              <a:off x="2236186" y="5705144"/>
              <a:ext cx="22611" cy="195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5" name="asset_3169_35">
              <a:extLst>
                <a:ext uri="{FF2B5EF4-FFF2-40B4-BE49-F238E27FC236}">
                  <a16:creationId xmlns:a16="http://schemas.microsoft.com/office/drawing/2014/main" id="{D769467D-EEAF-B1AF-7AC6-68CC2D0F1288}"/>
                </a:ext>
              </a:extLst>
            </p:cNvPr>
            <p:cNvSpPr>
              <a:spLocks noGrp="1"/>
            </p:cNvSpPr>
            <p:nvPr/>
          </p:nvSpPr>
          <p:spPr>
            <a:xfrm>
              <a:off x="2260671" y="5685042"/>
              <a:ext cx="19267" cy="166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6" name="asset_3169_36">
              <a:extLst>
                <a:ext uri="{FF2B5EF4-FFF2-40B4-BE49-F238E27FC236}">
                  <a16:creationId xmlns:a16="http://schemas.microsoft.com/office/drawing/2014/main" id="{445AF884-4EC3-E477-DB0C-E7BACF22251A}"/>
                </a:ext>
              </a:extLst>
            </p:cNvPr>
            <p:cNvSpPr>
              <a:spLocks noGrp="1"/>
            </p:cNvSpPr>
            <p:nvPr/>
          </p:nvSpPr>
          <p:spPr>
            <a:xfrm>
              <a:off x="2255827" y="5658297"/>
              <a:ext cx="24486" cy="2112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7" name="asset_3169_37">
              <a:extLst>
                <a:ext uri="{FF2B5EF4-FFF2-40B4-BE49-F238E27FC236}">
                  <a16:creationId xmlns:a16="http://schemas.microsoft.com/office/drawing/2014/main" id="{8548860C-336A-E8E6-C08F-A2EC53A5F6C5}"/>
                </a:ext>
              </a:extLst>
            </p:cNvPr>
            <p:cNvSpPr>
              <a:spLocks noGrp="1"/>
            </p:cNvSpPr>
            <p:nvPr/>
          </p:nvSpPr>
          <p:spPr>
            <a:xfrm>
              <a:off x="2212444" y="5679829"/>
              <a:ext cx="19456" cy="1678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8" name="asset_3169_38">
              <a:extLst>
                <a:ext uri="{FF2B5EF4-FFF2-40B4-BE49-F238E27FC236}">
                  <a16:creationId xmlns:a16="http://schemas.microsoft.com/office/drawing/2014/main" id="{648DC38E-0310-9E0E-37D3-5E74B6EF35F1}"/>
                </a:ext>
              </a:extLst>
            </p:cNvPr>
            <p:cNvSpPr>
              <a:spLocks noGrp="1"/>
            </p:cNvSpPr>
            <p:nvPr/>
          </p:nvSpPr>
          <p:spPr>
            <a:xfrm>
              <a:off x="2240936" y="5686210"/>
              <a:ext cx="21405" cy="184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9" name="asset_3169_39">
              <a:extLst>
                <a:ext uri="{FF2B5EF4-FFF2-40B4-BE49-F238E27FC236}">
                  <a16:creationId xmlns:a16="http://schemas.microsoft.com/office/drawing/2014/main" id="{ACB0B137-A9B7-8555-0594-4839D4EE1AF5}"/>
                </a:ext>
              </a:extLst>
            </p:cNvPr>
            <p:cNvSpPr>
              <a:spLocks noGrp="1"/>
            </p:cNvSpPr>
            <p:nvPr/>
          </p:nvSpPr>
          <p:spPr>
            <a:xfrm>
              <a:off x="2265093" y="5678881"/>
              <a:ext cx="26532" cy="2289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0" name="asset_3169_40">
              <a:extLst>
                <a:ext uri="{FF2B5EF4-FFF2-40B4-BE49-F238E27FC236}">
                  <a16:creationId xmlns:a16="http://schemas.microsoft.com/office/drawing/2014/main" id="{CB82A286-4EA7-C723-174F-A005964CF56B}"/>
                </a:ext>
              </a:extLst>
            </p:cNvPr>
            <p:cNvSpPr>
              <a:spLocks noGrp="1"/>
            </p:cNvSpPr>
            <p:nvPr/>
          </p:nvSpPr>
          <p:spPr>
            <a:xfrm>
              <a:off x="2229701" y="5665168"/>
              <a:ext cx="29465" cy="254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1" name="asset_3169_41">
              <a:extLst>
                <a:ext uri="{FF2B5EF4-FFF2-40B4-BE49-F238E27FC236}">
                  <a16:creationId xmlns:a16="http://schemas.microsoft.com/office/drawing/2014/main" id="{1E67FB97-244C-14BD-73A9-CA2F9B1E24BA}"/>
                </a:ext>
              </a:extLst>
            </p:cNvPr>
            <p:cNvSpPr>
              <a:spLocks noGrp="1"/>
            </p:cNvSpPr>
            <p:nvPr/>
          </p:nvSpPr>
          <p:spPr>
            <a:xfrm>
              <a:off x="2222658" y="5680582"/>
              <a:ext cx="27660" cy="2386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2" name="asset_3169_42">
              <a:extLst>
                <a:ext uri="{FF2B5EF4-FFF2-40B4-BE49-F238E27FC236}">
                  <a16:creationId xmlns:a16="http://schemas.microsoft.com/office/drawing/2014/main" id="{417A6C45-6CB7-5380-B441-87E54399F7F7}"/>
                </a:ext>
              </a:extLst>
            </p:cNvPr>
            <p:cNvSpPr>
              <a:spLocks noGrp="1"/>
            </p:cNvSpPr>
            <p:nvPr/>
          </p:nvSpPr>
          <p:spPr>
            <a:xfrm>
              <a:off x="2243804" y="5697201"/>
              <a:ext cx="17846" cy="1539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3" name="asset_3169_43">
              <a:extLst>
                <a:ext uri="{FF2B5EF4-FFF2-40B4-BE49-F238E27FC236}">
                  <a16:creationId xmlns:a16="http://schemas.microsoft.com/office/drawing/2014/main" id="{5A16B6AC-2250-FE07-B0D3-1B193E4DFACB}"/>
                </a:ext>
              </a:extLst>
            </p:cNvPr>
            <p:cNvSpPr>
              <a:spLocks noGrp="1"/>
            </p:cNvSpPr>
            <p:nvPr/>
          </p:nvSpPr>
          <p:spPr>
            <a:xfrm>
              <a:off x="2262800" y="5690235"/>
              <a:ext cx="21180" cy="1827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4" name="asset_3169_44">
              <a:extLst>
                <a:ext uri="{FF2B5EF4-FFF2-40B4-BE49-F238E27FC236}">
                  <a16:creationId xmlns:a16="http://schemas.microsoft.com/office/drawing/2014/main" id="{081C5E26-7488-869A-618E-1092033F59C2}"/>
                </a:ext>
              </a:extLst>
            </p:cNvPr>
            <p:cNvSpPr>
              <a:spLocks noGrp="1"/>
            </p:cNvSpPr>
            <p:nvPr/>
          </p:nvSpPr>
          <p:spPr>
            <a:xfrm>
              <a:off x="2235058" y="5658630"/>
              <a:ext cx="25840" cy="2229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5" name="asset_3169_45">
              <a:extLst>
                <a:ext uri="{FF2B5EF4-FFF2-40B4-BE49-F238E27FC236}">
                  <a16:creationId xmlns:a16="http://schemas.microsoft.com/office/drawing/2014/main" id="{41A170EA-8B41-0DF1-E7EA-2AB990478A77}"/>
                </a:ext>
              </a:extLst>
            </p:cNvPr>
            <p:cNvSpPr>
              <a:spLocks noGrp="1"/>
            </p:cNvSpPr>
            <p:nvPr/>
          </p:nvSpPr>
          <p:spPr>
            <a:xfrm>
              <a:off x="2211228" y="5681493"/>
              <a:ext cx="31451" cy="2713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6" name="asset_3169_46">
              <a:extLst>
                <a:ext uri="{FF2B5EF4-FFF2-40B4-BE49-F238E27FC236}">
                  <a16:creationId xmlns:a16="http://schemas.microsoft.com/office/drawing/2014/main" id="{32D1B9BF-5325-26AF-BAA9-BBD6B30B328F}"/>
                </a:ext>
              </a:extLst>
            </p:cNvPr>
            <p:cNvSpPr>
              <a:spLocks noGrp="1"/>
            </p:cNvSpPr>
            <p:nvPr/>
          </p:nvSpPr>
          <p:spPr>
            <a:xfrm>
              <a:off x="2234524" y="5703451"/>
              <a:ext cx="21739" cy="1875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7" name="asset_3169_47">
              <a:extLst>
                <a:ext uri="{FF2B5EF4-FFF2-40B4-BE49-F238E27FC236}">
                  <a16:creationId xmlns:a16="http://schemas.microsoft.com/office/drawing/2014/main" id="{19954402-7CDC-A852-CA61-629A3E0C394F}"/>
                </a:ext>
              </a:extLst>
            </p:cNvPr>
            <p:cNvSpPr>
              <a:spLocks noGrp="1"/>
            </p:cNvSpPr>
            <p:nvPr/>
          </p:nvSpPr>
          <p:spPr>
            <a:xfrm>
              <a:off x="2269639" y="5693556"/>
              <a:ext cx="19299" cy="1665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8" name="asset_3169_48">
              <a:extLst>
                <a:ext uri="{FF2B5EF4-FFF2-40B4-BE49-F238E27FC236}">
                  <a16:creationId xmlns:a16="http://schemas.microsoft.com/office/drawing/2014/main" id="{41D1840A-7225-0A6F-EB5F-EF20E870D9CF}"/>
                </a:ext>
              </a:extLst>
            </p:cNvPr>
            <p:cNvSpPr>
              <a:spLocks noGrp="1"/>
            </p:cNvSpPr>
            <p:nvPr/>
          </p:nvSpPr>
          <p:spPr>
            <a:xfrm>
              <a:off x="2221813" y="5667367"/>
              <a:ext cx="17021" cy="1468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9" name="asset_3169_49">
              <a:extLst>
                <a:ext uri="{FF2B5EF4-FFF2-40B4-BE49-F238E27FC236}">
                  <a16:creationId xmlns:a16="http://schemas.microsoft.com/office/drawing/2014/main" id="{FB9EBEA7-2F90-78C6-B9FF-085239FF7530}"/>
                </a:ext>
              </a:extLst>
            </p:cNvPr>
            <p:cNvSpPr>
              <a:spLocks noGrp="1"/>
            </p:cNvSpPr>
            <p:nvPr/>
          </p:nvSpPr>
          <p:spPr>
            <a:xfrm>
              <a:off x="2208530" y="5668919"/>
              <a:ext cx="27524" cy="2374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40" name="asset_3169_50">
              <a:extLst>
                <a:ext uri="{FF2B5EF4-FFF2-40B4-BE49-F238E27FC236}">
                  <a16:creationId xmlns:a16="http://schemas.microsoft.com/office/drawing/2014/main" id="{7ED9E287-6110-2BD8-91C3-3424DDB48479}"/>
                </a:ext>
              </a:extLst>
            </p:cNvPr>
            <p:cNvSpPr>
              <a:spLocks noGrp="1"/>
            </p:cNvSpPr>
            <p:nvPr/>
          </p:nvSpPr>
          <p:spPr>
            <a:xfrm>
              <a:off x="2251433" y="5689815"/>
              <a:ext cx="17431" cy="1504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41" name="asset_3169_51">
              <a:extLst>
                <a:ext uri="{FF2B5EF4-FFF2-40B4-BE49-F238E27FC236}">
                  <a16:creationId xmlns:a16="http://schemas.microsoft.com/office/drawing/2014/main" id="{0A5D16C0-E9EB-7A6D-D123-3915E88A78A9}"/>
                </a:ext>
              </a:extLst>
            </p:cNvPr>
            <p:cNvSpPr>
              <a:spLocks noGrp="1"/>
            </p:cNvSpPr>
            <p:nvPr/>
          </p:nvSpPr>
          <p:spPr>
            <a:xfrm>
              <a:off x="2187720" y="5657778"/>
              <a:ext cx="125096" cy="109062"/>
            </a:xfrm>
            <a:custGeom>
              <a:avLst/>
              <a:gdLst/>
              <a:ahLst/>
              <a:cxnLst/>
              <a:rect l="0" t="0" r="0" b="0"/>
              <a:pathLst>
                <a:path w="125096" h="109062">
                  <a:moveTo>
                    <a:pt x="0" y="0"/>
                  </a:moveTo>
                  <a:lnTo>
                    <a:pt x="125096" y="0"/>
                  </a:lnTo>
                  <a:lnTo>
                    <a:pt x="125096" y="109062"/>
                  </a:lnTo>
                  <a:lnTo>
                    <a:pt x="0" y="109062"/>
                  </a:lnTo>
                  <a:close/>
                </a:path>
              </a:pathLst>
            </a:custGeom>
            <a:noFill/>
            <a:ln w="3600">
              <a:solidFill>
                <a:srgbClr val="8AB3D9"/>
              </a:solidFill>
            </a:ln>
          </p:spPr>
        </p:sp>
      </p:grpSp>
      <p:sp>
        <p:nvSpPr>
          <p:cNvPr id="1242" name="TextBox 12306">
            <a:extLst>
              <a:ext uri="{FF2B5EF4-FFF2-40B4-BE49-F238E27FC236}">
                <a16:creationId xmlns:a16="http://schemas.microsoft.com/office/drawing/2014/main" id="{B61D0A30-984F-5F1D-C0E3-4ED5D4539DF2}"/>
              </a:ext>
            </a:extLst>
          </p:cNvPr>
          <p:cNvSpPr txBox="1"/>
          <p:nvPr/>
        </p:nvSpPr>
        <p:spPr>
          <a:xfrm>
            <a:off x="5270490" y="2150246"/>
            <a:ext cx="819150" cy="93744"/>
          </a:xfrm>
          <a:prstGeom prst="rect">
            <a:avLst/>
          </a:prstGeom>
          <a:noFill/>
        </p:spPr>
        <p:txBody>
          <a:bodyPr wrap="square" lIns="0" tIns="0" rIns="0" bIns="0" anchor="ctr">
            <a:spAutoFit/>
          </a:bodyPr>
          <a:lstStyle/>
          <a:p>
            <a:pPr algn="l">
              <a:lnSpc>
                <a:spcPct val="105000"/>
              </a:lnSpc>
            </a:pPr>
            <a:r>
              <a:rPr sz="623" b="1" dirty="0" err="1">
                <a:solidFill>
                  <a:srgbClr val="8C5818"/>
                </a:solidFill>
                <a:latin typeface="Arial"/>
              </a:rPr>
              <a:t>DG-PocketXMol</a:t>
            </a:r>
            <a:endParaRPr sz="623" b="1" dirty="0">
              <a:solidFill>
                <a:srgbClr val="8C5818"/>
              </a:solidFill>
              <a:latin typeface="Arial"/>
            </a:endParaRPr>
          </a:p>
        </p:txBody>
      </p:sp>
      <p:sp>
        <p:nvSpPr>
          <p:cNvPr id="1243" name="TextBox 12307">
            <a:extLst>
              <a:ext uri="{FF2B5EF4-FFF2-40B4-BE49-F238E27FC236}">
                <a16:creationId xmlns:a16="http://schemas.microsoft.com/office/drawing/2014/main" id="{50E4F9BE-39D5-3572-2B27-7015D0FE756B}"/>
              </a:ext>
            </a:extLst>
          </p:cNvPr>
          <p:cNvSpPr txBox="1"/>
          <p:nvPr/>
        </p:nvSpPr>
        <p:spPr>
          <a:xfrm>
            <a:off x="5270983" y="2305119"/>
            <a:ext cx="819150" cy="163763"/>
          </a:xfrm>
          <a:prstGeom prst="rect">
            <a:avLst/>
          </a:prstGeom>
          <a:noFill/>
        </p:spPr>
        <p:txBody>
          <a:bodyPr wrap="square" lIns="0" tIns="0" rIns="0" bIns="0" anchor="ctr">
            <a:spAutoFit/>
          </a:bodyPr>
          <a:lstStyle/>
          <a:p>
            <a:pPr algn="l">
              <a:lnSpc>
                <a:spcPct val="96000"/>
              </a:lnSpc>
            </a:pPr>
            <a:r>
              <a:rPr sz="554" dirty="0">
                <a:solidFill>
                  <a:srgbClr val="5A6B7C"/>
                </a:solidFill>
                <a:latin typeface="Arial"/>
              </a:rPr>
              <a:t>Density-conditioned</a:t>
            </a:r>
            <a:endParaRPr lang="en-US" sz="554" dirty="0">
              <a:solidFill>
                <a:srgbClr val="5A6B7C"/>
              </a:solidFill>
              <a:latin typeface="Arial"/>
            </a:endParaRPr>
          </a:p>
          <a:p>
            <a:pPr algn="l">
              <a:lnSpc>
                <a:spcPct val="96000"/>
              </a:lnSpc>
            </a:pPr>
            <a:r>
              <a:rPr sz="554" dirty="0">
                <a:solidFill>
                  <a:srgbClr val="5A6B7C"/>
                </a:solidFill>
                <a:latin typeface="Arial"/>
              </a:rPr>
              <a:t>fine-tuning</a:t>
            </a:r>
          </a:p>
        </p:txBody>
      </p:sp>
      <p:sp>
        <p:nvSpPr>
          <p:cNvPr id="1244" name="Build | Docking tools card">
            <a:extLst>
              <a:ext uri="{FF2B5EF4-FFF2-40B4-BE49-F238E27FC236}">
                <a16:creationId xmlns:a16="http://schemas.microsoft.com/office/drawing/2014/main" id="{D8820DAD-C856-C828-BB1A-D380253AF157}"/>
              </a:ext>
            </a:extLst>
          </p:cNvPr>
          <p:cNvSpPr/>
          <p:nvPr/>
        </p:nvSpPr>
        <p:spPr>
          <a:xfrm>
            <a:off x="4992811" y="2608447"/>
            <a:ext cx="1106489" cy="516618"/>
          </a:xfrm>
          <a:prstGeom prst="roundRect">
            <a:avLst>
              <a:gd name="adj" fmla="val 8000"/>
            </a:avLst>
          </a:prstGeom>
          <a:solidFill>
            <a:srgbClr val="EFF2F8"/>
          </a:solidFill>
          <a:ln w="7290">
            <a:solidFill>
              <a:srgbClr val="B8C4D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1245" name="TextBox 12309">
            <a:extLst>
              <a:ext uri="{FF2B5EF4-FFF2-40B4-BE49-F238E27FC236}">
                <a16:creationId xmlns:a16="http://schemas.microsoft.com/office/drawing/2014/main" id="{E61A4066-788B-5B12-50A8-1419E47F2E66}"/>
              </a:ext>
            </a:extLst>
          </p:cNvPr>
          <p:cNvSpPr txBox="1"/>
          <p:nvPr/>
        </p:nvSpPr>
        <p:spPr>
          <a:xfrm>
            <a:off x="5044453" y="2647450"/>
            <a:ext cx="1047750" cy="101936"/>
          </a:xfrm>
          <a:prstGeom prst="rect">
            <a:avLst/>
          </a:prstGeom>
          <a:noFill/>
        </p:spPr>
        <p:txBody>
          <a:bodyPr wrap="square" lIns="0" tIns="0" rIns="0" bIns="0" anchor="ctr">
            <a:spAutoFit/>
          </a:bodyPr>
          <a:lstStyle/>
          <a:p>
            <a:pPr algn="l">
              <a:lnSpc>
                <a:spcPct val="105000"/>
              </a:lnSpc>
            </a:pPr>
            <a:r>
              <a:rPr lang="en-US" sz="640" b="1" dirty="0">
                <a:solidFill>
                  <a:srgbClr val="1E293B"/>
                </a:solidFill>
                <a:latin typeface="Arial"/>
              </a:rPr>
              <a:t>O</a:t>
            </a:r>
            <a:r>
              <a:rPr lang="en-US" altLang="zh-CN" sz="640" b="1" dirty="0">
                <a:solidFill>
                  <a:srgbClr val="1E293B"/>
                </a:solidFill>
                <a:latin typeface="Arial"/>
              </a:rPr>
              <a:t>ther d</a:t>
            </a:r>
            <a:r>
              <a:rPr sz="640" b="1" dirty="0">
                <a:solidFill>
                  <a:srgbClr val="1E293B"/>
                </a:solidFill>
                <a:latin typeface="Arial"/>
              </a:rPr>
              <a:t>ocking tools</a:t>
            </a:r>
          </a:p>
        </p:txBody>
      </p:sp>
      <p:sp>
        <p:nvSpPr>
          <p:cNvPr id="1246" name="TextBox 12310">
            <a:extLst>
              <a:ext uri="{FF2B5EF4-FFF2-40B4-BE49-F238E27FC236}">
                <a16:creationId xmlns:a16="http://schemas.microsoft.com/office/drawing/2014/main" id="{C9F46158-59CF-34E8-D872-FBF180C8ECC1}"/>
              </a:ext>
            </a:extLst>
          </p:cNvPr>
          <p:cNvSpPr txBox="1"/>
          <p:nvPr/>
        </p:nvSpPr>
        <p:spPr>
          <a:xfrm>
            <a:off x="5041329" y="2752162"/>
            <a:ext cx="389530" cy="372902"/>
          </a:xfrm>
          <a:prstGeom prst="rect">
            <a:avLst/>
          </a:prstGeom>
          <a:noFill/>
        </p:spPr>
        <p:txBody>
          <a:bodyPr wrap="none" lIns="0" tIns="0" rIns="0" bIns="0" anchor="ctr">
            <a:spAutoFit/>
          </a:bodyPr>
          <a:lstStyle/>
          <a:p>
            <a:pPr>
              <a:lnSpc>
                <a:spcPct val="105000"/>
              </a:lnSpc>
            </a:pPr>
            <a:r>
              <a:rPr lang="en-US" altLang="zh-CN" sz="554" dirty="0">
                <a:solidFill>
                  <a:srgbClr val="5A6B7C"/>
                </a:solidFill>
                <a:latin typeface="Arial"/>
              </a:rPr>
              <a:t>· </a:t>
            </a:r>
            <a:r>
              <a:rPr sz="554" dirty="0">
                <a:solidFill>
                  <a:srgbClr val="5A6B7C"/>
                </a:solidFill>
                <a:latin typeface="Arial"/>
              </a:rPr>
              <a:t>Vina </a:t>
            </a:r>
            <a:endParaRPr lang="en-US" sz="554" dirty="0">
              <a:solidFill>
                <a:srgbClr val="5A6B7C"/>
              </a:solidFill>
              <a:latin typeface="Arial"/>
            </a:endParaRPr>
          </a:p>
          <a:p>
            <a:pPr>
              <a:lnSpc>
                <a:spcPct val="105000"/>
              </a:lnSpc>
            </a:pPr>
            <a:r>
              <a:rPr sz="554" dirty="0">
                <a:solidFill>
                  <a:srgbClr val="5A6B7C"/>
                </a:solidFill>
                <a:latin typeface="Arial"/>
              </a:rPr>
              <a:t>· </a:t>
            </a:r>
            <a:r>
              <a:rPr sz="554" dirty="0" err="1">
                <a:solidFill>
                  <a:srgbClr val="5A6B7C"/>
                </a:solidFill>
                <a:latin typeface="Arial"/>
              </a:rPr>
              <a:t>DiffDock</a:t>
            </a:r>
            <a:r>
              <a:rPr sz="554" dirty="0">
                <a:solidFill>
                  <a:srgbClr val="5A6B7C"/>
                </a:solidFill>
                <a:latin typeface="Arial"/>
              </a:rPr>
              <a:t> </a:t>
            </a:r>
            <a:endParaRPr lang="en-US" sz="554" dirty="0">
              <a:solidFill>
                <a:srgbClr val="5A6B7C"/>
              </a:solidFill>
              <a:latin typeface="Arial"/>
            </a:endParaRPr>
          </a:p>
          <a:p>
            <a:pPr>
              <a:lnSpc>
                <a:spcPct val="105000"/>
              </a:lnSpc>
            </a:pPr>
            <a:r>
              <a:rPr sz="554" dirty="0">
                <a:solidFill>
                  <a:srgbClr val="5A6B7C"/>
                </a:solidFill>
                <a:latin typeface="Arial"/>
              </a:rPr>
              <a:t>· EMERALD</a:t>
            </a:r>
            <a:endParaRPr lang="en-US" sz="554" dirty="0">
              <a:solidFill>
                <a:srgbClr val="5A6B7C"/>
              </a:solidFill>
              <a:latin typeface="Arial"/>
            </a:endParaRPr>
          </a:p>
          <a:p>
            <a:pPr>
              <a:lnSpc>
                <a:spcPct val="105000"/>
              </a:lnSpc>
            </a:pPr>
            <a:r>
              <a:rPr lang="en-US" altLang="zh-CN" sz="554" dirty="0">
                <a:solidFill>
                  <a:srgbClr val="5A6B7C"/>
                </a:solidFill>
                <a:latin typeface="Arial"/>
              </a:rPr>
              <a:t>·</a:t>
            </a:r>
            <a:r>
              <a:rPr lang="zh-CN" altLang="en-US" sz="554" dirty="0">
                <a:solidFill>
                  <a:srgbClr val="5A6B7C"/>
                </a:solidFill>
                <a:latin typeface="Arial"/>
              </a:rPr>
              <a:t> </a:t>
            </a:r>
            <a:r>
              <a:rPr lang="en-US" altLang="zh-CN" sz="554" dirty="0">
                <a:solidFill>
                  <a:srgbClr val="5A6B7C"/>
                </a:solidFill>
                <a:latin typeface="Arial"/>
              </a:rPr>
              <a:t>·</a:t>
            </a:r>
            <a:r>
              <a:rPr lang="zh-CN" altLang="en-US" sz="554" dirty="0">
                <a:solidFill>
                  <a:srgbClr val="5A6B7C"/>
                </a:solidFill>
                <a:latin typeface="Arial"/>
              </a:rPr>
              <a:t> </a:t>
            </a:r>
            <a:r>
              <a:rPr lang="en-US" altLang="zh-CN" sz="554" dirty="0">
                <a:solidFill>
                  <a:srgbClr val="5A6B7C"/>
                </a:solidFill>
                <a:latin typeface="Arial"/>
              </a:rPr>
              <a:t>·</a:t>
            </a:r>
            <a:endParaRPr sz="554" dirty="0">
              <a:solidFill>
                <a:srgbClr val="5A6B7C"/>
              </a:solidFill>
              <a:latin typeface="Arial"/>
            </a:endParaRPr>
          </a:p>
        </p:txBody>
      </p:sp>
      <p:grpSp>
        <p:nvGrpSpPr>
          <p:cNvPr id="1248" name="Unified flow and feature elements">
            <a:extLst>
              <a:ext uri="{FF2B5EF4-FFF2-40B4-BE49-F238E27FC236}">
                <a16:creationId xmlns:a16="http://schemas.microsoft.com/office/drawing/2014/main" id="{DA74696D-FF4F-021F-A459-9CD0851351CF}"/>
              </a:ext>
            </a:extLst>
          </p:cNvPr>
          <p:cNvGrpSpPr/>
          <p:nvPr/>
        </p:nvGrpSpPr>
        <p:grpSpPr>
          <a:xfrm>
            <a:off x="823347" y="284723"/>
            <a:ext cx="3605650" cy="3967446"/>
            <a:chOff x="1936337" y="669608"/>
            <a:chExt cx="8479727" cy="9330594"/>
          </a:xfrm>
        </p:grpSpPr>
        <p:sp>
          <p:nvSpPr>
            <p:cNvPr id="1249" name="Preprocessing refined">
              <a:extLst>
                <a:ext uri="{FF2B5EF4-FFF2-40B4-BE49-F238E27FC236}">
                  <a16:creationId xmlns:a16="http://schemas.microsoft.com/office/drawing/2014/main" id="{A3A31885-181B-CF24-BE30-3ED8DAACE460}"/>
                </a:ext>
              </a:extLst>
            </p:cNvPr>
            <p:cNvSpPr>
              <a:spLocks noGrp="1"/>
            </p:cNvSpPr>
            <p:nvPr/>
          </p:nvSpPr>
          <p:spPr>
            <a:xfrm>
              <a:off x="3172901" y="669608"/>
              <a:ext cx="1028700" cy="3460433"/>
            </a:xfrm>
            <a:prstGeom prst="roundRect">
              <a:avLst>
                <a:gd name="adj" fmla="val 6481"/>
              </a:avLst>
            </a:prstGeom>
            <a:solidFill>
              <a:srgbClr val="E8EFF7"/>
            </a:solidFill>
            <a:ln w="7290">
              <a:solidFill>
                <a:srgbClr val="C4D1E1"/>
              </a:solidFill>
            </a:ln>
          </p:spPr>
        </p:sp>
        <p:sp>
          <p:nvSpPr>
            <p:cNvPr id="1250" name="Preprocessing divider refined">
              <a:extLst>
                <a:ext uri="{FF2B5EF4-FFF2-40B4-BE49-F238E27FC236}">
                  <a16:creationId xmlns:a16="http://schemas.microsoft.com/office/drawing/2014/main" id="{E21BD2F9-92DD-96F0-3AAF-0957638A49FB}"/>
                </a:ext>
              </a:extLst>
            </p:cNvPr>
            <p:cNvSpPr>
              <a:spLocks noGrp="1"/>
            </p:cNvSpPr>
            <p:nvPr/>
          </p:nvSpPr>
          <p:spPr>
            <a:xfrm>
              <a:off x="3269449" y="2418363"/>
              <a:ext cx="800100" cy="190"/>
            </a:xfrm>
            <a:custGeom>
              <a:avLst/>
              <a:gdLst/>
              <a:ahLst/>
              <a:cxnLst/>
              <a:rect l="0" t="0" r="0" b="0"/>
              <a:pathLst>
                <a:path w="800100" h="191">
                  <a:moveTo>
                    <a:pt x="0" y="0"/>
                  </a:moveTo>
                  <a:lnTo>
                    <a:pt x="800100" y="0"/>
                  </a:lnTo>
                </a:path>
              </a:pathLst>
            </a:custGeom>
            <a:noFill/>
            <a:ln w="6075">
              <a:solidFill>
                <a:srgbClr val="C4D1E1"/>
              </a:solidFill>
              <a:prstDash val="solid"/>
            </a:ln>
          </p:spPr>
        </p:sp>
        <p:sp>
          <p:nvSpPr>
            <p:cNvPr id="1251" name="Density bank refined">
              <a:extLst>
                <a:ext uri="{FF2B5EF4-FFF2-40B4-BE49-F238E27FC236}">
                  <a16:creationId xmlns:a16="http://schemas.microsoft.com/office/drawing/2014/main" id="{1E51E71A-A2BC-0776-E4CA-D30FBB1BE241}"/>
                </a:ext>
              </a:extLst>
            </p:cNvPr>
            <p:cNvSpPr>
              <a:spLocks noGrp="1"/>
            </p:cNvSpPr>
            <p:nvPr/>
          </p:nvSpPr>
          <p:spPr>
            <a:xfrm>
              <a:off x="3181873" y="760105"/>
              <a:ext cx="990599" cy="457199"/>
            </a:xfrm>
            <a:prstGeom prst="rect">
              <a:avLst/>
            </a:prstGeom>
            <a:noFill/>
            <a:ln w="7290">
              <a:noFill/>
            </a:ln>
          </p:spPr>
          <p:txBody>
            <a:bodyPr lIns="0" tIns="0" rIns="0" bIns="0" anchor="ctr"/>
            <a:lstStyle>
              <a:defPPr algn="ctr">
                <a:defRPr sz="612">
                  <a:solidFill>
                    <a:srgbClr val="1E293B"/>
                  </a:solidFill>
                  <a:latin typeface="Arial"/>
                  <a:ea typeface="Arial"/>
                  <a:cs typeface="Arial"/>
                </a:defRPr>
              </a:defPPr>
              <a:lvl1pPr algn="ctr">
                <a:defRPr sz="612">
                  <a:solidFill>
                    <a:srgbClr val="1E293B"/>
                  </a:solidFill>
                  <a:latin typeface="Arial"/>
                  <a:ea typeface="Arial"/>
                  <a:cs typeface="Arial"/>
                </a:defRPr>
              </a:lvl1pPr>
              <a:lvl2pPr algn="ctr">
                <a:defRPr sz="612">
                  <a:solidFill>
                    <a:srgbClr val="1E293B"/>
                  </a:solidFill>
                  <a:latin typeface="Arial"/>
                  <a:ea typeface="Arial"/>
                  <a:cs typeface="Arial"/>
                </a:defRPr>
              </a:lvl2pPr>
              <a:lvl3pPr algn="ctr">
                <a:defRPr sz="612">
                  <a:solidFill>
                    <a:srgbClr val="1E293B"/>
                  </a:solidFill>
                  <a:latin typeface="Arial"/>
                  <a:ea typeface="Arial"/>
                  <a:cs typeface="Arial"/>
                </a:defRPr>
              </a:lvl3pPr>
              <a:lvl4pPr algn="ctr">
                <a:defRPr sz="612">
                  <a:solidFill>
                    <a:srgbClr val="1E293B"/>
                  </a:solidFill>
                  <a:latin typeface="Arial"/>
                  <a:ea typeface="Arial"/>
                  <a:cs typeface="Arial"/>
                </a:defRPr>
              </a:lvl4pPr>
              <a:lvl5pPr algn="ctr">
                <a:defRPr sz="612">
                  <a:solidFill>
                    <a:srgbClr val="1E293B"/>
                  </a:solidFill>
                  <a:latin typeface="Arial"/>
                  <a:ea typeface="Arial"/>
                  <a:cs typeface="Arial"/>
                </a:defRPr>
              </a:lvl5pPr>
              <a:lvl6pPr algn="ctr">
                <a:defRPr sz="612">
                  <a:solidFill>
                    <a:srgbClr val="1E293B"/>
                  </a:solidFill>
                  <a:latin typeface="Arial"/>
                  <a:ea typeface="Arial"/>
                  <a:cs typeface="Arial"/>
                </a:defRPr>
              </a:lvl6pPr>
              <a:lvl7pPr algn="ctr">
                <a:defRPr sz="612">
                  <a:solidFill>
                    <a:srgbClr val="1E293B"/>
                  </a:solidFill>
                  <a:latin typeface="Arial"/>
                  <a:ea typeface="Arial"/>
                  <a:cs typeface="Arial"/>
                </a:defRPr>
              </a:lvl7pPr>
              <a:lvl8pPr algn="ctr">
                <a:defRPr sz="612">
                  <a:solidFill>
                    <a:srgbClr val="1E293B"/>
                  </a:solidFill>
                  <a:latin typeface="Arial"/>
                  <a:ea typeface="Arial"/>
                  <a:cs typeface="Arial"/>
                </a:defRPr>
              </a:lvl8pPr>
              <a:lvl9pPr algn="ctr">
                <a:defRPr sz="612">
                  <a:solidFill>
                    <a:srgbClr val="1E293B"/>
                  </a:solidFill>
                  <a:latin typeface="Arial"/>
                  <a:ea typeface="Arial"/>
                  <a:cs typeface="Arial"/>
                </a:defRPr>
              </a:lvl9pPr>
            </a:lstStyle>
            <a:p>
              <a:pPr algn="ctr">
                <a:defRPr sz="612">
                  <a:solidFill>
                    <a:srgbClr val="1E293B"/>
                  </a:solidFill>
                  <a:latin typeface="Arial"/>
                  <a:ea typeface="Arial"/>
                  <a:cs typeface="Arial"/>
                </a:defRPr>
              </a:pPr>
              <a:r>
                <a:rPr sz="550" dirty="0">
                  <a:solidFill>
                    <a:srgbClr val="1E293B"/>
                  </a:solidFill>
                  <a:latin typeface="Arial"/>
                  <a:ea typeface="Arial"/>
                  <a:cs typeface="Arial"/>
                </a:rPr>
                <a:t>Density</a:t>
              </a:r>
            </a:p>
            <a:p>
              <a:pPr algn="ctr">
                <a:defRPr sz="612">
                  <a:solidFill>
                    <a:srgbClr val="1E293B"/>
                  </a:solidFill>
                  <a:latin typeface="Arial"/>
                  <a:ea typeface="Arial"/>
                  <a:cs typeface="Arial"/>
                </a:defRPr>
              </a:pPr>
              <a:r>
                <a:rPr lang="en-US" sz="550" dirty="0">
                  <a:solidFill>
                    <a:srgbClr val="1E293B"/>
                  </a:solidFill>
                  <a:latin typeface="Arial"/>
                  <a:ea typeface="Arial"/>
                  <a:cs typeface="Arial"/>
                </a:rPr>
                <a:t>B</a:t>
              </a:r>
              <a:r>
                <a:rPr sz="550" dirty="0">
                  <a:solidFill>
                    <a:srgbClr val="1E293B"/>
                  </a:solidFill>
                  <a:latin typeface="Arial"/>
                  <a:ea typeface="Arial"/>
                  <a:cs typeface="Arial"/>
                </a:rPr>
                <a:t>ank</a:t>
              </a:r>
            </a:p>
          </p:txBody>
        </p:sp>
        <p:sp>
          <p:nvSpPr>
            <p:cNvPr id="1252" name="Embedding head refined">
              <a:extLst>
                <a:ext uri="{FF2B5EF4-FFF2-40B4-BE49-F238E27FC236}">
                  <a16:creationId xmlns:a16="http://schemas.microsoft.com/office/drawing/2014/main" id="{58C61B38-F8DB-1F98-DEE4-C9D7130E2730}"/>
                </a:ext>
              </a:extLst>
            </p:cNvPr>
            <p:cNvSpPr>
              <a:spLocks noGrp="1"/>
            </p:cNvSpPr>
            <p:nvPr/>
          </p:nvSpPr>
          <p:spPr>
            <a:xfrm>
              <a:off x="3192663" y="2542570"/>
              <a:ext cx="990599" cy="457199"/>
            </a:xfrm>
            <a:prstGeom prst="rect">
              <a:avLst/>
            </a:prstGeom>
            <a:noFill/>
            <a:ln w="7290">
              <a:noFill/>
            </a:ln>
          </p:spPr>
          <p:txBody>
            <a:bodyPr lIns="0" tIns="0" rIns="0" bIns="0" anchor="ctr"/>
            <a:lstStyle>
              <a:defPPr algn="ctr">
                <a:defRPr sz="612">
                  <a:solidFill>
                    <a:srgbClr val="1E293B"/>
                  </a:solidFill>
                  <a:latin typeface="Arial"/>
                  <a:ea typeface="Arial"/>
                  <a:cs typeface="Arial"/>
                </a:defRPr>
              </a:defPPr>
              <a:lvl1pPr algn="ctr">
                <a:defRPr sz="612">
                  <a:solidFill>
                    <a:srgbClr val="1E293B"/>
                  </a:solidFill>
                  <a:latin typeface="Arial"/>
                  <a:ea typeface="Arial"/>
                  <a:cs typeface="Arial"/>
                </a:defRPr>
              </a:lvl1pPr>
              <a:lvl2pPr algn="ctr">
                <a:defRPr sz="612">
                  <a:solidFill>
                    <a:srgbClr val="1E293B"/>
                  </a:solidFill>
                  <a:latin typeface="Arial"/>
                  <a:ea typeface="Arial"/>
                  <a:cs typeface="Arial"/>
                </a:defRPr>
              </a:lvl2pPr>
              <a:lvl3pPr algn="ctr">
                <a:defRPr sz="612">
                  <a:solidFill>
                    <a:srgbClr val="1E293B"/>
                  </a:solidFill>
                  <a:latin typeface="Arial"/>
                  <a:ea typeface="Arial"/>
                  <a:cs typeface="Arial"/>
                </a:defRPr>
              </a:lvl3pPr>
              <a:lvl4pPr algn="ctr">
                <a:defRPr sz="612">
                  <a:solidFill>
                    <a:srgbClr val="1E293B"/>
                  </a:solidFill>
                  <a:latin typeface="Arial"/>
                  <a:ea typeface="Arial"/>
                  <a:cs typeface="Arial"/>
                </a:defRPr>
              </a:lvl4pPr>
              <a:lvl5pPr algn="ctr">
                <a:defRPr sz="612">
                  <a:solidFill>
                    <a:srgbClr val="1E293B"/>
                  </a:solidFill>
                  <a:latin typeface="Arial"/>
                  <a:ea typeface="Arial"/>
                  <a:cs typeface="Arial"/>
                </a:defRPr>
              </a:lvl5pPr>
              <a:lvl6pPr algn="ctr">
                <a:defRPr sz="612">
                  <a:solidFill>
                    <a:srgbClr val="1E293B"/>
                  </a:solidFill>
                  <a:latin typeface="Arial"/>
                  <a:ea typeface="Arial"/>
                  <a:cs typeface="Arial"/>
                </a:defRPr>
              </a:lvl6pPr>
              <a:lvl7pPr algn="ctr">
                <a:defRPr sz="612">
                  <a:solidFill>
                    <a:srgbClr val="1E293B"/>
                  </a:solidFill>
                  <a:latin typeface="Arial"/>
                  <a:ea typeface="Arial"/>
                  <a:cs typeface="Arial"/>
                </a:defRPr>
              </a:lvl7pPr>
              <a:lvl8pPr algn="ctr">
                <a:defRPr sz="612">
                  <a:solidFill>
                    <a:srgbClr val="1E293B"/>
                  </a:solidFill>
                  <a:latin typeface="Arial"/>
                  <a:ea typeface="Arial"/>
                  <a:cs typeface="Arial"/>
                </a:defRPr>
              </a:lvl8pPr>
              <a:lvl9pPr algn="ctr">
                <a:defRPr sz="612">
                  <a:solidFill>
                    <a:srgbClr val="1E293B"/>
                  </a:solidFill>
                  <a:latin typeface="Arial"/>
                  <a:ea typeface="Arial"/>
                  <a:cs typeface="Arial"/>
                </a:defRPr>
              </a:lvl9pPr>
            </a:lstStyle>
            <a:p>
              <a:pPr algn="ctr">
                <a:defRPr sz="612">
                  <a:solidFill>
                    <a:srgbClr val="1E293B"/>
                  </a:solidFill>
                  <a:latin typeface="Arial"/>
                  <a:ea typeface="Arial"/>
                  <a:cs typeface="Arial"/>
                </a:defRPr>
              </a:pPr>
              <a:r>
                <a:rPr lang="en-US" sz="550" dirty="0">
                  <a:solidFill>
                    <a:srgbClr val="1E293B"/>
                  </a:solidFill>
                  <a:latin typeface="Arial"/>
                  <a:ea typeface="Arial"/>
                  <a:cs typeface="Arial"/>
                </a:rPr>
                <a:t>Atom embeddings</a:t>
              </a:r>
              <a:endParaRPr sz="550" dirty="0">
                <a:solidFill>
                  <a:srgbClr val="1E293B"/>
                </a:solidFill>
                <a:latin typeface="Arial"/>
                <a:ea typeface="Arial"/>
                <a:cs typeface="Arial"/>
              </a:endParaRPr>
            </a:p>
          </p:txBody>
        </p:sp>
        <p:sp>
          <p:nvSpPr>
            <p:cNvPr id="1253" name="Find matrix 0-0">
              <a:extLst>
                <a:ext uri="{FF2B5EF4-FFF2-40B4-BE49-F238E27FC236}">
                  <a16:creationId xmlns:a16="http://schemas.microsoft.com/office/drawing/2014/main" id="{BBF0C328-3AF9-A068-FA92-FBF890856A66}"/>
                </a:ext>
              </a:extLst>
            </p:cNvPr>
            <p:cNvSpPr>
              <a:spLocks noGrp="1"/>
            </p:cNvSpPr>
            <p:nvPr/>
          </p:nvSpPr>
          <p:spPr>
            <a:xfrm>
              <a:off x="10325612" y="3200400"/>
              <a:ext cx="91559" cy="70009"/>
            </a:xfrm>
            <a:prstGeom prst="rect">
              <a:avLst/>
            </a:prstGeom>
            <a:solidFill>
              <a:srgbClr val="3E8F9A"/>
            </a:solidFill>
            <a:ln w="7290">
              <a:noFill/>
            </a:ln>
          </p:spPr>
        </p:sp>
        <p:sp>
          <p:nvSpPr>
            <p:cNvPr id="1254" name="Find matrix 0-1">
              <a:extLst>
                <a:ext uri="{FF2B5EF4-FFF2-40B4-BE49-F238E27FC236}">
                  <a16:creationId xmlns:a16="http://schemas.microsoft.com/office/drawing/2014/main" id="{3474DD36-B24E-DC42-848D-72CE3DEC2274}"/>
                </a:ext>
              </a:extLst>
            </p:cNvPr>
            <p:cNvSpPr>
              <a:spLocks noGrp="1"/>
            </p:cNvSpPr>
            <p:nvPr/>
          </p:nvSpPr>
          <p:spPr>
            <a:xfrm>
              <a:off x="10421457" y="3200400"/>
              <a:ext cx="91559" cy="70009"/>
            </a:xfrm>
            <a:prstGeom prst="rect">
              <a:avLst/>
            </a:prstGeom>
            <a:solidFill>
              <a:srgbClr val="5B9FB6"/>
            </a:solidFill>
            <a:ln w="7290">
              <a:noFill/>
            </a:ln>
          </p:spPr>
        </p:sp>
        <p:sp>
          <p:nvSpPr>
            <p:cNvPr id="1255" name="Find matrix 0-2">
              <a:extLst>
                <a:ext uri="{FF2B5EF4-FFF2-40B4-BE49-F238E27FC236}">
                  <a16:creationId xmlns:a16="http://schemas.microsoft.com/office/drawing/2014/main" id="{F807BDD1-EE13-F00C-2E77-C8910F6ACC73}"/>
                </a:ext>
              </a:extLst>
            </p:cNvPr>
            <p:cNvSpPr>
              <a:spLocks noGrp="1"/>
            </p:cNvSpPr>
            <p:nvPr/>
          </p:nvSpPr>
          <p:spPr>
            <a:xfrm>
              <a:off x="10517302" y="3200400"/>
              <a:ext cx="91559" cy="70009"/>
            </a:xfrm>
            <a:prstGeom prst="rect">
              <a:avLst/>
            </a:prstGeom>
            <a:solidFill>
              <a:srgbClr val="A3CDDA"/>
            </a:solidFill>
            <a:ln w="7290">
              <a:noFill/>
            </a:ln>
          </p:spPr>
        </p:sp>
        <p:sp>
          <p:nvSpPr>
            <p:cNvPr id="1256" name="Find matrix 0-3">
              <a:extLst>
                <a:ext uri="{FF2B5EF4-FFF2-40B4-BE49-F238E27FC236}">
                  <a16:creationId xmlns:a16="http://schemas.microsoft.com/office/drawing/2014/main" id="{DB1A890F-778A-35C9-7AE1-C0AE618D52CF}"/>
                </a:ext>
              </a:extLst>
            </p:cNvPr>
            <p:cNvSpPr>
              <a:spLocks noGrp="1"/>
            </p:cNvSpPr>
            <p:nvPr/>
          </p:nvSpPr>
          <p:spPr>
            <a:xfrm>
              <a:off x="10613147" y="3200400"/>
              <a:ext cx="91559" cy="70009"/>
            </a:xfrm>
            <a:prstGeom prst="rect">
              <a:avLst/>
            </a:prstGeom>
            <a:solidFill>
              <a:srgbClr val="88BEC3"/>
            </a:solidFill>
            <a:ln w="7290">
              <a:noFill/>
            </a:ln>
          </p:spPr>
        </p:sp>
        <p:sp>
          <p:nvSpPr>
            <p:cNvPr id="1257" name="Find matrix 0-4">
              <a:extLst>
                <a:ext uri="{FF2B5EF4-FFF2-40B4-BE49-F238E27FC236}">
                  <a16:creationId xmlns:a16="http://schemas.microsoft.com/office/drawing/2014/main" id="{B445D6B3-6FC7-4615-5975-85730846D82F}"/>
                </a:ext>
              </a:extLst>
            </p:cNvPr>
            <p:cNvSpPr>
              <a:spLocks noGrp="1"/>
            </p:cNvSpPr>
            <p:nvPr/>
          </p:nvSpPr>
          <p:spPr>
            <a:xfrm>
              <a:off x="10708993" y="3200400"/>
              <a:ext cx="91559" cy="70009"/>
            </a:xfrm>
            <a:prstGeom prst="rect">
              <a:avLst/>
            </a:prstGeom>
            <a:solidFill>
              <a:srgbClr val="67AD9F"/>
            </a:solidFill>
            <a:ln w="7290">
              <a:noFill/>
            </a:ln>
          </p:spPr>
        </p:sp>
        <p:sp>
          <p:nvSpPr>
            <p:cNvPr id="1258" name="Find matrix 0-5">
              <a:extLst>
                <a:ext uri="{FF2B5EF4-FFF2-40B4-BE49-F238E27FC236}">
                  <a16:creationId xmlns:a16="http://schemas.microsoft.com/office/drawing/2014/main" id="{EDF77049-6933-CA1B-21BD-2D261FB460F5}"/>
                </a:ext>
              </a:extLst>
            </p:cNvPr>
            <p:cNvSpPr>
              <a:spLocks noGrp="1"/>
            </p:cNvSpPr>
            <p:nvPr/>
          </p:nvSpPr>
          <p:spPr>
            <a:xfrm>
              <a:off x="10804838" y="3200400"/>
              <a:ext cx="91559" cy="70009"/>
            </a:xfrm>
            <a:prstGeom prst="rect">
              <a:avLst/>
            </a:prstGeom>
            <a:solidFill>
              <a:srgbClr val="C4DDE0"/>
            </a:solidFill>
            <a:ln w="7290">
              <a:noFill/>
            </a:ln>
          </p:spPr>
        </p:sp>
        <p:sp>
          <p:nvSpPr>
            <p:cNvPr id="1259" name="Find matrix 0-6">
              <a:extLst>
                <a:ext uri="{FF2B5EF4-FFF2-40B4-BE49-F238E27FC236}">
                  <a16:creationId xmlns:a16="http://schemas.microsoft.com/office/drawing/2014/main" id="{F24780FB-09E3-AE39-557B-018C817CABA7}"/>
                </a:ext>
              </a:extLst>
            </p:cNvPr>
            <p:cNvSpPr>
              <a:spLocks noGrp="1"/>
            </p:cNvSpPr>
            <p:nvPr/>
          </p:nvSpPr>
          <p:spPr>
            <a:xfrm>
              <a:off x="10900683" y="3200400"/>
              <a:ext cx="91559" cy="70009"/>
            </a:xfrm>
            <a:prstGeom prst="rect">
              <a:avLst/>
            </a:prstGeom>
            <a:solidFill>
              <a:srgbClr val="B6D8CC"/>
            </a:solidFill>
            <a:ln w="7290">
              <a:noFill/>
            </a:ln>
          </p:spPr>
        </p:sp>
        <p:sp>
          <p:nvSpPr>
            <p:cNvPr id="1260" name="Find matrix 0-7">
              <a:extLst>
                <a:ext uri="{FF2B5EF4-FFF2-40B4-BE49-F238E27FC236}">
                  <a16:creationId xmlns:a16="http://schemas.microsoft.com/office/drawing/2014/main" id="{69791062-44B8-8426-AAD4-DD68B1FF31BA}"/>
                </a:ext>
              </a:extLst>
            </p:cNvPr>
            <p:cNvSpPr>
              <a:spLocks noGrp="1"/>
            </p:cNvSpPr>
            <p:nvPr/>
          </p:nvSpPr>
          <p:spPr>
            <a:xfrm>
              <a:off x="10996529" y="3200400"/>
              <a:ext cx="91559" cy="70009"/>
            </a:xfrm>
            <a:prstGeom prst="rect">
              <a:avLst/>
            </a:prstGeom>
            <a:solidFill>
              <a:srgbClr val="D6E5ED"/>
            </a:solidFill>
            <a:ln w="7290">
              <a:noFill/>
            </a:ln>
          </p:spPr>
        </p:sp>
        <p:sp>
          <p:nvSpPr>
            <p:cNvPr id="1261" name="Find matrix 1-0">
              <a:extLst>
                <a:ext uri="{FF2B5EF4-FFF2-40B4-BE49-F238E27FC236}">
                  <a16:creationId xmlns:a16="http://schemas.microsoft.com/office/drawing/2014/main" id="{DAD773D5-9108-C0B7-81D5-AC1CF98B49B0}"/>
                </a:ext>
              </a:extLst>
            </p:cNvPr>
            <p:cNvSpPr>
              <a:spLocks noGrp="1"/>
            </p:cNvSpPr>
            <p:nvPr/>
          </p:nvSpPr>
          <p:spPr>
            <a:xfrm>
              <a:off x="10325612" y="3274695"/>
              <a:ext cx="91559" cy="70009"/>
            </a:xfrm>
            <a:prstGeom prst="rect">
              <a:avLst/>
            </a:prstGeom>
            <a:solidFill>
              <a:srgbClr val="A3CDDA"/>
            </a:solidFill>
            <a:ln w="7290">
              <a:noFill/>
            </a:ln>
          </p:spPr>
        </p:sp>
        <p:sp>
          <p:nvSpPr>
            <p:cNvPr id="1262" name="Find matrix 1-1">
              <a:extLst>
                <a:ext uri="{FF2B5EF4-FFF2-40B4-BE49-F238E27FC236}">
                  <a16:creationId xmlns:a16="http://schemas.microsoft.com/office/drawing/2014/main" id="{FD6D65E0-3CD4-81C9-A7EC-EE4D1EA03DA1}"/>
                </a:ext>
              </a:extLst>
            </p:cNvPr>
            <p:cNvSpPr>
              <a:spLocks noGrp="1"/>
            </p:cNvSpPr>
            <p:nvPr/>
          </p:nvSpPr>
          <p:spPr>
            <a:xfrm>
              <a:off x="10421457" y="3274695"/>
              <a:ext cx="91559" cy="70009"/>
            </a:xfrm>
            <a:prstGeom prst="rect">
              <a:avLst/>
            </a:prstGeom>
            <a:solidFill>
              <a:srgbClr val="B6D8CC"/>
            </a:solidFill>
            <a:ln w="7290">
              <a:noFill/>
            </a:ln>
          </p:spPr>
        </p:sp>
        <p:sp>
          <p:nvSpPr>
            <p:cNvPr id="1263" name="Find matrix 1-2">
              <a:extLst>
                <a:ext uri="{FF2B5EF4-FFF2-40B4-BE49-F238E27FC236}">
                  <a16:creationId xmlns:a16="http://schemas.microsoft.com/office/drawing/2014/main" id="{C06E5EF8-D1B9-1DB5-4010-25CDECE16DF3}"/>
                </a:ext>
              </a:extLst>
            </p:cNvPr>
            <p:cNvSpPr>
              <a:spLocks noGrp="1"/>
            </p:cNvSpPr>
            <p:nvPr/>
          </p:nvSpPr>
          <p:spPr>
            <a:xfrm>
              <a:off x="10517302" y="3274695"/>
              <a:ext cx="91559" cy="70009"/>
            </a:xfrm>
            <a:prstGeom prst="rect">
              <a:avLst/>
            </a:prstGeom>
            <a:solidFill>
              <a:srgbClr val="88BEC3"/>
            </a:solidFill>
            <a:ln w="7290">
              <a:noFill/>
            </a:ln>
          </p:spPr>
        </p:sp>
        <p:sp>
          <p:nvSpPr>
            <p:cNvPr id="1264" name="Find matrix 1-3">
              <a:extLst>
                <a:ext uri="{FF2B5EF4-FFF2-40B4-BE49-F238E27FC236}">
                  <a16:creationId xmlns:a16="http://schemas.microsoft.com/office/drawing/2014/main" id="{9AD5706A-D366-481E-242D-C3727EE68292}"/>
                </a:ext>
              </a:extLst>
            </p:cNvPr>
            <p:cNvSpPr>
              <a:spLocks noGrp="1"/>
            </p:cNvSpPr>
            <p:nvPr/>
          </p:nvSpPr>
          <p:spPr>
            <a:xfrm>
              <a:off x="10613147" y="3274695"/>
              <a:ext cx="91559" cy="70009"/>
            </a:xfrm>
            <a:prstGeom prst="rect">
              <a:avLst/>
            </a:prstGeom>
            <a:solidFill>
              <a:srgbClr val="D6E5ED"/>
            </a:solidFill>
            <a:ln w="7290">
              <a:noFill/>
            </a:ln>
          </p:spPr>
        </p:sp>
        <p:sp>
          <p:nvSpPr>
            <p:cNvPr id="1265" name="Find matrix 1-4">
              <a:extLst>
                <a:ext uri="{FF2B5EF4-FFF2-40B4-BE49-F238E27FC236}">
                  <a16:creationId xmlns:a16="http://schemas.microsoft.com/office/drawing/2014/main" id="{6454B603-2435-1F3E-EFE1-9F3ED69FE183}"/>
                </a:ext>
              </a:extLst>
            </p:cNvPr>
            <p:cNvSpPr>
              <a:spLocks noGrp="1"/>
            </p:cNvSpPr>
            <p:nvPr/>
          </p:nvSpPr>
          <p:spPr>
            <a:xfrm>
              <a:off x="10708993" y="3274695"/>
              <a:ext cx="91559" cy="70009"/>
            </a:xfrm>
            <a:prstGeom prst="rect">
              <a:avLst/>
            </a:prstGeom>
            <a:solidFill>
              <a:srgbClr val="5B9FB6"/>
            </a:solidFill>
            <a:ln w="7290">
              <a:noFill/>
            </a:ln>
          </p:spPr>
        </p:sp>
        <p:sp>
          <p:nvSpPr>
            <p:cNvPr id="1266" name="Find matrix 1-5">
              <a:extLst>
                <a:ext uri="{FF2B5EF4-FFF2-40B4-BE49-F238E27FC236}">
                  <a16:creationId xmlns:a16="http://schemas.microsoft.com/office/drawing/2014/main" id="{BDC3058F-5BB6-EF0A-C0E4-8FFF478A86C2}"/>
                </a:ext>
              </a:extLst>
            </p:cNvPr>
            <p:cNvSpPr>
              <a:spLocks noGrp="1"/>
            </p:cNvSpPr>
            <p:nvPr/>
          </p:nvSpPr>
          <p:spPr>
            <a:xfrm>
              <a:off x="10804838" y="3274695"/>
              <a:ext cx="91559" cy="70009"/>
            </a:xfrm>
            <a:prstGeom prst="rect">
              <a:avLst/>
            </a:prstGeom>
            <a:solidFill>
              <a:srgbClr val="3E8F9A"/>
            </a:solidFill>
            <a:ln w="7290">
              <a:noFill/>
            </a:ln>
          </p:spPr>
        </p:sp>
        <p:sp>
          <p:nvSpPr>
            <p:cNvPr id="1267" name="Find matrix 1-6">
              <a:extLst>
                <a:ext uri="{FF2B5EF4-FFF2-40B4-BE49-F238E27FC236}">
                  <a16:creationId xmlns:a16="http://schemas.microsoft.com/office/drawing/2014/main" id="{7A6FD57F-2D4A-E860-6015-70841E18A307}"/>
                </a:ext>
              </a:extLst>
            </p:cNvPr>
            <p:cNvSpPr>
              <a:spLocks noGrp="1"/>
            </p:cNvSpPr>
            <p:nvPr/>
          </p:nvSpPr>
          <p:spPr>
            <a:xfrm>
              <a:off x="10900683" y="3274695"/>
              <a:ext cx="91559" cy="70009"/>
            </a:xfrm>
            <a:prstGeom prst="rect">
              <a:avLst/>
            </a:prstGeom>
            <a:solidFill>
              <a:srgbClr val="C4DDE0"/>
            </a:solidFill>
            <a:ln w="7290">
              <a:noFill/>
            </a:ln>
          </p:spPr>
        </p:sp>
        <p:sp>
          <p:nvSpPr>
            <p:cNvPr id="1268" name="Find matrix 1-7">
              <a:extLst>
                <a:ext uri="{FF2B5EF4-FFF2-40B4-BE49-F238E27FC236}">
                  <a16:creationId xmlns:a16="http://schemas.microsoft.com/office/drawing/2014/main" id="{289EF4F7-DDB6-5545-39F7-5D1B3F86D2D3}"/>
                </a:ext>
              </a:extLst>
            </p:cNvPr>
            <p:cNvSpPr>
              <a:spLocks noGrp="1"/>
            </p:cNvSpPr>
            <p:nvPr/>
          </p:nvSpPr>
          <p:spPr>
            <a:xfrm>
              <a:off x="10996529" y="3274695"/>
              <a:ext cx="91559" cy="70009"/>
            </a:xfrm>
            <a:prstGeom prst="rect">
              <a:avLst/>
            </a:prstGeom>
            <a:solidFill>
              <a:srgbClr val="67AD9F"/>
            </a:solidFill>
            <a:ln w="7290">
              <a:noFill/>
            </a:ln>
          </p:spPr>
        </p:sp>
        <p:sp>
          <p:nvSpPr>
            <p:cNvPr id="1269" name="Find matrix 2-0">
              <a:extLst>
                <a:ext uri="{FF2B5EF4-FFF2-40B4-BE49-F238E27FC236}">
                  <a16:creationId xmlns:a16="http://schemas.microsoft.com/office/drawing/2014/main" id="{B1282592-D5D6-9C68-2D42-3D2A0FA6458C}"/>
                </a:ext>
              </a:extLst>
            </p:cNvPr>
            <p:cNvSpPr>
              <a:spLocks noGrp="1"/>
            </p:cNvSpPr>
            <p:nvPr/>
          </p:nvSpPr>
          <p:spPr>
            <a:xfrm>
              <a:off x="10325612" y="3348990"/>
              <a:ext cx="91559" cy="70009"/>
            </a:xfrm>
            <a:prstGeom prst="rect">
              <a:avLst/>
            </a:prstGeom>
            <a:solidFill>
              <a:srgbClr val="67AD9F"/>
            </a:solidFill>
            <a:ln w="7290">
              <a:noFill/>
            </a:ln>
          </p:spPr>
        </p:sp>
        <p:sp>
          <p:nvSpPr>
            <p:cNvPr id="1270" name="Find matrix 2-1">
              <a:extLst>
                <a:ext uri="{FF2B5EF4-FFF2-40B4-BE49-F238E27FC236}">
                  <a16:creationId xmlns:a16="http://schemas.microsoft.com/office/drawing/2014/main" id="{390A8337-4744-F454-87FF-4E9BDE799C1D}"/>
                </a:ext>
              </a:extLst>
            </p:cNvPr>
            <p:cNvSpPr>
              <a:spLocks noGrp="1"/>
            </p:cNvSpPr>
            <p:nvPr/>
          </p:nvSpPr>
          <p:spPr>
            <a:xfrm>
              <a:off x="10421457" y="3348990"/>
              <a:ext cx="91559" cy="70009"/>
            </a:xfrm>
            <a:prstGeom prst="rect">
              <a:avLst/>
            </a:prstGeom>
            <a:solidFill>
              <a:srgbClr val="C4DDE0"/>
            </a:solidFill>
            <a:ln w="7290">
              <a:noFill/>
            </a:ln>
          </p:spPr>
        </p:sp>
        <p:sp>
          <p:nvSpPr>
            <p:cNvPr id="1271" name="Find matrix 2-2">
              <a:extLst>
                <a:ext uri="{FF2B5EF4-FFF2-40B4-BE49-F238E27FC236}">
                  <a16:creationId xmlns:a16="http://schemas.microsoft.com/office/drawing/2014/main" id="{F2F7291B-E14D-7E55-CC39-0366DDE36AB6}"/>
                </a:ext>
              </a:extLst>
            </p:cNvPr>
            <p:cNvSpPr>
              <a:spLocks noGrp="1"/>
            </p:cNvSpPr>
            <p:nvPr/>
          </p:nvSpPr>
          <p:spPr>
            <a:xfrm>
              <a:off x="10517302" y="3348990"/>
              <a:ext cx="91559" cy="70009"/>
            </a:xfrm>
            <a:prstGeom prst="rect">
              <a:avLst/>
            </a:prstGeom>
            <a:solidFill>
              <a:srgbClr val="5B9FB6"/>
            </a:solidFill>
            <a:ln w="7290">
              <a:noFill/>
            </a:ln>
          </p:spPr>
        </p:sp>
        <p:sp>
          <p:nvSpPr>
            <p:cNvPr id="1272" name="Find matrix 2-3">
              <a:extLst>
                <a:ext uri="{FF2B5EF4-FFF2-40B4-BE49-F238E27FC236}">
                  <a16:creationId xmlns:a16="http://schemas.microsoft.com/office/drawing/2014/main" id="{7DDB5DDB-AA90-B36F-ECCA-B3D87BDEF49C}"/>
                </a:ext>
              </a:extLst>
            </p:cNvPr>
            <p:cNvSpPr>
              <a:spLocks noGrp="1"/>
            </p:cNvSpPr>
            <p:nvPr/>
          </p:nvSpPr>
          <p:spPr>
            <a:xfrm>
              <a:off x="10613147" y="3348990"/>
              <a:ext cx="91559" cy="70009"/>
            </a:xfrm>
            <a:prstGeom prst="rect">
              <a:avLst/>
            </a:prstGeom>
            <a:solidFill>
              <a:srgbClr val="B6D8CC"/>
            </a:solidFill>
            <a:ln w="7290">
              <a:noFill/>
            </a:ln>
          </p:spPr>
        </p:sp>
        <p:sp>
          <p:nvSpPr>
            <p:cNvPr id="1273" name="Find matrix 2-4">
              <a:extLst>
                <a:ext uri="{FF2B5EF4-FFF2-40B4-BE49-F238E27FC236}">
                  <a16:creationId xmlns:a16="http://schemas.microsoft.com/office/drawing/2014/main" id="{FBF483EB-0895-E2F9-E946-2CE7B0273010}"/>
                </a:ext>
              </a:extLst>
            </p:cNvPr>
            <p:cNvSpPr>
              <a:spLocks noGrp="1"/>
            </p:cNvSpPr>
            <p:nvPr/>
          </p:nvSpPr>
          <p:spPr>
            <a:xfrm>
              <a:off x="10708993" y="3348990"/>
              <a:ext cx="91559" cy="70009"/>
            </a:xfrm>
            <a:prstGeom prst="rect">
              <a:avLst/>
            </a:prstGeom>
            <a:solidFill>
              <a:srgbClr val="3E8F9A"/>
            </a:solidFill>
            <a:ln w="7290">
              <a:noFill/>
            </a:ln>
          </p:spPr>
        </p:sp>
        <p:sp>
          <p:nvSpPr>
            <p:cNvPr id="1274" name="Find matrix 2-5">
              <a:extLst>
                <a:ext uri="{FF2B5EF4-FFF2-40B4-BE49-F238E27FC236}">
                  <a16:creationId xmlns:a16="http://schemas.microsoft.com/office/drawing/2014/main" id="{235264C0-29EF-D9B8-F0D1-9BEBBAD9D6E8}"/>
                </a:ext>
              </a:extLst>
            </p:cNvPr>
            <p:cNvSpPr>
              <a:spLocks noGrp="1"/>
            </p:cNvSpPr>
            <p:nvPr/>
          </p:nvSpPr>
          <p:spPr>
            <a:xfrm>
              <a:off x="10804838" y="3348990"/>
              <a:ext cx="91559" cy="70009"/>
            </a:xfrm>
            <a:prstGeom prst="rect">
              <a:avLst/>
            </a:prstGeom>
            <a:solidFill>
              <a:srgbClr val="D6E5ED"/>
            </a:solidFill>
            <a:ln w="7290">
              <a:noFill/>
            </a:ln>
          </p:spPr>
        </p:sp>
        <p:sp>
          <p:nvSpPr>
            <p:cNvPr id="1275" name="Find matrix 2-6">
              <a:extLst>
                <a:ext uri="{FF2B5EF4-FFF2-40B4-BE49-F238E27FC236}">
                  <a16:creationId xmlns:a16="http://schemas.microsoft.com/office/drawing/2014/main" id="{89BB4142-622C-474C-899B-E7C760EA5054}"/>
                </a:ext>
              </a:extLst>
            </p:cNvPr>
            <p:cNvSpPr>
              <a:spLocks noGrp="1"/>
            </p:cNvSpPr>
            <p:nvPr/>
          </p:nvSpPr>
          <p:spPr>
            <a:xfrm>
              <a:off x="10900683" y="3348990"/>
              <a:ext cx="91559" cy="70009"/>
            </a:xfrm>
            <a:prstGeom prst="rect">
              <a:avLst/>
            </a:prstGeom>
            <a:solidFill>
              <a:srgbClr val="88BEC3"/>
            </a:solidFill>
            <a:ln w="7290">
              <a:noFill/>
            </a:ln>
          </p:spPr>
        </p:sp>
        <p:sp>
          <p:nvSpPr>
            <p:cNvPr id="1276" name="Find matrix 2-7">
              <a:extLst>
                <a:ext uri="{FF2B5EF4-FFF2-40B4-BE49-F238E27FC236}">
                  <a16:creationId xmlns:a16="http://schemas.microsoft.com/office/drawing/2014/main" id="{6D2284D9-4AE6-02DD-AA99-C88ED825A8F4}"/>
                </a:ext>
              </a:extLst>
            </p:cNvPr>
            <p:cNvSpPr>
              <a:spLocks noGrp="1"/>
            </p:cNvSpPr>
            <p:nvPr/>
          </p:nvSpPr>
          <p:spPr>
            <a:xfrm>
              <a:off x="10996529" y="3348990"/>
              <a:ext cx="91559" cy="70009"/>
            </a:xfrm>
            <a:prstGeom prst="rect">
              <a:avLst/>
            </a:prstGeom>
            <a:solidFill>
              <a:srgbClr val="A3CDDA"/>
            </a:solidFill>
            <a:ln w="7290">
              <a:noFill/>
            </a:ln>
          </p:spPr>
        </p:sp>
        <p:sp>
          <p:nvSpPr>
            <p:cNvPr id="1277" name="Find matrix 3-0">
              <a:extLst>
                <a:ext uri="{FF2B5EF4-FFF2-40B4-BE49-F238E27FC236}">
                  <a16:creationId xmlns:a16="http://schemas.microsoft.com/office/drawing/2014/main" id="{A354350A-00E7-4344-FF84-5BBF2165CEDA}"/>
                </a:ext>
              </a:extLst>
            </p:cNvPr>
            <p:cNvSpPr>
              <a:spLocks noGrp="1"/>
            </p:cNvSpPr>
            <p:nvPr/>
          </p:nvSpPr>
          <p:spPr>
            <a:xfrm>
              <a:off x="10325612" y="3423285"/>
              <a:ext cx="91559" cy="70009"/>
            </a:xfrm>
            <a:prstGeom prst="rect">
              <a:avLst/>
            </a:prstGeom>
            <a:solidFill>
              <a:srgbClr val="88BEC3"/>
            </a:solidFill>
            <a:ln w="7290">
              <a:noFill/>
            </a:ln>
          </p:spPr>
        </p:sp>
        <p:sp>
          <p:nvSpPr>
            <p:cNvPr id="1278" name="Find matrix 3-1">
              <a:extLst>
                <a:ext uri="{FF2B5EF4-FFF2-40B4-BE49-F238E27FC236}">
                  <a16:creationId xmlns:a16="http://schemas.microsoft.com/office/drawing/2014/main" id="{E2EDFAC2-C5CD-2DF8-165C-4DBC9D98B449}"/>
                </a:ext>
              </a:extLst>
            </p:cNvPr>
            <p:cNvSpPr>
              <a:spLocks noGrp="1"/>
            </p:cNvSpPr>
            <p:nvPr/>
          </p:nvSpPr>
          <p:spPr>
            <a:xfrm>
              <a:off x="10421457" y="3423285"/>
              <a:ext cx="91559" cy="70009"/>
            </a:xfrm>
            <a:prstGeom prst="rect">
              <a:avLst/>
            </a:prstGeom>
            <a:solidFill>
              <a:srgbClr val="D6E5ED"/>
            </a:solidFill>
            <a:ln w="7290">
              <a:noFill/>
            </a:ln>
          </p:spPr>
        </p:sp>
        <p:sp>
          <p:nvSpPr>
            <p:cNvPr id="1279" name="Find matrix 3-2">
              <a:extLst>
                <a:ext uri="{FF2B5EF4-FFF2-40B4-BE49-F238E27FC236}">
                  <a16:creationId xmlns:a16="http://schemas.microsoft.com/office/drawing/2014/main" id="{4D088869-EB59-E1B3-59B4-C3C92C8170BA}"/>
                </a:ext>
              </a:extLst>
            </p:cNvPr>
            <p:cNvSpPr>
              <a:spLocks noGrp="1"/>
            </p:cNvSpPr>
            <p:nvPr/>
          </p:nvSpPr>
          <p:spPr>
            <a:xfrm>
              <a:off x="10517302" y="3423285"/>
              <a:ext cx="91559" cy="70009"/>
            </a:xfrm>
            <a:prstGeom prst="rect">
              <a:avLst/>
            </a:prstGeom>
            <a:solidFill>
              <a:srgbClr val="67AD9F"/>
            </a:solidFill>
            <a:ln w="7290">
              <a:noFill/>
            </a:ln>
          </p:spPr>
        </p:sp>
        <p:sp>
          <p:nvSpPr>
            <p:cNvPr id="1280" name="Find matrix 3-3">
              <a:extLst>
                <a:ext uri="{FF2B5EF4-FFF2-40B4-BE49-F238E27FC236}">
                  <a16:creationId xmlns:a16="http://schemas.microsoft.com/office/drawing/2014/main" id="{119CBCB9-6860-7DCC-AF73-C422647EEF23}"/>
                </a:ext>
              </a:extLst>
            </p:cNvPr>
            <p:cNvSpPr>
              <a:spLocks noGrp="1"/>
            </p:cNvSpPr>
            <p:nvPr/>
          </p:nvSpPr>
          <p:spPr>
            <a:xfrm>
              <a:off x="10613147" y="3423285"/>
              <a:ext cx="91559" cy="70009"/>
            </a:xfrm>
            <a:prstGeom prst="rect">
              <a:avLst/>
            </a:prstGeom>
            <a:solidFill>
              <a:srgbClr val="3E8F9A"/>
            </a:solidFill>
            <a:ln w="7290">
              <a:noFill/>
            </a:ln>
          </p:spPr>
        </p:sp>
        <p:sp>
          <p:nvSpPr>
            <p:cNvPr id="1281" name="Find matrix 3-4">
              <a:extLst>
                <a:ext uri="{FF2B5EF4-FFF2-40B4-BE49-F238E27FC236}">
                  <a16:creationId xmlns:a16="http://schemas.microsoft.com/office/drawing/2014/main" id="{F0ED964A-EDEB-7D43-69F8-BEFE576D1277}"/>
                </a:ext>
              </a:extLst>
            </p:cNvPr>
            <p:cNvSpPr>
              <a:spLocks noGrp="1"/>
            </p:cNvSpPr>
            <p:nvPr/>
          </p:nvSpPr>
          <p:spPr>
            <a:xfrm>
              <a:off x="10708993" y="3423285"/>
              <a:ext cx="91559" cy="70009"/>
            </a:xfrm>
            <a:prstGeom prst="rect">
              <a:avLst/>
            </a:prstGeom>
            <a:solidFill>
              <a:srgbClr val="C4DDE0"/>
            </a:solidFill>
            <a:ln w="7290">
              <a:noFill/>
            </a:ln>
          </p:spPr>
        </p:sp>
        <p:sp>
          <p:nvSpPr>
            <p:cNvPr id="1282" name="Find matrix 3-5">
              <a:extLst>
                <a:ext uri="{FF2B5EF4-FFF2-40B4-BE49-F238E27FC236}">
                  <a16:creationId xmlns:a16="http://schemas.microsoft.com/office/drawing/2014/main" id="{A0A2A64A-E67D-3395-0409-F2703179F7EC}"/>
                </a:ext>
              </a:extLst>
            </p:cNvPr>
            <p:cNvSpPr>
              <a:spLocks noGrp="1"/>
            </p:cNvSpPr>
            <p:nvPr/>
          </p:nvSpPr>
          <p:spPr>
            <a:xfrm>
              <a:off x="10804838" y="3423285"/>
              <a:ext cx="91559" cy="70009"/>
            </a:xfrm>
            <a:prstGeom prst="rect">
              <a:avLst/>
            </a:prstGeom>
            <a:solidFill>
              <a:srgbClr val="A3CDDA"/>
            </a:solidFill>
            <a:ln w="7290">
              <a:noFill/>
            </a:ln>
          </p:spPr>
        </p:sp>
        <p:sp>
          <p:nvSpPr>
            <p:cNvPr id="1283" name="Find matrix 3-6">
              <a:extLst>
                <a:ext uri="{FF2B5EF4-FFF2-40B4-BE49-F238E27FC236}">
                  <a16:creationId xmlns:a16="http://schemas.microsoft.com/office/drawing/2014/main" id="{EA7CE8E7-C1AC-E261-A970-8EC80886D558}"/>
                </a:ext>
              </a:extLst>
            </p:cNvPr>
            <p:cNvSpPr>
              <a:spLocks noGrp="1"/>
            </p:cNvSpPr>
            <p:nvPr/>
          </p:nvSpPr>
          <p:spPr>
            <a:xfrm>
              <a:off x="10900683" y="3423285"/>
              <a:ext cx="91559" cy="70009"/>
            </a:xfrm>
            <a:prstGeom prst="rect">
              <a:avLst/>
            </a:prstGeom>
            <a:solidFill>
              <a:srgbClr val="B6D8CC"/>
            </a:solidFill>
            <a:ln w="7290">
              <a:noFill/>
            </a:ln>
          </p:spPr>
        </p:sp>
        <p:sp>
          <p:nvSpPr>
            <p:cNvPr id="1284" name="Find matrix 3-7">
              <a:extLst>
                <a:ext uri="{FF2B5EF4-FFF2-40B4-BE49-F238E27FC236}">
                  <a16:creationId xmlns:a16="http://schemas.microsoft.com/office/drawing/2014/main" id="{3CC5802F-96A8-F327-8DCD-5C642BB94DCE}"/>
                </a:ext>
              </a:extLst>
            </p:cNvPr>
            <p:cNvSpPr>
              <a:spLocks noGrp="1"/>
            </p:cNvSpPr>
            <p:nvPr/>
          </p:nvSpPr>
          <p:spPr>
            <a:xfrm>
              <a:off x="10996529" y="3423285"/>
              <a:ext cx="91559" cy="70009"/>
            </a:xfrm>
            <a:prstGeom prst="rect">
              <a:avLst/>
            </a:prstGeom>
            <a:solidFill>
              <a:srgbClr val="5B9FB6"/>
            </a:solidFill>
            <a:ln w="7290">
              <a:noFill/>
            </a:ln>
          </p:spPr>
        </p:sp>
        <p:sp>
          <p:nvSpPr>
            <p:cNvPr id="1285" name="Match matrix 0-0">
              <a:extLst>
                <a:ext uri="{FF2B5EF4-FFF2-40B4-BE49-F238E27FC236}">
                  <a16:creationId xmlns:a16="http://schemas.microsoft.com/office/drawing/2014/main" id="{1E148E3C-F1D3-F47F-36C6-42E1C579FB78}"/>
                </a:ext>
              </a:extLst>
            </p:cNvPr>
            <p:cNvSpPr>
              <a:spLocks noGrp="1"/>
            </p:cNvSpPr>
            <p:nvPr/>
          </p:nvSpPr>
          <p:spPr>
            <a:xfrm>
              <a:off x="3860262" y="7252039"/>
              <a:ext cx="88583" cy="70009"/>
            </a:xfrm>
            <a:prstGeom prst="rect">
              <a:avLst/>
            </a:prstGeom>
            <a:solidFill>
              <a:srgbClr val="3E8F9A"/>
            </a:solidFill>
            <a:ln w="7290">
              <a:noFill/>
            </a:ln>
          </p:spPr>
        </p:sp>
        <p:sp>
          <p:nvSpPr>
            <p:cNvPr id="1286" name="Match matrix 0-1">
              <a:extLst>
                <a:ext uri="{FF2B5EF4-FFF2-40B4-BE49-F238E27FC236}">
                  <a16:creationId xmlns:a16="http://schemas.microsoft.com/office/drawing/2014/main" id="{6CE95E95-35B4-AAA3-E629-B7804854BFD1}"/>
                </a:ext>
              </a:extLst>
            </p:cNvPr>
            <p:cNvSpPr>
              <a:spLocks noGrp="1"/>
            </p:cNvSpPr>
            <p:nvPr/>
          </p:nvSpPr>
          <p:spPr>
            <a:xfrm>
              <a:off x="3953131" y="7252039"/>
              <a:ext cx="88583" cy="70009"/>
            </a:xfrm>
            <a:prstGeom prst="rect">
              <a:avLst/>
            </a:prstGeom>
            <a:solidFill>
              <a:srgbClr val="5B9FB6"/>
            </a:solidFill>
            <a:ln w="7290">
              <a:noFill/>
            </a:ln>
          </p:spPr>
        </p:sp>
        <p:sp>
          <p:nvSpPr>
            <p:cNvPr id="1287" name="Match matrix 0-2">
              <a:extLst>
                <a:ext uri="{FF2B5EF4-FFF2-40B4-BE49-F238E27FC236}">
                  <a16:creationId xmlns:a16="http://schemas.microsoft.com/office/drawing/2014/main" id="{7AA444A0-2B6A-4C23-EFFA-BB0D0814FEA4}"/>
                </a:ext>
              </a:extLst>
            </p:cNvPr>
            <p:cNvSpPr>
              <a:spLocks noGrp="1"/>
            </p:cNvSpPr>
            <p:nvPr/>
          </p:nvSpPr>
          <p:spPr>
            <a:xfrm>
              <a:off x="4046000" y="7252039"/>
              <a:ext cx="88583" cy="70009"/>
            </a:xfrm>
            <a:prstGeom prst="rect">
              <a:avLst/>
            </a:prstGeom>
            <a:solidFill>
              <a:srgbClr val="A3CDDA"/>
            </a:solidFill>
            <a:ln w="7290">
              <a:noFill/>
            </a:ln>
          </p:spPr>
        </p:sp>
        <p:sp>
          <p:nvSpPr>
            <p:cNvPr id="1288" name="Match matrix 0-3">
              <a:extLst>
                <a:ext uri="{FF2B5EF4-FFF2-40B4-BE49-F238E27FC236}">
                  <a16:creationId xmlns:a16="http://schemas.microsoft.com/office/drawing/2014/main" id="{FA614244-906C-CFFC-1294-6D233D01CB35}"/>
                </a:ext>
              </a:extLst>
            </p:cNvPr>
            <p:cNvSpPr>
              <a:spLocks noGrp="1"/>
            </p:cNvSpPr>
            <p:nvPr/>
          </p:nvSpPr>
          <p:spPr>
            <a:xfrm>
              <a:off x="4138868" y="7252039"/>
              <a:ext cx="88583" cy="70009"/>
            </a:xfrm>
            <a:prstGeom prst="rect">
              <a:avLst/>
            </a:prstGeom>
            <a:solidFill>
              <a:srgbClr val="88BEC3"/>
            </a:solidFill>
            <a:ln w="7290">
              <a:noFill/>
            </a:ln>
          </p:spPr>
        </p:sp>
        <p:sp>
          <p:nvSpPr>
            <p:cNvPr id="1289" name="Match matrix 0-4">
              <a:extLst>
                <a:ext uri="{FF2B5EF4-FFF2-40B4-BE49-F238E27FC236}">
                  <a16:creationId xmlns:a16="http://schemas.microsoft.com/office/drawing/2014/main" id="{EE4A1296-1DD3-454F-610D-2BDEB1D0EFA9}"/>
                </a:ext>
              </a:extLst>
            </p:cNvPr>
            <p:cNvSpPr>
              <a:spLocks noGrp="1"/>
            </p:cNvSpPr>
            <p:nvPr/>
          </p:nvSpPr>
          <p:spPr>
            <a:xfrm>
              <a:off x="4231737" y="7252039"/>
              <a:ext cx="88583" cy="70009"/>
            </a:xfrm>
            <a:prstGeom prst="rect">
              <a:avLst/>
            </a:prstGeom>
            <a:solidFill>
              <a:srgbClr val="67AD9F"/>
            </a:solidFill>
            <a:ln w="7290">
              <a:noFill/>
            </a:ln>
          </p:spPr>
        </p:sp>
        <p:sp>
          <p:nvSpPr>
            <p:cNvPr id="1290" name="Match matrix 0-5">
              <a:extLst>
                <a:ext uri="{FF2B5EF4-FFF2-40B4-BE49-F238E27FC236}">
                  <a16:creationId xmlns:a16="http://schemas.microsoft.com/office/drawing/2014/main" id="{A27DCA6A-D9A0-89D2-300F-145A0353541B}"/>
                </a:ext>
              </a:extLst>
            </p:cNvPr>
            <p:cNvSpPr>
              <a:spLocks noGrp="1"/>
            </p:cNvSpPr>
            <p:nvPr/>
          </p:nvSpPr>
          <p:spPr>
            <a:xfrm>
              <a:off x="4324606" y="7252039"/>
              <a:ext cx="88583" cy="70009"/>
            </a:xfrm>
            <a:prstGeom prst="rect">
              <a:avLst/>
            </a:prstGeom>
            <a:solidFill>
              <a:srgbClr val="C4DDE0"/>
            </a:solidFill>
            <a:ln w="7290">
              <a:noFill/>
            </a:ln>
          </p:spPr>
        </p:sp>
        <p:sp>
          <p:nvSpPr>
            <p:cNvPr id="1291" name="Match matrix 0-6">
              <a:extLst>
                <a:ext uri="{FF2B5EF4-FFF2-40B4-BE49-F238E27FC236}">
                  <a16:creationId xmlns:a16="http://schemas.microsoft.com/office/drawing/2014/main" id="{110481AC-0BB3-A98A-15F4-6DA00B6462E6}"/>
                </a:ext>
              </a:extLst>
            </p:cNvPr>
            <p:cNvSpPr>
              <a:spLocks noGrp="1"/>
            </p:cNvSpPr>
            <p:nvPr/>
          </p:nvSpPr>
          <p:spPr>
            <a:xfrm>
              <a:off x="4417475" y="7252039"/>
              <a:ext cx="88583" cy="70009"/>
            </a:xfrm>
            <a:prstGeom prst="rect">
              <a:avLst/>
            </a:prstGeom>
            <a:solidFill>
              <a:srgbClr val="B6D8CC"/>
            </a:solidFill>
            <a:ln w="7290">
              <a:noFill/>
            </a:ln>
          </p:spPr>
        </p:sp>
        <p:sp>
          <p:nvSpPr>
            <p:cNvPr id="1292" name="Match matrix 0-7">
              <a:extLst>
                <a:ext uri="{FF2B5EF4-FFF2-40B4-BE49-F238E27FC236}">
                  <a16:creationId xmlns:a16="http://schemas.microsoft.com/office/drawing/2014/main" id="{CA0FE5FF-20F8-A515-1575-D2B579C6A384}"/>
                </a:ext>
              </a:extLst>
            </p:cNvPr>
            <p:cNvSpPr>
              <a:spLocks noGrp="1"/>
            </p:cNvSpPr>
            <p:nvPr/>
          </p:nvSpPr>
          <p:spPr>
            <a:xfrm>
              <a:off x="4510343" y="7252039"/>
              <a:ext cx="88583" cy="70009"/>
            </a:xfrm>
            <a:prstGeom prst="rect">
              <a:avLst/>
            </a:prstGeom>
            <a:solidFill>
              <a:srgbClr val="D6E5ED"/>
            </a:solidFill>
            <a:ln w="7290">
              <a:noFill/>
            </a:ln>
          </p:spPr>
        </p:sp>
        <p:sp>
          <p:nvSpPr>
            <p:cNvPr id="1293" name="Match matrix 1-0">
              <a:extLst>
                <a:ext uri="{FF2B5EF4-FFF2-40B4-BE49-F238E27FC236}">
                  <a16:creationId xmlns:a16="http://schemas.microsoft.com/office/drawing/2014/main" id="{62DD97DC-E1EF-3AC8-77C6-31E750CF1688}"/>
                </a:ext>
              </a:extLst>
            </p:cNvPr>
            <p:cNvSpPr>
              <a:spLocks noGrp="1"/>
            </p:cNvSpPr>
            <p:nvPr/>
          </p:nvSpPr>
          <p:spPr>
            <a:xfrm>
              <a:off x="3860262" y="7326334"/>
              <a:ext cx="88583" cy="70009"/>
            </a:xfrm>
            <a:prstGeom prst="rect">
              <a:avLst/>
            </a:prstGeom>
            <a:solidFill>
              <a:srgbClr val="A3CDDA"/>
            </a:solidFill>
            <a:ln w="7290">
              <a:noFill/>
            </a:ln>
          </p:spPr>
        </p:sp>
        <p:sp>
          <p:nvSpPr>
            <p:cNvPr id="1294" name="Match matrix 1-1">
              <a:extLst>
                <a:ext uri="{FF2B5EF4-FFF2-40B4-BE49-F238E27FC236}">
                  <a16:creationId xmlns:a16="http://schemas.microsoft.com/office/drawing/2014/main" id="{B545DCC8-F9BD-6322-3BD3-A195D0A92FFB}"/>
                </a:ext>
              </a:extLst>
            </p:cNvPr>
            <p:cNvSpPr>
              <a:spLocks noGrp="1"/>
            </p:cNvSpPr>
            <p:nvPr/>
          </p:nvSpPr>
          <p:spPr>
            <a:xfrm>
              <a:off x="3953131" y="7326334"/>
              <a:ext cx="88583" cy="70009"/>
            </a:xfrm>
            <a:prstGeom prst="rect">
              <a:avLst/>
            </a:prstGeom>
            <a:solidFill>
              <a:srgbClr val="B6D8CC"/>
            </a:solidFill>
            <a:ln w="7290">
              <a:noFill/>
            </a:ln>
          </p:spPr>
        </p:sp>
        <p:sp>
          <p:nvSpPr>
            <p:cNvPr id="1295" name="Match matrix 1-2">
              <a:extLst>
                <a:ext uri="{FF2B5EF4-FFF2-40B4-BE49-F238E27FC236}">
                  <a16:creationId xmlns:a16="http://schemas.microsoft.com/office/drawing/2014/main" id="{CA362456-65E1-995A-0618-99CCC4184C18}"/>
                </a:ext>
              </a:extLst>
            </p:cNvPr>
            <p:cNvSpPr>
              <a:spLocks noGrp="1"/>
            </p:cNvSpPr>
            <p:nvPr/>
          </p:nvSpPr>
          <p:spPr>
            <a:xfrm>
              <a:off x="4046000" y="7326334"/>
              <a:ext cx="88583" cy="70009"/>
            </a:xfrm>
            <a:prstGeom prst="rect">
              <a:avLst/>
            </a:prstGeom>
            <a:solidFill>
              <a:srgbClr val="88BEC3"/>
            </a:solidFill>
            <a:ln w="7290">
              <a:noFill/>
            </a:ln>
          </p:spPr>
        </p:sp>
        <p:sp>
          <p:nvSpPr>
            <p:cNvPr id="1296" name="Match matrix 1-3">
              <a:extLst>
                <a:ext uri="{FF2B5EF4-FFF2-40B4-BE49-F238E27FC236}">
                  <a16:creationId xmlns:a16="http://schemas.microsoft.com/office/drawing/2014/main" id="{A2C35F9E-7361-3F63-4B0D-A98BA11C6FD6}"/>
                </a:ext>
              </a:extLst>
            </p:cNvPr>
            <p:cNvSpPr>
              <a:spLocks noGrp="1"/>
            </p:cNvSpPr>
            <p:nvPr/>
          </p:nvSpPr>
          <p:spPr>
            <a:xfrm>
              <a:off x="4138868" y="7326334"/>
              <a:ext cx="88583" cy="70009"/>
            </a:xfrm>
            <a:prstGeom prst="rect">
              <a:avLst/>
            </a:prstGeom>
            <a:solidFill>
              <a:srgbClr val="D6E5ED"/>
            </a:solidFill>
            <a:ln w="7290">
              <a:noFill/>
            </a:ln>
          </p:spPr>
        </p:sp>
        <p:sp>
          <p:nvSpPr>
            <p:cNvPr id="1297" name="Match matrix 1-4">
              <a:extLst>
                <a:ext uri="{FF2B5EF4-FFF2-40B4-BE49-F238E27FC236}">
                  <a16:creationId xmlns:a16="http://schemas.microsoft.com/office/drawing/2014/main" id="{FAAA67D0-1522-17CF-8376-8D76753F582D}"/>
                </a:ext>
              </a:extLst>
            </p:cNvPr>
            <p:cNvSpPr>
              <a:spLocks noGrp="1"/>
            </p:cNvSpPr>
            <p:nvPr/>
          </p:nvSpPr>
          <p:spPr>
            <a:xfrm>
              <a:off x="4231737" y="7326334"/>
              <a:ext cx="88583" cy="70009"/>
            </a:xfrm>
            <a:prstGeom prst="rect">
              <a:avLst/>
            </a:prstGeom>
            <a:solidFill>
              <a:srgbClr val="5B9FB6"/>
            </a:solidFill>
            <a:ln w="7290">
              <a:noFill/>
            </a:ln>
          </p:spPr>
        </p:sp>
        <p:sp>
          <p:nvSpPr>
            <p:cNvPr id="1298" name="Match matrix 1-5">
              <a:extLst>
                <a:ext uri="{FF2B5EF4-FFF2-40B4-BE49-F238E27FC236}">
                  <a16:creationId xmlns:a16="http://schemas.microsoft.com/office/drawing/2014/main" id="{8EFA4585-A006-C810-377D-DBA6C87576CE}"/>
                </a:ext>
              </a:extLst>
            </p:cNvPr>
            <p:cNvSpPr>
              <a:spLocks noGrp="1"/>
            </p:cNvSpPr>
            <p:nvPr/>
          </p:nvSpPr>
          <p:spPr>
            <a:xfrm>
              <a:off x="4324606" y="7326334"/>
              <a:ext cx="88583" cy="70009"/>
            </a:xfrm>
            <a:prstGeom prst="rect">
              <a:avLst/>
            </a:prstGeom>
            <a:solidFill>
              <a:srgbClr val="3E8F9A"/>
            </a:solidFill>
            <a:ln w="7290">
              <a:noFill/>
            </a:ln>
          </p:spPr>
        </p:sp>
        <p:sp>
          <p:nvSpPr>
            <p:cNvPr id="1299" name="Match matrix 1-6">
              <a:extLst>
                <a:ext uri="{FF2B5EF4-FFF2-40B4-BE49-F238E27FC236}">
                  <a16:creationId xmlns:a16="http://schemas.microsoft.com/office/drawing/2014/main" id="{64D11889-0CF0-CA9A-1917-2BF4C8C70236}"/>
                </a:ext>
              </a:extLst>
            </p:cNvPr>
            <p:cNvSpPr>
              <a:spLocks noGrp="1"/>
            </p:cNvSpPr>
            <p:nvPr/>
          </p:nvSpPr>
          <p:spPr>
            <a:xfrm>
              <a:off x="4417475" y="7326334"/>
              <a:ext cx="88583" cy="70009"/>
            </a:xfrm>
            <a:prstGeom prst="rect">
              <a:avLst/>
            </a:prstGeom>
            <a:solidFill>
              <a:srgbClr val="C4DDE0"/>
            </a:solidFill>
            <a:ln w="7290">
              <a:noFill/>
            </a:ln>
          </p:spPr>
        </p:sp>
        <p:sp>
          <p:nvSpPr>
            <p:cNvPr id="1300" name="Match matrix 1-7">
              <a:extLst>
                <a:ext uri="{FF2B5EF4-FFF2-40B4-BE49-F238E27FC236}">
                  <a16:creationId xmlns:a16="http://schemas.microsoft.com/office/drawing/2014/main" id="{188B5773-F5C9-7D4C-8152-FA7D9B627789}"/>
                </a:ext>
              </a:extLst>
            </p:cNvPr>
            <p:cNvSpPr>
              <a:spLocks noGrp="1"/>
            </p:cNvSpPr>
            <p:nvPr/>
          </p:nvSpPr>
          <p:spPr>
            <a:xfrm>
              <a:off x="4510343" y="7326334"/>
              <a:ext cx="88583" cy="70009"/>
            </a:xfrm>
            <a:prstGeom prst="rect">
              <a:avLst/>
            </a:prstGeom>
            <a:solidFill>
              <a:srgbClr val="67AD9F"/>
            </a:solidFill>
            <a:ln w="7290">
              <a:noFill/>
            </a:ln>
          </p:spPr>
        </p:sp>
        <p:sp>
          <p:nvSpPr>
            <p:cNvPr id="1301" name="Match matrix 2-0">
              <a:extLst>
                <a:ext uri="{FF2B5EF4-FFF2-40B4-BE49-F238E27FC236}">
                  <a16:creationId xmlns:a16="http://schemas.microsoft.com/office/drawing/2014/main" id="{BBF02AFB-8489-0057-17C0-1186E4D7244F}"/>
                </a:ext>
              </a:extLst>
            </p:cNvPr>
            <p:cNvSpPr>
              <a:spLocks noGrp="1"/>
            </p:cNvSpPr>
            <p:nvPr/>
          </p:nvSpPr>
          <p:spPr>
            <a:xfrm>
              <a:off x="3860262" y="7400629"/>
              <a:ext cx="88583" cy="70009"/>
            </a:xfrm>
            <a:prstGeom prst="rect">
              <a:avLst/>
            </a:prstGeom>
            <a:solidFill>
              <a:srgbClr val="67AD9F"/>
            </a:solidFill>
            <a:ln w="7290">
              <a:noFill/>
            </a:ln>
          </p:spPr>
        </p:sp>
        <p:sp>
          <p:nvSpPr>
            <p:cNvPr id="1302" name="Match matrix 2-1">
              <a:extLst>
                <a:ext uri="{FF2B5EF4-FFF2-40B4-BE49-F238E27FC236}">
                  <a16:creationId xmlns:a16="http://schemas.microsoft.com/office/drawing/2014/main" id="{4D1F1E41-46E5-997B-A9A2-D4A7E86A821C}"/>
                </a:ext>
              </a:extLst>
            </p:cNvPr>
            <p:cNvSpPr>
              <a:spLocks noGrp="1"/>
            </p:cNvSpPr>
            <p:nvPr/>
          </p:nvSpPr>
          <p:spPr>
            <a:xfrm>
              <a:off x="3953131" y="7400629"/>
              <a:ext cx="88583" cy="70009"/>
            </a:xfrm>
            <a:prstGeom prst="rect">
              <a:avLst/>
            </a:prstGeom>
            <a:solidFill>
              <a:srgbClr val="C4DDE0"/>
            </a:solidFill>
            <a:ln w="7290">
              <a:noFill/>
            </a:ln>
          </p:spPr>
        </p:sp>
        <p:sp>
          <p:nvSpPr>
            <p:cNvPr id="1303" name="Match matrix 2-2">
              <a:extLst>
                <a:ext uri="{FF2B5EF4-FFF2-40B4-BE49-F238E27FC236}">
                  <a16:creationId xmlns:a16="http://schemas.microsoft.com/office/drawing/2014/main" id="{BDC0B5DB-1FDB-9192-A8A8-9F9E9FC2CF48}"/>
                </a:ext>
              </a:extLst>
            </p:cNvPr>
            <p:cNvSpPr>
              <a:spLocks noGrp="1"/>
            </p:cNvSpPr>
            <p:nvPr/>
          </p:nvSpPr>
          <p:spPr>
            <a:xfrm>
              <a:off x="4046000" y="7400629"/>
              <a:ext cx="88583" cy="70009"/>
            </a:xfrm>
            <a:prstGeom prst="rect">
              <a:avLst/>
            </a:prstGeom>
            <a:solidFill>
              <a:srgbClr val="5B9FB6"/>
            </a:solidFill>
            <a:ln w="7290">
              <a:noFill/>
            </a:ln>
          </p:spPr>
        </p:sp>
        <p:sp>
          <p:nvSpPr>
            <p:cNvPr id="1304" name="Match matrix 2-3">
              <a:extLst>
                <a:ext uri="{FF2B5EF4-FFF2-40B4-BE49-F238E27FC236}">
                  <a16:creationId xmlns:a16="http://schemas.microsoft.com/office/drawing/2014/main" id="{9C663294-FCA2-F8DE-2AEC-EEF54C48921A}"/>
                </a:ext>
              </a:extLst>
            </p:cNvPr>
            <p:cNvSpPr>
              <a:spLocks noGrp="1"/>
            </p:cNvSpPr>
            <p:nvPr/>
          </p:nvSpPr>
          <p:spPr>
            <a:xfrm>
              <a:off x="4138868" y="7400629"/>
              <a:ext cx="88583" cy="70009"/>
            </a:xfrm>
            <a:prstGeom prst="rect">
              <a:avLst/>
            </a:prstGeom>
            <a:solidFill>
              <a:srgbClr val="B6D8CC"/>
            </a:solidFill>
            <a:ln w="7290">
              <a:noFill/>
            </a:ln>
          </p:spPr>
        </p:sp>
        <p:sp>
          <p:nvSpPr>
            <p:cNvPr id="1305" name="Match matrix 2-4">
              <a:extLst>
                <a:ext uri="{FF2B5EF4-FFF2-40B4-BE49-F238E27FC236}">
                  <a16:creationId xmlns:a16="http://schemas.microsoft.com/office/drawing/2014/main" id="{28E76182-0A60-4A72-9586-C12459BE0B58}"/>
                </a:ext>
              </a:extLst>
            </p:cNvPr>
            <p:cNvSpPr>
              <a:spLocks noGrp="1"/>
            </p:cNvSpPr>
            <p:nvPr/>
          </p:nvSpPr>
          <p:spPr>
            <a:xfrm>
              <a:off x="4231737" y="7400629"/>
              <a:ext cx="88583" cy="70009"/>
            </a:xfrm>
            <a:prstGeom prst="rect">
              <a:avLst/>
            </a:prstGeom>
            <a:solidFill>
              <a:srgbClr val="3E8F9A"/>
            </a:solidFill>
            <a:ln w="7290">
              <a:noFill/>
            </a:ln>
          </p:spPr>
        </p:sp>
        <p:sp>
          <p:nvSpPr>
            <p:cNvPr id="1306" name="Match matrix 2-5">
              <a:extLst>
                <a:ext uri="{FF2B5EF4-FFF2-40B4-BE49-F238E27FC236}">
                  <a16:creationId xmlns:a16="http://schemas.microsoft.com/office/drawing/2014/main" id="{29FC68A5-EB54-9596-85EC-EDC1175B056F}"/>
                </a:ext>
              </a:extLst>
            </p:cNvPr>
            <p:cNvSpPr>
              <a:spLocks noGrp="1"/>
            </p:cNvSpPr>
            <p:nvPr/>
          </p:nvSpPr>
          <p:spPr>
            <a:xfrm>
              <a:off x="4324606" y="7400629"/>
              <a:ext cx="88583" cy="70009"/>
            </a:xfrm>
            <a:prstGeom prst="rect">
              <a:avLst/>
            </a:prstGeom>
            <a:solidFill>
              <a:srgbClr val="D6E5ED"/>
            </a:solidFill>
            <a:ln w="7290">
              <a:noFill/>
            </a:ln>
          </p:spPr>
        </p:sp>
        <p:sp>
          <p:nvSpPr>
            <p:cNvPr id="1307" name="Match matrix 2-6">
              <a:extLst>
                <a:ext uri="{FF2B5EF4-FFF2-40B4-BE49-F238E27FC236}">
                  <a16:creationId xmlns:a16="http://schemas.microsoft.com/office/drawing/2014/main" id="{59C9C8C5-D90A-7A02-93D3-957FE3AE7DC3}"/>
                </a:ext>
              </a:extLst>
            </p:cNvPr>
            <p:cNvSpPr>
              <a:spLocks noGrp="1"/>
            </p:cNvSpPr>
            <p:nvPr/>
          </p:nvSpPr>
          <p:spPr>
            <a:xfrm>
              <a:off x="4417475" y="7400629"/>
              <a:ext cx="88583" cy="70009"/>
            </a:xfrm>
            <a:prstGeom prst="rect">
              <a:avLst/>
            </a:prstGeom>
            <a:solidFill>
              <a:srgbClr val="88BEC3"/>
            </a:solidFill>
            <a:ln w="7290">
              <a:noFill/>
            </a:ln>
          </p:spPr>
        </p:sp>
        <p:sp>
          <p:nvSpPr>
            <p:cNvPr id="1308" name="Match matrix 2-7">
              <a:extLst>
                <a:ext uri="{FF2B5EF4-FFF2-40B4-BE49-F238E27FC236}">
                  <a16:creationId xmlns:a16="http://schemas.microsoft.com/office/drawing/2014/main" id="{83DFB888-0521-0863-270C-DBAF169C149A}"/>
                </a:ext>
              </a:extLst>
            </p:cNvPr>
            <p:cNvSpPr>
              <a:spLocks noGrp="1"/>
            </p:cNvSpPr>
            <p:nvPr/>
          </p:nvSpPr>
          <p:spPr>
            <a:xfrm>
              <a:off x="4510343" y="7400629"/>
              <a:ext cx="88583" cy="70009"/>
            </a:xfrm>
            <a:prstGeom prst="rect">
              <a:avLst/>
            </a:prstGeom>
            <a:solidFill>
              <a:srgbClr val="A3CDDA"/>
            </a:solidFill>
            <a:ln w="7290">
              <a:noFill/>
            </a:ln>
          </p:spPr>
        </p:sp>
        <p:sp>
          <p:nvSpPr>
            <p:cNvPr id="1309" name="Match matrix 3-0">
              <a:extLst>
                <a:ext uri="{FF2B5EF4-FFF2-40B4-BE49-F238E27FC236}">
                  <a16:creationId xmlns:a16="http://schemas.microsoft.com/office/drawing/2014/main" id="{CDAE8F1E-742C-7BA1-EB00-87CA9B9E40A2}"/>
                </a:ext>
              </a:extLst>
            </p:cNvPr>
            <p:cNvSpPr>
              <a:spLocks noGrp="1"/>
            </p:cNvSpPr>
            <p:nvPr/>
          </p:nvSpPr>
          <p:spPr>
            <a:xfrm>
              <a:off x="3860262" y="7474924"/>
              <a:ext cx="88583" cy="70009"/>
            </a:xfrm>
            <a:prstGeom prst="rect">
              <a:avLst/>
            </a:prstGeom>
            <a:solidFill>
              <a:srgbClr val="88BEC3"/>
            </a:solidFill>
            <a:ln w="7290">
              <a:noFill/>
            </a:ln>
          </p:spPr>
        </p:sp>
        <p:sp>
          <p:nvSpPr>
            <p:cNvPr id="1310" name="Match matrix 3-1">
              <a:extLst>
                <a:ext uri="{FF2B5EF4-FFF2-40B4-BE49-F238E27FC236}">
                  <a16:creationId xmlns:a16="http://schemas.microsoft.com/office/drawing/2014/main" id="{74117986-6240-D77F-909C-522F6146D289}"/>
                </a:ext>
              </a:extLst>
            </p:cNvPr>
            <p:cNvSpPr>
              <a:spLocks noGrp="1"/>
            </p:cNvSpPr>
            <p:nvPr/>
          </p:nvSpPr>
          <p:spPr>
            <a:xfrm>
              <a:off x="3953131" y="7474924"/>
              <a:ext cx="88583" cy="70009"/>
            </a:xfrm>
            <a:prstGeom prst="rect">
              <a:avLst/>
            </a:prstGeom>
            <a:solidFill>
              <a:srgbClr val="D6E5ED"/>
            </a:solidFill>
            <a:ln w="7290">
              <a:noFill/>
            </a:ln>
          </p:spPr>
        </p:sp>
        <p:sp>
          <p:nvSpPr>
            <p:cNvPr id="1311" name="Match matrix 3-2">
              <a:extLst>
                <a:ext uri="{FF2B5EF4-FFF2-40B4-BE49-F238E27FC236}">
                  <a16:creationId xmlns:a16="http://schemas.microsoft.com/office/drawing/2014/main" id="{68BD8A38-75EC-BA37-589D-F9C3EBE804E8}"/>
                </a:ext>
              </a:extLst>
            </p:cNvPr>
            <p:cNvSpPr>
              <a:spLocks noGrp="1"/>
            </p:cNvSpPr>
            <p:nvPr/>
          </p:nvSpPr>
          <p:spPr>
            <a:xfrm>
              <a:off x="4046000" y="7474924"/>
              <a:ext cx="88583" cy="70009"/>
            </a:xfrm>
            <a:prstGeom prst="rect">
              <a:avLst/>
            </a:prstGeom>
            <a:solidFill>
              <a:srgbClr val="67AD9F"/>
            </a:solidFill>
            <a:ln w="7290">
              <a:noFill/>
            </a:ln>
          </p:spPr>
        </p:sp>
        <p:sp>
          <p:nvSpPr>
            <p:cNvPr id="1312" name="Match matrix 3-3">
              <a:extLst>
                <a:ext uri="{FF2B5EF4-FFF2-40B4-BE49-F238E27FC236}">
                  <a16:creationId xmlns:a16="http://schemas.microsoft.com/office/drawing/2014/main" id="{BA2E6B5A-7074-DCD3-8646-836425ECA4E6}"/>
                </a:ext>
              </a:extLst>
            </p:cNvPr>
            <p:cNvSpPr>
              <a:spLocks noGrp="1"/>
            </p:cNvSpPr>
            <p:nvPr/>
          </p:nvSpPr>
          <p:spPr>
            <a:xfrm>
              <a:off x="4138868" y="7474924"/>
              <a:ext cx="88583" cy="70009"/>
            </a:xfrm>
            <a:prstGeom prst="rect">
              <a:avLst/>
            </a:prstGeom>
            <a:solidFill>
              <a:srgbClr val="3E8F9A"/>
            </a:solidFill>
            <a:ln w="7290">
              <a:noFill/>
            </a:ln>
          </p:spPr>
        </p:sp>
        <p:sp>
          <p:nvSpPr>
            <p:cNvPr id="1313" name="Match matrix 3-4">
              <a:extLst>
                <a:ext uri="{FF2B5EF4-FFF2-40B4-BE49-F238E27FC236}">
                  <a16:creationId xmlns:a16="http://schemas.microsoft.com/office/drawing/2014/main" id="{E2B9FFDB-87E6-991D-6FE1-3A8ED7934F53}"/>
                </a:ext>
              </a:extLst>
            </p:cNvPr>
            <p:cNvSpPr>
              <a:spLocks noGrp="1"/>
            </p:cNvSpPr>
            <p:nvPr/>
          </p:nvSpPr>
          <p:spPr>
            <a:xfrm>
              <a:off x="4231737" y="7474924"/>
              <a:ext cx="88583" cy="70009"/>
            </a:xfrm>
            <a:prstGeom prst="rect">
              <a:avLst/>
            </a:prstGeom>
            <a:solidFill>
              <a:srgbClr val="C4DDE0"/>
            </a:solidFill>
            <a:ln w="7290">
              <a:noFill/>
            </a:ln>
          </p:spPr>
        </p:sp>
        <p:sp>
          <p:nvSpPr>
            <p:cNvPr id="1314" name="Match matrix 3-5">
              <a:extLst>
                <a:ext uri="{FF2B5EF4-FFF2-40B4-BE49-F238E27FC236}">
                  <a16:creationId xmlns:a16="http://schemas.microsoft.com/office/drawing/2014/main" id="{93BBAAA9-24B8-1E29-A6DC-8B4D096073B5}"/>
                </a:ext>
              </a:extLst>
            </p:cNvPr>
            <p:cNvSpPr>
              <a:spLocks noGrp="1"/>
            </p:cNvSpPr>
            <p:nvPr/>
          </p:nvSpPr>
          <p:spPr>
            <a:xfrm>
              <a:off x="4324606" y="7474924"/>
              <a:ext cx="88583" cy="70009"/>
            </a:xfrm>
            <a:prstGeom prst="rect">
              <a:avLst/>
            </a:prstGeom>
            <a:solidFill>
              <a:srgbClr val="A3CDDA"/>
            </a:solidFill>
            <a:ln w="7290">
              <a:noFill/>
            </a:ln>
          </p:spPr>
        </p:sp>
        <p:sp>
          <p:nvSpPr>
            <p:cNvPr id="1315" name="Match matrix 3-6">
              <a:extLst>
                <a:ext uri="{FF2B5EF4-FFF2-40B4-BE49-F238E27FC236}">
                  <a16:creationId xmlns:a16="http://schemas.microsoft.com/office/drawing/2014/main" id="{68A528E6-65EA-9C73-7412-55AD6CD16CE8}"/>
                </a:ext>
              </a:extLst>
            </p:cNvPr>
            <p:cNvSpPr>
              <a:spLocks noGrp="1"/>
            </p:cNvSpPr>
            <p:nvPr/>
          </p:nvSpPr>
          <p:spPr>
            <a:xfrm>
              <a:off x="4417475" y="7474924"/>
              <a:ext cx="88583" cy="70009"/>
            </a:xfrm>
            <a:prstGeom prst="rect">
              <a:avLst/>
            </a:prstGeom>
            <a:solidFill>
              <a:srgbClr val="B6D8CC"/>
            </a:solidFill>
            <a:ln w="7290">
              <a:noFill/>
            </a:ln>
          </p:spPr>
        </p:sp>
        <p:sp>
          <p:nvSpPr>
            <p:cNvPr id="1316" name="Match matrix 3-7">
              <a:extLst>
                <a:ext uri="{FF2B5EF4-FFF2-40B4-BE49-F238E27FC236}">
                  <a16:creationId xmlns:a16="http://schemas.microsoft.com/office/drawing/2014/main" id="{2EEE91B3-D81D-6257-AECC-400C8A929123}"/>
                </a:ext>
              </a:extLst>
            </p:cNvPr>
            <p:cNvSpPr>
              <a:spLocks noGrp="1"/>
            </p:cNvSpPr>
            <p:nvPr/>
          </p:nvSpPr>
          <p:spPr>
            <a:xfrm>
              <a:off x="4510343" y="7474924"/>
              <a:ext cx="88583" cy="70009"/>
            </a:xfrm>
            <a:prstGeom prst="rect">
              <a:avLst/>
            </a:prstGeom>
            <a:solidFill>
              <a:srgbClr val="5B9FB6"/>
            </a:solidFill>
            <a:ln w="7290">
              <a:noFill/>
            </a:ln>
          </p:spPr>
        </p:sp>
        <p:sp>
          <p:nvSpPr>
            <p:cNvPr id="1318" name="SMILES continuation 806-628.2">
              <a:extLst>
                <a:ext uri="{FF2B5EF4-FFF2-40B4-BE49-F238E27FC236}">
                  <a16:creationId xmlns:a16="http://schemas.microsoft.com/office/drawing/2014/main" id="{F23A2C65-E88A-BB4F-DB2B-F6BDFE0A90A0}"/>
                </a:ext>
              </a:extLst>
            </p:cNvPr>
            <p:cNvSpPr>
              <a:spLocks noGrp="1"/>
            </p:cNvSpPr>
            <p:nvPr/>
          </p:nvSpPr>
          <p:spPr>
            <a:xfrm>
              <a:off x="8003637" y="5974080"/>
              <a:ext cx="19050" cy="19050"/>
            </a:xfrm>
            <a:prstGeom prst="ellipse">
              <a:avLst/>
            </a:prstGeom>
            <a:solidFill>
              <a:srgbClr val="71808C"/>
            </a:solidFill>
            <a:ln w="0">
              <a:noFill/>
            </a:ln>
          </p:spPr>
        </p:sp>
        <p:sp>
          <p:nvSpPr>
            <p:cNvPr id="1319" name="SMILES continuation 812-628.2">
              <a:extLst>
                <a:ext uri="{FF2B5EF4-FFF2-40B4-BE49-F238E27FC236}">
                  <a16:creationId xmlns:a16="http://schemas.microsoft.com/office/drawing/2014/main" id="{3B989565-3BAD-D4AD-9254-F92A9CA55F5F}"/>
                </a:ext>
              </a:extLst>
            </p:cNvPr>
            <p:cNvSpPr>
              <a:spLocks noGrp="1"/>
            </p:cNvSpPr>
            <p:nvPr/>
          </p:nvSpPr>
          <p:spPr>
            <a:xfrm>
              <a:off x="8060787" y="5974080"/>
              <a:ext cx="19050" cy="19050"/>
            </a:xfrm>
            <a:prstGeom prst="ellipse">
              <a:avLst/>
            </a:prstGeom>
            <a:solidFill>
              <a:srgbClr val="71808C"/>
            </a:solidFill>
            <a:ln w="0">
              <a:noFill/>
            </a:ln>
          </p:spPr>
        </p:sp>
        <p:sp>
          <p:nvSpPr>
            <p:cNvPr id="1320" name="SMILES continuation 818-628.2">
              <a:extLst>
                <a:ext uri="{FF2B5EF4-FFF2-40B4-BE49-F238E27FC236}">
                  <a16:creationId xmlns:a16="http://schemas.microsoft.com/office/drawing/2014/main" id="{42B8B6C2-B43E-383F-14DE-C418D4494332}"/>
                </a:ext>
              </a:extLst>
            </p:cNvPr>
            <p:cNvSpPr>
              <a:spLocks noGrp="1"/>
            </p:cNvSpPr>
            <p:nvPr/>
          </p:nvSpPr>
          <p:spPr>
            <a:xfrm>
              <a:off x="8117937" y="5974080"/>
              <a:ext cx="19050" cy="19050"/>
            </a:xfrm>
            <a:prstGeom prst="ellipse">
              <a:avLst/>
            </a:prstGeom>
            <a:solidFill>
              <a:srgbClr val="71808C"/>
            </a:solidFill>
            <a:ln w="0">
              <a:noFill/>
            </a:ln>
          </p:spPr>
        </p:sp>
        <p:sp>
          <p:nvSpPr>
            <p:cNvPr id="1321" name="SMILES continuation 806-667">
              <a:extLst>
                <a:ext uri="{FF2B5EF4-FFF2-40B4-BE49-F238E27FC236}">
                  <a16:creationId xmlns:a16="http://schemas.microsoft.com/office/drawing/2014/main" id="{39894408-4EFC-1123-4D43-5E7226F5F0C0}"/>
                </a:ext>
              </a:extLst>
            </p:cNvPr>
            <p:cNvSpPr>
              <a:spLocks noGrp="1"/>
            </p:cNvSpPr>
            <p:nvPr/>
          </p:nvSpPr>
          <p:spPr>
            <a:xfrm>
              <a:off x="8003637" y="6343650"/>
              <a:ext cx="19050" cy="19050"/>
            </a:xfrm>
            <a:prstGeom prst="ellipse">
              <a:avLst/>
            </a:prstGeom>
            <a:solidFill>
              <a:srgbClr val="71808C"/>
            </a:solidFill>
            <a:ln w="0">
              <a:noFill/>
            </a:ln>
          </p:spPr>
        </p:sp>
        <p:sp>
          <p:nvSpPr>
            <p:cNvPr id="1322" name="SMILES continuation 812-667">
              <a:extLst>
                <a:ext uri="{FF2B5EF4-FFF2-40B4-BE49-F238E27FC236}">
                  <a16:creationId xmlns:a16="http://schemas.microsoft.com/office/drawing/2014/main" id="{B15788D5-8154-0220-0ADD-B84E221B0B6F}"/>
                </a:ext>
              </a:extLst>
            </p:cNvPr>
            <p:cNvSpPr>
              <a:spLocks noGrp="1"/>
            </p:cNvSpPr>
            <p:nvPr/>
          </p:nvSpPr>
          <p:spPr>
            <a:xfrm>
              <a:off x="8060787" y="6343650"/>
              <a:ext cx="19050" cy="19050"/>
            </a:xfrm>
            <a:prstGeom prst="ellipse">
              <a:avLst/>
            </a:prstGeom>
            <a:solidFill>
              <a:srgbClr val="71808C"/>
            </a:solidFill>
            <a:ln w="0">
              <a:noFill/>
            </a:ln>
          </p:spPr>
        </p:sp>
        <p:sp>
          <p:nvSpPr>
            <p:cNvPr id="1323" name="SMILES continuation 818-667">
              <a:extLst>
                <a:ext uri="{FF2B5EF4-FFF2-40B4-BE49-F238E27FC236}">
                  <a16:creationId xmlns:a16="http://schemas.microsoft.com/office/drawing/2014/main" id="{06FB727B-1C36-BDAC-BF90-119F79F57919}"/>
                </a:ext>
              </a:extLst>
            </p:cNvPr>
            <p:cNvSpPr>
              <a:spLocks noGrp="1"/>
            </p:cNvSpPr>
            <p:nvPr/>
          </p:nvSpPr>
          <p:spPr>
            <a:xfrm>
              <a:off x="8117937" y="6343650"/>
              <a:ext cx="19050" cy="19050"/>
            </a:xfrm>
            <a:prstGeom prst="ellipse">
              <a:avLst/>
            </a:prstGeom>
            <a:solidFill>
              <a:srgbClr val="71808C"/>
            </a:solidFill>
            <a:ln w="0">
              <a:noFill/>
            </a:ln>
          </p:spPr>
        </p:sp>
        <p:sp>
          <p:nvSpPr>
            <p:cNvPr id="1324" name="Find density input">
              <a:extLst>
                <a:ext uri="{FF2B5EF4-FFF2-40B4-BE49-F238E27FC236}">
                  <a16:creationId xmlns:a16="http://schemas.microsoft.com/office/drawing/2014/main" id="{3BB3F16C-BBC6-CEA5-1D5F-BADEC13D0E07}"/>
                </a:ext>
              </a:extLst>
            </p:cNvPr>
            <p:cNvSpPr>
              <a:spLocks noGrp="1"/>
            </p:cNvSpPr>
            <p:nvPr/>
          </p:nvSpPr>
          <p:spPr>
            <a:xfrm>
              <a:off x="2334020" y="1518479"/>
              <a:ext cx="842366" cy="190"/>
            </a:xfrm>
            <a:custGeom>
              <a:avLst/>
              <a:gdLst/>
              <a:ahLst/>
              <a:cxnLst/>
              <a:rect l="0" t="0" r="0" b="0"/>
              <a:pathLst>
                <a:path w="125540" h="191">
                  <a:moveTo>
                    <a:pt x="0" y="0"/>
                  </a:moveTo>
                  <a:lnTo>
                    <a:pt x="125540" y="0"/>
                  </a:lnTo>
                </a:path>
              </a:pathLst>
            </a:custGeom>
            <a:noFill/>
            <a:ln w="8505">
              <a:solidFill>
                <a:srgbClr val="4083B4"/>
              </a:solidFill>
              <a:prstDash val="solid"/>
            </a:ln>
          </p:spPr>
        </p:sp>
        <p:sp>
          <p:nvSpPr>
            <p:cNvPr id="1325" name="Find density input head">
              <a:extLst>
                <a:ext uri="{FF2B5EF4-FFF2-40B4-BE49-F238E27FC236}">
                  <a16:creationId xmlns:a16="http://schemas.microsoft.com/office/drawing/2014/main" id="{DD01582E-D72F-DC2A-ED51-209065AB4BE2}"/>
                </a:ext>
              </a:extLst>
            </p:cNvPr>
            <p:cNvSpPr>
              <a:spLocks noGrp="1"/>
            </p:cNvSpPr>
            <p:nvPr/>
          </p:nvSpPr>
          <p:spPr>
            <a:xfrm>
              <a:off x="3123088" y="1489808"/>
              <a:ext cx="66676" cy="57339"/>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28" name="Find receptor input">
              <a:extLst>
                <a:ext uri="{FF2B5EF4-FFF2-40B4-BE49-F238E27FC236}">
                  <a16:creationId xmlns:a16="http://schemas.microsoft.com/office/drawing/2014/main" id="{8835B13D-A150-D32A-EA5F-DF6B94803636}"/>
                </a:ext>
              </a:extLst>
            </p:cNvPr>
            <p:cNvSpPr>
              <a:spLocks noGrp="1"/>
            </p:cNvSpPr>
            <p:nvPr/>
          </p:nvSpPr>
          <p:spPr>
            <a:xfrm>
              <a:off x="2334020" y="3260557"/>
              <a:ext cx="842366" cy="190"/>
            </a:xfrm>
            <a:custGeom>
              <a:avLst/>
              <a:gdLst/>
              <a:ahLst/>
              <a:cxnLst/>
              <a:rect l="0" t="0" r="0" b="0"/>
              <a:pathLst>
                <a:path w="125540" h="191">
                  <a:moveTo>
                    <a:pt x="0" y="0"/>
                  </a:moveTo>
                  <a:lnTo>
                    <a:pt x="125540" y="0"/>
                  </a:lnTo>
                </a:path>
              </a:pathLst>
            </a:custGeom>
            <a:noFill/>
            <a:ln w="8505">
              <a:solidFill>
                <a:srgbClr val="9481B1"/>
              </a:solidFill>
              <a:prstDash val="solid"/>
            </a:ln>
          </p:spPr>
        </p:sp>
        <p:sp>
          <p:nvSpPr>
            <p:cNvPr id="1329" name="Find receptor input head">
              <a:extLst>
                <a:ext uri="{FF2B5EF4-FFF2-40B4-BE49-F238E27FC236}">
                  <a16:creationId xmlns:a16="http://schemas.microsoft.com/office/drawing/2014/main" id="{A5463DF5-F357-C133-4537-3687854104BD}"/>
                </a:ext>
              </a:extLst>
            </p:cNvPr>
            <p:cNvSpPr>
              <a:spLocks noGrp="1"/>
            </p:cNvSpPr>
            <p:nvPr/>
          </p:nvSpPr>
          <p:spPr>
            <a:xfrm>
              <a:off x="3123088" y="3231886"/>
              <a:ext cx="66676" cy="57339"/>
            </a:xfrm>
            <a:custGeom>
              <a:avLst/>
              <a:gdLst/>
              <a:ahLst/>
              <a:cxnLst/>
              <a:rect l="0" t="0" r="0" b="0"/>
              <a:pathLst>
                <a:path w="66675" h="57340">
                  <a:moveTo>
                    <a:pt x="66675" y="28670"/>
                  </a:moveTo>
                  <a:lnTo>
                    <a:pt x="0" y="0"/>
                  </a:lnTo>
                  <a:lnTo>
                    <a:pt x="0" y="57340"/>
                  </a:lnTo>
                  <a:close/>
                </a:path>
              </a:pathLst>
            </a:custGeom>
            <a:solidFill>
              <a:srgbClr val="9481B1"/>
            </a:solidFill>
            <a:ln w="0">
              <a:noFill/>
              <a:prstDash val="solid"/>
            </a:ln>
          </p:spPr>
        </p:sp>
        <p:sp>
          <p:nvSpPr>
            <p:cNvPr id="1332" name="Find voxel output">
              <a:extLst>
                <a:ext uri="{FF2B5EF4-FFF2-40B4-BE49-F238E27FC236}">
                  <a16:creationId xmlns:a16="http://schemas.microsoft.com/office/drawing/2014/main" id="{A7A050F5-4BBD-83D0-3E56-868138C02A2E}"/>
                </a:ext>
              </a:extLst>
            </p:cNvPr>
            <p:cNvSpPr>
              <a:spLocks noGrp="1"/>
            </p:cNvSpPr>
            <p:nvPr/>
          </p:nvSpPr>
          <p:spPr>
            <a:xfrm>
              <a:off x="9750468" y="1544003"/>
              <a:ext cx="409314" cy="191"/>
            </a:xfrm>
            <a:custGeom>
              <a:avLst/>
              <a:gdLst/>
              <a:ahLst/>
              <a:cxnLst/>
              <a:rect l="0" t="0" r="0" b="0"/>
              <a:pathLst>
                <a:path w="252508" h="191">
                  <a:moveTo>
                    <a:pt x="0" y="0"/>
                  </a:moveTo>
                  <a:lnTo>
                    <a:pt x="252508" y="0"/>
                  </a:lnTo>
                </a:path>
              </a:pathLst>
            </a:custGeom>
            <a:noFill/>
            <a:ln w="8505">
              <a:solidFill>
                <a:srgbClr val="4083B4"/>
              </a:solidFill>
              <a:prstDash val="solid"/>
            </a:ln>
          </p:spPr>
        </p:sp>
        <p:sp>
          <p:nvSpPr>
            <p:cNvPr id="1333" name="Find voxel output head">
              <a:extLst>
                <a:ext uri="{FF2B5EF4-FFF2-40B4-BE49-F238E27FC236}">
                  <a16:creationId xmlns:a16="http://schemas.microsoft.com/office/drawing/2014/main" id="{375132D2-B1BA-3819-E6E4-408E45D3577A}"/>
                </a:ext>
              </a:extLst>
            </p:cNvPr>
            <p:cNvSpPr>
              <a:spLocks noGrp="1"/>
            </p:cNvSpPr>
            <p:nvPr/>
          </p:nvSpPr>
          <p:spPr>
            <a:xfrm>
              <a:off x="10116443" y="1515332"/>
              <a:ext cx="66675" cy="57340"/>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34" name="Find point output">
              <a:extLst>
                <a:ext uri="{FF2B5EF4-FFF2-40B4-BE49-F238E27FC236}">
                  <a16:creationId xmlns:a16="http://schemas.microsoft.com/office/drawing/2014/main" id="{E2AB92F8-FB1A-DF4D-C056-6A909BEA2DE1}"/>
                </a:ext>
              </a:extLst>
            </p:cNvPr>
            <p:cNvSpPr>
              <a:spLocks noGrp="1"/>
            </p:cNvSpPr>
            <p:nvPr/>
          </p:nvSpPr>
          <p:spPr>
            <a:xfrm>
              <a:off x="9750468" y="3107055"/>
              <a:ext cx="409314" cy="191"/>
            </a:xfrm>
            <a:custGeom>
              <a:avLst/>
              <a:gdLst/>
              <a:ahLst/>
              <a:cxnLst/>
              <a:rect l="0" t="0" r="0" b="0"/>
              <a:pathLst>
                <a:path w="252508" h="191">
                  <a:moveTo>
                    <a:pt x="0" y="0"/>
                  </a:moveTo>
                  <a:lnTo>
                    <a:pt x="252508" y="0"/>
                  </a:lnTo>
                </a:path>
              </a:pathLst>
            </a:custGeom>
            <a:noFill/>
            <a:ln w="8505">
              <a:solidFill>
                <a:srgbClr val="9481B1"/>
              </a:solidFill>
              <a:prstDash val="solid"/>
            </a:ln>
          </p:spPr>
        </p:sp>
        <p:sp>
          <p:nvSpPr>
            <p:cNvPr id="1335" name="Find point output head">
              <a:extLst>
                <a:ext uri="{FF2B5EF4-FFF2-40B4-BE49-F238E27FC236}">
                  <a16:creationId xmlns:a16="http://schemas.microsoft.com/office/drawing/2014/main" id="{28B06725-C3FB-3373-8A56-A66D9CE3ECA7}"/>
                </a:ext>
              </a:extLst>
            </p:cNvPr>
            <p:cNvSpPr>
              <a:spLocks noGrp="1"/>
            </p:cNvSpPr>
            <p:nvPr/>
          </p:nvSpPr>
          <p:spPr>
            <a:xfrm>
              <a:off x="10116443" y="3078385"/>
              <a:ext cx="66675" cy="57340"/>
            </a:xfrm>
            <a:custGeom>
              <a:avLst/>
              <a:gdLst/>
              <a:ahLst/>
              <a:cxnLst/>
              <a:rect l="0" t="0" r="0" b="0"/>
              <a:pathLst>
                <a:path w="66675" h="57340">
                  <a:moveTo>
                    <a:pt x="66675" y="28670"/>
                  </a:moveTo>
                  <a:lnTo>
                    <a:pt x="0" y="0"/>
                  </a:lnTo>
                  <a:lnTo>
                    <a:pt x="0" y="57340"/>
                  </a:lnTo>
                  <a:close/>
                </a:path>
              </a:pathLst>
            </a:custGeom>
            <a:solidFill>
              <a:srgbClr val="9481B1"/>
            </a:solidFill>
            <a:ln w="0">
              <a:noFill/>
              <a:prstDash val="solid"/>
            </a:ln>
          </p:spPr>
        </p:sp>
        <p:sp>
          <p:nvSpPr>
            <p:cNvPr id="1336" name="U-Net flow refined 1">
              <a:extLst>
                <a:ext uri="{FF2B5EF4-FFF2-40B4-BE49-F238E27FC236}">
                  <a16:creationId xmlns:a16="http://schemas.microsoft.com/office/drawing/2014/main" id="{5BDE2ECB-1CBA-ACB1-3426-F3E9F144A8A7}"/>
                </a:ext>
              </a:extLst>
            </p:cNvPr>
            <p:cNvSpPr>
              <a:spLocks noGrp="1"/>
            </p:cNvSpPr>
            <p:nvPr/>
          </p:nvSpPr>
          <p:spPr>
            <a:xfrm>
              <a:off x="5399638" y="1943100"/>
              <a:ext cx="71390" cy="191"/>
            </a:xfrm>
            <a:custGeom>
              <a:avLst/>
              <a:gdLst/>
              <a:ahLst/>
              <a:cxnLst/>
              <a:rect l="0" t="0" r="0" b="0"/>
              <a:pathLst>
                <a:path w="71390" h="191">
                  <a:moveTo>
                    <a:pt x="0" y="0"/>
                  </a:moveTo>
                  <a:lnTo>
                    <a:pt x="71390" y="0"/>
                  </a:lnTo>
                </a:path>
              </a:pathLst>
            </a:custGeom>
            <a:noFill/>
            <a:ln w="6480">
              <a:solidFill>
                <a:srgbClr val="4083B4"/>
              </a:solidFill>
              <a:prstDash val="solid"/>
            </a:ln>
          </p:spPr>
        </p:sp>
        <p:sp>
          <p:nvSpPr>
            <p:cNvPr id="1337" name="U-Net flow refined 1 head">
              <a:extLst>
                <a:ext uri="{FF2B5EF4-FFF2-40B4-BE49-F238E27FC236}">
                  <a16:creationId xmlns:a16="http://schemas.microsoft.com/office/drawing/2014/main" id="{94C963B0-6292-D96E-8000-E5176CACF1B1}"/>
                </a:ext>
              </a:extLst>
            </p:cNvPr>
            <p:cNvSpPr>
              <a:spLocks noGrp="1"/>
            </p:cNvSpPr>
            <p:nvPr/>
          </p:nvSpPr>
          <p:spPr>
            <a:xfrm>
              <a:off x="544440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38" name="U-Net flow refined 2">
              <a:extLst>
                <a:ext uri="{FF2B5EF4-FFF2-40B4-BE49-F238E27FC236}">
                  <a16:creationId xmlns:a16="http://schemas.microsoft.com/office/drawing/2014/main" id="{6EDFECDB-834F-45E8-C447-187E68499D36}"/>
                </a:ext>
              </a:extLst>
            </p:cNvPr>
            <p:cNvSpPr>
              <a:spLocks noGrp="1"/>
            </p:cNvSpPr>
            <p:nvPr/>
          </p:nvSpPr>
          <p:spPr>
            <a:xfrm>
              <a:off x="5856838" y="1943100"/>
              <a:ext cx="61865" cy="191"/>
            </a:xfrm>
            <a:custGeom>
              <a:avLst/>
              <a:gdLst/>
              <a:ahLst/>
              <a:cxnLst/>
              <a:rect l="0" t="0" r="0" b="0"/>
              <a:pathLst>
                <a:path w="61865" h="191">
                  <a:moveTo>
                    <a:pt x="0" y="0"/>
                  </a:moveTo>
                  <a:lnTo>
                    <a:pt x="61865" y="0"/>
                  </a:lnTo>
                </a:path>
              </a:pathLst>
            </a:custGeom>
            <a:noFill/>
            <a:ln w="6480">
              <a:solidFill>
                <a:srgbClr val="4083B4"/>
              </a:solidFill>
              <a:prstDash val="solid"/>
            </a:ln>
          </p:spPr>
        </p:sp>
        <p:sp>
          <p:nvSpPr>
            <p:cNvPr id="1339" name="U-Net flow refined 2 head">
              <a:extLst>
                <a:ext uri="{FF2B5EF4-FFF2-40B4-BE49-F238E27FC236}">
                  <a16:creationId xmlns:a16="http://schemas.microsoft.com/office/drawing/2014/main" id="{147D1FA6-05BE-3A5D-C1FE-78DB516DA9EB}"/>
                </a:ext>
              </a:extLst>
            </p:cNvPr>
            <p:cNvSpPr>
              <a:spLocks noGrp="1"/>
            </p:cNvSpPr>
            <p:nvPr/>
          </p:nvSpPr>
          <p:spPr>
            <a:xfrm>
              <a:off x="5892081"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0" name="U-Net flow refined 3">
              <a:extLst>
                <a:ext uri="{FF2B5EF4-FFF2-40B4-BE49-F238E27FC236}">
                  <a16:creationId xmlns:a16="http://schemas.microsoft.com/office/drawing/2014/main" id="{7AF7CF23-54DF-A29D-2F07-D36A3F45EDD2}"/>
                </a:ext>
              </a:extLst>
            </p:cNvPr>
            <p:cNvSpPr>
              <a:spLocks noGrp="1"/>
            </p:cNvSpPr>
            <p:nvPr/>
          </p:nvSpPr>
          <p:spPr>
            <a:xfrm>
              <a:off x="6428338" y="1943100"/>
              <a:ext cx="185690" cy="191"/>
            </a:xfrm>
            <a:custGeom>
              <a:avLst/>
              <a:gdLst/>
              <a:ahLst/>
              <a:cxnLst/>
              <a:rect l="0" t="0" r="0" b="0"/>
              <a:pathLst>
                <a:path w="185690" h="191">
                  <a:moveTo>
                    <a:pt x="0" y="0"/>
                  </a:moveTo>
                  <a:lnTo>
                    <a:pt x="185690" y="0"/>
                  </a:lnTo>
                </a:path>
              </a:pathLst>
            </a:custGeom>
            <a:noFill/>
            <a:ln w="6480">
              <a:solidFill>
                <a:srgbClr val="4083B4"/>
              </a:solidFill>
              <a:prstDash val="solid"/>
            </a:ln>
          </p:spPr>
        </p:sp>
        <p:sp>
          <p:nvSpPr>
            <p:cNvPr id="1341" name="U-Net flow refined 3 head">
              <a:extLst>
                <a:ext uri="{FF2B5EF4-FFF2-40B4-BE49-F238E27FC236}">
                  <a16:creationId xmlns:a16="http://schemas.microsoft.com/office/drawing/2014/main" id="{99F4C0B1-883D-15E1-DE1D-B9D0B602A47D}"/>
                </a:ext>
              </a:extLst>
            </p:cNvPr>
            <p:cNvSpPr>
              <a:spLocks noGrp="1"/>
            </p:cNvSpPr>
            <p:nvPr/>
          </p:nvSpPr>
          <p:spPr>
            <a:xfrm>
              <a:off x="658740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2" name="U-Net flow refined 4">
              <a:extLst>
                <a:ext uri="{FF2B5EF4-FFF2-40B4-BE49-F238E27FC236}">
                  <a16:creationId xmlns:a16="http://schemas.microsoft.com/office/drawing/2014/main" id="{1AB9AC41-CF99-6B25-72AE-CA5759E07BBC}"/>
                </a:ext>
              </a:extLst>
            </p:cNvPr>
            <p:cNvSpPr>
              <a:spLocks noGrp="1"/>
            </p:cNvSpPr>
            <p:nvPr/>
          </p:nvSpPr>
          <p:spPr>
            <a:xfrm>
              <a:off x="7704688" y="1943100"/>
              <a:ext cx="204740" cy="191"/>
            </a:xfrm>
            <a:custGeom>
              <a:avLst/>
              <a:gdLst/>
              <a:ahLst/>
              <a:cxnLst/>
              <a:rect l="0" t="0" r="0" b="0"/>
              <a:pathLst>
                <a:path w="204740" h="191">
                  <a:moveTo>
                    <a:pt x="0" y="0"/>
                  </a:moveTo>
                  <a:lnTo>
                    <a:pt x="204740" y="0"/>
                  </a:lnTo>
                </a:path>
              </a:pathLst>
            </a:custGeom>
            <a:noFill/>
            <a:ln w="6480">
              <a:solidFill>
                <a:srgbClr val="4083B4"/>
              </a:solidFill>
              <a:prstDash val="solid"/>
            </a:ln>
          </p:spPr>
        </p:sp>
        <p:sp>
          <p:nvSpPr>
            <p:cNvPr id="1343" name="U-Net flow refined 4 head">
              <a:extLst>
                <a:ext uri="{FF2B5EF4-FFF2-40B4-BE49-F238E27FC236}">
                  <a16:creationId xmlns:a16="http://schemas.microsoft.com/office/drawing/2014/main" id="{8B74AF9E-166C-456E-8C30-81819473FD65}"/>
                </a:ext>
              </a:extLst>
            </p:cNvPr>
            <p:cNvSpPr>
              <a:spLocks noGrp="1"/>
            </p:cNvSpPr>
            <p:nvPr/>
          </p:nvSpPr>
          <p:spPr>
            <a:xfrm>
              <a:off x="788280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4" name="U-Net flow refined 5">
              <a:extLst>
                <a:ext uri="{FF2B5EF4-FFF2-40B4-BE49-F238E27FC236}">
                  <a16:creationId xmlns:a16="http://schemas.microsoft.com/office/drawing/2014/main" id="{1DF9FEC8-127A-C6BF-A242-5459B8B47514}"/>
                </a:ext>
              </a:extLst>
            </p:cNvPr>
            <p:cNvSpPr>
              <a:spLocks noGrp="1"/>
            </p:cNvSpPr>
            <p:nvPr/>
          </p:nvSpPr>
          <p:spPr>
            <a:xfrm>
              <a:off x="8428588" y="1943100"/>
              <a:ext cx="71390" cy="191"/>
            </a:xfrm>
            <a:custGeom>
              <a:avLst/>
              <a:gdLst/>
              <a:ahLst/>
              <a:cxnLst/>
              <a:rect l="0" t="0" r="0" b="0"/>
              <a:pathLst>
                <a:path w="71390" h="191">
                  <a:moveTo>
                    <a:pt x="0" y="0"/>
                  </a:moveTo>
                  <a:lnTo>
                    <a:pt x="71390" y="0"/>
                  </a:lnTo>
                </a:path>
              </a:pathLst>
            </a:custGeom>
            <a:noFill/>
            <a:ln w="6480">
              <a:solidFill>
                <a:srgbClr val="4083B4"/>
              </a:solidFill>
              <a:prstDash val="solid"/>
            </a:ln>
          </p:spPr>
        </p:sp>
        <p:sp>
          <p:nvSpPr>
            <p:cNvPr id="1345" name="U-Net flow refined 5 head">
              <a:extLst>
                <a:ext uri="{FF2B5EF4-FFF2-40B4-BE49-F238E27FC236}">
                  <a16:creationId xmlns:a16="http://schemas.microsoft.com/office/drawing/2014/main" id="{235A2EBC-75E8-8D72-4A9D-B691D888DD1B}"/>
                </a:ext>
              </a:extLst>
            </p:cNvPr>
            <p:cNvSpPr>
              <a:spLocks noGrp="1"/>
            </p:cNvSpPr>
            <p:nvPr/>
          </p:nvSpPr>
          <p:spPr>
            <a:xfrm>
              <a:off x="847335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6" name="U-Net flow refined 6">
              <a:extLst>
                <a:ext uri="{FF2B5EF4-FFF2-40B4-BE49-F238E27FC236}">
                  <a16:creationId xmlns:a16="http://schemas.microsoft.com/office/drawing/2014/main" id="{E16F5364-FA67-8E77-55DD-31048ACFB369}"/>
                </a:ext>
              </a:extLst>
            </p:cNvPr>
            <p:cNvSpPr>
              <a:spLocks noGrp="1"/>
            </p:cNvSpPr>
            <p:nvPr/>
          </p:nvSpPr>
          <p:spPr>
            <a:xfrm>
              <a:off x="8866738" y="1943100"/>
              <a:ext cx="90440" cy="191"/>
            </a:xfrm>
            <a:custGeom>
              <a:avLst/>
              <a:gdLst/>
              <a:ahLst/>
              <a:cxnLst/>
              <a:rect l="0" t="0" r="0" b="0"/>
              <a:pathLst>
                <a:path w="90440" h="191">
                  <a:moveTo>
                    <a:pt x="0" y="0"/>
                  </a:moveTo>
                  <a:lnTo>
                    <a:pt x="90440" y="0"/>
                  </a:lnTo>
                </a:path>
              </a:pathLst>
            </a:custGeom>
            <a:noFill/>
            <a:ln w="6480">
              <a:solidFill>
                <a:srgbClr val="4083B4"/>
              </a:solidFill>
              <a:prstDash val="solid"/>
            </a:ln>
          </p:spPr>
        </p:sp>
        <p:sp>
          <p:nvSpPr>
            <p:cNvPr id="1347" name="U-Net flow refined 6 head">
              <a:extLst>
                <a:ext uri="{FF2B5EF4-FFF2-40B4-BE49-F238E27FC236}">
                  <a16:creationId xmlns:a16="http://schemas.microsoft.com/office/drawing/2014/main" id="{CAB8405E-639F-441D-4076-97C5C8079141}"/>
                </a:ext>
              </a:extLst>
            </p:cNvPr>
            <p:cNvSpPr>
              <a:spLocks noGrp="1"/>
            </p:cNvSpPr>
            <p:nvPr/>
          </p:nvSpPr>
          <p:spPr>
            <a:xfrm>
              <a:off x="893055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8" name="Skip outer refined">
              <a:extLst>
                <a:ext uri="{FF2B5EF4-FFF2-40B4-BE49-F238E27FC236}">
                  <a16:creationId xmlns:a16="http://schemas.microsoft.com/office/drawing/2014/main" id="{FCEC7BC5-9C91-5A2D-286F-54CED1B58658}"/>
                </a:ext>
              </a:extLst>
            </p:cNvPr>
            <p:cNvSpPr>
              <a:spLocks noGrp="1"/>
            </p:cNvSpPr>
            <p:nvPr/>
          </p:nvSpPr>
          <p:spPr>
            <a:xfrm>
              <a:off x="4990063" y="1209675"/>
              <a:ext cx="4333875" cy="219075"/>
            </a:xfrm>
            <a:custGeom>
              <a:avLst/>
              <a:gdLst/>
              <a:ahLst/>
              <a:cxnLst/>
              <a:rect l="0" t="0" r="0" b="0"/>
              <a:pathLst>
                <a:path w="4333875" h="219075">
                  <a:moveTo>
                    <a:pt x="0" y="219075"/>
                  </a:moveTo>
                  <a:lnTo>
                    <a:pt x="0" y="0"/>
                  </a:lnTo>
                  <a:lnTo>
                    <a:pt x="4333875" y="0"/>
                  </a:lnTo>
                  <a:lnTo>
                    <a:pt x="4333875" y="204073"/>
                  </a:lnTo>
                </a:path>
              </a:pathLst>
            </a:custGeom>
            <a:noFill/>
            <a:ln w="5468">
              <a:solidFill>
                <a:srgbClr val="85AFCB"/>
              </a:solidFill>
              <a:prstDash val="dash"/>
            </a:ln>
          </p:spPr>
        </p:sp>
        <p:sp>
          <p:nvSpPr>
            <p:cNvPr id="1349" name="Skip outer refined head">
              <a:extLst>
                <a:ext uri="{FF2B5EF4-FFF2-40B4-BE49-F238E27FC236}">
                  <a16:creationId xmlns:a16="http://schemas.microsoft.com/office/drawing/2014/main" id="{D6AAD354-1253-F73A-1F09-0D42951F0AD2}"/>
                </a:ext>
              </a:extLst>
            </p:cNvPr>
            <p:cNvSpPr>
              <a:spLocks noGrp="1"/>
            </p:cNvSpPr>
            <p:nvPr/>
          </p:nvSpPr>
          <p:spPr>
            <a:xfrm>
              <a:off x="9305507" y="1385888"/>
              <a:ext cx="36862" cy="42863"/>
            </a:xfrm>
            <a:custGeom>
              <a:avLst/>
              <a:gdLst/>
              <a:ahLst/>
              <a:cxnLst/>
              <a:rect l="0" t="0" r="0" b="0"/>
              <a:pathLst>
                <a:path w="36862" h="42863">
                  <a:moveTo>
                    <a:pt x="18431" y="42863"/>
                  </a:moveTo>
                  <a:lnTo>
                    <a:pt x="36862" y="0"/>
                  </a:lnTo>
                  <a:lnTo>
                    <a:pt x="0" y="0"/>
                  </a:lnTo>
                  <a:close/>
                </a:path>
              </a:pathLst>
            </a:custGeom>
            <a:solidFill>
              <a:srgbClr val="85AFCB"/>
            </a:solidFill>
            <a:ln w="0">
              <a:noFill/>
              <a:prstDash val="solid"/>
            </a:ln>
          </p:spPr>
        </p:sp>
        <p:sp>
          <p:nvSpPr>
            <p:cNvPr id="1350" name="Skip middle refined">
              <a:extLst>
                <a:ext uri="{FF2B5EF4-FFF2-40B4-BE49-F238E27FC236}">
                  <a16:creationId xmlns:a16="http://schemas.microsoft.com/office/drawing/2014/main" id="{E944DD48-0E77-62B4-4E66-FC482D648DB0}"/>
                </a:ext>
              </a:extLst>
            </p:cNvPr>
            <p:cNvSpPr>
              <a:spLocks noGrp="1"/>
            </p:cNvSpPr>
            <p:nvPr/>
          </p:nvSpPr>
          <p:spPr>
            <a:xfrm>
              <a:off x="5628238" y="1295400"/>
              <a:ext cx="3067050" cy="266700"/>
            </a:xfrm>
            <a:custGeom>
              <a:avLst/>
              <a:gdLst/>
              <a:ahLst/>
              <a:cxnLst/>
              <a:rect l="0" t="0" r="0" b="0"/>
              <a:pathLst>
                <a:path w="3067050" h="266700">
                  <a:moveTo>
                    <a:pt x="0" y="266700"/>
                  </a:moveTo>
                  <a:lnTo>
                    <a:pt x="0" y="0"/>
                  </a:lnTo>
                  <a:lnTo>
                    <a:pt x="3067050" y="0"/>
                  </a:lnTo>
                  <a:lnTo>
                    <a:pt x="3067050" y="251698"/>
                  </a:lnTo>
                </a:path>
              </a:pathLst>
            </a:custGeom>
            <a:noFill/>
            <a:ln w="5468">
              <a:solidFill>
                <a:srgbClr val="85AFCB"/>
              </a:solidFill>
              <a:prstDash val="dash"/>
            </a:ln>
          </p:spPr>
        </p:sp>
        <p:sp>
          <p:nvSpPr>
            <p:cNvPr id="1351" name="Skip middle refined head">
              <a:extLst>
                <a:ext uri="{FF2B5EF4-FFF2-40B4-BE49-F238E27FC236}">
                  <a16:creationId xmlns:a16="http://schemas.microsoft.com/office/drawing/2014/main" id="{5D984C66-44F4-6C0C-29FA-C26BCC014DA5}"/>
                </a:ext>
              </a:extLst>
            </p:cNvPr>
            <p:cNvSpPr>
              <a:spLocks noGrp="1"/>
            </p:cNvSpPr>
            <p:nvPr/>
          </p:nvSpPr>
          <p:spPr>
            <a:xfrm>
              <a:off x="8676857" y="1519238"/>
              <a:ext cx="36862" cy="42863"/>
            </a:xfrm>
            <a:custGeom>
              <a:avLst/>
              <a:gdLst/>
              <a:ahLst/>
              <a:cxnLst/>
              <a:rect l="0" t="0" r="0" b="0"/>
              <a:pathLst>
                <a:path w="36862" h="42863">
                  <a:moveTo>
                    <a:pt x="18431" y="42863"/>
                  </a:moveTo>
                  <a:lnTo>
                    <a:pt x="36862" y="0"/>
                  </a:lnTo>
                  <a:lnTo>
                    <a:pt x="0" y="0"/>
                  </a:lnTo>
                  <a:close/>
                </a:path>
              </a:pathLst>
            </a:custGeom>
            <a:solidFill>
              <a:srgbClr val="85AFCB"/>
            </a:solidFill>
            <a:ln w="0">
              <a:noFill/>
              <a:prstDash val="solid"/>
            </a:ln>
          </p:spPr>
        </p:sp>
        <p:sp>
          <p:nvSpPr>
            <p:cNvPr id="1352" name="Skip inner refined">
              <a:extLst>
                <a:ext uri="{FF2B5EF4-FFF2-40B4-BE49-F238E27FC236}">
                  <a16:creationId xmlns:a16="http://schemas.microsoft.com/office/drawing/2014/main" id="{796339B7-CA5C-9A6F-F626-7D7B76227D0E}"/>
                </a:ext>
              </a:extLst>
            </p:cNvPr>
            <p:cNvSpPr>
              <a:spLocks noGrp="1"/>
            </p:cNvSpPr>
            <p:nvPr/>
          </p:nvSpPr>
          <p:spPr>
            <a:xfrm>
              <a:off x="6152113" y="1381125"/>
              <a:ext cx="2000250" cy="323850"/>
            </a:xfrm>
            <a:custGeom>
              <a:avLst/>
              <a:gdLst/>
              <a:ahLst/>
              <a:cxnLst/>
              <a:rect l="0" t="0" r="0" b="0"/>
              <a:pathLst>
                <a:path w="2000250" h="323850">
                  <a:moveTo>
                    <a:pt x="0" y="323850"/>
                  </a:moveTo>
                  <a:lnTo>
                    <a:pt x="0" y="0"/>
                  </a:lnTo>
                  <a:lnTo>
                    <a:pt x="2000250" y="0"/>
                  </a:lnTo>
                  <a:lnTo>
                    <a:pt x="2000250" y="308848"/>
                  </a:lnTo>
                </a:path>
              </a:pathLst>
            </a:custGeom>
            <a:noFill/>
            <a:ln w="5468">
              <a:solidFill>
                <a:srgbClr val="85AFCB"/>
              </a:solidFill>
              <a:prstDash val="dash"/>
            </a:ln>
          </p:spPr>
        </p:sp>
        <p:sp>
          <p:nvSpPr>
            <p:cNvPr id="1353" name="Skip inner refined head">
              <a:extLst>
                <a:ext uri="{FF2B5EF4-FFF2-40B4-BE49-F238E27FC236}">
                  <a16:creationId xmlns:a16="http://schemas.microsoft.com/office/drawing/2014/main" id="{5389494F-4196-1B0C-C069-F40391B0419B}"/>
                </a:ext>
              </a:extLst>
            </p:cNvPr>
            <p:cNvSpPr>
              <a:spLocks noGrp="1"/>
            </p:cNvSpPr>
            <p:nvPr/>
          </p:nvSpPr>
          <p:spPr>
            <a:xfrm>
              <a:off x="8133932" y="1662113"/>
              <a:ext cx="36862" cy="42863"/>
            </a:xfrm>
            <a:custGeom>
              <a:avLst/>
              <a:gdLst/>
              <a:ahLst/>
              <a:cxnLst/>
              <a:rect l="0" t="0" r="0" b="0"/>
              <a:pathLst>
                <a:path w="36862" h="42863">
                  <a:moveTo>
                    <a:pt x="18431" y="42863"/>
                  </a:moveTo>
                  <a:lnTo>
                    <a:pt x="36862" y="0"/>
                  </a:lnTo>
                  <a:lnTo>
                    <a:pt x="0" y="0"/>
                  </a:lnTo>
                  <a:close/>
                </a:path>
              </a:pathLst>
            </a:custGeom>
            <a:solidFill>
              <a:srgbClr val="85AFCB"/>
            </a:solidFill>
            <a:ln w="0">
              <a:noFill/>
              <a:prstDash val="solid"/>
            </a:ln>
          </p:spPr>
        </p:sp>
        <p:sp>
          <p:nvSpPr>
            <p:cNvPr id="1354" name="PTV3 forward refined 1">
              <a:extLst>
                <a:ext uri="{FF2B5EF4-FFF2-40B4-BE49-F238E27FC236}">
                  <a16:creationId xmlns:a16="http://schemas.microsoft.com/office/drawing/2014/main" id="{B0492619-D665-D0F6-7061-EDCBCE3DDA3A}"/>
                </a:ext>
              </a:extLst>
            </p:cNvPr>
            <p:cNvSpPr>
              <a:spLocks noGrp="1"/>
            </p:cNvSpPr>
            <p:nvPr/>
          </p:nvSpPr>
          <p:spPr>
            <a:xfrm>
              <a:off x="5518129" y="3106769"/>
              <a:ext cx="255746" cy="191"/>
            </a:xfrm>
            <a:custGeom>
              <a:avLst/>
              <a:gdLst/>
              <a:ahLst/>
              <a:cxnLst/>
              <a:rect l="0" t="0" r="0" b="0"/>
              <a:pathLst>
                <a:path w="255746" h="191">
                  <a:moveTo>
                    <a:pt x="0" y="0"/>
                  </a:moveTo>
                  <a:lnTo>
                    <a:pt x="255746" y="0"/>
                  </a:lnTo>
                </a:path>
              </a:pathLst>
            </a:custGeom>
            <a:noFill/>
            <a:ln w="8505">
              <a:solidFill>
                <a:srgbClr val="9481B1"/>
              </a:solidFill>
              <a:prstDash val="solid"/>
            </a:ln>
          </p:spPr>
        </p:sp>
        <p:sp>
          <p:nvSpPr>
            <p:cNvPr id="1355" name="PTV3 forward refined 1 head">
              <a:extLst>
                <a:ext uri="{FF2B5EF4-FFF2-40B4-BE49-F238E27FC236}">
                  <a16:creationId xmlns:a16="http://schemas.microsoft.com/office/drawing/2014/main" id="{B7BCE76F-C831-1ABC-ADA2-90D7588CB987}"/>
                </a:ext>
              </a:extLst>
            </p:cNvPr>
            <p:cNvSpPr>
              <a:spLocks noGrp="1"/>
            </p:cNvSpPr>
            <p:nvPr/>
          </p:nvSpPr>
          <p:spPr>
            <a:xfrm>
              <a:off x="5730537" y="3078099"/>
              <a:ext cx="66675" cy="57340"/>
            </a:xfrm>
            <a:custGeom>
              <a:avLst/>
              <a:gdLst/>
              <a:ahLst/>
              <a:cxnLst/>
              <a:rect l="0" t="0" r="0" b="0"/>
              <a:pathLst>
                <a:path w="66675" h="57340">
                  <a:moveTo>
                    <a:pt x="66675" y="28670"/>
                  </a:moveTo>
                  <a:lnTo>
                    <a:pt x="0" y="0"/>
                  </a:lnTo>
                  <a:lnTo>
                    <a:pt x="0" y="57340"/>
                  </a:lnTo>
                  <a:close/>
                </a:path>
              </a:pathLst>
            </a:custGeom>
            <a:solidFill>
              <a:srgbClr val="9481B1"/>
            </a:solidFill>
            <a:ln w="0">
              <a:noFill/>
              <a:prstDash val="solid"/>
            </a:ln>
          </p:spPr>
        </p:sp>
        <p:sp>
          <p:nvSpPr>
            <p:cNvPr id="1356" name="PTV3 forward refined 2">
              <a:extLst>
                <a:ext uri="{FF2B5EF4-FFF2-40B4-BE49-F238E27FC236}">
                  <a16:creationId xmlns:a16="http://schemas.microsoft.com/office/drawing/2014/main" id="{24AE15E3-3B2D-CC4A-618E-E9BB13DA2E16}"/>
                </a:ext>
              </a:extLst>
            </p:cNvPr>
            <p:cNvSpPr>
              <a:spLocks noGrp="1"/>
            </p:cNvSpPr>
            <p:nvPr/>
          </p:nvSpPr>
          <p:spPr>
            <a:xfrm>
              <a:off x="6522731" y="3106769"/>
              <a:ext cx="311563" cy="191"/>
            </a:xfrm>
            <a:custGeom>
              <a:avLst/>
              <a:gdLst/>
              <a:ahLst/>
              <a:cxnLst/>
              <a:rect l="0" t="0" r="0" b="0"/>
              <a:pathLst>
                <a:path w="311563" h="191">
                  <a:moveTo>
                    <a:pt x="0" y="0"/>
                  </a:moveTo>
                  <a:lnTo>
                    <a:pt x="311563" y="0"/>
                  </a:lnTo>
                </a:path>
              </a:pathLst>
            </a:custGeom>
            <a:noFill/>
            <a:ln w="8505">
              <a:solidFill>
                <a:srgbClr val="9481B1"/>
              </a:solidFill>
              <a:prstDash val="solid"/>
            </a:ln>
          </p:spPr>
        </p:sp>
        <p:sp>
          <p:nvSpPr>
            <p:cNvPr id="1357" name="PTV3 forward refined 2 head">
              <a:extLst>
                <a:ext uri="{FF2B5EF4-FFF2-40B4-BE49-F238E27FC236}">
                  <a16:creationId xmlns:a16="http://schemas.microsoft.com/office/drawing/2014/main" id="{8007E90B-E49B-BC36-45F6-E1B46BA41A6C}"/>
                </a:ext>
              </a:extLst>
            </p:cNvPr>
            <p:cNvSpPr>
              <a:spLocks noGrp="1"/>
            </p:cNvSpPr>
            <p:nvPr/>
          </p:nvSpPr>
          <p:spPr>
            <a:xfrm>
              <a:off x="6790955" y="3078099"/>
              <a:ext cx="66675" cy="57340"/>
            </a:xfrm>
            <a:custGeom>
              <a:avLst/>
              <a:gdLst/>
              <a:ahLst/>
              <a:cxnLst/>
              <a:rect l="0" t="0" r="0" b="0"/>
              <a:pathLst>
                <a:path w="66675" h="57340">
                  <a:moveTo>
                    <a:pt x="66675" y="28670"/>
                  </a:moveTo>
                  <a:lnTo>
                    <a:pt x="0" y="0"/>
                  </a:lnTo>
                  <a:lnTo>
                    <a:pt x="0" y="57340"/>
                  </a:lnTo>
                  <a:close/>
                </a:path>
              </a:pathLst>
            </a:custGeom>
            <a:solidFill>
              <a:srgbClr val="9481B1"/>
            </a:solidFill>
            <a:ln w="0">
              <a:noFill/>
              <a:prstDash val="solid"/>
            </a:ln>
          </p:spPr>
        </p:sp>
        <p:sp>
          <p:nvSpPr>
            <p:cNvPr id="1358" name="PTV3 forward refined 3">
              <a:extLst>
                <a:ext uri="{FF2B5EF4-FFF2-40B4-BE49-F238E27FC236}">
                  <a16:creationId xmlns:a16="http://schemas.microsoft.com/office/drawing/2014/main" id="{2D087525-2ABD-3A01-10DA-7F65FB2DD09A}"/>
                </a:ext>
              </a:extLst>
            </p:cNvPr>
            <p:cNvSpPr>
              <a:spLocks noGrp="1"/>
            </p:cNvSpPr>
            <p:nvPr/>
          </p:nvSpPr>
          <p:spPr>
            <a:xfrm>
              <a:off x="7508759" y="3106769"/>
              <a:ext cx="311563" cy="191"/>
            </a:xfrm>
            <a:custGeom>
              <a:avLst/>
              <a:gdLst/>
              <a:ahLst/>
              <a:cxnLst/>
              <a:rect l="0" t="0" r="0" b="0"/>
              <a:pathLst>
                <a:path w="311563" h="191">
                  <a:moveTo>
                    <a:pt x="0" y="0"/>
                  </a:moveTo>
                  <a:lnTo>
                    <a:pt x="311563" y="0"/>
                  </a:lnTo>
                </a:path>
              </a:pathLst>
            </a:custGeom>
            <a:noFill/>
            <a:ln w="8505">
              <a:solidFill>
                <a:srgbClr val="9481B1"/>
              </a:solidFill>
              <a:prstDash val="solid"/>
            </a:ln>
          </p:spPr>
        </p:sp>
        <p:sp>
          <p:nvSpPr>
            <p:cNvPr id="1359" name="PTV3 forward refined 3 head">
              <a:extLst>
                <a:ext uri="{FF2B5EF4-FFF2-40B4-BE49-F238E27FC236}">
                  <a16:creationId xmlns:a16="http://schemas.microsoft.com/office/drawing/2014/main" id="{417DAC3E-DE7D-4EBD-83BF-06F7FB2A8085}"/>
                </a:ext>
              </a:extLst>
            </p:cNvPr>
            <p:cNvSpPr>
              <a:spLocks noGrp="1"/>
            </p:cNvSpPr>
            <p:nvPr/>
          </p:nvSpPr>
          <p:spPr>
            <a:xfrm>
              <a:off x="7776983" y="3078099"/>
              <a:ext cx="66675" cy="57340"/>
            </a:xfrm>
            <a:custGeom>
              <a:avLst/>
              <a:gdLst/>
              <a:ahLst/>
              <a:cxnLst/>
              <a:rect l="0" t="0" r="0" b="0"/>
              <a:pathLst>
                <a:path w="66675" h="57340">
                  <a:moveTo>
                    <a:pt x="66675" y="28670"/>
                  </a:moveTo>
                  <a:lnTo>
                    <a:pt x="0" y="0"/>
                  </a:lnTo>
                  <a:lnTo>
                    <a:pt x="0" y="57340"/>
                  </a:lnTo>
                  <a:close/>
                </a:path>
              </a:pathLst>
            </a:custGeom>
            <a:solidFill>
              <a:srgbClr val="9481B1"/>
            </a:solidFill>
            <a:ln w="0">
              <a:noFill/>
              <a:prstDash val="solid"/>
            </a:ln>
          </p:spPr>
        </p:sp>
        <p:sp>
          <p:nvSpPr>
            <p:cNvPr id="1360" name="PTV3 forward refined 4">
              <a:extLst>
                <a:ext uri="{FF2B5EF4-FFF2-40B4-BE49-F238E27FC236}">
                  <a16:creationId xmlns:a16="http://schemas.microsoft.com/office/drawing/2014/main" id="{3F66A9B7-F35C-EB4C-B102-3F29A4296978}"/>
                </a:ext>
              </a:extLst>
            </p:cNvPr>
            <p:cNvSpPr>
              <a:spLocks noGrp="1"/>
            </p:cNvSpPr>
            <p:nvPr/>
          </p:nvSpPr>
          <p:spPr>
            <a:xfrm>
              <a:off x="8569082" y="3106769"/>
              <a:ext cx="255746" cy="191"/>
            </a:xfrm>
            <a:custGeom>
              <a:avLst/>
              <a:gdLst/>
              <a:ahLst/>
              <a:cxnLst/>
              <a:rect l="0" t="0" r="0" b="0"/>
              <a:pathLst>
                <a:path w="255746" h="191">
                  <a:moveTo>
                    <a:pt x="0" y="0"/>
                  </a:moveTo>
                  <a:lnTo>
                    <a:pt x="255746" y="0"/>
                  </a:lnTo>
                </a:path>
              </a:pathLst>
            </a:custGeom>
            <a:noFill/>
            <a:ln w="8505">
              <a:solidFill>
                <a:srgbClr val="9481B1"/>
              </a:solidFill>
              <a:prstDash val="solid"/>
            </a:ln>
          </p:spPr>
        </p:sp>
        <p:sp>
          <p:nvSpPr>
            <p:cNvPr id="1361" name="PTV3 forward refined 4 head">
              <a:extLst>
                <a:ext uri="{FF2B5EF4-FFF2-40B4-BE49-F238E27FC236}">
                  <a16:creationId xmlns:a16="http://schemas.microsoft.com/office/drawing/2014/main" id="{4634E7DB-F8E3-B989-4F8D-785672F195B4}"/>
                </a:ext>
              </a:extLst>
            </p:cNvPr>
            <p:cNvSpPr>
              <a:spLocks noGrp="1"/>
            </p:cNvSpPr>
            <p:nvPr/>
          </p:nvSpPr>
          <p:spPr>
            <a:xfrm>
              <a:off x="8781489" y="3078099"/>
              <a:ext cx="66675" cy="57340"/>
            </a:xfrm>
            <a:custGeom>
              <a:avLst/>
              <a:gdLst/>
              <a:ahLst/>
              <a:cxnLst/>
              <a:rect l="0" t="0" r="0" b="0"/>
              <a:pathLst>
                <a:path w="66675" h="57340">
                  <a:moveTo>
                    <a:pt x="66675" y="28670"/>
                  </a:moveTo>
                  <a:lnTo>
                    <a:pt x="0" y="0"/>
                  </a:lnTo>
                  <a:lnTo>
                    <a:pt x="0" y="57340"/>
                  </a:lnTo>
                  <a:close/>
                </a:path>
              </a:pathLst>
            </a:custGeom>
            <a:solidFill>
              <a:srgbClr val="9481B1"/>
            </a:solidFill>
            <a:ln w="0">
              <a:noFill/>
              <a:prstDash val="solid"/>
            </a:ln>
          </p:spPr>
        </p:sp>
        <p:sp>
          <p:nvSpPr>
            <p:cNvPr id="1362" name="Fusion refined 487.16">
              <a:extLst>
                <a:ext uri="{FF2B5EF4-FFF2-40B4-BE49-F238E27FC236}">
                  <a16:creationId xmlns:a16="http://schemas.microsoft.com/office/drawing/2014/main" id="{0FF19FA3-F74F-0EF3-2637-6AA25406EF88}"/>
                </a:ext>
              </a:extLst>
            </p:cNvPr>
            <p:cNvSpPr>
              <a:spLocks noGrp="1"/>
            </p:cNvSpPr>
            <p:nvPr/>
          </p:nvSpPr>
          <p:spPr>
            <a:xfrm>
              <a:off x="5155417" y="2418493"/>
              <a:ext cx="191" cy="404527"/>
            </a:xfrm>
            <a:custGeom>
              <a:avLst/>
              <a:gdLst/>
              <a:ahLst/>
              <a:cxnLst/>
              <a:rect l="0" t="0" r="0" b="0"/>
              <a:pathLst>
                <a:path w="191" h="404527">
                  <a:moveTo>
                    <a:pt x="0" y="0"/>
                  </a:moveTo>
                  <a:lnTo>
                    <a:pt x="0" y="404527"/>
                  </a:lnTo>
                </a:path>
              </a:pathLst>
            </a:custGeom>
            <a:noFill/>
            <a:ln w="8505">
              <a:solidFill>
                <a:srgbClr val="4083B4"/>
              </a:solidFill>
              <a:prstDash val="solid"/>
            </a:ln>
          </p:spPr>
        </p:sp>
        <p:sp>
          <p:nvSpPr>
            <p:cNvPr id="1363" name="Fusion refined 487.16 head">
              <a:extLst>
                <a:ext uri="{FF2B5EF4-FFF2-40B4-BE49-F238E27FC236}">
                  <a16:creationId xmlns:a16="http://schemas.microsoft.com/office/drawing/2014/main" id="{3D13397A-1EED-4CCF-C88D-62A5EFCF622C}"/>
                </a:ext>
              </a:extLst>
            </p:cNvPr>
            <p:cNvSpPr>
              <a:spLocks noGrp="1"/>
            </p:cNvSpPr>
            <p:nvPr/>
          </p:nvSpPr>
          <p:spPr>
            <a:xfrm>
              <a:off x="5126747" y="2779681"/>
              <a:ext cx="57340" cy="66675"/>
            </a:xfrm>
            <a:custGeom>
              <a:avLst/>
              <a:gdLst/>
              <a:ahLst/>
              <a:cxnLst/>
              <a:rect l="0" t="0" r="0" b="0"/>
              <a:pathLst>
                <a:path w="57340" h="66675">
                  <a:moveTo>
                    <a:pt x="28670" y="66675"/>
                  </a:moveTo>
                  <a:lnTo>
                    <a:pt x="57340" y="0"/>
                  </a:lnTo>
                  <a:lnTo>
                    <a:pt x="0" y="0"/>
                  </a:lnTo>
                  <a:close/>
                </a:path>
              </a:pathLst>
            </a:custGeom>
            <a:solidFill>
              <a:srgbClr val="4083B4"/>
            </a:solidFill>
            <a:ln w="0">
              <a:noFill/>
              <a:prstDash val="solid"/>
            </a:ln>
          </p:spPr>
        </p:sp>
        <p:sp>
          <p:nvSpPr>
            <p:cNvPr id="1364" name="Fusion refined 700.05">
              <a:extLst>
                <a:ext uri="{FF2B5EF4-FFF2-40B4-BE49-F238E27FC236}">
                  <a16:creationId xmlns:a16="http://schemas.microsoft.com/office/drawing/2014/main" id="{F3328C85-8D10-5BAE-F06A-A042F88B4457}"/>
                </a:ext>
              </a:extLst>
            </p:cNvPr>
            <p:cNvSpPr>
              <a:spLocks noGrp="1"/>
            </p:cNvSpPr>
            <p:nvPr/>
          </p:nvSpPr>
          <p:spPr>
            <a:xfrm>
              <a:off x="7183194" y="2418493"/>
              <a:ext cx="191" cy="404527"/>
            </a:xfrm>
            <a:custGeom>
              <a:avLst/>
              <a:gdLst/>
              <a:ahLst/>
              <a:cxnLst/>
              <a:rect l="0" t="0" r="0" b="0"/>
              <a:pathLst>
                <a:path w="191" h="404527">
                  <a:moveTo>
                    <a:pt x="0" y="0"/>
                  </a:moveTo>
                  <a:lnTo>
                    <a:pt x="0" y="404527"/>
                  </a:lnTo>
                </a:path>
              </a:pathLst>
            </a:custGeom>
            <a:noFill/>
            <a:ln w="8505">
              <a:solidFill>
                <a:srgbClr val="4083B4"/>
              </a:solidFill>
              <a:prstDash val="solid"/>
            </a:ln>
          </p:spPr>
        </p:sp>
        <p:sp>
          <p:nvSpPr>
            <p:cNvPr id="1365" name="Fusion refined 700.05 head">
              <a:extLst>
                <a:ext uri="{FF2B5EF4-FFF2-40B4-BE49-F238E27FC236}">
                  <a16:creationId xmlns:a16="http://schemas.microsoft.com/office/drawing/2014/main" id="{615DF42F-7A96-D005-2B04-2E5B83AF189A}"/>
                </a:ext>
              </a:extLst>
            </p:cNvPr>
            <p:cNvSpPr>
              <a:spLocks noGrp="1"/>
            </p:cNvSpPr>
            <p:nvPr/>
          </p:nvSpPr>
          <p:spPr>
            <a:xfrm>
              <a:off x="7154524" y="2779681"/>
              <a:ext cx="57340" cy="66675"/>
            </a:xfrm>
            <a:custGeom>
              <a:avLst/>
              <a:gdLst/>
              <a:ahLst/>
              <a:cxnLst/>
              <a:rect l="0" t="0" r="0" b="0"/>
              <a:pathLst>
                <a:path w="57340" h="66675">
                  <a:moveTo>
                    <a:pt x="28670" y="66675"/>
                  </a:moveTo>
                  <a:lnTo>
                    <a:pt x="57340" y="0"/>
                  </a:lnTo>
                  <a:lnTo>
                    <a:pt x="0" y="0"/>
                  </a:lnTo>
                  <a:close/>
                </a:path>
              </a:pathLst>
            </a:custGeom>
            <a:solidFill>
              <a:srgbClr val="4083B4"/>
            </a:solidFill>
            <a:ln w="0">
              <a:noFill/>
              <a:prstDash val="solid"/>
            </a:ln>
          </p:spPr>
        </p:sp>
        <p:sp>
          <p:nvSpPr>
            <p:cNvPr id="1366" name="Fusion refined 912.94">
              <a:extLst>
                <a:ext uri="{FF2B5EF4-FFF2-40B4-BE49-F238E27FC236}">
                  <a16:creationId xmlns:a16="http://schemas.microsoft.com/office/drawing/2014/main" id="{8F954EB4-FAB9-9DC0-DCA1-6E84B625ECD7}"/>
                </a:ext>
              </a:extLst>
            </p:cNvPr>
            <p:cNvSpPr>
              <a:spLocks noGrp="1"/>
            </p:cNvSpPr>
            <p:nvPr/>
          </p:nvSpPr>
          <p:spPr>
            <a:xfrm>
              <a:off x="9210972" y="2418493"/>
              <a:ext cx="191" cy="404527"/>
            </a:xfrm>
            <a:custGeom>
              <a:avLst/>
              <a:gdLst/>
              <a:ahLst/>
              <a:cxnLst/>
              <a:rect l="0" t="0" r="0" b="0"/>
              <a:pathLst>
                <a:path w="191" h="404527">
                  <a:moveTo>
                    <a:pt x="0" y="0"/>
                  </a:moveTo>
                  <a:lnTo>
                    <a:pt x="0" y="404527"/>
                  </a:lnTo>
                </a:path>
              </a:pathLst>
            </a:custGeom>
            <a:noFill/>
            <a:ln w="8505">
              <a:solidFill>
                <a:srgbClr val="4083B4"/>
              </a:solidFill>
              <a:prstDash val="solid"/>
            </a:ln>
          </p:spPr>
        </p:sp>
        <p:sp>
          <p:nvSpPr>
            <p:cNvPr id="1367" name="Fusion refined 912.94 head">
              <a:extLst>
                <a:ext uri="{FF2B5EF4-FFF2-40B4-BE49-F238E27FC236}">
                  <a16:creationId xmlns:a16="http://schemas.microsoft.com/office/drawing/2014/main" id="{DDC6F6E8-2600-F9F0-8C4C-DF220F079064}"/>
                </a:ext>
              </a:extLst>
            </p:cNvPr>
            <p:cNvSpPr>
              <a:spLocks noGrp="1"/>
            </p:cNvSpPr>
            <p:nvPr/>
          </p:nvSpPr>
          <p:spPr>
            <a:xfrm>
              <a:off x="9182301" y="2779681"/>
              <a:ext cx="57340" cy="66675"/>
            </a:xfrm>
            <a:custGeom>
              <a:avLst/>
              <a:gdLst/>
              <a:ahLst/>
              <a:cxnLst/>
              <a:rect l="0" t="0" r="0" b="0"/>
              <a:pathLst>
                <a:path w="57340" h="66675">
                  <a:moveTo>
                    <a:pt x="28670" y="66675"/>
                  </a:moveTo>
                  <a:lnTo>
                    <a:pt x="57340" y="0"/>
                  </a:lnTo>
                  <a:lnTo>
                    <a:pt x="0" y="0"/>
                  </a:lnTo>
                  <a:close/>
                </a:path>
              </a:pathLst>
            </a:custGeom>
            <a:solidFill>
              <a:srgbClr val="4083B4"/>
            </a:solidFill>
            <a:ln w="0">
              <a:noFill/>
              <a:prstDash val="solid"/>
            </a:ln>
          </p:spPr>
        </p:sp>
        <p:sp>
          <p:nvSpPr>
            <p:cNvPr id="1368" name="Recycle right refined">
              <a:extLst>
                <a:ext uri="{FF2B5EF4-FFF2-40B4-BE49-F238E27FC236}">
                  <a16:creationId xmlns:a16="http://schemas.microsoft.com/office/drawing/2014/main" id="{D9AFE2A4-7629-8D55-72A2-74513ED16554}"/>
                </a:ext>
              </a:extLst>
            </p:cNvPr>
            <p:cNvSpPr>
              <a:spLocks noGrp="1"/>
            </p:cNvSpPr>
            <p:nvPr/>
          </p:nvSpPr>
          <p:spPr>
            <a:xfrm>
              <a:off x="7666874" y="3385852"/>
              <a:ext cx="1544098" cy="241840"/>
            </a:xfrm>
            <a:custGeom>
              <a:avLst/>
              <a:gdLst/>
              <a:ahLst/>
              <a:cxnLst/>
              <a:rect l="0" t="0" r="0" b="0"/>
              <a:pathLst>
                <a:path w="1544098" h="241840">
                  <a:moveTo>
                    <a:pt x="1544098" y="0"/>
                  </a:moveTo>
                  <a:lnTo>
                    <a:pt x="1544098" y="241840"/>
                  </a:lnTo>
                  <a:lnTo>
                    <a:pt x="0" y="241840"/>
                  </a:lnTo>
                </a:path>
              </a:pathLst>
            </a:custGeom>
            <a:noFill/>
            <a:ln w="8505">
              <a:solidFill>
                <a:srgbClr val="4083B4"/>
              </a:solidFill>
              <a:prstDash val="solid"/>
            </a:ln>
          </p:spPr>
        </p:sp>
        <p:sp>
          <p:nvSpPr>
            <p:cNvPr id="1369" name="Recycle left refined">
              <a:extLst>
                <a:ext uri="{FF2B5EF4-FFF2-40B4-BE49-F238E27FC236}">
                  <a16:creationId xmlns:a16="http://schemas.microsoft.com/office/drawing/2014/main" id="{9E9F6AF5-6C88-4D6A-4EB6-AE11098D540D}"/>
                </a:ext>
              </a:extLst>
            </p:cNvPr>
            <p:cNvSpPr>
              <a:spLocks noGrp="1"/>
            </p:cNvSpPr>
            <p:nvPr/>
          </p:nvSpPr>
          <p:spPr>
            <a:xfrm>
              <a:off x="5155417" y="3409188"/>
              <a:ext cx="1544098" cy="218503"/>
            </a:xfrm>
            <a:custGeom>
              <a:avLst/>
              <a:gdLst/>
              <a:ahLst/>
              <a:cxnLst/>
              <a:rect l="0" t="0" r="0" b="0"/>
              <a:pathLst>
                <a:path w="1544098" h="218503">
                  <a:moveTo>
                    <a:pt x="1544098" y="218503"/>
                  </a:moveTo>
                  <a:lnTo>
                    <a:pt x="0" y="218503"/>
                  </a:lnTo>
                  <a:lnTo>
                    <a:pt x="0" y="0"/>
                  </a:lnTo>
                </a:path>
              </a:pathLst>
            </a:custGeom>
            <a:noFill/>
            <a:ln w="8505">
              <a:solidFill>
                <a:srgbClr val="4083B4"/>
              </a:solidFill>
              <a:prstDash val="solid"/>
            </a:ln>
          </p:spPr>
        </p:sp>
        <p:sp>
          <p:nvSpPr>
            <p:cNvPr id="1370" name="Recycle left refined head">
              <a:extLst>
                <a:ext uri="{FF2B5EF4-FFF2-40B4-BE49-F238E27FC236}">
                  <a16:creationId xmlns:a16="http://schemas.microsoft.com/office/drawing/2014/main" id="{FC70626C-9297-3774-289D-8C74BAB81591}"/>
                </a:ext>
              </a:extLst>
            </p:cNvPr>
            <p:cNvSpPr>
              <a:spLocks noGrp="1"/>
            </p:cNvSpPr>
            <p:nvPr/>
          </p:nvSpPr>
          <p:spPr>
            <a:xfrm>
              <a:off x="5126747" y="3385852"/>
              <a:ext cx="57340" cy="66675"/>
            </a:xfrm>
            <a:custGeom>
              <a:avLst/>
              <a:gdLst/>
              <a:ahLst/>
              <a:cxnLst/>
              <a:rect l="0" t="0" r="0" b="0"/>
              <a:pathLst>
                <a:path w="57340" h="66675">
                  <a:moveTo>
                    <a:pt x="28670" y="0"/>
                  </a:moveTo>
                  <a:lnTo>
                    <a:pt x="0" y="66675"/>
                  </a:lnTo>
                  <a:lnTo>
                    <a:pt x="57340" y="66675"/>
                  </a:lnTo>
                  <a:close/>
                </a:path>
              </a:pathLst>
            </a:custGeom>
            <a:solidFill>
              <a:srgbClr val="4083B4"/>
            </a:solidFill>
            <a:ln w="0">
              <a:noFill/>
              <a:prstDash val="solid"/>
            </a:ln>
          </p:spPr>
        </p:sp>
        <p:sp>
          <p:nvSpPr>
            <p:cNvPr id="1371" name="Crop to summary refined">
              <a:extLst>
                <a:ext uri="{FF2B5EF4-FFF2-40B4-BE49-F238E27FC236}">
                  <a16:creationId xmlns:a16="http://schemas.microsoft.com/office/drawing/2014/main" id="{23964A60-5300-B32A-CC8C-9F9A10909522}"/>
                </a:ext>
              </a:extLst>
            </p:cNvPr>
            <p:cNvSpPr>
              <a:spLocks noGrp="1"/>
            </p:cNvSpPr>
            <p:nvPr/>
          </p:nvSpPr>
          <p:spPr>
            <a:xfrm>
              <a:off x="3807779" y="6064758"/>
              <a:ext cx="1148715" cy="191"/>
            </a:xfrm>
            <a:custGeom>
              <a:avLst/>
              <a:gdLst/>
              <a:ahLst/>
              <a:cxnLst/>
              <a:rect l="0" t="0" r="0" b="0"/>
              <a:pathLst>
                <a:path w="1148715" h="191">
                  <a:moveTo>
                    <a:pt x="0" y="0"/>
                  </a:moveTo>
                  <a:lnTo>
                    <a:pt x="1148715" y="0"/>
                  </a:lnTo>
                </a:path>
              </a:pathLst>
            </a:custGeom>
            <a:noFill/>
            <a:ln w="8505">
              <a:solidFill>
                <a:srgbClr val="4083B4"/>
              </a:solidFill>
              <a:prstDash val="solid"/>
            </a:ln>
          </p:spPr>
        </p:sp>
        <p:sp>
          <p:nvSpPr>
            <p:cNvPr id="1372" name="Crop to summary refined head">
              <a:extLst>
                <a:ext uri="{FF2B5EF4-FFF2-40B4-BE49-F238E27FC236}">
                  <a16:creationId xmlns:a16="http://schemas.microsoft.com/office/drawing/2014/main" id="{864E15CB-81EF-2FAC-14F2-E25D89F29346}"/>
                </a:ext>
              </a:extLst>
            </p:cNvPr>
            <p:cNvSpPr>
              <a:spLocks noGrp="1"/>
            </p:cNvSpPr>
            <p:nvPr/>
          </p:nvSpPr>
          <p:spPr>
            <a:xfrm>
              <a:off x="4913156" y="6036088"/>
              <a:ext cx="66675" cy="57340"/>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73" name="Input split refined">
              <a:extLst>
                <a:ext uri="{FF2B5EF4-FFF2-40B4-BE49-F238E27FC236}">
                  <a16:creationId xmlns:a16="http://schemas.microsoft.com/office/drawing/2014/main" id="{B4BBBDF4-6774-1D2C-95B2-F3B88AB1C869}"/>
                </a:ext>
              </a:extLst>
            </p:cNvPr>
            <p:cNvSpPr>
              <a:spLocks noGrp="1"/>
            </p:cNvSpPr>
            <p:nvPr/>
          </p:nvSpPr>
          <p:spPr>
            <a:xfrm>
              <a:off x="2301020" y="7793355"/>
              <a:ext cx="846772" cy="160020"/>
            </a:xfrm>
            <a:custGeom>
              <a:avLst/>
              <a:gdLst/>
              <a:ahLst/>
              <a:cxnLst/>
              <a:rect l="0" t="0" r="0" b="0"/>
              <a:pathLst>
                <a:path w="846772" h="160020">
                  <a:moveTo>
                    <a:pt x="846772" y="0"/>
                  </a:moveTo>
                  <a:lnTo>
                    <a:pt x="846772" y="160020"/>
                  </a:lnTo>
                  <a:lnTo>
                    <a:pt x="0" y="160020"/>
                  </a:lnTo>
                </a:path>
              </a:pathLst>
            </a:custGeom>
            <a:noFill/>
            <a:ln w="8505">
              <a:solidFill>
                <a:srgbClr val="3B8C80"/>
              </a:solidFill>
              <a:prstDash val="solid"/>
            </a:ln>
          </p:spPr>
        </p:sp>
        <p:sp>
          <p:nvSpPr>
            <p:cNvPr id="1374" name="Input split right refined">
              <a:extLst>
                <a:ext uri="{FF2B5EF4-FFF2-40B4-BE49-F238E27FC236}">
                  <a16:creationId xmlns:a16="http://schemas.microsoft.com/office/drawing/2014/main" id="{950F0CCA-2F88-9AFF-22D8-DAA7ACB6176C}"/>
                </a:ext>
              </a:extLst>
            </p:cNvPr>
            <p:cNvSpPr>
              <a:spLocks noGrp="1"/>
            </p:cNvSpPr>
            <p:nvPr/>
          </p:nvSpPr>
          <p:spPr>
            <a:xfrm>
              <a:off x="3147792" y="7953375"/>
              <a:ext cx="827723" cy="191"/>
            </a:xfrm>
            <a:custGeom>
              <a:avLst/>
              <a:gdLst/>
              <a:ahLst/>
              <a:cxnLst/>
              <a:rect l="0" t="0" r="0" b="0"/>
              <a:pathLst>
                <a:path w="827723" h="191">
                  <a:moveTo>
                    <a:pt x="0" y="0"/>
                  </a:moveTo>
                  <a:lnTo>
                    <a:pt x="827723" y="0"/>
                  </a:lnTo>
                </a:path>
              </a:pathLst>
            </a:custGeom>
            <a:noFill/>
            <a:ln w="8505">
              <a:solidFill>
                <a:srgbClr val="3B8C80"/>
              </a:solidFill>
              <a:prstDash val="solid"/>
            </a:ln>
          </p:spPr>
        </p:sp>
        <p:sp>
          <p:nvSpPr>
            <p:cNvPr id="1375" name="Inputs to pool refined">
              <a:extLst>
                <a:ext uri="{FF2B5EF4-FFF2-40B4-BE49-F238E27FC236}">
                  <a16:creationId xmlns:a16="http://schemas.microsoft.com/office/drawing/2014/main" id="{B22E0EF3-FD19-0826-1822-07182CC69FC5}"/>
                </a:ext>
              </a:extLst>
            </p:cNvPr>
            <p:cNvSpPr>
              <a:spLocks noGrp="1"/>
            </p:cNvSpPr>
            <p:nvPr/>
          </p:nvSpPr>
          <p:spPr>
            <a:xfrm>
              <a:off x="2301020" y="7953375"/>
              <a:ext cx="191" cy="143732"/>
            </a:xfrm>
            <a:custGeom>
              <a:avLst/>
              <a:gdLst/>
              <a:ahLst/>
              <a:cxnLst/>
              <a:rect l="0" t="0" r="0" b="0"/>
              <a:pathLst>
                <a:path w="191" h="143732">
                  <a:moveTo>
                    <a:pt x="0" y="0"/>
                  </a:moveTo>
                  <a:lnTo>
                    <a:pt x="0" y="143732"/>
                  </a:lnTo>
                </a:path>
              </a:pathLst>
            </a:custGeom>
            <a:noFill/>
            <a:ln w="8505">
              <a:solidFill>
                <a:srgbClr val="3B8C80"/>
              </a:solidFill>
              <a:prstDash val="solid"/>
            </a:ln>
          </p:spPr>
        </p:sp>
        <p:sp>
          <p:nvSpPr>
            <p:cNvPr id="1376" name="Inputs to pool refined head">
              <a:extLst>
                <a:ext uri="{FF2B5EF4-FFF2-40B4-BE49-F238E27FC236}">
                  <a16:creationId xmlns:a16="http://schemas.microsoft.com/office/drawing/2014/main" id="{CA70B1F6-4A00-BABC-2972-012866989961}"/>
                </a:ext>
              </a:extLst>
            </p:cNvPr>
            <p:cNvSpPr>
              <a:spLocks noGrp="1"/>
            </p:cNvSpPr>
            <p:nvPr/>
          </p:nvSpPr>
          <p:spPr>
            <a:xfrm>
              <a:off x="2272349" y="8053769"/>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77" name="Inputs to attention refined">
              <a:extLst>
                <a:ext uri="{FF2B5EF4-FFF2-40B4-BE49-F238E27FC236}">
                  <a16:creationId xmlns:a16="http://schemas.microsoft.com/office/drawing/2014/main" id="{08F1A61E-3B0E-8BF6-7F27-5CCE4D22C59A}"/>
                </a:ext>
              </a:extLst>
            </p:cNvPr>
            <p:cNvSpPr>
              <a:spLocks noGrp="1"/>
            </p:cNvSpPr>
            <p:nvPr/>
          </p:nvSpPr>
          <p:spPr>
            <a:xfrm>
              <a:off x="3975515" y="7953375"/>
              <a:ext cx="191" cy="143732"/>
            </a:xfrm>
            <a:custGeom>
              <a:avLst/>
              <a:gdLst/>
              <a:ahLst/>
              <a:cxnLst/>
              <a:rect l="0" t="0" r="0" b="0"/>
              <a:pathLst>
                <a:path w="191" h="143732">
                  <a:moveTo>
                    <a:pt x="0" y="0"/>
                  </a:moveTo>
                  <a:lnTo>
                    <a:pt x="0" y="143732"/>
                  </a:lnTo>
                </a:path>
              </a:pathLst>
            </a:custGeom>
            <a:noFill/>
            <a:ln w="8505">
              <a:solidFill>
                <a:srgbClr val="3B8C80"/>
              </a:solidFill>
              <a:prstDash val="solid"/>
            </a:ln>
          </p:spPr>
        </p:sp>
        <p:sp>
          <p:nvSpPr>
            <p:cNvPr id="1378" name="Inputs to attention refined head">
              <a:extLst>
                <a:ext uri="{FF2B5EF4-FFF2-40B4-BE49-F238E27FC236}">
                  <a16:creationId xmlns:a16="http://schemas.microsoft.com/office/drawing/2014/main" id="{4A8E2717-7DBF-7A20-898F-8A4B8D99C916}"/>
                </a:ext>
              </a:extLst>
            </p:cNvPr>
            <p:cNvSpPr>
              <a:spLocks noGrp="1"/>
            </p:cNvSpPr>
            <p:nvPr/>
          </p:nvSpPr>
          <p:spPr>
            <a:xfrm>
              <a:off x="3946844" y="8053769"/>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83" name="MLP to FiLM refined">
              <a:extLst>
                <a:ext uri="{FF2B5EF4-FFF2-40B4-BE49-F238E27FC236}">
                  <a16:creationId xmlns:a16="http://schemas.microsoft.com/office/drawing/2014/main" id="{2C7C678A-F3D0-E51D-2CD6-B41E5CBA7774}"/>
                </a:ext>
              </a:extLst>
            </p:cNvPr>
            <p:cNvSpPr>
              <a:spLocks noGrp="1"/>
            </p:cNvSpPr>
            <p:nvPr/>
          </p:nvSpPr>
          <p:spPr>
            <a:xfrm>
              <a:off x="3546890" y="8968264"/>
              <a:ext cx="1502569" cy="191"/>
            </a:xfrm>
            <a:custGeom>
              <a:avLst/>
              <a:gdLst/>
              <a:ahLst/>
              <a:cxnLst/>
              <a:rect l="0" t="0" r="0" b="0"/>
              <a:pathLst>
                <a:path w="1502569" h="191">
                  <a:moveTo>
                    <a:pt x="0" y="0"/>
                  </a:moveTo>
                  <a:lnTo>
                    <a:pt x="1502569" y="0"/>
                  </a:lnTo>
                </a:path>
              </a:pathLst>
            </a:custGeom>
            <a:noFill/>
            <a:ln w="8505">
              <a:solidFill>
                <a:srgbClr val="3B8C80"/>
              </a:solidFill>
              <a:prstDash val="solid"/>
            </a:ln>
          </p:spPr>
        </p:sp>
        <p:sp>
          <p:nvSpPr>
            <p:cNvPr id="1384" name="MLP to FiLM refined head">
              <a:extLst>
                <a:ext uri="{FF2B5EF4-FFF2-40B4-BE49-F238E27FC236}">
                  <a16:creationId xmlns:a16="http://schemas.microsoft.com/office/drawing/2014/main" id="{E62BF4CB-2DFB-E34F-0A43-259454CA6416}"/>
                </a:ext>
              </a:extLst>
            </p:cNvPr>
            <p:cNvSpPr>
              <a:spLocks noGrp="1"/>
            </p:cNvSpPr>
            <p:nvPr/>
          </p:nvSpPr>
          <p:spPr>
            <a:xfrm>
              <a:off x="5006120" y="8939594"/>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385" name="Summary to FiLM refined">
              <a:extLst>
                <a:ext uri="{FF2B5EF4-FFF2-40B4-BE49-F238E27FC236}">
                  <a16:creationId xmlns:a16="http://schemas.microsoft.com/office/drawing/2014/main" id="{4AD6C56A-E9C3-F934-64AC-D936F1D8505E}"/>
                </a:ext>
              </a:extLst>
            </p:cNvPr>
            <p:cNvSpPr>
              <a:spLocks noGrp="1"/>
            </p:cNvSpPr>
            <p:nvPr/>
          </p:nvSpPr>
          <p:spPr>
            <a:xfrm>
              <a:off x="5426172" y="6400800"/>
              <a:ext cx="191" cy="2367439"/>
            </a:xfrm>
            <a:custGeom>
              <a:avLst/>
              <a:gdLst/>
              <a:ahLst/>
              <a:cxnLst/>
              <a:rect l="0" t="0" r="0" b="0"/>
              <a:pathLst>
                <a:path w="191" h="2367439">
                  <a:moveTo>
                    <a:pt x="0" y="0"/>
                  </a:moveTo>
                  <a:lnTo>
                    <a:pt x="0" y="2367439"/>
                  </a:lnTo>
                </a:path>
              </a:pathLst>
            </a:custGeom>
            <a:noFill/>
            <a:ln w="8505">
              <a:solidFill>
                <a:srgbClr val="4083B4"/>
              </a:solidFill>
              <a:prstDash val="solid"/>
            </a:ln>
          </p:spPr>
        </p:sp>
        <p:sp>
          <p:nvSpPr>
            <p:cNvPr id="1386" name="Summary to FiLM refined head">
              <a:extLst>
                <a:ext uri="{FF2B5EF4-FFF2-40B4-BE49-F238E27FC236}">
                  <a16:creationId xmlns:a16="http://schemas.microsoft.com/office/drawing/2014/main" id="{EEAEF4BF-5039-6C23-B675-9771749FE17A}"/>
                </a:ext>
              </a:extLst>
            </p:cNvPr>
            <p:cNvSpPr>
              <a:spLocks noGrp="1"/>
            </p:cNvSpPr>
            <p:nvPr/>
          </p:nvSpPr>
          <p:spPr>
            <a:xfrm>
              <a:off x="5397502" y="8724900"/>
              <a:ext cx="57340" cy="66675"/>
            </a:xfrm>
            <a:custGeom>
              <a:avLst/>
              <a:gdLst/>
              <a:ahLst/>
              <a:cxnLst/>
              <a:rect l="0" t="0" r="0" b="0"/>
              <a:pathLst>
                <a:path w="57340" h="66675">
                  <a:moveTo>
                    <a:pt x="28670" y="66675"/>
                  </a:moveTo>
                  <a:lnTo>
                    <a:pt x="57340" y="0"/>
                  </a:lnTo>
                  <a:lnTo>
                    <a:pt x="0" y="0"/>
                  </a:lnTo>
                  <a:close/>
                </a:path>
              </a:pathLst>
            </a:custGeom>
            <a:solidFill>
              <a:srgbClr val="4083B4"/>
            </a:solidFill>
            <a:ln w="0">
              <a:noFill/>
              <a:prstDash val="solid"/>
            </a:ln>
          </p:spPr>
        </p:sp>
        <p:sp>
          <p:nvSpPr>
            <p:cNvPr id="1387" name="Summary to cross attention refined">
              <a:extLst>
                <a:ext uri="{FF2B5EF4-FFF2-40B4-BE49-F238E27FC236}">
                  <a16:creationId xmlns:a16="http://schemas.microsoft.com/office/drawing/2014/main" id="{EFD90DBF-A222-410E-15F3-D541CA16A8AE}"/>
                </a:ext>
              </a:extLst>
            </p:cNvPr>
            <p:cNvSpPr>
              <a:spLocks noGrp="1"/>
            </p:cNvSpPr>
            <p:nvPr/>
          </p:nvSpPr>
          <p:spPr>
            <a:xfrm>
              <a:off x="4761327" y="8297132"/>
              <a:ext cx="664845" cy="191"/>
            </a:xfrm>
            <a:custGeom>
              <a:avLst/>
              <a:gdLst/>
              <a:ahLst/>
              <a:cxnLst/>
              <a:rect l="0" t="0" r="0" b="0"/>
              <a:pathLst>
                <a:path w="664845" h="191">
                  <a:moveTo>
                    <a:pt x="664845" y="0"/>
                  </a:moveTo>
                  <a:lnTo>
                    <a:pt x="0" y="0"/>
                  </a:lnTo>
                </a:path>
              </a:pathLst>
            </a:custGeom>
            <a:noFill/>
            <a:ln w="8505">
              <a:solidFill>
                <a:srgbClr val="4083B4"/>
              </a:solidFill>
              <a:prstDash val="solid"/>
            </a:ln>
          </p:spPr>
        </p:sp>
        <p:sp>
          <p:nvSpPr>
            <p:cNvPr id="1388" name="Summary to cross attention refined head">
              <a:extLst>
                <a:ext uri="{FF2B5EF4-FFF2-40B4-BE49-F238E27FC236}">
                  <a16:creationId xmlns:a16="http://schemas.microsoft.com/office/drawing/2014/main" id="{91B08F31-0339-9716-3395-2B3F8970BA82}"/>
                </a:ext>
              </a:extLst>
            </p:cNvPr>
            <p:cNvSpPr>
              <a:spLocks noGrp="1"/>
            </p:cNvSpPr>
            <p:nvPr/>
          </p:nvSpPr>
          <p:spPr>
            <a:xfrm>
              <a:off x="4737991" y="8268462"/>
              <a:ext cx="66675" cy="57340"/>
            </a:xfrm>
            <a:custGeom>
              <a:avLst/>
              <a:gdLst/>
              <a:ahLst/>
              <a:cxnLst/>
              <a:rect l="0" t="0" r="0" b="0"/>
              <a:pathLst>
                <a:path w="66675" h="57340">
                  <a:moveTo>
                    <a:pt x="0" y="28670"/>
                  </a:moveTo>
                  <a:lnTo>
                    <a:pt x="66675" y="57340"/>
                  </a:lnTo>
                  <a:lnTo>
                    <a:pt x="66675" y="0"/>
                  </a:lnTo>
                  <a:close/>
                </a:path>
              </a:pathLst>
            </a:custGeom>
            <a:solidFill>
              <a:srgbClr val="4083B4"/>
            </a:solidFill>
            <a:ln w="0">
              <a:noFill/>
              <a:prstDash val="solid"/>
            </a:ln>
          </p:spPr>
        </p:sp>
        <p:sp>
          <p:nvSpPr>
            <p:cNvPr id="1389" name="FiLM to candidate refined">
              <a:extLst>
                <a:ext uri="{FF2B5EF4-FFF2-40B4-BE49-F238E27FC236}">
                  <a16:creationId xmlns:a16="http://schemas.microsoft.com/office/drawing/2014/main" id="{25FC3F76-C3DD-1537-7837-64B9361AE243}"/>
                </a:ext>
              </a:extLst>
            </p:cNvPr>
            <p:cNvSpPr>
              <a:spLocks noGrp="1"/>
            </p:cNvSpPr>
            <p:nvPr/>
          </p:nvSpPr>
          <p:spPr>
            <a:xfrm>
              <a:off x="5426172" y="9144953"/>
              <a:ext cx="191" cy="215360"/>
            </a:xfrm>
            <a:custGeom>
              <a:avLst/>
              <a:gdLst/>
              <a:ahLst/>
              <a:cxnLst/>
              <a:rect l="0" t="0" r="0" b="0"/>
              <a:pathLst>
                <a:path w="191" h="215360">
                  <a:moveTo>
                    <a:pt x="0" y="0"/>
                  </a:moveTo>
                  <a:lnTo>
                    <a:pt x="0" y="215360"/>
                  </a:lnTo>
                </a:path>
              </a:pathLst>
            </a:custGeom>
            <a:noFill/>
            <a:ln w="8505">
              <a:solidFill>
                <a:srgbClr val="3B8C80"/>
              </a:solidFill>
              <a:prstDash val="solid"/>
            </a:ln>
          </p:spPr>
        </p:sp>
        <p:sp>
          <p:nvSpPr>
            <p:cNvPr id="1390" name="FiLM to candidate refined head">
              <a:extLst>
                <a:ext uri="{FF2B5EF4-FFF2-40B4-BE49-F238E27FC236}">
                  <a16:creationId xmlns:a16="http://schemas.microsoft.com/office/drawing/2014/main" id="{7A05C2E3-B0E7-7DA8-4847-EC91C004D35D}"/>
                </a:ext>
              </a:extLst>
            </p:cNvPr>
            <p:cNvSpPr>
              <a:spLocks noGrp="1"/>
            </p:cNvSpPr>
            <p:nvPr/>
          </p:nvSpPr>
          <p:spPr>
            <a:xfrm>
              <a:off x="5397502" y="9316974"/>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91" name="Candidate to foreground refined">
              <a:extLst>
                <a:ext uri="{FF2B5EF4-FFF2-40B4-BE49-F238E27FC236}">
                  <a16:creationId xmlns:a16="http://schemas.microsoft.com/office/drawing/2014/main" id="{FE203BD6-3778-87C2-8526-E332B5B380C4}"/>
                </a:ext>
              </a:extLst>
            </p:cNvPr>
            <p:cNvSpPr>
              <a:spLocks noGrp="1"/>
            </p:cNvSpPr>
            <p:nvPr/>
          </p:nvSpPr>
          <p:spPr>
            <a:xfrm>
              <a:off x="2617154" y="9525000"/>
              <a:ext cx="2809018" cy="286702"/>
            </a:xfrm>
            <a:custGeom>
              <a:avLst/>
              <a:gdLst/>
              <a:ahLst/>
              <a:cxnLst/>
              <a:rect l="0" t="0" r="0" b="0"/>
              <a:pathLst>
                <a:path w="2809018" h="286702">
                  <a:moveTo>
                    <a:pt x="2809018" y="0"/>
                  </a:moveTo>
                  <a:lnTo>
                    <a:pt x="2809018" y="95250"/>
                  </a:lnTo>
                  <a:lnTo>
                    <a:pt x="0" y="95250"/>
                  </a:lnTo>
                  <a:lnTo>
                    <a:pt x="0" y="286702"/>
                  </a:lnTo>
                </a:path>
              </a:pathLst>
            </a:custGeom>
            <a:noFill/>
            <a:ln w="8505">
              <a:solidFill>
                <a:srgbClr val="3B8C80"/>
              </a:solidFill>
              <a:prstDash val="solid"/>
            </a:ln>
          </p:spPr>
        </p:sp>
        <p:sp>
          <p:nvSpPr>
            <p:cNvPr id="1392" name="Candidate to foreground refined head">
              <a:extLst>
                <a:ext uri="{FF2B5EF4-FFF2-40B4-BE49-F238E27FC236}">
                  <a16:creationId xmlns:a16="http://schemas.microsoft.com/office/drawing/2014/main" id="{D2B7433A-243E-C206-1CB1-3F191E6AD029}"/>
                </a:ext>
              </a:extLst>
            </p:cNvPr>
            <p:cNvSpPr>
              <a:spLocks noGrp="1"/>
            </p:cNvSpPr>
            <p:nvPr/>
          </p:nvSpPr>
          <p:spPr>
            <a:xfrm>
              <a:off x="2588484" y="9768364"/>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93" name="Foreground to probability refined">
              <a:extLst>
                <a:ext uri="{FF2B5EF4-FFF2-40B4-BE49-F238E27FC236}">
                  <a16:creationId xmlns:a16="http://schemas.microsoft.com/office/drawing/2014/main" id="{D5A6B998-ADFA-E982-8C35-E6D90114C21C}"/>
                </a:ext>
              </a:extLst>
            </p:cNvPr>
            <p:cNvSpPr>
              <a:spLocks noGrp="1"/>
            </p:cNvSpPr>
            <p:nvPr/>
          </p:nvSpPr>
          <p:spPr>
            <a:xfrm>
              <a:off x="3417159" y="9971532"/>
              <a:ext cx="600742" cy="191"/>
            </a:xfrm>
            <a:custGeom>
              <a:avLst/>
              <a:gdLst/>
              <a:ahLst/>
              <a:cxnLst/>
              <a:rect l="0" t="0" r="0" b="0"/>
              <a:pathLst>
                <a:path w="600742" h="191">
                  <a:moveTo>
                    <a:pt x="0" y="0"/>
                  </a:moveTo>
                  <a:lnTo>
                    <a:pt x="600742" y="0"/>
                  </a:lnTo>
                </a:path>
              </a:pathLst>
            </a:custGeom>
            <a:noFill/>
            <a:ln w="8505">
              <a:solidFill>
                <a:srgbClr val="3B8C80"/>
              </a:solidFill>
              <a:prstDash val="solid"/>
            </a:ln>
          </p:spPr>
        </p:sp>
        <p:sp>
          <p:nvSpPr>
            <p:cNvPr id="1394" name="Foreground to probability refined head">
              <a:extLst>
                <a:ext uri="{FF2B5EF4-FFF2-40B4-BE49-F238E27FC236}">
                  <a16:creationId xmlns:a16="http://schemas.microsoft.com/office/drawing/2014/main" id="{660BE4D6-2608-6E09-7FF4-AD7C50994699}"/>
                </a:ext>
              </a:extLst>
            </p:cNvPr>
            <p:cNvSpPr>
              <a:spLocks noGrp="1"/>
            </p:cNvSpPr>
            <p:nvPr/>
          </p:nvSpPr>
          <p:spPr>
            <a:xfrm>
              <a:off x="3974562" y="9942862"/>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395" name="Candidate to cosine refined">
              <a:extLst>
                <a:ext uri="{FF2B5EF4-FFF2-40B4-BE49-F238E27FC236}">
                  <a16:creationId xmlns:a16="http://schemas.microsoft.com/office/drawing/2014/main" id="{22A5040B-9402-AB7D-9094-F4BF5F10ADD2}"/>
                </a:ext>
              </a:extLst>
            </p:cNvPr>
            <p:cNvSpPr>
              <a:spLocks noGrp="1"/>
            </p:cNvSpPr>
            <p:nvPr/>
          </p:nvSpPr>
          <p:spPr>
            <a:xfrm>
              <a:off x="5426172" y="9525000"/>
              <a:ext cx="2143887" cy="446532"/>
            </a:xfrm>
            <a:custGeom>
              <a:avLst/>
              <a:gdLst/>
              <a:ahLst/>
              <a:cxnLst/>
              <a:rect l="0" t="0" r="0" b="0"/>
              <a:pathLst>
                <a:path w="2143887" h="446532">
                  <a:moveTo>
                    <a:pt x="0" y="0"/>
                  </a:moveTo>
                  <a:lnTo>
                    <a:pt x="0" y="446532"/>
                  </a:lnTo>
                  <a:lnTo>
                    <a:pt x="2143887" y="446532"/>
                  </a:lnTo>
                </a:path>
              </a:pathLst>
            </a:custGeom>
            <a:noFill/>
            <a:ln w="8505">
              <a:solidFill>
                <a:srgbClr val="3B8C80"/>
              </a:solidFill>
              <a:prstDash val="solid"/>
            </a:ln>
          </p:spPr>
        </p:sp>
        <p:sp>
          <p:nvSpPr>
            <p:cNvPr id="1396" name="Candidate to cosine refined head">
              <a:extLst>
                <a:ext uri="{FF2B5EF4-FFF2-40B4-BE49-F238E27FC236}">
                  <a16:creationId xmlns:a16="http://schemas.microsoft.com/office/drawing/2014/main" id="{D0F3AAE9-EBC0-FC07-AF0A-FBDAD938D93E}"/>
                </a:ext>
              </a:extLst>
            </p:cNvPr>
            <p:cNvSpPr>
              <a:spLocks noGrp="1"/>
            </p:cNvSpPr>
            <p:nvPr/>
          </p:nvSpPr>
          <p:spPr>
            <a:xfrm>
              <a:off x="7526720" y="9942862"/>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397" name="Selected identity to graph refined">
              <a:extLst>
                <a:ext uri="{FF2B5EF4-FFF2-40B4-BE49-F238E27FC236}">
                  <a16:creationId xmlns:a16="http://schemas.microsoft.com/office/drawing/2014/main" id="{2545D43E-9B8D-BA3E-80CD-880BD63B35AE}"/>
                </a:ext>
              </a:extLst>
            </p:cNvPr>
            <p:cNvSpPr>
              <a:spLocks noGrp="1"/>
            </p:cNvSpPr>
            <p:nvPr/>
          </p:nvSpPr>
          <p:spPr>
            <a:xfrm>
              <a:off x="6960840" y="6134481"/>
              <a:ext cx="651129" cy="595217"/>
            </a:xfrm>
            <a:custGeom>
              <a:avLst/>
              <a:gdLst/>
              <a:ahLst/>
              <a:cxnLst/>
              <a:rect l="0" t="0" r="0" b="0"/>
              <a:pathLst>
                <a:path w="651129" h="595217">
                  <a:moveTo>
                    <a:pt x="651129" y="0"/>
                  </a:moveTo>
                  <a:lnTo>
                    <a:pt x="0" y="0"/>
                  </a:lnTo>
                  <a:lnTo>
                    <a:pt x="0" y="595217"/>
                  </a:lnTo>
                </a:path>
              </a:pathLst>
            </a:custGeom>
            <a:noFill/>
            <a:ln w="8505">
              <a:solidFill>
                <a:srgbClr val="3B8C80"/>
              </a:solidFill>
              <a:prstDash val="solid"/>
            </a:ln>
          </p:spPr>
        </p:sp>
        <p:sp>
          <p:nvSpPr>
            <p:cNvPr id="1398" name="Selected identity to graph refined head">
              <a:extLst>
                <a:ext uri="{FF2B5EF4-FFF2-40B4-BE49-F238E27FC236}">
                  <a16:creationId xmlns:a16="http://schemas.microsoft.com/office/drawing/2014/main" id="{2F033F6F-AC85-37DE-479C-D063C3DB8E25}"/>
                </a:ext>
              </a:extLst>
            </p:cNvPr>
            <p:cNvSpPr>
              <a:spLocks noGrp="1"/>
            </p:cNvSpPr>
            <p:nvPr/>
          </p:nvSpPr>
          <p:spPr>
            <a:xfrm>
              <a:off x="6932170" y="6686360"/>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99" name="Graph to GNN refined">
              <a:extLst>
                <a:ext uri="{FF2B5EF4-FFF2-40B4-BE49-F238E27FC236}">
                  <a16:creationId xmlns:a16="http://schemas.microsoft.com/office/drawing/2014/main" id="{7EF864D3-D6E3-5180-82C2-0A0AE886C150}"/>
                </a:ext>
              </a:extLst>
            </p:cNvPr>
            <p:cNvSpPr>
              <a:spLocks noGrp="1"/>
            </p:cNvSpPr>
            <p:nvPr/>
          </p:nvSpPr>
          <p:spPr>
            <a:xfrm>
              <a:off x="6960840" y="7441406"/>
              <a:ext cx="191" cy="153448"/>
            </a:xfrm>
            <a:custGeom>
              <a:avLst/>
              <a:gdLst/>
              <a:ahLst/>
              <a:cxnLst/>
              <a:rect l="0" t="0" r="0" b="0"/>
              <a:pathLst>
                <a:path w="191" h="153448">
                  <a:moveTo>
                    <a:pt x="0" y="0"/>
                  </a:moveTo>
                  <a:lnTo>
                    <a:pt x="0" y="153448"/>
                  </a:lnTo>
                </a:path>
              </a:pathLst>
            </a:custGeom>
            <a:noFill/>
            <a:ln w="8505">
              <a:solidFill>
                <a:srgbClr val="3B8C80"/>
              </a:solidFill>
              <a:prstDash val="solid"/>
            </a:ln>
          </p:spPr>
        </p:sp>
        <p:sp>
          <p:nvSpPr>
            <p:cNvPr id="1400" name="Graph to GNN refined head">
              <a:extLst>
                <a:ext uri="{FF2B5EF4-FFF2-40B4-BE49-F238E27FC236}">
                  <a16:creationId xmlns:a16="http://schemas.microsoft.com/office/drawing/2014/main" id="{B23BD653-4893-2671-9B86-7F888A6E5617}"/>
                </a:ext>
              </a:extLst>
            </p:cNvPr>
            <p:cNvSpPr>
              <a:spLocks noGrp="1"/>
            </p:cNvSpPr>
            <p:nvPr/>
          </p:nvSpPr>
          <p:spPr>
            <a:xfrm>
              <a:off x="6932170" y="7551515"/>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1" name="GNN to graph attention refined">
              <a:extLst>
                <a:ext uri="{FF2B5EF4-FFF2-40B4-BE49-F238E27FC236}">
                  <a16:creationId xmlns:a16="http://schemas.microsoft.com/office/drawing/2014/main" id="{B0DCC1B2-7C1A-332C-0127-08382278DBC6}"/>
                </a:ext>
              </a:extLst>
            </p:cNvPr>
            <p:cNvSpPr>
              <a:spLocks noGrp="1"/>
            </p:cNvSpPr>
            <p:nvPr/>
          </p:nvSpPr>
          <p:spPr>
            <a:xfrm>
              <a:off x="6960840" y="7934420"/>
              <a:ext cx="191" cy="274320"/>
            </a:xfrm>
            <a:custGeom>
              <a:avLst/>
              <a:gdLst/>
              <a:ahLst/>
              <a:cxnLst/>
              <a:rect l="0" t="0" r="0" b="0"/>
              <a:pathLst>
                <a:path w="191" h="274320">
                  <a:moveTo>
                    <a:pt x="0" y="0"/>
                  </a:moveTo>
                  <a:lnTo>
                    <a:pt x="0" y="274320"/>
                  </a:lnTo>
                </a:path>
              </a:pathLst>
            </a:custGeom>
            <a:noFill/>
            <a:ln w="8505">
              <a:solidFill>
                <a:srgbClr val="3B8C80"/>
              </a:solidFill>
              <a:prstDash val="solid"/>
            </a:ln>
          </p:spPr>
        </p:sp>
        <p:sp>
          <p:nvSpPr>
            <p:cNvPr id="1402" name="GNN to graph attention refined head">
              <a:extLst>
                <a:ext uri="{FF2B5EF4-FFF2-40B4-BE49-F238E27FC236}">
                  <a16:creationId xmlns:a16="http://schemas.microsoft.com/office/drawing/2014/main" id="{F5D1A0D2-1869-EB89-61A3-D3ABFE580C35}"/>
                </a:ext>
              </a:extLst>
            </p:cNvPr>
            <p:cNvSpPr>
              <a:spLocks noGrp="1"/>
            </p:cNvSpPr>
            <p:nvPr/>
          </p:nvSpPr>
          <p:spPr>
            <a:xfrm>
              <a:off x="6932170" y="8165402"/>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3" name="Identity to SMI-TED refined">
              <a:extLst>
                <a:ext uri="{FF2B5EF4-FFF2-40B4-BE49-F238E27FC236}">
                  <a16:creationId xmlns:a16="http://schemas.microsoft.com/office/drawing/2014/main" id="{416B661C-118E-CA99-59DC-DA4857A74E2E}"/>
                </a:ext>
              </a:extLst>
            </p:cNvPr>
            <p:cNvSpPr>
              <a:spLocks noGrp="1"/>
            </p:cNvSpPr>
            <p:nvPr/>
          </p:nvSpPr>
          <p:spPr>
            <a:xfrm>
              <a:off x="8530941" y="6638068"/>
              <a:ext cx="191" cy="326993"/>
            </a:xfrm>
            <a:custGeom>
              <a:avLst/>
              <a:gdLst/>
              <a:ahLst/>
              <a:cxnLst/>
              <a:rect l="0" t="0" r="0" b="0"/>
              <a:pathLst>
                <a:path w="191" h="326993">
                  <a:moveTo>
                    <a:pt x="0" y="0"/>
                  </a:moveTo>
                  <a:lnTo>
                    <a:pt x="0" y="326993"/>
                  </a:lnTo>
                </a:path>
              </a:pathLst>
            </a:custGeom>
            <a:noFill/>
            <a:ln w="8505">
              <a:solidFill>
                <a:srgbClr val="3B8C80"/>
              </a:solidFill>
              <a:prstDash val="solid"/>
            </a:ln>
          </p:spPr>
        </p:sp>
        <p:sp>
          <p:nvSpPr>
            <p:cNvPr id="1404" name="Identity to SMI-TED refined head">
              <a:extLst>
                <a:ext uri="{FF2B5EF4-FFF2-40B4-BE49-F238E27FC236}">
                  <a16:creationId xmlns:a16="http://schemas.microsoft.com/office/drawing/2014/main" id="{0BA2F96A-2AFB-7C00-99C8-78C9DC78B848}"/>
                </a:ext>
              </a:extLst>
            </p:cNvPr>
            <p:cNvSpPr>
              <a:spLocks noGrp="1"/>
            </p:cNvSpPr>
            <p:nvPr/>
          </p:nvSpPr>
          <p:spPr>
            <a:xfrm>
              <a:off x="8502271" y="6921722"/>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5" name="SMI-TED to language refined">
              <a:extLst>
                <a:ext uri="{FF2B5EF4-FFF2-40B4-BE49-F238E27FC236}">
                  <a16:creationId xmlns:a16="http://schemas.microsoft.com/office/drawing/2014/main" id="{688B9630-847C-74A2-04EF-D75E08D7E423}"/>
                </a:ext>
              </a:extLst>
            </p:cNvPr>
            <p:cNvSpPr>
              <a:spLocks noGrp="1"/>
            </p:cNvSpPr>
            <p:nvPr/>
          </p:nvSpPr>
          <p:spPr>
            <a:xfrm>
              <a:off x="8530941" y="7304627"/>
              <a:ext cx="191" cy="1013841"/>
            </a:xfrm>
            <a:custGeom>
              <a:avLst/>
              <a:gdLst/>
              <a:ahLst/>
              <a:cxnLst/>
              <a:rect l="0" t="0" r="0" b="0"/>
              <a:pathLst>
                <a:path w="191" h="1013841">
                  <a:moveTo>
                    <a:pt x="0" y="0"/>
                  </a:moveTo>
                  <a:lnTo>
                    <a:pt x="0" y="1013841"/>
                  </a:lnTo>
                </a:path>
              </a:pathLst>
            </a:custGeom>
            <a:noFill/>
            <a:ln w="8505">
              <a:solidFill>
                <a:srgbClr val="3B8C80"/>
              </a:solidFill>
              <a:prstDash val="solid"/>
            </a:ln>
          </p:spPr>
        </p:sp>
        <p:sp>
          <p:nvSpPr>
            <p:cNvPr id="1406" name="SMI-TED to language refined head">
              <a:extLst>
                <a:ext uri="{FF2B5EF4-FFF2-40B4-BE49-F238E27FC236}">
                  <a16:creationId xmlns:a16="http://schemas.microsoft.com/office/drawing/2014/main" id="{7251A2B8-D12B-A433-6B0D-10AA76953AAB}"/>
                </a:ext>
              </a:extLst>
            </p:cNvPr>
            <p:cNvSpPr>
              <a:spLocks noGrp="1"/>
            </p:cNvSpPr>
            <p:nvPr/>
          </p:nvSpPr>
          <p:spPr>
            <a:xfrm>
              <a:off x="8502271" y="8275130"/>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7" name="Other identities refined">
              <a:extLst>
                <a:ext uri="{FF2B5EF4-FFF2-40B4-BE49-F238E27FC236}">
                  <a16:creationId xmlns:a16="http://schemas.microsoft.com/office/drawing/2014/main" id="{A4787BA6-E950-16B8-B01A-9B4C92E13C7A}"/>
                </a:ext>
              </a:extLst>
            </p:cNvPr>
            <p:cNvSpPr>
              <a:spLocks noGrp="1"/>
            </p:cNvSpPr>
            <p:nvPr/>
          </p:nvSpPr>
          <p:spPr>
            <a:xfrm>
              <a:off x="9509540" y="5581174"/>
              <a:ext cx="613886" cy="1373695"/>
            </a:xfrm>
            <a:custGeom>
              <a:avLst/>
              <a:gdLst/>
              <a:ahLst/>
              <a:cxnLst/>
              <a:rect l="0" t="0" r="0" b="0"/>
              <a:pathLst>
                <a:path w="613886" h="1373695">
                  <a:moveTo>
                    <a:pt x="0" y="0"/>
                  </a:moveTo>
                  <a:lnTo>
                    <a:pt x="613886" y="0"/>
                  </a:lnTo>
                  <a:lnTo>
                    <a:pt x="613886" y="1373695"/>
                  </a:lnTo>
                </a:path>
              </a:pathLst>
            </a:custGeom>
            <a:noFill/>
            <a:ln w="8505">
              <a:solidFill>
                <a:srgbClr val="3B8C80"/>
              </a:solidFill>
              <a:prstDash val="solid"/>
            </a:ln>
          </p:spPr>
        </p:sp>
        <p:sp>
          <p:nvSpPr>
            <p:cNvPr id="1408" name="Other identities refined head">
              <a:extLst>
                <a:ext uri="{FF2B5EF4-FFF2-40B4-BE49-F238E27FC236}">
                  <a16:creationId xmlns:a16="http://schemas.microsoft.com/office/drawing/2014/main" id="{9D094DDB-3471-ECAC-BCA5-E9612E620328}"/>
                </a:ext>
              </a:extLst>
            </p:cNvPr>
            <p:cNvSpPr>
              <a:spLocks noGrp="1"/>
            </p:cNvSpPr>
            <p:nvPr/>
          </p:nvSpPr>
          <p:spPr>
            <a:xfrm>
              <a:off x="10094756" y="6911531"/>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9" name="Other identities middle refined">
              <a:extLst>
                <a:ext uri="{FF2B5EF4-FFF2-40B4-BE49-F238E27FC236}">
                  <a16:creationId xmlns:a16="http://schemas.microsoft.com/office/drawing/2014/main" id="{43A875F1-64CC-3AE0-16D0-832B017C6CB3}"/>
                </a:ext>
              </a:extLst>
            </p:cNvPr>
            <p:cNvSpPr>
              <a:spLocks noGrp="1"/>
            </p:cNvSpPr>
            <p:nvPr/>
          </p:nvSpPr>
          <p:spPr>
            <a:xfrm>
              <a:off x="9509540" y="5851112"/>
              <a:ext cx="613886" cy="191"/>
            </a:xfrm>
            <a:custGeom>
              <a:avLst/>
              <a:gdLst/>
              <a:ahLst/>
              <a:cxnLst/>
              <a:rect l="0" t="0" r="0" b="0"/>
              <a:pathLst>
                <a:path w="613886" h="191">
                  <a:moveTo>
                    <a:pt x="0" y="0"/>
                  </a:moveTo>
                  <a:lnTo>
                    <a:pt x="613886" y="0"/>
                  </a:lnTo>
                </a:path>
              </a:pathLst>
            </a:custGeom>
            <a:noFill/>
            <a:ln w="8505">
              <a:solidFill>
                <a:srgbClr val="3B8C80"/>
              </a:solidFill>
              <a:prstDash val="solid"/>
            </a:ln>
          </p:spPr>
        </p:sp>
        <p:sp>
          <p:nvSpPr>
            <p:cNvPr id="1410" name="Other identities lower refined">
              <a:extLst>
                <a:ext uri="{FF2B5EF4-FFF2-40B4-BE49-F238E27FC236}">
                  <a16:creationId xmlns:a16="http://schemas.microsoft.com/office/drawing/2014/main" id="{D83A070A-E1D1-4067-2310-74DC30F9F921}"/>
                </a:ext>
              </a:extLst>
            </p:cNvPr>
            <p:cNvSpPr>
              <a:spLocks noGrp="1"/>
            </p:cNvSpPr>
            <p:nvPr/>
          </p:nvSpPr>
          <p:spPr>
            <a:xfrm>
              <a:off x="9509540" y="6533293"/>
              <a:ext cx="613886" cy="191"/>
            </a:xfrm>
            <a:custGeom>
              <a:avLst/>
              <a:gdLst/>
              <a:ahLst/>
              <a:cxnLst/>
              <a:rect l="0" t="0" r="0" b="0"/>
              <a:pathLst>
                <a:path w="613886" h="191">
                  <a:moveTo>
                    <a:pt x="0" y="0"/>
                  </a:moveTo>
                  <a:lnTo>
                    <a:pt x="613886" y="0"/>
                  </a:lnTo>
                </a:path>
              </a:pathLst>
            </a:custGeom>
            <a:noFill/>
            <a:ln w="8505">
              <a:solidFill>
                <a:srgbClr val="3B8C80"/>
              </a:solidFill>
              <a:prstDash val="solid"/>
            </a:ln>
          </p:spPr>
        </p:sp>
        <p:sp>
          <p:nvSpPr>
            <p:cNvPr id="1411" name="Context SMI-TED to matrix refined">
              <a:extLst>
                <a:ext uri="{FF2B5EF4-FFF2-40B4-BE49-F238E27FC236}">
                  <a16:creationId xmlns:a16="http://schemas.microsoft.com/office/drawing/2014/main" id="{3BA39657-BA55-8B03-4B42-2E8CA0F2402A}"/>
                </a:ext>
              </a:extLst>
            </p:cNvPr>
            <p:cNvSpPr>
              <a:spLocks noGrp="1"/>
            </p:cNvSpPr>
            <p:nvPr/>
          </p:nvSpPr>
          <p:spPr>
            <a:xfrm>
              <a:off x="10133903" y="7294436"/>
              <a:ext cx="191" cy="264128"/>
            </a:xfrm>
            <a:custGeom>
              <a:avLst/>
              <a:gdLst/>
              <a:ahLst/>
              <a:cxnLst/>
              <a:rect l="0" t="0" r="0" b="0"/>
              <a:pathLst>
                <a:path w="191" h="264128">
                  <a:moveTo>
                    <a:pt x="0" y="0"/>
                  </a:moveTo>
                  <a:lnTo>
                    <a:pt x="0" y="264128"/>
                  </a:lnTo>
                </a:path>
              </a:pathLst>
            </a:custGeom>
            <a:noFill/>
            <a:ln w="8505">
              <a:solidFill>
                <a:srgbClr val="3B8C80"/>
              </a:solidFill>
              <a:prstDash val="solid"/>
            </a:ln>
          </p:spPr>
        </p:sp>
        <p:sp>
          <p:nvSpPr>
            <p:cNvPr id="1412" name="Context SMI-TED to matrix refined head">
              <a:extLst>
                <a:ext uri="{FF2B5EF4-FFF2-40B4-BE49-F238E27FC236}">
                  <a16:creationId xmlns:a16="http://schemas.microsoft.com/office/drawing/2014/main" id="{46BBCF7E-77B7-430B-5E68-8D5D4D07C9BA}"/>
                </a:ext>
              </a:extLst>
            </p:cNvPr>
            <p:cNvSpPr>
              <a:spLocks noGrp="1"/>
            </p:cNvSpPr>
            <p:nvPr/>
          </p:nvSpPr>
          <p:spPr>
            <a:xfrm>
              <a:off x="10105233" y="7515225"/>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13" name="Context matrix to attention refined">
              <a:extLst>
                <a:ext uri="{FF2B5EF4-FFF2-40B4-BE49-F238E27FC236}">
                  <a16:creationId xmlns:a16="http://schemas.microsoft.com/office/drawing/2014/main" id="{19123C2B-08C0-5942-5974-56E3DB290164}"/>
                </a:ext>
              </a:extLst>
            </p:cNvPr>
            <p:cNvSpPr>
              <a:spLocks noGrp="1"/>
            </p:cNvSpPr>
            <p:nvPr/>
          </p:nvSpPr>
          <p:spPr>
            <a:xfrm>
              <a:off x="10123426" y="7958995"/>
              <a:ext cx="191" cy="249745"/>
            </a:xfrm>
            <a:custGeom>
              <a:avLst/>
              <a:gdLst/>
              <a:ahLst/>
              <a:cxnLst/>
              <a:rect l="0" t="0" r="0" b="0"/>
              <a:pathLst>
                <a:path w="191" h="249745">
                  <a:moveTo>
                    <a:pt x="0" y="0"/>
                  </a:moveTo>
                  <a:lnTo>
                    <a:pt x="0" y="249745"/>
                  </a:lnTo>
                </a:path>
              </a:pathLst>
            </a:custGeom>
            <a:noFill/>
            <a:ln w="8505">
              <a:solidFill>
                <a:srgbClr val="3B8C80"/>
              </a:solidFill>
              <a:prstDash val="solid"/>
            </a:ln>
          </p:spPr>
        </p:sp>
        <p:sp>
          <p:nvSpPr>
            <p:cNvPr id="1414" name="Context matrix to attention refined head">
              <a:extLst>
                <a:ext uri="{FF2B5EF4-FFF2-40B4-BE49-F238E27FC236}">
                  <a16:creationId xmlns:a16="http://schemas.microsoft.com/office/drawing/2014/main" id="{F6D726DD-707A-38A3-9C89-49061435E2BF}"/>
                </a:ext>
              </a:extLst>
            </p:cNvPr>
            <p:cNvSpPr>
              <a:spLocks noGrp="1"/>
            </p:cNvSpPr>
            <p:nvPr/>
          </p:nvSpPr>
          <p:spPr>
            <a:xfrm>
              <a:off x="10094756" y="8165402"/>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15" name="Language query left refined">
              <a:extLst>
                <a:ext uri="{FF2B5EF4-FFF2-40B4-BE49-F238E27FC236}">
                  <a16:creationId xmlns:a16="http://schemas.microsoft.com/office/drawing/2014/main" id="{739AFAAD-E669-E2AC-687E-E59FC6E7FAD2}"/>
                </a:ext>
              </a:extLst>
            </p:cNvPr>
            <p:cNvSpPr>
              <a:spLocks noGrp="1"/>
            </p:cNvSpPr>
            <p:nvPr/>
          </p:nvSpPr>
          <p:spPr>
            <a:xfrm>
              <a:off x="7709696" y="8408765"/>
              <a:ext cx="479012" cy="191"/>
            </a:xfrm>
            <a:custGeom>
              <a:avLst/>
              <a:gdLst/>
              <a:ahLst/>
              <a:cxnLst/>
              <a:rect l="0" t="0" r="0" b="0"/>
              <a:pathLst>
                <a:path w="479012" h="191">
                  <a:moveTo>
                    <a:pt x="479012" y="0"/>
                  </a:moveTo>
                  <a:lnTo>
                    <a:pt x="0" y="0"/>
                  </a:lnTo>
                </a:path>
              </a:pathLst>
            </a:custGeom>
            <a:noFill/>
            <a:ln w="8505">
              <a:solidFill>
                <a:srgbClr val="3B8C80"/>
              </a:solidFill>
              <a:prstDash val="solid"/>
            </a:ln>
          </p:spPr>
        </p:sp>
        <p:sp>
          <p:nvSpPr>
            <p:cNvPr id="1416" name="Language query left refined head">
              <a:extLst>
                <a:ext uri="{FF2B5EF4-FFF2-40B4-BE49-F238E27FC236}">
                  <a16:creationId xmlns:a16="http://schemas.microsoft.com/office/drawing/2014/main" id="{98D92A42-D662-B44C-CD57-583BDD75174C}"/>
                </a:ext>
              </a:extLst>
            </p:cNvPr>
            <p:cNvSpPr>
              <a:spLocks noGrp="1"/>
            </p:cNvSpPr>
            <p:nvPr/>
          </p:nvSpPr>
          <p:spPr>
            <a:xfrm>
              <a:off x="7686359" y="8380095"/>
              <a:ext cx="66675" cy="57340"/>
            </a:xfrm>
            <a:custGeom>
              <a:avLst/>
              <a:gdLst/>
              <a:ahLst/>
              <a:cxnLst/>
              <a:rect l="0" t="0" r="0" b="0"/>
              <a:pathLst>
                <a:path w="66675" h="57340">
                  <a:moveTo>
                    <a:pt x="0" y="28670"/>
                  </a:moveTo>
                  <a:lnTo>
                    <a:pt x="66675" y="57340"/>
                  </a:lnTo>
                  <a:lnTo>
                    <a:pt x="66675" y="0"/>
                  </a:lnTo>
                  <a:close/>
                </a:path>
              </a:pathLst>
            </a:custGeom>
            <a:solidFill>
              <a:srgbClr val="3B8C80"/>
            </a:solidFill>
            <a:ln w="0">
              <a:noFill/>
              <a:prstDash val="solid"/>
            </a:ln>
          </p:spPr>
        </p:sp>
        <p:sp>
          <p:nvSpPr>
            <p:cNvPr id="1417" name="Language query right refined">
              <a:extLst>
                <a:ext uri="{FF2B5EF4-FFF2-40B4-BE49-F238E27FC236}">
                  <a16:creationId xmlns:a16="http://schemas.microsoft.com/office/drawing/2014/main" id="{97C332FD-B4F7-4A69-7F24-BE35ED3CC233}"/>
                </a:ext>
              </a:extLst>
            </p:cNvPr>
            <p:cNvSpPr>
              <a:spLocks noGrp="1"/>
            </p:cNvSpPr>
            <p:nvPr/>
          </p:nvSpPr>
          <p:spPr>
            <a:xfrm>
              <a:off x="8858411" y="8408765"/>
              <a:ext cx="478917" cy="191"/>
            </a:xfrm>
            <a:custGeom>
              <a:avLst/>
              <a:gdLst/>
              <a:ahLst/>
              <a:cxnLst/>
              <a:rect l="0" t="0" r="0" b="0"/>
              <a:pathLst>
                <a:path w="478917" h="191">
                  <a:moveTo>
                    <a:pt x="0" y="0"/>
                  </a:moveTo>
                  <a:lnTo>
                    <a:pt x="478917" y="0"/>
                  </a:lnTo>
                </a:path>
              </a:pathLst>
            </a:custGeom>
            <a:noFill/>
            <a:ln w="8505">
              <a:solidFill>
                <a:srgbClr val="3B8C80"/>
              </a:solidFill>
              <a:prstDash val="solid"/>
            </a:ln>
          </p:spPr>
        </p:sp>
        <p:sp>
          <p:nvSpPr>
            <p:cNvPr id="1418" name="Language query right refined head">
              <a:extLst>
                <a:ext uri="{FF2B5EF4-FFF2-40B4-BE49-F238E27FC236}">
                  <a16:creationId xmlns:a16="http://schemas.microsoft.com/office/drawing/2014/main" id="{4B6A3B32-B3D1-5F9B-FDB9-6517BE3635C2}"/>
                </a:ext>
              </a:extLst>
            </p:cNvPr>
            <p:cNvSpPr>
              <a:spLocks noGrp="1"/>
            </p:cNvSpPr>
            <p:nvPr/>
          </p:nvSpPr>
          <p:spPr>
            <a:xfrm>
              <a:off x="9293989" y="8380095"/>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419" name="Language to fusion refined">
              <a:extLst>
                <a:ext uri="{FF2B5EF4-FFF2-40B4-BE49-F238E27FC236}">
                  <a16:creationId xmlns:a16="http://schemas.microsoft.com/office/drawing/2014/main" id="{CC1BD470-88ED-E459-BC64-3926AF1B81FC}"/>
                </a:ext>
              </a:extLst>
            </p:cNvPr>
            <p:cNvSpPr>
              <a:spLocks noGrp="1"/>
            </p:cNvSpPr>
            <p:nvPr/>
          </p:nvSpPr>
          <p:spPr>
            <a:xfrm>
              <a:off x="8523512" y="8475726"/>
              <a:ext cx="191" cy="281845"/>
            </a:xfrm>
            <a:custGeom>
              <a:avLst/>
              <a:gdLst/>
              <a:ahLst/>
              <a:cxnLst/>
              <a:rect l="0" t="0" r="0" b="0"/>
              <a:pathLst>
                <a:path w="191" h="281845">
                  <a:moveTo>
                    <a:pt x="0" y="0"/>
                  </a:moveTo>
                  <a:lnTo>
                    <a:pt x="0" y="281845"/>
                  </a:lnTo>
                </a:path>
              </a:pathLst>
            </a:custGeom>
            <a:noFill/>
            <a:ln w="8505">
              <a:solidFill>
                <a:srgbClr val="3B8C80"/>
              </a:solidFill>
              <a:prstDash val="solid"/>
            </a:ln>
          </p:spPr>
        </p:sp>
        <p:sp>
          <p:nvSpPr>
            <p:cNvPr id="1420" name="Language to fusion refined head">
              <a:extLst>
                <a:ext uri="{FF2B5EF4-FFF2-40B4-BE49-F238E27FC236}">
                  <a16:creationId xmlns:a16="http://schemas.microsoft.com/office/drawing/2014/main" id="{7DE28A53-D82C-C158-A00E-484E630E57C6}"/>
                </a:ext>
              </a:extLst>
            </p:cNvPr>
            <p:cNvSpPr>
              <a:spLocks noGrp="1"/>
            </p:cNvSpPr>
            <p:nvPr/>
          </p:nvSpPr>
          <p:spPr>
            <a:xfrm>
              <a:off x="8494841" y="8714232"/>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21" name="Graph attention to fusion refined">
              <a:extLst>
                <a:ext uri="{FF2B5EF4-FFF2-40B4-BE49-F238E27FC236}">
                  <a16:creationId xmlns:a16="http://schemas.microsoft.com/office/drawing/2014/main" id="{9DE07E88-6455-6397-3B15-5E2794D66EC1}"/>
                </a:ext>
              </a:extLst>
            </p:cNvPr>
            <p:cNvSpPr>
              <a:spLocks noGrp="1"/>
            </p:cNvSpPr>
            <p:nvPr/>
          </p:nvSpPr>
          <p:spPr>
            <a:xfrm>
              <a:off x="6960840" y="8585549"/>
              <a:ext cx="1092899" cy="362807"/>
            </a:xfrm>
            <a:custGeom>
              <a:avLst/>
              <a:gdLst/>
              <a:ahLst/>
              <a:cxnLst/>
              <a:rect l="0" t="0" r="0" b="0"/>
              <a:pathLst>
                <a:path w="1092899" h="362807">
                  <a:moveTo>
                    <a:pt x="0" y="0"/>
                  </a:moveTo>
                  <a:lnTo>
                    <a:pt x="0" y="362807"/>
                  </a:lnTo>
                  <a:lnTo>
                    <a:pt x="1092899" y="362807"/>
                  </a:lnTo>
                </a:path>
              </a:pathLst>
            </a:custGeom>
            <a:noFill/>
            <a:ln w="8505">
              <a:solidFill>
                <a:srgbClr val="3B8C80"/>
              </a:solidFill>
              <a:prstDash val="solid"/>
            </a:ln>
          </p:spPr>
        </p:sp>
        <p:sp>
          <p:nvSpPr>
            <p:cNvPr id="1422" name="Graph attention to fusion refined head">
              <a:extLst>
                <a:ext uri="{FF2B5EF4-FFF2-40B4-BE49-F238E27FC236}">
                  <a16:creationId xmlns:a16="http://schemas.microsoft.com/office/drawing/2014/main" id="{80249588-4991-7EA9-C183-E31DFF970425}"/>
                </a:ext>
              </a:extLst>
            </p:cNvPr>
            <p:cNvSpPr>
              <a:spLocks noGrp="1"/>
            </p:cNvSpPr>
            <p:nvPr/>
          </p:nvSpPr>
          <p:spPr>
            <a:xfrm>
              <a:off x="8010400" y="8919686"/>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423" name="Context attention to fusion refined">
              <a:extLst>
                <a:ext uri="{FF2B5EF4-FFF2-40B4-BE49-F238E27FC236}">
                  <a16:creationId xmlns:a16="http://schemas.microsoft.com/office/drawing/2014/main" id="{EB1CDE84-2AAC-05C7-2AC2-7F0CD69C4010}"/>
                </a:ext>
              </a:extLst>
            </p:cNvPr>
            <p:cNvSpPr>
              <a:spLocks noGrp="1"/>
            </p:cNvSpPr>
            <p:nvPr/>
          </p:nvSpPr>
          <p:spPr>
            <a:xfrm>
              <a:off x="8993380" y="8585549"/>
              <a:ext cx="1130046" cy="362807"/>
            </a:xfrm>
            <a:custGeom>
              <a:avLst/>
              <a:gdLst/>
              <a:ahLst/>
              <a:cxnLst/>
              <a:rect l="0" t="0" r="0" b="0"/>
              <a:pathLst>
                <a:path w="1130046" h="362807">
                  <a:moveTo>
                    <a:pt x="1130046" y="0"/>
                  </a:moveTo>
                  <a:lnTo>
                    <a:pt x="1130046" y="362807"/>
                  </a:lnTo>
                  <a:lnTo>
                    <a:pt x="0" y="362807"/>
                  </a:lnTo>
                </a:path>
              </a:pathLst>
            </a:custGeom>
            <a:noFill/>
            <a:ln w="8505">
              <a:solidFill>
                <a:srgbClr val="3B8C80"/>
              </a:solidFill>
              <a:prstDash val="solid"/>
            </a:ln>
          </p:spPr>
        </p:sp>
        <p:sp>
          <p:nvSpPr>
            <p:cNvPr id="1424" name="Context attention to fusion refined head">
              <a:extLst>
                <a:ext uri="{FF2B5EF4-FFF2-40B4-BE49-F238E27FC236}">
                  <a16:creationId xmlns:a16="http://schemas.microsoft.com/office/drawing/2014/main" id="{2AAA0335-3D51-EA88-2522-F717A483BF32}"/>
                </a:ext>
              </a:extLst>
            </p:cNvPr>
            <p:cNvSpPr>
              <a:spLocks noGrp="1"/>
            </p:cNvSpPr>
            <p:nvPr/>
          </p:nvSpPr>
          <p:spPr>
            <a:xfrm>
              <a:off x="8970044" y="8919686"/>
              <a:ext cx="66675" cy="57340"/>
            </a:xfrm>
            <a:custGeom>
              <a:avLst/>
              <a:gdLst/>
              <a:ahLst/>
              <a:cxnLst/>
              <a:rect l="0" t="0" r="0" b="0"/>
              <a:pathLst>
                <a:path w="66675" h="57340">
                  <a:moveTo>
                    <a:pt x="0" y="28670"/>
                  </a:moveTo>
                  <a:lnTo>
                    <a:pt x="66675" y="57340"/>
                  </a:lnTo>
                  <a:lnTo>
                    <a:pt x="66675" y="0"/>
                  </a:lnTo>
                  <a:close/>
                </a:path>
              </a:pathLst>
            </a:custGeom>
            <a:solidFill>
              <a:srgbClr val="3B8C80"/>
            </a:solidFill>
            <a:ln w="0">
              <a:noFill/>
              <a:prstDash val="solid"/>
            </a:ln>
          </p:spPr>
        </p:sp>
        <p:sp>
          <p:nvSpPr>
            <p:cNvPr id="1425" name="Fusion to identity vector refined">
              <a:extLst>
                <a:ext uri="{FF2B5EF4-FFF2-40B4-BE49-F238E27FC236}">
                  <a16:creationId xmlns:a16="http://schemas.microsoft.com/office/drawing/2014/main" id="{67958AAC-3FC5-4E94-249E-68F363396C6E}"/>
                </a:ext>
              </a:extLst>
            </p:cNvPr>
            <p:cNvSpPr>
              <a:spLocks noGrp="1"/>
            </p:cNvSpPr>
            <p:nvPr/>
          </p:nvSpPr>
          <p:spPr>
            <a:xfrm>
              <a:off x="8523512" y="9115806"/>
              <a:ext cx="191" cy="244507"/>
            </a:xfrm>
            <a:custGeom>
              <a:avLst/>
              <a:gdLst/>
              <a:ahLst/>
              <a:cxnLst/>
              <a:rect l="0" t="0" r="0" b="0"/>
              <a:pathLst>
                <a:path w="191" h="244507">
                  <a:moveTo>
                    <a:pt x="0" y="0"/>
                  </a:moveTo>
                  <a:lnTo>
                    <a:pt x="0" y="244507"/>
                  </a:lnTo>
                </a:path>
              </a:pathLst>
            </a:custGeom>
            <a:noFill/>
            <a:ln w="8505">
              <a:solidFill>
                <a:srgbClr val="3B8C80"/>
              </a:solidFill>
              <a:prstDash val="solid"/>
            </a:ln>
          </p:spPr>
        </p:sp>
        <p:sp>
          <p:nvSpPr>
            <p:cNvPr id="1426" name="Fusion to identity vector refined head">
              <a:extLst>
                <a:ext uri="{FF2B5EF4-FFF2-40B4-BE49-F238E27FC236}">
                  <a16:creationId xmlns:a16="http://schemas.microsoft.com/office/drawing/2014/main" id="{5B85A195-1A68-48DC-E553-B1E99915D03B}"/>
                </a:ext>
              </a:extLst>
            </p:cNvPr>
            <p:cNvSpPr>
              <a:spLocks noGrp="1"/>
            </p:cNvSpPr>
            <p:nvPr/>
          </p:nvSpPr>
          <p:spPr>
            <a:xfrm>
              <a:off x="8494841" y="9316974"/>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27" name="Identity vector to cosine refined">
              <a:extLst>
                <a:ext uri="{FF2B5EF4-FFF2-40B4-BE49-F238E27FC236}">
                  <a16:creationId xmlns:a16="http://schemas.microsoft.com/office/drawing/2014/main" id="{DDE80B97-A909-A736-F258-523B74319AC3}"/>
                </a:ext>
              </a:extLst>
            </p:cNvPr>
            <p:cNvSpPr>
              <a:spLocks noGrp="1"/>
            </p:cNvSpPr>
            <p:nvPr/>
          </p:nvSpPr>
          <p:spPr>
            <a:xfrm>
              <a:off x="8523512" y="9517571"/>
              <a:ext cx="191" cy="253841"/>
            </a:xfrm>
            <a:custGeom>
              <a:avLst/>
              <a:gdLst/>
              <a:ahLst/>
              <a:cxnLst/>
              <a:rect l="0" t="0" r="0" b="0"/>
              <a:pathLst>
                <a:path w="191" h="253841">
                  <a:moveTo>
                    <a:pt x="0" y="0"/>
                  </a:moveTo>
                  <a:lnTo>
                    <a:pt x="0" y="253841"/>
                  </a:lnTo>
                </a:path>
              </a:pathLst>
            </a:custGeom>
            <a:noFill/>
            <a:ln w="8505">
              <a:solidFill>
                <a:srgbClr val="3B8C80"/>
              </a:solidFill>
              <a:prstDash val="solid"/>
            </a:ln>
          </p:spPr>
        </p:sp>
        <p:sp>
          <p:nvSpPr>
            <p:cNvPr id="1428" name="Identity vector to cosine refined head">
              <a:extLst>
                <a:ext uri="{FF2B5EF4-FFF2-40B4-BE49-F238E27FC236}">
                  <a16:creationId xmlns:a16="http://schemas.microsoft.com/office/drawing/2014/main" id="{E490B029-346A-A57E-7B15-889C23CE6281}"/>
                </a:ext>
              </a:extLst>
            </p:cNvPr>
            <p:cNvSpPr>
              <a:spLocks noGrp="1"/>
            </p:cNvSpPr>
            <p:nvPr/>
          </p:nvSpPr>
          <p:spPr>
            <a:xfrm>
              <a:off x="8494841" y="9728073"/>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29" name="Cosine to score matrix refined">
              <a:extLst>
                <a:ext uri="{FF2B5EF4-FFF2-40B4-BE49-F238E27FC236}">
                  <a16:creationId xmlns:a16="http://schemas.microsoft.com/office/drawing/2014/main" id="{B53F289C-77E1-6513-62C8-F939A23BF1B2}"/>
                </a:ext>
              </a:extLst>
            </p:cNvPr>
            <p:cNvSpPr>
              <a:spLocks noGrp="1"/>
            </p:cNvSpPr>
            <p:nvPr/>
          </p:nvSpPr>
          <p:spPr>
            <a:xfrm>
              <a:off x="8932896" y="9971532"/>
              <a:ext cx="619030" cy="191"/>
            </a:xfrm>
            <a:custGeom>
              <a:avLst/>
              <a:gdLst/>
              <a:ahLst/>
              <a:cxnLst/>
              <a:rect l="0" t="0" r="0" b="0"/>
              <a:pathLst>
                <a:path w="619030" h="191">
                  <a:moveTo>
                    <a:pt x="0" y="0"/>
                  </a:moveTo>
                  <a:lnTo>
                    <a:pt x="619030" y="0"/>
                  </a:lnTo>
                </a:path>
              </a:pathLst>
            </a:custGeom>
            <a:noFill/>
            <a:ln w="8505">
              <a:solidFill>
                <a:srgbClr val="3B8C80"/>
              </a:solidFill>
              <a:prstDash val="solid"/>
            </a:ln>
          </p:spPr>
        </p:sp>
        <p:sp>
          <p:nvSpPr>
            <p:cNvPr id="1430" name="Cosine to score matrix refined head">
              <a:extLst>
                <a:ext uri="{FF2B5EF4-FFF2-40B4-BE49-F238E27FC236}">
                  <a16:creationId xmlns:a16="http://schemas.microsoft.com/office/drawing/2014/main" id="{7D1ABF5A-29C9-76A4-1903-E132A41C0C6D}"/>
                </a:ext>
              </a:extLst>
            </p:cNvPr>
            <p:cNvSpPr>
              <a:spLocks noGrp="1"/>
            </p:cNvSpPr>
            <p:nvPr/>
          </p:nvSpPr>
          <p:spPr>
            <a:xfrm>
              <a:off x="9508587" y="9942862"/>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grpSp>
      <p:pic>
        <p:nvPicPr>
          <p:cNvPr id="1436" name="Match clear receptor" descr="Receptor cartoon rendered from unchanged local coordinates, chain C1 of the 9LLG CA2 model.">
            <a:extLst>
              <a:ext uri="{FF2B5EF4-FFF2-40B4-BE49-F238E27FC236}">
                <a16:creationId xmlns:a16="http://schemas.microsoft.com/office/drawing/2014/main" id="{515E1CE9-4EFA-F96B-A08A-C6C2EC64DC6F}"/>
              </a:ext>
            </a:extLst>
          </p:cNvPr>
          <p:cNvPicPr/>
          <p:nvPr/>
        </p:nvPicPr>
        <p:blipFill>
          <a:blip r:embed="rId7"/>
          <a:srcRect l="16857" t="30389" r="19786" b="22500"/>
          <a:stretch>
            <a:fillRect/>
          </a:stretch>
        </p:blipFill>
        <p:spPr>
          <a:xfrm>
            <a:off x="725281" y="2388765"/>
            <a:ext cx="332109" cy="317507"/>
          </a:xfrm>
          <a:prstGeom prst="rect">
            <a:avLst/>
          </a:prstGeom>
        </p:spPr>
      </p:pic>
      <p:sp>
        <p:nvSpPr>
          <p:cNvPr id="1442" name="文本框 1441">
            <a:extLst>
              <a:ext uri="{FF2B5EF4-FFF2-40B4-BE49-F238E27FC236}">
                <a16:creationId xmlns:a16="http://schemas.microsoft.com/office/drawing/2014/main" id="{814431DA-F1EE-CFB8-E7E0-CF4D130ECF44}"/>
              </a:ext>
            </a:extLst>
          </p:cNvPr>
          <p:cNvSpPr txBox="1"/>
          <p:nvPr/>
        </p:nvSpPr>
        <p:spPr>
          <a:xfrm>
            <a:off x="1290027" y="775016"/>
            <a:ext cx="559769" cy="176972"/>
          </a:xfrm>
          <a:prstGeom prst="rect">
            <a:avLst/>
          </a:prstGeom>
          <a:noFill/>
        </p:spPr>
        <p:txBody>
          <a:bodyPr wrap="none" rtlCol="0">
            <a:spAutoFit/>
          </a:bodyPr>
          <a:lstStyle/>
          <a:p>
            <a:r>
              <a:rPr lang="en-US" altLang="zh-CN" sz="550" dirty="0">
                <a:solidFill>
                  <a:srgbClr val="71808C"/>
                </a:solidFill>
                <a:latin typeface="Arial"/>
                <a:cs typeface="Arial"/>
              </a:rPr>
              <a:t>56 channels</a:t>
            </a:r>
            <a:endParaRPr lang="zh-CN" altLang="en-US" sz="550" dirty="0">
              <a:solidFill>
                <a:srgbClr val="71808C"/>
              </a:solidFill>
              <a:latin typeface="Arial"/>
              <a:cs typeface="Arial"/>
            </a:endParaRPr>
          </a:p>
        </p:txBody>
      </p:sp>
      <p:sp>
        <p:nvSpPr>
          <p:cNvPr id="1443" name="V8 embedding computation frame">
            <a:extLst>
              <a:ext uri="{FF2B5EF4-FFF2-40B4-BE49-F238E27FC236}">
                <a16:creationId xmlns:a16="http://schemas.microsoft.com/office/drawing/2014/main" id="{FB41A424-8C9A-2DA8-76B2-57C0C54ECB10}"/>
              </a:ext>
            </a:extLst>
          </p:cNvPr>
          <p:cNvSpPr/>
          <p:nvPr/>
        </p:nvSpPr>
        <p:spPr>
          <a:xfrm>
            <a:off x="1381760" y="1305560"/>
            <a:ext cx="386080" cy="417830"/>
          </a:xfrm>
          <a:prstGeom prst="roundRect">
            <a:avLst>
              <a:gd name="adj" fmla="val 6579"/>
            </a:avLst>
          </a:prstGeom>
          <a:solidFill>
            <a:srgbClr val="F8FAFC"/>
          </a:solidFill>
          <a:ln w="6096" cap="rnd">
            <a:solidFill>
              <a:srgbClr val="C5BDD5"/>
            </a:solidFill>
            <a:prstDash val="solid"/>
            <a:round/>
          </a:ln>
        </p:spPr>
      </p:sp>
      <p:sp>
        <p:nvSpPr>
          <p:cNvPr id="1444" name="V8 embedding neighbor 1 to center">
            <a:extLst>
              <a:ext uri="{FF2B5EF4-FFF2-40B4-BE49-F238E27FC236}">
                <a16:creationId xmlns:a16="http://schemas.microsoft.com/office/drawing/2014/main" id="{3355B015-AF42-20CF-CA69-CEE14894D5E1}"/>
              </a:ext>
            </a:extLst>
          </p:cNvPr>
          <p:cNvSpPr/>
          <p:nvPr/>
        </p:nvSpPr>
        <p:spPr>
          <a:xfrm>
            <a:off x="1437942" y="1388677"/>
            <a:ext cx="84338" cy="113635"/>
          </a:xfrm>
          <a:custGeom>
            <a:avLst/>
            <a:gdLst/>
            <a:ahLst/>
            <a:cxnLst/>
            <a:rect l="l" t="t" r="r" b="b"/>
            <a:pathLst>
              <a:path w="84338" h="113635">
                <a:moveTo>
                  <a:pt x="0" y="0"/>
                </a:moveTo>
                <a:lnTo>
                  <a:pt x="84338" y="113635"/>
                </a:lnTo>
              </a:path>
            </a:pathLst>
          </a:custGeom>
          <a:noFill/>
          <a:ln w="5842" cap="rnd">
            <a:solidFill>
              <a:srgbClr val="9481B1"/>
            </a:solidFill>
            <a:prstDash val="solid"/>
            <a:round/>
          </a:ln>
        </p:spPr>
      </p:sp>
      <p:sp>
        <p:nvSpPr>
          <p:cNvPr id="1445" name="V8 embedding neighbor 1 to center head">
            <a:extLst>
              <a:ext uri="{FF2B5EF4-FFF2-40B4-BE49-F238E27FC236}">
                <a16:creationId xmlns:a16="http://schemas.microsoft.com/office/drawing/2014/main" id="{27615381-2E0E-2FB6-4DD6-10A8B1F481AB}"/>
              </a:ext>
            </a:extLst>
          </p:cNvPr>
          <p:cNvSpPr/>
          <p:nvPr/>
        </p:nvSpPr>
        <p:spPr>
          <a:xfrm>
            <a:off x="1508689" y="1488319"/>
            <a:ext cx="18870" cy="21105"/>
          </a:xfrm>
          <a:custGeom>
            <a:avLst/>
            <a:gdLst/>
            <a:ahLst/>
            <a:cxnLst/>
            <a:rect l="l" t="t" r="r" b="b"/>
            <a:pathLst>
              <a:path w="18870" h="21105">
                <a:moveTo>
                  <a:pt x="18870" y="21105"/>
                </a:moveTo>
                <a:lnTo>
                  <a:pt x="14277" y="0"/>
                </a:lnTo>
                <a:lnTo>
                  <a:pt x="0" y="10596"/>
                </a:lnTo>
                <a:close/>
              </a:path>
            </a:pathLst>
          </a:custGeom>
          <a:solidFill>
            <a:srgbClr val="9481B1"/>
          </a:solidFill>
          <a:ln w="0" cap="rnd">
            <a:noFill/>
          </a:ln>
        </p:spPr>
      </p:sp>
      <p:sp>
        <p:nvSpPr>
          <p:cNvPr id="1446" name="V8 embedding neighbor 1">
            <a:extLst>
              <a:ext uri="{FF2B5EF4-FFF2-40B4-BE49-F238E27FC236}">
                <a16:creationId xmlns:a16="http://schemas.microsoft.com/office/drawing/2014/main" id="{B5E8A971-284C-84D2-C0DB-7EB12E4B5902}"/>
              </a:ext>
            </a:extLst>
          </p:cNvPr>
          <p:cNvSpPr/>
          <p:nvPr/>
        </p:nvSpPr>
        <p:spPr>
          <a:xfrm>
            <a:off x="1411922" y="1358582"/>
            <a:ext cx="28575" cy="28575"/>
          </a:xfrm>
          <a:prstGeom prst="ellipse">
            <a:avLst/>
          </a:prstGeom>
          <a:noFill/>
          <a:ln w="7112" cap="rnd">
            <a:solidFill>
              <a:srgbClr val="9481B1"/>
            </a:solidFill>
            <a:prstDash val="solid"/>
            <a:round/>
          </a:ln>
        </p:spPr>
      </p:sp>
      <p:sp>
        <p:nvSpPr>
          <p:cNvPr id="1447" name="V8 embedding neighbor 2 to center">
            <a:extLst>
              <a:ext uri="{FF2B5EF4-FFF2-40B4-BE49-F238E27FC236}">
                <a16:creationId xmlns:a16="http://schemas.microsoft.com/office/drawing/2014/main" id="{410E19AF-558D-0BA4-4F56-8A43CC949018}"/>
              </a:ext>
            </a:extLst>
          </p:cNvPr>
          <p:cNvSpPr/>
          <p:nvPr/>
        </p:nvSpPr>
        <p:spPr>
          <a:xfrm>
            <a:off x="1567842" y="1384737"/>
            <a:ext cx="68064" cy="115185"/>
          </a:xfrm>
          <a:custGeom>
            <a:avLst/>
            <a:gdLst/>
            <a:ahLst/>
            <a:cxnLst/>
            <a:rect l="l" t="t" r="r" b="b"/>
            <a:pathLst>
              <a:path w="68064" h="115185">
                <a:moveTo>
                  <a:pt x="68064" y="0"/>
                </a:moveTo>
                <a:lnTo>
                  <a:pt x="0" y="115185"/>
                </a:lnTo>
              </a:path>
            </a:pathLst>
          </a:custGeom>
          <a:noFill/>
          <a:ln w="5842" cap="rnd">
            <a:solidFill>
              <a:srgbClr val="9481B1"/>
            </a:solidFill>
            <a:prstDash val="solid"/>
            <a:round/>
          </a:ln>
        </p:spPr>
      </p:sp>
      <p:sp>
        <p:nvSpPr>
          <p:cNvPr id="1448" name="V8 embedding neighbor 2 to center head">
            <a:extLst>
              <a:ext uri="{FF2B5EF4-FFF2-40B4-BE49-F238E27FC236}">
                <a16:creationId xmlns:a16="http://schemas.microsoft.com/office/drawing/2014/main" id="{50A61875-DCE0-421C-1735-CFE0432F2E90}"/>
              </a:ext>
            </a:extLst>
          </p:cNvPr>
          <p:cNvSpPr/>
          <p:nvPr/>
        </p:nvSpPr>
        <p:spPr>
          <a:xfrm>
            <a:off x="1563335" y="1486079"/>
            <a:ext cx="17668" cy="21470"/>
          </a:xfrm>
          <a:custGeom>
            <a:avLst/>
            <a:gdLst/>
            <a:ahLst/>
            <a:cxnLst/>
            <a:rect l="l" t="t" r="r" b="b"/>
            <a:pathLst>
              <a:path w="17668" h="21470">
                <a:moveTo>
                  <a:pt x="0" y="21470"/>
                </a:moveTo>
                <a:lnTo>
                  <a:pt x="17668" y="9045"/>
                </a:lnTo>
                <a:lnTo>
                  <a:pt x="2361" y="0"/>
                </a:lnTo>
                <a:close/>
              </a:path>
            </a:pathLst>
          </a:custGeom>
          <a:solidFill>
            <a:srgbClr val="9481B1"/>
          </a:solidFill>
          <a:ln w="0" cap="rnd">
            <a:noFill/>
          </a:ln>
        </p:spPr>
      </p:sp>
      <p:sp>
        <p:nvSpPr>
          <p:cNvPr id="1449" name="V8 embedding neighbor 2">
            <a:extLst>
              <a:ext uri="{FF2B5EF4-FFF2-40B4-BE49-F238E27FC236}">
                <a16:creationId xmlns:a16="http://schemas.microsoft.com/office/drawing/2014/main" id="{7AEBAFCB-8ED1-BA01-F100-82AD32FAB4F6}"/>
              </a:ext>
            </a:extLst>
          </p:cNvPr>
          <p:cNvSpPr/>
          <p:nvPr/>
        </p:nvSpPr>
        <p:spPr>
          <a:xfrm>
            <a:off x="1630362" y="1352232"/>
            <a:ext cx="31115" cy="31115"/>
          </a:xfrm>
          <a:prstGeom prst="ellipse">
            <a:avLst/>
          </a:prstGeom>
          <a:noFill/>
          <a:ln w="7112" cap="rnd">
            <a:solidFill>
              <a:srgbClr val="9481B1"/>
            </a:solidFill>
            <a:prstDash val="solid"/>
            <a:round/>
          </a:ln>
        </p:spPr>
      </p:sp>
      <p:sp>
        <p:nvSpPr>
          <p:cNvPr id="1450" name="V8 embedding upper curved aggregation">
            <a:extLst>
              <a:ext uri="{FF2B5EF4-FFF2-40B4-BE49-F238E27FC236}">
                <a16:creationId xmlns:a16="http://schemas.microsoft.com/office/drawing/2014/main" id="{1726AB57-DCD6-4DAB-768F-79635F178651}"/>
              </a:ext>
            </a:extLst>
          </p:cNvPr>
          <p:cNvSpPr/>
          <p:nvPr/>
        </p:nvSpPr>
        <p:spPr>
          <a:xfrm>
            <a:off x="1581150" y="1449794"/>
            <a:ext cx="120650" cy="48806"/>
          </a:xfrm>
          <a:custGeom>
            <a:avLst/>
            <a:gdLst/>
            <a:ahLst/>
            <a:cxnLst/>
            <a:rect l="l" t="t" r="r" b="b"/>
            <a:pathLst>
              <a:path w="120650" h="48806">
                <a:moveTo>
                  <a:pt x="118713" y="0"/>
                </a:moveTo>
                <a:cubicBezTo>
                  <a:pt x="120650" y="36106"/>
                  <a:pt x="44450" y="29756"/>
                  <a:pt x="0" y="48806"/>
                </a:cubicBezTo>
              </a:path>
            </a:pathLst>
          </a:custGeom>
          <a:noFill/>
          <a:ln w="5842" cap="rnd">
            <a:solidFill>
              <a:srgbClr val="9481B1"/>
            </a:solidFill>
            <a:prstDash val="solid"/>
            <a:round/>
          </a:ln>
        </p:spPr>
      </p:sp>
      <p:sp>
        <p:nvSpPr>
          <p:cNvPr id="1451" name="V8 embedding upper curved aggregation tip">
            <a:extLst>
              <a:ext uri="{FF2B5EF4-FFF2-40B4-BE49-F238E27FC236}">
                <a16:creationId xmlns:a16="http://schemas.microsoft.com/office/drawing/2014/main" id="{2B3CEBDA-0E2D-671A-9B26-76F746F7D64B}"/>
              </a:ext>
            </a:extLst>
          </p:cNvPr>
          <p:cNvSpPr/>
          <p:nvPr/>
        </p:nvSpPr>
        <p:spPr>
          <a:xfrm>
            <a:off x="1572439" y="1498600"/>
            <a:ext cx="8711" cy="4690"/>
          </a:xfrm>
          <a:custGeom>
            <a:avLst/>
            <a:gdLst/>
            <a:ahLst/>
            <a:cxnLst/>
            <a:rect l="l" t="t" r="r" b="b"/>
            <a:pathLst>
              <a:path w="8711" h="4690">
                <a:moveTo>
                  <a:pt x="8711" y="0"/>
                </a:moveTo>
                <a:lnTo>
                  <a:pt x="0" y="4690"/>
                </a:lnTo>
              </a:path>
            </a:pathLst>
          </a:custGeom>
          <a:noFill/>
          <a:ln w="5842" cap="rnd">
            <a:solidFill>
              <a:srgbClr val="9481B1"/>
            </a:solidFill>
            <a:prstDash val="solid"/>
            <a:round/>
          </a:ln>
        </p:spPr>
      </p:sp>
      <p:sp>
        <p:nvSpPr>
          <p:cNvPr id="1452" name="V8 embedding upper curved aggregation tip head">
            <a:extLst>
              <a:ext uri="{FF2B5EF4-FFF2-40B4-BE49-F238E27FC236}">
                <a16:creationId xmlns:a16="http://schemas.microsoft.com/office/drawing/2014/main" id="{EA8590B6-001E-E7FA-C91E-6684CAB2CE42}"/>
              </a:ext>
            </a:extLst>
          </p:cNvPr>
          <p:cNvSpPr/>
          <p:nvPr/>
        </p:nvSpPr>
        <p:spPr>
          <a:xfrm>
            <a:off x="1564640" y="1490330"/>
            <a:ext cx="21547" cy="17160"/>
          </a:xfrm>
          <a:custGeom>
            <a:avLst/>
            <a:gdLst/>
            <a:ahLst/>
            <a:cxnLst/>
            <a:rect l="l" t="t" r="r" b="b"/>
            <a:pathLst>
              <a:path w="21547" h="17160">
                <a:moveTo>
                  <a:pt x="0" y="17160"/>
                </a:moveTo>
                <a:lnTo>
                  <a:pt x="21547" y="15655"/>
                </a:lnTo>
                <a:lnTo>
                  <a:pt x="13117" y="0"/>
                </a:lnTo>
                <a:close/>
              </a:path>
            </a:pathLst>
          </a:custGeom>
          <a:solidFill>
            <a:srgbClr val="9481B1"/>
          </a:solidFill>
          <a:ln w="0" cap="rnd">
            <a:noFill/>
          </a:ln>
        </p:spPr>
      </p:sp>
      <p:sp>
        <p:nvSpPr>
          <p:cNvPr id="1453" name="V8 embedding neighbor 3">
            <a:extLst>
              <a:ext uri="{FF2B5EF4-FFF2-40B4-BE49-F238E27FC236}">
                <a16:creationId xmlns:a16="http://schemas.microsoft.com/office/drawing/2014/main" id="{122DFBAE-E742-85F4-F8BE-661BC7410AFC}"/>
              </a:ext>
            </a:extLst>
          </p:cNvPr>
          <p:cNvSpPr/>
          <p:nvPr/>
        </p:nvSpPr>
        <p:spPr>
          <a:xfrm>
            <a:off x="1703070" y="1426210"/>
            <a:ext cx="27940" cy="27940"/>
          </a:xfrm>
          <a:prstGeom prst="ellipse">
            <a:avLst/>
          </a:prstGeom>
          <a:noFill/>
          <a:ln w="7112" cap="rnd">
            <a:solidFill>
              <a:srgbClr val="9481B1"/>
            </a:solidFill>
            <a:prstDash val="solid"/>
            <a:round/>
          </a:ln>
        </p:spPr>
      </p:sp>
      <p:sp>
        <p:nvSpPr>
          <p:cNvPr id="1454" name="V8 embedding curved aggregation">
            <a:extLst>
              <a:ext uri="{FF2B5EF4-FFF2-40B4-BE49-F238E27FC236}">
                <a16:creationId xmlns:a16="http://schemas.microsoft.com/office/drawing/2014/main" id="{90CEAB6E-EBCA-9F13-36DE-C928BA671D5A}"/>
              </a:ext>
            </a:extLst>
          </p:cNvPr>
          <p:cNvSpPr/>
          <p:nvPr/>
        </p:nvSpPr>
        <p:spPr>
          <a:xfrm>
            <a:off x="1422400" y="1503680"/>
            <a:ext cx="77470" cy="107970"/>
          </a:xfrm>
          <a:custGeom>
            <a:avLst/>
            <a:gdLst/>
            <a:ahLst/>
            <a:cxnLst/>
            <a:rect l="l" t="t" r="r" b="b"/>
            <a:pathLst>
              <a:path w="77470" h="107970">
                <a:moveTo>
                  <a:pt x="17311" y="107970"/>
                </a:moveTo>
                <a:cubicBezTo>
                  <a:pt x="0" y="29210"/>
                  <a:pt x="35560" y="0"/>
                  <a:pt x="77470" y="12700"/>
                </a:cubicBezTo>
              </a:path>
            </a:pathLst>
          </a:custGeom>
          <a:noFill/>
          <a:ln w="8890" cap="rnd">
            <a:solidFill>
              <a:srgbClr val="9481B1"/>
            </a:solidFill>
            <a:prstDash val="solid"/>
            <a:round/>
          </a:ln>
        </p:spPr>
      </p:sp>
      <p:sp>
        <p:nvSpPr>
          <p:cNvPr id="1455" name="V8 embedding curved aggregation tip">
            <a:extLst>
              <a:ext uri="{FF2B5EF4-FFF2-40B4-BE49-F238E27FC236}">
                <a16:creationId xmlns:a16="http://schemas.microsoft.com/office/drawing/2014/main" id="{4871021E-0B37-6092-4FB6-FB482931253B}"/>
              </a:ext>
            </a:extLst>
          </p:cNvPr>
          <p:cNvSpPr/>
          <p:nvPr/>
        </p:nvSpPr>
        <p:spPr>
          <a:xfrm>
            <a:off x="1499870" y="1516380"/>
            <a:ext cx="6039" cy="3020"/>
          </a:xfrm>
          <a:custGeom>
            <a:avLst/>
            <a:gdLst/>
            <a:ahLst/>
            <a:cxnLst/>
            <a:rect l="l" t="t" r="r" b="b"/>
            <a:pathLst>
              <a:path w="6039" h="3020">
                <a:moveTo>
                  <a:pt x="0" y="0"/>
                </a:moveTo>
                <a:lnTo>
                  <a:pt x="6039" y="3020"/>
                </a:lnTo>
              </a:path>
            </a:pathLst>
          </a:custGeom>
          <a:noFill/>
          <a:ln w="8890" cap="rnd">
            <a:solidFill>
              <a:srgbClr val="9481B1"/>
            </a:solidFill>
            <a:prstDash val="solid"/>
            <a:round/>
          </a:ln>
        </p:spPr>
      </p:sp>
      <p:sp>
        <p:nvSpPr>
          <p:cNvPr id="1456" name="V8 embedding curved aggregation tip head">
            <a:extLst>
              <a:ext uri="{FF2B5EF4-FFF2-40B4-BE49-F238E27FC236}">
                <a16:creationId xmlns:a16="http://schemas.microsoft.com/office/drawing/2014/main" id="{86BC3798-BFD4-0C2D-6F96-1C5CADB6D7BE}"/>
              </a:ext>
            </a:extLst>
          </p:cNvPr>
          <p:cNvSpPr/>
          <p:nvPr/>
        </p:nvSpPr>
        <p:spPr>
          <a:xfrm>
            <a:off x="1489978" y="1504405"/>
            <a:ext cx="25132" cy="19595"/>
          </a:xfrm>
          <a:custGeom>
            <a:avLst/>
            <a:gdLst/>
            <a:ahLst/>
            <a:cxnLst/>
            <a:rect l="l" t="t" r="r" b="b"/>
            <a:pathLst>
              <a:path w="25132" h="19595">
                <a:moveTo>
                  <a:pt x="25132" y="19595"/>
                </a:moveTo>
                <a:lnTo>
                  <a:pt x="9371" y="0"/>
                </a:lnTo>
                <a:lnTo>
                  <a:pt x="0" y="18743"/>
                </a:lnTo>
                <a:close/>
              </a:path>
            </a:pathLst>
          </a:custGeom>
          <a:solidFill>
            <a:srgbClr val="9481B1"/>
          </a:solidFill>
          <a:ln w="0" cap="rnd">
            <a:noFill/>
          </a:ln>
        </p:spPr>
      </p:sp>
      <p:sp>
        <p:nvSpPr>
          <p:cNvPr id="1457" name="V8 embedding neighbor 4">
            <a:extLst>
              <a:ext uri="{FF2B5EF4-FFF2-40B4-BE49-F238E27FC236}">
                <a16:creationId xmlns:a16="http://schemas.microsoft.com/office/drawing/2014/main" id="{AEADE014-9292-2360-C2CE-F8C845E8BCFD}"/>
              </a:ext>
            </a:extLst>
          </p:cNvPr>
          <p:cNvSpPr/>
          <p:nvPr/>
        </p:nvSpPr>
        <p:spPr>
          <a:xfrm>
            <a:off x="1407795" y="1607185"/>
            <a:ext cx="31750" cy="31750"/>
          </a:xfrm>
          <a:prstGeom prst="ellipse">
            <a:avLst/>
          </a:prstGeom>
          <a:noFill/>
          <a:ln w="7112" cap="rnd">
            <a:solidFill>
              <a:srgbClr val="9481B1"/>
            </a:solidFill>
            <a:prstDash val="solid"/>
            <a:round/>
          </a:ln>
        </p:spPr>
      </p:sp>
      <p:sp>
        <p:nvSpPr>
          <p:cNvPr id="1458" name="V8 embedding neighbor 5 to center">
            <a:extLst>
              <a:ext uri="{FF2B5EF4-FFF2-40B4-BE49-F238E27FC236}">
                <a16:creationId xmlns:a16="http://schemas.microsoft.com/office/drawing/2014/main" id="{88F2ECE0-BE4E-6B10-0F14-901F5AD31AE6}"/>
              </a:ext>
            </a:extLst>
          </p:cNvPr>
          <p:cNvSpPr/>
          <p:nvPr/>
        </p:nvSpPr>
        <p:spPr>
          <a:xfrm>
            <a:off x="1538090" y="1576570"/>
            <a:ext cx="5857" cy="82734"/>
          </a:xfrm>
          <a:custGeom>
            <a:avLst/>
            <a:gdLst/>
            <a:ahLst/>
            <a:cxnLst/>
            <a:rect l="l" t="t" r="r" b="b"/>
            <a:pathLst>
              <a:path w="5857" h="82734">
                <a:moveTo>
                  <a:pt x="0" y="82734"/>
                </a:moveTo>
                <a:lnTo>
                  <a:pt x="5857" y="0"/>
                </a:lnTo>
              </a:path>
            </a:pathLst>
          </a:custGeom>
          <a:noFill/>
          <a:ln w="5842" cap="rnd">
            <a:solidFill>
              <a:srgbClr val="9481B1"/>
            </a:solidFill>
            <a:prstDash val="solid"/>
            <a:round/>
          </a:ln>
        </p:spPr>
      </p:sp>
      <p:sp>
        <p:nvSpPr>
          <p:cNvPr id="1459" name="V8 embedding neighbor 5 to center head">
            <a:extLst>
              <a:ext uri="{FF2B5EF4-FFF2-40B4-BE49-F238E27FC236}">
                <a16:creationId xmlns:a16="http://schemas.microsoft.com/office/drawing/2014/main" id="{4E579011-FEC4-00D3-7546-C5CB388C9A0A}"/>
              </a:ext>
            </a:extLst>
          </p:cNvPr>
          <p:cNvSpPr/>
          <p:nvPr/>
        </p:nvSpPr>
        <p:spPr>
          <a:xfrm>
            <a:off x="1534315" y="1567734"/>
            <a:ext cx="17736" cy="20264"/>
          </a:xfrm>
          <a:custGeom>
            <a:avLst/>
            <a:gdLst/>
            <a:ahLst/>
            <a:cxnLst/>
            <a:rect l="l" t="t" r="r" b="b"/>
            <a:pathLst>
              <a:path w="17736" h="20264">
                <a:moveTo>
                  <a:pt x="10258" y="0"/>
                </a:moveTo>
                <a:lnTo>
                  <a:pt x="0" y="19008"/>
                </a:lnTo>
                <a:lnTo>
                  <a:pt x="17736" y="20264"/>
                </a:lnTo>
                <a:close/>
              </a:path>
            </a:pathLst>
          </a:custGeom>
          <a:solidFill>
            <a:srgbClr val="9481B1"/>
          </a:solidFill>
          <a:ln w="0" cap="rnd">
            <a:noFill/>
          </a:ln>
        </p:spPr>
      </p:sp>
      <p:sp>
        <p:nvSpPr>
          <p:cNvPr id="1460" name="V8 embedding neighbor 5">
            <a:extLst>
              <a:ext uri="{FF2B5EF4-FFF2-40B4-BE49-F238E27FC236}">
                <a16:creationId xmlns:a16="http://schemas.microsoft.com/office/drawing/2014/main" id="{80A6CA00-4D1C-000D-C0AF-7F59BA21FF45}"/>
              </a:ext>
            </a:extLst>
          </p:cNvPr>
          <p:cNvSpPr/>
          <p:nvPr/>
        </p:nvSpPr>
        <p:spPr>
          <a:xfrm>
            <a:off x="1522095" y="1664335"/>
            <a:ext cx="29210" cy="29210"/>
          </a:xfrm>
          <a:prstGeom prst="ellipse">
            <a:avLst/>
          </a:prstGeom>
          <a:noFill/>
          <a:ln w="7112" cap="rnd">
            <a:solidFill>
              <a:srgbClr val="9481B1"/>
            </a:solidFill>
            <a:prstDash val="solid"/>
            <a:round/>
          </a:ln>
        </p:spPr>
      </p:sp>
      <p:sp>
        <p:nvSpPr>
          <p:cNvPr id="1461" name="V8 embedding center">
            <a:extLst>
              <a:ext uri="{FF2B5EF4-FFF2-40B4-BE49-F238E27FC236}">
                <a16:creationId xmlns:a16="http://schemas.microsoft.com/office/drawing/2014/main" id="{0973F1A0-63C8-796C-8269-8DC9810E39E1}"/>
              </a:ext>
            </a:extLst>
          </p:cNvPr>
          <p:cNvSpPr/>
          <p:nvPr/>
        </p:nvSpPr>
        <p:spPr>
          <a:xfrm>
            <a:off x="1524635" y="1513205"/>
            <a:ext cx="44450" cy="44450"/>
          </a:xfrm>
          <a:prstGeom prst="ellipse">
            <a:avLst/>
          </a:prstGeom>
          <a:noFill/>
          <a:ln w="9906" cap="rnd">
            <a:solidFill>
              <a:srgbClr val="3B8C80"/>
            </a:solidFill>
            <a:prstDash val="solid"/>
            <a:round/>
          </a:ln>
        </p:spPr>
      </p:sp>
      <p:sp>
        <p:nvSpPr>
          <p:cNvPr id="1462" name="V8 embedding feature 1">
            <a:extLst>
              <a:ext uri="{FF2B5EF4-FFF2-40B4-BE49-F238E27FC236}">
                <a16:creationId xmlns:a16="http://schemas.microsoft.com/office/drawing/2014/main" id="{FE0417EE-6828-F09F-AACE-DE1F76BE3EB6}"/>
              </a:ext>
            </a:extLst>
          </p:cNvPr>
          <p:cNvSpPr/>
          <p:nvPr/>
        </p:nvSpPr>
        <p:spPr>
          <a:xfrm>
            <a:off x="1578610" y="1518285"/>
            <a:ext cx="18415" cy="34290"/>
          </a:xfrm>
          <a:prstGeom prst="rect">
            <a:avLst/>
          </a:prstGeom>
          <a:solidFill>
            <a:srgbClr val="3E8F9A"/>
          </a:solidFill>
          <a:ln w="0" cap="rnd">
            <a:noFill/>
          </a:ln>
        </p:spPr>
      </p:sp>
      <p:sp>
        <p:nvSpPr>
          <p:cNvPr id="1463" name="V8 embedding feature 2">
            <a:extLst>
              <a:ext uri="{FF2B5EF4-FFF2-40B4-BE49-F238E27FC236}">
                <a16:creationId xmlns:a16="http://schemas.microsoft.com/office/drawing/2014/main" id="{28DF18A8-B7D6-40CC-F8D0-1CE005F88971}"/>
              </a:ext>
            </a:extLst>
          </p:cNvPr>
          <p:cNvSpPr/>
          <p:nvPr/>
        </p:nvSpPr>
        <p:spPr>
          <a:xfrm>
            <a:off x="1598295" y="1518285"/>
            <a:ext cx="18415" cy="34290"/>
          </a:xfrm>
          <a:prstGeom prst="rect">
            <a:avLst/>
          </a:prstGeom>
          <a:solidFill>
            <a:srgbClr val="88BEC3"/>
          </a:solidFill>
          <a:ln w="0" cap="rnd">
            <a:noFill/>
          </a:ln>
        </p:spPr>
      </p:sp>
      <p:sp>
        <p:nvSpPr>
          <p:cNvPr id="1464" name="V8 embedding feature 3">
            <a:extLst>
              <a:ext uri="{FF2B5EF4-FFF2-40B4-BE49-F238E27FC236}">
                <a16:creationId xmlns:a16="http://schemas.microsoft.com/office/drawing/2014/main" id="{D8B2548F-FDCB-962F-D116-8194E608D854}"/>
              </a:ext>
            </a:extLst>
          </p:cNvPr>
          <p:cNvSpPr/>
          <p:nvPr/>
        </p:nvSpPr>
        <p:spPr>
          <a:xfrm>
            <a:off x="1617980" y="1518285"/>
            <a:ext cx="18415" cy="34290"/>
          </a:xfrm>
          <a:prstGeom prst="rect">
            <a:avLst/>
          </a:prstGeom>
          <a:solidFill>
            <a:srgbClr val="67AD9F"/>
          </a:solidFill>
          <a:ln w="0" cap="rnd">
            <a:noFill/>
          </a:ln>
        </p:spPr>
      </p:sp>
      <p:sp>
        <p:nvSpPr>
          <p:cNvPr id="1465" name="V8 embedding feature 4">
            <a:extLst>
              <a:ext uri="{FF2B5EF4-FFF2-40B4-BE49-F238E27FC236}">
                <a16:creationId xmlns:a16="http://schemas.microsoft.com/office/drawing/2014/main" id="{4DB56FF7-AE6A-29C2-0D4E-A50B4A01B329}"/>
              </a:ext>
            </a:extLst>
          </p:cNvPr>
          <p:cNvSpPr/>
          <p:nvPr/>
        </p:nvSpPr>
        <p:spPr>
          <a:xfrm>
            <a:off x="1637665" y="1518285"/>
            <a:ext cx="18415" cy="34290"/>
          </a:xfrm>
          <a:prstGeom prst="rect">
            <a:avLst/>
          </a:prstGeom>
          <a:solidFill>
            <a:srgbClr val="B6D8CC"/>
          </a:solidFill>
          <a:ln w="0" cap="rnd">
            <a:noFill/>
          </a:ln>
        </p:spPr>
      </p:sp>
      <p:sp>
        <p:nvSpPr>
          <p:cNvPr id="1466" name="V8 embedding feature 5">
            <a:extLst>
              <a:ext uri="{FF2B5EF4-FFF2-40B4-BE49-F238E27FC236}">
                <a16:creationId xmlns:a16="http://schemas.microsoft.com/office/drawing/2014/main" id="{0834D08B-BC25-2ADC-AF12-5492513577F8}"/>
              </a:ext>
            </a:extLst>
          </p:cNvPr>
          <p:cNvSpPr/>
          <p:nvPr/>
        </p:nvSpPr>
        <p:spPr>
          <a:xfrm>
            <a:off x="1657350" y="1518285"/>
            <a:ext cx="18415" cy="34290"/>
          </a:xfrm>
          <a:prstGeom prst="rect">
            <a:avLst/>
          </a:prstGeom>
          <a:solidFill>
            <a:srgbClr val="3B8C80"/>
          </a:solidFill>
          <a:ln w="0" cap="rnd">
            <a:noFill/>
          </a:ln>
        </p:spPr>
      </p:sp>
      <p:sp>
        <p:nvSpPr>
          <p:cNvPr id="1467" name="V8 embedding feature 6">
            <a:extLst>
              <a:ext uri="{FF2B5EF4-FFF2-40B4-BE49-F238E27FC236}">
                <a16:creationId xmlns:a16="http://schemas.microsoft.com/office/drawing/2014/main" id="{7EDE9E92-6EF0-3023-2F22-6E7EFD9706C6}"/>
              </a:ext>
            </a:extLst>
          </p:cNvPr>
          <p:cNvSpPr/>
          <p:nvPr/>
        </p:nvSpPr>
        <p:spPr>
          <a:xfrm>
            <a:off x="1677035" y="1518285"/>
            <a:ext cx="18415" cy="34290"/>
          </a:xfrm>
          <a:prstGeom prst="rect">
            <a:avLst/>
          </a:prstGeom>
          <a:solidFill>
            <a:srgbClr val="A3CDDA"/>
          </a:solidFill>
          <a:ln w="0" cap="rnd">
            <a:noFill/>
          </a:ln>
        </p:spPr>
      </p:sp>
      <p:sp>
        <p:nvSpPr>
          <p:cNvPr id="1468" name="V8 embedding feature 7">
            <a:extLst>
              <a:ext uri="{FF2B5EF4-FFF2-40B4-BE49-F238E27FC236}">
                <a16:creationId xmlns:a16="http://schemas.microsoft.com/office/drawing/2014/main" id="{3791BD29-2650-00D8-2639-94010AF8036F}"/>
              </a:ext>
            </a:extLst>
          </p:cNvPr>
          <p:cNvSpPr/>
          <p:nvPr/>
        </p:nvSpPr>
        <p:spPr>
          <a:xfrm>
            <a:off x="1696720" y="1518285"/>
            <a:ext cx="18415" cy="34290"/>
          </a:xfrm>
          <a:prstGeom prst="rect">
            <a:avLst/>
          </a:prstGeom>
          <a:solidFill>
            <a:srgbClr val="6CAFA4"/>
          </a:solidFill>
          <a:ln w="0" cap="rnd">
            <a:noFill/>
          </a:ln>
        </p:spPr>
      </p:sp>
      <p:sp>
        <p:nvSpPr>
          <p:cNvPr id="1469" name="V8 embedding feature 8">
            <a:extLst>
              <a:ext uri="{FF2B5EF4-FFF2-40B4-BE49-F238E27FC236}">
                <a16:creationId xmlns:a16="http://schemas.microsoft.com/office/drawing/2014/main" id="{78D40256-09DE-A393-64FC-199BB5DEB767}"/>
              </a:ext>
            </a:extLst>
          </p:cNvPr>
          <p:cNvSpPr/>
          <p:nvPr/>
        </p:nvSpPr>
        <p:spPr>
          <a:xfrm>
            <a:off x="1716405" y="1518285"/>
            <a:ext cx="18415" cy="34290"/>
          </a:xfrm>
          <a:prstGeom prst="rect">
            <a:avLst/>
          </a:prstGeom>
          <a:solidFill>
            <a:srgbClr val="C4DDE0"/>
          </a:solidFill>
          <a:ln w="0" cap="rnd">
            <a:noFill/>
          </a:ln>
        </p:spPr>
      </p:sp>
      <p:sp>
        <p:nvSpPr>
          <p:cNvPr id="1471" name="V8 embedding to point branch">
            <a:extLst>
              <a:ext uri="{FF2B5EF4-FFF2-40B4-BE49-F238E27FC236}">
                <a16:creationId xmlns:a16="http://schemas.microsoft.com/office/drawing/2014/main" id="{CD0EF799-B1E4-C26B-BB25-441BB97890BE}"/>
              </a:ext>
            </a:extLst>
          </p:cNvPr>
          <p:cNvSpPr/>
          <p:nvPr/>
        </p:nvSpPr>
        <p:spPr>
          <a:xfrm flipV="1">
            <a:off x="1792289" y="1489896"/>
            <a:ext cx="162207" cy="45719"/>
          </a:xfrm>
          <a:custGeom>
            <a:avLst/>
            <a:gdLst/>
            <a:ahLst/>
            <a:cxnLst/>
            <a:rect l="l" t="t" r="r" b="b"/>
            <a:pathLst>
              <a:path w="63379" h="1">
                <a:moveTo>
                  <a:pt x="0" y="0"/>
                </a:moveTo>
                <a:lnTo>
                  <a:pt x="63379" y="0"/>
                </a:lnTo>
              </a:path>
            </a:pathLst>
          </a:custGeom>
          <a:noFill/>
          <a:ln w="8509" cap="rnd">
            <a:solidFill>
              <a:srgbClr val="9481B1"/>
            </a:solidFill>
            <a:prstDash val="solid"/>
            <a:round/>
          </a:ln>
        </p:spPr>
      </p:sp>
      <p:sp>
        <p:nvSpPr>
          <p:cNvPr id="1472" name="V8 embedding to point branch head">
            <a:extLst>
              <a:ext uri="{FF2B5EF4-FFF2-40B4-BE49-F238E27FC236}">
                <a16:creationId xmlns:a16="http://schemas.microsoft.com/office/drawing/2014/main" id="{EE5B1593-BB31-DCD1-99C7-141C7B857AF7}"/>
              </a:ext>
            </a:extLst>
          </p:cNvPr>
          <p:cNvSpPr/>
          <p:nvPr/>
        </p:nvSpPr>
        <p:spPr>
          <a:xfrm>
            <a:off x="1938919" y="1523745"/>
            <a:ext cx="28321" cy="24384"/>
          </a:xfrm>
          <a:custGeom>
            <a:avLst/>
            <a:gdLst/>
            <a:ahLst/>
            <a:cxnLst/>
            <a:rect l="l" t="t" r="r" b="b"/>
            <a:pathLst>
              <a:path w="28321" h="24384">
                <a:moveTo>
                  <a:pt x="28321" y="12192"/>
                </a:moveTo>
                <a:lnTo>
                  <a:pt x="0" y="0"/>
                </a:lnTo>
                <a:lnTo>
                  <a:pt x="0" y="24384"/>
                </a:lnTo>
                <a:close/>
              </a:path>
            </a:pathLst>
          </a:custGeom>
          <a:solidFill>
            <a:srgbClr val="9481B1"/>
          </a:solidFill>
          <a:ln w="0" cap="rnd">
            <a:noFill/>
          </a:ln>
        </p:spPr>
      </p:sp>
      <p:sp>
        <p:nvSpPr>
          <p:cNvPr id="1473" name="V8 embedding to voxel branch">
            <a:extLst>
              <a:ext uri="{FF2B5EF4-FFF2-40B4-BE49-F238E27FC236}">
                <a16:creationId xmlns:a16="http://schemas.microsoft.com/office/drawing/2014/main" id="{A9E148F4-6BCA-77FF-AE43-549D2AE883D5}"/>
              </a:ext>
            </a:extLst>
          </p:cNvPr>
          <p:cNvSpPr/>
          <p:nvPr/>
        </p:nvSpPr>
        <p:spPr>
          <a:xfrm>
            <a:off x="1819910" y="669271"/>
            <a:ext cx="1" cy="866159"/>
          </a:xfrm>
          <a:custGeom>
            <a:avLst/>
            <a:gdLst/>
            <a:ahLst/>
            <a:cxnLst/>
            <a:rect l="l" t="t" r="r" b="b"/>
            <a:pathLst>
              <a:path w="1" h="866159">
                <a:moveTo>
                  <a:pt x="0" y="866159"/>
                </a:moveTo>
                <a:lnTo>
                  <a:pt x="0" y="0"/>
                </a:lnTo>
              </a:path>
            </a:pathLst>
          </a:custGeom>
          <a:noFill/>
          <a:ln w="8509" cap="rnd">
            <a:solidFill>
              <a:srgbClr val="9481B1"/>
            </a:solidFill>
            <a:prstDash val="solid"/>
            <a:round/>
          </a:ln>
        </p:spPr>
      </p:sp>
      <p:sp>
        <p:nvSpPr>
          <p:cNvPr id="1474" name="V8 embedding to voxel branch head">
            <a:extLst>
              <a:ext uri="{FF2B5EF4-FFF2-40B4-BE49-F238E27FC236}">
                <a16:creationId xmlns:a16="http://schemas.microsoft.com/office/drawing/2014/main" id="{BAE99500-F0C6-FF9E-5ADA-696300A3926E}"/>
              </a:ext>
            </a:extLst>
          </p:cNvPr>
          <p:cNvSpPr/>
          <p:nvPr/>
        </p:nvSpPr>
        <p:spPr>
          <a:xfrm>
            <a:off x="1807718" y="656526"/>
            <a:ext cx="24384" cy="28321"/>
          </a:xfrm>
          <a:custGeom>
            <a:avLst/>
            <a:gdLst/>
            <a:ahLst/>
            <a:cxnLst/>
            <a:rect l="l" t="t" r="r" b="b"/>
            <a:pathLst>
              <a:path w="24384" h="28321">
                <a:moveTo>
                  <a:pt x="12192" y="0"/>
                </a:moveTo>
                <a:lnTo>
                  <a:pt x="0" y="28321"/>
                </a:lnTo>
                <a:lnTo>
                  <a:pt x="24384" y="28321"/>
                </a:lnTo>
                <a:close/>
              </a:path>
            </a:pathLst>
          </a:custGeom>
          <a:solidFill>
            <a:srgbClr val="9481B1"/>
          </a:solidFill>
          <a:ln w="0" cap="rnd">
            <a:noFill/>
          </a:ln>
        </p:spPr>
      </p:sp>
      <p:sp>
        <p:nvSpPr>
          <p:cNvPr id="1475" name="V8 density and receptor to voxel">
            <a:extLst>
              <a:ext uri="{FF2B5EF4-FFF2-40B4-BE49-F238E27FC236}">
                <a16:creationId xmlns:a16="http://schemas.microsoft.com/office/drawing/2014/main" id="{61ECA984-FF9D-A5D0-F819-33661D001ABE}"/>
              </a:ext>
            </a:extLst>
          </p:cNvPr>
          <p:cNvSpPr/>
          <p:nvPr/>
        </p:nvSpPr>
        <p:spPr>
          <a:xfrm>
            <a:off x="1786560" y="656526"/>
            <a:ext cx="163405" cy="1"/>
          </a:xfrm>
          <a:custGeom>
            <a:avLst/>
            <a:gdLst/>
            <a:ahLst/>
            <a:cxnLst/>
            <a:rect l="l" t="t" r="r" b="b"/>
            <a:pathLst>
              <a:path w="96730" h="1">
                <a:moveTo>
                  <a:pt x="0" y="0"/>
                </a:moveTo>
                <a:lnTo>
                  <a:pt x="96730" y="0"/>
                </a:lnTo>
              </a:path>
            </a:pathLst>
          </a:custGeom>
          <a:noFill/>
          <a:ln w="8509" cap="rnd">
            <a:solidFill>
              <a:srgbClr val="4083B4"/>
            </a:solidFill>
            <a:prstDash val="solid"/>
            <a:round/>
          </a:ln>
        </p:spPr>
      </p:sp>
      <p:sp>
        <p:nvSpPr>
          <p:cNvPr id="1476" name="V8 density and receptor to voxel head">
            <a:extLst>
              <a:ext uri="{FF2B5EF4-FFF2-40B4-BE49-F238E27FC236}">
                <a16:creationId xmlns:a16="http://schemas.microsoft.com/office/drawing/2014/main" id="{D6CAD338-44F5-8993-3618-9A1839CB2DBC}"/>
              </a:ext>
            </a:extLst>
          </p:cNvPr>
          <p:cNvSpPr/>
          <p:nvPr/>
        </p:nvSpPr>
        <p:spPr>
          <a:xfrm>
            <a:off x="1934388" y="644334"/>
            <a:ext cx="28321" cy="24384"/>
          </a:xfrm>
          <a:custGeom>
            <a:avLst/>
            <a:gdLst/>
            <a:ahLst/>
            <a:cxnLst/>
            <a:rect l="l" t="t" r="r" b="b"/>
            <a:pathLst>
              <a:path w="28321" h="24384">
                <a:moveTo>
                  <a:pt x="28321" y="12192"/>
                </a:moveTo>
                <a:lnTo>
                  <a:pt x="0" y="0"/>
                </a:lnTo>
                <a:lnTo>
                  <a:pt x="0" y="24384"/>
                </a:lnTo>
                <a:close/>
              </a:path>
            </a:pathLst>
          </a:custGeom>
          <a:solidFill>
            <a:srgbClr val="4083B4"/>
          </a:solidFill>
          <a:ln w="0" cap="rnd">
            <a:noFill/>
          </a:ln>
        </p:spPr>
      </p:sp>
      <p:sp>
        <p:nvSpPr>
          <p:cNvPr id="1477" name="V8 voxel input junction">
            <a:extLst>
              <a:ext uri="{FF2B5EF4-FFF2-40B4-BE49-F238E27FC236}">
                <a16:creationId xmlns:a16="http://schemas.microsoft.com/office/drawing/2014/main" id="{93F36DE0-10B5-E2A2-60B2-341BCDB28517}"/>
              </a:ext>
            </a:extLst>
          </p:cNvPr>
          <p:cNvSpPr/>
          <p:nvPr/>
        </p:nvSpPr>
        <p:spPr>
          <a:xfrm>
            <a:off x="1811973" y="648589"/>
            <a:ext cx="15875" cy="15875"/>
          </a:xfrm>
          <a:prstGeom prst="ellipse">
            <a:avLst/>
          </a:prstGeom>
          <a:solidFill>
            <a:srgbClr val="4083B4"/>
          </a:solidFill>
          <a:ln w="0" cap="rnd">
            <a:noFill/>
          </a:ln>
        </p:spPr>
      </p:sp>
      <p:sp>
        <p:nvSpPr>
          <p:cNvPr id="1479" name="V8 Match input divider">
            <a:extLst>
              <a:ext uri="{FF2B5EF4-FFF2-40B4-BE49-F238E27FC236}">
                <a16:creationId xmlns:a16="http://schemas.microsoft.com/office/drawing/2014/main" id="{2EDC4EC7-D903-3262-650D-444D37299D28}"/>
              </a:ext>
            </a:extLst>
          </p:cNvPr>
          <p:cNvSpPr/>
          <p:nvPr/>
        </p:nvSpPr>
        <p:spPr>
          <a:xfrm>
            <a:off x="673037" y="2767063"/>
            <a:ext cx="957199" cy="1"/>
          </a:xfrm>
          <a:custGeom>
            <a:avLst/>
            <a:gdLst/>
            <a:ahLst/>
            <a:cxnLst/>
            <a:rect l="l" t="t" r="r" b="b"/>
            <a:pathLst>
              <a:path w="957199" h="1">
                <a:moveTo>
                  <a:pt x="0" y="0"/>
                </a:moveTo>
                <a:lnTo>
                  <a:pt x="957199" y="0"/>
                </a:lnTo>
              </a:path>
            </a:pathLst>
          </a:custGeom>
          <a:noFill/>
          <a:ln w="7290" cap="rnd">
            <a:solidFill>
              <a:srgbClr val="B6CEC5"/>
            </a:solidFill>
            <a:prstDash val="solid"/>
            <a:round/>
          </a:ln>
        </p:spPr>
      </p:sp>
      <p:sp>
        <p:nvSpPr>
          <p:cNvPr id="1480" name="V8 pool to concat">
            <a:extLst>
              <a:ext uri="{FF2B5EF4-FFF2-40B4-BE49-F238E27FC236}">
                <a16:creationId xmlns:a16="http://schemas.microsoft.com/office/drawing/2014/main" id="{3702663D-F294-9B06-B213-0076F82464A6}"/>
              </a:ext>
            </a:extLst>
          </p:cNvPr>
          <p:cNvSpPr/>
          <p:nvPr/>
        </p:nvSpPr>
        <p:spPr>
          <a:xfrm>
            <a:off x="978338" y="3603168"/>
            <a:ext cx="355873" cy="100152"/>
          </a:xfrm>
          <a:custGeom>
            <a:avLst/>
            <a:gdLst/>
            <a:ahLst/>
            <a:cxnLst/>
            <a:rect l="l" t="t" r="r" b="b"/>
            <a:pathLst>
              <a:path w="355873" h="100152">
                <a:moveTo>
                  <a:pt x="0" y="0"/>
                </a:moveTo>
                <a:lnTo>
                  <a:pt x="0" y="100152"/>
                </a:lnTo>
                <a:lnTo>
                  <a:pt x="355873" y="100152"/>
                </a:lnTo>
              </a:path>
            </a:pathLst>
          </a:custGeom>
          <a:noFill/>
          <a:ln w="8509" cap="rnd">
            <a:solidFill>
              <a:srgbClr val="3B8C80"/>
            </a:solidFill>
            <a:prstDash val="solid"/>
            <a:round/>
          </a:ln>
        </p:spPr>
      </p:sp>
      <p:sp>
        <p:nvSpPr>
          <p:cNvPr id="1481" name="V8 attention to concat">
            <a:extLst>
              <a:ext uri="{FF2B5EF4-FFF2-40B4-BE49-F238E27FC236}">
                <a16:creationId xmlns:a16="http://schemas.microsoft.com/office/drawing/2014/main" id="{45C4FCB5-3380-E3A8-B0B1-54A427F52361}"/>
              </a:ext>
            </a:extLst>
          </p:cNvPr>
          <p:cNvSpPr/>
          <p:nvPr/>
        </p:nvSpPr>
        <p:spPr>
          <a:xfrm>
            <a:off x="1334211" y="3603168"/>
            <a:ext cx="356064" cy="100152"/>
          </a:xfrm>
          <a:custGeom>
            <a:avLst/>
            <a:gdLst/>
            <a:ahLst/>
            <a:cxnLst/>
            <a:rect l="l" t="t" r="r" b="b"/>
            <a:pathLst>
              <a:path w="356064" h="100152">
                <a:moveTo>
                  <a:pt x="356064" y="0"/>
                </a:moveTo>
                <a:lnTo>
                  <a:pt x="356064" y="100152"/>
                </a:lnTo>
                <a:lnTo>
                  <a:pt x="0" y="100152"/>
                </a:lnTo>
              </a:path>
            </a:pathLst>
          </a:custGeom>
          <a:noFill/>
          <a:ln w="8509" cap="rnd">
            <a:solidFill>
              <a:srgbClr val="3B8C80"/>
            </a:solidFill>
            <a:prstDash val="solid"/>
            <a:round/>
          </a:ln>
        </p:spPr>
      </p:sp>
      <p:sp>
        <p:nvSpPr>
          <p:cNvPr id="1482" name="V8 concat to MLP">
            <a:extLst>
              <a:ext uri="{FF2B5EF4-FFF2-40B4-BE49-F238E27FC236}">
                <a16:creationId xmlns:a16="http://schemas.microsoft.com/office/drawing/2014/main" id="{366946BB-F669-FC2F-4DBA-809EA592E5E1}"/>
              </a:ext>
            </a:extLst>
          </p:cNvPr>
          <p:cNvSpPr/>
          <p:nvPr/>
        </p:nvSpPr>
        <p:spPr>
          <a:xfrm>
            <a:off x="1334211" y="3703320"/>
            <a:ext cx="1" cy="22181"/>
          </a:xfrm>
          <a:custGeom>
            <a:avLst/>
            <a:gdLst/>
            <a:ahLst/>
            <a:cxnLst/>
            <a:rect l="l" t="t" r="r" b="b"/>
            <a:pathLst>
              <a:path w="1" h="22181">
                <a:moveTo>
                  <a:pt x="0" y="0"/>
                </a:moveTo>
                <a:lnTo>
                  <a:pt x="0" y="22181"/>
                </a:lnTo>
              </a:path>
            </a:pathLst>
          </a:custGeom>
          <a:noFill/>
          <a:ln w="8509" cap="rnd">
            <a:solidFill>
              <a:srgbClr val="3B8C80"/>
            </a:solidFill>
            <a:prstDash val="solid"/>
            <a:round/>
          </a:ln>
        </p:spPr>
      </p:sp>
      <p:sp>
        <p:nvSpPr>
          <p:cNvPr id="1483" name="V8 concat to MLP head">
            <a:extLst>
              <a:ext uri="{FF2B5EF4-FFF2-40B4-BE49-F238E27FC236}">
                <a16:creationId xmlns:a16="http://schemas.microsoft.com/office/drawing/2014/main" id="{234835D4-EF31-832C-586B-712FBD8CEB61}"/>
              </a:ext>
            </a:extLst>
          </p:cNvPr>
          <p:cNvSpPr/>
          <p:nvPr/>
        </p:nvSpPr>
        <p:spPr>
          <a:xfrm>
            <a:off x="1322019" y="3709924"/>
            <a:ext cx="24384" cy="28321"/>
          </a:xfrm>
          <a:custGeom>
            <a:avLst/>
            <a:gdLst/>
            <a:ahLst/>
            <a:cxnLst/>
            <a:rect l="l" t="t" r="r" b="b"/>
            <a:pathLst>
              <a:path w="24384" h="28321">
                <a:moveTo>
                  <a:pt x="12192" y="28321"/>
                </a:moveTo>
                <a:lnTo>
                  <a:pt x="24384" y="0"/>
                </a:lnTo>
                <a:lnTo>
                  <a:pt x="0" y="0"/>
                </a:lnTo>
                <a:close/>
              </a:path>
            </a:pathLst>
          </a:custGeom>
          <a:solidFill>
            <a:srgbClr val="3B8C80"/>
          </a:solidFill>
          <a:ln w="0" cap="rnd">
            <a:noFill/>
          </a:ln>
        </p:spPr>
      </p:sp>
      <p:sp>
        <p:nvSpPr>
          <p:cNvPr id="1484" name="V8 Build site and identity frame">
            <a:extLst>
              <a:ext uri="{FF2B5EF4-FFF2-40B4-BE49-F238E27FC236}">
                <a16:creationId xmlns:a16="http://schemas.microsoft.com/office/drawing/2014/main" id="{B0159410-81AF-A0CB-FD15-D731C54E54D4}"/>
              </a:ext>
            </a:extLst>
          </p:cNvPr>
          <p:cNvSpPr/>
          <p:nvPr/>
        </p:nvSpPr>
        <p:spPr>
          <a:xfrm>
            <a:off x="4998402" y="452120"/>
            <a:ext cx="519754" cy="1228090"/>
          </a:xfrm>
          <a:prstGeom prst="roundRect">
            <a:avLst>
              <a:gd name="adj" fmla="val 5556"/>
            </a:avLst>
          </a:prstGeom>
          <a:noFill/>
          <a:ln w="6985" cap="rnd">
            <a:solidFill>
              <a:srgbClr val="9BB4C8"/>
            </a:solidFill>
            <a:prstDash val="dash"/>
            <a:round/>
          </a:ln>
        </p:spPr>
      </p:sp>
      <p:sp>
        <p:nvSpPr>
          <p:cNvPr id="1485" name="V8 Build pocket and density frame">
            <a:extLst>
              <a:ext uri="{FF2B5EF4-FFF2-40B4-BE49-F238E27FC236}">
                <a16:creationId xmlns:a16="http://schemas.microsoft.com/office/drawing/2014/main" id="{FF6F6920-E776-E473-D444-477FCB823104}"/>
              </a:ext>
            </a:extLst>
          </p:cNvPr>
          <p:cNvSpPr/>
          <p:nvPr/>
        </p:nvSpPr>
        <p:spPr>
          <a:xfrm>
            <a:off x="5564187" y="452120"/>
            <a:ext cx="527685" cy="1228090"/>
          </a:xfrm>
          <a:prstGeom prst="roundRect">
            <a:avLst>
              <a:gd name="adj" fmla="val 6477"/>
            </a:avLst>
          </a:prstGeom>
          <a:noFill/>
          <a:ln w="6985" cap="rnd">
            <a:solidFill>
              <a:srgbClr val="9BB4C8"/>
            </a:solidFill>
            <a:prstDash val="dash"/>
            <a:round/>
          </a:ln>
        </p:spPr>
      </p:sp>
      <p:sp>
        <p:nvSpPr>
          <p:cNvPr id="1486" name="V8 Build inputs to docking">
            <a:extLst>
              <a:ext uri="{FF2B5EF4-FFF2-40B4-BE49-F238E27FC236}">
                <a16:creationId xmlns:a16="http://schemas.microsoft.com/office/drawing/2014/main" id="{25F81FEB-7923-B705-D48C-4F1FE2423027}"/>
              </a:ext>
            </a:extLst>
          </p:cNvPr>
          <p:cNvSpPr/>
          <p:nvPr/>
        </p:nvSpPr>
        <p:spPr>
          <a:xfrm>
            <a:off x="5546090" y="1765305"/>
            <a:ext cx="1" cy="56229"/>
          </a:xfrm>
          <a:custGeom>
            <a:avLst/>
            <a:gdLst/>
            <a:ahLst/>
            <a:cxnLst/>
            <a:rect l="l" t="t" r="r" b="b"/>
            <a:pathLst>
              <a:path w="1" h="113379">
                <a:moveTo>
                  <a:pt x="0" y="0"/>
                </a:moveTo>
                <a:lnTo>
                  <a:pt x="0" y="113379"/>
                </a:lnTo>
              </a:path>
            </a:pathLst>
          </a:custGeom>
          <a:noFill/>
          <a:ln w="13208" cap="rnd">
            <a:solidFill>
              <a:srgbClr val="71808C"/>
            </a:solidFill>
            <a:prstDash val="solid"/>
            <a:round/>
          </a:ln>
        </p:spPr>
      </p:sp>
      <p:sp>
        <p:nvSpPr>
          <p:cNvPr id="1487" name="V8 Build inputs to docking head">
            <a:extLst>
              <a:ext uri="{FF2B5EF4-FFF2-40B4-BE49-F238E27FC236}">
                <a16:creationId xmlns:a16="http://schemas.microsoft.com/office/drawing/2014/main" id="{B51CEB37-F359-D8DB-EED0-BF0289DBA9C3}"/>
              </a:ext>
            </a:extLst>
          </p:cNvPr>
          <p:cNvSpPr/>
          <p:nvPr/>
        </p:nvSpPr>
        <p:spPr>
          <a:xfrm>
            <a:off x="5524182" y="1800230"/>
            <a:ext cx="43815" cy="38735"/>
          </a:xfrm>
          <a:custGeom>
            <a:avLst/>
            <a:gdLst/>
            <a:ahLst/>
            <a:cxnLst/>
            <a:rect l="l" t="t" r="r" b="b"/>
            <a:pathLst>
              <a:path w="43815" h="38735">
                <a:moveTo>
                  <a:pt x="21908" y="38735"/>
                </a:moveTo>
                <a:lnTo>
                  <a:pt x="43815" y="0"/>
                </a:lnTo>
                <a:lnTo>
                  <a:pt x="0" y="0"/>
                </a:lnTo>
                <a:close/>
              </a:path>
            </a:pathLst>
          </a:custGeom>
          <a:solidFill>
            <a:srgbClr val="71808C"/>
          </a:solidFill>
          <a:ln w="0" cap="rnd">
            <a:noFill/>
          </a:ln>
        </p:spPr>
      </p:sp>
      <p:sp>
        <p:nvSpPr>
          <p:cNvPr id="1488" name="V8 Build docking to pose">
            <a:extLst>
              <a:ext uri="{FF2B5EF4-FFF2-40B4-BE49-F238E27FC236}">
                <a16:creationId xmlns:a16="http://schemas.microsoft.com/office/drawing/2014/main" id="{A8390C7D-F4E0-5D67-9352-7A11942FB4C0}"/>
              </a:ext>
            </a:extLst>
          </p:cNvPr>
          <p:cNvSpPr/>
          <p:nvPr/>
        </p:nvSpPr>
        <p:spPr>
          <a:xfrm>
            <a:off x="5546090" y="3237230"/>
            <a:ext cx="1" cy="113379"/>
          </a:xfrm>
          <a:custGeom>
            <a:avLst/>
            <a:gdLst/>
            <a:ahLst/>
            <a:cxnLst/>
            <a:rect l="l" t="t" r="r" b="b"/>
            <a:pathLst>
              <a:path w="1" h="113379">
                <a:moveTo>
                  <a:pt x="0" y="0"/>
                </a:moveTo>
                <a:lnTo>
                  <a:pt x="0" y="113379"/>
                </a:lnTo>
              </a:path>
            </a:pathLst>
          </a:custGeom>
          <a:noFill/>
          <a:ln w="13208" cap="rnd">
            <a:solidFill>
              <a:srgbClr val="71808C"/>
            </a:solidFill>
            <a:prstDash val="solid"/>
            <a:round/>
          </a:ln>
        </p:spPr>
      </p:sp>
      <p:sp>
        <p:nvSpPr>
          <p:cNvPr id="1489" name="V8 Build docking to pose head">
            <a:extLst>
              <a:ext uri="{FF2B5EF4-FFF2-40B4-BE49-F238E27FC236}">
                <a16:creationId xmlns:a16="http://schemas.microsoft.com/office/drawing/2014/main" id="{CB9E0D49-EB6F-EF7F-8A0E-43482900F10A}"/>
              </a:ext>
            </a:extLst>
          </p:cNvPr>
          <p:cNvSpPr/>
          <p:nvPr/>
        </p:nvSpPr>
        <p:spPr>
          <a:xfrm>
            <a:off x="5524182" y="3329305"/>
            <a:ext cx="43815" cy="38735"/>
          </a:xfrm>
          <a:custGeom>
            <a:avLst/>
            <a:gdLst/>
            <a:ahLst/>
            <a:cxnLst/>
            <a:rect l="l" t="t" r="r" b="b"/>
            <a:pathLst>
              <a:path w="43815" h="38735">
                <a:moveTo>
                  <a:pt x="21908" y="38735"/>
                </a:moveTo>
                <a:lnTo>
                  <a:pt x="43815" y="0"/>
                </a:lnTo>
                <a:lnTo>
                  <a:pt x="0" y="0"/>
                </a:lnTo>
                <a:close/>
              </a:path>
            </a:pathLst>
          </a:custGeom>
          <a:solidFill>
            <a:srgbClr val="71808C"/>
          </a:solidFill>
          <a:ln w="0" cap="rnd">
            <a:noFill/>
          </a:ln>
        </p:spPr>
      </p:sp>
      <p:grpSp>
        <p:nvGrpSpPr>
          <p:cNvPr id="6" name="Find candidate blob 2">
            <a:extLst>
              <a:ext uri="{FF2B5EF4-FFF2-40B4-BE49-F238E27FC236}">
                <a16:creationId xmlns:a16="http://schemas.microsoft.com/office/drawing/2014/main" id="{52582F41-8562-EDCF-D547-FEE06D78B091}"/>
              </a:ext>
            </a:extLst>
          </p:cNvPr>
          <p:cNvGrpSpPr/>
          <p:nvPr/>
        </p:nvGrpSpPr>
        <p:grpSpPr>
          <a:xfrm rot="3197729">
            <a:off x="4596570" y="1029390"/>
            <a:ext cx="168602" cy="95394"/>
            <a:chOff x="1928706" y="3559489"/>
            <a:chExt cx="227897" cy="155682"/>
          </a:xfrm>
        </p:grpSpPr>
        <p:sp>
          <p:nvSpPr>
            <p:cNvPr id="16" name="Candidate blob | editable contour">
              <a:extLst>
                <a:ext uri="{FF2B5EF4-FFF2-40B4-BE49-F238E27FC236}">
                  <a16:creationId xmlns:a16="http://schemas.microsoft.com/office/drawing/2014/main" id="{AC599FE5-B7C8-2310-361D-307EF409B159}"/>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17" name="ellipse_2612">
              <a:extLst>
                <a:ext uri="{FF2B5EF4-FFF2-40B4-BE49-F238E27FC236}">
                  <a16:creationId xmlns:a16="http://schemas.microsoft.com/office/drawing/2014/main" id="{899D545A-9188-B8A5-5122-F55763321954}"/>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22" name="Match | Blob contour">
            <a:extLst>
              <a:ext uri="{FF2B5EF4-FFF2-40B4-BE49-F238E27FC236}">
                <a16:creationId xmlns:a16="http://schemas.microsoft.com/office/drawing/2014/main" id="{014BB78B-D7B6-7233-4454-F31E0FFFF761}"/>
              </a:ext>
            </a:extLst>
          </p:cNvPr>
          <p:cNvGrpSpPr/>
          <p:nvPr/>
        </p:nvGrpSpPr>
        <p:grpSpPr>
          <a:xfrm>
            <a:off x="5095498" y="565131"/>
            <a:ext cx="291608" cy="199265"/>
            <a:chOff x="1928706" y="3559489"/>
            <a:chExt cx="227897" cy="155682"/>
          </a:xfrm>
        </p:grpSpPr>
        <p:sp>
          <p:nvSpPr>
            <p:cNvPr id="24" name="Candidate blob | editable contour">
              <a:extLst>
                <a:ext uri="{FF2B5EF4-FFF2-40B4-BE49-F238E27FC236}">
                  <a16:creationId xmlns:a16="http://schemas.microsoft.com/office/drawing/2014/main" id="{A11312CB-4342-9A48-D209-5BB49581DECC}"/>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26" name="ellipse_2612">
              <a:extLst>
                <a:ext uri="{FF2B5EF4-FFF2-40B4-BE49-F238E27FC236}">
                  <a16:creationId xmlns:a16="http://schemas.microsoft.com/office/drawing/2014/main" id="{A5E3448F-A32E-D77A-4110-EC1F991AAB0A}"/>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27" name="Oval 12178">
            <a:extLst>
              <a:ext uri="{FF2B5EF4-FFF2-40B4-BE49-F238E27FC236}">
                <a16:creationId xmlns:a16="http://schemas.microsoft.com/office/drawing/2014/main" id="{FDC707AA-314A-7AA2-186D-A8D0C4B2CC82}"/>
              </a:ext>
            </a:extLst>
          </p:cNvPr>
          <p:cNvSpPr/>
          <p:nvPr/>
        </p:nvSpPr>
        <p:spPr>
          <a:xfrm>
            <a:off x="5224292" y="648563"/>
            <a:ext cx="34426" cy="34426"/>
          </a:xfrm>
          <a:prstGeom prst="ellipse">
            <a:avLst/>
          </a:prstGeom>
          <a:solidFill>
            <a:srgbClr val="1D4ED8"/>
          </a:solidFill>
          <a:ln w="63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50508" name="F2-bank-channel">
            <a:extLst>
              <a:ext uri="{FF2B5EF4-FFF2-40B4-BE49-F238E27FC236}">
                <a16:creationId xmlns:a16="http://schemas.microsoft.com/office/drawing/2014/main" id="{E8F7522B-3B27-4338-8014-8A4EEE25C15E}"/>
              </a:ext>
            </a:extLst>
          </p:cNvPr>
          <p:cNvSpPr>
            <a:spLocks noGrp="1"/>
          </p:cNvSpPr>
          <p:nvPr/>
        </p:nvSpPr>
        <p:spPr>
          <a:xfrm>
            <a:off x="1432560" y="508635"/>
            <a:ext cx="257175" cy="190500"/>
          </a:xfrm>
          <a:prstGeom prst="rect">
            <a:avLst/>
          </a:prstGeom>
          <a:solidFill>
            <a:srgbClr val="EBF7FC"/>
          </a:solidFill>
          <a:ln w="4286">
            <a:solidFill>
              <a:srgbClr val="A6C5DF"/>
            </a:solidFill>
          </a:ln>
        </p:spPr>
      </p:sp>
      <p:sp>
        <p:nvSpPr>
          <p:cNvPr id="50509" name="F2-bank-channel">
            <a:extLst>
              <a:ext uri="{FF2B5EF4-FFF2-40B4-BE49-F238E27FC236}">
                <a16:creationId xmlns:a16="http://schemas.microsoft.com/office/drawing/2014/main" id="{44CA542A-604D-4AA5-B11D-B6617579A677}"/>
              </a:ext>
            </a:extLst>
          </p:cNvPr>
          <p:cNvSpPr>
            <a:spLocks noGrp="1"/>
          </p:cNvSpPr>
          <p:nvPr/>
        </p:nvSpPr>
        <p:spPr>
          <a:xfrm>
            <a:off x="1424940" y="515303"/>
            <a:ext cx="257175" cy="190500"/>
          </a:xfrm>
          <a:prstGeom prst="rect">
            <a:avLst/>
          </a:prstGeom>
          <a:solidFill>
            <a:srgbClr val="EBF7FC"/>
          </a:solidFill>
          <a:ln w="4286">
            <a:solidFill>
              <a:srgbClr val="A6C5DF"/>
            </a:solidFill>
          </a:ln>
        </p:spPr>
      </p:sp>
      <p:sp>
        <p:nvSpPr>
          <p:cNvPr id="50510" name="F2-bank-channel">
            <a:extLst>
              <a:ext uri="{FF2B5EF4-FFF2-40B4-BE49-F238E27FC236}">
                <a16:creationId xmlns:a16="http://schemas.microsoft.com/office/drawing/2014/main" id="{94C83CC1-C6DF-4DC5-87DF-BCD87221CF3B}"/>
              </a:ext>
            </a:extLst>
          </p:cNvPr>
          <p:cNvSpPr>
            <a:spLocks noGrp="1"/>
          </p:cNvSpPr>
          <p:nvPr/>
        </p:nvSpPr>
        <p:spPr>
          <a:xfrm>
            <a:off x="1417320" y="521970"/>
            <a:ext cx="257175" cy="190500"/>
          </a:xfrm>
          <a:prstGeom prst="rect">
            <a:avLst/>
          </a:prstGeom>
          <a:solidFill>
            <a:srgbClr val="EBF7FC"/>
          </a:solidFill>
          <a:ln w="4286">
            <a:solidFill>
              <a:srgbClr val="A6C5DF"/>
            </a:solidFill>
          </a:ln>
        </p:spPr>
      </p:sp>
      <p:sp>
        <p:nvSpPr>
          <p:cNvPr id="50511" name="F2-bank-channel">
            <a:extLst>
              <a:ext uri="{FF2B5EF4-FFF2-40B4-BE49-F238E27FC236}">
                <a16:creationId xmlns:a16="http://schemas.microsoft.com/office/drawing/2014/main" id="{1ABD8E71-8A8E-4A01-9656-5F57A7EAD863}"/>
              </a:ext>
            </a:extLst>
          </p:cNvPr>
          <p:cNvSpPr>
            <a:spLocks noGrp="1"/>
          </p:cNvSpPr>
          <p:nvPr/>
        </p:nvSpPr>
        <p:spPr>
          <a:xfrm>
            <a:off x="1409700" y="528638"/>
            <a:ext cx="257175" cy="190500"/>
          </a:xfrm>
          <a:prstGeom prst="rect">
            <a:avLst/>
          </a:prstGeom>
          <a:solidFill>
            <a:srgbClr val="EBF7FC"/>
          </a:solidFill>
          <a:ln w="4286">
            <a:solidFill>
              <a:srgbClr val="A6C5DF"/>
            </a:solidFill>
          </a:ln>
        </p:spPr>
      </p:sp>
      <p:sp>
        <p:nvSpPr>
          <p:cNvPr id="50512" name="F2-bank-channel">
            <a:extLst>
              <a:ext uri="{FF2B5EF4-FFF2-40B4-BE49-F238E27FC236}">
                <a16:creationId xmlns:a16="http://schemas.microsoft.com/office/drawing/2014/main" id="{A1E78B7C-AF8B-46CF-BE9A-7739D3A000CC}"/>
              </a:ext>
            </a:extLst>
          </p:cNvPr>
          <p:cNvSpPr>
            <a:spLocks noGrp="1"/>
          </p:cNvSpPr>
          <p:nvPr/>
        </p:nvSpPr>
        <p:spPr>
          <a:xfrm>
            <a:off x="1402080" y="535305"/>
            <a:ext cx="257175" cy="190500"/>
          </a:xfrm>
          <a:prstGeom prst="rect">
            <a:avLst/>
          </a:prstGeom>
          <a:solidFill>
            <a:srgbClr val="EBF7FC"/>
          </a:solidFill>
          <a:ln w="4286">
            <a:solidFill>
              <a:srgbClr val="A6C5DF"/>
            </a:solidFill>
          </a:ln>
        </p:spPr>
      </p:sp>
      <p:sp>
        <p:nvSpPr>
          <p:cNvPr id="50513" name="F2-bank-channel">
            <a:extLst>
              <a:ext uri="{FF2B5EF4-FFF2-40B4-BE49-F238E27FC236}">
                <a16:creationId xmlns:a16="http://schemas.microsoft.com/office/drawing/2014/main" id="{F902D412-512B-42B7-B05D-EDD9258097DC}"/>
              </a:ext>
            </a:extLst>
          </p:cNvPr>
          <p:cNvSpPr>
            <a:spLocks noGrp="1"/>
          </p:cNvSpPr>
          <p:nvPr/>
        </p:nvSpPr>
        <p:spPr>
          <a:xfrm>
            <a:off x="1394460" y="541973"/>
            <a:ext cx="257175" cy="190500"/>
          </a:xfrm>
          <a:prstGeom prst="rect">
            <a:avLst/>
          </a:prstGeom>
          <a:solidFill>
            <a:srgbClr val="EBF7FC"/>
          </a:solidFill>
          <a:ln w="4286">
            <a:solidFill>
              <a:srgbClr val="A6C5DF"/>
            </a:solidFill>
          </a:ln>
        </p:spPr>
      </p:sp>
      <p:sp>
        <p:nvSpPr>
          <p:cNvPr id="50514" name="F2-bank-channel">
            <a:extLst>
              <a:ext uri="{FF2B5EF4-FFF2-40B4-BE49-F238E27FC236}">
                <a16:creationId xmlns:a16="http://schemas.microsoft.com/office/drawing/2014/main" id="{CA6824A1-9C37-4EE2-8CF4-7C88BCE1DBE6}"/>
              </a:ext>
            </a:extLst>
          </p:cNvPr>
          <p:cNvSpPr>
            <a:spLocks noGrp="1"/>
          </p:cNvSpPr>
          <p:nvPr/>
        </p:nvSpPr>
        <p:spPr>
          <a:xfrm>
            <a:off x="1386840" y="548640"/>
            <a:ext cx="257175" cy="190500"/>
          </a:xfrm>
          <a:prstGeom prst="rect">
            <a:avLst/>
          </a:prstGeom>
          <a:solidFill>
            <a:srgbClr val="EBF7FC"/>
          </a:solidFill>
          <a:ln w="4286">
            <a:solidFill>
              <a:srgbClr val="A6C5DF"/>
            </a:solidFill>
          </a:ln>
        </p:spPr>
      </p:sp>
      <p:sp>
        <p:nvSpPr>
          <p:cNvPr id="50515" name="F2-bank-channel">
            <a:extLst>
              <a:ext uri="{FF2B5EF4-FFF2-40B4-BE49-F238E27FC236}">
                <a16:creationId xmlns:a16="http://schemas.microsoft.com/office/drawing/2014/main" id="{2705DA7A-40F9-48D2-946C-8019421C16B7}"/>
              </a:ext>
            </a:extLst>
          </p:cNvPr>
          <p:cNvSpPr>
            <a:spLocks noGrp="1"/>
          </p:cNvSpPr>
          <p:nvPr/>
        </p:nvSpPr>
        <p:spPr>
          <a:xfrm>
            <a:off x="1379220" y="555308"/>
            <a:ext cx="257175" cy="190500"/>
          </a:xfrm>
          <a:prstGeom prst="rect">
            <a:avLst/>
          </a:prstGeom>
          <a:solidFill>
            <a:srgbClr val="EBF7FC"/>
          </a:solidFill>
          <a:ln w="4286">
            <a:solidFill>
              <a:srgbClr val="A6C5DF"/>
            </a:solidFill>
          </a:ln>
        </p:spPr>
      </p:sp>
      <p:sp>
        <p:nvSpPr>
          <p:cNvPr id="50516" name="F2-bank-channel">
            <a:extLst>
              <a:ext uri="{FF2B5EF4-FFF2-40B4-BE49-F238E27FC236}">
                <a16:creationId xmlns:a16="http://schemas.microsoft.com/office/drawing/2014/main" id="{E1B9C475-D32F-4E88-9AAA-6701AFC1AC14}"/>
              </a:ext>
            </a:extLst>
          </p:cNvPr>
          <p:cNvSpPr>
            <a:spLocks noGrp="1"/>
          </p:cNvSpPr>
          <p:nvPr/>
        </p:nvSpPr>
        <p:spPr>
          <a:xfrm>
            <a:off x="1371600" y="561975"/>
            <a:ext cx="257175" cy="190500"/>
          </a:xfrm>
          <a:prstGeom prst="rect">
            <a:avLst/>
          </a:prstGeom>
          <a:solidFill>
            <a:srgbClr val="EBF7FC"/>
          </a:solidFill>
          <a:ln w="4286">
            <a:solidFill>
              <a:srgbClr val="A6C5DF"/>
            </a:solidFill>
          </a:ln>
        </p:spPr>
      </p:sp>
      <p:sp>
        <p:nvSpPr>
          <p:cNvPr id="50517" name="F2-density-voxel">
            <a:extLst>
              <a:ext uri="{FF2B5EF4-FFF2-40B4-BE49-F238E27FC236}">
                <a16:creationId xmlns:a16="http://schemas.microsoft.com/office/drawing/2014/main" id="{A49953DB-68D8-42EB-963F-DD42F453137D}"/>
              </a:ext>
            </a:extLst>
          </p:cNvPr>
          <p:cNvSpPr>
            <a:spLocks noGrp="1"/>
          </p:cNvSpPr>
          <p:nvPr/>
        </p:nvSpPr>
        <p:spPr>
          <a:xfrm>
            <a:off x="1390650" y="571500"/>
            <a:ext cx="52388" cy="42863"/>
          </a:xfrm>
          <a:prstGeom prst="rect">
            <a:avLst/>
          </a:prstGeom>
          <a:solidFill>
            <a:srgbClr val="CCE5EE"/>
          </a:solidFill>
          <a:ln w="0">
            <a:noFill/>
          </a:ln>
        </p:spPr>
      </p:sp>
      <p:sp>
        <p:nvSpPr>
          <p:cNvPr id="50518" name="F2-density-voxel">
            <a:extLst>
              <a:ext uri="{FF2B5EF4-FFF2-40B4-BE49-F238E27FC236}">
                <a16:creationId xmlns:a16="http://schemas.microsoft.com/office/drawing/2014/main" id="{ECECDED8-7BB6-465D-90CE-1566D913C0F0}"/>
              </a:ext>
            </a:extLst>
          </p:cNvPr>
          <p:cNvSpPr>
            <a:spLocks noGrp="1"/>
          </p:cNvSpPr>
          <p:nvPr/>
        </p:nvSpPr>
        <p:spPr>
          <a:xfrm>
            <a:off x="1443038" y="571500"/>
            <a:ext cx="52388" cy="42863"/>
          </a:xfrm>
          <a:prstGeom prst="rect">
            <a:avLst/>
          </a:prstGeom>
          <a:solidFill>
            <a:srgbClr val="86C0D7"/>
          </a:solidFill>
          <a:ln w="0">
            <a:noFill/>
          </a:ln>
        </p:spPr>
      </p:sp>
      <p:sp>
        <p:nvSpPr>
          <p:cNvPr id="50519" name="F2-density-voxel">
            <a:extLst>
              <a:ext uri="{FF2B5EF4-FFF2-40B4-BE49-F238E27FC236}">
                <a16:creationId xmlns:a16="http://schemas.microsoft.com/office/drawing/2014/main" id="{49E89024-8821-43E6-B830-D5D2C6143679}"/>
              </a:ext>
            </a:extLst>
          </p:cNvPr>
          <p:cNvSpPr>
            <a:spLocks noGrp="1"/>
          </p:cNvSpPr>
          <p:nvPr/>
        </p:nvSpPr>
        <p:spPr>
          <a:xfrm>
            <a:off x="1495425" y="571500"/>
            <a:ext cx="52388" cy="42863"/>
          </a:xfrm>
          <a:prstGeom prst="rect">
            <a:avLst/>
          </a:prstGeom>
          <a:solidFill>
            <a:srgbClr val="4D9ABB"/>
          </a:solidFill>
          <a:ln w="0">
            <a:noFill/>
          </a:ln>
        </p:spPr>
      </p:sp>
      <p:sp>
        <p:nvSpPr>
          <p:cNvPr id="50520" name="F2-density-voxel">
            <a:extLst>
              <a:ext uri="{FF2B5EF4-FFF2-40B4-BE49-F238E27FC236}">
                <a16:creationId xmlns:a16="http://schemas.microsoft.com/office/drawing/2014/main" id="{3A635687-B1F5-496B-9A49-461D8BC35087}"/>
              </a:ext>
            </a:extLst>
          </p:cNvPr>
          <p:cNvSpPr>
            <a:spLocks noGrp="1"/>
          </p:cNvSpPr>
          <p:nvPr/>
        </p:nvSpPr>
        <p:spPr>
          <a:xfrm>
            <a:off x="1547813" y="571500"/>
            <a:ext cx="52388" cy="42863"/>
          </a:xfrm>
          <a:prstGeom prst="rect">
            <a:avLst/>
          </a:prstGeom>
          <a:solidFill>
            <a:srgbClr val="B6DDE7"/>
          </a:solidFill>
          <a:ln w="0">
            <a:noFill/>
          </a:ln>
        </p:spPr>
      </p:sp>
      <p:sp>
        <p:nvSpPr>
          <p:cNvPr id="50521" name="F2-density-voxel">
            <a:extLst>
              <a:ext uri="{FF2B5EF4-FFF2-40B4-BE49-F238E27FC236}">
                <a16:creationId xmlns:a16="http://schemas.microsoft.com/office/drawing/2014/main" id="{FEC54E9C-643D-4824-B955-66BA7E401A0E}"/>
              </a:ext>
            </a:extLst>
          </p:cNvPr>
          <p:cNvSpPr>
            <a:spLocks noGrp="1"/>
          </p:cNvSpPr>
          <p:nvPr/>
        </p:nvSpPr>
        <p:spPr>
          <a:xfrm>
            <a:off x="1390650" y="614363"/>
            <a:ext cx="52388" cy="42863"/>
          </a:xfrm>
          <a:prstGeom prst="rect">
            <a:avLst/>
          </a:prstGeom>
          <a:solidFill>
            <a:srgbClr val="86C0D7"/>
          </a:solidFill>
          <a:ln w="0">
            <a:noFill/>
          </a:ln>
        </p:spPr>
      </p:sp>
      <p:sp>
        <p:nvSpPr>
          <p:cNvPr id="50522" name="F2-density-voxel">
            <a:extLst>
              <a:ext uri="{FF2B5EF4-FFF2-40B4-BE49-F238E27FC236}">
                <a16:creationId xmlns:a16="http://schemas.microsoft.com/office/drawing/2014/main" id="{ED2290E5-D29A-42C8-863E-1A0B5A093DAF}"/>
              </a:ext>
            </a:extLst>
          </p:cNvPr>
          <p:cNvSpPr>
            <a:spLocks noGrp="1"/>
          </p:cNvSpPr>
          <p:nvPr/>
        </p:nvSpPr>
        <p:spPr>
          <a:xfrm>
            <a:off x="1443038" y="614363"/>
            <a:ext cx="52388" cy="42863"/>
          </a:xfrm>
          <a:prstGeom prst="rect">
            <a:avLst/>
          </a:prstGeom>
          <a:solidFill>
            <a:srgbClr val="4D9ABB"/>
          </a:solidFill>
          <a:ln w="0">
            <a:noFill/>
          </a:ln>
        </p:spPr>
      </p:sp>
      <p:sp>
        <p:nvSpPr>
          <p:cNvPr id="50523" name="F2-density-voxel">
            <a:extLst>
              <a:ext uri="{FF2B5EF4-FFF2-40B4-BE49-F238E27FC236}">
                <a16:creationId xmlns:a16="http://schemas.microsoft.com/office/drawing/2014/main" id="{C030A993-BA02-4CBF-A526-9AF795928873}"/>
              </a:ext>
            </a:extLst>
          </p:cNvPr>
          <p:cNvSpPr>
            <a:spLocks noGrp="1"/>
          </p:cNvSpPr>
          <p:nvPr/>
        </p:nvSpPr>
        <p:spPr>
          <a:xfrm>
            <a:off x="1495425" y="614363"/>
            <a:ext cx="52388" cy="42863"/>
          </a:xfrm>
          <a:prstGeom prst="rect">
            <a:avLst/>
          </a:prstGeom>
          <a:solidFill>
            <a:srgbClr val="B6DDE7"/>
          </a:solidFill>
          <a:ln w="0">
            <a:noFill/>
          </a:ln>
        </p:spPr>
      </p:sp>
      <p:sp>
        <p:nvSpPr>
          <p:cNvPr id="50524" name="F2-density-voxel">
            <a:extLst>
              <a:ext uri="{FF2B5EF4-FFF2-40B4-BE49-F238E27FC236}">
                <a16:creationId xmlns:a16="http://schemas.microsoft.com/office/drawing/2014/main" id="{EC212EF2-C0F1-41AF-B3CE-D957D17932A0}"/>
              </a:ext>
            </a:extLst>
          </p:cNvPr>
          <p:cNvSpPr>
            <a:spLocks noGrp="1"/>
          </p:cNvSpPr>
          <p:nvPr/>
        </p:nvSpPr>
        <p:spPr>
          <a:xfrm>
            <a:off x="1547813" y="614363"/>
            <a:ext cx="52388" cy="42863"/>
          </a:xfrm>
          <a:prstGeom prst="rect">
            <a:avLst/>
          </a:prstGeom>
          <a:solidFill>
            <a:srgbClr val="CCE5EE"/>
          </a:solidFill>
          <a:ln w="0">
            <a:noFill/>
          </a:ln>
        </p:spPr>
      </p:sp>
      <p:sp>
        <p:nvSpPr>
          <p:cNvPr id="50525" name="F2-density-voxel">
            <a:extLst>
              <a:ext uri="{FF2B5EF4-FFF2-40B4-BE49-F238E27FC236}">
                <a16:creationId xmlns:a16="http://schemas.microsoft.com/office/drawing/2014/main" id="{8E8D1CD2-DC81-4A69-849C-F21783FD798D}"/>
              </a:ext>
            </a:extLst>
          </p:cNvPr>
          <p:cNvSpPr>
            <a:spLocks noGrp="1"/>
          </p:cNvSpPr>
          <p:nvPr/>
        </p:nvSpPr>
        <p:spPr>
          <a:xfrm>
            <a:off x="1390650" y="657225"/>
            <a:ext cx="52388" cy="42863"/>
          </a:xfrm>
          <a:prstGeom prst="rect">
            <a:avLst/>
          </a:prstGeom>
          <a:solidFill>
            <a:srgbClr val="4D9ABB"/>
          </a:solidFill>
          <a:ln w="0">
            <a:noFill/>
          </a:ln>
        </p:spPr>
      </p:sp>
      <p:sp>
        <p:nvSpPr>
          <p:cNvPr id="50526" name="F2-density-voxel">
            <a:extLst>
              <a:ext uri="{FF2B5EF4-FFF2-40B4-BE49-F238E27FC236}">
                <a16:creationId xmlns:a16="http://schemas.microsoft.com/office/drawing/2014/main" id="{CEA7FE12-330D-4160-8BE6-769BF6A26577}"/>
              </a:ext>
            </a:extLst>
          </p:cNvPr>
          <p:cNvSpPr>
            <a:spLocks noGrp="1"/>
          </p:cNvSpPr>
          <p:nvPr/>
        </p:nvSpPr>
        <p:spPr>
          <a:xfrm>
            <a:off x="1443038" y="657225"/>
            <a:ext cx="52388" cy="42863"/>
          </a:xfrm>
          <a:prstGeom prst="rect">
            <a:avLst/>
          </a:prstGeom>
          <a:solidFill>
            <a:srgbClr val="B6DDE7"/>
          </a:solidFill>
          <a:ln w="0">
            <a:noFill/>
          </a:ln>
        </p:spPr>
      </p:sp>
      <p:sp>
        <p:nvSpPr>
          <p:cNvPr id="50527" name="F2-density-voxel">
            <a:extLst>
              <a:ext uri="{FF2B5EF4-FFF2-40B4-BE49-F238E27FC236}">
                <a16:creationId xmlns:a16="http://schemas.microsoft.com/office/drawing/2014/main" id="{BE225EBF-D266-4631-9D7E-1B21643503B4}"/>
              </a:ext>
            </a:extLst>
          </p:cNvPr>
          <p:cNvSpPr>
            <a:spLocks noGrp="1"/>
          </p:cNvSpPr>
          <p:nvPr/>
        </p:nvSpPr>
        <p:spPr>
          <a:xfrm>
            <a:off x="1495425" y="657225"/>
            <a:ext cx="52388" cy="42863"/>
          </a:xfrm>
          <a:prstGeom prst="rect">
            <a:avLst/>
          </a:prstGeom>
          <a:solidFill>
            <a:srgbClr val="CCE5EE"/>
          </a:solidFill>
          <a:ln w="0">
            <a:noFill/>
          </a:ln>
        </p:spPr>
      </p:sp>
      <p:sp>
        <p:nvSpPr>
          <p:cNvPr id="50528" name="F2-density-voxel">
            <a:extLst>
              <a:ext uri="{FF2B5EF4-FFF2-40B4-BE49-F238E27FC236}">
                <a16:creationId xmlns:a16="http://schemas.microsoft.com/office/drawing/2014/main" id="{D56EA4DF-3429-4429-A2AA-6D7C9D33B341}"/>
              </a:ext>
            </a:extLst>
          </p:cNvPr>
          <p:cNvSpPr>
            <a:spLocks noGrp="1"/>
          </p:cNvSpPr>
          <p:nvPr/>
        </p:nvSpPr>
        <p:spPr>
          <a:xfrm>
            <a:off x="1547813" y="657225"/>
            <a:ext cx="52388" cy="42863"/>
          </a:xfrm>
          <a:prstGeom prst="rect">
            <a:avLst/>
          </a:prstGeom>
          <a:solidFill>
            <a:srgbClr val="86C0D7"/>
          </a:solidFill>
          <a:ln w="0">
            <a:noFill/>
          </a:ln>
        </p:spPr>
      </p:sp>
      <p:sp>
        <p:nvSpPr>
          <p:cNvPr id="50529" name="F2-density-voxel">
            <a:extLst>
              <a:ext uri="{FF2B5EF4-FFF2-40B4-BE49-F238E27FC236}">
                <a16:creationId xmlns:a16="http://schemas.microsoft.com/office/drawing/2014/main" id="{F4CB67F8-3427-42E0-B222-3C4C5B421A28}"/>
              </a:ext>
            </a:extLst>
          </p:cNvPr>
          <p:cNvSpPr>
            <a:spLocks noGrp="1"/>
          </p:cNvSpPr>
          <p:nvPr/>
        </p:nvSpPr>
        <p:spPr>
          <a:xfrm>
            <a:off x="1390650" y="700088"/>
            <a:ext cx="52388" cy="42863"/>
          </a:xfrm>
          <a:prstGeom prst="rect">
            <a:avLst/>
          </a:prstGeom>
          <a:solidFill>
            <a:srgbClr val="B6DDE7"/>
          </a:solidFill>
          <a:ln w="0">
            <a:noFill/>
          </a:ln>
        </p:spPr>
      </p:sp>
      <p:sp>
        <p:nvSpPr>
          <p:cNvPr id="50530" name="F2-density-voxel">
            <a:extLst>
              <a:ext uri="{FF2B5EF4-FFF2-40B4-BE49-F238E27FC236}">
                <a16:creationId xmlns:a16="http://schemas.microsoft.com/office/drawing/2014/main" id="{E62F2DC6-612B-4891-B2B7-8020312C0678}"/>
              </a:ext>
            </a:extLst>
          </p:cNvPr>
          <p:cNvSpPr>
            <a:spLocks noGrp="1"/>
          </p:cNvSpPr>
          <p:nvPr/>
        </p:nvSpPr>
        <p:spPr>
          <a:xfrm>
            <a:off x="1443038" y="700088"/>
            <a:ext cx="52388" cy="42863"/>
          </a:xfrm>
          <a:prstGeom prst="rect">
            <a:avLst/>
          </a:prstGeom>
          <a:solidFill>
            <a:srgbClr val="CCE5EE"/>
          </a:solidFill>
          <a:ln w="0">
            <a:noFill/>
          </a:ln>
        </p:spPr>
      </p:sp>
      <p:sp>
        <p:nvSpPr>
          <p:cNvPr id="50531" name="F2-density-voxel">
            <a:extLst>
              <a:ext uri="{FF2B5EF4-FFF2-40B4-BE49-F238E27FC236}">
                <a16:creationId xmlns:a16="http://schemas.microsoft.com/office/drawing/2014/main" id="{3D79F01F-5243-4E3C-8AA7-EE2C8B8C7E29}"/>
              </a:ext>
            </a:extLst>
          </p:cNvPr>
          <p:cNvSpPr>
            <a:spLocks noGrp="1"/>
          </p:cNvSpPr>
          <p:nvPr/>
        </p:nvSpPr>
        <p:spPr>
          <a:xfrm>
            <a:off x="1495425" y="700088"/>
            <a:ext cx="52388" cy="42863"/>
          </a:xfrm>
          <a:prstGeom prst="rect">
            <a:avLst/>
          </a:prstGeom>
          <a:solidFill>
            <a:srgbClr val="86C0D7"/>
          </a:solidFill>
          <a:ln w="0">
            <a:noFill/>
          </a:ln>
        </p:spPr>
      </p:sp>
      <p:sp>
        <p:nvSpPr>
          <p:cNvPr id="50532" name="F2-density-voxel">
            <a:extLst>
              <a:ext uri="{FF2B5EF4-FFF2-40B4-BE49-F238E27FC236}">
                <a16:creationId xmlns:a16="http://schemas.microsoft.com/office/drawing/2014/main" id="{7F5BC88D-76D1-4A24-B998-8BD41F9AADDB}"/>
              </a:ext>
            </a:extLst>
          </p:cNvPr>
          <p:cNvSpPr>
            <a:spLocks noGrp="1"/>
          </p:cNvSpPr>
          <p:nvPr/>
        </p:nvSpPr>
        <p:spPr>
          <a:xfrm>
            <a:off x="1547813" y="700088"/>
            <a:ext cx="52388" cy="42863"/>
          </a:xfrm>
          <a:prstGeom prst="rect">
            <a:avLst/>
          </a:prstGeom>
          <a:solidFill>
            <a:srgbClr val="4D9ABB"/>
          </a:solidFill>
          <a:ln w="0">
            <a:noFill/>
          </a:ln>
        </p:spPr>
      </p:sp>
      <p:sp>
        <p:nvSpPr>
          <p:cNvPr id="50533" name="F2-spatial-transform">
            <a:extLst>
              <a:ext uri="{FF2B5EF4-FFF2-40B4-BE49-F238E27FC236}">
                <a16:creationId xmlns:a16="http://schemas.microsoft.com/office/drawing/2014/main" id="{A85283F8-9FE2-48A1-8429-5356F2D370E2}"/>
              </a:ext>
            </a:extLst>
          </p:cNvPr>
          <p:cNvSpPr>
            <a:spLocks noGrp="1"/>
          </p:cNvSpPr>
          <p:nvPr/>
        </p:nvSpPr>
        <p:spPr>
          <a:xfrm>
            <a:off x="966788" y="438150"/>
            <a:ext cx="376238"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sz="540" b="0">
                <a:solidFill>
                  <a:srgbClr val="263442"/>
                </a:solidFill>
                <a:latin typeface="Arial"/>
                <a:ea typeface="Arial"/>
                <a:cs typeface="Arial"/>
              </a:rPr>
              <a:t>Spatial</a:t>
            </a:r>
          </a:p>
          <a:p>
            <a:pPr algn="ctr">
              <a:defRPr sz="540" b="0">
                <a:solidFill>
                  <a:srgbClr val="263442"/>
                </a:solidFill>
                <a:latin typeface="Arial"/>
                <a:ea typeface="Arial"/>
                <a:cs typeface="Arial"/>
              </a:defRPr>
            </a:pPr>
            <a:r>
              <a:rPr sz="540" b="0">
                <a:solidFill>
                  <a:srgbClr val="263442"/>
                </a:solidFill>
                <a:latin typeface="Arial"/>
                <a:ea typeface="Arial"/>
                <a:cs typeface="Arial"/>
              </a:rPr>
              <a:t>transform</a:t>
            </a:r>
          </a:p>
        </p:txBody>
      </p:sp>
      <p:sp>
        <p:nvSpPr>
          <p:cNvPr id="50534" name="F2-atom-embeddings-input">
            <a:extLst>
              <a:ext uri="{FF2B5EF4-FFF2-40B4-BE49-F238E27FC236}">
                <a16:creationId xmlns:a16="http://schemas.microsoft.com/office/drawing/2014/main" id="{0B4B93C5-B055-4ECE-8D5F-9FD8F9F29D6A}"/>
              </a:ext>
            </a:extLst>
          </p:cNvPr>
          <p:cNvSpPr>
            <a:spLocks noGrp="1"/>
          </p:cNvSpPr>
          <p:nvPr/>
        </p:nvSpPr>
        <p:spPr>
          <a:xfrm>
            <a:off x="966788" y="1171575"/>
            <a:ext cx="376238"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sz="540" b="0">
                <a:solidFill>
                  <a:srgbClr val="263442"/>
                </a:solidFill>
                <a:latin typeface="Arial"/>
                <a:ea typeface="Arial"/>
                <a:cs typeface="Arial"/>
              </a:rPr>
              <a:t>Atom</a:t>
            </a:r>
          </a:p>
          <a:p>
            <a:pPr algn="ctr">
              <a:defRPr sz="540" b="0">
                <a:solidFill>
                  <a:srgbClr val="263442"/>
                </a:solidFill>
                <a:latin typeface="Arial"/>
                <a:ea typeface="Arial"/>
                <a:cs typeface="Arial"/>
              </a:defRPr>
            </a:pPr>
            <a:r>
              <a:rPr sz="540" b="0">
                <a:solidFill>
                  <a:srgbClr val="263442"/>
                </a:solidFill>
                <a:latin typeface="Arial"/>
                <a:ea typeface="Arial"/>
                <a:cs typeface="Arial"/>
              </a:rPr>
              <a:t>embeddings</a:t>
            </a:r>
          </a:p>
        </p:txBody>
      </p:sp>
      <p:pic>
        <p:nvPicPr>
          <p:cNvPr id="50541" name="图片 50540">
            <a:extLst>
              <a:ext uri="{FF2B5EF4-FFF2-40B4-BE49-F238E27FC236}">
                <a16:creationId xmlns:a16="http://schemas.microsoft.com/office/drawing/2014/main" id="{CC697937-E8CE-4EDF-BB17-1FEA96E39283}"/>
              </a:ext>
            </a:extLst>
          </p:cNvPr>
          <p:cNvPicPr>
            <a:picLocks noChangeAspect="1"/>
          </p:cNvPicPr>
          <p:nvPr/>
        </p:nvPicPr>
        <p:blipFill>
          <a:blip r:embed="rId8"/>
          <a:stretch/>
        </p:blipFill>
        <p:spPr>
          <a:xfrm>
            <a:off x="683208" y="2971800"/>
            <a:ext cx="414760" cy="342900"/>
          </a:xfrm>
          <a:prstGeom prst="rect">
            <a:avLst/>
          </a:prstGeom>
        </p:spPr>
      </p:pic>
      <p:pic>
        <p:nvPicPr>
          <p:cNvPr id="50542" name="图片 50541">
            <a:extLst>
              <a:ext uri="{FF2B5EF4-FFF2-40B4-BE49-F238E27FC236}">
                <a16:creationId xmlns:a16="http://schemas.microsoft.com/office/drawing/2014/main" id="{438EEB95-3CA6-4E7A-A194-3246AD95375E}"/>
              </a:ext>
            </a:extLst>
          </p:cNvPr>
          <p:cNvPicPr>
            <a:picLocks noChangeAspect="1"/>
          </p:cNvPicPr>
          <p:nvPr/>
        </p:nvPicPr>
        <p:blipFill>
          <a:blip r:embed="rId9"/>
          <a:stretch/>
        </p:blipFill>
        <p:spPr>
          <a:xfrm>
            <a:off x="5631445" y="485775"/>
            <a:ext cx="414760" cy="342900"/>
          </a:xfrm>
          <a:prstGeom prst="rect">
            <a:avLst/>
          </a:prstGeom>
        </p:spPr>
      </p:pic>
      <p:sp>
        <p:nvSpPr>
          <p:cNvPr id="50543" name="F2-Build-selected">
            <a:extLst>
              <a:ext uri="{FF2B5EF4-FFF2-40B4-BE49-F238E27FC236}">
                <a16:creationId xmlns:a16="http://schemas.microsoft.com/office/drawing/2014/main" id="{DE962B78-B7D5-48B9-87F8-2B7091442BBC}"/>
              </a:ext>
            </a:extLst>
          </p:cNvPr>
          <p:cNvSpPr>
            <a:spLocks noGrp="1"/>
          </p:cNvSpPr>
          <p:nvPr/>
        </p:nvSpPr>
        <p:spPr>
          <a:xfrm>
            <a:off x="5048250" y="1268730"/>
            <a:ext cx="390525" cy="81915"/>
          </a:xfrm>
          <a:prstGeom prst="roundRect">
            <a:avLst>
              <a:gd name="adj" fmla="val 50000"/>
            </a:avLst>
          </a:prstGeom>
          <a:solidFill>
            <a:srgbClr val="DCF8EB"/>
          </a:solidFill>
          <a:ln w="7144">
            <a:solidFill>
              <a:srgbClr val="499D86"/>
            </a:solidFill>
          </a:ln>
        </p:spPr>
      </p:sp>
      <p:sp>
        <p:nvSpPr>
          <p:cNvPr id="50544" name="F2-Build-SMILES-0">
            <a:extLst>
              <a:ext uri="{FF2B5EF4-FFF2-40B4-BE49-F238E27FC236}">
                <a16:creationId xmlns:a16="http://schemas.microsoft.com/office/drawing/2014/main" id="{78E3ED61-275F-4084-A0ED-58027336CEDD}"/>
              </a:ext>
            </a:extLst>
          </p:cNvPr>
          <p:cNvSpPr>
            <a:spLocks noGrp="1"/>
          </p:cNvSpPr>
          <p:nvPr/>
        </p:nvSpPr>
        <p:spPr>
          <a:xfrm>
            <a:off x="5067300" y="1085850"/>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lgn="l">
              <a:defRPr sz="540" b="0">
                <a:solidFill>
                  <a:srgbClr val="263442"/>
                </a:solidFill>
                <a:latin typeface="Arial"/>
                <a:ea typeface="Arial"/>
                <a:cs typeface="Arial"/>
              </a:defRPr>
            </a:pPr>
            <a:r>
              <a:rPr sz="540" b="0">
                <a:solidFill>
                  <a:srgbClr val="263442"/>
                </a:solidFill>
                <a:latin typeface="Arial"/>
                <a:ea typeface="Arial"/>
                <a:cs typeface="Arial"/>
              </a:rPr>
              <a:t>CCO</a:t>
            </a:r>
          </a:p>
        </p:txBody>
      </p:sp>
      <p:sp>
        <p:nvSpPr>
          <p:cNvPr id="50545" name="F2-Build-SMILES-7.8">
            <a:extLst>
              <a:ext uri="{FF2B5EF4-FFF2-40B4-BE49-F238E27FC236}">
                <a16:creationId xmlns:a16="http://schemas.microsoft.com/office/drawing/2014/main" id="{D4F86145-7D8F-43EC-916E-D3D9668CBA5D}"/>
              </a:ext>
            </a:extLst>
          </p:cNvPr>
          <p:cNvSpPr>
            <a:spLocks noGrp="1"/>
          </p:cNvSpPr>
          <p:nvPr/>
        </p:nvSpPr>
        <p:spPr>
          <a:xfrm>
            <a:off x="5067300" y="1160145"/>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lgn="l">
              <a:defRPr sz="540" b="0">
                <a:solidFill>
                  <a:srgbClr val="263442"/>
                </a:solidFill>
                <a:latin typeface="Arial"/>
                <a:ea typeface="Arial"/>
                <a:cs typeface="Arial"/>
              </a:defRPr>
            </a:pPr>
            <a:r>
              <a:rPr sz="540" b="0">
                <a:solidFill>
                  <a:srgbClr val="263442"/>
                </a:solidFill>
                <a:latin typeface="Arial"/>
                <a:ea typeface="Arial"/>
                <a:cs typeface="Arial"/>
              </a:rPr>
              <a:t>CC(=O)O</a:t>
            </a:r>
          </a:p>
        </p:txBody>
      </p:sp>
      <p:sp>
        <p:nvSpPr>
          <p:cNvPr id="50546" name="F2-Build-continuation">
            <a:extLst>
              <a:ext uri="{FF2B5EF4-FFF2-40B4-BE49-F238E27FC236}">
                <a16:creationId xmlns:a16="http://schemas.microsoft.com/office/drawing/2014/main" id="{69E4AF15-4441-4953-BC21-A9A09B8807EC}"/>
              </a:ext>
            </a:extLst>
          </p:cNvPr>
          <p:cNvSpPr>
            <a:spLocks noGrp="1"/>
          </p:cNvSpPr>
          <p:nvPr/>
        </p:nvSpPr>
        <p:spPr>
          <a:xfrm>
            <a:off x="5067300" y="1254443"/>
            <a:ext cx="6668" cy="6668"/>
          </a:xfrm>
          <a:prstGeom prst="ellipse">
            <a:avLst/>
          </a:prstGeom>
          <a:solidFill>
            <a:srgbClr val="687780"/>
          </a:solidFill>
          <a:ln w="0">
            <a:noFill/>
          </a:ln>
        </p:spPr>
      </p:sp>
      <p:sp>
        <p:nvSpPr>
          <p:cNvPr id="50547" name="F2-Build-continuation">
            <a:extLst>
              <a:ext uri="{FF2B5EF4-FFF2-40B4-BE49-F238E27FC236}">
                <a16:creationId xmlns:a16="http://schemas.microsoft.com/office/drawing/2014/main" id="{A73B5841-5DC8-4503-BDE2-815DBBEFE500}"/>
              </a:ext>
            </a:extLst>
          </p:cNvPr>
          <p:cNvSpPr>
            <a:spLocks noGrp="1"/>
          </p:cNvSpPr>
          <p:nvPr/>
        </p:nvSpPr>
        <p:spPr>
          <a:xfrm>
            <a:off x="5087303" y="1254443"/>
            <a:ext cx="6668" cy="6668"/>
          </a:xfrm>
          <a:prstGeom prst="ellipse">
            <a:avLst/>
          </a:prstGeom>
          <a:solidFill>
            <a:srgbClr val="687780"/>
          </a:solidFill>
          <a:ln w="0">
            <a:noFill/>
          </a:ln>
        </p:spPr>
      </p:sp>
      <p:sp>
        <p:nvSpPr>
          <p:cNvPr id="50548" name="F2-Build-continuation">
            <a:extLst>
              <a:ext uri="{FF2B5EF4-FFF2-40B4-BE49-F238E27FC236}">
                <a16:creationId xmlns:a16="http://schemas.microsoft.com/office/drawing/2014/main" id="{2CD955D9-21C2-4AE5-9635-C9F55AC072BD}"/>
              </a:ext>
            </a:extLst>
          </p:cNvPr>
          <p:cNvSpPr>
            <a:spLocks noGrp="1"/>
          </p:cNvSpPr>
          <p:nvPr/>
        </p:nvSpPr>
        <p:spPr>
          <a:xfrm>
            <a:off x="5107305" y="1254443"/>
            <a:ext cx="6668" cy="6668"/>
          </a:xfrm>
          <a:prstGeom prst="ellipse">
            <a:avLst/>
          </a:prstGeom>
          <a:solidFill>
            <a:srgbClr val="687780"/>
          </a:solidFill>
          <a:ln w="0">
            <a:noFill/>
          </a:ln>
        </p:spPr>
      </p:sp>
      <p:sp>
        <p:nvSpPr>
          <p:cNvPr id="50549" name="F2-Build-SMILES-19.8">
            <a:extLst>
              <a:ext uri="{FF2B5EF4-FFF2-40B4-BE49-F238E27FC236}">
                <a16:creationId xmlns:a16="http://schemas.microsoft.com/office/drawing/2014/main" id="{F825F396-DC00-4D1F-95F0-5208E2576D2C}"/>
              </a:ext>
            </a:extLst>
          </p:cNvPr>
          <p:cNvSpPr>
            <a:spLocks noGrp="1"/>
          </p:cNvSpPr>
          <p:nvPr/>
        </p:nvSpPr>
        <p:spPr>
          <a:xfrm>
            <a:off x="5067300" y="1274445"/>
            <a:ext cx="361950" cy="74295"/>
          </a:xfrm>
          <a:prstGeom prst="rect">
            <a:avLst/>
          </a:prstGeom>
          <a:noFill/>
          <a:ln w="0">
            <a:noFill/>
          </a:ln>
        </p:spPr>
        <p:txBody>
          <a:bodyPr wrap="none" lIns="0" tIns="0" rIns="0" bIns="0" anchor="ctr">
            <a:noAutofit/>
          </a:bodyPr>
          <a:lstStyle>
            <a:defPPr algn="l">
              <a:defRPr sz="540" b="0">
                <a:solidFill>
                  <a:srgbClr val="24634E"/>
                </a:solidFill>
                <a:latin typeface="Arial"/>
                <a:ea typeface="Arial"/>
                <a:cs typeface="Arial"/>
              </a:defRPr>
            </a:defPPr>
            <a:lvl1pPr algn="l">
              <a:defRPr sz="540" b="0">
                <a:solidFill>
                  <a:srgbClr val="24634E"/>
                </a:solidFill>
                <a:latin typeface="Arial"/>
                <a:ea typeface="Arial"/>
                <a:cs typeface="Arial"/>
              </a:defRPr>
            </a:lvl1pPr>
            <a:lvl2pPr algn="l">
              <a:defRPr sz="540" b="0">
                <a:solidFill>
                  <a:srgbClr val="24634E"/>
                </a:solidFill>
                <a:latin typeface="Arial"/>
                <a:ea typeface="Arial"/>
                <a:cs typeface="Arial"/>
              </a:defRPr>
            </a:lvl2pPr>
            <a:lvl3pPr algn="l">
              <a:defRPr sz="540" b="0">
                <a:solidFill>
                  <a:srgbClr val="24634E"/>
                </a:solidFill>
                <a:latin typeface="Arial"/>
                <a:ea typeface="Arial"/>
                <a:cs typeface="Arial"/>
              </a:defRPr>
            </a:lvl3pPr>
            <a:lvl4pPr algn="l">
              <a:defRPr sz="540" b="0">
                <a:solidFill>
                  <a:srgbClr val="24634E"/>
                </a:solidFill>
                <a:latin typeface="Arial"/>
                <a:ea typeface="Arial"/>
                <a:cs typeface="Arial"/>
              </a:defRPr>
            </a:lvl4pPr>
            <a:lvl5pPr algn="l">
              <a:defRPr sz="540" b="0">
                <a:solidFill>
                  <a:srgbClr val="24634E"/>
                </a:solidFill>
                <a:latin typeface="Arial"/>
                <a:ea typeface="Arial"/>
                <a:cs typeface="Arial"/>
              </a:defRPr>
            </a:lvl5pPr>
            <a:lvl6pPr algn="l">
              <a:defRPr sz="540" b="0">
                <a:solidFill>
                  <a:srgbClr val="24634E"/>
                </a:solidFill>
                <a:latin typeface="Arial"/>
                <a:ea typeface="Arial"/>
                <a:cs typeface="Arial"/>
              </a:defRPr>
            </a:lvl6pPr>
            <a:lvl7pPr algn="l">
              <a:defRPr sz="540" b="0">
                <a:solidFill>
                  <a:srgbClr val="24634E"/>
                </a:solidFill>
                <a:latin typeface="Arial"/>
                <a:ea typeface="Arial"/>
                <a:cs typeface="Arial"/>
              </a:defRPr>
            </a:lvl7pPr>
            <a:lvl8pPr algn="l">
              <a:defRPr sz="540" b="0">
                <a:solidFill>
                  <a:srgbClr val="24634E"/>
                </a:solidFill>
                <a:latin typeface="Arial"/>
                <a:ea typeface="Arial"/>
                <a:cs typeface="Arial"/>
              </a:defRPr>
            </a:lvl8pPr>
            <a:lvl9pPr algn="l">
              <a:defRPr sz="540" b="0">
                <a:solidFill>
                  <a:srgbClr val="24634E"/>
                </a:solidFill>
                <a:latin typeface="Arial"/>
                <a:ea typeface="Arial"/>
                <a:cs typeface="Arial"/>
              </a:defRPr>
            </a:lvl9pPr>
          </a:lstStyle>
          <a:p>
            <a:pPr algn="l">
              <a:defRPr sz="540" b="0">
                <a:solidFill>
                  <a:srgbClr val="24634E"/>
                </a:solidFill>
                <a:latin typeface="Arial"/>
                <a:ea typeface="Arial"/>
                <a:cs typeface="Arial"/>
              </a:defRPr>
            </a:pPr>
            <a:r>
              <a:rPr sz="540" b="0">
                <a:solidFill>
                  <a:srgbClr val="24634E"/>
                </a:solidFill>
                <a:latin typeface="Arial"/>
                <a:ea typeface="Arial"/>
                <a:cs typeface="Arial"/>
              </a:rPr>
              <a:t>Cc1ccccc1</a:t>
            </a:r>
          </a:p>
        </p:txBody>
      </p:sp>
      <p:sp>
        <p:nvSpPr>
          <p:cNvPr id="50550" name="F2-Build-SMILES-27.599999999999998">
            <a:extLst>
              <a:ext uri="{FF2B5EF4-FFF2-40B4-BE49-F238E27FC236}">
                <a16:creationId xmlns:a16="http://schemas.microsoft.com/office/drawing/2014/main" id="{42E599AD-9784-4B26-ADAB-718990C44186}"/>
              </a:ext>
            </a:extLst>
          </p:cNvPr>
          <p:cNvSpPr>
            <a:spLocks noGrp="1"/>
          </p:cNvSpPr>
          <p:nvPr/>
        </p:nvSpPr>
        <p:spPr>
          <a:xfrm>
            <a:off x="5067300" y="1348740"/>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lgn="l">
              <a:defRPr sz="540" b="0">
                <a:solidFill>
                  <a:srgbClr val="263442"/>
                </a:solidFill>
                <a:latin typeface="Arial"/>
                <a:ea typeface="Arial"/>
                <a:cs typeface="Arial"/>
              </a:defRPr>
            </a:pPr>
            <a:r>
              <a:rPr sz="540" b="0">
                <a:solidFill>
                  <a:srgbClr val="263442"/>
                </a:solidFill>
                <a:latin typeface="Arial"/>
                <a:ea typeface="Arial"/>
                <a:cs typeface="Arial"/>
              </a:rPr>
              <a:t>CC(N)=O</a:t>
            </a:r>
          </a:p>
        </p:txBody>
      </p:sp>
      <p:pic>
        <p:nvPicPr>
          <p:cNvPr id="50551" name="图片 50550">
            <a:extLst>
              <a:ext uri="{FF2B5EF4-FFF2-40B4-BE49-F238E27FC236}">
                <a16:creationId xmlns:a16="http://schemas.microsoft.com/office/drawing/2014/main" id="{788E8304-A748-4BB4-8B4F-8A9E612C0891}"/>
              </a:ext>
            </a:extLst>
          </p:cNvPr>
          <p:cNvPicPr>
            <a:picLocks noChangeAspect="1"/>
          </p:cNvPicPr>
          <p:nvPr/>
        </p:nvPicPr>
        <p:blipFill>
          <a:blip r:embed="rId10"/>
          <a:stretch/>
        </p:blipFill>
        <p:spPr>
          <a:xfrm>
            <a:off x="5149836" y="3476625"/>
            <a:ext cx="806478" cy="666750"/>
          </a:xfrm>
          <a:prstGeom prst="rect">
            <a:avLst/>
          </a:prstGeom>
        </p:spPr>
      </p:pic>
      <p:grpSp>
        <p:nvGrpSpPr>
          <p:cNvPr id="50552" name="Find preview 15"/>
          <p:cNvGrpSpPr/>
          <p:nvPr/>
        </p:nvGrpSpPr>
        <p:grpSpPr>
          <a:xfrm>
            <a:off x="511635" y="471488"/>
            <a:ext cx="404812" cy="395288"/>
            <a:chOff x="511635" y="471488"/>
            <a:chExt cx="404812" cy="395288"/>
          </a:xfrm>
        </p:grpSpPr>
        <p:pic>
          <p:nvPicPr>
            <p:cNvPr id="1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8CF1199C-6488-C5B6-B489-1131732B4FBF}"/>
                </a:ext>
              </a:extLst>
            </p:cNvPr>
            <p:cNvPicPr/>
            <p:nvPr/>
          </p:nvPicPr>
          <p:blipFill>
            <a:blip r:embed="rId4"/>
            <a:stretch>
              <a:fillRect/>
            </a:stretch>
          </p:blipFill>
          <p:spPr>
            <a:xfrm>
              <a:off x="511635" y="475859"/>
              <a:ext cx="404812" cy="386544"/>
            </a:xfrm>
            <a:prstGeom prst="rect">
              <a:avLst/>
            </a:prstGeom>
          </p:spPr>
        </p:pic>
        <p:sp>
          <p:nvSpPr>
            <p:cNvPr id="50535" name="crop-cube">
              <a:extLst>
                <a:ext uri="{FF2B5EF4-FFF2-40B4-BE49-F238E27FC236}">
                  <a16:creationId xmlns:a16="http://schemas.microsoft.com/office/drawing/2014/main" id="{25839399-079E-4307-9725-E085483F7FD6}"/>
                </a:ext>
              </a:extLst>
            </p:cNvPr>
            <p:cNvSpPr>
              <a:spLocks noGrp="1"/>
            </p:cNvSpPr>
            <p:nvPr/>
          </p:nvSpPr>
          <p:spPr>
            <a:xfrm>
              <a:off x="700088" y="626745"/>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536" name="crop-cube">
              <a:extLst>
                <a:ext uri="{FF2B5EF4-FFF2-40B4-BE49-F238E27FC236}">
                  <a16:creationId xmlns:a16="http://schemas.microsoft.com/office/drawing/2014/main" id="{07D86F79-577D-4116-BDEA-F38D19D792BA}"/>
                </a:ext>
              </a:extLst>
            </p:cNvPr>
            <p:cNvSpPr>
              <a:spLocks noGrp="1"/>
            </p:cNvSpPr>
            <p:nvPr/>
          </p:nvSpPr>
          <p:spPr>
            <a:xfrm>
              <a:off x="788194" y="626745"/>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537" name="F2-density-crop-size">
              <a:extLst>
                <a:ext uri="{FF2B5EF4-FFF2-40B4-BE49-F238E27FC236}">
                  <a16:creationId xmlns:a16="http://schemas.microsoft.com/office/drawing/2014/main" id="{9B6ECDDF-4CA0-44BE-83B1-7FF800ECF209}"/>
                </a:ext>
              </a:extLst>
            </p:cNvPr>
            <p:cNvSpPr>
              <a:spLocks noGrp="1"/>
            </p:cNvSpPr>
            <p:nvPr/>
          </p:nvSpPr>
          <p:spPr>
            <a:xfrm>
              <a:off x="640556" y="766763"/>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553" name="Find preview 1435"/>
          <p:cNvGrpSpPr/>
          <p:nvPr/>
        </p:nvGrpSpPr>
        <p:grpSpPr>
          <a:xfrm>
            <a:off x="511635" y="1252538"/>
            <a:ext cx="404812" cy="395288"/>
            <a:chOff x="511635" y="1252538"/>
            <a:chExt cx="404812" cy="395288"/>
          </a:xfrm>
        </p:grpSpPr>
        <p:pic>
          <p:nvPicPr>
            <p:cNvPr id="1435" name="Find clear receptor" descr="Receptor cartoon rendered from unchanged local coordinates, chain C1 of the 9LLG CA2 model.">
              <a:extLst>
                <a:ext uri="{FF2B5EF4-FFF2-40B4-BE49-F238E27FC236}">
                  <a16:creationId xmlns:a16="http://schemas.microsoft.com/office/drawing/2014/main" id="{24C88AB2-5918-0F4D-EDE6-0D89FC02F100}"/>
                </a:ext>
              </a:extLst>
            </p:cNvPr>
            <p:cNvPicPr/>
            <p:nvPr/>
          </p:nvPicPr>
          <p:blipFill>
            <a:blip r:embed="rId7"/>
            <a:srcRect l="16857" t="30389" r="19786" b="22500"/>
            <a:stretch>
              <a:fillRect/>
            </a:stretch>
          </p:blipFill>
          <p:spPr>
            <a:xfrm>
              <a:off x="511635" y="1256674"/>
              <a:ext cx="404812" cy="387014"/>
            </a:xfrm>
            <a:prstGeom prst="rect">
              <a:avLst/>
            </a:prstGeom>
          </p:spPr>
        </p:pic>
        <p:sp>
          <p:nvSpPr>
            <p:cNvPr id="50538" name="crop-cube">
              <a:extLst>
                <a:ext uri="{FF2B5EF4-FFF2-40B4-BE49-F238E27FC236}">
                  <a16:creationId xmlns:a16="http://schemas.microsoft.com/office/drawing/2014/main" id="{B083B324-58BF-4271-92CE-6A3DCE5DBE53}"/>
                </a:ext>
              </a:extLst>
            </p:cNvPr>
            <p:cNvSpPr>
              <a:spLocks noGrp="1"/>
            </p:cNvSpPr>
            <p:nvPr/>
          </p:nvSpPr>
          <p:spPr>
            <a:xfrm>
              <a:off x="700088" y="1404938"/>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539" name="crop-cube">
              <a:extLst>
                <a:ext uri="{FF2B5EF4-FFF2-40B4-BE49-F238E27FC236}">
                  <a16:creationId xmlns:a16="http://schemas.microsoft.com/office/drawing/2014/main" id="{0E8C65BE-9745-4184-B8B7-6FD5E9341DBD}"/>
                </a:ext>
              </a:extLst>
            </p:cNvPr>
            <p:cNvSpPr>
              <a:spLocks noGrp="1"/>
            </p:cNvSpPr>
            <p:nvPr/>
          </p:nvSpPr>
          <p:spPr>
            <a:xfrm>
              <a:off x="788194" y="1404938"/>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540" name="F2-receptor-crop-size">
              <a:extLst>
                <a:ext uri="{FF2B5EF4-FFF2-40B4-BE49-F238E27FC236}">
                  <a16:creationId xmlns:a16="http://schemas.microsoft.com/office/drawing/2014/main" id="{11CB5595-3267-408D-9A25-39E3920D0458}"/>
                </a:ext>
              </a:extLst>
            </p:cNvPr>
            <p:cNvSpPr>
              <a:spLocks noGrp="1"/>
            </p:cNvSpPr>
            <p:nvPr/>
          </p:nvSpPr>
          <p:spPr>
            <a:xfrm>
              <a:off x="640556" y="1544955"/>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554" name="Find preview 25"/>
          <p:cNvGrpSpPr/>
          <p:nvPr/>
        </p:nvGrpSpPr>
        <p:grpSpPr>
          <a:xfrm>
            <a:off x="4349067" y="495300"/>
            <a:ext cx="404812" cy="395288"/>
            <a:chOff x="4349067" y="495300"/>
            <a:chExt cx="404812" cy="395288"/>
          </a:xfrm>
        </p:grpSpPr>
        <p:pic>
          <p:nvPicPr>
            <p:cNvPr id="2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E01FAF0F-7383-AEC3-8192-CE781D4C8B97}"/>
                </a:ext>
              </a:extLst>
            </p:cNvPr>
            <p:cNvPicPr/>
            <p:nvPr/>
          </p:nvPicPr>
          <p:blipFill>
            <a:blip r:embed="rId4"/>
            <a:stretch>
              <a:fillRect/>
            </a:stretch>
          </p:blipFill>
          <p:spPr>
            <a:xfrm>
              <a:off x="4349067" y="499672"/>
              <a:ext cx="404812" cy="386544"/>
            </a:xfrm>
            <a:prstGeom prst="rect">
              <a:avLst/>
            </a:prstGeom>
          </p:spPr>
        </p:pic>
        <p:grpSp>
          <p:nvGrpSpPr>
            <p:cNvPr id="50496" name="Global copy of blob 758">
              <a:extLst>
                <a:ext uri="{FF2B5EF4-FFF2-40B4-BE49-F238E27FC236}">
                  <a16:creationId xmlns:a16="http://schemas.microsoft.com/office/drawing/2014/main" id="{00C0C92B-D4C8-0994-E860-1581EB873D86}"/>
                </a:ext>
              </a:extLst>
            </p:cNvPr>
            <p:cNvGrpSpPr/>
            <p:nvPr/>
          </p:nvGrpSpPr>
          <p:grpSpPr>
            <a:xfrm>
              <a:off x="4435335" y="623158"/>
              <a:ext cx="42515" cy="24054"/>
              <a:chOff x="1928706" y="3559489"/>
              <a:chExt cx="227897" cy="155682"/>
            </a:xfrm>
          </p:grpSpPr>
          <p:sp>
            <p:nvSpPr>
              <p:cNvPr id="50497" name="Candidate blob | editable contour">
                <a:extLst>
                  <a:ext uri="{FF2B5EF4-FFF2-40B4-BE49-F238E27FC236}">
                    <a16:creationId xmlns:a16="http://schemas.microsoft.com/office/drawing/2014/main" id="{A172A8B3-EFA3-33C9-CD2B-307B24D7293D}"/>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50498" name="ellipse_2612">
                <a:extLst>
                  <a:ext uri="{FF2B5EF4-FFF2-40B4-BE49-F238E27FC236}">
                    <a16:creationId xmlns:a16="http://schemas.microsoft.com/office/drawing/2014/main" id="{CF37E813-914E-4383-9CE9-1C5F4095124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50499" name="Global copy of blob 6">
              <a:extLst>
                <a:ext uri="{FF2B5EF4-FFF2-40B4-BE49-F238E27FC236}">
                  <a16:creationId xmlns:a16="http://schemas.microsoft.com/office/drawing/2014/main" id="{52582F41-8562-EDCF-D547-FEE06D78B091}"/>
                </a:ext>
              </a:extLst>
            </p:cNvPr>
            <p:cNvGrpSpPr/>
            <p:nvPr/>
          </p:nvGrpSpPr>
          <p:grpSpPr>
            <a:xfrm rot="3197729">
              <a:off x="4592894" y="646215"/>
              <a:ext cx="42515" cy="24054"/>
              <a:chOff x="1928706" y="3559489"/>
              <a:chExt cx="227897" cy="155682"/>
            </a:xfrm>
          </p:grpSpPr>
          <p:sp>
            <p:nvSpPr>
              <p:cNvPr id="50500" name="Candidate blob | editable contour">
                <a:extLst>
                  <a:ext uri="{FF2B5EF4-FFF2-40B4-BE49-F238E27FC236}">
                    <a16:creationId xmlns:a16="http://schemas.microsoft.com/office/drawing/2014/main" id="{AC599FE5-B7C8-2310-361D-307EF409B159}"/>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50501" name="ellipse_2612">
                <a:extLst>
                  <a:ext uri="{FF2B5EF4-FFF2-40B4-BE49-F238E27FC236}">
                    <a16:creationId xmlns:a16="http://schemas.microsoft.com/office/drawing/2014/main" id="{899D545A-9188-B8A5-5122-F55763321954}"/>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50502" name="Global copy of blob 761">
              <a:extLst>
                <a:ext uri="{FF2B5EF4-FFF2-40B4-BE49-F238E27FC236}">
                  <a16:creationId xmlns:a16="http://schemas.microsoft.com/office/drawing/2014/main" id="{D7299A48-8BF0-7050-EF56-14DA3F495CB7}"/>
                </a:ext>
              </a:extLst>
            </p:cNvPr>
            <p:cNvGrpSpPr/>
            <p:nvPr/>
          </p:nvGrpSpPr>
          <p:grpSpPr>
            <a:xfrm>
              <a:off x="4422037" y="755380"/>
              <a:ext cx="38366" cy="20927"/>
              <a:chOff x="1928706" y="3559489"/>
              <a:chExt cx="227897" cy="155682"/>
            </a:xfrm>
          </p:grpSpPr>
          <p:sp>
            <p:nvSpPr>
              <p:cNvPr id="50503" name="Candidate blob | editable contour">
                <a:extLst>
                  <a:ext uri="{FF2B5EF4-FFF2-40B4-BE49-F238E27FC236}">
                    <a16:creationId xmlns:a16="http://schemas.microsoft.com/office/drawing/2014/main" id="{8902F596-0D84-3C56-EB93-D63FC7E9041E}"/>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50504" name="ellipse_2612">
                <a:extLst>
                  <a:ext uri="{FF2B5EF4-FFF2-40B4-BE49-F238E27FC236}">
                    <a16:creationId xmlns:a16="http://schemas.microsoft.com/office/drawing/2014/main" id="{85D74281-2FE6-E2D2-EFBA-AF54A45686E3}"/>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50505" name="Global copy of blob 755">
              <a:extLst>
                <a:ext uri="{FF2B5EF4-FFF2-40B4-BE49-F238E27FC236}">
                  <a16:creationId xmlns:a16="http://schemas.microsoft.com/office/drawing/2014/main" id="{3B821B97-56A6-DCED-E85F-DBF945F3EA13}"/>
                </a:ext>
              </a:extLst>
            </p:cNvPr>
            <p:cNvGrpSpPr/>
            <p:nvPr/>
          </p:nvGrpSpPr>
          <p:grpSpPr>
            <a:xfrm>
              <a:off x="4533706" y="791322"/>
              <a:ext cx="37919" cy="25902"/>
              <a:chOff x="1928706" y="3559489"/>
              <a:chExt cx="227897" cy="155682"/>
            </a:xfrm>
          </p:grpSpPr>
          <p:sp>
            <p:nvSpPr>
              <p:cNvPr id="50506" name="Candidate blob | editable contour">
                <a:extLst>
                  <a:ext uri="{FF2B5EF4-FFF2-40B4-BE49-F238E27FC236}">
                    <a16:creationId xmlns:a16="http://schemas.microsoft.com/office/drawing/2014/main" id="{B3B117DA-D182-38E6-AD16-B4776AD2C7B7}"/>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50507" name="ellipse_2612">
                <a:extLst>
                  <a:ext uri="{FF2B5EF4-FFF2-40B4-BE49-F238E27FC236}">
                    <a16:creationId xmlns:a16="http://schemas.microsoft.com/office/drawing/2014/main" id="{901C6437-E94C-AFDE-D242-E688A89ABBD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spTree>
    <p:extLst>
      <p:ext uri="{BB962C8B-B14F-4D97-AF65-F5344CB8AC3E}">
        <p14:creationId xmlns:p14="http://schemas.microsoft.com/office/powerpoint/2010/main" val="3763289320"/>
      </p:ext>
    </p:extLst>
  </p:cSld>
  <p:clrMapOvr>
    <a:masterClrMapping/>
  </p:clrMapOvr>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p:cSld name="method / unified">
    <p:spTree>
      <p:nvGrpSpPr>
        <p:cNvPr id="1" name="">
          <a:extLst>
            <a:ext uri="{FF2B5EF4-FFF2-40B4-BE49-F238E27FC236}">
              <a16:creationId xmlns:a16="http://schemas.microsoft.com/office/drawing/2014/main" id="{7C3A6E18-01F8-B0BA-F43F-91B3A30C3C3E}"/>
            </a:ext>
          </a:extLst>
        </p:cNvPr>
        <p:cNvGrpSpPr/>
        <p:nvPr/>
      </p:nvGrpSpPr>
      <p:grpSpPr>
        <a:xfrm>
          <a:off x="0" y="0"/>
          <a:ext cx="0" cy="0"/>
          <a:chOff x="0" y="0"/>
          <a:chExt cx="0" cy="0"/>
        </a:xfrm>
      </p:grpSpPr>
      <p:sp>
        <p:nvSpPr>
          <p:cNvPr id="2" name="Panel | Find background">
            <a:extLst>
              <a:ext uri="{FF2B5EF4-FFF2-40B4-BE49-F238E27FC236}">
                <a16:creationId xmlns:a16="http://schemas.microsoft.com/office/drawing/2014/main" id="{A9090686-8929-C0A0-CCD3-B88878102309}"/>
              </a:ext>
            </a:extLst>
          </p:cNvPr>
          <p:cNvSpPr/>
          <p:nvPr/>
        </p:nvSpPr>
        <p:spPr>
          <a:xfrm>
            <a:off x="450985" y="85589"/>
            <a:ext cx="4381930" cy="1756103"/>
          </a:xfrm>
          <a:prstGeom prst="roundRect">
            <a:avLst>
              <a:gd name="adj" fmla="val 2000"/>
            </a:avLst>
          </a:prstGeom>
          <a:solidFill>
            <a:srgbClr val="F1F4F5"/>
          </a:solidFill>
          <a:ln w="9720">
            <a:solidFill>
              <a:srgbClr val="CFDB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3" name="Panel | Match background">
            <a:extLst>
              <a:ext uri="{FF2B5EF4-FFF2-40B4-BE49-F238E27FC236}">
                <a16:creationId xmlns:a16="http://schemas.microsoft.com/office/drawing/2014/main" id="{28703D02-0EE9-C5A6-609C-08019DDE7E4E}"/>
              </a:ext>
            </a:extLst>
          </p:cNvPr>
          <p:cNvSpPr/>
          <p:nvPr/>
        </p:nvSpPr>
        <p:spPr>
          <a:xfrm>
            <a:off x="450985" y="1885270"/>
            <a:ext cx="4381930" cy="2532204"/>
          </a:xfrm>
          <a:prstGeom prst="roundRect">
            <a:avLst>
              <a:gd name="adj" fmla="val 2000"/>
            </a:avLst>
          </a:prstGeom>
          <a:solidFill>
            <a:srgbClr val="F1F4F5"/>
          </a:solidFill>
          <a:ln w="9720">
            <a:solidFill>
              <a:srgbClr val="C8E2D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4" name="Panel | Build background">
            <a:extLst>
              <a:ext uri="{FF2B5EF4-FFF2-40B4-BE49-F238E27FC236}">
                <a16:creationId xmlns:a16="http://schemas.microsoft.com/office/drawing/2014/main" id="{ED204BA4-647E-6284-03F8-632FC35FBD82}"/>
              </a:ext>
            </a:extLst>
          </p:cNvPr>
          <p:cNvSpPr/>
          <p:nvPr/>
        </p:nvSpPr>
        <p:spPr>
          <a:xfrm>
            <a:off x="4868797" y="85630"/>
            <a:ext cx="1354615" cy="4331875"/>
          </a:xfrm>
          <a:prstGeom prst="roundRect">
            <a:avLst>
              <a:gd name="adj" fmla="val 2000"/>
            </a:avLst>
          </a:prstGeom>
          <a:solidFill>
            <a:srgbClr val="F1F4F5"/>
          </a:solidFill>
          <a:ln w="9720">
            <a:solidFill>
              <a:srgbClr val="E3D9C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grpSp>
        <p:nvGrpSpPr>
          <p:cNvPr id="5" name="Input boundary layer">
            <a:extLst>
              <a:ext uri="{FF2B5EF4-FFF2-40B4-BE49-F238E27FC236}">
                <a16:creationId xmlns:a16="http://schemas.microsoft.com/office/drawing/2014/main" id="{DDB8823C-1C5D-EC2B-D97C-140C79222FB0}"/>
              </a:ext>
            </a:extLst>
          </p:cNvPr>
          <p:cNvGrpSpPr/>
          <p:nvPr/>
        </p:nvGrpSpPr>
        <p:grpSpPr>
          <a:xfrm>
            <a:off x="0" y="0"/>
            <a:ext cx="6480175" cy="4468813"/>
            <a:chOff x="0" y="0"/>
            <a:chExt cx="15240000" cy="10509702"/>
          </a:xfrm>
        </p:grpSpPr>
        <p:sp>
          <p:nvSpPr>
            <p:cNvPr id="1478" name="V8 Match input boundary">
              <a:extLst>
                <a:ext uri="{FF2B5EF4-FFF2-40B4-BE49-F238E27FC236}">
                  <a16:creationId xmlns:a16="http://schemas.microsoft.com/office/drawing/2014/main" id="{7D0554F4-AE1C-63F1-A885-352F5424EDA9}"/>
                </a:ext>
              </a:extLst>
            </p:cNvPr>
            <p:cNvSpPr/>
            <p:nvPr/>
          </p:nvSpPr>
          <p:spPr>
            <a:xfrm>
              <a:off x="1582841" y="5281627"/>
              <a:ext cx="3163259" cy="2511755"/>
            </a:xfrm>
            <a:custGeom>
              <a:avLst/>
              <a:gdLst/>
              <a:ahLst/>
              <a:cxnLst/>
              <a:rect l="l" t="t" r="r" b="b"/>
              <a:pathLst>
                <a:path w="1345044" h="1068019">
                  <a:moveTo>
                    <a:pt x="31750" y="0"/>
                  </a:moveTo>
                  <a:lnTo>
                    <a:pt x="893699" y="0"/>
                  </a:lnTo>
                  <a:cubicBezTo>
                    <a:pt x="911162" y="0"/>
                    <a:pt x="925449" y="14288"/>
                    <a:pt x="925449" y="31750"/>
                  </a:cubicBezTo>
                  <a:lnTo>
                    <a:pt x="925449" y="489521"/>
                  </a:lnTo>
                  <a:cubicBezTo>
                    <a:pt x="925449" y="506984"/>
                    <a:pt x="939736" y="521271"/>
                    <a:pt x="957199" y="521271"/>
                  </a:cubicBezTo>
                  <a:lnTo>
                    <a:pt x="1313294" y="521271"/>
                  </a:lnTo>
                  <a:cubicBezTo>
                    <a:pt x="1330757" y="521271"/>
                    <a:pt x="1345044" y="535559"/>
                    <a:pt x="1345044" y="553021"/>
                  </a:cubicBezTo>
                  <a:lnTo>
                    <a:pt x="1345044" y="1036269"/>
                  </a:lnTo>
                  <a:cubicBezTo>
                    <a:pt x="1345044" y="1053732"/>
                    <a:pt x="1330757" y="1068019"/>
                    <a:pt x="1313294" y="1068019"/>
                  </a:cubicBezTo>
                  <a:lnTo>
                    <a:pt x="31750" y="1068019"/>
                  </a:lnTo>
                  <a:cubicBezTo>
                    <a:pt x="14288" y="1068019"/>
                    <a:pt x="0" y="1053732"/>
                    <a:pt x="0" y="1036269"/>
                  </a:cubicBezTo>
                  <a:lnTo>
                    <a:pt x="0" y="31750"/>
                  </a:lnTo>
                  <a:cubicBezTo>
                    <a:pt x="0" y="14288"/>
                    <a:pt x="14288" y="0"/>
                    <a:pt x="31750" y="0"/>
                  </a:cubicBezTo>
                  <a:close/>
                </a:path>
              </a:pathLst>
            </a:custGeom>
            <a:solidFill>
              <a:srgbClr val="FFFFFF"/>
            </a:solidFill>
            <a:ln w="7290" cap="rnd">
              <a:solidFill>
                <a:srgbClr val="B6CEC5"/>
              </a:solidFill>
              <a:prstDash val="solid"/>
              <a:round/>
            </a:ln>
          </p:spPr>
          <p:txBody>
            <a:bodyPr/>
            <a:lstStyle/>
            <a:p>
              <a:endParaRPr lang="zh-CN" altLang="en-US" dirty="0"/>
            </a:p>
          </p:txBody>
        </p:sp>
      </p:grpSp>
      <p:sp>
        <p:nvSpPr>
          <p:cNvPr id="7" name="TextBox 4">
            <a:extLst>
              <a:ext uri="{FF2B5EF4-FFF2-40B4-BE49-F238E27FC236}">
                <a16:creationId xmlns:a16="http://schemas.microsoft.com/office/drawing/2014/main" id="{ADBC3EDA-5434-B072-0369-64F7979021C5}"/>
              </a:ext>
            </a:extLst>
          </p:cNvPr>
          <p:cNvSpPr txBox="1"/>
          <p:nvPr/>
        </p:nvSpPr>
        <p:spPr>
          <a:xfrm>
            <a:off x="519056" y="107111"/>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a</a:t>
            </a:r>
          </a:p>
        </p:txBody>
      </p:sp>
      <p:sp>
        <p:nvSpPr>
          <p:cNvPr id="8" name="TextBox 5">
            <a:extLst>
              <a:ext uri="{FF2B5EF4-FFF2-40B4-BE49-F238E27FC236}">
                <a16:creationId xmlns:a16="http://schemas.microsoft.com/office/drawing/2014/main" id="{BDE65E3A-EB06-F9D8-4F70-55D863BF89FB}"/>
              </a:ext>
            </a:extLst>
          </p:cNvPr>
          <p:cNvSpPr txBox="1"/>
          <p:nvPr/>
        </p:nvSpPr>
        <p:spPr>
          <a:xfrm>
            <a:off x="677263" y="120127"/>
            <a:ext cx="2531320" cy="123624"/>
          </a:xfrm>
          <a:prstGeom prst="rect">
            <a:avLst/>
          </a:prstGeom>
          <a:noFill/>
        </p:spPr>
        <p:txBody>
          <a:bodyPr wrap="square" lIns="0" tIns="0" rIns="0" bIns="0" anchor="ctr">
            <a:spAutoFit/>
          </a:bodyPr>
          <a:lstStyle/>
          <a:p>
            <a:pPr algn="l">
              <a:lnSpc>
                <a:spcPct val="105000"/>
              </a:lnSpc>
            </a:pPr>
            <a:r>
              <a:rPr sz="822">
                <a:solidFill>
                  <a:srgbClr val="263442"/>
                </a:solidFill>
                <a:latin typeface="Arial"/>
              </a:rPr>
              <a:t>Find: locate ligand regions</a:t>
            </a:r>
          </a:p>
        </p:txBody>
      </p:sp>
      <p:sp>
        <p:nvSpPr>
          <p:cNvPr id="9" name="TextBox 6">
            <a:extLst>
              <a:ext uri="{FF2B5EF4-FFF2-40B4-BE49-F238E27FC236}">
                <a16:creationId xmlns:a16="http://schemas.microsoft.com/office/drawing/2014/main" id="{F3FF857A-DE19-FC06-9455-89983F39C003}"/>
              </a:ext>
            </a:extLst>
          </p:cNvPr>
          <p:cNvSpPr txBox="1"/>
          <p:nvPr/>
        </p:nvSpPr>
        <p:spPr>
          <a:xfrm>
            <a:off x="519056" y="1909702"/>
            <a:ext cx="174028" cy="149656"/>
          </a:xfrm>
          <a:prstGeom prst="rect">
            <a:avLst/>
          </a:prstGeom>
          <a:noFill/>
        </p:spPr>
        <p:txBody>
          <a:bodyPr wrap="square" lIns="0" tIns="0" rIns="0" bIns="0" anchor="ctr">
            <a:spAutoFit/>
          </a:bodyPr>
          <a:lstStyle/>
          <a:p>
            <a:pPr>
              <a:lnSpc>
                <a:spcPct val="105000"/>
              </a:lnSpc>
            </a:pPr>
            <a:r>
              <a:rPr sz="995" b="1" dirty="0">
                <a:solidFill>
                  <a:srgbClr val="263442"/>
                </a:solidFill>
                <a:latin typeface="Arial"/>
              </a:rPr>
              <a:t>b</a:t>
            </a:r>
          </a:p>
        </p:txBody>
      </p:sp>
      <p:sp>
        <p:nvSpPr>
          <p:cNvPr id="10" name="TextBox 7">
            <a:extLst>
              <a:ext uri="{FF2B5EF4-FFF2-40B4-BE49-F238E27FC236}">
                <a16:creationId xmlns:a16="http://schemas.microsoft.com/office/drawing/2014/main" id="{70ECA487-21BB-6209-C18F-3026009B4E59}"/>
              </a:ext>
            </a:extLst>
          </p:cNvPr>
          <p:cNvSpPr txBox="1"/>
          <p:nvPr/>
        </p:nvSpPr>
        <p:spPr>
          <a:xfrm>
            <a:off x="677200" y="1931954"/>
            <a:ext cx="2847735" cy="123624"/>
          </a:xfrm>
          <a:prstGeom prst="rect">
            <a:avLst/>
          </a:prstGeom>
          <a:noFill/>
        </p:spPr>
        <p:txBody>
          <a:bodyPr wrap="square" lIns="0" tIns="0" rIns="0" bIns="0" anchor="ctr">
            <a:spAutoFit/>
          </a:bodyPr>
          <a:lstStyle/>
          <a:p>
            <a:pPr algn="l">
              <a:lnSpc>
                <a:spcPct val="105000"/>
              </a:lnSpc>
            </a:pPr>
            <a:r>
              <a:rPr sz="822" dirty="0">
                <a:solidFill>
                  <a:srgbClr val="263442"/>
                </a:solidFill>
                <a:latin typeface="Arial"/>
              </a:rPr>
              <a:t>Match: candidate-to-identity assignment</a:t>
            </a:r>
          </a:p>
        </p:txBody>
      </p:sp>
      <p:sp>
        <p:nvSpPr>
          <p:cNvPr id="11" name="TextBox 8">
            <a:extLst>
              <a:ext uri="{FF2B5EF4-FFF2-40B4-BE49-F238E27FC236}">
                <a16:creationId xmlns:a16="http://schemas.microsoft.com/office/drawing/2014/main" id="{C99C17F0-6544-6BC0-1417-555389742DB7}"/>
              </a:ext>
            </a:extLst>
          </p:cNvPr>
          <p:cNvSpPr txBox="1"/>
          <p:nvPr/>
        </p:nvSpPr>
        <p:spPr>
          <a:xfrm>
            <a:off x="4902380" y="107125"/>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c</a:t>
            </a:r>
          </a:p>
        </p:txBody>
      </p:sp>
      <p:sp>
        <p:nvSpPr>
          <p:cNvPr id="12" name="TextBox 9">
            <a:extLst>
              <a:ext uri="{FF2B5EF4-FFF2-40B4-BE49-F238E27FC236}">
                <a16:creationId xmlns:a16="http://schemas.microsoft.com/office/drawing/2014/main" id="{7A43A7E7-A060-03F0-5B05-9A1425584A88}"/>
              </a:ext>
            </a:extLst>
          </p:cNvPr>
          <p:cNvSpPr txBox="1"/>
          <p:nvPr/>
        </p:nvSpPr>
        <p:spPr>
          <a:xfrm>
            <a:off x="5060587" y="120126"/>
            <a:ext cx="1202377" cy="239809"/>
          </a:xfrm>
          <a:prstGeom prst="rect">
            <a:avLst/>
          </a:prstGeom>
          <a:noFill/>
        </p:spPr>
        <p:txBody>
          <a:bodyPr wrap="square" lIns="0" tIns="0" rIns="0" bIns="0" anchor="ctr">
            <a:spAutoFit/>
          </a:bodyPr>
          <a:lstStyle/>
          <a:p>
            <a:pPr algn="l">
              <a:lnSpc>
                <a:spcPct val="98000"/>
              </a:lnSpc>
            </a:pPr>
            <a:r>
              <a:rPr sz="795" dirty="0">
                <a:solidFill>
                  <a:srgbClr val="263442"/>
                </a:solidFill>
                <a:latin typeface="Arial"/>
              </a:rPr>
              <a:t>Build: downstream</a:t>
            </a:r>
          </a:p>
          <a:p>
            <a:pPr algn="l">
              <a:lnSpc>
                <a:spcPct val="98000"/>
              </a:lnSpc>
            </a:pPr>
            <a:r>
              <a:rPr sz="795" dirty="0">
                <a:solidFill>
                  <a:srgbClr val="263442"/>
                </a:solidFill>
                <a:latin typeface="Arial"/>
              </a:rPr>
              <a:t>pose reconstruction</a:t>
            </a:r>
          </a:p>
        </p:txBody>
      </p:sp>
      <p:sp>
        <p:nvSpPr>
          <p:cNvPr id="13" name="Find | Density card">
            <a:extLst>
              <a:ext uri="{FF2B5EF4-FFF2-40B4-BE49-F238E27FC236}">
                <a16:creationId xmlns:a16="http://schemas.microsoft.com/office/drawing/2014/main" id="{CAB7453E-57E4-6069-E17B-BEBD584DE9C5}"/>
              </a:ext>
            </a:extLst>
          </p:cNvPr>
          <p:cNvSpPr/>
          <p:nvPr/>
        </p:nvSpPr>
        <p:spPr>
          <a:xfrm>
            <a:off x="469817" y="284774"/>
            <a:ext cx="488504" cy="680292"/>
          </a:xfrm>
          <a:prstGeom prst="roundRect">
            <a:avLst>
              <a:gd name="adj" fmla="val 6000"/>
            </a:avLst>
          </a:prstGeom>
          <a:solidFill>
            <a:srgbClr val="FFFFFF"/>
          </a:solidFill>
          <a:ln w="7290">
            <a:solidFill>
              <a:srgbClr val="CBD6E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14" name="TextBox 11">
            <a:extLst>
              <a:ext uri="{FF2B5EF4-FFF2-40B4-BE49-F238E27FC236}">
                <a16:creationId xmlns:a16="http://schemas.microsoft.com/office/drawing/2014/main" id="{E13F9DB9-2915-4D37-1A15-4DD879957FE6}"/>
              </a:ext>
            </a:extLst>
          </p:cNvPr>
          <p:cNvSpPr txBox="1"/>
          <p:nvPr/>
        </p:nvSpPr>
        <p:spPr>
          <a:xfrm>
            <a:off x="402592" y="318294"/>
            <a:ext cx="664471" cy="101503"/>
          </a:xfrm>
          <a:prstGeom prst="rect">
            <a:avLst/>
          </a:prstGeom>
          <a:noFill/>
        </p:spPr>
        <p:txBody>
          <a:bodyPr wrap="square" lIns="0" tIns="0" rIns="0" bIns="0" anchor="ctr">
            <a:spAutoFit/>
          </a:bodyPr>
          <a:lstStyle/>
          <a:p>
            <a:pPr algn="ctr">
              <a:lnSpc>
                <a:spcPct val="105000"/>
              </a:lnSpc>
            </a:pPr>
            <a:r>
              <a:rPr sz="675" dirty="0">
                <a:solidFill>
                  <a:srgbClr val="263442"/>
                </a:solidFill>
                <a:latin typeface="Arial"/>
              </a:rPr>
              <a:t>Density</a:t>
            </a:r>
          </a:p>
        </p:txBody>
      </p:sp>
      <p:sp>
        <p:nvSpPr>
          <p:cNvPr id="235" name="Find | Receptor card">
            <a:extLst>
              <a:ext uri="{FF2B5EF4-FFF2-40B4-BE49-F238E27FC236}">
                <a16:creationId xmlns:a16="http://schemas.microsoft.com/office/drawing/2014/main" id="{C39711EA-1578-1FDC-F7E5-415822DEC84F}"/>
              </a:ext>
            </a:extLst>
          </p:cNvPr>
          <p:cNvSpPr/>
          <p:nvPr/>
        </p:nvSpPr>
        <p:spPr>
          <a:xfrm>
            <a:off x="469816" y="1028349"/>
            <a:ext cx="489611" cy="727754"/>
          </a:xfrm>
          <a:prstGeom prst="roundRect">
            <a:avLst>
              <a:gd name="adj" fmla="val 6000"/>
            </a:avLst>
          </a:prstGeom>
          <a:solidFill>
            <a:srgbClr val="FFFFFF"/>
          </a:solidFill>
          <a:ln w="7290">
            <a:solidFill>
              <a:srgbClr val="CBD6E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6" name="TextBox 6212">
            <a:extLst>
              <a:ext uri="{FF2B5EF4-FFF2-40B4-BE49-F238E27FC236}">
                <a16:creationId xmlns:a16="http://schemas.microsoft.com/office/drawing/2014/main" id="{4566817F-CA11-3CA5-4ED5-534E4B65A1C1}"/>
              </a:ext>
            </a:extLst>
          </p:cNvPr>
          <p:cNvSpPr txBox="1"/>
          <p:nvPr/>
        </p:nvSpPr>
        <p:spPr>
          <a:xfrm>
            <a:off x="376366" y="1053973"/>
            <a:ext cx="664471" cy="101503"/>
          </a:xfrm>
          <a:prstGeom prst="rect">
            <a:avLst/>
          </a:prstGeom>
          <a:noFill/>
        </p:spPr>
        <p:txBody>
          <a:bodyPr wrap="square" lIns="0" tIns="0" rIns="0" bIns="0" anchor="ctr">
            <a:spAutoFit/>
          </a:bodyPr>
          <a:lstStyle/>
          <a:p>
            <a:pPr algn="ctr">
              <a:lnSpc>
                <a:spcPct val="105000"/>
              </a:lnSpc>
            </a:pPr>
            <a:r>
              <a:rPr sz="675" dirty="0">
                <a:solidFill>
                  <a:srgbClr val="263442"/>
                </a:solidFill>
                <a:latin typeface="Arial"/>
              </a:rPr>
              <a:t>Receptor</a:t>
            </a:r>
          </a:p>
        </p:txBody>
      </p:sp>
      <p:sp>
        <p:nvSpPr>
          <p:cNvPr id="237" name="Find | 3D voxel U-Net box">
            <a:extLst>
              <a:ext uri="{FF2B5EF4-FFF2-40B4-BE49-F238E27FC236}">
                <a16:creationId xmlns:a16="http://schemas.microsoft.com/office/drawing/2014/main" id="{84C31B5C-DB46-3102-A094-A625CBC3795B}"/>
              </a:ext>
            </a:extLst>
          </p:cNvPr>
          <p:cNvSpPr/>
          <p:nvPr/>
        </p:nvSpPr>
        <p:spPr>
          <a:xfrm>
            <a:off x="1962711" y="284774"/>
            <a:ext cx="2183263" cy="743575"/>
          </a:xfrm>
          <a:prstGeom prst="roundRect">
            <a:avLst>
              <a:gd name="adj" fmla="val 5000"/>
            </a:avLst>
          </a:prstGeom>
          <a:solidFill>
            <a:srgbClr val="F1F4F5"/>
          </a:solidFill>
          <a:ln w="7290">
            <a:solidFill>
              <a:srgbClr val="C3D4E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8" name="TextBox 6223">
            <a:extLst>
              <a:ext uri="{FF2B5EF4-FFF2-40B4-BE49-F238E27FC236}">
                <a16:creationId xmlns:a16="http://schemas.microsoft.com/office/drawing/2014/main" id="{D0BEE622-6A06-FAEC-A1B9-E12DAFA59B95}"/>
              </a:ext>
            </a:extLst>
          </p:cNvPr>
          <p:cNvSpPr txBox="1"/>
          <p:nvPr/>
        </p:nvSpPr>
        <p:spPr>
          <a:xfrm>
            <a:off x="1962711" y="310561"/>
            <a:ext cx="2183263" cy="106632"/>
          </a:xfrm>
          <a:prstGeom prst="rect">
            <a:avLst/>
          </a:prstGeom>
          <a:noFill/>
        </p:spPr>
        <p:txBody>
          <a:bodyPr wrap="square" lIns="0" tIns="0" rIns="0" bIns="0" anchor="ctr">
            <a:spAutoFit/>
          </a:bodyPr>
          <a:lstStyle/>
          <a:p>
            <a:pPr algn="ctr">
              <a:lnSpc>
                <a:spcPct val="105000"/>
              </a:lnSpc>
            </a:pPr>
            <a:r>
              <a:rPr sz="709">
                <a:solidFill>
                  <a:srgbClr val="263442"/>
                </a:solidFill>
                <a:latin typeface="Arial"/>
              </a:rPr>
              <a:t>3D voxel U-Net</a:t>
            </a:r>
          </a:p>
        </p:txBody>
      </p:sp>
      <p:sp>
        <p:nvSpPr>
          <p:cNvPr id="239" name="TextBox 6224">
            <a:extLst>
              <a:ext uri="{FF2B5EF4-FFF2-40B4-BE49-F238E27FC236}">
                <a16:creationId xmlns:a16="http://schemas.microsoft.com/office/drawing/2014/main" id="{6162AD09-868A-9802-DD3F-493AE18E658B}"/>
              </a:ext>
            </a:extLst>
          </p:cNvPr>
          <p:cNvSpPr txBox="1"/>
          <p:nvPr/>
        </p:nvSpPr>
        <p:spPr>
          <a:xfrm>
            <a:off x="1962566" y="415407"/>
            <a:ext cx="2183414" cy="84510"/>
          </a:xfrm>
          <a:prstGeom prst="rect">
            <a:avLst/>
          </a:prstGeom>
          <a:noFill/>
        </p:spPr>
        <p:txBody>
          <a:bodyPr wrap="square" lIns="0" tIns="0" rIns="0" bIns="0" anchor="ctr">
            <a:spAutoFit/>
          </a:bodyPr>
          <a:lstStyle/>
          <a:p>
            <a:pPr algn="ctr">
              <a:lnSpc>
                <a:spcPct val="105000"/>
              </a:lnSpc>
            </a:pPr>
            <a:r>
              <a:rPr sz="562" dirty="0">
                <a:solidFill>
                  <a:srgbClr val="263442"/>
                </a:solidFill>
                <a:latin typeface="Arial"/>
              </a:rPr>
              <a:t>Skip connections</a:t>
            </a:r>
          </a:p>
        </p:txBody>
      </p:sp>
      <p:sp>
        <p:nvSpPr>
          <p:cNvPr id="240" name="TextBox 10003">
            <a:extLst>
              <a:ext uri="{FF2B5EF4-FFF2-40B4-BE49-F238E27FC236}">
                <a16:creationId xmlns:a16="http://schemas.microsoft.com/office/drawing/2014/main" id="{09C48FDC-7786-8263-4A08-E75021FC8287}"/>
              </a:ext>
            </a:extLst>
          </p:cNvPr>
          <p:cNvSpPr txBox="1"/>
          <p:nvPr/>
        </p:nvSpPr>
        <p:spPr>
          <a:xfrm>
            <a:off x="2128828"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Encoder</a:t>
            </a:r>
          </a:p>
        </p:txBody>
      </p:sp>
      <p:sp>
        <p:nvSpPr>
          <p:cNvPr id="241" name="TextBox 10004">
            <a:extLst>
              <a:ext uri="{FF2B5EF4-FFF2-40B4-BE49-F238E27FC236}">
                <a16:creationId xmlns:a16="http://schemas.microsoft.com/office/drawing/2014/main" id="{5D7C6AF6-28C5-C78C-2A6D-53148E9C5409}"/>
              </a:ext>
            </a:extLst>
          </p:cNvPr>
          <p:cNvSpPr txBox="1"/>
          <p:nvPr/>
        </p:nvSpPr>
        <p:spPr>
          <a:xfrm>
            <a:off x="2777479"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Bottleneck</a:t>
            </a:r>
          </a:p>
        </p:txBody>
      </p:sp>
      <p:sp>
        <p:nvSpPr>
          <p:cNvPr id="242" name="TextBox 10005">
            <a:extLst>
              <a:ext uri="{FF2B5EF4-FFF2-40B4-BE49-F238E27FC236}">
                <a16:creationId xmlns:a16="http://schemas.microsoft.com/office/drawing/2014/main" id="{7CC49EB1-DBD1-A7E7-516D-CECCC1D041F1}"/>
              </a:ext>
            </a:extLst>
          </p:cNvPr>
          <p:cNvSpPr txBox="1"/>
          <p:nvPr/>
        </p:nvSpPr>
        <p:spPr>
          <a:xfrm>
            <a:off x="3426130"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Decoder</a:t>
            </a:r>
          </a:p>
        </p:txBody>
      </p:sp>
      <p:sp>
        <p:nvSpPr>
          <p:cNvPr id="243" name="Find | Point Transformer V3 box">
            <a:extLst>
              <a:ext uri="{FF2B5EF4-FFF2-40B4-BE49-F238E27FC236}">
                <a16:creationId xmlns:a16="http://schemas.microsoft.com/office/drawing/2014/main" id="{E6BB0EBE-E97F-0460-89AE-378626BAD4D7}"/>
              </a:ext>
            </a:extLst>
          </p:cNvPr>
          <p:cNvSpPr/>
          <p:nvPr/>
        </p:nvSpPr>
        <p:spPr>
          <a:xfrm>
            <a:off x="1962711" y="1170736"/>
            <a:ext cx="2183263" cy="585368"/>
          </a:xfrm>
          <a:prstGeom prst="roundRect">
            <a:avLst>
              <a:gd name="adj" fmla="val 5000"/>
            </a:avLst>
          </a:prstGeom>
          <a:solidFill>
            <a:srgbClr val="F1F4F5"/>
          </a:solidFill>
          <a:ln w="7290">
            <a:solidFill>
              <a:srgbClr val="D3CEE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grpSp>
        <p:nvGrpSpPr>
          <p:cNvPr id="244" name="Find | PTV3 stage 1 (no pseudo)">
            <a:extLst>
              <a:ext uri="{FF2B5EF4-FFF2-40B4-BE49-F238E27FC236}">
                <a16:creationId xmlns:a16="http://schemas.microsoft.com/office/drawing/2014/main" id="{B4F71929-AC06-8CA3-B3DD-0D60585A9033}"/>
              </a:ext>
            </a:extLst>
          </p:cNvPr>
          <p:cNvGrpSpPr/>
          <p:nvPr/>
        </p:nvGrpSpPr>
        <p:grpSpPr>
          <a:xfrm>
            <a:off x="2053680" y="1222153"/>
            <a:ext cx="276863" cy="197759"/>
            <a:chOff x="1837958" y="1438830"/>
            <a:chExt cx="279225" cy="243090"/>
          </a:xfrm>
        </p:grpSpPr>
        <p:sp>
          <p:nvSpPr>
            <p:cNvPr id="245" name="rect_1844">
              <a:extLst>
                <a:ext uri="{FF2B5EF4-FFF2-40B4-BE49-F238E27FC236}">
                  <a16:creationId xmlns:a16="http://schemas.microsoft.com/office/drawing/2014/main" id="{660AA888-4092-6DA6-78D3-4B888E2B2DA3}"/>
                </a:ext>
              </a:extLst>
            </p:cNvPr>
            <p:cNvSpPr/>
            <p:nvPr/>
          </p:nvSpPr>
          <p:spPr>
            <a:xfrm>
              <a:off x="1837958" y="1438830"/>
              <a:ext cx="279225" cy="243090"/>
            </a:xfrm>
            <a:prstGeom prst="roundRect">
              <a:avLst>
                <a:gd name="adj" fmla="val 6757"/>
              </a:avLst>
            </a:prstGeom>
            <a:solidFill>
              <a:srgbClr val="F8F5FC"/>
            </a:solidFill>
            <a:ln w="2540" cap="rnd" cmpd="sng" algn="ctr">
              <a:solidFill>
                <a:srgbClr val="BEAED5"/>
              </a:solidFill>
              <a:prstDash val="solid"/>
              <a:round/>
              <a:headEnd type="none" w="med" len="med"/>
              <a:tailEnd type="none" w="med" len="med"/>
            </a:ln>
            <a:effectLst/>
          </p:spPr>
        </p:sp>
        <p:sp>
          <p:nvSpPr>
            <p:cNvPr id="246" name="ellipse_1845">
              <a:extLst>
                <a:ext uri="{FF2B5EF4-FFF2-40B4-BE49-F238E27FC236}">
                  <a16:creationId xmlns:a16="http://schemas.microsoft.com/office/drawing/2014/main" id="{8ED69D04-8A29-A5B5-FEDE-87DBF5A86A21}"/>
                </a:ext>
              </a:extLst>
            </p:cNvPr>
            <p:cNvSpPr/>
            <p:nvPr/>
          </p:nvSpPr>
          <p:spPr>
            <a:xfrm>
              <a:off x="1911179" y="154988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47" name="ellipse_1846">
              <a:extLst>
                <a:ext uri="{FF2B5EF4-FFF2-40B4-BE49-F238E27FC236}">
                  <a16:creationId xmlns:a16="http://schemas.microsoft.com/office/drawing/2014/main" id="{2F757B70-05BB-1D52-EAD7-99F943EE0786}"/>
                </a:ext>
              </a:extLst>
            </p:cNvPr>
            <p:cNvSpPr/>
            <p:nvPr/>
          </p:nvSpPr>
          <p:spPr>
            <a:xfrm>
              <a:off x="2016057" y="15691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48" name="ellipse_1847">
              <a:extLst>
                <a:ext uri="{FF2B5EF4-FFF2-40B4-BE49-F238E27FC236}">
                  <a16:creationId xmlns:a16="http://schemas.microsoft.com/office/drawing/2014/main" id="{33900347-5FB5-F6C0-81F6-93C079B537C5}"/>
                </a:ext>
              </a:extLst>
            </p:cNvPr>
            <p:cNvSpPr/>
            <p:nvPr/>
          </p:nvSpPr>
          <p:spPr>
            <a:xfrm>
              <a:off x="1901005" y="1463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49" name="ellipse_1848">
              <a:extLst>
                <a:ext uri="{FF2B5EF4-FFF2-40B4-BE49-F238E27FC236}">
                  <a16:creationId xmlns:a16="http://schemas.microsoft.com/office/drawing/2014/main" id="{D9E3B372-BB0F-C9A4-3974-A8E7AF7737B7}"/>
                </a:ext>
              </a:extLst>
            </p:cNvPr>
            <p:cNvSpPr/>
            <p:nvPr/>
          </p:nvSpPr>
          <p:spPr>
            <a:xfrm>
              <a:off x="1966917" y="149122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50" name="ellipse_1849">
              <a:extLst>
                <a:ext uri="{FF2B5EF4-FFF2-40B4-BE49-F238E27FC236}">
                  <a16:creationId xmlns:a16="http://schemas.microsoft.com/office/drawing/2014/main" id="{65731899-DB97-2E91-5665-E8C978110F71}"/>
                </a:ext>
              </a:extLst>
            </p:cNvPr>
            <p:cNvSpPr/>
            <p:nvPr/>
          </p:nvSpPr>
          <p:spPr>
            <a:xfrm>
              <a:off x="1981202" y="14619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51" name="ellipse_1850">
              <a:extLst>
                <a:ext uri="{FF2B5EF4-FFF2-40B4-BE49-F238E27FC236}">
                  <a16:creationId xmlns:a16="http://schemas.microsoft.com/office/drawing/2014/main" id="{FB870BF7-7DC4-B374-8AD0-46EC506BB29E}"/>
                </a:ext>
              </a:extLst>
            </p:cNvPr>
            <p:cNvSpPr/>
            <p:nvPr/>
          </p:nvSpPr>
          <p:spPr>
            <a:xfrm>
              <a:off x="2025801" y="15227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52" name="ellipse_1851">
              <a:extLst>
                <a:ext uri="{FF2B5EF4-FFF2-40B4-BE49-F238E27FC236}">
                  <a16:creationId xmlns:a16="http://schemas.microsoft.com/office/drawing/2014/main" id="{FB5210B2-4DAF-5841-3925-445BB6BA8E65}"/>
                </a:ext>
              </a:extLst>
            </p:cNvPr>
            <p:cNvSpPr/>
            <p:nvPr/>
          </p:nvSpPr>
          <p:spPr>
            <a:xfrm>
              <a:off x="1923657" y="157409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53" name="ellipse_1852">
              <a:extLst>
                <a:ext uri="{FF2B5EF4-FFF2-40B4-BE49-F238E27FC236}">
                  <a16:creationId xmlns:a16="http://schemas.microsoft.com/office/drawing/2014/main" id="{5E297BB0-4B0B-7393-6335-0A8D413997FE}"/>
                </a:ext>
              </a:extLst>
            </p:cNvPr>
            <p:cNvSpPr/>
            <p:nvPr/>
          </p:nvSpPr>
          <p:spPr>
            <a:xfrm>
              <a:off x="2046951" y="149268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54" name="ellipse_1853">
              <a:extLst>
                <a:ext uri="{FF2B5EF4-FFF2-40B4-BE49-F238E27FC236}">
                  <a16:creationId xmlns:a16="http://schemas.microsoft.com/office/drawing/2014/main" id="{3460EDB7-F270-4A51-230E-76F07C518E5B}"/>
                </a:ext>
              </a:extLst>
            </p:cNvPr>
            <p:cNvSpPr/>
            <p:nvPr/>
          </p:nvSpPr>
          <p:spPr>
            <a:xfrm>
              <a:off x="1971403" y="1621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55" name="ellipse_1854">
              <a:extLst>
                <a:ext uri="{FF2B5EF4-FFF2-40B4-BE49-F238E27FC236}">
                  <a16:creationId xmlns:a16="http://schemas.microsoft.com/office/drawing/2014/main" id="{D7F22E2B-29AF-AAFC-9390-4763B76AC824}"/>
                </a:ext>
              </a:extLst>
            </p:cNvPr>
            <p:cNvSpPr/>
            <p:nvPr/>
          </p:nvSpPr>
          <p:spPr>
            <a:xfrm>
              <a:off x="1916632" y="148370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grpSp>
      <p:grpSp>
        <p:nvGrpSpPr>
          <p:cNvPr id="256" name="Find | PTV3 stage 2 (no pseudo)">
            <a:extLst>
              <a:ext uri="{FF2B5EF4-FFF2-40B4-BE49-F238E27FC236}">
                <a16:creationId xmlns:a16="http://schemas.microsoft.com/office/drawing/2014/main" id="{F4A044B8-F6CD-9A28-3075-23E9F1427BD6}"/>
              </a:ext>
            </a:extLst>
          </p:cNvPr>
          <p:cNvGrpSpPr/>
          <p:nvPr/>
        </p:nvGrpSpPr>
        <p:grpSpPr>
          <a:xfrm>
            <a:off x="2484443" y="1218198"/>
            <a:ext cx="269656" cy="205670"/>
            <a:chOff x="2276505" y="1465110"/>
            <a:chExt cx="243090" cy="190530"/>
          </a:xfrm>
        </p:grpSpPr>
        <p:sp>
          <p:nvSpPr>
            <p:cNvPr id="257" name="rect_1860">
              <a:extLst>
                <a:ext uri="{FF2B5EF4-FFF2-40B4-BE49-F238E27FC236}">
                  <a16:creationId xmlns:a16="http://schemas.microsoft.com/office/drawing/2014/main" id="{2A2BC9FE-9931-3C68-E213-012D2334D100}"/>
                </a:ext>
              </a:extLst>
            </p:cNvPr>
            <p:cNvSpPr/>
            <p:nvPr/>
          </p:nvSpPr>
          <p:spPr>
            <a:xfrm>
              <a:off x="2276505" y="1465110"/>
              <a:ext cx="243090" cy="190530"/>
            </a:xfrm>
            <a:prstGeom prst="roundRect">
              <a:avLst>
                <a:gd name="adj" fmla="val 8621"/>
              </a:avLst>
            </a:prstGeom>
            <a:solidFill>
              <a:srgbClr val="F8F5FC"/>
            </a:solidFill>
            <a:ln w="2540" cap="rnd" cmpd="sng" algn="ctr">
              <a:solidFill>
                <a:srgbClr val="BEAED5"/>
              </a:solidFill>
              <a:prstDash val="solid"/>
              <a:round/>
              <a:headEnd type="none" w="med" len="med"/>
              <a:tailEnd type="none" w="med" len="med"/>
            </a:ln>
            <a:effectLst/>
          </p:spPr>
        </p:sp>
        <p:sp>
          <p:nvSpPr>
            <p:cNvPr id="258" name="ellipse_1861">
              <a:extLst>
                <a:ext uri="{FF2B5EF4-FFF2-40B4-BE49-F238E27FC236}">
                  <a16:creationId xmlns:a16="http://schemas.microsoft.com/office/drawing/2014/main" id="{0D3FC1DA-E4D9-46A0-549F-86D3BA55D6FD}"/>
                </a:ext>
              </a:extLst>
            </p:cNvPr>
            <p:cNvSpPr/>
            <p:nvPr/>
          </p:nvSpPr>
          <p:spPr>
            <a:xfrm>
              <a:off x="2443383" y="14753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59" name="ellipse_1862">
              <a:extLst>
                <a:ext uri="{FF2B5EF4-FFF2-40B4-BE49-F238E27FC236}">
                  <a16:creationId xmlns:a16="http://schemas.microsoft.com/office/drawing/2014/main" id="{2E76A36E-124A-FF28-5F0C-9D8A556CAB6E}"/>
                </a:ext>
              </a:extLst>
            </p:cNvPr>
            <p:cNvSpPr/>
            <p:nvPr/>
          </p:nvSpPr>
          <p:spPr>
            <a:xfrm>
              <a:off x="2334302" y="149054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60" name="ellipse_1863">
              <a:extLst>
                <a:ext uri="{FF2B5EF4-FFF2-40B4-BE49-F238E27FC236}">
                  <a16:creationId xmlns:a16="http://schemas.microsoft.com/office/drawing/2014/main" id="{D535EE24-6485-F339-2CB7-F9EF085CB943}"/>
                </a:ext>
              </a:extLst>
            </p:cNvPr>
            <p:cNvSpPr/>
            <p:nvPr/>
          </p:nvSpPr>
          <p:spPr>
            <a:xfrm>
              <a:off x="2421391" y="151821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61" name="ellipse_1864">
              <a:extLst>
                <a:ext uri="{FF2B5EF4-FFF2-40B4-BE49-F238E27FC236}">
                  <a16:creationId xmlns:a16="http://schemas.microsoft.com/office/drawing/2014/main" id="{3E3B8E8E-0D51-B463-1AC5-8ABBD0D94E5F}"/>
                </a:ext>
              </a:extLst>
            </p:cNvPr>
            <p:cNvSpPr/>
            <p:nvPr/>
          </p:nvSpPr>
          <p:spPr>
            <a:xfrm>
              <a:off x="2395798" y="148175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62" name="ellipse_1865">
              <a:extLst>
                <a:ext uri="{FF2B5EF4-FFF2-40B4-BE49-F238E27FC236}">
                  <a16:creationId xmlns:a16="http://schemas.microsoft.com/office/drawing/2014/main" id="{A78CC97C-CF00-B4B4-232A-6540F415567F}"/>
                </a:ext>
              </a:extLst>
            </p:cNvPr>
            <p:cNvSpPr/>
            <p:nvPr/>
          </p:nvSpPr>
          <p:spPr>
            <a:xfrm>
              <a:off x="2345071" y="160888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63" name="ellipse_1866">
              <a:extLst>
                <a:ext uri="{FF2B5EF4-FFF2-40B4-BE49-F238E27FC236}">
                  <a16:creationId xmlns:a16="http://schemas.microsoft.com/office/drawing/2014/main" id="{1C7DD56E-5535-8B2E-615C-21EEB3FC0B60}"/>
                </a:ext>
              </a:extLst>
            </p:cNvPr>
            <p:cNvSpPr/>
            <p:nvPr/>
          </p:nvSpPr>
          <p:spPr>
            <a:xfrm>
              <a:off x="2455927" y="15235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64" name="ellipse_1867">
              <a:extLst>
                <a:ext uri="{FF2B5EF4-FFF2-40B4-BE49-F238E27FC236}">
                  <a16:creationId xmlns:a16="http://schemas.microsoft.com/office/drawing/2014/main" id="{53E5DFEF-A738-E1E2-6D82-562898867479}"/>
                </a:ext>
              </a:extLst>
            </p:cNvPr>
            <p:cNvSpPr/>
            <p:nvPr/>
          </p:nvSpPr>
          <p:spPr>
            <a:xfrm>
              <a:off x="2415612" y="15382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65" name="ellipse_1868">
              <a:extLst>
                <a:ext uri="{FF2B5EF4-FFF2-40B4-BE49-F238E27FC236}">
                  <a16:creationId xmlns:a16="http://schemas.microsoft.com/office/drawing/2014/main" id="{9F15DB89-4578-E9D4-B66C-9772D337DE92}"/>
                </a:ext>
              </a:extLst>
            </p:cNvPr>
            <p:cNvSpPr/>
            <p:nvPr/>
          </p:nvSpPr>
          <p:spPr>
            <a:xfrm>
              <a:off x="2384162" y="155385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grpSp>
      <p:grpSp>
        <p:nvGrpSpPr>
          <p:cNvPr id="266" name="Find | PTV3 stage 3 (no pseudo)">
            <a:extLst>
              <a:ext uri="{FF2B5EF4-FFF2-40B4-BE49-F238E27FC236}">
                <a16:creationId xmlns:a16="http://schemas.microsoft.com/office/drawing/2014/main" id="{8E5AF76E-A5D2-A1C4-1196-A1FB989CBECC}"/>
              </a:ext>
            </a:extLst>
          </p:cNvPr>
          <p:cNvGrpSpPr/>
          <p:nvPr/>
        </p:nvGrpSpPr>
        <p:grpSpPr>
          <a:xfrm>
            <a:off x="2932283" y="1230063"/>
            <a:ext cx="244120" cy="181939"/>
            <a:chOff x="2703555" y="1491390"/>
            <a:chExt cx="190530" cy="137970"/>
          </a:xfrm>
        </p:grpSpPr>
        <p:sp>
          <p:nvSpPr>
            <p:cNvPr id="267" name="rect_1874">
              <a:extLst>
                <a:ext uri="{FF2B5EF4-FFF2-40B4-BE49-F238E27FC236}">
                  <a16:creationId xmlns:a16="http://schemas.microsoft.com/office/drawing/2014/main" id="{75101B77-5988-FEB7-22BD-46F0384ADBC8}"/>
                </a:ext>
              </a:extLst>
            </p:cNvPr>
            <p:cNvSpPr/>
            <p:nvPr/>
          </p:nvSpPr>
          <p:spPr>
            <a:xfrm>
              <a:off x="2703555" y="1491390"/>
              <a:ext cx="190530" cy="137970"/>
            </a:xfrm>
            <a:prstGeom prst="roundRect">
              <a:avLst>
                <a:gd name="adj" fmla="val 11905"/>
              </a:avLst>
            </a:prstGeom>
            <a:solidFill>
              <a:srgbClr val="F8F5FC"/>
            </a:solidFill>
            <a:ln w="2540" cap="rnd" cmpd="sng" algn="ctr">
              <a:solidFill>
                <a:srgbClr val="BEAED5"/>
              </a:solidFill>
              <a:prstDash val="solid"/>
              <a:round/>
              <a:headEnd type="none" w="med" len="med"/>
              <a:tailEnd type="none" w="med" len="med"/>
            </a:ln>
            <a:effectLst/>
          </p:spPr>
        </p:sp>
        <p:sp>
          <p:nvSpPr>
            <p:cNvPr id="268" name="ellipse_1875">
              <a:extLst>
                <a:ext uri="{FF2B5EF4-FFF2-40B4-BE49-F238E27FC236}">
                  <a16:creationId xmlns:a16="http://schemas.microsoft.com/office/drawing/2014/main" id="{0F3768B9-45DC-D239-6ECE-6B199905A0E6}"/>
                </a:ext>
              </a:extLst>
            </p:cNvPr>
            <p:cNvSpPr/>
            <p:nvPr/>
          </p:nvSpPr>
          <p:spPr>
            <a:xfrm>
              <a:off x="2782342" y="152486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69" name="ellipse_1876">
              <a:extLst>
                <a:ext uri="{FF2B5EF4-FFF2-40B4-BE49-F238E27FC236}">
                  <a16:creationId xmlns:a16="http://schemas.microsoft.com/office/drawing/2014/main" id="{9AC2E9D9-EA81-CB60-9668-376E55C3B65A}"/>
                </a:ext>
              </a:extLst>
            </p:cNvPr>
            <p:cNvSpPr/>
            <p:nvPr/>
          </p:nvSpPr>
          <p:spPr>
            <a:xfrm>
              <a:off x="2750750" y="159446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70" name="ellipse_1877">
              <a:extLst>
                <a:ext uri="{FF2B5EF4-FFF2-40B4-BE49-F238E27FC236}">
                  <a16:creationId xmlns:a16="http://schemas.microsoft.com/office/drawing/2014/main" id="{193512C0-B984-BF26-53B2-A4C133832B19}"/>
                </a:ext>
              </a:extLst>
            </p:cNvPr>
            <p:cNvSpPr/>
            <p:nvPr/>
          </p:nvSpPr>
          <p:spPr>
            <a:xfrm>
              <a:off x="2743887" y="14971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71" name="ellipse_1878">
              <a:extLst>
                <a:ext uri="{FF2B5EF4-FFF2-40B4-BE49-F238E27FC236}">
                  <a16:creationId xmlns:a16="http://schemas.microsoft.com/office/drawing/2014/main" id="{010957FC-182F-1FF9-1554-385555C7E5BB}"/>
                </a:ext>
              </a:extLst>
            </p:cNvPr>
            <p:cNvSpPr/>
            <p:nvPr/>
          </p:nvSpPr>
          <p:spPr>
            <a:xfrm>
              <a:off x="2833390" y="151132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72" name="ellipse_1879">
              <a:extLst>
                <a:ext uri="{FF2B5EF4-FFF2-40B4-BE49-F238E27FC236}">
                  <a16:creationId xmlns:a16="http://schemas.microsoft.com/office/drawing/2014/main" id="{D3BED3D3-6945-FBFB-0ADC-29AB3D61D264}"/>
                </a:ext>
              </a:extLst>
            </p:cNvPr>
            <p:cNvSpPr/>
            <p:nvPr/>
          </p:nvSpPr>
          <p:spPr>
            <a:xfrm>
              <a:off x="2831792" y="156772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grpSp>
      <p:grpSp>
        <p:nvGrpSpPr>
          <p:cNvPr id="273" name="Find | PTV3 stage 4 (no pseudo)">
            <a:extLst>
              <a:ext uri="{FF2B5EF4-FFF2-40B4-BE49-F238E27FC236}">
                <a16:creationId xmlns:a16="http://schemas.microsoft.com/office/drawing/2014/main" id="{6152C243-7C11-72B4-655A-F6C20103F058}"/>
              </a:ext>
            </a:extLst>
          </p:cNvPr>
          <p:cNvGrpSpPr/>
          <p:nvPr/>
        </p:nvGrpSpPr>
        <p:grpSpPr>
          <a:xfrm>
            <a:off x="3354586" y="1218198"/>
            <a:ext cx="269656" cy="205670"/>
            <a:chOff x="3097755" y="1465110"/>
            <a:chExt cx="243090" cy="190530"/>
          </a:xfrm>
        </p:grpSpPr>
        <p:sp>
          <p:nvSpPr>
            <p:cNvPr id="274" name="rect_1885">
              <a:extLst>
                <a:ext uri="{FF2B5EF4-FFF2-40B4-BE49-F238E27FC236}">
                  <a16:creationId xmlns:a16="http://schemas.microsoft.com/office/drawing/2014/main" id="{02A84936-E0C4-22EE-AB39-B8147866C1E6}"/>
                </a:ext>
              </a:extLst>
            </p:cNvPr>
            <p:cNvSpPr/>
            <p:nvPr/>
          </p:nvSpPr>
          <p:spPr>
            <a:xfrm>
              <a:off x="3097755" y="1465110"/>
              <a:ext cx="243090" cy="190530"/>
            </a:xfrm>
            <a:prstGeom prst="roundRect">
              <a:avLst>
                <a:gd name="adj" fmla="val 8621"/>
              </a:avLst>
            </a:prstGeom>
            <a:solidFill>
              <a:srgbClr val="F8F5FC"/>
            </a:solidFill>
            <a:ln w="2540" cap="rnd" cmpd="sng" algn="ctr">
              <a:solidFill>
                <a:srgbClr val="BEAED5"/>
              </a:solidFill>
              <a:prstDash val="solid"/>
              <a:round/>
              <a:headEnd type="none" w="med" len="med"/>
              <a:tailEnd type="none" w="med" len="med"/>
            </a:ln>
            <a:effectLst/>
          </p:spPr>
        </p:sp>
        <p:sp>
          <p:nvSpPr>
            <p:cNvPr id="275" name="ellipse_1886">
              <a:extLst>
                <a:ext uri="{FF2B5EF4-FFF2-40B4-BE49-F238E27FC236}">
                  <a16:creationId xmlns:a16="http://schemas.microsoft.com/office/drawing/2014/main" id="{28C5B77C-D4DA-25CA-7F5E-FFB406D4948B}"/>
                </a:ext>
              </a:extLst>
            </p:cNvPr>
            <p:cNvSpPr/>
            <p:nvPr/>
          </p:nvSpPr>
          <p:spPr>
            <a:xfrm>
              <a:off x="3274804" y="154785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76" name="ellipse_1887">
              <a:extLst>
                <a:ext uri="{FF2B5EF4-FFF2-40B4-BE49-F238E27FC236}">
                  <a16:creationId xmlns:a16="http://schemas.microsoft.com/office/drawing/2014/main" id="{4B9C2CC8-3618-CEA6-223F-481DE7645A74}"/>
                </a:ext>
              </a:extLst>
            </p:cNvPr>
            <p:cNvSpPr/>
            <p:nvPr/>
          </p:nvSpPr>
          <p:spPr>
            <a:xfrm>
              <a:off x="3235593" y="156879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77" name="ellipse_1888">
              <a:extLst>
                <a:ext uri="{FF2B5EF4-FFF2-40B4-BE49-F238E27FC236}">
                  <a16:creationId xmlns:a16="http://schemas.microsoft.com/office/drawing/2014/main" id="{116AA07D-1658-6583-2048-22DAA979C713}"/>
                </a:ext>
              </a:extLst>
            </p:cNvPr>
            <p:cNvSpPr/>
            <p:nvPr/>
          </p:nvSpPr>
          <p:spPr>
            <a:xfrm>
              <a:off x="3215524" y="154839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78" name="ellipse_1889">
              <a:extLst>
                <a:ext uri="{FF2B5EF4-FFF2-40B4-BE49-F238E27FC236}">
                  <a16:creationId xmlns:a16="http://schemas.microsoft.com/office/drawing/2014/main" id="{B9996B1C-4365-A5B2-A0FA-BEEE1AE3580D}"/>
                </a:ext>
              </a:extLst>
            </p:cNvPr>
            <p:cNvSpPr/>
            <p:nvPr/>
          </p:nvSpPr>
          <p:spPr>
            <a:xfrm>
              <a:off x="3114632" y="15799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79" name="ellipse_1890">
              <a:extLst>
                <a:ext uri="{FF2B5EF4-FFF2-40B4-BE49-F238E27FC236}">
                  <a16:creationId xmlns:a16="http://schemas.microsoft.com/office/drawing/2014/main" id="{B24EA66B-C475-FD74-3653-99240EA2FC7D}"/>
                </a:ext>
              </a:extLst>
            </p:cNvPr>
            <p:cNvSpPr/>
            <p:nvPr/>
          </p:nvSpPr>
          <p:spPr>
            <a:xfrm>
              <a:off x="3288227" y="158414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80" name="ellipse_1891">
              <a:extLst>
                <a:ext uri="{FF2B5EF4-FFF2-40B4-BE49-F238E27FC236}">
                  <a16:creationId xmlns:a16="http://schemas.microsoft.com/office/drawing/2014/main" id="{7C05A257-A858-E4EC-CE72-2E262BB52B07}"/>
                </a:ext>
              </a:extLst>
            </p:cNvPr>
            <p:cNvSpPr/>
            <p:nvPr/>
          </p:nvSpPr>
          <p:spPr>
            <a:xfrm>
              <a:off x="3206468" y="16100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81" name="ellipse_1892">
              <a:extLst>
                <a:ext uri="{FF2B5EF4-FFF2-40B4-BE49-F238E27FC236}">
                  <a16:creationId xmlns:a16="http://schemas.microsoft.com/office/drawing/2014/main" id="{5029BF78-C694-94BA-2390-D6FC0A6BFD81}"/>
                </a:ext>
              </a:extLst>
            </p:cNvPr>
            <p:cNvSpPr/>
            <p:nvPr/>
          </p:nvSpPr>
          <p:spPr>
            <a:xfrm>
              <a:off x="3224851" y="161218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82" name="ellipse_1893">
              <a:extLst>
                <a:ext uri="{FF2B5EF4-FFF2-40B4-BE49-F238E27FC236}">
                  <a16:creationId xmlns:a16="http://schemas.microsoft.com/office/drawing/2014/main" id="{B400169A-5E49-FEE5-1915-FCB9E751F312}"/>
                </a:ext>
              </a:extLst>
            </p:cNvPr>
            <p:cNvSpPr/>
            <p:nvPr/>
          </p:nvSpPr>
          <p:spPr>
            <a:xfrm>
              <a:off x="3255857" y="14772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grpSp>
      <p:grpSp>
        <p:nvGrpSpPr>
          <p:cNvPr id="283" name="Find | PTV3 stage 5 (no pseudo)">
            <a:extLst>
              <a:ext uri="{FF2B5EF4-FFF2-40B4-BE49-F238E27FC236}">
                <a16:creationId xmlns:a16="http://schemas.microsoft.com/office/drawing/2014/main" id="{FE5D4BB8-AE08-CFDC-14F9-58D62B643799}"/>
              </a:ext>
            </a:extLst>
          </p:cNvPr>
          <p:cNvGrpSpPr/>
          <p:nvPr/>
        </p:nvGrpSpPr>
        <p:grpSpPr>
          <a:xfrm>
            <a:off x="3778141" y="1222153"/>
            <a:ext cx="276863" cy="197759"/>
            <a:chOff x="3473888" y="1438830"/>
            <a:chExt cx="279225" cy="243090"/>
          </a:xfrm>
        </p:grpSpPr>
        <p:sp>
          <p:nvSpPr>
            <p:cNvPr id="284" name="rect_1899">
              <a:extLst>
                <a:ext uri="{FF2B5EF4-FFF2-40B4-BE49-F238E27FC236}">
                  <a16:creationId xmlns:a16="http://schemas.microsoft.com/office/drawing/2014/main" id="{3C966A44-931E-3C61-C3E2-9910BF785D0E}"/>
                </a:ext>
              </a:extLst>
            </p:cNvPr>
            <p:cNvSpPr/>
            <p:nvPr/>
          </p:nvSpPr>
          <p:spPr>
            <a:xfrm>
              <a:off x="3473888" y="1438830"/>
              <a:ext cx="279225" cy="243090"/>
            </a:xfrm>
            <a:prstGeom prst="roundRect">
              <a:avLst>
                <a:gd name="adj" fmla="val 6757"/>
              </a:avLst>
            </a:prstGeom>
            <a:solidFill>
              <a:srgbClr val="F8F5FC"/>
            </a:solidFill>
            <a:ln w="2540" cap="rnd" cmpd="sng" algn="ctr">
              <a:solidFill>
                <a:srgbClr val="BEAED5"/>
              </a:solidFill>
              <a:prstDash val="solid"/>
              <a:round/>
              <a:headEnd type="none" w="med" len="med"/>
              <a:tailEnd type="none" w="med" len="med"/>
            </a:ln>
            <a:effectLst/>
          </p:spPr>
        </p:sp>
        <p:sp>
          <p:nvSpPr>
            <p:cNvPr id="285" name="ellipse_1900">
              <a:extLst>
                <a:ext uri="{FF2B5EF4-FFF2-40B4-BE49-F238E27FC236}">
                  <a16:creationId xmlns:a16="http://schemas.microsoft.com/office/drawing/2014/main" id="{0734BB70-ADDB-68EE-E4C9-F1E9F19AF6E7}"/>
                </a:ext>
              </a:extLst>
            </p:cNvPr>
            <p:cNvSpPr/>
            <p:nvPr/>
          </p:nvSpPr>
          <p:spPr>
            <a:xfrm>
              <a:off x="3538819" y="148253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86" name="ellipse_1901">
              <a:extLst>
                <a:ext uri="{FF2B5EF4-FFF2-40B4-BE49-F238E27FC236}">
                  <a16:creationId xmlns:a16="http://schemas.microsoft.com/office/drawing/2014/main" id="{50CDA3FC-9E47-A0FF-54FE-0B291B80C55E}"/>
                </a:ext>
              </a:extLst>
            </p:cNvPr>
            <p:cNvSpPr/>
            <p:nvPr/>
          </p:nvSpPr>
          <p:spPr>
            <a:xfrm>
              <a:off x="3631999" y="157809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87" name="ellipse_1902">
              <a:extLst>
                <a:ext uri="{FF2B5EF4-FFF2-40B4-BE49-F238E27FC236}">
                  <a16:creationId xmlns:a16="http://schemas.microsoft.com/office/drawing/2014/main" id="{FDEE2D57-7D4E-037C-452C-66A797AB07C9}"/>
                </a:ext>
              </a:extLst>
            </p:cNvPr>
            <p:cNvSpPr/>
            <p:nvPr/>
          </p:nvSpPr>
          <p:spPr>
            <a:xfrm>
              <a:off x="3687564" y="15901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88" name="ellipse_1903">
              <a:extLst>
                <a:ext uri="{FF2B5EF4-FFF2-40B4-BE49-F238E27FC236}">
                  <a16:creationId xmlns:a16="http://schemas.microsoft.com/office/drawing/2014/main" id="{B2C7060E-B2BB-F02D-5B6F-B7D323B087B4}"/>
                </a:ext>
              </a:extLst>
            </p:cNvPr>
            <p:cNvSpPr/>
            <p:nvPr/>
          </p:nvSpPr>
          <p:spPr>
            <a:xfrm>
              <a:off x="3686262" y="162539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89" name="ellipse_1904">
              <a:extLst>
                <a:ext uri="{FF2B5EF4-FFF2-40B4-BE49-F238E27FC236}">
                  <a16:creationId xmlns:a16="http://schemas.microsoft.com/office/drawing/2014/main" id="{7DE1C447-AFD4-DD7C-5DE0-0E96E8153D12}"/>
                </a:ext>
              </a:extLst>
            </p:cNvPr>
            <p:cNvSpPr/>
            <p:nvPr/>
          </p:nvSpPr>
          <p:spPr>
            <a:xfrm>
              <a:off x="3673847" y="145725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90" name="ellipse_1905">
              <a:extLst>
                <a:ext uri="{FF2B5EF4-FFF2-40B4-BE49-F238E27FC236}">
                  <a16:creationId xmlns:a16="http://schemas.microsoft.com/office/drawing/2014/main" id="{536BBD44-5D8E-E642-7EFE-DC301B9D3F7F}"/>
                </a:ext>
              </a:extLst>
            </p:cNvPr>
            <p:cNvSpPr/>
            <p:nvPr/>
          </p:nvSpPr>
          <p:spPr>
            <a:xfrm>
              <a:off x="3580150" y="160304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91" name="ellipse_1906">
              <a:extLst>
                <a:ext uri="{FF2B5EF4-FFF2-40B4-BE49-F238E27FC236}">
                  <a16:creationId xmlns:a16="http://schemas.microsoft.com/office/drawing/2014/main" id="{2D018CC6-8BB4-0573-830A-62F9771BB455}"/>
                </a:ext>
              </a:extLst>
            </p:cNvPr>
            <p:cNvSpPr/>
            <p:nvPr/>
          </p:nvSpPr>
          <p:spPr>
            <a:xfrm>
              <a:off x="3499431" y="147999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92" name="ellipse_1907">
              <a:extLst>
                <a:ext uri="{FF2B5EF4-FFF2-40B4-BE49-F238E27FC236}">
                  <a16:creationId xmlns:a16="http://schemas.microsoft.com/office/drawing/2014/main" id="{3D9BABC9-7179-80DF-931B-76C5D153BFA2}"/>
                </a:ext>
              </a:extLst>
            </p:cNvPr>
            <p:cNvSpPr/>
            <p:nvPr/>
          </p:nvSpPr>
          <p:spPr>
            <a:xfrm>
              <a:off x="3698498" y="163375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93" name="ellipse_1908">
              <a:extLst>
                <a:ext uri="{FF2B5EF4-FFF2-40B4-BE49-F238E27FC236}">
                  <a16:creationId xmlns:a16="http://schemas.microsoft.com/office/drawing/2014/main" id="{BF41BEF8-8F67-637A-F426-1015DD3C37FC}"/>
                </a:ext>
              </a:extLst>
            </p:cNvPr>
            <p:cNvSpPr/>
            <p:nvPr/>
          </p:nvSpPr>
          <p:spPr>
            <a:xfrm>
              <a:off x="3664475" y="160668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sp>
          <p:nvSpPr>
            <p:cNvPr id="294" name="ellipse_1909">
              <a:extLst>
                <a:ext uri="{FF2B5EF4-FFF2-40B4-BE49-F238E27FC236}">
                  <a16:creationId xmlns:a16="http://schemas.microsoft.com/office/drawing/2014/main" id="{E57407DB-12F2-A10B-73ED-904E74E89684}"/>
                </a:ext>
              </a:extLst>
            </p:cNvPr>
            <p:cNvSpPr/>
            <p:nvPr/>
          </p:nvSpPr>
          <p:spPr>
            <a:xfrm>
              <a:off x="3577670" y="157500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noFill/>
              <a:prstDash val="solid"/>
              <a:round/>
              <a:headEnd type="none" w="med" len="med"/>
              <a:tailEnd type="none" w="med" len="med"/>
            </a:ln>
            <a:effectLst/>
          </p:spPr>
        </p:sp>
      </p:grpSp>
      <p:sp>
        <p:nvSpPr>
          <p:cNvPr id="295" name="Rectangle 12150">
            <a:extLst>
              <a:ext uri="{FF2B5EF4-FFF2-40B4-BE49-F238E27FC236}">
                <a16:creationId xmlns:a16="http://schemas.microsoft.com/office/drawing/2014/main" id="{8BB2EAEF-8D89-55B5-F883-4E54E99BD78E}"/>
              </a:ext>
            </a:extLst>
          </p:cNvPr>
          <p:cNvSpPr/>
          <p:nvPr/>
        </p:nvSpPr>
        <p:spPr>
          <a:xfrm>
            <a:off x="2848673" y="1487151"/>
            <a:ext cx="411339" cy="102835"/>
          </a:xfrm>
          <a:prstGeom prst="rect">
            <a:avLst/>
          </a:prstGeom>
          <a:solidFill>
            <a:srgbClr val="F2EE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96" name="TextBox 12151">
            <a:extLst>
              <a:ext uri="{FF2B5EF4-FFF2-40B4-BE49-F238E27FC236}">
                <a16:creationId xmlns:a16="http://schemas.microsoft.com/office/drawing/2014/main" id="{EF55ECE2-C6C0-8216-6F8B-11F814326338}"/>
              </a:ext>
            </a:extLst>
          </p:cNvPr>
          <p:cNvSpPr txBox="1"/>
          <p:nvPr/>
        </p:nvSpPr>
        <p:spPr>
          <a:xfrm>
            <a:off x="2832852" y="1495608"/>
            <a:ext cx="442981" cy="85921"/>
          </a:xfrm>
          <a:prstGeom prst="rect">
            <a:avLst/>
          </a:prstGeom>
          <a:noFill/>
        </p:spPr>
        <p:txBody>
          <a:bodyPr wrap="square" lIns="0" tIns="0" rIns="0" bIns="0" anchor="ctr">
            <a:spAutoFit/>
          </a:bodyPr>
          <a:lstStyle/>
          <a:p>
            <a:pPr algn="ctr">
              <a:lnSpc>
                <a:spcPct val="105000"/>
              </a:lnSpc>
            </a:pPr>
            <a:r>
              <a:rPr sz="571" i="1">
                <a:solidFill>
                  <a:srgbClr val="263442"/>
                </a:solidFill>
                <a:latin typeface="Arial"/>
              </a:rPr>
              <a:t>Recycle</a:t>
            </a:r>
          </a:p>
        </p:txBody>
      </p:sp>
      <p:sp>
        <p:nvSpPr>
          <p:cNvPr id="297" name="TextBox 12152">
            <a:extLst>
              <a:ext uri="{FF2B5EF4-FFF2-40B4-BE49-F238E27FC236}">
                <a16:creationId xmlns:a16="http://schemas.microsoft.com/office/drawing/2014/main" id="{DA95DC65-9861-CC7E-7EFC-4B9E07722C91}"/>
              </a:ext>
            </a:extLst>
          </p:cNvPr>
          <p:cNvSpPr txBox="1"/>
          <p:nvPr/>
        </p:nvSpPr>
        <p:spPr>
          <a:xfrm>
            <a:off x="1962711" y="1615773"/>
            <a:ext cx="2183263" cy="106632"/>
          </a:xfrm>
          <a:prstGeom prst="rect">
            <a:avLst/>
          </a:prstGeom>
          <a:noFill/>
        </p:spPr>
        <p:txBody>
          <a:bodyPr wrap="square" lIns="0" tIns="0" rIns="0" bIns="0" anchor="ctr">
            <a:spAutoFit/>
          </a:bodyPr>
          <a:lstStyle/>
          <a:p>
            <a:pPr algn="ctr">
              <a:lnSpc>
                <a:spcPct val="105000"/>
              </a:lnSpc>
            </a:pPr>
            <a:r>
              <a:rPr sz="709">
                <a:solidFill>
                  <a:srgbClr val="263442"/>
                </a:solidFill>
                <a:latin typeface="Arial"/>
              </a:rPr>
              <a:t>Point Transformer V3</a:t>
            </a:r>
          </a:p>
        </p:txBody>
      </p:sp>
      <p:sp>
        <p:nvSpPr>
          <p:cNvPr id="298" name="TextBox 12153">
            <a:extLst>
              <a:ext uri="{FF2B5EF4-FFF2-40B4-BE49-F238E27FC236}">
                <a16:creationId xmlns:a16="http://schemas.microsoft.com/office/drawing/2014/main" id="{522E41DD-5F6E-76BD-E92F-5CBA886A651B}"/>
              </a:ext>
            </a:extLst>
          </p:cNvPr>
          <p:cNvSpPr txBox="1"/>
          <p:nvPr/>
        </p:nvSpPr>
        <p:spPr>
          <a:xfrm>
            <a:off x="2809120" y="1058360"/>
            <a:ext cx="767306" cy="88422"/>
          </a:xfrm>
          <a:prstGeom prst="rect">
            <a:avLst/>
          </a:prstGeom>
          <a:noFill/>
        </p:spPr>
        <p:txBody>
          <a:bodyPr wrap="square" lIns="0" tIns="0" rIns="0" bIns="0" anchor="ctr">
            <a:spAutoFit/>
          </a:bodyPr>
          <a:lstStyle/>
          <a:p>
            <a:pPr algn="ctr">
              <a:lnSpc>
                <a:spcPct val="105000"/>
              </a:lnSpc>
            </a:pPr>
            <a:r>
              <a:rPr lang="en-US" sz="588" dirty="0">
                <a:solidFill>
                  <a:srgbClr val="263442"/>
                </a:solidFill>
                <a:latin typeface="Arial"/>
              </a:rPr>
              <a:t>F</a:t>
            </a:r>
            <a:r>
              <a:rPr sz="588" dirty="0">
                <a:solidFill>
                  <a:srgbClr val="263442"/>
                </a:solidFill>
                <a:latin typeface="Arial"/>
              </a:rPr>
              <a:t>usion</a:t>
            </a:r>
          </a:p>
        </p:txBody>
      </p:sp>
      <p:sp>
        <p:nvSpPr>
          <p:cNvPr id="299" name="Find | Blobs output card">
            <a:extLst>
              <a:ext uri="{FF2B5EF4-FFF2-40B4-BE49-F238E27FC236}">
                <a16:creationId xmlns:a16="http://schemas.microsoft.com/office/drawing/2014/main" id="{6A602B9B-DE58-7AA0-FDBA-741F60C78A9B}"/>
              </a:ext>
            </a:extLst>
          </p:cNvPr>
          <p:cNvSpPr/>
          <p:nvPr/>
        </p:nvSpPr>
        <p:spPr>
          <a:xfrm>
            <a:off x="4329930" y="284775"/>
            <a:ext cx="442980" cy="1471328"/>
          </a:xfrm>
          <a:prstGeom prst="roundRect">
            <a:avLst>
              <a:gd name="adj" fmla="val 6000"/>
            </a:avLst>
          </a:prstGeom>
          <a:solidFill>
            <a:srgbClr val="FFFFFF"/>
          </a:solidFill>
          <a:ln w="7290">
            <a:solidFill>
              <a:srgbClr val="CBD6E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300" name="TextBox 12155">
            <a:extLst>
              <a:ext uri="{FF2B5EF4-FFF2-40B4-BE49-F238E27FC236}">
                <a16:creationId xmlns:a16="http://schemas.microsoft.com/office/drawing/2014/main" id="{1F7C0F6F-D082-C8AA-DE11-4286EF42AADB}"/>
              </a:ext>
            </a:extLst>
          </p:cNvPr>
          <p:cNvSpPr txBox="1"/>
          <p:nvPr/>
        </p:nvSpPr>
        <p:spPr>
          <a:xfrm>
            <a:off x="4206267" y="307007"/>
            <a:ext cx="696113" cy="111954"/>
          </a:xfrm>
          <a:prstGeom prst="rect">
            <a:avLst/>
          </a:prstGeom>
          <a:noFill/>
        </p:spPr>
        <p:txBody>
          <a:bodyPr wrap="square" lIns="0" tIns="0" rIns="0" bIns="0" anchor="ctr">
            <a:spAutoFit/>
          </a:bodyPr>
          <a:lstStyle/>
          <a:p>
            <a:pPr algn="ctr">
              <a:lnSpc>
                <a:spcPct val="105000"/>
              </a:lnSpc>
            </a:pPr>
            <a:r>
              <a:rPr sz="744" dirty="0">
                <a:solidFill>
                  <a:srgbClr val="263442"/>
                </a:solidFill>
                <a:latin typeface="Arial"/>
              </a:rPr>
              <a:t>Blobs</a:t>
            </a:r>
          </a:p>
        </p:txBody>
      </p:sp>
      <p:sp>
        <p:nvSpPr>
          <p:cNvPr id="301" name="TextBox 12160">
            <a:extLst>
              <a:ext uri="{FF2B5EF4-FFF2-40B4-BE49-F238E27FC236}">
                <a16:creationId xmlns:a16="http://schemas.microsoft.com/office/drawing/2014/main" id="{EBF2AA16-9B52-B84F-43EE-03BA82B2D4CA}"/>
              </a:ext>
            </a:extLst>
          </p:cNvPr>
          <p:cNvSpPr txBox="1"/>
          <p:nvPr/>
        </p:nvSpPr>
        <p:spPr>
          <a:xfrm>
            <a:off x="677751" y="2090304"/>
            <a:ext cx="1186556" cy="107978"/>
          </a:xfrm>
          <a:prstGeom prst="rect">
            <a:avLst/>
          </a:prstGeom>
          <a:noFill/>
        </p:spPr>
        <p:txBody>
          <a:bodyPr wrap="square" lIns="0" tIns="0" rIns="0" bIns="0" anchor="ctr">
            <a:spAutoFit/>
          </a:bodyPr>
          <a:lstStyle/>
          <a:p>
            <a:pPr algn="l">
              <a:lnSpc>
                <a:spcPct val="105000"/>
              </a:lnSpc>
            </a:pPr>
            <a:r>
              <a:rPr sz="718" dirty="0">
                <a:solidFill>
                  <a:srgbClr val="263442"/>
                </a:solidFill>
                <a:latin typeface="Arial"/>
              </a:rPr>
              <a:t>Candidate encoder</a:t>
            </a:r>
          </a:p>
        </p:txBody>
      </p:sp>
      <p:sp>
        <p:nvSpPr>
          <p:cNvPr id="302" name="TextBox 12161">
            <a:extLst>
              <a:ext uri="{FF2B5EF4-FFF2-40B4-BE49-F238E27FC236}">
                <a16:creationId xmlns:a16="http://schemas.microsoft.com/office/drawing/2014/main" id="{1FD101AA-9130-CD96-6414-B193E6D36851}"/>
              </a:ext>
            </a:extLst>
          </p:cNvPr>
          <p:cNvSpPr txBox="1"/>
          <p:nvPr/>
        </p:nvSpPr>
        <p:spPr>
          <a:xfrm>
            <a:off x="2706672" y="2090304"/>
            <a:ext cx="1186556" cy="107978"/>
          </a:xfrm>
          <a:prstGeom prst="rect">
            <a:avLst/>
          </a:prstGeom>
          <a:noFill/>
        </p:spPr>
        <p:txBody>
          <a:bodyPr wrap="square" lIns="0" tIns="0" rIns="0" bIns="0" anchor="ctr">
            <a:spAutoFit/>
          </a:bodyPr>
          <a:lstStyle/>
          <a:p>
            <a:pPr algn="l">
              <a:lnSpc>
                <a:spcPct val="105000"/>
              </a:lnSpc>
            </a:pPr>
            <a:r>
              <a:rPr sz="718" dirty="0">
                <a:solidFill>
                  <a:srgbClr val="263442"/>
                </a:solidFill>
                <a:latin typeface="Arial"/>
              </a:rPr>
              <a:t>Identity encoder</a:t>
            </a:r>
          </a:p>
        </p:txBody>
      </p:sp>
      <p:sp>
        <p:nvSpPr>
          <p:cNvPr id="303" name="Match | Center divider">
            <a:extLst>
              <a:ext uri="{FF2B5EF4-FFF2-40B4-BE49-F238E27FC236}">
                <a16:creationId xmlns:a16="http://schemas.microsoft.com/office/drawing/2014/main" id="{5A593D05-94F5-C55B-C8C6-B8F9E86B08C6}"/>
              </a:ext>
            </a:extLst>
          </p:cNvPr>
          <p:cNvSpPr/>
          <p:nvPr/>
        </p:nvSpPr>
        <p:spPr>
          <a:xfrm>
            <a:off x="2617408" y="2119981"/>
            <a:ext cx="1" cy="1945952"/>
          </a:xfrm>
          <a:custGeom>
            <a:avLst/>
            <a:gdLst/>
            <a:ahLst/>
            <a:cxnLst/>
            <a:rect l="0" t="0" r="w" b="h"/>
            <a:pathLst>
              <a:path w="1" h="2249424">
                <a:moveTo>
                  <a:pt x="0" y="0"/>
                </a:moveTo>
                <a:lnTo>
                  <a:pt x="0" y="2249424"/>
                </a:lnTo>
              </a:path>
            </a:pathLst>
          </a:custGeom>
          <a:noFill/>
          <a:ln w="9525" cap="rnd" cmpd="sng" algn="ctr">
            <a:solidFill>
              <a:srgbClr val="D0E2DA"/>
            </a:solidFill>
            <a:prstDash val="solid"/>
            <a:round/>
            <a:headEnd type="none" w="med" len="med"/>
            <a:tailEnd type="none" w="med" len="med"/>
          </a:ln>
        </p:spPr>
      </p:sp>
      <p:sp>
        <p:nvSpPr>
          <p:cNvPr id="304" name="TextBox 12164">
            <a:extLst>
              <a:ext uri="{FF2B5EF4-FFF2-40B4-BE49-F238E27FC236}">
                <a16:creationId xmlns:a16="http://schemas.microsoft.com/office/drawing/2014/main" id="{DA6D9C81-D325-B373-1580-DEE13789E3EE}"/>
              </a:ext>
            </a:extLst>
          </p:cNvPr>
          <p:cNvSpPr txBox="1"/>
          <p:nvPr/>
        </p:nvSpPr>
        <p:spPr>
          <a:xfrm>
            <a:off x="669841" y="2270869"/>
            <a:ext cx="442981" cy="93744"/>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Receptor</a:t>
            </a:r>
          </a:p>
        </p:txBody>
      </p:sp>
      <p:sp>
        <p:nvSpPr>
          <p:cNvPr id="305" name="TextBox 12166">
            <a:extLst>
              <a:ext uri="{FF2B5EF4-FFF2-40B4-BE49-F238E27FC236}">
                <a16:creationId xmlns:a16="http://schemas.microsoft.com/office/drawing/2014/main" id="{6E830D7E-FC74-3019-18B2-DDE04B6E60D0}"/>
              </a:ext>
            </a:extLst>
          </p:cNvPr>
          <p:cNvSpPr txBox="1"/>
          <p:nvPr/>
        </p:nvSpPr>
        <p:spPr>
          <a:xfrm>
            <a:off x="1152374" y="2270869"/>
            <a:ext cx="442981" cy="93744"/>
          </a:xfrm>
          <a:prstGeom prst="rect">
            <a:avLst/>
          </a:prstGeom>
          <a:noFill/>
        </p:spPr>
        <p:txBody>
          <a:bodyPr wrap="square" lIns="0" tIns="0" rIns="0" bIns="0" anchor="ctr">
            <a:spAutoFit/>
          </a:bodyPr>
          <a:lstStyle/>
          <a:p>
            <a:pPr algn="ctr">
              <a:lnSpc>
                <a:spcPct val="105000"/>
              </a:lnSpc>
            </a:pPr>
            <a:r>
              <a:rPr sz="623" dirty="0">
                <a:solidFill>
                  <a:srgbClr val="263442"/>
                </a:solidFill>
                <a:latin typeface="Arial"/>
              </a:rPr>
              <a:t>Density</a:t>
            </a:r>
          </a:p>
        </p:txBody>
      </p:sp>
      <p:pic>
        <p:nvPicPr>
          <p:cNvPr id="306" name="Match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7A47CBDC-2732-4D0F-C4FF-972DA2F1AA3E}"/>
              </a:ext>
            </a:extLst>
          </p:cNvPr>
          <p:cNvPicPr/>
          <p:nvPr/>
        </p:nvPicPr>
        <p:blipFill>
          <a:blip r:embed="rId4"/>
          <a:stretch>
            <a:fillRect/>
          </a:stretch>
        </p:blipFill>
        <p:spPr>
          <a:xfrm>
            <a:off x="1199858" y="2380847"/>
            <a:ext cx="347980" cy="332276"/>
          </a:xfrm>
          <a:prstGeom prst="rect">
            <a:avLst/>
          </a:prstGeom>
        </p:spPr>
      </p:pic>
      <p:sp>
        <p:nvSpPr>
          <p:cNvPr id="526" name="TextBox 12168">
            <a:extLst>
              <a:ext uri="{FF2B5EF4-FFF2-40B4-BE49-F238E27FC236}">
                <a16:creationId xmlns:a16="http://schemas.microsoft.com/office/drawing/2014/main" id="{50BD09F1-2D4A-FA0A-7AF2-981DD7585F3A}"/>
              </a:ext>
            </a:extLst>
          </p:cNvPr>
          <p:cNvSpPr txBox="1"/>
          <p:nvPr/>
        </p:nvSpPr>
        <p:spPr>
          <a:xfrm>
            <a:off x="709890" y="2851277"/>
            <a:ext cx="340209" cy="97203"/>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Pocket</a:t>
            </a:r>
          </a:p>
        </p:txBody>
      </p:sp>
      <p:sp>
        <p:nvSpPr>
          <p:cNvPr id="613" name="TextBox 12177">
            <a:extLst>
              <a:ext uri="{FF2B5EF4-FFF2-40B4-BE49-F238E27FC236}">
                <a16:creationId xmlns:a16="http://schemas.microsoft.com/office/drawing/2014/main" id="{086F717F-C0B1-CD04-AFB8-166092CD717F}"/>
              </a:ext>
            </a:extLst>
          </p:cNvPr>
          <p:cNvSpPr txBox="1"/>
          <p:nvPr/>
        </p:nvSpPr>
        <p:spPr>
          <a:xfrm>
            <a:off x="1159452" y="2851277"/>
            <a:ext cx="340209" cy="97203"/>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Blob</a:t>
            </a:r>
          </a:p>
        </p:txBody>
      </p:sp>
      <p:grpSp>
        <p:nvGrpSpPr>
          <p:cNvPr id="614" name="Match | Blob contour">
            <a:extLst>
              <a:ext uri="{FF2B5EF4-FFF2-40B4-BE49-F238E27FC236}">
                <a16:creationId xmlns:a16="http://schemas.microsoft.com/office/drawing/2014/main" id="{ECF83E2A-3199-B09F-F90E-31DC9848C382}"/>
              </a:ext>
            </a:extLst>
          </p:cNvPr>
          <p:cNvGrpSpPr/>
          <p:nvPr/>
        </p:nvGrpSpPr>
        <p:grpSpPr>
          <a:xfrm>
            <a:off x="1187803" y="3041632"/>
            <a:ext cx="291608" cy="199265"/>
            <a:chOff x="1928706" y="3559489"/>
            <a:chExt cx="227897" cy="155682"/>
          </a:xfrm>
        </p:grpSpPr>
        <p:sp>
          <p:nvSpPr>
            <p:cNvPr id="615" name="Candidate blob | editable contour">
              <a:extLst>
                <a:ext uri="{FF2B5EF4-FFF2-40B4-BE49-F238E27FC236}">
                  <a16:creationId xmlns:a16="http://schemas.microsoft.com/office/drawing/2014/main" id="{513F782E-E1DE-1B64-68A9-FB54BE71715F}"/>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16" name="ellipse_2612">
              <a:extLst>
                <a:ext uri="{FF2B5EF4-FFF2-40B4-BE49-F238E27FC236}">
                  <a16:creationId xmlns:a16="http://schemas.microsoft.com/office/drawing/2014/main" id="{12A4650A-7359-9456-1843-A3C9E08B2497}"/>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18" name="TextBox 12186">
            <a:extLst>
              <a:ext uri="{FF2B5EF4-FFF2-40B4-BE49-F238E27FC236}">
                <a16:creationId xmlns:a16="http://schemas.microsoft.com/office/drawing/2014/main" id="{88505915-A113-7FAA-6C15-3F2B10F6D7CB}"/>
              </a:ext>
            </a:extLst>
          </p:cNvPr>
          <p:cNvSpPr txBox="1"/>
          <p:nvPr/>
        </p:nvSpPr>
        <p:spPr>
          <a:xfrm>
            <a:off x="1701262" y="2259965"/>
            <a:ext cx="286938" cy="92333"/>
          </a:xfrm>
          <a:prstGeom prst="rect">
            <a:avLst/>
          </a:prstGeom>
          <a:noFill/>
        </p:spPr>
        <p:txBody>
          <a:bodyPr wrap="none" lIns="0" tIns="0" rIns="0" bIns="0" anchor="ctr">
            <a:spAutoFit/>
          </a:bodyPr>
          <a:lstStyle/>
          <a:p>
            <a:pPr algn="ctr">
              <a:lnSpc>
                <a:spcPct val="105000"/>
              </a:lnSpc>
            </a:pPr>
            <a:r>
              <a:rPr sz="614">
                <a:solidFill>
                  <a:srgbClr val="263442"/>
                </a:solidFill>
                <a:latin typeface="Arial"/>
              </a:rPr>
              <a:t>48³ crop</a:t>
            </a:r>
          </a:p>
        </p:txBody>
      </p:sp>
      <p:grpSp>
        <p:nvGrpSpPr>
          <p:cNvPr id="619" name="48^3 crop 3D cube">
            <a:extLst>
              <a:ext uri="{FF2B5EF4-FFF2-40B4-BE49-F238E27FC236}">
                <a16:creationId xmlns:a16="http://schemas.microsoft.com/office/drawing/2014/main" id="{50441A72-5112-E010-1BBD-72FFF87A8B6E}"/>
              </a:ext>
            </a:extLst>
          </p:cNvPr>
          <p:cNvGrpSpPr/>
          <p:nvPr/>
        </p:nvGrpSpPr>
        <p:grpSpPr>
          <a:xfrm>
            <a:off x="1718368" y="2353114"/>
            <a:ext cx="251107" cy="197645"/>
            <a:chOff x="4043880" y="489960"/>
            <a:chExt cx="571680" cy="450000"/>
          </a:xfrm>
        </p:grpSpPr>
        <p:sp>
          <p:nvSpPr>
            <p:cNvPr id="620" name="asset_2027_0">
              <a:extLst>
                <a:ext uri="{FF2B5EF4-FFF2-40B4-BE49-F238E27FC236}">
                  <a16:creationId xmlns:a16="http://schemas.microsoft.com/office/drawing/2014/main" id="{2C26482F-D7D7-E3F6-FBCD-22AC82315E62}"/>
                </a:ext>
              </a:extLst>
            </p:cNvPr>
            <p:cNvSpPr>
              <a:spLocks noGrp="1"/>
            </p:cNvSpPr>
            <p:nvPr/>
          </p:nvSpPr>
          <p:spPr>
            <a:xfrm>
              <a:off x="4043880" y="489960"/>
              <a:ext cx="571680" cy="76500"/>
            </a:xfrm>
            <a:custGeom>
              <a:avLst/>
              <a:gdLst/>
              <a:ahLst/>
              <a:cxnLst/>
              <a:rect l="0" t="0" r="0" b="0"/>
              <a:pathLst>
                <a:path w="571680" h="76500">
                  <a:moveTo>
                    <a:pt x="0" y="76500"/>
                  </a:moveTo>
                  <a:lnTo>
                    <a:pt x="108619" y="0"/>
                  </a:lnTo>
                  <a:lnTo>
                    <a:pt x="571680" y="0"/>
                  </a:lnTo>
                  <a:lnTo>
                    <a:pt x="463061" y="76500"/>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621" name="asset_2027_1">
              <a:extLst>
                <a:ext uri="{FF2B5EF4-FFF2-40B4-BE49-F238E27FC236}">
                  <a16:creationId xmlns:a16="http://schemas.microsoft.com/office/drawing/2014/main" id="{F28AFBA7-0A71-99DE-9FF9-EBD0ADC1144C}"/>
                </a:ext>
              </a:extLst>
            </p:cNvPr>
            <p:cNvSpPr>
              <a:spLocks noGrp="1"/>
            </p:cNvSpPr>
            <p:nvPr/>
          </p:nvSpPr>
          <p:spPr>
            <a:xfrm>
              <a:off x="4506941" y="489960"/>
              <a:ext cx="108619" cy="450000"/>
            </a:xfrm>
            <a:custGeom>
              <a:avLst/>
              <a:gdLst/>
              <a:ahLst/>
              <a:cxnLst/>
              <a:rect l="0" t="0" r="0" b="0"/>
              <a:pathLst>
                <a:path w="108619" h="450000">
                  <a:moveTo>
                    <a:pt x="0" y="76500"/>
                  </a:moveTo>
                  <a:lnTo>
                    <a:pt x="108619" y="0"/>
                  </a:lnTo>
                  <a:lnTo>
                    <a:pt x="108619" y="373500"/>
                  </a:lnTo>
                  <a:lnTo>
                    <a:pt x="0" y="450000"/>
                  </a:lnTo>
                  <a:close/>
                </a:path>
              </a:pathLst>
            </a:custGeom>
            <a:solidFill>
              <a:srgbClr val="C9DFF3">
                <a:alpha val="22000"/>
              </a:srgbClr>
            </a:solidFill>
            <a:ln w="2700">
              <a:solidFill>
                <a:srgbClr val="A3C3E2"/>
              </a:solidFill>
            </a:ln>
          </p:spPr>
        </p:sp>
        <p:sp>
          <p:nvSpPr>
            <p:cNvPr id="622" name="asset_2027_2">
              <a:extLst>
                <a:ext uri="{FF2B5EF4-FFF2-40B4-BE49-F238E27FC236}">
                  <a16:creationId xmlns:a16="http://schemas.microsoft.com/office/drawing/2014/main" id="{97E064B3-0050-239C-C963-C5E4E31B84D2}"/>
                </a:ext>
              </a:extLst>
            </p:cNvPr>
            <p:cNvSpPr>
              <a:spLocks noGrp="1"/>
            </p:cNvSpPr>
            <p:nvPr/>
          </p:nvSpPr>
          <p:spPr>
            <a:xfrm>
              <a:off x="4043880" y="566460"/>
              <a:ext cx="463061" cy="373500"/>
            </a:xfrm>
            <a:prstGeom prst="rect">
              <a:avLst/>
            </a:prstGeom>
            <a:solidFill>
              <a:srgbClr val="E7F1FC">
                <a:alpha val="20000"/>
              </a:srgbClr>
            </a:solidFill>
            <a:ln w="2700">
              <a:solidFill>
                <a:srgbClr val="ABC9E7"/>
              </a:solidFill>
            </a:ln>
          </p:spPr>
        </p:sp>
        <p:sp>
          <p:nvSpPr>
            <p:cNvPr id="623" name="asset_2027_3">
              <a:extLst>
                <a:ext uri="{FF2B5EF4-FFF2-40B4-BE49-F238E27FC236}">
                  <a16:creationId xmlns:a16="http://schemas.microsoft.com/office/drawing/2014/main" id="{A2C54284-938E-B40D-7CE6-20A987BE1447}"/>
                </a:ext>
              </a:extLst>
            </p:cNvPr>
            <p:cNvSpPr>
              <a:spLocks noGrp="1"/>
            </p:cNvSpPr>
            <p:nvPr/>
          </p:nvSpPr>
          <p:spPr>
            <a:xfrm>
              <a:off x="4159645" y="566460"/>
              <a:ext cx="4" cy="373500"/>
            </a:xfrm>
            <a:prstGeom prst="line">
              <a:avLst/>
            </a:prstGeom>
            <a:noFill/>
            <a:ln w="1980">
              <a:solidFill>
                <a:srgbClr val="B8D2EB">
                  <a:alpha val="33000"/>
                </a:srgbClr>
              </a:solidFill>
            </a:ln>
          </p:spPr>
        </p:sp>
        <p:sp>
          <p:nvSpPr>
            <p:cNvPr id="624" name="asset_2027_4">
              <a:extLst>
                <a:ext uri="{FF2B5EF4-FFF2-40B4-BE49-F238E27FC236}">
                  <a16:creationId xmlns:a16="http://schemas.microsoft.com/office/drawing/2014/main" id="{0F8960CE-A059-8D07-91FB-C97F3078BCD9}"/>
                </a:ext>
              </a:extLst>
            </p:cNvPr>
            <p:cNvSpPr>
              <a:spLocks noGrp="1"/>
            </p:cNvSpPr>
            <p:nvPr/>
          </p:nvSpPr>
          <p:spPr>
            <a:xfrm>
              <a:off x="4043880" y="659835"/>
              <a:ext cx="463061" cy="4"/>
            </a:xfrm>
            <a:prstGeom prst="line">
              <a:avLst/>
            </a:prstGeom>
            <a:noFill/>
            <a:ln w="1980">
              <a:solidFill>
                <a:srgbClr val="B8D2EB">
                  <a:alpha val="33000"/>
                </a:srgbClr>
              </a:solidFill>
            </a:ln>
          </p:spPr>
        </p:sp>
        <p:sp>
          <p:nvSpPr>
            <p:cNvPr id="625" name="asset_2027_5">
              <a:extLst>
                <a:ext uri="{FF2B5EF4-FFF2-40B4-BE49-F238E27FC236}">
                  <a16:creationId xmlns:a16="http://schemas.microsoft.com/office/drawing/2014/main" id="{A5646F3B-E3B0-7C1C-2E27-F9E967647A65}"/>
                </a:ext>
              </a:extLst>
            </p:cNvPr>
            <p:cNvSpPr>
              <a:spLocks noGrp="1"/>
            </p:cNvSpPr>
            <p:nvPr/>
          </p:nvSpPr>
          <p:spPr>
            <a:xfrm>
              <a:off x="4275410" y="566460"/>
              <a:ext cx="4" cy="373500"/>
            </a:xfrm>
            <a:prstGeom prst="line">
              <a:avLst/>
            </a:prstGeom>
            <a:noFill/>
            <a:ln w="1980">
              <a:solidFill>
                <a:srgbClr val="B8D2EB">
                  <a:alpha val="33000"/>
                </a:srgbClr>
              </a:solidFill>
            </a:ln>
          </p:spPr>
        </p:sp>
        <p:sp>
          <p:nvSpPr>
            <p:cNvPr id="626" name="asset_2027_6">
              <a:extLst>
                <a:ext uri="{FF2B5EF4-FFF2-40B4-BE49-F238E27FC236}">
                  <a16:creationId xmlns:a16="http://schemas.microsoft.com/office/drawing/2014/main" id="{49CF1756-587C-D73A-CFD0-CE93821E4BC5}"/>
                </a:ext>
              </a:extLst>
            </p:cNvPr>
            <p:cNvSpPr>
              <a:spLocks noGrp="1"/>
            </p:cNvSpPr>
            <p:nvPr/>
          </p:nvSpPr>
          <p:spPr>
            <a:xfrm>
              <a:off x="4043880" y="753210"/>
              <a:ext cx="463061" cy="4"/>
            </a:xfrm>
            <a:prstGeom prst="line">
              <a:avLst/>
            </a:prstGeom>
            <a:noFill/>
            <a:ln w="1980">
              <a:solidFill>
                <a:srgbClr val="B8D2EB">
                  <a:alpha val="33000"/>
                </a:srgbClr>
              </a:solidFill>
            </a:ln>
          </p:spPr>
        </p:sp>
        <p:sp>
          <p:nvSpPr>
            <p:cNvPr id="627" name="asset_2027_7">
              <a:extLst>
                <a:ext uri="{FF2B5EF4-FFF2-40B4-BE49-F238E27FC236}">
                  <a16:creationId xmlns:a16="http://schemas.microsoft.com/office/drawing/2014/main" id="{617A40D8-F985-CF5E-C184-9CEE010688B0}"/>
                </a:ext>
              </a:extLst>
            </p:cNvPr>
            <p:cNvSpPr>
              <a:spLocks noGrp="1"/>
            </p:cNvSpPr>
            <p:nvPr/>
          </p:nvSpPr>
          <p:spPr>
            <a:xfrm>
              <a:off x="4391176" y="566460"/>
              <a:ext cx="4" cy="373500"/>
            </a:xfrm>
            <a:prstGeom prst="line">
              <a:avLst/>
            </a:prstGeom>
            <a:noFill/>
            <a:ln w="1980">
              <a:solidFill>
                <a:srgbClr val="B8D2EB">
                  <a:alpha val="33000"/>
                </a:srgbClr>
              </a:solidFill>
            </a:ln>
          </p:spPr>
        </p:sp>
        <p:sp>
          <p:nvSpPr>
            <p:cNvPr id="628" name="asset_2027_8">
              <a:extLst>
                <a:ext uri="{FF2B5EF4-FFF2-40B4-BE49-F238E27FC236}">
                  <a16:creationId xmlns:a16="http://schemas.microsoft.com/office/drawing/2014/main" id="{D74C2F96-9830-4E45-47CF-280DBDF3BBA6}"/>
                </a:ext>
              </a:extLst>
            </p:cNvPr>
            <p:cNvSpPr>
              <a:spLocks noGrp="1"/>
            </p:cNvSpPr>
            <p:nvPr/>
          </p:nvSpPr>
          <p:spPr>
            <a:xfrm>
              <a:off x="4043880" y="846585"/>
              <a:ext cx="463061" cy="4"/>
            </a:xfrm>
            <a:prstGeom prst="line">
              <a:avLst/>
            </a:prstGeom>
            <a:noFill/>
            <a:ln w="1980">
              <a:solidFill>
                <a:srgbClr val="B8D2EB">
                  <a:alpha val="33000"/>
                </a:srgbClr>
              </a:solidFill>
            </a:ln>
          </p:spPr>
        </p:sp>
        <p:sp>
          <p:nvSpPr>
            <p:cNvPr id="629" name="asset_2027_53">
              <a:extLst>
                <a:ext uri="{FF2B5EF4-FFF2-40B4-BE49-F238E27FC236}">
                  <a16:creationId xmlns:a16="http://schemas.microsoft.com/office/drawing/2014/main" id="{B57D82E4-2BD4-33AA-2164-941D5F47EC2E}"/>
                </a:ext>
              </a:extLst>
            </p:cNvPr>
            <p:cNvSpPr>
              <a:spLocks noGrp="1"/>
            </p:cNvSpPr>
            <p:nvPr/>
          </p:nvSpPr>
          <p:spPr>
            <a:xfrm>
              <a:off x="4043880" y="566460"/>
              <a:ext cx="463061" cy="373500"/>
            </a:xfrm>
            <a:custGeom>
              <a:avLst/>
              <a:gdLst/>
              <a:ahLst/>
              <a:cxnLst/>
              <a:rect l="0" t="0" r="0" b="0"/>
              <a:pathLst>
                <a:path w="463061" h="373500">
                  <a:moveTo>
                    <a:pt x="0" y="0"/>
                  </a:moveTo>
                  <a:lnTo>
                    <a:pt x="463061" y="0"/>
                  </a:lnTo>
                  <a:lnTo>
                    <a:pt x="463061" y="373500"/>
                  </a:lnTo>
                  <a:lnTo>
                    <a:pt x="0" y="373500"/>
                  </a:lnTo>
                  <a:close/>
                </a:path>
              </a:pathLst>
            </a:custGeom>
            <a:noFill/>
            <a:ln w="3600">
              <a:solidFill>
                <a:srgbClr val="8AB3D9"/>
              </a:solidFill>
            </a:ln>
          </p:spPr>
        </p:sp>
      </p:grpSp>
      <p:grpSp>
        <p:nvGrpSpPr>
          <p:cNvPr id="630" name="48^3 crop centered blob">
            <a:extLst>
              <a:ext uri="{FF2B5EF4-FFF2-40B4-BE49-F238E27FC236}">
                <a16:creationId xmlns:a16="http://schemas.microsoft.com/office/drawing/2014/main" id="{05F07842-8C1D-D758-5B6A-3324A46B243F}"/>
              </a:ext>
            </a:extLst>
          </p:cNvPr>
          <p:cNvGrpSpPr/>
          <p:nvPr/>
        </p:nvGrpSpPr>
        <p:grpSpPr>
          <a:xfrm>
            <a:off x="1781144" y="2424395"/>
            <a:ext cx="110568" cy="75332"/>
            <a:chOff x="1928706" y="3559489"/>
            <a:chExt cx="227897" cy="155682"/>
          </a:xfrm>
        </p:grpSpPr>
        <p:sp>
          <p:nvSpPr>
            <p:cNvPr id="631" name="Candidate blob | editable contour">
              <a:extLst>
                <a:ext uri="{FF2B5EF4-FFF2-40B4-BE49-F238E27FC236}">
                  <a16:creationId xmlns:a16="http://schemas.microsoft.com/office/drawing/2014/main" id="{9098312C-2F0E-B28B-B660-F9C51272B948}"/>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32" name="ellipse_2612">
              <a:extLst>
                <a:ext uri="{FF2B5EF4-FFF2-40B4-BE49-F238E27FC236}">
                  <a16:creationId xmlns:a16="http://schemas.microsoft.com/office/drawing/2014/main" id="{ACF53CE3-1C37-025F-02A8-70EEA8DCFD7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33" name="Blob centroid marker">
            <a:extLst>
              <a:ext uri="{FF2B5EF4-FFF2-40B4-BE49-F238E27FC236}">
                <a16:creationId xmlns:a16="http://schemas.microsoft.com/office/drawing/2014/main" id="{EDD959CF-D4D3-5624-F7B2-BF9345634585}"/>
              </a:ext>
            </a:extLst>
          </p:cNvPr>
          <p:cNvSpPr/>
          <p:nvPr/>
        </p:nvSpPr>
        <p:spPr>
          <a:xfrm>
            <a:off x="1824075" y="2450316"/>
            <a:ext cx="24301" cy="24301"/>
          </a:xfrm>
          <a:prstGeom prst="ellipse">
            <a:avLst/>
          </a:prstGeom>
          <a:solidFill>
            <a:srgbClr val="1D4ED8"/>
          </a:solidFill>
          <a:ln w="762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4" name="TextBox 12188">
            <a:extLst>
              <a:ext uri="{FF2B5EF4-FFF2-40B4-BE49-F238E27FC236}">
                <a16:creationId xmlns:a16="http://schemas.microsoft.com/office/drawing/2014/main" id="{2C0C5B7E-EB59-C12C-034A-66725ABF262F}"/>
              </a:ext>
            </a:extLst>
          </p:cNvPr>
          <p:cNvSpPr txBox="1"/>
          <p:nvPr/>
        </p:nvSpPr>
        <p:spPr>
          <a:xfrm>
            <a:off x="1659904" y="2614551"/>
            <a:ext cx="328616" cy="92333"/>
          </a:xfrm>
          <a:prstGeom prst="rect">
            <a:avLst/>
          </a:prstGeom>
          <a:noFill/>
        </p:spPr>
        <p:txBody>
          <a:bodyPr wrap="none" lIns="0" tIns="0" rIns="0" bIns="0" anchor="ctr">
            <a:spAutoFit/>
          </a:bodyPr>
          <a:lstStyle/>
          <a:p>
            <a:pPr algn="ctr">
              <a:lnSpc>
                <a:spcPct val="105000"/>
              </a:lnSpc>
            </a:pPr>
            <a:r>
              <a:rPr sz="614" dirty="0">
                <a:solidFill>
                  <a:srgbClr val="263442"/>
                </a:solidFill>
                <a:latin typeface="Arial"/>
              </a:rPr>
              <a:t>3D U-Net</a:t>
            </a:r>
          </a:p>
        </p:txBody>
      </p:sp>
      <p:sp>
        <p:nvSpPr>
          <p:cNvPr id="635" name="TextBox 12189">
            <a:extLst>
              <a:ext uri="{FF2B5EF4-FFF2-40B4-BE49-F238E27FC236}">
                <a16:creationId xmlns:a16="http://schemas.microsoft.com/office/drawing/2014/main" id="{8153BF98-6A0C-0786-710E-3D0EE8987AAA}"/>
              </a:ext>
            </a:extLst>
          </p:cNvPr>
          <p:cNvSpPr txBox="1"/>
          <p:nvPr/>
        </p:nvSpPr>
        <p:spPr>
          <a:xfrm>
            <a:off x="2077123" y="2623546"/>
            <a:ext cx="514564" cy="90218"/>
          </a:xfrm>
          <a:prstGeom prst="rect">
            <a:avLst/>
          </a:prstGeom>
          <a:noFill/>
        </p:spPr>
        <p:txBody>
          <a:bodyPr wrap="none" lIns="0" tIns="0" rIns="0" bIns="0" anchor="ctr">
            <a:spAutoFit/>
          </a:bodyPr>
          <a:lstStyle/>
          <a:p>
            <a:pPr algn="ctr">
              <a:lnSpc>
                <a:spcPct val="105000"/>
              </a:lnSpc>
            </a:pPr>
            <a:r>
              <a:rPr lang="en-US" sz="600" dirty="0">
                <a:solidFill>
                  <a:srgbClr val="263442"/>
                </a:solidFill>
                <a:latin typeface="Arial"/>
              </a:rPr>
              <a:t>B</a:t>
            </a:r>
            <a:r>
              <a:rPr lang="en-US" altLang="zh-CN" sz="600" dirty="0">
                <a:solidFill>
                  <a:srgbClr val="263442"/>
                </a:solidFill>
                <a:latin typeface="Arial"/>
              </a:rPr>
              <a:t>ase s</a:t>
            </a:r>
            <a:r>
              <a:rPr sz="600" dirty="0">
                <a:solidFill>
                  <a:srgbClr val="263442"/>
                </a:solidFill>
                <a:latin typeface="Arial"/>
              </a:rPr>
              <a:t>ummary</a:t>
            </a:r>
          </a:p>
        </p:txBody>
      </p:sp>
      <p:sp>
        <p:nvSpPr>
          <p:cNvPr id="636" name="Math | h_j^vox">
            <a:extLst>
              <a:ext uri="{FF2B5EF4-FFF2-40B4-BE49-F238E27FC236}">
                <a16:creationId xmlns:a16="http://schemas.microsoft.com/office/drawing/2014/main" id="{93EC2205-1821-C3E9-E08B-23B27F07452E}"/>
              </a:ext>
            </a:extLst>
          </p:cNvPr>
          <p:cNvSpPr txBox="1"/>
          <p:nvPr/>
        </p:nvSpPr>
        <p:spPr>
          <a:xfrm>
            <a:off x="2252881" y="2371206"/>
            <a:ext cx="169918" cy="126509"/>
          </a:xfrm>
          <a:prstGeom prst="rect">
            <a:avLst/>
          </a:prstGeom>
          <a:noFill/>
        </p:spPr>
        <p:txBody>
          <a:bodyPr wrap="none" lIns="0" tIns="0" rIns="0" bIns="0" anchor="ctr">
            <a:spAutoFit/>
          </a:bodyPr>
          <a:lstStyle/>
          <a:p>
            <a:pPr algn="ctr"/>
            <a:r>
              <a:rPr sz="855" i="1">
                <a:solidFill>
                  <a:srgbClr val="263442"/>
                </a:solidFill>
                <a:latin typeface="Times New Roman"/>
              </a:rPr>
              <a:t>h</a:t>
            </a:r>
            <a:r>
              <a:rPr sz="780" i="1" baseline="-28000">
                <a:solidFill>
                  <a:srgbClr val="263442"/>
                </a:solidFill>
                <a:latin typeface="Times New Roman"/>
              </a:rPr>
              <a:t>j</a:t>
            </a:r>
            <a:r>
              <a:rPr sz="780" baseline="32000">
                <a:solidFill>
                  <a:srgbClr val="263442"/>
                </a:solidFill>
                <a:latin typeface="Arial"/>
              </a:rPr>
              <a:t>vox</a:t>
            </a:r>
          </a:p>
        </p:txBody>
      </p:sp>
      <p:sp>
        <p:nvSpPr>
          <p:cNvPr id="637" name="Base summary bar_1">
            <a:extLst>
              <a:ext uri="{FF2B5EF4-FFF2-40B4-BE49-F238E27FC236}">
                <a16:creationId xmlns:a16="http://schemas.microsoft.com/office/drawing/2014/main" id="{99E9D3C4-A8BD-9C93-615E-C771AE07C8E3}"/>
              </a:ext>
            </a:extLst>
          </p:cNvPr>
          <p:cNvSpPr/>
          <p:nvPr/>
        </p:nvSpPr>
        <p:spPr>
          <a:xfrm>
            <a:off x="2156411" y="2549118"/>
            <a:ext cx="44072" cy="59328"/>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8" name="Base summary bar_2">
            <a:extLst>
              <a:ext uri="{FF2B5EF4-FFF2-40B4-BE49-F238E27FC236}">
                <a16:creationId xmlns:a16="http://schemas.microsoft.com/office/drawing/2014/main" id="{6BC787CE-AF83-7509-7C88-9AB58DB6F66F}"/>
              </a:ext>
            </a:extLst>
          </p:cNvPr>
          <p:cNvSpPr/>
          <p:nvPr/>
        </p:nvSpPr>
        <p:spPr>
          <a:xfrm>
            <a:off x="2204438" y="2549118"/>
            <a:ext cx="44072" cy="59328"/>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9" name="Base summary bar_3">
            <a:extLst>
              <a:ext uri="{FF2B5EF4-FFF2-40B4-BE49-F238E27FC236}">
                <a16:creationId xmlns:a16="http://schemas.microsoft.com/office/drawing/2014/main" id="{269240CC-07F6-8569-D6D0-2E898FDFE671}"/>
              </a:ext>
            </a:extLst>
          </p:cNvPr>
          <p:cNvSpPr/>
          <p:nvPr/>
        </p:nvSpPr>
        <p:spPr>
          <a:xfrm>
            <a:off x="2252465" y="2549118"/>
            <a:ext cx="44072" cy="59328"/>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0" name="Base summary bar_4">
            <a:extLst>
              <a:ext uri="{FF2B5EF4-FFF2-40B4-BE49-F238E27FC236}">
                <a16:creationId xmlns:a16="http://schemas.microsoft.com/office/drawing/2014/main" id="{D027E165-A9E7-E339-F192-6FC69D94CA5E}"/>
              </a:ext>
            </a:extLst>
          </p:cNvPr>
          <p:cNvSpPr/>
          <p:nvPr/>
        </p:nvSpPr>
        <p:spPr>
          <a:xfrm>
            <a:off x="2300493" y="2549118"/>
            <a:ext cx="44072" cy="59328"/>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1" name="Base summary bar_5">
            <a:extLst>
              <a:ext uri="{FF2B5EF4-FFF2-40B4-BE49-F238E27FC236}">
                <a16:creationId xmlns:a16="http://schemas.microsoft.com/office/drawing/2014/main" id="{AF544338-D23E-CE3C-A6B8-4FA37DCAD82E}"/>
              </a:ext>
            </a:extLst>
          </p:cNvPr>
          <p:cNvSpPr/>
          <p:nvPr/>
        </p:nvSpPr>
        <p:spPr>
          <a:xfrm>
            <a:off x="2348521" y="2549118"/>
            <a:ext cx="44072" cy="59328"/>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2" name="Base summary bar_6">
            <a:extLst>
              <a:ext uri="{FF2B5EF4-FFF2-40B4-BE49-F238E27FC236}">
                <a16:creationId xmlns:a16="http://schemas.microsoft.com/office/drawing/2014/main" id="{9F80EB35-B4A7-2FA2-7A0C-B02A9915E4EB}"/>
              </a:ext>
            </a:extLst>
          </p:cNvPr>
          <p:cNvSpPr/>
          <p:nvPr/>
        </p:nvSpPr>
        <p:spPr>
          <a:xfrm>
            <a:off x="2396548" y="2549118"/>
            <a:ext cx="44072" cy="59328"/>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3" name="Base summary bar_7">
            <a:extLst>
              <a:ext uri="{FF2B5EF4-FFF2-40B4-BE49-F238E27FC236}">
                <a16:creationId xmlns:a16="http://schemas.microsoft.com/office/drawing/2014/main" id="{763E1301-00D0-44E1-3425-288C0321EC85}"/>
              </a:ext>
            </a:extLst>
          </p:cNvPr>
          <p:cNvSpPr/>
          <p:nvPr/>
        </p:nvSpPr>
        <p:spPr>
          <a:xfrm>
            <a:off x="2444575" y="2549118"/>
            <a:ext cx="44072" cy="59328"/>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4" name="Op | Mean/max pool">
            <a:extLst>
              <a:ext uri="{FF2B5EF4-FFF2-40B4-BE49-F238E27FC236}">
                <a16:creationId xmlns:a16="http://schemas.microsoft.com/office/drawing/2014/main" id="{C4850A78-C957-EF45-0669-F1FA2501E311}"/>
              </a:ext>
            </a:extLst>
          </p:cNvPr>
          <p:cNvSpPr/>
          <p:nvPr/>
        </p:nvSpPr>
        <p:spPr>
          <a:xfrm>
            <a:off x="669841" y="3452879"/>
            <a:ext cx="617009"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Mean/max pool</a:t>
            </a:r>
          </a:p>
        </p:txBody>
      </p:sp>
      <p:sp>
        <p:nvSpPr>
          <p:cNvPr id="645" name="Op | Cross-attention">
            <a:extLst>
              <a:ext uri="{FF2B5EF4-FFF2-40B4-BE49-F238E27FC236}">
                <a16:creationId xmlns:a16="http://schemas.microsoft.com/office/drawing/2014/main" id="{11FEE5AE-99F9-B083-0D93-CFC8DBD07D63}"/>
              </a:ext>
            </a:extLst>
          </p:cNvPr>
          <p:cNvSpPr/>
          <p:nvPr/>
        </p:nvSpPr>
        <p:spPr>
          <a:xfrm>
            <a:off x="1365954" y="3452879"/>
            <a:ext cx="648651"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Cross-attention</a:t>
            </a:r>
          </a:p>
        </p:txBody>
      </p:sp>
      <p:sp>
        <p:nvSpPr>
          <p:cNvPr id="646" name="TextBox 12200">
            <a:extLst>
              <a:ext uri="{FF2B5EF4-FFF2-40B4-BE49-F238E27FC236}">
                <a16:creationId xmlns:a16="http://schemas.microsoft.com/office/drawing/2014/main" id="{884D8F93-171F-A6AB-A603-7E1006874447}"/>
              </a:ext>
            </a:extLst>
          </p:cNvPr>
          <p:cNvSpPr txBox="1"/>
          <p:nvPr/>
        </p:nvSpPr>
        <p:spPr>
          <a:xfrm>
            <a:off x="1735251" y="3370950"/>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647" name="Op | FiLM">
            <a:extLst>
              <a:ext uri="{FF2B5EF4-FFF2-40B4-BE49-F238E27FC236}">
                <a16:creationId xmlns:a16="http://schemas.microsoft.com/office/drawing/2014/main" id="{59F3449A-984C-C7E7-FC02-0C47B43E0DFD}"/>
              </a:ext>
            </a:extLst>
          </p:cNvPr>
          <p:cNvSpPr/>
          <p:nvPr/>
        </p:nvSpPr>
        <p:spPr>
          <a:xfrm>
            <a:off x="2156994" y="3738251"/>
            <a:ext cx="300518" cy="150259"/>
          </a:xfrm>
          <a:prstGeom prst="roundRect">
            <a:avLst>
              <a:gd name="adj" fmla="val 25000"/>
            </a:avLst>
          </a:prstGeom>
          <a:solidFill>
            <a:srgbClr val="EDE7F5"/>
          </a:solidFill>
          <a:ln w="7290">
            <a:solidFill>
              <a:srgbClr val="B8A9D9"/>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623">
                <a:solidFill>
                  <a:srgbClr val="263442"/>
                </a:solidFill>
                <a:latin typeface="Arial"/>
              </a:rPr>
              <a:t>FiLM</a:t>
            </a:r>
          </a:p>
        </p:txBody>
      </p:sp>
      <p:sp>
        <p:nvSpPr>
          <p:cNvPr id="648" name="TextBox 12202">
            <a:extLst>
              <a:ext uri="{FF2B5EF4-FFF2-40B4-BE49-F238E27FC236}">
                <a16:creationId xmlns:a16="http://schemas.microsoft.com/office/drawing/2014/main" id="{6F9F40E0-7819-CEA2-6131-C4ABBC19B945}"/>
              </a:ext>
            </a:extLst>
          </p:cNvPr>
          <p:cNvSpPr txBox="1"/>
          <p:nvPr/>
        </p:nvSpPr>
        <p:spPr>
          <a:xfrm>
            <a:off x="2097664" y="3430400"/>
            <a:ext cx="126566" cy="84510"/>
          </a:xfrm>
          <a:prstGeom prst="rect">
            <a:avLst/>
          </a:prstGeom>
          <a:noFill/>
        </p:spPr>
        <p:txBody>
          <a:bodyPr wrap="square" lIns="0" tIns="0" rIns="0" bIns="0" anchor="ctr">
            <a:spAutoFit/>
          </a:bodyPr>
          <a:lstStyle/>
          <a:p>
            <a:pPr algn="ctr">
              <a:lnSpc>
                <a:spcPct val="105000"/>
              </a:lnSpc>
            </a:pPr>
            <a:r>
              <a:rPr sz="562">
                <a:solidFill>
                  <a:srgbClr val="263442"/>
                </a:solidFill>
                <a:latin typeface="Arial"/>
              </a:rPr>
              <a:t>Q</a:t>
            </a:r>
          </a:p>
        </p:txBody>
      </p:sp>
      <p:sp>
        <p:nvSpPr>
          <p:cNvPr id="649" name="Op | MLP">
            <a:extLst>
              <a:ext uri="{FF2B5EF4-FFF2-40B4-BE49-F238E27FC236}">
                <a16:creationId xmlns:a16="http://schemas.microsoft.com/office/drawing/2014/main" id="{554F5441-96D3-CFD3-6A6E-CA8C906F4B29}"/>
              </a:ext>
            </a:extLst>
          </p:cNvPr>
          <p:cNvSpPr/>
          <p:nvPr/>
        </p:nvSpPr>
        <p:spPr>
          <a:xfrm>
            <a:off x="1160262" y="3738251"/>
            <a:ext cx="347904" cy="150259"/>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MLP</a:t>
            </a:r>
          </a:p>
        </p:txBody>
      </p:sp>
      <p:sp>
        <p:nvSpPr>
          <p:cNvPr id="650" name="h_j bar_1">
            <a:extLst>
              <a:ext uri="{FF2B5EF4-FFF2-40B4-BE49-F238E27FC236}">
                <a16:creationId xmlns:a16="http://schemas.microsoft.com/office/drawing/2014/main" id="{99BF7016-0AEC-5CA1-43D0-0CC405933ADD}"/>
              </a:ext>
            </a:extLst>
          </p:cNvPr>
          <p:cNvSpPr/>
          <p:nvPr/>
        </p:nvSpPr>
        <p:spPr>
          <a:xfrm>
            <a:off x="2141171" y="3989994"/>
            <a:ext cx="44072" cy="56955"/>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1" name="h_j bar_2">
            <a:extLst>
              <a:ext uri="{FF2B5EF4-FFF2-40B4-BE49-F238E27FC236}">
                <a16:creationId xmlns:a16="http://schemas.microsoft.com/office/drawing/2014/main" id="{71708831-906F-DB31-D516-DA6520DB6B6E}"/>
              </a:ext>
            </a:extLst>
          </p:cNvPr>
          <p:cNvSpPr/>
          <p:nvPr/>
        </p:nvSpPr>
        <p:spPr>
          <a:xfrm>
            <a:off x="2189198" y="3989994"/>
            <a:ext cx="44072" cy="56955"/>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2" name="h_j bar_3">
            <a:extLst>
              <a:ext uri="{FF2B5EF4-FFF2-40B4-BE49-F238E27FC236}">
                <a16:creationId xmlns:a16="http://schemas.microsoft.com/office/drawing/2014/main" id="{E1CF9CE6-644D-2199-D558-FB2748AF4CA8}"/>
              </a:ext>
            </a:extLst>
          </p:cNvPr>
          <p:cNvSpPr/>
          <p:nvPr/>
        </p:nvSpPr>
        <p:spPr>
          <a:xfrm>
            <a:off x="2237225" y="3989994"/>
            <a:ext cx="44072" cy="56955"/>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3" name="h_j bar_4">
            <a:extLst>
              <a:ext uri="{FF2B5EF4-FFF2-40B4-BE49-F238E27FC236}">
                <a16:creationId xmlns:a16="http://schemas.microsoft.com/office/drawing/2014/main" id="{0B1E11C4-B6B0-8410-69CA-ECA06B016C11}"/>
              </a:ext>
            </a:extLst>
          </p:cNvPr>
          <p:cNvSpPr/>
          <p:nvPr/>
        </p:nvSpPr>
        <p:spPr>
          <a:xfrm>
            <a:off x="2285253" y="3989994"/>
            <a:ext cx="44072" cy="56955"/>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4" name="h_j bar_5">
            <a:extLst>
              <a:ext uri="{FF2B5EF4-FFF2-40B4-BE49-F238E27FC236}">
                <a16:creationId xmlns:a16="http://schemas.microsoft.com/office/drawing/2014/main" id="{2A27D763-25D4-1A48-A9AB-8AE10B5867F3}"/>
              </a:ext>
            </a:extLst>
          </p:cNvPr>
          <p:cNvSpPr/>
          <p:nvPr/>
        </p:nvSpPr>
        <p:spPr>
          <a:xfrm>
            <a:off x="2333281" y="3989994"/>
            <a:ext cx="44072" cy="56955"/>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5" name="h_j bar_6">
            <a:extLst>
              <a:ext uri="{FF2B5EF4-FFF2-40B4-BE49-F238E27FC236}">
                <a16:creationId xmlns:a16="http://schemas.microsoft.com/office/drawing/2014/main" id="{CC2DBA64-D0DF-1160-5FEF-C265BF4EAB35}"/>
              </a:ext>
            </a:extLst>
          </p:cNvPr>
          <p:cNvSpPr/>
          <p:nvPr/>
        </p:nvSpPr>
        <p:spPr>
          <a:xfrm>
            <a:off x="2381308" y="3989994"/>
            <a:ext cx="44072" cy="56955"/>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6" name="h_j bar_7">
            <a:extLst>
              <a:ext uri="{FF2B5EF4-FFF2-40B4-BE49-F238E27FC236}">
                <a16:creationId xmlns:a16="http://schemas.microsoft.com/office/drawing/2014/main" id="{3E031F7D-E2D9-9D11-0526-4D352C453584}"/>
              </a:ext>
            </a:extLst>
          </p:cNvPr>
          <p:cNvSpPr/>
          <p:nvPr/>
        </p:nvSpPr>
        <p:spPr>
          <a:xfrm>
            <a:off x="2429335" y="3989994"/>
            <a:ext cx="44072" cy="56955"/>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7" name="Math | h_j^">
            <a:extLst>
              <a:ext uri="{FF2B5EF4-FFF2-40B4-BE49-F238E27FC236}">
                <a16:creationId xmlns:a16="http://schemas.microsoft.com/office/drawing/2014/main" id="{9AC920D3-16D2-273E-04D3-53357E82FB0E}"/>
              </a:ext>
            </a:extLst>
          </p:cNvPr>
          <p:cNvSpPr txBox="1"/>
          <p:nvPr/>
        </p:nvSpPr>
        <p:spPr>
          <a:xfrm>
            <a:off x="2026801" y="3947306"/>
            <a:ext cx="70532" cy="126509"/>
          </a:xfrm>
          <a:prstGeom prst="rect">
            <a:avLst/>
          </a:prstGeom>
          <a:noFill/>
        </p:spPr>
        <p:txBody>
          <a:bodyPr wrap="none" lIns="0" tIns="0" rIns="0" bIns="0" anchor="ctr">
            <a:spAutoFit/>
          </a:bodyPr>
          <a:lstStyle/>
          <a:p>
            <a:pPr algn="ctr"/>
            <a:r>
              <a:rPr sz="855" i="1">
                <a:solidFill>
                  <a:srgbClr val="263442"/>
                </a:solidFill>
                <a:latin typeface="Times New Roman"/>
              </a:rPr>
              <a:t>h</a:t>
            </a:r>
            <a:r>
              <a:rPr sz="780" i="1" baseline="-28000">
                <a:solidFill>
                  <a:srgbClr val="263442"/>
                </a:solidFill>
                <a:latin typeface="Times New Roman"/>
              </a:rPr>
              <a:t>j</a:t>
            </a:r>
          </a:p>
        </p:txBody>
      </p:sp>
      <p:sp>
        <p:nvSpPr>
          <p:cNvPr id="658" name="Op | Foreground head">
            <a:extLst>
              <a:ext uri="{FF2B5EF4-FFF2-40B4-BE49-F238E27FC236}">
                <a16:creationId xmlns:a16="http://schemas.microsoft.com/office/drawing/2014/main" id="{772C4BD8-070D-6A2C-3C5B-CCE55BD09041}"/>
              </a:ext>
            </a:extLst>
          </p:cNvPr>
          <p:cNvSpPr/>
          <p:nvPr/>
        </p:nvSpPr>
        <p:spPr>
          <a:xfrm>
            <a:off x="756855" y="4181937"/>
            <a:ext cx="696113"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Foreground head</a:t>
            </a:r>
          </a:p>
        </p:txBody>
      </p:sp>
      <p:sp>
        <p:nvSpPr>
          <p:cNvPr id="659" name="Math | p_j^fg">
            <a:extLst>
              <a:ext uri="{FF2B5EF4-FFF2-40B4-BE49-F238E27FC236}">
                <a16:creationId xmlns:a16="http://schemas.microsoft.com/office/drawing/2014/main" id="{04752E8A-9FFA-1739-18D7-365FF5D9A529}"/>
              </a:ext>
            </a:extLst>
          </p:cNvPr>
          <p:cNvSpPr txBox="1"/>
          <p:nvPr/>
        </p:nvSpPr>
        <p:spPr>
          <a:xfrm>
            <a:off x="1758300" y="4176444"/>
            <a:ext cx="121828" cy="122341"/>
          </a:xfrm>
          <a:prstGeom prst="rect">
            <a:avLst/>
          </a:prstGeom>
          <a:noFill/>
        </p:spPr>
        <p:txBody>
          <a:bodyPr wrap="none" lIns="0" tIns="0" rIns="0" bIns="0" anchor="ctr">
            <a:spAutoFit/>
          </a:bodyPr>
          <a:lstStyle/>
          <a:p>
            <a:pPr algn="ctr"/>
            <a:r>
              <a:rPr sz="827" i="1" dirty="0" err="1">
                <a:solidFill>
                  <a:srgbClr val="263442"/>
                </a:solidFill>
                <a:latin typeface="Times New Roman"/>
              </a:rPr>
              <a:t>p</a:t>
            </a:r>
            <a:r>
              <a:rPr sz="780" i="1" baseline="-28000" dirty="0" err="1">
                <a:solidFill>
                  <a:srgbClr val="263442"/>
                </a:solidFill>
                <a:latin typeface="Times New Roman"/>
              </a:rPr>
              <a:t>j</a:t>
            </a:r>
            <a:r>
              <a:rPr sz="780" baseline="32000" dirty="0" err="1">
                <a:solidFill>
                  <a:srgbClr val="263442"/>
                </a:solidFill>
                <a:latin typeface="Arial"/>
              </a:rPr>
              <a:t>fg</a:t>
            </a:r>
            <a:endParaRPr sz="780" baseline="32000" dirty="0">
              <a:solidFill>
                <a:srgbClr val="263442"/>
              </a:solidFill>
              <a:latin typeface="Arial"/>
            </a:endParaRPr>
          </a:p>
        </p:txBody>
      </p:sp>
      <p:sp>
        <p:nvSpPr>
          <p:cNvPr id="660" name="TextBox 12215">
            <a:extLst>
              <a:ext uri="{FF2B5EF4-FFF2-40B4-BE49-F238E27FC236}">
                <a16:creationId xmlns:a16="http://schemas.microsoft.com/office/drawing/2014/main" id="{C45D4B31-EE62-7047-2BD0-7D7B985DADC4}"/>
              </a:ext>
            </a:extLst>
          </p:cNvPr>
          <p:cNvSpPr txBox="1"/>
          <p:nvPr/>
        </p:nvSpPr>
        <p:spPr>
          <a:xfrm>
            <a:off x="1489562" y="4310121"/>
            <a:ext cx="666849" cy="79445"/>
          </a:xfrm>
          <a:prstGeom prst="rect">
            <a:avLst/>
          </a:prstGeom>
          <a:noFill/>
        </p:spPr>
        <p:txBody>
          <a:bodyPr wrap="none" lIns="0" tIns="0" rIns="0" bIns="0" anchor="ctr">
            <a:spAutoFit/>
          </a:bodyPr>
          <a:lstStyle/>
          <a:p>
            <a:pPr algn="l">
              <a:lnSpc>
                <a:spcPct val="105000"/>
              </a:lnSpc>
            </a:pPr>
            <a:r>
              <a:rPr sz="528" dirty="0">
                <a:solidFill>
                  <a:srgbClr val="263442"/>
                </a:solidFill>
                <a:latin typeface="Arial"/>
              </a:rPr>
              <a:t>Foreground probability</a:t>
            </a:r>
          </a:p>
        </p:txBody>
      </p:sp>
      <p:sp>
        <p:nvSpPr>
          <p:cNvPr id="661" name="TextBox 12216">
            <a:extLst>
              <a:ext uri="{FF2B5EF4-FFF2-40B4-BE49-F238E27FC236}">
                <a16:creationId xmlns:a16="http://schemas.microsoft.com/office/drawing/2014/main" id="{978E7CF5-ACF2-460D-26F2-9B198BAAC63B}"/>
              </a:ext>
            </a:extLst>
          </p:cNvPr>
          <p:cNvSpPr txBox="1"/>
          <p:nvPr/>
        </p:nvSpPr>
        <p:spPr>
          <a:xfrm>
            <a:off x="3026355" y="2206291"/>
            <a:ext cx="1195840" cy="88422"/>
          </a:xfrm>
          <a:prstGeom prst="rect">
            <a:avLst/>
          </a:prstGeom>
          <a:noFill/>
        </p:spPr>
        <p:txBody>
          <a:bodyPr wrap="none" lIns="0" tIns="0" rIns="0" bIns="0" anchor="ctr">
            <a:spAutoFit/>
          </a:bodyPr>
          <a:lstStyle/>
          <a:p>
            <a:pPr algn="ctr">
              <a:lnSpc>
                <a:spcPct val="105000"/>
              </a:lnSpc>
            </a:pPr>
            <a:r>
              <a:rPr sz="588">
                <a:solidFill>
                  <a:srgbClr val="263442"/>
                </a:solidFill>
                <a:latin typeface="Arial"/>
              </a:rPr>
              <a:t>User-provided SMILES · same PDB</a:t>
            </a:r>
          </a:p>
        </p:txBody>
      </p:sp>
      <p:sp>
        <p:nvSpPr>
          <p:cNvPr id="662" name="Identity | SMILES list card">
            <a:extLst>
              <a:ext uri="{FF2B5EF4-FFF2-40B4-BE49-F238E27FC236}">
                <a16:creationId xmlns:a16="http://schemas.microsoft.com/office/drawing/2014/main" id="{7DA7890B-AB79-9717-CAA6-1EEE08F32188}"/>
              </a:ext>
            </a:extLst>
          </p:cNvPr>
          <p:cNvSpPr/>
          <p:nvPr/>
        </p:nvSpPr>
        <p:spPr>
          <a:xfrm>
            <a:off x="3205025" y="2309830"/>
            <a:ext cx="838500" cy="512745"/>
          </a:xfrm>
          <a:prstGeom prst="roundRect">
            <a:avLst>
              <a:gd name="adj" fmla="val 6000"/>
            </a:avLst>
          </a:prstGeom>
          <a:solidFill>
            <a:srgbClr val="FFFFFF"/>
          </a:solidFill>
          <a:ln w="7290">
            <a:solidFill>
              <a:srgbClr val="CBD6E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3" name="TextBox 12218">
            <a:extLst>
              <a:ext uri="{FF2B5EF4-FFF2-40B4-BE49-F238E27FC236}">
                <a16:creationId xmlns:a16="http://schemas.microsoft.com/office/drawing/2014/main" id="{86BB59AD-D134-C7C6-AEC0-14F6157A5F0B}"/>
              </a:ext>
            </a:extLst>
          </p:cNvPr>
          <p:cNvSpPr txBox="1"/>
          <p:nvPr/>
        </p:nvSpPr>
        <p:spPr>
          <a:xfrm>
            <a:off x="3260398" y="2338063"/>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1   CCO</a:t>
            </a:r>
          </a:p>
        </p:txBody>
      </p:sp>
      <p:sp>
        <p:nvSpPr>
          <p:cNvPr id="664" name="TextBox 12219">
            <a:extLst>
              <a:ext uri="{FF2B5EF4-FFF2-40B4-BE49-F238E27FC236}">
                <a16:creationId xmlns:a16="http://schemas.microsoft.com/office/drawing/2014/main" id="{D5CEF1E2-0003-83A9-6C8B-869DF460C92C}"/>
              </a:ext>
            </a:extLst>
          </p:cNvPr>
          <p:cNvSpPr txBox="1"/>
          <p:nvPr/>
        </p:nvSpPr>
        <p:spPr>
          <a:xfrm>
            <a:off x="3260398" y="2440897"/>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2   CC(=O)O</a:t>
            </a:r>
          </a:p>
        </p:txBody>
      </p:sp>
      <p:sp>
        <p:nvSpPr>
          <p:cNvPr id="665" name="Identity | Selected k pill">
            <a:extLst>
              <a:ext uri="{FF2B5EF4-FFF2-40B4-BE49-F238E27FC236}">
                <a16:creationId xmlns:a16="http://schemas.microsoft.com/office/drawing/2014/main" id="{484884C0-9180-67EB-D183-0D32CB2F3899}"/>
              </a:ext>
            </a:extLst>
          </p:cNvPr>
          <p:cNvSpPr/>
          <p:nvPr/>
        </p:nvSpPr>
        <p:spPr>
          <a:xfrm>
            <a:off x="3236667" y="2562853"/>
            <a:ext cx="775217" cy="118656"/>
          </a:xfrm>
          <a:prstGeom prst="roundRect">
            <a:avLst>
              <a:gd name="adj" fmla="val 18000"/>
            </a:avLst>
          </a:prstGeom>
          <a:solidFill>
            <a:srgbClr val="DCFCE7"/>
          </a:solidFill>
          <a:ln w="8890">
            <a:solidFill>
              <a:srgbClr val="3E997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6" name="TextBox 12222">
            <a:extLst>
              <a:ext uri="{FF2B5EF4-FFF2-40B4-BE49-F238E27FC236}">
                <a16:creationId xmlns:a16="http://schemas.microsoft.com/office/drawing/2014/main" id="{AF18D027-6125-FBDF-9BCD-9060B5C5E099}"/>
              </a:ext>
            </a:extLst>
          </p:cNvPr>
          <p:cNvSpPr txBox="1"/>
          <p:nvPr/>
        </p:nvSpPr>
        <p:spPr>
          <a:xfrm>
            <a:off x="3268308" y="2585570"/>
            <a:ext cx="71193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k   Cc1ccccc1</a:t>
            </a:r>
          </a:p>
        </p:txBody>
      </p:sp>
      <p:sp>
        <p:nvSpPr>
          <p:cNvPr id="667" name="TextBox 12224">
            <a:extLst>
              <a:ext uri="{FF2B5EF4-FFF2-40B4-BE49-F238E27FC236}">
                <a16:creationId xmlns:a16="http://schemas.microsoft.com/office/drawing/2014/main" id="{4F02AD2D-3369-26A3-6D2F-44659C880CB7}"/>
              </a:ext>
            </a:extLst>
          </p:cNvPr>
          <p:cNvSpPr txBox="1"/>
          <p:nvPr/>
        </p:nvSpPr>
        <p:spPr>
          <a:xfrm>
            <a:off x="3260398" y="2714369"/>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K   CC(N)=O</a:t>
            </a:r>
          </a:p>
        </p:txBody>
      </p:sp>
      <p:sp>
        <p:nvSpPr>
          <p:cNvPr id="668" name="TextBox 12225">
            <a:extLst>
              <a:ext uri="{FF2B5EF4-FFF2-40B4-BE49-F238E27FC236}">
                <a16:creationId xmlns:a16="http://schemas.microsoft.com/office/drawing/2014/main" id="{3E613D72-90CB-62FD-E861-8FE6E2F065B8}"/>
              </a:ext>
            </a:extLst>
          </p:cNvPr>
          <p:cNvSpPr txBox="1"/>
          <p:nvPr/>
        </p:nvSpPr>
        <p:spPr>
          <a:xfrm>
            <a:off x="2741172" y="2643822"/>
            <a:ext cx="181140" cy="80599"/>
          </a:xfrm>
          <a:prstGeom prst="rect">
            <a:avLst/>
          </a:prstGeom>
          <a:noFill/>
        </p:spPr>
        <p:txBody>
          <a:bodyPr wrap="none" lIns="0" tIns="0" rIns="0" bIns="0" anchor="ctr">
            <a:spAutoFit/>
          </a:bodyPr>
          <a:lstStyle/>
          <a:p>
            <a:pPr algn="l">
              <a:lnSpc>
                <a:spcPct val="105000"/>
              </a:lnSpc>
            </a:pPr>
            <a:r>
              <a:rPr sz="536" dirty="0" err="1">
                <a:solidFill>
                  <a:srgbClr val="263442"/>
                </a:solidFill>
                <a:latin typeface="Arial"/>
              </a:rPr>
              <a:t>RDKit</a:t>
            </a:r>
            <a:endParaRPr sz="536" dirty="0">
              <a:solidFill>
                <a:srgbClr val="263442"/>
              </a:solidFill>
              <a:latin typeface="Arial"/>
            </a:endParaRPr>
          </a:p>
        </p:txBody>
      </p:sp>
      <p:grpSp>
        <p:nvGrpSpPr>
          <p:cNvPr id="669" name="Identity | Own molecular graph">
            <a:extLst>
              <a:ext uri="{FF2B5EF4-FFF2-40B4-BE49-F238E27FC236}">
                <a16:creationId xmlns:a16="http://schemas.microsoft.com/office/drawing/2014/main" id="{683652C7-CC94-2A9C-935C-36CF7B7EB5E8}"/>
              </a:ext>
            </a:extLst>
          </p:cNvPr>
          <p:cNvGrpSpPr/>
          <p:nvPr/>
        </p:nvGrpSpPr>
        <p:grpSpPr>
          <a:xfrm>
            <a:off x="2817417" y="2888431"/>
            <a:ext cx="284773" cy="171742"/>
            <a:chOff x="3366271" y="3721905"/>
            <a:chExt cx="311024" cy="187573"/>
          </a:xfrm>
        </p:grpSpPr>
        <p:cxnSp>
          <p:nvCxnSpPr>
            <p:cNvPr id="670" name="path_2698">
              <a:extLst>
                <a:ext uri="{FF2B5EF4-FFF2-40B4-BE49-F238E27FC236}">
                  <a16:creationId xmlns:a16="http://schemas.microsoft.com/office/drawing/2014/main" id="{08C9C74A-0B12-2E3C-023F-C3DCDEFB7AF1}"/>
                </a:ext>
              </a:extLst>
            </p:cNvPr>
            <p:cNvCxnSpPr/>
            <p:nvPr/>
          </p:nvCxnSpPr>
          <p:spPr>
            <a:xfrm flipV="1">
              <a:off x="3381053" y="3736688"/>
              <a:ext cx="63663" cy="70463"/>
            </a:xfrm>
            <a:prstGeom prst="line">
              <a:avLst/>
            </a:prstGeom>
            <a:noFill/>
            <a:ln w="5256" cap="rnd" cmpd="sng" algn="ctr">
              <a:solidFill>
                <a:srgbClr val="238777"/>
              </a:solidFill>
              <a:prstDash val="solid"/>
              <a:round/>
              <a:headEnd type="none" w="med" len="med"/>
              <a:tailEnd type="none" w="med" len="med"/>
            </a:ln>
            <a:effectLst/>
          </p:spPr>
        </p:cxnSp>
        <p:cxnSp>
          <p:nvCxnSpPr>
            <p:cNvPr id="671" name="path_2699">
              <a:extLst>
                <a:ext uri="{FF2B5EF4-FFF2-40B4-BE49-F238E27FC236}">
                  <a16:creationId xmlns:a16="http://schemas.microsoft.com/office/drawing/2014/main" id="{1CF65ECB-9AC9-C310-5460-0B86FF6B2BC5}"/>
                </a:ext>
              </a:extLst>
            </p:cNvPr>
            <p:cNvCxnSpPr/>
            <p:nvPr/>
          </p:nvCxnSpPr>
          <p:spPr>
            <a:xfrm>
              <a:off x="3444717" y="3736688"/>
              <a:ext cx="113924" cy="14947"/>
            </a:xfrm>
            <a:prstGeom prst="line">
              <a:avLst/>
            </a:prstGeom>
            <a:noFill/>
            <a:ln w="5256" cap="rnd" cmpd="sng" algn="ctr">
              <a:solidFill>
                <a:srgbClr val="238777"/>
              </a:solidFill>
              <a:prstDash val="solid"/>
              <a:round/>
              <a:headEnd type="none" w="med" len="med"/>
              <a:tailEnd type="none" w="med" len="med"/>
            </a:ln>
            <a:effectLst/>
          </p:spPr>
        </p:cxnSp>
        <p:cxnSp>
          <p:nvCxnSpPr>
            <p:cNvPr id="672" name="path_2700">
              <a:extLst>
                <a:ext uri="{FF2B5EF4-FFF2-40B4-BE49-F238E27FC236}">
                  <a16:creationId xmlns:a16="http://schemas.microsoft.com/office/drawing/2014/main" id="{47F0AAAA-D782-D4D4-41E7-7304CCE8D568}"/>
                </a:ext>
              </a:extLst>
            </p:cNvPr>
            <p:cNvCxnSpPr/>
            <p:nvPr/>
          </p:nvCxnSpPr>
          <p:spPr>
            <a:xfrm>
              <a:off x="3558640" y="3751634"/>
              <a:ext cx="73715" cy="64058"/>
            </a:xfrm>
            <a:prstGeom prst="line">
              <a:avLst/>
            </a:prstGeom>
            <a:noFill/>
            <a:ln w="5256" cap="rnd" cmpd="sng" algn="ctr">
              <a:solidFill>
                <a:srgbClr val="238777"/>
              </a:solidFill>
              <a:prstDash val="solid"/>
              <a:round/>
              <a:headEnd type="none" w="med" len="med"/>
              <a:tailEnd type="none" w="med" len="med"/>
            </a:ln>
            <a:effectLst/>
          </p:spPr>
        </p:cxnSp>
        <p:cxnSp>
          <p:nvCxnSpPr>
            <p:cNvPr id="673" name="path_2701">
              <a:extLst>
                <a:ext uri="{FF2B5EF4-FFF2-40B4-BE49-F238E27FC236}">
                  <a16:creationId xmlns:a16="http://schemas.microsoft.com/office/drawing/2014/main" id="{672DEF92-FEF6-A8B8-A079-671D6D70071E}"/>
                </a:ext>
              </a:extLst>
            </p:cNvPr>
            <p:cNvCxnSpPr/>
            <p:nvPr/>
          </p:nvCxnSpPr>
          <p:spPr>
            <a:xfrm flipH="1">
              <a:off x="3561991" y="3815692"/>
              <a:ext cx="70365" cy="79004"/>
            </a:xfrm>
            <a:prstGeom prst="line">
              <a:avLst/>
            </a:prstGeom>
            <a:noFill/>
            <a:ln w="5256" cap="rnd" cmpd="sng" algn="ctr">
              <a:solidFill>
                <a:srgbClr val="238777"/>
              </a:solidFill>
              <a:prstDash val="solid"/>
              <a:round/>
              <a:headEnd type="none" w="med" len="med"/>
              <a:tailEnd type="none" w="med" len="med"/>
            </a:ln>
            <a:effectLst/>
          </p:spPr>
        </p:cxnSp>
        <p:cxnSp>
          <p:nvCxnSpPr>
            <p:cNvPr id="674" name="path_2702">
              <a:extLst>
                <a:ext uri="{FF2B5EF4-FFF2-40B4-BE49-F238E27FC236}">
                  <a16:creationId xmlns:a16="http://schemas.microsoft.com/office/drawing/2014/main" id="{B02A38E3-8AB1-C1CA-A784-7A02E63B2D09}"/>
                </a:ext>
              </a:extLst>
            </p:cNvPr>
            <p:cNvCxnSpPr/>
            <p:nvPr/>
          </p:nvCxnSpPr>
          <p:spPr>
            <a:xfrm flipH="1" flipV="1">
              <a:off x="3444717" y="3875479"/>
              <a:ext cx="117275" cy="19217"/>
            </a:xfrm>
            <a:prstGeom prst="line">
              <a:avLst/>
            </a:prstGeom>
            <a:noFill/>
            <a:ln w="5256" cap="rnd" cmpd="sng" algn="ctr">
              <a:solidFill>
                <a:srgbClr val="238777"/>
              </a:solidFill>
              <a:prstDash val="solid"/>
              <a:round/>
              <a:headEnd type="none" w="med" len="med"/>
              <a:tailEnd type="none" w="med" len="med"/>
            </a:ln>
            <a:effectLst/>
          </p:spPr>
        </p:cxnSp>
        <p:cxnSp>
          <p:nvCxnSpPr>
            <p:cNvPr id="675" name="path_2703">
              <a:extLst>
                <a:ext uri="{FF2B5EF4-FFF2-40B4-BE49-F238E27FC236}">
                  <a16:creationId xmlns:a16="http://schemas.microsoft.com/office/drawing/2014/main" id="{5EB27651-D3BE-22CD-39D8-D428781F5F97}"/>
                </a:ext>
              </a:extLst>
            </p:cNvPr>
            <p:cNvCxnSpPr/>
            <p:nvPr/>
          </p:nvCxnSpPr>
          <p:spPr>
            <a:xfrm flipH="1" flipV="1">
              <a:off x="3381053" y="3807151"/>
              <a:ext cx="63663" cy="68328"/>
            </a:xfrm>
            <a:prstGeom prst="line">
              <a:avLst/>
            </a:prstGeom>
            <a:noFill/>
            <a:ln w="5256" cap="rnd" cmpd="sng" algn="ctr">
              <a:solidFill>
                <a:srgbClr val="238777"/>
              </a:solidFill>
              <a:prstDash val="solid"/>
              <a:round/>
              <a:headEnd type="none" w="med" len="med"/>
              <a:tailEnd type="none" w="med" len="med"/>
            </a:ln>
            <a:effectLst/>
          </p:spPr>
        </p:cxnSp>
        <p:cxnSp>
          <p:nvCxnSpPr>
            <p:cNvPr id="676" name="path_2704">
              <a:extLst>
                <a:ext uri="{FF2B5EF4-FFF2-40B4-BE49-F238E27FC236}">
                  <a16:creationId xmlns:a16="http://schemas.microsoft.com/office/drawing/2014/main" id="{A3592B63-1411-3F57-5878-96E17C30AD75}"/>
                </a:ext>
              </a:extLst>
            </p:cNvPr>
            <p:cNvCxnSpPr/>
            <p:nvPr/>
          </p:nvCxnSpPr>
          <p:spPr>
            <a:xfrm flipV="1">
              <a:off x="3558640" y="3745228"/>
              <a:ext cx="103872" cy="6406"/>
            </a:xfrm>
            <a:prstGeom prst="line">
              <a:avLst/>
            </a:prstGeom>
            <a:noFill/>
            <a:ln w="5256" cap="rnd" cmpd="sng" algn="ctr">
              <a:solidFill>
                <a:srgbClr val="238777"/>
              </a:solidFill>
              <a:prstDash val="solid"/>
              <a:round/>
              <a:headEnd type="none" w="med" len="med"/>
              <a:tailEnd type="none" w="med" len="med"/>
            </a:ln>
            <a:effectLst/>
          </p:spPr>
        </p:cxnSp>
        <p:sp>
          <p:nvSpPr>
            <p:cNvPr id="677" name="ellipse_2705">
              <a:extLst>
                <a:ext uri="{FF2B5EF4-FFF2-40B4-BE49-F238E27FC236}">
                  <a16:creationId xmlns:a16="http://schemas.microsoft.com/office/drawing/2014/main" id="{C3D36D22-8CEB-B663-A605-02E9CFFED0C1}"/>
                </a:ext>
              </a:extLst>
            </p:cNvPr>
            <p:cNvSpPr/>
            <p:nvPr/>
          </p:nvSpPr>
          <p:spPr>
            <a:xfrm>
              <a:off x="3366271" y="3792368"/>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8" name="ellipse_2706">
              <a:extLst>
                <a:ext uri="{FF2B5EF4-FFF2-40B4-BE49-F238E27FC236}">
                  <a16:creationId xmlns:a16="http://schemas.microsoft.com/office/drawing/2014/main" id="{1F86BCBC-B96E-6EC5-AC9B-22A20629DF0F}"/>
                </a:ext>
              </a:extLst>
            </p:cNvPr>
            <p:cNvSpPr/>
            <p:nvPr/>
          </p:nvSpPr>
          <p:spPr>
            <a:xfrm>
              <a:off x="3429934" y="3721905"/>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9" name="ellipse_2707">
              <a:extLst>
                <a:ext uri="{FF2B5EF4-FFF2-40B4-BE49-F238E27FC236}">
                  <a16:creationId xmlns:a16="http://schemas.microsoft.com/office/drawing/2014/main" id="{0D7ED534-2755-74EA-6149-4A7E3A7E8992}"/>
                </a:ext>
              </a:extLst>
            </p:cNvPr>
            <p:cNvSpPr/>
            <p:nvPr/>
          </p:nvSpPr>
          <p:spPr>
            <a:xfrm>
              <a:off x="3543858" y="3736852"/>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0" name="ellipse_2708">
              <a:extLst>
                <a:ext uri="{FF2B5EF4-FFF2-40B4-BE49-F238E27FC236}">
                  <a16:creationId xmlns:a16="http://schemas.microsoft.com/office/drawing/2014/main" id="{01CC7294-C7B5-D1A4-A138-902105284B89}"/>
                </a:ext>
              </a:extLst>
            </p:cNvPr>
            <p:cNvSpPr/>
            <p:nvPr/>
          </p:nvSpPr>
          <p:spPr>
            <a:xfrm>
              <a:off x="3617573" y="3800909"/>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1" name="ellipse_2709">
              <a:extLst>
                <a:ext uri="{FF2B5EF4-FFF2-40B4-BE49-F238E27FC236}">
                  <a16:creationId xmlns:a16="http://schemas.microsoft.com/office/drawing/2014/main" id="{80734E48-9DE8-B4FD-D0D4-D53693BBEADF}"/>
                </a:ext>
              </a:extLst>
            </p:cNvPr>
            <p:cNvSpPr/>
            <p:nvPr/>
          </p:nvSpPr>
          <p:spPr>
            <a:xfrm>
              <a:off x="3547209" y="3879913"/>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2" name="ellipse_2710">
              <a:extLst>
                <a:ext uri="{FF2B5EF4-FFF2-40B4-BE49-F238E27FC236}">
                  <a16:creationId xmlns:a16="http://schemas.microsoft.com/office/drawing/2014/main" id="{3DB6F677-E1A0-2C7D-CADD-FB389865F633}"/>
                </a:ext>
              </a:extLst>
            </p:cNvPr>
            <p:cNvSpPr/>
            <p:nvPr/>
          </p:nvSpPr>
          <p:spPr>
            <a:xfrm>
              <a:off x="3429934" y="386069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3" name="ellipse_2711">
              <a:extLst>
                <a:ext uri="{FF2B5EF4-FFF2-40B4-BE49-F238E27FC236}">
                  <a16:creationId xmlns:a16="http://schemas.microsoft.com/office/drawing/2014/main" id="{D105DBC9-3C6D-0576-1E95-E04BFA9EB1EF}"/>
                </a:ext>
              </a:extLst>
            </p:cNvPr>
            <p:cNvSpPr/>
            <p:nvPr/>
          </p:nvSpPr>
          <p:spPr>
            <a:xfrm>
              <a:off x="3647730" y="373044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grpSp>
      <p:sp>
        <p:nvSpPr>
          <p:cNvPr id="684" name="TextBox 12226">
            <a:extLst>
              <a:ext uri="{FF2B5EF4-FFF2-40B4-BE49-F238E27FC236}">
                <a16:creationId xmlns:a16="http://schemas.microsoft.com/office/drawing/2014/main" id="{43DBD103-E22F-DA52-F0ED-122A5CA41D61}"/>
              </a:ext>
            </a:extLst>
          </p:cNvPr>
          <p:cNvSpPr txBox="1"/>
          <p:nvPr/>
        </p:nvSpPr>
        <p:spPr>
          <a:xfrm>
            <a:off x="2791488" y="3080344"/>
            <a:ext cx="336631" cy="80599"/>
          </a:xfrm>
          <a:prstGeom prst="rect">
            <a:avLst/>
          </a:prstGeom>
          <a:noFill/>
        </p:spPr>
        <p:txBody>
          <a:bodyPr wrap="none" lIns="0" tIns="0" rIns="0" bIns="0" anchor="ctr">
            <a:spAutoFit/>
          </a:bodyPr>
          <a:lstStyle/>
          <a:p>
            <a:pPr algn="ctr">
              <a:lnSpc>
                <a:spcPct val="105000"/>
              </a:lnSpc>
            </a:pPr>
            <a:r>
              <a:rPr sz="536">
                <a:solidFill>
                  <a:srgbClr val="263442"/>
                </a:solidFill>
                <a:latin typeface="Arial"/>
              </a:rPr>
              <a:t>Own graph</a:t>
            </a:r>
          </a:p>
        </p:txBody>
      </p:sp>
      <p:sp>
        <p:nvSpPr>
          <p:cNvPr id="685" name="Op | GNN">
            <a:extLst>
              <a:ext uri="{FF2B5EF4-FFF2-40B4-BE49-F238E27FC236}">
                <a16:creationId xmlns:a16="http://schemas.microsoft.com/office/drawing/2014/main" id="{98330FF3-2E5A-32C3-D33C-D78225E1943D}"/>
              </a:ext>
            </a:extLst>
          </p:cNvPr>
          <p:cNvSpPr/>
          <p:nvPr/>
        </p:nvSpPr>
        <p:spPr>
          <a:xfrm>
            <a:off x="2777865" y="3239299"/>
            <a:ext cx="363877"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GNN</a:t>
            </a:r>
          </a:p>
        </p:txBody>
      </p:sp>
      <p:sp>
        <p:nvSpPr>
          <p:cNvPr id="686" name="TextBox 12228">
            <a:extLst>
              <a:ext uri="{FF2B5EF4-FFF2-40B4-BE49-F238E27FC236}">
                <a16:creationId xmlns:a16="http://schemas.microsoft.com/office/drawing/2014/main" id="{26538413-3AE9-9872-D0A6-0AEA9E6FF809}"/>
              </a:ext>
            </a:extLst>
          </p:cNvPr>
          <p:cNvSpPr txBox="1"/>
          <p:nvPr/>
        </p:nvSpPr>
        <p:spPr>
          <a:xfrm>
            <a:off x="2991445" y="3388848"/>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687" name="Op | Graph attention">
            <a:extLst>
              <a:ext uri="{FF2B5EF4-FFF2-40B4-BE49-F238E27FC236}">
                <a16:creationId xmlns:a16="http://schemas.microsoft.com/office/drawing/2014/main" id="{5F3701CD-DCA3-D9CA-7FA3-D737E8718A60}"/>
              </a:ext>
            </a:extLst>
          </p:cNvPr>
          <p:cNvSpPr/>
          <p:nvPr/>
        </p:nvSpPr>
        <p:spPr>
          <a:xfrm>
            <a:off x="2651299" y="3500341"/>
            <a:ext cx="617009"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Graph</a:t>
            </a:r>
            <a:r>
              <a:rPr sz="580" dirty="0">
                <a:solidFill>
                  <a:srgbClr val="263442"/>
                </a:solidFill>
                <a:latin typeface="Arial"/>
              </a:rPr>
              <a:t> </a:t>
            </a:r>
            <a:r>
              <a:rPr sz="588" dirty="0">
                <a:solidFill>
                  <a:srgbClr val="263442"/>
                </a:solidFill>
                <a:latin typeface="Arial"/>
              </a:rPr>
              <a:t>attention</a:t>
            </a:r>
          </a:p>
        </p:txBody>
      </p:sp>
      <p:sp>
        <p:nvSpPr>
          <p:cNvPr id="688" name="Op | SMI-TED">
            <a:extLst>
              <a:ext uri="{FF2B5EF4-FFF2-40B4-BE49-F238E27FC236}">
                <a16:creationId xmlns:a16="http://schemas.microsoft.com/office/drawing/2014/main" id="{9F250B16-9768-CC2C-86AF-59769C8EEC4C}"/>
              </a:ext>
            </a:extLst>
          </p:cNvPr>
          <p:cNvSpPr/>
          <p:nvPr/>
        </p:nvSpPr>
        <p:spPr>
          <a:xfrm>
            <a:off x="3413848" y="2971538"/>
            <a:ext cx="427160"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SMI-TED</a:t>
            </a:r>
          </a:p>
        </p:txBody>
      </p:sp>
      <p:sp>
        <p:nvSpPr>
          <p:cNvPr id="689" name="Language vector v_k_1">
            <a:extLst>
              <a:ext uri="{FF2B5EF4-FFF2-40B4-BE49-F238E27FC236}">
                <a16:creationId xmlns:a16="http://schemas.microsoft.com/office/drawing/2014/main" id="{E695888D-D925-5392-2451-D7757F2B6BC7}"/>
              </a:ext>
            </a:extLst>
          </p:cNvPr>
          <p:cNvSpPr/>
          <p:nvPr/>
        </p:nvSpPr>
        <p:spPr>
          <a:xfrm>
            <a:off x="3481889"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0" name="Language vector v_k_2">
            <a:extLst>
              <a:ext uri="{FF2B5EF4-FFF2-40B4-BE49-F238E27FC236}">
                <a16:creationId xmlns:a16="http://schemas.microsoft.com/office/drawing/2014/main" id="{914284BD-BAB8-4AEA-A1F1-E7FC853BC87F}"/>
              </a:ext>
            </a:extLst>
          </p:cNvPr>
          <p:cNvSpPr/>
          <p:nvPr/>
        </p:nvSpPr>
        <p:spPr>
          <a:xfrm>
            <a:off x="3523136"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1" name="Language vector v_k_3">
            <a:extLst>
              <a:ext uri="{FF2B5EF4-FFF2-40B4-BE49-F238E27FC236}">
                <a16:creationId xmlns:a16="http://schemas.microsoft.com/office/drawing/2014/main" id="{A224CED9-3025-4474-CF80-E118B0ACA7AB}"/>
              </a:ext>
            </a:extLst>
          </p:cNvPr>
          <p:cNvSpPr/>
          <p:nvPr/>
        </p:nvSpPr>
        <p:spPr>
          <a:xfrm>
            <a:off x="3564383"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2" name="Language vector v_k_4">
            <a:extLst>
              <a:ext uri="{FF2B5EF4-FFF2-40B4-BE49-F238E27FC236}">
                <a16:creationId xmlns:a16="http://schemas.microsoft.com/office/drawing/2014/main" id="{3641CBF3-C5A5-2DC2-88CA-B3F2C816508D}"/>
              </a:ext>
            </a:extLst>
          </p:cNvPr>
          <p:cNvSpPr/>
          <p:nvPr/>
        </p:nvSpPr>
        <p:spPr>
          <a:xfrm>
            <a:off x="3605630" y="3547013"/>
            <a:ext cx="37291" cy="56955"/>
          </a:xfrm>
          <a:prstGeom prst="rect">
            <a:avLst/>
          </a:prstGeom>
          <a:solidFill>
            <a:srgbClr val="CBE7D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3" name="Language vector v_k_5">
            <a:extLst>
              <a:ext uri="{FF2B5EF4-FFF2-40B4-BE49-F238E27FC236}">
                <a16:creationId xmlns:a16="http://schemas.microsoft.com/office/drawing/2014/main" id="{B6BA4357-39F7-598C-72FA-2FC00B25A10F}"/>
              </a:ext>
            </a:extLst>
          </p:cNvPr>
          <p:cNvSpPr/>
          <p:nvPr/>
        </p:nvSpPr>
        <p:spPr>
          <a:xfrm>
            <a:off x="3646877"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4" name="Language vector v_k_6">
            <a:extLst>
              <a:ext uri="{FF2B5EF4-FFF2-40B4-BE49-F238E27FC236}">
                <a16:creationId xmlns:a16="http://schemas.microsoft.com/office/drawing/2014/main" id="{14F9C08B-08C8-5CC8-21F6-EC42430BFA81}"/>
              </a:ext>
            </a:extLst>
          </p:cNvPr>
          <p:cNvSpPr/>
          <p:nvPr/>
        </p:nvSpPr>
        <p:spPr>
          <a:xfrm>
            <a:off x="3688124"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5" name="Language vector v_k_7">
            <a:extLst>
              <a:ext uri="{FF2B5EF4-FFF2-40B4-BE49-F238E27FC236}">
                <a16:creationId xmlns:a16="http://schemas.microsoft.com/office/drawing/2014/main" id="{52E0E1B7-31F4-244C-BA32-494F415D5F2F}"/>
              </a:ext>
            </a:extLst>
          </p:cNvPr>
          <p:cNvSpPr/>
          <p:nvPr/>
        </p:nvSpPr>
        <p:spPr>
          <a:xfrm>
            <a:off x="3729371"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6" name="TextBox 12239">
            <a:extLst>
              <a:ext uri="{FF2B5EF4-FFF2-40B4-BE49-F238E27FC236}">
                <a16:creationId xmlns:a16="http://schemas.microsoft.com/office/drawing/2014/main" id="{DE6BD61F-48C0-C267-E36F-0AC7BC24100D}"/>
              </a:ext>
            </a:extLst>
          </p:cNvPr>
          <p:cNvSpPr txBox="1"/>
          <p:nvPr/>
        </p:nvSpPr>
        <p:spPr>
          <a:xfrm>
            <a:off x="3307860" y="3475189"/>
            <a:ext cx="126566" cy="81946"/>
          </a:xfrm>
          <a:prstGeom prst="rect">
            <a:avLst/>
          </a:prstGeom>
          <a:noFill/>
        </p:spPr>
        <p:txBody>
          <a:bodyPr wrap="square" lIns="0" tIns="0" rIns="0" bIns="0" anchor="ctr">
            <a:spAutoFit/>
          </a:bodyPr>
          <a:lstStyle/>
          <a:p>
            <a:pPr algn="ctr">
              <a:lnSpc>
                <a:spcPct val="105000"/>
              </a:lnSpc>
            </a:pPr>
            <a:r>
              <a:rPr sz="545" dirty="0">
                <a:solidFill>
                  <a:srgbClr val="263442"/>
                </a:solidFill>
                <a:latin typeface="Arial"/>
              </a:rPr>
              <a:t>Q</a:t>
            </a:r>
          </a:p>
        </p:txBody>
      </p:sp>
      <p:sp>
        <p:nvSpPr>
          <p:cNvPr id="697" name="TextBox 12240">
            <a:extLst>
              <a:ext uri="{FF2B5EF4-FFF2-40B4-BE49-F238E27FC236}">
                <a16:creationId xmlns:a16="http://schemas.microsoft.com/office/drawing/2014/main" id="{2ACBC05C-C556-BA36-3DA9-0D37D9382C06}"/>
              </a:ext>
            </a:extLst>
          </p:cNvPr>
          <p:cNvSpPr txBox="1"/>
          <p:nvPr/>
        </p:nvSpPr>
        <p:spPr>
          <a:xfrm>
            <a:off x="3814124" y="3475189"/>
            <a:ext cx="126566" cy="81946"/>
          </a:xfrm>
          <a:prstGeom prst="rect">
            <a:avLst/>
          </a:prstGeom>
          <a:noFill/>
        </p:spPr>
        <p:txBody>
          <a:bodyPr wrap="square" lIns="0" tIns="0" rIns="0" bIns="0" anchor="ctr">
            <a:spAutoFit/>
          </a:bodyPr>
          <a:lstStyle/>
          <a:p>
            <a:pPr algn="ctr">
              <a:lnSpc>
                <a:spcPct val="105000"/>
              </a:lnSpc>
            </a:pPr>
            <a:r>
              <a:rPr sz="545">
                <a:solidFill>
                  <a:srgbClr val="263442"/>
                </a:solidFill>
                <a:latin typeface="Arial"/>
              </a:rPr>
              <a:t>Q</a:t>
            </a:r>
          </a:p>
        </p:txBody>
      </p:sp>
      <p:sp>
        <p:nvSpPr>
          <p:cNvPr id="698" name="TextBox 12241">
            <a:extLst>
              <a:ext uri="{FF2B5EF4-FFF2-40B4-BE49-F238E27FC236}">
                <a16:creationId xmlns:a16="http://schemas.microsoft.com/office/drawing/2014/main" id="{0B3A68EF-7CF9-A2EB-24B2-085C5BF1F71F}"/>
              </a:ext>
            </a:extLst>
          </p:cNvPr>
          <p:cNvSpPr txBox="1"/>
          <p:nvPr/>
        </p:nvSpPr>
        <p:spPr>
          <a:xfrm>
            <a:off x="4328298" y="2542416"/>
            <a:ext cx="379698" cy="151836"/>
          </a:xfrm>
          <a:prstGeom prst="rect">
            <a:avLst/>
          </a:prstGeom>
          <a:noFill/>
        </p:spPr>
        <p:txBody>
          <a:bodyPr wrap="square" lIns="0" tIns="0" rIns="0" bIns="0" anchor="ctr">
            <a:spAutoFit/>
          </a:bodyPr>
          <a:lstStyle/>
          <a:p>
            <a:pPr algn="l">
              <a:lnSpc>
                <a:spcPct val="95000"/>
              </a:lnSpc>
            </a:pPr>
            <a:r>
              <a:rPr lang="en-US" sz="519" dirty="0">
                <a:solidFill>
                  <a:srgbClr val="263442"/>
                </a:solidFill>
                <a:latin typeface="Arial"/>
              </a:rPr>
              <a:t>  </a:t>
            </a:r>
            <a:r>
              <a:rPr sz="519" dirty="0">
                <a:solidFill>
                  <a:srgbClr val="263442"/>
                </a:solidFill>
                <a:latin typeface="Arial"/>
              </a:rPr>
              <a:t>Other</a:t>
            </a:r>
          </a:p>
          <a:p>
            <a:pPr algn="l">
              <a:lnSpc>
                <a:spcPct val="95000"/>
              </a:lnSpc>
            </a:pPr>
            <a:r>
              <a:rPr sz="519" dirty="0">
                <a:solidFill>
                  <a:srgbClr val="263442"/>
                </a:solidFill>
                <a:latin typeface="Arial"/>
              </a:rPr>
              <a:t>identities</a:t>
            </a:r>
          </a:p>
        </p:txBody>
      </p:sp>
      <p:sp>
        <p:nvSpPr>
          <p:cNvPr id="699" name="Op | SMI-TED">
            <a:extLst>
              <a:ext uri="{FF2B5EF4-FFF2-40B4-BE49-F238E27FC236}">
                <a16:creationId xmlns:a16="http://schemas.microsoft.com/office/drawing/2014/main" id="{6691CF15-5DAD-F305-5973-B1ACEFFF5CBF}"/>
              </a:ext>
            </a:extLst>
          </p:cNvPr>
          <p:cNvSpPr/>
          <p:nvPr/>
        </p:nvSpPr>
        <p:spPr>
          <a:xfrm>
            <a:off x="4095413" y="2967199"/>
            <a:ext cx="427160"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SMI-TED</a:t>
            </a:r>
          </a:p>
        </p:txBody>
      </p:sp>
      <p:sp>
        <p:nvSpPr>
          <p:cNvPr id="700" name="TextBox 12244">
            <a:extLst>
              <a:ext uri="{FF2B5EF4-FFF2-40B4-BE49-F238E27FC236}">
                <a16:creationId xmlns:a16="http://schemas.microsoft.com/office/drawing/2014/main" id="{13C55E5C-99C8-F46D-3353-FED4827206EC}"/>
              </a:ext>
            </a:extLst>
          </p:cNvPr>
          <p:cNvSpPr txBox="1"/>
          <p:nvPr/>
        </p:nvSpPr>
        <p:spPr>
          <a:xfrm>
            <a:off x="4083077" y="3197919"/>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1</a:t>
            </a:r>
          </a:p>
        </p:txBody>
      </p:sp>
      <p:sp>
        <p:nvSpPr>
          <p:cNvPr id="701" name="Context bar 1_1">
            <a:extLst>
              <a:ext uri="{FF2B5EF4-FFF2-40B4-BE49-F238E27FC236}">
                <a16:creationId xmlns:a16="http://schemas.microsoft.com/office/drawing/2014/main" id="{F675EB2C-E3F4-CF25-F2F9-B217A0C64998}"/>
              </a:ext>
            </a:extLst>
          </p:cNvPr>
          <p:cNvSpPr/>
          <p:nvPr/>
        </p:nvSpPr>
        <p:spPr>
          <a:xfrm>
            <a:off x="4178001"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2" name="Context bar 1_2">
            <a:extLst>
              <a:ext uri="{FF2B5EF4-FFF2-40B4-BE49-F238E27FC236}">
                <a16:creationId xmlns:a16="http://schemas.microsoft.com/office/drawing/2014/main" id="{7015B7C2-EE7A-8CD3-BF9A-C8F6C295F2D3}"/>
              </a:ext>
            </a:extLst>
          </p:cNvPr>
          <p:cNvSpPr/>
          <p:nvPr/>
        </p:nvSpPr>
        <p:spPr>
          <a:xfrm>
            <a:off x="4226123"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3" name="Context bar 1_3">
            <a:extLst>
              <a:ext uri="{FF2B5EF4-FFF2-40B4-BE49-F238E27FC236}">
                <a16:creationId xmlns:a16="http://schemas.microsoft.com/office/drawing/2014/main" id="{0283D963-CC89-9552-BBFA-44417F9A5810}"/>
              </a:ext>
            </a:extLst>
          </p:cNvPr>
          <p:cNvSpPr/>
          <p:nvPr/>
        </p:nvSpPr>
        <p:spPr>
          <a:xfrm>
            <a:off x="4274244" y="3223887"/>
            <a:ext cx="44166" cy="34806"/>
          </a:xfrm>
          <a:prstGeom prst="rect">
            <a:avLst/>
          </a:prstGeom>
          <a:solidFill>
            <a:srgbClr val="BFD2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4" name="Context bar 1_4">
            <a:extLst>
              <a:ext uri="{FF2B5EF4-FFF2-40B4-BE49-F238E27FC236}">
                <a16:creationId xmlns:a16="http://schemas.microsoft.com/office/drawing/2014/main" id="{DFE762FA-D62F-609E-23C6-B16577CF789A}"/>
              </a:ext>
            </a:extLst>
          </p:cNvPr>
          <p:cNvSpPr/>
          <p:nvPr/>
        </p:nvSpPr>
        <p:spPr>
          <a:xfrm>
            <a:off x="4322366" y="3223887"/>
            <a:ext cx="44166" cy="34806"/>
          </a:xfrm>
          <a:prstGeom prst="rect">
            <a:avLst/>
          </a:prstGeom>
          <a:solidFill>
            <a:srgbClr val="7397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5" name="Context bar 1_5">
            <a:extLst>
              <a:ext uri="{FF2B5EF4-FFF2-40B4-BE49-F238E27FC236}">
                <a16:creationId xmlns:a16="http://schemas.microsoft.com/office/drawing/2014/main" id="{8A2B1ECE-222F-713D-5115-87805A38C6E9}"/>
              </a:ext>
            </a:extLst>
          </p:cNvPr>
          <p:cNvSpPr/>
          <p:nvPr/>
        </p:nvSpPr>
        <p:spPr>
          <a:xfrm>
            <a:off x="4370487"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6" name="Context bar 1_6">
            <a:extLst>
              <a:ext uri="{FF2B5EF4-FFF2-40B4-BE49-F238E27FC236}">
                <a16:creationId xmlns:a16="http://schemas.microsoft.com/office/drawing/2014/main" id="{F9202696-646F-1763-9139-E44B52B50C5F}"/>
              </a:ext>
            </a:extLst>
          </p:cNvPr>
          <p:cNvSpPr/>
          <p:nvPr/>
        </p:nvSpPr>
        <p:spPr>
          <a:xfrm>
            <a:off x="4418609"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7" name="TextBox 12251">
            <a:extLst>
              <a:ext uri="{FF2B5EF4-FFF2-40B4-BE49-F238E27FC236}">
                <a16:creationId xmlns:a16="http://schemas.microsoft.com/office/drawing/2014/main" id="{7BC06DFD-B767-BA41-2B05-2B0A38358B92}"/>
              </a:ext>
            </a:extLst>
          </p:cNvPr>
          <p:cNvSpPr txBox="1"/>
          <p:nvPr/>
        </p:nvSpPr>
        <p:spPr>
          <a:xfrm>
            <a:off x="4083077" y="3270220"/>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2</a:t>
            </a:r>
          </a:p>
        </p:txBody>
      </p:sp>
      <p:sp>
        <p:nvSpPr>
          <p:cNvPr id="708" name="Context bar 2_1">
            <a:extLst>
              <a:ext uri="{FF2B5EF4-FFF2-40B4-BE49-F238E27FC236}">
                <a16:creationId xmlns:a16="http://schemas.microsoft.com/office/drawing/2014/main" id="{520858ED-2877-9676-9DDD-53EAA8E37558}"/>
              </a:ext>
            </a:extLst>
          </p:cNvPr>
          <p:cNvSpPr/>
          <p:nvPr/>
        </p:nvSpPr>
        <p:spPr>
          <a:xfrm>
            <a:off x="4178001"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9" name="Context bar 2_2">
            <a:extLst>
              <a:ext uri="{FF2B5EF4-FFF2-40B4-BE49-F238E27FC236}">
                <a16:creationId xmlns:a16="http://schemas.microsoft.com/office/drawing/2014/main" id="{50A3D4F9-D9FE-CC8B-21E7-D32E326D8875}"/>
              </a:ext>
            </a:extLst>
          </p:cNvPr>
          <p:cNvSpPr/>
          <p:nvPr/>
        </p:nvSpPr>
        <p:spPr>
          <a:xfrm>
            <a:off x="4226123"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0" name="Context bar 2_3">
            <a:extLst>
              <a:ext uri="{FF2B5EF4-FFF2-40B4-BE49-F238E27FC236}">
                <a16:creationId xmlns:a16="http://schemas.microsoft.com/office/drawing/2014/main" id="{4471AA3C-5A9C-CEE5-0418-953EC2227441}"/>
              </a:ext>
            </a:extLst>
          </p:cNvPr>
          <p:cNvSpPr/>
          <p:nvPr/>
        </p:nvSpPr>
        <p:spPr>
          <a:xfrm>
            <a:off x="4274244" y="3286664"/>
            <a:ext cx="44166" cy="34806"/>
          </a:xfrm>
          <a:prstGeom prst="rect">
            <a:avLst/>
          </a:prstGeom>
          <a:solidFill>
            <a:srgbClr val="E0CC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1" name="Context bar 2_4">
            <a:extLst>
              <a:ext uri="{FF2B5EF4-FFF2-40B4-BE49-F238E27FC236}">
                <a16:creationId xmlns:a16="http://schemas.microsoft.com/office/drawing/2014/main" id="{B321BB44-18FA-E7F3-2924-BC94493FEA4A}"/>
              </a:ext>
            </a:extLst>
          </p:cNvPr>
          <p:cNvSpPr/>
          <p:nvPr/>
        </p:nvSpPr>
        <p:spPr>
          <a:xfrm>
            <a:off x="4322366" y="3286664"/>
            <a:ext cx="44166" cy="34806"/>
          </a:xfrm>
          <a:prstGeom prst="rect">
            <a:avLst/>
          </a:prstGeom>
          <a:solidFill>
            <a:srgbClr val="B58E5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2" name="Context bar 2_5">
            <a:extLst>
              <a:ext uri="{FF2B5EF4-FFF2-40B4-BE49-F238E27FC236}">
                <a16:creationId xmlns:a16="http://schemas.microsoft.com/office/drawing/2014/main" id="{BF58521A-8C41-BE24-9704-AEAF70385316}"/>
              </a:ext>
            </a:extLst>
          </p:cNvPr>
          <p:cNvSpPr/>
          <p:nvPr/>
        </p:nvSpPr>
        <p:spPr>
          <a:xfrm>
            <a:off x="4370487"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3" name="Context bar 2_6">
            <a:extLst>
              <a:ext uri="{FF2B5EF4-FFF2-40B4-BE49-F238E27FC236}">
                <a16:creationId xmlns:a16="http://schemas.microsoft.com/office/drawing/2014/main" id="{4283B810-9FFF-25F8-1960-4F272603052B}"/>
              </a:ext>
            </a:extLst>
          </p:cNvPr>
          <p:cNvSpPr/>
          <p:nvPr/>
        </p:nvSpPr>
        <p:spPr>
          <a:xfrm>
            <a:off x="4418609"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4" name="TextBox 12258">
            <a:extLst>
              <a:ext uri="{FF2B5EF4-FFF2-40B4-BE49-F238E27FC236}">
                <a16:creationId xmlns:a16="http://schemas.microsoft.com/office/drawing/2014/main" id="{D4C78125-5C89-7F13-017C-2E1C11AE7FDD}"/>
              </a:ext>
            </a:extLst>
          </p:cNvPr>
          <p:cNvSpPr txBox="1"/>
          <p:nvPr/>
        </p:nvSpPr>
        <p:spPr>
          <a:xfrm>
            <a:off x="4083077" y="3342522"/>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K</a:t>
            </a:r>
          </a:p>
        </p:txBody>
      </p:sp>
      <p:sp>
        <p:nvSpPr>
          <p:cNvPr id="715" name="Context bar K_1">
            <a:extLst>
              <a:ext uri="{FF2B5EF4-FFF2-40B4-BE49-F238E27FC236}">
                <a16:creationId xmlns:a16="http://schemas.microsoft.com/office/drawing/2014/main" id="{6C63634F-2307-320B-8E95-2B6ADA84F565}"/>
              </a:ext>
            </a:extLst>
          </p:cNvPr>
          <p:cNvSpPr/>
          <p:nvPr/>
        </p:nvSpPr>
        <p:spPr>
          <a:xfrm>
            <a:off x="4178001"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6" name="Context bar K_2">
            <a:extLst>
              <a:ext uri="{FF2B5EF4-FFF2-40B4-BE49-F238E27FC236}">
                <a16:creationId xmlns:a16="http://schemas.microsoft.com/office/drawing/2014/main" id="{582A4CF2-1B99-BCF5-A8D3-EE93D5F5B81F}"/>
              </a:ext>
            </a:extLst>
          </p:cNvPr>
          <p:cNvSpPr/>
          <p:nvPr/>
        </p:nvSpPr>
        <p:spPr>
          <a:xfrm>
            <a:off x="4226123"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7" name="Context bar K_3">
            <a:extLst>
              <a:ext uri="{FF2B5EF4-FFF2-40B4-BE49-F238E27FC236}">
                <a16:creationId xmlns:a16="http://schemas.microsoft.com/office/drawing/2014/main" id="{607B41B1-A111-8D93-E207-5DF6221B54D2}"/>
              </a:ext>
            </a:extLst>
          </p:cNvPr>
          <p:cNvSpPr/>
          <p:nvPr/>
        </p:nvSpPr>
        <p:spPr>
          <a:xfrm>
            <a:off x="4274244" y="3349440"/>
            <a:ext cx="44166" cy="34806"/>
          </a:xfrm>
          <a:prstGeom prst="rect">
            <a:avLst/>
          </a:prstGeom>
          <a:solidFill>
            <a:srgbClr val="CBC2E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8" name="Context bar K_4">
            <a:extLst>
              <a:ext uri="{FF2B5EF4-FFF2-40B4-BE49-F238E27FC236}">
                <a16:creationId xmlns:a16="http://schemas.microsoft.com/office/drawing/2014/main" id="{9539C2E7-004F-E86E-852E-98E80C399402}"/>
              </a:ext>
            </a:extLst>
          </p:cNvPr>
          <p:cNvSpPr/>
          <p:nvPr/>
        </p:nvSpPr>
        <p:spPr>
          <a:xfrm>
            <a:off x="4322366" y="3349440"/>
            <a:ext cx="44166" cy="34806"/>
          </a:xfrm>
          <a:prstGeom prst="rect">
            <a:avLst/>
          </a:prstGeom>
          <a:solidFill>
            <a:srgbClr val="8E7DB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9" name="Context bar K_5">
            <a:extLst>
              <a:ext uri="{FF2B5EF4-FFF2-40B4-BE49-F238E27FC236}">
                <a16:creationId xmlns:a16="http://schemas.microsoft.com/office/drawing/2014/main" id="{2DE0B959-537B-893B-9987-81BBF3647FFD}"/>
              </a:ext>
            </a:extLst>
          </p:cNvPr>
          <p:cNvSpPr/>
          <p:nvPr/>
        </p:nvSpPr>
        <p:spPr>
          <a:xfrm>
            <a:off x="4370487"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0" name="Context bar K_6">
            <a:extLst>
              <a:ext uri="{FF2B5EF4-FFF2-40B4-BE49-F238E27FC236}">
                <a16:creationId xmlns:a16="http://schemas.microsoft.com/office/drawing/2014/main" id="{147CE38B-269C-4BBA-77C6-2810C1D11F1C}"/>
              </a:ext>
            </a:extLst>
          </p:cNvPr>
          <p:cNvSpPr/>
          <p:nvPr/>
        </p:nvSpPr>
        <p:spPr>
          <a:xfrm>
            <a:off x="4418609"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1" name="TextBox 12265">
            <a:extLst>
              <a:ext uri="{FF2B5EF4-FFF2-40B4-BE49-F238E27FC236}">
                <a16:creationId xmlns:a16="http://schemas.microsoft.com/office/drawing/2014/main" id="{979CEBC9-AC70-1276-123A-637171F58084}"/>
              </a:ext>
            </a:extLst>
          </p:cNvPr>
          <p:cNvSpPr txBox="1"/>
          <p:nvPr/>
        </p:nvSpPr>
        <p:spPr>
          <a:xfrm>
            <a:off x="4336209" y="3400472"/>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722" name="Op | Context attention">
            <a:extLst>
              <a:ext uri="{FF2B5EF4-FFF2-40B4-BE49-F238E27FC236}">
                <a16:creationId xmlns:a16="http://schemas.microsoft.com/office/drawing/2014/main" id="{640CE564-549E-0D15-B50A-E392C9DB6304}"/>
              </a:ext>
            </a:extLst>
          </p:cNvPr>
          <p:cNvSpPr/>
          <p:nvPr/>
        </p:nvSpPr>
        <p:spPr>
          <a:xfrm>
            <a:off x="3980242" y="3500341"/>
            <a:ext cx="648651"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Context</a:t>
            </a:r>
            <a:r>
              <a:rPr sz="580" dirty="0">
                <a:solidFill>
                  <a:srgbClr val="263442"/>
                </a:solidFill>
                <a:latin typeface="Arial"/>
              </a:rPr>
              <a:t> attention</a:t>
            </a:r>
          </a:p>
        </p:txBody>
      </p:sp>
      <p:sp>
        <p:nvSpPr>
          <p:cNvPr id="723" name="Op | Fusion">
            <a:extLst>
              <a:ext uri="{FF2B5EF4-FFF2-40B4-BE49-F238E27FC236}">
                <a16:creationId xmlns:a16="http://schemas.microsoft.com/office/drawing/2014/main" id="{FF74A918-BF09-C9F6-6A9B-D421CF97BC33}"/>
              </a:ext>
            </a:extLst>
          </p:cNvPr>
          <p:cNvSpPr/>
          <p:nvPr/>
        </p:nvSpPr>
        <p:spPr>
          <a:xfrm>
            <a:off x="3434426" y="3733697"/>
            <a:ext cx="379698" cy="14238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Fusion</a:t>
            </a:r>
          </a:p>
        </p:txBody>
      </p:sp>
      <p:sp>
        <p:nvSpPr>
          <p:cNvPr id="724" name="g_k bar_1">
            <a:extLst>
              <a:ext uri="{FF2B5EF4-FFF2-40B4-BE49-F238E27FC236}">
                <a16:creationId xmlns:a16="http://schemas.microsoft.com/office/drawing/2014/main" id="{CB9A6A2F-14EE-2004-CB53-FCE391ACED69}"/>
              </a:ext>
            </a:extLst>
          </p:cNvPr>
          <p:cNvSpPr/>
          <p:nvPr/>
        </p:nvSpPr>
        <p:spPr>
          <a:xfrm>
            <a:off x="3458158"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5" name="g_k bar_2">
            <a:extLst>
              <a:ext uri="{FF2B5EF4-FFF2-40B4-BE49-F238E27FC236}">
                <a16:creationId xmlns:a16="http://schemas.microsoft.com/office/drawing/2014/main" id="{E39FC69E-11ED-3FA2-32B9-5945059F2213}"/>
              </a:ext>
            </a:extLst>
          </p:cNvPr>
          <p:cNvSpPr/>
          <p:nvPr/>
        </p:nvSpPr>
        <p:spPr>
          <a:xfrm>
            <a:off x="3506185"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6" name="g_k bar_3">
            <a:extLst>
              <a:ext uri="{FF2B5EF4-FFF2-40B4-BE49-F238E27FC236}">
                <a16:creationId xmlns:a16="http://schemas.microsoft.com/office/drawing/2014/main" id="{543C1079-397B-91D4-0D56-9824953F1A51}"/>
              </a:ext>
            </a:extLst>
          </p:cNvPr>
          <p:cNvSpPr/>
          <p:nvPr/>
        </p:nvSpPr>
        <p:spPr>
          <a:xfrm>
            <a:off x="3554212"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7" name="g_k bar_4">
            <a:extLst>
              <a:ext uri="{FF2B5EF4-FFF2-40B4-BE49-F238E27FC236}">
                <a16:creationId xmlns:a16="http://schemas.microsoft.com/office/drawing/2014/main" id="{72768CF4-9EFB-DF24-7C89-6D351C730BA5}"/>
              </a:ext>
            </a:extLst>
          </p:cNvPr>
          <p:cNvSpPr/>
          <p:nvPr/>
        </p:nvSpPr>
        <p:spPr>
          <a:xfrm>
            <a:off x="3602239" y="3989994"/>
            <a:ext cx="44072" cy="56955"/>
          </a:xfrm>
          <a:prstGeom prst="rect">
            <a:avLst/>
          </a:prstGeom>
          <a:solidFill>
            <a:srgbClr val="68AB9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8" name="g_k bar_5">
            <a:extLst>
              <a:ext uri="{FF2B5EF4-FFF2-40B4-BE49-F238E27FC236}">
                <a16:creationId xmlns:a16="http://schemas.microsoft.com/office/drawing/2014/main" id="{4025AE17-AFDD-1F7D-9368-8E976FBC9D73}"/>
              </a:ext>
            </a:extLst>
          </p:cNvPr>
          <p:cNvSpPr/>
          <p:nvPr/>
        </p:nvSpPr>
        <p:spPr>
          <a:xfrm>
            <a:off x="3650267"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9" name="g_k bar_6">
            <a:extLst>
              <a:ext uri="{FF2B5EF4-FFF2-40B4-BE49-F238E27FC236}">
                <a16:creationId xmlns:a16="http://schemas.microsoft.com/office/drawing/2014/main" id="{894C2CFF-A654-8C7B-2480-AC98400CE487}"/>
              </a:ext>
            </a:extLst>
          </p:cNvPr>
          <p:cNvSpPr/>
          <p:nvPr/>
        </p:nvSpPr>
        <p:spPr>
          <a:xfrm>
            <a:off x="3698294"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0" name="g_k bar_7">
            <a:extLst>
              <a:ext uri="{FF2B5EF4-FFF2-40B4-BE49-F238E27FC236}">
                <a16:creationId xmlns:a16="http://schemas.microsoft.com/office/drawing/2014/main" id="{DC10EA75-05BB-E415-682D-FAFCD65B7377}"/>
              </a:ext>
            </a:extLst>
          </p:cNvPr>
          <p:cNvSpPr/>
          <p:nvPr/>
        </p:nvSpPr>
        <p:spPr>
          <a:xfrm>
            <a:off x="3746321"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1" name="Math | g_k^">
            <a:extLst>
              <a:ext uri="{FF2B5EF4-FFF2-40B4-BE49-F238E27FC236}">
                <a16:creationId xmlns:a16="http://schemas.microsoft.com/office/drawing/2014/main" id="{45321F2B-F3FA-58E1-92FE-B69A1AB20949}"/>
              </a:ext>
            </a:extLst>
          </p:cNvPr>
          <p:cNvSpPr txBox="1"/>
          <p:nvPr/>
        </p:nvSpPr>
        <p:spPr>
          <a:xfrm>
            <a:off x="3827018" y="3947306"/>
            <a:ext cx="84960" cy="126509"/>
          </a:xfrm>
          <a:prstGeom prst="rect">
            <a:avLst/>
          </a:prstGeom>
          <a:noFill/>
        </p:spPr>
        <p:txBody>
          <a:bodyPr wrap="none" lIns="0" tIns="0" rIns="0" bIns="0" anchor="ctr">
            <a:spAutoFit/>
          </a:bodyPr>
          <a:lstStyle/>
          <a:p>
            <a:pPr algn="ctr"/>
            <a:r>
              <a:rPr sz="855" i="1">
                <a:solidFill>
                  <a:srgbClr val="263442"/>
                </a:solidFill>
                <a:latin typeface="Times New Roman"/>
              </a:rPr>
              <a:t>g</a:t>
            </a:r>
            <a:r>
              <a:rPr sz="780" i="1" baseline="-28000">
                <a:solidFill>
                  <a:srgbClr val="263442"/>
                </a:solidFill>
                <a:latin typeface="Times New Roman"/>
              </a:rPr>
              <a:t>k</a:t>
            </a:r>
          </a:p>
        </p:txBody>
      </p:sp>
      <p:sp>
        <p:nvSpPr>
          <p:cNvPr id="732" name="Op | Cosine score">
            <a:extLst>
              <a:ext uri="{FF2B5EF4-FFF2-40B4-BE49-F238E27FC236}">
                <a16:creationId xmlns:a16="http://schemas.microsoft.com/office/drawing/2014/main" id="{9B88858F-88C1-DA3F-1992-E9C76D0D80AF}"/>
              </a:ext>
            </a:extLst>
          </p:cNvPr>
          <p:cNvSpPr/>
          <p:nvPr/>
        </p:nvSpPr>
        <p:spPr>
          <a:xfrm>
            <a:off x="3228756" y="4164813"/>
            <a:ext cx="569547"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a:solidFill>
                  <a:srgbClr val="263442"/>
                </a:solidFill>
                <a:latin typeface="Arial"/>
              </a:rPr>
              <a:t>Cosine score</a:t>
            </a:r>
          </a:p>
        </p:txBody>
      </p:sp>
      <p:sp>
        <p:nvSpPr>
          <p:cNvPr id="733" name="TextBox 12277">
            <a:extLst>
              <a:ext uri="{FF2B5EF4-FFF2-40B4-BE49-F238E27FC236}">
                <a16:creationId xmlns:a16="http://schemas.microsoft.com/office/drawing/2014/main" id="{7D6970C3-E7E9-652B-644D-A057CB503545}"/>
              </a:ext>
            </a:extLst>
          </p:cNvPr>
          <p:cNvSpPr txBox="1"/>
          <p:nvPr/>
        </p:nvSpPr>
        <p:spPr>
          <a:xfrm>
            <a:off x="3229878" y="4326634"/>
            <a:ext cx="585097" cy="79445"/>
          </a:xfrm>
          <a:prstGeom prst="rect">
            <a:avLst/>
          </a:prstGeom>
          <a:noFill/>
        </p:spPr>
        <p:txBody>
          <a:bodyPr wrap="none" lIns="0" tIns="0" rIns="0" bIns="0" anchor="ctr">
            <a:spAutoFit/>
          </a:bodyPr>
          <a:lstStyle/>
          <a:p>
            <a:pPr algn="ctr">
              <a:lnSpc>
                <a:spcPct val="105000"/>
              </a:lnSpc>
            </a:pPr>
            <a:r>
              <a:rPr sz="528" dirty="0">
                <a:solidFill>
                  <a:srgbClr val="263442"/>
                </a:solidFill>
                <a:latin typeface="Arial"/>
              </a:rPr>
              <a:t>Learned projections</a:t>
            </a:r>
          </a:p>
        </p:txBody>
      </p:sp>
      <p:sp>
        <p:nvSpPr>
          <p:cNvPr id="734" name="Math | s_j,k^">
            <a:extLst>
              <a:ext uri="{FF2B5EF4-FFF2-40B4-BE49-F238E27FC236}">
                <a16:creationId xmlns:a16="http://schemas.microsoft.com/office/drawing/2014/main" id="{BD0A37AE-0CF6-77DD-8048-3FF0945F4158}"/>
              </a:ext>
            </a:extLst>
          </p:cNvPr>
          <p:cNvSpPr txBox="1"/>
          <p:nvPr/>
        </p:nvSpPr>
        <p:spPr>
          <a:xfrm>
            <a:off x="3884649" y="4086560"/>
            <a:ext cx="104196" cy="117083"/>
          </a:xfrm>
          <a:prstGeom prst="rect">
            <a:avLst/>
          </a:prstGeom>
          <a:noFill/>
        </p:spPr>
        <p:txBody>
          <a:bodyPr wrap="none" lIns="0" tIns="0" rIns="0" bIns="0" anchor="ctr">
            <a:spAutoFit/>
          </a:bodyPr>
          <a:lstStyle/>
          <a:p>
            <a:pPr algn="ctr"/>
            <a:r>
              <a:rPr sz="791" i="1" dirty="0" err="1">
                <a:solidFill>
                  <a:srgbClr val="263442"/>
                </a:solidFill>
                <a:latin typeface="Times New Roman"/>
              </a:rPr>
              <a:t>s</a:t>
            </a:r>
            <a:r>
              <a:rPr sz="780" i="1" baseline="-28000" dirty="0" err="1">
                <a:solidFill>
                  <a:srgbClr val="263442"/>
                </a:solidFill>
                <a:latin typeface="Times New Roman"/>
              </a:rPr>
              <a:t>j,k</a:t>
            </a:r>
            <a:endParaRPr sz="780" i="1" baseline="-28000" dirty="0">
              <a:solidFill>
                <a:srgbClr val="263442"/>
              </a:solidFill>
              <a:latin typeface="Times New Roman"/>
            </a:endParaRPr>
          </a:p>
        </p:txBody>
      </p:sp>
      <p:sp>
        <p:nvSpPr>
          <p:cNvPr id="735" name="TextBox 12279">
            <a:extLst>
              <a:ext uri="{FF2B5EF4-FFF2-40B4-BE49-F238E27FC236}">
                <a16:creationId xmlns:a16="http://schemas.microsoft.com/office/drawing/2014/main" id="{C56E8311-ADDA-7C63-9110-2C3006BDD08E}"/>
              </a:ext>
            </a:extLst>
          </p:cNvPr>
          <p:cNvSpPr txBox="1"/>
          <p:nvPr/>
        </p:nvSpPr>
        <p:spPr>
          <a:xfrm>
            <a:off x="4144023" y="3931330"/>
            <a:ext cx="479297" cy="87268"/>
          </a:xfrm>
          <a:prstGeom prst="rect">
            <a:avLst/>
          </a:prstGeom>
          <a:noFill/>
        </p:spPr>
        <p:txBody>
          <a:bodyPr wrap="none" lIns="0" tIns="0" rIns="0" bIns="0" anchor="ctr">
            <a:spAutoFit/>
          </a:bodyPr>
          <a:lstStyle/>
          <a:p>
            <a:pPr algn="ctr">
              <a:lnSpc>
                <a:spcPct val="105000"/>
              </a:lnSpc>
            </a:pPr>
            <a:r>
              <a:rPr sz="580">
                <a:solidFill>
                  <a:srgbClr val="263442"/>
                </a:solidFill>
                <a:latin typeface="Arial"/>
              </a:rPr>
              <a:t>Identity scores</a:t>
            </a:r>
          </a:p>
        </p:txBody>
      </p:sp>
      <p:sp>
        <p:nvSpPr>
          <p:cNvPr id="736" name="TextBox 12280">
            <a:extLst>
              <a:ext uri="{FF2B5EF4-FFF2-40B4-BE49-F238E27FC236}">
                <a16:creationId xmlns:a16="http://schemas.microsoft.com/office/drawing/2014/main" id="{C640A1D5-D4D1-3FBF-0F27-45AD836A7FCE}"/>
              </a:ext>
            </a:extLst>
          </p:cNvPr>
          <p:cNvSpPr txBox="1"/>
          <p:nvPr/>
        </p:nvSpPr>
        <p:spPr>
          <a:xfrm>
            <a:off x="4382527" y="4018471"/>
            <a:ext cx="102835" cy="85921"/>
          </a:xfrm>
          <a:prstGeom prst="rect">
            <a:avLst/>
          </a:prstGeom>
          <a:noFill/>
        </p:spPr>
        <p:txBody>
          <a:bodyPr wrap="square" lIns="0" tIns="0" rIns="0" bIns="0" anchor="ctr">
            <a:spAutoFit/>
          </a:bodyPr>
          <a:lstStyle/>
          <a:p>
            <a:pPr algn="ctr">
              <a:lnSpc>
                <a:spcPct val="105000"/>
              </a:lnSpc>
            </a:pPr>
            <a:r>
              <a:rPr sz="571" dirty="0">
                <a:solidFill>
                  <a:srgbClr val="263442"/>
                </a:solidFill>
                <a:latin typeface="Arial"/>
              </a:rPr>
              <a:t>k</a:t>
            </a:r>
          </a:p>
        </p:txBody>
      </p:sp>
      <p:sp>
        <p:nvSpPr>
          <p:cNvPr id="737" name="TextBox 12281">
            <a:extLst>
              <a:ext uri="{FF2B5EF4-FFF2-40B4-BE49-F238E27FC236}">
                <a16:creationId xmlns:a16="http://schemas.microsoft.com/office/drawing/2014/main" id="{F472392A-4724-5EDA-C6D8-557EF063B52F}"/>
              </a:ext>
            </a:extLst>
          </p:cNvPr>
          <p:cNvSpPr txBox="1"/>
          <p:nvPr/>
        </p:nvSpPr>
        <p:spPr>
          <a:xfrm>
            <a:off x="4083077" y="4169314"/>
            <a:ext cx="87014" cy="85921"/>
          </a:xfrm>
          <a:prstGeom prst="rect">
            <a:avLst/>
          </a:prstGeom>
          <a:noFill/>
        </p:spPr>
        <p:txBody>
          <a:bodyPr wrap="square" lIns="0" tIns="0" rIns="0" bIns="0" anchor="ctr">
            <a:spAutoFit/>
          </a:bodyPr>
          <a:lstStyle/>
          <a:p>
            <a:pPr algn="ctr">
              <a:lnSpc>
                <a:spcPct val="105000"/>
              </a:lnSpc>
            </a:pPr>
            <a:r>
              <a:rPr sz="571">
                <a:solidFill>
                  <a:srgbClr val="263442"/>
                </a:solidFill>
                <a:latin typeface="Arial"/>
              </a:rPr>
              <a:t>j</a:t>
            </a:r>
          </a:p>
        </p:txBody>
      </p:sp>
      <p:sp>
        <p:nvSpPr>
          <p:cNvPr id="738" name="Matrix cell (0,0)">
            <a:extLst>
              <a:ext uri="{FF2B5EF4-FFF2-40B4-BE49-F238E27FC236}">
                <a16:creationId xmlns:a16="http://schemas.microsoft.com/office/drawing/2014/main" id="{1FAFF817-C1CE-5F45-E950-98E19AE452CF}"/>
              </a:ext>
            </a:extLst>
          </p:cNvPr>
          <p:cNvSpPr/>
          <p:nvPr/>
        </p:nvSpPr>
        <p:spPr>
          <a:xfrm>
            <a:off x="4178001"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9" name="Matrix cell (0,1)">
            <a:extLst>
              <a:ext uri="{FF2B5EF4-FFF2-40B4-BE49-F238E27FC236}">
                <a16:creationId xmlns:a16="http://schemas.microsoft.com/office/drawing/2014/main" id="{ED9FACB8-4D6A-044F-997F-E09503AC15AA}"/>
              </a:ext>
            </a:extLst>
          </p:cNvPr>
          <p:cNvSpPr/>
          <p:nvPr/>
        </p:nvSpPr>
        <p:spPr>
          <a:xfrm>
            <a:off x="4280836"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0" name="Matrix cell (0,2)">
            <a:extLst>
              <a:ext uri="{FF2B5EF4-FFF2-40B4-BE49-F238E27FC236}">
                <a16:creationId xmlns:a16="http://schemas.microsoft.com/office/drawing/2014/main" id="{DE25E670-FAB3-667C-5777-C71ED9075845}"/>
              </a:ext>
            </a:extLst>
          </p:cNvPr>
          <p:cNvSpPr/>
          <p:nvPr/>
        </p:nvSpPr>
        <p:spPr>
          <a:xfrm>
            <a:off x="4383671"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1" name="Matrix cell (0,3)">
            <a:extLst>
              <a:ext uri="{FF2B5EF4-FFF2-40B4-BE49-F238E27FC236}">
                <a16:creationId xmlns:a16="http://schemas.microsoft.com/office/drawing/2014/main" id="{D15A0AB1-9BF7-4E76-6CED-C525DFBAA5F7}"/>
              </a:ext>
            </a:extLst>
          </p:cNvPr>
          <p:cNvSpPr/>
          <p:nvPr/>
        </p:nvSpPr>
        <p:spPr>
          <a:xfrm>
            <a:off x="4486506"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2" name="Matrix cell (1,0)">
            <a:extLst>
              <a:ext uri="{FF2B5EF4-FFF2-40B4-BE49-F238E27FC236}">
                <a16:creationId xmlns:a16="http://schemas.microsoft.com/office/drawing/2014/main" id="{5C20FC23-8B30-D896-36CC-91D73273996F}"/>
              </a:ext>
            </a:extLst>
          </p:cNvPr>
          <p:cNvSpPr/>
          <p:nvPr/>
        </p:nvSpPr>
        <p:spPr>
          <a:xfrm>
            <a:off x="4178001"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3" name="Matrix cell (1,1)">
            <a:extLst>
              <a:ext uri="{FF2B5EF4-FFF2-40B4-BE49-F238E27FC236}">
                <a16:creationId xmlns:a16="http://schemas.microsoft.com/office/drawing/2014/main" id="{023C0380-7EA8-B629-5738-AD00698F49B6}"/>
              </a:ext>
            </a:extLst>
          </p:cNvPr>
          <p:cNvSpPr/>
          <p:nvPr/>
        </p:nvSpPr>
        <p:spPr>
          <a:xfrm>
            <a:off x="4280836"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4" name="Matrix cell (1,2)">
            <a:extLst>
              <a:ext uri="{FF2B5EF4-FFF2-40B4-BE49-F238E27FC236}">
                <a16:creationId xmlns:a16="http://schemas.microsoft.com/office/drawing/2014/main" id="{12FBEABC-63F9-0304-4A97-80811BFE2B66}"/>
              </a:ext>
            </a:extLst>
          </p:cNvPr>
          <p:cNvSpPr/>
          <p:nvPr/>
        </p:nvSpPr>
        <p:spPr>
          <a:xfrm>
            <a:off x="4383671" y="4176678"/>
            <a:ext cx="102835" cy="71193"/>
          </a:xfrm>
          <a:prstGeom prst="rect">
            <a:avLst/>
          </a:prstGeom>
          <a:solidFill>
            <a:srgbClr val="3C9486"/>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5" name="Matrix cell (1,3)">
            <a:extLst>
              <a:ext uri="{FF2B5EF4-FFF2-40B4-BE49-F238E27FC236}">
                <a16:creationId xmlns:a16="http://schemas.microsoft.com/office/drawing/2014/main" id="{90D1E1D0-D1D8-F490-5B4D-27F3093D1ECE}"/>
              </a:ext>
            </a:extLst>
          </p:cNvPr>
          <p:cNvSpPr/>
          <p:nvPr/>
        </p:nvSpPr>
        <p:spPr>
          <a:xfrm>
            <a:off x="4486506"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6" name="Matrix cell (2,0)">
            <a:extLst>
              <a:ext uri="{FF2B5EF4-FFF2-40B4-BE49-F238E27FC236}">
                <a16:creationId xmlns:a16="http://schemas.microsoft.com/office/drawing/2014/main" id="{158A66BE-E7B7-0506-657E-0BF13A0E4F5E}"/>
              </a:ext>
            </a:extLst>
          </p:cNvPr>
          <p:cNvSpPr/>
          <p:nvPr/>
        </p:nvSpPr>
        <p:spPr>
          <a:xfrm>
            <a:off x="4178001"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7" name="Matrix cell (2,1)">
            <a:extLst>
              <a:ext uri="{FF2B5EF4-FFF2-40B4-BE49-F238E27FC236}">
                <a16:creationId xmlns:a16="http://schemas.microsoft.com/office/drawing/2014/main" id="{3B18D166-F88A-573E-0225-1ACB99CB2512}"/>
              </a:ext>
            </a:extLst>
          </p:cNvPr>
          <p:cNvSpPr/>
          <p:nvPr/>
        </p:nvSpPr>
        <p:spPr>
          <a:xfrm>
            <a:off x="4280836"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8" name="Matrix cell (2,2)">
            <a:extLst>
              <a:ext uri="{FF2B5EF4-FFF2-40B4-BE49-F238E27FC236}">
                <a16:creationId xmlns:a16="http://schemas.microsoft.com/office/drawing/2014/main" id="{FC858539-3EA9-E4FE-E803-0C8FFAD3870F}"/>
              </a:ext>
            </a:extLst>
          </p:cNvPr>
          <p:cNvSpPr/>
          <p:nvPr/>
        </p:nvSpPr>
        <p:spPr>
          <a:xfrm>
            <a:off x="4383671"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9" name="Matrix cell (2,3)">
            <a:extLst>
              <a:ext uri="{FF2B5EF4-FFF2-40B4-BE49-F238E27FC236}">
                <a16:creationId xmlns:a16="http://schemas.microsoft.com/office/drawing/2014/main" id="{3713326C-75C4-31D8-12F4-1CA18BF652D7}"/>
              </a:ext>
            </a:extLst>
          </p:cNvPr>
          <p:cNvSpPr/>
          <p:nvPr/>
        </p:nvSpPr>
        <p:spPr>
          <a:xfrm>
            <a:off x="4486506"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50" name="TextBox 12294">
            <a:extLst>
              <a:ext uri="{FF2B5EF4-FFF2-40B4-BE49-F238E27FC236}">
                <a16:creationId xmlns:a16="http://schemas.microsoft.com/office/drawing/2014/main" id="{E992C05A-634A-6CF2-2936-1480C4EA17F1}"/>
              </a:ext>
            </a:extLst>
          </p:cNvPr>
          <p:cNvSpPr txBox="1"/>
          <p:nvPr/>
        </p:nvSpPr>
        <p:spPr>
          <a:xfrm>
            <a:off x="4178002" y="4312989"/>
            <a:ext cx="411339" cy="82587"/>
          </a:xfrm>
          <a:prstGeom prst="rect">
            <a:avLst/>
          </a:prstGeom>
          <a:noFill/>
        </p:spPr>
        <p:txBody>
          <a:bodyPr wrap="square" lIns="0" tIns="0" rIns="0" bIns="0" anchor="ctr">
            <a:spAutoFit/>
          </a:bodyPr>
          <a:lstStyle/>
          <a:p>
            <a:pPr algn="ctr">
              <a:lnSpc>
                <a:spcPct val="105000"/>
              </a:lnSpc>
            </a:pPr>
            <a:r>
              <a:rPr sz="536">
                <a:solidFill>
                  <a:srgbClr val="263442"/>
                </a:solidFill>
                <a:latin typeface="Arial"/>
              </a:rPr>
              <a:t>J × K</a:t>
            </a:r>
          </a:p>
        </p:txBody>
      </p:sp>
      <p:grpSp>
        <p:nvGrpSpPr>
          <p:cNvPr id="751" name="组合 13795">
            <a:extLst>
              <a:ext uri="{FF2B5EF4-FFF2-40B4-BE49-F238E27FC236}">
                <a16:creationId xmlns:a16="http://schemas.microsoft.com/office/drawing/2014/main" id="{7EA912CF-516A-2745-A5D0-8704116A4D72}"/>
              </a:ext>
            </a:extLst>
          </p:cNvPr>
          <p:cNvGrpSpPr/>
          <p:nvPr/>
        </p:nvGrpSpPr>
        <p:grpSpPr>
          <a:xfrm>
            <a:off x="2067869" y="554865"/>
            <a:ext cx="1978883" cy="340209"/>
            <a:chOff x="6312668" y="2448732"/>
            <a:chExt cx="1215499" cy="343631"/>
          </a:xfrm>
        </p:grpSpPr>
        <p:pic>
          <p:nvPicPr>
            <p:cNvPr id="752" name="图片 12">
              <a:extLst>
                <a:ext uri="{FF2B5EF4-FFF2-40B4-BE49-F238E27FC236}">
                  <a16:creationId xmlns:a16="http://schemas.microsoft.com/office/drawing/2014/main" id="{521CB8EA-9697-F11D-7107-B4A42B988070}"/>
                </a:ext>
              </a:extLst>
            </p:cNvPr>
            <p:cNvPicPr>
              <a:picLocks/>
            </p:cNvPicPr>
            <p:nvPr/>
          </p:nvPicPr>
          <p:blipFill>
            <a:blip r:embed="rId5"/>
            <a:srcRect l="70243" t="-18171" b="-1"/>
            <a:stretch>
              <a:fillRect/>
            </a:stretch>
          </p:blipFill>
          <p:spPr>
            <a:xfrm>
              <a:off x="7112075" y="2448732"/>
              <a:ext cx="416092" cy="323855"/>
            </a:xfrm>
            <a:prstGeom prst="rect">
              <a:avLst/>
            </a:prstGeom>
          </p:spPr>
        </p:pic>
        <p:pic>
          <p:nvPicPr>
            <p:cNvPr id="753" name="图片 12">
              <a:extLst>
                <a:ext uri="{FF2B5EF4-FFF2-40B4-BE49-F238E27FC236}">
                  <a16:creationId xmlns:a16="http://schemas.microsoft.com/office/drawing/2014/main" id="{546466D8-C7C6-7C8A-3307-95F68FB4F610}"/>
                </a:ext>
              </a:extLst>
            </p:cNvPr>
            <p:cNvPicPr>
              <a:picLocks/>
            </p:cNvPicPr>
            <p:nvPr/>
          </p:nvPicPr>
          <p:blipFill>
            <a:blip r:embed="rId5"/>
            <a:srcRect r="70534" b="-8235"/>
            <a:stretch>
              <a:fillRect/>
            </a:stretch>
          </p:blipFill>
          <p:spPr>
            <a:xfrm>
              <a:off x="6312668" y="2495741"/>
              <a:ext cx="412024" cy="296622"/>
            </a:xfrm>
            <a:prstGeom prst="rect">
              <a:avLst/>
            </a:prstGeom>
          </p:spPr>
        </p:pic>
        <p:pic>
          <p:nvPicPr>
            <p:cNvPr id="754" name="Picture 10000" descr="unet_block_18.png">
              <a:extLst>
                <a:ext uri="{FF2B5EF4-FFF2-40B4-BE49-F238E27FC236}">
                  <a16:creationId xmlns:a16="http://schemas.microsoft.com/office/drawing/2014/main" id="{75A7694C-DEA5-AFE8-E284-0A0D89F845C1}"/>
                </a:ext>
              </a:extLst>
            </p:cNvPr>
            <p:cNvPicPr>
              <a:picLocks noChangeAspect="1"/>
            </p:cNvPicPr>
            <p:nvPr/>
          </p:nvPicPr>
          <p:blipFill>
            <a:blip r:embed="rId6"/>
            <a:stretch>
              <a:fillRect/>
            </a:stretch>
          </p:blipFill>
          <p:spPr>
            <a:xfrm>
              <a:off x="6776851" y="2645026"/>
              <a:ext cx="276863" cy="126566"/>
            </a:xfrm>
            <a:prstGeom prst="rect">
              <a:avLst/>
            </a:prstGeom>
          </p:spPr>
        </p:pic>
      </p:grpSp>
      <p:grpSp>
        <p:nvGrpSpPr>
          <p:cNvPr id="755" name="Find candidate blob 1">
            <a:extLst>
              <a:ext uri="{FF2B5EF4-FFF2-40B4-BE49-F238E27FC236}">
                <a16:creationId xmlns:a16="http://schemas.microsoft.com/office/drawing/2014/main" id="{3B821B97-56A6-DCED-E85F-DBF945F3EA13}"/>
              </a:ext>
            </a:extLst>
          </p:cNvPr>
          <p:cNvGrpSpPr/>
          <p:nvPr/>
        </p:nvGrpSpPr>
        <p:grpSpPr>
          <a:xfrm>
            <a:off x="4589586" y="1155648"/>
            <a:ext cx="150375" cy="102721"/>
            <a:chOff x="1928706" y="3559489"/>
            <a:chExt cx="227897" cy="155682"/>
          </a:xfrm>
        </p:grpSpPr>
        <p:sp>
          <p:nvSpPr>
            <p:cNvPr id="756" name="Candidate blob | editable contour">
              <a:extLst>
                <a:ext uri="{FF2B5EF4-FFF2-40B4-BE49-F238E27FC236}">
                  <a16:creationId xmlns:a16="http://schemas.microsoft.com/office/drawing/2014/main" id="{B3B117DA-D182-38E6-AD16-B4776AD2C7B7}"/>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57" name="ellipse_2612">
              <a:extLst>
                <a:ext uri="{FF2B5EF4-FFF2-40B4-BE49-F238E27FC236}">
                  <a16:creationId xmlns:a16="http://schemas.microsoft.com/office/drawing/2014/main" id="{901C6437-E94C-AFDE-D242-E688A89ABBD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58" name="Find candidate blob 2">
            <a:extLst>
              <a:ext uri="{FF2B5EF4-FFF2-40B4-BE49-F238E27FC236}">
                <a16:creationId xmlns:a16="http://schemas.microsoft.com/office/drawing/2014/main" id="{00C0C92B-D4C8-0994-E860-1581EB873D86}"/>
              </a:ext>
            </a:extLst>
          </p:cNvPr>
          <p:cNvGrpSpPr/>
          <p:nvPr/>
        </p:nvGrpSpPr>
        <p:grpSpPr>
          <a:xfrm>
            <a:off x="4366446" y="1024437"/>
            <a:ext cx="168602" cy="95394"/>
            <a:chOff x="1928706" y="3559489"/>
            <a:chExt cx="227897" cy="155682"/>
          </a:xfrm>
        </p:grpSpPr>
        <p:sp>
          <p:nvSpPr>
            <p:cNvPr id="759" name="Candidate blob | editable contour">
              <a:extLst>
                <a:ext uri="{FF2B5EF4-FFF2-40B4-BE49-F238E27FC236}">
                  <a16:creationId xmlns:a16="http://schemas.microsoft.com/office/drawing/2014/main" id="{A172A8B3-EFA3-33C9-CD2B-307B24D7293D}"/>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0" name="ellipse_2612">
              <a:extLst>
                <a:ext uri="{FF2B5EF4-FFF2-40B4-BE49-F238E27FC236}">
                  <a16:creationId xmlns:a16="http://schemas.microsoft.com/office/drawing/2014/main" id="{CF37E813-914E-4383-9CE9-1C5F4095124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61" name="Find candidate blob 3">
            <a:extLst>
              <a:ext uri="{FF2B5EF4-FFF2-40B4-BE49-F238E27FC236}">
                <a16:creationId xmlns:a16="http://schemas.microsoft.com/office/drawing/2014/main" id="{D7299A48-8BF0-7050-EF56-14DA3F495CB7}"/>
              </a:ext>
            </a:extLst>
          </p:cNvPr>
          <p:cNvGrpSpPr/>
          <p:nvPr/>
        </p:nvGrpSpPr>
        <p:grpSpPr>
          <a:xfrm>
            <a:off x="4374195" y="1164655"/>
            <a:ext cx="152150" cy="82991"/>
            <a:chOff x="1928706" y="3559489"/>
            <a:chExt cx="227897" cy="155682"/>
          </a:xfrm>
        </p:grpSpPr>
        <p:sp>
          <p:nvSpPr>
            <p:cNvPr id="762" name="Candidate blob | editable contour">
              <a:extLst>
                <a:ext uri="{FF2B5EF4-FFF2-40B4-BE49-F238E27FC236}">
                  <a16:creationId xmlns:a16="http://schemas.microsoft.com/office/drawing/2014/main" id="{8902F596-0D84-3C56-EB93-D63FC7E9041E}"/>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3" name="ellipse_2612">
              <a:extLst>
                <a:ext uri="{FF2B5EF4-FFF2-40B4-BE49-F238E27FC236}">
                  <a16:creationId xmlns:a16="http://schemas.microsoft.com/office/drawing/2014/main" id="{85D74281-2FE6-E2D2-EFBA-AF54A45686E3}"/>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765" name="Find auxiliary label">
            <a:extLst>
              <a:ext uri="{FF2B5EF4-FFF2-40B4-BE49-F238E27FC236}">
                <a16:creationId xmlns:a16="http://schemas.microsoft.com/office/drawing/2014/main" id="{CAD88599-B783-720B-B6BD-9F787FCB6CF4}"/>
              </a:ext>
            </a:extLst>
          </p:cNvPr>
          <p:cNvSpPr>
            <a:spLocks noGrp="1"/>
          </p:cNvSpPr>
          <p:nvPr/>
        </p:nvSpPr>
        <p:spPr>
          <a:xfrm>
            <a:off x="4345824" y="1518303"/>
            <a:ext cx="433362" cy="157954"/>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90" dirty="0">
                <a:solidFill>
                  <a:srgbClr val="263442"/>
                </a:solidFill>
                <a:latin typeface="Arial"/>
                <a:ea typeface="Arial"/>
                <a:cs typeface="Arial"/>
              </a:rPr>
              <a:t>Auxiliary</a:t>
            </a:r>
          </a:p>
          <a:p>
            <a:pPr algn="ctr">
              <a:defRPr sz="590" b="0">
                <a:solidFill>
                  <a:srgbClr val="263442"/>
                </a:solidFill>
                <a:latin typeface="Arial"/>
                <a:ea typeface="Arial"/>
                <a:cs typeface="Arial"/>
              </a:defRPr>
            </a:pPr>
            <a:r>
              <a:rPr sz="590" dirty="0">
                <a:solidFill>
                  <a:srgbClr val="263442"/>
                </a:solidFill>
                <a:latin typeface="Arial"/>
                <a:ea typeface="Arial"/>
                <a:cs typeface="Arial"/>
              </a:rPr>
              <a:t>features</a:t>
            </a:r>
          </a:p>
        </p:txBody>
      </p:sp>
      <p:sp>
        <p:nvSpPr>
          <p:cNvPr id="766" name="Match auxiliary label">
            <a:extLst>
              <a:ext uri="{FF2B5EF4-FFF2-40B4-BE49-F238E27FC236}">
                <a16:creationId xmlns:a16="http://schemas.microsoft.com/office/drawing/2014/main" id="{C154BF4F-4214-59BC-DCE1-F9C23194AC63}"/>
              </a:ext>
            </a:extLst>
          </p:cNvPr>
          <p:cNvSpPr>
            <a:spLocks noGrp="1"/>
          </p:cNvSpPr>
          <p:nvPr/>
        </p:nvSpPr>
        <p:spPr>
          <a:xfrm>
            <a:off x="1600039" y="2843177"/>
            <a:ext cx="405011" cy="174155"/>
          </a:xfrm>
          <a:prstGeom prst="rect">
            <a:avLst/>
          </a:prstGeom>
          <a:noFill/>
          <a:ln w="6885">
            <a:noFill/>
            <a:prstDash val="solid"/>
          </a:ln>
        </p:spPr>
        <p:txBody>
          <a:bodyPr lIns="0" tIns="0" rIns="0" bIns="0" anchor="ctr"/>
          <a:lstStyle>
            <a:defPPr algn="ctr">
              <a:defRPr sz="590" b="1">
                <a:solidFill>
                  <a:srgbClr val="263442"/>
                </a:solidFill>
                <a:latin typeface="Arial"/>
                <a:ea typeface="Arial"/>
                <a:cs typeface="Arial"/>
              </a:defRPr>
            </a:defPPr>
            <a:lvl1pPr algn="ctr">
              <a:defRPr sz="590" b="1">
                <a:solidFill>
                  <a:srgbClr val="263442"/>
                </a:solidFill>
                <a:latin typeface="Arial"/>
                <a:ea typeface="Arial"/>
                <a:cs typeface="Arial"/>
              </a:defRPr>
            </a:lvl1pPr>
            <a:lvl2pPr algn="ctr">
              <a:defRPr sz="590" b="1">
                <a:solidFill>
                  <a:srgbClr val="263442"/>
                </a:solidFill>
                <a:latin typeface="Arial"/>
                <a:ea typeface="Arial"/>
                <a:cs typeface="Arial"/>
              </a:defRPr>
            </a:lvl2pPr>
            <a:lvl3pPr algn="ctr">
              <a:defRPr sz="590" b="1">
                <a:solidFill>
                  <a:srgbClr val="263442"/>
                </a:solidFill>
                <a:latin typeface="Arial"/>
                <a:ea typeface="Arial"/>
                <a:cs typeface="Arial"/>
              </a:defRPr>
            </a:lvl3pPr>
            <a:lvl4pPr algn="ctr">
              <a:defRPr sz="590" b="1">
                <a:solidFill>
                  <a:srgbClr val="263442"/>
                </a:solidFill>
                <a:latin typeface="Arial"/>
                <a:ea typeface="Arial"/>
                <a:cs typeface="Arial"/>
              </a:defRPr>
            </a:lvl4pPr>
            <a:lvl5pPr algn="ctr">
              <a:defRPr sz="590" b="1">
                <a:solidFill>
                  <a:srgbClr val="263442"/>
                </a:solidFill>
                <a:latin typeface="Arial"/>
                <a:ea typeface="Arial"/>
                <a:cs typeface="Arial"/>
              </a:defRPr>
            </a:lvl5pPr>
            <a:lvl6pPr algn="ctr">
              <a:defRPr sz="590" b="1">
                <a:solidFill>
                  <a:srgbClr val="263442"/>
                </a:solidFill>
                <a:latin typeface="Arial"/>
                <a:ea typeface="Arial"/>
                <a:cs typeface="Arial"/>
              </a:defRPr>
            </a:lvl6pPr>
            <a:lvl7pPr algn="ctr">
              <a:defRPr sz="590" b="1">
                <a:solidFill>
                  <a:srgbClr val="263442"/>
                </a:solidFill>
                <a:latin typeface="Arial"/>
                <a:ea typeface="Arial"/>
                <a:cs typeface="Arial"/>
              </a:defRPr>
            </a:lvl7pPr>
            <a:lvl8pPr algn="ctr">
              <a:defRPr sz="590" b="1">
                <a:solidFill>
                  <a:srgbClr val="263442"/>
                </a:solidFill>
                <a:latin typeface="Arial"/>
                <a:ea typeface="Arial"/>
                <a:cs typeface="Arial"/>
              </a:defRPr>
            </a:lvl8pPr>
            <a:lvl9pPr algn="ctr">
              <a:defRPr sz="590" b="1">
                <a:solidFill>
                  <a:srgbClr val="263442"/>
                </a:solidFill>
                <a:latin typeface="Arial"/>
                <a:ea typeface="Arial"/>
                <a:cs typeface="Arial"/>
              </a:defRPr>
            </a:lvl9pPr>
          </a:lstStyle>
          <a:p>
            <a:pPr algn="ctr">
              <a:defRPr sz="590" b="1">
                <a:solidFill>
                  <a:srgbClr val="263442"/>
                </a:solidFill>
                <a:latin typeface="Arial"/>
                <a:ea typeface="Arial"/>
                <a:cs typeface="Arial"/>
              </a:defRPr>
            </a:pPr>
            <a:r>
              <a:rPr sz="590" b="0" dirty="0">
                <a:solidFill>
                  <a:srgbClr val="263442"/>
                </a:solidFill>
                <a:latin typeface="Arial"/>
                <a:ea typeface="Arial"/>
                <a:cs typeface="Arial"/>
              </a:rPr>
              <a:t>Auxiliary</a:t>
            </a:r>
          </a:p>
          <a:p>
            <a:pPr algn="ctr">
              <a:defRPr sz="590" b="1">
                <a:solidFill>
                  <a:srgbClr val="263442"/>
                </a:solidFill>
                <a:latin typeface="Arial"/>
                <a:ea typeface="Arial"/>
                <a:cs typeface="Arial"/>
              </a:defRPr>
            </a:pPr>
            <a:r>
              <a:rPr sz="590" b="0" dirty="0">
                <a:solidFill>
                  <a:srgbClr val="263442"/>
                </a:solidFill>
                <a:latin typeface="Arial"/>
                <a:ea typeface="Arial"/>
                <a:cs typeface="Arial"/>
              </a:rPr>
              <a:t>features</a:t>
            </a:r>
          </a:p>
        </p:txBody>
      </p:sp>
      <p:sp>
        <p:nvSpPr>
          <p:cNvPr id="767" name="Concat label">
            <a:extLst>
              <a:ext uri="{FF2B5EF4-FFF2-40B4-BE49-F238E27FC236}">
                <a16:creationId xmlns:a16="http://schemas.microsoft.com/office/drawing/2014/main" id="{9D20C35C-694E-CDD5-F90A-040BE36EEE21}"/>
              </a:ext>
            </a:extLst>
          </p:cNvPr>
          <p:cNvSpPr>
            <a:spLocks noGrp="1"/>
          </p:cNvSpPr>
          <p:nvPr/>
        </p:nvSpPr>
        <p:spPr>
          <a:xfrm>
            <a:off x="1202945" y="3608830"/>
            <a:ext cx="259207" cy="81002"/>
          </a:xfrm>
          <a:prstGeom prst="rect">
            <a:avLst/>
          </a:prstGeom>
          <a:noFill/>
          <a:ln w="6885">
            <a:noFill/>
            <a:prstDash val="solid"/>
          </a:ln>
        </p:spPr>
        <p:txBody>
          <a:bodyPr lIns="0" tIns="0" rIns="0" bIns="0" anchor="ctr"/>
          <a:lstStyle>
            <a:defPPr algn="ctr">
              <a:defRPr sz="568" b="0">
                <a:solidFill>
                  <a:srgbClr val="263442"/>
                </a:solidFill>
                <a:latin typeface="Arial"/>
                <a:ea typeface="Arial"/>
                <a:cs typeface="Arial"/>
              </a:defRPr>
            </a:defPPr>
            <a:lvl1pPr algn="ctr">
              <a:defRPr sz="568" b="0">
                <a:solidFill>
                  <a:srgbClr val="263442"/>
                </a:solidFill>
                <a:latin typeface="Arial"/>
                <a:ea typeface="Arial"/>
                <a:cs typeface="Arial"/>
              </a:defRPr>
            </a:lvl1pPr>
            <a:lvl2pPr algn="ctr">
              <a:defRPr sz="568" b="0">
                <a:solidFill>
                  <a:srgbClr val="263442"/>
                </a:solidFill>
                <a:latin typeface="Arial"/>
                <a:ea typeface="Arial"/>
                <a:cs typeface="Arial"/>
              </a:defRPr>
            </a:lvl2pPr>
            <a:lvl3pPr algn="ctr">
              <a:defRPr sz="568" b="0">
                <a:solidFill>
                  <a:srgbClr val="263442"/>
                </a:solidFill>
                <a:latin typeface="Arial"/>
                <a:ea typeface="Arial"/>
                <a:cs typeface="Arial"/>
              </a:defRPr>
            </a:lvl3pPr>
            <a:lvl4pPr algn="ctr">
              <a:defRPr sz="568" b="0">
                <a:solidFill>
                  <a:srgbClr val="263442"/>
                </a:solidFill>
                <a:latin typeface="Arial"/>
                <a:ea typeface="Arial"/>
                <a:cs typeface="Arial"/>
              </a:defRPr>
            </a:lvl4pPr>
            <a:lvl5pPr algn="ctr">
              <a:defRPr sz="568" b="0">
                <a:solidFill>
                  <a:srgbClr val="263442"/>
                </a:solidFill>
                <a:latin typeface="Arial"/>
                <a:ea typeface="Arial"/>
                <a:cs typeface="Arial"/>
              </a:defRPr>
            </a:lvl5pPr>
            <a:lvl6pPr algn="ctr">
              <a:defRPr sz="568" b="0">
                <a:solidFill>
                  <a:srgbClr val="263442"/>
                </a:solidFill>
                <a:latin typeface="Arial"/>
                <a:ea typeface="Arial"/>
                <a:cs typeface="Arial"/>
              </a:defRPr>
            </a:lvl6pPr>
            <a:lvl7pPr algn="ctr">
              <a:defRPr sz="568" b="0">
                <a:solidFill>
                  <a:srgbClr val="263442"/>
                </a:solidFill>
                <a:latin typeface="Arial"/>
                <a:ea typeface="Arial"/>
                <a:cs typeface="Arial"/>
              </a:defRPr>
            </a:lvl7pPr>
            <a:lvl8pPr algn="ctr">
              <a:defRPr sz="568" b="0">
                <a:solidFill>
                  <a:srgbClr val="263442"/>
                </a:solidFill>
                <a:latin typeface="Arial"/>
                <a:ea typeface="Arial"/>
                <a:cs typeface="Arial"/>
              </a:defRPr>
            </a:lvl8pPr>
            <a:lvl9pPr algn="ctr">
              <a:defRPr sz="568" b="0">
                <a:solidFill>
                  <a:srgbClr val="263442"/>
                </a:solidFill>
                <a:latin typeface="Arial"/>
                <a:ea typeface="Arial"/>
                <a:cs typeface="Arial"/>
              </a:defRPr>
            </a:lvl9pPr>
          </a:lstStyle>
          <a:p>
            <a:pPr algn="ctr">
              <a:defRPr sz="568" b="0">
                <a:solidFill>
                  <a:srgbClr val="263442"/>
                </a:solidFill>
                <a:latin typeface="Arial"/>
                <a:ea typeface="Arial"/>
                <a:cs typeface="Arial"/>
              </a:defRPr>
            </a:pPr>
            <a:r>
              <a:rPr sz="568" dirty="0" err="1">
                <a:solidFill>
                  <a:srgbClr val="263442"/>
                </a:solidFill>
                <a:latin typeface="Arial"/>
                <a:ea typeface="Arial"/>
                <a:cs typeface="Arial"/>
              </a:rPr>
              <a:t>Concat</a:t>
            </a:r>
            <a:endParaRPr sz="568" dirty="0">
              <a:solidFill>
                <a:srgbClr val="263442"/>
              </a:solidFill>
              <a:latin typeface="Arial"/>
              <a:ea typeface="Arial"/>
              <a:cs typeface="Arial"/>
            </a:endParaRPr>
          </a:p>
        </p:txBody>
      </p:sp>
      <p:sp>
        <p:nvSpPr>
          <p:cNvPr id="768" name="Build four inputs">
            <a:extLst>
              <a:ext uri="{FF2B5EF4-FFF2-40B4-BE49-F238E27FC236}">
                <a16:creationId xmlns:a16="http://schemas.microsoft.com/office/drawing/2014/main" id="{2C9F1979-7AE8-613B-79C6-EE0F3BBB1431}"/>
              </a:ext>
            </a:extLst>
          </p:cNvPr>
          <p:cNvSpPr>
            <a:spLocks noGrp="1"/>
          </p:cNvSpPr>
          <p:nvPr/>
        </p:nvSpPr>
        <p:spPr>
          <a:xfrm>
            <a:off x="4963973" y="415407"/>
            <a:ext cx="1158792" cy="1302153"/>
          </a:xfrm>
          <a:prstGeom prst="roundRect">
            <a:avLst>
              <a:gd name="adj" fmla="val 4554"/>
            </a:avLst>
          </a:prstGeom>
          <a:solidFill>
            <a:srgbClr val="FFFFFF"/>
          </a:solidFill>
          <a:ln w="7290">
            <a:solidFill>
              <a:srgbClr val="DFD6C3"/>
            </a:solidFill>
            <a:prstDash val="solid"/>
          </a:ln>
        </p:spPr>
        <p:txBody>
          <a:bodyPr/>
          <a:lstStyle/>
          <a:p>
            <a:endParaRPr lang="zh-CN" altLang="en-US" dirty="0"/>
          </a:p>
        </p:txBody>
      </p:sp>
      <p:sp>
        <p:nvSpPr>
          <p:cNvPr id="769" name="Site label">
            <a:extLst>
              <a:ext uri="{FF2B5EF4-FFF2-40B4-BE49-F238E27FC236}">
                <a16:creationId xmlns:a16="http://schemas.microsoft.com/office/drawing/2014/main" id="{73F4F6C8-22C1-E29B-D64D-362A1F82C0D7}"/>
              </a:ext>
            </a:extLst>
          </p:cNvPr>
          <p:cNvSpPr>
            <a:spLocks noGrp="1"/>
          </p:cNvSpPr>
          <p:nvPr/>
        </p:nvSpPr>
        <p:spPr>
          <a:xfrm>
            <a:off x="4992638" y="83497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Site</a:t>
            </a:r>
          </a:p>
        </p:txBody>
      </p:sp>
      <p:sp>
        <p:nvSpPr>
          <p:cNvPr id="770" name="Site provenance">
            <a:extLst>
              <a:ext uri="{FF2B5EF4-FFF2-40B4-BE49-F238E27FC236}">
                <a16:creationId xmlns:a16="http://schemas.microsoft.com/office/drawing/2014/main" id="{216E0115-FC9F-C0B3-73C6-B6C82BB2F0A8}"/>
              </a:ext>
            </a:extLst>
          </p:cNvPr>
          <p:cNvSpPr>
            <a:spLocks noGrp="1"/>
          </p:cNvSpPr>
          <p:nvPr/>
        </p:nvSpPr>
        <p:spPr>
          <a:xfrm>
            <a:off x="4999032" y="935387"/>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90" dirty="0">
                <a:solidFill>
                  <a:srgbClr val="263442"/>
                </a:solidFill>
                <a:latin typeface="Arial"/>
                <a:ea typeface="Arial"/>
                <a:cs typeface="Arial"/>
              </a:rPr>
              <a:t>from Find</a:t>
            </a:r>
          </a:p>
        </p:txBody>
      </p:sp>
      <p:sp>
        <p:nvSpPr>
          <p:cNvPr id="771" name="Pocket label">
            <a:extLst>
              <a:ext uri="{FF2B5EF4-FFF2-40B4-BE49-F238E27FC236}">
                <a16:creationId xmlns:a16="http://schemas.microsoft.com/office/drawing/2014/main" id="{198C300B-4031-D0E7-49A9-F255C1B29665}"/>
              </a:ext>
            </a:extLst>
          </p:cNvPr>
          <p:cNvSpPr>
            <a:spLocks noGrp="1"/>
          </p:cNvSpPr>
          <p:nvPr/>
        </p:nvSpPr>
        <p:spPr>
          <a:xfrm>
            <a:off x="5581260" y="854408"/>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Pocket</a:t>
            </a:r>
          </a:p>
        </p:txBody>
      </p:sp>
      <p:sp>
        <p:nvSpPr>
          <p:cNvPr id="773" name="SMILES label">
            <a:extLst>
              <a:ext uri="{FF2B5EF4-FFF2-40B4-BE49-F238E27FC236}">
                <a16:creationId xmlns:a16="http://schemas.microsoft.com/office/drawing/2014/main" id="{B948AB68-3B7B-785F-B6BB-80D92D824C67}"/>
              </a:ext>
            </a:extLst>
          </p:cNvPr>
          <p:cNvSpPr>
            <a:spLocks noGrp="1"/>
          </p:cNvSpPr>
          <p:nvPr/>
        </p:nvSpPr>
        <p:spPr>
          <a:xfrm>
            <a:off x="4999664" y="1471438"/>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SMILES</a:t>
            </a:r>
          </a:p>
        </p:txBody>
      </p:sp>
      <p:sp>
        <p:nvSpPr>
          <p:cNvPr id="774" name="SMILES provenance">
            <a:extLst>
              <a:ext uri="{FF2B5EF4-FFF2-40B4-BE49-F238E27FC236}">
                <a16:creationId xmlns:a16="http://schemas.microsoft.com/office/drawing/2014/main" id="{56FEBA1E-DDE0-4487-53DB-DA17479C3D9B}"/>
              </a:ext>
            </a:extLst>
          </p:cNvPr>
          <p:cNvSpPr>
            <a:spLocks noGrp="1"/>
          </p:cNvSpPr>
          <p:nvPr/>
        </p:nvSpPr>
        <p:spPr>
          <a:xfrm>
            <a:off x="5005380" y="156882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90" dirty="0">
                <a:solidFill>
                  <a:srgbClr val="263442"/>
                </a:solidFill>
                <a:latin typeface="Arial"/>
                <a:ea typeface="Arial"/>
                <a:cs typeface="Arial"/>
              </a:rPr>
              <a:t>from Match</a:t>
            </a:r>
          </a:p>
        </p:txBody>
      </p:sp>
      <p:sp>
        <p:nvSpPr>
          <p:cNvPr id="775" name="Density input label">
            <a:extLst>
              <a:ext uri="{FF2B5EF4-FFF2-40B4-BE49-F238E27FC236}">
                <a16:creationId xmlns:a16="http://schemas.microsoft.com/office/drawing/2014/main" id="{E5A68BBB-3BB4-4F45-D8ED-99022E728E69}"/>
              </a:ext>
            </a:extLst>
          </p:cNvPr>
          <p:cNvSpPr>
            <a:spLocks noGrp="1"/>
          </p:cNvSpPr>
          <p:nvPr/>
        </p:nvSpPr>
        <p:spPr>
          <a:xfrm>
            <a:off x="5574918" y="147142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Density</a:t>
            </a:r>
          </a:p>
        </p:txBody>
      </p:sp>
      <p:sp>
        <p:nvSpPr>
          <p:cNvPr id="776" name="Docking tools title">
            <a:extLst>
              <a:ext uri="{FF2B5EF4-FFF2-40B4-BE49-F238E27FC236}">
                <a16:creationId xmlns:a16="http://schemas.microsoft.com/office/drawing/2014/main" id="{27E4029E-E39E-E596-2ECC-8620239CB25F}"/>
              </a:ext>
            </a:extLst>
          </p:cNvPr>
          <p:cNvSpPr>
            <a:spLocks noGrp="1"/>
          </p:cNvSpPr>
          <p:nvPr/>
        </p:nvSpPr>
        <p:spPr>
          <a:xfrm>
            <a:off x="5047760" y="1867770"/>
            <a:ext cx="1101630" cy="117453"/>
          </a:xfrm>
          <a:prstGeom prst="rect">
            <a:avLst/>
          </a:prstGeom>
          <a:noFill/>
          <a:ln w="6885">
            <a:noFill/>
            <a:prstDash val="solid"/>
          </a:ln>
        </p:spPr>
        <p:txBody>
          <a:bodyPr lIns="0" tIns="0" rIns="0" bIns="0" anchor="ctr"/>
          <a:lstStyle>
            <a:defPPr algn="ctr">
              <a:defRPr sz="702" b="1">
                <a:solidFill>
                  <a:srgbClr val="263442"/>
                </a:solidFill>
                <a:latin typeface="Arial"/>
                <a:ea typeface="Arial"/>
                <a:cs typeface="Arial"/>
              </a:defRPr>
            </a:defPPr>
            <a:lvl1pPr algn="ctr">
              <a:defRPr sz="702" b="1">
                <a:solidFill>
                  <a:srgbClr val="263442"/>
                </a:solidFill>
                <a:latin typeface="Arial"/>
                <a:ea typeface="Arial"/>
                <a:cs typeface="Arial"/>
              </a:defRPr>
            </a:lvl1pPr>
            <a:lvl2pPr algn="ctr">
              <a:defRPr sz="702" b="1">
                <a:solidFill>
                  <a:srgbClr val="263442"/>
                </a:solidFill>
                <a:latin typeface="Arial"/>
                <a:ea typeface="Arial"/>
                <a:cs typeface="Arial"/>
              </a:defRPr>
            </a:lvl2pPr>
            <a:lvl3pPr algn="ctr">
              <a:defRPr sz="702" b="1">
                <a:solidFill>
                  <a:srgbClr val="263442"/>
                </a:solidFill>
                <a:latin typeface="Arial"/>
                <a:ea typeface="Arial"/>
                <a:cs typeface="Arial"/>
              </a:defRPr>
            </a:lvl3pPr>
            <a:lvl4pPr algn="ctr">
              <a:defRPr sz="702" b="1">
                <a:solidFill>
                  <a:srgbClr val="263442"/>
                </a:solidFill>
                <a:latin typeface="Arial"/>
                <a:ea typeface="Arial"/>
                <a:cs typeface="Arial"/>
              </a:defRPr>
            </a:lvl4pPr>
            <a:lvl5pPr algn="ctr">
              <a:defRPr sz="702" b="1">
                <a:solidFill>
                  <a:srgbClr val="263442"/>
                </a:solidFill>
                <a:latin typeface="Arial"/>
                <a:ea typeface="Arial"/>
                <a:cs typeface="Arial"/>
              </a:defRPr>
            </a:lvl5pPr>
            <a:lvl6pPr algn="ctr">
              <a:defRPr sz="702" b="1">
                <a:solidFill>
                  <a:srgbClr val="263442"/>
                </a:solidFill>
                <a:latin typeface="Arial"/>
                <a:ea typeface="Arial"/>
                <a:cs typeface="Arial"/>
              </a:defRPr>
            </a:lvl6pPr>
            <a:lvl7pPr algn="ctr">
              <a:defRPr sz="702" b="1">
                <a:solidFill>
                  <a:srgbClr val="263442"/>
                </a:solidFill>
                <a:latin typeface="Arial"/>
                <a:ea typeface="Arial"/>
                <a:cs typeface="Arial"/>
              </a:defRPr>
            </a:lvl7pPr>
            <a:lvl8pPr algn="ctr">
              <a:defRPr sz="702" b="1">
                <a:solidFill>
                  <a:srgbClr val="263442"/>
                </a:solidFill>
                <a:latin typeface="Arial"/>
                <a:ea typeface="Arial"/>
                <a:cs typeface="Arial"/>
              </a:defRPr>
            </a:lvl8pPr>
            <a:lvl9pPr algn="ctr">
              <a:defRPr sz="702" b="1">
                <a:solidFill>
                  <a:srgbClr val="263442"/>
                </a:solidFill>
                <a:latin typeface="Arial"/>
                <a:ea typeface="Arial"/>
                <a:cs typeface="Arial"/>
              </a:defRPr>
            </a:lvl9pPr>
          </a:lstStyle>
          <a:p>
            <a:pPr algn="ctr">
              <a:defRPr sz="702" b="1">
                <a:solidFill>
                  <a:srgbClr val="263442"/>
                </a:solidFill>
                <a:latin typeface="Arial"/>
                <a:ea typeface="Arial"/>
                <a:cs typeface="Arial"/>
              </a:defRPr>
            </a:pPr>
            <a:r>
              <a:rPr lang="en-US" sz="702" b="0" dirty="0">
                <a:solidFill>
                  <a:srgbClr val="263442"/>
                </a:solidFill>
                <a:latin typeface="Arial"/>
                <a:ea typeface="Arial"/>
                <a:cs typeface="Arial"/>
              </a:rPr>
              <a:t>Downstream </a:t>
            </a:r>
            <a:r>
              <a:rPr lang="en-US" b="0" dirty="0"/>
              <a:t>d</a:t>
            </a:r>
            <a:r>
              <a:rPr sz="702" b="0" dirty="0">
                <a:solidFill>
                  <a:srgbClr val="263442"/>
                </a:solidFill>
                <a:latin typeface="Arial"/>
                <a:ea typeface="Arial"/>
                <a:cs typeface="Arial"/>
              </a:rPr>
              <a:t>ocking tools</a:t>
            </a:r>
          </a:p>
        </p:txBody>
      </p:sp>
      <p:sp>
        <p:nvSpPr>
          <p:cNvPr id="777" name="Build pose output">
            <a:extLst>
              <a:ext uri="{FF2B5EF4-FFF2-40B4-BE49-F238E27FC236}">
                <a16:creationId xmlns:a16="http://schemas.microsoft.com/office/drawing/2014/main" id="{0B218F6B-7A76-F3B6-A0A5-E42AE4C10B80}"/>
              </a:ext>
            </a:extLst>
          </p:cNvPr>
          <p:cNvSpPr>
            <a:spLocks noGrp="1"/>
          </p:cNvSpPr>
          <p:nvPr/>
        </p:nvSpPr>
        <p:spPr>
          <a:xfrm>
            <a:off x="4992811" y="3400604"/>
            <a:ext cx="1106489" cy="941449"/>
          </a:xfrm>
          <a:prstGeom prst="roundRect">
            <a:avLst>
              <a:gd name="adj" fmla="val 5395"/>
            </a:avLst>
          </a:prstGeom>
          <a:solidFill>
            <a:srgbClr val="FFFFFF"/>
          </a:solidFill>
          <a:ln w="7290">
            <a:solidFill>
              <a:srgbClr val="DFD6C3"/>
            </a:solidFill>
            <a:prstDash val="solid"/>
          </a:ln>
        </p:spPr>
      </p:sp>
      <p:sp>
        <p:nvSpPr>
          <p:cNvPr id="778" name="All atom pose label">
            <a:extLst>
              <a:ext uri="{FF2B5EF4-FFF2-40B4-BE49-F238E27FC236}">
                <a16:creationId xmlns:a16="http://schemas.microsoft.com/office/drawing/2014/main" id="{8FE77D82-0F62-5049-84A0-FD0D56FCE044}"/>
              </a:ext>
            </a:extLst>
          </p:cNvPr>
          <p:cNvSpPr>
            <a:spLocks noGrp="1"/>
          </p:cNvSpPr>
          <p:nvPr/>
        </p:nvSpPr>
        <p:spPr>
          <a:xfrm>
            <a:off x="4979784" y="4176444"/>
            <a:ext cx="1231233" cy="1174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All-atom ligand pose</a:t>
            </a:r>
          </a:p>
        </p:txBody>
      </p:sp>
      <p:pic>
        <p:nvPicPr>
          <p:cNvPr id="967" name="Buil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59E3DA4F-BD1F-6AD8-81F5-856ECED60067}"/>
              </a:ext>
            </a:extLst>
          </p:cNvPr>
          <p:cNvPicPr/>
          <p:nvPr/>
        </p:nvPicPr>
        <p:blipFill>
          <a:blip r:embed="rId4"/>
          <a:stretch>
            <a:fillRect/>
          </a:stretch>
        </p:blipFill>
        <p:spPr>
          <a:xfrm>
            <a:off x="5657542" y="1104265"/>
            <a:ext cx="361766" cy="345440"/>
          </a:xfrm>
          <a:prstGeom prst="rect">
            <a:avLst/>
          </a:prstGeom>
        </p:spPr>
      </p:pic>
      <p:sp>
        <p:nvSpPr>
          <p:cNvPr id="1187" name="Build | Engines frame">
            <a:extLst>
              <a:ext uri="{FF2B5EF4-FFF2-40B4-BE49-F238E27FC236}">
                <a16:creationId xmlns:a16="http://schemas.microsoft.com/office/drawing/2014/main" id="{79AD4C70-DD41-BB84-7331-69D7E3080E11}"/>
              </a:ext>
            </a:extLst>
          </p:cNvPr>
          <p:cNvSpPr/>
          <p:nvPr/>
        </p:nvSpPr>
        <p:spPr>
          <a:xfrm>
            <a:off x="4938821" y="2032000"/>
            <a:ext cx="1202377" cy="1172634"/>
          </a:xfrm>
          <a:prstGeom prst="roundRect">
            <a:avLst>
              <a:gd name="adj" fmla="val 5000"/>
            </a:avLst>
          </a:prstGeom>
          <a:solidFill>
            <a:srgbClr val="FFFFFF">
              <a:alpha val="50000"/>
            </a:srgbClr>
          </a:solidFill>
          <a:ln w="7290">
            <a:solidFill>
              <a:srgbClr val="D5CCB8"/>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1188" name="Build | Default PocketXMol card">
            <a:extLst>
              <a:ext uri="{FF2B5EF4-FFF2-40B4-BE49-F238E27FC236}">
                <a16:creationId xmlns:a16="http://schemas.microsoft.com/office/drawing/2014/main" id="{65696164-FF6C-2E64-A27D-E0452D5A76E9}"/>
              </a:ext>
            </a:extLst>
          </p:cNvPr>
          <p:cNvSpPr/>
          <p:nvPr/>
        </p:nvSpPr>
        <p:spPr>
          <a:xfrm>
            <a:off x="4992811" y="2089570"/>
            <a:ext cx="1106490" cy="456341"/>
          </a:xfrm>
          <a:prstGeom prst="roundRect">
            <a:avLst>
              <a:gd name="adj" fmla="val 8000"/>
            </a:avLst>
          </a:prstGeom>
          <a:solidFill>
            <a:srgbClr val="F1F4F5"/>
          </a:solidFill>
          <a:ln w="7290">
            <a:solidFill>
              <a:srgbClr val="D8A95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grpSp>
        <p:nvGrpSpPr>
          <p:cNvPr id="1189" name="Build | Density cube icon">
            <a:extLst>
              <a:ext uri="{FF2B5EF4-FFF2-40B4-BE49-F238E27FC236}">
                <a16:creationId xmlns:a16="http://schemas.microsoft.com/office/drawing/2014/main" id="{68B5FCE4-2F36-CAD0-B100-A4A97D0F3451}"/>
              </a:ext>
            </a:extLst>
          </p:cNvPr>
          <p:cNvGrpSpPr/>
          <p:nvPr/>
        </p:nvGrpSpPr>
        <p:grpSpPr>
          <a:xfrm>
            <a:off x="5024943" y="2171534"/>
            <a:ext cx="213580" cy="227238"/>
            <a:chOff x="2187720" y="5635440"/>
            <a:chExt cx="154440" cy="131400"/>
          </a:xfrm>
        </p:grpSpPr>
        <p:sp>
          <p:nvSpPr>
            <p:cNvPr id="1190" name="asset_3169_0">
              <a:extLst>
                <a:ext uri="{FF2B5EF4-FFF2-40B4-BE49-F238E27FC236}">
                  <a16:creationId xmlns:a16="http://schemas.microsoft.com/office/drawing/2014/main" id="{5FFB8783-18B8-9E3F-DF3D-D39890A83D04}"/>
                </a:ext>
              </a:extLst>
            </p:cNvPr>
            <p:cNvSpPr>
              <a:spLocks noGrp="1"/>
            </p:cNvSpPr>
            <p:nvPr/>
          </p:nvSpPr>
          <p:spPr>
            <a:xfrm>
              <a:off x="2187720" y="5635440"/>
              <a:ext cx="154440" cy="22338"/>
            </a:xfrm>
            <a:custGeom>
              <a:avLst/>
              <a:gdLst/>
              <a:ahLst/>
              <a:cxnLst/>
              <a:rect l="0" t="0" r="0" b="0"/>
              <a:pathLst>
                <a:path w="154440" h="22338">
                  <a:moveTo>
                    <a:pt x="0" y="22338"/>
                  </a:moveTo>
                  <a:lnTo>
                    <a:pt x="29344" y="0"/>
                  </a:lnTo>
                  <a:lnTo>
                    <a:pt x="154440" y="0"/>
                  </a:lnTo>
                  <a:lnTo>
                    <a:pt x="125096" y="22338"/>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1191" name="asset_3169_1">
              <a:extLst>
                <a:ext uri="{FF2B5EF4-FFF2-40B4-BE49-F238E27FC236}">
                  <a16:creationId xmlns:a16="http://schemas.microsoft.com/office/drawing/2014/main" id="{1EA12B72-72E8-2312-8F32-52AE6B165E9D}"/>
                </a:ext>
              </a:extLst>
            </p:cNvPr>
            <p:cNvSpPr>
              <a:spLocks noGrp="1"/>
            </p:cNvSpPr>
            <p:nvPr/>
          </p:nvSpPr>
          <p:spPr>
            <a:xfrm>
              <a:off x="2312816" y="5635440"/>
              <a:ext cx="29344" cy="131400"/>
            </a:xfrm>
            <a:custGeom>
              <a:avLst/>
              <a:gdLst/>
              <a:ahLst/>
              <a:cxnLst/>
              <a:rect l="0" t="0" r="0" b="0"/>
              <a:pathLst>
                <a:path w="29344" h="131400">
                  <a:moveTo>
                    <a:pt x="0" y="22338"/>
                  </a:moveTo>
                  <a:lnTo>
                    <a:pt x="29344" y="0"/>
                  </a:lnTo>
                  <a:lnTo>
                    <a:pt x="29344" y="109062"/>
                  </a:lnTo>
                  <a:lnTo>
                    <a:pt x="0" y="131400"/>
                  </a:lnTo>
                  <a:close/>
                </a:path>
              </a:pathLst>
            </a:custGeom>
            <a:solidFill>
              <a:srgbClr val="C9DFF3">
                <a:alpha val="22000"/>
              </a:srgbClr>
            </a:solidFill>
            <a:ln w="2700">
              <a:solidFill>
                <a:srgbClr val="A3C3E2"/>
              </a:solidFill>
            </a:ln>
          </p:spPr>
        </p:sp>
        <p:sp>
          <p:nvSpPr>
            <p:cNvPr id="1192" name="asset_3169_2">
              <a:extLst>
                <a:ext uri="{FF2B5EF4-FFF2-40B4-BE49-F238E27FC236}">
                  <a16:creationId xmlns:a16="http://schemas.microsoft.com/office/drawing/2014/main" id="{EDE3B5A8-D8FA-9133-41C2-DB6E1E75A6F9}"/>
                </a:ext>
              </a:extLst>
            </p:cNvPr>
            <p:cNvSpPr>
              <a:spLocks noGrp="1"/>
            </p:cNvSpPr>
            <p:nvPr/>
          </p:nvSpPr>
          <p:spPr>
            <a:xfrm>
              <a:off x="2187720" y="5657778"/>
              <a:ext cx="125096" cy="109062"/>
            </a:xfrm>
            <a:prstGeom prst="rect">
              <a:avLst/>
            </a:prstGeom>
            <a:solidFill>
              <a:srgbClr val="E7F1FC">
                <a:alpha val="20000"/>
              </a:srgbClr>
            </a:solidFill>
            <a:ln w="2700">
              <a:solidFill>
                <a:srgbClr val="ABC9E7"/>
              </a:solidFill>
            </a:ln>
          </p:spPr>
        </p:sp>
        <p:sp>
          <p:nvSpPr>
            <p:cNvPr id="1193" name="asset_3169_3">
              <a:extLst>
                <a:ext uri="{FF2B5EF4-FFF2-40B4-BE49-F238E27FC236}">
                  <a16:creationId xmlns:a16="http://schemas.microsoft.com/office/drawing/2014/main" id="{120BF363-735F-F584-10A8-02A0DD55EE7B}"/>
                </a:ext>
              </a:extLst>
            </p:cNvPr>
            <p:cNvSpPr>
              <a:spLocks noGrp="1"/>
            </p:cNvSpPr>
            <p:nvPr/>
          </p:nvSpPr>
          <p:spPr>
            <a:xfrm>
              <a:off x="2218994" y="5657778"/>
              <a:ext cx="4" cy="109062"/>
            </a:xfrm>
            <a:prstGeom prst="line">
              <a:avLst/>
            </a:prstGeom>
            <a:noFill/>
            <a:ln w="1980">
              <a:solidFill>
                <a:srgbClr val="B8D2EB">
                  <a:alpha val="33000"/>
                </a:srgbClr>
              </a:solidFill>
            </a:ln>
          </p:spPr>
        </p:sp>
        <p:sp>
          <p:nvSpPr>
            <p:cNvPr id="1194" name="asset_3169_4">
              <a:extLst>
                <a:ext uri="{FF2B5EF4-FFF2-40B4-BE49-F238E27FC236}">
                  <a16:creationId xmlns:a16="http://schemas.microsoft.com/office/drawing/2014/main" id="{E2829B7F-C588-BE5B-8D54-FBE1EBF2B8E5}"/>
                </a:ext>
              </a:extLst>
            </p:cNvPr>
            <p:cNvSpPr>
              <a:spLocks noGrp="1"/>
            </p:cNvSpPr>
            <p:nvPr/>
          </p:nvSpPr>
          <p:spPr>
            <a:xfrm>
              <a:off x="2187720" y="5685044"/>
              <a:ext cx="125096" cy="4"/>
            </a:xfrm>
            <a:prstGeom prst="line">
              <a:avLst/>
            </a:prstGeom>
            <a:noFill/>
            <a:ln w="1980">
              <a:solidFill>
                <a:srgbClr val="B8D2EB">
                  <a:alpha val="33000"/>
                </a:srgbClr>
              </a:solidFill>
            </a:ln>
          </p:spPr>
        </p:sp>
        <p:sp>
          <p:nvSpPr>
            <p:cNvPr id="1195" name="asset_3169_5">
              <a:extLst>
                <a:ext uri="{FF2B5EF4-FFF2-40B4-BE49-F238E27FC236}">
                  <a16:creationId xmlns:a16="http://schemas.microsoft.com/office/drawing/2014/main" id="{3DBA365A-AC44-C9B3-7E08-985ECB6E5232}"/>
                </a:ext>
              </a:extLst>
            </p:cNvPr>
            <p:cNvSpPr>
              <a:spLocks noGrp="1"/>
            </p:cNvSpPr>
            <p:nvPr/>
          </p:nvSpPr>
          <p:spPr>
            <a:xfrm>
              <a:off x="2250268" y="5657778"/>
              <a:ext cx="4" cy="109062"/>
            </a:xfrm>
            <a:prstGeom prst="line">
              <a:avLst/>
            </a:prstGeom>
            <a:noFill/>
            <a:ln w="1980">
              <a:solidFill>
                <a:srgbClr val="B8D2EB">
                  <a:alpha val="33000"/>
                </a:srgbClr>
              </a:solidFill>
            </a:ln>
          </p:spPr>
        </p:sp>
        <p:sp>
          <p:nvSpPr>
            <p:cNvPr id="1196" name="asset_3169_6">
              <a:extLst>
                <a:ext uri="{FF2B5EF4-FFF2-40B4-BE49-F238E27FC236}">
                  <a16:creationId xmlns:a16="http://schemas.microsoft.com/office/drawing/2014/main" id="{9F12D1AD-2ED4-77AF-F2EC-E76A62AE9C53}"/>
                </a:ext>
              </a:extLst>
            </p:cNvPr>
            <p:cNvSpPr>
              <a:spLocks noGrp="1"/>
            </p:cNvSpPr>
            <p:nvPr/>
          </p:nvSpPr>
          <p:spPr>
            <a:xfrm>
              <a:off x="2187720" y="5712309"/>
              <a:ext cx="125096" cy="4"/>
            </a:xfrm>
            <a:prstGeom prst="line">
              <a:avLst/>
            </a:prstGeom>
            <a:noFill/>
            <a:ln w="1980">
              <a:solidFill>
                <a:srgbClr val="B8D2EB">
                  <a:alpha val="33000"/>
                </a:srgbClr>
              </a:solidFill>
            </a:ln>
          </p:spPr>
        </p:sp>
        <p:sp>
          <p:nvSpPr>
            <p:cNvPr id="1197" name="asset_3169_7">
              <a:extLst>
                <a:ext uri="{FF2B5EF4-FFF2-40B4-BE49-F238E27FC236}">
                  <a16:creationId xmlns:a16="http://schemas.microsoft.com/office/drawing/2014/main" id="{530FF9D0-E22B-4C58-F523-2AC53D327A6E}"/>
                </a:ext>
              </a:extLst>
            </p:cNvPr>
            <p:cNvSpPr>
              <a:spLocks noGrp="1"/>
            </p:cNvSpPr>
            <p:nvPr/>
          </p:nvSpPr>
          <p:spPr>
            <a:xfrm>
              <a:off x="2281542" y="5657778"/>
              <a:ext cx="4" cy="109062"/>
            </a:xfrm>
            <a:prstGeom prst="line">
              <a:avLst/>
            </a:prstGeom>
            <a:noFill/>
            <a:ln w="1980">
              <a:solidFill>
                <a:srgbClr val="B8D2EB">
                  <a:alpha val="33000"/>
                </a:srgbClr>
              </a:solidFill>
            </a:ln>
          </p:spPr>
        </p:sp>
        <p:sp>
          <p:nvSpPr>
            <p:cNvPr id="1198" name="asset_3169_8">
              <a:extLst>
                <a:ext uri="{FF2B5EF4-FFF2-40B4-BE49-F238E27FC236}">
                  <a16:creationId xmlns:a16="http://schemas.microsoft.com/office/drawing/2014/main" id="{1E307AA0-A6C4-946A-18FD-30858587578A}"/>
                </a:ext>
              </a:extLst>
            </p:cNvPr>
            <p:cNvSpPr>
              <a:spLocks noGrp="1"/>
            </p:cNvSpPr>
            <p:nvPr/>
          </p:nvSpPr>
          <p:spPr>
            <a:xfrm>
              <a:off x="2187720" y="5739574"/>
              <a:ext cx="125096" cy="4"/>
            </a:xfrm>
            <a:prstGeom prst="line">
              <a:avLst/>
            </a:prstGeom>
            <a:noFill/>
            <a:ln w="1980">
              <a:solidFill>
                <a:srgbClr val="B8D2EB">
                  <a:alpha val="33000"/>
                </a:srgbClr>
              </a:solidFill>
            </a:ln>
          </p:spPr>
        </p:sp>
        <p:sp>
          <p:nvSpPr>
            <p:cNvPr id="1199" name="asset_3169_9">
              <a:extLst>
                <a:ext uri="{FF2B5EF4-FFF2-40B4-BE49-F238E27FC236}">
                  <a16:creationId xmlns:a16="http://schemas.microsoft.com/office/drawing/2014/main" id="{2C70D4C3-CC8E-18A5-188C-FB73FB31079A}"/>
                </a:ext>
              </a:extLst>
            </p:cNvPr>
            <p:cNvSpPr>
              <a:spLocks noGrp="1"/>
            </p:cNvSpPr>
            <p:nvPr/>
          </p:nvSpPr>
          <p:spPr>
            <a:xfrm>
              <a:off x="2198791" y="5672574"/>
              <a:ext cx="58245" cy="50256"/>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1200" name="asset_3169_10">
              <a:extLst>
                <a:ext uri="{FF2B5EF4-FFF2-40B4-BE49-F238E27FC236}">
                  <a16:creationId xmlns:a16="http://schemas.microsoft.com/office/drawing/2014/main" id="{9530488D-317A-3063-82AF-05EB1F0CA8B9}"/>
                </a:ext>
              </a:extLst>
            </p:cNvPr>
            <p:cNvSpPr>
              <a:spLocks noGrp="1"/>
            </p:cNvSpPr>
            <p:nvPr/>
          </p:nvSpPr>
          <p:spPr>
            <a:xfrm>
              <a:off x="2225487" y="5687232"/>
              <a:ext cx="63099" cy="54444"/>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1201" name="asset_3169_11">
              <a:extLst>
                <a:ext uri="{FF2B5EF4-FFF2-40B4-BE49-F238E27FC236}">
                  <a16:creationId xmlns:a16="http://schemas.microsoft.com/office/drawing/2014/main" id="{48323ECB-3BE3-307E-E823-C51C380A8650}"/>
                </a:ext>
              </a:extLst>
            </p:cNvPr>
            <p:cNvSpPr>
              <a:spLocks noGrp="1"/>
            </p:cNvSpPr>
            <p:nvPr/>
          </p:nvSpPr>
          <p:spPr>
            <a:xfrm>
              <a:off x="2248542" y="5660010"/>
              <a:ext cx="55818" cy="48162"/>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1202" name="asset_3169_12">
              <a:extLst>
                <a:ext uri="{FF2B5EF4-FFF2-40B4-BE49-F238E27FC236}">
                  <a16:creationId xmlns:a16="http://schemas.microsoft.com/office/drawing/2014/main" id="{C0C8C16B-9DED-677C-6432-EE50B45E7418}"/>
                </a:ext>
              </a:extLst>
            </p:cNvPr>
            <p:cNvSpPr>
              <a:spLocks noGrp="1"/>
            </p:cNvSpPr>
            <p:nvPr/>
          </p:nvSpPr>
          <p:spPr>
            <a:xfrm>
              <a:off x="2223060" y="5652681"/>
              <a:ext cx="53391" cy="46068"/>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1203" name="asset_3169_13">
              <a:extLst>
                <a:ext uri="{FF2B5EF4-FFF2-40B4-BE49-F238E27FC236}">
                  <a16:creationId xmlns:a16="http://schemas.microsoft.com/office/drawing/2014/main" id="{060B66F2-4388-65F4-6206-749CACAB0290}"/>
                </a:ext>
              </a:extLst>
            </p:cNvPr>
            <p:cNvSpPr>
              <a:spLocks noGrp="1"/>
            </p:cNvSpPr>
            <p:nvPr/>
          </p:nvSpPr>
          <p:spPr>
            <a:xfrm>
              <a:off x="2207281" y="5693871"/>
              <a:ext cx="30911" cy="266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4" name="asset_3169_14">
              <a:extLst>
                <a:ext uri="{FF2B5EF4-FFF2-40B4-BE49-F238E27FC236}">
                  <a16:creationId xmlns:a16="http://schemas.microsoft.com/office/drawing/2014/main" id="{13E2CBA3-7C02-4027-03E6-A698CD2EB714}"/>
                </a:ext>
              </a:extLst>
            </p:cNvPr>
            <p:cNvSpPr>
              <a:spLocks noGrp="1"/>
            </p:cNvSpPr>
            <p:nvPr/>
          </p:nvSpPr>
          <p:spPr>
            <a:xfrm>
              <a:off x="2253557" y="5697302"/>
              <a:ext cx="21556" cy="1860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5" name="asset_3169_15">
              <a:extLst>
                <a:ext uri="{FF2B5EF4-FFF2-40B4-BE49-F238E27FC236}">
                  <a16:creationId xmlns:a16="http://schemas.microsoft.com/office/drawing/2014/main" id="{D52AE182-CED9-F191-684F-C02E656634F9}"/>
                </a:ext>
              </a:extLst>
            </p:cNvPr>
            <p:cNvSpPr>
              <a:spLocks noGrp="1"/>
            </p:cNvSpPr>
            <p:nvPr/>
          </p:nvSpPr>
          <p:spPr>
            <a:xfrm>
              <a:off x="2278359" y="5672317"/>
              <a:ext cx="20931" cy="1806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6" name="asset_3169_16">
              <a:extLst>
                <a:ext uri="{FF2B5EF4-FFF2-40B4-BE49-F238E27FC236}">
                  <a16:creationId xmlns:a16="http://schemas.microsoft.com/office/drawing/2014/main" id="{89F2F434-5A13-55C5-50E0-3A863DFD674D}"/>
                </a:ext>
              </a:extLst>
            </p:cNvPr>
            <p:cNvSpPr>
              <a:spLocks noGrp="1"/>
            </p:cNvSpPr>
            <p:nvPr/>
          </p:nvSpPr>
          <p:spPr>
            <a:xfrm>
              <a:off x="2235959" y="5649092"/>
              <a:ext cx="26179" cy="2258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7" name="asset_3169_17">
              <a:extLst>
                <a:ext uri="{FF2B5EF4-FFF2-40B4-BE49-F238E27FC236}">
                  <a16:creationId xmlns:a16="http://schemas.microsoft.com/office/drawing/2014/main" id="{6F30CB2F-3FFE-E2E6-12A8-0C6F6E9862D8}"/>
                </a:ext>
              </a:extLst>
            </p:cNvPr>
            <p:cNvSpPr>
              <a:spLocks noGrp="1"/>
            </p:cNvSpPr>
            <p:nvPr/>
          </p:nvSpPr>
          <p:spPr>
            <a:xfrm>
              <a:off x="2230057" y="5690206"/>
              <a:ext cx="17158" cy="1480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8" name="asset_3169_18">
              <a:extLst>
                <a:ext uri="{FF2B5EF4-FFF2-40B4-BE49-F238E27FC236}">
                  <a16:creationId xmlns:a16="http://schemas.microsoft.com/office/drawing/2014/main" id="{688E0702-ABAA-1F53-2FEE-C044E75816FE}"/>
                </a:ext>
              </a:extLst>
            </p:cNvPr>
            <p:cNvSpPr>
              <a:spLocks noGrp="1"/>
            </p:cNvSpPr>
            <p:nvPr/>
          </p:nvSpPr>
          <p:spPr>
            <a:xfrm>
              <a:off x="2228799" y="5700798"/>
              <a:ext cx="17470" cy="1507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9" name="asset_3169_19">
              <a:extLst>
                <a:ext uri="{FF2B5EF4-FFF2-40B4-BE49-F238E27FC236}">
                  <a16:creationId xmlns:a16="http://schemas.microsoft.com/office/drawing/2014/main" id="{872FD139-9635-FDD4-0722-4E5EEB72AC26}"/>
                </a:ext>
              </a:extLst>
            </p:cNvPr>
            <p:cNvSpPr>
              <a:spLocks noGrp="1"/>
            </p:cNvSpPr>
            <p:nvPr/>
          </p:nvSpPr>
          <p:spPr>
            <a:xfrm>
              <a:off x="2264745" y="5672793"/>
              <a:ext cx="22335" cy="1927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0" name="asset_3169_20">
              <a:extLst>
                <a:ext uri="{FF2B5EF4-FFF2-40B4-BE49-F238E27FC236}">
                  <a16:creationId xmlns:a16="http://schemas.microsoft.com/office/drawing/2014/main" id="{2F589805-2015-0C9E-B861-49E63A36CA16}"/>
                </a:ext>
              </a:extLst>
            </p:cNvPr>
            <p:cNvSpPr>
              <a:spLocks noGrp="1"/>
            </p:cNvSpPr>
            <p:nvPr/>
          </p:nvSpPr>
          <p:spPr>
            <a:xfrm>
              <a:off x="2247802" y="5671816"/>
              <a:ext cx="29288" cy="252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1" name="asset_3169_21">
              <a:extLst>
                <a:ext uri="{FF2B5EF4-FFF2-40B4-BE49-F238E27FC236}">
                  <a16:creationId xmlns:a16="http://schemas.microsoft.com/office/drawing/2014/main" id="{0ACA986A-AF7E-C441-DA61-138FBBAA71F8}"/>
                </a:ext>
              </a:extLst>
            </p:cNvPr>
            <p:cNvSpPr>
              <a:spLocks noGrp="1"/>
            </p:cNvSpPr>
            <p:nvPr/>
          </p:nvSpPr>
          <p:spPr>
            <a:xfrm>
              <a:off x="2221472" y="5673188"/>
              <a:ext cx="24803" cy="2140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2" name="asset_3169_22">
              <a:extLst>
                <a:ext uri="{FF2B5EF4-FFF2-40B4-BE49-F238E27FC236}">
                  <a16:creationId xmlns:a16="http://schemas.microsoft.com/office/drawing/2014/main" id="{2D9591FC-2B85-F680-E4CA-E6BD7F3D89C9}"/>
                </a:ext>
              </a:extLst>
            </p:cNvPr>
            <p:cNvSpPr>
              <a:spLocks noGrp="1"/>
            </p:cNvSpPr>
            <p:nvPr/>
          </p:nvSpPr>
          <p:spPr>
            <a:xfrm>
              <a:off x="2231057" y="5701581"/>
              <a:ext cx="27548" cy="237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3" name="asset_3169_23">
              <a:extLst>
                <a:ext uri="{FF2B5EF4-FFF2-40B4-BE49-F238E27FC236}">
                  <a16:creationId xmlns:a16="http://schemas.microsoft.com/office/drawing/2014/main" id="{891DB7BF-9124-5E80-DEA3-AF8496902287}"/>
                </a:ext>
              </a:extLst>
            </p:cNvPr>
            <p:cNvSpPr>
              <a:spLocks noGrp="1"/>
            </p:cNvSpPr>
            <p:nvPr/>
          </p:nvSpPr>
          <p:spPr>
            <a:xfrm>
              <a:off x="2264932" y="5667506"/>
              <a:ext cx="28421" cy="2452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4" name="asset_3169_24">
              <a:extLst>
                <a:ext uri="{FF2B5EF4-FFF2-40B4-BE49-F238E27FC236}">
                  <a16:creationId xmlns:a16="http://schemas.microsoft.com/office/drawing/2014/main" id="{DE52E28A-6354-BE95-3C9A-A2C66025A871}"/>
                </a:ext>
              </a:extLst>
            </p:cNvPr>
            <p:cNvSpPr>
              <a:spLocks noGrp="1"/>
            </p:cNvSpPr>
            <p:nvPr/>
          </p:nvSpPr>
          <p:spPr>
            <a:xfrm>
              <a:off x="2231286" y="5661727"/>
              <a:ext cx="25293" cy="218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5" name="asset_3169_25">
              <a:extLst>
                <a:ext uri="{FF2B5EF4-FFF2-40B4-BE49-F238E27FC236}">
                  <a16:creationId xmlns:a16="http://schemas.microsoft.com/office/drawing/2014/main" id="{7988D7F5-9FD3-DE02-AC43-2C9102A603D8}"/>
                </a:ext>
              </a:extLst>
            </p:cNvPr>
            <p:cNvSpPr>
              <a:spLocks noGrp="1"/>
            </p:cNvSpPr>
            <p:nvPr/>
          </p:nvSpPr>
          <p:spPr>
            <a:xfrm>
              <a:off x="2203520" y="5678934"/>
              <a:ext cx="26056" cy="2248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6" name="asset_3169_26">
              <a:extLst>
                <a:ext uri="{FF2B5EF4-FFF2-40B4-BE49-F238E27FC236}">
                  <a16:creationId xmlns:a16="http://schemas.microsoft.com/office/drawing/2014/main" id="{C7CB8EF7-313A-8E8C-6DD1-7BDC7D92CCB0}"/>
                </a:ext>
              </a:extLst>
            </p:cNvPr>
            <p:cNvSpPr>
              <a:spLocks noGrp="1"/>
            </p:cNvSpPr>
            <p:nvPr/>
          </p:nvSpPr>
          <p:spPr>
            <a:xfrm>
              <a:off x="2258761" y="5717055"/>
              <a:ext cx="20939" cy="1806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7" name="asset_3169_27">
              <a:extLst>
                <a:ext uri="{FF2B5EF4-FFF2-40B4-BE49-F238E27FC236}">
                  <a16:creationId xmlns:a16="http://schemas.microsoft.com/office/drawing/2014/main" id="{73BCC20B-1FDA-F412-4DD8-A25B3302BB21}"/>
                </a:ext>
              </a:extLst>
            </p:cNvPr>
            <p:cNvSpPr>
              <a:spLocks noGrp="1"/>
            </p:cNvSpPr>
            <p:nvPr/>
          </p:nvSpPr>
          <p:spPr>
            <a:xfrm>
              <a:off x="2262469" y="5681666"/>
              <a:ext cx="24125" cy="2081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8" name="asset_3169_28">
              <a:extLst>
                <a:ext uri="{FF2B5EF4-FFF2-40B4-BE49-F238E27FC236}">
                  <a16:creationId xmlns:a16="http://schemas.microsoft.com/office/drawing/2014/main" id="{AF33B019-3B06-5B18-D90B-E00C3F3EDB2C}"/>
                </a:ext>
              </a:extLst>
            </p:cNvPr>
            <p:cNvSpPr>
              <a:spLocks noGrp="1"/>
            </p:cNvSpPr>
            <p:nvPr/>
          </p:nvSpPr>
          <p:spPr>
            <a:xfrm>
              <a:off x="2238082" y="5671347"/>
              <a:ext cx="27389" cy="2363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9" name="asset_3169_29">
              <a:extLst>
                <a:ext uri="{FF2B5EF4-FFF2-40B4-BE49-F238E27FC236}">
                  <a16:creationId xmlns:a16="http://schemas.microsoft.com/office/drawing/2014/main" id="{0FB4133A-9D97-E251-1B43-C62FA8130666}"/>
                </a:ext>
              </a:extLst>
            </p:cNvPr>
            <p:cNvSpPr>
              <a:spLocks noGrp="1"/>
            </p:cNvSpPr>
            <p:nvPr/>
          </p:nvSpPr>
          <p:spPr>
            <a:xfrm>
              <a:off x="2220795" y="5698579"/>
              <a:ext cx="25648" cy="2213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0" name="asset_3169_30">
              <a:extLst>
                <a:ext uri="{FF2B5EF4-FFF2-40B4-BE49-F238E27FC236}">
                  <a16:creationId xmlns:a16="http://schemas.microsoft.com/office/drawing/2014/main" id="{69D50226-8CEE-09CA-92F4-EA747B547FF4}"/>
                </a:ext>
              </a:extLst>
            </p:cNvPr>
            <p:cNvSpPr>
              <a:spLocks noGrp="1"/>
            </p:cNvSpPr>
            <p:nvPr/>
          </p:nvSpPr>
          <p:spPr>
            <a:xfrm>
              <a:off x="2243067" y="5723084"/>
              <a:ext cx="17688" cy="1526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1" name="asset_3169_31">
              <a:extLst>
                <a:ext uri="{FF2B5EF4-FFF2-40B4-BE49-F238E27FC236}">
                  <a16:creationId xmlns:a16="http://schemas.microsoft.com/office/drawing/2014/main" id="{8D9ECD96-25F9-4FC6-1C5E-5B500507A23C}"/>
                </a:ext>
              </a:extLst>
            </p:cNvPr>
            <p:cNvSpPr>
              <a:spLocks noGrp="1"/>
            </p:cNvSpPr>
            <p:nvPr/>
          </p:nvSpPr>
          <p:spPr>
            <a:xfrm>
              <a:off x="2257337" y="5659622"/>
              <a:ext cx="26336" cy="227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2" name="asset_3169_32">
              <a:extLst>
                <a:ext uri="{FF2B5EF4-FFF2-40B4-BE49-F238E27FC236}">
                  <a16:creationId xmlns:a16="http://schemas.microsoft.com/office/drawing/2014/main" id="{791FDFAC-6025-C51A-7F75-7437ACC6E354}"/>
                </a:ext>
              </a:extLst>
            </p:cNvPr>
            <p:cNvSpPr>
              <a:spLocks noGrp="1"/>
            </p:cNvSpPr>
            <p:nvPr/>
          </p:nvSpPr>
          <p:spPr>
            <a:xfrm>
              <a:off x="2256492" y="5666095"/>
              <a:ext cx="23460" cy="2024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3" name="asset_3169_33">
              <a:extLst>
                <a:ext uri="{FF2B5EF4-FFF2-40B4-BE49-F238E27FC236}">
                  <a16:creationId xmlns:a16="http://schemas.microsoft.com/office/drawing/2014/main" id="{DA973672-CCD0-6C59-1B34-7C6CC5E48F20}"/>
                </a:ext>
              </a:extLst>
            </p:cNvPr>
            <p:cNvSpPr>
              <a:spLocks noGrp="1"/>
            </p:cNvSpPr>
            <p:nvPr/>
          </p:nvSpPr>
          <p:spPr>
            <a:xfrm>
              <a:off x="2210503" y="5688799"/>
              <a:ext cx="30840" cy="266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4" name="asset_3169_34">
              <a:extLst>
                <a:ext uri="{FF2B5EF4-FFF2-40B4-BE49-F238E27FC236}">
                  <a16:creationId xmlns:a16="http://schemas.microsoft.com/office/drawing/2014/main" id="{43DD86C8-6E09-99CE-6266-42DC4FA64456}"/>
                </a:ext>
              </a:extLst>
            </p:cNvPr>
            <p:cNvSpPr>
              <a:spLocks noGrp="1"/>
            </p:cNvSpPr>
            <p:nvPr/>
          </p:nvSpPr>
          <p:spPr>
            <a:xfrm>
              <a:off x="2236186" y="5705144"/>
              <a:ext cx="22611" cy="195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5" name="asset_3169_35">
              <a:extLst>
                <a:ext uri="{FF2B5EF4-FFF2-40B4-BE49-F238E27FC236}">
                  <a16:creationId xmlns:a16="http://schemas.microsoft.com/office/drawing/2014/main" id="{D769467D-EEAF-B1AF-7AC6-68CC2D0F1288}"/>
                </a:ext>
              </a:extLst>
            </p:cNvPr>
            <p:cNvSpPr>
              <a:spLocks noGrp="1"/>
            </p:cNvSpPr>
            <p:nvPr/>
          </p:nvSpPr>
          <p:spPr>
            <a:xfrm>
              <a:off x="2260671" y="5685042"/>
              <a:ext cx="19267" cy="166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6" name="asset_3169_36">
              <a:extLst>
                <a:ext uri="{FF2B5EF4-FFF2-40B4-BE49-F238E27FC236}">
                  <a16:creationId xmlns:a16="http://schemas.microsoft.com/office/drawing/2014/main" id="{445AF884-4EC3-E477-DB0C-E7BACF22251A}"/>
                </a:ext>
              </a:extLst>
            </p:cNvPr>
            <p:cNvSpPr>
              <a:spLocks noGrp="1"/>
            </p:cNvSpPr>
            <p:nvPr/>
          </p:nvSpPr>
          <p:spPr>
            <a:xfrm>
              <a:off x="2255827" y="5658297"/>
              <a:ext cx="24486" cy="2112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7" name="asset_3169_37">
              <a:extLst>
                <a:ext uri="{FF2B5EF4-FFF2-40B4-BE49-F238E27FC236}">
                  <a16:creationId xmlns:a16="http://schemas.microsoft.com/office/drawing/2014/main" id="{8548860C-336A-E8E6-C08F-A2EC53A5F6C5}"/>
                </a:ext>
              </a:extLst>
            </p:cNvPr>
            <p:cNvSpPr>
              <a:spLocks noGrp="1"/>
            </p:cNvSpPr>
            <p:nvPr/>
          </p:nvSpPr>
          <p:spPr>
            <a:xfrm>
              <a:off x="2212444" y="5679829"/>
              <a:ext cx="19456" cy="1678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8" name="asset_3169_38">
              <a:extLst>
                <a:ext uri="{FF2B5EF4-FFF2-40B4-BE49-F238E27FC236}">
                  <a16:creationId xmlns:a16="http://schemas.microsoft.com/office/drawing/2014/main" id="{648DC38E-0310-9E0E-37D3-5E74B6EF35F1}"/>
                </a:ext>
              </a:extLst>
            </p:cNvPr>
            <p:cNvSpPr>
              <a:spLocks noGrp="1"/>
            </p:cNvSpPr>
            <p:nvPr/>
          </p:nvSpPr>
          <p:spPr>
            <a:xfrm>
              <a:off x="2240936" y="5686210"/>
              <a:ext cx="21405" cy="184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9" name="asset_3169_39">
              <a:extLst>
                <a:ext uri="{FF2B5EF4-FFF2-40B4-BE49-F238E27FC236}">
                  <a16:creationId xmlns:a16="http://schemas.microsoft.com/office/drawing/2014/main" id="{ACB0B137-A9B7-8555-0594-4839D4EE1AF5}"/>
                </a:ext>
              </a:extLst>
            </p:cNvPr>
            <p:cNvSpPr>
              <a:spLocks noGrp="1"/>
            </p:cNvSpPr>
            <p:nvPr/>
          </p:nvSpPr>
          <p:spPr>
            <a:xfrm>
              <a:off x="2265093" y="5678881"/>
              <a:ext cx="26532" cy="2289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0" name="asset_3169_40">
              <a:extLst>
                <a:ext uri="{FF2B5EF4-FFF2-40B4-BE49-F238E27FC236}">
                  <a16:creationId xmlns:a16="http://schemas.microsoft.com/office/drawing/2014/main" id="{CB82A286-4EA7-C723-174F-A005964CF56B}"/>
                </a:ext>
              </a:extLst>
            </p:cNvPr>
            <p:cNvSpPr>
              <a:spLocks noGrp="1"/>
            </p:cNvSpPr>
            <p:nvPr/>
          </p:nvSpPr>
          <p:spPr>
            <a:xfrm>
              <a:off x="2229701" y="5665168"/>
              <a:ext cx="29465" cy="254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1" name="asset_3169_41">
              <a:extLst>
                <a:ext uri="{FF2B5EF4-FFF2-40B4-BE49-F238E27FC236}">
                  <a16:creationId xmlns:a16="http://schemas.microsoft.com/office/drawing/2014/main" id="{1E67FB97-244C-14BD-73A9-CA2F9B1E24BA}"/>
                </a:ext>
              </a:extLst>
            </p:cNvPr>
            <p:cNvSpPr>
              <a:spLocks noGrp="1"/>
            </p:cNvSpPr>
            <p:nvPr/>
          </p:nvSpPr>
          <p:spPr>
            <a:xfrm>
              <a:off x="2222658" y="5680582"/>
              <a:ext cx="27660" cy="2386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2" name="asset_3169_42">
              <a:extLst>
                <a:ext uri="{FF2B5EF4-FFF2-40B4-BE49-F238E27FC236}">
                  <a16:creationId xmlns:a16="http://schemas.microsoft.com/office/drawing/2014/main" id="{417A6C45-6CB7-5380-B441-87E54399F7F7}"/>
                </a:ext>
              </a:extLst>
            </p:cNvPr>
            <p:cNvSpPr>
              <a:spLocks noGrp="1"/>
            </p:cNvSpPr>
            <p:nvPr/>
          </p:nvSpPr>
          <p:spPr>
            <a:xfrm>
              <a:off x="2243804" y="5697201"/>
              <a:ext cx="17846" cy="1539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3" name="asset_3169_43">
              <a:extLst>
                <a:ext uri="{FF2B5EF4-FFF2-40B4-BE49-F238E27FC236}">
                  <a16:creationId xmlns:a16="http://schemas.microsoft.com/office/drawing/2014/main" id="{5A16B6AC-2250-FE07-B0D3-1B193E4DFACB}"/>
                </a:ext>
              </a:extLst>
            </p:cNvPr>
            <p:cNvSpPr>
              <a:spLocks noGrp="1"/>
            </p:cNvSpPr>
            <p:nvPr/>
          </p:nvSpPr>
          <p:spPr>
            <a:xfrm>
              <a:off x="2262800" y="5690235"/>
              <a:ext cx="21180" cy="1827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4" name="asset_3169_44">
              <a:extLst>
                <a:ext uri="{FF2B5EF4-FFF2-40B4-BE49-F238E27FC236}">
                  <a16:creationId xmlns:a16="http://schemas.microsoft.com/office/drawing/2014/main" id="{081C5E26-7488-869A-618E-1092033F59C2}"/>
                </a:ext>
              </a:extLst>
            </p:cNvPr>
            <p:cNvSpPr>
              <a:spLocks noGrp="1"/>
            </p:cNvSpPr>
            <p:nvPr/>
          </p:nvSpPr>
          <p:spPr>
            <a:xfrm>
              <a:off x="2235058" y="5658630"/>
              <a:ext cx="25840" cy="2229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5" name="asset_3169_45">
              <a:extLst>
                <a:ext uri="{FF2B5EF4-FFF2-40B4-BE49-F238E27FC236}">
                  <a16:creationId xmlns:a16="http://schemas.microsoft.com/office/drawing/2014/main" id="{41A170EA-8B41-0DF1-E7EA-2AB990478A77}"/>
                </a:ext>
              </a:extLst>
            </p:cNvPr>
            <p:cNvSpPr>
              <a:spLocks noGrp="1"/>
            </p:cNvSpPr>
            <p:nvPr/>
          </p:nvSpPr>
          <p:spPr>
            <a:xfrm>
              <a:off x="2211228" y="5681493"/>
              <a:ext cx="31451" cy="2713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6" name="asset_3169_46">
              <a:extLst>
                <a:ext uri="{FF2B5EF4-FFF2-40B4-BE49-F238E27FC236}">
                  <a16:creationId xmlns:a16="http://schemas.microsoft.com/office/drawing/2014/main" id="{32D1B9BF-5325-26AF-BAA9-BBD6B30B328F}"/>
                </a:ext>
              </a:extLst>
            </p:cNvPr>
            <p:cNvSpPr>
              <a:spLocks noGrp="1"/>
            </p:cNvSpPr>
            <p:nvPr/>
          </p:nvSpPr>
          <p:spPr>
            <a:xfrm>
              <a:off x="2234524" y="5703451"/>
              <a:ext cx="21739" cy="1875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7" name="asset_3169_47">
              <a:extLst>
                <a:ext uri="{FF2B5EF4-FFF2-40B4-BE49-F238E27FC236}">
                  <a16:creationId xmlns:a16="http://schemas.microsoft.com/office/drawing/2014/main" id="{19954402-7CDC-A852-CA61-629A3E0C394F}"/>
                </a:ext>
              </a:extLst>
            </p:cNvPr>
            <p:cNvSpPr>
              <a:spLocks noGrp="1"/>
            </p:cNvSpPr>
            <p:nvPr/>
          </p:nvSpPr>
          <p:spPr>
            <a:xfrm>
              <a:off x="2269639" y="5693556"/>
              <a:ext cx="19299" cy="1665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8" name="asset_3169_48">
              <a:extLst>
                <a:ext uri="{FF2B5EF4-FFF2-40B4-BE49-F238E27FC236}">
                  <a16:creationId xmlns:a16="http://schemas.microsoft.com/office/drawing/2014/main" id="{41D1840A-7225-0A6F-EB5F-EF20E870D9CF}"/>
                </a:ext>
              </a:extLst>
            </p:cNvPr>
            <p:cNvSpPr>
              <a:spLocks noGrp="1"/>
            </p:cNvSpPr>
            <p:nvPr/>
          </p:nvSpPr>
          <p:spPr>
            <a:xfrm>
              <a:off x="2221813" y="5667367"/>
              <a:ext cx="17021" cy="1468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9" name="asset_3169_49">
              <a:extLst>
                <a:ext uri="{FF2B5EF4-FFF2-40B4-BE49-F238E27FC236}">
                  <a16:creationId xmlns:a16="http://schemas.microsoft.com/office/drawing/2014/main" id="{FB9EBEA7-2F90-78C6-B9FF-085239FF7530}"/>
                </a:ext>
              </a:extLst>
            </p:cNvPr>
            <p:cNvSpPr>
              <a:spLocks noGrp="1"/>
            </p:cNvSpPr>
            <p:nvPr/>
          </p:nvSpPr>
          <p:spPr>
            <a:xfrm>
              <a:off x="2208530" y="5668919"/>
              <a:ext cx="27524" cy="2374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40" name="asset_3169_50">
              <a:extLst>
                <a:ext uri="{FF2B5EF4-FFF2-40B4-BE49-F238E27FC236}">
                  <a16:creationId xmlns:a16="http://schemas.microsoft.com/office/drawing/2014/main" id="{7ED9E287-6110-2BD8-91C3-3424DDB48479}"/>
                </a:ext>
              </a:extLst>
            </p:cNvPr>
            <p:cNvSpPr>
              <a:spLocks noGrp="1"/>
            </p:cNvSpPr>
            <p:nvPr/>
          </p:nvSpPr>
          <p:spPr>
            <a:xfrm>
              <a:off x="2251433" y="5689815"/>
              <a:ext cx="17431" cy="1504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41" name="asset_3169_51">
              <a:extLst>
                <a:ext uri="{FF2B5EF4-FFF2-40B4-BE49-F238E27FC236}">
                  <a16:creationId xmlns:a16="http://schemas.microsoft.com/office/drawing/2014/main" id="{0A5D16C0-E9EB-7A6D-D123-3915E88A78A9}"/>
                </a:ext>
              </a:extLst>
            </p:cNvPr>
            <p:cNvSpPr>
              <a:spLocks noGrp="1"/>
            </p:cNvSpPr>
            <p:nvPr/>
          </p:nvSpPr>
          <p:spPr>
            <a:xfrm>
              <a:off x="2187720" y="5657778"/>
              <a:ext cx="125096" cy="109062"/>
            </a:xfrm>
            <a:custGeom>
              <a:avLst/>
              <a:gdLst/>
              <a:ahLst/>
              <a:cxnLst/>
              <a:rect l="0" t="0" r="0" b="0"/>
              <a:pathLst>
                <a:path w="125096" h="109062">
                  <a:moveTo>
                    <a:pt x="0" y="0"/>
                  </a:moveTo>
                  <a:lnTo>
                    <a:pt x="125096" y="0"/>
                  </a:lnTo>
                  <a:lnTo>
                    <a:pt x="125096" y="109062"/>
                  </a:lnTo>
                  <a:lnTo>
                    <a:pt x="0" y="109062"/>
                  </a:lnTo>
                  <a:close/>
                </a:path>
              </a:pathLst>
            </a:custGeom>
            <a:noFill/>
            <a:ln w="3600">
              <a:solidFill>
                <a:srgbClr val="8AB3D9"/>
              </a:solidFill>
            </a:ln>
          </p:spPr>
        </p:sp>
      </p:grpSp>
      <p:sp>
        <p:nvSpPr>
          <p:cNvPr id="1242" name="TextBox 12306">
            <a:extLst>
              <a:ext uri="{FF2B5EF4-FFF2-40B4-BE49-F238E27FC236}">
                <a16:creationId xmlns:a16="http://schemas.microsoft.com/office/drawing/2014/main" id="{B61D0A30-984F-5F1D-C0E3-4ED5D4539DF2}"/>
              </a:ext>
            </a:extLst>
          </p:cNvPr>
          <p:cNvSpPr txBox="1"/>
          <p:nvPr/>
        </p:nvSpPr>
        <p:spPr>
          <a:xfrm>
            <a:off x="5270490" y="2150246"/>
            <a:ext cx="819150" cy="93744"/>
          </a:xfrm>
          <a:prstGeom prst="rect">
            <a:avLst/>
          </a:prstGeom>
          <a:noFill/>
        </p:spPr>
        <p:txBody>
          <a:bodyPr wrap="square" lIns="0" tIns="0" rIns="0" bIns="0" anchor="ctr">
            <a:spAutoFit/>
          </a:bodyPr>
          <a:lstStyle/>
          <a:p>
            <a:pPr algn="l">
              <a:lnSpc>
                <a:spcPct val="105000"/>
              </a:lnSpc>
            </a:pPr>
            <a:r>
              <a:rPr sz="623" b="1" dirty="0" err="1">
                <a:solidFill>
                  <a:srgbClr val="263442"/>
                </a:solidFill>
                <a:latin typeface="Arial"/>
              </a:rPr>
              <a:t>DG-PocketXMol</a:t>
            </a:r>
            <a:endParaRPr sz="623" b="1" dirty="0">
              <a:solidFill>
                <a:srgbClr val="263442"/>
              </a:solidFill>
              <a:latin typeface="Arial"/>
            </a:endParaRPr>
          </a:p>
        </p:txBody>
      </p:sp>
      <p:sp>
        <p:nvSpPr>
          <p:cNvPr id="1243" name="TextBox 12307">
            <a:extLst>
              <a:ext uri="{FF2B5EF4-FFF2-40B4-BE49-F238E27FC236}">
                <a16:creationId xmlns:a16="http://schemas.microsoft.com/office/drawing/2014/main" id="{50E4F9BE-39D5-3572-2B27-7015D0FE756B}"/>
              </a:ext>
            </a:extLst>
          </p:cNvPr>
          <p:cNvSpPr txBox="1"/>
          <p:nvPr/>
        </p:nvSpPr>
        <p:spPr>
          <a:xfrm>
            <a:off x="5270983" y="2305119"/>
            <a:ext cx="819150" cy="163763"/>
          </a:xfrm>
          <a:prstGeom prst="rect">
            <a:avLst/>
          </a:prstGeom>
          <a:noFill/>
        </p:spPr>
        <p:txBody>
          <a:bodyPr wrap="square" lIns="0" tIns="0" rIns="0" bIns="0" anchor="ctr">
            <a:spAutoFit/>
          </a:bodyPr>
          <a:lstStyle/>
          <a:p>
            <a:pPr algn="l">
              <a:lnSpc>
                <a:spcPct val="96000"/>
              </a:lnSpc>
            </a:pPr>
            <a:r>
              <a:rPr sz="554" dirty="0">
                <a:solidFill>
                  <a:srgbClr val="263442"/>
                </a:solidFill>
                <a:latin typeface="Arial"/>
              </a:rPr>
              <a:t>Density-conditioned</a:t>
            </a:r>
            <a:endParaRPr lang="en-US" sz="554" dirty="0">
              <a:solidFill>
                <a:srgbClr val="263442"/>
              </a:solidFill>
              <a:latin typeface="Arial"/>
            </a:endParaRPr>
          </a:p>
          <a:p>
            <a:pPr algn="l">
              <a:lnSpc>
                <a:spcPct val="96000"/>
              </a:lnSpc>
            </a:pPr>
            <a:r>
              <a:rPr sz="554" dirty="0">
                <a:solidFill>
                  <a:srgbClr val="263442"/>
                </a:solidFill>
                <a:latin typeface="Arial"/>
              </a:rPr>
              <a:t>fine-tuning</a:t>
            </a:r>
          </a:p>
        </p:txBody>
      </p:sp>
      <p:sp>
        <p:nvSpPr>
          <p:cNvPr id="1244" name="Build | Docking tools card">
            <a:extLst>
              <a:ext uri="{FF2B5EF4-FFF2-40B4-BE49-F238E27FC236}">
                <a16:creationId xmlns:a16="http://schemas.microsoft.com/office/drawing/2014/main" id="{D8820DAD-C856-C828-BB1A-D380253AF157}"/>
              </a:ext>
            </a:extLst>
          </p:cNvPr>
          <p:cNvSpPr/>
          <p:nvPr/>
        </p:nvSpPr>
        <p:spPr>
          <a:xfrm>
            <a:off x="4992811" y="2608447"/>
            <a:ext cx="1106489" cy="516618"/>
          </a:xfrm>
          <a:prstGeom prst="roundRect">
            <a:avLst>
              <a:gd name="adj" fmla="val 8000"/>
            </a:avLst>
          </a:prstGeom>
          <a:solidFill>
            <a:srgbClr val="F1F4F5"/>
          </a:solidFill>
          <a:ln w="7290">
            <a:solidFill>
              <a:srgbClr val="B8C4D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1245" name="TextBox 12309">
            <a:extLst>
              <a:ext uri="{FF2B5EF4-FFF2-40B4-BE49-F238E27FC236}">
                <a16:creationId xmlns:a16="http://schemas.microsoft.com/office/drawing/2014/main" id="{E61A4066-788B-5B12-50A8-1419E47F2E66}"/>
              </a:ext>
            </a:extLst>
          </p:cNvPr>
          <p:cNvSpPr txBox="1"/>
          <p:nvPr/>
        </p:nvSpPr>
        <p:spPr>
          <a:xfrm>
            <a:off x="5044453" y="2647450"/>
            <a:ext cx="1047750" cy="101936"/>
          </a:xfrm>
          <a:prstGeom prst="rect">
            <a:avLst/>
          </a:prstGeom>
          <a:noFill/>
        </p:spPr>
        <p:txBody>
          <a:bodyPr wrap="square" lIns="0" tIns="0" rIns="0" bIns="0" anchor="ctr">
            <a:spAutoFit/>
          </a:bodyPr>
          <a:lstStyle/>
          <a:p>
            <a:pPr algn="l">
              <a:lnSpc>
                <a:spcPct val="105000"/>
              </a:lnSpc>
            </a:pPr>
            <a:r>
              <a:rPr lang="en-US" sz="640" b="1" dirty="0">
                <a:solidFill>
                  <a:srgbClr val="263442"/>
                </a:solidFill>
                <a:latin typeface="Arial"/>
              </a:rPr>
              <a:t>O</a:t>
            </a:r>
            <a:r>
              <a:rPr lang="en-US" altLang="zh-CN" sz="640" b="1" dirty="0">
                <a:solidFill>
                  <a:srgbClr val="263442"/>
                </a:solidFill>
                <a:latin typeface="Arial"/>
              </a:rPr>
              <a:t>ther d</a:t>
            </a:r>
            <a:r>
              <a:rPr sz="640" b="1" dirty="0">
                <a:solidFill>
                  <a:srgbClr val="263442"/>
                </a:solidFill>
                <a:latin typeface="Arial"/>
              </a:rPr>
              <a:t>ocking tools</a:t>
            </a:r>
          </a:p>
        </p:txBody>
      </p:sp>
      <p:sp>
        <p:nvSpPr>
          <p:cNvPr id="1246" name="TextBox 12310">
            <a:extLst>
              <a:ext uri="{FF2B5EF4-FFF2-40B4-BE49-F238E27FC236}">
                <a16:creationId xmlns:a16="http://schemas.microsoft.com/office/drawing/2014/main" id="{C9F46158-59CF-34E8-D872-FBF180C8ECC1}"/>
              </a:ext>
            </a:extLst>
          </p:cNvPr>
          <p:cNvSpPr txBox="1"/>
          <p:nvPr/>
        </p:nvSpPr>
        <p:spPr>
          <a:xfrm>
            <a:off x="5041329" y="2752162"/>
            <a:ext cx="389530" cy="372902"/>
          </a:xfrm>
          <a:prstGeom prst="rect">
            <a:avLst/>
          </a:prstGeom>
          <a:noFill/>
        </p:spPr>
        <p:txBody>
          <a:bodyPr wrap="none" lIns="0" tIns="0" rIns="0" bIns="0" anchor="ctr">
            <a:spAutoFit/>
          </a:bodyPr>
          <a:lstStyle/>
          <a:p>
            <a:pPr>
              <a:lnSpc>
                <a:spcPct val="105000"/>
              </a:lnSpc>
            </a:pPr>
            <a:r>
              <a:rPr lang="en-US" altLang="zh-CN" sz="554" dirty="0">
                <a:solidFill>
                  <a:srgbClr val="263442"/>
                </a:solidFill>
                <a:latin typeface="Arial"/>
              </a:rPr>
              <a:t>· </a:t>
            </a:r>
            <a:r>
              <a:rPr sz="554" dirty="0">
                <a:solidFill>
                  <a:srgbClr val="263442"/>
                </a:solidFill>
                <a:latin typeface="Arial"/>
              </a:rPr>
              <a:t>Vina </a:t>
            </a:r>
            <a:endParaRPr lang="en-US" sz="554" dirty="0">
              <a:solidFill>
                <a:srgbClr val="263442"/>
              </a:solidFill>
              <a:latin typeface="Arial"/>
            </a:endParaRPr>
          </a:p>
          <a:p>
            <a:pPr>
              <a:lnSpc>
                <a:spcPct val="105000"/>
              </a:lnSpc>
            </a:pPr>
            <a:r>
              <a:rPr sz="554" dirty="0">
                <a:solidFill>
                  <a:srgbClr val="263442"/>
                </a:solidFill>
                <a:latin typeface="Arial"/>
              </a:rPr>
              <a:t>· </a:t>
            </a:r>
            <a:r>
              <a:rPr sz="554" dirty="0" err="1">
                <a:solidFill>
                  <a:srgbClr val="263442"/>
                </a:solidFill>
                <a:latin typeface="Arial"/>
              </a:rPr>
              <a:t>DiffDock</a:t>
            </a:r>
            <a:r>
              <a:rPr sz="554" dirty="0">
                <a:solidFill>
                  <a:srgbClr val="263442"/>
                </a:solidFill>
                <a:latin typeface="Arial"/>
              </a:rPr>
              <a:t> </a:t>
            </a:r>
            <a:endParaRPr lang="en-US" sz="554" dirty="0">
              <a:solidFill>
                <a:srgbClr val="263442"/>
              </a:solidFill>
              <a:latin typeface="Arial"/>
            </a:endParaRPr>
          </a:p>
          <a:p>
            <a:pPr>
              <a:lnSpc>
                <a:spcPct val="105000"/>
              </a:lnSpc>
            </a:pPr>
            <a:r>
              <a:rPr sz="554" dirty="0">
                <a:solidFill>
                  <a:srgbClr val="263442"/>
                </a:solidFill>
                <a:latin typeface="Arial"/>
              </a:rPr>
              <a:t>· EMERALD</a:t>
            </a:r>
            <a:endParaRPr lang="en-US" sz="554" dirty="0">
              <a:solidFill>
                <a:srgbClr val="263442"/>
              </a:solidFill>
              <a:latin typeface="Arial"/>
            </a:endParaRPr>
          </a:p>
          <a:p>
            <a:pPr>
              <a:lnSpc>
                <a:spcPct val="105000"/>
              </a:lnSpc>
            </a:pPr>
            <a:r>
              <a:rPr lang="en-US" altLang="zh-CN" sz="554" dirty="0">
                <a:solidFill>
                  <a:srgbClr val="263442"/>
                </a:solidFill>
                <a:latin typeface="Arial"/>
              </a:rPr>
              <a:t>·</a:t>
            </a:r>
            <a:r>
              <a:rPr lang="zh-CN" altLang="en-US" sz="554" dirty="0">
                <a:solidFill>
                  <a:srgbClr val="263442"/>
                </a:solidFill>
                <a:latin typeface="Arial"/>
              </a:rPr>
              <a:t> </a:t>
            </a:r>
            <a:r>
              <a:rPr lang="en-US" altLang="zh-CN" sz="554" dirty="0">
                <a:solidFill>
                  <a:srgbClr val="263442"/>
                </a:solidFill>
                <a:latin typeface="Arial"/>
              </a:rPr>
              <a:t>·</a:t>
            </a:r>
            <a:r>
              <a:rPr lang="zh-CN" altLang="en-US" sz="554" dirty="0">
                <a:solidFill>
                  <a:srgbClr val="263442"/>
                </a:solidFill>
                <a:latin typeface="Arial"/>
              </a:rPr>
              <a:t> </a:t>
            </a:r>
            <a:r>
              <a:rPr lang="en-US" altLang="zh-CN" sz="554" dirty="0">
                <a:solidFill>
                  <a:srgbClr val="263442"/>
                </a:solidFill>
                <a:latin typeface="Arial"/>
              </a:rPr>
              <a:t>·</a:t>
            </a:r>
            <a:endParaRPr sz="554" dirty="0">
              <a:solidFill>
                <a:srgbClr val="263442"/>
              </a:solidFill>
              <a:latin typeface="Arial"/>
            </a:endParaRPr>
          </a:p>
        </p:txBody>
      </p:sp>
      <p:grpSp>
        <p:nvGrpSpPr>
          <p:cNvPr id="1248" name="Unified flow and feature elements">
            <a:extLst>
              <a:ext uri="{FF2B5EF4-FFF2-40B4-BE49-F238E27FC236}">
                <a16:creationId xmlns:a16="http://schemas.microsoft.com/office/drawing/2014/main" id="{DA74696D-FF4F-021F-A459-9CD0851351CF}"/>
              </a:ext>
            </a:extLst>
          </p:cNvPr>
          <p:cNvGrpSpPr/>
          <p:nvPr/>
        </p:nvGrpSpPr>
        <p:grpSpPr>
          <a:xfrm>
            <a:off x="823347" y="284723"/>
            <a:ext cx="3605650" cy="3967446"/>
            <a:chOff x="1936337" y="669608"/>
            <a:chExt cx="8479727" cy="9330594"/>
          </a:xfrm>
        </p:grpSpPr>
        <p:sp>
          <p:nvSpPr>
            <p:cNvPr id="1249" name="Preprocessing refined">
              <a:extLst>
                <a:ext uri="{FF2B5EF4-FFF2-40B4-BE49-F238E27FC236}">
                  <a16:creationId xmlns:a16="http://schemas.microsoft.com/office/drawing/2014/main" id="{A3A31885-181B-CF24-BE30-3ED8DAACE460}"/>
                </a:ext>
              </a:extLst>
            </p:cNvPr>
            <p:cNvSpPr>
              <a:spLocks noGrp="1"/>
            </p:cNvSpPr>
            <p:nvPr/>
          </p:nvSpPr>
          <p:spPr>
            <a:xfrm>
              <a:off x="3172901" y="669608"/>
              <a:ext cx="1028700" cy="3460433"/>
            </a:xfrm>
            <a:prstGeom prst="roundRect">
              <a:avLst>
                <a:gd name="adj" fmla="val 6481"/>
              </a:avLst>
            </a:prstGeom>
            <a:solidFill>
              <a:srgbClr val="E8EFF7"/>
            </a:solidFill>
            <a:ln w="7290">
              <a:solidFill>
                <a:srgbClr val="C4D1E1"/>
              </a:solidFill>
            </a:ln>
          </p:spPr>
        </p:sp>
        <p:sp>
          <p:nvSpPr>
            <p:cNvPr id="1250" name="Preprocessing divider refined">
              <a:extLst>
                <a:ext uri="{FF2B5EF4-FFF2-40B4-BE49-F238E27FC236}">
                  <a16:creationId xmlns:a16="http://schemas.microsoft.com/office/drawing/2014/main" id="{E21BD2F9-92DD-96F0-3AAF-0957638A49FB}"/>
                </a:ext>
              </a:extLst>
            </p:cNvPr>
            <p:cNvSpPr>
              <a:spLocks noGrp="1"/>
            </p:cNvSpPr>
            <p:nvPr/>
          </p:nvSpPr>
          <p:spPr>
            <a:xfrm>
              <a:off x="3269449" y="2418363"/>
              <a:ext cx="800100" cy="190"/>
            </a:xfrm>
            <a:custGeom>
              <a:avLst/>
              <a:gdLst/>
              <a:ahLst/>
              <a:cxnLst/>
              <a:rect l="0" t="0" r="0" b="0"/>
              <a:pathLst>
                <a:path w="800100" h="191">
                  <a:moveTo>
                    <a:pt x="0" y="0"/>
                  </a:moveTo>
                  <a:lnTo>
                    <a:pt x="800100" y="0"/>
                  </a:lnTo>
                </a:path>
              </a:pathLst>
            </a:custGeom>
            <a:noFill/>
            <a:ln w="6075">
              <a:solidFill>
                <a:srgbClr val="C4D1E1"/>
              </a:solidFill>
              <a:prstDash val="solid"/>
            </a:ln>
          </p:spPr>
        </p:sp>
        <p:sp>
          <p:nvSpPr>
            <p:cNvPr id="1251" name="Density bank refined">
              <a:extLst>
                <a:ext uri="{FF2B5EF4-FFF2-40B4-BE49-F238E27FC236}">
                  <a16:creationId xmlns:a16="http://schemas.microsoft.com/office/drawing/2014/main" id="{1E51E71A-A2BC-0776-E4CA-D30FBB1BE241}"/>
                </a:ext>
              </a:extLst>
            </p:cNvPr>
            <p:cNvSpPr>
              <a:spLocks noGrp="1"/>
            </p:cNvSpPr>
            <p:nvPr/>
          </p:nvSpPr>
          <p:spPr>
            <a:xfrm>
              <a:off x="3181873" y="760105"/>
              <a:ext cx="990599" cy="457199"/>
            </a:xfrm>
            <a:prstGeom prst="rect">
              <a:avLst/>
            </a:prstGeom>
            <a:noFill/>
            <a:ln w="7290">
              <a:noFill/>
            </a:ln>
          </p:spPr>
          <p:txBody>
            <a:bodyPr lIns="0" tIns="0" rIns="0" bIns="0" anchor="ctr"/>
            <a:lstStyle>
              <a:defPPr algn="ctr">
                <a:defRPr sz="612">
                  <a:solidFill>
                    <a:srgbClr val="263442"/>
                  </a:solidFill>
                  <a:latin typeface="Arial"/>
                  <a:ea typeface="Arial"/>
                  <a:cs typeface="Arial"/>
                </a:defRPr>
              </a:defPPr>
              <a:lvl1pPr algn="ctr">
                <a:defRPr sz="612">
                  <a:solidFill>
                    <a:srgbClr val="263442"/>
                  </a:solidFill>
                  <a:latin typeface="Arial"/>
                  <a:ea typeface="Arial"/>
                  <a:cs typeface="Arial"/>
                </a:defRPr>
              </a:lvl1pPr>
              <a:lvl2pPr algn="ctr">
                <a:defRPr sz="612">
                  <a:solidFill>
                    <a:srgbClr val="263442"/>
                  </a:solidFill>
                  <a:latin typeface="Arial"/>
                  <a:ea typeface="Arial"/>
                  <a:cs typeface="Arial"/>
                </a:defRPr>
              </a:lvl2pPr>
              <a:lvl3pPr algn="ctr">
                <a:defRPr sz="612">
                  <a:solidFill>
                    <a:srgbClr val="263442"/>
                  </a:solidFill>
                  <a:latin typeface="Arial"/>
                  <a:ea typeface="Arial"/>
                  <a:cs typeface="Arial"/>
                </a:defRPr>
              </a:lvl3pPr>
              <a:lvl4pPr algn="ctr">
                <a:defRPr sz="612">
                  <a:solidFill>
                    <a:srgbClr val="263442"/>
                  </a:solidFill>
                  <a:latin typeface="Arial"/>
                  <a:ea typeface="Arial"/>
                  <a:cs typeface="Arial"/>
                </a:defRPr>
              </a:lvl4pPr>
              <a:lvl5pPr algn="ctr">
                <a:defRPr sz="612">
                  <a:solidFill>
                    <a:srgbClr val="263442"/>
                  </a:solidFill>
                  <a:latin typeface="Arial"/>
                  <a:ea typeface="Arial"/>
                  <a:cs typeface="Arial"/>
                </a:defRPr>
              </a:lvl5pPr>
              <a:lvl6pPr algn="ctr">
                <a:defRPr sz="612">
                  <a:solidFill>
                    <a:srgbClr val="263442"/>
                  </a:solidFill>
                  <a:latin typeface="Arial"/>
                  <a:ea typeface="Arial"/>
                  <a:cs typeface="Arial"/>
                </a:defRPr>
              </a:lvl6pPr>
              <a:lvl7pPr algn="ctr">
                <a:defRPr sz="612">
                  <a:solidFill>
                    <a:srgbClr val="263442"/>
                  </a:solidFill>
                  <a:latin typeface="Arial"/>
                  <a:ea typeface="Arial"/>
                  <a:cs typeface="Arial"/>
                </a:defRPr>
              </a:lvl7pPr>
              <a:lvl8pPr algn="ctr">
                <a:defRPr sz="612">
                  <a:solidFill>
                    <a:srgbClr val="263442"/>
                  </a:solidFill>
                  <a:latin typeface="Arial"/>
                  <a:ea typeface="Arial"/>
                  <a:cs typeface="Arial"/>
                </a:defRPr>
              </a:lvl8pPr>
              <a:lvl9pPr algn="ctr">
                <a:defRPr sz="612">
                  <a:solidFill>
                    <a:srgbClr val="263442"/>
                  </a:solidFill>
                  <a:latin typeface="Arial"/>
                  <a:ea typeface="Arial"/>
                  <a:cs typeface="Arial"/>
                </a:defRPr>
              </a:lvl9pPr>
            </a:lstStyle>
            <a:p>
              <a:pPr algn="ctr">
                <a:defRPr sz="612">
                  <a:solidFill>
                    <a:srgbClr val="263442"/>
                  </a:solidFill>
                  <a:latin typeface="Arial"/>
                  <a:ea typeface="Arial"/>
                  <a:cs typeface="Arial"/>
                </a:defRPr>
              </a:pPr>
              <a:r>
                <a:rPr sz="550" dirty="0">
                  <a:solidFill>
                    <a:srgbClr val="263442"/>
                  </a:solidFill>
                  <a:latin typeface="Arial"/>
                  <a:ea typeface="Arial"/>
                  <a:cs typeface="Arial"/>
                </a:rPr>
                <a:t>Density</a:t>
              </a:r>
            </a:p>
            <a:p>
              <a:pPr algn="ctr">
                <a:defRPr sz="612">
                  <a:solidFill>
                    <a:srgbClr val="263442"/>
                  </a:solidFill>
                  <a:latin typeface="Arial"/>
                  <a:ea typeface="Arial"/>
                  <a:cs typeface="Arial"/>
                </a:defRPr>
              </a:pPr>
              <a:r>
                <a:rPr lang="en-US" sz="550" dirty="0">
                  <a:solidFill>
                    <a:srgbClr val="263442"/>
                  </a:solidFill>
                  <a:latin typeface="Arial"/>
                  <a:ea typeface="Arial"/>
                  <a:cs typeface="Arial"/>
                </a:rPr>
                <a:t>B</a:t>
              </a:r>
              <a:r>
                <a:rPr sz="550" dirty="0">
                  <a:solidFill>
                    <a:srgbClr val="263442"/>
                  </a:solidFill>
                  <a:latin typeface="Arial"/>
                  <a:ea typeface="Arial"/>
                  <a:cs typeface="Arial"/>
                </a:rPr>
                <a:t>ank</a:t>
              </a:r>
            </a:p>
          </p:txBody>
        </p:sp>
        <p:sp>
          <p:nvSpPr>
            <p:cNvPr id="1252" name="Embedding head refined">
              <a:extLst>
                <a:ext uri="{FF2B5EF4-FFF2-40B4-BE49-F238E27FC236}">
                  <a16:creationId xmlns:a16="http://schemas.microsoft.com/office/drawing/2014/main" id="{58C61B38-F8DB-1F98-DEE4-C9D7130E2730}"/>
                </a:ext>
              </a:extLst>
            </p:cNvPr>
            <p:cNvSpPr>
              <a:spLocks noGrp="1"/>
            </p:cNvSpPr>
            <p:nvPr/>
          </p:nvSpPr>
          <p:spPr>
            <a:xfrm>
              <a:off x="3192663" y="2542570"/>
              <a:ext cx="990599" cy="457199"/>
            </a:xfrm>
            <a:prstGeom prst="rect">
              <a:avLst/>
            </a:prstGeom>
            <a:noFill/>
            <a:ln w="7290">
              <a:noFill/>
            </a:ln>
          </p:spPr>
          <p:txBody>
            <a:bodyPr lIns="0" tIns="0" rIns="0" bIns="0" anchor="ctr"/>
            <a:lstStyle>
              <a:defPPr algn="ctr">
                <a:defRPr sz="612">
                  <a:solidFill>
                    <a:srgbClr val="263442"/>
                  </a:solidFill>
                  <a:latin typeface="Arial"/>
                  <a:ea typeface="Arial"/>
                  <a:cs typeface="Arial"/>
                </a:defRPr>
              </a:defPPr>
              <a:lvl1pPr algn="ctr">
                <a:defRPr sz="612">
                  <a:solidFill>
                    <a:srgbClr val="263442"/>
                  </a:solidFill>
                  <a:latin typeface="Arial"/>
                  <a:ea typeface="Arial"/>
                  <a:cs typeface="Arial"/>
                </a:defRPr>
              </a:lvl1pPr>
              <a:lvl2pPr algn="ctr">
                <a:defRPr sz="612">
                  <a:solidFill>
                    <a:srgbClr val="263442"/>
                  </a:solidFill>
                  <a:latin typeface="Arial"/>
                  <a:ea typeface="Arial"/>
                  <a:cs typeface="Arial"/>
                </a:defRPr>
              </a:lvl2pPr>
              <a:lvl3pPr algn="ctr">
                <a:defRPr sz="612">
                  <a:solidFill>
                    <a:srgbClr val="263442"/>
                  </a:solidFill>
                  <a:latin typeface="Arial"/>
                  <a:ea typeface="Arial"/>
                  <a:cs typeface="Arial"/>
                </a:defRPr>
              </a:lvl3pPr>
              <a:lvl4pPr algn="ctr">
                <a:defRPr sz="612">
                  <a:solidFill>
                    <a:srgbClr val="263442"/>
                  </a:solidFill>
                  <a:latin typeface="Arial"/>
                  <a:ea typeface="Arial"/>
                  <a:cs typeface="Arial"/>
                </a:defRPr>
              </a:lvl4pPr>
              <a:lvl5pPr algn="ctr">
                <a:defRPr sz="612">
                  <a:solidFill>
                    <a:srgbClr val="263442"/>
                  </a:solidFill>
                  <a:latin typeface="Arial"/>
                  <a:ea typeface="Arial"/>
                  <a:cs typeface="Arial"/>
                </a:defRPr>
              </a:lvl5pPr>
              <a:lvl6pPr algn="ctr">
                <a:defRPr sz="612">
                  <a:solidFill>
                    <a:srgbClr val="263442"/>
                  </a:solidFill>
                  <a:latin typeface="Arial"/>
                  <a:ea typeface="Arial"/>
                  <a:cs typeface="Arial"/>
                </a:defRPr>
              </a:lvl6pPr>
              <a:lvl7pPr algn="ctr">
                <a:defRPr sz="612">
                  <a:solidFill>
                    <a:srgbClr val="263442"/>
                  </a:solidFill>
                  <a:latin typeface="Arial"/>
                  <a:ea typeface="Arial"/>
                  <a:cs typeface="Arial"/>
                </a:defRPr>
              </a:lvl7pPr>
              <a:lvl8pPr algn="ctr">
                <a:defRPr sz="612">
                  <a:solidFill>
                    <a:srgbClr val="263442"/>
                  </a:solidFill>
                  <a:latin typeface="Arial"/>
                  <a:ea typeface="Arial"/>
                  <a:cs typeface="Arial"/>
                </a:defRPr>
              </a:lvl8pPr>
              <a:lvl9pPr algn="ctr">
                <a:defRPr sz="612">
                  <a:solidFill>
                    <a:srgbClr val="263442"/>
                  </a:solidFill>
                  <a:latin typeface="Arial"/>
                  <a:ea typeface="Arial"/>
                  <a:cs typeface="Arial"/>
                </a:defRPr>
              </a:lvl9pPr>
            </a:lstStyle>
            <a:p>
              <a:pPr algn="ctr">
                <a:defRPr sz="612">
                  <a:solidFill>
                    <a:srgbClr val="263442"/>
                  </a:solidFill>
                  <a:latin typeface="Arial"/>
                  <a:ea typeface="Arial"/>
                  <a:cs typeface="Arial"/>
                </a:defRPr>
              </a:pPr>
              <a:r>
                <a:rPr lang="en-US" sz="550" dirty="0">
                  <a:solidFill>
                    <a:srgbClr val="263442"/>
                  </a:solidFill>
                  <a:latin typeface="Arial"/>
                  <a:ea typeface="Arial"/>
                  <a:cs typeface="Arial"/>
                </a:rPr>
                <a:t>Atom embeddings</a:t>
              </a:r>
              <a:endParaRPr sz="550" dirty="0">
                <a:solidFill>
                  <a:srgbClr val="263442"/>
                </a:solidFill>
                <a:latin typeface="Arial"/>
                <a:ea typeface="Arial"/>
                <a:cs typeface="Arial"/>
              </a:endParaRPr>
            </a:p>
          </p:txBody>
        </p:sp>
        <p:sp>
          <p:nvSpPr>
            <p:cNvPr id="1253" name="Find matrix 0-0">
              <a:extLst>
                <a:ext uri="{FF2B5EF4-FFF2-40B4-BE49-F238E27FC236}">
                  <a16:creationId xmlns:a16="http://schemas.microsoft.com/office/drawing/2014/main" id="{BBF0C328-3AF9-A068-FA92-FBF890856A66}"/>
                </a:ext>
              </a:extLst>
            </p:cNvPr>
            <p:cNvSpPr>
              <a:spLocks noGrp="1"/>
            </p:cNvSpPr>
            <p:nvPr/>
          </p:nvSpPr>
          <p:spPr>
            <a:xfrm>
              <a:off x="10325612" y="3200400"/>
              <a:ext cx="91559" cy="70009"/>
            </a:xfrm>
            <a:prstGeom prst="rect">
              <a:avLst/>
            </a:prstGeom>
            <a:solidFill>
              <a:srgbClr val="3E8F9A"/>
            </a:solidFill>
            <a:ln w="7290">
              <a:noFill/>
            </a:ln>
          </p:spPr>
        </p:sp>
        <p:sp>
          <p:nvSpPr>
            <p:cNvPr id="1254" name="Find matrix 0-1">
              <a:extLst>
                <a:ext uri="{FF2B5EF4-FFF2-40B4-BE49-F238E27FC236}">
                  <a16:creationId xmlns:a16="http://schemas.microsoft.com/office/drawing/2014/main" id="{3474DD36-B24E-DC42-848D-72CE3DEC2274}"/>
                </a:ext>
              </a:extLst>
            </p:cNvPr>
            <p:cNvSpPr>
              <a:spLocks noGrp="1"/>
            </p:cNvSpPr>
            <p:nvPr/>
          </p:nvSpPr>
          <p:spPr>
            <a:xfrm>
              <a:off x="10421457" y="3200400"/>
              <a:ext cx="91559" cy="70009"/>
            </a:xfrm>
            <a:prstGeom prst="rect">
              <a:avLst/>
            </a:prstGeom>
            <a:solidFill>
              <a:srgbClr val="5B9FB6"/>
            </a:solidFill>
            <a:ln w="7290">
              <a:noFill/>
            </a:ln>
          </p:spPr>
        </p:sp>
        <p:sp>
          <p:nvSpPr>
            <p:cNvPr id="1255" name="Find matrix 0-2">
              <a:extLst>
                <a:ext uri="{FF2B5EF4-FFF2-40B4-BE49-F238E27FC236}">
                  <a16:creationId xmlns:a16="http://schemas.microsoft.com/office/drawing/2014/main" id="{F807BDD1-EE13-F00C-2E77-C8910F6ACC73}"/>
                </a:ext>
              </a:extLst>
            </p:cNvPr>
            <p:cNvSpPr>
              <a:spLocks noGrp="1"/>
            </p:cNvSpPr>
            <p:nvPr/>
          </p:nvSpPr>
          <p:spPr>
            <a:xfrm>
              <a:off x="10517302" y="3200400"/>
              <a:ext cx="91559" cy="70009"/>
            </a:xfrm>
            <a:prstGeom prst="rect">
              <a:avLst/>
            </a:prstGeom>
            <a:solidFill>
              <a:srgbClr val="A3CDDA"/>
            </a:solidFill>
            <a:ln w="7290">
              <a:noFill/>
            </a:ln>
          </p:spPr>
        </p:sp>
        <p:sp>
          <p:nvSpPr>
            <p:cNvPr id="1256" name="Find matrix 0-3">
              <a:extLst>
                <a:ext uri="{FF2B5EF4-FFF2-40B4-BE49-F238E27FC236}">
                  <a16:creationId xmlns:a16="http://schemas.microsoft.com/office/drawing/2014/main" id="{DB1A890F-778A-35C9-7AE1-C0AE618D52CF}"/>
                </a:ext>
              </a:extLst>
            </p:cNvPr>
            <p:cNvSpPr>
              <a:spLocks noGrp="1"/>
            </p:cNvSpPr>
            <p:nvPr/>
          </p:nvSpPr>
          <p:spPr>
            <a:xfrm>
              <a:off x="10613147" y="3200400"/>
              <a:ext cx="91559" cy="70009"/>
            </a:xfrm>
            <a:prstGeom prst="rect">
              <a:avLst/>
            </a:prstGeom>
            <a:solidFill>
              <a:srgbClr val="88BEC3"/>
            </a:solidFill>
            <a:ln w="7290">
              <a:noFill/>
            </a:ln>
          </p:spPr>
        </p:sp>
        <p:sp>
          <p:nvSpPr>
            <p:cNvPr id="1257" name="Find matrix 0-4">
              <a:extLst>
                <a:ext uri="{FF2B5EF4-FFF2-40B4-BE49-F238E27FC236}">
                  <a16:creationId xmlns:a16="http://schemas.microsoft.com/office/drawing/2014/main" id="{B445D6B3-6FC7-4615-5975-85730846D82F}"/>
                </a:ext>
              </a:extLst>
            </p:cNvPr>
            <p:cNvSpPr>
              <a:spLocks noGrp="1"/>
            </p:cNvSpPr>
            <p:nvPr/>
          </p:nvSpPr>
          <p:spPr>
            <a:xfrm>
              <a:off x="10708993" y="3200400"/>
              <a:ext cx="91559" cy="70009"/>
            </a:xfrm>
            <a:prstGeom prst="rect">
              <a:avLst/>
            </a:prstGeom>
            <a:solidFill>
              <a:srgbClr val="67AD9F"/>
            </a:solidFill>
            <a:ln w="7290">
              <a:noFill/>
            </a:ln>
          </p:spPr>
        </p:sp>
        <p:sp>
          <p:nvSpPr>
            <p:cNvPr id="1258" name="Find matrix 0-5">
              <a:extLst>
                <a:ext uri="{FF2B5EF4-FFF2-40B4-BE49-F238E27FC236}">
                  <a16:creationId xmlns:a16="http://schemas.microsoft.com/office/drawing/2014/main" id="{EDF77049-6933-CA1B-21BD-2D261FB460F5}"/>
                </a:ext>
              </a:extLst>
            </p:cNvPr>
            <p:cNvSpPr>
              <a:spLocks noGrp="1"/>
            </p:cNvSpPr>
            <p:nvPr/>
          </p:nvSpPr>
          <p:spPr>
            <a:xfrm>
              <a:off x="10804838" y="3200400"/>
              <a:ext cx="91559" cy="70009"/>
            </a:xfrm>
            <a:prstGeom prst="rect">
              <a:avLst/>
            </a:prstGeom>
            <a:solidFill>
              <a:srgbClr val="C4DDE0"/>
            </a:solidFill>
            <a:ln w="7290">
              <a:noFill/>
            </a:ln>
          </p:spPr>
        </p:sp>
        <p:sp>
          <p:nvSpPr>
            <p:cNvPr id="1259" name="Find matrix 0-6">
              <a:extLst>
                <a:ext uri="{FF2B5EF4-FFF2-40B4-BE49-F238E27FC236}">
                  <a16:creationId xmlns:a16="http://schemas.microsoft.com/office/drawing/2014/main" id="{F24780FB-09E3-AE39-557B-018C817CABA7}"/>
                </a:ext>
              </a:extLst>
            </p:cNvPr>
            <p:cNvSpPr>
              <a:spLocks noGrp="1"/>
            </p:cNvSpPr>
            <p:nvPr/>
          </p:nvSpPr>
          <p:spPr>
            <a:xfrm>
              <a:off x="10900683" y="3200400"/>
              <a:ext cx="91559" cy="70009"/>
            </a:xfrm>
            <a:prstGeom prst="rect">
              <a:avLst/>
            </a:prstGeom>
            <a:solidFill>
              <a:srgbClr val="B6D8CC"/>
            </a:solidFill>
            <a:ln w="7290">
              <a:noFill/>
            </a:ln>
          </p:spPr>
        </p:sp>
        <p:sp>
          <p:nvSpPr>
            <p:cNvPr id="1260" name="Find matrix 0-7">
              <a:extLst>
                <a:ext uri="{FF2B5EF4-FFF2-40B4-BE49-F238E27FC236}">
                  <a16:creationId xmlns:a16="http://schemas.microsoft.com/office/drawing/2014/main" id="{69791062-44B8-8426-AAD4-DD68B1FF31BA}"/>
                </a:ext>
              </a:extLst>
            </p:cNvPr>
            <p:cNvSpPr>
              <a:spLocks noGrp="1"/>
            </p:cNvSpPr>
            <p:nvPr/>
          </p:nvSpPr>
          <p:spPr>
            <a:xfrm>
              <a:off x="10996529" y="3200400"/>
              <a:ext cx="91559" cy="70009"/>
            </a:xfrm>
            <a:prstGeom prst="rect">
              <a:avLst/>
            </a:prstGeom>
            <a:solidFill>
              <a:srgbClr val="D6E5ED"/>
            </a:solidFill>
            <a:ln w="7290">
              <a:noFill/>
            </a:ln>
          </p:spPr>
        </p:sp>
        <p:sp>
          <p:nvSpPr>
            <p:cNvPr id="1261" name="Find matrix 1-0">
              <a:extLst>
                <a:ext uri="{FF2B5EF4-FFF2-40B4-BE49-F238E27FC236}">
                  <a16:creationId xmlns:a16="http://schemas.microsoft.com/office/drawing/2014/main" id="{DAD773D5-9108-C0B7-81D5-AC1CF98B49B0}"/>
                </a:ext>
              </a:extLst>
            </p:cNvPr>
            <p:cNvSpPr>
              <a:spLocks noGrp="1"/>
            </p:cNvSpPr>
            <p:nvPr/>
          </p:nvSpPr>
          <p:spPr>
            <a:xfrm>
              <a:off x="10325612" y="3274695"/>
              <a:ext cx="91559" cy="70009"/>
            </a:xfrm>
            <a:prstGeom prst="rect">
              <a:avLst/>
            </a:prstGeom>
            <a:solidFill>
              <a:srgbClr val="A3CDDA"/>
            </a:solidFill>
            <a:ln w="7290">
              <a:noFill/>
            </a:ln>
          </p:spPr>
        </p:sp>
        <p:sp>
          <p:nvSpPr>
            <p:cNvPr id="1262" name="Find matrix 1-1">
              <a:extLst>
                <a:ext uri="{FF2B5EF4-FFF2-40B4-BE49-F238E27FC236}">
                  <a16:creationId xmlns:a16="http://schemas.microsoft.com/office/drawing/2014/main" id="{FD6D65E0-3CD4-81C9-A7EC-EE4D1EA03DA1}"/>
                </a:ext>
              </a:extLst>
            </p:cNvPr>
            <p:cNvSpPr>
              <a:spLocks noGrp="1"/>
            </p:cNvSpPr>
            <p:nvPr/>
          </p:nvSpPr>
          <p:spPr>
            <a:xfrm>
              <a:off x="10421457" y="3274695"/>
              <a:ext cx="91559" cy="70009"/>
            </a:xfrm>
            <a:prstGeom prst="rect">
              <a:avLst/>
            </a:prstGeom>
            <a:solidFill>
              <a:srgbClr val="B6D8CC"/>
            </a:solidFill>
            <a:ln w="7290">
              <a:noFill/>
            </a:ln>
          </p:spPr>
        </p:sp>
        <p:sp>
          <p:nvSpPr>
            <p:cNvPr id="1263" name="Find matrix 1-2">
              <a:extLst>
                <a:ext uri="{FF2B5EF4-FFF2-40B4-BE49-F238E27FC236}">
                  <a16:creationId xmlns:a16="http://schemas.microsoft.com/office/drawing/2014/main" id="{C06E5EF8-D1B9-1DB5-4010-25CDECE16DF3}"/>
                </a:ext>
              </a:extLst>
            </p:cNvPr>
            <p:cNvSpPr>
              <a:spLocks noGrp="1"/>
            </p:cNvSpPr>
            <p:nvPr/>
          </p:nvSpPr>
          <p:spPr>
            <a:xfrm>
              <a:off x="10517302" y="3274695"/>
              <a:ext cx="91559" cy="70009"/>
            </a:xfrm>
            <a:prstGeom prst="rect">
              <a:avLst/>
            </a:prstGeom>
            <a:solidFill>
              <a:srgbClr val="88BEC3"/>
            </a:solidFill>
            <a:ln w="7290">
              <a:noFill/>
            </a:ln>
          </p:spPr>
        </p:sp>
        <p:sp>
          <p:nvSpPr>
            <p:cNvPr id="1264" name="Find matrix 1-3">
              <a:extLst>
                <a:ext uri="{FF2B5EF4-FFF2-40B4-BE49-F238E27FC236}">
                  <a16:creationId xmlns:a16="http://schemas.microsoft.com/office/drawing/2014/main" id="{9AD5706A-D366-481E-242D-C3727EE68292}"/>
                </a:ext>
              </a:extLst>
            </p:cNvPr>
            <p:cNvSpPr>
              <a:spLocks noGrp="1"/>
            </p:cNvSpPr>
            <p:nvPr/>
          </p:nvSpPr>
          <p:spPr>
            <a:xfrm>
              <a:off x="10613147" y="3274695"/>
              <a:ext cx="91559" cy="70009"/>
            </a:xfrm>
            <a:prstGeom prst="rect">
              <a:avLst/>
            </a:prstGeom>
            <a:solidFill>
              <a:srgbClr val="D6E5ED"/>
            </a:solidFill>
            <a:ln w="7290">
              <a:noFill/>
            </a:ln>
          </p:spPr>
        </p:sp>
        <p:sp>
          <p:nvSpPr>
            <p:cNvPr id="1265" name="Find matrix 1-4">
              <a:extLst>
                <a:ext uri="{FF2B5EF4-FFF2-40B4-BE49-F238E27FC236}">
                  <a16:creationId xmlns:a16="http://schemas.microsoft.com/office/drawing/2014/main" id="{6454B603-2435-1F3E-EFE1-9F3ED69FE183}"/>
                </a:ext>
              </a:extLst>
            </p:cNvPr>
            <p:cNvSpPr>
              <a:spLocks noGrp="1"/>
            </p:cNvSpPr>
            <p:nvPr/>
          </p:nvSpPr>
          <p:spPr>
            <a:xfrm>
              <a:off x="10708993" y="3274695"/>
              <a:ext cx="91559" cy="70009"/>
            </a:xfrm>
            <a:prstGeom prst="rect">
              <a:avLst/>
            </a:prstGeom>
            <a:solidFill>
              <a:srgbClr val="5B9FB6"/>
            </a:solidFill>
            <a:ln w="7290">
              <a:noFill/>
            </a:ln>
          </p:spPr>
        </p:sp>
        <p:sp>
          <p:nvSpPr>
            <p:cNvPr id="1266" name="Find matrix 1-5">
              <a:extLst>
                <a:ext uri="{FF2B5EF4-FFF2-40B4-BE49-F238E27FC236}">
                  <a16:creationId xmlns:a16="http://schemas.microsoft.com/office/drawing/2014/main" id="{BDC3058F-5BB6-EF0A-C0E4-8FFF478A86C2}"/>
                </a:ext>
              </a:extLst>
            </p:cNvPr>
            <p:cNvSpPr>
              <a:spLocks noGrp="1"/>
            </p:cNvSpPr>
            <p:nvPr/>
          </p:nvSpPr>
          <p:spPr>
            <a:xfrm>
              <a:off x="10804838" y="3274695"/>
              <a:ext cx="91559" cy="70009"/>
            </a:xfrm>
            <a:prstGeom prst="rect">
              <a:avLst/>
            </a:prstGeom>
            <a:solidFill>
              <a:srgbClr val="3E8F9A"/>
            </a:solidFill>
            <a:ln w="7290">
              <a:noFill/>
            </a:ln>
          </p:spPr>
        </p:sp>
        <p:sp>
          <p:nvSpPr>
            <p:cNvPr id="1267" name="Find matrix 1-6">
              <a:extLst>
                <a:ext uri="{FF2B5EF4-FFF2-40B4-BE49-F238E27FC236}">
                  <a16:creationId xmlns:a16="http://schemas.microsoft.com/office/drawing/2014/main" id="{7A6FD57F-2D4A-E860-6015-70841E18A307}"/>
                </a:ext>
              </a:extLst>
            </p:cNvPr>
            <p:cNvSpPr>
              <a:spLocks noGrp="1"/>
            </p:cNvSpPr>
            <p:nvPr/>
          </p:nvSpPr>
          <p:spPr>
            <a:xfrm>
              <a:off x="10900683" y="3274695"/>
              <a:ext cx="91559" cy="70009"/>
            </a:xfrm>
            <a:prstGeom prst="rect">
              <a:avLst/>
            </a:prstGeom>
            <a:solidFill>
              <a:srgbClr val="C4DDE0"/>
            </a:solidFill>
            <a:ln w="7290">
              <a:noFill/>
            </a:ln>
          </p:spPr>
        </p:sp>
        <p:sp>
          <p:nvSpPr>
            <p:cNvPr id="1268" name="Find matrix 1-7">
              <a:extLst>
                <a:ext uri="{FF2B5EF4-FFF2-40B4-BE49-F238E27FC236}">
                  <a16:creationId xmlns:a16="http://schemas.microsoft.com/office/drawing/2014/main" id="{289EF4F7-DDB6-5545-39F7-5D1B3F86D2D3}"/>
                </a:ext>
              </a:extLst>
            </p:cNvPr>
            <p:cNvSpPr>
              <a:spLocks noGrp="1"/>
            </p:cNvSpPr>
            <p:nvPr/>
          </p:nvSpPr>
          <p:spPr>
            <a:xfrm>
              <a:off x="10996529" y="3274695"/>
              <a:ext cx="91559" cy="70009"/>
            </a:xfrm>
            <a:prstGeom prst="rect">
              <a:avLst/>
            </a:prstGeom>
            <a:solidFill>
              <a:srgbClr val="67AD9F"/>
            </a:solidFill>
            <a:ln w="7290">
              <a:noFill/>
            </a:ln>
          </p:spPr>
        </p:sp>
        <p:sp>
          <p:nvSpPr>
            <p:cNvPr id="1269" name="Find matrix 2-0">
              <a:extLst>
                <a:ext uri="{FF2B5EF4-FFF2-40B4-BE49-F238E27FC236}">
                  <a16:creationId xmlns:a16="http://schemas.microsoft.com/office/drawing/2014/main" id="{B1282592-D5D6-9C68-2D42-3D2A0FA6458C}"/>
                </a:ext>
              </a:extLst>
            </p:cNvPr>
            <p:cNvSpPr>
              <a:spLocks noGrp="1"/>
            </p:cNvSpPr>
            <p:nvPr/>
          </p:nvSpPr>
          <p:spPr>
            <a:xfrm>
              <a:off x="10325612" y="3348990"/>
              <a:ext cx="91559" cy="70009"/>
            </a:xfrm>
            <a:prstGeom prst="rect">
              <a:avLst/>
            </a:prstGeom>
            <a:solidFill>
              <a:srgbClr val="67AD9F"/>
            </a:solidFill>
            <a:ln w="7290">
              <a:noFill/>
            </a:ln>
          </p:spPr>
        </p:sp>
        <p:sp>
          <p:nvSpPr>
            <p:cNvPr id="1270" name="Find matrix 2-1">
              <a:extLst>
                <a:ext uri="{FF2B5EF4-FFF2-40B4-BE49-F238E27FC236}">
                  <a16:creationId xmlns:a16="http://schemas.microsoft.com/office/drawing/2014/main" id="{390A8337-4744-F454-87FF-4E9BDE799C1D}"/>
                </a:ext>
              </a:extLst>
            </p:cNvPr>
            <p:cNvSpPr>
              <a:spLocks noGrp="1"/>
            </p:cNvSpPr>
            <p:nvPr/>
          </p:nvSpPr>
          <p:spPr>
            <a:xfrm>
              <a:off x="10421457" y="3348990"/>
              <a:ext cx="91559" cy="70009"/>
            </a:xfrm>
            <a:prstGeom prst="rect">
              <a:avLst/>
            </a:prstGeom>
            <a:solidFill>
              <a:srgbClr val="C4DDE0"/>
            </a:solidFill>
            <a:ln w="7290">
              <a:noFill/>
            </a:ln>
          </p:spPr>
        </p:sp>
        <p:sp>
          <p:nvSpPr>
            <p:cNvPr id="1271" name="Find matrix 2-2">
              <a:extLst>
                <a:ext uri="{FF2B5EF4-FFF2-40B4-BE49-F238E27FC236}">
                  <a16:creationId xmlns:a16="http://schemas.microsoft.com/office/drawing/2014/main" id="{F2F7291B-E14D-7E55-CC39-0366DDE36AB6}"/>
                </a:ext>
              </a:extLst>
            </p:cNvPr>
            <p:cNvSpPr>
              <a:spLocks noGrp="1"/>
            </p:cNvSpPr>
            <p:nvPr/>
          </p:nvSpPr>
          <p:spPr>
            <a:xfrm>
              <a:off x="10517302" y="3348990"/>
              <a:ext cx="91559" cy="70009"/>
            </a:xfrm>
            <a:prstGeom prst="rect">
              <a:avLst/>
            </a:prstGeom>
            <a:solidFill>
              <a:srgbClr val="5B9FB6"/>
            </a:solidFill>
            <a:ln w="7290">
              <a:noFill/>
            </a:ln>
          </p:spPr>
        </p:sp>
        <p:sp>
          <p:nvSpPr>
            <p:cNvPr id="1272" name="Find matrix 2-3">
              <a:extLst>
                <a:ext uri="{FF2B5EF4-FFF2-40B4-BE49-F238E27FC236}">
                  <a16:creationId xmlns:a16="http://schemas.microsoft.com/office/drawing/2014/main" id="{7DDB5DDB-AA90-B36F-ECCA-B3D87BDEF49C}"/>
                </a:ext>
              </a:extLst>
            </p:cNvPr>
            <p:cNvSpPr>
              <a:spLocks noGrp="1"/>
            </p:cNvSpPr>
            <p:nvPr/>
          </p:nvSpPr>
          <p:spPr>
            <a:xfrm>
              <a:off x="10613147" y="3348990"/>
              <a:ext cx="91559" cy="70009"/>
            </a:xfrm>
            <a:prstGeom prst="rect">
              <a:avLst/>
            </a:prstGeom>
            <a:solidFill>
              <a:srgbClr val="B6D8CC"/>
            </a:solidFill>
            <a:ln w="7290">
              <a:noFill/>
            </a:ln>
          </p:spPr>
        </p:sp>
        <p:sp>
          <p:nvSpPr>
            <p:cNvPr id="1273" name="Find matrix 2-4">
              <a:extLst>
                <a:ext uri="{FF2B5EF4-FFF2-40B4-BE49-F238E27FC236}">
                  <a16:creationId xmlns:a16="http://schemas.microsoft.com/office/drawing/2014/main" id="{FBF483EB-0895-E2F9-E946-2CE7B0273010}"/>
                </a:ext>
              </a:extLst>
            </p:cNvPr>
            <p:cNvSpPr>
              <a:spLocks noGrp="1"/>
            </p:cNvSpPr>
            <p:nvPr/>
          </p:nvSpPr>
          <p:spPr>
            <a:xfrm>
              <a:off x="10708993" y="3348990"/>
              <a:ext cx="91559" cy="70009"/>
            </a:xfrm>
            <a:prstGeom prst="rect">
              <a:avLst/>
            </a:prstGeom>
            <a:solidFill>
              <a:srgbClr val="3E8F9A"/>
            </a:solidFill>
            <a:ln w="7290">
              <a:noFill/>
            </a:ln>
          </p:spPr>
        </p:sp>
        <p:sp>
          <p:nvSpPr>
            <p:cNvPr id="1274" name="Find matrix 2-5">
              <a:extLst>
                <a:ext uri="{FF2B5EF4-FFF2-40B4-BE49-F238E27FC236}">
                  <a16:creationId xmlns:a16="http://schemas.microsoft.com/office/drawing/2014/main" id="{235264C0-29EF-D9B8-F0D1-9BEBBAD9D6E8}"/>
                </a:ext>
              </a:extLst>
            </p:cNvPr>
            <p:cNvSpPr>
              <a:spLocks noGrp="1"/>
            </p:cNvSpPr>
            <p:nvPr/>
          </p:nvSpPr>
          <p:spPr>
            <a:xfrm>
              <a:off x="10804838" y="3348990"/>
              <a:ext cx="91559" cy="70009"/>
            </a:xfrm>
            <a:prstGeom prst="rect">
              <a:avLst/>
            </a:prstGeom>
            <a:solidFill>
              <a:srgbClr val="D6E5ED"/>
            </a:solidFill>
            <a:ln w="7290">
              <a:noFill/>
            </a:ln>
          </p:spPr>
        </p:sp>
        <p:sp>
          <p:nvSpPr>
            <p:cNvPr id="1275" name="Find matrix 2-6">
              <a:extLst>
                <a:ext uri="{FF2B5EF4-FFF2-40B4-BE49-F238E27FC236}">
                  <a16:creationId xmlns:a16="http://schemas.microsoft.com/office/drawing/2014/main" id="{89BB4142-622C-474C-899B-E7C760EA5054}"/>
                </a:ext>
              </a:extLst>
            </p:cNvPr>
            <p:cNvSpPr>
              <a:spLocks noGrp="1"/>
            </p:cNvSpPr>
            <p:nvPr/>
          </p:nvSpPr>
          <p:spPr>
            <a:xfrm>
              <a:off x="10900683" y="3348990"/>
              <a:ext cx="91559" cy="70009"/>
            </a:xfrm>
            <a:prstGeom prst="rect">
              <a:avLst/>
            </a:prstGeom>
            <a:solidFill>
              <a:srgbClr val="88BEC3"/>
            </a:solidFill>
            <a:ln w="7290">
              <a:noFill/>
            </a:ln>
          </p:spPr>
        </p:sp>
        <p:sp>
          <p:nvSpPr>
            <p:cNvPr id="1276" name="Find matrix 2-7">
              <a:extLst>
                <a:ext uri="{FF2B5EF4-FFF2-40B4-BE49-F238E27FC236}">
                  <a16:creationId xmlns:a16="http://schemas.microsoft.com/office/drawing/2014/main" id="{6D2284D9-4AE6-02DD-AA99-C88ED825A8F4}"/>
                </a:ext>
              </a:extLst>
            </p:cNvPr>
            <p:cNvSpPr>
              <a:spLocks noGrp="1"/>
            </p:cNvSpPr>
            <p:nvPr/>
          </p:nvSpPr>
          <p:spPr>
            <a:xfrm>
              <a:off x="10996529" y="3348990"/>
              <a:ext cx="91559" cy="70009"/>
            </a:xfrm>
            <a:prstGeom prst="rect">
              <a:avLst/>
            </a:prstGeom>
            <a:solidFill>
              <a:srgbClr val="A3CDDA"/>
            </a:solidFill>
            <a:ln w="7290">
              <a:noFill/>
            </a:ln>
          </p:spPr>
        </p:sp>
        <p:sp>
          <p:nvSpPr>
            <p:cNvPr id="1277" name="Find matrix 3-0">
              <a:extLst>
                <a:ext uri="{FF2B5EF4-FFF2-40B4-BE49-F238E27FC236}">
                  <a16:creationId xmlns:a16="http://schemas.microsoft.com/office/drawing/2014/main" id="{A354350A-00E7-4344-FF84-5BBF2165CEDA}"/>
                </a:ext>
              </a:extLst>
            </p:cNvPr>
            <p:cNvSpPr>
              <a:spLocks noGrp="1"/>
            </p:cNvSpPr>
            <p:nvPr/>
          </p:nvSpPr>
          <p:spPr>
            <a:xfrm>
              <a:off x="10325612" y="3423285"/>
              <a:ext cx="91559" cy="70009"/>
            </a:xfrm>
            <a:prstGeom prst="rect">
              <a:avLst/>
            </a:prstGeom>
            <a:solidFill>
              <a:srgbClr val="88BEC3"/>
            </a:solidFill>
            <a:ln w="7290">
              <a:noFill/>
            </a:ln>
          </p:spPr>
        </p:sp>
        <p:sp>
          <p:nvSpPr>
            <p:cNvPr id="1278" name="Find matrix 3-1">
              <a:extLst>
                <a:ext uri="{FF2B5EF4-FFF2-40B4-BE49-F238E27FC236}">
                  <a16:creationId xmlns:a16="http://schemas.microsoft.com/office/drawing/2014/main" id="{E2EDFAC2-C5CD-2DF8-165C-4DBC9D98B449}"/>
                </a:ext>
              </a:extLst>
            </p:cNvPr>
            <p:cNvSpPr>
              <a:spLocks noGrp="1"/>
            </p:cNvSpPr>
            <p:nvPr/>
          </p:nvSpPr>
          <p:spPr>
            <a:xfrm>
              <a:off x="10421457" y="3423285"/>
              <a:ext cx="91559" cy="70009"/>
            </a:xfrm>
            <a:prstGeom prst="rect">
              <a:avLst/>
            </a:prstGeom>
            <a:solidFill>
              <a:srgbClr val="D6E5ED"/>
            </a:solidFill>
            <a:ln w="7290">
              <a:noFill/>
            </a:ln>
          </p:spPr>
        </p:sp>
        <p:sp>
          <p:nvSpPr>
            <p:cNvPr id="1279" name="Find matrix 3-2">
              <a:extLst>
                <a:ext uri="{FF2B5EF4-FFF2-40B4-BE49-F238E27FC236}">
                  <a16:creationId xmlns:a16="http://schemas.microsoft.com/office/drawing/2014/main" id="{4D088869-EB59-E1B3-59B4-C3C92C8170BA}"/>
                </a:ext>
              </a:extLst>
            </p:cNvPr>
            <p:cNvSpPr>
              <a:spLocks noGrp="1"/>
            </p:cNvSpPr>
            <p:nvPr/>
          </p:nvSpPr>
          <p:spPr>
            <a:xfrm>
              <a:off x="10517302" y="3423285"/>
              <a:ext cx="91559" cy="70009"/>
            </a:xfrm>
            <a:prstGeom prst="rect">
              <a:avLst/>
            </a:prstGeom>
            <a:solidFill>
              <a:srgbClr val="67AD9F"/>
            </a:solidFill>
            <a:ln w="7290">
              <a:noFill/>
            </a:ln>
          </p:spPr>
        </p:sp>
        <p:sp>
          <p:nvSpPr>
            <p:cNvPr id="1280" name="Find matrix 3-3">
              <a:extLst>
                <a:ext uri="{FF2B5EF4-FFF2-40B4-BE49-F238E27FC236}">
                  <a16:creationId xmlns:a16="http://schemas.microsoft.com/office/drawing/2014/main" id="{119CBCB9-6860-7DCC-AF73-C422647EEF23}"/>
                </a:ext>
              </a:extLst>
            </p:cNvPr>
            <p:cNvSpPr>
              <a:spLocks noGrp="1"/>
            </p:cNvSpPr>
            <p:nvPr/>
          </p:nvSpPr>
          <p:spPr>
            <a:xfrm>
              <a:off x="10613147" y="3423285"/>
              <a:ext cx="91559" cy="70009"/>
            </a:xfrm>
            <a:prstGeom prst="rect">
              <a:avLst/>
            </a:prstGeom>
            <a:solidFill>
              <a:srgbClr val="3E8F9A"/>
            </a:solidFill>
            <a:ln w="7290">
              <a:noFill/>
            </a:ln>
          </p:spPr>
        </p:sp>
        <p:sp>
          <p:nvSpPr>
            <p:cNvPr id="1281" name="Find matrix 3-4">
              <a:extLst>
                <a:ext uri="{FF2B5EF4-FFF2-40B4-BE49-F238E27FC236}">
                  <a16:creationId xmlns:a16="http://schemas.microsoft.com/office/drawing/2014/main" id="{F0ED964A-EDEB-7D43-69F8-BEFE576D1277}"/>
                </a:ext>
              </a:extLst>
            </p:cNvPr>
            <p:cNvSpPr>
              <a:spLocks noGrp="1"/>
            </p:cNvSpPr>
            <p:nvPr/>
          </p:nvSpPr>
          <p:spPr>
            <a:xfrm>
              <a:off x="10708993" y="3423285"/>
              <a:ext cx="91559" cy="70009"/>
            </a:xfrm>
            <a:prstGeom prst="rect">
              <a:avLst/>
            </a:prstGeom>
            <a:solidFill>
              <a:srgbClr val="C4DDE0"/>
            </a:solidFill>
            <a:ln w="7290">
              <a:noFill/>
            </a:ln>
          </p:spPr>
        </p:sp>
        <p:sp>
          <p:nvSpPr>
            <p:cNvPr id="1282" name="Find matrix 3-5">
              <a:extLst>
                <a:ext uri="{FF2B5EF4-FFF2-40B4-BE49-F238E27FC236}">
                  <a16:creationId xmlns:a16="http://schemas.microsoft.com/office/drawing/2014/main" id="{A0A2A64A-E67D-3395-0409-F2703179F7EC}"/>
                </a:ext>
              </a:extLst>
            </p:cNvPr>
            <p:cNvSpPr>
              <a:spLocks noGrp="1"/>
            </p:cNvSpPr>
            <p:nvPr/>
          </p:nvSpPr>
          <p:spPr>
            <a:xfrm>
              <a:off x="10804838" y="3423285"/>
              <a:ext cx="91559" cy="70009"/>
            </a:xfrm>
            <a:prstGeom prst="rect">
              <a:avLst/>
            </a:prstGeom>
            <a:solidFill>
              <a:srgbClr val="A3CDDA"/>
            </a:solidFill>
            <a:ln w="7290">
              <a:noFill/>
            </a:ln>
          </p:spPr>
        </p:sp>
        <p:sp>
          <p:nvSpPr>
            <p:cNvPr id="1283" name="Find matrix 3-6">
              <a:extLst>
                <a:ext uri="{FF2B5EF4-FFF2-40B4-BE49-F238E27FC236}">
                  <a16:creationId xmlns:a16="http://schemas.microsoft.com/office/drawing/2014/main" id="{EA7CE8E7-C1AC-E261-A970-8EC80886D558}"/>
                </a:ext>
              </a:extLst>
            </p:cNvPr>
            <p:cNvSpPr>
              <a:spLocks noGrp="1"/>
            </p:cNvSpPr>
            <p:nvPr/>
          </p:nvSpPr>
          <p:spPr>
            <a:xfrm>
              <a:off x="10900683" y="3423285"/>
              <a:ext cx="91559" cy="70009"/>
            </a:xfrm>
            <a:prstGeom prst="rect">
              <a:avLst/>
            </a:prstGeom>
            <a:solidFill>
              <a:srgbClr val="B6D8CC"/>
            </a:solidFill>
            <a:ln w="7290">
              <a:noFill/>
            </a:ln>
          </p:spPr>
        </p:sp>
        <p:sp>
          <p:nvSpPr>
            <p:cNvPr id="1284" name="Find matrix 3-7">
              <a:extLst>
                <a:ext uri="{FF2B5EF4-FFF2-40B4-BE49-F238E27FC236}">
                  <a16:creationId xmlns:a16="http://schemas.microsoft.com/office/drawing/2014/main" id="{3CC5802F-96A8-F327-8DCD-5C642BB94DCE}"/>
                </a:ext>
              </a:extLst>
            </p:cNvPr>
            <p:cNvSpPr>
              <a:spLocks noGrp="1"/>
            </p:cNvSpPr>
            <p:nvPr/>
          </p:nvSpPr>
          <p:spPr>
            <a:xfrm>
              <a:off x="10996529" y="3423285"/>
              <a:ext cx="91559" cy="70009"/>
            </a:xfrm>
            <a:prstGeom prst="rect">
              <a:avLst/>
            </a:prstGeom>
            <a:solidFill>
              <a:srgbClr val="5B9FB6"/>
            </a:solidFill>
            <a:ln w="7290">
              <a:noFill/>
            </a:ln>
          </p:spPr>
        </p:sp>
        <p:sp>
          <p:nvSpPr>
            <p:cNvPr id="1285" name="Match matrix 0-0">
              <a:extLst>
                <a:ext uri="{FF2B5EF4-FFF2-40B4-BE49-F238E27FC236}">
                  <a16:creationId xmlns:a16="http://schemas.microsoft.com/office/drawing/2014/main" id="{1E148E3C-F1D3-F47F-36C6-42E1C579FB78}"/>
                </a:ext>
              </a:extLst>
            </p:cNvPr>
            <p:cNvSpPr>
              <a:spLocks noGrp="1"/>
            </p:cNvSpPr>
            <p:nvPr/>
          </p:nvSpPr>
          <p:spPr>
            <a:xfrm>
              <a:off x="3860262" y="7252039"/>
              <a:ext cx="88583" cy="70009"/>
            </a:xfrm>
            <a:prstGeom prst="rect">
              <a:avLst/>
            </a:prstGeom>
            <a:solidFill>
              <a:srgbClr val="3E8F9A"/>
            </a:solidFill>
            <a:ln w="7290">
              <a:noFill/>
            </a:ln>
          </p:spPr>
        </p:sp>
        <p:sp>
          <p:nvSpPr>
            <p:cNvPr id="1286" name="Match matrix 0-1">
              <a:extLst>
                <a:ext uri="{FF2B5EF4-FFF2-40B4-BE49-F238E27FC236}">
                  <a16:creationId xmlns:a16="http://schemas.microsoft.com/office/drawing/2014/main" id="{6CE95E95-35B4-AAA3-E629-B7804854BFD1}"/>
                </a:ext>
              </a:extLst>
            </p:cNvPr>
            <p:cNvSpPr>
              <a:spLocks noGrp="1"/>
            </p:cNvSpPr>
            <p:nvPr/>
          </p:nvSpPr>
          <p:spPr>
            <a:xfrm>
              <a:off x="3953131" y="7252039"/>
              <a:ext cx="88583" cy="70009"/>
            </a:xfrm>
            <a:prstGeom prst="rect">
              <a:avLst/>
            </a:prstGeom>
            <a:solidFill>
              <a:srgbClr val="5B9FB6"/>
            </a:solidFill>
            <a:ln w="7290">
              <a:noFill/>
            </a:ln>
          </p:spPr>
        </p:sp>
        <p:sp>
          <p:nvSpPr>
            <p:cNvPr id="1287" name="Match matrix 0-2">
              <a:extLst>
                <a:ext uri="{FF2B5EF4-FFF2-40B4-BE49-F238E27FC236}">
                  <a16:creationId xmlns:a16="http://schemas.microsoft.com/office/drawing/2014/main" id="{7AA444A0-2B6A-4C23-EFFA-BB0D0814FEA4}"/>
                </a:ext>
              </a:extLst>
            </p:cNvPr>
            <p:cNvSpPr>
              <a:spLocks noGrp="1"/>
            </p:cNvSpPr>
            <p:nvPr/>
          </p:nvSpPr>
          <p:spPr>
            <a:xfrm>
              <a:off x="4046000" y="7252039"/>
              <a:ext cx="88583" cy="70009"/>
            </a:xfrm>
            <a:prstGeom prst="rect">
              <a:avLst/>
            </a:prstGeom>
            <a:solidFill>
              <a:srgbClr val="A3CDDA"/>
            </a:solidFill>
            <a:ln w="7290">
              <a:noFill/>
            </a:ln>
          </p:spPr>
        </p:sp>
        <p:sp>
          <p:nvSpPr>
            <p:cNvPr id="1288" name="Match matrix 0-3">
              <a:extLst>
                <a:ext uri="{FF2B5EF4-FFF2-40B4-BE49-F238E27FC236}">
                  <a16:creationId xmlns:a16="http://schemas.microsoft.com/office/drawing/2014/main" id="{FA614244-906C-CFFC-1294-6D233D01CB35}"/>
                </a:ext>
              </a:extLst>
            </p:cNvPr>
            <p:cNvSpPr>
              <a:spLocks noGrp="1"/>
            </p:cNvSpPr>
            <p:nvPr/>
          </p:nvSpPr>
          <p:spPr>
            <a:xfrm>
              <a:off x="4138868" y="7252039"/>
              <a:ext cx="88583" cy="70009"/>
            </a:xfrm>
            <a:prstGeom prst="rect">
              <a:avLst/>
            </a:prstGeom>
            <a:solidFill>
              <a:srgbClr val="88BEC3"/>
            </a:solidFill>
            <a:ln w="7290">
              <a:noFill/>
            </a:ln>
          </p:spPr>
        </p:sp>
        <p:sp>
          <p:nvSpPr>
            <p:cNvPr id="1289" name="Match matrix 0-4">
              <a:extLst>
                <a:ext uri="{FF2B5EF4-FFF2-40B4-BE49-F238E27FC236}">
                  <a16:creationId xmlns:a16="http://schemas.microsoft.com/office/drawing/2014/main" id="{EE4A1296-1DD3-454F-610D-2BDEB1D0EFA9}"/>
                </a:ext>
              </a:extLst>
            </p:cNvPr>
            <p:cNvSpPr>
              <a:spLocks noGrp="1"/>
            </p:cNvSpPr>
            <p:nvPr/>
          </p:nvSpPr>
          <p:spPr>
            <a:xfrm>
              <a:off x="4231737" y="7252039"/>
              <a:ext cx="88583" cy="70009"/>
            </a:xfrm>
            <a:prstGeom prst="rect">
              <a:avLst/>
            </a:prstGeom>
            <a:solidFill>
              <a:srgbClr val="67AD9F"/>
            </a:solidFill>
            <a:ln w="7290">
              <a:noFill/>
            </a:ln>
          </p:spPr>
        </p:sp>
        <p:sp>
          <p:nvSpPr>
            <p:cNvPr id="1290" name="Match matrix 0-5">
              <a:extLst>
                <a:ext uri="{FF2B5EF4-FFF2-40B4-BE49-F238E27FC236}">
                  <a16:creationId xmlns:a16="http://schemas.microsoft.com/office/drawing/2014/main" id="{A27DCA6A-D9A0-89D2-300F-145A0353541B}"/>
                </a:ext>
              </a:extLst>
            </p:cNvPr>
            <p:cNvSpPr>
              <a:spLocks noGrp="1"/>
            </p:cNvSpPr>
            <p:nvPr/>
          </p:nvSpPr>
          <p:spPr>
            <a:xfrm>
              <a:off x="4324606" y="7252039"/>
              <a:ext cx="88583" cy="70009"/>
            </a:xfrm>
            <a:prstGeom prst="rect">
              <a:avLst/>
            </a:prstGeom>
            <a:solidFill>
              <a:srgbClr val="C4DDE0"/>
            </a:solidFill>
            <a:ln w="7290">
              <a:noFill/>
            </a:ln>
          </p:spPr>
        </p:sp>
        <p:sp>
          <p:nvSpPr>
            <p:cNvPr id="1291" name="Match matrix 0-6">
              <a:extLst>
                <a:ext uri="{FF2B5EF4-FFF2-40B4-BE49-F238E27FC236}">
                  <a16:creationId xmlns:a16="http://schemas.microsoft.com/office/drawing/2014/main" id="{110481AC-0BB3-A98A-15F4-6DA00B6462E6}"/>
                </a:ext>
              </a:extLst>
            </p:cNvPr>
            <p:cNvSpPr>
              <a:spLocks noGrp="1"/>
            </p:cNvSpPr>
            <p:nvPr/>
          </p:nvSpPr>
          <p:spPr>
            <a:xfrm>
              <a:off x="4417475" y="7252039"/>
              <a:ext cx="88583" cy="70009"/>
            </a:xfrm>
            <a:prstGeom prst="rect">
              <a:avLst/>
            </a:prstGeom>
            <a:solidFill>
              <a:srgbClr val="B6D8CC"/>
            </a:solidFill>
            <a:ln w="7290">
              <a:noFill/>
            </a:ln>
          </p:spPr>
        </p:sp>
        <p:sp>
          <p:nvSpPr>
            <p:cNvPr id="1292" name="Match matrix 0-7">
              <a:extLst>
                <a:ext uri="{FF2B5EF4-FFF2-40B4-BE49-F238E27FC236}">
                  <a16:creationId xmlns:a16="http://schemas.microsoft.com/office/drawing/2014/main" id="{CA0FE5FF-20F8-A515-1575-D2B579C6A384}"/>
                </a:ext>
              </a:extLst>
            </p:cNvPr>
            <p:cNvSpPr>
              <a:spLocks noGrp="1"/>
            </p:cNvSpPr>
            <p:nvPr/>
          </p:nvSpPr>
          <p:spPr>
            <a:xfrm>
              <a:off x="4510343" y="7252039"/>
              <a:ext cx="88583" cy="70009"/>
            </a:xfrm>
            <a:prstGeom prst="rect">
              <a:avLst/>
            </a:prstGeom>
            <a:solidFill>
              <a:srgbClr val="D6E5ED"/>
            </a:solidFill>
            <a:ln w="7290">
              <a:noFill/>
            </a:ln>
          </p:spPr>
        </p:sp>
        <p:sp>
          <p:nvSpPr>
            <p:cNvPr id="1293" name="Match matrix 1-0">
              <a:extLst>
                <a:ext uri="{FF2B5EF4-FFF2-40B4-BE49-F238E27FC236}">
                  <a16:creationId xmlns:a16="http://schemas.microsoft.com/office/drawing/2014/main" id="{62DD97DC-E1EF-3AC8-77C6-31E750CF1688}"/>
                </a:ext>
              </a:extLst>
            </p:cNvPr>
            <p:cNvSpPr>
              <a:spLocks noGrp="1"/>
            </p:cNvSpPr>
            <p:nvPr/>
          </p:nvSpPr>
          <p:spPr>
            <a:xfrm>
              <a:off x="3860262" y="7326334"/>
              <a:ext cx="88583" cy="70009"/>
            </a:xfrm>
            <a:prstGeom prst="rect">
              <a:avLst/>
            </a:prstGeom>
            <a:solidFill>
              <a:srgbClr val="A3CDDA"/>
            </a:solidFill>
            <a:ln w="7290">
              <a:noFill/>
            </a:ln>
          </p:spPr>
        </p:sp>
        <p:sp>
          <p:nvSpPr>
            <p:cNvPr id="1294" name="Match matrix 1-1">
              <a:extLst>
                <a:ext uri="{FF2B5EF4-FFF2-40B4-BE49-F238E27FC236}">
                  <a16:creationId xmlns:a16="http://schemas.microsoft.com/office/drawing/2014/main" id="{B545DCC8-F9BD-6322-3BD3-A195D0A92FFB}"/>
                </a:ext>
              </a:extLst>
            </p:cNvPr>
            <p:cNvSpPr>
              <a:spLocks noGrp="1"/>
            </p:cNvSpPr>
            <p:nvPr/>
          </p:nvSpPr>
          <p:spPr>
            <a:xfrm>
              <a:off x="3953131" y="7326334"/>
              <a:ext cx="88583" cy="70009"/>
            </a:xfrm>
            <a:prstGeom prst="rect">
              <a:avLst/>
            </a:prstGeom>
            <a:solidFill>
              <a:srgbClr val="B6D8CC"/>
            </a:solidFill>
            <a:ln w="7290">
              <a:noFill/>
            </a:ln>
          </p:spPr>
        </p:sp>
        <p:sp>
          <p:nvSpPr>
            <p:cNvPr id="1295" name="Match matrix 1-2">
              <a:extLst>
                <a:ext uri="{FF2B5EF4-FFF2-40B4-BE49-F238E27FC236}">
                  <a16:creationId xmlns:a16="http://schemas.microsoft.com/office/drawing/2014/main" id="{CA362456-65E1-995A-0618-99CCC4184C18}"/>
                </a:ext>
              </a:extLst>
            </p:cNvPr>
            <p:cNvSpPr>
              <a:spLocks noGrp="1"/>
            </p:cNvSpPr>
            <p:nvPr/>
          </p:nvSpPr>
          <p:spPr>
            <a:xfrm>
              <a:off x="4046000" y="7326334"/>
              <a:ext cx="88583" cy="70009"/>
            </a:xfrm>
            <a:prstGeom prst="rect">
              <a:avLst/>
            </a:prstGeom>
            <a:solidFill>
              <a:srgbClr val="88BEC3"/>
            </a:solidFill>
            <a:ln w="7290">
              <a:noFill/>
            </a:ln>
          </p:spPr>
        </p:sp>
        <p:sp>
          <p:nvSpPr>
            <p:cNvPr id="1296" name="Match matrix 1-3">
              <a:extLst>
                <a:ext uri="{FF2B5EF4-FFF2-40B4-BE49-F238E27FC236}">
                  <a16:creationId xmlns:a16="http://schemas.microsoft.com/office/drawing/2014/main" id="{A2C35F9E-7361-3F63-4B0D-A98BA11C6FD6}"/>
                </a:ext>
              </a:extLst>
            </p:cNvPr>
            <p:cNvSpPr>
              <a:spLocks noGrp="1"/>
            </p:cNvSpPr>
            <p:nvPr/>
          </p:nvSpPr>
          <p:spPr>
            <a:xfrm>
              <a:off x="4138868" y="7326334"/>
              <a:ext cx="88583" cy="70009"/>
            </a:xfrm>
            <a:prstGeom prst="rect">
              <a:avLst/>
            </a:prstGeom>
            <a:solidFill>
              <a:srgbClr val="D6E5ED"/>
            </a:solidFill>
            <a:ln w="7290">
              <a:noFill/>
            </a:ln>
          </p:spPr>
        </p:sp>
        <p:sp>
          <p:nvSpPr>
            <p:cNvPr id="1297" name="Match matrix 1-4">
              <a:extLst>
                <a:ext uri="{FF2B5EF4-FFF2-40B4-BE49-F238E27FC236}">
                  <a16:creationId xmlns:a16="http://schemas.microsoft.com/office/drawing/2014/main" id="{FAAA67D0-1522-17CF-8376-8D76753F582D}"/>
                </a:ext>
              </a:extLst>
            </p:cNvPr>
            <p:cNvSpPr>
              <a:spLocks noGrp="1"/>
            </p:cNvSpPr>
            <p:nvPr/>
          </p:nvSpPr>
          <p:spPr>
            <a:xfrm>
              <a:off x="4231737" y="7326334"/>
              <a:ext cx="88583" cy="70009"/>
            </a:xfrm>
            <a:prstGeom prst="rect">
              <a:avLst/>
            </a:prstGeom>
            <a:solidFill>
              <a:srgbClr val="5B9FB6"/>
            </a:solidFill>
            <a:ln w="7290">
              <a:noFill/>
            </a:ln>
          </p:spPr>
        </p:sp>
        <p:sp>
          <p:nvSpPr>
            <p:cNvPr id="1298" name="Match matrix 1-5">
              <a:extLst>
                <a:ext uri="{FF2B5EF4-FFF2-40B4-BE49-F238E27FC236}">
                  <a16:creationId xmlns:a16="http://schemas.microsoft.com/office/drawing/2014/main" id="{8EFA4585-A006-C810-377D-DBA6C87576CE}"/>
                </a:ext>
              </a:extLst>
            </p:cNvPr>
            <p:cNvSpPr>
              <a:spLocks noGrp="1"/>
            </p:cNvSpPr>
            <p:nvPr/>
          </p:nvSpPr>
          <p:spPr>
            <a:xfrm>
              <a:off x="4324606" y="7326334"/>
              <a:ext cx="88583" cy="70009"/>
            </a:xfrm>
            <a:prstGeom prst="rect">
              <a:avLst/>
            </a:prstGeom>
            <a:solidFill>
              <a:srgbClr val="3E8F9A"/>
            </a:solidFill>
            <a:ln w="7290">
              <a:noFill/>
            </a:ln>
          </p:spPr>
        </p:sp>
        <p:sp>
          <p:nvSpPr>
            <p:cNvPr id="1299" name="Match matrix 1-6">
              <a:extLst>
                <a:ext uri="{FF2B5EF4-FFF2-40B4-BE49-F238E27FC236}">
                  <a16:creationId xmlns:a16="http://schemas.microsoft.com/office/drawing/2014/main" id="{64D11889-0CF0-CA9A-1917-2BF4C8C70236}"/>
                </a:ext>
              </a:extLst>
            </p:cNvPr>
            <p:cNvSpPr>
              <a:spLocks noGrp="1"/>
            </p:cNvSpPr>
            <p:nvPr/>
          </p:nvSpPr>
          <p:spPr>
            <a:xfrm>
              <a:off x="4417475" y="7326334"/>
              <a:ext cx="88583" cy="70009"/>
            </a:xfrm>
            <a:prstGeom prst="rect">
              <a:avLst/>
            </a:prstGeom>
            <a:solidFill>
              <a:srgbClr val="C4DDE0"/>
            </a:solidFill>
            <a:ln w="7290">
              <a:noFill/>
            </a:ln>
          </p:spPr>
        </p:sp>
        <p:sp>
          <p:nvSpPr>
            <p:cNvPr id="1300" name="Match matrix 1-7">
              <a:extLst>
                <a:ext uri="{FF2B5EF4-FFF2-40B4-BE49-F238E27FC236}">
                  <a16:creationId xmlns:a16="http://schemas.microsoft.com/office/drawing/2014/main" id="{188B5773-F5C9-7D4C-8152-FA7D9B627789}"/>
                </a:ext>
              </a:extLst>
            </p:cNvPr>
            <p:cNvSpPr>
              <a:spLocks noGrp="1"/>
            </p:cNvSpPr>
            <p:nvPr/>
          </p:nvSpPr>
          <p:spPr>
            <a:xfrm>
              <a:off x="4510343" y="7326334"/>
              <a:ext cx="88583" cy="70009"/>
            </a:xfrm>
            <a:prstGeom prst="rect">
              <a:avLst/>
            </a:prstGeom>
            <a:solidFill>
              <a:srgbClr val="67AD9F"/>
            </a:solidFill>
            <a:ln w="7290">
              <a:noFill/>
            </a:ln>
          </p:spPr>
        </p:sp>
        <p:sp>
          <p:nvSpPr>
            <p:cNvPr id="1301" name="Match matrix 2-0">
              <a:extLst>
                <a:ext uri="{FF2B5EF4-FFF2-40B4-BE49-F238E27FC236}">
                  <a16:creationId xmlns:a16="http://schemas.microsoft.com/office/drawing/2014/main" id="{BBF02AFB-8489-0057-17C0-1186E4D7244F}"/>
                </a:ext>
              </a:extLst>
            </p:cNvPr>
            <p:cNvSpPr>
              <a:spLocks noGrp="1"/>
            </p:cNvSpPr>
            <p:nvPr/>
          </p:nvSpPr>
          <p:spPr>
            <a:xfrm>
              <a:off x="3860262" y="7400629"/>
              <a:ext cx="88583" cy="70009"/>
            </a:xfrm>
            <a:prstGeom prst="rect">
              <a:avLst/>
            </a:prstGeom>
            <a:solidFill>
              <a:srgbClr val="67AD9F"/>
            </a:solidFill>
            <a:ln w="7290">
              <a:noFill/>
            </a:ln>
          </p:spPr>
        </p:sp>
        <p:sp>
          <p:nvSpPr>
            <p:cNvPr id="1302" name="Match matrix 2-1">
              <a:extLst>
                <a:ext uri="{FF2B5EF4-FFF2-40B4-BE49-F238E27FC236}">
                  <a16:creationId xmlns:a16="http://schemas.microsoft.com/office/drawing/2014/main" id="{4D1F1E41-46E5-997B-A9A2-D4A7E86A821C}"/>
                </a:ext>
              </a:extLst>
            </p:cNvPr>
            <p:cNvSpPr>
              <a:spLocks noGrp="1"/>
            </p:cNvSpPr>
            <p:nvPr/>
          </p:nvSpPr>
          <p:spPr>
            <a:xfrm>
              <a:off x="3953131" y="7400629"/>
              <a:ext cx="88583" cy="70009"/>
            </a:xfrm>
            <a:prstGeom prst="rect">
              <a:avLst/>
            </a:prstGeom>
            <a:solidFill>
              <a:srgbClr val="C4DDE0"/>
            </a:solidFill>
            <a:ln w="7290">
              <a:noFill/>
            </a:ln>
          </p:spPr>
        </p:sp>
        <p:sp>
          <p:nvSpPr>
            <p:cNvPr id="1303" name="Match matrix 2-2">
              <a:extLst>
                <a:ext uri="{FF2B5EF4-FFF2-40B4-BE49-F238E27FC236}">
                  <a16:creationId xmlns:a16="http://schemas.microsoft.com/office/drawing/2014/main" id="{BDC0B5DB-1FDB-9192-A8A8-9F9E9FC2CF48}"/>
                </a:ext>
              </a:extLst>
            </p:cNvPr>
            <p:cNvSpPr>
              <a:spLocks noGrp="1"/>
            </p:cNvSpPr>
            <p:nvPr/>
          </p:nvSpPr>
          <p:spPr>
            <a:xfrm>
              <a:off x="4046000" y="7400629"/>
              <a:ext cx="88583" cy="70009"/>
            </a:xfrm>
            <a:prstGeom prst="rect">
              <a:avLst/>
            </a:prstGeom>
            <a:solidFill>
              <a:srgbClr val="5B9FB6"/>
            </a:solidFill>
            <a:ln w="7290">
              <a:noFill/>
            </a:ln>
          </p:spPr>
        </p:sp>
        <p:sp>
          <p:nvSpPr>
            <p:cNvPr id="1304" name="Match matrix 2-3">
              <a:extLst>
                <a:ext uri="{FF2B5EF4-FFF2-40B4-BE49-F238E27FC236}">
                  <a16:creationId xmlns:a16="http://schemas.microsoft.com/office/drawing/2014/main" id="{9C663294-FCA2-F8DE-2AEC-EEF54C48921A}"/>
                </a:ext>
              </a:extLst>
            </p:cNvPr>
            <p:cNvSpPr>
              <a:spLocks noGrp="1"/>
            </p:cNvSpPr>
            <p:nvPr/>
          </p:nvSpPr>
          <p:spPr>
            <a:xfrm>
              <a:off x="4138868" y="7400629"/>
              <a:ext cx="88583" cy="70009"/>
            </a:xfrm>
            <a:prstGeom prst="rect">
              <a:avLst/>
            </a:prstGeom>
            <a:solidFill>
              <a:srgbClr val="B6D8CC"/>
            </a:solidFill>
            <a:ln w="7290">
              <a:noFill/>
            </a:ln>
          </p:spPr>
        </p:sp>
        <p:sp>
          <p:nvSpPr>
            <p:cNvPr id="1305" name="Match matrix 2-4">
              <a:extLst>
                <a:ext uri="{FF2B5EF4-FFF2-40B4-BE49-F238E27FC236}">
                  <a16:creationId xmlns:a16="http://schemas.microsoft.com/office/drawing/2014/main" id="{28E76182-0A60-4A72-9586-C12459BE0B58}"/>
                </a:ext>
              </a:extLst>
            </p:cNvPr>
            <p:cNvSpPr>
              <a:spLocks noGrp="1"/>
            </p:cNvSpPr>
            <p:nvPr/>
          </p:nvSpPr>
          <p:spPr>
            <a:xfrm>
              <a:off x="4231737" y="7400629"/>
              <a:ext cx="88583" cy="70009"/>
            </a:xfrm>
            <a:prstGeom prst="rect">
              <a:avLst/>
            </a:prstGeom>
            <a:solidFill>
              <a:srgbClr val="3E8F9A"/>
            </a:solidFill>
            <a:ln w="7290">
              <a:noFill/>
            </a:ln>
          </p:spPr>
        </p:sp>
        <p:sp>
          <p:nvSpPr>
            <p:cNvPr id="1306" name="Match matrix 2-5">
              <a:extLst>
                <a:ext uri="{FF2B5EF4-FFF2-40B4-BE49-F238E27FC236}">
                  <a16:creationId xmlns:a16="http://schemas.microsoft.com/office/drawing/2014/main" id="{29FC68A5-EB54-9596-85EC-EDC1175B056F}"/>
                </a:ext>
              </a:extLst>
            </p:cNvPr>
            <p:cNvSpPr>
              <a:spLocks noGrp="1"/>
            </p:cNvSpPr>
            <p:nvPr/>
          </p:nvSpPr>
          <p:spPr>
            <a:xfrm>
              <a:off x="4324606" y="7400629"/>
              <a:ext cx="88583" cy="70009"/>
            </a:xfrm>
            <a:prstGeom prst="rect">
              <a:avLst/>
            </a:prstGeom>
            <a:solidFill>
              <a:srgbClr val="D6E5ED"/>
            </a:solidFill>
            <a:ln w="7290">
              <a:noFill/>
            </a:ln>
          </p:spPr>
        </p:sp>
        <p:sp>
          <p:nvSpPr>
            <p:cNvPr id="1307" name="Match matrix 2-6">
              <a:extLst>
                <a:ext uri="{FF2B5EF4-FFF2-40B4-BE49-F238E27FC236}">
                  <a16:creationId xmlns:a16="http://schemas.microsoft.com/office/drawing/2014/main" id="{59C9C8C5-D90A-7A02-93D3-957FE3AE7DC3}"/>
                </a:ext>
              </a:extLst>
            </p:cNvPr>
            <p:cNvSpPr>
              <a:spLocks noGrp="1"/>
            </p:cNvSpPr>
            <p:nvPr/>
          </p:nvSpPr>
          <p:spPr>
            <a:xfrm>
              <a:off x="4417475" y="7400629"/>
              <a:ext cx="88583" cy="70009"/>
            </a:xfrm>
            <a:prstGeom prst="rect">
              <a:avLst/>
            </a:prstGeom>
            <a:solidFill>
              <a:srgbClr val="88BEC3"/>
            </a:solidFill>
            <a:ln w="7290">
              <a:noFill/>
            </a:ln>
          </p:spPr>
        </p:sp>
        <p:sp>
          <p:nvSpPr>
            <p:cNvPr id="1308" name="Match matrix 2-7">
              <a:extLst>
                <a:ext uri="{FF2B5EF4-FFF2-40B4-BE49-F238E27FC236}">
                  <a16:creationId xmlns:a16="http://schemas.microsoft.com/office/drawing/2014/main" id="{83DFB888-0521-0863-270C-DBAF169C149A}"/>
                </a:ext>
              </a:extLst>
            </p:cNvPr>
            <p:cNvSpPr>
              <a:spLocks noGrp="1"/>
            </p:cNvSpPr>
            <p:nvPr/>
          </p:nvSpPr>
          <p:spPr>
            <a:xfrm>
              <a:off x="4510343" y="7400629"/>
              <a:ext cx="88583" cy="70009"/>
            </a:xfrm>
            <a:prstGeom prst="rect">
              <a:avLst/>
            </a:prstGeom>
            <a:solidFill>
              <a:srgbClr val="A3CDDA"/>
            </a:solidFill>
            <a:ln w="7290">
              <a:noFill/>
            </a:ln>
          </p:spPr>
        </p:sp>
        <p:sp>
          <p:nvSpPr>
            <p:cNvPr id="1309" name="Match matrix 3-0">
              <a:extLst>
                <a:ext uri="{FF2B5EF4-FFF2-40B4-BE49-F238E27FC236}">
                  <a16:creationId xmlns:a16="http://schemas.microsoft.com/office/drawing/2014/main" id="{CDAE8F1E-742C-7BA1-EB00-87CA9B9E40A2}"/>
                </a:ext>
              </a:extLst>
            </p:cNvPr>
            <p:cNvSpPr>
              <a:spLocks noGrp="1"/>
            </p:cNvSpPr>
            <p:nvPr/>
          </p:nvSpPr>
          <p:spPr>
            <a:xfrm>
              <a:off x="3860262" y="7474924"/>
              <a:ext cx="88583" cy="70009"/>
            </a:xfrm>
            <a:prstGeom prst="rect">
              <a:avLst/>
            </a:prstGeom>
            <a:solidFill>
              <a:srgbClr val="88BEC3"/>
            </a:solidFill>
            <a:ln w="7290">
              <a:noFill/>
            </a:ln>
          </p:spPr>
        </p:sp>
        <p:sp>
          <p:nvSpPr>
            <p:cNvPr id="1310" name="Match matrix 3-1">
              <a:extLst>
                <a:ext uri="{FF2B5EF4-FFF2-40B4-BE49-F238E27FC236}">
                  <a16:creationId xmlns:a16="http://schemas.microsoft.com/office/drawing/2014/main" id="{74117986-6240-D77F-909C-522F6146D289}"/>
                </a:ext>
              </a:extLst>
            </p:cNvPr>
            <p:cNvSpPr>
              <a:spLocks noGrp="1"/>
            </p:cNvSpPr>
            <p:nvPr/>
          </p:nvSpPr>
          <p:spPr>
            <a:xfrm>
              <a:off x="3953131" y="7474924"/>
              <a:ext cx="88583" cy="70009"/>
            </a:xfrm>
            <a:prstGeom prst="rect">
              <a:avLst/>
            </a:prstGeom>
            <a:solidFill>
              <a:srgbClr val="D6E5ED"/>
            </a:solidFill>
            <a:ln w="7290">
              <a:noFill/>
            </a:ln>
          </p:spPr>
        </p:sp>
        <p:sp>
          <p:nvSpPr>
            <p:cNvPr id="1311" name="Match matrix 3-2">
              <a:extLst>
                <a:ext uri="{FF2B5EF4-FFF2-40B4-BE49-F238E27FC236}">
                  <a16:creationId xmlns:a16="http://schemas.microsoft.com/office/drawing/2014/main" id="{68BD8A38-75EC-BA37-589D-F9C3EBE804E8}"/>
                </a:ext>
              </a:extLst>
            </p:cNvPr>
            <p:cNvSpPr>
              <a:spLocks noGrp="1"/>
            </p:cNvSpPr>
            <p:nvPr/>
          </p:nvSpPr>
          <p:spPr>
            <a:xfrm>
              <a:off x="4046000" y="7474924"/>
              <a:ext cx="88583" cy="70009"/>
            </a:xfrm>
            <a:prstGeom prst="rect">
              <a:avLst/>
            </a:prstGeom>
            <a:solidFill>
              <a:srgbClr val="67AD9F"/>
            </a:solidFill>
            <a:ln w="7290">
              <a:noFill/>
            </a:ln>
          </p:spPr>
        </p:sp>
        <p:sp>
          <p:nvSpPr>
            <p:cNvPr id="1312" name="Match matrix 3-3">
              <a:extLst>
                <a:ext uri="{FF2B5EF4-FFF2-40B4-BE49-F238E27FC236}">
                  <a16:creationId xmlns:a16="http://schemas.microsoft.com/office/drawing/2014/main" id="{BA2E6B5A-7074-DCD3-8646-836425ECA4E6}"/>
                </a:ext>
              </a:extLst>
            </p:cNvPr>
            <p:cNvSpPr>
              <a:spLocks noGrp="1"/>
            </p:cNvSpPr>
            <p:nvPr/>
          </p:nvSpPr>
          <p:spPr>
            <a:xfrm>
              <a:off x="4138868" y="7474924"/>
              <a:ext cx="88583" cy="70009"/>
            </a:xfrm>
            <a:prstGeom prst="rect">
              <a:avLst/>
            </a:prstGeom>
            <a:solidFill>
              <a:srgbClr val="3E8F9A"/>
            </a:solidFill>
            <a:ln w="7290">
              <a:noFill/>
            </a:ln>
          </p:spPr>
        </p:sp>
        <p:sp>
          <p:nvSpPr>
            <p:cNvPr id="1313" name="Match matrix 3-4">
              <a:extLst>
                <a:ext uri="{FF2B5EF4-FFF2-40B4-BE49-F238E27FC236}">
                  <a16:creationId xmlns:a16="http://schemas.microsoft.com/office/drawing/2014/main" id="{E2B9FFDB-87E6-991D-6FE1-3A8ED7934F53}"/>
                </a:ext>
              </a:extLst>
            </p:cNvPr>
            <p:cNvSpPr>
              <a:spLocks noGrp="1"/>
            </p:cNvSpPr>
            <p:nvPr/>
          </p:nvSpPr>
          <p:spPr>
            <a:xfrm>
              <a:off x="4231737" y="7474924"/>
              <a:ext cx="88583" cy="70009"/>
            </a:xfrm>
            <a:prstGeom prst="rect">
              <a:avLst/>
            </a:prstGeom>
            <a:solidFill>
              <a:srgbClr val="C4DDE0"/>
            </a:solidFill>
            <a:ln w="7290">
              <a:noFill/>
            </a:ln>
          </p:spPr>
        </p:sp>
        <p:sp>
          <p:nvSpPr>
            <p:cNvPr id="1314" name="Match matrix 3-5">
              <a:extLst>
                <a:ext uri="{FF2B5EF4-FFF2-40B4-BE49-F238E27FC236}">
                  <a16:creationId xmlns:a16="http://schemas.microsoft.com/office/drawing/2014/main" id="{93BBAAA9-24B8-1E29-A6DC-8B4D096073B5}"/>
                </a:ext>
              </a:extLst>
            </p:cNvPr>
            <p:cNvSpPr>
              <a:spLocks noGrp="1"/>
            </p:cNvSpPr>
            <p:nvPr/>
          </p:nvSpPr>
          <p:spPr>
            <a:xfrm>
              <a:off x="4324606" y="7474924"/>
              <a:ext cx="88583" cy="70009"/>
            </a:xfrm>
            <a:prstGeom prst="rect">
              <a:avLst/>
            </a:prstGeom>
            <a:solidFill>
              <a:srgbClr val="A3CDDA"/>
            </a:solidFill>
            <a:ln w="7290">
              <a:noFill/>
            </a:ln>
          </p:spPr>
        </p:sp>
        <p:sp>
          <p:nvSpPr>
            <p:cNvPr id="1315" name="Match matrix 3-6">
              <a:extLst>
                <a:ext uri="{FF2B5EF4-FFF2-40B4-BE49-F238E27FC236}">
                  <a16:creationId xmlns:a16="http://schemas.microsoft.com/office/drawing/2014/main" id="{68A528E6-65EA-9C73-7412-55AD6CD16CE8}"/>
                </a:ext>
              </a:extLst>
            </p:cNvPr>
            <p:cNvSpPr>
              <a:spLocks noGrp="1"/>
            </p:cNvSpPr>
            <p:nvPr/>
          </p:nvSpPr>
          <p:spPr>
            <a:xfrm>
              <a:off x="4417475" y="7474924"/>
              <a:ext cx="88583" cy="70009"/>
            </a:xfrm>
            <a:prstGeom prst="rect">
              <a:avLst/>
            </a:prstGeom>
            <a:solidFill>
              <a:srgbClr val="B6D8CC"/>
            </a:solidFill>
            <a:ln w="7290">
              <a:noFill/>
            </a:ln>
          </p:spPr>
        </p:sp>
        <p:sp>
          <p:nvSpPr>
            <p:cNvPr id="1316" name="Match matrix 3-7">
              <a:extLst>
                <a:ext uri="{FF2B5EF4-FFF2-40B4-BE49-F238E27FC236}">
                  <a16:creationId xmlns:a16="http://schemas.microsoft.com/office/drawing/2014/main" id="{2EEE91B3-D81D-6257-AECC-400C8A929123}"/>
                </a:ext>
              </a:extLst>
            </p:cNvPr>
            <p:cNvSpPr>
              <a:spLocks noGrp="1"/>
            </p:cNvSpPr>
            <p:nvPr/>
          </p:nvSpPr>
          <p:spPr>
            <a:xfrm>
              <a:off x="4510343" y="7474924"/>
              <a:ext cx="88583" cy="70009"/>
            </a:xfrm>
            <a:prstGeom prst="rect">
              <a:avLst/>
            </a:prstGeom>
            <a:solidFill>
              <a:srgbClr val="5B9FB6"/>
            </a:solidFill>
            <a:ln w="7290">
              <a:noFill/>
            </a:ln>
          </p:spPr>
        </p:sp>
        <p:sp>
          <p:nvSpPr>
            <p:cNvPr id="1318" name="SMILES continuation 806-628.2">
              <a:extLst>
                <a:ext uri="{FF2B5EF4-FFF2-40B4-BE49-F238E27FC236}">
                  <a16:creationId xmlns:a16="http://schemas.microsoft.com/office/drawing/2014/main" id="{F23A2C65-E88A-BB4F-DB2B-F6BDFE0A90A0}"/>
                </a:ext>
              </a:extLst>
            </p:cNvPr>
            <p:cNvSpPr>
              <a:spLocks noGrp="1"/>
            </p:cNvSpPr>
            <p:nvPr/>
          </p:nvSpPr>
          <p:spPr>
            <a:xfrm>
              <a:off x="8003637" y="5974080"/>
              <a:ext cx="19050" cy="19050"/>
            </a:xfrm>
            <a:prstGeom prst="ellipse">
              <a:avLst/>
            </a:prstGeom>
            <a:solidFill>
              <a:srgbClr val="71808C"/>
            </a:solidFill>
            <a:ln w="0">
              <a:noFill/>
            </a:ln>
          </p:spPr>
        </p:sp>
        <p:sp>
          <p:nvSpPr>
            <p:cNvPr id="1319" name="SMILES continuation 812-628.2">
              <a:extLst>
                <a:ext uri="{FF2B5EF4-FFF2-40B4-BE49-F238E27FC236}">
                  <a16:creationId xmlns:a16="http://schemas.microsoft.com/office/drawing/2014/main" id="{3B989565-3BAD-D4AD-9254-F92A9CA55F5F}"/>
                </a:ext>
              </a:extLst>
            </p:cNvPr>
            <p:cNvSpPr>
              <a:spLocks noGrp="1"/>
            </p:cNvSpPr>
            <p:nvPr/>
          </p:nvSpPr>
          <p:spPr>
            <a:xfrm>
              <a:off x="8060787" y="5974080"/>
              <a:ext cx="19050" cy="19050"/>
            </a:xfrm>
            <a:prstGeom prst="ellipse">
              <a:avLst/>
            </a:prstGeom>
            <a:solidFill>
              <a:srgbClr val="71808C"/>
            </a:solidFill>
            <a:ln w="0">
              <a:noFill/>
            </a:ln>
          </p:spPr>
        </p:sp>
        <p:sp>
          <p:nvSpPr>
            <p:cNvPr id="1320" name="SMILES continuation 818-628.2">
              <a:extLst>
                <a:ext uri="{FF2B5EF4-FFF2-40B4-BE49-F238E27FC236}">
                  <a16:creationId xmlns:a16="http://schemas.microsoft.com/office/drawing/2014/main" id="{42B8B6C2-B43E-383F-14DE-C418D4494332}"/>
                </a:ext>
              </a:extLst>
            </p:cNvPr>
            <p:cNvSpPr>
              <a:spLocks noGrp="1"/>
            </p:cNvSpPr>
            <p:nvPr/>
          </p:nvSpPr>
          <p:spPr>
            <a:xfrm>
              <a:off x="8117937" y="5974080"/>
              <a:ext cx="19050" cy="19050"/>
            </a:xfrm>
            <a:prstGeom prst="ellipse">
              <a:avLst/>
            </a:prstGeom>
            <a:solidFill>
              <a:srgbClr val="71808C"/>
            </a:solidFill>
            <a:ln w="0">
              <a:noFill/>
            </a:ln>
          </p:spPr>
        </p:sp>
        <p:sp>
          <p:nvSpPr>
            <p:cNvPr id="1321" name="SMILES continuation 806-667">
              <a:extLst>
                <a:ext uri="{FF2B5EF4-FFF2-40B4-BE49-F238E27FC236}">
                  <a16:creationId xmlns:a16="http://schemas.microsoft.com/office/drawing/2014/main" id="{39894408-4EFC-1123-4D43-5E7226F5F0C0}"/>
                </a:ext>
              </a:extLst>
            </p:cNvPr>
            <p:cNvSpPr>
              <a:spLocks noGrp="1"/>
            </p:cNvSpPr>
            <p:nvPr/>
          </p:nvSpPr>
          <p:spPr>
            <a:xfrm>
              <a:off x="8003637" y="6343650"/>
              <a:ext cx="19050" cy="19050"/>
            </a:xfrm>
            <a:prstGeom prst="ellipse">
              <a:avLst/>
            </a:prstGeom>
            <a:solidFill>
              <a:srgbClr val="71808C"/>
            </a:solidFill>
            <a:ln w="0">
              <a:noFill/>
            </a:ln>
          </p:spPr>
        </p:sp>
        <p:sp>
          <p:nvSpPr>
            <p:cNvPr id="1322" name="SMILES continuation 812-667">
              <a:extLst>
                <a:ext uri="{FF2B5EF4-FFF2-40B4-BE49-F238E27FC236}">
                  <a16:creationId xmlns:a16="http://schemas.microsoft.com/office/drawing/2014/main" id="{B15788D5-8154-0220-0ADD-B84E221B0B6F}"/>
                </a:ext>
              </a:extLst>
            </p:cNvPr>
            <p:cNvSpPr>
              <a:spLocks noGrp="1"/>
            </p:cNvSpPr>
            <p:nvPr/>
          </p:nvSpPr>
          <p:spPr>
            <a:xfrm>
              <a:off x="8060787" y="6343650"/>
              <a:ext cx="19050" cy="19050"/>
            </a:xfrm>
            <a:prstGeom prst="ellipse">
              <a:avLst/>
            </a:prstGeom>
            <a:solidFill>
              <a:srgbClr val="71808C"/>
            </a:solidFill>
            <a:ln w="0">
              <a:noFill/>
            </a:ln>
          </p:spPr>
        </p:sp>
        <p:sp>
          <p:nvSpPr>
            <p:cNvPr id="1323" name="SMILES continuation 818-667">
              <a:extLst>
                <a:ext uri="{FF2B5EF4-FFF2-40B4-BE49-F238E27FC236}">
                  <a16:creationId xmlns:a16="http://schemas.microsoft.com/office/drawing/2014/main" id="{06FB727B-1C36-BDAC-BF90-119F79F57919}"/>
                </a:ext>
              </a:extLst>
            </p:cNvPr>
            <p:cNvSpPr>
              <a:spLocks noGrp="1"/>
            </p:cNvSpPr>
            <p:nvPr/>
          </p:nvSpPr>
          <p:spPr>
            <a:xfrm>
              <a:off x="8117937" y="6343650"/>
              <a:ext cx="19050" cy="19050"/>
            </a:xfrm>
            <a:prstGeom prst="ellipse">
              <a:avLst/>
            </a:prstGeom>
            <a:solidFill>
              <a:srgbClr val="71808C"/>
            </a:solidFill>
            <a:ln w="0">
              <a:noFill/>
            </a:ln>
          </p:spPr>
        </p:sp>
        <p:sp>
          <p:nvSpPr>
            <p:cNvPr id="1324" name="Find density input">
              <a:extLst>
                <a:ext uri="{FF2B5EF4-FFF2-40B4-BE49-F238E27FC236}">
                  <a16:creationId xmlns:a16="http://schemas.microsoft.com/office/drawing/2014/main" id="{3BB3F16C-BBC6-CEA5-1D5F-BADEC13D0E07}"/>
                </a:ext>
              </a:extLst>
            </p:cNvPr>
            <p:cNvSpPr>
              <a:spLocks noGrp="1"/>
            </p:cNvSpPr>
            <p:nvPr/>
          </p:nvSpPr>
          <p:spPr>
            <a:xfrm>
              <a:off x="2334020" y="1518479"/>
              <a:ext cx="842366" cy="190"/>
            </a:xfrm>
            <a:custGeom>
              <a:avLst/>
              <a:gdLst/>
              <a:ahLst/>
              <a:cxnLst/>
              <a:rect l="0" t="0" r="0" b="0"/>
              <a:pathLst>
                <a:path w="125540" h="191">
                  <a:moveTo>
                    <a:pt x="0" y="0"/>
                  </a:moveTo>
                  <a:lnTo>
                    <a:pt x="125540" y="0"/>
                  </a:lnTo>
                </a:path>
              </a:pathLst>
            </a:custGeom>
            <a:noFill/>
            <a:ln w="8505">
              <a:solidFill>
                <a:srgbClr val="4083B4"/>
              </a:solidFill>
              <a:prstDash val="solid"/>
            </a:ln>
          </p:spPr>
        </p:sp>
        <p:sp>
          <p:nvSpPr>
            <p:cNvPr id="1325" name="Find density input head">
              <a:extLst>
                <a:ext uri="{FF2B5EF4-FFF2-40B4-BE49-F238E27FC236}">
                  <a16:creationId xmlns:a16="http://schemas.microsoft.com/office/drawing/2014/main" id="{DD01582E-D72F-DC2A-ED51-209065AB4BE2}"/>
                </a:ext>
              </a:extLst>
            </p:cNvPr>
            <p:cNvSpPr>
              <a:spLocks noGrp="1"/>
            </p:cNvSpPr>
            <p:nvPr/>
          </p:nvSpPr>
          <p:spPr>
            <a:xfrm>
              <a:off x="3123088" y="1489808"/>
              <a:ext cx="66676" cy="57339"/>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28" name="Find receptor input">
              <a:extLst>
                <a:ext uri="{FF2B5EF4-FFF2-40B4-BE49-F238E27FC236}">
                  <a16:creationId xmlns:a16="http://schemas.microsoft.com/office/drawing/2014/main" id="{8835B13D-A150-D32A-EA5F-DF6B94803636}"/>
                </a:ext>
              </a:extLst>
            </p:cNvPr>
            <p:cNvSpPr>
              <a:spLocks noGrp="1"/>
            </p:cNvSpPr>
            <p:nvPr/>
          </p:nvSpPr>
          <p:spPr>
            <a:xfrm>
              <a:off x="2334020" y="3260557"/>
              <a:ext cx="842366" cy="190"/>
            </a:xfrm>
            <a:custGeom>
              <a:avLst/>
              <a:gdLst/>
              <a:ahLst/>
              <a:cxnLst/>
              <a:rect l="0" t="0" r="0" b="0"/>
              <a:pathLst>
                <a:path w="125540" h="191">
                  <a:moveTo>
                    <a:pt x="0" y="0"/>
                  </a:moveTo>
                  <a:lnTo>
                    <a:pt x="125540" y="0"/>
                  </a:lnTo>
                </a:path>
              </a:pathLst>
            </a:custGeom>
            <a:noFill/>
            <a:ln w="8505">
              <a:solidFill>
                <a:srgbClr val="9481B1"/>
              </a:solidFill>
              <a:prstDash val="solid"/>
            </a:ln>
          </p:spPr>
        </p:sp>
        <p:sp>
          <p:nvSpPr>
            <p:cNvPr id="1329" name="Find receptor input head">
              <a:extLst>
                <a:ext uri="{FF2B5EF4-FFF2-40B4-BE49-F238E27FC236}">
                  <a16:creationId xmlns:a16="http://schemas.microsoft.com/office/drawing/2014/main" id="{A5463DF5-F357-C133-4537-3687854104BD}"/>
                </a:ext>
              </a:extLst>
            </p:cNvPr>
            <p:cNvSpPr>
              <a:spLocks noGrp="1"/>
            </p:cNvSpPr>
            <p:nvPr/>
          </p:nvSpPr>
          <p:spPr>
            <a:xfrm>
              <a:off x="3123088" y="3231886"/>
              <a:ext cx="66676" cy="57339"/>
            </a:xfrm>
            <a:custGeom>
              <a:avLst/>
              <a:gdLst/>
              <a:ahLst/>
              <a:cxnLst/>
              <a:rect l="0" t="0" r="0" b="0"/>
              <a:pathLst>
                <a:path w="66675" h="57340">
                  <a:moveTo>
                    <a:pt x="66675" y="28670"/>
                  </a:moveTo>
                  <a:lnTo>
                    <a:pt x="0" y="0"/>
                  </a:lnTo>
                  <a:lnTo>
                    <a:pt x="0" y="57340"/>
                  </a:lnTo>
                  <a:close/>
                </a:path>
              </a:pathLst>
            </a:custGeom>
            <a:solidFill>
              <a:srgbClr val="9481B1"/>
            </a:solidFill>
            <a:ln w="0">
              <a:noFill/>
              <a:prstDash val="solid"/>
            </a:ln>
          </p:spPr>
        </p:sp>
        <p:sp>
          <p:nvSpPr>
            <p:cNvPr id="1332" name="Find voxel output">
              <a:extLst>
                <a:ext uri="{FF2B5EF4-FFF2-40B4-BE49-F238E27FC236}">
                  <a16:creationId xmlns:a16="http://schemas.microsoft.com/office/drawing/2014/main" id="{A7A050F5-4BBD-83D0-3E56-868138C02A2E}"/>
                </a:ext>
              </a:extLst>
            </p:cNvPr>
            <p:cNvSpPr>
              <a:spLocks noGrp="1"/>
            </p:cNvSpPr>
            <p:nvPr/>
          </p:nvSpPr>
          <p:spPr>
            <a:xfrm>
              <a:off x="9750468" y="1544003"/>
              <a:ext cx="409314" cy="191"/>
            </a:xfrm>
            <a:custGeom>
              <a:avLst/>
              <a:gdLst/>
              <a:ahLst/>
              <a:cxnLst/>
              <a:rect l="0" t="0" r="0" b="0"/>
              <a:pathLst>
                <a:path w="252508" h="191">
                  <a:moveTo>
                    <a:pt x="0" y="0"/>
                  </a:moveTo>
                  <a:lnTo>
                    <a:pt x="252508" y="0"/>
                  </a:lnTo>
                </a:path>
              </a:pathLst>
            </a:custGeom>
            <a:noFill/>
            <a:ln w="8505">
              <a:solidFill>
                <a:srgbClr val="4083B4"/>
              </a:solidFill>
              <a:prstDash val="solid"/>
            </a:ln>
          </p:spPr>
        </p:sp>
        <p:sp>
          <p:nvSpPr>
            <p:cNvPr id="1333" name="Find voxel output head">
              <a:extLst>
                <a:ext uri="{FF2B5EF4-FFF2-40B4-BE49-F238E27FC236}">
                  <a16:creationId xmlns:a16="http://schemas.microsoft.com/office/drawing/2014/main" id="{375132D2-B1BA-3819-E6E4-408E45D3577A}"/>
                </a:ext>
              </a:extLst>
            </p:cNvPr>
            <p:cNvSpPr>
              <a:spLocks noGrp="1"/>
            </p:cNvSpPr>
            <p:nvPr/>
          </p:nvSpPr>
          <p:spPr>
            <a:xfrm>
              <a:off x="10116443" y="1515332"/>
              <a:ext cx="66675" cy="57340"/>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34" name="Find point output">
              <a:extLst>
                <a:ext uri="{FF2B5EF4-FFF2-40B4-BE49-F238E27FC236}">
                  <a16:creationId xmlns:a16="http://schemas.microsoft.com/office/drawing/2014/main" id="{E2AB92F8-FB1A-DF4D-C056-6A909BEA2DE1}"/>
                </a:ext>
              </a:extLst>
            </p:cNvPr>
            <p:cNvSpPr>
              <a:spLocks noGrp="1"/>
            </p:cNvSpPr>
            <p:nvPr/>
          </p:nvSpPr>
          <p:spPr>
            <a:xfrm>
              <a:off x="9750468" y="3107055"/>
              <a:ext cx="409314" cy="191"/>
            </a:xfrm>
            <a:custGeom>
              <a:avLst/>
              <a:gdLst/>
              <a:ahLst/>
              <a:cxnLst/>
              <a:rect l="0" t="0" r="0" b="0"/>
              <a:pathLst>
                <a:path w="252508" h="191">
                  <a:moveTo>
                    <a:pt x="0" y="0"/>
                  </a:moveTo>
                  <a:lnTo>
                    <a:pt x="252508" y="0"/>
                  </a:lnTo>
                </a:path>
              </a:pathLst>
            </a:custGeom>
            <a:noFill/>
            <a:ln w="8505">
              <a:solidFill>
                <a:srgbClr val="9481B1"/>
              </a:solidFill>
              <a:prstDash val="solid"/>
            </a:ln>
          </p:spPr>
        </p:sp>
        <p:sp>
          <p:nvSpPr>
            <p:cNvPr id="1335" name="Find point output head">
              <a:extLst>
                <a:ext uri="{FF2B5EF4-FFF2-40B4-BE49-F238E27FC236}">
                  <a16:creationId xmlns:a16="http://schemas.microsoft.com/office/drawing/2014/main" id="{28B06725-C3FB-3373-8A56-A66D9CE3ECA7}"/>
                </a:ext>
              </a:extLst>
            </p:cNvPr>
            <p:cNvSpPr>
              <a:spLocks noGrp="1"/>
            </p:cNvSpPr>
            <p:nvPr/>
          </p:nvSpPr>
          <p:spPr>
            <a:xfrm>
              <a:off x="10116443" y="3078385"/>
              <a:ext cx="66675" cy="57340"/>
            </a:xfrm>
            <a:custGeom>
              <a:avLst/>
              <a:gdLst/>
              <a:ahLst/>
              <a:cxnLst/>
              <a:rect l="0" t="0" r="0" b="0"/>
              <a:pathLst>
                <a:path w="66675" h="57340">
                  <a:moveTo>
                    <a:pt x="66675" y="28670"/>
                  </a:moveTo>
                  <a:lnTo>
                    <a:pt x="0" y="0"/>
                  </a:lnTo>
                  <a:lnTo>
                    <a:pt x="0" y="57340"/>
                  </a:lnTo>
                  <a:close/>
                </a:path>
              </a:pathLst>
            </a:custGeom>
            <a:solidFill>
              <a:srgbClr val="9481B1"/>
            </a:solidFill>
            <a:ln w="0">
              <a:noFill/>
              <a:prstDash val="solid"/>
            </a:ln>
          </p:spPr>
        </p:sp>
        <p:sp>
          <p:nvSpPr>
            <p:cNvPr id="1336" name="U-Net flow refined 1">
              <a:extLst>
                <a:ext uri="{FF2B5EF4-FFF2-40B4-BE49-F238E27FC236}">
                  <a16:creationId xmlns:a16="http://schemas.microsoft.com/office/drawing/2014/main" id="{5BDE2ECB-1CBA-ACB1-3426-F3E9F144A8A7}"/>
                </a:ext>
              </a:extLst>
            </p:cNvPr>
            <p:cNvSpPr>
              <a:spLocks noGrp="1"/>
            </p:cNvSpPr>
            <p:nvPr/>
          </p:nvSpPr>
          <p:spPr>
            <a:xfrm>
              <a:off x="5399638" y="1943100"/>
              <a:ext cx="71390" cy="191"/>
            </a:xfrm>
            <a:custGeom>
              <a:avLst/>
              <a:gdLst/>
              <a:ahLst/>
              <a:cxnLst/>
              <a:rect l="0" t="0" r="0" b="0"/>
              <a:pathLst>
                <a:path w="71390" h="191">
                  <a:moveTo>
                    <a:pt x="0" y="0"/>
                  </a:moveTo>
                  <a:lnTo>
                    <a:pt x="71390" y="0"/>
                  </a:lnTo>
                </a:path>
              </a:pathLst>
            </a:custGeom>
            <a:noFill/>
            <a:ln w="6480">
              <a:solidFill>
                <a:srgbClr val="4083B4"/>
              </a:solidFill>
              <a:prstDash val="solid"/>
            </a:ln>
          </p:spPr>
        </p:sp>
        <p:sp>
          <p:nvSpPr>
            <p:cNvPr id="1337" name="U-Net flow refined 1 head">
              <a:extLst>
                <a:ext uri="{FF2B5EF4-FFF2-40B4-BE49-F238E27FC236}">
                  <a16:creationId xmlns:a16="http://schemas.microsoft.com/office/drawing/2014/main" id="{94C963B0-6292-D96E-8000-E5176CACF1B1}"/>
                </a:ext>
              </a:extLst>
            </p:cNvPr>
            <p:cNvSpPr>
              <a:spLocks noGrp="1"/>
            </p:cNvSpPr>
            <p:nvPr/>
          </p:nvSpPr>
          <p:spPr>
            <a:xfrm>
              <a:off x="544440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38" name="U-Net flow refined 2">
              <a:extLst>
                <a:ext uri="{FF2B5EF4-FFF2-40B4-BE49-F238E27FC236}">
                  <a16:creationId xmlns:a16="http://schemas.microsoft.com/office/drawing/2014/main" id="{6EDFECDB-834F-45E8-C447-187E68499D36}"/>
                </a:ext>
              </a:extLst>
            </p:cNvPr>
            <p:cNvSpPr>
              <a:spLocks noGrp="1"/>
            </p:cNvSpPr>
            <p:nvPr/>
          </p:nvSpPr>
          <p:spPr>
            <a:xfrm>
              <a:off x="5856838" y="1943100"/>
              <a:ext cx="61865" cy="191"/>
            </a:xfrm>
            <a:custGeom>
              <a:avLst/>
              <a:gdLst/>
              <a:ahLst/>
              <a:cxnLst/>
              <a:rect l="0" t="0" r="0" b="0"/>
              <a:pathLst>
                <a:path w="61865" h="191">
                  <a:moveTo>
                    <a:pt x="0" y="0"/>
                  </a:moveTo>
                  <a:lnTo>
                    <a:pt x="61865" y="0"/>
                  </a:lnTo>
                </a:path>
              </a:pathLst>
            </a:custGeom>
            <a:noFill/>
            <a:ln w="6480">
              <a:solidFill>
                <a:srgbClr val="4083B4"/>
              </a:solidFill>
              <a:prstDash val="solid"/>
            </a:ln>
          </p:spPr>
        </p:sp>
        <p:sp>
          <p:nvSpPr>
            <p:cNvPr id="1339" name="U-Net flow refined 2 head">
              <a:extLst>
                <a:ext uri="{FF2B5EF4-FFF2-40B4-BE49-F238E27FC236}">
                  <a16:creationId xmlns:a16="http://schemas.microsoft.com/office/drawing/2014/main" id="{147D1FA6-05BE-3A5D-C1FE-78DB516DA9EB}"/>
                </a:ext>
              </a:extLst>
            </p:cNvPr>
            <p:cNvSpPr>
              <a:spLocks noGrp="1"/>
            </p:cNvSpPr>
            <p:nvPr/>
          </p:nvSpPr>
          <p:spPr>
            <a:xfrm>
              <a:off x="5892081"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0" name="U-Net flow refined 3">
              <a:extLst>
                <a:ext uri="{FF2B5EF4-FFF2-40B4-BE49-F238E27FC236}">
                  <a16:creationId xmlns:a16="http://schemas.microsoft.com/office/drawing/2014/main" id="{7AF7CF23-54DF-A29D-2F07-D36A3F45EDD2}"/>
                </a:ext>
              </a:extLst>
            </p:cNvPr>
            <p:cNvSpPr>
              <a:spLocks noGrp="1"/>
            </p:cNvSpPr>
            <p:nvPr/>
          </p:nvSpPr>
          <p:spPr>
            <a:xfrm>
              <a:off x="6428338" y="1943100"/>
              <a:ext cx="185690" cy="191"/>
            </a:xfrm>
            <a:custGeom>
              <a:avLst/>
              <a:gdLst/>
              <a:ahLst/>
              <a:cxnLst/>
              <a:rect l="0" t="0" r="0" b="0"/>
              <a:pathLst>
                <a:path w="185690" h="191">
                  <a:moveTo>
                    <a:pt x="0" y="0"/>
                  </a:moveTo>
                  <a:lnTo>
                    <a:pt x="185690" y="0"/>
                  </a:lnTo>
                </a:path>
              </a:pathLst>
            </a:custGeom>
            <a:noFill/>
            <a:ln w="6480">
              <a:solidFill>
                <a:srgbClr val="4083B4"/>
              </a:solidFill>
              <a:prstDash val="solid"/>
            </a:ln>
          </p:spPr>
        </p:sp>
        <p:sp>
          <p:nvSpPr>
            <p:cNvPr id="1341" name="U-Net flow refined 3 head">
              <a:extLst>
                <a:ext uri="{FF2B5EF4-FFF2-40B4-BE49-F238E27FC236}">
                  <a16:creationId xmlns:a16="http://schemas.microsoft.com/office/drawing/2014/main" id="{99F4C0B1-883D-15E1-DE1D-B9D0B602A47D}"/>
                </a:ext>
              </a:extLst>
            </p:cNvPr>
            <p:cNvSpPr>
              <a:spLocks noGrp="1"/>
            </p:cNvSpPr>
            <p:nvPr/>
          </p:nvSpPr>
          <p:spPr>
            <a:xfrm>
              <a:off x="658740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2" name="U-Net flow refined 4">
              <a:extLst>
                <a:ext uri="{FF2B5EF4-FFF2-40B4-BE49-F238E27FC236}">
                  <a16:creationId xmlns:a16="http://schemas.microsoft.com/office/drawing/2014/main" id="{1AB9AC41-CF99-6B25-72AE-CA5759E07BBC}"/>
                </a:ext>
              </a:extLst>
            </p:cNvPr>
            <p:cNvSpPr>
              <a:spLocks noGrp="1"/>
            </p:cNvSpPr>
            <p:nvPr/>
          </p:nvSpPr>
          <p:spPr>
            <a:xfrm>
              <a:off x="7704688" y="1943100"/>
              <a:ext cx="204740" cy="191"/>
            </a:xfrm>
            <a:custGeom>
              <a:avLst/>
              <a:gdLst/>
              <a:ahLst/>
              <a:cxnLst/>
              <a:rect l="0" t="0" r="0" b="0"/>
              <a:pathLst>
                <a:path w="204740" h="191">
                  <a:moveTo>
                    <a:pt x="0" y="0"/>
                  </a:moveTo>
                  <a:lnTo>
                    <a:pt x="204740" y="0"/>
                  </a:lnTo>
                </a:path>
              </a:pathLst>
            </a:custGeom>
            <a:noFill/>
            <a:ln w="6480">
              <a:solidFill>
                <a:srgbClr val="4083B4"/>
              </a:solidFill>
              <a:prstDash val="solid"/>
            </a:ln>
          </p:spPr>
        </p:sp>
        <p:sp>
          <p:nvSpPr>
            <p:cNvPr id="1343" name="U-Net flow refined 4 head">
              <a:extLst>
                <a:ext uri="{FF2B5EF4-FFF2-40B4-BE49-F238E27FC236}">
                  <a16:creationId xmlns:a16="http://schemas.microsoft.com/office/drawing/2014/main" id="{8B74AF9E-166C-456E-8C30-81819473FD65}"/>
                </a:ext>
              </a:extLst>
            </p:cNvPr>
            <p:cNvSpPr>
              <a:spLocks noGrp="1"/>
            </p:cNvSpPr>
            <p:nvPr/>
          </p:nvSpPr>
          <p:spPr>
            <a:xfrm>
              <a:off x="788280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4" name="U-Net flow refined 5">
              <a:extLst>
                <a:ext uri="{FF2B5EF4-FFF2-40B4-BE49-F238E27FC236}">
                  <a16:creationId xmlns:a16="http://schemas.microsoft.com/office/drawing/2014/main" id="{1DF9FEC8-127A-C6BF-A242-5459B8B47514}"/>
                </a:ext>
              </a:extLst>
            </p:cNvPr>
            <p:cNvSpPr>
              <a:spLocks noGrp="1"/>
            </p:cNvSpPr>
            <p:nvPr/>
          </p:nvSpPr>
          <p:spPr>
            <a:xfrm>
              <a:off x="8428588" y="1943100"/>
              <a:ext cx="71390" cy="191"/>
            </a:xfrm>
            <a:custGeom>
              <a:avLst/>
              <a:gdLst/>
              <a:ahLst/>
              <a:cxnLst/>
              <a:rect l="0" t="0" r="0" b="0"/>
              <a:pathLst>
                <a:path w="71390" h="191">
                  <a:moveTo>
                    <a:pt x="0" y="0"/>
                  </a:moveTo>
                  <a:lnTo>
                    <a:pt x="71390" y="0"/>
                  </a:lnTo>
                </a:path>
              </a:pathLst>
            </a:custGeom>
            <a:noFill/>
            <a:ln w="6480">
              <a:solidFill>
                <a:srgbClr val="4083B4"/>
              </a:solidFill>
              <a:prstDash val="solid"/>
            </a:ln>
          </p:spPr>
        </p:sp>
        <p:sp>
          <p:nvSpPr>
            <p:cNvPr id="1345" name="U-Net flow refined 5 head">
              <a:extLst>
                <a:ext uri="{FF2B5EF4-FFF2-40B4-BE49-F238E27FC236}">
                  <a16:creationId xmlns:a16="http://schemas.microsoft.com/office/drawing/2014/main" id="{235A2EBC-75E8-8D72-4A9D-B691D888DD1B}"/>
                </a:ext>
              </a:extLst>
            </p:cNvPr>
            <p:cNvSpPr>
              <a:spLocks noGrp="1"/>
            </p:cNvSpPr>
            <p:nvPr/>
          </p:nvSpPr>
          <p:spPr>
            <a:xfrm>
              <a:off x="847335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6" name="U-Net flow refined 6">
              <a:extLst>
                <a:ext uri="{FF2B5EF4-FFF2-40B4-BE49-F238E27FC236}">
                  <a16:creationId xmlns:a16="http://schemas.microsoft.com/office/drawing/2014/main" id="{E16F5364-FA67-8E77-55DD-31048ACFB369}"/>
                </a:ext>
              </a:extLst>
            </p:cNvPr>
            <p:cNvSpPr>
              <a:spLocks noGrp="1"/>
            </p:cNvSpPr>
            <p:nvPr/>
          </p:nvSpPr>
          <p:spPr>
            <a:xfrm>
              <a:off x="8866738" y="1943100"/>
              <a:ext cx="90440" cy="191"/>
            </a:xfrm>
            <a:custGeom>
              <a:avLst/>
              <a:gdLst/>
              <a:ahLst/>
              <a:cxnLst/>
              <a:rect l="0" t="0" r="0" b="0"/>
              <a:pathLst>
                <a:path w="90440" h="191">
                  <a:moveTo>
                    <a:pt x="0" y="0"/>
                  </a:moveTo>
                  <a:lnTo>
                    <a:pt x="90440" y="0"/>
                  </a:lnTo>
                </a:path>
              </a:pathLst>
            </a:custGeom>
            <a:noFill/>
            <a:ln w="6480">
              <a:solidFill>
                <a:srgbClr val="4083B4"/>
              </a:solidFill>
              <a:prstDash val="solid"/>
            </a:ln>
          </p:spPr>
        </p:sp>
        <p:sp>
          <p:nvSpPr>
            <p:cNvPr id="1347" name="U-Net flow refined 6 head">
              <a:extLst>
                <a:ext uri="{FF2B5EF4-FFF2-40B4-BE49-F238E27FC236}">
                  <a16:creationId xmlns:a16="http://schemas.microsoft.com/office/drawing/2014/main" id="{CAB8405E-639F-441D-4076-97C5C8079141}"/>
                </a:ext>
              </a:extLst>
            </p:cNvPr>
            <p:cNvSpPr>
              <a:spLocks noGrp="1"/>
            </p:cNvSpPr>
            <p:nvPr/>
          </p:nvSpPr>
          <p:spPr>
            <a:xfrm>
              <a:off x="893055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8" name="Skip outer refined">
              <a:extLst>
                <a:ext uri="{FF2B5EF4-FFF2-40B4-BE49-F238E27FC236}">
                  <a16:creationId xmlns:a16="http://schemas.microsoft.com/office/drawing/2014/main" id="{FCEC7BC5-9C91-5A2D-286F-54CED1B58658}"/>
                </a:ext>
              </a:extLst>
            </p:cNvPr>
            <p:cNvSpPr>
              <a:spLocks noGrp="1"/>
            </p:cNvSpPr>
            <p:nvPr/>
          </p:nvSpPr>
          <p:spPr>
            <a:xfrm>
              <a:off x="4990063" y="1209675"/>
              <a:ext cx="4333875" cy="219075"/>
            </a:xfrm>
            <a:custGeom>
              <a:avLst/>
              <a:gdLst/>
              <a:ahLst/>
              <a:cxnLst/>
              <a:rect l="0" t="0" r="0" b="0"/>
              <a:pathLst>
                <a:path w="4333875" h="219075">
                  <a:moveTo>
                    <a:pt x="0" y="219075"/>
                  </a:moveTo>
                  <a:lnTo>
                    <a:pt x="0" y="0"/>
                  </a:lnTo>
                  <a:lnTo>
                    <a:pt x="4333875" y="0"/>
                  </a:lnTo>
                  <a:lnTo>
                    <a:pt x="4333875" y="204073"/>
                  </a:lnTo>
                </a:path>
              </a:pathLst>
            </a:custGeom>
            <a:noFill/>
            <a:ln w="5468">
              <a:solidFill>
                <a:srgbClr val="85AFCB"/>
              </a:solidFill>
              <a:prstDash val="dash"/>
            </a:ln>
          </p:spPr>
        </p:sp>
        <p:sp>
          <p:nvSpPr>
            <p:cNvPr id="1349" name="Skip outer refined head">
              <a:extLst>
                <a:ext uri="{FF2B5EF4-FFF2-40B4-BE49-F238E27FC236}">
                  <a16:creationId xmlns:a16="http://schemas.microsoft.com/office/drawing/2014/main" id="{D6AAD354-1253-F73A-1F09-0D42951F0AD2}"/>
                </a:ext>
              </a:extLst>
            </p:cNvPr>
            <p:cNvSpPr>
              <a:spLocks noGrp="1"/>
            </p:cNvSpPr>
            <p:nvPr/>
          </p:nvSpPr>
          <p:spPr>
            <a:xfrm>
              <a:off x="9305507" y="1385888"/>
              <a:ext cx="36862" cy="42863"/>
            </a:xfrm>
            <a:custGeom>
              <a:avLst/>
              <a:gdLst/>
              <a:ahLst/>
              <a:cxnLst/>
              <a:rect l="0" t="0" r="0" b="0"/>
              <a:pathLst>
                <a:path w="36862" h="42863">
                  <a:moveTo>
                    <a:pt x="18431" y="42863"/>
                  </a:moveTo>
                  <a:lnTo>
                    <a:pt x="36862" y="0"/>
                  </a:lnTo>
                  <a:lnTo>
                    <a:pt x="0" y="0"/>
                  </a:lnTo>
                  <a:close/>
                </a:path>
              </a:pathLst>
            </a:custGeom>
            <a:solidFill>
              <a:srgbClr val="85AFCB"/>
            </a:solidFill>
            <a:ln w="0">
              <a:noFill/>
              <a:prstDash val="solid"/>
            </a:ln>
          </p:spPr>
        </p:sp>
        <p:sp>
          <p:nvSpPr>
            <p:cNvPr id="1350" name="Skip middle refined">
              <a:extLst>
                <a:ext uri="{FF2B5EF4-FFF2-40B4-BE49-F238E27FC236}">
                  <a16:creationId xmlns:a16="http://schemas.microsoft.com/office/drawing/2014/main" id="{E944DD48-0E77-62B4-4E66-FC482D648DB0}"/>
                </a:ext>
              </a:extLst>
            </p:cNvPr>
            <p:cNvSpPr>
              <a:spLocks noGrp="1"/>
            </p:cNvSpPr>
            <p:nvPr/>
          </p:nvSpPr>
          <p:spPr>
            <a:xfrm>
              <a:off x="5628238" y="1295400"/>
              <a:ext cx="3067050" cy="266700"/>
            </a:xfrm>
            <a:custGeom>
              <a:avLst/>
              <a:gdLst/>
              <a:ahLst/>
              <a:cxnLst/>
              <a:rect l="0" t="0" r="0" b="0"/>
              <a:pathLst>
                <a:path w="3067050" h="266700">
                  <a:moveTo>
                    <a:pt x="0" y="266700"/>
                  </a:moveTo>
                  <a:lnTo>
                    <a:pt x="0" y="0"/>
                  </a:lnTo>
                  <a:lnTo>
                    <a:pt x="3067050" y="0"/>
                  </a:lnTo>
                  <a:lnTo>
                    <a:pt x="3067050" y="251698"/>
                  </a:lnTo>
                </a:path>
              </a:pathLst>
            </a:custGeom>
            <a:noFill/>
            <a:ln w="5468">
              <a:solidFill>
                <a:srgbClr val="85AFCB"/>
              </a:solidFill>
              <a:prstDash val="dash"/>
            </a:ln>
          </p:spPr>
        </p:sp>
        <p:sp>
          <p:nvSpPr>
            <p:cNvPr id="1351" name="Skip middle refined head">
              <a:extLst>
                <a:ext uri="{FF2B5EF4-FFF2-40B4-BE49-F238E27FC236}">
                  <a16:creationId xmlns:a16="http://schemas.microsoft.com/office/drawing/2014/main" id="{5D984C66-44F4-6C0C-29FA-C26BCC014DA5}"/>
                </a:ext>
              </a:extLst>
            </p:cNvPr>
            <p:cNvSpPr>
              <a:spLocks noGrp="1"/>
            </p:cNvSpPr>
            <p:nvPr/>
          </p:nvSpPr>
          <p:spPr>
            <a:xfrm>
              <a:off x="8676857" y="1519238"/>
              <a:ext cx="36862" cy="42863"/>
            </a:xfrm>
            <a:custGeom>
              <a:avLst/>
              <a:gdLst/>
              <a:ahLst/>
              <a:cxnLst/>
              <a:rect l="0" t="0" r="0" b="0"/>
              <a:pathLst>
                <a:path w="36862" h="42863">
                  <a:moveTo>
                    <a:pt x="18431" y="42863"/>
                  </a:moveTo>
                  <a:lnTo>
                    <a:pt x="36862" y="0"/>
                  </a:lnTo>
                  <a:lnTo>
                    <a:pt x="0" y="0"/>
                  </a:lnTo>
                  <a:close/>
                </a:path>
              </a:pathLst>
            </a:custGeom>
            <a:solidFill>
              <a:srgbClr val="85AFCB"/>
            </a:solidFill>
            <a:ln w="0">
              <a:noFill/>
              <a:prstDash val="solid"/>
            </a:ln>
          </p:spPr>
        </p:sp>
        <p:sp>
          <p:nvSpPr>
            <p:cNvPr id="1352" name="Skip inner refined">
              <a:extLst>
                <a:ext uri="{FF2B5EF4-FFF2-40B4-BE49-F238E27FC236}">
                  <a16:creationId xmlns:a16="http://schemas.microsoft.com/office/drawing/2014/main" id="{796339B7-CA5C-9A6F-F626-7D7B76227D0E}"/>
                </a:ext>
              </a:extLst>
            </p:cNvPr>
            <p:cNvSpPr>
              <a:spLocks noGrp="1"/>
            </p:cNvSpPr>
            <p:nvPr/>
          </p:nvSpPr>
          <p:spPr>
            <a:xfrm>
              <a:off x="6152113" y="1381125"/>
              <a:ext cx="2000250" cy="323850"/>
            </a:xfrm>
            <a:custGeom>
              <a:avLst/>
              <a:gdLst/>
              <a:ahLst/>
              <a:cxnLst/>
              <a:rect l="0" t="0" r="0" b="0"/>
              <a:pathLst>
                <a:path w="2000250" h="323850">
                  <a:moveTo>
                    <a:pt x="0" y="323850"/>
                  </a:moveTo>
                  <a:lnTo>
                    <a:pt x="0" y="0"/>
                  </a:lnTo>
                  <a:lnTo>
                    <a:pt x="2000250" y="0"/>
                  </a:lnTo>
                  <a:lnTo>
                    <a:pt x="2000250" y="308848"/>
                  </a:lnTo>
                </a:path>
              </a:pathLst>
            </a:custGeom>
            <a:noFill/>
            <a:ln w="5468">
              <a:solidFill>
                <a:srgbClr val="85AFCB"/>
              </a:solidFill>
              <a:prstDash val="dash"/>
            </a:ln>
          </p:spPr>
        </p:sp>
        <p:sp>
          <p:nvSpPr>
            <p:cNvPr id="1353" name="Skip inner refined head">
              <a:extLst>
                <a:ext uri="{FF2B5EF4-FFF2-40B4-BE49-F238E27FC236}">
                  <a16:creationId xmlns:a16="http://schemas.microsoft.com/office/drawing/2014/main" id="{5389494F-4196-1B0C-C069-F40391B0419B}"/>
                </a:ext>
              </a:extLst>
            </p:cNvPr>
            <p:cNvSpPr>
              <a:spLocks noGrp="1"/>
            </p:cNvSpPr>
            <p:nvPr/>
          </p:nvSpPr>
          <p:spPr>
            <a:xfrm>
              <a:off x="8133932" y="1662113"/>
              <a:ext cx="36862" cy="42863"/>
            </a:xfrm>
            <a:custGeom>
              <a:avLst/>
              <a:gdLst/>
              <a:ahLst/>
              <a:cxnLst/>
              <a:rect l="0" t="0" r="0" b="0"/>
              <a:pathLst>
                <a:path w="36862" h="42863">
                  <a:moveTo>
                    <a:pt x="18431" y="42863"/>
                  </a:moveTo>
                  <a:lnTo>
                    <a:pt x="36862" y="0"/>
                  </a:lnTo>
                  <a:lnTo>
                    <a:pt x="0" y="0"/>
                  </a:lnTo>
                  <a:close/>
                </a:path>
              </a:pathLst>
            </a:custGeom>
            <a:solidFill>
              <a:srgbClr val="85AFCB"/>
            </a:solidFill>
            <a:ln w="0">
              <a:noFill/>
              <a:prstDash val="solid"/>
            </a:ln>
          </p:spPr>
        </p:sp>
        <p:sp>
          <p:nvSpPr>
            <p:cNvPr id="1354" name="PTV3 forward refined 1">
              <a:extLst>
                <a:ext uri="{FF2B5EF4-FFF2-40B4-BE49-F238E27FC236}">
                  <a16:creationId xmlns:a16="http://schemas.microsoft.com/office/drawing/2014/main" id="{B0492619-D665-D0F6-7061-EDCBCE3DDA3A}"/>
                </a:ext>
              </a:extLst>
            </p:cNvPr>
            <p:cNvSpPr>
              <a:spLocks noGrp="1"/>
            </p:cNvSpPr>
            <p:nvPr/>
          </p:nvSpPr>
          <p:spPr>
            <a:xfrm>
              <a:off x="5518129" y="3106769"/>
              <a:ext cx="255746" cy="191"/>
            </a:xfrm>
            <a:custGeom>
              <a:avLst/>
              <a:gdLst/>
              <a:ahLst/>
              <a:cxnLst/>
              <a:rect l="0" t="0" r="0" b="0"/>
              <a:pathLst>
                <a:path w="255746" h="191">
                  <a:moveTo>
                    <a:pt x="0" y="0"/>
                  </a:moveTo>
                  <a:lnTo>
                    <a:pt x="255746" y="0"/>
                  </a:lnTo>
                </a:path>
              </a:pathLst>
            </a:custGeom>
            <a:noFill/>
            <a:ln w="8505">
              <a:solidFill>
                <a:srgbClr val="9481B1"/>
              </a:solidFill>
              <a:prstDash val="solid"/>
            </a:ln>
          </p:spPr>
        </p:sp>
        <p:sp>
          <p:nvSpPr>
            <p:cNvPr id="1355" name="PTV3 forward refined 1 head">
              <a:extLst>
                <a:ext uri="{FF2B5EF4-FFF2-40B4-BE49-F238E27FC236}">
                  <a16:creationId xmlns:a16="http://schemas.microsoft.com/office/drawing/2014/main" id="{B7BCE76F-C831-1ABC-ADA2-90D7588CB987}"/>
                </a:ext>
              </a:extLst>
            </p:cNvPr>
            <p:cNvSpPr>
              <a:spLocks noGrp="1"/>
            </p:cNvSpPr>
            <p:nvPr/>
          </p:nvSpPr>
          <p:spPr>
            <a:xfrm>
              <a:off x="5730537" y="3078099"/>
              <a:ext cx="66675" cy="57340"/>
            </a:xfrm>
            <a:custGeom>
              <a:avLst/>
              <a:gdLst/>
              <a:ahLst/>
              <a:cxnLst/>
              <a:rect l="0" t="0" r="0" b="0"/>
              <a:pathLst>
                <a:path w="66675" h="57340">
                  <a:moveTo>
                    <a:pt x="66675" y="28670"/>
                  </a:moveTo>
                  <a:lnTo>
                    <a:pt x="0" y="0"/>
                  </a:lnTo>
                  <a:lnTo>
                    <a:pt x="0" y="57340"/>
                  </a:lnTo>
                  <a:close/>
                </a:path>
              </a:pathLst>
            </a:custGeom>
            <a:solidFill>
              <a:srgbClr val="9481B1"/>
            </a:solidFill>
            <a:ln w="0">
              <a:noFill/>
              <a:prstDash val="solid"/>
            </a:ln>
          </p:spPr>
        </p:sp>
        <p:sp>
          <p:nvSpPr>
            <p:cNvPr id="1356" name="PTV3 forward refined 2">
              <a:extLst>
                <a:ext uri="{FF2B5EF4-FFF2-40B4-BE49-F238E27FC236}">
                  <a16:creationId xmlns:a16="http://schemas.microsoft.com/office/drawing/2014/main" id="{24AE15E3-3B2D-CC4A-618E-E9BB13DA2E16}"/>
                </a:ext>
              </a:extLst>
            </p:cNvPr>
            <p:cNvSpPr>
              <a:spLocks noGrp="1"/>
            </p:cNvSpPr>
            <p:nvPr/>
          </p:nvSpPr>
          <p:spPr>
            <a:xfrm>
              <a:off x="6522731" y="3106769"/>
              <a:ext cx="311563" cy="191"/>
            </a:xfrm>
            <a:custGeom>
              <a:avLst/>
              <a:gdLst/>
              <a:ahLst/>
              <a:cxnLst/>
              <a:rect l="0" t="0" r="0" b="0"/>
              <a:pathLst>
                <a:path w="311563" h="191">
                  <a:moveTo>
                    <a:pt x="0" y="0"/>
                  </a:moveTo>
                  <a:lnTo>
                    <a:pt x="311563" y="0"/>
                  </a:lnTo>
                </a:path>
              </a:pathLst>
            </a:custGeom>
            <a:noFill/>
            <a:ln w="8505">
              <a:solidFill>
                <a:srgbClr val="9481B1"/>
              </a:solidFill>
              <a:prstDash val="solid"/>
            </a:ln>
          </p:spPr>
        </p:sp>
        <p:sp>
          <p:nvSpPr>
            <p:cNvPr id="1357" name="PTV3 forward refined 2 head">
              <a:extLst>
                <a:ext uri="{FF2B5EF4-FFF2-40B4-BE49-F238E27FC236}">
                  <a16:creationId xmlns:a16="http://schemas.microsoft.com/office/drawing/2014/main" id="{8007E90B-E49B-BC36-45F6-E1B46BA41A6C}"/>
                </a:ext>
              </a:extLst>
            </p:cNvPr>
            <p:cNvSpPr>
              <a:spLocks noGrp="1"/>
            </p:cNvSpPr>
            <p:nvPr/>
          </p:nvSpPr>
          <p:spPr>
            <a:xfrm>
              <a:off x="6790955" y="3078099"/>
              <a:ext cx="66675" cy="57340"/>
            </a:xfrm>
            <a:custGeom>
              <a:avLst/>
              <a:gdLst/>
              <a:ahLst/>
              <a:cxnLst/>
              <a:rect l="0" t="0" r="0" b="0"/>
              <a:pathLst>
                <a:path w="66675" h="57340">
                  <a:moveTo>
                    <a:pt x="66675" y="28670"/>
                  </a:moveTo>
                  <a:lnTo>
                    <a:pt x="0" y="0"/>
                  </a:lnTo>
                  <a:lnTo>
                    <a:pt x="0" y="57340"/>
                  </a:lnTo>
                  <a:close/>
                </a:path>
              </a:pathLst>
            </a:custGeom>
            <a:solidFill>
              <a:srgbClr val="9481B1"/>
            </a:solidFill>
            <a:ln w="0">
              <a:noFill/>
              <a:prstDash val="solid"/>
            </a:ln>
          </p:spPr>
        </p:sp>
        <p:sp>
          <p:nvSpPr>
            <p:cNvPr id="1358" name="PTV3 forward refined 3">
              <a:extLst>
                <a:ext uri="{FF2B5EF4-FFF2-40B4-BE49-F238E27FC236}">
                  <a16:creationId xmlns:a16="http://schemas.microsoft.com/office/drawing/2014/main" id="{2D087525-2ABD-3A01-10DA-7F65FB2DD09A}"/>
                </a:ext>
              </a:extLst>
            </p:cNvPr>
            <p:cNvSpPr>
              <a:spLocks noGrp="1"/>
            </p:cNvSpPr>
            <p:nvPr/>
          </p:nvSpPr>
          <p:spPr>
            <a:xfrm>
              <a:off x="7508759" y="3106769"/>
              <a:ext cx="311563" cy="191"/>
            </a:xfrm>
            <a:custGeom>
              <a:avLst/>
              <a:gdLst/>
              <a:ahLst/>
              <a:cxnLst/>
              <a:rect l="0" t="0" r="0" b="0"/>
              <a:pathLst>
                <a:path w="311563" h="191">
                  <a:moveTo>
                    <a:pt x="0" y="0"/>
                  </a:moveTo>
                  <a:lnTo>
                    <a:pt x="311563" y="0"/>
                  </a:lnTo>
                </a:path>
              </a:pathLst>
            </a:custGeom>
            <a:noFill/>
            <a:ln w="8505">
              <a:solidFill>
                <a:srgbClr val="9481B1"/>
              </a:solidFill>
              <a:prstDash val="solid"/>
            </a:ln>
          </p:spPr>
        </p:sp>
        <p:sp>
          <p:nvSpPr>
            <p:cNvPr id="1359" name="PTV3 forward refined 3 head">
              <a:extLst>
                <a:ext uri="{FF2B5EF4-FFF2-40B4-BE49-F238E27FC236}">
                  <a16:creationId xmlns:a16="http://schemas.microsoft.com/office/drawing/2014/main" id="{417DAC3E-DE7D-4EBD-83BF-06F7FB2A8085}"/>
                </a:ext>
              </a:extLst>
            </p:cNvPr>
            <p:cNvSpPr>
              <a:spLocks noGrp="1"/>
            </p:cNvSpPr>
            <p:nvPr/>
          </p:nvSpPr>
          <p:spPr>
            <a:xfrm>
              <a:off x="7776983" y="3078099"/>
              <a:ext cx="66675" cy="57340"/>
            </a:xfrm>
            <a:custGeom>
              <a:avLst/>
              <a:gdLst/>
              <a:ahLst/>
              <a:cxnLst/>
              <a:rect l="0" t="0" r="0" b="0"/>
              <a:pathLst>
                <a:path w="66675" h="57340">
                  <a:moveTo>
                    <a:pt x="66675" y="28670"/>
                  </a:moveTo>
                  <a:lnTo>
                    <a:pt x="0" y="0"/>
                  </a:lnTo>
                  <a:lnTo>
                    <a:pt x="0" y="57340"/>
                  </a:lnTo>
                  <a:close/>
                </a:path>
              </a:pathLst>
            </a:custGeom>
            <a:solidFill>
              <a:srgbClr val="9481B1"/>
            </a:solidFill>
            <a:ln w="0">
              <a:noFill/>
              <a:prstDash val="solid"/>
            </a:ln>
          </p:spPr>
        </p:sp>
        <p:sp>
          <p:nvSpPr>
            <p:cNvPr id="1360" name="PTV3 forward refined 4">
              <a:extLst>
                <a:ext uri="{FF2B5EF4-FFF2-40B4-BE49-F238E27FC236}">
                  <a16:creationId xmlns:a16="http://schemas.microsoft.com/office/drawing/2014/main" id="{3F66A9B7-F35C-EB4C-B102-3F29A4296978}"/>
                </a:ext>
              </a:extLst>
            </p:cNvPr>
            <p:cNvSpPr>
              <a:spLocks noGrp="1"/>
            </p:cNvSpPr>
            <p:nvPr/>
          </p:nvSpPr>
          <p:spPr>
            <a:xfrm>
              <a:off x="8569082" y="3106769"/>
              <a:ext cx="255746" cy="191"/>
            </a:xfrm>
            <a:custGeom>
              <a:avLst/>
              <a:gdLst/>
              <a:ahLst/>
              <a:cxnLst/>
              <a:rect l="0" t="0" r="0" b="0"/>
              <a:pathLst>
                <a:path w="255746" h="191">
                  <a:moveTo>
                    <a:pt x="0" y="0"/>
                  </a:moveTo>
                  <a:lnTo>
                    <a:pt x="255746" y="0"/>
                  </a:lnTo>
                </a:path>
              </a:pathLst>
            </a:custGeom>
            <a:noFill/>
            <a:ln w="8505">
              <a:solidFill>
                <a:srgbClr val="9481B1"/>
              </a:solidFill>
              <a:prstDash val="solid"/>
            </a:ln>
          </p:spPr>
        </p:sp>
        <p:sp>
          <p:nvSpPr>
            <p:cNvPr id="1361" name="PTV3 forward refined 4 head">
              <a:extLst>
                <a:ext uri="{FF2B5EF4-FFF2-40B4-BE49-F238E27FC236}">
                  <a16:creationId xmlns:a16="http://schemas.microsoft.com/office/drawing/2014/main" id="{4634E7DB-F8E3-B989-4F8D-785672F195B4}"/>
                </a:ext>
              </a:extLst>
            </p:cNvPr>
            <p:cNvSpPr>
              <a:spLocks noGrp="1"/>
            </p:cNvSpPr>
            <p:nvPr/>
          </p:nvSpPr>
          <p:spPr>
            <a:xfrm>
              <a:off x="8781489" y="3078099"/>
              <a:ext cx="66675" cy="57340"/>
            </a:xfrm>
            <a:custGeom>
              <a:avLst/>
              <a:gdLst/>
              <a:ahLst/>
              <a:cxnLst/>
              <a:rect l="0" t="0" r="0" b="0"/>
              <a:pathLst>
                <a:path w="66675" h="57340">
                  <a:moveTo>
                    <a:pt x="66675" y="28670"/>
                  </a:moveTo>
                  <a:lnTo>
                    <a:pt x="0" y="0"/>
                  </a:lnTo>
                  <a:lnTo>
                    <a:pt x="0" y="57340"/>
                  </a:lnTo>
                  <a:close/>
                </a:path>
              </a:pathLst>
            </a:custGeom>
            <a:solidFill>
              <a:srgbClr val="9481B1"/>
            </a:solidFill>
            <a:ln w="0">
              <a:noFill/>
              <a:prstDash val="solid"/>
            </a:ln>
          </p:spPr>
        </p:sp>
        <p:sp>
          <p:nvSpPr>
            <p:cNvPr id="1362" name="Fusion refined 487.16">
              <a:extLst>
                <a:ext uri="{FF2B5EF4-FFF2-40B4-BE49-F238E27FC236}">
                  <a16:creationId xmlns:a16="http://schemas.microsoft.com/office/drawing/2014/main" id="{0FF19FA3-F74F-0EF3-2637-6AA25406EF88}"/>
                </a:ext>
              </a:extLst>
            </p:cNvPr>
            <p:cNvSpPr>
              <a:spLocks noGrp="1"/>
            </p:cNvSpPr>
            <p:nvPr/>
          </p:nvSpPr>
          <p:spPr>
            <a:xfrm>
              <a:off x="5155417" y="2418493"/>
              <a:ext cx="191" cy="404527"/>
            </a:xfrm>
            <a:custGeom>
              <a:avLst/>
              <a:gdLst/>
              <a:ahLst/>
              <a:cxnLst/>
              <a:rect l="0" t="0" r="0" b="0"/>
              <a:pathLst>
                <a:path w="191" h="404527">
                  <a:moveTo>
                    <a:pt x="0" y="0"/>
                  </a:moveTo>
                  <a:lnTo>
                    <a:pt x="0" y="404527"/>
                  </a:lnTo>
                </a:path>
              </a:pathLst>
            </a:custGeom>
            <a:noFill/>
            <a:ln w="8505">
              <a:solidFill>
                <a:srgbClr val="4083B4"/>
              </a:solidFill>
              <a:prstDash val="solid"/>
            </a:ln>
          </p:spPr>
        </p:sp>
        <p:sp>
          <p:nvSpPr>
            <p:cNvPr id="1363" name="Fusion refined 487.16 head">
              <a:extLst>
                <a:ext uri="{FF2B5EF4-FFF2-40B4-BE49-F238E27FC236}">
                  <a16:creationId xmlns:a16="http://schemas.microsoft.com/office/drawing/2014/main" id="{3D13397A-1EED-4CCF-C88D-62A5EFCF622C}"/>
                </a:ext>
              </a:extLst>
            </p:cNvPr>
            <p:cNvSpPr>
              <a:spLocks noGrp="1"/>
            </p:cNvSpPr>
            <p:nvPr/>
          </p:nvSpPr>
          <p:spPr>
            <a:xfrm>
              <a:off x="5126747" y="2779681"/>
              <a:ext cx="57340" cy="66675"/>
            </a:xfrm>
            <a:custGeom>
              <a:avLst/>
              <a:gdLst/>
              <a:ahLst/>
              <a:cxnLst/>
              <a:rect l="0" t="0" r="0" b="0"/>
              <a:pathLst>
                <a:path w="57340" h="66675">
                  <a:moveTo>
                    <a:pt x="28670" y="66675"/>
                  </a:moveTo>
                  <a:lnTo>
                    <a:pt x="57340" y="0"/>
                  </a:lnTo>
                  <a:lnTo>
                    <a:pt x="0" y="0"/>
                  </a:lnTo>
                  <a:close/>
                </a:path>
              </a:pathLst>
            </a:custGeom>
            <a:solidFill>
              <a:srgbClr val="4083B4"/>
            </a:solidFill>
            <a:ln w="0">
              <a:noFill/>
              <a:prstDash val="solid"/>
            </a:ln>
          </p:spPr>
        </p:sp>
        <p:sp>
          <p:nvSpPr>
            <p:cNvPr id="1364" name="Fusion refined 700.05">
              <a:extLst>
                <a:ext uri="{FF2B5EF4-FFF2-40B4-BE49-F238E27FC236}">
                  <a16:creationId xmlns:a16="http://schemas.microsoft.com/office/drawing/2014/main" id="{F3328C85-8D10-5BAE-F06A-A042F88B4457}"/>
                </a:ext>
              </a:extLst>
            </p:cNvPr>
            <p:cNvSpPr>
              <a:spLocks noGrp="1"/>
            </p:cNvSpPr>
            <p:nvPr/>
          </p:nvSpPr>
          <p:spPr>
            <a:xfrm>
              <a:off x="7183194" y="2418493"/>
              <a:ext cx="191" cy="404527"/>
            </a:xfrm>
            <a:custGeom>
              <a:avLst/>
              <a:gdLst/>
              <a:ahLst/>
              <a:cxnLst/>
              <a:rect l="0" t="0" r="0" b="0"/>
              <a:pathLst>
                <a:path w="191" h="404527">
                  <a:moveTo>
                    <a:pt x="0" y="0"/>
                  </a:moveTo>
                  <a:lnTo>
                    <a:pt x="0" y="404527"/>
                  </a:lnTo>
                </a:path>
              </a:pathLst>
            </a:custGeom>
            <a:noFill/>
            <a:ln w="8505">
              <a:solidFill>
                <a:srgbClr val="4083B4"/>
              </a:solidFill>
              <a:prstDash val="solid"/>
            </a:ln>
          </p:spPr>
        </p:sp>
        <p:sp>
          <p:nvSpPr>
            <p:cNvPr id="1365" name="Fusion refined 700.05 head">
              <a:extLst>
                <a:ext uri="{FF2B5EF4-FFF2-40B4-BE49-F238E27FC236}">
                  <a16:creationId xmlns:a16="http://schemas.microsoft.com/office/drawing/2014/main" id="{615DF42F-7A96-D005-2B04-2E5B83AF189A}"/>
                </a:ext>
              </a:extLst>
            </p:cNvPr>
            <p:cNvSpPr>
              <a:spLocks noGrp="1"/>
            </p:cNvSpPr>
            <p:nvPr/>
          </p:nvSpPr>
          <p:spPr>
            <a:xfrm>
              <a:off x="7154524" y="2779681"/>
              <a:ext cx="57340" cy="66675"/>
            </a:xfrm>
            <a:custGeom>
              <a:avLst/>
              <a:gdLst/>
              <a:ahLst/>
              <a:cxnLst/>
              <a:rect l="0" t="0" r="0" b="0"/>
              <a:pathLst>
                <a:path w="57340" h="66675">
                  <a:moveTo>
                    <a:pt x="28670" y="66675"/>
                  </a:moveTo>
                  <a:lnTo>
                    <a:pt x="57340" y="0"/>
                  </a:lnTo>
                  <a:lnTo>
                    <a:pt x="0" y="0"/>
                  </a:lnTo>
                  <a:close/>
                </a:path>
              </a:pathLst>
            </a:custGeom>
            <a:solidFill>
              <a:srgbClr val="4083B4"/>
            </a:solidFill>
            <a:ln w="0">
              <a:noFill/>
              <a:prstDash val="solid"/>
            </a:ln>
          </p:spPr>
        </p:sp>
        <p:sp>
          <p:nvSpPr>
            <p:cNvPr id="1366" name="Fusion refined 912.94">
              <a:extLst>
                <a:ext uri="{FF2B5EF4-FFF2-40B4-BE49-F238E27FC236}">
                  <a16:creationId xmlns:a16="http://schemas.microsoft.com/office/drawing/2014/main" id="{8F954EB4-FAB9-9DC0-DCA1-6E84B625ECD7}"/>
                </a:ext>
              </a:extLst>
            </p:cNvPr>
            <p:cNvSpPr>
              <a:spLocks noGrp="1"/>
            </p:cNvSpPr>
            <p:nvPr/>
          </p:nvSpPr>
          <p:spPr>
            <a:xfrm>
              <a:off x="9210972" y="2418493"/>
              <a:ext cx="191" cy="404527"/>
            </a:xfrm>
            <a:custGeom>
              <a:avLst/>
              <a:gdLst/>
              <a:ahLst/>
              <a:cxnLst/>
              <a:rect l="0" t="0" r="0" b="0"/>
              <a:pathLst>
                <a:path w="191" h="404527">
                  <a:moveTo>
                    <a:pt x="0" y="0"/>
                  </a:moveTo>
                  <a:lnTo>
                    <a:pt x="0" y="404527"/>
                  </a:lnTo>
                </a:path>
              </a:pathLst>
            </a:custGeom>
            <a:noFill/>
            <a:ln w="8505">
              <a:solidFill>
                <a:srgbClr val="4083B4"/>
              </a:solidFill>
              <a:prstDash val="solid"/>
            </a:ln>
          </p:spPr>
        </p:sp>
        <p:sp>
          <p:nvSpPr>
            <p:cNvPr id="1367" name="Fusion refined 912.94 head">
              <a:extLst>
                <a:ext uri="{FF2B5EF4-FFF2-40B4-BE49-F238E27FC236}">
                  <a16:creationId xmlns:a16="http://schemas.microsoft.com/office/drawing/2014/main" id="{DDC6F6E8-2600-F9F0-8C4C-DF220F079064}"/>
                </a:ext>
              </a:extLst>
            </p:cNvPr>
            <p:cNvSpPr>
              <a:spLocks noGrp="1"/>
            </p:cNvSpPr>
            <p:nvPr/>
          </p:nvSpPr>
          <p:spPr>
            <a:xfrm>
              <a:off x="9182301" y="2779681"/>
              <a:ext cx="57340" cy="66675"/>
            </a:xfrm>
            <a:custGeom>
              <a:avLst/>
              <a:gdLst/>
              <a:ahLst/>
              <a:cxnLst/>
              <a:rect l="0" t="0" r="0" b="0"/>
              <a:pathLst>
                <a:path w="57340" h="66675">
                  <a:moveTo>
                    <a:pt x="28670" y="66675"/>
                  </a:moveTo>
                  <a:lnTo>
                    <a:pt x="57340" y="0"/>
                  </a:lnTo>
                  <a:lnTo>
                    <a:pt x="0" y="0"/>
                  </a:lnTo>
                  <a:close/>
                </a:path>
              </a:pathLst>
            </a:custGeom>
            <a:solidFill>
              <a:srgbClr val="4083B4"/>
            </a:solidFill>
            <a:ln w="0">
              <a:noFill/>
              <a:prstDash val="solid"/>
            </a:ln>
          </p:spPr>
        </p:sp>
        <p:sp>
          <p:nvSpPr>
            <p:cNvPr id="1368" name="Recycle right refined">
              <a:extLst>
                <a:ext uri="{FF2B5EF4-FFF2-40B4-BE49-F238E27FC236}">
                  <a16:creationId xmlns:a16="http://schemas.microsoft.com/office/drawing/2014/main" id="{D9AFE2A4-7629-8D55-72A2-74513ED16554}"/>
                </a:ext>
              </a:extLst>
            </p:cNvPr>
            <p:cNvSpPr>
              <a:spLocks noGrp="1"/>
            </p:cNvSpPr>
            <p:nvPr/>
          </p:nvSpPr>
          <p:spPr>
            <a:xfrm>
              <a:off x="7666874" y="3385852"/>
              <a:ext cx="1544098" cy="241840"/>
            </a:xfrm>
            <a:custGeom>
              <a:avLst/>
              <a:gdLst/>
              <a:ahLst/>
              <a:cxnLst/>
              <a:rect l="0" t="0" r="0" b="0"/>
              <a:pathLst>
                <a:path w="1544098" h="241840">
                  <a:moveTo>
                    <a:pt x="1544098" y="0"/>
                  </a:moveTo>
                  <a:lnTo>
                    <a:pt x="1544098" y="241840"/>
                  </a:lnTo>
                  <a:lnTo>
                    <a:pt x="0" y="241840"/>
                  </a:lnTo>
                </a:path>
              </a:pathLst>
            </a:custGeom>
            <a:noFill/>
            <a:ln w="8505">
              <a:solidFill>
                <a:srgbClr val="4083B4"/>
              </a:solidFill>
              <a:prstDash val="solid"/>
            </a:ln>
          </p:spPr>
        </p:sp>
        <p:sp>
          <p:nvSpPr>
            <p:cNvPr id="1369" name="Recycle left refined">
              <a:extLst>
                <a:ext uri="{FF2B5EF4-FFF2-40B4-BE49-F238E27FC236}">
                  <a16:creationId xmlns:a16="http://schemas.microsoft.com/office/drawing/2014/main" id="{9E9F6AF5-6C88-4D6A-4EB6-AE11098D540D}"/>
                </a:ext>
              </a:extLst>
            </p:cNvPr>
            <p:cNvSpPr>
              <a:spLocks noGrp="1"/>
            </p:cNvSpPr>
            <p:nvPr/>
          </p:nvSpPr>
          <p:spPr>
            <a:xfrm>
              <a:off x="5155417" y="3409188"/>
              <a:ext cx="1544098" cy="218503"/>
            </a:xfrm>
            <a:custGeom>
              <a:avLst/>
              <a:gdLst/>
              <a:ahLst/>
              <a:cxnLst/>
              <a:rect l="0" t="0" r="0" b="0"/>
              <a:pathLst>
                <a:path w="1544098" h="218503">
                  <a:moveTo>
                    <a:pt x="1544098" y="218503"/>
                  </a:moveTo>
                  <a:lnTo>
                    <a:pt x="0" y="218503"/>
                  </a:lnTo>
                  <a:lnTo>
                    <a:pt x="0" y="0"/>
                  </a:lnTo>
                </a:path>
              </a:pathLst>
            </a:custGeom>
            <a:noFill/>
            <a:ln w="8505">
              <a:solidFill>
                <a:srgbClr val="4083B4"/>
              </a:solidFill>
              <a:prstDash val="solid"/>
            </a:ln>
          </p:spPr>
        </p:sp>
        <p:sp>
          <p:nvSpPr>
            <p:cNvPr id="1370" name="Recycle left refined head">
              <a:extLst>
                <a:ext uri="{FF2B5EF4-FFF2-40B4-BE49-F238E27FC236}">
                  <a16:creationId xmlns:a16="http://schemas.microsoft.com/office/drawing/2014/main" id="{FC70626C-9297-3774-289D-8C74BAB81591}"/>
                </a:ext>
              </a:extLst>
            </p:cNvPr>
            <p:cNvSpPr>
              <a:spLocks noGrp="1"/>
            </p:cNvSpPr>
            <p:nvPr/>
          </p:nvSpPr>
          <p:spPr>
            <a:xfrm>
              <a:off x="5126747" y="3385852"/>
              <a:ext cx="57340" cy="66675"/>
            </a:xfrm>
            <a:custGeom>
              <a:avLst/>
              <a:gdLst/>
              <a:ahLst/>
              <a:cxnLst/>
              <a:rect l="0" t="0" r="0" b="0"/>
              <a:pathLst>
                <a:path w="57340" h="66675">
                  <a:moveTo>
                    <a:pt x="28670" y="0"/>
                  </a:moveTo>
                  <a:lnTo>
                    <a:pt x="0" y="66675"/>
                  </a:lnTo>
                  <a:lnTo>
                    <a:pt x="57340" y="66675"/>
                  </a:lnTo>
                  <a:close/>
                </a:path>
              </a:pathLst>
            </a:custGeom>
            <a:solidFill>
              <a:srgbClr val="4083B4"/>
            </a:solidFill>
            <a:ln w="0">
              <a:noFill/>
              <a:prstDash val="solid"/>
            </a:ln>
          </p:spPr>
        </p:sp>
        <p:sp>
          <p:nvSpPr>
            <p:cNvPr id="1371" name="Crop to summary refined">
              <a:extLst>
                <a:ext uri="{FF2B5EF4-FFF2-40B4-BE49-F238E27FC236}">
                  <a16:creationId xmlns:a16="http://schemas.microsoft.com/office/drawing/2014/main" id="{23964A60-5300-B32A-CC8C-9F9A10909522}"/>
                </a:ext>
              </a:extLst>
            </p:cNvPr>
            <p:cNvSpPr>
              <a:spLocks noGrp="1"/>
            </p:cNvSpPr>
            <p:nvPr/>
          </p:nvSpPr>
          <p:spPr>
            <a:xfrm>
              <a:off x="3807779" y="6064758"/>
              <a:ext cx="1148715" cy="191"/>
            </a:xfrm>
            <a:custGeom>
              <a:avLst/>
              <a:gdLst/>
              <a:ahLst/>
              <a:cxnLst/>
              <a:rect l="0" t="0" r="0" b="0"/>
              <a:pathLst>
                <a:path w="1148715" h="191">
                  <a:moveTo>
                    <a:pt x="0" y="0"/>
                  </a:moveTo>
                  <a:lnTo>
                    <a:pt x="1148715" y="0"/>
                  </a:lnTo>
                </a:path>
              </a:pathLst>
            </a:custGeom>
            <a:noFill/>
            <a:ln w="8505">
              <a:solidFill>
                <a:srgbClr val="4083B4"/>
              </a:solidFill>
              <a:prstDash val="solid"/>
            </a:ln>
          </p:spPr>
        </p:sp>
        <p:sp>
          <p:nvSpPr>
            <p:cNvPr id="1372" name="Crop to summary refined head">
              <a:extLst>
                <a:ext uri="{FF2B5EF4-FFF2-40B4-BE49-F238E27FC236}">
                  <a16:creationId xmlns:a16="http://schemas.microsoft.com/office/drawing/2014/main" id="{864E15CB-81EF-2FAC-14F2-E25D89F29346}"/>
                </a:ext>
              </a:extLst>
            </p:cNvPr>
            <p:cNvSpPr>
              <a:spLocks noGrp="1"/>
            </p:cNvSpPr>
            <p:nvPr/>
          </p:nvSpPr>
          <p:spPr>
            <a:xfrm>
              <a:off x="4913156" y="6036088"/>
              <a:ext cx="66675" cy="57340"/>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73" name="Input split refined">
              <a:extLst>
                <a:ext uri="{FF2B5EF4-FFF2-40B4-BE49-F238E27FC236}">
                  <a16:creationId xmlns:a16="http://schemas.microsoft.com/office/drawing/2014/main" id="{B4BBBDF4-6774-1D2C-95B2-F3B88AB1C869}"/>
                </a:ext>
              </a:extLst>
            </p:cNvPr>
            <p:cNvSpPr>
              <a:spLocks noGrp="1"/>
            </p:cNvSpPr>
            <p:nvPr/>
          </p:nvSpPr>
          <p:spPr>
            <a:xfrm>
              <a:off x="2301020" y="7793355"/>
              <a:ext cx="846772" cy="160020"/>
            </a:xfrm>
            <a:custGeom>
              <a:avLst/>
              <a:gdLst/>
              <a:ahLst/>
              <a:cxnLst/>
              <a:rect l="0" t="0" r="0" b="0"/>
              <a:pathLst>
                <a:path w="846772" h="160020">
                  <a:moveTo>
                    <a:pt x="846772" y="0"/>
                  </a:moveTo>
                  <a:lnTo>
                    <a:pt x="846772" y="160020"/>
                  </a:lnTo>
                  <a:lnTo>
                    <a:pt x="0" y="160020"/>
                  </a:lnTo>
                </a:path>
              </a:pathLst>
            </a:custGeom>
            <a:noFill/>
            <a:ln w="8505">
              <a:solidFill>
                <a:srgbClr val="3B8C80"/>
              </a:solidFill>
              <a:prstDash val="solid"/>
            </a:ln>
          </p:spPr>
        </p:sp>
        <p:sp>
          <p:nvSpPr>
            <p:cNvPr id="1374" name="Input split right refined">
              <a:extLst>
                <a:ext uri="{FF2B5EF4-FFF2-40B4-BE49-F238E27FC236}">
                  <a16:creationId xmlns:a16="http://schemas.microsoft.com/office/drawing/2014/main" id="{950F0CCA-2F88-9AFF-22D8-DAA7ACB6176C}"/>
                </a:ext>
              </a:extLst>
            </p:cNvPr>
            <p:cNvSpPr>
              <a:spLocks noGrp="1"/>
            </p:cNvSpPr>
            <p:nvPr/>
          </p:nvSpPr>
          <p:spPr>
            <a:xfrm>
              <a:off x="3147792" y="7953375"/>
              <a:ext cx="827723" cy="191"/>
            </a:xfrm>
            <a:custGeom>
              <a:avLst/>
              <a:gdLst/>
              <a:ahLst/>
              <a:cxnLst/>
              <a:rect l="0" t="0" r="0" b="0"/>
              <a:pathLst>
                <a:path w="827723" h="191">
                  <a:moveTo>
                    <a:pt x="0" y="0"/>
                  </a:moveTo>
                  <a:lnTo>
                    <a:pt x="827723" y="0"/>
                  </a:lnTo>
                </a:path>
              </a:pathLst>
            </a:custGeom>
            <a:noFill/>
            <a:ln w="8505">
              <a:solidFill>
                <a:srgbClr val="3B8C80"/>
              </a:solidFill>
              <a:prstDash val="solid"/>
            </a:ln>
          </p:spPr>
        </p:sp>
        <p:sp>
          <p:nvSpPr>
            <p:cNvPr id="1375" name="Inputs to pool refined">
              <a:extLst>
                <a:ext uri="{FF2B5EF4-FFF2-40B4-BE49-F238E27FC236}">
                  <a16:creationId xmlns:a16="http://schemas.microsoft.com/office/drawing/2014/main" id="{B22E0EF3-FD19-0826-1822-07182CC69FC5}"/>
                </a:ext>
              </a:extLst>
            </p:cNvPr>
            <p:cNvSpPr>
              <a:spLocks noGrp="1"/>
            </p:cNvSpPr>
            <p:nvPr/>
          </p:nvSpPr>
          <p:spPr>
            <a:xfrm>
              <a:off x="2301020" y="7953375"/>
              <a:ext cx="191" cy="143732"/>
            </a:xfrm>
            <a:custGeom>
              <a:avLst/>
              <a:gdLst/>
              <a:ahLst/>
              <a:cxnLst/>
              <a:rect l="0" t="0" r="0" b="0"/>
              <a:pathLst>
                <a:path w="191" h="143732">
                  <a:moveTo>
                    <a:pt x="0" y="0"/>
                  </a:moveTo>
                  <a:lnTo>
                    <a:pt x="0" y="143732"/>
                  </a:lnTo>
                </a:path>
              </a:pathLst>
            </a:custGeom>
            <a:noFill/>
            <a:ln w="8505">
              <a:solidFill>
                <a:srgbClr val="3B8C80"/>
              </a:solidFill>
              <a:prstDash val="solid"/>
            </a:ln>
          </p:spPr>
        </p:sp>
        <p:sp>
          <p:nvSpPr>
            <p:cNvPr id="1376" name="Inputs to pool refined head">
              <a:extLst>
                <a:ext uri="{FF2B5EF4-FFF2-40B4-BE49-F238E27FC236}">
                  <a16:creationId xmlns:a16="http://schemas.microsoft.com/office/drawing/2014/main" id="{CA70B1F6-4A00-BABC-2972-012866989961}"/>
                </a:ext>
              </a:extLst>
            </p:cNvPr>
            <p:cNvSpPr>
              <a:spLocks noGrp="1"/>
            </p:cNvSpPr>
            <p:nvPr/>
          </p:nvSpPr>
          <p:spPr>
            <a:xfrm>
              <a:off x="2272349" y="8053769"/>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77" name="Inputs to attention refined">
              <a:extLst>
                <a:ext uri="{FF2B5EF4-FFF2-40B4-BE49-F238E27FC236}">
                  <a16:creationId xmlns:a16="http://schemas.microsoft.com/office/drawing/2014/main" id="{08F1A61E-3B0E-8BF6-7F27-5CCE4D22C59A}"/>
                </a:ext>
              </a:extLst>
            </p:cNvPr>
            <p:cNvSpPr>
              <a:spLocks noGrp="1"/>
            </p:cNvSpPr>
            <p:nvPr/>
          </p:nvSpPr>
          <p:spPr>
            <a:xfrm>
              <a:off x="3975515" y="7953375"/>
              <a:ext cx="191" cy="143732"/>
            </a:xfrm>
            <a:custGeom>
              <a:avLst/>
              <a:gdLst/>
              <a:ahLst/>
              <a:cxnLst/>
              <a:rect l="0" t="0" r="0" b="0"/>
              <a:pathLst>
                <a:path w="191" h="143732">
                  <a:moveTo>
                    <a:pt x="0" y="0"/>
                  </a:moveTo>
                  <a:lnTo>
                    <a:pt x="0" y="143732"/>
                  </a:lnTo>
                </a:path>
              </a:pathLst>
            </a:custGeom>
            <a:noFill/>
            <a:ln w="8505">
              <a:solidFill>
                <a:srgbClr val="3B8C80"/>
              </a:solidFill>
              <a:prstDash val="solid"/>
            </a:ln>
          </p:spPr>
        </p:sp>
        <p:sp>
          <p:nvSpPr>
            <p:cNvPr id="1378" name="Inputs to attention refined head">
              <a:extLst>
                <a:ext uri="{FF2B5EF4-FFF2-40B4-BE49-F238E27FC236}">
                  <a16:creationId xmlns:a16="http://schemas.microsoft.com/office/drawing/2014/main" id="{4A8E2717-7DBF-7A20-898F-8A4B8D99C916}"/>
                </a:ext>
              </a:extLst>
            </p:cNvPr>
            <p:cNvSpPr>
              <a:spLocks noGrp="1"/>
            </p:cNvSpPr>
            <p:nvPr/>
          </p:nvSpPr>
          <p:spPr>
            <a:xfrm>
              <a:off x="3946844" y="8053769"/>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83" name="MLP to FiLM refined">
              <a:extLst>
                <a:ext uri="{FF2B5EF4-FFF2-40B4-BE49-F238E27FC236}">
                  <a16:creationId xmlns:a16="http://schemas.microsoft.com/office/drawing/2014/main" id="{2C7C678A-F3D0-E51D-2CD6-B41E5CBA7774}"/>
                </a:ext>
              </a:extLst>
            </p:cNvPr>
            <p:cNvSpPr>
              <a:spLocks noGrp="1"/>
            </p:cNvSpPr>
            <p:nvPr/>
          </p:nvSpPr>
          <p:spPr>
            <a:xfrm>
              <a:off x="3546890" y="8968264"/>
              <a:ext cx="1502569" cy="191"/>
            </a:xfrm>
            <a:custGeom>
              <a:avLst/>
              <a:gdLst/>
              <a:ahLst/>
              <a:cxnLst/>
              <a:rect l="0" t="0" r="0" b="0"/>
              <a:pathLst>
                <a:path w="1502569" h="191">
                  <a:moveTo>
                    <a:pt x="0" y="0"/>
                  </a:moveTo>
                  <a:lnTo>
                    <a:pt x="1502569" y="0"/>
                  </a:lnTo>
                </a:path>
              </a:pathLst>
            </a:custGeom>
            <a:noFill/>
            <a:ln w="8505">
              <a:solidFill>
                <a:srgbClr val="3B8C80"/>
              </a:solidFill>
              <a:prstDash val="solid"/>
            </a:ln>
          </p:spPr>
        </p:sp>
        <p:sp>
          <p:nvSpPr>
            <p:cNvPr id="1384" name="MLP to FiLM refined head">
              <a:extLst>
                <a:ext uri="{FF2B5EF4-FFF2-40B4-BE49-F238E27FC236}">
                  <a16:creationId xmlns:a16="http://schemas.microsoft.com/office/drawing/2014/main" id="{E62BF4CB-2DFB-E34F-0A43-259454CA6416}"/>
                </a:ext>
              </a:extLst>
            </p:cNvPr>
            <p:cNvSpPr>
              <a:spLocks noGrp="1"/>
            </p:cNvSpPr>
            <p:nvPr/>
          </p:nvSpPr>
          <p:spPr>
            <a:xfrm>
              <a:off x="5006120" y="8939594"/>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385" name="Summary to FiLM refined">
              <a:extLst>
                <a:ext uri="{FF2B5EF4-FFF2-40B4-BE49-F238E27FC236}">
                  <a16:creationId xmlns:a16="http://schemas.microsoft.com/office/drawing/2014/main" id="{4AD6C56A-E9C3-F934-64AC-D936F1D8505E}"/>
                </a:ext>
              </a:extLst>
            </p:cNvPr>
            <p:cNvSpPr>
              <a:spLocks noGrp="1"/>
            </p:cNvSpPr>
            <p:nvPr/>
          </p:nvSpPr>
          <p:spPr>
            <a:xfrm>
              <a:off x="5426172" y="6400800"/>
              <a:ext cx="191" cy="2367439"/>
            </a:xfrm>
            <a:custGeom>
              <a:avLst/>
              <a:gdLst/>
              <a:ahLst/>
              <a:cxnLst/>
              <a:rect l="0" t="0" r="0" b="0"/>
              <a:pathLst>
                <a:path w="191" h="2367439">
                  <a:moveTo>
                    <a:pt x="0" y="0"/>
                  </a:moveTo>
                  <a:lnTo>
                    <a:pt x="0" y="2367439"/>
                  </a:lnTo>
                </a:path>
              </a:pathLst>
            </a:custGeom>
            <a:noFill/>
            <a:ln w="8505">
              <a:solidFill>
                <a:srgbClr val="4083B4"/>
              </a:solidFill>
              <a:prstDash val="solid"/>
            </a:ln>
          </p:spPr>
        </p:sp>
        <p:sp>
          <p:nvSpPr>
            <p:cNvPr id="1386" name="Summary to FiLM refined head">
              <a:extLst>
                <a:ext uri="{FF2B5EF4-FFF2-40B4-BE49-F238E27FC236}">
                  <a16:creationId xmlns:a16="http://schemas.microsoft.com/office/drawing/2014/main" id="{EEAEF4BF-5039-6C23-B675-9771749FE17A}"/>
                </a:ext>
              </a:extLst>
            </p:cNvPr>
            <p:cNvSpPr>
              <a:spLocks noGrp="1"/>
            </p:cNvSpPr>
            <p:nvPr/>
          </p:nvSpPr>
          <p:spPr>
            <a:xfrm>
              <a:off x="5397502" y="8724900"/>
              <a:ext cx="57340" cy="66675"/>
            </a:xfrm>
            <a:custGeom>
              <a:avLst/>
              <a:gdLst/>
              <a:ahLst/>
              <a:cxnLst/>
              <a:rect l="0" t="0" r="0" b="0"/>
              <a:pathLst>
                <a:path w="57340" h="66675">
                  <a:moveTo>
                    <a:pt x="28670" y="66675"/>
                  </a:moveTo>
                  <a:lnTo>
                    <a:pt x="57340" y="0"/>
                  </a:lnTo>
                  <a:lnTo>
                    <a:pt x="0" y="0"/>
                  </a:lnTo>
                  <a:close/>
                </a:path>
              </a:pathLst>
            </a:custGeom>
            <a:solidFill>
              <a:srgbClr val="4083B4"/>
            </a:solidFill>
            <a:ln w="0">
              <a:noFill/>
              <a:prstDash val="solid"/>
            </a:ln>
          </p:spPr>
        </p:sp>
        <p:sp>
          <p:nvSpPr>
            <p:cNvPr id="1387" name="Summary to cross attention refined">
              <a:extLst>
                <a:ext uri="{FF2B5EF4-FFF2-40B4-BE49-F238E27FC236}">
                  <a16:creationId xmlns:a16="http://schemas.microsoft.com/office/drawing/2014/main" id="{EFD90DBF-A222-410E-15F3-D541CA16A8AE}"/>
                </a:ext>
              </a:extLst>
            </p:cNvPr>
            <p:cNvSpPr>
              <a:spLocks noGrp="1"/>
            </p:cNvSpPr>
            <p:nvPr/>
          </p:nvSpPr>
          <p:spPr>
            <a:xfrm>
              <a:off x="4761327" y="8297132"/>
              <a:ext cx="664845" cy="191"/>
            </a:xfrm>
            <a:custGeom>
              <a:avLst/>
              <a:gdLst/>
              <a:ahLst/>
              <a:cxnLst/>
              <a:rect l="0" t="0" r="0" b="0"/>
              <a:pathLst>
                <a:path w="664845" h="191">
                  <a:moveTo>
                    <a:pt x="664845" y="0"/>
                  </a:moveTo>
                  <a:lnTo>
                    <a:pt x="0" y="0"/>
                  </a:lnTo>
                </a:path>
              </a:pathLst>
            </a:custGeom>
            <a:noFill/>
            <a:ln w="8505">
              <a:solidFill>
                <a:srgbClr val="4083B4"/>
              </a:solidFill>
              <a:prstDash val="solid"/>
            </a:ln>
          </p:spPr>
        </p:sp>
        <p:sp>
          <p:nvSpPr>
            <p:cNvPr id="1388" name="Summary to cross attention refined head">
              <a:extLst>
                <a:ext uri="{FF2B5EF4-FFF2-40B4-BE49-F238E27FC236}">
                  <a16:creationId xmlns:a16="http://schemas.microsoft.com/office/drawing/2014/main" id="{91B08F31-0339-9716-3395-2B3F8970BA82}"/>
                </a:ext>
              </a:extLst>
            </p:cNvPr>
            <p:cNvSpPr>
              <a:spLocks noGrp="1"/>
            </p:cNvSpPr>
            <p:nvPr/>
          </p:nvSpPr>
          <p:spPr>
            <a:xfrm>
              <a:off x="4737991" y="8268462"/>
              <a:ext cx="66675" cy="57340"/>
            </a:xfrm>
            <a:custGeom>
              <a:avLst/>
              <a:gdLst/>
              <a:ahLst/>
              <a:cxnLst/>
              <a:rect l="0" t="0" r="0" b="0"/>
              <a:pathLst>
                <a:path w="66675" h="57340">
                  <a:moveTo>
                    <a:pt x="0" y="28670"/>
                  </a:moveTo>
                  <a:lnTo>
                    <a:pt x="66675" y="57340"/>
                  </a:lnTo>
                  <a:lnTo>
                    <a:pt x="66675" y="0"/>
                  </a:lnTo>
                  <a:close/>
                </a:path>
              </a:pathLst>
            </a:custGeom>
            <a:solidFill>
              <a:srgbClr val="4083B4"/>
            </a:solidFill>
            <a:ln w="0">
              <a:noFill/>
              <a:prstDash val="solid"/>
            </a:ln>
          </p:spPr>
        </p:sp>
        <p:sp>
          <p:nvSpPr>
            <p:cNvPr id="1389" name="FiLM to candidate refined">
              <a:extLst>
                <a:ext uri="{FF2B5EF4-FFF2-40B4-BE49-F238E27FC236}">
                  <a16:creationId xmlns:a16="http://schemas.microsoft.com/office/drawing/2014/main" id="{25FC3F76-C3DD-1537-7837-64B9361AE243}"/>
                </a:ext>
              </a:extLst>
            </p:cNvPr>
            <p:cNvSpPr>
              <a:spLocks noGrp="1"/>
            </p:cNvSpPr>
            <p:nvPr/>
          </p:nvSpPr>
          <p:spPr>
            <a:xfrm>
              <a:off x="5426172" y="9144953"/>
              <a:ext cx="191" cy="215360"/>
            </a:xfrm>
            <a:custGeom>
              <a:avLst/>
              <a:gdLst/>
              <a:ahLst/>
              <a:cxnLst/>
              <a:rect l="0" t="0" r="0" b="0"/>
              <a:pathLst>
                <a:path w="191" h="215360">
                  <a:moveTo>
                    <a:pt x="0" y="0"/>
                  </a:moveTo>
                  <a:lnTo>
                    <a:pt x="0" y="215360"/>
                  </a:lnTo>
                </a:path>
              </a:pathLst>
            </a:custGeom>
            <a:noFill/>
            <a:ln w="8505">
              <a:solidFill>
                <a:srgbClr val="3B8C80"/>
              </a:solidFill>
              <a:prstDash val="solid"/>
            </a:ln>
          </p:spPr>
        </p:sp>
        <p:sp>
          <p:nvSpPr>
            <p:cNvPr id="1390" name="FiLM to candidate refined head">
              <a:extLst>
                <a:ext uri="{FF2B5EF4-FFF2-40B4-BE49-F238E27FC236}">
                  <a16:creationId xmlns:a16="http://schemas.microsoft.com/office/drawing/2014/main" id="{7A05C2E3-B0E7-7DA8-4847-EC91C004D35D}"/>
                </a:ext>
              </a:extLst>
            </p:cNvPr>
            <p:cNvSpPr>
              <a:spLocks noGrp="1"/>
            </p:cNvSpPr>
            <p:nvPr/>
          </p:nvSpPr>
          <p:spPr>
            <a:xfrm>
              <a:off x="5397502" y="9316974"/>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91" name="Candidate to foreground refined">
              <a:extLst>
                <a:ext uri="{FF2B5EF4-FFF2-40B4-BE49-F238E27FC236}">
                  <a16:creationId xmlns:a16="http://schemas.microsoft.com/office/drawing/2014/main" id="{FE203BD6-3778-87C2-8526-E332B5B380C4}"/>
                </a:ext>
              </a:extLst>
            </p:cNvPr>
            <p:cNvSpPr>
              <a:spLocks noGrp="1"/>
            </p:cNvSpPr>
            <p:nvPr/>
          </p:nvSpPr>
          <p:spPr>
            <a:xfrm>
              <a:off x="2617154" y="9525000"/>
              <a:ext cx="2809018" cy="286702"/>
            </a:xfrm>
            <a:custGeom>
              <a:avLst/>
              <a:gdLst/>
              <a:ahLst/>
              <a:cxnLst/>
              <a:rect l="0" t="0" r="0" b="0"/>
              <a:pathLst>
                <a:path w="2809018" h="286702">
                  <a:moveTo>
                    <a:pt x="2809018" y="0"/>
                  </a:moveTo>
                  <a:lnTo>
                    <a:pt x="2809018" y="95250"/>
                  </a:lnTo>
                  <a:lnTo>
                    <a:pt x="0" y="95250"/>
                  </a:lnTo>
                  <a:lnTo>
                    <a:pt x="0" y="286702"/>
                  </a:lnTo>
                </a:path>
              </a:pathLst>
            </a:custGeom>
            <a:noFill/>
            <a:ln w="8505">
              <a:solidFill>
                <a:srgbClr val="3B8C80"/>
              </a:solidFill>
              <a:prstDash val="solid"/>
            </a:ln>
          </p:spPr>
        </p:sp>
        <p:sp>
          <p:nvSpPr>
            <p:cNvPr id="1392" name="Candidate to foreground refined head">
              <a:extLst>
                <a:ext uri="{FF2B5EF4-FFF2-40B4-BE49-F238E27FC236}">
                  <a16:creationId xmlns:a16="http://schemas.microsoft.com/office/drawing/2014/main" id="{D2B7433A-243E-C206-1CB1-3F191E6AD029}"/>
                </a:ext>
              </a:extLst>
            </p:cNvPr>
            <p:cNvSpPr>
              <a:spLocks noGrp="1"/>
            </p:cNvSpPr>
            <p:nvPr/>
          </p:nvSpPr>
          <p:spPr>
            <a:xfrm>
              <a:off x="2588484" y="9768364"/>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93" name="Foreground to probability refined">
              <a:extLst>
                <a:ext uri="{FF2B5EF4-FFF2-40B4-BE49-F238E27FC236}">
                  <a16:creationId xmlns:a16="http://schemas.microsoft.com/office/drawing/2014/main" id="{D5A6B998-ADFA-E982-8C35-E6D90114C21C}"/>
                </a:ext>
              </a:extLst>
            </p:cNvPr>
            <p:cNvSpPr>
              <a:spLocks noGrp="1"/>
            </p:cNvSpPr>
            <p:nvPr/>
          </p:nvSpPr>
          <p:spPr>
            <a:xfrm>
              <a:off x="3417159" y="9971532"/>
              <a:ext cx="600742" cy="191"/>
            </a:xfrm>
            <a:custGeom>
              <a:avLst/>
              <a:gdLst/>
              <a:ahLst/>
              <a:cxnLst/>
              <a:rect l="0" t="0" r="0" b="0"/>
              <a:pathLst>
                <a:path w="600742" h="191">
                  <a:moveTo>
                    <a:pt x="0" y="0"/>
                  </a:moveTo>
                  <a:lnTo>
                    <a:pt x="600742" y="0"/>
                  </a:lnTo>
                </a:path>
              </a:pathLst>
            </a:custGeom>
            <a:noFill/>
            <a:ln w="8505">
              <a:solidFill>
                <a:srgbClr val="3B8C80"/>
              </a:solidFill>
              <a:prstDash val="solid"/>
            </a:ln>
          </p:spPr>
        </p:sp>
        <p:sp>
          <p:nvSpPr>
            <p:cNvPr id="1394" name="Foreground to probability refined head">
              <a:extLst>
                <a:ext uri="{FF2B5EF4-FFF2-40B4-BE49-F238E27FC236}">
                  <a16:creationId xmlns:a16="http://schemas.microsoft.com/office/drawing/2014/main" id="{660BE4D6-2608-6E09-7FF4-AD7C50994699}"/>
                </a:ext>
              </a:extLst>
            </p:cNvPr>
            <p:cNvSpPr>
              <a:spLocks noGrp="1"/>
            </p:cNvSpPr>
            <p:nvPr/>
          </p:nvSpPr>
          <p:spPr>
            <a:xfrm>
              <a:off x="3974562" y="9942862"/>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395" name="Candidate to cosine refined">
              <a:extLst>
                <a:ext uri="{FF2B5EF4-FFF2-40B4-BE49-F238E27FC236}">
                  <a16:creationId xmlns:a16="http://schemas.microsoft.com/office/drawing/2014/main" id="{22A5040B-9402-AB7D-9094-F4BF5F10ADD2}"/>
                </a:ext>
              </a:extLst>
            </p:cNvPr>
            <p:cNvSpPr>
              <a:spLocks noGrp="1"/>
            </p:cNvSpPr>
            <p:nvPr/>
          </p:nvSpPr>
          <p:spPr>
            <a:xfrm>
              <a:off x="5426172" y="9525000"/>
              <a:ext cx="2143887" cy="446532"/>
            </a:xfrm>
            <a:custGeom>
              <a:avLst/>
              <a:gdLst/>
              <a:ahLst/>
              <a:cxnLst/>
              <a:rect l="0" t="0" r="0" b="0"/>
              <a:pathLst>
                <a:path w="2143887" h="446532">
                  <a:moveTo>
                    <a:pt x="0" y="0"/>
                  </a:moveTo>
                  <a:lnTo>
                    <a:pt x="0" y="446532"/>
                  </a:lnTo>
                  <a:lnTo>
                    <a:pt x="2143887" y="446532"/>
                  </a:lnTo>
                </a:path>
              </a:pathLst>
            </a:custGeom>
            <a:noFill/>
            <a:ln w="8505">
              <a:solidFill>
                <a:srgbClr val="3B8C80"/>
              </a:solidFill>
              <a:prstDash val="solid"/>
            </a:ln>
          </p:spPr>
        </p:sp>
        <p:sp>
          <p:nvSpPr>
            <p:cNvPr id="1396" name="Candidate to cosine refined head">
              <a:extLst>
                <a:ext uri="{FF2B5EF4-FFF2-40B4-BE49-F238E27FC236}">
                  <a16:creationId xmlns:a16="http://schemas.microsoft.com/office/drawing/2014/main" id="{D0F3AAE9-EBC0-FC07-AF0A-FBDAD938D93E}"/>
                </a:ext>
              </a:extLst>
            </p:cNvPr>
            <p:cNvSpPr>
              <a:spLocks noGrp="1"/>
            </p:cNvSpPr>
            <p:nvPr/>
          </p:nvSpPr>
          <p:spPr>
            <a:xfrm>
              <a:off x="7526720" y="9942862"/>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397" name="Selected identity to graph refined">
              <a:extLst>
                <a:ext uri="{FF2B5EF4-FFF2-40B4-BE49-F238E27FC236}">
                  <a16:creationId xmlns:a16="http://schemas.microsoft.com/office/drawing/2014/main" id="{2545D43E-9B8D-BA3E-80CD-880BD63B35AE}"/>
                </a:ext>
              </a:extLst>
            </p:cNvPr>
            <p:cNvSpPr>
              <a:spLocks noGrp="1"/>
            </p:cNvSpPr>
            <p:nvPr/>
          </p:nvSpPr>
          <p:spPr>
            <a:xfrm>
              <a:off x="6960840" y="6134481"/>
              <a:ext cx="651129" cy="595217"/>
            </a:xfrm>
            <a:custGeom>
              <a:avLst/>
              <a:gdLst/>
              <a:ahLst/>
              <a:cxnLst/>
              <a:rect l="0" t="0" r="0" b="0"/>
              <a:pathLst>
                <a:path w="651129" h="595217">
                  <a:moveTo>
                    <a:pt x="651129" y="0"/>
                  </a:moveTo>
                  <a:lnTo>
                    <a:pt x="0" y="0"/>
                  </a:lnTo>
                  <a:lnTo>
                    <a:pt x="0" y="595217"/>
                  </a:lnTo>
                </a:path>
              </a:pathLst>
            </a:custGeom>
            <a:noFill/>
            <a:ln w="8505">
              <a:solidFill>
                <a:srgbClr val="3B8C80"/>
              </a:solidFill>
              <a:prstDash val="solid"/>
            </a:ln>
          </p:spPr>
        </p:sp>
        <p:sp>
          <p:nvSpPr>
            <p:cNvPr id="1398" name="Selected identity to graph refined head">
              <a:extLst>
                <a:ext uri="{FF2B5EF4-FFF2-40B4-BE49-F238E27FC236}">
                  <a16:creationId xmlns:a16="http://schemas.microsoft.com/office/drawing/2014/main" id="{2F033F6F-AC85-37DE-479C-D063C3DB8E25}"/>
                </a:ext>
              </a:extLst>
            </p:cNvPr>
            <p:cNvSpPr>
              <a:spLocks noGrp="1"/>
            </p:cNvSpPr>
            <p:nvPr/>
          </p:nvSpPr>
          <p:spPr>
            <a:xfrm>
              <a:off x="6932170" y="6686360"/>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99" name="Graph to GNN refined">
              <a:extLst>
                <a:ext uri="{FF2B5EF4-FFF2-40B4-BE49-F238E27FC236}">
                  <a16:creationId xmlns:a16="http://schemas.microsoft.com/office/drawing/2014/main" id="{7EF864D3-D6E3-5180-82C2-0A0AE886C150}"/>
                </a:ext>
              </a:extLst>
            </p:cNvPr>
            <p:cNvSpPr>
              <a:spLocks noGrp="1"/>
            </p:cNvSpPr>
            <p:nvPr/>
          </p:nvSpPr>
          <p:spPr>
            <a:xfrm>
              <a:off x="6960840" y="7441406"/>
              <a:ext cx="191" cy="153448"/>
            </a:xfrm>
            <a:custGeom>
              <a:avLst/>
              <a:gdLst/>
              <a:ahLst/>
              <a:cxnLst/>
              <a:rect l="0" t="0" r="0" b="0"/>
              <a:pathLst>
                <a:path w="191" h="153448">
                  <a:moveTo>
                    <a:pt x="0" y="0"/>
                  </a:moveTo>
                  <a:lnTo>
                    <a:pt x="0" y="153448"/>
                  </a:lnTo>
                </a:path>
              </a:pathLst>
            </a:custGeom>
            <a:noFill/>
            <a:ln w="8505">
              <a:solidFill>
                <a:srgbClr val="3B8C80"/>
              </a:solidFill>
              <a:prstDash val="solid"/>
            </a:ln>
          </p:spPr>
        </p:sp>
        <p:sp>
          <p:nvSpPr>
            <p:cNvPr id="1400" name="Graph to GNN refined head">
              <a:extLst>
                <a:ext uri="{FF2B5EF4-FFF2-40B4-BE49-F238E27FC236}">
                  <a16:creationId xmlns:a16="http://schemas.microsoft.com/office/drawing/2014/main" id="{B23BD653-4893-2671-9B86-7F888A6E5617}"/>
                </a:ext>
              </a:extLst>
            </p:cNvPr>
            <p:cNvSpPr>
              <a:spLocks noGrp="1"/>
            </p:cNvSpPr>
            <p:nvPr/>
          </p:nvSpPr>
          <p:spPr>
            <a:xfrm>
              <a:off x="6932170" y="7551515"/>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1" name="GNN to graph attention refined">
              <a:extLst>
                <a:ext uri="{FF2B5EF4-FFF2-40B4-BE49-F238E27FC236}">
                  <a16:creationId xmlns:a16="http://schemas.microsoft.com/office/drawing/2014/main" id="{B0DCC1B2-7C1A-332C-0127-08382278DBC6}"/>
                </a:ext>
              </a:extLst>
            </p:cNvPr>
            <p:cNvSpPr>
              <a:spLocks noGrp="1"/>
            </p:cNvSpPr>
            <p:nvPr/>
          </p:nvSpPr>
          <p:spPr>
            <a:xfrm>
              <a:off x="6960840" y="7934420"/>
              <a:ext cx="191" cy="274320"/>
            </a:xfrm>
            <a:custGeom>
              <a:avLst/>
              <a:gdLst/>
              <a:ahLst/>
              <a:cxnLst/>
              <a:rect l="0" t="0" r="0" b="0"/>
              <a:pathLst>
                <a:path w="191" h="274320">
                  <a:moveTo>
                    <a:pt x="0" y="0"/>
                  </a:moveTo>
                  <a:lnTo>
                    <a:pt x="0" y="274320"/>
                  </a:lnTo>
                </a:path>
              </a:pathLst>
            </a:custGeom>
            <a:noFill/>
            <a:ln w="8505">
              <a:solidFill>
                <a:srgbClr val="3B8C80"/>
              </a:solidFill>
              <a:prstDash val="solid"/>
            </a:ln>
          </p:spPr>
        </p:sp>
        <p:sp>
          <p:nvSpPr>
            <p:cNvPr id="1402" name="GNN to graph attention refined head">
              <a:extLst>
                <a:ext uri="{FF2B5EF4-FFF2-40B4-BE49-F238E27FC236}">
                  <a16:creationId xmlns:a16="http://schemas.microsoft.com/office/drawing/2014/main" id="{F5D1A0D2-1869-EB89-61A3-D3ABFE580C35}"/>
                </a:ext>
              </a:extLst>
            </p:cNvPr>
            <p:cNvSpPr>
              <a:spLocks noGrp="1"/>
            </p:cNvSpPr>
            <p:nvPr/>
          </p:nvSpPr>
          <p:spPr>
            <a:xfrm>
              <a:off x="6932170" y="8165402"/>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3" name="Identity to SMI-TED refined">
              <a:extLst>
                <a:ext uri="{FF2B5EF4-FFF2-40B4-BE49-F238E27FC236}">
                  <a16:creationId xmlns:a16="http://schemas.microsoft.com/office/drawing/2014/main" id="{416B661C-118E-CA99-59DC-DA4857A74E2E}"/>
                </a:ext>
              </a:extLst>
            </p:cNvPr>
            <p:cNvSpPr>
              <a:spLocks noGrp="1"/>
            </p:cNvSpPr>
            <p:nvPr/>
          </p:nvSpPr>
          <p:spPr>
            <a:xfrm>
              <a:off x="8530941" y="6638068"/>
              <a:ext cx="191" cy="326993"/>
            </a:xfrm>
            <a:custGeom>
              <a:avLst/>
              <a:gdLst/>
              <a:ahLst/>
              <a:cxnLst/>
              <a:rect l="0" t="0" r="0" b="0"/>
              <a:pathLst>
                <a:path w="191" h="326993">
                  <a:moveTo>
                    <a:pt x="0" y="0"/>
                  </a:moveTo>
                  <a:lnTo>
                    <a:pt x="0" y="326993"/>
                  </a:lnTo>
                </a:path>
              </a:pathLst>
            </a:custGeom>
            <a:noFill/>
            <a:ln w="8505">
              <a:solidFill>
                <a:srgbClr val="3B8C80"/>
              </a:solidFill>
              <a:prstDash val="solid"/>
            </a:ln>
          </p:spPr>
        </p:sp>
        <p:sp>
          <p:nvSpPr>
            <p:cNvPr id="1404" name="Identity to SMI-TED refined head">
              <a:extLst>
                <a:ext uri="{FF2B5EF4-FFF2-40B4-BE49-F238E27FC236}">
                  <a16:creationId xmlns:a16="http://schemas.microsoft.com/office/drawing/2014/main" id="{0BA2F96A-2AFB-7C00-99C8-78C9DC78B848}"/>
                </a:ext>
              </a:extLst>
            </p:cNvPr>
            <p:cNvSpPr>
              <a:spLocks noGrp="1"/>
            </p:cNvSpPr>
            <p:nvPr/>
          </p:nvSpPr>
          <p:spPr>
            <a:xfrm>
              <a:off x="8502271" y="6921722"/>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5" name="SMI-TED to language refined">
              <a:extLst>
                <a:ext uri="{FF2B5EF4-FFF2-40B4-BE49-F238E27FC236}">
                  <a16:creationId xmlns:a16="http://schemas.microsoft.com/office/drawing/2014/main" id="{688B9630-847C-74A2-04EF-D75E08D7E423}"/>
                </a:ext>
              </a:extLst>
            </p:cNvPr>
            <p:cNvSpPr>
              <a:spLocks noGrp="1"/>
            </p:cNvSpPr>
            <p:nvPr/>
          </p:nvSpPr>
          <p:spPr>
            <a:xfrm>
              <a:off x="8530941" y="7304627"/>
              <a:ext cx="191" cy="1013841"/>
            </a:xfrm>
            <a:custGeom>
              <a:avLst/>
              <a:gdLst/>
              <a:ahLst/>
              <a:cxnLst/>
              <a:rect l="0" t="0" r="0" b="0"/>
              <a:pathLst>
                <a:path w="191" h="1013841">
                  <a:moveTo>
                    <a:pt x="0" y="0"/>
                  </a:moveTo>
                  <a:lnTo>
                    <a:pt x="0" y="1013841"/>
                  </a:lnTo>
                </a:path>
              </a:pathLst>
            </a:custGeom>
            <a:noFill/>
            <a:ln w="8505">
              <a:solidFill>
                <a:srgbClr val="3B8C80"/>
              </a:solidFill>
              <a:prstDash val="solid"/>
            </a:ln>
          </p:spPr>
        </p:sp>
        <p:sp>
          <p:nvSpPr>
            <p:cNvPr id="1406" name="SMI-TED to language refined head">
              <a:extLst>
                <a:ext uri="{FF2B5EF4-FFF2-40B4-BE49-F238E27FC236}">
                  <a16:creationId xmlns:a16="http://schemas.microsoft.com/office/drawing/2014/main" id="{7251A2B8-D12B-A433-6B0D-10AA76953AAB}"/>
                </a:ext>
              </a:extLst>
            </p:cNvPr>
            <p:cNvSpPr>
              <a:spLocks noGrp="1"/>
            </p:cNvSpPr>
            <p:nvPr/>
          </p:nvSpPr>
          <p:spPr>
            <a:xfrm>
              <a:off x="8502271" y="8275130"/>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7" name="Other identities refined">
              <a:extLst>
                <a:ext uri="{FF2B5EF4-FFF2-40B4-BE49-F238E27FC236}">
                  <a16:creationId xmlns:a16="http://schemas.microsoft.com/office/drawing/2014/main" id="{A4787BA6-E950-16B8-B01A-9B4C92E13C7A}"/>
                </a:ext>
              </a:extLst>
            </p:cNvPr>
            <p:cNvSpPr>
              <a:spLocks noGrp="1"/>
            </p:cNvSpPr>
            <p:nvPr/>
          </p:nvSpPr>
          <p:spPr>
            <a:xfrm>
              <a:off x="9509540" y="5581174"/>
              <a:ext cx="613886" cy="1373695"/>
            </a:xfrm>
            <a:custGeom>
              <a:avLst/>
              <a:gdLst/>
              <a:ahLst/>
              <a:cxnLst/>
              <a:rect l="0" t="0" r="0" b="0"/>
              <a:pathLst>
                <a:path w="613886" h="1373695">
                  <a:moveTo>
                    <a:pt x="0" y="0"/>
                  </a:moveTo>
                  <a:lnTo>
                    <a:pt x="613886" y="0"/>
                  </a:lnTo>
                  <a:lnTo>
                    <a:pt x="613886" y="1373695"/>
                  </a:lnTo>
                </a:path>
              </a:pathLst>
            </a:custGeom>
            <a:noFill/>
            <a:ln w="8505">
              <a:solidFill>
                <a:srgbClr val="3B8C80"/>
              </a:solidFill>
              <a:prstDash val="solid"/>
            </a:ln>
          </p:spPr>
        </p:sp>
        <p:sp>
          <p:nvSpPr>
            <p:cNvPr id="1408" name="Other identities refined head">
              <a:extLst>
                <a:ext uri="{FF2B5EF4-FFF2-40B4-BE49-F238E27FC236}">
                  <a16:creationId xmlns:a16="http://schemas.microsoft.com/office/drawing/2014/main" id="{9D094DDB-3471-ECAC-BCA5-E9612E620328}"/>
                </a:ext>
              </a:extLst>
            </p:cNvPr>
            <p:cNvSpPr>
              <a:spLocks noGrp="1"/>
            </p:cNvSpPr>
            <p:nvPr/>
          </p:nvSpPr>
          <p:spPr>
            <a:xfrm>
              <a:off x="10094756" y="6911531"/>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9" name="Other identities middle refined">
              <a:extLst>
                <a:ext uri="{FF2B5EF4-FFF2-40B4-BE49-F238E27FC236}">
                  <a16:creationId xmlns:a16="http://schemas.microsoft.com/office/drawing/2014/main" id="{43A875F1-64CC-3AE0-16D0-832B017C6CB3}"/>
                </a:ext>
              </a:extLst>
            </p:cNvPr>
            <p:cNvSpPr>
              <a:spLocks noGrp="1"/>
            </p:cNvSpPr>
            <p:nvPr/>
          </p:nvSpPr>
          <p:spPr>
            <a:xfrm>
              <a:off x="9509540" y="5851112"/>
              <a:ext cx="613886" cy="191"/>
            </a:xfrm>
            <a:custGeom>
              <a:avLst/>
              <a:gdLst/>
              <a:ahLst/>
              <a:cxnLst/>
              <a:rect l="0" t="0" r="0" b="0"/>
              <a:pathLst>
                <a:path w="613886" h="191">
                  <a:moveTo>
                    <a:pt x="0" y="0"/>
                  </a:moveTo>
                  <a:lnTo>
                    <a:pt x="613886" y="0"/>
                  </a:lnTo>
                </a:path>
              </a:pathLst>
            </a:custGeom>
            <a:noFill/>
            <a:ln w="8505">
              <a:solidFill>
                <a:srgbClr val="3B8C80"/>
              </a:solidFill>
              <a:prstDash val="solid"/>
            </a:ln>
          </p:spPr>
        </p:sp>
        <p:sp>
          <p:nvSpPr>
            <p:cNvPr id="1410" name="Other identities lower refined">
              <a:extLst>
                <a:ext uri="{FF2B5EF4-FFF2-40B4-BE49-F238E27FC236}">
                  <a16:creationId xmlns:a16="http://schemas.microsoft.com/office/drawing/2014/main" id="{D83A070A-E1D1-4067-2310-74DC30F9F921}"/>
                </a:ext>
              </a:extLst>
            </p:cNvPr>
            <p:cNvSpPr>
              <a:spLocks noGrp="1"/>
            </p:cNvSpPr>
            <p:nvPr/>
          </p:nvSpPr>
          <p:spPr>
            <a:xfrm>
              <a:off x="9509540" y="6533293"/>
              <a:ext cx="613886" cy="191"/>
            </a:xfrm>
            <a:custGeom>
              <a:avLst/>
              <a:gdLst/>
              <a:ahLst/>
              <a:cxnLst/>
              <a:rect l="0" t="0" r="0" b="0"/>
              <a:pathLst>
                <a:path w="613886" h="191">
                  <a:moveTo>
                    <a:pt x="0" y="0"/>
                  </a:moveTo>
                  <a:lnTo>
                    <a:pt x="613886" y="0"/>
                  </a:lnTo>
                </a:path>
              </a:pathLst>
            </a:custGeom>
            <a:noFill/>
            <a:ln w="8505">
              <a:solidFill>
                <a:srgbClr val="3B8C80"/>
              </a:solidFill>
              <a:prstDash val="solid"/>
            </a:ln>
          </p:spPr>
        </p:sp>
        <p:sp>
          <p:nvSpPr>
            <p:cNvPr id="1411" name="Context SMI-TED to matrix refined">
              <a:extLst>
                <a:ext uri="{FF2B5EF4-FFF2-40B4-BE49-F238E27FC236}">
                  <a16:creationId xmlns:a16="http://schemas.microsoft.com/office/drawing/2014/main" id="{3BA39657-BA55-8B03-4B42-2E8CA0F2402A}"/>
                </a:ext>
              </a:extLst>
            </p:cNvPr>
            <p:cNvSpPr>
              <a:spLocks noGrp="1"/>
            </p:cNvSpPr>
            <p:nvPr/>
          </p:nvSpPr>
          <p:spPr>
            <a:xfrm>
              <a:off x="10133903" y="7294436"/>
              <a:ext cx="191" cy="264128"/>
            </a:xfrm>
            <a:custGeom>
              <a:avLst/>
              <a:gdLst/>
              <a:ahLst/>
              <a:cxnLst/>
              <a:rect l="0" t="0" r="0" b="0"/>
              <a:pathLst>
                <a:path w="191" h="264128">
                  <a:moveTo>
                    <a:pt x="0" y="0"/>
                  </a:moveTo>
                  <a:lnTo>
                    <a:pt x="0" y="264128"/>
                  </a:lnTo>
                </a:path>
              </a:pathLst>
            </a:custGeom>
            <a:noFill/>
            <a:ln w="8505">
              <a:solidFill>
                <a:srgbClr val="3B8C80"/>
              </a:solidFill>
              <a:prstDash val="solid"/>
            </a:ln>
          </p:spPr>
        </p:sp>
        <p:sp>
          <p:nvSpPr>
            <p:cNvPr id="1412" name="Context SMI-TED to matrix refined head">
              <a:extLst>
                <a:ext uri="{FF2B5EF4-FFF2-40B4-BE49-F238E27FC236}">
                  <a16:creationId xmlns:a16="http://schemas.microsoft.com/office/drawing/2014/main" id="{46BBCF7E-77B7-430B-5E68-8D5D4D07C9BA}"/>
                </a:ext>
              </a:extLst>
            </p:cNvPr>
            <p:cNvSpPr>
              <a:spLocks noGrp="1"/>
            </p:cNvSpPr>
            <p:nvPr/>
          </p:nvSpPr>
          <p:spPr>
            <a:xfrm>
              <a:off x="10105233" y="7515225"/>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13" name="Context matrix to attention refined">
              <a:extLst>
                <a:ext uri="{FF2B5EF4-FFF2-40B4-BE49-F238E27FC236}">
                  <a16:creationId xmlns:a16="http://schemas.microsoft.com/office/drawing/2014/main" id="{19123C2B-08C0-5942-5974-56E3DB290164}"/>
                </a:ext>
              </a:extLst>
            </p:cNvPr>
            <p:cNvSpPr>
              <a:spLocks noGrp="1"/>
            </p:cNvSpPr>
            <p:nvPr/>
          </p:nvSpPr>
          <p:spPr>
            <a:xfrm>
              <a:off x="10123426" y="7958995"/>
              <a:ext cx="191" cy="249745"/>
            </a:xfrm>
            <a:custGeom>
              <a:avLst/>
              <a:gdLst/>
              <a:ahLst/>
              <a:cxnLst/>
              <a:rect l="0" t="0" r="0" b="0"/>
              <a:pathLst>
                <a:path w="191" h="249745">
                  <a:moveTo>
                    <a:pt x="0" y="0"/>
                  </a:moveTo>
                  <a:lnTo>
                    <a:pt x="0" y="249745"/>
                  </a:lnTo>
                </a:path>
              </a:pathLst>
            </a:custGeom>
            <a:noFill/>
            <a:ln w="8505">
              <a:solidFill>
                <a:srgbClr val="3B8C80"/>
              </a:solidFill>
              <a:prstDash val="solid"/>
            </a:ln>
          </p:spPr>
        </p:sp>
        <p:sp>
          <p:nvSpPr>
            <p:cNvPr id="1414" name="Context matrix to attention refined head">
              <a:extLst>
                <a:ext uri="{FF2B5EF4-FFF2-40B4-BE49-F238E27FC236}">
                  <a16:creationId xmlns:a16="http://schemas.microsoft.com/office/drawing/2014/main" id="{F6D726DD-707A-38A3-9C89-49061435E2BF}"/>
                </a:ext>
              </a:extLst>
            </p:cNvPr>
            <p:cNvSpPr>
              <a:spLocks noGrp="1"/>
            </p:cNvSpPr>
            <p:nvPr/>
          </p:nvSpPr>
          <p:spPr>
            <a:xfrm>
              <a:off x="10094756" y="8165402"/>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15" name="Language query left refined">
              <a:extLst>
                <a:ext uri="{FF2B5EF4-FFF2-40B4-BE49-F238E27FC236}">
                  <a16:creationId xmlns:a16="http://schemas.microsoft.com/office/drawing/2014/main" id="{739AFAAD-E669-E2AC-687E-E59FC6E7FAD2}"/>
                </a:ext>
              </a:extLst>
            </p:cNvPr>
            <p:cNvSpPr>
              <a:spLocks noGrp="1"/>
            </p:cNvSpPr>
            <p:nvPr/>
          </p:nvSpPr>
          <p:spPr>
            <a:xfrm>
              <a:off x="7709696" y="8408765"/>
              <a:ext cx="479012" cy="191"/>
            </a:xfrm>
            <a:custGeom>
              <a:avLst/>
              <a:gdLst/>
              <a:ahLst/>
              <a:cxnLst/>
              <a:rect l="0" t="0" r="0" b="0"/>
              <a:pathLst>
                <a:path w="479012" h="191">
                  <a:moveTo>
                    <a:pt x="479012" y="0"/>
                  </a:moveTo>
                  <a:lnTo>
                    <a:pt x="0" y="0"/>
                  </a:lnTo>
                </a:path>
              </a:pathLst>
            </a:custGeom>
            <a:noFill/>
            <a:ln w="8505">
              <a:solidFill>
                <a:srgbClr val="3B8C80"/>
              </a:solidFill>
              <a:prstDash val="solid"/>
            </a:ln>
          </p:spPr>
        </p:sp>
        <p:sp>
          <p:nvSpPr>
            <p:cNvPr id="1416" name="Language query left refined head">
              <a:extLst>
                <a:ext uri="{FF2B5EF4-FFF2-40B4-BE49-F238E27FC236}">
                  <a16:creationId xmlns:a16="http://schemas.microsoft.com/office/drawing/2014/main" id="{98D92A42-D662-B44C-CD57-583BDD75174C}"/>
                </a:ext>
              </a:extLst>
            </p:cNvPr>
            <p:cNvSpPr>
              <a:spLocks noGrp="1"/>
            </p:cNvSpPr>
            <p:nvPr/>
          </p:nvSpPr>
          <p:spPr>
            <a:xfrm>
              <a:off x="7686359" y="8380095"/>
              <a:ext cx="66675" cy="57340"/>
            </a:xfrm>
            <a:custGeom>
              <a:avLst/>
              <a:gdLst/>
              <a:ahLst/>
              <a:cxnLst/>
              <a:rect l="0" t="0" r="0" b="0"/>
              <a:pathLst>
                <a:path w="66675" h="57340">
                  <a:moveTo>
                    <a:pt x="0" y="28670"/>
                  </a:moveTo>
                  <a:lnTo>
                    <a:pt x="66675" y="57340"/>
                  </a:lnTo>
                  <a:lnTo>
                    <a:pt x="66675" y="0"/>
                  </a:lnTo>
                  <a:close/>
                </a:path>
              </a:pathLst>
            </a:custGeom>
            <a:solidFill>
              <a:srgbClr val="3B8C80"/>
            </a:solidFill>
            <a:ln w="0">
              <a:noFill/>
              <a:prstDash val="solid"/>
            </a:ln>
          </p:spPr>
        </p:sp>
        <p:sp>
          <p:nvSpPr>
            <p:cNvPr id="1417" name="Language query right refined">
              <a:extLst>
                <a:ext uri="{FF2B5EF4-FFF2-40B4-BE49-F238E27FC236}">
                  <a16:creationId xmlns:a16="http://schemas.microsoft.com/office/drawing/2014/main" id="{97C332FD-B4F7-4A69-7F24-BE35ED3CC233}"/>
                </a:ext>
              </a:extLst>
            </p:cNvPr>
            <p:cNvSpPr>
              <a:spLocks noGrp="1"/>
            </p:cNvSpPr>
            <p:nvPr/>
          </p:nvSpPr>
          <p:spPr>
            <a:xfrm>
              <a:off x="8858411" y="8408765"/>
              <a:ext cx="478917" cy="191"/>
            </a:xfrm>
            <a:custGeom>
              <a:avLst/>
              <a:gdLst/>
              <a:ahLst/>
              <a:cxnLst/>
              <a:rect l="0" t="0" r="0" b="0"/>
              <a:pathLst>
                <a:path w="478917" h="191">
                  <a:moveTo>
                    <a:pt x="0" y="0"/>
                  </a:moveTo>
                  <a:lnTo>
                    <a:pt x="478917" y="0"/>
                  </a:lnTo>
                </a:path>
              </a:pathLst>
            </a:custGeom>
            <a:noFill/>
            <a:ln w="8505">
              <a:solidFill>
                <a:srgbClr val="3B8C80"/>
              </a:solidFill>
              <a:prstDash val="solid"/>
            </a:ln>
          </p:spPr>
        </p:sp>
        <p:sp>
          <p:nvSpPr>
            <p:cNvPr id="1418" name="Language query right refined head">
              <a:extLst>
                <a:ext uri="{FF2B5EF4-FFF2-40B4-BE49-F238E27FC236}">
                  <a16:creationId xmlns:a16="http://schemas.microsoft.com/office/drawing/2014/main" id="{4B6A3B32-B3D1-5F9B-FDB9-6517BE3635C2}"/>
                </a:ext>
              </a:extLst>
            </p:cNvPr>
            <p:cNvSpPr>
              <a:spLocks noGrp="1"/>
            </p:cNvSpPr>
            <p:nvPr/>
          </p:nvSpPr>
          <p:spPr>
            <a:xfrm>
              <a:off x="9293989" y="8380095"/>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419" name="Language to fusion refined">
              <a:extLst>
                <a:ext uri="{FF2B5EF4-FFF2-40B4-BE49-F238E27FC236}">
                  <a16:creationId xmlns:a16="http://schemas.microsoft.com/office/drawing/2014/main" id="{CC1BD470-88ED-E459-BC64-3926AF1B81FC}"/>
                </a:ext>
              </a:extLst>
            </p:cNvPr>
            <p:cNvSpPr>
              <a:spLocks noGrp="1"/>
            </p:cNvSpPr>
            <p:nvPr/>
          </p:nvSpPr>
          <p:spPr>
            <a:xfrm>
              <a:off x="8523512" y="8475726"/>
              <a:ext cx="191" cy="281845"/>
            </a:xfrm>
            <a:custGeom>
              <a:avLst/>
              <a:gdLst/>
              <a:ahLst/>
              <a:cxnLst/>
              <a:rect l="0" t="0" r="0" b="0"/>
              <a:pathLst>
                <a:path w="191" h="281845">
                  <a:moveTo>
                    <a:pt x="0" y="0"/>
                  </a:moveTo>
                  <a:lnTo>
                    <a:pt x="0" y="281845"/>
                  </a:lnTo>
                </a:path>
              </a:pathLst>
            </a:custGeom>
            <a:noFill/>
            <a:ln w="8505">
              <a:solidFill>
                <a:srgbClr val="3B8C80"/>
              </a:solidFill>
              <a:prstDash val="solid"/>
            </a:ln>
          </p:spPr>
        </p:sp>
        <p:sp>
          <p:nvSpPr>
            <p:cNvPr id="1420" name="Language to fusion refined head">
              <a:extLst>
                <a:ext uri="{FF2B5EF4-FFF2-40B4-BE49-F238E27FC236}">
                  <a16:creationId xmlns:a16="http://schemas.microsoft.com/office/drawing/2014/main" id="{7DE28A53-D82C-C158-A00E-484E630E57C6}"/>
                </a:ext>
              </a:extLst>
            </p:cNvPr>
            <p:cNvSpPr>
              <a:spLocks noGrp="1"/>
            </p:cNvSpPr>
            <p:nvPr/>
          </p:nvSpPr>
          <p:spPr>
            <a:xfrm>
              <a:off x="8494841" y="8714232"/>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21" name="Graph attention to fusion refined">
              <a:extLst>
                <a:ext uri="{FF2B5EF4-FFF2-40B4-BE49-F238E27FC236}">
                  <a16:creationId xmlns:a16="http://schemas.microsoft.com/office/drawing/2014/main" id="{9DE07E88-6455-6397-3B15-5E2794D66EC1}"/>
                </a:ext>
              </a:extLst>
            </p:cNvPr>
            <p:cNvSpPr>
              <a:spLocks noGrp="1"/>
            </p:cNvSpPr>
            <p:nvPr/>
          </p:nvSpPr>
          <p:spPr>
            <a:xfrm>
              <a:off x="6960840" y="8585549"/>
              <a:ext cx="1092899" cy="362807"/>
            </a:xfrm>
            <a:custGeom>
              <a:avLst/>
              <a:gdLst/>
              <a:ahLst/>
              <a:cxnLst/>
              <a:rect l="0" t="0" r="0" b="0"/>
              <a:pathLst>
                <a:path w="1092899" h="362807">
                  <a:moveTo>
                    <a:pt x="0" y="0"/>
                  </a:moveTo>
                  <a:lnTo>
                    <a:pt x="0" y="362807"/>
                  </a:lnTo>
                  <a:lnTo>
                    <a:pt x="1092899" y="362807"/>
                  </a:lnTo>
                </a:path>
              </a:pathLst>
            </a:custGeom>
            <a:noFill/>
            <a:ln w="8505">
              <a:solidFill>
                <a:srgbClr val="3B8C80"/>
              </a:solidFill>
              <a:prstDash val="solid"/>
            </a:ln>
          </p:spPr>
        </p:sp>
        <p:sp>
          <p:nvSpPr>
            <p:cNvPr id="1422" name="Graph attention to fusion refined head">
              <a:extLst>
                <a:ext uri="{FF2B5EF4-FFF2-40B4-BE49-F238E27FC236}">
                  <a16:creationId xmlns:a16="http://schemas.microsoft.com/office/drawing/2014/main" id="{80249588-4991-7EA9-C183-E31DFF970425}"/>
                </a:ext>
              </a:extLst>
            </p:cNvPr>
            <p:cNvSpPr>
              <a:spLocks noGrp="1"/>
            </p:cNvSpPr>
            <p:nvPr/>
          </p:nvSpPr>
          <p:spPr>
            <a:xfrm>
              <a:off x="8010400" y="8919686"/>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423" name="Context attention to fusion refined">
              <a:extLst>
                <a:ext uri="{FF2B5EF4-FFF2-40B4-BE49-F238E27FC236}">
                  <a16:creationId xmlns:a16="http://schemas.microsoft.com/office/drawing/2014/main" id="{EB1CDE84-2AAC-05C7-2AC2-7F0CD69C4010}"/>
                </a:ext>
              </a:extLst>
            </p:cNvPr>
            <p:cNvSpPr>
              <a:spLocks noGrp="1"/>
            </p:cNvSpPr>
            <p:nvPr/>
          </p:nvSpPr>
          <p:spPr>
            <a:xfrm>
              <a:off x="8993380" y="8585549"/>
              <a:ext cx="1130046" cy="362807"/>
            </a:xfrm>
            <a:custGeom>
              <a:avLst/>
              <a:gdLst/>
              <a:ahLst/>
              <a:cxnLst/>
              <a:rect l="0" t="0" r="0" b="0"/>
              <a:pathLst>
                <a:path w="1130046" h="362807">
                  <a:moveTo>
                    <a:pt x="1130046" y="0"/>
                  </a:moveTo>
                  <a:lnTo>
                    <a:pt x="1130046" y="362807"/>
                  </a:lnTo>
                  <a:lnTo>
                    <a:pt x="0" y="362807"/>
                  </a:lnTo>
                </a:path>
              </a:pathLst>
            </a:custGeom>
            <a:noFill/>
            <a:ln w="8505">
              <a:solidFill>
                <a:srgbClr val="3B8C80"/>
              </a:solidFill>
              <a:prstDash val="solid"/>
            </a:ln>
          </p:spPr>
        </p:sp>
        <p:sp>
          <p:nvSpPr>
            <p:cNvPr id="1424" name="Context attention to fusion refined head">
              <a:extLst>
                <a:ext uri="{FF2B5EF4-FFF2-40B4-BE49-F238E27FC236}">
                  <a16:creationId xmlns:a16="http://schemas.microsoft.com/office/drawing/2014/main" id="{2AAA0335-3D51-EA88-2522-F717A483BF32}"/>
                </a:ext>
              </a:extLst>
            </p:cNvPr>
            <p:cNvSpPr>
              <a:spLocks noGrp="1"/>
            </p:cNvSpPr>
            <p:nvPr/>
          </p:nvSpPr>
          <p:spPr>
            <a:xfrm>
              <a:off x="8970044" y="8919686"/>
              <a:ext cx="66675" cy="57340"/>
            </a:xfrm>
            <a:custGeom>
              <a:avLst/>
              <a:gdLst/>
              <a:ahLst/>
              <a:cxnLst/>
              <a:rect l="0" t="0" r="0" b="0"/>
              <a:pathLst>
                <a:path w="66675" h="57340">
                  <a:moveTo>
                    <a:pt x="0" y="28670"/>
                  </a:moveTo>
                  <a:lnTo>
                    <a:pt x="66675" y="57340"/>
                  </a:lnTo>
                  <a:lnTo>
                    <a:pt x="66675" y="0"/>
                  </a:lnTo>
                  <a:close/>
                </a:path>
              </a:pathLst>
            </a:custGeom>
            <a:solidFill>
              <a:srgbClr val="3B8C80"/>
            </a:solidFill>
            <a:ln w="0">
              <a:noFill/>
              <a:prstDash val="solid"/>
            </a:ln>
          </p:spPr>
        </p:sp>
        <p:sp>
          <p:nvSpPr>
            <p:cNvPr id="1425" name="Fusion to identity vector refined">
              <a:extLst>
                <a:ext uri="{FF2B5EF4-FFF2-40B4-BE49-F238E27FC236}">
                  <a16:creationId xmlns:a16="http://schemas.microsoft.com/office/drawing/2014/main" id="{67958AAC-3FC5-4E94-249E-68F363396C6E}"/>
                </a:ext>
              </a:extLst>
            </p:cNvPr>
            <p:cNvSpPr>
              <a:spLocks noGrp="1"/>
            </p:cNvSpPr>
            <p:nvPr/>
          </p:nvSpPr>
          <p:spPr>
            <a:xfrm>
              <a:off x="8523512" y="9115806"/>
              <a:ext cx="191" cy="244507"/>
            </a:xfrm>
            <a:custGeom>
              <a:avLst/>
              <a:gdLst/>
              <a:ahLst/>
              <a:cxnLst/>
              <a:rect l="0" t="0" r="0" b="0"/>
              <a:pathLst>
                <a:path w="191" h="244507">
                  <a:moveTo>
                    <a:pt x="0" y="0"/>
                  </a:moveTo>
                  <a:lnTo>
                    <a:pt x="0" y="244507"/>
                  </a:lnTo>
                </a:path>
              </a:pathLst>
            </a:custGeom>
            <a:noFill/>
            <a:ln w="8505">
              <a:solidFill>
                <a:srgbClr val="3B8C80"/>
              </a:solidFill>
              <a:prstDash val="solid"/>
            </a:ln>
          </p:spPr>
        </p:sp>
        <p:sp>
          <p:nvSpPr>
            <p:cNvPr id="1426" name="Fusion to identity vector refined head">
              <a:extLst>
                <a:ext uri="{FF2B5EF4-FFF2-40B4-BE49-F238E27FC236}">
                  <a16:creationId xmlns:a16="http://schemas.microsoft.com/office/drawing/2014/main" id="{5B85A195-1A68-48DC-E553-B1E99915D03B}"/>
                </a:ext>
              </a:extLst>
            </p:cNvPr>
            <p:cNvSpPr>
              <a:spLocks noGrp="1"/>
            </p:cNvSpPr>
            <p:nvPr/>
          </p:nvSpPr>
          <p:spPr>
            <a:xfrm>
              <a:off x="8494841" y="9316974"/>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27" name="Identity vector to cosine refined">
              <a:extLst>
                <a:ext uri="{FF2B5EF4-FFF2-40B4-BE49-F238E27FC236}">
                  <a16:creationId xmlns:a16="http://schemas.microsoft.com/office/drawing/2014/main" id="{DDE80B97-A909-A736-F258-523B74319AC3}"/>
                </a:ext>
              </a:extLst>
            </p:cNvPr>
            <p:cNvSpPr>
              <a:spLocks noGrp="1"/>
            </p:cNvSpPr>
            <p:nvPr/>
          </p:nvSpPr>
          <p:spPr>
            <a:xfrm>
              <a:off x="8523512" y="9517571"/>
              <a:ext cx="191" cy="253841"/>
            </a:xfrm>
            <a:custGeom>
              <a:avLst/>
              <a:gdLst/>
              <a:ahLst/>
              <a:cxnLst/>
              <a:rect l="0" t="0" r="0" b="0"/>
              <a:pathLst>
                <a:path w="191" h="253841">
                  <a:moveTo>
                    <a:pt x="0" y="0"/>
                  </a:moveTo>
                  <a:lnTo>
                    <a:pt x="0" y="253841"/>
                  </a:lnTo>
                </a:path>
              </a:pathLst>
            </a:custGeom>
            <a:noFill/>
            <a:ln w="8505">
              <a:solidFill>
                <a:srgbClr val="3B8C80"/>
              </a:solidFill>
              <a:prstDash val="solid"/>
            </a:ln>
          </p:spPr>
        </p:sp>
        <p:sp>
          <p:nvSpPr>
            <p:cNvPr id="1428" name="Identity vector to cosine refined head">
              <a:extLst>
                <a:ext uri="{FF2B5EF4-FFF2-40B4-BE49-F238E27FC236}">
                  <a16:creationId xmlns:a16="http://schemas.microsoft.com/office/drawing/2014/main" id="{E490B029-346A-A57E-7B15-889C23CE6281}"/>
                </a:ext>
              </a:extLst>
            </p:cNvPr>
            <p:cNvSpPr>
              <a:spLocks noGrp="1"/>
            </p:cNvSpPr>
            <p:nvPr/>
          </p:nvSpPr>
          <p:spPr>
            <a:xfrm>
              <a:off x="8494841" y="9728073"/>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29" name="Cosine to score matrix refined">
              <a:extLst>
                <a:ext uri="{FF2B5EF4-FFF2-40B4-BE49-F238E27FC236}">
                  <a16:creationId xmlns:a16="http://schemas.microsoft.com/office/drawing/2014/main" id="{B53F289C-77E1-6513-62C8-F939A23BF1B2}"/>
                </a:ext>
              </a:extLst>
            </p:cNvPr>
            <p:cNvSpPr>
              <a:spLocks noGrp="1"/>
            </p:cNvSpPr>
            <p:nvPr/>
          </p:nvSpPr>
          <p:spPr>
            <a:xfrm>
              <a:off x="8932896" y="9971532"/>
              <a:ext cx="619030" cy="191"/>
            </a:xfrm>
            <a:custGeom>
              <a:avLst/>
              <a:gdLst/>
              <a:ahLst/>
              <a:cxnLst/>
              <a:rect l="0" t="0" r="0" b="0"/>
              <a:pathLst>
                <a:path w="619030" h="191">
                  <a:moveTo>
                    <a:pt x="0" y="0"/>
                  </a:moveTo>
                  <a:lnTo>
                    <a:pt x="619030" y="0"/>
                  </a:lnTo>
                </a:path>
              </a:pathLst>
            </a:custGeom>
            <a:noFill/>
            <a:ln w="8505">
              <a:solidFill>
                <a:srgbClr val="3B8C80"/>
              </a:solidFill>
              <a:prstDash val="solid"/>
            </a:ln>
          </p:spPr>
        </p:sp>
        <p:sp>
          <p:nvSpPr>
            <p:cNvPr id="1430" name="Cosine to score matrix refined head">
              <a:extLst>
                <a:ext uri="{FF2B5EF4-FFF2-40B4-BE49-F238E27FC236}">
                  <a16:creationId xmlns:a16="http://schemas.microsoft.com/office/drawing/2014/main" id="{7D1ABF5A-29C9-76A4-1903-E132A41C0C6D}"/>
                </a:ext>
              </a:extLst>
            </p:cNvPr>
            <p:cNvSpPr>
              <a:spLocks noGrp="1"/>
            </p:cNvSpPr>
            <p:nvPr/>
          </p:nvSpPr>
          <p:spPr>
            <a:xfrm>
              <a:off x="9508587" y="9942862"/>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grpSp>
      <p:pic>
        <p:nvPicPr>
          <p:cNvPr id="1436" name="Match clear receptor" descr="Receptor cartoon rendered from unchanged local coordinates, chain C1 of the 9LLG CA2 model.">
            <a:extLst>
              <a:ext uri="{FF2B5EF4-FFF2-40B4-BE49-F238E27FC236}">
                <a16:creationId xmlns:a16="http://schemas.microsoft.com/office/drawing/2014/main" id="{515E1CE9-4EFA-F96B-A08A-C6C2EC64DC6F}"/>
              </a:ext>
            </a:extLst>
          </p:cNvPr>
          <p:cNvPicPr/>
          <p:nvPr/>
        </p:nvPicPr>
        <p:blipFill>
          <a:blip r:embed="rId7"/>
          <a:srcRect l="16857" t="30389" r="19786" b="22500"/>
          <a:stretch>
            <a:fillRect/>
          </a:stretch>
        </p:blipFill>
        <p:spPr>
          <a:xfrm>
            <a:off x="725281" y="2388765"/>
            <a:ext cx="332109" cy="317507"/>
          </a:xfrm>
          <a:prstGeom prst="rect">
            <a:avLst/>
          </a:prstGeom>
        </p:spPr>
      </p:pic>
      <p:sp>
        <p:nvSpPr>
          <p:cNvPr id="1442" name="文本框 1441">
            <a:extLst>
              <a:ext uri="{FF2B5EF4-FFF2-40B4-BE49-F238E27FC236}">
                <a16:creationId xmlns:a16="http://schemas.microsoft.com/office/drawing/2014/main" id="{814431DA-F1EE-CFB8-E7E0-CF4D130ECF44}"/>
              </a:ext>
            </a:extLst>
          </p:cNvPr>
          <p:cNvSpPr txBox="1"/>
          <p:nvPr/>
        </p:nvSpPr>
        <p:spPr>
          <a:xfrm>
            <a:off x="1290027" y="775016"/>
            <a:ext cx="559769" cy="176972"/>
          </a:xfrm>
          <a:prstGeom prst="rect">
            <a:avLst/>
          </a:prstGeom>
          <a:noFill/>
        </p:spPr>
        <p:txBody>
          <a:bodyPr wrap="none" rtlCol="0">
            <a:spAutoFit/>
          </a:bodyPr>
          <a:lstStyle/>
          <a:p>
            <a:r>
              <a:rPr lang="en-US" altLang="zh-CN" sz="550" dirty="0">
                <a:solidFill>
                  <a:srgbClr val="263442"/>
                </a:solidFill>
                <a:latin typeface="Arial"/>
                <a:cs typeface="Arial"/>
              </a:rPr>
              <a:t>56 channels</a:t>
            </a:r>
            <a:endParaRPr lang="zh-CN" altLang="en-US" sz="550" dirty="0">
              <a:solidFill>
                <a:srgbClr val="263442"/>
              </a:solidFill>
              <a:latin typeface="Arial"/>
              <a:cs typeface="Arial"/>
            </a:endParaRPr>
          </a:p>
        </p:txBody>
      </p:sp>
      <p:sp>
        <p:nvSpPr>
          <p:cNvPr id="1443" name="V8 embedding computation frame">
            <a:extLst>
              <a:ext uri="{FF2B5EF4-FFF2-40B4-BE49-F238E27FC236}">
                <a16:creationId xmlns:a16="http://schemas.microsoft.com/office/drawing/2014/main" id="{FB41A424-8C9A-2DA8-76B2-57C0C54ECB10}"/>
              </a:ext>
            </a:extLst>
          </p:cNvPr>
          <p:cNvSpPr/>
          <p:nvPr/>
        </p:nvSpPr>
        <p:spPr>
          <a:xfrm>
            <a:off x="1381760" y="1305560"/>
            <a:ext cx="386080" cy="417830"/>
          </a:xfrm>
          <a:prstGeom prst="roundRect">
            <a:avLst>
              <a:gd name="adj" fmla="val 6579"/>
            </a:avLst>
          </a:prstGeom>
          <a:solidFill>
            <a:srgbClr val="F8FAFC"/>
          </a:solidFill>
          <a:ln w="6096" cap="rnd">
            <a:solidFill>
              <a:srgbClr val="C5BDD5"/>
            </a:solidFill>
            <a:prstDash val="solid"/>
            <a:round/>
          </a:ln>
        </p:spPr>
      </p:sp>
      <p:sp>
        <p:nvSpPr>
          <p:cNvPr id="1444" name="V8 embedding neighbor 1 to center">
            <a:extLst>
              <a:ext uri="{FF2B5EF4-FFF2-40B4-BE49-F238E27FC236}">
                <a16:creationId xmlns:a16="http://schemas.microsoft.com/office/drawing/2014/main" id="{3355B015-AF42-20CF-CA69-CEE14894D5E1}"/>
              </a:ext>
            </a:extLst>
          </p:cNvPr>
          <p:cNvSpPr/>
          <p:nvPr/>
        </p:nvSpPr>
        <p:spPr>
          <a:xfrm>
            <a:off x="1437942" y="1388677"/>
            <a:ext cx="84338" cy="113635"/>
          </a:xfrm>
          <a:custGeom>
            <a:avLst/>
            <a:gdLst/>
            <a:ahLst/>
            <a:cxnLst/>
            <a:rect l="l" t="t" r="r" b="b"/>
            <a:pathLst>
              <a:path w="84338" h="113635">
                <a:moveTo>
                  <a:pt x="0" y="0"/>
                </a:moveTo>
                <a:lnTo>
                  <a:pt x="84338" y="113635"/>
                </a:lnTo>
              </a:path>
            </a:pathLst>
          </a:custGeom>
          <a:noFill/>
          <a:ln w="5842" cap="rnd">
            <a:solidFill>
              <a:srgbClr val="9481B1"/>
            </a:solidFill>
            <a:prstDash val="solid"/>
            <a:round/>
          </a:ln>
        </p:spPr>
      </p:sp>
      <p:sp>
        <p:nvSpPr>
          <p:cNvPr id="1445" name="V8 embedding neighbor 1 to center head">
            <a:extLst>
              <a:ext uri="{FF2B5EF4-FFF2-40B4-BE49-F238E27FC236}">
                <a16:creationId xmlns:a16="http://schemas.microsoft.com/office/drawing/2014/main" id="{27615381-2E0E-2FB6-4DD6-10A8B1F481AB}"/>
              </a:ext>
            </a:extLst>
          </p:cNvPr>
          <p:cNvSpPr/>
          <p:nvPr/>
        </p:nvSpPr>
        <p:spPr>
          <a:xfrm>
            <a:off x="1508689" y="1488319"/>
            <a:ext cx="18870" cy="21105"/>
          </a:xfrm>
          <a:custGeom>
            <a:avLst/>
            <a:gdLst/>
            <a:ahLst/>
            <a:cxnLst/>
            <a:rect l="l" t="t" r="r" b="b"/>
            <a:pathLst>
              <a:path w="18870" h="21105">
                <a:moveTo>
                  <a:pt x="18870" y="21105"/>
                </a:moveTo>
                <a:lnTo>
                  <a:pt x="14277" y="0"/>
                </a:lnTo>
                <a:lnTo>
                  <a:pt x="0" y="10596"/>
                </a:lnTo>
                <a:close/>
              </a:path>
            </a:pathLst>
          </a:custGeom>
          <a:solidFill>
            <a:srgbClr val="9481B1"/>
          </a:solidFill>
          <a:ln w="0" cap="rnd">
            <a:noFill/>
          </a:ln>
        </p:spPr>
      </p:sp>
      <p:sp>
        <p:nvSpPr>
          <p:cNvPr id="1446" name="V8 embedding neighbor 1">
            <a:extLst>
              <a:ext uri="{FF2B5EF4-FFF2-40B4-BE49-F238E27FC236}">
                <a16:creationId xmlns:a16="http://schemas.microsoft.com/office/drawing/2014/main" id="{B5E8A971-284C-84D2-C0DB-7EB12E4B5902}"/>
              </a:ext>
            </a:extLst>
          </p:cNvPr>
          <p:cNvSpPr/>
          <p:nvPr/>
        </p:nvSpPr>
        <p:spPr>
          <a:xfrm>
            <a:off x="1411922" y="1358582"/>
            <a:ext cx="28575" cy="28575"/>
          </a:xfrm>
          <a:prstGeom prst="ellipse">
            <a:avLst/>
          </a:prstGeom>
          <a:noFill/>
          <a:ln w="7112" cap="rnd">
            <a:solidFill>
              <a:srgbClr val="9481B1"/>
            </a:solidFill>
            <a:prstDash val="solid"/>
            <a:round/>
          </a:ln>
        </p:spPr>
      </p:sp>
      <p:sp>
        <p:nvSpPr>
          <p:cNvPr id="1447" name="V8 embedding neighbor 2 to center">
            <a:extLst>
              <a:ext uri="{FF2B5EF4-FFF2-40B4-BE49-F238E27FC236}">
                <a16:creationId xmlns:a16="http://schemas.microsoft.com/office/drawing/2014/main" id="{410E19AF-558D-0BA4-4F56-8A43CC949018}"/>
              </a:ext>
            </a:extLst>
          </p:cNvPr>
          <p:cNvSpPr/>
          <p:nvPr/>
        </p:nvSpPr>
        <p:spPr>
          <a:xfrm>
            <a:off x="1567842" y="1384737"/>
            <a:ext cx="68064" cy="115185"/>
          </a:xfrm>
          <a:custGeom>
            <a:avLst/>
            <a:gdLst/>
            <a:ahLst/>
            <a:cxnLst/>
            <a:rect l="l" t="t" r="r" b="b"/>
            <a:pathLst>
              <a:path w="68064" h="115185">
                <a:moveTo>
                  <a:pt x="68064" y="0"/>
                </a:moveTo>
                <a:lnTo>
                  <a:pt x="0" y="115185"/>
                </a:lnTo>
              </a:path>
            </a:pathLst>
          </a:custGeom>
          <a:noFill/>
          <a:ln w="5842" cap="rnd">
            <a:solidFill>
              <a:srgbClr val="9481B1"/>
            </a:solidFill>
            <a:prstDash val="solid"/>
            <a:round/>
          </a:ln>
        </p:spPr>
      </p:sp>
      <p:sp>
        <p:nvSpPr>
          <p:cNvPr id="1448" name="V8 embedding neighbor 2 to center head">
            <a:extLst>
              <a:ext uri="{FF2B5EF4-FFF2-40B4-BE49-F238E27FC236}">
                <a16:creationId xmlns:a16="http://schemas.microsoft.com/office/drawing/2014/main" id="{50A61875-DCE0-421C-1735-CFE0432F2E90}"/>
              </a:ext>
            </a:extLst>
          </p:cNvPr>
          <p:cNvSpPr/>
          <p:nvPr/>
        </p:nvSpPr>
        <p:spPr>
          <a:xfrm>
            <a:off x="1563335" y="1486079"/>
            <a:ext cx="17668" cy="21470"/>
          </a:xfrm>
          <a:custGeom>
            <a:avLst/>
            <a:gdLst/>
            <a:ahLst/>
            <a:cxnLst/>
            <a:rect l="l" t="t" r="r" b="b"/>
            <a:pathLst>
              <a:path w="17668" h="21470">
                <a:moveTo>
                  <a:pt x="0" y="21470"/>
                </a:moveTo>
                <a:lnTo>
                  <a:pt x="17668" y="9045"/>
                </a:lnTo>
                <a:lnTo>
                  <a:pt x="2361" y="0"/>
                </a:lnTo>
                <a:close/>
              </a:path>
            </a:pathLst>
          </a:custGeom>
          <a:solidFill>
            <a:srgbClr val="9481B1"/>
          </a:solidFill>
          <a:ln w="0" cap="rnd">
            <a:noFill/>
          </a:ln>
        </p:spPr>
      </p:sp>
      <p:sp>
        <p:nvSpPr>
          <p:cNvPr id="1449" name="V8 embedding neighbor 2">
            <a:extLst>
              <a:ext uri="{FF2B5EF4-FFF2-40B4-BE49-F238E27FC236}">
                <a16:creationId xmlns:a16="http://schemas.microsoft.com/office/drawing/2014/main" id="{7AEBAFCB-8ED1-BA01-F100-82AD32FAB4F6}"/>
              </a:ext>
            </a:extLst>
          </p:cNvPr>
          <p:cNvSpPr/>
          <p:nvPr/>
        </p:nvSpPr>
        <p:spPr>
          <a:xfrm>
            <a:off x="1630362" y="1352232"/>
            <a:ext cx="31115" cy="31115"/>
          </a:xfrm>
          <a:prstGeom prst="ellipse">
            <a:avLst/>
          </a:prstGeom>
          <a:noFill/>
          <a:ln w="7112" cap="rnd">
            <a:solidFill>
              <a:srgbClr val="9481B1"/>
            </a:solidFill>
            <a:prstDash val="solid"/>
            <a:round/>
          </a:ln>
        </p:spPr>
      </p:sp>
      <p:sp>
        <p:nvSpPr>
          <p:cNvPr id="1450" name="V8 embedding upper curved aggregation">
            <a:extLst>
              <a:ext uri="{FF2B5EF4-FFF2-40B4-BE49-F238E27FC236}">
                <a16:creationId xmlns:a16="http://schemas.microsoft.com/office/drawing/2014/main" id="{1726AB57-DCD6-4DAB-768F-79635F178651}"/>
              </a:ext>
            </a:extLst>
          </p:cNvPr>
          <p:cNvSpPr/>
          <p:nvPr/>
        </p:nvSpPr>
        <p:spPr>
          <a:xfrm>
            <a:off x="1581150" y="1449794"/>
            <a:ext cx="120650" cy="48806"/>
          </a:xfrm>
          <a:custGeom>
            <a:avLst/>
            <a:gdLst/>
            <a:ahLst/>
            <a:cxnLst/>
            <a:rect l="l" t="t" r="r" b="b"/>
            <a:pathLst>
              <a:path w="120650" h="48806">
                <a:moveTo>
                  <a:pt x="118713" y="0"/>
                </a:moveTo>
                <a:cubicBezTo>
                  <a:pt x="120650" y="36106"/>
                  <a:pt x="44450" y="29756"/>
                  <a:pt x="0" y="48806"/>
                </a:cubicBezTo>
              </a:path>
            </a:pathLst>
          </a:custGeom>
          <a:noFill/>
          <a:ln w="5842" cap="rnd">
            <a:solidFill>
              <a:srgbClr val="9481B1"/>
            </a:solidFill>
            <a:prstDash val="solid"/>
            <a:round/>
          </a:ln>
        </p:spPr>
      </p:sp>
      <p:sp>
        <p:nvSpPr>
          <p:cNvPr id="1451" name="V8 embedding upper curved aggregation tip">
            <a:extLst>
              <a:ext uri="{FF2B5EF4-FFF2-40B4-BE49-F238E27FC236}">
                <a16:creationId xmlns:a16="http://schemas.microsoft.com/office/drawing/2014/main" id="{2B3CEBDA-0E2D-671A-9B26-76F746F7D64B}"/>
              </a:ext>
            </a:extLst>
          </p:cNvPr>
          <p:cNvSpPr/>
          <p:nvPr/>
        </p:nvSpPr>
        <p:spPr>
          <a:xfrm>
            <a:off x="1572439" y="1498600"/>
            <a:ext cx="8711" cy="4690"/>
          </a:xfrm>
          <a:custGeom>
            <a:avLst/>
            <a:gdLst/>
            <a:ahLst/>
            <a:cxnLst/>
            <a:rect l="l" t="t" r="r" b="b"/>
            <a:pathLst>
              <a:path w="8711" h="4690">
                <a:moveTo>
                  <a:pt x="8711" y="0"/>
                </a:moveTo>
                <a:lnTo>
                  <a:pt x="0" y="4690"/>
                </a:lnTo>
              </a:path>
            </a:pathLst>
          </a:custGeom>
          <a:noFill/>
          <a:ln w="5842" cap="rnd">
            <a:solidFill>
              <a:srgbClr val="9481B1"/>
            </a:solidFill>
            <a:prstDash val="solid"/>
            <a:round/>
          </a:ln>
        </p:spPr>
      </p:sp>
      <p:sp>
        <p:nvSpPr>
          <p:cNvPr id="1452" name="V8 embedding upper curved aggregation tip head">
            <a:extLst>
              <a:ext uri="{FF2B5EF4-FFF2-40B4-BE49-F238E27FC236}">
                <a16:creationId xmlns:a16="http://schemas.microsoft.com/office/drawing/2014/main" id="{EA8590B6-001E-E7FA-C91E-6684CAB2CE42}"/>
              </a:ext>
            </a:extLst>
          </p:cNvPr>
          <p:cNvSpPr/>
          <p:nvPr/>
        </p:nvSpPr>
        <p:spPr>
          <a:xfrm>
            <a:off x="1564640" y="1490330"/>
            <a:ext cx="21547" cy="17160"/>
          </a:xfrm>
          <a:custGeom>
            <a:avLst/>
            <a:gdLst/>
            <a:ahLst/>
            <a:cxnLst/>
            <a:rect l="l" t="t" r="r" b="b"/>
            <a:pathLst>
              <a:path w="21547" h="17160">
                <a:moveTo>
                  <a:pt x="0" y="17160"/>
                </a:moveTo>
                <a:lnTo>
                  <a:pt x="21547" y="15655"/>
                </a:lnTo>
                <a:lnTo>
                  <a:pt x="13117" y="0"/>
                </a:lnTo>
                <a:close/>
              </a:path>
            </a:pathLst>
          </a:custGeom>
          <a:solidFill>
            <a:srgbClr val="9481B1"/>
          </a:solidFill>
          <a:ln w="0" cap="rnd">
            <a:noFill/>
          </a:ln>
        </p:spPr>
      </p:sp>
      <p:sp>
        <p:nvSpPr>
          <p:cNvPr id="1453" name="V8 embedding neighbor 3">
            <a:extLst>
              <a:ext uri="{FF2B5EF4-FFF2-40B4-BE49-F238E27FC236}">
                <a16:creationId xmlns:a16="http://schemas.microsoft.com/office/drawing/2014/main" id="{122DFBAE-E742-85F4-F8BE-661BC7410AFC}"/>
              </a:ext>
            </a:extLst>
          </p:cNvPr>
          <p:cNvSpPr/>
          <p:nvPr/>
        </p:nvSpPr>
        <p:spPr>
          <a:xfrm>
            <a:off x="1703070" y="1426210"/>
            <a:ext cx="27940" cy="27940"/>
          </a:xfrm>
          <a:prstGeom prst="ellipse">
            <a:avLst/>
          </a:prstGeom>
          <a:noFill/>
          <a:ln w="7112" cap="rnd">
            <a:solidFill>
              <a:srgbClr val="9481B1"/>
            </a:solidFill>
            <a:prstDash val="solid"/>
            <a:round/>
          </a:ln>
        </p:spPr>
      </p:sp>
      <p:sp>
        <p:nvSpPr>
          <p:cNvPr id="1454" name="V8 embedding curved aggregation">
            <a:extLst>
              <a:ext uri="{FF2B5EF4-FFF2-40B4-BE49-F238E27FC236}">
                <a16:creationId xmlns:a16="http://schemas.microsoft.com/office/drawing/2014/main" id="{90CEAB6E-EBCA-9F13-36DE-C928BA671D5A}"/>
              </a:ext>
            </a:extLst>
          </p:cNvPr>
          <p:cNvSpPr/>
          <p:nvPr/>
        </p:nvSpPr>
        <p:spPr>
          <a:xfrm>
            <a:off x="1422400" y="1503680"/>
            <a:ext cx="77470" cy="107970"/>
          </a:xfrm>
          <a:custGeom>
            <a:avLst/>
            <a:gdLst/>
            <a:ahLst/>
            <a:cxnLst/>
            <a:rect l="l" t="t" r="r" b="b"/>
            <a:pathLst>
              <a:path w="77470" h="107970">
                <a:moveTo>
                  <a:pt x="17311" y="107970"/>
                </a:moveTo>
                <a:cubicBezTo>
                  <a:pt x="0" y="29210"/>
                  <a:pt x="35560" y="0"/>
                  <a:pt x="77470" y="12700"/>
                </a:cubicBezTo>
              </a:path>
            </a:pathLst>
          </a:custGeom>
          <a:noFill/>
          <a:ln w="8890" cap="rnd">
            <a:solidFill>
              <a:srgbClr val="9481B1"/>
            </a:solidFill>
            <a:prstDash val="solid"/>
            <a:round/>
          </a:ln>
        </p:spPr>
      </p:sp>
      <p:sp>
        <p:nvSpPr>
          <p:cNvPr id="1455" name="V8 embedding curved aggregation tip">
            <a:extLst>
              <a:ext uri="{FF2B5EF4-FFF2-40B4-BE49-F238E27FC236}">
                <a16:creationId xmlns:a16="http://schemas.microsoft.com/office/drawing/2014/main" id="{4871021E-0B37-6092-4FB6-FB482931253B}"/>
              </a:ext>
            </a:extLst>
          </p:cNvPr>
          <p:cNvSpPr/>
          <p:nvPr/>
        </p:nvSpPr>
        <p:spPr>
          <a:xfrm>
            <a:off x="1499870" y="1516380"/>
            <a:ext cx="6039" cy="3020"/>
          </a:xfrm>
          <a:custGeom>
            <a:avLst/>
            <a:gdLst/>
            <a:ahLst/>
            <a:cxnLst/>
            <a:rect l="l" t="t" r="r" b="b"/>
            <a:pathLst>
              <a:path w="6039" h="3020">
                <a:moveTo>
                  <a:pt x="0" y="0"/>
                </a:moveTo>
                <a:lnTo>
                  <a:pt x="6039" y="3020"/>
                </a:lnTo>
              </a:path>
            </a:pathLst>
          </a:custGeom>
          <a:noFill/>
          <a:ln w="8890" cap="rnd">
            <a:solidFill>
              <a:srgbClr val="9481B1"/>
            </a:solidFill>
            <a:prstDash val="solid"/>
            <a:round/>
          </a:ln>
        </p:spPr>
      </p:sp>
      <p:sp>
        <p:nvSpPr>
          <p:cNvPr id="1456" name="V8 embedding curved aggregation tip head">
            <a:extLst>
              <a:ext uri="{FF2B5EF4-FFF2-40B4-BE49-F238E27FC236}">
                <a16:creationId xmlns:a16="http://schemas.microsoft.com/office/drawing/2014/main" id="{86BC3798-BFD4-0C2D-6F96-1C5CADB6D7BE}"/>
              </a:ext>
            </a:extLst>
          </p:cNvPr>
          <p:cNvSpPr/>
          <p:nvPr/>
        </p:nvSpPr>
        <p:spPr>
          <a:xfrm>
            <a:off x="1489978" y="1504405"/>
            <a:ext cx="25132" cy="19595"/>
          </a:xfrm>
          <a:custGeom>
            <a:avLst/>
            <a:gdLst/>
            <a:ahLst/>
            <a:cxnLst/>
            <a:rect l="l" t="t" r="r" b="b"/>
            <a:pathLst>
              <a:path w="25132" h="19595">
                <a:moveTo>
                  <a:pt x="25132" y="19595"/>
                </a:moveTo>
                <a:lnTo>
                  <a:pt x="9371" y="0"/>
                </a:lnTo>
                <a:lnTo>
                  <a:pt x="0" y="18743"/>
                </a:lnTo>
                <a:close/>
              </a:path>
            </a:pathLst>
          </a:custGeom>
          <a:solidFill>
            <a:srgbClr val="9481B1"/>
          </a:solidFill>
          <a:ln w="0" cap="rnd">
            <a:noFill/>
          </a:ln>
        </p:spPr>
      </p:sp>
      <p:sp>
        <p:nvSpPr>
          <p:cNvPr id="1457" name="V8 embedding neighbor 4">
            <a:extLst>
              <a:ext uri="{FF2B5EF4-FFF2-40B4-BE49-F238E27FC236}">
                <a16:creationId xmlns:a16="http://schemas.microsoft.com/office/drawing/2014/main" id="{AEADE014-9292-2360-C2CE-F8C845E8BCFD}"/>
              </a:ext>
            </a:extLst>
          </p:cNvPr>
          <p:cNvSpPr/>
          <p:nvPr/>
        </p:nvSpPr>
        <p:spPr>
          <a:xfrm>
            <a:off x="1407795" y="1607185"/>
            <a:ext cx="31750" cy="31750"/>
          </a:xfrm>
          <a:prstGeom prst="ellipse">
            <a:avLst/>
          </a:prstGeom>
          <a:noFill/>
          <a:ln w="7112" cap="rnd">
            <a:solidFill>
              <a:srgbClr val="9481B1"/>
            </a:solidFill>
            <a:prstDash val="solid"/>
            <a:round/>
          </a:ln>
        </p:spPr>
      </p:sp>
      <p:sp>
        <p:nvSpPr>
          <p:cNvPr id="1458" name="V8 embedding neighbor 5 to center">
            <a:extLst>
              <a:ext uri="{FF2B5EF4-FFF2-40B4-BE49-F238E27FC236}">
                <a16:creationId xmlns:a16="http://schemas.microsoft.com/office/drawing/2014/main" id="{88F2ECE0-BE4E-6B10-0F14-901F5AD31AE6}"/>
              </a:ext>
            </a:extLst>
          </p:cNvPr>
          <p:cNvSpPr/>
          <p:nvPr/>
        </p:nvSpPr>
        <p:spPr>
          <a:xfrm>
            <a:off x="1538090" y="1576570"/>
            <a:ext cx="5857" cy="82734"/>
          </a:xfrm>
          <a:custGeom>
            <a:avLst/>
            <a:gdLst/>
            <a:ahLst/>
            <a:cxnLst/>
            <a:rect l="l" t="t" r="r" b="b"/>
            <a:pathLst>
              <a:path w="5857" h="82734">
                <a:moveTo>
                  <a:pt x="0" y="82734"/>
                </a:moveTo>
                <a:lnTo>
                  <a:pt x="5857" y="0"/>
                </a:lnTo>
              </a:path>
            </a:pathLst>
          </a:custGeom>
          <a:noFill/>
          <a:ln w="5842" cap="rnd">
            <a:solidFill>
              <a:srgbClr val="9481B1"/>
            </a:solidFill>
            <a:prstDash val="solid"/>
            <a:round/>
          </a:ln>
        </p:spPr>
      </p:sp>
      <p:sp>
        <p:nvSpPr>
          <p:cNvPr id="1459" name="V8 embedding neighbor 5 to center head">
            <a:extLst>
              <a:ext uri="{FF2B5EF4-FFF2-40B4-BE49-F238E27FC236}">
                <a16:creationId xmlns:a16="http://schemas.microsoft.com/office/drawing/2014/main" id="{4E579011-FEC4-00D3-7546-C5CB388C9A0A}"/>
              </a:ext>
            </a:extLst>
          </p:cNvPr>
          <p:cNvSpPr/>
          <p:nvPr/>
        </p:nvSpPr>
        <p:spPr>
          <a:xfrm>
            <a:off x="1534315" y="1567734"/>
            <a:ext cx="17736" cy="20264"/>
          </a:xfrm>
          <a:custGeom>
            <a:avLst/>
            <a:gdLst/>
            <a:ahLst/>
            <a:cxnLst/>
            <a:rect l="l" t="t" r="r" b="b"/>
            <a:pathLst>
              <a:path w="17736" h="20264">
                <a:moveTo>
                  <a:pt x="10258" y="0"/>
                </a:moveTo>
                <a:lnTo>
                  <a:pt x="0" y="19008"/>
                </a:lnTo>
                <a:lnTo>
                  <a:pt x="17736" y="20264"/>
                </a:lnTo>
                <a:close/>
              </a:path>
            </a:pathLst>
          </a:custGeom>
          <a:solidFill>
            <a:srgbClr val="9481B1"/>
          </a:solidFill>
          <a:ln w="0" cap="rnd">
            <a:noFill/>
          </a:ln>
        </p:spPr>
      </p:sp>
      <p:sp>
        <p:nvSpPr>
          <p:cNvPr id="1460" name="V8 embedding neighbor 5">
            <a:extLst>
              <a:ext uri="{FF2B5EF4-FFF2-40B4-BE49-F238E27FC236}">
                <a16:creationId xmlns:a16="http://schemas.microsoft.com/office/drawing/2014/main" id="{80A6CA00-4D1C-000D-C0AF-7F59BA21FF45}"/>
              </a:ext>
            </a:extLst>
          </p:cNvPr>
          <p:cNvSpPr/>
          <p:nvPr/>
        </p:nvSpPr>
        <p:spPr>
          <a:xfrm>
            <a:off x="1522095" y="1664335"/>
            <a:ext cx="29210" cy="29210"/>
          </a:xfrm>
          <a:prstGeom prst="ellipse">
            <a:avLst/>
          </a:prstGeom>
          <a:noFill/>
          <a:ln w="7112" cap="rnd">
            <a:solidFill>
              <a:srgbClr val="9481B1"/>
            </a:solidFill>
            <a:prstDash val="solid"/>
            <a:round/>
          </a:ln>
        </p:spPr>
      </p:sp>
      <p:sp>
        <p:nvSpPr>
          <p:cNvPr id="1461" name="V8 embedding center">
            <a:extLst>
              <a:ext uri="{FF2B5EF4-FFF2-40B4-BE49-F238E27FC236}">
                <a16:creationId xmlns:a16="http://schemas.microsoft.com/office/drawing/2014/main" id="{0973F1A0-63C8-796C-8269-8DC9810E39E1}"/>
              </a:ext>
            </a:extLst>
          </p:cNvPr>
          <p:cNvSpPr/>
          <p:nvPr/>
        </p:nvSpPr>
        <p:spPr>
          <a:xfrm>
            <a:off x="1524635" y="1513205"/>
            <a:ext cx="44450" cy="44450"/>
          </a:xfrm>
          <a:prstGeom prst="ellipse">
            <a:avLst/>
          </a:prstGeom>
          <a:noFill/>
          <a:ln w="9906" cap="rnd">
            <a:solidFill>
              <a:srgbClr val="3B8C80"/>
            </a:solidFill>
            <a:prstDash val="solid"/>
            <a:round/>
          </a:ln>
        </p:spPr>
      </p:sp>
      <p:sp>
        <p:nvSpPr>
          <p:cNvPr id="1462" name="V8 embedding feature 1">
            <a:extLst>
              <a:ext uri="{FF2B5EF4-FFF2-40B4-BE49-F238E27FC236}">
                <a16:creationId xmlns:a16="http://schemas.microsoft.com/office/drawing/2014/main" id="{FE0417EE-6828-F09F-AACE-DE1F76BE3EB6}"/>
              </a:ext>
            </a:extLst>
          </p:cNvPr>
          <p:cNvSpPr/>
          <p:nvPr/>
        </p:nvSpPr>
        <p:spPr>
          <a:xfrm>
            <a:off x="1578610" y="1518285"/>
            <a:ext cx="18415" cy="34290"/>
          </a:xfrm>
          <a:prstGeom prst="rect">
            <a:avLst/>
          </a:prstGeom>
          <a:solidFill>
            <a:srgbClr val="3E8F9A"/>
          </a:solidFill>
          <a:ln w="0" cap="rnd">
            <a:noFill/>
          </a:ln>
        </p:spPr>
      </p:sp>
      <p:sp>
        <p:nvSpPr>
          <p:cNvPr id="1463" name="V8 embedding feature 2">
            <a:extLst>
              <a:ext uri="{FF2B5EF4-FFF2-40B4-BE49-F238E27FC236}">
                <a16:creationId xmlns:a16="http://schemas.microsoft.com/office/drawing/2014/main" id="{28DF18A8-B7D6-40CC-F8D0-1CE005F88971}"/>
              </a:ext>
            </a:extLst>
          </p:cNvPr>
          <p:cNvSpPr/>
          <p:nvPr/>
        </p:nvSpPr>
        <p:spPr>
          <a:xfrm>
            <a:off x="1598295" y="1518285"/>
            <a:ext cx="18415" cy="34290"/>
          </a:xfrm>
          <a:prstGeom prst="rect">
            <a:avLst/>
          </a:prstGeom>
          <a:solidFill>
            <a:srgbClr val="88BEC3"/>
          </a:solidFill>
          <a:ln w="0" cap="rnd">
            <a:noFill/>
          </a:ln>
        </p:spPr>
      </p:sp>
      <p:sp>
        <p:nvSpPr>
          <p:cNvPr id="1464" name="V8 embedding feature 3">
            <a:extLst>
              <a:ext uri="{FF2B5EF4-FFF2-40B4-BE49-F238E27FC236}">
                <a16:creationId xmlns:a16="http://schemas.microsoft.com/office/drawing/2014/main" id="{D8B2548F-FDCB-962F-D116-8194E608D854}"/>
              </a:ext>
            </a:extLst>
          </p:cNvPr>
          <p:cNvSpPr/>
          <p:nvPr/>
        </p:nvSpPr>
        <p:spPr>
          <a:xfrm>
            <a:off x="1617980" y="1518285"/>
            <a:ext cx="18415" cy="34290"/>
          </a:xfrm>
          <a:prstGeom prst="rect">
            <a:avLst/>
          </a:prstGeom>
          <a:solidFill>
            <a:srgbClr val="67AD9F"/>
          </a:solidFill>
          <a:ln w="0" cap="rnd">
            <a:noFill/>
          </a:ln>
        </p:spPr>
      </p:sp>
      <p:sp>
        <p:nvSpPr>
          <p:cNvPr id="1465" name="V8 embedding feature 4">
            <a:extLst>
              <a:ext uri="{FF2B5EF4-FFF2-40B4-BE49-F238E27FC236}">
                <a16:creationId xmlns:a16="http://schemas.microsoft.com/office/drawing/2014/main" id="{4DB56FF7-AE6A-29C2-0D4E-A50B4A01B329}"/>
              </a:ext>
            </a:extLst>
          </p:cNvPr>
          <p:cNvSpPr/>
          <p:nvPr/>
        </p:nvSpPr>
        <p:spPr>
          <a:xfrm>
            <a:off x="1637665" y="1518285"/>
            <a:ext cx="18415" cy="34290"/>
          </a:xfrm>
          <a:prstGeom prst="rect">
            <a:avLst/>
          </a:prstGeom>
          <a:solidFill>
            <a:srgbClr val="B6D8CC"/>
          </a:solidFill>
          <a:ln w="0" cap="rnd">
            <a:noFill/>
          </a:ln>
        </p:spPr>
      </p:sp>
      <p:sp>
        <p:nvSpPr>
          <p:cNvPr id="1466" name="V8 embedding feature 5">
            <a:extLst>
              <a:ext uri="{FF2B5EF4-FFF2-40B4-BE49-F238E27FC236}">
                <a16:creationId xmlns:a16="http://schemas.microsoft.com/office/drawing/2014/main" id="{0834D08B-BC25-2ADC-AF12-5492513577F8}"/>
              </a:ext>
            </a:extLst>
          </p:cNvPr>
          <p:cNvSpPr/>
          <p:nvPr/>
        </p:nvSpPr>
        <p:spPr>
          <a:xfrm>
            <a:off x="1657350" y="1518285"/>
            <a:ext cx="18415" cy="34290"/>
          </a:xfrm>
          <a:prstGeom prst="rect">
            <a:avLst/>
          </a:prstGeom>
          <a:solidFill>
            <a:srgbClr val="3B8C80"/>
          </a:solidFill>
          <a:ln w="0" cap="rnd">
            <a:noFill/>
          </a:ln>
        </p:spPr>
      </p:sp>
      <p:sp>
        <p:nvSpPr>
          <p:cNvPr id="1467" name="V8 embedding feature 6">
            <a:extLst>
              <a:ext uri="{FF2B5EF4-FFF2-40B4-BE49-F238E27FC236}">
                <a16:creationId xmlns:a16="http://schemas.microsoft.com/office/drawing/2014/main" id="{7EDE9E92-6EF0-3023-2F22-6E7EFD9706C6}"/>
              </a:ext>
            </a:extLst>
          </p:cNvPr>
          <p:cNvSpPr/>
          <p:nvPr/>
        </p:nvSpPr>
        <p:spPr>
          <a:xfrm>
            <a:off x="1677035" y="1518285"/>
            <a:ext cx="18415" cy="34290"/>
          </a:xfrm>
          <a:prstGeom prst="rect">
            <a:avLst/>
          </a:prstGeom>
          <a:solidFill>
            <a:srgbClr val="A3CDDA"/>
          </a:solidFill>
          <a:ln w="0" cap="rnd">
            <a:noFill/>
          </a:ln>
        </p:spPr>
      </p:sp>
      <p:sp>
        <p:nvSpPr>
          <p:cNvPr id="1468" name="V8 embedding feature 7">
            <a:extLst>
              <a:ext uri="{FF2B5EF4-FFF2-40B4-BE49-F238E27FC236}">
                <a16:creationId xmlns:a16="http://schemas.microsoft.com/office/drawing/2014/main" id="{3791BD29-2650-00D8-2639-94010AF8036F}"/>
              </a:ext>
            </a:extLst>
          </p:cNvPr>
          <p:cNvSpPr/>
          <p:nvPr/>
        </p:nvSpPr>
        <p:spPr>
          <a:xfrm>
            <a:off x="1696720" y="1518285"/>
            <a:ext cx="18415" cy="34290"/>
          </a:xfrm>
          <a:prstGeom prst="rect">
            <a:avLst/>
          </a:prstGeom>
          <a:solidFill>
            <a:srgbClr val="6CAFA4"/>
          </a:solidFill>
          <a:ln w="0" cap="rnd">
            <a:noFill/>
          </a:ln>
        </p:spPr>
      </p:sp>
      <p:sp>
        <p:nvSpPr>
          <p:cNvPr id="1469" name="V8 embedding feature 8">
            <a:extLst>
              <a:ext uri="{FF2B5EF4-FFF2-40B4-BE49-F238E27FC236}">
                <a16:creationId xmlns:a16="http://schemas.microsoft.com/office/drawing/2014/main" id="{78D40256-09DE-A393-64FC-199BB5DEB767}"/>
              </a:ext>
            </a:extLst>
          </p:cNvPr>
          <p:cNvSpPr/>
          <p:nvPr/>
        </p:nvSpPr>
        <p:spPr>
          <a:xfrm>
            <a:off x="1716405" y="1518285"/>
            <a:ext cx="18415" cy="34290"/>
          </a:xfrm>
          <a:prstGeom prst="rect">
            <a:avLst/>
          </a:prstGeom>
          <a:solidFill>
            <a:srgbClr val="C4DDE0"/>
          </a:solidFill>
          <a:ln w="0" cap="rnd">
            <a:noFill/>
          </a:ln>
        </p:spPr>
      </p:sp>
      <p:sp>
        <p:nvSpPr>
          <p:cNvPr id="1471" name="V8 embedding to point branch">
            <a:extLst>
              <a:ext uri="{FF2B5EF4-FFF2-40B4-BE49-F238E27FC236}">
                <a16:creationId xmlns:a16="http://schemas.microsoft.com/office/drawing/2014/main" id="{CD0EF799-B1E4-C26B-BB25-441BB97890BE}"/>
              </a:ext>
            </a:extLst>
          </p:cNvPr>
          <p:cNvSpPr/>
          <p:nvPr/>
        </p:nvSpPr>
        <p:spPr>
          <a:xfrm flipV="1">
            <a:off x="1792289" y="1489896"/>
            <a:ext cx="162207" cy="45719"/>
          </a:xfrm>
          <a:custGeom>
            <a:avLst/>
            <a:gdLst/>
            <a:ahLst/>
            <a:cxnLst/>
            <a:rect l="l" t="t" r="r" b="b"/>
            <a:pathLst>
              <a:path w="63379" h="1">
                <a:moveTo>
                  <a:pt x="0" y="0"/>
                </a:moveTo>
                <a:lnTo>
                  <a:pt x="63379" y="0"/>
                </a:lnTo>
              </a:path>
            </a:pathLst>
          </a:custGeom>
          <a:noFill/>
          <a:ln w="8509" cap="rnd">
            <a:solidFill>
              <a:srgbClr val="9481B1"/>
            </a:solidFill>
            <a:prstDash val="solid"/>
            <a:round/>
          </a:ln>
        </p:spPr>
      </p:sp>
      <p:sp>
        <p:nvSpPr>
          <p:cNvPr id="1472" name="V8 embedding to point branch head">
            <a:extLst>
              <a:ext uri="{FF2B5EF4-FFF2-40B4-BE49-F238E27FC236}">
                <a16:creationId xmlns:a16="http://schemas.microsoft.com/office/drawing/2014/main" id="{EE5B1593-BB31-DCD1-99C7-141C7B857AF7}"/>
              </a:ext>
            </a:extLst>
          </p:cNvPr>
          <p:cNvSpPr/>
          <p:nvPr/>
        </p:nvSpPr>
        <p:spPr>
          <a:xfrm>
            <a:off x="1938919" y="1523745"/>
            <a:ext cx="28321" cy="24384"/>
          </a:xfrm>
          <a:custGeom>
            <a:avLst/>
            <a:gdLst/>
            <a:ahLst/>
            <a:cxnLst/>
            <a:rect l="l" t="t" r="r" b="b"/>
            <a:pathLst>
              <a:path w="28321" h="24384">
                <a:moveTo>
                  <a:pt x="28321" y="12192"/>
                </a:moveTo>
                <a:lnTo>
                  <a:pt x="0" y="0"/>
                </a:lnTo>
                <a:lnTo>
                  <a:pt x="0" y="24384"/>
                </a:lnTo>
                <a:close/>
              </a:path>
            </a:pathLst>
          </a:custGeom>
          <a:solidFill>
            <a:srgbClr val="9481B1"/>
          </a:solidFill>
          <a:ln w="0" cap="rnd">
            <a:noFill/>
          </a:ln>
        </p:spPr>
      </p:sp>
      <p:sp>
        <p:nvSpPr>
          <p:cNvPr id="1473" name="V8 embedding to voxel branch">
            <a:extLst>
              <a:ext uri="{FF2B5EF4-FFF2-40B4-BE49-F238E27FC236}">
                <a16:creationId xmlns:a16="http://schemas.microsoft.com/office/drawing/2014/main" id="{A9E148F4-6BCA-77FF-AE43-549D2AE883D5}"/>
              </a:ext>
            </a:extLst>
          </p:cNvPr>
          <p:cNvSpPr/>
          <p:nvPr/>
        </p:nvSpPr>
        <p:spPr>
          <a:xfrm>
            <a:off x="1819910" y="669271"/>
            <a:ext cx="1" cy="866159"/>
          </a:xfrm>
          <a:custGeom>
            <a:avLst/>
            <a:gdLst/>
            <a:ahLst/>
            <a:cxnLst/>
            <a:rect l="l" t="t" r="r" b="b"/>
            <a:pathLst>
              <a:path w="1" h="866159">
                <a:moveTo>
                  <a:pt x="0" y="866159"/>
                </a:moveTo>
                <a:lnTo>
                  <a:pt x="0" y="0"/>
                </a:lnTo>
              </a:path>
            </a:pathLst>
          </a:custGeom>
          <a:noFill/>
          <a:ln w="8509" cap="rnd">
            <a:solidFill>
              <a:srgbClr val="9481B1"/>
            </a:solidFill>
            <a:prstDash val="solid"/>
            <a:round/>
          </a:ln>
        </p:spPr>
      </p:sp>
      <p:sp>
        <p:nvSpPr>
          <p:cNvPr id="1474" name="V8 embedding to voxel branch head">
            <a:extLst>
              <a:ext uri="{FF2B5EF4-FFF2-40B4-BE49-F238E27FC236}">
                <a16:creationId xmlns:a16="http://schemas.microsoft.com/office/drawing/2014/main" id="{BAE99500-F0C6-FF9E-5ADA-696300A3926E}"/>
              </a:ext>
            </a:extLst>
          </p:cNvPr>
          <p:cNvSpPr/>
          <p:nvPr/>
        </p:nvSpPr>
        <p:spPr>
          <a:xfrm>
            <a:off x="1807718" y="656526"/>
            <a:ext cx="24384" cy="28321"/>
          </a:xfrm>
          <a:custGeom>
            <a:avLst/>
            <a:gdLst/>
            <a:ahLst/>
            <a:cxnLst/>
            <a:rect l="l" t="t" r="r" b="b"/>
            <a:pathLst>
              <a:path w="24384" h="28321">
                <a:moveTo>
                  <a:pt x="12192" y="0"/>
                </a:moveTo>
                <a:lnTo>
                  <a:pt x="0" y="28321"/>
                </a:lnTo>
                <a:lnTo>
                  <a:pt x="24384" y="28321"/>
                </a:lnTo>
                <a:close/>
              </a:path>
            </a:pathLst>
          </a:custGeom>
          <a:solidFill>
            <a:srgbClr val="9481B1"/>
          </a:solidFill>
          <a:ln w="0" cap="rnd">
            <a:noFill/>
          </a:ln>
        </p:spPr>
      </p:sp>
      <p:sp>
        <p:nvSpPr>
          <p:cNvPr id="1475" name="V8 density and receptor to voxel">
            <a:extLst>
              <a:ext uri="{FF2B5EF4-FFF2-40B4-BE49-F238E27FC236}">
                <a16:creationId xmlns:a16="http://schemas.microsoft.com/office/drawing/2014/main" id="{61ECA984-FF9D-A5D0-F819-33661D001ABE}"/>
              </a:ext>
            </a:extLst>
          </p:cNvPr>
          <p:cNvSpPr/>
          <p:nvPr/>
        </p:nvSpPr>
        <p:spPr>
          <a:xfrm>
            <a:off x="1786560" y="656526"/>
            <a:ext cx="163405" cy="1"/>
          </a:xfrm>
          <a:custGeom>
            <a:avLst/>
            <a:gdLst/>
            <a:ahLst/>
            <a:cxnLst/>
            <a:rect l="l" t="t" r="r" b="b"/>
            <a:pathLst>
              <a:path w="96730" h="1">
                <a:moveTo>
                  <a:pt x="0" y="0"/>
                </a:moveTo>
                <a:lnTo>
                  <a:pt x="96730" y="0"/>
                </a:lnTo>
              </a:path>
            </a:pathLst>
          </a:custGeom>
          <a:noFill/>
          <a:ln w="8509" cap="rnd">
            <a:solidFill>
              <a:srgbClr val="4083B4"/>
            </a:solidFill>
            <a:prstDash val="solid"/>
            <a:round/>
          </a:ln>
        </p:spPr>
      </p:sp>
      <p:sp>
        <p:nvSpPr>
          <p:cNvPr id="1476" name="V8 density and receptor to voxel head">
            <a:extLst>
              <a:ext uri="{FF2B5EF4-FFF2-40B4-BE49-F238E27FC236}">
                <a16:creationId xmlns:a16="http://schemas.microsoft.com/office/drawing/2014/main" id="{D6CAD338-44F5-8993-3618-9A1839CB2DBC}"/>
              </a:ext>
            </a:extLst>
          </p:cNvPr>
          <p:cNvSpPr/>
          <p:nvPr/>
        </p:nvSpPr>
        <p:spPr>
          <a:xfrm>
            <a:off x="1934388" y="644334"/>
            <a:ext cx="28321" cy="24384"/>
          </a:xfrm>
          <a:custGeom>
            <a:avLst/>
            <a:gdLst/>
            <a:ahLst/>
            <a:cxnLst/>
            <a:rect l="l" t="t" r="r" b="b"/>
            <a:pathLst>
              <a:path w="28321" h="24384">
                <a:moveTo>
                  <a:pt x="28321" y="12192"/>
                </a:moveTo>
                <a:lnTo>
                  <a:pt x="0" y="0"/>
                </a:lnTo>
                <a:lnTo>
                  <a:pt x="0" y="24384"/>
                </a:lnTo>
                <a:close/>
              </a:path>
            </a:pathLst>
          </a:custGeom>
          <a:solidFill>
            <a:srgbClr val="4083B4"/>
          </a:solidFill>
          <a:ln w="0" cap="rnd">
            <a:noFill/>
          </a:ln>
        </p:spPr>
      </p:sp>
      <p:sp>
        <p:nvSpPr>
          <p:cNvPr id="1477" name="V8 voxel input junction">
            <a:extLst>
              <a:ext uri="{FF2B5EF4-FFF2-40B4-BE49-F238E27FC236}">
                <a16:creationId xmlns:a16="http://schemas.microsoft.com/office/drawing/2014/main" id="{93F36DE0-10B5-E2A2-60B2-341BCDB28517}"/>
              </a:ext>
            </a:extLst>
          </p:cNvPr>
          <p:cNvSpPr/>
          <p:nvPr/>
        </p:nvSpPr>
        <p:spPr>
          <a:xfrm>
            <a:off x="1811973" y="648589"/>
            <a:ext cx="15875" cy="15875"/>
          </a:xfrm>
          <a:prstGeom prst="ellipse">
            <a:avLst/>
          </a:prstGeom>
          <a:solidFill>
            <a:srgbClr val="4083B4"/>
          </a:solidFill>
          <a:ln w="0" cap="rnd">
            <a:noFill/>
          </a:ln>
        </p:spPr>
      </p:sp>
      <p:sp>
        <p:nvSpPr>
          <p:cNvPr id="1479" name="V8 Match input divider">
            <a:extLst>
              <a:ext uri="{FF2B5EF4-FFF2-40B4-BE49-F238E27FC236}">
                <a16:creationId xmlns:a16="http://schemas.microsoft.com/office/drawing/2014/main" id="{2EDC4EC7-D903-3262-650D-444D37299D28}"/>
              </a:ext>
            </a:extLst>
          </p:cNvPr>
          <p:cNvSpPr/>
          <p:nvPr/>
        </p:nvSpPr>
        <p:spPr>
          <a:xfrm>
            <a:off x="673037" y="2767063"/>
            <a:ext cx="957199" cy="1"/>
          </a:xfrm>
          <a:custGeom>
            <a:avLst/>
            <a:gdLst/>
            <a:ahLst/>
            <a:cxnLst/>
            <a:rect l="l" t="t" r="r" b="b"/>
            <a:pathLst>
              <a:path w="957199" h="1">
                <a:moveTo>
                  <a:pt x="0" y="0"/>
                </a:moveTo>
                <a:lnTo>
                  <a:pt x="957199" y="0"/>
                </a:lnTo>
              </a:path>
            </a:pathLst>
          </a:custGeom>
          <a:noFill/>
          <a:ln w="7290" cap="rnd">
            <a:solidFill>
              <a:srgbClr val="B6CEC5"/>
            </a:solidFill>
            <a:prstDash val="solid"/>
            <a:round/>
          </a:ln>
        </p:spPr>
      </p:sp>
      <p:sp>
        <p:nvSpPr>
          <p:cNvPr id="1480" name="V8 pool to concat">
            <a:extLst>
              <a:ext uri="{FF2B5EF4-FFF2-40B4-BE49-F238E27FC236}">
                <a16:creationId xmlns:a16="http://schemas.microsoft.com/office/drawing/2014/main" id="{3702663D-F294-9B06-B213-0076F82464A6}"/>
              </a:ext>
            </a:extLst>
          </p:cNvPr>
          <p:cNvSpPr/>
          <p:nvPr/>
        </p:nvSpPr>
        <p:spPr>
          <a:xfrm>
            <a:off x="978338" y="3603168"/>
            <a:ext cx="355873" cy="100152"/>
          </a:xfrm>
          <a:custGeom>
            <a:avLst/>
            <a:gdLst/>
            <a:ahLst/>
            <a:cxnLst/>
            <a:rect l="l" t="t" r="r" b="b"/>
            <a:pathLst>
              <a:path w="355873" h="100152">
                <a:moveTo>
                  <a:pt x="0" y="0"/>
                </a:moveTo>
                <a:lnTo>
                  <a:pt x="0" y="100152"/>
                </a:lnTo>
                <a:lnTo>
                  <a:pt x="355873" y="100152"/>
                </a:lnTo>
              </a:path>
            </a:pathLst>
          </a:custGeom>
          <a:noFill/>
          <a:ln w="8509" cap="rnd">
            <a:solidFill>
              <a:srgbClr val="3B8C80"/>
            </a:solidFill>
            <a:prstDash val="solid"/>
            <a:round/>
          </a:ln>
        </p:spPr>
      </p:sp>
      <p:sp>
        <p:nvSpPr>
          <p:cNvPr id="1481" name="V8 attention to concat">
            <a:extLst>
              <a:ext uri="{FF2B5EF4-FFF2-40B4-BE49-F238E27FC236}">
                <a16:creationId xmlns:a16="http://schemas.microsoft.com/office/drawing/2014/main" id="{45C4FCB5-3380-E3A8-B0B1-54A427F52361}"/>
              </a:ext>
            </a:extLst>
          </p:cNvPr>
          <p:cNvSpPr/>
          <p:nvPr/>
        </p:nvSpPr>
        <p:spPr>
          <a:xfrm>
            <a:off x="1334211" y="3603168"/>
            <a:ext cx="356064" cy="100152"/>
          </a:xfrm>
          <a:custGeom>
            <a:avLst/>
            <a:gdLst/>
            <a:ahLst/>
            <a:cxnLst/>
            <a:rect l="l" t="t" r="r" b="b"/>
            <a:pathLst>
              <a:path w="356064" h="100152">
                <a:moveTo>
                  <a:pt x="356064" y="0"/>
                </a:moveTo>
                <a:lnTo>
                  <a:pt x="356064" y="100152"/>
                </a:lnTo>
                <a:lnTo>
                  <a:pt x="0" y="100152"/>
                </a:lnTo>
              </a:path>
            </a:pathLst>
          </a:custGeom>
          <a:noFill/>
          <a:ln w="8509" cap="rnd">
            <a:solidFill>
              <a:srgbClr val="3B8C80"/>
            </a:solidFill>
            <a:prstDash val="solid"/>
            <a:round/>
          </a:ln>
        </p:spPr>
      </p:sp>
      <p:sp>
        <p:nvSpPr>
          <p:cNvPr id="1482" name="V8 concat to MLP">
            <a:extLst>
              <a:ext uri="{FF2B5EF4-FFF2-40B4-BE49-F238E27FC236}">
                <a16:creationId xmlns:a16="http://schemas.microsoft.com/office/drawing/2014/main" id="{366946BB-F669-FC2F-4DBA-809EA592E5E1}"/>
              </a:ext>
            </a:extLst>
          </p:cNvPr>
          <p:cNvSpPr/>
          <p:nvPr/>
        </p:nvSpPr>
        <p:spPr>
          <a:xfrm>
            <a:off x="1334211" y="3703320"/>
            <a:ext cx="1" cy="22181"/>
          </a:xfrm>
          <a:custGeom>
            <a:avLst/>
            <a:gdLst/>
            <a:ahLst/>
            <a:cxnLst/>
            <a:rect l="l" t="t" r="r" b="b"/>
            <a:pathLst>
              <a:path w="1" h="22181">
                <a:moveTo>
                  <a:pt x="0" y="0"/>
                </a:moveTo>
                <a:lnTo>
                  <a:pt x="0" y="22181"/>
                </a:lnTo>
              </a:path>
            </a:pathLst>
          </a:custGeom>
          <a:noFill/>
          <a:ln w="8509" cap="rnd">
            <a:solidFill>
              <a:srgbClr val="3B8C80"/>
            </a:solidFill>
            <a:prstDash val="solid"/>
            <a:round/>
          </a:ln>
        </p:spPr>
      </p:sp>
      <p:sp>
        <p:nvSpPr>
          <p:cNvPr id="1483" name="V8 concat to MLP head">
            <a:extLst>
              <a:ext uri="{FF2B5EF4-FFF2-40B4-BE49-F238E27FC236}">
                <a16:creationId xmlns:a16="http://schemas.microsoft.com/office/drawing/2014/main" id="{234835D4-EF31-832C-586B-712FBD8CEB61}"/>
              </a:ext>
            </a:extLst>
          </p:cNvPr>
          <p:cNvSpPr/>
          <p:nvPr/>
        </p:nvSpPr>
        <p:spPr>
          <a:xfrm>
            <a:off x="1322019" y="3709924"/>
            <a:ext cx="24384" cy="28321"/>
          </a:xfrm>
          <a:custGeom>
            <a:avLst/>
            <a:gdLst/>
            <a:ahLst/>
            <a:cxnLst/>
            <a:rect l="l" t="t" r="r" b="b"/>
            <a:pathLst>
              <a:path w="24384" h="28321">
                <a:moveTo>
                  <a:pt x="12192" y="28321"/>
                </a:moveTo>
                <a:lnTo>
                  <a:pt x="24384" y="0"/>
                </a:lnTo>
                <a:lnTo>
                  <a:pt x="0" y="0"/>
                </a:lnTo>
                <a:close/>
              </a:path>
            </a:pathLst>
          </a:custGeom>
          <a:solidFill>
            <a:srgbClr val="3B8C80"/>
          </a:solidFill>
          <a:ln w="0" cap="rnd">
            <a:noFill/>
          </a:ln>
        </p:spPr>
      </p:sp>
      <p:sp>
        <p:nvSpPr>
          <p:cNvPr id="1484" name="V8 Build site and identity frame">
            <a:extLst>
              <a:ext uri="{FF2B5EF4-FFF2-40B4-BE49-F238E27FC236}">
                <a16:creationId xmlns:a16="http://schemas.microsoft.com/office/drawing/2014/main" id="{B0159410-81AF-A0CB-FD15-D731C54E54D4}"/>
              </a:ext>
            </a:extLst>
          </p:cNvPr>
          <p:cNvSpPr/>
          <p:nvPr/>
        </p:nvSpPr>
        <p:spPr>
          <a:xfrm>
            <a:off x="4998402" y="452120"/>
            <a:ext cx="519754" cy="1228090"/>
          </a:xfrm>
          <a:prstGeom prst="roundRect">
            <a:avLst>
              <a:gd name="adj" fmla="val 5556"/>
            </a:avLst>
          </a:prstGeom>
          <a:noFill/>
          <a:ln w="6985" cap="rnd">
            <a:solidFill>
              <a:srgbClr val="9BB4C8"/>
            </a:solidFill>
            <a:prstDash val="dash"/>
            <a:round/>
          </a:ln>
        </p:spPr>
      </p:sp>
      <p:sp>
        <p:nvSpPr>
          <p:cNvPr id="1485" name="V8 Build pocket and density frame">
            <a:extLst>
              <a:ext uri="{FF2B5EF4-FFF2-40B4-BE49-F238E27FC236}">
                <a16:creationId xmlns:a16="http://schemas.microsoft.com/office/drawing/2014/main" id="{FF6F6920-E776-E473-D444-477FCB823104}"/>
              </a:ext>
            </a:extLst>
          </p:cNvPr>
          <p:cNvSpPr/>
          <p:nvPr/>
        </p:nvSpPr>
        <p:spPr>
          <a:xfrm>
            <a:off x="5564187" y="452120"/>
            <a:ext cx="527685" cy="1228090"/>
          </a:xfrm>
          <a:prstGeom prst="roundRect">
            <a:avLst>
              <a:gd name="adj" fmla="val 6477"/>
            </a:avLst>
          </a:prstGeom>
          <a:noFill/>
          <a:ln w="6985" cap="rnd">
            <a:solidFill>
              <a:srgbClr val="9BB4C8"/>
            </a:solidFill>
            <a:prstDash val="dash"/>
            <a:round/>
          </a:ln>
        </p:spPr>
      </p:sp>
      <p:sp>
        <p:nvSpPr>
          <p:cNvPr id="1486" name="V8 Build inputs to docking">
            <a:extLst>
              <a:ext uri="{FF2B5EF4-FFF2-40B4-BE49-F238E27FC236}">
                <a16:creationId xmlns:a16="http://schemas.microsoft.com/office/drawing/2014/main" id="{25F81FEB-7923-B705-D48C-4F1FE2423027}"/>
              </a:ext>
            </a:extLst>
          </p:cNvPr>
          <p:cNvSpPr/>
          <p:nvPr/>
        </p:nvSpPr>
        <p:spPr>
          <a:xfrm>
            <a:off x="5546090" y="1765305"/>
            <a:ext cx="1" cy="56229"/>
          </a:xfrm>
          <a:custGeom>
            <a:avLst/>
            <a:gdLst/>
            <a:ahLst/>
            <a:cxnLst/>
            <a:rect l="l" t="t" r="r" b="b"/>
            <a:pathLst>
              <a:path w="1" h="113379">
                <a:moveTo>
                  <a:pt x="0" y="0"/>
                </a:moveTo>
                <a:lnTo>
                  <a:pt x="0" y="113379"/>
                </a:lnTo>
              </a:path>
            </a:pathLst>
          </a:custGeom>
          <a:noFill/>
          <a:ln w="13208" cap="rnd">
            <a:solidFill>
              <a:srgbClr val="71808C"/>
            </a:solidFill>
            <a:prstDash val="solid"/>
            <a:round/>
          </a:ln>
        </p:spPr>
      </p:sp>
      <p:sp>
        <p:nvSpPr>
          <p:cNvPr id="1487" name="V8 Build inputs to docking head">
            <a:extLst>
              <a:ext uri="{FF2B5EF4-FFF2-40B4-BE49-F238E27FC236}">
                <a16:creationId xmlns:a16="http://schemas.microsoft.com/office/drawing/2014/main" id="{B51CEB37-F359-D8DB-EED0-BF0289DBA9C3}"/>
              </a:ext>
            </a:extLst>
          </p:cNvPr>
          <p:cNvSpPr/>
          <p:nvPr/>
        </p:nvSpPr>
        <p:spPr>
          <a:xfrm>
            <a:off x="5524182" y="1800230"/>
            <a:ext cx="43815" cy="38735"/>
          </a:xfrm>
          <a:custGeom>
            <a:avLst/>
            <a:gdLst/>
            <a:ahLst/>
            <a:cxnLst/>
            <a:rect l="l" t="t" r="r" b="b"/>
            <a:pathLst>
              <a:path w="43815" h="38735">
                <a:moveTo>
                  <a:pt x="21908" y="38735"/>
                </a:moveTo>
                <a:lnTo>
                  <a:pt x="43815" y="0"/>
                </a:lnTo>
                <a:lnTo>
                  <a:pt x="0" y="0"/>
                </a:lnTo>
                <a:close/>
              </a:path>
            </a:pathLst>
          </a:custGeom>
          <a:solidFill>
            <a:srgbClr val="71808C"/>
          </a:solidFill>
          <a:ln w="0" cap="rnd">
            <a:noFill/>
          </a:ln>
        </p:spPr>
      </p:sp>
      <p:sp>
        <p:nvSpPr>
          <p:cNvPr id="1488" name="V8 Build docking to pose">
            <a:extLst>
              <a:ext uri="{FF2B5EF4-FFF2-40B4-BE49-F238E27FC236}">
                <a16:creationId xmlns:a16="http://schemas.microsoft.com/office/drawing/2014/main" id="{A8390C7D-F4E0-5D67-9352-7A11942FB4C0}"/>
              </a:ext>
            </a:extLst>
          </p:cNvPr>
          <p:cNvSpPr/>
          <p:nvPr/>
        </p:nvSpPr>
        <p:spPr>
          <a:xfrm>
            <a:off x="5546090" y="3237230"/>
            <a:ext cx="1" cy="113379"/>
          </a:xfrm>
          <a:custGeom>
            <a:avLst/>
            <a:gdLst/>
            <a:ahLst/>
            <a:cxnLst/>
            <a:rect l="l" t="t" r="r" b="b"/>
            <a:pathLst>
              <a:path w="1" h="113379">
                <a:moveTo>
                  <a:pt x="0" y="0"/>
                </a:moveTo>
                <a:lnTo>
                  <a:pt x="0" y="113379"/>
                </a:lnTo>
              </a:path>
            </a:pathLst>
          </a:custGeom>
          <a:noFill/>
          <a:ln w="13208" cap="rnd">
            <a:solidFill>
              <a:srgbClr val="71808C"/>
            </a:solidFill>
            <a:prstDash val="solid"/>
            <a:round/>
          </a:ln>
        </p:spPr>
      </p:sp>
      <p:sp>
        <p:nvSpPr>
          <p:cNvPr id="1489" name="V8 Build docking to pose head">
            <a:extLst>
              <a:ext uri="{FF2B5EF4-FFF2-40B4-BE49-F238E27FC236}">
                <a16:creationId xmlns:a16="http://schemas.microsoft.com/office/drawing/2014/main" id="{CB9E0D49-EB6F-EF7F-8A0E-43482900F10A}"/>
              </a:ext>
            </a:extLst>
          </p:cNvPr>
          <p:cNvSpPr/>
          <p:nvPr/>
        </p:nvSpPr>
        <p:spPr>
          <a:xfrm>
            <a:off x="5524182" y="3329305"/>
            <a:ext cx="43815" cy="38735"/>
          </a:xfrm>
          <a:custGeom>
            <a:avLst/>
            <a:gdLst/>
            <a:ahLst/>
            <a:cxnLst/>
            <a:rect l="l" t="t" r="r" b="b"/>
            <a:pathLst>
              <a:path w="43815" h="38735">
                <a:moveTo>
                  <a:pt x="21908" y="38735"/>
                </a:moveTo>
                <a:lnTo>
                  <a:pt x="43815" y="0"/>
                </a:lnTo>
                <a:lnTo>
                  <a:pt x="0" y="0"/>
                </a:lnTo>
                <a:close/>
              </a:path>
            </a:pathLst>
          </a:custGeom>
          <a:solidFill>
            <a:srgbClr val="71808C"/>
          </a:solidFill>
          <a:ln w="0" cap="rnd">
            <a:noFill/>
          </a:ln>
        </p:spPr>
      </p:sp>
      <p:grpSp>
        <p:nvGrpSpPr>
          <p:cNvPr id="6" name="Find candidate blob 2">
            <a:extLst>
              <a:ext uri="{FF2B5EF4-FFF2-40B4-BE49-F238E27FC236}">
                <a16:creationId xmlns:a16="http://schemas.microsoft.com/office/drawing/2014/main" id="{52582F41-8562-EDCF-D547-FEE06D78B091}"/>
              </a:ext>
            </a:extLst>
          </p:cNvPr>
          <p:cNvGrpSpPr/>
          <p:nvPr/>
        </p:nvGrpSpPr>
        <p:grpSpPr>
          <a:xfrm rot="3197729">
            <a:off x="4596570" y="1029390"/>
            <a:ext cx="168602" cy="95394"/>
            <a:chOff x="1928706" y="3559489"/>
            <a:chExt cx="227897" cy="155682"/>
          </a:xfrm>
        </p:grpSpPr>
        <p:sp>
          <p:nvSpPr>
            <p:cNvPr id="16" name="Candidate blob | editable contour">
              <a:extLst>
                <a:ext uri="{FF2B5EF4-FFF2-40B4-BE49-F238E27FC236}">
                  <a16:creationId xmlns:a16="http://schemas.microsoft.com/office/drawing/2014/main" id="{AC599FE5-B7C8-2310-361D-307EF409B159}"/>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17" name="ellipse_2612">
              <a:extLst>
                <a:ext uri="{FF2B5EF4-FFF2-40B4-BE49-F238E27FC236}">
                  <a16:creationId xmlns:a16="http://schemas.microsoft.com/office/drawing/2014/main" id="{899D545A-9188-B8A5-5122-F55763321954}"/>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22" name="Match | Blob contour">
            <a:extLst>
              <a:ext uri="{FF2B5EF4-FFF2-40B4-BE49-F238E27FC236}">
                <a16:creationId xmlns:a16="http://schemas.microsoft.com/office/drawing/2014/main" id="{014BB78B-D7B6-7233-4454-F31E0FFFF761}"/>
              </a:ext>
            </a:extLst>
          </p:cNvPr>
          <p:cNvGrpSpPr/>
          <p:nvPr/>
        </p:nvGrpSpPr>
        <p:grpSpPr>
          <a:xfrm>
            <a:off x="5095498" y="565131"/>
            <a:ext cx="291608" cy="199265"/>
            <a:chOff x="1928706" y="3559489"/>
            <a:chExt cx="227897" cy="155682"/>
          </a:xfrm>
        </p:grpSpPr>
        <p:sp>
          <p:nvSpPr>
            <p:cNvPr id="24" name="Candidate blob | editable contour">
              <a:extLst>
                <a:ext uri="{FF2B5EF4-FFF2-40B4-BE49-F238E27FC236}">
                  <a16:creationId xmlns:a16="http://schemas.microsoft.com/office/drawing/2014/main" id="{A11312CB-4342-9A48-D209-5BB49581DECC}"/>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26" name="ellipse_2612">
              <a:extLst>
                <a:ext uri="{FF2B5EF4-FFF2-40B4-BE49-F238E27FC236}">
                  <a16:creationId xmlns:a16="http://schemas.microsoft.com/office/drawing/2014/main" id="{A5E3448F-A32E-D77A-4110-EC1F991AAB0A}"/>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27" name="Oval 12178">
            <a:extLst>
              <a:ext uri="{FF2B5EF4-FFF2-40B4-BE49-F238E27FC236}">
                <a16:creationId xmlns:a16="http://schemas.microsoft.com/office/drawing/2014/main" id="{FDC707AA-314A-7AA2-186D-A8D0C4B2CC82}"/>
              </a:ext>
            </a:extLst>
          </p:cNvPr>
          <p:cNvSpPr/>
          <p:nvPr/>
        </p:nvSpPr>
        <p:spPr>
          <a:xfrm>
            <a:off x="5224292" y="648563"/>
            <a:ext cx="34426" cy="34426"/>
          </a:xfrm>
          <a:prstGeom prst="ellipse">
            <a:avLst/>
          </a:prstGeom>
          <a:solidFill>
            <a:srgbClr val="1D4ED8"/>
          </a:solidFill>
          <a:ln w="63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50567" name="F2-bank-channel">
            <a:extLst>
              <a:ext uri="{FF2B5EF4-FFF2-40B4-BE49-F238E27FC236}">
                <a16:creationId xmlns:a16="http://schemas.microsoft.com/office/drawing/2014/main" id="{E8F7522B-3B27-4338-8014-8A4EEE25C15E}"/>
              </a:ext>
            </a:extLst>
          </p:cNvPr>
          <p:cNvSpPr>
            <a:spLocks noGrp="1"/>
          </p:cNvSpPr>
          <p:nvPr/>
        </p:nvSpPr>
        <p:spPr>
          <a:xfrm>
            <a:off x="1432560" y="508635"/>
            <a:ext cx="257175" cy="190500"/>
          </a:xfrm>
          <a:prstGeom prst="rect">
            <a:avLst/>
          </a:prstGeom>
          <a:solidFill>
            <a:srgbClr val="EBF7FC"/>
          </a:solidFill>
          <a:ln w="4286">
            <a:solidFill>
              <a:srgbClr val="A6C5DF"/>
            </a:solidFill>
          </a:ln>
        </p:spPr>
      </p:sp>
      <p:sp>
        <p:nvSpPr>
          <p:cNvPr id="50568" name="F2-bank-channel">
            <a:extLst>
              <a:ext uri="{FF2B5EF4-FFF2-40B4-BE49-F238E27FC236}">
                <a16:creationId xmlns:a16="http://schemas.microsoft.com/office/drawing/2014/main" id="{44CA542A-604D-4AA5-B11D-B6617579A677}"/>
              </a:ext>
            </a:extLst>
          </p:cNvPr>
          <p:cNvSpPr>
            <a:spLocks noGrp="1"/>
          </p:cNvSpPr>
          <p:nvPr/>
        </p:nvSpPr>
        <p:spPr>
          <a:xfrm>
            <a:off x="1424940" y="515303"/>
            <a:ext cx="257175" cy="190500"/>
          </a:xfrm>
          <a:prstGeom prst="rect">
            <a:avLst/>
          </a:prstGeom>
          <a:solidFill>
            <a:srgbClr val="EBF7FC"/>
          </a:solidFill>
          <a:ln w="4286">
            <a:solidFill>
              <a:srgbClr val="A6C5DF"/>
            </a:solidFill>
          </a:ln>
        </p:spPr>
      </p:sp>
      <p:sp>
        <p:nvSpPr>
          <p:cNvPr id="50569" name="F2-bank-channel">
            <a:extLst>
              <a:ext uri="{FF2B5EF4-FFF2-40B4-BE49-F238E27FC236}">
                <a16:creationId xmlns:a16="http://schemas.microsoft.com/office/drawing/2014/main" id="{94C83CC1-C6DF-4DC5-87DF-BCD87221CF3B}"/>
              </a:ext>
            </a:extLst>
          </p:cNvPr>
          <p:cNvSpPr>
            <a:spLocks noGrp="1"/>
          </p:cNvSpPr>
          <p:nvPr/>
        </p:nvSpPr>
        <p:spPr>
          <a:xfrm>
            <a:off x="1417320" y="521970"/>
            <a:ext cx="257175" cy="190500"/>
          </a:xfrm>
          <a:prstGeom prst="rect">
            <a:avLst/>
          </a:prstGeom>
          <a:solidFill>
            <a:srgbClr val="EBF7FC"/>
          </a:solidFill>
          <a:ln w="4286">
            <a:solidFill>
              <a:srgbClr val="A6C5DF"/>
            </a:solidFill>
          </a:ln>
        </p:spPr>
      </p:sp>
      <p:sp>
        <p:nvSpPr>
          <p:cNvPr id="50570" name="F2-bank-channel">
            <a:extLst>
              <a:ext uri="{FF2B5EF4-FFF2-40B4-BE49-F238E27FC236}">
                <a16:creationId xmlns:a16="http://schemas.microsoft.com/office/drawing/2014/main" id="{1ABD8E71-8A8E-4A01-9656-5F57A7EAD863}"/>
              </a:ext>
            </a:extLst>
          </p:cNvPr>
          <p:cNvSpPr>
            <a:spLocks noGrp="1"/>
          </p:cNvSpPr>
          <p:nvPr/>
        </p:nvSpPr>
        <p:spPr>
          <a:xfrm>
            <a:off x="1409700" y="528638"/>
            <a:ext cx="257175" cy="190500"/>
          </a:xfrm>
          <a:prstGeom prst="rect">
            <a:avLst/>
          </a:prstGeom>
          <a:solidFill>
            <a:srgbClr val="EBF7FC"/>
          </a:solidFill>
          <a:ln w="4286">
            <a:solidFill>
              <a:srgbClr val="A6C5DF"/>
            </a:solidFill>
          </a:ln>
        </p:spPr>
      </p:sp>
      <p:sp>
        <p:nvSpPr>
          <p:cNvPr id="50571" name="F2-bank-channel">
            <a:extLst>
              <a:ext uri="{FF2B5EF4-FFF2-40B4-BE49-F238E27FC236}">
                <a16:creationId xmlns:a16="http://schemas.microsoft.com/office/drawing/2014/main" id="{A1E78B7C-AF8B-46CF-BE9A-7739D3A000CC}"/>
              </a:ext>
            </a:extLst>
          </p:cNvPr>
          <p:cNvSpPr>
            <a:spLocks noGrp="1"/>
          </p:cNvSpPr>
          <p:nvPr/>
        </p:nvSpPr>
        <p:spPr>
          <a:xfrm>
            <a:off x="1402080" y="535305"/>
            <a:ext cx="257175" cy="190500"/>
          </a:xfrm>
          <a:prstGeom prst="rect">
            <a:avLst/>
          </a:prstGeom>
          <a:solidFill>
            <a:srgbClr val="EBF7FC"/>
          </a:solidFill>
          <a:ln w="4286">
            <a:solidFill>
              <a:srgbClr val="A6C5DF"/>
            </a:solidFill>
          </a:ln>
        </p:spPr>
      </p:sp>
      <p:sp>
        <p:nvSpPr>
          <p:cNvPr id="50572" name="F2-bank-channel">
            <a:extLst>
              <a:ext uri="{FF2B5EF4-FFF2-40B4-BE49-F238E27FC236}">
                <a16:creationId xmlns:a16="http://schemas.microsoft.com/office/drawing/2014/main" id="{F902D412-512B-42B7-B05D-EDD9258097DC}"/>
              </a:ext>
            </a:extLst>
          </p:cNvPr>
          <p:cNvSpPr>
            <a:spLocks noGrp="1"/>
          </p:cNvSpPr>
          <p:nvPr/>
        </p:nvSpPr>
        <p:spPr>
          <a:xfrm>
            <a:off x="1394460" y="541973"/>
            <a:ext cx="257175" cy="190500"/>
          </a:xfrm>
          <a:prstGeom prst="rect">
            <a:avLst/>
          </a:prstGeom>
          <a:solidFill>
            <a:srgbClr val="EBF7FC"/>
          </a:solidFill>
          <a:ln w="4286">
            <a:solidFill>
              <a:srgbClr val="A6C5DF"/>
            </a:solidFill>
          </a:ln>
        </p:spPr>
      </p:sp>
      <p:sp>
        <p:nvSpPr>
          <p:cNvPr id="50573" name="F2-bank-channel">
            <a:extLst>
              <a:ext uri="{FF2B5EF4-FFF2-40B4-BE49-F238E27FC236}">
                <a16:creationId xmlns:a16="http://schemas.microsoft.com/office/drawing/2014/main" id="{CA6824A1-9C37-4EE2-8CF4-7C88BCE1DBE6}"/>
              </a:ext>
            </a:extLst>
          </p:cNvPr>
          <p:cNvSpPr>
            <a:spLocks noGrp="1"/>
          </p:cNvSpPr>
          <p:nvPr/>
        </p:nvSpPr>
        <p:spPr>
          <a:xfrm>
            <a:off x="1386840" y="548640"/>
            <a:ext cx="257175" cy="190500"/>
          </a:xfrm>
          <a:prstGeom prst="rect">
            <a:avLst/>
          </a:prstGeom>
          <a:solidFill>
            <a:srgbClr val="EBF7FC"/>
          </a:solidFill>
          <a:ln w="4286">
            <a:solidFill>
              <a:srgbClr val="A6C5DF"/>
            </a:solidFill>
          </a:ln>
        </p:spPr>
      </p:sp>
      <p:sp>
        <p:nvSpPr>
          <p:cNvPr id="50574" name="F2-bank-channel">
            <a:extLst>
              <a:ext uri="{FF2B5EF4-FFF2-40B4-BE49-F238E27FC236}">
                <a16:creationId xmlns:a16="http://schemas.microsoft.com/office/drawing/2014/main" id="{2705DA7A-40F9-48D2-946C-8019421C16B7}"/>
              </a:ext>
            </a:extLst>
          </p:cNvPr>
          <p:cNvSpPr>
            <a:spLocks noGrp="1"/>
          </p:cNvSpPr>
          <p:nvPr/>
        </p:nvSpPr>
        <p:spPr>
          <a:xfrm>
            <a:off x="1379220" y="555308"/>
            <a:ext cx="257175" cy="190500"/>
          </a:xfrm>
          <a:prstGeom prst="rect">
            <a:avLst/>
          </a:prstGeom>
          <a:solidFill>
            <a:srgbClr val="EBF7FC"/>
          </a:solidFill>
          <a:ln w="4286">
            <a:solidFill>
              <a:srgbClr val="A6C5DF"/>
            </a:solidFill>
          </a:ln>
        </p:spPr>
      </p:sp>
      <p:sp>
        <p:nvSpPr>
          <p:cNvPr id="50575" name="F2-bank-channel">
            <a:extLst>
              <a:ext uri="{FF2B5EF4-FFF2-40B4-BE49-F238E27FC236}">
                <a16:creationId xmlns:a16="http://schemas.microsoft.com/office/drawing/2014/main" id="{E1B9C475-D32F-4E88-9AAA-6701AFC1AC14}"/>
              </a:ext>
            </a:extLst>
          </p:cNvPr>
          <p:cNvSpPr>
            <a:spLocks noGrp="1"/>
          </p:cNvSpPr>
          <p:nvPr/>
        </p:nvSpPr>
        <p:spPr>
          <a:xfrm>
            <a:off x="1371600" y="561975"/>
            <a:ext cx="257175" cy="190500"/>
          </a:xfrm>
          <a:prstGeom prst="rect">
            <a:avLst/>
          </a:prstGeom>
          <a:solidFill>
            <a:srgbClr val="EBF7FC"/>
          </a:solidFill>
          <a:ln w="4286">
            <a:solidFill>
              <a:srgbClr val="A6C5DF"/>
            </a:solidFill>
          </a:ln>
        </p:spPr>
      </p:sp>
      <p:sp>
        <p:nvSpPr>
          <p:cNvPr id="50576" name="F2-density-voxel">
            <a:extLst>
              <a:ext uri="{FF2B5EF4-FFF2-40B4-BE49-F238E27FC236}">
                <a16:creationId xmlns:a16="http://schemas.microsoft.com/office/drawing/2014/main" id="{A49953DB-68D8-42EB-963F-DD42F453137D}"/>
              </a:ext>
            </a:extLst>
          </p:cNvPr>
          <p:cNvSpPr>
            <a:spLocks noGrp="1"/>
          </p:cNvSpPr>
          <p:nvPr/>
        </p:nvSpPr>
        <p:spPr>
          <a:xfrm>
            <a:off x="1390650" y="571500"/>
            <a:ext cx="52388" cy="42863"/>
          </a:xfrm>
          <a:prstGeom prst="rect">
            <a:avLst/>
          </a:prstGeom>
          <a:solidFill>
            <a:srgbClr val="CCE5EE"/>
          </a:solidFill>
          <a:ln w="0">
            <a:noFill/>
          </a:ln>
        </p:spPr>
      </p:sp>
      <p:sp>
        <p:nvSpPr>
          <p:cNvPr id="50577" name="F2-density-voxel">
            <a:extLst>
              <a:ext uri="{FF2B5EF4-FFF2-40B4-BE49-F238E27FC236}">
                <a16:creationId xmlns:a16="http://schemas.microsoft.com/office/drawing/2014/main" id="{ECECDED8-7BB6-465D-90CE-1566D913C0F0}"/>
              </a:ext>
            </a:extLst>
          </p:cNvPr>
          <p:cNvSpPr>
            <a:spLocks noGrp="1"/>
          </p:cNvSpPr>
          <p:nvPr/>
        </p:nvSpPr>
        <p:spPr>
          <a:xfrm>
            <a:off x="1443038" y="571500"/>
            <a:ext cx="52388" cy="42863"/>
          </a:xfrm>
          <a:prstGeom prst="rect">
            <a:avLst/>
          </a:prstGeom>
          <a:solidFill>
            <a:srgbClr val="86C0D7"/>
          </a:solidFill>
          <a:ln w="0">
            <a:noFill/>
          </a:ln>
        </p:spPr>
      </p:sp>
      <p:sp>
        <p:nvSpPr>
          <p:cNvPr id="50578" name="F2-density-voxel">
            <a:extLst>
              <a:ext uri="{FF2B5EF4-FFF2-40B4-BE49-F238E27FC236}">
                <a16:creationId xmlns:a16="http://schemas.microsoft.com/office/drawing/2014/main" id="{49E89024-8821-43E6-B830-D5D2C6143679}"/>
              </a:ext>
            </a:extLst>
          </p:cNvPr>
          <p:cNvSpPr>
            <a:spLocks noGrp="1"/>
          </p:cNvSpPr>
          <p:nvPr/>
        </p:nvSpPr>
        <p:spPr>
          <a:xfrm>
            <a:off x="1495425" y="571500"/>
            <a:ext cx="52388" cy="42863"/>
          </a:xfrm>
          <a:prstGeom prst="rect">
            <a:avLst/>
          </a:prstGeom>
          <a:solidFill>
            <a:srgbClr val="4D9ABB"/>
          </a:solidFill>
          <a:ln w="0">
            <a:noFill/>
          </a:ln>
        </p:spPr>
      </p:sp>
      <p:sp>
        <p:nvSpPr>
          <p:cNvPr id="50579" name="F2-density-voxel">
            <a:extLst>
              <a:ext uri="{FF2B5EF4-FFF2-40B4-BE49-F238E27FC236}">
                <a16:creationId xmlns:a16="http://schemas.microsoft.com/office/drawing/2014/main" id="{3A635687-B1F5-496B-9A49-461D8BC35087}"/>
              </a:ext>
            </a:extLst>
          </p:cNvPr>
          <p:cNvSpPr>
            <a:spLocks noGrp="1"/>
          </p:cNvSpPr>
          <p:nvPr/>
        </p:nvSpPr>
        <p:spPr>
          <a:xfrm>
            <a:off x="1547813" y="571500"/>
            <a:ext cx="52388" cy="42863"/>
          </a:xfrm>
          <a:prstGeom prst="rect">
            <a:avLst/>
          </a:prstGeom>
          <a:solidFill>
            <a:srgbClr val="B6DDE7"/>
          </a:solidFill>
          <a:ln w="0">
            <a:noFill/>
          </a:ln>
        </p:spPr>
      </p:sp>
      <p:sp>
        <p:nvSpPr>
          <p:cNvPr id="50580" name="F2-density-voxel">
            <a:extLst>
              <a:ext uri="{FF2B5EF4-FFF2-40B4-BE49-F238E27FC236}">
                <a16:creationId xmlns:a16="http://schemas.microsoft.com/office/drawing/2014/main" id="{FEC54E9C-643D-4824-B955-66BA7E401A0E}"/>
              </a:ext>
            </a:extLst>
          </p:cNvPr>
          <p:cNvSpPr>
            <a:spLocks noGrp="1"/>
          </p:cNvSpPr>
          <p:nvPr/>
        </p:nvSpPr>
        <p:spPr>
          <a:xfrm>
            <a:off x="1390650" y="614363"/>
            <a:ext cx="52388" cy="42863"/>
          </a:xfrm>
          <a:prstGeom prst="rect">
            <a:avLst/>
          </a:prstGeom>
          <a:solidFill>
            <a:srgbClr val="86C0D7"/>
          </a:solidFill>
          <a:ln w="0">
            <a:noFill/>
          </a:ln>
        </p:spPr>
      </p:sp>
      <p:sp>
        <p:nvSpPr>
          <p:cNvPr id="50581" name="F2-density-voxel">
            <a:extLst>
              <a:ext uri="{FF2B5EF4-FFF2-40B4-BE49-F238E27FC236}">
                <a16:creationId xmlns:a16="http://schemas.microsoft.com/office/drawing/2014/main" id="{ED2290E5-D29A-42C8-863E-1A0B5A093DAF}"/>
              </a:ext>
            </a:extLst>
          </p:cNvPr>
          <p:cNvSpPr>
            <a:spLocks noGrp="1"/>
          </p:cNvSpPr>
          <p:nvPr/>
        </p:nvSpPr>
        <p:spPr>
          <a:xfrm>
            <a:off x="1443038" y="614363"/>
            <a:ext cx="52388" cy="42863"/>
          </a:xfrm>
          <a:prstGeom prst="rect">
            <a:avLst/>
          </a:prstGeom>
          <a:solidFill>
            <a:srgbClr val="4D9ABB"/>
          </a:solidFill>
          <a:ln w="0">
            <a:noFill/>
          </a:ln>
        </p:spPr>
      </p:sp>
      <p:sp>
        <p:nvSpPr>
          <p:cNvPr id="50582" name="F2-density-voxel">
            <a:extLst>
              <a:ext uri="{FF2B5EF4-FFF2-40B4-BE49-F238E27FC236}">
                <a16:creationId xmlns:a16="http://schemas.microsoft.com/office/drawing/2014/main" id="{C030A993-BA02-4CBF-A526-9AF795928873}"/>
              </a:ext>
            </a:extLst>
          </p:cNvPr>
          <p:cNvSpPr>
            <a:spLocks noGrp="1"/>
          </p:cNvSpPr>
          <p:nvPr/>
        </p:nvSpPr>
        <p:spPr>
          <a:xfrm>
            <a:off x="1495425" y="614363"/>
            <a:ext cx="52388" cy="42863"/>
          </a:xfrm>
          <a:prstGeom prst="rect">
            <a:avLst/>
          </a:prstGeom>
          <a:solidFill>
            <a:srgbClr val="B6DDE7"/>
          </a:solidFill>
          <a:ln w="0">
            <a:noFill/>
          </a:ln>
        </p:spPr>
      </p:sp>
      <p:sp>
        <p:nvSpPr>
          <p:cNvPr id="50583" name="F2-density-voxel">
            <a:extLst>
              <a:ext uri="{FF2B5EF4-FFF2-40B4-BE49-F238E27FC236}">
                <a16:creationId xmlns:a16="http://schemas.microsoft.com/office/drawing/2014/main" id="{EC212EF2-C0F1-41AF-B3CE-D957D17932A0}"/>
              </a:ext>
            </a:extLst>
          </p:cNvPr>
          <p:cNvSpPr>
            <a:spLocks noGrp="1"/>
          </p:cNvSpPr>
          <p:nvPr/>
        </p:nvSpPr>
        <p:spPr>
          <a:xfrm>
            <a:off x="1547813" y="614363"/>
            <a:ext cx="52388" cy="42863"/>
          </a:xfrm>
          <a:prstGeom prst="rect">
            <a:avLst/>
          </a:prstGeom>
          <a:solidFill>
            <a:srgbClr val="CCE5EE"/>
          </a:solidFill>
          <a:ln w="0">
            <a:noFill/>
          </a:ln>
        </p:spPr>
      </p:sp>
      <p:sp>
        <p:nvSpPr>
          <p:cNvPr id="50584" name="F2-density-voxel">
            <a:extLst>
              <a:ext uri="{FF2B5EF4-FFF2-40B4-BE49-F238E27FC236}">
                <a16:creationId xmlns:a16="http://schemas.microsoft.com/office/drawing/2014/main" id="{8E8D1CD2-DC81-4A69-849C-F21783FD798D}"/>
              </a:ext>
            </a:extLst>
          </p:cNvPr>
          <p:cNvSpPr>
            <a:spLocks noGrp="1"/>
          </p:cNvSpPr>
          <p:nvPr/>
        </p:nvSpPr>
        <p:spPr>
          <a:xfrm>
            <a:off x="1390650" y="657225"/>
            <a:ext cx="52388" cy="42863"/>
          </a:xfrm>
          <a:prstGeom prst="rect">
            <a:avLst/>
          </a:prstGeom>
          <a:solidFill>
            <a:srgbClr val="4D9ABB"/>
          </a:solidFill>
          <a:ln w="0">
            <a:noFill/>
          </a:ln>
        </p:spPr>
      </p:sp>
      <p:sp>
        <p:nvSpPr>
          <p:cNvPr id="50585" name="F2-density-voxel">
            <a:extLst>
              <a:ext uri="{FF2B5EF4-FFF2-40B4-BE49-F238E27FC236}">
                <a16:creationId xmlns:a16="http://schemas.microsoft.com/office/drawing/2014/main" id="{CEA7FE12-330D-4160-8BE6-769BF6A26577}"/>
              </a:ext>
            </a:extLst>
          </p:cNvPr>
          <p:cNvSpPr>
            <a:spLocks noGrp="1"/>
          </p:cNvSpPr>
          <p:nvPr/>
        </p:nvSpPr>
        <p:spPr>
          <a:xfrm>
            <a:off x="1443038" y="657225"/>
            <a:ext cx="52388" cy="42863"/>
          </a:xfrm>
          <a:prstGeom prst="rect">
            <a:avLst/>
          </a:prstGeom>
          <a:solidFill>
            <a:srgbClr val="B6DDE7"/>
          </a:solidFill>
          <a:ln w="0">
            <a:noFill/>
          </a:ln>
        </p:spPr>
      </p:sp>
      <p:sp>
        <p:nvSpPr>
          <p:cNvPr id="50586" name="F2-density-voxel">
            <a:extLst>
              <a:ext uri="{FF2B5EF4-FFF2-40B4-BE49-F238E27FC236}">
                <a16:creationId xmlns:a16="http://schemas.microsoft.com/office/drawing/2014/main" id="{BE225EBF-D266-4631-9D7E-1B21643503B4}"/>
              </a:ext>
            </a:extLst>
          </p:cNvPr>
          <p:cNvSpPr>
            <a:spLocks noGrp="1"/>
          </p:cNvSpPr>
          <p:nvPr/>
        </p:nvSpPr>
        <p:spPr>
          <a:xfrm>
            <a:off x="1495425" y="657225"/>
            <a:ext cx="52388" cy="42863"/>
          </a:xfrm>
          <a:prstGeom prst="rect">
            <a:avLst/>
          </a:prstGeom>
          <a:solidFill>
            <a:srgbClr val="CCE5EE"/>
          </a:solidFill>
          <a:ln w="0">
            <a:noFill/>
          </a:ln>
        </p:spPr>
      </p:sp>
      <p:sp>
        <p:nvSpPr>
          <p:cNvPr id="50587" name="F2-density-voxel">
            <a:extLst>
              <a:ext uri="{FF2B5EF4-FFF2-40B4-BE49-F238E27FC236}">
                <a16:creationId xmlns:a16="http://schemas.microsoft.com/office/drawing/2014/main" id="{D56EA4DF-3429-4429-A2AA-6D7C9D33B341}"/>
              </a:ext>
            </a:extLst>
          </p:cNvPr>
          <p:cNvSpPr>
            <a:spLocks noGrp="1"/>
          </p:cNvSpPr>
          <p:nvPr/>
        </p:nvSpPr>
        <p:spPr>
          <a:xfrm>
            <a:off x="1547813" y="657225"/>
            <a:ext cx="52388" cy="42863"/>
          </a:xfrm>
          <a:prstGeom prst="rect">
            <a:avLst/>
          </a:prstGeom>
          <a:solidFill>
            <a:srgbClr val="86C0D7"/>
          </a:solidFill>
          <a:ln w="0">
            <a:noFill/>
          </a:ln>
        </p:spPr>
      </p:sp>
      <p:sp>
        <p:nvSpPr>
          <p:cNvPr id="50588" name="F2-density-voxel">
            <a:extLst>
              <a:ext uri="{FF2B5EF4-FFF2-40B4-BE49-F238E27FC236}">
                <a16:creationId xmlns:a16="http://schemas.microsoft.com/office/drawing/2014/main" id="{F4CB67F8-3427-42E0-B222-3C4C5B421A28}"/>
              </a:ext>
            </a:extLst>
          </p:cNvPr>
          <p:cNvSpPr>
            <a:spLocks noGrp="1"/>
          </p:cNvSpPr>
          <p:nvPr/>
        </p:nvSpPr>
        <p:spPr>
          <a:xfrm>
            <a:off x="1390650" y="700088"/>
            <a:ext cx="52388" cy="42863"/>
          </a:xfrm>
          <a:prstGeom prst="rect">
            <a:avLst/>
          </a:prstGeom>
          <a:solidFill>
            <a:srgbClr val="B6DDE7"/>
          </a:solidFill>
          <a:ln w="0">
            <a:noFill/>
          </a:ln>
        </p:spPr>
      </p:sp>
      <p:sp>
        <p:nvSpPr>
          <p:cNvPr id="50589" name="F2-density-voxel">
            <a:extLst>
              <a:ext uri="{FF2B5EF4-FFF2-40B4-BE49-F238E27FC236}">
                <a16:creationId xmlns:a16="http://schemas.microsoft.com/office/drawing/2014/main" id="{E62F2DC6-612B-4891-B2B7-8020312C0678}"/>
              </a:ext>
            </a:extLst>
          </p:cNvPr>
          <p:cNvSpPr>
            <a:spLocks noGrp="1"/>
          </p:cNvSpPr>
          <p:nvPr/>
        </p:nvSpPr>
        <p:spPr>
          <a:xfrm>
            <a:off x="1443038" y="700088"/>
            <a:ext cx="52388" cy="42863"/>
          </a:xfrm>
          <a:prstGeom prst="rect">
            <a:avLst/>
          </a:prstGeom>
          <a:solidFill>
            <a:srgbClr val="CCE5EE"/>
          </a:solidFill>
          <a:ln w="0">
            <a:noFill/>
          </a:ln>
        </p:spPr>
      </p:sp>
      <p:sp>
        <p:nvSpPr>
          <p:cNvPr id="50590" name="F2-density-voxel">
            <a:extLst>
              <a:ext uri="{FF2B5EF4-FFF2-40B4-BE49-F238E27FC236}">
                <a16:creationId xmlns:a16="http://schemas.microsoft.com/office/drawing/2014/main" id="{3D79F01F-5243-4E3C-8AA7-EE2C8B8C7E29}"/>
              </a:ext>
            </a:extLst>
          </p:cNvPr>
          <p:cNvSpPr>
            <a:spLocks noGrp="1"/>
          </p:cNvSpPr>
          <p:nvPr/>
        </p:nvSpPr>
        <p:spPr>
          <a:xfrm>
            <a:off x="1495425" y="700088"/>
            <a:ext cx="52388" cy="42863"/>
          </a:xfrm>
          <a:prstGeom prst="rect">
            <a:avLst/>
          </a:prstGeom>
          <a:solidFill>
            <a:srgbClr val="86C0D7"/>
          </a:solidFill>
          <a:ln w="0">
            <a:noFill/>
          </a:ln>
        </p:spPr>
      </p:sp>
      <p:sp>
        <p:nvSpPr>
          <p:cNvPr id="50591" name="F2-density-voxel">
            <a:extLst>
              <a:ext uri="{FF2B5EF4-FFF2-40B4-BE49-F238E27FC236}">
                <a16:creationId xmlns:a16="http://schemas.microsoft.com/office/drawing/2014/main" id="{7F5BC88D-76D1-4A24-B998-8BD41F9AADDB}"/>
              </a:ext>
            </a:extLst>
          </p:cNvPr>
          <p:cNvSpPr>
            <a:spLocks noGrp="1"/>
          </p:cNvSpPr>
          <p:nvPr/>
        </p:nvSpPr>
        <p:spPr>
          <a:xfrm>
            <a:off x="1547813" y="700088"/>
            <a:ext cx="52388" cy="42863"/>
          </a:xfrm>
          <a:prstGeom prst="rect">
            <a:avLst/>
          </a:prstGeom>
          <a:solidFill>
            <a:srgbClr val="4D9ABB"/>
          </a:solidFill>
          <a:ln w="0">
            <a:noFill/>
          </a:ln>
        </p:spPr>
      </p:sp>
      <p:sp>
        <p:nvSpPr>
          <p:cNvPr id="50592" name="F2-spatial-transform">
            <a:extLst>
              <a:ext uri="{FF2B5EF4-FFF2-40B4-BE49-F238E27FC236}">
                <a16:creationId xmlns:a16="http://schemas.microsoft.com/office/drawing/2014/main" id="{A85283F8-9FE2-48A1-8429-5356F2D370E2}"/>
              </a:ext>
            </a:extLst>
          </p:cNvPr>
          <p:cNvSpPr>
            <a:spLocks noGrp="1"/>
          </p:cNvSpPr>
          <p:nvPr/>
        </p:nvSpPr>
        <p:spPr>
          <a:xfrm>
            <a:off x="966788" y="438150"/>
            <a:ext cx="376238"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sz="540" b="0">
                <a:solidFill>
                  <a:srgbClr val="263442"/>
                </a:solidFill>
                <a:latin typeface="Arial"/>
                <a:ea typeface="Arial"/>
                <a:cs typeface="Arial"/>
              </a:rPr>
              <a:t>Spatial</a:t>
            </a:r>
          </a:p>
          <a:p>
            <a:pPr algn="ctr">
              <a:defRPr sz="540" b="0">
                <a:solidFill>
                  <a:srgbClr val="263442"/>
                </a:solidFill>
                <a:latin typeface="Arial"/>
                <a:ea typeface="Arial"/>
                <a:cs typeface="Arial"/>
              </a:defRPr>
            </a:pPr>
            <a:r>
              <a:rPr sz="540" b="0">
                <a:solidFill>
                  <a:srgbClr val="263442"/>
                </a:solidFill>
                <a:latin typeface="Arial"/>
                <a:ea typeface="Arial"/>
                <a:cs typeface="Arial"/>
              </a:rPr>
              <a:t>transform</a:t>
            </a:r>
          </a:p>
        </p:txBody>
      </p:sp>
      <p:sp>
        <p:nvSpPr>
          <p:cNvPr id="50593" name="F2-atom-embeddings-input">
            <a:extLst>
              <a:ext uri="{FF2B5EF4-FFF2-40B4-BE49-F238E27FC236}">
                <a16:creationId xmlns:a16="http://schemas.microsoft.com/office/drawing/2014/main" id="{0B4B93C5-B055-4ECE-8D5F-9FD8F9F29D6A}"/>
              </a:ext>
            </a:extLst>
          </p:cNvPr>
          <p:cNvSpPr>
            <a:spLocks noGrp="1"/>
          </p:cNvSpPr>
          <p:nvPr/>
        </p:nvSpPr>
        <p:spPr>
          <a:xfrm>
            <a:off x="966788" y="1171575"/>
            <a:ext cx="376238"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sz="540" b="0">
                <a:solidFill>
                  <a:srgbClr val="263442"/>
                </a:solidFill>
                <a:latin typeface="Arial"/>
                <a:ea typeface="Arial"/>
                <a:cs typeface="Arial"/>
              </a:rPr>
              <a:t>Atom</a:t>
            </a:r>
          </a:p>
          <a:p>
            <a:pPr algn="ctr">
              <a:defRPr sz="540" b="0">
                <a:solidFill>
                  <a:srgbClr val="263442"/>
                </a:solidFill>
                <a:latin typeface="Arial"/>
                <a:ea typeface="Arial"/>
                <a:cs typeface="Arial"/>
              </a:defRPr>
            </a:pPr>
            <a:r>
              <a:rPr sz="540" b="0">
                <a:solidFill>
                  <a:srgbClr val="263442"/>
                </a:solidFill>
                <a:latin typeface="Arial"/>
                <a:ea typeface="Arial"/>
                <a:cs typeface="Arial"/>
              </a:rPr>
              <a:t>embeddings</a:t>
            </a:r>
          </a:p>
        </p:txBody>
      </p:sp>
      <p:pic>
        <p:nvPicPr>
          <p:cNvPr id="50600" name="图片 50599">
            <a:extLst>
              <a:ext uri="{FF2B5EF4-FFF2-40B4-BE49-F238E27FC236}">
                <a16:creationId xmlns:a16="http://schemas.microsoft.com/office/drawing/2014/main" id="{CC697937-E8CE-4EDF-BB17-1FEA96E39283}"/>
              </a:ext>
            </a:extLst>
          </p:cNvPr>
          <p:cNvPicPr>
            <a:picLocks noChangeAspect="1"/>
          </p:cNvPicPr>
          <p:nvPr/>
        </p:nvPicPr>
        <p:blipFill>
          <a:blip r:embed="rId8"/>
          <a:stretch/>
        </p:blipFill>
        <p:spPr>
          <a:xfrm>
            <a:off x="683208" y="2971800"/>
            <a:ext cx="414760" cy="342900"/>
          </a:xfrm>
          <a:prstGeom prst="rect">
            <a:avLst/>
          </a:prstGeom>
        </p:spPr>
      </p:pic>
      <p:pic>
        <p:nvPicPr>
          <p:cNvPr id="50601" name="图片 50600">
            <a:extLst>
              <a:ext uri="{FF2B5EF4-FFF2-40B4-BE49-F238E27FC236}">
                <a16:creationId xmlns:a16="http://schemas.microsoft.com/office/drawing/2014/main" id="{438EEB95-3CA6-4E7A-A194-3246AD95375E}"/>
              </a:ext>
            </a:extLst>
          </p:cNvPr>
          <p:cNvPicPr>
            <a:picLocks noChangeAspect="1"/>
          </p:cNvPicPr>
          <p:nvPr/>
        </p:nvPicPr>
        <p:blipFill>
          <a:blip r:embed="rId9"/>
          <a:stretch/>
        </p:blipFill>
        <p:spPr>
          <a:xfrm>
            <a:off x="5631445" y="485775"/>
            <a:ext cx="414760" cy="342900"/>
          </a:xfrm>
          <a:prstGeom prst="rect">
            <a:avLst/>
          </a:prstGeom>
        </p:spPr>
      </p:pic>
      <p:sp>
        <p:nvSpPr>
          <p:cNvPr id="50602" name="F2-Build-selected">
            <a:extLst>
              <a:ext uri="{FF2B5EF4-FFF2-40B4-BE49-F238E27FC236}">
                <a16:creationId xmlns:a16="http://schemas.microsoft.com/office/drawing/2014/main" id="{DE962B78-B7D5-48B9-87F8-2B7091442BBC}"/>
              </a:ext>
            </a:extLst>
          </p:cNvPr>
          <p:cNvSpPr>
            <a:spLocks noGrp="1"/>
          </p:cNvSpPr>
          <p:nvPr/>
        </p:nvSpPr>
        <p:spPr>
          <a:xfrm>
            <a:off x="5048250" y="1268730"/>
            <a:ext cx="390525" cy="81915"/>
          </a:xfrm>
          <a:prstGeom prst="roundRect">
            <a:avLst>
              <a:gd name="adj" fmla="val 50000"/>
            </a:avLst>
          </a:prstGeom>
          <a:solidFill>
            <a:srgbClr val="DCF8EB"/>
          </a:solidFill>
          <a:ln w="7144">
            <a:solidFill>
              <a:srgbClr val="499D86"/>
            </a:solidFill>
          </a:ln>
        </p:spPr>
      </p:sp>
      <p:sp>
        <p:nvSpPr>
          <p:cNvPr id="50603" name="F2-Build-SMILES-0">
            <a:extLst>
              <a:ext uri="{FF2B5EF4-FFF2-40B4-BE49-F238E27FC236}">
                <a16:creationId xmlns:a16="http://schemas.microsoft.com/office/drawing/2014/main" id="{78E3ED61-275F-4084-A0ED-58027336CEDD}"/>
              </a:ext>
            </a:extLst>
          </p:cNvPr>
          <p:cNvSpPr>
            <a:spLocks noGrp="1"/>
          </p:cNvSpPr>
          <p:nvPr/>
        </p:nvSpPr>
        <p:spPr>
          <a:xfrm>
            <a:off x="5067300" y="1085850"/>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lgn="l">
              <a:defRPr sz="540" b="0">
                <a:solidFill>
                  <a:srgbClr val="263442"/>
                </a:solidFill>
                <a:latin typeface="Arial"/>
                <a:ea typeface="Arial"/>
                <a:cs typeface="Arial"/>
              </a:defRPr>
            </a:pPr>
            <a:r>
              <a:rPr sz="540" b="0">
                <a:solidFill>
                  <a:srgbClr val="263442"/>
                </a:solidFill>
                <a:latin typeface="Arial"/>
                <a:ea typeface="Arial"/>
                <a:cs typeface="Arial"/>
              </a:rPr>
              <a:t>CCO</a:t>
            </a:r>
          </a:p>
        </p:txBody>
      </p:sp>
      <p:sp>
        <p:nvSpPr>
          <p:cNvPr id="50604" name="F2-Build-SMILES-7.8">
            <a:extLst>
              <a:ext uri="{FF2B5EF4-FFF2-40B4-BE49-F238E27FC236}">
                <a16:creationId xmlns:a16="http://schemas.microsoft.com/office/drawing/2014/main" id="{D4F86145-7D8F-43EC-916E-D3D9668CBA5D}"/>
              </a:ext>
            </a:extLst>
          </p:cNvPr>
          <p:cNvSpPr>
            <a:spLocks noGrp="1"/>
          </p:cNvSpPr>
          <p:nvPr/>
        </p:nvSpPr>
        <p:spPr>
          <a:xfrm>
            <a:off x="5067300" y="1160145"/>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lgn="l">
              <a:defRPr sz="540" b="0">
                <a:solidFill>
                  <a:srgbClr val="263442"/>
                </a:solidFill>
                <a:latin typeface="Arial"/>
                <a:ea typeface="Arial"/>
                <a:cs typeface="Arial"/>
              </a:defRPr>
            </a:pPr>
            <a:r>
              <a:rPr sz="540" b="0">
                <a:solidFill>
                  <a:srgbClr val="263442"/>
                </a:solidFill>
                <a:latin typeface="Arial"/>
                <a:ea typeface="Arial"/>
                <a:cs typeface="Arial"/>
              </a:rPr>
              <a:t>CC(=O)O</a:t>
            </a:r>
          </a:p>
        </p:txBody>
      </p:sp>
      <p:sp>
        <p:nvSpPr>
          <p:cNvPr id="50605" name="F2-Build-continuation">
            <a:extLst>
              <a:ext uri="{FF2B5EF4-FFF2-40B4-BE49-F238E27FC236}">
                <a16:creationId xmlns:a16="http://schemas.microsoft.com/office/drawing/2014/main" id="{69E4AF15-4441-4953-BC21-A9A09B8807EC}"/>
              </a:ext>
            </a:extLst>
          </p:cNvPr>
          <p:cNvSpPr>
            <a:spLocks noGrp="1"/>
          </p:cNvSpPr>
          <p:nvPr/>
        </p:nvSpPr>
        <p:spPr>
          <a:xfrm>
            <a:off x="5067300" y="1254443"/>
            <a:ext cx="6668" cy="6668"/>
          </a:xfrm>
          <a:prstGeom prst="ellipse">
            <a:avLst/>
          </a:prstGeom>
          <a:solidFill>
            <a:srgbClr val="687780"/>
          </a:solidFill>
          <a:ln w="0">
            <a:noFill/>
          </a:ln>
        </p:spPr>
      </p:sp>
      <p:sp>
        <p:nvSpPr>
          <p:cNvPr id="50606" name="F2-Build-continuation">
            <a:extLst>
              <a:ext uri="{FF2B5EF4-FFF2-40B4-BE49-F238E27FC236}">
                <a16:creationId xmlns:a16="http://schemas.microsoft.com/office/drawing/2014/main" id="{A73B5841-5DC8-4503-BDE2-815DBBEFE500}"/>
              </a:ext>
            </a:extLst>
          </p:cNvPr>
          <p:cNvSpPr>
            <a:spLocks noGrp="1"/>
          </p:cNvSpPr>
          <p:nvPr/>
        </p:nvSpPr>
        <p:spPr>
          <a:xfrm>
            <a:off x="5087303" y="1254443"/>
            <a:ext cx="6668" cy="6668"/>
          </a:xfrm>
          <a:prstGeom prst="ellipse">
            <a:avLst/>
          </a:prstGeom>
          <a:solidFill>
            <a:srgbClr val="687780"/>
          </a:solidFill>
          <a:ln w="0">
            <a:noFill/>
          </a:ln>
        </p:spPr>
      </p:sp>
      <p:sp>
        <p:nvSpPr>
          <p:cNvPr id="50607" name="F2-Build-continuation">
            <a:extLst>
              <a:ext uri="{FF2B5EF4-FFF2-40B4-BE49-F238E27FC236}">
                <a16:creationId xmlns:a16="http://schemas.microsoft.com/office/drawing/2014/main" id="{2CD955D9-21C2-4AE5-9635-C9F55AC072BD}"/>
              </a:ext>
            </a:extLst>
          </p:cNvPr>
          <p:cNvSpPr>
            <a:spLocks noGrp="1"/>
          </p:cNvSpPr>
          <p:nvPr/>
        </p:nvSpPr>
        <p:spPr>
          <a:xfrm>
            <a:off x="5107305" y="1254443"/>
            <a:ext cx="6668" cy="6668"/>
          </a:xfrm>
          <a:prstGeom prst="ellipse">
            <a:avLst/>
          </a:prstGeom>
          <a:solidFill>
            <a:srgbClr val="687780"/>
          </a:solidFill>
          <a:ln w="0">
            <a:noFill/>
          </a:ln>
        </p:spPr>
      </p:sp>
      <p:sp>
        <p:nvSpPr>
          <p:cNvPr id="50608" name="F2-Build-SMILES-19.8">
            <a:extLst>
              <a:ext uri="{FF2B5EF4-FFF2-40B4-BE49-F238E27FC236}">
                <a16:creationId xmlns:a16="http://schemas.microsoft.com/office/drawing/2014/main" id="{F825F396-DC00-4D1F-95F0-5208E2576D2C}"/>
              </a:ext>
            </a:extLst>
          </p:cNvPr>
          <p:cNvSpPr>
            <a:spLocks noGrp="1"/>
          </p:cNvSpPr>
          <p:nvPr/>
        </p:nvSpPr>
        <p:spPr>
          <a:xfrm>
            <a:off x="5067300" y="1274445"/>
            <a:ext cx="361950" cy="74295"/>
          </a:xfrm>
          <a:prstGeom prst="rect">
            <a:avLst/>
          </a:prstGeom>
          <a:noFill/>
          <a:ln w="0">
            <a:noFill/>
          </a:ln>
        </p:spPr>
        <p:txBody>
          <a:bodyPr wrap="none" lIns="0" tIns="0" rIns="0" bIns="0" anchor="ctr">
            <a:noAutofit/>
          </a:bodyPr>
          <a:lstStyle>
            <a:defPPr algn="l">
              <a:defRPr sz="540" b="0">
                <a:solidFill>
                  <a:srgbClr val="24634E"/>
                </a:solidFill>
                <a:latin typeface="Arial"/>
                <a:ea typeface="Arial"/>
                <a:cs typeface="Arial"/>
              </a:defRPr>
            </a:defPPr>
            <a:lvl1pPr algn="l">
              <a:defRPr sz="540" b="0">
                <a:solidFill>
                  <a:srgbClr val="24634E"/>
                </a:solidFill>
                <a:latin typeface="Arial"/>
                <a:ea typeface="Arial"/>
                <a:cs typeface="Arial"/>
              </a:defRPr>
            </a:lvl1pPr>
            <a:lvl2pPr algn="l">
              <a:defRPr sz="540" b="0">
                <a:solidFill>
                  <a:srgbClr val="24634E"/>
                </a:solidFill>
                <a:latin typeface="Arial"/>
                <a:ea typeface="Arial"/>
                <a:cs typeface="Arial"/>
              </a:defRPr>
            </a:lvl2pPr>
            <a:lvl3pPr algn="l">
              <a:defRPr sz="540" b="0">
                <a:solidFill>
                  <a:srgbClr val="24634E"/>
                </a:solidFill>
                <a:latin typeface="Arial"/>
                <a:ea typeface="Arial"/>
                <a:cs typeface="Arial"/>
              </a:defRPr>
            </a:lvl3pPr>
            <a:lvl4pPr algn="l">
              <a:defRPr sz="540" b="0">
                <a:solidFill>
                  <a:srgbClr val="24634E"/>
                </a:solidFill>
                <a:latin typeface="Arial"/>
                <a:ea typeface="Arial"/>
                <a:cs typeface="Arial"/>
              </a:defRPr>
            </a:lvl4pPr>
            <a:lvl5pPr algn="l">
              <a:defRPr sz="540" b="0">
                <a:solidFill>
                  <a:srgbClr val="24634E"/>
                </a:solidFill>
                <a:latin typeface="Arial"/>
                <a:ea typeface="Arial"/>
                <a:cs typeface="Arial"/>
              </a:defRPr>
            </a:lvl5pPr>
            <a:lvl6pPr algn="l">
              <a:defRPr sz="540" b="0">
                <a:solidFill>
                  <a:srgbClr val="24634E"/>
                </a:solidFill>
                <a:latin typeface="Arial"/>
                <a:ea typeface="Arial"/>
                <a:cs typeface="Arial"/>
              </a:defRPr>
            </a:lvl6pPr>
            <a:lvl7pPr algn="l">
              <a:defRPr sz="540" b="0">
                <a:solidFill>
                  <a:srgbClr val="24634E"/>
                </a:solidFill>
                <a:latin typeface="Arial"/>
                <a:ea typeface="Arial"/>
                <a:cs typeface="Arial"/>
              </a:defRPr>
            </a:lvl7pPr>
            <a:lvl8pPr algn="l">
              <a:defRPr sz="540" b="0">
                <a:solidFill>
                  <a:srgbClr val="24634E"/>
                </a:solidFill>
                <a:latin typeface="Arial"/>
                <a:ea typeface="Arial"/>
                <a:cs typeface="Arial"/>
              </a:defRPr>
            </a:lvl8pPr>
            <a:lvl9pPr algn="l">
              <a:defRPr sz="540" b="0">
                <a:solidFill>
                  <a:srgbClr val="24634E"/>
                </a:solidFill>
                <a:latin typeface="Arial"/>
                <a:ea typeface="Arial"/>
                <a:cs typeface="Arial"/>
              </a:defRPr>
            </a:lvl9pPr>
          </a:lstStyle>
          <a:p>
            <a:pPr algn="l">
              <a:defRPr sz="540" b="0">
                <a:solidFill>
                  <a:srgbClr val="24634E"/>
                </a:solidFill>
                <a:latin typeface="Arial"/>
                <a:ea typeface="Arial"/>
                <a:cs typeface="Arial"/>
              </a:defRPr>
            </a:pPr>
            <a:r>
              <a:rPr sz="540" b="0">
                <a:solidFill>
                  <a:srgbClr val="24634E"/>
                </a:solidFill>
                <a:latin typeface="Arial"/>
                <a:ea typeface="Arial"/>
                <a:cs typeface="Arial"/>
              </a:rPr>
              <a:t>Cc1ccccc1</a:t>
            </a:r>
          </a:p>
        </p:txBody>
      </p:sp>
      <p:sp>
        <p:nvSpPr>
          <p:cNvPr id="50609" name="F2-Build-SMILES-27.599999999999998">
            <a:extLst>
              <a:ext uri="{FF2B5EF4-FFF2-40B4-BE49-F238E27FC236}">
                <a16:creationId xmlns:a16="http://schemas.microsoft.com/office/drawing/2014/main" id="{42E599AD-9784-4B26-ADAB-718990C44186}"/>
              </a:ext>
            </a:extLst>
          </p:cNvPr>
          <p:cNvSpPr>
            <a:spLocks noGrp="1"/>
          </p:cNvSpPr>
          <p:nvPr/>
        </p:nvSpPr>
        <p:spPr>
          <a:xfrm>
            <a:off x="5067300" y="1348740"/>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lgn="l">
              <a:defRPr sz="540" b="0">
                <a:solidFill>
                  <a:srgbClr val="263442"/>
                </a:solidFill>
                <a:latin typeface="Arial"/>
                <a:ea typeface="Arial"/>
                <a:cs typeface="Arial"/>
              </a:defRPr>
            </a:pPr>
            <a:r>
              <a:rPr sz="540" b="0">
                <a:solidFill>
                  <a:srgbClr val="263442"/>
                </a:solidFill>
                <a:latin typeface="Arial"/>
                <a:ea typeface="Arial"/>
                <a:cs typeface="Arial"/>
              </a:rPr>
              <a:t>CC(N)=O</a:t>
            </a:r>
          </a:p>
        </p:txBody>
      </p:sp>
      <p:pic>
        <p:nvPicPr>
          <p:cNvPr id="50610" name="图片 50609">
            <a:extLst>
              <a:ext uri="{FF2B5EF4-FFF2-40B4-BE49-F238E27FC236}">
                <a16:creationId xmlns:a16="http://schemas.microsoft.com/office/drawing/2014/main" id="{788E8304-A748-4BB4-8B4F-8A9E612C0891}"/>
              </a:ext>
            </a:extLst>
          </p:cNvPr>
          <p:cNvPicPr>
            <a:picLocks noChangeAspect="1"/>
          </p:cNvPicPr>
          <p:nvPr/>
        </p:nvPicPr>
        <p:blipFill>
          <a:blip r:embed="rId10"/>
          <a:stretch/>
        </p:blipFill>
        <p:spPr>
          <a:xfrm>
            <a:off x="5149836" y="3476625"/>
            <a:ext cx="806478" cy="666750"/>
          </a:xfrm>
          <a:prstGeom prst="rect">
            <a:avLst/>
          </a:prstGeom>
        </p:spPr>
      </p:pic>
      <p:grpSp>
        <p:nvGrpSpPr>
          <p:cNvPr id="50611" name="Find preview 15"/>
          <p:cNvGrpSpPr/>
          <p:nvPr/>
        </p:nvGrpSpPr>
        <p:grpSpPr>
          <a:xfrm>
            <a:off x="511635" y="471488"/>
            <a:ext cx="404812" cy="395288"/>
            <a:chOff x="511635" y="471488"/>
            <a:chExt cx="404812" cy="395288"/>
          </a:xfrm>
        </p:grpSpPr>
        <p:pic>
          <p:nvPicPr>
            <p:cNvPr id="1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8CF1199C-6488-C5B6-B489-1131732B4FBF}"/>
                </a:ext>
              </a:extLst>
            </p:cNvPr>
            <p:cNvPicPr/>
            <p:nvPr/>
          </p:nvPicPr>
          <p:blipFill>
            <a:blip r:embed="rId4"/>
            <a:stretch>
              <a:fillRect/>
            </a:stretch>
          </p:blipFill>
          <p:spPr>
            <a:xfrm>
              <a:off x="511635" y="475859"/>
              <a:ext cx="404812" cy="386544"/>
            </a:xfrm>
            <a:prstGeom prst="rect">
              <a:avLst/>
            </a:prstGeom>
          </p:spPr>
        </p:pic>
        <p:sp>
          <p:nvSpPr>
            <p:cNvPr id="50594" name="crop-cube">
              <a:extLst>
                <a:ext uri="{FF2B5EF4-FFF2-40B4-BE49-F238E27FC236}">
                  <a16:creationId xmlns:a16="http://schemas.microsoft.com/office/drawing/2014/main" id="{25839399-079E-4307-9725-E085483F7FD6}"/>
                </a:ext>
              </a:extLst>
            </p:cNvPr>
            <p:cNvSpPr>
              <a:spLocks noGrp="1"/>
            </p:cNvSpPr>
            <p:nvPr/>
          </p:nvSpPr>
          <p:spPr>
            <a:xfrm>
              <a:off x="700088" y="626745"/>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595" name="crop-cube">
              <a:extLst>
                <a:ext uri="{FF2B5EF4-FFF2-40B4-BE49-F238E27FC236}">
                  <a16:creationId xmlns:a16="http://schemas.microsoft.com/office/drawing/2014/main" id="{07D86F79-577D-4116-BDEA-F38D19D792BA}"/>
                </a:ext>
              </a:extLst>
            </p:cNvPr>
            <p:cNvSpPr>
              <a:spLocks noGrp="1"/>
            </p:cNvSpPr>
            <p:nvPr/>
          </p:nvSpPr>
          <p:spPr>
            <a:xfrm>
              <a:off x="788194" y="626745"/>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596" name="F2-density-crop-size">
              <a:extLst>
                <a:ext uri="{FF2B5EF4-FFF2-40B4-BE49-F238E27FC236}">
                  <a16:creationId xmlns:a16="http://schemas.microsoft.com/office/drawing/2014/main" id="{9B6ECDDF-4CA0-44BE-83B1-7FF800ECF209}"/>
                </a:ext>
              </a:extLst>
            </p:cNvPr>
            <p:cNvSpPr>
              <a:spLocks noGrp="1"/>
            </p:cNvSpPr>
            <p:nvPr/>
          </p:nvSpPr>
          <p:spPr>
            <a:xfrm>
              <a:off x="640556" y="766763"/>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612" name="Find preview 1435"/>
          <p:cNvGrpSpPr/>
          <p:nvPr/>
        </p:nvGrpSpPr>
        <p:grpSpPr>
          <a:xfrm>
            <a:off x="511635" y="1252538"/>
            <a:ext cx="404812" cy="395288"/>
            <a:chOff x="511635" y="1252538"/>
            <a:chExt cx="404812" cy="395288"/>
          </a:xfrm>
        </p:grpSpPr>
        <p:pic>
          <p:nvPicPr>
            <p:cNvPr id="1435" name="Find clear receptor" descr="Receptor cartoon rendered from unchanged local coordinates, chain C1 of the 9LLG CA2 model.">
              <a:extLst>
                <a:ext uri="{FF2B5EF4-FFF2-40B4-BE49-F238E27FC236}">
                  <a16:creationId xmlns:a16="http://schemas.microsoft.com/office/drawing/2014/main" id="{24C88AB2-5918-0F4D-EDE6-0D89FC02F100}"/>
                </a:ext>
              </a:extLst>
            </p:cNvPr>
            <p:cNvPicPr/>
            <p:nvPr/>
          </p:nvPicPr>
          <p:blipFill>
            <a:blip r:embed="rId7"/>
            <a:srcRect l="16857" t="30389" r="19786" b="22500"/>
            <a:stretch>
              <a:fillRect/>
            </a:stretch>
          </p:blipFill>
          <p:spPr>
            <a:xfrm>
              <a:off x="511635" y="1256674"/>
              <a:ext cx="404812" cy="387014"/>
            </a:xfrm>
            <a:prstGeom prst="rect">
              <a:avLst/>
            </a:prstGeom>
          </p:spPr>
        </p:pic>
        <p:sp>
          <p:nvSpPr>
            <p:cNvPr id="50597" name="crop-cube">
              <a:extLst>
                <a:ext uri="{FF2B5EF4-FFF2-40B4-BE49-F238E27FC236}">
                  <a16:creationId xmlns:a16="http://schemas.microsoft.com/office/drawing/2014/main" id="{B083B324-58BF-4271-92CE-6A3DCE5DBE53}"/>
                </a:ext>
              </a:extLst>
            </p:cNvPr>
            <p:cNvSpPr>
              <a:spLocks noGrp="1"/>
            </p:cNvSpPr>
            <p:nvPr/>
          </p:nvSpPr>
          <p:spPr>
            <a:xfrm>
              <a:off x="700088" y="1404938"/>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598" name="crop-cube">
              <a:extLst>
                <a:ext uri="{FF2B5EF4-FFF2-40B4-BE49-F238E27FC236}">
                  <a16:creationId xmlns:a16="http://schemas.microsoft.com/office/drawing/2014/main" id="{0E8C65BE-9745-4184-B8B7-6FD5E9341DBD}"/>
                </a:ext>
              </a:extLst>
            </p:cNvPr>
            <p:cNvSpPr>
              <a:spLocks noGrp="1"/>
            </p:cNvSpPr>
            <p:nvPr/>
          </p:nvSpPr>
          <p:spPr>
            <a:xfrm>
              <a:off x="788194" y="1404938"/>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599" name="F2-receptor-crop-size">
              <a:extLst>
                <a:ext uri="{FF2B5EF4-FFF2-40B4-BE49-F238E27FC236}">
                  <a16:creationId xmlns:a16="http://schemas.microsoft.com/office/drawing/2014/main" id="{11CB5595-3267-408D-9A25-39E3920D0458}"/>
                </a:ext>
              </a:extLst>
            </p:cNvPr>
            <p:cNvSpPr>
              <a:spLocks noGrp="1"/>
            </p:cNvSpPr>
            <p:nvPr/>
          </p:nvSpPr>
          <p:spPr>
            <a:xfrm>
              <a:off x="640556" y="1544955"/>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613" name="Find preview 25"/>
          <p:cNvGrpSpPr/>
          <p:nvPr/>
        </p:nvGrpSpPr>
        <p:grpSpPr>
          <a:xfrm>
            <a:off x="4349067" y="495300"/>
            <a:ext cx="404812" cy="395288"/>
            <a:chOff x="4349067" y="495300"/>
            <a:chExt cx="404812" cy="395288"/>
          </a:xfrm>
        </p:grpSpPr>
        <p:pic>
          <p:nvPicPr>
            <p:cNvPr id="2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E01FAF0F-7383-AEC3-8192-CE781D4C8B97}"/>
                </a:ext>
              </a:extLst>
            </p:cNvPr>
            <p:cNvPicPr/>
            <p:nvPr/>
          </p:nvPicPr>
          <p:blipFill>
            <a:blip r:embed="rId4"/>
            <a:stretch>
              <a:fillRect/>
            </a:stretch>
          </p:blipFill>
          <p:spPr>
            <a:xfrm>
              <a:off x="4349067" y="499672"/>
              <a:ext cx="404812" cy="386544"/>
            </a:xfrm>
            <a:prstGeom prst="rect">
              <a:avLst/>
            </a:prstGeom>
          </p:spPr>
        </p:pic>
        <p:grpSp>
          <p:nvGrpSpPr>
            <p:cNvPr id="50555" name="Global copy of blob 758">
              <a:extLst>
                <a:ext uri="{FF2B5EF4-FFF2-40B4-BE49-F238E27FC236}">
                  <a16:creationId xmlns:a16="http://schemas.microsoft.com/office/drawing/2014/main" id="{00C0C92B-D4C8-0994-E860-1581EB873D86}"/>
                </a:ext>
              </a:extLst>
            </p:cNvPr>
            <p:cNvGrpSpPr/>
            <p:nvPr/>
          </p:nvGrpSpPr>
          <p:grpSpPr>
            <a:xfrm>
              <a:off x="4435335" y="623158"/>
              <a:ext cx="42515" cy="24054"/>
              <a:chOff x="1928706" y="3559489"/>
              <a:chExt cx="227897" cy="155682"/>
            </a:xfrm>
          </p:grpSpPr>
          <p:sp>
            <p:nvSpPr>
              <p:cNvPr id="50556" name="Candidate blob | editable contour">
                <a:extLst>
                  <a:ext uri="{FF2B5EF4-FFF2-40B4-BE49-F238E27FC236}">
                    <a16:creationId xmlns:a16="http://schemas.microsoft.com/office/drawing/2014/main" id="{A172A8B3-EFA3-33C9-CD2B-307B24D7293D}"/>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50557" name="ellipse_2612">
                <a:extLst>
                  <a:ext uri="{FF2B5EF4-FFF2-40B4-BE49-F238E27FC236}">
                    <a16:creationId xmlns:a16="http://schemas.microsoft.com/office/drawing/2014/main" id="{CF37E813-914E-4383-9CE9-1C5F4095124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50558" name="Global copy of blob 6">
              <a:extLst>
                <a:ext uri="{FF2B5EF4-FFF2-40B4-BE49-F238E27FC236}">
                  <a16:creationId xmlns:a16="http://schemas.microsoft.com/office/drawing/2014/main" id="{52582F41-8562-EDCF-D547-FEE06D78B091}"/>
                </a:ext>
              </a:extLst>
            </p:cNvPr>
            <p:cNvGrpSpPr/>
            <p:nvPr/>
          </p:nvGrpSpPr>
          <p:grpSpPr>
            <a:xfrm rot="3197729">
              <a:off x="4592894" y="646215"/>
              <a:ext cx="42515" cy="24054"/>
              <a:chOff x="1928706" y="3559489"/>
              <a:chExt cx="227897" cy="155682"/>
            </a:xfrm>
          </p:grpSpPr>
          <p:sp>
            <p:nvSpPr>
              <p:cNvPr id="50559" name="Candidate blob | editable contour">
                <a:extLst>
                  <a:ext uri="{FF2B5EF4-FFF2-40B4-BE49-F238E27FC236}">
                    <a16:creationId xmlns:a16="http://schemas.microsoft.com/office/drawing/2014/main" id="{AC599FE5-B7C8-2310-361D-307EF409B159}"/>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50560" name="ellipse_2612">
                <a:extLst>
                  <a:ext uri="{FF2B5EF4-FFF2-40B4-BE49-F238E27FC236}">
                    <a16:creationId xmlns:a16="http://schemas.microsoft.com/office/drawing/2014/main" id="{899D545A-9188-B8A5-5122-F55763321954}"/>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50561" name="Global copy of blob 761">
              <a:extLst>
                <a:ext uri="{FF2B5EF4-FFF2-40B4-BE49-F238E27FC236}">
                  <a16:creationId xmlns:a16="http://schemas.microsoft.com/office/drawing/2014/main" id="{D7299A48-8BF0-7050-EF56-14DA3F495CB7}"/>
                </a:ext>
              </a:extLst>
            </p:cNvPr>
            <p:cNvGrpSpPr/>
            <p:nvPr/>
          </p:nvGrpSpPr>
          <p:grpSpPr>
            <a:xfrm>
              <a:off x="4422037" y="755380"/>
              <a:ext cx="38366" cy="20927"/>
              <a:chOff x="1928706" y="3559489"/>
              <a:chExt cx="227897" cy="155682"/>
            </a:xfrm>
          </p:grpSpPr>
          <p:sp>
            <p:nvSpPr>
              <p:cNvPr id="50562" name="Candidate blob | editable contour">
                <a:extLst>
                  <a:ext uri="{FF2B5EF4-FFF2-40B4-BE49-F238E27FC236}">
                    <a16:creationId xmlns:a16="http://schemas.microsoft.com/office/drawing/2014/main" id="{8902F596-0D84-3C56-EB93-D63FC7E9041E}"/>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50563" name="ellipse_2612">
                <a:extLst>
                  <a:ext uri="{FF2B5EF4-FFF2-40B4-BE49-F238E27FC236}">
                    <a16:creationId xmlns:a16="http://schemas.microsoft.com/office/drawing/2014/main" id="{85D74281-2FE6-E2D2-EFBA-AF54A45686E3}"/>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50564" name="Global copy of blob 755">
              <a:extLst>
                <a:ext uri="{FF2B5EF4-FFF2-40B4-BE49-F238E27FC236}">
                  <a16:creationId xmlns:a16="http://schemas.microsoft.com/office/drawing/2014/main" id="{3B821B97-56A6-DCED-E85F-DBF945F3EA13}"/>
                </a:ext>
              </a:extLst>
            </p:cNvPr>
            <p:cNvGrpSpPr/>
            <p:nvPr/>
          </p:nvGrpSpPr>
          <p:grpSpPr>
            <a:xfrm>
              <a:off x="4533706" y="791322"/>
              <a:ext cx="37919" cy="25902"/>
              <a:chOff x="1928706" y="3559489"/>
              <a:chExt cx="227897" cy="155682"/>
            </a:xfrm>
          </p:grpSpPr>
          <p:sp>
            <p:nvSpPr>
              <p:cNvPr id="50565" name="Candidate blob | editable contour">
                <a:extLst>
                  <a:ext uri="{FF2B5EF4-FFF2-40B4-BE49-F238E27FC236}">
                    <a16:creationId xmlns:a16="http://schemas.microsoft.com/office/drawing/2014/main" id="{B3B117DA-D182-38E6-AD16-B4776AD2C7B7}"/>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50566" name="ellipse_2612">
                <a:extLst>
                  <a:ext uri="{FF2B5EF4-FFF2-40B4-BE49-F238E27FC236}">
                    <a16:creationId xmlns:a16="http://schemas.microsoft.com/office/drawing/2014/main" id="{901C6437-E94C-AFDE-D242-E688A89ABBD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spTree>
    <p:extLst>
      <p:ext uri="{BB962C8B-B14F-4D97-AF65-F5344CB8AC3E}">
        <p14:creationId xmlns:p14="http://schemas.microsoft.com/office/powerpoint/2010/main" val="3763289320"/>
      </p:ext>
    </p:extLst>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name="method / text">
    <p:spTree>
      <p:nvGrpSpPr>
        <p:cNvPr id="1" name="">
          <a:extLst>
            <a:ext uri="{FF2B5EF4-FFF2-40B4-BE49-F238E27FC236}">
              <a16:creationId xmlns:a16="http://schemas.microsoft.com/office/drawing/2014/main" id="{7C3A6E18-01F8-B0BA-F43F-91B3A30C3C3E}"/>
            </a:ext>
          </a:extLst>
        </p:cNvPr>
        <p:cNvGrpSpPr/>
        <p:nvPr/>
      </p:nvGrpSpPr>
      <p:grpSpPr>
        <a:xfrm>
          <a:off x="0" y="0"/>
          <a:ext cx="0" cy="0"/>
          <a:chOff x="0" y="0"/>
          <a:chExt cx="0" cy="0"/>
        </a:xfrm>
      </p:grpSpPr>
      <p:sp>
        <p:nvSpPr>
          <p:cNvPr id="2" name="Panel | Find background">
            <a:extLst>
              <a:ext uri="{FF2B5EF4-FFF2-40B4-BE49-F238E27FC236}">
                <a16:creationId xmlns:a16="http://schemas.microsoft.com/office/drawing/2014/main" id="{A9090686-8929-C0A0-CCD3-B88878102309}"/>
              </a:ext>
            </a:extLst>
          </p:cNvPr>
          <p:cNvSpPr/>
          <p:nvPr/>
        </p:nvSpPr>
        <p:spPr>
          <a:xfrm>
            <a:off x="450985" y="89164"/>
            <a:ext cx="4381930" cy="1756103"/>
          </a:xfrm>
          <a:prstGeom prst="roundRect">
            <a:avLst>
              <a:gd name="adj" fmla="val 2000"/>
            </a:avLst>
          </a:prstGeom>
          <a:solidFill>
            <a:srgbClr val="F4F7FB"/>
          </a:solidFill>
          <a:ln w="9720">
            <a:solidFill>
              <a:srgbClr val="CFDB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3" name="Panel | Match background">
            <a:extLst>
              <a:ext uri="{FF2B5EF4-FFF2-40B4-BE49-F238E27FC236}">
                <a16:creationId xmlns:a16="http://schemas.microsoft.com/office/drawing/2014/main" id="{28703D02-0EE9-C5A6-609C-08019DDE7E4E}"/>
              </a:ext>
            </a:extLst>
          </p:cNvPr>
          <p:cNvSpPr/>
          <p:nvPr/>
        </p:nvSpPr>
        <p:spPr>
          <a:xfrm>
            <a:off x="450985" y="1884235"/>
            <a:ext cx="4381930" cy="2532204"/>
          </a:xfrm>
          <a:prstGeom prst="roundRect">
            <a:avLst>
              <a:gd name="adj" fmla="val 2000"/>
            </a:avLst>
          </a:prstGeom>
          <a:solidFill>
            <a:srgbClr val="F2F9F6"/>
          </a:solidFill>
          <a:ln w="9720">
            <a:solidFill>
              <a:srgbClr val="C8E2D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4" name="Panel | Build background">
            <a:extLst>
              <a:ext uri="{FF2B5EF4-FFF2-40B4-BE49-F238E27FC236}">
                <a16:creationId xmlns:a16="http://schemas.microsoft.com/office/drawing/2014/main" id="{ED204BA4-647E-6284-03F8-632FC35FBD82}"/>
              </a:ext>
            </a:extLst>
          </p:cNvPr>
          <p:cNvSpPr/>
          <p:nvPr/>
        </p:nvSpPr>
        <p:spPr>
          <a:xfrm>
            <a:off x="4868797" y="84564"/>
            <a:ext cx="1354615" cy="4331875"/>
          </a:xfrm>
          <a:prstGeom prst="roundRect">
            <a:avLst>
              <a:gd name="adj" fmla="val 2000"/>
            </a:avLst>
          </a:prstGeom>
          <a:solidFill>
            <a:srgbClr val="FAF6EE"/>
          </a:solidFill>
          <a:ln w="9720">
            <a:solidFill>
              <a:srgbClr val="E3D9C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grpSp>
        <p:nvGrpSpPr>
          <p:cNvPr id="5" name="Input boundary layer">
            <a:extLst>
              <a:ext uri="{FF2B5EF4-FFF2-40B4-BE49-F238E27FC236}">
                <a16:creationId xmlns:a16="http://schemas.microsoft.com/office/drawing/2014/main" id="{DDB8823C-1C5D-EC2B-D97C-140C79222FB0}"/>
              </a:ext>
            </a:extLst>
          </p:cNvPr>
          <p:cNvGrpSpPr/>
          <p:nvPr/>
        </p:nvGrpSpPr>
        <p:grpSpPr>
          <a:xfrm>
            <a:off x="0" y="0"/>
            <a:ext cx="6480175" cy="4468813"/>
            <a:chOff x="0" y="0"/>
            <a:chExt cx="15240000" cy="10509702"/>
          </a:xfrm>
        </p:grpSpPr>
        <p:sp>
          <p:nvSpPr>
            <p:cNvPr id="1478" name="V8 Match input boundary">
              <a:extLst>
                <a:ext uri="{FF2B5EF4-FFF2-40B4-BE49-F238E27FC236}">
                  <a16:creationId xmlns:a16="http://schemas.microsoft.com/office/drawing/2014/main" id="{7D0554F4-AE1C-63F1-A885-352F5424EDA9}"/>
                </a:ext>
              </a:extLst>
            </p:cNvPr>
            <p:cNvSpPr/>
            <p:nvPr/>
          </p:nvSpPr>
          <p:spPr>
            <a:xfrm>
              <a:off x="1582841" y="5281627"/>
              <a:ext cx="3163259" cy="2511755"/>
            </a:xfrm>
            <a:custGeom>
              <a:avLst/>
              <a:gdLst/>
              <a:ahLst/>
              <a:cxnLst/>
              <a:rect l="l" t="t" r="r" b="b"/>
              <a:pathLst>
                <a:path w="1345044" h="1068019">
                  <a:moveTo>
                    <a:pt x="31750" y="0"/>
                  </a:moveTo>
                  <a:lnTo>
                    <a:pt x="893699" y="0"/>
                  </a:lnTo>
                  <a:cubicBezTo>
                    <a:pt x="911162" y="0"/>
                    <a:pt x="925449" y="14288"/>
                    <a:pt x="925449" y="31750"/>
                  </a:cubicBezTo>
                  <a:lnTo>
                    <a:pt x="925449" y="489521"/>
                  </a:lnTo>
                  <a:cubicBezTo>
                    <a:pt x="925449" y="506984"/>
                    <a:pt x="939736" y="521271"/>
                    <a:pt x="957199" y="521271"/>
                  </a:cubicBezTo>
                  <a:lnTo>
                    <a:pt x="1313294" y="521271"/>
                  </a:lnTo>
                  <a:cubicBezTo>
                    <a:pt x="1330757" y="521271"/>
                    <a:pt x="1345044" y="535559"/>
                    <a:pt x="1345044" y="553021"/>
                  </a:cubicBezTo>
                  <a:lnTo>
                    <a:pt x="1345044" y="1036269"/>
                  </a:lnTo>
                  <a:cubicBezTo>
                    <a:pt x="1345044" y="1053732"/>
                    <a:pt x="1330757" y="1068019"/>
                    <a:pt x="1313294" y="1068019"/>
                  </a:cubicBezTo>
                  <a:lnTo>
                    <a:pt x="31750" y="1068019"/>
                  </a:lnTo>
                  <a:cubicBezTo>
                    <a:pt x="14288" y="1068019"/>
                    <a:pt x="0" y="1053732"/>
                    <a:pt x="0" y="1036269"/>
                  </a:cubicBezTo>
                  <a:lnTo>
                    <a:pt x="0" y="31750"/>
                  </a:lnTo>
                  <a:cubicBezTo>
                    <a:pt x="0" y="14288"/>
                    <a:pt x="14288" y="0"/>
                    <a:pt x="31750" y="0"/>
                  </a:cubicBezTo>
                  <a:close/>
                </a:path>
              </a:pathLst>
            </a:custGeom>
            <a:solidFill>
              <a:srgbClr val="FFFFFF"/>
            </a:solidFill>
            <a:ln w="7290" cap="rnd">
              <a:solidFill>
                <a:srgbClr val="B6CEC5"/>
              </a:solidFill>
              <a:prstDash val="solid"/>
              <a:round/>
            </a:ln>
          </p:spPr>
          <p:txBody>
            <a:bodyPr/>
            <a:lstStyle/>
            <a:p>
              <a:endParaRPr lang="zh-CN" altLang="en-US" dirty="0"/>
            </a:p>
          </p:txBody>
        </p:sp>
      </p:grpSp>
      <p:sp>
        <p:nvSpPr>
          <p:cNvPr id="7" name="TextBox 4">
            <a:extLst>
              <a:ext uri="{FF2B5EF4-FFF2-40B4-BE49-F238E27FC236}">
                <a16:creationId xmlns:a16="http://schemas.microsoft.com/office/drawing/2014/main" id="{ADBC3EDA-5434-B072-0369-64F7979021C5}"/>
              </a:ext>
            </a:extLst>
          </p:cNvPr>
          <p:cNvSpPr txBox="1"/>
          <p:nvPr/>
        </p:nvSpPr>
        <p:spPr>
          <a:xfrm>
            <a:off x="519056" y="107111"/>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a</a:t>
            </a:r>
          </a:p>
        </p:txBody>
      </p:sp>
      <p:sp>
        <p:nvSpPr>
          <p:cNvPr id="8" name="TextBox 5">
            <a:extLst>
              <a:ext uri="{FF2B5EF4-FFF2-40B4-BE49-F238E27FC236}">
                <a16:creationId xmlns:a16="http://schemas.microsoft.com/office/drawing/2014/main" id="{BDE65E3A-EB06-F9D8-4F70-55D863BF89FB}"/>
              </a:ext>
            </a:extLst>
          </p:cNvPr>
          <p:cNvSpPr txBox="1"/>
          <p:nvPr/>
        </p:nvSpPr>
        <p:spPr>
          <a:xfrm>
            <a:off x="677263" y="124527"/>
            <a:ext cx="2531320" cy="123624"/>
          </a:xfrm>
          <a:prstGeom prst="rect">
            <a:avLst/>
          </a:prstGeom>
          <a:noFill/>
        </p:spPr>
        <p:txBody>
          <a:bodyPr wrap="square" lIns="0" tIns="0" rIns="0" bIns="0" anchor="ctr">
            <a:spAutoFit/>
          </a:bodyPr>
          <a:lstStyle/>
          <a:p>
            <a:pPr algn="l">
              <a:lnSpc>
                <a:spcPct val="105000"/>
              </a:lnSpc>
            </a:pPr>
            <a:r>
              <a:rPr sz="822">
                <a:solidFill>
                  <a:srgbClr val="263442"/>
                </a:solidFill>
                <a:latin typeface="Arial"/>
              </a:rPr>
              <a:t>Find: locate ligand regions</a:t>
            </a:r>
          </a:p>
        </p:txBody>
      </p:sp>
      <p:sp>
        <p:nvSpPr>
          <p:cNvPr id="9" name="TextBox 6">
            <a:extLst>
              <a:ext uri="{FF2B5EF4-FFF2-40B4-BE49-F238E27FC236}">
                <a16:creationId xmlns:a16="http://schemas.microsoft.com/office/drawing/2014/main" id="{F3FF857A-DE19-FC06-9455-89983F39C003}"/>
              </a:ext>
            </a:extLst>
          </p:cNvPr>
          <p:cNvSpPr txBox="1"/>
          <p:nvPr/>
        </p:nvSpPr>
        <p:spPr>
          <a:xfrm>
            <a:off x="519056" y="1909702"/>
            <a:ext cx="174028" cy="149656"/>
          </a:xfrm>
          <a:prstGeom prst="rect">
            <a:avLst/>
          </a:prstGeom>
          <a:noFill/>
        </p:spPr>
        <p:txBody>
          <a:bodyPr wrap="square" lIns="0" tIns="0" rIns="0" bIns="0" anchor="ctr">
            <a:spAutoFit/>
          </a:bodyPr>
          <a:lstStyle/>
          <a:p>
            <a:pPr>
              <a:lnSpc>
                <a:spcPct val="105000"/>
              </a:lnSpc>
            </a:pPr>
            <a:r>
              <a:rPr sz="995" b="1" dirty="0">
                <a:solidFill>
                  <a:srgbClr val="263442"/>
                </a:solidFill>
                <a:latin typeface="Arial"/>
              </a:rPr>
              <a:t>b</a:t>
            </a:r>
          </a:p>
        </p:txBody>
      </p:sp>
      <p:sp>
        <p:nvSpPr>
          <p:cNvPr id="10" name="TextBox 7">
            <a:extLst>
              <a:ext uri="{FF2B5EF4-FFF2-40B4-BE49-F238E27FC236}">
                <a16:creationId xmlns:a16="http://schemas.microsoft.com/office/drawing/2014/main" id="{70ECA487-21BB-6209-C18F-3026009B4E59}"/>
              </a:ext>
            </a:extLst>
          </p:cNvPr>
          <p:cNvSpPr txBox="1"/>
          <p:nvPr/>
        </p:nvSpPr>
        <p:spPr>
          <a:xfrm>
            <a:off x="677200" y="1931954"/>
            <a:ext cx="2847735" cy="123624"/>
          </a:xfrm>
          <a:prstGeom prst="rect">
            <a:avLst/>
          </a:prstGeom>
          <a:noFill/>
        </p:spPr>
        <p:txBody>
          <a:bodyPr wrap="square" lIns="0" tIns="0" rIns="0" bIns="0" anchor="ctr">
            <a:spAutoFit/>
          </a:bodyPr>
          <a:lstStyle/>
          <a:p>
            <a:pPr algn="l">
              <a:lnSpc>
                <a:spcPct val="105000"/>
              </a:lnSpc>
            </a:pPr>
            <a:r>
              <a:rPr sz="822" dirty="0">
                <a:solidFill>
                  <a:srgbClr val="263442"/>
                </a:solidFill>
                <a:latin typeface="Arial"/>
              </a:rPr>
              <a:t>Match: candidate-to-identity assignment</a:t>
            </a:r>
          </a:p>
        </p:txBody>
      </p:sp>
      <p:sp>
        <p:nvSpPr>
          <p:cNvPr id="11" name="TextBox 8">
            <a:extLst>
              <a:ext uri="{FF2B5EF4-FFF2-40B4-BE49-F238E27FC236}">
                <a16:creationId xmlns:a16="http://schemas.microsoft.com/office/drawing/2014/main" id="{C99C17F0-6544-6BC0-1417-555389742DB7}"/>
              </a:ext>
            </a:extLst>
          </p:cNvPr>
          <p:cNvSpPr txBox="1"/>
          <p:nvPr/>
        </p:nvSpPr>
        <p:spPr>
          <a:xfrm>
            <a:off x="4902380" y="107125"/>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c</a:t>
            </a:r>
          </a:p>
        </p:txBody>
      </p:sp>
      <p:sp>
        <p:nvSpPr>
          <p:cNvPr id="12" name="TextBox 9">
            <a:extLst>
              <a:ext uri="{FF2B5EF4-FFF2-40B4-BE49-F238E27FC236}">
                <a16:creationId xmlns:a16="http://schemas.microsoft.com/office/drawing/2014/main" id="{7A43A7E7-A060-03F0-5B05-9A1425584A88}"/>
              </a:ext>
            </a:extLst>
          </p:cNvPr>
          <p:cNvSpPr txBox="1"/>
          <p:nvPr/>
        </p:nvSpPr>
        <p:spPr>
          <a:xfrm>
            <a:off x="5060587" y="120126"/>
            <a:ext cx="1202377" cy="239809"/>
          </a:xfrm>
          <a:prstGeom prst="rect">
            <a:avLst/>
          </a:prstGeom>
          <a:noFill/>
        </p:spPr>
        <p:txBody>
          <a:bodyPr wrap="square" lIns="0" tIns="0" rIns="0" bIns="0" anchor="ctr">
            <a:spAutoFit/>
          </a:bodyPr>
          <a:lstStyle/>
          <a:p>
            <a:pPr algn="l">
              <a:lnSpc>
                <a:spcPct val="98000"/>
              </a:lnSpc>
            </a:pPr>
            <a:r>
              <a:rPr sz="795" dirty="0">
                <a:solidFill>
                  <a:srgbClr val="263442"/>
                </a:solidFill>
                <a:latin typeface="Arial"/>
              </a:rPr>
              <a:t>Build: downstream</a:t>
            </a:r>
          </a:p>
          <a:p>
            <a:pPr algn="l">
              <a:lnSpc>
                <a:spcPct val="98000"/>
              </a:lnSpc>
            </a:pPr>
            <a:r>
              <a:rPr sz="795" dirty="0">
                <a:solidFill>
                  <a:srgbClr val="263442"/>
                </a:solidFill>
                <a:latin typeface="Arial"/>
              </a:rPr>
              <a:t>pose reconstruction</a:t>
            </a:r>
          </a:p>
        </p:txBody>
      </p:sp>
      <p:sp>
        <p:nvSpPr>
          <p:cNvPr id="13" name="Find | Density card">
            <a:extLst>
              <a:ext uri="{FF2B5EF4-FFF2-40B4-BE49-F238E27FC236}">
                <a16:creationId xmlns:a16="http://schemas.microsoft.com/office/drawing/2014/main" id="{CAB7453E-57E4-6069-E17B-BEBD584DE9C5}"/>
              </a:ext>
            </a:extLst>
          </p:cNvPr>
          <p:cNvSpPr/>
          <p:nvPr/>
        </p:nvSpPr>
        <p:spPr>
          <a:xfrm>
            <a:off x="570715" y="284774"/>
            <a:ext cx="488504" cy="680292"/>
          </a:xfrm>
          <a:prstGeom prst="roundRect">
            <a:avLst>
              <a:gd name="adj" fmla="val 6000"/>
            </a:avLst>
          </a:prstGeom>
          <a:solidFill>
            <a:srgbClr val="FFFFFF"/>
          </a:solidFill>
          <a:ln w="7290">
            <a:solidFill>
              <a:srgbClr val="CBD6E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14" name="TextBox 11">
            <a:extLst>
              <a:ext uri="{FF2B5EF4-FFF2-40B4-BE49-F238E27FC236}">
                <a16:creationId xmlns:a16="http://schemas.microsoft.com/office/drawing/2014/main" id="{E13F9DB9-2915-4D37-1A15-4DD879957FE6}"/>
              </a:ext>
            </a:extLst>
          </p:cNvPr>
          <p:cNvSpPr txBox="1"/>
          <p:nvPr/>
        </p:nvSpPr>
        <p:spPr>
          <a:xfrm>
            <a:off x="490790" y="318294"/>
            <a:ext cx="664471" cy="101503"/>
          </a:xfrm>
          <a:prstGeom prst="rect">
            <a:avLst/>
          </a:prstGeom>
          <a:noFill/>
        </p:spPr>
        <p:txBody>
          <a:bodyPr wrap="square" lIns="0" tIns="0" rIns="0" bIns="0" anchor="ctr">
            <a:spAutoFit/>
          </a:bodyPr>
          <a:lstStyle/>
          <a:p>
            <a:pPr algn="ctr">
              <a:lnSpc>
                <a:spcPct val="105000"/>
              </a:lnSpc>
            </a:pPr>
            <a:r>
              <a:rPr sz="675" dirty="0">
                <a:solidFill>
                  <a:srgbClr val="263442"/>
                </a:solidFill>
                <a:latin typeface="Arial"/>
              </a:rPr>
              <a:t>Density</a:t>
            </a:r>
          </a:p>
        </p:txBody>
      </p:sp>
      <p:sp>
        <p:nvSpPr>
          <p:cNvPr id="235" name="Find | Receptor card">
            <a:extLst>
              <a:ext uri="{FF2B5EF4-FFF2-40B4-BE49-F238E27FC236}">
                <a16:creationId xmlns:a16="http://schemas.microsoft.com/office/drawing/2014/main" id="{C39711EA-1578-1FDC-F7E5-415822DEC84F}"/>
              </a:ext>
            </a:extLst>
          </p:cNvPr>
          <p:cNvSpPr/>
          <p:nvPr/>
        </p:nvSpPr>
        <p:spPr>
          <a:xfrm>
            <a:off x="570714" y="1028349"/>
            <a:ext cx="489611" cy="727754"/>
          </a:xfrm>
          <a:prstGeom prst="roundRect">
            <a:avLst>
              <a:gd name="adj" fmla="val 6000"/>
            </a:avLst>
          </a:prstGeom>
          <a:solidFill>
            <a:srgbClr val="FFFFFF"/>
          </a:solidFill>
          <a:ln w="7290">
            <a:solidFill>
              <a:srgbClr val="CBD6E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6" name="TextBox 6212">
            <a:extLst>
              <a:ext uri="{FF2B5EF4-FFF2-40B4-BE49-F238E27FC236}">
                <a16:creationId xmlns:a16="http://schemas.microsoft.com/office/drawing/2014/main" id="{4566817F-CA11-3CA5-4ED5-534E4B65A1C1}"/>
              </a:ext>
            </a:extLst>
          </p:cNvPr>
          <p:cNvSpPr txBox="1"/>
          <p:nvPr/>
        </p:nvSpPr>
        <p:spPr>
          <a:xfrm>
            <a:off x="464564" y="1053973"/>
            <a:ext cx="664471" cy="101503"/>
          </a:xfrm>
          <a:prstGeom prst="rect">
            <a:avLst/>
          </a:prstGeom>
          <a:noFill/>
        </p:spPr>
        <p:txBody>
          <a:bodyPr wrap="square" lIns="0" tIns="0" rIns="0" bIns="0" anchor="ctr">
            <a:spAutoFit/>
          </a:bodyPr>
          <a:lstStyle/>
          <a:p>
            <a:pPr algn="ctr">
              <a:lnSpc>
                <a:spcPct val="105000"/>
              </a:lnSpc>
            </a:pPr>
            <a:r>
              <a:rPr sz="675" dirty="0">
                <a:solidFill>
                  <a:srgbClr val="263442"/>
                </a:solidFill>
                <a:latin typeface="Arial"/>
              </a:rPr>
              <a:t>Receptor</a:t>
            </a:r>
          </a:p>
        </p:txBody>
      </p:sp>
      <p:sp>
        <p:nvSpPr>
          <p:cNvPr id="237" name="Find | 3D voxel U-Net box">
            <a:extLst>
              <a:ext uri="{FF2B5EF4-FFF2-40B4-BE49-F238E27FC236}">
                <a16:creationId xmlns:a16="http://schemas.microsoft.com/office/drawing/2014/main" id="{84C31B5C-DB46-3102-A094-A625CBC3795B}"/>
              </a:ext>
            </a:extLst>
          </p:cNvPr>
          <p:cNvSpPr/>
          <p:nvPr/>
        </p:nvSpPr>
        <p:spPr>
          <a:xfrm>
            <a:off x="1962711" y="284774"/>
            <a:ext cx="2183263" cy="743575"/>
          </a:xfrm>
          <a:prstGeom prst="roundRect">
            <a:avLst>
              <a:gd name="adj" fmla="val 5000"/>
            </a:avLst>
          </a:prstGeom>
          <a:solidFill>
            <a:srgbClr val="EDF3FA"/>
          </a:solidFill>
          <a:ln w="7290">
            <a:solidFill>
              <a:srgbClr val="C3D4E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8" name="TextBox 6223">
            <a:extLst>
              <a:ext uri="{FF2B5EF4-FFF2-40B4-BE49-F238E27FC236}">
                <a16:creationId xmlns:a16="http://schemas.microsoft.com/office/drawing/2014/main" id="{D0BEE622-6A06-FAEC-A1B9-E12DAFA59B95}"/>
              </a:ext>
            </a:extLst>
          </p:cNvPr>
          <p:cNvSpPr txBox="1"/>
          <p:nvPr/>
        </p:nvSpPr>
        <p:spPr>
          <a:xfrm>
            <a:off x="1962711" y="310561"/>
            <a:ext cx="2183263" cy="106632"/>
          </a:xfrm>
          <a:prstGeom prst="rect">
            <a:avLst/>
          </a:prstGeom>
          <a:noFill/>
        </p:spPr>
        <p:txBody>
          <a:bodyPr wrap="square" lIns="0" tIns="0" rIns="0" bIns="0" anchor="ctr">
            <a:spAutoFit/>
          </a:bodyPr>
          <a:lstStyle/>
          <a:p>
            <a:pPr algn="ctr">
              <a:lnSpc>
                <a:spcPct val="105000"/>
              </a:lnSpc>
            </a:pPr>
            <a:r>
              <a:rPr sz="709">
                <a:solidFill>
                  <a:srgbClr val="263442"/>
                </a:solidFill>
                <a:latin typeface="Arial"/>
              </a:rPr>
              <a:t>3D voxel U-Net</a:t>
            </a:r>
          </a:p>
        </p:txBody>
      </p:sp>
      <p:sp>
        <p:nvSpPr>
          <p:cNvPr id="239" name="TextBox 6224">
            <a:extLst>
              <a:ext uri="{FF2B5EF4-FFF2-40B4-BE49-F238E27FC236}">
                <a16:creationId xmlns:a16="http://schemas.microsoft.com/office/drawing/2014/main" id="{6162AD09-868A-9802-DD3F-493AE18E658B}"/>
              </a:ext>
            </a:extLst>
          </p:cNvPr>
          <p:cNvSpPr txBox="1"/>
          <p:nvPr/>
        </p:nvSpPr>
        <p:spPr>
          <a:xfrm>
            <a:off x="1962566" y="415407"/>
            <a:ext cx="2183414" cy="84510"/>
          </a:xfrm>
          <a:prstGeom prst="rect">
            <a:avLst/>
          </a:prstGeom>
          <a:noFill/>
        </p:spPr>
        <p:txBody>
          <a:bodyPr wrap="square" lIns="0" tIns="0" rIns="0" bIns="0" anchor="ctr">
            <a:spAutoFit/>
          </a:bodyPr>
          <a:lstStyle/>
          <a:p>
            <a:pPr algn="ctr">
              <a:lnSpc>
                <a:spcPct val="105000"/>
              </a:lnSpc>
            </a:pPr>
            <a:r>
              <a:rPr sz="562" i="1" dirty="0">
                <a:solidFill>
                  <a:srgbClr val="263442"/>
                </a:solidFill>
                <a:latin typeface="Arial"/>
              </a:rPr>
              <a:t>Skip connections</a:t>
            </a:r>
          </a:p>
        </p:txBody>
      </p:sp>
      <p:sp>
        <p:nvSpPr>
          <p:cNvPr id="240" name="TextBox 10003">
            <a:extLst>
              <a:ext uri="{FF2B5EF4-FFF2-40B4-BE49-F238E27FC236}">
                <a16:creationId xmlns:a16="http://schemas.microsoft.com/office/drawing/2014/main" id="{09C48FDC-7786-8263-4A08-E75021FC8287}"/>
              </a:ext>
            </a:extLst>
          </p:cNvPr>
          <p:cNvSpPr txBox="1"/>
          <p:nvPr/>
        </p:nvSpPr>
        <p:spPr>
          <a:xfrm>
            <a:off x="2128828"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Encoder</a:t>
            </a:r>
          </a:p>
        </p:txBody>
      </p:sp>
      <p:sp>
        <p:nvSpPr>
          <p:cNvPr id="241" name="TextBox 10004">
            <a:extLst>
              <a:ext uri="{FF2B5EF4-FFF2-40B4-BE49-F238E27FC236}">
                <a16:creationId xmlns:a16="http://schemas.microsoft.com/office/drawing/2014/main" id="{5D7C6AF6-28C5-C78C-2A6D-53148E9C5409}"/>
              </a:ext>
            </a:extLst>
          </p:cNvPr>
          <p:cNvSpPr txBox="1"/>
          <p:nvPr/>
        </p:nvSpPr>
        <p:spPr>
          <a:xfrm>
            <a:off x="2777479"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Bottleneck</a:t>
            </a:r>
          </a:p>
        </p:txBody>
      </p:sp>
      <p:sp>
        <p:nvSpPr>
          <p:cNvPr id="242" name="TextBox 10005">
            <a:extLst>
              <a:ext uri="{FF2B5EF4-FFF2-40B4-BE49-F238E27FC236}">
                <a16:creationId xmlns:a16="http://schemas.microsoft.com/office/drawing/2014/main" id="{7CC49EB1-DBD1-A7E7-516D-CECCC1D041F1}"/>
              </a:ext>
            </a:extLst>
          </p:cNvPr>
          <p:cNvSpPr txBox="1"/>
          <p:nvPr/>
        </p:nvSpPr>
        <p:spPr>
          <a:xfrm>
            <a:off x="3426130"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Decoder</a:t>
            </a:r>
          </a:p>
        </p:txBody>
      </p:sp>
      <p:sp>
        <p:nvSpPr>
          <p:cNvPr id="243" name="Find | Point Transformer V3 box">
            <a:extLst>
              <a:ext uri="{FF2B5EF4-FFF2-40B4-BE49-F238E27FC236}">
                <a16:creationId xmlns:a16="http://schemas.microsoft.com/office/drawing/2014/main" id="{E6BB0EBE-E97F-0460-89AE-378626BAD4D7}"/>
              </a:ext>
            </a:extLst>
          </p:cNvPr>
          <p:cNvSpPr/>
          <p:nvPr/>
        </p:nvSpPr>
        <p:spPr>
          <a:xfrm>
            <a:off x="1962711" y="1170736"/>
            <a:ext cx="2183263" cy="585368"/>
          </a:xfrm>
          <a:prstGeom prst="roundRect">
            <a:avLst>
              <a:gd name="adj" fmla="val 5000"/>
            </a:avLst>
          </a:prstGeom>
          <a:solidFill>
            <a:srgbClr val="EDF3FA"/>
          </a:solidFill>
          <a:ln w="7290">
            <a:solidFill>
              <a:srgbClr val="C3D4E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grpSp>
        <p:nvGrpSpPr>
          <p:cNvPr id="244" name="Find | PTV3 stage 1 (no pseudo)">
            <a:extLst>
              <a:ext uri="{FF2B5EF4-FFF2-40B4-BE49-F238E27FC236}">
                <a16:creationId xmlns:a16="http://schemas.microsoft.com/office/drawing/2014/main" id="{B4F71929-AC06-8CA3-B3DD-0D60585A9033}"/>
              </a:ext>
            </a:extLst>
          </p:cNvPr>
          <p:cNvGrpSpPr/>
          <p:nvPr/>
        </p:nvGrpSpPr>
        <p:grpSpPr>
          <a:xfrm>
            <a:off x="2053680" y="1222153"/>
            <a:ext cx="276863" cy="197759"/>
            <a:chOff x="1837958" y="1438830"/>
            <a:chExt cx="279225" cy="243090"/>
          </a:xfrm>
        </p:grpSpPr>
        <p:sp>
          <p:nvSpPr>
            <p:cNvPr id="245" name="rect_1844">
              <a:extLst>
                <a:ext uri="{FF2B5EF4-FFF2-40B4-BE49-F238E27FC236}">
                  <a16:creationId xmlns:a16="http://schemas.microsoft.com/office/drawing/2014/main" id="{660AA888-4092-6DA6-78D3-4B888E2B2DA3}"/>
                </a:ext>
              </a:extLst>
            </p:cNvPr>
            <p:cNvSpPr/>
            <p:nvPr/>
          </p:nvSpPr>
          <p:spPr>
            <a:xfrm>
              <a:off x="1837958" y="1438830"/>
              <a:ext cx="279225" cy="243090"/>
            </a:xfrm>
            <a:prstGeom prst="roundRect">
              <a:avLst>
                <a:gd name="adj" fmla="val 6757"/>
              </a:avLst>
            </a:prstGeom>
            <a:solidFill>
              <a:srgbClr val="F8F5FC"/>
            </a:solidFill>
            <a:ln w="2540" cap="rnd" cmpd="sng" algn="ctr">
              <a:solidFill>
                <a:srgbClr val="C3D4E6"/>
              </a:solidFill>
              <a:prstDash val="solid"/>
              <a:round/>
              <a:headEnd type="none" w="med" len="med"/>
              <a:tailEnd type="none" w="med" len="med"/>
            </a:ln>
            <a:effectLst/>
          </p:spPr>
        </p:sp>
        <p:sp>
          <p:nvSpPr>
            <p:cNvPr id="246" name="ellipse_1845">
              <a:extLst>
                <a:ext uri="{FF2B5EF4-FFF2-40B4-BE49-F238E27FC236}">
                  <a16:creationId xmlns:a16="http://schemas.microsoft.com/office/drawing/2014/main" id="{8ED69D04-8A29-A5B5-FEDE-87DBF5A86A21}"/>
                </a:ext>
              </a:extLst>
            </p:cNvPr>
            <p:cNvSpPr/>
            <p:nvPr/>
          </p:nvSpPr>
          <p:spPr>
            <a:xfrm>
              <a:off x="1911179" y="154988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7" name="ellipse_1846">
              <a:extLst>
                <a:ext uri="{FF2B5EF4-FFF2-40B4-BE49-F238E27FC236}">
                  <a16:creationId xmlns:a16="http://schemas.microsoft.com/office/drawing/2014/main" id="{2F757B70-05BB-1D52-EAD7-99F943EE0786}"/>
                </a:ext>
              </a:extLst>
            </p:cNvPr>
            <p:cNvSpPr/>
            <p:nvPr/>
          </p:nvSpPr>
          <p:spPr>
            <a:xfrm>
              <a:off x="2016057" y="15691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8" name="ellipse_1847">
              <a:extLst>
                <a:ext uri="{FF2B5EF4-FFF2-40B4-BE49-F238E27FC236}">
                  <a16:creationId xmlns:a16="http://schemas.microsoft.com/office/drawing/2014/main" id="{33900347-5FB5-F6C0-81F6-93C079B537C5}"/>
                </a:ext>
              </a:extLst>
            </p:cNvPr>
            <p:cNvSpPr/>
            <p:nvPr/>
          </p:nvSpPr>
          <p:spPr>
            <a:xfrm>
              <a:off x="1901005" y="1463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9" name="ellipse_1848">
              <a:extLst>
                <a:ext uri="{FF2B5EF4-FFF2-40B4-BE49-F238E27FC236}">
                  <a16:creationId xmlns:a16="http://schemas.microsoft.com/office/drawing/2014/main" id="{D9E3B372-BB0F-C9A4-3974-A8E7AF7737B7}"/>
                </a:ext>
              </a:extLst>
            </p:cNvPr>
            <p:cNvSpPr/>
            <p:nvPr/>
          </p:nvSpPr>
          <p:spPr>
            <a:xfrm>
              <a:off x="1966917" y="149122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0" name="ellipse_1849">
              <a:extLst>
                <a:ext uri="{FF2B5EF4-FFF2-40B4-BE49-F238E27FC236}">
                  <a16:creationId xmlns:a16="http://schemas.microsoft.com/office/drawing/2014/main" id="{65731899-DB97-2E91-5665-E8C978110F71}"/>
                </a:ext>
              </a:extLst>
            </p:cNvPr>
            <p:cNvSpPr/>
            <p:nvPr/>
          </p:nvSpPr>
          <p:spPr>
            <a:xfrm>
              <a:off x="1981202" y="14619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1" name="ellipse_1850">
              <a:extLst>
                <a:ext uri="{FF2B5EF4-FFF2-40B4-BE49-F238E27FC236}">
                  <a16:creationId xmlns:a16="http://schemas.microsoft.com/office/drawing/2014/main" id="{FB870BF7-7DC4-B374-8AD0-46EC506BB29E}"/>
                </a:ext>
              </a:extLst>
            </p:cNvPr>
            <p:cNvSpPr/>
            <p:nvPr/>
          </p:nvSpPr>
          <p:spPr>
            <a:xfrm>
              <a:off x="2025801" y="15227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2" name="ellipse_1851">
              <a:extLst>
                <a:ext uri="{FF2B5EF4-FFF2-40B4-BE49-F238E27FC236}">
                  <a16:creationId xmlns:a16="http://schemas.microsoft.com/office/drawing/2014/main" id="{FB5210B2-4DAF-5841-3925-445BB6BA8E65}"/>
                </a:ext>
              </a:extLst>
            </p:cNvPr>
            <p:cNvSpPr/>
            <p:nvPr/>
          </p:nvSpPr>
          <p:spPr>
            <a:xfrm>
              <a:off x="1923657" y="157409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3" name="ellipse_1852">
              <a:extLst>
                <a:ext uri="{FF2B5EF4-FFF2-40B4-BE49-F238E27FC236}">
                  <a16:creationId xmlns:a16="http://schemas.microsoft.com/office/drawing/2014/main" id="{5E297BB0-4B0B-7393-6335-0A8D413997FE}"/>
                </a:ext>
              </a:extLst>
            </p:cNvPr>
            <p:cNvSpPr/>
            <p:nvPr/>
          </p:nvSpPr>
          <p:spPr>
            <a:xfrm>
              <a:off x="2046951" y="149268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4" name="ellipse_1853">
              <a:extLst>
                <a:ext uri="{FF2B5EF4-FFF2-40B4-BE49-F238E27FC236}">
                  <a16:creationId xmlns:a16="http://schemas.microsoft.com/office/drawing/2014/main" id="{3460EDB7-F270-4A51-230E-76F07C518E5B}"/>
                </a:ext>
              </a:extLst>
            </p:cNvPr>
            <p:cNvSpPr/>
            <p:nvPr/>
          </p:nvSpPr>
          <p:spPr>
            <a:xfrm>
              <a:off x="1971403" y="1621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5" name="ellipse_1854">
              <a:extLst>
                <a:ext uri="{FF2B5EF4-FFF2-40B4-BE49-F238E27FC236}">
                  <a16:creationId xmlns:a16="http://schemas.microsoft.com/office/drawing/2014/main" id="{D7F22E2B-29AF-AAFC-9390-4763B76AC824}"/>
                </a:ext>
              </a:extLst>
            </p:cNvPr>
            <p:cNvSpPr/>
            <p:nvPr/>
          </p:nvSpPr>
          <p:spPr>
            <a:xfrm>
              <a:off x="1916632" y="148370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56" name="Find | PTV3 stage 2 (no pseudo)">
            <a:extLst>
              <a:ext uri="{FF2B5EF4-FFF2-40B4-BE49-F238E27FC236}">
                <a16:creationId xmlns:a16="http://schemas.microsoft.com/office/drawing/2014/main" id="{F4A044B8-F6CD-9A28-3075-23E9F1427BD6}"/>
              </a:ext>
            </a:extLst>
          </p:cNvPr>
          <p:cNvGrpSpPr/>
          <p:nvPr/>
        </p:nvGrpSpPr>
        <p:grpSpPr>
          <a:xfrm>
            <a:off x="2484443" y="1218198"/>
            <a:ext cx="269656" cy="205670"/>
            <a:chOff x="2276505" y="1465110"/>
            <a:chExt cx="243090" cy="190530"/>
          </a:xfrm>
        </p:grpSpPr>
        <p:sp>
          <p:nvSpPr>
            <p:cNvPr id="257" name="rect_1860">
              <a:extLst>
                <a:ext uri="{FF2B5EF4-FFF2-40B4-BE49-F238E27FC236}">
                  <a16:creationId xmlns:a16="http://schemas.microsoft.com/office/drawing/2014/main" id="{2A2BC9FE-9931-3C68-E213-012D2334D100}"/>
                </a:ext>
              </a:extLst>
            </p:cNvPr>
            <p:cNvSpPr/>
            <p:nvPr/>
          </p:nvSpPr>
          <p:spPr>
            <a:xfrm>
              <a:off x="2276505" y="1465110"/>
              <a:ext cx="243090" cy="190530"/>
            </a:xfrm>
            <a:prstGeom prst="roundRect">
              <a:avLst>
                <a:gd name="adj" fmla="val 8621"/>
              </a:avLst>
            </a:prstGeom>
            <a:solidFill>
              <a:srgbClr val="F8F5FC"/>
            </a:solidFill>
            <a:ln w="2540" cap="rnd" cmpd="sng" algn="ctr">
              <a:solidFill>
                <a:srgbClr val="C3D4E6"/>
              </a:solidFill>
              <a:prstDash val="solid"/>
              <a:round/>
              <a:headEnd type="none" w="med" len="med"/>
              <a:tailEnd type="none" w="med" len="med"/>
            </a:ln>
            <a:effectLst/>
          </p:spPr>
        </p:sp>
        <p:sp>
          <p:nvSpPr>
            <p:cNvPr id="258" name="ellipse_1861">
              <a:extLst>
                <a:ext uri="{FF2B5EF4-FFF2-40B4-BE49-F238E27FC236}">
                  <a16:creationId xmlns:a16="http://schemas.microsoft.com/office/drawing/2014/main" id="{0D3FC1DA-E4D9-46A0-549F-86D3BA55D6FD}"/>
                </a:ext>
              </a:extLst>
            </p:cNvPr>
            <p:cNvSpPr/>
            <p:nvPr/>
          </p:nvSpPr>
          <p:spPr>
            <a:xfrm>
              <a:off x="2443383" y="14753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9" name="ellipse_1862">
              <a:extLst>
                <a:ext uri="{FF2B5EF4-FFF2-40B4-BE49-F238E27FC236}">
                  <a16:creationId xmlns:a16="http://schemas.microsoft.com/office/drawing/2014/main" id="{2E76A36E-124A-FF28-5F0C-9D8A556CAB6E}"/>
                </a:ext>
              </a:extLst>
            </p:cNvPr>
            <p:cNvSpPr/>
            <p:nvPr/>
          </p:nvSpPr>
          <p:spPr>
            <a:xfrm>
              <a:off x="2334302" y="149054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0" name="ellipse_1863">
              <a:extLst>
                <a:ext uri="{FF2B5EF4-FFF2-40B4-BE49-F238E27FC236}">
                  <a16:creationId xmlns:a16="http://schemas.microsoft.com/office/drawing/2014/main" id="{D535EE24-6485-F339-2CB7-F9EF085CB943}"/>
                </a:ext>
              </a:extLst>
            </p:cNvPr>
            <p:cNvSpPr/>
            <p:nvPr/>
          </p:nvSpPr>
          <p:spPr>
            <a:xfrm>
              <a:off x="2421391" y="151821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1" name="ellipse_1864">
              <a:extLst>
                <a:ext uri="{FF2B5EF4-FFF2-40B4-BE49-F238E27FC236}">
                  <a16:creationId xmlns:a16="http://schemas.microsoft.com/office/drawing/2014/main" id="{3E3B8E8E-0D51-B463-1AC5-8ABBD0D94E5F}"/>
                </a:ext>
              </a:extLst>
            </p:cNvPr>
            <p:cNvSpPr/>
            <p:nvPr/>
          </p:nvSpPr>
          <p:spPr>
            <a:xfrm>
              <a:off x="2395798" y="148175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2" name="ellipse_1865">
              <a:extLst>
                <a:ext uri="{FF2B5EF4-FFF2-40B4-BE49-F238E27FC236}">
                  <a16:creationId xmlns:a16="http://schemas.microsoft.com/office/drawing/2014/main" id="{A78CC97C-CF00-B4B4-232A-6540F415567F}"/>
                </a:ext>
              </a:extLst>
            </p:cNvPr>
            <p:cNvSpPr/>
            <p:nvPr/>
          </p:nvSpPr>
          <p:spPr>
            <a:xfrm>
              <a:off x="2345071" y="160888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3" name="ellipse_1866">
              <a:extLst>
                <a:ext uri="{FF2B5EF4-FFF2-40B4-BE49-F238E27FC236}">
                  <a16:creationId xmlns:a16="http://schemas.microsoft.com/office/drawing/2014/main" id="{1C7DD56E-5535-8B2E-615C-21EEB3FC0B60}"/>
                </a:ext>
              </a:extLst>
            </p:cNvPr>
            <p:cNvSpPr/>
            <p:nvPr/>
          </p:nvSpPr>
          <p:spPr>
            <a:xfrm>
              <a:off x="2455927" y="15235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4" name="ellipse_1867">
              <a:extLst>
                <a:ext uri="{FF2B5EF4-FFF2-40B4-BE49-F238E27FC236}">
                  <a16:creationId xmlns:a16="http://schemas.microsoft.com/office/drawing/2014/main" id="{53E5DFEF-A738-E1E2-6D82-562898867479}"/>
                </a:ext>
              </a:extLst>
            </p:cNvPr>
            <p:cNvSpPr/>
            <p:nvPr/>
          </p:nvSpPr>
          <p:spPr>
            <a:xfrm>
              <a:off x="2415612" y="15382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5" name="ellipse_1868">
              <a:extLst>
                <a:ext uri="{FF2B5EF4-FFF2-40B4-BE49-F238E27FC236}">
                  <a16:creationId xmlns:a16="http://schemas.microsoft.com/office/drawing/2014/main" id="{9F15DB89-4578-E9D4-B66C-9772D337DE92}"/>
                </a:ext>
              </a:extLst>
            </p:cNvPr>
            <p:cNvSpPr/>
            <p:nvPr/>
          </p:nvSpPr>
          <p:spPr>
            <a:xfrm>
              <a:off x="2384162" y="155385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66" name="Find | PTV3 stage 3 (no pseudo)">
            <a:extLst>
              <a:ext uri="{FF2B5EF4-FFF2-40B4-BE49-F238E27FC236}">
                <a16:creationId xmlns:a16="http://schemas.microsoft.com/office/drawing/2014/main" id="{8E5AF76E-A5D2-A1C4-1196-A1FB989CBECC}"/>
              </a:ext>
            </a:extLst>
          </p:cNvPr>
          <p:cNvGrpSpPr/>
          <p:nvPr/>
        </p:nvGrpSpPr>
        <p:grpSpPr>
          <a:xfrm>
            <a:off x="2932283" y="1230063"/>
            <a:ext cx="244120" cy="181939"/>
            <a:chOff x="2703555" y="1491390"/>
            <a:chExt cx="190530" cy="137970"/>
          </a:xfrm>
        </p:grpSpPr>
        <p:sp>
          <p:nvSpPr>
            <p:cNvPr id="267" name="rect_1874">
              <a:extLst>
                <a:ext uri="{FF2B5EF4-FFF2-40B4-BE49-F238E27FC236}">
                  <a16:creationId xmlns:a16="http://schemas.microsoft.com/office/drawing/2014/main" id="{75101B77-5988-FEB7-22BD-46F0384ADBC8}"/>
                </a:ext>
              </a:extLst>
            </p:cNvPr>
            <p:cNvSpPr/>
            <p:nvPr/>
          </p:nvSpPr>
          <p:spPr>
            <a:xfrm>
              <a:off x="2703555" y="1491390"/>
              <a:ext cx="190530" cy="137970"/>
            </a:xfrm>
            <a:prstGeom prst="roundRect">
              <a:avLst>
                <a:gd name="adj" fmla="val 11905"/>
              </a:avLst>
            </a:prstGeom>
            <a:solidFill>
              <a:srgbClr val="F8F5FC"/>
            </a:solidFill>
            <a:ln w="2540" cap="rnd" cmpd="sng" algn="ctr">
              <a:solidFill>
                <a:srgbClr val="C3D4E6"/>
              </a:solidFill>
              <a:prstDash val="solid"/>
              <a:round/>
              <a:headEnd type="none" w="med" len="med"/>
              <a:tailEnd type="none" w="med" len="med"/>
            </a:ln>
            <a:effectLst/>
          </p:spPr>
        </p:sp>
        <p:sp>
          <p:nvSpPr>
            <p:cNvPr id="268" name="ellipse_1875">
              <a:extLst>
                <a:ext uri="{FF2B5EF4-FFF2-40B4-BE49-F238E27FC236}">
                  <a16:creationId xmlns:a16="http://schemas.microsoft.com/office/drawing/2014/main" id="{0F3768B9-45DC-D239-6ECE-6B199905A0E6}"/>
                </a:ext>
              </a:extLst>
            </p:cNvPr>
            <p:cNvSpPr/>
            <p:nvPr/>
          </p:nvSpPr>
          <p:spPr>
            <a:xfrm>
              <a:off x="2782342" y="152486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9" name="ellipse_1876">
              <a:extLst>
                <a:ext uri="{FF2B5EF4-FFF2-40B4-BE49-F238E27FC236}">
                  <a16:creationId xmlns:a16="http://schemas.microsoft.com/office/drawing/2014/main" id="{9AC2E9D9-EA81-CB60-9668-376E55C3B65A}"/>
                </a:ext>
              </a:extLst>
            </p:cNvPr>
            <p:cNvSpPr/>
            <p:nvPr/>
          </p:nvSpPr>
          <p:spPr>
            <a:xfrm>
              <a:off x="2750750" y="159446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0" name="ellipse_1877">
              <a:extLst>
                <a:ext uri="{FF2B5EF4-FFF2-40B4-BE49-F238E27FC236}">
                  <a16:creationId xmlns:a16="http://schemas.microsoft.com/office/drawing/2014/main" id="{193512C0-B984-BF26-53B2-A4C133832B19}"/>
                </a:ext>
              </a:extLst>
            </p:cNvPr>
            <p:cNvSpPr/>
            <p:nvPr/>
          </p:nvSpPr>
          <p:spPr>
            <a:xfrm>
              <a:off x="2743887" y="14971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1" name="ellipse_1878">
              <a:extLst>
                <a:ext uri="{FF2B5EF4-FFF2-40B4-BE49-F238E27FC236}">
                  <a16:creationId xmlns:a16="http://schemas.microsoft.com/office/drawing/2014/main" id="{010957FC-182F-1FF9-1554-385555C7E5BB}"/>
                </a:ext>
              </a:extLst>
            </p:cNvPr>
            <p:cNvSpPr/>
            <p:nvPr/>
          </p:nvSpPr>
          <p:spPr>
            <a:xfrm>
              <a:off x="2833390" y="151132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2" name="ellipse_1879">
              <a:extLst>
                <a:ext uri="{FF2B5EF4-FFF2-40B4-BE49-F238E27FC236}">
                  <a16:creationId xmlns:a16="http://schemas.microsoft.com/office/drawing/2014/main" id="{D3BED3D3-6945-FBFB-0ADC-29AB3D61D264}"/>
                </a:ext>
              </a:extLst>
            </p:cNvPr>
            <p:cNvSpPr/>
            <p:nvPr/>
          </p:nvSpPr>
          <p:spPr>
            <a:xfrm>
              <a:off x="2831792" y="156772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73" name="Find | PTV3 stage 4 (no pseudo)">
            <a:extLst>
              <a:ext uri="{FF2B5EF4-FFF2-40B4-BE49-F238E27FC236}">
                <a16:creationId xmlns:a16="http://schemas.microsoft.com/office/drawing/2014/main" id="{6152C243-7C11-72B4-655A-F6C20103F058}"/>
              </a:ext>
            </a:extLst>
          </p:cNvPr>
          <p:cNvGrpSpPr/>
          <p:nvPr/>
        </p:nvGrpSpPr>
        <p:grpSpPr>
          <a:xfrm>
            <a:off x="3354586" y="1218198"/>
            <a:ext cx="269656" cy="205670"/>
            <a:chOff x="3097755" y="1465110"/>
            <a:chExt cx="243090" cy="190530"/>
          </a:xfrm>
        </p:grpSpPr>
        <p:sp>
          <p:nvSpPr>
            <p:cNvPr id="274" name="rect_1885">
              <a:extLst>
                <a:ext uri="{FF2B5EF4-FFF2-40B4-BE49-F238E27FC236}">
                  <a16:creationId xmlns:a16="http://schemas.microsoft.com/office/drawing/2014/main" id="{02A84936-E0C4-22EE-AB39-B8147866C1E6}"/>
                </a:ext>
              </a:extLst>
            </p:cNvPr>
            <p:cNvSpPr/>
            <p:nvPr/>
          </p:nvSpPr>
          <p:spPr>
            <a:xfrm>
              <a:off x="3097755" y="1465110"/>
              <a:ext cx="243090" cy="190530"/>
            </a:xfrm>
            <a:prstGeom prst="roundRect">
              <a:avLst>
                <a:gd name="adj" fmla="val 8621"/>
              </a:avLst>
            </a:prstGeom>
            <a:solidFill>
              <a:srgbClr val="F8F5FC"/>
            </a:solidFill>
            <a:ln w="2540" cap="rnd" cmpd="sng" algn="ctr">
              <a:solidFill>
                <a:srgbClr val="C3D4E6"/>
              </a:solidFill>
              <a:prstDash val="solid"/>
              <a:round/>
              <a:headEnd type="none" w="med" len="med"/>
              <a:tailEnd type="none" w="med" len="med"/>
            </a:ln>
            <a:effectLst/>
          </p:spPr>
        </p:sp>
        <p:sp>
          <p:nvSpPr>
            <p:cNvPr id="275" name="ellipse_1886">
              <a:extLst>
                <a:ext uri="{FF2B5EF4-FFF2-40B4-BE49-F238E27FC236}">
                  <a16:creationId xmlns:a16="http://schemas.microsoft.com/office/drawing/2014/main" id="{28C5B77C-D4DA-25CA-7F5E-FFB406D4948B}"/>
                </a:ext>
              </a:extLst>
            </p:cNvPr>
            <p:cNvSpPr/>
            <p:nvPr/>
          </p:nvSpPr>
          <p:spPr>
            <a:xfrm>
              <a:off x="3274804" y="154785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6" name="ellipse_1887">
              <a:extLst>
                <a:ext uri="{FF2B5EF4-FFF2-40B4-BE49-F238E27FC236}">
                  <a16:creationId xmlns:a16="http://schemas.microsoft.com/office/drawing/2014/main" id="{4B9C2CC8-3618-CEA6-223F-481DE7645A74}"/>
                </a:ext>
              </a:extLst>
            </p:cNvPr>
            <p:cNvSpPr/>
            <p:nvPr/>
          </p:nvSpPr>
          <p:spPr>
            <a:xfrm>
              <a:off x="3235593" y="156879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7" name="ellipse_1888">
              <a:extLst>
                <a:ext uri="{FF2B5EF4-FFF2-40B4-BE49-F238E27FC236}">
                  <a16:creationId xmlns:a16="http://schemas.microsoft.com/office/drawing/2014/main" id="{116AA07D-1658-6583-2048-22DAA979C713}"/>
                </a:ext>
              </a:extLst>
            </p:cNvPr>
            <p:cNvSpPr/>
            <p:nvPr/>
          </p:nvSpPr>
          <p:spPr>
            <a:xfrm>
              <a:off x="3215524" y="154839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8" name="ellipse_1889">
              <a:extLst>
                <a:ext uri="{FF2B5EF4-FFF2-40B4-BE49-F238E27FC236}">
                  <a16:creationId xmlns:a16="http://schemas.microsoft.com/office/drawing/2014/main" id="{B9996B1C-4365-A5B2-A0FA-BEEE1AE3580D}"/>
                </a:ext>
              </a:extLst>
            </p:cNvPr>
            <p:cNvSpPr/>
            <p:nvPr/>
          </p:nvSpPr>
          <p:spPr>
            <a:xfrm>
              <a:off x="3114632" y="15799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9" name="ellipse_1890">
              <a:extLst>
                <a:ext uri="{FF2B5EF4-FFF2-40B4-BE49-F238E27FC236}">
                  <a16:creationId xmlns:a16="http://schemas.microsoft.com/office/drawing/2014/main" id="{B24EA66B-C475-FD74-3653-99240EA2FC7D}"/>
                </a:ext>
              </a:extLst>
            </p:cNvPr>
            <p:cNvSpPr/>
            <p:nvPr/>
          </p:nvSpPr>
          <p:spPr>
            <a:xfrm>
              <a:off x="3288227" y="158414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0" name="ellipse_1891">
              <a:extLst>
                <a:ext uri="{FF2B5EF4-FFF2-40B4-BE49-F238E27FC236}">
                  <a16:creationId xmlns:a16="http://schemas.microsoft.com/office/drawing/2014/main" id="{7C05A257-A858-E4EC-CE72-2E262BB52B07}"/>
                </a:ext>
              </a:extLst>
            </p:cNvPr>
            <p:cNvSpPr/>
            <p:nvPr/>
          </p:nvSpPr>
          <p:spPr>
            <a:xfrm>
              <a:off x="3206468" y="16100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1" name="ellipse_1892">
              <a:extLst>
                <a:ext uri="{FF2B5EF4-FFF2-40B4-BE49-F238E27FC236}">
                  <a16:creationId xmlns:a16="http://schemas.microsoft.com/office/drawing/2014/main" id="{5029BF78-C694-94BA-2390-D6FC0A6BFD81}"/>
                </a:ext>
              </a:extLst>
            </p:cNvPr>
            <p:cNvSpPr/>
            <p:nvPr/>
          </p:nvSpPr>
          <p:spPr>
            <a:xfrm>
              <a:off x="3224851" y="161218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2" name="ellipse_1893">
              <a:extLst>
                <a:ext uri="{FF2B5EF4-FFF2-40B4-BE49-F238E27FC236}">
                  <a16:creationId xmlns:a16="http://schemas.microsoft.com/office/drawing/2014/main" id="{B400169A-5E49-FEE5-1915-FCB9E751F312}"/>
                </a:ext>
              </a:extLst>
            </p:cNvPr>
            <p:cNvSpPr/>
            <p:nvPr/>
          </p:nvSpPr>
          <p:spPr>
            <a:xfrm>
              <a:off x="3255857" y="14772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83" name="Find | PTV3 stage 5 (no pseudo)">
            <a:extLst>
              <a:ext uri="{FF2B5EF4-FFF2-40B4-BE49-F238E27FC236}">
                <a16:creationId xmlns:a16="http://schemas.microsoft.com/office/drawing/2014/main" id="{FE5D4BB8-AE08-CFDC-14F9-58D62B643799}"/>
              </a:ext>
            </a:extLst>
          </p:cNvPr>
          <p:cNvGrpSpPr/>
          <p:nvPr/>
        </p:nvGrpSpPr>
        <p:grpSpPr>
          <a:xfrm>
            <a:off x="3778141" y="1222153"/>
            <a:ext cx="276863" cy="197759"/>
            <a:chOff x="3473888" y="1438830"/>
            <a:chExt cx="279225" cy="243090"/>
          </a:xfrm>
        </p:grpSpPr>
        <p:sp>
          <p:nvSpPr>
            <p:cNvPr id="284" name="rect_1899">
              <a:extLst>
                <a:ext uri="{FF2B5EF4-FFF2-40B4-BE49-F238E27FC236}">
                  <a16:creationId xmlns:a16="http://schemas.microsoft.com/office/drawing/2014/main" id="{3C966A44-931E-3C61-C3E2-9910BF785D0E}"/>
                </a:ext>
              </a:extLst>
            </p:cNvPr>
            <p:cNvSpPr/>
            <p:nvPr/>
          </p:nvSpPr>
          <p:spPr>
            <a:xfrm>
              <a:off x="3473888" y="1438830"/>
              <a:ext cx="279225" cy="243090"/>
            </a:xfrm>
            <a:prstGeom prst="roundRect">
              <a:avLst>
                <a:gd name="adj" fmla="val 6757"/>
              </a:avLst>
            </a:prstGeom>
            <a:solidFill>
              <a:srgbClr val="F8F5FC"/>
            </a:solidFill>
            <a:ln w="2540" cap="rnd" cmpd="sng" algn="ctr">
              <a:solidFill>
                <a:srgbClr val="C3D4E6"/>
              </a:solidFill>
              <a:prstDash val="solid"/>
              <a:round/>
              <a:headEnd type="none" w="med" len="med"/>
              <a:tailEnd type="none" w="med" len="med"/>
            </a:ln>
            <a:effectLst/>
          </p:spPr>
        </p:sp>
        <p:sp>
          <p:nvSpPr>
            <p:cNvPr id="285" name="ellipse_1900">
              <a:extLst>
                <a:ext uri="{FF2B5EF4-FFF2-40B4-BE49-F238E27FC236}">
                  <a16:creationId xmlns:a16="http://schemas.microsoft.com/office/drawing/2014/main" id="{0734BB70-ADDB-68EE-E4C9-F1E9F19AF6E7}"/>
                </a:ext>
              </a:extLst>
            </p:cNvPr>
            <p:cNvSpPr/>
            <p:nvPr/>
          </p:nvSpPr>
          <p:spPr>
            <a:xfrm>
              <a:off x="3538819" y="148253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6" name="ellipse_1901">
              <a:extLst>
                <a:ext uri="{FF2B5EF4-FFF2-40B4-BE49-F238E27FC236}">
                  <a16:creationId xmlns:a16="http://schemas.microsoft.com/office/drawing/2014/main" id="{50CDA3FC-9E47-A0FF-54FE-0B291B80C55E}"/>
                </a:ext>
              </a:extLst>
            </p:cNvPr>
            <p:cNvSpPr/>
            <p:nvPr/>
          </p:nvSpPr>
          <p:spPr>
            <a:xfrm>
              <a:off x="3631999" y="157809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7" name="ellipse_1902">
              <a:extLst>
                <a:ext uri="{FF2B5EF4-FFF2-40B4-BE49-F238E27FC236}">
                  <a16:creationId xmlns:a16="http://schemas.microsoft.com/office/drawing/2014/main" id="{FDEE2D57-7D4E-037C-452C-66A797AB07C9}"/>
                </a:ext>
              </a:extLst>
            </p:cNvPr>
            <p:cNvSpPr/>
            <p:nvPr/>
          </p:nvSpPr>
          <p:spPr>
            <a:xfrm>
              <a:off x="3687564" y="15901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8" name="ellipse_1903">
              <a:extLst>
                <a:ext uri="{FF2B5EF4-FFF2-40B4-BE49-F238E27FC236}">
                  <a16:creationId xmlns:a16="http://schemas.microsoft.com/office/drawing/2014/main" id="{B2C7060E-B2BB-F02D-5B6F-B7D323B087B4}"/>
                </a:ext>
              </a:extLst>
            </p:cNvPr>
            <p:cNvSpPr/>
            <p:nvPr/>
          </p:nvSpPr>
          <p:spPr>
            <a:xfrm>
              <a:off x="3686262" y="162539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9" name="ellipse_1904">
              <a:extLst>
                <a:ext uri="{FF2B5EF4-FFF2-40B4-BE49-F238E27FC236}">
                  <a16:creationId xmlns:a16="http://schemas.microsoft.com/office/drawing/2014/main" id="{7DE1C447-AFD4-DD7C-5DE0-0E96E8153D12}"/>
                </a:ext>
              </a:extLst>
            </p:cNvPr>
            <p:cNvSpPr/>
            <p:nvPr/>
          </p:nvSpPr>
          <p:spPr>
            <a:xfrm>
              <a:off x="3673847" y="145725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0" name="ellipse_1905">
              <a:extLst>
                <a:ext uri="{FF2B5EF4-FFF2-40B4-BE49-F238E27FC236}">
                  <a16:creationId xmlns:a16="http://schemas.microsoft.com/office/drawing/2014/main" id="{536BBD44-5D8E-E642-7EFE-DC301B9D3F7F}"/>
                </a:ext>
              </a:extLst>
            </p:cNvPr>
            <p:cNvSpPr/>
            <p:nvPr/>
          </p:nvSpPr>
          <p:spPr>
            <a:xfrm>
              <a:off x="3580150" y="160304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1" name="ellipse_1906">
              <a:extLst>
                <a:ext uri="{FF2B5EF4-FFF2-40B4-BE49-F238E27FC236}">
                  <a16:creationId xmlns:a16="http://schemas.microsoft.com/office/drawing/2014/main" id="{2D018CC6-8BB4-0573-830A-62F9771BB455}"/>
                </a:ext>
              </a:extLst>
            </p:cNvPr>
            <p:cNvSpPr/>
            <p:nvPr/>
          </p:nvSpPr>
          <p:spPr>
            <a:xfrm>
              <a:off x="3499431" y="147999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2" name="ellipse_1907">
              <a:extLst>
                <a:ext uri="{FF2B5EF4-FFF2-40B4-BE49-F238E27FC236}">
                  <a16:creationId xmlns:a16="http://schemas.microsoft.com/office/drawing/2014/main" id="{3D9BABC9-7179-80DF-931B-76C5D153BFA2}"/>
                </a:ext>
              </a:extLst>
            </p:cNvPr>
            <p:cNvSpPr/>
            <p:nvPr/>
          </p:nvSpPr>
          <p:spPr>
            <a:xfrm>
              <a:off x="3698498" y="163375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3" name="ellipse_1908">
              <a:extLst>
                <a:ext uri="{FF2B5EF4-FFF2-40B4-BE49-F238E27FC236}">
                  <a16:creationId xmlns:a16="http://schemas.microsoft.com/office/drawing/2014/main" id="{BF41BEF8-8F67-637A-F426-1015DD3C37FC}"/>
                </a:ext>
              </a:extLst>
            </p:cNvPr>
            <p:cNvSpPr/>
            <p:nvPr/>
          </p:nvSpPr>
          <p:spPr>
            <a:xfrm>
              <a:off x="3664475" y="160668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4" name="ellipse_1909">
              <a:extLst>
                <a:ext uri="{FF2B5EF4-FFF2-40B4-BE49-F238E27FC236}">
                  <a16:creationId xmlns:a16="http://schemas.microsoft.com/office/drawing/2014/main" id="{E57407DB-12F2-A10B-73ED-904E74E89684}"/>
                </a:ext>
              </a:extLst>
            </p:cNvPr>
            <p:cNvSpPr/>
            <p:nvPr/>
          </p:nvSpPr>
          <p:spPr>
            <a:xfrm>
              <a:off x="3577670" y="157500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sp>
        <p:nvSpPr>
          <p:cNvPr id="297" name="TextBox 12152">
            <a:extLst>
              <a:ext uri="{FF2B5EF4-FFF2-40B4-BE49-F238E27FC236}">
                <a16:creationId xmlns:a16="http://schemas.microsoft.com/office/drawing/2014/main" id="{DA95DC65-9861-CC7E-7EFC-4B9E07722C91}"/>
              </a:ext>
            </a:extLst>
          </p:cNvPr>
          <p:cNvSpPr txBox="1"/>
          <p:nvPr/>
        </p:nvSpPr>
        <p:spPr>
          <a:xfrm>
            <a:off x="1962711" y="1615773"/>
            <a:ext cx="2183263" cy="106632"/>
          </a:xfrm>
          <a:prstGeom prst="rect">
            <a:avLst/>
          </a:prstGeom>
          <a:noFill/>
        </p:spPr>
        <p:txBody>
          <a:bodyPr wrap="square" lIns="0" tIns="0" rIns="0" bIns="0" anchor="ctr">
            <a:spAutoFit/>
          </a:bodyPr>
          <a:lstStyle/>
          <a:p>
            <a:pPr algn="ctr">
              <a:lnSpc>
                <a:spcPct val="105000"/>
              </a:lnSpc>
            </a:pPr>
            <a:r>
              <a:rPr sz="709">
                <a:solidFill>
                  <a:srgbClr val="263442"/>
                </a:solidFill>
                <a:latin typeface="Arial"/>
              </a:rPr>
              <a:t>Point Transformer V3</a:t>
            </a:r>
          </a:p>
        </p:txBody>
      </p:sp>
      <p:sp>
        <p:nvSpPr>
          <p:cNvPr id="298" name="TextBox 12153">
            <a:extLst>
              <a:ext uri="{FF2B5EF4-FFF2-40B4-BE49-F238E27FC236}">
                <a16:creationId xmlns:a16="http://schemas.microsoft.com/office/drawing/2014/main" id="{522E41DD-5F6E-76BD-E92F-5CBA886A651B}"/>
              </a:ext>
            </a:extLst>
          </p:cNvPr>
          <p:cNvSpPr txBox="1"/>
          <p:nvPr/>
        </p:nvSpPr>
        <p:spPr>
          <a:xfrm>
            <a:off x="2809120" y="1058360"/>
            <a:ext cx="767306" cy="88422"/>
          </a:xfrm>
          <a:prstGeom prst="rect">
            <a:avLst/>
          </a:prstGeom>
          <a:noFill/>
        </p:spPr>
        <p:txBody>
          <a:bodyPr wrap="square" lIns="0" tIns="0" rIns="0" bIns="0" anchor="ctr">
            <a:spAutoFit/>
          </a:bodyPr>
          <a:lstStyle/>
          <a:p>
            <a:pPr algn="ctr">
              <a:lnSpc>
                <a:spcPct val="105000"/>
              </a:lnSpc>
            </a:pPr>
            <a:r>
              <a:rPr lang="en-US" sz="588" dirty="0">
                <a:solidFill>
                  <a:srgbClr val="263442"/>
                </a:solidFill>
                <a:latin typeface="Arial"/>
              </a:rPr>
              <a:t>F</a:t>
            </a:r>
            <a:r>
              <a:rPr sz="588" dirty="0">
                <a:solidFill>
                  <a:srgbClr val="263442"/>
                </a:solidFill>
                <a:latin typeface="Arial"/>
              </a:rPr>
              <a:t>usion</a:t>
            </a:r>
          </a:p>
        </p:txBody>
      </p:sp>
      <p:sp>
        <p:nvSpPr>
          <p:cNvPr id="299" name="Find | Blobs output card">
            <a:extLst>
              <a:ext uri="{FF2B5EF4-FFF2-40B4-BE49-F238E27FC236}">
                <a16:creationId xmlns:a16="http://schemas.microsoft.com/office/drawing/2014/main" id="{6A602B9B-DE58-7AA0-FDBA-741F60C78A9B}"/>
              </a:ext>
            </a:extLst>
          </p:cNvPr>
          <p:cNvSpPr/>
          <p:nvPr/>
        </p:nvSpPr>
        <p:spPr>
          <a:xfrm>
            <a:off x="4329930" y="284775"/>
            <a:ext cx="442980" cy="1471328"/>
          </a:xfrm>
          <a:prstGeom prst="roundRect">
            <a:avLst>
              <a:gd name="adj" fmla="val 6000"/>
            </a:avLst>
          </a:prstGeom>
          <a:solidFill>
            <a:srgbClr val="FFFFFF"/>
          </a:solidFill>
          <a:ln w="7290">
            <a:solidFill>
              <a:srgbClr val="CBD6E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300" name="TextBox 12155">
            <a:extLst>
              <a:ext uri="{FF2B5EF4-FFF2-40B4-BE49-F238E27FC236}">
                <a16:creationId xmlns:a16="http://schemas.microsoft.com/office/drawing/2014/main" id="{1F7C0F6F-D082-C8AA-DE11-4286EF42AADB}"/>
              </a:ext>
            </a:extLst>
          </p:cNvPr>
          <p:cNvSpPr txBox="1"/>
          <p:nvPr/>
        </p:nvSpPr>
        <p:spPr>
          <a:xfrm>
            <a:off x="4215551" y="307007"/>
            <a:ext cx="696113" cy="111954"/>
          </a:xfrm>
          <a:prstGeom prst="rect">
            <a:avLst/>
          </a:prstGeom>
          <a:noFill/>
        </p:spPr>
        <p:txBody>
          <a:bodyPr wrap="square" lIns="0" tIns="0" rIns="0" bIns="0" anchor="ctr">
            <a:spAutoFit/>
          </a:bodyPr>
          <a:lstStyle/>
          <a:p>
            <a:pPr algn="ctr">
              <a:lnSpc>
                <a:spcPct val="105000"/>
              </a:lnSpc>
            </a:pPr>
            <a:r>
              <a:rPr sz="744" dirty="0">
                <a:solidFill>
                  <a:srgbClr val="263442"/>
                </a:solidFill>
                <a:latin typeface="Arial"/>
              </a:rPr>
              <a:t>Blobs</a:t>
            </a:r>
          </a:p>
        </p:txBody>
      </p:sp>
      <p:sp>
        <p:nvSpPr>
          <p:cNvPr id="301" name="TextBox 12160">
            <a:extLst>
              <a:ext uri="{FF2B5EF4-FFF2-40B4-BE49-F238E27FC236}">
                <a16:creationId xmlns:a16="http://schemas.microsoft.com/office/drawing/2014/main" id="{EBF2AA16-9B52-B84F-43EE-03BA82B2D4CA}"/>
              </a:ext>
            </a:extLst>
          </p:cNvPr>
          <p:cNvSpPr txBox="1"/>
          <p:nvPr/>
        </p:nvSpPr>
        <p:spPr>
          <a:xfrm>
            <a:off x="677751" y="2090304"/>
            <a:ext cx="1186556" cy="107978"/>
          </a:xfrm>
          <a:prstGeom prst="rect">
            <a:avLst/>
          </a:prstGeom>
          <a:noFill/>
        </p:spPr>
        <p:txBody>
          <a:bodyPr wrap="square" lIns="0" tIns="0" rIns="0" bIns="0" anchor="ctr">
            <a:spAutoFit/>
          </a:bodyPr>
          <a:lstStyle/>
          <a:p>
            <a:pPr algn="l">
              <a:lnSpc>
                <a:spcPct val="105000"/>
              </a:lnSpc>
            </a:pPr>
            <a:r>
              <a:rPr sz="718" dirty="0">
                <a:solidFill>
                  <a:srgbClr val="263442"/>
                </a:solidFill>
                <a:latin typeface="Arial"/>
              </a:rPr>
              <a:t>Candidate encoder</a:t>
            </a:r>
          </a:p>
        </p:txBody>
      </p:sp>
      <p:sp>
        <p:nvSpPr>
          <p:cNvPr id="302" name="TextBox 12161">
            <a:extLst>
              <a:ext uri="{FF2B5EF4-FFF2-40B4-BE49-F238E27FC236}">
                <a16:creationId xmlns:a16="http://schemas.microsoft.com/office/drawing/2014/main" id="{1FD101AA-9130-CD96-6414-B193E6D36851}"/>
              </a:ext>
            </a:extLst>
          </p:cNvPr>
          <p:cNvSpPr txBox="1"/>
          <p:nvPr/>
        </p:nvSpPr>
        <p:spPr>
          <a:xfrm>
            <a:off x="2706672" y="2090304"/>
            <a:ext cx="1186556" cy="107978"/>
          </a:xfrm>
          <a:prstGeom prst="rect">
            <a:avLst/>
          </a:prstGeom>
          <a:noFill/>
        </p:spPr>
        <p:txBody>
          <a:bodyPr wrap="square" lIns="0" tIns="0" rIns="0" bIns="0" anchor="ctr">
            <a:spAutoFit/>
          </a:bodyPr>
          <a:lstStyle/>
          <a:p>
            <a:pPr algn="l">
              <a:lnSpc>
                <a:spcPct val="105000"/>
              </a:lnSpc>
            </a:pPr>
            <a:r>
              <a:rPr sz="718" dirty="0">
                <a:solidFill>
                  <a:srgbClr val="263442"/>
                </a:solidFill>
                <a:latin typeface="Arial"/>
              </a:rPr>
              <a:t>Identity encoder</a:t>
            </a:r>
          </a:p>
        </p:txBody>
      </p:sp>
      <p:sp>
        <p:nvSpPr>
          <p:cNvPr id="303" name="Match | Center divider">
            <a:extLst>
              <a:ext uri="{FF2B5EF4-FFF2-40B4-BE49-F238E27FC236}">
                <a16:creationId xmlns:a16="http://schemas.microsoft.com/office/drawing/2014/main" id="{5A593D05-94F5-C55B-C8C6-B8F9E86B08C6}"/>
              </a:ext>
            </a:extLst>
          </p:cNvPr>
          <p:cNvSpPr/>
          <p:nvPr/>
        </p:nvSpPr>
        <p:spPr>
          <a:xfrm>
            <a:off x="2617408" y="2119981"/>
            <a:ext cx="1" cy="1945952"/>
          </a:xfrm>
          <a:custGeom>
            <a:avLst/>
            <a:gdLst/>
            <a:ahLst/>
            <a:cxnLst/>
            <a:rect l="0" t="0" r="w" b="h"/>
            <a:pathLst>
              <a:path w="1" h="2249424">
                <a:moveTo>
                  <a:pt x="0" y="0"/>
                </a:moveTo>
                <a:lnTo>
                  <a:pt x="0" y="2249424"/>
                </a:lnTo>
              </a:path>
            </a:pathLst>
          </a:custGeom>
          <a:noFill/>
          <a:ln w="9525" cap="rnd" cmpd="sng" algn="ctr">
            <a:solidFill>
              <a:srgbClr val="D0E2DA"/>
            </a:solidFill>
            <a:prstDash val="solid"/>
            <a:round/>
            <a:headEnd type="none" w="med" len="med"/>
            <a:tailEnd type="none" w="med" len="med"/>
          </a:ln>
        </p:spPr>
      </p:sp>
      <p:sp>
        <p:nvSpPr>
          <p:cNvPr id="304" name="TextBox 12164">
            <a:extLst>
              <a:ext uri="{FF2B5EF4-FFF2-40B4-BE49-F238E27FC236}">
                <a16:creationId xmlns:a16="http://schemas.microsoft.com/office/drawing/2014/main" id="{DA6D9C81-D325-B373-1580-DEE13789E3EE}"/>
              </a:ext>
            </a:extLst>
          </p:cNvPr>
          <p:cNvSpPr txBox="1"/>
          <p:nvPr/>
        </p:nvSpPr>
        <p:spPr>
          <a:xfrm>
            <a:off x="669841" y="2270869"/>
            <a:ext cx="442981" cy="93744"/>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Receptor</a:t>
            </a:r>
          </a:p>
        </p:txBody>
      </p:sp>
      <p:sp>
        <p:nvSpPr>
          <p:cNvPr id="305" name="TextBox 12166">
            <a:extLst>
              <a:ext uri="{FF2B5EF4-FFF2-40B4-BE49-F238E27FC236}">
                <a16:creationId xmlns:a16="http://schemas.microsoft.com/office/drawing/2014/main" id="{6E830D7E-FC74-3019-18B2-DDE04B6E60D0}"/>
              </a:ext>
            </a:extLst>
          </p:cNvPr>
          <p:cNvSpPr txBox="1"/>
          <p:nvPr/>
        </p:nvSpPr>
        <p:spPr>
          <a:xfrm>
            <a:off x="1152374" y="2270869"/>
            <a:ext cx="442981" cy="93744"/>
          </a:xfrm>
          <a:prstGeom prst="rect">
            <a:avLst/>
          </a:prstGeom>
          <a:noFill/>
        </p:spPr>
        <p:txBody>
          <a:bodyPr wrap="square" lIns="0" tIns="0" rIns="0" bIns="0" anchor="ctr">
            <a:spAutoFit/>
          </a:bodyPr>
          <a:lstStyle/>
          <a:p>
            <a:pPr algn="ctr">
              <a:lnSpc>
                <a:spcPct val="105000"/>
              </a:lnSpc>
            </a:pPr>
            <a:r>
              <a:rPr sz="623" dirty="0">
                <a:solidFill>
                  <a:srgbClr val="263442"/>
                </a:solidFill>
                <a:latin typeface="Arial"/>
              </a:rPr>
              <a:t>Density</a:t>
            </a:r>
          </a:p>
        </p:txBody>
      </p:sp>
      <p:pic>
        <p:nvPicPr>
          <p:cNvPr id="306" name="Match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7A47CBDC-2732-4D0F-C4FF-972DA2F1AA3E}"/>
              </a:ext>
            </a:extLst>
          </p:cNvPr>
          <p:cNvPicPr/>
          <p:nvPr/>
        </p:nvPicPr>
        <p:blipFill>
          <a:blip r:embed="rId4"/>
          <a:stretch>
            <a:fillRect/>
          </a:stretch>
        </p:blipFill>
        <p:spPr>
          <a:xfrm>
            <a:off x="1199858" y="2380847"/>
            <a:ext cx="347980" cy="332276"/>
          </a:xfrm>
          <a:prstGeom prst="rect">
            <a:avLst/>
          </a:prstGeom>
        </p:spPr>
      </p:pic>
      <p:sp>
        <p:nvSpPr>
          <p:cNvPr id="526" name="TextBox 12168">
            <a:extLst>
              <a:ext uri="{FF2B5EF4-FFF2-40B4-BE49-F238E27FC236}">
                <a16:creationId xmlns:a16="http://schemas.microsoft.com/office/drawing/2014/main" id="{50BD09F1-2D4A-FA0A-7AF2-981DD7585F3A}"/>
              </a:ext>
            </a:extLst>
          </p:cNvPr>
          <p:cNvSpPr txBox="1"/>
          <p:nvPr/>
        </p:nvSpPr>
        <p:spPr>
          <a:xfrm>
            <a:off x="709890" y="2851277"/>
            <a:ext cx="340209" cy="97203"/>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Pocket</a:t>
            </a:r>
          </a:p>
        </p:txBody>
      </p:sp>
      <p:sp>
        <p:nvSpPr>
          <p:cNvPr id="613" name="TextBox 12177">
            <a:extLst>
              <a:ext uri="{FF2B5EF4-FFF2-40B4-BE49-F238E27FC236}">
                <a16:creationId xmlns:a16="http://schemas.microsoft.com/office/drawing/2014/main" id="{086F717F-C0B1-CD04-AFB8-166092CD717F}"/>
              </a:ext>
            </a:extLst>
          </p:cNvPr>
          <p:cNvSpPr txBox="1"/>
          <p:nvPr/>
        </p:nvSpPr>
        <p:spPr>
          <a:xfrm>
            <a:off x="1159452" y="2851277"/>
            <a:ext cx="340209" cy="97203"/>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Blob</a:t>
            </a:r>
          </a:p>
        </p:txBody>
      </p:sp>
      <p:grpSp>
        <p:nvGrpSpPr>
          <p:cNvPr id="614" name="Match | Blob contour">
            <a:extLst>
              <a:ext uri="{FF2B5EF4-FFF2-40B4-BE49-F238E27FC236}">
                <a16:creationId xmlns:a16="http://schemas.microsoft.com/office/drawing/2014/main" id="{ECF83E2A-3199-B09F-F90E-31DC9848C382}"/>
              </a:ext>
            </a:extLst>
          </p:cNvPr>
          <p:cNvGrpSpPr/>
          <p:nvPr/>
        </p:nvGrpSpPr>
        <p:grpSpPr>
          <a:xfrm>
            <a:off x="1183161" y="3036990"/>
            <a:ext cx="291608" cy="199265"/>
            <a:chOff x="1928706" y="3559489"/>
            <a:chExt cx="227897" cy="155682"/>
          </a:xfrm>
        </p:grpSpPr>
        <p:sp>
          <p:nvSpPr>
            <p:cNvPr id="615" name="Candidate blob | editable contour">
              <a:extLst>
                <a:ext uri="{FF2B5EF4-FFF2-40B4-BE49-F238E27FC236}">
                  <a16:creationId xmlns:a16="http://schemas.microsoft.com/office/drawing/2014/main" id="{513F782E-E1DE-1B64-68A9-FB54BE71715F}"/>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16" name="ellipse_2612">
              <a:extLst>
                <a:ext uri="{FF2B5EF4-FFF2-40B4-BE49-F238E27FC236}">
                  <a16:creationId xmlns:a16="http://schemas.microsoft.com/office/drawing/2014/main" id="{12A4650A-7359-9456-1843-A3C9E08B2497}"/>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18" name="TextBox 12186">
            <a:extLst>
              <a:ext uri="{FF2B5EF4-FFF2-40B4-BE49-F238E27FC236}">
                <a16:creationId xmlns:a16="http://schemas.microsoft.com/office/drawing/2014/main" id="{88505915-A113-7FAA-6C15-3F2B10F6D7CB}"/>
              </a:ext>
            </a:extLst>
          </p:cNvPr>
          <p:cNvSpPr txBox="1"/>
          <p:nvPr/>
        </p:nvSpPr>
        <p:spPr>
          <a:xfrm>
            <a:off x="1701262" y="2259965"/>
            <a:ext cx="286938" cy="92333"/>
          </a:xfrm>
          <a:prstGeom prst="rect">
            <a:avLst/>
          </a:prstGeom>
          <a:noFill/>
        </p:spPr>
        <p:txBody>
          <a:bodyPr wrap="none" lIns="0" tIns="0" rIns="0" bIns="0" anchor="ctr">
            <a:spAutoFit/>
          </a:bodyPr>
          <a:lstStyle/>
          <a:p>
            <a:pPr algn="ctr">
              <a:lnSpc>
                <a:spcPct val="105000"/>
              </a:lnSpc>
            </a:pPr>
            <a:r>
              <a:rPr sz="614">
                <a:solidFill>
                  <a:srgbClr val="263442"/>
                </a:solidFill>
                <a:latin typeface="Arial"/>
              </a:rPr>
              <a:t>48³ crop</a:t>
            </a:r>
          </a:p>
        </p:txBody>
      </p:sp>
      <p:grpSp>
        <p:nvGrpSpPr>
          <p:cNvPr id="619" name="48^3 crop 3D cube">
            <a:extLst>
              <a:ext uri="{FF2B5EF4-FFF2-40B4-BE49-F238E27FC236}">
                <a16:creationId xmlns:a16="http://schemas.microsoft.com/office/drawing/2014/main" id="{50441A72-5112-E010-1BBD-72FFF87A8B6E}"/>
              </a:ext>
            </a:extLst>
          </p:cNvPr>
          <p:cNvGrpSpPr/>
          <p:nvPr/>
        </p:nvGrpSpPr>
        <p:grpSpPr>
          <a:xfrm>
            <a:off x="1718368" y="2353114"/>
            <a:ext cx="251107" cy="197645"/>
            <a:chOff x="4043880" y="489960"/>
            <a:chExt cx="571680" cy="450000"/>
          </a:xfrm>
        </p:grpSpPr>
        <p:sp>
          <p:nvSpPr>
            <p:cNvPr id="620" name="asset_2027_0">
              <a:extLst>
                <a:ext uri="{FF2B5EF4-FFF2-40B4-BE49-F238E27FC236}">
                  <a16:creationId xmlns:a16="http://schemas.microsoft.com/office/drawing/2014/main" id="{2C26482F-D7D7-E3F6-FBCD-22AC82315E62}"/>
                </a:ext>
              </a:extLst>
            </p:cNvPr>
            <p:cNvSpPr>
              <a:spLocks noGrp="1"/>
            </p:cNvSpPr>
            <p:nvPr/>
          </p:nvSpPr>
          <p:spPr>
            <a:xfrm>
              <a:off x="4043880" y="489960"/>
              <a:ext cx="571680" cy="76500"/>
            </a:xfrm>
            <a:custGeom>
              <a:avLst/>
              <a:gdLst/>
              <a:ahLst/>
              <a:cxnLst/>
              <a:rect l="0" t="0" r="0" b="0"/>
              <a:pathLst>
                <a:path w="571680" h="76500">
                  <a:moveTo>
                    <a:pt x="0" y="76500"/>
                  </a:moveTo>
                  <a:lnTo>
                    <a:pt x="108619" y="0"/>
                  </a:lnTo>
                  <a:lnTo>
                    <a:pt x="571680" y="0"/>
                  </a:lnTo>
                  <a:lnTo>
                    <a:pt x="463061" y="76500"/>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621" name="asset_2027_1">
              <a:extLst>
                <a:ext uri="{FF2B5EF4-FFF2-40B4-BE49-F238E27FC236}">
                  <a16:creationId xmlns:a16="http://schemas.microsoft.com/office/drawing/2014/main" id="{F28AFBA7-0A71-99DE-9FF9-EBD0ADC1144C}"/>
                </a:ext>
              </a:extLst>
            </p:cNvPr>
            <p:cNvSpPr>
              <a:spLocks noGrp="1"/>
            </p:cNvSpPr>
            <p:nvPr/>
          </p:nvSpPr>
          <p:spPr>
            <a:xfrm>
              <a:off x="4506941" y="489960"/>
              <a:ext cx="108619" cy="450000"/>
            </a:xfrm>
            <a:custGeom>
              <a:avLst/>
              <a:gdLst/>
              <a:ahLst/>
              <a:cxnLst/>
              <a:rect l="0" t="0" r="0" b="0"/>
              <a:pathLst>
                <a:path w="108619" h="450000">
                  <a:moveTo>
                    <a:pt x="0" y="76500"/>
                  </a:moveTo>
                  <a:lnTo>
                    <a:pt x="108619" y="0"/>
                  </a:lnTo>
                  <a:lnTo>
                    <a:pt x="108619" y="373500"/>
                  </a:lnTo>
                  <a:lnTo>
                    <a:pt x="0" y="450000"/>
                  </a:lnTo>
                  <a:close/>
                </a:path>
              </a:pathLst>
            </a:custGeom>
            <a:solidFill>
              <a:srgbClr val="C9DFF3">
                <a:alpha val="22000"/>
              </a:srgbClr>
            </a:solidFill>
            <a:ln w="2700">
              <a:solidFill>
                <a:srgbClr val="A3C3E2"/>
              </a:solidFill>
            </a:ln>
          </p:spPr>
        </p:sp>
        <p:sp>
          <p:nvSpPr>
            <p:cNvPr id="622" name="asset_2027_2">
              <a:extLst>
                <a:ext uri="{FF2B5EF4-FFF2-40B4-BE49-F238E27FC236}">
                  <a16:creationId xmlns:a16="http://schemas.microsoft.com/office/drawing/2014/main" id="{97E064B3-0050-239C-C963-C5E4E31B84D2}"/>
                </a:ext>
              </a:extLst>
            </p:cNvPr>
            <p:cNvSpPr>
              <a:spLocks noGrp="1"/>
            </p:cNvSpPr>
            <p:nvPr/>
          </p:nvSpPr>
          <p:spPr>
            <a:xfrm>
              <a:off x="4043880" y="566460"/>
              <a:ext cx="463061" cy="373500"/>
            </a:xfrm>
            <a:prstGeom prst="rect">
              <a:avLst/>
            </a:prstGeom>
            <a:solidFill>
              <a:srgbClr val="E7F1FC">
                <a:alpha val="20000"/>
              </a:srgbClr>
            </a:solidFill>
            <a:ln w="2700">
              <a:solidFill>
                <a:srgbClr val="ABC9E7"/>
              </a:solidFill>
            </a:ln>
          </p:spPr>
        </p:sp>
        <p:sp>
          <p:nvSpPr>
            <p:cNvPr id="623" name="asset_2027_3">
              <a:extLst>
                <a:ext uri="{FF2B5EF4-FFF2-40B4-BE49-F238E27FC236}">
                  <a16:creationId xmlns:a16="http://schemas.microsoft.com/office/drawing/2014/main" id="{A2C54284-938E-B40D-7CE6-20A987BE1447}"/>
                </a:ext>
              </a:extLst>
            </p:cNvPr>
            <p:cNvSpPr>
              <a:spLocks noGrp="1"/>
            </p:cNvSpPr>
            <p:nvPr/>
          </p:nvSpPr>
          <p:spPr>
            <a:xfrm>
              <a:off x="4159645" y="566460"/>
              <a:ext cx="4" cy="373500"/>
            </a:xfrm>
            <a:prstGeom prst="line">
              <a:avLst/>
            </a:prstGeom>
            <a:noFill/>
            <a:ln w="1980">
              <a:solidFill>
                <a:srgbClr val="B8D2EB">
                  <a:alpha val="33000"/>
                </a:srgbClr>
              </a:solidFill>
            </a:ln>
          </p:spPr>
        </p:sp>
        <p:sp>
          <p:nvSpPr>
            <p:cNvPr id="624" name="asset_2027_4">
              <a:extLst>
                <a:ext uri="{FF2B5EF4-FFF2-40B4-BE49-F238E27FC236}">
                  <a16:creationId xmlns:a16="http://schemas.microsoft.com/office/drawing/2014/main" id="{0F8960CE-A059-8D07-91FB-C97F3078BCD9}"/>
                </a:ext>
              </a:extLst>
            </p:cNvPr>
            <p:cNvSpPr>
              <a:spLocks noGrp="1"/>
            </p:cNvSpPr>
            <p:nvPr/>
          </p:nvSpPr>
          <p:spPr>
            <a:xfrm>
              <a:off x="4043880" y="659835"/>
              <a:ext cx="463061" cy="4"/>
            </a:xfrm>
            <a:prstGeom prst="line">
              <a:avLst/>
            </a:prstGeom>
            <a:noFill/>
            <a:ln w="1980">
              <a:solidFill>
                <a:srgbClr val="B8D2EB">
                  <a:alpha val="33000"/>
                </a:srgbClr>
              </a:solidFill>
            </a:ln>
          </p:spPr>
        </p:sp>
        <p:sp>
          <p:nvSpPr>
            <p:cNvPr id="625" name="asset_2027_5">
              <a:extLst>
                <a:ext uri="{FF2B5EF4-FFF2-40B4-BE49-F238E27FC236}">
                  <a16:creationId xmlns:a16="http://schemas.microsoft.com/office/drawing/2014/main" id="{A5646F3B-E3B0-7C1C-2E27-F9E967647A65}"/>
                </a:ext>
              </a:extLst>
            </p:cNvPr>
            <p:cNvSpPr>
              <a:spLocks noGrp="1"/>
            </p:cNvSpPr>
            <p:nvPr/>
          </p:nvSpPr>
          <p:spPr>
            <a:xfrm>
              <a:off x="4275410" y="566460"/>
              <a:ext cx="4" cy="373500"/>
            </a:xfrm>
            <a:prstGeom prst="line">
              <a:avLst/>
            </a:prstGeom>
            <a:noFill/>
            <a:ln w="1980">
              <a:solidFill>
                <a:srgbClr val="B8D2EB">
                  <a:alpha val="33000"/>
                </a:srgbClr>
              </a:solidFill>
            </a:ln>
          </p:spPr>
        </p:sp>
        <p:sp>
          <p:nvSpPr>
            <p:cNvPr id="626" name="asset_2027_6">
              <a:extLst>
                <a:ext uri="{FF2B5EF4-FFF2-40B4-BE49-F238E27FC236}">
                  <a16:creationId xmlns:a16="http://schemas.microsoft.com/office/drawing/2014/main" id="{49CF1756-587C-D73A-CFD0-CE93821E4BC5}"/>
                </a:ext>
              </a:extLst>
            </p:cNvPr>
            <p:cNvSpPr>
              <a:spLocks noGrp="1"/>
            </p:cNvSpPr>
            <p:nvPr/>
          </p:nvSpPr>
          <p:spPr>
            <a:xfrm>
              <a:off x="4043880" y="753210"/>
              <a:ext cx="463061" cy="4"/>
            </a:xfrm>
            <a:prstGeom prst="line">
              <a:avLst/>
            </a:prstGeom>
            <a:noFill/>
            <a:ln w="1980">
              <a:solidFill>
                <a:srgbClr val="B8D2EB">
                  <a:alpha val="33000"/>
                </a:srgbClr>
              </a:solidFill>
            </a:ln>
          </p:spPr>
        </p:sp>
        <p:sp>
          <p:nvSpPr>
            <p:cNvPr id="627" name="asset_2027_7">
              <a:extLst>
                <a:ext uri="{FF2B5EF4-FFF2-40B4-BE49-F238E27FC236}">
                  <a16:creationId xmlns:a16="http://schemas.microsoft.com/office/drawing/2014/main" id="{617A40D8-F985-CF5E-C184-9CEE010688B0}"/>
                </a:ext>
              </a:extLst>
            </p:cNvPr>
            <p:cNvSpPr>
              <a:spLocks noGrp="1"/>
            </p:cNvSpPr>
            <p:nvPr/>
          </p:nvSpPr>
          <p:spPr>
            <a:xfrm>
              <a:off x="4391176" y="566460"/>
              <a:ext cx="4" cy="373500"/>
            </a:xfrm>
            <a:prstGeom prst="line">
              <a:avLst/>
            </a:prstGeom>
            <a:noFill/>
            <a:ln w="1980">
              <a:solidFill>
                <a:srgbClr val="B8D2EB">
                  <a:alpha val="33000"/>
                </a:srgbClr>
              </a:solidFill>
            </a:ln>
          </p:spPr>
        </p:sp>
        <p:sp>
          <p:nvSpPr>
            <p:cNvPr id="628" name="asset_2027_8">
              <a:extLst>
                <a:ext uri="{FF2B5EF4-FFF2-40B4-BE49-F238E27FC236}">
                  <a16:creationId xmlns:a16="http://schemas.microsoft.com/office/drawing/2014/main" id="{D74C2F96-9830-4E45-47CF-280DBDF3BBA6}"/>
                </a:ext>
              </a:extLst>
            </p:cNvPr>
            <p:cNvSpPr>
              <a:spLocks noGrp="1"/>
            </p:cNvSpPr>
            <p:nvPr/>
          </p:nvSpPr>
          <p:spPr>
            <a:xfrm>
              <a:off x="4043880" y="846585"/>
              <a:ext cx="463061" cy="4"/>
            </a:xfrm>
            <a:prstGeom prst="line">
              <a:avLst/>
            </a:prstGeom>
            <a:noFill/>
            <a:ln w="1980">
              <a:solidFill>
                <a:srgbClr val="B8D2EB">
                  <a:alpha val="33000"/>
                </a:srgbClr>
              </a:solidFill>
            </a:ln>
          </p:spPr>
        </p:sp>
        <p:sp>
          <p:nvSpPr>
            <p:cNvPr id="629" name="asset_2027_53">
              <a:extLst>
                <a:ext uri="{FF2B5EF4-FFF2-40B4-BE49-F238E27FC236}">
                  <a16:creationId xmlns:a16="http://schemas.microsoft.com/office/drawing/2014/main" id="{B57D82E4-2BD4-33AA-2164-941D5F47EC2E}"/>
                </a:ext>
              </a:extLst>
            </p:cNvPr>
            <p:cNvSpPr>
              <a:spLocks noGrp="1"/>
            </p:cNvSpPr>
            <p:nvPr/>
          </p:nvSpPr>
          <p:spPr>
            <a:xfrm>
              <a:off x="4043880" y="566460"/>
              <a:ext cx="463061" cy="373500"/>
            </a:xfrm>
            <a:custGeom>
              <a:avLst/>
              <a:gdLst/>
              <a:ahLst/>
              <a:cxnLst/>
              <a:rect l="0" t="0" r="0" b="0"/>
              <a:pathLst>
                <a:path w="463061" h="373500">
                  <a:moveTo>
                    <a:pt x="0" y="0"/>
                  </a:moveTo>
                  <a:lnTo>
                    <a:pt x="463061" y="0"/>
                  </a:lnTo>
                  <a:lnTo>
                    <a:pt x="463061" y="373500"/>
                  </a:lnTo>
                  <a:lnTo>
                    <a:pt x="0" y="373500"/>
                  </a:lnTo>
                  <a:close/>
                </a:path>
              </a:pathLst>
            </a:custGeom>
            <a:noFill/>
            <a:ln w="3600">
              <a:solidFill>
                <a:srgbClr val="8AB3D9"/>
              </a:solidFill>
            </a:ln>
          </p:spPr>
        </p:sp>
      </p:grpSp>
      <p:grpSp>
        <p:nvGrpSpPr>
          <p:cNvPr id="630" name="48^3 crop centered blob">
            <a:extLst>
              <a:ext uri="{FF2B5EF4-FFF2-40B4-BE49-F238E27FC236}">
                <a16:creationId xmlns:a16="http://schemas.microsoft.com/office/drawing/2014/main" id="{05F07842-8C1D-D758-5B6A-3324A46B243F}"/>
              </a:ext>
            </a:extLst>
          </p:cNvPr>
          <p:cNvGrpSpPr/>
          <p:nvPr/>
        </p:nvGrpSpPr>
        <p:grpSpPr>
          <a:xfrm>
            <a:off x="1781144" y="2424395"/>
            <a:ext cx="110568" cy="75332"/>
            <a:chOff x="1928706" y="3559489"/>
            <a:chExt cx="227897" cy="155682"/>
          </a:xfrm>
        </p:grpSpPr>
        <p:sp>
          <p:nvSpPr>
            <p:cNvPr id="631" name="Candidate blob | editable contour">
              <a:extLst>
                <a:ext uri="{FF2B5EF4-FFF2-40B4-BE49-F238E27FC236}">
                  <a16:creationId xmlns:a16="http://schemas.microsoft.com/office/drawing/2014/main" id="{9098312C-2F0E-B28B-B660-F9C51272B948}"/>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32" name="ellipse_2612">
              <a:extLst>
                <a:ext uri="{FF2B5EF4-FFF2-40B4-BE49-F238E27FC236}">
                  <a16:creationId xmlns:a16="http://schemas.microsoft.com/office/drawing/2014/main" id="{ACF53CE3-1C37-025F-02A8-70EEA8DCFD7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33" name="Blob centroid marker">
            <a:extLst>
              <a:ext uri="{FF2B5EF4-FFF2-40B4-BE49-F238E27FC236}">
                <a16:creationId xmlns:a16="http://schemas.microsoft.com/office/drawing/2014/main" id="{EDD959CF-D4D3-5624-F7B2-BF9345634585}"/>
              </a:ext>
            </a:extLst>
          </p:cNvPr>
          <p:cNvSpPr/>
          <p:nvPr/>
        </p:nvSpPr>
        <p:spPr>
          <a:xfrm>
            <a:off x="1824075" y="2450316"/>
            <a:ext cx="24301" cy="24301"/>
          </a:xfrm>
          <a:prstGeom prst="ellipse">
            <a:avLst/>
          </a:prstGeom>
          <a:solidFill>
            <a:srgbClr val="1D4ED8"/>
          </a:solidFill>
          <a:ln w="762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4" name="TextBox 12188">
            <a:extLst>
              <a:ext uri="{FF2B5EF4-FFF2-40B4-BE49-F238E27FC236}">
                <a16:creationId xmlns:a16="http://schemas.microsoft.com/office/drawing/2014/main" id="{2C0C5B7E-EB59-C12C-034A-66725ABF262F}"/>
              </a:ext>
            </a:extLst>
          </p:cNvPr>
          <p:cNvSpPr txBox="1"/>
          <p:nvPr/>
        </p:nvSpPr>
        <p:spPr>
          <a:xfrm>
            <a:off x="1659904" y="2614551"/>
            <a:ext cx="328616" cy="92333"/>
          </a:xfrm>
          <a:prstGeom prst="rect">
            <a:avLst/>
          </a:prstGeom>
          <a:noFill/>
        </p:spPr>
        <p:txBody>
          <a:bodyPr wrap="none" lIns="0" tIns="0" rIns="0" bIns="0" anchor="ctr">
            <a:spAutoFit/>
          </a:bodyPr>
          <a:lstStyle/>
          <a:p>
            <a:pPr algn="ctr">
              <a:lnSpc>
                <a:spcPct val="105000"/>
              </a:lnSpc>
            </a:pPr>
            <a:r>
              <a:rPr sz="614" dirty="0">
                <a:solidFill>
                  <a:srgbClr val="263442"/>
                </a:solidFill>
                <a:latin typeface="Arial"/>
              </a:rPr>
              <a:t>3D U-Net</a:t>
            </a:r>
          </a:p>
        </p:txBody>
      </p:sp>
      <p:sp>
        <p:nvSpPr>
          <p:cNvPr id="635" name="TextBox 12189">
            <a:extLst>
              <a:ext uri="{FF2B5EF4-FFF2-40B4-BE49-F238E27FC236}">
                <a16:creationId xmlns:a16="http://schemas.microsoft.com/office/drawing/2014/main" id="{8153BF98-6A0C-0786-710E-3D0EE8987AAA}"/>
              </a:ext>
            </a:extLst>
          </p:cNvPr>
          <p:cNvSpPr txBox="1"/>
          <p:nvPr/>
        </p:nvSpPr>
        <p:spPr>
          <a:xfrm>
            <a:off x="2077123" y="2623546"/>
            <a:ext cx="514564" cy="90218"/>
          </a:xfrm>
          <a:prstGeom prst="rect">
            <a:avLst/>
          </a:prstGeom>
          <a:noFill/>
        </p:spPr>
        <p:txBody>
          <a:bodyPr wrap="none" lIns="0" tIns="0" rIns="0" bIns="0" anchor="ctr">
            <a:spAutoFit/>
          </a:bodyPr>
          <a:lstStyle/>
          <a:p>
            <a:pPr algn="ctr">
              <a:lnSpc>
                <a:spcPct val="105000"/>
              </a:lnSpc>
            </a:pPr>
            <a:r>
              <a:rPr lang="en-US" sz="600" dirty="0">
                <a:solidFill>
                  <a:srgbClr val="263442"/>
                </a:solidFill>
                <a:latin typeface="Arial"/>
              </a:rPr>
              <a:t>B</a:t>
            </a:r>
            <a:r>
              <a:rPr lang="en-US" altLang="zh-CN" sz="600" dirty="0">
                <a:solidFill>
                  <a:srgbClr val="263442"/>
                </a:solidFill>
                <a:latin typeface="Arial"/>
              </a:rPr>
              <a:t>ase s</a:t>
            </a:r>
            <a:r>
              <a:rPr sz="600" dirty="0">
                <a:solidFill>
                  <a:srgbClr val="263442"/>
                </a:solidFill>
                <a:latin typeface="Arial"/>
              </a:rPr>
              <a:t>ummary</a:t>
            </a:r>
          </a:p>
        </p:txBody>
      </p:sp>
      <p:sp>
        <p:nvSpPr>
          <p:cNvPr id="636" name="Math | h_j^vox">
            <a:extLst>
              <a:ext uri="{FF2B5EF4-FFF2-40B4-BE49-F238E27FC236}">
                <a16:creationId xmlns:a16="http://schemas.microsoft.com/office/drawing/2014/main" id="{93EC2205-1821-C3E9-E08B-23B27F07452E}"/>
              </a:ext>
            </a:extLst>
          </p:cNvPr>
          <p:cNvSpPr txBox="1"/>
          <p:nvPr/>
        </p:nvSpPr>
        <p:spPr>
          <a:xfrm>
            <a:off x="2252881" y="2371206"/>
            <a:ext cx="169918" cy="126509"/>
          </a:xfrm>
          <a:prstGeom prst="rect">
            <a:avLst/>
          </a:prstGeom>
          <a:noFill/>
        </p:spPr>
        <p:txBody>
          <a:bodyPr wrap="none" lIns="0" tIns="0" rIns="0" bIns="0" anchor="ctr">
            <a:spAutoFit/>
          </a:bodyPr>
          <a:lstStyle/>
          <a:p>
            <a:pPr algn="ctr"/>
            <a:r>
              <a:rPr sz="855" i="1">
                <a:solidFill>
                  <a:srgbClr val="263442"/>
                </a:solidFill>
                <a:latin typeface="Times New Roman"/>
              </a:rPr>
              <a:t>h</a:t>
            </a:r>
            <a:r>
              <a:rPr sz="780" i="1" baseline="-28000">
                <a:solidFill>
                  <a:srgbClr val="263442"/>
                </a:solidFill>
                <a:latin typeface="Times New Roman"/>
              </a:rPr>
              <a:t>j</a:t>
            </a:r>
            <a:r>
              <a:rPr sz="780" baseline="32000">
                <a:solidFill>
                  <a:srgbClr val="263442"/>
                </a:solidFill>
                <a:latin typeface="Arial"/>
              </a:rPr>
              <a:t>vox</a:t>
            </a:r>
          </a:p>
        </p:txBody>
      </p:sp>
      <p:sp>
        <p:nvSpPr>
          <p:cNvPr id="637" name="Base summary bar_1">
            <a:extLst>
              <a:ext uri="{FF2B5EF4-FFF2-40B4-BE49-F238E27FC236}">
                <a16:creationId xmlns:a16="http://schemas.microsoft.com/office/drawing/2014/main" id="{99E9D3C4-A8BD-9C93-615E-C771AE07C8E3}"/>
              </a:ext>
            </a:extLst>
          </p:cNvPr>
          <p:cNvSpPr/>
          <p:nvPr/>
        </p:nvSpPr>
        <p:spPr>
          <a:xfrm>
            <a:off x="2156411" y="2549118"/>
            <a:ext cx="44072" cy="59328"/>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8" name="Base summary bar_2">
            <a:extLst>
              <a:ext uri="{FF2B5EF4-FFF2-40B4-BE49-F238E27FC236}">
                <a16:creationId xmlns:a16="http://schemas.microsoft.com/office/drawing/2014/main" id="{6BC787CE-AF83-7509-7C88-9AB58DB6F66F}"/>
              </a:ext>
            </a:extLst>
          </p:cNvPr>
          <p:cNvSpPr/>
          <p:nvPr/>
        </p:nvSpPr>
        <p:spPr>
          <a:xfrm>
            <a:off x="2204438" y="2549118"/>
            <a:ext cx="44072" cy="59328"/>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9" name="Base summary bar_3">
            <a:extLst>
              <a:ext uri="{FF2B5EF4-FFF2-40B4-BE49-F238E27FC236}">
                <a16:creationId xmlns:a16="http://schemas.microsoft.com/office/drawing/2014/main" id="{269240CC-07F6-8569-D6D0-2E898FDFE671}"/>
              </a:ext>
            </a:extLst>
          </p:cNvPr>
          <p:cNvSpPr/>
          <p:nvPr/>
        </p:nvSpPr>
        <p:spPr>
          <a:xfrm>
            <a:off x="2252465" y="2549118"/>
            <a:ext cx="44072" cy="59328"/>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0" name="Base summary bar_4">
            <a:extLst>
              <a:ext uri="{FF2B5EF4-FFF2-40B4-BE49-F238E27FC236}">
                <a16:creationId xmlns:a16="http://schemas.microsoft.com/office/drawing/2014/main" id="{D027E165-A9E7-E339-F192-6FC69D94CA5E}"/>
              </a:ext>
            </a:extLst>
          </p:cNvPr>
          <p:cNvSpPr/>
          <p:nvPr/>
        </p:nvSpPr>
        <p:spPr>
          <a:xfrm>
            <a:off x="2300493" y="2549118"/>
            <a:ext cx="44072" cy="59328"/>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1" name="Base summary bar_5">
            <a:extLst>
              <a:ext uri="{FF2B5EF4-FFF2-40B4-BE49-F238E27FC236}">
                <a16:creationId xmlns:a16="http://schemas.microsoft.com/office/drawing/2014/main" id="{AF544338-D23E-CE3C-A6B8-4FA37DCAD82E}"/>
              </a:ext>
            </a:extLst>
          </p:cNvPr>
          <p:cNvSpPr/>
          <p:nvPr/>
        </p:nvSpPr>
        <p:spPr>
          <a:xfrm>
            <a:off x="2348521" y="2549118"/>
            <a:ext cx="44072" cy="59328"/>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2" name="Base summary bar_6">
            <a:extLst>
              <a:ext uri="{FF2B5EF4-FFF2-40B4-BE49-F238E27FC236}">
                <a16:creationId xmlns:a16="http://schemas.microsoft.com/office/drawing/2014/main" id="{9F80EB35-B4A7-2FA2-7A0C-B02A9915E4EB}"/>
              </a:ext>
            </a:extLst>
          </p:cNvPr>
          <p:cNvSpPr/>
          <p:nvPr/>
        </p:nvSpPr>
        <p:spPr>
          <a:xfrm>
            <a:off x="2396548" y="2549118"/>
            <a:ext cx="44072" cy="59328"/>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3" name="Base summary bar_7">
            <a:extLst>
              <a:ext uri="{FF2B5EF4-FFF2-40B4-BE49-F238E27FC236}">
                <a16:creationId xmlns:a16="http://schemas.microsoft.com/office/drawing/2014/main" id="{763E1301-00D0-44E1-3425-288C0321EC85}"/>
              </a:ext>
            </a:extLst>
          </p:cNvPr>
          <p:cNvSpPr/>
          <p:nvPr/>
        </p:nvSpPr>
        <p:spPr>
          <a:xfrm>
            <a:off x="2444575" y="2549118"/>
            <a:ext cx="44072" cy="59328"/>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4" name="Op | Mean/max pool">
            <a:extLst>
              <a:ext uri="{FF2B5EF4-FFF2-40B4-BE49-F238E27FC236}">
                <a16:creationId xmlns:a16="http://schemas.microsoft.com/office/drawing/2014/main" id="{C4850A78-C957-EF45-0669-F1FA2501E311}"/>
              </a:ext>
            </a:extLst>
          </p:cNvPr>
          <p:cNvSpPr/>
          <p:nvPr/>
        </p:nvSpPr>
        <p:spPr>
          <a:xfrm>
            <a:off x="669841" y="3452879"/>
            <a:ext cx="617009"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Mean/max pool</a:t>
            </a:r>
          </a:p>
        </p:txBody>
      </p:sp>
      <p:sp>
        <p:nvSpPr>
          <p:cNvPr id="645" name="Op | Cross-attention">
            <a:extLst>
              <a:ext uri="{FF2B5EF4-FFF2-40B4-BE49-F238E27FC236}">
                <a16:creationId xmlns:a16="http://schemas.microsoft.com/office/drawing/2014/main" id="{11FEE5AE-99F9-B083-0D93-CFC8DBD07D63}"/>
              </a:ext>
            </a:extLst>
          </p:cNvPr>
          <p:cNvSpPr/>
          <p:nvPr/>
        </p:nvSpPr>
        <p:spPr>
          <a:xfrm>
            <a:off x="1365954" y="3452879"/>
            <a:ext cx="648651"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Cross-attention</a:t>
            </a:r>
          </a:p>
        </p:txBody>
      </p:sp>
      <p:sp>
        <p:nvSpPr>
          <p:cNvPr id="646" name="TextBox 12200">
            <a:extLst>
              <a:ext uri="{FF2B5EF4-FFF2-40B4-BE49-F238E27FC236}">
                <a16:creationId xmlns:a16="http://schemas.microsoft.com/office/drawing/2014/main" id="{884D8F93-171F-A6AB-A603-7E1006874447}"/>
              </a:ext>
            </a:extLst>
          </p:cNvPr>
          <p:cNvSpPr txBox="1"/>
          <p:nvPr/>
        </p:nvSpPr>
        <p:spPr>
          <a:xfrm>
            <a:off x="1735251" y="3370950"/>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647" name="Op | FiLM">
            <a:extLst>
              <a:ext uri="{FF2B5EF4-FFF2-40B4-BE49-F238E27FC236}">
                <a16:creationId xmlns:a16="http://schemas.microsoft.com/office/drawing/2014/main" id="{59F3449A-984C-C7E7-FC02-0C47B43E0DFD}"/>
              </a:ext>
            </a:extLst>
          </p:cNvPr>
          <p:cNvSpPr/>
          <p:nvPr/>
        </p:nvSpPr>
        <p:spPr>
          <a:xfrm>
            <a:off x="2156994" y="3738251"/>
            <a:ext cx="300518" cy="150259"/>
          </a:xfrm>
          <a:prstGeom prst="roundRect">
            <a:avLst>
              <a:gd name="adj" fmla="val 25000"/>
            </a:avLst>
          </a:prstGeom>
          <a:solidFill>
            <a:srgbClr val="EDE7F5"/>
          </a:solidFill>
          <a:ln w="7290">
            <a:solidFill>
              <a:srgbClr val="B8A9D9"/>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623">
                <a:solidFill>
                  <a:srgbClr val="263442"/>
                </a:solidFill>
                <a:latin typeface="Arial"/>
              </a:rPr>
              <a:t>FiLM</a:t>
            </a:r>
          </a:p>
        </p:txBody>
      </p:sp>
      <p:sp>
        <p:nvSpPr>
          <p:cNvPr id="648" name="TextBox 12202">
            <a:extLst>
              <a:ext uri="{FF2B5EF4-FFF2-40B4-BE49-F238E27FC236}">
                <a16:creationId xmlns:a16="http://schemas.microsoft.com/office/drawing/2014/main" id="{6F9F40E0-7819-CEA2-6131-C4ABBC19B945}"/>
              </a:ext>
            </a:extLst>
          </p:cNvPr>
          <p:cNvSpPr txBox="1"/>
          <p:nvPr/>
        </p:nvSpPr>
        <p:spPr>
          <a:xfrm>
            <a:off x="2097664" y="3430400"/>
            <a:ext cx="126566" cy="84510"/>
          </a:xfrm>
          <a:prstGeom prst="rect">
            <a:avLst/>
          </a:prstGeom>
          <a:noFill/>
        </p:spPr>
        <p:txBody>
          <a:bodyPr wrap="square" lIns="0" tIns="0" rIns="0" bIns="0" anchor="ctr">
            <a:spAutoFit/>
          </a:bodyPr>
          <a:lstStyle/>
          <a:p>
            <a:pPr algn="ctr">
              <a:lnSpc>
                <a:spcPct val="105000"/>
              </a:lnSpc>
            </a:pPr>
            <a:r>
              <a:rPr sz="562">
                <a:solidFill>
                  <a:srgbClr val="263442"/>
                </a:solidFill>
                <a:latin typeface="Arial"/>
              </a:rPr>
              <a:t>Q</a:t>
            </a:r>
          </a:p>
        </p:txBody>
      </p:sp>
      <p:sp>
        <p:nvSpPr>
          <p:cNvPr id="649" name="Op | MLP">
            <a:extLst>
              <a:ext uri="{FF2B5EF4-FFF2-40B4-BE49-F238E27FC236}">
                <a16:creationId xmlns:a16="http://schemas.microsoft.com/office/drawing/2014/main" id="{554F5441-96D3-CFD3-6A6E-CA8C906F4B29}"/>
              </a:ext>
            </a:extLst>
          </p:cNvPr>
          <p:cNvSpPr/>
          <p:nvPr/>
        </p:nvSpPr>
        <p:spPr>
          <a:xfrm>
            <a:off x="1160262" y="3738251"/>
            <a:ext cx="347904" cy="150259"/>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MLP</a:t>
            </a:r>
          </a:p>
        </p:txBody>
      </p:sp>
      <p:sp>
        <p:nvSpPr>
          <p:cNvPr id="650" name="h_j bar_1">
            <a:extLst>
              <a:ext uri="{FF2B5EF4-FFF2-40B4-BE49-F238E27FC236}">
                <a16:creationId xmlns:a16="http://schemas.microsoft.com/office/drawing/2014/main" id="{99BF7016-0AEC-5CA1-43D0-0CC405933ADD}"/>
              </a:ext>
            </a:extLst>
          </p:cNvPr>
          <p:cNvSpPr/>
          <p:nvPr/>
        </p:nvSpPr>
        <p:spPr>
          <a:xfrm>
            <a:off x="2141171" y="3989994"/>
            <a:ext cx="44072" cy="56955"/>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1" name="h_j bar_2">
            <a:extLst>
              <a:ext uri="{FF2B5EF4-FFF2-40B4-BE49-F238E27FC236}">
                <a16:creationId xmlns:a16="http://schemas.microsoft.com/office/drawing/2014/main" id="{71708831-906F-DB31-D516-DA6520DB6B6E}"/>
              </a:ext>
            </a:extLst>
          </p:cNvPr>
          <p:cNvSpPr/>
          <p:nvPr/>
        </p:nvSpPr>
        <p:spPr>
          <a:xfrm>
            <a:off x="2189198" y="3989994"/>
            <a:ext cx="44072" cy="56955"/>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2" name="h_j bar_3">
            <a:extLst>
              <a:ext uri="{FF2B5EF4-FFF2-40B4-BE49-F238E27FC236}">
                <a16:creationId xmlns:a16="http://schemas.microsoft.com/office/drawing/2014/main" id="{E1CF9CE6-644D-2199-D558-FB2748AF4CA8}"/>
              </a:ext>
            </a:extLst>
          </p:cNvPr>
          <p:cNvSpPr/>
          <p:nvPr/>
        </p:nvSpPr>
        <p:spPr>
          <a:xfrm>
            <a:off x="2237225" y="3989994"/>
            <a:ext cx="44072" cy="56955"/>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3" name="h_j bar_4">
            <a:extLst>
              <a:ext uri="{FF2B5EF4-FFF2-40B4-BE49-F238E27FC236}">
                <a16:creationId xmlns:a16="http://schemas.microsoft.com/office/drawing/2014/main" id="{0B1E11C4-B6B0-8410-69CA-ECA06B016C11}"/>
              </a:ext>
            </a:extLst>
          </p:cNvPr>
          <p:cNvSpPr/>
          <p:nvPr/>
        </p:nvSpPr>
        <p:spPr>
          <a:xfrm>
            <a:off x="2285253" y="3989994"/>
            <a:ext cx="44072" cy="56955"/>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4" name="h_j bar_5">
            <a:extLst>
              <a:ext uri="{FF2B5EF4-FFF2-40B4-BE49-F238E27FC236}">
                <a16:creationId xmlns:a16="http://schemas.microsoft.com/office/drawing/2014/main" id="{2A27D763-25D4-1A48-A9AB-8AE10B5867F3}"/>
              </a:ext>
            </a:extLst>
          </p:cNvPr>
          <p:cNvSpPr/>
          <p:nvPr/>
        </p:nvSpPr>
        <p:spPr>
          <a:xfrm>
            <a:off x="2333281" y="3989994"/>
            <a:ext cx="44072" cy="56955"/>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5" name="h_j bar_6">
            <a:extLst>
              <a:ext uri="{FF2B5EF4-FFF2-40B4-BE49-F238E27FC236}">
                <a16:creationId xmlns:a16="http://schemas.microsoft.com/office/drawing/2014/main" id="{CC2DBA64-D0DF-1160-5FEF-C265BF4EAB35}"/>
              </a:ext>
            </a:extLst>
          </p:cNvPr>
          <p:cNvSpPr/>
          <p:nvPr/>
        </p:nvSpPr>
        <p:spPr>
          <a:xfrm>
            <a:off x="2381308" y="3989994"/>
            <a:ext cx="44072" cy="56955"/>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6" name="h_j bar_7">
            <a:extLst>
              <a:ext uri="{FF2B5EF4-FFF2-40B4-BE49-F238E27FC236}">
                <a16:creationId xmlns:a16="http://schemas.microsoft.com/office/drawing/2014/main" id="{3E031F7D-E2D9-9D11-0526-4D352C453584}"/>
              </a:ext>
            </a:extLst>
          </p:cNvPr>
          <p:cNvSpPr/>
          <p:nvPr/>
        </p:nvSpPr>
        <p:spPr>
          <a:xfrm>
            <a:off x="2429335" y="3989994"/>
            <a:ext cx="44072" cy="56955"/>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7" name="Math | h_j^">
            <a:extLst>
              <a:ext uri="{FF2B5EF4-FFF2-40B4-BE49-F238E27FC236}">
                <a16:creationId xmlns:a16="http://schemas.microsoft.com/office/drawing/2014/main" id="{9AC920D3-16D2-273E-04D3-53357E82FB0E}"/>
              </a:ext>
            </a:extLst>
          </p:cNvPr>
          <p:cNvSpPr txBox="1"/>
          <p:nvPr/>
        </p:nvSpPr>
        <p:spPr>
          <a:xfrm>
            <a:off x="2026801" y="3947306"/>
            <a:ext cx="70532" cy="126509"/>
          </a:xfrm>
          <a:prstGeom prst="rect">
            <a:avLst/>
          </a:prstGeom>
          <a:noFill/>
        </p:spPr>
        <p:txBody>
          <a:bodyPr wrap="none" lIns="0" tIns="0" rIns="0" bIns="0" anchor="ctr">
            <a:spAutoFit/>
          </a:bodyPr>
          <a:lstStyle/>
          <a:p>
            <a:pPr algn="ctr"/>
            <a:r>
              <a:rPr sz="855" i="1">
                <a:solidFill>
                  <a:srgbClr val="263442"/>
                </a:solidFill>
                <a:latin typeface="Times New Roman"/>
              </a:rPr>
              <a:t>h</a:t>
            </a:r>
            <a:r>
              <a:rPr sz="780" i="1" baseline="-28000">
                <a:solidFill>
                  <a:srgbClr val="263442"/>
                </a:solidFill>
                <a:latin typeface="Times New Roman"/>
              </a:rPr>
              <a:t>j</a:t>
            </a:r>
          </a:p>
        </p:txBody>
      </p:sp>
      <p:sp>
        <p:nvSpPr>
          <p:cNvPr id="658" name="Op | Foreground head">
            <a:extLst>
              <a:ext uri="{FF2B5EF4-FFF2-40B4-BE49-F238E27FC236}">
                <a16:creationId xmlns:a16="http://schemas.microsoft.com/office/drawing/2014/main" id="{772C4BD8-070D-6A2C-3C5B-CCE55BD09041}"/>
              </a:ext>
            </a:extLst>
          </p:cNvPr>
          <p:cNvSpPr/>
          <p:nvPr/>
        </p:nvSpPr>
        <p:spPr>
          <a:xfrm>
            <a:off x="756855" y="4181937"/>
            <a:ext cx="696113"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Foreground head</a:t>
            </a:r>
          </a:p>
        </p:txBody>
      </p:sp>
      <p:sp>
        <p:nvSpPr>
          <p:cNvPr id="659" name="Math | p_j^fg">
            <a:extLst>
              <a:ext uri="{FF2B5EF4-FFF2-40B4-BE49-F238E27FC236}">
                <a16:creationId xmlns:a16="http://schemas.microsoft.com/office/drawing/2014/main" id="{04752E8A-9FFA-1739-18D7-365FF5D9A529}"/>
              </a:ext>
            </a:extLst>
          </p:cNvPr>
          <p:cNvSpPr txBox="1"/>
          <p:nvPr/>
        </p:nvSpPr>
        <p:spPr>
          <a:xfrm>
            <a:off x="1758300" y="4176444"/>
            <a:ext cx="121828" cy="122341"/>
          </a:xfrm>
          <a:prstGeom prst="rect">
            <a:avLst/>
          </a:prstGeom>
          <a:noFill/>
        </p:spPr>
        <p:txBody>
          <a:bodyPr wrap="none" lIns="0" tIns="0" rIns="0" bIns="0" anchor="ctr">
            <a:spAutoFit/>
          </a:bodyPr>
          <a:lstStyle/>
          <a:p>
            <a:pPr algn="ctr"/>
            <a:r>
              <a:rPr sz="827" i="1" dirty="0" err="1">
                <a:solidFill>
                  <a:srgbClr val="263442"/>
                </a:solidFill>
                <a:latin typeface="Times New Roman"/>
              </a:rPr>
              <a:t>p</a:t>
            </a:r>
            <a:r>
              <a:rPr sz="780" i="1" baseline="-28000" dirty="0" err="1">
                <a:solidFill>
                  <a:srgbClr val="263442"/>
                </a:solidFill>
                <a:latin typeface="Times New Roman"/>
              </a:rPr>
              <a:t>j</a:t>
            </a:r>
            <a:r>
              <a:rPr sz="780" baseline="32000" dirty="0" err="1">
                <a:solidFill>
                  <a:srgbClr val="263442"/>
                </a:solidFill>
                <a:latin typeface="Arial"/>
              </a:rPr>
              <a:t>fg</a:t>
            </a:r>
            <a:endParaRPr sz="780" baseline="32000" dirty="0">
              <a:solidFill>
                <a:srgbClr val="263442"/>
              </a:solidFill>
              <a:latin typeface="Arial"/>
            </a:endParaRPr>
          </a:p>
        </p:txBody>
      </p:sp>
      <p:sp>
        <p:nvSpPr>
          <p:cNvPr id="660" name="TextBox 12215">
            <a:extLst>
              <a:ext uri="{FF2B5EF4-FFF2-40B4-BE49-F238E27FC236}">
                <a16:creationId xmlns:a16="http://schemas.microsoft.com/office/drawing/2014/main" id="{C45D4B31-EE62-7047-2BD0-7D7B985DADC4}"/>
              </a:ext>
            </a:extLst>
          </p:cNvPr>
          <p:cNvSpPr txBox="1"/>
          <p:nvPr/>
        </p:nvSpPr>
        <p:spPr>
          <a:xfrm>
            <a:off x="1489562" y="4310121"/>
            <a:ext cx="666849" cy="79445"/>
          </a:xfrm>
          <a:prstGeom prst="rect">
            <a:avLst/>
          </a:prstGeom>
          <a:noFill/>
        </p:spPr>
        <p:txBody>
          <a:bodyPr wrap="none" lIns="0" tIns="0" rIns="0" bIns="0" anchor="ctr">
            <a:spAutoFit/>
          </a:bodyPr>
          <a:lstStyle/>
          <a:p>
            <a:pPr algn="l">
              <a:lnSpc>
                <a:spcPct val="105000"/>
              </a:lnSpc>
            </a:pPr>
            <a:r>
              <a:rPr sz="528" dirty="0">
                <a:solidFill>
                  <a:srgbClr val="263442"/>
                </a:solidFill>
                <a:latin typeface="Arial"/>
              </a:rPr>
              <a:t>Foreground probability</a:t>
            </a:r>
          </a:p>
        </p:txBody>
      </p:sp>
      <p:sp>
        <p:nvSpPr>
          <p:cNvPr id="661" name="TextBox 12216">
            <a:extLst>
              <a:ext uri="{FF2B5EF4-FFF2-40B4-BE49-F238E27FC236}">
                <a16:creationId xmlns:a16="http://schemas.microsoft.com/office/drawing/2014/main" id="{978E7CF5-ACF2-460D-26F2-9B198BAAC63B}"/>
              </a:ext>
            </a:extLst>
          </p:cNvPr>
          <p:cNvSpPr txBox="1"/>
          <p:nvPr/>
        </p:nvSpPr>
        <p:spPr>
          <a:xfrm>
            <a:off x="3026355" y="2206291"/>
            <a:ext cx="1195840" cy="88422"/>
          </a:xfrm>
          <a:prstGeom prst="rect">
            <a:avLst/>
          </a:prstGeom>
          <a:noFill/>
        </p:spPr>
        <p:txBody>
          <a:bodyPr wrap="none" lIns="0" tIns="0" rIns="0" bIns="0" anchor="ctr">
            <a:spAutoFit/>
          </a:bodyPr>
          <a:lstStyle/>
          <a:p>
            <a:pPr algn="ctr">
              <a:lnSpc>
                <a:spcPct val="105000"/>
              </a:lnSpc>
            </a:pPr>
            <a:r>
              <a:rPr sz="588">
                <a:solidFill>
                  <a:srgbClr val="263442"/>
                </a:solidFill>
                <a:latin typeface="Arial"/>
              </a:rPr>
              <a:t>User-provided SMILES · same PDB</a:t>
            </a:r>
          </a:p>
        </p:txBody>
      </p:sp>
      <p:sp>
        <p:nvSpPr>
          <p:cNvPr id="662" name="Identity | SMILES list card">
            <a:extLst>
              <a:ext uri="{FF2B5EF4-FFF2-40B4-BE49-F238E27FC236}">
                <a16:creationId xmlns:a16="http://schemas.microsoft.com/office/drawing/2014/main" id="{7DA7890B-AB79-9717-CAA6-1EEE08F32188}"/>
              </a:ext>
            </a:extLst>
          </p:cNvPr>
          <p:cNvSpPr/>
          <p:nvPr/>
        </p:nvSpPr>
        <p:spPr>
          <a:xfrm>
            <a:off x="3205025" y="2309830"/>
            <a:ext cx="838500" cy="512745"/>
          </a:xfrm>
          <a:prstGeom prst="roundRect">
            <a:avLst>
              <a:gd name="adj" fmla="val 6000"/>
            </a:avLst>
          </a:prstGeom>
          <a:solidFill>
            <a:srgbClr val="FFFFFF"/>
          </a:solidFill>
          <a:ln w="7290">
            <a:solidFill>
              <a:srgbClr val="CBD6E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3" name="TextBox 12218">
            <a:extLst>
              <a:ext uri="{FF2B5EF4-FFF2-40B4-BE49-F238E27FC236}">
                <a16:creationId xmlns:a16="http://schemas.microsoft.com/office/drawing/2014/main" id="{86BB59AD-D134-C7C6-AEC0-14F6157A5F0B}"/>
              </a:ext>
            </a:extLst>
          </p:cNvPr>
          <p:cNvSpPr txBox="1"/>
          <p:nvPr/>
        </p:nvSpPr>
        <p:spPr>
          <a:xfrm>
            <a:off x="3260398" y="2338063"/>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1   CCO</a:t>
            </a:r>
          </a:p>
        </p:txBody>
      </p:sp>
      <p:sp>
        <p:nvSpPr>
          <p:cNvPr id="664" name="TextBox 12219">
            <a:extLst>
              <a:ext uri="{FF2B5EF4-FFF2-40B4-BE49-F238E27FC236}">
                <a16:creationId xmlns:a16="http://schemas.microsoft.com/office/drawing/2014/main" id="{D5CEF1E2-0003-83A9-6C8B-869DF460C92C}"/>
              </a:ext>
            </a:extLst>
          </p:cNvPr>
          <p:cNvSpPr txBox="1"/>
          <p:nvPr/>
        </p:nvSpPr>
        <p:spPr>
          <a:xfrm>
            <a:off x="3260398" y="2440897"/>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2   CC(=O)O</a:t>
            </a:r>
          </a:p>
        </p:txBody>
      </p:sp>
      <p:sp>
        <p:nvSpPr>
          <p:cNvPr id="665" name="Identity | Selected k pill">
            <a:extLst>
              <a:ext uri="{FF2B5EF4-FFF2-40B4-BE49-F238E27FC236}">
                <a16:creationId xmlns:a16="http://schemas.microsoft.com/office/drawing/2014/main" id="{484884C0-9180-67EB-D183-0D32CB2F3899}"/>
              </a:ext>
            </a:extLst>
          </p:cNvPr>
          <p:cNvSpPr/>
          <p:nvPr/>
        </p:nvSpPr>
        <p:spPr>
          <a:xfrm>
            <a:off x="3236667" y="2562853"/>
            <a:ext cx="775217" cy="118656"/>
          </a:xfrm>
          <a:prstGeom prst="roundRect">
            <a:avLst>
              <a:gd name="adj" fmla="val 18000"/>
            </a:avLst>
          </a:prstGeom>
          <a:solidFill>
            <a:srgbClr val="DCFCE7"/>
          </a:solidFill>
          <a:ln w="8890">
            <a:solidFill>
              <a:srgbClr val="3E997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6" name="TextBox 12222">
            <a:extLst>
              <a:ext uri="{FF2B5EF4-FFF2-40B4-BE49-F238E27FC236}">
                <a16:creationId xmlns:a16="http://schemas.microsoft.com/office/drawing/2014/main" id="{AF18D027-6125-FBDF-9BCD-9060B5C5E099}"/>
              </a:ext>
            </a:extLst>
          </p:cNvPr>
          <p:cNvSpPr txBox="1"/>
          <p:nvPr/>
        </p:nvSpPr>
        <p:spPr>
          <a:xfrm>
            <a:off x="3268308" y="2585570"/>
            <a:ext cx="71193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k   Cc1ccccc1</a:t>
            </a:r>
          </a:p>
        </p:txBody>
      </p:sp>
      <p:sp>
        <p:nvSpPr>
          <p:cNvPr id="667" name="TextBox 12224">
            <a:extLst>
              <a:ext uri="{FF2B5EF4-FFF2-40B4-BE49-F238E27FC236}">
                <a16:creationId xmlns:a16="http://schemas.microsoft.com/office/drawing/2014/main" id="{4F02AD2D-3369-26A3-6D2F-44659C880CB7}"/>
              </a:ext>
            </a:extLst>
          </p:cNvPr>
          <p:cNvSpPr txBox="1"/>
          <p:nvPr/>
        </p:nvSpPr>
        <p:spPr>
          <a:xfrm>
            <a:off x="3260398" y="2714369"/>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K   CC(N)=O</a:t>
            </a:r>
          </a:p>
        </p:txBody>
      </p:sp>
      <p:sp>
        <p:nvSpPr>
          <p:cNvPr id="668" name="TextBox 12225">
            <a:extLst>
              <a:ext uri="{FF2B5EF4-FFF2-40B4-BE49-F238E27FC236}">
                <a16:creationId xmlns:a16="http://schemas.microsoft.com/office/drawing/2014/main" id="{3E613D72-90CB-62FD-E861-8FE6E2F065B8}"/>
              </a:ext>
            </a:extLst>
          </p:cNvPr>
          <p:cNvSpPr txBox="1"/>
          <p:nvPr/>
        </p:nvSpPr>
        <p:spPr>
          <a:xfrm>
            <a:off x="2741172" y="2643822"/>
            <a:ext cx="181140" cy="80599"/>
          </a:xfrm>
          <a:prstGeom prst="rect">
            <a:avLst/>
          </a:prstGeom>
          <a:noFill/>
        </p:spPr>
        <p:txBody>
          <a:bodyPr wrap="none" lIns="0" tIns="0" rIns="0" bIns="0" anchor="ctr">
            <a:spAutoFit/>
          </a:bodyPr>
          <a:lstStyle/>
          <a:p>
            <a:pPr algn="l">
              <a:lnSpc>
                <a:spcPct val="105000"/>
              </a:lnSpc>
            </a:pPr>
            <a:r>
              <a:rPr sz="536" dirty="0" err="1">
                <a:solidFill>
                  <a:srgbClr val="263442"/>
                </a:solidFill>
                <a:latin typeface="Arial"/>
              </a:rPr>
              <a:t>RDKit</a:t>
            </a:r>
            <a:endParaRPr sz="536" dirty="0">
              <a:solidFill>
                <a:srgbClr val="263442"/>
              </a:solidFill>
              <a:latin typeface="Arial"/>
            </a:endParaRPr>
          </a:p>
        </p:txBody>
      </p:sp>
      <p:grpSp>
        <p:nvGrpSpPr>
          <p:cNvPr id="669" name="Identity | Own molecular graph">
            <a:extLst>
              <a:ext uri="{FF2B5EF4-FFF2-40B4-BE49-F238E27FC236}">
                <a16:creationId xmlns:a16="http://schemas.microsoft.com/office/drawing/2014/main" id="{683652C7-CC94-2A9C-935C-36CF7B7EB5E8}"/>
              </a:ext>
            </a:extLst>
          </p:cNvPr>
          <p:cNvGrpSpPr/>
          <p:nvPr/>
        </p:nvGrpSpPr>
        <p:grpSpPr>
          <a:xfrm>
            <a:off x="2817417" y="2888431"/>
            <a:ext cx="284773" cy="171742"/>
            <a:chOff x="3366271" y="3721905"/>
            <a:chExt cx="311024" cy="187573"/>
          </a:xfrm>
        </p:grpSpPr>
        <p:cxnSp>
          <p:nvCxnSpPr>
            <p:cNvPr id="670" name="path_2698">
              <a:extLst>
                <a:ext uri="{FF2B5EF4-FFF2-40B4-BE49-F238E27FC236}">
                  <a16:creationId xmlns:a16="http://schemas.microsoft.com/office/drawing/2014/main" id="{08C9C74A-0B12-2E3C-023F-C3DCDEFB7AF1}"/>
                </a:ext>
              </a:extLst>
            </p:cNvPr>
            <p:cNvCxnSpPr/>
            <p:nvPr/>
          </p:nvCxnSpPr>
          <p:spPr>
            <a:xfrm flipV="1">
              <a:off x="3381053" y="3736688"/>
              <a:ext cx="63663" cy="70463"/>
            </a:xfrm>
            <a:prstGeom prst="line">
              <a:avLst/>
            </a:prstGeom>
            <a:noFill/>
            <a:ln w="5256" cap="rnd" cmpd="sng" algn="ctr">
              <a:solidFill>
                <a:srgbClr val="238777"/>
              </a:solidFill>
              <a:prstDash val="solid"/>
              <a:round/>
              <a:headEnd type="none" w="med" len="med"/>
              <a:tailEnd type="none" w="med" len="med"/>
            </a:ln>
            <a:effectLst/>
          </p:spPr>
        </p:cxnSp>
        <p:cxnSp>
          <p:nvCxnSpPr>
            <p:cNvPr id="671" name="path_2699">
              <a:extLst>
                <a:ext uri="{FF2B5EF4-FFF2-40B4-BE49-F238E27FC236}">
                  <a16:creationId xmlns:a16="http://schemas.microsoft.com/office/drawing/2014/main" id="{1CF65ECB-9AC9-C310-5460-0B86FF6B2BC5}"/>
                </a:ext>
              </a:extLst>
            </p:cNvPr>
            <p:cNvCxnSpPr/>
            <p:nvPr/>
          </p:nvCxnSpPr>
          <p:spPr>
            <a:xfrm>
              <a:off x="3444717" y="3736688"/>
              <a:ext cx="113924" cy="14947"/>
            </a:xfrm>
            <a:prstGeom prst="line">
              <a:avLst/>
            </a:prstGeom>
            <a:noFill/>
            <a:ln w="5256" cap="rnd" cmpd="sng" algn="ctr">
              <a:solidFill>
                <a:srgbClr val="238777"/>
              </a:solidFill>
              <a:prstDash val="solid"/>
              <a:round/>
              <a:headEnd type="none" w="med" len="med"/>
              <a:tailEnd type="none" w="med" len="med"/>
            </a:ln>
            <a:effectLst/>
          </p:spPr>
        </p:cxnSp>
        <p:cxnSp>
          <p:nvCxnSpPr>
            <p:cNvPr id="672" name="path_2700">
              <a:extLst>
                <a:ext uri="{FF2B5EF4-FFF2-40B4-BE49-F238E27FC236}">
                  <a16:creationId xmlns:a16="http://schemas.microsoft.com/office/drawing/2014/main" id="{47F0AAAA-D782-D4D4-41E7-7304CCE8D568}"/>
                </a:ext>
              </a:extLst>
            </p:cNvPr>
            <p:cNvCxnSpPr/>
            <p:nvPr/>
          </p:nvCxnSpPr>
          <p:spPr>
            <a:xfrm>
              <a:off x="3558640" y="3751634"/>
              <a:ext cx="73715" cy="64058"/>
            </a:xfrm>
            <a:prstGeom prst="line">
              <a:avLst/>
            </a:prstGeom>
            <a:noFill/>
            <a:ln w="5256" cap="rnd" cmpd="sng" algn="ctr">
              <a:solidFill>
                <a:srgbClr val="238777"/>
              </a:solidFill>
              <a:prstDash val="solid"/>
              <a:round/>
              <a:headEnd type="none" w="med" len="med"/>
              <a:tailEnd type="none" w="med" len="med"/>
            </a:ln>
            <a:effectLst/>
          </p:spPr>
        </p:cxnSp>
        <p:cxnSp>
          <p:nvCxnSpPr>
            <p:cNvPr id="673" name="path_2701">
              <a:extLst>
                <a:ext uri="{FF2B5EF4-FFF2-40B4-BE49-F238E27FC236}">
                  <a16:creationId xmlns:a16="http://schemas.microsoft.com/office/drawing/2014/main" id="{672DEF92-FEF6-A8B8-A079-671D6D70071E}"/>
                </a:ext>
              </a:extLst>
            </p:cNvPr>
            <p:cNvCxnSpPr/>
            <p:nvPr/>
          </p:nvCxnSpPr>
          <p:spPr>
            <a:xfrm flipH="1">
              <a:off x="3561991" y="3815692"/>
              <a:ext cx="70365" cy="79004"/>
            </a:xfrm>
            <a:prstGeom prst="line">
              <a:avLst/>
            </a:prstGeom>
            <a:noFill/>
            <a:ln w="5256" cap="rnd" cmpd="sng" algn="ctr">
              <a:solidFill>
                <a:srgbClr val="238777"/>
              </a:solidFill>
              <a:prstDash val="solid"/>
              <a:round/>
              <a:headEnd type="none" w="med" len="med"/>
              <a:tailEnd type="none" w="med" len="med"/>
            </a:ln>
            <a:effectLst/>
          </p:spPr>
        </p:cxnSp>
        <p:cxnSp>
          <p:nvCxnSpPr>
            <p:cNvPr id="674" name="path_2702">
              <a:extLst>
                <a:ext uri="{FF2B5EF4-FFF2-40B4-BE49-F238E27FC236}">
                  <a16:creationId xmlns:a16="http://schemas.microsoft.com/office/drawing/2014/main" id="{B02A38E3-8AB1-C1CA-A784-7A02E63B2D09}"/>
                </a:ext>
              </a:extLst>
            </p:cNvPr>
            <p:cNvCxnSpPr/>
            <p:nvPr/>
          </p:nvCxnSpPr>
          <p:spPr>
            <a:xfrm flipH="1" flipV="1">
              <a:off x="3444717" y="3875479"/>
              <a:ext cx="117275" cy="19217"/>
            </a:xfrm>
            <a:prstGeom prst="line">
              <a:avLst/>
            </a:prstGeom>
            <a:noFill/>
            <a:ln w="5256" cap="rnd" cmpd="sng" algn="ctr">
              <a:solidFill>
                <a:srgbClr val="238777"/>
              </a:solidFill>
              <a:prstDash val="solid"/>
              <a:round/>
              <a:headEnd type="none" w="med" len="med"/>
              <a:tailEnd type="none" w="med" len="med"/>
            </a:ln>
            <a:effectLst/>
          </p:spPr>
        </p:cxnSp>
        <p:cxnSp>
          <p:nvCxnSpPr>
            <p:cNvPr id="675" name="path_2703">
              <a:extLst>
                <a:ext uri="{FF2B5EF4-FFF2-40B4-BE49-F238E27FC236}">
                  <a16:creationId xmlns:a16="http://schemas.microsoft.com/office/drawing/2014/main" id="{5EB27651-D3BE-22CD-39D8-D428781F5F97}"/>
                </a:ext>
              </a:extLst>
            </p:cNvPr>
            <p:cNvCxnSpPr/>
            <p:nvPr/>
          </p:nvCxnSpPr>
          <p:spPr>
            <a:xfrm flipH="1" flipV="1">
              <a:off x="3381053" y="3807151"/>
              <a:ext cx="63663" cy="68328"/>
            </a:xfrm>
            <a:prstGeom prst="line">
              <a:avLst/>
            </a:prstGeom>
            <a:noFill/>
            <a:ln w="5256" cap="rnd" cmpd="sng" algn="ctr">
              <a:solidFill>
                <a:srgbClr val="238777"/>
              </a:solidFill>
              <a:prstDash val="solid"/>
              <a:round/>
              <a:headEnd type="none" w="med" len="med"/>
              <a:tailEnd type="none" w="med" len="med"/>
            </a:ln>
            <a:effectLst/>
          </p:spPr>
        </p:cxnSp>
        <p:cxnSp>
          <p:nvCxnSpPr>
            <p:cNvPr id="676" name="path_2704">
              <a:extLst>
                <a:ext uri="{FF2B5EF4-FFF2-40B4-BE49-F238E27FC236}">
                  <a16:creationId xmlns:a16="http://schemas.microsoft.com/office/drawing/2014/main" id="{A3592B63-1411-3F57-5878-96E17C30AD75}"/>
                </a:ext>
              </a:extLst>
            </p:cNvPr>
            <p:cNvCxnSpPr/>
            <p:nvPr/>
          </p:nvCxnSpPr>
          <p:spPr>
            <a:xfrm flipV="1">
              <a:off x="3558640" y="3745228"/>
              <a:ext cx="103872" cy="6406"/>
            </a:xfrm>
            <a:prstGeom prst="line">
              <a:avLst/>
            </a:prstGeom>
            <a:noFill/>
            <a:ln w="5256" cap="rnd" cmpd="sng" algn="ctr">
              <a:solidFill>
                <a:srgbClr val="238777"/>
              </a:solidFill>
              <a:prstDash val="solid"/>
              <a:round/>
              <a:headEnd type="none" w="med" len="med"/>
              <a:tailEnd type="none" w="med" len="med"/>
            </a:ln>
            <a:effectLst/>
          </p:spPr>
        </p:cxnSp>
        <p:sp>
          <p:nvSpPr>
            <p:cNvPr id="677" name="ellipse_2705">
              <a:extLst>
                <a:ext uri="{FF2B5EF4-FFF2-40B4-BE49-F238E27FC236}">
                  <a16:creationId xmlns:a16="http://schemas.microsoft.com/office/drawing/2014/main" id="{C3D36D22-8CEB-B663-A605-02E9CFFED0C1}"/>
                </a:ext>
              </a:extLst>
            </p:cNvPr>
            <p:cNvSpPr/>
            <p:nvPr/>
          </p:nvSpPr>
          <p:spPr>
            <a:xfrm>
              <a:off x="3366271" y="3792368"/>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8" name="ellipse_2706">
              <a:extLst>
                <a:ext uri="{FF2B5EF4-FFF2-40B4-BE49-F238E27FC236}">
                  <a16:creationId xmlns:a16="http://schemas.microsoft.com/office/drawing/2014/main" id="{1F86BCBC-B96E-6EC5-AC9B-22A20629DF0F}"/>
                </a:ext>
              </a:extLst>
            </p:cNvPr>
            <p:cNvSpPr/>
            <p:nvPr/>
          </p:nvSpPr>
          <p:spPr>
            <a:xfrm>
              <a:off x="3429934" y="3721905"/>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9" name="ellipse_2707">
              <a:extLst>
                <a:ext uri="{FF2B5EF4-FFF2-40B4-BE49-F238E27FC236}">
                  <a16:creationId xmlns:a16="http://schemas.microsoft.com/office/drawing/2014/main" id="{0D7ED534-2755-74EA-6149-4A7E3A7E8992}"/>
                </a:ext>
              </a:extLst>
            </p:cNvPr>
            <p:cNvSpPr/>
            <p:nvPr/>
          </p:nvSpPr>
          <p:spPr>
            <a:xfrm>
              <a:off x="3543858" y="3736852"/>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0" name="ellipse_2708">
              <a:extLst>
                <a:ext uri="{FF2B5EF4-FFF2-40B4-BE49-F238E27FC236}">
                  <a16:creationId xmlns:a16="http://schemas.microsoft.com/office/drawing/2014/main" id="{01CC7294-C7B5-D1A4-A138-902105284B89}"/>
                </a:ext>
              </a:extLst>
            </p:cNvPr>
            <p:cNvSpPr/>
            <p:nvPr/>
          </p:nvSpPr>
          <p:spPr>
            <a:xfrm>
              <a:off x="3617573" y="3800909"/>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1" name="ellipse_2709">
              <a:extLst>
                <a:ext uri="{FF2B5EF4-FFF2-40B4-BE49-F238E27FC236}">
                  <a16:creationId xmlns:a16="http://schemas.microsoft.com/office/drawing/2014/main" id="{80734E48-9DE8-B4FD-D0D4-D53693BBEADF}"/>
                </a:ext>
              </a:extLst>
            </p:cNvPr>
            <p:cNvSpPr/>
            <p:nvPr/>
          </p:nvSpPr>
          <p:spPr>
            <a:xfrm>
              <a:off x="3547209" y="3879913"/>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2" name="ellipse_2710">
              <a:extLst>
                <a:ext uri="{FF2B5EF4-FFF2-40B4-BE49-F238E27FC236}">
                  <a16:creationId xmlns:a16="http://schemas.microsoft.com/office/drawing/2014/main" id="{3DB6F677-E1A0-2C7D-CADD-FB389865F633}"/>
                </a:ext>
              </a:extLst>
            </p:cNvPr>
            <p:cNvSpPr/>
            <p:nvPr/>
          </p:nvSpPr>
          <p:spPr>
            <a:xfrm>
              <a:off x="3429934" y="386069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3" name="ellipse_2711">
              <a:extLst>
                <a:ext uri="{FF2B5EF4-FFF2-40B4-BE49-F238E27FC236}">
                  <a16:creationId xmlns:a16="http://schemas.microsoft.com/office/drawing/2014/main" id="{D105DBC9-3C6D-0576-1E95-E04BFA9EB1EF}"/>
                </a:ext>
              </a:extLst>
            </p:cNvPr>
            <p:cNvSpPr/>
            <p:nvPr/>
          </p:nvSpPr>
          <p:spPr>
            <a:xfrm>
              <a:off x="3647730" y="373044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grpSp>
      <p:sp>
        <p:nvSpPr>
          <p:cNvPr id="684" name="TextBox 12226">
            <a:extLst>
              <a:ext uri="{FF2B5EF4-FFF2-40B4-BE49-F238E27FC236}">
                <a16:creationId xmlns:a16="http://schemas.microsoft.com/office/drawing/2014/main" id="{43DBD103-E22F-DA52-F0ED-122A5CA41D61}"/>
              </a:ext>
            </a:extLst>
          </p:cNvPr>
          <p:cNvSpPr txBox="1"/>
          <p:nvPr/>
        </p:nvSpPr>
        <p:spPr>
          <a:xfrm>
            <a:off x="2791488" y="3080344"/>
            <a:ext cx="336631" cy="80599"/>
          </a:xfrm>
          <a:prstGeom prst="rect">
            <a:avLst/>
          </a:prstGeom>
          <a:noFill/>
        </p:spPr>
        <p:txBody>
          <a:bodyPr wrap="none" lIns="0" tIns="0" rIns="0" bIns="0" anchor="ctr">
            <a:spAutoFit/>
          </a:bodyPr>
          <a:lstStyle/>
          <a:p>
            <a:pPr algn="ctr">
              <a:lnSpc>
                <a:spcPct val="105000"/>
              </a:lnSpc>
            </a:pPr>
            <a:r>
              <a:rPr sz="536">
                <a:solidFill>
                  <a:srgbClr val="263442"/>
                </a:solidFill>
                <a:latin typeface="Arial"/>
              </a:rPr>
              <a:t>Own graph</a:t>
            </a:r>
          </a:p>
        </p:txBody>
      </p:sp>
      <p:sp>
        <p:nvSpPr>
          <p:cNvPr id="685" name="Op | GNN">
            <a:extLst>
              <a:ext uri="{FF2B5EF4-FFF2-40B4-BE49-F238E27FC236}">
                <a16:creationId xmlns:a16="http://schemas.microsoft.com/office/drawing/2014/main" id="{98330FF3-2E5A-32C3-D33C-D78225E1943D}"/>
              </a:ext>
            </a:extLst>
          </p:cNvPr>
          <p:cNvSpPr/>
          <p:nvPr/>
        </p:nvSpPr>
        <p:spPr>
          <a:xfrm>
            <a:off x="2777865" y="3239299"/>
            <a:ext cx="363877"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GNN</a:t>
            </a:r>
          </a:p>
        </p:txBody>
      </p:sp>
      <p:sp>
        <p:nvSpPr>
          <p:cNvPr id="686" name="TextBox 12228">
            <a:extLst>
              <a:ext uri="{FF2B5EF4-FFF2-40B4-BE49-F238E27FC236}">
                <a16:creationId xmlns:a16="http://schemas.microsoft.com/office/drawing/2014/main" id="{26538413-3AE9-9872-D0A6-0AEA9E6FF809}"/>
              </a:ext>
            </a:extLst>
          </p:cNvPr>
          <p:cNvSpPr txBox="1"/>
          <p:nvPr/>
        </p:nvSpPr>
        <p:spPr>
          <a:xfrm>
            <a:off x="2991445" y="3388848"/>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687" name="Op | Graph attention">
            <a:extLst>
              <a:ext uri="{FF2B5EF4-FFF2-40B4-BE49-F238E27FC236}">
                <a16:creationId xmlns:a16="http://schemas.microsoft.com/office/drawing/2014/main" id="{5F3701CD-DCA3-D9CA-7FA3-D737E8718A60}"/>
              </a:ext>
            </a:extLst>
          </p:cNvPr>
          <p:cNvSpPr/>
          <p:nvPr/>
        </p:nvSpPr>
        <p:spPr>
          <a:xfrm>
            <a:off x="2651299" y="3500341"/>
            <a:ext cx="617009"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Graph</a:t>
            </a:r>
            <a:r>
              <a:rPr sz="580" dirty="0">
                <a:solidFill>
                  <a:srgbClr val="263442"/>
                </a:solidFill>
                <a:latin typeface="Arial"/>
              </a:rPr>
              <a:t> </a:t>
            </a:r>
            <a:r>
              <a:rPr sz="588" dirty="0">
                <a:solidFill>
                  <a:srgbClr val="263442"/>
                </a:solidFill>
                <a:latin typeface="Arial"/>
              </a:rPr>
              <a:t>attention</a:t>
            </a:r>
          </a:p>
        </p:txBody>
      </p:sp>
      <p:sp>
        <p:nvSpPr>
          <p:cNvPr id="688" name="Op | SMI-TED">
            <a:extLst>
              <a:ext uri="{FF2B5EF4-FFF2-40B4-BE49-F238E27FC236}">
                <a16:creationId xmlns:a16="http://schemas.microsoft.com/office/drawing/2014/main" id="{9F250B16-9768-CC2C-86AF-59769C8EEC4C}"/>
              </a:ext>
            </a:extLst>
          </p:cNvPr>
          <p:cNvSpPr/>
          <p:nvPr/>
        </p:nvSpPr>
        <p:spPr>
          <a:xfrm>
            <a:off x="3413848" y="2971538"/>
            <a:ext cx="427160"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SMI-TED</a:t>
            </a:r>
          </a:p>
        </p:txBody>
      </p:sp>
      <p:sp>
        <p:nvSpPr>
          <p:cNvPr id="689" name="Language vector v_k_1">
            <a:extLst>
              <a:ext uri="{FF2B5EF4-FFF2-40B4-BE49-F238E27FC236}">
                <a16:creationId xmlns:a16="http://schemas.microsoft.com/office/drawing/2014/main" id="{E695888D-D925-5392-2451-D7757F2B6BC7}"/>
              </a:ext>
            </a:extLst>
          </p:cNvPr>
          <p:cNvSpPr/>
          <p:nvPr/>
        </p:nvSpPr>
        <p:spPr>
          <a:xfrm>
            <a:off x="3481889"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0" name="Language vector v_k_2">
            <a:extLst>
              <a:ext uri="{FF2B5EF4-FFF2-40B4-BE49-F238E27FC236}">
                <a16:creationId xmlns:a16="http://schemas.microsoft.com/office/drawing/2014/main" id="{914284BD-BAB8-4AEA-A1F1-E7FC853BC87F}"/>
              </a:ext>
            </a:extLst>
          </p:cNvPr>
          <p:cNvSpPr/>
          <p:nvPr/>
        </p:nvSpPr>
        <p:spPr>
          <a:xfrm>
            <a:off x="3523136"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1" name="Language vector v_k_3">
            <a:extLst>
              <a:ext uri="{FF2B5EF4-FFF2-40B4-BE49-F238E27FC236}">
                <a16:creationId xmlns:a16="http://schemas.microsoft.com/office/drawing/2014/main" id="{A224CED9-3025-4474-CF80-E118B0ACA7AB}"/>
              </a:ext>
            </a:extLst>
          </p:cNvPr>
          <p:cNvSpPr/>
          <p:nvPr/>
        </p:nvSpPr>
        <p:spPr>
          <a:xfrm>
            <a:off x="3564383"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2" name="Language vector v_k_4">
            <a:extLst>
              <a:ext uri="{FF2B5EF4-FFF2-40B4-BE49-F238E27FC236}">
                <a16:creationId xmlns:a16="http://schemas.microsoft.com/office/drawing/2014/main" id="{3641CBF3-C5A5-2DC2-88CA-B3F2C816508D}"/>
              </a:ext>
            </a:extLst>
          </p:cNvPr>
          <p:cNvSpPr/>
          <p:nvPr/>
        </p:nvSpPr>
        <p:spPr>
          <a:xfrm>
            <a:off x="3605630" y="3547013"/>
            <a:ext cx="37291" cy="56955"/>
          </a:xfrm>
          <a:prstGeom prst="rect">
            <a:avLst/>
          </a:prstGeom>
          <a:solidFill>
            <a:srgbClr val="CBE7D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3" name="Language vector v_k_5">
            <a:extLst>
              <a:ext uri="{FF2B5EF4-FFF2-40B4-BE49-F238E27FC236}">
                <a16:creationId xmlns:a16="http://schemas.microsoft.com/office/drawing/2014/main" id="{B6BA4357-39F7-598C-72FA-2FC00B25A10F}"/>
              </a:ext>
            </a:extLst>
          </p:cNvPr>
          <p:cNvSpPr/>
          <p:nvPr/>
        </p:nvSpPr>
        <p:spPr>
          <a:xfrm>
            <a:off x="3646877"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4" name="Language vector v_k_6">
            <a:extLst>
              <a:ext uri="{FF2B5EF4-FFF2-40B4-BE49-F238E27FC236}">
                <a16:creationId xmlns:a16="http://schemas.microsoft.com/office/drawing/2014/main" id="{14F9C08B-08C8-5CC8-21F6-EC42430BFA81}"/>
              </a:ext>
            </a:extLst>
          </p:cNvPr>
          <p:cNvSpPr/>
          <p:nvPr/>
        </p:nvSpPr>
        <p:spPr>
          <a:xfrm>
            <a:off x="3688124"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5" name="Language vector v_k_7">
            <a:extLst>
              <a:ext uri="{FF2B5EF4-FFF2-40B4-BE49-F238E27FC236}">
                <a16:creationId xmlns:a16="http://schemas.microsoft.com/office/drawing/2014/main" id="{52E0E1B7-31F4-244C-BA32-494F415D5F2F}"/>
              </a:ext>
            </a:extLst>
          </p:cNvPr>
          <p:cNvSpPr/>
          <p:nvPr/>
        </p:nvSpPr>
        <p:spPr>
          <a:xfrm>
            <a:off x="3729371"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6" name="TextBox 12239">
            <a:extLst>
              <a:ext uri="{FF2B5EF4-FFF2-40B4-BE49-F238E27FC236}">
                <a16:creationId xmlns:a16="http://schemas.microsoft.com/office/drawing/2014/main" id="{DE6BD61F-48C0-C267-E36F-0AC7BC24100D}"/>
              </a:ext>
            </a:extLst>
          </p:cNvPr>
          <p:cNvSpPr txBox="1"/>
          <p:nvPr/>
        </p:nvSpPr>
        <p:spPr>
          <a:xfrm>
            <a:off x="3307860" y="3475189"/>
            <a:ext cx="126566" cy="81946"/>
          </a:xfrm>
          <a:prstGeom prst="rect">
            <a:avLst/>
          </a:prstGeom>
          <a:noFill/>
        </p:spPr>
        <p:txBody>
          <a:bodyPr wrap="square" lIns="0" tIns="0" rIns="0" bIns="0" anchor="ctr">
            <a:spAutoFit/>
          </a:bodyPr>
          <a:lstStyle/>
          <a:p>
            <a:pPr algn="ctr">
              <a:lnSpc>
                <a:spcPct val="105000"/>
              </a:lnSpc>
            </a:pPr>
            <a:r>
              <a:rPr sz="545" dirty="0">
                <a:solidFill>
                  <a:srgbClr val="263442"/>
                </a:solidFill>
                <a:latin typeface="Arial"/>
              </a:rPr>
              <a:t>Q</a:t>
            </a:r>
          </a:p>
        </p:txBody>
      </p:sp>
      <p:sp>
        <p:nvSpPr>
          <p:cNvPr id="697" name="TextBox 12240">
            <a:extLst>
              <a:ext uri="{FF2B5EF4-FFF2-40B4-BE49-F238E27FC236}">
                <a16:creationId xmlns:a16="http://schemas.microsoft.com/office/drawing/2014/main" id="{2ACBC05C-C556-BA36-3DA9-0D37D9382C06}"/>
              </a:ext>
            </a:extLst>
          </p:cNvPr>
          <p:cNvSpPr txBox="1"/>
          <p:nvPr/>
        </p:nvSpPr>
        <p:spPr>
          <a:xfrm>
            <a:off x="3814124" y="3475189"/>
            <a:ext cx="126566" cy="81946"/>
          </a:xfrm>
          <a:prstGeom prst="rect">
            <a:avLst/>
          </a:prstGeom>
          <a:noFill/>
        </p:spPr>
        <p:txBody>
          <a:bodyPr wrap="square" lIns="0" tIns="0" rIns="0" bIns="0" anchor="ctr">
            <a:spAutoFit/>
          </a:bodyPr>
          <a:lstStyle/>
          <a:p>
            <a:pPr algn="ctr">
              <a:lnSpc>
                <a:spcPct val="105000"/>
              </a:lnSpc>
            </a:pPr>
            <a:r>
              <a:rPr sz="545">
                <a:solidFill>
                  <a:srgbClr val="263442"/>
                </a:solidFill>
                <a:latin typeface="Arial"/>
              </a:rPr>
              <a:t>Q</a:t>
            </a:r>
          </a:p>
        </p:txBody>
      </p:sp>
      <p:sp>
        <p:nvSpPr>
          <p:cNvPr id="698" name="TextBox 12241">
            <a:extLst>
              <a:ext uri="{FF2B5EF4-FFF2-40B4-BE49-F238E27FC236}">
                <a16:creationId xmlns:a16="http://schemas.microsoft.com/office/drawing/2014/main" id="{0B3A68EF-7CF9-A2EB-24B2-085C5BF1F71F}"/>
              </a:ext>
            </a:extLst>
          </p:cNvPr>
          <p:cNvSpPr txBox="1"/>
          <p:nvPr/>
        </p:nvSpPr>
        <p:spPr>
          <a:xfrm>
            <a:off x="4328298" y="2542416"/>
            <a:ext cx="379698" cy="151836"/>
          </a:xfrm>
          <a:prstGeom prst="rect">
            <a:avLst/>
          </a:prstGeom>
          <a:noFill/>
        </p:spPr>
        <p:txBody>
          <a:bodyPr wrap="square" lIns="0" tIns="0" rIns="0" bIns="0" anchor="ctr">
            <a:spAutoFit/>
          </a:bodyPr>
          <a:lstStyle/>
          <a:p>
            <a:pPr algn="l">
              <a:lnSpc>
                <a:spcPct val="95000"/>
              </a:lnSpc>
            </a:pPr>
            <a:r>
              <a:rPr lang="en-US" sz="519" dirty="0">
                <a:solidFill>
                  <a:srgbClr val="263442"/>
                </a:solidFill>
                <a:latin typeface="Arial"/>
              </a:rPr>
              <a:t>  </a:t>
            </a:r>
            <a:r>
              <a:rPr sz="519" dirty="0">
                <a:solidFill>
                  <a:srgbClr val="263442"/>
                </a:solidFill>
                <a:latin typeface="Arial"/>
              </a:rPr>
              <a:t>Other</a:t>
            </a:r>
          </a:p>
          <a:p>
            <a:pPr algn="l">
              <a:lnSpc>
                <a:spcPct val="95000"/>
              </a:lnSpc>
            </a:pPr>
            <a:r>
              <a:rPr sz="519" dirty="0">
                <a:solidFill>
                  <a:srgbClr val="263442"/>
                </a:solidFill>
                <a:latin typeface="Arial"/>
              </a:rPr>
              <a:t>identities</a:t>
            </a:r>
          </a:p>
        </p:txBody>
      </p:sp>
      <p:sp>
        <p:nvSpPr>
          <p:cNvPr id="699" name="Op | SMI-TED">
            <a:extLst>
              <a:ext uri="{FF2B5EF4-FFF2-40B4-BE49-F238E27FC236}">
                <a16:creationId xmlns:a16="http://schemas.microsoft.com/office/drawing/2014/main" id="{6691CF15-5DAD-F305-5973-B1ACEFFF5CBF}"/>
              </a:ext>
            </a:extLst>
          </p:cNvPr>
          <p:cNvSpPr/>
          <p:nvPr/>
        </p:nvSpPr>
        <p:spPr>
          <a:xfrm>
            <a:off x="4095413" y="2967199"/>
            <a:ext cx="427160"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SMI-TED</a:t>
            </a:r>
          </a:p>
        </p:txBody>
      </p:sp>
      <p:sp>
        <p:nvSpPr>
          <p:cNvPr id="700" name="TextBox 12244">
            <a:extLst>
              <a:ext uri="{FF2B5EF4-FFF2-40B4-BE49-F238E27FC236}">
                <a16:creationId xmlns:a16="http://schemas.microsoft.com/office/drawing/2014/main" id="{13C55E5C-99C8-F46D-3353-FED4827206EC}"/>
              </a:ext>
            </a:extLst>
          </p:cNvPr>
          <p:cNvSpPr txBox="1"/>
          <p:nvPr/>
        </p:nvSpPr>
        <p:spPr>
          <a:xfrm>
            <a:off x="4083077" y="3197919"/>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1</a:t>
            </a:r>
          </a:p>
        </p:txBody>
      </p:sp>
      <p:sp>
        <p:nvSpPr>
          <p:cNvPr id="701" name="Context bar 1_1">
            <a:extLst>
              <a:ext uri="{FF2B5EF4-FFF2-40B4-BE49-F238E27FC236}">
                <a16:creationId xmlns:a16="http://schemas.microsoft.com/office/drawing/2014/main" id="{F675EB2C-E3F4-CF25-F2F9-B217A0C64998}"/>
              </a:ext>
            </a:extLst>
          </p:cNvPr>
          <p:cNvSpPr/>
          <p:nvPr/>
        </p:nvSpPr>
        <p:spPr>
          <a:xfrm>
            <a:off x="4178001"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2" name="Context bar 1_2">
            <a:extLst>
              <a:ext uri="{FF2B5EF4-FFF2-40B4-BE49-F238E27FC236}">
                <a16:creationId xmlns:a16="http://schemas.microsoft.com/office/drawing/2014/main" id="{7015B7C2-EE7A-8CD3-BF9A-C8F6C295F2D3}"/>
              </a:ext>
            </a:extLst>
          </p:cNvPr>
          <p:cNvSpPr/>
          <p:nvPr/>
        </p:nvSpPr>
        <p:spPr>
          <a:xfrm>
            <a:off x="4226123"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3" name="Context bar 1_3">
            <a:extLst>
              <a:ext uri="{FF2B5EF4-FFF2-40B4-BE49-F238E27FC236}">
                <a16:creationId xmlns:a16="http://schemas.microsoft.com/office/drawing/2014/main" id="{0283D963-CC89-9552-BBFA-44417F9A5810}"/>
              </a:ext>
            </a:extLst>
          </p:cNvPr>
          <p:cNvSpPr/>
          <p:nvPr/>
        </p:nvSpPr>
        <p:spPr>
          <a:xfrm>
            <a:off x="4274244" y="3223887"/>
            <a:ext cx="44166" cy="34806"/>
          </a:xfrm>
          <a:prstGeom prst="rect">
            <a:avLst/>
          </a:prstGeom>
          <a:solidFill>
            <a:srgbClr val="BFD2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4" name="Context bar 1_4">
            <a:extLst>
              <a:ext uri="{FF2B5EF4-FFF2-40B4-BE49-F238E27FC236}">
                <a16:creationId xmlns:a16="http://schemas.microsoft.com/office/drawing/2014/main" id="{DFE762FA-D62F-609E-23C6-B16577CF789A}"/>
              </a:ext>
            </a:extLst>
          </p:cNvPr>
          <p:cNvSpPr/>
          <p:nvPr/>
        </p:nvSpPr>
        <p:spPr>
          <a:xfrm>
            <a:off x="4322366" y="3223887"/>
            <a:ext cx="44166" cy="34806"/>
          </a:xfrm>
          <a:prstGeom prst="rect">
            <a:avLst/>
          </a:prstGeom>
          <a:solidFill>
            <a:srgbClr val="7397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5" name="Context bar 1_5">
            <a:extLst>
              <a:ext uri="{FF2B5EF4-FFF2-40B4-BE49-F238E27FC236}">
                <a16:creationId xmlns:a16="http://schemas.microsoft.com/office/drawing/2014/main" id="{8A2B1ECE-222F-713D-5115-87805A38C6E9}"/>
              </a:ext>
            </a:extLst>
          </p:cNvPr>
          <p:cNvSpPr/>
          <p:nvPr/>
        </p:nvSpPr>
        <p:spPr>
          <a:xfrm>
            <a:off x="4370487"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6" name="Context bar 1_6">
            <a:extLst>
              <a:ext uri="{FF2B5EF4-FFF2-40B4-BE49-F238E27FC236}">
                <a16:creationId xmlns:a16="http://schemas.microsoft.com/office/drawing/2014/main" id="{F9202696-646F-1763-9139-E44B52B50C5F}"/>
              </a:ext>
            </a:extLst>
          </p:cNvPr>
          <p:cNvSpPr/>
          <p:nvPr/>
        </p:nvSpPr>
        <p:spPr>
          <a:xfrm>
            <a:off x="4418609"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7" name="TextBox 12251">
            <a:extLst>
              <a:ext uri="{FF2B5EF4-FFF2-40B4-BE49-F238E27FC236}">
                <a16:creationId xmlns:a16="http://schemas.microsoft.com/office/drawing/2014/main" id="{7BC06DFD-B767-BA41-2B05-2B0A38358B92}"/>
              </a:ext>
            </a:extLst>
          </p:cNvPr>
          <p:cNvSpPr txBox="1"/>
          <p:nvPr/>
        </p:nvSpPr>
        <p:spPr>
          <a:xfrm>
            <a:off x="4083077" y="3270220"/>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2</a:t>
            </a:r>
          </a:p>
        </p:txBody>
      </p:sp>
      <p:sp>
        <p:nvSpPr>
          <p:cNvPr id="708" name="Context bar 2_1">
            <a:extLst>
              <a:ext uri="{FF2B5EF4-FFF2-40B4-BE49-F238E27FC236}">
                <a16:creationId xmlns:a16="http://schemas.microsoft.com/office/drawing/2014/main" id="{520858ED-2877-9676-9DDD-53EAA8E37558}"/>
              </a:ext>
            </a:extLst>
          </p:cNvPr>
          <p:cNvSpPr/>
          <p:nvPr/>
        </p:nvSpPr>
        <p:spPr>
          <a:xfrm>
            <a:off x="4178001"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9" name="Context bar 2_2">
            <a:extLst>
              <a:ext uri="{FF2B5EF4-FFF2-40B4-BE49-F238E27FC236}">
                <a16:creationId xmlns:a16="http://schemas.microsoft.com/office/drawing/2014/main" id="{50A3D4F9-D9FE-CC8B-21E7-D32E326D8875}"/>
              </a:ext>
            </a:extLst>
          </p:cNvPr>
          <p:cNvSpPr/>
          <p:nvPr/>
        </p:nvSpPr>
        <p:spPr>
          <a:xfrm>
            <a:off x="4226123"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0" name="Context bar 2_3">
            <a:extLst>
              <a:ext uri="{FF2B5EF4-FFF2-40B4-BE49-F238E27FC236}">
                <a16:creationId xmlns:a16="http://schemas.microsoft.com/office/drawing/2014/main" id="{4471AA3C-5A9C-CEE5-0418-953EC2227441}"/>
              </a:ext>
            </a:extLst>
          </p:cNvPr>
          <p:cNvSpPr/>
          <p:nvPr/>
        </p:nvSpPr>
        <p:spPr>
          <a:xfrm>
            <a:off x="4274244" y="3286664"/>
            <a:ext cx="44166" cy="34806"/>
          </a:xfrm>
          <a:prstGeom prst="rect">
            <a:avLst/>
          </a:prstGeom>
          <a:solidFill>
            <a:srgbClr val="E0CC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1" name="Context bar 2_4">
            <a:extLst>
              <a:ext uri="{FF2B5EF4-FFF2-40B4-BE49-F238E27FC236}">
                <a16:creationId xmlns:a16="http://schemas.microsoft.com/office/drawing/2014/main" id="{B321BB44-18FA-E7F3-2924-BC94493FEA4A}"/>
              </a:ext>
            </a:extLst>
          </p:cNvPr>
          <p:cNvSpPr/>
          <p:nvPr/>
        </p:nvSpPr>
        <p:spPr>
          <a:xfrm>
            <a:off x="4322366" y="3286664"/>
            <a:ext cx="44166" cy="34806"/>
          </a:xfrm>
          <a:prstGeom prst="rect">
            <a:avLst/>
          </a:prstGeom>
          <a:solidFill>
            <a:srgbClr val="B58E5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2" name="Context bar 2_5">
            <a:extLst>
              <a:ext uri="{FF2B5EF4-FFF2-40B4-BE49-F238E27FC236}">
                <a16:creationId xmlns:a16="http://schemas.microsoft.com/office/drawing/2014/main" id="{BF58521A-8C41-BE24-9704-AEAF70385316}"/>
              </a:ext>
            </a:extLst>
          </p:cNvPr>
          <p:cNvSpPr/>
          <p:nvPr/>
        </p:nvSpPr>
        <p:spPr>
          <a:xfrm>
            <a:off x="4370487"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3" name="Context bar 2_6">
            <a:extLst>
              <a:ext uri="{FF2B5EF4-FFF2-40B4-BE49-F238E27FC236}">
                <a16:creationId xmlns:a16="http://schemas.microsoft.com/office/drawing/2014/main" id="{4283B810-9FFF-25F8-1960-4F272603052B}"/>
              </a:ext>
            </a:extLst>
          </p:cNvPr>
          <p:cNvSpPr/>
          <p:nvPr/>
        </p:nvSpPr>
        <p:spPr>
          <a:xfrm>
            <a:off x="4418609"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4" name="TextBox 12258">
            <a:extLst>
              <a:ext uri="{FF2B5EF4-FFF2-40B4-BE49-F238E27FC236}">
                <a16:creationId xmlns:a16="http://schemas.microsoft.com/office/drawing/2014/main" id="{D4C78125-5C89-7F13-017C-2E1C11AE7FDD}"/>
              </a:ext>
            </a:extLst>
          </p:cNvPr>
          <p:cNvSpPr txBox="1"/>
          <p:nvPr/>
        </p:nvSpPr>
        <p:spPr>
          <a:xfrm>
            <a:off x="4083077" y="3342522"/>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K</a:t>
            </a:r>
          </a:p>
        </p:txBody>
      </p:sp>
      <p:sp>
        <p:nvSpPr>
          <p:cNvPr id="715" name="Context bar K_1">
            <a:extLst>
              <a:ext uri="{FF2B5EF4-FFF2-40B4-BE49-F238E27FC236}">
                <a16:creationId xmlns:a16="http://schemas.microsoft.com/office/drawing/2014/main" id="{6C63634F-2307-320B-8E95-2B6ADA84F565}"/>
              </a:ext>
            </a:extLst>
          </p:cNvPr>
          <p:cNvSpPr/>
          <p:nvPr/>
        </p:nvSpPr>
        <p:spPr>
          <a:xfrm>
            <a:off x="4178001"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6" name="Context bar K_2">
            <a:extLst>
              <a:ext uri="{FF2B5EF4-FFF2-40B4-BE49-F238E27FC236}">
                <a16:creationId xmlns:a16="http://schemas.microsoft.com/office/drawing/2014/main" id="{582A4CF2-1B99-BCF5-A8D3-EE93D5F5B81F}"/>
              </a:ext>
            </a:extLst>
          </p:cNvPr>
          <p:cNvSpPr/>
          <p:nvPr/>
        </p:nvSpPr>
        <p:spPr>
          <a:xfrm>
            <a:off x="4226123"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7" name="Context bar K_3">
            <a:extLst>
              <a:ext uri="{FF2B5EF4-FFF2-40B4-BE49-F238E27FC236}">
                <a16:creationId xmlns:a16="http://schemas.microsoft.com/office/drawing/2014/main" id="{607B41B1-A111-8D93-E207-5DF6221B54D2}"/>
              </a:ext>
            </a:extLst>
          </p:cNvPr>
          <p:cNvSpPr/>
          <p:nvPr/>
        </p:nvSpPr>
        <p:spPr>
          <a:xfrm>
            <a:off x="4274244" y="3349440"/>
            <a:ext cx="44166" cy="34806"/>
          </a:xfrm>
          <a:prstGeom prst="rect">
            <a:avLst/>
          </a:prstGeom>
          <a:solidFill>
            <a:srgbClr val="CBC2E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8" name="Context bar K_4">
            <a:extLst>
              <a:ext uri="{FF2B5EF4-FFF2-40B4-BE49-F238E27FC236}">
                <a16:creationId xmlns:a16="http://schemas.microsoft.com/office/drawing/2014/main" id="{9539C2E7-004F-E86E-852E-98E80C399402}"/>
              </a:ext>
            </a:extLst>
          </p:cNvPr>
          <p:cNvSpPr/>
          <p:nvPr/>
        </p:nvSpPr>
        <p:spPr>
          <a:xfrm>
            <a:off x="4322366" y="3349440"/>
            <a:ext cx="44166" cy="34806"/>
          </a:xfrm>
          <a:prstGeom prst="rect">
            <a:avLst/>
          </a:prstGeom>
          <a:solidFill>
            <a:srgbClr val="8E7DB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9" name="Context bar K_5">
            <a:extLst>
              <a:ext uri="{FF2B5EF4-FFF2-40B4-BE49-F238E27FC236}">
                <a16:creationId xmlns:a16="http://schemas.microsoft.com/office/drawing/2014/main" id="{2DE0B959-537B-893B-9987-81BBF3647FFD}"/>
              </a:ext>
            </a:extLst>
          </p:cNvPr>
          <p:cNvSpPr/>
          <p:nvPr/>
        </p:nvSpPr>
        <p:spPr>
          <a:xfrm>
            <a:off x="4370487"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0" name="Context bar K_6">
            <a:extLst>
              <a:ext uri="{FF2B5EF4-FFF2-40B4-BE49-F238E27FC236}">
                <a16:creationId xmlns:a16="http://schemas.microsoft.com/office/drawing/2014/main" id="{147CE38B-269C-4BBA-77C6-2810C1D11F1C}"/>
              </a:ext>
            </a:extLst>
          </p:cNvPr>
          <p:cNvSpPr/>
          <p:nvPr/>
        </p:nvSpPr>
        <p:spPr>
          <a:xfrm>
            <a:off x="4418609"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1" name="TextBox 12265">
            <a:extLst>
              <a:ext uri="{FF2B5EF4-FFF2-40B4-BE49-F238E27FC236}">
                <a16:creationId xmlns:a16="http://schemas.microsoft.com/office/drawing/2014/main" id="{979CEBC9-AC70-1276-123A-637171F58084}"/>
              </a:ext>
            </a:extLst>
          </p:cNvPr>
          <p:cNvSpPr txBox="1"/>
          <p:nvPr/>
        </p:nvSpPr>
        <p:spPr>
          <a:xfrm>
            <a:off x="4336209" y="3400472"/>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722" name="Op | Context attention">
            <a:extLst>
              <a:ext uri="{FF2B5EF4-FFF2-40B4-BE49-F238E27FC236}">
                <a16:creationId xmlns:a16="http://schemas.microsoft.com/office/drawing/2014/main" id="{640CE564-549E-0D15-B50A-E392C9DB6304}"/>
              </a:ext>
            </a:extLst>
          </p:cNvPr>
          <p:cNvSpPr/>
          <p:nvPr/>
        </p:nvSpPr>
        <p:spPr>
          <a:xfrm>
            <a:off x="3980242" y="3500341"/>
            <a:ext cx="648651"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Context</a:t>
            </a:r>
            <a:r>
              <a:rPr sz="580" dirty="0">
                <a:solidFill>
                  <a:srgbClr val="263442"/>
                </a:solidFill>
                <a:latin typeface="Arial"/>
              </a:rPr>
              <a:t> attention</a:t>
            </a:r>
          </a:p>
        </p:txBody>
      </p:sp>
      <p:sp>
        <p:nvSpPr>
          <p:cNvPr id="723" name="Op | Fusion">
            <a:extLst>
              <a:ext uri="{FF2B5EF4-FFF2-40B4-BE49-F238E27FC236}">
                <a16:creationId xmlns:a16="http://schemas.microsoft.com/office/drawing/2014/main" id="{FF74A918-BF09-C9F6-6A9B-D421CF97BC33}"/>
              </a:ext>
            </a:extLst>
          </p:cNvPr>
          <p:cNvSpPr/>
          <p:nvPr/>
        </p:nvSpPr>
        <p:spPr>
          <a:xfrm>
            <a:off x="3434426" y="3733697"/>
            <a:ext cx="379698" cy="142387"/>
          </a:xfrm>
          <a:prstGeom prst="roundRect">
            <a:avLst>
              <a:gd name="adj" fmla="val 18000"/>
            </a:avLst>
          </a:prstGeom>
          <a:solidFill>
            <a:srgbClr val="EDE7F5"/>
          </a:solidFill>
          <a:ln w="7290">
            <a:solidFill>
              <a:srgbClr val="B8A9D9"/>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Fusion</a:t>
            </a:r>
          </a:p>
        </p:txBody>
      </p:sp>
      <p:sp>
        <p:nvSpPr>
          <p:cNvPr id="724" name="g_k bar_1">
            <a:extLst>
              <a:ext uri="{FF2B5EF4-FFF2-40B4-BE49-F238E27FC236}">
                <a16:creationId xmlns:a16="http://schemas.microsoft.com/office/drawing/2014/main" id="{CB9A6A2F-14EE-2004-CB53-FCE391ACED69}"/>
              </a:ext>
            </a:extLst>
          </p:cNvPr>
          <p:cNvSpPr/>
          <p:nvPr/>
        </p:nvSpPr>
        <p:spPr>
          <a:xfrm>
            <a:off x="3458158"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5" name="g_k bar_2">
            <a:extLst>
              <a:ext uri="{FF2B5EF4-FFF2-40B4-BE49-F238E27FC236}">
                <a16:creationId xmlns:a16="http://schemas.microsoft.com/office/drawing/2014/main" id="{E39FC69E-11ED-3FA2-32B9-5945059F2213}"/>
              </a:ext>
            </a:extLst>
          </p:cNvPr>
          <p:cNvSpPr/>
          <p:nvPr/>
        </p:nvSpPr>
        <p:spPr>
          <a:xfrm>
            <a:off x="3506185"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6" name="g_k bar_3">
            <a:extLst>
              <a:ext uri="{FF2B5EF4-FFF2-40B4-BE49-F238E27FC236}">
                <a16:creationId xmlns:a16="http://schemas.microsoft.com/office/drawing/2014/main" id="{543C1079-397B-91D4-0D56-9824953F1A51}"/>
              </a:ext>
            </a:extLst>
          </p:cNvPr>
          <p:cNvSpPr/>
          <p:nvPr/>
        </p:nvSpPr>
        <p:spPr>
          <a:xfrm>
            <a:off x="3554212"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7" name="g_k bar_4">
            <a:extLst>
              <a:ext uri="{FF2B5EF4-FFF2-40B4-BE49-F238E27FC236}">
                <a16:creationId xmlns:a16="http://schemas.microsoft.com/office/drawing/2014/main" id="{72768CF4-9EFB-DF24-7C89-6D351C730BA5}"/>
              </a:ext>
            </a:extLst>
          </p:cNvPr>
          <p:cNvSpPr/>
          <p:nvPr/>
        </p:nvSpPr>
        <p:spPr>
          <a:xfrm>
            <a:off x="3602239" y="3989994"/>
            <a:ext cx="44072" cy="56955"/>
          </a:xfrm>
          <a:prstGeom prst="rect">
            <a:avLst/>
          </a:prstGeom>
          <a:solidFill>
            <a:srgbClr val="68AB9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8" name="g_k bar_5">
            <a:extLst>
              <a:ext uri="{FF2B5EF4-FFF2-40B4-BE49-F238E27FC236}">
                <a16:creationId xmlns:a16="http://schemas.microsoft.com/office/drawing/2014/main" id="{4025AE17-AFDD-1F7D-9368-8E976FBC9D73}"/>
              </a:ext>
            </a:extLst>
          </p:cNvPr>
          <p:cNvSpPr/>
          <p:nvPr/>
        </p:nvSpPr>
        <p:spPr>
          <a:xfrm>
            <a:off x="3650267"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9" name="g_k bar_6">
            <a:extLst>
              <a:ext uri="{FF2B5EF4-FFF2-40B4-BE49-F238E27FC236}">
                <a16:creationId xmlns:a16="http://schemas.microsoft.com/office/drawing/2014/main" id="{894C2CFF-A654-8C7B-2480-AC98400CE487}"/>
              </a:ext>
            </a:extLst>
          </p:cNvPr>
          <p:cNvSpPr/>
          <p:nvPr/>
        </p:nvSpPr>
        <p:spPr>
          <a:xfrm>
            <a:off x="3698294"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0" name="g_k bar_7">
            <a:extLst>
              <a:ext uri="{FF2B5EF4-FFF2-40B4-BE49-F238E27FC236}">
                <a16:creationId xmlns:a16="http://schemas.microsoft.com/office/drawing/2014/main" id="{DC10EA75-05BB-E415-682D-FAFCD65B7377}"/>
              </a:ext>
            </a:extLst>
          </p:cNvPr>
          <p:cNvSpPr/>
          <p:nvPr/>
        </p:nvSpPr>
        <p:spPr>
          <a:xfrm>
            <a:off x="3746321"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1" name="Math | g_k^">
            <a:extLst>
              <a:ext uri="{FF2B5EF4-FFF2-40B4-BE49-F238E27FC236}">
                <a16:creationId xmlns:a16="http://schemas.microsoft.com/office/drawing/2014/main" id="{45321F2B-F3FA-58E1-92FE-B69A1AB20949}"/>
              </a:ext>
            </a:extLst>
          </p:cNvPr>
          <p:cNvSpPr txBox="1"/>
          <p:nvPr/>
        </p:nvSpPr>
        <p:spPr>
          <a:xfrm>
            <a:off x="3827018" y="3947306"/>
            <a:ext cx="84960" cy="126509"/>
          </a:xfrm>
          <a:prstGeom prst="rect">
            <a:avLst/>
          </a:prstGeom>
          <a:noFill/>
        </p:spPr>
        <p:txBody>
          <a:bodyPr wrap="none" lIns="0" tIns="0" rIns="0" bIns="0" anchor="ctr">
            <a:spAutoFit/>
          </a:bodyPr>
          <a:lstStyle/>
          <a:p>
            <a:pPr algn="ctr"/>
            <a:r>
              <a:rPr sz="855" i="1">
                <a:solidFill>
                  <a:srgbClr val="263442"/>
                </a:solidFill>
                <a:latin typeface="Times New Roman"/>
              </a:rPr>
              <a:t>g</a:t>
            </a:r>
            <a:r>
              <a:rPr sz="780" i="1" baseline="-28000">
                <a:solidFill>
                  <a:srgbClr val="263442"/>
                </a:solidFill>
                <a:latin typeface="Times New Roman"/>
              </a:rPr>
              <a:t>k</a:t>
            </a:r>
          </a:p>
        </p:txBody>
      </p:sp>
      <p:sp>
        <p:nvSpPr>
          <p:cNvPr id="732" name="Op | Cosine score">
            <a:extLst>
              <a:ext uri="{FF2B5EF4-FFF2-40B4-BE49-F238E27FC236}">
                <a16:creationId xmlns:a16="http://schemas.microsoft.com/office/drawing/2014/main" id="{9B88858F-88C1-DA3F-1992-E9C76D0D80AF}"/>
              </a:ext>
            </a:extLst>
          </p:cNvPr>
          <p:cNvSpPr/>
          <p:nvPr/>
        </p:nvSpPr>
        <p:spPr>
          <a:xfrm>
            <a:off x="3234406" y="4162465"/>
            <a:ext cx="569547"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Cosine score</a:t>
            </a:r>
          </a:p>
        </p:txBody>
      </p:sp>
      <p:sp>
        <p:nvSpPr>
          <p:cNvPr id="733" name="TextBox 12277">
            <a:extLst>
              <a:ext uri="{FF2B5EF4-FFF2-40B4-BE49-F238E27FC236}">
                <a16:creationId xmlns:a16="http://schemas.microsoft.com/office/drawing/2014/main" id="{7D6970C3-E7E9-652B-644D-A057CB503545}"/>
              </a:ext>
            </a:extLst>
          </p:cNvPr>
          <p:cNvSpPr txBox="1"/>
          <p:nvPr/>
        </p:nvSpPr>
        <p:spPr>
          <a:xfrm>
            <a:off x="3229878" y="4326634"/>
            <a:ext cx="585097" cy="79445"/>
          </a:xfrm>
          <a:prstGeom prst="rect">
            <a:avLst/>
          </a:prstGeom>
          <a:noFill/>
        </p:spPr>
        <p:txBody>
          <a:bodyPr wrap="none" lIns="0" tIns="0" rIns="0" bIns="0" anchor="ctr">
            <a:spAutoFit/>
          </a:bodyPr>
          <a:lstStyle/>
          <a:p>
            <a:pPr algn="ctr">
              <a:lnSpc>
                <a:spcPct val="105000"/>
              </a:lnSpc>
            </a:pPr>
            <a:r>
              <a:rPr sz="528" dirty="0">
                <a:solidFill>
                  <a:srgbClr val="263442"/>
                </a:solidFill>
                <a:latin typeface="Arial"/>
              </a:rPr>
              <a:t>Learned projections</a:t>
            </a:r>
          </a:p>
        </p:txBody>
      </p:sp>
      <p:sp>
        <p:nvSpPr>
          <p:cNvPr id="734" name="Math | s_j,k^">
            <a:extLst>
              <a:ext uri="{FF2B5EF4-FFF2-40B4-BE49-F238E27FC236}">
                <a16:creationId xmlns:a16="http://schemas.microsoft.com/office/drawing/2014/main" id="{BD0A37AE-0CF6-77DD-8048-3FF0945F4158}"/>
              </a:ext>
            </a:extLst>
          </p:cNvPr>
          <p:cNvSpPr txBox="1"/>
          <p:nvPr/>
        </p:nvSpPr>
        <p:spPr>
          <a:xfrm>
            <a:off x="3884649" y="4086560"/>
            <a:ext cx="104196" cy="117083"/>
          </a:xfrm>
          <a:prstGeom prst="rect">
            <a:avLst/>
          </a:prstGeom>
          <a:noFill/>
        </p:spPr>
        <p:txBody>
          <a:bodyPr wrap="none" lIns="0" tIns="0" rIns="0" bIns="0" anchor="ctr">
            <a:spAutoFit/>
          </a:bodyPr>
          <a:lstStyle/>
          <a:p>
            <a:pPr algn="ctr"/>
            <a:r>
              <a:rPr sz="791" i="1" dirty="0" err="1">
                <a:solidFill>
                  <a:srgbClr val="263442"/>
                </a:solidFill>
                <a:latin typeface="Times New Roman"/>
              </a:rPr>
              <a:t>s</a:t>
            </a:r>
            <a:r>
              <a:rPr sz="780" i="1" baseline="-28000" dirty="0" err="1">
                <a:solidFill>
                  <a:srgbClr val="263442"/>
                </a:solidFill>
                <a:latin typeface="Times New Roman"/>
              </a:rPr>
              <a:t>j,k</a:t>
            </a:r>
            <a:endParaRPr sz="780" i="1" baseline="-28000" dirty="0">
              <a:solidFill>
                <a:srgbClr val="263442"/>
              </a:solidFill>
              <a:latin typeface="Times New Roman"/>
            </a:endParaRPr>
          </a:p>
        </p:txBody>
      </p:sp>
      <p:sp>
        <p:nvSpPr>
          <p:cNvPr id="735" name="TextBox 12279">
            <a:extLst>
              <a:ext uri="{FF2B5EF4-FFF2-40B4-BE49-F238E27FC236}">
                <a16:creationId xmlns:a16="http://schemas.microsoft.com/office/drawing/2014/main" id="{C56E8311-ADDA-7C63-9110-2C3006BDD08E}"/>
              </a:ext>
            </a:extLst>
          </p:cNvPr>
          <p:cNvSpPr txBox="1"/>
          <p:nvPr/>
        </p:nvSpPr>
        <p:spPr>
          <a:xfrm>
            <a:off x="4144023" y="3931330"/>
            <a:ext cx="479297" cy="87268"/>
          </a:xfrm>
          <a:prstGeom prst="rect">
            <a:avLst/>
          </a:prstGeom>
          <a:noFill/>
        </p:spPr>
        <p:txBody>
          <a:bodyPr wrap="none" lIns="0" tIns="0" rIns="0" bIns="0" anchor="ctr">
            <a:spAutoFit/>
          </a:bodyPr>
          <a:lstStyle/>
          <a:p>
            <a:pPr algn="ctr">
              <a:lnSpc>
                <a:spcPct val="105000"/>
              </a:lnSpc>
            </a:pPr>
            <a:r>
              <a:rPr sz="580">
                <a:solidFill>
                  <a:srgbClr val="263442"/>
                </a:solidFill>
                <a:latin typeface="Arial"/>
              </a:rPr>
              <a:t>Identity scores</a:t>
            </a:r>
          </a:p>
        </p:txBody>
      </p:sp>
      <p:sp>
        <p:nvSpPr>
          <p:cNvPr id="736" name="TextBox 12280">
            <a:extLst>
              <a:ext uri="{FF2B5EF4-FFF2-40B4-BE49-F238E27FC236}">
                <a16:creationId xmlns:a16="http://schemas.microsoft.com/office/drawing/2014/main" id="{C640A1D5-D4D1-3FBF-0F27-45AD836A7FCE}"/>
              </a:ext>
            </a:extLst>
          </p:cNvPr>
          <p:cNvSpPr txBox="1"/>
          <p:nvPr/>
        </p:nvSpPr>
        <p:spPr>
          <a:xfrm>
            <a:off x="4382527" y="4018471"/>
            <a:ext cx="102835" cy="85921"/>
          </a:xfrm>
          <a:prstGeom prst="rect">
            <a:avLst/>
          </a:prstGeom>
          <a:noFill/>
        </p:spPr>
        <p:txBody>
          <a:bodyPr wrap="square" lIns="0" tIns="0" rIns="0" bIns="0" anchor="ctr">
            <a:spAutoFit/>
          </a:bodyPr>
          <a:lstStyle/>
          <a:p>
            <a:pPr algn="ctr">
              <a:lnSpc>
                <a:spcPct val="105000"/>
              </a:lnSpc>
            </a:pPr>
            <a:r>
              <a:rPr sz="571" dirty="0">
                <a:solidFill>
                  <a:srgbClr val="263442"/>
                </a:solidFill>
                <a:latin typeface="Arial"/>
              </a:rPr>
              <a:t>k</a:t>
            </a:r>
          </a:p>
        </p:txBody>
      </p:sp>
      <p:sp>
        <p:nvSpPr>
          <p:cNvPr id="737" name="TextBox 12281">
            <a:extLst>
              <a:ext uri="{FF2B5EF4-FFF2-40B4-BE49-F238E27FC236}">
                <a16:creationId xmlns:a16="http://schemas.microsoft.com/office/drawing/2014/main" id="{F472392A-4724-5EDA-C6D8-557EF063B52F}"/>
              </a:ext>
            </a:extLst>
          </p:cNvPr>
          <p:cNvSpPr txBox="1"/>
          <p:nvPr/>
        </p:nvSpPr>
        <p:spPr>
          <a:xfrm>
            <a:off x="4083077" y="4169314"/>
            <a:ext cx="87014" cy="85921"/>
          </a:xfrm>
          <a:prstGeom prst="rect">
            <a:avLst/>
          </a:prstGeom>
          <a:noFill/>
        </p:spPr>
        <p:txBody>
          <a:bodyPr wrap="square" lIns="0" tIns="0" rIns="0" bIns="0" anchor="ctr">
            <a:spAutoFit/>
          </a:bodyPr>
          <a:lstStyle/>
          <a:p>
            <a:pPr algn="ctr">
              <a:lnSpc>
                <a:spcPct val="105000"/>
              </a:lnSpc>
            </a:pPr>
            <a:r>
              <a:rPr sz="571">
                <a:solidFill>
                  <a:srgbClr val="263442"/>
                </a:solidFill>
                <a:latin typeface="Arial"/>
              </a:rPr>
              <a:t>j</a:t>
            </a:r>
          </a:p>
        </p:txBody>
      </p:sp>
      <p:sp>
        <p:nvSpPr>
          <p:cNvPr id="738" name="Matrix cell (0,0)">
            <a:extLst>
              <a:ext uri="{FF2B5EF4-FFF2-40B4-BE49-F238E27FC236}">
                <a16:creationId xmlns:a16="http://schemas.microsoft.com/office/drawing/2014/main" id="{1FAFF817-C1CE-5F45-E950-98E19AE452CF}"/>
              </a:ext>
            </a:extLst>
          </p:cNvPr>
          <p:cNvSpPr/>
          <p:nvPr/>
        </p:nvSpPr>
        <p:spPr>
          <a:xfrm>
            <a:off x="4178001"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9" name="Matrix cell (0,1)">
            <a:extLst>
              <a:ext uri="{FF2B5EF4-FFF2-40B4-BE49-F238E27FC236}">
                <a16:creationId xmlns:a16="http://schemas.microsoft.com/office/drawing/2014/main" id="{ED9FACB8-4D6A-044F-997F-E09503AC15AA}"/>
              </a:ext>
            </a:extLst>
          </p:cNvPr>
          <p:cNvSpPr/>
          <p:nvPr/>
        </p:nvSpPr>
        <p:spPr>
          <a:xfrm>
            <a:off x="4280836"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0" name="Matrix cell (0,2)">
            <a:extLst>
              <a:ext uri="{FF2B5EF4-FFF2-40B4-BE49-F238E27FC236}">
                <a16:creationId xmlns:a16="http://schemas.microsoft.com/office/drawing/2014/main" id="{DE25E670-FAB3-667C-5777-C71ED9075845}"/>
              </a:ext>
            </a:extLst>
          </p:cNvPr>
          <p:cNvSpPr/>
          <p:nvPr/>
        </p:nvSpPr>
        <p:spPr>
          <a:xfrm>
            <a:off x="4383671"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1" name="Matrix cell (0,3)">
            <a:extLst>
              <a:ext uri="{FF2B5EF4-FFF2-40B4-BE49-F238E27FC236}">
                <a16:creationId xmlns:a16="http://schemas.microsoft.com/office/drawing/2014/main" id="{D15A0AB1-9BF7-4E76-6CED-C525DFBAA5F7}"/>
              </a:ext>
            </a:extLst>
          </p:cNvPr>
          <p:cNvSpPr/>
          <p:nvPr/>
        </p:nvSpPr>
        <p:spPr>
          <a:xfrm>
            <a:off x="4486506"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2" name="Matrix cell (1,0)">
            <a:extLst>
              <a:ext uri="{FF2B5EF4-FFF2-40B4-BE49-F238E27FC236}">
                <a16:creationId xmlns:a16="http://schemas.microsoft.com/office/drawing/2014/main" id="{5C20FC23-8B30-D896-36CC-91D73273996F}"/>
              </a:ext>
            </a:extLst>
          </p:cNvPr>
          <p:cNvSpPr/>
          <p:nvPr/>
        </p:nvSpPr>
        <p:spPr>
          <a:xfrm>
            <a:off x="4178001"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3" name="Matrix cell (1,1)">
            <a:extLst>
              <a:ext uri="{FF2B5EF4-FFF2-40B4-BE49-F238E27FC236}">
                <a16:creationId xmlns:a16="http://schemas.microsoft.com/office/drawing/2014/main" id="{023C0380-7EA8-B629-5738-AD00698F49B6}"/>
              </a:ext>
            </a:extLst>
          </p:cNvPr>
          <p:cNvSpPr/>
          <p:nvPr/>
        </p:nvSpPr>
        <p:spPr>
          <a:xfrm>
            <a:off x="4280836"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4" name="Matrix cell (1,2)">
            <a:extLst>
              <a:ext uri="{FF2B5EF4-FFF2-40B4-BE49-F238E27FC236}">
                <a16:creationId xmlns:a16="http://schemas.microsoft.com/office/drawing/2014/main" id="{12FBEABC-63F9-0304-4A97-80811BFE2B66}"/>
              </a:ext>
            </a:extLst>
          </p:cNvPr>
          <p:cNvSpPr/>
          <p:nvPr/>
        </p:nvSpPr>
        <p:spPr>
          <a:xfrm>
            <a:off x="4383671" y="4176678"/>
            <a:ext cx="102835" cy="71193"/>
          </a:xfrm>
          <a:prstGeom prst="rect">
            <a:avLst/>
          </a:prstGeom>
          <a:solidFill>
            <a:srgbClr val="3C9486"/>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5" name="Matrix cell (1,3)">
            <a:extLst>
              <a:ext uri="{FF2B5EF4-FFF2-40B4-BE49-F238E27FC236}">
                <a16:creationId xmlns:a16="http://schemas.microsoft.com/office/drawing/2014/main" id="{90D1E1D0-D1D8-F490-5B4D-27F3093D1ECE}"/>
              </a:ext>
            </a:extLst>
          </p:cNvPr>
          <p:cNvSpPr/>
          <p:nvPr/>
        </p:nvSpPr>
        <p:spPr>
          <a:xfrm>
            <a:off x="4486506"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6" name="Matrix cell (2,0)">
            <a:extLst>
              <a:ext uri="{FF2B5EF4-FFF2-40B4-BE49-F238E27FC236}">
                <a16:creationId xmlns:a16="http://schemas.microsoft.com/office/drawing/2014/main" id="{158A66BE-E7B7-0506-657E-0BF13A0E4F5E}"/>
              </a:ext>
            </a:extLst>
          </p:cNvPr>
          <p:cNvSpPr/>
          <p:nvPr/>
        </p:nvSpPr>
        <p:spPr>
          <a:xfrm>
            <a:off x="4178001"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7" name="Matrix cell (2,1)">
            <a:extLst>
              <a:ext uri="{FF2B5EF4-FFF2-40B4-BE49-F238E27FC236}">
                <a16:creationId xmlns:a16="http://schemas.microsoft.com/office/drawing/2014/main" id="{3B18D166-F88A-573E-0225-1ACB99CB2512}"/>
              </a:ext>
            </a:extLst>
          </p:cNvPr>
          <p:cNvSpPr/>
          <p:nvPr/>
        </p:nvSpPr>
        <p:spPr>
          <a:xfrm>
            <a:off x="4280836"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8" name="Matrix cell (2,2)">
            <a:extLst>
              <a:ext uri="{FF2B5EF4-FFF2-40B4-BE49-F238E27FC236}">
                <a16:creationId xmlns:a16="http://schemas.microsoft.com/office/drawing/2014/main" id="{FC858539-3EA9-E4FE-E803-0C8FFAD3870F}"/>
              </a:ext>
            </a:extLst>
          </p:cNvPr>
          <p:cNvSpPr/>
          <p:nvPr/>
        </p:nvSpPr>
        <p:spPr>
          <a:xfrm>
            <a:off x="4383671"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9" name="Matrix cell (2,3)">
            <a:extLst>
              <a:ext uri="{FF2B5EF4-FFF2-40B4-BE49-F238E27FC236}">
                <a16:creationId xmlns:a16="http://schemas.microsoft.com/office/drawing/2014/main" id="{3713326C-75C4-31D8-12F4-1CA18BF652D7}"/>
              </a:ext>
            </a:extLst>
          </p:cNvPr>
          <p:cNvSpPr/>
          <p:nvPr/>
        </p:nvSpPr>
        <p:spPr>
          <a:xfrm>
            <a:off x="4486506"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50" name="TextBox 12294">
            <a:extLst>
              <a:ext uri="{FF2B5EF4-FFF2-40B4-BE49-F238E27FC236}">
                <a16:creationId xmlns:a16="http://schemas.microsoft.com/office/drawing/2014/main" id="{E992C05A-634A-6CF2-2936-1480C4EA17F1}"/>
              </a:ext>
            </a:extLst>
          </p:cNvPr>
          <p:cNvSpPr txBox="1"/>
          <p:nvPr/>
        </p:nvSpPr>
        <p:spPr>
          <a:xfrm>
            <a:off x="4178002" y="4312989"/>
            <a:ext cx="411339" cy="82587"/>
          </a:xfrm>
          <a:prstGeom prst="rect">
            <a:avLst/>
          </a:prstGeom>
          <a:noFill/>
        </p:spPr>
        <p:txBody>
          <a:bodyPr wrap="square" lIns="0" tIns="0" rIns="0" bIns="0" anchor="ctr">
            <a:spAutoFit/>
          </a:bodyPr>
          <a:lstStyle/>
          <a:p>
            <a:pPr algn="ctr">
              <a:lnSpc>
                <a:spcPct val="105000"/>
              </a:lnSpc>
            </a:pPr>
            <a:r>
              <a:rPr sz="536">
                <a:solidFill>
                  <a:srgbClr val="263442"/>
                </a:solidFill>
                <a:latin typeface="Arial"/>
              </a:rPr>
              <a:t>J × K</a:t>
            </a:r>
          </a:p>
        </p:txBody>
      </p:sp>
      <p:grpSp>
        <p:nvGrpSpPr>
          <p:cNvPr id="751" name="组合 13795">
            <a:extLst>
              <a:ext uri="{FF2B5EF4-FFF2-40B4-BE49-F238E27FC236}">
                <a16:creationId xmlns:a16="http://schemas.microsoft.com/office/drawing/2014/main" id="{7EA912CF-516A-2745-A5D0-8704116A4D72}"/>
              </a:ext>
            </a:extLst>
          </p:cNvPr>
          <p:cNvGrpSpPr/>
          <p:nvPr/>
        </p:nvGrpSpPr>
        <p:grpSpPr>
          <a:xfrm>
            <a:off x="2067869" y="554865"/>
            <a:ext cx="1978883" cy="340209"/>
            <a:chOff x="6312668" y="2448732"/>
            <a:chExt cx="1215499" cy="343631"/>
          </a:xfrm>
        </p:grpSpPr>
        <p:pic>
          <p:nvPicPr>
            <p:cNvPr id="752" name="图片 12">
              <a:extLst>
                <a:ext uri="{FF2B5EF4-FFF2-40B4-BE49-F238E27FC236}">
                  <a16:creationId xmlns:a16="http://schemas.microsoft.com/office/drawing/2014/main" id="{521CB8EA-9697-F11D-7107-B4A42B988070}"/>
                </a:ext>
              </a:extLst>
            </p:cNvPr>
            <p:cNvPicPr>
              <a:picLocks/>
            </p:cNvPicPr>
            <p:nvPr/>
          </p:nvPicPr>
          <p:blipFill>
            <a:blip r:embed="rId5"/>
            <a:srcRect l="70243" t="-18171" b="-1"/>
            <a:stretch>
              <a:fillRect/>
            </a:stretch>
          </p:blipFill>
          <p:spPr>
            <a:xfrm>
              <a:off x="7112075" y="2448732"/>
              <a:ext cx="416092" cy="323855"/>
            </a:xfrm>
            <a:prstGeom prst="rect">
              <a:avLst/>
            </a:prstGeom>
          </p:spPr>
        </p:pic>
        <p:pic>
          <p:nvPicPr>
            <p:cNvPr id="753" name="图片 12">
              <a:extLst>
                <a:ext uri="{FF2B5EF4-FFF2-40B4-BE49-F238E27FC236}">
                  <a16:creationId xmlns:a16="http://schemas.microsoft.com/office/drawing/2014/main" id="{546466D8-C7C6-7C8A-3307-95F68FB4F610}"/>
                </a:ext>
              </a:extLst>
            </p:cNvPr>
            <p:cNvPicPr>
              <a:picLocks/>
            </p:cNvPicPr>
            <p:nvPr/>
          </p:nvPicPr>
          <p:blipFill>
            <a:blip r:embed="rId5"/>
            <a:srcRect r="70534" b="-8235"/>
            <a:stretch>
              <a:fillRect/>
            </a:stretch>
          </p:blipFill>
          <p:spPr>
            <a:xfrm>
              <a:off x="6312668" y="2495741"/>
              <a:ext cx="412024" cy="296622"/>
            </a:xfrm>
            <a:prstGeom prst="rect">
              <a:avLst/>
            </a:prstGeom>
          </p:spPr>
        </p:pic>
        <p:pic>
          <p:nvPicPr>
            <p:cNvPr id="754" name="Picture 10000" descr="unet_block_18.png">
              <a:extLst>
                <a:ext uri="{FF2B5EF4-FFF2-40B4-BE49-F238E27FC236}">
                  <a16:creationId xmlns:a16="http://schemas.microsoft.com/office/drawing/2014/main" id="{75A7694C-DEA5-AFE8-E284-0A0D89F845C1}"/>
                </a:ext>
              </a:extLst>
            </p:cNvPr>
            <p:cNvPicPr>
              <a:picLocks noChangeAspect="1"/>
            </p:cNvPicPr>
            <p:nvPr/>
          </p:nvPicPr>
          <p:blipFill>
            <a:blip r:embed="rId6"/>
            <a:stretch>
              <a:fillRect/>
            </a:stretch>
          </p:blipFill>
          <p:spPr>
            <a:xfrm>
              <a:off x="6776851" y="2645026"/>
              <a:ext cx="276863" cy="126566"/>
            </a:xfrm>
            <a:prstGeom prst="rect">
              <a:avLst/>
            </a:prstGeom>
          </p:spPr>
        </p:pic>
      </p:grpSp>
      <p:grpSp>
        <p:nvGrpSpPr>
          <p:cNvPr id="755" name="Find candidate blob 1">
            <a:extLst>
              <a:ext uri="{FF2B5EF4-FFF2-40B4-BE49-F238E27FC236}">
                <a16:creationId xmlns:a16="http://schemas.microsoft.com/office/drawing/2014/main" id="{3B821B97-56A6-DCED-E85F-DBF945F3EA13}"/>
              </a:ext>
            </a:extLst>
          </p:cNvPr>
          <p:cNvGrpSpPr/>
          <p:nvPr/>
        </p:nvGrpSpPr>
        <p:grpSpPr>
          <a:xfrm>
            <a:off x="4387530" y="1039644"/>
            <a:ext cx="163890" cy="111953"/>
            <a:chOff x="1928706" y="3559489"/>
            <a:chExt cx="227897" cy="155682"/>
          </a:xfrm>
        </p:grpSpPr>
        <p:sp>
          <p:nvSpPr>
            <p:cNvPr id="756" name="Candidate blob | editable contour">
              <a:extLst>
                <a:ext uri="{FF2B5EF4-FFF2-40B4-BE49-F238E27FC236}">
                  <a16:creationId xmlns:a16="http://schemas.microsoft.com/office/drawing/2014/main" id="{B3B117DA-D182-38E6-AD16-B4776AD2C7B7}"/>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57" name="ellipse_2612">
              <a:extLst>
                <a:ext uri="{FF2B5EF4-FFF2-40B4-BE49-F238E27FC236}">
                  <a16:creationId xmlns:a16="http://schemas.microsoft.com/office/drawing/2014/main" id="{901C6437-E94C-AFDE-D242-E688A89ABBD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58" name="Find candidate blob 2">
            <a:extLst>
              <a:ext uri="{FF2B5EF4-FFF2-40B4-BE49-F238E27FC236}">
                <a16:creationId xmlns:a16="http://schemas.microsoft.com/office/drawing/2014/main" id="{00C0C92B-D4C8-0994-E860-1581EB873D86}"/>
              </a:ext>
            </a:extLst>
          </p:cNvPr>
          <p:cNvGrpSpPr/>
          <p:nvPr/>
        </p:nvGrpSpPr>
        <p:grpSpPr>
          <a:xfrm>
            <a:off x="4382818" y="917369"/>
            <a:ext cx="168602" cy="95394"/>
            <a:chOff x="1928706" y="3559489"/>
            <a:chExt cx="227897" cy="155682"/>
          </a:xfrm>
        </p:grpSpPr>
        <p:sp>
          <p:nvSpPr>
            <p:cNvPr id="759" name="Candidate blob | editable contour">
              <a:extLst>
                <a:ext uri="{FF2B5EF4-FFF2-40B4-BE49-F238E27FC236}">
                  <a16:creationId xmlns:a16="http://schemas.microsoft.com/office/drawing/2014/main" id="{A172A8B3-EFA3-33C9-CD2B-307B24D7293D}"/>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0" name="ellipse_2612">
              <a:extLst>
                <a:ext uri="{FF2B5EF4-FFF2-40B4-BE49-F238E27FC236}">
                  <a16:creationId xmlns:a16="http://schemas.microsoft.com/office/drawing/2014/main" id="{CF37E813-914E-4383-9CE9-1C5F4095124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61" name="Find candidate blob 3">
            <a:extLst>
              <a:ext uri="{FF2B5EF4-FFF2-40B4-BE49-F238E27FC236}">
                <a16:creationId xmlns:a16="http://schemas.microsoft.com/office/drawing/2014/main" id="{D7299A48-8BF0-7050-EF56-14DA3F495CB7}"/>
              </a:ext>
            </a:extLst>
          </p:cNvPr>
          <p:cNvGrpSpPr/>
          <p:nvPr/>
        </p:nvGrpSpPr>
        <p:grpSpPr>
          <a:xfrm rot="364243">
            <a:off x="4589593" y="1028968"/>
            <a:ext cx="127658" cy="129194"/>
            <a:chOff x="1928706" y="3559489"/>
            <a:chExt cx="227897" cy="155682"/>
          </a:xfrm>
        </p:grpSpPr>
        <p:sp>
          <p:nvSpPr>
            <p:cNvPr id="762" name="Candidate blob | editable contour">
              <a:extLst>
                <a:ext uri="{FF2B5EF4-FFF2-40B4-BE49-F238E27FC236}">
                  <a16:creationId xmlns:a16="http://schemas.microsoft.com/office/drawing/2014/main" id="{8902F596-0D84-3C56-EB93-D63FC7E9041E}"/>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3" name="ellipse_2612">
              <a:extLst>
                <a:ext uri="{FF2B5EF4-FFF2-40B4-BE49-F238E27FC236}">
                  <a16:creationId xmlns:a16="http://schemas.microsoft.com/office/drawing/2014/main" id="{85D74281-2FE6-E2D2-EFBA-AF54A45686E3}"/>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765" name="Find auxiliary label">
            <a:extLst>
              <a:ext uri="{FF2B5EF4-FFF2-40B4-BE49-F238E27FC236}">
                <a16:creationId xmlns:a16="http://schemas.microsoft.com/office/drawing/2014/main" id="{CAD88599-B783-720B-B6BD-9F787FCB6CF4}"/>
              </a:ext>
            </a:extLst>
          </p:cNvPr>
          <p:cNvSpPr>
            <a:spLocks noGrp="1"/>
          </p:cNvSpPr>
          <p:nvPr/>
        </p:nvSpPr>
        <p:spPr>
          <a:xfrm>
            <a:off x="4345824" y="1518303"/>
            <a:ext cx="433362" cy="157954"/>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90" dirty="0">
                <a:solidFill>
                  <a:srgbClr val="263442"/>
                </a:solidFill>
                <a:latin typeface="Arial"/>
                <a:ea typeface="Arial"/>
                <a:cs typeface="Arial"/>
              </a:rPr>
              <a:t>Auxiliary</a:t>
            </a:r>
          </a:p>
          <a:p>
            <a:pPr algn="ctr">
              <a:defRPr sz="590" b="0">
                <a:solidFill>
                  <a:srgbClr val="263442"/>
                </a:solidFill>
                <a:latin typeface="Arial"/>
                <a:ea typeface="Arial"/>
                <a:cs typeface="Arial"/>
              </a:defRPr>
            </a:pPr>
            <a:r>
              <a:rPr sz="590" dirty="0">
                <a:solidFill>
                  <a:srgbClr val="263442"/>
                </a:solidFill>
                <a:latin typeface="Arial"/>
                <a:ea typeface="Arial"/>
                <a:cs typeface="Arial"/>
              </a:rPr>
              <a:t>features</a:t>
            </a:r>
          </a:p>
        </p:txBody>
      </p:sp>
      <p:sp>
        <p:nvSpPr>
          <p:cNvPr id="766" name="Match auxiliary label">
            <a:extLst>
              <a:ext uri="{FF2B5EF4-FFF2-40B4-BE49-F238E27FC236}">
                <a16:creationId xmlns:a16="http://schemas.microsoft.com/office/drawing/2014/main" id="{C154BF4F-4214-59BC-DCE1-F9C23194AC63}"/>
              </a:ext>
            </a:extLst>
          </p:cNvPr>
          <p:cNvSpPr>
            <a:spLocks noGrp="1"/>
          </p:cNvSpPr>
          <p:nvPr/>
        </p:nvSpPr>
        <p:spPr>
          <a:xfrm>
            <a:off x="1600039" y="2843177"/>
            <a:ext cx="405011" cy="174155"/>
          </a:xfrm>
          <a:prstGeom prst="rect">
            <a:avLst/>
          </a:prstGeom>
          <a:noFill/>
          <a:ln w="6885">
            <a:noFill/>
            <a:prstDash val="solid"/>
          </a:ln>
        </p:spPr>
        <p:txBody>
          <a:bodyPr lIns="0" tIns="0" rIns="0" bIns="0" anchor="ctr"/>
          <a:lstStyle>
            <a:defPPr algn="ctr">
              <a:defRPr sz="590" b="1">
                <a:solidFill>
                  <a:srgbClr val="263442"/>
                </a:solidFill>
                <a:latin typeface="Arial"/>
                <a:ea typeface="Arial"/>
                <a:cs typeface="Arial"/>
              </a:defRPr>
            </a:defPPr>
            <a:lvl1pPr algn="ctr">
              <a:defRPr sz="590" b="1">
                <a:solidFill>
                  <a:srgbClr val="263442"/>
                </a:solidFill>
                <a:latin typeface="Arial"/>
                <a:ea typeface="Arial"/>
                <a:cs typeface="Arial"/>
              </a:defRPr>
            </a:lvl1pPr>
            <a:lvl2pPr algn="ctr">
              <a:defRPr sz="590" b="1">
                <a:solidFill>
                  <a:srgbClr val="263442"/>
                </a:solidFill>
                <a:latin typeface="Arial"/>
                <a:ea typeface="Arial"/>
                <a:cs typeface="Arial"/>
              </a:defRPr>
            </a:lvl2pPr>
            <a:lvl3pPr algn="ctr">
              <a:defRPr sz="590" b="1">
                <a:solidFill>
                  <a:srgbClr val="263442"/>
                </a:solidFill>
                <a:latin typeface="Arial"/>
                <a:ea typeface="Arial"/>
                <a:cs typeface="Arial"/>
              </a:defRPr>
            </a:lvl3pPr>
            <a:lvl4pPr algn="ctr">
              <a:defRPr sz="590" b="1">
                <a:solidFill>
                  <a:srgbClr val="263442"/>
                </a:solidFill>
                <a:latin typeface="Arial"/>
                <a:ea typeface="Arial"/>
                <a:cs typeface="Arial"/>
              </a:defRPr>
            </a:lvl4pPr>
            <a:lvl5pPr algn="ctr">
              <a:defRPr sz="590" b="1">
                <a:solidFill>
                  <a:srgbClr val="263442"/>
                </a:solidFill>
                <a:latin typeface="Arial"/>
                <a:ea typeface="Arial"/>
                <a:cs typeface="Arial"/>
              </a:defRPr>
            </a:lvl5pPr>
            <a:lvl6pPr algn="ctr">
              <a:defRPr sz="590" b="1">
                <a:solidFill>
                  <a:srgbClr val="263442"/>
                </a:solidFill>
                <a:latin typeface="Arial"/>
                <a:ea typeface="Arial"/>
                <a:cs typeface="Arial"/>
              </a:defRPr>
            </a:lvl6pPr>
            <a:lvl7pPr algn="ctr">
              <a:defRPr sz="590" b="1">
                <a:solidFill>
                  <a:srgbClr val="263442"/>
                </a:solidFill>
                <a:latin typeface="Arial"/>
                <a:ea typeface="Arial"/>
                <a:cs typeface="Arial"/>
              </a:defRPr>
            </a:lvl7pPr>
            <a:lvl8pPr algn="ctr">
              <a:defRPr sz="590" b="1">
                <a:solidFill>
                  <a:srgbClr val="263442"/>
                </a:solidFill>
                <a:latin typeface="Arial"/>
                <a:ea typeface="Arial"/>
                <a:cs typeface="Arial"/>
              </a:defRPr>
            </a:lvl8pPr>
            <a:lvl9pPr algn="ctr">
              <a:defRPr sz="590" b="1">
                <a:solidFill>
                  <a:srgbClr val="263442"/>
                </a:solidFill>
                <a:latin typeface="Arial"/>
                <a:ea typeface="Arial"/>
                <a:cs typeface="Arial"/>
              </a:defRPr>
            </a:lvl9pPr>
          </a:lstStyle>
          <a:p>
            <a:pPr algn="ctr">
              <a:defRPr sz="590" b="1">
                <a:solidFill>
                  <a:srgbClr val="263442"/>
                </a:solidFill>
                <a:latin typeface="Arial"/>
                <a:ea typeface="Arial"/>
                <a:cs typeface="Arial"/>
              </a:defRPr>
            </a:pPr>
            <a:r>
              <a:rPr sz="590" b="0" dirty="0">
                <a:solidFill>
                  <a:srgbClr val="263442"/>
                </a:solidFill>
                <a:latin typeface="Arial"/>
                <a:ea typeface="Arial"/>
                <a:cs typeface="Arial"/>
              </a:rPr>
              <a:t>Auxiliary</a:t>
            </a:r>
          </a:p>
          <a:p>
            <a:pPr algn="ctr">
              <a:defRPr sz="590" b="1">
                <a:solidFill>
                  <a:srgbClr val="263442"/>
                </a:solidFill>
                <a:latin typeface="Arial"/>
                <a:ea typeface="Arial"/>
                <a:cs typeface="Arial"/>
              </a:defRPr>
            </a:pPr>
            <a:r>
              <a:rPr sz="590" b="0" dirty="0">
                <a:solidFill>
                  <a:srgbClr val="263442"/>
                </a:solidFill>
                <a:latin typeface="Arial"/>
                <a:ea typeface="Arial"/>
                <a:cs typeface="Arial"/>
              </a:rPr>
              <a:t>features</a:t>
            </a:r>
          </a:p>
        </p:txBody>
      </p:sp>
      <p:sp>
        <p:nvSpPr>
          <p:cNvPr id="767" name="Concat label">
            <a:extLst>
              <a:ext uri="{FF2B5EF4-FFF2-40B4-BE49-F238E27FC236}">
                <a16:creationId xmlns:a16="http://schemas.microsoft.com/office/drawing/2014/main" id="{9D20C35C-694E-CDD5-F90A-040BE36EEE21}"/>
              </a:ext>
            </a:extLst>
          </p:cNvPr>
          <p:cNvSpPr>
            <a:spLocks noGrp="1"/>
          </p:cNvSpPr>
          <p:nvPr/>
        </p:nvSpPr>
        <p:spPr>
          <a:xfrm>
            <a:off x="1202945" y="3608830"/>
            <a:ext cx="259207" cy="81002"/>
          </a:xfrm>
          <a:prstGeom prst="rect">
            <a:avLst/>
          </a:prstGeom>
          <a:noFill/>
          <a:ln w="6885">
            <a:noFill/>
            <a:prstDash val="solid"/>
          </a:ln>
        </p:spPr>
        <p:txBody>
          <a:bodyPr lIns="0" tIns="0" rIns="0" bIns="0" anchor="ctr"/>
          <a:lstStyle>
            <a:defPPr algn="ctr">
              <a:defRPr sz="568" b="0">
                <a:solidFill>
                  <a:srgbClr val="263442"/>
                </a:solidFill>
                <a:latin typeface="Arial"/>
                <a:ea typeface="Arial"/>
                <a:cs typeface="Arial"/>
              </a:defRPr>
            </a:defPPr>
            <a:lvl1pPr algn="ctr">
              <a:defRPr sz="568" b="0">
                <a:solidFill>
                  <a:srgbClr val="263442"/>
                </a:solidFill>
                <a:latin typeface="Arial"/>
                <a:ea typeface="Arial"/>
                <a:cs typeface="Arial"/>
              </a:defRPr>
            </a:lvl1pPr>
            <a:lvl2pPr algn="ctr">
              <a:defRPr sz="568" b="0">
                <a:solidFill>
                  <a:srgbClr val="263442"/>
                </a:solidFill>
                <a:latin typeface="Arial"/>
                <a:ea typeface="Arial"/>
                <a:cs typeface="Arial"/>
              </a:defRPr>
            </a:lvl2pPr>
            <a:lvl3pPr algn="ctr">
              <a:defRPr sz="568" b="0">
                <a:solidFill>
                  <a:srgbClr val="263442"/>
                </a:solidFill>
                <a:latin typeface="Arial"/>
                <a:ea typeface="Arial"/>
                <a:cs typeface="Arial"/>
              </a:defRPr>
            </a:lvl3pPr>
            <a:lvl4pPr algn="ctr">
              <a:defRPr sz="568" b="0">
                <a:solidFill>
                  <a:srgbClr val="263442"/>
                </a:solidFill>
                <a:latin typeface="Arial"/>
                <a:ea typeface="Arial"/>
                <a:cs typeface="Arial"/>
              </a:defRPr>
            </a:lvl4pPr>
            <a:lvl5pPr algn="ctr">
              <a:defRPr sz="568" b="0">
                <a:solidFill>
                  <a:srgbClr val="263442"/>
                </a:solidFill>
                <a:latin typeface="Arial"/>
                <a:ea typeface="Arial"/>
                <a:cs typeface="Arial"/>
              </a:defRPr>
            </a:lvl5pPr>
            <a:lvl6pPr algn="ctr">
              <a:defRPr sz="568" b="0">
                <a:solidFill>
                  <a:srgbClr val="263442"/>
                </a:solidFill>
                <a:latin typeface="Arial"/>
                <a:ea typeface="Arial"/>
                <a:cs typeface="Arial"/>
              </a:defRPr>
            </a:lvl6pPr>
            <a:lvl7pPr algn="ctr">
              <a:defRPr sz="568" b="0">
                <a:solidFill>
                  <a:srgbClr val="263442"/>
                </a:solidFill>
                <a:latin typeface="Arial"/>
                <a:ea typeface="Arial"/>
                <a:cs typeface="Arial"/>
              </a:defRPr>
            </a:lvl7pPr>
            <a:lvl8pPr algn="ctr">
              <a:defRPr sz="568" b="0">
                <a:solidFill>
                  <a:srgbClr val="263442"/>
                </a:solidFill>
                <a:latin typeface="Arial"/>
                <a:ea typeface="Arial"/>
                <a:cs typeface="Arial"/>
              </a:defRPr>
            </a:lvl8pPr>
            <a:lvl9pPr algn="ctr">
              <a:defRPr sz="568" b="0">
                <a:solidFill>
                  <a:srgbClr val="263442"/>
                </a:solidFill>
                <a:latin typeface="Arial"/>
                <a:ea typeface="Arial"/>
                <a:cs typeface="Arial"/>
              </a:defRPr>
            </a:lvl9pPr>
          </a:lstStyle>
          <a:p>
            <a:pPr algn="ctr">
              <a:defRPr sz="568" b="0">
                <a:solidFill>
                  <a:srgbClr val="263442"/>
                </a:solidFill>
                <a:latin typeface="Arial"/>
                <a:ea typeface="Arial"/>
                <a:cs typeface="Arial"/>
              </a:defRPr>
            </a:pPr>
            <a:r>
              <a:rPr sz="568" dirty="0" err="1">
                <a:solidFill>
                  <a:srgbClr val="263442"/>
                </a:solidFill>
                <a:latin typeface="Arial"/>
                <a:ea typeface="Arial"/>
                <a:cs typeface="Arial"/>
              </a:rPr>
              <a:t>Concat</a:t>
            </a:r>
            <a:endParaRPr sz="568" dirty="0">
              <a:solidFill>
                <a:srgbClr val="263442"/>
              </a:solidFill>
              <a:latin typeface="Arial"/>
              <a:ea typeface="Arial"/>
              <a:cs typeface="Arial"/>
            </a:endParaRPr>
          </a:p>
        </p:txBody>
      </p:sp>
      <p:sp>
        <p:nvSpPr>
          <p:cNvPr id="768" name="Build four inputs">
            <a:extLst>
              <a:ext uri="{FF2B5EF4-FFF2-40B4-BE49-F238E27FC236}">
                <a16:creationId xmlns:a16="http://schemas.microsoft.com/office/drawing/2014/main" id="{2C9F1979-7AE8-613B-79C6-EE0F3BBB1431}"/>
              </a:ext>
            </a:extLst>
          </p:cNvPr>
          <p:cNvSpPr>
            <a:spLocks noGrp="1"/>
          </p:cNvSpPr>
          <p:nvPr/>
        </p:nvSpPr>
        <p:spPr>
          <a:xfrm>
            <a:off x="4963973" y="420252"/>
            <a:ext cx="1158792" cy="1302153"/>
          </a:xfrm>
          <a:prstGeom prst="roundRect">
            <a:avLst>
              <a:gd name="adj" fmla="val 4554"/>
            </a:avLst>
          </a:prstGeom>
          <a:solidFill>
            <a:srgbClr val="FFFFFF"/>
          </a:solidFill>
          <a:ln w="7290">
            <a:solidFill>
              <a:srgbClr val="DFD6C3"/>
            </a:solidFill>
            <a:prstDash val="solid"/>
          </a:ln>
        </p:spPr>
        <p:txBody>
          <a:bodyPr/>
          <a:lstStyle/>
          <a:p>
            <a:endParaRPr lang="zh-CN" altLang="en-US" dirty="0"/>
          </a:p>
        </p:txBody>
      </p:sp>
      <p:sp>
        <p:nvSpPr>
          <p:cNvPr id="769" name="Site label">
            <a:extLst>
              <a:ext uri="{FF2B5EF4-FFF2-40B4-BE49-F238E27FC236}">
                <a16:creationId xmlns:a16="http://schemas.microsoft.com/office/drawing/2014/main" id="{73F4F6C8-22C1-E29B-D64D-362A1F82C0D7}"/>
              </a:ext>
            </a:extLst>
          </p:cNvPr>
          <p:cNvSpPr>
            <a:spLocks noGrp="1"/>
          </p:cNvSpPr>
          <p:nvPr/>
        </p:nvSpPr>
        <p:spPr>
          <a:xfrm>
            <a:off x="4992638" y="83497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Site</a:t>
            </a:r>
          </a:p>
        </p:txBody>
      </p:sp>
      <p:sp>
        <p:nvSpPr>
          <p:cNvPr id="770" name="Site provenance">
            <a:extLst>
              <a:ext uri="{FF2B5EF4-FFF2-40B4-BE49-F238E27FC236}">
                <a16:creationId xmlns:a16="http://schemas.microsoft.com/office/drawing/2014/main" id="{216E0115-FC9F-C0B3-73C6-B6C82BB2F0A8}"/>
              </a:ext>
            </a:extLst>
          </p:cNvPr>
          <p:cNvSpPr>
            <a:spLocks noGrp="1"/>
          </p:cNvSpPr>
          <p:nvPr/>
        </p:nvSpPr>
        <p:spPr>
          <a:xfrm>
            <a:off x="4999032" y="92146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Find</a:t>
            </a:r>
          </a:p>
        </p:txBody>
      </p:sp>
      <p:sp>
        <p:nvSpPr>
          <p:cNvPr id="771" name="Pocket label">
            <a:extLst>
              <a:ext uri="{FF2B5EF4-FFF2-40B4-BE49-F238E27FC236}">
                <a16:creationId xmlns:a16="http://schemas.microsoft.com/office/drawing/2014/main" id="{198C300B-4031-D0E7-49A9-F255C1B29665}"/>
              </a:ext>
            </a:extLst>
          </p:cNvPr>
          <p:cNvSpPr>
            <a:spLocks noGrp="1"/>
          </p:cNvSpPr>
          <p:nvPr/>
        </p:nvSpPr>
        <p:spPr>
          <a:xfrm>
            <a:off x="5581260" y="854408"/>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Pocket</a:t>
            </a:r>
          </a:p>
        </p:txBody>
      </p:sp>
      <p:sp>
        <p:nvSpPr>
          <p:cNvPr id="773" name="SMILES label">
            <a:extLst>
              <a:ext uri="{FF2B5EF4-FFF2-40B4-BE49-F238E27FC236}">
                <a16:creationId xmlns:a16="http://schemas.microsoft.com/office/drawing/2014/main" id="{B948AB68-3B7B-785F-B6BB-80D92D824C67}"/>
              </a:ext>
            </a:extLst>
          </p:cNvPr>
          <p:cNvSpPr>
            <a:spLocks noGrp="1"/>
          </p:cNvSpPr>
          <p:nvPr/>
        </p:nvSpPr>
        <p:spPr>
          <a:xfrm>
            <a:off x="4999664" y="148072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SMILES</a:t>
            </a:r>
          </a:p>
        </p:txBody>
      </p:sp>
      <p:sp>
        <p:nvSpPr>
          <p:cNvPr id="774" name="SMILES provenance">
            <a:extLst>
              <a:ext uri="{FF2B5EF4-FFF2-40B4-BE49-F238E27FC236}">
                <a16:creationId xmlns:a16="http://schemas.microsoft.com/office/drawing/2014/main" id="{56FEBA1E-DDE0-4487-53DB-DA17479C3D9B}"/>
              </a:ext>
            </a:extLst>
          </p:cNvPr>
          <p:cNvSpPr>
            <a:spLocks noGrp="1"/>
          </p:cNvSpPr>
          <p:nvPr/>
        </p:nvSpPr>
        <p:spPr>
          <a:xfrm>
            <a:off x="5005380" y="156882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Match</a:t>
            </a:r>
          </a:p>
        </p:txBody>
      </p:sp>
      <p:sp>
        <p:nvSpPr>
          <p:cNvPr id="775" name="Density input label">
            <a:extLst>
              <a:ext uri="{FF2B5EF4-FFF2-40B4-BE49-F238E27FC236}">
                <a16:creationId xmlns:a16="http://schemas.microsoft.com/office/drawing/2014/main" id="{E5A68BBB-3BB4-4F45-D8ED-99022E728E69}"/>
              </a:ext>
            </a:extLst>
          </p:cNvPr>
          <p:cNvSpPr>
            <a:spLocks noGrp="1"/>
          </p:cNvSpPr>
          <p:nvPr/>
        </p:nvSpPr>
        <p:spPr>
          <a:xfrm>
            <a:off x="5574918" y="1480706"/>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Density</a:t>
            </a:r>
          </a:p>
        </p:txBody>
      </p:sp>
      <p:sp>
        <p:nvSpPr>
          <p:cNvPr id="776" name="Docking tools title">
            <a:extLst>
              <a:ext uri="{FF2B5EF4-FFF2-40B4-BE49-F238E27FC236}">
                <a16:creationId xmlns:a16="http://schemas.microsoft.com/office/drawing/2014/main" id="{27E4029E-E39E-E596-2ECC-8620239CB25F}"/>
              </a:ext>
            </a:extLst>
          </p:cNvPr>
          <p:cNvSpPr>
            <a:spLocks noGrp="1"/>
          </p:cNvSpPr>
          <p:nvPr/>
        </p:nvSpPr>
        <p:spPr>
          <a:xfrm>
            <a:off x="5047760" y="1867770"/>
            <a:ext cx="1101630" cy="117453"/>
          </a:xfrm>
          <a:prstGeom prst="rect">
            <a:avLst/>
          </a:prstGeom>
          <a:noFill/>
          <a:ln w="6885">
            <a:noFill/>
            <a:prstDash val="solid"/>
          </a:ln>
        </p:spPr>
        <p:txBody>
          <a:bodyPr lIns="0" tIns="0" rIns="0" bIns="0" anchor="ctr"/>
          <a:lstStyle>
            <a:defPPr algn="ctr">
              <a:defRPr sz="702" b="1">
                <a:solidFill>
                  <a:srgbClr val="263442"/>
                </a:solidFill>
                <a:latin typeface="Arial"/>
                <a:ea typeface="Arial"/>
                <a:cs typeface="Arial"/>
              </a:defRPr>
            </a:defPPr>
            <a:lvl1pPr algn="ctr">
              <a:defRPr sz="702" b="1">
                <a:solidFill>
                  <a:srgbClr val="263442"/>
                </a:solidFill>
                <a:latin typeface="Arial"/>
                <a:ea typeface="Arial"/>
                <a:cs typeface="Arial"/>
              </a:defRPr>
            </a:lvl1pPr>
            <a:lvl2pPr algn="ctr">
              <a:defRPr sz="702" b="1">
                <a:solidFill>
                  <a:srgbClr val="263442"/>
                </a:solidFill>
                <a:latin typeface="Arial"/>
                <a:ea typeface="Arial"/>
                <a:cs typeface="Arial"/>
              </a:defRPr>
            </a:lvl2pPr>
            <a:lvl3pPr algn="ctr">
              <a:defRPr sz="702" b="1">
                <a:solidFill>
                  <a:srgbClr val="263442"/>
                </a:solidFill>
                <a:latin typeface="Arial"/>
                <a:ea typeface="Arial"/>
                <a:cs typeface="Arial"/>
              </a:defRPr>
            </a:lvl3pPr>
            <a:lvl4pPr algn="ctr">
              <a:defRPr sz="702" b="1">
                <a:solidFill>
                  <a:srgbClr val="263442"/>
                </a:solidFill>
                <a:latin typeface="Arial"/>
                <a:ea typeface="Arial"/>
                <a:cs typeface="Arial"/>
              </a:defRPr>
            </a:lvl4pPr>
            <a:lvl5pPr algn="ctr">
              <a:defRPr sz="702" b="1">
                <a:solidFill>
                  <a:srgbClr val="263442"/>
                </a:solidFill>
                <a:latin typeface="Arial"/>
                <a:ea typeface="Arial"/>
                <a:cs typeface="Arial"/>
              </a:defRPr>
            </a:lvl5pPr>
            <a:lvl6pPr algn="ctr">
              <a:defRPr sz="702" b="1">
                <a:solidFill>
                  <a:srgbClr val="263442"/>
                </a:solidFill>
                <a:latin typeface="Arial"/>
                <a:ea typeface="Arial"/>
                <a:cs typeface="Arial"/>
              </a:defRPr>
            </a:lvl6pPr>
            <a:lvl7pPr algn="ctr">
              <a:defRPr sz="702" b="1">
                <a:solidFill>
                  <a:srgbClr val="263442"/>
                </a:solidFill>
                <a:latin typeface="Arial"/>
                <a:ea typeface="Arial"/>
                <a:cs typeface="Arial"/>
              </a:defRPr>
            </a:lvl7pPr>
            <a:lvl8pPr algn="ctr">
              <a:defRPr sz="702" b="1">
                <a:solidFill>
                  <a:srgbClr val="263442"/>
                </a:solidFill>
                <a:latin typeface="Arial"/>
                <a:ea typeface="Arial"/>
                <a:cs typeface="Arial"/>
              </a:defRPr>
            </a:lvl8pPr>
            <a:lvl9pPr algn="ctr">
              <a:defRPr sz="702" b="1">
                <a:solidFill>
                  <a:srgbClr val="263442"/>
                </a:solidFill>
                <a:latin typeface="Arial"/>
                <a:ea typeface="Arial"/>
                <a:cs typeface="Arial"/>
              </a:defRPr>
            </a:lvl9pPr>
          </a:lstStyle>
          <a:p>
            <a:pPr algn="ctr">
              <a:defRPr sz="702" b="1">
                <a:solidFill>
                  <a:srgbClr val="263442"/>
                </a:solidFill>
                <a:latin typeface="Arial"/>
                <a:ea typeface="Arial"/>
                <a:cs typeface="Arial"/>
              </a:defRPr>
            </a:pPr>
            <a:r>
              <a:rPr lang="en-US" sz="702" b="0" dirty="0">
                <a:solidFill>
                  <a:srgbClr val="263442"/>
                </a:solidFill>
                <a:latin typeface="Arial"/>
                <a:ea typeface="Arial"/>
                <a:cs typeface="Arial"/>
              </a:rPr>
              <a:t>Downstream </a:t>
            </a:r>
            <a:r>
              <a:rPr lang="en-US" b="0" dirty="0"/>
              <a:t>d</a:t>
            </a:r>
            <a:r>
              <a:rPr sz="702" b="0" dirty="0">
                <a:solidFill>
                  <a:srgbClr val="263442"/>
                </a:solidFill>
                <a:latin typeface="Arial"/>
                <a:ea typeface="Arial"/>
                <a:cs typeface="Arial"/>
              </a:rPr>
              <a:t>ocking tools</a:t>
            </a:r>
          </a:p>
        </p:txBody>
      </p:sp>
      <p:sp>
        <p:nvSpPr>
          <p:cNvPr id="777" name="Build pose output">
            <a:extLst>
              <a:ext uri="{FF2B5EF4-FFF2-40B4-BE49-F238E27FC236}">
                <a16:creationId xmlns:a16="http://schemas.microsoft.com/office/drawing/2014/main" id="{0B218F6B-7A76-F3B6-A0A5-E42AE4C10B80}"/>
              </a:ext>
            </a:extLst>
          </p:cNvPr>
          <p:cNvSpPr>
            <a:spLocks noGrp="1"/>
          </p:cNvSpPr>
          <p:nvPr/>
        </p:nvSpPr>
        <p:spPr>
          <a:xfrm>
            <a:off x="4992811" y="3400604"/>
            <a:ext cx="1106489" cy="941449"/>
          </a:xfrm>
          <a:prstGeom prst="roundRect">
            <a:avLst>
              <a:gd name="adj" fmla="val 5395"/>
            </a:avLst>
          </a:prstGeom>
          <a:solidFill>
            <a:srgbClr val="FFFFFF"/>
          </a:solidFill>
          <a:ln w="7290">
            <a:solidFill>
              <a:srgbClr val="DFD6C3"/>
            </a:solidFill>
            <a:prstDash val="solid"/>
          </a:ln>
        </p:spPr>
      </p:sp>
      <p:sp>
        <p:nvSpPr>
          <p:cNvPr id="778" name="All atom pose label">
            <a:extLst>
              <a:ext uri="{FF2B5EF4-FFF2-40B4-BE49-F238E27FC236}">
                <a16:creationId xmlns:a16="http://schemas.microsoft.com/office/drawing/2014/main" id="{8FE77D82-0F62-5049-84A0-FD0D56FCE044}"/>
              </a:ext>
            </a:extLst>
          </p:cNvPr>
          <p:cNvSpPr>
            <a:spLocks noGrp="1"/>
          </p:cNvSpPr>
          <p:nvPr/>
        </p:nvSpPr>
        <p:spPr>
          <a:xfrm>
            <a:off x="4979784" y="4176444"/>
            <a:ext cx="1231233" cy="1174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All-atom ligand pose</a:t>
            </a:r>
          </a:p>
        </p:txBody>
      </p:sp>
      <p:pic>
        <p:nvPicPr>
          <p:cNvPr id="967" name="Buil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59E3DA4F-BD1F-6AD8-81F5-856ECED60067}"/>
              </a:ext>
            </a:extLst>
          </p:cNvPr>
          <p:cNvPicPr/>
          <p:nvPr/>
        </p:nvPicPr>
        <p:blipFill>
          <a:blip r:embed="rId4"/>
          <a:stretch>
            <a:fillRect/>
          </a:stretch>
        </p:blipFill>
        <p:spPr>
          <a:xfrm>
            <a:off x="5657542" y="1104265"/>
            <a:ext cx="361766" cy="345440"/>
          </a:xfrm>
          <a:prstGeom prst="rect">
            <a:avLst/>
          </a:prstGeom>
        </p:spPr>
      </p:pic>
      <p:sp>
        <p:nvSpPr>
          <p:cNvPr id="1187" name="Build | Engines frame">
            <a:extLst>
              <a:ext uri="{FF2B5EF4-FFF2-40B4-BE49-F238E27FC236}">
                <a16:creationId xmlns:a16="http://schemas.microsoft.com/office/drawing/2014/main" id="{79AD4C70-DD41-BB84-7331-69D7E3080E11}"/>
              </a:ext>
            </a:extLst>
          </p:cNvPr>
          <p:cNvSpPr/>
          <p:nvPr/>
        </p:nvSpPr>
        <p:spPr>
          <a:xfrm>
            <a:off x="4938821" y="2032000"/>
            <a:ext cx="1202377" cy="1172634"/>
          </a:xfrm>
          <a:prstGeom prst="roundRect">
            <a:avLst>
              <a:gd name="adj" fmla="val 5000"/>
            </a:avLst>
          </a:prstGeom>
          <a:solidFill>
            <a:srgbClr val="FFFFFF">
              <a:alpha val="50000"/>
            </a:srgbClr>
          </a:solidFill>
          <a:ln w="7290">
            <a:solidFill>
              <a:srgbClr val="D5CCB8"/>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1188" name="Build | Default PocketXMol card">
            <a:extLst>
              <a:ext uri="{FF2B5EF4-FFF2-40B4-BE49-F238E27FC236}">
                <a16:creationId xmlns:a16="http://schemas.microsoft.com/office/drawing/2014/main" id="{65696164-FF6C-2E64-A27D-E0452D5A76E9}"/>
              </a:ext>
            </a:extLst>
          </p:cNvPr>
          <p:cNvSpPr/>
          <p:nvPr/>
        </p:nvSpPr>
        <p:spPr>
          <a:xfrm>
            <a:off x="4992811" y="2089570"/>
            <a:ext cx="1106490" cy="456341"/>
          </a:xfrm>
          <a:prstGeom prst="roundRect">
            <a:avLst>
              <a:gd name="adj" fmla="val 8000"/>
            </a:avLst>
          </a:prstGeom>
          <a:solidFill>
            <a:srgbClr val="FAF1DE"/>
          </a:solidFill>
          <a:ln w="7290">
            <a:solidFill>
              <a:srgbClr val="D8A95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grpSp>
        <p:nvGrpSpPr>
          <p:cNvPr id="1189" name="Build | Density cube icon">
            <a:extLst>
              <a:ext uri="{FF2B5EF4-FFF2-40B4-BE49-F238E27FC236}">
                <a16:creationId xmlns:a16="http://schemas.microsoft.com/office/drawing/2014/main" id="{68B5FCE4-2F36-CAD0-B100-A4A97D0F3451}"/>
              </a:ext>
            </a:extLst>
          </p:cNvPr>
          <p:cNvGrpSpPr/>
          <p:nvPr/>
        </p:nvGrpSpPr>
        <p:grpSpPr>
          <a:xfrm>
            <a:off x="5024943" y="2171534"/>
            <a:ext cx="213580" cy="227238"/>
            <a:chOff x="2187720" y="5635440"/>
            <a:chExt cx="154440" cy="131400"/>
          </a:xfrm>
        </p:grpSpPr>
        <p:sp>
          <p:nvSpPr>
            <p:cNvPr id="1190" name="asset_3169_0">
              <a:extLst>
                <a:ext uri="{FF2B5EF4-FFF2-40B4-BE49-F238E27FC236}">
                  <a16:creationId xmlns:a16="http://schemas.microsoft.com/office/drawing/2014/main" id="{5FFB8783-18B8-9E3F-DF3D-D39890A83D04}"/>
                </a:ext>
              </a:extLst>
            </p:cNvPr>
            <p:cNvSpPr>
              <a:spLocks noGrp="1"/>
            </p:cNvSpPr>
            <p:nvPr/>
          </p:nvSpPr>
          <p:spPr>
            <a:xfrm>
              <a:off x="2187720" y="5635440"/>
              <a:ext cx="154440" cy="22338"/>
            </a:xfrm>
            <a:custGeom>
              <a:avLst/>
              <a:gdLst/>
              <a:ahLst/>
              <a:cxnLst/>
              <a:rect l="0" t="0" r="0" b="0"/>
              <a:pathLst>
                <a:path w="154440" h="22338">
                  <a:moveTo>
                    <a:pt x="0" y="22338"/>
                  </a:moveTo>
                  <a:lnTo>
                    <a:pt x="29344" y="0"/>
                  </a:lnTo>
                  <a:lnTo>
                    <a:pt x="154440" y="0"/>
                  </a:lnTo>
                  <a:lnTo>
                    <a:pt x="125096" y="22338"/>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1191" name="asset_3169_1">
              <a:extLst>
                <a:ext uri="{FF2B5EF4-FFF2-40B4-BE49-F238E27FC236}">
                  <a16:creationId xmlns:a16="http://schemas.microsoft.com/office/drawing/2014/main" id="{1EA12B72-72E8-2312-8F32-52AE6B165E9D}"/>
                </a:ext>
              </a:extLst>
            </p:cNvPr>
            <p:cNvSpPr>
              <a:spLocks noGrp="1"/>
            </p:cNvSpPr>
            <p:nvPr/>
          </p:nvSpPr>
          <p:spPr>
            <a:xfrm>
              <a:off x="2312816" y="5635440"/>
              <a:ext cx="29344" cy="131400"/>
            </a:xfrm>
            <a:custGeom>
              <a:avLst/>
              <a:gdLst/>
              <a:ahLst/>
              <a:cxnLst/>
              <a:rect l="0" t="0" r="0" b="0"/>
              <a:pathLst>
                <a:path w="29344" h="131400">
                  <a:moveTo>
                    <a:pt x="0" y="22338"/>
                  </a:moveTo>
                  <a:lnTo>
                    <a:pt x="29344" y="0"/>
                  </a:lnTo>
                  <a:lnTo>
                    <a:pt x="29344" y="109062"/>
                  </a:lnTo>
                  <a:lnTo>
                    <a:pt x="0" y="131400"/>
                  </a:lnTo>
                  <a:close/>
                </a:path>
              </a:pathLst>
            </a:custGeom>
            <a:solidFill>
              <a:srgbClr val="C9DFF3">
                <a:alpha val="22000"/>
              </a:srgbClr>
            </a:solidFill>
            <a:ln w="2700">
              <a:solidFill>
                <a:srgbClr val="A3C3E2"/>
              </a:solidFill>
            </a:ln>
          </p:spPr>
        </p:sp>
        <p:sp>
          <p:nvSpPr>
            <p:cNvPr id="1192" name="asset_3169_2">
              <a:extLst>
                <a:ext uri="{FF2B5EF4-FFF2-40B4-BE49-F238E27FC236}">
                  <a16:creationId xmlns:a16="http://schemas.microsoft.com/office/drawing/2014/main" id="{EDE3B5A8-D8FA-9133-41C2-DB6E1E75A6F9}"/>
                </a:ext>
              </a:extLst>
            </p:cNvPr>
            <p:cNvSpPr>
              <a:spLocks noGrp="1"/>
            </p:cNvSpPr>
            <p:nvPr/>
          </p:nvSpPr>
          <p:spPr>
            <a:xfrm>
              <a:off x="2187720" y="5657778"/>
              <a:ext cx="125096" cy="109062"/>
            </a:xfrm>
            <a:prstGeom prst="rect">
              <a:avLst/>
            </a:prstGeom>
            <a:solidFill>
              <a:srgbClr val="E7F1FC">
                <a:alpha val="20000"/>
              </a:srgbClr>
            </a:solidFill>
            <a:ln w="2700">
              <a:solidFill>
                <a:srgbClr val="ABC9E7"/>
              </a:solidFill>
            </a:ln>
          </p:spPr>
        </p:sp>
        <p:sp>
          <p:nvSpPr>
            <p:cNvPr id="1193" name="asset_3169_3">
              <a:extLst>
                <a:ext uri="{FF2B5EF4-FFF2-40B4-BE49-F238E27FC236}">
                  <a16:creationId xmlns:a16="http://schemas.microsoft.com/office/drawing/2014/main" id="{120BF363-735F-F584-10A8-02A0DD55EE7B}"/>
                </a:ext>
              </a:extLst>
            </p:cNvPr>
            <p:cNvSpPr>
              <a:spLocks noGrp="1"/>
            </p:cNvSpPr>
            <p:nvPr/>
          </p:nvSpPr>
          <p:spPr>
            <a:xfrm>
              <a:off x="2218994" y="5657778"/>
              <a:ext cx="4" cy="109062"/>
            </a:xfrm>
            <a:prstGeom prst="line">
              <a:avLst/>
            </a:prstGeom>
            <a:noFill/>
            <a:ln w="1980">
              <a:solidFill>
                <a:srgbClr val="B8D2EB">
                  <a:alpha val="33000"/>
                </a:srgbClr>
              </a:solidFill>
            </a:ln>
          </p:spPr>
        </p:sp>
        <p:sp>
          <p:nvSpPr>
            <p:cNvPr id="1194" name="asset_3169_4">
              <a:extLst>
                <a:ext uri="{FF2B5EF4-FFF2-40B4-BE49-F238E27FC236}">
                  <a16:creationId xmlns:a16="http://schemas.microsoft.com/office/drawing/2014/main" id="{E2829B7F-C588-BE5B-8D54-FBE1EBF2B8E5}"/>
                </a:ext>
              </a:extLst>
            </p:cNvPr>
            <p:cNvSpPr>
              <a:spLocks noGrp="1"/>
            </p:cNvSpPr>
            <p:nvPr/>
          </p:nvSpPr>
          <p:spPr>
            <a:xfrm>
              <a:off x="2187720" y="5685044"/>
              <a:ext cx="125096" cy="4"/>
            </a:xfrm>
            <a:prstGeom prst="line">
              <a:avLst/>
            </a:prstGeom>
            <a:noFill/>
            <a:ln w="1980">
              <a:solidFill>
                <a:srgbClr val="B8D2EB">
                  <a:alpha val="33000"/>
                </a:srgbClr>
              </a:solidFill>
            </a:ln>
          </p:spPr>
        </p:sp>
        <p:sp>
          <p:nvSpPr>
            <p:cNvPr id="1195" name="asset_3169_5">
              <a:extLst>
                <a:ext uri="{FF2B5EF4-FFF2-40B4-BE49-F238E27FC236}">
                  <a16:creationId xmlns:a16="http://schemas.microsoft.com/office/drawing/2014/main" id="{3DBA365A-AC44-C9B3-7E08-985ECB6E5232}"/>
                </a:ext>
              </a:extLst>
            </p:cNvPr>
            <p:cNvSpPr>
              <a:spLocks noGrp="1"/>
            </p:cNvSpPr>
            <p:nvPr/>
          </p:nvSpPr>
          <p:spPr>
            <a:xfrm>
              <a:off x="2250268" y="5657778"/>
              <a:ext cx="4" cy="109062"/>
            </a:xfrm>
            <a:prstGeom prst="line">
              <a:avLst/>
            </a:prstGeom>
            <a:noFill/>
            <a:ln w="1980">
              <a:solidFill>
                <a:srgbClr val="B8D2EB">
                  <a:alpha val="33000"/>
                </a:srgbClr>
              </a:solidFill>
            </a:ln>
          </p:spPr>
        </p:sp>
        <p:sp>
          <p:nvSpPr>
            <p:cNvPr id="1196" name="asset_3169_6">
              <a:extLst>
                <a:ext uri="{FF2B5EF4-FFF2-40B4-BE49-F238E27FC236}">
                  <a16:creationId xmlns:a16="http://schemas.microsoft.com/office/drawing/2014/main" id="{9F12D1AD-2ED4-77AF-F2EC-E76A62AE9C53}"/>
                </a:ext>
              </a:extLst>
            </p:cNvPr>
            <p:cNvSpPr>
              <a:spLocks noGrp="1"/>
            </p:cNvSpPr>
            <p:nvPr/>
          </p:nvSpPr>
          <p:spPr>
            <a:xfrm>
              <a:off x="2187720" y="5712309"/>
              <a:ext cx="125096" cy="4"/>
            </a:xfrm>
            <a:prstGeom prst="line">
              <a:avLst/>
            </a:prstGeom>
            <a:noFill/>
            <a:ln w="1980">
              <a:solidFill>
                <a:srgbClr val="B8D2EB">
                  <a:alpha val="33000"/>
                </a:srgbClr>
              </a:solidFill>
            </a:ln>
          </p:spPr>
        </p:sp>
        <p:sp>
          <p:nvSpPr>
            <p:cNvPr id="1197" name="asset_3169_7">
              <a:extLst>
                <a:ext uri="{FF2B5EF4-FFF2-40B4-BE49-F238E27FC236}">
                  <a16:creationId xmlns:a16="http://schemas.microsoft.com/office/drawing/2014/main" id="{530FF9D0-E22B-4C58-F523-2AC53D327A6E}"/>
                </a:ext>
              </a:extLst>
            </p:cNvPr>
            <p:cNvSpPr>
              <a:spLocks noGrp="1"/>
            </p:cNvSpPr>
            <p:nvPr/>
          </p:nvSpPr>
          <p:spPr>
            <a:xfrm>
              <a:off x="2281542" y="5657778"/>
              <a:ext cx="4" cy="109062"/>
            </a:xfrm>
            <a:prstGeom prst="line">
              <a:avLst/>
            </a:prstGeom>
            <a:noFill/>
            <a:ln w="1980">
              <a:solidFill>
                <a:srgbClr val="B8D2EB">
                  <a:alpha val="33000"/>
                </a:srgbClr>
              </a:solidFill>
            </a:ln>
          </p:spPr>
        </p:sp>
        <p:sp>
          <p:nvSpPr>
            <p:cNvPr id="1198" name="asset_3169_8">
              <a:extLst>
                <a:ext uri="{FF2B5EF4-FFF2-40B4-BE49-F238E27FC236}">
                  <a16:creationId xmlns:a16="http://schemas.microsoft.com/office/drawing/2014/main" id="{1E307AA0-A6C4-946A-18FD-30858587578A}"/>
                </a:ext>
              </a:extLst>
            </p:cNvPr>
            <p:cNvSpPr>
              <a:spLocks noGrp="1"/>
            </p:cNvSpPr>
            <p:nvPr/>
          </p:nvSpPr>
          <p:spPr>
            <a:xfrm>
              <a:off x="2187720" y="5739574"/>
              <a:ext cx="125096" cy="4"/>
            </a:xfrm>
            <a:prstGeom prst="line">
              <a:avLst/>
            </a:prstGeom>
            <a:noFill/>
            <a:ln w="1980">
              <a:solidFill>
                <a:srgbClr val="B8D2EB">
                  <a:alpha val="33000"/>
                </a:srgbClr>
              </a:solidFill>
            </a:ln>
          </p:spPr>
        </p:sp>
        <p:sp>
          <p:nvSpPr>
            <p:cNvPr id="1199" name="asset_3169_9">
              <a:extLst>
                <a:ext uri="{FF2B5EF4-FFF2-40B4-BE49-F238E27FC236}">
                  <a16:creationId xmlns:a16="http://schemas.microsoft.com/office/drawing/2014/main" id="{2C70D4C3-CC8E-18A5-188C-FB73FB31079A}"/>
                </a:ext>
              </a:extLst>
            </p:cNvPr>
            <p:cNvSpPr>
              <a:spLocks noGrp="1"/>
            </p:cNvSpPr>
            <p:nvPr/>
          </p:nvSpPr>
          <p:spPr>
            <a:xfrm>
              <a:off x="2198791" y="5672574"/>
              <a:ext cx="58245" cy="50256"/>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1200" name="asset_3169_10">
              <a:extLst>
                <a:ext uri="{FF2B5EF4-FFF2-40B4-BE49-F238E27FC236}">
                  <a16:creationId xmlns:a16="http://schemas.microsoft.com/office/drawing/2014/main" id="{9530488D-317A-3063-82AF-05EB1F0CA8B9}"/>
                </a:ext>
              </a:extLst>
            </p:cNvPr>
            <p:cNvSpPr>
              <a:spLocks noGrp="1"/>
            </p:cNvSpPr>
            <p:nvPr/>
          </p:nvSpPr>
          <p:spPr>
            <a:xfrm>
              <a:off x="2225487" y="5687232"/>
              <a:ext cx="63099" cy="54444"/>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1201" name="asset_3169_11">
              <a:extLst>
                <a:ext uri="{FF2B5EF4-FFF2-40B4-BE49-F238E27FC236}">
                  <a16:creationId xmlns:a16="http://schemas.microsoft.com/office/drawing/2014/main" id="{48323ECB-3BE3-307E-E823-C51C380A8650}"/>
                </a:ext>
              </a:extLst>
            </p:cNvPr>
            <p:cNvSpPr>
              <a:spLocks noGrp="1"/>
            </p:cNvSpPr>
            <p:nvPr/>
          </p:nvSpPr>
          <p:spPr>
            <a:xfrm>
              <a:off x="2248542" y="5660010"/>
              <a:ext cx="55818" cy="48162"/>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1202" name="asset_3169_12">
              <a:extLst>
                <a:ext uri="{FF2B5EF4-FFF2-40B4-BE49-F238E27FC236}">
                  <a16:creationId xmlns:a16="http://schemas.microsoft.com/office/drawing/2014/main" id="{C0C8C16B-9DED-677C-6432-EE50B45E7418}"/>
                </a:ext>
              </a:extLst>
            </p:cNvPr>
            <p:cNvSpPr>
              <a:spLocks noGrp="1"/>
            </p:cNvSpPr>
            <p:nvPr/>
          </p:nvSpPr>
          <p:spPr>
            <a:xfrm>
              <a:off x="2223060" y="5652681"/>
              <a:ext cx="53391" cy="46068"/>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1203" name="asset_3169_13">
              <a:extLst>
                <a:ext uri="{FF2B5EF4-FFF2-40B4-BE49-F238E27FC236}">
                  <a16:creationId xmlns:a16="http://schemas.microsoft.com/office/drawing/2014/main" id="{060B66F2-4388-65F4-6206-749CACAB0290}"/>
                </a:ext>
              </a:extLst>
            </p:cNvPr>
            <p:cNvSpPr>
              <a:spLocks noGrp="1"/>
            </p:cNvSpPr>
            <p:nvPr/>
          </p:nvSpPr>
          <p:spPr>
            <a:xfrm>
              <a:off x="2207281" y="5693871"/>
              <a:ext cx="30911" cy="266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4" name="asset_3169_14">
              <a:extLst>
                <a:ext uri="{FF2B5EF4-FFF2-40B4-BE49-F238E27FC236}">
                  <a16:creationId xmlns:a16="http://schemas.microsoft.com/office/drawing/2014/main" id="{13E2CBA3-7C02-4027-03E6-A698CD2EB714}"/>
                </a:ext>
              </a:extLst>
            </p:cNvPr>
            <p:cNvSpPr>
              <a:spLocks noGrp="1"/>
            </p:cNvSpPr>
            <p:nvPr/>
          </p:nvSpPr>
          <p:spPr>
            <a:xfrm>
              <a:off x="2253557" y="5697302"/>
              <a:ext cx="21556" cy="1860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5" name="asset_3169_15">
              <a:extLst>
                <a:ext uri="{FF2B5EF4-FFF2-40B4-BE49-F238E27FC236}">
                  <a16:creationId xmlns:a16="http://schemas.microsoft.com/office/drawing/2014/main" id="{D52AE182-CED9-F191-684F-C02E656634F9}"/>
                </a:ext>
              </a:extLst>
            </p:cNvPr>
            <p:cNvSpPr>
              <a:spLocks noGrp="1"/>
            </p:cNvSpPr>
            <p:nvPr/>
          </p:nvSpPr>
          <p:spPr>
            <a:xfrm>
              <a:off x="2278359" y="5672317"/>
              <a:ext cx="20931" cy="1806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6" name="asset_3169_16">
              <a:extLst>
                <a:ext uri="{FF2B5EF4-FFF2-40B4-BE49-F238E27FC236}">
                  <a16:creationId xmlns:a16="http://schemas.microsoft.com/office/drawing/2014/main" id="{89F2F434-5A13-55C5-50E0-3A863DFD674D}"/>
                </a:ext>
              </a:extLst>
            </p:cNvPr>
            <p:cNvSpPr>
              <a:spLocks noGrp="1"/>
            </p:cNvSpPr>
            <p:nvPr/>
          </p:nvSpPr>
          <p:spPr>
            <a:xfrm>
              <a:off x="2235959" y="5649092"/>
              <a:ext cx="26179" cy="2258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7" name="asset_3169_17">
              <a:extLst>
                <a:ext uri="{FF2B5EF4-FFF2-40B4-BE49-F238E27FC236}">
                  <a16:creationId xmlns:a16="http://schemas.microsoft.com/office/drawing/2014/main" id="{6F30CB2F-3FFE-E2E6-12A8-0C6F6E9862D8}"/>
                </a:ext>
              </a:extLst>
            </p:cNvPr>
            <p:cNvSpPr>
              <a:spLocks noGrp="1"/>
            </p:cNvSpPr>
            <p:nvPr/>
          </p:nvSpPr>
          <p:spPr>
            <a:xfrm>
              <a:off x="2230057" y="5690206"/>
              <a:ext cx="17158" cy="1480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8" name="asset_3169_18">
              <a:extLst>
                <a:ext uri="{FF2B5EF4-FFF2-40B4-BE49-F238E27FC236}">
                  <a16:creationId xmlns:a16="http://schemas.microsoft.com/office/drawing/2014/main" id="{688E0702-ABAA-1F53-2FEE-C044E75816FE}"/>
                </a:ext>
              </a:extLst>
            </p:cNvPr>
            <p:cNvSpPr>
              <a:spLocks noGrp="1"/>
            </p:cNvSpPr>
            <p:nvPr/>
          </p:nvSpPr>
          <p:spPr>
            <a:xfrm>
              <a:off x="2228799" y="5700798"/>
              <a:ext cx="17470" cy="1507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9" name="asset_3169_19">
              <a:extLst>
                <a:ext uri="{FF2B5EF4-FFF2-40B4-BE49-F238E27FC236}">
                  <a16:creationId xmlns:a16="http://schemas.microsoft.com/office/drawing/2014/main" id="{872FD139-9635-FDD4-0722-4E5EEB72AC26}"/>
                </a:ext>
              </a:extLst>
            </p:cNvPr>
            <p:cNvSpPr>
              <a:spLocks noGrp="1"/>
            </p:cNvSpPr>
            <p:nvPr/>
          </p:nvSpPr>
          <p:spPr>
            <a:xfrm>
              <a:off x="2264745" y="5672793"/>
              <a:ext cx="22335" cy="1927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0" name="asset_3169_20">
              <a:extLst>
                <a:ext uri="{FF2B5EF4-FFF2-40B4-BE49-F238E27FC236}">
                  <a16:creationId xmlns:a16="http://schemas.microsoft.com/office/drawing/2014/main" id="{2F589805-2015-0C9E-B861-49E63A36CA16}"/>
                </a:ext>
              </a:extLst>
            </p:cNvPr>
            <p:cNvSpPr>
              <a:spLocks noGrp="1"/>
            </p:cNvSpPr>
            <p:nvPr/>
          </p:nvSpPr>
          <p:spPr>
            <a:xfrm>
              <a:off x="2247802" y="5671816"/>
              <a:ext cx="29288" cy="252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1" name="asset_3169_21">
              <a:extLst>
                <a:ext uri="{FF2B5EF4-FFF2-40B4-BE49-F238E27FC236}">
                  <a16:creationId xmlns:a16="http://schemas.microsoft.com/office/drawing/2014/main" id="{0ACA986A-AF7E-C441-DA61-138FBBAA71F8}"/>
                </a:ext>
              </a:extLst>
            </p:cNvPr>
            <p:cNvSpPr>
              <a:spLocks noGrp="1"/>
            </p:cNvSpPr>
            <p:nvPr/>
          </p:nvSpPr>
          <p:spPr>
            <a:xfrm>
              <a:off x="2221472" y="5673188"/>
              <a:ext cx="24803" cy="2140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2" name="asset_3169_22">
              <a:extLst>
                <a:ext uri="{FF2B5EF4-FFF2-40B4-BE49-F238E27FC236}">
                  <a16:creationId xmlns:a16="http://schemas.microsoft.com/office/drawing/2014/main" id="{2D9591FC-2B85-F680-E4CA-E6BD7F3D89C9}"/>
                </a:ext>
              </a:extLst>
            </p:cNvPr>
            <p:cNvSpPr>
              <a:spLocks noGrp="1"/>
            </p:cNvSpPr>
            <p:nvPr/>
          </p:nvSpPr>
          <p:spPr>
            <a:xfrm>
              <a:off x="2231057" y="5701581"/>
              <a:ext cx="27548" cy="237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3" name="asset_3169_23">
              <a:extLst>
                <a:ext uri="{FF2B5EF4-FFF2-40B4-BE49-F238E27FC236}">
                  <a16:creationId xmlns:a16="http://schemas.microsoft.com/office/drawing/2014/main" id="{891DB7BF-9124-5E80-DEA3-AF8496902287}"/>
                </a:ext>
              </a:extLst>
            </p:cNvPr>
            <p:cNvSpPr>
              <a:spLocks noGrp="1"/>
            </p:cNvSpPr>
            <p:nvPr/>
          </p:nvSpPr>
          <p:spPr>
            <a:xfrm>
              <a:off x="2264932" y="5667506"/>
              <a:ext cx="28421" cy="2452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4" name="asset_3169_24">
              <a:extLst>
                <a:ext uri="{FF2B5EF4-FFF2-40B4-BE49-F238E27FC236}">
                  <a16:creationId xmlns:a16="http://schemas.microsoft.com/office/drawing/2014/main" id="{DE52E28A-6354-BE95-3C9A-A2C66025A871}"/>
                </a:ext>
              </a:extLst>
            </p:cNvPr>
            <p:cNvSpPr>
              <a:spLocks noGrp="1"/>
            </p:cNvSpPr>
            <p:nvPr/>
          </p:nvSpPr>
          <p:spPr>
            <a:xfrm>
              <a:off x="2231286" y="5661727"/>
              <a:ext cx="25293" cy="218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5" name="asset_3169_25">
              <a:extLst>
                <a:ext uri="{FF2B5EF4-FFF2-40B4-BE49-F238E27FC236}">
                  <a16:creationId xmlns:a16="http://schemas.microsoft.com/office/drawing/2014/main" id="{7988D7F5-9FD3-DE02-AC43-2C9102A603D8}"/>
                </a:ext>
              </a:extLst>
            </p:cNvPr>
            <p:cNvSpPr>
              <a:spLocks noGrp="1"/>
            </p:cNvSpPr>
            <p:nvPr/>
          </p:nvSpPr>
          <p:spPr>
            <a:xfrm>
              <a:off x="2203520" y="5678934"/>
              <a:ext cx="26056" cy="2248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6" name="asset_3169_26">
              <a:extLst>
                <a:ext uri="{FF2B5EF4-FFF2-40B4-BE49-F238E27FC236}">
                  <a16:creationId xmlns:a16="http://schemas.microsoft.com/office/drawing/2014/main" id="{C7CB8EF7-313A-8E8C-6DD1-7BDC7D92CCB0}"/>
                </a:ext>
              </a:extLst>
            </p:cNvPr>
            <p:cNvSpPr>
              <a:spLocks noGrp="1"/>
            </p:cNvSpPr>
            <p:nvPr/>
          </p:nvSpPr>
          <p:spPr>
            <a:xfrm>
              <a:off x="2258761" y="5717055"/>
              <a:ext cx="20939" cy="1806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7" name="asset_3169_27">
              <a:extLst>
                <a:ext uri="{FF2B5EF4-FFF2-40B4-BE49-F238E27FC236}">
                  <a16:creationId xmlns:a16="http://schemas.microsoft.com/office/drawing/2014/main" id="{73BCC20B-1FDA-F412-4DD8-A25B3302BB21}"/>
                </a:ext>
              </a:extLst>
            </p:cNvPr>
            <p:cNvSpPr>
              <a:spLocks noGrp="1"/>
            </p:cNvSpPr>
            <p:nvPr/>
          </p:nvSpPr>
          <p:spPr>
            <a:xfrm>
              <a:off x="2262469" y="5681666"/>
              <a:ext cx="24125" cy="2081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8" name="asset_3169_28">
              <a:extLst>
                <a:ext uri="{FF2B5EF4-FFF2-40B4-BE49-F238E27FC236}">
                  <a16:creationId xmlns:a16="http://schemas.microsoft.com/office/drawing/2014/main" id="{AF33B019-3B06-5B18-D90B-E00C3F3EDB2C}"/>
                </a:ext>
              </a:extLst>
            </p:cNvPr>
            <p:cNvSpPr>
              <a:spLocks noGrp="1"/>
            </p:cNvSpPr>
            <p:nvPr/>
          </p:nvSpPr>
          <p:spPr>
            <a:xfrm>
              <a:off x="2238082" y="5671347"/>
              <a:ext cx="27389" cy="2363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9" name="asset_3169_29">
              <a:extLst>
                <a:ext uri="{FF2B5EF4-FFF2-40B4-BE49-F238E27FC236}">
                  <a16:creationId xmlns:a16="http://schemas.microsoft.com/office/drawing/2014/main" id="{0FB4133A-9D97-E251-1B43-C62FA8130666}"/>
                </a:ext>
              </a:extLst>
            </p:cNvPr>
            <p:cNvSpPr>
              <a:spLocks noGrp="1"/>
            </p:cNvSpPr>
            <p:nvPr/>
          </p:nvSpPr>
          <p:spPr>
            <a:xfrm>
              <a:off x="2220795" y="5698579"/>
              <a:ext cx="25648" cy="2213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0" name="asset_3169_30">
              <a:extLst>
                <a:ext uri="{FF2B5EF4-FFF2-40B4-BE49-F238E27FC236}">
                  <a16:creationId xmlns:a16="http://schemas.microsoft.com/office/drawing/2014/main" id="{69D50226-8CEE-09CA-92F4-EA747B547FF4}"/>
                </a:ext>
              </a:extLst>
            </p:cNvPr>
            <p:cNvSpPr>
              <a:spLocks noGrp="1"/>
            </p:cNvSpPr>
            <p:nvPr/>
          </p:nvSpPr>
          <p:spPr>
            <a:xfrm>
              <a:off x="2243067" y="5723084"/>
              <a:ext cx="17688" cy="1526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1" name="asset_3169_31">
              <a:extLst>
                <a:ext uri="{FF2B5EF4-FFF2-40B4-BE49-F238E27FC236}">
                  <a16:creationId xmlns:a16="http://schemas.microsoft.com/office/drawing/2014/main" id="{8D9ECD96-25F9-4FC6-1C5E-5B500507A23C}"/>
                </a:ext>
              </a:extLst>
            </p:cNvPr>
            <p:cNvSpPr>
              <a:spLocks noGrp="1"/>
            </p:cNvSpPr>
            <p:nvPr/>
          </p:nvSpPr>
          <p:spPr>
            <a:xfrm>
              <a:off x="2257337" y="5659622"/>
              <a:ext cx="26336" cy="227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2" name="asset_3169_32">
              <a:extLst>
                <a:ext uri="{FF2B5EF4-FFF2-40B4-BE49-F238E27FC236}">
                  <a16:creationId xmlns:a16="http://schemas.microsoft.com/office/drawing/2014/main" id="{791FDFAC-6025-C51A-7F75-7437ACC6E354}"/>
                </a:ext>
              </a:extLst>
            </p:cNvPr>
            <p:cNvSpPr>
              <a:spLocks noGrp="1"/>
            </p:cNvSpPr>
            <p:nvPr/>
          </p:nvSpPr>
          <p:spPr>
            <a:xfrm>
              <a:off x="2256492" y="5666095"/>
              <a:ext cx="23460" cy="2024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3" name="asset_3169_33">
              <a:extLst>
                <a:ext uri="{FF2B5EF4-FFF2-40B4-BE49-F238E27FC236}">
                  <a16:creationId xmlns:a16="http://schemas.microsoft.com/office/drawing/2014/main" id="{DA973672-CCD0-6C59-1B34-7C6CC5E48F20}"/>
                </a:ext>
              </a:extLst>
            </p:cNvPr>
            <p:cNvSpPr>
              <a:spLocks noGrp="1"/>
            </p:cNvSpPr>
            <p:nvPr/>
          </p:nvSpPr>
          <p:spPr>
            <a:xfrm>
              <a:off x="2210503" y="5688799"/>
              <a:ext cx="30840" cy="266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4" name="asset_3169_34">
              <a:extLst>
                <a:ext uri="{FF2B5EF4-FFF2-40B4-BE49-F238E27FC236}">
                  <a16:creationId xmlns:a16="http://schemas.microsoft.com/office/drawing/2014/main" id="{43DD86C8-6E09-99CE-6266-42DC4FA64456}"/>
                </a:ext>
              </a:extLst>
            </p:cNvPr>
            <p:cNvSpPr>
              <a:spLocks noGrp="1"/>
            </p:cNvSpPr>
            <p:nvPr/>
          </p:nvSpPr>
          <p:spPr>
            <a:xfrm>
              <a:off x="2236186" y="5705144"/>
              <a:ext cx="22611" cy="195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5" name="asset_3169_35">
              <a:extLst>
                <a:ext uri="{FF2B5EF4-FFF2-40B4-BE49-F238E27FC236}">
                  <a16:creationId xmlns:a16="http://schemas.microsoft.com/office/drawing/2014/main" id="{D769467D-EEAF-B1AF-7AC6-68CC2D0F1288}"/>
                </a:ext>
              </a:extLst>
            </p:cNvPr>
            <p:cNvSpPr>
              <a:spLocks noGrp="1"/>
            </p:cNvSpPr>
            <p:nvPr/>
          </p:nvSpPr>
          <p:spPr>
            <a:xfrm>
              <a:off x="2260671" y="5685042"/>
              <a:ext cx="19267" cy="166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6" name="asset_3169_36">
              <a:extLst>
                <a:ext uri="{FF2B5EF4-FFF2-40B4-BE49-F238E27FC236}">
                  <a16:creationId xmlns:a16="http://schemas.microsoft.com/office/drawing/2014/main" id="{445AF884-4EC3-E477-DB0C-E7BACF22251A}"/>
                </a:ext>
              </a:extLst>
            </p:cNvPr>
            <p:cNvSpPr>
              <a:spLocks noGrp="1"/>
            </p:cNvSpPr>
            <p:nvPr/>
          </p:nvSpPr>
          <p:spPr>
            <a:xfrm>
              <a:off x="2255827" y="5658297"/>
              <a:ext cx="24486" cy="2112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7" name="asset_3169_37">
              <a:extLst>
                <a:ext uri="{FF2B5EF4-FFF2-40B4-BE49-F238E27FC236}">
                  <a16:creationId xmlns:a16="http://schemas.microsoft.com/office/drawing/2014/main" id="{8548860C-336A-E8E6-C08F-A2EC53A5F6C5}"/>
                </a:ext>
              </a:extLst>
            </p:cNvPr>
            <p:cNvSpPr>
              <a:spLocks noGrp="1"/>
            </p:cNvSpPr>
            <p:nvPr/>
          </p:nvSpPr>
          <p:spPr>
            <a:xfrm>
              <a:off x="2212444" y="5679829"/>
              <a:ext cx="19456" cy="1678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8" name="asset_3169_38">
              <a:extLst>
                <a:ext uri="{FF2B5EF4-FFF2-40B4-BE49-F238E27FC236}">
                  <a16:creationId xmlns:a16="http://schemas.microsoft.com/office/drawing/2014/main" id="{648DC38E-0310-9E0E-37D3-5E74B6EF35F1}"/>
                </a:ext>
              </a:extLst>
            </p:cNvPr>
            <p:cNvSpPr>
              <a:spLocks noGrp="1"/>
            </p:cNvSpPr>
            <p:nvPr/>
          </p:nvSpPr>
          <p:spPr>
            <a:xfrm>
              <a:off x="2240936" y="5686210"/>
              <a:ext cx="21405" cy="184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9" name="asset_3169_39">
              <a:extLst>
                <a:ext uri="{FF2B5EF4-FFF2-40B4-BE49-F238E27FC236}">
                  <a16:creationId xmlns:a16="http://schemas.microsoft.com/office/drawing/2014/main" id="{ACB0B137-A9B7-8555-0594-4839D4EE1AF5}"/>
                </a:ext>
              </a:extLst>
            </p:cNvPr>
            <p:cNvSpPr>
              <a:spLocks noGrp="1"/>
            </p:cNvSpPr>
            <p:nvPr/>
          </p:nvSpPr>
          <p:spPr>
            <a:xfrm>
              <a:off x="2265093" y="5678881"/>
              <a:ext cx="26532" cy="2289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0" name="asset_3169_40">
              <a:extLst>
                <a:ext uri="{FF2B5EF4-FFF2-40B4-BE49-F238E27FC236}">
                  <a16:creationId xmlns:a16="http://schemas.microsoft.com/office/drawing/2014/main" id="{CB82A286-4EA7-C723-174F-A005964CF56B}"/>
                </a:ext>
              </a:extLst>
            </p:cNvPr>
            <p:cNvSpPr>
              <a:spLocks noGrp="1"/>
            </p:cNvSpPr>
            <p:nvPr/>
          </p:nvSpPr>
          <p:spPr>
            <a:xfrm>
              <a:off x="2229701" y="5665168"/>
              <a:ext cx="29465" cy="254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1" name="asset_3169_41">
              <a:extLst>
                <a:ext uri="{FF2B5EF4-FFF2-40B4-BE49-F238E27FC236}">
                  <a16:creationId xmlns:a16="http://schemas.microsoft.com/office/drawing/2014/main" id="{1E67FB97-244C-14BD-73A9-CA2F9B1E24BA}"/>
                </a:ext>
              </a:extLst>
            </p:cNvPr>
            <p:cNvSpPr>
              <a:spLocks noGrp="1"/>
            </p:cNvSpPr>
            <p:nvPr/>
          </p:nvSpPr>
          <p:spPr>
            <a:xfrm>
              <a:off x="2222658" y="5680582"/>
              <a:ext cx="27660" cy="2386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2" name="asset_3169_42">
              <a:extLst>
                <a:ext uri="{FF2B5EF4-FFF2-40B4-BE49-F238E27FC236}">
                  <a16:creationId xmlns:a16="http://schemas.microsoft.com/office/drawing/2014/main" id="{417A6C45-6CB7-5380-B441-87E54399F7F7}"/>
                </a:ext>
              </a:extLst>
            </p:cNvPr>
            <p:cNvSpPr>
              <a:spLocks noGrp="1"/>
            </p:cNvSpPr>
            <p:nvPr/>
          </p:nvSpPr>
          <p:spPr>
            <a:xfrm>
              <a:off x="2243804" y="5697201"/>
              <a:ext cx="17846" cy="1539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3" name="asset_3169_43">
              <a:extLst>
                <a:ext uri="{FF2B5EF4-FFF2-40B4-BE49-F238E27FC236}">
                  <a16:creationId xmlns:a16="http://schemas.microsoft.com/office/drawing/2014/main" id="{5A16B6AC-2250-FE07-B0D3-1B193E4DFACB}"/>
                </a:ext>
              </a:extLst>
            </p:cNvPr>
            <p:cNvSpPr>
              <a:spLocks noGrp="1"/>
            </p:cNvSpPr>
            <p:nvPr/>
          </p:nvSpPr>
          <p:spPr>
            <a:xfrm>
              <a:off x="2262800" y="5690235"/>
              <a:ext cx="21180" cy="1827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4" name="asset_3169_44">
              <a:extLst>
                <a:ext uri="{FF2B5EF4-FFF2-40B4-BE49-F238E27FC236}">
                  <a16:creationId xmlns:a16="http://schemas.microsoft.com/office/drawing/2014/main" id="{081C5E26-7488-869A-618E-1092033F59C2}"/>
                </a:ext>
              </a:extLst>
            </p:cNvPr>
            <p:cNvSpPr>
              <a:spLocks noGrp="1"/>
            </p:cNvSpPr>
            <p:nvPr/>
          </p:nvSpPr>
          <p:spPr>
            <a:xfrm>
              <a:off x="2235058" y="5658630"/>
              <a:ext cx="25840" cy="2229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5" name="asset_3169_45">
              <a:extLst>
                <a:ext uri="{FF2B5EF4-FFF2-40B4-BE49-F238E27FC236}">
                  <a16:creationId xmlns:a16="http://schemas.microsoft.com/office/drawing/2014/main" id="{41A170EA-8B41-0DF1-E7EA-2AB990478A77}"/>
                </a:ext>
              </a:extLst>
            </p:cNvPr>
            <p:cNvSpPr>
              <a:spLocks noGrp="1"/>
            </p:cNvSpPr>
            <p:nvPr/>
          </p:nvSpPr>
          <p:spPr>
            <a:xfrm>
              <a:off x="2211228" y="5681493"/>
              <a:ext cx="31451" cy="2713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6" name="asset_3169_46">
              <a:extLst>
                <a:ext uri="{FF2B5EF4-FFF2-40B4-BE49-F238E27FC236}">
                  <a16:creationId xmlns:a16="http://schemas.microsoft.com/office/drawing/2014/main" id="{32D1B9BF-5325-26AF-BAA9-BBD6B30B328F}"/>
                </a:ext>
              </a:extLst>
            </p:cNvPr>
            <p:cNvSpPr>
              <a:spLocks noGrp="1"/>
            </p:cNvSpPr>
            <p:nvPr/>
          </p:nvSpPr>
          <p:spPr>
            <a:xfrm>
              <a:off x="2234524" y="5703451"/>
              <a:ext cx="21739" cy="1875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7" name="asset_3169_47">
              <a:extLst>
                <a:ext uri="{FF2B5EF4-FFF2-40B4-BE49-F238E27FC236}">
                  <a16:creationId xmlns:a16="http://schemas.microsoft.com/office/drawing/2014/main" id="{19954402-7CDC-A852-CA61-629A3E0C394F}"/>
                </a:ext>
              </a:extLst>
            </p:cNvPr>
            <p:cNvSpPr>
              <a:spLocks noGrp="1"/>
            </p:cNvSpPr>
            <p:nvPr/>
          </p:nvSpPr>
          <p:spPr>
            <a:xfrm>
              <a:off x="2269639" y="5693556"/>
              <a:ext cx="19299" cy="1665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8" name="asset_3169_48">
              <a:extLst>
                <a:ext uri="{FF2B5EF4-FFF2-40B4-BE49-F238E27FC236}">
                  <a16:creationId xmlns:a16="http://schemas.microsoft.com/office/drawing/2014/main" id="{41D1840A-7225-0A6F-EB5F-EF20E870D9CF}"/>
                </a:ext>
              </a:extLst>
            </p:cNvPr>
            <p:cNvSpPr>
              <a:spLocks noGrp="1"/>
            </p:cNvSpPr>
            <p:nvPr/>
          </p:nvSpPr>
          <p:spPr>
            <a:xfrm>
              <a:off x="2221813" y="5667367"/>
              <a:ext cx="17021" cy="1468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9" name="asset_3169_49">
              <a:extLst>
                <a:ext uri="{FF2B5EF4-FFF2-40B4-BE49-F238E27FC236}">
                  <a16:creationId xmlns:a16="http://schemas.microsoft.com/office/drawing/2014/main" id="{FB9EBEA7-2F90-78C6-B9FF-085239FF7530}"/>
                </a:ext>
              </a:extLst>
            </p:cNvPr>
            <p:cNvSpPr>
              <a:spLocks noGrp="1"/>
            </p:cNvSpPr>
            <p:nvPr/>
          </p:nvSpPr>
          <p:spPr>
            <a:xfrm>
              <a:off x="2208530" y="5668919"/>
              <a:ext cx="27524" cy="2374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40" name="asset_3169_50">
              <a:extLst>
                <a:ext uri="{FF2B5EF4-FFF2-40B4-BE49-F238E27FC236}">
                  <a16:creationId xmlns:a16="http://schemas.microsoft.com/office/drawing/2014/main" id="{7ED9E287-6110-2BD8-91C3-3424DDB48479}"/>
                </a:ext>
              </a:extLst>
            </p:cNvPr>
            <p:cNvSpPr>
              <a:spLocks noGrp="1"/>
            </p:cNvSpPr>
            <p:nvPr/>
          </p:nvSpPr>
          <p:spPr>
            <a:xfrm>
              <a:off x="2251433" y="5689815"/>
              <a:ext cx="17431" cy="1504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41" name="asset_3169_51">
              <a:extLst>
                <a:ext uri="{FF2B5EF4-FFF2-40B4-BE49-F238E27FC236}">
                  <a16:creationId xmlns:a16="http://schemas.microsoft.com/office/drawing/2014/main" id="{0A5D16C0-E9EB-7A6D-D123-3915E88A78A9}"/>
                </a:ext>
              </a:extLst>
            </p:cNvPr>
            <p:cNvSpPr>
              <a:spLocks noGrp="1"/>
            </p:cNvSpPr>
            <p:nvPr/>
          </p:nvSpPr>
          <p:spPr>
            <a:xfrm>
              <a:off x="2187720" y="5657778"/>
              <a:ext cx="125096" cy="109062"/>
            </a:xfrm>
            <a:custGeom>
              <a:avLst/>
              <a:gdLst/>
              <a:ahLst/>
              <a:cxnLst/>
              <a:rect l="0" t="0" r="0" b="0"/>
              <a:pathLst>
                <a:path w="125096" h="109062">
                  <a:moveTo>
                    <a:pt x="0" y="0"/>
                  </a:moveTo>
                  <a:lnTo>
                    <a:pt x="125096" y="0"/>
                  </a:lnTo>
                  <a:lnTo>
                    <a:pt x="125096" y="109062"/>
                  </a:lnTo>
                  <a:lnTo>
                    <a:pt x="0" y="109062"/>
                  </a:lnTo>
                  <a:close/>
                </a:path>
              </a:pathLst>
            </a:custGeom>
            <a:noFill/>
            <a:ln w="3600">
              <a:solidFill>
                <a:srgbClr val="8AB3D9"/>
              </a:solidFill>
            </a:ln>
          </p:spPr>
        </p:sp>
      </p:grpSp>
      <p:sp>
        <p:nvSpPr>
          <p:cNvPr id="1242" name="TextBox 12306">
            <a:extLst>
              <a:ext uri="{FF2B5EF4-FFF2-40B4-BE49-F238E27FC236}">
                <a16:creationId xmlns:a16="http://schemas.microsoft.com/office/drawing/2014/main" id="{B61D0A30-984F-5F1D-C0E3-4ED5D4539DF2}"/>
              </a:ext>
            </a:extLst>
          </p:cNvPr>
          <p:cNvSpPr txBox="1"/>
          <p:nvPr/>
        </p:nvSpPr>
        <p:spPr>
          <a:xfrm>
            <a:off x="5270490" y="2150246"/>
            <a:ext cx="819150" cy="93744"/>
          </a:xfrm>
          <a:prstGeom prst="rect">
            <a:avLst/>
          </a:prstGeom>
          <a:noFill/>
        </p:spPr>
        <p:txBody>
          <a:bodyPr wrap="square" lIns="0" tIns="0" rIns="0" bIns="0" anchor="ctr">
            <a:spAutoFit/>
          </a:bodyPr>
          <a:lstStyle/>
          <a:p>
            <a:pPr algn="l">
              <a:lnSpc>
                <a:spcPct val="105000"/>
              </a:lnSpc>
            </a:pPr>
            <a:r>
              <a:rPr sz="623" b="1" dirty="0" err="1">
                <a:solidFill>
                  <a:srgbClr val="263442"/>
                </a:solidFill>
                <a:latin typeface="Arial"/>
              </a:rPr>
              <a:t>DG-PocketXMol</a:t>
            </a:r>
            <a:endParaRPr sz="623" b="1" dirty="0">
              <a:solidFill>
                <a:srgbClr val="263442"/>
              </a:solidFill>
              <a:latin typeface="Arial"/>
            </a:endParaRPr>
          </a:p>
        </p:txBody>
      </p:sp>
      <p:sp>
        <p:nvSpPr>
          <p:cNvPr id="1243" name="TextBox 12307">
            <a:extLst>
              <a:ext uri="{FF2B5EF4-FFF2-40B4-BE49-F238E27FC236}">
                <a16:creationId xmlns:a16="http://schemas.microsoft.com/office/drawing/2014/main" id="{50E4F9BE-39D5-3572-2B27-7015D0FE756B}"/>
              </a:ext>
            </a:extLst>
          </p:cNvPr>
          <p:cNvSpPr txBox="1"/>
          <p:nvPr/>
        </p:nvSpPr>
        <p:spPr>
          <a:xfrm>
            <a:off x="5270983" y="2305119"/>
            <a:ext cx="819150" cy="163763"/>
          </a:xfrm>
          <a:prstGeom prst="rect">
            <a:avLst/>
          </a:prstGeom>
          <a:noFill/>
        </p:spPr>
        <p:txBody>
          <a:bodyPr wrap="square" lIns="0" tIns="0" rIns="0" bIns="0" anchor="ctr">
            <a:spAutoFit/>
          </a:bodyPr>
          <a:lstStyle/>
          <a:p>
            <a:pPr algn="l">
              <a:lnSpc>
                <a:spcPct val="96000"/>
              </a:lnSpc>
            </a:pPr>
            <a:r>
              <a:rPr sz="554" dirty="0">
                <a:solidFill>
                  <a:srgbClr val="263442"/>
                </a:solidFill>
                <a:latin typeface="Arial"/>
              </a:rPr>
              <a:t>Density-conditioned</a:t>
            </a:r>
            <a:endParaRPr lang="en-US" sz="554" dirty="0">
              <a:solidFill>
                <a:srgbClr val="263442"/>
              </a:solidFill>
              <a:latin typeface="Arial"/>
            </a:endParaRPr>
          </a:p>
          <a:p>
            <a:pPr algn="l">
              <a:lnSpc>
                <a:spcPct val="96000"/>
              </a:lnSpc>
            </a:pPr>
            <a:r>
              <a:rPr sz="554" dirty="0">
                <a:solidFill>
                  <a:srgbClr val="263442"/>
                </a:solidFill>
                <a:latin typeface="Arial"/>
              </a:rPr>
              <a:t>fine-tuning</a:t>
            </a:r>
          </a:p>
        </p:txBody>
      </p:sp>
      <p:grpSp>
        <p:nvGrpSpPr>
          <p:cNvPr id="1248" name="Unified flow and feature elements">
            <a:extLst>
              <a:ext uri="{FF2B5EF4-FFF2-40B4-BE49-F238E27FC236}">
                <a16:creationId xmlns:a16="http://schemas.microsoft.com/office/drawing/2014/main" id="{DA74696D-FF4F-021F-A459-9CD0851351CF}"/>
              </a:ext>
            </a:extLst>
          </p:cNvPr>
          <p:cNvGrpSpPr/>
          <p:nvPr/>
        </p:nvGrpSpPr>
        <p:grpSpPr>
          <a:xfrm>
            <a:off x="966222" y="284723"/>
            <a:ext cx="3748525" cy="3967446"/>
            <a:chOff x="2272349" y="669608"/>
            <a:chExt cx="8815739" cy="9330594"/>
          </a:xfrm>
        </p:grpSpPr>
        <p:sp>
          <p:nvSpPr>
            <p:cNvPr id="1249" name="Preprocessing refined">
              <a:extLst>
                <a:ext uri="{FF2B5EF4-FFF2-40B4-BE49-F238E27FC236}">
                  <a16:creationId xmlns:a16="http://schemas.microsoft.com/office/drawing/2014/main" id="{A3A31885-181B-CF24-BE30-3ED8DAACE460}"/>
                </a:ext>
              </a:extLst>
            </p:cNvPr>
            <p:cNvSpPr>
              <a:spLocks noGrp="1"/>
            </p:cNvSpPr>
            <p:nvPr/>
          </p:nvSpPr>
          <p:spPr>
            <a:xfrm>
              <a:off x="3192811" y="669608"/>
              <a:ext cx="1028701" cy="3460433"/>
            </a:xfrm>
            <a:prstGeom prst="roundRect">
              <a:avLst>
                <a:gd name="adj" fmla="val 6481"/>
              </a:avLst>
            </a:prstGeom>
            <a:solidFill>
              <a:srgbClr val="E8EFF7"/>
            </a:solidFill>
            <a:ln w="7290">
              <a:solidFill>
                <a:srgbClr val="C4D1E1"/>
              </a:solidFill>
            </a:ln>
          </p:spPr>
        </p:sp>
        <p:sp>
          <p:nvSpPr>
            <p:cNvPr id="1250" name="Preprocessing divider refined">
              <a:extLst>
                <a:ext uri="{FF2B5EF4-FFF2-40B4-BE49-F238E27FC236}">
                  <a16:creationId xmlns:a16="http://schemas.microsoft.com/office/drawing/2014/main" id="{E21BD2F9-92DD-96F0-3AAF-0957638A49FB}"/>
                </a:ext>
              </a:extLst>
            </p:cNvPr>
            <p:cNvSpPr>
              <a:spLocks noGrp="1"/>
            </p:cNvSpPr>
            <p:nvPr/>
          </p:nvSpPr>
          <p:spPr>
            <a:xfrm>
              <a:off x="3269449" y="2418363"/>
              <a:ext cx="800100" cy="190"/>
            </a:xfrm>
            <a:custGeom>
              <a:avLst/>
              <a:gdLst/>
              <a:ahLst/>
              <a:cxnLst/>
              <a:rect l="0" t="0" r="0" b="0"/>
              <a:pathLst>
                <a:path w="800100" h="191">
                  <a:moveTo>
                    <a:pt x="0" y="0"/>
                  </a:moveTo>
                  <a:lnTo>
                    <a:pt x="800100" y="0"/>
                  </a:lnTo>
                </a:path>
              </a:pathLst>
            </a:custGeom>
            <a:noFill/>
            <a:ln w="6075">
              <a:solidFill>
                <a:srgbClr val="C4D1E1"/>
              </a:solidFill>
              <a:prstDash val="solid"/>
            </a:ln>
          </p:spPr>
        </p:sp>
        <p:sp>
          <p:nvSpPr>
            <p:cNvPr id="1251" name="Density bank refined">
              <a:extLst>
                <a:ext uri="{FF2B5EF4-FFF2-40B4-BE49-F238E27FC236}">
                  <a16:creationId xmlns:a16="http://schemas.microsoft.com/office/drawing/2014/main" id="{1E51E71A-A2BC-0776-E4CA-D30FBB1BE241}"/>
                </a:ext>
              </a:extLst>
            </p:cNvPr>
            <p:cNvSpPr>
              <a:spLocks noGrp="1"/>
            </p:cNvSpPr>
            <p:nvPr/>
          </p:nvSpPr>
          <p:spPr>
            <a:xfrm>
              <a:off x="3230999" y="695478"/>
              <a:ext cx="990599" cy="457199"/>
            </a:xfrm>
            <a:prstGeom prst="rect">
              <a:avLst/>
            </a:prstGeom>
            <a:noFill/>
            <a:ln w="7290">
              <a:noFill/>
            </a:ln>
          </p:spPr>
          <p:txBody>
            <a:bodyPr lIns="0" tIns="0" rIns="0" bIns="0" anchor="ctr"/>
            <a:lstStyle>
              <a:defPPr algn="ctr">
                <a:defRPr sz="612">
                  <a:solidFill>
                    <a:srgbClr val="263442"/>
                  </a:solidFill>
                  <a:latin typeface="Arial"/>
                  <a:ea typeface="Arial"/>
                  <a:cs typeface="Arial"/>
                </a:defRPr>
              </a:defPPr>
              <a:lvl1pPr algn="ctr">
                <a:defRPr sz="612">
                  <a:solidFill>
                    <a:srgbClr val="263442"/>
                  </a:solidFill>
                  <a:latin typeface="Arial"/>
                  <a:ea typeface="Arial"/>
                  <a:cs typeface="Arial"/>
                </a:defRPr>
              </a:lvl1pPr>
              <a:lvl2pPr algn="ctr">
                <a:defRPr sz="612">
                  <a:solidFill>
                    <a:srgbClr val="263442"/>
                  </a:solidFill>
                  <a:latin typeface="Arial"/>
                  <a:ea typeface="Arial"/>
                  <a:cs typeface="Arial"/>
                </a:defRPr>
              </a:lvl2pPr>
              <a:lvl3pPr algn="ctr">
                <a:defRPr sz="612">
                  <a:solidFill>
                    <a:srgbClr val="263442"/>
                  </a:solidFill>
                  <a:latin typeface="Arial"/>
                  <a:ea typeface="Arial"/>
                  <a:cs typeface="Arial"/>
                </a:defRPr>
              </a:lvl3pPr>
              <a:lvl4pPr algn="ctr">
                <a:defRPr sz="612">
                  <a:solidFill>
                    <a:srgbClr val="263442"/>
                  </a:solidFill>
                  <a:latin typeface="Arial"/>
                  <a:ea typeface="Arial"/>
                  <a:cs typeface="Arial"/>
                </a:defRPr>
              </a:lvl4pPr>
              <a:lvl5pPr algn="ctr">
                <a:defRPr sz="612">
                  <a:solidFill>
                    <a:srgbClr val="263442"/>
                  </a:solidFill>
                  <a:latin typeface="Arial"/>
                  <a:ea typeface="Arial"/>
                  <a:cs typeface="Arial"/>
                </a:defRPr>
              </a:lvl5pPr>
              <a:lvl6pPr algn="ctr">
                <a:defRPr sz="612">
                  <a:solidFill>
                    <a:srgbClr val="263442"/>
                  </a:solidFill>
                  <a:latin typeface="Arial"/>
                  <a:ea typeface="Arial"/>
                  <a:cs typeface="Arial"/>
                </a:defRPr>
              </a:lvl6pPr>
              <a:lvl7pPr algn="ctr">
                <a:defRPr sz="612">
                  <a:solidFill>
                    <a:srgbClr val="263442"/>
                  </a:solidFill>
                  <a:latin typeface="Arial"/>
                  <a:ea typeface="Arial"/>
                  <a:cs typeface="Arial"/>
                </a:defRPr>
              </a:lvl7pPr>
              <a:lvl8pPr algn="ctr">
                <a:defRPr sz="612">
                  <a:solidFill>
                    <a:srgbClr val="263442"/>
                  </a:solidFill>
                  <a:latin typeface="Arial"/>
                  <a:ea typeface="Arial"/>
                  <a:cs typeface="Arial"/>
                </a:defRPr>
              </a:lvl8pPr>
              <a:lvl9pPr algn="ctr">
                <a:defRPr sz="612">
                  <a:solidFill>
                    <a:srgbClr val="263442"/>
                  </a:solidFill>
                  <a:latin typeface="Arial"/>
                  <a:ea typeface="Arial"/>
                  <a:cs typeface="Arial"/>
                </a:defRPr>
              </a:lvl9pPr>
            </a:lstStyle>
            <a:p>
              <a:pPr algn="ctr">
                <a:defRPr sz="612">
                  <a:solidFill>
                    <a:srgbClr val="263442"/>
                  </a:solidFill>
                  <a:latin typeface="Arial"/>
                  <a:ea typeface="Arial"/>
                  <a:cs typeface="Arial"/>
                </a:defRPr>
              </a:pPr>
              <a:r>
                <a:rPr sz="550" dirty="0">
                  <a:solidFill>
                    <a:srgbClr val="263442"/>
                  </a:solidFill>
                  <a:latin typeface="Arial"/>
                  <a:ea typeface="Arial"/>
                  <a:cs typeface="Arial"/>
                </a:rPr>
                <a:t>Density</a:t>
              </a:r>
            </a:p>
            <a:p>
              <a:pPr algn="ctr">
                <a:defRPr sz="612">
                  <a:solidFill>
                    <a:srgbClr val="263442"/>
                  </a:solidFill>
                  <a:latin typeface="Arial"/>
                  <a:ea typeface="Arial"/>
                  <a:cs typeface="Arial"/>
                </a:defRPr>
              </a:pPr>
              <a:r>
                <a:rPr lang="en-US" sz="550" dirty="0">
                  <a:solidFill>
                    <a:srgbClr val="263442"/>
                  </a:solidFill>
                  <a:latin typeface="Arial"/>
                  <a:ea typeface="Arial"/>
                  <a:cs typeface="Arial"/>
                </a:rPr>
                <a:t>B</a:t>
              </a:r>
              <a:r>
                <a:rPr sz="550" dirty="0">
                  <a:solidFill>
                    <a:srgbClr val="263442"/>
                  </a:solidFill>
                  <a:latin typeface="Arial"/>
                  <a:ea typeface="Arial"/>
                  <a:cs typeface="Arial"/>
                </a:rPr>
                <a:t>ank</a:t>
              </a:r>
            </a:p>
          </p:txBody>
        </p:sp>
        <p:sp>
          <p:nvSpPr>
            <p:cNvPr id="1252" name="Embedding head refined">
              <a:extLst>
                <a:ext uri="{FF2B5EF4-FFF2-40B4-BE49-F238E27FC236}">
                  <a16:creationId xmlns:a16="http://schemas.microsoft.com/office/drawing/2014/main" id="{58C61B38-F8DB-1F98-DEE4-C9D7130E2730}"/>
                </a:ext>
              </a:extLst>
            </p:cNvPr>
            <p:cNvSpPr>
              <a:spLocks noGrp="1"/>
            </p:cNvSpPr>
            <p:nvPr/>
          </p:nvSpPr>
          <p:spPr>
            <a:xfrm>
              <a:off x="3192663" y="2542570"/>
              <a:ext cx="990599" cy="457199"/>
            </a:xfrm>
            <a:prstGeom prst="rect">
              <a:avLst/>
            </a:prstGeom>
            <a:noFill/>
            <a:ln w="7290">
              <a:noFill/>
            </a:ln>
          </p:spPr>
          <p:txBody>
            <a:bodyPr lIns="0" tIns="0" rIns="0" bIns="0" anchor="ctr"/>
            <a:lstStyle>
              <a:defPPr algn="ctr">
                <a:defRPr sz="612">
                  <a:solidFill>
                    <a:srgbClr val="263442"/>
                  </a:solidFill>
                  <a:latin typeface="Arial"/>
                  <a:ea typeface="Arial"/>
                  <a:cs typeface="Arial"/>
                </a:defRPr>
              </a:defPPr>
              <a:lvl1pPr algn="ctr">
                <a:defRPr sz="612">
                  <a:solidFill>
                    <a:srgbClr val="263442"/>
                  </a:solidFill>
                  <a:latin typeface="Arial"/>
                  <a:ea typeface="Arial"/>
                  <a:cs typeface="Arial"/>
                </a:defRPr>
              </a:lvl1pPr>
              <a:lvl2pPr algn="ctr">
                <a:defRPr sz="612">
                  <a:solidFill>
                    <a:srgbClr val="263442"/>
                  </a:solidFill>
                  <a:latin typeface="Arial"/>
                  <a:ea typeface="Arial"/>
                  <a:cs typeface="Arial"/>
                </a:defRPr>
              </a:lvl2pPr>
              <a:lvl3pPr algn="ctr">
                <a:defRPr sz="612">
                  <a:solidFill>
                    <a:srgbClr val="263442"/>
                  </a:solidFill>
                  <a:latin typeface="Arial"/>
                  <a:ea typeface="Arial"/>
                  <a:cs typeface="Arial"/>
                </a:defRPr>
              </a:lvl3pPr>
              <a:lvl4pPr algn="ctr">
                <a:defRPr sz="612">
                  <a:solidFill>
                    <a:srgbClr val="263442"/>
                  </a:solidFill>
                  <a:latin typeface="Arial"/>
                  <a:ea typeface="Arial"/>
                  <a:cs typeface="Arial"/>
                </a:defRPr>
              </a:lvl4pPr>
              <a:lvl5pPr algn="ctr">
                <a:defRPr sz="612">
                  <a:solidFill>
                    <a:srgbClr val="263442"/>
                  </a:solidFill>
                  <a:latin typeface="Arial"/>
                  <a:ea typeface="Arial"/>
                  <a:cs typeface="Arial"/>
                </a:defRPr>
              </a:lvl5pPr>
              <a:lvl6pPr algn="ctr">
                <a:defRPr sz="612">
                  <a:solidFill>
                    <a:srgbClr val="263442"/>
                  </a:solidFill>
                  <a:latin typeface="Arial"/>
                  <a:ea typeface="Arial"/>
                  <a:cs typeface="Arial"/>
                </a:defRPr>
              </a:lvl6pPr>
              <a:lvl7pPr algn="ctr">
                <a:defRPr sz="612">
                  <a:solidFill>
                    <a:srgbClr val="263442"/>
                  </a:solidFill>
                  <a:latin typeface="Arial"/>
                  <a:ea typeface="Arial"/>
                  <a:cs typeface="Arial"/>
                </a:defRPr>
              </a:lvl7pPr>
              <a:lvl8pPr algn="ctr">
                <a:defRPr sz="612">
                  <a:solidFill>
                    <a:srgbClr val="263442"/>
                  </a:solidFill>
                  <a:latin typeface="Arial"/>
                  <a:ea typeface="Arial"/>
                  <a:cs typeface="Arial"/>
                </a:defRPr>
              </a:lvl8pPr>
              <a:lvl9pPr algn="ctr">
                <a:defRPr sz="612">
                  <a:solidFill>
                    <a:srgbClr val="263442"/>
                  </a:solidFill>
                  <a:latin typeface="Arial"/>
                  <a:ea typeface="Arial"/>
                  <a:cs typeface="Arial"/>
                </a:defRPr>
              </a:lvl9pPr>
            </a:lstStyle>
            <a:p>
              <a:pPr algn="ctr">
                <a:defRPr sz="612">
                  <a:solidFill>
                    <a:srgbClr val="263442"/>
                  </a:solidFill>
                  <a:latin typeface="Arial"/>
                  <a:ea typeface="Arial"/>
                  <a:cs typeface="Arial"/>
                </a:defRPr>
              </a:pPr>
              <a:r>
                <a:rPr lang="en-US" sz="550" dirty="0">
                  <a:solidFill>
                    <a:srgbClr val="263442"/>
                  </a:solidFill>
                  <a:latin typeface="Arial"/>
                  <a:ea typeface="Arial"/>
                  <a:cs typeface="Arial"/>
                </a:rPr>
                <a:t>Atom embeddings</a:t>
              </a:r>
              <a:endParaRPr sz="550" dirty="0">
                <a:solidFill>
                  <a:srgbClr val="263442"/>
                </a:solidFill>
                <a:latin typeface="Arial"/>
                <a:ea typeface="Arial"/>
                <a:cs typeface="Arial"/>
              </a:endParaRPr>
            </a:p>
          </p:txBody>
        </p:sp>
        <p:sp>
          <p:nvSpPr>
            <p:cNvPr id="1253" name="Find matrix 0-0">
              <a:extLst>
                <a:ext uri="{FF2B5EF4-FFF2-40B4-BE49-F238E27FC236}">
                  <a16:creationId xmlns:a16="http://schemas.microsoft.com/office/drawing/2014/main" id="{BBF0C328-3AF9-A068-FA92-FBF890856A66}"/>
                </a:ext>
              </a:extLst>
            </p:cNvPr>
            <p:cNvSpPr>
              <a:spLocks noGrp="1"/>
            </p:cNvSpPr>
            <p:nvPr/>
          </p:nvSpPr>
          <p:spPr>
            <a:xfrm>
              <a:off x="10325612" y="3200400"/>
              <a:ext cx="91559" cy="70009"/>
            </a:xfrm>
            <a:prstGeom prst="rect">
              <a:avLst/>
            </a:prstGeom>
            <a:solidFill>
              <a:srgbClr val="3E8F9A"/>
            </a:solidFill>
            <a:ln w="7290">
              <a:noFill/>
            </a:ln>
          </p:spPr>
        </p:sp>
        <p:sp>
          <p:nvSpPr>
            <p:cNvPr id="1254" name="Find matrix 0-1">
              <a:extLst>
                <a:ext uri="{FF2B5EF4-FFF2-40B4-BE49-F238E27FC236}">
                  <a16:creationId xmlns:a16="http://schemas.microsoft.com/office/drawing/2014/main" id="{3474DD36-B24E-DC42-848D-72CE3DEC2274}"/>
                </a:ext>
              </a:extLst>
            </p:cNvPr>
            <p:cNvSpPr>
              <a:spLocks noGrp="1"/>
            </p:cNvSpPr>
            <p:nvPr/>
          </p:nvSpPr>
          <p:spPr>
            <a:xfrm>
              <a:off x="10421457" y="3200400"/>
              <a:ext cx="91559" cy="70009"/>
            </a:xfrm>
            <a:prstGeom prst="rect">
              <a:avLst/>
            </a:prstGeom>
            <a:solidFill>
              <a:srgbClr val="5B9FB6"/>
            </a:solidFill>
            <a:ln w="7290">
              <a:noFill/>
            </a:ln>
          </p:spPr>
        </p:sp>
        <p:sp>
          <p:nvSpPr>
            <p:cNvPr id="1255" name="Find matrix 0-2">
              <a:extLst>
                <a:ext uri="{FF2B5EF4-FFF2-40B4-BE49-F238E27FC236}">
                  <a16:creationId xmlns:a16="http://schemas.microsoft.com/office/drawing/2014/main" id="{F807BDD1-EE13-F00C-2E77-C8910F6ACC73}"/>
                </a:ext>
              </a:extLst>
            </p:cNvPr>
            <p:cNvSpPr>
              <a:spLocks noGrp="1"/>
            </p:cNvSpPr>
            <p:nvPr/>
          </p:nvSpPr>
          <p:spPr>
            <a:xfrm>
              <a:off x="10517302" y="3200400"/>
              <a:ext cx="91559" cy="70009"/>
            </a:xfrm>
            <a:prstGeom prst="rect">
              <a:avLst/>
            </a:prstGeom>
            <a:solidFill>
              <a:srgbClr val="A3CDDA"/>
            </a:solidFill>
            <a:ln w="7290">
              <a:noFill/>
            </a:ln>
          </p:spPr>
        </p:sp>
        <p:sp>
          <p:nvSpPr>
            <p:cNvPr id="1256" name="Find matrix 0-3">
              <a:extLst>
                <a:ext uri="{FF2B5EF4-FFF2-40B4-BE49-F238E27FC236}">
                  <a16:creationId xmlns:a16="http://schemas.microsoft.com/office/drawing/2014/main" id="{DB1A890F-778A-35C9-7AE1-C0AE618D52CF}"/>
                </a:ext>
              </a:extLst>
            </p:cNvPr>
            <p:cNvSpPr>
              <a:spLocks noGrp="1"/>
            </p:cNvSpPr>
            <p:nvPr/>
          </p:nvSpPr>
          <p:spPr>
            <a:xfrm>
              <a:off x="10613147" y="3200400"/>
              <a:ext cx="91559" cy="70009"/>
            </a:xfrm>
            <a:prstGeom prst="rect">
              <a:avLst/>
            </a:prstGeom>
            <a:solidFill>
              <a:srgbClr val="88BEC3"/>
            </a:solidFill>
            <a:ln w="7290">
              <a:noFill/>
            </a:ln>
          </p:spPr>
        </p:sp>
        <p:sp>
          <p:nvSpPr>
            <p:cNvPr id="1257" name="Find matrix 0-4">
              <a:extLst>
                <a:ext uri="{FF2B5EF4-FFF2-40B4-BE49-F238E27FC236}">
                  <a16:creationId xmlns:a16="http://schemas.microsoft.com/office/drawing/2014/main" id="{B445D6B3-6FC7-4615-5975-85730846D82F}"/>
                </a:ext>
              </a:extLst>
            </p:cNvPr>
            <p:cNvSpPr>
              <a:spLocks noGrp="1"/>
            </p:cNvSpPr>
            <p:nvPr/>
          </p:nvSpPr>
          <p:spPr>
            <a:xfrm>
              <a:off x="10708993" y="3200400"/>
              <a:ext cx="91559" cy="70009"/>
            </a:xfrm>
            <a:prstGeom prst="rect">
              <a:avLst/>
            </a:prstGeom>
            <a:solidFill>
              <a:srgbClr val="67AD9F"/>
            </a:solidFill>
            <a:ln w="7290">
              <a:noFill/>
            </a:ln>
          </p:spPr>
        </p:sp>
        <p:sp>
          <p:nvSpPr>
            <p:cNvPr id="1258" name="Find matrix 0-5">
              <a:extLst>
                <a:ext uri="{FF2B5EF4-FFF2-40B4-BE49-F238E27FC236}">
                  <a16:creationId xmlns:a16="http://schemas.microsoft.com/office/drawing/2014/main" id="{EDF77049-6933-CA1B-21BD-2D261FB460F5}"/>
                </a:ext>
              </a:extLst>
            </p:cNvPr>
            <p:cNvSpPr>
              <a:spLocks noGrp="1"/>
            </p:cNvSpPr>
            <p:nvPr/>
          </p:nvSpPr>
          <p:spPr>
            <a:xfrm>
              <a:off x="10804838" y="3200400"/>
              <a:ext cx="91559" cy="70009"/>
            </a:xfrm>
            <a:prstGeom prst="rect">
              <a:avLst/>
            </a:prstGeom>
            <a:solidFill>
              <a:srgbClr val="C4DDE0"/>
            </a:solidFill>
            <a:ln w="7290">
              <a:noFill/>
            </a:ln>
          </p:spPr>
        </p:sp>
        <p:sp>
          <p:nvSpPr>
            <p:cNvPr id="1259" name="Find matrix 0-6">
              <a:extLst>
                <a:ext uri="{FF2B5EF4-FFF2-40B4-BE49-F238E27FC236}">
                  <a16:creationId xmlns:a16="http://schemas.microsoft.com/office/drawing/2014/main" id="{F24780FB-09E3-AE39-557B-018C817CABA7}"/>
                </a:ext>
              </a:extLst>
            </p:cNvPr>
            <p:cNvSpPr>
              <a:spLocks noGrp="1"/>
            </p:cNvSpPr>
            <p:nvPr/>
          </p:nvSpPr>
          <p:spPr>
            <a:xfrm>
              <a:off x="10900683" y="3200400"/>
              <a:ext cx="91559" cy="70009"/>
            </a:xfrm>
            <a:prstGeom prst="rect">
              <a:avLst/>
            </a:prstGeom>
            <a:solidFill>
              <a:srgbClr val="B6D8CC"/>
            </a:solidFill>
            <a:ln w="7290">
              <a:noFill/>
            </a:ln>
          </p:spPr>
        </p:sp>
        <p:sp>
          <p:nvSpPr>
            <p:cNvPr id="1260" name="Find matrix 0-7">
              <a:extLst>
                <a:ext uri="{FF2B5EF4-FFF2-40B4-BE49-F238E27FC236}">
                  <a16:creationId xmlns:a16="http://schemas.microsoft.com/office/drawing/2014/main" id="{69791062-44B8-8426-AAD4-DD68B1FF31BA}"/>
                </a:ext>
              </a:extLst>
            </p:cNvPr>
            <p:cNvSpPr>
              <a:spLocks noGrp="1"/>
            </p:cNvSpPr>
            <p:nvPr/>
          </p:nvSpPr>
          <p:spPr>
            <a:xfrm>
              <a:off x="10996529" y="3200400"/>
              <a:ext cx="91559" cy="70009"/>
            </a:xfrm>
            <a:prstGeom prst="rect">
              <a:avLst/>
            </a:prstGeom>
            <a:solidFill>
              <a:srgbClr val="D6E5ED"/>
            </a:solidFill>
            <a:ln w="7290">
              <a:noFill/>
            </a:ln>
          </p:spPr>
        </p:sp>
        <p:sp>
          <p:nvSpPr>
            <p:cNvPr id="1261" name="Find matrix 1-0">
              <a:extLst>
                <a:ext uri="{FF2B5EF4-FFF2-40B4-BE49-F238E27FC236}">
                  <a16:creationId xmlns:a16="http://schemas.microsoft.com/office/drawing/2014/main" id="{DAD773D5-9108-C0B7-81D5-AC1CF98B49B0}"/>
                </a:ext>
              </a:extLst>
            </p:cNvPr>
            <p:cNvSpPr>
              <a:spLocks noGrp="1"/>
            </p:cNvSpPr>
            <p:nvPr/>
          </p:nvSpPr>
          <p:spPr>
            <a:xfrm>
              <a:off x="10325612" y="3274695"/>
              <a:ext cx="91559" cy="70009"/>
            </a:xfrm>
            <a:prstGeom prst="rect">
              <a:avLst/>
            </a:prstGeom>
            <a:solidFill>
              <a:srgbClr val="A3CDDA"/>
            </a:solidFill>
            <a:ln w="7290">
              <a:noFill/>
            </a:ln>
          </p:spPr>
        </p:sp>
        <p:sp>
          <p:nvSpPr>
            <p:cNvPr id="1262" name="Find matrix 1-1">
              <a:extLst>
                <a:ext uri="{FF2B5EF4-FFF2-40B4-BE49-F238E27FC236}">
                  <a16:creationId xmlns:a16="http://schemas.microsoft.com/office/drawing/2014/main" id="{FD6D65E0-3CD4-81C9-A7EC-EE4D1EA03DA1}"/>
                </a:ext>
              </a:extLst>
            </p:cNvPr>
            <p:cNvSpPr>
              <a:spLocks noGrp="1"/>
            </p:cNvSpPr>
            <p:nvPr/>
          </p:nvSpPr>
          <p:spPr>
            <a:xfrm>
              <a:off x="10421457" y="3274695"/>
              <a:ext cx="91559" cy="70009"/>
            </a:xfrm>
            <a:prstGeom prst="rect">
              <a:avLst/>
            </a:prstGeom>
            <a:solidFill>
              <a:srgbClr val="B6D8CC"/>
            </a:solidFill>
            <a:ln w="7290">
              <a:noFill/>
            </a:ln>
          </p:spPr>
        </p:sp>
        <p:sp>
          <p:nvSpPr>
            <p:cNvPr id="1263" name="Find matrix 1-2">
              <a:extLst>
                <a:ext uri="{FF2B5EF4-FFF2-40B4-BE49-F238E27FC236}">
                  <a16:creationId xmlns:a16="http://schemas.microsoft.com/office/drawing/2014/main" id="{C06E5EF8-D1B9-1DB5-4010-25CDECE16DF3}"/>
                </a:ext>
              </a:extLst>
            </p:cNvPr>
            <p:cNvSpPr>
              <a:spLocks noGrp="1"/>
            </p:cNvSpPr>
            <p:nvPr/>
          </p:nvSpPr>
          <p:spPr>
            <a:xfrm>
              <a:off x="10517302" y="3274695"/>
              <a:ext cx="91559" cy="70009"/>
            </a:xfrm>
            <a:prstGeom prst="rect">
              <a:avLst/>
            </a:prstGeom>
            <a:solidFill>
              <a:srgbClr val="88BEC3"/>
            </a:solidFill>
            <a:ln w="7290">
              <a:noFill/>
            </a:ln>
          </p:spPr>
        </p:sp>
        <p:sp>
          <p:nvSpPr>
            <p:cNvPr id="1264" name="Find matrix 1-3">
              <a:extLst>
                <a:ext uri="{FF2B5EF4-FFF2-40B4-BE49-F238E27FC236}">
                  <a16:creationId xmlns:a16="http://schemas.microsoft.com/office/drawing/2014/main" id="{9AD5706A-D366-481E-242D-C3727EE68292}"/>
                </a:ext>
              </a:extLst>
            </p:cNvPr>
            <p:cNvSpPr>
              <a:spLocks noGrp="1"/>
            </p:cNvSpPr>
            <p:nvPr/>
          </p:nvSpPr>
          <p:spPr>
            <a:xfrm>
              <a:off x="10613147" y="3274695"/>
              <a:ext cx="91559" cy="70009"/>
            </a:xfrm>
            <a:prstGeom prst="rect">
              <a:avLst/>
            </a:prstGeom>
            <a:solidFill>
              <a:srgbClr val="D6E5ED"/>
            </a:solidFill>
            <a:ln w="7290">
              <a:noFill/>
            </a:ln>
          </p:spPr>
        </p:sp>
        <p:sp>
          <p:nvSpPr>
            <p:cNvPr id="1265" name="Find matrix 1-4">
              <a:extLst>
                <a:ext uri="{FF2B5EF4-FFF2-40B4-BE49-F238E27FC236}">
                  <a16:creationId xmlns:a16="http://schemas.microsoft.com/office/drawing/2014/main" id="{6454B603-2435-1F3E-EFE1-9F3ED69FE183}"/>
                </a:ext>
              </a:extLst>
            </p:cNvPr>
            <p:cNvSpPr>
              <a:spLocks noGrp="1"/>
            </p:cNvSpPr>
            <p:nvPr/>
          </p:nvSpPr>
          <p:spPr>
            <a:xfrm>
              <a:off x="10708993" y="3274695"/>
              <a:ext cx="91559" cy="70009"/>
            </a:xfrm>
            <a:prstGeom prst="rect">
              <a:avLst/>
            </a:prstGeom>
            <a:solidFill>
              <a:srgbClr val="5B9FB6"/>
            </a:solidFill>
            <a:ln w="7290">
              <a:noFill/>
            </a:ln>
          </p:spPr>
        </p:sp>
        <p:sp>
          <p:nvSpPr>
            <p:cNvPr id="1266" name="Find matrix 1-5">
              <a:extLst>
                <a:ext uri="{FF2B5EF4-FFF2-40B4-BE49-F238E27FC236}">
                  <a16:creationId xmlns:a16="http://schemas.microsoft.com/office/drawing/2014/main" id="{BDC3058F-5BB6-EF0A-C0E4-8FFF478A86C2}"/>
                </a:ext>
              </a:extLst>
            </p:cNvPr>
            <p:cNvSpPr>
              <a:spLocks noGrp="1"/>
            </p:cNvSpPr>
            <p:nvPr/>
          </p:nvSpPr>
          <p:spPr>
            <a:xfrm>
              <a:off x="10804838" y="3274695"/>
              <a:ext cx="91559" cy="70009"/>
            </a:xfrm>
            <a:prstGeom prst="rect">
              <a:avLst/>
            </a:prstGeom>
            <a:solidFill>
              <a:srgbClr val="3E8F9A"/>
            </a:solidFill>
            <a:ln w="7290">
              <a:noFill/>
            </a:ln>
          </p:spPr>
        </p:sp>
        <p:sp>
          <p:nvSpPr>
            <p:cNvPr id="1267" name="Find matrix 1-6">
              <a:extLst>
                <a:ext uri="{FF2B5EF4-FFF2-40B4-BE49-F238E27FC236}">
                  <a16:creationId xmlns:a16="http://schemas.microsoft.com/office/drawing/2014/main" id="{7A6FD57F-2D4A-E860-6015-70841E18A307}"/>
                </a:ext>
              </a:extLst>
            </p:cNvPr>
            <p:cNvSpPr>
              <a:spLocks noGrp="1"/>
            </p:cNvSpPr>
            <p:nvPr/>
          </p:nvSpPr>
          <p:spPr>
            <a:xfrm>
              <a:off x="10900683" y="3274695"/>
              <a:ext cx="91559" cy="70009"/>
            </a:xfrm>
            <a:prstGeom prst="rect">
              <a:avLst/>
            </a:prstGeom>
            <a:solidFill>
              <a:srgbClr val="C4DDE0"/>
            </a:solidFill>
            <a:ln w="7290">
              <a:noFill/>
            </a:ln>
          </p:spPr>
        </p:sp>
        <p:sp>
          <p:nvSpPr>
            <p:cNvPr id="1268" name="Find matrix 1-7">
              <a:extLst>
                <a:ext uri="{FF2B5EF4-FFF2-40B4-BE49-F238E27FC236}">
                  <a16:creationId xmlns:a16="http://schemas.microsoft.com/office/drawing/2014/main" id="{289EF4F7-DDB6-5545-39F7-5D1B3F86D2D3}"/>
                </a:ext>
              </a:extLst>
            </p:cNvPr>
            <p:cNvSpPr>
              <a:spLocks noGrp="1"/>
            </p:cNvSpPr>
            <p:nvPr/>
          </p:nvSpPr>
          <p:spPr>
            <a:xfrm>
              <a:off x="10996529" y="3274695"/>
              <a:ext cx="91559" cy="70009"/>
            </a:xfrm>
            <a:prstGeom prst="rect">
              <a:avLst/>
            </a:prstGeom>
            <a:solidFill>
              <a:srgbClr val="67AD9F"/>
            </a:solidFill>
            <a:ln w="7290">
              <a:noFill/>
            </a:ln>
          </p:spPr>
        </p:sp>
        <p:sp>
          <p:nvSpPr>
            <p:cNvPr id="1269" name="Find matrix 2-0">
              <a:extLst>
                <a:ext uri="{FF2B5EF4-FFF2-40B4-BE49-F238E27FC236}">
                  <a16:creationId xmlns:a16="http://schemas.microsoft.com/office/drawing/2014/main" id="{B1282592-D5D6-9C68-2D42-3D2A0FA6458C}"/>
                </a:ext>
              </a:extLst>
            </p:cNvPr>
            <p:cNvSpPr>
              <a:spLocks noGrp="1"/>
            </p:cNvSpPr>
            <p:nvPr/>
          </p:nvSpPr>
          <p:spPr>
            <a:xfrm>
              <a:off x="10325612" y="3348990"/>
              <a:ext cx="91559" cy="70009"/>
            </a:xfrm>
            <a:prstGeom prst="rect">
              <a:avLst/>
            </a:prstGeom>
            <a:solidFill>
              <a:srgbClr val="67AD9F"/>
            </a:solidFill>
            <a:ln w="7290">
              <a:noFill/>
            </a:ln>
          </p:spPr>
        </p:sp>
        <p:sp>
          <p:nvSpPr>
            <p:cNvPr id="1270" name="Find matrix 2-1">
              <a:extLst>
                <a:ext uri="{FF2B5EF4-FFF2-40B4-BE49-F238E27FC236}">
                  <a16:creationId xmlns:a16="http://schemas.microsoft.com/office/drawing/2014/main" id="{390A8337-4744-F454-87FF-4E9BDE799C1D}"/>
                </a:ext>
              </a:extLst>
            </p:cNvPr>
            <p:cNvSpPr>
              <a:spLocks noGrp="1"/>
            </p:cNvSpPr>
            <p:nvPr/>
          </p:nvSpPr>
          <p:spPr>
            <a:xfrm>
              <a:off x="10421457" y="3348990"/>
              <a:ext cx="91559" cy="70009"/>
            </a:xfrm>
            <a:prstGeom prst="rect">
              <a:avLst/>
            </a:prstGeom>
            <a:solidFill>
              <a:srgbClr val="C4DDE0"/>
            </a:solidFill>
            <a:ln w="7290">
              <a:noFill/>
            </a:ln>
          </p:spPr>
        </p:sp>
        <p:sp>
          <p:nvSpPr>
            <p:cNvPr id="1271" name="Find matrix 2-2">
              <a:extLst>
                <a:ext uri="{FF2B5EF4-FFF2-40B4-BE49-F238E27FC236}">
                  <a16:creationId xmlns:a16="http://schemas.microsoft.com/office/drawing/2014/main" id="{F2F7291B-E14D-7E55-CC39-0366DDE36AB6}"/>
                </a:ext>
              </a:extLst>
            </p:cNvPr>
            <p:cNvSpPr>
              <a:spLocks noGrp="1"/>
            </p:cNvSpPr>
            <p:nvPr/>
          </p:nvSpPr>
          <p:spPr>
            <a:xfrm>
              <a:off x="10517302" y="3348990"/>
              <a:ext cx="91559" cy="70009"/>
            </a:xfrm>
            <a:prstGeom prst="rect">
              <a:avLst/>
            </a:prstGeom>
            <a:solidFill>
              <a:srgbClr val="5B9FB6"/>
            </a:solidFill>
            <a:ln w="7290">
              <a:noFill/>
            </a:ln>
          </p:spPr>
        </p:sp>
        <p:sp>
          <p:nvSpPr>
            <p:cNvPr id="1272" name="Find matrix 2-3">
              <a:extLst>
                <a:ext uri="{FF2B5EF4-FFF2-40B4-BE49-F238E27FC236}">
                  <a16:creationId xmlns:a16="http://schemas.microsoft.com/office/drawing/2014/main" id="{7DDB5DDB-AA90-B36F-ECCA-B3D87BDEF49C}"/>
                </a:ext>
              </a:extLst>
            </p:cNvPr>
            <p:cNvSpPr>
              <a:spLocks noGrp="1"/>
            </p:cNvSpPr>
            <p:nvPr/>
          </p:nvSpPr>
          <p:spPr>
            <a:xfrm>
              <a:off x="10613147" y="3348990"/>
              <a:ext cx="91559" cy="70009"/>
            </a:xfrm>
            <a:prstGeom prst="rect">
              <a:avLst/>
            </a:prstGeom>
            <a:solidFill>
              <a:srgbClr val="B6D8CC"/>
            </a:solidFill>
            <a:ln w="7290">
              <a:noFill/>
            </a:ln>
          </p:spPr>
        </p:sp>
        <p:sp>
          <p:nvSpPr>
            <p:cNvPr id="1273" name="Find matrix 2-4">
              <a:extLst>
                <a:ext uri="{FF2B5EF4-FFF2-40B4-BE49-F238E27FC236}">
                  <a16:creationId xmlns:a16="http://schemas.microsoft.com/office/drawing/2014/main" id="{FBF483EB-0895-E2F9-E946-2CE7B0273010}"/>
                </a:ext>
              </a:extLst>
            </p:cNvPr>
            <p:cNvSpPr>
              <a:spLocks noGrp="1"/>
            </p:cNvSpPr>
            <p:nvPr/>
          </p:nvSpPr>
          <p:spPr>
            <a:xfrm>
              <a:off x="10708993" y="3348990"/>
              <a:ext cx="91559" cy="70009"/>
            </a:xfrm>
            <a:prstGeom prst="rect">
              <a:avLst/>
            </a:prstGeom>
            <a:solidFill>
              <a:srgbClr val="3E8F9A"/>
            </a:solidFill>
            <a:ln w="7290">
              <a:noFill/>
            </a:ln>
          </p:spPr>
        </p:sp>
        <p:sp>
          <p:nvSpPr>
            <p:cNvPr id="1274" name="Find matrix 2-5">
              <a:extLst>
                <a:ext uri="{FF2B5EF4-FFF2-40B4-BE49-F238E27FC236}">
                  <a16:creationId xmlns:a16="http://schemas.microsoft.com/office/drawing/2014/main" id="{235264C0-29EF-D9B8-F0D1-9BEBBAD9D6E8}"/>
                </a:ext>
              </a:extLst>
            </p:cNvPr>
            <p:cNvSpPr>
              <a:spLocks noGrp="1"/>
            </p:cNvSpPr>
            <p:nvPr/>
          </p:nvSpPr>
          <p:spPr>
            <a:xfrm>
              <a:off x="10804838" y="3348990"/>
              <a:ext cx="91559" cy="70009"/>
            </a:xfrm>
            <a:prstGeom prst="rect">
              <a:avLst/>
            </a:prstGeom>
            <a:solidFill>
              <a:srgbClr val="D6E5ED"/>
            </a:solidFill>
            <a:ln w="7290">
              <a:noFill/>
            </a:ln>
          </p:spPr>
        </p:sp>
        <p:sp>
          <p:nvSpPr>
            <p:cNvPr id="1275" name="Find matrix 2-6">
              <a:extLst>
                <a:ext uri="{FF2B5EF4-FFF2-40B4-BE49-F238E27FC236}">
                  <a16:creationId xmlns:a16="http://schemas.microsoft.com/office/drawing/2014/main" id="{89BB4142-622C-474C-899B-E7C760EA5054}"/>
                </a:ext>
              </a:extLst>
            </p:cNvPr>
            <p:cNvSpPr>
              <a:spLocks noGrp="1"/>
            </p:cNvSpPr>
            <p:nvPr/>
          </p:nvSpPr>
          <p:spPr>
            <a:xfrm>
              <a:off x="10900683" y="3348990"/>
              <a:ext cx="91559" cy="70009"/>
            </a:xfrm>
            <a:prstGeom prst="rect">
              <a:avLst/>
            </a:prstGeom>
            <a:solidFill>
              <a:srgbClr val="88BEC3"/>
            </a:solidFill>
            <a:ln w="7290">
              <a:noFill/>
            </a:ln>
          </p:spPr>
        </p:sp>
        <p:sp>
          <p:nvSpPr>
            <p:cNvPr id="1276" name="Find matrix 2-7">
              <a:extLst>
                <a:ext uri="{FF2B5EF4-FFF2-40B4-BE49-F238E27FC236}">
                  <a16:creationId xmlns:a16="http://schemas.microsoft.com/office/drawing/2014/main" id="{6D2284D9-4AE6-02DD-AA99-C88ED825A8F4}"/>
                </a:ext>
              </a:extLst>
            </p:cNvPr>
            <p:cNvSpPr>
              <a:spLocks noGrp="1"/>
            </p:cNvSpPr>
            <p:nvPr/>
          </p:nvSpPr>
          <p:spPr>
            <a:xfrm>
              <a:off x="10996529" y="3348990"/>
              <a:ext cx="91559" cy="70009"/>
            </a:xfrm>
            <a:prstGeom prst="rect">
              <a:avLst/>
            </a:prstGeom>
            <a:solidFill>
              <a:srgbClr val="A3CDDA"/>
            </a:solidFill>
            <a:ln w="7290">
              <a:noFill/>
            </a:ln>
          </p:spPr>
        </p:sp>
        <p:sp>
          <p:nvSpPr>
            <p:cNvPr id="1277" name="Find matrix 3-0">
              <a:extLst>
                <a:ext uri="{FF2B5EF4-FFF2-40B4-BE49-F238E27FC236}">
                  <a16:creationId xmlns:a16="http://schemas.microsoft.com/office/drawing/2014/main" id="{A354350A-00E7-4344-FF84-5BBF2165CEDA}"/>
                </a:ext>
              </a:extLst>
            </p:cNvPr>
            <p:cNvSpPr>
              <a:spLocks noGrp="1"/>
            </p:cNvSpPr>
            <p:nvPr/>
          </p:nvSpPr>
          <p:spPr>
            <a:xfrm>
              <a:off x="10325612" y="3423285"/>
              <a:ext cx="91559" cy="70009"/>
            </a:xfrm>
            <a:prstGeom prst="rect">
              <a:avLst/>
            </a:prstGeom>
            <a:solidFill>
              <a:srgbClr val="88BEC3"/>
            </a:solidFill>
            <a:ln w="7290">
              <a:noFill/>
            </a:ln>
          </p:spPr>
        </p:sp>
        <p:sp>
          <p:nvSpPr>
            <p:cNvPr id="1278" name="Find matrix 3-1">
              <a:extLst>
                <a:ext uri="{FF2B5EF4-FFF2-40B4-BE49-F238E27FC236}">
                  <a16:creationId xmlns:a16="http://schemas.microsoft.com/office/drawing/2014/main" id="{E2EDFAC2-C5CD-2DF8-165C-4DBC9D98B449}"/>
                </a:ext>
              </a:extLst>
            </p:cNvPr>
            <p:cNvSpPr>
              <a:spLocks noGrp="1"/>
            </p:cNvSpPr>
            <p:nvPr/>
          </p:nvSpPr>
          <p:spPr>
            <a:xfrm>
              <a:off x="10421457" y="3423285"/>
              <a:ext cx="91559" cy="70009"/>
            </a:xfrm>
            <a:prstGeom prst="rect">
              <a:avLst/>
            </a:prstGeom>
            <a:solidFill>
              <a:srgbClr val="D6E5ED"/>
            </a:solidFill>
            <a:ln w="7290">
              <a:noFill/>
            </a:ln>
          </p:spPr>
        </p:sp>
        <p:sp>
          <p:nvSpPr>
            <p:cNvPr id="1279" name="Find matrix 3-2">
              <a:extLst>
                <a:ext uri="{FF2B5EF4-FFF2-40B4-BE49-F238E27FC236}">
                  <a16:creationId xmlns:a16="http://schemas.microsoft.com/office/drawing/2014/main" id="{4D088869-EB59-E1B3-59B4-C3C92C8170BA}"/>
                </a:ext>
              </a:extLst>
            </p:cNvPr>
            <p:cNvSpPr>
              <a:spLocks noGrp="1"/>
            </p:cNvSpPr>
            <p:nvPr/>
          </p:nvSpPr>
          <p:spPr>
            <a:xfrm>
              <a:off x="10517302" y="3423285"/>
              <a:ext cx="91559" cy="70009"/>
            </a:xfrm>
            <a:prstGeom prst="rect">
              <a:avLst/>
            </a:prstGeom>
            <a:solidFill>
              <a:srgbClr val="67AD9F"/>
            </a:solidFill>
            <a:ln w="7290">
              <a:noFill/>
            </a:ln>
          </p:spPr>
        </p:sp>
        <p:sp>
          <p:nvSpPr>
            <p:cNvPr id="1280" name="Find matrix 3-3">
              <a:extLst>
                <a:ext uri="{FF2B5EF4-FFF2-40B4-BE49-F238E27FC236}">
                  <a16:creationId xmlns:a16="http://schemas.microsoft.com/office/drawing/2014/main" id="{119CBCB9-6860-7DCC-AF73-C422647EEF23}"/>
                </a:ext>
              </a:extLst>
            </p:cNvPr>
            <p:cNvSpPr>
              <a:spLocks noGrp="1"/>
            </p:cNvSpPr>
            <p:nvPr/>
          </p:nvSpPr>
          <p:spPr>
            <a:xfrm>
              <a:off x="10613147" y="3423285"/>
              <a:ext cx="91559" cy="70009"/>
            </a:xfrm>
            <a:prstGeom prst="rect">
              <a:avLst/>
            </a:prstGeom>
            <a:solidFill>
              <a:srgbClr val="3E8F9A"/>
            </a:solidFill>
            <a:ln w="7290">
              <a:noFill/>
            </a:ln>
          </p:spPr>
        </p:sp>
        <p:sp>
          <p:nvSpPr>
            <p:cNvPr id="1281" name="Find matrix 3-4">
              <a:extLst>
                <a:ext uri="{FF2B5EF4-FFF2-40B4-BE49-F238E27FC236}">
                  <a16:creationId xmlns:a16="http://schemas.microsoft.com/office/drawing/2014/main" id="{F0ED964A-EDEB-7D43-69F8-BEFE576D1277}"/>
                </a:ext>
              </a:extLst>
            </p:cNvPr>
            <p:cNvSpPr>
              <a:spLocks noGrp="1"/>
            </p:cNvSpPr>
            <p:nvPr/>
          </p:nvSpPr>
          <p:spPr>
            <a:xfrm>
              <a:off x="10708993" y="3423285"/>
              <a:ext cx="91559" cy="70009"/>
            </a:xfrm>
            <a:prstGeom prst="rect">
              <a:avLst/>
            </a:prstGeom>
            <a:solidFill>
              <a:srgbClr val="C4DDE0"/>
            </a:solidFill>
            <a:ln w="7290">
              <a:noFill/>
            </a:ln>
          </p:spPr>
        </p:sp>
        <p:sp>
          <p:nvSpPr>
            <p:cNvPr id="1282" name="Find matrix 3-5">
              <a:extLst>
                <a:ext uri="{FF2B5EF4-FFF2-40B4-BE49-F238E27FC236}">
                  <a16:creationId xmlns:a16="http://schemas.microsoft.com/office/drawing/2014/main" id="{A0A2A64A-E67D-3395-0409-F2703179F7EC}"/>
                </a:ext>
              </a:extLst>
            </p:cNvPr>
            <p:cNvSpPr>
              <a:spLocks noGrp="1"/>
            </p:cNvSpPr>
            <p:nvPr/>
          </p:nvSpPr>
          <p:spPr>
            <a:xfrm>
              <a:off x="10804838" y="3423285"/>
              <a:ext cx="91559" cy="70009"/>
            </a:xfrm>
            <a:prstGeom prst="rect">
              <a:avLst/>
            </a:prstGeom>
            <a:solidFill>
              <a:srgbClr val="A3CDDA"/>
            </a:solidFill>
            <a:ln w="7290">
              <a:noFill/>
            </a:ln>
          </p:spPr>
        </p:sp>
        <p:sp>
          <p:nvSpPr>
            <p:cNvPr id="1283" name="Find matrix 3-6">
              <a:extLst>
                <a:ext uri="{FF2B5EF4-FFF2-40B4-BE49-F238E27FC236}">
                  <a16:creationId xmlns:a16="http://schemas.microsoft.com/office/drawing/2014/main" id="{EA7CE8E7-C1AC-E261-A970-8EC80886D558}"/>
                </a:ext>
              </a:extLst>
            </p:cNvPr>
            <p:cNvSpPr>
              <a:spLocks noGrp="1"/>
            </p:cNvSpPr>
            <p:nvPr/>
          </p:nvSpPr>
          <p:spPr>
            <a:xfrm>
              <a:off x="10900683" y="3423285"/>
              <a:ext cx="91559" cy="70009"/>
            </a:xfrm>
            <a:prstGeom prst="rect">
              <a:avLst/>
            </a:prstGeom>
            <a:solidFill>
              <a:srgbClr val="B6D8CC"/>
            </a:solidFill>
            <a:ln w="7290">
              <a:noFill/>
            </a:ln>
          </p:spPr>
        </p:sp>
        <p:sp>
          <p:nvSpPr>
            <p:cNvPr id="1284" name="Find matrix 3-7">
              <a:extLst>
                <a:ext uri="{FF2B5EF4-FFF2-40B4-BE49-F238E27FC236}">
                  <a16:creationId xmlns:a16="http://schemas.microsoft.com/office/drawing/2014/main" id="{3CC5802F-96A8-F327-8DCD-5C642BB94DCE}"/>
                </a:ext>
              </a:extLst>
            </p:cNvPr>
            <p:cNvSpPr>
              <a:spLocks noGrp="1"/>
            </p:cNvSpPr>
            <p:nvPr/>
          </p:nvSpPr>
          <p:spPr>
            <a:xfrm>
              <a:off x="10996529" y="3423285"/>
              <a:ext cx="91559" cy="70009"/>
            </a:xfrm>
            <a:prstGeom prst="rect">
              <a:avLst/>
            </a:prstGeom>
            <a:solidFill>
              <a:srgbClr val="5B9FB6"/>
            </a:solidFill>
            <a:ln w="7290">
              <a:noFill/>
            </a:ln>
          </p:spPr>
        </p:sp>
        <p:sp>
          <p:nvSpPr>
            <p:cNvPr id="1285" name="Match matrix 0-0">
              <a:extLst>
                <a:ext uri="{FF2B5EF4-FFF2-40B4-BE49-F238E27FC236}">
                  <a16:creationId xmlns:a16="http://schemas.microsoft.com/office/drawing/2014/main" id="{1E148E3C-F1D3-F47F-36C6-42E1C579FB78}"/>
                </a:ext>
              </a:extLst>
            </p:cNvPr>
            <p:cNvSpPr>
              <a:spLocks noGrp="1"/>
            </p:cNvSpPr>
            <p:nvPr/>
          </p:nvSpPr>
          <p:spPr>
            <a:xfrm>
              <a:off x="3860262" y="7252039"/>
              <a:ext cx="88583" cy="70009"/>
            </a:xfrm>
            <a:prstGeom prst="rect">
              <a:avLst/>
            </a:prstGeom>
            <a:solidFill>
              <a:srgbClr val="3E8F9A"/>
            </a:solidFill>
            <a:ln w="7290">
              <a:noFill/>
            </a:ln>
          </p:spPr>
        </p:sp>
        <p:sp>
          <p:nvSpPr>
            <p:cNvPr id="1286" name="Match matrix 0-1">
              <a:extLst>
                <a:ext uri="{FF2B5EF4-FFF2-40B4-BE49-F238E27FC236}">
                  <a16:creationId xmlns:a16="http://schemas.microsoft.com/office/drawing/2014/main" id="{6CE95E95-35B4-AAA3-E629-B7804854BFD1}"/>
                </a:ext>
              </a:extLst>
            </p:cNvPr>
            <p:cNvSpPr>
              <a:spLocks noGrp="1"/>
            </p:cNvSpPr>
            <p:nvPr/>
          </p:nvSpPr>
          <p:spPr>
            <a:xfrm>
              <a:off x="3953131" y="7252039"/>
              <a:ext cx="88583" cy="70009"/>
            </a:xfrm>
            <a:prstGeom prst="rect">
              <a:avLst/>
            </a:prstGeom>
            <a:solidFill>
              <a:srgbClr val="5B9FB6"/>
            </a:solidFill>
            <a:ln w="7290">
              <a:noFill/>
            </a:ln>
          </p:spPr>
        </p:sp>
        <p:sp>
          <p:nvSpPr>
            <p:cNvPr id="1287" name="Match matrix 0-2">
              <a:extLst>
                <a:ext uri="{FF2B5EF4-FFF2-40B4-BE49-F238E27FC236}">
                  <a16:creationId xmlns:a16="http://schemas.microsoft.com/office/drawing/2014/main" id="{7AA444A0-2B6A-4C23-EFFA-BB0D0814FEA4}"/>
                </a:ext>
              </a:extLst>
            </p:cNvPr>
            <p:cNvSpPr>
              <a:spLocks noGrp="1"/>
            </p:cNvSpPr>
            <p:nvPr/>
          </p:nvSpPr>
          <p:spPr>
            <a:xfrm>
              <a:off x="4046000" y="7252039"/>
              <a:ext cx="88583" cy="70009"/>
            </a:xfrm>
            <a:prstGeom prst="rect">
              <a:avLst/>
            </a:prstGeom>
            <a:solidFill>
              <a:srgbClr val="A3CDDA"/>
            </a:solidFill>
            <a:ln w="7290">
              <a:noFill/>
            </a:ln>
          </p:spPr>
        </p:sp>
        <p:sp>
          <p:nvSpPr>
            <p:cNvPr id="1288" name="Match matrix 0-3">
              <a:extLst>
                <a:ext uri="{FF2B5EF4-FFF2-40B4-BE49-F238E27FC236}">
                  <a16:creationId xmlns:a16="http://schemas.microsoft.com/office/drawing/2014/main" id="{FA614244-906C-CFFC-1294-6D233D01CB35}"/>
                </a:ext>
              </a:extLst>
            </p:cNvPr>
            <p:cNvSpPr>
              <a:spLocks noGrp="1"/>
            </p:cNvSpPr>
            <p:nvPr/>
          </p:nvSpPr>
          <p:spPr>
            <a:xfrm>
              <a:off x="4138868" y="7252039"/>
              <a:ext cx="88583" cy="70009"/>
            </a:xfrm>
            <a:prstGeom prst="rect">
              <a:avLst/>
            </a:prstGeom>
            <a:solidFill>
              <a:srgbClr val="88BEC3"/>
            </a:solidFill>
            <a:ln w="7290">
              <a:noFill/>
            </a:ln>
          </p:spPr>
        </p:sp>
        <p:sp>
          <p:nvSpPr>
            <p:cNvPr id="1289" name="Match matrix 0-4">
              <a:extLst>
                <a:ext uri="{FF2B5EF4-FFF2-40B4-BE49-F238E27FC236}">
                  <a16:creationId xmlns:a16="http://schemas.microsoft.com/office/drawing/2014/main" id="{EE4A1296-1DD3-454F-610D-2BDEB1D0EFA9}"/>
                </a:ext>
              </a:extLst>
            </p:cNvPr>
            <p:cNvSpPr>
              <a:spLocks noGrp="1"/>
            </p:cNvSpPr>
            <p:nvPr/>
          </p:nvSpPr>
          <p:spPr>
            <a:xfrm>
              <a:off x="4231737" y="7252039"/>
              <a:ext cx="88583" cy="70009"/>
            </a:xfrm>
            <a:prstGeom prst="rect">
              <a:avLst/>
            </a:prstGeom>
            <a:solidFill>
              <a:srgbClr val="67AD9F"/>
            </a:solidFill>
            <a:ln w="7290">
              <a:noFill/>
            </a:ln>
          </p:spPr>
        </p:sp>
        <p:sp>
          <p:nvSpPr>
            <p:cNvPr id="1290" name="Match matrix 0-5">
              <a:extLst>
                <a:ext uri="{FF2B5EF4-FFF2-40B4-BE49-F238E27FC236}">
                  <a16:creationId xmlns:a16="http://schemas.microsoft.com/office/drawing/2014/main" id="{A27DCA6A-D9A0-89D2-300F-145A0353541B}"/>
                </a:ext>
              </a:extLst>
            </p:cNvPr>
            <p:cNvSpPr>
              <a:spLocks noGrp="1"/>
            </p:cNvSpPr>
            <p:nvPr/>
          </p:nvSpPr>
          <p:spPr>
            <a:xfrm>
              <a:off x="4324606" y="7252039"/>
              <a:ext cx="88583" cy="70009"/>
            </a:xfrm>
            <a:prstGeom prst="rect">
              <a:avLst/>
            </a:prstGeom>
            <a:solidFill>
              <a:srgbClr val="C4DDE0"/>
            </a:solidFill>
            <a:ln w="7290">
              <a:noFill/>
            </a:ln>
          </p:spPr>
        </p:sp>
        <p:sp>
          <p:nvSpPr>
            <p:cNvPr id="1291" name="Match matrix 0-6">
              <a:extLst>
                <a:ext uri="{FF2B5EF4-FFF2-40B4-BE49-F238E27FC236}">
                  <a16:creationId xmlns:a16="http://schemas.microsoft.com/office/drawing/2014/main" id="{110481AC-0BB3-A98A-15F4-6DA00B6462E6}"/>
                </a:ext>
              </a:extLst>
            </p:cNvPr>
            <p:cNvSpPr>
              <a:spLocks noGrp="1"/>
            </p:cNvSpPr>
            <p:nvPr/>
          </p:nvSpPr>
          <p:spPr>
            <a:xfrm>
              <a:off x="4417475" y="7252039"/>
              <a:ext cx="88583" cy="70009"/>
            </a:xfrm>
            <a:prstGeom prst="rect">
              <a:avLst/>
            </a:prstGeom>
            <a:solidFill>
              <a:srgbClr val="B6D8CC"/>
            </a:solidFill>
            <a:ln w="7290">
              <a:noFill/>
            </a:ln>
          </p:spPr>
        </p:sp>
        <p:sp>
          <p:nvSpPr>
            <p:cNvPr id="1292" name="Match matrix 0-7">
              <a:extLst>
                <a:ext uri="{FF2B5EF4-FFF2-40B4-BE49-F238E27FC236}">
                  <a16:creationId xmlns:a16="http://schemas.microsoft.com/office/drawing/2014/main" id="{CA0FE5FF-20F8-A515-1575-D2B579C6A384}"/>
                </a:ext>
              </a:extLst>
            </p:cNvPr>
            <p:cNvSpPr>
              <a:spLocks noGrp="1"/>
            </p:cNvSpPr>
            <p:nvPr/>
          </p:nvSpPr>
          <p:spPr>
            <a:xfrm>
              <a:off x="4510343" y="7252039"/>
              <a:ext cx="88583" cy="70009"/>
            </a:xfrm>
            <a:prstGeom prst="rect">
              <a:avLst/>
            </a:prstGeom>
            <a:solidFill>
              <a:srgbClr val="D6E5ED"/>
            </a:solidFill>
            <a:ln w="7290">
              <a:noFill/>
            </a:ln>
          </p:spPr>
        </p:sp>
        <p:sp>
          <p:nvSpPr>
            <p:cNvPr id="1293" name="Match matrix 1-0">
              <a:extLst>
                <a:ext uri="{FF2B5EF4-FFF2-40B4-BE49-F238E27FC236}">
                  <a16:creationId xmlns:a16="http://schemas.microsoft.com/office/drawing/2014/main" id="{62DD97DC-E1EF-3AC8-77C6-31E750CF1688}"/>
                </a:ext>
              </a:extLst>
            </p:cNvPr>
            <p:cNvSpPr>
              <a:spLocks noGrp="1"/>
            </p:cNvSpPr>
            <p:nvPr/>
          </p:nvSpPr>
          <p:spPr>
            <a:xfrm>
              <a:off x="3860262" y="7326334"/>
              <a:ext cx="88583" cy="70009"/>
            </a:xfrm>
            <a:prstGeom prst="rect">
              <a:avLst/>
            </a:prstGeom>
            <a:solidFill>
              <a:srgbClr val="A3CDDA"/>
            </a:solidFill>
            <a:ln w="7290">
              <a:noFill/>
            </a:ln>
          </p:spPr>
        </p:sp>
        <p:sp>
          <p:nvSpPr>
            <p:cNvPr id="1294" name="Match matrix 1-1">
              <a:extLst>
                <a:ext uri="{FF2B5EF4-FFF2-40B4-BE49-F238E27FC236}">
                  <a16:creationId xmlns:a16="http://schemas.microsoft.com/office/drawing/2014/main" id="{B545DCC8-F9BD-6322-3BD3-A195D0A92FFB}"/>
                </a:ext>
              </a:extLst>
            </p:cNvPr>
            <p:cNvSpPr>
              <a:spLocks noGrp="1"/>
            </p:cNvSpPr>
            <p:nvPr/>
          </p:nvSpPr>
          <p:spPr>
            <a:xfrm>
              <a:off x="3953131" y="7326334"/>
              <a:ext cx="88583" cy="70009"/>
            </a:xfrm>
            <a:prstGeom prst="rect">
              <a:avLst/>
            </a:prstGeom>
            <a:solidFill>
              <a:srgbClr val="B6D8CC"/>
            </a:solidFill>
            <a:ln w="7290">
              <a:noFill/>
            </a:ln>
          </p:spPr>
        </p:sp>
        <p:sp>
          <p:nvSpPr>
            <p:cNvPr id="1295" name="Match matrix 1-2">
              <a:extLst>
                <a:ext uri="{FF2B5EF4-FFF2-40B4-BE49-F238E27FC236}">
                  <a16:creationId xmlns:a16="http://schemas.microsoft.com/office/drawing/2014/main" id="{CA362456-65E1-995A-0618-99CCC4184C18}"/>
                </a:ext>
              </a:extLst>
            </p:cNvPr>
            <p:cNvSpPr>
              <a:spLocks noGrp="1"/>
            </p:cNvSpPr>
            <p:nvPr/>
          </p:nvSpPr>
          <p:spPr>
            <a:xfrm>
              <a:off x="4046000" y="7326334"/>
              <a:ext cx="88583" cy="70009"/>
            </a:xfrm>
            <a:prstGeom prst="rect">
              <a:avLst/>
            </a:prstGeom>
            <a:solidFill>
              <a:srgbClr val="88BEC3"/>
            </a:solidFill>
            <a:ln w="7290">
              <a:noFill/>
            </a:ln>
          </p:spPr>
        </p:sp>
        <p:sp>
          <p:nvSpPr>
            <p:cNvPr id="1296" name="Match matrix 1-3">
              <a:extLst>
                <a:ext uri="{FF2B5EF4-FFF2-40B4-BE49-F238E27FC236}">
                  <a16:creationId xmlns:a16="http://schemas.microsoft.com/office/drawing/2014/main" id="{A2C35F9E-7361-3F63-4B0D-A98BA11C6FD6}"/>
                </a:ext>
              </a:extLst>
            </p:cNvPr>
            <p:cNvSpPr>
              <a:spLocks noGrp="1"/>
            </p:cNvSpPr>
            <p:nvPr/>
          </p:nvSpPr>
          <p:spPr>
            <a:xfrm>
              <a:off x="4138868" y="7326334"/>
              <a:ext cx="88583" cy="70009"/>
            </a:xfrm>
            <a:prstGeom prst="rect">
              <a:avLst/>
            </a:prstGeom>
            <a:solidFill>
              <a:srgbClr val="D6E5ED"/>
            </a:solidFill>
            <a:ln w="7290">
              <a:noFill/>
            </a:ln>
          </p:spPr>
        </p:sp>
        <p:sp>
          <p:nvSpPr>
            <p:cNvPr id="1297" name="Match matrix 1-4">
              <a:extLst>
                <a:ext uri="{FF2B5EF4-FFF2-40B4-BE49-F238E27FC236}">
                  <a16:creationId xmlns:a16="http://schemas.microsoft.com/office/drawing/2014/main" id="{FAAA67D0-1522-17CF-8376-8D76753F582D}"/>
                </a:ext>
              </a:extLst>
            </p:cNvPr>
            <p:cNvSpPr>
              <a:spLocks noGrp="1"/>
            </p:cNvSpPr>
            <p:nvPr/>
          </p:nvSpPr>
          <p:spPr>
            <a:xfrm>
              <a:off x="4231737" y="7326334"/>
              <a:ext cx="88583" cy="70009"/>
            </a:xfrm>
            <a:prstGeom prst="rect">
              <a:avLst/>
            </a:prstGeom>
            <a:solidFill>
              <a:srgbClr val="5B9FB6"/>
            </a:solidFill>
            <a:ln w="7290">
              <a:noFill/>
            </a:ln>
          </p:spPr>
        </p:sp>
        <p:sp>
          <p:nvSpPr>
            <p:cNvPr id="1298" name="Match matrix 1-5">
              <a:extLst>
                <a:ext uri="{FF2B5EF4-FFF2-40B4-BE49-F238E27FC236}">
                  <a16:creationId xmlns:a16="http://schemas.microsoft.com/office/drawing/2014/main" id="{8EFA4585-A006-C810-377D-DBA6C87576CE}"/>
                </a:ext>
              </a:extLst>
            </p:cNvPr>
            <p:cNvSpPr>
              <a:spLocks noGrp="1"/>
            </p:cNvSpPr>
            <p:nvPr/>
          </p:nvSpPr>
          <p:spPr>
            <a:xfrm>
              <a:off x="4324606" y="7326334"/>
              <a:ext cx="88583" cy="70009"/>
            </a:xfrm>
            <a:prstGeom prst="rect">
              <a:avLst/>
            </a:prstGeom>
            <a:solidFill>
              <a:srgbClr val="3E8F9A"/>
            </a:solidFill>
            <a:ln w="7290">
              <a:noFill/>
            </a:ln>
          </p:spPr>
        </p:sp>
        <p:sp>
          <p:nvSpPr>
            <p:cNvPr id="1299" name="Match matrix 1-6">
              <a:extLst>
                <a:ext uri="{FF2B5EF4-FFF2-40B4-BE49-F238E27FC236}">
                  <a16:creationId xmlns:a16="http://schemas.microsoft.com/office/drawing/2014/main" id="{64D11889-0CF0-CA9A-1917-2BF4C8C70236}"/>
                </a:ext>
              </a:extLst>
            </p:cNvPr>
            <p:cNvSpPr>
              <a:spLocks noGrp="1"/>
            </p:cNvSpPr>
            <p:nvPr/>
          </p:nvSpPr>
          <p:spPr>
            <a:xfrm>
              <a:off x="4417475" y="7326334"/>
              <a:ext cx="88583" cy="70009"/>
            </a:xfrm>
            <a:prstGeom prst="rect">
              <a:avLst/>
            </a:prstGeom>
            <a:solidFill>
              <a:srgbClr val="C4DDE0"/>
            </a:solidFill>
            <a:ln w="7290">
              <a:noFill/>
            </a:ln>
          </p:spPr>
        </p:sp>
        <p:sp>
          <p:nvSpPr>
            <p:cNvPr id="1300" name="Match matrix 1-7">
              <a:extLst>
                <a:ext uri="{FF2B5EF4-FFF2-40B4-BE49-F238E27FC236}">
                  <a16:creationId xmlns:a16="http://schemas.microsoft.com/office/drawing/2014/main" id="{188B5773-F5C9-7D4C-8152-FA7D9B627789}"/>
                </a:ext>
              </a:extLst>
            </p:cNvPr>
            <p:cNvSpPr>
              <a:spLocks noGrp="1"/>
            </p:cNvSpPr>
            <p:nvPr/>
          </p:nvSpPr>
          <p:spPr>
            <a:xfrm>
              <a:off x="4510343" y="7326334"/>
              <a:ext cx="88583" cy="70009"/>
            </a:xfrm>
            <a:prstGeom prst="rect">
              <a:avLst/>
            </a:prstGeom>
            <a:solidFill>
              <a:srgbClr val="67AD9F"/>
            </a:solidFill>
            <a:ln w="7290">
              <a:noFill/>
            </a:ln>
          </p:spPr>
        </p:sp>
        <p:sp>
          <p:nvSpPr>
            <p:cNvPr id="1301" name="Match matrix 2-0">
              <a:extLst>
                <a:ext uri="{FF2B5EF4-FFF2-40B4-BE49-F238E27FC236}">
                  <a16:creationId xmlns:a16="http://schemas.microsoft.com/office/drawing/2014/main" id="{BBF02AFB-8489-0057-17C0-1186E4D7244F}"/>
                </a:ext>
              </a:extLst>
            </p:cNvPr>
            <p:cNvSpPr>
              <a:spLocks noGrp="1"/>
            </p:cNvSpPr>
            <p:nvPr/>
          </p:nvSpPr>
          <p:spPr>
            <a:xfrm>
              <a:off x="3860262" y="7400629"/>
              <a:ext cx="88583" cy="70009"/>
            </a:xfrm>
            <a:prstGeom prst="rect">
              <a:avLst/>
            </a:prstGeom>
            <a:solidFill>
              <a:srgbClr val="67AD9F"/>
            </a:solidFill>
            <a:ln w="7290">
              <a:noFill/>
            </a:ln>
          </p:spPr>
        </p:sp>
        <p:sp>
          <p:nvSpPr>
            <p:cNvPr id="1302" name="Match matrix 2-1">
              <a:extLst>
                <a:ext uri="{FF2B5EF4-FFF2-40B4-BE49-F238E27FC236}">
                  <a16:creationId xmlns:a16="http://schemas.microsoft.com/office/drawing/2014/main" id="{4D1F1E41-46E5-997B-A9A2-D4A7E86A821C}"/>
                </a:ext>
              </a:extLst>
            </p:cNvPr>
            <p:cNvSpPr>
              <a:spLocks noGrp="1"/>
            </p:cNvSpPr>
            <p:nvPr/>
          </p:nvSpPr>
          <p:spPr>
            <a:xfrm>
              <a:off x="3953131" y="7400629"/>
              <a:ext cx="88583" cy="70009"/>
            </a:xfrm>
            <a:prstGeom prst="rect">
              <a:avLst/>
            </a:prstGeom>
            <a:solidFill>
              <a:srgbClr val="C4DDE0"/>
            </a:solidFill>
            <a:ln w="7290">
              <a:noFill/>
            </a:ln>
          </p:spPr>
        </p:sp>
        <p:sp>
          <p:nvSpPr>
            <p:cNvPr id="1303" name="Match matrix 2-2">
              <a:extLst>
                <a:ext uri="{FF2B5EF4-FFF2-40B4-BE49-F238E27FC236}">
                  <a16:creationId xmlns:a16="http://schemas.microsoft.com/office/drawing/2014/main" id="{BDC0B5DB-1FDB-9192-A8A8-9F9E9FC2CF48}"/>
                </a:ext>
              </a:extLst>
            </p:cNvPr>
            <p:cNvSpPr>
              <a:spLocks noGrp="1"/>
            </p:cNvSpPr>
            <p:nvPr/>
          </p:nvSpPr>
          <p:spPr>
            <a:xfrm>
              <a:off x="4046000" y="7400629"/>
              <a:ext cx="88583" cy="70009"/>
            </a:xfrm>
            <a:prstGeom prst="rect">
              <a:avLst/>
            </a:prstGeom>
            <a:solidFill>
              <a:srgbClr val="5B9FB6"/>
            </a:solidFill>
            <a:ln w="7290">
              <a:noFill/>
            </a:ln>
          </p:spPr>
        </p:sp>
        <p:sp>
          <p:nvSpPr>
            <p:cNvPr id="1304" name="Match matrix 2-3">
              <a:extLst>
                <a:ext uri="{FF2B5EF4-FFF2-40B4-BE49-F238E27FC236}">
                  <a16:creationId xmlns:a16="http://schemas.microsoft.com/office/drawing/2014/main" id="{9C663294-FCA2-F8DE-2AEC-EEF54C48921A}"/>
                </a:ext>
              </a:extLst>
            </p:cNvPr>
            <p:cNvSpPr>
              <a:spLocks noGrp="1"/>
            </p:cNvSpPr>
            <p:nvPr/>
          </p:nvSpPr>
          <p:spPr>
            <a:xfrm>
              <a:off x="4138868" y="7400629"/>
              <a:ext cx="88583" cy="70009"/>
            </a:xfrm>
            <a:prstGeom prst="rect">
              <a:avLst/>
            </a:prstGeom>
            <a:solidFill>
              <a:srgbClr val="B6D8CC"/>
            </a:solidFill>
            <a:ln w="7290">
              <a:noFill/>
            </a:ln>
          </p:spPr>
        </p:sp>
        <p:sp>
          <p:nvSpPr>
            <p:cNvPr id="1305" name="Match matrix 2-4">
              <a:extLst>
                <a:ext uri="{FF2B5EF4-FFF2-40B4-BE49-F238E27FC236}">
                  <a16:creationId xmlns:a16="http://schemas.microsoft.com/office/drawing/2014/main" id="{28E76182-0A60-4A72-9586-C12459BE0B58}"/>
                </a:ext>
              </a:extLst>
            </p:cNvPr>
            <p:cNvSpPr>
              <a:spLocks noGrp="1"/>
            </p:cNvSpPr>
            <p:nvPr/>
          </p:nvSpPr>
          <p:spPr>
            <a:xfrm>
              <a:off x="4231737" y="7400629"/>
              <a:ext cx="88583" cy="70009"/>
            </a:xfrm>
            <a:prstGeom prst="rect">
              <a:avLst/>
            </a:prstGeom>
            <a:solidFill>
              <a:srgbClr val="3E8F9A"/>
            </a:solidFill>
            <a:ln w="7290">
              <a:noFill/>
            </a:ln>
          </p:spPr>
        </p:sp>
        <p:sp>
          <p:nvSpPr>
            <p:cNvPr id="1306" name="Match matrix 2-5">
              <a:extLst>
                <a:ext uri="{FF2B5EF4-FFF2-40B4-BE49-F238E27FC236}">
                  <a16:creationId xmlns:a16="http://schemas.microsoft.com/office/drawing/2014/main" id="{29FC68A5-EB54-9596-85EC-EDC1175B056F}"/>
                </a:ext>
              </a:extLst>
            </p:cNvPr>
            <p:cNvSpPr>
              <a:spLocks noGrp="1"/>
            </p:cNvSpPr>
            <p:nvPr/>
          </p:nvSpPr>
          <p:spPr>
            <a:xfrm>
              <a:off x="4324606" y="7400629"/>
              <a:ext cx="88583" cy="70009"/>
            </a:xfrm>
            <a:prstGeom prst="rect">
              <a:avLst/>
            </a:prstGeom>
            <a:solidFill>
              <a:srgbClr val="D6E5ED"/>
            </a:solidFill>
            <a:ln w="7290">
              <a:noFill/>
            </a:ln>
          </p:spPr>
        </p:sp>
        <p:sp>
          <p:nvSpPr>
            <p:cNvPr id="1307" name="Match matrix 2-6">
              <a:extLst>
                <a:ext uri="{FF2B5EF4-FFF2-40B4-BE49-F238E27FC236}">
                  <a16:creationId xmlns:a16="http://schemas.microsoft.com/office/drawing/2014/main" id="{59C9C8C5-D90A-7A02-93D3-957FE3AE7DC3}"/>
                </a:ext>
              </a:extLst>
            </p:cNvPr>
            <p:cNvSpPr>
              <a:spLocks noGrp="1"/>
            </p:cNvSpPr>
            <p:nvPr/>
          </p:nvSpPr>
          <p:spPr>
            <a:xfrm>
              <a:off x="4417475" y="7400629"/>
              <a:ext cx="88583" cy="70009"/>
            </a:xfrm>
            <a:prstGeom prst="rect">
              <a:avLst/>
            </a:prstGeom>
            <a:solidFill>
              <a:srgbClr val="88BEC3"/>
            </a:solidFill>
            <a:ln w="7290">
              <a:noFill/>
            </a:ln>
          </p:spPr>
        </p:sp>
        <p:sp>
          <p:nvSpPr>
            <p:cNvPr id="1308" name="Match matrix 2-7">
              <a:extLst>
                <a:ext uri="{FF2B5EF4-FFF2-40B4-BE49-F238E27FC236}">
                  <a16:creationId xmlns:a16="http://schemas.microsoft.com/office/drawing/2014/main" id="{83DFB888-0521-0863-270C-DBAF169C149A}"/>
                </a:ext>
              </a:extLst>
            </p:cNvPr>
            <p:cNvSpPr>
              <a:spLocks noGrp="1"/>
            </p:cNvSpPr>
            <p:nvPr/>
          </p:nvSpPr>
          <p:spPr>
            <a:xfrm>
              <a:off x="4510343" y="7400629"/>
              <a:ext cx="88583" cy="70009"/>
            </a:xfrm>
            <a:prstGeom prst="rect">
              <a:avLst/>
            </a:prstGeom>
            <a:solidFill>
              <a:srgbClr val="A3CDDA"/>
            </a:solidFill>
            <a:ln w="7290">
              <a:noFill/>
            </a:ln>
          </p:spPr>
        </p:sp>
        <p:sp>
          <p:nvSpPr>
            <p:cNvPr id="1309" name="Match matrix 3-0">
              <a:extLst>
                <a:ext uri="{FF2B5EF4-FFF2-40B4-BE49-F238E27FC236}">
                  <a16:creationId xmlns:a16="http://schemas.microsoft.com/office/drawing/2014/main" id="{CDAE8F1E-742C-7BA1-EB00-87CA9B9E40A2}"/>
                </a:ext>
              </a:extLst>
            </p:cNvPr>
            <p:cNvSpPr>
              <a:spLocks noGrp="1"/>
            </p:cNvSpPr>
            <p:nvPr/>
          </p:nvSpPr>
          <p:spPr>
            <a:xfrm>
              <a:off x="3860262" y="7474924"/>
              <a:ext cx="88583" cy="70009"/>
            </a:xfrm>
            <a:prstGeom prst="rect">
              <a:avLst/>
            </a:prstGeom>
            <a:solidFill>
              <a:srgbClr val="88BEC3"/>
            </a:solidFill>
            <a:ln w="7290">
              <a:noFill/>
            </a:ln>
          </p:spPr>
        </p:sp>
        <p:sp>
          <p:nvSpPr>
            <p:cNvPr id="1310" name="Match matrix 3-1">
              <a:extLst>
                <a:ext uri="{FF2B5EF4-FFF2-40B4-BE49-F238E27FC236}">
                  <a16:creationId xmlns:a16="http://schemas.microsoft.com/office/drawing/2014/main" id="{74117986-6240-D77F-909C-522F6146D289}"/>
                </a:ext>
              </a:extLst>
            </p:cNvPr>
            <p:cNvSpPr>
              <a:spLocks noGrp="1"/>
            </p:cNvSpPr>
            <p:nvPr/>
          </p:nvSpPr>
          <p:spPr>
            <a:xfrm>
              <a:off x="3953131" y="7474924"/>
              <a:ext cx="88583" cy="70009"/>
            </a:xfrm>
            <a:prstGeom prst="rect">
              <a:avLst/>
            </a:prstGeom>
            <a:solidFill>
              <a:srgbClr val="D6E5ED"/>
            </a:solidFill>
            <a:ln w="7290">
              <a:noFill/>
            </a:ln>
          </p:spPr>
        </p:sp>
        <p:sp>
          <p:nvSpPr>
            <p:cNvPr id="1311" name="Match matrix 3-2">
              <a:extLst>
                <a:ext uri="{FF2B5EF4-FFF2-40B4-BE49-F238E27FC236}">
                  <a16:creationId xmlns:a16="http://schemas.microsoft.com/office/drawing/2014/main" id="{68BD8A38-75EC-BA37-589D-F9C3EBE804E8}"/>
                </a:ext>
              </a:extLst>
            </p:cNvPr>
            <p:cNvSpPr>
              <a:spLocks noGrp="1"/>
            </p:cNvSpPr>
            <p:nvPr/>
          </p:nvSpPr>
          <p:spPr>
            <a:xfrm>
              <a:off x="4046000" y="7474924"/>
              <a:ext cx="88583" cy="70009"/>
            </a:xfrm>
            <a:prstGeom prst="rect">
              <a:avLst/>
            </a:prstGeom>
            <a:solidFill>
              <a:srgbClr val="67AD9F"/>
            </a:solidFill>
            <a:ln w="7290">
              <a:noFill/>
            </a:ln>
          </p:spPr>
        </p:sp>
        <p:sp>
          <p:nvSpPr>
            <p:cNvPr id="1312" name="Match matrix 3-3">
              <a:extLst>
                <a:ext uri="{FF2B5EF4-FFF2-40B4-BE49-F238E27FC236}">
                  <a16:creationId xmlns:a16="http://schemas.microsoft.com/office/drawing/2014/main" id="{BA2E6B5A-7074-DCD3-8646-836425ECA4E6}"/>
                </a:ext>
              </a:extLst>
            </p:cNvPr>
            <p:cNvSpPr>
              <a:spLocks noGrp="1"/>
            </p:cNvSpPr>
            <p:nvPr/>
          </p:nvSpPr>
          <p:spPr>
            <a:xfrm>
              <a:off x="4138868" y="7474924"/>
              <a:ext cx="88583" cy="70009"/>
            </a:xfrm>
            <a:prstGeom prst="rect">
              <a:avLst/>
            </a:prstGeom>
            <a:solidFill>
              <a:srgbClr val="3E8F9A"/>
            </a:solidFill>
            <a:ln w="7290">
              <a:noFill/>
            </a:ln>
          </p:spPr>
        </p:sp>
        <p:sp>
          <p:nvSpPr>
            <p:cNvPr id="1313" name="Match matrix 3-4">
              <a:extLst>
                <a:ext uri="{FF2B5EF4-FFF2-40B4-BE49-F238E27FC236}">
                  <a16:creationId xmlns:a16="http://schemas.microsoft.com/office/drawing/2014/main" id="{E2B9FFDB-87E6-991D-6FE1-3A8ED7934F53}"/>
                </a:ext>
              </a:extLst>
            </p:cNvPr>
            <p:cNvSpPr>
              <a:spLocks noGrp="1"/>
            </p:cNvSpPr>
            <p:nvPr/>
          </p:nvSpPr>
          <p:spPr>
            <a:xfrm>
              <a:off x="4231737" y="7474924"/>
              <a:ext cx="88583" cy="70009"/>
            </a:xfrm>
            <a:prstGeom prst="rect">
              <a:avLst/>
            </a:prstGeom>
            <a:solidFill>
              <a:srgbClr val="C4DDE0"/>
            </a:solidFill>
            <a:ln w="7290">
              <a:noFill/>
            </a:ln>
          </p:spPr>
        </p:sp>
        <p:sp>
          <p:nvSpPr>
            <p:cNvPr id="1314" name="Match matrix 3-5">
              <a:extLst>
                <a:ext uri="{FF2B5EF4-FFF2-40B4-BE49-F238E27FC236}">
                  <a16:creationId xmlns:a16="http://schemas.microsoft.com/office/drawing/2014/main" id="{93BBAAA9-24B8-1E29-A6DC-8B4D096073B5}"/>
                </a:ext>
              </a:extLst>
            </p:cNvPr>
            <p:cNvSpPr>
              <a:spLocks noGrp="1"/>
            </p:cNvSpPr>
            <p:nvPr/>
          </p:nvSpPr>
          <p:spPr>
            <a:xfrm>
              <a:off x="4324606" y="7474924"/>
              <a:ext cx="88583" cy="70009"/>
            </a:xfrm>
            <a:prstGeom prst="rect">
              <a:avLst/>
            </a:prstGeom>
            <a:solidFill>
              <a:srgbClr val="A3CDDA"/>
            </a:solidFill>
            <a:ln w="7290">
              <a:noFill/>
            </a:ln>
          </p:spPr>
        </p:sp>
        <p:sp>
          <p:nvSpPr>
            <p:cNvPr id="1315" name="Match matrix 3-6">
              <a:extLst>
                <a:ext uri="{FF2B5EF4-FFF2-40B4-BE49-F238E27FC236}">
                  <a16:creationId xmlns:a16="http://schemas.microsoft.com/office/drawing/2014/main" id="{68A528E6-65EA-9C73-7412-55AD6CD16CE8}"/>
                </a:ext>
              </a:extLst>
            </p:cNvPr>
            <p:cNvSpPr>
              <a:spLocks noGrp="1"/>
            </p:cNvSpPr>
            <p:nvPr/>
          </p:nvSpPr>
          <p:spPr>
            <a:xfrm>
              <a:off x="4417475" y="7474924"/>
              <a:ext cx="88583" cy="70009"/>
            </a:xfrm>
            <a:prstGeom prst="rect">
              <a:avLst/>
            </a:prstGeom>
            <a:solidFill>
              <a:srgbClr val="B6D8CC"/>
            </a:solidFill>
            <a:ln w="7290">
              <a:noFill/>
            </a:ln>
          </p:spPr>
        </p:sp>
        <p:sp>
          <p:nvSpPr>
            <p:cNvPr id="1316" name="Match matrix 3-7">
              <a:extLst>
                <a:ext uri="{FF2B5EF4-FFF2-40B4-BE49-F238E27FC236}">
                  <a16:creationId xmlns:a16="http://schemas.microsoft.com/office/drawing/2014/main" id="{2EEE91B3-D81D-6257-AECC-400C8A929123}"/>
                </a:ext>
              </a:extLst>
            </p:cNvPr>
            <p:cNvSpPr>
              <a:spLocks noGrp="1"/>
            </p:cNvSpPr>
            <p:nvPr/>
          </p:nvSpPr>
          <p:spPr>
            <a:xfrm>
              <a:off x="4510343" y="7474924"/>
              <a:ext cx="88583" cy="70009"/>
            </a:xfrm>
            <a:prstGeom prst="rect">
              <a:avLst/>
            </a:prstGeom>
            <a:solidFill>
              <a:srgbClr val="5B9FB6"/>
            </a:solidFill>
            <a:ln w="7290">
              <a:noFill/>
            </a:ln>
          </p:spPr>
        </p:sp>
        <p:sp>
          <p:nvSpPr>
            <p:cNvPr id="1318" name="SMILES continuation 806-628.2">
              <a:extLst>
                <a:ext uri="{FF2B5EF4-FFF2-40B4-BE49-F238E27FC236}">
                  <a16:creationId xmlns:a16="http://schemas.microsoft.com/office/drawing/2014/main" id="{F23A2C65-E88A-BB4F-DB2B-F6BDFE0A90A0}"/>
                </a:ext>
              </a:extLst>
            </p:cNvPr>
            <p:cNvSpPr>
              <a:spLocks noGrp="1"/>
            </p:cNvSpPr>
            <p:nvPr/>
          </p:nvSpPr>
          <p:spPr>
            <a:xfrm>
              <a:off x="8003637" y="5974080"/>
              <a:ext cx="19050" cy="19050"/>
            </a:xfrm>
            <a:prstGeom prst="ellipse">
              <a:avLst/>
            </a:prstGeom>
            <a:solidFill>
              <a:srgbClr val="71808C"/>
            </a:solidFill>
            <a:ln w="0">
              <a:noFill/>
            </a:ln>
          </p:spPr>
        </p:sp>
        <p:sp>
          <p:nvSpPr>
            <p:cNvPr id="1319" name="SMILES continuation 812-628.2">
              <a:extLst>
                <a:ext uri="{FF2B5EF4-FFF2-40B4-BE49-F238E27FC236}">
                  <a16:creationId xmlns:a16="http://schemas.microsoft.com/office/drawing/2014/main" id="{3B989565-3BAD-D4AD-9254-F92A9CA55F5F}"/>
                </a:ext>
              </a:extLst>
            </p:cNvPr>
            <p:cNvSpPr>
              <a:spLocks noGrp="1"/>
            </p:cNvSpPr>
            <p:nvPr/>
          </p:nvSpPr>
          <p:spPr>
            <a:xfrm>
              <a:off x="8060787" y="5974080"/>
              <a:ext cx="19050" cy="19050"/>
            </a:xfrm>
            <a:prstGeom prst="ellipse">
              <a:avLst/>
            </a:prstGeom>
            <a:solidFill>
              <a:srgbClr val="71808C"/>
            </a:solidFill>
            <a:ln w="0">
              <a:noFill/>
            </a:ln>
          </p:spPr>
        </p:sp>
        <p:sp>
          <p:nvSpPr>
            <p:cNvPr id="1320" name="SMILES continuation 818-628.2">
              <a:extLst>
                <a:ext uri="{FF2B5EF4-FFF2-40B4-BE49-F238E27FC236}">
                  <a16:creationId xmlns:a16="http://schemas.microsoft.com/office/drawing/2014/main" id="{42B8B6C2-B43E-383F-14DE-C418D4494332}"/>
                </a:ext>
              </a:extLst>
            </p:cNvPr>
            <p:cNvSpPr>
              <a:spLocks noGrp="1"/>
            </p:cNvSpPr>
            <p:nvPr/>
          </p:nvSpPr>
          <p:spPr>
            <a:xfrm>
              <a:off x="8117937" y="5974080"/>
              <a:ext cx="19050" cy="19050"/>
            </a:xfrm>
            <a:prstGeom prst="ellipse">
              <a:avLst/>
            </a:prstGeom>
            <a:solidFill>
              <a:srgbClr val="71808C"/>
            </a:solidFill>
            <a:ln w="0">
              <a:noFill/>
            </a:ln>
          </p:spPr>
        </p:sp>
        <p:sp>
          <p:nvSpPr>
            <p:cNvPr id="1321" name="SMILES continuation 806-667">
              <a:extLst>
                <a:ext uri="{FF2B5EF4-FFF2-40B4-BE49-F238E27FC236}">
                  <a16:creationId xmlns:a16="http://schemas.microsoft.com/office/drawing/2014/main" id="{39894408-4EFC-1123-4D43-5E7226F5F0C0}"/>
                </a:ext>
              </a:extLst>
            </p:cNvPr>
            <p:cNvSpPr>
              <a:spLocks noGrp="1"/>
            </p:cNvSpPr>
            <p:nvPr/>
          </p:nvSpPr>
          <p:spPr>
            <a:xfrm>
              <a:off x="8003637" y="6343650"/>
              <a:ext cx="19050" cy="19050"/>
            </a:xfrm>
            <a:prstGeom prst="ellipse">
              <a:avLst/>
            </a:prstGeom>
            <a:solidFill>
              <a:srgbClr val="71808C"/>
            </a:solidFill>
            <a:ln w="0">
              <a:noFill/>
            </a:ln>
          </p:spPr>
        </p:sp>
        <p:sp>
          <p:nvSpPr>
            <p:cNvPr id="1322" name="SMILES continuation 812-667">
              <a:extLst>
                <a:ext uri="{FF2B5EF4-FFF2-40B4-BE49-F238E27FC236}">
                  <a16:creationId xmlns:a16="http://schemas.microsoft.com/office/drawing/2014/main" id="{B15788D5-8154-0220-0ADD-B84E221B0B6F}"/>
                </a:ext>
              </a:extLst>
            </p:cNvPr>
            <p:cNvSpPr>
              <a:spLocks noGrp="1"/>
            </p:cNvSpPr>
            <p:nvPr/>
          </p:nvSpPr>
          <p:spPr>
            <a:xfrm>
              <a:off x="8060787" y="6343650"/>
              <a:ext cx="19050" cy="19050"/>
            </a:xfrm>
            <a:prstGeom prst="ellipse">
              <a:avLst/>
            </a:prstGeom>
            <a:solidFill>
              <a:srgbClr val="71808C"/>
            </a:solidFill>
            <a:ln w="0">
              <a:noFill/>
            </a:ln>
          </p:spPr>
        </p:sp>
        <p:sp>
          <p:nvSpPr>
            <p:cNvPr id="1323" name="SMILES continuation 818-667">
              <a:extLst>
                <a:ext uri="{FF2B5EF4-FFF2-40B4-BE49-F238E27FC236}">
                  <a16:creationId xmlns:a16="http://schemas.microsoft.com/office/drawing/2014/main" id="{06FB727B-1C36-BDAC-BF90-119F79F57919}"/>
                </a:ext>
              </a:extLst>
            </p:cNvPr>
            <p:cNvSpPr>
              <a:spLocks noGrp="1"/>
            </p:cNvSpPr>
            <p:nvPr/>
          </p:nvSpPr>
          <p:spPr>
            <a:xfrm>
              <a:off x="8117937" y="6343650"/>
              <a:ext cx="19050" cy="19050"/>
            </a:xfrm>
            <a:prstGeom prst="ellipse">
              <a:avLst/>
            </a:prstGeom>
            <a:solidFill>
              <a:srgbClr val="71808C"/>
            </a:solidFill>
            <a:ln w="0">
              <a:noFill/>
            </a:ln>
          </p:spPr>
        </p:sp>
        <p:sp>
          <p:nvSpPr>
            <p:cNvPr id="1324" name="Find density input">
              <a:extLst>
                <a:ext uri="{FF2B5EF4-FFF2-40B4-BE49-F238E27FC236}">
                  <a16:creationId xmlns:a16="http://schemas.microsoft.com/office/drawing/2014/main" id="{3BB3F16C-BBC6-CEA5-1D5F-BADEC13D0E07}"/>
                </a:ext>
              </a:extLst>
            </p:cNvPr>
            <p:cNvSpPr>
              <a:spLocks noGrp="1"/>
            </p:cNvSpPr>
            <p:nvPr/>
          </p:nvSpPr>
          <p:spPr>
            <a:xfrm flipV="1">
              <a:off x="2475621" y="1410958"/>
              <a:ext cx="692378" cy="107521"/>
            </a:xfrm>
            <a:custGeom>
              <a:avLst/>
              <a:gdLst/>
              <a:ahLst/>
              <a:cxnLst/>
              <a:rect l="0" t="0" r="0" b="0"/>
              <a:pathLst>
                <a:path w="125540" h="191">
                  <a:moveTo>
                    <a:pt x="0" y="0"/>
                  </a:moveTo>
                  <a:lnTo>
                    <a:pt x="125540" y="0"/>
                  </a:lnTo>
                </a:path>
              </a:pathLst>
            </a:custGeom>
            <a:noFill/>
            <a:ln w="8505">
              <a:solidFill>
                <a:srgbClr val="4083B4"/>
              </a:solidFill>
              <a:prstDash val="solid"/>
            </a:ln>
          </p:spPr>
        </p:sp>
        <p:sp>
          <p:nvSpPr>
            <p:cNvPr id="1325" name="Find density input head">
              <a:extLst>
                <a:ext uri="{FF2B5EF4-FFF2-40B4-BE49-F238E27FC236}">
                  <a16:creationId xmlns:a16="http://schemas.microsoft.com/office/drawing/2014/main" id="{DD01582E-D72F-DC2A-ED51-209065AB4BE2}"/>
                </a:ext>
              </a:extLst>
            </p:cNvPr>
            <p:cNvSpPr>
              <a:spLocks noGrp="1"/>
            </p:cNvSpPr>
            <p:nvPr/>
          </p:nvSpPr>
          <p:spPr>
            <a:xfrm>
              <a:off x="3123088" y="1489808"/>
              <a:ext cx="66676" cy="57339"/>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28" name="Find receptor input">
              <a:extLst>
                <a:ext uri="{FF2B5EF4-FFF2-40B4-BE49-F238E27FC236}">
                  <a16:creationId xmlns:a16="http://schemas.microsoft.com/office/drawing/2014/main" id="{8835B13D-A150-D32A-EA5F-DF6B94803636}"/>
                </a:ext>
              </a:extLst>
            </p:cNvPr>
            <p:cNvSpPr>
              <a:spLocks noGrp="1"/>
            </p:cNvSpPr>
            <p:nvPr/>
          </p:nvSpPr>
          <p:spPr>
            <a:xfrm>
              <a:off x="2475621" y="3260557"/>
              <a:ext cx="692378" cy="107521"/>
            </a:xfrm>
            <a:custGeom>
              <a:avLst/>
              <a:gdLst/>
              <a:ahLst/>
              <a:cxnLst/>
              <a:rect l="0" t="0" r="0" b="0"/>
              <a:pathLst>
                <a:path w="125540" h="191">
                  <a:moveTo>
                    <a:pt x="0" y="0"/>
                  </a:moveTo>
                  <a:lnTo>
                    <a:pt x="125540" y="0"/>
                  </a:lnTo>
                </a:path>
              </a:pathLst>
            </a:custGeom>
            <a:solidFill>
              <a:srgbClr val="4083B4"/>
            </a:solidFill>
            <a:ln w="8505">
              <a:solidFill>
                <a:srgbClr val="4083B4"/>
              </a:solidFill>
              <a:prstDash val="solid"/>
            </a:ln>
          </p:spPr>
        </p:sp>
        <p:sp>
          <p:nvSpPr>
            <p:cNvPr id="1329" name="Find receptor input head">
              <a:extLst>
                <a:ext uri="{FF2B5EF4-FFF2-40B4-BE49-F238E27FC236}">
                  <a16:creationId xmlns:a16="http://schemas.microsoft.com/office/drawing/2014/main" id="{A5463DF5-F357-C133-4537-3687854104BD}"/>
                </a:ext>
              </a:extLst>
            </p:cNvPr>
            <p:cNvSpPr>
              <a:spLocks noGrp="1"/>
            </p:cNvSpPr>
            <p:nvPr/>
          </p:nvSpPr>
          <p:spPr>
            <a:xfrm>
              <a:off x="3123088" y="3231886"/>
              <a:ext cx="66676" cy="57339"/>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32" name="Find voxel output">
              <a:extLst>
                <a:ext uri="{FF2B5EF4-FFF2-40B4-BE49-F238E27FC236}">
                  <a16:creationId xmlns:a16="http://schemas.microsoft.com/office/drawing/2014/main" id="{A7A050F5-4BBD-83D0-3E56-868138C02A2E}"/>
                </a:ext>
              </a:extLst>
            </p:cNvPr>
            <p:cNvSpPr>
              <a:spLocks noGrp="1"/>
            </p:cNvSpPr>
            <p:nvPr/>
          </p:nvSpPr>
          <p:spPr>
            <a:xfrm>
              <a:off x="9750468" y="1544003"/>
              <a:ext cx="409314" cy="191"/>
            </a:xfrm>
            <a:custGeom>
              <a:avLst/>
              <a:gdLst/>
              <a:ahLst/>
              <a:cxnLst/>
              <a:rect l="0" t="0" r="0" b="0"/>
              <a:pathLst>
                <a:path w="252508" h="191">
                  <a:moveTo>
                    <a:pt x="0" y="0"/>
                  </a:moveTo>
                  <a:lnTo>
                    <a:pt x="252508" y="0"/>
                  </a:lnTo>
                </a:path>
              </a:pathLst>
            </a:custGeom>
            <a:noFill/>
            <a:ln w="8505">
              <a:solidFill>
                <a:srgbClr val="4083B4"/>
              </a:solidFill>
              <a:prstDash val="solid"/>
            </a:ln>
          </p:spPr>
        </p:sp>
        <p:sp>
          <p:nvSpPr>
            <p:cNvPr id="1333" name="Find voxel output head">
              <a:extLst>
                <a:ext uri="{FF2B5EF4-FFF2-40B4-BE49-F238E27FC236}">
                  <a16:creationId xmlns:a16="http://schemas.microsoft.com/office/drawing/2014/main" id="{375132D2-B1BA-3819-E6E4-408E45D3577A}"/>
                </a:ext>
              </a:extLst>
            </p:cNvPr>
            <p:cNvSpPr>
              <a:spLocks noGrp="1"/>
            </p:cNvSpPr>
            <p:nvPr/>
          </p:nvSpPr>
          <p:spPr>
            <a:xfrm>
              <a:off x="10116443" y="1515332"/>
              <a:ext cx="66675" cy="57340"/>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34" name="Find point output">
              <a:extLst>
                <a:ext uri="{FF2B5EF4-FFF2-40B4-BE49-F238E27FC236}">
                  <a16:creationId xmlns:a16="http://schemas.microsoft.com/office/drawing/2014/main" id="{E2AB92F8-FB1A-DF4D-C056-6A909BEA2DE1}"/>
                </a:ext>
              </a:extLst>
            </p:cNvPr>
            <p:cNvSpPr>
              <a:spLocks noGrp="1"/>
            </p:cNvSpPr>
            <p:nvPr/>
          </p:nvSpPr>
          <p:spPr>
            <a:xfrm>
              <a:off x="9750468" y="3107055"/>
              <a:ext cx="409314" cy="191"/>
            </a:xfrm>
            <a:custGeom>
              <a:avLst/>
              <a:gdLst/>
              <a:ahLst/>
              <a:cxnLst/>
              <a:rect l="0" t="0" r="0" b="0"/>
              <a:pathLst>
                <a:path w="252508" h="191">
                  <a:moveTo>
                    <a:pt x="0" y="0"/>
                  </a:moveTo>
                  <a:lnTo>
                    <a:pt x="252508" y="0"/>
                  </a:lnTo>
                </a:path>
              </a:pathLst>
            </a:custGeom>
            <a:noFill/>
            <a:ln w="8505">
              <a:solidFill>
                <a:srgbClr val="4083B4"/>
              </a:solidFill>
              <a:prstDash val="solid"/>
            </a:ln>
          </p:spPr>
        </p:sp>
        <p:sp>
          <p:nvSpPr>
            <p:cNvPr id="1335" name="Find point output head">
              <a:extLst>
                <a:ext uri="{FF2B5EF4-FFF2-40B4-BE49-F238E27FC236}">
                  <a16:creationId xmlns:a16="http://schemas.microsoft.com/office/drawing/2014/main" id="{28B06725-C3FB-3373-8A56-A66D9CE3ECA7}"/>
                </a:ext>
              </a:extLst>
            </p:cNvPr>
            <p:cNvSpPr>
              <a:spLocks noGrp="1"/>
            </p:cNvSpPr>
            <p:nvPr/>
          </p:nvSpPr>
          <p:spPr>
            <a:xfrm>
              <a:off x="10116443" y="3078385"/>
              <a:ext cx="66675" cy="57340"/>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36" name="U-Net flow refined 1">
              <a:extLst>
                <a:ext uri="{FF2B5EF4-FFF2-40B4-BE49-F238E27FC236}">
                  <a16:creationId xmlns:a16="http://schemas.microsoft.com/office/drawing/2014/main" id="{5BDE2ECB-1CBA-ACB1-3426-F3E9F144A8A7}"/>
                </a:ext>
              </a:extLst>
            </p:cNvPr>
            <p:cNvSpPr>
              <a:spLocks noGrp="1"/>
            </p:cNvSpPr>
            <p:nvPr/>
          </p:nvSpPr>
          <p:spPr>
            <a:xfrm>
              <a:off x="5399638" y="1943100"/>
              <a:ext cx="71390" cy="191"/>
            </a:xfrm>
            <a:custGeom>
              <a:avLst/>
              <a:gdLst/>
              <a:ahLst/>
              <a:cxnLst/>
              <a:rect l="0" t="0" r="0" b="0"/>
              <a:pathLst>
                <a:path w="71390" h="191">
                  <a:moveTo>
                    <a:pt x="0" y="0"/>
                  </a:moveTo>
                  <a:lnTo>
                    <a:pt x="71390" y="0"/>
                  </a:lnTo>
                </a:path>
              </a:pathLst>
            </a:custGeom>
            <a:noFill/>
            <a:ln w="6480">
              <a:solidFill>
                <a:srgbClr val="4083B4"/>
              </a:solidFill>
              <a:prstDash val="solid"/>
            </a:ln>
          </p:spPr>
        </p:sp>
        <p:sp>
          <p:nvSpPr>
            <p:cNvPr id="1337" name="U-Net flow refined 1 head">
              <a:extLst>
                <a:ext uri="{FF2B5EF4-FFF2-40B4-BE49-F238E27FC236}">
                  <a16:creationId xmlns:a16="http://schemas.microsoft.com/office/drawing/2014/main" id="{94C963B0-6292-D96E-8000-E5176CACF1B1}"/>
                </a:ext>
              </a:extLst>
            </p:cNvPr>
            <p:cNvSpPr>
              <a:spLocks noGrp="1"/>
            </p:cNvSpPr>
            <p:nvPr/>
          </p:nvSpPr>
          <p:spPr>
            <a:xfrm>
              <a:off x="544440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38" name="U-Net flow refined 2">
              <a:extLst>
                <a:ext uri="{FF2B5EF4-FFF2-40B4-BE49-F238E27FC236}">
                  <a16:creationId xmlns:a16="http://schemas.microsoft.com/office/drawing/2014/main" id="{6EDFECDB-834F-45E8-C447-187E68499D36}"/>
                </a:ext>
              </a:extLst>
            </p:cNvPr>
            <p:cNvSpPr>
              <a:spLocks noGrp="1"/>
            </p:cNvSpPr>
            <p:nvPr/>
          </p:nvSpPr>
          <p:spPr>
            <a:xfrm>
              <a:off x="5856838" y="1943100"/>
              <a:ext cx="61865" cy="191"/>
            </a:xfrm>
            <a:custGeom>
              <a:avLst/>
              <a:gdLst/>
              <a:ahLst/>
              <a:cxnLst/>
              <a:rect l="0" t="0" r="0" b="0"/>
              <a:pathLst>
                <a:path w="61865" h="191">
                  <a:moveTo>
                    <a:pt x="0" y="0"/>
                  </a:moveTo>
                  <a:lnTo>
                    <a:pt x="61865" y="0"/>
                  </a:lnTo>
                </a:path>
              </a:pathLst>
            </a:custGeom>
            <a:noFill/>
            <a:ln w="6480">
              <a:solidFill>
                <a:srgbClr val="4083B4"/>
              </a:solidFill>
              <a:prstDash val="solid"/>
            </a:ln>
          </p:spPr>
        </p:sp>
        <p:sp>
          <p:nvSpPr>
            <p:cNvPr id="1339" name="U-Net flow refined 2 head">
              <a:extLst>
                <a:ext uri="{FF2B5EF4-FFF2-40B4-BE49-F238E27FC236}">
                  <a16:creationId xmlns:a16="http://schemas.microsoft.com/office/drawing/2014/main" id="{147D1FA6-05BE-3A5D-C1FE-78DB516DA9EB}"/>
                </a:ext>
              </a:extLst>
            </p:cNvPr>
            <p:cNvSpPr>
              <a:spLocks noGrp="1"/>
            </p:cNvSpPr>
            <p:nvPr/>
          </p:nvSpPr>
          <p:spPr>
            <a:xfrm>
              <a:off x="5892081"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0" name="U-Net flow refined 3">
              <a:extLst>
                <a:ext uri="{FF2B5EF4-FFF2-40B4-BE49-F238E27FC236}">
                  <a16:creationId xmlns:a16="http://schemas.microsoft.com/office/drawing/2014/main" id="{7AF7CF23-54DF-A29D-2F07-D36A3F45EDD2}"/>
                </a:ext>
              </a:extLst>
            </p:cNvPr>
            <p:cNvSpPr>
              <a:spLocks noGrp="1"/>
            </p:cNvSpPr>
            <p:nvPr/>
          </p:nvSpPr>
          <p:spPr>
            <a:xfrm>
              <a:off x="6428338" y="1943100"/>
              <a:ext cx="185690" cy="191"/>
            </a:xfrm>
            <a:custGeom>
              <a:avLst/>
              <a:gdLst/>
              <a:ahLst/>
              <a:cxnLst/>
              <a:rect l="0" t="0" r="0" b="0"/>
              <a:pathLst>
                <a:path w="185690" h="191">
                  <a:moveTo>
                    <a:pt x="0" y="0"/>
                  </a:moveTo>
                  <a:lnTo>
                    <a:pt x="185690" y="0"/>
                  </a:lnTo>
                </a:path>
              </a:pathLst>
            </a:custGeom>
            <a:noFill/>
            <a:ln w="6480">
              <a:solidFill>
                <a:srgbClr val="4083B4"/>
              </a:solidFill>
              <a:prstDash val="solid"/>
            </a:ln>
          </p:spPr>
        </p:sp>
        <p:sp>
          <p:nvSpPr>
            <p:cNvPr id="1341" name="U-Net flow refined 3 head">
              <a:extLst>
                <a:ext uri="{FF2B5EF4-FFF2-40B4-BE49-F238E27FC236}">
                  <a16:creationId xmlns:a16="http://schemas.microsoft.com/office/drawing/2014/main" id="{99F4C0B1-883D-15E1-DE1D-B9D0B602A47D}"/>
                </a:ext>
              </a:extLst>
            </p:cNvPr>
            <p:cNvSpPr>
              <a:spLocks noGrp="1"/>
            </p:cNvSpPr>
            <p:nvPr/>
          </p:nvSpPr>
          <p:spPr>
            <a:xfrm>
              <a:off x="658740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2" name="U-Net flow refined 4">
              <a:extLst>
                <a:ext uri="{FF2B5EF4-FFF2-40B4-BE49-F238E27FC236}">
                  <a16:creationId xmlns:a16="http://schemas.microsoft.com/office/drawing/2014/main" id="{1AB9AC41-CF99-6B25-72AE-CA5759E07BBC}"/>
                </a:ext>
              </a:extLst>
            </p:cNvPr>
            <p:cNvSpPr>
              <a:spLocks noGrp="1"/>
            </p:cNvSpPr>
            <p:nvPr/>
          </p:nvSpPr>
          <p:spPr>
            <a:xfrm>
              <a:off x="7704688" y="1943100"/>
              <a:ext cx="204740" cy="191"/>
            </a:xfrm>
            <a:custGeom>
              <a:avLst/>
              <a:gdLst/>
              <a:ahLst/>
              <a:cxnLst/>
              <a:rect l="0" t="0" r="0" b="0"/>
              <a:pathLst>
                <a:path w="204740" h="191">
                  <a:moveTo>
                    <a:pt x="0" y="0"/>
                  </a:moveTo>
                  <a:lnTo>
                    <a:pt x="204740" y="0"/>
                  </a:lnTo>
                </a:path>
              </a:pathLst>
            </a:custGeom>
            <a:noFill/>
            <a:ln w="6480">
              <a:solidFill>
                <a:srgbClr val="4083B4"/>
              </a:solidFill>
              <a:prstDash val="solid"/>
            </a:ln>
          </p:spPr>
        </p:sp>
        <p:sp>
          <p:nvSpPr>
            <p:cNvPr id="1343" name="U-Net flow refined 4 head">
              <a:extLst>
                <a:ext uri="{FF2B5EF4-FFF2-40B4-BE49-F238E27FC236}">
                  <a16:creationId xmlns:a16="http://schemas.microsoft.com/office/drawing/2014/main" id="{8B74AF9E-166C-456E-8C30-81819473FD65}"/>
                </a:ext>
              </a:extLst>
            </p:cNvPr>
            <p:cNvSpPr>
              <a:spLocks noGrp="1"/>
            </p:cNvSpPr>
            <p:nvPr/>
          </p:nvSpPr>
          <p:spPr>
            <a:xfrm>
              <a:off x="788280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4" name="U-Net flow refined 5">
              <a:extLst>
                <a:ext uri="{FF2B5EF4-FFF2-40B4-BE49-F238E27FC236}">
                  <a16:creationId xmlns:a16="http://schemas.microsoft.com/office/drawing/2014/main" id="{1DF9FEC8-127A-C6BF-A242-5459B8B47514}"/>
                </a:ext>
              </a:extLst>
            </p:cNvPr>
            <p:cNvSpPr>
              <a:spLocks noGrp="1"/>
            </p:cNvSpPr>
            <p:nvPr/>
          </p:nvSpPr>
          <p:spPr>
            <a:xfrm>
              <a:off x="8428588" y="1943100"/>
              <a:ext cx="71390" cy="191"/>
            </a:xfrm>
            <a:custGeom>
              <a:avLst/>
              <a:gdLst/>
              <a:ahLst/>
              <a:cxnLst/>
              <a:rect l="0" t="0" r="0" b="0"/>
              <a:pathLst>
                <a:path w="71390" h="191">
                  <a:moveTo>
                    <a:pt x="0" y="0"/>
                  </a:moveTo>
                  <a:lnTo>
                    <a:pt x="71390" y="0"/>
                  </a:lnTo>
                </a:path>
              </a:pathLst>
            </a:custGeom>
            <a:noFill/>
            <a:ln w="6480">
              <a:solidFill>
                <a:srgbClr val="4083B4"/>
              </a:solidFill>
              <a:prstDash val="solid"/>
            </a:ln>
          </p:spPr>
        </p:sp>
        <p:sp>
          <p:nvSpPr>
            <p:cNvPr id="1345" name="U-Net flow refined 5 head">
              <a:extLst>
                <a:ext uri="{FF2B5EF4-FFF2-40B4-BE49-F238E27FC236}">
                  <a16:creationId xmlns:a16="http://schemas.microsoft.com/office/drawing/2014/main" id="{235A2EBC-75E8-8D72-4A9D-B691D888DD1B}"/>
                </a:ext>
              </a:extLst>
            </p:cNvPr>
            <p:cNvSpPr>
              <a:spLocks noGrp="1"/>
            </p:cNvSpPr>
            <p:nvPr/>
          </p:nvSpPr>
          <p:spPr>
            <a:xfrm>
              <a:off x="847335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6" name="U-Net flow refined 6">
              <a:extLst>
                <a:ext uri="{FF2B5EF4-FFF2-40B4-BE49-F238E27FC236}">
                  <a16:creationId xmlns:a16="http://schemas.microsoft.com/office/drawing/2014/main" id="{E16F5364-FA67-8E77-55DD-31048ACFB369}"/>
                </a:ext>
              </a:extLst>
            </p:cNvPr>
            <p:cNvSpPr>
              <a:spLocks noGrp="1"/>
            </p:cNvSpPr>
            <p:nvPr/>
          </p:nvSpPr>
          <p:spPr>
            <a:xfrm>
              <a:off x="8866738" y="1943100"/>
              <a:ext cx="90440" cy="191"/>
            </a:xfrm>
            <a:custGeom>
              <a:avLst/>
              <a:gdLst/>
              <a:ahLst/>
              <a:cxnLst/>
              <a:rect l="0" t="0" r="0" b="0"/>
              <a:pathLst>
                <a:path w="90440" h="191">
                  <a:moveTo>
                    <a:pt x="0" y="0"/>
                  </a:moveTo>
                  <a:lnTo>
                    <a:pt x="90440" y="0"/>
                  </a:lnTo>
                </a:path>
              </a:pathLst>
            </a:custGeom>
            <a:noFill/>
            <a:ln w="6480">
              <a:solidFill>
                <a:srgbClr val="4083B4"/>
              </a:solidFill>
              <a:prstDash val="solid"/>
            </a:ln>
          </p:spPr>
        </p:sp>
        <p:sp>
          <p:nvSpPr>
            <p:cNvPr id="1347" name="U-Net flow refined 6 head">
              <a:extLst>
                <a:ext uri="{FF2B5EF4-FFF2-40B4-BE49-F238E27FC236}">
                  <a16:creationId xmlns:a16="http://schemas.microsoft.com/office/drawing/2014/main" id="{CAB8405E-639F-441D-4076-97C5C8079141}"/>
                </a:ext>
              </a:extLst>
            </p:cNvPr>
            <p:cNvSpPr>
              <a:spLocks noGrp="1"/>
            </p:cNvSpPr>
            <p:nvPr/>
          </p:nvSpPr>
          <p:spPr>
            <a:xfrm>
              <a:off x="893055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8" name="Skip outer refined">
              <a:extLst>
                <a:ext uri="{FF2B5EF4-FFF2-40B4-BE49-F238E27FC236}">
                  <a16:creationId xmlns:a16="http://schemas.microsoft.com/office/drawing/2014/main" id="{FCEC7BC5-9C91-5A2D-286F-54CED1B58658}"/>
                </a:ext>
              </a:extLst>
            </p:cNvPr>
            <p:cNvSpPr>
              <a:spLocks noGrp="1"/>
            </p:cNvSpPr>
            <p:nvPr/>
          </p:nvSpPr>
          <p:spPr>
            <a:xfrm>
              <a:off x="4990063" y="1209675"/>
              <a:ext cx="4333875" cy="219075"/>
            </a:xfrm>
            <a:custGeom>
              <a:avLst/>
              <a:gdLst/>
              <a:ahLst/>
              <a:cxnLst/>
              <a:rect l="0" t="0" r="0" b="0"/>
              <a:pathLst>
                <a:path w="4333875" h="219075">
                  <a:moveTo>
                    <a:pt x="0" y="219075"/>
                  </a:moveTo>
                  <a:lnTo>
                    <a:pt x="0" y="0"/>
                  </a:lnTo>
                  <a:lnTo>
                    <a:pt x="4333875" y="0"/>
                  </a:lnTo>
                  <a:lnTo>
                    <a:pt x="4333875" y="204073"/>
                  </a:lnTo>
                </a:path>
              </a:pathLst>
            </a:custGeom>
            <a:noFill/>
            <a:ln w="5468">
              <a:solidFill>
                <a:srgbClr val="85AFCB"/>
              </a:solidFill>
              <a:prstDash val="dash"/>
            </a:ln>
          </p:spPr>
        </p:sp>
        <p:sp>
          <p:nvSpPr>
            <p:cNvPr id="1349" name="Skip outer refined head">
              <a:extLst>
                <a:ext uri="{FF2B5EF4-FFF2-40B4-BE49-F238E27FC236}">
                  <a16:creationId xmlns:a16="http://schemas.microsoft.com/office/drawing/2014/main" id="{D6AAD354-1253-F73A-1F09-0D42951F0AD2}"/>
                </a:ext>
              </a:extLst>
            </p:cNvPr>
            <p:cNvSpPr>
              <a:spLocks noGrp="1"/>
            </p:cNvSpPr>
            <p:nvPr/>
          </p:nvSpPr>
          <p:spPr>
            <a:xfrm>
              <a:off x="9305507" y="1385888"/>
              <a:ext cx="36862" cy="42863"/>
            </a:xfrm>
            <a:custGeom>
              <a:avLst/>
              <a:gdLst/>
              <a:ahLst/>
              <a:cxnLst/>
              <a:rect l="0" t="0" r="0" b="0"/>
              <a:pathLst>
                <a:path w="36862" h="42863">
                  <a:moveTo>
                    <a:pt x="18431" y="42863"/>
                  </a:moveTo>
                  <a:lnTo>
                    <a:pt x="36862" y="0"/>
                  </a:lnTo>
                  <a:lnTo>
                    <a:pt x="0" y="0"/>
                  </a:lnTo>
                  <a:close/>
                </a:path>
              </a:pathLst>
            </a:custGeom>
            <a:solidFill>
              <a:srgbClr val="85AFCB"/>
            </a:solidFill>
            <a:ln w="0">
              <a:noFill/>
              <a:prstDash val="solid"/>
            </a:ln>
          </p:spPr>
        </p:sp>
        <p:sp>
          <p:nvSpPr>
            <p:cNvPr id="1350" name="Skip middle refined">
              <a:extLst>
                <a:ext uri="{FF2B5EF4-FFF2-40B4-BE49-F238E27FC236}">
                  <a16:creationId xmlns:a16="http://schemas.microsoft.com/office/drawing/2014/main" id="{E944DD48-0E77-62B4-4E66-FC482D648DB0}"/>
                </a:ext>
              </a:extLst>
            </p:cNvPr>
            <p:cNvSpPr>
              <a:spLocks noGrp="1"/>
            </p:cNvSpPr>
            <p:nvPr/>
          </p:nvSpPr>
          <p:spPr>
            <a:xfrm>
              <a:off x="5628238" y="1295400"/>
              <a:ext cx="3067050" cy="266700"/>
            </a:xfrm>
            <a:custGeom>
              <a:avLst/>
              <a:gdLst/>
              <a:ahLst/>
              <a:cxnLst/>
              <a:rect l="0" t="0" r="0" b="0"/>
              <a:pathLst>
                <a:path w="3067050" h="266700">
                  <a:moveTo>
                    <a:pt x="0" y="266700"/>
                  </a:moveTo>
                  <a:lnTo>
                    <a:pt x="0" y="0"/>
                  </a:lnTo>
                  <a:lnTo>
                    <a:pt x="3067050" y="0"/>
                  </a:lnTo>
                  <a:lnTo>
                    <a:pt x="3067050" y="251698"/>
                  </a:lnTo>
                </a:path>
              </a:pathLst>
            </a:custGeom>
            <a:noFill/>
            <a:ln w="5468">
              <a:solidFill>
                <a:srgbClr val="85AFCB"/>
              </a:solidFill>
              <a:prstDash val="dash"/>
            </a:ln>
          </p:spPr>
        </p:sp>
        <p:sp>
          <p:nvSpPr>
            <p:cNvPr id="1351" name="Skip middle refined head">
              <a:extLst>
                <a:ext uri="{FF2B5EF4-FFF2-40B4-BE49-F238E27FC236}">
                  <a16:creationId xmlns:a16="http://schemas.microsoft.com/office/drawing/2014/main" id="{5D984C66-44F4-6C0C-29FA-C26BCC014DA5}"/>
                </a:ext>
              </a:extLst>
            </p:cNvPr>
            <p:cNvSpPr>
              <a:spLocks noGrp="1"/>
            </p:cNvSpPr>
            <p:nvPr/>
          </p:nvSpPr>
          <p:spPr>
            <a:xfrm>
              <a:off x="8676857" y="1519238"/>
              <a:ext cx="36862" cy="42863"/>
            </a:xfrm>
            <a:custGeom>
              <a:avLst/>
              <a:gdLst/>
              <a:ahLst/>
              <a:cxnLst/>
              <a:rect l="0" t="0" r="0" b="0"/>
              <a:pathLst>
                <a:path w="36862" h="42863">
                  <a:moveTo>
                    <a:pt x="18431" y="42863"/>
                  </a:moveTo>
                  <a:lnTo>
                    <a:pt x="36862" y="0"/>
                  </a:lnTo>
                  <a:lnTo>
                    <a:pt x="0" y="0"/>
                  </a:lnTo>
                  <a:close/>
                </a:path>
              </a:pathLst>
            </a:custGeom>
            <a:solidFill>
              <a:srgbClr val="85AFCB"/>
            </a:solidFill>
            <a:ln w="0">
              <a:noFill/>
              <a:prstDash val="solid"/>
            </a:ln>
          </p:spPr>
        </p:sp>
        <p:sp>
          <p:nvSpPr>
            <p:cNvPr id="1352" name="Skip inner refined">
              <a:extLst>
                <a:ext uri="{FF2B5EF4-FFF2-40B4-BE49-F238E27FC236}">
                  <a16:creationId xmlns:a16="http://schemas.microsoft.com/office/drawing/2014/main" id="{796339B7-CA5C-9A6F-F626-7D7B76227D0E}"/>
                </a:ext>
              </a:extLst>
            </p:cNvPr>
            <p:cNvSpPr>
              <a:spLocks noGrp="1"/>
            </p:cNvSpPr>
            <p:nvPr/>
          </p:nvSpPr>
          <p:spPr>
            <a:xfrm>
              <a:off x="6152113" y="1381125"/>
              <a:ext cx="2000250" cy="323850"/>
            </a:xfrm>
            <a:custGeom>
              <a:avLst/>
              <a:gdLst/>
              <a:ahLst/>
              <a:cxnLst/>
              <a:rect l="0" t="0" r="0" b="0"/>
              <a:pathLst>
                <a:path w="2000250" h="323850">
                  <a:moveTo>
                    <a:pt x="0" y="323850"/>
                  </a:moveTo>
                  <a:lnTo>
                    <a:pt x="0" y="0"/>
                  </a:lnTo>
                  <a:lnTo>
                    <a:pt x="2000250" y="0"/>
                  </a:lnTo>
                  <a:lnTo>
                    <a:pt x="2000250" y="308848"/>
                  </a:lnTo>
                </a:path>
              </a:pathLst>
            </a:custGeom>
            <a:noFill/>
            <a:ln w="5468">
              <a:solidFill>
                <a:srgbClr val="85AFCB"/>
              </a:solidFill>
              <a:prstDash val="dash"/>
            </a:ln>
          </p:spPr>
        </p:sp>
        <p:sp>
          <p:nvSpPr>
            <p:cNvPr id="1353" name="Skip inner refined head">
              <a:extLst>
                <a:ext uri="{FF2B5EF4-FFF2-40B4-BE49-F238E27FC236}">
                  <a16:creationId xmlns:a16="http://schemas.microsoft.com/office/drawing/2014/main" id="{5389494F-4196-1B0C-C069-F40391B0419B}"/>
                </a:ext>
              </a:extLst>
            </p:cNvPr>
            <p:cNvSpPr>
              <a:spLocks noGrp="1"/>
            </p:cNvSpPr>
            <p:nvPr/>
          </p:nvSpPr>
          <p:spPr>
            <a:xfrm>
              <a:off x="8133932" y="1662113"/>
              <a:ext cx="36862" cy="42863"/>
            </a:xfrm>
            <a:custGeom>
              <a:avLst/>
              <a:gdLst/>
              <a:ahLst/>
              <a:cxnLst/>
              <a:rect l="0" t="0" r="0" b="0"/>
              <a:pathLst>
                <a:path w="36862" h="42863">
                  <a:moveTo>
                    <a:pt x="18431" y="42863"/>
                  </a:moveTo>
                  <a:lnTo>
                    <a:pt x="36862" y="0"/>
                  </a:lnTo>
                  <a:lnTo>
                    <a:pt x="0" y="0"/>
                  </a:lnTo>
                  <a:close/>
                </a:path>
              </a:pathLst>
            </a:custGeom>
            <a:solidFill>
              <a:srgbClr val="85AFCB"/>
            </a:solidFill>
            <a:ln w="0">
              <a:noFill/>
              <a:prstDash val="solid"/>
            </a:ln>
          </p:spPr>
        </p:sp>
        <p:sp>
          <p:nvSpPr>
            <p:cNvPr id="1354" name="PTV3 forward refined 1">
              <a:extLst>
                <a:ext uri="{FF2B5EF4-FFF2-40B4-BE49-F238E27FC236}">
                  <a16:creationId xmlns:a16="http://schemas.microsoft.com/office/drawing/2014/main" id="{B0492619-D665-D0F6-7061-EDCBCE3DDA3A}"/>
                </a:ext>
              </a:extLst>
            </p:cNvPr>
            <p:cNvSpPr>
              <a:spLocks noGrp="1"/>
            </p:cNvSpPr>
            <p:nvPr/>
          </p:nvSpPr>
          <p:spPr>
            <a:xfrm>
              <a:off x="5518129" y="3106769"/>
              <a:ext cx="255746" cy="191"/>
            </a:xfrm>
            <a:custGeom>
              <a:avLst/>
              <a:gdLst/>
              <a:ahLst/>
              <a:cxnLst/>
              <a:rect l="0" t="0" r="0" b="0"/>
              <a:pathLst>
                <a:path w="255746" h="191">
                  <a:moveTo>
                    <a:pt x="0" y="0"/>
                  </a:moveTo>
                  <a:lnTo>
                    <a:pt x="255746" y="0"/>
                  </a:lnTo>
                </a:path>
              </a:pathLst>
            </a:custGeom>
            <a:noFill/>
            <a:ln w="8505">
              <a:solidFill>
                <a:srgbClr val="4083B4"/>
              </a:solidFill>
              <a:prstDash val="solid"/>
            </a:ln>
          </p:spPr>
        </p:sp>
        <p:sp>
          <p:nvSpPr>
            <p:cNvPr id="1355" name="PTV3 forward refined 1 head">
              <a:extLst>
                <a:ext uri="{FF2B5EF4-FFF2-40B4-BE49-F238E27FC236}">
                  <a16:creationId xmlns:a16="http://schemas.microsoft.com/office/drawing/2014/main" id="{B7BCE76F-C831-1ABC-ADA2-90D7588CB987}"/>
                </a:ext>
              </a:extLst>
            </p:cNvPr>
            <p:cNvSpPr>
              <a:spLocks noGrp="1"/>
            </p:cNvSpPr>
            <p:nvPr/>
          </p:nvSpPr>
          <p:spPr>
            <a:xfrm>
              <a:off x="5730537" y="3078099"/>
              <a:ext cx="66675" cy="57340"/>
            </a:xfrm>
            <a:custGeom>
              <a:avLst/>
              <a:gdLst/>
              <a:ahLst/>
              <a:cxnLst/>
              <a:rect l="0" t="0" r="0" b="0"/>
              <a:pathLst>
                <a:path w="66675" h="57340">
                  <a:moveTo>
                    <a:pt x="66675" y="28670"/>
                  </a:moveTo>
                  <a:lnTo>
                    <a:pt x="0" y="0"/>
                  </a:lnTo>
                  <a:lnTo>
                    <a:pt x="0" y="57340"/>
                  </a:lnTo>
                  <a:close/>
                </a:path>
              </a:pathLst>
            </a:custGeom>
            <a:solidFill>
              <a:srgbClr val="4083B4"/>
            </a:solidFill>
            <a:ln w="0">
              <a:solidFill>
                <a:srgbClr val="4083B4"/>
              </a:solidFill>
              <a:prstDash val="solid"/>
            </a:ln>
          </p:spPr>
        </p:sp>
        <p:sp>
          <p:nvSpPr>
            <p:cNvPr id="1356" name="PTV3 forward refined 2">
              <a:extLst>
                <a:ext uri="{FF2B5EF4-FFF2-40B4-BE49-F238E27FC236}">
                  <a16:creationId xmlns:a16="http://schemas.microsoft.com/office/drawing/2014/main" id="{24AE15E3-3B2D-CC4A-618E-E9BB13DA2E16}"/>
                </a:ext>
              </a:extLst>
            </p:cNvPr>
            <p:cNvSpPr>
              <a:spLocks noGrp="1"/>
            </p:cNvSpPr>
            <p:nvPr/>
          </p:nvSpPr>
          <p:spPr>
            <a:xfrm>
              <a:off x="6522731" y="3106769"/>
              <a:ext cx="311563" cy="191"/>
            </a:xfrm>
            <a:custGeom>
              <a:avLst/>
              <a:gdLst/>
              <a:ahLst/>
              <a:cxnLst/>
              <a:rect l="0" t="0" r="0" b="0"/>
              <a:pathLst>
                <a:path w="311563" h="191">
                  <a:moveTo>
                    <a:pt x="0" y="0"/>
                  </a:moveTo>
                  <a:lnTo>
                    <a:pt x="311563" y="0"/>
                  </a:lnTo>
                </a:path>
              </a:pathLst>
            </a:custGeom>
            <a:noFill/>
            <a:ln w="8505">
              <a:solidFill>
                <a:srgbClr val="4083B4"/>
              </a:solidFill>
              <a:prstDash val="solid"/>
            </a:ln>
          </p:spPr>
        </p:sp>
        <p:sp>
          <p:nvSpPr>
            <p:cNvPr id="1357" name="PTV3 forward refined 2 head">
              <a:extLst>
                <a:ext uri="{FF2B5EF4-FFF2-40B4-BE49-F238E27FC236}">
                  <a16:creationId xmlns:a16="http://schemas.microsoft.com/office/drawing/2014/main" id="{8007E90B-E49B-BC36-45F6-E1B46BA41A6C}"/>
                </a:ext>
              </a:extLst>
            </p:cNvPr>
            <p:cNvSpPr>
              <a:spLocks noGrp="1"/>
            </p:cNvSpPr>
            <p:nvPr/>
          </p:nvSpPr>
          <p:spPr>
            <a:xfrm>
              <a:off x="6790955" y="3078099"/>
              <a:ext cx="66675" cy="57340"/>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58" name="PTV3 forward refined 3">
              <a:extLst>
                <a:ext uri="{FF2B5EF4-FFF2-40B4-BE49-F238E27FC236}">
                  <a16:creationId xmlns:a16="http://schemas.microsoft.com/office/drawing/2014/main" id="{2D087525-2ABD-3A01-10DA-7F65FB2DD09A}"/>
                </a:ext>
              </a:extLst>
            </p:cNvPr>
            <p:cNvSpPr>
              <a:spLocks noGrp="1"/>
            </p:cNvSpPr>
            <p:nvPr/>
          </p:nvSpPr>
          <p:spPr>
            <a:xfrm>
              <a:off x="7508759" y="3106769"/>
              <a:ext cx="311563" cy="191"/>
            </a:xfrm>
            <a:custGeom>
              <a:avLst/>
              <a:gdLst/>
              <a:ahLst/>
              <a:cxnLst/>
              <a:rect l="0" t="0" r="0" b="0"/>
              <a:pathLst>
                <a:path w="311563" h="191">
                  <a:moveTo>
                    <a:pt x="0" y="0"/>
                  </a:moveTo>
                  <a:lnTo>
                    <a:pt x="311563" y="0"/>
                  </a:lnTo>
                </a:path>
              </a:pathLst>
            </a:custGeom>
            <a:noFill/>
            <a:ln w="8505">
              <a:solidFill>
                <a:srgbClr val="4083B4"/>
              </a:solidFill>
              <a:prstDash val="solid"/>
            </a:ln>
          </p:spPr>
        </p:sp>
        <p:sp>
          <p:nvSpPr>
            <p:cNvPr id="1359" name="PTV3 forward refined 3 head">
              <a:extLst>
                <a:ext uri="{FF2B5EF4-FFF2-40B4-BE49-F238E27FC236}">
                  <a16:creationId xmlns:a16="http://schemas.microsoft.com/office/drawing/2014/main" id="{417DAC3E-DE7D-4EBD-83BF-06F7FB2A8085}"/>
                </a:ext>
              </a:extLst>
            </p:cNvPr>
            <p:cNvSpPr>
              <a:spLocks noGrp="1"/>
            </p:cNvSpPr>
            <p:nvPr/>
          </p:nvSpPr>
          <p:spPr>
            <a:xfrm>
              <a:off x="7776983" y="3078099"/>
              <a:ext cx="66675" cy="57340"/>
            </a:xfrm>
            <a:custGeom>
              <a:avLst/>
              <a:gdLst/>
              <a:ahLst/>
              <a:cxnLst/>
              <a:rect l="0" t="0" r="0" b="0"/>
              <a:pathLst>
                <a:path w="66675" h="57340">
                  <a:moveTo>
                    <a:pt x="66675" y="28670"/>
                  </a:moveTo>
                  <a:lnTo>
                    <a:pt x="0" y="0"/>
                  </a:lnTo>
                  <a:lnTo>
                    <a:pt x="0" y="57340"/>
                  </a:lnTo>
                  <a:close/>
                </a:path>
              </a:pathLst>
            </a:custGeom>
            <a:solidFill>
              <a:srgbClr val="4083B4"/>
            </a:solidFill>
            <a:ln w="0">
              <a:solidFill>
                <a:srgbClr val="4083B4"/>
              </a:solidFill>
              <a:prstDash val="solid"/>
            </a:ln>
          </p:spPr>
        </p:sp>
        <p:sp>
          <p:nvSpPr>
            <p:cNvPr id="1360" name="PTV3 forward refined 4">
              <a:extLst>
                <a:ext uri="{FF2B5EF4-FFF2-40B4-BE49-F238E27FC236}">
                  <a16:creationId xmlns:a16="http://schemas.microsoft.com/office/drawing/2014/main" id="{3F66A9B7-F35C-EB4C-B102-3F29A4296978}"/>
                </a:ext>
              </a:extLst>
            </p:cNvPr>
            <p:cNvSpPr>
              <a:spLocks noGrp="1"/>
            </p:cNvSpPr>
            <p:nvPr/>
          </p:nvSpPr>
          <p:spPr>
            <a:xfrm>
              <a:off x="8569082" y="3106769"/>
              <a:ext cx="255746" cy="191"/>
            </a:xfrm>
            <a:custGeom>
              <a:avLst/>
              <a:gdLst/>
              <a:ahLst/>
              <a:cxnLst/>
              <a:rect l="0" t="0" r="0" b="0"/>
              <a:pathLst>
                <a:path w="255746" h="191">
                  <a:moveTo>
                    <a:pt x="0" y="0"/>
                  </a:moveTo>
                  <a:lnTo>
                    <a:pt x="255746" y="0"/>
                  </a:lnTo>
                </a:path>
              </a:pathLst>
            </a:custGeom>
            <a:noFill/>
            <a:ln w="8505">
              <a:solidFill>
                <a:srgbClr val="4083B4"/>
              </a:solidFill>
              <a:prstDash val="solid"/>
            </a:ln>
          </p:spPr>
        </p:sp>
        <p:sp>
          <p:nvSpPr>
            <p:cNvPr id="1361" name="PTV3 forward refined 4 head">
              <a:extLst>
                <a:ext uri="{FF2B5EF4-FFF2-40B4-BE49-F238E27FC236}">
                  <a16:creationId xmlns:a16="http://schemas.microsoft.com/office/drawing/2014/main" id="{4634E7DB-F8E3-B989-4F8D-785672F195B4}"/>
                </a:ext>
              </a:extLst>
            </p:cNvPr>
            <p:cNvSpPr>
              <a:spLocks noGrp="1"/>
            </p:cNvSpPr>
            <p:nvPr/>
          </p:nvSpPr>
          <p:spPr>
            <a:xfrm>
              <a:off x="8781489" y="3078099"/>
              <a:ext cx="66675" cy="57340"/>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62" name="Fusion refined 487.16">
              <a:extLst>
                <a:ext uri="{FF2B5EF4-FFF2-40B4-BE49-F238E27FC236}">
                  <a16:creationId xmlns:a16="http://schemas.microsoft.com/office/drawing/2014/main" id="{0FF19FA3-F74F-0EF3-2637-6AA25406EF88}"/>
                </a:ext>
              </a:extLst>
            </p:cNvPr>
            <p:cNvSpPr>
              <a:spLocks noGrp="1"/>
            </p:cNvSpPr>
            <p:nvPr/>
          </p:nvSpPr>
          <p:spPr>
            <a:xfrm>
              <a:off x="5155417" y="2418493"/>
              <a:ext cx="191" cy="404527"/>
            </a:xfrm>
            <a:custGeom>
              <a:avLst/>
              <a:gdLst/>
              <a:ahLst/>
              <a:cxnLst/>
              <a:rect l="0" t="0" r="0" b="0"/>
              <a:pathLst>
                <a:path w="191" h="404527">
                  <a:moveTo>
                    <a:pt x="0" y="0"/>
                  </a:moveTo>
                  <a:lnTo>
                    <a:pt x="0" y="404527"/>
                  </a:lnTo>
                </a:path>
              </a:pathLst>
            </a:custGeom>
            <a:noFill/>
            <a:ln w="8505">
              <a:solidFill>
                <a:srgbClr val="4083B4"/>
              </a:solidFill>
              <a:prstDash val="solid"/>
            </a:ln>
          </p:spPr>
        </p:sp>
        <p:sp>
          <p:nvSpPr>
            <p:cNvPr id="1363" name="Fusion refined 487.16 head">
              <a:extLst>
                <a:ext uri="{FF2B5EF4-FFF2-40B4-BE49-F238E27FC236}">
                  <a16:creationId xmlns:a16="http://schemas.microsoft.com/office/drawing/2014/main" id="{3D13397A-1EED-4CCF-C88D-62A5EFCF622C}"/>
                </a:ext>
              </a:extLst>
            </p:cNvPr>
            <p:cNvSpPr>
              <a:spLocks noGrp="1"/>
            </p:cNvSpPr>
            <p:nvPr/>
          </p:nvSpPr>
          <p:spPr>
            <a:xfrm>
              <a:off x="5126747" y="2779681"/>
              <a:ext cx="57340" cy="66675"/>
            </a:xfrm>
            <a:custGeom>
              <a:avLst/>
              <a:gdLst/>
              <a:ahLst/>
              <a:cxnLst/>
              <a:rect l="0" t="0" r="0" b="0"/>
              <a:pathLst>
                <a:path w="57340" h="66675">
                  <a:moveTo>
                    <a:pt x="28670" y="66675"/>
                  </a:moveTo>
                  <a:lnTo>
                    <a:pt x="57340" y="0"/>
                  </a:lnTo>
                  <a:lnTo>
                    <a:pt x="0" y="0"/>
                  </a:lnTo>
                  <a:close/>
                </a:path>
              </a:pathLst>
            </a:custGeom>
            <a:solidFill>
              <a:srgbClr val="4083B4"/>
            </a:solidFill>
            <a:ln w="0">
              <a:noFill/>
              <a:prstDash val="solid"/>
            </a:ln>
          </p:spPr>
        </p:sp>
        <p:sp>
          <p:nvSpPr>
            <p:cNvPr id="1364" name="Fusion refined 700.05">
              <a:extLst>
                <a:ext uri="{FF2B5EF4-FFF2-40B4-BE49-F238E27FC236}">
                  <a16:creationId xmlns:a16="http://schemas.microsoft.com/office/drawing/2014/main" id="{F3328C85-8D10-5BAE-F06A-A042F88B4457}"/>
                </a:ext>
              </a:extLst>
            </p:cNvPr>
            <p:cNvSpPr>
              <a:spLocks noGrp="1"/>
            </p:cNvSpPr>
            <p:nvPr/>
          </p:nvSpPr>
          <p:spPr>
            <a:xfrm>
              <a:off x="7183194" y="2418493"/>
              <a:ext cx="191" cy="404527"/>
            </a:xfrm>
            <a:custGeom>
              <a:avLst/>
              <a:gdLst/>
              <a:ahLst/>
              <a:cxnLst/>
              <a:rect l="0" t="0" r="0" b="0"/>
              <a:pathLst>
                <a:path w="191" h="404527">
                  <a:moveTo>
                    <a:pt x="0" y="0"/>
                  </a:moveTo>
                  <a:lnTo>
                    <a:pt x="0" y="404527"/>
                  </a:lnTo>
                </a:path>
              </a:pathLst>
            </a:custGeom>
            <a:noFill/>
            <a:ln w="8505">
              <a:solidFill>
                <a:srgbClr val="4083B4"/>
              </a:solidFill>
              <a:prstDash val="solid"/>
            </a:ln>
          </p:spPr>
        </p:sp>
        <p:sp>
          <p:nvSpPr>
            <p:cNvPr id="1365" name="Fusion refined 700.05 head">
              <a:extLst>
                <a:ext uri="{FF2B5EF4-FFF2-40B4-BE49-F238E27FC236}">
                  <a16:creationId xmlns:a16="http://schemas.microsoft.com/office/drawing/2014/main" id="{615DF42F-7A96-D005-2B04-2E5B83AF189A}"/>
                </a:ext>
              </a:extLst>
            </p:cNvPr>
            <p:cNvSpPr>
              <a:spLocks noGrp="1"/>
            </p:cNvSpPr>
            <p:nvPr/>
          </p:nvSpPr>
          <p:spPr>
            <a:xfrm>
              <a:off x="7154524" y="2779681"/>
              <a:ext cx="57340" cy="66675"/>
            </a:xfrm>
            <a:custGeom>
              <a:avLst/>
              <a:gdLst/>
              <a:ahLst/>
              <a:cxnLst/>
              <a:rect l="0" t="0" r="0" b="0"/>
              <a:pathLst>
                <a:path w="57340" h="66675">
                  <a:moveTo>
                    <a:pt x="28670" y="66675"/>
                  </a:moveTo>
                  <a:lnTo>
                    <a:pt x="57340" y="0"/>
                  </a:lnTo>
                  <a:lnTo>
                    <a:pt x="0" y="0"/>
                  </a:lnTo>
                  <a:close/>
                </a:path>
              </a:pathLst>
            </a:custGeom>
            <a:solidFill>
              <a:srgbClr val="4083B4"/>
            </a:solidFill>
            <a:ln w="0">
              <a:noFill/>
              <a:prstDash val="solid"/>
            </a:ln>
          </p:spPr>
        </p:sp>
        <p:sp>
          <p:nvSpPr>
            <p:cNvPr id="1366" name="Fusion refined 912.94">
              <a:extLst>
                <a:ext uri="{FF2B5EF4-FFF2-40B4-BE49-F238E27FC236}">
                  <a16:creationId xmlns:a16="http://schemas.microsoft.com/office/drawing/2014/main" id="{8F954EB4-FAB9-9DC0-DCA1-6E84B625ECD7}"/>
                </a:ext>
              </a:extLst>
            </p:cNvPr>
            <p:cNvSpPr>
              <a:spLocks noGrp="1"/>
            </p:cNvSpPr>
            <p:nvPr/>
          </p:nvSpPr>
          <p:spPr>
            <a:xfrm>
              <a:off x="9210972" y="2418493"/>
              <a:ext cx="191" cy="404527"/>
            </a:xfrm>
            <a:custGeom>
              <a:avLst/>
              <a:gdLst/>
              <a:ahLst/>
              <a:cxnLst/>
              <a:rect l="0" t="0" r="0" b="0"/>
              <a:pathLst>
                <a:path w="191" h="404527">
                  <a:moveTo>
                    <a:pt x="0" y="0"/>
                  </a:moveTo>
                  <a:lnTo>
                    <a:pt x="0" y="404527"/>
                  </a:lnTo>
                </a:path>
              </a:pathLst>
            </a:custGeom>
            <a:noFill/>
            <a:ln w="8505">
              <a:solidFill>
                <a:srgbClr val="4083B4"/>
              </a:solidFill>
              <a:prstDash val="solid"/>
            </a:ln>
          </p:spPr>
        </p:sp>
        <p:sp>
          <p:nvSpPr>
            <p:cNvPr id="1367" name="Fusion refined 912.94 head">
              <a:extLst>
                <a:ext uri="{FF2B5EF4-FFF2-40B4-BE49-F238E27FC236}">
                  <a16:creationId xmlns:a16="http://schemas.microsoft.com/office/drawing/2014/main" id="{DDC6F6E8-2600-F9F0-8C4C-DF220F079064}"/>
                </a:ext>
              </a:extLst>
            </p:cNvPr>
            <p:cNvSpPr>
              <a:spLocks noGrp="1"/>
            </p:cNvSpPr>
            <p:nvPr/>
          </p:nvSpPr>
          <p:spPr>
            <a:xfrm>
              <a:off x="9182301" y="2779681"/>
              <a:ext cx="57340" cy="66675"/>
            </a:xfrm>
            <a:custGeom>
              <a:avLst/>
              <a:gdLst/>
              <a:ahLst/>
              <a:cxnLst/>
              <a:rect l="0" t="0" r="0" b="0"/>
              <a:pathLst>
                <a:path w="57340" h="66675">
                  <a:moveTo>
                    <a:pt x="28670" y="66675"/>
                  </a:moveTo>
                  <a:lnTo>
                    <a:pt x="57340" y="0"/>
                  </a:lnTo>
                  <a:lnTo>
                    <a:pt x="0" y="0"/>
                  </a:lnTo>
                  <a:close/>
                </a:path>
              </a:pathLst>
            </a:custGeom>
            <a:solidFill>
              <a:srgbClr val="4083B4"/>
            </a:solidFill>
            <a:ln w="0">
              <a:noFill/>
              <a:prstDash val="solid"/>
            </a:ln>
          </p:spPr>
        </p:sp>
        <p:sp>
          <p:nvSpPr>
            <p:cNvPr id="1368" name="Recycle right refined">
              <a:extLst>
                <a:ext uri="{FF2B5EF4-FFF2-40B4-BE49-F238E27FC236}">
                  <a16:creationId xmlns:a16="http://schemas.microsoft.com/office/drawing/2014/main" id="{D9AFE2A4-7629-8D55-72A2-74513ED16554}"/>
                </a:ext>
              </a:extLst>
            </p:cNvPr>
            <p:cNvSpPr>
              <a:spLocks noGrp="1"/>
            </p:cNvSpPr>
            <p:nvPr/>
          </p:nvSpPr>
          <p:spPr>
            <a:xfrm>
              <a:off x="7666874" y="3385852"/>
              <a:ext cx="1544098" cy="241840"/>
            </a:xfrm>
            <a:custGeom>
              <a:avLst/>
              <a:gdLst/>
              <a:ahLst/>
              <a:cxnLst/>
              <a:rect l="0" t="0" r="0" b="0"/>
              <a:pathLst>
                <a:path w="1544098" h="241840">
                  <a:moveTo>
                    <a:pt x="1544098" y="0"/>
                  </a:moveTo>
                  <a:lnTo>
                    <a:pt x="1544098" y="241840"/>
                  </a:lnTo>
                  <a:lnTo>
                    <a:pt x="0" y="241840"/>
                  </a:lnTo>
                </a:path>
              </a:pathLst>
            </a:custGeom>
            <a:noFill/>
            <a:ln w="8505">
              <a:solidFill>
                <a:srgbClr val="4083B4"/>
              </a:solidFill>
              <a:prstDash val="solid"/>
            </a:ln>
          </p:spPr>
        </p:sp>
        <p:sp>
          <p:nvSpPr>
            <p:cNvPr id="1369" name="Recycle left refined">
              <a:extLst>
                <a:ext uri="{FF2B5EF4-FFF2-40B4-BE49-F238E27FC236}">
                  <a16:creationId xmlns:a16="http://schemas.microsoft.com/office/drawing/2014/main" id="{9E9F6AF5-6C88-4D6A-4EB6-AE11098D540D}"/>
                </a:ext>
              </a:extLst>
            </p:cNvPr>
            <p:cNvSpPr>
              <a:spLocks noGrp="1"/>
            </p:cNvSpPr>
            <p:nvPr/>
          </p:nvSpPr>
          <p:spPr>
            <a:xfrm>
              <a:off x="5155417" y="3409188"/>
              <a:ext cx="1544098" cy="218503"/>
            </a:xfrm>
            <a:custGeom>
              <a:avLst/>
              <a:gdLst/>
              <a:ahLst/>
              <a:cxnLst/>
              <a:rect l="0" t="0" r="0" b="0"/>
              <a:pathLst>
                <a:path w="1544098" h="218503">
                  <a:moveTo>
                    <a:pt x="1544098" y="218503"/>
                  </a:moveTo>
                  <a:lnTo>
                    <a:pt x="0" y="218503"/>
                  </a:lnTo>
                  <a:lnTo>
                    <a:pt x="0" y="0"/>
                  </a:lnTo>
                </a:path>
              </a:pathLst>
            </a:custGeom>
            <a:noFill/>
            <a:ln w="8505">
              <a:solidFill>
                <a:srgbClr val="4083B4"/>
              </a:solidFill>
              <a:prstDash val="solid"/>
            </a:ln>
          </p:spPr>
        </p:sp>
        <p:sp>
          <p:nvSpPr>
            <p:cNvPr id="1370" name="Recycle left refined head">
              <a:extLst>
                <a:ext uri="{FF2B5EF4-FFF2-40B4-BE49-F238E27FC236}">
                  <a16:creationId xmlns:a16="http://schemas.microsoft.com/office/drawing/2014/main" id="{FC70626C-9297-3774-289D-8C74BAB81591}"/>
                </a:ext>
              </a:extLst>
            </p:cNvPr>
            <p:cNvSpPr>
              <a:spLocks noGrp="1"/>
            </p:cNvSpPr>
            <p:nvPr/>
          </p:nvSpPr>
          <p:spPr>
            <a:xfrm>
              <a:off x="5126747" y="3385852"/>
              <a:ext cx="57340" cy="66675"/>
            </a:xfrm>
            <a:custGeom>
              <a:avLst/>
              <a:gdLst/>
              <a:ahLst/>
              <a:cxnLst/>
              <a:rect l="0" t="0" r="0" b="0"/>
              <a:pathLst>
                <a:path w="57340" h="66675">
                  <a:moveTo>
                    <a:pt x="28670" y="0"/>
                  </a:moveTo>
                  <a:lnTo>
                    <a:pt x="0" y="66675"/>
                  </a:lnTo>
                  <a:lnTo>
                    <a:pt x="57340" y="66675"/>
                  </a:lnTo>
                  <a:close/>
                </a:path>
              </a:pathLst>
            </a:custGeom>
            <a:solidFill>
              <a:srgbClr val="4083B4"/>
            </a:solidFill>
            <a:ln w="0">
              <a:noFill/>
              <a:prstDash val="solid"/>
            </a:ln>
          </p:spPr>
        </p:sp>
        <p:sp>
          <p:nvSpPr>
            <p:cNvPr id="1371" name="Crop to summary refined">
              <a:extLst>
                <a:ext uri="{FF2B5EF4-FFF2-40B4-BE49-F238E27FC236}">
                  <a16:creationId xmlns:a16="http://schemas.microsoft.com/office/drawing/2014/main" id="{23964A60-5300-B32A-CC8C-9F9A10909522}"/>
                </a:ext>
              </a:extLst>
            </p:cNvPr>
            <p:cNvSpPr>
              <a:spLocks noGrp="1"/>
            </p:cNvSpPr>
            <p:nvPr/>
          </p:nvSpPr>
          <p:spPr>
            <a:xfrm>
              <a:off x="3807779" y="6064758"/>
              <a:ext cx="1148715" cy="191"/>
            </a:xfrm>
            <a:custGeom>
              <a:avLst/>
              <a:gdLst/>
              <a:ahLst/>
              <a:cxnLst/>
              <a:rect l="0" t="0" r="0" b="0"/>
              <a:pathLst>
                <a:path w="1148715" h="191">
                  <a:moveTo>
                    <a:pt x="0" y="0"/>
                  </a:moveTo>
                  <a:lnTo>
                    <a:pt x="1148715" y="0"/>
                  </a:lnTo>
                </a:path>
              </a:pathLst>
            </a:custGeom>
            <a:noFill/>
            <a:ln w="8505">
              <a:solidFill>
                <a:srgbClr val="4083B4"/>
              </a:solidFill>
              <a:prstDash val="solid"/>
            </a:ln>
          </p:spPr>
        </p:sp>
        <p:sp>
          <p:nvSpPr>
            <p:cNvPr id="1372" name="Crop to summary refined head">
              <a:extLst>
                <a:ext uri="{FF2B5EF4-FFF2-40B4-BE49-F238E27FC236}">
                  <a16:creationId xmlns:a16="http://schemas.microsoft.com/office/drawing/2014/main" id="{864E15CB-81EF-2FAC-14F2-E25D89F29346}"/>
                </a:ext>
              </a:extLst>
            </p:cNvPr>
            <p:cNvSpPr>
              <a:spLocks noGrp="1"/>
            </p:cNvSpPr>
            <p:nvPr/>
          </p:nvSpPr>
          <p:spPr>
            <a:xfrm>
              <a:off x="4913156" y="6036088"/>
              <a:ext cx="66675" cy="57340"/>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73" name="Input split refined">
              <a:extLst>
                <a:ext uri="{FF2B5EF4-FFF2-40B4-BE49-F238E27FC236}">
                  <a16:creationId xmlns:a16="http://schemas.microsoft.com/office/drawing/2014/main" id="{B4BBBDF4-6774-1D2C-95B2-F3B88AB1C869}"/>
                </a:ext>
              </a:extLst>
            </p:cNvPr>
            <p:cNvSpPr>
              <a:spLocks noGrp="1"/>
            </p:cNvSpPr>
            <p:nvPr/>
          </p:nvSpPr>
          <p:spPr>
            <a:xfrm>
              <a:off x="2301020" y="7793355"/>
              <a:ext cx="846772" cy="160020"/>
            </a:xfrm>
            <a:custGeom>
              <a:avLst/>
              <a:gdLst/>
              <a:ahLst/>
              <a:cxnLst/>
              <a:rect l="0" t="0" r="0" b="0"/>
              <a:pathLst>
                <a:path w="846772" h="160020">
                  <a:moveTo>
                    <a:pt x="846772" y="0"/>
                  </a:moveTo>
                  <a:lnTo>
                    <a:pt x="846772" y="160020"/>
                  </a:lnTo>
                  <a:lnTo>
                    <a:pt x="0" y="160020"/>
                  </a:lnTo>
                </a:path>
              </a:pathLst>
            </a:custGeom>
            <a:noFill/>
            <a:ln w="8505">
              <a:solidFill>
                <a:srgbClr val="3B8C80"/>
              </a:solidFill>
              <a:prstDash val="solid"/>
            </a:ln>
          </p:spPr>
        </p:sp>
        <p:sp>
          <p:nvSpPr>
            <p:cNvPr id="1374" name="Input split right refined">
              <a:extLst>
                <a:ext uri="{FF2B5EF4-FFF2-40B4-BE49-F238E27FC236}">
                  <a16:creationId xmlns:a16="http://schemas.microsoft.com/office/drawing/2014/main" id="{950F0CCA-2F88-9AFF-22D8-DAA7ACB6176C}"/>
                </a:ext>
              </a:extLst>
            </p:cNvPr>
            <p:cNvSpPr>
              <a:spLocks noGrp="1"/>
            </p:cNvSpPr>
            <p:nvPr/>
          </p:nvSpPr>
          <p:spPr>
            <a:xfrm>
              <a:off x="3147792" y="7953375"/>
              <a:ext cx="827723" cy="191"/>
            </a:xfrm>
            <a:custGeom>
              <a:avLst/>
              <a:gdLst/>
              <a:ahLst/>
              <a:cxnLst/>
              <a:rect l="0" t="0" r="0" b="0"/>
              <a:pathLst>
                <a:path w="827723" h="191">
                  <a:moveTo>
                    <a:pt x="0" y="0"/>
                  </a:moveTo>
                  <a:lnTo>
                    <a:pt x="827723" y="0"/>
                  </a:lnTo>
                </a:path>
              </a:pathLst>
            </a:custGeom>
            <a:noFill/>
            <a:ln w="8505">
              <a:solidFill>
                <a:srgbClr val="3B8C80"/>
              </a:solidFill>
              <a:prstDash val="solid"/>
            </a:ln>
          </p:spPr>
        </p:sp>
        <p:sp>
          <p:nvSpPr>
            <p:cNvPr id="1375" name="Inputs to pool refined">
              <a:extLst>
                <a:ext uri="{FF2B5EF4-FFF2-40B4-BE49-F238E27FC236}">
                  <a16:creationId xmlns:a16="http://schemas.microsoft.com/office/drawing/2014/main" id="{B22E0EF3-FD19-0826-1822-07182CC69FC5}"/>
                </a:ext>
              </a:extLst>
            </p:cNvPr>
            <p:cNvSpPr>
              <a:spLocks noGrp="1"/>
            </p:cNvSpPr>
            <p:nvPr/>
          </p:nvSpPr>
          <p:spPr>
            <a:xfrm>
              <a:off x="2301020" y="7953375"/>
              <a:ext cx="191" cy="143732"/>
            </a:xfrm>
            <a:custGeom>
              <a:avLst/>
              <a:gdLst/>
              <a:ahLst/>
              <a:cxnLst/>
              <a:rect l="0" t="0" r="0" b="0"/>
              <a:pathLst>
                <a:path w="191" h="143732">
                  <a:moveTo>
                    <a:pt x="0" y="0"/>
                  </a:moveTo>
                  <a:lnTo>
                    <a:pt x="0" y="143732"/>
                  </a:lnTo>
                </a:path>
              </a:pathLst>
            </a:custGeom>
            <a:noFill/>
            <a:ln w="8505">
              <a:solidFill>
                <a:srgbClr val="3B8C80"/>
              </a:solidFill>
              <a:prstDash val="solid"/>
            </a:ln>
          </p:spPr>
        </p:sp>
        <p:sp>
          <p:nvSpPr>
            <p:cNvPr id="1376" name="Inputs to pool refined head">
              <a:extLst>
                <a:ext uri="{FF2B5EF4-FFF2-40B4-BE49-F238E27FC236}">
                  <a16:creationId xmlns:a16="http://schemas.microsoft.com/office/drawing/2014/main" id="{CA70B1F6-4A00-BABC-2972-012866989961}"/>
                </a:ext>
              </a:extLst>
            </p:cNvPr>
            <p:cNvSpPr>
              <a:spLocks noGrp="1"/>
            </p:cNvSpPr>
            <p:nvPr/>
          </p:nvSpPr>
          <p:spPr>
            <a:xfrm>
              <a:off x="2272349" y="8053769"/>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77" name="Inputs to attention refined">
              <a:extLst>
                <a:ext uri="{FF2B5EF4-FFF2-40B4-BE49-F238E27FC236}">
                  <a16:creationId xmlns:a16="http://schemas.microsoft.com/office/drawing/2014/main" id="{08F1A61E-3B0E-8BF6-7F27-5CCE4D22C59A}"/>
                </a:ext>
              </a:extLst>
            </p:cNvPr>
            <p:cNvSpPr>
              <a:spLocks noGrp="1"/>
            </p:cNvSpPr>
            <p:nvPr/>
          </p:nvSpPr>
          <p:spPr>
            <a:xfrm>
              <a:off x="3975515" y="7953375"/>
              <a:ext cx="191" cy="143732"/>
            </a:xfrm>
            <a:custGeom>
              <a:avLst/>
              <a:gdLst/>
              <a:ahLst/>
              <a:cxnLst/>
              <a:rect l="0" t="0" r="0" b="0"/>
              <a:pathLst>
                <a:path w="191" h="143732">
                  <a:moveTo>
                    <a:pt x="0" y="0"/>
                  </a:moveTo>
                  <a:lnTo>
                    <a:pt x="0" y="143732"/>
                  </a:lnTo>
                </a:path>
              </a:pathLst>
            </a:custGeom>
            <a:noFill/>
            <a:ln w="8505">
              <a:solidFill>
                <a:srgbClr val="3B8C80"/>
              </a:solidFill>
              <a:prstDash val="solid"/>
            </a:ln>
          </p:spPr>
        </p:sp>
        <p:sp>
          <p:nvSpPr>
            <p:cNvPr id="1378" name="Inputs to attention refined head">
              <a:extLst>
                <a:ext uri="{FF2B5EF4-FFF2-40B4-BE49-F238E27FC236}">
                  <a16:creationId xmlns:a16="http://schemas.microsoft.com/office/drawing/2014/main" id="{4A8E2717-7DBF-7A20-898F-8A4B8D99C916}"/>
                </a:ext>
              </a:extLst>
            </p:cNvPr>
            <p:cNvSpPr>
              <a:spLocks noGrp="1"/>
            </p:cNvSpPr>
            <p:nvPr/>
          </p:nvSpPr>
          <p:spPr>
            <a:xfrm>
              <a:off x="3946844" y="8053769"/>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83" name="MLP to FiLM refined">
              <a:extLst>
                <a:ext uri="{FF2B5EF4-FFF2-40B4-BE49-F238E27FC236}">
                  <a16:creationId xmlns:a16="http://schemas.microsoft.com/office/drawing/2014/main" id="{2C7C678A-F3D0-E51D-2CD6-B41E5CBA7774}"/>
                </a:ext>
              </a:extLst>
            </p:cNvPr>
            <p:cNvSpPr>
              <a:spLocks noGrp="1"/>
            </p:cNvSpPr>
            <p:nvPr/>
          </p:nvSpPr>
          <p:spPr>
            <a:xfrm>
              <a:off x="3546890" y="8968264"/>
              <a:ext cx="1502569" cy="191"/>
            </a:xfrm>
            <a:custGeom>
              <a:avLst/>
              <a:gdLst/>
              <a:ahLst/>
              <a:cxnLst/>
              <a:rect l="0" t="0" r="0" b="0"/>
              <a:pathLst>
                <a:path w="1502569" h="191">
                  <a:moveTo>
                    <a:pt x="0" y="0"/>
                  </a:moveTo>
                  <a:lnTo>
                    <a:pt x="1502569" y="0"/>
                  </a:lnTo>
                </a:path>
              </a:pathLst>
            </a:custGeom>
            <a:noFill/>
            <a:ln w="8505">
              <a:solidFill>
                <a:srgbClr val="3B8C80"/>
              </a:solidFill>
              <a:prstDash val="solid"/>
            </a:ln>
          </p:spPr>
        </p:sp>
        <p:sp>
          <p:nvSpPr>
            <p:cNvPr id="1384" name="MLP to FiLM refined head">
              <a:extLst>
                <a:ext uri="{FF2B5EF4-FFF2-40B4-BE49-F238E27FC236}">
                  <a16:creationId xmlns:a16="http://schemas.microsoft.com/office/drawing/2014/main" id="{E62BF4CB-2DFB-E34F-0A43-259454CA6416}"/>
                </a:ext>
              </a:extLst>
            </p:cNvPr>
            <p:cNvSpPr>
              <a:spLocks noGrp="1"/>
            </p:cNvSpPr>
            <p:nvPr/>
          </p:nvSpPr>
          <p:spPr>
            <a:xfrm>
              <a:off x="5006120" y="8939594"/>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385" name="Summary to FiLM refined">
              <a:extLst>
                <a:ext uri="{FF2B5EF4-FFF2-40B4-BE49-F238E27FC236}">
                  <a16:creationId xmlns:a16="http://schemas.microsoft.com/office/drawing/2014/main" id="{4AD6C56A-E9C3-F934-64AC-D936F1D8505E}"/>
                </a:ext>
              </a:extLst>
            </p:cNvPr>
            <p:cNvSpPr>
              <a:spLocks noGrp="1"/>
            </p:cNvSpPr>
            <p:nvPr/>
          </p:nvSpPr>
          <p:spPr>
            <a:xfrm>
              <a:off x="5426172" y="6400800"/>
              <a:ext cx="191" cy="2367439"/>
            </a:xfrm>
            <a:custGeom>
              <a:avLst/>
              <a:gdLst/>
              <a:ahLst/>
              <a:cxnLst/>
              <a:rect l="0" t="0" r="0" b="0"/>
              <a:pathLst>
                <a:path w="191" h="2367439">
                  <a:moveTo>
                    <a:pt x="0" y="0"/>
                  </a:moveTo>
                  <a:lnTo>
                    <a:pt x="0" y="2367439"/>
                  </a:lnTo>
                </a:path>
              </a:pathLst>
            </a:custGeom>
            <a:noFill/>
            <a:ln w="8505">
              <a:solidFill>
                <a:srgbClr val="4083B4"/>
              </a:solidFill>
              <a:prstDash val="solid"/>
            </a:ln>
          </p:spPr>
        </p:sp>
        <p:sp>
          <p:nvSpPr>
            <p:cNvPr id="1386" name="Summary to FiLM refined head">
              <a:extLst>
                <a:ext uri="{FF2B5EF4-FFF2-40B4-BE49-F238E27FC236}">
                  <a16:creationId xmlns:a16="http://schemas.microsoft.com/office/drawing/2014/main" id="{EEAEF4BF-5039-6C23-B675-9771749FE17A}"/>
                </a:ext>
              </a:extLst>
            </p:cNvPr>
            <p:cNvSpPr>
              <a:spLocks noGrp="1"/>
            </p:cNvSpPr>
            <p:nvPr/>
          </p:nvSpPr>
          <p:spPr>
            <a:xfrm>
              <a:off x="5397502" y="8724900"/>
              <a:ext cx="57340" cy="66675"/>
            </a:xfrm>
            <a:custGeom>
              <a:avLst/>
              <a:gdLst/>
              <a:ahLst/>
              <a:cxnLst/>
              <a:rect l="0" t="0" r="0" b="0"/>
              <a:pathLst>
                <a:path w="57340" h="66675">
                  <a:moveTo>
                    <a:pt x="28670" y="66675"/>
                  </a:moveTo>
                  <a:lnTo>
                    <a:pt x="57340" y="0"/>
                  </a:lnTo>
                  <a:lnTo>
                    <a:pt x="0" y="0"/>
                  </a:lnTo>
                  <a:close/>
                </a:path>
              </a:pathLst>
            </a:custGeom>
            <a:solidFill>
              <a:srgbClr val="4083B4"/>
            </a:solidFill>
            <a:ln w="0">
              <a:noFill/>
              <a:prstDash val="solid"/>
            </a:ln>
          </p:spPr>
        </p:sp>
        <p:sp>
          <p:nvSpPr>
            <p:cNvPr id="1387" name="Summary to cross attention refined">
              <a:extLst>
                <a:ext uri="{FF2B5EF4-FFF2-40B4-BE49-F238E27FC236}">
                  <a16:creationId xmlns:a16="http://schemas.microsoft.com/office/drawing/2014/main" id="{EFD90DBF-A222-410E-15F3-D541CA16A8AE}"/>
                </a:ext>
              </a:extLst>
            </p:cNvPr>
            <p:cNvSpPr>
              <a:spLocks noGrp="1"/>
            </p:cNvSpPr>
            <p:nvPr/>
          </p:nvSpPr>
          <p:spPr>
            <a:xfrm>
              <a:off x="4761327" y="8297132"/>
              <a:ext cx="664845" cy="191"/>
            </a:xfrm>
            <a:custGeom>
              <a:avLst/>
              <a:gdLst/>
              <a:ahLst/>
              <a:cxnLst/>
              <a:rect l="0" t="0" r="0" b="0"/>
              <a:pathLst>
                <a:path w="664845" h="191">
                  <a:moveTo>
                    <a:pt x="664845" y="0"/>
                  </a:moveTo>
                  <a:lnTo>
                    <a:pt x="0" y="0"/>
                  </a:lnTo>
                </a:path>
              </a:pathLst>
            </a:custGeom>
            <a:noFill/>
            <a:ln w="8505">
              <a:solidFill>
                <a:srgbClr val="4083B4"/>
              </a:solidFill>
              <a:prstDash val="solid"/>
            </a:ln>
          </p:spPr>
        </p:sp>
        <p:sp>
          <p:nvSpPr>
            <p:cNvPr id="1388" name="Summary to cross attention refined head">
              <a:extLst>
                <a:ext uri="{FF2B5EF4-FFF2-40B4-BE49-F238E27FC236}">
                  <a16:creationId xmlns:a16="http://schemas.microsoft.com/office/drawing/2014/main" id="{91B08F31-0339-9716-3395-2B3F8970BA82}"/>
                </a:ext>
              </a:extLst>
            </p:cNvPr>
            <p:cNvSpPr>
              <a:spLocks noGrp="1"/>
            </p:cNvSpPr>
            <p:nvPr/>
          </p:nvSpPr>
          <p:spPr>
            <a:xfrm>
              <a:off x="4737991" y="8268462"/>
              <a:ext cx="66675" cy="57340"/>
            </a:xfrm>
            <a:custGeom>
              <a:avLst/>
              <a:gdLst/>
              <a:ahLst/>
              <a:cxnLst/>
              <a:rect l="0" t="0" r="0" b="0"/>
              <a:pathLst>
                <a:path w="66675" h="57340">
                  <a:moveTo>
                    <a:pt x="0" y="28670"/>
                  </a:moveTo>
                  <a:lnTo>
                    <a:pt x="66675" y="57340"/>
                  </a:lnTo>
                  <a:lnTo>
                    <a:pt x="66675" y="0"/>
                  </a:lnTo>
                  <a:close/>
                </a:path>
              </a:pathLst>
            </a:custGeom>
            <a:solidFill>
              <a:srgbClr val="4083B4"/>
            </a:solidFill>
            <a:ln w="0">
              <a:noFill/>
              <a:prstDash val="solid"/>
            </a:ln>
          </p:spPr>
        </p:sp>
        <p:sp>
          <p:nvSpPr>
            <p:cNvPr id="1389" name="FiLM to candidate refined">
              <a:extLst>
                <a:ext uri="{FF2B5EF4-FFF2-40B4-BE49-F238E27FC236}">
                  <a16:creationId xmlns:a16="http://schemas.microsoft.com/office/drawing/2014/main" id="{25FC3F76-C3DD-1537-7837-64B9361AE243}"/>
                </a:ext>
              </a:extLst>
            </p:cNvPr>
            <p:cNvSpPr>
              <a:spLocks noGrp="1"/>
            </p:cNvSpPr>
            <p:nvPr/>
          </p:nvSpPr>
          <p:spPr>
            <a:xfrm>
              <a:off x="5426172" y="9144953"/>
              <a:ext cx="191" cy="215360"/>
            </a:xfrm>
            <a:custGeom>
              <a:avLst/>
              <a:gdLst/>
              <a:ahLst/>
              <a:cxnLst/>
              <a:rect l="0" t="0" r="0" b="0"/>
              <a:pathLst>
                <a:path w="191" h="215360">
                  <a:moveTo>
                    <a:pt x="0" y="0"/>
                  </a:moveTo>
                  <a:lnTo>
                    <a:pt x="0" y="215360"/>
                  </a:lnTo>
                </a:path>
              </a:pathLst>
            </a:custGeom>
            <a:noFill/>
            <a:ln w="8505">
              <a:solidFill>
                <a:srgbClr val="3B8C80"/>
              </a:solidFill>
              <a:prstDash val="solid"/>
            </a:ln>
          </p:spPr>
        </p:sp>
        <p:sp>
          <p:nvSpPr>
            <p:cNvPr id="1390" name="FiLM to candidate refined head">
              <a:extLst>
                <a:ext uri="{FF2B5EF4-FFF2-40B4-BE49-F238E27FC236}">
                  <a16:creationId xmlns:a16="http://schemas.microsoft.com/office/drawing/2014/main" id="{7A05C2E3-B0E7-7DA8-4847-EC91C004D35D}"/>
                </a:ext>
              </a:extLst>
            </p:cNvPr>
            <p:cNvSpPr>
              <a:spLocks noGrp="1"/>
            </p:cNvSpPr>
            <p:nvPr/>
          </p:nvSpPr>
          <p:spPr>
            <a:xfrm>
              <a:off x="5397502" y="9316974"/>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91" name="Candidate to foreground refined">
              <a:extLst>
                <a:ext uri="{FF2B5EF4-FFF2-40B4-BE49-F238E27FC236}">
                  <a16:creationId xmlns:a16="http://schemas.microsoft.com/office/drawing/2014/main" id="{FE203BD6-3778-87C2-8526-E332B5B380C4}"/>
                </a:ext>
              </a:extLst>
            </p:cNvPr>
            <p:cNvSpPr>
              <a:spLocks noGrp="1"/>
            </p:cNvSpPr>
            <p:nvPr/>
          </p:nvSpPr>
          <p:spPr>
            <a:xfrm>
              <a:off x="2617154" y="9525000"/>
              <a:ext cx="2809018" cy="286702"/>
            </a:xfrm>
            <a:custGeom>
              <a:avLst/>
              <a:gdLst/>
              <a:ahLst/>
              <a:cxnLst/>
              <a:rect l="0" t="0" r="0" b="0"/>
              <a:pathLst>
                <a:path w="2809018" h="286702">
                  <a:moveTo>
                    <a:pt x="2809018" y="0"/>
                  </a:moveTo>
                  <a:lnTo>
                    <a:pt x="2809018" y="95250"/>
                  </a:lnTo>
                  <a:lnTo>
                    <a:pt x="0" y="95250"/>
                  </a:lnTo>
                  <a:lnTo>
                    <a:pt x="0" y="286702"/>
                  </a:lnTo>
                </a:path>
              </a:pathLst>
            </a:custGeom>
            <a:noFill/>
            <a:ln w="8505">
              <a:solidFill>
                <a:srgbClr val="3B8C80"/>
              </a:solidFill>
              <a:prstDash val="solid"/>
            </a:ln>
          </p:spPr>
        </p:sp>
        <p:sp>
          <p:nvSpPr>
            <p:cNvPr id="1392" name="Candidate to foreground refined head">
              <a:extLst>
                <a:ext uri="{FF2B5EF4-FFF2-40B4-BE49-F238E27FC236}">
                  <a16:creationId xmlns:a16="http://schemas.microsoft.com/office/drawing/2014/main" id="{D2B7433A-243E-C206-1CB1-3F191E6AD029}"/>
                </a:ext>
              </a:extLst>
            </p:cNvPr>
            <p:cNvSpPr>
              <a:spLocks noGrp="1"/>
            </p:cNvSpPr>
            <p:nvPr/>
          </p:nvSpPr>
          <p:spPr>
            <a:xfrm>
              <a:off x="2588484" y="9768364"/>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93" name="Foreground to probability refined">
              <a:extLst>
                <a:ext uri="{FF2B5EF4-FFF2-40B4-BE49-F238E27FC236}">
                  <a16:creationId xmlns:a16="http://schemas.microsoft.com/office/drawing/2014/main" id="{D5A6B998-ADFA-E982-8C35-E6D90114C21C}"/>
                </a:ext>
              </a:extLst>
            </p:cNvPr>
            <p:cNvSpPr>
              <a:spLocks noGrp="1"/>
            </p:cNvSpPr>
            <p:nvPr/>
          </p:nvSpPr>
          <p:spPr>
            <a:xfrm>
              <a:off x="3417159" y="9971532"/>
              <a:ext cx="600742" cy="191"/>
            </a:xfrm>
            <a:custGeom>
              <a:avLst/>
              <a:gdLst/>
              <a:ahLst/>
              <a:cxnLst/>
              <a:rect l="0" t="0" r="0" b="0"/>
              <a:pathLst>
                <a:path w="600742" h="191">
                  <a:moveTo>
                    <a:pt x="0" y="0"/>
                  </a:moveTo>
                  <a:lnTo>
                    <a:pt x="600742" y="0"/>
                  </a:lnTo>
                </a:path>
              </a:pathLst>
            </a:custGeom>
            <a:noFill/>
            <a:ln w="8505">
              <a:solidFill>
                <a:srgbClr val="3B8C80"/>
              </a:solidFill>
              <a:prstDash val="solid"/>
            </a:ln>
          </p:spPr>
        </p:sp>
        <p:sp>
          <p:nvSpPr>
            <p:cNvPr id="1394" name="Foreground to probability refined head">
              <a:extLst>
                <a:ext uri="{FF2B5EF4-FFF2-40B4-BE49-F238E27FC236}">
                  <a16:creationId xmlns:a16="http://schemas.microsoft.com/office/drawing/2014/main" id="{660BE4D6-2608-6E09-7FF4-AD7C50994699}"/>
                </a:ext>
              </a:extLst>
            </p:cNvPr>
            <p:cNvSpPr>
              <a:spLocks noGrp="1"/>
            </p:cNvSpPr>
            <p:nvPr/>
          </p:nvSpPr>
          <p:spPr>
            <a:xfrm>
              <a:off x="3974562" y="9942862"/>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395" name="Candidate to cosine refined">
              <a:extLst>
                <a:ext uri="{FF2B5EF4-FFF2-40B4-BE49-F238E27FC236}">
                  <a16:creationId xmlns:a16="http://schemas.microsoft.com/office/drawing/2014/main" id="{22A5040B-9402-AB7D-9094-F4BF5F10ADD2}"/>
                </a:ext>
              </a:extLst>
            </p:cNvPr>
            <p:cNvSpPr>
              <a:spLocks noGrp="1"/>
            </p:cNvSpPr>
            <p:nvPr/>
          </p:nvSpPr>
          <p:spPr>
            <a:xfrm>
              <a:off x="5426172" y="9525000"/>
              <a:ext cx="2143887" cy="446532"/>
            </a:xfrm>
            <a:custGeom>
              <a:avLst/>
              <a:gdLst/>
              <a:ahLst/>
              <a:cxnLst/>
              <a:rect l="0" t="0" r="0" b="0"/>
              <a:pathLst>
                <a:path w="2143887" h="446532">
                  <a:moveTo>
                    <a:pt x="0" y="0"/>
                  </a:moveTo>
                  <a:lnTo>
                    <a:pt x="0" y="446532"/>
                  </a:lnTo>
                  <a:lnTo>
                    <a:pt x="2143887" y="446532"/>
                  </a:lnTo>
                </a:path>
              </a:pathLst>
            </a:custGeom>
            <a:noFill/>
            <a:ln w="8505">
              <a:solidFill>
                <a:srgbClr val="3B8C80"/>
              </a:solidFill>
              <a:prstDash val="solid"/>
            </a:ln>
          </p:spPr>
        </p:sp>
        <p:sp>
          <p:nvSpPr>
            <p:cNvPr id="1396" name="Candidate to cosine refined head">
              <a:extLst>
                <a:ext uri="{FF2B5EF4-FFF2-40B4-BE49-F238E27FC236}">
                  <a16:creationId xmlns:a16="http://schemas.microsoft.com/office/drawing/2014/main" id="{D0F3AAE9-EBC0-FC07-AF0A-FBDAD938D93E}"/>
                </a:ext>
              </a:extLst>
            </p:cNvPr>
            <p:cNvSpPr>
              <a:spLocks noGrp="1"/>
            </p:cNvSpPr>
            <p:nvPr/>
          </p:nvSpPr>
          <p:spPr>
            <a:xfrm>
              <a:off x="7526720" y="9942862"/>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397" name="Selected identity to graph refined">
              <a:extLst>
                <a:ext uri="{FF2B5EF4-FFF2-40B4-BE49-F238E27FC236}">
                  <a16:creationId xmlns:a16="http://schemas.microsoft.com/office/drawing/2014/main" id="{2545D43E-9B8D-BA3E-80CD-880BD63B35AE}"/>
                </a:ext>
              </a:extLst>
            </p:cNvPr>
            <p:cNvSpPr>
              <a:spLocks noGrp="1"/>
            </p:cNvSpPr>
            <p:nvPr/>
          </p:nvSpPr>
          <p:spPr>
            <a:xfrm>
              <a:off x="6960840" y="6134481"/>
              <a:ext cx="651129" cy="595217"/>
            </a:xfrm>
            <a:custGeom>
              <a:avLst/>
              <a:gdLst/>
              <a:ahLst/>
              <a:cxnLst/>
              <a:rect l="0" t="0" r="0" b="0"/>
              <a:pathLst>
                <a:path w="651129" h="595217">
                  <a:moveTo>
                    <a:pt x="651129" y="0"/>
                  </a:moveTo>
                  <a:lnTo>
                    <a:pt x="0" y="0"/>
                  </a:lnTo>
                  <a:lnTo>
                    <a:pt x="0" y="595217"/>
                  </a:lnTo>
                </a:path>
              </a:pathLst>
            </a:custGeom>
            <a:noFill/>
            <a:ln w="8505">
              <a:solidFill>
                <a:srgbClr val="3B8C80"/>
              </a:solidFill>
              <a:prstDash val="solid"/>
            </a:ln>
          </p:spPr>
        </p:sp>
        <p:sp>
          <p:nvSpPr>
            <p:cNvPr id="1398" name="Selected identity to graph refined head">
              <a:extLst>
                <a:ext uri="{FF2B5EF4-FFF2-40B4-BE49-F238E27FC236}">
                  <a16:creationId xmlns:a16="http://schemas.microsoft.com/office/drawing/2014/main" id="{2F033F6F-AC85-37DE-479C-D063C3DB8E25}"/>
                </a:ext>
              </a:extLst>
            </p:cNvPr>
            <p:cNvSpPr>
              <a:spLocks noGrp="1"/>
            </p:cNvSpPr>
            <p:nvPr/>
          </p:nvSpPr>
          <p:spPr>
            <a:xfrm>
              <a:off x="6932170" y="6686360"/>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99" name="Graph to GNN refined">
              <a:extLst>
                <a:ext uri="{FF2B5EF4-FFF2-40B4-BE49-F238E27FC236}">
                  <a16:creationId xmlns:a16="http://schemas.microsoft.com/office/drawing/2014/main" id="{7EF864D3-D6E3-5180-82C2-0A0AE886C150}"/>
                </a:ext>
              </a:extLst>
            </p:cNvPr>
            <p:cNvSpPr>
              <a:spLocks noGrp="1"/>
            </p:cNvSpPr>
            <p:nvPr/>
          </p:nvSpPr>
          <p:spPr>
            <a:xfrm>
              <a:off x="6960840" y="7441406"/>
              <a:ext cx="191" cy="153448"/>
            </a:xfrm>
            <a:custGeom>
              <a:avLst/>
              <a:gdLst/>
              <a:ahLst/>
              <a:cxnLst/>
              <a:rect l="0" t="0" r="0" b="0"/>
              <a:pathLst>
                <a:path w="191" h="153448">
                  <a:moveTo>
                    <a:pt x="0" y="0"/>
                  </a:moveTo>
                  <a:lnTo>
                    <a:pt x="0" y="153448"/>
                  </a:lnTo>
                </a:path>
              </a:pathLst>
            </a:custGeom>
            <a:noFill/>
            <a:ln w="8505">
              <a:solidFill>
                <a:srgbClr val="3B8C80"/>
              </a:solidFill>
              <a:prstDash val="solid"/>
            </a:ln>
          </p:spPr>
        </p:sp>
        <p:sp>
          <p:nvSpPr>
            <p:cNvPr id="1400" name="Graph to GNN refined head">
              <a:extLst>
                <a:ext uri="{FF2B5EF4-FFF2-40B4-BE49-F238E27FC236}">
                  <a16:creationId xmlns:a16="http://schemas.microsoft.com/office/drawing/2014/main" id="{B23BD653-4893-2671-9B86-7F888A6E5617}"/>
                </a:ext>
              </a:extLst>
            </p:cNvPr>
            <p:cNvSpPr>
              <a:spLocks noGrp="1"/>
            </p:cNvSpPr>
            <p:nvPr/>
          </p:nvSpPr>
          <p:spPr>
            <a:xfrm>
              <a:off x="6932170" y="7551515"/>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1" name="GNN to graph attention refined">
              <a:extLst>
                <a:ext uri="{FF2B5EF4-FFF2-40B4-BE49-F238E27FC236}">
                  <a16:creationId xmlns:a16="http://schemas.microsoft.com/office/drawing/2014/main" id="{B0DCC1B2-7C1A-332C-0127-08382278DBC6}"/>
                </a:ext>
              </a:extLst>
            </p:cNvPr>
            <p:cNvSpPr>
              <a:spLocks noGrp="1"/>
            </p:cNvSpPr>
            <p:nvPr/>
          </p:nvSpPr>
          <p:spPr>
            <a:xfrm>
              <a:off x="6960840" y="7934420"/>
              <a:ext cx="191" cy="274320"/>
            </a:xfrm>
            <a:custGeom>
              <a:avLst/>
              <a:gdLst/>
              <a:ahLst/>
              <a:cxnLst/>
              <a:rect l="0" t="0" r="0" b="0"/>
              <a:pathLst>
                <a:path w="191" h="274320">
                  <a:moveTo>
                    <a:pt x="0" y="0"/>
                  </a:moveTo>
                  <a:lnTo>
                    <a:pt x="0" y="274320"/>
                  </a:lnTo>
                </a:path>
              </a:pathLst>
            </a:custGeom>
            <a:noFill/>
            <a:ln w="8505">
              <a:solidFill>
                <a:srgbClr val="3B8C80"/>
              </a:solidFill>
              <a:prstDash val="solid"/>
            </a:ln>
          </p:spPr>
        </p:sp>
        <p:sp>
          <p:nvSpPr>
            <p:cNvPr id="1402" name="GNN to graph attention refined head">
              <a:extLst>
                <a:ext uri="{FF2B5EF4-FFF2-40B4-BE49-F238E27FC236}">
                  <a16:creationId xmlns:a16="http://schemas.microsoft.com/office/drawing/2014/main" id="{F5D1A0D2-1869-EB89-61A3-D3ABFE580C35}"/>
                </a:ext>
              </a:extLst>
            </p:cNvPr>
            <p:cNvSpPr>
              <a:spLocks noGrp="1"/>
            </p:cNvSpPr>
            <p:nvPr/>
          </p:nvSpPr>
          <p:spPr>
            <a:xfrm>
              <a:off x="6932170" y="8165402"/>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3" name="Identity to SMI-TED refined">
              <a:extLst>
                <a:ext uri="{FF2B5EF4-FFF2-40B4-BE49-F238E27FC236}">
                  <a16:creationId xmlns:a16="http://schemas.microsoft.com/office/drawing/2014/main" id="{416B661C-118E-CA99-59DC-DA4857A74E2E}"/>
                </a:ext>
              </a:extLst>
            </p:cNvPr>
            <p:cNvSpPr>
              <a:spLocks noGrp="1"/>
            </p:cNvSpPr>
            <p:nvPr/>
          </p:nvSpPr>
          <p:spPr>
            <a:xfrm>
              <a:off x="8530941" y="6638068"/>
              <a:ext cx="191" cy="326993"/>
            </a:xfrm>
            <a:custGeom>
              <a:avLst/>
              <a:gdLst/>
              <a:ahLst/>
              <a:cxnLst/>
              <a:rect l="0" t="0" r="0" b="0"/>
              <a:pathLst>
                <a:path w="191" h="326993">
                  <a:moveTo>
                    <a:pt x="0" y="0"/>
                  </a:moveTo>
                  <a:lnTo>
                    <a:pt x="0" y="326993"/>
                  </a:lnTo>
                </a:path>
              </a:pathLst>
            </a:custGeom>
            <a:noFill/>
            <a:ln w="8505">
              <a:solidFill>
                <a:srgbClr val="3B8C80"/>
              </a:solidFill>
              <a:prstDash val="solid"/>
            </a:ln>
          </p:spPr>
        </p:sp>
        <p:sp>
          <p:nvSpPr>
            <p:cNvPr id="1404" name="Identity to SMI-TED refined head">
              <a:extLst>
                <a:ext uri="{FF2B5EF4-FFF2-40B4-BE49-F238E27FC236}">
                  <a16:creationId xmlns:a16="http://schemas.microsoft.com/office/drawing/2014/main" id="{0BA2F96A-2AFB-7C00-99C8-78C9DC78B848}"/>
                </a:ext>
              </a:extLst>
            </p:cNvPr>
            <p:cNvSpPr>
              <a:spLocks noGrp="1"/>
            </p:cNvSpPr>
            <p:nvPr/>
          </p:nvSpPr>
          <p:spPr>
            <a:xfrm>
              <a:off x="8502271" y="6921722"/>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5" name="SMI-TED to language refined">
              <a:extLst>
                <a:ext uri="{FF2B5EF4-FFF2-40B4-BE49-F238E27FC236}">
                  <a16:creationId xmlns:a16="http://schemas.microsoft.com/office/drawing/2014/main" id="{688B9630-847C-74A2-04EF-D75E08D7E423}"/>
                </a:ext>
              </a:extLst>
            </p:cNvPr>
            <p:cNvSpPr>
              <a:spLocks noGrp="1"/>
            </p:cNvSpPr>
            <p:nvPr/>
          </p:nvSpPr>
          <p:spPr>
            <a:xfrm>
              <a:off x="8530941" y="7304627"/>
              <a:ext cx="191" cy="1013841"/>
            </a:xfrm>
            <a:custGeom>
              <a:avLst/>
              <a:gdLst/>
              <a:ahLst/>
              <a:cxnLst/>
              <a:rect l="0" t="0" r="0" b="0"/>
              <a:pathLst>
                <a:path w="191" h="1013841">
                  <a:moveTo>
                    <a:pt x="0" y="0"/>
                  </a:moveTo>
                  <a:lnTo>
                    <a:pt x="0" y="1013841"/>
                  </a:lnTo>
                </a:path>
              </a:pathLst>
            </a:custGeom>
            <a:noFill/>
            <a:ln w="8505">
              <a:solidFill>
                <a:srgbClr val="3B8C80"/>
              </a:solidFill>
              <a:prstDash val="solid"/>
            </a:ln>
          </p:spPr>
        </p:sp>
        <p:sp>
          <p:nvSpPr>
            <p:cNvPr id="1406" name="SMI-TED to language refined head">
              <a:extLst>
                <a:ext uri="{FF2B5EF4-FFF2-40B4-BE49-F238E27FC236}">
                  <a16:creationId xmlns:a16="http://schemas.microsoft.com/office/drawing/2014/main" id="{7251A2B8-D12B-A433-6B0D-10AA76953AAB}"/>
                </a:ext>
              </a:extLst>
            </p:cNvPr>
            <p:cNvSpPr>
              <a:spLocks noGrp="1"/>
            </p:cNvSpPr>
            <p:nvPr/>
          </p:nvSpPr>
          <p:spPr>
            <a:xfrm>
              <a:off x="8502271" y="8275130"/>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7" name="Other identities refined">
              <a:extLst>
                <a:ext uri="{FF2B5EF4-FFF2-40B4-BE49-F238E27FC236}">
                  <a16:creationId xmlns:a16="http://schemas.microsoft.com/office/drawing/2014/main" id="{A4787BA6-E950-16B8-B01A-9B4C92E13C7A}"/>
                </a:ext>
              </a:extLst>
            </p:cNvPr>
            <p:cNvSpPr>
              <a:spLocks noGrp="1"/>
            </p:cNvSpPr>
            <p:nvPr/>
          </p:nvSpPr>
          <p:spPr>
            <a:xfrm>
              <a:off x="9509540" y="5581174"/>
              <a:ext cx="613886" cy="1373695"/>
            </a:xfrm>
            <a:custGeom>
              <a:avLst/>
              <a:gdLst/>
              <a:ahLst/>
              <a:cxnLst/>
              <a:rect l="0" t="0" r="0" b="0"/>
              <a:pathLst>
                <a:path w="613886" h="1373695">
                  <a:moveTo>
                    <a:pt x="0" y="0"/>
                  </a:moveTo>
                  <a:lnTo>
                    <a:pt x="613886" y="0"/>
                  </a:lnTo>
                  <a:lnTo>
                    <a:pt x="613886" y="1373695"/>
                  </a:lnTo>
                </a:path>
              </a:pathLst>
            </a:custGeom>
            <a:noFill/>
            <a:ln w="8505">
              <a:solidFill>
                <a:srgbClr val="3B8C80"/>
              </a:solidFill>
              <a:prstDash val="solid"/>
            </a:ln>
          </p:spPr>
        </p:sp>
        <p:sp>
          <p:nvSpPr>
            <p:cNvPr id="1408" name="Other identities refined head">
              <a:extLst>
                <a:ext uri="{FF2B5EF4-FFF2-40B4-BE49-F238E27FC236}">
                  <a16:creationId xmlns:a16="http://schemas.microsoft.com/office/drawing/2014/main" id="{9D094DDB-3471-ECAC-BCA5-E9612E620328}"/>
                </a:ext>
              </a:extLst>
            </p:cNvPr>
            <p:cNvSpPr>
              <a:spLocks noGrp="1"/>
            </p:cNvSpPr>
            <p:nvPr/>
          </p:nvSpPr>
          <p:spPr>
            <a:xfrm>
              <a:off x="10094756" y="6911531"/>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9" name="Other identities middle refined">
              <a:extLst>
                <a:ext uri="{FF2B5EF4-FFF2-40B4-BE49-F238E27FC236}">
                  <a16:creationId xmlns:a16="http://schemas.microsoft.com/office/drawing/2014/main" id="{43A875F1-64CC-3AE0-16D0-832B017C6CB3}"/>
                </a:ext>
              </a:extLst>
            </p:cNvPr>
            <p:cNvSpPr>
              <a:spLocks noGrp="1"/>
            </p:cNvSpPr>
            <p:nvPr/>
          </p:nvSpPr>
          <p:spPr>
            <a:xfrm>
              <a:off x="9509540" y="5851112"/>
              <a:ext cx="613886" cy="191"/>
            </a:xfrm>
            <a:custGeom>
              <a:avLst/>
              <a:gdLst/>
              <a:ahLst/>
              <a:cxnLst/>
              <a:rect l="0" t="0" r="0" b="0"/>
              <a:pathLst>
                <a:path w="613886" h="191">
                  <a:moveTo>
                    <a:pt x="0" y="0"/>
                  </a:moveTo>
                  <a:lnTo>
                    <a:pt x="613886" y="0"/>
                  </a:lnTo>
                </a:path>
              </a:pathLst>
            </a:custGeom>
            <a:noFill/>
            <a:ln w="8505">
              <a:solidFill>
                <a:srgbClr val="3B8C80"/>
              </a:solidFill>
              <a:prstDash val="solid"/>
            </a:ln>
          </p:spPr>
        </p:sp>
        <p:sp>
          <p:nvSpPr>
            <p:cNvPr id="1410" name="Other identities lower refined">
              <a:extLst>
                <a:ext uri="{FF2B5EF4-FFF2-40B4-BE49-F238E27FC236}">
                  <a16:creationId xmlns:a16="http://schemas.microsoft.com/office/drawing/2014/main" id="{D83A070A-E1D1-4067-2310-74DC30F9F921}"/>
                </a:ext>
              </a:extLst>
            </p:cNvPr>
            <p:cNvSpPr>
              <a:spLocks noGrp="1"/>
            </p:cNvSpPr>
            <p:nvPr/>
          </p:nvSpPr>
          <p:spPr>
            <a:xfrm>
              <a:off x="9509540" y="6533293"/>
              <a:ext cx="613886" cy="191"/>
            </a:xfrm>
            <a:custGeom>
              <a:avLst/>
              <a:gdLst/>
              <a:ahLst/>
              <a:cxnLst/>
              <a:rect l="0" t="0" r="0" b="0"/>
              <a:pathLst>
                <a:path w="613886" h="191">
                  <a:moveTo>
                    <a:pt x="0" y="0"/>
                  </a:moveTo>
                  <a:lnTo>
                    <a:pt x="613886" y="0"/>
                  </a:lnTo>
                </a:path>
              </a:pathLst>
            </a:custGeom>
            <a:noFill/>
            <a:ln w="8505">
              <a:solidFill>
                <a:srgbClr val="3B8C80"/>
              </a:solidFill>
              <a:prstDash val="solid"/>
            </a:ln>
          </p:spPr>
        </p:sp>
        <p:sp>
          <p:nvSpPr>
            <p:cNvPr id="1411" name="Context SMI-TED to matrix refined">
              <a:extLst>
                <a:ext uri="{FF2B5EF4-FFF2-40B4-BE49-F238E27FC236}">
                  <a16:creationId xmlns:a16="http://schemas.microsoft.com/office/drawing/2014/main" id="{3BA39657-BA55-8B03-4B42-2E8CA0F2402A}"/>
                </a:ext>
              </a:extLst>
            </p:cNvPr>
            <p:cNvSpPr>
              <a:spLocks noGrp="1"/>
            </p:cNvSpPr>
            <p:nvPr/>
          </p:nvSpPr>
          <p:spPr>
            <a:xfrm>
              <a:off x="10133903" y="7294436"/>
              <a:ext cx="191" cy="264128"/>
            </a:xfrm>
            <a:custGeom>
              <a:avLst/>
              <a:gdLst/>
              <a:ahLst/>
              <a:cxnLst/>
              <a:rect l="0" t="0" r="0" b="0"/>
              <a:pathLst>
                <a:path w="191" h="264128">
                  <a:moveTo>
                    <a:pt x="0" y="0"/>
                  </a:moveTo>
                  <a:lnTo>
                    <a:pt x="0" y="264128"/>
                  </a:lnTo>
                </a:path>
              </a:pathLst>
            </a:custGeom>
            <a:noFill/>
            <a:ln w="8505">
              <a:solidFill>
                <a:srgbClr val="3B8C80"/>
              </a:solidFill>
              <a:prstDash val="solid"/>
            </a:ln>
          </p:spPr>
        </p:sp>
        <p:sp>
          <p:nvSpPr>
            <p:cNvPr id="1412" name="Context SMI-TED to matrix refined head">
              <a:extLst>
                <a:ext uri="{FF2B5EF4-FFF2-40B4-BE49-F238E27FC236}">
                  <a16:creationId xmlns:a16="http://schemas.microsoft.com/office/drawing/2014/main" id="{46BBCF7E-77B7-430B-5E68-8D5D4D07C9BA}"/>
                </a:ext>
              </a:extLst>
            </p:cNvPr>
            <p:cNvSpPr>
              <a:spLocks noGrp="1"/>
            </p:cNvSpPr>
            <p:nvPr/>
          </p:nvSpPr>
          <p:spPr>
            <a:xfrm>
              <a:off x="10105233" y="7515225"/>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13" name="Context matrix to attention refined">
              <a:extLst>
                <a:ext uri="{FF2B5EF4-FFF2-40B4-BE49-F238E27FC236}">
                  <a16:creationId xmlns:a16="http://schemas.microsoft.com/office/drawing/2014/main" id="{19123C2B-08C0-5942-5974-56E3DB290164}"/>
                </a:ext>
              </a:extLst>
            </p:cNvPr>
            <p:cNvSpPr>
              <a:spLocks noGrp="1"/>
            </p:cNvSpPr>
            <p:nvPr/>
          </p:nvSpPr>
          <p:spPr>
            <a:xfrm>
              <a:off x="10123426" y="7958995"/>
              <a:ext cx="191" cy="249745"/>
            </a:xfrm>
            <a:custGeom>
              <a:avLst/>
              <a:gdLst/>
              <a:ahLst/>
              <a:cxnLst/>
              <a:rect l="0" t="0" r="0" b="0"/>
              <a:pathLst>
                <a:path w="191" h="249745">
                  <a:moveTo>
                    <a:pt x="0" y="0"/>
                  </a:moveTo>
                  <a:lnTo>
                    <a:pt x="0" y="249745"/>
                  </a:lnTo>
                </a:path>
              </a:pathLst>
            </a:custGeom>
            <a:noFill/>
            <a:ln w="8505">
              <a:solidFill>
                <a:srgbClr val="3B8C80"/>
              </a:solidFill>
              <a:prstDash val="solid"/>
            </a:ln>
          </p:spPr>
        </p:sp>
        <p:sp>
          <p:nvSpPr>
            <p:cNvPr id="1414" name="Context matrix to attention refined head">
              <a:extLst>
                <a:ext uri="{FF2B5EF4-FFF2-40B4-BE49-F238E27FC236}">
                  <a16:creationId xmlns:a16="http://schemas.microsoft.com/office/drawing/2014/main" id="{F6D726DD-707A-38A3-9C89-49061435E2BF}"/>
                </a:ext>
              </a:extLst>
            </p:cNvPr>
            <p:cNvSpPr>
              <a:spLocks noGrp="1"/>
            </p:cNvSpPr>
            <p:nvPr/>
          </p:nvSpPr>
          <p:spPr>
            <a:xfrm>
              <a:off x="10094756" y="8165402"/>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15" name="Language query left refined">
              <a:extLst>
                <a:ext uri="{FF2B5EF4-FFF2-40B4-BE49-F238E27FC236}">
                  <a16:creationId xmlns:a16="http://schemas.microsoft.com/office/drawing/2014/main" id="{739AFAAD-E669-E2AC-687E-E59FC6E7FAD2}"/>
                </a:ext>
              </a:extLst>
            </p:cNvPr>
            <p:cNvSpPr>
              <a:spLocks noGrp="1"/>
            </p:cNvSpPr>
            <p:nvPr/>
          </p:nvSpPr>
          <p:spPr>
            <a:xfrm>
              <a:off x="7709696" y="8408765"/>
              <a:ext cx="479012" cy="191"/>
            </a:xfrm>
            <a:custGeom>
              <a:avLst/>
              <a:gdLst/>
              <a:ahLst/>
              <a:cxnLst/>
              <a:rect l="0" t="0" r="0" b="0"/>
              <a:pathLst>
                <a:path w="479012" h="191">
                  <a:moveTo>
                    <a:pt x="479012" y="0"/>
                  </a:moveTo>
                  <a:lnTo>
                    <a:pt x="0" y="0"/>
                  </a:lnTo>
                </a:path>
              </a:pathLst>
            </a:custGeom>
            <a:noFill/>
            <a:ln w="8505">
              <a:solidFill>
                <a:srgbClr val="3B8C80"/>
              </a:solidFill>
              <a:prstDash val="solid"/>
            </a:ln>
          </p:spPr>
        </p:sp>
        <p:sp>
          <p:nvSpPr>
            <p:cNvPr id="1416" name="Language query left refined head">
              <a:extLst>
                <a:ext uri="{FF2B5EF4-FFF2-40B4-BE49-F238E27FC236}">
                  <a16:creationId xmlns:a16="http://schemas.microsoft.com/office/drawing/2014/main" id="{98D92A42-D662-B44C-CD57-583BDD75174C}"/>
                </a:ext>
              </a:extLst>
            </p:cNvPr>
            <p:cNvSpPr>
              <a:spLocks noGrp="1"/>
            </p:cNvSpPr>
            <p:nvPr/>
          </p:nvSpPr>
          <p:spPr>
            <a:xfrm>
              <a:off x="7686359" y="8380095"/>
              <a:ext cx="66675" cy="57340"/>
            </a:xfrm>
            <a:custGeom>
              <a:avLst/>
              <a:gdLst/>
              <a:ahLst/>
              <a:cxnLst/>
              <a:rect l="0" t="0" r="0" b="0"/>
              <a:pathLst>
                <a:path w="66675" h="57340">
                  <a:moveTo>
                    <a:pt x="0" y="28670"/>
                  </a:moveTo>
                  <a:lnTo>
                    <a:pt x="66675" y="57340"/>
                  </a:lnTo>
                  <a:lnTo>
                    <a:pt x="66675" y="0"/>
                  </a:lnTo>
                  <a:close/>
                </a:path>
              </a:pathLst>
            </a:custGeom>
            <a:solidFill>
              <a:srgbClr val="3B8C80"/>
            </a:solidFill>
            <a:ln w="0">
              <a:noFill/>
              <a:prstDash val="solid"/>
            </a:ln>
          </p:spPr>
        </p:sp>
        <p:sp>
          <p:nvSpPr>
            <p:cNvPr id="1417" name="Language query right refined">
              <a:extLst>
                <a:ext uri="{FF2B5EF4-FFF2-40B4-BE49-F238E27FC236}">
                  <a16:creationId xmlns:a16="http://schemas.microsoft.com/office/drawing/2014/main" id="{97C332FD-B4F7-4A69-7F24-BE35ED3CC233}"/>
                </a:ext>
              </a:extLst>
            </p:cNvPr>
            <p:cNvSpPr>
              <a:spLocks noGrp="1"/>
            </p:cNvSpPr>
            <p:nvPr/>
          </p:nvSpPr>
          <p:spPr>
            <a:xfrm>
              <a:off x="8858411" y="8408765"/>
              <a:ext cx="478917" cy="191"/>
            </a:xfrm>
            <a:custGeom>
              <a:avLst/>
              <a:gdLst/>
              <a:ahLst/>
              <a:cxnLst/>
              <a:rect l="0" t="0" r="0" b="0"/>
              <a:pathLst>
                <a:path w="478917" h="191">
                  <a:moveTo>
                    <a:pt x="0" y="0"/>
                  </a:moveTo>
                  <a:lnTo>
                    <a:pt x="478917" y="0"/>
                  </a:lnTo>
                </a:path>
              </a:pathLst>
            </a:custGeom>
            <a:noFill/>
            <a:ln w="8505">
              <a:solidFill>
                <a:srgbClr val="3B8C80"/>
              </a:solidFill>
              <a:prstDash val="solid"/>
            </a:ln>
          </p:spPr>
        </p:sp>
        <p:sp>
          <p:nvSpPr>
            <p:cNvPr id="1418" name="Language query right refined head">
              <a:extLst>
                <a:ext uri="{FF2B5EF4-FFF2-40B4-BE49-F238E27FC236}">
                  <a16:creationId xmlns:a16="http://schemas.microsoft.com/office/drawing/2014/main" id="{4B6A3B32-B3D1-5F9B-FDB9-6517BE3635C2}"/>
                </a:ext>
              </a:extLst>
            </p:cNvPr>
            <p:cNvSpPr>
              <a:spLocks noGrp="1"/>
            </p:cNvSpPr>
            <p:nvPr/>
          </p:nvSpPr>
          <p:spPr>
            <a:xfrm>
              <a:off x="9293989" y="8380095"/>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419" name="Language to fusion refined">
              <a:extLst>
                <a:ext uri="{FF2B5EF4-FFF2-40B4-BE49-F238E27FC236}">
                  <a16:creationId xmlns:a16="http://schemas.microsoft.com/office/drawing/2014/main" id="{CC1BD470-88ED-E459-BC64-3926AF1B81FC}"/>
                </a:ext>
              </a:extLst>
            </p:cNvPr>
            <p:cNvSpPr>
              <a:spLocks noGrp="1"/>
            </p:cNvSpPr>
            <p:nvPr/>
          </p:nvSpPr>
          <p:spPr>
            <a:xfrm>
              <a:off x="8523512" y="8475726"/>
              <a:ext cx="191" cy="281845"/>
            </a:xfrm>
            <a:custGeom>
              <a:avLst/>
              <a:gdLst/>
              <a:ahLst/>
              <a:cxnLst/>
              <a:rect l="0" t="0" r="0" b="0"/>
              <a:pathLst>
                <a:path w="191" h="281845">
                  <a:moveTo>
                    <a:pt x="0" y="0"/>
                  </a:moveTo>
                  <a:lnTo>
                    <a:pt x="0" y="281845"/>
                  </a:lnTo>
                </a:path>
              </a:pathLst>
            </a:custGeom>
            <a:noFill/>
            <a:ln w="8505">
              <a:solidFill>
                <a:srgbClr val="3B8C80"/>
              </a:solidFill>
              <a:prstDash val="solid"/>
            </a:ln>
          </p:spPr>
        </p:sp>
        <p:sp>
          <p:nvSpPr>
            <p:cNvPr id="1420" name="Language to fusion refined head">
              <a:extLst>
                <a:ext uri="{FF2B5EF4-FFF2-40B4-BE49-F238E27FC236}">
                  <a16:creationId xmlns:a16="http://schemas.microsoft.com/office/drawing/2014/main" id="{7DE28A53-D82C-C158-A00E-484E630E57C6}"/>
                </a:ext>
              </a:extLst>
            </p:cNvPr>
            <p:cNvSpPr>
              <a:spLocks noGrp="1"/>
            </p:cNvSpPr>
            <p:nvPr/>
          </p:nvSpPr>
          <p:spPr>
            <a:xfrm>
              <a:off x="8494841" y="8714232"/>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21" name="Graph attention to fusion refined">
              <a:extLst>
                <a:ext uri="{FF2B5EF4-FFF2-40B4-BE49-F238E27FC236}">
                  <a16:creationId xmlns:a16="http://schemas.microsoft.com/office/drawing/2014/main" id="{9DE07E88-6455-6397-3B15-5E2794D66EC1}"/>
                </a:ext>
              </a:extLst>
            </p:cNvPr>
            <p:cNvSpPr>
              <a:spLocks noGrp="1"/>
            </p:cNvSpPr>
            <p:nvPr/>
          </p:nvSpPr>
          <p:spPr>
            <a:xfrm>
              <a:off x="6960840" y="8585549"/>
              <a:ext cx="1092899" cy="362807"/>
            </a:xfrm>
            <a:custGeom>
              <a:avLst/>
              <a:gdLst/>
              <a:ahLst/>
              <a:cxnLst/>
              <a:rect l="0" t="0" r="0" b="0"/>
              <a:pathLst>
                <a:path w="1092899" h="362807">
                  <a:moveTo>
                    <a:pt x="0" y="0"/>
                  </a:moveTo>
                  <a:lnTo>
                    <a:pt x="0" y="362807"/>
                  </a:lnTo>
                  <a:lnTo>
                    <a:pt x="1092899" y="362807"/>
                  </a:lnTo>
                </a:path>
              </a:pathLst>
            </a:custGeom>
            <a:noFill/>
            <a:ln w="8505">
              <a:solidFill>
                <a:srgbClr val="3B8C80"/>
              </a:solidFill>
              <a:prstDash val="solid"/>
            </a:ln>
          </p:spPr>
        </p:sp>
        <p:sp>
          <p:nvSpPr>
            <p:cNvPr id="1422" name="Graph attention to fusion refined head">
              <a:extLst>
                <a:ext uri="{FF2B5EF4-FFF2-40B4-BE49-F238E27FC236}">
                  <a16:creationId xmlns:a16="http://schemas.microsoft.com/office/drawing/2014/main" id="{80249588-4991-7EA9-C183-E31DFF970425}"/>
                </a:ext>
              </a:extLst>
            </p:cNvPr>
            <p:cNvSpPr>
              <a:spLocks noGrp="1"/>
            </p:cNvSpPr>
            <p:nvPr/>
          </p:nvSpPr>
          <p:spPr>
            <a:xfrm>
              <a:off x="8010400" y="8919686"/>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423" name="Context attention to fusion refined">
              <a:extLst>
                <a:ext uri="{FF2B5EF4-FFF2-40B4-BE49-F238E27FC236}">
                  <a16:creationId xmlns:a16="http://schemas.microsoft.com/office/drawing/2014/main" id="{EB1CDE84-2AAC-05C7-2AC2-7F0CD69C4010}"/>
                </a:ext>
              </a:extLst>
            </p:cNvPr>
            <p:cNvSpPr>
              <a:spLocks noGrp="1"/>
            </p:cNvSpPr>
            <p:nvPr/>
          </p:nvSpPr>
          <p:spPr>
            <a:xfrm>
              <a:off x="8993380" y="8585549"/>
              <a:ext cx="1130046" cy="362807"/>
            </a:xfrm>
            <a:custGeom>
              <a:avLst/>
              <a:gdLst/>
              <a:ahLst/>
              <a:cxnLst/>
              <a:rect l="0" t="0" r="0" b="0"/>
              <a:pathLst>
                <a:path w="1130046" h="362807">
                  <a:moveTo>
                    <a:pt x="1130046" y="0"/>
                  </a:moveTo>
                  <a:lnTo>
                    <a:pt x="1130046" y="362807"/>
                  </a:lnTo>
                  <a:lnTo>
                    <a:pt x="0" y="362807"/>
                  </a:lnTo>
                </a:path>
              </a:pathLst>
            </a:custGeom>
            <a:noFill/>
            <a:ln w="8505">
              <a:solidFill>
                <a:srgbClr val="3B8C80"/>
              </a:solidFill>
              <a:prstDash val="solid"/>
            </a:ln>
          </p:spPr>
        </p:sp>
        <p:sp>
          <p:nvSpPr>
            <p:cNvPr id="1424" name="Context attention to fusion refined head">
              <a:extLst>
                <a:ext uri="{FF2B5EF4-FFF2-40B4-BE49-F238E27FC236}">
                  <a16:creationId xmlns:a16="http://schemas.microsoft.com/office/drawing/2014/main" id="{2AAA0335-3D51-EA88-2522-F717A483BF32}"/>
                </a:ext>
              </a:extLst>
            </p:cNvPr>
            <p:cNvSpPr>
              <a:spLocks noGrp="1"/>
            </p:cNvSpPr>
            <p:nvPr/>
          </p:nvSpPr>
          <p:spPr>
            <a:xfrm>
              <a:off x="8970044" y="8919686"/>
              <a:ext cx="66675" cy="57340"/>
            </a:xfrm>
            <a:custGeom>
              <a:avLst/>
              <a:gdLst/>
              <a:ahLst/>
              <a:cxnLst/>
              <a:rect l="0" t="0" r="0" b="0"/>
              <a:pathLst>
                <a:path w="66675" h="57340">
                  <a:moveTo>
                    <a:pt x="0" y="28670"/>
                  </a:moveTo>
                  <a:lnTo>
                    <a:pt x="66675" y="57340"/>
                  </a:lnTo>
                  <a:lnTo>
                    <a:pt x="66675" y="0"/>
                  </a:lnTo>
                  <a:close/>
                </a:path>
              </a:pathLst>
            </a:custGeom>
            <a:solidFill>
              <a:srgbClr val="3B8C80"/>
            </a:solidFill>
            <a:ln w="0">
              <a:noFill/>
              <a:prstDash val="solid"/>
            </a:ln>
          </p:spPr>
        </p:sp>
        <p:sp>
          <p:nvSpPr>
            <p:cNvPr id="1425" name="Fusion to identity vector refined">
              <a:extLst>
                <a:ext uri="{FF2B5EF4-FFF2-40B4-BE49-F238E27FC236}">
                  <a16:creationId xmlns:a16="http://schemas.microsoft.com/office/drawing/2014/main" id="{67958AAC-3FC5-4E94-249E-68F363396C6E}"/>
                </a:ext>
              </a:extLst>
            </p:cNvPr>
            <p:cNvSpPr>
              <a:spLocks noGrp="1"/>
            </p:cNvSpPr>
            <p:nvPr/>
          </p:nvSpPr>
          <p:spPr>
            <a:xfrm>
              <a:off x="8523512" y="9115806"/>
              <a:ext cx="191" cy="244507"/>
            </a:xfrm>
            <a:custGeom>
              <a:avLst/>
              <a:gdLst/>
              <a:ahLst/>
              <a:cxnLst/>
              <a:rect l="0" t="0" r="0" b="0"/>
              <a:pathLst>
                <a:path w="191" h="244507">
                  <a:moveTo>
                    <a:pt x="0" y="0"/>
                  </a:moveTo>
                  <a:lnTo>
                    <a:pt x="0" y="244507"/>
                  </a:lnTo>
                </a:path>
              </a:pathLst>
            </a:custGeom>
            <a:noFill/>
            <a:ln w="8505">
              <a:solidFill>
                <a:srgbClr val="3B8C80"/>
              </a:solidFill>
              <a:prstDash val="solid"/>
            </a:ln>
          </p:spPr>
        </p:sp>
        <p:sp>
          <p:nvSpPr>
            <p:cNvPr id="1426" name="Fusion to identity vector refined head">
              <a:extLst>
                <a:ext uri="{FF2B5EF4-FFF2-40B4-BE49-F238E27FC236}">
                  <a16:creationId xmlns:a16="http://schemas.microsoft.com/office/drawing/2014/main" id="{5B85A195-1A68-48DC-E553-B1E99915D03B}"/>
                </a:ext>
              </a:extLst>
            </p:cNvPr>
            <p:cNvSpPr>
              <a:spLocks noGrp="1"/>
            </p:cNvSpPr>
            <p:nvPr/>
          </p:nvSpPr>
          <p:spPr>
            <a:xfrm>
              <a:off x="8494841" y="9316974"/>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27" name="Identity vector to cosine refined">
              <a:extLst>
                <a:ext uri="{FF2B5EF4-FFF2-40B4-BE49-F238E27FC236}">
                  <a16:creationId xmlns:a16="http://schemas.microsoft.com/office/drawing/2014/main" id="{DDE80B97-A909-A736-F258-523B74319AC3}"/>
                </a:ext>
              </a:extLst>
            </p:cNvPr>
            <p:cNvSpPr>
              <a:spLocks noGrp="1"/>
            </p:cNvSpPr>
            <p:nvPr/>
          </p:nvSpPr>
          <p:spPr>
            <a:xfrm>
              <a:off x="8523512" y="9517571"/>
              <a:ext cx="191" cy="253841"/>
            </a:xfrm>
            <a:custGeom>
              <a:avLst/>
              <a:gdLst/>
              <a:ahLst/>
              <a:cxnLst/>
              <a:rect l="0" t="0" r="0" b="0"/>
              <a:pathLst>
                <a:path w="191" h="253841">
                  <a:moveTo>
                    <a:pt x="0" y="0"/>
                  </a:moveTo>
                  <a:lnTo>
                    <a:pt x="0" y="253841"/>
                  </a:lnTo>
                </a:path>
              </a:pathLst>
            </a:custGeom>
            <a:noFill/>
            <a:ln w="8505">
              <a:solidFill>
                <a:srgbClr val="3B8C80"/>
              </a:solidFill>
              <a:prstDash val="solid"/>
            </a:ln>
          </p:spPr>
        </p:sp>
        <p:sp>
          <p:nvSpPr>
            <p:cNvPr id="1428" name="Identity vector to cosine refined head">
              <a:extLst>
                <a:ext uri="{FF2B5EF4-FFF2-40B4-BE49-F238E27FC236}">
                  <a16:creationId xmlns:a16="http://schemas.microsoft.com/office/drawing/2014/main" id="{E490B029-346A-A57E-7B15-889C23CE6281}"/>
                </a:ext>
              </a:extLst>
            </p:cNvPr>
            <p:cNvSpPr>
              <a:spLocks noGrp="1"/>
            </p:cNvSpPr>
            <p:nvPr/>
          </p:nvSpPr>
          <p:spPr>
            <a:xfrm>
              <a:off x="8494841" y="9728073"/>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29" name="Cosine to score matrix refined">
              <a:extLst>
                <a:ext uri="{FF2B5EF4-FFF2-40B4-BE49-F238E27FC236}">
                  <a16:creationId xmlns:a16="http://schemas.microsoft.com/office/drawing/2014/main" id="{B53F289C-77E1-6513-62C8-F939A23BF1B2}"/>
                </a:ext>
              </a:extLst>
            </p:cNvPr>
            <p:cNvSpPr>
              <a:spLocks noGrp="1"/>
            </p:cNvSpPr>
            <p:nvPr/>
          </p:nvSpPr>
          <p:spPr>
            <a:xfrm>
              <a:off x="8932896" y="9971532"/>
              <a:ext cx="619030" cy="191"/>
            </a:xfrm>
            <a:custGeom>
              <a:avLst/>
              <a:gdLst/>
              <a:ahLst/>
              <a:cxnLst/>
              <a:rect l="0" t="0" r="0" b="0"/>
              <a:pathLst>
                <a:path w="619030" h="191">
                  <a:moveTo>
                    <a:pt x="0" y="0"/>
                  </a:moveTo>
                  <a:lnTo>
                    <a:pt x="619030" y="0"/>
                  </a:lnTo>
                </a:path>
              </a:pathLst>
            </a:custGeom>
            <a:noFill/>
            <a:ln w="8505">
              <a:solidFill>
                <a:srgbClr val="3B8C80"/>
              </a:solidFill>
              <a:prstDash val="solid"/>
            </a:ln>
          </p:spPr>
        </p:sp>
        <p:sp>
          <p:nvSpPr>
            <p:cNvPr id="1430" name="Cosine to score matrix refined head">
              <a:extLst>
                <a:ext uri="{FF2B5EF4-FFF2-40B4-BE49-F238E27FC236}">
                  <a16:creationId xmlns:a16="http://schemas.microsoft.com/office/drawing/2014/main" id="{7D1ABF5A-29C9-76A4-1903-E132A41C0C6D}"/>
                </a:ext>
              </a:extLst>
            </p:cNvPr>
            <p:cNvSpPr>
              <a:spLocks noGrp="1"/>
            </p:cNvSpPr>
            <p:nvPr/>
          </p:nvSpPr>
          <p:spPr>
            <a:xfrm>
              <a:off x="9508587" y="9942862"/>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grpSp>
      <p:pic>
        <p:nvPicPr>
          <p:cNvPr id="1436" name="Match clear receptor" descr="Receptor cartoon rendered from unchanged local coordinates, chain C1 of the 9LLG CA2 model.">
            <a:extLst>
              <a:ext uri="{FF2B5EF4-FFF2-40B4-BE49-F238E27FC236}">
                <a16:creationId xmlns:a16="http://schemas.microsoft.com/office/drawing/2014/main" id="{515E1CE9-4EFA-F96B-A08A-C6C2EC64DC6F}"/>
              </a:ext>
            </a:extLst>
          </p:cNvPr>
          <p:cNvPicPr/>
          <p:nvPr/>
        </p:nvPicPr>
        <p:blipFill>
          <a:blip r:embed="rId7"/>
          <a:srcRect l="16857" t="30389" r="19786" b="22500"/>
          <a:stretch>
            <a:fillRect/>
          </a:stretch>
        </p:blipFill>
        <p:spPr>
          <a:xfrm>
            <a:off x="725281" y="2388765"/>
            <a:ext cx="332109" cy="317507"/>
          </a:xfrm>
          <a:prstGeom prst="rect">
            <a:avLst/>
          </a:prstGeom>
        </p:spPr>
      </p:pic>
      <p:sp>
        <p:nvSpPr>
          <p:cNvPr id="1442" name="文本框 1441">
            <a:extLst>
              <a:ext uri="{FF2B5EF4-FFF2-40B4-BE49-F238E27FC236}">
                <a16:creationId xmlns:a16="http://schemas.microsoft.com/office/drawing/2014/main" id="{814431DA-F1EE-CFB8-E7E0-CF4D130ECF44}"/>
              </a:ext>
            </a:extLst>
          </p:cNvPr>
          <p:cNvSpPr txBox="1"/>
          <p:nvPr/>
        </p:nvSpPr>
        <p:spPr>
          <a:xfrm>
            <a:off x="1290027" y="775016"/>
            <a:ext cx="559769" cy="176972"/>
          </a:xfrm>
          <a:prstGeom prst="rect">
            <a:avLst/>
          </a:prstGeom>
          <a:noFill/>
        </p:spPr>
        <p:txBody>
          <a:bodyPr wrap="none" rtlCol="0">
            <a:spAutoFit/>
          </a:bodyPr>
          <a:lstStyle/>
          <a:p>
            <a:r>
              <a:rPr lang="en-US" altLang="zh-CN" sz="550" dirty="0">
                <a:solidFill>
                  <a:srgbClr val="263442"/>
                </a:solidFill>
                <a:latin typeface="Arial"/>
                <a:cs typeface="Arial"/>
              </a:rPr>
              <a:t>56 channels</a:t>
            </a:r>
            <a:endParaRPr lang="zh-CN" altLang="en-US" sz="550" dirty="0">
              <a:solidFill>
                <a:srgbClr val="263442"/>
              </a:solidFill>
              <a:latin typeface="Arial"/>
              <a:cs typeface="Arial"/>
            </a:endParaRPr>
          </a:p>
        </p:txBody>
      </p:sp>
      <p:sp>
        <p:nvSpPr>
          <p:cNvPr id="1443" name="V8 embedding computation frame">
            <a:extLst>
              <a:ext uri="{FF2B5EF4-FFF2-40B4-BE49-F238E27FC236}">
                <a16:creationId xmlns:a16="http://schemas.microsoft.com/office/drawing/2014/main" id="{FB41A424-8C9A-2DA8-76B2-57C0C54ECB10}"/>
              </a:ext>
            </a:extLst>
          </p:cNvPr>
          <p:cNvSpPr/>
          <p:nvPr/>
        </p:nvSpPr>
        <p:spPr>
          <a:xfrm>
            <a:off x="1381760" y="1318283"/>
            <a:ext cx="386080" cy="417830"/>
          </a:xfrm>
          <a:prstGeom prst="roundRect">
            <a:avLst>
              <a:gd name="adj" fmla="val 6579"/>
            </a:avLst>
          </a:prstGeom>
          <a:solidFill>
            <a:srgbClr val="F8FAFC"/>
          </a:solidFill>
          <a:ln w="6096" cap="rnd">
            <a:solidFill>
              <a:srgbClr val="C3D4E6"/>
            </a:solidFill>
            <a:prstDash val="solid"/>
            <a:round/>
          </a:ln>
        </p:spPr>
      </p:sp>
      <p:sp>
        <p:nvSpPr>
          <p:cNvPr id="1444" name="V8 embedding neighbor 1 to center">
            <a:extLst>
              <a:ext uri="{FF2B5EF4-FFF2-40B4-BE49-F238E27FC236}">
                <a16:creationId xmlns:a16="http://schemas.microsoft.com/office/drawing/2014/main" id="{3355B015-AF42-20CF-CA69-CEE14894D5E1}"/>
              </a:ext>
            </a:extLst>
          </p:cNvPr>
          <p:cNvSpPr/>
          <p:nvPr/>
        </p:nvSpPr>
        <p:spPr>
          <a:xfrm>
            <a:off x="1437942" y="1388677"/>
            <a:ext cx="84338" cy="113635"/>
          </a:xfrm>
          <a:custGeom>
            <a:avLst/>
            <a:gdLst/>
            <a:ahLst/>
            <a:cxnLst/>
            <a:rect l="l" t="t" r="r" b="b"/>
            <a:pathLst>
              <a:path w="84338" h="113635">
                <a:moveTo>
                  <a:pt x="0" y="0"/>
                </a:moveTo>
                <a:lnTo>
                  <a:pt x="84338" y="113635"/>
                </a:lnTo>
              </a:path>
            </a:pathLst>
          </a:custGeom>
          <a:noFill/>
          <a:ln w="5842" cap="rnd">
            <a:solidFill>
              <a:srgbClr val="4083B4"/>
            </a:solidFill>
            <a:prstDash val="solid"/>
            <a:round/>
          </a:ln>
        </p:spPr>
      </p:sp>
      <p:sp>
        <p:nvSpPr>
          <p:cNvPr id="1445" name="V8 embedding neighbor 1 to center head">
            <a:extLst>
              <a:ext uri="{FF2B5EF4-FFF2-40B4-BE49-F238E27FC236}">
                <a16:creationId xmlns:a16="http://schemas.microsoft.com/office/drawing/2014/main" id="{27615381-2E0E-2FB6-4DD6-10A8B1F481AB}"/>
              </a:ext>
            </a:extLst>
          </p:cNvPr>
          <p:cNvSpPr/>
          <p:nvPr/>
        </p:nvSpPr>
        <p:spPr>
          <a:xfrm>
            <a:off x="1508689" y="1488319"/>
            <a:ext cx="18870" cy="21105"/>
          </a:xfrm>
          <a:custGeom>
            <a:avLst/>
            <a:gdLst/>
            <a:ahLst/>
            <a:cxnLst/>
            <a:rect l="l" t="t" r="r" b="b"/>
            <a:pathLst>
              <a:path w="18870" h="21105">
                <a:moveTo>
                  <a:pt x="18870" y="21105"/>
                </a:moveTo>
                <a:lnTo>
                  <a:pt x="14277" y="0"/>
                </a:lnTo>
                <a:lnTo>
                  <a:pt x="0" y="10596"/>
                </a:lnTo>
                <a:close/>
              </a:path>
            </a:pathLst>
          </a:custGeom>
          <a:solidFill>
            <a:srgbClr val="4083B4"/>
          </a:solidFill>
          <a:ln w="0" cap="rnd">
            <a:noFill/>
          </a:ln>
        </p:spPr>
      </p:sp>
      <p:sp>
        <p:nvSpPr>
          <p:cNvPr id="1446" name="V8 embedding neighbor 1">
            <a:extLst>
              <a:ext uri="{FF2B5EF4-FFF2-40B4-BE49-F238E27FC236}">
                <a16:creationId xmlns:a16="http://schemas.microsoft.com/office/drawing/2014/main" id="{B5E8A971-284C-84D2-C0DB-7EB12E4B5902}"/>
              </a:ext>
            </a:extLst>
          </p:cNvPr>
          <p:cNvSpPr/>
          <p:nvPr/>
        </p:nvSpPr>
        <p:spPr>
          <a:xfrm>
            <a:off x="1411922" y="1358582"/>
            <a:ext cx="28575" cy="28575"/>
          </a:xfrm>
          <a:prstGeom prst="ellipse">
            <a:avLst/>
          </a:prstGeom>
          <a:noFill/>
          <a:ln w="7112" cap="rnd">
            <a:solidFill>
              <a:srgbClr val="4083B4"/>
            </a:solidFill>
            <a:prstDash val="solid"/>
            <a:round/>
          </a:ln>
        </p:spPr>
      </p:sp>
      <p:sp>
        <p:nvSpPr>
          <p:cNvPr id="1447" name="V8 embedding neighbor 2 to center">
            <a:extLst>
              <a:ext uri="{FF2B5EF4-FFF2-40B4-BE49-F238E27FC236}">
                <a16:creationId xmlns:a16="http://schemas.microsoft.com/office/drawing/2014/main" id="{410E19AF-558D-0BA4-4F56-8A43CC949018}"/>
              </a:ext>
            </a:extLst>
          </p:cNvPr>
          <p:cNvSpPr/>
          <p:nvPr/>
        </p:nvSpPr>
        <p:spPr>
          <a:xfrm>
            <a:off x="1567842" y="1384737"/>
            <a:ext cx="68064" cy="115185"/>
          </a:xfrm>
          <a:custGeom>
            <a:avLst/>
            <a:gdLst/>
            <a:ahLst/>
            <a:cxnLst/>
            <a:rect l="l" t="t" r="r" b="b"/>
            <a:pathLst>
              <a:path w="68064" h="115185">
                <a:moveTo>
                  <a:pt x="68064" y="0"/>
                </a:moveTo>
                <a:lnTo>
                  <a:pt x="0" y="115185"/>
                </a:lnTo>
              </a:path>
            </a:pathLst>
          </a:custGeom>
          <a:noFill/>
          <a:ln w="5842" cap="rnd">
            <a:solidFill>
              <a:srgbClr val="4083B4"/>
            </a:solidFill>
            <a:prstDash val="solid"/>
            <a:round/>
          </a:ln>
        </p:spPr>
      </p:sp>
      <p:sp>
        <p:nvSpPr>
          <p:cNvPr id="1448" name="V8 embedding neighbor 2 to center head">
            <a:extLst>
              <a:ext uri="{FF2B5EF4-FFF2-40B4-BE49-F238E27FC236}">
                <a16:creationId xmlns:a16="http://schemas.microsoft.com/office/drawing/2014/main" id="{50A61875-DCE0-421C-1735-CFE0432F2E90}"/>
              </a:ext>
            </a:extLst>
          </p:cNvPr>
          <p:cNvSpPr/>
          <p:nvPr/>
        </p:nvSpPr>
        <p:spPr>
          <a:xfrm>
            <a:off x="1563335" y="1486079"/>
            <a:ext cx="17668" cy="21470"/>
          </a:xfrm>
          <a:custGeom>
            <a:avLst/>
            <a:gdLst/>
            <a:ahLst/>
            <a:cxnLst/>
            <a:rect l="l" t="t" r="r" b="b"/>
            <a:pathLst>
              <a:path w="17668" h="21470">
                <a:moveTo>
                  <a:pt x="0" y="21470"/>
                </a:moveTo>
                <a:lnTo>
                  <a:pt x="17668" y="9045"/>
                </a:lnTo>
                <a:lnTo>
                  <a:pt x="2361" y="0"/>
                </a:lnTo>
                <a:close/>
              </a:path>
            </a:pathLst>
          </a:custGeom>
          <a:solidFill>
            <a:srgbClr val="4083B4"/>
          </a:solidFill>
          <a:ln w="0" cap="rnd">
            <a:noFill/>
          </a:ln>
        </p:spPr>
      </p:sp>
      <p:sp>
        <p:nvSpPr>
          <p:cNvPr id="1449" name="V8 embedding neighbor 2">
            <a:extLst>
              <a:ext uri="{FF2B5EF4-FFF2-40B4-BE49-F238E27FC236}">
                <a16:creationId xmlns:a16="http://schemas.microsoft.com/office/drawing/2014/main" id="{7AEBAFCB-8ED1-BA01-F100-82AD32FAB4F6}"/>
              </a:ext>
            </a:extLst>
          </p:cNvPr>
          <p:cNvSpPr/>
          <p:nvPr/>
        </p:nvSpPr>
        <p:spPr>
          <a:xfrm>
            <a:off x="1630362" y="1352232"/>
            <a:ext cx="31115" cy="31115"/>
          </a:xfrm>
          <a:prstGeom prst="ellipse">
            <a:avLst/>
          </a:prstGeom>
          <a:noFill/>
          <a:ln w="7112" cap="rnd">
            <a:solidFill>
              <a:srgbClr val="4083B4"/>
            </a:solidFill>
            <a:prstDash val="solid"/>
            <a:round/>
          </a:ln>
        </p:spPr>
      </p:sp>
      <p:sp>
        <p:nvSpPr>
          <p:cNvPr id="1450" name="V8 embedding upper curved aggregation">
            <a:extLst>
              <a:ext uri="{FF2B5EF4-FFF2-40B4-BE49-F238E27FC236}">
                <a16:creationId xmlns:a16="http://schemas.microsoft.com/office/drawing/2014/main" id="{1726AB57-DCD6-4DAB-768F-79635F178651}"/>
              </a:ext>
            </a:extLst>
          </p:cNvPr>
          <p:cNvSpPr/>
          <p:nvPr/>
        </p:nvSpPr>
        <p:spPr>
          <a:xfrm>
            <a:off x="1581150" y="1449794"/>
            <a:ext cx="120650" cy="48806"/>
          </a:xfrm>
          <a:custGeom>
            <a:avLst/>
            <a:gdLst/>
            <a:ahLst/>
            <a:cxnLst/>
            <a:rect l="l" t="t" r="r" b="b"/>
            <a:pathLst>
              <a:path w="120650" h="48806">
                <a:moveTo>
                  <a:pt x="118713" y="0"/>
                </a:moveTo>
                <a:cubicBezTo>
                  <a:pt x="120650" y="36106"/>
                  <a:pt x="44450" y="29756"/>
                  <a:pt x="0" y="48806"/>
                </a:cubicBezTo>
              </a:path>
            </a:pathLst>
          </a:custGeom>
          <a:noFill/>
          <a:ln w="5842" cap="rnd">
            <a:solidFill>
              <a:srgbClr val="4083B4"/>
            </a:solidFill>
            <a:prstDash val="solid"/>
            <a:round/>
          </a:ln>
        </p:spPr>
      </p:sp>
      <p:sp>
        <p:nvSpPr>
          <p:cNvPr id="1451" name="V8 embedding upper curved aggregation tip">
            <a:extLst>
              <a:ext uri="{FF2B5EF4-FFF2-40B4-BE49-F238E27FC236}">
                <a16:creationId xmlns:a16="http://schemas.microsoft.com/office/drawing/2014/main" id="{2B3CEBDA-0E2D-671A-9B26-76F746F7D64B}"/>
              </a:ext>
            </a:extLst>
          </p:cNvPr>
          <p:cNvSpPr/>
          <p:nvPr/>
        </p:nvSpPr>
        <p:spPr>
          <a:xfrm>
            <a:off x="1572439" y="1498600"/>
            <a:ext cx="8711" cy="4690"/>
          </a:xfrm>
          <a:custGeom>
            <a:avLst/>
            <a:gdLst/>
            <a:ahLst/>
            <a:cxnLst/>
            <a:rect l="l" t="t" r="r" b="b"/>
            <a:pathLst>
              <a:path w="8711" h="4690">
                <a:moveTo>
                  <a:pt x="8711" y="0"/>
                </a:moveTo>
                <a:lnTo>
                  <a:pt x="0" y="4690"/>
                </a:lnTo>
              </a:path>
            </a:pathLst>
          </a:custGeom>
          <a:noFill/>
          <a:ln w="5842" cap="rnd">
            <a:solidFill>
              <a:srgbClr val="9481B1"/>
            </a:solidFill>
            <a:prstDash val="solid"/>
            <a:round/>
          </a:ln>
        </p:spPr>
      </p:sp>
      <p:sp>
        <p:nvSpPr>
          <p:cNvPr id="1452" name="V8 embedding upper curved aggregation tip head">
            <a:extLst>
              <a:ext uri="{FF2B5EF4-FFF2-40B4-BE49-F238E27FC236}">
                <a16:creationId xmlns:a16="http://schemas.microsoft.com/office/drawing/2014/main" id="{EA8590B6-001E-E7FA-C91E-6684CAB2CE42}"/>
              </a:ext>
            </a:extLst>
          </p:cNvPr>
          <p:cNvSpPr/>
          <p:nvPr/>
        </p:nvSpPr>
        <p:spPr>
          <a:xfrm>
            <a:off x="1564640" y="1490330"/>
            <a:ext cx="21547" cy="17160"/>
          </a:xfrm>
          <a:custGeom>
            <a:avLst/>
            <a:gdLst/>
            <a:ahLst/>
            <a:cxnLst/>
            <a:rect l="l" t="t" r="r" b="b"/>
            <a:pathLst>
              <a:path w="21547" h="17160">
                <a:moveTo>
                  <a:pt x="0" y="17160"/>
                </a:moveTo>
                <a:lnTo>
                  <a:pt x="21547" y="15655"/>
                </a:lnTo>
                <a:lnTo>
                  <a:pt x="13117" y="0"/>
                </a:lnTo>
                <a:close/>
              </a:path>
            </a:pathLst>
          </a:custGeom>
          <a:solidFill>
            <a:srgbClr val="4083B4"/>
          </a:solidFill>
          <a:ln w="0" cap="rnd">
            <a:noFill/>
          </a:ln>
        </p:spPr>
      </p:sp>
      <p:sp>
        <p:nvSpPr>
          <p:cNvPr id="1453" name="V8 embedding neighbor 3">
            <a:extLst>
              <a:ext uri="{FF2B5EF4-FFF2-40B4-BE49-F238E27FC236}">
                <a16:creationId xmlns:a16="http://schemas.microsoft.com/office/drawing/2014/main" id="{122DFBAE-E742-85F4-F8BE-661BC7410AFC}"/>
              </a:ext>
            </a:extLst>
          </p:cNvPr>
          <p:cNvSpPr/>
          <p:nvPr/>
        </p:nvSpPr>
        <p:spPr>
          <a:xfrm>
            <a:off x="1703070" y="1426210"/>
            <a:ext cx="27940" cy="27940"/>
          </a:xfrm>
          <a:prstGeom prst="ellipse">
            <a:avLst/>
          </a:prstGeom>
          <a:noFill/>
          <a:ln w="7112" cap="rnd">
            <a:solidFill>
              <a:srgbClr val="4083B4"/>
            </a:solidFill>
            <a:prstDash val="solid"/>
            <a:round/>
          </a:ln>
        </p:spPr>
      </p:sp>
      <p:sp>
        <p:nvSpPr>
          <p:cNvPr id="1454" name="V8 embedding curved aggregation">
            <a:extLst>
              <a:ext uri="{FF2B5EF4-FFF2-40B4-BE49-F238E27FC236}">
                <a16:creationId xmlns:a16="http://schemas.microsoft.com/office/drawing/2014/main" id="{90CEAB6E-EBCA-9F13-36DE-C928BA671D5A}"/>
              </a:ext>
            </a:extLst>
          </p:cNvPr>
          <p:cNvSpPr/>
          <p:nvPr/>
        </p:nvSpPr>
        <p:spPr>
          <a:xfrm>
            <a:off x="1422400" y="1503680"/>
            <a:ext cx="77470" cy="107970"/>
          </a:xfrm>
          <a:custGeom>
            <a:avLst/>
            <a:gdLst/>
            <a:ahLst/>
            <a:cxnLst/>
            <a:rect l="l" t="t" r="r" b="b"/>
            <a:pathLst>
              <a:path w="77470" h="107970">
                <a:moveTo>
                  <a:pt x="17311" y="107970"/>
                </a:moveTo>
                <a:cubicBezTo>
                  <a:pt x="0" y="29210"/>
                  <a:pt x="35560" y="0"/>
                  <a:pt x="77470" y="12700"/>
                </a:cubicBezTo>
              </a:path>
            </a:pathLst>
          </a:custGeom>
          <a:noFill/>
          <a:ln w="8890" cap="rnd">
            <a:solidFill>
              <a:srgbClr val="4083B4"/>
            </a:solidFill>
            <a:prstDash val="solid"/>
            <a:round/>
          </a:ln>
        </p:spPr>
      </p:sp>
      <p:sp>
        <p:nvSpPr>
          <p:cNvPr id="1455" name="V8 embedding curved aggregation tip">
            <a:extLst>
              <a:ext uri="{FF2B5EF4-FFF2-40B4-BE49-F238E27FC236}">
                <a16:creationId xmlns:a16="http://schemas.microsoft.com/office/drawing/2014/main" id="{4871021E-0B37-6092-4FB6-FB482931253B}"/>
              </a:ext>
            </a:extLst>
          </p:cNvPr>
          <p:cNvSpPr/>
          <p:nvPr/>
        </p:nvSpPr>
        <p:spPr>
          <a:xfrm>
            <a:off x="1499870" y="1516380"/>
            <a:ext cx="6039" cy="3020"/>
          </a:xfrm>
          <a:custGeom>
            <a:avLst/>
            <a:gdLst/>
            <a:ahLst/>
            <a:cxnLst/>
            <a:rect l="l" t="t" r="r" b="b"/>
            <a:pathLst>
              <a:path w="6039" h="3020">
                <a:moveTo>
                  <a:pt x="0" y="0"/>
                </a:moveTo>
                <a:lnTo>
                  <a:pt x="6039" y="3020"/>
                </a:lnTo>
              </a:path>
            </a:pathLst>
          </a:custGeom>
          <a:noFill/>
          <a:ln w="8890" cap="rnd">
            <a:solidFill>
              <a:srgbClr val="9481B1"/>
            </a:solidFill>
            <a:prstDash val="solid"/>
            <a:round/>
          </a:ln>
        </p:spPr>
      </p:sp>
      <p:sp>
        <p:nvSpPr>
          <p:cNvPr id="1456" name="V8 embedding curved aggregation tip head">
            <a:extLst>
              <a:ext uri="{FF2B5EF4-FFF2-40B4-BE49-F238E27FC236}">
                <a16:creationId xmlns:a16="http://schemas.microsoft.com/office/drawing/2014/main" id="{86BC3798-BFD4-0C2D-6F96-1C5CADB6D7BE}"/>
              </a:ext>
            </a:extLst>
          </p:cNvPr>
          <p:cNvSpPr/>
          <p:nvPr/>
        </p:nvSpPr>
        <p:spPr>
          <a:xfrm>
            <a:off x="1489978" y="1504405"/>
            <a:ext cx="25132" cy="19595"/>
          </a:xfrm>
          <a:custGeom>
            <a:avLst/>
            <a:gdLst/>
            <a:ahLst/>
            <a:cxnLst/>
            <a:rect l="l" t="t" r="r" b="b"/>
            <a:pathLst>
              <a:path w="25132" h="19595">
                <a:moveTo>
                  <a:pt x="25132" y="19595"/>
                </a:moveTo>
                <a:lnTo>
                  <a:pt x="9371" y="0"/>
                </a:lnTo>
                <a:lnTo>
                  <a:pt x="0" y="18743"/>
                </a:lnTo>
                <a:close/>
              </a:path>
            </a:pathLst>
          </a:custGeom>
          <a:solidFill>
            <a:srgbClr val="4083B4"/>
          </a:solidFill>
          <a:ln w="0" cap="rnd">
            <a:solidFill>
              <a:srgbClr val="4083B4"/>
            </a:solidFill>
          </a:ln>
        </p:spPr>
      </p:sp>
      <p:sp>
        <p:nvSpPr>
          <p:cNvPr id="1457" name="V8 embedding neighbor 4">
            <a:extLst>
              <a:ext uri="{FF2B5EF4-FFF2-40B4-BE49-F238E27FC236}">
                <a16:creationId xmlns:a16="http://schemas.microsoft.com/office/drawing/2014/main" id="{AEADE014-9292-2360-C2CE-F8C845E8BCFD}"/>
              </a:ext>
            </a:extLst>
          </p:cNvPr>
          <p:cNvSpPr/>
          <p:nvPr/>
        </p:nvSpPr>
        <p:spPr>
          <a:xfrm>
            <a:off x="1407795" y="1607185"/>
            <a:ext cx="31750" cy="31750"/>
          </a:xfrm>
          <a:prstGeom prst="ellipse">
            <a:avLst/>
          </a:prstGeom>
          <a:noFill/>
          <a:ln w="7112" cap="rnd">
            <a:solidFill>
              <a:srgbClr val="4083B4"/>
            </a:solidFill>
            <a:prstDash val="solid"/>
            <a:round/>
          </a:ln>
        </p:spPr>
      </p:sp>
      <p:sp>
        <p:nvSpPr>
          <p:cNvPr id="1458" name="V8 embedding neighbor 5 to center">
            <a:extLst>
              <a:ext uri="{FF2B5EF4-FFF2-40B4-BE49-F238E27FC236}">
                <a16:creationId xmlns:a16="http://schemas.microsoft.com/office/drawing/2014/main" id="{88F2ECE0-BE4E-6B10-0F14-901F5AD31AE6}"/>
              </a:ext>
            </a:extLst>
          </p:cNvPr>
          <p:cNvSpPr/>
          <p:nvPr/>
        </p:nvSpPr>
        <p:spPr>
          <a:xfrm>
            <a:off x="1538090" y="1576570"/>
            <a:ext cx="5857" cy="82734"/>
          </a:xfrm>
          <a:custGeom>
            <a:avLst/>
            <a:gdLst/>
            <a:ahLst/>
            <a:cxnLst/>
            <a:rect l="l" t="t" r="r" b="b"/>
            <a:pathLst>
              <a:path w="5857" h="82734">
                <a:moveTo>
                  <a:pt x="0" y="82734"/>
                </a:moveTo>
                <a:lnTo>
                  <a:pt x="5857" y="0"/>
                </a:lnTo>
              </a:path>
            </a:pathLst>
          </a:custGeom>
          <a:noFill/>
          <a:ln w="5842" cap="rnd">
            <a:solidFill>
              <a:srgbClr val="4083B4"/>
            </a:solidFill>
            <a:prstDash val="solid"/>
            <a:round/>
          </a:ln>
        </p:spPr>
      </p:sp>
      <p:sp>
        <p:nvSpPr>
          <p:cNvPr id="1459" name="V8 embedding neighbor 5 to center head">
            <a:extLst>
              <a:ext uri="{FF2B5EF4-FFF2-40B4-BE49-F238E27FC236}">
                <a16:creationId xmlns:a16="http://schemas.microsoft.com/office/drawing/2014/main" id="{4E579011-FEC4-00D3-7546-C5CB388C9A0A}"/>
              </a:ext>
            </a:extLst>
          </p:cNvPr>
          <p:cNvSpPr/>
          <p:nvPr/>
        </p:nvSpPr>
        <p:spPr>
          <a:xfrm>
            <a:off x="1534315" y="1567734"/>
            <a:ext cx="17736" cy="20264"/>
          </a:xfrm>
          <a:custGeom>
            <a:avLst/>
            <a:gdLst/>
            <a:ahLst/>
            <a:cxnLst/>
            <a:rect l="l" t="t" r="r" b="b"/>
            <a:pathLst>
              <a:path w="17736" h="20264">
                <a:moveTo>
                  <a:pt x="10258" y="0"/>
                </a:moveTo>
                <a:lnTo>
                  <a:pt x="0" y="19008"/>
                </a:lnTo>
                <a:lnTo>
                  <a:pt x="17736" y="20264"/>
                </a:lnTo>
                <a:close/>
              </a:path>
            </a:pathLst>
          </a:custGeom>
          <a:solidFill>
            <a:srgbClr val="4083B4"/>
          </a:solidFill>
          <a:ln w="0" cap="rnd">
            <a:solidFill>
              <a:srgbClr val="4083B4"/>
            </a:solidFill>
          </a:ln>
        </p:spPr>
      </p:sp>
      <p:sp>
        <p:nvSpPr>
          <p:cNvPr id="1460" name="V8 embedding neighbor 5">
            <a:extLst>
              <a:ext uri="{FF2B5EF4-FFF2-40B4-BE49-F238E27FC236}">
                <a16:creationId xmlns:a16="http://schemas.microsoft.com/office/drawing/2014/main" id="{80A6CA00-4D1C-000D-C0AF-7F59BA21FF45}"/>
              </a:ext>
            </a:extLst>
          </p:cNvPr>
          <p:cNvSpPr/>
          <p:nvPr/>
        </p:nvSpPr>
        <p:spPr>
          <a:xfrm>
            <a:off x="1522095" y="1664335"/>
            <a:ext cx="29210" cy="29210"/>
          </a:xfrm>
          <a:prstGeom prst="ellipse">
            <a:avLst/>
          </a:prstGeom>
          <a:noFill/>
          <a:ln w="7112" cap="rnd">
            <a:solidFill>
              <a:srgbClr val="4083B4"/>
            </a:solidFill>
            <a:prstDash val="solid"/>
            <a:round/>
          </a:ln>
        </p:spPr>
      </p:sp>
      <p:sp>
        <p:nvSpPr>
          <p:cNvPr id="1461" name="V8 embedding center">
            <a:extLst>
              <a:ext uri="{FF2B5EF4-FFF2-40B4-BE49-F238E27FC236}">
                <a16:creationId xmlns:a16="http://schemas.microsoft.com/office/drawing/2014/main" id="{0973F1A0-63C8-796C-8269-8DC9810E39E1}"/>
              </a:ext>
            </a:extLst>
          </p:cNvPr>
          <p:cNvSpPr/>
          <p:nvPr/>
        </p:nvSpPr>
        <p:spPr>
          <a:xfrm>
            <a:off x="1524635" y="1513205"/>
            <a:ext cx="44450" cy="44450"/>
          </a:xfrm>
          <a:prstGeom prst="ellipse">
            <a:avLst/>
          </a:prstGeom>
          <a:noFill/>
          <a:ln w="9906" cap="rnd">
            <a:solidFill>
              <a:srgbClr val="3B8C80"/>
            </a:solidFill>
            <a:prstDash val="solid"/>
            <a:round/>
          </a:ln>
        </p:spPr>
      </p:sp>
      <p:sp>
        <p:nvSpPr>
          <p:cNvPr id="1462" name="V8 embedding feature 1">
            <a:extLst>
              <a:ext uri="{FF2B5EF4-FFF2-40B4-BE49-F238E27FC236}">
                <a16:creationId xmlns:a16="http://schemas.microsoft.com/office/drawing/2014/main" id="{FE0417EE-6828-F09F-AACE-DE1F76BE3EB6}"/>
              </a:ext>
            </a:extLst>
          </p:cNvPr>
          <p:cNvSpPr/>
          <p:nvPr/>
        </p:nvSpPr>
        <p:spPr>
          <a:xfrm>
            <a:off x="1578610" y="1518285"/>
            <a:ext cx="18415" cy="34290"/>
          </a:xfrm>
          <a:prstGeom prst="rect">
            <a:avLst/>
          </a:prstGeom>
          <a:solidFill>
            <a:srgbClr val="3E8F9A"/>
          </a:solidFill>
          <a:ln w="0" cap="rnd">
            <a:noFill/>
          </a:ln>
        </p:spPr>
      </p:sp>
      <p:sp>
        <p:nvSpPr>
          <p:cNvPr id="1463" name="V8 embedding feature 2">
            <a:extLst>
              <a:ext uri="{FF2B5EF4-FFF2-40B4-BE49-F238E27FC236}">
                <a16:creationId xmlns:a16="http://schemas.microsoft.com/office/drawing/2014/main" id="{28DF18A8-B7D6-40CC-F8D0-1CE005F88971}"/>
              </a:ext>
            </a:extLst>
          </p:cNvPr>
          <p:cNvSpPr/>
          <p:nvPr/>
        </p:nvSpPr>
        <p:spPr>
          <a:xfrm>
            <a:off x="1598295" y="1518285"/>
            <a:ext cx="18415" cy="34290"/>
          </a:xfrm>
          <a:prstGeom prst="rect">
            <a:avLst/>
          </a:prstGeom>
          <a:solidFill>
            <a:srgbClr val="88BEC3"/>
          </a:solidFill>
          <a:ln w="0" cap="rnd">
            <a:noFill/>
          </a:ln>
        </p:spPr>
      </p:sp>
      <p:sp>
        <p:nvSpPr>
          <p:cNvPr id="1464" name="V8 embedding feature 3">
            <a:extLst>
              <a:ext uri="{FF2B5EF4-FFF2-40B4-BE49-F238E27FC236}">
                <a16:creationId xmlns:a16="http://schemas.microsoft.com/office/drawing/2014/main" id="{D8B2548F-FDCB-962F-D116-8194E608D854}"/>
              </a:ext>
            </a:extLst>
          </p:cNvPr>
          <p:cNvSpPr/>
          <p:nvPr/>
        </p:nvSpPr>
        <p:spPr>
          <a:xfrm>
            <a:off x="1617980" y="1518285"/>
            <a:ext cx="18415" cy="34290"/>
          </a:xfrm>
          <a:prstGeom prst="rect">
            <a:avLst/>
          </a:prstGeom>
          <a:solidFill>
            <a:srgbClr val="67AD9F"/>
          </a:solidFill>
          <a:ln w="0" cap="rnd">
            <a:noFill/>
          </a:ln>
        </p:spPr>
      </p:sp>
      <p:sp>
        <p:nvSpPr>
          <p:cNvPr id="1465" name="V8 embedding feature 4">
            <a:extLst>
              <a:ext uri="{FF2B5EF4-FFF2-40B4-BE49-F238E27FC236}">
                <a16:creationId xmlns:a16="http://schemas.microsoft.com/office/drawing/2014/main" id="{4DB56FF7-AE6A-29C2-0D4E-A50B4A01B329}"/>
              </a:ext>
            </a:extLst>
          </p:cNvPr>
          <p:cNvSpPr/>
          <p:nvPr/>
        </p:nvSpPr>
        <p:spPr>
          <a:xfrm>
            <a:off x="1637665" y="1518285"/>
            <a:ext cx="18415" cy="34290"/>
          </a:xfrm>
          <a:prstGeom prst="rect">
            <a:avLst/>
          </a:prstGeom>
          <a:solidFill>
            <a:srgbClr val="B6D8CC"/>
          </a:solidFill>
          <a:ln w="0" cap="rnd">
            <a:noFill/>
          </a:ln>
        </p:spPr>
      </p:sp>
      <p:sp>
        <p:nvSpPr>
          <p:cNvPr id="1466" name="V8 embedding feature 5">
            <a:extLst>
              <a:ext uri="{FF2B5EF4-FFF2-40B4-BE49-F238E27FC236}">
                <a16:creationId xmlns:a16="http://schemas.microsoft.com/office/drawing/2014/main" id="{0834D08B-BC25-2ADC-AF12-5492513577F8}"/>
              </a:ext>
            </a:extLst>
          </p:cNvPr>
          <p:cNvSpPr/>
          <p:nvPr/>
        </p:nvSpPr>
        <p:spPr>
          <a:xfrm>
            <a:off x="1657350" y="1518285"/>
            <a:ext cx="18415" cy="34290"/>
          </a:xfrm>
          <a:prstGeom prst="rect">
            <a:avLst/>
          </a:prstGeom>
          <a:solidFill>
            <a:srgbClr val="3B8C80"/>
          </a:solidFill>
          <a:ln w="0" cap="rnd">
            <a:noFill/>
          </a:ln>
        </p:spPr>
      </p:sp>
      <p:sp>
        <p:nvSpPr>
          <p:cNvPr id="1467" name="V8 embedding feature 6">
            <a:extLst>
              <a:ext uri="{FF2B5EF4-FFF2-40B4-BE49-F238E27FC236}">
                <a16:creationId xmlns:a16="http://schemas.microsoft.com/office/drawing/2014/main" id="{7EDE9E92-6EF0-3023-2F22-6E7EFD9706C6}"/>
              </a:ext>
            </a:extLst>
          </p:cNvPr>
          <p:cNvSpPr/>
          <p:nvPr/>
        </p:nvSpPr>
        <p:spPr>
          <a:xfrm>
            <a:off x="1677035" y="1518285"/>
            <a:ext cx="18415" cy="34290"/>
          </a:xfrm>
          <a:prstGeom prst="rect">
            <a:avLst/>
          </a:prstGeom>
          <a:solidFill>
            <a:srgbClr val="A3CDDA"/>
          </a:solidFill>
          <a:ln w="0" cap="rnd">
            <a:noFill/>
          </a:ln>
        </p:spPr>
      </p:sp>
      <p:sp>
        <p:nvSpPr>
          <p:cNvPr id="1468" name="V8 embedding feature 7">
            <a:extLst>
              <a:ext uri="{FF2B5EF4-FFF2-40B4-BE49-F238E27FC236}">
                <a16:creationId xmlns:a16="http://schemas.microsoft.com/office/drawing/2014/main" id="{3791BD29-2650-00D8-2639-94010AF8036F}"/>
              </a:ext>
            </a:extLst>
          </p:cNvPr>
          <p:cNvSpPr/>
          <p:nvPr/>
        </p:nvSpPr>
        <p:spPr>
          <a:xfrm>
            <a:off x="1696720" y="1518285"/>
            <a:ext cx="18415" cy="34290"/>
          </a:xfrm>
          <a:prstGeom prst="rect">
            <a:avLst/>
          </a:prstGeom>
          <a:solidFill>
            <a:srgbClr val="6CAFA4"/>
          </a:solidFill>
          <a:ln w="0" cap="rnd">
            <a:noFill/>
          </a:ln>
        </p:spPr>
      </p:sp>
      <p:sp>
        <p:nvSpPr>
          <p:cNvPr id="1469" name="V8 embedding feature 8">
            <a:extLst>
              <a:ext uri="{FF2B5EF4-FFF2-40B4-BE49-F238E27FC236}">
                <a16:creationId xmlns:a16="http://schemas.microsoft.com/office/drawing/2014/main" id="{78D40256-09DE-A393-64FC-199BB5DEB767}"/>
              </a:ext>
            </a:extLst>
          </p:cNvPr>
          <p:cNvSpPr/>
          <p:nvPr/>
        </p:nvSpPr>
        <p:spPr>
          <a:xfrm>
            <a:off x="1716405" y="1518285"/>
            <a:ext cx="18415" cy="34290"/>
          </a:xfrm>
          <a:prstGeom prst="rect">
            <a:avLst/>
          </a:prstGeom>
          <a:solidFill>
            <a:srgbClr val="C4DDE0"/>
          </a:solidFill>
          <a:ln w="0" cap="rnd">
            <a:noFill/>
          </a:ln>
        </p:spPr>
      </p:sp>
      <p:sp>
        <p:nvSpPr>
          <p:cNvPr id="1471" name="V8 embedding to point branch">
            <a:extLst>
              <a:ext uri="{FF2B5EF4-FFF2-40B4-BE49-F238E27FC236}">
                <a16:creationId xmlns:a16="http://schemas.microsoft.com/office/drawing/2014/main" id="{CD0EF799-B1E4-C26B-BB25-441BB97890BE}"/>
              </a:ext>
            </a:extLst>
          </p:cNvPr>
          <p:cNvSpPr/>
          <p:nvPr/>
        </p:nvSpPr>
        <p:spPr>
          <a:xfrm flipV="1">
            <a:off x="1797053" y="1469001"/>
            <a:ext cx="157162" cy="66614"/>
          </a:xfrm>
          <a:custGeom>
            <a:avLst/>
            <a:gdLst/>
            <a:ahLst/>
            <a:cxnLst/>
            <a:rect l="l" t="t" r="r" b="b"/>
            <a:pathLst>
              <a:path w="63379" h="1">
                <a:moveTo>
                  <a:pt x="0" y="0"/>
                </a:moveTo>
                <a:lnTo>
                  <a:pt x="63379" y="0"/>
                </a:lnTo>
              </a:path>
            </a:pathLst>
          </a:custGeom>
          <a:noFill/>
          <a:ln w="8509" cap="rnd">
            <a:solidFill>
              <a:srgbClr val="4083B4"/>
            </a:solidFill>
            <a:prstDash val="solid"/>
            <a:round/>
          </a:ln>
        </p:spPr>
      </p:sp>
      <p:sp>
        <p:nvSpPr>
          <p:cNvPr id="1472" name="V8 embedding to point branch head">
            <a:extLst>
              <a:ext uri="{FF2B5EF4-FFF2-40B4-BE49-F238E27FC236}">
                <a16:creationId xmlns:a16="http://schemas.microsoft.com/office/drawing/2014/main" id="{EE5B1593-BB31-DCD1-99C7-141C7B857AF7}"/>
              </a:ext>
            </a:extLst>
          </p:cNvPr>
          <p:cNvSpPr/>
          <p:nvPr/>
        </p:nvSpPr>
        <p:spPr>
          <a:xfrm>
            <a:off x="1938919" y="1523745"/>
            <a:ext cx="28321" cy="24384"/>
          </a:xfrm>
          <a:custGeom>
            <a:avLst/>
            <a:gdLst/>
            <a:ahLst/>
            <a:cxnLst/>
            <a:rect l="l" t="t" r="r" b="b"/>
            <a:pathLst>
              <a:path w="28321" h="24384">
                <a:moveTo>
                  <a:pt x="28321" y="12192"/>
                </a:moveTo>
                <a:lnTo>
                  <a:pt x="0" y="0"/>
                </a:lnTo>
                <a:lnTo>
                  <a:pt x="0" y="24384"/>
                </a:lnTo>
                <a:close/>
              </a:path>
            </a:pathLst>
          </a:custGeom>
          <a:solidFill>
            <a:srgbClr val="4083B4"/>
          </a:solidFill>
          <a:ln w="0" cap="rnd">
            <a:solidFill>
              <a:srgbClr val="4083B4"/>
            </a:solidFill>
          </a:ln>
        </p:spPr>
      </p:sp>
      <p:sp>
        <p:nvSpPr>
          <p:cNvPr id="1473" name="V8 embedding to voxel branch">
            <a:extLst>
              <a:ext uri="{FF2B5EF4-FFF2-40B4-BE49-F238E27FC236}">
                <a16:creationId xmlns:a16="http://schemas.microsoft.com/office/drawing/2014/main" id="{A9E148F4-6BCA-77FF-AE43-549D2AE883D5}"/>
              </a:ext>
            </a:extLst>
          </p:cNvPr>
          <p:cNvSpPr/>
          <p:nvPr/>
        </p:nvSpPr>
        <p:spPr>
          <a:xfrm flipH="1">
            <a:off x="1817789" y="835707"/>
            <a:ext cx="45719" cy="699723"/>
          </a:xfrm>
          <a:custGeom>
            <a:avLst/>
            <a:gdLst/>
            <a:ahLst/>
            <a:cxnLst/>
            <a:rect l="l" t="t" r="r" b="b"/>
            <a:pathLst>
              <a:path w="1" h="866159">
                <a:moveTo>
                  <a:pt x="0" y="866159"/>
                </a:moveTo>
                <a:lnTo>
                  <a:pt x="0" y="0"/>
                </a:lnTo>
              </a:path>
            </a:pathLst>
          </a:custGeom>
          <a:noFill/>
          <a:ln w="8509" cap="rnd">
            <a:solidFill>
              <a:srgbClr val="4083B4"/>
            </a:solidFill>
            <a:prstDash val="solid"/>
            <a:round/>
          </a:ln>
        </p:spPr>
      </p:sp>
      <p:sp>
        <p:nvSpPr>
          <p:cNvPr id="1475" name="V8 density and receptor to voxel">
            <a:extLst>
              <a:ext uri="{FF2B5EF4-FFF2-40B4-BE49-F238E27FC236}">
                <a16:creationId xmlns:a16="http://schemas.microsoft.com/office/drawing/2014/main" id="{61ECA984-FF9D-A5D0-F819-33661D001ABE}"/>
              </a:ext>
            </a:extLst>
          </p:cNvPr>
          <p:cNvSpPr/>
          <p:nvPr/>
        </p:nvSpPr>
        <p:spPr>
          <a:xfrm flipV="1">
            <a:off x="1797146" y="610807"/>
            <a:ext cx="148072" cy="45719"/>
          </a:xfrm>
          <a:custGeom>
            <a:avLst/>
            <a:gdLst/>
            <a:ahLst/>
            <a:cxnLst/>
            <a:rect l="l" t="t" r="r" b="b"/>
            <a:pathLst>
              <a:path w="96730" h="1">
                <a:moveTo>
                  <a:pt x="0" y="0"/>
                </a:moveTo>
                <a:lnTo>
                  <a:pt x="96730" y="0"/>
                </a:lnTo>
              </a:path>
            </a:pathLst>
          </a:custGeom>
          <a:noFill/>
          <a:ln w="8509" cap="rnd">
            <a:solidFill>
              <a:srgbClr val="4083B4"/>
            </a:solidFill>
            <a:prstDash val="solid"/>
            <a:round/>
          </a:ln>
        </p:spPr>
      </p:sp>
      <p:sp>
        <p:nvSpPr>
          <p:cNvPr id="1476" name="V8 density and receptor to voxel head">
            <a:extLst>
              <a:ext uri="{FF2B5EF4-FFF2-40B4-BE49-F238E27FC236}">
                <a16:creationId xmlns:a16="http://schemas.microsoft.com/office/drawing/2014/main" id="{D6CAD338-44F5-8993-3618-9A1839CB2DBC}"/>
              </a:ext>
            </a:extLst>
          </p:cNvPr>
          <p:cNvSpPr/>
          <p:nvPr/>
        </p:nvSpPr>
        <p:spPr>
          <a:xfrm>
            <a:off x="1934388" y="644334"/>
            <a:ext cx="28321" cy="24384"/>
          </a:xfrm>
          <a:custGeom>
            <a:avLst/>
            <a:gdLst/>
            <a:ahLst/>
            <a:cxnLst/>
            <a:rect l="l" t="t" r="r" b="b"/>
            <a:pathLst>
              <a:path w="28321" h="24384">
                <a:moveTo>
                  <a:pt x="28321" y="12192"/>
                </a:moveTo>
                <a:lnTo>
                  <a:pt x="0" y="0"/>
                </a:lnTo>
                <a:lnTo>
                  <a:pt x="0" y="24384"/>
                </a:lnTo>
                <a:close/>
              </a:path>
            </a:pathLst>
          </a:custGeom>
          <a:solidFill>
            <a:srgbClr val="4083B4"/>
          </a:solidFill>
          <a:ln w="0" cap="rnd">
            <a:noFill/>
          </a:ln>
        </p:spPr>
      </p:sp>
      <p:sp>
        <p:nvSpPr>
          <p:cNvPr id="1479" name="V8 Match input divider">
            <a:extLst>
              <a:ext uri="{FF2B5EF4-FFF2-40B4-BE49-F238E27FC236}">
                <a16:creationId xmlns:a16="http://schemas.microsoft.com/office/drawing/2014/main" id="{2EDC4EC7-D903-3262-650D-444D37299D28}"/>
              </a:ext>
            </a:extLst>
          </p:cNvPr>
          <p:cNvSpPr/>
          <p:nvPr/>
        </p:nvSpPr>
        <p:spPr>
          <a:xfrm>
            <a:off x="673037" y="2767063"/>
            <a:ext cx="957199" cy="1"/>
          </a:xfrm>
          <a:custGeom>
            <a:avLst/>
            <a:gdLst/>
            <a:ahLst/>
            <a:cxnLst/>
            <a:rect l="l" t="t" r="r" b="b"/>
            <a:pathLst>
              <a:path w="957199" h="1">
                <a:moveTo>
                  <a:pt x="0" y="0"/>
                </a:moveTo>
                <a:lnTo>
                  <a:pt x="957199" y="0"/>
                </a:lnTo>
              </a:path>
            </a:pathLst>
          </a:custGeom>
          <a:noFill/>
          <a:ln w="7290" cap="rnd">
            <a:solidFill>
              <a:srgbClr val="B6CEC5"/>
            </a:solidFill>
            <a:prstDash val="solid"/>
            <a:round/>
          </a:ln>
        </p:spPr>
      </p:sp>
      <p:sp>
        <p:nvSpPr>
          <p:cNvPr id="1480" name="V8 pool to concat">
            <a:extLst>
              <a:ext uri="{FF2B5EF4-FFF2-40B4-BE49-F238E27FC236}">
                <a16:creationId xmlns:a16="http://schemas.microsoft.com/office/drawing/2014/main" id="{3702663D-F294-9B06-B213-0076F82464A6}"/>
              </a:ext>
            </a:extLst>
          </p:cNvPr>
          <p:cNvSpPr/>
          <p:nvPr/>
        </p:nvSpPr>
        <p:spPr>
          <a:xfrm>
            <a:off x="978338" y="3603168"/>
            <a:ext cx="355873" cy="100152"/>
          </a:xfrm>
          <a:custGeom>
            <a:avLst/>
            <a:gdLst/>
            <a:ahLst/>
            <a:cxnLst/>
            <a:rect l="l" t="t" r="r" b="b"/>
            <a:pathLst>
              <a:path w="355873" h="100152">
                <a:moveTo>
                  <a:pt x="0" y="0"/>
                </a:moveTo>
                <a:lnTo>
                  <a:pt x="0" y="100152"/>
                </a:lnTo>
                <a:lnTo>
                  <a:pt x="355873" y="100152"/>
                </a:lnTo>
              </a:path>
            </a:pathLst>
          </a:custGeom>
          <a:noFill/>
          <a:ln w="8509" cap="rnd">
            <a:solidFill>
              <a:srgbClr val="3B8C80"/>
            </a:solidFill>
            <a:prstDash val="solid"/>
            <a:round/>
          </a:ln>
        </p:spPr>
      </p:sp>
      <p:sp>
        <p:nvSpPr>
          <p:cNvPr id="1481" name="V8 attention to concat">
            <a:extLst>
              <a:ext uri="{FF2B5EF4-FFF2-40B4-BE49-F238E27FC236}">
                <a16:creationId xmlns:a16="http://schemas.microsoft.com/office/drawing/2014/main" id="{45C4FCB5-3380-E3A8-B0B1-54A427F52361}"/>
              </a:ext>
            </a:extLst>
          </p:cNvPr>
          <p:cNvSpPr/>
          <p:nvPr/>
        </p:nvSpPr>
        <p:spPr>
          <a:xfrm>
            <a:off x="1334211" y="3603168"/>
            <a:ext cx="356064" cy="100152"/>
          </a:xfrm>
          <a:custGeom>
            <a:avLst/>
            <a:gdLst/>
            <a:ahLst/>
            <a:cxnLst/>
            <a:rect l="l" t="t" r="r" b="b"/>
            <a:pathLst>
              <a:path w="356064" h="100152">
                <a:moveTo>
                  <a:pt x="356064" y="0"/>
                </a:moveTo>
                <a:lnTo>
                  <a:pt x="356064" y="100152"/>
                </a:lnTo>
                <a:lnTo>
                  <a:pt x="0" y="100152"/>
                </a:lnTo>
              </a:path>
            </a:pathLst>
          </a:custGeom>
          <a:noFill/>
          <a:ln w="8509" cap="rnd">
            <a:solidFill>
              <a:srgbClr val="3B8C80"/>
            </a:solidFill>
            <a:prstDash val="solid"/>
            <a:round/>
          </a:ln>
        </p:spPr>
      </p:sp>
      <p:sp>
        <p:nvSpPr>
          <p:cNvPr id="1482" name="V8 concat to MLP">
            <a:extLst>
              <a:ext uri="{FF2B5EF4-FFF2-40B4-BE49-F238E27FC236}">
                <a16:creationId xmlns:a16="http://schemas.microsoft.com/office/drawing/2014/main" id="{366946BB-F669-FC2F-4DBA-809EA592E5E1}"/>
              </a:ext>
            </a:extLst>
          </p:cNvPr>
          <p:cNvSpPr/>
          <p:nvPr/>
        </p:nvSpPr>
        <p:spPr>
          <a:xfrm>
            <a:off x="1334211" y="3703320"/>
            <a:ext cx="1" cy="22181"/>
          </a:xfrm>
          <a:custGeom>
            <a:avLst/>
            <a:gdLst/>
            <a:ahLst/>
            <a:cxnLst/>
            <a:rect l="l" t="t" r="r" b="b"/>
            <a:pathLst>
              <a:path w="1" h="22181">
                <a:moveTo>
                  <a:pt x="0" y="0"/>
                </a:moveTo>
                <a:lnTo>
                  <a:pt x="0" y="22181"/>
                </a:lnTo>
              </a:path>
            </a:pathLst>
          </a:custGeom>
          <a:noFill/>
          <a:ln w="8509" cap="rnd">
            <a:solidFill>
              <a:srgbClr val="3B8C80"/>
            </a:solidFill>
            <a:prstDash val="solid"/>
            <a:round/>
          </a:ln>
        </p:spPr>
      </p:sp>
      <p:sp>
        <p:nvSpPr>
          <p:cNvPr id="1483" name="V8 concat to MLP head">
            <a:extLst>
              <a:ext uri="{FF2B5EF4-FFF2-40B4-BE49-F238E27FC236}">
                <a16:creationId xmlns:a16="http://schemas.microsoft.com/office/drawing/2014/main" id="{234835D4-EF31-832C-586B-712FBD8CEB61}"/>
              </a:ext>
            </a:extLst>
          </p:cNvPr>
          <p:cNvSpPr/>
          <p:nvPr/>
        </p:nvSpPr>
        <p:spPr>
          <a:xfrm>
            <a:off x="1322019" y="3709924"/>
            <a:ext cx="24384" cy="28321"/>
          </a:xfrm>
          <a:custGeom>
            <a:avLst/>
            <a:gdLst/>
            <a:ahLst/>
            <a:cxnLst/>
            <a:rect l="l" t="t" r="r" b="b"/>
            <a:pathLst>
              <a:path w="24384" h="28321">
                <a:moveTo>
                  <a:pt x="12192" y="28321"/>
                </a:moveTo>
                <a:lnTo>
                  <a:pt x="24384" y="0"/>
                </a:lnTo>
                <a:lnTo>
                  <a:pt x="0" y="0"/>
                </a:lnTo>
                <a:close/>
              </a:path>
            </a:pathLst>
          </a:custGeom>
          <a:solidFill>
            <a:srgbClr val="3B8C80"/>
          </a:solidFill>
          <a:ln w="0" cap="rnd">
            <a:noFill/>
          </a:ln>
        </p:spPr>
      </p:sp>
      <p:sp>
        <p:nvSpPr>
          <p:cNvPr id="1484" name="V8 Build site and identity frame">
            <a:extLst>
              <a:ext uri="{FF2B5EF4-FFF2-40B4-BE49-F238E27FC236}">
                <a16:creationId xmlns:a16="http://schemas.microsoft.com/office/drawing/2014/main" id="{B0159410-81AF-A0CB-FD15-D731C54E54D4}"/>
              </a:ext>
            </a:extLst>
          </p:cNvPr>
          <p:cNvSpPr/>
          <p:nvPr/>
        </p:nvSpPr>
        <p:spPr>
          <a:xfrm>
            <a:off x="4996634" y="457662"/>
            <a:ext cx="519754" cy="1228090"/>
          </a:xfrm>
          <a:prstGeom prst="roundRect">
            <a:avLst>
              <a:gd name="adj" fmla="val 5556"/>
            </a:avLst>
          </a:prstGeom>
          <a:noFill/>
          <a:ln w="6985" cap="rnd">
            <a:solidFill>
              <a:srgbClr val="D5CCB8"/>
            </a:solidFill>
            <a:prstDash val="dash"/>
            <a:round/>
          </a:ln>
        </p:spPr>
      </p:sp>
      <p:sp>
        <p:nvSpPr>
          <p:cNvPr id="1485" name="V8 Build pocket and density frame">
            <a:extLst>
              <a:ext uri="{FF2B5EF4-FFF2-40B4-BE49-F238E27FC236}">
                <a16:creationId xmlns:a16="http://schemas.microsoft.com/office/drawing/2014/main" id="{FF6F6920-E776-E473-D444-477FCB823104}"/>
              </a:ext>
            </a:extLst>
          </p:cNvPr>
          <p:cNvSpPr/>
          <p:nvPr/>
        </p:nvSpPr>
        <p:spPr>
          <a:xfrm>
            <a:off x="5564187" y="456353"/>
            <a:ext cx="527685" cy="1228090"/>
          </a:xfrm>
          <a:prstGeom prst="roundRect">
            <a:avLst>
              <a:gd name="adj" fmla="val 6477"/>
            </a:avLst>
          </a:prstGeom>
          <a:noFill/>
          <a:ln w="6985" cap="rnd">
            <a:solidFill>
              <a:srgbClr val="D5CCB8"/>
            </a:solidFill>
            <a:prstDash val="dash"/>
            <a:round/>
          </a:ln>
        </p:spPr>
      </p:sp>
      <p:sp>
        <p:nvSpPr>
          <p:cNvPr id="1486" name="V8 Build inputs to docking">
            <a:extLst>
              <a:ext uri="{FF2B5EF4-FFF2-40B4-BE49-F238E27FC236}">
                <a16:creationId xmlns:a16="http://schemas.microsoft.com/office/drawing/2014/main" id="{25F81FEB-7923-B705-D48C-4F1FE2423027}"/>
              </a:ext>
            </a:extLst>
          </p:cNvPr>
          <p:cNvSpPr/>
          <p:nvPr/>
        </p:nvSpPr>
        <p:spPr>
          <a:xfrm>
            <a:off x="5546090" y="1765305"/>
            <a:ext cx="1" cy="56229"/>
          </a:xfrm>
          <a:custGeom>
            <a:avLst/>
            <a:gdLst/>
            <a:ahLst/>
            <a:cxnLst/>
            <a:rect l="l" t="t" r="r" b="b"/>
            <a:pathLst>
              <a:path w="1" h="113379">
                <a:moveTo>
                  <a:pt x="0" y="0"/>
                </a:moveTo>
                <a:lnTo>
                  <a:pt x="0" y="113379"/>
                </a:lnTo>
              </a:path>
            </a:pathLst>
          </a:custGeom>
          <a:noFill/>
          <a:ln w="13208" cap="rnd">
            <a:solidFill>
              <a:srgbClr val="71808C"/>
            </a:solidFill>
            <a:prstDash val="solid"/>
            <a:round/>
          </a:ln>
        </p:spPr>
      </p:sp>
      <p:sp>
        <p:nvSpPr>
          <p:cNvPr id="1487" name="V8 Build inputs to docking head">
            <a:extLst>
              <a:ext uri="{FF2B5EF4-FFF2-40B4-BE49-F238E27FC236}">
                <a16:creationId xmlns:a16="http://schemas.microsoft.com/office/drawing/2014/main" id="{B51CEB37-F359-D8DB-EED0-BF0289DBA9C3}"/>
              </a:ext>
            </a:extLst>
          </p:cNvPr>
          <p:cNvSpPr/>
          <p:nvPr/>
        </p:nvSpPr>
        <p:spPr>
          <a:xfrm>
            <a:off x="5524182" y="1800230"/>
            <a:ext cx="43815" cy="38735"/>
          </a:xfrm>
          <a:custGeom>
            <a:avLst/>
            <a:gdLst/>
            <a:ahLst/>
            <a:cxnLst/>
            <a:rect l="l" t="t" r="r" b="b"/>
            <a:pathLst>
              <a:path w="43815" h="38735">
                <a:moveTo>
                  <a:pt x="21908" y="38735"/>
                </a:moveTo>
                <a:lnTo>
                  <a:pt x="43815" y="0"/>
                </a:lnTo>
                <a:lnTo>
                  <a:pt x="0" y="0"/>
                </a:lnTo>
                <a:close/>
              </a:path>
            </a:pathLst>
          </a:custGeom>
          <a:solidFill>
            <a:srgbClr val="71808C"/>
          </a:solidFill>
          <a:ln w="0" cap="rnd">
            <a:noFill/>
          </a:ln>
        </p:spPr>
      </p:sp>
      <p:sp>
        <p:nvSpPr>
          <p:cNvPr id="1488" name="V8 Build docking to pose">
            <a:extLst>
              <a:ext uri="{FF2B5EF4-FFF2-40B4-BE49-F238E27FC236}">
                <a16:creationId xmlns:a16="http://schemas.microsoft.com/office/drawing/2014/main" id="{A8390C7D-F4E0-5D67-9352-7A11942FB4C0}"/>
              </a:ext>
            </a:extLst>
          </p:cNvPr>
          <p:cNvSpPr/>
          <p:nvPr/>
        </p:nvSpPr>
        <p:spPr>
          <a:xfrm>
            <a:off x="5546090" y="3237230"/>
            <a:ext cx="1" cy="113379"/>
          </a:xfrm>
          <a:custGeom>
            <a:avLst/>
            <a:gdLst/>
            <a:ahLst/>
            <a:cxnLst/>
            <a:rect l="l" t="t" r="r" b="b"/>
            <a:pathLst>
              <a:path w="1" h="113379">
                <a:moveTo>
                  <a:pt x="0" y="0"/>
                </a:moveTo>
                <a:lnTo>
                  <a:pt x="0" y="113379"/>
                </a:lnTo>
              </a:path>
            </a:pathLst>
          </a:custGeom>
          <a:noFill/>
          <a:ln w="13208" cap="rnd">
            <a:solidFill>
              <a:srgbClr val="71808C"/>
            </a:solidFill>
            <a:prstDash val="solid"/>
            <a:round/>
          </a:ln>
        </p:spPr>
      </p:sp>
      <p:sp>
        <p:nvSpPr>
          <p:cNvPr id="1489" name="V8 Build docking to pose head">
            <a:extLst>
              <a:ext uri="{FF2B5EF4-FFF2-40B4-BE49-F238E27FC236}">
                <a16:creationId xmlns:a16="http://schemas.microsoft.com/office/drawing/2014/main" id="{CB9E0D49-EB6F-EF7F-8A0E-43482900F10A}"/>
              </a:ext>
            </a:extLst>
          </p:cNvPr>
          <p:cNvSpPr/>
          <p:nvPr/>
        </p:nvSpPr>
        <p:spPr>
          <a:xfrm>
            <a:off x="5524182" y="3329305"/>
            <a:ext cx="43815" cy="38735"/>
          </a:xfrm>
          <a:custGeom>
            <a:avLst/>
            <a:gdLst/>
            <a:ahLst/>
            <a:cxnLst/>
            <a:rect l="l" t="t" r="r" b="b"/>
            <a:pathLst>
              <a:path w="43815" h="38735">
                <a:moveTo>
                  <a:pt x="21908" y="38735"/>
                </a:moveTo>
                <a:lnTo>
                  <a:pt x="43815" y="0"/>
                </a:lnTo>
                <a:lnTo>
                  <a:pt x="0" y="0"/>
                </a:lnTo>
                <a:close/>
              </a:path>
            </a:pathLst>
          </a:custGeom>
          <a:solidFill>
            <a:srgbClr val="71808C"/>
          </a:solidFill>
          <a:ln w="0" cap="rnd">
            <a:noFill/>
          </a:ln>
        </p:spPr>
      </p:sp>
      <p:grpSp>
        <p:nvGrpSpPr>
          <p:cNvPr id="6" name="Find candidate blob 2">
            <a:extLst>
              <a:ext uri="{FF2B5EF4-FFF2-40B4-BE49-F238E27FC236}">
                <a16:creationId xmlns:a16="http://schemas.microsoft.com/office/drawing/2014/main" id="{52582F41-8562-EDCF-D547-FEE06D78B091}"/>
              </a:ext>
            </a:extLst>
          </p:cNvPr>
          <p:cNvGrpSpPr/>
          <p:nvPr/>
        </p:nvGrpSpPr>
        <p:grpSpPr>
          <a:xfrm rot="3197729">
            <a:off x="4582892" y="901286"/>
            <a:ext cx="140909" cy="118817"/>
            <a:chOff x="1928706" y="3559489"/>
            <a:chExt cx="227897" cy="155682"/>
          </a:xfrm>
        </p:grpSpPr>
        <p:sp>
          <p:nvSpPr>
            <p:cNvPr id="16" name="Candidate blob | editable contour">
              <a:extLst>
                <a:ext uri="{FF2B5EF4-FFF2-40B4-BE49-F238E27FC236}">
                  <a16:creationId xmlns:a16="http://schemas.microsoft.com/office/drawing/2014/main" id="{AC599FE5-B7C8-2310-361D-307EF409B159}"/>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17" name="ellipse_2612">
              <a:extLst>
                <a:ext uri="{FF2B5EF4-FFF2-40B4-BE49-F238E27FC236}">
                  <a16:creationId xmlns:a16="http://schemas.microsoft.com/office/drawing/2014/main" id="{899D545A-9188-B8A5-5122-F55763321954}"/>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22" name="Match | Blob contour">
            <a:extLst>
              <a:ext uri="{FF2B5EF4-FFF2-40B4-BE49-F238E27FC236}">
                <a16:creationId xmlns:a16="http://schemas.microsoft.com/office/drawing/2014/main" id="{014BB78B-D7B6-7233-4454-F31E0FFFF761}"/>
              </a:ext>
            </a:extLst>
          </p:cNvPr>
          <p:cNvGrpSpPr/>
          <p:nvPr/>
        </p:nvGrpSpPr>
        <p:grpSpPr>
          <a:xfrm>
            <a:off x="5095498" y="565131"/>
            <a:ext cx="291608" cy="199265"/>
            <a:chOff x="1928706" y="3559489"/>
            <a:chExt cx="227897" cy="155682"/>
          </a:xfrm>
        </p:grpSpPr>
        <p:sp>
          <p:nvSpPr>
            <p:cNvPr id="24" name="Candidate blob | editable contour">
              <a:extLst>
                <a:ext uri="{FF2B5EF4-FFF2-40B4-BE49-F238E27FC236}">
                  <a16:creationId xmlns:a16="http://schemas.microsoft.com/office/drawing/2014/main" id="{A11312CB-4342-9A48-D209-5BB49581DECC}"/>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26" name="ellipse_2612">
              <a:extLst>
                <a:ext uri="{FF2B5EF4-FFF2-40B4-BE49-F238E27FC236}">
                  <a16:creationId xmlns:a16="http://schemas.microsoft.com/office/drawing/2014/main" id="{A5E3448F-A32E-D77A-4110-EC1F991AAB0A}"/>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27" name="Oval 12178">
            <a:extLst>
              <a:ext uri="{FF2B5EF4-FFF2-40B4-BE49-F238E27FC236}">
                <a16:creationId xmlns:a16="http://schemas.microsoft.com/office/drawing/2014/main" id="{FDC707AA-314A-7AA2-186D-A8D0C4B2CC82}"/>
              </a:ext>
            </a:extLst>
          </p:cNvPr>
          <p:cNvSpPr/>
          <p:nvPr/>
        </p:nvSpPr>
        <p:spPr>
          <a:xfrm>
            <a:off x="5224292" y="648563"/>
            <a:ext cx="34426" cy="34426"/>
          </a:xfrm>
          <a:prstGeom prst="ellipse">
            <a:avLst/>
          </a:prstGeom>
          <a:solidFill>
            <a:srgbClr val="1D4ED8"/>
          </a:solidFill>
          <a:ln w="63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50449" name="F2-bank-channel">
            <a:extLst>
              <a:ext uri="{FF2B5EF4-FFF2-40B4-BE49-F238E27FC236}">
                <a16:creationId xmlns:a16="http://schemas.microsoft.com/office/drawing/2014/main" id="{E8F7522B-3B27-4338-8014-8A4EEE25C15E}"/>
              </a:ext>
            </a:extLst>
          </p:cNvPr>
          <p:cNvSpPr>
            <a:spLocks noGrp="1"/>
          </p:cNvSpPr>
          <p:nvPr/>
        </p:nvSpPr>
        <p:spPr>
          <a:xfrm>
            <a:off x="1483362" y="508635"/>
            <a:ext cx="257175" cy="190500"/>
          </a:xfrm>
          <a:prstGeom prst="rect">
            <a:avLst/>
          </a:prstGeom>
          <a:solidFill>
            <a:srgbClr val="EBF7FC"/>
          </a:solidFill>
          <a:ln w="4286">
            <a:solidFill>
              <a:srgbClr val="A6C5DF"/>
            </a:solidFill>
          </a:ln>
        </p:spPr>
      </p:sp>
      <p:sp>
        <p:nvSpPr>
          <p:cNvPr id="50450" name="F2-bank-channel">
            <a:extLst>
              <a:ext uri="{FF2B5EF4-FFF2-40B4-BE49-F238E27FC236}">
                <a16:creationId xmlns:a16="http://schemas.microsoft.com/office/drawing/2014/main" id="{44CA542A-604D-4AA5-B11D-B6617579A677}"/>
              </a:ext>
            </a:extLst>
          </p:cNvPr>
          <p:cNvSpPr>
            <a:spLocks noGrp="1"/>
          </p:cNvSpPr>
          <p:nvPr/>
        </p:nvSpPr>
        <p:spPr>
          <a:xfrm>
            <a:off x="1475742" y="515303"/>
            <a:ext cx="257175" cy="190500"/>
          </a:xfrm>
          <a:prstGeom prst="rect">
            <a:avLst/>
          </a:prstGeom>
          <a:solidFill>
            <a:srgbClr val="EBF7FC"/>
          </a:solidFill>
          <a:ln w="4286">
            <a:solidFill>
              <a:srgbClr val="A6C5DF"/>
            </a:solidFill>
          </a:ln>
        </p:spPr>
      </p:sp>
      <p:sp>
        <p:nvSpPr>
          <p:cNvPr id="50451" name="F2-bank-channel">
            <a:extLst>
              <a:ext uri="{FF2B5EF4-FFF2-40B4-BE49-F238E27FC236}">
                <a16:creationId xmlns:a16="http://schemas.microsoft.com/office/drawing/2014/main" id="{94C83CC1-C6DF-4DC5-87DF-BCD87221CF3B}"/>
              </a:ext>
            </a:extLst>
          </p:cNvPr>
          <p:cNvSpPr>
            <a:spLocks noGrp="1"/>
          </p:cNvSpPr>
          <p:nvPr/>
        </p:nvSpPr>
        <p:spPr>
          <a:xfrm>
            <a:off x="1468122" y="521970"/>
            <a:ext cx="257175" cy="190500"/>
          </a:xfrm>
          <a:prstGeom prst="rect">
            <a:avLst/>
          </a:prstGeom>
          <a:solidFill>
            <a:srgbClr val="EBF7FC"/>
          </a:solidFill>
          <a:ln w="4286">
            <a:solidFill>
              <a:srgbClr val="A6C5DF"/>
            </a:solidFill>
          </a:ln>
        </p:spPr>
      </p:sp>
      <p:sp>
        <p:nvSpPr>
          <p:cNvPr id="50452" name="F2-bank-channel">
            <a:extLst>
              <a:ext uri="{FF2B5EF4-FFF2-40B4-BE49-F238E27FC236}">
                <a16:creationId xmlns:a16="http://schemas.microsoft.com/office/drawing/2014/main" id="{1ABD8E71-8A8E-4A01-9656-5F57A7EAD863}"/>
              </a:ext>
            </a:extLst>
          </p:cNvPr>
          <p:cNvSpPr>
            <a:spLocks noGrp="1"/>
          </p:cNvSpPr>
          <p:nvPr/>
        </p:nvSpPr>
        <p:spPr>
          <a:xfrm>
            <a:off x="1460502" y="528638"/>
            <a:ext cx="257175" cy="190500"/>
          </a:xfrm>
          <a:prstGeom prst="rect">
            <a:avLst/>
          </a:prstGeom>
          <a:solidFill>
            <a:srgbClr val="EBF7FC"/>
          </a:solidFill>
          <a:ln w="4286">
            <a:solidFill>
              <a:srgbClr val="A6C5DF"/>
            </a:solidFill>
          </a:ln>
        </p:spPr>
      </p:sp>
      <p:sp>
        <p:nvSpPr>
          <p:cNvPr id="50453" name="F2-bank-channel">
            <a:extLst>
              <a:ext uri="{FF2B5EF4-FFF2-40B4-BE49-F238E27FC236}">
                <a16:creationId xmlns:a16="http://schemas.microsoft.com/office/drawing/2014/main" id="{A1E78B7C-AF8B-46CF-BE9A-7739D3A000CC}"/>
              </a:ext>
            </a:extLst>
          </p:cNvPr>
          <p:cNvSpPr>
            <a:spLocks noGrp="1"/>
          </p:cNvSpPr>
          <p:nvPr/>
        </p:nvSpPr>
        <p:spPr>
          <a:xfrm>
            <a:off x="1452882" y="535305"/>
            <a:ext cx="257175" cy="190500"/>
          </a:xfrm>
          <a:prstGeom prst="rect">
            <a:avLst/>
          </a:prstGeom>
          <a:solidFill>
            <a:srgbClr val="EBF7FC"/>
          </a:solidFill>
          <a:ln w="4286">
            <a:solidFill>
              <a:srgbClr val="A6C5DF"/>
            </a:solidFill>
          </a:ln>
        </p:spPr>
      </p:sp>
      <p:sp>
        <p:nvSpPr>
          <p:cNvPr id="50454" name="F2-bank-channel">
            <a:extLst>
              <a:ext uri="{FF2B5EF4-FFF2-40B4-BE49-F238E27FC236}">
                <a16:creationId xmlns:a16="http://schemas.microsoft.com/office/drawing/2014/main" id="{F902D412-512B-42B7-B05D-EDD9258097DC}"/>
              </a:ext>
            </a:extLst>
          </p:cNvPr>
          <p:cNvSpPr>
            <a:spLocks noGrp="1"/>
          </p:cNvSpPr>
          <p:nvPr/>
        </p:nvSpPr>
        <p:spPr>
          <a:xfrm>
            <a:off x="1445262" y="541973"/>
            <a:ext cx="257175" cy="190500"/>
          </a:xfrm>
          <a:prstGeom prst="rect">
            <a:avLst/>
          </a:prstGeom>
          <a:solidFill>
            <a:srgbClr val="EBF7FC"/>
          </a:solidFill>
          <a:ln w="4286">
            <a:solidFill>
              <a:srgbClr val="A6C5DF"/>
            </a:solidFill>
          </a:ln>
        </p:spPr>
      </p:sp>
      <p:sp>
        <p:nvSpPr>
          <p:cNvPr id="50455" name="F2-bank-channel">
            <a:extLst>
              <a:ext uri="{FF2B5EF4-FFF2-40B4-BE49-F238E27FC236}">
                <a16:creationId xmlns:a16="http://schemas.microsoft.com/office/drawing/2014/main" id="{CA6824A1-9C37-4EE2-8CF4-7C88BCE1DBE6}"/>
              </a:ext>
            </a:extLst>
          </p:cNvPr>
          <p:cNvSpPr>
            <a:spLocks noGrp="1"/>
          </p:cNvSpPr>
          <p:nvPr/>
        </p:nvSpPr>
        <p:spPr>
          <a:xfrm>
            <a:off x="1437642" y="548640"/>
            <a:ext cx="257175" cy="190500"/>
          </a:xfrm>
          <a:prstGeom prst="rect">
            <a:avLst/>
          </a:prstGeom>
          <a:solidFill>
            <a:srgbClr val="EBF7FC"/>
          </a:solidFill>
          <a:ln w="4286">
            <a:solidFill>
              <a:srgbClr val="A6C5DF"/>
            </a:solidFill>
          </a:ln>
        </p:spPr>
      </p:sp>
      <p:sp>
        <p:nvSpPr>
          <p:cNvPr id="50456" name="F2-bank-channel">
            <a:extLst>
              <a:ext uri="{FF2B5EF4-FFF2-40B4-BE49-F238E27FC236}">
                <a16:creationId xmlns:a16="http://schemas.microsoft.com/office/drawing/2014/main" id="{2705DA7A-40F9-48D2-946C-8019421C16B7}"/>
              </a:ext>
            </a:extLst>
          </p:cNvPr>
          <p:cNvSpPr>
            <a:spLocks noGrp="1"/>
          </p:cNvSpPr>
          <p:nvPr/>
        </p:nvSpPr>
        <p:spPr>
          <a:xfrm>
            <a:off x="1430022" y="555308"/>
            <a:ext cx="257175" cy="190500"/>
          </a:xfrm>
          <a:prstGeom prst="rect">
            <a:avLst/>
          </a:prstGeom>
          <a:solidFill>
            <a:srgbClr val="EBF7FC"/>
          </a:solidFill>
          <a:ln w="4286">
            <a:solidFill>
              <a:srgbClr val="A6C5DF"/>
            </a:solidFill>
          </a:ln>
        </p:spPr>
      </p:sp>
      <p:sp>
        <p:nvSpPr>
          <p:cNvPr id="50457" name="F2-bank-channel">
            <a:extLst>
              <a:ext uri="{FF2B5EF4-FFF2-40B4-BE49-F238E27FC236}">
                <a16:creationId xmlns:a16="http://schemas.microsoft.com/office/drawing/2014/main" id="{E1B9C475-D32F-4E88-9AAA-6701AFC1AC14}"/>
              </a:ext>
            </a:extLst>
          </p:cNvPr>
          <p:cNvSpPr>
            <a:spLocks noGrp="1"/>
          </p:cNvSpPr>
          <p:nvPr/>
        </p:nvSpPr>
        <p:spPr>
          <a:xfrm>
            <a:off x="1422402" y="561975"/>
            <a:ext cx="257175" cy="190500"/>
          </a:xfrm>
          <a:prstGeom prst="rect">
            <a:avLst/>
          </a:prstGeom>
          <a:solidFill>
            <a:srgbClr val="EBF7FC"/>
          </a:solidFill>
          <a:ln w="4286">
            <a:solidFill>
              <a:srgbClr val="A6C5DF"/>
            </a:solidFill>
          </a:ln>
        </p:spPr>
      </p:sp>
      <p:sp>
        <p:nvSpPr>
          <p:cNvPr id="50458" name="F2-density-voxel">
            <a:extLst>
              <a:ext uri="{FF2B5EF4-FFF2-40B4-BE49-F238E27FC236}">
                <a16:creationId xmlns:a16="http://schemas.microsoft.com/office/drawing/2014/main" id="{A49953DB-68D8-42EB-963F-DD42F453137D}"/>
              </a:ext>
            </a:extLst>
          </p:cNvPr>
          <p:cNvSpPr>
            <a:spLocks noGrp="1"/>
          </p:cNvSpPr>
          <p:nvPr/>
        </p:nvSpPr>
        <p:spPr>
          <a:xfrm>
            <a:off x="1441452" y="571500"/>
            <a:ext cx="52388" cy="42863"/>
          </a:xfrm>
          <a:prstGeom prst="rect">
            <a:avLst/>
          </a:prstGeom>
          <a:solidFill>
            <a:srgbClr val="CCE5EE"/>
          </a:solidFill>
          <a:ln w="0">
            <a:noFill/>
          </a:ln>
        </p:spPr>
      </p:sp>
      <p:sp>
        <p:nvSpPr>
          <p:cNvPr id="50459" name="F2-density-voxel">
            <a:extLst>
              <a:ext uri="{FF2B5EF4-FFF2-40B4-BE49-F238E27FC236}">
                <a16:creationId xmlns:a16="http://schemas.microsoft.com/office/drawing/2014/main" id="{ECECDED8-7BB6-465D-90CE-1566D913C0F0}"/>
              </a:ext>
            </a:extLst>
          </p:cNvPr>
          <p:cNvSpPr>
            <a:spLocks noGrp="1"/>
          </p:cNvSpPr>
          <p:nvPr/>
        </p:nvSpPr>
        <p:spPr>
          <a:xfrm>
            <a:off x="1493840" y="571500"/>
            <a:ext cx="52388" cy="42863"/>
          </a:xfrm>
          <a:prstGeom prst="rect">
            <a:avLst/>
          </a:prstGeom>
          <a:solidFill>
            <a:srgbClr val="86C0D7"/>
          </a:solidFill>
          <a:ln w="0">
            <a:noFill/>
          </a:ln>
        </p:spPr>
      </p:sp>
      <p:sp>
        <p:nvSpPr>
          <p:cNvPr id="50460" name="F2-density-voxel">
            <a:extLst>
              <a:ext uri="{FF2B5EF4-FFF2-40B4-BE49-F238E27FC236}">
                <a16:creationId xmlns:a16="http://schemas.microsoft.com/office/drawing/2014/main" id="{49E89024-8821-43E6-B830-D5D2C6143679}"/>
              </a:ext>
            </a:extLst>
          </p:cNvPr>
          <p:cNvSpPr>
            <a:spLocks noGrp="1"/>
          </p:cNvSpPr>
          <p:nvPr/>
        </p:nvSpPr>
        <p:spPr>
          <a:xfrm>
            <a:off x="1546227" y="571500"/>
            <a:ext cx="52388" cy="42863"/>
          </a:xfrm>
          <a:prstGeom prst="rect">
            <a:avLst/>
          </a:prstGeom>
          <a:solidFill>
            <a:srgbClr val="4D9ABB"/>
          </a:solidFill>
          <a:ln w="0">
            <a:noFill/>
          </a:ln>
        </p:spPr>
      </p:sp>
      <p:sp>
        <p:nvSpPr>
          <p:cNvPr id="50461" name="F2-density-voxel">
            <a:extLst>
              <a:ext uri="{FF2B5EF4-FFF2-40B4-BE49-F238E27FC236}">
                <a16:creationId xmlns:a16="http://schemas.microsoft.com/office/drawing/2014/main" id="{3A635687-B1F5-496B-9A49-461D8BC35087}"/>
              </a:ext>
            </a:extLst>
          </p:cNvPr>
          <p:cNvSpPr>
            <a:spLocks noGrp="1"/>
          </p:cNvSpPr>
          <p:nvPr/>
        </p:nvSpPr>
        <p:spPr>
          <a:xfrm>
            <a:off x="1598615" y="571500"/>
            <a:ext cx="52388" cy="42863"/>
          </a:xfrm>
          <a:prstGeom prst="rect">
            <a:avLst/>
          </a:prstGeom>
          <a:solidFill>
            <a:srgbClr val="B6DDE7"/>
          </a:solidFill>
          <a:ln w="0">
            <a:noFill/>
          </a:ln>
        </p:spPr>
      </p:sp>
      <p:sp>
        <p:nvSpPr>
          <p:cNvPr id="50462" name="F2-density-voxel">
            <a:extLst>
              <a:ext uri="{FF2B5EF4-FFF2-40B4-BE49-F238E27FC236}">
                <a16:creationId xmlns:a16="http://schemas.microsoft.com/office/drawing/2014/main" id="{FEC54E9C-643D-4824-B955-66BA7E401A0E}"/>
              </a:ext>
            </a:extLst>
          </p:cNvPr>
          <p:cNvSpPr>
            <a:spLocks noGrp="1"/>
          </p:cNvSpPr>
          <p:nvPr/>
        </p:nvSpPr>
        <p:spPr>
          <a:xfrm>
            <a:off x="1441452" y="614363"/>
            <a:ext cx="52388" cy="42863"/>
          </a:xfrm>
          <a:prstGeom prst="rect">
            <a:avLst/>
          </a:prstGeom>
          <a:solidFill>
            <a:srgbClr val="86C0D7"/>
          </a:solidFill>
          <a:ln w="0">
            <a:noFill/>
          </a:ln>
        </p:spPr>
      </p:sp>
      <p:sp>
        <p:nvSpPr>
          <p:cNvPr id="50463" name="F2-density-voxel">
            <a:extLst>
              <a:ext uri="{FF2B5EF4-FFF2-40B4-BE49-F238E27FC236}">
                <a16:creationId xmlns:a16="http://schemas.microsoft.com/office/drawing/2014/main" id="{ED2290E5-D29A-42C8-863E-1A0B5A093DAF}"/>
              </a:ext>
            </a:extLst>
          </p:cNvPr>
          <p:cNvSpPr>
            <a:spLocks noGrp="1"/>
          </p:cNvSpPr>
          <p:nvPr/>
        </p:nvSpPr>
        <p:spPr>
          <a:xfrm>
            <a:off x="1493840" y="614363"/>
            <a:ext cx="52388" cy="42863"/>
          </a:xfrm>
          <a:prstGeom prst="rect">
            <a:avLst/>
          </a:prstGeom>
          <a:solidFill>
            <a:srgbClr val="4D9ABB"/>
          </a:solidFill>
          <a:ln w="0">
            <a:noFill/>
          </a:ln>
        </p:spPr>
      </p:sp>
      <p:sp>
        <p:nvSpPr>
          <p:cNvPr id="50464" name="F2-density-voxel">
            <a:extLst>
              <a:ext uri="{FF2B5EF4-FFF2-40B4-BE49-F238E27FC236}">
                <a16:creationId xmlns:a16="http://schemas.microsoft.com/office/drawing/2014/main" id="{C030A993-BA02-4CBF-A526-9AF795928873}"/>
              </a:ext>
            </a:extLst>
          </p:cNvPr>
          <p:cNvSpPr>
            <a:spLocks noGrp="1"/>
          </p:cNvSpPr>
          <p:nvPr/>
        </p:nvSpPr>
        <p:spPr>
          <a:xfrm>
            <a:off x="1546227" y="614363"/>
            <a:ext cx="52388" cy="42863"/>
          </a:xfrm>
          <a:prstGeom prst="rect">
            <a:avLst/>
          </a:prstGeom>
          <a:solidFill>
            <a:srgbClr val="B6DDE7"/>
          </a:solidFill>
          <a:ln w="0">
            <a:noFill/>
          </a:ln>
        </p:spPr>
      </p:sp>
      <p:sp>
        <p:nvSpPr>
          <p:cNvPr id="50465" name="F2-density-voxel">
            <a:extLst>
              <a:ext uri="{FF2B5EF4-FFF2-40B4-BE49-F238E27FC236}">
                <a16:creationId xmlns:a16="http://schemas.microsoft.com/office/drawing/2014/main" id="{EC212EF2-C0F1-41AF-B3CE-D957D17932A0}"/>
              </a:ext>
            </a:extLst>
          </p:cNvPr>
          <p:cNvSpPr>
            <a:spLocks noGrp="1"/>
          </p:cNvSpPr>
          <p:nvPr/>
        </p:nvSpPr>
        <p:spPr>
          <a:xfrm>
            <a:off x="1598615" y="614363"/>
            <a:ext cx="52388" cy="42863"/>
          </a:xfrm>
          <a:prstGeom prst="rect">
            <a:avLst/>
          </a:prstGeom>
          <a:solidFill>
            <a:srgbClr val="CCE5EE"/>
          </a:solidFill>
          <a:ln w="0">
            <a:noFill/>
          </a:ln>
        </p:spPr>
      </p:sp>
      <p:sp>
        <p:nvSpPr>
          <p:cNvPr id="50466" name="F2-density-voxel">
            <a:extLst>
              <a:ext uri="{FF2B5EF4-FFF2-40B4-BE49-F238E27FC236}">
                <a16:creationId xmlns:a16="http://schemas.microsoft.com/office/drawing/2014/main" id="{8E8D1CD2-DC81-4A69-849C-F21783FD798D}"/>
              </a:ext>
            </a:extLst>
          </p:cNvPr>
          <p:cNvSpPr>
            <a:spLocks noGrp="1"/>
          </p:cNvSpPr>
          <p:nvPr/>
        </p:nvSpPr>
        <p:spPr>
          <a:xfrm>
            <a:off x="1441452" y="657225"/>
            <a:ext cx="52388" cy="42863"/>
          </a:xfrm>
          <a:prstGeom prst="rect">
            <a:avLst/>
          </a:prstGeom>
          <a:solidFill>
            <a:srgbClr val="4D9ABB"/>
          </a:solidFill>
          <a:ln w="0">
            <a:noFill/>
          </a:ln>
        </p:spPr>
      </p:sp>
      <p:sp>
        <p:nvSpPr>
          <p:cNvPr id="50467" name="F2-density-voxel">
            <a:extLst>
              <a:ext uri="{FF2B5EF4-FFF2-40B4-BE49-F238E27FC236}">
                <a16:creationId xmlns:a16="http://schemas.microsoft.com/office/drawing/2014/main" id="{CEA7FE12-330D-4160-8BE6-769BF6A26577}"/>
              </a:ext>
            </a:extLst>
          </p:cNvPr>
          <p:cNvSpPr>
            <a:spLocks noGrp="1"/>
          </p:cNvSpPr>
          <p:nvPr/>
        </p:nvSpPr>
        <p:spPr>
          <a:xfrm>
            <a:off x="1493840" y="657225"/>
            <a:ext cx="52388" cy="42863"/>
          </a:xfrm>
          <a:prstGeom prst="rect">
            <a:avLst/>
          </a:prstGeom>
          <a:solidFill>
            <a:srgbClr val="B6DDE7"/>
          </a:solidFill>
          <a:ln w="0">
            <a:noFill/>
          </a:ln>
        </p:spPr>
      </p:sp>
      <p:sp>
        <p:nvSpPr>
          <p:cNvPr id="50468" name="F2-density-voxel">
            <a:extLst>
              <a:ext uri="{FF2B5EF4-FFF2-40B4-BE49-F238E27FC236}">
                <a16:creationId xmlns:a16="http://schemas.microsoft.com/office/drawing/2014/main" id="{BE225EBF-D266-4631-9D7E-1B21643503B4}"/>
              </a:ext>
            </a:extLst>
          </p:cNvPr>
          <p:cNvSpPr>
            <a:spLocks noGrp="1"/>
          </p:cNvSpPr>
          <p:nvPr/>
        </p:nvSpPr>
        <p:spPr>
          <a:xfrm>
            <a:off x="1546227" y="657225"/>
            <a:ext cx="52388" cy="42863"/>
          </a:xfrm>
          <a:prstGeom prst="rect">
            <a:avLst/>
          </a:prstGeom>
          <a:solidFill>
            <a:srgbClr val="CCE5EE"/>
          </a:solidFill>
          <a:ln w="0">
            <a:noFill/>
          </a:ln>
        </p:spPr>
      </p:sp>
      <p:sp>
        <p:nvSpPr>
          <p:cNvPr id="50469" name="F2-density-voxel">
            <a:extLst>
              <a:ext uri="{FF2B5EF4-FFF2-40B4-BE49-F238E27FC236}">
                <a16:creationId xmlns:a16="http://schemas.microsoft.com/office/drawing/2014/main" id="{D56EA4DF-3429-4429-A2AA-6D7C9D33B341}"/>
              </a:ext>
            </a:extLst>
          </p:cNvPr>
          <p:cNvSpPr>
            <a:spLocks noGrp="1"/>
          </p:cNvSpPr>
          <p:nvPr/>
        </p:nvSpPr>
        <p:spPr>
          <a:xfrm>
            <a:off x="1598615" y="657225"/>
            <a:ext cx="52388" cy="42863"/>
          </a:xfrm>
          <a:prstGeom prst="rect">
            <a:avLst/>
          </a:prstGeom>
          <a:solidFill>
            <a:srgbClr val="86C0D7"/>
          </a:solidFill>
          <a:ln w="0">
            <a:noFill/>
          </a:ln>
        </p:spPr>
      </p:sp>
      <p:sp>
        <p:nvSpPr>
          <p:cNvPr id="50470" name="F2-density-voxel">
            <a:extLst>
              <a:ext uri="{FF2B5EF4-FFF2-40B4-BE49-F238E27FC236}">
                <a16:creationId xmlns:a16="http://schemas.microsoft.com/office/drawing/2014/main" id="{F4CB67F8-3427-42E0-B222-3C4C5B421A28}"/>
              </a:ext>
            </a:extLst>
          </p:cNvPr>
          <p:cNvSpPr>
            <a:spLocks noGrp="1"/>
          </p:cNvSpPr>
          <p:nvPr/>
        </p:nvSpPr>
        <p:spPr>
          <a:xfrm>
            <a:off x="1441452" y="700088"/>
            <a:ext cx="52388" cy="42863"/>
          </a:xfrm>
          <a:prstGeom prst="rect">
            <a:avLst/>
          </a:prstGeom>
          <a:solidFill>
            <a:srgbClr val="B6DDE7"/>
          </a:solidFill>
          <a:ln w="0">
            <a:noFill/>
          </a:ln>
        </p:spPr>
      </p:sp>
      <p:sp>
        <p:nvSpPr>
          <p:cNvPr id="50471" name="F2-density-voxel">
            <a:extLst>
              <a:ext uri="{FF2B5EF4-FFF2-40B4-BE49-F238E27FC236}">
                <a16:creationId xmlns:a16="http://schemas.microsoft.com/office/drawing/2014/main" id="{E62F2DC6-612B-4891-B2B7-8020312C0678}"/>
              </a:ext>
            </a:extLst>
          </p:cNvPr>
          <p:cNvSpPr>
            <a:spLocks noGrp="1"/>
          </p:cNvSpPr>
          <p:nvPr/>
        </p:nvSpPr>
        <p:spPr>
          <a:xfrm>
            <a:off x="1493840" y="700088"/>
            <a:ext cx="52388" cy="42863"/>
          </a:xfrm>
          <a:prstGeom prst="rect">
            <a:avLst/>
          </a:prstGeom>
          <a:solidFill>
            <a:srgbClr val="CCE5EE"/>
          </a:solidFill>
          <a:ln w="0">
            <a:noFill/>
          </a:ln>
        </p:spPr>
      </p:sp>
      <p:sp>
        <p:nvSpPr>
          <p:cNvPr id="50472" name="F2-density-voxel">
            <a:extLst>
              <a:ext uri="{FF2B5EF4-FFF2-40B4-BE49-F238E27FC236}">
                <a16:creationId xmlns:a16="http://schemas.microsoft.com/office/drawing/2014/main" id="{3D79F01F-5243-4E3C-8AA7-EE2C8B8C7E29}"/>
              </a:ext>
            </a:extLst>
          </p:cNvPr>
          <p:cNvSpPr>
            <a:spLocks noGrp="1"/>
          </p:cNvSpPr>
          <p:nvPr/>
        </p:nvSpPr>
        <p:spPr>
          <a:xfrm>
            <a:off x="1546227" y="700088"/>
            <a:ext cx="52388" cy="42863"/>
          </a:xfrm>
          <a:prstGeom prst="rect">
            <a:avLst/>
          </a:prstGeom>
          <a:solidFill>
            <a:srgbClr val="86C0D7"/>
          </a:solidFill>
          <a:ln w="0">
            <a:noFill/>
          </a:ln>
        </p:spPr>
      </p:sp>
      <p:sp>
        <p:nvSpPr>
          <p:cNvPr id="50473" name="F2-density-voxel">
            <a:extLst>
              <a:ext uri="{FF2B5EF4-FFF2-40B4-BE49-F238E27FC236}">
                <a16:creationId xmlns:a16="http://schemas.microsoft.com/office/drawing/2014/main" id="{7F5BC88D-76D1-4A24-B998-8BD41F9AADDB}"/>
              </a:ext>
            </a:extLst>
          </p:cNvPr>
          <p:cNvSpPr>
            <a:spLocks noGrp="1"/>
          </p:cNvSpPr>
          <p:nvPr/>
        </p:nvSpPr>
        <p:spPr>
          <a:xfrm>
            <a:off x="1598615" y="700088"/>
            <a:ext cx="52388" cy="42863"/>
          </a:xfrm>
          <a:prstGeom prst="rect">
            <a:avLst/>
          </a:prstGeom>
          <a:solidFill>
            <a:srgbClr val="4D9ABB"/>
          </a:solidFill>
          <a:ln w="0">
            <a:noFill/>
          </a:ln>
        </p:spPr>
      </p:sp>
      <p:sp>
        <p:nvSpPr>
          <p:cNvPr id="50474" name="F2-spatial-transform">
            <a:extLst>
              <a:ext uri="{FF2B5EF4-FFF2-40B4-BE49-F238E27FC236}">
                <a16:creationId xmlns:a16="http://schemas.microsoft.com/office/drawing/2014/main" id="{A85283F8-9FE2-48A1-8429-5356F2D370E2}"/>
              </a:ext>
            </a:extLst>
          </p:cNvPr>
          <p:cNvSpPr>
            <a:spLocks noGrp="1"/>
          </p:cNvSpPr>
          <p:nvPr/>
        </p:nvSpPr>
        <p:spPr>
          <a:xfrm>
            <a:off x="1011739" y="549713"/>
            <a:ext cx="376238"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sz="460" b="0" dirty="0">
                <a:solidFill>
                  <a:srgbClr val="263442"/>
                </a:solidFill>
                <a:latin typeface="Arial"/>
                <a:ea typeface="Arial"/>
                <a:cs typeface="Arial"/>
              </a:rPr>
              <a:t>Spatial</a:t>
            </a:r>
          </a:p>
          <a:p>
            <a:pPr algn="ctr">
              <a:defRPr sz="540" b="0">
                <a:solidFill>
                  <a:srgbClr val="263442"/>
                </a:solidFill>
                <a:latin typeface="Arial"/>
                <a:ea typeface="Arial"/>
                <a:cs typeface="Arial"/>
              </a:defRPr>
            </a:pPr>
            <a:r>
              <a:rPr sz="460" b="0" dirty="0">
                <a:solidFill>
                  <a:srgbClr val="263442"/>
                </a:solidFill>
                <a:latin typeface="Arial"/>
                <a:ea typeface="Arial"/>
                <a:cs typeface="Arial"/>
              </a:rPr>
              <a:t>transform</a:t>
            </a:r>
          </a:p>
        </p:txBody>
      </p:sp>
      <p:sp>
        <p:nvSpPr>
          <p:cNvPr id="50475" name="F2-atom-embeddings-input">
            <a:extLst>
              <a:ext uri="{FF2B5EF4-FFF2-40B4-BE49-F238E27FC236}">
                <a16:creationId xmlns:a16="http://schemas.microsoft.com/office/drawing/2014/main" id="{0B4B93C5-B055-4ECE-8D5F-9FD8F9F29D6A}"/>
              </a:ext>
            </a:extLst>
          </p:cNvPr>
          <p:cNvSpPr>
            <a:spLocks noGrp="1"/>
          </p:cNvSpPr>
          <p:nvPr/>
        </p:nvSpPr>
        <p:spPr>
          <a:xfrm>
            <a:off x="1040427" y="1287494"/>
            <a:ext cx="327329"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lang="en-US" sz="460" b="0" dirty="0">
                <a:solidFill>
                  <a:srgbClr val="263442"/>
                </a:solidFill>
                <a:latin typeface="Arial"/>
                <a:ea typeface="Arial"/>
                <a:cs typeface="Arial"/>
              </a:rPr>
              <a:t>E</a:t>
            </a:r>
            <a:r>
              <a:rPr sz="460" b="0" dirty="0">
                <a:solidFill>
                  <a:srgbClr val="263442"/>
                </a:solidFill>
                <a:latin typeface="Arial"/>
                <a:ea typeface="Arial"/>
                <a:cs typeface="Arial"/>
              </a:rPr>
              <a:t>mbedding</a:t>
            </a:r>
            <a:endParaRPr lang="en-US" sz="460" b="0" dirty="0">
              <a:solidFill>
                <a:srgbClr val="263442"/>
              </a:solidFill>
              <a:latin typeface="Arial"/>
              <a:ea typeface="Arial"/>
              <a:cs typeface="Arial"/>
            </a:endParaRPr>
          </a:p>
          <a:p>
            <a:pPr algn="ctr">
              <a:defRPr sz="540" b="0">
                <a:solidFill>
                  <a:srgbClr val="263442"/>
                </a:solidFill>
                <a:latin typeface="Arial"/>
                <a:ea typeface="Arial"/>
                <a:cs typeface="Arial"/>
              </a:defRPr>
            </a:pPr>
            <a:r>
              <a:rPr lang="en-US" altLang="zh-CN" sz="460" b="0" dirty="0">
                <a:solidFill>
                  <a:srgbClr val="263442"/>
                </a:solidFill>
                <a:latin typeface="Arial"/>
                <a:ea typeface="Arial"/>
                <a:cs typeface="Arial"/>
              </a:rPr>
              <a:t>head</a:t>
            </a:r>
            <a:endParaRPr sz="460" b="0" dirty="0">
              <a:solidFill>
                <a:srgbClr val="263442"/>
              </a:solidFill>
              <a:latin typeface="Arial"/>
              <a:ea typeface="Arial"/>
              <a:cs typeface="Arial"/>
            </a:endParaRPr>
          </a:p>
        </p:txBody>
      </p:sp>
      <p:pic>
        <p:nvPicPr>
          <p:cNvPr id="50482" name="图片 50481">
            <a:extLst>
              <a:ext uri="{FF2B5EF4-FFF2-40B4-BE49-F238E27FC236}">
                <a16:creationId xmlns:a16="http://schemas.microsoft.com/office/drawing/2014/main" id="{CC697937-E8CE-4EDF-BB17-1FEA96E39283}"/>
              </a:ext>
            </a:extLst>
          </p:cNvPr>
          <p:cNvPicPr>
            <a:picLocks noChangeAspect="1"/>
          </p:cNvPicPr>
          <p:nvPr/>
        </p:nvPicPr>
        <p:blipFill>
          <a:blip r:embed="rId8"/>
          <a:stretch/>
        </p:blipFill>
        <p:spPr>
          <a:xfrm>
            <a:off x="683208" y="2943948"/>
            <a:ext cx="414760" cy="342900"/>
          </a:xfrm>
          <a:prstGeom prst="rect">
            <a:avLst/>
          </a:prstGeom>
        </p:spPr>
      </p:pic>
      <p:pic>
        <p:nvPicPr>
          <p:cNvPr id="50483" name="图片 50482">
            <a:extLst>
              <a:ext uri="{FF2B5EF4-FFF2-40B4-BE49-F238E27FC236}">
                <a16:creationId xmlns:a16="http://schemas.microsoft.com/office/drawing/2014/main" id="{438EEB95-3CA6-4E7A-A194-3246AD95375E}"/>
              </a:ext>
            </a:extLst>
          </p:cNvPr>
          <p:cNvPicPr>
            <a:picLocks noChangeAspect="1"/>
          </p:cNvPicPr>
          <p:nvPr/>
        </p:nvPicPr>
        <p:blipFill>
          <a:blip r:embed="rId9"/>
          <a:stretch/>
        </p:blipFill>
        <p:spPr>
          <a:xfrm>
            <a:off x="5631445" y="485775"/>
            <a:ext cx="414760" cy="342900"/>
          </a:xfrm>
          <a:prstGeom prst="rect">
            <a:avLst/>
          </a:prstGeom>
        </p:spPr>
      </p:pic>
      <p:sp>
        <p:nvSpPr>
          <p:cNvPr id="50484" name="F2-Build-selected">
            <a:extLst>
              <a:ext uri="{FF2B5EF4-FFF2-40B4-BE49-F238E27FC236}">
                <a16:creationId xmlns:a16="http://schemas.microsoft.com/office/drawing/2014/main" id="{DE962B78-B7D5-48B9-87F8-2B7091442BBC}"/>
              </a:ext>
            </a:extLst>
          </p:cNvPr>
          <p:cNvSpPr>
            <a:spLocks noGrp="1"/>
          </p:cNvSpPr>
          <p:nvPr/>
        </p:nvSpPr>
        <p:spPr>
          <a:xfrm>
            <a:off x="5054601" y="1283549"/>
            <a:ext cx="390525" cy="81915"/>
          </a:xfrm>
          <a:prstGeom prst="roundRect">
            <a:avLst>
              <a:gd name="adj" fmla="val 50000"/>
            </a:avLst>
          </a:prstGeom>
          <a:solidFill>
            <a:srgbClr val="DCF8EB"/>
          </a:solidFill>
          <a:ln w="7144">
            <a:solidFill>
              <a:srgbClr val="499D86"/>
            </a:solidFill>
          </a:ln>
        </p:spPr>
      </p:sp>
      <p:sp>
        <p:nvSpPr>
          <p:cNvPr id="50485" name="F2-Build-SMILES-0">
            <a:extLst>
              <a:ext uri="{FF2B5EF4-FFF2-40B4-BE49-F238E27FC236}">
                <a16:creationId xmlns:a16="http://schemas.microsoft.com/office/drawing/2014/main" id="{78E3ED61-275F-4084-A0ED-58027336CEDD}"/>
              </a:ext>
            </a:extLst>
          </p:cNvPr>
          <p:cNvSpPr>
            <a:spLocks noGrp="1"/>
          </p:cNvSpPr>
          <p:nvPr/>
        </p:nvSpPr>
        <p:spPr>
          <a:xfrm>
            <a:off x="5101503" y="1136660"/>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lgn="l">
              <a:defRPr sz="540" b="0">
                <a:solidFill>
                  <a:srgbClr val="263442"/>
                </a:solidFill>
                <a:latin typeface="Arial"/>
                <a:ea typeface="Arial"/>
                <a:cs typeface="Arial"/>
              </a:defRPr>
            </a:pPr>
            <a:r>
              <a:rPr sz="480" b="0" dirty="0">
                <a:solidFill>
                  <a:srgbClr val="263442"/>
                </a:solidFill>
                <a:latin typeface="Arial"/>
                <a:ea typeface="Arial"/>
                <a:cs typeface="Arial"/>
              </a:rPr>
              <a:t>CCO</a:t>
            </a:r>
          </a:p>
        </p:txBody>
      </p:sp>
      <p:sp>
        <p:nvSpPr>
          <p:cNvPr id="50486" name="F2-Build-SMILES-7.8">
            <a:extLst>
              <a:ext uri="{FF2B5EF4-FFF2-40B4-BE49-F238E27FC236}">
                <a16:creationId xmlns:a16="http://schemas.microsoft.com/office/drawing/2014/main" id="{D4F86145-7D8F-43EC-916E-D3D9668CBA5D}"/>
              </a:ext>
            </a:extLst>
          </p:cNvPr>
          <p:cNvSpPr>
            <a:spLocks noGrp="1"/>
          </p:cNvSpPr>
          <p:nvPr/>
        </p:nvSpPr>
        <p:spPr>
          <a:xfrm>
            <a:off x="5101503" y="1199841"/>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CC(=O)O</a:t>
            </a:r>
          </a:p>
        </p:txBody>
      </p:sp>
      <p:sp>
        <p:nvSpPr>
          <p:cNvPr id="50487" name="F2-Build-continuation">
            <a:extLst>
              <a:ext uri="{FF2B5EF4-FFF2-40B4-BE49-F238E27FC236}">
                <a16:creationId xmlns:a16="http://schemas.microsoft.com/office/drawing/2014/main" id="{69E4AF15-4441-4953-BC21-A9A09B8807EC}"/>
              </a:ext>
            </a:extLst>
          </p:cNvPr>
          <p:cNvSpPr>
            <a:spLocks noGrp="1"/>
          </p:cNvSpPr>
          <p:nvPr/>
        </p:nvSpPr>
        <p:spPr>
          <a:xfrm>
            <a:off x="5106267" y="1268735"/>
            <a:ext cx="6668" cy="6668"/>
          </a:xfrm>
          <a:prstGeom prst="ellipse">
            <a:avLst/>
          </a:prstGeom>
          <a:solidFill>
            <a:srgbClr val="687780"/>
          </a:solidFill>
          <a:ln w="0">
            <a:noFill/>
          </a:ln>
        </p:spPr>
      </p:sp>
      <p:sp>
        <p:nvSpPr>
          <p:cNvPr id="50488" name="F2-Build-continuation">
            <a:extLst>
              <a:ext uri="{FF2B5EF4-FFF2-40B4-BE49-F238E27FC236}">
                <a16:creationId xmlns:a16="http://schemas.microsoft.com/office/drawing/2014/main" id="{A73B5841-5DC8-4503-BDE2-815DBBEFE500}"/>
              </a:ext>
            </a:extLst>
          </p:cNvPr>
          <p:cNvSpPr>
            <a:spLocks noGrp="1"/>
          </p:cNvSpPr>
          <p:nvPr/>
        </p:nvSpPr>
        <p:spPr>
          <a:xfrm>
            <a:off x="5119918" y="1268735"/>
            <a:ext cx="6668" cy="6668"/>
          </a:xfrm>
          <a:prstGeom prst="ellipse">
            <a:avLst/>
          </a:prstGeom>
          <a:solidFill>
            <a:srgbClr val="687780"/>
          </a:solidFill>
          <a:ln w="0">
            <a:noFill/>
          </a:ln>
        </p:spPr>
      </p:sp>
      <p:sp>
        <p:nvSpPr>
          <p:cNvPr id="50489" name="F2-Build-continuation">
            <a:extLst>
              <a:ext uri="{FF2B5EF4-FFF2-40B4-BE49-F238E27FC236}">
                <a16:creationId xmlns:a16="http://schemas.microsoft.com/office/drawing/2014/main" id="{2CD955D9-21C2-4AE5-9635-C9F55AC072BD}"/>
              </a:ext>
            </a:extLst>
          </p:cNvPr>
          <p:cNvSpPr>
            <a:spLocks noGrp="1"/>
          </p:cNvSpPr>
          <p:nvPr/>
        </p:nvSpPr>
        <p:spPr>
          <a:xfrm>
            <a:off x="5135157" y="1268735"/>
            <a:ext cx="6668" cy="6668"/>
          </a:xfrm>
          <a:prstGeom prst="ellipse">
            <a:avLst/>
          </a:prstGeom>
          <a:solidFill>
            <a:srgbClr val="687780"/>
          </a:solidFill>
          <a:ln w="0">
            <a:noFill/>
          </a:ln>
        </p:spPr>
      </p:sp>
      <p:sp>
        <p:nvSpPr>
          <p:cNvPr id="50490" name="F2-Build-SMILES-19.8">
            <a:extLst>
              <a:ext uri="{FF2B5EF4-FFF2-40B4-BE49-F238E27FC236}">
                <a16:creationId xmlns:a16="http://schemas.microsoft.com/office/drawing/2014/main" id="{F825F396-DC00-4D1F-95F0-5208E2576D2C}"/>
              </a:ext>
            </a:extLst>
          </p:cNvPr>
          <p:cNvSpPr>
            <a:spLocks noGrp="1"/>
          </p:cNvSpPr>
          <p:nvPr/>
        </p:nvSpPr>
        <p:spPr>
          <a:xfrm>
            <a:off x="5101503" y="1285559"/>
            <a:ext cx="361950" cy="74295"/>
          </a:xfrm>
          <a:prstGeom prst="rect">
            <a:avLst/>
          </a:prstGeom>
          <a:noFill/>
          <a:ln w="0">
            <a:noFill/>
          </a:ln>
        </p:spPr>
        <p:txBody>
          <a:bodyPr wrap="none" lIns="0" tIns="0" rIns="0" bIns="0" anchor="ctr">
            <a:noAutofit/>
          </a:bodyPr>
          <a:lstStyle>
            <a:defPPr algn="l">
              <a:defRPr sz="540" b="0">
                <a:solidFill>
                  <a:srgbClr val="24634E"/>
                </a:solidFill>
                <a:latin typeface="Arial"/>
                <a:ea typeface="Arial"/>
                <a:cs typeface="Arial"/>
              </a:defRPr>
            </a:defPPr>
            <a:lvl1pPr algn="l">
              <a:defRPr sz="540" b="0">
                <a:solidFill>
                  <a:srgbClr val="24634E"/>
                </a:solidFill>
                <a:latin typeface="Arial"/>
                <a:ea typeface="Arial"/>
                <a:cs typeface="Arial"/>
              </a:defRPr>
            </a:lvl1pPr>
            <a:lvl2pPr algn="l">
              <a:defRPr sz="540" b="0">
                <a:solidFill>
                  <a:srgbClr val="24634E"/>
                </a:solidFill>
                <a:latin typeface="Arial"/>
                <a:ea typeface="Arial"/>
                <a:cs typeface="Arial"/>
              </a:defRPr>
            </a:lvl2pPr>
            <a:lvl3pPr algn="l">
              <a:defRPr sz="540" b="0">
                <a:solidFill>
                  <a:srgbClr val="24634E"/>
                </a:solidFill>
                <a:latin typeface="Arial"/>
                <a:ea typeface="Arial"/>
                <a:cs typeface="Arial"/>
              </a:defRPr>
            </a:lvl3pPr>
            <a:lvl4pPr algn="l">
              <a:defRPr sz="540" b="0">
                <a:solidFill>
                  <a:srgbClr val="24634E"/>
                </a:solidFill>
                <a:latin typeface="Arial"/>
                <a:ea typeface="Arial"/>
                <a:cs typeface="Arial"/>
              </a:defRPr>
            </a:lvl4pPr>
            <a:lvl5pPr algn="l">
              <a:defRPr sz="540" b="0">
                <a:solidFill>
                  <a:srgbClr val="24634E"/>
                </a:solidFill>
                <a:latin typeface="Arial"/>
                <a:ea typeface="Arial"/>
                <a:cs typeface="Arial"/>
              </a:defRPr>
            </a:lvl5pPr>
            <a:lvl6pPr algn="l">
              <a:defRPr sz="540" b="0">
                <a:solidFill>
                  <a:srgbClr val="24634E"/>
                </a:solidFill>
                <a:latin typeface="Arial"/>
                <a:ea typeface="Arial"/>
                <a:cs typeface="Arial"/>
              </a:defRPr>
            </a:lvl6pPr>
            <a:lvl7pPr algn="l">
              <a:defRPr sz="540" b="0">
                <a:solidFill>
                  <a:srgbClr val="24634E"/>
                </a:solidFill>
                <a:latin typeface="Arial"/>
                <a:ea typeface="Arial"/>
                <a:cs typeface="Arial"/>
              </a:defRPr>
            </a:lvl7pPr>
            <a:lvl8pPr algn="l">
              <a:defRPr sz="540" b="0">
                <a:solidFill>
                  <a:srgbClr val="24634E"/>
                </a:solidFill>
                <a:latin typeface="Arial"/>
                <a:ea typeface="Arial"/>
                <a:cs typeface="Arial"/>
              </a:defRPr>
            </a:lvl8pPr>
            <a:lvl9pPr algn="l">
              <a:defRPr sz="540" b="0">
                <a:solidFill>
                  <a:srgbClr val="24634E"/>
                </a:solidFill>
                <a:latin typeface="Arial"/>
                <a:ea typeface="Arial"/>
                <a:cs typeface="Arial"/>
              </a:defRPr>
            </a:lvl9pPr>
          </a:lstStyle>
          <a:p>
            <a:pPr>
              <a:defRPr sz="540" b="0">
                <a:solidFill>
                  <a:srgbClr val="263442"/>
                </a:solidFill>
                <a:latin typeface="Arial"/>
                <a:ea typeface="Arial"/>
                <a:cs typeface="Arial"/>
              </a:defRPr>
            </a:pPr>
            <a:r>
              <a:rPr sz="480" dirty="0">
                <a:solidFill>
                  <a:srgbClr val="263442"/>
                </a:solidFill>
              </a:rPr>
              <a:t>Cc1ccccc1</a:t>
            </a:r>
          </a:p>
        </p:txBody>
      </p:sp>
      <p:sp>
        <p:nvSpPr>
          <p:cNvPr id="50491" name="F2-Build-SMILES-27.599999999999998">
            <a:extLst>
              <a:ext uri="{FF2B5EF4-FFF2-40B4-BE49-F238E27FC236}">
                <a16:creationId xmlns:a16="http://schemas.microsoft.com/office/drawing/2014/main" id="{42E599AD-9784-4B26-ADAB-718990C44186}"/>
              </a:ext>
            </a:extLst>
          </p:cNvPr>
          <p:cNvSpPr>
            <a:spLocks noGrp="1"/>
          </p:cNvSpPr>
          <p:nvPr/>
        </p:nvSpPr>
        <p:spPr>
          <a:xfrm>
            <a:off x="5101503" y="1359854"/>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CC(N)=O</a:t>
            </a:r>
          </a:p>
        </p:txBody>
      </p:sp>
      <p:pic>
        <p:nvPicPr>
          <p:cNvPr id="50492" name="图片 50491">
            <a:extLst>
              <a:ext uri="{FF2B5EF4-FFF2-40B4-BE49-F238E27FC236}">
                <a16:creationId xmlns:a16="http://schemas.microsoft.com/office/drawing/2014/main" id="{788E8304-A748-4BB4-8B4F-8A9E612C0891}"/>
              </a:ext>
            </a:extLst>
          </p:cNvPr>
          <p:cNvPicPr>
            <a:picLocks noChangeAspect="1"/>
          </p:cNvPicPr>
          <p:nvPr/>
        </p:nvPicPr>
        <p:blipFill>
          <a:blip r:embed="rId10"/>
          <a:stretch/>
        </p:blipFill>
        <p:spPr>
          <a:xfrm>
            <a:off x="5149836" y="3476625"/>
            <a:ext cx="806478" cy="666750"/>
          </a:xfrm>
          <a:prstGeom prst="rect">
            <a:avLst/>
          </a:prstGeom>
        </p:spPr>
      </p:pic>
      <p:grpSp>
        <p:nvGrpSpPr>
          <p:cNvPr id="50493" name="Find preview 15"/>
          <p:cNvGrpSpPr/>
          <p:nvPr/>
        </p:nvGrpSpPr>
        <p:grpSpPr>
          <a:xfrm>
            <a:off x="612533" y="471488"/>
            <a:ext cx="404812" cy="395288"/>
            <a:chOff x="511635" y="471488"/>
            <a:chExt cx="404812" cy="395288"/>
          </a:xfrm>
        </p:grpSpPr>
        <p:pic>
          <p:nvPicPr>
            <p:cNvPr id="1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8CF1199C-6488-C5B6-B489-1131732B4FBF}"/>
                </a:ext>
              </a:extLst>
            </p:cNvPr>
            <p:cNvPicPr/>
            <p:nvPr/>
          </p:nvPicPr>
          <p:blipFill>
            <a:blip r:embed="rId4"/>
            <a:stretch>
              <a:fillRect/>
            </a:stretch>
          </p:blipFill>
          <p:spPr>
            <a:xfrm>
              <a:off x="511635" y="475859"/>
              <a:ext cx="404812" cy="386544"/>
            </a:xfrm>
            <a:prstGeom prst="rect">
              <a:avLst/>
            </a:prstGeom>
          </p:spPr>
        </p:pic>
        <p:sp>
          <p:nvSpPr>
            <p:cNvPr id="50476" name="crop-cube">
              <a:extLst>
                <a:ext uri="{FF2B5EF4-FFF2-40B4-BE49-F238E27FC236}">
                  <a16:creationId xmlns:a16="http://schemas.microsoft.com/office/drawing/2014/main" id="{25839399-079E-4307-9725-E085483F7FD6}"/>
                </a:ext>
              </a:extLst>
            </p:cNvPr>
            <p:cNvSpPr>
              <a:spLocks noGrp="1"/>
            </p:cNvSpPr>
            <p:nvPr/>
          </p:nvSpPr>
          <p:spPr>
            <a:xfrm>
              <a:off x="700088" y="626745"/>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477" name="crop-cube">
              <a:extLst>
                <a:ext uri="{FF2B5EF4-FFF2-40B4-BE49-F238E27FC236}">
                  <a16:creationId xmlns:a16="http://schemas.microsoft.com/office/drawing/2014/main" id="{07D86F79-577D-4116-BDEA-F38D19D792BA}"/>
                </a:ext>
              </a:extLst>
            </p:cNvPr>
            <p:cNvSpPr>
              <a:spLocks noGrp="1"/>
            </p:cNvSpPr>
            <p:nvPr/>
          </p:nvSpPr>
          <p:spPr>
            <a:xfrm>
              <a:off x="788194" y="626745"/>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478" name="F2-density-crop-size">
              <a:extLst>
                <a:ext uri="{FF2B5EF4-FFF2-40B4-BE49-F238E27FC236}">
                  <a16:creationId xmlns:a16="http://schemas.microsoft.com/office/drawing/2014/main" id="{9B6ECDDF-4CA0-44BE-83B1-7FF800ECF209}"/>
                </a:ext>
              </a:extLst>
            </p:cNvPr>
            <p:cNvSpPr>
              <a:spLocks noGrp="1"/>
            </p:cNvSpPr>
            <p:nvPr/>
          </p:nvSpPr>
          <p:spPr>
            <a:xfrm>
              <a:off x="640556" y="766763"/>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494" name="Find preview 1435"/>
          <p:cNvGrpSpPr/>
          <p:nvPr/>
        </p:nvGrpSpPr>
        <p:grpSpPr>
          <a:xfrm>
            <a:off x="612533" y="1252538"/>
            <a:ext cx="404812" cy="395288"/>
            <a:chOff x="511635" y="1252538"/>
            <a:chExt cx="404812" cy="395288"/>
          </a:xfrm>
        </p:grpSpPr>
        <p:pic>
          <p:nvPicPr>
            <p:cNvPr id="1435" name="Find clear receptor" descr="Receptor cartoon rendered from unchanged local coordinates, chain C1 of the 9LLG CA2 model.">
              <a:extLst>
                <a:ext uri="{FF2B5EF4-FFF2-40B4-BE49-F238E27FC236}">
                  <a16:creationId xmlns:a16="http://schemas.microsoft.com/office/drawing/2014/main" id="{24C88AB2-5918-0F4D-EDE6-0D89FC02F100}"/>
                </a:ext>
              </a:extLst>
            </p:cNvPr>
            <p:cNvPicPr/>
            <p:nvPr/>
          </p:nvPicPr>
          <p:blipFill>
            <a:blip r:embed="rId7"/>
            <a:srcRect l="16857" t="30389" r="19786" b="22500"/>
            <a:stretch>
              <a:fillRect/>
            </a:stretch>
          </p:blipFill>
          <p:spPr>
            <a:xfrm>
              <a:off x="511635" y="1256674"/>
              <a:ext cx="404812" cy="387014"/>
            </a:xfrm>
            <a:prstGeom prst="rect">
              <a:avLst/>
            </a:prstGeom>
          </p:spPr>
        </p:pic>
        <p:sp>
          <p:nvSpPr>
            <p:cNvPr id="50479" name="crop-cube">
              <a:extLst>
                <a:ext uri="{FF2B5EF4-FFF2-40B4-BE49-F238E27FC236}">
                  <a16:creationId xmlns:a16="http://schemas.microsoft.com/office/drawing/2014/main" id="{B083B324-58BF-4271-92CE-6A3DCE5DBE53}"/>
                </a:ext>
              </a:extLst>
            </p:cNvPr>
            <p:cNvSpPr>
              <a:spLocks noGrp="1"/>
            </p:cNvSpPr>
            <p:nvPr/>
          </p:nvSpPr>
          <p:spPr>
            <a:xfrm>
              <a:off x="700088" y="1404938"/>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480" name="crop-cube">
              <a:extLst>
                <a:ext uri="{FF2B5EF4-FFF2-40B4-BE49-F238E27FC236}">
                  <a16:creationId xmlns:a16="http://schemas.microsoft.com/office/drawing/2014/main" id="{0E8C65BE-9745-4184-B8B7-6FD5E9341DBD}"/>
                </a:ext>
              </a:extLst>
            </p:cNvPr>
            <p:cNvSpPr>
              <a:spLocks noGrp="1"/>
            </p:cNvSpPr>
            <p:nvPr/>
          </p:nvSpPr>
          <p:spPr>
            <a:xfrm>
              <a:off x="788194" y="1404938"/>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481" name="F2-receptor-crop-size">
              <a:extLst>
                <a:ext uri="{FF2B5EF4-FFF2-40B4-BE49-F238E27FC236}">
                  <a16:creationId xmlns:a16="http://schemas.microsoft.com/office/drawing/2014/main" id="{11CB5595-3267-408D-9A25-39E3920D0458}"/>
                </a:ext>
              </a:extLst>
            </p:cNvPr>
            <p:cNvSpPr>
              <a:spLocks noGrp="1"/>
            </p:cNvSpPr>
            <p:nvPr/>
          </p:nvSpPr>
          <p:spPr>
            <a:xfrm>
              <a:off x="640556" y="1544955"/>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495" name="Find preview 25"/>
          <p:cNvGrpSpPr/>
          <p:nvPr/>
        </p:nvGrpSpPr>
        <p:grpSpPr>
          <a:xfrm>
            <a:off x="4349067" y="499672"/>
            <a:ext cx="404812" cy="386544"/>
            <a:chOff x="4349067" y="499672"/>
            <a:chExt cx="404812" cy="386544"/>
          </a:xfrm>
        </p:grpSpPr>
        <p:pic>
          <p:nvPicPr>
            <p:cNvPr id="2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E01FAF0F-7383-AEC3-8192-CE781D4C8B97}"/>
                </a:ext>
              </a:extLst>
            </p:cNvPr>
            <p:cNvPicPr/>
            <p:nvPr/>
          </p:nvPicPr>
          <p:blipFill>
            <a:blip r:embed="rId4"/>
            <a:stretch>
              <a:fillRect/>
            </a:stretch>
          </p:blipFill>
          <p:spPr>
            <a:xfrm>
              <a:off x="4349067" y="499672"/>
              <a:ext cx="404812" cy="386544"/>
            </a:xfrm>
            <a:prstGeom prst="rect">
              <a:avLst/>
            </a:prstGeom>
          </p:spPr>
        </p:pic>
        <p:grpSp>
          <p:nvGrpSpPr>
            <p:cNvPr id="50437" name="Global copy of blob 758">
              <a:extLst>
                <a:ext uri="{FF2B5EF4-FFF2-40B4-BE49-F238E27FC236}">
                  <a16:creationId xmlns:a16="http://schemas.microsoft.com/office/drawing/2014/main" id="{00C0C92B-D4C8-0994-E860-1581EB873D86}"/>
                </a:ext>
              </a:extLst>
            </p:cNvPr>
            <p:cNvGrpSpPr/>
            <p:nvPr/>
          </p:nvGrpSpPr>
          <p:grpSpPr>
            <a:xfrm>
              <a:off x="4445066" y="623158"/>
              <a:ext cx="92055" cy="24054"/>
              <a:chOff x="1980855" y="3559489"/>
              <a:chExt cx="493446" cy="155682"/>
            </a:xfrm>
          </p:grpSpPr>
          <p:sp>
            <p:nvSpPr>
              <p:cNvPr id="50438" name="Candidate blob | editable contour">
                <a:extLst>
                  <a:ext uri="{FF2B5EF4-FFF2-40B4-BE49-F238E27FC236}">
                    <a16:creationId xmlns:a16="http://schemas.microsoft.com/office/drawing/2014/main" id="{A172A8B3-EFA3-33C9-CD2B-307B24D7293D}"/>
                  </a:ext>
                </a:extLst>
              </p:cNvPr>
              <p:cNvSpPr/>
              <p:nvPr/>
            </p:nvSpPr>
            <p:spPr>
              <a:xfrm>
                <a:off x="2246406" y="3559489"/>
                <a:ext cx="227895"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50439" name="ellipse_2612">
                <a:extLst>
                  <a:ext uri="{FF2B5EF4-FFF2-40B4-BE49-F238E27FC236}">
                    <a16:creationId xmlns:a16="http://schemas.microsoft.com/office/drawing/2014/main" id="{CF37E813-914E-4383-9CE9-1C5F4095124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50442" name="ellipse_2612">
              <a:extLst>
                <a:ext uri="{FF2B5EF4-FFF2-40B4-BE49-F238E27FC236}">
                  <a16:creationId xmlns:a16="http://schemas.microsoft.com/office/drawing/2014/main" id="{899D545A-9188-B8A5-5122-F55763321954}"/>
                </a:ext>
              </a:extLst>
            </p:cNvPr>
            <p:cNvSpPr/>
            <p:nvPr/>
          </p:nvSpPr>
          <p:spPr>
            <a:xfrm rot="3197729">
              <a:off x="4608138" y="649456"/>
              <a:ext cx="10571" cy="3071"/>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0445" name="ellipse_2612">
              <a:extLst>
                <a:ext uri="{FF2B5EF4-FFF2-40B4-BE49-F238E27FC236}">
                  <a16:creationId xmlns:a16="http://schemas.microsoft.com/office/drawing/2014/main" id="{85D74281-2FE6-E2D2-EFBA-AF54A45686E3}"/>
                </a:ext>
              </a:extLst>
            </p:cNvPr>
            <p:cNvSpPr/>
            <p:nvPr/>
          </p:nvSpPr>
          <p:spPr>
            <a:xfrm>
              <a:off x="4430816" y="761249"/>
              <a:ext cx="9540" cy="2671"/>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0448" name="ellipse_2612">
              <a:extLst>
                <a:ext uri="{FF2B5EF4-FFF2-40B4-BE49-F238E27FC236}">
                  <a16:creationId xmlns:a16="http://schemas.microsoft.com/office/drawing/2014/main" id="{901C6437-E94C-AFDE-D242-E688A89ABBDB}"/>
                </a:ext>
              </a:extLst>
            </p:cNvPr>
            <p:cNvSpPr/>
            <p:nvPr/>
          </p:nvSpPr>
          <p:spPr>
            <a:xfrm>
              <a:off x="4542383" y="798587"/>
              <a:ext cx="9428" cy="3307"/>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29" name="V8 density and receptor to voxel">
            <a:extLst>
              <a:ext uri="{FF2B5EF4-FFF2-40B4-BE49-F238E27FC236}">
                <a16:creationId xmlns:a16="http://schemas.microsoft.com/office/drawing/2014/main" id="{6CB6A47B-4EF1-2B06-7255-E23CEE529CCF}"/>
              </a:ext>
            </a:extLst>
          </p:cNvPr>
          <p:cNvSpPr/>
          <p:nvPr/>
        </p:nvSpPr>
        <p:spPr>
          <a:xfrm flipV="1">
            <a:off x="1864197" y="790091"/>
            <a:ext cx="77018" cy="45719"/>
          </a:xfrm>
          <a:custGeom>
            <a:avLst/>
            <a:gdLst/>
            <a:ahLst/>
            <a:cxnLst/>
            <a:rect l="l" t="t" r="r" b="b"/>
            <a:pathLst>
              <a:path w="96730" h="1">
                <a:moveTo>
                  <a:pt x="0" y="0"/>
                </a:moveTo>
                <a:lnTo>
                  <a:pt x="96730" y="0"/>
                </a:lnTo>
              </a:path>
            </a:pathLst>
          </a:custGeom>
          <a:noFill/>
          <a:ln w="8509" cap="rnd">
            <a:solidFill>
              <a:srgbClr val="4083B4"/>
            </a:solidFill>
            <a:prstDash val="solid"/>
            <a:round/>
          </a:ln>
        </p:spPr>
      </p:sp>
      <p:sp>
        <p:nvSpPr>
          <p:cNvPr id="31" name="V8 density and receptor to voxel head">
            <a:extLst>
              <a:ext uri="{FF2B5EF4-FFF2-40B4-BE49-F238E27FC236}">
                <a16:creationId xmlns:a16="http://schemas.microsoft.com/office/drawing/2014/main" id="{DF62D5B1-80E9-3975-FF99-0CA56F3741F9}"/>
              </a:ext>
            </a:extLst>
          </p:cNvPr>
          <p:cNvSpPr/>
          <p:nvPr/>
        </p:nvSpPr>
        <p:spPr>
          <a:xfrm>
            <a:off x="1935117" y="822853"/>
            <a:ext cx="28321" cy="24384"/>
          </a:xfrm>
          <a:custGeom>
            <a:avLst/>
            <a:gdLst/>
            <a:ahLst/>
            <a:cxnLst/>
            <a:rect l="l" t="t" r="r" b="b"/>
            <a:pathLst>
              <a:path w="28321" h="24384">
                <a:moveTo>
                  <a:pt x="28321" y="12192"/>
                </a:moveTo>
                <a:lnTo>
                  <a:pt x="0" y="0"/>
                </a:lnTo>
                <a:lnTo>
                  <a:pt x="0" y="24384"/>
                </a:lnTo>
                <a:close/>
              </a:path>
            </a:pathLst>
          </a:custGeom>
          <a:solidFill>
            <a:srgbClr val="4083B4"/>
          </a:solidFill>
          <a:ln w="0" cap="rnd">
            <a:noFill/>
          </a:ln>
        </p:spPr>
      </p:sp>
      <p:sp>
        <p:nvSpPr>
          <p:cNvPr id="34" name="文本框 33">
            <a:extLst>
              <a:ext uri="{FF2B5EF4-FFF2-40B4-BE49-F238E27FC236}">
                <a16:creationId xmlns:a16="http://schemas.microsoft.com/office/drawing/2014/main" id="{04021CE7-7079-B8B1-FE1F-2395F0A6A9F4}"/>
              </a:ext>
            </a:extLst>
          </p:cNvPr>
          <p:cNvSpPr txBox="1"/>
          <p:nvPr/>
        </p:nvSpPr>
        <p:spPr>
          <a:xfrm>
            <a:off x="2806249" y="1439947"/>
            <a:ext cx="502061" cy="197618"/>
          </a:xfrm>
          <a:prstGeom prst="rect">
            <a:avLst/>
          </a:prstGeom>
          <a:noFill/>
        </p:spPr>
        <p:txBody>
          <a:bodyPr wrap="none" rtlCol="0">
            <a:spAutoFit/>
          </a:bodyPr>
          <a:lstStyle/>
          <a:p>
            <a:pPr algn="ctr">
              <a:lnSpc>
                <a:spcPct val="105000"/>
              </a:lnSpc>
            </a:pPr>
            <a:r>
              <a:rPr lang="en-US" altLang="zh-CN" sz="650" i="1" dirty="0">
                <a:solidFill>
                  <a:srgbClr val="263442"/>
                </a:solidFill>
                <a:latin typeface="Arial"/>
              </a:rPr>
              <a:t>Recycle</a:t>
            </a:r>
          </a:p>
        </p:txBody>
      </p:sp>
      <p:grpSp>
        <p:nvGrpSpPr>
          <p:cNvPr id="21" name="Find candidate blob 2">
            <a:extLst>
              <a:ext uri="{FF2B5EF4-FFF2-40B4-BE49-F238E27FC236}">
                <a16:creationId xmlns:a16="http://schemas.microsoft.com/office/drawing/2014/main" id="{7CF4B83B-CE40-0943-83BF-857F63F584FC}"/>
              </a:ext>
            </a:extLst>
          </p:cNvPr>
          <p:cNvGrpSpPr/>
          <p:nvPr/>
        </p:nvGrpSpPr>
        <p:grpSpPr>
          <a:xfrm rot="3197729">
            <a:off x="4616630" y="633066"/>
            <a:ext cx="35227" cy="29704"/>
            <a:chOff x="1928706" y="3559489"/>
            <a:chExt cx="227897" cy="155682"/>
          </a:xfrm>
        </p:grpSpPr>
        <p:sp>
          <p:nvSpPr>
            <p:cNvPr id="23" name="Candidate blob | editable contour">
              <a:extLst>
                <a:ext uri="{FF2B5EF4-FFF2-40B4-BE49-F238E27FC236}">
                  <a16:creationId xmlns:a16="http://schemas.microsoft.com/office/drawing/2014/main" id="{0EF5C813-7F44-77DD-67FE-EE476608E03B}"/>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28" name="ellipse_2612">
              <a:extLst>
                <a:ext uri="{FF2B5EF4-FFF2-40B4-BE49-F238E27FC236}">
                  <a16:creationId xmlns:a16="http://schemas.microsoft.com/office/drawing/2014/main" id="{F5FA3B82-7CD0-DDDF-A968-EC80FAC5CC54}"/>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30" name="Find candidate blob 3">
            <a:extLst>
              <a:ext uri="{FF2B5EF4-FFF2-40B4-BE49-F238E27FC236}">
                <a16:creationId xmlns:a16="http://schemas.microsoft.com/office/drawing/2014/main" id="{7DFC79E6-A537-A8EE-9E23-73695EEDEA87}"/>
              </a:ext>
            </a:extLst>
          </p:cNvPr>
          <p:cNvGrpSpPr/>
          <p:nvPr/>
        </p:nvGrpSpPr>
        <p:grpSpPr>
          <a:xfrm rot="364243">
            <a:off x="4534839" y="709850"/>
            <a:ext cx="31915" cy="32299"/>
            <a:chOff x="1928706" y="3559489"/>
            <a:chExt cx="227897" cy="155682"/>
          </a:xfrm>
        </p:grpSpPr>
        <p:sp>
          <p:nvSpPr>
            <p:cNvPr id="32" name="Candidate blob | editable contour">
              <a:extLst>
                <a:ext uri="{FF2B5EF4-FFF2-40B4-BE49-F238E27FC236}">
                  <a16:creationId xmlns:a16="http://schemas.microsoft.com/office/drawing/2014/main" id="{EF3C7BE5-312A-39EB-D945-E725D09FC5CF}"/>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33" name="ellipse_2612">
              <a:extLst>
                <a:ext uri="{FF2B5EF4-FFF2-40B4-BE49-F238E27FC236}">
                  <a16:creationId xmlns:a16="http://schemas.microsoft.com/office/drawing/2014/main" id="{0A4821A8-67B8-19F4-30E2-0FE8715E5DA6}"/>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38" name="Find candidate blob 1">
            <a:extLst>
              <a:ext uri="{FF2B5EF4-FFF2-40B4-BE49-F238E27FC236}">
                <a16:creationId xmlns:a16="http://schemas.microsoft.com/office/drawing/2014/main" id="{D9521CD7-F7FB-7490-A23A-67B39E4FD95D}"/>
              </a:ext>
            </a:extLst>
          </p:cNvPr>
          <p:cNvGrpSpPr/>
          <p:nvPr/>
        </p:nvGrpSpPr>
        <p:grpSpPr>
          <a:xfrm>
            <a:off x="4427985" y="745957"/>
            <a:ext cx="40973" cy="27988"/>
            <a:chOff x="1928706" y="3559489"/>
            <a:chExt cx="227897" cy="155682"/>
          </a:xfrm>
        </p:grpSpPr>
        <p:sp>
          <p:nvSpPr>
            <p:cNvPr id="39" name="Candidate blob | editable contour">
              <a:extLst>
                <a:ext uri="{FF2B5EF4-FFF2-40B4-BE49-F238E27FC236}">
                  <a16:creationId xmlns:a16="http://schemas.microsoft.com/office/drawing/2014/main" id="{B913F94B-9211-6007-A9F1-AA1E18C1D543}"/>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40" name="ellipse_2612">
              <a:extLst>
                <a:ext uri="{FF2B5EF4-FFF2-40B4-BE49-F238E27FC236}">
                  <a16:creationId xmlns:a16="http://schemas.microsoft.com/office/drawing/2014/main" id="{D504CB61-AEF5-1C11-4CCF-573A1133E2A9}"/>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Tree>
    <p:extLst>
      <p:ext uri="{BB962C8B-B14F-4D97-AF65-F5344CB8AC3E}">
        <p14:creationId xmlns:p14="http://schemas.microsoft.com/office/powerpoint/2010/main" val="3763289320"/>
      </p:ext>
    </p:extLst>
  </p:cSld>
  <p:clrMapOvr>
    <a:masterClrMapping/>
  </p:clrMapOvr>
  <p:extLst>
    <p:ext uri="{6950BFC3-D8DA-4A85-94F7-54DA5524770B}">
      <p188:commentRel xmlns:p188="http://schemas.microsoft.com/office/powerpoint/2018/8/main" r:id="rId3"/>
    </p:ext>
  </p:extLs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3A6E18-01F8-B0BA-F43F-91B3A30C3C3E}"/>
            </a:ext>
          </a:extLst>
        </p:cNvPr>
        <p:cNvGrpSpPr/>
        <p:nvPr/>
      </p:nvGrpSpPr>
      <p:grpSpPr>
        <a:xfrm>
          <a:off x="0" y="0"/>
          <a:ext cx="0" cy="0"/>
          <a:chOff x="0" y="0"/>
          <a:chExt cx="0" cy="0"/>
        </a:xfrm>
      </p:grpSpPr>
      <p:sp>
        <p:nvSpPr>
          <p:cNvPr id="2" name="Panel | Find background">
            <a:extLst>
              <a:ext uri="{FF2B5EF4-FFF2-40B4-BE49-F238E27FC236}">
                <a16:creationId xmlns:a16="http://schemas.microsoft.com/office/drawing/2014/main" id="{A9090686-8929-C0A0-CCD3-B88878102309}"/>
              </a:ext>
            </a:extLst>
          </p:cNvPr>
          <p:cNvSpPr/>
          <p:nvPr/>
        </p:nvSpPr>
        <p:spPr>
          <a:xfrm>
            <a:off x="450985" y="89164"/>
            <a:ext cx="4381930" cy="1756103"/>
          </a:xfrm>
          <a:prstGeom prst="roundRect">
            <a:avLst>
              <a:gd name="adj" fmla="val 2000"/>
            </a:avLst>
          </a:prstGeom>
          <a:solidFill>
            <a:srgbClr val="F4F7FB"/>
          </a:solidFill>
          <a:ln w="9720">
            <a:solidFill>
              <a:srgbClr val="CFDB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3" name="Panel | Match background">
            <a:extLst>
              <a:ext uri="{FF2B5EF4-FFF2-40B4-BE49-F238E27FC236}">
                <a16:creationId xmlns:a16="http://schemas.microsoft.com/office/drawing/2014/main" id="{28703D02-0EE9-C5A6-609C-08019DDE7E4E}"/>
              </a:ext>
            </a:extLst>
          </p:cNvPr>
          <p:cNvSpPr/>
          <p:nvPr/>
        </p:nvSpPr>
        <p:spPr>
          <a:xfrm>
            <a:off x="450985" y="1884235"/>
            <a:ext cx="4381930" cy="2532204"/>
          </a:xfrm>
          <a:prstGeom prst="roundRect">
            <a:avLst>
              <a:gd name="adj" fmla="val 2000"/>
            </a:avLst>
          </a:prstGeom>
          <a:solidFill>
            <a:srgbClr val="F2F9F6"/>
          </a:solidFill>
          <a:ln w="9720">
            <a:solidFill>
              <a:srgbClr val="C8E2D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grpSp>
        <p:nvGrpSpPr>
          <p:cNvPr id="5" name="Input boundary layer">
            <a:extLst>
              <a:ext uri="{FF2B5EF4-FFF2-40B4-BE49-F238E27FC236}">
                <a16:creationId xmlns:a16="http://schemas.microsoft.com/office/drawing/2014/main" id="{DDB8823C-1C5D-EC2B-D97C-140C79222FB0}"/>
              </a:ext>
            </a:extLst>
          </p:cNvPr>
          <p:cNvGrpSpPr/>
          <p:nvPr/>
        </p:nvGrpSpPr>
        <p:grpSpPr>
          <a:xfrm>
            <a:off x="0" y="0"/>
            <a:ext cx="6480175" cy="4468813"/>
            <a:chOff x="0" y="0"/>
            <a:chExt cx="15240000" cy="10509702"/>
          </a:xfrm>
        </p:grpSpPr>
        <p:sp>
          <p:nvSpPr>
            <p:cNvPr id="1478" name="V8 Match input boundary">
              <a:extLst>
                <a:ext uri="{FF2B5EF4-FFF2-40B4-BE49-F238E27FC236}">
                  <a16:creationId xmlns:a16="http://schemas.microsoft.com/office/drawing/2014/main" id="{7D0554F4-AE1C-63F1-A885-352F5424EDA9}"/>
                </a:ext>
              </a:extLst>
            </p:cNvPr>
            <p:cNvSpPr/>
            <p:nvPr/>
          </p:nvSpPr>
          <p:spPr>
            <a:xfrm>
              <a:off x="1582841" y="5281627"/>
              <a:ext cx="3163259" cy="2511755"/>
            </a:xfrm>
            <a:custGeom>
              <a:avLst/>
              <a:gdLst/>
              <a:ahLst/>
              <a:cxnLst/>
              <a:rect l="l" t="t" r="r" b="b"/>
              <a:pathLst>
                <a:path w="1345044" h="1068019">
                  <a:moveTo>
                    <a:pt x="31750" y="0"/>
                  </a:moveTo>
                  <a:lnTo>
                    <a:pt x="893699" y="0"/>
                  </a:lnTo>
                  <a:cubicBezTo>
                    <a:pt x="911162" y="0"/>
                    <a:pt x="925449" y="14288"/>
                    <a:pt x="925449" y="31750"/>
                  </a:cubicBezTo>
                  <a:lnTo>
                    <a:pt x="925449" y="489521"/>
                  </a:lnTo>
                  <a:cubicBezTo>
                    <a:pt x="925449" y="506984"/>
                    <a:pt x="939736" y="521271"/>
                    <a:pt x="957199" y="521271"/>
                  </a:cubicBezTo>
                  <a:lnTo>
                    <a:pt x="1313294" y="521271"/>
                  </a:lnTo>
                  <a:cubicBezTo>
                    <a:pt x="1330757" y="521271"/>
                    <a:pt x="1345044" y="535559"/>
                    <a:pt x="1345044" y="553021"/>
                  </a:cubicBezTo>
                  <a:lnTo>
                    <a:pt x="1345044" y="1036269"/>
                  </a:lnTo>
                  <a:cubicBezTo>
                    <a:pt x="1345044" y="1053732"/>
                    <a:pt x="1330757" y="1068019"/>
                    <a:pt x="1313294" y="1068019"/>
                  </a:cubicBezTo>
                  <a:lnTo>
                    <a:pt x="31750" y="1068019"/>
                  </a:lnTo>
                  <a:cubicBezTo>
                    <a:pt x="14288" y="1068019"/>
                    <a:pt x="0" y="1053732"/>
                    <a:pt x="0" y="1036269"/>
                  </a:cubicBezTo>
                  <a:lnTo>
                    <a:pt x="0" y="31750"/>
                  </a:lnTo>
                  <a:cubicBezTo>
                    <a:pt x="0" y="14288"/>
                    <a:pt x="14288" y="0"/>
                    <a:pt x="31750" y="0"/>
                  </a:cubicBezTo>
                  <a:close/>
                </a:path>
              </a:pathLst>
            </a:custGeom>
            <a:solidFill>
              <a:srgbClr val="FFFFFF"/>
            </a:solidFill>
            <a:ln w="7290" cap="rnd">
              <a:solidFill>
                <a:srgbClr val="B6CEC5"/>
              </a:solidFill>
              <a:prstDash val="solid"/>
              <a:round/>
            </a:ln>
          </p:spPr>
          <p:txBody>
            <a:bodyPr/>
            <a:lstStyle/>
            <a:p>
              <a:endParaRPr lang="zh-CN" altLang="en-US" dirty="0"/>
            </a:p>
          </p:txBody>
        </p:sp>
      </p:grpSp>
      <p:sp>
        <p:nvSpPr>
          <p:cNvPr id="7" name="TextBox 4">
            <a:extLst>
              <a:ext uri="{FF2B5EF4-FFF2-40B4-BE49-F238E27FC236}">
                <a16:creationId xmlns:a16="http://schemas.microsoft.com/office/drawing/2014/main" id="{ADBC3EDA-5434-B072-0369-64F7979021C5}"/>
              </a:ext>
            </a:extLst>
          </p:cNvPr>
          <p:cNvSpPr txBox="1"/>
          <p:nvPr/>
        </p:nvSpPr>
        <p:spPr>
          <a:xfrm>
            <a:off x="519056" y="107111"/>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a</a:t>
            </a:r>
          </a:p>
        </p:txBody>
      </p:sp>
      <p:sp>
        <p:nvSpPr>
          <p:cNvPr id="8" name="TextBox 5">
            <a:extLst>
              <a:ext uri="{FF2B5EF4-FFF2-40B4-BE49-F238E27FC236}">
                <a16:creationId xmlns:a16="http://schemas.microsoft.com/office/drawing/2014/main" id="{BDE65E3A-EB06-F9D8-4F70-55D863BF89FB}"/>
              </a:ext>
            </a:extLst>
          </p:cNvPr>
          <p:cNvSpPr txBox="1"/>
          <p:nvPr/>
        </p:nvSpPr>
        <p:spPr>
          <a:xfrm>
            <a:off x="677263" y="124527"/>
            <a:ext cx="2531320" cy="123624"/>
          </a:xfrm>
          <a:prstGeom prst="rect">
            <a:avLst/>
          </a:prstGeom>
          <a:noFill/>
        </p:spPr>
        <p:txBody>
          <a:bodyPr wrap="square" lIns="0" tIns="0" rIns="0" bIns="0" anchor="ctr">
            <a:spAutoFit/>
          </a:bodyPr>
          <a:lstStyle/>
          <a:p>
            <a:pPr algn="l">
              <a:lnSpc>
                <a:spcPct val="105000"/>
              </a:lnSpc>
            </a:pPr>
            <a:r>
              <a:rPr sz="822">
                <a:solidFill>
                  <a:srgbClr val="263442"/>
                </a:solidFill>
                <a:latin typeface="Arial"/>
              </a:rPr>
              <a:t>Find: locate ligand regions</a:t>
            </a:r>
          </a:p>
        </p:txBody>
      </p:sp>
      <p:sp>
        <p:nvSpPr>
          <p:cNvPr id="9" name="TextBox 6">
            <a:extLst>
              <a:ext uri="{FF2B5EF4-FFF2-40B4-BE49-F238E27FC236}">
                <a16:creationId xmlns:a16="http://schemas.microsoft.com/office/drawing/2014/main" id="{F3FF857A-DE19-FC06-9455-89983F39C003}"/>
              </a:ext>
            </a:extLst>
          </p:cNvPr>
          <p:cNvSpPr txBox="1"/>
          <p:nvPr/>
        </p:nvSpPr>
        <p:spPr>
          <a:xfrm>
            <a:off x="519056" y="1909702"/>
            <a:ext cx="174028" cy="149656"/>
          </a:xfrm>
          <a:prstGeom prst="rect">
            <a:avLst/>
          </a:prstGeom>
          <a:noFill/>
        </p:spPr>
        <p:txBody>
          <a:bodyPr wrap="square" lIns="0" tIns="0" rIns="0" bIns="0" anchor="ctr">
            <a:spAutoFit/>
          </a:bodyPr>
          <a:lstStyle/>
          <a:p>
            <a:pPr>
              <a:lnSpc>
                <a:spcPct val="105000"/>
              </a:lnSpc>
            </a:pPr>
            <a:r>
              <a:rPr sz="995" b="1" dirty="0">
                <a:solidFill>
                  <a:srgbClr val="263442"/>
                </a:solidFill>
                <a:latin typeface="Arial"/>
              </a:rPr>
              <a:t>b</a:t>
            </a:r>
          </a:p>
        </p:txBody>
      </p:sp>
      <p:sp>
        <p:nvSpPr>
          <p:cNvPr id="10" name="TextBox 7">
            <a:extLst>
              <a:ext uri="{FF2B5EF4-FFF2-40B4-BE49-F238E27FC236}">
                <a16:creationId xmlns:a16="http://schemas.microsoft.com/office/drawing/2014/main" id="{70ECA487-21BB-6209-C18F-3026009B4E59}"/>
              </a:ext>
            </a:extLst>
          </p:cNvPr>
          <p:cNvSpPr txBox="1"/>
          <p:nvPr/>
        </p:nvSpPr>
        <p:spPr>
          <a:xfrm>
            <a:off x="677200" y="1931954"/>
            <a:ext cx="2847735" cy="123624"/>
          </a:xfrm>
          <a:prstGeom prst="rect">
            <a:avLst/>
          </a:prstGeom>
          <a:noFill/>
        </p:spPr>
        <p:txBody>
          <a:bodyPr wrap="square" lIns="0" tIns="0" rIns="0" bIns="0" anchor="ctr">
            <a:spAutoFit/>
          </a:bodyPr>
          <a:lstStyle/>
          <a:p>
            <a:pPr algn="l">
              <a:lnSpc>
                <a:spcPct val="105000"/>
              </a:lnSpc>
            </a:pPr>
            <a:r>
              <a:rPr sz="822" dirty="0">
                <a:solidFill>
                  <a:srgbClr val="263442"/>
                </a:solidFill>
                <a:latin typeface="Arial"/>
              </a:rPr>
              <a:t>Match: candidate-to-identity assignment</a:t>
            </a:r>
          </a:p>
        </p:txBody>
      </p:sp>
      <p:sp>
        <p:nvSpPr>
          <p:cNvPr id="13" name="Find | Density card">
            <a:extLst>
              <a:ext uri="{FF2B5EF4-FFF2-40B4-BE49-F238E27FC236}">
                <a16:creationId xmlns:a16="http://schemas.microsoft.com/office/drawing/2014/main" id="{CAB7453E-57E4-6069-E17B-BEBD584DE9C5}"/>
              </a:ext>
            </a:extLst>
          </p:cNvPr>
          <p:cNvSpPr/>
          <p:nvPr/>
        </p:nvSpPr>
        <p:spPr>
          <a:xfrm>
            <a:off x="570715" y="284774"/>
            <a:ext cx="488504" cy="680292"/>
          </a:xfrm>
          <a:prstGeom prst="roundRect">
            <a:avLst>
              <a:gd name="adj" fmla="val 6000"/>
            </a:avLst>
          </a:prstGeom>
          <a:solidFill>
            <a:srgbClr val="FFFFFF"/>
          </a:solidFill>
          <a:ln w="7290">
            <a:solidFill>
              <a:srgbClr val="CBD6E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14" name="TextBox 11">
            <a:extLst>
              <a:ext uri="{FF2B5EF4-FFF2-40B4-BE49-F238E27FC236}">
                <a16:creationId xmlns:a16="http://schemas.microsoft.com/office/drawing/2014/main" id="{E13F9DB9-2915-4D37-1A15-4DD879957FE6}"/>
              </a:ext>
            </a:extLst>
          </p:cNvPr>
          <p:cNvSpPr txBox="1"/>
          <p:nvPr/>
        </p:nvSpPr>
        <p:spPr>
          <a:xfrm>
            <a:off x="490790" y="318294"/>
            <a:ext cx="664471" cy="101503"/>
          </a:xfrm>
          <a:prstGeom prst="rect">
            <a:avLst/>
          </a:prstGeom>
          <a:noFill/>
        </p:spPr>
        <p:txBody>
          <a:bodyPr wrap="square" lIns="0" tIns="0" rIns="0" bIns="0" anchor="ctr">
            <a:spAutoFit/>
          </a:bodyPr>
          <a:lstStyle/>
          <a:p>
            <a:pPr algn="ctr">
              <a:lnSpc>
                <a:spcPct val="105000"/>
              </a:lnSpc>
            </a:pPr>
            <a:r>
              <a:rPr sz="675" dirty="0">
                <a:solidFill>
                  <a:srgbClr val="263442"/>
                </a:solidFill>
                <a:latin typeface="Arial"/>
              </a:rPr>
              <a:t>Density</a:t>
            </a:r>
          </a:p>
        </p:txBody>
      </p:sp>
      <p:sp>
        <p:nvSpPr>
          <p:cNvPr id="235" name="Find | Receptor card">
            <a:extLst>
              <a:ext uri="{FF2B5EF4-FFF2-40B4-BE49-F238E27FC236}">
                <a16:creationId xmlns:a16="http://schemas.microsoft.com/office/drawing/2014/main" id="{C39711EA-1578-1FDC-F7E5-415822DEC84F}"/>
              </a:ext>
            </a:extLst>
          </p:cNvPr>
          <p:cNvSpPr/>
          <p:nvPr/>
        </p:nvSpPr>
        <p:spPr>
          <a:xfrm>
            <a:off x="570714" y="1028349"/>
            <a:ext cx="489611" cy="727754"/>
          </a:xfrm>
          <a:prstGeom prst="roundRect">
            <a:avLst>
              <a:gd name="adj" fmla="val 6000"/>
            </a:avLst>
          </a:prstGeom>
          <a:solidFill>
            <a:srgbClr val="FFFFFF"/>
          </a:solidFill>
          <a:ln w="7290">
            <a:solidFill>
              <a:srgbClr val="CBD6E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6" name="TextBox 6212">
            <a:extLst>
              <a:ext uri="{FF2B5EF4-FFF2-40B4-BE49-F238E27FC236}">
                <a16:creationId xmlns:a16="http://schemas.microsoft.com/office/drawing/2014/main" id="{4566817F-CA11-3CA5-4ED5-534E4B65A1C1}"/>
              </a:ext>
            </a:extLst>
          </p:cNvPr>
          <p:cNvSpPr txBox="1"/>
          <p:nvPr/>
        </p:nvSpPr>
        <p:spPr>
          <a:xfrm>
            <a:off x="464564" y="1053973"/>
            <a:ext cx="664471" cy="101503"/>
          </a:xfrm>
          <a:prstGeom prst="rect">
            <a:avLst/>
          </a:prstGeom>
          <a:noFill/>
        </p:spPr>
        <p:txBody>
          <a:bodyPr wrap="square" lIns="0" tIns="0" rIns="0" bIns="0" anchor="ctr">
            <a:spAutoFit/>
          </a:bodyPr>
          <a:lstStyle/>
          <a:p>
            <a:pPr algn="ctr">
              <a:lnSpc>
                <a:spcPct val="105000"/>
              </a:lnSpc>
            </a:pPr>
            <a:r>
              <a:rPr sz="675" dirty="0">
                <a:solidFill>
                  <a:srgbClr val="263442"/>
                </a:solidFill>
                <a:latin typeface="Arial"/>
              </a:rPr>
              <a:t>Receptor</a:t>
            </a:r>
          </a:p>
        </p:txBody>
      </p:sp>
      <p:sp>
        <p:nvSpPr>
          <p:cNvPr id="237" name="Find | 3D voxel U-Net box">
            <a:extLst>
              <a:ext uri="{FF2B5EF4-FFF2-40B4-BE49-F238E27FC236}">
                <a16:creationId xmlns:a16="http://schemas.microsoft.com/office/drawing/2014/main" id="{84C31B5C-DB46-3102-A094-A625CBC3795B}"/>
              </a:ext>
            </a:extLst>
          </p:cNvPr>
          <p:cNvSpPr/>
          <p:nvPr/>
        </p:nvSpPr>
        <p:spPr>
          <a:xfrm>
            <a:off x="1962711" y="284774"/>
            <a:ext cx="2183263" cy="743575"/>
          </a:xfrm>
          <a:prstGeom prst="roundRect">
            <a:avLst>
              <a:gd name="adj" fmla="val 5000"/>
            </a:avLst>
          </a:prstGeom>
          <a:solidFill>
            <a:srgbClr val="EDF3FA"/>
          </a:solidFill>
          <a:ln w="7290">
            <a:solidFill>
              <a:srgbClr val="C3D4E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8" name="TextBox 6223">
            <a:extLst>
              <a:ext uri="{FF2B5EF4-FFF2-40B4-BE49-F238E27FC236}">
                <a16:creationId xmlns:a16="http://schemas.microsoft.com/office/drawing/2014/main" id="{D0BEE622-6A06-FAEC-A1B9-E12DAFA59B95}"/>
              </a:ext>
            </a:extLst>
          </p:cNvPr>
          <p:cNvSpPr txBox="1"/>
          <p:nvPr/>
        </p:nvSpPr>
        <p:spPr>
          <a:xfrm>
            <a:off x="1962711" y="310561"/>
            <a:ext cx="2183263" cy="106632"/>
          </a:xfrm>
          <a:prstGeom prst="rect">
            <a:avLst/>
          </a:prstGeom>
          <a:noFill/>
        </p:spPr>
        <p:txBody>
          <a:bodyPr wrap="square" lIns="0" tIns="0" rIns="0" bIns="0" anchor="ctr">
            <a:spAutoFit/>
          </a:bodyPr>
          <a:lstStyle/>
          <a:p>
            <a:pPr algn="ctr">
              <a:lnSpc>
                <a:spcPct val="105000"/>
              </a:lnSpc>
            </a:pPr>
            <a:r>
              <a:rPr sz="709">
                <a:solidFill>
                  <a:srgbClr val="263442"/>
                </a:solidFill>
                <a:latin typeface="Arial"/>
              </a:rPr>
              <a:t>3D voxel U-Net</a:t>
            </a:r>
          </a:p>
        </p:txBody>
      </p:sp>
      <p:sp>
        <p:nvSpPr>
          <p:cNvPr id="239" name="TextBox 6224">
            <a:extLst>
              <a:ext uri="{FF2B5EF4-FFF2-40B4-BE49-F238E27FC236}">
                <a16:creationId xmlns:a16="http://schemas.microsoft.com/office/drawing/2014/main" id="{6162AD09-868A-9802-DD3F-493AE18E658B}"/>
              </a:ext>
            </a:extLst>
          </p:cNvPr>
          <p:cNvSpPr txBox="1"/>
          <p:nvPr/>
        </p:nvSpPr>
        <p:spPr>
          <a:xfrm>
            <a:off x="1962566" y="415407"/>
            <a:ext cx="2183414" cy="84510"/>
          </a:xfrm>
          <a:prstGeom prst="rect">
            <a:avLst/>
          </a:prstGeom>
          <a:noFill/>
        </p:spPr>
        <p:txBody>
          <a:bodyPr wrap="square" lIns="0" tIns="0" rIns="0" bIns="0" anchor="ctr">
            <a:spAutoFit/>
          </a:bodyPr>
          <a:lstStyle/>
          <a:p>
            <a:pPr algn="ctr">
              <a:lnSpc>
                <a:spcPct val="105000"/>
              </a:lnSpc>
            </a:pPr>
            <a:r>
              <a:rPr sz="562" i="1" dirty="0">
                <a:solidFill>
                  <a:srgbClr val="263442"/>
                </a:solidFill>
                <a:latin typeface="Arial"/>
              </a:rPr>
              <a:t>Skip connections</a:t>
            </a:r>
          </a:p>
        </p:txBody>
      </p:sp>
      <p:sp>
        <p:nvSpPr>
          <p:cNvPr id="240" name="TextBox 10003">
            <a:extLst>
              <a:ext uri="{FF2B5EF4-FFF2-40B4-BE49-F238E27FC236}">
                <a16:creationId xmlns:a16="http://schemas.microsoft.com/office/drawing/2014/main" id="{09C48FDC-7786-8263-4A08-E75021FC8287}"/>
              </a:ext>
            </a:extLst>
          </p:cNvPr>
          <p:cNvSpPr txBox="1"/>
          <p:nvPr/>
        </p:nvSpPr>
        <p:spPr>
          <a:xfrm>
            <a:off x="2128828"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Encoder</a:t>
            </a:r>
          </a:p>
        </p:txBody>
      </p:sp>
      <p:sp>
        <p:nvSpPr>
          <p:cNvPr id="241" name="TextBox 10004">
            <a:extLst>
              <a:ext uri="{FF2B5EF4-FFF2-40B4-BE49-F238E27FC236}">
                <a16:creationId xmlns:a16="http://schemas.microsoft.com/office/drawing/2014/main" id="{5D7C6AF6-28C5-C78C-2A6D-53148E9C5409}"/>
              </a:ext>
            </a:extLst>
          </p:cNvPr>
          <p:cNvSpPr txBox="1"/>
          <p:nvPr/>
        </p:nvSpPr>
        <p:spPr>
          <a:xfrm>
            <a:off x="2777479"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Bottleneck</a:t>
            </a:r>
          </a:p>
        </p:txBody>
      </p:sp>
      <p:sp>
        <p:nvSpPr>
          <p:cNvPr id="242" name="TextBox 10005">
            <a:extLst>
              <a:ext uri="{FF2B5EF4-FFF2-40B4-BE49-F238E27FC236}">
                <a16:creationId xmlns:a16="http://schemas.microsoft.com/office/drawing/2014/main" id="{7CC49EB1-DBD1-A7E7-516D-CECCC1D041F1}"/>
              </a:ext>
            </a:extLst>
          </p:cNvPr>
          <p:cNvSpPr txBox="1"/>
          <p:nvPr/>
        </p:nvSpPr>
        <p:spPr>
          <a:xfrm>
            <a:off x="3426130"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Decoder</a:t>
            </a:r>
          </a:p>
        </p:txBody>
      </p:sp>
      <p:sp>
        <p:nvSpPr>
          <p:cNvPr id="243" name="Find | Point Transformer V3 box">
            <a:extLst>
              <a:ext uri="{FF2B5EF4-FFF2-40B4-BE49-F238E27FC236}">
                <a16:creationId xmlns:a16="http://schemas.microsoft.com/office/drawing/2014/main" id="{E6BB0EBE-E97F-0460-89AE-378626BAD4D7}"/>
              </a:ext>
            </a:extLst>
          </p:cNvPr>
          <p:cNvSpPr/>
          <p:nvPr/>
        </p:nvSpPr>
        <p:spPr>
          <a:xfrm>
            <a:off x="1962711" y="1170736"/>
            <a:ext cx="2183263" cy="585368"/>
          </a:xfrm>
          <a:prstGeom prst="roundRect">
            <a:avLst>
              <a:gd name="adj" fmla="val 5000"/>
            </a:avLst>
          </a:prstGeom>
          <a:solidFill>
            <a:srgbClr val="EDF3FA"/>
          </a:solidFill>
          <a:ln w="7290">
            <a:solidFill>
              <a:srgbClr val="C3D4E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grpSp>
        <p:nvGrpSpPr>
          <p:cNvPr id="244" name="Find | PTV3 stage 1 (no pseudo)">
            <a:extLst>
              <a:ext uri="{FF2B5EF4-FFF2-40B4-BE49-F238E27FC236}">
                <a16:creationId xmlns:a16="http://schemas.microsoft.com/office/drawing/2014/main" id="{B4F71929-AC06-8CA3-B3DD-0D60585A9033}"/>
              </a:ext>
            </a:extLst>
          </p:cNvPr>
          <p:cNvGrpSpPr/>
          <p:nvPr/>
        </p:nvGrpSpPr>
        <p:grpSpPr>
          <a:xfrm>
            <a:off x="2053680" y="1222153"/>
            <a:ext cx="276863" cy="197759"/>
            <a:chOff x="1837958" y="1438830"/>
            <a:chExt cx="279225" cy="243090"/>
          </a:xfrm>
        </p:grpSpPr>
        <p:sp>
          <p:nvSpPr>
            <p:cNvPr id="245" name="rect_1844">
              <a:extLst>
                <a:ext uri="{FF2B5EF4-FFF2-40B4-BE49-F238E27FC236}">
                  <a16:creationId xmlns:a16="http://schemas.microsoft.com/office/drawing/2014/main" id="{660AA888-4092-6DA6-78D3-4B888E2B2DA3}"/>
                </a:ext>
              </a:extLst>
            </p:cNvPr>
            <p:cNvSpPr/>
            <p:nvPr/>
          </p:nvSpPr>
          <p:spPr>
            <a:xfrm>
              <a:off x="1837958" y="1438830"/>
              <a:ext cx="279225" cy="243090"/>
            </a:xfrm>
            <a:prstGeom prst="roundRect">
              <a:avLst>
                <a:gd name="adj" fmla="val 6757"/>
              </a:avLst>
            </a:prstGeom>
            <a:solidFill>
              <a:srgbClr val="F8F5FC"/>
            </a:solidFill>
            <a:ln w="2540" cap="rnd" cmpd="sng" algn="ctr">
              <a:solidFill>
                <a:srgbClr val="C3D4E6"/>
              </a:solidFill>
              <a:prstDash val="solid"/>
              <a:round/>
              <a:headEnd type="none" w="med" len="med"/>
              <a:tailEnd type="none" w="med" len="med"/>
            </a:ln>
            <a:effectLst/>
          </p:spPr>
        </p:sp>
        <p:sp>
          <p:nvSpPr>
            <p:cNvPr id="246" name="ellipse_1845">
              <a:extLst>
                <a:ext uri="{FF2B5EF4-FFF2-40B4-BE49-F238E27FC236}">
                  <a16:creationId xmlns:a16="http://schemas.microsoft.com/office/drawing/2014/main" id="{8ED69D04-8A29-A5B5-FEDE-87DBF5A86A21}"/>
                </a:ext>
              </a:extLst>
            </p:cNvPr>
            <p:cNvSpPr/>
            <p:nvPr/>
          </p:nvSpPr>
          <p:spPr>
            <a:xfrm>
              <a:off x="1911179" y="154988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7" name="ellipse_1846">
              <a:extLst>
                <a:ext uri="{FF2B5EF4-FFF2-40B4-BE49-F238E27FC236}">
                  <a16:creationId xmlns:a16="http://schemas.microsoft.com/office/drawing/2014/main" id="{2F757B70-05BB-1D52-EAD7-99F943EE0786}"/>
                </a:ext>
              </a:extLst>
            </p:cNvPr>
            <p:cNvSpPr/>
            <p:nvPr/>
          </p:nvSpPr>
          <p:spPr>
            <a:xfrm>
              <a:off x="2016057" y="15691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8" name="ellipse_1847">
              <a:extLst>
                <a:ext uri="{FF2B5EF4-FFF2-40B4-BE49-F238E27FC236}">
                  <a16:creationId xmlns:a16="http://schemas.microsoft.com/office/drawing/2014/main" id="{33900347-5FB5-F6C0-81F6-93C079B537C5}"/>
                </a:ext>
              </a:extLst>
            </p:cNvPr>
            <p:cNvSpPr/>
            <p:nvPr/>
          </p:nvSpPr>
          <p:spPr>
            <a:xfrm>
              <a:off x="1901005" y="1463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9" name="ellipse_1848">
              <a:extLst>
                <a:ext uri="{FF2B5EF4-FFF2-40B4-BE49-F238E27FC236}">
                  <a16:creationId xmlns:a16="http://schemas.microsoft.com/office/drawing/2014/main" id="{D9E3B372-BB0F-C9A4-3974-A8E7AF7737B7}"/>
                </a:ext>
              </a:extLst>
            </p:cNvPr>
            <p:cNvSpPr/>
            <p:nvPr/>
          </p:nvSpPr>
          <p:spPr>
            <a:xfrm>
              <a:off x="1966917" y="149122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0" name="ellipse_1849">
              <a:extLst>
                <a:ext uri="{FF2B5EF4-FFF2-40B4-BE49-F238E27FC236}">
                  <a16:creationId xmlns:a16="http://schemas.microsoft.com/office/drawing/2014/main" id="{65731899-DB97-2E91-5665-E8C978110F71}"/>
                </a:ext>
              </a:extLst>
            </p:cNvPr>
            <p:cNvSpPr/>
            <p:nvPr/>
          </p:nvSpPr>
          <p:spPr>
            <a:xfrm>
              <a:off x="1981202" y="14619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1" name="ellipse_1850">
              <a:extLst>
                <a:ext uri="{FF2B5EF4-FFF2-40B4-BE49-F238E27FC236}">
                  <a16:creationId xmlns:a16="http://schemas.microsoft.com/office/drawing/2014/main" id="{FB870BF7-7DC4-B374-8AD0-46EC506BB29E}"/>
                </a:ext>
              </a:extLst>
            </p:cNvPr>
            <p:cNvSpPr/>
            <p:nvPr/>
          </p:nvSpPr>
          <p:spPr>
            <a:xfrm>
              <a:off x="2025801" y="15227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2" name="ellipse_1851">
              <a:extLst>
                <a:ext uri="{FF2B5EF4-FFF2-40B4-BE49-F238E27FC236}">
                  <a16:creationId xmlns:a16="http://schemas.microsoft.com/office/drawing/2014/main" id="{FB5210B2-4DAF-5841-3925-445BB6BA8E65}"/>
                </a:ext>
              </a:extLst>
            </p:cNvPr>
            <p:cNvSpPr/>
            <p:nvPr/>
          </p:nvSpPr>
          <p:spPr>
            <a:xfrm>
              <a:off x="1923657" y="157409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3" name="ellipse_1852">
              <a:extLst>
                <a:ext uri="{FF2B5EF4-FFF2-40B4-BE49-F238E27FC236}">
                  <a16:creationId xmlns:a16="http://schemas.microsoft.com/office/drawing/2014/main" id="{5E297BB0-4B0B-7393-6335-0A8D413997FE}"/>
                </a:ext>
              </a:extLst>
            </p:cNvPr>
            <p:cNvSpPr/>
            <p:nvPr/>
          </p:nvSpPr>
          <p:spPr>
            <a:xfrm>
              <a:off x="2046951" y="149268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4" name="ellipse_1853">
              <a:extLst>
                <a:ext uri="{FF2B5EF4-FFF2-40B4-BE49-F238E27FC236}">
                  <a16:creationId xmlns:a16="http://schemas.microsoft.com/office/drawing/2014/main" id="{3460EDB7-F270-4A51-230E-76F07C518E5B}"/>
                </a:ext>
              </a:extLst>
            </p:cNvPr>
            <p:cNvSpPr/>
            <p:nvPr/>
          </p:nvSpPr>
          <p:spPr>
            <a:xfrm>
              <a:off x="1971403" y="1621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5" name="ellipse_1854">
              <a:extLst>
                <a:ext uri="{FF2B5EF4-FFF2-40B4-BE49-F238E27FC236}">
                  <a16:creationId xmlns:a16="http://schemas.microsoft.com/office/drawing/2014/main" id="{D7F22E2B-29AF-AAFC-9390-4763B76AC824}"/>
                </a:ext>
              </a:extLst>
            </p:cNvPr>
            <p:cNvSpPr/>
            <p:nvPr/>
          </p:nvSpPr>
          <p:spPr>
            <a:xfrm>
              <a:off x="1916632" y="148370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56" name="Find | PTV3 stage 2 (no pseudo)">
            <a:extLst>
              <a:ext uri="{FF2B5EF4-FFF2-40B4-BE49-F238E27FC236}">
                <a16:creationId xmlns:a16="http://schemas.microsoft.com/office/drawing/2014/main" id="{F4A044B8-F6CD-9A28-3075-23E9F1427BD6}"/>
              </a:ext>
            </a:extLst>
          </p:cNvPr>
          <p:cNvGrpSpPr/>
          <p:nvPr/>
        </p:nvGrpSpPr>
        <p:grpSpPr>
          <a:xfrm>
            <a:off x="2484443" y="1218198"/>
            <a:ext cx="269656" cy="205670"/>
            <a:chOff x="2276505" y="1465110"/>
            <a:chExt cx="243090" cy="190530"/>
          </a:xfrm>
        </p:grpSpPr>
        <p:sp>
          <p:nvSpPr>
            <p:cNvPr id="257" name="rect_1860">
              <a:extLst>
                <a:ext uri="{FF2B5EF4-FFF2-40B4-BE49-F238E27FC236}">
                  <a16:creationId xmlns:a16="http://schemas.microsoft.com/office/drawing/2014/main" id="{2A2BC9FE-9931-3C68-E213-012D2334D100}"/>
                </a:ext>
              </a:extLst>
            </p:cNvPr>
            <p:cNvSpPr/>
            <p:nvPr/>
          </p:nvSpPr>
          <p:spPr>
            <a:xfrm>
              <a:off x="2276505" y="1465110"/>
              <a:ext cx="243090" cy="190530"/>
            </a:xfrm>
            <a:prstGeom prst="roundRect">
              <a:avLst>
                <a:gd name="adj" fmla="val 8621"/>
              </a:avLst>
            </a:prstGeom>
            <a:solidFill>
              <a:srgbClr val="F8F5FC"/>
            </a:solidFill>
            <a:ln w="2540" cap="rnd" cmpd="sng" algn="ctr">
              <a:solidFill>
                <a:srgbClr val="C3D4E6"/>
              </a:solidFill>
              <a:prstDash val="solid"/>
              <a:round/>
              <a:headEnd type="none" w="med" len="med"/>
              <a:tailEnd type="none" w="med" len="med"/>
            </a:ln>
            <a:effectLst/>
          </p:spPr>
        </p:sp>
        <p:sp>
          <p:nvSpPr>
            <p:cNvPr id="258" name="ellipse_1861">
              <a:extLst>
                <a:ext uri="{FF2B5EF4-FFF2-40B4-BE49-F238E27FC236}">
                  <a16:creationId xmlns:a16="http://schemas.microsoft.com/office/drawing/2014/main" id="{0D3FC1DA-E4D9-46A0-549F-86D3BA55D6FD}"/>
                </a:ext>
              </a:extLst>
            </p:cNvPr>
            <p:cNvSpPr/>
            <p:nvPr/>
          </p:nvSpPr>
          <p:spPr>
            <a:xfrm>
              <a:off x="2443383" y="14753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9" name="ellipse_1862">
              <a:extLst>
                <a:ext uri="{FF2B5EF4-FFF2-40B4-BE49-F238E27FC236}">
                  <a16:creationId xmlns:a16="http://schemas.microsoft.com/office/drawing/2014/main" id="{2E76A36E-124A-FF28-5F0C-9D8A556CAB6E}"/>
                </a:ext>
              </a:extLst>
            </p:cNvPr>
            <p:cNvSpPr/>
            <p:nvPr/>
          </p:nvSpPr>
          <p:spPr>
            <a:xfrm>
              <a:off x="2334302" y="149054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0" name="ellipse_1863">
              <a:extLst>
                <a:ext uri="{FF2B5EF4-FFF2-40B4-BE49-F238E27FC236}">
                  <a16:creationId xmlns:a16="http://schemas.microsoft.com/office/drawing/2014/main" id="{D535EE24-6485-F339-2CB7-F9EF085CB943}"/>
                </a:ext>
              </a:extLst>
            </p:cNvPr>
            <p:cNvSpPr/>
            <p:nvPr/>
          </p:nvSpPr>
          <p:spPr>
            <a:xfrm>
              <a:off x="2421391" y="151821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1" name="ellipse_1864">
              <a:extLst>
                <a:ext uri="{FF2B5EF4-FFF2-40B4-BE49-F238E27FC236}">
                  <a16:creationId xmlns:a16="http://schemas.microsoft.com/office/drawing/2014/main" id="{3E3B8E8E-0D51-B463-1AC5-8ABBD0D94E5F}"/>
                </a:ext>
              </a:extLst>
            </p:cNvPr>
            <p:cNvSpPr/>
            <p:nvPr/>
          </p:nvSpPr>
          <p:spPr>
            <a:xfrm>
              <a:off x="2395798" y="148175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2" name="ellipse_1865">
              <a:extLst>
                <a:ext uri="{FF2B5EF4-FFF2-40B4-BE49-F238E27FC236}">
                  <a16:creationId xmlns:a16="http://schemas.microsoft.com/office/drawing/2014/main" id="{A78CC97C-CF00-B4B4-232A-6540F415567F}"/>
                </a:ext>
              </a:extLst>
            </p:cNvPr>
            <p:cNvSpPr/>
            <p:nvPr/>
          </p:nvSpPr>
          <p:spPr>
            <a:xfrm>
              <a:off x="2345071" y="160888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3" name="ellipse_1866">
              <a:extLst>
                <a:ext uri="{FF2B5EF4-FFF2-40B4-BE49-F238E27FC236}">
                  <a16:creationId xmlns:a16="http://schemas.microsoft.com/office/drawing/2014/main" id="{1C7DD56E-5535-8B2E-615C-21EEB3FC0B60}"/>
                </a:ext>
              </a:extLst>
            </p:cNvPr>
            <p:cNvSpPr/>
            <p:nvPr/>
          </p:nvSpPr>
          <p:spPr>
            <a:xfrm>
              <a:off x="2455927" y="15235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4" name="ellipse_1867">
              <a:extLst>
                <a:ext uri="{FF2B5EF4-FFF2-40B4-BE49-F238E27FC236}">
                  <a16:creationId xmlns:a16="http://schemas.microsoft.com/office/drawing/2014/main" id="{53E5DFEF-A738-E1E2-6D82-562898867479}"/>
                </a:ext>
              </a:extLst>
            </p:cNvPr>
            <p:cNvSpPr/>
            <p:nvPr/>
          </p:nvSpPr>
          <p:spPr>
            <a:xfrm>
              <a:off x="2415612" y="15382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5" name="ellipse_1868">
              <a:extLst>
                <a:ext uri="{FF2B5EF4-FFF2-40B4-BE49-F238E27FC236}">
                  <a16:creationId xmlns:a16="http://schemas.microsoft.com/office/drawing/2014/main" id="{9F15DB89-4578-E9D4-B66C-9772D337DE92}"/>
                </a:ext>
              </a:extLst>
            </p:cNvPr>
            <p:cNvSpPr/>
            <p:nvPr/>
          </p:nvSpPr>
          <p:spPr>
            <a:xfrm>
              <a:off x="2384162" y="155385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66" name="Find | PTV3 stage 3 (no pseudo)">
            <a:extLst>
              <a:ext uri="{FF2B5EF4-FFF2-40B4-BE49-F238E27FC236}">
                <a16:creationId xmlns:a16="http://schemas.microsoft.com/office/drawing/2014/main" id="{8E5AF76E-A5D2-A1C4-1196-A1FB989CBECC}"/>
              </a:ext>
            </a:extLst>
          </p:cNvPr>
          <p:cNvGrpSpPr/>
          <p:nvPr/>
        </p:nvGrpSpPr>
        <p:grpSpPr>
          <a:xfrm>
            <a:off x="2932283" y="1230063"/>
            <a:ext cx="244120" cy="181939"/>
            <a:chOff x="2703555" y="1491390"/>
            <a:chExt cx="190530" cy="137970"/>
          </a:xfrm>
        </p:grpSpPr>
        <p:sp>
          <p:nvSpPr>
            <p:cNvPr id="267" name="rect_1874">
              <a:extLst>
                <a:ext uri="{FF2B5EF4-FFF2-40B4-BE49-F238E27FC236}">
                  <a16:creationId xmlns:a16="http://schemas.microsoft.com/office/drawing/2014/main" id="{75101B77-5988-FEB7-22BD-46F0384ADBC8}"/>
                </a:ext>
              </a:extLst>
            </p:cNvPr>
            <p:cNvSpPr/>
            <p:nvPr/>
          </p:nvSpPr>
          <p:spPr>
            <a:xfrm>
              <a:off x="2703555" y="1491390"/>
              <a:ext cx="190530" cy="137970"/>
            </a:xfrm>
            <a:prstGeom prst="roundRect">
              <a:avLst>
                <a:gd name="adj" fmla="val 11905"/>
              </a:avLst>
            </a:prstGeom>
            <a:solidFill>
              <a:srgbClr val="F8F5FC"/>
            </a:solidFill>
            <a:ln w="2540" cap="rnd" cmpd="sng" algn="ctr">
              <a:solidFill>
                <a:srgbClr val="C3D4E6"/>
              </a:solidFill>
              <a:prstDash val="solid"/>
              <a:round/>
              <a:headEnd type="none" w="med" len="med"/>
              <a:tailEnd type="none" w="med" len="med"/>
            </a:ln>
            <a:effectLst/>
          </p:spPr>
        </p:sp>
        <p:sp>
          <p:nvSpPr>
            <p:cNvPr id="268" name="ellipse_1875">
              <a:extLst>
                <a:ext uri="{FF2B5EF4-FFF2-40B4-BE49-F238E27FC236}">
                  <a16:creationId xmlns:a16="http://schemas.microsoft.com/office/drawing/2014/main" id="{0F3768B9-45DC-D239-6ECE-6B199905A0E6}"/>
                </a:ext>
              </a:extLst>
            </p:cNvPr>
            <p:cNvSpPr/>
            <p:nvPr/>
          </p:nvSpPr>
          <p:spPr>
            <a:xfrm>
              <a:off x="2782342" y="152486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9" name="ellipse_1876">
              <a:extLst>
                <a:ext uri="{FF2B5EF4-FFF2-40B4-BE49-F238E27FC236}">
                  <a16:creationId xmlns:a16="http://schemas.microsoft.com/office/drawing/2014/main" id="{9AC2E9D9-EA81-CB60-9668-376E55C3B65A}"/>
                </a:ext>
              </a:extLst>
            </p:cNvPr>
            <p:cNvSpPr/>
            <p:nvPr/>
          </p:nvSpPr>
          <p:spPr>
            <a:xfrm>
              <a:off x="2750750" y="159446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0" name="ellipse_1877">
              <a:extLst>
                <a:ext uri="{FF2B5EF4-FFF2-40B4-BE49-F238E27FC236}">
                  <a16:creationId xmlns:a16="http://schemas.microsoft.com/office/drawing/2014/main" id="{193512C0-B984-BF26-53B2-A4C133832B19}"/>
                </a:ext>
              </a:extLst>
            </p:cNvPr>
            <p:cNvSpPr/>
            <p:nvPr/>
          </p:nvSpPr>
          <p:spPr>
            <a:xfrm>
              <a:off x="2743887" y="14971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1" name="ellipse_1878">
              <a:extLst>
                <a:ext uri="{FF2B5EF4-FFF2-40B4-BE49-F238E27FC236}">
                  <a16:creationId xmlns:a16="http://schemas.microsoft.com/office/drawing/2014/main" id="{010957FC-182F-1FF9-1554-385555C7E5BB}"/>
                </a:ext>
              </a:extLst>
            </p:cNvPr>
            <p:cNvSpPr/>
            <p:nvPr/>
          </p:nvSpPr>
          <p:spPr>
            <a:xfrm>
              <a:off x="2833390" y="151132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2" name="ellipse_1879">
              <a:extLst>
                <a:ext uri="{FF2B5EF4-FFF2-40B4-BE49-F238E27FC236}">
                  <a16:creationId xmlns:a16="http://schemas.microsoft.com/office/drawing/2014/main" id="{D3BED3D3-6945-FBFB-0ADC-29AB3D61D264}"/>
                </a:ext>
              </a:extLst>
            </p:cNvPr>
            <p:cNvSpPr/>
            <p:nvPr/>
          </p:nvSpPr>
          <p:spPr>
            <a:xfrm>
              <a:off x="2831792" y="156772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73" name="Find | PTV3 stage 4 (no pseudo)">
            <a:extLst>
              <a:ext uri="{FF2B5EF4-FFF2-40B4-BE49-F238E27FC236}">
                <a16:creationId xmlns:a16="http://schemas.microsoft.com/office/drawing/2014/main" id="{6152C243-7C11-72B4-655A-F6C20103F058}"/>
              </a:ext>
            </a:extLst>
          </p:cNvPr>
          <p:cNvGrpSpPr/>
          <p:nvPr/>
        </p:nvGrpSpPr>
        <p:grpSpPr>
          <a:xfrm>
            <a:off x="3354586" y="1218198"/>
            <a:ext cx="269656" cy="205670"/>
            <a:chOff x="3097755" y="1465110"/>
            <a:chExt cx="243090" cy="190530"/>
          </a:xfrm>
        </p:grpSpPr>
        <p:sp>
          <p:nvSpPr>
            <p:cNvPr id="274" name="rect_1885">
              <a:extLst>
                <a:ext uri="{FF2B5EF4-FFF2-40B4-BE49-F238E27FC236}">
                  <a16:creationId xmlns:a16="http://schemas.microsoft.com/office/drawing/2014/main" id="{02A84936-E0C4-22EE-AB39-B8147866C1E6}"/>
                </a:ext>
              </a:extLst>
            </p:cNvPr>
            <p:cNvSpPr/>
            <p:nvPr/>
          </p:nvSpPr>
          <p:spPr>
            <a:xfrm>
              <a:off x="3097755" y="1465110"/>
              <a:ext cx="243090" cy="190530"/>
            </a:xfrm>
            <a:prstGeom prst="roundRect">
              <a:avLst>
                <a:gd name="adj" fmla="val 8621"/>
              </a:avLst>
            </a:prstGeom>
            <a:solidFill>
              <a:srgbClr val="F8F5FC"/>
            </a:solidFill>
            <a:ln w="2540" cap="rnd" cmpd="sng" algn="ctr">
              <a:solidFill>
                <a:srgbClr val="C3D4E6"/>
              </a:solidFill>
              <a:prstDash val="solid"/>
              <a:round/>
              <a:headEnd type="none" w="med" len="med"/>
              <a:tailEnd type="none" w="med" len="med"/>
            </a:ln>
            <a:effectLst/>
          </p:spPr>
        </p:sp>
        <p:sp>
          <p:nvSpPr>
            <p:cNvPr id="275" name="ellipse_1886">
              <a:extLst>
                <a:ext uri="{FF2B5EF4-FFF2-40B4-BE49-F238E27FC236}">
                  <a16:creationId xmlns:a16="http://schemas.microsoft.com/office/drawing/2014/main" id="{28C5B77C-D4DA-25CA-7F5E-FFB406D4948B}"/>
                </a:ext>
              </a:extLst>
            </p:cNvPr>
            <p:cNvSpPr/>
            <p:nvPr/>
          </p:nvSpPr>
          <p:spPr>
            <a:xfrm>
              <a:off x="3274804" y="154785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6" name="ellipse_1887">
              <a:extLst>
                <a:ext uri="{FF2B5EF4-FFF2-40B4-BE49-F238E27FC236}">
                  <a16:creationId xmlns:a16="http://schemas.microsoft.com/office/drawing/2014/main" id="{4B9C2CC8-3618-CEA6-223F-481DE7645A74}"/>
                </a:ext>
              </a:extLst>
            </p:cNvPr>
            <p:cNvSpPr/>
            <p:nvPr/>
          </p:nvSpPr>
          <p:spPr>
            <a:xfrm>
              <a:off x="3235593" y="156879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7" name="ellipse_1888">
              <a:extLst>
                <a:ext uri="{FF2B5EF4-FFF2-40B4-BE49-F238E27FC236}">
                  <a16:creationId xmlns:a16="http://schemas.microsoft.com/office/drawing/2014/main" id="{116AA07D-1658-6583-2048-22DAA979C713}"/>
                </a:ext>
              </a:extLst>
            </p:cNvPr>
            <p:cNvSpPr/>
            <p:nvPr/>
          </p:nvSpPr>
          <p:spPr>
            <a:xfrm>
              <a:off x="3215524" y="154839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8" name="ellipse_1889">
              <a:extLst>
                <a:ext uri="{FF2B5EF4-FFF2-40B4-BE49-F238E27FC236}">
                  <a16:creationId xmlns:a16="http://schemas.microsoft.com/office/drawing/2014/main" id="{B9996B1C-4365-A5B2-A0FA-BEEE1AE3580D}"/>
                </a:ext>
              </a:extLst>
            </p:cNvPr>
            <p:cNvSpPr/>
            <p:nvPr/>
          </p:nvSpPr>
          <p:spPr>
            <a:xfrm>
              <a:off x="3114632" y="15799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9" name="ellipse_1890">
              <a:extLst>
                <a:ext uri="{FF2B5EF4-FFF2-40B4-BE49-F238E27FC236}">
                  <a16:creationId xmlns:a16="http://schemas.microsoft.com/office/drawing/2014/main" id="{B24EA66B-C475-FD74-3653-99240EA2FC7D}"/>
                </a:ext>
              </a:extLst>
            </p:cNvPr>
            <p:cNvSpPr/>
            <p:nvPr/>
          </p:nvSpPr>
          <p:spPr>
            <a:xfrm>
              <a:off x="3288227" y="158414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0" name="ellipse_1891">
              <a:extLst>
                <a:ext uri="{FF2B5EF4-FFF2-40B4-BE49-F238E27FC236}">
                  <a16:creationId xmlns:a16="http://schemas.microsoft.com/office/drawing/2014/main" id="{7C05A257-A858-E4EC-CE72-2E262BB52B07}"/>
                </a:ext>
              </a:extLst>
            </p:cNvPr>
            <p:cNvSpPr/>
            <p:nvPr/>
          </p:nvSpPr>
          <p:spPr>
            <a:xfrm>
              <a:off x="3206468" y="16100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1" name="ellipse_1892">
              <a:extLst>
                <a:ext uri="{FF2B5EF4-FFF2-40B4-BE49-F238E27FC236}">
                  <a16:creationId xmlns:a16="http://schemas.microsoft.com/office/drawing/2014/main" id="{5029BF78-C694-94BA-2390-D6FC0A6BFD81}"/>
                </a:ext>
              </a:extLst>
            </p:cNvPr>
            <p:cNvSpPr/>
            <p:nvPr/>
          </p:nvSpPr>
          <p:spPr>
            <a:xfrm>
              <a:off x="3224851" y="161218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2" name="ellipse_1893">
              <a:extLst>
                <a:ext uri="{FF2B5EF4-FFF2-40B4-BE49-F238E27FC236}">
                  <a16:creationId xmlns:a16="http://schemas.microsoft.com/office/drawing/2014/main" id="{B400169A-5E49-FEE5-1915-FCB9E751F312}"/>
                </a:ext>
              </a:extLst>
            </p:cNvPr>
            <p:cNvSpPr/>
            <p:nvPr/>
          </p:nvSpPr>
          <p:spPr>
            <a:xfrm>
              <a:off x="3255857" y="14772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83" name="Find | PTV3 stage 5 (no pseudo)">
            <a:extLst>
              <a:ext uri="{FF2B5EF4-FFF2-40B4-BE49-F238E27FC236}">
                <a16:creationId xmlns:a16="http://schemas.microsoft.com/office/drawing/2014/main" id="{FE5D4BB8-AE08-CFDC-14F9-58D62B643799}"/>
              </a:ext>
            </a:extLst>
          </p:cNvPr>
          <p:cNvGrpSpPr/>
          <p:nvPr/>
        </p:nvGrpSpPr>
        <p:grpSpPr>
          <a:xfrm>
            <a:off x="3778141" y="1222153"/>
            <a:ext cx="276863" cy="197759"/>
            <a:chOff x="3473888" y="1438830"/>
            <a:chExt cx="279225" cy="243090"/>
          </a:xfrm>
        </p:grpSpPr>
        <p:sp>
          <p:nvSpPr>
            <p:cNvPr id="284" name="rect_1899">
              <a:extLst>
                <a:ext uri="{FF2B5EF4-FFF2-40B4-BE49-F238E27FC236}">
                  <a16:creationId xmlns:a16="http://schemas.microsoft.com/office/drawing/2014/main" id="{3C966A44-931E-3C61-C3E2-9910BF785D0E}"/>
                </a:ext>
              </a:extLst>
            </p:cNvPr>
            <p:cNvSpPr/>
            <p:nvPr/>
          </p:nvSpPr>
          <p:spPr>
            <a:xfrm>
              <a:off x="3473888" y="1438830"/>
              <a:ext cx="279225" cy="243090"/>
            </a:xfrm>
            <a:prstGeom prst="roundRect">
              <a:avLst>
                <a:gd name="adj" fmla="val 6757"/>
              </a:avLst>
            </a:prstGeom>
            <a:solidFill>
              <a:srgbClr val="F8F5FC"/>
            </a:solidFill>
            <a:ln w="2540" cap="rnd" cmpd="sng" algn="ctr">
              <a:solidFill>
                <a:srgbClr val="C3D4E6"/>
              </a:solidFill>
              <a:prstDash val="solid"/>
              <a:round/>
              <a:headEnd type="none" w="med" len="med"/>
              <a:tailEnd type="none" w="med" len="med"/>
            </a:ln>
            <a:effectLst/>
          </p:spPr>
        </p:sp>
        <p:sp>
          <p:nvSpPr>
            <p:cNvPr id="285" name="ellipse_1900">
              <a:extLst>
                <a:ext uri="{FF2B5EF4-FFF2-40B4-BE49-F238E27FC236}">
                  <a16:creationId xmlns:a16="http://schemas.microsoft.com/office/drawing/2014/main" id="{0734BB70-ADDB-68EE-E4C9-F1E9F19AF6E7}"/>
                </a:ext>
              </a:extLst>
            </p:cNvPr>
            <p:cNvSpPr/>
            <p:nvPr/>
          </p:nvSpPr>
          <p:spPr>
            <a:xfrm>
              <a:off x="3538819" y="148253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6" name="ellipse_1901">
              <a:extLst>
                <a:ext uri="{FF2B5EF4-FFF2-40B4-BE49-F238E27FC236}">
                  <a16:creationId xmlns:a16="http://schemas.microsoft.com/office/drawing/2014/main" id="{50CDA3FC-9E47-A0FF-54FE-0B291B80C55E}"/>
                </a:ext>
              </a:extLst>
            </p:cNvPr>
            <p:cNvSpPr/>
            <p:nvPr/>
          </p:nvSpPr>
          <p:spPr>
            <a:xfrm>
              <a:off x="3631999" y="157809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7" name="ellipse_1902">
              <a:extLst>
                <a:ext uri="{FF2B5EF4-FFF2-40B4-BE49-F238E27FC236}">
                  <a16:creationId xmlns:a16="http://schemas.microsoft.com/office/drawing/2014/main" id="{FDEE2D57-7D4E-037C-452C-66A797AB07C9}"/>
                </a:ext>
              </a:extLst>
            </p:cNvPr>
            <p:cNvSpPr/>
            <p:nvPr/>
          </p:nvSpPr>
          <p:spPr>
            <a:xfrm>
              <a:off x="3687564" y="15901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8" name="ellipse_1903">
              <a:extLst>
                <a:ext uri="{FF2B5EF4-FFF2-40B4-BE49-F238E27FC236}">
                  <a16:creationId xmlns:a16="http://schemas.microsoft.com/office/drawing/2014/main" id="{B2C7060E-B2BB-F02D-5B6F-B7D323B087B4}"/>
                </a:ext>
              </a:extLst>
            </p:cNvPr>
            <p:cNvSpPr/>
            <p:nvPr/>
          </p:nvSpPr>
          <p:spPr>
            <a:xfrm>
              <a:off x="3686262" y="162539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9" name="ellipse_1904">
              <a:extLst>
                <a:ext uri="{FF2B5EF4-FFF2-40B4-BE49-F238E27FC236}">
                  <a16:creationId xmlns:a16="http://schemas.microsoft.com/office/drawing/2014/main" id="{7DE1C447-AFD4-DD7C-5DE0-0E96E8153D12}"/>
                </a:ext>
              </a:extLst>
            </p:cNvPr>
            <p:cNvSpPr/>
            <p:nvPr/>
          </p:nvSpPr>
          <p:spPr>
            <a:xfrm>
              <a:off x="3673847" y="145725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0" name="ellipse_1905">
              <a:extLst>
                <a:ext uri="{FF2B5EF4-FFF2-40B4-BE49-F238E27FC236}">
                  <a16:creationId xmlns:a16="http://schemas.microsoft.com/office/drawing/2014/main" id="{536BBD44-5D8E-E642-7EFE-DC301B9D3F7F}"/>
                </a:ext>
              </a:extLst>
            </p:cNvPr>
            <p:cNvSpPr/>
            <p:nvPr/>
          </p:nvSpPr>
          <p:spPr>
            <a:xfrm>
              <a:off x="3580150" y="160304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1" name="ellipse_1906">
              <a:extLst>
                <a:ext uri="{FF2B5EF4-FFF2-40B4-BE49-F238E27FC236}">
                  <a16:creationId xmlns:a16="http://schemas.microsoft.com/office/drawing/2014/main" id="{2D018CC6-8BB4-0573-830A-62F9771BB455}"/>
                </a:ext>
              </a:extLst>
            </p:cNvPr>
            <p:cNvSpPr/>
            <p:nvPr/>
          </p:nvSpPr>
          <p:spPr>
            <a:xfrm>
              <a:off x="3499431" y="147999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2" name="ellipse_1907">
              <a:extLst>
                <a:ext uri="{FF2B5EF4-FFF2-40B4-BE49-F238E27FC236}">
                  <a16:creationId xmlns:a16="http://schemas.microsoft.com/office/drawing/2014/main" id="{3D9BABC9-7179-80DF-931B-76C5D153BFA2}"/>
                </a:ext>
              </a:extLst>
            </p:cNvPr>
            <p:cNvSpPr/>
            <p:nvPr/>
          </p:nvSpPr>
          <p:spPr>
            <a:xfrm>
              <a:off x="3698498" y="163375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3" name="ellipse_1908">
              <a:extLst>
                <a:ext uri="{FF2B5EF4-FFF2-40B4-BE49-F238E27FC236}">
                  <a16:creationId xmlns:a16="http://schemas.microsoft.com/office/drawing/2014/main" id="{BF41BEF8-8F67-637A-F426-1015DD3C37FC}"/>
                </a:ext>
              </a:extLst>
            </p:cNvPr>
            <p:cNvSpPr/>
            <p:nvPr/>
          </p:nvSpPr>
          <p:spPr>
            <a:xfrm>
              <a:off x="3664475" y="160668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4" name="ellipse_1909">
              <a:extLst>
                <a:ext uri="{FF2B5EF4-FFF2-40B4-BE49-F238E27FC236}">
                  <a16:creationId xmlns:a16="http://schemas.microsoft.com/office/drawing/2014/main" id="{E57407DB-12F2-A10B-73ED-904E74E89684}"/>
                </a:ext>
              </a:extLst>
            </p:cNvPr>
            <p:cNvSpPr/>
            <p:nvPr/>
          </p:nvSpPr>
          <p:spPr>
            <a:xfrm>
              <a:off x="3577670" y="157500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sp>
        <p:nvSpPr>
          <p:cNvPr id="297" name="TextBox 12152">
            <a:extLst>
              <a:ext uri="{FF2B5EF4-FFF2-40B4-BE49-F238E27FC236}">
                <a16:creationId xmlns:a16="http://schemas.microsoft.com/office/drawing/2014/main" id="{DA95DC65-9861-CC7E-7EFC-4B9E07722C91}"/>
              </a:ext>
            </a:extLst>
          </p:cNvPr>
          <p:cNvSpPr txBox="1"/>
          <p:nvPr/>
        </p:nvSpPr>
        <p:spPr>
          <a:xfrm>
            <a:off x="1962711" y="1615773"/>
            <a:ext cx="2183263" cy="106632"/>
          </a:xfrm>
          <a:prstGeom prst="rect">
            <a:avLst/>
          </a:prstGeom>
          <a:noFill/>
        </p:spPr>
        <p:txBody>
          <a:bodyPr wrap="square" lIns="0" tIns="0" rIns="0" bIns="0" anchor="ctr">
            <a:spAutoFit/>
          </a:bodyPr>
          <a:lstStyle/>
          <a:p>
            <a:pPr algn="ctr">
              <a:lnSpc>
                <a:spcPct val="105000"/>
              </a:lnSpc>
            </a:pPr>
            <a:r>
              <a:rPr sz="709">
                <a:solidFill>
                  <a:srgbClr val="263442"/>
                </a:solidFill>
                <a:latin typeface="Arial"/>
              </a:rPr>
              <a:t>Point Transformer V3</a:t>
            </a:r>
          </a:p>
        </p:txBody>
      </p:sp>
      <p:sp>
        <p:nvSpPr>
          <p:cNvPr id="298" name="TextBox 12153">
            <a:extLst>
              <a:ext uri="{FF2B5EF4-FFF2-40B4-BE49-F238E27FC236}">
                <a16:creationId xmlns:a16="http://schemas.microsoft.com/office/drawing/2014/main" id="{522E41DD-5F6E-76BD-E92F-5CBA886A651B}"/>
              </a:ext>
            </a:extLst>
          </p:cNvPr>
          <p:cNvSpPr txBox="1"/>
          <p:nvPr/>
        </p:nvSpPr>
        <p:spPr>
          <a:xfrm>
            <a:off x="2809120" y="1058360"/>
            <a:ext cx="767306" cy="88422"/>
          </a:xfrm>
          <a:prstGeom prst="rect">
            <a:avLst/>
          </a:prstGeom>
          <a:noFill/>
        </p:spPr>
        <p:txBody>
          <a:bodyPr wrap="square" lIns="0" tIns="0" rIns="0" bIns="0" anchor="ctr">
            <a:spAutoFit/>
          </a:bodyPr>
          <a:lstStyle/>
          <a:p>
            <a:pPr algn="ctr">
              <a:lnSpc>
                <a:spcPct val="105000"/>
              </a:lnSpc>
            </a:pPr>
            <a:r>
              <a:rPr lang="en-US" sz="588" dirty="0">
                <a:solidFill>
                  <a:srgbClr val="263442"/>
                </a:solidFill>
                <a:latin typeface="Arial"/>
              </a:rPr>
              <a:t>F</a:t>
            </a:r>
            <a:r>
              <a:rPr sz="588" dirty="0">
                <a:solidFill>
                  <a:srgbClr val="263442"/>
                </a:solidFill>
                <a:latin typeface="Arial"/>
              </a:rPr>
              <a:t>usion</a:t>
            </a:r>
          </a:p>
        </p:txBody>
      </p:sp>
      <p:sp>
        <p:nvSpPr>
          <p:cNvPr id="299" name="Find | Blobs output card">
            <a:extLst>
              <a:ext uri="{FF2B5EF4-FFF2-40B4-BE49-F238E27FC236}">
                <a16:creationId xmlns:a16="http://schemas.microsoft.com/office/drawing/2014/main" id="{6A602B9B-DE58-7AA0-FDBA-741F60C78A9B}"/>
              </a:ext>
            </a:extLst>
          </p:cNvPr>
          <p:cNvSpPr/>
          <p:nvPr/>
        </p:nvSpPr>
        <p:spPr>
          <a:xfrm>
            <a:off x="4329930" y="284775"/>
            <a:ext cx="442980" cy="1471328"/>
          </a:xfrm>
          <a:prstGeom prst="roundRect">
            <a:avLst>
              <a:gd name="adj" fmla="val 6000"/>
            </a:avLst>
          </a:prstGeom>
          <a:solidFill>
            <a:srgbClr val="FFFFFF"/>
          </a:solidFill>
          <a:ln w="7290">
            <a:solidFill>
              <a:srgbClr val="CBD6E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300" name="TextBox 12155">
            <a:extLst>
              <a:ext uri="{FF2B5EF4-FFF2-40B4-BE49-F238E27FC236}">
                <a16:creationId xmlns:a16="http://schemas.microsoft.com/office/drawing/2014/main" id="{1F7C0F6F-D082-C8AA-DE11-4286EF42AADB}"/>
              </a:ext>
            </a:extLst>
          </p:cNvPr>
          <p:cNvSpPr txBox="1"/>
          <p:nvPr/>
        </p:nvSpPr>
        <p:spPr>
          <a:xfrm>
            <a:off x="4215551" y="307007"/>
            <a:ext cx="696113" cy="111954"/>
          </a:xfrm>
          <a:prstGeom prst="rect">
            <a:avLst/>
          </a:prstGeom>
          <a:noFill/>
        </p:spPr>
        <p:txBody>
          <a:bodyPr wrap="square" lIns="0" tIns="0" rIns="0" bIns="0" anchor="ctr">
            <a:spAutoFit/>
          </a:bodyPr>
          <a:lstStyle/>
          <a:p>
            <a:pPr algn="ctr">
              <a:lnSpc>
                <a:spcPct val="105000"/>
              </a:lnSpc>
            </a:pPr>
            <a:r>
              <a:rPr sz="744" dirty="0">
                <a:solidFill>
                  <a:srgbClr val="263442"/>
                </a:solidFill>
                <a:latin typeface="Arial"/>
              </a:rPr>
              <a:t>Blobs</a:t>
            </a:r>
          </a:p>
        </p:txBody>
      </p:sp>
      <p:sp>
        <p:nvSpPr>
          <p:cNvPr id="301" name="TextBox 12160">
            <a:extLst>
              <a:ext uri="{FF2B5EF4-FFF2-40B4-BE49-F238E27FC236}">
                <a16:creationId xmlns:a16="http://schemas.microsoft.com/office/drawing/2014/main" id="{EBF2AA16-9B52-B84F-43EE-03BA82B2D4CA}"/>
              </a:ext>
            </a:extLst>
          </p:cNvPr>
          <p:cNvSpPr txBox="1"/>
          <p:nvPr/>
        </p:nvSpPr>
        <p:spPr>
          <a:xfrm>
            <a:off x="677751" y="2090304"/>
            <a:ext cx="1186556" cy="107978"/>
          </a:xfrm>
          <a:prstGeom prst="rect">
            <a:avLst/>
          </a:prstGeom>
          <a:noFill/>
        </p:spPr>
        <p:txBody>
          <a:bodyPr wrap="square" lIns="0" tIns="0" rIns="0" bIns="0" anchor="ctr">
            <a:spAutoFit/>
          </a:bodyPr>
          <a:lstStyle/>
          <a:p>
            <a:pPr algn="l">
              <a:lnSpc>
                <a:spcPct val="105000"/>
              </a:lnSpc>
            </a:pPr>
            <a:r>
              <a:rPr sz="718" dirty="0">
                <a:solidFill>
                  <a:srgbClr val="263442"/>
                </a:solidFill>
                <a:latin typeface="Arial"/>
              </a:rPr>
              <a:t>Candidate encoder</a:t>
            </a:r>
          </a:p>
        </p:txBody>
      </p:sp>
      <p:sp>
        <p:nvSpPr>
          <p:cNvPr id="302" name="TextBox 12161">
            <a:extLst>
              <a:ext uri="{FF2B5EF4-FFF2-40B4-BE49-F238E27FC236}">
                <a16:creationId xmlns:a16="http://schemas.microsoft.com/office/drawing/2014/main" id="{1FD101AA-9130-CD96-6414-B193E6D36851}"/>
              </a:ext>
            </a:extLst>
          </p:cNvPr>
          <p:cNvSpPr txBox="1"/>
          <p:nvPr/>
        </p:nvSpPr>
        <p:spPr>
          <a:xfrm>
            <a:off x="2706672" y="2090304"/>
            <a:ext cx="1186556" cy="107978"/>
          </a:xfrm>
          <a:prstGeom prst="rect">
            <a:avLst/>
          </a:prstGeom>
          <a:noFill/>
        </p:spPr>
        <p:txBody>
          <a:bodyPr wrap="square" lIns="0" tIns="0" rIns="0" bIns="0" anchor="ctr">
            <a:spAutoFit/>
          </a:bodyPr>
          <a:lstStyle/>
          <a:p>
            <a:pPr algn="l">
              <a:lnSpc>
                <a:spcPct val="105000"/>
              </a:lnSpc>
            </a:pPr>
            <a:r>
              <a:rPr sz="718" dirty="0">
                <a:solidFill>
                  <a:srgbClr val="263442"/>
                </a:solidFill>
                <a:latin typeface="Arial"/>
              </a:rPr>
              <a:t>Identity encoder</a:t>
            </a:r>
          </a:p>
        </p:txBody>
      </p:sp>
      <p:sp>
        <p:nvSpPr>
          <p:cNvPr id="303" name="Match | Center divider">
            <a:extLst>
              <a:ext uri="{FF2B5EF4-FFF2-40B4-BE49-F238E27FC236}">
                <a16:creationId xmlns:a16="http://schemas.microsoft.com/office/drawing/2014/main" id="{5A593D05-94F5-C55B-C8C6-B8F9E86B08C6}"/>
              </a:ext>
            </a:extLst>
          </p:cNvPr>
          <p:cNvSpPr/>
          <p:nvPr/>
        </p:nvSpPr>
        <p:spPr>
          <a:xfrm>
            <a:off x="2617408" y="2119981"/>
            <a:ext cx="1" cy="1945952"/>
          </a:xfrm>
          <a:custGeom>
            <a:avLst/>
            <a:gdLst/>
            <a:ahLst/>
            <a:cxnLst/>
            <a:rect l="0" t="0" r="w" b="h"/>
            <a:pathLst>
              <a:path w="1" h="2249424">
                <a:moveTo>
                  <a:pt x="0" y="0"/>
                </a:moveTo>
                <a:lnTo>
                  <a:pt x="0" y="2249424"/>
                </a:lnTo>
              </a:path>
            </a:pathLst>
          </a:custGeom>
          <a:noFill/>
          <a:ln w="9525" cap="rnd" cmpd="sng" algn="ctr">
            <a:solidFill>
              <a:srgbClr val="D0E2DA"/>
            </a:solidFill>
            <a:prstDash val="solid"/>
            <a:round/>
            <a:headEnd type="none" w="med" len="med"/>
            <a:tailEnd type="none" w="med" len="med"/>
          </a:ln>
        </p:spPr>
      </p:sp>
      <p:sp>
        <p:nvSpPr>
          <p:cNvPr id="304" name="TextBox 12164">
            <a:extLst>
              <a:ext uri="{FF2B5EF4-FFF2-40B4-BE49-F238E27FC236}">
                <a16:creationId xmlns:a16="http://schemas.microsoft.com/office/drawing/2014/main" id="{DA6D9C81-D325-B373-1580-DEE13789E3EE}"/>
              </a:ext>
            </a:extLst>
          </p:cNvPr>
          <p:cNvSpPr txBox="1"/>
          <p:nvPr/>
        </p:nvSpPr>
        <p:spPr>
          <a:xfrm>
            <a:off x="669841" y="2270869"/>
            <a:ext cx="442981" cy="93744"/>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Receptor</a:t>
            </a:r>
          </a:p>
        </p:txBody>
      </p:sp>
      <p:sp>
        <p:nvSpPr>
          <p:cNvPr id="305" name="TextBox 12166">
            <a:extLst>
              <a:ext uri="{FF2B5EF4-FFF2-40B4-BE49-F238E27FC236}">
                <a16:creationId xmlns:a16="http://schemas.microsoft.com/office/drawing/2014/main" id="{6E830D7E-FC74-3019-18B2-DDE04B6E60D0}"/>
              </a:ext>
            </a:extLst>
          </p:cNvPr>
          <p:cNvSpPr txBox="1"/>
          <p:nvPr/>
        </p:nvSpPr>
        <p:spPr>
          <a:xfrm>
            <a:off x="1152374" y="2270869"/>
            <a:ext cx="442981" cy="93744"/>
          </a:xfrm>
          <a:prstGeom prst="rect">
            <a:avLst/>
          </a:prstGeom>
          <a:noFill/>
        </p:spPr>
        <p:txBody>
          <a:bodyPr wrap="square" lIns="0" tIns="0" rIns="0" bIns="0" anchor="ctr">
            <a:spAutoFit/>
          </a:bodyPr>
          <a:lstStyle/>
          <a:p>
            <a:pPr algn="ctr">
              <a:lnSpc>
                <a:spcPct val="105000"/>
              </a:lnSpc>
            </a:pPr>
            <a:r>
              <a:rPr sz="623" dirty="0">
                <a:solidFill>
                  <a:srgbClr val="263442"/>
                </a:solidFill>
                <a:latin typeface="Arial"/>
              </a:rPr>
              <a:t>Density</a:t>
            </a:r>
          </a:p>
        </p:txBody>
      </p:sp>
      <p:pic>
        <p:nvPicPr>
          <p:cNvPr id="306" name="Match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7A47CBDC-2732-4D0F-C4FF-972DA2F1AA3E}"/>
              </a:ext>
            </a:extLst>
          </p:cNvPr>
          <p:cNvPicPr/>
          <p:nvPr/>
        </p:nvPicPr>
        <p:blipFill>
          <a:blip r:embed="rId4"/>
          <a:stretch>
            <a:fillRect/>
          </a:stretch>
        </p:blipFill>
        <p:spPr>
          <a:xfrm>
            <a:off x="1199858" y="2380847"/>
            <a:ext cx="347980" cy="332276"/>
          </a:xfrm>
          <a:prstGeom prst="rect">
            <a:avLst/>
          </a:prstGeom>
        </p:spPr>
      </p:pic>
      <p:sp>
        <p:nvSpPr>
          <p:cNvPr id="526" name="TextBox 12168">
            <a:extLst>
              <a:ext uri="{FF2B5EF4-FFF2-40B4-BE49-F238E27FC236}">
                <a16:creationId xmlns:a16="http://schemas.microsoft.com/office/drawing/2014/main" id="{50BD09F1-2D4A-FA0A-7AF2-981DD7585F3A}"/>
              </a:ext>
            </a:extLst>
          </p:cNvPr>
          <p:cNvSpPr txBox="1"/>
          <p:nvPr/>
        </p:nvSpPr>
        <p:spPr>
          <a:xfrm>
            <a:off x="709890" y="2851277"/>
            <a:ext cx="340209" cy="97203"/>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Pocket</a:t>
            </a:r>
          </a:p>
        </p:txBody>
      </p:sp>
      <p:sp>
        <p:nvSpPr>
          <p:cNvPr id="613" name="TextBox 12177">
            <a:extLst>
              <a:ext uri="{FF2B5EF4-FFF2-40B4-BE49-F238E27FC236}">
                <a16:creationId xmlns:a16="http://schemas.microsoft.com/office/drawing/2014/main" id="{086F717F-C0B1-CD04-AFB8-166092CD717F}"/>
              </a:ext>
            </a:extLst>
          </p:cNvPr>
          <p:cNvSpPr txBox="1"/>
          <p:nvPr/>
        </p:nvSpPr>
        <p:spPr>
          <a:xfrm>
            <a:off x="1159452" y="2851277"/>
            <a:ext cx="340209" cy="97203"/>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Blob</a:t>
            </a:r>
          </a:p>
        </p:txBody>
      </p:sp>
      <p:grpSp>
        <p:nvGrpSpPr>
          <p:cNvPr id="614" name="Match | Blob contour">
            <a:extLst>
              <a:ext uri="{FF2B5EF4-FFF2-40B4-BE49-F238E27FC236}">
                <a16:creationId xmlns:a16="http://schemas.microsoft.com/office/drawing/2014/main" id="{ECF83E2A-3199-B09F-F90E-31DC9848C382}"/>
              </a:ext>
            </a:extLst>
          </p:cNvPr>
          <p:cNvGrpSpPr/>
          <p:nvPr/>
        </p:nvGrpSpPr>
        <p:grpSpPr>
          <a:xfrm>
            <a:off x="1183161" y="3036990"/>
            <a:ext cx="291608" cy="199265"/>
            <a:chOff x="1928706" y="3559489"/>
            <a:chExt cx="227897" cy="155682"/>
          </a:xfrm>
        </p:grpSpPr>
        <p:sp>
          <p:nvSpPr>
            <p:cNvPr id="615" name="Candidate blob | editable contour">
              <a:extLst>
                <a:ext uri="{FF2B5EF4-FFF2-40B4-BE49-F238E27FC236}">
                  <a16:creationId xmlns:a16="http://schemas.microsoft.com/office/drawing/2014/main" id="{513F782E-E1DE-1B64-68A9-FB54BE71715F}"/>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16" name="ellipse_2612">
              <a:extLst>
                <a:ext uri="{FF2B5EF4-FFF2-40B4-BE49-F238E27FC236}">
                  <a16:creationId xmlns:a16="http://schemas.microsoft.com/office/drawing/2014/main" id="{12A4650A-7359-9456-1843-A3C9E08B2497}"/>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18" name="TextBox 12186">
            <a:extLst>
              <a:ext uri="{FF2B5EF4-FFF2-40B4-BE49-F238E27FC236}">
                <a16:creationId xmlns:a16="http://schemas.microsoft.com/office/drawing/2014/main" id="{88505915-A113-7FAA-6C15-3F2B10F6D7CB}"/>
              </a:ext>
            </a:extLst>
          </p:cNvPr>
          <p:cNvSpPr txBox="1"/>
          <p:nvPr/>
        </p:nvSpPr>
        <p:spPr>
          <a:xfrm>
            <a:off x="1701262" y="2259965"/>
            <a:ext cx="286938" cy="92333"/>
          </a:xfrm>
          <a:prstGeom prst="rect">
            <a:avLst/>
          </a:prstGeom>
          <a:noFill/>
        </p:spPr>
        <p:txBody>
          <a:bodyPr wrap="none" lIns="0" tIns="0" rIns="0" bIns="0" anchor="ctr">
            <a:spAutoFit/>
          </a:bodyPr>
          <a:lstStyle/>
          <a:p>
            <a:pPr algn="ctr">
              <a:lnSpc>
                <a:spcPct val="105000"/>
              </a:lnSpc>
            </a:pPr>
            <a:r>
              <a:rPr sz="614">
                <a:solidFill>
                  <a:srgbClr val="263442"/>
                </a:solidFill>
                <a:latin typeface="Arial"/>
              </a:rPr>
              <a:t>48³ crop</a:t>
            </a:r>
          </a:p>
        </p:txBody>
      </p:sp>
      <p:grpSp>
        <p:nvGrpSpPr>
          <p:cNvPr id="619" name="48^3 crop 3D cube">
            <a:extLst>
              <a:ext uri="{FF2B5EF4-FFF2-40B4-BE49-F238E27FC236}">
                <a16:creationId xmlns:a16="http://schemas.microsoft.com/office/drawing/2014/main" id="{50441A72-5112-E010-1BBD-72FFF87A8B6E}"/>
              </a:ext>
            </a:extLst>
          </p:cNvPr>
          <p:cNvGrpSpPr/>
          <p:nvPr/>
        </p:nvGrpSpPr>
        <p:grpSpPr>
          <a:xfrm>
            <a:off x="1718368" y="2353114"/>
            <a:ext cx="251107" cy="197645"/>
            <a:chOff x="4043880" y="489960"/>
            <a:chExt cx="571680" cy="450000"/>
          </a:xfrm>
        </p:grpSpPr>
        <p:sp>
          <p:nvSpPr>
            <p:cNvPr id="620" name="asset_2027_0">
              <a:extLst>
                <a:ext uri="{FF2B5EF4-FFF2-40B4-BE49-F238E27FC236}">
                  <a16:creationId xmlns:a16="http://schemas.microsoft.com/office/drawing/2014/main" id="{2C26482F-D7D7-E3F6-FBCD-22AC82315E62}"/>
                </a:ext>
              </a:extLst>
            </p:cNvPr>
            <p:cNvSpPr>
              <a:spLocks noGrp="1"/>
            </p:cNvSpPr>
            <p:nvPr/>
          </p:nvSpPr>
          <p:spPr>
            <a:xfrm>
              <a:off x="4043880" y="489960"/>
              <a:ext cx="571680" cy="76500"/>
            </a:xfrm>
            <a:custGeom>
              <a:avLst/>
              <a:gdLst/>
              <a:ahLst/>
              <a:cxnLst/>
              <a:rect l="0" t="0" r="0" b="0"/>
              <a:pathLst>
                <a:path w="571680" h="76500">
                  <a:moveTo>
                    <a:pt x="0" y="76500"/>
                  </a:moveTo>
                  <a:lnTo>
                    <a:pt x="108619" y="0"/>
                  </a:lnTo>
                  <a:lnTo>
                    <a:pt x="571680" y="0"/>
                  </a:lnTo>
                  <a:lnTo>
                    <a:pt x="463061" y="76500"/>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621" name="asset_2027_1">
              <a:extLst>
                <a:ext uri="{FF2B5EF4-FFF2-40B4-BE49-F238E27FC236}">
                  <a16:creationId xmlns:a16="http://schemas.microsoft.com/office/drawing/2014/main" id="{F28AFBA7-0A71-99DE-9FF9-EBD0ADC1144C}"/>
                </a:ext>
              </a:extLst>
            </p:cNvPr>
            <p:cNvSpPr>
              <a:spLocks noGrp="1"/>
            </p:cNvSpPr>
            <p:nvPr/>
          </p:nvSpPr>
          <p:spPr>
            <a:xfrm>
              <a:off x="4506941" y="489960"/>
              <a:ext cx="108619" cy="450000"/>
            </a:xfrm>
            <a:custGeom>
              <a:avLst/>
              <a:gdLst/>
              <a:ahLst/>
              <a:cxnLst/>
              <a:rect l="0" t="0" r="0" b="0"/>
              <a:pathLst>
                <a:path w="108619" h="450000">
                  <a:moveTo>
                    <a:pt x="0" y="76500"/>
                  </a:moveTo>
                  <a:lnTo>
                    <a:pt x="108619" y="0"/>
                  </a:lnTo>
                  <a:lnTo>
                    <a:pt x="108619" y="373500"/>
                  </a:lnTo>
                  <a:lnTo>
                    <a:pt x="0" y="450000"/>
                  </a:lnTo>
                  <a:close/>
                </a:path>
              </a:pathLst>
            </a:custGeom>
            <a:solidFill>
              <a:srgbClr val="C9DFF3">
                <a:alpha val="22000"/>
              </a:srgbClr>
            </a:solidFill>
            <a:ln w="2700">
              <a:solidFill>
                <a:srgbClr val="A3C3E2"/>
              </a:solidFill>
            </a:ln>
          </p:spPr>
        </p:sp>
        <p:sp>
          <p:nvSpPr>
            <p:cNvPr id="622" name="asset_2027_2">
              <a:extLst>
                <a:ext uri="{FF2B5EF4-FFF2-40B4-BE49-F238E27FC236}">
                  <a16:creationId xmlns:a16="http://schemas.microsoft.com/office/drawing/2014/main" id="{97E064B3-0050-239C-C963-C5E4E31B84D2}"/>
                </a:ext>
              </a:extLst>
            </p:cNvPr>
            <p:cNvSpPr>
              <a:spLocks noGrp="1"/>
            </p:cNvSpPr>
            <p:nvPr/>
          </p:nvSpPr>
          <p:spPr>
            <a:xfrm>
              <a:off x="4043880" y="566460"/>
              <a:ext cx="463061" cy="373500"/>
            </a:xfrm>
            <a:prstGeom prst="rect">
              <a:avLst/>
            </a:prstGeom>
            <a:solidFill>
              <a:srgbClr val="E7F1FC">
                <a:alpha val="20000"/>
              </a:srgbClr>
            </a:solidFill>
            <a:ln w="2700">
              <a:solidFill>
                <a:srgbClr val="ABC9E7"/>
              </a:solidFill>
            </a:ln>
          </p:spPr>
        </p:sp>
        <p:sp>
          <p:nvSpPr>
            <p:cNvPr id="623" name="asset_2027_3">
              <a:extLst>
                <a:ext uri="{FF2B5EF4-FFF2-40B4-BE49-F238E27FC236}">
                  <a16:creationId xmlns:a16="http://schemas.microsoft.com/office/drawing/2014/main" id="{A2C54284-938E-B40D-7CE6-20A987BE1447}"/>
                </a:ext>
              </a:extLst>
            </p:cNvPr>
            <p:cNvSpPr>
              <a:spLocks noGrp="1"/>
            </p:cNvSpPr>
            <p:nvPr/>
          </p:nvSpPr>
          <p:spPr>
            <a:xfrm>
              <a:off x="4159645" y="566460"/>
              <a:ext cx="4" cy="373500"/>
            </a:xfrm>
            <a:prstGeom prst="line">
              <a:avLst/>
            </a:prstGeom>
            <a:noFill/>
            <a:ln w="1980">
              <a:solidFill>
                <a:srgbClr val="B8D2EB">
                  <a:alpha val="33000"/>
                </a:srgbClr>
              </a:solidFill>
            </a:ln>
          </p:spPr>
        </p:sp>
        <p:sp>
          <p:nvSpPr>
            <p:cNvPr id="624" name="asset_2027_4">
              <a:extLst>
                <a:ext uri="{FF2B5EF4-FFF2-40B4-BE49-F238E27FC236}">
                  <a16:creationId xmlns:a16="http://schemas.microsoft.com/office/drawing/2014/main" id="{0F8960CE-A059-8D07-91FB-C97F3078BCD9}"/>
                </a:ext>
              </a:extLst>
            </p:cNvPr>
            <p:cNvSpPr>
              <a:spLocks noGrp="1"/>
            </p:cNvSpPr>
            <p:nvPr/>
          </p:nvSpPr>
          <p:spPr>
            <a:xfrm>
              <a:off x="4043880" y="659835"/>
              <a:ext cx="463061" cy="4"/>
            </a:xfrm>
            <a:prstGeom prst="line">
              <a:avLst/>
            </a:prstGeom>
            <a:noFill/>
            <a:ln w="1980">
              <a:solidFill>
                <a:srgbClr val="B8D2EB">
                  <a:alpha val="33000"/>
                </a:srgbClr>
              </a:solidFill>
            </a:ln>
          </p:spPr>
        </p:sp>
        <p:sp>
          <p:nvSpPr>
            <p:cNvPr id="625" name="asset_2027_5">
              <a:extLst>
                <a:ext uri="{FF2B5EF4-FFF2-40B4-BE49-F238E27FC236}">
                  <a16:creationId xmlns:a16="http://schemas.microsoft.com/office/drawing/2014/main" id="{A5646F3B-E3B0-7C1C-2E27-F9E967647A65}"/>
                </a:ext>
              </a:extLst>
            </p:cNvPr>
            <p:cNvSpPr>
              <a:spLocks noGrp="1"/>
            </p:cNvSpPr>
            <p:nvPr/>
          </p:nvSpPr>
          <p:spPr>
            <a:xfrm>
              <a:off x="4275410" y="566460"/>
              <a:ext cx="4" cy="373500"/>
            </a:xfrm>
            <a:prstGeom prst="line">
              <a:avLst/>
            </a:prstGeom>
            <a:noFill/>
            <a:ln w="1980">
              <a:solidFill>
                <a:srgbClr val="B8D2EB">
                  <a:alpha val="33000"/>
                </a:srgbClr>
              </a:solidFill>
            </a:ln>
          </p:spPr>
        </p:sp>
        <p:sp>
          <p:nvSpPr>
            <p:cNvPr id="626" name="asset_2027_6">
              <a:extLst>
                <a:ext uri="{FF2B5EF4-FFF2-40B4-BE49-F238E27FC236}">
                  <a16:creationId xmlns:a16="http://schemas.microsoft.com/office/drawing/2014/main" id="{49CF1756-587C-D73A-CFD0-CE93821E4BC5}"/>
                </a:ext>
              </a:extLst>
            </p:cNvPr>
            <p:cNvSpPr>
              <a:spLocks noGrp="1"/>
            </p:cNvSpPr>
            <p:nvPr/>
          </p:nvSpPr>
          <p:spPr>
            <a:xfrm>
              <a:off x="4043880" y="753210"/>
              <a:ext cx="463061" cy="4"/>
            </a:xfrm>
            <a:prstGeom prst="line">
              <a:avLst/>
            </a:prstGeom>
            <a:noFill/>
            <a:ln w="1980">
              <a:solidFill>
                <a:srgbClr val="B8D2EB">
                  <a:alpha val="33000"/>
                </a:srgbClr>
              </a:solidFill>
            </a:ln>
          </p:spPr>
        </p:sp>
        <p:sp>
          <p:nvSpPr>
            <p:cNvPr id="627" name="asset_2027_7">
              <a:extLst>
                <a:ext uri="{FF2B5EF4-FFF2-40B4-BE49-F238E27FC236}">
                  <a16:creationId xmlns:a16="http://schemas.microsoft.com/office/drawing/2014/main" id="{617A40D8-F985-CF5E-C184-9CEE010688B0}"/>
                </a:ext>
              </a:extLst>
            </p:cNvPr>
            <p:cNvSpPr>
              <a:spLocks noGrp="1"/>
            </p:cNvSpPr>
            <p:nvPr/>
          </p:nvSpPr>
          <p:spPr>
            <a:xfrm>
              <a:off x="4391176" y="566460"/>
              <a:ext cx="4" cy="373500"/>
            </a:xfrm>
            <a:prstGeom prst="line">
              <a:avLst/>
            </a:prstGeom>
            <a:noFill/>
            <a:ln w="1980">
              <a:solidFill>
                <a:srgbClr val="B8D2EB">
                  <a:alpha val="33000"/>
                </a:srgbClr>
              </a:solidFill>
            </a:ln>
          </p:spPr>
        </p:sp>
        <p:sp>
          <p:nvSpPr>
            <p:cNvPr id="628" name="asset_2027_8">
              <a:extLst>
                <a:ext uri="{FF2B5EF4-FFF2-40B4-BE49-F238E27FC236}">
                  <a16:creationId xmlns:a16="http://schemas.microsoft.com/office/drawing/2014/main" id="{D74C2F96-9830-4E45-47CF-280DBDF3BBA6}"/>
                </a:ext>
              </a:extLst>
            </p:cNvPr>
            <p:cNvSpPr>
              <a:spLocks noGrp="1"/>
            </p:cNvSpPr>
            <p:nvPr/>
          </p:nvSpPr>
          <p:spPr>
            <a:xfrm>
              <a:off x="4043880" y="846585"/>
              <a:ext cx="463061" cy="4"/>
            </a:xfrm>
            <a:prstGeom prst="line">
              <a:avLst/>
            </a:prstGeom>
            <a:noFill/>
            <a:ln w="1980">
              <a:solidFill>
                <a:srgbClr val="B8D2EB">
                  <a:alpha val="33000"/>
                </a:srgbClr>
              </a:solidFill>
            </a:ln>
          </p:spPr>
        </p:sp>
        <p:sp>
          <p:nvSpPr>
            <p:cNvPr id="629" name="asset_2027_53">
              <a:extLst>
                <a:ext uri="{FF2B5EF4-FFF2-40B4-BE49-F238E27FC236}">
                  <a16:creationId xmlns:a16="http://schemas.microsoft.com/office/drawing/2014/main" id="{B57D82E4-2BD4-33AA-2164-941D5F47EC2E}"/>
                </a:ext>
              </a:extLst>
            </p:cNvPr>
            <p:cNvSpPr>
              <a:spLocks noGrp="1"/>
            </p:cNvSpPr>
            <p:nvPr/>
          </p:nvSpPr>
          <p:spPr>
            <a:xfrm>
              <a:off x="4043880" y="566460"/>
              <a:ext cx="463061" cy="373500"/>
            </a:xfrm>
            <a:custGeom>
              <a:avLst/>
              <a:gdLst/>
              <a:ahLst/>
              <a:cxnLst/>
              <a:rect l="0" t="0" r="0" b="0"/>
              <a:pathLst>
                <a:path w="463061" h="373500">
                  <a:moveTo>
                    <a:pt x="0" y="0"/>
                  </a:moveTo>
                  <a:lnTo>
                    <a:pt x="463061" y="0"/>
                  </a:lnTo>
                  <a:lnTo>
                    <a:pt x="463061" y="373500"/>
                  </a:lnTo>
                  <a:lnTo>
                    <a:pt x="0" y="373500"/>
                  </a:lnTo>
                  <a:close/>
                </a:path>
              </a:pathLst>
            </a:custGeom>
            <a:noFill/>
            <a:ln w="3600">
              <a:solidFill>
                <a:srgbClr val="8AB3D9"/>
              </a:solidFill>
            </a:ln>
          </p:spPr>
        </p:sp>
      </p:grpSp>
      <p:grpSp>
        <p:nvGrpSpPr>
          <p:cNvPr id="630" name="48^3 crop centered blob">
            <a:extLst>
              <a:ext uri="{FF2B5EF4-FFF2-40B4-BE49-F238E27FC236}">
                <a16:creationId xmlns:a16="http://schemas.microsoft.com/office/drawing/2014/main" id="{05F07842-8C1D-D758-5B6A-3324A46B243F}"/>
              </a:ext>
            </a:extLst>
          </p:cNvPr>
          <p:cNvGrpSpPr/>
          <p:nvPr/>
        </p:nvGrpSpPr>
        <p:grpSpPr>
          <a:xfrm>
            <a:off x="1781144" y="2424395"/>
            <a:ext cx="110568" cy="75332"/>
            <a:chOff x="1928706" y="3559489"/>
            <a:chExt cx="227897" cy="155682"/>
          </a:xfrm>
        </p:grpSpPr>
        <p:sp>
          <p:nvSpPr>
            <p:cNvPr id="631" name="Candidate blob | editable contour">
              <a:extLst>
                <a:ext uri="{FF2B5EF4-FFF2-40B4-BE49-F238E27FC236}">
                  <a16:creationId xmlns:a16="http://schemas.microsoft.com/office/drawing/2014/main" id="{9098312C-2F0E-B28B-B660-F9C51272B948}"/>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32" name="ellipse_2612">
              <a:extLst>
                <a:ext uri="{FF2B5EF4-FFF2-40B4-BE49-F238E27FC236}">
                  <a16:creationId xmlns:a16="http://schemas.microsoft.com/office/drawing/2014/main" id="{ACF53CE3-1C37-025F-02A8-70EEA8DCFD7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33" name="Blob centroid marker">
            <a:extLst>
              <a:ext uri="{FF2B5EF4-FFF2-40B4-BE49-F238E27FC236}">
                <a16:creationId xmlns:a16="http://schemas.microsoft.com/office/drawing/2014/main" id="{EDD959CF-D4D3-5624-F7B2-BF9345634585}"/>
              </a:ext>
            </a:extLst>
          </p:cNvPr>
          <p:cNvSpPr/>
          <p:nvPr/>
        </p:nvSpPr>
        <p:spPr>
          <a:xfrm>
            <a:off x="1824075" y="2450316"/>
            <a:ext cx="24301" cy="24301"/>
          </a:xfrm>
          <a:prstGeom prst="ellipse">
            <a:avLst/>
          </a:prstGeom>
          <a:solidFill>
            <a:srgbClr val="1D4ED8"/>
          </a:solidFill>
          <a:ln w="762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4" name="TextBox 12188">
            <a:extLst>
              <a:ext uri="{FF2B5EF4-FFF2-40B4-BE49-F238E27FC236}">
                <a16:creationId xmlns:a16="http://schemas.microsoft.com/office/drawing/2014/main" id="{2C0C5B7E-EB59-C12C-034A-66725ABF262F}"/>
              </a:ext>
            </a:extLst>
          </p:cNvPr>
          <p:cNvSpPr txBox="1"/>
          <p:nvPr/>
        </p:nvSpPr>
        <p:spPr>
          <a:xfrm>
            <a:off x="1659904" y="2614551"/>
            <a:ext cx="328616" cy="92333"/>
          </a:xfrm>
          <a:prstGeom prst="rect">
            <a:avLst/>
          </a:prstGeom>
          <a:noFill/>
        </p:spPr>
        <p:txBody>
          <a:bodyPr wrap="none" lIns="0" tIns="0" rIns="0" bIns="0" anchor="ctr">
            <a:spAutoFit/>
          </a:bodyPr>
          <a:lstStyle/>
          <a:p>
            <a:pPr algn="ctr">
              <a:lnSpc>
                <a:spcPct val="105000"/>
              </a:lnSpc>
            </a:pPr>
            <a:r>
              <a:rPr sz="614" dirty="0">
                <a:solidFill>
                  <a:srgbClr val="263442"/>
                </a:solidFill>
                <a:latin typeface="Arial"/>
              </a:rPr>
              <a:t>3D U-Net</a:t>
            </a:r>
          </a:p>
        </p:txBody>
      </p:sp>
      <p:sp>
        <p:nvSpPr>
          <p:cNvPr id="635" name="TextBox 12189">
            <a:extLst>
              <a:ext uri="{FF2B5EF4-FFF2-40B4-BE49-F238E27FC236}">
                <a16:creationId xmlns:a16="http://schemas.microsoft.com/office/drawing/2014/main" id="{8153BF98-6A0C-0786-710E-3D0EE8987AAA}"/>
              </a:ext>
            </a:extLst>
          </p:cNvPr>
          <p:cNvSpPr txBox="1"/>
          <p:nvPr/>
        </p:nvSpPr>
        <p:spPr>
          <a:xfrm>
            <a:off x="2077123" y="2623546"/>
            <a:ext cx="514564" cy="90218"/>
          </a:xfrm>
          <a:prstGeom prst="rect">
            <a:avLst/>
          </a:prstGeom>
          <a:noFill/>
        </p:spPr>
        <p:txBody>
          <a:bodyPr wrap="none" lIns="0" tIns="0" rIns="0" bIns="0" anchor="ctr">
            <a:spAutoFit/>
          </a:bodyPr>
          <a:lstStyle/>
          <a:p>
            <a:pPr algn="ctr">
              <a:lnSpc>
                <a:spcPct val="105000"/>
              </a:lnSpc>
            </a:pPr>
            <a:r>
              <a:rPr lang="en-US" sz="600" dirty="0">
                <a:solidFill>
                  <a:srgbClr val="263442"/>
                </a:solidFill>
                <a:latin typeface="Arial"/>
              </a:rPr>
              <a:t>B</a:t>
            </a:r>
            <a:r>
              <a:rPr lang="en-US" altLang="zh-CN" sz="600" dirty="0">
                <a:solidFill>
                  <a:srgbClr val="263442"/>
                </a:solidFill>
                <a:latin typeface="Arial"/>
              </a:rPr>
              <a:t>ase s</a:t>
            </a:r>
            <a:r>
              <a:rPr sz="600" dirty="0">
                <a:solidFill>
                  <a:srgbClr val="263442"/>
                </a:solidFill>
                <a:latin typeface="Arial"/>
              </a:rPr>
              <a:t>ummary</a:t>
            </a:r>
          </a:p>
        </p:txBody>
      </p:sp>
      <p:sp>
        <p:nvSpPr>
          <p:cNvPr id="636" name="Math | h_j^vox">
            <a:extLst>
              <a:ext uri="{FF2B5EF4-FFF2-40B4-BE49-F238E27FC236}">
                <a16:creationId xmlns:a16="http://schemas.microsoft.com/office/drawing/2014/main" id="{93EC2205-1821-C3E9-E08B-23B27F07452E}"/>
              </a:ext>
            </a:extLst>
          </p:cNvPr>
          <p:cNvSpPr txBox="1"/>
          <p:nvPr/>
        </p:nvSpPr>
        <p:spPr>
          <a:xfrm>
            <a:off x="2252881" y="2371206"/>
            <a:ext cx="169918" cy="126509"/>
          </a:xfrm>
          <a:prstGeom prst="rect">
            <a:avLst/>
          </a:prstGeom>
          <a:noFill/>
        </p:spPr>
        <p:txBody>
          <a:bodyPr wrap="none" lIns="0" tIns="0" rIns="0" bIns="0" anchor="ctr">
            <a:spAutoFit/>
          </a:bodyPr>
          <a:lstStyle/>
          <a:p>
            <a:pPr algn="ctr"/>
            <a:r>
              <a:rPr sz="855" i="1">
                <a:solidFill>
                  <a:srgbClr val="263442"/>
                </a:solidFill>
                <a:latin typeface="Times New Roman"/>
              </a:rPr>
              <a:t>h</a:t>
            </a:r>
            <a:r>
              <a:rPr sz="780" i="1" baseline="-28000">
                <a:solidFill>
                  <a:srgbClr val="263442"/>
                </a:solidFill>
                <a:latin typeface="Times New Roman"/>
              </a:rPr>
              <a:t>j</a:t>
            </a:r>
            <a:r>
              <a:rPr sz="780" baseline="32000">
                <a:solidFill>
                  <a:srgbClr val="263442"/>
                </a:solidFill>
                <a:latin typeface="Arial"/>
              </a:rPr>
              <a:t>vox</a:t>
            </a:r>
          </a:p>
        </p:txBody>
      </p:sp>
      <p:sp>
        <p:nvSpPr>
          <p:cNvPr id="637" name="Base summary bar_1">
            <a:extLst>
              <a:ext uri="{FF2B5EF4-FFF2-40B4-BE49-F238E27FC236}">
                <a16:creationId xmlns:a16="http://schemas.microsoft.com/office/drawing/2014/main" id="{99E9D3C4-A8BD-9C93-615E-C771AE07C8E3}"/>
              </a:ext>
            </a:extLst>
          </p:cNvPr>
          <p:cNvSpPr/>
          <p:nvPr/>
        </p:nvSpPr>
        <p:spPr>
          <a:xfrm>
            <a:off x="2156411" y="2549118"/>
            <a:ext cx="44072" cy="59328"/>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8" name="Base summary bar_2">
            <a:extLst>
              <a:ext uri="{FF2B5EF4-FFF2-40B4-BE49-F238E27FC236}">
                <a16:creationId xmlns:a16="http://schemas.microsoft.com/office/drawing/2014/main" id="{6BC787CE-AF83-7509-7C88-9AB58DB6F66F}"/>
              </a:ext>
            </a:extLst>
          </p:cNvPr>
          <p:cNvSpPr/>
          <p:nvPr/>
        </p:nvSpPr>
        <p:spPr>
          <a:xfrm>
            <a:off x="2204438" y="2549118"/>
            <a:ext cx="44072" cy="59328"/>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9" name="Base summary bar_3">
            <a:extLst>
              <a:ext uri="{FF2B5EF4-FFF2-40B4-BE49-F238E27FC236}">
                <a16:creationId xmlns:a16="http://schemas.microsoft.com/office/drawing/2014/main" id="{269240CC-07F6-8569-D6D0-2E898FDFE671}"/>
              </a:ext>
            </a:extLst>
          </p:cNvPr>
          <p:cNvSpPr/>
          <p:nvPr/>
        </p:nvSpPr>
        <p:spPr>
          <a:xfrm>
            <a:off x="2252465" y="2549118"/>
            <a:ext cx="44072" cy="59328"/>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0" name="Base summary bar_4">
            <a:extLst>
              <a:ext uri="{FF2B5EF4-FFF2-40B4-BE49-F238E27FC236}">
                <a16:creationId xmlns:a16="http://schemas.microsoft.com/office/drawing/2014/main" id="{D027E165-A9E7-E339-F192-6FC69D94CA5E}"/>
              </a:ext>
            </a:extLst>
          </p:cNvPr>
          <p:cNvSpPr/>
          <p:nvPr/>
        </p:nvSpPr>
        <p:spPr>
          <a:xfrm>
            <a:off x="2300493" y="2549118"/>
            <a:ext cx="44072" cy="59328"/>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1" name="Base summary bar_5">
            <a:extLst>
              <a:ext uri="{FF2B5EF4-FFF2-40B4-BE49-F238E27FC236}">
                <a16:creationId xmlns:a16="http://schemas.microsoft.com/office/drawing/2014/main" id="{AF544338-D23E-CE3C-A6B8-4FA37DCAD82E}"/>
              </a:ext>
            </a:extLst>
          </p:cNvPr>
          <p:cNvSpPr/>
          <p:nvPr/>
        </p:nvSpPr>
        <p:spPr>
          <a:xfrm>
            <a:off x="2348521" y="2549118"/>
            <a:ext cx="44072" cy="59328"/>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2" name="Base summary bar_6">
            <a:extLst>
              <a:ext uri="{FF2B5EF4-FFF2-40B4-BE49-F238E27FC236}">
                <a16:creationId xmlns:a16="http://schemas.microsoft.com/office/drawing/2014/main" id="{9F80EB35-B4A7-2FA2-7A0C-B02A9915E4EB}"/>
              </a:ext>
            </a:extLst>
          </p:cNvPr>
          <p:cNvSpPr/>
          <p:nvPr/>
        </p:nvSpPr>
        <p:spPr>
          <a:xfrm>
            <a:off x="2396548" y="2549118"/>
            <a:ext cx="44072" cy="59328"/>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3" name="Base summary bar_7">
            <a:extLst>
              <a:ext uri="{FF2B5EF4-FFF2-40B4-BE49-F238E27FC236}">
                <a16:creationId xmlns:a16="http://schemas.microsoft.com/office/drawing/2014/main" id="{763E1301-00D0-44E1-3425-288C0321EC85}"/>
              </a:ext>
            </a:extLst>
          </p:cNvPr>
          <p:cNvSpPr/>
          <p:nvPr/>
        </p:nvSpPr>
        <p:spPr>
          <a:xfrm>
            <a:off x="2444575" y="2549118"/>
            <a:ext cx="44072" cy="59328"/>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4" name="Op | Mean/max pool">
            <a:extLst>
              <a:ext uri="{FF2B5EF4-FFF2-40B4-BE49-F238E27FC236}">
                <a16:creationId xmlns:a16="http://schemas.microsoft.com/office/drawing/2014/main" id="{C4850A78-C957-EF45-0669-F1FA2501E311}"/>
              </a:ext>
            </a:extLst>
          </p:cNvPr>
          <p:cNvSpPr/>
          <p:nvPr/>
        </p:nvSpPr>
        <p:spPr>
          <a:xfrm>
            <a:off x="669841" y="3452879"/>
            <a:ext cx="617009"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Mean/max pool</a:t>
            </a:r>
          </a:p>
        </p:txBody>
      </p:sp>
      <p:sp>
        <p:nvSpPr>
          <p:cNvPr id="645" name="Op | Cross-attention">
            <a:extLst>
              <a:ext uri="{FF2B5EF4-FFF2-40B4-BE49-F238E27FC236}">
                <a16:creationId xmlns:a16="http://schemas.microsoft.com/office/drawing/2014/main" id="{11FEE5AE-99F9-B083-0D93-CFC8DBD07D63}"/>
              </a:ext>
            </a:extLst>
          </p:cNvPr>
          <p:cNvSpPr/>
          <p:nvPr/>
        </p:nvSpPr>
        <p:spPr>
          <a:xfrm>
            <a:off x="1365954" y="3452879"/>
            <a:ext cx="648651"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Cross-attention</a:t>
            </a:r>
          </a:p>
        </p:txBody>
      </p:sp>
      <p:sp>
        <p:nvSpPr>
          <p:cNvPr id="646" name="TextBox 12200">
            <a:extLst>
              <a:ext uri="{FF2B5EF4-FFF2-40B4-BE49-F238E27FC236}">
                <a16:creationId xmlns:a16="http://schemas.microsoft.com/office/drawing/2014/main" id="{884D8F93-171F-A6AB-A603-7E1006874447}"/>
              </a:ext>
            </a:extLst>
          </p:cNvPr>
          <p:cNvSpPr txBox="1"/>
          <p:nvPr/>
        </p:nvSpPr>
        <p:spPr>
          <a:xfrm>
            <a:off x="1735251" y="3370950"/>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647" name="Op | FiLM">
            <a:extLst>
              <a:ext uri="{FF2B5EF4-FFF2-40B4-BE49-F238E27FC236}">
                <a16:creationId xmlns:a16="http://schemas.microsoft.com/office/drawing/2014/main" id="{59F3449A-984C-C7E7-FC02-0C47B43E0DFD}"/>
              </a:ext>
            </a:extLst>
          </p:cNvPr>
          <p:cNvSpPr/>
          <p:nvPr/>
        </p:nvSpPr>
        <p:spPr>
          <a:xfrm>
            <a:off x="2156994" y="3738251"/>
            <a:ext cx="300518" cy="150259"/>
          </a:xfrm>
          <a:prstGeom prst="roundRect">
            <a:avLst>
              <a:gd name="adj" fmla="val 25000"/>
            </a:avLst>
          </a:prstGeom>
          <a:solidFill>
            <a:srgbClr val="EDE7F5"/>
          </a:solidFill>
          <a:ln w="7290">
            <a:solidFill>
              <a:srgbClr val="B8A9D9"/>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623">
                <a:solidFill>
                  <a:srgbClr val="263442"/>
                </a:solidFill>
                <a:latin typeface="Arial"/>
              </a:rPr>
              <a:t>FiLM</a:t>
            </a:r>
          </a:p>
        </p:txBody>
      </p:sp>
      <p:sp>
        <p:nvSpPr>
          <p:cNvPr id="648" name="TextBox 12202">
            <a:extLst>
              <a:ext uri="{FF2B5EF4-FFF2-40B4-BE49-F238E27FC236}">
                <a16:creationId xmlns:a16="http://schemas.microsoft.com/office/drawing/2014/main" id="{6F9F40E0-7819-CEA2-6131-C4ABBC19B945}"/>
              </a:ext>
            </a:extLst>
          </p:cNvPr>
          <p:cNvSpPr txBox="1"/>
          <p:nvPr/>
        </p:nvSpPr>
        <p:spPr>
          <a:xfrm>
            <a:off x="2097664" y="3430400"/>
            <a:ext cx="126566" cy="84510"/>
          </a:xfrm>
          <a:prstGeom prst="rect">
            <a:avLst/>
          </a:prstGeom>
          <a:noFill/>
        </p:spPr>
        <p:txBody>
          <a:bodyPr wrap="square" lIns="0" tIns="0" rIns="0" bIns="0" anchor="ctr">
            <a:spAutoFit/>
          </a:bodyPr>
          <a:lstStyle/>
          <a:p>
            <a:pPr algn="ctr">
              <a:lnSpc>
                <a:spcPct val="105000"/>
              </a:lnSpc>
            </a:pPr>
            <a:r>
              <a:rPr sz="562">
                <a:solidFill>
                  <a:srgbClr val="263442"/>
                </a:solidFill>
                <a:latin typeface="Arial"/>
              </a:rPr>
              <a:t>Q</a:t>
            </a:r>
          </a:p>
        </p:txBody>
      </p:sp>
      <p:sp>
        <p:nvSpPr>
          <p:cNvPr id="649" name="Op | MLP">
            <a:extLst>
              <a:ext uri="{FF2B5EF4-FFF2-40B4-BE49-F238E27FC236}">
                <a16:creationId xmlns:a16="http://schemas.microsoft.com/office/drawing/2014/main" id="{554F5441-96D3-CFD3-6A6E-CA8C906F4B29}"/>
              </a:ext>
            </a:extLst>
          </p:cNvPr>
          <p:cNvSpPr/>
          <p:nvPr/>
        </p:nvSpPr>
        <p:spPr>
          <a:xfrm>
            <a:off x="1160262" y="3738251"/>
            <a:ext cx="347904" cy="150259"/>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MLP</a:t>
            </a:r>
          </a:p>
        </p:txBody>
      </p:sp>
      <p:sp>
        <p:nvSpPr>
          <p:cNvPr id="650" name="h_j bar_1">
            <a:extLst>
              <a:ext uri="{FF2B5EF4-FFF2-40B4-BE49-F238E27FC236}">
                <a16:creationId xmlns:a16="http://schemas.microsoft.com/office/drawing/2014/main" id="{99BF7016-0AEC-5CA1-43D0-0CC405933ADD}"/>
              </a:ext>
            </a:extLst>
          </p:cNvPr>
          <p:cNvSpPr/>
          <p:nvPr/>
        </p:nvSpPr>
        <p:spPr>
          <a:xfrm>
            <a:off x="2141171" y="3989994"/>
            <a:ext cx="44072" cy="56955"/>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1" name="h_j bar_2">
            <a:extLst>
              <a:ext uri="{FF2B5EF4-FFF2-40B4-BE49-F238E27FC236}">
                <a16:creationId xmlns:a16="http://schemas.microsoft.com/office/drawing/2014/main" id="{71708831-906F-DB31-D516-DA6520DB6B6E}"/>
              </a:ext>
            </a:extLst>
          </p:cNvPr>
          <p:cNvSpPr/>
          <p:nvPr/>
        </p:nvSpPr>
        <p:spPr>
          <a:xfrm>
            <a:off x="2189198" y="3989994"/>
            <a:ext cx="44072" cy="56955"/>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2" name="h_j bar_3">
            <a:extLst>
              <a:ext uri="{FF2B5EF4-FFF2-40B4-BE49-F238E27FC236}">
                <a16:creationId xmlns:a16="http://schemas.microsoft.com/office/drawing/2014/main" id="{E1CF9CE6-644D-2199-D558-FB2748AF4CA8}"/>
              </a:ext>
            </a:extLst>
          </p:cNvPr>
          <p:cNvSpPr/>
          <p:nvPr/>
        </p:nvSpPr>
        <p:spPr>
          <a:xfrm>
            <a:off x="2237225" y="3989994"/>
            <a:ext cx="44072" cy="56955"/>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3" name="h_j bar_4">
            <a:extLst>
              <a:ext uri="{FF2B5EF4-FFF2-40B4-BE49-F238E27FC236}">
                <a16:creationId xmlns:a16="http://schemas.microsoft.com/office/drawing/2014/main" id="{0B1E11C4-B6B0-8410-69CA-ECA06B016C11}"/>
              </a:ext>
            </a:extLst>
          </p:cNvPr>
          <p:cNvSpPr/>
          <p:nvPr/>
        </p:nvSpPr>
        <p:spPr>
          <a:xfrm>
            <a:off x="2285253" y="3989994"/>
            <a:ext cx="44072" cy="56955"/>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4" name="h_j bar_5">
            <a:extLst>
              <a:ext uri="{FF2B5EF4-FFF2-40B4-BE49-F238E27FC236}">
                <a16:creationId xmlns:a16="http://schemas.microsoft.com/office/drawing/2014/main" id="{2A27D763-25D4-1A48-A9AB-8AE10B5867F3}"/>
              </a:ext>
            </a:extLst>
          </p:cNvPr>
          <p:cNvSpPr/>
          <p:nvPr/>
        </p:nvSpPr>
        <p:spPr>
          <a:xfrm>
            <a:off x="2333281" y="3989994"/>
            <a:ext cx="44072" cy="56955"/>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5" name="h_j bar_6">
            <a:extLst>
              <a:ext uri="{FF2B5EF4-FFF2-40B4-BE49-F238E27FC236}">
                <a16:creationId xmlns:a16="http://schemas.microsoft.com/office/drawing/2014/main" id="{CC2DBA64-D0DF-1160-5FEF-C265BF4EAB35}"/>
              </a:ext>
            </a:extLst>
          </p:cNvPr>
          <p:cNvSpPr/>
          <p:nvPr/>
        </p:nvSpPr>
        <p:spPr>
          <a:xfrm>
            <a:off x="2381308" y="3989994"/>
            <a:ext cx="44072" cy="56955"/>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6" name="h_j bar_7">
            <a:extLst>
              <a:ext uri="{FF2B5EF4-FFF2-40B4-BE49-F238E27FC236}">
                <a16:creationId xmlns:a16="http://schemas.microsoft.com/office/drawing/2014/main" id="{3E031F7D-E2D9-9D11-0526-4D352C453584}"/>
              </a:ext>
            </a:extLst>
          </p:cNvPr>
          <p:cNvSpPr/>
          <p:nvPr/>
        </p:nvSpPr>
        <p:spPr>
          <a:xfrm>
            <a:off x="2429335" y="3989994"/>
            <a:ext cx="44072" cy="56955"/>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7" name="Math | h_j^">
            <a:extLst>
              <a:ext uri="{FF2B5EF4-FFF2-40B4-BE49-F238E27FC236}">
                <a16:creationId xmlns:a16="http://schemas.microsoft.com/office/drawing/2014/main" id="{9AC920D3-16D2-273E-04D3-53357E82FB0E}"/>
              </a:ext>
            </a:extLst>
          </p:cNvPr>
          <p:cNvSpPr txBox="1"/>
          <p:nvPr/>
        </p:nvSpPr>
        <p:spPr>
          <a:xfrm>
            <a:off x="2026801" y="3947306"/>
            <a:ext cx="70532" cy="126509"/>
          </a:xfrm>
          <a:prstGeom prst="rect">
            <a:avLst/>
          </a:prstGeom>
          <a:noFill/>
        </p:spPr>
        <p:txBody>
          <a:bodyPr wrap="none" lIns="0" tIns="0" rIns="0" bIns="0" anchor="ctr">
            <a:spAutoFit/>
          </a:bodyPr>
          <a:lstStyle/>
          <a:p>
            <a:pPr algn="ctr"/>
            <a:r>
              <a:rPr sz="855" i="1">
                <a:solidFill>
                  <a:srgbClr val="263442"/>
                </a:solidFill>
                <a:latin typeface="Times New Roman"/>
              </a:rPr>
              <a:t>h</a:t>
            </a:r>
            <a:r>
              <a:rPr sz="780" i="1" baseline="-28000">
                <a:solidFill>
                  <a:srgbClr val="263442"/>
                </a:solidFill>
                <a:latin typeface="Times New Roman"/>
              </a:rPr>
              <a:t>j</a:t>
            </a:r>
          </a:p>
        </p:txBody>
      </p:sp>
      <p:sp>
        <p:nvSpPr>
          <p:cNvPr id="658" name="Op | Foreground head">
            <a:extLst>
              <a:ext uri="{FF2B5EF4-FFF2-40B4-BE49-F238E27FC236}">
                <a16:creationId xmlns:a16="http://schemas.microsoft.com/office/drawing/2014/main" id="{772C4BD8-070D-6A2C-3C5B-CCE55BD09041}"/>
              </a:ext>
            </a:extLst>
          </p:cNvPr>
          <p:cNvSpPr/>
          <p:nvPr/>
        </p:nvSpPr>
        <p:spPr>
          <a:xfrm>
            <a:off x="756855" y="4181937"/>
            <a:ext cx="696113"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Foreground head</a:t>
            </a:r>
          </a:p>
        </p:txBody>
      </p:sp>
      <p:sp>
        <p:nvSpPr>
          <p:cNvPr id="659" name="Math | p_j^fg">
            <a:extLst>
              <a:ext uri="{FF2B5EF4-FFF2-40B4-BE49-F238E27FC236}">
                <a16:creationId xmlns:a16="http://schemas.microsoft.com/office/drawing/2014/main" id="{04752E8A-9FFA-1739-18D7-365FF5D9A529}"/>
              </a:ext>
            </a:extLst>
          </p:cNvPr>
          <p:cNvSpPr txBox="1"/>
          <p:nvPr/>
        </p:nvSpPr>
        <p:spPr>
          <a:xfrm>
            <a:off x="1758300" y="4176444"/>
            <a:ext cx="121828" cy="122341"/>
          </a:xfrm>
          <a:prstGeom prst="rect">
            <a:avLst/>
          </a:prstGeom>
          <a:noFill/>
        </p:spPr>
        <p:txBody>
          <a:bodyPr wrap="none" lIns="0" tIns="0" rIns="0" bIns="0" anchor="ctr">
            <a:spAutoFit/>
          </a:bodyPr>
          <a:lstStyle/>
          <a:p>
            <a:pPr algn="ctr"/>
            <a:r>
              <a:rPr sz="827" i="1" dirty="0" err="1">
                <a:solidFill>
                  <a:srgbClr val="263442"/>
                </a:solidFill>
                <a:latin typeface="Times New Roman"/>
              </a:rPr>
              <a:t>p</a:t>
            </a:r>
            <a:r>
              <a:rPr sz="780" i="1" baseline="-28000" dirty="0" err="1">
                <a:solidFill>
                  <a:srgbClr val="263442"/>
                </a:solidFill>
                <a:latin typeface="Times New Roman"/>
              </a:rPr>
              <a:t>j</a:t>
            </a:r>
            <a:r>
              <a:rPr sz="780" baseline="32000" dirty="0" err="1">
                <a:solidFill>
                  <a:srgbClr val="263442"/>
                </a:solidFill>
                <a:latin typeface="Arial"/>
              </a:rPr>
              <a:t>fg</a:t>
            </a:r>
            <a:endParaRPr sz="780" baseline="32000" dirty="0">
              <a:solidFill>
                <a:srgbClr val="263442"/>
              </a:solidFill>
              <a:latin typeface="Arial"/>
            </a:endParaRPr>
          </a:p>
        </p:txBody>
      </p:sp>
      <p:sp>
        <p:nvSpPr>
          <p:cNvPr id="660" name="TextBox 12215">
            <a:extLst>
              <a:ext uri="{FF2B5EF4-FFF2-40B4-BE49-F238E27FC236}">
                <a16:creationId xmlns:a16="http://schemas.microsoft.com/office/drawing/2014/main" id="{C45D4B31-EE62-7047-2BD0-7D7B985DADC4}"/>
              </a:ext>
            </a:extLst>
          </p:cNvPr>
          <p:cNvSpPr txBox="1"/>
          <p:nvPr/>
        </p:nvSpPr>
        <p:spPr>
          <a:xfrm>
            <a:off x="1489562" y="4310121"/>
            <a:ext cx="666849" cy="79445"/>
          </a:xfrm>
          <a:prstGeom prst="rect">
            <a:avLst/>
          </a:prstGeom>
          <a:noFill/>
        </p:spPr>
        <p:txBody>
          <a:bodyPr wrap="none" lIns="0" tIns="0" rIns="0" bIns="0" anchor="ctr">
            <a:spAutoFit/>
          </a:bodyPr>
          <a:lstStyle/>
          <a:p>
            <a:pPr algn="l">
              <a:lnSpc>
                <a:spcPct val="105000"/>
              </a:lnSpc>
            </a:pPr>
            <a:r>
              <a:rPr sz="528" dirty="0">
                <a:solidFill>
                  <a:srgbClr val="263442"/>
                </a:solidFill>
                <a:latin typeface="Arial"/>
              </a:rPr>
              <a:t>Foreground probability</a:t>
            </a:r>
          </a:p>
        </p:txBody>
      </p:sp>
      <p:sp>
        <p:nvSpPr>
          <p:cNvPr id="661" name="TextBox 12216">
            <a:extLst>
              <a:ext uri="{FF2B5EF4-FFF2-40B4-BE49-F238E27FC236}">
                <a16:creationId xmlns:a16="http://schemas.microsoft.com/office/drawing/2014/main" id="{978E7CF5-ACF2-460D-26F2-9B198BAAC63B}"/>
              </a:ext>
            </a:extLst>
          </p:cNvPr>
          <p:cNvSpPr txBox="1"/>
          <p:nvPr/>
        </p:nvSpPr>
        <p:spPr>
          <a:xfrm>
            <a:off x="3026355" y="2206291"/>
            <a:ext cx="1195840" cy="88422"/>
          </a:xfrm>
          <a:prstGeom prst="rect">
            <a:avLst/>
          </a:prstGeom>
          <a:noFill/>
        </p:spPr>
        <p:txBody>
          <a:bodyPr wrap="none" lIns="0" tIns="0" rIns="0" bIns="0" anchor="ctr">
            <a:spAutoFit/>
          </a:bodyPr>
          <a:lstStyle/>
          <a:p>
            <a:pPr algn="ctr">
              <a:lnSpc>
                <a:spcPct val="105000"/>
              </a:lnSpc>
            </a:pPr>
            <a:r>
              <a:rPr sz="588">
                <a:solidFill>
                  <a:srgbClr val="263442"/>
                </a:solidFill>
                <a:latin typeface="Arial"/>
              </a:rPr>
              <a:t>User-provided SMILES · same PDB</a:t>
            </a:r>
          </a:p>
        </p:txBody>
      </p:sp>
      <p:sp>
        <p:nvSpPr>
          <p:cNvPr id="662" name="Identity | SMILES list card">
            <a:extLst>
              <a:ext uri="{FF2B5EF4-FFF2-40B4-BE49-F238E27FC236}">
                <a16:creationId xmlns:a16="http://schemas.microsoft.com/office/drawing/2014/main" id="{7DA7890B-AB79-9717-CAA6-1EEE08F32188}"/>
              </a:ext>
            </a:extLst>
          </p:cNvPr>
          <p:cNvSpPr/>
          <p:nvPr/>
        </p:nvSpPr>
        <p:spPr>
          <a:xfrm>
            <a:off x="3205025" y="2309830"/>
            <a:ext cx="838500" cy="512745"/>
          </a:xfrm>
          <a:prstGeom prst="roundRect">
            <a:avLst>
              <a:gd name="adj" fmla="val 6000"/>
            </a:avLst>
          </a:prstGeom>
          <a:solidFill>
            <a:srgbClr val="FFFFFF"/>
          </a:solidFill>
          <a:ln w="7290">
            <a:solidFill>
              <a:srgbClr val="CBD6E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3" name="TextBox 12218">
            <a:extLst>
              <a:ext uri="{FF2B5EF4-FFF2-40B4-BE49-F238E27FC236}">
                <a16:creationId xmlns:a16="http://schemas.microsoft.com/office/drawing/2014/main" id="{86BB59AD-D134-C7C6-AEC0-14F6157A5F0B}"/>
              </a:ext>
            </a:extLst>
          </p:cNvPr>
          <p:cNvSpPr txBox="1"/>
          <p:nvPr/>
        </p:nvSpPr>
        <p:spPr>
          <a:xfrm>
            <a:off x="3260398" y="2338063"/>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1   CCO</a:t>
            </a:r>
          </a:p>
        </p:txBody>
      </p:sp>
      <p:sp>
        <p:nvSpPr>
          <p:cNvPr id="664" name="TextBox 12219">
            <a:extLst>
              <a:ext uri="{FF2B5EF4-FFF2-40B4-BE49-F238E27FC236}">
                <a16:creationId xmlns:a16="http://schemas.microsoft.com/office/drawing/2014/main" id="{D5CEF1E2-0003-83A9-6C8B-869DF460C92C}"/>
              </a:ext>
            </a:extLst>
          </p:cNvPr>
          <p:cNvSpPr txBox="1"/>
          <p:nvPr/>
        </p:nvSpPr>
        <p:spPr>
          <a:xfrm>
            <a:off x="3260398" y="2440897"/>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2   CC(=O)O</a:t>
            </a:r>
          </a:p>
        </p:txBody>
      </p:sp>
      <p:sp>
        <p:nvSpPr>
          <p:cNvPr id="665" name="Identity | Selected k pill">
            <a:extLst>
              <a:ext uri="{FF2B5EF4-FFF2-40B4-BE49-F238E27FC236}">
                <a16:creationId xmlns:a16="http://schemas.microsoft.com/office/drawing/2014/main" id="{484884C0-9180-67EB-D183-0D32CB2F3899}"/>
              </a:ext>
            </a:extLst>
          </p:cNvPr>
          <p:cNvSpPr/>
          <p:nvPr/>
        </p:nvSpPr>
        <p:spPr>
          <a:xfrm>
            <a:off x="3236667" y="2562853"/>
            <a:ext cx="775217" cy="118656"/>
          </a:xfrm>
          <a:prstGeom prst="roundRect">
            <a:avLst>
              <a:gd name="adj" fmla="val 18000"/>
            </a:avLst>
          </a:prstGeom>
          <a:solidFill>
            <a:srgbClr val="DCFCE7"/>
          </a:solidFill>
          <a:ln w="8890">
            <a:solidFill>
              <a:srgbClr val="3E997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6" name="TextBox 12222">
            <a:extLst>
              <a:ext uri="{FF2B5EF4-FFF2-40B4-BE49-F238E27FC236}">
                <a16:creationId xmlns:a16="http://schemas.microsoft.com/office/drawing/2014/main" id="{AF18D027-6125-FBDF-9BCD-9060B5C5E099}"/>
              </a:ext>
            </a:extLst>
          </p:cNvPr>
          <p:cNvSpPr txBox="1"/>
          <p:nvPr/>
        </p:nvSpPr>
        <p:spPr>
          <a:xfrm>
            <a:off x="3268308" y="2585570"/>
            <a:ext cx="71193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k   Cc1ccccc1</a:t>
            </a:r>
          </a:p>
        </p:txBody>
      </p:sp>
      <p:sp>
        <p:nvSpPr>
          <p:cNvPr id="667" name="TextBox 12224">
            <a:extLst>
              <a:ext uri="{FF2B5EF4-FFF2-40B4-BE49-F238E27FC236}">
                <a16:creationId xmlns:a16="http://schemas.microsoft.com/office/drawing/2014/main" id="{4F02AD2D-3369-26A3-6D2F-44659C880CB7}"/>
              </a:ext>
            </a:extLst>
          </p:cNvPr>
          <p:cNvSpPr txBox="1"/>
          <p:nvPr/>
        </p:nvSpPr>
        <p:spPr>
          <a:xfrm>
            <a:off x="3260398" y="2714369"/>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K   CC(N)=O</a:t>
            </a:r>
          </a:p>
        </p:txBody>
      </p:sp>
      <p:sp>
        <p:nvSpPr>
          <p:cNvPr id="668" name="TextBox 12225">
            <a:extLst>
              <a:ext uri="{FF2B5EF4-FFF2-40B4-BE49-F238E27FC236}">
                <a16:creationId xmlns:a16="http://schemas.microsoft.com/office/drawing/2014/main" id="{3E613D72-90CB-62FD-E861-8FE6E2F065B8}"/>
              </a:ext>
            </a:extLst>
          </p:cNvPr>
          <p:cNvSpPr txBox="1"/>
          <p:nvPr/>
        </p:nvSpPr>
        <p:spPr>
          <a:xfrm>
            <a:off x="2741172" y="2643822"/>
            <a:ext cx="181140" cy="80599"/>
          </a:xfrm>
          <a:prstGeom prst="rect">
            <a:avLst/>
          </a:prstGeom>
          <a:noFill/>
        </p:spPr>
        <p:txBody>
          <a:bodyPr wrap="none" lIns="0" tIns="0" rIns="0" bIns="0" anchor="ctr">
            <a:spAutoFit/>
          </a:bodyPr>
          <a:lstStyle/>
          <a:p>
            <a:pPr algn="l">
              <a:lnSpc>
                <a:spcPct val="105000"/>
              </a:lnSpc>
            </a:pPr>
            <a:r>
              <a:rPr sz="536" dirty="0" err="1">
                <a:solidFill>
                  <a:srgbClr val="263442"/>
                </a:solidFill>
                <a:latin typeface="Arial"/>
              </a:rPr>
              <a:t>RDKit</a:t>
            </a:r>
            <a:endParaRPr sz="536" dirty="0">
              <a:solidFill>
                <a:srgbClr val="263442"/>
              </a:solidFill>
              <a:latin typeface="Arial"/>
            </a:endParaRPr>
          </a:p>
        </p:txBody>
      </p:sp>
      <p:grpSp>
        <p:nvGrpSpPr>
          <p:cNvPr id="669" name="Identity | Own molecular graph">
            <a:extLst>
              <a:ext uri="{FF2B5EF4-FFF2-40B4-BE49-F238E27FC236}">
                <a16:creationId xmlns:a16="http://schemas.microsoft.com/office/drawing/2014/main" id="{683652C7-CC94-2A9C-935C-36CF7B7EB5E8}"/>
              </a:ext>
            </a:extLst>
          </p:cNvPr>
          <p:cNvGrpSpPr/>
          <p:nvPr/>
        </p:nvGrpSpPr>
        <p:grpSpPr>
          <a:xfrm>
            <a:off x="2817417" y="2888431"/>
            <a:ext cx="284773" cy="171742"/>
            <a:chOff x="3366271" y="3721905"/>
            <a:chExt cx="311024" cy="187573"/>
          </a:xfrm>
        </p:grpSpPr>
        <p:cxnSp>
          <p:nvCxnSpPr>
            <p:cNvPr id="670" name="path_2698">
              <a:extLst>
                <a:ext uri="{FF2B5EF4-FFF2-40B4-BE49-F238E27FC236}">
                  <a16:creationId xmlns:a16="http://schemas.microsoft.com/office/drawing/2014/main" id="{08C9C74A-0B12-2E3C-023F-C3DCDEFB7AF1}"/>
                </a:ext>
              </a:extLst>
            </p:cNvPr>
            <p:cNvCxnSpPr/>
            <p:nvPr/>
          </p:nvCxnSpPr>
          <p:spPr>
            <a:xfrm flipV="1">
              <a:off x="3381053" y="3736688"/>
              <a:ext cx="63663" cy="70463"/>
            </a:xfrm>
            <a:prstGeom prst="line">
              <a:avLst/>
            </a:prstGeom>
            <a:noFill/>
            <a:ln w="5256" cap="rnd" cmpd="sng" algn="ctr">
              <a:solidFill>
                <a:srgbClr val="238777"/>
              </a:solidFill>
              <a:prstDash val="solid"/>
              <a:round/>
              <a:headEnd type="none" w="med" len="med"/>
              <a:tailEnd type="none" w="med" len="med"/>
            </a:ln>
            <a:effectLst/>
          </p:spPr>
        </p:cxnSp>
        <p:cxnSp>
          <p:nvCxnSpPr>
            <p:cNvPr id="671" name="path_2699">
              <a:extLst>
                <a:ext uri="{FF2B5EF4-FFF2-40B4-BE49-F238E27FC236}">
                  <a16:creationId xmlns:a16="http://schemas.microsoft.com/office/drawing/2014/main" id="{1CF65ECB-9AC9-C310-5460-0B86FF6B2BC5}"/>
                </a:ext>
              </a:extLst>
            </p:cNvPr>
            <p:cNvCxnSpPr/>
            <p:nvPr/>
          </p:nvCxnSpPr>
          <p:spPr>
            <a:xfrm>
              <a:off x="3444717" y="3736688"/>
              <a:ext cx="113924" cy="14947"/>
            </a:xfrm>
            <a:prstGeom prst="line">
              <a:avLst/>
            </a:prstGeom>
            <a:noFill/>
            <a:ln w="5256" cap="rnd" cmpd="sng" algn="ctr">
              <a:solidFill>
                <a:srgbClr val="238777"/>
              </a:solidFill>
              <a:prstDash val="solid"/>
              <a:round/>
              <a:headEnd type="none" w="med" len="med"/>
              <a:tailEnd type="none" w="med" len="med"/>
            </a:ln>
            <a:effectLst/>
          </p:spPr>
        </p:cxnSp>
        <p:cxnSp>
          <p:nvCxnSpPr>
            <p:cNvPr id="672" name="path_2700">
              <a:extLst>
                <a:ext uri="{FF2B5EF4-FFF2-40B4-BE49-F238E27FC236}">
                  <a16:creationId xmlns:a16="http://schemas.microsoft.com/office/drawing/2014/main" id="{47F0AAAA-D782-D4D4-41E7-7304CCE8D568}"/>
                </a:ext>
              </a:extLst>
            </p:cNvPr>
            <p:cNvCxnSpPr/>
            <p:nvPr/>
          </p:nvCxnSpPr>
          <p:spPr>
            <a:xfrm>
              <a:off x="3558640" y="3751634"/>
              <a:ext cx="73715" cy="64058"/>
            </a:xfrm>
            <a:prstGeom prst="line">
              <a:avLst/>
            </a:prstGeom>
            <a:noFill/>
            <a:ln w="5256" cap="rnd" cmpd="sng" algn="ctr">
              <a:solidFill>
                <a:srgbClr val="238777"/>
              </a:solidFill>
              <a:prstDash val="solid"/>
              <a:round/>
              <a:headEnd type="none" w="med" len="med"/>
              <a:tailEnd type="none" w="med" len="med"/>
            </a:ln>
            <a:effectLst/>
          </p:spPr>
        </p:cxnSp>
        <p:cxnSp>
          <p:nvCxnSpPr>
            <p:cNvPr id="673" name="path_2701">
              <a:extLst>
                <a:ext uri="{FF2B5EF4-FFF2-40B4-BE49-F238E27FC236}">
                  <a16:creationId xmlns:a16="http://schemas.microsoft.com/office/drawing/2014/main" id="{672DEF92-FEF6-A8B8-A079-671D6D70071E}"/>
                </a:ext>
              </a:extLst>
            </p:cNvPr>
            <p:cNvCxnSpPr/>
            <p:nvPr/>
          </p:nvCxnSpPr>
          <p:spPr>
            <a:xfrm flipH="1">
              <a:off x="3561991" y="3815692"/>
              <a:ext cx="70365" cy="79004"/>
            </a:xfrm>
            <a:prstGeom prst="line">
              <a:avLst/>
            </a:prstGeom>
            <a:noFill/>
            <a:ln w="5256" cap="rnd" cmpd="sng" algn="ctr">
              <a:solidFill>
                <a:srgbClr val="238777"/>
              </a:solidFill>
              <a:prstDash val="solid"/>
              <a:round/>
              <a:headEnd type="none" w="med" len="med"/>
              <a:tailEnd type="none" w="med" len="med"/>
            </a:ln>
            <a:effectLst/>
          </p:spPr>
        </p:cxnSp>
        <p:cxnSp>
          <p:nvCxnSpPr>
            <p:cNvPr id="674" name="path_2702">
              <a:extLst>
                <a:ext uri="{FF2B5EF4-FFF2-40B4-BE49-F238E27FC236}">
                  <a16:creationId xmlns:a16="http://schemas.microsoft.com/office/drawing/2014/main" id="{B02A38E3-8AB1-C1CA-A784-7A02E63B2D09}"/>
                </a:ext>
              </a:extLst>
            </p:cNvPr>
            <p:cNvCxnSpPr/>
            <p:nvPr/>
          </p:nvCxnSpPr>
          <p:spPr>
            <a:xfrm flipH="1" flipV="1">
              <a:off x="3444717" y="3875479"/>
              <a:ext cx="117275" cy="19217"/>
            </a:xfrm>
            <a:prstGeom prst="line">
              <a:avLst/>
            </a:prstGeom>
            <a:noFill/>
            <a:ln w="5256" cap="rnd" cmpd="sng" algn="ctr">
              <a:solidFill>
                <a:srgbClr val="238777"/>
              </a:solidFill>
              <a:prstDash val="solid"/>
              <a:round/>
              <a:headEnd type="none" w="med" len="med"/>
              <a:tailEnd type="none" w="med" len="med"/>
            </a:ln>
            <a:effectLst/>
          </p:spPr>
        </p:cxnSp>
        <p:cxnSp>
          <p:nvCxnSpPr>
            <p:cNvPr id="675" name="path_2703">
              <a:extLst>
                <a:ext uri="{FF2B5EF4-FFF2-40B4-BE49-F238E27FC236}">
                  <a16:creationId xmlns:a16="http://schemas.microsoft.com/office/drawing/2014/main" id="{5EB27651-D3BE-22CD-39D8-D428781F5F97}"/>
                </a:ext>
              </a:extLst>
            </p:cNvPr>
            <p:cNvCxnSpPr/>
            <p:nvPr/>
          </p:nvCxnSpPr>
          <p:spPr>
            <a:xfrm flipH="1" flipV="1">
              <a:off x="3381053" y="3807151"/>
              <a:ext cx="63663" cy="68328"/>
            </a:xfrm>
            <a:prstGeom prst="line">
              <a:avLst/>
            </a:prstGeom>
            <a:noFill/>
            <a:ln w="5256" cap="rnd" cmpd="sng" algn="ctr">
              <a:solidFill>
                <a:srgbClr val="238777"/>
              </a:solidFill>
              <a:prstDash val="solid"/>
              <a:round/>
              <a:headEnd type="none" w="med" len="med"/>
              <a:tailEnd type="none" w="med" len="med"/>
            </a:ln>
            <a:effectLst/>
          </p:spPr>
        </p:cxnSp>
        <p:cxnSp>
          <p:nvCxnSpPr>
            <p:cNvPr id="676" name="path_2704">
              <a:extLst>
                <a:ext uri="{FF2B5EF4-FFF2-40B4-BE49-F238E27FC236}">
                  <a16:creationId xmlns:a16="http://schemas.microsoft.com/office/drawing/2014/main" id="{A3592B63-1411-3F57-5878-96E17C30AD75}"/>
                </a:ext>
              </a:extLst>
            </p:cNvPr>
            <p:cNvCxnSpPr/>
            <p:nvPr/>
          </p:nvCxnSpPr>
          <p:spPr>
            <a:xfrm flipV="1">
              <a:off x="3558640" y="3745228"/>
              <a:ext cx="103872" cy="6406"/>
            </a:xfrm>
            <a:prstGeom prst="line">
              <a:avLst/>
            </a:prstGeom>
            <a:noFill/>
            <a:ln w="5256" cap="rnd" cmpd="sng" algn="ctr">
              <a:solidFill>
                <a:srgbClr val="238777"/>
              </a:solidFill>
              <a:prstDash val="solid"/>
              <a:round/>
              <a:headEnd type="none" w="med" len="med"/>
              <a:tailEnd type="none" w="med" len="med"/>
            </a:ln>
            <a:effectLst/>
          </p:spPr>
        </p:cxnSp>
        <p:sp>
          <p:nvSpPr>
            <p:cNvPr id="677" name="ellipse_2705">
              <a:extLst>
                <a:ext uri="{FF2B5EF4-FFF2-40B4-BE49-F238E27FC236}">
                  <a16:creationId xmlns:a16="http://schemas.microsoft.com/office/drawing/2014/main" id="{C3D36D22-8CEB-B663-A605-02E9CFFED0C1}"/>
                </a:ext>
              </a:extLst>
            </p:cNvPr>
            <p:cNvSpPr/>
            <p:nvPr/>
          </p:nvSpPr>
          <p:spPr>
            <a:xfrm>
              <a:off x="3366271" y="3792368"/>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8" name="ellipse_2706">
              <a:extLst>
                <a:ext uri="{FF2B5EF4-FFF2-40B4-BE49-F238E27FC236}">
                  <a16:creationId xmlns:a16="http://schemas.microsoft.com/office/drawing/2014/main" id="{1F86BCBC-B96E-6EC5-AC9B-22A20629DF0F}"/>
                </a:ext>
              </a:extLst>
            </p:cNvPr>
            <p:cNvSpPr/>
            <p:nvPr/>
          </p:nvSpPr>
          <p:spPr>
            <a:xfrm>
              <a:off x="3429934" y="3721905"/>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9" name="ellipse_2707">
              <a:extLst>
                <a:ext uri="{FF2B5EF4-FFF2-40B4-BE49-F238E27FC236}">
                  <a16:creationId xmlns:a16="http://schemas.microsoft.com/office/drawing/2014/main" id="{0D7ED534-2755-74EA-6149-4A7E3A7E8992}"/>
                </a:ext>
              </a:extLst>
            </p:cNvPr>
            <p:cNvSpPr/>
            <p:nvPr/>
          </p:nvSpPr>
          <p:spPr>
            <a:xfrm>
              <a:off x="3543858" y="3736852"/>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0" name="ellipse_2708">
              <a:extLst>
                <a:ext uri="{FF2B5EF4-FFF2-40B4-BE49-F238E27FC236}">
                  <a16:creationId xmlns:a16="http://schemas.microsoft.com/office/drawing/2014/main" id="{01CC7294-C7B5-D1A4-A138-902105284B89}"/>
                </a:ext>
              </a:extLst>
            </p:cNvPr>
            <p:cNvSpPr/>
            <p:nvPr/>
          </p:nvSpPr>
          <p:spPr>
            <a:xfrm>
              <a:off x="3617573" y="3800909"/>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1" name="ellipse_2709">
              <a:extLst>
                <a:ext uri="{FF2B5EF4-FFF2-40B4-BE49-F238E27FC236}">
                  <a16:creationId xmlns:a16="http://schemas.microsoft.com/office/drawing/2014/main" id="{80734E48-9DE8-B4FD-D0D4-D53693BBEADF}"/>
                </a:ext>
              </a:extLst>
            </p:cNvPr>
            <p:cNvSpPr/>
            <p:nvPr/>
          </p:nvSpPr>
          <p:spPr>
            <a:xfrm>
              <a:off x="3547209" y="3879913"/>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2" name="ellipse_2710">
              <a:extLst>
                <a:ext uri="{FF2B5EF4-FFF2-40B4-BE49-F238E27FC236}">
                  <a16:creationId xmlns:a16="http://schemas.microsoft.com/office/drawing/2014/main" id="{3DB6F677-E1A0-2C7D-CADD-FB389865F633}"/>
                </a:ext>
              </a:extLst>
            </p:cNvPr>
            <p:cNvSpPr/>
            <p:nvPr/>
          </p:nvSpPr>
          <p:spPr>
            <a:xfrm>
              <a:off x="3429934" y="386069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3" name="ellipse_2711">
              <a:extLst>
                <a:ext uri="{FF2B5EF4-FFF2-40B4-BE49-F238E27FC236}">
                  <a16:creationId xmlns:a16="http://schemas.microsoft.com/office/drawing/2014/main" id="{D105DBC9-3C6D-0576-1E95-E04BFA9EB1EF}"/>
                </a:ext>
              </a:extLst>
            </p:cNvPr>
            <p:cNvSpPr/>
            <p:nvPr/>
          </p:nvSpPr>
          <p:spPr>
            <a:xfrm>
              <a:off x="3647730" y="373044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grpSp>
      <p:sp>
        <p:nvSpPr>
          <p:cNvPr id="684" name="TextBox 12226">
            <a:extLst>
              <a:ext uri="{FF2B5EF4-FFF2-40B4-BE49-F238E27FC236}">
                <a16:creationId xmlns:a16="http://schemas.microsoft.com/office/drawing/2014/main" id="{43DBD103-E22F-DA52-F0ED-122A5CA41D61}"/>
              </a:ext>
            </a:extLst>
          </p:cNvPr>
          <p:cNvSpPr txBox="1"/>
          <p:nvPr/>
        </p:nvSpPr>
        <p:spPr>
          <a:xfrm>
            <a:off x="2791488" y="3080344"/>
            <a:ext cx="336631" cy="80599"/>
          </a:xfrm>
          <a:prstGeom prst="rect">
            <a:avLst/>
          </a:prstGeom>
          <a:noFill/>
        </p:spPr>
        <p:txBody>
          <a:bodyPr wrap="none" lIns="0" tIns="0" rIns="0" bIns="0" anchor="ctr">
            <a:spAutoFit/>
          </a:bodyPr>
          <a:lstStyle/>
          <a:p>
            <a:pPr algn="ctr">
              <a:lnSpc>
                <a:spcPct val="105000"/>
              </a:lnSpc>
            </a:pPr>
            <a:r>
              <a:rPr sz="536">
                <a:solidFill>
                  <a:srgbClr val="263442"/>
                </a:solidFill>
                <a:latin typeface="Arial"/>
              </a:rPr>
              <a:t>Own graph</a:t>
            </a:r>
          </a:p>
        </p:txBody>
      </p:sp>
      <p:sp>
        <p:nvSpPr>
          <p:cNvPr id="685" name="Op | GNN">
            <a:extLst>
              <a:ext uri="{FF2B5EF4-FFF2-40B4-BE49-F238E27FC236}">
                <a16:creationId xmlns:a16="http://schemas.microsoft.com/office/drawing/2014/main" id="{98330FF3-2E5A-32C3-D33C-D78225E1943D}"/>
              </a:ext>
            </a:extLst>
          </p:cNvPr>
          <p:cNvSpPr/>
          <p:nvPr/>
        </p:nvSpPr>
        <p:spPr>
          <a:xfrm>
            <a:off x="2777865" y="3239299"/>
            <a:ext cx="363877"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GNN</a:t>
            </a:r>
          </a:p>
        </p:txBody>
      </p:sp>
      <p:sp>
        <p:nvSpPr>
          <p:cNvPr id="686" name="TextBox 12228">
            <a:extLst>
              <a:ext uri="{FF2B5EF4-FFF2-40B4-BE49-F238E27FC236}">
                <a16:creationId xmlns:a16="http://schemas.microsoft.com/office/drawing/2014/main" id="{26538413-3AE9-9872-D0A6-0AEA9E6FF809}"/>
              </a:ext>
            </a:extLst>
          </p:cNvPr>
          <p:cNvSpPr txBox="1"/>
          <p:nvPr/>
        </p:nvSpPr>
        <p:spPr>
          <a:xfrm>
            <a:off x="2991445" y="3388848"/>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687" name="Op | Graph attention">
            <a:extLst>
              <a:ext uri="{FF2B5EF4-FFF2-40B4-BE49-F238E27FC236}">
                <a16:creationId xmlns:a16="http://schemas.microsoft.com/office/drawing/2014/main" id="{5F3701CD-DCA3-D9CA-7FA3-D737E8718A60}"/>
              </a:ext>
            </a:extLst>
          </p:cNvPr>
          <p:cNvSpPr/>
          <p:nvPr/>
        </p:nvSpPr>
        <p:spPr>
          <a:xfrm>
            <a:off x="2651299" y="3500341"/>
            <a:ext cx="617009"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Graph</a:t>
            </a:r>
            <a:r>
              <a:rPr sz="580" dirty="0">
                <a:solidFill>
                  <a:srgbClr val="263442"/>
                </a:solidFill>
                <a:latin typeface="Arial"/>
              </a:rPr>
              <a:t> </a:t>
            </a:r>
            <a:r>
              <a:rPr sz="588" dirty="0">
                <a:solidFill>
                  <a:srgbClr val="263442"/>
                </a:solidFill>
                <a:latin typeface="Arial"/>
              </a:rPr>
              <a:t>attention</a:t>
            </a:r>
          </a:p>
        </p:txBody>
      </p:sp>
      <p:sp>
        <p:nvSpPr>
          <p:cNvPr id="688" name="Op | SMI-TED">
            <a:extLst>
              <a:ext uri="{FF2B5EF4-FFF2-40B4-BE49-F238E27FC236}">
                <a16:creationId xmlns:a16="http://schemas.microsoft.com/office/drawing/2014/main" id="{9F250B16-9768-CC2C-86AF-59769C8EEC4C}"/>
              </a:ext>
            </a:extLst>
          </p:cNvPr>
          <p:cNvSpPr/>
          <p:nvPr/>
        </p:nvSpPr>
        <p:spPr>
          <a:xfrm>
            <a:off x="3413848" y="2971538"/>
            <a:ext cx="427160"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SMI-TED</a:t>
            </a:r>
          </a:p>
        </p:txBody>
      </p:sp>
      <p:sp>
        <p:nvSpPr>
          <p:cNvPr id="689" name="Language vector v_k_1">
            <a:extLst>
              <a:ext uri="{FF2B5EF4-FFF2-40B4-BE49-F238E27FC236}">
                <a16:creationId xmlns:a16="http://schemas.microsoft.com/office/drawing/2014/main" id="{E695888D-D925-5392-2451-D7757F2B6BC7}"/>
              </a:ext>
            </a:extLst>
          </p:cNvPr>
          <p:cNvSpPr/>
          <p:nvPr/>
        </p:nvSpPr>
        <p:spPr>
          <a:xfrm>
            <a:off x="3481889"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0" name="Language vector v_k_2">
            <a:extLst>
              <a:ext uri="{FF2B5EF4-FFF2-40B4-BE49-F238E27FC236}">
                <a16:creationId xmlns:a16="http://schemas.microsoft.com/office/drawing/2014/main" id="{914284BD-BAB8-4AEA-A1F1-E7FC853BC87F}"/>
              </a:ext>
            </a:extLst>
          </p:cNvPr>
          <p:cNvSpPr/>
          <p:nvPr/>
        </p:nvSpPr>
        <p:spPr>
          <a:xfrm>
            <a:off x="3523136"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1" name="Language vector v_k_3">
            <a:extLst>
              <a:ext uri="{FF2B5EF4-FFF2-40B4-BE49-F238E27FC236}">
                <a16:creationId xmlns:a16="http://schemas.microsoft.com/office/drawing/2014/main" id="{A224CED9-3025-4474-CF80-E118B0ACA7AB}"/>
              </a:ext>
            </a:extLst>
          </p:cNvPr>
          <p:cNvSpPr/>
          <p:nvPr/>
        </p:nvSpPr>
        <p:spPr>
          <a:xfrm>
            <a:off x="3564383"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2" name="Language vector v_k_4">
            <a:extLst>
              <a:ext uri="{FF2B5EF4-FFF2-40B4-BE49-F238E27FC236}">
                <a16:creationId xmlns:a16="http://schemas.microsoft.com/office/drawing/2014/main" id="{3641CBF3-C5A5-2DC2-88CA-B3F2C816508D}"/>
              </a:ext>
            </a:extLst>
          </p:cNvPr>
          <p:cNvSpPr/>
          <p:nvPr/>
        </p:nvSpPr>
        <p:spPr>
          <a:xfrm>
            <a:off x="3605630" y="3547013"/>
            <a:ext cx="37291" cy="56955"/>
          </a:xfrm>
          <a:prstGeom prst="rect">
            <a:avLst/>
          </a:prstGeom>
          <a:solidFill>
            <a:srgbClr val="CBE7D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3" name="Language vector v_k_5">
            <a:extLst>
              <a:ext uri="{FF2B5EF4-FFF2-40B4-BE49-F238E27FC236}">
                <a16:creationId xmlns:a16="http://schemas.microsoft.com/office/drawing/2014/main" id="{B6BA4357-39F7-598C-72FA-2FC00B25A10F}"/>
              </a:ext>
            </a:extLst>
          </p:cNvPr>
          <p:cNvSpPr/>
          <p:nvPr/>
        </p:nvSpPr>
        <p:spPr>
          <a:xfrm>
            <a:off x="3646877"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4" name="Language vector v_k_6">
            <a:extLst>
              <a:ext uri="{FF2B5EF4-FFF2-40B4-BE49-F238E27FC236}">
                <a16:creationId xmlns:a16="http://schemas.microsoft.com/office/drawing/2014/main" id="{14F9C08B-08C8-5CC8-21F6-EC42430BFA81}"/>
              </a:ext>
            </a:extLst>
          </p:cNvPr>
          <p:cNvSpPr/>
          <p:nvPr/>
        </p:nvSpPr>
        <p:spPr>
          <a:xfrm>
            <a:off x="3688124"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5" name="Language vector v_k_7">
            <a:extLst>
              <a:ext uri="{FF2B5EF4-FFF2-40B4-BE49-F238E27FC236}">
                <a16:creationId xmlns:a16="http://schemas.microsoft.com/office/drawing/2014/main" id="{52E0E1B7-31F4-244C-BA32-494F415D5F2F}"/>
              </a:ext>
            </a:extLst>
          </p:cNvPr>
          <p:cNvSpPr/>
          <p:nvPr/>
        </p:nvSpPr>
        <p:spPr>
          <a:xfrm>
            <a:off x="3729371"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6" name="TextBox 12239">
            <a:extLst>
              <a:ext uri="{FF2B5EF4-FFF2-40B4-BE49-F238E27FC236}">
                <a16:creationId xmlns:a16="http://schemas.microsoft.com/office/drawing/2014/main" id="{DE6BD61F-48C0-C267-E36F-0AC7BC24100D}"/>
              </a:ext>
            </a:extLst>
          </p:cNvPr>
          <p:cNvSpPr txBox="1"/>
          <p:nvPr/>
        </p:nvSpPr>
        <p:spPr>
          <a:xfrm>
            <a:off x="3307860" y="3475189"/>
            <a:ext cx="126566" cy="81946"/>
          </a:xfrm>
          <a:prstGeom prst="rect">
            <a:avLst/>
          </a:prstGeom>
          <a:noFill/>
        </p:spPr>
        <p:txBody>
          <a:bodyPr wrap="square" lIns="0" tIns="0" rIns="0" bIns="0" anchor="ctr">
            <a:spAutoFit/>
          </a:bodyPr>
          <a:lstStyle/>
          <a:p>
            <a:pPr algn="ctr">
              <a:lnSpc>
                <a:spcPct val="105000"/>
              </a:lnSpc>
            </a:pPr>
            <a:r>
              <a:rPr sz="545" dirty="0">
                <a:solidFill>
                  <a:srgbClr val="263442"/>
                </a:solidFill>
                <a:latin typeface="Arial"/>
              </a:rPr>
              <a:t>Q</a:t>
            </a:r>
          </a:p>
        </p:txBody>
      </p:sp>
      <p:sp>
        <p:nvSpPr>
          <p:cNvPr id="697" name="TextBox 12240">
            <a:extLst>
              <a:ext uri="{FF2B5EF4-FFF2-40B4-BE49-F238E27FC236}">
                <a16:creationId xmlns:a16="http://schemas.microsoft.com/office/drawing/2014/main" id="{2ACBC05C-C556-BA36-3DA9-0D37D9382C06}"/>
              </a:ext>
            </a:extLst>
          </p:cNvPr>
          <p:cNvSpPr txBox="1"/>
          <p:nvPr/>
        </p:nvSpPr>
        <p:spPr>
          <a:xfrm>
            <a:off x="3814124" y="3475189"/>
            <a:ext cx="126566" cy="81946"/>
          </a:xfrm>
          <a:prstGeom prst="rect">
            <a:avLst/>
          </a:prstGeom>
          <a:noFill/>
        </p:spPr>
        <p:txBody>
          <a:bodyPr wrap="square" lIns="0" tIns="0" rIns="0" bIns="0" anchor="ctr">
            <a:spAutoFit/>
          </a:bodyPr>
          <a:lstStyle/>
          <a:p>
            <a:pPr algn="ctr">
              <a:lnSpc>
                <a:spcPct val="105000"/>
              </a:lnSpc>
            </a:pPr>
            <a:r>
              <a:rPr sz="545">
                <a:solidFill>
                  <a:srgbClr val="263442"/>
                </a:solidFill>
                <a:latin typeface="Arial"/>
              </a:rPr>
              <a:t>Q</a:t>
            </a:r>
          </a:p>
        </p:txBody>
      </p:sp>
      <p:sp>
        <p:nvSpPr>
          <p:cNvPr id="698" name="TextBox 12241">
            <a:extLst>
              <a:ext uri="{FF2B5EF4-FFF2-40B4-BE49-F238E27FC236}">
                <a16:creationId xmlns:a16="http://schemas.microsoft.com/office/drawing/2014/main" id="{0B3A68EF-7CF9-A2EB-24B2-085C5BF1F71F}"/>
              </a:ext>
            </a:extLst>
          </p:cNvPr>
          <p:cNvSpPr txBox="1"/>
          <p:nvPr/>
        </p:nvSpPr>
        <p:spPr>
          <a:xfrm>
            <a:off x="4328298" y="2542416"/>
            <a:ext cx="379698" cy="151836"/>
          </a:xfrm>
          <a:prstGeom prst="rect">
            <a:avLst/>
          </a:prstGeom>
          <a:noFill/>
        </p:spPr>
        <p:txBody>
          <a:bodyPr wrap="square" lIns="0" tIns="0" rIns="0" bIns="0" anchor="ctr">
            <a:spAutoFit/>
          </a:bodyPr>
          <a:lstStyle/>
          <a:p>
            <a:pPr algn="l">
              <a:lnSpc>
                <a:spcPct val="95000"/>
              </a:lnSpc>
            </a:pPr>
            <a:r>
              <a:rPr lang="en-US" sz="519" dirty="0">
                <a:solidFill>
                  <a:srgbClr val="263442"/>
                </a:solidFill>
                <a:latin typeface="Arial"/>
              </a:rPr>
              <a:t>  </a:t>
            </a:r>
            <a:r>
              <a:rPr sz="519" dirty="0">
                <a:solidFill>
                  <a:srgbClr val="263442"/>
                </a:solidFill>
                <a:latin typeface="Arial"/>
              </a:rPr>
              <a:t>Other</a:t>
            </a:r>
          </a:p>
          <a:p>
            <a:pPr algn="l">
              <a:lnSpc>
                <a:spcPct val="95000"/>
              </a:lnSpc>
            </a:pPr>
            <a:r>
              <a:rPr sz="519" dirty="0">
                <a:solidFill>
                  <a:srgbClr val="263442"/>
                </a:solidFill>
                <a:latin typeface="Arial"/>
              </a:rPr>
              <a:t>identities</a:t>
            </a:r>
          </a:p>
        </p:txBody>
      </p:sp>
      <p:sp>
        <p:nvSpPr>
          <p:cNvPr id="699" name="Op | SMI-TED">
            <a:extLst>
              <a:ext uri="{FF2B5EF4-FFF2-40B4-BE49-F238E27FC236}">
                <a16:creationId xmlns:a16="http://schemas.microsoft.com/office/drawing/2014/main" id="{6691CF15-5DAD-F305-5973-B1ACEFFF5CBF}"/>
              </a:ext>
            </a:extLst>
          </p:cNvPr>
          <p:cNvSpPr/>
          <p:nvPr/>
        </p:nvSpPr>
        <p:spPr>
          <a:xfrm>
            <a:off x="4095413" y="2967199"/>
            <a:ext cx="427160"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SMI-TED</a:t>
            </a:r>
          </a:p>
        </p:txBody>
      </p:sp>
      <p:sp>
        <p:nvSpPr>
          <p:cNvPr id="700" name="TextBox 12244">
            <a:extLst>
              <a:ext uri="{FF2B5EF4-FFF2-40B4-BE49-F238E27FC236}">
                <a16:creationId xmlns:a16="http://schemas.microsoft.com/office/drawing/2014/main" id="{13C55E5C-99C8-F46D-3353-FED4827206EC}"/>
              </a:ext>
            </a:extLst>
          </p:cNvPr>
          <p:cNvSpPr txBox="1"/>
          <p:nvPr/>
        </p:nvSpPr>
        <p:spPr>
          <a:xfrm>
            <a:off x="4083077" y="3197919"/>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1</a:t>
            </a:r>
          </a:p>
        </p:txBody>
      </p:sp>
      <p:sp>
        <p:nvSpPr>
          <p:cNvPr id="701" name="Context bar 1_1">
            <a:extLst>
              <a:ext uri="{FF2B5EF4-FFF2-40B4-BE49-F238E27FC236}">
                <a16:creationId xmlns:a16="http://schemas.microsoft.com/office/drawing/2014/main" id="{F675EB2C-E3F4-CF25-F2F9-B217A0C64998}"/>
              </a:ext>
            </a:extLst>
          </p:cNvPr>
          <p:cNvSpPr/>
          <p:nvPr/>
        </p:nvSpPr>
        <p:spPr>
          <a:xfrm>
            <a:off x="4178001"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2" name="Context bar 1_2">
            <a:extLst>
              <a:ext uri="{FF2B5EF4-FFF2-40B4-BE49-F238E27FC236}">
                <a16:creationId xmlns:a16="http://schemas.microsoft.com/office/drawing/2014/main" id="{7015B7C2-EE7A-8CD3-BF9A-C8F6C295F2D3}"/>
              </a:ext>
            </a:extLst>
          </p:cNvPr>
          <p:cNvSpPr/>
          <p:nvPr/>
        </p:nvSpPr>
        <p:spPr>
          <a:xfrm>
            <a:off x="4226123"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3" name="Context bar 1_3">
            <a:extLst>
              <a:ext uri="{FF2B5EF4-FFF2-40B4-BE49-F238E27FC236}">
                <a16:creationId xmlns:a16="http://schemas.microsoft.com/office/drawing/2014/main" id="{0283D963-CC89-9552-BBFA-44417F9A5810}"/>
              </a:ext>
            </a:extLst>
          </p:cNvPr>
          <p:cNvSpPr/>
          <p:nvPr/>
        </p:nvSpPr>
        <p:spPr>
          <a:xfrm>
            <a:off x="4274244" y="3223887"/>
            <a:ext cx="44166" cy="34806"/>
          </a:xfrm>
          <a:prstGeom prst="rect">
            <a:avLst/>
          </a:prstGeom>
          <a:solidFill>
            <a:srgbClr val="BFD2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4" name="Context bar 1_4">
            <a:extLst>
              <a:ext uri="{FF2B5EF4-FFF2-40B4-BE49-F238E27FC236}">
                <a16:creationId xmlns:a16="http://schemas.microsoft.com/office/drawing/2014/main" id="{DFE762FA-D62F-609E-23C6-B16577CF789A}"/>
              </a:ext>
            </a:extLst>
          </p:cNvPr>
          <p:cNvSpPr/>
          <p:nvPr/>
        </p:nvSpPr>
        <p:spPr>
          <a:xfrm>
            <a:off x="4322366" y="3223887"/>
            <a:ext cx="44166" cy="34806"/>
          </a:xfrm>
          <a:prstGeom prst="rect">
            <a:avLst/>
          </a:prstGeom>
          <a:solidFill>
            <a:srgbClr val="7397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5" name="Context bar 1_5">
            <a:extLst>
              <a:ext uri="{FF2B5EF4-FFF2-40B4-BE49-F238E27FC236}">
                <a16:creationId xmlns:a16="http://schemas.microsoft.com/office/drawing/2014/main" id="{8A2B1ECE-222F-713D-5115-87805A38C6E9}"/>
              </a:ext>
            </a:extLst>
          </p:cNvPr>
          <p:cNvSpPr/>
          <p:nvPr/>
        </p:nvSpPr>
        <p:spPr>
          <a:xfrm>
            <a:off x="4370487"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6" name="Context bar 1_6">
            <a:extLst>
              <a:ext uri="{FF2B5EF4-FFF2-40B4-BE49-F238E27FC236}">
                <a16:creationId xmlns:a16="http://schemas.microsoft.com/office/drawing/2014/main" id="{F9202696-646F-1763-9139-E44B52B50C5F}"/>
              </a:ext>
            </a:extLst>
          </p:cNvPr>
          <p:cNvSpPr/>
          <p:nvPr/>
        </p:nvSpPr>
        <p:spPr>
          <a:xfrm>
            <a:off x="4418609"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7" name="TextBox 12251">
            <a:extLst>
              <a:ext uri="{FF2B5EF4-FFF2-40B4-BE49-F238E27FC236}">
                <a16:creationId xmlns:a16="http://schemas.microsoft.com/office/drawing/2014/main" id="{7BC06DFD-B767-BA41-2B05-2B0A38358B92}"/>
              </a:ext>
            </a:extLst>
          </p:cNvPr>
          <p:cNvSpPr txBox="1"/>
          <p:nvPr/>
        </p:nvSpPr>
        <p:spPr>
          <a:xfrm>
            <a:off x="4083077" y="3270220"/>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2</a:t>
            </a:r>
          </a:p>
        </p:txBody>
      </p:sp>
      <p:sp>
        <p:nvSpPr>
          <p:cNvPr id="708" name="Context bar 2_1">
            <a:extLst>
              <a:ext uri="{FF2B5EF4-FFF2-40B4-BE49-F238E27FC236}">
                <a16:creationId xmlns:a16="http://schemas.microsoft.com/office/drawing/2014/main" id="{520858ED-2877-9676-9DDD-53EAA8E37558}"/>
              </a:ext>
            </a:extLst>
          </p:cNvPr>
          <p:cNvSpPr/>
          <p:nvPr/>
        </p:nvSpPr>
        <p:spPr>
          <a:xfrm>
            <a:off x="4178001"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9" name="Context bar 2_2">
            <a:extLst>
              <a:ext uri="{FF2B5EF4-FFF2-40B4-BE49-F238E27FC236}">
                <a16:creationId xmlns:a16="http://schemas.microsoft.com/office/drawing/2014/main" id="{50A3D4F9-D9FE-CC8B-21E7-D32E326D8875}"/>
              </a:ext>
            </a:extLst>
          </p:cNvPr>
          <p:cNvSpPr/>
          <p:nvPr/>
        </p:nvSpPr>
        <p:spPr>
          <a:xfrm>
            <a:off x="4226123"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0" name="Context bar 2_3">
            <a:extLst>
              <a:ext uri="{FF2B5EF4-FFF2-40B4-BE49-F238E27FC236}">
                <a16:creationId xmlns:a16="http://schemas.microsoft.com/office/drawing/2014/main" id="{4471AA3C-5A9C-CEE5-0418-953EC2227441}"/>
              </a:ext>
            </a:extLst>
          </p:cNvPr>
          <p:cNvSpPr/>
          <p:nvPr/>
        </p:nvSpPr>
        <p:spPr>
          <a:xfrm>
            <a:off x="4274244" y="3286664"/>
            <a:ext cx="44166" cy="34806"/>
          </a:xfrm>
          <a:prstGeom prst="rect">
            <a:avLst/>
          </a:prstGeom>
          <a:solidFill>
            <a:srgbClr val="E0CC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1" name="Context bar 2_4">
            <a:extLst>
              <a:ext uri="{FF2B5EF4-FFF2-40B4-BE49-F238E27FC236}">
                <a16:creationId xmlns:a16="http://schemas.microsoft.com/office/drawing/2014/main" id="{B321BB44-18FA-E7F3-2924-BC94493FEA4A}"/>
              </a:ext>
            </a:extLst>
          </p:cNvPr>
          <p:cNvSpPr/>
          <p:nvPr/>
        </p:nvSpPr>
        <p:spPr>
          <a:xfrm>
            <a:off x="4322366" y="3286664"/>
            <a:ext cx="44166" cy="34806"/>
          </a:xfrm>
          <a:prstGeom prst="rect">
            <a:avLst/>
          </a:prstGeom>
          <a:solidFill>
            <a:srgbClr val="B58E5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2" name="Context bar 2_5">
            <a:extLst>
              <a:ext uri="{FF2B5EF4-FFF2-40B4-BE49-F238E27FC236}">
                <a16:creationId xmlns:a16="http://schemas.microsoft.com/office/drawing/2014/main" id="{BF58521A-8C41-BE24-9704-AEAF70385316}"/>
              </a:ext>
            </a:extLst>
          </p:cNvPr>
          <p:cNvSpPr/>
          <p:nvPr/>
        </p:nvSpPr>
        <p:spPr>
          <a:xfrm>
            <a:off x="4370487"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3" name="Context bar 2_6">
            <a:extLst>
              <a:ext uri="{FF2B5EF4-FFF2-40B4-BE49-F238E27FC236}">
                <a16:creationId xmlns:a16="http://schemas.microsoft.com/office/drawing/2014/main" id="{4283B810-9FFF-25F8-1960-4F272603052B}"/>
              </a:ext>
            </a:extLst>
          </p:cNvPr>
          <p:cNvSpPr/>
          <p:nvPr/>
        </p:nvSpPr>
        <p:spPr>
          <a:xfrm>
            <a:off x="4418609"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4" name="TextBox 12258">
            <a:extLst>
              <a:ext uri="{FF2B5EF4-FFF2-40B4-BE49-F238E27FC236}">
                <a16:creationId xmlns:a16="http://schemas.microsoft.com/office/drawing/2014/main" id="{D4C78125-5C89-7F13-017C-2E1C11AE7FDD}"/>
              </a:ext>
            </a:extLst>
          </p:cNvPr>
          <p:cNvSpPr txBox="1"/>
          <p:nvPr/>
        </p:nvSpPr>
        <p:spPr>
          <a:xfrm>
            <a:off x="4083077" y="3342522"/>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K</a:t>
            </a:r>
          </a:p>
        </p:txBody>
      </p:sp>
      <p:sp>
        <p:nvSpPr>
          <p:cNvPr id="715" name="Context bar K_1">
            <a:extLst>
              <a:ext uri="{FF2B5EF4-FFF2-40B4-BE49-F238E27FC236}">
                <a16:creationId xmlns:a16="http://schemas.microsoft.com/office/drawing/2014/main" id="{6C63634F-2307-320B-8E95-2B6ADA84F565}"/>
              </a:ext>
            </a:extLst>
          </p:cNvPr>
          <p:cNvSpPr/>
          <p:nvPr/>
        </p:nvSpPr>
        <p:spPr>
          <a:xfrm>
            <a:off x="4178001"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6" name="Context bar K_2">
            <a:extLst>
              <a:ext uri="{FF2B5EF4-FFF2-40B4-BE49-F238E27FC236}">
                <a16:creationId xmlns:a16="http://schemas.microsoft.com/office/drawing/2014/main" id="{582A4CF2-1B99-BCF5-A8D3-EE93D5F5B81F}"/>
              </a:ext>
            </a:extLst>
          </p:cNvPr>
          <p:cNvSpPr/>
          <p:nvPr/>
        </p:nvSpPr>
        <p:spPr>
          <a:xfrm>
            <a:off x="4226123"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7" name="Context bar K_3">
            <a:extLst>
              <a:ext uri="{FF2B5EF4-FFF2-40B4-BE49-F238E27FC236}">
                <a16:creationId xmlns:a16="http://schemas.microsoft.com/office/drawing/2014/main" id="{607B41B1-A111-8D93-E207-5DF6221B54D2}"/>
              </a:ext>
            </a:extLst>
          </p:cNvPr>
          <p:cNvSpPr/>
          <p:nvPr/>
        </p:nvSpPr>
        <p:spPr>
          <a:xfrm>
            <a:off x="4274244" y="3349440"/>
            <a:ext cx="44166" cy="34806"/>
          </a:xfrm>
          <a:prstGeom prst="rect">
            <a:avLst/>
          </a:prstGeom>
          <a:solidFill>
            <a:srgbClr val="CBC2E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8" name="Context bar K_4">
            <a:extLst>
              <a:ext uri="{FF2B5EF4-FFF2-40B4-BE49-F238E27FC236}">
                <a16:creationId xmlns:a16="http://schemas.microsoft.com/office/drawing/2014/main" id="{9539C2E7-004F-E86E-852E-98E80C399402}"/>
              </a:ext>
            </a:extLst>
          </p:cNvPr>
          <p:cNvSpPr/>
          <p:nvPr/>
        </p:nvSpPr>
        <p:spPr>
          <a:xfrm>
            <a:off x="4322366" y="3349440"/>
            <a:ext cx="44166" cy="34806"/>
          </a:xfrm>
          <a:prstGeom prst="rect">
            <a:avLst/>
          </a:prstGeom>
          <a:solidFill>
            <a:srgbClr val="8E7DB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9" name="Context bar K_5">
            <a:extLst>
              <a:ext uri="{FF2B5EF4-FFF2-40B4-BE49-F238E27FC236}">
                <a16:creationId xmlns:a16="http://schemas.microsoft.com/office/drawing/2014/main" id="{2DE0B959-537B-893B-9987-81BBF3647FFD}"/>
              </a:ext>
            </a:extLst>
          </p:cNvPr>
          <p:cNvSpPr/>
          <p:nvPr/>
        </p:nvSpPr>
        <p:spPr>
          <a:xfrm>
            <a:off x="4370487"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0" name="Context bar K_6">
            <a:extLst>
              <a:ext uri="{FF2B5EF4-FFF2-40B4-BE49-F238E27FC236}">
                <a16:creationId xmlns:a16="http://schemas.microsoft.com/office/drawing/2014/main" id="{147CE38B-269C-4BBA-77C6-2810C1D11F1C}"/>
              </a:ext>
            </a:extLst>
          </p:cNvPr>
          <p:cNvSpPr/>
          <p:nvPr/>
        </p:nvSpPr>
        <p:spPr>
          <a:xfrm>
            <a:off x="4418609"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1" name="TextBox 12265">
            <a:extLst>
              <a:ext uri="{FF2B5EF4-FFF2-40B4-BE49-F238E27FC236}">
                <a16:creationId xmlns:a16="http://schemas.microsoft.com/office/drawing/2014/main" id="{979CEBC9-AC70-1276-123A-637171F58084}"/>
              </a:ext>
            </a:extLst>
          </p:cNvPr>
          <p:cNvSpPr txBox="1"/>
          <p:nvPr/>
        </p:nvSpPr>
        <p:spPr>
          <a:xfrm>
            <a:off x="4336209" y="3400472"/>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722" name="Op | Context attention">
            <a:extLst>
              <a:ext uri="{FF2B5EF4-FFF2-40B4-BE49-F238E27FC236}">
                <a16:creationId xmlns:a16="http://schemas.microsoft.com/office/drawing/2014/main" id="{640CE564-549E-0D15-B50A-E392C9DB6304}"/>
              </a:ext>
            </a:extLst>
          </p:cNvPr>
          <p:cNvSpPr/>
          <p:nvPr/>
        </p:nvSpPr>
        <p:spPr>
          <a:xfrm>
            <a:off x="3980242" y="3500341"/>
            <a:ext cx="648651"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Context</a:t>
            </a:r>
            <a:r>
              <a:rPr sz="580" dirty="0">
                <a:solidFill>
                  <a:srgbClr val="263442"/>
                </a:solidFill>
                <a:latin typeface="Arial"/>
              </a:rPr>
              <a:t> attention</a:t>
            </a:r>
          </a:p>
        </p:txBody>
      </p:sp>
      <p:sp>
        <p:nvSpPr>
          <p:cNvPr id="723" name="Op | Fusion">
            <a:extLst>
              <a:ext uri="{FF2B5EF4-FFF2-40B4-BE49-F238E27FC236}">
                <a16:creationId xmlns:a16="http://schemas.microsoft.com/office/drawing/2014/main" id="{FF74A918-BF09-C9F6-6A9B-D421CF97BC33}"/>
              </a:ext>
            </a:extLst>
          </p:cNvPr>
          <p:cNvSpPr/>
          <p:nvPr/>
        </p:nvSpPr>
        <p:spPr>
          <a:xfrm>
            <a:off x="3434426" y="3733697"/>
            <a:ext cx="379698" cy="142387"/>
          </a:xfrm>
          <a:prstGeom prst="roundRect">
            <a:avLst>
              <a:gd name="adj" fmla="val 18000"/>
            </a:avLst>
          </a:prstGeom>
          <a:solidFill>
            <a:srgbClr val="EDE7F5"/>
          </a:solidFill>
          <a:ln w="7290">
            <a:solidFill>
              <a:srgbClr val="B8A9D9"/>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Fusion</a:t>
            </a:r>
          </a:p>
        </p:txBody>
      </p:sp>
      <p:sp>
        <p:nvSpPr>
          <p:cNvPr id="724" name="g_k bar_1">
            <a:extLst>
              <a:ext uri="{FF2B5EF4-FFF2-40B4-BE49-F238E27FC236}">
                <a16:creationId xmlns:a16="http://schemas.microsoft.com/office/drawing/2014/main" id="{CB9A6A2F-14EE-2004-CB53-FCE391ACED69}"/>
              </a:ext>
            </a:extLst>
          </p:cNvPr>
          <p:cNvSpPr/>
          <p:nvPr/>
        </p:nvSpPr>
        <p:spPr>
          <a:xfrm>
            <a:off x="3458158"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5" name="g_k bar_2">
            <a:extLst>
              <a:ext uri="{FF2B5EF4-FFF2-40B4-BE49-F238E27FC236}">
                <a16:creationId xmlns:a16="http://schemas.microsoft.com/office/drawing/2014/main" id="{E39FC69E-11ED-3FA2-32B9-5945059F2213}"/>
              </a:ext>
            </a:extLst>
          </p:cNvPr>
          <p:cNvSpPr/>
          <p:nvPr/>
        </p:nvSpPr>
        <p:spPr>
          <a:xfrm>
            <a:off x="3506185"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6" name="g_k bar_3">
            <a:extLst>
              <a:ext uri="{FF2B5EF4-FFF2-40B4-BE49-F238E27FC236}">
                <a16:creationId xmlns:a16="http://schemas.microsoft.com/office/drawing/2014/main" id="{543C1079-397B-91D4-0D56-9824953F1A51}"/>
              </a:ext>
            </a:extLst>
          </p:cNvPr>
          <p:cNvSpPr/>
          <p:nvPr/>
        </p:nvSpPr>
        <p:spPr>
          <a:xfrm>
            <a:off x="3554212"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7" name="g_k bar_4">
            <a:extLst>
              <a:ext uri="{FF2B5EF4-FFF2-40B4-BE49-F238E27FC236}">
                <a16:creationId xmlns:a16="http://schemas.microsoft.com/office/drawing/2014/main" id="{72768CF4-9EFB-DF24-7C89-6D351C730BA5}"/>
              </a:ext>
            </a:extLst>
          </p:cNvPr>
          <p:cNvSpPr/>
          <p:nvPr/>
        </p:nvSpPr>
        <p:spPr>
          <a:xfrm>
            <a:off x="3602239" y="3989994"/>
            <a:ext cx="44072" cy="56955"/>
          </a:xfrm>
          <a:prstGeom prst="rect">
            <a:avLst/>
          </a:prstGeom>
          <a:solidFill>
            <a:srgbClr val="68AB9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8" name="g_k bar_5">
            <a:extLst>
              <a:ext uri="{FF2B5EF4-FFF2-40B4-BE49-F238E27FC236}">
                <a16:creationId xmlns:a16="http://schemas.microsoft.com/office/drawing/2014/main" id="{4025AE17-AFDD-1F7D-9368-8E976FBC9D73}"/>
              </a:ext>
            </a:extLst>
          </p:cNvPr>
          <p:cNvSpPr/>
          <p:nvPr/>
        </p:nvSpPr>
        <p:spPr>
          <a:xfrm>
            <a:off x="3650267"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9" name="g_k bar_6">
            <a:extLst>
              <a:ext uri="{FF2B5EF4-FFF2-40B4-BE49-F238E27FC236}">
                <a16:creationId xmlns:a16="http://schemas.microsoft.com/office/drawing/2014/main" id="{894C2CFF-A654-8C7B-2480-AC98400CE487}"/>
              </a:ext>
            </a:extLst>
          </p:cNvPr>
          <p:cNvSpPr/>
          <p:nvPr/>
        </p:nvSpPr>
        <p:spPr>
          <a:xfrm>
            <a:off x="3698294"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0" name="g_k bar_7">
            <a:extLst>
              <a:ext uri="{FF2B5EF4-FFF2-40B4-BE49-F238E27FC236}">
                <a16:creationId xmlns:a16="http://schemas.microsoft.com/office/drawing/2014/main" id="{DC10EA75-05BB-E415-682D-FAFCD65B7377}"/>
              </a:ext>
            </a:extLst>
          </p:cNvPr>
          <p:cNvSpPr/>
          <p:nvPr/>
        </p:nvSpPr>
        <p:spPr>
          <a:xfrm>
            <a:off x="3746321"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1" name="Math | g_k^">
            <a:extLst>
              <a:ext uri="{FF2B5EF4-FFF2-40B4-BE49-F238E27FC236}">
                <a16:creationId xmlns:a16="http://schemas.microsoft.com/office/drawing/2014/main" id="{45321F2B-F3FA-58E1-92FE-B69A1AB20949}"/>
              </a:ext>
            </a:extLst>
          </p:cNvPr>
          <p:cNvSpPr txBox="1"/>
          <p:nvPr/>
        </p:nvSpPr>
        <p:spPr>
          <a:xfrm>
            <a:off x="3827018" y="3947306"/>
            <a:ext cx="84960" cy="126509"/>
          </a:xfrm>
          <a:prstGeom prst="rect">
            <a:avLst/>
          </a:prstGeom>
          <a:noFill/>
        </p:spPr>
        <p:txBody>
          <a:bodyPr wrap="none" lIns="0" tIns="0" rIns="0" bIns="0" anchor="ctr">
            <a:spAutoFit/>
          </a:bodyPr>
          <a:lstStyle/>
          <a:p>
            <a:pPr algn="ctr"/>
            <a:r>
              <a:rPr sz="855" i="1">
                <a:solidFill>
                  <a:srgbClr val="263442"/>
                </a:solidFill>
                <a:latin typeface="Times New Roman"/>
              </a:rPr>
              <a:t>g</a:t>
            </a:r>
            <a:r>
              <a:rPr sz="780" i="1" baseline="-28000">
                <a:solidFill>
                  <a:srgbClr val="263442"/>
                </a:solidFill>
                <a:latin typeface="Times New Roman"/>
              </a:rPr>
              <a:t>k</a:t>
            </a:r>
          </a:p>
        </p:txBody>
      </p:sp>
      <p:sp>
        <p:nvSpPr>
          <p:cNvPr id="732" name="Op | Cosine score">
            <a:extLst>
              <a:ext uri="{FF2B5EF4-FFF2-40B4-BE49-F238E27FC236}">
                <a16:creationId xmlns:a16="http://schemas.microsoft.com/office/drawing/2014/main" id="{9B88858F-88C1-DA3F-1992-E9C76D0D80AF}"/>
              </a:ext>
            </a:extLst>
          </p:cNvPr>
          <p:cNvSpPr/>
          <p:nvPr/>
        </p:nvSpPr>
        <p:spPr>
          <a:xfrm>
            <a:off x="3234406" y="4162465"/>
            <a:ext cx="569547"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Cosine score</a:t>
            </a:r>
          </a:p>
        </p:txBody>
      </p:sp>
      <p:sp>
        <p:nvSpPr>
          <p:cNvPr id="733" name="TextBox 12277">
            <a:extLst>
              <a:ext uri="{FF2B5EF4-FFF2-40B4-BE49-F238E27FC236}">
                <a16:creationId xmlns:a16="http://schemas.microsoft.com/office/drawing/2014/main" id="{7D6970C3-E7E9-652B-644D-A057CB503545}"/>
              </a:ext>
            </a:extLst>
          </p:cNvPr>
          <p:cNvSpPr txBox="1"/>
          <p:nvPr/>
        </p:nvSpPr>
        <p:spPr>
          <a:xfrm>
            <a:off x="3229878" y="4326634"/>
            <a:ext cx="585097" cy="79445"/>
          </a:xfrm>
          <a:prstGeom prst="rect">
            <a:avLst/>
          </a:prstGeom>
          <a:noFill/>
        </p:spPr>
        <p:txBody>
          <a:bodyPr wrap="none" lIns="0" tIns="0" rIns="0" bIns="0" anchor="ctr">
            <a:spAutoFit/>
          </a:bodyPr>
          <a:lstStyle/>
          <a:p>
            <a:pPr algn="ctr">
              <a:lnSpc>
                <a:spcPct val="105000"/>
              </a:lnSpc>
            </a:pPr>
            <a:r>
              <a:rPr sz="528" dirty="0">
                <a:solidFill>
                  <a:srgbClr val="263442"/>
                </a:solidFill>
                <a:latin typeface="Arial"/>
              </a:rPr>
              <a:t>Learned projections</a:t>
            </a:r>
          </a:p>
        </p:txBody>
      </p:sp>
      <p:sp>
        <p:nvSpPr>
          <p:cNvPr id="734" name="Math | s_j,k^">
            <a:extLst>
              <a:ext uri="{FF2B5EF4-FFF2-40B4-BE49-F238E27FC236}">
                <a16:creationId xmlns:a16="http://schemas.microsoft.com/office/drawing/2014/main" id="{BD0A37AE-0CF6-77DD-8048-3FF0945F4158}"/>
              </a:ext>
            </a:extLst>
          </p:cNvPr>
          <p:cNvSpPr txBox="1"/>
          <p:nvPr/>
        </p:nvSpPr>
        <p:spPr>
          <a:xfrm>
            <a:off x="3884649" y="4086560"/>
            <a:ext cx="104196" cy="117083"/>
          </a:xfrm>
          <a:prstGeom prst="rect">
            <a:avLst/>
          </a:prstGeom>
          <a:noFill/>
        </p:spPr>
        <p:txBody>
          <a:bodyPr wrap="none" lIns="0" tIns="0" rIns="0" bIns="0" anchor="ctr">
            <a:spAutoFit/>
          </a:bodyPr>
          <a:lstStyle/>
          <a:p>
            <a:pPr algn="ctr"/>
            <a:r>
              <a:rPr sz="791" i="1" dirty="0" err="1">
                <a:solidFill>
                  <a:srgbClr val="263442"/>
                </a:solidFill>
                <a:latin typeface="Times New Roman"/>
              </a:rPr>
              <a:t>s</a:t>
            </a:r>
            <a:r>
              <a:rPr sz="780" i="1" baseline="-28000" dirty="0" err="1">
                <a:solidFill>
                  <a:srgbClr val="263442"/>
                </a:solidFill>
                <a:latin typeface="Times New Roman"/>
              </a:rPr>
              <a:t>j,k</a:t>
            </a:r>
            <a:endParaRPr sz="780" i="1" baseline="-28000" dirty="0">
              <a:solidFill>
                <a:srgbClr val="263442"/>
              </a:solidFill>
              <a:latin typeface="Times New Roman"/>
            </a:endParaRPr>
          </a:p>
        </p:txBody>
      </p:sp>
      <p:sp>
        <p:nvSpPr>
          <p:cNvPr id="735" name="TextBox 12279">
            <a:extLst>
              <a:ext uri="{FF2B5EF4-FFF2-40B4-BE49-F238E27FC236}">
                <a16:creationId xmlns:a16="http://schemas.microsoft.com/office/drawing/2014/main" id="{C56E8311-ADDA-7C63-9110-2C3006BDD08E}"/>
              </a:ext>
            </a:extLst>
          </p:cNvPr>
          <p:cNvSpPr txBox="1"/>
          <p:nvPr/>
        </p:nvSpPr>
        <p:spPr>
          <a:xfrm>
            <a:off x="4144023" y="3931330"/>
            <a:ext cx="479297" cy="87268"/>
          </a:xfrm>
          <a:prstGeom prst="rect">
            <a:avLst/>
          </a:prstGeom>
          <a:noFill/>
        </p:spPr>
        <p:txBody>
          <a:bodyPr wrap="none" lIns="0" tIns="0" rIns="0" bIns="0" anchor="ctr">
            <a:spAutoFit/>
          </a:bodyPr>
          <a:lstStyle/>
          <a:p>
            <a:pPr algn="ctr">
              <a:lnSpc>
                <a:spcPct val="105000"/>
              </a:lnSpc>
            </a:pPr>
            <a:r>
              <a:rPr sz="580">
                <a:solidFill>
                  <a:srgbClr val="263442"/>
                </a:solidFill>
                <a:latin typeface="Arial"/>
              </a:rPr>
              <a:t>Identity scores</a:t>
            </a:r>
          </a:p>
        </p:txBody>
      </p:sp>
      <p:sp>
        <p:nvSpPr>
          <p:cNvPr id="736" name="TextBox 12280">
            <a:extLst>
              <a:ext uri="{FF2B5EF4-FFF2-40B4-BE49-F238E27FC236}">
                <a16:creationId xmlns:a16="http://schemas.microsoft.com/office/drawing/2014/main" id="{C640A1D5-D4D1-3FBF-0F27-45AD836A7FCE}"/>
              </a:ext>
            </a:extLst>
          </p:cNvPr>
          <p:cNvSpPr txBox="1"/>
          <p:nvPr/>
        </p:nvSpPr>
        <p:spPr>
          <a:xfrm>
            <a:off x="4382527" y="4018471"/>
            <a:ext cx="102835" cy="85921"/>
          </a:xfrm>
          <a:prstGeom prst="rect">
            <a:avLst/>
          </a:prstGeom>
          <a:noFill/>
        </p:spPr>
        <p:txBody>
          <a:bodyPr wrap="square" lIns="0" tIns="0" rIns="0" bIns="0" anchor="ctr">
            <a:spAutoFit/>
          </a:bodyPr>
          <a:lstStyle/>
          <a:p>
            <a:pPr algn="ctr">
              <a:lnSpc>
                <a:spcPct val="105000"/>
              </a:lnSpc>
            </a:pPr>
            <a:r>
              <a:rPr sz="571" dirty="0">
                <a:solidFill>
                  <a:srgbClr val="263442"/>
                </a:solidFill>
                <a:latin typeface="Arial"/>
              </a:rPr>
              <a:t>k</a:t>
            </a:r>
          </a:p>
        </p:txBody>
      </p:sp>
      <p:sp>
        <p:nvSpPr>
          <p:cNvPr id="737" name="TextBox 12281">
            <a:extLst>
              <a:ext uri="{FF2B5EF4-FFF2-40B4-BE49-F238E27FC236}">
                <a16:creationId xmlns:a16="http://schemas.microsoft.com/office/drawing/2014/main" id="{F472392A-4724-5EDA-C6D8-557EF063B52F}"/>
              </a:ext>
            </a:extLst>
          </p:cNvPr>
          <p:cNvSpPr txBox="1"/>
          <p:nvPr/>
        </p:nvSpPr>
        <p:spPr>
          <a:xfrm>
            <a:off x="4083077" y="4169314"/>
            <a:ext cx="87014" cy="85921"/>
          </a:xfrm>
          <a:prstGeom prst="rect">
            <a:avLst/>
          </a:prstGeom>
          <a:noFill/>
        </p:spPr>
        <p:txBody>
          <a:bodyPr wrap="square" lIns="0" tIns="0" rIns="0" bIns="0" anchor="ctr">
            <a:spAutoFit/>
          </a:bodyPr>
          <a:lstStyle/>
          <a:p>
            <a:pPr algn="ctr">
              <a:lnSpc>
                <a:spcPct val="105000"/>
              </a:lnSpc>
            </a:pPr>
            <a:r>
              <a:rPr sz="571">
                <a:solidFill>
                  <a:srgbClr val="263442"/>
                </a:solidFill>
                <a:latin typeface="Arial"/>
              </a:rPr>
              <a:t>j</a:t>
            </a:r>
          </a:p>
        </p:txBody>
      </p:sp>
      <p:sp>
        <p:nvSpPr>
          <p:cNvPr id="738" name="Matrix cell (0,0)">
            <a:extLst>
              <a:ext uri="{FF2B5EF4-FFF2-40B4-BE49-F238E27FC236}">
                <a16:creationId xmlns:a16="http://schemas.microsoft.com/office/drawing/2014/main" id="{1FAFF817-C1CE-5F45-E950-98E19AE452CF}"/>
              </a:ext>
            </a:extLst>
          </p:cNvPr>
          <p:cNvSpPr/>
          <p:nvPr/>
        </p:nvSpPr>
        <p:spPr>
          <a:xfrm>
            <a:off x="4178001"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9" name="Matrix cell (0,1)">
            <a:extLst>
              <a:ext uri="{FF2B5EF4-FFF2-40B4-BE49-F238E27FC236}">
                <a16:creationId xmlns:a16="http://schemas.microsoft.com/office/drawing/2014/main" id="{ED9FACB8-4D6A-044F-997F-E09503AC15AA}"/>
              </a:ext>
            </a:extLst>
          </p:cNvPr>
          <p:cNvSpPr/>
          <p:nvPr/>
        </p:nvSpPr>
        <p:spPr>
          <a:xfrm>
            <a:off x="4280836"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0" name="Matrix cell (0,2)">
            <a:extLst>
              <a:ext uri="{FF2B5EF4-FFF2-40B4-BE49-F238E27FC236}">
                <a16:creationId xmlns:a16="http://schemas.microsoft.com/office/drawing/2014/main" id="{DE25E670-FAB3-667C-5777-C71ED9075845}"/>
              </a:ext>
            </a:extLst>
          </p:cNvPr>
          <p:cNvSpPr/>
          <p:nvPr/>
        </p:nvSpPr>
        <p:spPr>
          <a:xfrm>
            <a:off x="4383671"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1" name="Matrix cell (0,3)">
            <a:extLst>
              <a:ext uri="{FF2B5EF4-FFF2-40B4-BE49-F238E27FC236}">
                <a16:creationId xmlns:a16="http://schemas.microsoft.com/office/drawing/2014/main" id="{D15A0AB1-9BF7-4E76-6CED-C525DFBAA5F7}"/>
              </a:ext>
            </a:extLst>
          </p:cNvPr>
          <p:cNvSpPr/>
          <p:nvPr/>
        </p:nvSpPr>
        <p:spPr>
          <a:xfrm>
            <a:off x="4486506"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2" name="Matrix cell (1,0)">
            <a:extLst>
              <a:ext uri="{FF2B5EF4-FFF2-40B4-BE49-F238E27FC236}">
                <a16:creationId xmlns:a16="http://schemas.microsoft.com/office/drawing/2014/main" id="{5C20FC23-8B30-D896-36CC-91D73273996F}"/>
              </a:ext>
            </a:extLst>
          </p:cNvPr>
          <p:cNvSpPr/>
          <p:nvPr/>
        </p:nvSpPr>
        <p:spPr>
          <a:xfrm>
            <a:off x="4178001"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3" name="Matrix cell (1,1)">
            <a:extLst>
              <a:ext uri="{FF2B5EF4-FFF2-40B4-BE49-F238E27FC236}">
                <a16:creationId xmlns:a16="http://schemas.microsoft.com/office/drawing/2014/main" id="{023C0380-7EA8-B629-5738-AD00698F49B6}"/>
              </a:ext>
            </a:extLst>
          </p:cNvPr>
          <p:cNvSpPr/>
          <p:nvPr/>
        </p:nvSpPr>
        <p:spPr>
          <a:xfrm>
            <a:off x="4280836"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4" name="Matrix cell (1,2)">
            <a:extLst>
              <a:ext uri="{FF2B5EF4-FFF2-40B4-BE49-F238E27FC236}">
                <a16:creationId xmlns:a16="http://schemas.microsoft.com/office/drawing/2014/main" id="{12FBEABC-63F9-0304-4A97-80811BFE2B66}"/>
              </a:ext>
            </a:extLst>
          </p:cNvPr>
          <p:cNvSpPr/>
          <p:nvPr/>
        </p:nvSpPr>
        <p:spPr>
          <a:xfrm>
            <a:off x="4383671" y="4176678"/>
            <a:ext cx="102835" cy="71193"/>
          </a:xfrm>
          <a:prstGeom prst="rect">
            <a:avLst/>
          </a:prstGeom>
          <a:solidFill>
            <a:srgbClr val="3C9486"/>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5" name="Matrix cell (1,3)">
            <a:extLst>
              <a:ext uri="{FF2B5EF4-FFF2-40B4-BE49-F238E27FC236}">
                <a16:creationId xmlns:a16="http://schemas.microsoft.com/office/drawing/2014/main" id="{90D1E1D0-D1D8-F490-5B4D-27F3093D1ECE}"/>
              </a:ext>
            </a:extLst>
          </p:cNvPr>
          <p:cNvSpPr/>
          <p:nvPr/>
        </p:nvSpPr>
        <p:spPr>
          <a:xfrm>
            <a:off x="4486506"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6" name="Matrix cell (2,0)">
            <a:extLst>
              <a:ext uri="{FF2B5EF4-FFF2-40B4-BE49-F238E27FC236}">
                <a16:creationId xmlns:a16="http://schemas.microsoft.com/office/drawing/2014/main" id="{158A66BE-E7B7-0506-657E-0BF13A0E4F5E}"/>
              </a:ext>
            </a:extLst>
          </p:cNvPr>
          <p:cNvSpPr/>
          <p:nvPr/>
        </p:nvSpPr>
        <p:spPr>
          <a:xfrm>
            <a:off x="4178001"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7" name="Matrix cell (2,1)">
            <a:extLst>
              <a:ext uri="{FF2B5EF4-FFF2-40B4-BE49-F238E27FC236}">
                <a16:creationId xmlns:a16="http://schemas.microsoft.com/office/drawing/2014/main" id="{3B18D166-F88A-573E-0225-1ACB99CB2512}"/>
              </a:ext>
            </a:extLst>
          </p:cNvPr>
          <p:cNvSpPr/>
          <p:nvPr/>
        </p:nvSpPr>
        <p:spPr>
          <a:xfrm>
            <a:off x="4280836"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8" name="Matrix cell (2,2)">
            <a:extLst>
              <a:ext uri="{FF2B5EF4-FFF2-40B4-BE49-F238E27FC236}">
                <a16:creationId xmlns:a16="http://schemas.microsoft.com/office/drawing/2014/main" id="{FC858539-3EA9-E4FE-E803-0C8FFAD3870F}"/>
              </a:ext>
            </a:extLst>
          </p:cNvPr>
          <p:cNvSpPr/>
          <p:nvPr/>
        </p:nvSpPr>
        <p:spPr>
          <a:xfrm>
            <a:off x="4383671"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9" name="Matrix cell (2,3)">
            <a:extLst>
              <a:ext uri="{FF2B5EF4-FFF2-40B4-BE49-F238E27FC236}">
                <a16:creationId xmlns:a16="http://schemas.microsoft.com/office/drawing/2014/main" id="{3713326C-75C4-31D8-12F4-1CA18BF652D7}"/>
              </a:ext>
            </a:extLst>
          </p:cNvPr>
          <p:cNvSpPr/>
          <p:nvPr/>
        </p:nvSpPr>
        <p:spPr>
          <a:xfrm>
            <a:off x="4486506"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50" name="TextBox 12294">
            <a:extLst>
              <a:ext uri="{FF2B5EF4-FFF2-40B4-BE49-F238E27FC236}">
                <a16:creationId xmlns:a16="http://schemas.microsoft.com/office/drawing/2014/main" id="{E992C05A-634A-6CF2-2936-1480C4EA17F1}"/>
              </a:ext>
            </a:extLst>
          </p:cNvPr>
          <p:cNvSpPr txBox="1"/>
          <p:nvPr/>
        </p:nvSpPr>
        <p:spPr>
          <a:xfrm>
            <a:off x="4178002" y="4312989"/>
            <a:ext cx="411339" cy="82587"/>
          </a:xfrm>
          <a:prstGeom prst="rect">
            <a:avLst/>
          </a:prstGeom>
          <a:noFill/>
        </p:spPr>
        <p:txBody>
          <a:bodyPr wrap="square" lIns="0" tIns="0" rIns="0" bIns="0" anchor="ctr">
            <a:spAutoFit/>
          </a:bodyPr>
          <a:lstStyle/>
          <a:p>
            <a:pPr algn="ctr">
              <a:lnSpc>
                <a:spcPct val="105000"/>
              </a:lnSpc>
            </a:pPr>
            <a:r>
              <a:rPr sz="536">
                <a:solidFill>
                  <a:srgbClr val="263442"/>
                </a:solidFill>
                <a:latin typeface="Arial"/>
              </a:rPr>
              <a:t>J × K</a:t>
            </a:r>
          </a:p>
        </p:txBody>
      </p:sp>
      <p:grpSp>
        <p:nvGrpSpPr>
          <p:cNvPr id="751" name="组合 13795">
            <a:extLst>
              <a:ext uri="{FF2B5EF4-FFF2-40B4-BE49-F238E27FC236}">
                <a16:creationId xmlns:a16="http://schemas.microsoft.com/office/drawing/2014/main" id="{7EA912CF-516A-2745-A5D0-8704116A4D72}"/>
              </a:ext>
            </a:extLst>
          </p:cNvPr>
          <p:cNvGrpSpPr/>
          <p:nvPr/>
        </p:nvGrpSpPr>
        <p:grpSpPr>
          <a:xfrm>
            <a:off x="2067869" y="554865"/>
            <a:ext cx="1978883" cy="340209"/>
            <a:chOff x="6312668" y="2448732"/>
            <a:chExt cx="1215499" cy="343631"/>
          </a:xfrm>
        </p:grpSpPr>
        <p:pic>
          <p:nvPicPr>
            <p:cNvPr id="752" name="图片 12">
              <a:extLst>
                <a:ext uri="{FF2B5EF4-FFF2-40B4-BE49-F238E27FC236}">
                  <a16:creationId xmlns:a16="http://schemas.microsoft.com/office/drawing/2014/main" id="{521CB8EA-9697-F11D-7107-B4A42B988070}"/>
                </a:ext>
              </a:extLst>
            </p:cNvPr>
            <p:cNvPicPr>
              <a:picLocks/>
            </p:cNvPicPr>
            <p:nvPr/>
          </p:nvPicPr>
          <p:blipFill>
            <a:blip r:embed="rId5"/>
            <a:srcRect l="70243" t="-18171" b="-1"/>
            <a:stretch>
              <a:fillRect/>
            </a:stretch>
          </p:blipFill>
          <p:spPr>
            <a:xfrm>
              <a:off x="7112075" y="2448732"/>
              <a:ext cx="416092" cy="323855"/>
            </a:xfrm>
            <a:prstGeom prst="rect">
              <a:avLst/>
            </a:prstGeom>
          </p:spPr>
        </p:pic>
        <p:pic>
          <p:nvPicPr>
            <p:cNvPr id="753" name="图片 12">
              <a:extLst>
                <a:ext uri="{FF2B5EF4-FFF2-40B4-BE49-F238E27FC236}">
                  <a16:creationId xmlns:a16="http://schemas.microsoft.com/office/drawing/2014/main" id="{546466D8-C7C6-7C8A-3307-95F68FB4F610}"/>
                </a:ext>
              </a:extLst>
            </p:cNvPr>
            <p:cNvPicPr>
              <a:picLocks/>
            </p:cNvPicPr>
            <p:nvPr/>
          </p:nvPicPr>
          <p:blipFill>
            <a:blip r:embed="rId5"/>
            <a:srcRect r="70534" b="-8235"/>
            <a:stretch>
              <a:fillRect/>
            </a:stretch>
          </p:blipFill>
          <p:spPr>
            <a:xfrm>
              <a:off x="6312668" y="2495741"/>
              <a:ext cx="412024" cy="296622"/>
            </a:xfrm>
            <a:prstGeom prst="rect">
              <a:avLst/>
            </a:prstGeom>
          </p:spPr>
        </p:pic>
        <p:pic>
          <p:nvPicPr>
            <p:cNvPr id="754" name="Picture 10000" descr="unet_block_18.png">
              <a:extLst>
                <a:ext uri="{FF2B5EF4-FFF2-40B4-BE49-F238E27FC236}">
                  <a16:creationId xmlns:a16="http://schemas.microsoft.com/office/drawing/2014/main" id="{75A7694C-DEA5-AFE8-E284-0A0D89F845C1}"/>
                </a:ext>
              </a:extLst>
            </p:cNvPr>
            <p:cNvPicPr>
              <a:picLocks noChangeAspect="1"/>
            </p:cNvPicPr>
            <p:nvPr/>
          </p:nvPicPr>
          <p:blipFill>
            <a:blip r:embed="rId6"/>
            <a:stretch>
              <a:fillRect/>
            </a:stretch>
          </p:blipFill>
          <p:spPr>
            <a:xfrm>
              <a:off x="6776851" y="2645026"/>
              <a:ext cx="276863" cy="126566"/>
            </a:xfrm>
            <a:prstGeom prst="rect">
              <a:avLst/>
            </a:prstGeom>
          </p:spPr>
        </p:pic>
      </p:grpSp>
      <p:grpSp>
        <p:nvGrpSpPr>
          <p:cNvPr id="755" name="Find candidate blob 1">
            <a:extLst>
              <a:ext uri="{FF2B5EF4-FFF2-40B4-BE49-F238E27FC236}">
                <a16:creationId xmlns:a16="http://schemas.microsoft.com/office/drawing/2014/main" id="{3B821B97-56A6-DCED-E85F-DBF945F3EA13}"/>
              </a:ext>
            </a:extLst>
          </p:cNvPr>
          <p:cNvGrpSpPr/>
          <p:nvPr/>
        </p:nvGrpSpPr>
        <p:grpSpPr>
          <a:xfrm>
            <a:off x="4387530" y="1039644"/>
            <a:ext cx="163890" cy="111953"/>
            <a:chOff x="1928706" y="3559489"/>
            <a:chExt cx="227897" cy="155682"/>
          </a:xfrm>
        </p:grpSpPr>
        <p:sp>
          <p:nvSpPr>
            <p:cNvPr id="756" name="Candidate blob | editable contour">
              <a:extLst>
                <a:ext uri="{FF2B5EF4-FFF2-40B4-BE49-F238E27FC236}">
                  <a16:creationId xmlns:a16="http://schemas.microsoft.com/office/drawing/2014/main" id="{B3B117DA-D182-38E6-AD16-B4776AD2C7B7}"/>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57" name="ellipse_2612">
              <a:extLst>
                <a:ext uri="{FF2B5EF4-FFF2-40B4-BE49-F238E27FC236}">
                  <a16:creationId xmlns:a16="http://schemas.microsoft.com/office/drawing/2014/main" id="{901C6437-E94C-AFDE-D242-E688A89ABBD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58" name="Find candidate blob 2">
            <a:extLst>
              <a:ext uri="{FF2B5EF4-FFF2-40B4-BE49-F238E27FC236}">
                <a16:creationId xmlns:a16="http://schemas.microsoft.com/office/drawing/2014/main" id="{00C0C92B-D4C8-0994-E860-1581EB873D86}"/>
              </a:ext>
            </a:extLst>
          </p:cNvPr>
          <p:cNvGrpSpPr/>
          <p:nvPr/>
        </p:nvGrpSpPr>
        <p:grpSpPr>
          <a:xfrm>
            <a:off x="4382818" y="917369"/>
            <a:ext cx="168602" cy="95394"/>
            <a:chOff x="1928706" y="3559489"/>
            <a:chExt cx="227897" cy="155682"/>
          </a:xfrm>
        </p:grpSpPr>
        <p:sp>
          <p:nvSpPr>
            <p:cNvPr id="759" name="Candidate blob | editable contour">
              <a:extLst>
                <a:ext uri="{FF2B5EF4-FFF2-40B4-BE49-F238E27FC236}">
                  <a16:creationId xmlns:a16="http://schemas.microsoft.com/office/drawing/2014/main" id="{A172A8B3-EFA3-33C9-CD2B-307B24D7293D}"/>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0" name="ellipse_2612">
              <a:extLst>
                <a:ext uri="{FF2B5EF4-FFF2-40B4-BE49-F238E27FC236}">
                  <a16:creationId xmlns:a16="http://schemas.microsoft.com/office/drawing/2014/main" id="{CF37E813-914E-4383-9CE9-1C5F4095124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61" name="Find candidate blob 3">
            <a:extLst>
              <a:ext uri="{FF2B5EF4-FFF2-40B4-BE49-F238E27FC236}">
                <a16:creationId xmlns:a16="http://schemas.microsoft.com/office/drawing/2014/main" id="{D7299A48-8BF0-7050-EF56-14DA3F495CB7}"/>
              </a:ext>
            </a:extLst>
          </p:cNvPr>
          <p:cNvGrpSpPr/>
          <p:nvPr/>
        </p:nvGrpSpPr>
        <p:grpSpPr>
          <a:xfrm rot="364243">
            <a:off x="4589593" y="1028968"/>
            <a:ext cx="127658" cy="129194"/>
            <a:chOff x="1928706" y="3559489"/>
            <a:chExt cx="227897" cy="155682"/>
          </a:xfrm>
        </p:grpSpPr>
        <p:sp>
          <p:nvSpPr>
            <p:cNvPr id="762" name="Candidate blob | editable contour">
              <a:extLst>
                <a:ext uri="{FF2B5EF4-FFF2-40B4-BE49-F238E27FC236}">
                  <a16:creationId xmlns:a16="http://schemas.microsoft.com/office/drawing/2014/main" id="{8902F596-0D84-3C56-EB93-D63FC7E9041E}"/>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3" name="ellipse_2612">
              <a:extLst>
                <a:ext uri="{FF2B5EF4-FFF2-40B4-BE49-F238E27FC236}">
                  <a16:creationId xmlns:a16="http://schemas.microsoft.com/office/drawing/2014/main" id="{85D74281-2FE6-E2D2-EFBA-AF54A45686E3}"/>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765" name="Find auxiliary label">
            <a:extLst>
              <a:ext uri="{FF2B5EF4-FFF2-40B4-BE49-F238E27FC236}">
                <a16:creationId xmlns:a16="http://schemas.microsoft.com/office/drawing/2014/main" id="{CAD88599-B783-720B-B6BD-9F787FCB6CF4}"/>
              </a:ext>
            </a:extLst>
          </p:cNvPr>
          <p:cNvSpPr>
            <a:spLocks noGrp="1"/>
          </p:cNvSpPr>
          <p:nvPr/>
        </p:nvSpPr>
        <p:spPr>
          <a:xfrm>
            <a:off x="4345824" y="1518303"/>
            <a:ext cx="433362" cy="157954"/>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90" dirty="0">
                <a:solidFill>
                  <a:srgbClr val="263442"/>
                </a:solidFill>
                <a:latin typeface="Arial"/>
                <a:ea typeface="Arial"/>
                <a:cs typeface="Arial"/>
              </a:rPr>
              <a:t>Auxiliary</a:t>
            </a:r>
          </a:p>
          <a:p>
            <a:pPr algn="ctr">
              <a:defRPr sz="590" b="0">
                <a:solidFill>
                  <a:srgbClr val="263442"/>
                </a:solidFill>
                <a:latin typeface="Arial"/>
                <a:ea typeface="Arial"/>
                <a:cs typeface="Arial"/>
              </a:defRPr>
            </a:pPr>
            <a:r>
              <a:rPr sz="590" dirty="0">
                <a:solidFill>
                  <a:srgbClr val="263442"/>
                </a:solidFill>
                <a:latin typeface="Arial"/>
                <a:ea typeface="Arial"/>
                <a:cs typeface="Arial"/>
              </a:rPr>
              <a:t>features</a:t>
            </a:r>
          </a:p>
        </p:txBody>
      </p:sp>
      <p:sp>
        <p:nvSpPr>
          <p:cNvPr id="766" name="Match auxiliary label">
            <a:extLst>
              <a:ext uri="{FF2B5EF4-FFF2-40B4-BE49-F238E27FC236}">
                <a16:creationId xmlns:a16="http://schemas.microsoft.com/office/drawing/2014/main" id="{C154BF4F-4214-59BC-DCE1-F9C23194AC63}"/>
              </a:ext>
            </a:extLst>
          </p:cNvPr>
          <p:cNvSpPr>
            <a:spLocks noGrp="1"/>
          </p:cNvSpPr>
          <p:nvPr/>
        </p:nvSpPr>
        <p:spPr>
          <a:xfrm>
            <a:off x="1600039" y="2843177"/>
            <a:ext cx="405011" cy="174155"/>
          </a:xfrm>
          <a:prstGeom prst="rect">
            <a:avLst/>
          </a:prstGeom>
          <a:noFill/>
          <a:ln w="6885">
            <a:noFill/>
            <a:prstDash val="solid"/>
          </a:ln>
        </p:spPr>
        <p:txBody>
          <a:bodyPr lIns="0" tIns="0" rIns="0" bIns="0" anchor="ctr"/>
          <a:lstStyle>
            <a:defPPr algn="ctr">
              <a:defRPr sz="590" b="1">
                <a:solidFill>
                  <a:srgbClr val="263442"/>
                </a:solidFill>
                <a:latin typeface="Arial"/>
                <a:ea typeface="Arial"/>
                <a:cs typeface="Arial"/>
              </a:defRPr>
            </a:defPPr>
            <a:lvl1pPr algn="ctr">
              <a:defRPr sz="590" b="1">
                <a:solidFill>
                  <a:srgbClr val="263442"/>
                </a:solidFill>
                <a:latin typeface="Arial"/>
                <a:ea typeface="Arial"/>
                <a:cs typeface="Arial"/>
              </a:defRPr>
            </a:lvl1pPr>
            <a:lvl2pPr algn="ctr">
              <a:defRPr sz="590" b="1">
                <a:solidFill>
                  <a:srgbClr val="263442"/>
                </a:solidFill>
                <a:latin typeface="Arial"/>
                <a:ea typeface="Arial"/>
                <a:cs typeface="Arial"/>
              </a:defRPr>
            </a:lvl2pPr>
            <a:lvl3pPr algn="ctr">
              <a:defRPr sz="590" b="1">
                <a:solidFill>
                  <a:srgbClr val="263442"/>
                </a:solidFill>
                <a:latin typeface="Arial"/>
                <a:ea typeface="Arial"/>
                <a:cs typeface="Arial"/>
              </a:defRPr>
            </a:lvl3pPr>
            <a:lvl4pPr algn="ctr">
              <a:defRPr sz="590" b="1">
                <a:solidFill>
                  <a:srgbClr val="263442"/>
                </a:solidFill>
                <a:latin typeface="Arial"/>
                <a:ea typeface="Arial"/>
                <a:cs typeface="Arial"/>
              </a:defRPr>
            </a:lvl4pPr>
            <a:lvl5pPr algn="ctr">
              <a:defRPr sz="590" b="1">
                <a:solidFill>
                  <a:srgbClr val="263442"/>
                </a:solidFill>
                <a:latin typeface="Arial"/>
                <a:ea typeface="Arial"/>
                <a:cs typeface="Arial"/>
              </a:defRPr>
            </a:lvl5pPr>
            <a:lvl6pPr algn="ctr">
              <a:defRPr sz="590" b="1">
                <a:solidFill>
                  <a:srgbClr val="263442"/>
                </a:solidFill>
                <a:latin typeface="Arial"/>
                <a:ea typeface="Arial"/>
                <a:cs typeface="Arial"/>
              </a:defRPr>
            </a:lvl6pPr>
            <a:lvl7pPr algn="ctr">
              <a:defRPr sz="590" b="1">
                <a:solidFill>
                  <a:srgbClr val="263442"/>
                </a:solidFill>
                <a:latin typeface="Arial"/>
                <a:ea typeface="Arial"/>
                <a:cs typeface="Arial"/>
              </a:defRPr>
            </a:lvl7pPr>
            <a:lvl8pPr algn="ctr">
              <a:defRPr sz="590" b="1">
                <a:solidFill>
                  <a:srgbClr val="263442"/>
                </a:solidFill>
                <a:latin typeface="Arial"/>
                <a:ea typeface="Arial"/>
                <a:cs typeface="Arial"/>
              </a:defRPr>
            </a:lvl8pPr>
            <a:lvl9pPr algn="ctr">
              <a:defRPr sz="590" b="1">
                <a:solidFill>
                  <a:srgbClr val="263442"/>
                </a:solidFill>
                <a:latin typeface="Arial"/>
                <a:ea typeface="Arial"/>
                <a:cs typeface="Arial"/>
              </a:defRPr>
            </a:lvl9pPr>
          </a:lstStyle>
          <a:p>
            <a:pPr algn="ctr">
              <a:defRPr sz="590" b="1">
                <a:solidFill>
                  <a:srgbClr val="263442"/>
                </a:solidFill>
                <a:latin typeface="Arial"/>
                <a:ea typeface="Arial"/>
                <a:cs typeface="Arial"/>
              </a:defRPr>
            </a:pPr>
            <a:r>
              <a:rPr sz="590" b="0" dirty="0">
                <a:solidFill>
                  <a:srgbClr val="263442"/>
                </a:solidFill>
                <a:latin typeface="Arial"/>
                <a:ea typeface="Arial"/>
                <a:cs typeface="Arial"/>
              </a:rPr>
              <a:t>Auxiliary</a:t>
            </a:r>
          </a:p>
          <a:p>
            <a:pPr algn="ctr">
              <a:defRPr sz="590" b="1">
                <a:solidFill>
                  <a:srgbClr val="263442"/>
                </a:solidFill>
                <a:latin typeface="Arial"/>
                <a:ea typeface="Arial"/>
                <a:cs typeface="Arial"/>
              </a:defRPr>
            </a:pPr>
            <a:r>
              <a:rPr sz="590" b="0" dirty="0">
                <a:solidFill>
                  <a:srgbClr val="263442"/>
                </a:solidFill>
                <a:latin typeface="Arial"/>
                <a:ea typeface="Arial"/>
                <a:cs typeface="Arial"/>
              </a:rPr>
              <a:t>features</a:t>
            </a:r>
          </a:p>
        </p:txBody>
      </p:sp>
      <p:sp>
        <p:nvSpPr>
          <p:cNvPr id="767" name="Concat label">
            <a:extLst>
              <a:ext uri="{FF2B5EF4-FFF2-40B4-BE49-F238E27FC236}">
                <a16:creationId xmlns:a16="http://schemas.microsoft.com/office/drawing/2014/main" id="{9D20C35C-694E-CDD5-F90A-040BE36EEE21}"/>
              </a:ext>
            </a:extLst>
          </p:cNvPr>
          <p:cNvSpPr>
            <a:spLocks noGrp="1"/>
          </p:cNvSpPr>
          <p:nvPr/>
        </p:nvSpPr>
        <p:spPr>
          <a:xfrm>
            <a:off x="1202945" y="3608830"/>
            <a:ext cx="259207" cy="81002"/>
          </a:xfrm>
          <a:prstGeom prst="rect">
            <a:avLst/>
          </a:prstGeom>
          <a:noFill/>
          <a:ln w="6885">
            <a:noFill/>
            <a:prstDash val="solid"/>
          </a:ln>
        </p:spPr>
        <p:txBody>
          <a:bodyPr lIns="0" tIns="0" rIns="0" bIns="0" anchor="ctr"/>
          <a:lstStyle>
            <a:defPPr algn="ctr">
              <a:defRPr sz="568" b="0">
                <a:solidFill>
                  <a:srgbClr val="263442"/>
                </a:solidFill>
                <a:latin typeface="Arial"/>
                <a:ea typeface="Arial"/>
                <a:cs typeface="Arial"/>
              </a:defRPr>
            </a:defPPr>
            <a:lvl1pPr algn="ctr">
              <a:defRPr sz="568" b="0">
                <a:solidFill>
                  <a:srgbClr val="263442"/>
                </a:solidFill>
                <a:latin typeface="Arial"/>
                <a:ea typeface="Arial"/>
                <a:cs typeface="Arial"/>
              </a:defRPr>
            </a:lvl1pPr>
            <a:lvl2pPr algn="ctr">
              <a:defRPr sz="568" b="0">
                <a:solidFill>
                  <a:srgbClr val="263442"/>
                </a:solidFill>
                <a:latin typeface="Arial"/>
                <a:ea typeface="Arial"/>
                <a:cs typeface="Arial"/>
              </a:defRPr>
            </a:lvl2pPr>
            <a:lvl3pPr algn="ctr">
              <a:defRPr sz="568" b="0">
                <a:solidFill>
                  <a:srgbClr val="263442"/>
                </a:solidFill>
                <a:latin typeface="Arial"/>
                <a:ea typeface="Arial"/>
                <a:cs typeface="Arial"/>
              </a:defRPr>
            </a:lvl3pPr>
            <a:lvl4pPr algn="ctr">
              <a:defRPr sz="568" b="0">
                <a:solidFill>
                  <a:srgbClr val="263442"/>
                </a:solidFill>
                <a:latin typeface="Arial"/>
                <a:ea typeface="Arial"/>
                <a:cs typeface="Arial"/>
              </a:defRPr>
            </a:lvl4pPr>
            <a:lvl5pPr algn="ctr">
              <a:defRPr sz="568" b="0">
                <a:solidFill>
                  <a:srgbClr val="263442"/>
                </a:solidFill>
                <a:latin typeface="Arial"/>
                <a:ea typeface="Arial"/>
                <a:cs typeface="Arial"/>
              </a:defRPr>
            </a:lvl5pPr>
            <a:lvl6pPr algn="ctr">
              <a:defRPr sz="568" b="0">
                <a:solidFill>
                  <a:srgbClr val="263442"/>
                </a:solidFill>
                <a:latin typeface="Arial"/>
                <a:ea typeface="Arial"/>
                <a:cs typeface="Arial"/>
              </a:defRPr>
            </a:lvl6pPr>
            <a:lvl7pPr algn="ctr">
              <a:defRPr sz="568" b="0">
                <a:solidFill>
                  <a:srgbClr val="263442"/>
                </a:solidFill>
                <a:latin typeface="Arial"/>
                <a:ea typeface="Arial"/>
                <a:cs typeface="Arial"/>
              </a:defRPr>
            </a:lvl7pPr>
            <a:lvl8pPr algn="ctr">
              <a:defRPr sz="568" b="0">
                <a:solidFill>
                  <a:srgbClr val="263442"/>
                </a:solidFill>
                <a:latin typeface="Arial"/>
                <a:ea typeface="Arial"/>
                <a:cs typeface="Arial"/>
              </a:defRPr>
            </a:lvl8pPr>
            <a:lvl9pPr algn="ctr">
              <a:defRPr sz="568" b="0">
                <a:solidFill>
                  <a:srgbClr val="263442"/>
                </a:solidFill>
                <a:latin typeface="Arial"/>
                <a:ea typeface="Arial"/>
                <a:cs typeface="Arial"/>
              </a:defRPr>
            </a:lvl9pPr>
          </a:lstStyle>
          <a:p>
            <a:pPr algn="ctr">
              <a:defRPr sz="568" b="0">
                <a:solidFill>
                  <a:srgbClr val="263442"/>
                </a:solidFill>
                <a:latin typeface="Arial"/>
                <a:ea typeface="Arial"/>
                <a:cs typeface="Arial"/>
              </a:defRPr>
            </a:pPr>
            <a:r>
              <a:rPr sz="568" dirty="0" err="1">
                <a:solidFill>
                  <a:srgbClr val="263442"/>
                </a:solidFill>
                <a:latin typeface="Arial"/>
                <a:ea typeface="Arial"/>
                <a:cs typeface="Arial"/>
              </a:rPr>
              <a:t>Concat</a:t>
            </a:r>
            <a:endParaRPr sz="568" dirty="0">
              <a:solidFill>
                <a:srgbClr val="263442"/>
              </a:solidFill>
              <a:latin typeface="Arial"/>
              <a:ea typeface="Arial"/>
              <a:cs typeface="Arial"/>
            </a:endParaRPr>
          </a:p>
        </p:txBody>
      </p:sp>
      <p:grpSp>
        <p:nvGrpSpPr>
          <p:cNvPr id="1248" name="Unified flow and feature elements">
            <a:extLst>
              <a:ext uri="{FF2B5EF4-FFF2-40B4-BE49-F238E27FC236}">
                <a16:creationId xmlns:a16="http://schemas.microsoft.com/office/drawing/2014/main" id="{DA74696D-FF4F-021F-A459-9CD0851351CF}"/>
              </a:ext>
            </a:extLst>
          </p:cNvPr>
          <p:cNvGrpSpPr/>
          <p:nvPr/>
        </p:nvGrpSpPr>
        <p:grpSpPr>
          <a:xfrm>
            <a:off x="966222" y="284723"/>
            <a:ext cx="3748525" cy="3967446"/>
            <a:chOff x="2272349" y="669608"/>
            <a:chExt cx="8815739" cy="9330594"/>
          </a:xfrm>
        </p:grpSpPr>
        <p:sp>
          <p:nvSpPr>
            <p:cNvPr id="1249" name="Preprocessing refined">
              <a:extLst>
                <a:ext uri="{FF2B5EF4-FFF2-40B4-BE49-F238E27FC236}">
                  <a16:creationId xmlns:a16="http://schemas.microsoft.com/office/drawing/2014/main" id="{A3A31885-181B-CF24-BE30-3ED8DAACE460}"/>
                </a:ext>
              </a:extLst>
            </p:cNvPr>
            <p:cNvSpPr>
              <a:spLocks noGrp="1"/>
            </p:cNvSpPr>
            <p:nvPr/>
          </p:nvSpPr>
          <p:spPr>
            <a:xfrm>
              <a:off x="3192811" y="669608"/>
              <a:ext cx="1028701" cy="3460433"/>
            </a:xfrm>
            <a:prstGeom prst="roundRect">
              <a:avLst>
                <a:gd name="adj" fmla="val 6481"/>
              </a:avLst>
            </a:prstGeom>
            <a:solidFill>
              <a:srgbClr val="E8EFF7"/>
            </a:solidFill>
            <a:ln w="7290">
              <a:solidFill>
                <a:srgbClr val="C4D1E1"/>
              </a:solidFill>
            </a:ln>
          </p:spPr>
        </p:sp>
        <p:sp>
          <p:nvSpPr>
            <p:cNvPr id="1250" name="Preprocessing divider refined">
              <a:extLst>
                <a:ext uri="{FF2B5EF4-FFF2-40B4-BE49-F238E27FC236}">
                  <a16:creationId xmlns:a16="http://schemas.microsoft.com/office/drawing/2014/main" id="{E21BD2F9-92DD-96F0-3AAF-0957638A49FB}"/>
                </a:ext>
              </a:extLst>
            </p:cNvPr>
            <p:cNvSpPr>
              <a:spLocks noGrp="1"/>
            </p:cNvSpPr>
            <p:nvPr/>
          </p:nvSpPr>
          <p:spPr>
            <a:xfrm>
              <a:off x="3269449" y="2418363"/>
              <a:ext cx="800100" cy="190"/>
            </a:xfrm>
            <a:custGeom>
              <a:avLst/>
              <a:gdLst/>
              <a:ahLst/>
              <a:cxnLst/>
              <a:rect l="0" t="0" r="0" b="0"/>
              <a:pathLst>
                <a:path w="800100" h="191">
                  <a:moveTo>
                    <a:pt x="0" y="0"/>
                  </a:moveTo>
                  <a:lnTo>
                    <a:pt x="800100" y="0"/>
                  </a:lnTo>
                </a:path>
              </a:pathLst>
            </a:custGeom>
            <a:noFill/>
            <a:ln w="6075">
              <a:solidFill>
                <a:srgbClr val="C4D1E1"/>
              </a:solidFill>
              <a:prstDash val="solid"/>
            </a:ln>
          </p:spPr>
        </p:sp>
        <p:sp>
          <p:nvSpPr>
            <p:cNvPr id="1251" name="Density bank refined">
              <a:extLst>
                <a:ext uri="{FF2B5EF4-FFF2-40B4-BE49-F238E27FC236}">
                  <a16:creationId xmlns:a16="http://schemas.microsoft.com/office/drawing/2014/main" id="{1E51E71A-A2BC-0776-E4CA-D30FBB1BE241}"/>
                </a:ext>
              </a:extLst>
            </p:cNvPr>
            <p:cNvSpPr>
              <a:spLocks noGrp="1"/>
            </p:cNvSpPr>
            <p:nvPr/>
          </p:nvSpPr>
          <p:spPr>
            <a:xfrm>
              <a:off x="3230999" y="695478"/>
              <a:ext cx="990599" cy="457199"/>
            </a:xfrm>
            <a:prstGeom prst="rect">
              <a:avLst/>
            </a:prstGeom>
            <a:noFill/>
            <a:ln w="7290">
              <a:noFill/>
            </a:ln>
          </p:spPr>
          <p:txBody>
            <a:bodyPr lIns="0" tIns="0" rIns="0" bIns="0" anchor="ctr"/>
            <a:lstStyle>
              <a:defPPr algn="ctr">
                <a:defRPr sz="612">
                  <a:solidFill>
                    <a:srgbClr val="263442"/>
                  </a:solidFill>
                  <a:latin typeface="Arial"/>
                  <a:ea typeface="Arial"/>
                  <a:cs typeface="Arial"/>
                </a:defRPr>
              </a:defPPr>
              <a:lvl1pPr algn="ctr">
                <a:defRPr sz="612">
                  <a:solidFill>
                    <a:srgbClr val="263442"/>
                  </a:solidFill>
                  <a:latin typeface="Arial"/>
                  <a:ea typeface="Arial"/>
                  <a:cs typeface="Arial"/>
                </a:defRPr>
              </a:lvl1pPr>
              <a:lvl2pPr algn="ctr">
                <a:defRPr sz="612">
                  <a:solidFill>
                    <a:srgbClr val="263442"/>
                  </a:solidFill>
                  <a:latin typeface="Arial"/>
                  <a:ea typeface="Arial"/>
                  <a:cs typeface="Arial"/>
                </a:defRPr>
              </a:lvl2pPr>
              <a:lvl3pPr algn="ctr">
                <a:defRPr sz="612">
                  <a:solidFill>
                    <a:srgbClr val="263442"/>
                  </a:solidFill>
                  <a:latin typeface="Arial"/>
                  <a:ea typeface="Arial"/>
                  <a:cs typeface="Arial"/>
                </a:defRPr>
              </a:lvl3pPr>
              <a:lvl4pPr algn="ctr">
                <a:defRPr sz="612">
                  <a:solidFill>
                    <a:srgbClr val="263442"/>
                  </a:solidFill>
                  <a:latin typeface="Arial"/>
                  <a:ea typeface="Arial"/>
                  <a:cs typeface="Arial"/>
                </a:defRPr>
              </a:lvl4pPr>
              <a:lvl5pPr algn="ctr">
                <a:defRPr sz="612">
                  <a:solidFill>
                    <a:srgbClr val="263442"/>
                  </a:solidFill>
                  <a:latin typeface="Arial"/>
                  <a:ea typeface="Arial"/>
                  <a:cs typeface="Arial"/>
                </a:defRPr>
              </a:lvl5pPr>
              <a:lvl6pPr algn="ctr">
                <a:defRPr sz="612">
                  <a:solidFill>
                    <a:srgbClr val="263442"/>
                  </a:solidFill>
                  <a:latin typeface="Arial"/>
                  <a:ea typeface="Arial"/>
                  <a:cs typeface="Arial"/>
                </a:defRPr>
              </a:lvl6pPr>
              <a:lvl7pPr algn="ctr">
                <a:defRPr sz="612">
                  <a:solidFill>
                    <a:srgbClr val="263442"/>
                  </a:solidFill>
                  <a:latin typeface="Arial"/>
                  <a:ea typeface="Arial"/>
                  <a:cs typeface="Arial"/>
                </a:defRPr>
              </a:lvl7pPr>
              <a:lvl8pPr algn="ctr">
                <a:defRPr sz="612">
                  <a:solidFill>
                    <a:srgbClr val="263442"/>
                  </a:solidFill>
                  <a:latin typeface="Arial"/>
                  <a:ea typeface="Arial"/>
                  <a:cs typeface="Arial"/>
                </a:defRPr>
              </a:lvl8pPr>
              <a:lvl9pPr algn="ctr">
                <a:defRPr sz="612">
                  <a:solidFill>
                    <a:srgbClr val="263442"/>
                  </a:solidFill>
                  <a:latin typeface="Arial"/>
                  <a:ea typeface="Arial"/>
                  <a:cs typeface="Arial"/>
                </a:defRPr>
              </a:lvl9pPr>
            </a:lstStyle>
            <a:p>
              <a:pPr algn="ctr">
                <a:defRPr sz="612">
                  <a:solidFill>
                    <a:srgbClr val="263442"/>
                  </a:solidFill>
                  <a:latin typeface="Arial"/>
                  <a:ea typeface="Arial"/>
                  <a:cs typeface="Arial"/>
                </a:defRPr>
              </a:pPr>
              <a:r>
                <a:rPr sz="550" dirty="0">
                  <a:solidFill>
                    <a:srgbClr val="263442"/>
                  </a:solidFill>
                  <a:latin typeface="Arial"/>
                  <a:ea typeface="Arial"/>
                  <a:cs typeface="Arial"/>
                </a:rPr>
                <a:t>Density</a:t>
              </a:r>
            </a:p>
            <a:p>
              <a:pPr algn="ctr">
                <a:defRPr sz="612">
                  <a:solidFill>
                    <a:srgbClr val="263442"/>
                  </a:solidFill>
                  <a:latin typeface="Arial"/>
                  <a:ea typeface="Arial"/>
                  <a:cs typeface="Arial"/>
                </a:defRPr>
              </a:pPr>
              <a:r>
                <a:rPr lang="en-US" sz="550" dirty="0">
                  <a:solidFill>
                    <a:srgbClr val="263442"/>
                  </a:solidFill>
                  <a:latin typeface="Arial"/>
                  <a:ea typeface="Arial"/>
                  <a:cs typeface="Arial"/>
                </a:rPr>
                <a:t>B</a:t>
              </a:r>
              <a:r>
                <a:rPr sz="550" dirty="0">
                  <a:solidFill>
                    <a:srgbClr val="263442"/>
                  </a:solidFill>
                  <a:latin typeface="Arial"/>
                  <a:ea typeface="Arial"/>
                  <a:cs typeface="Arial"/>
                </a:rPr>
                <a:t>ank</a:t>
              </a:r>
            </a:p>
          </p:txBody>
        </p:sp>
        <p:sp>
          <p:nvSpPr>
            <p:cNvPr id="1252" name="Embedding head refined">
              <a:extLst>
                <a:ext uri="{FF2B5EF4-FFF2-40B4-BE49-F238E27FC236}">
                  <a16:creationId xmlns:a16="http://schemas.microsoft.com/office/drawing/2014/main" id="{58C61B38-F8DB-1F98-DEE4-C9D7130E2730}"/>
                </a:ext>
              </a:extLst>
            </p:cNvPr>
            <p:cNvSpPr>
              <a:spLocks noGrp="1"/>
            </p:cNvSpPr>
            <p:nvPr/>
          </p:nvSpPr>
          <p:spPr>
            <a:xfrm>
              <a:off x="3192663" y="2542570"/>
              <a:ext cx="990599" cy="457199"/>
            </a:xfrm>
            <a:prstGeom prst="rect">
              <a:avLst/>
            </a:prstGeom>
            <a:noFill/>
            <a:ln w="7290">
              <a:noFill/>
            </a:ln>
          </p:spPr>
          <p:txBody>
            <a:bodyPr lIns="0" tIns="0" rIns="0" bIns="0" anchor="ctr"/>
            <a:lstStyle>
              <a:defPPr algn="ctr">
                <a:defRPr sz="612">
                  <a:solidFill>
                    <a:srgbClr val="263442"/>
                  </a:solidFill>
                  <a:latin typeface="Arial"/>
                  <a:ea typeface="Arial"/>
                  <a:cs typeface="Arial"/>
                </a:defRPr>
              </a:defPPr>
              <a:lvl1pPr algn="ctr">
                <a:defRPr sz="612">
                  <a:solidFill>
                    <a:srgbClr val="263442"/>
                  </a:solidFill>
                  <a:latin typeface="Arial"/>
                  <a:ea typeface="Arial"/>
                  <a:cs typeface="Arial"/>
                </a:defRPr>
              </a:lvl1pPr>
              <a:lvl2pPr algn="ctr">
                <a:defRPr sz="612">
                  <a:solidFill>
                    <a:srgbClr val="263442"/>
                  </a:solidFill>
                  <a:latin typeface="Arial"/>
                  <a:ea typeface="Arial"/>
                  <a:cs typeface="Arial"/>
                </a:defRPr>
              </a:lvl2pPr>
              <a:lvl3pPr algn="ctr">
                <a:defRPr sz="612">
                  <a:solidFill>
                    <a:srgbClr val="263442"/>
                  </a:solidFill>
                  <a:latin typeface="Arial"/>
                  <a:ea typeface="Arial"/>
                  <a:cs typeface="Arial"/>
                </a:defRPr>
              </a:lvl3pPr>
              <a:lvl4pPr algn="ctr">
                <a:defRPr sz="612">
                  <a:solidFill>
                    <a:srgbClr val="263442"/>
                  </a:solidFill>
                  <a:latin typeface="Arial"/>
                  <a:ea typeface="Arial"/>
                  <a:cs typeface="Arial"/>
                </a:defRPr>
              </a:lvl4pPr>
              <a:lvl5pPr algn="ctr">
                <a:defRPr sz="612">
                  <a:solidFill>
                    <a:srgbClr val="263442"/>
                  </a:solidFill>
                  <a:latin typeface="Arial"/>
                  <a:ea typeface="Arial"/>
                  <a:cs typeface="Arial"/>
                </a:defRPr>
              </a:lvl5pPr>
              <a:lvl6pPr algn="ctr">
                <a:defRPr sz="612">
                  <a:solidFill>
                    <a:srgbClr val="263442"/>
                  </a:solidFill>
                  <a:latin typeface="Arial"/>
                  <a:ea typeface="Arial"/>
                  <a:cs typeface="Arial"/>
                </a:defRPr>
              </a:lvl6pPr>
              <a:lvl7pPr algn="ctr">
                <a:defRPr sz="612">
                  <a:solidFill>
                    <a:srgbClr val="263442"/>
                  </a:solidFill>
                  <a:latin typeface="Arial"/>
                  <a:ea typeface="Arial"/>
                  <a:cs typeface="Arial"/>
                </a:defRPr>
              </a:lvl7pPr>
              <a:lvl8pPr algn="ctr">
                <a:defRPr sz="612">
                  <a:solidFill>
                    <a:srgbClr val="263442"/>
                  </a:solidFill>
                  <a:latin typeface="Arial"/>
                  <a:ea typeface="Arial"/>
                  <a:cs typeface="Arial"/>
                </a:defRPr>
              </a:lvl8pPr>
              <a:lvl9pPr algn="ctr">
                <a:defRPr sz="612">
                  <a:solidFill>
                    <a:srgbClr val="263442"/>
                  </a:solidFill>
                  <a:latin typeface="Arial"/>
                  <a:ea typeface="Arial"/>
                  <a:cs typeface="Arial"/>
                </a:defRPr>
              </a:lvl9pPr>
            </a:lstStyle>
            <a:p>
              <a:pPr algn="ctr">
                <a:defRPr sz="612">
                  <a:solidFill>
                    <a:srgbClr val="263442"/>
                  </a:solidFill>
                  <a:latin typeface="Arial"/>
                  <a:ea typeface="Arial"/>
                  <a:cs typeface="Arial"/>
                </a:defRPr>
              </a:pPr>
              <a:r>
                <a:rPr lang="en-US" sz="550" dirty="0">
                  <a:solidFill>
                    <a:srgbClr val="263442"/>
                  </a:solidFill>
                  <a:latin typeface="Arial"/>
                  <a:ea typeface="Arial"/>
                  <a:cs typeface="Arial"/>
                </a:rPr>
                <a:t>Atom embeddings</a:t>
              </a:r>
              <a:endParaRPr sz="550" dirty="0">
                <a:solidFill>
                  <a:srgbClr val="263442"/>
                </a:solidFill>
                <a:latin typeface="Arial"/>
                <a:ea typeface="Arial"/>
                <a:cs typeface="Arial"/>
              </a:endParaRPr>
            </a:p>
          </p:txBody>
        </p:sp>
        <p:sp>
          <p:nvSpPr>
            <p:cNvPr id="1253" name="Find matrix 0-0">
              <a:extLst>
                <a:ext uri="{FF2B5EF4-FFF2-40B4-BE49-F238E27FC236}">
                  <a16:creationId xmlns:a16="http://schemas.microsoft.com/office/drawing/2014/main" id="{BBF0C328-3AF9-A068-FA92-FBF890856A66}"/>
                </a:ext>
              </a:extLst>
            </p:cNvPr>
            <p:cNvSpPr>
              <a:spLocks noGrp="1"/>
            </p:cNvSpPr>
            <p:nvPr/>
          </p:nvSpPr>
          <p:spPr>
            <a:xfrm>
              <a:off x="10325612" y="3200400"/>
              <a:ext cx="91559" cy="70009"/>
            </a:xfrm>
            <a:prstGeom prst="rect">
              <a:avLst/>
            </a:prstGeom>
            <a:solidFill>
              <a:srgbClr val="3E8F9A"/>
            </a:solidFill>
            <a:ln w="7290">
              <a:noFill/>
            </a:ln>
          </p:spPr>
        </p:sp>
        <p:sp>
          <p:nvSpPr>
            <p:cNvPr id="1254" name="Find matrix 0-1">
              <a:extLst>
                <a:ext uri="{FF2B5EF4-FFF2-40B4-BE49-F238E27FC236}">
                  <a16:creationId xmlns:a16="http://schemas.microsoft.com/office/drawing/2014/main" id="{3474DD36-B24E-DC42-848D-72CE3DEC2274}"/>
                </a:ext>
              </a:extLst>
            </p:cNvPr>
            <p:cNvSpPr>
              <a:spLocks noGrp="1"/>
            </p:cNvSpPr>
            <p:nvPr/>
          </p:nvSpPr>
          <p:spPr>
            <a:xfrm>
              <a:off x="10421457" y="3200400"/>
              <a:ext cx="91559" cy="70009"/>
            </a:xfrm>
            <a:prstGeom prst="rect">
              <a:avLst/>
            </a:prstGeom>
            <a:solidFill>
              <a:srgbClr val="5B9FB6"/>
            </a:solidFill>
            <a:ln w="7290">
              <a:noFill/>
            </a:ln>
          </p:spPr>
        </p:sp>
        <p:sp>
          <p:nvSpPr>
            <p:cNvPr id="1255" name="Find matrix 0-2">
              <a:extLst>
                <a:ext uri="{FF2B5EF4-FFF2-40B4-BE49-F238E27FC236}">
                  <a16:creationId xmlns:a16="http://schemas.microsoft.com/office/drawing/2014/main" id="{F807BDD1-EE13-F00C-2E77-C8910F6ACC73}"/>
                </a:ext>
              </a:extLst>
            </p:cNvPr>
            <p:cNvSpPr>
              <a:spLocks noGrp="1"/>
            </p:cNvSpPr>
            <p:nvPr/>
          </p:nvSpPr>
          <p:spPr>
            <a:xfrm>
              <a:off x="10517302" y="3200400"/>
              <a:ext cx="91559" cy="70009"/>
            </a:xfrm>
            <a:prstGeom prst="rect">
              <a:avLst/>
            </a:prstGeom>
            <a:solidFill>
              <a:srgbClr val="A3CDDA"/>
            </a:solidFill>
            <a:ln w="7290">
              <a:noFill/>
            </a:ln>
          </p:spPr>
        </p:sp>
        <p:sp>
          <p:nvSpPr>
            <p:cNvPr id="1256" name="Find matrix 0-3">
              <a:extLst>
                <a:ext uri="{FF2B5EF4-FFF2-40B4-BE49-F238E27FC236}">
                  <a16:creationId xmlns:a16="http://schemas.microsoft.com/office/drawing/2014/main" id="{DB1A890F-778A-35C9-7AE1-C0AE618D52CF}"/>
                </a:ext>
              </a:extLst>
            </p:cNvPr>
            <p:cNvSpPr>
              <a:spLocks noGrp="1"/>
            </p:cNvSpPr>
            <p:nvPr/>
          </p:nvSpPr>
          <p:spPr>
            <a:xfrm>
              <a:off x="10613147" y="3200400"/>
              <a:ext cx="91559" cy="70009"/>
            </a:xfrm>
            <a:prstGeom prst="rect">
              <a:avLst/>
            </a:prstGeom>
            <a:solidFill>
              <a:srgbClr val="88BEC3"/>
            </a:solidFill>
            <a:ln w="7290">
              <a:noFill/>
            </a:ln>
          </p:spPr>
        </p:sp>
        <p:sp>
          <p:nvSpPr>
            <p:cNvPr id="1257" name="Find matrix 0-4">
              <a:extLst>
                <a:ext uri="{FF2B5EF4-FFF2-40B4-BE49-F238E27FC236}">
                  <a16:creationId xmlns:a16="http://schemas.microsoft.com/office/drawing/2014/main" id="{B445D6B3-6FC7-4615-5975-85730846D82F}"/>
                </a:ext>
              </a:extLst>
            </p:cNvPr>
            <p:cNvSpPr>
              <a:spLocks noGrp="1"/>
            </p:cNvSpPr>
            <p:nvPr/>
          </p:nvSpPr>
          <p:spPr>
            <a:xfrm>
              <a:off x="10708993" y="3200400"/>
              <a:ext cx="91559" cy="70009"/>
            </a:xfrm>
            <a:prstGeom prst="rect">
              <a:avLst/>
            </a:prstGeom>
            <a:solidFill>
              <a:srgbClr val="67AD9F"/>
            </a:solidFill>
            <a:ln w="7290">
              <a:noFill/>
            </a:ln>
          </p:spPr>
        </p:sp>
        <p:sp>
          <p:nvSpPr>
            <p:cNvPr id="1258" name="Find matrix 0-5">
              <a:extLst>
                <a:ext uri="{FF2B5EF4-FFF2-40B4-BE49-F238E27FC236}">
                  <a16:creationId xmlns:a16="http://schemas.microsoft.com/office/drawing/2014/main" id="{EDF77049-6933-CA1B-21BD-2D261FB460F5}"/>
                </a:ext>
              </a:extLst>
            </p:cNvPr>
            <p:cNvSpPr>
              <a:spLocks noGrp="1"/>
            </p:cNvSpPr>
            <p:nvPr/>
          </p:nvSpPr>
          <p:spPr>
            <a:xfrm>
              <a:off x="10804838" y="3200400"/>
              <a:ext cx="91559" cy="70009"/>
            </a:xfrm>
            <a:prstGeom prst="rect">
              <a:avLst/>
            </a:prstGeom>
            <a:solidFill>
              <a:srgbClr val="C4DDE0"/>
            </a:solidFill>
            <a:ln w="7290">
              <a:noFill/>
            </a:ln>
          </p:spPr>
        </p:sp>
        <p:sp>
          <p:nvSpPr>
            <p:cNvPr id="1259" name="Find matrix 0-6">
              <a:extLst>
                <a:ext uri="{FF2B5EF4-FFF2-40B4-BE49-F238E27FC236}">
                  <a16:creationId xmlns:a16="http://schemas.microsoft.com/office/drawing/2014/main" id="{F24780FB-09E3-AE39-557B-018C817CABA7}"/>
                </a:ext>
              </a:extLst>
            </p:cNvPr>
            <p:cNvSpPr>
              <a:spLocks noGrp="1"/>
            </p:cNvSpPr>
            <p:nvPr/>
          </p:nvSpPr>
          <p:spPr>
            <a:xfrm>
              <a:off x="10900683" y="3200400"/>
              <a:ext cx="91559" cy="70009"/>
            </a:xfrm>
            <a:prstGeom prst="rect">
              <a:avLst/>
            </a:prstGeom>
            <a:solidFill>
              <a:srgbClr val="B6D8CC"/>
            </a:solidFill>
            <a:ln w="7290">
              <a:noFill/>
            </a:ln>
          </p:spPr>
        </p:sp>
        <p:sp>
          <p:nvSpPr>
            <p:cNvPr id="1260" name="Find matrix 0-7">
              <a:extLst>
                <a:ext uri="{FF2B5EF4-FFF2-40B4-BE49-F238E27FC236}">
                  <a16:creationId xmlns:a16="http://schemas.microsoft.com/office/drawing/2014/main" id="{69791062-44B8-8426-AAD4-DD68B1FF31BA}"/>
                </a:ext>
              </a:extLst>
            </p:cNvPr>
            <p:cNvSpPr>
              <a:spLocks noGrp="1"/>
            </p:cNvSpPr>
            <p:nvPr/>
          </p:nvSpPr>
          <p:spPr>
            <a:xfrm>
              <a:off x="10996529" y="3200400"/>
              <a:ext cx="91559" cy="70009"/>
            </a:xfrm>
            <a:prstGeom prst="rect">
              <a:avLst/>
            </a:prstGeom>
            <a:solidFill>
              <a:srgbClr val="D6E5ED"/>
            </a:solidFill>
            <a:ln w="7290">
              <a:noFill/>
            </a:ln>
          </p:spPr>
        </p:sp>
        <p:sp>
          <p:nvSpPr>
            <p:cNvPr id="1261" name="Find matrix 1-0">
              <a:extLst>
                <a:ext uri="{FF2B5EF4-FFF2-40B4-BE49-F238E27FC236}">
                  <a16:creationId xmlns:a16="http://schemas.microsoft.com/office/drawing/2014/main" id="{DAD773D5-9108-C0B7-81D5-AC1CF98B49B0}"/>
                </a:ext>
              </a:extLst>
            </p:cNvPr>
            <p:cNvSpPr>
              <a:spLocks noGrp="1"/>
            </p:cNvSpPr>
            <p:nvPr/>
          </p:nvSpPr>
          <p:spPr>
            <a:xfrm>
              <a:off x="10325612" y="3274695"/>
              <a:ext cx="91559" cy="70009"/>
            </a:xfrm>
            <a:prstGeom prst="rect">
              <a:avLst/>
            </a:prstGeom>
            <a:solidFill>
              <a:srgbClr val="A3CDDA"/>
            </a:solidFill>
            <a:ln w="7290">
              <a:noFill/>
            </a:ln>
          </p:spPr>
        </p:sp>
        <p:sp>
          <p:nvSpPr>
            <p:cNvPr id="1262" name="Find matrix 1-1">
              <a:extLst>
                <a:ext uri="{FF2B5EF4-FFF2-40B4-BE49-F238E27FC236}">
                  <a16:creationId xmlns:a16="http://schemas.microsoft.com/office/drawing/2014/main" id="{FD6D65E0-3CD4-81C9-A7EC-EE4D1EA03DA1}"/>
                </a:ext>
              </a:extLst>
            </p:cNvPr>
            <p:cNvSpPr>
              <a:spLocks noGrp="1"/>
            </p:cNvSpPr>
            <p:nvPr/>
          </p:nvSpPr>
          <p:spPr>
            <a:xfrm>
              <a:off x="10421457" y="3274695"/>
              <a:ext cx="91559" cy="70009"/>
            </a:xfrm>
            <a:prstGeom prst="rect">
              <a:avLst/>
            </a:prstGeom>
            <a:solidFill>
              <a:srgbClr val="B6D8CC"/>
            </a:solidFill>
            <a:ln w="7290">
              <a:noFill/>
            </a:ln>
          </p:spPr>
        </p:sp>
        <p:sp>
          <p:nvSpPr>
            <p:cNvPr id="1263" name="Find matrix 1-2">
              <a:extLst>
                <a:ext uri="{FF2B5EF4-FFF2-40B4-BE49-F238E27FC236}">
                  <a16:creationId xmlns:a16="http://schemas.microsoft.com/office/drawing/2014/main" id="{C06E5EF8-D1B9-1DB5-4010-25CDECE16DF3}"/>
                </a:ext>
              </a:extLst>
            </p:cNvPr>
            <p:cNvSpPr>
              <a:spLocks noGrp="1"/>
            </p:cNvSpPr>
            <p:nvPr/>
          </p:nvSpPr>
          <p:spPr>
            <a:xfrm>
              <a:off x="10517302" y="3274695"/>
              <a:ext cx="91559" cy="70009"/>
            </a:xfrm>
            <a:prstGeom prst="rect">
              <a:avLst/>
            </a:prstGeom>
            <a:solidFill>
              <a:srgbClr val="88BEC3"/>
            </a:solidFill>
            <a:ln w="7290">
              <a:noFill/>
            </a:ln>
          </p:spPr>
        </p:sp>
        <p:sp>
          <p:nvSpPr>
            <p:cNvPr id="1264" name="Find matrix 1-3">
              <a:extLst>
                <a:ext uri="{FF2B5EF4-FFF2-40B4-BE49-F238E27FC236}">
                  <a16:creationId xmlns:a16="http://schemas.microsoft.com/office/drawing/2014/main" id="{9AD5706A-D366-481E-242D-C3727EE68292}"/>
                </a:ext>
              </a:extLst>
            </p:cNvPr>
            <p:cNvSpPr>
              <a:spLocks noGrp="1"/>
            </p:cNvSpPr>
            <p:nvPr/>
          </p:nvSpPr>
          <p:spPr>
            <a:xfrm>
              <a:off x="10613147" y="3274695"/>
              <a:ext cx="91559" cy="70009"/>
            </a:xfrm>
            <a:prstGeom prst="rect">
              <a:avLst/>
            </a:prstGeom>
            <a:solidFill>
              <a:srgbClr val="D6E5ED"/>
            </a:solidFill>
            <a:ln w="7290">
              <a:noFill/>
            </a:ln>
          </p:spPr>
        </p:sp>
        <p:sp>
          <p:nvSpPr>
            <p:cNvPr id="1265" name="Find matrix 1-4">
              <a:extLst>
                <a:ext uri="{FF2B5EF4-FFF2-40B4-BE49-F238E27FC236}">
                  <a16:creationId xmlns:a16="http://schemas.microsoft.com/office/drawing/2014/main" id="{6454B603-2435-1F3E-EFE1-9F3ED69FE183}"/>
                </a:ext>
              </a:extLst>
            </p:cNvPr>
            <p:cNvSpPr>
              <a:spLocks noGrp="1"/>
            </p:cNvSpPr>
            <p:nvPr/>
          </p:nvSpPr>
          <p:spPr>
            <a:xfrm>
              <a:off x="10708993" y="3274695"/>
              <a:ext cx="91559" cy="70009"/>
            </a:xfrm>
            <a:prstGeom prst="rect">
              <a:avLst/>
            </a:prstGeom>
            <a:solidFill>
              <a:srgbClr val="5B9FB6"/>
            </a:solidFill>
            <a:ln w="7290">
              <a:noFill/>
            </a:ln>
          </p:spPr>
        </p:sp>
        <p:sp>
          <p:nvSpPr>
            <p:cNvPr id="1266" name="Find matrix 1-5">
              <a:extLst>
                <a:ext uri="{FF2B5EF4-FFF2-40B4-BE49-F238E27FC236}">
                  <a16:creationId xmlns:a16="http://schemas.microsoft.com/office/drawing/2014/main" id="{BDC3058F-5BB6-EF0A-C0E4-8FFF478A86C2}"/>
                </a:ext>
              </a:extLst>
            </p:cNvPr>
            <p:cNvSpPr>
              <a:spLocks noGrp="1"/>
            </p:cNvSpPr>
            <p:nvPr/>
          </p:nvSpPr>
          <p:spPr>
            <a:xfrm>
              <a:off x="10804838" y="3274695"/>
              <a:ext cx="91559" cy="70009"/>
            </a:xfrm>
            <a:prstGeom prst="rect">
              <a:avLst/>
            </a:prstGeom>
            <a:solidFill>
              <a:srgbClr val="3E8F9A"/>
            </a:solidFill>
            <a:ln w="7290">
              <a:noFill/>
            </a:ln>
          </p:spPr>
        </p:sp>
        <p:sp>
          <p:nvSpPr>
            <p:cNvPr id="1267" name="Find matrix 1-6">
              <a:extLst>
                <a:ext uri="{FF2B5EF4-FFF2-40B4-BE49-F238E27FC236}">
                  <a16:creationId xmlns:a16="http://schemas.microsoft.com/office/drawing/2014/main" id="{7A6FD57F-2D4A-E860-6015-70841E18A307}"/>
                </a:ext>
              </a:extLst>
            </p:cNvPr>
            <p:cNvSpPr>
              <a:spLocks noGrp="1"/>
            </p:cNvSpPr>
            <p:nvPr/>
          </p:nvSpPr>
          <p:spPr>
            <a:xfrm>
              <a:off x="10900683" y="3274695"/>
              <a:ext cx="91559" cy="70009"/>
            </a:xfrm>
            <a:prstGeom prst="rect">
              <a:avLst/>
            </a:prstGeom>
            <a:solidFill>
              <a:srgbClr val="C4DDE0"/>
            </a:solidFill>
            <a:ln w="7290">
              <a:noFill/>
            </a:ln>
          </p:spPr>
        </p:sp>
        <p:sp>
          <p:nvSpPr>
            <p:cNvPr id="1268" name="Find matrix 1-7">
              <a:extLst>
                <a:ext uri="{FF2B5EF4-FFF2-40B4-BE49-F238E27FC236}">
                  <a16:creationId xmlns:a16="http://schemas.microsoft.com/office/drawing/2014/main" id="{289EF4F7-DDB6-5545-39F7-5D1B3F86D2D3}"/>
                </a:ext>
              </a:extLst>
            </p:cNvPr>
            <p:cNvSpPr>
              <a:spLocks noGrp="1"/>
            </p:cNvSpPr>
            <p:nvPr/>
          </p:nvSpPr>
          <p:spPr>
            <a:xfrm>
              <a:off x="10996529" y="3274695"/>
              <a:ext cx="91559" cy="70009"/>
            </a:xfrm>
            <a:prstGeom prst="rect">
              <a:avLst/>
            </a:prstGeom>
            <a:solidFill>
              <a:srgbClr val="67AD9F"/>
            </a:solidFill>
            <a:ln w="7290">
              <a:noFill/>
            </a:ln>
          </p:spPr>
        </p:sp>
        <p:sp>
          <p:nvSpPr>
            <p:cNvPr id="1269" name="Find matrix 2-0">
              <a:extLst>
                <a:ext uri="{FF2B5EF4-FFF2-40B4-BE49-F238E27FC236}">
                  <a16:creationId xmlns:a16="http://schemas.microsoft.com/office/drawing/2014/main" id="{B1282592-D5D6-9C68-2D42-3D2A0FA6458C}"/>
                </a:ext>
              </a:extLst>
            </p:cNvPr>
            <p:cNvSpPr>
              <a:spLocks noGrp="1"/>
            </p:cNvSpPr>
            <p:nvPr/>
          </p:nvSpPr>
          <p:spPr>
            <a:xfrm>
              <a:off x="10325612" y="3348990"/>
              <a:ext cx="91559" cy="70009"/>
            </a:xfrm>
            <a:prstGeom prst="rect">
              <a:avLst/>
            </a:prstGeom>
            <a:solidFill>
              <a:srgbClr val="67AD9F"/>
            </a:solidFill>
            <a:ln w="7290">
              <a:noFill/>
            </a:ln>
          </p:spPr>
        </p:sp>
        <p:sp>
          <p:nvSpPr>
            <p:cNvPr id="1270" name="Find matrix 2-1">
              <a:extLst>
                <a:ext uri="{FF2B5EF4-FFF2-40B4-BE49-F238E27FC236}">
                  <a16:creationId xmlns:a16="http://schemas.microsoft.com/office/drawing/2014/main" id="{390A8337-4744-F454-87FF-4E9BDE799C1D}"/>
                </a:ext>
              </a:extLst>
            </p:cNvPr>
            <p:cNvSpPr>
              <a:spLocks noGrp="1"/>
            </p:cNvSpPr>
            <p:nvPr/>
          </p:nvSpPr>
          <p:spPr>
            <a:xfrm>
              <a:off x="10421457" y="3348990"/>
              <a:ext cx="91559" cy="70009"/>
            </a:xfrm>
            <a:prstGeom prst="rect">
              <a:avLst/>
            </a:prstGeom>
            <a:solidFill>
              <a:srgbClr val="C4DDE0"/>
            </a:solidFill>
            <a:ln w="7290">
              <a:noFill/>
            </a:ln>
          </p:spPr>
        </p:sp>
        <p:sp>
          <p:nvSpPr>
            <p:cNvPr id="1271" name="Find matrix 2-2">
              <a:extLst>
                <a:ext uri="{FF2B5EF4-FFF2-40B4-BE49-F238E27FC236}">
                  <a16:creationId xmlns:a16="http://schemas.microsoft.com/office/drawing/2014/main" id="{F2F7291B-E14D-7E55-CC39-0366DDE36AB6}"/>
                </a:ext>
              </a:extLst>
            </p:cNvPr>
            <p:cNvSpPr>
              <a:spLocks noGrp="1"/>
            </p:cNvSpPr>
            <p:nvPr/>
          </p:nvSpPr>
          <p:spPr>
            <a:xfrm>
              <a:off x="10517302" y="3348990"/>
              <a:ext cx="91559" cy="70009"/>
            </a:xfrm>
            <a:prstGeom prst="rect">
              <a:avLst/>
            </a:prstGeom>
            <a:solidFill>
              <a:srgbClr val="5B9FB6"/>
            </a:solidFill>
            <a:ln w="7290">
              <a:noFill/>
            </a:ln>
          </p:spPr>
        </p:sp>
        <p:sp>
          <p:nvSpPr>
            <p:cNvPr id="1272" name="Find matrix 2-3">
              <a:extLst>
                <a:ext uri="{FF2B5EF4-FFF2-40B4-BE49-F238E27FC236}">
                  <a16:creationId xmlns:a16="http://schemas.microsoft.com/office/drawing/2014/main" id="{7DDB5DDB-AA90-B36F-ECCA-B3D87BDEF49C}"/>
                </a:ext>
              </a:extLst>
            </p:cNvPr>
            <p:cNvSpPr>
              <a:spLocks noGrp="1"/>
            </p:cNvSpPr>
            <p:nvPr/>
          </p:nvSpPr>
          <p:spPr>
            <a:xfrm>
              <a:off x="10613147" y="3348990"/>
              <a:ext cx="91559" cy="70009"/>
            </a:xfrm>
            <a:prstGeom prst="rect">
              <a:avLst/>
            </a:prstGeom>
            <a:solidFill>
              <a:srgbClr val="B6D8CC"/>
            </a:solidFill>
            <a:ln w="7290">
              <a:noFill/>
            </a:ln>
          </p:spPr>
        </p:sp>
        <p:sp>
          <p:nvSpPr>
            <p:cNvPr id="1273" name="Find matrix 2-4">
              <a:extLst>
                <a:ext uri="{FF2B5EF4-FFF2-40B4-BE49-F238E27FC236}">
                  <a16:creationId xmlns:a16="http://schemas.microsoft.com/office/drawing/2014/main" id="{FBF483EB-0895-E2F9-E946-2CE7B0273010}"/>
                </a:ext>
              </a:extLst>
            </p:cNvPr>
            <p:cNvSpPr>
              <a:spLocks noGrp="1"/>
            </p:cNvSpPr>
            <p:nvPr/>
          </p:nvSpPr>
          <p:spPr>
            <a:xfrm>
              <a:off x="10708993" y="3348990"/>
              <a:ext cx="91559" cy="70009"/>
            </a:xfrm>
            <a:prstGeom prst="rect">
              <a:avLst/>
            </a:prstGeom>
            <a:solidFill>
              <a:srgbClr val="3E8F9A"/>
            </a:solidFill>
            <a:ln w="7290">
              <a:noFill/>
            </a:ln>
          </p:spPr>
        </p:sp>
        <p:sp>
          <p:nvSpPr>
            <p:cNvPr id="1274" name="Find matrix 2-5">
              <a:extLst>
                <a:ext uri="{FF2B5EF4-FFF2-40B4-BE49-F238E27FC236}">
                  <a16:creationId xmlns:a16="http://schemas.microsoft.com/office/drawing/2014/main" id="{235264C0-29EF-D9B8-F0D1-9BEBBAD9D6E8}"/>
                </a:ext>
              </a:extLst>
            </p:cNvPr>
            <p:cNvSpPr>
              <a:spLocks noGrp="1"/>
            </p:cNvSpPr>
            <p:nvPr/>
          </p:nvSpPr>
          <p:spPr>
            <a:xfrm>
              <a:off x="10804838" y="3348990"/>
              <a:ext cx="91559" cy="70009"/>
            </a:xfrm>
            <a:prstGeom prst="rect">
              <a:avLst/>
            </a:prstGeom>
            <a:solidFill>
              <a:srgbClr val="D6E5ED"/>
            </a:solidFill>
            <a:ln w="7290">
              <a:noFill/>
            </a:ln>
          </p:spPr>
        </p:sp>
        <p:sp>
          <p:nvSpPr>
            <p:cNvPr id="1275" name="Find matrix 2-6">
              <a:extLst>
                <a:ext uri="{FF2B5EF4-FFF2-40B4-BE49-F238E27FC236}">
                  <a16:creationId xmlns:a16="http://schemas.microsoft.com/office/drawing/2014/main" id="{89BB4142-622C-474C-899B-E7C760EA5054}"/>
                </a:ext>
              </a:extLst>
            </p:cNvPr>
            <p:cNvSpPr>
              <a:spLocks noGrp="1"/>
            </p:cNvSpPr>
            <p:nvPr/>
          </p:nvSpPr>
          <p:spPr>
            <a:xfrm>
              <a:off x="10900683" y="3348990"/>
              <a:ext cx="91559" cy="70009"/>
            </a:xfrm>
            <a:prstGeom prst="rect">
              <a:avLst/>
            </a:prstGeom>
            <a:solidFill>
              <a:srgbClr val="88BEC3"/>
            </a:solidFill>
            <a:ln w="7290">
              <a:noFill/>
            </a:ln>
          </p:spPr>
        </p:sp>
        <p:sp>
          <p:nvSpPr>
            <p:cNvPr id="1276" name="Find matrix 2-7">
              <a:extLst>
                <a:ext uri="{FF2B5EF4-FFF2-40B4-BE49-F238E27FC236}">
                  <a16:creationId xmlns:a16="http://schemas.microsoft.com/office/drawing/2014/main" id="{6D2284D9-4AE6-02DD-AA99-C88ED825A8F4}"/>
                </a:ext>
              </a:extLst>
            </p:cNvPr>
            <p:cNvSpPr>
              <a:spLocks noGrp="1"/>
            </p:cNvSpPr>
            <p:nvPr/>
          </p:nvSpPr>
          <p:spPr>
            <a:xfrm>
              <a:off x="10996529" y="3348990"/>
              <a:ext cx="91559" cy="70009"/>
            </a:xfrm>
            <a:prstGeom prst="rect">
              <a:avLst/>
            </a:prstGeom>
            <a:solidFill>
              <a:srgbClr val="A3CDDA"/>
            </a:solidFill>
            <a:ln w="7290">
              <a:noFill/>
            </a:ln>
          </p:spPr>
        </p:sp>
        <p:sp>
          <p:nvSpPr>
            <p:cNvPr id="1277" name="Find matrix 3-0">
              <a:extLst>
                <a:ext uri="{FF2B5EF4-FFF2-40B4-BE49-F238E27FC236}">
                  <a16:creationId xmlns:a16="http://schemas.microsoft.com/office/drawing/2014/main" id="{A354350A-00E7-4344-FF84-5BBF2165CEDA}"/>
                </a:ext>
              </a:extLst>
            </p:cNvPr>
            <p:cNvSpPr>
              <a:spLocks noGrp="1"/>
            </p:cNvSpPr>
            <p:nvPr/>
          </p:nvSpPr>
          <p:spPr>
            <a:xfrm>
              <a:off x="10325612" y="3423285"/>
              <a:ext cx="91559" cy="70009"/>
            </a:xfrm>
            <a:prstGeom prst="rect">
              <a:avLst/>
            </a:prstGeom>
            <a:solidFill>
              <a:srgbClr val="88BEC3"/>
            </a:solidFill>
            <a:ln w="7290">
              <a:noFill/>
            </a:ln>
          </p:spPr>
        </p:sp>
        <p:sp>
          <p:nvSpPr>
            <p:cNvPr id="1278" name="Find matrix 3-1">
              <a:extLst>
                <a:ext uri="{FF2B5EF4-FFF2-40B4-BE49-F238E27FC236}">
                  <a16:creationId xmlns:a16="http://schemas.microsoft.com/office/drawing/2014/main" id="{E2EDFAC2-C5CD-2DF8-165C-4DBC9D98B449}"/>
                </a:ext>
              </a:extLst>
            </p:cNvPr>
            <p:cNvSpPr>
              <a:spLocks noGrp="1"/>
            </p:cNvSpPr>
            <p:nvPr/>
          </p:nvSpPr>
          <p:spPr>
            <a:xfrm>
              <a:off x="10421457" y="3423285"/>
              <a:ext cx="91559" cy="70009"/>
            </a:xfrm>
            <a:prstGeom prst="rect">
              <a:avLst/>
            </a:prstGeom>
            <a:solidFill>
              <a:srgbClr val="D6E5ED"/>
            </a:solidFill>
            <a:ln w="7290">
              <a:noFill/>
            </a:ln>
          </p:spPr>
        </p:sp>
        <p:sp>
          <p:nvSpPr>
            <p:cNvPr id="1279" name="Find matrix 3-2">
              <a:extLst>
                <a:ext uri="{FF2B5EF4-FFF2-40B4-BE49-F238E27FC236}">
                  <a16:creationId xmlns:a16="http://schemas.microsoft.com/office/drawing/2014/main" id="{4D088869-EB59-E1B3-59B4-C3C92C8170BA}"/>
                </a:ext>
              </a:extLst>
            </p:cNvPr>
            <p:cNvSpPr>
              <a:spLocks noGrp="1"/>
            </p:cNvSpPr>
            <p:nvPr/>
          </p:nvSpPr>
          <p:spPr>
            <a:xfrm>
              <a:off x="10517302" y="3423285"/>
              <a:ext cx="91559" cy="70009"/>
            </a:xfrm>
            <a:prstGeom prst="rect">
              <a:avLst/>
            </a:prstGeom>
            <a:solidFill>
              <a:srgbClr val="67AD9F"/>
            </a:solidFill>
            <a:ln w="7290">
              <a:noFill/>
            </a:ln>
          </p:spPr>
        </p:sp>
        <p:sp>
          <p:nvSpPr>
            <p:cNvPr id="1280" name="Find matrix 3-3">
              <a:extLst>
                <a:ext uri="{FF2B5EF4-FFF2-40B4-BE49-F238E27FC236}">
                  <a16:creationId xmlns:a16="http://schemas.microsoft.com/office/drawing/2014/main" id="{119CBCB9-6860-7DCC-AF73-C422647EEF23}"/>
                </a:ext>
              </a:extLst>
            </p:cNvPr>
            <p:cNvSpPr>
              <a:spLocks noGrp="1"/>
            </p:cNvSpPr>
            <p:nvPr/>
          </p:nvSpPr>
          <p:spPr>
            <a:xfrm>
              <a:off x="10613147" y="3423285"/>
              <a:ext cx="91559" cy="70009"/>
            </a:xfrm>
            <a:prstGeom prst="rect">
              <a:avLst/>
            </a:prstGeom>
            <a:solidFill>
              <a:srgbClr val="3E8F9A"/>
            </a:solidFill>
            <a:ln w="7290">
              <a:noFill/>
            </a:ln>
          </p:spPr>
        </p:sp>
        <p:sp>
          <p:nvSpPr>
            <p:cNvPr id="1281" name="Find matrix 3-4">
              <a:extLst>
                <a:ext uri="{FF2B5EF4-FFF2-40B4-BE49-F238E27FC236}">
                  <a16:creationId xmlns:a16="http://schemas.microsoft.com/office/drawing/2014/main" id="{F0ED964A-EDEB-7D43-69F8-BEFE576D1277}"/>
                </a:ext>
              </a:extLst>
            </p:cNvPr>
            <p:cNvSpPr>
              <a:spLocks noGrp="1"/>
            </p:cNvSpPr>
            <p:nvPr/>
          </p:nvSpPr>
          <p:spPr>
            <a:xfrm>
              <a:off x="10708993" y="3423285"/>
              <a:ext cx="91559" cy="70009"/>
            </a:xfrm>
            <a:prstGeom prst="rect">
              <a:avLst/>
            </a:prstGeom>
            <a:solidFill>
              <a:srgbClr val="C4DDE0"/>
            </a:solidFill>
            <a:ln w="7290">
              <a:noFill/>
            </a:ln>
          </p:spPr>
        </p:sp>
        <p:sp>
          <p:nvSpPr>
            <p:cNvPr id="1282" name="Find matrix 3-5">
              <a:extLst>
                <a:ext uri="{FF2B5EF4-FFF2-40B4-BE49-F238E27FC236}">
                  <a16:creationId xmlns:a16="http://schemas.microsoft.com/office/drawing/2014/main" id="{A0A2A64A-E67D-3395-0409-F2703179F7EC}"/>
                </a:ext>
              </a:extLst>
            </p:cNvPr>
            <p:cNvSpPr>
              <a:spLocks noGrp="1"/>
            </p:cNvSpPr>
            <p:nvPr/>
          </p:nvSpPr>
          <p:spPr>
            <a:xfrm>
              <a:off x="10804838" y="3423285"/>
              <a:ext cx="91559" cy="70009"/>
            </a:xfrm>
            <a:prstGeom prst="rect">
              <a:avLst/>
            </a:prstGeom>
            <a:solidFill>
              <a:srgbClr val="A3CDDA"/>
            </a:solidFill>
            <a:ln w="7290">
              <a:noFill/>
            </a:ln>
          </p:spPr>
        </p:sp>
        <p:sp>
          <p:nvSpPr>
            <p:cNvPr id="1283" name="Find matrix 3-6">
              <a:extLst>
                <a:ext uri="{FF2B5EF4-FFF2-40B4-BE49-F238E27FC236}">
                  <a16:creationId xmlns:a16="http://schemas.microsoft.com/office/drawing/2014/main" id="{EA7CE8E7-C1AC-E261-A970-8EC80886D558}"/>
                </a:ext>
              </a:extLst>
            </p:cNvPr>
            <p:cNvSpPr>
              <a:spLocks noGrp="1"/>
            </p:cNvSpPr>
            <p:nvPr/>
          </p:nvSpPr>
          <p:spPr>
            <a:xfrm>
              <a:off x="10900683" y="3423285"/>
              <a:ext cx="91559" cy="70009"/>
            </a:xfrm>
            <a:prstGeom prst="rect">
              <a:avLst/>
            </a:prstGeom>
            <a:solidFill>
              <a:srgbClr val="B6D8CC"/>
            </a:solidFill>
            <a:ln w="7290">
              <a:noFill/>
            </a:ln>
          </p:spPr>
        </p:sp>
        <p:sp>
          <p:nvSpPr>
            <p:cNvPr id="1284" name="Find matrix 3-7">
              <a:extLst>
                <a:ext uri="{FF2B5EF4-FFF2-40B4-BE49-F238E27FC236}">
                  <a16:creationId xmlns:a16="http://schemas.microsoft.com/office/drawing/2014/main" id="{3CC5802F-96A8-F327-8DCD-5C642BB94DCE}"/>
                </a:ext>
              </a:extLst>
            </p:cNvPr>
            <p:cNvSpPr>
              <a:spLocks noGrp="1"/>
            </p:cNvSpPr>
            <p:nvPr/>
          </p:nvSpPr>
          <p:spPr>
            <a:xfrm>
              <a:off x="10996529" y="3423285"/>
              <a:ext cx="91559" cy="70009"/>
            </a:xfrm>
            <a:prstGeom prst="rect">
              <a:avLst/>
            </a:prstGeom>
            <a:solidFill>
              <a:srgbClr val="5B9FB6"/>
            </a:solidFill>
            <a:ln w="7290">
              <a:noFill/>
            </a:ln>
          </p:spPr>
        </p:sp>
        <p:sp>
          <p:nvSpPr>
            <p:cNvPr id="1285" name="Match matrix 0-0">
              <a:extLst>
                <a:ext uri="{FF2B5EF4-FFF2-40B4-BE49-F238E27FC236}">
                  <a16:creationId xmlns:a16="http://schemas.microsoft.com/office/drawing/2014/main" id="{1E148E3C-F1D3-F47F-36C6-42E1C579FB78}"/>
                </a:ext>
              </a:extLst>
            </p:cNvPr>
            <p:cNvSpPr>
              <a:spLocks noGrp="1"/>
            </p:cNvSpPr>
            <p:nvPr/>
          </p:nvSpPr>
          <p:spPr>
            <a:xfrm>
              <a:off x="3860262" y="7252039"/>
              <a:ext cx="88583" cy="70009"/>
            </a:xfrm>
            <a:prstGeom prst="rect">
              <a:avLst/>
            </a:prstGeom>
            <a:solidFill>
              <a:srgbClr val="3E8F9A"/>
            </a:solidFill>
            <a:ln w="7290">
              <a:noFill/>
            </a:ln>
          </p:spPr>
        </p:sp>
        <p:sp>
          <p:nvSpPr>
            <p:cNvPr id="1286" name="Match matrix 0-1">
              <a:extLst>
                <a:ext uri="{FF2B5EF4-FFF2-40B4-BE49-F238E27FC236}">
                  <a16:creationId xmlns:a16="http://schemas.microsoft.com/office/drawing/2014/main" id="{6CE95E95-35B4-AAA3-E629-B7804854BFD1}"/>
                </a:ext>
              </a:extLst>
            </p:cNvPr>
            <p:cNvSpPr>
              <a:spLocks noGrp="1"/>
            </p:cNvSpPr>
            <p:nvPr/>
          </p:nvSpPr>
          <p:spPr>
            <a:xfrm>
              <a:off x="3953131" y="7252039"/>
              <a:ext cx="88583" cy="70009"/>
            </a:xfrm>
            <a:prstGeom prst="rect">
              <a:avLst/>
            </a:prstGeom>
            <a:solidFill>
              <a:srgbClr val="5B9FB6"/>
            </a:solidFill>
            <a:ln w="7290">
              <a:noFill/>
            </a:ln>
          </p:spPr>
        </p:sp>
        <p:sp>
          <p:nvSpPr>
            <p:cNvPr id="1287" name="Match matrix 0-2">
              <a:extLst>
                <a:ext uri="{FF2B5EF4-FFF2-40B4-BE49-F238E27FC236}">
                  <a16:creationId xmlns:a16="http://schemas.microsoft.com/office/drawing/2014/main" id="{7AA444A0-2B6A-4C23-EFFA-BB0D0814FEA4}"/>
                </a:ext>
              </a:extLst>
            </p:cNvPr>
            <p:cNvSpPr>
              <a:spLocks noGrp="1"/>
            </p:cNvSpPr>
            <p:nvPr/>
          </p:nvSpPr>
          <p:spPr>
            <a:xfrm>
              <a:off x="4046000" y="7252039"/>
              <a:ext cx="88583" cy="70009"/>
            </a:xfrm>
            <a:prstGeom prst="rect">
              <a:avLst/>
            </a:prstGeom>
            <a:solidFill>
              <a:srgbClr val="A3CDDA"/>
            </a:solidFill>
            <a:ln w="7290">
              <a:noFill/>
            </a:ln>
          </p:spPr>
        </p:sp>
        <p:sp>
          <p:nvSpPr>
            <p:cNvPr id="1288" name="Match matrix 0-3">
              <a:extLst>
                <a:ext uri="{FF2B5EF4-FFF2-40B4-BE49-F238E27FC236}">
                  <a16:creationId xmlns:a16="http://schemas.microsoft.com/office/drawing/2014/main" id="{FA614244-906C-CFFC-1294-6D233D01CB35}"/>
                </a:ext>
              </a:extLst>
            </p:cNvPr>
            <p:cNvSpPr>
              <a:spLocks noGrp="1"/>
            </p:cNvSpPr>
            <p:nvPr/>
          </p:nvSpPr>
          <p:spPr>
            <a:xfrm>
              <a:off x="4138868" y="7252039"/>
              <a:ext cx="88583" cy="70009"/>
            </a:xfrm>
            <a:prstGeom prst="rect">
              <a:avLst/>
            </a:prstGeom>
            <a:solidFill>
              <a:srgbClr val="88BEC3"/>
            </a:solidFill>
            <a:ln w="7290">
              <a:noFill/>
            </a:ln>
          </p:spPr>
        </p:sp>
        <p:sp>
          <p:nvSpPr>
            <p:cNvPr id="1289" name="Match matrix 0-4">
              <a:extLst>
                <a:ext uri="{FF2B5EF4-FFF2-40B4-BE49-F238E27FC236}">
                  <a16:creationId xmlns:a16="http://schemas.microsoft.com/office/drawing/2014/main" id="{EE4A1296-1DD3-454F-610D-2BDEB1D0EFA9}"/>
                </a:ext>
              </a:extLst>
            </p:cNvPr>
            <p:cNvSpPr>
              <a:spLocks noGrp="1"/>
            </p:cNvSpPr>
            <p:nvPr/>
          </p:nvSpPr>
          <p:spPr>
            <a:xfrm>
              <a:off x="4231737" y="7252039"/>
              <a:ext cx="88583" cy="70009"/>
            </a:xfrm>
            <a:prstGeom prst="rect">
              <a:avLst/>
            </a:prstGeom>
            <a:solidFill>
              <a:srgbClr val="67AD9F"/>
            </a:solidFill>
            <a:ln w="7290">
              <a:noFill/>
            </a:ln>
          </p:spPr>
        </p:sp>
        <p:sp>
          <p:nvSpPr>
            <p:cNvPr id="1290" name="Match matrix 0-5">
              <a:extLst>
                <a:ext uri="{FF2B5EF4-FFF2-40B4-BE49-F238E27FC236}">
                  <a16:creationId xmlns:a16="http://schemas.microsoft.com/office/drawing/2014/main" id="{A27DCA6A-D9A0-89D2-300F-145A0353541B}"/>
                </a:ext>
              </a:extLst>
            </p:cNvPr>
            <p:cNvSpPr>
              <a:spLocks noGrp="1"/>
            </p:cNvSpPr>
            <p:nvPr/>
          </p:nvSpPr>
          <p:spPr>
            <a:xfrm>
              <a:off x="4324606" y="7252039"/>
              <a:ext cx="88583" cy="70009"/>
            </a:xfrm>
            <a:prstGeom prst="rect">
              <a:avLst/>
            </a:prstGeom>
            <a:solidFill>
              <a:srgbClr val="C4DDE0"/>
            </a:solidFill>
            <a:ln w="7290">
              <a:noFill/>
            </a:ln>
          </p:spPr>
        </p:sp>
        <p:sp>
          <p:nvSpPr>
            <p:cNvPr id="1291" name="Match matrix 0-6">
              <a:extLst>
                <a:ext uri="{FF2B5EF4-FFF2-40B4-BE49-F238E27FC236}">
                  <a16:creationId xmlns:a16="http://schemas.microsoft.com/office/drawing/2014/main" id="{110481AC-0BB3-A98A-15F4-6DA00B6462E6}"/>
                </a:ext>
              </a:extLst>
            </p:cNvPr>
            <p:cNvSpPr>
              <a:spLocks noGrp="1"/>
            </p:cNvSpPr>
            <p:nvPr/>
          </p:nvSpPr>
          <p:spPr>
            <a:xfrm>
              <a:off x="4417475" y="7252039"/>
              <a:ext cx="88583" cy="70009"/>
            </a:xfrm>
            <a:prstGeom prst="rect">
              <a:avLst/>
            </a:prstGeom>
            <a:solidFill>
              <a:srgbClr val="B6D8CC"/>
            </a:solidFill>
            <a:ln w="7290">
              <a:noFill/>
            </a:ln>
          </p:spPr>
        </p:sp>
        <p:sp>
          <p:nvSpPr>
            <p:cNvPr id="1292" name="Match matrix 0-7">
              <a:extLst>
                <a:ext uri="{FF2B5EF4-FFF2-40B4-BE49-F238E27FC236}">
                  <a16:creationId xmlns:a16="http://schemas.microsoft.com/office/drawing/2014/main" id="{CA0FE5FF-20F8-A515-1575-D2B579C6A384}"/>
                </a:ext>
              </a:extLst>
            </p:cNvPr>
            <p:cNvSpPr>
              <a:spLocks noGrp="1"/>
            </p:cNvSpPr>
            <p:nvPr/>
          </p:nvSpPr>
          <p:spPr>
            <a:xfrm>
              <a:off x="4510343" y="7252039"/>
              <a:ext cx="88583" cy="70009"/>
            </a:xfrm>
            <a:prstGeom prst="rect">
              <a:avLst/>
            </a:prstGeom>
            <a:solidFill>
              <a:srgbClr val="D6E5ED"/>
            </a:solidFill>
            <a:ln w="7290">
              <a:noFill/>
            </a:ln>
          </p:spPr>
        </p:sp>
        <p:sp>
          <p:nvSpPr>
            <p:cNvPr id="1293" name="Match matrix 1-0">
              <a:extLst>
                <a:ext uri="{FF2B5EF4-FFF2-40B4-BE49-F238E27FC236}">
                  <a16:creationId xmlns:a16="http://schemas.microsoft.com/office/drawing/2014/main" id="{62DD97DC-E1EF-3AC8-77C6-31E750CF1688}"/>
                </a:ext>
              </a:extLst>
            </p:cNvPr>
            <p:cNvSpPr>
              <a:spLocks noGrp="1"/>
            </p:cNvSpPr>
            <p:nvPr/>
          </p:nvSpPr>
          <p:spPr>
            <a:xfrm>
              <a:off x="3860262" y="7326334"/>
              <a:ext cx="88583" cy="70009"/>
            </a:xfrm>
            <a:prstGeom prst="rect">
              <a:avLst/>
            </a:prstGeom>
            <a:solidFill>
              <a:srgbClr val="A3CDDA"/>
            </a:solidFill>
            <a:ln w="7290">
              <a:noFill/>
            </a:ln>
          </p:spPr>
        </p:sp>
        <p:sp>
          <p:nvSpPr>
            <p:cNvPr id="1294" name="Match matrix 1-1">
              <a:extLst>
                <a:ext uri="{FF2B5EF4-FFF2-40B4-BE49-F238E27FC236}">
                  <a16:creationId xmlns:a16="http://schemas.microsoft.com/office/drawing/2014/main" id="{B545DCC8-F9BD-6322-3BD3-A195D0A92FFB}"/>
                </a:ext>
              </a:extLst>
            </p:cNvPr>
            <p:cNvSpPr>
              <a:spLocks noGrp="1"/>
            </p:cNvSpPr>
            <p:nvPr/>
          </p:nvSpPr>
          <p:spPr>
            <a:xfrm>
              <a:off x="3953131" y="7326334"/>
              <a:ext cx="88583" cy="70009"/>
            </a:xfrm>
            <a:prstGeom prst="rect">
              <a:avLst/>
            </a:prstGeom>
            <a:solidFill>
              <a:srgbClr val="B6D8CC"/>
            </a:solidFill>
            <a:ln w="7290">
              <a:noFill/>
            </a:ln>
          </p:spPr>
        </p:sp>
        <p:sp>
          <p:nvSpPr>
            <p:cNvPr id="1295" name="Match matrix 1-2">
              <a:extLst>
                <a:ext uri="{FF2B5EF4-FFF2-40B4-BE49-F238E27FC236}">
                  <a16:creationId xmlns:a16="http://schemas.microsoft.com/office/drawing/2014/main" id="{CA362456-65E1-995A-0618-99CCC4184C18}"/>
                </a:ext>
              </a:extLst>
            </p:cNvPr>
            <p:cNvSpPr>
              <a:spLocks noGrp="1"/>
            </p:cNvSpPr>
            <p:nvPr/>
          </p:nvSpPr>
          <p:spPr>
            <a:xfrm>
              <a:off x="4046000" y="7326334"/>
              <a:ext cx="88583" cy="70009"/>
            </a:xfrm>
            <a:prstGeom prst="rect">
              <a:avLst/>
            </a:prstGeom>
            <a:solidFill>
              <a:srgbClr val="88BEC3"/>
            </a:solidFill>
            <a:ln w="7290">
              <a:noFill/>
            </a:ln>
          </p:spPr>
        </p:sp>
        <p:sp>
          <p:nvSpPr>
            <p:cNvPr id="1296" name="Match matrix 1-3">
              <a:extLst>
                <a:ext uri="{FF2B5EF4-FFF2-40B4-BE49-F238E27FC236}">
                  <a16:creationId xmlns:a16="http://schemas.microsoft.com/office/drawing/2014/main" id="{A2C35F9E-7361-3F63-4B0D-A98BA11C6FD6}"/>
                </a:ext>
              </a:extLst>
            </p:cNvPr>
            <p:cNvSpPr>
              <a:spLocks noGrp="1"/>
            </p:cNvSpPr>
            <p:nvPr/>
          </p:nvSpPr>
          <p:spPr>
            <a:xfrm>
              <a:off x="4138868" y="7326334"/>
              <a:ext cx="88583" cy="70009"/>
            </a:xfrm>
            <a:prstGeom prst="rect">
              <a:avLst/>
            </a:prstGeom>
            <a:solidFill>
              <a:srgbClr val="D6E5ED"/>
            </a:solidFill>
            <a:ln w="7290">
              <a:noFill/>
            </a:ln>
          </p:spPr>
        </p:sp>
        <p:sp>
          <p:nvSpPr>
            <p:cNvPr id="1297" name="Match matrix 1-4">
              <a:extLst>
                <a:ext uri="{FF2B5EF4-FFF2-40B4-BE49-F238E27FC236}">
                  <a16:creationId xmlns:a16="http://schemas.microsoft.com/office/drawing/2014/main" id="{FAAA67D0-1522-17CF-8376-8D76753F582D}"/>
                </a:ext>
              </a:extLst>
            </p:cNvPr>
            <p:cNvSpPr>
              <a:spLocks noGrp="1"/>
            </p:cNvSpPr>
            <p:nvPr/>
          </p:nvSpPr>
          <p:spPr>
            <a:xfrm>
              <a:off x="4231737" y="7326334"/>
              <a:ext cx="88583" cy="70009"/>
            </a:xfrm>
            <a:prstGeom prst="rect">
              <a:avLst/>
            </a:prstGeom>
            <a:solidFill>
              <a:srgbClr val="5B9FB6"/>
            </a:solidFill>
            <a:ln w="7290">
              <a:noFill/>
            </a:ln>
          </p:spPr>
        </p:sp>
        <p:sp>
          <p:nvSpPr>
            <p:cNvPr id="1298" name="Match matrix 1-5">
              <a:extLst>
                <a:ext uri="{FF2B5EF4-FFF2-40B4-BE49-F238E27FC236}">
                  <a16:creationId xmlns:a16="http://schemas.microsoft.com/office/drawing/2014/main" id="{8EFA4585-A006-C810-377D-DBA6C87576CE}"/>
                </a:ext>
              </a:extLst>
            </p:cNvPr>
            <p:cNvSpPr>
              <a:spLocks noGrp="1"/>
            </p:cNvSpPr>
            <p:nvPr/>
          </p:nvSpPr>
          <p:spPr>
            <a:xfrm>
              <a:off x="4324606" y="7326334"/>
              <a:ext cx="88583" cy="70009"/>
            </a:xfrm>
            <a:prstGeom prst="rect">
              <a:avLst/>
            </a:prstGeom>
            <a:solidFill>
              <a:srgbClr val="3E8F9A"/>
            </a:solidFill>
            <a:ln w="7290">
              <a:noFill/>
            </a:ln>
          </p:spPr>
        </p:sp>
        <p:sp>
          <p:nvSpPr>
            <p:cNvPr id="1299" name="Match matrix 1-6">
              <a:extLst>
                <a:ext uri="{FF2B5EF4-FFF2-40B4-BE49-F238E27FC236}">
                  <a16:creationId xmlns:a16="http://schemas.microsoft.com/office/drawing/2014/main" id="{64D11889-0CF0-CA9A-1917-2BF4C8C70236}"/>
                </a:ext>
              </a:extLst>
            </p:cNvPr>
            <p:cNvSpPr>
              <a:spLocks noGrp="1"/>
            </p:cNvSpPr>
            <p:nvPr/>
          </p:nvSpPr>
          <p:spPr>
            <a:xfrm>
              <a:off x="4417475" y="7326334"/>
              <a:ext cx="88583" cy="70009"/>
            </a:xfrm>
            <a:prstGeom prst="rect">
              <a:avLst/>
            </a:prstGeom>
            <a:solidFill>
              <a:srgbClr val="C4DDE0"/>
            </a:solidFill>
            <a:ln w="7290">
              <a:noFill/>
            </a:ln>
          </p:spPr>
        </p:sp>
        <p:sp>
          <p:nvSpPr>
            <p:cNvPr id="1300" name="Match matrix 1-7">
              <a:extLst>
                <a:ext uri="{FF2B5EF4-FFF2-40B4-BE49-F238E27FC236}">
                  <a16:creationId xmlns:a16="http://schemas.microsoft.com/office/drawing/2014/main" id="{188B5773-F5C9-7D4C-8152-FA7D9B627789}"/>
                </a:ext>
              </a:extLst>
            </p:cNvPr>
            <p:cNvSpPr>
              <a:spLocks noGrp="1"/>
            </p:cNvSpPr>
            <p:nvPr/>
          </p:nvSpPr>
          <p:spPr>
            <a:xfrm>
              <a:off x="4510343" y="7326334"/>
              <a:ext cx="88583" cy="70009"/>
            </a:xfrm>
            <a:prstGeom prst="rect">
              <a:avLst/>
            </a:prstGeom>
            <a:solidFill>
              <a:srgbClr val="67AD9F"/>
            </a:solidFill>
            <a:ln w="7290">
              <a:noFill/>
            </a:ln>
          </p:spPr>
        </p:sp>
        <p:sp>
          <p:nvSpPr>
            <p:cNvPr id="1301" name="Match matrix 2-0">
              <a:extLst>
                <a:ext uri="{FF2B5EF4-FFF2-40B4-BE49-F238E27FC236}">
                  <a16:creationId xmlns:a16="http://schemas.microsoft.com/office/drawing/2014/main" id="{BBF02AFB-8489-0057-17C0-1186E4D7244F}"/>
                </a:ext>
              </a:extLst>
            </p:cNvPr>
            <p:cNvSpPr>
              <a:spLocks noGrp="1"/>
            </p:cNvSpPr>
            <p:nvPr/>
          </p:nvSpPr>
          <p:spPr>
            <a:xfrm>
              <a:off x="3860262" y="7400629"/>
              <a:ext cx="88583" cy="70009"/>
            </a:xfrm>
            <a:prstGeom prst="rect">
              <a:avLst/>
            </a:prstGeom>
            <a:solidFill>
              <a:srgbClr val="67AD9F"/>
            </a:solidFill>
            <a:ln w="7290">
              <a:noFill/>
            </a:ln>
          </p:spPr>
        </p:sp>
        <p:sp>
          <p:nvSpPr>
            <p:cNvPr id="1302" name="Match matrix 2-1">
              <a:extLst>
                <a:ext uri="{FF2B5EF4-FFF2-40B4-BE49-F238E27FC236}">
                  <a16:creationId xmlns:a16="http://schemas.microsoft.com/office/drawing/2014/main" id="{4D1F1E41-46E5-997B-A9A2-D4A7E86A821C}"/>
                </a:ext>
              </a:extLst>
            </p:cNvPr>
            <p:cNvSpPr>
              <a:spLocks noGrp="1"/>
            </p:cNvSpPr>
            <p:nvPr/>
          </p:nvSpPr>
          <p:spPr>
            <a:xfrm>
              <a:off x="3953131" y="7400629"/>
              <a:ext cx="88583" cy="70009"/>
            </a:xfrm>
            <a:prstGeom prst="rect">
              <a:avLst/>
            </a:prstGeom>
            <a:solidFill>
              <a:srgbClr val="C4DDE0"/>
            </a:solidFill>
            <a:ln w="7290">
              <a:noFill/>
            </a:ln>
          </p:spPr>
        </p:sp>
        <p:sp>
          <p:nvSpPr>
            <p:cNvPr id="1303" name="Match matrix 2-2">
              <a:extLst>
                <a:ext uri="{FF2B5EF4-FFF2-40B4-BE49-F238E27FC236}">
                  <a16:creationId xmlns:a16="http://schemas.microsoft.com/office/drawing/2014/main" id="{BDC0B5DB-1FDB-9192-A8A8-9F9E9FC2CF48}"/>
                </a:ext>
              </a:extLst>
            </p:cNvPr>
            <p:cNvSpPr>
              <a:spLocks noGrp="1"/>
            </p:cNvSpPr>
            <p:nvPr/>
          </p:nvSpPr>
          <p:spPr>
            <a:xfrm>
              <a:off x="4046000" y="7400629"/>
              <a:ext cx="88583" cy="70009"/>
            </a:xfrm>
            <a:prstGeom prst="rect">
              <a:avLst/>
            </a:prstGeom>
            <a:solidFill>
              <a:srgbClr val="5B9FB6"/>
            </a:solidFill>
            <a:ln w="7290">
              <a:noFill/>
            </a:ln>
          </p:spPr>
        </p:sp>
        <p:sp>
          <p:nvSpPr>
            <p:cNvPr id="1304" name="Match matrix 2-3">
              <a:extLst>
                <a:ext uri="{FF2B5EF4-FFF2-40B4-BE49-F238E27FC236}">
                  <a16:creationId xmlns:a16="http://schemas.microsoft.com/office/drawing/2014/main" id="{9C663294-FCA2-F8DE-2AEC-EEF54C48921A}"/>
                </a:ext>
              </a:extLst>
            </p:cNvPr>
            <p:cNvSpPr>
              <a:spLocks noGrp="1"/>
            </p:cNvSpPr>
            <p:nvPr/>
          </p:nvSpPr>
          <p:spPr>
            <a:xfrm>
              <a:off x="4138868" y="7400629"/>
              <a:ext cx="88583" cy="70009"/>
            </a:xfrm>
            <a:prstGeom prst="rect">
              <a:avLst/>
            </a:prstGeom>
            <a:solidFill>
              <a:srgbClr val="B6D8CC"/>
            </a:solidFill>
            <a:ln w="7290">
              <a:noFill/>
            </a:ln>
          </p:spPr>
        </p:sp>
        <p:sp>
          <p:nvSpPr>
            <p:cNvPr id="1305" name="Match matrix 2-4">
              <a:extLst>
                <a:ext uri="{FF2B5EF4-FFF2-40B4-BE49-F238E27FC236}">
                  <a16:creationId xmlns:a16="http://schemas.microsoft.com/office/drawing/2014/main" id="{28E76182-0A60-4A72-9586-C12459BE0B58}"/>
                </a:ext>
              </a:extLst>
            </p:cNvPr>
            <p:cNvSpPr>
              <a:spLocks noGrp="1"/>
            </p:cNvSpPr>
            <p:nvPr/>
          </p:nvSpPr>
          <p:spPr>
            <a:xfrm>
              <a:off x="4231737" y="7400629"/>
              <a:ext cx="88583" cy="70009"/>
            </a:xfrm>
            <a:prstGeom prst="rect">
              <a:avLst/>
            </a:prstGeom>
            <a:solidFill>
              <a:srgbClr val="3E8F9A"/>
            </a:solidFill>
            <a:ln w="7290">
              <a:noFill/>
            </a:ln>
          </p:spPr>
        </p:sp>
        <p:sp>
          <p:nvSpPr>
            <p:cNvPr id="1306" name="Match matrix 2-5">
              <a:extLst>
                <a:ext uri="{FF2B5EF4-FFF2-40B4-BE49-F238E27FC236}">
                  <a16:creationId xmlns:a16="http://schemas.microsoft.com/office/drawing/2014/main" id="{29FC68A5-EB54-9596-85EC-EDC1175B056F}"/>
                </a:ext>
              </a:extLst>
            </p:cNvPr>
            <p:cNvSpPr>
              <a:spLocks noGrp="1"/>
            </p:cNvSpPr>
            <p:nvPr/>
          </p:nvSpPr>
          <p:spPr>
            <a:xfrm>
              <a:off x="4324606" y="7400629"/>
              <a:ext cx="88583" cy="70009"/>
            </a:xfrm>
            <a:prstGeom prst="rect">
              <a:avLst/>
            </a:prstGeom>
            <a:solidFill>
              <a:srgbClr val="D6E5ED"/>
            </a:solidFill>
            <a:ln w="7290">
              <a:noFill/>
            </a:ln>
          </p:spPr>
        </p:sp>
        <p:sp>
          <p:nvSpPr>
            <p:cNvPr id="1307" name="Match matrix 2-6">
              <a:extLst>
                <a:ext uri="{FF2B5EF4-FFF2-40B4-BE49-F238E27FC236}">
                  <a16:creationId xmlns:a16="http://schemas.microsoft.com/office/drawing/2014/main" id="{59C9C8C5-D90A-7A02-93D3-957FE3AE7DC3}"/>
                </a:ext>
              </a:extLst>
            </p:cNvPr>
            <p:cNvSpPr>
              <a:spLocks noGrp="1"/>
            </p:cNvSpPr>
            <p:nvPr/>
          </p:nvSpPr>
          <p:spPr>
            <a:xfrm>
              <a:off x="4417475" y="7400629"/>
              <a:ext cx="88583" cy="70009"/>
            </a:xfrm>
            <a:prstGeom prst="rect">
              <a:avLst/>
            </a:prstGeom>
            <a:solidFill>
              <a:srgbClr val="88BEC3"/>
            </a:solidFill>
            <a:ln w="7290">
              <a:noFill/>
            </a:ln>
          </p:spPr>
        </p:sp>
        <p:sp>
          <p:nvSpPr>
            <p:cNvPr id="1308" name="Match matrix 2-7">
              <a:extLst>
                <a:ext uri="{FF2B5EF4-FFF2-40B4-BE49-F238E27FC236}">
                  <a16:creationId xmlns:a16="http://schemas.microsoft.com/office/drawing/2014/main" id="{83DFB888-0521-0863-270C-DBAF169C149A}"/>
                </a:ext>
              </a:extLst>
            </p:cNvPr>
            <p:cNvSpPr>
              <a:spLocks noGrp="1"/>
            </p:cNvSpPr>
            <p:nvPr/>
          </p:nvSpPr>
          <p:spPr>
            <a:xfrm>
              <a:off x="4510343" y="7400629"/>
              <a:ext cx="88583" cy="70009"/>
            </a:xfrm>
            <a:prstGeom prst="rect">
              <a:avLst/>
            </a:prstGeom>
            <a:solidFill>
              <a:srgbClr val="A3CDDA"/>
            </a:solidFill>
            <a:ln w="7290">
              <a:noFill/>
            </a:ln>
          </p:spPr>
        </p:sp>
        <p:sp>
          <p:nvSpPr>
            <p:cNvPr id="1309" name="Match matrix 3-0">
              <a:extLst>
                <a:ext uri="{FF2B5EF4-FFF2-40B4-BE49-F238E27FC236}">
                  <a16:creationId xmlns:a16="http://schemas.microsoft.com/office/drawing/2014/main" id="{CDAE8F1E-742C-7BA1-EB00-87CA9B9E40A2}"/>
                </a:ext>
              </a:extLst>
            </p:cNvPr>
            <p:cNvSpPr>
              <a:spLocks noGrp="1"/>
            </p:cNvSpPr>
            <p:nvPr/>
          </p:nvSpPr>
          <p:spPr>
            <a:xfrm>
              <a:off x="3860262" y="7474924"/>
              <a:ext cx="88583" cy="70009"/>
            </a:xfrm>
            <a:prstGeom prst="rect">
              <a:avLst/>
            </a:prstGeom>
            <a:solidFill>
              <a:srgbClr val="88BEC3"/>
            </a:solidFill>
            <a:ln w="7290">
              <a:noFill/>
            </a:ln>
          </p:spPr>
        </p:sp>
        <p:sp>
          <p:nvSpPr>
            <p:cNvPr id="1310" name="Match matrix 3-1">
              <a:extLst>
                <a:ext uri="{FF2B5EF4-FFF2-40B4-BE49-F238E27FC236}">
                  <a16:creationId xmlns:a16="http://schemas.microsoft.com/office/drawing/2014/main" id="{74117986-6240-D77F-909C-522F6146D289}"/>
                </a:ext>
              </a:extLst>
            </p:cNvPr>
            <p:cNvSpPr>
              <a:spLocks noGrp="1"/>
            </p:cNvSpPr>
            <p:nvPr/>
          </p:nvSpPr>
          <p:spPr>
            <a:xfrm>
              <a:off x="3953131" y="7474924"/>
              <a:ext cx="88583" cy="70009"/>
            </a:xfrm>
            <a:prstGeom prst="rect">
              <a:avLst/>
            </a:prstGeom>
            <a:solidFill>
              <a:srgbClr val="D6E5ED"/>
            </a:solidFill>
            <a:ln w="7290">
              <a:noFill/>
            </a:ln>
          </p:spPr>
        </p:sp>
        <p:sp>
          <p:nvSpPr>
            <p:cNvPr id="1311" name="Match matrix 3-2">
              <a:extLst>
                <a:ext uri="{FF2B5EF4-FFF2-40B4-BE49-F238E27FC236}">
                  <a16:creationId xmlns:a16="http://schemas.microsoft.com/office/drawing/2014/main" id="{68BD8A38-75EC-BA37-589D-F9C3EBE804E8}"/>
                </a:ext>
              </a:extLst>
            </p:cNvPr>
            <p:cNvSpPr>
              <a:spLocks noGrp="1"/>
            </p:cNvSpPr>
            <p:nvPr/>
          </p:nvSpPr>
          <p:spPr>
            <a:xfrm>
              <a:off x="4046000" y="7474924"/>
              <a:ext cx="88583" cy="70009"/>
            </a:xfrm>
            <a:prstGeom prst="rect">
              <a:avLst/>
            </a:prstGeom>
            <a:solidFill>
              <a:srgbClr val="67AD9F"/>
            </a:solidFill>
            <a:ln w="7290">
              <a:noFill/>
            </a:ln>
          </p:spPr>
        </p:sp>
        <p:sp>
          <p:nvSpPr>
            <p:cNvPr id="1312" name="Match matrix 3-3">
              <a:extLst>
                <a:ext uri="{FF2B5EF4-FFF2-40B4-BE49-F238E27FC236}">
                  <a16:creationId xmlns:a16="http://schemas.microsoft.com/office/drawing/2014/main" id="{BA2E6B5A-7074-DCD3-8646-836425ECA4E6}"/>
                </a:ext>
              </a:extLst>
            </p:cNvPr>
            <p:cNvSpPr>
              <a:spLocks noGrp="1"/>
            </p:cNvSpPr>
            <p:nvPr/>
          </p:nvSpPr>
          <p:spPr>
            <a:xfrm>
              <a:off x="4138868" y="7474924"/>
              <a:ext cx="88583" cy="70009"/>
            </a:xfrm>
            <a:prstGeom prst="rect">
              <a:avLst/>
            </a:prstGeom>
            <a:solidFill>
              <a:srgbClr val="3E8F9A"/>
            </a:solidFill>
            <a:ln w="7290">
              <a:noFill/>
            </a:ln>
          </p:spPr>
        </p:sp>
        <p:sp>
          <p:nvSpPr>
            <p:cNvPr id="1313" name="Match matrix 3-4">
              <a:extLst>
                <a:ext uri="{FF2B5EF4-FFF2-40B4-BE49-F238E27FC236}">
                  <a16:creationId xmlns:a16="http://schemas.microsoft.com/office/drawing/2014/main" id="{E2B9FFDB-87E6-991D-6FE1-3A8ED7934F53}"/>
                </a:ext>
              </a:extLst>
            </p:cNvPr>
            <p:cNvSpPr>
              <a:spLocks noGrp="1"/>
            </p:cNvSpPr>
            <p:nvPr/>
          </p:nvSpPr>
          <p:spPr>
            <a:xfrm>
              <a:off x="4231737" y="7474924"/>
              <a:ext cx="88583" cy="70009"/>
            </a:xfrm>
            <a:prstGeom prst="rect">
              <a:avLst/>
            </a:prstGeom>
            <a:solidFill>
              <a:srgbClr val="C4DDE0"/>
            </a:solidFill>
            <a:ln w="7290">
              <a:noFill/>
            </a:ln>
          </p:spPr>
        </p:sp>
        <p:sp>
          <p:nvSpPr>
            <p:cNvPr id="1314" name="Match matrix 3-5">
              <a:extLst>
                <a:ext uri="{FF2B5EF4-FFF2-40B4-BE49-F238E27FC236}">
                  <a16:creationId xmlns:a16="http://schemas.microsoft.com/office/drawing/2014/main" id="{93BBAAA9-24B8-1E29-A6DC-8B4D096073B5}"/>
                </a:ext>
              </a:extLst>
            </p:cNvPr>
            <p:cNvSpPr>
              <a:spLocks noGrp="1"/>
            </p:cNvSpPr>
            <p:nvPr/>
          </p:nvSpPr>
          <p:spPr>
            <a:xfrm>
              <a:off x="4324606" y="7474924"/>
              <a:ext cx="88583" cy="70009"/>
            </a:xfrm>
            <a:prstGeom prst="rect">
              <a:avLst/>
            </a:prstGeom>
            <a:solidFill>
              <a:srgbClr val="A3CDDA"/>
            </a:solidFill>
            <a:ln w="7290">
              <a:noFill/>
            </a:ln>
          </p:spPr>
        </p:sp>
        <p:sp>
          <p:nvSpPr>
            <p:cNvPr id="1315" name="Match matrix 3-6">
              <a:extLst>
                <a:ext uri="{FF2B5EF4-FFF2-40B4-BE49-F238E27FC236}">
                  <a16:creationId xmlns:a16="http://schemas.microsoft.com/office/drawing/2014/main" id="{68A528E6-65EA-9C73-7412-55AD6CD16CE8}"/>
                </a:ext>
              </a:extLst>
            </p:cNvPr>
            <p:cNvSpPr>
              <a:spLocks noGrp="1"/>
            </p:cNvSpPr>
            <p:nvPr/>
          </p:nvSpPr>
          <p:spPr>
            <a:xfrm>
              <a:off x="4417475" y="7474924"/>
              <a:ext cx="88583" cy="70009"/>
            </a:xfrm>
            <a:prstGeom prst="rect">
              <a:avLst/>
            </a:prstGeom>
            <a:solidFill>
              <a:srgbClr val="B6D8CC"/>
            </a:solidFill>
            <a:ln w="7290">
              <a:noFill/>
            </a:ln>
          </p:spPr>
        </p:sp>
        <p:sp>
          <p:nvSpPr>
            <p:cNvPr id="1316" name="Match matrix 3-7">
              <a:extLst>
                <a:ext uri="{FF2B5EF4-FFF2-40B4-BE49-F238E27FC236}">
                  <a16:creationId xmlns:a16="http://schemas.microsoft.com/office/drawing/2014/main" id="{2EEE91B3-D81D-6257-AECC-400C8A929123}"/>
                </a:ext>
              </a:extLst>
            </p:cNvPr>
            <p:cNvSpPr>
              <a:spLocks noGrp="1"/>
            </p:cNvSpPr>
            <p:nvPr/>
          </p:nvSpPr>
          <p:spPr>
            <a:xfrm>
              <a:off x="4510343" y="7474924"/>
              <a:ext cx="88583" cy="70009"/>
            </a:xfrm>
            <a:prstGeom prst="rect">
              <a:avLst/>
            </a:prstGeom>
            <a:solidFill>
              <a:srgbClr val="5B9FB6"/>
            </a:solidFill>
            <a:ln w="7290">
              <a:noFill/>
            </a:ln>
          </p:spPr>
        </p:sp>
        <p:sp>
          <p:nvSpPr>
            <p:cNvPr id="1318" name="SMILES continuation 806-628.2">
              <a:extLst>
                <a:ext uri="{FF2B5EF4-FFF2-40B4-BE49-F238E27FC236}">
                  <a16:creationId xmlns:a16="http://schemas.microsoft.com/office/drawing/2014/main" id="{F23A2C65-E88A-BB4F-DB2B-F6BDFE0A90A0}"/>
                </a:ext>
              </a:extLst>
            </p:cNvPr>
            <p:cNvSpPr>
              <a:spLocks noGrp="1"/>
            </p:cNvSpPr>
            <p:nvPr/>
          </p:nvSpPr>
          <p:spPr>
            <a:xfrm>
              <a:off x="8003637" y="5974080"/>
              <a:ext cx="19050" cy="19050"/>
            </a:xfrm>
            <a:prstGeom prst="ellipse">
              <a:avLst/>
            </a:prstGeom>
            <a:solidFill>
              <a:srgbClr val="71808C"/>
            </a:solidFill>
            <a:ln w="0">
              <a:noFill/>
            </a:ln>
          </p:spPr>
        </p:sp>
        <p:sp>
          <p:nvSpPr>
            <p:cNvPr id="1319" name="SMILES continuation 812-628.2">
              <a:extLst>
                <a:ext uri="{FF2B5EF4-FFF2-40B4-BE49-F238E27FC236}">
                  <a16:creationId xmlns:a16="http://schemas.microsoft.com/office/drawing/2014/main" id="{3B989565-3BAD-D4AD-9254-F92A9CA55F5F}"/>
                </a:ext>
              </a:extLst>
            </p:cNvPr>
            <p:cNvSpPr>
              <a:spLocks noGrp="1"/>
            </p:cNvSpPr>
            <p:nvPr/>
          </p:nvSpPr>
          <p:spPr>
            <a:xfrm>
              <a:off x="8060787" y="5974080"/>
              <a:ext cx="19050" cy="19050"/>
            </a:xfrm>
            <a:prstGeom prst="ellipse">
              <a:avLst/>
            </a:prstGeom>
            <a:solidFill>
              <a:srgbClr val="71808C"/>
            </a:solidFill>
            <a:ln w="0">
              <a:noFill/>
            </a:ln>
          </p:spPr>
        </p:sp>
        <p:sp>
          <p:nvSpPr>
            <p:cNvPr id="1320" name="SMILES continuation 818-628.2">
              <a:extLst>
                <a:ext uri="{FF2B5EF4-FFF2-40B4-BE49-F238E27FC236}">
                  <a16:creationId xmlns:a16="http://schemas.microsoft.com/office/drawing/2014/main" id="{42B8B6C2-B43E-383F-14DE-C418D4494332}"/>
                </a:ext>
              </a:extLst>
            </p:cNvPr>
            <p:cNvSpPr>
              <a:spLocks noGrp="1"/>
            </p:cNvSpPr>
            <p:nvPr/>
          </p:nvSpPr>
          <p:spPr>
            <a:xfrm>
              <a:off x="8117937" y="5974080"/>
              <a:ext cx="19050" cy="19050"/>
            </a:xfrm>
            <a:prstGeom prst="ellipse">
              <a:avLst/>
            </a:prstGeom>
            <a:solidFill>
              <a:srgbClr val="71808C"/>
            </a:solidFill>
            <a:ln w="0">
              <a:noFill/>
            </a:ln>
          </p:spPr>
        </p:sp>
        <p:sp>
          <p:nvSpPr>
            <p:cNvPr id="1321" name="SMILES continuation 806-667">
              <a:extLst>
                <a:ext uri="{FF2B5EF4-FFF2-40B4-BE49-F238E27FC236}">
                  <a16:creationId xmlns:a16="http://schemas.microsoft.com/office/drawing/2014/main" id="{39894408-4EFC-1123-4D43-5E7226F5F0C0}"/>
                </a:ext>
              </a:extLst>
            </p:cNvPr>
            <p:cNvSpPr>
              <a:spLocks noGrp="1"/>
            </p:cNvSpPr>
            <p:nvPr/>
          </p:nvSpPr>
          <p:spPr>
            <a:xfrm>
              <a:off x="8003637" y="6343650"/>
              <a:ext cx="19050" cy="19050"/>
            </a:xfrm>
            <a:prstGeom prst="ellipse">
              <a:avLst/>
            </a:prstGeom>
            <a:solidFill>
              <a:srgbClr val="71808C"/>
            </a:solidFill>
            <a:ln w="0">
              <a:noFill/>
            </a:ln>
          </p:spPr>
        </p:sp>
        <p:sp>
          <p:nvSpPr>
            <p:cNvPr id="1322" name="SMILES continuation 812-667">
              <a:extLst>
                <a:ext uri="{FF2B5EF4-FFF2-40B4-BE49-F238E27FC236}">
                  <a16:creationId xmlns:a16="http://schemas.microsoft.com/office/drawing/2014/main" id="{B15788D5-8154-0220-0ADD-B84E221B0B6F}"/>
                </a:ext>
              </a:extLst>
            </p:cNvPr>
            <p:cNvSpPr>
              <a:spLocks noGrp="1"/>
            </p:cNvSpPr>
            <p:nvPr/>
          </p:nvSpPr>
          <p:spPr>
            <a:xfrm>
              <a:off x="8060787" y="6343650"/>
              <a:ext cx="19050" cy="19050"/>
            </a:xfrm>
            <a:prstGeom prst="ellipse">
              <a:avLst/>
            </a:prstGeom>
            <a:solidFill>
              <a:srgbClr val="71808C"/>
            </a:solidFill>
            <a:ln w="0">
              <a:noFill/>
            </a:ln>
          </p:spPr>
        </p:sp>
        <p:sp>
          <p:nvSpPr>
            <p:cNvPr id="1323" name="SMILES continuation 818-667">
              <a:extLst>
                <a:ext uri="{FF2B5EF4-FFF2-40B4-BE49-F238E27FC236}">
                  <a16:creationId xmlns:a16="http://schemas.microsoft.com/office/drawing/2014/main" id="{06FB727B-1C36-BDAC-BF90-119F79F57919}"/>
                </a:ext>
              </a:extLst>
            </p:cNvPr>
            <p:cNvSpPr>
              <a:spLocks noGrp="1"/>
            </p:cNvSpPr>
            <p:nvPr/>
          </p:nvSpPr>
          <p:spPr>
            <a:xfrm>
              <a:off x="8117937" y="6343650"/>
              <a:ext cx="19050" cy="19050"/>
            </a:xfrm>
            <a:prstGeom prst="ellipse">
              <a:avLst/>
            </a:prstGeom>
            <a:solidFill>
              <a:srgbClr val="71808C"/>
            </a:solidFill>
            <a:ln w="0">
              <a:noFill/>
            </a:ln>
          </p:spPr>
        </p:sp>
        <p:sp>
          <p:nvSpPr>
            <p:cNvPr id="1324" name="Find density input">
              <a:extLst>
                <a:ext uri="{FF2B5EF4-FFF2-40B4-BE49-F238E27FC236}">
                  <a16:creationId xmlns:a16="http://schemas.microsoft.com/office/drawing/2014/main" id="{3BB3F16C-BBC6-CEA5-1D5F-BADEC13D0E07}"/>
                </a:ext>
              </a:extLst>
            </p:cNvPr>
            <p:cNvSpPr>
              <a:spLocks noGrp="1"/>
            </p:cNvSpPr>
            <p:nvPr/>
          </p:nvSpPr>
          <p:spPr>
            <a:xfrm flipV="1">
              <a:off x="2475621" y="1410958"/>
              <a:ext cx="692378" cy="107521"/>
            </a:xfrm>
            <a:custGeom>
              <a:avLst/>
              <a:gdLst/>
              <a:ahLst/>
              <a:cxnLst/>
              <a:rect l="0" t="0" r="0" b="0"/>
              <a:pathLst>
                <a:path w="125540" h="191">
                  <a:moveTo>
                    <a:pt x="0" y="0"/>
                  </a:moveTo>
                  <a:lnTo>
                    <a:pt x="125540" y="0"/>
                  </a:lnTo>
                </a:path>
              </a:pathLst>
            </a:custGeom>
            <a:noFill/>
            <a:ln w="8505">
              <a:solidFill>
                <a:srgbClr val="4083B4"/>
              </a:solidFill>
              <a:prstDash val="solid"/>
            </a:ln>
          </p:spPr>
        </p:sp>
        <p:sp>
          <p:nvSpPr>
            <p:cNvPr id="1325" name="Find density input head">
              <a:extLst>
                <a:ext uri="{FF2B5EF4-FFF2-40B4-BE49-F238E27FC236}">
                  <a16:creationId xmlns:a16="http://schemas.microsoft.com/office/drawing/2014/main" id="{DD01582E-D72F-DC2A-ED51-209065AB4BE2}"/>
                </a:ext>
              </a:extLst>
            </p:cNvPr>
            <p:cNvSpPr>
              <a:spLocks noGrp="1"/>
            </p:cNvSpPr>
            <p:nvPr/>
          </p:nvSpPr>
          <p:spPr>
            <a:xfrm>
              <a:off x="3123088" y="1489808"/>
              <a:ext cx="66676" cy="57339"/>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28" name="Find receptor input">
              <a:extLst>
                <a:ext uri="{FF2B5EF4-FFF2-40B4-BE49-F238E27FC236}">
                  <a16:creationId xmlns:a16="http://schemas.microsoft.com/office/drawing/2014/main" id="{8835B13D-A150-D32A-EA5F-DF6B94803636}"/>
                </a:ext>
              </a:extLst>
            </p:cNvPr>
            <p:cNvSpPr>
              <a:spLocks noGrp="1"/>
            </p:cNvSpPr>
            <p:nvPr/>
          </p:nvSpPr>
          <p:spPr>
            <a:xfrm>
              <a:off x="2475621" y="3260557"/>
              <a:ext cx="692378" cy="107521"/>
            </a:xfrm>
            <a:custGeom>
              <a:avLst/>
              <a:gdLst/>
              <a:ahLst/>
              <a:cxnLst/>
              <a:rect l="0" t="0" r="0" b="0"/>
              <a:pathLst>
                <a:path w="125540" h="191">
                  <a:moveTo>
                    <a:pt x="0" y="0"/>
                  </a:moveTo>
                  <a:lnTo>
                    <a:pt x="125540" y="0"/>
                  </a:lnTo>
                </a:path>
              </a:pathLst>
            </a:custGeom>
            <a:solidFill>
              <a:srgbClr val="4083B4"/>
            </a:solidFill>
            <a:ln w="8505">
              <a:solidFill>
                <a:srgbClr val="4083B4"/>
              </a:solidFill>
              <a:prstDash val="solid"/>
            </a:ln>
          </p:spPr>
        </p:sp>
        <p:sp>
          <p:nvSpPr>
            <p:cNvPr id="1329" name="Find receptor input head">
              <a:extLst>
                <a:ext uri="{FF2B5EF4-FFF2-40B4-BE49-F238E27FC236}">
                  <a16:creationId xmlns:a16="http://schemas.microsoft.com/office/drawing/2014/main" id="{A5463DF5-F357-C133-4537-3687854104BD}"/>
                </a:ext>
              </a:extLst>
            </p:cNvPr>
            <p:cNvSpPr>
              <a:spLocks noGrp="1"/>
            </p:cNvSpPr>
            <p:nvPr/>
          </p:nvSpPr>
          <p:spPr>
            <a:xfrm>
              <a:off x="3123088" y="3231886"/>
              <a:ext cx="66676" cy="57339"/>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32" name="Find voxel output">
              <a:extLst>
                <a:ext uri="{FF2B5EF4-FFF2-40B4-BE49-F238E27FC236}">
                  <a16:creationId xmlns:a16="http://schemas.microsoft.com/office/drawing/2014/main" id="{A7A050F5-4BBD-83D0-3E56-868138C02A2E}"/>
                </a:ext>
              </a:extLst>
            </p:cNvPr>
            <p:cNvSpPr>
              <a:spLocks noGrp="1"/>
            </p:cNvSpPr>
            <p:nvPr/>
          </p:nvSpPr>
          <p:spPr>
            <a:xfrm>
              <a:off x="9750468" y="1544003"/>
              <a:ext cx="409314" cy="191"/>
            </a:xfrm>
            <a:custGeom>
              <a:avLst/>
              <a:gdLst/>
              <a:ahLst/>
              <a:cxnLst/>
              <a:rect l="0" t="0" r="0" b="0"/>
              <a:pathLst>
                <a:path w="252508" h="191">
                  <a:moveTo>
                    <a:pt x="0" y="0"/>
                  </a:moveTo>
                  <a:lnTo>
                    <a:pt x="252508" y="0"/>
                  </a:lnTo>
                </a:path>
              </a:pathLst>
            </a:custGeom>
            <a:noFill/>
            <a:ln w="8505">
              <a:solidFill>
                <a:srgbClr val="4083B4"/>
              </a:solidFill>
              <a:prstDash val="solid"/>
            </a:ln>
          </p:spPr>
        </p:sp>
        <p:sp>
          <p:nvSpPr>
            <p:cNvPr id="1333" name="Find voxel output head">
              <a:extLst>
                <a:ext uri="{FF2B5EF4-FFF2-40B4-BE49-F238E27FC236}">
                  <a16:creationId xmlns:a16="http://schemas.microsoft.com/office/drawing/2014/main" id="{375132D2-B1BA-3819-E6E4-408E45D3577A}"/>
                </a:ext>
              </a:extLst>
            </p:cNvPr>
            <p:cNvSpPr>
              <a:spLocks noGrp="1"/>
            </p:cNvSpPr>
            <p:nvPr/>
          </p:nvSpPr>
          <p:spPr>
            <a:xfrm>
              <a:off x="10116443" y="1515332"/>
              <a:ext cx="66675" cy="57340"/>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34" name="Find point output">
              <a:extLst>
                <a:ext uri="{FF2B5EF4-FFF2-40B4-BE49-F238E27FC236}">
                  <a16:creationId xmlns:a16="http://schemas.microsoft.com/office/drawing/2014/main" id="{E2AB92F8-FB1A-DF4D-C056-6A909BEA2DE1}"/>
                </a:ext>
              </a:extLst>
            </p:cNvPr>
            <p:cNvSpPr>
              <a:spLocks noGrp="1"/>
            </p:cNvSpPr>
            <p:nvPr/>
          </p:nvSpPr>
          <p:spPr>
            <a:xfrm>
              <a:off x="9750468" y="3107055"/>
              <a:ext cx="409314" cy="191"/>
            </a:xfrm>
            <a:custGeom>
              <a:avLst/>
              <a:gdLst/>
              <a:ahLst/>
              <a:cxnLst/>
              <a:rect l="0" t="0" r="0" b="0"/>
              <a:pathLst>
                <a:path w="252508" h="191">
                  <a:moveTo>
                    <a:pt x="0" y="0"/>
                  </a:moveTo>
                  <a:lnTo>
                    <a:pt x="252508" y="0"/>
                  </a:lnTo>
                </a:path>
              </a:pathLst>
            </a:custGeom>
            <a:noFill/>
            <a:ln w="8505">
              <a:solidFill>
                <a:srgbClr val="4083B4"/>
              </a:solidFill>
              <a:prstDash val="solid"/>
            </a:ln>
          </p:spPr>
        </p:sp>
        <p:sp>
          <p:nvSpPr>
            <p:cNvPr id="1335" name="Find point output head">
              <a:extLst>
                <a:ext uri="{FF2B5EF4-FFF2-40B4-BE49-F238E27FC236}">
                  <a16:creationId xmlns:a16="http://schemas.microsoft.com/office/drawing/2014/main" id="{28B06725-C3FB-3373-8A56-A66D9CE3ECA7}"/>
                </a:ext>
              </a:extLst>
            </p:cNvPr>
            <p:cNvSpPr>
              <a:spLocks noGrp="1"/>
            </p:cNvSpPr>
            <p:nvPr/>
          </p:nvSpPr>
          <p:spPr>
            <a:xfrm>
              <a:off x="10116443" y="3078385"/>
              <a:ext cx="66675" cy="57340"/>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36" name="U-Net flow refined 1">
              <a:extLst>
                <a:ext uri="{FF2B5EF4-FFF2-40B4-BE49-F238E27FC236}">
                  <a16:creationId xmlns:a16="http://schemas.microsoft.com/office/drawing/2014/main" id="{5BDE2ECB-1CBA-ACB1-3426-F3E9F144A8A7}"/>
                </a:ext>
              </a:extLst>
            </p:cNvPr>
            <p:cNvSpPr>
              <a:spLocks noGrp="1"/>
            </p:cNvSpPr>
            <p:nvPr/>
          </p:nvSpPr>
          <p:spPr>
            <a:xfrm>
              <a:off x="5399638" y="1943100"/>
              <a:ext cx="71390" cy="191"/>
            </a:xfrm>
            <a:custGeom>
              <a:avLst/>
              <a:gdLst/>
              <a:ahLst/>
              <a:cxnLst/>
              <a:rect l="0" t="0" r="0" b="0"/>
              <a:pathLst>
                <a:path w="71390" h="191">
                  <a:moveTo>
                    <a:pt x="0" y="0"/>
                  </a:moveTo>
                  <a:lnTo>
                    <a:pt x="71390" y="0"/>
                  </a:lnTo>
                </a:path>
              </a:pathLst>
            </a:custGeom>
            <a:noFill/>
            <a:ln w="6480">
              <a:solidFill>
                <a:srgbClr val="4083B4"/>
              </a:solidFill>
              <a:prstDash val="solid"/>
            </a:ln>
          </p:spPr>
        </p:sp>
        <p:sp>
          <p:nvSpPr>
            <p:cNvPr id="1337" name="U-Net flow refined 1 head">
              <a:extLst>
                <a:ext uri="{FF2B5EF4-FFF2-40B4-BE49-F238E27FC236}">
                  <a16:creationId xmlns:a16="http://schemas.microsoft.com/office/drawing/2014/main" id="{94C963B0-6292-D96E-8000-E5176CACF1B1}"/>
                </a:ext>
              </a:extLst>
            </p:cNvPr>
            <p:cNvSpPr>
              <a:spLocks noGrp="1"/>
            </p:cNvSpPr>
            <p:nvPr/>
          </p:nvSpPr>
          <p:spPr>
            <a:xfrm>
              <a:off x="544440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38" name="U-Net flow refined 2">
              <a:extLst>
                <a:ext uri="{FF2B5EF4-FFF2-40B4-BE49-F238E27FC236}">
                  <a16:creationId xmlns:a16="http://schemas.microsoft.com/office/drawing/2014/main" id="{6EDFECDB-834F-45E8-C447-187E68499D36}"/>
                </a:ext>
              </a:extLst>
            </p:cNvPr>
            <p:cNvSpPr>
              <a:spLocks noGrp="1"/>
            </p:cNvSpPr>
            <p:nvPr/>
          </p:nvSpPr>
          <p:spPr>
            <a:xfrm>
              <a:off x="5856838" y="1943100"/>
              <a:ext cx="61865" cy="191"/>
            </a:xfrm>
            <a:custGeom>
              <a:avLst/>
              <a:gdLst/>
              <a:ahLst/>
              <a:cxnLst/>
              <a:rect l="0" t="0" r="0" b="0"/>
              <a:pathLst>
                <a:path w="61865" h="191">
                  <a:moveTo>
                    <a:pt x="0" y="0"/>
                  </a:moveTo>
                  <a:lnTo>
                    <a:pt x="61865" y="0"/>
                  </a:lnTo>
                </a:path>
              </a:pathLst>
            </a:custGeom>
            <a:noFill/>
            <a:ln w="6480">
              <a:solidFill>
                <a:srgbClr val="4083B4"/>
              </a:solidFill>
              <a:prstDash val="solid"/>
            </a:ln>
          </p:spPr>
        </p:sp>
        <p:sp>
          <p:nvSpPr>
            <p:cNvPr id="1339" name="U-Net flow refined 2 head">
              <a:extLst>
                <a:ext uri="{FF2B5EF4-FFF2-40B4-BE49-F238E27FC236}">
                  <a16:creationId xmlns:a16="http://schemas.microsoft.com/office/drawing/2014/main" id="{147D1FA6-05BE-3A5D-C1FE-78DB516DA9EB}"/>
                </a:ext>
              </a:extLst>
            </p:cNvPr>
            <p:cNvSpPr>
              <a:spLocks noGrp="1"/>
            </p:cNvSpPr>
            <p:nvPr/>
          </p:nvSpPr>
          <p:spPr>
            <a:xfrm>
              <a:off x="5892081"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0" name="U-Net flow refined 3">
              <a:extLst>
                <a:ext uri="{FF2B5EF4-FFF2-40B4-BE49-F238E27FC236}">
                  <a16:creationId xmlns:a16="http://schemas.microsoft.com/office/drawing/2014/main" id="{7AF7CF23-54DF-A29D-2F07-D36A3F45EDD2}"/>
                </a:ext>
              </a:extLst>
            </p:cNvPr>
            <p:cNvSpPr>
              <a:spLocks noGrp="1"/>
            </p:cNvSpPr>
            <p:nvPr/>
          </p:nvSpPr>
          <p:spPr>
            <a:xfrm>
              <a:off x="6428338" y="1943100"/>
              <a:ext cx="185690" cy="191"/>
            </a:xfrm>
            <a:custGeom>
              <a:avLst/>
              <a:gdLst/>
              <a:ahLst/>
              <a:cxnLst/>
              <a:rect l="0" t="0" r="0" b="0"/>
              <a:pathLst>
                <a:path w="185690" h="191">
                  <a:moveTo>
                    <a:pt x="0" y="0"/>
                  </a:moveTo>
                  <a:lnTo>
                    <a:pt x="185690" y="0"/>
                  </a:lnTo>
                </a:path>
              </a:pathLst>
            </a:custGeom>
            <a:noFill/>
            <a:ln w="6480">
              <a:solidFill>
                <a:srgbClr val="4083B4"/>
              </a:solidFill>
              <a:prstDash val="solid"/>
            </a:ln>
          </p:spPr>
        </p:sp>
        <p:sp>
          <p:nvSpPr>
            <p:cNvPr id="1341" name="U-Net flow refined 3 head">
              <a:extLst>
                <a:ext uri="{FF2B5EF4-FFF2-40B4-BE49-F238E27FC236}">
                  <a16:creationId xmlns:a16="http://schemas.microsoft.com/office/drawing/2014/main" id="{99F4C0B1-883D-15E1-DE1D-B9D0B602A47D}"/>
                </a:ext>
              </a:extLst>
            </p:cNvPr>
            <p:cNvSpPr>
              <a:spLocks noGrp="1"/>
            </p:cNvSpPr>
            <p:nvPr/>
          </p:nvSpPr>
          <p:spPr>
            <a:xfrm>
              <a:off x="658740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2" name="U-Net flow refined 4">
              <a:extLst>
                <a:ext uri="{FF2B5EF4-FFF2-40B4-BE49-F238E27FC236}">
                  <a16:creationId xmlns:a16="http://schemas.microsoft.com/office/drawing/2014/main" id="{1AB9AC41-CF99-6B25-72AE-CA5759E07BBC}"/>
                </a:ext>
              </a:extLst>
            </p:cNvPr>
            <p:cNvSpPr>
              <a:spLocks noGrp="1"/>
            </p:cNvSpPr>
            <p:nvPr/>
          </p:nvSpPr>
          <p:spPr>
            <a:xfrm>
              <a:off x="7704688" y="1943100"/>
              <a:ext cx="204740" cy="191"/>
            </a:xfrm>
            <a:custGeom>
              <a:avLst/>
              <a:gdLst/>
              <a:ahLst/>
              <a:cxnLst/>
              <a:rect l="0" t="0" r="0" b="0"/>
              <a:pathLst>
                <a:path w="204740" h="191">
                  <a:moveTo>
                    <a:pt x="0" y="0"/>
                  </a:moveTo>
                  <a:lnTo>
                    <a:pt x="204740" y="0"/>
                  </a:lnTo>
                </a:path>
              </a:pathLst>
            </a:custGeom>
            <a:noFill/>
            <a:ln w="6480">
              <a:solidFill>
                <a:srgbClr val="4083B4"/>
              </a:solidFill>
              <a:prstDash val="solid"/>
            </a:ln>
          </p:spPr>
        </p:sp>
        <p:sp>
          <p:nvSpPr>
            <p:cNvPr id="1343" name="U-Net flow refined 4 head">
              <a:extLst>
                <a:ext uri="{FF2B5EF4-FFF2-40B4-BE49-F238E27FC236}">
                  <a16:creationId xmlns:a16="http://schemas.microsoft.com/office/drawing/2014/main" id="{8B74AF9E-166C-456E-8C30-81819473FD65}"/>
                </a:ext>
              </a:extLst>
            </p:cNvPr>
            <p:cNvSpPr>
              <a:spLocks noGrp="1"/>
            </p:cNvSpPr>
            <p:nvPr/>
          </p:nvSpPr>
          <p:spPr>
            <a:xfrm>
              <a:off x="788280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4" name="U-Net flow refined 5">
              <a:extLst>
                <a:ext uri="{FF2B5EF4-FFF2-40B4-BE49-F238E27FC236}">
                  <a16:creationId xmlns:a16="http://schemas.microsoft.com/office/drawing/2014/main" id="{1DF9FEC8-127A-C6BF-A242-5459B8B47514}"/>
                </a:ext>
              </a:extLst>
            </p:cNvPr>
            <p:cNvSpPr>
              <a:spLocks noGrp="1"/>
            </p:cNvSpPr>
            <p:nvPr/>
          </p:nvSpPr>
          <p:spPr>
            <a:xfrm>
              <a:off x="8428588" y="1943100"/>
              <a:ext cx="71390" cy="191"/>
            </a:xfrm>
            <a:custGeom>
              <a:avLst/>
              <a:gdLst/>
              <a:ahLst/>
              <a:cxnLst/>
              <a:rect l="0" t="0" r="0" b="0"/>
              <a:pathLst>
                <a:path w="71390" h="191">
                  <a:moveTo>
                    <a:pt x="0" y="0"/>
                  </a:moveTo>
                  <a:lnTo>
                    <a:pt x="71390" y="0"/>
                  </a:lnTo>
                </a:path>
              </a:pathLst>
            </a:custGeom>
            <a:noFill/>
            <a:ln w="6480">
              <a:solidFill>
                <a:srgbClr val="4083B4"/>
              </a:solidFill>
              <a:prstDash val="solid"/>
            </a:ln>
          </p:spPr>
        </p:sp>
        <p:sp>
          <p:nvSpPr>
            <p:cNvPr id="1345" name="U-Net flow refined 5 head">
              <a:extLst>
                <a:ext uri="{FF2B5EF4-FFF2-40B4-BE49-F238E27FC236}">
                  <a16:creationId xmlns:a16="http://schemas.microsoft.com/office/drawing/2014/main" id="{235A2EBC-75E8-8D72-4A9D-B691D888DD1B}"/>
                </a:ext>
              </a:extLst>
            </p:cNvPr>
            <p:cNvSpPr>
              <a:spLocks noGrp="1"/>
            </p:cNvSpPr>
            <p:nvPr/>
          </p:nvSpPr>
          <p:spPr>
            <a:xfrm>
              <a:off x="847335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6" name="U-Net flow refined 6">
              <a:extLst>
                <a:ext uri="{FF2B5EF4-FFF2-40B4-BE49-F238E27FC236}">
                  <a16:creationId xmlns:a16="http://schemas.microsoft.com/office/drawing/2014/main" id="{E16F5364-FA67-8E77-55DD-31048ACFB369}"/>
                </a:ext>
              </a:extLst>
            </p:cNvPr>
            <p:cNvSpPr>
              <a:spLocks noGrp="1"/>
            </p:cNvSpPr>
            <p:nvPr/>
          </p:nvSpPr>
          <p:spPr>
            <a:xfrm>
              <a:off x="8866738" y="1943100"/>
              <a:ext cx="90440" cy="191"/>
            </a:xfrm>
            <a:custGeom>
              <a:avLst/>
              <a:gdLst/>
              <a:ahLst/>
              <a:cxnLst/>
              <a:rect l="0" t="0" r="0" b="0"/>
              <a:pathLst>
                <a:path w="90440" h="191">
                  <a:moveTo>
                    <a:pt x="0" y="0"/>
                  </a:moveTo>
                  <a:lnTo>
                    <a:pt x="90440" y="0"/>
                  </a:lnTo>
                </a:path>
              </a:pathLst>
            </a:custGeom>
            <a:noFill/>
            <a:ln w="6480">
              <a:solidFill>
                <a:srgbClr val="4083B4"/>
              </a:solidFill>
              <a:prstDash val="solid"/>
            </a:ln>
          </p:spPr>
        </p:sp>
        <p:sp>
          <p:nvSpPr>
            <p:cNvPr id="1347" name="U-Net flow refined 6 head">
              <a:extLst>
                <a:ext uri="{FF2B5EF4-FFF2-40B4-BE49-F238E27FC236}">
                  <a16:creationId xmlns:a16="http://schemas.microsoft.com/office/drawing/2014/main" id="{CAB8405E-639F-441D-4076-97C5C8079141}"/>
                </a:ext>
              </a:extLst>
            </p:cNvPr>
            <p:cNvSpPr>
              <a:spLocks noGrp="1"/>
            </p:cNvSpPr>
            <p:nvPr/>
          </p:nvSpPr>
          <p:spPr>
            <a:xfrm>
              <a:off x="893055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8" name="Skip outer refined">
              <a:extLst>
                <a:ext uri="{FF2B5EF4-FFF2-40B4-BE49-F238E27FC236}">
                  <a16:creationId xmlns:a16="http://schemas.microsoft.com/office/drawing/2014/main" id="{FCEC7BC5-9C91-5A2D-286F-54CED1B58658}"/>
                </a:ext>
              </a:extLst>
            </p:cNvPr>
            <p:cNvSpPr>
              <a:spLocks noGrp="1"/>
            </p:cNvSpPr>
            <p:nvPr/>
          </p:nvSpPr>
          <p:spPr>
            <a:xfrm>
              <a:off x="4990063" y="1209675"/>
              <a:ext cx="4333875" cy="219075"/>
            </a:xfrm>
            <a:custGeom>
              <a:avLst/>
              <a:gdLst/>
              <a:ahLst/>
              <a:cxnLst/>
              <a:rect l="0" t="0" r="0" b="0"/>
              <a:pathLst>
                <a:path w="4333875" h="219075">
                  <a:moveTo>
                    <a:pt x="0" y="219075"/>
                  </a:moveTo>
                  <a:lnTo>
                    <a:pt x="0" y="0"/>
                  </a:lnTo>
                  <a:lnTo>
                    <a:pt x="4333875" y="0"/>
                  </a:lnTo>
                  <a:lnTo>
                    <a:pt x="4333875" y="204073"/>
                  </a:lnTo>
                </a:path>
              </a:pathLst>
            </a:custGeom>
            <a:noFill/>
            <a:ln w="5468">
              <a:solidFill>
                <a:srgbClr val="85AFCB"/>
              </a:solidFill>
              <a:prstDash val="dash"/>
            </a:ln>
          </p:spPr>
        </p:sp>
        <p:sp>
          <p:nvSpPr>
            <p:cNvPr id="1349" name="Skip outer refined head">
              <a:extLst>
                <a:ext uri="{FF2B5EF4-FFF2-40B4-BE49-F238E27FC236}">
                  <a16:creationId xmlns:a16="http://schemas.microsoft.com/office/drawing/2014/main" id="{D6AAD354-1253-F73A-1F09-0D42951F0AD2}"/>
                </a:ext>
              </a:extLst>
            </p:cNvPr>
            <p:cNvSpPr>
              <a:spLocks noGrp="1"/>
            </p:cNvSpPr>
            <p:nvPr/>
          </p:nvSpPr>
          <p:spPr>
            <a:xfrm>
              <a:off x="9305507" y="1385888"/>
              <a:ext cx="36862" cy="42863"/>
            </a:xfrm>
            <a:custGeom>
              <a:avLst/>
              <a:gdLst/>
              <a:ahLst/>
              <a:cxnLst/>
              <a:rect l="0" t="0" r="0" b="0"/>
              <a:pathLst>
                <a:path w="36862" h="42863">
                  <a:moveTo>
                    <a:pt x="18431" y="42863"/>
                  </a:moveTo>
                  <a:lnTo>
                    <a:pt x="36862" y="0"/>
                  </a:lnTo>
                  <a:lnTo>
                    <a:pt x="0" y="0"/>
                  </a:lnTo>
                  <a:close/>
                </a:path>
              </a:pathLst>
            </a:custGeom>
            <a:solidFill>
              <a:srgbClr val="85AFCB"/>
            </a:solidFill>
            <a:ln w="0">
              <a:noFill/>
              <a:prstDash val="solid"/>
            </a:ln>
          </p:spPr>
        </p:sp>
        <p:sp>
          <p:nvSpPr>
            <p:cNvPr id="1350" name="Skip middle refined">
              <a:extLst>
                <a:ext uri="{FF2B5EF4-FFF2-40B4-BE49-F238E27FC236}">
                  <a16:creationId xmlns:a16="http://schemas.microsoft.com/office/drawing/2014/main" id="{E944DD48-0E77-62B4-4E66-FC482D648DB0}"/>
                </a:ext>
              </a:extLst>
            </p:cNvPr>
            <p:cNvSpPr>
              <a:spLocks noGrp="1"/>
            </p:cNvSpPr>
            <p:nvPr/>
          </p:nvSpPr>
          <p:spPr>
            <a:xfrm>
              <a:off x="5628238" y="1295400"/>
              <a:ext cx="3067050" cy="266700"/>
            </a:xfrm>
            <a:custGeom>
              <a:avLst/>
              <a:gdLst/>
              <a:ahLst/>
              <a:cxnLst/>
              <a:rect l="0" t="0" r="0" b="0"/>
              <a:pathLst>
                <a:path w="3067050" h="266700">
                  <a:moveTo>
                    <a:pt x="0" y="266700"/>
                  </a:moveTo>
                  <a:lnTo>
                    <a:pt x="0" y="0"/>
                  </a:lnTo>
                  <a:lnTo>
                    <a:pt x="3067050" y="0"/>
                  </a:lnTo>
                  <a:lnTo>
                    <a:pt x="3067050" y="251698"/>
                  </a:lnTo>
                </a:path>
              </a:pathLst>
            </a:custGeom>
            <a:noFill/>
            <a:ln w="5468">
              <a:solidFill>
                <a:srgbClr val="85AFCB"/>
              </a:solidFill>
              <a:prstDash val="dash"/>
            </a:ln>
          </p:spPr>
        </p:sp>
        <p:sp>
          <p:nvSpPr>
            <p:cNvPr id="1351" name="Skip middle refined head">
              <a:extLst>
                <a:ext uri="{FF2B5EF4-FFF2-40B4-BE49-F238E27FC236}">
                  <a16:creationId xmlns:a16="http://schemas.microsoft.com/office/drawing/2014/main" id="{5D984C66-44F4-6C0C-29FA-C26BCC014DA5}"/>
                </a:ext>
              </a:extLst>
            </p:cNvPr>
            <p:cNvSpPr>
              <a:spLocks noGrp="1"/>
            </p:cNvSpPr>
            <p:nvPr/>
          </p:nvSpPr>
          <p:spPr>
            <a:xfrm>
              <a:off x="8676857" y="1519238"/>
              <a:ext cx="36862" cy="42863"/>
            </a:xfrm>
            <a:custGeom>
              <a:avLst/>
              <a:gdLst/>
              <a:ahLst/>
              <a:cxnLst/>
              <a:rect l="0" t="0" r="0" b="0"/>
              <a:pathLst>
                <a:path w="36862" h="42863">
                  <a:moveTo>
                    <a:pt x="18431" y="42863"/>
                  </a:moveTo>
                  <a:lnTo>
                    <a:pt x="36862" y="0"/>
                  </a:lnTo>
                  <a:lnTo>
                    <a:pt x="0" y="0"/>
                  </a:lnTo>
                  <a:close/>
                </a:path>
              </a:pathLst>
            </a:custGeom>
            <a:solidFill>
              <a:srgbClr val="85AFCB"/>
            </a:solidFill>
            <a:ln w="0">
              <a:noFill/>
              <a:prstDash val="solid"/>
            </a:ln>
          </p:spPr>
        </p:sp>
        <p:sp>
          <p:nvSpPr>
            <p:cNvPr id="1352" name="Skip inner refined">
              <a:extLst>
                <a:ext uri="{FF2B5EF4-FFF2-40B4-BE49-F238E27FC236}">
                  <a16:creationId xmlns:a16="http://schemas.microsoft.com/office/drawing/2014/main" id="{796339B7-CA5C-9A6F-F626-7D7B76227D0E}"/>
                </a:ext>
              </a:extLst>
            </p:cNvPr>
            <p:cNvSpPr>
              <a:spLocks noGrp="1"/>
            </p:cNvSpPr>
            <p:nvPr/>
          </p:nvSpPr>
          <p:spPr>
            <a:xfrm>
              <a:off x="6152113" y="1381125"/>
              <a:ext cx="2000250" cy="323850"/>
            </a:xfrm>
            <a:custGeom>
              <a:avLst/>
              <a:gdLst/>
              <a:ahLst/>
              <a:cxnLst/>
              <a:rect l="0" t="0" r="0" b="0"/>
              <a:pathLst>
                <a:path w="2000250" h="323850">
                  <a:moveTo>
                    <a:pt x="0" y="323850"/>
                  </a:moveTo>
                  <a:lnTo>
                    <a:pt x="0" y="0"/>
                  </a:lnTo>
                  <a:lnTo>
                    <a:pt x="2000250" y="0"/>
                  </a:lnTo>
                  <a:lnTo>
                    <a:pt x="2000250" y="308848"/>
                  </a:lnTo>
                </a:path>
              </a:pathLst>
            </a:custGeom>
            <a:noFill/>
            <a:ln w="5468">
              <a:solidFill>
                <a:srgbClr val="85AFCB"/>
              </a:solidFill>
              <a:prstDash val="dash"/>
            </a:ln>
          </p:spPr>
        </p:sp>
        <p:sp>
          <p:nvSpPr>
            <p:cNvPr id="1353" name="Skip inner refined head">
              <a:extLst>
                <a:ext uri="{FF2B5EF4-FFF2-40B4-BE49-F238E27FC236}">
                  <a16:creationId xmlns:a16="http://schemas.microsoft.com/office/drawing/2014/main" id="{5389494F-4196-1B0C-C069-F40391B0419B}"/>
                </a:ext>
              </a:extLst>
            </p:cNvPr>
            <p:cNvSpPr>
              <a:spLocks noGrp="1"/>
            </p:cNvSpPr>
            <p:nvPr/>
          </p:nvSpPr>
          <p:spPr>
            <a:xfrm>
              <a:off x="8133932" y="1662113"/>
              <a:ext cx="36862" cy="42863"/>
            </a:xfrm>
            <a:custGeom>
              <a:avLst/>
              <a:gdLst/>
              <a:ahLst/>
              <a:cxnLst/>
              <a:rect l="0" t="0" r="0" b="0"/>
              <a:pathLst>
                <a:path w="36862" h="42863">
                  <a:moveTo>
                    <a:pt x="18431" y="42863"/>
                  </a:moveTo>
                  <a:lnTo>
                    <a:pt x="36862" y="0"/>
                  </a:lnTo>
                  <a:lnTo>
                    <a:pt x="0" y="0"/>
                  </a:lnTo>
                  <a:close/>
                </a:path>
              </a:pathLst>
            </a:custGeom>
            <a:solidFill>
              <a:srgbClr val="85AFCB"/>
            </a:solidFill>
            <a:ln w="0">
              <a:noFill/>
              <a:prstDash val="solid"/>
            </a:ln>
          </p:spPr>
        </p:sp>
        <p:sp>
          <p:nvSpPr>
            <p:cNvPr id="1354" name="PTV3 forward refined 1">
              <a:extLst>
                <a:ext uri="{FF2B5EF4-FFF2-40B4-BE49-F238E27FC236}">
                  <a16:creationId xmlns:a16="http://schemas.microsoft.com/office/drawing/2014/main" id="{B0492619-D665-D0F6-7061-EDCBCE3DDA3A}"/>
                </a:ext>
              </a:extLst>
            </p:cNvPr>
            <p:cNvSpPr>
              <a:spLocks noGrp="1"/>
            </p:cNvSpPr>
            <p:nvPr/>
          </p:nvSpPr>
          <p:spPr>
            <a:xfrm>
              <a:off x="5518129" y="3106769"/>
              <a:ext cx="255746" cy="191"/>
            </a:xfrm>
            <a:custGeom>
              <a:avLst/>
              <a:gdLst/>
              <a:ahLst/>
              <a:cxnLst/>
              <a:rect l="0" t="0" r="0" b="0"/>
              <a:pathLst>
                <a:path w="255746" h="191">
                  <a:moveTo>
                    <a:pt x="0" y="0"/>
                  </a:moveTo>
                  <a:lnTo>
                    <a:pt x="255746" y="0"/>
                  </a:lnTo>
                </a:path>
              </a:pathLst>
            </a:custGeom>
            <a:noFill/>
            <a:ln w="8505">
              <a:solidFill>
                <a:srgbClr val="4083B4"/>
              </a:solidFill>
              <a:prstDash val="solid"/>
            </a:ln>
          </p:spPr>
        </p:sp>
        <p:sp>
          <p:nvSpPr>
            <p:cNvPr id="1355" name="PTV3 forward refined 1 head">
              <a:extLst>
                <a:ext uri="{FF2B5EF4-FFF2-40B4-BE49-F238E27FC236}">
                  <a16:creationId xmlns:a16="http://schemas.microsoft.com/office/drawing/2014/main" id="{B7BCE76F-C831-1ABC-ADA2-90D7588CB987}"/>
                </a:ext>
              </a:extLst>
            </p:cNvPr>
            <p:cNvSpPr>
              <a:spLocks noGrp="1"/>
            </p:cNvSpPr>
            <p:nvPr/>
          </p:nvSpPr>
          <p:spPr>
            <a:xfrm>
              <a:off x="5730537" y="3078099"/>
              <a:ext cx="66675" cy="57340"/>
            </a:xfrm>
            <a:custGeom>
              <a:avLst/>
              <a:gdLst/>
              <a:ahLst/>
              <a:cxnLst/>
              <a:rect l="0" t="0" r="0" b="0"/>
              <a:pathLst>
                <a:path w="66675" h="57340">
                  <a:moveTo>
                    <a:pt x="66675" y="28670"/>
                  </a:moveTo>
                  <a:lnTo>
                    <a:pt x="0" y="0"/>
                  </a:lnTo>
                  <a:lnTo>
                    <a:pt x="0" y="57340"/>
                  </a:lnTo>
                  <a:close/>
                </a:path>
              </a:pathLst>
            </a:custGeom>
            <a:solidFill>
              <a:srgbClr val="4083B4"/>
            </a:solidFill>
            <a:ln w="0">
              <a:solidFill>
                <a:srgbClr val="4083B4"/>
              </a:solidFill>
              <a:prstDash val="solid"/>
            </a:ln>
          </p:spPr>
        </p:sp>
        <p:sp>
          <p:nvSpPr>
            <p:cNvPr id="1356" name="PTV3 forward refined 2">
              <a:extLst>
                <a:ext uri="{FF2B5EF4-FFF2-40B4-BE49-F238E27FC236}">
                  <a16:creationId xmlns:a16="http://schemas.microsoft.com/office/drawing/2014/main" id="{24AE15E3-3B2D-CC4A-618E-E9BB13DA2E16}"/>
                </a:ext>
              </a:extLst>
            </p:cNvPr>
            <p:cNvSpPr>
              <a:spLocks noGrp="1"/>
            </p:cNvSpPr>
            <p:nvPr/>
          </p:nvSpPr>
          <p:spPr>
            <a:xfrm>
              <a:off x="6522731" y="3106769"/>
              <a:ext cx="311563" cy="191"/>
            </a:xfrm>
            <a:custGeom>
              <a:avLst/>
              <a:gdLst/>
              <a:ahLst/>
              <a:cxnLst/>
              <a:rect l="0" t="0" r="0" b="0"/>
              <a:pathLst>
                <a:path w="311563" h="191">
                  <a:moveTo>
                    <a:pt x="0" y="0"/>
                  </a:moveTo>
                  <a:lnTo>
                    <a:pt x="311563" y="0"/>
                  </a:lnTo>
                </a:path>
              </a:pathLst>
            </a:custGeom>
            <a:noFill/>
            <a:ln w="8505">
              <a:solidFill>
                <a:srgbClr val="4083B4"/>
              </a:solidFill>
              <a:prstDash val="solid"/>
            </a:ln>
          </p:spPr>
        </p:sp>
        <p:sp>
          <p:nvSpPr>
            <p:cNvPr id="1357" name="PTV3 forward refined 2 head">
              <a:extLst>
                <a:ext uri="{FF2B5EF4-FFF2-40B4-BE49-F238E27FC236}">
                  <a16:creationId xmlns:a16="http://schemas.microsoft.com/office/drawing/2014/main" id="{8007E90B-E49B-BC36-45F6-E1B46BA41A6C}"/>
                </a:ext>
              </a:extLst>
            </p:cNvPr>
            <p:cNvSpPr>
              <a:spLocks noGrp="1"/>
            </p:cNvSpPr>
            <p:nvPr/>
          </p:nvSpPr>
          <p:spPr>
            <a:xfrm>
              <a:off x="6790955" y="3078099"/>
              <a:ext cx="66675" cy="57340"/>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58" name="PTV3 forward refined 3">
              <a:extLst>
                <a:ext uri="{FF2B5EF4-FFF2-40B4-BE49-F238E27FC236}">
                  <a16:creationId xmlns:a16="http://schemas.microsoft.com/office/drawing/2014/main" id="{2D087525-2ABD-3A01-10DA-7F65FB2DD09A}"/>
                </a:ext>
              </a:extLst>
            </p:cNvPr>
            <p:cNvSpPr>
              <a:spLocks noGrp="1"/>
            </p:cNvSpPr>
            <p:nvPr/>
          </p:nvSpPr>
          <p:spPr>
            <a:xfrm>
              <a:off x="7508759" y="3106769"/>
              <a:ext cx="311563" cy="191"/>
            </a:xfrm>
            <a:custGeom>
              <a:avLst/>
              <a:gdLst/>
              <a:ahLst/>
              <a:cxnLst/>
              <a:rect l="0" t="0" r="0" b="0"/>
              <a:pathLst>
                <a:path w="311563" h="191">
                  <a:moveTo>
                    <a:pt x="0" y="0"/>
                  </a:moveTo>
                  <a:lnTo>
                    <a:pt x="311563" y="0"/>
                  </a:lnTo>
                </a:path>
              </a:pathLst>
            </a:custGeom>
            <a:noFill/>
            <a:ln w="8505">
              <a:solidFill>
                <a:srgbClr val="4083B4"/>
              </a:solidFill>
              <a:prstDash val="solid"/>
            </a:ln>
          </p:spPr>
        </p:sp>
        <p:sp>
          <p:nvSpPr>
            <p:cNvPr id="1359" name="PTV3 forward refined 3 head">
              <a:extLst>
                <a:ext uri="{FF2B5EF4-FFF2-40B4-BE49-F238E27FC236}">
                  <a16:creationId xmlns:a16="http://schemas.microsoft.com/office/drawing/2014/main" id="{417DAC3E-DE7D-4EBD-83BF-06F7FB2A8085}"/>
                </a:ext>
              </a:extLst>
            </p:cNvPr>
            <p:cNvSpPr>
              <a:spLocks noGrp="1"/>
            </p:cNvSpPr>
            <p:nvPr/>
          </p:nvSpPr>
          <p:spPr>
            <a:xfrm>
              <a:off x="7776983" y="3078099"/>
              <a:ext cx="66675" cy="57340"/>
            </a:xfrm>
            <a:custGeom>
              <a:avLst/>
              <a:gdLst/>
              <a:ahLst/>
              <a:cxnLst/>
              <a:rect l="0" t="0" r="0" b="0"/>
              <a:pathLst>
                <a:path w="66675" h="57340">
                  <a:moveTo>
                    <a:pt x="66675" y="28670"/>
                  </a:moveTo>
                  <a:lnTo>
                    <a:pt x="0" y="0"/>
                  </a:lnTo>
                  <a:lnTo>
                    <a:pt x="0" y="57340"/>
                  </a:lnTo>
                  <a:close/>
                </a:path>
              </a:pathLst>
            </a:custGeom>
            <a:solidFill>
              <a:srgbClr val="4083B4"/>
            </a:solidFill>
            <a:ln w="0">
              <a:solidFill>
                <a:srgbClr val="4083B4"/>
              </a:solidFill>
              <a:prstDash val="solid"/>
            </a:ln>
          </p:spPr>
        </p:sp>
        <p:sp>
          <p:nvSpPr>
            <p:cNvPr id="1360" name="PTV3 forward refined 4">
              <a:extLst>
                <a:ext uri="{FF2B5EF4-FFF2-40B4-BE49-F238E27FC236}">
                  <a16:creationId xmlns:a16="http://schemas.microsoft.com/office/drawing/2014/main" id="{3F66A9B7-F35C-EB4C-B102-3F29A4296978}"/>
                </a:ext>
              </a:extLst>
            </p:cNvPr>
            <p:cNvSpPr>
              <a:spLocks noGrp="1"/>
            </p:cNvSpPr>
            <p:nvPr/>
          </p:nvSpPr>
          <p:spPr>
            <a:xfrm>
              <a:off x="8569082" y="3106769"/>
              <a:ext cx="255746" cy="191"/>
            </a:xfrm>
            <a:custGeom>
              <a:avLst/>
              <a:gdLst/>
              <a:ahLst/>
              <a:cxnLst/>
              <a:rect l="0" t="0" r="0" b="0"/>
              <a:pathLst>
                <a:path w="255746" h="191">
                  <a:moveTo>
                    <a:pt x="0" y="0"/>
                  </a:moveTo>
                  <a:lnTo>
                    <a:pt x="255746" y="0"/>
                  </a:lnTo>
                </a:path>
              </a:pathLst>
            </a:custGeom>
            <a:noFill/>
            <a:ln w="8505">
              <a:solidFill>
                <a:srgbClr val="4083B4"/>
              </a:solidFill>
              <a:prstDash val="solid"/>
            </a:ln>
          </p:spPr>
        </p:sp>
        <p:sp>
          <p:nvSpPr>
            <p:cNvPr id="1361" name="PTV3 forward refined 4 head">
              <a:extLst>
                <a:ext uri="{FF2B5EF4-FFF2-40B4-BE49-F238E27FC236}">
                  <a16:creationId xmlns:a16="http://schemas.microsoft.com/office/drawing/2014/main" id="{4634E7DB-F8E3-B989-4F8D-785672F195B4}"/>
                </a:ext>
              </a:extLst>
            </p:cNvPr>
            <p:cNvSpPr>
              <a:spLocks noGrp="1"/>
            </p:cNvSpPr>
            <p:nvPr/>
          </p:nvSpPr>
          <p:spPr>
            <a:xfrm>
              <a:off x="8781489" y="3078099"/>
              <a:ext cx="66675" cy="57340"/>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62" name="Fusion refined 487.16">
              <a:extLst>
                <a:ext uri="{FF2B5EF4-FFF2-40B4-BE49-F238E27FC236}">
                  <a16:creationId xmlns:a16="http://schemas.microsoft.com/office/drawing/2014/main" id="{0FF19FA3-F74F-0EF3-2637-6AA25406EF88}"/>
                </a:ext>
              </a:extLst>
            </p:cNvPr>
            <p:cNvSpPr>
              <a:spLocks noGrp="1"/>
            </p:cNvSpPr>
            <p:nvPr/>
          </p:nvSpPr>
          <p:spPr>
            <a:xfrm>
              <a:off x="5155417" y="2418493"/>
              <a:ext cx="191" cy="404527"/>
            </a:xfrm>
            <a:custGeom>
              <a:avLst/>
              <a:gdLst/>
              <a:ahLst/>
              <a:cxnLst/>
              <a:rect l="0" t="0" r="0" b="0"/>
              <a:pathLst>
                <a:path w="191" h="404527">
                  <a:moveTo>
                    <a:pt x="0" y="0"/>
                  </a:moveTo>
                  <a:lnTo>
                    <a:pt x="0" y="404527"/>
                  </a:lnTo>
                </a:path>
              </a:pathLst>
            </a:custGeom>
            <a:noFill/>
            <a:ln w="8505">
              <a:solidFill>
                <a:srgbClr val="4083B4"/>
              </a:solidFill>
              <a:prstDash val="solid"/>
            </a:ln>
          </p:spPr>
        </p:sp>
        <p:sp>
          <p:nvSpPr>
            <p:cNvPr id="1363" name="Fusion refined 487.16 head">
              <a:extLst>
                <a:ext uri="{FF2B5EF4-FFF2-40B4-BE49-F238E27FC236}">
                  <a16:creationId xmlns:a16="http://schemas.microsoft.com/office/drawing/2014/main" id="{3D13397A-1EED-4CCF-C88D-62A5EFCF622C}"/>
                </a:ext>
              </a:extLst>
            </p:cNvPr>
            <p:cNvSpPr>
              <a:spLocks noGrp="1"/>
            </p:cNvSpPr>
            <p:nvPr/>
          </p:nvSpPr>
          <p:spPr>
            <a:xfrm>
              <a:off x="5126747" y="2779681"/>
              <a:ext cx="57340" cy="66675"/>
            </a:xfrm>
            <a:custGeom>
              <a:avLst/>
              <a:gdLst/>
              <a:ahLst/>
              <a:cxnLst/>
              <a:rect l="0" t="0" r="0" b="0"/>
              <a:pathLst>
                <a:path w="57340" h="66675">
                  <a:moveTo>
                    <a:pt x="28670" y="66675"/>
                  </a:moveTo>
                  <a:lnTo>
                    <a:pt x="57340" y="0"/>
                  </a:lnTo>
                  <a:lnTo>
                    <a:pt x="0" y="0"/>
                  </a:lnTo>
                  <a:close/>
                </a:path>
              </a:pathLst>
            </a:custGeom>
            <a:solidFill>
              <a:srgbClr val="4083B4"/>
            </a:solidFill>
            <a:ln w="0">
              <a:noFill/>
              <a:prstDash val="solid"/>
            </a:ln>
          </p:spPr>
        </p:sp>
        <p:sp>
          <p:nvSpPr>
            <p:cNvPr id="1364" name="Fusion refined 700.05">
              <a:extLst>
                <a:ext uri="{FF2B5EF4-FFF2-40B4-BE49-F238E27FC236}">
                  <a16:creationId xmlns:a16="http://schemas.microsoft.com/office/drawing/2014/main" id="{F3328C85-8D10-5BAE-F06A-A042F88B4457}"/>
                </a:ext>
              </a:extLst>
            </p:cNvPr>
            <p:cNvSpPr>
              <a:spLocks noGrp="1"/>
            </p:cNvSpPr>
            <p:nvPr/>
          </p:nvSpPr>
          <p:spPr>
            <a:xfrm>
              <a:off x="7183194" y="2418493"/>
              <a:ext cx="191" cy="404527"/>
            </a:xfrm>
            <a:custGeom>
              <a:avLst/>
              <a:gdLst/>
              <a:ahLst/>
              <a:cxnLst/>
              <a:rect l="0" t="0" r="0" b="0"/>
              <a:pathLst>
                <a:path w="191" h="404527">
                  <a:moveTo>
                    <a:pt x="0" y="0"/>
                  </a:moveTo>
                  <a:lnTo>
                    <a:pt x="0" y="404527"/>
                  </a:lnTo>
                </a:path>
              </a:pathLst>
            </a:custGeom>
            <a:noFill/>
            <a:ln w="8505">
              <a:solidFill>
                <a:srgbClr val="4083B4"/>
              </a:solidFill>
              <a:prstDash val="solid"/>
            </a:ln>
          </p:spPr>
        </p:sp>
        <p:sp>
          <p:nvSpPr>
            <p:cNvPr id="1365" name="Fusion refined 700.05 head">
              <a:extLst>
                <a:ext uri="{FF2B5EF4-FFF2-40B4-BE49-F238E27FC236}">
                  <a16:creationId xmlns:a16="http://schemas.microsoft.com/office/drawing/2014/main" id="{615DF42F-7A96-D005-2B04-2E5B83AF189A}"/>
                </a:ext>
              </a:extLst>
            </p:cNvPr>
            <p:cNvSpPr>
              <a:spLocks noGrp="1"/>
            </p:cNvSpPr>
            <p:nvPr/>
          </p:nvSpPr>
          <p:spPr>
            <a:xfrm>
              <a:off x="7154524" y="2779681"/>
              <a:ext cx="57340" cy="66675"/>
            </a:xfrm>
            <a:custGeom>
              <a:avLst/>
              <a:gdLst/>
              <a:ahLst/>
              <a:cxnLst/>
              <a:rect l="0" t="0" r="0" b="0"/>
              <a:pathLst>
                <a:path w="57340" h="66675">
                  <a:moveTo>
                    <a:pt x="28670" y="66675"/>
                  </a:moveTo>
                  <a:lnTo>
                    <a:pt x="57340" y="0"/>
                  </a:lnTo>
                  <a:lnTo>
                    <a:pt x="0" y="0"/>
                  </a:lnTo>
                  <a:close/>
                </a:path>
              </a:pathLst>
            </a:custGeom>
            <a:solidFill>
              <a:srgbClr val="4083B4"/>
            </a:solidFill>
            <a:ln w="0">
              <a:noFill/>
              <a:prstDash val="solid"/>
            </a:ln>
          </p:spPr>
        </p:sp>
        <p:sp>
          <p:nvSpPr>
            <p:cNvPr id="1366" name="Fusion refined 912.94">
              <a:extLst>
                <a:ext uri="{FF2B5EF4-FFF2-40B4-BE49-F238E27FC236}">
                  <a16:creationId xmlns:a16="http://schemas.microsoft.com/office/drawing/2014/main" id="{8F954EB4-FAB9-9DC0-DCA1-6E84B625ECD7}"/>
                </a:ext>
              </a:extLst>
            </p:cNvPr>
            <p:cNvSpPr>
              <a:spLocks noGrp="1"/>
            </p:cNvSpPr>
            <p:nvPr/>
          </p:nvSpPr>
          <p:spPr>
            <a:xfrm>
              <a:off x="9210972" y="2418493"/>
              <a:ext cx="191" cy="404527"/>
            </a:xfrm>
            <a:custGeom>
              <a:avLst/>
              <a:gdLst/>
              <a:ahLst/>
              <a:cxnLst/>
              <a:rect l="0" t="0" r="0" b="0"/>
              <a:pathLst>
                <a:path w="191" h="404527">
                  <a:moveTo>
                    <a:pt x="0" y="0"/>
                  </a:moveTo>
                  <a:lnTo>
                    <a:pt x="0" y="404527"/>
                  </a:lnTo>
                </a:path>
              </a:pathLst>
            </a:custGeom>
            <a:noFill/>
            <a:ln w="8505">
              <a:solidFill>
                <a:srgbClr val="4083B4"/>
              </a:solidFill>
              <a:prstDash val="solid"/>
            </a:ln>
          </p:spPr>
        </p:sp>
        <p:sp>
          <p:nvSpPr>
            <p:cNvPr id="1367" name="Fusion refined 912.94 head">
              <a:extLst>
                <a:ext uri="{FF2B5EF4-FFF2-40B4-BE49-F238E27FC236}">
                  <a16:creationId xmlns:a16="http://schemas.microsoft.com/office/drawing/2014/main" id="{DDC6F6E8-2600-F9F0-8C4C-DF220F079064}"/>
                </a:ext>
              </a:extLst>
            </p:cNvPr>
            <p:cNvSpPr>
              <a:spLocks noGrp="1"/>
            </p:cNvSpPr>
            <p:nvPr/>
          </p:nvSpPr>
          <p:spPr>
            <a:xfrm>
              <a:off x="9182301" y="2779681"/>
              <a:ext cx="57340" cy="66675"/>
            </a:xfrm>
            <a:custGeom>
              <a:avLst/>
              <a:gdLst/>
              <a:ahLst/>
              <a:cxnLst/>
              <a:rect l="0" t="0" r="0" b="0"/>
              <a:pathLst>
                <a:path w="57340" h="66675">
                  <a:moveTo>
                    <a:pt x="28670" y="66675"/>
                  </a:moveTo>
                  <a:lnTo>
                    <a:pt x="57340" y="0"/>
                  </a:lnTo>
                  <a:lnTo>
                    <a:pt x="0" y="0"/>
                  </a:lnTo>
                  <a:close/>
                </a:path>
              </a:pathLst>
            </a:custGeom>
            <a:solidFill>
              <a:srgbClr val="4083B4"/>
            </a:solidFill>
            <a:ln w="0">
              <a:noFill/>
              <a:prstDash val="solid"/>
            </a:ln>
          </p:spPr>
        </p:sp>
        <p:sp>
          <p:nvSpPr>
            <p:cNvPr id="1368" name="Recycle right refined">
              <a:extLst>
                <a:ext uri="{FF2B5EF4-FFF2-40B4-BE49-F238E27FC236}">
                  <a16:creationId xmlns:a16="http://schemas.microsoft.com/office/drawing/2014/main" id="{D9AFE2A4-7629-8D55-72A2-74513ED16554}"/>
                </a:ext>
              </a:extLst>
            </p:cNvPr>
            <p:cNvSpPr>
              <a:spLocks noGrp="1"/>
            </p:cNvSpPr>
            <p:nvPr/>
          </p:nvSpPr>
          <p:spPr>
            <a:xfrm>
              <a:off x="7666874" y="3385852"/>
              <a:ext cx="1544098" cy="241840"/>
            </a:xfrm>
            <a:custGeom>
              <a:avLst/>
              <a:gdLst/>
              <a:ahLst/>
              <a:cxnLst/>
              <a:rect l="0" t="0" r="0" b="0"/>
              <a:pathLst>
                <a:path w="1544098" h="241840">
                  <a:moveTo>
                    <a:pt x="1544098" y="0"/>
                  </a:moveTo>
                  <a:lnTo>
                    <a:pt x="1544098" y="241840"/>
                  </a:lnTo>
                  <a:lnTo>
                    <a:pt x="0" y="241840"/>
                  </a:lnTo>
                </a:path>
              </a:pathLst>
            </a:custGeom>
            <a:noFill/>
            <a:ln w="8505">
              <a:solidFill>
                <a:srgbClr val="4083B4"/>
              </a:solidFill>
              <a:prstDash val="solid"/>
            </a:ln>
          </p:spPr>
        </p:sp>
        <p:sp>
          <p:nvSpPr>
            <p:cNvPr id="1369" name="Recycle left refined">
              <a:extLst>
                <a:ext uri="{FF2B5EF4-FFF2-40B4-BE49-F238E27FC236}">
                  <a16:creationId xmlns:a16="http://schemas.microsoft.com/office/drawing/2014/main" id="{9E9F6AF5-6C88-4D6A-4EB6-AE11098D540D}"/>
                </a:ext>
              </a:extLst>
            </p:cNvPr>
            <p:cNvSpPr>
              <a:spLocks noGrp="1"/>
            </p:cNvSpPr>
            <p:nvPr/>
          </p:nvSpPr>
          <p:spPr>
            <a:xfrm>
              <a:off x="5155417" y="3409188"/>
              <a:ext cx="1544098" cy="218503"/>
            </a:xfrm>
            <a:custGeom>
              <a:avLst/>
              <a:gdLst/>
              <a:ahLst/>
              <a:cxnLst/>
              <a:rect l="0" t="0" r="0" b="0"/>
              <a:pathLst>
                <a:path w="1544098" h="218503">
                  <a:moveTo>
                    <a:pt x="1544098" y="218503"/>
                  </a:moveTo>
                  <a:lnTo>
                    <a:pt x="0" y="218503"/>
                  </a:lnTo>
                  <a:lnTo>
                    <a:pt x="0" y="0"/>
                  </a:lnTo>
                </a:path>
              </a:pathLst>
            </a:custGeom>
            <a:noFill/>
            <a:ln w="8505">
              <a:solidFill>
                <a:srgbClr val="4083B4"/>
              </a:solidFill>
              <a:prstDash val="solid"/>
            </a:ln>
          </p:spPr>
        </p:sp>
        <p:sp>
          <p:nvSpPr>
            <p:cNvPr id="1370" name="Recycle left refined head">
              <a:extLst>
                <a:ext uri="{FF2B5EF4-FFF2-40B4-BE49-F238E27FC236}">
                  <a16:creationId xmlns:a16="http://schemas.microsoft.com/office/drawing/2014/main" id="{FC70626C-9297-3774-289D-8C74BAB81591}"/>
                </a:ext>
              </a:extLst>
            </p:cNvPr>
            <p:cNvSpPr>
              <a:spLocks noGrp="1"/>
            </p:cNvSpPr>
            <p:nvPr/>
          </p:nvSpPr>
          <p:spPr>
            <a:xfrm>
              <a:off x="5126747" y="3385852"/>
              <a:ext cx="57340" cy="66675"/>
            </a:xfrm>
            <a:custGeom>
              <a:avLst/>
              <a:gdLst/>
              <a:ahLst/>
              <a:cxnLst/>
              <a:rect l="0" t="0" r="0" b="0"/>
              <a:pathLst>
                <a:path w="57340" h="66675">
                  <a:moveTo>
                    <a:pt x="28670" y="0"/>
                  </a:moveTo>
                  <a:lnTo>
                    <a:pt x="0" y="66675"/>
                  </a:lnTo>
                  <a:lnTo>
                    <a:pt x="57340" y="66675"/>
                  </a:lnTo>
                  <a:close/>
                </a:path>
              </a:pathLst>
            </a:custGeom>
            <a:solidFill>
              <a:srgbClr val="4083B4"/>
            </a:solidFill>
            <a:ln w="0">
              <a:noFill/>
              <a:prstDash val="solid"/>
            </a:ln>
          </p:spPr>
        </p:sp>
        <p:sp>
          <p:nvSpPr>
            <p:cNvPr id="1371" name="Crop to summary refined">
              <a:extLst>
                <a:ext uri="{FF2B5EF4-FFF2-40B4-BE49-F238E27FC236}">
                  <a16:creationId xmlns:a16="http://schemas.microsoft.com/office/drawing/2014/main" id="{23964A60-5300-B32A-CC8C-9F9A10909522}"/>
                </a:ext>
              </a:extLst>
            </p:cNvPr>
            <p:cNvSpPr>
              <a:spLocks noGrp="1"/>
            </p:cNvSpPr>
            <p:nvPr/>
          </p:nvSpPr>
          <p:spPr>
            <a:xfrm>
              <a:off x="3807779" y="6064758"/>
              <a:ext cx="1148715" cy="191"/>
            </a:xfrm>
            <a:custGeom>
              <a:avLst/>
              <a:gdLst/>
              <a:ahLst/>
              <a:cxnLst/>
              <a:rect l="0" t="0" r="0" b="0"/>
              <a:pathLst>
                <a:path w="1148715" h="191">
                  <a:moveTo>
                    <a:pt x="0" y="0"/>
                  </a:moveTo>
                  <a:lnTo>
                    <a:pt x="1148715" y="0"/>
                  </a:lnTo>
                </a:path>
              </a:pathLst>
            </a:custGeom>
            <a:noFill/>
            <a:ln w="8505">
              <a:solidFill>
                <a:srgbClr val="4083B4"/>
              </a:solidFill>
              <a:prstDash val="solid"/>
            </a:ln>
          </p:spPr>
        </p:sp>
        <p:sp>
          <p:nvSpPr>
            <p:cNvPr id="1372" name="Crop to summary refined head">
              <a:extLst>
                <a:ext uri="{FF2B5EF4-FFF2-40B4-BE49-F238E27FC236}">
                  <a16:creationId xmlns:a16="http://schemas.microsoft.com/office/drawing/2014/main" id="{864E15CB-81EF-2FAC-14F2-E25D89F29346}"/>
                </a:ext>
              </a:extLst>
            </p:cNvPr>
            <p:cNvSpPr>
              <a:spLocks noGrp="1"/>
            </p:cNvSpPr>
            <p:nvPr/>
          </p:nvSpPr>
          <p:spPr>
            <a:xfrm>
              <a:off x="4913156" y="6036088"/>
              <a:ext cx="66675" cy="57340"/>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73" name="Input split refined">
              <a:extLst>
                <a:ext uri="{FF2B5EF4-FFF2-40B4-BE49-F238E27FC236}">
                  <a16:creationId xmlns:a16="http://schemas.microsoft.com/office/drawing/2014/main" id="{B4BBBDF4-6774-1D2C-95B2-F3B88AB1C869}"/>
                </a:ext>
              </a:extLst>
            </p:cNvPr>
            <p:cNvSpPr>
              <a:spLocks noGrp="1"/>
            </p:cNvSpPr>
            <p:nvPr/>
          </p:nvSpPr>
          <p:spPr>
            <a:xfrm>
              <a:off x="2301020" y="7793355"/>
              <a:ext cx="846772" cy="160020"/>
            </a:xfrm>
            <a:custGeom>
              <a:avLst/>
              <a:gdLst/>
              <a:ahLst/>
              <a:cxnLst/>
              <a:rect l="0" t="0" r="0" b="0"/>
              <a:pathLst>
                <a:path w="846772" h="160020">
                  <a:moveTo>
                    <a:pt x="846772" y="0"/>
                  </a:moveTo>
                  <a:lnTo>
                    <a:pt x="846772" y="160020"/>
                  </a:lnTo>
                  <a:lnTo>
                    <a:pt x="0" y="160020"/>
                  </a:lnTo>
                </a:path>
              </a:pathLst>
            </a:custGeom>
            <a:noFill/>
            <a:ln w="8505">
              <a:solidFill>
                <a:srgbClr val="3B8C80"/>
              </a:solidFill>
              <a:prstDash val="solid"/>
            </a:ln>
          </p:spPr>
        </p:sp>
        <p:sp>
          <p:nvSpPr>
            <p:cNvPr id="1374" name="Input split right refined">
              <a:extLst>
                <a:ext uri="{FF2B5EF4-FFF2-40B4-BE49-F238E27FC236}">
                  <a16:creationId xmlns:a16="http://schemas.microsoft.com/office/drawing/2014/main" id="{950F0CCA-2F88-9AFF-22D8-DAA7ACB6176C}"/>
                </a:ext>
              </a:extLst>
            </p:cNvPr>
            <p:cNvSpPr>
              <a:spLocks noGrp="1"/>
            </p:cNvSpPr>
            <p:nvPr/>
          </p:nvSpPr>
          <p:spPr>
            <a:xfrm>
              <a:off x="3147792" y="7953375"/>
              <a:ext cx="827723" cy="191"/>
            </a:xfrm>
            <a:custGeom>
              <a:avLst/>
              <a:gdLst/>
              <a:ahLst/>
              <a:cxnLst/>
              <a:rect l="0" t="0" r="0" b="0"/>
              <a:pathLst>
                <a:path w="827723" h="191">
                  <a:moveTo>
                    <a:pt x="0" y="0"/>
                  </a:moveTo>
                  <a:lnTo>
                    <a:pt x="827723" y="0"/>
                  </a:lnTo>
                </a:path>
              </a:pathLst>
            </a:custGeom>
            <a:noFill/>
            <a:ln w="8505">
              <a:solidFill>
                <a:srgbClr val="3B8C80"/>
              </a:solidFill>
              <a:prstDash val="solid"/>
            </a:ln>
          </p:spPr>
        </p:sp>
        <p:sp>
          <p:nvSpPr>
            <p:cNvPr id="1375" name="Inputs to pool refined">
              <a:extLst>
                <a:ext uri="{FF2B5EF4-FFF2-40B4-BE49-F238E27FC236}">
                  <a16:creationId xmlns:a16="http://schemas.microsoft.com/office/drawing/2014/main" id="{B22E0EF3-FD19-0826-1822-07182CC69FC5}"/>
                </a:ext>
              </a:extLst>
            </p:cNvPr>
            <p:cNvSpPr>
              <a:spLocks noGrp="1"/>
            </p:cNvSpPr>
            <p:nvPr/>
          </p:nvSpPr>
          <p:spPr>
            <a:xfrm>
              <a:off x="2301020" y="7953375"/>
              <a:ext cx="191" cy="143732"/>
            </a:xfrm>
            <a:custGeom>
              <a:avLst/>
              <a:gdLst/>
              <a:ahLst/>
              <a:cxnLst/>
              <a:rect l="0" t="0" r="0" b="0"/>
              <a:pathLst>
                <a:path w="191" h="143732">
                  <a:moveTo>
                    <a:pt x="0" y="0"/>
                  </a:moveTo>
                  <a:lnTo>
                    <a:pt x="0" y="143732"/>
                  </a:lnTo>
                </a:path>
              </a:pathLst>
            </a:custGeom>
            <a:noFill/>
            <a:ln w="8505">
              <a:solidFill>
                <a:srgbClr val="3B8C80"/>
              </a:solidFill>
              <a:prstDash val="solid"/>
            </a:ln>
          </p:spPr>
        </p:sp>
        <p:sp>
          <p:nvSpPr>
            <p:cNvPr id="1376" name="Inputs to pool refined head">
              <a:extLst>
                <a:ext uri="{FF2B5EF4-FFF2-40B4-BE49-F238E27FC236}">
                  <a16:creationId xmlns:a16="http://schemas.microsoft.com/office/drawing/2014/main" id="{CA70B1F6-4A00-BABC-2972-012866989961}"/>
                </a:ext>
              </a:extLst>
            </p:cNvPr>
            <p:cNvSpPr>
              <a:spLocks noGrp="1"/>
            </p:cNvSpPr>
            <p:nvPr/>
          </p:nvSpPr>
          <p:spPr>
            <a:xfrm>
              <a:off x="2272349" y="8053769"/>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77" name="Inputs to attention refined">
              <a:extLst>
                <a:ext uri="{FF2B5EF4-FFF2-40B4-BE49-F238E27FC236}">
                  <a16:creationId xmlns:a16="http://schemas.microsoft.com/office/drawing/2014/main" id="{08F1A61E-3B0E-8BF6-7F27-5CCE4D22C59A}"/>
                </a:ext>
              </a:extLst>
            </p:cNvPr>
            <p:cNvSpPr>
              <a:spLocks noGrp="1"/>
            </p:cNvSpPr>
            <p:nvPr/>
          </p:nvSpPr>
          <p:spPr>
            <a:xfrm>
              <a:off x="3975515" y="7953375"/>
              <a:ext cx="191" cy="143732"/>
            </a:xfrm>
            <a:custGeom>
              <a:avLst/>
              <a:gdLst/>
              <a:ahLst/>
              <a:cxnLst/>
              <a:rect l="0" t="0" r="0" b="0"/>
              <a:pathLst>
                <a:path w="191" h="143732">
                  <a:moveTo>
                    <a:pt x="0" y="0"/>
                  </a:moveTo>
                  <a:lnTo>
                    <a:pt x="0" y="143732"/>
                  </a:lnTo>
                </a:path>
              </a:pathLst>
            </a:custGeom>
            <a:noFill/>
            <a:ln w="8505">
              <a:solidFill>
                <a:srgbClr val="3B8C80"/>
              </a:solidFill>
              <a:prstDash val="solid"/>
            </a:ln>
          </p:spPr>
        </p:sp>
        <p:sp>
          <p:nvSpPr>
            <p:cNvPr id="1378" name="Inputs to attention refined head">
              <a:extLst>
                <a:ext uri="{FF2B5EF4-FFF2-40B4-BE49-F238E27FC236}">
                  <a16:creationId xmlns:a16="http://schemas.microsoft.com/office/drawing/2014/main" id="{4A8E2717-7DBF-7A20-898F-8A4B8D99C916}"/>
                </a:ext>
              </a:extLst>
            </p:cNvPr>
            <p:cNvSpPr>
              <a:spLocks noGrp="1"/>
            </p:cNvSpPr>
            <p:nvPr/>
          </p:nvSpPr>
          <p:spPr>
            <a:xfrm>
              <a:off x="3946844" y="8053769"/>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83" name="MLP to FiLM refined">
              <a:extLst>
                <a:ext uri="{FF2B5EF4-FFF2-40B4-BE49-F238E27FC236}">
                  <a16:creationId xmlns:a16="http://schemas.microsoft.com/office/drawing/2014/main" id="{2C7C678A-F3D0-E51D-2CD6-B41E5CBA7774}"/>
                </a:ext>
              </a:extLst>
            </p:cNvPr>
            <p:cNvSpPr>
              <a:spLocks noGrp="1"/>
            </p:cNvSpPr>
            <p:nvPr/>
          </p:nvSpPr>
          <p:spPr>
            <a:xfrm>
              <a:off x="3546890" y="8968264"/>
              <a:ext cx="1502569" cy="191"/>
            </a:xfrm>
            <a:custGeom>
              <a:avLst/>
              <a:gdLst/>
              <a:ahLst/>
              <a:cxnLst/>
              <a:rect l="0" t="0" r="0" b="0"/>
              <a:pathLst>
                <a:path w="1502569" h="191">
                  <a:moveTo>
                    <a:pt x="0" y="0"/>
                  </a:moveTo>
                  <a:lnTo>
                    <a:pt x="1502569" y="0"/>
                  </a:lnTo>
                </a:path>
              </a:pathLst>
            </a:custGeom>
            <a:noFill/>
            <a:ln w="8505">
              <a:solidFill>
                <a:srgbClr val="3B8C80"/>
              </a:solidFill>
              <a:prstDash val="solid"/>
            </a:ln>
          </p:spPr>
        </p:sp>
        <p:sp>
          <p:nvSpPr>
            <p:cNvPr id="1384" name="MLP to FiLM refined head">
              <a:extLst>
                <a:ext uri="{FF2B5EF4-FFF2-40B4-BE49-F238E27FC236}">
                  <a16:creationId xmlns:a16="http://schemas.microsoft.com/office/drawing/2014/main" id="{E62BF4CB-2DFB-E34F-0A43-259454CA6416}"/>
                </a:ext>
              </a:extLst>
            </p:cNvPr>
            <p:cNvSpPr>
              <a:spLocks noGrp="1"/>
            </p:cNvSpPr>
            <p:nvPr/>
          </p:nvSpPr>
          <p:spPr>
            <a:xfrm>
              <a:off x="5006120" y="8939594"/>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385" name="Summary to FiLM refined">
              <a:extLst>
                <a:ext uri="{FF2B5EF4-FFF2-40B4-BE49-F238E27FC236}">
                  <a16:creationId xmlns:a16="http://schemas.microsoft.com/office/drawing/2014/main" id="{4AD6C56A-E9C3-F934-64AC-D936F1D8505E}"/>
                </a:ext>
              </a:extLst>
            </p:cNvPr>
            <p:cNvSpPr>
              <a:spLocks noGrp="1"/>
            </p:cNvSpPr>
            <p:nvPr/>
          </p:nvSpPr>
          <p:spPr>
            <a:xfrm>
              <a:off x="5426172" y="6400800"/>
              <a:ext cx="191" cy="2367439"/>
            </a:xfrm>
            <a:custGeom>
              <a:avLst/>
              <a:gdLst/>
              <a:ahLst/>
              <a:cxnLst/>
              <a:rect l="0" t="0" r="0" b="0"/>
              <a:pathLst>
                <a:path w="191" h="2367439">
                  <a:moveTo>
                    <a:pt x="0" y="0"/>
                  </a:moveTo>
                  <a:lnTo>
                    <a:pt x="0" y="2367439"/>
                  </a:lnTo>
                </a:path>
              </a:pathLst>
            </a:custGeom>
            <a:noFill/>
            <a:ln w="8505">
              <a:solidFill>
                <a:srgbClr val="4083B4"/>
              </a:solidFill>
              <a:prstDash val="solid"/>
            </a:ln>
          </p:spPr>
        </p:sp>
        <p:sp>
          <p:nvSpPr>
            <p:cNvPr id="1386" name="Summary to FiLM refined head">
              <a:extLst>
                <a:ext uri="{FF2B5EF4-FFF2-40B4-BE49-F238E27FC236}">
                  <a16:creationId xmlns:a16="http://schemas.microsoft.com/office/drawing/2014/main" id="{EEAEF4BF-5039-6C23-B675-9771749FE17A}"/>
                </a:ext>
              </a:extLst>
            </p:cNvPr>
            <p:cNvSpPr>
              <a:spLocks noGrp="1"/>
            </p:cNvSpPr>
            <p:nvPr/>
          </p:nvSpPr>
          <p:spPr>
            <a:xfrm>
              <a:off x="5397502" y="8724900"/>
              <a:ext cx="57340" cy="66675"/>
            </a:xfrm>
            <a:custGeom>
              <a:avLst/>
              <a:gdLst/>
              <a:ahLst/>
              <a:cxnLst/>
              <a:rect l="0" t="0" r="0" b="0"/>
              <a:pathLst>
                <a:path w="57340" h="66675">
                  <a:moveTo>
                    <a:pt x="28670" y="66675"/>
                  </a:moveTo>
                  <a:lnTo>
                    <a:pt x="57340" y="0"/>
                  </a:lnTo>
                  <a:lnTo>
                    <a:pt x="0" y="0"/>
                  </a:lnTo>
                  <a:close/>
                </a:path>
              </a:pathLst>
            </a:custGeom>
            <a:solidFill>
              <a:srgbClr val="4083B4"/>
            </a:solidFill>
            <a:ln w="0">
              <a:noFill/>
              <a:prstDash val="solid"/>
            </a:ln>
          </p:spPr>
        </p:sp>
        <p:sp>
          <p:nvSpPr>
            <p:cNvPr id="1387" name="Summary to cross attention refined">
              <a:extLst>
                <a:ext uri="{FF2B5EF4-FFF2-40B4-BE49-F238E27FC236}">
                  <a16:creationId xmlns:a16="http://schemas.microsoft.com/office/drawing/2014/main" id="{EFD90DBF-A222-410E-15F3-D541CA16A8AE}"/>
                </a:ext>
              </a:extLst>
            </p:cNvPr>
            <p:cNvSpPr>
              <a:spLocks noGrp="1"/>
            </p:cNvSpPr>
            <p:nvPr/>
          </p:nvSpPr>
          <p:spPr>
            <a:xfrm>
              <a:off x="4761327" y="8297132"/>
              <a:ext cx="664845" cy="191"/>
            </a:xfrm>
            <a:custGeom>
              <a:avLst/>
              <a:gdLst/>
              <a:ahLst/>
              <a:cxnLst/>
              <a:rect l="0" t="0" r="0" b="0"/>
              <a:pathLst>
                <a:path w="664845" h="191">
                  <a:moveTo>
                    <a:pt x="664845" y="0"/>
                  </a:moveTo>
                  <a:lnTo>
                    <a:pt x="0" y="0"/>
                  </a:lnTo>
                </a:path>
              </a:pathLst>
            </a:custGeom>
            <a:noFill/>
            <a:ln w="8505">
              <a:solidFill>
                <a:srgbClr val="4083B4"/>
              </a:solidFill>
              <a:prstDash val="solid"/>
            </a:ln>
          </p:spPr>
        </p:sp>
        <p:sp>
          <p:nvSpPr>
            <p:cNvPr id="1388" name="Summary to cross attention refined head">
              <a:extLst>
                <a:ext uri="{FF2B5EF4-FFF2-40B4-BE49-F238E27FC236}">
                  <a16:creationId xmlns:a16="http://schemas.microsoft.com/office/drawing/2014/main" id="{91B08F31-0339-9716-3395-2B3F8970BA82}"/>
                </a:ext>
              </a:extLst>
            </p:cNvPr>
            <p:cNvSpPr>
              <a:spLocks noGrp="1"/>
            </p:cNvSpPr>
            <p:nvPr/>
          </p:nvSpPr>
          <p:spPr>
            <a:xfrm>
              <a:off x="4737991" y="8268462"/>
              <a:ext cx="66675" cy="57340"/>
            </a:xfrm>
            <a:custGeom>
              <a:avLst/>
              <a:gdLst/>
              <a:ahLst/>
              <a:cxnLst/>
              <a:rect l="0" t="0" r="0" b="0"/>
              <a:pathLst>
                <a:path w="66675" h="57340">
                  <a:moveTo>
                    <a:pt x="0" y="28670"/>
                  </a:moveTo>
                  <a:lnTo>
                    <a:pt x="66675" y="57340"/>
                  </a:lnTo>
                  <a:lnTo>
                    <a:pt x="66675" y="0"/>
                  </a:lnTo>
                  <a:close/>
                </a:path>
              </a:pathLst>
            </a:custGeom>
            <a:solidFill>
              <a:srgbClr val="4083B4"/>
            </a:solidFill>
            <a:ln w="0">
              <a:noFill/>
              <a:prstDash val="solid"/>
            </a:ln>
          </p:spPr>
        </p:sp>
        <p:sp>
          <p:nvSpPr>
            <p:cNvPr id="1389" name="FiLM to candidate refined">
              <a:extLst>
                <a:ext uri="{FF2B5EF4-FFF2-40B4-BE49-F238E27FC236}">
                  <a16:creationId xmlns:a16="http://schemas.microsoft.com/office/drawing/2014/main" id="{25FC3F76-C3DD-1537-7837-64B9361AE243}"/>
                </a:ext>
              </a:extLst>
            </p:cNvPr>
            <p:cNvSpPr>
              <a:spLocks noGrp="1"/>
            </p:cNvSpPr>
            <p:nvPr/>
          </p:nvSpPr>
          <p:spPr>
            <a:xfrm>
              <a:off x="5426172" y="9144953"/>
              <a:ext cx="191" cy="215360"/>
            </a:xfrm>
            <a:custGeom>
              <a:avLst/>
              <a:gdLst/>
              <a:ahLst/>
              <a:cxnLst/>
              <a:rect l="0" t="0" r="0" b="0"/>
              <a:pathLst>
                <a:path w="191" h="215360">
                  <a:moveTo>
                    <a:pt x="0" y="0"/>
                  </a:moveTo>
                  <a:lnTo>
                    <a:pt x="0" y="215360"/>
                  </a:lnTo>
                </a:path>
              </a:pathLst>
            </a:custGeom>
            <a:noFill/>
            <a:ln w="8505">
              <a:solidFill>
                <a:srgbClr val="3B8C80"/>
              </a:solidFill>
              <a:prstDash val="solid"/>
            </a:ln>
          </p:spPr>
        </p:sp>
        <p:sp>
          <p:nvSpPr>
            <p:cNvPr id="1390" name="FiLM to candidate refined head">
              <a:extLst>
                <a:ext uri="{FF2B5EF4-FFF2-40B4-BE49-F238E27FC236}">
                  <a16:creationId xmlns:a16="http://schemas.microsoft.com/office/drawing/2014/main" id="{7A05C2E3-B0E7-7DA8-4847-EC91C004D35D}"/>
                </a:ext>
              </a:extLst>
            </p:cNvPr>
            <p:cNvSpPr>
              <a:spLocks noGrp="1"/>
            </p:cNvSpPr>
            <p:nvPr/>
          </p:nvSpPr>
          <p:spPr>
            <a:xfrm>
              <a:off x="5397502" y="9316974"/>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91" name="Candidate to foreground refined">
              <a:extLst>
                <a:ext uri="{FF2B5EF4-FFF2-40B4-BE49-F238E27FC236}">
                  <a16:creationId xmlns:a16="http://schemas.microsoft.com/office/drawing/2014/main" id="{FE203BD6-3778-87C2-8526-E332B5B380C4}"/>
                </a:ext>
              </a:extLst>
            </p:cNvPr>
            <p:cNvSpPr>
              <a:spLocks noGrp="1"/>
            </p:cNvSpPr>
            <p:nvPr/>
          </p:nvSpPr>
          <p:spPr>
            <a:xfrm>
              <a:off x="2617154" y="9525000"/>
              <a:ext cx="2809018" cy="286702"/>
            </a:xfrm>
            <a:custGeom>
              <a:avLst/>
              <a:gdLst/>
              <a:ahLst/>
              <a:cxnLst/>
              <a:rect l="0" t="0" r="0" b="0"/>
              <a:pathLst>
                <a:path w="2809018" h="286702">
                  <a:moveTo>
                    <a:pt x="2809018" y="0"/>
                  </a:moveTo>
                  <a:lnTo>
                    <a:pt x="2809018" y="95250"/>
                  </a:lnTo>
                  <a:lnTo>
                    <a:pt x="0" y="95250"/>
                  </a:lnTo>
                  <a:lnTo>
                    <a:pt x="0" y="286702"/>
                  </a:lnTo>
                </a:path>
              </a:pathLst>
            </a:custGeom>
            <a:noFill/>
            <a:ln w="8505">
              <a:solidFill>
                <a:srgbClr val="3B8C80"/>
              </a:solidFill>
              <a:prstDash val="solid"/>
            </a:ln>
          </p:spPr>
        </p:sp>
        <p:sp>
          <p:nvSpPr>
            <p:cNvPr id="1392" name="Candidate to foreground refined head">
              <a:extLst>
                <a:ext uri="{FF2B5EF4-FFF2-40B4-BE49-F238E27FC236}">
                  <a16:creationId xmlns:a16="http://schemas.microsoft.com/office/drawing/2014/main" id="{D2B7433A-243E-C206-1CB1-3F191E6AD029}"/>
                </a:ext>
              </a:extLst>
            </p:cNvPr>
            <p:cNvSpPr>
              <a:spLocks noGrp="1"/>
            </p:cNvSpPr>
            <p:nvPr/>
          </p:nvSpPr>
          <p:spPr>
            <a:xfrm>
              <a:off x="2588484" y="9768364"/>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93" name="Foreground to probability refined">
              <a:extLst>
                <a:ext uri="{FF2B5EF4-FFF2-40B4-BE49-F238E27FC236}">
                  <a16:creationId xmlns:a16="http://schemas.microsoft.com/office/drawing/2014/main" id="{D5A6B998-ADFA-E982-8C35-E6D90114C21C}"/>
                </a:ext>
              </a:extLst>
            </p:cNvPr>
            <p:cNvSpPr>
              <a:spLocks noGrp="1"/>
            </p:cNvSpPr>
            <p:nvPr/>
          </p:nvSpPr>
          <p:spPr>
            <a:xfrm>
              <a:off x="3417159" y="9971532"/>
              <a:ext cx="600742" cy="191"/>
            </a:xfrm>
            <a:custGeom>
              <a:avLst/>
              <a:gdLst/>
              <a:ahLst/>
              <a:cxnLst/>
              <a:rect l="0" t="0" r="0" b="0"/>
              <a:pathLst>
                <a:path w="600742" h="191">
                  <a:moveTo>
                    <a:pt x="0" y="0"/>
                  </a:moveTo>
                  <a:lnTo>
                    <a:pt x="600742" y="0"/>
                  </a:lnTo>
                </a:path>
              </a:pathLst>
            </a:custGeom>
            <a:noFill/>
            <a:ln w="8505">
              <a:solidFill>
                <a:srgbClr val="3B8C80"/>
              </a:solidFill>
              <a:prstDash val="solid"/>
            </a:ln>
          </p:spPr>
        </p:sp>
        <p:sp>
          <p:nvSpPr>
            <p:cNvPr id="1394" name="Foreground to probability refined head">
              <a:extLst>
                <a:ext uri="{FF2B5EF4-FFF2-40B4-BE49-F238E27FC236}">
                  <a16:creationId xmlns:a16="http://schemas.microsoft.com/office/drawing/2014/main" id="{660BE4D6-2608-6E09-7FF4-AD7C50994699}"/>
                </a:ext>
              </a:extLst>
            </p:cNvPr>
            <p:cNvSpPr>
              <a:spLocks noGrp="1"/>
            </p:cNvSpPr>
            <p:nvPr/>
          </p:nvSpPr>
          <p:spPr>
            <a:xfrm>
              <a:off x="3974562" y="9942862"/>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395" name="Candidate to cosine refined">
              <a:extLst>
                <a:ext uri="{FF2B5EF4-FFF2-40B4-BE49-F238E27FC236}">
                  <a16:creationId xmlns:a16="http://schemas.microsoft.com/office/drawing/2014/main" id="{22A5040B-9402-AB7D-9094-F4BF5F10ADD2}"/>
                </a:ext>
              </a:extLst>
            </p:cNvPr>
            <p:cNvSpPr>
              <a:spLocks noGrp="1"/>
            </p:cNvSpPr>
            <p:nvPr/>
          </p:nvSpPr>
          <p:spPr>
            <a:xfrm>
              <a:off x="5426172" y="9525000"/>
              <a:ext cx="2143887" cy="446532"/>
            </a:xfrm>
            <a:custGeom>
              <a:avLst/>
              <a:gdLst/>
              <a:ahLst/>
              <a:cxnLst/>
              <a:rect l="0" t="0" r="0" b="0"/>
              <a:pathLst>
                <a:path w="2143887" h="446532">
                  <a:moveTo>
                    <a:pt x="0" y="0"/>
                  </a:moveTo>
                  <a:lnTo>
                    <a:pt x="0" y="446532"/>
                  </a:lnTo>
                  <a:lnTo>
                    <a:pt x="2143887" y="446532"/>
                  </a:lnTo>
                </a:path>
              </a:pathLst>
            </a:custGeom>
            <a:noFill/>
            <a:ln w="8505">
              <a:solidFill>
                <a:srgbClr val="3B8C80"/>
              </a:solidFill>
              <a:prstDash val="solid"/>
            </a:ln>
          </p:spPr>
        </p:sp>
        <p:sp>
          <p:nvSpPr>
            <p:cNvPr id="1396" name="Candidate to cosine refined head">
              <a:extLst>
                <a:ext uri="{FF2B5EF4-FFF2-40B4-BE49-F238E27FC236}">
                  <a16:creationId xmlns:a16="http://schemas.microsoft.com/office/drawing/2014/main" id="{D0F3AAE9-EBC0-FC07-AF0A-FBDAD938D93E}"/>
                </a:ext>
              </a:extLst>
            </p:cNvPr>
            <p:cNvSpPr>
              <a:spLocks noGrp="1"/>
            </p:cNvSpPr>
            <p:nvPr/>
          </p:nvSpPr>
          <p:spPr>
            <a:xfrm>
              <a:off x="7526720" y="9942862"/>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397" name="Selected identity to graph refined">
              <a:extLst>
                <a:ext uri="{FF2B5EF4-FFF2-40B4-BE49-F238E27FC236}">
                  <a16:creationId xmlns:a16="http://schemas.microsoft.com/office/drawing/2014/main" id="{2545D43E-9B8D-BA3E-80CD-880BD63B35AE}"/>
                </a:ext>
              </a:extLst>
            </p:cNvPr>
            <p:cNvSpPr>
              <a:spLocks noGrp="1"/>
            </p:cNvSpPr>
            <p:nvPr/>
          </p:nvSpPr>
          <p:spPr>
            <a:xfrm>
              <a:off x="6960840" y="6134481"/>
              <a:ext cx="651129" cy="595217"/>
            </a:xfrm>
            <a:custGeom>
              <a:avLst/>
              <a:gdLst/>
              <a:ahLst/>
              <a:cxnLst/>
              <a:rect l="0" t="0" r="0" b="0"/>
              <a:pathLst>
                <a:path w="651129" h="595217">
                  <a:moveTo>
                    <a:pt x="651129" y="0"/>
                  </a:moveTo>
                  <a:lnTo>
                    <a:pt x="0" y="0"/>
                  </a:lnTo>
                  <a:lnTo>
                    <a:pt x="0" y="595217"/>
                  </a:lnTo>
                </a:path>
              </a:pathLst>
            </a:custGeom>
            <a:noFill/>
            <a:ln w="8505">
              <a:solidFill>
                <a:srgbClr val="3B8C80"/>
              </a:solidFill>
              <a:prstDash val="solid"/>
            </a:ln>
          </p:spPr>
        </p:sp>
        <p:sp>
          <p:nvSpPr>
            <p:cNvPr id="1398" name="Selected identity to graph refined head">
              <a:extLst>
                <a:ext uri="{FF2B5EF4-FFF2-40B4-BE49-F238E27FC236}">
                  <a16:creationId xmlns:a16="http://schemas.microsoft.com/office/drawing/2014/main" id="{2F033F6F-AC85-37DE-479C-D063C3DB8E25}"/>
                </a:ext>
              </a:extLst>
            </p:cNvPr>
            <p:cNvSpPr>
              <a:spLocks noGrp="1"/>
            </p:cNvSpPr>
            <p:nvPr/>
          </p:nvSpPr>
          <p:spPr>
            <a:xfrm>
              <a:off x="6932170" y="6686360"/>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99" name="Graph to GNN refined">
              <a:extLst>
                <a:ext uri="{FF2B5EF4-FFF2-40B4-BE49-F238E27FC236}">
                  <a16:creationId xmlns:a16="http://schemas.microsoft.com/office/drawing/2014/main" id="{7EF864D3-D6E3-5180-82C2-0A0AE886C150}"/>
                </a:ext>
              </a:extLst>
            </p:cNvPr>
            <p:cNvSpPr>
              <a:spLocks noGrp="1"/>
            </p:cNvSpPr>
            <p:nvPr/>
          </p:nvSpPr>
          <p:spPr>
            <a:xfrm>
              <a:off x="6960840" y="7441406"/>
              <a:ext cx="191" cy="153448"/>
            </a:xfrm>
            <a:custGeom>
              <a:avLst/>
              <a:gdLst/>
              <a:ahLst/>
              <a:cxnLst/>
              <a:rect l="0" t="0" r="0" b="0"/>
              <a:pathLst>
                <a:path w="191" h="153448">
                  <a:moveTo>
                    <a:pt x="0" y="0"/>
                  </a:moveTo>
                  <a:lnTo>
                    <a:pt x="0" y="153448"/>
                  </a:lnTo>
                </a:path>
              </a:pathLst>
            </a:custGeom>
            <a:noFill/>
            <a:ln w="8505">
              <a:solidFill>
                <a:srgbClr val="3B8C80"/>
              </a:solidFill>
              <a:prstDash val="solid"/>
            </a:ln>
          </p:spPr>
        </p:sp>
        <p:sp>
          <p:nvSpPr>
            <p:cNvPr id="1400" name="Graph to GNN refined head">
              <a:extLst>
                <a:ext uri="{FF2B5EF4-FFF2-40B4-BE49-F238E27FC236}">
                  <a16:creationId xmlns:a16="http://schemas.microsoft.com/office/drawing/2014/main" id="{B23BD653-4893-2671-9B86-7F888A6E5617}"/>
                </a:ext>
              </a:extLst>
            </p:cNvPr>
            <p:cNvSpPr>
              <a:spLocks noGrp="1"/>
            </p:cNvSpPr>
            <p:nvPr/>
          </p:nvSpPr>
          <p:spPr>
            <a:xfrm>
              <a:off x="6932170" y="7551515"/>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1" name="GNN to graph attention refined">
              <a:extLst>
                <a:ext uri="{FF2B5EF4-FFF2-40B4-BE49-F238E27FC236}">
                  <a16:creationId xmlns:a16="http://schemas.microsoft.com/office/drawing/2014/main" id="{B0DCC1B2-7C1A-332C-0127-08382278DBC6}"/>
                </a:ext>
              </a:extLst>
            </p:cNvPr>
            <p:cNvSpPr>
              <a:spLocks noGrp="1"/>
            </p:cNvSpPr>
            <p:nvPr/>
          </p:nvSpPr>
          <p:spPr>
            <a:xfrm>
              <a:off x="6960840" y="7934420"/>
              <a:ext cx="191" cy="274320"/>
            </a:xfrm>
            <a:custGeom>
              <a:avLst/>
              <a:gdLst/>
              <a:ahLst/>
              <a:cxnLst/>
              <a:rect l="0" t="0" r="0" b="0"/>
              <a:pathLst>
                <a:path w="191" h="274320">
                  <a:moveTo>
                    <a:pt x="0" y="0"/>
                  </a:moveTo>
                  <a:lnTo>
                    <a:pt x="0" y="274320"/>
                  </a:lnTo>
                </a:path>
              </a:pathLst>
            </a:custGeom>
            <a:noFill/>
            <a:ln w="8505">
              <a:solidFill>
                <a:srgbClr val="3B8C80"/>
              </a:solidFill>
              <a:prstDash val="solid"/>
            </a:ln>
          </p:spPr>
        </p:sp>
        <p:sp>
          <p:nvSpPr>
            <p:cNvPr id="1402" name="GNN to graph attention refined head">
              <a:extLst>
                <a:ext uri="{FF2B5EF4-FFF2-40B4-BE49-F238E27FC236}">
                  <a16:creationId xmlns:a16="http://schemas.microsoft.com/office/drawing/2014/main" id="{F5D1A0D2-1869-EB89-61A3-D3ABFE580C35}"/>
                </a:ext>
              </a:extLst>
            </p:cNvPr>
            <p:cNvSpPr>
              <a:spLocks noGrp="1"/>
            </p:cNvSpPr>
            <p:nvPr/>
          </p:nvSpPr>
          <p:spPr>
            <a:xfrm>
              <a:off x="6932170" y="8165402"/>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3" name="Identity to SMI-TED refined">
              <a:extLst>
                <a:ext uri="{FF2B5EF4-FFF2-40B4-BE49-F238E27FC236}">
                  <a16:creationId xmlns:a16="http://schemas.microsoft.com/office/drawing/2014/main" id="{416B661C-118E-CA99-59DC-DA4857A74E2E}"/>
                </a:ext>
              </a:extLst>
            </p:cNvPr>
            <p:cNvSpPr>
              <a:spLocks noGrp="1"/>
            </p:cNvSpPr>
            <p:nvPr/>
          </p:nvSpPr>
          <p:spPr>
            <a:xfrm>
              <a:off x="8530941" y="6638068"/>
              <a:ext cx="191" cy="326993"/>
            </a:xfrm>
            <a:custGeom>
              <a:avLst/>
              <a:gdLst/>
              <a:ahLst/>
              <a:cxnLst/>
              <a:rect l="0" t="0" r="0" b="0"/>
              <a:pathLst>
                <a:path w="191" h="326993">
                  <a:moveTo>
                    <a:pt x="0" y="0"/>
                  </a:moveTo>
                  <a:lnTo>
                    <a:pt x="0" y="326993"/>
                  </a:lnTo>
                </a:path>
              </a:pathLst>
            </a:custGeom>
            <a:noFill/>
            <a:ln w="8505">
              <a:solidFill>
                <a:srgbClr val="3B8C80"/>
              </a:solidFill>
              <a:prstDash val="solid"/>
            </a:ln>
          </p:spPr>
        </p:sp>
        <p:sp>
          <p:nvSpPr>
            <p:cNvPr id="1404" name="Identity to SMI-TED refined head">
              <a:extLst>
                <a:ext uri="{FF2B5EF4-FFF2-40B4-BE49-F238E27FC236}">
                  <a16:creationId xmlns:a16="http://schemas.microsoft.com/office/drawing/2014/main" id="{0BA2F96A-2AFB-7C00-99C8-78C9DC78B848}"/>
                </a:ext>
              </a:extLst>
            </p:cNvPr>
            <p:cNvSpPr>
              <a:spLocks noGrp="1"/>
            </p:cNvSpPr>
            <p:nvPr/>
          </p:nvSpPr>
          <p:spPr>
            <a:xfrm>
              <a:off x="8502271" y="6921722"/>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5" name="SMI-TED to language refined">
              <a:extLst>
                <a:ext uri="{FF2B5EF4-FFF2-40B4-BE49-F238E27FC236}">
                  <a16:creationId xmlns:a16="http://schemas.microsoft.com/office/drawing/2014/main" id="{688B9630-847C-74A2-04EF-D75E08D7E423}"/>
                </a:ext>
              </a:extLst>
            </p:cNvPr>
            <p:cNvSpPr>
              <a:spLocks noGrp="1"/>
            </p:cNvSpPr>
            <p:nvPr/>
          </p:nvSpPr>
          <p:spPr>
            <a:xfrm>
              <a:off x="8530941" y="7304627"/>
              <a:ext cx="191" cy="1013841"/>
            </a:xfrm>
            <a:custGeom>
              <a:avLst/>
              <a:gdLst/>
              <a:ahLst/>
              <a:cxnLst/>
              <a:rect l="0" t="0" r="0" b="0"/>
              <a:pathLst>
                <a:path w="191" h="1013841">
                  <a:moveTo>
                    <a:pt x="0" y="0"/>
                  </a:moveTo>
                  <a:lnTo>
                    <a:pt x="0" y="1013841"/>
                  </a:lnTo>
                </a:path>
              </a:pathLst>
            </a:custGeom>
            <a:noFill/>
            <a:ln w="8505">
              <a:solidFill>
                <a:srgbClr val="3B8C80"/>
              </a:solidFill>
              <a:prstDash val="solid"/>
            </a:ln>
          </p:spPr>
        </p:sp>
        <p:sp>
          <p:nvSpPr>
            <p:cNvPr id="1406" name="SMI-TED to language refined head">
              <a:extLst>
                <a:ext uri="{FF2B5EF4-FFF2-40B4-BE49-F238E27FC236}">
                  <a16:creationId xmlns:a16="http://schemas.microsoft.com/office/drawing/2014/main" id="{7251A2B8-D12B-A433-6B0D-10AA76953AAB}"/>
                </a:ext>
              </a:extLst>
            </p:cNvPr>
            <p:cNvSpPr>
              <a:spLocks noGrp="1"/>
            </p:cNvSpPr>
            <p:nvPr/>
          </p:nvSpPr>
          <p:spPr>
            <a:xfrm>
              <a:off x="8502271" y="8275130"/>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7" name="Other identities refined">
              <a:extLst>
                <a:ext uri="{FF2B5EF4-FFF2-40B4-BE49-F238E27FC236}">
                  <a16:creationId xmlns:a16="http://schemas.microsoft.com/office/drawing/2014/main" id="{A4787BA6-E950-16B8-B01A-9B4C92E13C7A}"/>
                </a:ext>
              </a:extLst>
            </p:cNvPr>
            <p:cNvSpPr>
              <a:spLocks noGrp="1"/>
            </p:cNvSpPr>
            <p:nvPr/>
          </p:nvSpPr>
          <p:spPr>
            <a:xfrm>
              <a:off x="9509540" y="5581174"/>
              <a:ext cx="613886" cy="1373695"/>
            </a:xfrm>
            <a:custGeom>
              <a:avLst/>
              <a:gdLst/>
              <a:ahLst/>
              <a:cxnLst/>
              <a:rect l="0" t="0" r="0" b="0"/>
              <a:pathLst>
                <a:path w="613886" h="1373695">
                  <a:moveTo>
                    <a:pt x="0" y="0"/>
                  </a:moveTo>
                  <a:lnTo>
                    <a:pt x="613886" y="0"/>
                  </a:lnTo>
                  <a:lnTo>
                    <a:pt x="613886" y="1373695"/>
                  </a:lnTo>
                </a:path>
              </a:pathLst>
            </a:custGeom>
            <a:noFill/>
            <a:ln w="8505">
              <a:solidFill>
                <a:srgbClr val="3B8C80"/>
              </a:solidFill>
              <a:prstDash val="solid"/>
            </a:ln>
          </p:spPr>
        </p:sp>
        <p:sp>
          <p:nvSpPr>
            <p:cNvPr id="1408" name="Other identities refined head">
              <a:extLst>
                <a:ext uri="{FF2B5EF4-FFF2-40B4-BE49-F238E27FC236}">
                  <a16:creationId xmlns:a16="http://schemas.microsoft.com/office/drawing/2014/main" id="{9D094DDB-3471-ECAC-BCA5-E9612E620328}"/>
                </a:ext>
              </a:extLst>
            </p:cNvPr>
            <p:cNvSpPr>
              <a:spLocks noGrp="1"/>
            </p:cNvSpPr>
            <p:nvPr/>
          </p:nvSpPr>
          <p:spPr>
            <a:xfrm>
              <a:off x="10094756" y="6911531"/>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9" name="Other identities middle refined">
              <a:extLst>
                <a:ext uri="{FF2B5EF4-FFF2-40B4-BE49-F238E27FC236}">
                  <a16:creationId xmlns:a16="http://schemas.microsoft.com/office/drawing/2014/main" id="{43A875F1-64CC-3AE0-16D0-832B017C6CB3}"/>
                </a:ext>
              </a:extLst>
            </p:cNvPr>
            <p:cNvSpPr>
              <a:spLocks noGrp="1"/>
            </p:cNvSpPr>
            <p:nvPr/>
          </p:nvSpPr>
          <p:spPr>
            <a:xfrm>
              <a:off x="9509540" y="5851112"/>
              <a:ext cx="613886" cy="191"/>
            </a:xfrm>
            <a:custGeom>
              <a:avLst/>
              <a:gdLst/>
              <a:ahLst/>
              <a:cxnLst/>
              <a:rect l="0" t="0" r="0" b="0"/>
              <a:pathLst>
                <a:path w="613886" h="191">
                  <a:moveTo>
                    <a:pt x="0" y="0"/>
                  </a:moveTo>
                  <a:lnTo>
                    <a:pt x="613886" y="0"/>
                  </a:lnTo>
                </a:path>
              </a:pathLst>
            </a:custGeom>
            <a:noFill/>
            <a:ln w="8505">
              <a:solidFill>
                <a:srgbClr val="3B8C80"/>
              </a:solidFill>
              <a:prstDash val="solid"/>
            </a:ln>
          </p:spPr>
        </p:sp>
        <p:sp>
          <p:nvSpPr>
            <p:cNvPr id="1410" name="Other identities lower refined">
              <a:extLst>
                <a:ext uri="{FF2B5EF4-FFF2-40B4-BE49-F238E27FC236}">
                  <a16:creationId xmlns:a16="http://schemas.microsoft.com/office/drawing/2014/main" id="{D83A070A-E1D1-4067-2310-74DC30F9F921}"/>
                </a:ext>
              </a:extLst>
            </p:cNvPr>
            <p:cNvSpPr>
              <a:spLocks noGrp="1"/>
            </p:cNvSpPr>
            <p:nvPr/>
          </p:nvSpPr>
          <p:spPr>
            <a:xfrm>
              <a:off x="9509540" y="6533293"/>
              <a:ext cx="613886" cy="191"/>
            </a:xfrm>
            <a:custGeom>
              <a:avLst/>
              <a:gdLst/>
              <a:ahLst/>
              <a:cxnLst/>
              <a:rect l="0" t="0" r="0" b="0"/>
              <a:pathLst>
                <a:path w="613886" h="191">
                  <a:moveTo>
                    <a:pt x="0" y="0"/>
                  </a:moveTo>
                  <a:lnTo>
                    <a:pt x="613886" y="0"/>
                  </a:lnTo>
                </a:path>
              </a:pathLst>
            </a:custGeom>
            <a:noFill/>
            <a:ln w="8505">
              <a:solidFill>
                <a:srgbClr val="3B8C80"/>
              </a:solidFill>
              <a:prstDash val="solid"/>
            </a:ln>
          </p:spPr>
        </p:sp>
        <p:sp>
          <p:nvSpPr>
            <p:cNvPr id="1411" name="Context SMI-TED to matrix refined">
              <a:extLst>
                <a:ext uri="{FF2B5EF4-FFF2-40B4-BE49-F238E27FC236}">
                  <a16:creationId xmlns:a16="http://schemas.microsoft.com/office/drawing/2014/main" id="{3BA39657-BA55-8B03-4B42-2E8CA0F2402A}"/>
                </a:ext>
              </a:extLst>
            </p:cNvPr>
            <p:cNvSpPr>
              <a:spLocks noGrp="1"/>
            </p:cNvSpPr>
            <p:nvPr/>
          </p:nvSpPr>
          <p:spPr>
            <a:xfrm>
              <a:off x="10133903" y="7294436"/>
              <a:ext cx="191" cy="264128"/>
            </a:xfrm>
            <a:custGeom>
              <a:avLst/>
              <a:gdLst/>
              <a:ahLst/>
              <a:cxnLst/>
              <a:rect l="0" t="0" r="0" b="0"/>
              <a:pathLst>
                <a:path w="191" h="264128">
                  <a:moveTo>
                    <a:pt x="0" y="0"/>
                  </a:moveTo>
                  <a:lnTo>
                    <a:pt x="0" y="264128"/>
                  </a:lnTo>
                </a:path>
              </a:pathLst>
            </a:custGeom>
            <a:noFill/>
            <a:ln w="8505">
              <a:solidFill>
                <a:srgbClr val="3B8C80"/>
              </a:solidFill>
              <a:prstDash val="solid"/>
            </a:ln>
          </p:spPr>
        </p:sp>
        <p:sp>
          <p:nvSpPr>
            <p:cNvPr id="1412" name="Context SMI-TED to matrix refined head">
              <a:extLst>
                <a:ext uri="{FF2B5EF4-FFF2-40B4-BE49-F238E27FC236}">
                  <a16:creationId xmlns:a16="http://schemas.microsoft.com/office/drawing/2014/main" id="{46BBCF7E-77B7-430B-5E68-8D5D4D07C9BA}"/>
                </a:ext>
              </a:extLst>
            </p:cNvPr>
            <p:cNvSpPr>
              <a:spLocks noGrp="1"/>
            </p:cNvSpPr>
            <p:nvPr/>
          </p:nvSpPr>
          <p:spPr>
            <a:xfrm>
              <a:off x="10105233" y="7515225"/>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13" name="Context matrix to attention refined">
              <a:extLst>
                <a:ext uri="{FF2B5EF4-FFF2-40B4-BE49-F238E27FC236}">
                  <a16:creationId xmlns:a16="http://schemas.microsoft.com/office/drawing/2014/main" id="{19123C2B-08C0-5942-5974-56E3DB290164}"/>
                </a:ext>
              </a:extLst>
            </p:cNvPr>
            <p:cNvSpPr>
              <a:spLocks noGrp="1"/>
            </p:cNvSpPr>
            <p:nvPr/>
          </p:nvSpPr>
          <p:spPr>
            <a:xfrm>
              <a:off x="10123426" y="7958995"/>
              <a:ext cx="191" cy="249745"/>
            </a:xfrm>
            <a:custGeom>
              <a:avLst/>
              <a:gdLst/>
              <a:ahLst/>
              <a:cxnLst/>
              <a:rect l="0" t="0" r="0" b="0"/>
              <a:pathLst>
                <a:path w="191" h="249745">
                  <a:moveTo>
                    <a:pt x="0" y="0"/>
                  </a:moveTo>
                  <a:lnTo>
                    <a:pt x="0" y="249745"/>
                  </a:lnTo>
                </a:path>
              </a:pathLst>
            </a:custGeom>
            <a:noFill/>
            <a:ln w="8505">
              <a:solidFill>
                <a:srgbClr val="3B8C80"/>
              </a:solidFill>
              <a:prstDash val="solid"/>
            </a:ln>
          </p:spPr>
        </p:sp>
        <p:sp>
          <p:nvSpPr>
            <p:cNvPr id="1414" name="Context matrix to attention refined head">
              <a:extLst>
                <a:ext uri="{FF2B5EF4-FFF2-40B4-BE49-F238E27FC236}">
                  <a16:creationId xmlns:a16="http://schemas.microsoft.com/office/drawing/2014/main" id="{F6D726DD-707A-38A3-9C89-49061435E2BF}"/>
                </a:ext>
              </a:extLst>
            </p:cNvPr>
            <p:cNvSpPr>
              <a:spLocks noGrp="1"/>
            </p:cNvSpPr>
            <p:nvPr/>
          </p:nvSpPr>
          <p:spPr>
            <a:xfrm>
              <a:off x="10094756" y="8165402"/>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15" name="Language query left refined">
              <a:extLst>
                <a:ext uri="{FF2B5EF4-FFF2-40B4-BE49-F238E27FC236}">
                  <a16:creationId xmlns:a16="http://schemas.microsoft.com/office/drawing/2014/main" id="{739AFAAD-E669-E2AC-687E-E59FC6E7FAD2}"/>
                </a:ext>
              </a:extLst>
            </p:cNvPr>
            <p:cNvSpPr>
              <a:spLocks noGrp="1"/>
            </p:cNvSpPr>
            <p:nvPr/>
          </p:nvSpPr>
          <p:spPr>
            <a:xfrm>
              <a:off x="7709696" y="8408765"/>
              <a:ext cx="479012" cy="191"/>
            </a:xfrm>
            <a:custGeom>
              <a:avLst/>
              <a:gdLst/>
              <a:ahLst/>
              <a:cxnLst/>
              <a:rect l="0" t="0" r="0" b="0"/>
              <a:pathLst>
                <a:path w="479012" h="191">
                  <a:moveTo>
                    <a:pt x="479012" y="0"/>
                  </a:moveTo>
                  <a:lnTo>
                    <a:pt x="0" y="0"/>
                  </a:lnTo>
                </a:path>
              </a:pathLst>
            </a:custGeom>
            <a:noFill/>
            <a:ln w="8505">
              <a:solidFill>
                <a:srgbClr val="3B8C80"/>
              </a:solidFill>
              <a:prstDash val="solid"/>
            </a:ln>
          </p:spPr>
        </p:sp>
        <p:sp>
          <p:nvSpPr>
            <p:cNvPr id="1416" name="Language query left refined head">
              <a:extLst>
                <a:ext uri="{FF2B5EF4-FFF2-40B4-BE49-F238E27FC236}">
                  <a16:creationId xmlns:a16="http://schemas.microsoft.com/office/drawing/2014/main" id="{98D92A42-D662-B44C-CD57-583BDD75174C}"/>
                </a:ext>
              </a:extLst>
            </p:cNvPr>
            <p:cNvSpPr>
              <a:spLocks noGrp="1"/>
            </p:cNvSpPr>
            <p:nvPr/>
          </p:nvSpPr>
          <p:spPr>
            <a:xfrm>
              <a:off x="7686359" y="8380095"/>
              <a:ext cx="66675" cy="57340"/>
            </a:xfrm>
            <a:custGeom>
              <a:avLst/>
              <a:gdLst/>
              <a:ahLst/>
              <a:cxnLst/>
              <a:rect l="0" t="0" r="0" b="0"/>
              <a:pathLst>
                <a:path w="66675" h="57340">
                  <a:moveTo>
                    <a:pt x="0" y="28670"/>
                  </a:moveTo>
                  <a:lnTo>
                    <a:pt x="66675" y="57340"/>
                  </a:lnTo>
                  <a:lnTo>
                    <a:pt x="66675" y="0"/>
                  </a:lnTo>
                  <a:close/>
                </a:path>
              </a:pathLst>
            </a:custGeom>
            <a:solidFill>
              <a:srgbClr val="3B8C80"/>
            </a:solidFill>
            <a:ln w="0">
              <a:noFill/>
              <a:prstDash val="solid"/>
            </a:ln>
          </p:spPr>
        </p:sp>
        <p:sp>
          <p:nvSpPr>
            <p:cNvPr id="1417" name="Language query right refined">
              <a:extLst>
                <a:ext uri="{FF2B5EF4-FFF2-40B4-BE49-F238E27FC236}">
                  <a16:creationId xmlns:a16="http://schemas.microsoft.com/office/drawing/2014/main" id="{97C332FD-B4F7-4A69-7F24-BE35ED3CC233}"/>
                </a:ext>
              </a:extLst>
            </p:cNvPr>
            <p:cNvSpPr>
              <a:spLocks noGrp="1"/>
            </p:cNvSpPr>
            <p:nvPr/>
          </p:nvSpPr>
          <p:spPr>
            <a:xfrm>
              <a:off x="8858411" y="8408765"/>
              <a:ext cx="478917" cy="191"/>
            </a:xfrm>
            <a:custGeom>
              <a:avLst/>
              <a:gdLst/>
              <a:ahLst/>
              <a:cxnLst/>
              <a:rect l="0" t="0" r="0" b="0"/>
              <a:pathLst>
                <a:path w="478917" h="191">
                  <a:moveTo>
                    <a:pt x="0" y="0"/>
                  </a:moveTo>
                  <a:lnTo>
                    <a:pt x="478917" y="0"/>
                  </a:lnTo>
                </a:path>
              </a:pathLst>
            </a:custGeom>
            <a:noFill/>
            <a:ln w="8505">
              <a:solidFill>
                <a:srgbClr val="3B8C80"/>
              </a:solidFill>
              <a:prstDash val="solid"/>
            </a:ln>
          </p:spPr>
        </p:sp>
        <p:sp>
          <p:nvSpPr>
            <p:cNvPr id="1418" name="Language query right refined head">
              <a:extLst>
                <a:ext uri="{FF2B5EF4-FFF2-40B4-BE49-F238E27FC236}">
                  <a16:creationId xmlns:a16="http://schemas.microsoft.com/office/drawing/2014/main" id="{4B6A3B32-B3D1-5F9B-FDB9-6517BE3635C2}"/>
                </a:ext>
              </a:extLst>
            </p:cNvPr>
            <p:cNvSpPr>
              <a:spLocks noGrp="1"/>
            </p:cNvSpPr>
            <p:nvPr/>
          </p:nvSpPr>
          <p:spPr>
            <a:xfrm>
              <a:off x="9293989" y="8380095"/>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419" name="Language to fusion refined">
              <a:extLst>
                <a:ext uri="{FF2B5EF4-FFF2-40B4-BE49-F238E27FC236}">
                  <a16:creationId xmlns:a16="http://schemas.microsoft.com/office/drawing/2014/main" id="{CC1BD470-88ED-E459-BC64-3926AF1B81FC}"/>
                </a:ext>
              </a:extLst>
            </p:cNvPr>
            <p:cNvSpPr>
              <a:spLocks noGrp="1"/>
            </p:cNvSpPr>
            <p:nvPr/>
          </p:nvSpPr>
          <p:spPr>
            <a:xfrm>
              <a:off x="8523512" y="8475726"/>
              <a:ext cx="191" cy="281845"/>
            </a:xfrm>
            <a:custGeom>
              <a:avLst/>
              <a:gdLst/>
              <a:ahLst/>
              <a:cxnLst/>
              <a:rect l="0" t="0" r="0" b="0"/>
              <a:pathLst>
                <a:path w="191" h="281845">
                  <a:moveTo>
                    <a:pt x="0" y="0"/>
                  </a:moveTo>
                  <a:lnTo>
                    <a:pt x="0" y="281845"/>
                  </a:lnTo>
                </a:path>
              </a:pathLst>
            </a:custGeom>
            <a:noFill/>
            <a:ln w="8505">
              <a:solidFill>
                <a:srgbClr val="3B8C80"/>
              </a:solidFill>
              <a:prstDash val="solid"/>
            </a:ln>
          </p:spPr>
        </p:sp>
        <p:sp>
          <p:nvSpPr>
            <p:cNvPr id="1420" name="Language to fusion refined head">
              <a:extLst>
                <a:ext uri="{FF2B5EF4-FFF2-40B4-BE49-F238E27FC236}">
                  <a16:creationId xmlns:a16="http://schemas.microsoft.com/office/drawing/2014/main" id="{7DE28A53-D82C-C158-A00E-484E630E57C6}"/>
                </a:ext>
              </a:extLst>
            </p:cNvPr>
            <p:cNvSpPr>
              <a:spLocks noGrp="1"/>
            </p:cNvSpPr>
            <p:nvPr/>
          </p:nvSpPr>
          <p:spPr>
            <a:xfrm>
              <a:off x="8494841" y="8714232"/>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21" name="Graph attention to fusion refined">
              <a:extLst>
                <a:ext uri="{FF2B5EF4-FFF2-40B4-BE49-F238E27FC236}">
                  <a16:creationId xmlns:a16="http://schemas.microsoft.com/office/drawing/2014/main" id="{9DE07E88-6455-6397-3B15-5E2794D66EC1}"/>
                </a:ext>
              </a:extLst>
            </p:cNvPr>
            <p:cNvSpPr>
              <a:spLocks noGrp="1"/>
            </p:cNvSpPr>
            <p:nvPr/>
          </p:nvSpPr>
          <p:spPr>
            <a:xfrm>
              <a:off x="6960840" y="8585549"/>
              <a:ext cx="1092899" cy="362807"/>
            </a:xfrm>
            <a:custGeom>
              <a:avLst/>
              <a:gdLst/>
              <a:ahLst/>
              <a:cxnLst/>
              <a:rect l="0" t="0" r="0" b="0"/>
              <a:pathLst>
                <a:path w="1092899" h="362807">
                  <a:moveTo>
                    <a:pt x="0" y="0"/>
                  </a:moveTo>
                  <a:lnTo>
                    <a:pt x="0" y="362807"/>
                  </a:lnTo>
                  <a:lnTo>
                    <a:pt x="1092899" y="362807"/>
                  </a:lnTo>
                </a:path>
              </a:pathLst>
            </a:custGeom>
            <a:noFill/>
            <a:ln w="8505">
              <a:solidFill>
                <a:srgbClr val="3B8C80"/>
              </a:solidFill>
              <a:prstDash val="solid"/>
            </a:ln>
          </p:spPr>
        </p:sp>
        <p:sp>
          <p:nvSpPr>
            <p:cNvPr id="1422" name="Graph attention to fusion refined head">
              <a:extLst>
                <a:ext uri="{FF2B5EF4-FFF2-40B4-BE49-F238E27FC236}">
                  <a16:creationId xmlns:a16="http://schemas.microsoft.com/office/drawing/2014/main" id="{80249588-4991-7EA9-C183-E31DFF970425}"/>
                </a:ext>
              </a:extLst>
            </p:cNvPr>
            <p:cNvSpPr>
              <a:spLocks noGrp="1"/>
            </p:cNvSpPr>
            <p:nvPr/>
          </p:nvSpPr>
          <p:spPr>
            <a:xfrm>
              <a:off x="8010400" y="8919686"/>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423" name="Context attention to fusion refined">
              <a:extLst>
                <a:ext uri="{FF2B5EF4-FFF2-40B4-BE49-F238E27FC236}">
                  <a16:creationId xmlns:a16="http://schemas.microsoft.com/office/drawing/2014/main" id="{EB1CDE84-2AAC-05C7-2AC2-7F0CD69C4010}"/>
                </a:ext>
              </a:extLst>
            </p:cNvPr>
            <p:cNvSpPr>
              <a:spLocks noGrp="1"/>
            </p:cNvSpPr>
            <p:nvPr/>
          </p:nvSpPr>
          <p:spPr>
            <a:xfrm>
              <a:off x="8993380" y="8585549"/>
              <a:ext cx="1130046" cy="362807"/>
            </a:xfrm>
            <a:custGeom>
              <a:avLst/>
              <a:gdLst/>
              <a:ahLst/>
              <a:cxnLst/>
              <a:rect l="0" t="0" r="0" b="0"/>
              <a:pathLst>
                <a:path w="1130046" h="362807">
                  <a:moveTo>
                    <a:pt x="1130046" y="0"/>
                  </a:moveTo>
                  <a:lnTo>
                    <a:pt x="1130046" y="362807"/>
                  </a:lnTo>
                  <a:lnTo>
                    <a:pt x="0" y="362807"/>
                  </a:lnTo>
                </a:path>
              </a:pathLst>
            </a:custGeom>
            <a:noFill/>
            <a:ln w="8505">
              <a:solidFill>
                <a:srgbClr val="3B8C80"/>
              </a:solidFill>
              <a:prstDash val="solid"/>
            </a:ln>
          </p:spPr>
        </p:sp>
        <p:sp>
          <p:nvSpPr>
            <p:cNvPr id="1424" name="Context attention to fusion refined head">
              <a:extLst>
                <a:ext uri="{FF2B5EF4-FFF2-40B4-BE49-F238E27FC236}">
                  <a16:creationId xmlns:a16="http://schemas.microsoft.com/office/drawing/2014/main" id="{2AAA0335-3D51-EA88-2522-F717A483BF32}"/>
                </a:ext>
              </a:extLst>
            </p:cNvPr>
            <p:cNvSpPr>
              <a:spLocks noGrp="1"/>
            </p:cNvSpPr>
            <p:nvPr/>
          </p:nvSpPr>
          <p:spPr>
            <a:xfrm>
              <a:off x="8970044" y="8919686"/>
              <a:ext cx="66675" cy="57340"/>
            </a:xfrm>
            <a:custGeom>
              <a:avLst/>
              <a:gdLst/>
              <a:ahLst/>
              <a:cxnLst/>
              <a:rect l="0" t="0" r="0" b="0"/>
              <a:pathLst>
                <a:path w="66675" h="57340">
                  <a:moveTo>
                    <a:pt x="0" y="28670"/>
                  </a:moveTo>
                  <a:lnTo>
                    <a:pt x="66675" y="57340"/>
                  </a:lnTo>
                  <a:lnTo>
                    <a:pt x="66675" y="0"/>
                  </a:lnTo>
                  <a:close/>
                </a:path>
              </a:pathLst>
            </a:custGeom>
            <a:solidFill>
              <a:srgbClr val="3B8C80"/>
            </a:solidFill>
            <a:ln w="0">
              <a:noFill/>
              <a:prstDash val="solid"/>
            </a:ln>
          </p:spPr>
        </p:sp>
        <p:sp>
          <p:nvSpPr>
            <p:cNvPr id="1425" name="Fusion to identity vector refined">
              <a:extLst>
                <a:ext uri="{FF2B5EF4-FFF2-40B4-BE49-F238E27FC236}">
                  <a16:creationId xmlns:a16="http://schemas.microsoft.com/office/drawing/2014/main" id="{67958AAC-3FC5-4E94-249E-68F363396C6E}"/>
                </a:ext>
              </a:extLst>
            </p:cNvPr>
            <p:cNvSpPr>
              <a:spLocks noGrp="1"/>
            </p:cNvSpPr>
            <p:nvPr/>
          </p:nvSpPr>
          <p:spPr>
            <a:xfrm>
              <a:off x="8523512" y="9115806"/>
              <a:ext cx="191" cy="244507"/>
            </a:xfrm>
            <a:custGeom>
              <a:avLst/>
              <a:gdLst/>
              <a:ahLst/>
              <a:cxnLst/>
              <a:rect l="0" t="0" r="0" b="0"/>
              <a:pathLst>
                <a:path w="191" h="244507">
                  <a:moveTo>
                    <a:pt x="0" y="0"/>
                  </a:moveTo>
                  <a:lnTo>
                    <a:pt x="0" y="244507"/>
                  </a:lnTo>
                </a:path>
              </a:pathLst>
            </a:custGeom>
            <a:noFill/>
            <a:ln w="8505">
              <a:solidFill>
                <a:srgbClr val="3B8C80"/>
              </a:solidFill>
              <a:prstDash val="solid"/>
            </a:ln>
          </p:spPr>
        </p:sp>
        <p:sp>
          <p:nvSpPr>
            <p:cNvPr id="1426" name="Fusion to identity vector refined head">
              <a:extLst>
                <a:ext uri="{FF2B5EF4-FFF2-40B4-BE49-F238E27FC236}">
                  <a16:creationId xmlns:a16="http://schemas.microsoft.com/office/drawing/2014/main" id="{5B85A195-1A68-48DC-E553-B1E99915D03B}"/>
                </a:ext>
              </a:extLst>
            </p:cNvPr>
            <p:cNvSpPr>
              <a:spLocks noGrp="1"/>
            </p:cNvSpPr>
            <p:nvPr/>
          </p:nvSpPr>
          <p:spPr>
            <a:xfrm>
              <a:off x="8494841" y="9316974"/>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27" name="Identity vector to cosine refined">
              <a:extLst>
                <a:ext uri="{FF2B5EF4-FFF2-40B4-BE49-F238E27FC236}">
                  <a16:creationId xmlns:a16="http://schemas.microsoft.com/office/drawing/2014/main" id="{DDE80B97-A909-A736-F258-523B74319AC3}"/>
                </a:ext>
              </a:extLst>
            </p:cNvPr>
            <p:cNvSpPr>
              <a:spLocks noGrp="1"/>
            </p:cNvSpPr>
            <p:nvPr/>
          </p:nvSpPr>
          <p:spPr>
            <a:xfrm>
              <a:off x="8523512" y="9517571"/>
              <a:ext cx="191" cy="253841"/>
            </a:xfrm>
            <a:custGeom>
              <a:avLst/>
              <a:gdLst/>
              <a:ahLst/>
              <a:cxnLst/>
              <a:rect l="0" t="0" r="0" b="0"/>
              <a:pathLst>
                <a:path w="191" h="253841">
                  <a:moveTo>
                    <a:pt x="0" y="0"/>
                  </a:moveTo>
                  <a:lnTo>
                    <a:pt x="0" y="253841"/>
                  </a:lnTo>
                </a:path>
              </a:pathLst>
            </a:custGeom>
            <a:noFill/>
            <a:ln w="8505">
              <a:solidFill>
                <a:srgbClr val="3B8C80"/>
              </a:solidFill>
              <a:prstDash val="solid"/>
            </a:ln>
          </p:spPr>
        </p:sp>
        <p:sp>
          <p:nvSpPr>
            <p:cNvPr id="1428" name="Identity vector to cosine refined head">
              <a:extLst>
                <a:ext uri="{FF2B5EF4-FFF2-40B4-BE49-F238E27FC236}">
                  <a16:creationId xmlns:a16="http://schemas.microsoft.com/office/drawing/2014/main" id="{E490B029-346A-A57E-7B15-889C23CE6281}"/>
                </a:ext>
              </a:extLst>
            </p:cNvPr>
            <p:cNvSpPr>
              <a:spLocks noGrp="1"/>
            </p:cNvSpPr>
            <p:nvPr/>
          </p:nvSpPr>
          <p:spPr>
            <a:xfrm>
              <a:off x="8494841" y="9728073"/>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29" name="Cosine to score matrix refined">
              <a:extLst>
                <a:ext uri="{FF2B5EF4-FFF2-40B4-BE49-F238E27FC236}">
                  <a16:creationId xmlns:a16="http://schemas.microsoft.com/office/drawing/2014/main" id="{B53F289C-77E1-6513-62C8-F939A23BF1B2}"/>
                </a:ext>
              </a:extLst>
            </p:cNvPr>
            <p:cNvSpPr>
              <a:spLocks noGrp="1"/>
            </p:cNvSpPr>
            <p:nvPr/>
          </p:nvSpPr>
          <p:spPr>
            <a:xfrm>
              <a:off x="8932896" y="9971532"/>
              <a:ext cx="619030" cy="191"/>
            </a:xfrm>
            <a:custGeom>
              <a:avLst/>
              <a:gdLst/>
              <a:ahLst/>
              <a:cxnLst/>
              <a:rect l="0" t="0" r="0" b="0"/>
              <a:pathLst>
                <a:path w="619030" h="191">
                  <a:moveTo>
                    <a:pt x="0" y="0"/>
                  </a:moveTo>
                  <a:lnTo>
                    <a:pt x="619030" y="0"/>
                  </a:lnTo>
                </a:path>
              </a:pathLst>
            </a:custGeom>
            <a:noFill/>
            <a:ln w="8505">
              <a:solidFill>
                <a:srgbClr val="3B8C80"/>
              </a:solidFill>
              <a:prstDash val="solid"/>
            </a:ln>
          </p:spPr>
        </p:sp>
        <p:sp>
          <p:nvSpPr>
            <p:cNvPr id="1430" name="Cosine to score matrix refined head">
              <a:extLst>
                <a:ext uri="{FF2B5EF4-FFF2-40B4-BE49-F238E27FC236}">
                  <a16:creationId xmlns:a16="http://schemas.microsoft.com/office/drawing/2014/main" id="{7D1ABF5A-29C9-76A4-1903-E132A41C0C6D}"/>
                </a:ext>
              </a:extLst>
            </p:cNvPr>
            <p:cNvSpPr>
              <a:spLocks noGrp="1"/>
            </p:cNvSpPr>
            <p:nvPr/>
          </p:nvSpPr>
          <p:spPr>
            <a:xfrm>
              <a:off x="9508587" y="9942862"/>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grpSp>
      <p:pic>
        <p:nvPicPr>
          <p:cNvPr id="1436" name="Match clear receptor" descr="Receptor cartoon rendered from unchanged local coordinates, chain C1 of the 9LLG CA2 model.">
            <a:extLst>
              <a:ext uri="{FF2B5EF4-FFF2-40B4-BE49-F238E27FC236}">
                <a16:creationId xmlns:a16="http://schemas.microsoft.com/office/drawing/2014/main" id="{515E1CE9-4EFA-F96B-A08A-C6C2EC64DC6F}"/>
              </a:ext>
            </a:extLst>
          </p:cNvPr>
          <p:cNvPicPr/>
          <p:nvPr/>
        </p:nvPicPr>
        <p:blipFill>
          <a:blip r:embed="rId7"/>
          <a:srcRect l="16857" t="30389" r="19786" b="22500"/>
          <a:stretch>
            <a:fillRect/>
          </a:stretch>
        </p:blipFill>
        <p:spPr>
          <a:xfrm>
            <a:off x="725281" y="2388765"/>
            <a:ext cx="332109" cy="317507"/>
          </a:xfrm>
          <a:prstGeom prst="rect">
            <a:avLst/>
          </a:prstGeom>
        </p:spPr>
      </p:pic>
      <p:sp>
        <p:nvSpPr>
          <p:cNvPr id="1442" name="文本框 1441">
            <a:extLst>
              <a:ext uri="{FF2B5EF4-FFF2-40B4-BE49-F238E27FC236}">
                <a16:creationId xmlns:a16="http://schemas.microsoft.com/office/drawing/2014/main" id="{814431DA-F1EE-CFB8-E7E0-CF4D130ECF44}"/>
              </a:ext>
            </a:extLst>
          </p:cNvPr>
          <p:cNvSpPr txBox="1"/>
          <p:nvPr/>
        </p:nvSpPr>
        <p:spPr>
          <a:xfrm>
            <a:off x="1290027" y="775016"/>
            <a:ext cx="559769" cy="176972"/>
          </a:xfrm>
          <a:prstGeom prst="rect">
            <a:avLst/>
          </a:prstGeom>
          <a:noFill/>
        </p:spPr>
        <p:txBody>
          <a:bodyPr wrap="none" rtlCol="0">
            <a:spAutoFit/>
          </a:bodyPr>
          <a:lstStyle/>
          <a:p>
            <a:r>
              <a:rPr lang="en-US" altLang="zh-CN" sz="550" dirty="0">
                <a:solidFill>
                  <a:srgbClr val="263442"/>
                </a:solidFill>
                <a:latin typeface="Arial"/>
                <a:cs typeface="Arial"/>
              </a:rPr>
              <a:t>56 channels</a:t>
            </a:r>
            <a:endParaRPr lang="zh-CN" altLang="en-US" sz="550" dirty="0">
              <a:solidFill>
                <a:srgbClr val="263442"/>
              </a:solidFill>
              <a:latin typeface="Arial"/>
              <a:cs typeface="Arial"/>
            </a:endParaRPr>
          </a:p>
        </p:txBody>
      </p:sp>
      <p:sp>
        <p:nvSpPr>
          <p:cNvPr id="1443" name="V8 embedding computation frame">
            <a:extLst>
              <a:ext uri="{FF2B5EF4-FFF2-40B4-BE49-F238E27FC236}">
                <a16:creationId xmlns:a16="http://schemas.microsoft.com/office/drawing/2014/main" id="{FB41A424-8C9A-2DA8-76B2-57C0C54ECB10}"/>
              </a:ext>
            </a:extLst>
          </p:cNvPr>
          <p:cNvSpPr/>
          <p:nvPr/>
        </p:nvSpPr>
        <p:spPr>
          <a:xfrm>
            <a:off x="1381760" y="1318283"/>
            <a:ext cx="386080" cy="417830"/>
          </a:xfrm>
          <a:prstGeom prst="roundRect">
            <a:avLst>
              <a:gd name="adj" fmla="val 6579"/>
            </a:avLst>
          </a:prstGeom>
          <a:solidFill>
            <a:srgbClr val="F8FAFC"/>
          </a:solidFill>
          <a:ln w="6096" cap="rnd">
            <a:solidFill>
              <a:srgbClr val="C3D4E6"/>
            </a:solidFill>
            <a:prstDash val="solid"/>
            <a:round/>
          </a:ln>
        </p:spPr>
      </p:sp>
      <p:sp>
        <p:nvSpPr>
          <p:cNvPr id="1444" name="V8 embedding neighbor 1 to center">
            <a:extLst>
              <a:ext uri="{FF2B5EF4-FFF2-40B4-BE49-F238E27FC236}">
                <a16:creationId xmlns:a16="http://schemas.microsoft.com/office/drawing/2014/main" id="{3355B015-AF42-20CF-CA69-CEE14894D5E1}"/>
              </a:ext>
            </a:extLst>
          </p:cNvPr>
          <p:cNvSpPr/>
          <p:nvPr/>
        </p:nvSpPr>
        <p:spPr>
          <a:xfrm>
            <a:off x="1437942" y="1388677"/>
            <a:ext cx="84338" cy="113635"/>
          </a:xfrm>
          <a:custGeom>
            <a:avLst/>
            <a:gdLst/>
            <a:ahLst/>
            <a:cxnLst/>
            <a:rect l="l" t="t" r="r" b="b"/>
            <a:pathLst>
              <a:path w="84338" h="113635">
                <a:moveTo>
                  <a:pt x="0" y="0"/>
                </a:moveTo>
                <a:lnTo>
                  <a:pt x="84338" y="113635"/>
                </a:lnTo>
              </a:path>
            </a:pathLst>
          </a:custGeom>
          <a:noFill/>
          <a:ln w="5842" cap="rnd">
            <a:solidFill>
              <a:srgbClr val="4083B4"/>
            </a:solidFill>
            <a:prstDash val="solid"/>
            <a:round/>
          </a:ln>
        </p:spPr>
      </p:sp>
      <p:sp>
        <p:nvSpPr>
          <p:cNvPr id="1445" name="V8 embedding neighbor 1 to center head">
            <a:extLst>
              <a:ext uri="{FF2B5EF4-FFF2-40B4-BE49-F238E27FC236}">
                <a16:creationId xmlns:a16="http://schemas.microsoft.com/office/drawing/2014/main" id="{27615381-2E0E-2FB6-4DD6-10A8B1F481AB}"/>
              </a:ext>
            </a:extLst>
          </p:cNvPr>
          <p:cNvSpPr/>
          <p:nvPr/>
        </p:nvSpPr>
        <p:spPr>
          <a:xfrm>
            <a:off x="1508689" y="1488319"/>
            <a:ext cx="18870" cy="21105"/>
          </a:xfrm>
          <a:custGeom>
            <a:avLst/>
            <a:gdLst/>
            <a:ahLst/>
            <a:cxnLst/>
            <a:rect l="l" t="t" r="r" b="b"/>
            <a:pathLst>
              <a:path w="18870" h="21105">
                <a:moveTo>
                  <a:pt x="18870" y="21105"/>
                </a:moveTo>
                <a:lnTo>
                  <a:pt x="14277" y="0"/>
                </a:lnTo>
                <a:lnTo>
                  <a:pt x="0" y="10596"/>
                </a:lnTo>
                <a:close/>
              </a:path>
            </a:pathLst>
          </a:custGeom>
          <a:solidFill>
            <a:srgbClr val="4083B4"/>
          </a:solidFill>
          <a:ln w="0" cap="rnd">
            <a:noFill/>
          </a:ln>
        </p:spPr>
      </p:sp>
      <p:sp>
        <p:nvSpPr>
          <p:cNvPr id="1446" name="V8 embedding neighbor 1">
            <a:extLst>
              <a:ext uri="{FF2B5EF4-FFF2-40B4-BE49-F238E27FC236}">
                <a16:creationId xmlns:a16="http://schemas.microsoft.com/office/drawing/2014/main" id="{B5E8A971-284C-84D2-C0DB-7EB12E4B5902}"/>
              </a:ext>
            </a:extLst>
          </p:cNvPr>
          <p:cNvSpPr/>
          <p:nvPr/>
        </p:nvSpPr>
        <p:spPr>
          <a:xfrm>
            <a:off x="1411922" y="1358582"/>
            <a:ext cx="28575" cy="28575"/>
          </a:xfrm>
          <a:prstGeom prst="ellipse">
            <a:avLst/>
          </a:prstGeom>
          <a:noFill/>
          <a:ln w="7112" cap="rnd">
            <a:solidFill>
              <a:srgbClr val="4083B4"/>
            </a:solidFill>
            <a:prstDash val="solid"/>
            <a:round/>
          </a:ln>
        </p:spPr>
      </p:sp>
      <p:sp>
        <p:nvSpPr>
          <p:cNvPr id="1447" name="V8 embedding neighbor 2 to center">
            <a:extLst>
              <a:ext uri="{FF2B5EF4-FFF2-40B4-BE49-F238E27FC236}">
                <a16:creationId xmlns:a16="http://schemas.microsoft.com/office/drawing/2014/main" id="{410E19AF-558D-0BA4-4F56-8A43CC949018}"/>
              </a:ext>
            </a:extLst>
          </p:cNvPr>
          <p:cNvSpPr/>
          <p:nvPr/>
        </p:nvSpPr>
        <p:spPr>
          <a:xfrm>
            <a:off x="1567842" y="1384737"/>
            <a:ext cx="68064" cy="115185"/>
          </a:xfrm>
          <a:custGeom>
            <a:avLst/>
            <a:gdLst/>
            <a:ahLst/>
            <a:cxnLst/>
            <a:rect l="l" t="t" r="r" b="b"/>
            <a:pathLst>
              <a:path w="68064" h="115185">
                <a:moveTo>
                  <a:pt x="68064" y="0"/>
                </a:moveTo>
                <a:lnTo>
                  <a:pt x="0" y="115185"/>
                </a:lnTo>
              </a:path>
            </a:pathLst>
          </a:custGeom>
          <a:noFill/>
          <a:ln w="5842" cap="rnd">
            <a:solidFill>
              <a:srgbClr val="4083B4"/>
            </a:solidFill>
            <a:prstDash val="solid"/>
            <a:round/>
          </a:ln>
        </p:spPr>
      </p:sp>
      <p:sp>
        <p:nvSpPr>
          <p:cNvPr id="1448" name="V8 embedding neighbor 2 to center head">
            <a:extLst>
              <a:ext uri="{FF2B5EF4-FFF2-40B4-BE49-F238E27FC236}">
                <a16:creationId xmlns:a16="http://schemas.microsoft.com/office/drawing/2014/main" id="{50A61875-DCE0-421C-1735-CFE0432F2E90}"/>
              </a:ext>
            </a:extLst>
          </p:cNvPr>
          <p:cNvSpPr/>
          <p:nvPr/>
        </p:nvSpPr>
        <p:spPr>
          <a:xfrm>
            <a:off x="1563335" y="1486079"/>
            <a:ext cx="17668" cy="21470"/>
          </a:xfrm>
          <a:custGeom>
            <a:avLst/>
            <a:gdLst/>
            <a:ahLst/>
            <a:cxnLst/>
            <a:rect l="l" t="t" r="r" b="b"/>
            <a:pathLst>
              <a:path w="17668" h="21470">
                <a:moveTo>
                  <a:pt x="0" y="21470"/>
                </a:moveTo>
                <a:lnTo>
                  <a:pt x="17668" y="9045"/>
                </a:lnTo>
                <a:lnTo>
                  <a:pt x="2361" y="0"/>
                </a:lnTo>
                <a:close/>
              </a:path>
            </a:pathLst>
          </a:custGeom>
          <a:solidFill>
            <a:srgbClr val="4083B4"/>
          </a:solidFill>
          <a:ln w="0" cap="rnd">
            <a:noFill/>
          </a:ln>
        </p:spPr>
      </p:sp>
      <p:sp>
        <p:nvSpPr>
          <p:cNvPr id="1449" name="V8 embedding neighbor 2">
            <a:extLst>
              <a:ext uri="{FF2B5EF4-FFF2-40B4-BE49-F238E27FC236}">
                <a16:creationId xmlns:a16="http://schemas.microsoft.com/office/drawing/2014/main" id="{7AEBAFCB-8ED1-BA01-F100-82AD32FAB4F6}"/>
              </a:ext>
            </a:extLst>
          </p:cNvPr>
          <p:cNvSpPr/>
          <p:nvPr/>
        </p:nvSpPr>
        <p:spPr>
          <a:xfrm>
            <a:off x="1630362" y="1352232"/>
            <a:ext cx="31115" cy="31115"/>
          </a:xfrm>
          <a:prstGeom prst="ellipse">
            <a:avLst/>
          </a:prstGeom>
          <a:noFill/>
          <a:ln w="7112" cap="rnd">
            <a:solidFill>
              <a:srgbClr val="4083B4"/>
            </a:solidFill>
            <a:prstDash val="solid"/>
            <a:round/>
          </a:ln>
        </p:spPr>
      </p:sp>
      <p:sp>
        <p:nvSpPr>
          <p:cNvPr id="1450" name="V8 embedding upper curved aggregation">
            <a:extLst>
              <a:ext uri="{FF2B5EF4-FFF2-40B4-BE49-F238E27FC236}">
                <a16:creationId xmlns:a16="http://schemas.microsoft.com/office/drawing/2014/main" id="{1726AB57-DCD6-4DAB-768F-79635F178651}"/>
              </a:ext>
            </a:extLst>
          </p:cNvPr>
          <p:cNvSpPr/>
          <p:nvPr/>
        </p:nvSpPr>
        <p:spPr>
          <a:xfrm>
            <a:off x="1581150" y="1449794"/>
            <a:ext cx="120650" cy="48806"/>
          </a:xfrm>
          <a:custGeom>
            <a:avLst/>
            <a:gdLst/>
            <a:ahLst/>
            <a:cxnLst/>
            <a:rect l="l" t="t" r="r" b="b"/>
            <a:pathLst>
              <a:path w="120650" h="48806">
                <a:moveTo>
                  <a:pt x="118713" y="0"/>
                </a:moveTo>
                <a:cubicBezTo>
                  <a:pt x="120650" y="36106"/>
                  <a:pt x="44450" y="29756"/>
                  <a:pt x="0" y="48806"/>
                </a:cubicBezTo>
              </a:path>
            </a:pathLst>
          </a:custGeom>
          <a:noFill/>
          <a:ln w="5842" cap="rnd">
            <a:solidFill>
              <a:srgbClr val="4083B4"/>
            </a:solidFill>
            <a:prstDash val="solid"/>
            <a:round/>
          </a:ln>
        </p:spPr>
      </p:sp>
      <p:sp>
        <p:nvSpPr>
          <p:cNvPr id="1451" name="V8 embedding upper curved aggregation tip">
            <a:extLst>
              <a:ext uri="{FF2B5EF4-FFF2-40B4-BE49-F238E27FC236}">
                <a16:creationId xmlns:a16="http://schemas.microsoft.com/office/drawing/2014/main" id="{2B3CEBDA-0E2D-671A-9B26-76F746F7D64B}"/>
              </a:ext>
            </a:extLst>
          </p:cNvPr>
          <p:cNvSpPr/>
          <p:nvPr/>
        </p:nvSpPr>
        <p:spPr>
          <a:xfrm>
            <a:off x="1572439" y="1498600"/>
            <a:ext cx="8711" cy="4690"/>
          </a:xfrm>
          <a:custGeom>
            <a:avLst/>
            <a:gdLst/>
            <a:ahLst/>
            <a:cxnLst/>
            <a:rect l="l" t="t" r="r" b="b"/>
            <a:pathLst>
              <a:path w="8711" h="4690">
                <a:moveTo>
                  <a:pt x="8711" y="0"/>
                </a:moveTo>
                <a:lnTo>
                  <a:pt x="0" y="4690"/>
                </a:lnTo>
              </a:path>
            </a:pathLst>
          </a:custGeom>
          <a:noFill/>
          <a:ln w="5842" cap="rnd">
            <a:solidFill>
              <a:srgbClr val="9481B1"/>
            </a:solidFill>
            <a:prstDash val="solid"/>
            <a:round/>
          </a:ln>
        </p:spPr>
      </p:sp>
      <p:sp>
        <p:nvSpPr>
          <p:cNvPr id="1452" name="V8 embedding upper curved aggregation tip head">
            <a:extLst>
              <a:ext uri="{FF2B5EF4-FFF2-40B4-BE49-F238E27FC236}">
                <a16:creationId xmlns:a16="http://schemas.microsoft.com/office/drawing/2014/main" id="{EA8590B6-001E-E7FA-C91E-6684CAB2CE42}"/>
              </a:ext>
            </a:extLst>
          </p:cNvPr>
          <p:cNvSpPr/>
          <p:nvPr/>
        </p:nvSpPr>
        <p:spPr>
          <a:xfrm>
            <a:off x="1564640" y="1490330"/>
            <a:ext cx="21547" cy="17160"/>
          </a:xfrm>
          <a:custGeom>
            <a:avLst/>
            <a:gdLst/>
            <a:ahLst/>
            <a:cxnLst/>
            <a:rect l="l" t="t" r="r" b="b"/>
            <a:pathLst>
              <a:path w="21547" h="17160">
                <a:moveTo>
                  <a:pt x="0" y="17160"/>
                </a:moveTo>
                <a:lnTo>
                  <a:pt x="21547" y="15655"/>
                </a:lnTo>
                <a:lnTo>
                  <a:pt x="13117" y="0"/>
                </a:lnTo>
                <a:close/>
              </a:path>
            </a:pathLst>
          </a:custGeom>
          <a:solidFill>
            <a:srgbClr val="4083B4"/>
          </a:solidFill>
          <a:ln w="0" cap="rnd">
            <a:noFill/>
          </a:ln>
        </p:spPr>
      </p:sp>
      <p:sp>
        <p:nvSpPr>
          <p:cNvPr id="1453" name="V8 embedding neighbor 3">
            <a:extLst>
              <a:ext uri="{FF2B5EF4-FFF2-40B4-BE49-F238E27FC236}">
                <a16:creationId xmlns:a16="http://schemas.microsoft.com/office/drawing/2014/main" id="{122DFBAE-E742-85F4-F8BE-661BC7410AFC}"/>
              </a:ext>
            </a:extLst>
          </p:cNvPr>
          <p:cNvSpPr/>
          <p:nvPr/>
        </p:nvSpPr>
        <p:spPr>
          <a:xfrm>
            <a:off x="1703070" y="1426210"/>
            <a:ext cx="27940" cy="27940"/>
          </a:xfrm>
          <a:prstGeom prst="ellipse">
            <a:avLst/>
          </a:prstGeom>
          <a:noFill/>
          <a:ln w="7112" cap="rnd">
            <a:solidFill>
              <a:srgbClr val="4083B4"/>
            </a:solidFill>
            <a:prstDash val="solid"/>
            <a:round/>
          </a:ln>
        </p:spPr>
      </p:sp>
      <p:sp>
        <p:nvSpPr>
          <p:cNvPr id="1454" name="V8 embedding curved aggregation">
            <a:extLst>
              <a:ext uri="{FF2B5EF4-FFF2-40B4-BE49-F238E27FC236}">
                <a16:creationId xmlns:a16="http://schemas.microsoft.com/office/drawing/2014/main" id="{90CEAB6E-EBCA-9F13-36DE-C928BA671D5A}"/>
              </a:ext>
            </a:extLst>
          </p:cNvPr>
          <p:cNvSpPr/>
          <p:nvPr/>
        </p:nvSpPr>
        <p:spPr>
          <a:xfrm>
            <a:off x="1422400" y="1503680"/>
            <a:ext cx="77470" cy="107970"/>
          </a:xfrm>
          <a:custGeom>
            <a:avLst/>
            <a:gdLst/>
            <a:ahLst/>
            <a:cxnLst/>
            <a:rect l="l" t="t" r="r" b="b"/>
            <a:pathLst>
              <a:path w="77470" h="107970">
                <a:moveTo>
                  <a:pt x="17311" y="107970"/>
                </a:moveTo>
                <a:cubicBezTo>
                  <a:pt x="0" y="29210"/>
                  <a:pt x="35560" y="0"/>
                  <a:pt x="77470" y="12700"/>
                </a:cubicBezTo>
              </a:path>
            </a:pathLst>
          </a:custGeom>
          <a:noFill/>
          <a:ln w="8890" cap="rnd">
            <a:solidFill>
              <a:srgbClr val="4083B4"/>
            </a:solidFill>
            <a:prstDash val="solid"/>
            <a:round/>
          </a:ln>
        </p:spPr>
      </p:sp>
      <p:sp>
        <p:nvSpPr>
          <p:cNvPr id="1455" name="V8 embedding curved aggregation tip">
            <a:extLst>
              <a:ext uri="{FF2B5EF4-FFF2-40B4-BE49-F238E27FC236}">
                <a16:creationId xmlns:a16="http://schemas.microsoft.com/office/drawing/2014/main" id="{4871021E-0B37-6092-4FB6-FB482931253B}"/>
              </a:ext>
            </a:extLst>
          </p:cNvPr>
          <p:cNvSpPr/>
          <p:nvPr/>
        </p:nvSpPr>
        <p:spPr>
          <a:xfrm>
            <a:off x="1499870" y="1516380"/>
            <a:ext cx="6039" cy="3020"/>
          </a:xfrm>
          <a:custGeom>
            <a:avLst/>
            <a:gdLst/>
            <a:ahLst/>
            <a:cxnLst/>
            <a:rect l="l" t="t" r="r" b="b"/>
            <a:pathLst>
              <a:path w="6039" h="3020">
                <a:moveTo>
                  <a:pt x="0" y="0"/>
                </a:moveTo>
                <a:lnTo>
                  <a:pt x="6039" y="3020"/>
                </a:lnTo>
              </a:path>
            </a:pathLst>
          </a:custGeom>
          <a:noFill/>
          <a:ln w="8890" cap="rnd">
            <a:solidFill>
              <a:srgbClr val="9481B1"/>
            </a:solidFill>
            <a:prstDash val="solid"/>
            <a:round/>
          </a:ln>
        </p:spPr>
      </p:sp>
      <p:sp>
        <p:nvSpPr>
          <p:cNvPr id="1456" name="V8 embedding curved aggregation tip head">
            <a:extLst>
              <a:ext uri="{FF2B5EF4-FFF2-40B4-BE49-F238E27FC236}">
                <a16:creationId xmlns:a16="http://schemas.microsoft.com/office/drawing/2014/main" id="{86BC3798-BFD4-0C2D-6F96-1C5CADB6D7BE}"/>
              </a:ext>
            </a:extLst>
          </p:cNvPr>
          <p:cNvSpPr/>
          <p:nvPr/>
        </p:nvSpPr>
        <p:spPr>
          <a:xfrm>
            <a:off x="1489978" y="1504405"/>
            <a:ext cx="25132" cy="19595"/>
          </a:xfrm>
          <a:custGeom>
            <a:avLst/>
            <a:gdLst/>
            <a:ahLst/>
            <a:cxnLst/>
            <a:rect l="l" t="t" r="r" b="b"/>
            <a:pathLst>
              <a:path w="25132" h="19595">
                <a:moveTo>
                  <a:pt x="25132" y="19595"/>
                </a:moveTo>
                <a:lnTo>
                  <a:pt x="9371" y="0"/>
                </a:lnTo>
                <a:lnTo>
                  <a:pt x="0" y="18743"/>
                </a:lnTo>
                <a:close/>
              </a:path>
            </a:pathLst>
          </a:custGeom>
          <a:solidFill>
            <a:srgbClr val="4083B4"/>
          </a:solidFill>
          <a:ln w="0" cap="rnd">
            <a:solidFill>
              <a:srgbClr val="4083B4"/>
            </a:solidFill>
          </a:ln>
        </p:spPr>
      </p:sp>
      <p:sp>
        <p:nvSpPr>
          <p:cNvPr id="1457" name="V8 embedding neighbor 4">
            <a:extLst>
              <a:ext uri="{FF2B5EF4-FFF2-40B4-BE49-F238E27FC236}">
                <a16:creationId xmlns:a16="http://schemas.microsoft.com/office/drawing/2014/main" id="{AEADE014-9292-2360-C2CE-F8C845E8BCFD}"/>
              </a:ext>
            </a:extLst>
          </p:cNvPr>
          <p:cNvSpPr/>
          <p:nvPr/>
        </p:nvSpPr>
        <p:spPr>
          <a:xfrm>
            <a:off x="1407795" y="1607185"/>
            <a:ext cx="31750" cy="31750"/>
          </a:xfrm>
          <a:prstGeom prst="ellipse">
            <a:avLst/>
          </a:prstGeom>
          <a:noFill/>
          <a:ln w="7112" cap="rnd">
            <a:solidFill>
              <a:srgbClr val="4083B4"/>
            </a:solidFill>
            <a:prstDash val="solid"/>
            <a:round/>
          </a:ln>
        </p:spPr>
      </p:sp>
      <p:sp>
        <p:nvSpPr>
          <p:cNvPr id="1458" name="V8 embedding neighbor 5 to center">
            <a:extLst>
              <a:ext uri="{FF2B5EF4-FFF2-40B4-BE49-F238E27FC236}">
                <a16:creationId xmlns:a16="http://schemas.microsoft.com/office/drawing/2014/main" id="{88F2ECE0-BE4E-6B10-0F14-901F5AD31AE6}"/>
              </a:ext>
            </a:extLst>
          </p:cNvPr>
          <p:cNvSpPr/>
          <p:nvPr/>
        </p:nvSpPr>
        <p:spPr>
          <a:xfrm>
            <a:off x="1538090" y="1576570"/>
            <a:ext cx="5857" cy="82734"/>
          </a:xfrm>
          <a:custGeom>
            <a:avLst/>
            <a:gdLst/>
            <a:ahLst/>
            <a:cxnLst/>
            <a:rect l="l" t="t" r="r" b="b"/>
            <a:pathLst>
              <a:path w="5857" h="82734">
                <a:moveTo>
                  <a:pt x="0" y="82734"/>
                </a:moveTo>
                <a:lnTo>
                  <a:pt x="5857" y="0"/>
                </a:lnTo>
              </a:path>
            </a:pathLst>
          </a:custGeom>
          <a:noFill/>
          <a:ln w="5842" cap="rnd">
            <a:solidFill>
              <a:srgbClr val="4083B4"/>
            </a:solidFill>
            <a:prstDash val="solid"/>
            <a:round/>
          </a:ln>
        </p:spPr>
      </p:sp>
      <p:sp>
        <p:nvSpPr>
          <p:cNvPr id="1459" name="V8 embedding neighbor 5 to center head">
            <a:extLst>
              <a:ext uri="{FF2B5EF4-FFF2-40B4-BE49-F238E27FC236}">
                <a16:creationId xmlns:a16="http://schemas.microsoft.com/office/drawing/2014/main" id="{4E579011-FEC4-00D3-7546-C5CB388C9A0A}"/>
              </a:ext>
            </a:extLst>
          </p:cNvPr>
          <p:cNvSpPr/>
          <p:nvPr/>
        </p:nvSpPr>
        <p:spPr>
          <a:xfrm>
            <a:off x="1534315" y="1567734"/>
            <a:ext cx="17736" cy="20264"/>
          </a:xfrm>
          <a:custGeom>
            <a:avLst/>
            <a:gdLst/>
            <a:ahLst/>
            <a:cxnLst/>
            <a:rect l="l" t="t" r="r" b="b"/>
            <a:pathLst>
              <a:path w="17736" h="20264">
                <a:moveTo>
                  <a:pt x="10258" y="0"/>
                </a:moveTo>
                <a:lnTo>
                  <a:pt x="0" y="19008"/>
                </a:lnTo>
                <a:lnTo>
                  <a:pt x="17736" y="20264"/>
                </a:lnTo>
                <a:close/>
              </a:path>
            </a:pathLst>
          </a:custGeom>
          <a:solidFill>
            <a:srgbClr val="4083B4"/>
          </a:solidFill>
          <a:ln w="0" cap="rnd">
            <a:solidFill>
              <a:srgbClr val="4083B4"/>
            </a:solidFill>
          </a:ln>
        </p:spPr>
      </p:sp>
      <p:sp>
        <p:nvSpPr>
          <p:cNvPr id="1460" name="V8 embedding neighbor 5">
            <a:extLst>
              <a:ext uri="{FF2B5EF4-FFF2-40B4-BE49-F238E27FC236}">
                <a16:creationId xmlns:a16="http://schemas.microsoft.com/office/drawing/2014/main" id="{80A6CA00-4D1C-000D-C0AF-7F59BA21FF45}"/>
              </a:ext>
            </a:extLst>
          </p:cNvPr>
          <p:cNvSpPr/>
          <p:nvPr/>
        </p:nvSpPr>
        <p:spPr>
          <a:xfrm>
            <a:off x="1522095" y="1664335"/>
            <a:ext cx="29210" cy="29210"/>
          </a:xfrm>
          <a:prstGeom prst="ellipse">
            <a:avLst/>
          </a:prstGeom>
          <a:noFill/>
          <a:ln w="7112" cap="rnd">
            <a:solidFill>
              <a:srgbClr val="4083B4"/>
            </a:solidFill>
            <a:prstDash val="solid"/>
            <a:round/>
          </a:ln>
        </p:spPr>
      </p:sp>
      <p:sp>
        <p:nvSpPr>
          <p:cNvPr id="1461" name="V8 embedding center">
            <a:extLst>
              <a:ext uri="{FF2B5EF4-FFF2-40B4-BE49-F238E27FC236}">
                <a16:creationId xmlns:a16="http://schemas.microsoft.com/office/drawing/2014/main" id="{0973F1A0-63C8-796C-8269-8DC9810E39E1}"/>
              </a:ext>
            </a:extLst>
          </p:cNvPr>
          <p:cNvSpPr/>
          <p:nvPr/>
        </p:nvSpPr>
        <p:spPr>
          <a:xfrm>
            <a:off x="1524635" y="1513205"/>
            <a:ext cx="44450" cy="44450"/>
          </a:xfrm>
          <a:prstGeom prst="ellipse">
            <a:avLst/>
          </a:prstGeom>
          <a:noFill/>
          <a:ln w="9906" cap="rnd">
            <a:solidFill>
              <a:srgbClr val="3B8C80"/>
            </a:solidFill>
            <a:prstDash val="solid"/>
            <a:round/>
          </a:ln>
        </p:spPr>
      </p:sp>
      <p:sp>
        <p:nvSpPr>
          <p:cNvPr id="1462" name="V8 embedding feature 1">
            <a:extLst>
              <a:ext uri="{FF2B5EF4-FFF2-40B4-BE49-F238E27FC236}">
                <a16:creationId xmlns:a16="http://schemas.microsoft.com/office/drawing/2014/main" id="{FE0417EE-6828-F09F-AACE-DE1F76BE3EB6}"/>
              </a:ext>
            </a:extLst>
          </p:cNvPr>
          <p:cNvSpPr/>
          <p:nvPr/>
        </p:nvSpPr>
        <p:spPr>
          <a:xfrm>
            <a:off x="1578610" y="1518285"/>
            <a:ext cx="18415" cy="34290"/>
          </a:xfrm>
          <a:prstGeom prst="rect">
            <a:avLst/>
          </a:prstGeom>
          <a:solidFill>
            <a:srgbClr val="3E8F9A"/>
          </a:solidFill>
          <a:ln w="0" cap="rnd">
            <a:noFill/>
          </a:ln>
        </p:spPr>
      </p:sp>
      <p:sp>
        <p:nvSpPr>
          <p:cNvPr id="1463" name="V8 embedding feature 2">
            <a:extLst>
              <a:ext uri="{FF2B5EF4-FFF2-40B4-BE49-F238E27FC236}">
                <a16:creationId xmlns:a16="http://schemas.microsoft.com/office/drawing/2014/main" id="{28DF18A8-B7D6-40CC-F8D0-1CE005F88971}"/>
              </a:ext>
            </a:extLst>
          </p:cNvPr>
          <p:cNvSpPr/>
          <p:nvPr/>
        </p:nvSpPr>
        <p:spPr>
          <a:xfrm>
            <a:off x="1598295" y="1518285"/>
            <a:ext cx="18415" cy="34290"/>
          </a:xfrm>
          <a:prstGeom prst="rect">
            <a:avLst/>
          </a:prstGeom>
          <a:solidFill>
            <a:srgbClr val="88BEC3"/>
          </a:solidFill>
          <a:ln w="0" cap="rnd">
            <a:noFill/>
          </a:ln>
        </p:spPr>
      </p:sp>
      <p:sp>
        <p:nvSpPr>
          <p:cNvPr id="1464" name="V8 embedding feature 3">
            <a:extLst>
              <a:ext uri="{FF2B5EF4-FFF2-40B4-BE49-F238E27FC236}">
                <a16:creationId xmlns:a16="http://schemas.microsoft.com/office/drawing/2014/main" id="{D8B2548F-FDCB-962F-D116-8194E608D854}"/>
              </a:ext>
            </a:extLst>
          </p:cNvPr>
          <p:cNvSpPr/>
          <p:nvPr/>
        </p:nvSpPr>
        <p:spPr>
          <a:xfrm>
            <a:off x="1617980" y="1518285"/>
            <a:ext cx="18415" cy="34290"/>
          </a:xfrm>
          <a:prstGeom prst="rect">
            <a:avLst/>
          </a:prstGeom>
          <a:solidFill>
            <a:srgbClr val="67AD9F"/>
          </a:solidFill>
          <a:ln w="0" cap="rnd">
            <a:noFill/>
          </a:ln>
        </p:spPr>
      </p:sp>
      <p:sp>
        <p:nvSpPr>
          <p:cNvPr id="1465" name="V8 embedding feature 4">
            <a:extLst>
              <a:ext uri="{FF2B5EF4-FFF2-40B4-BE49-F238E27FC236}">
                <a16:creationId xmlns:a16="http://schemas.microsoft.com/office/drawing/2014/main" id="{4DB56FF7-AE6A-29C2-0D4E-A50B4A01B329}"/>
              </a:ext>
            </a:extLst>
          </p:cNvPr>
          <p:cNvSpPr/>
          <p:nvPr/>
        </p:nvSpPr>
        <p:spPr>
          <a:xfrm>
            <a:off x="1637665" y="1518285"/>
            <a:ext cx="18415" cy="34290"/>
          </a:xfrm>
          <a:prstGeom prst="rect">
            <a:avLst/>
          </a:prstGeom>
          <a:solidFill>
            <a:srgbClr val="B6D8CC"/>
          </a:solidFill>
          <a:ln w="0" cap="rnd">
            <a:noFill/>
          </a:ln>
        </p:spPr>
      </p:sp>
      <p:sp>
        <p:nvSpPr>
          <p:cNvPr id="1466" name="V8 embedding feature 5">
            <a:extLst>
              <a:ext uri="{FF2B5EF4-FFF2-40B4-BE49-F238E27FC236}">
                <a16:creationId xmlns:a16="http://schemas.microsoft.com/office/drawing/2014/main" id="{0834D08B-BC25-2ADC-AF12-5492513577F8}"/>
              </a:ext>
            </a:extLst>
          </p:cNvPr>
          <p:cNvSpPr/>
          <p:nvPr/>
        </p:nvSpPr>
        <p:spPr>
          <a:xfrm>
            <a:off x="1657350" y="1518285"/>
            <a:ext cx="18415" cy="34290"/>
          </a:xfrm>
          <a:prstGeom prst="rect">
            <a:avLst/>
          </a:prstGeom>
          <a:solidFill>
            <a:srgbClr val="3B8C80"/>
          </a:solidFill>
          <a:ln w="0" cap="rnd">
            <a:noFill/>
          </a:ln>
        </p:spPr>
      </p:sp>
      <p:sp>
        <p:nvSpPr>
          <p:cNvPr id="1467" name="V8 embedding feature 6">
            <a:extLst>
              <a:ext uri="{FF2B5EF4-FFF2-40B4-BE49-F238E27FC236}">
                <a16:creationId xmlns:a16="http://schemas.microsoft.com/office/drawing/2014/main" id="{7EDE9E92-6EF0-3023-2F22-6E7EFD9706C6}"/>
              </a:ext>
            </a:extLst>
          </p:cNvPr>
          <p:cNvSpPr/>
          <p:nvPr/>
        </p:nvSpPr>
        <p:spPr>
          <a:xfrm>
            <a:off x="1677035" y="1518285"/>
            <a:ext cx="18415" cy="34290"/>
          </a:xfrm>
          <a:prstGeom prst="rect">
            <a:avLst/>
          </a:prstGeom>
          <a:solidFill>
            <a:srgbClr val="A3CDDA"/>
          </a:solidFill>
          <a:ln w="0" cap="rnd">
            <a:noFill/>
          </a:ln>
        </p:spPr>
      </p:sp>
      <p:sp>
        <p:nvSpPr>
          <p:cNvPr id="1468" name="V8 embedding feature 7">
            <a:extLst>
              <a:ext uri="{FF2B5EF4-FFF2-40B4-BE49-F238E27FC236}">
                <a16:creationId xmlns:a16="http://schemas.microsoft.com/office/drawing/2014/main" id="{3791BD29-2650-00D8-2639-94010AF8036F}"/>
              </a:ext>
            </a:extLst>
          </p:cNvPr>
          <p:cNvSpPr/>
          <p:nvPr/>
        </p:nvSpPr>
        <p:spPr>
          <a:xfrm>
            <a:off x="1696720" y="1518285"/>
            <a:ext cx="18415" cy="34290"/>
          </a:xfrm>
          <a:prstGeom prst="rect">
            <a:avLst/>
          </a:prstGeom>
          <a:solidFill>
            <a:srgbClr val="6CAFA4"/>
          </a:solidFill>
          <a:ln w="0" cap="rnd">
            <a:noFill/>
          </a:ln>
        </p:spPr>
      </p:sp>
      <p:sp>
        <p:nvSpPr>
          <p:cNvPr id="1469" name="V8 embedding feature 8">
            <a:extLst>
              <a:ext uri="{FF2B5EF4-FFF2-40B4-BE49-F238E27FC236}">
                <a16:creationId xmlns:a16="http://schemas.microsoft.com/office/drawing/2014/main" id="{78D40256-09DE-A393-64FC-199BB5DEB767}"/>
              </a:ext>
            </a:extLst>
          </p:cNvPr>
          <p:cNvSpPr/>
          <p:nvPr/>
        </p:nvSpPr>
        <p:spPr>
          <a:xfrm>
            <a:off x="1716405" y="1518285"/>
            <a:ext cx="18415" cy="34290"/>
          </a:xfrm>
          <a:prstGeom prst="rect">
            <a:avLst/>
          </a:prstGeom>
          <a:solidFill>
            <a:srgbClr val="C4DDE0"/>
          </a:solidFill>
          <a:ln w="0" cap="rnd">
            <a:noFill/>
          </a:ln>
        </p:spPr>
      </p:sp>
      <p:sp>
        <p:nvSpPr>
          <p:cNvPr id="1471" name="V8 embedding to point branch">
            <a:extLst>
              <a:ext uri="{FF2B5EF4-FFF2-40B4-BE49-F238E27FC236}">
                <a16:creationId xmlns:a16="http://schemas.microsoft.com/office/drawing/2014/main" id="{CD0EF799-B1E4-C26B-BB25-441BB97890BE}"/>
              </a:ext>
            </a:extLst>
          </p:cNvPr>
          <p:cNvSpPr/>
          <p:nvPr/>
        </p:nvSpPr>
        <p:spPr>
          <a:xfrm flipV="1">
            <a:off x="1797053" y="1469001"/>
            <a:ext cx="157162" cy="66614"/>
          </a:xfrm>
          <a:custGeom>
            <a:avLst/>
            <a:gdLst/>
            <a:ahLst/>
            <a:cxnLst/>
            <a:rect l="l" t="t" r="r" b="b"/>
            <a:pathLst>
              <a:path w="63379" h="1">
                <a:moveTo>
                  <a:pt x="0" y="0"/>
                </a:moveTo>
                <a:lnTo>
                  <a:pt x="63379" y="0"/>
                </a:lnTo>
              </a:path>
            </a:pathLst>
          </a:custGeom>
          <a:noFill/>
          <a:ln w="8509" cap="rnd">
            <a:solidFill>
              <a:srgbClr val="4083B4"/>
            </a:solidFill>
            <a:prstDash val="solid"/>
            <a:round/>
          </a:ln>
        </p:spPr>
      </p:sp>
      <p:sp>
        <p:nvSpPr>
          <p:cNvPr id="1472" name="V8 embedding to point branch head">
            <a:extLst>
              <a:ext uri="{FF2B5EF4-FFF2-40B4-BE49-F238E27FC236}">
                <a16:creationId xmlns:a16="http://schemas.microsoft.com/office/drawing/2014/main" id="{EE5B1593-BB31-DCD1-99C7-141C7B857AF7}"/>
              </a:ext>
            </a:extLst>
          </p:cNvPr>
          <p:cNvSpPr/>
          <p:nvPr/>
        </p:nvSpPr>
        <p:spPr>
          <a:xfrm>
            <a:off x="1938919" y="1523745"/>
            <a:ext cx="28321" cy="24384"/>
          </a:xfrm>
          <a:custGeom>
            <a:avLst/>
            <a:gdLst/>
            <a:ahLst/>
            <a:cxnLst/>
            <a:rect l="l" t="t" r="r" b="b"/>
            <a:pathLst>
              <a:path w="28321" h="24384">
                <a:moveTo>
                  <a:pt x="28321" y="12192"/>
                </a:moveTo>
                <a:lnTo>
                  <a:pt x="0" y="0"/>
                </a:lnTo>
                <a:lnTo>
                  <a:pt x="0" y="24384"/>
                </a:lnTo>
                <a:close/>
              </a:path>
            </a:pathLst>
          </a:custGeom>
          <a:solidFill>
            <a:srgbClr val="4083B4"/>
          </a:solidFill>
          <a:ln w="0" cap="rnd">
            <a:solidFill>
              <a:srgbClr val="4083B4"/>
            </a:solidFill>
          </a:ln>
        </p:spPr>
      </p:sp>
      <p:sp>
        <p:nvSpPr>
          <p:cNvPr id="1473" name="V8 embedding to voxel branch">
            <a:extLst>
              <a:ext uri="{FF2B5EF4-FFF2-40B4-BE49-F238E27FC236}">
                <a16:creationId xmlns:a16="http://schemas.microsoft.com/office/drawing/2014/main" id="{A9E148F4-6BCA-77FF-AE43-549D2AE883D5}"/>
              </a:ext>
            </a:extLst>
          </p:cNvPr>
          <p:cNvSpPr/>
          <p:nvPr/>
        </p:nvSpPr>
        <p:spPr>
          <a:xfrm flipH="1">
            <a:off x="1817789" y="835707"/>
            <a:ext cx="45719" cy="699723"/>
          </a:xfrm>
          <a:custGeom>
            <a:avLst/>
            <a:gdLst/>
            <a:ahLst/>
            <a:cxnLst/>
            <a:rect l="l" t="t" r="r" b="b"/>
            <a:pathLst>
              <a:path w="1" h="866159">
                <a:moveTo>
                  <a:pt x="0" y="866159"/>
                </a:moveTo>
                <a:lnTo>
                  <a:pt x="0" y="0"/>
                </a:lnTo>
              </a:path>
            </a:pathLst>
          </a:custGeom>
          <a:noFill/>
          <a:ln w="8509" cap="rnd">
            <a:solidFill>
              <a:srgbClr val="4083B4"/>
            </a:solidFill>
            <a:prstDash val="solid"/>
            <a:round/>
          </a:ln>
        </p:spPr>
      </p:sp>
      <p:sp>
        <p:nvSpPr>
          <p:cNvPr id="1475" name="V8 density and receptor to voxel">
            <a:extLst>
              <a:ext uri="{FF2B5EF4-FFF2-40B4-BE49-F238E27FC236}">
                <a16:creationId xmlns:a16="http://schemas.microsoft.com/office/drawing/2014/main" id="{61ECA984-FF9D-A5D0-F819-33661D001ABE}"/>
              </a:ext>
            </a:extLst>
          </p:cNvPr>
          <p:cNvSpPr/>
          <p:nvPr/>
        </p:nvSpPr>
        <p:spPr>
          <a:xfrm flipV="1">
            <a:off x="1797146" y="610807"/>
            <a:ext cx="148072" cy="45719"/>
          </a:xfrm>
          <a:custGeom>
            <a:avLst/>
            <a:gdLst/>
            <a:ahLst/>
            <a:cxnLst/>
            <a:rect l="l" t="t" r="r" b="b"/>
            <a:pathLst>
              <a:path w="96730" h="1">
                <a:moveTo>
                  <a:pt x="0" y="0"/>
                </a:moveTo>
                <a:lnTo>
                  <a:pt x="96730" y="0"/>
                </a:lnTo>
              </a:path>
            </a:pathLst>
          </a:custGeom>
          <a:noFill/>
          <a:ln w="8509" cap="rnd">
            <a:solidFill>
              <a:srgbClr val="4083B4"/>
            </a:solidFill>
            <a:prstDash val="solid"/>
            <a:round/>
          </a:ln>
        </p:spPr>
      </p:sp>
      <p:sp>
        <p:nvSpPr>
          <p:cNvPr id="1476" name="V8 density and receptor to voxel head">
            <a:extLst>
              <a:ext uri="{FF2B5EF4-FFF2-40B4-BE49-F238E27FC236}">
                <a16:creationId xmlns:a16="http://schemas.microsoft.com/office/drawing/2014/main" id="{D6CAD338-44F5-8993-3618-9A1839CB2DBC}"/>
              </a:ext>
            </a:extLst>
          </p:cNvPr>
          <p:cNvSpPr/>
          <p:nvPr/>
        </p:nvSpPr>
        <p:spPr>
          <a:xfrm>
            <a:off x="1934388" y="644334"/>
            <a:ext cx="28321" cy="24384"/>
          </a:xfrm>
          <a:custGeom>
            <a:avLst/>
            <a:gdLst/>
            <a:ahLst/>
            <a:cxnLst/>
            <a:rect l="l" t="t" r="r" b="b"/>
            <a:pathLst>
              <a:path w="28321" h="24384">
                <a:moveTo>
                  <a:pt x="28321" y="12192"/>
                </a:moveTo>
                <a:lnTo>
                  <a:pt x="0" y="0"/>
                </a:lnTo>
                <a:lnTo>
                  <a:pt x="0" y="24384"/>
                </a:lnTo>
                <a:close/>
              </a:path>
            </a:pathLst>
          </a:custGeom>
          <a:solidFill>
            <a:srgbClr val="4083B4"/>
          </a:solidFill>
          <a:ln w="0" cap="rnd">
            <a:noFill/>
          </a:ln>
        </p:spPr>
      </p:sp>
      <p:sp>
        <p:nvSpPr>
          <p:cNvPr id="1479" name="V8 Match input divider">
            <a:extLst>
              <a:ext uri="{FF2B5EF4-FFF2-40B4-BE49-F238E27FC236}">
                <a16:creationId xmlns:a16="http://schemas.microsoft.com/office/drawing/2014/main" id="{2EDC4EC7-D903-3262-650D-444D37299D28}"/>
              </a:ext>
            </a:extLst>
          </p:cNvPr>
          <p:cNvSpPr/>
          <p:nvPr/>
        </p:nvSpPr>
        <p:spPr>
          <a:xfrm>
            <a:off x="673037" y="2767063"/>
            <a:ext cx="957199" cy="1"/>
          </a:xfrm>
          <a:custGeom>
            <a:avLst/>
            <a:gdLst/>
            <a:ahLst/>
            <a:cxnLst/>
            <a:rect l="l" t="t" r="r" b="b"/>
            <a:pathLst>
              <a:path w="957199" h="1">
                <a:moveTo>
                  <a:pt x="0" y="0"/>
                </a:moveTo>
                <a:lnTo>
                  <a:pt x="957199" y="0"/>
                </a:lnTo>
              </a:path>
            </a:pathLst>
          </a:custGeom>
          <a:noFill/>
          <a:ln w="7290" cap="rnd">
            <a:solidFill>
              <a:srgbClr val="B6CEC5"/>
            </a:solidFill>
            <a:prstDash val="solid"/>
            <a:round/>
          </a:ln>
        </p:spPr>
      </p:sp>
      <p:sp>
        <p:nvSpPr>
          <p:cNvPr id="1480" name="V8 pool to concat">
            <a:extLst>
              <a:ext uri="{FF2B5EF4-FFF2-40B4-BE49-F238E27FC236}">
                <a16:creationId xmlns:a16="http://schemas.microsoft.com/office/drawing/2014/main" id="{3702663D-F294-9B06-B213-0076F82464A6}"/>
              </a:ext>
            </a:extLst>
          </p:cNvPr>
          <p:cNvSpPr/>
          <p:nvPr/>
        </p:nvSpPr>
        <p:spPr>
          <a:xfrm>
            <a:off x="978338" y="3603168"/>
            <a:ext cx="355873" cy="100152"/>
          </a:xfrm>
          <a:custGeom>
            <a:avLst/>
            <a:gdLst/>
            <a:ahLst/>
            <a:cxnLst/>
            <a:rect l="l" t="t" r="r" b="b"/>
            <a:pathLst>
              <a:path w="355873" h="100152">
                <a:moveTo>
                  <a:pt x="0" y="0"/>
                </a:moveTo>
                <a:lnTo>
                  <a:pt x="0" y="100152"/>
                </a:lnTo>
                <a:lnTo>
                  <a:pt x="355873" y="100152"/>
                </a:lnTo>
              </a:path>
            </a:pathLst>
          </a:custGeom>
          <a:noFill/>
          <a:ln w="8509" cap="rnd">
            <a:solidFill>
              <a:srgbClr val="3B8C80"/>
            </a:solidFill>
            <a:prstDash val="solid"/>
            <a:round/>
          </a:ln>
        </p:spPr>
      </p:sp>
      <p:sp>
        <p:nvSpPr>
          <p:cNvPr id="1481" name="V8 attention to concat">
            <a:extLst>
              <a:ext uri="{FF2B5EF4-FFF2-40B4-BE49-F238E27FC236}">
                <a16:creationId xmlns:a16="http://schemas.microsoft.com/office/drawing/2014/main" id="{45C4FCB5-3380-E3A8-B0B1-54A427F52361}"/>
              </a:ext>
            </a:extLst>
          </p:cNvPr>
          <p:cNvSpPr/>
          <p:nvPr/>
        </p:nvSpPr>
        <p:spPr>
          <a:xfrm>
            <a:off x="1334211" y="3603168"/>
            <a:ext cx="356064" cy="100152"/>
          </a:xfrm>
          <a:custGeom>
            <a:avLst/>
            <a:gdLst/>
            <a:ahLst/>
            <a:cxnLst/>
            <a:rect l="l" t="t" r="r" b="b"/>
            <a:pathLst>
              <a:path w="356064" h="100152">
                <a:moveTo>
                  <a:pt x="356064" y="0"/>
                </a:moveTo>
                <a:lnTo>
                  <a:pt x="356064" y="100152"/>
                </a:lnTo>
                <a:lnTo>
                  <a:pt x="0" y="100152"/>
                </a:lnTo>
              </a:path>
            </a:pathLst>
          </a:custGeom>
          <a:noFill/>
          <a:ln w="8509" cap="rnd">
            <a:solidFill>
              <a:srgbClr val="3B8C80"/>
            </a:solidFill>
            <a:prstDash val="solid"/>
            <a:round/>
          </a:ln>
        </p:spPr>
      </p:sp>
      <p:sp>
        <p:nvSpPr>
          <p:cNvPr id="1482" name="V8 concat to MLP">
            <a:extLst>
              <a:ext uri="{FF2B5EF4-FFF2-40B4-BE49-F238E27FC236}">
                <a16:creationId xmlns:a16="http://schemas.microsoft.com/office/drawing/2014/main" id="{366946BB-F669-FC2F-4DBA-809EA592E5E1}"/>
              </a:ext>
            </a:extLst>
          </p:cNvPr>
          <p:cNvSpPr/>
          <p:nvPr/>
        </p:nvSpPr>
        <p:spPr>
          <a:xfrm>
            <a:off x="1334211" y="3703320"/>
            <a:ext cx="1" cy="22181"/>
          </a:xfrm>
          <a:custGeom>
            <a:avLst/>
            <a:gdLst/>
            <a:ahLst/>
            <a:cxnLst/>
            <a:rect l="l" t="t" r="r" b="b"/>
            <a:pathLst>
              <a:path w="1" h="22181">
                <a:moveTo>
                  <a:pt x="0" y="0"/>
                </a:moveTo>
                <a:lnTo>
                  <a:pt x="0" y="22181"/>
                </a:lnTo>
              </a:path>
            </a:pathLst>
          </a:custGeom>
          <a:noFill/>
          <a:ln w="8509" cap="rnd">
            <a:solidFill>
              <a:srgbClr val="3B8C80"/>
            </a:solidFill>
            <a:prstDash val="solid"/>
            <a:round/>
          </a:ln>
        </p:spPr>
      </p:sp>
      <p:sp>
        <p:nvSpPr>
          <p:cNvPr id="1483" name="V8 concat to MLP head">
            <a:extLst>
              <a:ext uri="{FF2B5EF4-FFF2-40B4-BE49-F238E27FC236}">
                <a16:creationId xmlns:a16="http://schemas.microsoft.com/office/drawing/2014/main" id="{234835D4-EF31-832C-586B-712FBD8CEB61}"/>
              </a:ext>
            </a:extLst>
          </p:cNvPr>
          <p:cNvSpPr/>
          <p:nvPr/>
        </p:nvSpPr>
        <p:spPr>
          <a:xfrm>
            <a:off x="1322019" y="3709924"/>
            <a:ext cx="24384" cy="28321"/>
          </a:xfrm>
          <a:custGeom>
            <a:avLst/>
            <a:gdLst/>
            <a:ahLst/>
            <a:cxnLst/>
            <a:rect l="l" t="t" r="r" b="b"/>
            <a:pathLst>
              <a:path w="24384" h="28321">
                <a:moveTo>
                  <a:pt x="12192" y="28321"/>
                </a:moveTo>
                <a:lnTo>
                  <a:pt x="24384" y="0"/>
                </a:lnTo>
                <a:lnTo>
                  <a:pt x="0" y="0"/>
                </a:lnTo>
                <a:close/>
              </a:path>
            </a:pathLst>
          </a:custGeom>
          <a:solidFill>
            <a:srgbClr val="3B8C80"/>
          </a:solidFill>
          <a:ln w="0" cap="rnd">
            <a:noFill/>
          </a:ln>
        </p:spPr>
      </p:sp>
      <p:grpSp>
        <p:nvGrpSpPr>
          <p:cNvPr id="6" name="Find candidate blob 2">
            <a:extLst>
              <a:ext uri="{FF2B5EF4-FFF2-40B4-BE49-F238E27FC236}">
                <a16:creationId xmlns:a16="http://schemas.microsoft.com/office/drawing/2014/main" id="{52582F41-8562-EDCF-D547-FEE06D78B091}"/>
              </a:ext>
            </a:extLst>
          </p:cNvPr>
          <p:cNvGrpSpPr/>
          <p:nvPr/>
        </p:nvGrpSpPr>
        <p:grpSpPr>
          <a:xfrm rot="3197729">
            <a:off x="4582892" y="901286"/>
            <a:ext cx="140909" cy="118817"/>
            <a:chOff x="1928706" y="3559489"/>
            <a:chExt cx="227897" cy="155682"/>
          </a:xfrm>
        </p:grpSpPr>
        <p:sp>
          <p:nvSpPr>
            <p:cNvPr id="16" name="Candidate blob | editable contour">
              <a:extLst>
                <a:ext uri="{FF2B5EF4-FFF2-40B4-BE49-F238E27FC236}">
                  <a16:creationId xmlns:a16="http://schemas.microsoft.com/office/drawing/2014/main" id="{AC599FE5-B7C8-2310-361D-307EF409B159}"/>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17" name="ellipse_2612">
              <a:extLst>
                <a:ext uri="{FF2B5EF4-FFF2-40B4-BE49-F238E27FC236}">
                  <a16:creationId xmlns:a16="http://schemas.microsoft.com/office/drawing/2014/main" id="{899D545A-9188-B8A5-5122-F55763321954}"/>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50449" name="F2-bank-channel">
            <a:extLst>
              <a:ext uri="{FF2B5EF4-FFF2-40B4-BE49-F238E27FC236}">
                <a16:creationId xmlns:a16="http://schemas.microsoft.com/office/drawing/2014/main" id="{E8F7522B-3B27-4338-8014-8A4EEE25C15E}"/>
              </a:ext>
            </a:extLst>
          </p:cNvPr>
          <p:cNvSpPr>
            <a:spLocks noGrp="1"/>
          </p:cNvSpPr>
          <p:nvPr/>
        </p:nvSpPr>
        <p:spPr>
          <a:xfrm>
            <a:off x="1483362" y="508635"/>
            <a:ext cx="257175" cy="190500"/>
          </a:xfrm>
          <a:prstGeom prst="rect">
            <a:avLst/>
          </a:prstGeom>
          <a:solidFill>
            <a:srgbClr val="EBF7FC"/>
          </a:solidFill>
          <a:ln w="4286">
            <a:solidFill>
              <a:srgbClr val="A6C5DF"/>
            </a:solidFill>
          </a:ln>
        </p:spPr>
      </p:sp>
      <p:sp>
        <p:nvSpPr>
          <p:cNvPr id="50450" name="F2-bank-channel">
            <a:extLst>
              <a:ext uri="{FF2B5EF4-FFF2-40B4-BE49-F238E27FC236}">
                <a16:creationId xmlns:a16="http://schemas.microsoft.com/office/drawing/2014/main" id="{44CA542A-604D-4AA5-B11D-B6617579A677}"/>
              </a:ext>
            </a:extLst>
          </p:cNvPr>
          <p:cNvSpPr>
            <a:spLocks noGrp="1"/>
          </p:cNvSpPr>
          <p:nvPr/>
        </p:nvSpPr>
        <p:spPr>
          <a:xfrm>
            <a:off x="1475742" y="515303"/>
            <a:ext cx="257175" cy="190500"/>
          </a:xfrm>
          <a:prstGeom prst="rect">
            <a:avLst/>
          </a:prstGeom>
          <a:solidFill>
            <a:srgbClr val="EBF7FC"/>
          </a:solidFill>
          <a:ln w="4286">
            <a:solidFill>
              <a:srgbClr val="A6C5DF"/>
            </a:solidFill>
          </a:ln>
        </p:spPr>
      </p:sp>
      <p:sp>
        <p:nvSpPr>
          <p:cNvPr id="50451" name="F2-bank-channel">
            <a:extLst>
              <a:ext uri="{FF2B5EF4-FFF2-40B4-BE49-F238E27FC236}">
                <a16:creationId xmlns:a16="http://schemas.microsoft.com/office/drawing/2014/main" id="{94C83CC1-C6DF-4DC5-87DF-BCD87221CF3B}"/>
              </a:ext>
            </a:extLst>
          </p:cNvPr>
          <p:cNvSpPr>
            <a:spLocks noGrp="1"/>
          </p:cNvSpPr>
          <p:nvPr/>
        </p:nvSpPr>
        <p:spPr>
          <a:xfrm>
            <a:off x="1468122" y="521970"/>
            <a:ext cx="257175" cy="190500"/>
          </a:xfrm>
          <a:prstGeom prst="rect">
            <a:avLst/>
          </a:prstGeom>
          <a:solidFill>
            <a:srgbClr val="EBF7FC"/>
          </a:solidFill>
          <a:ln w="4286">
            <a:solidFill>
              <a:srgbClr val="A6C5DF"/>
            </a:solidFill>
          </a:ln>
        </p:spPr>
      </p:sp>
      <p:sp>
        <p:nvSpPr>
          <p:cNvPr id="50452" name="F2-bank-channel">
            <a:extLst>
              <a:ext uri="{FF2B5EF4-FFF2-40B4-BE49-F238E27FC236}">
                <a16:creationId xmlns:a16="http://schemas.microsoft.com/office/drawing/2014/main" id="{1ABD8E71-8A8E-4A01-9656-5F57A7EAD863}"/>
              </a:ext>
            </a:extLst>
          </p:cNvPr>
          <p:cNvSpPr>
            <a:spLocks noGrp="1"/>
          </p:cNvSpPr>
          <p:nvPr/>
        </p:nvSpPr>
        <p:spPr>
          <a:xfrm>
            <a:off x="1460502" y="528638"/>
            <a:ext cx="257175" cy="190500"/>
          </a:xfrm>
          <a:prstGeom prst="rect">
            <a:avLst/>
          </a:prstGeom>
          <a:solidFill>
            <a:srgbClr val="EBF7FC"/>
          </a:solidFill>
          <a:ln w="4286">
            <a:solidFill>
              <a:srgbClr val="A6C5DF"/>
            </a:solidFill>
          </a:ln>
        </p:spPr>
      </p:sp>
      <p:sp>
        <p:nvSpPr>
          <p:cNvPr id="50453" name="F2-bank-channel">
            <a:extLst>
              <a:ext uri="{FF2B5EF4-FFF2-40B4-BE49-F238E27FC236}">
                <a16:creationId xmlns:a16="http://schemas.microsoft.com/office/drawing/2014/main" id="{A1E78B7C-AF8B-46CF-BE9A-7739D3A000CC}"/>
              </a:ext>
            </a:extLst>
          </p:cNvPr>
          <p:cNvSpPr>
            <a:spLocks noGrp="1"/>
          </p:cNvSpPr>
          <p:nvPr/>
        </p:nvSpPr>
        <p:spPr>
          <a:xfrm>
            <a:off x="1452882" y="535305"/>
            <a:ext cx="257175" cy="190500"/>
          </a:xfrm>
          <a:prstGeom prst="rect">
            <a:avLst/>
          </a:prstGeom>
          <a:solidFill>
            <a:srgbClr val="EBF7FC"/>
          </a:solidFill>
          <a:ln w="4286">
            <a:solidFill>
              <a:srgbClr val="A6C5DF"/>
            </a:solidFill>
          </a:ln>
        </p:spPr>
      </p:sp>
      <p:sp>
        <p:nvSpPr>
          <p:cNvPr id="50454" name="F2-bank-channel">
            <a:extLst>
              <a:ext uri="{FF2B5EF4-FFF2-40B4-BE49-F238E27FC236}">
                <a16:creationId xmlns:a16="http://schemas.microsoft.com/office/drawing/2014/main" id="{F902D412-512B-42B7-B05D-EDD9258097DC}"/>
              </a:ext>
            </a:extLst>
          </p:cNvPr>
          <p:cNvSpPr>
            <a:spLocks noGrp="1"/>
          </p:cNvSpPr>
          <p:nvPr/>
        </p:nvSpPr>
        <p:spPr>
          <a:xfrm>
            <a:off x="1445262" y="541973"/>
            <a:ext cx="257175" cy="190500"/>
          </a:xfrm>
          <a:prstGeom prst="rect">
            <a:avLst/>
          </a:prstGeom>
          <a:solidFill>
            <a:srgbClr val="EBF7FC"/>
          </a:solidFill>
          <a:ln w="4286">
            <a:solidFill>
              <a:srgbClr val="A6C5DF"/>
            </a:solidFill>
          </a:ln>
        </p:spPr>
      </p:sp>
      <p:sp>
        <p:nvSpPr>
          <p:cNvPr id="50455" name="F2-bank-channel">
            <a:extLst>
              <a:ext uri="{FF2B5EF4-FFF2-40B4-BE49-F238E27FC236}">
                <a16:creationId xmlns:a16="http://schemas.microsoft.com/office/drawing/2014/main" id="{CA6824A1-9C37-4EE2-8CF4-7C88BCE1DBE6}"/>
              </a:ext>
            </a:extLst>
          </p:cNvPr>
          <p:cNvSpPr>
            <a:spLocks noGrp="1"/>
          </p:cNvSpPr>
          <p:nvPr/>
        </p:nvSpPr>
        <p:spPr>
          <a:xfrm>
            <a:off x="1437642" y="548640"/>
            <a:ext cx="257175" cy="190500"/>
          </a:xfrm>
          <a:prstGeom prst="rect">
            <a:avLst/>
          </a:prstGeom>
          <a:solidFill>
            <a:srgbClr val="EBF7FC"/>
          </a:solidFill>
          <a:ln w="4286">
            <a:solidFill>
              <a:srgbClr val="A6C5DF"/>
            </a:solidFill>
          </a:ln>
        </p:spPr>
      </p:sp>
      <p:sp>
        <p:nvSpPr>
          <p:cNvPr id="50456" name="F2-bank-channel">
            <a:extLst>
              <a:ext uri="{FF2B5EF4-FFF2-40B4-BE49-F238E27FC236}">
                <a16:creationId xmlns:a16="http://schemas.microsoft.com/office/drawing/2014/main" id="{2705DA7A-40F9-48D2-946C-8019421C16B7}"/>
              </a:ext>
            </a:extLst>
          </p:cNvPr>
          <p:cNvSpPr>
            <a:spLocks noGrp="1"/>
          </p:cNvSpPr>
          <p:nvPr/>
        </p:nvSpPr>
        <p:spPr>
          <a:xfrm>
            <a:off x="1430022" y="555308"/>
            <a:ext cx="257175" cy="190500"/>
          </a:xfrm>
          <a:prstGeom prst="rect">
            <a:avLst/>
          </a:prstGeom>
          <a:solidFill>
            <a:srgbClr val="EBF7FC"/>
          </a:solidFill>
          <a:ln w="4286">
            <a:solidFill>
              <a:srgbClr val="A6C5DF"/>
            </a:solidFill>
          </a:ln>
        </p:spPr>
      </p:sp>
      <p:sp>
        <p:nvSpPr>
          <p:cNvPr id="50457" name="F2-bank-channel">
            <a:extLst>
              <a:ext uri="{FF2B5EF4-FFF2-40B4-BE49-F238E27FC236}">
                <a16:creationId xmlns:a16="http://schemas.microsoft.com/office/drawing/2014/main" id="{E1B9C475-D32F-4E88-9AAA-6701AFC1AC14}"/>
              </a:ext>
            </a:extLst>
          </p:cNvPr>
          <p:cNvSpPr>
            <a:spLocks noGrp="1"/>
          </p:cNvSpPr>
          <p:nvPr/>
        </p:nvSpPr>
        <p:spPr>
          <a:xfrm>
            <a:off x="1422402" y="561975"/>
            <a:ext cx="257175" cy="190500"/>
          </a:xfrm>
          <a:prstGeom prst="rect">
            <a:avLst/>
          </a:prstGeom>
          <a:solidFill>
            <a:srgbClr val="EBF7FC"/>
          </a:solidFill>
          <a:ln w="4286">
            <a:solidFill>
              <a:srgbClr val="A6C5DF"/>
            </a:solidFill>
          </a:ln>
        </p:spPr>
      </p:sp>
      <p:sp>
        <p:nvSpPr>
          <p:cNvPr id="50458" name="F2-density-voxel">
            <a:extLst>
              <a:ext uri="{FF2B5EF4-FFF2-40B4-BE49-F238E27FC236}">
                <a16:creationId xmlns:a16="http://schemas.microsoft.com/office/drawing/2014/main" id="{A49953DB-68D8-42EB-963F-DD42F453137D}"/>
              </a:ext>
            </a:extLst>
          </p:cNvPr>
          <p:cNvSpPr>
            <a:spLocks noGrp="1"/>
          </p:cNvSpPr>
          <p:nvPr/>
        </p:nvSpPr>
        <p:spPr>
          <a:xfrm>
            <a:off x="1441452" y="571500"/>
            <a:ext cx="52388" cy="42863"/>
          </a:xfrm>
          <a:prstGeom prst="rect">
            <a:avLst/>
          </a:prstGeom>
          <a:solidFill>
            <a:srgbClr val="CCE5EE"/>
          </a:solidFill>
          <a:ln w="0">
            <a:noFill/>
          </a:ln>
        </p:spPr>
      </p:sp>
      <p:sp>
        <p:nvSpPr>
          <p:cNvPr id="50459" name="F2-density-voxel">
            <a:extLst>
              <a:ext uri="{FF2B5EF4-FFF2-40B4-BE49-F238E27FC236}">
                <a16:creationId xmlns:a16="http://schemas.microsoft.com/office/drawing/2014/main" id="{ECECDED8-7BB6-465D-90CE-1566D913C0F0}"/>
              </a:ext>
            </a:extLst>
          </p:cNvPr>
          <p:cNvSpPr>
            <a:spLocks noGrp="1"/>
          </p:cNvSpPr>
          <p:nvPr/>
        </p:nvSpPr>
        <p:spPr>
          <a:xfrm>
            <a:off x="1493840" y="571500"/>
            <a:ext cx="52388" cy="42863"/>
          </a:xfrm>
          <a:prstGeom prst="rect">
            <a:avLst/>
          </a:prstGeom>
          <a:solidFill>
            <a:srgbClr val="86C0D7"/>
          </a:solidFill>
          <a:ln w="0">
            <a:noFill/>
          </a:ln>
        </p:spPr>
      </p:sp>
      <p:sp>
        <p:nvSpPr>
          <p:cNvPr id="50460" name="F2-density-voxel">
            <a:extLst>
              <a:ext uri="{FF2B5EF4-FFF2-40B4-BE49-F238E27FC236}">
                <a16:creationId xmlns:a16="http://schemas.microsoft.com/office/drawing/2014/main" id="{49E89024-8821-43E6-B830-D5D2C6143679}"/>
              </a:ext>
            </a:extLst>
          </p:cNvPr>
          <p:cNvSpPr>
            <a:spLocks noGrp="1"/>
          </p:cNvSpPr>
          <p:nvPr/>
        </p:nvSpPr>
        <p:spPr>
          <a:xfrm>
            <a:off x="1546227" y="571500"/>
            <a:ext cx="52388" cy="42863"/>
          </a:xfrm>
          <a:prstGeom prst="rect">
            <a:avLst/>
          </a:prstGeom>
          <a:solidFill>
            <a:srgbClr val="4D9ABB"/>
          </a:solidFill>
          <a:ln w="0">
            <a:noFill/>
          </a:ln>
        </p:spPr>
      </p:sp>
      <p:sp>
        <p:nvSpPr>
          <p:cNvPr id="50461" name="F2-density-voxel">
            <a:extLst>
              <a:ext uri="{FF2B5EF4-FFF2-40B4-BE49-F238E27FC236}">
                <a16:creationId xmlns:a16="http://schemas.microsoft.com/office/drawing/2014/main" id="{3A635687-B1F5-496B-9A49-461D8BC35087}"/>
              </a:ext>
            </a:extLst>
          </p:cNvPr>
          <p:cNvSpPr>
            <a:spLocks noGrp="1"/>
          </p:cNvSpPr>
          <p:nvPr/>
        </p:nvSpPr>
        <p:spPr>
          <a:xfrm>
            <a:off x="1598615" y="571500"/>
            <a:ext cx="52388" cy="42863"/>
          </a:xfrm>
          <a:prstGeom prst="rect">
            <a:avLst/>
          </a:prstGeom>
          <a:solidFill>
            <a:srgbClr val="B6DDE7"/>
          </a:solidFill>
          <a:ln w="0">
            <a:noFill/>
          </a:ln>
        </p:spPr>
      </p:sp>
      <p:sp>
        <p:nvSpPr>
          <p:cNvPr id="50462" name="F2-density-voxel">
            <a:extLst>
              <a:ext uri="{FF2B5EF4-FFF2-40B4-BE49-F238E27FC236}">
                <a16:creationId xmlns:a16="http://schemas.microsoft.com/office/drawing/2014/main" id="{FEC54E9C-643D-4824-B955-66BA7E401A0E}"/>
              </a:ext>
            </a:extLst>
          </p:cNvPr>
          <p:cNvSpPr>
            <a:spLocks noGrp="1"/>
          </p:cNvSpPr>
          <p:nvPr/>
        </p:nvSpPr>
        <p:spPr>
          <a:xfrm>
            <a:off x="1441452" y="614363"/>
            <a:ext cx="52388" cy="42863"/>
          </a:xfrm>
          <a:prstGeom prst="rect">
            <a:avLst/>
          </a:prstGeom>
          <a:solidFill>
            <a:srgbClr val="86C0D7"/>
          </a:solidFill>
          <a:ln w="0">
            <a:noFill/>
          </a:ln>
        </p:spPr>
      </p:sp>
      <p:sp>
        <p:nvSpPr>
          <p:cNvPr id="50463" name="F2-density-voxel">
            <a:extLst>
              <a:ext uri="{FF2B5EF4-FFF2-40B4-BE49-F238E27FC236}">
                <a16:creationId xmlns:a16="http://schemas.microsoft.com/office/drawing/2014/main" id="{ED2290E5-D29A-42C8-863E-1A0B5A093DAF}"/>
              </a:ext>
            </a:extLst>
          </p:cNvPr>
          <p:cNvSpPr>
            <a:spLocks noGrp="1"/>
          </p:cNvSpPr>
          <p:nvPr/>
        </p:nvSpPr>
        <p:spPr>
          <a:xfrm>
            <a:off x="1493840" y="614363"/>
            <a:ext cx="52388" cy="42863"/>
          </a:xfrm>
          <a:prstGeom prst="rect">
            <a:avLst/>
          </a:prstGeom>
          <a:solidFill>
            <a:srgbClr val="4D9ABB"/>
          </a:solidFill>
          <a:ln w="0">
            <a:noFill/>
          </a:ln>
        </p:spPr>
      </p:sp>
      <p:sp>
        <p:nvSpPr>
          <p:cNvPr id="50464" name="F2-density-voxel">
            <a:extLst>
              <a:ext uri="{FF2B5EF4-FFF2-40B4-BE49-F238E27FC236}">
                <a16:creationId xmlns:a16="http://schemas.microsoft.com/office/drawing/2014/main" id="{C030A993-BA02-4CBF-A526-9AF795928873}"/>
              </a:ext>
            </a:extLst>
          </p:cNvPr>
          <p:cNvSpPr>
            <a:spLocks noGrp="1"/>
          </p:cNvSpPr>
          <p:nvPr/>
        </p:nvSpPr>
        <p:spPr>
          <a:xfrm>
            <a:off x="1546227" y="614363"/>
            <a:ext cx="52388" cy="42863"/>
          </a:xfrm>
          <a:prstGeom prst="rect">
            <a:avLst/>
          </a:prstGeom>
          <a:solidFill>
            <a:srgbClr val="B6DDE7"/>
          </a:solidFill>
          <a:ln w="0">
            <a:noFill/>
          </a:ln>
        </p:spPr>
      </p:sp>
      <p:sp>
        <p:nvSpPr>
          <p:cNvPr id="50465" name="F2-density-voxel">
            <a:extLst>
              <a:ext uri="{FF2B5EF4-FFF2-40B4-BE49-F238E27FC236}">
                <a16:creationId xmlns:a16="http://schemas.microsoft.com/office/drawing/2014/main" id="{EC212EF2-C0F1-41AF-B3CE-D957D17932A0}"/>
              </a:ext>
            </a:extLst>
          </p:cNvPr>
          <p:cNvSpPr>
            <a:spLocks noGrp="1"/>
          </p:cNvSpPr>
          <p:nvPr/>
        </p:nvSpPr>
        <p:spPr>
          <a:xfrm>
            <a:off x="1598615" y="614363"/>
            <a:ext cx="52388" cy="42863"/>
          </a:xfrm>
          <a:prstGeom prst="rect">
            <a:avLst/>
          </a:prstGeom>
          <a:solidFill>
            <a:srgbClr val="CCE5EE"/>
          </a:solidFill>
          <a:ln w="0">
            <a:noFill/>
          </a:ln>
        </p:spPr>
      </p:sp>
      <p:sp>
        <p:nvSpPr>
          <p:cNvPr id="50466" name="F2-density-voxel">
            <a:extLst>
              <a:ext uri="{FF2B5EF4-FFF2-40B4-BE49-F238E27FC236}">
                <a16:creationId xmlns:a16="http://schemas.microsoft.com/office/drawing/2014/main" id="{8E8D1CD2-DC81-4A69-849C-F21783FD798D}"/>
              </a:ext>
            </a:extLst>
          </p:cNvPr>
          <p:cNvSpPr>
            <a:spLocks noGrp="1"/>
          </p:cNvSpPr>
          <p:nvPr/>
        </p:nvSpPr>
        <p:spPr>
          <a:xfrm>
            <a:off x="1441452" y="657225"/>
            <a:ext cx="52388" cy="42863"/>
          </a:xfrm>
          <a:prstGeom prst="rect">
            <a:avLst/>
          </a:prstGeom>
          <a:solidFill>
            <a:srgbClr val="4D9ABB"/>
          </a:solidFill>
          <a:ln w="0">
            <a:noFill/>
          </a:ln>
        </p:spPr>
      </p:sp>
      <p:sp>
        <p:nvSpPr>
          <p:cNvPr id="50467" name="F2-density-voxel">
            <a:extLst>
              <a:ext uri="{FF2B5EF4-FFF2-40B4-BE49-F238E27FC236}">
                <a16:creationId xmlns:a16="http://schemas.microsoft.com/office/drawing/2014/main" id="{CEA7FE12-330D-4160-8BE6-769BF6A26577}"/>
              </a:ext>
            </a:extLst>
          </p:cNvPr>
          <p:cNvSpPr>
            <a:spLocks noGrp="1"/>
          </p:cNvSpPr>
          <p:nvPr/>
        </p:nvSpPr>
        <p:spPr>
          <a:xfrm>
            <a:off x="1493840" y="657225"/>
            <a:ext cx="52388" cy="42863"/>
          </a:xfrm>
          <a:prstGeom prst="rect">
            <a:avLst/>
          </a:prstGeom>
          <a:solidFill>
            <a:srgbClr val="B6DDE7"/>
          </a:solidFill>
          <a:ln w="0">
            <a:noFill/>
          </a:ln>
        </p:spPr>
      </p:sp>
      <p:sp>
        <p:nvSpPr>
          <p:cNvPr id="50468" name="F2-density-voxel">
            <a:extLst>
              <a:ext uri="{FF2B5EF4-FFF2-40B4-BE49-F238E27FC236}">
                <a16:creationId xmlns:a16="http://schemas.microsoft.com/office/drawing/2014/main" id="{BE225EBF-D266-4631-9D7E-1B21643503B4}"/>
              </a:ext>
            </a:extLst>
          </p:cNvPr>
          <p:cNvSpPr>
            <a:spLocks noGrp="1"/>
          </p:cNvSpPr>
          <p:nvPr/>
        </p:nvSpPr>
        <p:spPr>
          <a:xfrm>
            <a:off x="1546227" y="657225"/>
            <a:ext cx="52388" cy="42863"/>
          </a:xfrm>
          <a:prstGeom prst="rect">
            <a:avLst/>
          </a:prstGeom>
          <a:solidFill>
            <a:srgbClr val="CCE5EE"/>
          </a:solidFill>
          <a:ln w="0">
            <a:noFill/>
          </a:ln>
        </p:spPr>
      </p:sp>
      <p:sp>
        <p:nvSpPr>
          <p:cNvPr id="50469" name="F2-density-voxel">
            <a:extLst>
              <a:ext uri="{FF2B5EF4-FFF2-40B4-BE49-F238E27FC236}">
                <a16:creationId xmlns:a16="http://schemas.microsoft.com/office/drawing/2014/main" id="{D56EA4DF-3429-4429-A2AA-6D7C9D33B341}"/>
              </a:ext>
            </a:extLst>
          </p:cNvPr>
          <p:cNvSpPr>
            <a:spLocks noGrp="1"/>
          </p:cNvSpPr>
          <p:nvPr/>
        </p:nvSpPr>
        <p:spPr>
          <a:xfrm>
            <a:off x="1598615" y="657225"/>
            <a:ext cx="52388" cy="42863"/>
          </a:xfrm>
          <a:prstGeom prst="rect">
            <a:avLst/>
          </a:prstGeom>
          <a:solidFill>
            <a:srgbClr val="86C0D7"/>
          </a:solidFill>
          <a:ln w="0">
            <a:noFill/>
          </a:ln>
        </p:spPr>
      </p:sp>
      <p:sp>
        <p:nvSpPr>
          <p:cNvPr id="50470" name="F2-density-voxel">
            <a:extLst>
              <a:ext uri="{FF2B5EF4-FFF2-40B4-BE49-F238E27FC236}">
                <a16:creationId xmlns:a16="http://schemas.microsoft.com/office/drawing/2014/main" id="{F4CB67F8-3427-42E0-B222-3C4C5B421A28}"/>
              </a:ext>
            </a:extLst>
          </p:cNvPr>
          <p:cNvSpPr>
            <a:spLocks noGrp="1"/>
          </p:cNvSpPr>
          <p:nvPr/>
        </p:nvSpPr>
        <p:spPr>
          <a:xfrm>
            <a:off x="1441452" y="700088"/>
            <a:ext cx="52388" cy="42863"/>
          </a:xfrm>
          <a:prstGeom prst="rect">
            <a:avLst/>
          </a:prstGeom>
          <a:solidFill>
            <a:srgbClr val="B6DDE7"/>
          </a:solidFill>
          <a:ln w="0">
            <a:noFill/>
          </a:ln>
        </p:spPr>
      </p:sp>
      <p:sp>
        <p:nvSpPr>
          <p:cNvPr id="50471" name="F2-density-voxel">
            <a:extLst>
              <a:ext uri="{FF2B5EF4-FFF2-40B4-BE49-F238E27FC236}">
                <a16:creationId xmlns:a16="http://schemas.microsoft.com/office/drawing/2014/main" id="{E62F2DC6-612B-4891-B2B7-8020312C0678}"/>
              </a:ext>
            </a:extLst>
          </p:cNvPr>
          <p:cNvSpPr>
            <a:spLocks noGrp="1"/>
          </p:cNvSpPr>
          <p:nvPr/>
        </p:nvSpPr>
        <p:spPr>
          <a:xfrm>
            <a:off x="1493840" y="700088"/>
            <a:ext cx="52388" cy="42863"/>
          </a:xfrm>
          <a:prstGeom prst="rect">
            <a:avLst/>
          </a:prstGeom>
          <a:solidFill>
            <a:srgbClr val="CCE5EE"/>
          </a:solidFill>
          <a:ln w="0">
            <a:noFill/>
          </a:ln>
        </p:spPr>
      </p:sp>
      <p:sp>
        <p:nvSpPr>
          <p:cNvPr id="50472" name="F2-density-voxel">
            <a:extLst>
              <a:ext uri="{FF2B5EF4-FFF2-40B4-BE49-F238E27FC236}">
                <a16:creationId xmlns:a16="http://schemas.microsoft.com/office/drawing/2014/main" id="{3D79F01F-5243-4E3C-8AA7-EE2C8B8C7E29}"/>
              </a:ext>
            </a:extLst>
          </p:cNvPr>
          <p:cNvSpPr>
            <a:spLocks noGrp="1"/>
          </p:cNvSpPr>
          <p:nvPr/>
        </p:nvSpPr>
        <p:spPr>
          <a:xfrm>
            <a:off x="1546227" y="700088"/>
            <a:ext cx="52388" cy="42863"/>
          </a:xfrm>
          <a:prstGeom prst="rect">
            <a:avLst/>
          </a:prstGeom>
          <a:solidFill>
            <a:srgbClr val="86C0D7"/>
          </a:solidFill>
          <a:ln w="0">
            <a:noFill/>
          </a:ln>
        </p:spPr>
      </p:sp>
      <p:sp>
        <p:nvSpPr>
          <p:cNvPr id="50473" name="F2-density-voxel">
            <a:extLst>
              <a:ext uri="{FF2B5EF4-FFF2-40B4-BE49-F238E27FC236}">
                <a16:creationId xmlns:a16="http://schemas.microsoft.com/office/drawing/2014/main" id="{7F5BC88D-76D1-4A24-B998-8BD41F9AADDB}"/>
              </a:ext>
            </a:extLst>
          </p:cNvPr>
          <p:cNvSpPr>
            <a:spLocks noGrp="1"/>
          </p:cNvSpPr>
          <p:nvPr/>
        </p:nvSpPr>
        <p:spPr>
          <a:xfrm>
            <a:off x="1598615" y="700088"/>
            <a:ext cx="52388" cy="42863"/>
          </a:xfrm>
          <a:prstGeom prst="rect">
            <a:avLst/>
          </a:prstGeom>
          <a:solidFill>
            <a:srgbClr val="4D9ABB"/>
          </a:solidFill>
          <a:ln w="0">
            <a:noFill/>
          </a:ln>
        </p:spPr>
      </p:sp>
      <p:sp>
        <p:nvSpPr>
          <p:cNvPr id="50474" name="F2-spatial-transform">
            <a:extLst>
              <a:ext uri="{FF2B5EF4-FFF2-40B4-BE49-F238E27FC236}">
                <a16:creationId xmlns:a16="http://schemas.microsoft.com/office/drawing/2014/main" id="{A85283F8-9FE2-48A1-8429-5356F2D370E2}"/>
              </a:ext>
            </a:extLst>
          </p:cNvPr>
          <p:cNvSpPr>
            <a:spLocks noGrp="1"/>
          </p:cNvSpPr>
          <p:nvPr/>
        </p:nvSpPr>
        <p:spPr>
          <a:xfrm>
            <a:off x="1011739" y="549713"/>
            <a:ext cx="376238"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sz="460" b="0" dirty="0">
                <a:solidFill>
                  <a:srgbClr val="263442"/>
                </a:solidFill>
                <a:latin typeface="Arial"/>
                <a:ea typeface="Arial"/>
                <a:cs typeface="Arial"/>
              </a:rPr>
              <a:t>Spatial</a:t>
            </a:r>
          </a:p>
          <a:p>
            <a:pPr algn="ctr">
              <a:defRPr sz="540" b="0">
                <a:solidFill>
                  <a:srgbClr val="263442"/>
                </a:solidFill>
                <a:latin typeface="Arial"/>
                <a:ea typeface="Arial"/>
                <a:cs typeface="Arial"/>
              </a:defRPr>
            </a:pPr>
            <a:r>
              <a:rPr sz="460" b="0" dirty="0">
                <a:solidFill>
                  <a:srgbClr val="263442"/>
                </a:solidFill>
                <a:latin typeface="Arial"/>
                <a:ea typeface="Arial"/>
                <a:cs typeface="Arial"/>
              </a:rPr>
              <a:t>transform</a:t>
            </a:r>
          </a:p>
        </p:txBody>
      </p:sp>
      <p:sp>
        <p:nvSpPr>
          <p:cNvPr id="50475" name="F2-atom-embeddings-input">
            <a:extLst>
              <a:ext uri="{FF2B5EF4-FFF2-40B4-BE49-F238E27FC236}">
                <a16:creationId xmlns:a16="http://schemas.microsoft.com/office/drawing/2014/main" id="{0B4B93C5-B055-4ECE-8D5F-9FD8F9F29D6A}"/>
              </a:ext>
            </a:extLst>
          </p:cNvPr>
          <p:cNvSpPr>
            <a:spLocks noGrp="1"/>
          </p:cNvSpPr>
          <p:nvPr/>
        </p:nvSpPr>
        <p:spPr>
          <a:xfrm>
            <a:off x="1040427" y="1287494"/>
            <a:ext cx="327329"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lang="en-US" sz="460" b="0" dirty="0">
                <a:solidFill>
                  <a:srgbClr val="263442"/>
                </a:solidFill>
                <a:latin typeface="Arial"/>
                <a:ea typeface="Arial"/>
                <a:cs typeface="Arial"/>
              </a:rPr>
              <a:t>E</a:t>
            </a:r>
            <a:r>
              <a:rPr sz="460" b="0" dirty="0">
                <a:solidFill>
                  <a:srgbClr val="263442"/>
                </a:solidFill>
                <a:latin typeface="Arial"/>
                <a:ea typeface="Arial"/>
                <a:cs typeface="Arial"/>
              </a:rPr>
              <a:t>mbedding</a:t>
            </a:r>
            <a:endParaRPr lang="en-US" sz="460" b="0" dirty="0">
              <a:solidFill>
                <a:srgbClr val="263442"/>
              </a:solidFill>
              <a:latin typeface="Arial"/>
              <a:ea typeface="Arial"/>
              <a:cs typeface="Arial"/>
            </a:endParaRPr>
          </a:p>
          <a:p>
            <a:pPr algn="ctr">
              <a:defRPr sz="540" b="0">
                <a:solidFill>
                  <a:srgbClr val="263442"/>
                </a:solidFill>
                <a:latin typeface="Arial"/>
                <a:ea typeface="Arial"/>
                <a:cs typeface="Arial"/>
              </a:defRPr>
            </a:pPr>
            <a:r>
              <a:rPr lang="en-US" altLang="zh-CN" sz="460" b="0" dirty="0">
                <a:solidFill>
                  <a:srgbClr val="263442"/>
                </a:solidFill>
                <a:latin typeface="Arial"/>
                <a:ea typeface="Arial"/>
                <a:cs typeface="Arial"/>
              </a:rPr>
              <a:t>head</a:t>
            </a:r>
            <a:endParaRPr sz="460" b="0" dirty="0">
              <a:solidFill>
                <a:srgbClr val="263442"/>
              </a:solidFill>
              <a:latin typeface="Arial"/>
              <a:ea typeface="Arial"/>
              <a:cs typeface="Arial"/>
            </a:endParaRPr>
          </a:p>
        </p:txBody>
      </p:sp>
      <p:pic>
        <p:nvPicPr>
          <p:cNvPr id="50482" name="图片 50481">
            <a:extLst>
              <a:ext uri="{FF2B5EF4-FFF2-40B4-BE49-F238E27FC236}">
                <a16:creationId xmlns:a16="http://schemas.microsoft.com/office/drawing/2014/main" id="{CC697937-E8CE-4EDF-BB17-1FEA96E39283}"/>
              </a:ext>
            </a:extLst>
          </p:cNvPr>
          <p:cNvPicPr>
            <a:picLocks noChangeAspect="1"/>
          </p:cNvPicPr>
          <p:nvPr/>
        </p:nvPicPr>
        <p:blipFill>
          <a:blip r:embed="rId8"/>
          <a:stretch/>
        </p:blipFill>
        <p:spPr>
          <a:xfrm>
            <a:off x="683208" y="2943948"/>
            <a:ext cx="414760" cy="342900"/>
          </a:xfrm>
          <a:prstGeom prst="rect">
            <a:avLst/>
          </a:prstGeom>
        </p:spPr>
      </p:pic>
      <p:grpSp>
        <p:nvGrpSpPr>
          <p:cNvPr id="50493" name="Find preview 15"/>
          <p:cNvGrpSpPr/>
          <p:nvPr/>
        </p:nvGrpSpPr>
        <p:grpSpPr>
          <a:xfrm>
            <a:off x="612533" y="471488"/>
            <a:ext cx="404812" cy="395288"/>
            <a:chOff x="511635" y="471488"/>
            <a:chExt cx="404812" cy="395288"/>
          </a:xfrm>
        </p:grpSpPr>
        <p:pic>
          <p:nvPicPr>
            <p:cNvPr id="1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8CF1199C-6488-C5B6-B489-1131732B4FBF}"/>
                </a:ext>
              </a:extLst>
            </p:cNvPr>
            <p:cNvPicPr/>
            <p:nvPr/>
          </p:nvPicPr>
          <p:blipFill>
            <a:blip r:embed="rId4"/>
            <a:stretch>
              <a:fillRect/>
            </a:stretch>
          </p:blipFill>
          <p:spPr>
            <a:xfrm>
              <a:off x="511635" y="475859"/>
              <a:ext cx="404812" cy="386544"/>
            </a:xfrm>
            <a:prstGeom prst="rect">
              <a:avLst/>
            </a:prstGeom>
          </p:spPr>
        </p:pic>
        <p:sp>
          <p:nvSpPr>
            <p:cNvPr id="50476" name="crop-cube">
              <a:extLst>
                <a:ext uri="{FF2B5EF4-FFF2-40B4-BE49-F238E27FC236}">
                  <a16:creationId xmlns:a16="http://schemas.microsoft.com/office/drawing/2014/main" id="{25839399-079E-4307-9725-E085483F7FD6}"/>
                </a:ext>
              </a:extLst>
            </p:cNvPr>
            <p:cNvSpPr>
              <a:spLocks noGrp="1"/>
            </p:cNvSpPr>
            <p:nvPr/>
          </p:nvSpPr>
          <p:spPr>
            <a:xfrm>
              <a:off x="700088" y="626745"/>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477" name="crop-cube">
              <a:extLst>
                <a:ext uri="{FF2B5EF4-FFF2-40B4-BE49-F238E27FC236}">
                  <a16:creationId xmlns:a16="http://schemas.microsoft.com/office/drawing/2014/main" id="{07D86F79-577D-4116-BDEA-F38D19D792BA}"/>
                </a:ext>
              </a:extLst>
            </p:cNvPr>
            <p:cNvSpPr>
              <a:spLocks noGrp="1"/>
            </p:cNvSpPr>
            <p:nvPr/>
          </p:nvSpPr>
          <p:spPr>
            <a:xfrm>
              <a:off x="788194" y="626745"/>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478" name="F2-density-crop-size">
              <a:extLst>
                <a:ext uri="{FF2B5EF4-FFF2-40B4-BE49-F238E27FC236}">
                  <a16:creationId xmlns:a16="http://schemas.microsoft.com/office/drawing/2014/main" id="{9B6ECDDF-4CA0-44BE-83B1-7FF800ECF209}"/>
                </a:ext>
              </a:extLst>
            </p:cNvPr>
            <p:cNvSpPr>
              <a:spLocks noGrp="1"/>
            </p:cNvSpPr>
            <p:nvPr/>
          </p:nvSpPr>
          <p:spPr>
            <a:xfrm>
              <a:off x="640556" y="766763"/>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494" name="Find preview 1435"/>
          <p:cNvGrpSpPr/>
          <p:nvPr/>
        </p:nvGrpSpPr>
        <p:grpSpPr>
          <a:xfrm>
            <a:off x="612533" y="1252538"/>
            <a:ext cx="404812" cy="395288"/>
            <a:chOff x="511635" y="1252538"/>
            <a:chExt cx="404812" cy="395288"/>
          </a:xfrm>
        </p:grpSpPr>
        <p:pic>
          <p:nvPicPr>
            <p:cNvPr id="1435" name="Find clear receptor" descr="Receptor cartoon rendered from unchanged local coordinates, chain C1 of the 9LLG CA2 model.">
              <a:extLst>
                <a:ext uri="{FF2B5EF4-FFF2-40B4-BE49-F238E27FC236}">
                  <a16:creationId xmlns:a16="http://schemas.microsoft.com/office/drawing/2014/main" id="{24C88AB2-5918-0F4D-EDE6-0D89FC02F100}"/>
                </a:ext>
              </a:extLst>
            </p:cNvPr>
            <p:cNvPicPr/>
            <p:nvPr/>
          </p:nvPicPr>
          <p:blipFill>
            <a:blip r:embed="rId7"/>
            <a:srcRect l="16857" t="30389" r="19786" b="22500"/>
            <a:stretch>
              <a:fillRect/>
            </a:stretch>
          </p:blipFill>
          <p:spPr>
            <a:xfrm>
              <a:off x="511635" y="1256674"/>
              <a:ext cx="404812" cy="387014"/>
            </a:xfrm>
            <a:prstGeom prst="rect">
              <a:avLst/>
            </a:prstGeom>
          </p:spPr>
        </p:pic>
        <p:sp>
          <p:nvSpPr>
            <p:cNvPr id="50479" name="crop-cube">
              <a:extLst>
                <a:ext uri="{FF2B5EF4-FFF2-40B4-BE49-F238E27FC236}">
                  <a16:creationId xmlns:a16="http://schemas.microsoft.com/office/drawing/2014/main" id="{B083B324-58BF-4271-92CE-6A3DCE5DBE53}"/>
                </a:ext>
              </a:extLst>
            </p:cNvPr>
            <p:cNvSpPr>
              <a:spLocks noGrp="1"/>
            </p:cNvSpPr>
            <p:nvPr/>
          </p:nvSpPr>
          <p:spPr>
            <a:xfrm>
              <a:off x="700088" y="1404938"/>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480" name="crop-cube">
              <a:extLst>
                <a:ext uri="{FF2B5EF4-FFF2-40B4-BE49-F238E27FC236}">
                  <a16:creationId xmlns:a16="http://schemas.microsoft.com/office/drawing/2014/main" id="{0E8C65BE-9745-4184-B8B7-6FD5E9341DBD}"/>
                </a:ext>
              </a:extLst>
            </p:cNvPr>
            <p:cNvSpPr>
              <a:spLocks noGrp="1"/>
            </p:cNvSpPr>
            <p:nvPr/>
          </p:nvSpPr>
          <p:spPr>
            <a:xfrm>
              <a:off x="788194" y="1404938"/>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481" name="F2-receptor-crop-size">
              <a:extLst>
                <a:ext uri="{FF2B5EF4-FFF2-40B4-BE49-F238E27FC236}">
                  <a16:creationId xmlns:a16="http://schemas.microsoft.com/office/drawing/2014/main" id="{11CB5595-3267-408D-9A25-39E3920D0458}"/>
                </a:ext>
              </a:extLst>
            </p:cNvPr>
            <p:cNvSpPr>
              <a:spLocks noGrp="1"/>
            </p:cNvSpPr>
            <p:nvPr/>
          </p:nvSpPr>
          <p:spPr>
            <a:xfrm>
              <a:off x="640556" y="1544955"/>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495" name="Find preview 25"/>
          <p:cNvGrpSpPr/>
          <p:nvPr/>
        </p:nvGrpSpPr>
        <p:grpSpPr>
          <a:xfrm>
            <a:off x="4349067" y="499672"/>
            <a:ext cx="404812" cy="386544"/>
            <a:chOff x="4349067" y="499672"/>
            <a:chExt cx="404812" cy="386544"/>
          </a:xfrm>
        </p:grpSpPr>
        <p:pic>
          <p:nvPicPr>
            <p:cNvPr id="2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E01FAF0F-7383-AEC3-8192-CE781D4C8B97}"/>
                </a:ext>
              </a:extLst>
            </p:cNvPr>
            <p:cNvPicPr/>
            <p:nvPr/>
          </p:nvPicPr>
          <p:blipFill>
            <a:blip r:embed="rId4"/>
            <a:stretch>
              <a:fillRect/>
            </a:stretch>
          </p:blipFill>
          <p:spPr>
            <a:xfrm>
              <a:off x="4349067" y="499672"/>
              <a:ext cx="404812" cy="386544"/>
            </a:xfrm>
            <a:prstGeom prst="rect">
              <a:avLst/>
            </a:prstGeom>
          </p:spPr>
        </p:pic>
        <p:grpSp>
          <p:nvGrpSpPr>
            <p:cNvPr id="50437" name="Global copy of blob 758">
              <a:extLst>
                <a:ext uri="{FF2B5EF4-FFF2-40B4-BE49-F238E27FC236}">
                  <a16:creationId xmlns:a16="http://schemas.microsoft.com/office/drawing/2014/main" id="{00C0C92B-D4C8-0994-E860-1581EB873D86}"/>
                </a:ext>
              </a:extLst>
            </p:cNvPr>
            <p:cNvGrpSpPr/>
            <p:nvPr/>
          </p:nvGrpSpPr>
          <p:grpSpPr>
            <a:xfrm>
              <a:off x="4445066" y="623158"/>
              <a:ext cx="92055" cy="24054"/>
              <a:chOff x="1980855" y="3559489"/>
              <a:chExt cx="493446" cy="155682"/>
            </a:xfrm>
          </p:grpSpPr>
          <p:sp>
            <p:nvSpPr>
              <p:cNvPr id="50438" name="Candidate blob | editable contour">
                <a:extLst>
                  <a:ext uri="{FF2B5EF4-FFF2-40B4-BE49-F238E27FC236}">
                    <a16:creationId xmlns:a16="http://schemas.microsoft.com/office/drawing/2014/main" id="{A172A8B3-EFA3-33C9-CD2B-307B24D7293D}"/>
                  </a:ext>
                </a:extLst>
              </p:cNvPr>
              <p:cNvSpPr/>
              <p:nvPr/>
            </p:nvSpPr>
            <p:spPr>
              <a:xfrm>
                <a:off x="2246406" y="3559489"/>
                <a:ext cx="227895"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50439" name="ellipse_2612">
                <a:extLst>
                  <a:ext uri="{FF2B5EF4-FFF2-40B4-BE49-F238E27FC236}">
                    <a16:creationId xmlns:a16="http://schemas.microsoft.com/office/drawing/2014/main" id="{CF37E813-914E-4383-9CE9-1C5F4095124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50442" name="ellipse_2612">
              <a:extLst>
                <a:ext uri="{FF2B5EF4-FFF2-40B4-BE49-F238E27FC236}">
                  <a16:creationId xmlns:a16="http://schemas.microsoft.com/office/drawing/2014/main" id="{899D545A-9188-B8A5-5122-F55763321954}"/>
                </a:ext>
              </a:extLst>
            </p:cNvPr>
            <p:cNvSpPr/>
            <p:nvPr/>
          </p:nvSpPr>
          <p:spPr>
            <a:xfrm rot="3197729">
              <a:off x="4608138" y="649456"/>
              <a:ext cx="10571" cy="3071"/>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0445" name="ellipse_2612">
              <a:extLst>
                <a:ext uri="{FF2B5EF4-FFF2-40B4-BE49-F238E27FC236}">
                  <a16:creationId xmlns:a16="http://schemas.microsoft.com/office/drawing/2014/main" id="{85D74281-2FE6-E2D2-EFBA-AF54A45686E3}"/>
                </a:ext>
              </a:extLst>
            </p:cNvPr>
            <p:cNvSpPr/>
            <p:nvPr/>
          </p:nvSpPr>
          <p:spPr>
            <a:xfrm>
              <a:off x="4430816" y="761249"/>
              <a:ext cx="9540" cy="2671"/>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0448" name="ellipse_2612">
              <a:extLst>
                <a:ext uri="{FF2B5EF4-FFF2-40B4-BE49-F238E27FC236}">
                  <a16:creationId xmlns:a16="http://schemas.microsoft.com/office/drawing/2014/main" id="{901C6437-E94C-AFDE-D242-E688A89ABBDB}"/>
                </a:ext>
              </a:extLst>
            </p:cNvPr>
            <p:cNvSpPr/>
            <p:nvPr/>
          </p:nvSpPr>
          <p:spPr>
            <a:xfrm>
              <a:off x="4542383" y="798587"/>
              <a:ext cx="9428" cy="3307"/>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29" name="V8 density and receptor to voxel">
            <a:extLst>
              <a:ext uri="{FF2B5EF4-FFF2-40B4-BE49-F238E27FC236}">
                <a16:creationId xmlns:a16="http://schemas.microsoft.com/office/drawing/2014/main" id="{6CB6A47B-4EF1-2B06-7255-E23CEE529CCF}"/>
              </a:ext>
            </a:extLst>
          </p:cNvPr>
          <p:cNvSpPr/>
          <p:nvPr/>
        </p:nvSpPr>
        <p:spPr>
          <a:xfrm flipV="1">
            <a:off x="1864197" y="790091"/>
            <a:ext cx="77018" cy="45719"/>
          </a:xfrm>
          <a:custGeom>
            <a:avLst/>
            <a:gdLst/>
            <a:ahLst/>
            <a:cxnLst/>
            <a:rect l="l" t="t" r="r" b="b"/>
            <a:pathLst>
              <a:path w="96730" h="1">
                <a:moveTo>
                  <a:pt x="0" y="0"/>
                </a:moveTo>
                <a:lnTo>
                  <a:pt x="96730" y="0"/>
                </a:lnTo>
              </a:path>
            </a:pathLst>
          </a:custGeom>
          <a:noFill/>
          <a:ln w="8509" cap="rnd">
            <a:solidFill>
              <a:srgbClr val="4083B4"/>
            </a:solidFill>
            <a:prstDash val="solid"/>
            <a:round/>
          </a:ln>
        </p:spPr>
      </p:sp>
      <p:sp>
        <p:nvSpPr>
          <p:cNvPr id="31" name="V8 density and receptor to voxel head">
            <a:extLst>
              <a:ext uri="{FF2B5EF4-FFF2-40B4-BE49-F238E27FC236}">
                <a16:creationId xmlns:a16="http://schemas.microsoft.com/office/drawing/2014/main" id="{DF62D5B1-80E9-3975-FF99-0CA56F3741F9}"/>
              </a:ext>
            </a:extLst>
          </p:cNvPr>
          <p:cNvSpPr/>
          <p:nvPr/>
        </p:nvSpPr>
        <p:spPr>
          <a:xfrm>
            <a:off x="1935117" y="822853"/>
            <a:ext cx="28321" cy="24384"/>
          </a:xfrm>
          <a:custGeom>
            <a:avLst/>
            <a:gdLst/>
            <a:ahLst/>
            <a:cxnLst/>
            <a:rect l="l" t="t" r="r" b="b"/>
            <a:pathLst>
              <a:path w="28321" h="24384">
                <a:moveTo>
                  <a:pt x="28321" y="12192"/>
                </a:moveTo>
                <a:lnTo>
                  <a:pt x="0" y="0"/>
                </a:lnTo>
                <a:lnTo>
                  <a:pt x="0" y="24384"/>
                </a:lnTo>
                <a:close/>
              </a:path>
            </a:pathLst>
          </a:custGeom>
          <a:solidFill>
            <a:srgbClr val="4083B4"/>
          </a:solidFill>
          <a:ln w="0" cap="rnd">
            <a:noFill/>
          </a:ln>
        </p:spPr>
      </p:sp>
      <p:sp>
        <p:nvSpPr>
          <p:cNvPr id="34" name="文本框 33">
            <a:extLst>
              <a:ext uri="{FF2B5EF4-FFF2-40B4-BE49-F238E27FC236}">
                <a16:creationId xmlns:a16="http://schemas.microsoft.com/office/drawing/2014/main" id="{04021CE7-7079-B8B1-FE1F-2395F0A6A9F4}"/>
              </a:ext>
            </a:extLst>
          </p:cNvPr>
          <p:cNvSpPr txBox="1"/>
          <p:nvPr/>
        </p:nvSpPr>
        <p:spPr>
          <a:xfrm>
            <a:off x="2806249" y="1439947"/>
            <a:ext cx="502061" cy="197618"/>
          </a:xfrm>
          <a:prstGeom prst="rect">
            <a:avLst/>
          </a:prstGeom>
          <a:noFill/>
        </p:spPr>
        <p:txBody>
          <a:bodyPr wrap="none" rtlCol="0">
            <a:spAutoFit/>
          </a:bodyPr>
          <a:lstStyle/>
          <a:p>
            <a:pPr algn="ctr">
              <a:lnSpc>
                <a:spcPct val="105000"/>
              </a:lnSpc>
            </a:pPr>
            <a:r>
              <a:rPr lang="en-US" altLang="zh-CN" sz="650" i="1" dirty="0">
                <a:solidFill>
                  <a:srgbClr val="263442"/>
                </a:solidFill>
                <a:latin typeface="Arial"/>
              </a:rPr>
              <a:t>Recycle</a:t>
            </a:r>
          </a:p>
        </p:txBody>
      </p:sp>
      <p:grpSp>
        <p:nvGrpSpPr>
          <p:cNvPr id="21" name="Find candidate blob 2">
            <a:extLst>
              <a:ext uri="{FF2B5EF4-FFF2-40B4-BE49-F238E27FC236}">
                <a16:creationId xmlns:a16="http://schemas.microsoft.com/office/drawing/2014/main" id="{7CF4B83B-CE40-0943-83BF-857F63F584FC}"/>
              </a:ext>
            </a:extLst>
          </p:cNvPr>
          <p:cNvGrpSpPr/>
          <p:nvPr/>
        </p:nvGrpSpPr>
        <p:grpSpPr>
          <a:xfrm rot="3197729">
            <a:off x="4616630" y="633066"/>
            <a:ext cx="35227" cy="29704"/>
            <a:chOff x="1928706" y="3559489"/>
            <a:chExt cx="227897" cy="155682"/>
          </a:xfrm>
        </p:grpSpPr>
        <p:sp>
          <p:nvSpPr>
            <p:cNvPr id="23" name="Candidate blob | editable contour">
              <a:extLst>
                <a:ext uri="{FF2B5EF4-FFF2-40B4-BE49-F238E27FC236}">
                  <a16:creationId xmlns:a16="http://schemas.microsoft.com/office/drawing/2014/main" id="{0EF5C813-7F44-77DD-67FE-EE476608E03B}"/>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28" name="ellipse_2612">
              <a:extLst>
                <a:ext uri="{FF2B5EF4-FFF2-40B4-BE49-F238E27FC236}">
                  <a16:creationId xmlns:a16="http://schemas.microsoft.com/office/drawing/2014/main" id="{F5FA3B82-7CD0-DDDF-A968-EC80FAC5CC54}"/>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30" name="Find candidate blob 3">
            <a:extLst>
              <a:ext uri="{FF2B5EF4-FFF2-40B4-BE49-F238E27FC236}">
                <a16:creationId xmlns:a16="http://schemas.microsoft.com/office/drawing/2014/main" id="{7DFC79E6-A537-A8EE-9E23-73695EEDEA87}"/>
              </a:ext>
            </a:extLst>
          </p:cNvPr>
          <p:cNvGrpSpPr/>
          <p:nvPr/>
        </p:nvGrpSpPr>
        <p:grpSpPr>
          <a:xfrm rot="364243">
            <a:off x="4534839" y="709850"/>
            <a:ext cx="31915" cy="32299"/>
            <a:chOff x="1928706" y="3559489"/>
            <a:chExt cx="227897" cy="155682"/>
          </a:xfrm>
        </p:grpSpPr>
        <p:sp>
          <p:nvSpPr>
            <p:cNvPr id="32" name="Candidate blob | editable contour">
              <a:extLst>
                <a:ext uri="{FF2B5EF4-FFF2-40B4-BE49-F238E27FC236}">
                  <a16:creationId xmlns:a16="http://schemas.microsoft.com/office/drawing/2014/main" id="{EF3C7BE5-312A-39EB-D945-E725D09FC5CF}"/>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33" name="ellipse_2612">
              <a:extLst>
                <a:ext uri="{FF2B5EF4-FFF2-40B4-BE49-F238E27FC236}">
                  <a16:creationId xmlns:a16="http://schemas.microsoft.com/office/drawing/2014/main" id="{0A4821A8-67B8-19F4-30E2-0FE8715E5DA6}"/>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38" name="Find candidate blob 1">
            <a:extLst>
              <a:ext uri="{FF2B5EF4-FFF2-40B4-BE49-F238E27FC236}">
                <a16:creationId xmlns:a16="http://schemas.microsoft.com/office/drawing/2014/main" id="{D9521CD7-F7FB-7490-A23A-67B39E4FD95D}"/>
              </a:ext>
            </a:extLst>
          </p:cNvPr>
          <p:cNvGrpSpPr/>
          <p:nvPr/>
        </p:nvGrpSpPr>
        <p:grpSpPr>
          <a:xfrm>
            <a:off x="4427985" y="745957"/>
            <a:ext cx="40973" cy="27988"/>
            <a:chOff x="1928706" y="3559489"/>
            <a:chExt cx="227897" cy="155682"/>
          </a:xfrm>
        </p:grpSpPr>
        <p:sp>
          <p:nvSpPr>
            <p:cNvPr id="39" name="Candidate blob | editable contour">
              <a:extLst>
                <a:ext uri="{FF2B5EF4-FFF2-40B4-BE49-F238E27FC236}">
                  <a16:creationId xmlns:a16="http://schemas.microsoft.com/office/drawing/2014/main" id="{B913F94B-9211-6007-A9F1-AA1E18C1D543}"/>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40" name="ellipse_2612">
              <a:extLst>
                <a:ext uri="{FF2B5EF4-FFF2-40B4-BE49-F238E27FC236}">
                  <a16:creationId xmlns:a16="http://schemas.microsoft.com/office/drawing/2014/main" id="{D504CB61-AEF5-1C11-4CCF-573A1133E2A9}"/>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Tree>
    <p:extLst>
      <p:ext uri="{BB962C8B-B14F-4D97-AF65-F5344CB8AC3E}">
        <p14:creationId xmlns:p14="http://schemas.microsoft.com/office/powerpoint/2010/main" val="733704491"/>
      </p:ext>
    </p:extLst>
  </p:cSld>
  <p:clrMapOvr>
    <a:masterClrMapping/>
  </p:clrMapOvr>
  <p:extLst>
    <p:ext uri="{6950BFC3-D8DA-4A85-94F7-54DA5524770B}">
      <p188:commentRel xmlns:p188="http://schemas.microsoft.com/office/powerpoint/2018/8/main" r:id="rId3"/>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52734-FCAE-2B81-54BC-B01F7B050C10}"/>
            </a:ext>
          </a:extLst>
        </p:cNvPr>
        <p:cNvGrpSpPr/>
        <p:nvPr/>
      </p:nvGrpSpPr>
      <p:grpSpPr>
        <a:xfrm>
          <a:off x="0" y="0"/>
          <a:ext cx="0" cy="0"/>
          <a:chOff x="0" y="0"/>
          <a:chExt cx="0" cy="0"/>
        </a:xfrm>
      </p:grpSpPr>
      <p:sp>
        <p:nvSpPr>
          <p:cNvPr id="4" name="Panel | Build background">
            <a:extLst>
              <a:ext uri="{FF2B5EF4-FFF2-40B4-BE49-F238E27FC236}">
                <a16:creationId xmlns:a16="http://schemas.microsoft.com/office/drawing/2014/main" id="{3F93B921-327F-EA56-1B22-0D09369772CD}"/>
              </a:ext>
            </a:extLst>
          </p:cNvPr>
          <p:cNvSpPr/>
          <p:nvPr/>
        </p:nvSpPr>
        <p:spPr>
          <a:xfrm>
            <a:off x="4868797" y="84564"/>
            <a:ext cx="1354615" cy="4331875"/>
          </a:xfrm>
          <a:prstGeom prst="roundRect">
            <a:avLst>
              <a:gd name="adj" fmla="val 2000"/>
            </a:avLst>
          </a:prstGeom>
          <a:solidFill>
            <a:srgbClr val="FAF6EE"/>
          </a:solidFill>
          <a:ln w="9720">
            <a:solidFill>
              <a:srgbClr val="E3D9C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11" name="TextBox 8">
            <a:extLst>
              <a:ext uri="{FF2B5EF4-FFF2-40B4-BE49-F238E27FC236}">
                <a16:creationId xmlns:a16="http://schemas.microsoft.com/office/drawing/2014/main" id="{E6455CE4-B1DF-384C-F92E-829DDB28E816}"/>
              </a:ext>
            </a:extLst>
          </p:cNvPr>
          <p:cNvSpPr txBox="1"/>
          <p:nvPr/>
        </p:nvSpPr>
        <p:spPr>
          <a:xfrm>
            <a:off x="4902380" y="107125"/>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c</a:t>
            </a:r>
          </a:p>
        </p:txBody>
      </p:sp>
      <p:sp>
        <p:nvSpPr>
          <p:cNvPr id="12" name="TextBox 9">
            <a:extLst>
              <a:ext uri="{FF2B5EF4-FFF2-40B4-BE49-F238E27FC236}">
                <a16:creationId xmlns:a16="http://schemas.microsoft.com/office/drawing/2014/main" id="{081F4C46-44A2-3E43-D338-0A52F1D83598}"/>
              </a:ext>
            </a:extLst>
          </p:cNvPr>
          <p:cNvSpPr txBox="1"/>
          <p:nvPr/>
        </p:nvSpPr>
        <p:spPr>
          <a:xfrm>
            <a:off x="5060587" y="120126"/>
            <a:ext cx="1202377" cy="239809"/>
          </a:xfrm>
          <a:prstGeom prst="rect">
            <a:avLst/>
          </a:prstGeom>
          <a:noFill/>
        </p:spPr>
        <p:txBody>
          <a:bodyPr wrap="square" lIns="0" tIns="0" rIns="0" bIns="0" anchor="ctr">
            <a:spAutoFit/>
          </a:bodyPr>
          <a:lstStyle/>
          <a:p>
            <a:pPr algn="l">
              <a:lnSpc>
                <a:spcPct val="98000"/>
              </a:lnSpc>
            </a:pPr>
            <a:r>
              <a:rPr sz="795" dirty="0">
                <a:solidFill>
                  <a:srgbClr val="263442"/>
                </a:solidFill>
                <a:latin typeface="Arial"/>
              </a:rPr>
              <a:t>Build: downstream</a:t>
            </a:r>
          </a:p>
          <a:p>
            <a:pPr algn="l">
              <a:lnSpc>
                <a:spcPct val="98000"/>
              </a:lnSpc>
            </a:pPr>
            <a:r>
              <a:rPr sz="795" dirty="0">
                <a:solidFill>
                  <a:srgbClr val="263442"/>
                </a:solidFill>
                <a:latin typeface="Arial"/>
              </a:rPr>
              <a:t>pose reconstruction</a:t>
            </a:r>
          </a:p>
        </p:txBody>
      </p:sp>
      <p:sp>
        <p:nvSpPr>
          <p:cNvPr id="768" name="Build four inputs">
            <a:extLst>
              <a:ext uri="{FF2B5EF4-FFF2-40B4-BE49-F238E27FC236}">
                <a16:creationId xmlns:a16="http://schemas.microsoft.com/office/drawing/2014/main" id="{2BF98272-1D43-106D-C4EA-676CFECC33CF}"/>
              </a:ext>
            </a:extLst>
          </p:cNvPr>
          <p:cNvSpPr>
            <a:spLocks noGrp="1"/>
          </p:cNvSpPr>
          <p:nvPr/>
        </p:nvSpPr>
        <p:spPr>
          <a:xfrm>
            <a:off x="4963973" y="420252"/>
            <a:ext cx="1158792" cy="1302153"/>
          </a:xfrm>
          <a:prstGeom prst="roundRect">
            <a:avLst>
              <a:gd name="adj" fmla="val 4554"/>
            </a:avLst>
          </a:prstGeom>
          <a:solidFill>
            <a:srgbClr val="FFFFFF"/>
          </a:solidFill>
          <a:ln w="7290">
            <a:solidFill>
              <a:srgbClr val="DFD6C3"/>
            </a:solidFill>
            <a:prstDash val="solid"/>
          </a:ln>
        </p:spPr>
        <p:txBody>
          <a:bodyPr/>
          <a:lstStyle/>
          <a:p>
            <a:endParaRPr lang="zh-CN" altLang="en-US" dirty="0"/>
          </a:p>
        </p:txBody>
      </p:sp>
      <p:sp>
        <p:nvSpPr>
          <p:cNvPr id="769" name="Site label">
            <a:extLst>
              <a:ext uri="{FF2B5EF4-FFF2-40B4-BE49-F238E27FC236}">
                <a16:creationId xmlns:a16="http://schemas.microsoft.com/office/drawing/2014/main" id="{3B2D181B-8171-23E5-904D-1E8D8B07D388}"/>
              </a:ext>
            </a:extLst>
          </p:cNvPr>
          <p:cNvSpPr>
            <a:spLocks noGrp="1"/>
          </p:cNvSpPr>
          <p:nvPr/>
        </p:nvSpPr>
        <p:spPr>
          <a:xfrm>
            <a:off x="4992638" y="83497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Site</a:t>
            </a:r>
          </a:p>
        </p:txBody>
      </p:sp>
      <p:sp>
        <p:nvSpPr>
          <p:cNvPr id="770" name="Site provenance">
            <a:extLst>
              <a:ext uri="{FF2B5EF4-FFF2-40B4-BE49-F238E27FC236}">
                <a16:creationId xmlns:a16="http://schemas.microsoft.com/office/drawing/2014/main" id="{1D7E3247-83A3-5643-3DAD-7118C029E905}"/>
              </a:ext>
            </a:extLst>
          </p:cNvPr>
          <p:cNvSpPr>
            <a:spLocks noGrp="1"/>
          </p:cNvSpPr>
          <p:nvPr/>
        </p:nvSpPr>
        <p:spPr>
          <a:xfrm>
            <a:off x="4999032" y="92146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Find</a:t>
            </a:r>
          </a:p>
        </p:txBody>
      </p:sp>
      <p:sp>
        <p:nvSpPr>
          <p:cNvPr id="771" name="Pocket label">
            <a:extLst>
              <a:ext uri="{FF2B5EF4-FFF2-40B4-BE49-F238E27FC236}">
                <a16:creationId xmlns:a16="http://schemas.microsoft.com/office/drawing/2014/main" id="{DC9603B8-71EE-2C1D-249F-079678E93D98}"/>
              </a:ext>
            </a:extLst>
          </p:cNvPr>
          <p:cNvSpPr>
            <a:spLocks noGrp="1"/>
          </p:cNvSpPr>
          <p:nvPr/>
        </p:nvSpPr>
        <p:spPr>
          <a:xfrm>
            <a:off x="5581260" y="854408"/>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Pocket</a:t>
            </a:r>
          </a:p>
        </p:txBody>
      </p:sp>
      <p:sp>
        <p:nvSpPr>
          <p:cNvPr id="773" name="SMILES label">
            <a:extLst>
              <a:ext uri="{FF2B5EF4-FFF2-40B4-BE49-F238E27FC236}">
                <a16:creationId xmlns:a16="http://schemas.microsoft.com/office/drawing/2014/main" id="{25FC5404-5A0B-2BE5-8144-C74C3108E008}"/>
              </a:ext>
            </a:extLst>
          </p:cNvPr>
          <p:cNvSpPr>
            <a:spLocks noGrp="1"/>
          </p:cNvSpPr>
          <p:nvPr/>
        </p:nvSpPr>
        <p:spPr>
          <a:xfrm>
            <a:off x="4999664" y="148072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SMILES</a:t>
            </a:r>
          </a:p>
        </p:txBody>
      </p:sp>
      <p:sp>
        <p:nvSpPr>
          <p:cNvPr id="774" name="SMILES provenance">
            <a:extLst>
              <a:ext uri="{FF2B5EF4-FFF2-40B4-BE49-F238E27FC236}">
                <a16:creationId xmlns:a16="http://schemas.microsoft.com/office/drawing/2014/main" id="{479D80EF-A625-1889-2F4D-C74FF6E2BB39}"/>
              </a:ext>
            </a:extLst>
          </p:cNvPr>
          <p:cNvSpPr>
            <a:spLocks noGrp="1"/>
          </p:cNvSpPr>
          <p:nvPr/>
        </p:nvSpPr>
        <p:spPr>
          <a:xfrm>
            <a:off x="5005380" y="156882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Match</a:t>
            </a:r>
          </a:p>
        </p:txBody>
      </p:sp>
      <p:sp>
        <p:nvSpPr>
          <p:cNvPr id="775" name="Density input label">
            <a:extLst>
              <a:ext uri="{FF2B5EF4-FFF2-40B4-BE49-F238E27FC236}">
                <a16:creationId xmlns:a16="http://schemas.microsoft.com/office/drawing/2014/main" id="{A743C77B-3F50-BBD8-13CB-52DCF781FE64}"/>
              </a:ext>
            </a:extLst>
          </p:cNvPr>
          <p:cNvSpPr>
            <a:spLocks noGrp="1"/>
          </p:cNvSpPr>
          <p:nvPr/>
        </p:nvSpPr>
        <p:spPr>
          <a:xfrm>
            <a:off x="5574918" y="1480706"/>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Density</a:t>
            </a:r>
          </a:p>
        </p:txBody>
      </p:sp>
      <p:sp>
        <p:nvSpPr>
          <p:cNvPr id="776" name="Docking tools title">
            <a:extLst>
              <a:ext uri="{FF2B5EF4-FFF2-40B4-BE49-F238E27FC236}">
                <a16:creationId xmlns:a16="http://schemas.microsoft.com/office/drawing/2014/main" id="{F4F53E91-014C-CC30-59FD-5CB7B47AA24B}"/>
              </a:ext>
            </a:extLst>
          </p:cNvPr>
          <p:cNvSpPr>
            <a:spLocks noGrp="1"/>
          </p:cNvSpPr>
          <p:nvPr/>
        </p:nvSpPr>
        <p:spPr>
          <a:xfrm>
            <a:off x="5047760" y="1867770"/>
            <a:ext cx="1101630" cy="117453"/>
          </a:xfrm>
          <a:prstGeom prst="rect">
            <a:avLst/>
          </a:prstGeom>
          <a:noFill/>
          <a:ln w="6885">
            <a:noFill/>
            <a:prstDash val="solid"/>
          </a:ln>
        </p:spPr>
        <p:txBody>
          <a:bodyPr lIns="0" tIns="0" rIns="0" bIns="0" anchor="ctr"/>
          <a:lstStyle>
            <a:defPPr algn="ctr">
              <a:defRPr sz="702" b="1">
                <a:solidFill>
                  <a:srgbClr val="263442"/>
                </a:solidFill>
                <a:latin typeface="Arial"/>
                <a:ea typeface="Arial"/>
                <a:cs typeface="Arial"/>
              </a:defRPr>
            </a:defPPr>
            <a:lvl1pPr algn="ctr">
              <a:defRPr sz="702" b="1">
                <a:solidFill>
                  <a:srgbClr val="263442"/>
                </a:solidFill>
                <a:latin typeface="Arial"/>
                <a:ea typeface="Arial"/>
                <a:cs typeface="Arial"/>
              </a:defRPr>
            </a:lvl1pPr>
            <a:lvl2pPr algn="ctr">
              <a:defRPr sz="702" b="1">
                <a:solidFill>
                  <a:srgbClr val="263442"/>
                </a:solidFill>
                <a:latin typeface="Arial"/>
                <a:ea typeface="Arial"/>
                <a:cs typeface="Arial"/>
              </a:defRPr>
            </a:lvl2pPr>
            <a:lvl3pPr algn="ctr">
              <a:defRPr sz="702" b="1">
                <a:solidFill>
                  <a:srgbClr val="263442"/>
                </a:solidFill>
                <a:latin typeface="Arial"/>
                <a:ea typeface="Arial"/>
                <a:cs typeface="Arial"/>
              </a:defRPr>
            </a:lvl3pPr>
            <a:lvl4pPr algn="ctr">
              <a:defRPr sz="702" b="1">
                <a:solidFill>
                  <a:srgbClr val="263442"/>
                </a:solidFill>
                <a:latin typeface="Arial"/>
                <a:ea typeface="Arial"/>
                <a:cs typeface="Arial"/>
              </a:defRPr>
            </a:lvl4pPr>
            <a:lvl5pPr algn="ctr">
              <a:defRPr sz="702" b="1">
                <a:solidFill>
                  <a:srgbClr val="263442"/>
                </a:solidFill>
                <a:latin typeface="Arial"/>
                <a:ea typeface="Arial"/>
                <a:cs typeface="Arial"/>
              </a:defRPr>
            </a:lvl5pPr>
            <a:lvl6pPr algn="ctr">
              <a:defRPr sz="702" b="1">
                <a:solidFill>
                  <a:srgbClr val="263442"/>
                </a:solidFill>
                <a:latin typeface="Arial"/>
                <a:ea typeface="Arial"/>
                <a:cs typeface="Arial"/>
              </a:defRPr>
            </a:lvl6pPr>
            <a:lvl7pPr algn="ctr">
              <a:defRPr sz="702" b="1">
                <a:solidFill>
                  <a:srgbClr val="263442"/>
                </a:solidFill>
                <a:latin typeface="Arial"/>
                <a:ea typeface="Arial"/>
                <a:cs typeface="Arial"/>
              </a:defRPr>
            </a:lvl7pPr>
            <a:lvl8pPr algn="ctr">
              <a:defRPr sz="702" b="1">
                <a:solidFill>
                  <a:srgbClr val="263442"/>
                </a:solidFill>
                <a:latin typeface="Arial"/>
                <a:ea typeface="Arial"/>
                <a:cs typeface="Arial"/>
              </a:defRPr>
            </a:lvl8pPr>
            <a:lvl9pPr algn="ctr">
              <a:defRPr sz="702" b="1">
                <a:solidFill>
                  <a:srgbClr val="263442"/>
                </a:solidFill>
                <a:latin typeface="Arial"/>
                <a:ea typeface="Arial"/>
                <a:cs typeface="Arial"/>
              </a:defRPr>
            </a:lvl9pPr>
          </a:lstStyle>
          <a:p>
            <a:pPr algn="ctr">
              <a:defRPr sz="702" b="1">
                <a:solidFill>
                  <a:srgbClr val="263442"/>
                </a:solidFill>
                <a:latin typeface="Arial"/>
                <a:ea typeface="Arial"/>
                <a:cs typeface="Arial"/>
              </a:defRPr>
            </a:pPr>
            <a:r>
              <a:rPr lang="en-US" sz="702" b="0" dirty="0">
                <a:solidFill>
                  <a:srgbClr val="263442"/>
                </a:solidFill>
                <a:latin typeface="Arial"/>
                <a:ea typeface="Arial"/>
                <a:cs typeface="Arial"/>
              </a:rPr>
              <a:t>Downstream </a:t>
            </a:r>
            <a:r>
              <a:rPr lang="en-US" b="0" dirty="0"/>
              <a:t>d</a:t>
            </a:r>
            <a:r>
              <a:rPr sz="702" b="0" dirty="0">
                <a:solidFill>
                  <a:srgbClr val="263442"/>
                </a:solidFill>
                <a:latin typeface="Arial"/>
                <a:ea typeface="Arial"/>
                <a:cs typeface="Arial"/>
              </a:rPr>
              <a:t>ocking tools</a:t>
            </a:r>
          </a:p>
        </p:txBody>
      </p:sp>
      <p:sp>
        <p:nvSpPr>
          <p:cNvPr id="777" name="Build pose output">
            <a:extLst>
              <a:ext uri="{FF2B5EF4-FFF2-40B4-BE49-F238E27FC236}">
                <a16:creationId xmlns:a16="http://schemas.microsoft.com/office/drawing/2014/main" id="{96EC49BA-932C-048E-0C29-D37711377096}"/>
              </a:ext>
            </a:extLst>
          </p:cNvPr>
          <p:cNvSpPr>
            <a:spLocks noGrp="1"/>
          </p:cNvSpPr>
          <p:nvPr/>
        </p:nvSpPr>
        <p:spPr>
          <a:xfrm>
            <a:off x="4992811" y="3400604"/>
            <a:ext cx="1106489" cy="941449"/>
          </a:xfrm>
          <a:prstGeom prst="roundRect">
            <a:avLst>
              <a:gd name="adj" fmla="val 5395"/>
            </a:avLst>
          </a:prstGeom>
          <a:solidFill>
            <a:srgbClr val="FFFFFF"/>
          </a:solidFill>
          <a:ln w="7290">
            <a:solidFill>
              <a:srgbClr val="DFD6C3"/>
            </a:solidFill>
            <a:prstDash val="solid"/>
          </a:ln>
        </p:spPr>
      </p:sp>
      <p:sp>
        <p:nvSpPr>
          <p:cNvPr id="778" name="All atom pose label">
            <a:extLst>
              <a:ext uri="{FF2B5EF4-FFF2-40B4-BE49-F238E27FC236}">
                <a16:creationId xmlns:a16="http://schemas.microsoft.com/office/drawing/2014/main" id="{3C1F0666-BDE2-8018-A15E-F23B75749AC3}"/>
              </a:ext>
            </a:extLst>
          </p:cNvPr>
          <p:cNvSpPr>
            <a:spLocks noGrp="1"/>
          </p:cNvSpPr>
          <p:nvPr/>
        </p:nvSpPr>
        <p:spPr>
          <a:xfrm>
            <a:off x="4979784" y="4176444"/>
            <a:ext cx="1231233" cy="1174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All-atom ligand pose</a:t>
            </a:r>
          </a:p>
        </p:txBody>
      </p:sp>
      <p:pic>
        <p:nvPicPr>
          <p:cNvPr id="967" name="Buil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485B6500-58C3-8694-DCBD-D5824BAE6312}"/>
              </a:ext>
            </a:extLst>
          </p:cNvPr>
          <p:cNvPicPr/>
          <p:nvPr/>
        </p:nvPicPr>
        <p:blipFill>
          <a:blip r:embed="rId4"/>
          <a:stretch>
            <a:fillRect/>
          </a:stretch>
        </p:blipFill>
        <p:spPr>
          <a:xfrm>
            <a:off x="5657542" y="1104265"/>
            <a:ext cx="361766" cy="345440"/>
          </a:xfrm>
          <a:prstGeom prst="rect">
            <a:avLst/>
          </a:prstGeom>
        </p:spPr>
      </p:pic>
      <p:sp>
        <p:nvSpPr>
          <p:cNvPr id="1187" name="Build | Engines frame">
            <a:extLst>
              <a:ext uri="{FF2B5EF4-FFF2-40B4-BE49-F238E27FC236}">
                <a16:creationId xmlns:a16="http://schemas.microsoft.com/office/drawing/2014/main" id="{968C3470-AFF4-84BE-480A-4198D540DAFD}"/>
              </a:ext>
            </a:extLst>
          </p:cNvPr>
          <p:cNvSpPr/>
          <p:nvPr/>
        </p:nvSpPr>
        <p:spPr>
          <a:xfrm>
            <a:off x="4938821" y="2032000"/>
            <a:ext cx="1202377" cy="1172634"/>
          </a:xfrm>
          <a:prstGeom prst="roundRect">
            <a:avLst>
              <a:gd name="adj" fmla="val 5000"/>
            </a:avLst>
          </a:prstGeom>
          <a:solidFill>
            <a:srgbClr val="FFFFFF">
              <a:alpha val="50000"/>
            </a:srgbClr>
          </a:solidFill>
          <a:ln w="7290">
            <a:solidFill>
              <a:srgbClr val="D5CCB8"/>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1188" name="Build | Default PocketXMol card">
            <a:extLst>
              <a:ext uri="{FF2B5EF4-FFF2-40B4-BE49-F238E27FC236}">
                <a16:creationId xmlns:a16="http://schemas.microsoft.com/office/drawing/2014/main" id="{52EDB60B-0EF2-5740-F6D3-490228F31BBD}"/>
              </a:ext>
            </a:extLst>
          </p:cNvPr>
          <p:cNvSpPr/>
          <p:nvPr/>
        </p:nvSpPr>
        <p:spPr>
          <a:xfrm>
            <a:off x="4992811" y="2089570"/>
            <a:ext cx="1106490" cy="456341"/>
          </a:xfrm>
          <a:prstGeom prst="roundRect">
            <a:avLst>
              <a:gd name="adj" fmla="val 8000"/>
            </a:avLst>
          </a:prstGeom>
          <a:solidFill>
            <a:srgbClr val="FAF1DE"/>
          </a:solidFill>
          <a:ln w="7290">
            <a:solidFill>
              <a:srgbClr val="D8A95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grpSp>
        <p:nvGrpSpPr>
          <p:cNvPr id="1189" name="Build | Density cube icon">
            <a:extLst>
              <a:ext uri="{FF2B5EF4-FFF2-40B4-BE49-F238E27FC236}">
                <a16:creationId xmlns:a16="http://schemas.microsoft.com/office/drawing/2014/main" id="{1E199BBA-7EEA-1D1F-CC07-CF5E10C73191}"/>
              </a:ext>
            </a:extLst>
          </p:cNvPr>
          <p:cNvGrpSpPr/>
          <p:nvPr/>
        </p:nvGrpSpPr>
        <p:grpSpPr>
          <a:xfrm>
            <a:off x="5024943" y="2171534"/>
            <a:ext cx="213580" cy="227238"/>
            <a:chOff x="2187720" y="5635440"/>
            <a:chExt cx="154440" cy="131400"/>
          </a:xfrm>
        </p:grpSpPr>
        <p:sp>
          <p:nvSpPr>
            <p:cNvPr id="1190" name="asset_3169_0">
              <a:extLst>
                <a:ext uri="{FF2B5EF4-FFF2-40B4-BE49-F238E27FC236}">
                  <a16:creationId xmlns:a16="http://schemas.microsoft.com/office/drawing/2014/main" id="{5FB93E16-86CF-EC30-4B85-AB855EC83D6D}"/>
                </a:ext>
              </a:extLst>
            </p:cNvPr>
            <p:cNvSpPr>
              <a:spLocks noGrp="1"/>
            </p:cNvSpPr>
            <p:nvPr/>
          </p:nvSpPr>
          <p:spPr>
            <a:xfrm>
              <a:off x="2187720" y="5635440"/>
              <a:ext cx="154440" cy="22338"/>
            </a:xfrm>
            <a:custGeom>
              <a:avLst/>
              <a:gdLst/>
              <a:ahLst/>
              <a:cxnLst/>
              <a:rect l="0" t="0" r="0" b="0"/>
              <a:pathLst>
                <a:path w="154440" h="22338">
                  <a:moveTo>
                    <a:pt x="0" y="22338"/>
                  </a:moveTo>
                  <a:lnTo>
                    <a:pt x="29344" y="0"/>
                  </a:lnTo>
                  <a:lnTo>
                    <a:pt x="154440" y="0"/>
                  </a:lnTo>
                  <a:lnTo>
                    <a:pt x="125096" y="22338"/>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1191" name="asset_3169_1">
              <a:extLst>
                <a:ext uri="{FF2B5EF4-FFF2-40B4-BE49-F238E27FC236}">
                  <a16:creationId xmlns:a16="http://schemas.microsoft.com/office/drawing/2014/main" id="{99B41AE2-EAF3-E315-4AA4-A4F793A4B44B}"/>
                </a:ext>
              </a:extLst>
            </p:cNvPr>
            <p:cNvSpPr>
              <a:spLocks noGrp="1"/>
            </p:cNvSpPr>
            <p:nvPr/>
          </p:nvSpPr>
          <p:spPr>
            <a:xfrm>
              <a:off x="2312816" y="5635440"/>
              <a:ext cx="29344" cy="131400"/>
            </a:xfrm>
            <a:custGeom>
              <a:avLst/>
              <a:gdLst/>
              <a:ahLst/>
              <a:cxnLst/>
              <a:rect l="0" t="0" r="0" b="0"/>
              <a:pathLst>
                <a:path w="29344" h="131400">
                  <a:moveTo>
                    <a:pt x="0" y="22338"/>
                  </a:moveTo>
                  <a:lnTo>
                    <a:pt x="29344" y="0"/>
                  </a:lnTo>
                  <a:lnTo>
                    <a:pt x="29344" y="109062"/>
                  </a:lnTo>
                  <a:lnTo>
                    <a:pt x="0" y="131400"/>
                  </a:lnTo>
                  <a:close/>
                </a:path>
              </a:pathLst>
            </a:custGeom>
            <a:solidFill>
              <a:srgbClr val="C9DFF3">
                <a:alpha val="22000"/>
              </a:srgbClr>
            </a:solidFill>
            <a:ln w="2700">
              <a:solidFill>
                <a:srgbClr val="A3C3E2"/>
              </a:solidFill>
            </a:ln>
          </p:spPr>
        </p:sp>
        <p:sp>
          <p:nvSpPr>
            <p:cNvPr id="1192" name="asset_3169_2">
              <a:extLst>
                <a:ext uri="{FF2B5EF4-FFF2-40B4-BE49-F238E27FC236}">
                  <a16:creationId xmlns:a16="http://schemas.microsoft.com/office/drawing/2014/main" id="{D63A76A4-2D29-1500-5803-AF39F7023C4D}"/>
                </a:ext>
              </a:extLst>
            </p:cNvPr>
            <p:cNvSpPr>
              <a:spLocks noGrp="1"/>
            </p:cNvSpPr>
            <p:nvPr/>
          </p:nvSpPr>
          <p:spPr>
            <a:xfrm>
              <a:off x="2187720" y="5657778"/>
              <a:ext cx="125096" cy="109062"/>
            </a:xfrm>
            <a:prstGeom prst="rect">
              <a:avLst/>
            </a:prstGeom>
            <a:solidFill>
              <a:srgbClr val="E7F1FC">
                <a:alpha val="20000"/>
              </a:srgbClr>
            </a:solidFill>
            <a:ln w="2700">
              <a:solidFill>
                <a:srgbClr val="ABC9E7"/>
              </a:solidFill>
            </a:ln>
          </p:spPr>
        </p:sp>
        <p:sp>
          <p:nvSpPr>
            <p:cNvPr id="1193" name="asset_3169_3">
              <a:extLst>
                <a:ext uri="{FF2B5EF4-FFF2-40B4-BE49-F238E27FC236}">
                  <a16:creationId xmlns:a16="http://schemas.microsoft.com/office/drawing/2014/main" id="{A1261C35-D54B-E6F0-CEB8-92C3A4EA2F11}"/>
                </a:ext>
              </a:extLst>
            </p:cNvPr>
            <p:cNvSpPr>
              <a:spLocks noGrp="1"/>
            </p:cNvSpPr>
            <p:nvPr/>
          </p:nvSpPr>
          <p:spPr>
            <a:xfrm>
              <a:off x="2218994" y="5657778"/>
              <a:ext cx="4" cy="109062"/>
            </a:xfrm>
            <a:prstGeom prst="line">
              <a:avLst/>
            </a:prstGeom>
            <a:noFill/>
            <a:ln w="1980">
              <a:solidFill>
                <a:srgbClr val="B8D2EB">
                  <a:alpha val="33000"/>
                </a:srgbClr>
              </a:solidFill>
            </a:ln>
          </p:spPr>
        </p:sp>
        <p:sp>
          <p:nvSpPr>
            <p:cNvPr id="1194" name="asset_3169_4">
              <a:extLst>
                <a:ext uri="{FF2B5EF4-FFF2-40B4-BE49-F238E27FC236}">
                  <a16:creationId xmlns:a16="http://schemas.microsoft.com/office/drawing/2014/main" id="{15486D53-C7E9-74F7-5606-71E9E67107CB}"/>
                </a:ext>
              </a:extLst>
            </p:cNvPr>
            <p:cNvSpPr>
              <a:spLocks noGrp="1"/>
            </p:cNvSpPr>
            <p:nvPr/>
          </p:nvSpPr>
          <p:spPr>
            <a:xfrm>
              <a:off x="2187720" y="5685044"/>
              <a:ext cx="125096" cy="4"/>
            </a:xfrm>
            <a:prstGeom prst="line">
              <a:avLst/>
            </a:prstGeom>
            <a:noFill/>
            <a:ln w="1980">
              <a:solidFill>
                <a:srgbClr val="B8D2EB">
                  <a:alpha val="33000"/>
                </a:srgbClr>
              </a:solidFill>
            </a:ln>
          </p:spPr>
        </p:sp>
        <p:sp>
          <p:nvSpPr>
            <p:cNvPr id="1195" name="asset_3169_5">
              <a:extLst>
                <a:ext uri="{FF2B5EF4-FFF2-40B4-BE49-F238E27FC236}">
                  <a16:creationId xmlns:a16="http://schemas.microsoft.com/office/drawing/2014/main" id="{22853855-37F0-F097-5AB4-2A71217CCECE}"/>
                </a:ext>
              </a:extLst>
            </p:cNvPr>
            <p:cNvSpPr>
              <a:spLocks noGrp="1"/>
            </p:cNvSpPr>
            <p:nvPr/>
          </p:nvSpPr>
          <p:spPr>
            <a:xfrm>
              <a:off x="2250268" y="5657778"/>
              <a:ext cx="4" cy="109062"/>
            </a:xfrm>
            <a:prstGeom prst="line">
              <a:avLst/>
            </a:prstGeom>
            <a:noFill/>
            <a:ln w="1980">
              <a:solidFill>
                <a:srgbClr val="B8D2EB">
                  <a:alpha val="33000"/>
                </a:srgbClr>
              </a:solidFill>
            </a:ln>
          </p:spPr>
        </p:sp>
        <p:sp>
          <p:nvSpPr>
            <p:cNvPr id="1196" name="asset_3169_6">
              <a:extLst>
                <a:ext uri="{FF2B5EF4-FFF2-40B4-BE49-F238E27FC236}">
                  <a16:creationId xmlns:a16="http://schemas.microsoft.com/office/drawing/2014/main" id="{226FC415-F61D-9825-F4E2-7875354B9CE4}"/>
                </a:ext>
              </a:extLst>
            </p:cNvPr>
            <p:cNvSpPr>
              <a:spLocks noGrp="1"/>
            </p:cNvSpPr>
            <p:nvPr/>
          </p:nvSpPr>
          <p:spPr>
            <a:xfrm>
              <a:off x="2187720" y="5712309"/>
              <a:ext cx="125096" cy="4"/>
            </a:xfrm>
            <a:prstGeom prst="line">
              <a:avLst/>
            </a:prstGeom>
            <a:noFill/>
            <a:ln w="1980">
              <a:solidFill>
                <a:srgbClr val="B8D2EB">
                  <a:alpha val="33000"/>
                </a:srgbClr>
              </a:solidFill>
            </a:ln>
          </p:spPr>
        </p:sp>
        <p:sp>
          <p:nvSpPr>
            <p:cNvPr id="1197" name="asset_3169_7">
              <a:extLst>
                <a:ext uri="{FF2B5EF4-FFF2-40B4-BE49-F238E27FC236}">
                  <a16:creationId xmlns:a16="http://schemas.microsoft.com/office/drawing/2014/main" id="{98982A79-66E8-8186-5738-B9C8C265AD1D}"/>
                </a:ext>
              </a:extLst>
            </p:cNvPr>
            <p:cNvSpPr>
              <a:spLocks noGrp="1"/>
            </p:cNvSpPr>
            <p:nvPr/>
          </p:nvSpPr>
          <p:spPr>
            <a:xfrm>
              <a:off x="2281542" y="5657778"/>
              <a:ext cx="4" cy="109062"/>
            </a:xfrm>
            <a:prstGeom prst="line">
              <a:avLst/>
            </a:prstGeom>
            <a:noFill/>
            <a:ln w="1980">
              <a:solidFill>
                <a:srgbClr val="B8D2EB">
                  <a:alpha val="33000"/>
                </a:srgbClr>
              </a:solidFill>
            </a:ln>
          </p:spPr>
        </p:sp>
        <p:sp>
          <p:nvSpPr>
            <p:cNvPr id="1198" name="asset_3169_8">
              <a:extLst>
                <a:ext uri="{FF2B5EF4-FFF2-40B4-BE49-F238E27FC236}">
                  <a16:creationId xmlns:a16="http://schemas.microsoft.com/office/drawing/2014/main" id="{E0CC02A3-C3BC-25F3-3ACA-F9C35A764379}"/>
                </a:ext>
              </a:extLst>
            </p:cNvPr>
            <p:cNvSpPr>
              <a:spLocks noGrp="1"/>
            </p:cNvSpPr>
            <p:nvPr/>
          </p:nvSpPr>
          <p:spPr>
            <a:xfrm>
              <a:off x="2187720" y="5739574"/>
              <a:ext cx="125096" cy="4"/>
            </a:xfrm>
            <a:prstGeom prst="line">
              <a:avLst/>
            </a:prstGeom>
            <a:noFill/>
            <a:ln w="1980">
              <a:solidFill>
                <a:srgbClr val="B8D2EB">
                  <a:alpha val="33000"/>
                </a:srgbClr>
              </a:solidFill>
            </a:ln>
          </p:spPr>
        </p:sp>
        <p:sp>
          <p:nvSpPr>
            <p:cNvPr id="1199" name="asset_3169_9">
              <a:extLst>
                <a:ext uri="{FF2B5EF4-FFF2-40B4-BE49-F238E27FC236}">
                  <a16:creationId xmlns:a16="http://schemas.microsoft.com/office/drawing/2014/main" id="{FB579D51-2029-2A4F-F28A-9FD8CEA9C42E}"/>
                </a:ext>
              </a:extLst>
            </p:cNvPr>
            <p:cNvSpPr>
              <a:spLocks noGrp="1"/>
            </p:cNvSpPr>
            <p:nvPr/>
          </p:nvSpPr>
          <p:spPr>
            <a:xfrm>
              <a:off x="2198791" y="5672574"/>
              <a:ext cx="58245" cy="50256"/>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1200" name="asset_3169_10">
              <a:extLst>
                <a:ext uri="{FF2B5EF4-FFF2-40B4-BE49-F238E27FC236}">
                  <a16:creationId xmlns:a16="http://schemas.microsoft.com/office/drawing/2014/main" id="{3E039EDB-C0A1-D2F0-7622-DAD7B4C1DF8A}"/>
                </a:ext>
              </a:extLst>
            </p:cNvPr>
            <p:cNvSpPr>
              <a:spLocks noGrp="1"/>
            </p:cNvSpPr>
            <p:nvPr/>
          </p:nvSpPr>
          <p:spPr>
            <a:xfrm>
              <a:off x="2225487" y="5687232"/>
              <a:ext cx="63099" cy="54444"/>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1201" name="asset_3169_11">
              <a:extLst>
                <a:ext uri="{FF2B5EF4-FFF2-40B4-BE49-F238E27FC236}">
                  <a16:creationId xmlns:a16="http://schemas.microsoft.com/office/drawing/2014/main" id="{041C4C2A-1F3E-B385-6EEF-4CF845DD72CB}"/>
                </a:ext>
              </a:extLst>
            </p:cNvPr>
            <p:cNvSpPr>
              <a:spLocks noGrp="1"/>
            </p:cNvSpPr>
            <p:nvPr/>
          </p:nvSpPr>
          <p:spPr>
            <a:xfrm>
              <a:off x="2248542" y="5660010"/>
              <a:ext cx="55818" cy="48162"/>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1202" name="asset_3169_12">
              <a:extLst>
                <a:ext uri="{FF2B5EF4-FFF2-40B4-BE49-F238E27FC236}">
                  <a16:creationId xmlns:a16="http://schemas.microsoft.com/office/drawing/2014/main" id="{B944B134-0C5C-EDB4-7E05-356300CE5CF2}"/>
                </a:ext>
              </a:extLst>
            </p:cNvPr>
            <p:cNvSpPr>
              <a:spLocks noGrp="1"/>
            </p:cNvSpPr>
            <p:nvPr/>
          </p:nvSpPr>
          <p:spPr>
            <a:xfrm>
              <a:off x="2223060" y="5652681"/>
              <a:ext cx="53391" cy="46068"/>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1203" name="asset_3169_13">
              <a:extLst>
                <a:ext uri="{FF2B5EF4-FFF2-40B4-BE49-F238E27FC236}">
                  <a16:creationId xmlns:a16="http://schemas.microsoft.com/office/drawing/2014/main" id="{E85DB2C4-CA0B-3BB5-4FE0-95E7A522EBC4}"/>
                </a:ext>
              </a:extLst>
            </p:cNvPr>
            <p:cNvSpPr>
              <a:spLocks noGrp="1"/>
            </p:cNvSpPr>
            <p:nvPr/>
          </p:nvSpPr>
          <p:spPr>
            <a:xfrm>
              <a:off x="2207281" y="5693871"/>
              <a:ext cx="30911" cy="266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4" name="asset_3169_14">
              <a:extLst>
                <a:ext uri="{FF2B5EF4-FFF2-40B4-BE49-F238E27FC236}">
                  <a16:creationId xmlns:a16="http://schemas.microsoft.com/office/drawing/2014/main" id="{7C1D8B1B-9067-04E4-D88D-BBCA8B15ED2D}"/>
                </a:ext>
              </a:extLst>
            </p:cNvPr>
            <p:cNvSpPr>
              <a:spLocks noGrp="1"/>
            </p:cNvSpPr>
            <p:nvPr/>
          </p:nvSpPr>
          <p:spPr>
            <a:xfrm>
              <a:off x="2253557" y="5697302"/>
              <a:ext cx="21556" cy="1860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5" name="asset_3169_15">
              <a:extLst>
                <a:ext uri="{FF2B5EF4-FFF2-40B4-BE49-F238E27FC236}">
                  <a16:creationId xmlns:a16="http://schemas.microsoft.com/office/drawing/2014/main" id="{5098931E-3497-BF84-30B9-8890AE9B2B81}"/>
                </a:ext>
              </a:extLst>
            </p:cNvPr>
            <p:cNvSpPr>
              <a:spLocks noGrp="1"/>
            </p:cNvSpPr>
            <p:nvPr/>
          </p:nvSpPr>
          <p:spPr>
            <a:xfrm>
              <a:off x="2278359" y="5672317"/>
              <a:ext cx="20931" cy="1806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6" name="asset_3169_16">
              <a:extLst>
                <a:ext uri="{FF2B5EF4-FFF2-40B4-BE49-F238E27FC236}">
                  <a16:creationId xmlns:a16="http://schemas.microsoft.com/office/drawing/2014/main" id="{9618D3B1-BB38-1D27-4208-D7DDBBCB03CB}"/>
                </a:ext>
              </a:extLst>
            </p:cNvPr>
            <p:cNvSpPr>
              <a:spLocks noGrp="1"/>
            </p:cNvSpPr>
            <p:nvPr/>
          </p:nvSpPr>
          <p:spPr>
            <a:xfrm>
              <a:off x="2235959" y="5649092"/>
              <a:ext cx="26179" cy="2258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7" name="asset_3169_17">
              <a:extLst>
                <a:ext uri="{FF2B5EF4-FFF2-40B4-BE49-F238E27FC236}">
                  <a16:creationId xmlns:a16="http://schemas.microsoft.com/office/drawing/2014/main" id="{719B8D8D-7D22-E395-EB7A-A30A5FC026F9}"/>
                </a:ext>
              </a:extLst>
            </p:cNvPr>
            <p:cNvSpPr>
              <a:spLocks noGrp="1"/>
            </p:cNvSpPr>
            <p:nvPr/>
          </p:nvSpPr>
          <p:spPr>
            <a:xfrm>
              <a:off x="2230057" y="5690206"/>
              <a:ext cx="17158" cy="1480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8" name="asset_3169_18">
              <a:extLst>
                <a:ext uri="{FF2B5EF4-FFF2-40B4-BE49-F238E27FC236}">
                  <a16:creationId xmlns:a16="http://schemas.microsoft.com/office/drawing/2014/main" id="{D90FE229-4700-A9A0-716D-42D3E47B5659}"/>
                </a:ext>
              </a:extLst>
            </p:cNvPr>
            <p:cNvSpPr>
              <a:spLocks noGrp="1"/>
            </p:cNvSpPr>
            <p:nvPr/>
          </p:nvSpPr>
          <p:spPr>
            <a:xfrm>
              <a:off x="2228799" y="5700798"/>
              <a:ext cx="17470" cy="1507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9" name="asset_3169_19">
              <a:extLst>
                <a:ext uri="{FF2B5EF4-FFF2-40B4-BE49-F238E27FC236}">
                  <a16:creationId xmlns:a16="http://schemas.microsoft.com/office/drawing/2014/main" id="{784D2088-B332-78C8-D599-5C842A0D4A05}"/>
                </a:ext>
              </a:extLst>
            </p:cNvPr>
            <p:cNvSpPr>
              <a:spLocks noGrp="1"/>
            </p:cNvSpPr>
            <p:nvPr/>
          </p:nvSpPr>
          <p:spPr>
            <a:xfrm>
              <a:off x="2264745" y="5672793"/>
              <a:ext cx="22335" cy="1927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0" name="asset_3169_20">
              <a:extLst>
                <a:ext uri="{FF2B5EF4-FFF2-40B4-BE49-F238E27FC236}">
                  <a16:creationId xmlns:a16="http://schemas.microsoft.com/office/drawing/2014/main" id="{7C0132AE-C614-5D01-CE24-74B5E2E20C19}"/>
                </a:ext>
              </a:extLst>
            </p:cNvPr>
            <p:cNvSpPr>
              <a:spLocks noGrp="1"/>
            </p:cNvSpPr>
            <p:nvPr/>
          </p:nvSpPr>
          <p:spPr>
            <a:xfrm>
              <a:off x="2247802" y="5671816"/>
              <a:ext cx="29288" cy="252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1" name="asset_3169_21">
              <a:extLst>
                <a:ext uri="{FF2B5EF4-FFF2-40B4-BE49-F238E27FC236}">
                  <a16:creationId xmlns:a16="http://schemas.microsoft.com/office/drawing/2014/main" id="{02F32F87-5D6A-6C94-A7F6-4A91C761BE2C}"/>
                </a:ext>
              </a:extLst>
            </p:cNvPr>
            <p:cNvSpPr>
              <a:spLocks noGrp="1"/>
            </p:cNvSpPr>
            <p:nvPr/>
          </p:nvSpPr>
          <p:spPr>
            <a:xfrm>
              <a:off x="2221472" y="5673188"/>
              <a:ext cx="24803" cy="2140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2" name="asset_3169_22">
              <a:extLst>
                <a:ext uri="{FF2B5EF4-FFF2-40B4-BE49-F238E27FC236}">
                  <a16:creationId xmlns:a16="http://schemas.microsoft.com/office/drawing/2014/main" id="{6EE9ABF2-2C40-B5F6-1940-1775C9FA19E7}"/>
                </a:ext>
              </a:extLst>
            </p:cNvPr>
            <p:cNvSpPr>
              <a:spLocks noGrp="1"/>
            </p:cNvSpPr>
            <p:nvPr/>
          </p:nvSpPr>
          <p:spPr>
            <a:xfrm>
              <a:off x="2231057" y="5701581"/>
              <a:ext cx="27548" cy="237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3" name="asset_3169_23">
              <a:extLst>
                <a:ext uri="{FF2B5EF4-FFF2-40B4-BE49-F238E27FC236}">
                  <a16:creationId xmlns:a16="http://schemas.microsoft.com/office/drawing/2014/main" id="{CF1C2D1C-D69A-6A2D-6E8B-E01FB0B07D7A}"/>
                </a:ext>
              </a:extLst>
            </p:cNvPr>
            <p:cNvSpPr>
              <a:spLocks noGrp="1"/>
            </p:cNvSpPr>
            <p:nvPr/>
          </p:nvSpPr>
          <p:spPr>
            <a:xfrm>
              <a:off x="2264932" y="5667506"/>
              <a:ext cx="28421" cy="2452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4" name="asset_3169_24">
              <a:extLst>
                <a:ext uri="{FF2B5EF4-FFF2-40B4-BE49-F238E27FC236}">
                  <a16:creationId xmlns:a16="http://schemas.microsoft.com/office/drawing/2014/main" id="{673FA697-764F-FA65-943A-B0B04E886AA9}"/>
                </a:ext>
              </a:extLst>
            </p:cNvPr>
            <p:cNvSpPr>
              <a:spLocks noGrp="1"/>
            </p:cNvSpPr>
            <p:nvPr/>
          </p:nvSpPr>
          <p:spPr>
            <a:xfrm>
              <a:off x="2231286" y="5661727"/>
              <a:ext cx="25293" cy="218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5" name="asset_3169_25">
              <a:extLst>
                <a:ext uri="{FF2B5EF4-FFF2-40B4-BE49-F238E27FC236}">
                  <a16:creationId xmlns:a16="http://schemas.microsoft.com/office/drawing/2014/main" id="{5BFF00E4-D1C5-B041-B844-EA0112D38958}"/>
                </a:ext>
              </a:extLst>
            </p:cNvPr>
            <p:cNvSpPr>
              <a:spLocks noGrp="1"/>
            </p:cNvSpPr>
            <p:nvPr/>
          </p:nvSpPr>
          <p:spPr>
            <a:xfrm>
              <a:off x="2203520" y="5678934"/>
              <a:ext cx="26056" cy="2248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6" name="asset_3169_26">
              <a:extLst>
                <a:ext uri="{FF2B5EF4-FFF2-40B4-BE49-F238E27FC236}">
                  <a16:creationId xmlns:a16="http://schemas.microsoft.com/office/drawing/2014/main" id="{7F998603-B998-4B63-186F-B9B3006B1515}"/>
                </a:ext>
              </a:extLst>
            </p:cNvPr>
            <p:cNvSpPr>
              <a:spLocks noGrp="1"/>
            </p:cNvSpPr>
            <p:nvPr/>
          </p:nvSpPr>
          <p:spPr>
            <a:xfrm>
              <a:off x="2258761" y="5717055"/>
              <a:ext cx="20939" cy="1806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7" name="asset_3169_27">
              <a:extLst>
                <a:ext uri="{FF2B5EF4-FFF2-40B4-BE49-F238E27FC236}">
                  <a16:creationId xmlns:a16="http://schemas.microsoft.com/office/drawing/2014/main" id="{C16C5EE0-2590-6EDE-7060-6FEB5C29567C}"/>
                </a:ext>
              </a:extLst>
            </p:cNvPr>
            <p:cNvSpPr>
              <a:spLocks noGrp="1"/>
            </p:cNvSpPr>
            <p:nvPr/>
          </p:nvSpPr>
          <p:spPr>
            <a:xfrm>
              <a:off x="2262469" y="5681666"/>
              <a:ext cx="24125" cy="2081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8" name="asset_3169_28">
              <a:extLst>
                <a:ext uri="{FF2B5EF4-FFF2-40B4-BE49-F238E27FC236}">
                  <a16:creationId xmlns:a16="http://schemas.microsoft.com/office/drawing/2014/main" id="{D17D31A9-6859-682D-4432-49EED6892A5B}"/>
                </a:ext>
              </a:extLst>
            </p:cNvPr>
            <p:cNvSpPr>
              <a:spLocks noGrp="1"/>
            </p:cNvSpPr>
            <p:nvPr/>
          </p:nvSpPr>
          <p:spPr>
            <a:xfrm>
              <a:off x="2238082" y="5671347"/>
              <a:ext cx="27389" cy="2363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9" name="asset_3169_29">
              <a:extLst>
                <a:ext uri="{FF2B5EF4-FFF2-40B4-BE49-F238E27FC236}">
                  <a16:creationId xmlns:a16="http://schemas.microsoft.com/office/drawing/2014/main" id="{1ECC54AA-79B9-EDB8-EFBF-519A1F7E46B5}"/>
                </a:ext>
              </a:extLst>
            </p:cNvPr>
            <p:cNvSpPr>
              <a:spLocks noGrp="1"/>
            </p:cNvSpPr>
            <p:nvPr/>
          </p:nvSpPr>
          <p:spPr>
            <a:xfrm>
              <a:off x="2220795" y="5698579"/>
              <a:ext cx="25648" cy="2213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0" name="asset_3169_30">
              <a:extLst>
                <a:ext uri="{FF2B5EF4-FFF2-40B4-BE49-F238E27FC236}">
                  <a16:creationId xmlns:a16="http://schemas.microsoft.com/office/drawing/2014/main" id="{CDC88B96-6D61-535A-FDF3-6F5B19766313}"/>
                </a:ext>
              </a:extLst>
            </p:cNvPr>
            <p:cNvSpPr>
              <a:spLocks noGrp="1"/>
            </p:cNvSpPr>
            <p:nvPr/>
          </p:nvSpPr>
          <p:spPr>
            <a:xfrm>
              <a:off x="2243067" y="5723084"/>
              <a:ext cx="17688" cy="1526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1" name="asset_3169_31">
              <a:extLst>
                <a:ext uri="{FF2B5EF4-FFF2-40B4-BE49-F238E27FC236}">
                  <a16:creationId xmlns:a16="http://schemas.microsoft.com/office/drawing/2014/main" id="{A5A85E04-6EB6-EE3B-B74A-2FFE4D412899}"/>
                </a:ext>
              </a:extLst>
            </p:cNvPr>
            <p:cNvSpPr>
              <a:spLocks noGrp="1"/>
            </p:cNvSpPr>
            <p:nvPr/>
          </p:nvSpPr>
          <p:spPr>
            <a:xfrm>
              <a:off x="2257337" y="5659622"/>
              <a:ext cx="26336" cy="227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2" name="asset_3169_32">
              <a:extLst>
                <a:ext uri="{FF2B5EF4-FFF2-40B4-BE49-F238E27FC236}">
                  <a16:creationId xmlns:a16="http://schemas.microsoft.com/office/drawing/2014/main" id="{A3AA1487-88AF-6B87-467A-DBBA1B5879E8}"/>
                </a:ext>
              </a:extLst>
            </p:cNvPr>
            <p:cNvSpPr>
              <a:spLocks noGrp="1"/>
            </p:cNvSpPr>
            <p:nvPr/>
          </p:nvSpPr>
          <p:spPr>
            <a:xfrm>
              <a:off x="2256492" y="5666095"/>
              <a:ext cx="23460" cy="2024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3" name="asset_3169_33">
              <a:extLst>
                <a:ext uri="{FF2B5EF4-FFF2-40B4-BE49-F238E27FC236}">
                  <a16:creationId xmlns:a16="http://schemas.microsoft.com/office/drawing/2014/main" id="{126D8AAC-D550-6A76-7801-445CFF246FB7}"/>
                </a:ext>
              </a:extLst>
            </p:cNvPr>
            <p:cNvSpPr>
              <a:spLocks noGrp="1"/>
            </p:cNvSpPr>
            <p:nvPr/>
          </p:nvSpPr>
          <p:spPr>
            <a:xfrm>
              <a:off x="2210503" y="5688799"/>
              <a:ext cx="30840" cy="266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4" name="asset_3169_34">
              <a:extLst>
                <a:ext uri="{FF2B5EF4-FFF2-40B4-BE49-F238E27FC236}">
                  <a16:creationId xmlns:a16="http://schemas.microsoft.com/office/drawing/2014/main" id="{6A4075E0-3906-50B3-9BCC-35B69C4DD9E9}"/>
                </a:ext>
              </a:extLst>
            </p:cNvPr>
            <p:cNvSpPr>
              <a:spLocks noGrp="1"/>
            </p:cNvSpPr>
            <p:nvPr/>
          </p:nvSpPr>
          <p:spPr>
            <a:xfrm>
              <a:off x="2236186" y="5705144"/>
              <a:ext cx="22611" cy="195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5" name="asset_3169_35">
              <a:extLst>
                <a:ext uri="{FF2B5EF4-FFF2-40B4-BE49-F238E27FC236}">
                  <a16:creationId xmlns:a16="http://schemas.microsoft.com/office/drawing/2014/main" id="{6C28BDF3-9DEF-239E-4C81-1C35D6FB68F3}"/>
                </a:ext>
              </a:extLst>
            </p:cNvPr>
            <p:cNvSpPr>
              <a:spLocks noGrp="1"/>
            </p:cNvSpPr>
            <p:nvPr/>
          </p:nvSpPr>
          <p:spPr>
            <a:xfrm>
              <a:off x="2260671" y="5685042"/>
              <a:ext cx="19267" cy="166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6" name="asset_3169_36">
              <a:extLst>
                <a:ext uri="{FF2B5EF4-FFF2-40B4-BE49-F238E27FC236}">
                  <a16:creationId xmlns:a16="http://schemas.microsoft.com/office/drawing/2014/main" id="{BCB28D41-0A15-B122-0B90-72ED412EE024}"/>
                </a:ext>
              </a:extLst>
            </p:cNvPr>
            <p:cNvSpPr>
              <a:spLocks noGrp="1"/>
            </p:cNvSpPr>
            <p:nvPr/>
          </p:nvSpPr>
          <p:spPr>
            <a:xfrm>
              <a:off x="2255827" y="5658297"/>
              <a:ext cx="24486" cy="2112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7" name="asset_3169_37">
              <a:extLst>
                <a:ext uri="{FF2B5EF4-FFF2-40B4-BE49-F238E27FC236}">
                  <a16:creationId xmlns:a16="http://schemas.microsoft.com/office/drawing/2014/main" id="{C7E8379B-ACDE-5BD9-361A-DE4ABFF8B41A}"/>
                </a:ext>
              </a:extLst>
            </p:cNvPr>
            <p:cNvSpPr>
              <a:spLocks noGrp="1"/>
            </p:cNvSpPr>
            <p:nvPr/>
          </p:nvSpPr>
          <p:spPr>
            <a:xfrm>
              <a:off x="2212444" y="5679829"/>
              <a:ext cx="19456" cy="1678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8" name="asset_3169_38">
              <a:extLst>
                <a:ext uri="{FF2B5EF4-FFF2-40B4-BE49-F238E27FC236}">
                  <a16:creationId xmlns:a16="http://schemas.microsoft.com/office/drawing/2014/main" id="{ECFFEA72-8626-56BD-8B3E-3037CF1AF8E8}"/>
                </a:ext>
              </a:extLst>
            </p:cNvPr>
            <p:cNvSpPr>
              <a:spLocks noGrp="1"/>
            </p:cNvSpPr>
            <p:nvPr/>
          </p:nvSpPr>
          <p:spPr>
            <a:xfrm>
              <a:off x="2240936" y="5686210"/>
              <a:ext cx="21405" cy="184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9" name="asset_3169_39">
              <a:extLst>
                <a:ext uri="{FF2B5EF4-FFF2-40B4-BE49-F238E27FC236}">
                  <a16:creationId xmlns:a16="http://schemas.microsoft.com/office/drawing/2014/main" id="{BFCAF518-99F3-0A2C-AB70-DFC4C8589A44}"/>
                </a:ext>
              </a:extLst>
            </p:cNvPr>
            <p:cNvSpPr>
              <a:spLocks noGrp="1"/>
            </p:cNvSpPr>
            <p:nvPr/>
          </p:nvSpPr>
          <p:spPr>
            <a:xfrm>
              <a:off x="2265093" y="5678881"/>
              <a:ext cx="26532" cy="2289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0" name="asset_3169_40">
              <a:extLst>
                <a:ext uri="{FF2B5EF4-FFF2-40B4-BE49-F238E27FC236}">
                  <a16:creationId xmlns:a16="http://schemas.microsoft.com/office/drawing/2014/main" id="{9BF9FDFE-C42C-53CD-A061-7F45E2EE8D15}"/>
                </a:ext>
              </a:extLst>
            </p:cNvPr>
            <p:cNvSpPr>
              <a:spLocks noGrp="1"/>
            </p:cNvSpPr>
            <p:nvPr/>
          </p:nvSpPr>
          <p:spPr>
            <a:xfrm>
              <a:off x="2229701" y="5665168"/>
              <a:ext cx="29465" cy="254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1" name="asset_3169_41">
              <a:extLst>
                <a:ext uri="{FF2B5EF4-FFF2-40B4-BE49-F238E27FC236}">
                  <a16:creationId xmlns:a16="http://schemas.microsoft.com/office/drawing/2014/main" id="{2682615C-84A0-1CD6-C8C0-03464596EB1F}"/>
                </a:ext>
              </a:extLst>
            </p:cNvPr>
            <p:cNvSpPr>
              <a:spLocks noGrp="1"/>
            </p:cNvSpPr>
            <p:nvPr/>
          </p:nvSpPr>
          <p:spPr>
            <a:xfrm>
              <a:off x="2222658" y="5680582"/>
              <a:ext cx="27660" cy="2386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2" name="asset_3169_42">
              <a:extLst>
                <a:ext uri="{FF2B5EF4-FFF2-40B4-BE49-F238E27FC236}">
                  <a16:creationId xmlns:a16="http://schemas.microsoft.com/office/drawing/2014/main" id="{631DB92D-913E-B01B-9AEB-960224667825}"/>
                </a:ext>
              </a:extLst>
            </p:cNvPr>
            <p:cNvSpPr>
              <a:spLocks noGrp="1"/>
            </p:cNvSpPr>
            <p:nvPr/>
          </p:nvSpPr>
          <p:spPr>
            <a:xfrm>
              <a:off x="2243804" y="5697201"/>
              <a:ext cx="17846" cy="1539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3" name="asset_3169_43">
              <a:extLst>
                <a:ext uri="{FF2B5EF4-FFF2-40B4-BE49-F238E27FC236}">
                  <a16:creationId xmlns:a16="http://schemas.microsoft.com/office/drawing/2014/main" id="{15790B56-0B8D-756D-0DCC-AB75E3B6FD11}"/>
                </a:ext>
              </a:extLst>
            </p:cNvPr>
            <p:cNvSpPr>
              <a:spLocks noGrp="1"/>
            </p:cNvSpPr>
            <p:nvPr/>
          </p:nvSpPr>
          <p:spPr>
            <a:xfrm>
              <a:off x="2262800" y="5690235"/>
              <a:ext cx="21180" cy="1827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4" name="asset_3169_44">
              <a:extLst>
                <a:ext uri="{FF2B5EF4-FFF2-40B4-BE49-F238E27FC236}">
                  <a16:creationId xmlns:a16="http://schemas.microsoft.com/office/drawing/2014/main" id="{1631C88D-1EB9-D6F4-95AF-DCCB642F9F92}"/>
                </a:ext>
              </a:extLst>
            </p:cNvPr>
            <p:cNvSpPr>
              <a:spLocks noGrp="1"/>
            </p:cNvSpPr>
            <p:nvPr/>
          </p:nvSpPr>
          <p:spPr>
            <a:xfrm>
              <a:off x="2235058" y="5658630"/>
              <a:ext cx="25840" cy="2229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5" name="asset_3169_45">
              <a:extLst>
                <a:ext uri="{FF2B5EF4-FFF2-40B4-BE49-F238E27FC236}">
                  <a16:creationId xmlns:a16="http://schemas.microsoft.com/office/drawing/2014/main" id="{FE9273CF-E566-6F37-1587-2BBB9D1E170A}"/>
                </a:ext>
              </a:extLst>
            </p:cNvPr>
            <p:cNvSpPr>
              <a:spLocks noGrp="1"/>
            </p:cNvSpPr>
            <p:nvPr/>
          </p:nvSpPr>
          <p:spPr>
            <a:xfrm>
              <a:off x="2211228" y="5681493"/>
              <a:ext cx="31451" cy="2713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6" name="asset_3169_46">
              <a:extLst>
                <a:ext uri="{FF2B5EF4-FFF2-40B4-BE49-F238E27FC236}">
                  <a16:creationId xmlns:a16="http://schemas.microsoft.com/office/drawing/2014/main" id="{EE131202-AC5D-2E28-6AED-B98076EEFF5A}"/>
                </a:ext>
              </a:extLst>
            </p:cNvPr>
            <p:cNvSpPr>
              <a:spLocks noGrp="1"/>
            </p:cNvSpPr>
            <p:nvPr/>
          </p:nvSpPr>
          <p:spPr>
            <a:xfrm>
              <a:off x="2234524" y="5703451"/>
              <a:ext cx="21739" cy="1875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7" name="asset_3169_47">
              <a:extLst>
                <a:ext uri="{FF2B5EF4-FFF2-40B4-BE49-F238E27FC236}">
                  <a16:creationId xmlns:a16="http://schemas.microsoft.com/office/drawing/2014/main" id="{4C792408-71CE-6A7F-0B63-11CAA43A6679}"/>
                </a:ext>
              </a:extLst>
            </p:cNvPr>
            <p:cNvSpPr>
              <a:spLocks noGrp="1"/>
            </p:cNvSpPr>
            <p:nvPr/>
          </p:nvSpPr>
          <p:spPr>
            <a:xfrm>
              <a:off x="2269639" y="5693556"/>
              <a:ext cx="19299" cy="1665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8" name="asset_3169_48">
              <a:extLst>
                <a:ext uri="{FF2B5EF4-FFF2-40B4-BE49-F238E27FC236}">
                  <a16:creationId xmlns:a16="http://schemas.microsoft.com/office/drawing/2014/main" id="{8ED39DF3-C54D-C189-3815-4C683D281321}"/>
                </a:ext>
              </a:extLst>
            </p:cNvPr>
            <p:cNvSpPr>
              <a:spLocks noGrp="1"/>
            </p:cNvSpPr>
            <p:nvPr/>
          </p:nvSpPr>
          <p:spPr>
            <a:xfrm>
              <a:off x="2221813" y="5667367"/>
              <a:ext cx="17021" cy="1468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9" name="asset_3169_49">
              <a:extLst>
                <a:ext uri="{FF2B5EF4-FFF2-40B4-BE49-F238E27FC236}">
                  <a16:creationId xmlns:a16="http://schemas.microsoft.com/office/drawing/2014/main" id="{BD482086-500D-6E6D-896E-088B7D13BF76}"/>
                </a:ext>
              </a:extLst>
            </p:cNvPr>
            <p:cNvSpPr>
              <a:spLocks noGrp="1"/>
            </p:cNvSpPr>
            <p:nvPr/>
          </p:nvSpPr>
          <p:spPr>
            <a:xfrm>
              <a:off x="2208530" y="5668919"/>
              <a:ext cx="27524" cy="2374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40" name="asset_3169_50">
              <a:extLst>
                <a:ext uri="{FF2B5EF4-FFF2-40B4-BE49-F238E27FC236}">
                  <a16:creationId xmlns:a16="http://schemas.microsoft.com/office/drawing/2014/main" id="{D0E7FAF9-1563-DE48-E748-9126946B5C8E}"/>
                </a:ext>
              </a:extLst>
            </p:cNvPr>
            <p:cNvSpPr>
              <a:spLocks noGrp="1"/>
            </p:cNvSpPr>
            <p:nvPr/>
          </p:nvSpPr>
          <p:spPr>
            <a:xfrm>
              <a:off x="2251433" y="5689815"/>
              <a:ext cx="17431" cy="1504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41" name="asset_3169_51">
              <a:extLst>
                <a:ext uri="{FF2B5EF4-FFF2-40B4-BE49-F238E27FC236}">
                  <a16:creationId xmlns:a16="http://schemas.microsoft.com/office/drawing/2014/main" id="{E48EE981-48B8-EA3F-9CB0-F29B28DF82E7}"/>
                </a:ext>
              </a:extLst>
            </p:cNvPr>
            <p:cNvSpPr>
              <a:spLocks noGrp="1"/>
            </p:cNvSpPr>
            <p:nvPr/>
          </p:nvSpPr>
          <p:spPr>
            <a:xfrm>
              <a:off x="2187720" y="5657778"/>
              <a:ext cx="125096" cy="109062"/>
            </a:xfrm>
            <a:custGeom>
              <a:avLst/>
              <a:gdLst/>
              <a:ahLst/>
              <a:cxnLst/>
              <a:rect l="0" t="0" r="0" b="0"/>
              <a:pathLst>
                <a:path w="125096" h="109062">
                  <a:moveTo>
                    <a:pt x="0" y="0"/>
                  </a:moveTo>
                  <a:lnTo>
                    <a:pt x="125096" y="0"/>
                  </a:lnTo>
                  <a:lnTo>
                    <a:pt x="125096" y="109062"/>
                  </a:lnTo>
                  <a:lnTo>
                    <a:pt x="0" y="109062"/>
                  </a:lnTo>
                  <a:close/>
                </a:path>
              </a:pathLst>
            </a:custGeom>
            <a:noFill/>
            <a:ln w="3600">
              <a:solidFill>
                <a:srgbClr val="8AB3D9"/>
              </a:solidFill>
            </a:ln>
          </p:spPr>
        </p:sp>
      </p:grpSp>
      <p:sp>
        <p:nvSpPr>
          <p:cNvPr id="1242" name="TextBox 12306">
            <a:extLst>
              <a:ext uri="{FF2B5EF4-FFF2-40B4-BE49-F238E27FC236}">
                <a16:creationId xmlns:a16="http://schemas.microsoft.com/office/drawing/2014/main" id="{18584D7C-FABD-E9F6-72C1-951301DDEDAD}"/>
              </a:ext>
            </a:extLst>
          </p:cNvPr>
          <p:cNvSpPr txBox="1"/>
          <p:nvPr/>
        </p:nvSpPr>
        <p:spPr>
          <a:xfrm>
            <a:off x="5270490" y="2150246"/>
            <a:ext cx="819150" cy="93744"/>
          </a:xfrm>
          <a:prstGeom prst="rect">
            <a:avLst/>
          </a:prstGeom>
          <a:noFill/>
        </p:spPr>
        <p:txBody>
          <a:bodyPr wrap="square" lIns="0" tIns="0" rIns="0" bIns="0" anchor="ctr">
            <a:spAutoFit/>
          </a:bodyPr>
          <a:lstStyle/>
          <a:p>
            <a:pPr algn="l">
              <a:lnSpc>
                <a:spcPct val="105000"/>
              </a:lnSpc>
            </a:pPr>
            <a:r>
              <a:rPr sz="623" b="1" dirty="0" err="1">
                <a:solidFill>
                  <a:srgbClr val="263442"/>
                </a:solidFill>
                <a:latin typeface="Arial"/>
              </a:rPr>
              <a:t>DG-PocketXMol</a:t>
            </a:r>
            <a:endParaRPr sz="623" b="1" dirty="0">
              <a:solidFill>
                <a:srgbClr val="263442"/>
              </a:solidFill>
              <a:latin typeface="Arial"/>
            </a:endParaRPr>
          </a:p>
        </p:txBody>
      </p:sp>
      <p:sp>
        <p:nvSpPr>
          <p:cNvPr id="1243" name="TextBox 12307">
            <a:extLst>
              <a:ext uri="{FF2B5EF4-FFF2-40B4-BE49-F238E27FC236}">
                <a16:creationId xmlns:a16="http://schemas.microsoft.com/office/drawing/2014/main" id="{08906595-0DA8-95EC-8632-3FEAE784B9F6}"/>
              </a:ext>
            </a:extLst>
          </p:cNvPr>
          <p:cNvSpPr txBox="1"/>
          <p:nvPr/>
        </p:nvSpPr>
        <p:spPr>
          <a:xfrm>
            <a:off x="5270983" y="2305119"/>
            <a:ext cx="819150" cy="163763"/>
          </a:xfrm>
          <a:prstGeom prst="rect">
            <a:avLst/>
          </a:prstGeom>
          <a:noFill/>
        </p:spPr>
        <p:txBody>
          <a:bodyPr wrap="square" lIns="0" tIns="0" rIns="0" bIns="0" anchor="ctr">
            <a:spAutoFit/>
          </a:bodyPr>
          <a:lstStyle/>
          <a:p>
            <a:pPr algn="l">
              <a:lnSpc>
                <a:spcPct val="96000"/>
              </a:lnSpc>
            </a:pPr>
            <a:r>
              <a:rPr sz="554" dirty="0">
                <a:solidFill>
                  <a:srgbClr val="263442"/>
                </a:solidFill>
                <a:latin typeface="Arial"/>
              </a:rPr>
              <a:t>Density-conditioned</a:t>
            </a:r>
            <a:endParaRPr lang="en-US" sz="554" dirty="0">
              <a:solidFill>
                <a:srgbClr val="263442"/>
              </a:solidFill>
              <a:latin typeface="Arial"/>
            </a:endParaRPr>
          </a:p>
          <a:p>
            <a:pPr algn="l">
              <a:lnSpc>
                <a:spcPct val="96000"/>
              </a:lnSpc>
            </a:pPr>
            <a:r>
              <a:rPr sz="554" dirty="0">
                <a:solidFill>
                  <a:srgbClr val="263442"/>
                </a:solidFill>
                <a:latin typeface="Arial"/>
              </a:rPr>
              <a:t>fine-tuning</a:t>
            </a:r>
          </a:p>
        </p:txBody>
      </p:sp>
      <p:sp>
        <p:nvSpPr>
          <p:cNvPr id="1484" name="V8 Build site and identity frame">
            <a:extLst>
              <a:ext uri="{FF2B5EF4-FFF2-40B4-BE49-F238E27FC236}">
                <a16:creationId xmlns:a16="http://schemas.microsoft.com/office/drawing/2014/main" id="{9328B906-0B87-B09E-FB06-A9A62F2CE298}"/>
              </a:ext>
            </a:extLst>
          </p:cNvPr>
          <p:cNvSpPr/>
          <p:nvPr/>
        </p:nvSpPr>
        <p:spPr>
          <a:xfrm>
            <a:off x="4996634" y="457662"/>
            <a:ext cx="519754" cy="1228090"/>
          </a:xfrm>
          <a:prstGeom prst="roundRect">
            <a:avLst>
              <a:gd name="adj" fmla="val 5556"/>
            </a:avLst>
          </a:prstGeom>
          <a:noFill/>
          <a:ln w="6985" cap="rnd">
            <a:solidFill>
              <a:srgbClr val="D5CCB8"/>
            </a:solidFill>
            <a:prstDash val="dash"/>
            <a:round/>
          </a:ln>
        </p:spPr>
      </p:sp>
      <p:sp>
        <p:nvSpPr>
          <p:cNvPr id="1485" name="V8 Build pocket and density frame">
            <a:extLst>
              <a:ext uri="{FF2B5EF4-FFF2-40B4-BE49-F238E27FC236}">
                <a16:creationId xmlns:a16="http://schemas.microsoft.com/office/drawing/2014/main" id="{1B6C4D97-E5BD-5494-DBFC-E1D9BAB5B434}"/>
              </a:ext>
            </a:extLst>
          </p:cNvPr>
          <p:cNvSpPr/>
          <p:nvPr/>
        </p:nvSpPr>
        <p:spPr>
          <a:xfrm>
            <a:off x="5564187" y="456353"/>
            <a:ext cx="527685" cy="1228090"/>
          </a:xfrm>
          <a:prstGeom prst="roundRect">
            <a:avLst>
              <a:gd name="adj" fmla="val 6477"/>
            </a:avLst>
          </a:prstGeom>
          <a:noFill/>
          <a:ln w="6985" cap="rnd">
            <a:solidFill>
              <a:srgbClr val="D5CCB8"/>
            </a:solidFill>
            <a:prstDash val="dash"/>
            <a:round/>
          </a:ln>
        </p:spPr>
      </p:sp>
      <p:sp>
        <p:nvSpPr>
          <p:cNvPr id="1486" name="V8 Build inputs to docking">
            <a:extLst>
              <a:ext uri="{FF2B5EF4-FFF2-40B4-BE49-F238E27FC236}">
                <a16:creationId xmlns:a16="http://schemas.microsoft.com/office/drawing/2014/main" id="{8E285AE8-5B25-317D-97AA-75401514E8A1}"/>
              </a:ext>
            </a:extLst>
          </p:cNvPr>
          <p:cNvSpPr/>
          <p:nvPr/>
        </p:nvSpPr>
        <p:spPr>
          <a:xfrm>
            <a:off x="5546090" y="1765305"/>
            <a:ext cx="1" cy="56229"/>
          </a:xfrm>
          <a:custGeom>
            <a:avLst/>
            <a:gdLst/>
            <a:ahLst/>
            <a:cxnLst/>
            <a:rect l="l" t="t" r="r" b="b"/>
            <a:pathLst>
              <a:path w="1" h="113379">
                <a:moveTo>
                  <a:pt x="0" y="0"/>
                </a:moveTo>
                <a:lnTo>
                  <a:pt x="0" y="113379"/>
                </a:lnTo>
              </a:path>
            </a:pathLst>
          </a:custGeom>
          <a:noFill/>
          <a:ln w="13208" cap="rnd">
            <a:solidFill>
              <a:srgbClr val="71808C"/>
            </a:solidFill>
            <a:prstDash val="solid"/>
            <a:round/>
          </a:ln>
        </p:spPr>
      </p:sp>
      <p:sp>
        <p:nvSpPr>
          <p:cNvPr id="1487" name="V8 Build inputs to docking head">
            <a:extLst>
              <a:ext uri="{FF2B5EF4-FFF2-40B4-BE49-F238E27FC236}">
                <a16:creationId xmlns:a16="http://schemas.microsoft.com/office/drawing/2014/main" id="{9813B73F-CCCD-EA9A-376F-456AB1E610B1}"/>
              </a:ext>
            </a:extLst>
          </p:cNvPr>
          <p:cNvSpPr/>
          <p:nvPr/>
        </p:nvSpPr>
        <p:spPr>
          <a:xfrm>
            <a:off x="5524182" y="1800230"/>
            <a:ext cx="43815" cy="38735"/>
          </a:xfrm>
          <a:custGeom>
            <a:avLst/>
            <a:gdLst/>
            <a:ahLst/>
            <a:cxnLst/>
            <a:rect l="l" t="t" r="r" b="b"/>
            <a:pathLst>
              <a:path w="43815" h="38735">
                <a:moveTo>
                  <a:pt x="21908" y="38735"/>
                </a:moveTo>
                <a:lnTo>
                  <a:pt x="43815" y="0"/>
                </a:lnTo>
                <a:lnTo>
                  <a:pt x="0" y="0"/>
                </a:lnTo>
                <a:close/>
              </a:path>
            </a:pathLst>
          </a:custGeom>
          <a:solidFill>
            <a:srgbClr val="71808C"/>
          </a:solidFill>
          <a:ln w="0" cap="rnd">
            <a:noFill/>
          </a:ln>
        </p:spPr>
      </p:sp>
      <p:sp>
        <p:nvSpPr>
          <p:cNvPr id="1488" name="V8 Build docking to pose">
            <a:extLst>
              <a:ext uri="{FF2B5EF4-FFF2-40B4-BE49-F238E27FC236}">
                <a16:creationId xmlns:a16="http://schemas.microsoft.com/office/drawing/2014/main" id="{07679385-E86D-06AF-3A36-FED40D7C95EE}"/>
              </a:ext>
            </a:extLst>
          </p:cNvPr>
          <p:cNvSpPr/>
          <p:nvPr/>
        </p:nvSpPr>
        <p:spPr>
          <a:xfrm>
            <a:off x="5546090" y="3237230"/>
            <a:ext cx="1" cy="113379"/>
          </a:xfrm>
          <a:custGeom>
            <a:avLst/>
            <a:gdLst/>
            <a:ahLst/>
            <a:cxnLst/>
            <a:rect l="l" t="t" r="r" b="b"/>
            <a:pathLst>
              <a:path w="1" h="113379">
                <a:moveTo>
                  <a:pt x="0" y="0"/>
                </a:moveTo>
                <a:lnTo>
                  <a:pt x="0" y="113379"/>
                </a:lnTo>
              </a:path>
            </a:pathLst>
          </a:custGeom>
          <a:noFill/>
          <a:ln w="13208" cap="rnd">
            <a:solidFill>
              <a:srgbClr val="71808C"/>
            </a:solidFill>
            <a:prstDash val="solid"/>
            <a:round/>
          </a:ln>
        </p:spPr>
      </p:sp>
      <p:sp>
        <p:nvSpPr>
          <p:cNvPr id="1489" name="V8 Build docking to pose head">
            <a:extLst>
              <a:ext uri="{FF2B5EF4-FFF2-40B4-BE49-F238E27FC236}">
                <a16:creationId xmlns:a16="http://schemas.microsoft.com/office/drawing/2014/main" id="{B881CA9B-A096-8E3F-9899-573DA90CDCB3}"/>
              </a:ext>
            </a:extLst>
          </p:cNvPr>
          <p:cNvSpPr/>
          <p:nvPr/>
        </p:nvSpPr>
        <p:spPr>
          <a:xfrm>
            <a:off x="5524182" y="3329305"/>
            <a:ext cx="43815" cy="38735"/>
          </a:xfrm>
          <a:custGeom>
            <a:avLst/>
            <a:gdLst/>
            <a:ahLst/>
            <a:cxnLst/>
            <a:rect l="l" t="t" r="r" b="b"/>
            <a:pathLst>
              <a:path w="43815" h="38735">
                <a:moveTo>
                  <a:pt x="21908" y="38735"/>
                </a:moveTo>
                <a:lnTo>
                  <a:pt x="43815" y="0"/>
                </a:lnTo>
                <a:lnTo>
                  <a:pt x="0" y="0"/>
                </a:lnTo>
                <a:close/>
              </a:path>
            </a:pathLst>
          </a:custGeom>
          <a:solidFill>
            <a:srgbClr val="71808C"/>
          </a:solidFill>
          <a:ln w="0" cap="rnd">
            <a:noFill/>
          </a:ln>
        </p:spPr>
      </p:sp>
      <p:grpSp>
        <p:nvGrpSpPr>
          <p:cNvPr id="22" name="Match | Blob contour">
            <a:extLst>
              <a:ext uri="{FF2B5EF4-FFF2-40B4-BE49-F238E27FC236}">
                <a16:creationId xmlns:a16="http://schemas.microsoft.com/office/drawing/2014/main" id="{89DCA6D5-3679-D415-5BE5-92A67333541D}"/>
              </a:ext>
            </a:extLst>
          </p:cNvPr>
          <p:cNvGrpSpPr/>
          <p:nvPr/>
        </p:nvGrpSpPr>
        <p:grpSpPr>
          <a:xfrm>
            <a:off x="5095498" y="565131"/>
            <a:ext cx="291608" cy="199265"/>
            <a:chOff x="1928706" y="3559489"/>
            <a:chExt cx="227897" cy="155682"/>
          </a:xfrm>
        </p:grpSpPr>
        <p:sp>
          <p:nvSpPr>
            <p:cNvPr id="24" name="Candidate blob | editable contour">
              <a:extLst>
                <a:ext uri="{FF2B5EF4-FFF2-40B4-BE49-F238E27FC236}">
                  <a16:creationId xmlns:a16="http://schemas.microsoft.com/office/drawing/2014/main" id="{CEDDC562-8935-F160-6BF6-FBDE4980A530}"/>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26" name="ellipse_2612">
              <a:extLst>
                <a:ext uri="{FF2B5EF4-FFF2-40B4-BE49-F238E27FC236}">
                  <a16:creationId xmlns:a16="http://schemas.microsoft.com/office/drawing/2014/main" id="{9A6165B9-D072-913F-4F98-07DF1CDFAD91}"/>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27" name="Oval 12178">
            <a:extLst>
              <a:ext uri="{FF2B5EF4-FFF2-40B4-BE49-F238E27FC236}">
                <a16:creationId xmlns:a16="http://schemas.microsoft.com/office/drawing/2014/main" id="{BDE1AB30-8167-E025-0D16-C21F1775FD9B}"/>
              </a:ext>
            </a:extLst>
          </p:cNvPr>
          <p:cNvSpPr/>
          <p:nvPr/>
        </p:nvSpPr>
        <p:spPr>
          <a:xfrm>
            <a:off x="5224292" y="648563"/>
            <a:ext cx="34426" cy="34426"/>
          </a:xfrm>
          <a:prstGeom prst="ellipse">
            <a:avLst/>
          </a:prstGeom>
          <a:solidFill>
            <a:srgbClr val="1D4ED8"/>
          </a:solidFill>
          <a:ln w="63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pic>
        <p:nvPicPr>
          <p:cNvPr id="50483" name="图片 50482">
            <a:extLst>
              <a:ext uri="{FF2B5EF4-FFF2-40B4-BE49-F238E27FC236}">
                <a16:creationId xmlns:a16="http://schemas.microsoft.com/office/drawing/2014/main" id="{990BCBFC-9DD9-25BB-4CA2-DDF352D8C2FA}"/>
              </a:ext>
            </a:extLst>
          </p:cNvPr>
          <p:cNvPicPr>
            <a:picLocks noChangeAspect="1"/>
          </p:cNvPicPr>
          <p:nvPr/>
        </p:nvPicPr>
        <p:blipFill>
          <a:blip r:embed="rId5"/>
          <a:stretch/>
        </p:blipFill>
        <p:spPr>
          <a:xfrm>
            <a:off x="5631445" y="485775"/>
            <a:ext cx="414760" cy="342900"/>
          </a:xfrm>
          <a:prstGeom prst="rect">
            <a:avLst/>
          </a:prstGeom>
        </p:spPr>
      </p:pic>
      <p:sp>
        <p:nvSpPr>
          <p:cNvPr id="50484" name="F2-Build-selected">
            <a:extLst>
              <a:ext uri="{FF2B5EF4-FFF2-40B4-BE49-F238E27FC236}">
                <a16:creationId xmlns:a16="http://schemas.microsoft.com/office/drawing/2014/main" id="{6A2264C7-4360-FCD2-C7A2-680D5A04551A}"/>
              </a:ext>
            </a:extLst>
          </p:cNvPr>
          <p:cNvSpPr>
            <a:spLocks noGrp="1"/>
          </p:cNvSpPr>
          <p:nvPr/>
        </p:nvSpPr>
        <p:spPr>
          <a:xfrm>
            <a:off x="5054601" y="1283549"/>
            <a:ext cx="390525" cy="81915"/>
          </a:xfrm>
          <a:prstGeom prst="roundRect">
            <a:avLst>
              <a:gd name="adj" fmla="val 50000"/>
            </a:avLst>
          </a:prstGeom>
          <a:solidFill>
            <a:srgbClr val="DCF8EB"/>
          </a:solidFill>
          <a:ln w="7144">
            <a:solidFill>
              <a:srgbClr val="499D86"/>
            </a:solidFill>
          </a:ln>
        </p:spPr>
      </p:sp>
      <p:sp>
        <p:nvSpPr>
          <p:cNvPr id="50485" name="F2-Build-SMILES-0">
            <a:extLst>
              <a:ext uri="{FF2B5EF4-FFF2-40B4-BE49-F238E27FC236}">
                <a16:creationId xmlns:a16="http://schemas.microsoft.com/office/drawing/2014/main" id="{4008C2B1-D1D4-0B7F-4728-77E5B8661720}"/>
              </a:ext>
            </a:extLst>
          </p:cNvPr>
          <p:cNvSpPr>
            <a:spLocks noGrp="1"/>
          </p:cNvSpPr>
          <p:nvPr/>
        </p:nvSpPr>
        <p:spPr>
          <a:xfrm>
            <a:off x="5101503" y="1136660"/>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lgn="l">
              <a:defRPr sz="540" b="0">
                <a:solidFill>
                  <a:srgbClr val="263442"/>
                </a:solidFill>
                <a:latin typeface="Arial"/>
                <a:ea typeface="Arial"/>
                <a:cs typeface="Arial"/>
              </a:defRPr>
            </a:pPr>
            <a:r>
              <a:rPr sz="480" b="0" dirty="0">
                <a:solidFill>
                  <a:srgbClr val="263442"/>
                </a:solidFill>
                <a:latin typeface="Arial"/>
                <a:ea typeface="Arial"/>
                <a:cs typeface="Arial"/>
              </a:rPr>
              <a:t>CCO</a:t>
            </a:r>
          </a:p>
        </p:txBody>
      </p:sp>
      <p:sp>
        <p:nvSpPr>
          <p:cNvPr id="50486" name="F2-Build-SMILES-7.8">
            <a:extLst>
              <a:ext uri="{FF2B5EF4-FFF2-40B4-BE49-F238E27FC236}">
                <a16:creationId xmlns:a16="http://schemas.microsoft.com/office/drawing/2014/main" id="{86B011E1-6EAB-6837-DA53-54E94AA085EC}"/>
              </a:ext>
            </a:extLst>
          </p:cNvPr>
          <p:cNvSpPr>
            <a:spLocks noGrp="1"/>
          </p:cNvSpPr>
          <p:nvPr/>
        </p:nvSpPr>
        <p:spPr>
          <a:xfrm>
            <a:off x="5101503" y="1199841"/>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CC(=O)O</a:t>
            </a:r>
          </a:p>
        </p:txBody>
      </p:sp>
      <p:sp>
        <p:nvSpPr>
          <p:cNvPr id="50487" name="F2-Build-continuation">
            <a:extLst>
              <a:ext uri="{FF2B5EF4-FFF2-40B4-BE49-F238E27FC236}">
                <a16:creationId xmlns:a16="http://schemas.microsoft.com/office/drawing/2014/main" id="{57445525-DCC1-B4E7-E3C5-43F5AED1AAB1}"/>
              </a:ext>
            </a:extLst>
          </p:cNvPr>
          <p:cNvSpPr>
            <a:spLocks noGrp="1"/>
          </p:cNvSpPr>
          <p:nvPr/>
        </p:nvSpPr>
        <p:spPr>
          <a:xfrm>
            <a:off x="5106267" y="1268735"/>
            <a:ext cx="6668" cy="6668"/>
          </a:xfrm>
          <a:prstGeom prst="ellipse">
            <a:avLst/>
          </a:prstGeom>
          <a:solidFill>
            <a:srgbClr val="687780"/>
          </a:solidFill>
          <a:ln w="0">
            <a:noFill/>
          </a:ln>
        </p:spPr>
      </p:sp>
      <p:sp>
        <p:nvSpPr>
          <p:cNvPr id="50488" name="F2-Build-continuation">
            <a:extLst>
              <a:ext uri="{FF2B5EF4-FFF2-40B4-BE49-F238E27FC236}">
                <a16:creationId xmlns:a16="http://schemas.microsoft.com/office/drawing/2014/main" id="{D8380CD8-B1B4-24DE-92C0-E1C222863213}"/>
              </a:ext>
            </a:extLst>
          </p:cNvPr>
          <p:cNvSpPr>
            <a:spLocks noGrp="1"/>
          </p:cNvSpPr>
          <p:nvPr/>
        </p:nvSpPr>
        <p:spPr>
          <a:xfrm>
            <a:off x="5119918" y="1268735"/>
            <a:ext cx="6668" cy="6668"/>
          </a:xfrm>
          <a:prstGeom prst="ellipse">
            <a:avLst/>
          </a:prstGeom>
          <a:solidFill>
            <a:srgbClr val="687780"/>
          </a:solidFill>
          <a:ln w="0">
            <a:noFill/>
          </a:ln>
        </p:spPr>
      </p:sp>
      <p:sp>
        <p:nvSpPr>
          <p:cNvPr id="50489" name="F2-Build-continuation">
            <a:extLst>
              <a:ext uri="{FF2B5EF4-FFF2-40B4-BE49-F238E27FC236}">
                <a16:creationId xmlns:a16="http://schemas.microsoft.com/office/drawing/2014/main" id="{A87F8D1D-D087-B895-3967-34FD7403FA3D}"/>
              </a:ext>
            </a:extLst>
          </p:cNvPr>
          <p:cNvSpPr>
            <a:spLocks noGrp="1"/>
          </p:cNvSpPr>
          <p:nvPr/>
        </p:nvSpPr>
        <p:spPr>
          <a:xfrm>
            <a:off x="5135157" y="1268735"/>
            <a:ext cx="6668" cy="6668"/>
          </a:xfrm>
          <a:prstGeom prst="ellipse">
            <a:avLst/>
          </a:prstGeom>
          <a:solidFill>
            <a:srgbClr val="687780"/>
          </a:solidFill>
          <a:ln w="0">
            <a:noFill/>
          </a:ln>
        </p:spPr>
      </p:sp>
      <p:sp>
        <p:nvSpPr>
          <p:cNvPr id="50490" name="F2-Build-SMILES-19.8">
            <a:extLst>
              <a:ext uri="{FF2B5EF4-FFF2-40B4-BE49-F238E27FC236}">
                <a16:creationId xmlns:a16="http://schemas.microsoft.com/office/drawing/2014/main" id="{8D1E4611-7807-D068-11D8-0FDDECDECA18}"/>
              </a:ext>
            </a:extLst>
          </p:cNvPr>
          <p:cNvSpPr>
            <a:spLocks noGrp="1"/>
          </p:cNvSpPr>
          <p:nvPr/>
        </p:nvSpPr>
        <p:spPr>
          <a:xfrm>
            <a:off x="5101503" y="1285559"/>
            <a:ext cx="361950" cy="74295"/>
          </a:xfrm>
          <a:prstGeom prst="rect">
            <a:avLst/>
          </a:prstGeom>
          <a:noFill/>
          <a:ln w="0">
            <a:noFill/>
          </a:ln>
        </p:spPr>
        <p:txBody>
          <a:bodyPr wrap="none" lIns="0" tIns="0" rIns="0" bIns="0" anchor="ctr">
            <a:noAutofit/>
          </a:bodyPr>
          <a:lstStyle>
            <a:defPPr algn="l">
              <a:defRPr sz="540" b="0">
                <a:solidFill>
                  <a:srgbClr val="24634E"/>
                </a:solidFill>
                <a:latin typeface="Arial"/>
                <a:ea typeface="Arial"/>
                <a:cs typeface="Arial"/>
              </a:defRPr>
            </a:defPPr>
            <a:lvl1pPr algn="l">
              <a:defRPr sz="540" b="0">
                <a:solidFill>
                  <a:srgbClr val="24634E"/>
                </a:solidFill>
                <a:latin typeface="Arial"/>
                <a:ea typeface="Arial"/>
                <a:cs typeface="Arial"/>
              </a:defRPr>
            </a:lvl1pPr>
            <a:lvl2pPr algn="l">
              <a:defRPr sz="540" b="0">
                <a:solidFill>
                  <a:srgbClr val="24634E"/>
                </a:solidFill>
                <a:latin typeface="Arial"/>
                <a:ea typeface="Arial"/>
                <a:cs typeface="Arial"/>
              </a:defRPr>
            </a:lvl2pPr>
            <a:lvl3pPr algn="l">
              <a:defRPr sz="540" b="0">
                <a:solidFill>
                  <a:srgbClr val="24634E"/>
                </a:solidFill>
                <a:latin typeface="Arial"/>
                <a:ea typeface="Arial"/>
                <a:cs typeface="Arial"/>
              </a:defRPr>
            </a:lvl3pPr>
            <a:lvl4pPr algn="l">
              <a:defRPr sz="540" b="0">
                <a:solidFill>
                  <a:srgbClr val="24634E"/>
                </a:solidFill>
                <a:latin typeface="Arial"/>
                <a:ea typeface="Arial"/>
                <a:cs typeface="Arial"/>
              </a:defRPr>
            </a:lvl4pPr>
            <a:lvl5pPr algn="l">
              <a:defRPr sz="540" b="0">
                <a:solidFill>
                  <a:srgbClr val="24634E"/>
                </a:solidFill>
                <a:latin typeface="Arial"/>
                <a:ea typeface="Arial"/>
                <a:cs typeface="Arial"/>
              </a:defRPr>
            </a:lvl5pPr>
            <a:lvl6pPr algn="l">
              <a:defRPr sz="540" b="0">
                <a:solidFill>
                  <a:srgbClr val="24634E"/>
                </a:solidFill>
                <a:latin typeface="Arial"/>
                <a:ea typeface="Arial"/>
                <a:cs typeface="Arial"/>
              </a:defRPr>
            </a:lvl6pPr>
            <a:lvl7pPr algn="l">
              <a:defRPr sz="540" b="0">
                <a:solidFill>
                  <a:srgbClr val="24634E"/>
                </a:solidFill>
                <a:latin typeface="Arial"/>
                <a:ea typeface="Arial"/>
                <a:cs typeface="Arial"/>
              </a:defRPr>
            </a:lvl7pPr>
            <a:lvl8pPr algn="l">
              <a:defRPr sz="540" b="0">
                <a:solidFill>
                  <a:srgbClr val="24634E"/>
                </a:solidFill>
                <a:latin typeface="Arial"/>
                <a:ea typeface="Arial"/>
                <a:cs typeface="Arial"/>
              </a:defRPr>
            </a:lvl8pPr>
            <a:lvl9pPr algn="l">
              <a:defRPr sz="540" b="0">
                <a:solidFill>
                  <a:srgbClr val="24634E"/>
                </a:solidFill>
                <a:latin typeface="Arial"/>
                <a:ea typeface="Arial"/>
                <a:cs typeface="Arial"/>
              </a:defRPr>
            </a:lvl9pPr>
          </a:lstStyle>
          <a:p>
            <a:pPr>
              <a:defRPr sz="540" b="0">
                <a:solidFill>
                  <a:srgbClr val="263442"/>
                </a:solidFill>
                <a:latin typeface="Arial"/>
                <a:ea typeface="Arial"/>
                <a:cs typeface="Arial"/>
              </a:defRPr>
            </a:pPr>
            <a:r>
              <a:rPr sz="480" dirty="0">
                <a:solidFill>
                  <a:srgbClr val="263442"/>
                </a:solidFill>
              </a:rPr>
              <a:t>Cc1ccccc1</a:t>
            </a:r>
          </a:p>
        </p:txBody>
      </p:sp>
      <p:sp>
        <p:nvSpPr>
          <p:cNvPr id="50491" name="F2-Build-SMILES-27.599999999999998">
            <a:extLst>
              <a:ext uri="{FF2B5EF4-FFF2-40B4-BE49-F238E27FC236}">
                <a16:creationId xmlns:a16="http://schemas.microsoft.com/office/drawing/2014/main" id="{7C479AF4-50FE-543B-B4FD-111B42F262AA}"/>
              </a:ext>
            </a:extLst>
          </p:cNvPr>
          <p:cNvSpPr>
            <a:spLocks noGrp="1"/>
          </p:cNvSpPr>
          <p:nvPr/>
        </p:nvSpPr>
        <p:spPr>
          <a:xfrm>
            <a:off x="5101503" y="1359854"/>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CC(N)=O</a:t>
            </a:r>
          </a:p>
        </p:txBody>
      </p:sp>
      <p:pic>
        <p:nvPicPr>
          <p:cNvPr id="50492" name="图片 50491">
            <a:extLst>
              <a:ext uri="{FF2B5EF4-FFF2-40B4-BE49-F238E27FC236}">
                <a16:creationId xmlns:a16="http://schemas.microsoft.com/office/drawing/2014/main" id="{4E683091-6004-F992-1701-5ECCC7280632}"/>
              </a:ext>
            </a:extLst>
          </p:cNvPr>
          <p:cNvPicPr>
            <a:picLocks noChangeAspect="1"/>
          </p:cNvPicPr>
          <p:nvPr/>
        </p:nvPicPr>
        <p:blipFill>
          <a:blip r:embed="rId6"/>
          <a:stretch/>
        </p:blipFill>
        <p:spPr>
          <a:xfrm>
            <a:off x="5149836" y="3476625"/>
            <a:ext cx="806478" cy="666750"/>
          </a:xfrm>
          <a:prstGeom prst="rect">
            <a:avLst/>
          </a:prstGeom>
        </p:spPr>
      </p:pic>
    </p:spTree>
    <p:extLst>
      <p:ext uri="{BB962C8B-B14F-4D97-AF65-F5344CB8AC3E}">
        <p14:creationId xmlns:p14="http://schemas.microsoft.com/office/powerpoint/2010/main" val="3518631150"/>
      </p:ext>
    </p:extLst>
  </p:cSld>
  <p:clrMapOvr>
    <a:masterClrMapping/>
  </p:clrMapOvr>
  <p:extLst>
    <p:ext uri="{6950BFC3-D8DA-4A85-94F7-54DA5524770B}">
      <p188:commentRel xmlns:p188="http://schemas.microsoft.com/office/powerpoint/2018/8/main" r:id="rId3"/>
    </p:ext>
  </p:extLs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3A6E18-01F8-B0BA-F43F-91B3A30C3C3E}"/>
            </a:ext>
          </a:extLst>
        </p:cNvPr>
        <p:cNvGrpSpPr/>
        <p:nvPr/>
      </p:nvGrpSpPr>
      <p:grpSpPr>
        <a:xfrm>
          <a:off x="0" y="0"/>
          <a:ext cx="0" cy="0"/>
          <a:chOff x="0" y="0"/>
          <a:chExt cx="0" cy="0"/>
        </a:xfrm>
      </p:grpSpPr>
      <p:sp>
        <p:nvSpPr>
          <p:cNvPr id="2" name="Panel | Find background">
            <a:extLst>
              <a:ext uri="{FF2B5EF4-FFF2-40B4-BE49-F238E27FC236}">
                <a16:creationId xmlns:a16="http://schemas.microsoft.com/office/drawing/2014/main" id="{A9090686-8929-C0A0-CCD3-B88878102309}"/>
              </a:ext>
            </a:extLst>
          </p:cNvPr>
          <p:cNvSpPr/>
          <p:nvPr/>
        </p:nvSpPr>
        <p:spPr>
          <a:xfrm>
            <a:off x="450985" y="89164"/>
            <a:ext cx="4381930" cy="1756103"/>
          </a:xfrm>
          <a:prstGeom prst="roundRect">
            <a:avLst>
              <a:gd name="adj" fmla="val 2000"/>
            </a:avLst>
          </a:prstGeom>
          <a:solidFill>
            <a:srgbClr val="F4F7FB"/>
          </a:solidFill>
          <a:ln w="9720">
            <a:solidFill>
              <a:srgbClr val="CFDB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3" name="Panel | Match background">
            <a:extLst>
              <a:ext uri="{FF2B5EF4-FFF2-40B4-BE49-F238E27FC236}">
                <a16:creationId xmlns:a16="http://schemas.microsoft.com/office/drawing/2014/main" id="{28703D02-0EE9-C5A6-609C-08019DDE7E4E}"/>
              </a:ext>
            </a:extLst>
          </p:cNvPr>
          <p:cNvSpPr/>
          <p:nvPr/>
        </p:nvSpPr>
        <p:spPr>
          <a:xfrm>
            <a:off x="450985" y="1884235"/>
            <a:ext cx="4381930" cy="2532204"/>
          </a:xfrm>
          <a:prstGeom prst="roundRect">
            <a:avLst>
              <a:gd name="adj" fmla="val 2000"/>
            </a:avLst>
          </a:prstGeom>
          <a:solidFill>
            <a:srgbClr val="F2F9F6"/>
          </a:solidFill>
          <a:ln w="9720">
            <a:solidFill>
              <a:srgbClr val="C8E2D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grpSp>
        <p:nvGrpSpPr>
          <p:cNvPr id="5" name="Input boundary layer">
            <a:extLst>
              <a:ext uri="{FF2B5EF4-FFF2-40B4-BE49-F238E27FC236}">
                <a16:creationId xmlns:a16="http://schemas.microsoft.com/office/drawing/2014/main" id="{DDB8823C-1C5D-EC2B-D97C-140C79222FB0}"/>
              </a:ext>
            </a:extLst>
          </p:cNvPr>
          <p:cNvGrpSpPr/>
          <p:nvPr/>
        </p:nvGrpSpPr>
        <p:grpSpPr>
          <a:xfrm>
            <a:off x="592345" y="2245791"/>
            <a:ext cx="1345044" cy="1068019"/>
            <a:chOff x="1393071" y="5281627"/>
            <a:chExt cx="3163259" cy="2511755"/>
          </a:xfrm>
        </p:grpSpPr>
        <p:sp>
          <p:nvSpPr>
            <p:cNvPr id="1478" name="V8 Match input boundary">
              <a:extLst>
                <a:ext uri="{FF2B5EF4-FFF2-40B4-BE49-F238E27FC236}">
                  <a16:creationId xmlns:a16="http://schemas.microsoft.com/office/drawing/2014/main" id="{7D0554F4-AE1C-63F1-A885-352F5424EDA9}"/>
                </a:ext>
              </a:extLst>
            </p:cNvPr>
            <p:cNvSpPr/>
            <p:nvPr/>
          </p:nvSpPr>
          <p:spPr>
            <a:xfrm>
              <a:off x="1393071" y="5281627"/>
              <a:ext cx="3163259" cy="2511755"/>
            </a:xfrm>
            <a:custGeom>
              <a:avLst/>
              <a:gdLst/>
              <a:ahLst/>
              <a:cxnLst/>
              <a:rect l="l" t="t" r="r" b="b"/>
              <a:pathLst>
                <a:path w="1345044" h="1068019">
                  <a:moveTo>
                    <a:pt x="31750" y="0"/>
                  </a:moveTo>
                  <a:lnTo>
                    <a:pt x="893699" y="0"/>
                  </a:lnTo>
                  <a:cubicBezTo>
                    <a:pt x="911162" y="0"/>
                    <a:pt x="925449" y="14288"/>
                    <a:pt x="925449" y="31750"/>
                  </a:cubicBezTo>
                  <a:lnTo>
                    <a:pt x="925449" y="489521"/>
                  </a:lnTo>
                  <a:cubicBezTo>
                    <a:pt x="925449" y="506984"/>
                    <a:pt x="939736" y="521271"/>
                    <a:pt x="957199" y="521271"/>
                  </a:cubicBezTo>
                  <a:lnTo>
                    <a:pt x="1313294" y="521271"/>
                  </a:lnTo>
                  <a:cubicBezTo>
                    <a:pt x="1330757" y="521271"/>
                    <a:pt x="1345044" y="535559"/>
                    <a:pt x="1345044" y="553021"/>
                  </a:cubicBezTo>
                  <a:lnTo>
                    <a:pt x="1345044" y="1036269"/>
                  </a:lnTo>
                  <a:cubicBezTo>
                    <a:pt x="1345044" y="1053732"/>
                    <a:pt x="1330757" y="1068019"/>
                    <a:pt x="1313294" y="1068019"/>
                  </a:cubicBezTo>
                  <a:lnTo>
                    <a:pt x="31750" y="1068019"/>
                  </a:lnTo>
                  <a:cubicBezTo>
                    <a:pt x="14288" y="1068019"/>
                    <a:pt x="0" y="1053732"/>
                    <a:pt x="0" y="1036269"/>
                  </a:cubicBezTo>
                  <a:lnTo>
                    <a:pt x="0" y="31750"/>
                  </a:lnTo>
                  <a:cubicBezTo>
                    <a:pt x="0" y="14288"/>
                    <a:pt x="14288" y="0"/>
                    <a:pt x="31750" y="0"/>
                  </a:cubicBezTo>
                  <a:close/>
                </a:path>
              </a:pathLst>
            </a:custGeom>
            <a:solidFill>
              <a:srgbClr val="FFFFFF"/>
            </a:solidFill>
            <a:ln w="7290" cap="rnd">
              <a:solidFill>
                <a:srgbClr val="B6CEC5"/>
              </a:solidFill>
              <a:prstDash val="solid"/>
              <a:round/>
            </a:ln>
          </p:spPr>
          <p:txBody>
            <a:bodyPr/>
            <a:lstStyle/>
            <a:p>
              <a:endParaRPr lang="zh-CN" altLang="en-US" dirty="0"/>
            </a:p>
          </p:txBody>
        </p:sp>
      </p:grpSp>
      <p:sp>
        <p:nvSpPr>
          <p:cNvPr id="7" name="TextBox 4">
            <a:extLst>
              <a:ext uri="{FF2B5EF4-FFF2-40B4-BE49-F238E27FC236}">
                <a16:creationId xmlns:a16="http://schemas.microsoft.com/office/drawing/2014/main" id="{ADBC3EDA-5434-B072-0369-64F7979021C5}"/>
              </a:ext>
            </a:extLst>
          </p:cNvPr>
          <p:cNvSpPr txBox="1"/>
          <p:nvPr/>
        </p:nvSpPr>
        <p:spPr>
          <a:xfrm>
            <a:off x="519056" y="107111"/>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a</a:t>
            </a:r>
          </a:p>
        </p:txBody>
      </p:sp>
      <p:sp>
        <p:nvSpPr>
          <p:cNvPr id="8" name="TextBox 5">
            <a:extLst>
              <a:ext uri="{FF2B5EF4-FFF2-40B4-BE49-F238E27FC236}">
                <a16:creationId xmlns:a16="http://schemas.microsoft.com/office/drawing/2014/main" id="{BDE65E3A-EB06-F9D8-4F70-55D863BF89FB}"/>
              </a:ext>
            </a:extLst>
          </p:cNvPr>
          <p:cNvSpPr txBox="1"/>
          <p:nvPr/>
        </p:nvSpPr>
        <p:spPr>
          <a:xfrm>
            <a:off x="677263" y="124527"/>
            <a:ext cx="2531320" cy="123624"/>
          </a:xfrm>
          <a:prstGeom prst="rect">
            <a:avLst/>
          </a:prstGeom>
          <a:noFill/>
        </p:spPr>
        <p:txBody>
          <a:bodyPr wrap="square" lIns="0" tIns="0" rIns="0" bIns="0" anchor="ctr">
            <a:spAutoFit/>
          </a:bodyPr>
          <a:lstStyle/>
          <a:p>
            <a:pPr algn="l">
              <a:lnSpc>
                <a:spcPct val="105000"/>
              </a:lnSpc>
            </a:pPr>
            <a:r>
              <a:rPr sz="822">
                <a:solidFill>
                  <a:srgbClr val="263442"/>
                </a:solidFill>
                <a:latin typeface="Arial"/>
              </a:rPr>
              <a:t>Find: locate ligand regions</a:t>
            </a:r>
          </a:p>
        </p:txBody>
      </p:sp>
      <p:sp>
        <p:nvSpPr>
          <p:cNvPr id="9" name="TextBox 6">
            <a:extLst>
              <a:ext uri="{FF2B5EF4-FFF2-40B4-BE49-F238E27FC236}">
                <a16:creationId xmlns:a16="http://schemas.microsoft.com/office/drawing/2014/main" id="{F3FF857A-DE19-FC06-9455-89983F39C003}"/>
              </a:ext>
            </a:extLst>
          </p:cNvPr>
          <p:cNvSpPr txBox="1"/>
          <p:nvPr/>
        </p:nvSpPr>
        <p:spPr>
          <a:xfrm>
            <a:off x="519056" y="1909702"/>
            <a:ext cx="174028" cy="149656"/>
          </a:xfrm>
          <a:prstGeom prst="rect">
            <a:avLst/>
          </a:prstGeom>
          <a:noFill/>
        </p:spPr>
        <p:txBody>
          <a:bodyPr wrap="square" lIns="0" tIns="0" rIns="0" bIns="0" anchor="ctr">
            <a:spAutoFit/>
          </a:bodyPr>
          <a:lstStyle/>
          <a:p>
            <a:pPr>
              <a:lnSpc>
                <a:spcPct val="105000"/>
              </a:lnSpc>
            </a:pPr>
            <a:r>
              <a:rPr sz="995" b="1" dirty="0">
                <a:solidFill>
                  <a:srgbClr val="263442"/>
                </a:solidFill>
                <a:latin typeface="Arial"/>
              </a:rPr>
              <a:t>b</a:t>
            </a:r>
          </a:p>
        </p:txBody>
      </p:sp>
      <p:sp>
        <p:nvSpPr>
          <p:cNvPr id="10" name="TextBox 7">
            <a:extLst>
              <a:ext uri="{FF2B5EF4-FFF2-40B4-BE49-F238E27FC236}">
                <a16:creationId xmlns:a16="http://schemas.microsoft.com/office/drawing/2014/main" id="{70ECA487-21BB-6209-C18F-3026009B4E59}"/>
              </a:ext>
            </a:extLst>
          </p:cNvPr>
          <p:cNvSpPr txBox="1"/>
          <p:nvPr/>
        </p:nvSpPr>
        <p:spPr>
          <a:xfrm>
            <a:off x="677200" y="1931954"/>
            <a:ext cx="2847735" cy="123624"/>
          </a:xfrm>
          <a:prstGeom prst="rect">
            <a:avLst/>
          </a:prstGeom>
          <a:noFill/>
        </p:spPr>
        <p:txBody>
          <a:bodyPr wrap="square" lIns="0" tIns="0" rIns="0" bIns="0" anchor="ctr">
            <a:spAutoFit/>
          </a:bodyPr>
          <a:lstStyle/>
          <a:p>
            <a:pPr algn="l">
              <a:lnSpc>
                <a:spcPct val="105000"/>
              </a:lnSpc>
            </a:pPr>
            <a:r>
              <a:rPr sz="822" dirty="0">
                <a:solidFill>
                  <a:srgbClr val="263442"/>
                </a:solidFill>
                <a:latin typeface="Arial"/>
              </a:rPr>
              <a:t>Match: candidate-to-identity assignment</a:t>
            </a:r>
          </a:p>
        </p:txBody>
      </p:sp>
      <p:sp>
        <p:nvSpPr>
          <p:cNvPr id="13" name="Find | Density card">
            <a:extLst>
              <a:ext uri="{FF2B5EF4-FFF2-40B4-BE49-F238E27FC236}">
                <a16:creationId xmlns:a16="http://schemas.microsoft.com/office/drawing/2014/main" id="{CAB7453E-57E4-6069-E17B-BEBD584DE9C5}"/>
              </a:ext>
            </a:extLst>
          </p:cNvPr>
          <p:cNvSpPr/>
          <p:nvPr/>
        </p:nvSpPr>
        <p:spPr>
          <a:xfrm>
            <a:off x="540853" y="284774"/>
            <a:ext cx="488504" cy="680292"/>
          </a:xfrm>
          <a:prstGeom prst="roundRect">
            <a:avLst>
              <a:gd name="adj" fmla="val 6000"/>
            </a:avLst>
          </a:prstGeom>
          <a:solidFill>
            <a:srgbClr val="FFFFFF"/>
          </a:solidFill>
          <a:ln w="7290">
            <a:solidFill>
              <a:srgbClr val="CBD6E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14" name="TextBox 11">
            <a:extLst>
              <a:ext uri="{FF2B5EF4-FFF2-40B4-BE49-F238E27FC236}">
                <a16:creationId xmlns:a16="http://schemas.microsoft.com/office/drawing/2014/main" id="{E13F9DB9-2915-4D37-1A15-4DD879957FE6}"/>
              </a:ext>
            </a:extLst>
          </p:cNvPr>
          <p:cNvSpPr txBox="1"/>
          <p:nvPr/>
        </p:nvSpPr>
        <p:spPr>
          <a:xfrm>
            <a:off x="460928" y="318294"/>
            <a:ext cx="664471" cy="101503"/>
          </a:xfrm>
          <a:prstGeom prst="rect">
            <a:avLst/>
          </a:prstGeom>
          <a:noFill/>
        </p:spPr>
        <p:txBody>
          <a:bodyPr wrap="square" lIns="0" tIns="0" rIns="0" bIns="0" anchor="ctr">
            <a:spAutoFit/>
          </a:bodyPr>
          <a:lstStyle/>
          <a:p>
            <a:pPr algn="ctr">
              <a:lnSpc>
                <a:spcPct val="105000"/>
              </a:lnSpc>
            </a:pPr>
            <a:r>
              <a:rPr sz="675" dirty="0">
                <a:solidFill>
                  <a:srgbClr val="263442"/>
                </a:solidFill>
                <a:latin typeface="Arial"/>
              </a:rPr>
              <a:t>Density</a:t>
            </a:r>
          </a:p>
        </p:txBody>
      </p:sp>
      <p:sp>
        <p:nvSpPr>
          <p:cNvPr id="235" name="Find | Receptor card">
            <a:extLst>
              <a:ext uri="{FF2B5EF4-FFF2-40B4-BE49-F238E27FC236}">
                <a16:creationId xmlns:a16="http://schemas.microsoft.com/office/drawing/2014/main" id="{C39711EA-1578-1FDC-F7E5-415822DEC84F}"/>
              </a:ext>
            </a:extLst>
          </p:cNvPr>
          <p:cNvSpPr/>
          <p:nvPr/>
        </p:nvSpPr>
        <p:spPr>
          <a:xfrm>
            <a:off x="540852" y="1028349"/>
            <a:ext cx="489611" cy="727754"/>
          </a:xfrm>
          <a:prstGeom prst="roundRect">
            <a:avLst>
              <a:gd name="adj" fmla="val 6000"/>
            </a:avLst>
          </a:prstGeom>
          <a:solidFill>
            <a:srgbClr val="FFFFFF"/>
          </a:solidFill>
          <a:ln w="7290">
            <a:solidFill>
              <a:srgbClr val="CBD6E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6" name="TextBox 6212">
            <a:extLst>
              <a:ext uri="{FF2B5EF4-FFF2-40B4-BE49-F238E27FC236}">
                <a16:creationId xmlns:a16="http://schemas.microsoft.com/office/drawing/2014/main" id="{4566817F-CA11-3CA5-4ED5-534E4B65A1C1}"/>
              </a:ext>
            </a:extLst>
          </p:cNvPr>
          <p:cNvSpPr txBox="1"/>
          <p:nvPr/>
        </p:nvSpPr>
        <p:spPr>
          <a:xfrm>
            <a:off x="434702" y="1053973"/>
            <a:ext cx="664471" cy="101503"/>
          </a:xfrm>
          <a:prstGeom prst="rect">
            <a:avLst/>
          </a:prstGeom>
          <a:noFill/>
        </p:spPr>
        <p:txBody>
          <a:bodyPr wrap="square" lIns="0" tIns="0" rIns="0" bIns="0" anchor="ctr">
            <a:spAutoFit/>
          </a:bodyPr>
          <a:lstStyle/>
          <a:p>
            <a:pPr algn="ctr">
              <a:lnSpc>
                <a:spcPct val="105000"/>
              </a:lnSpc>
            </a:pPr>
            <a:r>
              <a:rPr sz="675" dirty="0">
                <a:solidFill>
                  <a:srgbClr val="263442"/>
                </a:solidFill>
                <a:latin typeface="Arial"/>
              </a:rPr>
              <a:t>Receptor</a:t>
            </a:r>
          </a:p>
        </p:txBody>
      </p:sp>
      <p:sp>
        <p:nvSpPr>
          <p:cNvPr id="237" name="Find | 3D voxel U-Net box">
            <a:extLst>
              <a:ext uri="{FF2B5EF4-FFF2-40B4-BE49-F238E27FC236}">
                <a16:creationId xmlns:a16="http://schemas.microsoft.com/office/drawing/2014/main" id="{84C31B5C-DB46-3102-A094-A625CBC3795B}"/>
              </a:ext>
            </a:extLst>
          </p:cNvPr>
          <p:cNvSpPr/>
          <p:nvPr/>
        </p:nvSpPr>
        <p:spPr>
          <a:xfrm>
            <a:off x="1932849" y="284774"/>
            <a:ext cx="2183263" cy="743575"/>
          </a:xfrm>
          <a:prstGeom prst="roundRect">
            <a:avLst>
              <a:gd name="adj" fmla="val 5000"/>
            </a:avLst>
          </a:prstGeom>
          <a:solidFill>
            <a:srgbClr val="EDF3FA"/>
          </a:solidFill>
          <a:ln w="7290">
            <a:solidFill>
              <a:srgbClr val="C3D4E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8" name="TextBox 6223">
            <a:extLst>
              <a:ext uri="{FF2B5EF4-FFF2-40B4-BE49-F238E27FC236}">
                <a16:creationId xmlns:a16="http://schemas.microsoft.com/office/drawing/2014/main" id="{D0BEE622-6A06-FAEC-A1B9-E12DAFA59B95}"/>
              </a:ext>
            </a:extLst>
          </p:cNvPr>
          <p:cNvSpPr txBox="1"/>
          <p:nvPr/>
        </p:nvSpPr>
        <p:spPr>
          <a:xfrm>
            <a:off x="1932849" y="310561"/>
            <a:ext cx="2183263" cy="106632"/>
          </a:xfrm>
          <a:prstGeom prst="rect">
            <a:avLst/>
          </a:prstGeom>
          <a:noFill/>
        </p:spPr>
        <p:txBody>
          <a:bodyPr wrap="square" lIns="0" tIns="0" rIns="0" bIns="0" anchor="ctr">
            <a:spAutoFit/>
          </a:bodyPr>
          <a:lstStyle/>
          <a:p>
            <a:pPr algn="ctr">
              <a:lnSpc>
                <a:spcPct val="105000"/>
              </a:lnSpc>
            </a:pPr>
            <a:r>
              <a:rPr sz="709">
                <a:solidFill>
                  <a:srgbClr val="263442"/>
                </a:solidFill>
                <a:latin typeface="Arial"/>
              </a:rPr>
              <a:t>3D voxel U-Net</a:t>
            </a:r>
          </a:p>
        </p:txBody>
      </p:sp>
      <p:sp>
        <p:nvSpPr>
          <p:cNvPr id="239" name="TextBox 6224">
            <a:extLst>
              <a:ext uri="{FF2B5EF4-FFF2-40B4-BE49-F238E27FC236}">
                <a16:creationId xmlns:a16="http://schemas.microsoft.com/office/drawing/2014/main" id="{6162AD09-868A-9802-DD3F-493AE18E658B}"/>
              </a:ext>
            </a:extLst>
          </p:cNvPr>
          <p:cNvSpPr txBox="1"/>
          <p:nvPr/>
        </p:nvSpPr>
        <p:spPr>
          <a:xfrm>
            <a:off x="1932704" y="415407"/>
            <a:ext cx="2183414" cy="84510"/>
          </a:xfrm>
          <a:prstGeom prst="rect">
            <a:avLst/>
          </a:prstGeom>
          <a:noFill/>
        </p:spPr>
        <p:txBody>
          <a:bodyPr wrap="square" lIns="0" tIns="0" rIns="0" bIns="0" anchor="ctr">
            <a:spAutoFit/>
          </a:bodyPr>
          <a:lstStyle/>
          <a:p>
            <a:pPr algn="ctr">
              <a:lnSpc>
                <a:spcPct val="105000"/>
              </a:lnSpc>
            </a:pPr>
            <a:r>
              <a:rPr sz="562" i="1" dirty="0">
                <a:solidFill>
                  <a:srgbClr val="263442"/>
                </a:solidFill>
                <a:latin typeface="Arial"/>
              </a:rPr>
              <a:t>Skip connections</a:t>
            </a:r>
          </a:p>
        </p:txBody>
      </p:sp>
      <p:sp>
        <p:nvSpPr>
          <p:cNvPr id="240" name="TextBox 10003">
            <a:extLst>
              <a:ext uri="{FF2B5EF4-FFF2-40B4-BE49-F238E27FC236}">
                <a16:creationId xmlns:a16="http://schemas.microsoft.com/office/drawing/2014/main" id="{09C48FDC-7786-8263-4A08-E75021FC8287}"/>
              </a:ext>
            </a:extLst>
          </p:cNvPr>
          <p:cNvSpPr txBox="1"/>
          <p:nvPr/>
        </p:nvSpPr>
        <p:spPr>
          <a:xfrm>
            <a:off x="2098966"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Encoder</a:t>
            </a:r>
          </a:p>
        </p:txBody>
      </p:sp>
      <p:sp>
        <p:nvSpPr>
          <p:cNvPr id="241" name="TextBox 10004">
            <a:extLst>
              <a:ext uri="{FF2B5EF4-FFF2-40B4-BE49-F238E27FC236}">
                <a16:creationId xmlns:a16="http://schemas.microsoft.com/office/drawing/2014/main" id="{5D7C6AF6-28C5-C78C-2A6D-53148E9C5409}"/>
              </a:ext>
            </a:extLst>
          </p:cNvPr>
          <p:cNvSpPr txBox="1"/>
          <p:nvPr/>
        </p:nvSpPr>
        <p:spPr>
          <a:xfrm>
            <a:off x="2747617"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Bottleneck</a:t>
            </a:r>
          </a:p>
        </p:txBody>
      </p:sp>
      <p:sp>
        <p:nvSpPr>
          <p:cNvPr id="242" name="TextBox 10005">
            <a:extLst>
              <a:ext uri="{FF2B5EF4-FFF2-40B4-BE49-F238E27FC236}">
                <a16:creationId xmlns:a16="http://schemas.microsoft.com/office/drawing/2014/main" id="{7CC49EB1-DBD1-A7E7-516D-CECCC1D041F1}"/>
              </a:ext>
            </a:extLst>
          </p:cNvPr>
          <p:cNvSpPr txBox="1"/>
          <p:nvPr/>
        </p:nvSpPr>
        <p:spPr>
          <a:xfrm>
            <a:off x="3396268"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Decoder</a:t>
            </a:r>
          </a:p>
        </p:txBody>
      </p:sp>
      <p:sp>
        <p:nvSpPr>
          <p:cNvPr id="243" name="Find | Point Transformer V3 box">
            <a:extLst>
              <a:ext uri="{FF2B5EF4-FFF2-40B4-BE49-F238E27FC236}">
                <a16:creationId xmlns:a16="http://schemas.microsoft.com/office/drawing/2014/main" id="{E6BB0EBE-E97F-0460-89AE-378626BAD4D7}"/>
              </a:ext>
            </a:extLst>
          </p:cNvPr>
          <p:cNvSpPr/>
          <p:nvPr/>
        </p:nvSpPr>
        <p:spPr>
          <a:xfrm>
            <a:off x="1932849" y="1170736"/>
            <a:ext cx="2183263" cy="585368"/>
          </a:xfrm>
          <a:prstGeom prst="roundRect">
            <a:avLst>
              <a:gd name="adj" fmla="val 5000"/>
            </a:avLst>
          </a:prstGeom>
          <a:solidFill>
            <a:srgbClr val="EDF3FA"/>
          </a:solidFill>
          <a:ln w="7290">
            <a:solidFill>
              <a:srgbClr val="C3D4E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grpSp>
        <p:nvGrpSpPr>
          <p:cNvPr id="244" name="Find | PTV3 stage 1 (no pseudo)">
            <a:extLst>
              <a:ext uri="{FF2B5EF4-FFF2-40B4-BE49-F238E27FC236}">
                <a16:creationId xmlns:a16="http://schemas.microsoft.com/office/drawing/2014/main" id="{B4F71929-AC06-8CA3-B3DD-0D60585A9033}"/>
              </a:ext>
            </a:extLst>
          </p:cNvPr>
          <p:cNvGrpSpPr/>
          <p:nvPr/>
        </p:nvGrpSpPr>
        <p:grpSpPr>
          <a:xfrm>
            <a:off x="2023818" y="1222153"/>
            <a:ext cx="276863" cy="197759"/>
            <a:chOff x="1837958" y="1438830"/>
            <a:chExt cx="279225" cy="243090"/>
          </a:xfrm>
        </p:grpSpPr>
        <p:sp>
          <p:nvSpPr>
            <p:cNvPr id="245" name="rect_1844">
              <a:extLst>
                <a:ext uri="{FF2B5EF4-FFF2-40B4-BE49-F238E27FC236}">
                  <a16:creationId xmlns:a16="http://schemas.microsoft.com/office/drawing/2014/main" id="{660AA888-4092-6DA6-78D3-4B888E2B2DA3}"/>
                </a:ext>
              </a:extLst>
            </p:cNvPr>
            <p:cNvSpPr/>
            <p:nvPr/>
          </p:nvSpPr>
          <p:spPr>
            <a:xfrm>
              <a:off x="1837958" y="1438830"/>
              <a:ext cx="279225" cy="243090"/>
            </a:xfrm>
            <a:prstGeom prst="roundRect">
              <a:avLst>
                <a:gd name="adj" fmla="val 6757"/>
              </a:avLst>
            </a:prstGeom>
            <a:solidFill>
              <a:srgbClr val="F8F5FC"/>
            </a:solidFill>
            <a:ln w="2540" cap="rnd" cmpd="sng" algn="ctr">
              <a:solidFill>
                <a:srgbClr val="C3D4E6"/>
              </a:solidFill>
              <a:prstDash val="solid"/>
              <a:round/>
              <a:headEnd type="none" w="med" len="med"/>
              <a:tailEnd type="none" w="med" len="med"/>
            </a:ln>
            <a:effectLst/>
          </p:spPr>
        </p:sp>
        <p:sp>
          <p:nvSpPr>
            <p:cNvPr id="246" name="ellipse_1845">
              <a:extLst>
                <a:ext uri="{FF2B5EF4-FFF2-40B4-BE49-F238E27FC236}">
                  <a16:creationId xmlns:a16="http://schemas.microsoft.com/office/drawing/2014/main" id="{8ED69D04-8A29-A5B5-FEDE-87DBF5A86A21}"/>
                </a:ext>
              </a:extLst>
            </p:cNvPr>
            <p:cNvSpPr/>
            <p:nvPr/>
          </p:nvSpPr>
          <p:spPr>
            <a:xfrm>
              <a:off x="1911179" y="154988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7" name="ellipse_1846">
              <a:extLst>
                <a:ext uri="{FF2B5EF4-FFF2-40B4-BE49-F238E27FC236}">
                  <a16:creationId xmlns:a16="http://schemas.microsoft.com/office/drawing/2014/main" id="{2F757B70-05BB-1D52-EAD7-99F943EE0786}"/>
                </a:ext>
              </a:extLst>
            </p:cNvPr>
            <p:cNvSpPr/>
            <p:nvPr/>
          </p:nvSpPr>
          <p:spPr>
            <a:xfrm>
              <a:off x="2016057" y="15691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8" name="ellipse_1847">
              <a:extLst>
                <a:ext uri="{FF2B5EF4-FFF2-40B4-BE49-F238E27FC236}">
                  <a16:creationId xmlns:a16="http://schemas.microsoft.com/office/drawing/2014/main" id="{33900347-5FB5-F6C0-81F6-93C079B537C5}"/>
                </a:ext>
              </a:extLst>
            </p:cNvPr>
            <p:cNvSpPr/>
            <p:nvPr/>
          </p:nvSpPr>
          <p:spPr>
            <a:xfrm>
              <a:off x="1901005" y="1463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9" name="ellipse_1848">
              <a:extLst>
                <a:ext uri="{FF2B5EF4-FFF2-40B4-BE49-F238E27FC236}">
                  <a16:creationId xmlns:a16="http://schemas.microsoft.com/office/drawing/2014/main" id="{D9E3B372-BB0F-C9A4-3974-A8E7AF7737B7}"/>
                </a:ext>
              </a:extLst>
            </p:cNvPr>
            <p:cNvSpPr/>
            <p:nvPr/>
          </p:nvSpPr>
          <p:spPr>
            <a:xfrm>
              <a:off x="1966917" y="149122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0" name="ellipse_1849">
              <a:extLst>
                <a:ext uri="{FF2B5EF4-FFF2-40B4-BE49-F238E27FC236}">
                  <a16:creationId xmlns:a16="http://schemas.microsoft.com/office/drawing/2014/main" id="{65731899-DB97-2E91-5665-E8C978110F71}"/>
                </a:ext>
              </a:extLst>
            </p:cNvPr>
            <p:cNvSpPr/>
            <p:nvPr/>
          </p:nvSpPr>
          <p:spPr>
            <a:xfrm>
              <a:off x="1981202" y="14619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1" name="ellipse_1850">
              <a:extLst>
                <a:ext uri="{FF2B5EF4-FFF2-40B4-BE49-F238E27FC236}">
                  <a16:creationId xmlns:a16="http://schemas.microsoft.com/office/drawing/2014/main" id="{FB870BF7-7DC4-B374-8AD0-46EC506BB29E}"/>
                </a:ext>
              </a:extLst>
            </p:cNvPr>
            <p:cNvSpPr/>
            <p:nvPr/>
          </p:nvSpPr>
          <p:spPr>
            <a:xfrm>
              <a:off x="2025801" y="15227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2" name="ellipse_1851">
              <a:extLst>
                <a:ext uri="{FF2B5EF4-FFF2-40B4-BE49-F238E27FC236}">
                  <a16:creationId xmlns:a16="http://schemas.microsoft.com/office/drawing/2014/main" id="{FB5210B2-4DAF-5841-3925-445BB6BA8E65}"/>
                </a:ext>
              </a:extLst>
            </p:cNvPr>
            <p:cNvSpPr/>
            <p:nvPr/>
          </p:nvSpPr>
          <p:spPr>
            <a:xfrm>
              <a:off x="1923657" y="157409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3" name="ellipse_1852">
              <a:extLst>
                <a:ext uri="{FF2B5EF4-FFF2-40B4-BE49-F238E27FC236}">
                  <a16:creationId xmlns:a16="http://schemas.microsoft.com/office/drawing/2014/main" id="{5E297BB0-4B0B-7393-6335-0A8D413997FE}"/>
                </a:ext>
              </a:extLst>
            </p:cNvPr>
            <p:cNvSpPr/>
            <p:nvPr/>
          </p:nvSpPr>
          <p:spPr>
            <a:xfrm>
              <a:off x="2046951" y="149268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4" name="ellipse_1853">
              <a:extLst>
                <a:ext uri="{FF2B5EF4-FFF2-40B4-BE49-F238E27FC236}">
                  <a16:creationId xmlns:a16="http://schemas.microsoft.com/office/drawing/2014/main" id="{3460EDB7-F270-4A51-230E-76F07C518E5B}"/>
                </a:ext>
              </a:extLst>
            </p:cNvPr>
            <p:cNvSpPr/>
            <p:nvPr/>
          </p:nvSpPr>
          <p:spPr>
            <a:xfrm>
              <a:off x="1971403" y="1621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5" name="ellipse_1854">
              <a:extLst>
                <a:ext uri="{FF2B5EF4-FFF2-40B4-BE49-F238E27FC236}">
                  <a16:creationId xmlns:a16="http://schemas.microsoft.com/office/drawing/2014/main" id="{D7F22E2B-29AF-AAFC-9390-4763B76AC824}"/>
                </a:ext>
              </a:extLst>
            </p:cNvPr>
            <p:cNvSpPr/>
            <p:nvPr/>
          </p:nvSpPr>
          <p:spPr>
            <a:xfrm>
              <a:off x="1916632" y="148370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56" name="Find | PTV3 stage 2 (no pseudo)">
            <a:extLst>
              <a:ext uri="{FF2B5EF4-FFF2-40B4-BE49-F238E27FC236}">
                <a16:creationId xmlns:a16="http://schemas.microsoft.com/office/drawing/2014/main" id="{F4A044B8-F6CD-9A28-3075-23E9F1427BD6}"/>
              </a:ext>
            </a:extLst>
          </p:cNvPr>
          <p:cNvGrpSpPr/>
          <p:nvPr/>
        </p:nvGrpSpPr>
        <p:grpSpPr>
          <a:xfrm>
            <a:off x="2454581" y="1218198"/>
            <a:ext cx="269656" cy="205670"/>
            <a:chOff x="2276505" y="1465110"/>
            <a:chExt cx="243090" cy="190530"/>
          </a:xfrm>
        </p:grpSpPr>
        <p:sp>
          <p:nvSpPr>
            <p:cNvPr id="257" name="rect_1860">
              <a:extLst>
                <a:ext uri="{FF2B5EF4-FFF2-40B4-BE49-F238E27FC236}">
                  <a16:creationId xmlns:a16="http://schemas.microsoft.com/office/drawing/2014/main" id="{2A2BC9FE-9931-3C68-E213-012D2334D100}"/>
                </a:ext>
              </a:extLst>
            </p:cNvPr>
            <p:cNvSpPr/>
            <p:nvPr/>
          </p:nvSpPr>
          <p:spPr>
            <a:xfrm>
              <a:off x="2276505" y="1465110"/>
              <a:ext cx="243090" cy="190530"/>
            </a:xfrm>
            <a:prstGeom prst="roundRect">
              <a:avLst>
                <a:gd name="adj" fmla="val 8621"/>
              </a:avLst>
            </a:prstGeom>
            <a:solidFill>
              <a:srgbClr val="F8F5FC"/>
            </a:solidFill>
            <a:ln w="2540" cap="rnd" cmpd="sng" algn="ctr">
              <a:solidFill>
                <a:srgbClr val="C3D4E6"/>
              </a:solidFill>
              <a:prstDash val="solid"/>
              <a:round/>
              <a:headEnd type="none" w="med" len="med"/>
              <a:tailEnd type="none" w="med" len="med"/>
            </a:ln>
            <a:effectLst/>
          </p:spPr>
        </p:sp>
        <p:sp>
          <p:nvSpPr>
            <p:cNvPr id="258" name="ellipse_1861">
              <a:extLst>
                <a:ext uri="{FF2B5EF4-FFF2-40B4-BE49-F238E27FC236}">
                  <a16:creationId xmlns:a16="http://schemas.microsoft.com/office/drawing/2014/main" id="{0D3FC1DA-E4D9-46A0-549F-86D3BA55D6FD}"/>
                </a:ext>
              </a:extLst>
            </p:cNvPr>
            <p:cNvSpPr/>
            <p:nvPr/>
          </p:nvSpPr>
          <p:spPr>
            <a:xfrm>
              <a:off x="2443383" y="14753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9" name="ellipse_1862">
              <a:extLst>
                <a:ext uri="{FF2B5EF4-FFF2-40B4-BE49-F238E27FC236}">
                  <a16:creationId xmlns:a16="http://schemas.microsoft.com/office/drawing/2014/main" id="{2E76A36E-124A-FF28-5F0C-9D8A556CAB6E}"/>
                </a:ext>
              </a:extLst>
            </p:cNvPr>
            <p:cNvSpPr/>
            <p:nvPr/>
          </p:nvSpPr>
          <p:spPr>
            <a:xfrm>
              <a:off x="2334302" y="149054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0" name="ellipse_1863">
              <a:extLst>
                <a:ext uri="{FF2B5EF4-FFF2-40B4-BE49-F238E27FC236}">
                  <a16:creationId xmlns:a16="http://schemas.microsoft.com/office/drawing/2014/main" id="{D535EE24-6485-F339-2CB7-F9EF085CB943}"/>
                </a:ext>
              </a:extLst>
            </p:cNvPr>
            <p:cNvSpPr/>
            <p:nvPr/>
          </p:nvSpPr>
          <p:spPr>
            <a:xfrm>
              <a:off x="2421391" y="151821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1" name="ellipse_1864">
              <a:extLst>
                <a:ext uri="{FF2B5EF4-FFF2-40B4-BE49-F238E27FC236}">
                  <a16:creationId xmlns:a16="http://schemas.microsoft.com/office/drawing/2014/main" id="{3E3B8E8E-0D51-B463-1AC5-8ABBD0D94E5F}"/>
                </a:ext>
              </a:extLst>
            </p:cNvPr>
            <p:cNvSpPr/>
            <p:nvPr/>
          </p:nvSpPr>
          <p:spPr>
            <a:xfrm>
              <a:off x="2395798" y="148175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2" name="ellipse_1865">
              <a:extLst>
                <a:ext uri="{FF2B5EF4-FFF2-40B4-BE49-F238E27FC236}">
                  <a16:creationId xmlns:a16="http://schemas.microsoft.com/office/drawing/2014/main" id="{A78CC97C-CF00-B4B4-232A-6540F415567F}"/>
                </a:ext>
              </a:extLst>
            </p:cNvPr>
            <p:cNvSpPr/>
            <p:nvPr/>
          </p:nvSpPr>
          <p:spPr>
            <a:xfrm>
              <a:off x="2345071" y="160888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3" name="ellipse_1866">
              <a:extLst>
                <a:ext uri="{FF2B5EF4-FFF2-40B4-BE49-F238E27FC236}">
                  <a16:creationId xmlns:a16="http://schemas.microsoft.com/office/drawing/2014/main" id="{1C7DD56E-5535-8B2E-615C-21EEB3FC0B60}"/>
                </a:ext>
              </a:extLst>
            </p:cNvPr>
            <p:cNvSpPr/>
            <p:nvPr/>
          </p:nvSpPr>
          <p:spPr>
            <a:xfrm>
              <a:off x="2455927" y="15235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4" name="ellipse_1867">
              <a:extLst>
                <a:ext uri="{FF2B5EF4-FFF2-40B4-BE49-F238E27FC236}">
                  <a16:creationId xmlns:a16="http://schemas.microsoft.com/office/drawing/2014/main" id="{53E5DFEF-A738-E1E2-6D82-562898867479}"/>
                </a:ext>
              </a:extLst>
            </p:cNvPr>
            <p:cNvSpPr/>
            <p:nvPr/>
          </p:nvSpPr>
          <p:spPr>
            <a:xfrm>
              <a:off x="2415612" y="15382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5" name="ellipse_1868">
              <a:extLst>
                <a:ext uri="{FF2B5EF4-FFF2-40B4-BE49-F238E27FC236}">
                  <a16:creationId xmlns:a16="http://schemas.microsoft.com/office/drawing/2014/main" id="{9F15DB89-4578-E9D4-B66C-9772D337DE92}"/>
                </a:ext>
              </a:extLst>
            </p:cNvPr>
            <p:cNvSpPr/>
            <p:nvPr/>
          </p:nvSpPr>
          <p:spPr>
            <a:xfrm>
              <a:off x="2384162" y="155385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66" name="Find | PTV3 stage 3 (no pseudo)">
            <a:extLst>
              <a:ext uri="{FF2B5EF4-FFF2-40B4-BE49-F238E27FC236}">
                <a16:creationId xmlns:a16="http://schemas.microsoft.com/office/drawing/2014/main" id="{8E5AF76E-A5D2-A1C4-1196-A1FB989CBECC}"/>
              </a:ext>
            </a:extLst>
          </p:cNvPr>
          <p:cNvGrpSpPr/>
          <p:nvPr/>
        </p:nvGrpSpPr>
        <p:grpSpPr>
          <a:xfrm>
            <a:off x="2902421" y="1230063"/>
            <a:ext cx="244120" cy="181939"/>
            <a:chOff x="2703555" y="1491390"/>
            <a:chExt cx="190530" cy="137970"/>
          </a:xfrm>
        </p:grpSpPr>
        <p:sp>
          <p:nvSpPr>
            <p:cNvPr id="267" name="rect_1874">
              <a:extLst>
                <a:ext uri="{FF2B5EF4-FFF2-40B4-BE49-F238E27FC236}">
                  <a16:creationId xmlns:a16="http://schemas.microsoft.com/office/drawing/2014/main" id="{75101B77-5988-FEB7-22BD-46F0384ADBC8}"/>
                </a:ext>
              </a:extLst>
            </p:cNvPr>
            <p:cNvSpPr/>
            <p:nvPr/>
          </p:nvSpPr>
          <p:spPr>
            <a:xfrm>
              <a:off x="2703555" y="1491390"/>
              <a:ext cx="190530" cy="137970"/>
            </a:xfrm>
            <a:prstGeom prst="roundRect">
              <a:avLst>
                <a:gd name="adj" fmla="val 11905"/>
              </a:avLst>
            </a:prstGeom>
            <a:solidFill>
              <a:srgbClr val="F8F5FC"/>
            </a:solidFill>
            <a:ln w="2540" cap="rnd" cmpd="sng" algn="ctr">
              <a:solidFill>
                <a:srgbClr val="C3D4E6"/>
              </a:solidFill>
              <a:prstDash val="solid"/>
              <a:round/>
              <a:headEnd type="none" w="med" len="med"/>
              <a:tailEnd type="none" w="med" len="med"/>
            </a:ln>
            <a:effectLst/>
          </p:spPr>
        </p:sp>
        <p:sp>
          <p:nvSpPr>
            <p:cNvPr id="268" name="ellipse_1875">
              <a:extLst>
                <a:ext uri="{FF2B5EF4-FFF2-40B4-BE49-F238E27FC236}">
                  <a16:creationId xmlns:a16="http://schemas.microsoft.com/office/drawing/2014/main" id="{0F3768B9-45DC-D239-6ECE-6B199905A0E6}"/>
                </a:ext>
              </a:extLst>
            </p:cNvPr>
            <p:cNvSpPr/>
            <p:nvPr/>
          </p:nvSpPr>
          <p:spPr>
            <a:xfrm>
              <a:off x="2782342" y="152486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9" name="ellipse_1876">
              <a:extLst>
                <a:ext uri="{FF2B5EF4-FFF2-40B4-BE49-F238E27FC236}">
                  <a16:creationId xmlns:a16="http://schemas.microsoft.com/office/drawing/2014/main" id="{9AC2E9D9-EA81-CB60-9668-376E55C3B65A}"/>
                </a:ext>
              </a:extLst>
            </p:cNvPr>
            <p:cNvSpPr/>
            <p:nvPr/>
          </p:nvSpPr>
          <p:spPr>
            <a:xfrm>
              <a:off x="2750750" y="159446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0" name="ellipse_1877">
              <a:extLst>
                <a:ext uri="{FF2B5EF4-FFF2-40B4-BE49-F238E27FC236}">
                  <a16:creationId xmlns:a16="http://schemas.microsoft.com/office/drawing/2014/main" id="{193512C0-B984-BF26-53B2-A4C133832B19}"/>
                </a:ext>
              </a:extLst>
            </p:cNvPr>
            <p:cNvSpPr/>
            <p:nvPr/>
          </p:nvSpPr>
          <p:spPr>
            <a:xfrm>
              <a:off x="2743887" y="14971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1" name="ellipse_1878">
              <a:extLst>
                <a:ext uri="{FF2B5EF4-FFF2-40B4-BE49-F238E27FC236}">
                  <a16:creationId xmlns:a16="http://schemas.microsoft.com/office/drawing/2014/main" id="{010957FC-182F-1FF9-1554-385555C7E5BB}"/>
                </a:ext>
              </a:extLst>
            </p:cNvPr>
            <p:cNvSpPr/>
            <p:nvPr/>
          </p:nvSpPr>
          <p:spPr>
            <a:xfrm>
              <a:off x="2833390" y="151132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2" name="ellipse_1879">
              <a:extLst>
                <a:ext uri="{FF2B5EF4-FFF2-40B4-BE49-F238E27FC236}">
                  <a16:creationId xmlns:a16="http://schemas.microsoft.com/office/drawing/2014/main" id="{D3BED3D3-6945-FBFB-0ADC-29AB3D61D264}"/>
                </a:ext>
              </a:extLst>
            </p:cNvPr>
            <p:cNvSpPr/>
            <p:nvPr/>
          </p:nvSpPr>
          <p:spPr>
            <a:xfrm>
              <a:off x="2831792" y="156772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73" name="Find | PTV3 stage 4 (no pseudo)">
            <a:extLst>
              <a:ext uri="{FF2B5EF4-FFF2-40B4-BE49-F238E27FC236}">
                <a16:creationId xmlns:a16="http://schemas.microsoft.com/office/drawing/2014/main" id="{6152C243-7C11-72B4-655A-F6C20103F058}"/>
              </a:ext>
            </a:extLst>
          </p:cNvPr>
          <p:cNvGrpSpPr/>
          <p:nvPr/>
        </p:nvGrpSpPr>
        <p:grpSpPr>
          <a:xfrm>
            <a:off x="3324724" y="1218198"/>
            <a:ext cx="269656" cy="205670"/>
            <a:chOff x="3097755" y="1465110"/>
            <a:chExt cx="243090" cy="190530"/>
          </a:xfrm>
        </p:grpSpPr>
        <p:sp>
          <p:nvSpPr>
            <p:cNvPr id="274" name="rect_1885">
              <a:extLst>
                <a:ext uri="{FF2B5EF4-FFF2-40B4-BE49-F238E27FC236}">
                  <a16:creationId xmlns:a16="http://schemas.microsoft.com/office/drawing/2014/main" id="{02A84936-E0C4-22EE-AB39-B8147866C1E6}"/>
                </a:ext>
              </a:extLst>
            </p:cNvPr>
            <p:cNvSpPr/>
            <p:nvPr/>
          </p:nvSpPr>
          <p:spPr>
            <a:xfrm>
              <a:off x="3097755" y="1465110"/>
              <a:ext cx="243090" cy="190530"/>
            </a:xfrm>
            <a:prstGeom prst="roundRect">
              <a:avLst>
                <a:gd name="adj" fmla="val 8621"/>
              </a:avLst>
            </a:prstGeom>
            <a:solidFill>
              <a:srgbClr val="F8F5FC"/>
            </a:solidFill>
            <a:ln w="2540" cap="rnd" cmpd="sng" algn="ctr">
              <a:solidFill>
                <a:srgbClr val="C3D4E6"/>
              </a:solidFill>
              <a:prstDash val="solid"/>
              <a:round/>
              <a:headEnd type="none" w="med" len="med"/>
              <a:tailEnd type="none" w="med" len="med"/>
            </a:ln>
            <a:effectLst/>
          </p:spPr>
        </p:sp>
        <p:sp>
          <p:nvSpPr>
            <p:cNvPr id="275" name="ellipse_1886">
              <a:extLst>
                <a:ext uri="{FF2B5EF4-FFF2-40B4-BE49-F238E27FC236}">
                  <a16:creationId xmlns:a16="http://schemas.microsoft.com/office/drawing/2014/main" id="{28C5B77C-D4DA-25CA-7F5E-FFB406D4948B}"/>
                </a:ext>
              </a:extLst>
            </p:cNvPr>
            <p:cNvSpPr/>
            <p:nvPr/>
          </p:nvSpPr>
          <p:spPr>
            <a:xfrm>
              <a:off x="3274804" y="154785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6" name="ellipse_1887">
              <a:extLst>
                <a:ext uri="{FF2B5EF4-FFF2-40B4-BE49-F238E27FC236}">
                  <a16:creationId xmlns:a16="http://schemas.microsoft.com/office/drawing/2014/main" id="{4B9C2CC8-3618-CEA6-223F-481DE7645A74}"/>
                </a:ext>
              </a:extLst>
            </p:cNvPr>
            <p:cNvSpPr/>
            <p:nvPr/>
          </p:nvSpPr>
          <p:spPr>
            <a:xfrm>
              <a:off x="3235593" y="156879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7" name="ellipse_1888">
              <a:extLst>
                <a:ext uri="{FF2B5EF4-FFF2-40B4-BE49-F238E27FC236}">
                  <a16:creationId xmlns:a16="http://schemas.microsoft.com/office/drawing/2014/main" id="{116AA07D-1658-6583-2048-22DAA979C713}"/>
                </a:ext>
              </a:extLst>
            </p:cNvPr>
            <p:cNvSpPr/>
            <p:nvPr/>
          </p:nvSpPr>
          <p:spPr>
            <a:xfrm>
              <a:off x="3215524" y="154839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8" name="ellipse_1889">
              <a:extLst>
                <a:ext uri="{FF2B5EF4-FFF2-40B4-BE49-F238E27FC236}">
                  <a16:creationId xmlns:a16="http://schemas.microsoft.com/office/drawing/2014/main" id="{B9996B1C-4365-A5B2-A0FA-BEEE1AE3580D}"/>
                </a:ext>
              </a:extLst>
            </p:cNvPr>
            <p:cNvSpPr/>
            <p:nvPr/>
          </p:nvSpPr>
          <p:spPr>
            <a:xfrm>
              <a:off x="3114632" y="15799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9" name="ellipse_1890">
              <a:extLst>
                <a:ext uri="{FF2B5EF4-FFF2-40B4-BE49-F238E27FC236}">
                  <a16:creationId xmlns:a16="http://schemas.microsoft.com/office/drawing/2014/main" id="{B24EA66B-C475-FD74-3653-99240EA2FC7D}"/>
                </a:ext>
              </a:extLst>
            </p:cNvPr>
            <p:cNvSpPr/>
            <p:nvPr/>
          </p:nvSpPr>
          <p:spPr>
            <a:xfrm>
              <a:off x="3288227" y="158414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0" name="ellipse_1891">
              <a:extLst>
                <a:ext uri="{FF2B5EF4-FFF2-40B4-BE49-F238E27FC236}">
                  <a16:creationId xmlns:a16="http://schemas.microsoft.com/office/drawing/2014/main" id="{7C05A257-A858-E4EC-CE72-2E262BB52B07}"/>
                </a:ext>
              </a:extLst>
            </p:cNvPr>
            <p:cNvSpPr/>
            <p:nvPr/>
          </p:nvSpPr>
          <p:spPr>
            <a:xfrm>
              <a:off x="3206468" y="16100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1" name="ellipse_1892">
              <a:extLst>
                <a:ext uri="{FF2B5EF4-FFF2-40B4-BE49-F238E27FC236}">
                  <a16:creationId xmlns:a16="http://schemas.microsoft.com/office/drawing/2014/main" id="{5029BF78-C694-94BA-2390-D6FC0A6BFD81}"/>
                </a:ext>
              </a:extLst>
            </p:cNvPr>
            <p:cNvSpPr/>
            <p:nvPr/>
          </p:nvSpPr>
          <p:spPr>
            <a:xfrm>
              <a:off x="3224851" y="161218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2" name="ellipse_1893">
              <a:extLst>
                <a:ext uri="{FF2B5EF4-FFF2-40B4-BE49-F238E27FC236}">
                  <a16:creationId xmlns:a16="http://schemas.microsoft.com/office/drawing/2014/main" id="{B400169A-5E49-FEE5-1915-FCB9E751F312}"/>
                </a:ext>
              </a:extLst>
            </p:cNvPr>
            <p:cNvSpPr/>
            <p:nvPr/>
          </p:nvSpPr>
          <p:spPr>
            <a:xfrm>
              <a:off x="3255857" y="14772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83" name="Find | PTV3 stage 5 (no pseudo)">
            <a:extLst>
              <a:ext uri="{FF2B5EF4-FFF2-40B4-BE49-F238E27FC236}">
                <a16:creationId xmlns:a16="http://schemas.microsoft.com/office/drawing/2014/main" id="{FE5D4BB8-AE08-CFDC-14F9-58D62B643799}"/>
              </a:ext>
            </a:extLst>
          </p:cNvPr>
          <p:cNvGrpSpPr/>
          <p:nvPr/>
        </p:nvGrpSpPr>
        <p:grpSpPr>
          <a:xfrm>
            <a:off x="3748279" y="1222153"/>
            <a:ext cx="276863" cy="197759"/>
            <a:chOff x="3473888" y="1438830"/>
            <a:chExt cx="279225" cy="243090"/>
          </a:xfrm>
        </p:grpSpPr>
        <p:sp>
          <p:nvSpPr>
            <p:cNvPr id="284" name="rect_1899">
              <a:extLst>
                <a:ext uri="{FF2B5EF4-FFF2-40B4-BE49-F238E27FC236}">
                  <a16:creationId xmlns:a16="http://schemas.microsoft.com/office/drawing/2014/main" id="{3C966A44-931E-3C61-C3E2-9910BF785D0E}"/>
                </a:ext>
              </a:extLst>
            </p:cNvPr>
            <p:cNvSpPr/>
            <p:nvPr/>
          </p:nvSpPr>
          <p:spPr>
            <a:xfrm>
              <a:off x="3473888" y="1438830"/>
              <a:ext cx="279225" cy="243090"/>
            </a:xfrm>
            <a:prstGeom prst="roundRect">
              <a:avLst>
                <a:gd name="adj" fmla="val 6757"/>
              </a:avLst>
            </a:prstGeom>
            <a:solidFill>
              <a:srgbClr val="F8F5FC"/>
            </a:solidFill>
            <a:ln w="2540" cap="rnd" cmpd="sng" algn="ctr">
              <a:solidFill>
                <a:srgbClr val="C3D4E6"/>
              </a:solidFill>
              <a:prstDash val="solid"/>
              <a:round/>
              <a:headEnd type="none" w="med" len="med"/>
              <a:tailEnd type="none" w="med" len="med"/>
            </a:ln>
            <a:effectLst/>
          </p:spPr>
        </p:sp>
        <p:sp>
          <p:nvSpPr>
            <p:cNvPr id="285" name="ellipse_1900">
              <a:extLst>
                <a:ext uri="{FF2B5EF4-FFF2-40B4-BE49-F238E27FC236}">
                  <a16:creationId xmlns:a16="http://schemas.microsoft.com/office/drawing/2014/main" id="{0734BB70-ADDB-68EE-E4C9-F1E9F19AF6E7}"/>
                </a:ext>
              </a:extLst>
            </p:cNvPr>
            <p:cNvSpPr/>
            <p:nvPr/>
          </p:nvSpPr>
          <p:spPr>
            <a:xfrm>
              <a:off x="3538819" y="148253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6" name="ellipse_1901">
              <a:extLst>
                <a:ext uri="{FF2B5EF4-FFF2-40B4-BE49-F238E27FC236}">
                  <a16:creationId xmlns:a16="http://schemas.microsoft.com/office/drawing/2014/main" id="{50CDA3FC-9E47-A0FF-54FE-0B291B80C55E}"/>
                </a:ext>
              </a:extLst>
            </p:cNvPr>
            <p:cNvSpPr/>
            <p:nvPr/>
          </p:nvSpPr>
          <p:spPr>
            <a:xfrm>
              <a:off x="3631999" y="157809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7" name="ellipse_1902">
              <a:extLst>
                <a:ext uri="{FF2B5EF4-FFF2-40B4-BE49-F238E27FC236}">
                  <a16:creationId xmlns:a16="http://schemas.microsoft.com/office/drawing/2014/main" id="{FDEE2D57-7D4E-037C-452C-66A797AB07C9}"/>
                </a:ext>
              </a:extLst>
            </p:cNvPr>
            <p:cNvSpPr/>
            <p:nvPr/>
          </p:nvSpPr>
          <p:spPr>
            <a:xfrm>
              <a:off x="3687564" y="15901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8" name="ellipse_1903">
              <a:extLst>
                <a:ext uri="{FF2B5EF4-FFF2-40B4-BE49-F238E27FC236}">
                  <a16:creationId xmlns:a16="http://schemas.microsoft.com/office/drawing/2014/main" id="{B2C7060E-B2BB-F02D-5B6F-B7D323B087B4}"/>
                </a:ext>
              </a:extLst>
            </p:cNvPr>
            <p:cNvSpPr/>
            <p:nvPr/>
          </p:nvSpPr>
          <p:spPr>
            <a:xfrm>
              <a:off x="3686262" y="162539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9" name="ellipse_1904">
              <a:extLst>
                <a:ext uri="{FF2B5EF4-FFF2-40B4-BE49-F238E27FC236}">
                  <a16:creationId xmlns:a16="http://schemas.microsoft.com/office/drawing/2014/main" id="{7DE1C447-AFD4-DD7C-5DE0-0E96E8153D12}"/>
                </a:ext>
              </a:extLst>
            </p:cNvPr>
            <p:cNvSpPr/>
            <p:nvPr/>
          </p:nvSpPr>
          <p:spPr>
            <a:xfrm>
              <a:off x="3673847" y="145725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0" name="ellipse_1905">
              <a:extLst>
                <a:ext uri="{FF2B5EF4-FFF2-40B4-BE49-F238E27FC236}">
                  <a16:creationId xmlns:a16="http://schemas.microsoft.com/office/drawing/2014/main" id="{536BBD44-5D8E-E642-7EFE-DC301B9D3F7F}"/>
                </a:ext>
              </a:extLst>
            </p:cNvPr>
            <p:cNvSpPr/>
            <p:nvPr/>
          </p:nvSpPr>
          <p:spPr>
            <a:xfrm>
              <a:off x="3580150" y="160304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1" name="ellipse_1906">
              <a:extLst>
                <a:ext uri="{FF2B5EF4-FFF2-40B4-BE49-F238E27FC236}">
                  <a16:creationId xmlns:a16="http://schemas.microsoft.com/office/drawing/2014/main" id="{2D018CC6-8BB4-0573-830A-62F9771BB455}"/>
                </a:ext>
              </a:extLst>
            </p:cNvPr>
            <p:cNvSpPr/>
            <p:nvPr/>
          </p:nvSpPr>
          <p:spPr>
            <a:xfrm>
              <a:off x="3499431" y="147999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2" name="ellipse_1907">
              <a:extLst>
                <a:ext uri="{FF2B5EF4-FFF2-40B4-BE49-F238E27FC236}">
                  <a16:creationId xmlns:a16="http://schemas.microsoft.com/office/drawing/2014/main" id="{3D9BABC9-7179-80DF-931B-76C5D153BFA2}"/>
                </a:ext>
              </a:extLst>
            </p:cNvPr>
            <p:cNvSpPr/>
            <p:nvPr/>
          </p:nvSpPr>
          <p:spPr>
            <a:xfrm>
              <a:off x="3698498" y="163375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3" name="ellipse_1908">
              <a:extLst>
                <a:ext uri="{FF2B5EF4-FFF2-40B4-BE49-F238E27FC236}">
                  <a16:creationId xmlns:a16="http://schemas.microsoft.com/office/drawing/2014/main" id="{BF41BEF8-8F67-637A-F426-1015DD3C37FC}"/>
                </a:ext>
              </a:extLst>
            </p:cNvPr>
            <p:cNvSpPr/>
            <p:nvPr/>
          </p:nvSpPr>
          <p:spPr>
            <a:xfrm>
              <a:off x="3664475" y="160668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4" name="ellipse_1909">
              <a:extLst>
                <a:ext uri="{FF2B5EF4-FFF2-40B4-BE49-F238E27FC236}">
                  <a16:creationId xmlns:a16="http://schemas.microsoft.com/office/drawing/2014/main" id="{E57407DB-12F2-A10B-73ED-904E74E89684}"/>
                </a:ext>
              </a:extLst>
            </p:cNvPr>
            <p:cNvSpPr/>
            <p:nvPr/>
          </p:nvSpPr>
          <p:spPr>
            <a:xfrm>
              <a:off x="3577670" y="157500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sp>
        <p:nvSpPr>
          <p:cNvPr id="297" name="TextBox 12152">
            <a:extLst>
              <a:ext uri="{FF2B5EF4-FFF2-40B4-BE49-F238E27FC236}">
                <a16:creationId xmlns:a16="http://schemas.microsoft.com/office/drawing/2014/main" id="{DA95DC65-9861-CC7E-7EFC-4B9E07722C91}"/>
              </a:ext>
            </a:extLst>
          </p:cNvPr>
          <p:cNvSpPr txBox="1"/>
          <p:nvPr/>
        </p:nvSpPr>
        <p:spPr>
          <a:xfrm>
            <a:off x="1932849" y="1615773"/>
            <a:ext cx="2183263" cy="106632"/>
          </a:xfrm>
          <a:prstGeom prst="rect">
            <a:avLst/>
          </a:prstGeom>
          <a:noFill/>
        </p:spPr>
        <p:txBody>
          <a:bodyPr wrap="square" lIns="0" tIns="0" rIns="0" bIns="0" anchor="ctr">
            <a:spAutoFit/>
          </a:bodyPr>
          <a:lstStyle/>
          <a:p>
            <a:pPr algn="ctr">
              <a:lnSpc>
                <a:spcPct val="105000"/>
              </a:lnSpc>
            </a:pPr>
            <a:r>
              <a:rPr sz="709">
                <a:solidFill>
                  <a:srgbClr val="263442"/>
                </a:solidFill>
                <a:latin typeface="Arial"/>
              </a:rPr>
              <a:t>Point Transformer V3</a:t>
            </a:r>
          </a:p>
        </p:txBody>
      </p:sp>
      <p:sp>
        <p:nvSpPr>
          <p:cNvPr id="298" name="TextBox 12153">
            <a:extLst>
              <a:ext uri="{FF2B5EF4-FFF2-40B4-BE49-F238E27FC236}">
                <a16:creationId xmlns:a16="http://schemas.microsoft.com/office/drawing/2014/main" id="{522E41DD-5F6E-76BD-E92F-5CBA886A651B}"/>
              </a:ext>
            </a:extLst>
          </p:cNvPr>
          <p:cNvSpPr txBox="1"/>
          <p:nvPr/>
        </p:nvSpPr>
        <p:spPr>
          <a:xfrm>
            <a:off x="2779258" y="1058360"/>
            <a:ext cx="767306" cy="88422"/>
          </a:xfrm>
          <a:prstGeom prst="rect">
            <a:avLst/>
          </a:prstGeom>
          <a:noFill/>
        </p:spPr>
        <p:txBody>
          <a:bodyPr wrap="square" lIns="0" tIns="0" rIns="0" bIns="0" anchor="ctr">
            <a:spAutoFit/>
          </a:bodyPr>
          <a:lstStyle/>
          <a:p>
            <a:pPr algn="ctr">
              <a:lnSpc>
                <a:spcPct val="105000"/>
              </a:lnSpc>
            </a:pPr>
            <a:r>
              <a:rPr lang="en-US" sz="588" dirty="0">
                <a:solidFill>
                  <a:srgbClr val="263442"/>
                </a:solidFill>
                <a:latin typeface="Arial"/>
              </a:rPr>
              <a:t>F</a:t>
            </a:r>
            <a:r>
              <a:rPr sz="588" dirty="0">
                <a:solidFill>
                  <a:srgbClr val="263442"/>
                </a:solidFill>
                <a:latin typeface="Arial"/>
              </a:rPr>
              <a:t>usion</a:t>
            </a:r>
          </a:p>
        </p:txBody>
      </p:sp>
      <p:sp>
        <p:nvSpPr>
          <p:cNvPr id="299" name="Find | Blobs output card">
            <a:extLst>
              <a:ext uri="{FF2B5EF4-FFF2-40B4-BE49-F238E27FC236}">
                <a16:creationId xmlns:a16="http://schemas.microsoft.com/office/drawing/2014/main" id="{6A602B9B-DE58-7AA0-FDBA-741F60C78A9B}"/>
              </a:ext>
            </a:extLst>
          </p:cNvPr>
          <p:cNvSpPr/>
          <p:nvPr/>
        </p:nvSpPr>
        <p:spPr>
          <a:xfrm>
            <a:off x="4300068" y="284775"/>
            <a:ext cx="442980" cy="1471328"/>
          </a:xfrm>
          <a:prstGeom prst="roundRect">
            <a:avLst>
              <a:gd name="adj" fmla="val 6000"/>
            </a:avLst>
          </a:prstGeom>
          <a:solidFill>
            <a:srgbClr val="FFFFFF"/>
          </a:solidFill>
          <a:ln w="7290">
            <a:solidFill>
              <a:srgbClr val="CBD6E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300" name="TextBox 12155">
            <a:extLst>
              <a:ext uri="{FF2B5EF4-FFF2-40B4-BE49-F238E27FC236}">
                <a16:creationId xmlns:a16="http://schemas.microsoft.com/office/drawing/2014/main" id="{1F7C0F6F-D082-C8AA-DE11-4286EF42AADB}"/>
              </a:ext>
            </a:extLst>
          </p:cNvPr>
          <p:cNvSpPr txBox="1"/>
          <p:nvPr/>
        </p:nvSpPr>
        <p:spPr>
          <a:xfrm>
            <a:off x="4185689" y="307007"/>
            <a:ext cx="696113" cy="111954"/>
          </a:xfrm>
          <a:prstGeom prst="rect">
            <a:avLst/>
          </a:prstGeom>
          <a:noFill/>
        </p:spPr>
        <p:txBody>
          <a:bodyPr wrap="square" lIns="0" tIns="0" rIns="0" bIns="0" anchor="ctr">
            <a:spAutoFit/>
          </a:bodyPr>
          <a:lstStyle/>
          <a:p>
            <a:pPr algn="ctr">
              <a:lnSpc>
                <a:spcPct val="105000"/>
              </a:lnSpc>
            </a:pPr>
            <a:r>
              <a:rPr sz="744" dirty="0">
                <a:solidFill>
                  <a:srgbClr val="263442"/>
                </a:solidFill>
                <a:latin typeface="Arial"/>
              </a:rPr>
              <a:t>Blobs</a:t>
            </a:r>
          </a:p>
        </p:txBody>
      </p:sp>
      <p:sp>
        <p:nvSpPr>
          <p:cNvPr id="301" name="TextBox 12160">
            <a:extLst>
              <a:ext uri="{FF2B5EF4-FFF2-40B4-BE49-F238E27FC236}">
                <a16:creationId xmlns:a16="http://schemas.microsoft.com/office/drawing/2014/main" id="{EBF2AA16-9B52-B84F-43EE-03BA82B2D4CA}"/>
              </a:ext>
            </a:extLst>
          </p:cNvPr>
          <p:cNvSpPr txBox="1"/>
          <p:nvPr/>
        </p:nvSpPr>
        <p:spPr>
          <a:xfrm>
            <a:off x="616744" y="2090304"/>
            <a:ext cx="1186556" cy="107978"/>
          </a:xfrm>
          <a:prstGeom prst="rect">
            <a:avLst/>
          </a:prstGeom>
          <a:noFill/>
        </p:spPr>
        <p:txBody>
          <a:bodyPr wrap="square" lIns="0" tIns="0" rIns="0" bIns="0" anchor="ctr">
            <a:spAutoFit/>
          </a:bodyPr>
          <a:lstStyle/>
          <a:p>
            <a:pPr algn="l">
              <a:lnSpc>
                <a:spcPct val="105000"/>
              </a:lnSpc>
            </a:pPr>
            <a:r>
              <a:rPr sz="718" dirty="0">
                <a:solidFill>
                  <a:srgbClr val="263442"/>
                </a:solidFill>
                <a:latin typeface="Arial"/>
              </a:rPr>
              <a:t>Candidate encoder</a:t>
            </a:r>
          </a:p>
        </p:txBody>
      </p:sp>
      <p:sp>
        <p:nvSpPr>
          <p:cNvPr id="302" name="TextBox 12161">
            <a:extLst>
              <a:ext uri="{FF2B5EF4-FFF2-40B4-BE49-F238E27FC236}">
                <a16:creationId xmlns:a16="http://schemas.microsoft.com/office/drawing/2014/main" id="{1FD101AA-9130-CD96-6414-B193E6D36851}"/>
              </a:ext>
            </a:extLst>
          </p:cNvPr>
          <p:cNvSpPr txBox="1"/>
          <p:nvPr/>
        </p:nvSpPr>
        <p:spPr>
          <a:xfrm>
            <a:off x="2752186" y="2090304"/>
            <a:ext cx="1186556" cy="107978"/>
          </a:xfrm>
          <a:prstGeom prst="rect">
            <a:avLst/>
          </a:prstGeom>
          <a:noFill/>
        </p:spPr>
        <p:txBody>
          <a:bodyPr wrap="square" lIns="0" tIns="0" rIns="0" bIns="0" anchor="ctr">
            <a:spAutoFit/>
          </a:bodyPr>
          <a:lstStyle/>
          <a:p>
            <a:pPr algn="l">
              <a:lnSpc>
                <a:spcPct val="105000"/>
              </a:lnSpc>
            </a:pPr>
            <a:r>
              <a:rPr sz="718" dirty="0">
                <a:solidFill>
                  <a:srgbClr val="263442"/>
                </a:solidFill>
                <a:latin typeface="Arial"/>
              </a:rPr>
              <a:t>Identity encoder</a:t>
            </a:r>
          </a:p>
        </p:txBody>
      </p:sp>
      <p:sp>
        <p:nvSpPr>
          <p:cNvPr id="303" name="Match | Center divider">
            <a:extLst>
              <a:ext uri="{FF2B5EF4-FFF2-40B4-BE49-F238E27FC236}">
                <a16:creationId xmlns:a16="http://schemas.microsoft.com/office/drawing/2014/main" id="{5A593D05-94F5-C55B-C8C6-B8F9E86B08C6}"/>
              </a:ext>
            </a:extLst>
          </p:cNvPr>
          <p:cNvSpPr/>
          <p:nvPr/>
        </p:nvSpPr>
        <p:spPr>
          <a:xfrm>
            <a:off x="2605556" y="2119981"/>
            <a:ext cx="1" cy="1945952"/>
          </a:xfrm>
          <a:custGeom>
            <a:avLst/>
            <a:gdLst/>
            <a:ahLst/>
            <a:cxnLst/>
            <a:rect l="0" t="0" r="w" b="h"/>
            <a:pathLst>
              <a:path w="1" h="2249424">
                <a:moveTo>
                  <a:pt x="0" y="0"/>
                </a:moveTo>
                <a:lnTo>
                  <a:pt x="0" y="2249424"/>
                </a:lnTo>
              </a:path>
            </a:pathLst>
          </a:custGeom>
          <a:noFill/>
          <a:ln w="9525" cap="rnd" cmpd="sng" algn="ctr">
            <a:solidFill>
              <a:srgbClr val="D0E2DA"/>
            </a:solidFill>
            <a:prstDash val="solid"/>
            <a:round/>
            <a:headEnd type="none" w="med" len="med"/>
            <a:tailEnd type="none" w="med" len="med"/>
          </a:ln>
        </p:spPr>
      </p:sp>
      <p:sp>
        <p:nvSpPr>
          <p:cNvPr id="304" name="TextBox 12164">
            <a:extLst>
              <a:ext uri="{FF2B5EF4-FFF2-40B4-BE49-F238E27FC236}">
                <a16:creationId xmlns:a16="http://schemas.microsoft.com/office/drawing/2014/main" id="{DA6D9C81-D325-B373-1580-DEE13789E3EE}"/>
              </a:ext>
            </a:extLst>
          </p:cNvPr>
          <p:cNvSpPr txBox="1"/>
          <p:nvPr/>
        </p:nvSpPr>
        <p:spPr>
          <a:xfrm>
            <a:off x="608834" y="2270869"/>
            <a:ext cx="442981" cy="93744"/>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Receptor</a:t>
            </a:r>
          </a:p>
        </p:txBody>
      </p:sp>
      <p:sp>
        <p:nvSpPr>
          <p:cNvPr id="305" name="TextBox 12166">
            <a:extLst>
              <a:ext uri="{FF2B5EF4-FFF2-40B4-BE49-F238E27FC236}">
                <a16:creationId xmlns:a16="http://schemas.microsoft.com/office/drawing/2014/main" id="{6E830D7E-FC74-3019-18B2-DDE04B6E60D0}"/>
              </a:ext>
            </a:extLst>
          </p:cNvPr>
          <p:cNvSpPr txBox="1"/>
          <p:nvPr/>
        </p:nvSpPr>
        <p:spPr>
          <a:xfrm>
            <a:off x="1091367" y="2270869"/>
            <a:ext cx="442981" cy="93744"/>
          </a:xfrm>
          <a:prstGeom prst="rect">
            <a:avLst/>
          </a:prstGeom>
          <a:noFill/>
        </p:spPr>
        <p:txBody>
          <a:bodyPr wrap="square" lIns="0" tIns="0" rIns="0" bIns="0" anchor="ctr">
            <a:spAutoFit/>
          </a:bodyPr>
          <a:lstStyle/>
          <a:p>
            <a:pPr algn="ctr">
              <a:lnSpc>
                <a:spcPct val="105000"/>
              </a:lnSpc>
            </a:pPr>
            <a:r>
              <a:rPr sz="623" dirty="0">
                <a:solidFill>
                  <a:srgbClr val="263442"/>
                </a:solidFill>
                <a:latin typeface="Arial"/>
              </a:rPr>
              <a:t>Density</a:t>
            </a:r>
          </a:p>
        </p:txBody>
      </p:sp>
      <p:pic>
        <p:nvPicPr>
          <p:cNvPr id="306" name="Match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7A47CBDC-2732-4D0F-C4FF-972DA2F1AA3E}"/>
              </a:ext>
            </a:extLst>
          </p:cNvPr>
          <p:cNvPicPr/>
          <p:nvPr/>
        </p:nvPicPr>
        <p:blipFill>
          <a:blip r:embed="rId4"/>
          <a:stretch>
            <a:fillRect/>
          </a:stretch>
        </p:blipFill>
        <p:spPr>
          <a:xfrm>
            <a:off x="1138851" y="2380847"/>
            <a:ext cx="347980" cy="332276"/>
          </a:xfrm>
          <a:prstGeom prst="rect">
            <a:avLst/>
          </a:prstGeom>
        </p:spPr>
      </p:pic>
      <p:sp>
        <p:nvSpPr>
          <p:cNvPr id="526" name="TextBox 12168">
            <a:extLst>
              <a:ext uri="{FF2B5EF4-FFF2-40B4-BE49-F238E27FC236}">
                <a16:creationId xmlns:a16="http://schemas.microsoft.com/office/drawing/2014/main" id="{50BD09F1-2D4A-FA0A-7AF2-981DD7585F3A}"/>
              </a:ext>
            </a:extLst>
          </p:cNvPr>
          <p:cNvSpPr txBox="1"/>
          <p:nvPr/>
        </p:nvSpPr>
        <p:spPr>
          <a:xfrm>
            <a:off x="648883" y="2851277"/>
            <a:ext cx="340209" cy="97203"/>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Pocket</a:t>
            </a:r>
          </a:p>
        </p:txBody>
      </p:sp>
      <p:sp>
        <p:nvSpPr>
          <p:cNvPr id="613" name="TextBox 12177">
            <a:extLst>
              <a:ext uri="{FF2B5EF4-FFF2-40B4-BE49-F238E27FC236}">
                <a16:creationId xmlns:a16="http://schemas.microsoft.com/office/drawing/2014/main" id="{086F717F-C0B1-CD04-AFB8-166092CD717F}"/>
              </a:ext>
            </a:extLst>
          </p:cNvPr>
          <p:cNvSpPr txBox="1"/>
          <p:nvPr/>
        </p:nvSpPr>
        <p:spPr>
          <a:xfrm>
            <a:off x="1098445" y="2851277"/>
            <a:ext cx="340209" cy="97203"/>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Blob</a:t>
            </a:r>
          </a:p>
        </p:txBody>
      </p:sp>
      <p:grpSp>
        <p:nvGrpSpPr>
          <p:cNvPr id="614" name="Match | Blob contour">
            <a:extLst>
              <a:ext uri="{FF2B5EF4-FFF2-40B4-BE49-F238E27FC236}">
                <a16:creationId xmlns:a16="http://schemas.microsoft.com/office/drawing/2014/main" id="{ECF83E2A-3199-B09F-F90E-31DC9848C382}"/>
              </a:ext>
            </a:extLst>
          </p:cNvPr>
          <p:cNvGrpSpPr/>
          <p:nvPr/>
        </p:nvGrpSpPr>
        <p:grpSpPr>
          <a:xfrm>
            <a:off x="1122154" y="3036990"/>
            <a:ext cx="291608" cy="199265"/>
            <a:chOff x="1928706" y="3559489"/>
            <a:chExt cx="227897" cy="155682"/>
          </a:xfrm>
        </p:grpSpPr>
        <p:sp>
          <p:nvSpPr>
            <p:cNvPr id="615" name="Candidate blob | editable contour">
              <a:extLst>
                <a:ext uri="{FF2B5EF4-FFF2-40B4-BE49-F238E27FC236}">
                  <a16:creationId xmlns:a16="http://schemas.microsoft.com/office/drawing/2014/main" id="{513F782E-E1DE-1B64-68A9-FB54BE71715F}"/>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16" name="ellipse_2612">
              <a:extLst>
                <a:ext uri="{FF2B5EF4-FFF2-40B4-BE49-F238E27FC236}">
                  <a16:creationId xmlns:a16="http://schemas.microsoft.com/office/drawing/2014/main" id="{12A4650A-7359-9456-1843-A3C9E08B2497}"/>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18" name="TextBox 12186">
            <a:extLst>
              <a:ext uri="{FF2B5EF4-FFF2-40B4-BE49-F238E27FC236}">
                <a16:creationId xmlns:a16="http://schemas.microsoft.com/office/drawing/2014/main" id="{88505915-A113-7FAA-6C15-3F2B10F6D7CB}"/>
              </a:ext>
            </a:extLst>
          </p:cNvPr>
          <p:cNvSpPr txBox="1"/>
          <p:nvPr/>
        </p:nvSpPr>
        <p:spPr>
          <a:xfrm>
            <a:off x="1640255" y="2259965"/>
            <a:ext cx="286938" cy="92333"/>
          </a:xfrm>
          <a:prstGeom prst="rect">
            <a:avLst/>
          </a:prstGeom>
          <a:noFill/>
        </p:spPr>
        <p:txBody>
          <a:bodyPr wrap="none" lIns="0" tIns="0" rIns="0" bIns="0" anchor="ctr">
            <a:spAutoFit/>
          </a:bodyPr>
          <a:lstStyle/>
          <a:p>
            <a:pPr algn="ctr">
              <a:lnSpc>
                <a:spcPct val="105000"/>
              </a:lnSpc>
            </a:pPr>
            <a:r>
              <a:rPr sz="614">
                <a:solidFill>
                  <a:srgbClr val="263442"/>
                </a:solidFill>
                <a:latin typeface="Arial"/>
              </a:rPr>
              <a:t>48³ crop</a:t>
            </a:r>
          </a:p>
        </p:txBody>
      </p:sp>
      <p:grpSp>
        <p:nvGrpSpPr>
          <p:cNvPr id="619" name="48^3 crop 3D cube">
            <a:extLst>
              <a:ext uri="{FF2B5EF4-FFF2-40B4-BE49-F238E27FC236}">
                <a16:creationId xmlns:a16="http://schemas.microsoft.com/office/drawing/2014/main" id="{50441A72-5112-E010-1BBD-72FFF87A8B6E}"/>
              </a:ext>
            </a:extLst>
          </p:cNvPr>
          <p:cNvGrpSpPr/>
          <p:nvPr/>
        </p:nvGrpSpPr>
        <p:grpSpPr>
          <a:xfrm>
            <a:off x="1657361" y="2353114"/>
            <a:ext cx="251107" cy="197645"/>
            <a:chOff x="4043880" y="489960"/>
            <a:chExt cx="571680" cy="450000"/>
          </a:xfrm>
        </p:grpSpPr>
        <p:sp>
          <p:nvSpPr>
            <p:cNvPr id="620" name="asset_2027_0">
              <a:extLst>
                <a:ext uri="{FF2B5EF4-FFF2-40B4-BE49-F238E27FC236}">
                  <a16:creationId xmlns:a16="http://schemas.microsoft.com/office/drawing/2014/main" id="{2C26482F-D7D7-E3F6-FBCD-22AC82315E62}"/>
                </a:ext>
              </a:extLst>
            </p:cNvPr>
            <p:cNvSpPr>
              <a:spLocks noGrp="1"/>
            </p:cNvSpPr>
            <p:nvPr/>
          </p:nvSpPr>
          <p:spPr>
            <a:xfrm>
              <a:off x="4043880" y="489960"/>
              <a:ext cx="571680" cy="76500"/>
            </a:xfrm>
            <a:custGeom>
              <a:avLst/>
              <a:gdLst/>
              <a:ahLst/>
              <a:cxnLst/>
              <a:rect l="0" t="0" r="0" b="0"/>
              <a:pathLst>
                <a:path w="571680" h="76500">
                  <a:moveTo>
                    <a:pt x="0" y="76500"/>
                  </a:moveTo>
                  <a:lnTo>
                    <a:pt x="108619" y="0"/>
                  </a:lnTo>
                  <a:lnTo>
                    <a:pt x="571680" y="0"/>
                  </a:lnTo>
                  <a:lnTo>
                    <a:pt x="463061" y="76500"/>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621" name="asset_2027_1">
              <a:extLst>
                <a:ext uri="{FF2B5EF4-FFF2-40B4-BE49-F238E27FC236}">
                  <a16:creationId xmlns:a16="http://schemas.microsoft.com/office/drawing/2014/main" id="{F28AFBA7-0A71-99DE-9FF9-EBD0ADC1144C}"/>
                </a:ext>
              </a:extLst>
            </p:cNvPr>
            <p:cNvSpPr>
              <a:spLocks noGrp="1"/>
            </p:cNvSpPr>
            <p:nvPr/>
          </p:nvSpPr>
          <p:spPr>
            <a:xfrm>
              <a:off x="4506941" y="489960"/>
              <a:ext cx="108619" cy="450000"/>
            </a:xfrm>
            <a:custGeom>
              <a:avLst/>
              <a:gdLst/>
              <a:ahLst/>
              <a:cxnLst/>
              <a:rect l="0" t="0" r="0" b="0"/>
              <a:pathLst>
                <a:path w="108619" h="450000">
                  <a:moveTo>
                    <a:pt x="0" y="76500"/>
                  </a:moveTo>
                  <a:lnTo>
                    <a:pt x="108619" y="0"/>
                  </a:lnTo>
                  <a:lnTo>
                    <a:pt x="108619" y="373500"/>
                  </a:lnTo>
                  <a:lnTo>
                    <a:pt x="0" y="450000"/>
                  </a:lnTo>
                  <a:close/>
                </a:path>
              </a:pathLst>
            </a:custGeom>
            <a:solidFill>
              <a:srgbClr val="C9DFF3">
                <a:alpha val="22000"/>
              </a:srgbClr>
            </a:solidFill>
            <a:ln w="2700">
              <a:solidFill>
                <a:srgbClr val="A3C3E2"/>
              </a:solidFill>
            </a:ln>
          </p:spPr>
        </p:sp>
        <p:sp>
          <p:nvSpPr>
            <p:cNvPr id="622" name="asset_2027_2">
              <a:extLst>
                <a:ext uri="{FF2B5EF4-FFF2-40B4-BE49-F238E27FC236}">
                  <a16:creationId xmlns:a16="http://schemas.microsoft.com/office/drawing/2014/main" id="{97E064B3-0050-239C-C963-C5E4E31B84D2}"/>
                </a:ext>
              </a:extLst>
            </p:cNvPr>
            <p:cNvSpPr>
              <a:spLocks noGrp="1"/>
            </p:cNvSpPr>
            <p:nvPr/>
          </p:nvSpPr>
          <p:spPr>
            <a:xfrm>
              <a:off x="4043880" y="566460"/>
              <a:ext cx="463061" cy="373500"/>
            </a:xfrm>
            <a:prstGeom prst="rect">
              <a:avLst/>
            </a:prstGeom>
            <a:solidFill>
              <a:srgbClr val="E7F1FC">
                <a:alpha val="20000"/>
              </a:srgbClr>
            </a:solidFill>
            <a:ln w="2700">
              <a:solidFill>
                <a:srgbClr val="ABC9E7"/>
              </a:solidFill>
            </a:ln>
          </p:spPr>
        </p:sp>
        <p:sp>
          <p:nvSpPr>
            <p:cNvPr id="623" name="asset_2027_3">
              <a:extLst>
                <a:ext uri="{FF2B5EF4-FFF2-40B4-BE49-F238E27FC236}">
                  <a16:creationId xmlns:a16="http://schemas.microsoft.com/office/drawing/2014/main" id="{A2C54284-938E-B40D-7CE6-20A987BE1447}"/>
                </a:ext>
              </a:extLst>
            </p:cNvPr>
            <p:cNvSpPr>
              <a:spLocks noGrp="1"/>
            </p:cNvSpPr>
            <p:nvPr/>
          </p:nvSpPr>
          <p:spPr>
            <a:xfrm>
              <a:off x="4159645" y="566460"/>
              <a:ext cx="4" cy="373500"/>
            </a:xfrm>
            <a:prstGeom prst="line">
              <a:avLst/>
            </a:prstGeom>
            <a:noFill/>
            <a:ln w="1980">
              <a:solidFill>
                <a:srgbClr val="B8D2EB">
                  <a:alpha val="33000"/>
                </a:srgbClr>
              </a:solidFill>
            </a:ln>
          </p:spPr>
        </p:sp>
        <p:sp>
          <p:nvSpPr>
            <p:cNvPr id="624" name="asset_2027_4">
              <a:extLst>
                <a:ext uri="{FF2B5EF4-FFF2-40B4-BE49-F238E27FC236}">
                  <a16:creationId xmlns:a16="http://schemas.microsoft.com/office/drawing/2014/main" id="{0F8960CE-A059-8D07-91FB-C97F3078BCD9}"/>
                </a:ext>
              </a:extLst>
            </p:cNvPr>
            <p:cNvSpPr>
              <a:spLocks noGrp="1"/>
            </p:cNvSpPr>
            <p:nvPr/>
          </p:nvSpPr>
          <p:spPr>
            <a:xfrm>
              <a:off x="4043880" y="659835"/>
              <a:ext cx="463061" cy="4"/>
            </a:xfrm>
            <a:prstGeom prst="line">
              <a:avLst/>
            </a:prstGeom>
            <a:noFill/>
            <a:ln w="1980">
              <a:solidFill>
                <a:srgbClr val="B8D2EB">
                  <a:alpha val="33000"/>
                </a:srgbClr>
              </a:solidFill>
            </a:ln>
          </p:spPr>
        </p:sp>
        <p:sp>
          <p:nvSpPr>
            <p:cNvPr id="625" name="asset_2027_5">
              <a:extLst>
                <a:ext uri="{FF2B5EF4-FFF2-40B4-BE49-F238E27FC236}">
                  <a16:creationId xmlns:a16="http://schemas.microsoft.com/office/drawing/2014/main" id="{A5646F3B-E3B0-7C1C-2E27-F9E967647A65}"/>
                </a:ext>
              </a:extLst>
            </p:cNvPr>
            <p:cNvSpPr>
              <a:spLocks noGrp="1"/>
            </p:cNvSpPr>
            <p:nvPr/>
          </p:nvSpPr>
          <p:spPr>
            <a:xfrm>
              <a:off x="4275410" y="566460"/>
              <a:ext cx="4" cy="373500"/>
            </a:xfrm>
            <a:prstGeom prst="line">
              <a:avLst/>
            </a:prstGeom>
            <a:noFill/>
            <a:ln w="1980">
              <a:solidFill>
                <a:srgbClr val="B8D2EB">
                  <a:alpha val="33000"/>
                </a:srgbClr>
              </a:solidFill>
            </a:ln>
          </p:spPr>
        </p:sp>
        <p:sp>
          <p:nvSpPr>
            <p:cNvPr id="626" name="asset_2027_6">
              <a:extLst>
                <a:ext uri="{FF2B5EF4-FFF2-40B4-BE49-F238E27FC236}">
                  <a16:creationId xmlns:a16="http://schemas.microsoft.com/office/drawing/2014/main" id="{49CF1756-587C-D73A-CFD0-CE93821E4BC5}"/>
                </a:ext>
              </a:extLst>
            </p:cNvPr>
            <p:cNvSpPr>
              <a:spLocks noGrp="1"/>
            </p:cNvSpPr>
            <p:nvPr/>
          </p:nvSpPr>
          <p:spPr>
            <a:xfrm>
              <a:off x="4043880" y="753210"/>
              <a:ext cx="463061" cy="4"/>
            </a:xfrm>
            <a:prstGeom prst="line">
              <a:avLst/>
            </a:prstGeom>
            <a:noFill/>
            <a:ln w="1980">
              <a:solidFill>
                <a:srgbClr val="B8D2EB">
                  <a:alpha val="33000"/>
                </a:srgbClr>
              </a:solidFill>
            </a:ln>
          </p:spPr>
        </p:sp>
        <p:sp>
          <p:nvSpPr>
            <p:cNvPr id="627" name="asset_2027_7">
              <a:extLst>
                <a:ext uri="{FF2B5EF4-FFF2-40B4-BE49-F238E27FC236}">
                  <a16:creationId xmlns:a16="http://schemas.microsoft.com/office/drawing/2014/main" id="{617A40D8-F985-CF5E-C184-9CEE010688B0}"/>
                </a:ext>
              </a:extLst>
            </p:cNvPr>
            <p:cNvSpPr>
              <a:spLocks noGrp="1"/>
            </p:cNvSpPr>
            <p:nvPr/>
          </p:nvSpPr>
          <p:spPr>
            <a:xfrm>
              <a:off x="4391176" y="566460"/>
              <a:ext cx="4" cy="373500"/>
            </a:xfrm>
            <a:prstGeom prst="line">
              <a:avLst/>
            </a:prstGeom>
            <a:noFill/>
            <a:ln w="1980">
              <a:solidFill>
                <a:srgbClr val="B8D2EB">
                  <a:alpha val="33000"/>
                </a:srgbClr>
              </a:solidFill>
            </a:ln>
          </p:spPr>
        </p:sp>
        <p:sp>
          <p:nvSpPr>
            <p:cNvPr id="628" name="asset_2027_8">
              <a:extLst>
                <a:ext uri="{FF2B5EF4-FFF2-40B4-BE49-F238E27FC236}">
                  <a16:creationId xmlns:a16="http://schemas.microsoft.com/office/drawing/2014/main" id="{D74C2F96-9830-4E45-47CF-280DBDF3BBA6}"/>
                </a:ext>
              </a:extLst>
            </p:cNvPr>
            <p:cNvSpPr>
              <a:spLocks noGrp="1"/>
            </p:cNvSpPr>
            <p:nvPr/>
          </p:nvSpPr>
          <p:spPr>
            <a:xfrm>
              <a:off x="4043880" y="846585"/>
              <a:ext cx="463061" cy="4"/>
            </a:xfrm>
            <a:prstGeom prst="line">
              <a:avLst/>
            </a:prstGeom>
            <a:noFill/>
            <a:ln w="1980">
              <a:solidFill>
                <a:srgbClr val="B8D2EB">
                  <a:alpha val="33000"/>
                </a:srgbClr>
              </a:solidFill>
            </a:ln>
          </p:spPr>
        </p:sp>
        <p:sp>
          <p:nvSpPr>
            <p:cNvPr id="629" name="asset_2027_53">
              <a:extLst>
                <a:ext uri="{FF2B5EF4-FFF2-40B4-BE49-F238E27FC236}">
                  <a16:creationId xmlns:a16="http://schemas.microsoft.com/office/drawing/2014/main" id="{B57D82E4-2BD4-33AA-2164-941D5F47EC2E}"/>
                </a:ext>
              </a:extLst>
            </p:cNvPr>
            <p:cNvSpPr>
              <a:spLocks noGrp="1"/>
            </p:cNvSpPr>
            <p:nvPr/>
          </p:nvSpPr>
          <p:spPr>
            <a:xfrm>
              <a:off x="4043880" y="566460"/>
              <a:ext cx="463061" cy="373500"/>
            </a:xfrm>
            <a:custGeom>
              <a:avLst/>
              <a:gdLst/>
              <a:ahLst/>
              <a:cxnLst/>
              <a:rect l="0" t="0" r="0" b="0"/>
              <a:pathLst>
                <a:path w="463061" h="373500">
                  <a:moveTo>
                    <a:pt x="0" y="0"/>
                  </a:moveTo>
                  <a:lnTo>
                    <a:pt x="463061" y="0"/>
                  </a:lnTo>
                  <a:lnTo>
                    <a:pt x="463061" y="373500"/>
                  </a:lnTo>
                  <a:lnTo>
                    <a:pt x="0" y="373500"/>
                  </a:lnTo>
                  <a:close/>
                </a:path>
              </a:pathLst>
            </a:custGeom>
            <a:noFill/>
            <a:ln w="3600">
              <a:solidFill>
                <a:srgbClr val="8AB3D9"/>
              </a:solidFill>
            </a:ln>
          </p:spPr>
        </p:sp>
      </p:grpSp>
      <p:grpSp>
        <p:nvGrpSpPr>
          <p:cNvPr id="630" name="48^3 crop centered blob">
            <a:extLst>
              <a:ext uri="{FF2B5EF4-FFF2-40B4-BE49-F238E27FC236}">
                <a16:creationId xmlns:a16="http://schemas.microsoft.com/office/drawing/2014/main" id="{05F07842-8C1D-D758-5B6A-3324A46B243F}"/>
              </a:ext>
            </a:extLst>
          </p:cNvPr>
          <p:cNvGrpSpPr/>
          <p:nvPr/>
        </p:nvGrpSpPr>
        <p:grpSpPr>
          <a:xfrm>
            <a:off x="1720137" y="2424395"/>
            <a:ext cx="110568" cy="75332"/>
            <a:chOff x="1928706" y="3559489"/>
            <a:chExt cx="227897" cy="155682"/>
          </a:xfrm>
        </p:grpSpPr>
        <p:sp>
          <p:nvSpPr>
            <p:cNvPr id="631" name="Candidate blob | editable contour">
              <a:extLst>
                <a:ext uri="{FF2B5EF4-FFF2-40B4-BE49-F238E27FC236}">
                  <a16:creationId xmlns:a16="http://schemas.microsoft.com/office/drawing/2014/main" id="{9098312C-2F0E-B28B-B660-F9C51272B948}"/>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32" name="ellipse_2612">
              <a:extLst>
                <a:ext uri="{FF2B5EF4-FFF2-40B4-BE49-F238E27FC236}">
                  <a16:creationId xmlns:a16="http://schemas.microsoft.com/office/drawing/2014/main" id="{ACF53CE3-1C37-025F-02A8-70EEA8DCFD7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33" name="Blob centroid marker">
            <a:extLst>
              <a:ext uri="{FF2B5EF4-FFF2-40B4-BE49-F238E27FC236}">
                <a16:creationId xmlns:a16="http://schemas.microsoft.com/office/drawing/2014/main" id="{EDD959CF-D4D3-5624-F7B2-BF9345634585}"/>
              </a:ext>
            </a:extLst>
          </p:cNvPr>
          <p:cNvSpPr/>
          <p:nvPr/>
        </p:nvSpPr>
        <p:spPr>
          <a:xfrm>
            <a:off x="1763068" y="2450316"/>
            <a:ext cx="24301" cy="24301"/>
          </a:xfrm>
          <a:prstGeom prst="ellipse">
            <a:avLst/>
          </a:prstGeom>
          <a:solidFill>
            <a:srgbClr val="1D4ED8"/>
          </a:solidFill>
          <a:ln w="762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4" name="TextBox 12188">
            <a:extLst>
              <a:ext uri="{FF2B5EF4-FFF2-40B4-BE49-F238E27FC236}">
                <a16:creationId xmlns:a16="http://schemas.microsoft.com/office/drawing/2014/main" id="{2C0C5B7E-EB59-C12C-034A-66725ABF262F}"/>
              </a:ext>
            </a:extLst>
          </p:cNvPr>
          <p:cNvSpPr txBox="1"/>
          <p:nvPr/>
        </p:nvSpPr>
        <p:spPr>
          <a:xfrm>
            <a:off x="1598897" y="2614551"/>
            <a:ext cx="328616" cy="92333"/>
          </a:xfrm>
          <a:prstGeom prst="rect">
            <a:avLst/>
          </a:prstGeom>
          <a:noFill/>
        </p:spPr>
        <p:txBody>
          <a:bodyPr wrap="none" lIns="0" tIns="0" rIns="0" bIns="0" anchor="ctr">
            <a:spAutoFit/>
          </a:bodyPr>
          <a:lstStyle/>
          <a:p>
            <a:pPr algn="ctr">
              <a:lnSpc>
                <a:spcPct val="105000"/>
              </a:lnSpc>
            </a:pPr>
            <a:r>
              <a:rPr sz="614" dirty="0">
                <a:solidFill>
                  <a:srgbClr val="263442"/>
                </a:solidFill>
                <a:latin typeface="Arial"/>
              </a:rPr>
              <a:t>3D U-Net</a:t>
            </a:r>
          </a:p>
        </p:txBody>
      </p:sp>
      <p:sp>
        <p:nvSpPr>
          <p:cNvPr id="635" name="TextBox 12189">
            <a:extLst>
              <a:ext uri="{FF2B5EF4-FFF2-40B4-BE49-F238E27FC236}">
                <a16:creationId xmlns:a16="http://schemas.microsoft.com/office/drawing/2014/main" id="{8153BF98-6A0C-0786-710E-3D0EE8987AAA}"/>
              </a:ext>
            </a:extLst>
          </p:cNvPr>
          <p:cNvSpPr txBox="1"/>
          <p:nvPr/>
        </p:nvSpPr>
        <p:spPr>
          <a:xfrm>
            <a:off x="2016116" y="2623546"/>
            <a:ext cx="514564" cy="90218"/>
          </a:xfrm>
          <a:prstGeom prst="rect">
            <a:avLst/>
          </a:prstGeom>
          <a:noFill/>
        </p:spPr>
        <p:txBody>
          <a:bodyPr wrap="none" lIns="0" tIns="0" rIns="0" bIns="0" anchor="ctr">
            <a:spAutoFit/>
          </a:bodyPr>
          <a:lstStyle/>
          <a:p>
            <a:pPr algn="ctr">
              <a:lnSpc>
                <a:spcPct val="105000"/>
              </a:lnSpc>
            </a:pPr>
            <a:r>
              <a:rPr lang="en-US" sz="600" dirty="0">
                <a:solidFill>
                  <a:srgbClr val="263442"/>
                </a:solidFill>
                <a:latin typeface="Arial"/>
              </a:rPr>
              <a:t>B</a:t>
            </a:r>
            <a:r>
              <a:rPr lang="en-US" altLang="zh-CN" sz="600" dirty="0">
                <a:solidFill>
                  <a:srgbClr val="263442"/>
                </a:solidFill>
                <a:latin typeface="Arial"/>
              </a:rPr>
              <a:t>ase s</a:t>
            </a:r>
            <a:r>
              <a:rPr sz="600" dirty="0">
                <a:solidFill>
                  <a:srgbClr val="263442"/>
                </a:solidFill>
                <a:latin typeface="Arial"/>
              </a:rPr>
              <a:t>ummary</a:t>
            </a:r>
          </a:p>
        </p:txBody>
      </p:sp>
      <p:sp>
        <p:nvSpPr>
          <p:cNvPr id="636" name="Math | h_j^vox">
            <a:extLst>
              <a:ext uri="{FF2B5EF4-FFF2-40B4-BE49-F238E27FC236}">
                <a16:creationId xmlns:a16="http://schemas.microsoft.com/office/drawing/2014/main" id="{93EC2205-1821-C3E9-E08B-23B27F07452E}"/>
              </a:ext>
            </a:extLst>
          </p:cNvPr>
          <p:cNvSpPr txBox="1"/>
          <p:nvPr/>
        </p:nvSpPr>
        <p:spPr>
          <a:xfrm>
            <a:off x="2191874" y="2371206"/>
            <a:ext cx="169918" cy="126509"/>
          </a:xfrm>
          <a:prstGeom prst="rect">
            <a:avLst/>
          </a:prstGeom>
          <a:noFill/>
        </p:spPr>
        <p:txBody>
          <a:bodyPr wrap="none" lIns="0" tIns="0" rIns="0" bIns="0" anchor="ctr">
            <a:spAutoFit/>
          </a:bodyPr>
          <a:lstStyle/>
          <a:p>
            <a:pPr algn="ctr"/>
            <a:r>
              <a:rPr sz="855" i="1">
                <a:solidFill>
                  <a:srgbClr val="263442"/>
                </a:solidFill>
                <a:latin typeface="Times New Roman"/>
              </a:rPr>
              <a:t>h</a:t>
            </a:r>
            <a:r>
              <a:rPr sz="780" i="1" baseline="-28000">
                <a:solidFill>
                  <a:srgbClr val="263442"/>
                </a:solidFill>
                <a:latin typeface="Times New Roman"/>
              </a:rPr>
              <a:t>j</a:t>
            </a:r>
            <a:r>
              <a:rPr sz="780" baseline="32000">
                <a:solidFill>
                  <a:srgbClr val="263442"/>
                </a:solidFill>
                <a:latin typeface="Arial"/>
              </a:rPr>
              <a:t>vox</a:t>
            </a:r>
          </a:p>
        </p:txBody>
      </p:sp>
      <p:sp>
        <p:nvSpPr>
          <p:cNvPr id="637" name="Base summary bar_1">
            <a:extLst>
              <a:ext uri="{FF2B5EF4-FFF2-40B4-BE49-F238E27FC236}">
                <a16:creationId xmlns:a16="http://schemas.microsoft.com/office/drawing/2014/main" id="{99E9D3C4-A8BD-9C93-615E-C771AE07C8E3}"/>
              </a:ext>
            </a:extLst>
          </p:cNvPr>
          <p:cNvSpPr/>
          <p:nvPr/>
        </p:nvSpPr>
        <p:spPr>
          <a:xfrm>
            <a:off x="2095404" y="2549118"/>
            <a:ext cx="44072" cy="59328"/>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8" name="Base summary bar_2">
            <a:extLst>
              <a:ext uri="{FF2B5EF4-FFF2-40B4-BE49-F238E27FC236}">
                <a16:creationId xmlns:a16="http://schemas.microsoft.com/office/drawing/2014/main" id="{6BC787CE-AF83-7509-7C88-9AB58DB6F66F}"/>
              </a:ext>
            </a:extLst>
          </p:cNvPr>
          <p:cNvSpPr/>
          <p:nvPr/>
        </p:nvSpPr>
        <p:spPr>
          <a:xfrm>
            <a:off x="2143431" y="2549118"/>
            <a:ext cx="44072" cy="59328"/>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9" name="Base summary bar_3">
            <a:extLst>
              <a:ext uri="{FF2B5EF4-FFF2-40B4-BE49-F238E27FC236}">
                <a16:creationId xmlns:a16="http://schemas.microsoft.com/office/drawing/2014/main" id="{269240CC-07F6-8569-D6D0-2E898FDFE671}"/>
              </a:ext>
            </a:extLst>
          </p:cNvPr>
          <p:cNvSpPr/>
          <p:nvPr/>
        </p:nvSpPr>
        <p:spPr>
          <a:xfrm>
            <a:off x="2191458" y="2549118"/>
            <a:ext cx="44072" cy="59328"/>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0" name="Base summary bar_4">
            <a:extLst>
              <a:ext uri="{FF2B5EF4-FFF2-40B4-BE49-F238E27FC236}">
                <a16:creationId xmlns:a16="http://schemas.microsoft.com/office/drawing/2014/main" id="{D027E165-A9E7-E339-F192-6FC69D94CA5E}"/>
              </a:ext>
            </a:extLst>
          </p:cNvPr>
          <p:cNvSpPr/>
          <p:nvPr/>
        </p:nvSpPr>
        <p:spPr>
          <a:xfrm>
            <a:off x="2239486" y="2549118"/>
            <a:ext cx="44072" cy="59328"/>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1" name="Base summary bar_5">
            <a:extLst>
              <a:ext uri="{FF2B5EF4-FFF2-40B4-BE49-F238E27FC236}">
                <a16:creationId xmlns:a16="http://schemas.microsoft.com/office/drawing/2014/main" id="{AF544338-D23E-CE3C-A6B8-4FA37DCAD82E}"/>
              </a:ext>
            </a:extLst>
          </p:cNvPr>
          <p:cNvSpPr/>
          <p:nvPr/>
        </p:nvSpPr>
        <p:spPr>
          <a:xfrm>
            <a:off x="2287514" y="2549118"/>
            <a:ext cx="44072" cy="59328"/>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2" name="Base summary bar_6">
            <a:extLst>
              <a:ext uri="{FF2B5EF4-FFF2-40B4-BE49-F238E27FC236}">
                <a16:creationId xmlns:a16="http://schemas.microsoft.com/office/drawing/2014/main" id="{9F80EB35-B4A7-2FA2-7A0C-B02A9915E4EB}"/>
              </a:ext>
            </a:extLst>
          </p:cNvPr>
          <p:cNvSpPr/>
          <p:nvPr/>
        </p:nvSpPr>
        <p:spPr>
          <a:xfrm>
            <a:off x="2335541" y="2549118"/>
            <a:ext cx="44072" cy="59328"/>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3" name="Base summary bar_7">
            <a:extLst>
              <a:ext uri="{FF2B5EF4-FFF2-40B4-BE49-F238E27FC236}">
                <a16:creationId xmlns:a16="http://schemas.microsoft.com/office/drawing/2014/main" id="{763E1301-00D0-44E1-3425-288C0321EC85}"/>
              </a:ext>
            </a:extLst>
          </p:cNvPr>
          <p:cNvSpPr/>
          <p:nvPr/>
        </p:nvSpPr>
        <p:spPr>
          <a:xfrm>
            <a:off x="2383568" y="2549118"/>
            <a:ext cx="44072" cy="59328"/>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4" name="Op | Mean/max pool">
            <a:extLst>
              <a:ext uri="{FF2B5EF4-FFF2-40B4-BE49-F238E27FC236}">
                <a16:creationId xmlns:a16="http://schemas.microsoft.com/office/drawing/2014/main" id="{C4850A78-C957-EF45-0669-F1FA2501E311}"/>
              </a:ext>
            </a:extLst>
          </p:cNvPr>
          <p:cNvSpPr/>
          <p:nvPr/>
        </p:nvSpPr>
        <p:spPr>
          <a:xfrm>
            <a:off x="608834" y="3452879"/>
            <a:ext cx="617009"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Mean/max pool</a:t>
            </a:r>
          </a:p>
        </p:txBody>
      </p:sp>
      <p:sp>
        <p:nvSpPr>
          <p:cNvPr id="645" name="Op | Cross-attention">
            <a:extLst>
              <a:ext uri="{FF2B5EF4-FFF2-40B4-BE49-F238E27FC236}">
                <a16:creationId xmlns:a16="http://schemas.microsoft.com/office/drawing/2014/main" id="{11FEE5AE-99F9-B083-0D93-CFC8DBD07D63}"/>
              </a:ext>
            </a:extLst>
          </p:cNvPr>
          <p:cNvSpPr/>
          <p:nvPr/>
        </p:nvSpPr>
        <p:spPr>
          <a:xfrm>
            <a:off x="1304947" y="3452879"/>
            <a:ext cx="648651"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Cross-attention</a:t>
            </a:r>
          </a:p>
        </p:txBody>
      </p:sp>
      <p:sp>
        <p:nvSpPr>
          <p:cNvPr id="646" name="TextBox 12200">
            <a:extLst>
              <a:ext uri="{FF2B5EF4-FFF2-40B4-BE49-F238E27FC236}">
                <a16:creationId xmlns:a16="http://schemas.microsoft.com/office/drawing/2014/main" id="{884D8F93-171F-A6AB-A603-7E1006874447}"/>
              </a:ext>
            </a:extLst>
          </p:cNvPr>
          <p:cNvSpPr txBox="1"/>
          <p:nvPr/>
        </p:nvSpPr>
        <p:spPr>
          <a:xfrm>
            <a:off x="1674244" y="3370950"/>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647" name="Op | FiLM">
            <a:extLst>
              <a:ext uri="{FF2B5EF4-FFF2-40B4-BE49-F238E27FC236}">
                <a16:creationId xmlns:a16="http://schemas.microsoft.com/office/drawing/2014/main" id="{59F3449A-984C-C7E7-FC02-0C47B43E0DFD}"/>
              </a:ext>
            </a:extLst>
          </p:cNvPr>
          <p:cNvSpPr/>
          <p:nvPr/>
        </p:nvSpPr>
        <p:spPr>
          <a:xfrm>
            <a:off x="2095987" y="3738251"/>
            <a:ext cx="300518" cy="150259"/>
          </a:xfrm>
          <a:prstGeom prst="roundRect">
            <a:avLst>
              <a:gd name="adj" fmla="val 25000"/>
            </a:avLst>
          </a:prstGeom>
          <a:solidFill>
            <a:srgbClr val="EDE7F5"/>
          </a:solidFill>
          <a:ln w="7290">
            <a:solidFill>
              <a:srgbClr val="B8A9D9"/>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623">
                <a:solidFill>
                  <a:srgbClr val="263442"/>
                </a:solidFill>
                <a:latin typeface="Arial"/>
              </a:rPr>
              <a:t>FiLM</a:t>
            </a:r>
          </a:p>
        </p:txBody>
      </p:sp>
      <p:sp>
        <p:nvSpPr>
          <p:cNvPr id="648" name="TextBox 12202">
            <a:extLst>
              <a:ext uri="{FF2B5EF4-FFF2-40B4-BE49-F238E27FC236}">
                <a16:creationId xmlns:a16="http://schemas.microsoft.com/office/drawing/2014/main" id="{6F9F40E0-7819-CEA2-6131-C4ABBC19B945}"/>
              </a:ext>
            </a:extLst>
          </p:cNvPr>
          <p:cNvSpPr txBox="1"/>
          <p:nvPr/>
        </p:nvSpPr>
        <p:spPr>
          <a:xfrm>
            <a:off x="2029743" y="3431411"/>
            <a:ext cx="126566" cy="84510"/>
          </a:xfrm>
          <a:prstGeom prst="rect">
            <a:avLst/>
          </a:prstGeom>
          <a:noFill/>
        </p:spPr>
        <p:txBody>
          <a:bodyPr wrap="square" lIns="0" tIns="0" rIns="0" bIns="0" anchor="ctr">
            <a:spAutoFit/>
          </a:bodyPr>
          <a:lstStyle/>
          <a:p>
            <a:pPr algn="ctr">
              <a:lnSpc>
                <a:spcPct val="105000"/>
              </a:lnSpc>
            </a:pPr>
            <a:r>
              <a:rPr sz="562" dirty="0">
                <a:solidFill>
                  <a:srgbClr val="263442"/>
                </a:solidFill>
                <a:latin typeface="Arial"/>
              </a:rPr>
              <a:t>Q</a:t>
            </a:r>
          </a:p>
        </p:txBody>
      </p:sp>
      <p:sp>
        <p:nvSpPr>
          <p:cNvPr id="649" name="Op | MLP">
            <a:extLst>
              <a:ext uri="{FF2B5EF4-FFF2-40B4-BE49-F238E27FC236}">
                <a16:creationId xmlns:a16="http://schemas.microsoft.com/office/drawing/2014/main" id="{554F5441-96D3-CFD3-6A6E-CA8C906F4B29}"/>
              </a:ext>
            </a:extLst>
          </p:cNvPr>
          <p:cNvSpPr/>
          <p:nvPr/>
        </p:nvSpPr>
        <p:spPr>
          <a:xfrm>
            <a:off x="1099255" y="3738251"/>
            <a:ext cx="347904" cy="150259"/>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MLP</a:t>
            </a:r>
          </a:p>
        </p:txBody>
      </p:sp>
      <p:sp>
        <p:nvSpPr>
          <p:cNvPr id="650" name="h_j bar_1">
            <a:extLst>
              <a:ext uri="{FF2B5EF4-FFF2-40B4-BE49-F238E27FC236}">
                <a16:creationId xmlns:a16="http://schemas.microsoft.com/office/drawing/2014/main" id="{99BF7016-0AEC-5CA1-43D0-0CC405933ADD}"/>
              </a:ext>
            </a:extLst>
          </p:cNvPr>
          <p:cNvSpPr/>
          <p:nvPr/>
        </p:nvSpPr>
        <p:spPr>
          <a:xfrm>
            <a:off x="2080164" y="3989994"/>
            <a:ext cx="44072" cy="56955"/>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1" name="h_j bar_2">
            <a:extLst>
              <a:ext uri="{FF2B5EF4-FFF2-40B4-BE49-F238E27FC236}">
                <a16:creationId xmlns:a16="http://schemas.microsoft.com/office/drawing/2014/main" id="{71708831-906F-DB31-D516-DA6520DB6B6E}"/>
              </a:ext>
            </a:extLst>
          </p:cNvPr>
          <p:cNvSpPr/>
          <p:nvPr/>
        </p:nvSpPr>
        <p:spPr>
          <a:xfrm>
            <a:off x="2128191" y="3989994"/>
            <a:ext cx="44072" cy="56955"/>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2" name="h_j bar_3">
            <a:extLst>
              <a:ext uri="{FF2B5EF4-FFF2-40B4-BE49-F238E27FC236}">
                <a16:creationId xmlns:a16="http://schemas.microsoft.com/office/drawing/2014/main" id="{E1CF9CE6-644D-2199-D558-FB2748AF4CA8}"/>
              </a:ext>
            </a:extLst>
          </p:cNvPr>
          <p:cNvSpPr/>
          <p:nvPr/>
        </p:nvSpPr>
        <p:spPr>
          <a:xfrm>
            <a:off x="2176218" y="3989994"/>
            <a:ext cx="44072" cy="56955"/>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3" name="h_j bar_4">
            <a:extLst>
              <a:ext uri="{FF2B5EF4-FFF2-40B4-BE49-F238E27FC236}">
                <a16:creationId xmlns:a16="http://schemas.microsoft.com/office/drawing/2014/main" id="{0B1E11C4-B6B0-8410-69CA-ECA06B016C11}"/>
              </a:ext>
            </a:extLst>
          </p:cNvPr>
          <p:cNvSpPr/>
          <p:nvPr/>
        </p:nvSpPr>
        <p:spPr>
          <a:xfrm>
            <a:off x="2224246" y="3989994"/>
            <a:ext cx="44072" cy="56955"/>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4" name="h_j bar_5">
            <a:extLst>
              <a:ext uri="{FF2B5EF4-FFF2-40B4-BE49-F238E27FC236}">
                <a16:creationId xmlns:a16="http://schemas.microsoft.com/office/drawing/2014/main" id="{2A27D763-25D4-1A48-A9AB-8AE10B5867F3}"/>
              </a:ext>
            </a:extLst>
          </p:cNvPr>
          <p:cNvSpPr/>
          <p:nvPr/>
        </p:nvSpPr>
        <p:spPr>
          <a:xfrm>
            <a:off x="2272274" y="3989994"/>
            <a:ext cx="44072" cy="56955"/>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5" name="h_j bar_6">
            <a:extLst>
              <a:ext uri="{FF2B5EF4-FFF2-40B4-BE49-F238E27FC236}">
                <a16:creationId xmlns:a16="http://schemas.microsoft.com/office/drawing/2014/main" id="{CC2DBA64-D0DF-1160-5FEF-C265BF4EAB35}"/>
              </a:ext>
            </a:extLst>
          </p:cNvPr>
          <p:cNvSpPr/>
          <p:nvPr/>
        </p:nvSpPr>
        <p:spPr>
          <a:xfrm>
            <a:off x="2320301" y="3989994"/>
            <a:ext cx="44072" cy="56955"/>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6" name="h_j bar_7">
            <a:extLst>
              <a:ext uri="{FF2B5EF4-FFF2-40B4-BE49-F238E27FC236}">
                <a16:creationId xmlns:a16="http://schemas.microsoft.com/office/drawing/2014/main" id="{3E031F7D-E2D9-9D11-0526-4D352C453584}"/>
              </a:ext>
            </a:extLst>
          </p:cNvPr>
          <p:cNvSpPr/>
          <p:nvPr/>
        </p:nvSpPr>
        <p:spPr>
          <a:xfrm>
            <a:off x="2368328" y="3989994"/>
            <a:ext cx="44072" cy="56955"/>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7" name="Math | h_j^">
            <a:extLst>
              <a:ext uri="{FF2B5EF4-FFF2-40B4-BE49-F238E27FC236}">
                <a16:creationId xmlns:a16="http://schemas.microsoft.com/office/drawing/2014/main" id="{9AC920D3-16D2-273E-04D3-53357E82FB0E}"/>
              </a:ext>
            </a:extLst>
          </p:cNvPr>
          <p:cNvSpPr txBox="1"/>
          <p:nvPr/>
        </p:nvSpPr>
        <p:spPr>
          <a:xfrm>
            <a:off x="1986964" y="3936721"/>
            <a:ext cx="70532" cy="126509"/>
          </a:xfrm>
          <a:prstGeom prst="rect">
            <a:avLst/>
          </a:prstGeom>
          <a:noFill/>
        </p:spPr>
        <p:txBody>
          <a:bodyPr wrap="none" lIns="0" tIns="0" rIns="0" bIns="0" anchor="ctr">
            <a:spAutoFit/>
          </a:bodyPr>
          <a:lstStyle/>
          <a:p>
            <a:pPr algn="ctr"/>
            <a:r>
              <a:rPr sz="855" i="1" dirty="0" err="1">
                <a:solidFill>
                  <a:srgbClr val="263442"/>
                </a:solidFill>
                <a:latin typeface="Times New Roman"/>
              </a:rPr>
              <a:t>h</a:t>
            </a:r>
            <a:r>
              <a:rPr sz="780" i="1" baseline="-28000" dirty="0" err="1">
                <a:solidFill>
                  <a:srgbClr val="263442"/>
                </a:solidFill>
                <a:latin typeface="Times New Roman"/>
              </a:rPr>
              <a:t>j</a:t>
            </a:r>
            <a:endParaRPr sz="780" i="1" baseline="-28000" dirty="0">
              <a:solidFill>
                <a:srgbClr val="263442"/>
              </a:solidFill>
              <a:latin typeface="Times New Roman"/>
            </a:endParaRPr>
          </a:p>
        </p:txBody>
      </p:sp>
      <p:sp>
        <p:nvSpPr>
          <p:cNvPr id="658" name="Op | Foreground head">
            <a:extLst>
              <a:ext uri="{FF2B5EF4-FFF2-40B4-BE49-F238E27FC236}">
                <a16:creationId xmlns:a16="http://schemas.microsoft.com/office/drawing/2014/main" id="{772C4BD8-070D-6A2C-3C5B-CCE55BD09041}"/>
              </a:ext>
            </a:extLst>
          </p:cNvPr>
          <p:cNvSpPr/>
          <p:nvPr/>
        </p:nvSpPr>
        <p:spPr>
          <a:xfrm>
            <a:off x="695848" y="4181937"/>
            <a:ext cx="696113"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Foreground head</a:t>
            </a:r>
          </a:p>
        </p:txBody>
      </p:sp>
      <p:sp>
        <p:nvSpPr>
          <p:cNvPr id="659" name="Math | p_j^fg">
            <a:extLst>
              <a:ext uri="{FF2B5EF4-FFF2-40B4-BE49-F238E27FC236}">
                <a16:creationId xmlns:a16="http://schemas.microsoft.com/office/drawing/2014/main" id="{04752E8A-9FFA-1739-18D7-365FF5D9A529}"/>
              </a:ext>
            </a:extLst>
          </p:cNvPr>
          <p:cNvSpPr txBox="1"/>
          <p:nvPr/>
        </p:nvSpPr>
        <p:spPr>
          <a:xfrm>
            <a:off x="1697293" y="4176444"/>
            <a:ext cx="121828" cy="122341"/>
          </a:xfrm>
          <a:prstGeom prst="rect">
            <a:avLst/>
          </a:prstGeom>
          <a:noFill/>
        </p:spPr>
        <p:txBody>
          <a:bodyPr wrap="none" lIns="0" tIns="0" rIns="0" bIns="0" anchor="ctr">
            <a:spAutoFit/>
          </a:bodyPr>
          <a:lstStyle/>
          <a:p>
            <a:pPr algn="ctr"/>
            <a:r>
              <a:rPr sz="827" i="1" dirty="0" err="1">
                <a:solidFill>
                  <a:srgbClr val="263442"/>
                </a:solidFill>
                <a:latin typeface="Times New Roman"/>
              </a:rPr>
              <a:t>p</a:t>
            </a:r>
            <a:r>
              <a:rPr sz="780" i="1" baseline="-28000" dirty="0" err="1">
                <a:solidFill>
                  <a:srgbClr val="263442"/>
                </a:solidFill>
                <a:latin typeface="Times New Roman"/>
              </a:rPr>
              <a:t>j</a:t>
            </a:r>
            <a:r>
              <a:rPr sz="780" baseline="32000" dirty="0" err="1">
                <a:solidFill>
                  <a:srgbClr val="263442"/>
                </a:solidFill>
                <a:latin typeface="Arial"/>
              </a:rPr>
              <a:t>fg</a:t>
            </a:r>
            <a:endParaRPr sz="780" baseline="32000" dirty="0">
              <a:solidFill>
                <a:srgbClr val="263442"/>
              </a:solidFill>
              <a:latin typeface="Arial"/>
            </a:endParaRPr>
          </a:p>
        </p:txBody>
      </p:sp>
      <p:sp>
        <p:nvSpPr>
          <p:cNvPr id="660" name="TextBox 12215">
            <a:extLst>
              <a:ext uri="{FF2B5EF4-FFF2-40B4-BE49-F238E27FC236}">
                <a16:creationId xmlns:a16="http://schemas.microsoft.com/office/drawing/2014/main" id="{C45D4B31-EE62-7047-2BD0-7D7B985DADC4}"/>
              </a:ext>
            </a:extLst>
          </p:cNvPr>
          <p:cNvSpPr txBox="1"/>
          <p:nvPr/>
        </p:nvSpPr>
        <p:spPr>
          <a:xfrm>
            <a:off x="1428555" y="4310121"/>
            <a:ext cx="666849" cy="79445"/>
          </a:xfrm>
          <a:prstGeom prst="rect">
            <a:avLst/>
          </a:prstGeom>
          <a:noFill/>
        </p:spPr>
        <p:txBody>
          <a:bodyPr wrap="none" lIns="0" tIns="0" rIns="0" bIns="0" anchor="ctr">
            <a:spAutoFit/>
          </a:bodyPr>
          <a:lstStyle/>
          <a:p>
            <a:pPr algn="l">
              <a:lnSpc>
                <a:spcPct val="105000"/>
              </a:lnSpc>
            </a:pPr>
            <a:r>
              <a:rPr sz="528" dirty="0">
                <a:solidFill>
                  <a:srgbClr val="263442"/>
                </a:solidFill>
                <a:latin typeface="Arial"/>
              </a:rPr>
              <a:t>Foreground probability</a:t>
            </a:r>
          </a:p>
        </p:txBody>
      </p:sp>
      <p:sp>
        <p:nvSpPr>
          <p:cNvPr id="661" name="TextBox 12216">
            <a:extLst>
              <a:ext uri="{FF2B5EF4-FFF2-40B4-BE49-F238E27FC236}">
                <a16:creationId xmlns:a16="http://schemas.microsoft.com/office/drawing/2014/main" id="{978E7CF5-ACF2-460D-26F2-9B198BAAC63B}"/>
              </a:ext>
            </a:extLst>
          </p:cNvPr>
          <p:cNvSpPr txBox="1"/>
          <p:nvPr/>
        </p:nvSpPr>
        <p:spPr>
          <a:xfrm>
            <a:off x="3071869" y="2206291"/>
            <a:ext cx="1195840" cy="88422"/>
          </a:xfrm>
          <a:prstGeom prst="rect">
            <a:avLst/>
          </a:prstGeom>
          <a:noFill/>
        </p:spPr>
        <p:txBody>
          <a:bodyPr wrap="none" lIns="0" tIns="0" rIns="0" bIns="0" anchor="ctr">
            <a:spAutoFit/>
          </a:bodyPr>
          <a:lstStyle/>
          <a:p>
            <a:pPr algn="ctr">
              <a:lnSpc>
                <a:spcPct val="105000"/>
              </a:lnSpc>
            </a:pPr>
            <a:r>
              <a:rPr sz="588">
                <a:solidFill>
                  <a:srgbClr val="263442"/>
                </a:solidFill>
                <a:latin typeface="Arial"/>
              </a:rPr>
              <a:t>User-provided SMILES · same PDB</a:t>
            </a:r>
          </a:p>
        </p:txBody>
      </p:sp>
      <p:sp>
        <p:nvSpPr>
          <p:cNvPr id="662" name="Identity | SMILES list card">
            <a:extLst>
              <a:ext uri="{FF2B5EF4-FFF2-40B4-BE49-F238E27FC236}">
                <a16:creationId xmlns:a16="http://schemas.microsoft.com/office/drawing/2014/main" id="{7DA7890B-AB79-9717-CAA6-1EEE08F32188}"/>
              </a:ext>
            </a:extLst>
          </p:cNvPr>
          <p:cNvSpPr/>
          <p:nvPr/>
        </p:nvSpPr>
        <p:spPr>
          <a:xfrm>
            <a:off x="3250539" y="2309830"/>
            <a:ext cx="838500" cy="512745"/>
          </a:xfrm>
          <a:prstGeom prst="roundRect">
            <a:avLst>
              <a:gd name="adj" fmla="val 6000"/>
            </a:avLst>
          </a:prstGeom>
          <a:solidFill>
            <a:srgbClr val="FFFFFF"/>
          </a:solidFill>
          <a:ln w="7290">
            <a:solidFill>
              <a:srgbClr val="CBD6E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3" name="TextBox 12218">
            <a:extLst>
              <a:ext uri="{FF2B5EF4-FFF2-40B4-BE49-F238E27FC236}">
                <a16:creationId xmlns:a16="http://schemas.microsoft.com/office/drawing/2014/main" id="{86BB59AD-D134-C7C6-AEC0-14F6157A5F0B}"/>
              </a:ext>
            </a:extLst>
          </p:cNvPr>
          <p:cNvSpPr txBox="1"/>
          <p:nvPr/>
        </p:nvSpPr>
        <p:spPr>
          <a:xfrm>
            <a:off x="3305912" y="2338063"/>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1   CCO</a:t>
            </a:r>
          </a:p>
        </p:txBody>
      </p:sp>
      <p:sp>
        <p:nvSpPr>
          <p:cNvPr id="664" name="TextBox 12219">
            <a:extLst>
              <a:ext uri="{FF2B5EF4-FFF2-40B4-BE49-F238E27FC236}">
                <a16:creationId xmlns:a16="http://schemas.microsoft.com/office/drawing/2014/main" id="{D5CEF1E2-0003-83A9-6C8B-869DF460C92C}"/>
              </a:ext>
            </a:extLst>
          </p:cNvPr>
          <p:cNvSpPr txBox="1"/>
          <p:nvPr/>
        </p:nvSpPr>
        <p:spPr>
          <a:xfrm>
            <a:off x="3305912" y="2440897"/>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2   CC(=O)O</a:t>
            </a:r>
          </a:p>
        </p:txBody>
      </p:sp>
      <p:sp>
        <p:nvSpPr>
          <p:cNvPr id="665" name="Identity | Selected k pill">
            <a:extLst>
              <a:ext uri="{FF2B5EF4-FFF2-40B4-BE49-F238E27FC236}">
                <a16:creationId xmlns:a16="http://schemas.microsoft.com/office/drawing/2014/main" id="{484884C0-9180-67EB-D183-0D32CB2F3899}"/>
              </a:ext>
            </a:extLst>
          </p:cNvPr>
          <p:cNvSpPr/>
          <p:nvPr/>
        </p:nvSpPr>
        <p:spPr>
          <a:xfrm>
            <a:off x="3282181" y="2562853"/>
            <a:ext cx="775217" cy="118656"/>
          </a:xfrm>
          <a:prstGeom prst="roundRect">
            <a:avLst>
              <a:gd name="adj" fmla="val 18000"/>
            </a:avLst>
          </a:prstGeom>
          <a:solidFill>
            <a:srgbClr val="DCFCE7"/>
          </a:solidFill>
          <a:ln w="8890">
            <a:solidFill>
              <a:srgbClr val="3E997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6" name="TextBox 12222">
            <a:extLst>
              <a:ext uri="{FF2B5EF4-FFF2-40B4-BE49-F238E27FC236}">
                <a16:creationId xmlns:a16="http://schemas.microsoft.com/office/drawing/2014/main" id="{AF18D027-6125-FBDF-9BCD-9060B5C5E099}"/>
              </a:ext>
            </a:extLst>
          </p:cNvPr>
          <p:cNvSpPr txBox="1"/>
          <p:nvPr/>
        </p:nvSpPr>
        <p:spPr>
          <a:xfrm>
            <a:off x="3313822" y="2585570"/>
            <a:ext cx="71193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k   Cc1ccccc1</a:t>
            </a:r>
          </a:p>
        </p:txBody>
      </p:sp>
      <p:sp>
        <p:nvSpPr>
          <p:cNvPr id="667" name="TextBox 12224">
            <a:extLst>
              <a:ext uri="{FF2B5EF4-FFF2-40B4-BE49-F238E27FC236}">
                <a16:creationId xmlns:a16="http://schemas.microsoft.com/office/drawing/2014/main" id="{4F02AD2D-3369-26A3-6D2F-44659C880CB7}"/>
              </a:ext>
            </a:extLst>
          </p:cNvPr>
          <p:cNvSpPr txBox="1"/>
          <p:nvPr/>
        </p:nvSpPr>
        <p:spPr>
          <a:xfrm>
            <a:off x="3305912" y="2714369"/>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K   CC(N)=O</a:t>
            </a:r>
          </a:p>
        </p:txBody>
      </p:sp>
      <p:sp>
        <p:nvSpPr>
          <p:cNvPr id="668" name="TextBox 12225">
            <a:extLst>
              <a:ext uri="{FF2B5EF4-FFF2-40B4-BE49-F238E27FC236}">
                <a16:creationId xmlns:a16="http://schemas.microsoft.com/office/drawing/2014/main" id="{3E613D72-90CB-62FD-E861-8FE6E2F065B8}"/>
              </a:ext>
            </a:extLst>
          </p:cNvPr>
          <p:cNvSpPr txBox="1"/>
          <p:nvPr/>
        </p:nvSpPr>
        <p:spPr>
          <a:xfrm>
            <a:off x="2786686" y="2643822"/>
            <a:ext cx="181140" cy="80599"/>
          </a:xfrm>
          <a:prstGeom prst="rect">
            <a:avLst/>
          </a:prstGeom>
          <a:noFill/>
        </p:spPr>
        <p:txBody>
          <a:bodyPr wrap="none" lIns="0" tIns="0" rIns="0" bIns="0" anchor="ctr">
            <a:spAutoFit/>
          </a:bodyPr>
          <a:lstStyle/>
          <a:p>
            <a:pPr algn="l">
              <a:lnSpc>
                <a:spcPct val="105000"/>
              </a:lnSpc>
            </a:pPr>
            <a:r>
              <a:rPr sz="536" dirty="0" err="1">
                <a:solidFill>
                  <a:srgbClr val="263442"/>
                </a:solidFill>
                <a:latin typeface="Arial"/>
              </a:rPr>
              <a:t>RDKit</a:t>
            </a:r>
            <a:endParaRPr sz="536" dirty="0">
              <a:solidFill>
                <a:srgbClr val="263442"/>
              </a:solidFill>
              <a:latin typeface="Arial"/>
            </a:endParaRPr>
          </a:p>
        </p:txBody>
      </p:sp>
      <p:grpSp>
        <p:nvGrpSpPr>
          <p:cNvPr id="669" name="Identity | Own molecular graph">
            <a:extLst>
              <a:ext uri="{FF2B5EF4-FFF2-40B4-BE49-F238E27FC236}">
                <a16:creationId xmlns:a16="http://schemas.microsoft.com/office/drawing/2014/main" id="{683652C7-CC94-2A9C-935C-36CF7B7EB5E8}"/>
              </a:ext>
            </a:extLst>
          </p:cNvPr>
          <p:cNvGrpSpPr/>
          <p:nvPr/>
        </p:nvGrpSpPr>
        <p:grpSpPr>
          <a:xfrm>
            <a:off x="2862931" y="2888431"/>
            <a:ext cx="284773" cy="171742"/>
            <a:chOff x="3366271" y="3721905"/>
            <a:chExt cx="311024" cy="187573"/>
          </a:xfrm>
        </p:grpSpPr>
        <p:cxnSp>
          <p:nvCxnSpPr>
            <p:cNvPr id="670" name="path_2698">
              <a:extLst>
                <a:ext uri="{FF2B5EF4-FFF2-40B4-BE49-F238E27FC236}">
                  <a16:creationId xmlns:a16="http://schemas.microsoft.com/office/drawing/2014/main" id="{08C9C74A-0B12-2E3C-023F-C3DCDEFB7AF1}"/>
                </a:ext>
              </a:extLst>
            </p:cNvPr>
            <p:cNvCxnSpPr/>
            <p:nvPr/>
          </p:nvCxnSpPr>
          <p:spPr>
            <a:xfrm flipV="1">
              <a:off x="3381053" y="3736688"/>
              <a:ext cx="63663" cy="70463"/>
            </a:xfrm>
            <a:prstGeom prst="line">
              <a:avLst/>
            </a:prstGeom>
            <a:noFill/>
            <a:ln w="5256" cap="rnd" cmpd="sng" algn="ctr">
              <a:solidFill>
                <a:srgbClr val="238777"/>
              </a:solidFill>
              <a:prstDash val="solid"/>
              <a:round/>
              <a:headEnd type="none" w="med" len="med"/>
              <a:tailEnd type="none" w="med" len="med"/>
            </a:ln>
            <a:effectLst/>
          </p:spPr>
        </p:cxnSp>
        <p:cxnSp>
          <p:nvCxnSpPr>
            <p:cNvPr id="671" name="path_2699">
              <a:extLst>
                <a:ext uri="{FF2B5EF4-FFF2-40B4-BE49-F238E27FC236}">
                  <a16:creationId xmlns:a16="http://schemas.microsoft.com/office/drawing/2014/main" id="{1CF65ECB-9AC9-C310-5460-0B86FF6B2BC5}"/>
                </a:ext>
              </a:extLst>
            </p:cNvPr>
            <p:cNvCxnSpPr/>
            <p:nvPr/>
          </p:nvCxnSpPr>
          <p:spPr>
            <a:xfrm>
              <a:off x="3444717" y="3736688"/>
              <a:ext cx="113924" cy="14947"/>
            </a:xfrm>
            <a:prstGeom prst="line">
              <a:avLst/>
            </a:prstGeom>
            <a:noFill/>
            <a:ln w="5256" cap="rnd" cmpd="sng" algn="ctr">
              <a:solidFill>
                <a:srgbClr val="238777"/>
              </a:solidFill>
              <a:prstDash val="solid"/>
              <a:round/>
              <a:headEnd type="none" w="med" len="med"/>
              <a:tailEnd type="none" w="med" len="med"/>
            </a:ln>
            <a:effectLst/>
          </p:spPr>
        </p:cxnSp>
        <p:cxnSp>
          <p:nvCxnSpPr>
            <p:cNvPr id="672" name="path_2700">
              <a:extLst>
                <a:ext uri="{FF2B5EF4-FFF2-40B4-BE49-F238E27FC236}">
                  <a16:creationId xmlns:a16="http://schemas.microsoft.com/office/drawing/2014/main" id="{47F0AAAA-D782-D4D4-41E7-7304CCE8D568}"/>
                </a:ext>
              </a:extLst>
            </p:cNvPr>
            <p:cNvCxnSpPr/>
            <p:nvPr/>
          </p:nvCxnSpPr>
          <p:spPr>
            <a:xfrm>
              <a:off x="3558640" y="3751634"/>
              <a:ext cx="73715" cy="64058"/>
            </a:xfrm>
            <a:prstGeom prst="line">
              <a:avLst/>
            </a:prstGeom>
            <a:noFill/>
            <a:ln w="5256" cap="rnd" cmpd="sng" algn="ctr">
              <a:solidFill>
                <a:srgbClr val="238777"/>
              </a:solidFill>
              <a:prstDash val="solid"/>
              <a:round/>
              <a:headEnd type="none" w="med" len="med"/>
              <a:tailEnd type="none" w="med" len="med"/>
            </a:ln>
            <a:effectLst/>
          </p:spPr>
        </p:cxnSp>
        <p:cxnSp>
          <p:nvCxnSpPr>
            <p:cNvPr id="673" name="path_2701">
              <a:extLst>
                <a:ext uri="{FF2B5EF4-FFF2-40B4-BE49-F238E27FC236}">
                  <a16:creationId xmlns:a16="http://schemas.microsoft.com/office/drawing/2014/main" id="{672DEF92-FEF6-A8B8-A079-671D6D70071E}"/>
                </a:ext>
              </a:extLst>
            </p:cNvPr>
            <p:cNvCxnSpPr/>
            <p:nvPr/>
          </p:nvCxnSpPr>
          <p:spPr>
            <a:xfrm flipH="1">
              <a:off x="3561991" y="3815692"/>
              <a:ext cx="70365" cy="79004"/>
            </a:xfrm>
            <a:prstGeom prst="line">
              <a:avLst/>
            </a:prstGeom>
            <a:noFill/>
            <a:ln w="5256" cap="rnd" cmpd="sng" algn="ctr">
              <a:solidFill>
                <a:srgbClr val="238777"/>
              </a:solidFill>
              <a:prstDash val="solid"/>
              <a:round/>
              <a:headEnd type="none" w="med" len="med"/>
              <a:tailEnd type="none" w="med" len="med"/>
            </a:ln>
            <a:effectLst/>
          </p:spPr>
        </p:cxnSp>
        <p:cxnSp>
          <p:nvCxnSpPr>
            <p:cNvPr id="674" name="path_2702">
              <a:extLst>
                <a:ext uri="{FF2B5EF4-FFF2-40B4-BE49-F238E27FC236}">
                  <a16:creationId xmlns:a16="http://schemas.microsoft.com/office/drawing/2014/main" id="{B02A38E3-8AB1-C1CA-A784-7A02E63B2D09}"/>
                </a:ext>
              </a:extLst>
            </p:cNvPr>
            <p:cNvCxnSpPr/>
            <p:nvPr/>
          </p:nvCxnSpPr>
          <p:spPr>
            <a:xfrm flipH="1" flipV="1">
              <a:off x="3444717" y="3875479"/>
              <a:ext cx="117275" cy="19217"/>
            </a:xfrm>
            <a:prstGeom prst="line">
              <a:avLst/>
            </a:prstGeom>
            <a:noFill/>
            <a:ln w="5256" cap="rnd" cmpd="sng" algn="ctr">
              <a:solidFill>
                <a:srgbClr val="238777"/>
              </a:solidFill>
              <a:prstDash val="solid"/>
              <a:round/>
              <a:headEnd type="none" w="med" len="med"/>
              <a:tailEnd type="none" w="med" len="med"/>
            </a:ln>
            <a:effectLst/>
          </p:spPr>
        </p:cxnSp>
        <p:cxnSp>
          <p:nvCxnSpPr>
            <p:cNvPr id="675" name="path_2703">
              <a:extLst>
                <a:ext uri="{FF2B5EF4-FFF2-40B4-BE49-F238E27FC236}">
                  <a16:creationId xmlns:a16="http://schemas.microsoft.com/office/drawing/2014/main" id="{5EB27651-D3BE-22CD-39D8-D428781F5F97}"/>
                </a:ext>
              </a:extLst>
            </p:cNvPr>
            <p:cNvCxnSpPr/>
            <p:nvPr/>
          </p:nvCxnSpPr>
          <p:spPr>
            <a:xfrm flipH="1" flipV="1">
              <a:off x="3381053" y="3807151"/>
              <a:ext cx="63663" cy="68328"/>
            </a:xfrm>
            <a:prstGeom prst="line">
              <a:avLst/>
            </a:prstGeom>
            <a:noFill/>
            <a:ln w="5256" cap="rnd" cmpd="sng" algn="ctr">
              <a:solidFill>
                <a:srgbClr val="238777"/>
              </a:solidFill>
              <a:prstDash val="solid"/>
              <a:round/>
              <a:headEnd type="none" w="med" len="med"/>
              <a:tailEnd type="none" w="med" len="med"/>
            </a:ln>
            <a:effectLst/>
          </p:spPr>
        </p:cxnSp>
        <p:cxnSp>
          <p:nvCxnSpPr>
            <p:cNvPr id="676" name="path_2704">
              <a:extLst>
                <a:ext uri="{FF2B5EF4-FFF2-40B4-BE49-F238E27FC236}">
                  <a16:creationId xmlns:a16="http://schemas.microsoft.com/office/drawing/2014/main" id="{A3592B63-1411-3F57-5878-96E17C30AD75}"/>
                </a:ext>
              </a:extLst>
            </p:cNvPr>
            <p:cNvCxnSpPr/>
            <p:nvPr/>
          </p:nvCxnSpPr>
          <p:spPr>
            <a:xfrm flipV="1">
              <a:off x="3558640" y="3745228"/>
              <a:ext cx="103872" cy="6406"/>
            </a:xfrm>
            <a:prstGeom prst="line">
              <a:avLst/>
            </a:prstGeom>
            <a:noFill/>
            <a:ln w="5256" cap="rnd" cmpd="sng" algn="ctr">
              <a:solidFill>
                <a:srgbClr val="238777"/>
              </a:solidFill>
              <a:prstDash val="solid"/>
              <a:round/>
              <a:headEnd type="none" w="med" len="med"/>
              <a:tailEnd type="none" w="med" len="med"/>
            </a:ln>
            <a:effectLst/>
          </p:spPr>
        </p:cxnSp>
        <p:sp>
          <p:nvSpPr>
            <p:cNvPr id="677" name="ellipse_2705">
              <a:extLst>
                <a:ext uri="{FF2B5EF4-FFF2-40B4-BE49-F238E27FC236}">
                  <a16:creationId xmlns:a16="http://schemas.microsoft.com/office/drawing/2014/main" id="{C3D36D22-8CEB-B663-A605-02E9CFFED0C1}"/>
                </a:ext>
              </a:extLst>
            </p:cNvPr>
            <p:cNvSpPr/>
            <p:nvPr/>
          </p:nvSpPr>
          <p:spPr>
            <a:xfrm>
              <a:off x="3366271" y="3792368"/>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8" name="ellipse_2706">
              <a:extLst>
                <a:ext uri="{FF2B5EF4-FFF2-40B4-BE49-F238E27FC236}">
                  <a16:creationId xmlns:a16="http://schemas.microsoft.com/office/drawing/2014/main" id="{1F86BCBC-B96E-6EC5-AC9B-22A20629DF0F}"/>
                </a:ext>
              </a:extLst>
            </p:cNvPr>
            <p:cNvSpPr/>
            <p:nvPr/>
          </p:nvSpPr>
          <p:spPr>
            <a:xfrm>
              <a:off x="3429934" y="3721905"/>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9" name="ellipse_2707">
              <a:extLst>
                <a:ext uri="{FF2B5EF4-FFF2-40B4-BE49-F238E27FC236}">
                  <a16:creationId xmlns:a16="http://schemas.microsoft.com/office/drawing/2014/main" id="{0D7ED534-2755-74EA-6149-4A7E3A7E8992}"/>
                </a:ext>
              </a:extLst>
            </p:cNvPr>
            <p:cNvSpPr/>
            <p:nvPr/>
          </p:nvSpPr>
          <p:spPr>
            <a:xfrm>
              <a:off x="3543858" y="3736852"/>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0" name="ellipse_2708">
              <a:extLst>
                <a:ext uri="{FF2B5EF4-FFF2-40B4-BE49-F238E27FC236}">
                  <a16:creationId xmlns:a16="http://schemas.microsoft.com/office/drawing/2014/main" id="{01CC7294-C7B5-D1A4-A138-902105284B89}"/>
                </a:ext>
              </a:extLst>
            </p:cNvPr>
            <p:cNvSpPr/>
            <p:nvPr/>
          </p:nvSpPr>
          <p:spPr>
            <a:xfrm>
              <a:off x="3617573" y="3800909"/>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1" name="ellipse_2709">
              <a:extLst>
                <a:ext uri="{FF2B5EF4-FFF2-40B4-BE49-F238E27FC236}">
                  <a16:creationId xmlns:a16="http://schemas.microsoft.com/office/drawing/2014/main" id="{80734E48-9DE8-B4FD-D0D4-D53693BBEADF}"/>
                </a:ext>
              </a:extLst>
            </p:cNvPr>
            <p:cNvSpPr/>
            <p:nvPr/>
          </p:nvSpPr>
          <p:spPr>
            <a:xfrm>
              <a:off x="3547209" y="3879913"/>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2" name="ellipse_2710">
              <a:extLst>
                <a:ext uri="{FF2B5EF4-FFF2-40B4-BE49-F238E27FC236}">
                  <a16:creationId xmlns:a16="http://schemas.microsoft.com/office/drawing/2014/main" id="{3DB6F677-E1A0-2C7D-CADD-FB389865F633}"/>
                </a:ext>
              </a:extLst>
            </p:cNvPr>
            <p:cNvSpPr/>
            <p:nvPr/>
          </p:nvSpPr>
          <p:spPr>
            <a:xfrm>
              <a:off x="3429934" y="386069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3" name="ellipse_2711">
              <a:extLst>
                <a:ext uri="{FF2B5EF4-FFF2-40B4-BE49-F238E27FC236}">
                  <a16:creationId xmlns:a16="http://schemas.microsoft.com/office/drawing/2014/main" id="{D105DBC9-3C6D-0576-1E95-E04BFA9EB1EF}"/>
                </a:ext>
              </a:extLst>
            </p:cNvPr>
            <p:cNvSpPr/>
            <p:nvPr/>
          </p:nvSpPr>
          <p:spPr>
            <a:xfrm>
              <a:off x="3647730" y="373044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grpSp>
      <p:sp>
        <p:nvSpPr>
          <p:cNvPr id="684" name="TextBox 12226">
            <a:extLst>
              <a:ext uri="{FF2B5EF4-FFF2-40B4-BE49-F238E27FC236}">
                <a16:creationId xmlns:a16="http://schemas.microsoft.com/office/drawing/2014/main" id="{43DBD103-E22F-DA52-F0ED-122A5CA41D61}"/>
              </a:ext>
            </a:extLst>
          </p:cNvPr>
          <p:cNvSpPr txBox="1"/>
          <p:nvPr/>
        </p:nvSpPr>
        <p:spPr>
          <a:xfrm>
            <a:off x="2837002" y="3080344"/>
            <a:ext cx="336631" cy="80599"/>
          </a:xfrm>
          <a:prstGeom prst="rect">
            <a:avLst/>
          </a:prstGeom>
          <a:noFill/>
        </p:spPr>
        <p:txBody>
          <a:bodyPr wrap="none" lIns="0" tIns="0" rIns="0" bIns="0" anchor="ctr">
            <a:spAutoFit/>
          </a:bodyPr>
          <a:lstStyle/>
          <a:p>
            <a:pPr algn="ctr">
              <a:lnSpc>
                <a:spcPct val="105000"/>
              </a:lnSpc>
            </a:pPr>
            <a:r>
              <a:rPr sz="536">
                <a:solidFill>
                  <a:srgbClr val="263442"/>
                </a:solidFill>
                <a:latin typeface="Arial"/>
              </a:rPr>
              <a:t>Own graph</a:t>
            </a:r>
          </a:p>
        </p:txBody>
      </p:sp>
      <p:sp>
        <p:nvSpPr>
          <p:cNvPr id="685" name="Op | GNN">
            <a:extLst>
              <a:ext uri="{FF2B5EF4-FFF2-40B4-BE49-F238E27FC236}">
                <a16:creationId xmlns:a16="http://schemas.microsoft.com/office/drawing/2014/main" id="{98330FF3-2E5A-32C3-D33C-D78225E1943D}"/>
              </a:ext>
            </a:extLst>
          </p:cNvPr>
          <p:cNvSpPr/>
          <p:nvPr/>
        </p:nvSpPr>
        <p:spPr>
          <a:xfrm>
            <a:off x="2823379" y="3239299"/>
            <a:ext cx="363877"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GNN</a:t>
            </a:r>
          </a:p>
        </p:txBody>
      </p:sp>
      <p:sp>
        <p:nvSpPr>
          <p:cNvPr id="686" name="TextBox 12228">
            <a:extLst>
              <a:ext uri="{FF2B5EF4-FFF2-40B4-BE49-F238E27FC236}">
                <a16:creationId xmlns:a16="http://schemas.microsoft.com/office/drawing/2014/main" id="{26538413-3AE9-9872-D0A6-0AEA9E6FF809}"/>
              </a:ext>
            </a:extLst>
          </p:cNvPr>
          <p:cNvSpPr txBox="1"/>
          <p:nvPr/>
        </p:nvSpPr>
        <p:spPr>
          <a:xfrm>
            <a:off x="3036959" y="3388848"/>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687" name="Op | Graph attention">
            <a:extLst>
              <a:ext uri="{FF2B5EF4-FFF2-40B4-BE49-F238E27FC236}">
                <a16:creationId xmlns:a16="http://schemas.microsoft.com/office/drawing/2014/main" id="{5F3701CD-DCA3-D9CA-7FA3-D737E8718A60}"/>
              </a:ext>
            </a:extLst>
          </p:cNvPr>
          <p:cNvSpPr/>
          <p:nvPr/>
        </p:nvSpPr>
        <p:spPr>
          <a:xfrm>
            <a:off x="2696813" y="3500341"/>
            <a:ext cx="617009"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Graph</a:t>
            </a:r>
            <a:r>
              <a:rPr sz="580" dirty="0">
                <a:solidFill>
                  <a:srgbClr val="263442"/>
                </a:solidFill>
                <a:latin typeface="Arial"/>
              </a:rPr>
              <a:t> </a:t>
            </a:r>
            <a:r>
              <a:rPr sz="588" dirty="0">
                <a:solidFill>
                  <a:srgbClr val="263442"/>
                </a:solidFill>
                <a:latin typeface="Arial"/>
              </a:rPr>
              <a:t>attention</a:t>
            </a:r>
          </a:p>
        </p:txBody>
      </p:sp>
      <p:sp>
        <p:nvSpPr>
          <p:cNvPr id="688" name="Op | SMI-TED">
            <a:extLst>
              <a:ext uri="{FF2B5EF4-FFF2-40B4-BE49-F238E27FC236}">
                <a16:creationId xmlns:a16="http://schemas.microsoft.com/office/drawing/2014/main" id="{9F250B16-9768-CC2C-86AF-59769C8EEC4C}"/>
              </a:ext>
            </a:extLst>
          </p:cNvPr>
          <p:cNvSpPr/>
          <p:nvPr/>
        </p:nvSpPr>
        <p:spPr>
          <a:xfrm>
            <a:off x="3459362" y="2971538"/>
            <a:ext cx="427160"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SMI-TED</a:t>
            </a:r>
          </a:p>
        </p:txBody>
      </p:sp>
      <p:sp>
        <p:nvSpPr>
          <p:cNvPr id="689" name="Language vector v_k_1">
            <a:extLst>
              <a:ext uri="{FF2B5EF4-FFF2-40B4-BE49-F238E27FC236}">
                <a16:creationId xmlns:a16="http://schemas.microsoft.com/office/drawing/2014/main" id="{E695888D-D925-5392-2451-D7757F2B6BC7}"/>
              </a:ext>
            </a:extLst>
          </p:cNvPr>
          <p:cNvSpPr/>
          <p:nvPr/>
        </p:nvSpPr>
        <p:spPr>
          <a:xfrm>
            <a:off x="3527403"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0" name="Language vector v_k_2">
            <a:extLst>
              <a:ext uri="{FF2B5EF4-FFF2-40B4-BE49-F238E27FC236}">
                <a16:creationId xmlns:a16="http://schemas.microsoft.com/office/drawing/2014/main" id="{914284BD-BAB8-4AEA-A1F1-E7FC853BC87F}"/>
              </a:ext>
            </a:extLst>
          </p:cNvPr>
          <p:cNvSpPr/>
          <p:nvPr/>
        </p:nvSpPr>
        <p:spPr>
          <a:xfrm>
            <a:off x="3568650"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1" name="Language vector v_k_3">
            <a:extLst>
              <a:ext uri="{FF2B5EF4-FFF2-40B4-BE49-F238E27FC236}">
                <a16:creationId xmlns:a16="http://schemas.microsoft.com/office/drawing/2014/main" id="{A224CED9-3025-4474-CF80-E118B0ACA7AB}"/>
              </a:ext>
            </a:extLst>
          </p:cNvPr>
          <p:cNvSpPr/>
          <p:nvPr/>
        </p:nvSpPr>
        <p:spPr>
          <a:xfrm>
            <a:off x="3609897"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2" name="Language vector v_k_4">
            <a:extLst>
              <a:ext uri="{FF2B5EF4-FFF2-40B4-BE49-F238E27FC236}">
                <a16:creationId xmlns:a16="http://schemas.microsoft.com/office/drawing/2014/main" id="{3641CBF3-C5A5-2DC2-88CA-B3F2C816508D}"/>
              </a:ext>
            </a:extLst>
          </p:cNvPr>
          <p:cNvSpPr/>
          <p:nvPr/>
        </p:nvSpPr>
        <p:spPr>
          <a:xfrm>
            <a:off x="3651144" y="3547013"/>
            <a:ext cx="37291" cy="56955"/>
          </a:xfrm>
          <a:prstGeom prst="rect">
            <a:avLst/>
          </a:prstGeom>
          <a:solidFill>
            <a:srgbClr val="CBE7D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3" name="Language vector v_k_5">
            <a:extLst>
              <a:ext uri="{FF2B5EF4-FFF2-40B4-BE49-F238E27FC236}">
                <a16:creationId xmlns:a16="http://schemas.microsoft.com/office/drawing/2014/main" id="{B6BA4357-39F7-598C-72FA-2FC00B25A10F}"/>
              </a:ext>
            </a:extLst>
          </p:cNvPr>
          <p:cNvSpPr/>
          <p:nvPr/>
        </p:nvSpPr>
        <p:spPr>
          <a:xfrm>
            <a:off x="3692391"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4" name="Language vector v_k_6">
            <a:extLst>
              <a:ext uri="{FF2B5EF4-FFF2-40B4-BE49-F238E27FC236}">
                <a16:creationId xmlns:a16="http://schemas.microsoft.com/office/drawing/2014/main" id="{14F9C08B-08C8-5CC8-21F6-EC42430BFA81}"/>
              </a:ext>
            </a:extLst>
          </p:cNvPr>
          <p:cNvSpPr/>
          <p:nvPr/>
        </p:nvSpPr>
        <p:spPr>
          <a:xfrm>
            <a:off x="3733638"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5" name="Language vector v_k_7">
            <a:extLst>
              <a:ext uri="{FF2B5EF4-FFF2-40B4-BE49-F238E27FC236}">
                <a16:creationId xmlns:a16="http://schemas.microsoft.com/office/drawing/2014/main" id="{52E0E1B7-31F4-244C-BA32-494F415D5F2F}"/>
              </a:ext>
            </a:extLst>
          </p:cNvPr>
          <p:cNvSpPr/>
          <p:nvPr/>
        </p:nvSpPr>
        <p:spPr>
          <a:xfrm>
            <a:off x="3774885"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6" name="TextBox 12239">
            <a:extLst>
              <a:ext uri="{FF2B5EF4-FFF2-40B4-BE49-F238E27FC236}">
                <a16:creationId xmlns:a16="http://schemas.microsoft.com/office/drawing/2014/main" id="{DE6BD61F-48C0-C267-E36F-0AC7BC24100D}"/>
              </a:ext>
            </a:extLst>
          </p:cNvPr>
          <p:cNvSpPr txBox="1"/>
          <p:nvPr/>
        </p:nvSpPr>
        <p:spPr>
          <a:xfrm>
            <a:off x="3353374" y="3475189"/>
            <a:ext cx="126566" cy="81946"/>
          </a:xfrm>
          <a:prstGeom prst="rect">
            <a:avLst/>
          </a:prstGeom>
          <a:noFill/>
        </p:spPr>
        <p:txBody>
          <a:bodyPr wrap="square" lIns="0" tIns="0" rIns="0" bIns="0" anchor="ctr">
            <a:spAutoFit/>
          </a:bodyPr>
          <a:lstStyle/>
          <a:p>
            <a:pPr algn="ctr">
              <a:lnSpc>
                <a:spcPct val="105000"/>
              </a:lnSpc>
            </a:pPr>
            <a:r>
              <a:rPr sz="545" dirty="0">
                <a:solidFill>
                  <a:srgbClr val="263442"/>
                </a:solidFill>
                <a:latin typeface="Arial"/>
              </a:rPr>
              <a:t>Q</a:t>
            </a:r>
          </a:p>
        </p:txBody>
      </p:sp>
      <p:sp>
        <p:nvSpPr>
          <p:cNvPr id="697" name="TextBox 12240">
            <a:extLst>
              <a:ext uri="{FF2B5EF4-FFF2-40B4-BE49-F238E27FC236}">
                <a16:creationId xmlns:a16="http://schemas.microsoft.com/office/drawing/2014/main" id="{2ACBC05C-C556-BA36-3DA9-0D37D9382C06}"/>
              </a:ext>
            </a:extLst>
          </p:cNvPr>
          <p:cNvSpPr txBox="1"/>
          <p:nvPr/>
        </p:nvSpPr>
        <p:spPr>
          <a:xfrm>
            <a:off x="3859638" y="3475189"/>
            <a:ext cx="126566" cy="81946"/>
          </a:xfrm>
          <a:prstGeom prst="rect">
            <a:avLst/>
          </a:prstGeom>
          <a:noFill/>
        </p:spPr>
        <p:txBody>
          <a:bodyPr wrap="square" lIns="0" tIns="0" rIns="0" bIns="0" anchor="ctr">
            <a:spAutoFit/>
          </a:bodyPr>
          <a:lstStyle/>
          <a:p>
            <a:pPr algn="ctr">
              <a:lnSpc>
                <a:spcPct val="105000"/>
              </a:lnSpc>
            </a:pPr>
            <a:r>
              <a:rPr sz="545">
                <a:solidFill>
                  <a:srgbClr val="263442"/>
                </a:solidFill>
                <a:latin typeface="Arial"/>
              </a:rPr>
              <a:t>Q</a:t>
            </a:r>
          </a:p>
        </p:txBody>
      </p:sp>
      <p:sp>
        <p:nvSpPr>
          <p:cNvPr id="698" name="TextBox 12241">
            <a:extLst>
              <a:ext uri="{FF2B5EF4-FFF2-40B4-BE49-F238E27FC236}">
                <a16:creationId xmlns:a16="http://schemas.microsoft.com/office/drawing/2014/main" id="{0B3A68EF-7CF9-A2EB-24B2-085C5BF1F71F}"/>
              </a:ext>
            </a:extLst>
          </p:cNvPr>
          <p:cNvSpPr txBox="1"/>
          <p:nvPr/>
        </p:nvSpPr>
        <p:spPr>
          <a:xfrm>
            <a:off x="4373812" y="2542416"/>
            <a:ext cx="379698" cy="151836"/>
          </a:xfrm>
          <a:prstGeom prst="rect">
            <a:avLst/>
          </a:prstGeom>
          <a:noFill/>
        </p:spPr>
        <p:txBody>
          <a:bodyPr wrap="square" lIns="0" tIns="0" rIns="0" bIns="0" anchor="ctr">
            <a:spAutoFit/>
          </a:bodyPr>
          <a:lstStyle/>
          <a:p>
            <a:pPr algn="l">
              <a:lnSpc>
                <a:spcPct val="95000"/>
              </a:lnSpc>
            </a:pPr>
            <a:r>
              <a:rPr lang="en-US" sz="519" dirty="0">
                <a:solidFill>
                  <a:srgbClr val="263442"/>
                </a:solidFill>
                <a:latin typeface="Arial"/>
              </a:rPr>
              <a:t>  </a:t>
            </a:r>
            <a:r>
              <a:rPr sz="519" dirty="0">
                <a:solidFill>
                  <a:srgbClr val="263442"/>
                </a:solidFill>
                <a:latin typeface="Arial"/>
              </a:rPr>
              <a:t>Other</a:t>
            </a:r>
          </a:p>
          <a:p>
            <a:pPr algn="l">
              <a:lnSpc>
                <a:spcPct val="95000"/>
              </a:lnSpc>
            </a:pPr>
            <a:r>
              <a:rPr sz="519" dirty="0">
                <a:solidFill>
                  <a:srgbClr val="263442"/>
                </a:solidFill>
                <a:latin typeface="Arial"/>
              </a:rPr>
              <a:t>identities</a:t>
            </a:r>
          </a:p>
        </p:txBody>
      </p:sp>
      <p:sp>
        <p:nvSpPr>
          <p:cNvPr id="699" name="Op | SMI-TED">
            <a:extLst>
              <a:ext uri="{FF2B5EF4-FFF2-40B4-BE49-F238E27FC236}">
                <a16:creationId xmlns:a16="http://schemas.microsoft.com/office/drawing/2014/main" id="{6691CF15-5DAD-F305-5973-B1ACEFFF5CBF}"/>
              </a:ext>
            </a:extLst>
          </p:cNvPr>
          <p:cNvSpPr/>
          <p:nvPr/>
        </p:nvSpPr>
        <p:spPr>
          <a:xfrm>
            <a:off x="4140927" y="2967199"/>
            <a:ext cx="427160"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SMI-TED</a:t>
            </a:r>
          </a:p>
        </p:txBody>
      </p:sp>
      <p:sp>
        <p:nvSpPr>
          <p:cNvPr id="700" name="TextBox 12244">
            <a:extLst>
              <a:ext uri="{FF2B5EF4-FFF2-40B4-BE49-F238E27FC236}">
                <a16:creationId xmlns:a16="http://schemas.microsoft.com/office/drawing/2014/main" id="{13C55E5C-99C8-F46D-3353-FED4827206EC}"/>
              </a:ext>
            </a:extLst>
          </p:cNvPr>
          <p:cNvSpPr txBox="1"/>
          <p:nvPr/>
        </p:nvSpPr>
        <p:spPr>
          <a:xfrm>
            <a:off x="4128591" y="3197919"/>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1</a:t>
            </a:r>
          </a:p>
        </p:txBody>
      </p:sp>
      <p:sp>
        <p:nvSpPr>
          <p:cNvPr id="701" name="Context bar 1_1">
            <a:extLst>
              <a:ext uri="{FF2B5EF4-FFF2-40B4-BE49-F238E27FC236}">
                <a16:creationId xmlns:a16="http://schemas.microsoft.com/office/drawing/2014/main" id="{F675EB2C-E3F4-CF25-F2F9-B217A0C64998}"/>
              </a:ext>
            </a:extLst>
          </p:cNvPr>
          <p:cNvSpPr/>
          <p:nvPr/>
        </p:nvSpPr>
        <p:spPr>
          <a:xfrm>
            <a:off x="4223515"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2" name="Context bar 1_2">
            <a:extLst>
              <a:ext uri="{FF2B5EF4-FFF2-40B4-BE49-F238E27FC236}">
                <a16:creationId xmlns:a16="http://schemas.microsoft.com/office/drawing/2014/main" id="{7015B7C2-EE7A-8CD3-BF9A-C8F6C295F2D3}"/>
              </a:ext>
            </a:extLst>
          </p:cNvPr>
          <p:cNvSpPr/>
          <p:nvPr/>
        </p:nvSpPr>
        <p:spPr>
          <a:xfrm>
            <a:off x="4271637"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3" name="Context bar 1_3">
            <a:extLst>
              <a:ext uri="{FF2B5EF4-FFF2-40B4-BE49-F238E27FC236}">
                <a16:creationId xmlns:a16="http://schemas.microsoft.com/office/drawing/2014/main" id="{0283D963-CC89-9552-BBFA-44417F9A5810}"/>
              </a:ext>
            </a:extLst>
          </p:cNvPr>
          <p:cNvSpPr/>
          <p:nvPr/>
        </p:nvSpPr>
        <p:spPr>
          <a:xfrm>
            <a:off x="4319758" y="3223887"/>
            <a:ext cx="44166" cy="34806"/>
          </a:xfrm>
          <a:prstGeom prst="rect">
            <a:avLst/>
          </a:prstGeom>
          <a:solidFill>
            <a:srgbClr val="BFD2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4" name="Context bar 1_4">
            <a:extLst>
              <a:ext uri="{FF2B5EF4-FFF2-40B4-BE49-F238E27FC236}">
                <a16:creationId xmlns:a16="http://schemas.microsoft.com/office/drawing/2014/main" id="{DFE762FA-D62F-609E-23C6-B16577CF789A}"/>
              </a:ext>
            </a:extLst>
          </p:cNvPr>
          <p:cNvSpPr/>
          <p:nvPr/>
        </p:nvSpPr>
        <p:spPr>
          <a:xfrm>
            <a:off x="4367880" y="3223887"/>
            <a:ext cx="44166" cy="34806"/>
          </a:xfrm>
          <a:prstGeom prst="rect">
            <a:avLst/>
          </a:prstGeom>
          <a:solidFill>
            <a:srgbClr val="7397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5" name="Context bar 1_5">
            <a:extLst>
              <a:ext uri="{FF2B5EF4-FFF2-40B4-BE49-F238E27FC236}">
                <a16:creationId xmlns:a16="http://schemas.microsoft.com/office/drawing/2014/main" id="{8A2B1ECE-222F-713D-5115-87805A38C6E9}"/>
              </a:ext>
            </a:extLst>
          </p:cNvPr>
          <p:cNvSpPr/>
          <p:nvPr/>
        </p:nvSpPr>
        <p:spPr>
          <a:xfrm>
            <a:off x="4416001"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6" name="Context bar 1_6">
            <a:extLst>
              <a:ext uri="{FF2B5EF4-FFF2-40B4-BE49-F238E27FC236}">
                <a16:creationId xmlns:a16="http://schemas.microsoft.com/office/drawing/2014/main" id="{F9202696-646F-1763-9139-E44B52B50C5F}"/>
              </a:ext>
            </a:extLst>
          </p:cNvPr>
          <p:cNvSpPr/>
          <p:nvPr/>
        </p:nvSpPr>
        <p:spPr>
          <a:xfrm>
            <a:off x="4464123"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7" name="TextBox 12251">
            <a:extLst>
              <a:ext uri="{FF2B5EF4-FFF2-40B4-BE49-F238E27FC236}">
                <a16:creationId xmlns:a16="http://schemas.microsoft.com/office/drawing/2014/main" id="{7BC06DFD-B767-BA41-2B05-2B0A38358B92}"/>
              </a:ext>
            </a:extLst>
          </p:cNvPr>
          <p:cNvSpPr txBox="1"/>
          <p:nvPr/>
        </p:nvSpPr>
        <p:spPr>
          <a:xfrm>
            <a:off x="4128591" y="3270220"/>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2</a:t>
            </a:r>
          </a:p>
        </p:txBody>
      </p:sp>
      <p:sp>
        <p:nvSpPr>
          <p:cNvPr id="708" name="Context bar 2_1">
            <a:extLst>
              <a:ext uri="{FF2B5EF4-FFF2-40B4-BE49-F238E27FC236}">
                <a16:creationId xmlns:a16="http://schemas.microsoft.com/office/drawing/2014/main" id="{520858ED-2877-9676-9DDD-53EAA8E37558}"/>
              </a:ext>
            </a:extLst>
          </p:cNvPr>
          <p:cNvSpPr/>
          <p:nvPr/>
        </p:nvSpPr>
        <p:spPr>
          <a:xfrm>
            <a:off x="4223515"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9" name="Context bar 2_2">
            <a:extLst>
              <a:ext uri="{FF2B5EF4-FFF2-40B4-BE49-F238E27FC236}">
                <a16:creationId xmlns:a16="http://schemas.microsoft.com/office/drawing/2014/main" id="{50A3D4F9-D9FE-CC8B-21E7-D32E326D8875}"/>
              </a:ext>
            </a:extLst>
          </p:cNvPr>
          <p:cNvSpPr/>
          <p:nvPr/>
        </p:nvSpPr>
        <p:spPr>
          <a:xfrm>
            <a:off x="4271637"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0" name="Context bar 2_3">
            <a:extLst>
              <a:ext uri="{FF2B5EF4-FFF2-40B4-BE49-F238E27FC236}">
                <a16:creationId xmlns:a16="http://schemas.microsoft.com/office/drawing/2014/main" id="{4471AA3C-5A9C-CEE5-0418-953EC2227441}"/>
              </a:ext>
            </a:extLst>
          </p:cNvPr>
          <p:cNvSpPr/>
          <p:nvPr/>
        </p:nvSpPr>
        <p:spPr>
          <a:xfrm>
            <a:off x="4319758" y="3286664"/>
            <a:ext cx="44166" cy="34806"/>
          </a:xfrm>
          <a:prstGeom prst="rect">
            <a:avLst/>
          </a:prstGeom>
          <a:solidFill>
            <a:srgbClr val="E0CC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1" name="Context bar 2_4">
            <a:extLst>
              <a:ext uri="{FF2B5EF4-FFF2-40B4-BE49-F238E27FC236}">
                <a16:creationId xmlns:a16="http://schemas.microsoft.com/office/drawing/2014/main" id="{B321BB44-18FA-E7F3-2924-BC94493FEA4A}"/>
              </a:ext>
            </a:extLst>
          </p:cNvPr>
          <p:cNvSpPr/>
          <p:nvPr/>
        </p:nvSpPr>
        <p:spPr>
          <a:xfrm>
            <a:off x="4367880" y="3286664"/>
            <a:ext cx="44166" cy="34806"/>
          </a:xfrm>
          <a:prstGeom prst="rect">
            <a:avLst/>
          </a:prstGeom>
          <a:solidFill>
            <a:srgbClr val="B58E5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2" name="Context bar 2_5">
            <a:extLst>
              <a:ext uri="{FF2B5EF4-FFF2-40B4-BE49-F238E27FC236}">
                <a16:creationId xmlns:a16="http://schemas.microsoft.com/office/drawing/2014/main" id="{BF58521A-8C41-BE24-9704-AEAF70385316}"/>
              </a:ext>
            </a:extLst>
          </p:cNvPr>
          <p:cNvSpPr/>
          <p:nvPr/>
        </p:nvSpPr>
        <p:spPr>
          <a:xfrm>
            <a:off x="4416001"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3" name="Context bar 2_6">
            <a:extLst>
              <a:ext uri="{FF2B5EF4-FFF2-40B4-BE49-F238E27FC236}">
                <a16:creationId xmlns:a16="http://schemas.microsoft.com/office/drawing/2014/main" id="{4283B810-9FFF-25F8-1960-4F272603052B}"/>
              </a:ext>
            </a:extLst>
          </p:cNvPr>
          <p:cNvSpPr/>
          <p:nvPr/>
        </p:nvSpPr>
        <p:spPr>
          <a:xfrm>
            <a:off x="4464123"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4" name="TextBox 12258">
            <a:extLst>
              <a:ext uri="{FF2B5EF4-FFF2-40B4-BE49-F238E27FC236}">
                <a16:creationId xmlns:a16="http://schemas.microsoft.com/office/drawing/2014/main" id="{D4C78125-5C89-7F13-017C-2E1C11AE7FDD}"/>
              </a:ext>
            </a:extLst>
          </p:cNvPr>
          <p:cNvSpPr txBox="1"/>
          <p:nvPr/>
        </p:nvSpPr>
        <p:spPr>
          <a:xfrm>
            <a:off x="4128591" y="3342522"/>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K</a:t>
            </a:r>
          </a:p>
        </p:txBody>
      </p:sp>
      <p:sp>
        <p:nvSpPr>
          <p:cNvPr id="715" name="Context bar K_1">
            <a:extLst>
              <a:ext uri="{FF2B5EF4-FFF2-40B4-BE49-F238E27FC236}">
                <a16:creationId xmlns:a16="http://schemas.microsoft.com/office/drawing/2014/main" id="{6C63634F-2307-320B-8E95-2B6ADA84F565}"/>
              </a:ext>
            </a:extLst>
          </p:cNvPr>
          <p:cNvSpPr/>
          <p:nvPr/>
        </p:nvSpPr>
        <p:spPr>
          <a:xfrm>
            <a:off x="4223515"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6" name="Context bar K_2">
            <a:extLst>
              <a:ext uri="{FF2B5EF4-FFF2-40B4-BE49-F238E27FC236}">
                <a16:creationId xmlns:a16="http://schemas.microsoft.com/office/drawing/2014/main" id="{582A4CF2-1B99-BCF5-A8D3-EE93D5F5B81F}"/>
              </a:ext>
            </a:extLst>
          </p:cNvPr>
          <p:cNvSpPr/>
          <p:nvPr/>
        </p:nvSpPr>
        <p:spPr>
          <a:xfrm>
            <a:off x="4271637"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7" name="Context bar K_3">
            <a:extLst>
              <a:ext uri="{FF2B5EF4-FFF2-40B4-BE49-F238E27FC236}">
                <a16:creationId xmlns:a16="http://schemas.microsoft.com/office/drawing/2014/main" id="{607B41B1-A111-8D93-E207-5DF6221B54D2}"/>
              </a:ext>
            </a:extLst>
          </p:cNvPr>
          <p:cNvSpPr/>
          <p:nvPr/>
        </p:nvSpPr>
        <p:spPr>
          <a:xfrm>
            <a:off x="4319758" y="3349440"/>
            <a:ext cx="44166" cy="34806"/>
          </a:xfrm>
          <a:prstGeom prst="rect">
            <a:avLst/>
          </a:prstGeom>
          <a:solidFill>
            <a:srgbClr val="CBC2E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8" name="Context bar K_4">
            <a:extLst>
              <a:ext uri="{FF2B5EF4-FFF2-40B4-BE49-F238E27FC236}">
                <a16:creationId xmlns:a16="http://schemas.microsoft.com/office/drawing/2014/main" id="{9539C2E7-004F-E86E-852E-98E80C399402}"/>
              </a:ext>
            </a:extLst>
          </p:cNvPr>
          <p:cNvSpPr/>
          <p:nvPr/>
        </p:nvSpPr>
        <p:spPr>
          <a:xfrm>
            <a:off x="4367880" y="3349440"/>
            <a:ext cx="44166" cy="34806"/>
          </a:xfrm>
          <a:prstGeom prst="rect">
            <a:avLst/>
          </a:prstGeom>
          <a:solidFill>
            <a:srgbClr val="8E7DB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9" name="Context bar K_5">
            <a:extLst>
              <a:ext uri="{FF2B5EF4-FFF2-40B4-BE49-F238E27FC236}">
                <a16:creationId xmlns:a16="http://schemas.microsoft.com/office/drawing/2014/main" id="{2DE0B959-537B-893B-9987-81BBF3647FFD}"/>
              </a:ext>
            </a:extLst>
          </p:cNvPr>
          <p:cNvSpPr/>
          <p:nvPr/>
        </p:nvSpPr>
        <p:spPr>
          <a:xfrm>
            <a:off x="4416001"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0" name="Context bar K_6">
            <a:extLst>
              <a:ext uri="{FF2B5EF4-FFF2-40B4-BE49-F238E27FC236}">
                <a16:creationId xmlns:a16="http://schemas.microsoft.com/office/drawing/2014/main" id="{147CE38B-269C-4BBA-77C6-2810C1D11F1C}"/>
              </a:ext>
            </a:extLst>
          </p:cNvPr>
          <p:cNvSpPr/>
          <p:nvPr/>
        </p:nvSpPr>
        <p:spPr>
          <a:xfrm>
            <a:off x="4464123"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1" name="TextBox 12265">
            <a:extLst>
              <a:ext uri="{FF2B5EF4-FFF2-40B4-BE49-F238E27FC236}">
                <a16:creationId xmlns:a16="http://schemas.microsoft.com/office/drawing/2014/main" id="{979CEBC9-AC70-1276-123A-637171F58084}"/>
              </a:ext>
            </a:extLst>
          </p:cNvPr>
          <p:cNvSpPr txBox="1"/>
          <p:nvPr/>
        </p:nvSpPr>
        <p:spPr>
          <a:xfrm>
            <a:off x="4381723" y="3400472"/>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722" name="Op | Context attention">
            <a:extLst>
              <a:ext uri="{FF2B5EF4-FFF2-40B4-BE49-F238E27FC236}">
                <a16:creationId xmlns:a16="http://schemas.microsoft.com/office/drawing/2014/main" id="{640CE564-549E-0D15-B50A-E392C9DB6304}"/>
              </a:ext>
            </a:extLst>
          </p:cNvPr>
          <p:cNvSpPr/>
          <p:nvPr/>
        </p:nvSpPr>
        <p:spPr>
          <a:xfrm>
            <a:off x="4025756" y="3500341"/>
            <a:ext cx="648651"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Context</a:t>
            </a:r>
            <a:r>
              <a:rPr sz="580" dirty="0">
                <a:solidFill>
                  <a:srgbClr val="263442"/>
                </a:solidFill>
                <a:latin typeface="Arial"/>
              </a:rPr>
              <a:t> attention</a:t>
            </a:r>
          </a:p>
        </p:txBody>
      </p:sp>
      <p:sp>
        <p:nvSpPr>
          <p:cNvPr id="723" name="Op | Fusion">
            <a:extLst>
              <a:ext uri="{FF2B5EF4-FFF2-40B4-BE49-F238E27FC236}">
                <a16:creationId xmlns:a16="http://schemas.microsoft.com/office/drawing/2014/main" id="{FF74A918-BF09-C9F6-6A9B-D421CF97BC33}"/>
              </a:ext>
            </a:extLst>
          </p:cNvPr>
          <p:cNvSpPr/>
          <p:nvPr/>
        </p:nvSpPr>
        <p:spPr>
          <a:xfrm>
            <a:off x="3479940" y="3733697"/>
            <a:ext cx="379698" cy="142387"/>
          </a:xfrm>
          <a:prstGeom prst="roundRect">
            <a:avLst>
              <a:gd name="adj" fmla="val 18000"/>
            </a:avLst>
          </a:prstGeom>
          <a:solidFill>
            <a:srgbClr val="EDE7F5"/>
          </a:solidFill>
          <a:ln w="7290">
            <a:solidFill>
              <a:srgbClr val="B8A9D9"/>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Fusion</a:t>
            </a:r>
          </a:p>
        </p:txBody>
      </p:sp>
      <p:sp>
        <p:nvSpPr>
          <p:cNvPr id="724" name="g_k bar_1">
            <a:extLst>
              <a:ext uri="{FF2B5EF4-FFF2-40B4-BE49-F238E27FC236}">
                <a16:creationId xmlns:a16="http://schemas.microsoft.com/office/drawing/2014/main" id="{CB9A6A2F-14EE-2004-CB53-FCE391ACED69}"/>
              </a:ext>
            </a:extLst>
          </p:cNvPr>
          <p:cNvSpPr/>
          <p:nvPr/>
        </p:nvSpPr>
        <p:spPr>
          <a:xfrm>
            <a:off x="3503672"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5" name="g_k bar_2">
            <a:extLst>
              <a:ext uri="{FF2B5EF4-FFF2-40B4-BE49-F238E27FC236}">
                <a16:creationId xmlns:a16="http://schemas.microsoft.com/office/drawing/2014/main" id="{E39FC69E-11ED-3FA2-32B9-5945059F2213}"/>
              </a:ext>
            </a:extLst>
          </p:cNvPr>
          <p:cNvSpPr/>
          <p:nvPr/>
        </p:nvSpPr>
        <p:spPr>
          <a:xfrm>
            <a:off x="3551699"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6" name="g_k bar_3">
            <a:extLst>
              <a:ext uri="{FF2B5EF4-FFF2-40B4-BE49-F238E27FC236}">
                <a16:creationId xmlns:a16="http://schemas.microsoft.com/office/drawing/2014/main" id="{543C1079-397B-91D4-0D56-9824953F1A51}"/>
              </a:ext>
            </a:extLst>
          </p:cNvPr>
          <p:cNvSpPr/>
          <p:nvPr/>
        </p:nvSpPr>
        <p:spPr>
          <a:xfrm>
            <a:off x="3599726"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7" name="g_k bar_4">
            <a:extLst>
              <a:ext uri="{FF2B5EF4-FFF2-40B4-BE49-F238E27FC236}">
                <a16:creationId xmlns:a16="http://schemas.microsoft.com/office/drawing/2014/main" id="{72768CF4-9EFB-DF24-7C89-6D351C730BA5}"/>
              </a:ext>
            </a:extLst>
          </p:cNvPr>
          <p:cNvSpPr/>
          <p:nvPr/>
        </p:nvSpPr>
        <p:spPr>
          <a:xfrm>
            <a:off x="3647753" y="3989994"/>
            <a:ext cx="44072" cy="56955"/>
          </a:xfrm>
          <a:prstGeom prst="rect">
            <a:avLst/>
          </a:prstGeom>
          <a:solidFill>
            <a:srgbClr val="68AB9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8" name="g_k bar_5">
            <a:extLst>
              <a:ext uri="{FF2B5EF4-FFF2-40B4-BE49-F238E27FC236}">
                <a16:creationId xmlns:a16="http://schemas.microsoft.com/office/drawing/2014/main" id="{4025AE17-AFDD-1F7D-9368-8E976FBC9D73}"/>
              </a:ext>
            </a:extLst>
          </p:cNvPr>
          <p:cNvSpPr/>
          <p:nvPr/>
        </p:nvSpPr>
        <p:spPr>
          <a:xfrm>
            <a:off x="3695781"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9" name="g_k bar_6">
            <a:extLst>
              <a:ext uri="{FF2B5EF4-FFF2-40B4-BE49-F238E27FC236}">
                <a16:creationId xmlns:a16="http://schemas.microsoft.com/office/drawing/2014/main" id="{894C2CFF-A654-8C7B-2480-AC98400CE487}"/>
              </a:ext>
            </a:extLst>
          </p:cNvPr>
          <p:cNvSpPr/>
          <p:nvPr/>
        </p:nvSpPr>
        <p:spPr>
          <a:xfrm>
            <a:off x="3743808"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0" name="g_k bar_7">
            <a:extLst>
              <a:ext uri="{FF2B5EF4-FFF2-40B4-BE49-F238E27FC236}">
                <a16:creationId xmlns:a16="http://schemas.microsoft.com/office/drawing/2014/main" id="{DC10EA75-05BB-E415-682D-FAFCD65B7377}"/>
              </a:ext>
            </a:extLst>
          </p:cNvPr>
          <p:cNvSpPr/>
          <p:nvPr/>
        </p:nvSpPr>
        <p:spPr>
          <a:xfrm>
            <a:off x="3791835"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1" name="Math | g_k^">
            <a:extLst>
              <a:ext uri="{FF2B5EF4-FFF2-40B4-BE49-F238E27FC236}">
                <a16:creationId xmlns:a16="http://schemas.microsoft.com/office/drawing/2014/main" id="{45321F2B-F3FA-58E1-92FE-B69A1AB20949}"/>
              </a:ext>
            </a:extLst>
          </p:cNvPr>
          <p:cNvSpPr txBox="1"/>
          <p:nvPr/>
        </p:nvSpPr>
        <p:spPr>
          <a:xfrm>
            <a:off x="3872532" y="3947306"/>
            <a:ext cx="84960" cy="126509"/>
          </a:xfrm>
          <a:prstGeom prst="rect">
            <a:avLst/>
          </a:prstGeom>
          <a:noFill/>
        </p:spPr>
        <p:txBody>
          <a:bodyPr wrap="none" lIns="0" tIns="0" rIns="0" bIns="0" anchor="ctr">
            <a:spAutoFit/>
          </a:bodyPr>
          <a:lstStyle/>
          <a:p>
            <a:pPr algn="ctr"/>
            <a:r>
              <a:rPr sz="855" i="1">
                <a:solidFill>
                  <a:srgbClr val="263442"/>
                </a:solidFill>
                <a:latin typeface="Times New Roman"/>
              </a:rPr>
              <a:t>g</a:t>
            </a:r>
            <a:r>
              <a:rPr sz="780" i="1" baseline="-28000">
                <a:solidFill>
                  <a:srgbClr val="263442"/>
                </a:solidFill>
                <a:latin typeface="Times New Roman"/>
              </a:rPr>
              <a:t>k</a:t>
            </a:r>
          </a:p>
        </p:txBody>
      </p:sp>
      <p:sp>
        <p:nvSpPr>
          <p:cNvPr id="732" name="Op | Cosine score">
            <a:extLst>
              <a:ext uri="{FF2B5EF4-FFF2-40B4-BE49-F238E27FC236}">
                <a16:creationId xmlns:a16="http://schemas.microsoft.com/office/drawing/2014/main" id="{9B88858F-88C1-DA3F-1992-E9C76D0D80AF}"/>
              </a:ext>
            </a:extLst>
          </p:cNvPr>
          <p:cNvSpPr/>
          <p:nvPr/>
        </p:nvSpPr>
        <p:spPr>
          <a:xfrm>
            <a:off x="3279920" y="4162465"/>
            <a:ext cx="569547"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Cosine score</a:t>
            </a:r>
          </a:p>
        </p:txBody>
      </p:sp>
      <p:sp>
        <p:nvSpPr>
          <p:cNvPr id="733" name="TextBox 12277">
            <a:extLst>
              <a:ext uri="{FF2B5EF4-FFF2-40B4-BE49-F238E27FC236}">
                <a16:creationId xmlns:a16="http://schemas.microsoft.com/office/drawing/2014/main" id="{7D6970C3-E7E9-652B-644D-A057CB503545}"/>
              </a:ext>
            </a:extLst>
          </p:cNvPr>
          <p:cNvSpPr txBox="1"/>
          <p:nvPr/>
        </p:nvSpPr>
        <p:spPr>
          <a:xfrm>
            <a:off x="3275392" y="4326634"/>
            <a:ext cx="585097" cy="79445"/>
          </a:xfrm>
          <a:prstGeom prst="rect">
            <a:avLst/>
          </a:prstGeom>
          <a:noFill/>
        </p:spPr>
        <p:txBody>
          <a:bodyPr wrap="none" lIns="0" tIns="0" rIns="0" bIns="0" anchor="ctr">
            <a:spAutoFit/>
          </a:bodyPr>
          <a:lstStyle/>
          <a:p>
            <a:pPr algn="ctr">
              <a:lnSpc>
                <a:spcPct val="105000"/>
              </a:lnSpc>
            </a:pPr>
            <a:r>
              <a:rPr sz="528" dirty="0">
                <a:solidFill>
                  <a:srgbClr val="263442"/>
                </a:solidFill>
                <a:latin typeface="Arial"/>
              </a:rPr>
              <a:t>Learned projections</a:t>
            </a:r>
          </a:p>
        </p:txBody>
      </p:sp>
      <p:sp>
        <p:nvSpPr>
          <p:cNvPr id="734" name="Math | s_j,k^">
            <a:extLst>
              <a:ext uri="{FF2B5EF4-FFF2-40B4-BE49-F238E27FC236}">
                <a16:creationId xmlns:a16="http://schemas.microsoft.com/office/drawing/2014/main" id="{BD0A37AE-0CF6-77DD-8048-3FF0945F4158}"/>
              </a:ext>
            </a:extLst>
          </p:cNvPr>
          <p:cNvSpPr txBox="1"/>
          <p:nvPr/>
        </p:nvSpPr>
        <p:spPr>
          <a:xfrm>
            <a:off x="3930163" y="4086560"/>
            <a:ext cx="104196" cy="117083"/>
          </a:xfrm>
          <a:prstGeom prst="rect">
            <a:avLst/>
          </a:prstGeom>
          <a:noFill/>
        </p:spPr>
        <p:txBody>
          <a:bodyPr wrap="none" lIns="0" tIns="0" rIns="0" bIns="0" anchor="ctr">
            <a:spAutoFit/>
          </a:bodyPr>
          <a:lstStyle/>
          <a:p>
            <a:pPr algn="ctr"/>
            <a:r>
              <a:rPr sz="791" i="1" dirty="0" err="1">
                <a:solidFill>
                  <a:srgbClr val="263442"/>
                </a:solidFill>
                <a:latin typeface="Times New Roman"/>
              </a:rPr>
              <a:t>s</a:t>
            </a:r>
            <a:r>
              <a:rPr sz="780" i="1" baseline="-28000" dirty="0" err="1">
                <a:solidFill>
                  <a:srgbClr val="263442"/>
                </a:solidFill>
                <a:latin typeface="Times New Roman"/>
              </a:rPr>
              <a:t>j,k</a:t>
            </a:r>
            <a:endParaRPr sz="780" i="1" baseline="-28000" dirty="0">
              <a:solidFill>
                <a:srgbClr val="263442"/>
              </a:solidFill>
              <a:latin typeface="Times New Roman"/>
            </a:endParaRPr>
          </a:p>
        </p:txBody>
      </p:sp>
      <p:sp>
        <p:nvSpPr>
          <p:cNvPr id="735" name="TextBox 12279">
            <a:extLst>
              <a:ext uri="{FF2B5EF4-FFF2-40B4-BE49-F238E27FC236}">
                <a16:creationId xmlns:a16="http://schemas.microsoft.com/office/drawing/2014/main" id="{C56E8311-ADDA-7C63-9110-2C3006BDD08E}"/>
              </a:ext>
            </a:extLst>
          </p:cNvPr>
          <p:cNvSpPr txBox="1"/>
          <p:nvPr/>
        </p:nvSpPr>
        <p:spPr>
          <a:xfrm>
            <a:off x="4189537" y="3931330"/>
            <a:ext cx="479297" cy="87268"/>
          </a:xfrm>
          <a:prstGeom prst="rect">
            <a:avLst/>
          </a:prstGeom>
          <a:noFill/>
        </p:spPr>
        <p:txBody>
          <a:bodyPr wrap="none" lIns="0" tIns="0" rIns="0" bIns="0" anchor="ctr">
            <a:spAutoFit/>
          </a:bodyPr>
          <a:lstStyle/>
          <a:p>
            <a:pPr algn="ctr">
              <a:lnSpc>
                <a:spcPct val="105000"/>
              </a:lnSpc>
            </a:pPr>
            <a:r>
              <a:rPr sz="580">
                <a:solidFill>
                  <a:srgbClr val="263442"/>
                </a:solidFill>
                <a:latin typeface="Arial"/>
              </a:rPr>
              <a:t>Identity scores</a:t>
            </a:r>
          </a:p>
        </p:txBody>
      </p:sp>
      <p:sp>
        <p:nvSpPr>
          <p:cNvPr id="736" name="TextBox 12280">
            <a:extLst>
              <a:ext uri="{FF2B5EF4-FFF2-40B4-BE49-F238E27FC236}">
                <a16:creationId xmlns:a16="http://schemas.microsoft.com/office/drawing/2014/main" id="{C640A1D5-D4D1-3FBF-0F27-45AD836A7FCE}"/>
              </a:ext>
            </a:extLst>
          </p:cNvPr>
          <p:cNvSpPr txBox="1"/>
          <p:nvPr/>
        </p:nvSpPr>
        <p:spPr>
          <a:xfrm>
            <a:off x="4428041" y="4018471"/>
            <a:ext cx="102835" cy="85921"/>
          </a:xfrm>
          <a:prstGeom prst="rect">
            <a:avLst/>
          </a:prstGeom>
          <a:noFill/>
        </p:spPr>
        <p:txBody>
          <a:bodyPr wrap="square" lIns="0" tIns="0" rIns="0" bIns="0" anchor="ctr">
            <a:spAutoFit/>
          </a:bodyPr>
          <a:lstStyle/>
          <a:p>
            <a:pPr algn="ctr">
              <a:lnSpc>
                <a:spcPct val="105000"/>
              </a:lnSpc>
            </a:pPr>
            <a:r>
              <a:rPr sz="571" dirty="0">
                <a:solidFill>
                  <a:srgbClr val="263442"/>
                </a:solidFill>
                <a:latin typeface="Arial"/>
              </a:rPr>
              <a:t>k</a:t>
            </a:r>
          </a:p>
        </p:txBody>
      </p:sp>
      <p:sp>
        <p:nvSpPr>
          <p:cNvPr id="737" name="TextBox 12281">
            <a:extLst>
              <a:ext uri="{FF2B5EF4-FFF2-40B4-BE49-F238E27FC236}">
                <a16:creationId xmlns:a16="http://schemas.microsoft.com/office/drawing/2014/main" id="{F472392A-4724-5EDA-C6D8-557EF063B52F}"/>
              </a:ext>
            </a:extLst>
          </p:cNvPr>
          <p:cNvSpPr txBox="1"/>
          <p:nvPr/>
        </p:nvSpPr>
        <p:spPr>
          <a:xfrm>
            <a:off x="4128591" y="4169314"/>
            <a:ext cx="87014" cy="85921"/>
          </a:xfrm>
          <a:prstGeom prst="rect">
            <a:avLst/>
          </a:prstGeom>
          <a:noFill/>
        </p:spPr>
        <p:txBody>
          <a:bodyPr wrap="square" lIns="0" tIns="0" rIns="0" bIns="0" anchor="ctr">
            <a:spAutoFit/>
          </a:bodyPr>
          <a:lstStyle/>
          <a:p>
            <a:pPr algn="ctr">
              <a:lnSpc>
                <a:spcPct val="105000"/>
              </a:lnSpc>
            </a:pPr>
            <a:r>
              <a:rPr sz="571">
                <a:solidFill>
                  <a:srgbClr val="263442"/>
                </a:solidFill>
                <a:latin typeface="Arial"/>
              </a:rPr>
              <a:t>j</a:t>
            </a:r>
          </a:p>
        </p:txBody>
      </p:sp>
      <p:sp>
        <p:nvSpPr>
          <p:cNvPr id="738" name="Matrix cell (0,0)">
            <a:extLst>
              <a:ext uri="{FF2B5EF4-FFF2-40B4-BE49-F238E27FC236}">
                <a16:creationId xmlns:a16="http://schemas.microsoft.com/office/drawing/2014/main" id="{1FAFF817-C1CE-5F45-E950-98E19AE452CF}"/>
              </a:ext>
            </a:extLst>
          </p:cNvPr>
          <p:cNvSpPr/>
          <p:nvPr/>
        </p:nvSpPr>
        <p:spPr>
          <a:xfrm>
            <a:off x="4223515"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9" name="Matrix cell (0,1)">
            <a:extLst>
              <a:ext uri="{FF2B5EF4-FFF2-40B4-BE49-F238E27FC236}">
                <a16:creationId xmlns:a16="http://schemas.microsoft.com/office/drawing/2014/main" id="{ED9FACB8-4D6A-044F-997F-E09503AC15AA}"/>
              </a:ext>
            </a:extLst>
          </p:cNvPr>
          <p:cNvSpPr/>
          <p:nvPr/>
        </p:nvSpPr>
        <p:spPr>
          <a:xfrm>
            <a:off x="4326350"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0" name="Matrix cell (0,2)">
            <a:extLst>
              <a:ext uri="{FF2B5EF4-FFF2-40B4-BE49-F238E27FC236}">
                <a16:creationId xmlns:a16="http://schemas.microsoft.com/office/drawing/2014/main" id="{DE25E670-FAB3-667C-5777-C71ED9075845}"/>
              </a:ext>
            </a:extLst>
          </p:cNvPr>
          <p:cNvSpPr/>
          <p:nvPr/>
        </p:nvSpPr>
        <p:spPr>
          <a:xfrm>
            <a:off x="4429185"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1" name="Matrix cell (0,3)">
            <a:extLst>
              <a:ext uri="{FF2B5EF4-FFF2-40B4-BE49-F238E27FC236}">
                <a16:creationId xmlns:a16="http://schemas.microsoft.com/office/drawing/2014/main" id="{D15A0AB1-9BF7-4E76-6CED-C525DFBAA5F7}"/>
              </a:ext>
            </a:extLst>
          </p:cNvPr>
          <p:cNvSpPr/>
          <p:nvPr/>
        </p:nvSpPr>
        <p:spPr>
          <a:xfrm>
            <a:off x="4532020"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2" name="Matrix cell (1,0)">
            <a:extLst>
              <a:ext uri="{FF2B5EF4-FFF2-40B4-BE49-F238E27FC236}">
                <a16:creationId xmlns:a16="http://schemas.microsoft.com/office/drawing/2014/main" id="{5C20FC23-8B30-D896-36CC-91D73273996F}"/>
              </a:ext>
            </a:extLst>
          </p:cNvPr>
          <p:cNvSpPr/>
          <p:nvPr/>
        </p:nvSpPr>
        <p:spPr>
          <a:xfrm>
            <a:off x="4223515"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3" name="Matrix cell (1,1)">
            <a:extLst>
              <a:ext uri="{FF2B5EF4-FFF2-40B4-BE49-F238E27FC236}">
                <a16:creationId xmlns:a16="http://schemas.microsoft.com/office/drawing/2014/main" id="{023C0380-7EA8-B629-5738-AD00698F49B6}"/>
              </a:ext>
            </a:extLst>
          </p:cNvPr>
          <p:cNvSpPr/>
          <p:nvPr/>
        </p:nvSpPr>
        <p:spPr>
          <a:xfrm>
            <a:off x="4326350"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4" name="Matrix cell (1,2)">
            <a:extLst>
              <a:ext uri="{FF2B5EF4-FFF2-40B4-BE49-F238E27FC236}">
                <a16:creationId xmlns:a16="http://schemas.microsoft.com/office/drawing/2014/main" id="{12FBEABC-63F9-0304-4A97-80811BFE2B66}"/>
              </a:ext>
            </a:extLst>
          </p:cNvPr>
          <p:cNvSpPr/>
          <p:nvPr/>
        </p:nvSpPr>
        <p:spPr>
          <a:xfrm>
            <a:off x="4429185" y="4176678"/>
            <a:ext cx="102835" cy="71193"/>
          </a:xfrm>
          <a:prstGeom prst="rect">
            <a:avLst/>
          </a:prstGeom>
          <a:solidFill>
            <a:srgbClr val="3C9486"/>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5" name="Matrix cell (1,3)">
            <a:extLst>
              <a:ext uri="{FF2B5EF4-FFF2-40B4-BE49-F238E27FC236}">
                <a16:creationId xmlns:a16="http://schemas.microsoft.com/office/drawing/2014/main" id="{90D1E1D0-D1D8-F490-5B4D-27F3093D1ECE}"/>
              </a:ext>
            </a:extLst>
          </p:cNvPr>
          <p:cNvSpPr/>
          <p:nvPr/>
        </p:nvSpPr>
        <p:spPr>
          <a:xfrm>
            <a:off x="4532020"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6" name="Matrix cell (2,0)">
            <a:extLst>
              <a:ext uri="{FF2B5EF4-FFF2-40B4-BE49-F238E27FC236}">
                <a16:creationId xmlns:a16="http://schemas.microsoft.com/office/drawing/2014/main" id="{158A66BE-E7B7-0506-657E-0BF13A0E4F5E}"/>
              </a:ext>
            </a:extLst>
          </p:cNvPr>
          <p:cNvSpPr/>
          <p:nvPr/>
        </p:nvSpPr>
        <p:spPr>
          <a:xfrm>
            <a:off x="4223515"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7" name="Matrix cell (2,1)">
            <a:extLst>
              <a:ext uri="{FF2B5EF4-FFF2-40B4-BE49-F238E27FC236}">
                <a16:creationId xmlns:a16="http://schemas.microsoft.com/office/drawing/2014/main" id="{3B18D166-F88A-573E-0225-1ACB99CB2512}"/>
              </a:ext>
            </a:extLst>
          </p:cNvPr>
          <p:cNvSpPr/>
          <p:nvPr/>
        </p:nvSpPr>
        <p:spPr>
          <a:xfrm>
            <a:off x="4326350"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8" name="Matrix cell (2,2)">
            <a:extLst>
              <a:ext uri="{FF2B5EF4-FFF2-40B4-BE49-F238E27FC236}">
                <a16:creationId xmlns:a16="http://schemas.microsoft.com/office/drawing/2014/main" id="{FC858539-3EA9-E4FE-E803-0C8FFAD3870F}"/>
              </a:ext>
            </a:extLst>
          </p:cNvPr>
          <p:cNvSpPr/>
          <p:nvPr/>
        </p:nvSpPr>
        <p:spPr>
          <a:xfrm>
            <a:off x="4429185"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9" name="Matrix cell (2,3)">
            <a:extLst>
              <a:ext uri="{FF2B5EF4-FFF2-40B4-BE49-F238E27FC236}">
                <a16:creationId xmlns:a16="http://schemas.microsoft.com/office/drawing/2014/main" id="{3713326C-75C4-31D8-12F4-1CA18BF652D7}"/>
              </a:ext>
            </a:extLst>
          </p:cNvPr>
          <p:cNvSpPr/>
          <p:nvPr/>
        </p:nvSpPr>
        <p:spPr>
          <a:xfrm>
            <a:off x="4532020"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50" name="TextBox 12294">
            <a:extLst>
              <a:ext uri="{FF2B5EF4-FFF2-40B4-BE49-F238E27FC236}">
                <a16:creationId xmlns:a16="http://schemas.microsoft.com/office/drawing/2014/main" id="{E992C05A-634A-6CF2-2936-1480C4EA17F1}"/>
              </a:ext>
            </a:extLst>
          </p:cNvPr>
          <p:cNvSpPr txBox="1"/>
          <p:nvPr/>
        </p:nvSpPr>
        <p:spPr>
          <a:xfrm>
            <a:off x="4223516" y="4312989"/>
            <a:ext cx="411339" cy="82587"/>
          </a:xfrm>
          <a:prstGeom prst="rect">
            <a:avLst/>
          </a:prstGeom>
          <a:noFill/>
        </p:spPr>
        <p:txBody>
          <a:bodyPr wrap="square" lIns="0" tIns="0" rIns="0" bIns="0" anchor="ctr">
            <a:spAutoFit/>
          </a:bodyPr>
          <a:lstStyle/>
          <a:p>
            <a:pPr algn="ctr">
              <a:lnSpc>
                <a:spcPct val="105000"/>
              </a:lnSpc>
            </a:pPr>
            <a:r>
              <a:rPr sz="536">
                <a:solidFill>
                  <a:srgbClr val="263442"/>
                </a:solidFill>
                <a:latin typeface="Arial"/>
              </a:rPr>
              <a:t>J × K</a:t>
            </a:r>
          </a:p>
        </p:txBody>
      </p:sp>
      <p:grpSp>
        <p:nvGrpSpPr>
          <p:cNvPr id="751" name="组合 13795">
            <a:extLst>
              <a:ext uri="{FF2B5EF4-FFF2-40B4-BE49-F238E27FC236}">
                <a16:creationId xmlns:a16="http://schemas.microsoft.com/office/drawing/2014/main" id="{7EA912CF-516A-2745-A5D0-8704116A4D72}"/>
              </a:ext>
            </a:extLst>
          </p:cNvPr>
          <p:cNvGrpSpPr/>
          <p:nvPr/>
        </p:nvGrpSpPr>
        <p:grpSpPr>
          <a:xfrm>
            <a:off x="2038007" y="554865"/>
            <a:ext cx="1978883" cy="340209"/>
            <a:chOff x="6312668" y="2448732"/>
            <a:chExt cx="1215499" cy="343631"/>
          </a:xfrm>
        </p:grpSpPr>
        <p:pic>
          <p:nvPicPr>
            <p:cNvPr id="752" name="图片 12">
              <a:extLst>
                <a:ext uri="{FF2B5EF4-FFF2-40B4-BE49-F238E27FC236}">
                  <a16:creationId xmlns:a16="http://schemas.microsoft.com/office/drawing/2014/main" id="{521CB8EA-9697-F11D-7107-B4A42B988070}"/>
                </a:ext>
              </a:extLst>
            </p:cNvPr>
            <p:cNvPicPr>
              <a:picLocks/>
            </p:cNvPicPr>
            <p:nvPr/>
          </p:nvPicPr>
          <p:blipFill>
            <a:blip r:embed="rId5"/>
            <a:srcRect l="70243" t="-18171" b="-1"/>
            <a:stretch>
              <a:fillRect/>
            </a:stretch>
          </p:blipFill>
          <p:spPr>
            <a:xfrm>
              <a:off x="7112075" y="2448732"/>
              <a:ext cx="416092" cy="323855"/>
            </a:xfrm>
            <a:prstGeom prst="rect">
              <a:avLst/>
            </a:prstGeom>
          </p:spPr>
        </p:pic>
        <p:pic>
          <p:nvPicPr>
            <p:cNvPr id="753" name="图片 12">
              <a:extLst>
                <a:ext uri="{FF2B5EF4-FFF2-40B4-BE49-F238E27FC236}">
                  <a16:creationId xmlns:a16="http://schemas.microsoft.com/office/drawing/2014/main" id="{546466D8-C7C6-7C8A-3307-95F68FB4F610}"/>
                </a:ext>
              </a:extLst>
            </p:cNvPr>
            <p:cNvPicPr>
              <a:picLocks/>
            </p:cNvPicPr>
            <p:nvPr/>
          </p:nvPicPr>
          <p:blipFill>
            <a:blip r:embed="rId5"/>
            <a:srcRect r="70534" b="-8235"/>
            <a:stretch>
              <a:fillRect/>
            </a:stretch>
          </p:blipFill>
          <p:spPr>
            <a:xfrm>
              <a:off x="6312668" y="2495741"/>
              <a:ext cx="412024" cy="296622"/>
            </a:xfrm>
            <a:prstGeom prst="rect">
              <a:avLst/>
            </a:prstGeom>
          </p:spPr>
        </p:pic>
        <p:pic>
          <p:nvPicPr>
            <p:cNvPr id="754" name="Picture 10000" descr="unet_block_18.png">
              <a:extLst>
                <a:ext uri="{FF2B5EF4-FFF2-40B4-BE49-F238E27FC236}">
                  <a16:creationId xmlns:a16="http://schemas.microsoft.com/office/drawing/2014/main" id="{75A7694C-DEA5-AFE8-E284-0A0D89F845C1}"/>
                </a:ext>
              </a:extLst>
            </p:cNvPr>
            <p:cNvPicPr>
              <a:picLocks noChangeAspect="1"/>
            </p:cNvPicPr>
            <p:nvPr/>
          </p:nvPicPr>
          <p:blipFill>
            <a:blip r:embed="rId6"/>
            <a:stretch>
              <a:fillRect/>
            </a:stretch>
          </p:blipFill>
          <p:spPr>
            <a:xfrm>
              <a:off x="6776851" y="2645026"/>
              <a:ext cx="276863" cy="126566"/>
            </a:xfrm>
            <a:prstGeom prst="rect">
              <a:avLst/>
            </a:prstGeom>
          </p:spPr>
        </p:pic>
      </p:grpSp>
      <p:grpSp>
        <p:nvGrpSpPr>
          <p:cNvPr id="755" name="Find candidate blob 1">
            <a:extLst>
              <a:ext uri="{FF2B5EF4-FFF2-40B4-BE49-F238E27FC236}">
                <a16:creationId xmlns:a16="http://schemas.microsoft.com/office/drawing/2014/main" id="{3B821B97-56A6-DCED-E85F-DBF945F3EA13}"/>
              </a:ext>
            </a:extLst>
          </p:cNvPr>
          <p:cNvGrpSpPr/>
          <p:nvPr/>
        </p:nvGrpSpPr>
        <p:grpSpPr>
          <a:xfrm>
            <a:off x="4357668" y="1039644"/>
            <a:ext cx="163890" cy="111953"/>
            <a:chOff x="1928706" y="3559489"/>
            <a:chExt cx="227897" cy="155682"/>
          </a:xfrm>
        </p:grpSpPr>
        <p:sp>
          <p:nvSpPr>
            <p:cNvPr id="756" name="Candidate blob | editable contour">
              <a:extLst>
                <a:ext uri="{FF2B5EF4-FFF2-40B4-BE49-F238E27FC236}">
                  <a16:creationId xmlns:a16="http://schemas.microsoft.com/office/drawing/2014/main" id="{B3B117DA-D182-38E6-AD16-B4776AD2C7B7}"/>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57" name="ellipse_2612">
              <a:extLst>
                <a:ext uri="{FF2B5EF4-FFF2-40B4-BE49-F238E27FC236}">
                  <a16:creationId xmlns:a16="http://schemas.microsoft.com/office/drawing/2014/main" id="{901C6437-E94C-AFDE-D242-E688A89ABBD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58" name="Find candidate blob 2">
            <a:extLst>
              <a:ext uri="{FF2B5EF4-FFF2-40B4-BE49-F238E27FC236}">
                <a16:creationId xmlns:a16="http://schemas.microsoft.com/office/drawing/2014/main" id="{00C0C92B-D4C8-0994-E860-1581EB873D86}"/>
              </a:ext>
            </a:extLst>
          </p:cNvPr>
          <p:cNvGrpSpPr/>
          <p:nvPr/>
        </p:nvGrpSpPr>
        <p:grpSpPr>
          <a:xfrm>
            <a:off x="4352956" y="917369"/>
            <a:ext cx="168602" cy="95394"/>
            <a:chOff x="1928706" y="3559489"/>
            <a:chExt cx="227897" cy="155682"/>
          </a:xfrm>
        </p:grpSpPr>
        <p:sp>
          <p:nvSpPr>
            <p:cNvPr id="759" name="Candidate blob | editable contour">
              <a:extLst>
                <a:ext uri="{FF2B5EF4-FFF2-40B4-BE49-F238E27FC236}">
                  <a16:creationId xmlns:a16="http://schemas.microsoft.com/office/drawing/2014/main" id="{A172A8B3-EFA3-33C9-CD2B-307B24D7293D}"/>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0" name="ellipse_2612">
              <a:extLst>
                <a:ext uri="{FF2B5EF4-FFF2-40B4-BE49-F238E27FC236}">
                  <a16:creationId xmlns:a16="http://schemas.microsoft.com/office/drawing/2014/main" id="{CF37E813-914E-4383-9CE9-1C5F4095124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61" name="Find candidate blob 3">
            <a:extLst>
              <a:ext uri="{FF2B5EF4-FFF2-40B4-BE49-F238E27FC236}">
                <a16:creationId xmlns:a16="http://schemas.microsoft.com/office/drawing/2014/main" id="{D7299A48-8BF0-7050-EF56-14DA3F495CB7}"/>
              </a:ext>
            </a:extLst>
          </p:cNvPr>
          <p:cNvGrpSpPr/>
          <p:nvPr/>
        </p:nvGrpSpPr>
        <p:grpSpPr>
          <a:xfrm rot="364243">
            <a:off x="4559731" y="1028968"/>
            <a:ext cx="127658" cy="129194"/>
            <a:chOff x="1928706" y="3559489"/>
            <a:chExt cx="227897" cy="155682"/>
          </a:xfrm>
        </p:grpSpPr>
        <p:sp>
          <p:nvSpPr>
            <p:cNvPr id="762" name="Candidate blob | editable contour">
              <a:extLst>
                <a:ext uri="{FF2B5EF4-FFF2-40B4-BE49-F238E27FC236}">
                  <a16:creationId xmlns:a16="http://schemas.microsoft.com/office/drawing/2014/main" id="{8902F596-0D84-3C56-EB93-D63FC7E9041E}"/>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3" name="ellipse_2612">
              <a:extLst>
                <a:ext uri="{FF2B5EF4-FFF2-40B4-BE49-F238E27FC236}">
                  <a16:creationId xmlns:a16="http://schemas.microsoft.com/office/drawing/2014/main" id="{85D74281-2FE6-E2D2-EFBA-AF54A45686E3}"/>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765" name="Find auxiliary label">
            <a:extLst>
              <a:ext uri="{FF2B5EF4-FFF2-40B4-BE49-F238E27FC236}">
                <a16:creationId xmlns:a16="http://schemas.microsoft.com/office/drawing/2014/main" id="{CAD88599-B783-720B-B6BD-9F787FCB6CF4}"/>
              </a:ext>
            </a:extLst>
          </p:cNvPr>
          <p:cNvSpPr>
            <a:spLocks noGrp="1"/>
          </p:cNvSpPr>
          <p:nvPr/>
        </p:nvSpPr>
        <p:spPr>
          <a:xfrm>
            <a:off x="4315962" y="1518303"/>
            <a:ext cx="433362" cy="157954"/>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90" dirty="0">
                <a:solidFill>
                  <a:srgbClr val="263442"/>
                </a:solidFill>
                <a:latin typeface="Arial"/>
                <a:ea typeface="Arial"/>
                <a:cs typeface="Arial"/>
              </a:rPr>
              <a:t>Auxiliary</a:t>
            </a:r>
          </a:p>
          <a:p>
            <a:pPr algn="ctr">
              <a:defRPr sz="590" b="0">
                <a:solidFill>
                  <a:srgbClr val="263442"/>
                </a:solidFill>
                <a:latin typeface="Arial"/>
                <a:ea typeface="Arial"/>
                <a:cs typeface="Arial"/>
              </a:defRPr>
            </a:pPr>
            <a:r>
              <a:rPr sz="590" dirty="0">
                <a:solidFill>
                  <a:srgbClr val="263442"/>
                </a:solidFill>
                <a:latin typeface="Arial"/>
                <a:ea typeface="Arial"/>
                <a:cs typeface="Arial"/>
              </a:rPr>
              <a:t>features</a:t>
            </a:r>
          </a:p>
        </p:txBody>
      </p:sp>
      <p:sp>
        <p:nvSpPr>
          <p:cNvPr id="766" name="Match auxiliary label">
            <a:extLst>
              <a:ext uri="{FF2B5EF4-FFF2-40B4-BE49-F238E27FC236}">
                <a16:creationId xmlns:a16="http://schemas.microsoft.com/office/drawing/2014/main" id="{C154BF4F-4214-59BC-DCE1-F9C23194AC63}"/>
              </a:ext>
            </a:extLst>
          </p:cNvPr>
          <p:cNvSpPr>
            <a:spLocks noGrp="1"/>
          </p:cNvSpPr>
          <p:nvPr/>
        </p:nvSpPr>
        <p:spPr>
          <a:xfrm>
            <a:off x="1539032" y="2843177"/>
            <a:ext cx="405011" cy="174155"/>
          </a:xfrm>
          <a:prstGeom prst="rect">
            <a:avLst/>
          </a:prstGeom>
          <a:noFill/>
          <a:ln w="6885">
            <a:noFill/>
            <a:prstDash val="solid"/>
          </a:ln>
        </p:spPr>
        <p:txBody>
          <a:bodyPr lIns="0" tIns="0" rIns="0" bIns="0" anchor="ctr"/>
          <a:lstStyle>
            <a:defPPr algn="ctr">
              <a:defRPr sz="590" b="1">
                <a:solidFill>
                  <a:srgbClr val="263442"/>
                </a:solidFill>
                <a:latin typeface="Arial"/>
                <a:ea typeface="Arial"/>
                <a:cs typeface="Arial"/>
              </a:defRPr>
            </a:defPPr>
            <a:lvl1pPr algn="ctr">
              <a:defRPr sz="590" b="1">
                <a:solidFill>
                  <a:srgbClr val="263442"/>
                </a:solidFill>
                <a:latin typeface="Arial"/>
                <a:ea typeface="Arial"/>
                <a:cs typeface="Arial"/>
              </a:defRPr>
            </a:lvl1pPr>
            <a:lvl2pPr algn="ctr">
              <a:defRPr sz="590" b="1">
                <a:solidFill>
                  <a:srgbClr val="263442"/>
                </a:solidFill>
                <a:latin typeface="Arial"/>
                <a:ea typeface="Arial"/>
                <a:cs typeface="Arial"/>
              </a:defRPr>
            </a:lvl2pPr>
            <a:lvl3pPr algn="ctr">
              <a:defRPr sz="590" b="1">
                <a:solidFill>
                  <a:srgbClr val="263442"/>
                </a:solidFill>
                <a:latin typeface="Arial"/>
                <a:ea typeface="Arial"/>
                <a:cs typeface="Arial"/>
              </a:defRPr>
            </a:lvl3pPr>
            <a:lvl4pPr algn="ctr">
              <a:defRPr sz="590" b="1">
                <a:solidFill>
                  <a:srgbClr val="263442"/>
                </a:solidFill>
                <a:latin typeface="Arial"/>
                <a:ea typeface="Arial"/>
                <a:cs typeface="Arial"/>
              </a:defRPr>
            </a:lvl4pPr>
            <a:lvl5pPr algn="ctr">
              <a:defRPr sz="590" b="1">
                <a:solidFill>
                  <a:srgbClr val="263442"/>
                </a:solidFill>
                <a:latin typeface="Arial"/>
                <a:ea typeface="Arial"/>
                <a:cs typeface="Arial"/>
              </a:defRPr>
            </a:lvl5pPr>
            <a:lvl6pPr algn="ctr">
              <a:defRPr sz="590" b="1">
                <a:solidFill>
                  <a:srgbClr val="263442"/>
                </a:solidFill>
                <a:latin typeface="Arial"/>
                <a:ea typeface="Arial"/>
                <a:cs typeface="Arial"/>
              </a:defRPr>
            </a:lvl6pPr>
            <a:lvl7pPr algn="ctr">
              <a:defRPr sz="590" b="1">
                <a:solidFill>
                  <a:srgbClr val="263442"/>
                </a:solidFill>
                <a:latin typeface="Arial"/>
                <a:ea typeface="Arial"/>
                <a:cs typeface="Arial"/>
              </a:defRPr>
            </a:lvl7pPr>
            <a:lvl8pPr algn="ctr">
              <a:defRPr sz="590" b="1">
                <a:solidFill>
                  <a:srgbClr val="263442"/>
                </a:solidFill>
                <a:latin typeface="Arial"/>
                <a:ea typeface="Arial"/>
                <a:cs typeface="Arial"/>
              </a:defRPr>
            </a:lvl8pPr>
            <a:lvl9pPr algn="ctr">
              <a:defRPr sz="590" b="1">
                <a:solidFill>
                  <a:srgbClr val="263442"/>
                </a:solidFill>
                <a:latin typeface="Arial"/>
                <a:ea typeface="Arial"/>
                <a:cs typeface="Arial"/>
              </a:defRPr>
            </a:lvl9pPr>
          </a:lstStyle>
          <a:p>
            <a:pPr algn="ctr">
              <a:defRPr sz="590" b="1">
                <a:solidFill>
                  <a:srgbClr val="263442"/>
                </a:solidFill>
                <a:latin typeface="Arial"/>
                <a:ea typeface="Arial"/>
                <a:cs typeface="Arial"/>
              </a:defRPr>
            </a:pPr>
            <a:r>
              <a:rPr sz="590" b="0" dirty="0">
                <a:solidFill>
                  <a:srgbClr val="263442"/>
                </a:solidFill>
                <a:latin typeface="Arial"/>
                <a:ea typeface="Arial"/>
                <a:cs typeface="Arial"/>
              </a:rPr>
              <a:t>Auxiliary</a:t>
            </a:r>
          </a:p>
          <a:p>
            <a:pPr algn="ctr">
              <a:defRPr sz="590" b="1">
                <a:solidFill>
                  <a:srgbClr val="263442"/>
                </a:solidFill>
                <a:latin typeface="Arial"/>
                <a:ea typeface="Arial"/>
                <a:cs typeface="Arial"/>
              </a:defRPr>
            </a:pPr>
            <a:r>
              <a:rPr sz="590" b="0" dirty="0">
                <a:solidFill>
                  <a:srgbClr val="263442"/>
                </a:solidFill>
                <a:latin typeface="Arial"/>
                <a:ea typeface="Arial"/>
                <a:cs typeface="Arial"/>
              </a:rPr>
              <a:t>features</a:t>
            </a:r>
          </a:p>
        </p:txBody>
      </p:sp>
      <p:sp>
        <p:nvSpPr>
          <p:cNvPr id="767" name="Concat label">
            <a:extLst>
              <a:ext uri="{FF2B5EF4-FFF2-40B4-BE49-F238E27FC236}">
                <a16:creationId xmlns:a16="http://schemas.microsoft.com/office/drawing/2014/main" id="{9D20C35C-694E-CDD5-F90A-040BE36EEE21}"/>
              </a:ext>
            </a:extLst>
          </p:cNvPr>
          <p:cNvSpPr>
            <a:spLocks noGrp="1"/>
          </p:cNvSpPr>
          <p:nvPr/>
        </p:nvSpPr>
        <p:spPr>
          <a:xfrm>
            <a:off x="1141938" y="3608830"/>
            <a:ext cx="259207" cy="81002"/>
          </a:xfrm>
          <a:prstGeom prst="rect">
            <a:avLst/>
          </a:prstGeom>
          <a:noFill/>
          <a:ln w="6885">
            <a:noFill/>
            <a:prstDash val="solid"/>
          </a:ln>
        </p:spPr>
        <p:txBody>
          <a:bodyPr lIns="0" tIns="0" rIns="0" bIns="0" anchor="ctr"/>
          <a:lstStyle>
            <a:defPPr algn="ctr">
              <a:defRPr sz="568" b="0">
                <a:solidFill>
                  <a:srgbClr val="263442"/>
                </a:solidFill>
                <a:latin typeface="Arial"/>
                <a:ea typeface="Arial"/>
                <a:cs typeface="Arial"/>
              </a:defRPr>
            </a:defPPr>
            <a:lvl1pPr algn="ctr">
              <a:defRPr sz="568" b="0">
                <a:solidFill>
                  <a:srgbClr val="263442"/>
                </a:solidFill>
                <a:latin typeface="Arial"/>
                <a:ea typeface="Arial"/>
                <a:cs typeface="Arial"/>
              </a:defRPr>
            </a:lvl1pPr>
            <a:lvl2pPr algn="ctr">
              <a:defRPr sz="568" b="0">
                <a:solidFill>
                  <a:srgbClr val="263442"/>
                </a:solidFill>
                <a:latin typeface="Arial"/>
                <a:ea typeface="Arial"/>
                <a:cs typeface="Arial"/>
              </a:defRPr>
            </a:lvl2pPr>
            <a:lvl3pPr algn="ctr">
              <a:defRPr sz="568" b="0">
                <a:solidFill>
                  <a:srgbClr val="263442"/>
                </a:solidFill>
                <a:latin typeface="Arial"/>
                <a:ea typeface="Arial"/>
                <a:cs typeface="Arial"/>
              </a:defRPr>
            </a:lvl3pPr>
            <a:lvl4pPr algn="ctr">
              <a:defRPr sz="568" b="0">
                <a:solidFill>
                  <a:srgbClr val="263442"/>
                </a:solidFill>
                <a:latin typeface="Arial"/>
                <a:ea typeface="Arial"/>
                <a:cs typeface="Arial"/>
              </a:defRPr>
            </a:lvl4pPr>
            <a:lvl5pPr algn="ctr">
              <a:defRPr sz="568" b="0">
                <a:solidFill>
                  <a:srgbClr val="263442"/>
                </a:solidFill>
                <a:latin typeface="Arial"/>
                <a:ea typeface="Arial"/>
                <a:cs typeface="Arial"/>
              </a:defRPr>
            </a:lvl5pPr>
            <a:lvl6pPr algn="ctr">
              <a:defRPr sz="568" b="0">
                <a:solidFill>
                  <a:srgbClr val="263442"/>
                </a:solidFill>
                <a:latin typeface="Arial"/>
                <a:ea typeface="Arial"/>
                <a:cs typeface="Arial"/>
              </a:defRPr>
            </a:lvl6pPr>
            <a:lvl7pPr algn="ctr">
              <a:defRPr sz="568" b="0">
                <a:solidFill>
                  <a:srgbClr val="263442"/>
                </a:solidFill>
                <a:latin typeface="Arial"/>
                <a:ea typeface="Arial"/>
                <a:cs typeface="Arial"/>
              </a:defRPr>
            </a:lvl7pPr>
            <a:lvl8pPr algn="ctr">
              <a:defRPr sz="568" b="0">
                <a:solidFill>
                  <a:srgbClr val="263442"/>
                </a:solidFill>
                <a:latin typeface="Arial"/>
                <a:ea typeface="Arial"/>
                <a:cs typeface="Arial"/>
              </a:defRPr>
            </a:lvl8pPr>
            <a:lvl9pPr algn="ctr">
              <a:defRPr sz="568" b="0">
                <a:solidFill>
                  <a:srgbClr val="263442"/>
                </a:solidFill>
                <a:latin typeface="Arial"/>
                <a:ea typeface="Arial"/>
                <a:cs typeface="Arial"/>
              </a:defRPr>
            </a:lvl9pPr>
          </a:lstStyle>
          <a:p>
            <a:pPr algn="ctr">
              <a:defRPr sz="568" b="0">
                <a:solidFill>
                  <a:srgbClr val="263442"/>
                </a:solidFill>
                <a:latin typeface="Arial"/>
                <a:ea typeface="Arial"/>
                <a:cs typeface="Arial"/>
              </a:defRPr>
            </a:pPr>
            <a:r>
              <a:rPr sz="568" dirty="0" err="1">
                <a:solidFill>
                  <a:srgbClr val="263442"/>
                </a:solidFill>
                <a:latin typeface="Arial"/>
                <a:ea typeface="Arial"/>
                <a:cs typeface="Arial"/>
              </a:rPr>
              <a:t>Concat</a:t>
            </a:r>
            <a:endParaRPr sz="568" dirty="0">
              <a:solidFill>
                <a:srgbClr val="263442"/>
              </a:solidFill>
              <a:latin typeface="Arial"/>
              <a:ea typeface="Arial"/>
              <a:cs typeface="Arial"/>
            </a:endParaRPr>
          </a:p>
        </p:txBody>
      </p:sp>
      <p:grpSp>
        <p:nvGrpSpPr>
          <p:cNvPr id="1248" name="Unified flow and feature elements">
            <a:extLst>
              <a:ext uri="{FF2B5EF4-FFF2-40B4-BE49-F238E27FC236}">
                <a16:creationId xmlns:a16="http://schemas.microsoft.com/office/drawing/2014/main" id="{DA74696D-FF4F-021F-A459-9CD0851351CF}"/>
              </a:ext>
            </a:extLst>
          </p:cNvPr>
          <p:cNvGrpSpPr/>
          <p:nvPr/>
        </p:nvGrpSpPr>
        <p:grpSpPr>
          <a:xfrm>
            <a:off x="906174" y="284723"/>
            <a:ext cx="3778711" cy="3984382"/>
            <a:chOff x="2131133" y="669608"/>
            <a:chExt cx="8886725" cy="9370426"/>
          </a:xfrm>
        </p:grpSpPr>
        <p:sp>
          <p:nvSpPr>
            <p:cNvPr id="1249" name="Preprocessing refined">
              <a:extLst>
                <a:ext uri="{FF2B5EF4-FFF2-40B4-BE49-F238E27FC236}">
                  <a16:creationId xmlns:a16="http://schemas.microsoft.com/office/drawing/2014/main" id="{A3A31885-181B-CF24-BE30-3ED8DAACE460}"/>
                </a:ext>
              </a:extLst>
            </p:cNvPr>
            <p:cNvSpPr>
              <a:spLocks noGrp="1"/>
            </p:cNvSpPr>
            <p:nvPr/>
          </p:nvSpPr>
          <p:spPr>
            <a:xfrm>
              <a:off x="3122581" y="669608"/>
              <a:ext cx="1028701" cy="3460433"/>
            </a:xfrm>
            <a:prstGeom prst="roundRect">
              <a:avLst>
                <a:gd name="adj" fmla="val 6481"/>
              </a:avLst>
            </a:prstGeom>
            <a:solidFill>
              <a:srgbClr val="E8EFF7"/>
            </a:solidFill>
            <a:ln w="7290">
              <a:solidFill>
                <a:srgbClr val="C4D1E1"/>
              </a:solidFill>
            </a:ln>
          </p:spPr>
        </p:sp>
        <p:sp>
          <p:nvSpPr>
            <p:cNvPr id="1250" name="Preprocessing divider refined">
              <a:extLst>
                <a:ext uri="{FF2B5EF4-FFF2-40B4-BE49-F238E27FC236}">
                  <a16:creationId xmlns:a16="http://schemas.microsoft.com/office/drawing/2014/main" id="{E21BD2F9-92DD-96F0-3AAF-0957638A49FB}"/>
                </a:ext>
              </a:extLst>
            </p:cNvPr>
            <p:cNvSpPr>
              <a:spLocks noGrp="1"/>
            </p:cNvSpPr>
            <p:nvPr/>
          </p:nvSpPr>
          <p:spPr>
            <a:xfrm>
              <a:off x="3199219" y="2418363"/>
              <a:ext cx="800100" cy="190"/>
            </a:xfrm>
            <a:custGeom>
              <a:avLst/>
              <a:gdLst/>
              <a:ahLst/>
              <a:cxnLst/>
              <a:rect l="0" t="0" r="0" b="0"/>
              <a:pathLst>
                <a:path w="800100" h="191">
                  <a:moveTo>
                    <a:pt x="0" y="0"/>
                  </a:moveTo>
                  <a:lnTo>
                    <a:pt x="800100" y="0"/>
                  </a:lnTo>
                </a:path>
              </a:pathLst>
            </a:custGeom>
            <a:noFill/>
            <a:ln w="6075">
              <a:solidFill>
                <a:srgbClr val="C4D1E1"/>
              </a:solidFill>
              <a:prstDash val="solid"/>
            </a:ln>
          </p:spPr>
        </p:sp>
        <p:sp>
          <p:nvSpPr>
            <p:cNvPr id="1251" name="Density bank refined">
              <a:extLst>
                <a:ext uri="{FF2B5EF4-FFF2-40B4-BE49-F238E27FC236}">
                  <a16:creationId xmlns:a16="http://schemas.microsoft.com/office/drawing/2014/main" id="{1E51E71A-A2BC-0776-E4CA-D30FBB1BE241}"/>
                </a:ext>
              </a:extLst>
            </p:cNvPr>
            <p:cNvSpPr>
              <a:spLocks noGrp="1"/>
            </p:cNvSpPr>
            <p:nvPr/>
          </p:nvSpPr>
          <p:spPr>
            <a:xfrm>
              <a:off x="3160769" y="695478"/>
              <a:ext cx="990599" cy="457199"/>
            </a:xfrm>
            <a:prstGeom prst="rect">
              <a:avLst/>
            </a:prstGeom>
            <a:noFill/>
            <a:ln w="7290">
              <a:noFill/>
            </a:ln>
          </p:spPr>
          <p:txBody>
            <a:bodyPr lIns="0" tIns="0" rIns="0" bIns="0" anchor="ctr"/>
            <a:lstStyle>
              <a:defPPr algn="ctr">
                <a:defRPr sz="612">
                  <a:solidFill>
                    <a:srgbClr val="263442"/>
                  </a:solidFill>
                  <a:latin typeface="Arial"/>
                  <a:ea typeface="Arial"/>
                  <a:cs typeface="Arial"/>
                </a:defRPr>
              </a:defPPr>
              <a:lvl1pPr algn="ctr">
                <a:defRPr sz="612">
                  <a:solidFill>
                    <a:srgbClr val="263442"/>
                  </a:solidFill>
                  <a:latin typeface="Arial"/>
                  <a:ea typeface="Arial"/>
                  <a:cs typeface="Arial"/>
                </a:defRPr>
              </a:lvl1pPr>
              <a:lvl2pPr algn="ctr">
                <a:defRPr sz="612">
                  <a:solidFill>
                    <a:srgbClr val="263442"/>
                  </a:solidFill>
                  <a:latin typeface="Arial"/>
                  <a:ea typeface="Arial"/>
                  <a:cs typeface="Arial"/>
                </a:defRPr>
              </a:lvl2pPr>
              <a:lvl3pPr algn="ctr">
                <a:defRPr sz="612">
                  <a:solidFill>
                    <a:srgbClr val="263442"/>
                  </a:solidFill>
                  <a:latin typeface="Arial"/>
                  <a:ea typeface="Arial"/>
                  <a:cs typeface="Arial"/>
                </a:defRPr>
              </a:lvl3pPr>
              <a:lvl4pPr algn="ctr">
                <a:defRPr sz="612">
                  <a:solidFill>
                    <a:srgbClr val="263442"/>
                  </a:solidFill>
                  <a:latin typeface="Arial"/>
                  <a:ea typeface="Arial"/>
                  <a:cs typeface="Arial"/>
                </a:defRPr>
              </a:lvl4pPr>
              <a:lvl5pPr algn="ctr">
                <a:defRPr sz="612">
                  <a:solidFill>
                    <a:srgbClr val="263442"/>
                  </a:solidFill>
                  <a:latin typeface="Arial"/>
                  <a:ea typeface="Arial"/>
                  <a:cs typeface="Arial"/>
                </a:defRPr>
              </a:lvl5pPr>
              <a:lvl6pPr algn="ctr">
                <a:defRPr sz="612">
                  <a:solidFill>
                    <a:srgbClr val="263442"/>
                  </a:solidFill>
                  <a:latin typeface="Arial"/>
                  <a:ea typeface="Arial"/>
                  <a:cs typeface="Arial"/>
                </a:defRPr>
              </a:lvl6pPr>
              <a:lvl7pPr algn="ctr">
                <a:defRPr sz="612">
                  <a:solidFill>
                    <a:srgbClr val="263442"/>
                  </a:solidFill>
                  <a:latin typeface="Arial"/>
                  <a:ea typeface="Arial"/>
                  <a:cs typeface="Arial"/>
                </a:defRPr>
              </a:lvl7pPr>
              <a:lvl8pPr algn="ctr">
                <a:defRPr sz="612">
                  <a:solidFill>
                    <a:srgbClr val="263442"/>
                  </a:solidFill>
                  <a:latin typeface="Arial"/>
                  <a:ea typeface="Arial"/>
                  <a:cs typeface="Arial"/>
                </a:defRPr>
              </a:lvl8pPr>
              <a:lvl9pPr algn="ctr">
                <a:defRPr sz="612">
                  <a:solidFill>
                    <a:srgbClr val="263442"/>
                  </a:solidFill>
                  <a:latin typeface="Arial"/>
                  <a:ea typeface="Arial"/>
                  <a:cs typeface="Arial"/>
                </a:defRPr>
              </a:lvl9pPr>
            </a:lstStyle>
            <a:p>
              <a:pPr algn="ctr">
                <a:defRPr sz="612">
                  <a:solidFill>
                    <a:srgbClr val="263442"/>
                  </a:solidFill>
                  <a:latin typeface="Arial"/>
                  <a:ea typeface="Arial"/>
                  <a:cs typeface="Arial"/>
                </a:defRPr>
              </a:pPr>
              <a:r>
                <a:rPr sz="550" dirty="0">
                  <a:solidFill>
                    <a:srgbClr val="263442"/>
                  </a:solidFill>
                  <a:latin typeface="Arial"/>
                  <a:ea typeface="Arial"/>
                  <a:cs typeface="Arial"/>
                </a:rPr>
                <a:t>Density</a:t>
              </a:r>
            </a:p>
            <a:p>
              <a:pPr algn="ctr">
                <a:defRPr sz="612">
                  <a:solidFill>
                    <a:srgbClr val="263442"/>
                  </a:solidFill>
                  <a:latin typeface="Arial"/>
                  <a:ea typeface="Arial"/>
                  <a:cs typeface="Arial"/>
                </a:defRPr>
              </a:pPr>
              <a:r>
                <a:rPr lang="en-US" sz="550" dirty="0">
                  <a:solidFill>
                    <a:srgbClr val="263442"/>
                  </a:solidFill>
                  <a:latin typeface="Arial"/>
                  <a:ea typeface="Arial"/>
                  <a:cs typeface="Arial"/>
                </a:rPr>
                <a:t>B</a:t>
              </a:r>
              <a:r>
                <a:rPr sz="550" dirty="0">
                  <a:solidFill>
                    <a:srgbClr val="263442"/>
                  </a:solidFill>
                  <a:latin typeface="Arial"/>
                  <a:ea typeface="Arial"/>
                  <a:cs typeface="Arial"/>
                </a:rPr>
                <a:t>ank</a:t>
              </a:r>
            </a:p>
          </p:txBody>
        </p:sp>
        <p:sp>
          <p:nvSpPr>
            <p:cNvPr id="1252" name="Embedding head refined">
              <a:extLst>
                <a:ext uri="{FF2B5EF4-FFF2-40B4-BE49-F238E27FC236}">
                  <a16:creationId xmlns:a16="http://schemas.microsoft.com/office/drawing/2014/main" id="{58C61B38-F8DB-1F98-DEE4-C9D7130E2730}"/>
                </a:ext>
              </a:extLst>
            </p:cNvPr>
            <p:cNvSpPr>
              <a:spLocks noGrp="1"/>
            </p:cNvSpPr>
            <p:nvPr/>
          </p:nvSpPr>
          <p:spPr>
            <a:xfrm>
              <a:off x="3122433" y="2542570"/>
              <a:ext cx="990599" cy="457199"/>
            </a:xfrm>
            <a:prstGeom prst="rect">
              <a:avLst/>
            </a:prstGeom>
            <a:noFill/>
            <a:ln w="7290">
              <a:noFill/>
            </a:ln>
          </p:spPr>
          <p:txBody>
            <a:bodyPr lIns="0" tIns="0" rIns="0" bIns="0" anchor="ctr"/>
            <a:lstStyle>
              <a:defPPr algn="ctr">
                <a:defRPr sz="612">
                  <a:solidFill>
                    <a:srgbClr val="263442"/>
                  </a:solidFill>
                  <a:latin typeface="Arial"/>
                  <a:ea typeface="Arial"/>
                  <a:cs typeface="Arial"/>
                </a:defRPr>
              </a:defPPr>
              <a:lvl1pPr algn="ctr">
                <a:defRPr sz="612">
                  <a:solidFill>
                    <a:srgbClr val="263442"/>
                  </a:solidFill>
                  <a:latin typeface="Arial"/>
                  <a:ea typeface="Arial"/>
                  <a:cs typeface="Arial"/>
                </a:defRPr>
              </a:lvl1pPr>
              <a:lvl2pPr algn="ctr">
                <a:defRPr sz="612">
                  <a:solidFill>
                    <a:srgbClr val="263442"/>
                  </a:solidFill>
                  <a:latin typeface="Arial"/>
                  <a:ea typeface="Arial"/>
                  <a:cs typeface="Arial"/>
                </a:defRPr>
              </a:lvl2pPr>
              <a:lvl3pPr algn="ctr">
                <a:defRPr sz="612">
                  <a:solidFill>
                    <a:srgbClr val="263442"/>
                  </a:solidFill>
                  <a:latin typeface="Arial"/>
                  <a:ea typeface="Arial"/>
                  <a:cs typeface="Arial"/>
                </a:defRPr>
              </a:lvl3pPr>
              <a:lvl4pPr algn="ctr">
                <a:defRPr sz="612">
                  <a:solidFill>
                    <a:srgbClr val="263442"/>
                  </a:solidFill>
                  <a:latin typeface="Arial"/>
                  <a:ea typeface="Arial"/>
                  <a:cs typeface="Arial"/>
                </a:defRPr>
              </a:lvl4pPr>
              <a:lvl5pPr algn="ctr">
                <a:defRPr sz="612">
                  <a:solidFill>
                    <a:srgbClr val="263442"/>
                  </a:solidFill>
                  <a:latin typeface="Arial"/>
                  <a:ea typeface="Arial"/>
                  <a:cs typeface="Arial"/>
                </a:defRPr>
              </a:lvl5pPr>
              <a:lvl6pPr algn="ctr">
                <a:defRPr sz="612">
                  <a:solidFill>
                    <a:srgbClr val="263442"/>
                  </a:solidFill>
                  <a:latin typeface="Arial"/>
                  <a:ea typeface="Arial"/>
                  <a:cs typeface="Arial"/>
                </a:defRPr>
              </a:lvl6pPr>
              <a:lvl7pPr algn="ctr">
                <a:defRPr sz="612">
                  <a:solidFill>
                    <a:srgbClr val="263442"/>
                  </a:solidFill>
                  <a:latin typeface="Arial"/>
                  <a:ea typeface="Arial"/>
                  <a:cs typeface="Arial"/>
                </a:defRPr>
              </a:lvl7pPr>
              <a:lvl8pPr algn="ctr">
                <a:defRPr sz="612">
                  <a:solidFill>
                    <a:srgbClr val="263442"/>
                  </a:solidFill>
                  <a:latin typeface="Arial"/>
                  <a:ea typeface="Arial"/>
                  <a:cs typeface="Arial"/>
                </a:defRPr>
              </a:lvl8pPr>
              <a:lvl9pPr algn="ctr">
                <a:defRPr sz="612">
                  <a:solidFill>
                    <a:srgbClr val="263442"/>
                  </a:solidFill>
                  <a:latin typeface="Arial"/>
                  <a:ea typeface="Arial"/>
                  <a:cs typeface="Arial"/>
                </a:defRPr>
              </a:lvl9pPr>
            </a:lstStyle>
            <a:p>
              <a:pPr algn="ctr">
                <a:defRPr sz="612">
                  <a:solidFill>
                    <a:srgbClr val="263442"/>
                  </a:solidFill>
                  <a:latin typeface="Arial"/>
                  <a:ea typeface="Arial"/>
                  <a:cs typeface="Arial"/>
                </a:defRPr>
              </a:pPr>
              <a:r>
                <a:rPr lang="en-US" sz="550" dirty="0">
                  <a:solidFill>
                    <a:srgbClr val="263442"/>
                  </a:solidFill>
                  <a:latin typeface="Arial"/>
                  <a:ea typeface="Arial"/>
                  <a:cs typeface="Arial"/>
                </a:rPr>
                <a:t>Atom embeddings</a:t>
              </a:r>
              <a:endParaRPr sz="550" dirty="0">
                <a:solidFill>
                  <a:srgbClr val="263442"/>
                </a:solidFill>
                <a:latin typeface="Arial"/>
                <a:ea typeface="Arial"/>
                <a:cs typeface="Arial"/>
              </a:endParaRPr>
            </a:p>
          </p:txBody>
        </p:sp>
        <p:sp>
          <p:nvSpPr>
            <p:cNvPr id="1253" name="Find matrix 0-0">
              <a:extLst>
                <a:ext uri="{FF2B5EF4-FFF2-40B4-BE49-F238E27FC236}">
                  <a16:creationId xmlns:a16="http://schemas.microsoft.com/office/drawing/2014/main" id="{BBF0C328-3AF9-A068-FA92-FBF890856A66}"/>
                </a:ext>
              </a:extLst>
            </p:cNvPr>
            <p:cNvSpPr>
              <a:spLocks noGrp="1"/>
            </p:cNvSpPr>
            <p:nvPr/>
          </p:nvSpPr>
          <p:spPr>
            <a:xfrm>
              <a:off x="10255382" y="3200400"/>
              <a:ext cx="91559" cy="70009"/>
            </a:xfrm>
            <a:prstGeom prst="rect">
              <a:avLst/>
            </a:prstGeom>
            <a:solidFill>
              <a:srgbClr val="3E8F9A"/>
            </a:solidFill>
            <a:ln w="7290">
              <a:noFill/>
            </a:ln>
          </p:spPr>
        </p:sp>
        <p:sp>
          <p:nvSpPr>
            <p:cNvPr id="1254" name="Find matrix 0-1">
              <a:extLst>
                <a:ext uri="{FF2B5EF4-FFF2-40B4-BE49-F238E27FC236}">
                  <a16:creationId xmlns:a16="http://schemas.microsoft.com/office/drawing/2014/main" id="{3474DD36-B24E-DC42-848D-72CE3DEC2274}"/>
                </a:ext>
              </a:extLst>
            </p:cNvPr>
            <p:cNvSpPr>
              <a:spLocks noGrp="1"/>
            </p:cNvSpPr>
            <p:nvPr/>
          </p:nvSpPr>
          <p:spPr>
            <a:xfrm>
              <a:off x="10351227" y="3200400"/>
              <a:ext cx="91559" cy="70009"/>
            </a:xfrm>
            <a:prstGeom prst="rect">
              <a:avLst/>
            </a:prstGeom>
            <a:solidFill>
              <a:srgbClr val="5B9FB6"/>
            </a:solidFill>
            <a:ln w="7290">
              <a:noFill/>
            </a:ln>
          </p:spPr>
        </p:sp>
        <p:sp>
          <p:nvSpPr>
            <p:cNvPr id="1255" name="Find matrix 0-2">
              <a:extLst>
                <a:ext uri="{FF2B5EF4-FFF2-40B4-BE49-F238E27FC236}">
                  <a16:creationId xmlns:a16="http://schemas.microsoft.com/office/drawing/2014/main" id="{F807BDD1-EE13-F00C-2E77-C8910F6ACC73}"/>
                </a:ext>
              </a:extLst>
            </p:cNvPr>
            <p:cNvSpPr>
              <a:spLocks noGrp="1"/>
            </p:cNvSpPr>
            <p:nvPr/>
          </p:nvSpPr>
          <p:spPr>
            <a:xfrm>
              <a:off x="10447072" y="3200400"/>
              <a:ext cx="91559" cy="70009"/>
            </a:xfrm>
            <a:prstGeom prst="rect">
              <a:avLst/>
            </a:prstGeom>
            <a:solidFill>
              <a:srgbClr val="A3CDDA"/>
            </a:solidFill>
            <a:ln w="7290">
              <a:noFill/>
            </a:ln>
          </p:spPr>
        </p:sp>
        <p:sp>
          <p:nvSpPr>
            <p:cNvPr id="1256" name="Find matrix 0-3">
              <a:extLst>
                <a:ext uri="{FF2B5EF4-FFF2-40B4-BE49-F238E27FC236}">
                  <a16:creationId xmlns:a16="http://schemas.microsoft.com/office/drawing/2014/main" id="{DB1A890F-778A-35C9-7AE1-C0AE618D52CF}"/>
                </a:ext>
              </a:extLst>
            </p:cNvPr>
            <p:cNvSpPr>
              <a:spLocks noGrp="1"/>
            </p:cNvSpPr>
            <p:nvPr/>
          </p:nvSpPr>
          <p:spPr>
            <a:xfrm>
              <a:off x="10542917" y="3200400"/>
              <a:ext cx="91559" cy="70009"/>
            </a:xfrm>
            <a:prstGeom prst="rect">
              <a:avLst/>
            </a:prstGeom>
            <a:solidFill>
              <a:srgbClr val="88BEC3"/>
            </a:solidFill>
            <a:ln w="7290">
              <a:noFill/>
            </a:ln>
          </p:spPr>
        </p:sp>
        <p:sp>
          <p:nvSpPr>
            <p:cNvPr id="1257" name="Find matrix 0-4">
              <a:extLst>
                <a:ext uri="{FF2B5EF4-FFF2-40B4-BE49-F238E27FC236}">
                  <a16:creationId xmlns:a16="http://schemas.microsoft.com/office/drawing/2014/main" id="{B445D6B3-6FC7-4615-5975-85730846D82F}"/>
                </a:ext>
              </a:extLst>
            </p:cNvPr>
            <p:cNvSpPr>
              <a:spLocks noGrp="1"/>
            </p:cNvSpPr>
            <p:nvPr/>
          </p:nvSpPr>
          <p:spPr>
            <a:xfrm>
              <a:off x="10638763" y="3200400"/>
              <a:ext cx="91559" cy="70009"/>
            </a:xfrm>
            <a:prstGeom prst="rect">
              <a:avLst/>
            </a:prstGeom>
            <a:solidFill>
              <a:srgbClr val="67AD9F"/>
            </a:solidFill>
            <a:ln w="7290">
              <a:noFill/>
            </a:ln>
          </p:spPr>
        </p:sp>
        <p:sp>
          <p:nvSpPr>
            <p:cNvPr id="1258" name="Find matrix 0-5">
              <a:extLst>
                <a:ext uri="{FF2B5EF4-FFF2-40B4-BE49-F238E27FC236}">
                  <a16:creationId xmlns:a16="http://schemas.microsoft.com/office/drawing/2014/main" id="{EDF77049-6933-CA1B-21BD-2D261FB460F5}"/>
                </a:ext>
              </a:extLst>
            </p:cNvPr>
            <p:cNvSpPr>
              <a:spLocks noGrp="1"/>
            </p:cNvSpPr>
            <p:nvPr/>
          </p:nvSpPr>
          <p:spPr>
            <a:xfrm>
              <a:off x="10734608" y="3200400"/>
              <a:ext cx="91559" cy="70009"/>
            </a:xfrm>
            <a:prstGeom prst="rect">
              <a:avLst/>
            </a:prstGeom>
            <a:solidFill>
              <a:srgbClr val="C4DDE0"/>
            </a:solidFill>
            <a:ln w="7290">
              <a:noFill/>
            </a:ln>
          </p:spPr>
        </p:sp>
        <p:sp>
          <p:nvSpPr>
            <p:cNvPr id="1259" name="Find matrix 0-6">
              <a:extLst>
                <a:ext uri="{FF2B5EF4-FFF2-40B4-BE49-F238E27FC236}">
                  <a16:creationId xmlns:a16="http://schemas.microsoft.com/office/drawing/2014/main" id="{F24780FB-09E3-AE39-557B-018C817CABA7}"/>
                </a:ext>
              </a:extLst>
            </p:cNvPr>
            <p:cNvSpPr>
              <a:spLocks noGrp="1"/>
            </p:cNvSpPr>
            <p:nvPr/>
          </p:nvSpPr>
          <p:spPr>
            <a:xfrm>
              <a:off x="10830453" y="3200400"/>
              <a:ext cx="91559" cy="70009"/>
            </a:xfrm>
            <a:prstGeom prst="rect">
              <a:avLst/>
            </a:prstGeom>
            <a:solidFill>
              <a:srgbClr val="B6D8CC"/>
            </a:solidFill>
            <a:ln w="7290">
              <a:noFill/>
            </a:ln>
          </p:spPr>
        </p:sp>
        <p:sp>
          <p:nvSpPr>
            <p:cNvPr id="1260" name="Find matrix 0-7">
              <a:extLst>
                <a:ext uri="{FF2B5EF4-FFF2-40B4-BE49-F238E27FC236}">
                  <a16:creationId xmlns:a16="http://schemas.microsoft.com/office/drawing/2014/main" id="{69791062-44B8-8426-AAD4-DD68B1FF31BA}"/>
                </a:ext>
              </a:extLst>
            </p:cNvPr>
            <p:cNvSpPr>
              <a:spLocks noGrp="1"/>
            </p:cNvSpPr>
            <p:nvPr/>
          </p:nvSpPr>
          <p:spPr>
            <a:xfrm>
              <a:off x="10926299" y="3200400"/>
              <a:ext cx="91559" cy="70009"/>
            </a:xfrm>
            <a:prstGeom prst="rect">
              <a:avLst/>
            </a:prstGeom>
            <a:solidFill>
              <a:srgbClr val="D6E5ED"/>
            </a:solidFill>
            <a:ln w="7290">
              <a:noFill/>
            </a:ln>
          </p:spPr>
        </p:sp>
        <p:sp>
          <p:nvSpPr>
            <p:cNvPr id="1261" name="Find matrix 1-0">
              <a:extLst>
                <a:ext uri="{FF2B5EF4-FFF2-40B4-BE49-F238E27FC236}">
                  <a16:creationId xmlns:a16="http://schemas.microsoft.com/office/drawing/2014/main" id="{DAD773D5-9108-C0B7-81D5-AC1CF98B49B0}"/>
                </a:ext>
              </a:extLst>
            </p:cNvPr>
            <p:cNvSpPr>
              <a:spLocks noGrp="1"/>
            </p:cNvSpPr>
            <p:nvPr/>
          </p:nvSpPr>
          <p:spPr>
            <a:xfrm>
              <a:off x="10255382" y="3274695"/>
              <a:ext cx="91559" cy="70009"/>
            </a:xfrm>
            <a:prstGeom prst="rect">
              <a:avLst/>
            </a:prstGeom>
            <a:solidFill>
              <a:srgbClr val="A3CDDA"/>
            </a:solidFill>
            <a:ln w="7290">
              <a:noFill/>
            </a:ln>
          </p:spPr>
        </p:sp>
        <p:sp>
          <p:nvSpPr>
            <p:cNvPr id="1262" name="Find matrix 1-1">
              <a:extLst>
                <a:ext uri="{FF2B5EF4-FFF2-40B4-BE49-F238E27FC236}">
                  <a16:creationId xmlns:a16="http://schemas.microsoft.com/office/drawing/2014/main" id="{FD6D65E0-3CD4-81C9-A7EC-EE4D1EA03DA1}"/>
                </a:ext>
              </a:extLst>
            </p:cNvPr>
            <p:cNvSpPr>
              <a:spLocks noGrp="1"/>
            </p:cNvSpPr>
            <p:nvPr/>
          </p:nvSpPr>
          <p:spPr>
            <a:xfrm>
              <a:off x="10351227" y="3274695"/>
              <a:ext cx="91559" cy="70009"/>
            </a:xfrm>
            <a:prstGeom prst="rect">
              <a:avLst/>
            </a:prstGeom>
            <a:solidFill>
              <a:srgbClr val="B6D8CC"/>
            </a:solidFill>
            <a:ln w="7290">
              <a:noFill/>
            </a:ln>
          </p:spPr>
        </p:sp>
        <p:sp>
          <p:nvSpPr>
            <p:cNvPr id="1263" name="Find matrix 1-2">
              <a:extLst>
                <a:ext uri="{FF2B5EF4-FFF2-40B4-BE49-F238E27FC236}">
                  <a16:creationId xmlns:a16="http://schemas.microsoft.com/office/drawing/2014/main" id="{C06E5EF8-D1B9-1DB5-4010-25CDECE16DF3}"/>
                </a:ext>
              </a:extLst>
            </p:cNvPr>
            <p:cNvSpPr>
              <a:spLocks noGrp="1"/>
            </p:cNvSpPr>
            <p:nvPr/>
          </p:nvSpPr>
          <p:spPr>
            <a:xfrm>
              <a:off x="10447072" y="3274695"/>
              <a:ext cx="91559" cy="70009"/>
            </a:xfrm>
            <a:prstGeom prst="rect">
              <a:avLst/>
            </a:prstGeom>
            <a:solidFill>
              <a:srgbClr val="88BEC3"/>
            </a:solidFill>
            <a:ln w="7290">
              <a:noFill/>
            </a:ln>
          </p:spPr>
        </p:sp>
        <p:sp>
          <p:nvSpPr>
            <p:cNvPr id="1264" name="Find matrix 1-3">
              <a:extLst>
                <a:ext uri="{FF2B5EF4-FFF2-40B4-BE49-F238E27FC236}">
                  <a16:creationId xmlns:a16="http://schemas.microsoft.com/office/drawing/2014/main" id="{9AD5706A-D366-481E-242D-C3727EE68292}"/>
                </a:ext>
              </a:extLst>
            </p:cNvPr>
            <p:cNvSpPr>
              <a:spLocks noGrp="1"/>
            </p:cNvSpPr>
            <p:nvPr/>
          </p:nvSpPr>
          <p:spPr>
            <a:xfrm>
              <a:off x="10542917" y="3274695"/>
              <a:ext cx="91559" cy="70009"/>
            </a:xfrm>
            <a:prstGeom prst="rect">
              <a:avLst/>
            </a:prstGeom>
            <a:solidFill>
              <a:srgbClr val="D6E5ED"/>
            </a:solidFill>
            <a:ln w="7290">
              <a:noFill/>
            </a:ln>
          </p:spPr>
        </p:sp>
        <p:sp>
          <p:nvSpPr>
            <p:cNvPr id="1265" name="Find matrix 1-4">
              <a:extLst>
                <a:ext uri="{FF2B5EF4-FFF2-40B4-BE49-F238E27FC236}">
                  <a16:creationId xmlns:a16="http://schemas.microsoft.com/office/drawing/2014/main" id="{6454B603-2435-1F3E-EFE1-9F3ED69FE183}"/>
                </a:ext>
              </a:extLst>
            </p:cNvPr>
            <p:cNvSpPr>
              <a:spLocks noGrp="1"/>
            </p:cNvSpPr>
            <p:nvPr/>
          </p:nvSpPr>
          <p:spPr>
            <a:xfrm>
              <a:off x="10638763" y="3274695"/>
              <a:ext cx="91559" cy="70009"/>
            </a:xfrm>
            <a:prstGeom prst="rect">
              <a:avLst/>
            </a:prstGeom>
            <a:solidFill>
              <a:srgbClr val="5B9FB6"/>
            </a:solidFill>
            <a:ln w="7290">
              <a:noFill/>
            </a:ln>
          </p:spPr>
        </p:sp>
        <p:sp>
          <p:nvSpPr>
            <p:cNvPr id="1266" name="Find matrix 1-5">
              <a:extLst>
                <a:ext uri="{FF2B5EF4-FFF2-40B4-BE49-F238E27FC236}">
                  <a16:creationId xmlns:a16="http://schemas.microsoft.com/office/drawing/2014/main" id="{BDC3058F-5BB6-EF0A-C0E4-8FFF478A86C2}"/>
                </a:ext>
              </a:extLst>
            </p:cNvPr>
            <p:cNvSpPr>
              <a:spLocks noGrp="1"/>
            </p:cNvSpPr>
            <p:nvPr/>
          </p:nvSpPr>
          <p:spPr>
            <a:xfrm>
              <a:off x="10734608" y="3274695"/>
              <a:ext cx="91559" cy="70009"/>
            </a:xfrm>
            <a:prstGeom prst="rect">
              <a:avLst/>
            </a:prstGeom>
            <a:solidFill>
              <a:srgbClr val="3E8F9A"/>
            </a:solidFill>
            <a:ln w="7290">
              <a:noFill/>
            </a:ln>
          </p:spPr>
        </p:sp>
        <p:sp>
          <p:nvSpPr>
            <p:cNvPr id="1267" name="Find matrix 1-6">
              <a:extLst>
                <a:ext uri="{FF2B5EF4-FFF2-40B4-BE49-F238E27FC236}">
                  <a16:creationId xmlns:a16="http://schemas.microsoft.com/office/drawing/2014/main" id="{7A6FD57F-2D4A-E860-6015-70841E18A307}"/>
                </a:ext>
              </a:extLst>
            </p:cNvPr>
            <p:cNvSpPr>
              <a:spLocks noGrp="1"/>
            </p:cNvSpPr>
            <p:nvPr/>
          </p:nvSpPr>
          <p:spPr>
            <a:xfrm>
              <a:off x="10830453" y="3274695"/>
              <a:ext cx="91559" cy="70009"/>
            </a:xfrm>
            <a:prstGeom prst="rect">
              <a:avLst/>
            </a:prstGeom>
            <a:solidFill>
              <a:srgbClr val="C4DDE0"/>
            </a:solidFill>
            <a:ln w="7290">
              <a:noFill/>
            </a:ln>
          </p:spPr>
        </p:sp>
        <p:sp>
          <p:nvSpPr>
            <p:cNvPr id="1268" name="Find matrix 1-7">
              <a:extLst>
                <a:ext uri="{FF2B5EF4-FFF2-40B4-BE49-F238E27FC236}">
                  <a16:creationId xmlns:a16="http://schemas.microsoft.com/office/drawing/2014/main" id="{289EF4F7-DDB6-5545-39F7-5D1B3F86D2D3}"/>
                </a:ext>
              </a:extLst>
            </p:cNvPr>
            <p:cNvSpPr>
              <a:spLocks noGrp="1"/>
            </p:cNvSpPr>
            <p:nvPr/>
          </p:nvSpPr>
          <p:spPr>
            <a:xfrm>
              <a:off x="10926299" y="3274695"/>
              <a:ext cx="91559" cy="70009"/>
            </a:xfrm>
            <a:prstGeom prst="rect">
              <a:avLst/>
            </a:prstGeom>
            <a:solidFill>
              <a:srgbClr val="67AD9F"/>
            </a:solidFill>
            <a:ln w="7290">
              <a:noFill/>
            </a:ln>
          </p:spPr>
        </p:sp>
        <p:sp>
          <p:nvSpPr>
            <p:cNvPr id="1269" name="Find matrix 2-0">
              <a:extLst>
                <a:ext uri="{FF2B5EF4-FFF2-40B4-BE49-F238E27FC236}">
                  <a16:creationId xmlns:a16="http://schemas.microsoft.com/office/drawing/2014/main" id="{B1282592-D5D6-9C68-2D42-3D2A0FA6458C}"/>
                </a:ext>
              </a:extLst>
            </p:cNvPr>
            <p:cNvSpPr>
              <a:spLocks noGrp="1"/>
            </p:cNvSpPr>
            <p:nvPr/>
          </p:nvSpPr>
          <p:spPr>
            <a:xfrm>
              <a:off x="10255382" y="3348990"/>
              <a:ext cx="91559" cy="70009"/>
            </a:xfrm>
            <a:prstGeom prst="rect">
              <a:avLst/>
            </a:prstGeom>
            <a:solidFill>
              <a:srgbClr val="67AD9F"/>
            </a:solidFill>
            <a:ln w="7290">
              <a:noFill/>
            </a:ln>
          </p:spPr>
        </p:sp>
        <p:sp>
          <p:nvSpPr>
            <p:cNvPr id="1270" name="Find matrix 2-1">
              <a:extLst>
                <a:ext uri="{FF2B5EF4-FFF2-40B4-BE49-F238E27FC236}">
                  <a16:creationId xmlns:a16="http://schemas.microsoft.com/office/drawing/2014/main" id="{390A8337-4744-F454-87FF-4E9BDE799C1D}"/>
                </a:ext>
              </a:extLst>
            </p:cNvPr>
            <p:cNvSpPr>
              <a:spLocks noGrp="1"/>
            </p:cNvSpPr>
            <p:nvPr/>
          </p:nvSpPr>
          <p:spPr>
            <a:xfrm>
              <a:off x="10351227" y="3348990"/>
              <a:ext cx="91559" cy="70009"/>
            </a:xfrm>
            <a:prstGeom prst="rect">
              <a:avLst/>
            </a:prstGeom>
            <a:solidFill>
              <a:srgbClr val="C4DDE0"/>
            </a:solidFill>
            <a:ln w="7290">
              <a:noFill/>
            </a:ln>
          </p:spPr>
        </p:sp>
        <p:sp>
          <p:nvSpPr>
            <p:cNvPr id="1271" name="Find matrix 2-2">
              <a:extLst>
                <a:ext uri="{FF2B5EF4-FFF2-40B4-BE49-F238E27FC236}">
                  <a16:creationId xmlns:a16="http://schemas.microsoft.com/office/drawing/2014/main" id="{F2F7291B-E14D-7E55-CC39-0366DDE36AB6}"/>
                </a:ext>
              </a:extLst>
            </p:cNvPr>
            <p:cNvSpPr>
              <a:spLocks noGrp="1"/>
            </p:cNvSpPr>
            <p:nvPr/>
          </p:nvSpPr>
          <p:spPr>
            <a:xfrm>
              <a:off x="10447072" y="3348990"/>
              <a:ext cx="91559" cy="70009"/>
            </a:xfrm>
            <a:prstGeom prst="rect">
              <a:avLst/>
            </a:prstGeom>
            <a:solidFill>
              <a:srgbClr val="5B9FB6"/>
            </a:solidFill>
            <a:ln w="7290">
              <a:noFill/>
            </a:ln>
          </p:spPr>
        </p:sp>
        <p:sp>
          <p:nvSpPr>
            <p:cNvPr id="1272" name="Find matrix 2-3">
              <a:extLst>
                <a:ext uri="{FF2B5EF4-FFF2-40B4-BE49-F238E27FC236}">
                  <a16:creationId xmlns:a16="http://schemas.microsoft.com/office/drawing/2014/main" id="{7DDB5DDB-AA90-B36F-ECCA-B3D87BDEF49C}"/>
                </a:ext>
              </a:extLst>
            </p:cNvPr>
            <p:cNvSpPr>
              <a:spLocks noGrp="1"/>
            </p:cNvSpPr>
            <p:nvPr/>
          </p:nvSpPr>
          <p:spPr>
            <a:xfrm>
              <a:off x="10542917" y="3348990"/>
              <a:ext cx="91559" cy="70009"/>
            </a:xfrm>
            <a:prstGeom prst="rect">
              <a:avLst/>
            </a:prstGeom>
            <a:solidFill>
              <a:srgbClr val="B6D8CC"/>
            </a:solidFill>
            <a:ln w="7290">
              <a:noFill/>
            </a:ln>
          </p:spPr>
        </p:sp>
        <p:sp>
          <p:nvSpPr>
            <p:cNvPr id="1273" name="Find matrix 2-4">
              <a:extLst>
                <a:ext uri="{FF2B5EF4-FFF2-40B4-BE49-F238E27FC236}">
                  <a16:creationId xmlns:a16="http://schemas.microsoft.com/office/drawing/2014/main" id="{FBF483EB-0895-E2F9-E946-2CE7B0273010}"/>
                </a:ext>
              </a:extLst>
            </p:cNvPr>
            <p:cNvSpPr>
              <a:spLocks noGrp="1"/>
            </p:cNvSpPr>
            <p:nvPr/>
          </p:nvSpPr>
          <p:spPr>
            <a:xfrm>
              <a:off x="10638763" y="3348990"/>
              <a:ext cx="91559" cy="70009"/>
            </a:xfrm>
            <a:prstGeom prst="rect">
              <a:avLst/>
            </a:prstGeom>
            <a:solidFill>
              <a:srgbClr val="3E8F9A"/>
            </a:solidFill>
            <a:ln w="7290">
              <a:noFill/>
            </a:ln>
          </p:spPr>
        </p:sp>
        <p:sp>
          <p:nvSpPr>
            <p:cNvPr id="1274" name="Find matrix 2-5">
              <a:extLst>
                <a:ext uri="{FF2B5EF4-FFF2-40B4-BE49-F238E27FC236}">
                  <a16:creationId xmlns:a16="http://schemas.microsoft.com/office/drawing/2014/main" id="{235264C0-29EF-D9B8-F0D1-9BEBBAD9D6E8}"/>
                </a:ext>
              </a:extLst>
            </p:cNvPr>
            <p:cNvSpPr>
              <a:spLocks noGrp="1"/>
            </p:cNvSpPr>
            <p:nvPr/>
          </p:nvSpPr>
          <p:spPr>
            <a:xfrm>
              <a:off x="10734608" y="3348990"/>
              <a:ext cx="91559" cy="70009"/>
            </a:xfrm>
            <a:prstGeom prst="rect">
              <a:avLst/>
            </a:prstGeom>
            <a:solidFill>
              <a:srgbClr val="D6E5ED"/>
            </a:solidFill>
            <a:ln w="7290">
              <a:noFill/>
            </a:ln>
          </p:spPr>
        </p:sp>
        <p:sp>
          <p:nvSpPr>
            <p:cNvPr id="1275" name="Find matrix 2-6">
              <a:extLst>
                <a:ext uri="{FF2B5EF4-FFF2-40B4-BE49-F238E27FC236}">
                  <a16:creationId xmlns:a16="http://schemas.microsoft.com/office/drawing/2014/main" id="{89BB4142-622C-474C-899B-E7C760EA5054}"/>
                </a:ext>
              </a:extLst>
            </p:cNvPr>
            <p:cNvSpPr>
              <a:spLocks noGrp="1"/>
            </p:cNvSpPr>
            <p:nvPr/>
          </p:nvSpPr>
          <p:spPr>
            <a:xfrm>
              <a:off x="10830453" y="3348990"/>
              <a:ext cx="91559" cy="70009"/>
            </a:xfrm>
            <a:prstGeom prst="rect">
              <a:avLst/>
            </a:prstGeom>
            <a:solidFill>
              <a:srgbClr val="88BEC3"/>
            </a:solidFill>
            <a:ln w="7290">
              <a:noFill/>
            </a:ln>
          </p:spPr>
        </p:sp>
        <p:sp>
          <p:nvSpPr>
            <p:cNvPr id="1276" name="Find matrix 2-7">
              <a:extLst>
                <a:ext uri="{FF2B5EF4-FFF2-40B4-BE49-F238E27FC236}">
                  <a16:creationId xmlns:a16="http://schemas.microsoft.com/office/drawing/2014/main" id="{6D2284D9-4AE6-02DD-AA99-C88ED825A8F4}"/>
                </a:ext>
              </a:extLst>
            </p:cNvPr>
            <p:cNvSpPr>
              <a:spLocks noGrp="1"/>
            </p:cNvSpPr>
            <p:nvPr/>
          </p:nvSpPr>
          <p:spPr>
            <a:xfrm>
              <a:off x="10926299" y="3348990"/>
              <a:ext cx="91559" cy="70009"/>
            </a:xfrm>
            <a:prstGeom prst="rect">
              <a:avLst/>
            </a:prstGeom>
            <a:solidFill>
              <a:srgbClr val="A3CDDA"/>
            </a:solidFill>
            <a:ln w="7290">
              <a:noFill/>
            </a:ln>
          </p:spPr>
        </p:sp>
        <p:sp>
          <p:nvSpPr>
            <p:cNvPr id="1277" name="Find matrix 3-0">
              <a:extLst>
                <a:ext uri="{FF2B5EF4-FFF2-40B4-BE49-F238E27FC236}">
                  <a16:creationId xmlns:a16="http://schemas.microsoft.com/office/drawing/2014/main" id="{A354350A-00E7-4344-FF84-5BBF2165CEDA}"/>
                </a:ext>
              </a:extLst>
            </p:cNvPr>
            <p:cNvSpPr>
              <a:spLocks noGrp="1"/>
            </p:cNvSpPr>
            <p:nvPr/>
          </p:nvSpPr>
          <p:spPr>
            <a:xfrm>
              <a:off x="10255382" y="3423285"/>
              <a:ext cx="91559" cy="70009"/>
            </a:xfrm>
            <a:prstGeom prst="rect">
              <a:avLst/>
            </a:prstGeom>
            <a:solidFill>
              <a:srgbClr val="88BEC3"/>
            </a:solidFill>
            <a:ln w="7290">
              <a:noFill/>
            </a:ln>
          </p:spPr>
        </p:sp>
        <p:sp>
          <p:nvSpPr>
            <p:cNvPr id="1278" name="Find matrix 3-1">
              <a:extLst>
                <a:ext uri="{FF2B5EF4-FFF2-40B4-BE49-F238E27FC236}">
                  <a16:creationId xmlns:a16="http://schemas.microsoft.com/office/drawing/2014/main" id="{E2EDFAC2-C5CD-2DF8-165C-4DBC9D98B449}"/>
                </a:ext>
              </a:extLst>
            </p:cNvPr>
            <p:cNvSpPr>
              <a:spLocks noGrp="1"/>
            </p:cNvSpPr>
            <p:nvPr/>
          </p:nvSpPr>
          <p:spPr>
            <a:xfrm>
              <a:off x="10351227" y="3423285"/>
              <a:ext cx="91559" cy="70009"/>
            </a:xfrm>
            <a:prstGeom prst="rect">
              <a:avLst/>
            </a:prstGeom>
            <a:solidFill>
              <a:srgbClr val="D6E5ED"/>
            </a:solidFill>
            <a:ln w="7290">
              <a:noFill/>
            </a:ln>
          </p:spPr>
        </p:sp>
        <p:sp>
          <p:nvSpPr>
            <p:cNvPr id="1279" name="Find matrix 3-2">
              <a:extLst>
                <a:ext uri="{FF2B5EF4-FFF2-40B4-BE49-F238E27FC236}">
                  <a16:creationId xmlns:a16="http://schemas.microsoft.com/office/drawing/2014/main" id="{4D088869-EB59-E1B3-59B4-C3C92C8170BA}"/>
                </a:ext>
              </a:extLst>
            </p:cNvPr>
            <p:cNvSpPr>
              <a:spLocks noGrp="1"/>
            </p:cNvSpPr>
            <p:nvPr/>
          </p:nvSpPr>
          <p:spPr>
            <a:xfrm>
              <a:off x="10447072" y="3423285"/>
              <a:ext cx="91559" cy="70009"/>
            </a:xfrm>
            <a:prstGeom prst="rect">
              <a:avLst/>
            </a:prstGeom>
            <a:solidFill>
              <a:srgbClr val="67AD9F"/>
            </a:solidFill>
            <a:ln w="7290">
              <a:noFill/>
            </a:ln>
          </p:spPr>
        </p:sp>
        <p:sp>
          <p:nvSpPr>
            <p:cNvPr id="1280" name="Find matrix 3-3">
              <a:extLst>
                <a:ext uri="{FF2B5EF4-FFF2-40B4-BE49-F238E27FC236}">
                  <a16:creationId xmlns:a16="http://schemas.microsoft.com/office/drawing/2014/main" id="{119CBCB9-6860-7DCC-AF73-C422647EEF23}"/>
                </a:ext>
              </a:extLst>
            </p:cNvPr>
            <p:cNvSpPr>
              <a:spLocks noGrp="1"/>
            </p:cNvSpPr>
            <p:nvPr/>
          </p:nvSpPr>
          <p:spPr>
            <a:xfrm>
              <a:off x="10542917" y="3423285"/>
              <a:ext cx="91559" cy="70009"/>
            </a:xfrm>
            <a:prstGeom prst="rect">
              <a:avLst/>
            </a:prstGeom>
            <a:solidFill>
              <a:srgbClr val="3E8F9A"/>
            </a:solidFill>
            <a:ln w="7290">
              <a:noFill/>
            </a:ln>
          </p:spPr>
        </p:sp>
        <p:sp>
          <p:nvSpPr>
            <p:cNvPr id="1281" name="Find matrix 3-4">
              <a:extLst>
                <a:ext uri="{FF2B5EF4-FFF2-40B4-BE49-F238E27FC236}">
                  <a16:creationId xmlns:a16="http://schemas.microsoft.com/office/drawing/2014/main" id="{F0ED964A-EDEB-7D43-69F8-BEFE576D1277}"/>
                </a:ext>
              </a:extLst>
            </p:cNvPr>
            <p:cNvSpPr>
              <a:spLocks noGrp="1"/>
            </p:cNvSpPr>
            <p:nvPr/>
          </p:nvSpPr>
          <p:spPr>
            <a:xfrm>
              <a:off x="10638763" y="3423285"/>
              <a:ext cx="91559" cy="70009"/>
            </a:xfrm>
            <a:prstGeom prst="rect">
              <a:avLst/>
            </a:prstGeom>
            <a:solidFill>
              <a:srgbClr val="C4DDE0"/>
            </a:solidFill>
            <a:ln w="7290">
              <a:noFill/>
            </a:ln>
          </p:spPr>
        </p:sp>
        <p:sp>
          <p:nvSpPr>
            <p:cNvPr id="1282" name="Find matrix 3-5">
              <a:extLst>
                <a:ext uri="{FF2B5EF4-FFF2-40B4-BE49-F238E27FC236}">
                  <a16:creationId xmlns:a16="http://schemas.microsoft.com/office/drawing/2014/main" id="{A0A2A64A-E67D-3395-0409-F2703179F7EC}"/>
                </a:ext>
              </a:extLst>
            </p:cNvPr>
            <p:cNvSpPr>
              <a:spLocks noGrp="1"/>
            </p:cNvSpPr>
            <p:nvPr/>
          </p:nvSpPr>
          <p:spPr>
            <a:xfrm>
              <a:off x="10734608" y="3423285"/>
              <a:ext cx="91559" cy="70009"/>
            </a:xfrm>
            <a:prstGeom prst="rect">
              <a:avLst/>
            </a:prstGeom>
            <a:solidFill>
              <a:srgbClr val="A3CDDA"/>
            </a:solidFill>
            <a:ln w="7290">
              <a:noFill/>
            </a:ln>
          </p:spPr>
        </p:sp>
        <p:sp>
          <p:nvSpPr>
            <p:cNvPr id="1283" name="Find matrix 3-6">
              <a:extLst>
                <a:ext uri="{FF2B5EF4-FFF2-40B4-BE49-F238E27FC236}">
                  <a16:creationId xmlns:a16="http://schemas.microsoft.com/office/drawing/2014/main" id="{EA7CE8E7-C1AC-E261-A970-8EC80886D558}"/>
                </a:ext>
              </a:extLst>
            </p:cNvPr>
            <p:cNvSpPr>
              <a:spLocks noGrp="1"/>
            </p:cNvSpPr>
            <p:nvPr/>
          </p:nvSpPr>
          <p:spPr>
            <a:xfrm>
              <a:off x="10830453" y="3423285"/>
              <a:ext cx="91559" cy="70009"/>
            </a:xfrm>
            <a:prstGeom prst="rect">
              <a:avLst/>
            </a:prstGeom>
            <a:solidFill>
              <a:srgbClr val="B6D8CC"/>
            </a:solidFill>
            <a:ln w="7290">
              <a:noFill/>
            </a:ln>
          </p:spPr>
        </p:sp>
        <p:sp>
          <p:nvSpPr>
            <p:cNvPr id="1284" name="Find matrix 3-7">
              <a:extLst>
                <a:ext uri="{FF2B5EF4-FFF2-40B4-BE49-F238E27FC236}">
                  <a16:creationId xmlns:a16="http://schemas.microsoft.com/office/drawing/2014/main" id="{3CC5802F-96A8-F327-8DCD-5C642BB94DCE}"/>
                </a:ext>
              </a:extLst>
            </p:cNvPr>
            <p:cNvSpPr>
              <a:spLocks noGrp="1"/>
            </p:cNvSpPr>
            <p:nvPr/>
          </p:nvSpPr>
          <p:spPr>
            <a:xfrm>
              <a:off x="10926299" y="3423285"/>
              <a:ext cx="91559" cy="70009"/>
            </a:xfrm>
            <a:prstGeom prst="rect">
              <a:avLst/>
            </a:prstGeom>
            <a:solidFill>
              <a:srgbClr val="5B9FB6"/>
            </a:solidFill>
            <a:ln w="7290">
              <a:noFill/>
            </a:ln>
          </p:spPr>
        </p:sp>
        <p:sp>
          <p:nvSpPr>
            <p:cNvPr id="1285" name="Match matrix 0-0">
              <a:extLst>
                <a:ext uri="{FF2B5EF4-FFF2-40B4-BE49-F238E27FC236}">
                  <a16:creationId xmlns:a16="http://schemas.microsoft.com/office/drawing/2014/main" id="{1E148E3C-F1D3-F47F-36C6-42E1C579FB78}"/>
                </a:ext>
              </a:extLst>
            </p:cNvPr>
            <p:cNvSpPr>
              <a:spLocks noGrp="1"/>
            </p:cNvSpPr>
            <p:nvPr/>
          </p:nvSpPr>
          <p:spPr>
            <a:xfrm>
              <a:off x="3633156" y="7252039"/>
              <a:ext cx="88583" cy="70009"/>
            </a:xfrm>
            <a:prstGeom prst="rect">
              <a:avLst/>
            </a:prstGeom>
            <a:solidFill>
              <a:srgbClr val="3E8F9A"/>
            </a:solidFill>
            <a:ln w="7290">
              <a:noFill/>
            </a:ln>
          </p:spPr>
        </p:sp>
        <p:sp>
          <p:nvSpPr>
            <p:cNvPr id="1286" name="Match matrix 0-1">
              <a:extLst>
                <a:ext uri="{FF2B5EF4-FFF2-40B4-BE49-F238E27FC236}">
                  <a16:creationId xmlns:a16="http://schemas.microsoft.com/office/drawing/2014/main" id="{6CE95E95-35B4-AAA3-E629-B7804854BFD1}"/>
                </a:ext>
              </a:extLst>
            </p:cNvPr>
            <p:cNvSpPr>
              <a:spLocks noGrp="1"/>
            </p:cNvSpPr>
            <p:nvPr/>
          </p:nvSpPr>
          <p:spPr>
            <a:xfrm>
              <a:off x="3726025" y="7252039"/>
              <a:ext cx="88583" cy="70009"/>
            </a:xfrm>
            <a:prstGeom prst="rect">
              <a:avLst/>
            </a:prstGeom>
            <a:solidFill>
              <a:srgbClr val="5B9FB6"/>
            </a:solidFill>
            <a:ln w="7290">
              <a:noFill/>
            </a:ln>
          </p:spPr>
        </p:sp>
        <p:sp>
          <p:nvSpPr>
            <p:cNvPr id="1287" name="Match matrix 0-2">
              <a:extLst>
                <a:ext uri="{FF2B5EF4-FFF2-40B4-BE49-F238E27FC236}">
                  <a16:creationId xmlns:a16="http://schemas.microsoft.com/office/drawing/2014/main" id="{7AA444A0-2B6A-4C23-EFFA-BB0D0814FEA4}"/>
                </a:ext>
              </a:extLst>
            </p:cNvPr>
            <p:cNvSpPr>
              <a:spLocks noGrp="1"/>
            </p:cNvSpPr>
            <p:nvPr/>
          </p:nvSpPr>
          <p:spPr>
            <a:xfrm>
              <a:off x="3818894" y="7252039"/>
              <a:ext cx="88583" cy="70009"/>
            </a:xfrm>
            <a:prstGeom prst="rect">
              <a:avLst/>
            </a:prstGeom>
            <a:solidFill>
              <a:srgbClr val="A3CDDA"/>
            </a:solidFill>
            <a:ln w="7290">
              <a:noFill/>
            </a:ln>
          </p:spPr>
        </p:sp>
        <p:sp>
          <p:nvSpPr>
            <p:cNvPr id="1288" name="Match matrix 0-3">
              <a:extLst>
                <a:ext uri="{FF2B5EF4-FFF2-40B4-BE49-F238E27FC236}">
                  <a16:creationId xmlns:a16="http://schemas.microsoft.com/office/drawing/2014/main" id="{FA614244-906C-CFFC-1294-6D233D01CB35}"/>
                </a:ext>
              </a:extLst>
            </p:cNvPr>
            <p:cNvSpPr>
              <a:spLocks noGrp="1"/>
            </p:cNvSpPr>
            <p:nvPr/>
          </p:nvSpPr>
          <p:spPr>
            <a:xfrm>
              <a:off x="3911762" y="7252039"/>
              <a:ext cx="88583" cy="70009"/>
            </a:xfrm>
            <a:prstGeom prst="rect">
              <a:avLst/>
            </a:prstGeom>
            <a:solidFill>
              <a:srgbClr val="88BEC3"/>
            </a:solidFill>
            <a:ln w="7290">
              <a:noFill/>
            </a:ln>
          </p:spPr>
        </p:sp>
        <p:sp>
          <p:nvSpPr>
            <p:cNvPr id="1289" name="Match matrix 0-4">
              <a:extLst>
                <a:ext uri="{FF2B5EF4-FFF2-40B4-BE49-F238E27FC236}">
                  <a16:creationId xmlns:a16="http://schemas.microsoft.com/office/drawing/2014/main" id="{EE4A1296-1DD3-454F-610D-2BDEB1D0EFA9}"/>
                </a:ext>
              </a:extLst>
            </p:cNvPr>
            <p:cNvSpPr>
              <a:spLocks noGrp="1"/>
            </p:cNvSpPr>
            <p:nvPr/>
          </p:nvSpPr>
          <p:spPr>
            <a:xfrm>
              <a:off x="4004631" y="7252039"/>
              <a:ext cx="88583" cy="70009"/>
            </a:xfrm>
            <a:prstGeom prst="rect">
              <a:avLst/>
            </a:prstGeom>
            <a:solidFill>
              <a:srgbClr val="67AD9F"/>
            </a:solidFill>
            <a:ln w="7290">
              <a:noFill/>
            </a:ln>
          </p:spPr>
        </p:sp>
        <p:sp>
          <p:nvSpPr>
            <p:cNvPr id="1290" name="Match matrix 0-5">
              <a:extLst>
                <a:ext uri="{FF2B5EF4-FFF2-40B4-BE49-F238E27FC236}">
                  <a16:creationId xmlns:a16="http://schemas.microsoft.com/office/drawing/2014/main" id="{A27DCA6A-D9A0-89D2-300F-145A0353541B}"/>
                </a:ext>
              </a:extLst>
            </p:cNvPr>
            <p:cNvSpPr>
              <a:spLocks noGrp="1"/>
            </p:cNvSpPr>
            <p:nvPr/>
          </p:nvSpPr>
          <p:spPr>
            <a:xfrm>
              <a:off x="4097500" y="7252039"/>
              <a:ext cx="88583" cy="70009"/>
            </a:xfrm>
            <a:prstGeom prst="rect">
              <a:avLst/>
            </a:prstGeom>
            <a:solidFill>
              <a:srgbClr val="C4DDE0"/>
            </a:solidFill>
            <a:ln w="7290">
              <a:noFill/>
            </a:ln>
          </p:spPr>
        </p:sp>
        <p:sp>
          <p:nvSpPr>
            <p:cNvPr id="1291" name="Match matrix 0-6">
              <a:extLst>
                <a:ext uri="{FF2B5EF4-FFF2-40B4-BE49-F238E27FC236}">
                  <a16:creationId xmlns:a16="http://schemas.microsoft.com/office/drawing/2014/main" id="{110481AC-0BB3-A98A-15F4-6DA00B6462E6}"/>
                </a:ext>
              </a:extLst>
            </p:cNvPr>
            <p:cNvSpPr>
              <a:spLocks noGrp="1"/>
            </p:cNvSpPr>
            <p:nvPr/>
          </p:nvSpPr>
          <p:spPr>
            <a:xfrm>
              <a:off x="4190369" y="7252039"/>
              <a:ext cx="88583" cy="70009"/>
            </a:xfrm>
            <a:prstGeom prst="rect">
              <a:avLst/>
            </a:prstGeom>
            <a:solidFill>
              <a:srgbClr val="B6D8CC"/>
            </a:solidFill>
            <a:ln w="7290">
              <a:noFill/>
            </a:ln>
          </p:spPr>
        </p:sp>
        <p:sp>
          <p:nvSpPr>
            <p:cNvPr id="1292" name="Match matrix 0-7">
              <a:extLst>
                <a:ext uri="{FF2B5EF4-FFF2-40B4-BE49-F238E27FC236}">
                  <a16:creationId xmlns:a16="http://schemas.microsoft.com/office/drawing/2014/main" id="{CA0FE5FF-20F8-A515-1575-D2B579C6A384}"/>
                </a:ext>
              </a:extLst>
            </p:cNvPr>
            <p:cNvSpPr>
              <a:spLocks noGrp="1"/>
            </p:cNvSpPr>
            <p:nvPr/>
          </p:nvSpPr>
          <p:spPr>
            <a:xfrm>
              <a:off x="4283237" y="7252039"/>
              <a:ext cx="88583" cy="70009"/>
            </a:xfrm>
            <a:prstGeom prst="rect">
              <a:avLst/>
            </a:prstGeom>
            <a:solidFill>
              <a:srgbClr val="D6E5ED"/>
            </a:solidFill>
            <a:ln w="7290">
              <a:noFill/>
            </a:ln>
          </p:spPr>
        </p:sp>
        <p:sp>
          <p:nvSpPr>
            <p:cNvPr id="1293" name="Match matrix 1-0">
              <a:extLst>
                <a:ext uri="{FF2B5EF4-FFF2-40B4-BE49-F238E27FC236}">
                  <a16:creationId xmlns:a16="http://schemas.microsoft.com/office/drawing/2014/main" id="{62DD97DC-E1EF-3AC8-77C6-31E750CF1688}"/>
                </a:ext>
              </a:extLst>
            </p:cNvPr>
            <p:cNvSpPr>
              <a:spLocks noGrp="1"/>
            </p:cNvSpPr>
            <p:nvPr/>
          </p:nvSpPr>
          <p:spPr>
            <a:xfrm>
              <a:off x="3633156" y="7326334"/>
              <a:ext cx="88583" cy="70009"/>
            </a:xfrm>
            <a:prstGeom prst="rect">
              <a:avLst/>
            </a:prstGeom>
            <a:solidFill>
              <a:srgbClr val="A3CDDA"/>
            </a:solidFill>
            <a:ln w="7290">
              <a:noFill/>
            </a:ln>
          </p:spPr>
        </p:sp>
        <p:sp>
          <p:nvSpPr>
            <p:cNvPr id="1294" name="Match matrix 1-1">
              <a:extLst>
                <a:ext uri="{FF2B5EF4-FFF2-40B4-BE49-F238E27FC236}">
                  <a16:creationId xmlns:a16="http://schemas.microsoft.com/office/drawing/2014/main" id="{B545DCC8-F9BD-6322-3BD3-A195D0A92FFB}"/>
                </a:ext>
              </a:extLst>
            </p:cNvPr>
            <p:cNvSpPr>
              <a:spLocks noGrp="1"/>
            </p:cNvSpPr>
            <p:nvPr/>
          </p:nvSpPr>
          <p:spPr>
            <a:xfrm>
              <a:off x="3726025" y="7326334"/>
              <a:ext cx="88583" cy="70009"/>
            </a:xfrm>
            <a:prstGeom prst="rect">
              <a:avLst/>
            </a:prstGeom>
            <a:solidFill>
              <a:srgbClr val="B6D8CC"/>
            </a:solidFill>
            <a:ln w="7290">
              <a:noFill/>
            </a:ln>
          </p:spPr>
        </p:sp>
        <p:sp>
          <p:nvSpPr>
            <p:cNvPr id="1295" name="Match matrix 1-2">
              <a:extLst>
                <a:ext uri="{FF2B5EF4-FFF2-40B4-BE49-F238E27FC236}">
                  <a16:creationId xmlns:a16="http://schemas.microsoft.com/office/drawing/2014/main" id="{CA362456-65E1-995A-0618-99CCC4184C18}"/>
                </a:ext>
              </a:extLst>
            </p:cNvPr>
            <p:cNvSpPr>
              <a:spLocks noGrp="1"/>
            </p:cNvSpPr>
            <p:nvPr/>
          </p:nvSpPr>
          <p:spPr>
            <a:xfrm>
              <a:off x="3818894" y="7326334"/>
              <a:ext cx="88583" cy="70009"/>
            </a:xfrm>
            <a:prstGeom prst="rect">
              <a:avLst/>
            </a:prstGeom>
            <a:solidFill>
              <a:srgbClr val="88BEC3"/>
            </a:solidFill>
            <a:ln w="7290">
              <a:noFill/>
            </a:ln>
          </p:spPr>
        </p:sp>
        <p:sp>
          <p:nvSpPr>
            <p:cNvPr id="1296" name="Match matrix 1-3">
              <a:extLst>
                <a:ext uri="{FF2B5EF4-FFF2-40B4-BE49-F238E27FC236}">
                  <a16:creationId xmlns:a16="http://schemas.microsoft.com/office/drawing/2014/main" id="{A2C35F9E-7361-3F63-4B0D-A98BA11C6FD6}"/>
                </a:ext>
              </a:extLst>
            </p:cNvPr>
            <p:cNvSpPr>
              <a:spLocks noGrp="1"/>
            </p:cNvSpPr>
            <p:nvPr/>
          </p:nvSpPr>
          <p:spPr>
            <a:xfrm>
              <a:off x="3911762" y="7326334"/>
              <a:ext cx="88583" cy="70009"/>
            </a:xfrm>
            <a:prstGeom prst="rect">
              <a:avLst/>
            </a:prstGeom>
            <a:solidFill>
              <a:srgbClr val="D6E5ED"/>
            </a:solidFill>
            <a:ln w="7290">
              <a:noFill/>
            </a:ln>
          </p:spPr>
        </p:sp>
        <p:sp>
          <p:nvSpPr>
            <p:cNvPr id="1297" name="Match matrix 1-4">
              <a:extLst>
                <a:ext uri="{FF2B5EF4-FFF2-40B4-BE49-F238E27FC236}">
                  <a16:creationId xmlns:a16="http://schemas.microsoft.com/office/drawing/2014/main" id="{FAAA67D0-1522-17CF-8376-8D76753F582D}"/>
                </a:ext>
              </a:extLst>
            </p:cNvPr>
            <p:cNvSpPr>
              <a:spLocks noGrp="1"/>
            </p:cNvSpPr>
            <p:nvPr/>
          </p:nvSpPr>
          <p:spPr>
            <a:xfrm>
              <a:off x="4004631" y="7326334"/>
              <a:ext cx="88583" cy="70009"/>
            </a:xfrm>
            <a:prstGeom prst="rect">
              <a:avLst/>
            </a:prstGeom>
            <a:solidFill>
              <a:srgbClr val="5B9FB6"/>
            </a:solidFill>
            <a:ln w="7290">
              <a:noFill/>
            </a:ln>
          </p:spPr>
        </p:sp>
        <p:sp>
          <p:nvSpPr>
            <p:cNvPr id="1298" name="Match matrix 1-5">
              <a:extLst>
                <a:ext uri="{FF2B5EF4-FFF2-40B4-BE49-F238E27FC236}">
                  <a16:creationId xmlns:a16="http://schemas.microsoft.com/office/drawing/2014/main" id="{8EFA4585-A006-C810-377D-DBA6C87576CE}"/>
                </a:ext>
              </a:extLst>
            </p:cNvPr>
            <p:cNvSpPr>
              <a:spLocks noGrp="1"/>
            </p:cNvSpPr>
            <p:nvPr/>
          </p:nvSpPr>
          <p:spPr>
            <a:xfrm>
              <a:off x="4097500" y="7326334"/>
              <a:ext cx="88583" cy="70009"/>
            </a:xfrm>
            <a:prstGeom prst="rect">
              <a:avLst/>
            </a:prstGeom>
            <a:solidFill>
              <a:srgbClr val="3E8F9A"/>
            </a:solidFill>
            <a:ln w="7290">
              <a:noFill/>
            </a:ln>
          </p:spPr>
        </p:sp>
        <p:sp>
          <p:nvSpPr>
            <p:cNvPr id="1299" name="Match matrix 1-6">
              <a:extLst>
                <a:ext uri="{FF2B5EF4-FFF2-40B4-BE49-F238E27FC236}">
                  <a16:creationId xmlns:a16="http://schemas.microsoft.com/office/drawing/2014/main" id="{64D11889-0CF0-CA9A-1917-2BF4C8C70236}"/>
                </a:ext>
              </a:extLst>
            </p:cNvPr>
            <p:cNvSpPr>
              <a:spLocks noGrp="1"/>
            </p:cNvSpPr>
            <p:nvPr/>
          </p:nvSpPr>
          <p:spPr>
            <a:xfrm>
              <a:off x="4190369" y="7326334"/>
              <a:ext cx="88583" cy="70009"/>
            </a:xfrm>
            <a:prstGeom prst="rect">
              <a:avLst/>
            </a:prstGeom>
            <a:solidFill>
              <a:srgbClr val="C4DDE0"/>
            </a:solidFill>
            <a:ln w="7290">
              <a:noFill/>
            </a:ln>
          </p:spPr>
        </p:sp>
        <p:sp>
          <p:nvSpPr>
            <p:cNvPr id="1300" name="Match matrix 1-7">
              <a:extLst>
                <a:ext uri="{FF2B5EF4-FFF2-40B4-BE49-F238E27FC236}">
                  <a16:creationId xmlns:a16="http://schemas.microsoft.com/office/drawing/2014/main" id="{188B5773-F5C9-7D4C-8152-FA7D9B627789}"/>
                </a:ext>
              </a:extLst>
            </p:cNvPr>
            <p:cNvSpPr>
              <a:spLocks noGrp="1"/>
            </p:cNvSpPr>
            <p:nvPr/>
          </p:nvSpPr>
          <p:spPr>
            <a:xfrm>
              <a:off x="4283237" y="7326334"/>
              <a:ext cx="88583" cy="70009"/>
            </a:xfrm>
            <a:prstGeom prst="rect">
              <a:avLst/>
            </a:prstGeom>
            <a:solidFill>
              <a:srgbClr val="67AD9F"/>
            </a:solidFill>
            <a:ln w="7290">
              <a:noFill/>
            </a:ln>
          </p:spPr>
        </p:sp>
        <p:sp>
          <p:nvSpPr>
            <p:cNvPr id="1301" name="Match matrix 2-0">
              <a:extLst>
                <a:ext uri="{FF2B5EF4-FFF2-40B4-BE49-F238E27FC236}">
                  <a16:creationId xmlns:a16="http://schemas.microsoft.com/office/drawing/2014/main" id="{BBF02AFB-8489-0057-17C0-1186E4D7244F}"/>
                </a:ext>
              </a:extLst>
            </p:cNvPr>
            <p:cNvSpPr>
              <a:spLocks noGrp="1"/>
            </p:cNvSpPr>
            <p:nvPr/>
          </p:nvSpPr>
          <p:spPr>
            <a:xfrm>
              <a:off x="3633156" y="7400629"/>
              <a:ext cx="88583" cy="70009"/>
            </a:xfrm>
            <a:prstGeom prst="rect">
              <a:avLst/>
            </a:prstGeom>
            <a:solidFill>
              <a:srgbClr val="67AD9F"/>
            </a:solidFill>
            <a:ln w="7290">
              <a:noFill/>
            </a:ln>
          </p:spPr>
        </p:sp>
        <p:sp>
          <p:nvSpPr>
            <p:cNvPr id="1302" name="Match matrix 2-1">
              <a:extLst>
                <a:ext uri="{FF2B5EF4-FFF2-40B4-BE49-F238E27FC236}">
                  <a16:creationId xmlns:a16="http://schemas.microsoft.com/office/drawing/2014/main" id="{4D1F1E41-46E5-997B-A9A2-D4A7E86A821C}"/>
                </a:ext>
              </a:extLst>
            </p:cNvPr>
            <p:cNvSpPr>
              <a:spLocks noGrp="1"/>
            </p:cNvSpPr>
            <p:nvPr/>
          </p:nvSpPr>
          <p:spPr>
            <a:xfrm>
              <a:off x="3726025" y="7400629"/>
              <a:ext cx="88583" cy="70009"/>
            </a:xfrm>
            <a:prstGeom prst="rect">
              <a:avLst/>
            </a:prstGeom>
            <a:solidFill>
              <a:srgbClr val="C4DDE0"/>
            </a:solidFill>
            <a:ln w="7290">
              <a:noFill/>
            </a:ln>
          </p:spPr>
        </p:sp>
        <p:sp>
          <p:nvSpPr>
            <p:cNvPr id="1303" name="Match matrix 2-2">
              <a:extLst>
                <a:ext uri="{FF2B5EF4-FFF2-40B4-BE49-F238E27FC236}">
                  <a16:creationId xmlns:a16="http://schemas.microsoft.com/office/drawing/2014/main" id="{BDC0B5DB-1FDB-9192-A8A8-9F9E9FC2CF48}"/>
                </a:ext>
              </a:extLst>
            </p:cNvPr>
            <p:cNvSpPr>
              <a:spLocks noGrp="1"/>
            </p:cNvSpPr>
            <p:nvPr/>
          </p:nvSpPr>
          <p:spPr>
            <a:xfrm>
              <a:off x="3818894" y="7400629"/>
              <a:ext cx="88583" cy="70009"/>
            </a:xfrm>
            <a:prstGeom prst="rect">
              <a:avLst/>
            </a:prstGeom>
            <a:solidFill>
              <a:srgbClr val="5B9FB6"/>
            </a:solidFill>
            <a:ln w="7290">
              <a:noFill/>
            </a:ln>
          </p:spPr>
        </p:sp>
        <p:sp>
          <p:nvSpPr>
            <p:cNvPr id="1304" name="Match matrix 2-3">
              <a:extLst>
                <a:ext uri="{FF2B5EF4-FFF2-40B4-BE49-F238E27FC236}">
                  <a16:creationId xmlns:a16="http://schemas.microsoft.com/office/drawing/2014/main" id="{9C663294-FCA2-F8DE-2AEC-EEF54C48921A}"/>
                </a:ext>
              </a:extLst>
            </p:cNvPr>
            <p:cNvSpPr>
              <a:spLocks noGrp="1"/>
            </p:cNvSpPr>
            <p:nvPr/>
          </p:nvSpPr>
          <p:spPr>
            <a:xfrm>
              <a:off x="3911762" y="7400629"/>
              <a:ext cx="88583" cy="70009"/>
            </a:xfrm>
            <a:prstGeom prst="rect">
              <a:avLst/>
            </a:prstGeom>
            <a:solidFill>
              <a:srgbClr val="B6D8CC"/>
            </a:solidFill>
            <a:ln w="7290">
              <a:noFill/>
            </a:ln>
          </p:spPr>
        </p:sp>
        <p:sp>
          <p:nvSpPr>
            <p:cNvPr id="1305" name="Match matrix 2-4">
              <a:extLst>
                <a:ext uri="{FF2B5EF4-FFF2-40B4-BE49-F238E27FC236}">
                  <a16:creationId xmlns:a16="http://schemas.microsoft.com/office/drawing/2014/main" id="{28E76182-0A60-4A72-9586-C12459BE0B58}"/>
                </a:ext>
              </a:extLst>
            </p:cNvPr>
            <p:cNvSpPr>
              <a:spLocks noGrp="1"/>
            </p:cNvSpPr>
            <p:nvPr/>
          </p:nvSpPr>
          <p:spPr>
            <a:xfrm>
              <a:off x="4004631" y="7400629"/>
              <a:ext cx="88583" cy="70009"/>
            </a:xfrm>
            <a:prstGeom prst="rect">
              <a:avLst/>
            </a:prstGeom>
            <a:solidFill>
              <a:srgbClr val="3E8F9A"/>
            </a:solidFill>
            <a:ln w="7290">
              <a:noFill/>
            </a:ln>
          </p:spPr>
        </p:sp>
        <p:sp>
          <p:nvSpPr>
            <p:cNvPr id="1306" name="Match matrix 2-5">
              <a:extLst>
                <a:ext uri="{FF2B5EF4-FFF2-40B4-BE49-F238E27FC236}">
                  <a16:creationId xmlns:a16="http://schemas.microsoft.com/office/drawing/2014/main" id="{29FC68A5-EB54-9596-85EC-EDC1175B056F}"/>
                </a:ext>
              </a:extLst>
            </p:cNvPr>
            <p:cNvSpPr>
              <a:spLocks noGrp="1"/>
            </p:cNvSpPr>
            <p:nvPr/>
          </p:nvSpPr>
          <p:spPr>
            <a:xfrm>
              <a:off x="4097500" y="7400629"/>
              <a:ext cx="88583" cy="70009"/>
            </a:xfrm>
            <a:prstGeom prst="rect">
              <a:avLst/>
            </a:prstGeom>
            <a:solidFill>
              <a:srgbClr val="D6E5ED"/>
            </a:solidFill>
            <a:ln w="7290">
              <a:noFill/>
            </a:ln>
          </p:spPr>
        </p:sp>
        <p:sp>
          <p:nvSpPr>
            <p:cNvPr id="1307" name="Match matrix 2-6">
              <a:extLst>
                <a:ext uri="{FF2B5EF4-FFF2-40B4-BE49-F238E27FC236}">
                  <a16:creationId xmlns:a16="http://schemas.microsoft.com/office/drawing/2014/main" id="{59C9C8C5-D90A-7A02-93D3-957FE3AE7DC3}"/>
                </a:ext>
              </a:extLst>
            </p:cNvPr>
            <p:cNvSpPr>
              <a:spLocks noGrp="1"/>
            </p:cNvSpPr>
            <p:nvPr/>
          </p:nvSpPr>
          <p:spPr>
            <a:xfrm>
              <a:off x="4190369" y="7400629"/>
              <a:ext cx="88583" cy="70009"/>
            </a:xfrm>
            <a:prstGeom prst="rect">
              <a:avLst/>
            </a:prstGeom>
            <a:solidFill>
              <a:srgbClr val="88BEC3"/>
            </a:solidFill>
            <a:ln w="7290">
              <a:noFill/>
            </a:ln>
          </p:spPr>
        </p:sp>
        <p:sp>
          <p:nvSpPr>
            <p:cNvPr id="1308" name="Match matrix 2-7">
              <a:extLst>
                <a:ext uri="{FF2B5EF4-FFF2-40B4-BE49-F238E27FC236}">
                  <a16:creationId xmlns:a16="http://schemas.microsoft.com/office/drawing/2014/main" id="{83DFB888-0521-0863-270C-DBAF169C149A}"/>
                </a:ext>
              </a:extLst>
            </p:cNvPr>
            <p:cNvSpPr>
              <a:spLocks noGrp="1"/>
            </p:cNvSpPr>
            <p:nvPr/>
          </p:nvSpPr>
          <p:spPr>
            <a:xfrm>
              <a:off x="4283237" y="7400629"/>
              <a:ext cx="88583" cy="70009"/>
            </a:xfrm>
            <a:prstGeom prst="rect">
              <a:avLst/>
            </a:prstGeom>
            <a:solidFill>
              <a:srgbClr val="A3CDDA"/>
            </a:solidFill>
            <a:ln w="7290">
              <a:noFill/>
            </a:ln>
          </p:spPr>
        </p:sp>
        <p:sp>
          <p:nvSpPr>
            <p:cNvPr id="1309" name="Match matrix 3-0">
              <a:extLst>
                <a:ext uri="{FF2B5EF4-FFF2-40B4-BE49-F238E27FC236}">
                  <a16:creationId xmlns:a16="http://schemas.microsoft.com/office/drawing/2014/main" id="{CDAE8F1E-742C-7BA1-EB00-87CA9B9E40A2}"/>
                </a:ext>
              </a:extLst>
            </p:cNvPr>
            <p:cNvSpPr>
              <a:spLocks noGrp="1"/>
            </p:cNvSpPr>
            <p:nvPr/>
          </p:nvSpPr>
          <p:spPr>
            <a:xfrm>
              <a:off x="3633156" y="7474924"/>
              <a:ext cx="88583" cy="70009"/>
            </a:xfrm>
            <a:prstGeom prst="rect">
              <a:avLst/>
            </a:prstGeom>
            <a:solidFill>
              <a:srgbClr val="88BEC3"/>
            </a:solidFill>
            <a:ln w="7290">
              <a:noFill/>
            </a:ln>
          </p:spPr>
        </p:sp>
        <p:sp>
          <p:nvSpPr>
            <p:cNvPr id="1310" name="Match matrix 3-1">
              <a:extLst>
                <a:ext uri="{FF2B5EF4-FFF2-40B4-BE49-F238E27FC236}">
                  <a16:creationId xmlns:a16="http://schemas.microsoft.com/office/drawing/2014/main" id="{74117986-6240-D77F-909C-522F6146D289}"/>
                </a:ext>
              </a:extLst>
            </p:cNvPr>
            <p:cNvSpPr>
              <a:spLocks noGrp="1"/>
            </p:cNvSpPr>
            <p:nvPr/>
          </p:nvSpPr>
          <p:spPr>
            <a:xfrm>
              <a:off x="3726025" y="7474924"/>
              <a:ext cx="88583" cy="70009"/>
            </a:xfrm>
            <a:prstGeom prst="rect">
              <a:avLst/>
            </a:prstGeom>
            <a:solidFill>
              <a:srgbClr val="D6E5ED"/>
            </a:solidFill>
            <a:ln w="7290">
              <a:noFill/>
            </a:ln>
          </p:spPr>
        </p:sp>
        <p:sp>
          <p:nvSpPr>
            <p:cNvPr id="1311" name="Match matrix 3-2">
              <a:extLst>
                <a:ext uri="{FF2B5EF4-FFF2-40B4-BE49-F238E27FC236}">
                  <a16:creationId xmlns:a16="http://schemas.microsoft.com/office/drawing/2014/main" id="{68BD8A38-75EC-BA37-589D-F9C3EBE804E8}"/>
                </a:ext>
              </a:extLst>
            </p:cNvPr>
            <p:cNvSpPr>
              <a:spLocks noGrp="1"/>
            </p:cNvSpPr>
            <p:nvPr/>
          </p:nvSpPr>
          <p:spPr>
            <a:xfrm>
              <a:off x="3818894" y="7474924"/>
              <a:ext cx="88583" cy="70009"/>
            </a:xfrm>
            <a:prstGeom prst="rect">
              <a:avLst/>
            </a:prstGeom>
            <a:solidFill>
              <a:srgbClr val="67AD9F"/>
            </a:solidFill>
            <a:ln w="7290">
              <a:noFill/>
            </a:ln>
          </p:spPr>
        </p:sp>
        <p:sp>
          <p:nvSpPr>
            <p:cNvPr id="1312" name="Match matrix 3-3">
              <a:extLst>
                <a:ext uri="{FF2B5EF4-FFF2-40B4-BE49-F238E27FC236}">
                  <a16:creationId xmlns:a16="http://schemas.microsoft.com/office/drawing/2014/main" id="{BA2E6B5A-7074-DCD3-8646-836425ECA4E6}"/>
                </a:ext>
              </a:extLst>
            </p:cNvPr>
            <p:cNvSpPr>
              <a:spLocks noGrp="1"/>
            </p:cNvSpPr>
            <p:nvPr/>
          </p:nvSpPr>
          <p:spPr>
            <a:xfrm>
              <a:off x="3911762" y="7474924"/>
              <a:ext cx="88583" cy="70009"/>
            </a:xfrm>
            <a:prstGeom prst="rect">
              <a:avLst/>
            </a:prstGeom>
            <a:solidFill>
              <a:srgbClr val="3E8F9A"/>
            </a:solidFill>
            <a:ln w="7290">
              <a:noFill/>
            </a:ln>
          </p:spPr>
        </p:sp>
        <p:sp>
          <p:nvSpPr>
            <p:cNvPr id="1313" name="Match matrix 3-4">
              <a:extLst>
                <a:ext uri="{FF2B5EF4-FFF2-40B4-BE49-F238E27FC236}">
                  <a16:creationId xmlns:a16="http://schemas.microsoft.com/office/drawing/2014/main" id="{E2B9FFDB-87E6-991D-6FE1-3A8ED7934F53}"/>
                </a:ext>
              </a:extLst>
            </p:cNvPr>
            <p:cNvSpPr>
              <a:spLocks noGrp="1"/>
            </p:cNvSpPr>
            <p:nvPr/>
          </p:nvSpPr>
          <p:spPr>
            <a:xfrm>
              <a:off x="4004631" y="7474924"/>
              <a:ext cx="88583" cy="70009"/>
            </a:xfrm>
            <a:prstGeom prst="rect">
              <a:avLst/>
            </a:prstGeom>
            <a:solidFill>
              <a:srgbClr val="C4DDE0"/>
            </a:solidFill>
            <a:ln w="7290">
              <a:noFill/>
            </a:ln>
          </p:spPr>
        </p:sp>
        <p:sp>
          <p:nvSpPr>
            <p:cNvPr id="1314" name="Match matrix 3-5">
              <a:extLst>
                <a:ext uri="{FF2B5EF4-FFF2-40B4-BE49-F238E27FC236}">
                  <a16:creationId xmlns:a16="http://schemas.microsoft.com/office/drawing/2014/main" id="{93BBAAA9-24B8-1E29-A6DC-8B4D096073B5}"/>
                </a:ext>
              </a:extLst>
            </p:cNvPr>
            <p:cNvSpPr>
              <a:spLocks noGrp="1"/>
            </p:cNvSpPr>
            <p:nvPr/>
          </p:nvSpPr>
          <p:spPr>
            <a:xfrm>
              <a:off x="4097500" y="7474924"/>
              <a:ext cx="88583" cy="70009"/>
            </a:xfrm>
            <a:prstGeom prst="rect">
              <a:avLst/>
            </a:prstGeom>
            <a:solidFill>
              <a:srgbClr val="A3CDDA"/>
            </a:solidFill>
            <a:ln w="7290">
              <a:noFill/>
            </a:ln>
          </p:spPr>
        </p:sp>
        <p:sp>
          <p:nvSpPr>
            <p:cNvPr id="1315" name="Match matrix 3-6">
              <a:extLst>
                <a:ext uri="{FF2B5EF4-FFF2-40B4-BE49-F238E27FC236}">
                  <a16:creationId xmlns:a16="http://schemas.microsoft.com/office/drawing/2014/main" id="{68A528E6-65EA-9C73-7412-55AD6CD16CE8}"/>
                </a:ext>
              </a:extLst>
            </p:cNvPr>
            <p:cNvSpPr>
              <a:spLocks noGrp="1"/>
            </p:cNvSpPr>
            <p:nvPr/>
          </p:nvSpPr>
          <p:spPr>
            <a:xfrm>
              <a:off x="4190369" y="7474924"/>
              <a:ext cx="88583" cy="70009"/>
            </a:xfrm>
            <a:prstGeom prst="rect">
              <a:avLst/>
            </a:prstGeom>
            <a:solidFill>
              <a:srgbClr val="B6D8CC"/>
            </a:solidFill>
            <a:ln w="7290">
              <a:noFill/>
            </a:ln>
          </p:spPr>
        </p:sp>
        <p:sp>
          <p:nvSpPr>
            <p:cNvPr id="1316" name="Match matrix 3-7">
              <a:extLst>
                <a:ext uri="{FF2B5EF4-FFF2-40B4-BE49-F238E27FC236}">
                  <a16:creationId xmlns:a16="http://schemas.microsoft.com/office/drawing/2014/main" id="{2EEE91B3-D81D-6257-AECC-400C8A929123}"/>
                </a:ext>
              </a:extLst>
            </p:cNvPr>
            <p:cNvSpPr>
              <a:spLocks noGrp="1"/>
            </p:cNvSpPr>
            <p:nvPr/>
          </p:nvSpPr>
          <p:spPr>
            <a:xfrm>
              <a:off x="4283237" y="7474924"/>
              <a:ext cx="88583" cy="70009"/>
            </a:xfrm>
            <a:prstGeom prst="rect">
              <a:avLst/>
            </a:prstGeom>
            <a:solidFill>
              <a:srgbClr val="5B9FB6"/>
            </a:solidFill>
            <a:ln w="7290">
              <a:noFill/>
            </a:ln>
          </p:spPr>
        </p:sp>
        <p:sp>
          <p:nvSpPr>
            <p:cNvPr id="1318" name="SMILES continuation 806-628.2">
              <a:extLst>
                <a:ext uri="{FF2B5EF4-FFF2-40B4-BE49-F238E27FC236}">
                  <a16:creationId xmlns:a16="http://schemas.microsoft.com/office/drawing/2014/main" id="{F23A2C65-E88A-BB4F-DB2B-F6BDFE0A90A0}"/>
                </a:ext>
              </a:extLst>
            </p:cNvPr>
            <p:cNvSpPr>
              <a:spLocks noGrp="1"/>
            </p:cNvSpPr>
            <p:nvPr/>
          </p:nvSpPr>
          <p:spPr>
            <a:xfrm>
              <a:off x="8110676" y="5974080"/>
              <a:ext cx="19050" cy="19050"/>
            </a:xfrm>
            <a:prstGeom prst="ellipse">
              <a:avLst/>
            </a:prstGeom>
            <a:solidFill>
              <a:srgbClr val="71808C"/>
            </a:solidFill>
            <a:ln w="0">
              <a:noFill/>
            </a:ln>
          </p:spPr>
        </p:sp>
        <p:sp>
          <p:nvSpPr>
            <p:cNvPr id="1319" name="SMILES continuation 812-628.2">
              <a:extLst>
                <a:ext uri="{FF2B5EF4-FFF2-40B4-BE49-F238E27FC236}">
                  <a16:creationId xmlns:a16="http://schemas.microsoft.com/office/drawing/2014/main" id="{3B989565-3BAD-D4AD-9254-F92A9CA55F5F}"/>
                </a:ext>
              </a:extLst>
            </p:cNvPr>
            <p:cNvSpPr>
              <a:spLocks noGrp="1"/>
            </p:cNvSpPr>
            <p:nvPr/>
          </p:nvSpPr>
          <p:spPr>
            <a:xfrm>
              <a:off x="8167826" y="5974080"/>
              <a:ext cx="19050" cy="19050"/>
            </a:xfrm>
            <a:prstGeom prst="ellipse">
              <a:avLst/>
            </a:prstGeom>
            <a:solidFill>
              <a:srgbClr val="71808C"/>
            </a:solidFill>
            <a:ln w="0">
              <a:noFill/>
            </a:ln>
          </p:spPr>
        </p:sp>
        <p:sp>
          <p:nvSpPr>
            <p:cNvPr id="1320" name="SMILES continuation 818-628.2">
              <a:extLst>
                <a:ext uri="{FF2B5EF4-FFF2-40B4-BE49-F238E27FC236}">
                  <a16:creationId xmlns:a16="http://schemas.microsoft.com/office/drawing/2014/main" id="{42B8B6C2-B43E-383F-14DE-C418D4494332}"/>
                </a:ext>
              </a:extLst>
            </p:cNvPr>
            <p:cNvSpPr>
              <a:spLocks noGrp="1"/>
            </p:cNvSpPr>
            <p:nvPr/>
          </p:nvSpPr>
          <p:spPr>
            <a:xfrm>
              <a:off x="8224976" y="5974080"/>
              <a:ext cx="19050" cy="19050"/>
            </a:xfrm>
            <a:prstGeom prst="ellipse">
              <a:avLst/>
            </a:prstGeom>
            <a:solidFill>
              <a:srgbClr val="71808C"/>
            </a:solidFill>
            <a:ln w="0">
              <a:noFill/>
            </a:ln>
          </p:spPr>
        </p:sp>
        <p:sp>
          <p:nvSpPr>
            <p:cNvPr id="1321" name="SMILES continuation 806-667">
              <a:extLst>
                <a:ext uri="{FF2B5EF4-FFF2-40B4-BE49-F238E27FC236}">
                  <a16:creationId xmlns:a16="http://schemas.microsoft.com/office/drawing/2014/main" id="{39894408-4EFC-1123-4D43-5E7226F5F0C0}"/>
                </a:ext>
              </a:extLst>
            </p:cNvPr>
            <p:cNvSpPr>
              <a:spLocks noGrp="1"/>
            </p:cNvSpPr>
            <p:nvPr/>
          </p:nvSpPr>
          <p:spPr>
            <a:xfrm>
              <a:off x="8110676" y="6343650"/>
              <a:ext cx="19050" cy="19050"/>
            </a:xfrm>
            <a:prstGeom prst="ellipse">
              <a:avLst/>
            </a:prstGeom>
            <a:solidFill>
              <a:srgbClr val="71808C"/>
            </a:solidFill>
            <a:ln w="0">
              <a:noFill/>
            </a:ln>
          </p:spPr>
        </p:sp>
        <p:sp>
          <p:nvSpPr>
            <p:cNvPr id="1322" name="SMILES continuation 812-667">
              <a:extLst>
                <a:ext uri="{FF2B5EF4-FFF2-40B4-BE49-F238E27FC236}">
                  <a16:creationId xmlns:a16="http://schemas.microsoft.com/office/drawing/2014/main" id="{B15788D5-8154-0220-0ADD-B84E221B0B6F}"/>
                </a:ext>
              </a:extLst>
            </p:cNvPr>
            <p:cNvSpPr>
              <a:spLocks noGrp="1"/>
            </p:cNvSpPr>
            <p:nvPr/>
          </p:nvSpPr>
          <p:spPr>
            <a:xfrm>
              <a:off x="8167826" y="6343650"/>
              <a:ext cx="19050" cy="19050"/>
            </a:xfrm>
            <a:prstGeom prst="ellipse">
              <a:avLst/>
            </a:prstGeom>
            <a:solidFill>
              <a:srgbClr val="71808C"/>
            </a:solidFill>
            <a:ln w="0">
              <a:noFill/>
            </a:ln>
          </p:spPr>
        </p:sp>
        <p:sp>
          <p:nvSpPr>
            <p:cNvPr id="1323" name="SMILES continuation 818-667">
              <a:extLst>
                <a:ext uri="{FF2B5EF4-FFF2-40B4-BE49-F238E27FC236}">
                  <a16:creationId xmlns:a16="http://schemas.microsoft.com/office/drawing/2014/main" id="{06FB727B-1C36-BDAC-BF90-119F79F57919}"/>
                </a:ext>
              </a:extLst>
            </p:cNvPr>
            <p:cNvSpPr>
              <a:spLocks noGrp="1"/>
            </p:cNvSpPr>
            <p:nvPr/>
          </p:nvSpPr>
          <p:spPr>
            <a:xfrm>
              <a:off x="8224976" y="6343650"/>
              <a:ext cx="19050" cy="19050"/>
            </a:xfrm>
            <a:prstGeom prst="ellipse">
              <a:avLst/>
            </a:prstGeom>
            <a:solidFill>
              <a:srgbClr val="71808C"/>
            </a:solidFill>
            <a:ln w="0">
              <a:noFill/>
            </a:ln>
          </p:spPr>
        </p:sp>
        <p:sp>
          <p:nvSpPr>
            <p:cNvPr id="1324" name="Find density input">
              <a:extLst>
                <a:ext uri="{FF2B5EF4-FFF2-40B4-BE49-F238E27FC236}">
                  <a16:creationId xmlns:a16="http://schemas.microsoft.com/office/drawing/2014/main" id="{3BB3F16C-BBC6-CEA5-1D5F-BADEC13D0E07}"/>
                </a:ext>
              </a:extLst>
            </p:cNvPr>
            <p:cNvSpPr>
              <a:spLocks noGrp="1"/>
            </p:cNvSpPr>
            <p:nvPr/>
          </p:nvSpPr>
          <p:spPr>
            <a:xfrm flipV="1">
              <a:off x="2405391" y="1410958"/>
              <a:ext cx="692378" cy="107521"/>
            </a:xfrm>
            <a:custGeom>
              <a:avLst/>
              <a:gdLst/>
              <a:ahLst/>
              <a:cxnLst/>
              <a:rect l="0" t="0" r="0" b="0"/>
              <a:pathLst>
                <a:path w="125540" h="191">
                  <a:moveTo>
                    <a:pt x="0" y="0"/>
                  </a:moveTo>
                  <a:lnTo>
                    <a:pt x="125540" y="0"/>
                  </a:lnTo>
                </a:path>
              </a:pathLst>
            </a:custGeom>
            <a:noFill/>
            <a:ln w="8505">
              <a:solidFill>
                <a:srgbClr val="77828C"/>
              </a:solidFill>
              <a:prstDash val="solid"/>
            </a:ln>
          </p:spPr>
        </p:sp>
        <p:sp>
          <p:nvSpPr>
            <p:cNvPr id="1325" name="Find density input head">
              <a:extLst>
                <a:ext uri="{FF2B5EF4-FFF2-40B4-BE49-F238E27FC236}">
                  <a16:creationId xmlns:a16="http://schemas.microsoft.com/office/drawing/2014/main" id="{DD01582E-D72F-DC2A-ED51-209065AB4BE2}"/>
                </a:ext>
              </a:extLst>
            </p:cNvPr>
            <p:cNvSpPr>
              <a:spLocks noGrp="1"/>
            </p:cNvSpPr>
            <p:nvPr/>
          </p:nvSpPr>
          <p:spPr>
            <a:xfrm>
              <a:off x="3052858" y="1489808"/>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28" name="Find receptor input">
              <a:extLst>
                <a:ext uri="{FF2B5EF4-FFF2-40B4-BE49-F238E27FC236}">
                  <a16:creationId xmlns:a16="http://schemas.microsoft.com/office/drawing/2014/main" id="{8835B13D-A150-D32A-EA5F-DF6B94803636}"/>
                </a:ext>
              </a:extLst>
            </p:cNvPr>
            <p:cNvSpPr>
              <a:spLocks noGrp="1"/>
            </p:cNvSpPr>
            <p:nvPr/>
          </p:nvSpPr>
          <p:spPr>
            <a:xfrm>
              <a:off x="2405391" y="3260557"/>
              <a:ext cx="692378" cy="107521"/>
            </a:xfrm>
            <a:custGeom>
              <a:avLst/>
              <a:gdLst/>
              <a:ahLst/>
              <a:cxnLst/>
              <a:rect l="0" t="0" r="0" b="0"/>
              <a:pathLst>
                <a:path w="125540" h="191">
                  <a:moveTo>
                    <a:pt x="0" y="0"/>
                  </a:moveTo>
                  <a:lnTo>
                    <a:pt x="125540" y="0"/>
                  </a:lnTo>
                </a:path>
              </a:pathLst>
            </a:custGeom>
            <a:solidFill>
              <a:srgbClr val="77828C"/>
            </a:solidFill>
            <a:ln w="8505">
              <a:solidFill>
                <a:srgbClr val="77828C"/>
              </a:solidFill>
              <a:prstDash val="solid"/>
            </a:ln>
          </p:spPr>
        </p:sp>
        <p:sp>
          <p:nvSpPr>
            <p:cNvPr id="1329" name="Find receptor input head">
              <a:extLst>
                <a:ext uri="{FF2B5EF4-FFF2-40B4-BE49-F238E27FC236}">
                  <a16:creationId xmlns:a16="http://schemas.microsoft.com/office/drawing/2014/main" id="{A5463DF5-F357-C133-4537-3687854104BD}"/>
                </a:ext>
              </a:extLst>
            </p:cNvPr>
            <p:cNvSpPr>
              <a:spLocks noGrp="1"/>
            </p:cNvSpPr>
            <p:nvPr/>
          </p:nvSpPr>
          <p:spPr>
            <a:xfrm>
              <a:off x="3052858" y="3231886"/>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32" name="Find voxel output">
              <a:extLst>
                <a:ext uri="{FF2B5EF4-FFF2-40B4-BE49-F238E27FC236}">
                  <a16:creationId xmlns:a16="http://schemas.microsoft.com/office/drawing/2014/main" id="{A7A050F5-4BBD-83D0-3E56-868138C02A2E}"/>
                </a:ext>
              </a:extLst>
            </p:cNvPr>
            <p:cNvSpPr>
              <a:spLocks noGrp="1"/>
            </p:cNvSpPr>
            <p:nvPr/>
          </p:nvSpPr>
          <p:spPr>
            <a:xfrm>
              <a:off x="9680238" y="1544003"/>
              <a:ext cx="409314" cy="191"/>
            </a:xfrm>
            <a:custGeom>
              <a:avLst/>
              <a:gdLst/>
              <a:ahLst/>
              <a:cxnLst/>
              <a:rect l="0" t="0" r="0" b="0"/>
              <a:pathLst>
                <a:path w="252508" h="191">
                  <a:moveTo>
                    <a:pt x="0" y="0"/>
                  </a:moveTo>
                  <a:lnTo>
                    <a:pt x="252508" y="0"/>
                  </a:lnTo>
                </a:path>
              </a:pathLst>
            </a:custGeom>
            <a:noFill/>
            <a:ln w="8505">
              <a:solidFill>
                <a:srgbClr val="77828C"/>
              </a:solidFill>
              <a:prstDash val="solid"/>
            </a:ln>
          </p:spPr>
        </p:sp>
        <p:sp>
          <p:nvSpPr>
            <p:cNvPr id="1333" name="Find voxel output head">
              <a:extLst>
                <a:ext uri="{FF2B5EF4-FFF2-40B4-BE49-F238E27FC236}">
                  <a16:creationId xmlns:a16="http://schemas.microsoft.com/office/drawing/2014/main" id="{375132D2-B1BA-3819-E6E4-408E45D3577A}"/>
                </a:ext>
              </a:extLst>
            </p:cNvPr>
            <p:cNvSpPr>
              <a:spLocks noGrp="1"/>
            </p:cNvSpPr>
            <p:nvPr/>
          </p:nvSpPr>
          <p:spPr>
            <a:xfrm>
              <a:off x="10046213" y="1515332"/>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34" name="Find point output">
              <a:extLst>
                <a:ext uri="{FF2B5EF4-FFF2-40B4-BE49-F238E27FC236}">
                  <a16:creationId xmlns:a16="http://schemas.microsoft.com/office/drawing/2014/main" id="{E2AB92F8-FB1A-DF4D-C056-6A909BEA2DE1}"/>
                </a:ext>
              </a:extLst>
            </p:cNvPr>
            <p:cNvSpPr>
              <a:spLocks noGrp="1"/>
            </p:cNvSpPr>
            <p:nvPr/>
          </p:nvSpPr>
          <p:spPr>
            <a:xfrm>
              <a:off x="9680238" y="3107055"/>
              <a:ext cx="409314" cy="191"/>
            </a:xfrm>
            <a:custGeom>
              <a:avLst/>
              <a:gdLst/>
              <a:ahLst/>
              <a:cxnLst/>
              <a:rect l="0" t="0" r="0" b="0"/>
              <a:pathLst>
                <a:path w="252508" h="191">
                  <a:moveTo>
                    <a:pt x="0" y="0"/>
                  </a:moveTo>
                  <a:lnTo>
                    <a:pt x="252508" y="0"/>
                  </a:lnTo>
                </a:path>
              </a:pathLst>
            </a:custGeom>
            <a:noFill/>
            <a:ln w="8505">
              <a:solidFill>
                <a:srgbClr val="77828C"/>
              </a:solidFill>
              <a:prstDash val="solid"/>
            </a:ln>
          </p:spPr>
        </p:sp>
        <p:sp>
          <p:nvSpPr>
            <p:cNvPr id="1335" name="Find point output head">
              <a:extLst>
                <a:ext uri="{FF2B5EF4-FFF2-40B4-BE49-F238E27FC236}">
                  <a16:creationId xmlns:a16="http://schemas.microsoft.com/office/drawing/2014/main" id="{28B06725-C3FB-3373-8A56-A66D9CE3ECA7}"/>
                </a:ext>
              </a:extLst>
            </p:cNvPr>
            <p:cNvSpPr>
              <a:spLocks noGrp="1"/>
            </p:cNvSpPr>
            <p:nvPr/>
          </p:nvSpPr>
          <p:spPr>
            <a:xfrm>
              <a:off x="10046213" y="3078385"/>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36" name="U-Net flow refined 1">
              <a:extLst>
                <a:ext uri="{FF2B5EF4-FFF2-40B4-BE49-F238E27FC236}">
                  <a16:creationId xmlns:a16="http://schemas.microsoft.com/office/drawing/2014/main" id="{5BDE2ECB-1CBA-ACB1-3426-F3E9F144A8A7}"/>
                </a:ext>
              </a:extLst>
            </p:cNvPr>
            <p:cNvSpPr>
              <a:spLocks noGrp="1"/>
            </p:cNvSpPr>
            <p:nvPr/>
          </p:nvSpPr>
          <p:spPr>
            <a:xfrm>
              <a:off x="5329408" y="1943100"/>
              <a:ext cx="71390" cy="191"/>
            </a:xfrm>
            <a:custGeom>
              <a:avLst/>
              <a:gdLst/>
              <a:ahLst/>
              <a:cxnLst/>
              <a:rect l="0" t="0" r="0" b="0"/>
              <a:pathLst>
                <a:path w="71390" h="191">
                  <a:moveTo>
                    <a:pt x="0" y="0"/>
                  </a:moveTo>
                  <a:lnTo>
                    <a:pt x="71390" y="0"/>
                  </a:lnTo>
                </a:path>
              </a:pathLst>
            </a:custGeom>
            <a:noFill/>
            <a:ln w="6480">
              <a:solidFill>
                <a:srgbClr val="77828C"/>
              </a:solidFill>
              <a:prstDash val="solid"/>
            </a:ln>
          </p:spPr>
        </p:sp>
        <p:sp>
          <p:nvSpPr>
            <p:cNvPr id="1337" name="U-Net flow refined 1 head">
              <a:extLst>
                <a:ext uri="{FF2B5EF4-FFF2-40B4-BE49-F238E27FC236}">
                  <a16:creationId xmlns:a16="http://schemas.microsoft.com/office/drawing/2014/main" id="{94C963B0-6292-D96E-8000-E5176CACF1B1}"/>
                </a:ext>
              </a:extLst>
            </p:cNvPr>
            <p:cNvSpPr>
              <a:spLocks noGrp="1"/>
            </p:cNvSpPr>
            <p:nvPr/>
          </p:nvSpPr>
          <p:spPr>
            <a:xfrm>
              <a:off x="537417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38" name="U-Net flow refined 2">
              <a:extLst>
                <a:ext uri="{FF2B5EF4-FFF2-40B4-BE49-F238E27FC236}">
                  <a16:creationId xmlns:a16="http://schemas.microsoft.com/office/drawing/2014/main" id="{6EDFECDB-834F-45E8-C447-187E68499D36}"/>
                </a:ext>
              </a:extLst>
            </p:cNvPr>
            <p:cNvSpPr>
              <a:spLocks noGrp="1"/>
            </p:cNvSpPr>
            <p:nvPr/>
          </p:nvSpPr>
          <p:spPr>
            <a:xfrm>
              <a:off x="5786608" y="1943100"/>
              <a:ext cx="61865" cy="191"/>
            </a:xfrm>
            <a:custGeom>
              <a:avLst/>
              <a:gdLst/>
              <a:ahLst/>
              <a:cxnLst/>
              <a:rect l="0" t="0" r="0" b="0"/>
              <a:pathLst>
                <a:path w="61865" h="191">
                  <a:moveTo>
                    <a:pt x="0" y="0"/>
                  </a:moveTo>
                  <a:lnTo>
                    <a:pt x="61865" y="0"/>
                  </a:lnTo>
                </a:path>
              </a:pathLst>
            </a:custGeom>
            <a:noFill/>
            <a:ln w="6480">
              <a:solidFill>
                <a:srgbClr val="77828C"/>
              </a:solidFill>
              <a:prstDash val="solid"/>
            </a:ln>
          </p:spPr>
        </p:sp>
        <p:sp>
          <p:nvSpPr>
            <p:cNvPr id="1339" name="U-Net flow refined 2 head">
              <a:extLst>
                <a:ext uri="{FF2B5EF4-FFF2-40B4-BE49-F238E27FC236}">
                  <a16:creationId xmlns:a16="http://schemas.microsoft.com/office/drawing/2014/main" id="{147D1FA6-05BE-3A5D-C1FE-78DB516DA9EB}"/>
                </a:ext>
              </a:extLst>
            </p:cNvPr>
            <p:cNvSpPr>
              <a:spLocks noGrp="1"/>
            </p:cNvSpPr>
            <p:nvPr/>
          </p:nvSpPr>
          <p:spPr>
            <a:xfrm>
              <a:off x="5821851"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0" name="U-Net flow refined 3">
              <a:extLst>
                <a:ext uri="{FF2B5EF4-FFF2-40B4-BE49-F238E27FC236}">
                  <a16:creationId xmlns:a16="http://schemas.microsoft.com/office/drawing/2014/main" id="{7AF7CF23-54DF-A29D-2F07-D36A3F45EDD2}"/>
                </a:ext>
              </a:extLst>
            </p:cNvPr>
            <p:cNvSpPr>
              <a:spLocks noGrp="1"/>
            </p:cNvSpPr>
            <p:nvPr/>
          </p:nvSpPr>
          <p:spPr>
            <a:xfrm>
              <a:off x="6358108" y="1943100"/>
              <a:ext cx="185690" cy="191"/>
            </a:xfrm>
            <a:custGeom>
              <a:avLst/>
              <a:gdLst/>
              <a:ahLst/>
              <a:cxnLst/>
              <a:rect l="0" t="0" r="0" b="0"/>
              <a:pathLst>
                <a:path w="185690" h="191">
                  <a:moveTo>
                    <a:pt x="0" y="0"/>
                  </a:moveTo>
                  <a:lnTo>
                    <a:pt x="185690" y="0"/>
                  </a:lnTo>
                </a:path>
              </a:pathLst>
            </a:custGeom>
            <a:noFill/>
            <a:ln w="6480">
              <a:solidFill>
                <a:srgbClr val="77828C"/>
              </a:solidFill>
              <a:prstDash val="solid"/>
            </a:ln>
          </p:spPr>
        </p:sp>
        <p:sp>
          <p:nvSpPr>
            <p:cNvPr id="1341" name="U-Net flow refined 3 head">
              <a:extLst>
                <a:ext uri="{FF2B5EF4-FFF2-40B4-BE49-F238E27FC236}">
                  <a16:creationId xmlns:a16="http://schemas.microsoft.com/office/drawing/2014/main" id="{99F4C0B1-883D-15E1-DE1D-B9D0B602A47D}"/>
                </a:ext>
              </a:extLst>
            </p:cNvPr>
            <p:cNvSpPr>
              <a:spLocks noGrp="1"/>
            </p:cNvSpPr>
            <p:nvPr/>
          </p:nvSpPr>
          <p:spPr>
            <a:xfrm>
              <a:off x="651717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2" name="U-Net flow refined 4">
              <a:extLst>
                <a:ext uri="{FF2B5EF4-FFF2-40B4-BE49-F238E27FC236}">
                  <a16:creationId xmlns:a16="http://schemas.microsoft.com/office/drawing/2014/main" id="{1AB9AC41-CF99-6B25-72AE-CA5759E07BBC}"/>
                </a:ext>
              </a:extLst>
            </p:cNvPr>
            <p:cNvSpPr>
              <a:spLocks noGrp="1"/>
            </p:cNvSpPr>
            <p:nvPr/>
          </p:nvSpPr>
          <p:spPr>
            <a:xfrm>
              <a:off x="7634458" y="1943100"/>
              <a:ext cx="204740" cy="191"/>
            </a:xfrm>
            <a:custGeom>
              <a:avLst/>
              <a:gdLst/>
              <a:ahLst/>
              <a:cxnLst/>
              <a:rect l="0" t="0" r="0" b="0"/>
              <a:pathLst>
                <a:path w="204740" h="191">
                  <a:moveTo>
                    <a:pt x="0" y="0"/>
                  </a:moveTo>
                  <a:lnTo>
                    <a:pt x="204740" y="0"/>
                  </a:lnTo>
                </a:path>
              </a:pathLst>
            </a:custGeom>
            <a:noFill/>
            <a:ln w="6480">
              <a:solidFill>
                <a:srgbClr val="77828C"/>
              </a:solidFill>
              <a:prstDash val="solid"/>
            </a:ln>
          </p:spPr>
        </p:sp>
        <p:sp>
          <p:nvSpPr>
            <p:cNvPr id="1343" name="U-Net flow refined 4 head">
              <a:extLst>
                <a:ext uri="{FF2B5EF4-FFF2-40B4-BE49-F238E27FC236}">
                  <a16:creationId xmlns:a16="http://schemas.microsoft.com/office/drawing/2014/main" id="{8B74AF9E-166C-456E-8C30-81819473FD65}"/>
                </a:ext>
              </a:extLst>
            </p:cNvPr>
            <p:cNvSpPr>
              <a:spLocks noGrp="1"/>
            </p:cNvSpPr>
            <p:nvPr/>
          </p:nvSpPr>
          <p:spPr>
            <a:xfrm>
              <a:off x="781257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4" name="U-Net flow refined 5">
              <a:extLst>
                <a:ext uri="{FF2B5EF4-FFF2-40B4-BE49-F238E27FC236}">
                  <a16:creationId xmlns:a16="http://schemas.microsoft.com/office/drawing/2014/main" id="{1DF9FEC8-127A-C6BF-A242-5459B8B47514}"/>
                </a:ext>
              </a:extLst>
            </p:cNvPr>
            <p:cNvSpPr>
              <a:spLocks noGrp="1"/>
            </p:cNvSpPr>
            <p:nvPr/>
          </p:nvSpPr>
          <p:spPr>
            <a:xfrm>
              <a:off x="8358358" y="1943100"/>
              <a:ext cx="71390" cy="191"/>
            </a:xfrm>
            <a:custGeom>
              <a:avLst/>
              <a:gdLst/>
              <a:ahLst/>
              <a:cxnLst/>
              <a:rect l="0" t="0" r="0" b="0"/>
              <a:pathLst>
                <a:path w="71390" h="191">
                  <a:moveTo>
                    <a:pt x="0" y="0"/>
                  </a:moveTo>
                  <a:lnTo>
                    <a:pt x="71390" y="0"/>
                  </a:lnTo>
                </a:path>
              </a:pathLst>
            </a:custGeom>
            <a:noFill/>
            <a:ln w="6480">
              <a:solidFill>
                <a:srgbClr val="77828C"/>
              </a:solidFill>
              <a:prstDash val="solid"/>
            </a:ln>
          </p:spPr>
        </p:sp>
        <p:sp>
          <p:nvSpPr>
            <p:cNvPr id="1345" name="U-Net flow refined 5 head">
              <a:extLst>
                <a:ext uri="{FF2B5EF4-FFF2-40B4-BE49-F238E27FC236}">
                  <a16:creationId xmlns:a16="http://schemas.microsoft.com/office/drawing/2014/main" id="{235A2EBC-75E8-8D72-4A9D-B691D888DD1B}"/>
                </a:ext>
              </a:extLst>
            </p:cNvPr>
            <p:cNvSpPr>
              <a:spLocks noGrp="1"/>
            </p:cNvSpPr>
            <p:nvPr/>
          </p:nvSpPr>
          <p:spPr>
            <a:xfrm>
              <a:off x="840312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6" name="U-Net flow refined 6">
              <a:extLst>
                <a:ext uri="{FF2B5EF4-FFF2-40B4-BE49-F238E27FC236}">
                  <a16:creationId xmlns:a16="http://schemas.microsoft.com/office/drawing/2014/main" id="{E16F5364-FA67-8E77-55DD-31048ACFB369}"/>
                </a:ext>
              </a:extLst>
            </p:cNvPr>
            <p:cNvSpPr>
              <a:spLocks noGrp="1"/>
            </p:cNvSpPr>
            <p:nvPr/>
          </p:nvSpPr>
          <p:spPr>
            <a:xfrm>
              <a:off x="8796508" y="1943100"/>
              <a:ext cx="90440" cy="191"/>
            </a:xfrm>
            <a:custGeom>
              <a:avLst/>
              <a:gdLst/>
              <a:ahLst/>
              <a:cxnLst/>
              <a:rect l="0" t="0" r="0" b="0"/>
              <a:pathLst>
                <a:path w="90440" h="191">
                  <a:moveTo>
                    <a:pt x="0" y="0"/>
                  </a:moveTo>
                  <a:lnTo>
                    <a:pt x="90440" y="0"/>
                  </a:lnTo>
                </a:path>
              </a:pathLst>
            </a:custGeom>
            <a:noFill/>
            <a:ln w="6480">
              <a:solidFill>
                <a:srgbClr val="77828C"/>
              </a:solidFill>
              <a:prstDash val="solid"/>
            </a:ln>
          </p:spPr>
        </p:sp>
        <p:sp>
          <p:nvSpPr>
            <p:cNvPr id="1347" name="U-Net flow refined 6 head">
              <a:extLst>
                <a:ext uri="{FF2B5EF4-FFF2-40B4-BE49-F238E27FC236}">
                  <a16:creationId xmlns:a16="http://schemas.microsoft.com/office/drawing/2014/main" id="{CAB8405E-639F-441D-4076-97C5C8079141}"/>
                </a:ext>
              </a:extLst>
            </p:cNvPr>
            <p:cNvSpPr>
              <a:spLocks noGrp="1"/>
            </p:cNvSpPr>
            <p:nvPr/>
          </p:nvSpPr>
          <p:spPr>
            <a:xfrm>
              <a:off x="886032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8" name="Skip outer refined">
              <a:extLst>
                <a:ext uri="{FF2B5EF4-FFF2-40B4-BE49-F238E27FC236}">
                  <a16:creationId xmlns:a16="http://schemas.microsoft.com/office/drawing/2014/main" id="{FCEC7BC5-9C91-5A2D-286F-54CED1B58658}"/>
                </a:ext>
              </a:extLst>
            </p:cNvPr>
            <p:cNvSpPr>
              <a:spLocks noGrp="1"/>
            </p:cNvSpPr>
            <p:nvPr/>
          </p:nvSpPr>
          <p:spPr>
            <a:xfrm>
              <a:off x="4919833" y="1209675"/>
              <a:ext cx="4333875" cy="219075"/>
            </a:xfrm>
            <a:custGeom>
              <a:avLst/>
              <a:gdLst/>
              <a:ahLst/>
              <a:cxnLst/>
              <a:rect l="0" t="0" r="0" b="0"/>
              <a:pathLst>
                <a:path w="4333875" h="219075">
                  <a:moveTo>
                    <a:pt x="0" y="219075"/>
                  </a:moveTo>
                  <a:lnTo>
                    <a:pt x="0" y="0"/>
                  </a:lnTo>
                  <a:lnTo>
                    <a:pt x="4333875" y="0"/>
                  </a:lnTo>
                  <a:lnTo>
                    <a:pt x="4333875" y="204073"/>
                  </a:lnTo>
                </a:path>
              </a:pathLst>
            </a:custGeom>
            <a:noFill/>
            <a:ln w="5468">
              <a:solidFill>
                <a:srgbClr val="A3ACB4"/>
              </a:solidFill>
              <a:prstDash val="dash"/>
            </a:ln>
          </p:spPr>
        </p:sp>
        <p:sp>
          <p:nvSpPr>
            <p:cNvPr id="1349" name="Skip outer refined head">
              <a:extLst>
                <a:ext uri="{FF2B5EF4-FFF2-40B4-BE49-F238E27FC236}">
                  <a16:creationId xmlns:a16="http://schemas.microsoft.com/office/drawing/2014/main" id="{D6AAD354-1253-F73A-1F09-0D42951F0AD2}"/>
                </a:ext>
              </a:extLst>
            </p:cNvPr>
            <p:cNvSpPr>
              <a:spLocks noGrp="1"/>
            </p:cNvSpPr>
            <p:nvPr/>
          </p:nvSpPr>
          <p:spPr>
            <a:xfrm>
              <a:off x="9235277" y="1385888"/>
              <a:ext cx="36862" cy="42863"/>
            </a:xfrm>
            <a:custGeom>
              <a:avLst/>
              <a:gdLst/>
              <a:ahLst/>
              <a:cxnLst/>
              <a:rect l="0" t="0" r="0" b="0"/>
              <a:pathLst>
                <a:path w="36862" h="42863">
                  <a:moveTo>
                    <a:pt x="18431" y="42863"/>
                  </a:moveTo>
                  <a:lnTo>
                    <a:pt x="36862" y="0"/>
                  </a:lnTo>
                  <a:lnTo>
                    <a:pt x="0" y="0"/>
                  </a:lnTo>
                  <a:close/>
                </a:path>
              </a:pathLst>
            </a:custGeom>
            <a:solidFill>
              <a:srgbClr val="A3ACB4"/>
            </a:solidFill>
            <a:ln w="0">
              <a:noFill/>
              <a:prstDash val="solid"/>
            </a:ln>
          </p:spPr>
        </p:sp>
        <p:sp>
          <p:nvSpPr>
            <p:cNvPr id="1350" name="Skip middle refined">
              <a:extLst>
                <a:ext uri="{FF2B5EF4-FFF2-40B4-BE49-F238E27FC236}">
                  <a16:creationId xmlns:a16="http://schemas.microsoft.com/office/drawing/2014/main" id="{E944DD48-0E77-62B4-4E66-FC482D648DB0}"/>
                </a:ext>
              </a:extLst>
            </p:cNvPr>
            <p:cNvSpPr>
              <a:spLocks noGrp="1"/>
            </p:cNvSpPr>
            <p:nvPr/>
          </p:nvSpPr>
          <p:spPr>
            <a:xfrm>
              <a:off x="5558008" y="1295400"/>
              <a:ext cx="3067050" cy="266700"/>
            </a:xfrm>
            <a:custGeom>
              <a:avLst/>
              <a:gdLst/>
              <a:ahLst/>
              <a:cxnLst/>
              <a:rect l="0" t="0" r="0" b="0"/>
              <a:pathLst>
                <a:path w="3067050" h="266700">
                  <a:moveTo>
                    <a:pt x="0" y="266700"/>
                  </a:moveTo>
                  <a:lnTo>
                    <a:pt x="0" y="0"/>
                  </a:lnTo>
                  <a:lnTo>
                    <a:pt x="3067050" y="0"/>
                  </a:lnTo>
                  <a:lnTo>
                    <a:pt x="3067050" y="251698"/>
                  </a:lnTo>
                </a:path>
              </a:pathLst>
            </a:custGeom>
            <a:noFill/>
            <a:ln w="5468">
              <a:solidFill>
                <a:srgbClr val="A3ACB4"/>
              </a:solidFill>
              <a:prstDash val="dash"/>
            </a:ln>
          </p:spPr>
        </p:sp>
        <p:sp>
          <p:nvSpPr>
            <p:cNvPr id="1351" name="Skip middle refined head">
              <a:extLst>
                <a:ext uri="{FF2B5EF4-FFF2-40B4-BE49-F238E27FC236}">
                  <a16:creationId xmlns:a16="http://schemas.microsoft.com/office/drawing/2014/main" id="{5D984C66-44F4-6C0C-29FA-C26BCC014DA5}"/>
                </a:ext>
              </a:extLst>
            </p:cNvPr>
            <p:cNvSpPr>
              <a:spLocks noGrp="1"/>
            </p:cNvSpPr>
            <p:nvPr/>
          </p:nvSpPr>
          <p:spPr>
            <a:xfrm>
              <a:off x="8606627" y="1519238"/>
              <a:ext cx="36862" cy="42863"/>
            </a:xfrm>
            <a:custGeom>
              <a:avLst/>
              <a:gdLst/>
              <a:ahLst/>
              <a:cxnLst/>
              <a:rect l="0" t="0" r="0" b="0"/>
              <a:pathLst>
                <a:path w="36862" h="42863">
                  <a:moveTo>
                    <a:pt x="18431" y="42863"/>
                  </a:moveTo>
                  <a:lnTo>
                    <a:pt x="36862" y="0"/>
                  </a:lnTo>
                  <a:lnTo>
                    <a:pt x="0" y="0"/>
                  </a:lnTo>
                  <a:close/>
                </a:path>
              </a:pathLst>
            </a:custGeom>
            <a:solidFill>
              <a:srgbClr val="A3ACB4"/>
            </a:solidFill>
            <a:ln w="0">
              <a:noFill/>
              <a:prstDash val="solid"/>
            </a:ln>
          </p:spPr>
        </p:sp>
        <p:sp>
          <p:nvSpPr>
            <p:cNvPr id="1352" name="Skip inner refined">
              <a:extLst>
                <a:ext uri="{FF2B5EF4-FFF2-40B4-BE49-F238E27FC236}">
                  <a16:creationId xmlns:a16="http://schemas.microsoft.com/office/drawing/2014/main" id="{796339B7-CA5C-9A6F-F626-7D7B76227D0E}"/>
                </a:ext>
              </a:extLst>
            </p:cNvPr>
            <p:cNvSpPr>
              <a:spLocks noGrp="1"/>
            </p:cNvSpPr>
            <p:nvPr/>
          </p:nvSpPr>
          <p:spPr>
            <a:xfrm>
              <a:off x="6081883" y="1381125"/>
              <a:ext cx="2000250" cy="323850"/>
            </a:xfrm>
            <a:custGeom>
              <a:avLst/>
              <a:gdLst/>
              <a:ahLst/>
              <a:cxnLst/>
              <a:rect l="0" t="0" r="0" b="0"/>
              <a:pathLst>
                <a:path w="2000250" h="323850">
                  <a:moveTo>
                    <a:pt x="0" y="323850"/>
                  </a:moveTo>
                  <a:lnTo>
                    <a:pt x="0" y="0"/>
                  </a:lnTo>
                  <a:lnTo>
                    <a:pt x="2000250" y="0"/>
                  </a:lnTo>
                  <a:lnTo>
                    <a:pt x="2000250" y="308848"/>
                  </a:lnTo>
                </a:path>
              </a:pathLst>
            </a:custGeom>
            <a:noFill/>
            <a:ln w="5468">
              <a:solidFill>
                <a:srgbClr val="A3ACB4"/>
              </a:solidFill>
              <a:prstDash val="dash"/>
            </a:ln>
          </p:spPr>
        </p:sp>
        <p:sp>
          <p:nvSpPr>
            <p:cNvPr id="1353" name="Skip inner refined head">
              <a:extLst>
                <a:ext uri="{FF2B5EF4-FFF2-40B4-BE49-F238E27FC236}">
                  <a16:creationId xmlns:a16="http://schemas.microsoft.com/office/drawing/2014/main" id="{5389494F-4196-1B0C-C069-F40391B0419B}"/>
                </a:ext>
              </a:extLst>
            </p:cNvPr>
            <p:cNvSpPr>
              <a:spLocks noGrp="1"/>
            </p:cNvSpPr>
            <p:nvPr/>
          </p:nvSpPr>
          <p:spPr>
            <a:xfrm>
              <a:off x="8063702" y="1662113"/>
              <a:ext cx="36862" cy="42863"/>
            </a:xfrm>
            <a:custGeom>
              <a:avLst/>
              <a:gdLst/>
              <a:ahLst/>
              <a:cxnLst/>
              <a:rect l="0" t="0" r="0" b="0"/>
              <a:pathLst>
                <a:path w="36862" h="42863">
                  <a:moveTo>
                    <a:pt x="18431" y="42863"/>
                  </a:moveTo>
                  <a:lnTo>
                    <a:pt x="36862" y="0"/>
                  </a:lnTo>
                  <a:lnTo>
                    <a:pt x="0" y="0"/>
                  </a:lnTo>
                  <a:close/>
                </a:path>
              </a:pathLst>
            </a:custGeom>
            <a:solidFill>
              <a:srgbClr val="A3ACB4"/>
            </a:solidFill>
            <a:ln w="0">
              <a:noFill/>
              <a:prstDash val="solid"/>
            </a:ln>
          </p:spPr>
        </p:sp>
        <p:sp>
          <p:nvSpPr>
            <p:cNvPr id="1354" name="PTV3 forward refined 1">
              <a:extLst>
                <a:ext uri="{FF2B5EF4-FFF2-40B4-BE49-F238E27FC236}">
                  <a16:creationId xmlns:a16="http://schemas.microsoft.com/office/drawing/2014/main" id="{B0492619-D665-D0F6-7061-EDCBCE3DDA3A}"/>
                </a:ext>
              </a:extLst>
            </p:cNvPr>
            <p:cNvSpPr>
              <a:spLocks noGrp="1"/>
            </p:cNvSpPr>
            <p:nvPr/>
          </p:nvSpPr>
          <p:spPr>
            <a:xfrm>
              <a:off x="5447899" y="3106769"/>
              <a:ext cx="255746" cy="191"/>
            </a:xfrm>
            <a:custGeom>
              <a:avLst/>
              <a:gdLst/>
              <a:ahLst/>
              <a:cxnLst/>
              <a:rect l="0" t="0" r="0" b="0"/>
              <a:pathLst>
                <a:path w="255746" h="191">
                  <a:moveTo>
                    <a:pt x="0" y="0"/>
                  </a:moveTo>
                  <a:lnTo>
                    <a:pt x="255746" y="0"/>
                  </a:lnTo>
                </a:path>
              </a:pathLst>
            </a:custGeom>
            <a:noFill/>
            <a:ln w="8505">
              <a:solidFill>
                <a:srgbClr val="77828C"/>
              </a:solidFill>
              <a:prstDash val="solid"/>
            </a:ln>
          </p:spPr>
        </p:sp>
        <p:sp>
          <p:nvSpPr>
            <p:cNvPr id="1355" name="PTV3 forward refined 1 head">
              <a:extLst>
                <a:ext uri="{FF2B5EF4-FFF2-40B4-BE49-F238E27FC236}">
                  <a16:creationId xmlns:a16="http://schemas.microsoft.com/office/drawing/2014/main" id="{B7BCE76F-C831-1ABC-ADA2-90D7588CB987}"/>
                </a:ext>
              </a:extLst>
            </p:cNvPr>
            <p:cNvSpPr>
              <a:spLocks noGrp="1"/>
            </p:cNvSpPr>
            <p:nvPr/>
          </p:nvSpPr>
          <p:spPr>
            <a:xfrm>
              <a:off x="5660307"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solidFill>
                <a:srgbClr val="77828C"/>
              </a:solidFill>
              <a:prstDash val="solid"/>
            </a:ln>
          </p:spPr>
        </p:sp>
        <p:sp>
          <p:nvSpPr>
            <p:cNvPr id="1356" name="PTV3 forward refined 2">
              <a:extLst>
                <a:ext uri="{FF2B5EF4-FFF2-40B4-BE49-F238E27FC236}">
                  <a16:creationId xmlns:a16="http://schemas.microsoft.com/office/drawing/2014/main" id="{24AE15E3-3B2D-CC4A-618E-E9BB13DA2E16}"/>
                </a:ext>
              </a:extLst>
            </p:cNvPr>
            <p:cNvSpPr>
              <a:spLocks noGrp="1"/>
            </p:cNvSpPr>
            <p:nvPr/>
          </p:nvSpPr>
          <p:spPr>
            <a:xfrm>
              <a:off x="6452501" y="3106769"/>
              <a:ext cx="311563" cy="191"/>
            </a:xfrm>
            <a:custGeom>
              <a:avLst/>
              <a:gdLst/>
              <a:ahLst/>
              <a:cxnLst/>
              <a:rect l="0" t="0" r="0" b="0"/>
              <a:pathLst>
                <a:path w="311563" h="191">
                  <a:moveTo>
                    <a:pt x="0" y="0"/>
                  </a:moveTo>
                  <a:lnTo>
                    <a:pt x="311563" y="0"/>
                  </a:lnTo>
                </a:path>
              </a:pathLst>
            </a:custGeom>
            <a:noFill/>
            <a:ln w="8505">
              <a:solidFill>
                <a:srgbClr val="77828C"/>
              </a:solidFill>
              <a:prstDash val="solid"/>
            </a:ln>
          </p:spPr>
        </p:sp>
        <p:sp>
          <p:nvSpPr>
            <p:cNvPr id="1357" name="PTV3 forward refined 2 head">
              <a:extLst>
                <a:ext uri="{FF2B5EF4-FFF2-40B4-BE49-F238E27FC236}">
                  <a16:creationId xmlns:a16="http://schemas.microsoft.com/office/drawing/2014/main" id="{8007E90B-E49B-BC36-45F6-E1B46BA41A6C}"/>
                </a:ext>
              </a:extLst>
            </p:cNvPr>
            <p:cNvSpPr>
              <a:spLocks noGrp="1"/>
            </p:cNvSpPr>
            <p:nvPr/>
          </p:nvSpPr>
          <p:spPr>
            <a:xfrm>
              <a:off x="6720725"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58" name="PTV3 forward refined 3">
              <a:extLst>
                <a:ext uri="{FF2B5EF4-FFF2-40B4-BE49-F238E27FC236}">
                  <a16:creationId xmlns:a16="http://schemas.microsoft.com/office/drawing/2014/main" id="{2D087525-2ABD-3A01-10DA-7F65FB2DD09A}"/>
                </a:ext>
              </a:extLst>
            </p:cNvPr>
            <p:cNvSpPr>
              <a:spLocks noGrp="1"/>
            </p:cNvSpPr>
            <p:nvPr/>
          </p:nvSpPr>
          <p:spPr>
            <a:xfrm>
              <a:off x="7438529" y="3106769"/>
              <a:ext cx="311563" cy="191"/>
            </a:xfrm>
            <a:custGeom>
              <a:avLst/>
              <a:gdLst/>
              <a:ahLst/>
              <a:cxnLst/>
              <a:rect l="0" t="0" r="0" b="0"/>
              <a:pathLst>
                <a:path w="311563" h="191">
                  <a:moveTo>
                    <a:pt x="0" y="0"/>
                  </a:moveTo>
                  <a:lnTo>
                    <a:pt x="311563" y="0"/>
                  </a:lnTo>
                </a:path>
              </a:pathLst>
            </a:custGeom>
            <a:noFill/>
            <a:ln w="8505">
              <a:solidFill>
                <a:srgbClr val="77828C"/>
              </a:solidFill>
              <a:prstDash val="solid"/>
            </a:ln>
          </p:spPr>
        </p:sp>
        <p:sp>
          <p:nvSpPr>
            <p:cNvPr id="1359" name="PTV3 forward refined 3 head">
              <a:extLst>
                <a:ext uri="{FF2B5EF4-FFF2-40B4-BE49-F238E27FC236}">
                  <a16:creationId xmlns:a16="http://schemas.microsoft.com/office/drawing/2014/main" id="{417DAC3E-DE7D-4EBD-83BF-06F7FB2A8085}"/>
                </a:ext>
              </a:extLst>
            </p:cNvPr>
            <p:cNvSpPr>
              <a:spLocks noGrp="1"/>
            </p:cNvSpPr>
            <p:nvPr/>
          </p:nvSpPr>
          <p:spPr>
            <a:xfrm>
              <a:off x="7706753"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solidFill>
                <a:srgbClr val="77828C"/>
              </a:solidFill>
              <a:prstDash val="solid"/>
            </a:ln>
          </p:spPr>
        </p:sp>
        <p:sp>
          <p:nvSpPr>
            <p:cNvPr id="1360" name="PTV3 forward refined 4">
              <a:extLst>
                <a:ext uri="{FF2B5EF4-FFF2-40B4-BE49-F238E27FC236}">
                  <a16:creationId xmlns:a16="http://schemas.microsoft.com/office/drawing/2014/main" id="{3F66A9B7-F35C-EB4C-B102-3F29A4296978}"/>
                </a:ext>
              </a:extLst>
            </p:cNvPr>
            <p:cNvSpPr>
              <a:spLocks noGrp="1"/>
            </p:cNvSpPr>
            <p:nvPr/>
          </p:nvSpPr>
          <p:spPr>
            <a:xfrm>
              <a:off x="8498852" y="3106769"/>
              <a:ext cx="255746" cy="191"/>
            </a:xfrm>
            <a:custGeom>
              <a:avLst/>
              <a:gdLst/>
              <a:ahLst/>
              <a:cxnLst/>
              <a:rect l="0" t="0" r="0" b="0"/>
              <a:pathLst>
                <a:path w="255746" h="191">
                  <a:moveTo>
                    <a:pt x="0" y="0"/>
                  </a:moveTo>
                  <a:lnTo>
                    <a:pt x="255746" y="0"/>
                  </a:lnTo>
                </a:path>
              </a:pathLst>
            </a:custGeom>
            <a:noFill/>
            <a:ln w="8505">
              <a:solidFill>
                <a:srgbClr val="77828C"/>
              </a:solidFill>
              <a:prstDash val="solid"/>
            </a:ln>
          </p:spPr>
        </p:sp>
        <p:sp>
          <p:nvSpPr>
            <p:cNvPr id="1361" name="PTV3 forward refined 4 head">
              <a:extLst>
                <a:ext uri="{FF2B5EF4-FFF2-40B4-BE49-F238E27FC236}">
                  <a16:creationId xmlns:a16="http://schemas.microsoft.com/office/drawing/2014/main" id="{4634E7DB-F8E3-B989-4F8D-785672F195B4}"/>
                </a:ext>
              </a:extLst>
            </p:cNvPr>
            <p:cNvSpPr>
              <a:spLocks noGrp="1"/>
            </p:cNvSpPr>
            <p:nvPr/>
          </p:nvSpPr>
          <p:spPr>
            <a:xfrm>
              <a:off x="8711259"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62" name="Fusion refined 487.16">
              <a:extLst>
                <a:ext uri="{FF2B5EF4-FFF2-40B4-BE49-F238E27FC236}">
                  <a16:creationId xmlns:a16="http://schemas.microsoft.com/office/drawing/2014/main" id="{0FF19FA3-F74F-0EF3-2637-6AA25406EF88}"/>
                </a:ext>
              </a:extLst>
            </p:cNvPr>
            <p:cNvSpPr>
              <a:spLocks noGrp="1"/>
            </p:cNvSpPr>
            <p:nvPr/>
          </p:nvSpPr>
          <p:spPr>
            <a:xfrm>
              <a:off x="5085187" y="2418493"/>
              <a:ext cx="191" cy="404527"/>
            </a:xfrm>
            <a:custGeom>
              <a:avLst/>
              <a:gdLst/>
              <a:ahLst/>
              <a:cxnLst/>
              <a:rect l="0" t="0" r="0" b="0"/>
              <a:pathLst>
                <a:path w="191" h="404527">
                  <a:moveTo>
                    <a:pt x="0" y="0"/>
                  </a:moveTo>
                  <a:lnTo>
                    <a:pt x="0" y="404527"/>
                  </a:lnTo>
                </a:path>
              </a:pathLst>
            </a:custGeom>
            <a:noFill/>
            <a:ln w="8505">
              <a:solidFill>
                <a:srgbClr val="77828C"/>
              </a:solidFill>
              <a:prstDash val="solid"/>
            </a:ln>
          </p:spPr>
        </p:sp>
        <p:sp>
          <p:nvSpPr>
            <p:cNvPr id="1363" name="Fusion refined 487.16 head">
              <a:extLst>
                <a:ext uri="{FF2B5EF4-FFF2-40B4-BE49-F238E27FC236}">
                  <a16:creationId xmlns:a16="http://schemas.microsoft.com/office/drawing/2014/main" id="{3D13397A-1EED-4CCF-C88D-62A5EFCF622C}"/>
                </a:ext>
              </a:extLst>
            </p:cNvPr>
            <p:cNvSpPr>
              <a:spLocks noGrp="1"/>
            </p:cNvSpPr>
            <p:nvPr/>
          </p:nvSpPr>
          <p:spPr>
            <a:xfrm>
              <a:off x="5056517" y="277968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64" name="Fusion refined 700.05">
              <a:extLst>
                <a:ext uri="{FF2B5EF4-FFF2-40B4-BE49-F238E27FC236}">
                  <a16:creationId xmlns:a16="http://schemas.microsoft.com/office/drawing/2014/main" id="{F3328C85-8D10-5BAE-F06A-A042F88B4457}"/>
                </a:ext>
              </a:extLst>
            </p:cNvPr>
            <p:cNvSpPr>
              <a:spLocks noGrp="1"/>
            </p:cNvSpPr>
            <p:nvPr/>
          </p:nvSpPr>
          <p:spPr>
            <a:xfrm>
              <a:off x="7112964" y="2418493"/>
              <a:ext cx="191" cy="404527"/>
            </a:xfrm>
            <a:custGeom>
              <a:avLst/>
              <a:gdLst/>
              <a:ahLst/>
              <a:cxnLst/>
              <a:rect l="0" t="0" r="0" b="0"/>
              <a:pathLst>
                <a:path w="191" h="404527">
                  <a:moveTo>
                    <a:pt x="0" y="0"/>
                  </a:moveTo>
                  <a:lnTo>
                    <a:pt x="0" y="404527"/>
                  </a:lnTo>
                </a:path>
              </a:pathLst>
            </a:custGeom>
            <a:noFill/>
            <a:ln w="8505">
              <a:solidFill>
                <a:srgbClr val="77828C"/>
              </a:solidFill>
              <a:prstDash val="solid"/>
            </a:ln>
          </p:spPr>
        </p:sp>
        <p:sp>
          <p:nvSpPr>
            <p:cNvPr id="1365" name="Fusion refined 700.05 head">
              <a:extLst>
                <a:ext uri="{FF2B5EF4-FFF2-40B4-BE49-F238E27FC236}">
                  <a16:creationId xmlns:a16="http://schemas.microsoft.com/office/drawing/2014/main" id="{615DF42F-7A96-D005-2B04-2E5B83AF189A}"/>
                </a:ext>
              </a:extLst>
            </p:cNvPr>
            <p:cNvSpPr>
              <a:spLocks noGrp="1"/>
            </p:cNvSpPr>
            <p:nvPr/>
          </p:nvSpPr>
          <p:spPr>
            <a:xfrm>
              <a:off x="7084294" y="277968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66" name="Fusion refined 912.94">
              <a:extLst>
                <a:ext uri="{FF2B5EF4-FFF2-40B4-BE49-F238E27FC236}">
                  <a16:creationId xmlns:a16="http://schemas.microsoft.com/office/drawing/2014/main" id="{8F954EB4-FAB9-9DC0-DCA1-6E84B625ECD7}"/>
                </a:ext>
              </a:extLst>
            </p:cNvPr>
            <p:cNvSpPr>
              <a:spLocks noGrp="1"/>
            </p:cNvSpPr>
            <p:nvPr/>
          </p:nvSpPr>
          <p:spPr>
            <a:xfrm>
              <a:off x="9140742" y="2418493"/>
              <a:ext cx="191" cy="404527"/>
            </a:xfrm>
            <a:custGeom>
              <a:avLst/>
              <a:gdLst/>
              <a:ahLst/>
              <a:cxnLst/>
              <a:rect l="0" t="0" r="0" b="0"/>
              <a:pathLst>
                <a:path w="191" h="404527">
                  <a:moveTo>
                    <a:pt x="0" y="0"/>
                  </a:moveTo>
                  <a:lnTo>
                    <a:pt x="0" y="404527"/>
                  </a:lnTo>
                </a:path>
              </a:pathLst>
            </a:custGeom>
            <a:noFill/>
            <a:ln w="8505">
              <a:solidFill>
                <a:srgbClr val="77828C"/>
              </a:solidFill>
              <a:prstDash val="solid"/>
            </a:ln>
          </p:spPr>
        </p:sp>
        <p:sp>
          <p:nvSpPr>
            <p:cNvPr id="1367" name="Fusion refined 912.94 head">
              <a:extLst>
                <a:ext uri="{FF2B5EF4-FFF2-40B4-BE49-F238E27FC236}">
                  <a16:creationId xmlns:a16="http://schemas.microsoft.com/office/drawing/2014/main" id="{DDC6F6E8-2600-F9F0-8C4C-DF220F079064}"/>
                </a:ext>
              </a:extLst>
            </p:cNvPr>
            <p:cNvSpPr>
              <a:spLocks noGrp="1"/>
            </p:cNvSpPr>
            <p:nvPr/>
          </p:nvSpPr>
          <p:spPr>
            <a:xfrm>
              <a:off x="9112071" y="277968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68" name="Recycle right refined">
              <a:extLst>
                <a:ext uri="{FF2B5EF4-FFF2-40B4-BE49-F238E27FC236}">
                  <a16:creationId xmlns:a16="http://schemas.microsoft.com/office/drawing/2014/main" id="{D9AFE2A4-7629-8D55-72A2-74513ED16554}"/>
                </a:ext>
              </a:extLst>
            </p:cNvPr>
            <p:cNvSpPr>
              <a:spLocks noGrp="1"/>
            </p:cNvSpPr>
            <p:nvPr/>
          </p:nvSpPr>
          <p:spPr>
            <a:xfrm>
              <a:off x="7596644" y="3385852"/>
              <a:ext cx="1544098" cy="241840"/>
            </a:xfrm>
            <a:custGeom>
              <a:avLst/>
              <a:gdLst/>
              <a:ahLst/>
              <a:cxnLst/>
              <a:rect l="0" t="0" r="0" b="0"/>
              <a:pathLst>
                <a:path w="1544098" h="241840">
                  <a:moveTo>
                    <a:pt x="1544098" y="0"/>
                  </a:moveTo>
                  <a:lnTo>
                    <a:pt x="1544098" y="241840"/>
                  </a:lnTo>
                  <a:lnTo>
                    <a:pt x="0" y="241840"/>
                  </a:lnTo>
                </a:path>
              </a:pathLst>
            </a:custGeom>
            <a:noFill/>
            <a:ln w="8505">
              <a:solidFill>
                <a:srgbClr val="77828C"/>
              </a:solidFill>
              <a:prstDash val="solid"/>
            </a:ln>
          </p:spPr>
        </p:sp>
        <p:sp>
          <p:nvSpPr>
            <p:cNvPr id="1369" name="Recycle left refined">
              <a:extLst>
                <a:ext uri="{FF2B5EF4-FFF2-40B4-BE49-F238E27FC236}">
                  <a16:creationId xmlns:a16="http://schemas.microsoft.com/office/drawing/2014/main" id="{9E9F6AF5-6C88-4D6A-4EB6-AE11098D540D}"/>
                </a:ext>
              </a:extLst>
            </p:cNvPr>
            <p:cNvSpPr>
              <a:spLocks noGrp="1"/>
            </p:cNvSpPr>
            <p:nvPr/>
          </p:nvSpPr>
          <p:spPr>
            <a:xfrm>
              <a:off x="5085187" y="3409188"/>
              <a:ext cx="1544098" cy="218503"/>
            </a:xfrm>
            <a:custGeom>
              <a:avLst/>
              <a:gdLst/>
              <a:ahLst/>
              <a:cxnLst/>
              <a:rect l="0" t="0" r="0" b="0"/>
              <a:pathLst>
                <a:path w="1544098" h="218503">
                  <a:moveTo>
                    <a:pt x="1544098" y="218503"/>
                  </a:moveTo>
                  <a:lnTo>
                    <a:pt x="0" y="218503"/>
                  </a:lnTo>
                  <a:lnTo>
                    <a:pt x="0" y="0"/>
                  </a:lnTo>
                </a:path>
              </a:pathLst>
            </a:custGeom>
            <a:noFill/>
            <a:ln w="8505">
              <a:solidFill>
                <a:srgbClr val="77828C"/>
              </a:solidFill>
              <a:prstDash val="solid"/>
            </a:ln>
          </p:spPr>
        </p:sp>
        <p:sp>
          <p:nvSpPr>
            <p:cNvPr id="1370" name="Recycle left refined head">
              <a:extLst>
                <a:ext uri="{FF2B5EF4-FFF2-40B4-BE49-F238E27FC236}">
                  <a16:creationId xmlns:a16="http://schemas.microsoft.com/office/drawing/2014/main" id="{FC70626C-9297-3774-289D-8C74BAB81591}"/>
                </a:ext>
              </a:extLst>
            </p:cNvPr>
            <p:cNvSpPr>
              <a:spLocks noGrp="1"/>
            </p:cNvSpPr>
            <p:nvPr/>
          </p:nvSpPr>
          <p:spPr>
            <a:xfrm>
              <a:off x="5056517" y="3385852"/>
              <a:ext cx="57340" cy="66675"/>
            </a:xfrm>
            <a:custGeom>
              <a:avLst/>
              <a:gdLst/>
              <a:ahLst/>
              <a:cxnLst/>
              <a:rect l="0" t="0" r="0" b="0"/>
              <a:pathLst>
                <a:path w="57340" h="66675">
                  <a:moveTo>
                    <a:pt x="28670" y="0"/>
                  </a:moveTo>
                  <a:lnTo>
                    <a:pt x="0" y="66675"/>
                  </a:lnTo>
                  <a:lnTo>
                    <a:pt x="57340" y="66675"/>
                  </a:lnTo>
                  <a:close/>
                </a:path>
              </a:pathLst>
            </a:custGeom>
            <a:solidFill>
              <a:srgbClr val="77828C"/>
            </a:solidFill>
            <a:ln w="0">
              <a:noFill/>
              <a:prstDash val="solid"/>
            </a:ln>
          </p:spPr>
        </p:sp>
        <p:sp>
          <p:nvSpPr>
            <p:cNvPr id="1371" name="Crop to summary refined">
              <a:extLst>
                <a:ext uri="{FF2B5EF4-FFF2-40B4-BE49-F238E27FC236}">
                  <a16:creationId xmlns:a16="http://schemas.microsoft.com/office/drawing/2014/main" id="{23964A60-5300-B32A-CC8C-9F9A10909522}"/>
                </a:ext>
              </a:extLst>
            </p:cNvPr>
            <p:cNvSpPr>
              <a:spLocks noGrp="1"/>
            </p:cNvSpPr>
            <p:nvPr/>
          </p:nvSpPr>
          <p:spPr>
            <a:xfrm flipV="1">
              <a:off x="3571124" y="5920900"/>
              <a:ext cx="1306769" cy="143591"/>
            </a:xfrm>
            <a:custGeom>
              <a:avLst/>
              <a:gdLst/>
              <a:ahLst/>
              <a:cxnLst/>
              <a:rect l="0" t="0" r="0" b="0"/>
              <a:pathLst>
                <a:path w="1148715" h="191">
                  <a:moveTo>
                    <a:pt x="0" y="0"/>
                  </a:moveTo>
                  <a:lnTo>
                    <a:pt x="1148715" y="0"/>
                  </a:lnTo>
                </a:path>
              </a:pathLst>
            </a:custGeom>
            <a:noFill/>
            <a:ln w="8505">
              <a:solidFill>
                <a:srgbClr val="77828C"/>
              </a:solidFill>
              <a:prstDash val="solid"/>
            </a:ln>
          </p:spPr>
        </p:sp>
        <p:sp>
          <p:nvSpPr>
            <p:cNvPr id="1372" name="Crop to summary refined head">
              <a:extLst>
                <a:ext uri="{FF2B5EF4-FFF2-40B4-BE49-F238E27FC236}">
                  <a16:creationId xmlns:a16="http://schemas.microsoft.com/office/drawing/2014/main" id="{864E15CB-81EF-2FAC-14F2-E25D89F29346}"/>
                </a:ext>
              </a:extLst>
            </p:cNvPr>
            <p:cNvSpPr>
              <a:spLocks noGrp="1"/>
            </p:cNvSpPr>
            <p:nvPr/>
          </p:nvSpPr>
          <p:spPr>
            <a:xfrm>
              <a:off x="4832301" y="6036088"/>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73" name="Input split refined">
              <a:extLst>
                <a:ext uri="{FF2B5EF4-FFF2-40B4-BE49-F238E27FC236}">
                  <a16:creationId xmlns:a16="http://schemas.microsoft.com/office/drawing/2014/main" id="{B4BBBDF4-6774-1D2C-95B2-F3B88AB1C869}"/>
                </a:ext>
              </a:extLst>
            </p:cNvPr>
            <p:cNvSpPr>
              <a:spLocks noGrp="1"/>
            </p:cNvSpPr>
            <p:nvPr/>
          </p:nvSpPr>
          <p:spPr>
            <a:xfrm>
              <a:off x="2152323" y="7793354"/>
              <a:ext cx="846770" cy="160020"/>
            </a:xfrm>
            <a:custGeom>
              <a:avLst/>
              <a:gdLst/>
              <a:ahLst/>
              <a:cxnLst/>
              <a:rect l="0" t="0" r="0" b="0"/>
              <a:pathLst>
                <a:path w="846772" h="160020">
                  <a:moveTo>
                    <a:pt x="846772" y="0"/>
                  </a:moveTo>
                  <a:lnTo>
                    <a:pt x="846772" y="160020"/>
                  </a:lnTo>
                  <a:lnTo>
                    <a:pt x="0" y="160020"/>
                  </a:lnTo>
                </a:path>
              </a:pathLst>
            </a:custGeom>
            <a:noFill/>
            <a:ln w="8505">
              <a:solidFill>
                <a:srgbClr val="77828C"/>
              </a:solidFill>
              <a:prstDash val="solid"/>
            </a:ln>
          </p:spPr>
        </p:sp>
        <p:sp>
          <p:nvSpPr>
            <p:cNvPr id="1374" name="Input split right refined">
              <a:extLst>
                <a:ext uri="{FF2B5EF4-FFF2-40B4-BE49-F238E27FC236}">
                  <a16:creationId xmlns:a16="http://schemas.microsoft.com/office/drawing/2014/main" id="{950F0CCA-2F88-9AFF-22D8-DAA7ACB6176C}"/>
                </a:ext>
              </a:extLst>
            </p:cNvPr>
            <p:cNvSpPr>
              <a:spLocks noGrp="1"/>
            </p:cNvSpPr>
            <p:nvPr/>
          </p:nvSpPr>
          <p:spPr>
            <a:xfrm>
              <a:off x="2999100" y="7953375"/>
              <a:ext cx="827723" cy="190"/>
            </a:xfrm>
            <a:custGeom>
              <a:avLst/>
              <a:gdLst/>
              <a:ahLst/>
              <a:cxnLst/>
              <a:rect l="0" t="0" r="0" b="0"/>
              <a:pathLst>
                <a:path w="827723" h="191">
                  <a:moveTo>
                    <a:pt x="0" y="0"/>
                  </a:moveTo>
                  <a:lnTo>
                    <a:pt x="827723" y="0"/>
                  </a:lnTo>
                </a:path>
              </a:pathLst>
            </a:custGeom>
            <a:noFill/>
            <a:ln w="8505">
              <a:solidFill>
                <a:srgbClr val="77828C"/>
              </a:solidFill>
              <a:prstDash val="solid"/>
            </a:ln>
          </p:spPr>
        </p:sp>
        <p:sp>
          <p:nvSpPr>
            <p:cNvPr id="1375" name="Inputs to pool refined">
              <a:extLst>
                <a:ext uri="{FF2B5EF4-FFF2-40B4-BE49-F238E27FC236}">
                  <a16:creationId xmlns:a16="http://schemas.microsoft.com/office/drawing/2014/main" id="{B22E0EF3-FD19-0826-1822-07182CC69FC5}"/>
                </a:ext>
              </a:extLst>
            </p:cNvPr>
            <p:cNvSpPr>
              <a:spLocks noGrp="1"/>
            </p:cNvSpPr>
            <p:nvPr/>
          </p:nvSpPr>
          <p:spPr>
            <a:xfrm>
              <a:off x="2159804" y="7953375"/>
              <a:ext cx="190" cy="143732"/>
            </a:xfrm>
            <a:custGeom>
              <a:avLst/>
              <a:gdLst/>
              <a:ahLst/>
              <a:cxnLst/>
              <a:rect l="0" t="0" r="0" b="0"/>
              <a:pathLst>
                <a:path w="191" h="143732">
                  <a:moveTo>
                    <a:pt x="0" y="0"/>
                  </a:moveTo>
                  <a:lnTo>
                    <a:pt x="0" y="143732"/>
                  </a:lnTo>
                </a:path>
              </a:pathLst>
            </a:custGeom>
            <a:noFill/>
            <a:ln w="8505">
              <a:solidFill>
                <a:srgbClr val="77828C"/>
              </a:solidFill>
              <a:prstDash val="solid"/>
            </a:ln>
          </p:spPr>
        </p:sp>
        <p:sp>
          <p:nvSpPr>
            <p:cNvPr id="1376" name="Inputs to pool refined head">
              <a:extLst>
                <a:ext uri="{FF2B5EF4-FFF2-40B4-BE49-F238E27FC236}">
                  <a16:creationId xmlns:a16="http://schemas.microsoft.com/office/drawing/2014/main" id="{CA70B1F6-4A00-BABC-2972-012866989961}"/>
                </a:ext>
              </a:extLst>
            </p:cNvPr>
            <p:cNvSpPr>
              <a:spLocks noGrp="1"/>
            </p:cNvSpPr>
            <p:nvPr/>
          </p:nvSpPr>
          <p:spPr>
            <a:xfrm>
              <a:off x="2131133" y="8053769"/>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77" name="Inputs to attention refined">
              <a:extLst>
                <a:ext uri="{FF2B5EF4-FFF2-40B4-BE49-F238E27FC236}">
                  <a16:creationId xmlns:a16="http://schemas.microsoft.com/office/drawing/2014/main" id="{08F1A61E-3B0E-8BF6-7F27-5CCE4D22C59A}"/>
                </a:ext>
              </a:extLst>
            </p:cNvPr>
            <p:cNvSpPr>
              <a:spLocks noGrp="1"/>
            </p:cNvSpPr>
            <p:nvPr/>
          </p:nvSpPr>
          <p:spPr>
            <a:xfrm>
              <a:off x="3825152" y="7950242"/>
              <a:ext cx="190" cy="143732"/>
            </a:xfrm>
            <a:custGeom>
              <a:avLst/>
              <a:gdLst/>
              <a:ahLst/>
              <a:cxnLst/>
              <a:rect l="0" t="0" r="0" b="0"/>
              <a:pathLst>
                <a:path w="191" h="143732">
                  <a:moveTo>
                    <a:pt x="0" y="0"/>
                  </a:moveTo>
                  <a:lnTo>
                    <a:pt x="0" y="143732"/>
                  </a:lnTo>
                </a:path>
              </a:pathLst>
            </a:custGeom>
            <a:noFill/>
            <a:ln w="8505">
              <a:solidFill>
                <a:srgbClr val="77828C"/>
              </a:solidFill>
              <a:prstDash val="solid"/>
            </a:ln>
          </p:spPr>
        </p:sp>
        <p:sp>
          <p:nvSpPr>
            <p:cNvPr id="1378" name="Inputs to attention refined head">
              <a:extLst>
                <a:ext uri="{FF2B5EF4-FFF2-40B4-BE49-F238E27FC236}">
                  <a16:creationId xmlns:a16="http://schemas.microsoft.com/office/drawing/2014/main" id="{4A8E2717-7DBF-7A20-898F-8A4B8D99C916}"/>
                </a:ext>
              </a:extLst>
            </p:cNvPr>
            <p:cNvSpPr>
              <a:spLocks noGrp="1"/>
            </p:cNvSpPr>
            <p:nvPr/>
          </p:nvSpPr>
          <p:spPr>
            <a:xfrm>
              <a:off x="3793990" y="8050639"/>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83" name="MLP to FiLM refined">
              <a:extLst>
                <a:ext uri="{FF2B5EF4-FFF2-40B4-BE49-F238E27FC236}">
                  <a16:creationId xmlns:a16="http://schemas.microsoft.com/office/drawing/2014/main" id="{2C7C678A-F3D0-E51D-2CD6-B41E5CBA7774}"/>
                </a:ext>
              </a:extLst>
            </p:cNvPr>
            <p:cNvSpPr>
              <a:spLocks noGrp="1"/>
            </p:cNvSpPr>
            <p:nvPr/>
          </p:nvSpPr>
          <p:spPr>
            <a:xfrm>
              <a:off x="3409393" y="8968263"/>
              <a:ext cx="1502569" cy="190"/>
            </a:xfrm>
            <a:custGeom>
              <a:avLst/>
              <a:gdLst/>
              <a:ahLst/>
              <a:cxnLst/>
              <a:rect l="0" t="0" r="0" b="0"/>
              <a:pathLst>
                <a:path w="1502569" h="191">
                  <a:moveTo>
                    <a:pt x="0" y="0"/>
                  </a:moveTo>
                  <a:lnTo>
                    <a:pt x="1502569" y="0"/>
                  </a:lnTo>
                </a:path>
              </a:pathLst>
            </a:custGeom>
            <a:noFill/>
            <a:ln w="8505">
              <a:solidFill>
                <a:srgbClr val="77828C"/>
              </a:solidFill>
              <a:prstDash val="solid"/>
            </a:ln>
          </p:spPr>
        </p:sp>
        <p:sp>
          <p:nvSpPr>
            <p:cNvPr id="1384" name="MLP to FiLM refined head">
              <a:extLst>
                <a:ext uri="{FF2B5EF4-FFF2-40B4-BE49-F238E27FC236}">
                  <a16:creationId xmlns:a16="http://schemas.microsoft.com/office/drawing/2014/main" id="{E62BF4CB-2DFB-E34F-0A43-259454CA6416}"/>
                </a:ext>
              </a:extLst>
            </p:cNvPr>
            <p:cNvSpPr>
              <a:spLocks noGrp="1"/>
            </p:cNvSpPr>
            <p:nvPr/>
          </p:nvSpPr>
          <p:spPr>
            <a:xfrm>
              <a:off x="4868623" y="8939595"/>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85" name="Summary to FiLM refined">
              <a:extLst>
                <a:ext uri="{FF2B5EF4-FFF2-40B4-BE49-F238E27FC236}">
                  <a16:creationId xmlns:a16="http://schemas.microsoft.com/office/drawing/2014/main" id="{4AD6C56A-E9C3-F934-64AC-D936F1D8505E}"/>
                </a:ext>
              </a:extLst>
            </p:cNvPr>
            <p:cNvSpPr>
              <a:spLocks noGrp="1"/>
            </p:cNvSpPr>
            <p:nvPr/>
          </p:nvSpPr>
          <p:spPr>
            <a:xfrm>
              <a:off x="5261889" y="6405028"/>
              <a:ext cx="190" cy="2367440"/>
            </a:xfrm>
            <a:custGeom>
              <a:avLst/>
              <a:gdLst/>
              <a:ahLst/>
              <a:cxnLst/>
              <a:rect l="0" t="0" r="0" b="0"/>
              <a:pathLst>
                <a:path w="191" h="2367439">
                  <a:moveTo>
                    <a:pt x="0" y="0"/>
                  </a:moveTo>
                  <a:lnTo>
                    <a:pt x="0" y="2367439"/>
                  </a:lnTo>
                </a:path>
              </a:pathLst>
            </a:custGeom>
            <a:noFill/>
            <a:ln w="8505">
              <a:solidFill>
                <a:srgbClr val="77828C"/>
              </a:solidFill>
              <a:prstDash val="solid"/>
            </a:ln>
          </p:spPr>
        </p:sp>
        <p:sp>
          <p:nvSpPr>
            <p:cNvPr id="1386" name="Summary to FiLM refined head">
              <a:extLst>
                <a:ext uri="{FF2B5EF4-FFF2-40B4-BE49-F238E27FC236}">
                  <a16:creationId xmlns:a16="http://schemas.microsoft.com/office/drawing/2014/main" id="{EEAEF4BF-5039-6C23-B675-9771749FE17A}"/>
                </a:ext>
              </a:extLst>
            </p:cNvPr>
            <p:cNvSpPr>
              <a:spLocks noGrp="1"/>
            </p:cNvSpPr>
            <p:nvPr/>
          </p:nvSpPr>
          <p:spPr>
            <a:xfrm>
              <a:off x="5234867" y="8724900"/>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87" name="Summary to cross attention refined">
              <a:extLst>
                <a:ext uri="{FF2B5EF4-FFF2-40B4-BE49-F238E27FC236}">
                  <a16:creationId xmlns:a16="http://schemas.microsoft.com/office/drawing/2014/main" id="{EFD90DBF-A222-410E-15F3-D541CA16A8AE}"/>
                </a:ext>
              </a:extLst>
            </p:cNvPr>
            <p:cNvSpPr>
              <a:spLocks noGrp="1"/>
            </p:cNvSpPr>
            <p:nvPr/>
          </p:nvSpPr>
          <p:spPr>
            <a:xfrm>
              <a:off x="4659180" y="8299325"/>
              <a:ext cx="604619" cy="107521"/>
            </a:xfrm>
            <a:custGeom>
              <a:avLst/>
              <a:gdLst/>
              <a:ahLst/>
              <a:cxnLst/>
              <a:rect l="0" t="0" r="0" b="0"/>
              <a:pathLst>
                <a:path w="664845" h="191">
                  <a:moveTo>
                    <a:pt x="664845" y="0"/>
                  </a:moveTo>
                  <a:lnTo>
                    <a:pt x="0" y="0"/>
                  </a:lnTo>
                </a:path>
              </a:pathLst>
            </a:custGeom>
            <a:noFill/>
            <a:ln w="8505">
              <a:solidFill>
                <a:srgbClr val="77828C"/>
              </a:solidFill>
              <a:prstDash val="solid"/>
            </a:ln>
          </p:spPr>
        </p:sp>
        <p:sp>
          <p:nvSpPr>
            <p:cNvPr id="1388" name="Summary to cross attention refined head">
              <a:extLst>
                <a:ext uri="{FF2B5EF4-FFF2-40B4-BE49-F238E27FC236}">
                  <a16:creationId xmlns:a16="http://schemas.microsoft.com/office/drawing/2014/main" id="{91B08F31-0339-9716-3395-2B3F8970BA82}"/>
                </a:ext>
              </a:extLst>
            </p:cNvPr>
            <p:cNvSpPr>
              <a:spLocks noGrp="1"/>
            </p:cNvSpPr>
            <p:nvPr/>
          </p:nvSpPr>
          <p:spPr>
            <a:xfrm>
              <a:off x="4592349" y="8268463"/>
              <a:ext cx="66676" cy="57339"/>
            </a:xfrm>
            <a:custGeom>
              <a:avLst/>
              <a:gdLst/>
              <a:ahLst/>
              <a:cxnLst/>
              <a:rect l="0" t="0" r="0" b="0"/>
              <a:pathLst>
                <a:path w="66675" h="57340">
                  <a:moveTo>
                    <a:pt x="0" y="28670"/>
                  </a:moveTo>
                  <a:lnTo>
                    <a:pt x="66675" y="57340"/>
                  </a:lnTo>
                  <a:lnTo>
                    <a:pt x="66675" y="0"/>
                  </a:lnTo>
                  <a:close/>
                </a:path>
              </a:pathLst>
            </a:custGeom>
            <a:solidFill>
              <a:srgbClr val="77828C"/>
            </a:solidFill>
            <a:ln w="0">
              <a:noFill/>
              <a:prstDash val="solid"/>
            </a:ln>
          </p:spPr>
        </p:sp>
        <p:sp>
          <p:nvSpPr>
            <p:cNvPr id="1389" name="FiLM to candidate refined">
              <a:extLst>
                <a:ext uri="{FF2B5EF4-FFF2-40B4-BE49-F238E27FC236}">
                  <a16:creationId xmlns:a16="http://schemas.microsoft.com/office/drawing/2014/main" id="{25FC3F76-C3DD-1537-7837-64B9361AE243}"/>
                </a:ext>
              </a:extLst>
            </p:cNvPr>
            <p:cNvSpPr>
              <a:spLocks noGrp="1"/>
            </p:cNvSpPr>
            <p:nvPr/>
          </p:nvSpPr>
          <p:spPr>
            <a:xfrm>
              <a:off x="5260059" y="9144953"/>
              <a:ext cx="190" cy="215360"/>
            </a:xfrm>
            <a:custGeom>
              <a:avLst/>
              <a:gdLst/>
              <a:ahLst/>
              <a:cxnLst/>
              <a:rect l="0" t="0" r="0" b="0"/>
              <a:pathLst>
                <a:path w="191" h="215360">
                  <a:moveTo>
                    <a:pt x="0" y="0"/>
                  </a:moveTo>
                  <a:lnTo>
                    <a:pt x="0" y="215360"/>
                  </a:lnTo>
                </a:path>
              </a:pathLst>
            </a:custGeom>
            <a:noFill/>
            <a:ln w="8505">
              <a:solidFill>
                <a:srgbClr val="77828C"/>
              </a:solidFill>
              <a:prstDash val="solid"/>
            </a:ln>
          </p:spPr>
        </p:sp>
        <p:sp>
          <p:nvSpPr>
            <p:cNvPr id="1390" name="FiLM to candidate refined head">
              <a:extLst>
                <a:ext uri="{FF2B5EF4-FFF2-40B4-BE49-F238E27FC236}">
                  <a16:creationId xmlns:a16="http://schemas.microsoft.com/office/drawing/2014/main" id="{7A05C2E3-B0E7-7DA8-4847-EC91C004D35D}"/>
                </a:ext>
              </a:extLst>
            </p:cNvPr>
            <p:cNvSpPr>
              <a:spLocks noGrp="1"/>
            </p:cNvSpPr>
            <p:nvPr/>
          </p:nvSpPr>
          <p:spPr>
            <a:xfrm>
              <a:off x="5227656" y="9316975"/>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91" name="Candidate to foreground refined">
              <a:extLst>
                <a:ext uri="{FF2B5EF4-FFF2-40B4-BE49-F238E27FC236}">
                  <a16:creationId xmlns:a16="http://schemas.microsoft.com/office/drawing/2014/main" id="{FE203BD6-3778-87C2-8526-E332B5B380C4}"/>
                </a:ext>
              </a:extLst>
            </p:cNvPr>
            <p:cNvSpPr>
              <a:spLocks noGrp="1"/>
            </p:cNvSpPr>
            <p:nvPr/>
          </p:nvSpPr>
          <p:spPr>
            <a:xfrm>
              <a:off x="2390046" y="9532751"/>
              <a:ext cx="2867433" cy="278948"/>
            </a:xfrm>
            <a:custGeom>
              <a:avLst/>
              <a:gdLst/>
              <a:ahLst/>
              <a:cxnLst/>
              <a:rect l="0" t="0" r="0" b="0"/>
              <a:pathLst>
                <a:path w="2809018" h="286702">
                  <a:moveTo>
                    <a:pt x="2809018" y="0"/>
                  </a:moveTo>
                  <a:lnTo>
                    <a:pt x="2809018" y="95250"/>
                  </a:lnTo>
                  <a:lnTo>
                    <a:pt x="0" y="95250"/>
                  </a:lnTo>
                  <a:lnTo>
                    <a:pt x="0" y="286702"/>
                  </a:lnTo>
                </a:path>
              </a:pathLst>
            </a:custGeom>
            <a:noFill/>
            <a:ln w="8505">
              <a:solidFill>
                <a:srgbClr val="77828C"/>
              </a:solidFill>
              <a:prstDash val="solid"/>
            </a:ln>
          </p:spPr>
        </p:sp>
        <p:sp>
          <p:nvSpPr>
            <p:cNvPr id="1392" name="Candidate to foreground refined head">
              <a:extLst>
                <a:ext uri="{FF2B5EF4-FFF2-40B4-BE49-F238E27FC236}">
                  <a16:creationId xmlns:a16="http://schemas.microsoft.com/office/drawing/2014/main" id="{D2B7433A-243E-C206-1CB1-3F191E6AD029}"/>
                </a:ext>
              </a:extLst>
            </p:cNvPr>
            <p:cNvSpPr>
              <a:spLocks noGrp="1"/>
            </p:cNvSpPr>
            <p:nvPr/>
          </p:nvSpPr>
          <p:spPr>
            <a:xfrm>
              <a:off x="2361378" y="9768364"/>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93" name="Foreground to probability refined">
              <a:extLst>
                <a:ext uri="{FF2B5EF4-FFF2-40B4-BE49-F238E27FC236}">
                  <a16:creationId xmlns:a16="http://schemas.microsoft.com/office/drawing/2014/main" id="{D5A6B998-ADFA-E982-8C35-E6D90114C21C}"/>
                </a:ext>
              </a:extLst>
            </p:cNvPr>
            <p:cNvSpPr>
              <a:spLocks noGrp="1"/>
            </p:cNvSpPr>
            <p:nvPr/>
          </p:nvSpPr>
          <p:spPr>
            <a:xfrm flipV="1">
              <a:off x="3273601" y="9904498"/>
              <a:ext cx="621737" cy="107521"/>
            </a:xfrm>
            <a:custGeom>
              <a:avLst/>
              <a:gdLst/>
              <a:ahLst/>
              <a:cxnLst/>
              <a:rect l="0" t="0" r="0" b="0"/>
              <a:pathLst>
                <a:path w="600742" h="191">
                  <a:moveTo>
                    <a:pt x="0" y="0"/>
                  </a:moveTo>
                  <a:lnTo>
                    <a:pt x="600742" y="0"/>
                  </a:lnTo>
                </a:path>
              </a:pathLst>
            </a:custGeom>
            <a:noFill/>
            <a:ln w="8505">
              <a:solidFill>
                <a:srgbClr val="77828C"/>
              </a:solidFill>
              <a:prstDash val="solid"/>
            </a:ln>
          </p:spPr>
        </p:sp>
        <p:sp>
          <p:nvSpPr>
            <p:cNvPr id="1394" name="Foreground to probability refined head">
              <a:extLst>
                <a:ext uri="{FF2B5EF4-FFF2-40B4-BE49-F238E27FC236}">
                  <a16:creationId xmlns:a16="http://schemas.microsoft.com/office/drawing/2014/main" id="{660BE4D6-2608-6E09-7FF4-AD7C50994699}"/>
                </a:ext>
              </a:extLst>
            </p:cNvPr>
            <p:cNvSpPr>
              <a:spLocks noGrp="1"/>
            </p:cNvSpPr>
            <p:nvPr/>
          </p:nvSpPr>
          <p:spPr>
            <a:xfrm>
              <a:off x="3856976" y="9982695"/>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95" name="Candidate to cosine refined">
              <a:extLst>
                <a:ext uri="{FF2B5EF4-FFF2-40B4-BE49-F238E27FC236}">
                  <a16:creationId xmlns:a16="http://schemas.microsoft.com/office/drawing/2014/main" id="{22A5040B-9402-AB7D-9094-F4BF5F10ADD2}"/>
                </a:ext>
              </a:extLst>
            </p:cNvPr>
            <p:cNvSpPr>
              <a:spLocks noGrp="1"/>
            </p:cNvSpPr>
            <p:nvPr/>
          </p:nvSpPr>
          <p:spPr>
            <a:xfrm>
              <a:off x="5257496" y="9528367"/>
              <a:ext cx="2419601" cy="443164"/>
            </a:xfrm>
            <a:custGeom>
              <a:avLst/>
              <a:gdLst/>
              <a:ahLst/>
              <a:cxnLst/>
              <a:rect l="0" t="0" r="0" b="0"/>
              <a:pathLst>
                <a:path w="2143887" h="446532">
                  <a:moveTo>
                    <a:pt x="0" y="0"/>
                  </a:moveTo>
                  <a:lnTo>
                    <a:pt x="0" y="446532"/>
                  </a:lnTo>
                  <a:lnTo>
                    <a:pt x="2143887" y="446532"/>
                  </a:lnTo>
                </a:path>
              </a:pathLst>
            </a:custGeom>
            <a:noFill/>
            <a:ln w="8505">
              <a:solidFill>
                <a:srgbClr val="77828C"/>
              </a:solidFill>
              <a:prstDash val="solid"/>
            </a:ln>
          </p:spPr>
        </p:sp>
        <p:sp>
          <p:nvSpPr>
            <p:cNvPr id="1396" name="Candidate to cosine refined head">
              <a:extLst>
                <a:ext uri="{FF2B5EF4-FFF2-40B4-BE49-F238E27FC236}">
                  <a16:creationId xmlns:a16="http://schemas.microsoft.com/office/drawing/2014/main" id="{D0F3AAE9-EBC0-FC07-AF0A-FBDAD938D93E}"/>
                </a:ext>
              </a:extLst>
            </p:cNvPr>
            <p:cNvSpPr>
              <a:spLocks noGrp="1"/>
            </p:cNvSpPr>
            <p:nvPr/>
          </p:nvSpPr>
          <p:spPr>
            <a:xfrm>
              <a:off x="7633759" y="9942862"/>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97" name="Selected identity to graph refined">
              <a:extLst>
                <a:ext uri="{FF2B5EF4-FFF2-40B4-BE49-F238E27FC236}">
                  <a16:creationId xmlns:a16="http://schemas.microsoft.com/office/drawing/2014/main" id="{2545D43E-9B8D-BA3E-80CD-880BD63B35AE}"/>
                </a:ext>
              </a:extLst>
            </p:cNvPr>
            <p:cNvSpPr>
              <a:spLocks noGrp="1"/>
            </p:cNvSpPr>
            <p:nvPr/>
          </p:nvSpPr>
          <p:spPr>
            <a:xfrm>
              <a:off x="7067879" y="6134481"/>
              <a:ext cx="651129" cy="595217"/>
            </a:xfrm>
            <a:custGeom>
              <a:avLst/>
              <a:gdLst/>
              <a:ahLst/>
              <a:cxnLst/>
              <a:rect l="0" t="0" r="0" b="0"/>
              <a:pathLst>
                <a:path w="651129" h="595217">
                  <a:moveTo>
                    <a:pt x="651129" y="0"/>
                  </a:moveTo>
                  <a:lnTo>
                    <a:pt x="0" y="0"/>
                  </a:lnTo>
                  <a:lnTo>
                    <a:pt x="0" y="595217"/>
                  </a:lnTo>
                </a:path>
              </a:pathLst>
            </a:custGeom>
            <a:noFill/>
            <a:ln w="8505">
              <a:solidFill>
                <a:srgbClr val="77828C"/>
              </a:solidFill>
              <a:prstDash val="solid"/>
            </a:ln>
          </p:spPr>
        </p:sp>
        <p:sp>
          <p:nvSpPr>
            <p:cNvPr id="1398" name="Selected identity to graph refined head">
              <a:extLst>
                <a:ext uri="{FF2B5EF4-FFF2-40B4-BE49-F238E27FC236}">
                  <a16:creationId xmlns:a16="http://schemas.microsoft.com/office/drawing/2014/main" id="{2F033F6F-AC85-37DE-479C-D063C3DB8E25}"/>
                </a:ext>
              </a:extLst>
            </p:cNvPr>
            <p:cNvSpPr>
              <a:spLocks noGrp="1"/>
            </p:cNvSpPr>
            <p:nvPr/>
          </p:nvSpPr>
          <p:spPr>
            <a:xfrm>
              <a:off x="7039209" y="6686360"/>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99" name="Graph to GNN refined">
              <a:extLst>
                <a:ext uri="{FF2B5EF4-FFF2-40B4-BE49-F238E27FC236}">
                  <a16:creationId xmlns:a16="http://schemas.microsoft.com/office/drawing/2014/main" id="{7EF864D3-D6E3-5180-82C2-0A0AE886C150}"/>
                </a:ext>
              </a:extLst>
            </p:cNvPr>
            <p:cNvSpPr>
              <a:spLocks noGrp="1"/>
            </p:cNvSpPr>
            <p:nvPr/>
          </p:nvSpPr>
          <p:spPr>
            <a:xfrm>
              <a:off x="7067879" y="7441406"/>
              <a:ext cx="191" cy="153448"/>
            </a:xfrm>
            <a:custGeom>
              <a:avLst/>
              <a:gdLst/>
              <a:ahLst/>
              <a:cxnLst/>
              <a:rect l="0" t="0" r="0" b="0"/>
              <a:pathLst>
                <a:path w="191" h="153448">
                  <a:moveTo>
                    <a:pt x="0" y="0"/>
                  </a:moveTo>
                  <a:lnTo>
                    <a:pt x="0" y="153448"/>
                  </a:lnTo>
                </a:path>
              </a:pathLst>
            </a:custGeom>
            <a:noFill/>
            <a:ln w="8505">
              <a:solidFill>
                <a:srgbClr val="77828C"/>
              </a:solidFill>
              <a:prstDash val="solid"/>
            </a:ln>
          </p:spPr>
        </p:sp>
        <p:sp>
          <p:nvSpPr>
            <p:cNvPr id="1400" name="Graph to GNN refined head">
              <a:extLst>
                <a:ext uri="{FF2B5EF4-FFF2-40B4-BE49-F238E27FC236}">
                  <a16:creationId xmlns:a16="http://schemas.microsoft.com/office/drawing/2014/main" id="{B23BD653-4893-2671-9B86-7F888A6E5617}"/>
                </a:ext>
              </a:extLst>
            </p:cNvPr>
            <p:cNvSpPr>
              <a:spLocks noGrp="1"/>
            </p:cNvSpPr>
            <p:nvPr/>
          </p:nvSpPr>
          <p:spPr>
            <a:xfrm>
              <a:off x="7039209" y="7551515"/>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1" name="GNN to graph attention refined">
              <a:extLst>
                <a:ext uri="{FF2B5EF4-FFF2-40B4-BE49-F238E27FC236}">
                  <a16:creationId xmlns:a16="http://schemas.microsoft.com/office/drawing/2014/main" id="{B0DCC1B2-7C1A-332C-0127-08382278DBC6}"/>
                </a:ext>
              </a:extLst>
            </p:cNvPr>
            <p:cNvSpPr>
              <a:spLocks noGrp="1"/>
            </p:cNvSpPr>
            <p:nvPr/>
          </p:nvSpPr>
          <p:spPr>
            <a:xfrm>
              <a:off x="7067879" y="7934420"/>
              <a:ext cx="191" cy="274320"/>
            </a:xfrm>
            <a:custGeom>
              <a:avLst/>
              <a:gdLst/>
              <a:ahLst/>
              <a:cxnLst/>
              <a:rect l="0" t="0" r="0" b="0"/>
              <a:pathLst>
                <a:path w="191" h="274320">
                  <a:moveTo>
                    <a:pt x="0" y="0"/>
                  </a:moveTo>
                  <a:lnTo>
                    <a:pt x="0" y="274320"/>
                  </a:lnTo>
                </a:path>
              </a:pathLst>
            </a:custGeom>
            <a:noFill/>
            <a:ln w="8505">
              <a:solidFill>
                <a:srgbClr val="77828C"/>
              </a:solidFill>
              <a:prstDash val="solid"/>
            </a:ln>
          </p:spPr>
        </p:sp>
        <p:sp>
          <p:nvSpPr>
            <p:cNvPr id="1402" name="GNN to graph attention refined head">
              <a:extLst>
                <a:ext uri="{FF2B5EF4-FFF2-40B4-BE49-F238E27FC236}">
                  <a16:creationId xmlns:a16="http://schemas.microsoft.com/office/drawing/2014/main" id="{F5D1A0D2-1869-EB89-61A3-D3ABFE580C35}"/>
                </a:ext>
              </a:extLst>
            </p:cNvPr>
            <p:cNvSpPr>
              <a:spLocks noGrp="1"/>
            </p:cNvSpPr>
            <p:nvPr/>
          </p:nvSpPr>
          <p:spPr>
            <a:xfrm>
              <a:off x="7039209" y="816540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3" name="Identity to SMI-TED refined">
              <a:extLst>
                <a:ext uri="{FF2B5EF4-FFF2-40B4-BE49-F238E27FC236}">
                  <a16:creationId xmlns:a16="http://schemas.microsoft.com/office/drawing/2014/main" id="{416B661C-118E-CA99-59DC-DA4857A74E2E}"/>
                </a:ext>
              </a:extLst>
            </p:cNvPr>
            <p:cNvSpPr>
              <a:spLocks noGrp="1"/>
            </p:cNvSpPr>
            <p:nvPr/>
          </p:nvSpPr>
          <p:spPr>
            <a:xfrm>
              <a:off x="8637980" y="6638068"/>
              <a:ext cx="191" cy="326993"/>
            </a:xfrm>
            <a:custGeom>
              <a:avLst/>
              <a:gdLst/>
              <a:ahLst/>
              <a:cxnLst/>
              <a:rect l="0" t="0" r="0" b="0"/>
              <a:pathLst>
                <a:path w="191" h="326993">
                  <a:moveTo>
                    <a:pt x="0" y="0"/>
                  </a:moveTo>
                  <a:lnTo>
                    <a:pt x="0" y="326993"/>
                  </a:lnTo>
                </a:path>
              </a:pathLst>
            </a:custGeom>
            <a:noFill/>
            <a:ln w="8505">
              <a:solidFill>
                <a:srgbClr val="77828C"/>
              </a:solidFill>
              <a:prstDash val="solid"/>
            </a:ln>
          </p:spPr>
        </p:sp>
        <p:sp>
          <p:nvSpPr>
            <p:cNvPr id="1404" name="Identity to SMI-TED refined head">
              <a:extLst>
                <a:ext uri="{FF2B5EF4-FFF2-40B4-BE49-F238E27FC236}">
                  <a16:creationId xmlns:a16="http://schemas.microsoft.com/office/drawing/2014/main" id="{0BA2F96A-2AFB-7C00-99C8-78C9DC78B848}"/>
                </a:ext>
              </a:extLst>
            </p:cNvPr>
            <p:cNvSpPr>
              <a:spLocks noGrp="1"/>
            </p:cNvSpPr>
            <p:nvPr/>
          </p:nvSpPr>
          <p:spPr>
            <a:xfrm>
              <a:off x="8609310" y="692172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5" name="SMI-TED to language refined">
              <a:extLst>
                <a:ext uri="{FF2B5EF4-FFF2-40B4-BE49-F238E27FC236}">
                  <a16:creationId xmlns:a16="http://schemas.microsoft.com/office/drawing/2014/main" id="{688B9630-847C-74A2-04EF-D75E08D7E423}"/>
                </a:ext>
              </a:extLst>
            </p:cNvPr>
            <p:cNvSpPr>
              <a:spLocks noGrp="1"/>
            </p:cNvSpPr>
            <p:nvPr/>
          </p:nvSpPr>
          <p:spPr>
            <a:xfrm>
              <a:off x="8637980" y="7304627"/>
              <a:ext cx="191" cy="1013841"/>
            </a:xfrm>
            <a:custGeom>
              <a:avLst/>
              <a:gdLst/>
              <a:ahLst/>
              <a:cxnLst/>
              <a:rect l="0" t="0" r="0" b="0"/>
              <a:pathLst>
                <a:path w="191" h="1013841">
                  <a:moveTo>
                    <a:pt x="0" y="0"/>
                  </a:moveTo>
                  <a:lnTo>
                    <a:pt x="0" y="1013841"/>
                  </a:lnTo>
                </a:path>
              </a:pathLst>
            </a:custGeom>
            <a:noFill/>
            <a:ln w="8505">
              <a:solidFill>
                <a:srgbClr val="77828C"/>
              </a:solidFill>
              <a:prstDash val="solid"/>
            </a:ln>
          </p:spPr>
        </p:sp>
        <p:sp>
          <p:nvSpPr>
            <p:cNvPr id="1406" name="SMI-TED to language refined head">
              <a:extLst>
                <a:ext uri="{FF2B5EF4-FFF2-40B4-BE49-F238E27FC236}">
                  <a16:creationId xmlns:a16="http://schemas.microsoft.com/office/drawing/2014/main" id="{7251A2B8-D12B-A433-6B0D-10AA76953AAB}"/>
                </a:ext>
              </a:extLst>
            </p:cNvPr>
            <p:cNvSpPr>
              <a:spLocks noGrp="1"/>
            </p:cNvSpPr>
            <p:nvPr/>
          </p:nvSpPr>
          <p:spPr>
            <a:xfrm>
              <a:off x="8609310" y="8275130"/>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7" name="Other identities refined">
              <a:extLst>
                <a:ext uri="{FF2B5EF4-FFF2-40B4-BE49-F238E27FC236}">
                  <a16:creationId xmlns:a16="http://schemas.microsoft.com/office/drawing/2014/main" id="{A4787BA6-E950-16B8-B01A-9B4C92E13C7A}"/>
                </a:ext>
              </a:extLst>
            </p:cNvPr>
            <p:cNvSpPr>
              <a:spLocks noGrp="1"/>
            </p:cNvSpPr>
            <p:nvPr/>
          </p:nvSpPr>
          <p:spPr>
            <a:xfrm>
              <a:off x="9616579" y="5581174"/>
              <a:ext cx="613886" cy="1373695"/>
            </a:xfrm>
            <a:custGeom>
              <a:avLst/>
              <a:gdLst/>
              <a:ahLst/>
              <a:cxnLst/>
              <a:rect l="0" t="0" r="0" b="0"/>
              <a:pathLst>
                <a:path w="613886" h="1373695">
                  <a:moveTo>
                    <a:pt x="0" y="0"/>
                  </a:moveTo>
                  <a:lnTo>
                    <a:pt x="613886" y="0"/>
                  </a:lnTo>
                  <a:lnTo>
                    <a:pt x="613886" y="1373695"/>
                  </a:lnTo>
                </a:path>
              </a:pathLst>
            </a:custGeom>
            <a:noFill/>
            <a:ln w="8505">
              <a:solidFill>
                <a:srgbClr val="77828C"/>
              </a:solidFill>
              <a:prstDash val="solid"/>
            </a:ln>
          </p:spPr>
        </p:sp>
        <p:sp>
          <p:nvSpPr>
            <p:cNvPr id="1408" name="Other identities refined head">
              <a:extLst>
                <a:ext uri="{FF2B5EF4-FFF2-40B4-BE49-F238E27FC236}">
                  <a16:creationId xmlns:a16="http://schemas.microsoft.com/office/drawing/2014/main" id="{9D094DDB-3471-ECAC-BCA5-E9612E620328}"/>
                </a:ext>
              </a:extLst>
            </p:cNvPr>
            <p:cNvSpPr>
              <a:spLocks noGrp="1"/>
            </p:cNvSpPr>
            <p:nvPr/>
          </p:nvSpPr>
          <p:spPr>
            <a:xfrm>
              <a:off x="10201795" y="691153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9" name="Other identities middle refined">
              <a:extLst>
                <a:ext uri="{FF2B5EF4-FFF2-40B4-BE49-F238E27FC236}">
                  <a16:creationId xmlns:a16="http://schemas.microsoft.com/office/drawing/2014/main" id="{43A875F1-64CC-3AE0-16D0-832B017C6CB3}"/>
                </a:ext>
              </a:extLst>
            </p:cNvPr>
            <p:cNvSpPr>
              <a:spLocks noGrp="1"/>
            </p:cNvSpPr>
            <p:nvPr/>
          </p:nvSpPr>
          <p:spPr>
            <a:xfrm>
              <a:off x="9616579" y="5851112"/>
              <a:ext cx="613886" cy="191"/>
            </a:xfrm>
            <a:custGeom>
              <a:avLst/>
              <a:gdLst/>
              <a:ahLst/>
              <a:cxnLst/>
              <a:rect l="0" t="0" r="0" b="0"/>
              <a:pathLst>
                <a:path w="613886" h="191">
                  <a:moveTo>
                    <a:pt x="0" y="0"/>
                  </a:moveTo>
                  <a:lnTo>
                    <a:pt x="613886" y="0"/>
                  </a:lnTo>
                </a:path>
              </a:pathLst>
            </a:custGeom>
            <a:noFill/>
            <a:ln w="8505">
              <a:solidFill>
                <a:srgbClr val="77828C"/>
              </a:solidFill>
              <a:prstDash val="solid"/>
            </a:ln>
          </p:spPr>
        </p:sp>
        <p:sp>
          <p:nvSpPr>
            <p:cNvPr id="1410" name="Other identities lower refined">
              <a:extLst>
                <a:ext uri="{FF2B5EF4-FFF2-40B4-BE49-F238E27FC236}">
                  <a16:creationId xmlns:a16="http://schemas.microsoft.com/office/drawing/2014/main" id="{D83A070A-E1D1-4067-2310-74DC30F9F921}"/>
                </a:ext>
              </a:extLst>
            </p:cNvPr>
            <p:cNvSpPr>
              <a:spLocks noGrp="1"/>
            </p:cNvSpPr>
            <p:nvPr/>
          </p:nvSpPr>
          <p:spPr>
            <a:xfrm>
              <a:off x="9616579" y="6533293"/>
              <a:ext cx="613886" cy="191"/>
            </a:xfrm>
            <a:custGeom>
              <a:avLst/>
              <a:gdLst/>
              <a:ahLst/>
              <a:cxnLst/>
              <a:rect l="0" t="0" r="0" b="0"/>
              <a:pathLst>
                <a:path w="613886" h="191">
                  <a:moveTo>
                    <a:pt x="0" y="0"/>
                  </a:moveTo>
                  <a:lnTo>
                    <a:pt x="613886" y="0"/>
                  </a:lnTo>
                </a:path>
              </a:pathLst>
            </a:custGeom>
            <a:noFill/>
            <a:ln w="8505">
              <a:solidFill>
                <a:srgbClr val="77828C"/>
              </a:solidFill>
              <a:prstDash val="solid"/>
            </a:ln>
          </p:spPr>
        </p:sp>
        <p:sp>
          <p:nvSpPr>
            <p:cNvPr id="1411" name="Context SMI-TED to matrix refined">
              <a:extLst>
                <a:ext uri="{FF2B5EF4-FFF2-40B4-BE49-F238E27FC236}">
                  <a16:creationId xmlns:a16="http://schemas.microsoft.com/office/drawing/2014/main" id="{3BA39657-BA55-8B03-4B42-2E8CA0F2402A}"/>
                </a:ext>
              </a:extLst>
            </p:cNvPr>
            <p:cNvSpPr>
              <a:spLocks noGrp="1"/>
            </p:cNvSpPr>
            <p:nvPr/>
          </p:nvSpPr>
          <p:spPr>
            <a:xfrm>
              <a:off x="10240942" y="7294436"/>
              <a:ext cx="191" cy="264128"/>
            </a:xfrm>
            <a:custGeom>
              <a:avLst/>
              <a:gdLst/>
              <a:ahLst/>
              <a:cxnLst/>
              <a:rect l="0" t="0" r="0" b="0"/>
              <a:pathLst>
                <a:path w="191" h="264128">
                  <a:moveTo>
                    <a:pt x="0" y="0"/>
                  </a:moveTo>
                  <a:lnTo>
                    <a:pt x="0" y="264128"/>
                  </a:lnTo>
                </a:path>
              </a:pathLst>
            </a:custGeom>
            <a:noFill/>
            <a:ln w="8505">
              <a:solidFill>
                <a:srgbClr val="77828C"/>
              </a:solidFill>
              <a:prstDash val="solid"/>
            </a:ln>
          </p:spPr>
        </p:sp>
        <p:sp>
          <p:nvSpPr>
            <p:cNvPr id="1412" name="Context SMI-TED to matrix refined head">
              <a:extLst>
                <a:ext uri="{FF2B5EF4-FFF2-40B4-BE49-F238E27FC236}">
                  <a16:creationId xmlns:a16="http://schemas.microsoft.com/office/drawing/2014/main" id="{46BBCF7E-77B7-430B-5E68-8D5D4D07C9BA}"/>
                </a:ext>
              </a:extLst>
            </p:cNvPr>
            <p:cNvSpPr>
              <a:spLocks noGrp="1"/>
            </p:cNvSpPr>
            <p:nvPr/>
          </p:nvSpPr>
          <p:spPr>
            <a:xfrm>
              <a:off x="10212272" y="7515226"/>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13" name="Context matrix to attention refined">
              <a:extLst>
                <a:ext uri="{FF2B5EF4-FFF2-40B4-BE49-F238E27FC236}">
                  <a16:creationId xmlns:a16="http://schemas.microsoft.com/office/drawing/2014/main" id="{19123C2B-08C0-5942-5974-56E3DB290164}"/>
                </a:ext>
              </a:extLst>
            </p:cNvPr>
            <p:cNvSpPr>
              <a:spLocks noGrp="1"/>
            </p:cNvSpPr>
            <p:nvPr/>
          </p:nvSpPr>
          <p:spPr>
            <a:xfrm>
              <a:off x="10230465" y="7958995"/>
              <a:ext cx="191" cy="249745"/>
            </a:xfrm>
            <a:custGeom>
              <a:avLst/>
              <a:gdLst/>
              <a:ahLst/>
              <a:cxnLst/>
              <a:rect l="0" t="0" r="0" b="0"/>
              <a:pathLst>
                <a:path w="191" h="249745">
                  <a:moveTo>
                    <a:pt x="0" y="0"/>
                  </a:moveTo>
                  <a:lnTo>
                    <a:pt x="0" y="249745"/>
                  </a:lnTo>
                </a:path>
              </a:pathLst>
            </a:custGeom>
            <a:noFill/>
            <a:ln w="8505">
              <a:solidFill>
                <a:srgbClr val="77828C"/>
              </a:solidFill>
              <a:prstDash val="solid"/>
            </a:ln>
          </p:spPr>
        </p:sp>
        <p:sp>
          <p:nvSpPr>
            <p:cNvPr id="1414" name="Context matrix to attention refined head">
              <a:extLst>
                <a:ext uri="{FF2B5EF4-FFF2-40B4-BE49-F238E27FC236}">
                  <a16:creationId xmlns:a16="http://schemas.microsoft.com/office/drawing/2014/main" id="{F6D726DD-707A-38A3-9C89-49061435E2BF}"/>
                </a:ext>
              </a:extLst>
            </p:cNvPr>
            <p:cNvSpPr>
              <a:spLocks noGrp="1"/>
            </p:cNvSpPr>
            <p:nvPr/>
          </p:nvSpPr>
          <p:spPr>
            <a:xfrm>
              <a:off x="10201795" y="816540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15" name="Language query left refined">
              <a:extLst>
                <a:ext uri="{FF2B5EF4-FFF2-40B4-BE49-F238E27FC236}">
                  <a16:creationId xmlns:a16="http://schemas.microsoft.com/office/drawing/2014/main" id="{739AFAAD-E669-E2AC-687E-E59FC6E7FAD2}"/>
                </a:ext>
              </a:extLst>
            </p:cNvPr>
            <p:cNvSpPr>
              <a:spLocks noGrp="1"/>
            </p:cNvSpPr>
            <p:nvPr/>
          </p:nvSpPr>
          <p:spPr>
            <a:xfrm>
              <a:off x="7816735" y="8408765"/>
              <a:ext cx="479012" cy="191"/>
            </a:xfrm>
            <a:custGeom>
              <a:avLst/>
              <a:gdLst/>
              <a:ahLst/>
              <a:cxnLst/>
              <a:rect l="0" t="0" r="0" b="0"/>
              <a:pathLst>
                <a:path w="479012" h="191">
                  <a:moveTo>
                    <a:pt x="479012" y="0"/>
                  </a:moveTo>
                  <a:lnTo>
                    <a:pt x="0" y="0"/>
                  </a:lnTo>
                </a:path>
              </a:pathLst>
            </a:custGeom>
            <a:noFill/>
            <a:ln w="8505">
              <a:solidFill>
                <a:srgbClr val="77828C"/>
              </a:solidFill>
              <a:prstDash val="solid"/>
            </a:ln>
          </p:spPr>
        </p:sp>
        <p:sp>
          <p:nvSpPr>
            <p:cNvPr id="1416" name="Language query left refined head">
              <a:extLst>
                <a:ext uri="{FF2B5EF4-FFF2-40B4-BE49-F238E27FC236}">
                  <a16:creationId xmlns:a16="http://schemas.microsoft.com/office/drawing/2014/main" id="{98D92A42-D662-B44C-CD57-583BDD75174C}"/>
                </a:ext>
              </a:extLst>
            </p:cNvPr>
            <p:cNvSpPr>
              <a:spLocks noGrp="1"/>
            </p:cNvSpPr>
            <p:nvPr/>
          </p:nvSpPr>
          <p:spPr>
            <a:xfrm>
              <a:off x="7793398" y="8380095"/>
              <a:ext cx="66675" cy="57340"/>
            </a:xfrm>
            <a:custGeom>
              <a:avLst/>
              <a:gdLst/>
              <a:ahLst/>
              <a:cxnLst/>
              <a:rect l="0" t="0" r="0" b="0"/>
              <a:pathLst>
                <a:path w="66675" h="57340">
                  <a:moveTo>
                    <a:pt x="0" y="28670"/>
                  </a:moveTo>
                  <a:lnTo>
                    <a:pt x="66675" y="57340"/>
                  </a:lnTo>
                  <a:lnTo>
                    <a:pt x="66675" y="0"/>
                  </a:lnTo>
                  <a:close/>
                </a:path>
              </a:pathLst>
            </a:custGeom>
            <a:solidFill>
              <a:srgbClr val="77828C"/>
            </a:solidFill>
            <a:ln w="0">
              <a:noFill/>
              <a:prstDash val="solid"/>
            </a:ln>
          </p:spPr>
        </p:sp>
        <p:sp>
          <p:nvSpPr>
            <p:cNvPr id="1417" name="Language query right refined">
              <a:extLst>
                <a:ext uri="{FF2B5EF4-FFF2-40B4-BE49-F238E27FC236}">
                  <a16:creationId xmlns:a16="http://schemas.microsoft.com/office/drawing/2014/main" id="{97C332FD-B4F7-4A69-7F24-BE35ED3CC233}"/>
                </a:ext>
              </a:extLst>
            </p:cNvPr>
            <p:cNvSpPr>
              <a:spLocks noGrp="1"/>
            </p:cNvSpPr>
            <p:nvPr/>
          </p:nvSpPr>
          <p:spPr>
            <a:xfrm>
              <a:off x="8965450" y="8408765"/>
              <a:ext cx="478917" cy="191"/>
            </a:xfrm>
            <a:custGeom>
              <a:avLst/>
              <a:gdLst/>
              <a:ahLst/>
              <a:cxnLst/>
              <a:rect l="0" t="0" r="0" b="0"/>
              <a:pathLst>
                <a:path w="478917" h="191">
                  <a:moveTo>
                    <a:pt x="0" y="0"/>
                  </a:moveTo>
                  <a:lnTo>
                    <a:pt x="478917" y="0"/>
                  </a:lnTo>
                </a:path>
              </a:pathLst>
            </a:custGeom>
            <a:noFill/>
            <a:ln w="8505">
              <a:solidFill>
                <a:srgbClr val="77828C"/>
              </a:solidFill>
              <a:prstDash val="solid"/>
            </a:ln>
          </p:spPr>
        </p:sp>
        <p:sp>
          <p:nvSpPr>
            <p:cNvPr id="1418" name="Language query right refined head">
              <a:extLst>
                <a:ext uri="{FF2B5EF4-FFF2-40B4-BE49-F238E27FC236}">
                  <a16:creationId xmlns:a16="http://schemas.microsoft.com/office/drawing/2014/main" id="{4B6A3B32-B3D1-5F9B-FDB9-6517BE3635C2}"/>
                </a:ext>
              </a:extLst>
            </p:cNvPr>
            <p:cNvSpPr>
              <a:spLocks noGrp="1"/>
            </p:cNvSpPr>
            <p:nvPr/>
          </p:nvSpPr>
          <p:spPr>
            <a:xfrm>
              <a:off x="9401028" y="8380095"/>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419" name="Language to fusion refined">
              <a:extLst>
                <a:ext uri="{FF2B5EF4-FFF2-40B4-BE49-F238E27FC236}">
                  <a16:creationId xmlns:a16="http://schemas.microsoft.com/office/drawing/2014/main" id="{CC1BD470-88ED-E459-BC64-3926AF1B81FC}"/>
                </a:ext>
              </a:extLst>
            </p:cNvPr>
            <p:cNvSpPr>
              <a:spLocks noGrp="1"/>
            </p:cNvSpPr>
            <p:nvPr/>
          </p:nvSpPr>
          <p:spPr>
            <a:xfrm>
              <a:off x="8630551" y="8475726"/>
              <a:ext cx="191" cy="281845"/>
            </a:xfrm>
            <a:custGeom>
              <a:avLst/>
              <a:gdLst/>
              <a:ahLst/>
              <a:cxnLst/>
              <a:rect l="0" t="0" r="0" b="0"/>
              <a:pathLst>
                <a:path w="191" h="281845">
                  <a:moveTo>
                    <a:pt x="0" y="0"/>
                  </a:moveTo>
                  <a:lnTo>
                    <a:pt x="0" y="281845"/>
                  </a:lnTo>
                </a:path>
              </a:pathLst>
            </a:custGeom>
            <a:noFill/>
            <a:ln w="8505">
              <a:solidFill>
                <a:srgbClr val="77828C"/>
              </a:solidFill>
              <a:prstDash val="solid"/>
            </a:ln>
          </p:spPr>
        </p:sp>
        <p:sp>
          <p:nvSpPr>
            <p:cNvPr id="1420" name="Language to fusion refined head">
              <a:extLst>
                <a:ext uri="{FF2B5EF4-FFF2-40B4-BE49-F238E27FC236}">
                  <a16:creationId xmlns:a16="http://schemas.microsoft.com/office/drawing/2014/main" id="{7DE28A53-D82C-C158-A00E-484E630E57C6}"/>
                </a:ext>
              </a:extLst>
            </p:cNvPr>
            <p:cNvSpPr>
              <a:spLocks noGrp="1"/>
            </p:cNvSpPr>
            <p:nvPr/>
          </p:nvSpPr>
          <p:spPr>
            <a:xfrm>
              <a:off x="8601880" y="871423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21" name="Graph attention to fusion refined">
              <a:extLst>
                <a:ext uri="{FF2B5EF4-FFF2-40B4-BE49-F238E27FC236}">
                  <a16:creationId xmlns:a16="http://schemas.microsoft.com/office/drawing/2014/main" id="{9DE07E88-6455-6397-3B15-5E2794D66EC1}"/>
                </a:ext>
              </a:extLst>
            </p:cNvPr>
            <p:cNvSpPr>
              <a:spLocks noGrp="1"/>
            </p:cNvSpPr>
            <p:nvPr/>
          </p:nvSpPr>
          <p:spPr>
            <a:xfrm>
              <a:off x="7067879" y="8585549"/>
              <a:ext cx="1092899" cy="362807"/>
            </a:xfrm>
            <a:custGeom>
              <a:avLst/>
              <a:gdLst/>
              <a:ahLst/>
              <a:cxnLst/>
              <a:rect l="0" t="0" r="0" b="0"/>
              <a:pathLst>
                <a:path w="1092899" h="362807">
                  <a:moveTo>
                    <a:pt x="0" y="0"/>
                  </a:moveTo>
                  <a:lnTo>
                    <a:pt x="0" y="362807"/>
                  </a:lnTo>
                  <a:lnTo>
                    <a:pt x="1092899" y="362807"/>
                  </a:lnTo>
                </a:path>
              </a:pathLst>
            </a:custGeom>
            <a:noFill/>
            <a:ln w="8505">
              <a:solidFill>
                <a:srgbClr val="77828C"/>
              </a:solidFill>
              <a:prstDash val="solid"/>
            </a:ln>
          </p:spPr>
        </p:sp>
        <p:sp>
          <p:nvSpPr>
            <p:cNvPr id="1422" name="Graph attention to fusion refined head">
              <a:extLst>
                <a:ext uri="{FF2B5EF4-FFF2-40B4-BE49-F238E27FC236}">
                  <a16:creationId xmlns:a16="http://schemas.microsoft.com/office/drawing/2014/main" id="{80249588-4991-7EA9-C183-E31DFF970425}"/>
                </a:ext>
              </a:extLst>
            </p:cNvPr>
            <p:cNvSpPr>
              <a:spLocks noGrp="1"/>
            </p:cNvSpPr>
            <p:nvPr/>
          </p:nvSpPr>
          <p:spPr>
            <a:xfrm>
              <a:off x="8117439" y="8919686"/>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423" name="Context attention to fusion refined">
              <a:extLst>
                <a:ext uri="{FF2B5EF4-FFF2-40B4-BE49-F238E27FC236}">
                  <a16:creationId xmlns:a16="http://schemas.microsoft.com/office/drawing/2014/main" id="{EB1CDE84-2AAC-05C7-2AC2-7F0CD69C4010}"/>
                </a:ext>
              </a:extLst>
            </p:cNvPr>
            <p:cNvSpPr>
              <a:spLocks noGrp="1"/>
            </p:cNvSpPr>
            <p:nvPr/>
          </p:nvSpPr>
          <p:spPr>
            <a:xfrm>
              <a:off x="9100419" y="8585549"/>
              <a:ext cx="1130046" cy="362807"/>
            </a:xfrm>
            <a:custGeom>
              <a:avLst/>
              <a:gdLst/>
              <a:ahLst/>
              <a:cxnLst/>
              <a:rect l="0" t="0" r="0" b="0"/>
              <a:pathLst>
                <a:path w="1130046" h="362807">
                  <a:moveTo>
                    <a:pt x="1130046" y="0"/>
                  </a:moveTo>
                  <a:lnTo>
                    <a:pt x="1130046" y="362807"/>
                  </a:lnTo>
                  <a:lnTo>
                    <a:pt x="0" y="362807"/>
                  </a:lnTo>
                </a:path>
              </a:pathLst>
            </a:custGeom>
            <a:noFill/>
            <a:ln w="8505">
              <a:solidFill>
                <a:srgbClr val="77828C"/>
              </a:solidFill>
              <a:prstDash val="solid"/>
            </a:ln>
          </p:spPr>
        </p:sp>
        <p:sp>
          <p:nvSpPr>
            <p:cNvPr id="1424" name="Context attention to fusion refined head">
              <a:extLst>
                <a:ext uri="{FF2B5EF4-FFF2-40B4-BE49-F238E27FC236}">
                  <a16:creationId xmlns:a16="http://schemas.microsoft.com/office/drawing/2014/main" id="{2AAA0335-3D51-EA88-2522-F717A483BF32}"/>
                </a:ext>
              </a:extLst>
            </p:cNvPr>
            <p:cNvSpPr>
              <a:spLocks noGrp="1"/>
            </p:cNvSpPr>
            <p:nvPr/>
          </p:nvSpPr>
          <p:spPr>
            <a:xfrm>
              <a:off x="9077083" y="8919686"/>
              <a:ext cx="66675" cy="57340"/>
            </a:xfrm>
            <a:custGeom>
              <a:avLst/>
              <a:gdLst/>
              <a:ahLst/>
              <a:cxnLst/>
              <a:rect l="0" t="0" r="0" b="0"/>
              <a:pathLst>
                <a:path w="66675" h="57340">
                  <a:moveTo>
                    <a:pt x="0" y="28670"/>
                  </a:moveTo>
                  <a:lnTo>
                    <a:pt x="66675" y="57340"/>
                  </a:lnTo>
                  <a:lnTo>
                    <a:pt x="66675" y="0"/>
                  </a:lnTo>
                  <a:close/>
                </a:path>
              </a:pathLst>
            </a:custGeom>
            <a:solidFill>
              <a:srgbClr val="77828C"/>
            </a:solidFill>
            <a:ln w="0">
              <a:noFill/>
              <a:prstDash val="solid"/>
            </a:ln>
          </p:spPr>
        </p:sp>
        <p:sp>
          <p:nvSpPr>
            <p:cNvPr id="1425" name="Fusion to identity vector refined">
              <a:extLst>
                <a:ext uri="{FF2B5EF4-FFF2-40B4-BE49-F238E27FC236}">
                  <a16:creationId xmlns:a16="http://schemas.microsoft.com/office/drawing/2014/main" id="{67958AAC-3FC5-4E94-249E-68F363396C6E}"/>
                </a:ext>
              </a:extLst>
            </p:cNvPr>
            <p:cNvSpPr>
              <a:spLocks noGrp="1"/>
            </p:cNvSpPr>
            <p:nvPr/>
          </p:nvSpPr>
          <p:spPr>
            <a:xfrm>
              <a:off x="8630551" y="9115806"/>
              <a:ext cx="191" cy="244507"/>
            </a:xfrm>
            <a:custGeom>
              <a:avLst/>
              <a:gdLst/>
              <a:ahLst/>
              <a:cxnLst/>
              <a:rect l="0" t="0" r="0" b="0"/>
              <a:pathLst>
                <a:path w="191" h="244507">
                  <a:moveTo>
                    <a:pt x="0" y="0"/>
                  </a:moveTo>
                  <a:lnTo>
                    <a:pt x="0" y="244507"/>
                  </a:lnTo>
                </a:path>
              </a:pathLst>
            </a:custGeom>
            <a:noFill/>
            <a:ln w="8505">
              <a:solidFill>
                <a:srgbClr val="77828C"/>
              </a:solidFill>
              <a:prstDash val="solid"/>
            </a:ln>
          </p:spPr>
        </p:sp>
        <p:sp>
          <p:nvSpPr>
            <p:cNvPr id="1426" name="Fusion to identity vector refined head">
              <a:extLst>
                <a:ext uri="{FF2B5EF4-FFF2-40B4-BE49-F238E27FC236}">
                  <a16:creationId xmlns:a16="http://schemas.microsoft.com/office/drawing/2014/main" id="{5B85A195-1A68-48DC-E553-B1E99915D03B}"/>
                </a:ext>
              </a:extLst>
            </p:cNvPr>
            <p:cNvSpPr>
              <a:spLocks noGrp="1"/>
            </p:cNvSpPr>
            <p:nvPr/>
          </p:nvSpPr>
          <p:spPr>
            <a:xfrm>
              <a:off x="8601880" y="9316974"/>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27" name="Identity vector to cosine refined">
              <a:extLst>
                <a:ext uri="{FF2B5EF4-FFF2-40B4-BE49-F238E27FC236}">
                  <a16:creationId xmlns:a16="http://schemas.microsoft.com/office/drawing/2014/main" id="{DDE80B97-A909-A736-F258-523B74319AC3}"/>
                </a:ext>
              </a:extLst>
            </p:cNvPr>
            <p:cNvSpPr>
              <a:spLocks noGrp="1"/>
            </p:cNvSpPr>
            <p:nvPr/>
          </p:nvSpPr>
          <p:spPr>
            <a:xfrm>
              <a:off x="8630551" y="9517571"/>
              <a:ext cx="191" cy="253841"/>
            </a:xfrm>
            <a:custGeom>
              <a:avLst/>
              <a:gdLst/>
              <a:ahLst/>
              <a:cxnLst/>
              <a:rect l="0" t="0" r="0" b="0"/>
              <a:pathLst>
                <a:path w="191" h="253841">
                  <a:moveTo>
                    <a:pt x="0" y="0"/>
                  </a:moveTo>
                  <a:lnTo>
                    <a:pt x="0" y="253841"/>
                  </a:lnTo>
                </a:path>
              </a:pathLst>
            </a:custGeom>
            <a:noFill/>
            <a:ln w="8505">
              <a:solidFill>
                <a:srgbClr val="77828C"/>
              </a:solidFill>
              <a:prstDash val="solid"/>
            </a:ln>
          </p:spPr>
        </p:sp>
        <p:sp>
          <p:nvSpPr>
            <p:cNvPr id="1428" name="Identity vector to cosine refined head">
              <a:extLst>
                <a:ext uri="{FF2B5EF4-FFF2-40B4-BE49-F238E27FC236}">
                  <a16:creationId xmlns:a16="http://schemas.microsoft.com/office/drawing/2014/main" id="{E490B029-346A-A57E-7B15-889C23CE6281}"/>
                </a:ext>
              </a:extLst>
            </p:cNvPr>
            <p:cNvSpPr>
              <a:spLocks noGrp="1"/>
            </p:cNvSpPr>
            <p:nvPr/>
          </p:nvSpPr>
          <p:spPr>
            <a:xfrm>
              <a:off x="8601880" y="9728073"/>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29" name="Cosine to score matrix refined">
              <a:extLst>
                <a:ext uri="{FF2B5EF4-FFF2-40B4-BE49-F238E27FC236}">
                  <a16:creationId xmlns:a16="http://schemas.microsoft.com/office/drawing/2014/main" id="{B53F289C-77E1-6513-62C8-F939A23BF1B2}"/>
                </a:ext>
              </a:extLst>
            </p:cNvPr>
            <p:cNvSpPr>
              <a:spLocks noGrp="1"/>
            </p:cNvSpPr>
            <p:nvPr/>
          </p:nvSpPr>
          <p:spPr>
            <a:xfrm>
              <a:off x="9044913" y="9971531"/>
              <a:ext cx="619030" cy="190"/>
            </a:xfrm>
            <a:custGeom>
              <a:avLst/>
              <a:gdLst/>
              <a:ahLst/>
              <a:cxnLst/>
              <a:rect l="0" t="0" r="0" b="0"/>
              <a:pathLst>
                <a:path w="619030" h="191">
                  <a:moveTo>
                    <a:pt x="0" y="0"/>
                  </a:moveTo>
                  <a:lnTo>
                    <a:pt x="619030" y="0"/>
                  </a:lnTo>
                </a:path>
              </a:pathLst>
            </a:custGeom>
            <a:noFill/>
            <a:ln w="8505">
              <a:solidFill>
                <a:srgbClr val="77828C"/>
              </a:solidFill>
              <a:prstDash val="solid"/>
            </a:ln>
          </p:spPr>
        </p:sp>
        <p:sp>
          <p:nvSpPr>
            <p:cNvPr id="1430" name="Cosine to score matrix refined head">
              <a:extLst>
                <a:ext uri="{FF2B5EF4-FFF2-40B4-BE49-F238E27FC236}">
                  <a16:creationId xmlns:a16="http://schemas.microsoft.com/office/drawing/2014/main" id="{7D1ABF5A-29C9-76A4-1903-E132A41C0C6D}"/>
                </a:ext>
              </a:extLst>
            </p:cNvPr>
            <p:cNvSpPr>
              <a:spLocks noGrp="1"/>
            </p:cNvSpPr>
            <p:nvPr/>
          </p:nvSpPr>
          <p:spPr>
            <a:xfrm>
              <a:off x="9615626" y="9942862"/>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grpSp>
      <p:pic>
        <p:nvPicPr>
          <p:cNvPr id="1436" name="Match clear receptor" descr="Receptor cartoon rendered from unchanged local coordinates, chain C1 of the 9LLG CA2 model.">
            <a:extLst>
              <a:ext uri="{FF2B5EF4-FFF2-40B4-BE49-F238E27FC236}">
                <a16:creationId xmlns:a16="http://schemas.microsoft.com/office/drawing/2014/main" id="{515E1CE9-4EFA-F96B-A08A-C6C2EC64DC6F}"/>
              </a:ext>
            </a:extLst>
          </p:cNvPr>
          <p:cNvPicPr/>
          <p:nvPr/>
        </p:nvPicPr>
        <p:blipFill>
          <a:blip r:embed="rId7"/>
          <a:srcRect l="16857" t="30389" r="19786" b="22500"/>
          <a:stretch>
            <a:fillRect/>
          </a:stretch>
        </p:blipFill>
        <p:spPr>
          <a:xfrm>
            <a:off x="664274" y="2388765"/>
            <a:ext cx="332109" cy="317507"/>
          </a:xfrm>
          <a:prstGeom prst="rect">
            <a:avLst/>
          </a:prstGeom>
        </p:spPr>
      </p:pic>
      <p:sp>
        <p:nvSpPr>
          <p:cNvPr id="1442" name="文本框 1441">
            <a:extLst>
              <a:ext uri="{FF2B5EF4-FFF2-40B4-BE49-F238E27FC236}">
                <a16:creationId xmlns:a16="http://schemas.microsoft.com/office/drawing/2014/main" id="{814431DA-F1EE-CFB8-E7E0-CF4D130ECF44}"/>
              </a:ext>
            </a:extLst>
          </p:cNvPr>
          <p:cNvSpPr txBox="1"/>
          <p:nvPr/>
        </p:nvSpPr>
        <p:spPr>
          <a:xfrm>
            <a:off x="1260165" y="775016"/>
            <a:ext cx="559769" cy="176972"/>
          </a:xfrm>
          <a:prstGeom prst="rect">
            <a:avLst/>
          </a:prstGeom>
          <a:noFill/>
        </p:spPr>
        <p:txBody>
          <a:bodyPr wrap="none" rtlCol="0">
            <a:spAutoFit/>
          </a:bodyPr>
          <a:lstStyle/>
          <a:p>
            <a:r>
              <a:rPr lang="en-US" altLang="zh-CN" sz="550" dirty="0">
                <a:solidFill>
                  <a:srgbClr val="263442"/>
                </a:solidFill>
                <a:latin typeface="Arial"/>
                <a:cs typeface="Arial"/>
              </a:rPr>
              <a:t>56 channels</a:t>
            </a:r>
            <a:endParaRPr lang="zh-CN" altLang="en-US" sz="550" dirty="0">
              <a:solidFill>
                <a:srgbClr val="263442"/>
              </a:solidFill>
              <a:latin typeface="Arial"/>
              <a:cs typeface="Arial"/>
            </a:endParaRPr>
          </a:p>
        </p:txBody>
      </p:sp>
      <p:sp>
        <p:nvSpPr>
          <p:cNvPr id="1443" name="V8 embedding computation frame">
            <a:extLst>
              <a:ext uri="{FF2B5EF4-FFF2-40B4-BE49-F238E27FC236}">
                <a16:creationId xmlns:a16="http://schemas.microsoft.com/office/drawing/2014/main" id="{FB41A424-8C9A-2DA8-76B2-57C0C54ECB10}"/>
              </a:ext>
            </a:extLst>
          </p:cNvPr>
          <p:cNvSpPr/>
          <p:nvPr/>
        </p:nvSpPr>
        <p:spPr>
          <a:xfrm>
            <a:off x="1351898" y="1318283"/>
            <a:ext cx="386080" cy="417830"/>
          </a:xfrm>
          <a:prstGeom prst="roundRect">
            <a:avLst>
              <a:gd name="adj" fmla="val 6579"/>
            </a:avLst>
          </a:prstGeom>
          <a:solidFill>
            <a:srgbClr val="F8FAFC"/>
          </a:solidFill>
          <a:ln w="6096" cap="rnd">
            <a:solidFill>
              <a:srgbClr val="C3D4E6"/>
            </a:solidFill>
            <a:prstDash val="solid"/>
            <a:round/>
          </a:ln>
        </p:spPr>
      </p:sp>
      <p:sp>
        <p:nvSpPr>
          <p:cNvPr id="1444" name="V8 embedding neighbor 1 to center">
            <a:extLst>
              <a:ext uri="{FF2B5EF4-FFF2-40B4-BE49-F238E27FC236}">
                <a16:creationId xmlns:a16="http://schemas.microsoft.com/office/drawing/2014/main" id="{3355B015-AF42-20CF-CA69-CEE14894D5E1}"/>
              </a:ext>
            </a:extLst>
          </p:cNvPr>
          <p:cNvSpPr/>
          <p:nvPr/>
        </p:nvSpPr>
        <p:spPr>
          <a:xfrm>
            <a:off x="1408080" y="1388677"/>
            <a:ext cx="84338" cy="113635"/>
          </a:xfrm>
          <a:custGeom>
            <a:avLst/>
            <a:gdLst/>
            <a:ahLst/>
            <a:cxnLst/>
            <a:rect l="l" t="t" r="r" b="b"/>
            <a:pathLst>
              <a:path w="84338" h="113635">
                <a:moveTo>
                  <a:pt x="0" y="0"/>
                </a:moveTo>
                <a:lnTo>
                  <a:pt x="84338" y="113635"/>
                </a:lnTo>
              </a:path>
            </a:pathLst>
          </a:custGeom>
          <a:noFill/>
          <a:ln w="5842" cap="rnd">
            <a:solidFill>
              <a:srgbClr val="4083B4"/>
            </a:solidFill>
            <a:prstDash val="solid"/>
            <a:round/>
          </a:ln>
        </p:spPr>
      </p:sp>
      <p:sp>
        <p:nvSpPr>
          <p:cNvPr id="1445" name="V8 embedding neighbor 1 to center head">
            <a:extLst>
              <a:ext uri="{FF2B5EF4-FFF2-40B4-BE49-F238E27FC236}">
                <a16:creationId xmlns:a16="http://schemas.microsoft.com/office/drawing/2014/main" id="{27615381-2E0E-2FB6-4DD6-10A8B1F481AB}"/>
              </a:ext>
            </a:extLst>
          </p:cNvPr>
          <p:cNvSpPr/>
          <p:nvPr/>
        </p:nvSpPr>
        <p:spPr>
          <a:xfrm>
            <a:off x="1478827" y="1488319"/>
            <a:ext cx="18870" cy="21105"/>
          </a:xfrm>
          <a:custGeom>
            <a:avLst/>
            <a:gdLst/>
            <a:ahLst/>
            <a:cxnLst/>
            <a:rect l="l" t="t" r="r" b="b"/>
            <a:pathLst>
              <a:path w="18870" h="21105">
                <a:moveTo>
                  <a:pt x="18870" y="21105"/>
                </a:moveTo>
                <a:lnTo>
                  <a:pt x="14277" y="0"/>
                </a:lnTo>
                <a:lnTo>
                  <a:pt x="0" y="10596"/>
                </a:lnTo>
                <a:close/>
              </a:path>
            </a:pathLst>
          </a:custGeom>
          <a:solidFill>
            <a:srgbClr val="4083B4"/>
          </a:solidFill>
          <a:ln w="0" cap="rnd">
            <a:noFill/>
          </a:ln>
        </p:spPr>
      </p:sp>
      <p:sp>
        <p:nvSpPr>
          <p:cNvPr id="1446" name="V8 embedding neighbor 1">
            <a:extLst>
              <a:ext uri="{FF2B5EF4-FFF2-40B4-BE49-F238E27FC236}">
                <a16:creationId xmlns:a16="http://schemas.microsoft.com/office/drawing/2014/main" id="{B5E8A971-284C-84D2-C0DB-7EB12E4B5902}"/>
              </a:ext>
            </a:extLst>
          </p:cNvPr>
          <p:cNvSpPr/>
          <p:nvPr/>
        </p:nvSpPr>
        <p:spPr>
          <a:xfrm>
            <a:off x="1382060" y="1358582"/>
            <a:ext cx="28575" cy="28575"/>
          </a:xfrm>
          <a:prstGeom prst="ellipse">
            <a:avLst/>
          </a:prstGeom>
          <a:noFill/>
          <a:ln w="7112" cap="rnd">
            <a:solidFill>
              <a:srgbClr val="4083B4"/>
            </a:solidFill>
            <a:prstDash val="solid"/>
            <a:round/>
          </a:ln>
        </p:spPr>
      </p:sp>
      <p:sp>
        <p:nvSpPr>
          <p:cNvPr id="1447" name="V8 embedding neighbor 2 to center">
            <a:extLst>
              <a:ext uri="{FF2B5EF4-FFF2-40B4-BE49-F238E27FC236}">
                <a16:creationId xmlns:a16="http://schemas.microsoft.com/office/drawing/2014/main" id="{410E19AF-558D-0BA4-4F56-8A43CC949018}"/>
              </a:ext>
            </a:extLst>
          </p:cNvPr>
          <p:cNvSpPr/>
          <p:nvPr/>
        </p:nvSpPr>
        <p:spPr>
          <a:xfrm>
            <a:off x="1537980" y="1384737"/>
            <a:ext cx="68064" cy="115185"/>
          </a:xfrm>
          <a:custGeom>
            <a:avLst/>
            <a:gdLst/>
            <a:ahLst/>
            <a:cxnLst/>
            <a:rect l="l" t="t" r="r" b="b"/>
            <a:pathLst>
              <a:path w="68064" h="115185">
                <a:moveTo>
                  <a:pt x="68064" y="0"/>
                </a:moveTo>
                <a:lnTo>
                  <a:pt x="0" y="115185"/>
                </a:lnTo>
              </a:path>
            </a:pathLst>
          </a:custGeom>
          <a:noFill/>
          <a:ln w="5842" cap="rnd">
            <a:solidFill>
              <a:srgbClr val="4083B4"/>
            </a:solidFill>
            <a:prstDash val="solid"/>
            <a:round/>
          </a:ln>
        </p:spPr>
      </p:sp>
      <p:sp>
        <p:nvSpPr>
          <p:cNvPr id="1448" name="V8 embedding neighbor 2 to center head">
            <a:extLst>
              <a:ext uri="{FF2B5EF4-FFF2-40B4-BE49-F238E27FC236}">
                <a16:creationId xmlns:a16="http://schemas.microsoft.com/office/drawing/2014/main" id="{50A61875-DCE0-421C-1735-CFE0432F2E90}"/>
              </a:ext>
            </a:extLst>
          </p:cNvPr>
          <p:cNvSpPr/>
          <p:nvPr/>
        </p:nvSpPr>
        <p:spPr>
          <a:xfrm>
            <a:off x="1533473" y="1486079"/>
            <a:ext cx="17668" cy="21470"/>
          </a:xfrm>
          <a:custGeom>
            <a:avLst/>
            <a:gdLst/>
            <a:ahLst/>
            <a:cxnLst/>
            <a:rect l="l" t="t" r="r" b="b"/>
            <a:pathLst>
              <a:path w="17668" h="21470">
                <a:moveTo>
                  <a:pt x="0" y="21470"/>
                </a:moveTo>
                <a:lnTo>
                  <a:pt x="17668" y="9045"/>
                </a:lnTo>
                <a:lnTo>
                  <a:pt x="2361" y="0"/>
                </a:lnTo>
                <a:close/>
              </a:path>
            </a:pathLst>
          </a:custGeom>
          <a:solidFill>
            <a:srgbClr val="4083B4"/>
          </a:solidFill>
          <a:ln w="0" cap="rnd">
            <a:noFill/>
          </a:ln>
        </p:spPr>
      </p:sp>
      <p:sp>
        <p:nvSpPr>
          <p:cNvPr id="1449" name="V8 embedding neighbor 2">
            <a:extLst>
              <a:ext uri="{FF2B5EF4-FFF2-40B4-BE49-F238E27FC236}">
                <a16:creationId xmlns:a16="http://schemas.microsoft.com/office/drawing/2014/main" id="{7AEBAFCB-8ED1-BA01-F100-82AD32FAB4F6}"/>
              </a:ext>
            </a:extLst>
          </p:cNvPr>
          <p:cNvSpPr/>
          <p:nvPr/>
        </p:nvSpPr>
        <p:spPr>
          <a:xfrm>
            <a:off x="1600500" y="1352232"/>
            <a:ext cx="31115" cy="31115"/>
          </a:xfrm>
          <a:prstGeom prst="ellipse">
            <a:avLst/>
          </a:prstGeom>
          <a:noFill/>
          <a:ln w="7112" cap="rnd">
            <a:solidFill>
              <a:srgbClr val="4083B4"/>
            </a:solidFill>
            <a:prstDash val="solid"/>
            <a:round/>
          </a:ln>
        </p:spPr>
      </p:sp>
      <p:sp>
        <p:nvSpPr>
          <p:cNvPr id="1450" name="V8 embedding upper curved aggregation">
            <a:extLst>
              <a:ext uri="{FF2B5EF4-FFF2-40B4-BE49-F238E27FC236}">
                <a16:creationId xmlns:a16="http://schemas.microsoft.com/office/drawing/2014/main" id="{1726AB57-DCD6-4DAB-768F-79635F178651}"/>
              </a:ext>
            </a:extLst>
          </p:cNvPr>
          <p:cNvSpPr/>
          <p:nvPr/>
        </p:nvSpPr>
        <p:spPr>
          <a:xfrm>
            <a:off x="1551288" y="1449794"/>
            <a:ext cx="120650" cy="48806"/>
          </a:xfrm>
          <a:custGeom>
            <a:avLst/>
            <a:gdLst/>
            <a:ahLst/>
            <a:cxnLst/>
            <a:rect l="l" t="t" r="r" b="b"/>
            <a:pathLst>
              <a:path w="120650" h="48806">
                <a:moveTo>
                  <a:pt x="118713" y="0"/>
                </a:moveTo>
                <a:cubicBezTo>
                  <a:pt x="120650" y="36106"/>
                  <a:pt x="44450" y="29756"/>
                  <a:pt x="0" y="48806"/>
                </a:cubicBezTo>
              </a:path>
            </a:pathLst>
          </a:custGeom>
          <a:noFill/>
          <a:ln w="5842" cap="rnd">
            <a:solidFill>
              <a:srgbClr val="4083B4"/>
            </a:solidFill>
            <a:prstDash val="solid"/>
            <a:round/>
          </a:ln>
        </p:spPr>
      </p:sp>
      <p:sp>
        <p:nvSpPr>
          <p:cNvPr id="1451" name="V8 embedding upper curved aggregation tip">
            <a:extLst>
              <a:ext uri="{FF2B5EF4-FFF2-40B4-BE49-F238E27FC236}">
                <a16:creationId xmlns:a16="http://schemas.microsoft.com/office/drawing/2014/main" id="{2B3CEBDA-0E2D-671A-9B26-76F746F7D64B}"/>
              </a:ext>
            </a:extLst>
          </p:cNvPr>
          <p:cNvSpPr/>
          <p:nvPr/>
        </p:nvSpPr>
        <p:spPr>
          <a:xfrm>
            <a:off x="1542577" y="1498600"/>
            <a:ext cx="8711" cy="4690"/>
          </a:xfrm>
          <a:custGeom>
            <a:avLst/>
            <a:gdLst/>
            <a:ahLst/>
            <a:cxnLst/>
            <a:rect l="l" t="t" r="r" b="b"/>
            <a:pathLst>
              <a:path w="8711" h="4690">
                <a:moveTo>
                  <a:pt x="8711" y="0"/>
                </a:moveTo>
                <a:lnTo>
                  <a:pt x="0" y="4690"/>
                </a:lnTo>
              </a:path>
            </a:pathLst>
          </a:custGeom>
          <a:noFill/>
          <a:ln w="5842" cap="rnd">
            <a:solidFill>
              <a:srgbClr val="9481B1"/>
            </a:solidFill>
            <a:prstDash val="solid"/>
            <a:round/>
          </a:ln>
        </p:spPr>
      </p:sp>
      <p:sp>
        <p:nvSpPr>
          <p:cNvPr id="1452" name="V8 embedding upper curved aggregation tip head">
            <a:extLst>
              <a:ext uri="{FF2B5EF4-FFF2-40B4-BE49-F238E27FC236}">
                <a16:creationId xmlns:a16="http://schemas.microsoft.com/office/drawing/2014/main" id="{EA8590B6-001E-E7FA-C91E-6684CAB2CE42}"/>
              </a:ext>
            </a:extLst>
          </p:cNvPr>
          <p:cNvSpPr/>
          <p:nvPr/>
        </p:nvSpPr>
        <p:spPr>
          <a:xfrm>
            <a:off x="1534778" y="1490330"/>
            <a:ext cx="21547" cy="17160"/>
          </a:xfrm>
          <a:custGeom>
            <a:avLst/>
            <a:gdLst/>
            <a:ahLst/>
            <a:cxnLst/>
            <a:rect l="l" t="t" r="r" b="b"/>
            <a:pathLst>
              <a:path w="21547" h="17160">
                <a:moveTo>
                  <a:pt x="0" y="17160"/>
                </a:moveTo>
                <a:lnTo>
                  <a:pt x="21547" y="15655"/>
                </a:lnTo>
                <a:lnTo>
                  <a:pt x="13117" y="0"/>
                </a:lnTo>
                <a:close/>
              </a:path>
            </a:pathLst>
          </a:custGeom>
          <a:solidFill>
            <a:srgbClr val="4083B4"/>
          </a:solidFill>
          <a:ln w="0" cap="rnd">
            <a:noFill/>
          </a:ln>
        </p:spPr>
      </p:sp>
      <p:sp>
        <p:nvSpPr>
          <p:cNvPr id="1453" name="V8 embedding neighbor 3">
            <a:extLst>
              <a:ext uri="{FF2B5EF4-FFF2-40B4-BE49-F238E27FC236}">
                <a16:creationId xmlns:a16="http://schemas.microsoft.com/office/drawing/2014/main" id="{122DFBAE-E742-85F4-F8BE-661BC7410AFC}"/>
              </a:ext>
            </a:extLst>
          </p:cNvPr>
          <p:cNvSpPr/>
          <p:nvPr/>
        </p:nvSpPr>
        <p:spPr>
          <a:xfrm>
            <a:off x="1673208" y="1426210"/>
            <a:ext cx="27940" cy="27940"/>
          </a:xfrm>
          <a:prstGeom prst="ellipse">
            <a:avLst/>
          </a:prstGeom>
          <a:noFill/>
          <a:ln w="7112" cap="rnd">
            <a:solidFill>
              <a:srgbClr val="4083B4"/>
            </a:solidFill>
            <a:prstDash val="solid"/>
            <a:round/>
          </a:ln>
        </p:spPr>
      </p:sp>
      <p:sp>
        <p:nvSpPr>
          <p:cNvPr id="1454" name="V8 embedding curved aggregation">
            <a:extLst>
              <a:ext uri="{FF2B5EF4-FFF2-40B4-BE49-F238E27FC236}">
                <a16:creationId xmlns:a16="http://schemas.microsoft.com/office/drawing/2014/main" id="{90CEAB6E-EBCA-9F13-36DE-C928BA671D5A}"/>
              </a:ext>
            </a:extLst>
          </p:cNvPr>
          <p:cNvSpPr/>
          <p:nvPr/>
        </p:nvSpPr>
        <p:spPr>
          <a:xfrm>
            <a:off x="1392538" y="1503680"/>
            <a:ext cx="77470" cy="107970"/>
          </a:xfrm>
          <a:custGeom>
            <a:avLst/>
            <a:gdLst/>
            <a:ahLst/>
            <a:cxnLst/>
            <a:rect l="l" t="t" r="r" b="b"/>
            <a:pathLst>
              <a:path w="77470" h="107970">
                <a:moveTo>
                  <a:pt x="17311" y="107970"/>
                </a:moveTo>
                <a:cubicBezTo>
                  <a:pt x="0" y="29210"/>
                  <a:pt x="35560" y="0"/>
                  <a:pt x="77470" y="12700"/>
                </a:cubicBezTo>
              </a:path>
            </a:pathLst>
          </a:custGeom>
          <a:noFill/>
          <a:ln w="8890" cap="rnd">
            <a:solidFill>
              <a:srgbClr val="4083B4"/>
            </a:solidFill>
            <a:prstDash val="solid"/>
            <a:round/>
          </a:ln>
        </p:spPr>
      </p:sp>
      <p:sp>
        <p:nvSpPr>
          <p:cNvPr id="1455" name="V8 embedding curved aggregation tip">
            <a:extLst>
              <a:ext uri="{FF2B5EF4-FFF2-40B4-BE49-F238E27FC236}">
                <a16:creationId xmlns:a16="http://schemas.microsoft.com/office/drawing/2014/main" id="{4871021E-0B37-6092-4FB6-FB482931253B}"/>
              </a:ext>
            </a:extLst>
          </p:cNvPr>
          <p:cNvSpPr/>
          <p:nvPr/>
        </p:nvSpPr>
        <p:spPr>
          <a:xfrm>
            <a:off x="1470008" y="1516380"/>
            <a:ext cx="6039" cy="3020"/>
          </a:xfrm>
          <a:custGeom>
            <a:avLst/>
            <a:gdLst/>
            <a:ahLst/>
            <a:cxnLst/>
            <a:rect l="l" t="t" r="r" b="b"/>
            <a:pathLst>
              <a:path w="6039" h="3020">
                <a:moveTo>
                  <a:pt x="0" y="0"/>
                </a:moveTo>
                <a:lnTo>
                  <a:pt x="6039" y="3020"/>
                </a:lnTo>
              </a:path>
            </a:pathLst>
          </a:custGeom>
          <a:noFill/>
          <a:ln w="8890" cap="rnd">
            <a:solidFill>
              <a:srgbClr val="9481B1"/>
            </a:solidFill>
            <a:prstDash val="solid"/>
            <a:round/>
          </a:ln>
        </p:spPr>
      </p:sp>
      <p:sp>
        <p:nvSpPr>
          <p:cNvPr id="1456" name="V8 embedding curved aggregation tip head">
            <a:extLst>
              <a:ext uri="{FF2B5EF4-FFF2-40B4-BE49-F238E27FC236}">
                <a16:creationId xmlns:a16="http://schemas.microsoft.com/office/drawing/2014/main" id="{86BC3798-BFD4-0C2D-6F96-1C5CADB6D7BE}"/>
              </a:ext>
            </a:extLst>
          </p:cNvPr>
          <p:cNvSpPr/>
          <p:nvPr/>
        </p:nvSpPr>
        <p:spPr>
          <a:xfrm>
            <a:off x="1460116" y="1504405"/>
            <a:ext cx="25132" cy="19595"/>
          </a:xfrm>
          <a:custGeom>
            <a:avLst/>
            <a:gdLst/>
            <a:ahLst/>
            <a:cxnLst/>
            <a:rect l="l" t="t" r="r" b="b"/>
            <a:pathLst>
              <a:path w="25132" h="19595">
                <a:moveTo>
                  <a:pt x="25132" y="19595"/>
                </a:moveTo>
                <a:lnTo>
                  <a:pt x="9371" y="0"/>
                </a:lnTo>
                <a:lnTo>
                  <a:pt x="0" y="18743"/>
                </a:lnTo>
                <a:close/>
              </a:path>
            </a:pathLst>
          </a:custGeom>
          <a:solidFill>
            <a:srgbClr val="4083B4"/>
          </a:solidFill>
          <a:ln w="0" cap="rnd">
            <a:solidFill>
              <a:srgbClr val="4083B4"/>
            </a:solidFill>
          </a:ln>
        </p:spPr>
      </p:sp>
      <p:sp>
        <p:nvSpPr>
          <p:cNvPr id="1457" name="V8 embedding neighbor 4">
            <a:extLst>
              <a:ext uri="{FF2B5EF4-FFF2-40B4-BE49-F238E27FC236}">
                <a16:creationId xmlns:a16="http://schemas.microsoft.com/office/drawing/2014/main" id="{AEADE014-9292-2360-C2CE-F8C845E8BCFD}"/>
              </a:ext>
            </a:extLst>
          </p:cNvPr>
          <p:cNvSpPr/>
          <p:nvPr/>
        </p:nvSpPr>
        <p:spPr>
          <a:xfrm>
            <a:off x="1377933" y="1607185"/>
            <a:ext cx="31750" cy="31750"/>
          </a:xfrm>
          <a:prstGeom prst="ellipse">
            <a:avLst/>
          </a:prstGeom>
          <a:noFill/>
          <a:ln w="7112" cap="rnd">
            <a:solidFill>
              <a:srgbClr val="4083B4"/>
            </a:solidFill>
            <a:prstDash val="solid"/>
            <a:round/>
          </a:ln>
        </p:spPr>
      </p:sp>
      <p:sp>
        <p:nvSpPr>
          <p:cNvPr id="1458" name="V8 embedding neighbor 5 to center">
            <a:extLst>
              <a:ext uri="{FF2B5EF4-FFF2-40B4-BE49-F238E27FC236}">
                <a16:creationId xmlns:a16="http://schemas.microsoft.com/office/drawing/2014/main" id="{88F2ECE0-BE4E-6B10-0F14-901F5AD31AE6}"/>
              </a:ext>
            </a:extLst>
          </p:cNvPr>
          <p:cNvSpPr/>
          <p:nvPr/>
        </p:nvSpPr>
        <p:spPr>
          <a:xfrm>
            <a:off x="1508228" y="1576570"/>
            <a:ext cx="5857" cy="82734"/>
          </a:xfrm>
          <a:custGeom>
            <a:avLst/>
            <a:gdLst/>
            <a:ahLst/>
            <a:cxnLst/>
            <a:rect l="l" t="t" r="r" b="b"/>
            <a:pathLst>
              <a:path w="5857" h="82734">
                <a:moveTo>
                  <a:pt x="0" y="82734"/>
                </a:moveTo>
                <a:lnTo>
                  <a:pt x="5857" y="0"/>
                </a:lnTo>
              </a:path>
            </a:pathLst>
          </a:custGeom>
          <a:noFill/>
          <a:ln w="5842" cap="rnd">
            <a:solidFill>
              <a:srgbClr val="4083B4"/>
            </a:solidFill>
            <a:prstDash val="solid"/>
            <a:round/>
          </a:ln>
        </p:spPr>
      </p:sp>
      <p:sp>
        <p:nvSpPr>
          <p:cNvPr id="1459" name="V8 embedding neighbor 5 to center head">
            <a:extLst>
              <a:ext uri="{FF2B5EF4-FFF2-40B4-BE49-F238E27FC236}">
                <a16:creationId xmlns:a16="http://schemas.microsoft.com/office/drawing/2014/main" id="{4E579011-FEC4-00D3-7546-C5CB388C9A0A}"/>
              </a:ext>
            </a:extLst>
          </p:cNvPr>
          <p:cNvSpPr/>
          <p:nvPr/>
        </p:nvSpPr>
        <p:spPr>
          <a:xfrm>
            <a:off x="1504453" y="1567734"/>
            <a:ext cx="17736" cy="20264"/>
          </a:xfrm>
          <a:custGeom>
            <a:avLst/>
            <a:gdLst/>
            <a:ahLst/>
            <a:cxnLst/>
            <a:rect l="l" t="t" r="r" b="b"/>
            <a:pathLst>
              <a:path w="17736" h="20264">
                <a:moveTo>
                  <a:pt x="10258" y="0"/>
                </a:moveTo>
                <a:lnTo>
                  <a:pt x="0" y="19008"/>
                </a:lnTo>
                <a:lnTo>
                  <a:pt x="17736" y="20264"/>
                </a:lnTo>
                <a:close/>
              </a:path>
            </a:pathLst>
          </a:custGeom>
          <a:solidFill>
            <a:srgbClr val="4083B4"/>
          </a:solidFill>
          <a:ln w="0" cap="rnd">
            <a:solidFill>
              <a:srgbClr val="4083B4"/>
            </a:solidFill>
          </a:ln>
        </p:spPr>
      </p:sp>
      <p:sp>
        <p:nvSpPr>
          <p:cNvPr id="1460" name="V8 embedding neighbor 5">
            <a:extLst>
              <a:ext uri="{FF2B5EF4-FFF2-40B4-BE49-F238E27FC236}">
                <a16:creationId xmlns:a16="http://schemas.microsoft.com/office/drawing/2014/main" id="{80A6CA00-4D1C-000D-C0AF-7F59BA21FF45}"/>
              </a:ext>
            </a:extLst>
          </p:cNvPr>
          <p:cNvSpPr/>
          <p:nvPr/>
        </p:nvSpPr>
        <p:spPr>
          <a:xfrm>
            <a:off x="1492233" y="1664335"/>
            <a:ext cx="29210" cy="29210"/>
          </a:xfrm>
          <a:prstGeom prst="ellipse">
            <a:avLst/>
          </a:prstGeom>
          <a:noFill/>
          <a:ln w="7112" cap="rnd">
            <a:solidFill>
              <a:srgbClr val="4083B4"/>
            </a:solidFill>
            <a:prstDash val="solid"/>
            <a:round/>
          </a:ln>
        </p:spPr>
      </p:sp>
      <p:sp>
        <p:nvSpPr>
          <p:cNvPr id="1461" name="V8 embedding center">
            <a:extLst>
              <a:ext uri="{FF2B5EF4-FFF2-40B4-BE49-F238E27FC236}">
                <a16:creationId xmlns:a16="http://schemas.microsoft.com/office/drawing/2014/main" id="{0973F1A0-63C8-796C-8269-8DC9810E39E1}"/>
              </a:ext>
            </a:extLst>
          </p:cNvPr>
          <p:cNvSpPr/>
          <p:nvPr/>
        </p:nvSpPr>
        <p:spPr>
          <a:xfrm>
            <a:off x="1494773" y="1513205"/>
            <a:ext cx="44450" cy="44450"/>
          </a:xfrm>
          <a:prstGeom prst="ellipse">
            <a:avLst/>
          </a:prstGeom>
          <a:noFill/>
          <a:ln w="9906" cap="rnd">
            <a:solidFill>
              <a:srgbClr val="3B8C80"/>
            </a:solidFill>
            <a:prstDash val="solid"/>
            <a:round/>
          </a:ln>
        </p:spPr>
      </p:sp>
      <p:sp>
        <p:nvSpPr>
          <p:cNvPr id="1462" name="V8 embedding feature 1">
            <a:extLst>
              <a:ext uri="{FF2B5EF4-FFF2-40B4-BE49-F238E27FC236}">
                <a16:creationId xmlns:a16="http://schemas.microsoft.com/office/drawing/2014/main" id="{FE0417EE-6828-F09F-AACE-DE1F76BE3EB6}"/>
              </a:ext>
            </a:extLst>
          </p:cNvPr>
          <p:cNvSpPr/>
          <p:nvPr/>
        </p:nvSpPr>
        <p:spPr>
          <a:xfrm>
            <a:off x="1548748" y="1518285"/>
            <a:ext cx="18415" cy="34290"/>
          </a:xfrm>
          <a:prstGeom prst="rect">
            <a:avLst/>
          </a:prstGeom>
          <a:solidFill>
            <a:srgbClr val="3E8F9A"/>
          </a:solidFill>
          <a:ln w="0" cap="rnd">
            <a:noFill/>
          </a:ln>
        </p:spPr>
      </p:sp>
      <p:sp>
        <p:nvSpPr>
          <p:cNvPr id="1463" name="V8 embedding feature 2">
            <a:extLst>
              <a:ext uri="{FF2B5EF4-FFF2-40B4-BE49-F238E27FC236}">
                <a16:creationId xmlns:a16="http://schemas.microsoft.com/office/drawing/2014/main" id="{28DF18A8-B7D6-40CC-F8D0-1CE005F88971}"/>
              </a:ext>
            </a:extLst>
          </p:cNvPr>
          <p:cNvSpPr/>
          <p:nvPr/>
        </p:nvSpPr>
        <p:spPr>
          <a:xfrm>
            <a:off x="1568433" y="1518285"/>
            <a:ext cx="18415" cy="34290"/>
          </a:xfrm>
          <a:prstGeom prst="rect">
            <a:avLst/>
          </a:prstGeom>
          <a:solidFill>
            <a:srgbClr val="88BEC3"/>
          </a:solidFill>
          <a:ln w="0" cap="rnd">
            <a:noFill/>
          </a:ln>
        </p:spPr>
      </p:sp>
      <p:sp>
        <p:nvSpPr>
          <p:cNvPr id="1464" name="V8 embedding feature 3">
            <a:extLst>
              <a:ext uri="{FF2B5EF4-FFF2-40B4-BE49-F238E27FC236}">
                <a16:creationId xmlns:a16="http://schemas.microsoft.com/office/drawing/2014/main" id="{D8B2548F-FDCB-962F-D116-8194E608D854}"/>
              </a:ext>
            </a:extLst>
          </p:cNvPr>
          <p:cNvSpPr/>
          <p:nvPr/>
        </p:nvSpPr>
        <p:spPr>
          <a:xfrm>
            <a:off x="1588118" y="1518285"/>
            <a:ext cx="18415" cy="34290"/>
          </a:xfrm>
          <a:prstGeom prst="rect">
            <a:avLst/>
          </a:prstGeom>
          <a:solidFill>
            <a:srgbClr val="67AD9F"/>
          </a:solidFill>
          <a:ln w="0" cap="rnd">
            <a:noFill/>
          </a:ln>
        </p:spPr>
      </p:sp>
      <p:sp>
        <p:nvSpPr>
          <p:cNvPr id="1465" name="V8 embedding feature 4">
            <a:extLst>
              <a:ext uri="{FF2B5EF4-FFF2-40B4-BE49-F238E27FC236}">
                <a16:creationId xmlns:a16="http://schemas.microsoft.com/office/drawing/2014/main" id="{4DB56FF7-AE6A-29C2-0D4E-A50B4A01B329}"/>
              </a:ext>
            </a:extLst>
          </p:cNvPr>
          <p:cNvSpPr/>
          <p:nvPr/>
        </p:nvSpPr>
        <p:spPr>
          <a:xfrm>
            <a:off x="1607803" y="1518285"/>
            <a:ext cx="18415" cy="34290"/>
          </a:xfrm>
          <a:prstGeom prst="rect">
            <a:avLst/>
          </a:prstGeom>
          <a:solidFill>
            <a:srgbClr val="B6D8CC"/>
          </a:solidFill>
          <a:ln w="0" cap="rnd">
            <a:noFill/>
          </a:ln>
        </p:spPr>
      </p:sp>
      <p:sp>
        <p:nvSpPr>
          <p:cNvPr id="1466" name="V8 embedding feature 5">
            <a:extLst>
              <a:ext uri="{FF2B5EF4-FFF2-40B4-BE49-F238E27FC236}">
                <a16:creationId xmlns:a16="http://schemas.microsoft.com/office/drawing/2014/main" id="{0834D08B-BC25-2ADC-AF12-5492513577F8}"/>
              </a:ext>
            </a:extLst>
          </p:cNvPr>
          <p:cNvSpPr/>
          <p:nvPr/>
        </p:nvSpPr>
        <p:spPr>
          <a:xfrm>
            <a:off x="1627488" y="1518285"/>
            <a:ext cx="18415" cy="34290"/>
          </a:xfrm>
          <a:prstGeom prst="rect">
            <a:avLst/>
          </a:prstGeom>
          <a:solidFill>
            <a:srgbClr val="3B8C80"/>
          </a:solidFill>
          <a:ln w="0" cap="rnd">
            <a:noFill/>
          </a:ln>
        </p:spPr>
      </p:sp>
      <p:sp>
        <p:nvSpPr>
          <p:cNvPr id="1467" name="V8 embedding feature 6">
            <a:extLst>
              <a:ext uri="{FF2B5EF4-FFF2-40B4-BE49-F238E27FC236}">
                <a16:creationId xmlns:a16="http://schemas.microsoft.com/office/drawing/2014/main" id="{7EDE9E92-6EF0-3023-2F22-6E7EFD9706C6}"/>
              </a:ext>
            </a:extLst>
          </p:cNvPr>
          <p:cNvSpPr/>
          <p:nvPr/>
        </p:nvSpPr>
        <p:spPr>
          <a:xfrm>
            <a:off x="1647173" y="1518285"/>
            <a:ext cx="18415" cy="34290"/>
          </a:xfrm>
          <a:prstGeom prst="rect">
            <a:avLst/>
          </a:prstGeom>
          <a:solidFill>
            <a:srgbClr val="A3CDDA"/>
          </a:solidFill>
          <a:ln w="0" cap="rnd">
            <a:noFill/>
          </a:ln>
        </p:spPr>
      </p:sp>
      <p:sp>
        <p:nvSpPr>
          <p:cNvPr id="1468" name="V8 embedding feature 7">
            <a:extLst>
              <a:ext uri="{FF2B5EF4-FFF2-40B4-BE49-F238E27FC236}">
                <a16:creationId xmlns:a16="http://schemas.microsoft.com/office/drawing/2014/main" id="{3791BD29-2650-00D8-2639-94010AF8036F}"/>
              </a:ext>
            </a:extLst>
          </p:cNvPr>
          <p:cNvSpPr/>
          <p:nvPr/>
        </p:nvSpPr>
        <p:spPr>
          <a:xfrm>
            <a:off x="1666858" y="1518285"/>
            <a:ext cx="18415" cy="34290"/>
          </a:xfrm>
          <a:prstGeom prst="rect">
            <a:avLst/>
          </a:prstGeom>
          <a:solidFill>
            <a:srgbClr val="6CAFA4"/>
          </a:solidFill>
          <a:ln w="0" cap="rnd">
            <a:noFill/>
          </a:ln>
        </p:spPr>
      </p:sp>
      <p:sp>
        <p:nvSpPr>
          <p:cNvPr id="1469" name="V8 embedding feature 8">
            <a:extLst>
              <a:ext uri="{FF2B5EF4-FFF2-40B4-BE49-F238E27FC236}">
                <a16:creationId xmlns:a16="http://schemas.microsoft.com/office/drawing/2014/main" id="{78D40256-09DE-A393-64FC-199BB5DEB767}"/>
              </a:ext>
            </a:extLst>
          </p:cNvPr>
          <p:cNvSpPr/>
          <p:nvPr/>
        </p:nvSpPr>
        <p:spPr>
          <a:xfrm>
            <a:off x="1686543" y="1518285"/>
            <a:ext cx="18415" cy="34290"/>
          </a:xfrm>
          <a:prstGeom prst="rect">
            <a:avLst/>
          </a:prstGeom>
          <a:solidFill>
            <a:srgbClr val="C4DDE0"/>
          </a:solidFill>
          <a:ln w="0" cap="rnd">
            <a:noFill/>
          </a:ln>
        </p:spPr>
      </p:sp>
      <p:sp>
        <p:nvSpPr>
          <p:cNvPr id="1471" name="V8 embedding to point branch">
            <a:extLst>
              <a:ext uri="{FF2B5EF4-FFF2-40B4-BE49-F238E27FC236}">
                <a16:creationId xmlns:a16="http://schemas.microsoft.com/office/drawing/2014/main" id="{CD0EF799-B1E4-C26B-BB25-441BB97890BE}"/>
              </a:ext>
            </a:extLst>
          </p:cNvPr>
          <p:cNvSpPr/>
          <p:nvPr/>
        </p:nvSpPr>
        <p:spPr>
          <a:xfrm flipV="1">
            <a:off x="1767191" y="1469001"/>
            <a:ext cx="157162" cy="66614"/>
          </a:xfrm>
          <a:custGeom>
            <a:avLst/>
            <a:gdLst/>
            <a:ahLst/>
            <a:cxnLst/>
            <a:rect l="l" t="t" r="r" b="b"/>
            <a:pathLst>
              <a:path w="63379" h="1">
                <a:moveTo>
                  <a:pt x="0" y="0"/>
                </a:moveTo>
                <a:lnTo>
                  <a:pt x="63379" y="0"/>
                </a:lnTo>
              </a:path>
            </a:pathLst>
          </a:custGeom>
          <a:noFill/>
          <a:ln w="8509" cap="rnd">
            <a:solidFill>
              <a:srgbClr val="77828C"/>
            </a:solidFill>
            <a:prstDash val="solid"/>
            <a:round/>
          </a:ln>
        </p:spPr>
      </p:sp>
      <p:sp>
        <p:nvSpPr>
          <p:cNvPr id="1472" name="V8 embedding to point branch head">
            <a:extLst>
              <a:ext uri="{FF2B5EF4-FFF2-40B4-BE49-F238E27FC236}">
                <a16:creationId xmlns:a16="http://schemas.microsoft.com/office/drawing/2014/main" id="{EE5B1593-BB31-DCD1-99C7-141C7B857AF7}"/>
              </a:ext>
            </a:extLst>
          </p:cNvPr>
          <p:cNvSpPr/>
          <p:nvPr/>
        </p:nvSpPr>
        <p:spPr>
          <a:xfrm>
            <a:off x="1909057" y="1523745"/>
            <a:ext cx="28321" cy="24384"/>
          </a:xfrm>
          <a:custGeom>
            <a:avLst/>
            <a:gdLst/>
            <a:ahLst/>
            <a:cxnLst/>
            <a:rect l="l" t="t" r="r" b="b"/>
            <a:pathLst>
              <a:path w="28321" h="24384">
                <a:moveTo>
                  <a:pt x="28321" y="12192"/>
                </a:moveTo>
                <a:lnTo>
                  <a:pt x="0" y="0"/>
                </a:lnTo>
                <a:lnTo>
                  <a:pt x="0" y="24384"/>
                </a:lnTo>
                <a:close/>
              </a:path>
            </a:pathLst>
          </a:custGeom>
          <a:solidFill>
            <a:srgbClr val="77828C"/>
          </a:solidFill>
          <a:ln w="0" cap="rnd">
            <a:solidFill>
              <a:srgbClr val="77828C"/>
            </a:solidFill>
          </a:ln>
        </p:spPr>
      </p:sp>
      <p:sp>
        <p:nvSpPr>
          <p:cNvPr id="1473" name="V8 embedding to voxel branch">
            <a:extLst>
              <a:ext uri="{FF2B5EF4-FFF2-40B4-BE49-F238E27FC236}">
                <a16:creationId xmlns:a16="http://schemas.microsoft.com/office/drawing/2014/main" id="{A9E148F4-6BCA-77FF-AE43-549D2AE883D5}"/>
              </a:ext>
            </a:extLst>
          </p:cNvPr>
          <p:cNvSpPr/>
          <p:nvPr/>
        </p:nvSpPr>
        <p:spPr>
          <a:xfrm flipH="1">
            <a:off x="1787927" y="835707"/>
            <a:ext cx="45719" cy="699723"/>
          </a:xfrm>
          <a:custGeom>
            <a:avLst/>
            <a:gdLst/>
            <a:ahLst/>
            <a:cxnLst/>
            <a:rect l="l" t="t" r="r" b="b"/>
            <a:pathLst>
              <a:path w="1" h="866159">
                <a:moveTo>
                  <a:pt x="0" y="866159"/>
                </a:moveTo>
                <a:lnTo>
                  <a:pt x="0" y="0"/>
                </a:lnTo>
              </a:path>
            </a:pathLst>
          </a:custGeom>
          <a:noFill/>
          <a:ln w="8509" cap="rnd">
            <a:solidFill>
              <a:srgbClr val="77828C"/>
            </a:solidFill>
            <a:prstDash val="solid"/>
            <a:round/>
          </a:ln>
        </p:spPr>
      </p:sp>
      <p:sp>
        <p:nvSpPr>
          <p:cNvPr id="1475" name="V8 density and receptor to voxel">
            <a:extLst>
              <a:ext uri="{FF2B5EF4-FFF2-40B4-BE49-F238E27FC236}">
                <a16:creationId xmlns:a16="http://schemas.microsoft.com/office/drawing/2014/main" id="{61ECA984-FF9D-A5D0-F819-33661D001ABE}"/>
              </a:ext>
            </a:extLst>
          </p:cNvPr>
          <p:cNvSpPr/>
          <p:nvPr/>
        </p:nvSpPr>
        <p:spPr>
          <a:xfrm flipV="1">
            <a:off x="1767284" y="610807"/>
            <a:ext cx="148072" cy="45719"/>
          </a:xfrm>
          <a:custGeom>
            <a:avLst/>
            <a:gdLst/>
            <a:ahLst/>
            <a:cxnLst/>
            <a:rect l="l" t="t" r="r" b="b"/>
            <a:pathLst>
              <a:path w="96730" h="1">
                <a:moveTo>
                  <a:pt x="0" y="0"/>
                </a:moveTo>
                <a:lnTo>
                  <a:pt x="96730" y="0"/>
                </a:lnTo>
              </a:path>
            </a:pathLst>
          </a:custGeom>
          <a:noFill/>
          <a:ln w="8509" cap="rnd">
            <a:solidFill>
              <a:srgbClr val="77828C"/>
            </a:solidFill>
            <a:prstDash val="solid"/>
            <a:round/>
          </a:ln>
        </p:spPr>
      </p:sp>
      <p:sp>
        <p:nvSpPr>
          <p:cNvPr id="1476" name="V8 density and receptor to voxel head">
            <a:extLst>
              <a:ext uri="{FF2B5EF4-FFF2-40B4-BE49-F238E27FC236}">
                <a16:creationId xmlns:a16="http://schemas.microsoft.com/office/drawing/2014/main" id="{D6CAD338-44F5-8993-3618-9A1839CB2DBC}"/>
              </a:ext>
            </a:extLst>
          </p:cNvPr>
          <p:cNvSpPr/>
          <p:nvPr/>
        </p:nvSpPr>
        <p:spPr>
          <a:xfrm>
            <a:off x="1904526" y="644334"/>
            <a:ext cx="28321" cy="24384"/>
          </a:xfrm>
          <a:custGeom>
            <a:avLst/>
            <a:gdLst/>
            <a:ahLst/>
            <a:cxnLst/>
            <a:rect l="l" t="t" r="r" b="b"/>
            <a:pathLst>
              <a:path w="28321" h="24384">
                <a:moveTo>
                  <a:pt x="28321" y="12192"/>
                </a:moveTo>
                <a:lnTo>
                  <a:pt x="0" y="0"/>
                </a:lnTo>
                <a:lnTo>
                  <a:pt x="0" y="24384"/>
                </a:lnTo>
                <a:close/>
              </a:path>
            </a:pathLst>
          </a:custGeom>
          <a:solidFill>
            <a:srgbClr val="77828C"/>
          </a:solidFill>
          <a:ln w="0" cap="rnd">
            <a:noFill/>
          </a:ln>
        </p:spPr>
      </p:sp>
      <p:sp>
        <p:nvSpPr>
          <p:cNvPr id="1479" name="V8 Match input divider">
            <a:extLst>
              <a:ext uri="{FF2B5EF4-FFF2-40B4-BE49-F238E27FC236}">
                <a16:creationId xmlns:a16="http://schemas.microsoft.com/office/drawing/2014/main" id="{2EDC4EC7-D903-3262-650D-444D37299D28}"/>
              </a:ext>
            </a:extLst>
          </p:cNvPr>
          <p:cNvSpPr/>
          <p:nvPr/>
        </p:nvSpPr>
        <p:spPr>
          <a:xfrm>
            <a:off x="596155" y="2767063"/>
            <a:ext cx="957199" cy="1"/>
          </a:xfrm>
          <a:custGeom>
            <a:avLst/>
            <a:gdLst/>
            <a:ahLst/>
            <a:cxnLst/>
            <a:rect l="l" t="t" r="r" b="b"/>
            <a:pathLst>
              <a:path w="957199" h="1">
                <a:moveTo>
                  <a:pt x="0" y="0"/>
                </a:moveTo>
                <a:lnTo>
                  <a:pt x="957199" y="0"/>
                </a:lnTo>
              </a:path>
            </a:pathLst>
          </a:custGeom>
          <a:noFill/>
          <a:ln w="7290" cap="rnd">
            <a:solidFill>
              <a:srgbClr val="B6CEC5"/>
            </a:solidFill>
            <a:prstDash val="solid"/>
            <a:round/>
          </a:ln>
        </p:spPr>
      </p:sp>
      <p:sp>
        <p:nvSpPr>
          <p:cNvPr id="1480" name="V8 pool to concat">
            <a:extLst>
              <a:ext uri="{FF2B5EF4-FFF2-40B4-BE49-F238E27FC236}">
                <a16:creationId xmlns:a16="http://schemas.microsoft.com/office/drawing/2014/main" id="{3702663D-F294-9B06-B213-0076F82464A6}"/>
              </a:ext>
            </a:extLst>
          </p:cNvPr>
          <p:cNvSpPr/>
          <p:nvPr/>
        </p:nvSpPr>
        <p:spPr>
          <a:xfrm>
            <a:off x="917331" y="3603168"/>
            <a:ext cx="355873" cy="100152"/>
          </a:xfrm>
          <a:custGeom>
            <a:avLst/>
            <a:gdLst/>
            <a:ahLst/>
            <a:cxnLst/>
            <a:rect l="l" t="t" r="r" b="b"/>
            <a:pathLst>
              <a:path w="355873" h="100152">
                <a:moveTo>
                  <a:pt x="0" y="0"/>
                </a:moveTo>
                <a:lnTo>
                  <a:pt x="0" y="100152"/>
                </a:lnTo>
                <a:lnTo>
                  <a:pt x="355873" y="100152"/>
                </a:lnTo>
              </a:path>
            </a:pathLst>
          </a:custGeom>
          <a:noFill/>
          <a:ln w="8509" cap="rnd">
            <a:solidFill>
              <a:srgbClr val="77828C"/>
            </a:solidFill>
            <a:prstDash val="solid"/>
            <a:round/>
          </a:ln>
        </p:spPr>
      </p:sp>
      <p:sp>
        <p:nvSpPr>
          <p:cNvPr id="1481" name="V8 attention to concat">
            <a:extLst>
              <a:ext uri="{FF2B5EF4-FFF2-40B4-BE49-F238E27FC236}">
                <a16:creationId xmlns:a16="http://schemas.microsoft.com/office/drawing/2014/main" id="{45C4FCB5-3380-E3A8-B0B1-54A427F52361}"/>
              </a:ext>
            </a:extLst>
          </p:cNvPr>
          <p:cNvSpPr/>
          <p:nvPr/>
        </p:nvSpPr>
        <p:spPr>
          <a:xfrm>
            <a:off x="1273204" y="3603168"/>
            <a:ext cx="356064" cy="100152"/>
          </a:xfrm>
          <a:custGeom>
            <a:avLst/>
            <a:gdLst/>
            <a:ahLst/>
            <a:cxnLst/>
            <a:rect l="l" t="t" r="r" b="b"/>
            <a:pathLst>
              <a:path w="356064" h="100152">
                <a:moveTo>
                  <a:pt x="356064" y="0"/>
                </a:moveTo>
                <a:lnTo>
                  <a:pt x="356064" y="100152"/>
                </a:lnTo>
                <a:lnTo>
                  <a:pt x="0" y="100152"/>
                </a:lnTo>
              </a:path>
            </a:pathLst>
          </a:custGeom>
          <a:noFill/>
          <a:ln w="8509" cap="rnd">
            <a:solidFill>
              <a:srgbClr val="77828C"/>
            </a:solidFill>
            <a:prstDash val="solid"/>
            <a:round/>
          </a:ln>
        </p:spPr>
      </p:sp>
      <p:sp>
        <p:nvSpPr>
          <p:cNvPr id="1482" name="V8 concat to MLP">
            <a:extLst>
              <a:ext uri="{FF2B5EF4-FFF2-40B4-BE49-F238E27FC236}">
                <a16:creationId xmlns:a16="http://schemas.microsoft.com/office/drawing/2014/main" id="{366946BB-F669-FC2F-4DBA-809EA592E5E1}"/>
              </a:ext>
            </a:extLst>
          </p:cNvPr>
          <p:cNvSpPr/>
          <p:nvPr/>
        </p:nvSpPr>
        <p:spPr>
          <a:xfrm>
            <a:off x="1273204" y="3703320"/>
            <a:ext cx="1" cy="22181"/>
          </a:xfrm>
          <a:custGeom>
            <a:avLst/>
            <a:gdLst/>
            <a:ahLst/>
            <a:cxnLst/>
            <a:rect l="l" t="t" r="r" b="b"/>
            <a:pathLst>
              <a:path w="1" h="22181">
                <a:moveTo>
                  <a:pt x="0" y="0"/>
                </a:moveTo>
                <a:lnTo>
                  <a:pt x="0" y="22181"/>
                </a:lnTo>
              </a:path>
            </a:pathLst>
          </a:custGeom>
          <a:noFill/>
          <a:ln w="8509" cap="rnd">
            <a:solidFill>
              <a:srgbClr val="77828C"/>
            </a:solidFill>
            <a:prstDash val="solid"/>
            <a:round/>
          </a:ln>
        </p:spPr>
      </p:sp>
      <p:sp>
        <p:nvSpPr>
          <p:cNvPr id="1483" name="V8 concat to MLP head">
            <a:extLst>
              <a:ext uri="{FF2B5EF4-FFF2-40B4-BE49-F238E27FC236}">
                <a16:creationId xmlns:a16="http://schemas.microsoft.com/office/drawing/2014/main" id="{234835D4-EF31-832C-586B-712FBD8CEB61}"/>
              </a:ext>
            </a:extLst>
          </p:cNvPr>
          <p:cNvSpPr/>
          <p:nvPr/>
        </p:nvSpPr>
        <p:spPr>
          <a:xfrm>
            <a:off x="1261012" y="3709924"/>
            <a:ext cx="24384" cy="28321"/>
          </a:xfrm>
          <a:custGeom>
            <a:avLst/>
            <a:gdLst/>
            <a:ahLst/>
            <a:cxnLst/>
            <a:rect l="l" t="t" r="r" b="b"/>
            <a:pathLst>
              <a:path w="24384" h="28321">
                <a:moveTo>
                  <a:pt x="12192" y="28321"/>
                </a:moveTo>
                <a:lnTo>
                  <a:pt x="24384" y="0"/>
                </a:lnTo>
                <a:lnTo>
                  <a:pt x="0" y="0"/>
                </a:lnTo>
                <a:close/>
              </a:path>
            </a:pathLst>
          </a:custGeom>
          <a:solidFill>
            <a:srgbClr val="77828C"/>
          </a:solidFill>
          <a:ln w="0" cap="rnd">
            <a:noFill/>
          </a:ln>
        </p:spPr>
      </p:sp>
      <p:grpSp>
        <p:nvGrpSpPr>
          <p:cNvPr id="6" name="Find candidate blob 2">
            <a:extLst>
              <a:ext uri="{FF2B5EF4-FFF2-40B4-BE49-F238E27FC236}">
                <a16:creationId xmlns:a16="http://schemas.microsoft.com/office/drawing/2014/main" id="{52582F41-8562-EDCF-D547-FEE06D78B091}"/>
              </a:ext>
            </a:extLst>
          </p:cNvPr>
          <p:cNvGrpSpPr/>
          <p:nvPr/>
        </p:nvGrpSpPr>
        <p:grpSpPr>
          <a:xfrm rot="3197729">
            <a:off x="4553030" y="901286"/>
            <a:ext cx="140909" cy="118817"/>
            <a:chOff x="1928706" y="3559489"/>
            <a:chExt cx="227897" cy="155682"/>
          </a:xfrm>
        </p:grpSpPr>
        <p:sp>
          <p:nvSpPr>
            <p:cNvPr id="16" name="Candidate blob | editable contour">
              <a:extLst>
                <a:ext uri="{FF2B5EF4-FFF2-40B4-BE49-F238E27FC236}">
                  <a16:creationId xmlns:a16="http://schemas.microsoft.com/office/drawing/2014/main" id="{AC599FE5-B7C8-2310-361D-307EF409B159}"/>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17" name="ellipse_2612">
              <a:extLst>
                <a:ext uri="{FF2B5EF4-FFF2-40B4-BE49-F238E27FC236}">
                  <a16:creationId xmlns:a16="http://schemas.microsoft.com/office/drawing/2014/main" id="{899D545A-9188-B8A5-5122-F55763321954}"/>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50449" name="F2-bank-channel">
            <a:extLst>
              <a:ext uri="{FF2B5EF4-FFF2-40B4-BE49-F238E27FC236}">
                <a16:creationId xmlns:a16="http://schemas.microsoft.com/office/drawing/2014/main" id="{E8F7522B-3B27-4338-8014-8A4EEE25C15E}"/>
              </a:ext>
            </a:extLst>
          </p:cNvPr>
          <p:cNvSpPr>
            <a:spLocks noGrp="1"/>
          </p:cNvSpPr>
          <p:nvPr/>
        </p:nvSpPr>
        <p:spPr>
          <a:xfrm>
            <a:off x="1453500" y="508635"/>
            <a:ext cx="257175" cy="190500"/>
          </a:xfrm>
          <a:prstGeom prst="rect">
            <a:avLst/>
          </a:prstGeom>
          <a:solidFill>
            <a:srgbClr val="EBF7FC"/>
          </a:solidFill>
          <a:ln w="4286">
            <a:solidFill>
              <a:srgbClr val="A6C5DF"/>
            </a:solidFill>
          </a:ln>
        </p:spPr>
      </p:sp>
      <p:sp>
        <p:nvSpPr>
          <p:cNvPr id="50450" name="F2-bank-channel">
            <a:extLst>
              <a:ext uri="{FF2B5EF4-FFF2-40B4-BE49-F238E27FC236}">
                <a16:creationId xmlns:a16="http://schemas.microsoft.com/office/drawing/2014/main" id="{44CA542A-604D-4AA5-B11D-B6617579A677}"/>
              </a:ext>
            </a:extLst>
          </p:cNvPr>
          <p:cNvSpPr>
            <a:spLocks noGrp="1"/>
          </p:cNvSpPr>
          <p:nvPr/>
        </p:nvSpPr>
        <p:spPr>
          <a:xfrm>
            <a:off x="1445880" y="515303"/>
            <a:ext cx="257175" cy="190500"/>
          </a:xfrm>
          <a:prstGeom prst="rect">
            <a:avLst/>
          </a:prstGeom>
          <a:solidFill>
            <a:srgbClr val="EBF7FC"/>
          </a:solidFill>
          <a:ln w="4286">
            <a:solidFill>
              <a:srgbClr val="A6C5DF"/>
            </a:solidFill>
          </a:ln>
        </p:spPr>
      </p:sp>
      <p:sp>
        <p:nvSpPr>
          <p:cNvPr id="50451" name="F2-bank-channel">
            <a:extLst>
              <a:ext uri="{FF2B5EF4-FFF2-40B4-BE49-F238E27FC236}">
                <a16:creationId xmlns:a16="http://schemas.microsoft.com/office/drawing/2014/main" id="{94C83CC1-C6DF-4DC5-87DF-BCD87221CF3B}"/>
              </a:ext>
            </a:extLst>
          </p:cNvPr>
          <p:cNvSpPr>
            <a:spLocks noGrp="1"/>
          </p:cNvSpPr>
          <p:nvPr/>
        </p:nvSpPr>
        <p:spPr>
          <a:xfrm>
            <a:off x="1438260" y="521970"/>
            <a:ext cx="257175" cy="190500"/>
          </a:xfrm>
          <a:prstGeom prst="rect">
            <a:avLst/>
          </a:prstGeom>
          <a:solidFill>
            <a:srgbClr val="EBF7FC"/>
          </a:solidFill>
          <a:ln w="4286">
            <a:solidFill>
              <a:srgbClr val="A6C5DF"/>
            </a:solidFill>
          </a:ln>
        </p:spPr>
      </p:sp>
      <p:sp>
        <p:nvSpPr>
          <p:cNvPr id="50452" name="F2-bank-channel">
            <a:extLst>
              <a:ext uri="{FF2B5EF4-FFF2-40B4-BE49-F238E27FC236}">
                <a16:creationId xmlns:a16="http://schemas.microsoft.com/office/drawing/2014/main" id="{1ABD8E71-8A8E-4A01-9656-5F57A7EAD863}"/>
              </a:ext>
            </a:extLst>
          </p:cNvPr>
          <p:cNvSpPr>
            <a:spLocks noGrp="1"/>
          </p:cNvSpPr>
          <p:nvPr/>
        </p:nvSpPr>
        <p:spPr>
          <a:xfrm>
            <a:off x="1430640" y="528638"/>
            <a:ext cx="257175" cy="190500"/>
          </a:xfrm>
          <a:prstGeom prst="rect">
            <a:avLst/>
          </a:prstGeom>
          <a:solidFill>
            <a:srgbClr val="EBF7FC"/>
          </a:solidFill>
          <a:ln w="4286">
            <a:solidFill>
              <a:srgbClr val="A6C5DF"/>
            </a:solidFill>
          </a:ln>
        </p:spPr>
      </p:sp>
      <p:sp>
        <p:nvSpPr>
          <p:cNvPr id="50453" name="F2-bank-channel">
            <a:extLst>
              <a:ext uri="{FF2B5EF4-FFF2-40B4-BE49-F238E27FC236}">
                <a16:creationId xmlns:a16="http://schemas.microsoft.com/office/drawing/2014/main" id="{A1E78B7C-AF8B-46CF-BE9A-7739D3A000CC}"/>
              </a:ext>
            </a:extLst>
          </p:cNvPr>
          <p:cNvSpPr>
            <a:spLocks noGrp="1"/>
          </p:cNvSpPr>
          <p:nvPr/>
        </p:nvSpPr>
        <p:spPr>
          <a:xfrm>
            <a:off x="1423020" y="535305"/>
            <a:ext cx="257175" cy="190500"/>
          </a:xfrm>
          <a:prstGeom prst="rect">
            <a:avLst/>
          </a:prstGeom>
          <a:solidFill>
            <a:srgbClr val="EBF7FC"/>
          </a:solidFill>
          <a:ln w="4286">
            <a:solidFill>
              <a:srgbClr val="A6C5DF"/>
            </a:solidFill>
          </a:ln>
        </p:spPr>
      </p:sp>
      <p:sp>
        <p:nvSpPr>
          <p:cNvPr id="50454" name="F2-bank-channel">
            <a:extLst>
              <a:ext uri="{FF2B5EF4-FFF2-40B4-BE49-F238E27FC236}">
                <a16:creationId xmlns:a16="http://schemas.microsoft.com/office/drawing/2014/main" id="{F902D412-512B-42B7-B05D-EDD9258097DC}"/>
              </a:ext>
            </a:extLst>
          </p:cNvPr>
          <p:cNvSpPr>
            <a:spLocks noGrp="1"/>
          </p:cNvSpPr>
          <p:nvPr/>
        </p:nvSpPr>
        <p:spPr>
          <a:xfrm>
            <a:off x="1415400" y="541973"/>
            <a:ext cx="257175" cy="190500"/>
          </a:xfrm>
          <a:prstGeom prst="rect">
            <a:avLst/>
          </a:prstGeom>
          <a:solidFill>
            <a:srgbClr val="EBF7FC"/>
          </a:solidFill>
          <a:ln w="4286">
            <a:solidFill>
              <a:srgbClr val="A6C5DF"/>
            </a:solidFill>
          </a:ln>
        </p:spPr>
      </p:sp>
      <p:sp>
        <p:nvSpPr>
          <p:cNvPr id="50455" name="F2-bank-channel">
            <a:extLst>
              <a:ext uri="{FF2B5EF4-FFF2-40B4-BE49-F238E27FC236}">
                <a16:creationId xmlns:a16="http://schemas.microsoft.com/office/drawing/2014/main" id="{CA6824A1-9C37-4EE2-8CF4-7C88BCE1DBE6}"/>
              </a:ext>
            </a:extLst>
          </p:cNvPr>
          <p:cNvSpPr>
            <a:spLocks noGrp="1"/>
          </p:cNvSpPr>
          <p:nvPr/>
        </p:nvSpPr>
        <p:spPr>
          <a:xfrm>
            <a:off x="1407780" y="548640"/>
            <a:ext cx="257175" cy="190500"/>
          </a:xfrm>
          <a:prstGeom prst="rect">
            <a:avLst/>
          </a:prstGeom>
          <a:solidFill>
            <a:srgbClr val="EBF7FC"/>
          </a:solidFill>
          <a:ln w="4286">
            <a:solidFill>
              <a:srgbClr val="A6C5DF"/>
            </a:solidFill>
          </a:ln>
        </p:spPr>
      </p:sp>
      <p:sp>
        <p:nvSpPr>
          <p:cNvPr id="50456" name="F2-bank-channel">
            <a:extLst>
              <a:ext uri="{FF2B5EF4-FFF2-40B4-BE49-F238E27FC236}">
                <a16:creationId xmlns:a16="http://schemas.microsoft.com/office/drawing/2014/main" id="{2705DA7A-40F9-48D2-946C-8019421C16B7}"/>
              </a:ext>
            </a:extLst>
          </p:cNvPr>
          <p:cNvSpPr>
            <a:spLocks noGrp="1"/>
          </p:cNvSpPr>
          <p:nvPr/>
        </p:nvSpPr>
        <p:spPr>
          <a:xfrm>
            <a:off x="1400160" y="555308"/>
            <a:ext cx="257175" cy="190500"/>
          </a:xfrm>
          <a:prstGeom prst="rect">
            <a:avLst/>
          </a:prstGeom>
          <a:solidFill>
            <a:srgbClr val="EBF7FC"/>
          </a:solidFill>
          <a:ln w="4286">
            <a:solidFill>
              <a:srgbClr val="A6C5DF"/>
            </a:solidFill>
          </a:ln>
        </p:spPr>
      </p:sp>
      <p:sp>
        <p:nvSpPr>
          <p:cNvPr id="50457" name="F2-bank-channel">
            <a:extLst>
              <a:ext uri="{FF2B5EF4-FFF2-40B4-BE49-F238E27FC236}">
                <a16:creationId xmlns:a16="http://schemas.microsoft.com/office/drawing/2014/main" id="{E1B9C475-D32F-4E88-9AAA-6701AFC1AC14}"/>
              </a:ext>
            </a:extLst>
          </p:cNvPr>
          <p:cNvSpPr>
            <a:spLocks noGrp="1"/>
          </p:cNvSpPr>
          <p:nvPr/>
        </p:nvSpPr>
        <p:spPr>
          <a:xfrm>
            <a:off x="1392540" y="561975"/>
            <a:ext cx="257175" cy="190500"/>
          </a:xfrm>
          <a:prstGeom prst="rect">
            <a:avLst/>
          </a:prstGeom>
          <a:solidFill>
            <a:srgbClr val="EBF7FC"/>
          </a:solidFill>
          <a:ln w="4286">
            <a:solidFill>
              <a:srgbClr val="A6C5DF"/>
            </a:solidFill>
          </a:ln>
        </p:spPr>
      </p:sp>
      <p:sp>
        <p:nvSpPr>
          <p:cNvPr id="50458" name="F2-density-voxel">
            <a:extLst>
              <a:ext uri="{FF2B5EF4-FFF2-40B4-BE49-F238E27FC236}">
                <a16:creationId xmlns:a16="http://schemas.microsoft.com/office/drawing/2014/main" id="{A49953DB-68D8-42EB-963F-DD42F453137D}"/>
              </a:ext>
            </a:extLst>
          </p:cNvPr>
          <p:cNvSpPr>
            <a:spLocks noGrp="1"/>
          </p:cNvSpPr>
          <p:nvPr/>
        </p:nvSpPr>
        <p:spPr>
          <a:xfrm>
            <a:off x="1411590" y="571500"/>
            <a:ext cx="52388" cy="42863"/>
          </a:xfrm>
          <a:prstGeom prst="rect">
            <a:avLst/>
          </a:prstGeom>
          <a:solidFill>
            <a:srgbClr val="CCE5EE"/>
          </a:solidFill>
          <a:ln w="0">
            <a:noFill/>
          </a:ln>
        </p:spPr>
      </p:sp>
      <p:sp>
        <p:nvSpPr>
          <p:cNvPr id="50459" name="F2-density-voxel">
            <a:extLst>
              <a:ext uri="{FF2B5EF4-FFF2-40B4-BE49-F238E27FC236}">
                <a16:creationId xmlns:a16="http://schemas.microsoft.com/office/drawing/2014/main" id="{ECECDED8-7BB6-465D-90CE-1566D913C0F0}"/>
              </a:ext>
            </a:extLst>
          </p:cNvPr>
          <p:cNvSpPr>
            <a:spLocks noGrp="1"/>
          </p:cNvSpPr>
          <p:nvPr/>
        </p:nvSpPr>
        <p:spPr>
          <a:xfrm>
            <a:off x="1463978" y="571500"/>
            <a:ext cx="52388" cy="42863"/>
          </a:xfrm>
          <a:prstGeom prst="rect">
            <a:avLst/>
          </a:prstGeom>
          <a:solidFill>
            <a:srgbClr val="86C0D7"/>
          </a:solidFill>
          <a:ln w="0">
            <a:noFill/>
          </a:ln>
        </p:spPr>
      </p:sp>
      <p:sp>
        <p:nvSpPr>
          <p:cNvPr id="50460" name="F2-density-voxel">
            <a:extLst>
              <a:ext uri="{FF2B5EF4-FFF2-40B4-BE49-F238E27FC236}">
                <a16:creationId xmlns:a16="http://schemas.microsoft.com/office/drawing/2014/main" id="{49E89024-8821-43E6-B830-D5D2C6143679}"/>
              </a:ext>
            </a:extLst>
          </p:cNvPr>
          <p:cNvSpPr>
            <a:spLocks noGrp="1"/>
          </p:cNvSpPr>
          <p:nvPr/>
        </p:nvSpPr>
        <p:spPr>
          <a:xfrm>
            <a:off x="1516365" y="571500"/>
            <a:ext cx="52388" cy="42863"/>
          </a:xfrm>
          <a:prstGeom prst="rect">
            <a:avLst/>
          </a:prstGeom>
          <a:solidFill>
            <a:srgbClr val="4D9ABB"/>
          </a:solidFill>
          <a:ln w="0">
            <a:noFill/>
          </a:ln>
        </p:spPr>
      </p:sp>
      <p:sp>
        <p:nvSpPr>
          <p:cNvPr id="50461" name="F2-density-voxel">
            <a:extLst>
              <a:ext uri="{FF2B5EF4-FFF2-40B4-BE49-F238E27FC236}">
                <a16:creationId xmlns:a16="http://schemas.microsoft.com/office/drawing/2014/main" id="{3A635687-B1F5-496B-9A49-461D8BC35087}"/>
              </a:ext>
            </a:extLst>
          </p:cNvPr>
          <p:cNvSpPr>
            <a:spLocks noGrp="1"/>
          </p:cNvSpPr>
          <p:nvPr/>
        </p:nvSpPr>
        <p:spPr>
          <a:xfrm>
            <a:off x="1568753" y="571500"/>
            <a:ext cx="52388" cy="42863"/>
          </a:xfrm>
          <a:prstGeom prst="rect">
            <a:avLst/>
          </a:prstGeom>
          <a:solidFill>
            <a:srgbClr val="B6DDE7"/>
          </a:solidFill>
          <a:ln w="0">
            <a:noFill/>
          </a:ln>
        </p:spPr>
      </p:sp>
      <p:sp>
        <p:nvSpPr>
          <p:cNvPr id="50462" name="F2-density-voxel">
            <a:extLst>
              <a:ext uri="{FF2B5EF4-FFF2-40B4-BE49-F238E27FC236}">
                <a16:creationId xmlns:a16="http://schemas.microsoft.com/office/drawing/2014/main" id="{FEC54E9C-643D-4824-B955-66BA7E401A0E}"/>
              </a:ext>
            </a:extLst>
          </p:cNvPr>
          <p:cNvSpPr>
            <a:spLocks noGrp="1"/>
          </p:cNvSpPr>
          <p:nvPr/>
        </p:nvSpPr>
        <p:spPr>
          <a:xfrm>
            <a:off x="1411590" y="614363"/>
            <a:ext cx="52388" cy="42863"/>
          </a:xfrm>
          <a:prstGeom prst="rect">
            <a:avLst/>
          </a:prstGeom>
          <a:solidFill>
            <a:srgbClr val="86C0D7"/>
          </a:solidFill>
          <a:ln w="0">
            <a:noFill/>
          </a:ln>
        </p:spPr>
      </p:sp>
      <p:sp>
        <p:nvSpPr>
          <p:cNvPr id="50463" name="F2-density-voxel">
            <a:extLst>
              <a:ext uri="{FF2B5EF4-FFF2-40B4-BE49-F238E27FC236}">
                <a16:creationId xmlns:a16="http://schemas.microsoft.com/office/drawing/2014/main" id="{ED2290E5-D29A-42C8-863E-1A0B5A093DAF}"/>
              </a:ext>
            </a:extLst>
          </p:cNvPr>
          <p:cNvSpPr>
            <a:spLocks noGrp="1"/>
          </p:cNvSpPr>
          <p:nvPr/>
        </p:nvSpPr>
        <p:spPr>
          <a:xfrm>
            <a:off x="1463978" y="614363"/>
            <a:ext cx="52388" cy="42863"/>
          </a:xfrm>
          <a:prstGeom prst="rect">
            <a:avLst/>
          </a:prstGeom>
          <a:solidFill>
            <a:srgbClr val="4D9ABB"/>
          </a:solidFill>
          <a:ln w="0">
            <a:noFill/>
          </a:ln>
        </p:spPr>
      </p:sp>
      <p:sp>
        <p:nvSpPr>
          <p:cNvPr id="50464" name="F2-density-voxel">
            <a:extLst>
              <a:ext uri="{FF2B5EF4-FFF2-40B4-BE49-F238E27FC236}">
                <a16:creationId xmlns:a16="http://schemas.microsoft.com/office/drawing/2014/main" id="{C030A993-BA02-4CBF-A526-9AF795928873}"/>
              </a:ext>
            </a:extLst>
          </p:cNvPr>
          <p:cNvSpPr>
            <a:spLocks noGrp="1"/>
          </p:cNvSpPr>
          <p:nvPr/>
        </p:nvSpPr>
        <p:spPr>
          <a:xfrm>
            <a:off x="1516365" y="614363"/>
            <a:ext cx="52388" cy="42863"/>
          </a:xfrm>
          <a:prstGeom prst="rect">
            <a:avLst/>
          </a:prstGeom>
          <a:solidFill>
            <a:srgbClr val="B6DDE7"/>
          </a:solidFill>
          <a:ln w="0">
            <a:noFill/>
          </a:ln>
        </p:spPr>
      </p:sp>
      <p:sp>
        <p:nvSpPr>
          <p:cNvPr id="50465" name="F2-density-voxel">
            <a:extLst>
              <a:ext uri="{FF2B5EF4-FFF2-40B4-BE49-F238E27FC236}">
                <a16:creationId xmlns:a16="http://schemas.microsoft.com/office/drawing/2014/main" id="{EC212EF2-C0F1-41AF-B3CE-D957D17932A0}"/>
              </a:ext>
            </a:extLst>
          </p:cNvPr>
          <p:cNvSpPr>
            <a:spLocks noGrp="1"/>
          </p:cNvSpPr>
          <p:nvPr/>
        </p:nvSpPr>
        <p:spPr>
          <a:xfrm>
            <a:off x="1568753" y="614363"/>
            <a:ext cx="52388" cy="42863"/>
          </a:xfrm>
          <a:prstGeom prst="rect">
            <a:avLst/>
          </a:prstGeom>
          <a:solidFill>
            <a:srgbClr val="CCE5EE"/>
          </a:solidFill>
          <a:ln w="0">
            <a:noFill/>
          </a:ln>
        </p:spPr>
      </p:sp>
      <p:sp>
        <p:nvSpPr>
          <p:cNvPr id="50466" name="F2-density-voxel">
            <a:extLst>
              <a:ext uri="{FF2B5EF4-FFF2-40B4-BE49-F238E27FC236}">
                <a16:creationId xmlns:a16="http://schemas.microsoft.com/office/drawing/2014/main" id="{8E8D1CD2-DC81-4A69-849C-F21783FD798D}"/>
              </a:ext>
            </a:extLst>
          </p:cNvPr>
          <p:cNvSpPr>
            <a:spLocks noGrp="1"/>
          </p:cNvSpPr>
          <p:nvPr/>
        </p:nvSpPr>
        <p:spPr>
          <a:xfrm>
            <a:off x="1411590" y="657225"/>
            <a:ext cx="52388" cy="42863"/>
          </a:xfrm>
          <a:prstGeom prst="rect">
            <a:avLst/>
          </a:prstGeom>
          <a:solidFill>
            <a:srgbClr val="4D9ABB"/>
          </a:solidFill>
          <a:ln w="0">
            <a:noFill/>
          </a:ln>
        </p:spPr>
      </p:sp>
      <p:sp>
        <p:nvSpPr>
          <p:cNvPr id="50467" name="F2-density-voxel">
            <a:extLst>
              <a:ext uri="{FF2B5EF4-FFF2-40B4-BE49-F238E27FC236}">
                <a16:creationId xmlns:a16="http://schemas.microsoft.com/office/drawing/2014/main" id="{CEA7FE12-330D-4160-8BE6-769BF6A26577}"/>
              </a:ext>
            </a:extLst>
          </p:cNvPr>
          <p:cNvSpPr>
            <a:spLocks noGrp="1"/>
          </p:cNvSpPr>
          <p:nvPr/>
        </p:nvSpPr>
        <p:spPr>
          <a:xfrm>
            <a:off x="1463978" y="657225"/>
            <a:ext cx="52388" cy="42863"/>
          </a:xfrm>
          <a:prstGeom prst="rect">
            <a:avLst/>
          </a:prstGeom>
          <a:solidFill>
            <a:srgbClr val="B6DDE7"/>
          </a:solidFill>
          <a:ln w="0">
            <a:noFill/>
          </a:ln>
        </p:spPr>
      </p:sp>
      <p:sp>
        <p:nvSpPr>
          <p:cNvPr id="50468" name="F2-density-voxel">
            <a:extLst>
              <a:ext uri="{FF2B5EF4-FFF2-40B4-BE49-F238E27FC236}">
                <a16:creationId xmlns:a16="http://schemas.microsoft.com/office/drawing/2014/main" id="{BE225EBF-D266-4631-9D7E-1B21643503B4}"/>
              </a:ext>
            </a:extLst>
          </p:cNvPr>
          <p:cNvSpPr>
            <a:spLocks noGrp="1"/>
          </p:cNvSpPr>
          <p:nvPr/>
        </p:nvSpPr>
        <p:spPr>
          <a:xfrm>
            <a:off x="1516365" y="657225"/>
            <a:ext cx="52388" cy="42863"/>
          </a:xfrm>
          <a:prstGeom prst="rect">
            <a:avLst/>
          </a:prstGeom>
          <a:solidFill>
            <a:srgbClr val="CCE5EE"/>
          </a:solidFill>
          <a:ln w="0">
            <a:noFill/>
          </a:ln>
        </p:spPr>
      </p:sp>
      <p:sp>
        <p:nvSpPr>
          <p:cNvPr id="50469" name="F2-density-voxel">
            <a:extLst>
              <a:ext uri="{FF2B5EF4-FFF2-40B4-BE49-F238E27FC236}">
                <a16:creationId xmlns:a16="http://schemas.microsoft.com/office/drawing/2014/main" id="{D56EA4DF-3429-4429-A2AA-6D7C9D33B341}"/>
              </a:ext>
            </a:extLst>
          </p:cNvPr>
          <p:cNvSpPr>
            <a:spLocks noGrp="1"/>
          </p:cNvSpPr>
          <p:nvPr/>
        </p:nvSpPr>
        <p:spPr>
          <a:xfrm>
            <a:off x="1568753" y="657225"/>
            <a:ext cx="52388" cy="42863"/>
          </a:xfrm>
          <a:prstGeom prst="rect">
            <a:avLst/>
          </a:prstGeom>
          <a:solidFill>
            <a:srgbClr val="86C0D7"/>
          </a:solidFill>
          <a:ln w="0">
            <a:noFill/>
          </a:ln>
        </p:spPr>
      </p:sp>
      <p:sp>
        <p:nvSpPr>
          <p:cNvPr id="50470" name="F2-density-voxel">
            <a:extLst>
              <a:ext uri="{FF2B5EF4-FFF2-40B4-BE49-F238E27FC236}">
                <a16:creationId xmlns:a16="http://schemas.microsoft.com/office/drawing/2014/main" id="{F4CB67F8-3427-42E0-B222-3C4C5B421A28}"/>
              </a:ext>
            </a:extLst>
          </p:cNvPr>
          <p:cNvSpPr>
            <a:spLocks noGrp="1"/>
          </p:cNvSpPr>
          <p:nvPr/>
        </p:nvSpPr>
        <p:spPr>
          <a:xfrm>
            <a:off x="1411590" y="700088"/>
            <a:ext cx="52388" cy="42863"/>
          </a:xfrm>
          <a:prstGeom prst="rect">
            <a:avLst/>
          </a:prstGeom>
          <a:solidFill>
            <a:srgbClr val="B6DDE7"/>
          </a:solidFill>
          <a:ln w="0">
            <a:noFill/>
          </a:ln>
        </p:spPr>
      </p:sp>
      <p:sp>
        <p:nvSpPr>
          <p:cNvPr id="50471" name="F2-density-voxel">
            <a:extLst>
              <a:ext uri="{FF2B5EF4-FFF2-40B4-BE49-F238E27FC236}">
                <a16:creationId xmlns:a16="http://schemas.microsoft.com/office/drawing/2014/main" id="{E62F2DC6-612B-4891-B2B7-8020312C0678}"/>
              </a:ext>
            </a:extLst>
          </p:cNvPr>
          <p:cNvSpPr>
            <a:spLocks noGrp="1"/>
          </p:cNvSpPr>
          <p:nvPr/>
        </p:nvSpPr>
        <p:spPr>
          <a:xfrm>
            <a:off x="1463978" y="700088"/>
            <a:ext cx="52388" cy="42863"/>
          </a:xfrm>
          <a:prstGeom prst="rect">
            <a:avLst/>
          </a:prstGeom>
          <a:solidFill>
            <a:srgbClr val="CCE5EE"/>
          </a:solidFill>
          <a:ln w="0">
            <a:noFill/>
          </a:ln>
        </p:spPr>
      </p:sp>
      <p:sp>
        <p:nvSpPr>
          <p:cNvPr id="50472" name="F2-density-voxel">
            <a:extLst>
              <a:ext uri="{FF2B5EF4-FFF2-40B4-BE49-F238E27FC236}">
                <a16:creationId xmlns:a16="http://schemas.microsoft.com/office/drawing/2014/main" id="{3D79F01F-5243-4E3C-8AA7-EE2C8B8C7E29}"/>
              </a:ext>
            </a:extLst>
          </p:cNvPr>
          <p:cNvSpPr>
            <a:spLocks noGrp="1"/>
          </p:cNvSpPr>
          <p:nvPr/>
        </p:nvSpPr>
        <p:spPr>
          <a:xfrm>
            <a:off x="1516365" y="700088"/>
            <a:ext cx="52388" cy="42863"/>
          </a:xfrm>
          <a:prstGeom prst="rect">
            <a:avLst/>
          </a:prstGeom>
          <a:solidFill>
            <a:srgbClr val="86C0D7"/>
          </a:solidFill>
          <a:ln w="0">
            <a:noFill/>
          </a:ln>
        </p:spPr>
      </p:sp>
      <p:sp>
        <p:nvSpPr>
          <p:cNvPr id="50473" name="F2-density-voxel">
            <a:extLst>
              <a:ext uri="{FF2B5EF4-FFF2-40B4-BE49-F238E27FC236}">
                <a16:creationId xmlns:a16="http://schemas.microsoft.com/office/drawing/2014/main" id="{7F5BC88D-76D1-4A24-B998-8BD41F9AADDB}"/>
              </a:ext>
            </a:extLst>
          </p:cNvPr>
          <p:cNvSpPr>
            <a:spLocks noGrp="1"/>
          </p:cNvSpPr>
          <p:nvPr/>
        </p:nvSpPr>
        <p:spPr>
          <a:xfrm>
            <a:off x="1568753" y="700088"/>
            <a:ext cx="52388" cy="42863"/>
          </a:xfrm>
          <a:prstGeom prst="rect">
            <a:avLst/>
          </a:prstGeom>
          <a:solidFill>
            <a:srgbClr val="4D9ABB"/>
          </a:solidFill>
          <a:ln w="0">
            <a:noFill/>
          </a:ln>
        </p:spPr>
      </p:sp>
      <p:sp>
        <p:nvSpPr>
          <p:cNvPr id="50474" name="F2-spatial-transform">
            <a:extLst>
              <a:ext uri="{FF2B5EF4-FFF2-40B4-BE49-F238E27FC236}">
                <a16:creationId xmlns:a16="http://schemas.microsoft.com/office/drawing/2014/main" id="{A85283F8-9FE2-48A1-8429-5356F2D370E2}"/>
              </a:ext>
            </a:extLst>
          </p:cNvPr>
          <p:cNvSpPr>
            <a:spLocks noGrp="1"/>
          </p:cNvSpPr>
          <p:nvPr/>
        </p:nvSpPr>
        <p:spPr>
          <a:xfrm>
            <a:off x="981877" y="549713"/>
            <a:ext cx="376238"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sz="460" b="0" dirty="0">
                <a:solidFill>
                  <a:srgbClr val="263442"/>
                </a:solidFill>
                <a:latin typeface="Arial"/>
                <a:ea typeface="Arial"/>
                <a:cs typeface="Arial"/>
              </a:rPr>
              <a:t>Spatial</a:t>
            </a:r>
          </a:p>
          <a:p>
            <a:pPr algn="ctr">
              <a:defRPr sz="540" b="0">
                <a:solidFill>
                  <a:srgbClr val="263442"/>
                </a:solidFill>
                <a:latin typeface="Arial"/>
                <a:ea typeface="Arial"/>
                <a:cs typeface="Arial"/>
              </a:defRPr>
            </a:pPr>
            <a:r>
              <a:rPr sz="460" b="0" dirty="0">
                <a:solidFill>
                  <a:srgbClr val="263442"/>
                </a:solidFill>
                <a:latin typeface="Arial"/>
                <a:ea typeface="Arial"/>
                <a:cs typeface="Arial"/>
              </a:rPr>
              <a:t>transform</a:t>
            </a:r>
          </a:p>
        </p:txBody>
      </p:sp>
      <p:sp>
        <p:nvSpPr>
          <p:cNvPr id="50475" name="F2-atom-embeddings-input">
            <a:extLst>
              <a:ext uri="{FF2B5EF4-FFF2-40B4-BE49-F238E27FC236}">
                <a16:creationId xmlns:a16="http://schemas.microsoft.com/office/drawing/2014/main" id="{0B4B93C5-B055-4ECE-8D5F-9FD8F9F29D6A}"/>
              </a:ext>
            </a:extLst>
          </p:cNvPr>
          <p:cNvSpPr>
            <a:spLocks noGrp="1"/>
          </p:cNvSpPr>
          <p:nvPr/>
        </p:nvSpPr>
        <p:spPr>
          <a:xfrm>
            <a:off x="1010565" y="1287494"/>
            <a:ext cx="327329"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lang="en-US" sz="460" b="0" dirty="0">
                <a:solidFill>
                  <a:srgbClr val="263442"/>
                </a:solidFill>
                <a:latin typeface="Arial"/>
                <a:ea typeface="Arial"/>
                <a:cs typeface="Arial"/>
              </a:rPr>
              <a:t>E</a:t>
            </a:r>
            <a:r>
              <a:rPr sz="460" b="0" dirty="0">
                <a:solidFill>
                  <a:srgbClr val="263442"/>
                </a:solidFill>
                <a:latin typeface="Arial"/>
                <a:ea typeface="Arial"/>
                <a:cs typeface="Arial"/>
              </a:rPr>
              <a:t>mbedding</a:t>
            </a:r>
            <a:endParaRPr lang="en-US" sz="460" b="0" dirty="0">
              <a:solidFill>
                <a:srgbClr val="263442"/>
              </a:solidFill>
              <a:latin typeface="Arial"/>
              <a:ea typeface="Arial"/>
              <a:cs typeface="Arial"/>
            </a:endParaRPr>
          </a:p>
          <a:p>
            <a:pPr algn="ctr">
              <a:defRPr sz="540" b="0">
                <a:solidFill>
                  <a:srgbClr val="263442"/>
                </a:solidFill>
                <a:latin typeface="Arial"/>
                <a:ea typeface="Arial"/>
                <a:cs typeface="Arial"/>
              </a:defRPr>
            </a:pPr>
            <a:r>
              <a:rPr lang="en-US" altLang="zh-CN" sz="460" b="0" dirty="0">
                <a:solidFill>
                  <a:srgbClr val="263442"/>
                </a:solidFill>
                <a:latin typeface="Arial"/>
                <a:ea typeface="Arial"/>
                <a:cs typeface="Arial"/>
              </a:rPr>
              <a:t>head</a:t>
            </a:r>
            <a:endParaRPr sz="460" b="0" dirty="0">
              <a:solidFill>
                <a:srgbClr val="263442"/>
              </a:solidFill>
              <a:latin typeface="Arial"/>
              <a:ea typeface="Arial"/>
              <a:cs typeface="Arial"/>
            </a:endParaRPr>
          </a:p>
        </p:txBody>
      </p:sp>
      <p:pic>
        <p:nvPicPr>
          <p:cNvPr id="50482" name="图片 50481">
            <a:extLst>
              <a:ext uri="{FF2B5EF4-FFF2-40B4-BE49-F238E27FC236}">
                <a16:creationId xmlns:a16="http://schemas.microsoft.com/office/drawing/2014/main" id="{CC697937-E8CE-4EDF-BB17-1FEA96E39283}"/>
              </a:ext>
            </a:extLst>
          </p:cNvPr>
          <p:cNvPicPr>
            <a:picLocks noChangeAspect="1"/>
          </p:cNvPicPr>
          <p:nvPr/>
        </p:nvPicPr>
        <p:blipFill>
          <a:blip r:embed="rId8"/>
          <a:stretch/>
        </p:blipFill>
        <p:spPr>
          <a:xfrm>
            <a:off x="622201" y="2943948"/>
            <a:ext cx="414760" cy="342900"/>
          </a:xfrm>
          <a:prstGeom prst="rect">
            <a:avLst/>
          </a:prstGeom>
        </p:spPr>
      </p:pic>
      <p:grpSp>
        <p:nvGrpSpPr>
          <p:cNvPr id="50493" name="Find preview 15"/>
          <p:cNvGrpSpPr/>
          <p:nvPr/>
        </p:nvGrpSpPr>
        <p:grpSpPr>
          <a:xfrm>
            <a:off x="582671" y="471488"/>
            <a:ext cx="404812" cy="395288"/>
            <a:chOff x="511635" y="471488"/>
            <a:chExt cx="404812" cy="395288"/>
          </a:xfrm>
        </p:grpSpPr>
        <p:pic>
          <p:nvPicPr>
            <p:cNvPr id="1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8CF1199C-6488-C5B6-B489-1131732B4FBF}"/>
                </a:ext>
              </a:extLst>
            </p:cNvPr>
            <p:cNvPicPr/>
            <p:nvPr/>
          </p:nvPicPr>
          <p:blipFill>
            <a:blip r:embed="rId4"/>
            <a:stretch>
              <a:fillRect/>
            </a:stretch>
          </p:blipFill>
          <p:spPr>
            <a:xfrm>
              <a:off x="511635" y="475859"/>
              <a:ext cx="404812" cy="386544"/>
            </a:xfrm>
            <a:prstGeom prst="rect">
              <a:avLst/>
            </a:prstGeom>
          </p:spPr>
        </p:pic>
        <p:sp>
          <p:nvSpPr>
            <p:cNvPr id="50476" name="crop-cube">
              <a:extLst>
                <a:ext uri="{FF2B5EF4-FFF2-40B4-BE49-F238E27FC236}">
                  <a16:creationId xmlns:a16="http://schemas.microsoft.com/office/drawing/2014/main" id="{25839399-079E-4307-9725-E085483F7FD6}"/>
                </a:ext>
              </a:extLst>
            </p:cNvPr>
            <p:cNvSpPr>
              <a:spLocks noGrp="1"/>
            </p:cNvSpPr>
            <p:nvPr/>
          </p:nvSpPr>
          <p:spPr>
            <a:xfrm>
              <a:off x="700088" y="626745"/>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477" name="crop-cube">
              <a:extLst>
                <a:ext uri="{FF2B5EF4-FFF2-40B4-BE49-F238E27FC236}">
                  <a16:creationId xmlns:a16="http://schemas.microsoft.com/office/drawing/2014/main" id="{07D86F79-577D-4116-BDEA-F38D19D792BA}"/>
                </a:ext>
              </a:extLst>
            </p:cNvPr>
            <p:cNvSpPr>
              <a:spLocks noGrp="1"/>
            </p:cNvSpPr>
            <p:nvPr/>
          </p:nvSpPr>
          <p:spPr>
            <a:xfrm>
              <a:off x="788194" y="626745"/>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478" name="F2-density-crop-size">
              <a:extLst>
                <a:ext uri="{FF2B5EF4-FFF2-40B4-BE49-F238E27FC236}">
                  <a16:creationId xmlns:a16="http://schemas.microsoft.com/office/drawing/2014/main" id="{9B6ECDDF-4CA0-44BE-83B1-7FF800ECF209}"/>
                </a:ext>
              </a:extLst>
            </p:cNvPr>
            <p:cNvSpPr>
              <a:spLocks noGrp="1"/>
            </p:cNvSpPr>
            <p:nvPr/>
          </p:nvSpPr>
          <p:spPr>
            <a:xfrm>
              <a:off x="640556" y="766763"/>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494" name="Find preview 1435"/>
          <p:cNvGrpSpPr/>
          <p:nvPr/>
        </p:nvGrpSpPr>
        <p:grpSpPr>
          <a:xfrm>
            <a:off x="582671" y="1252538"/>
            <a:ext cx="404812" cy="395288"/>
            <a:chOff x="511635" y="1252538"/>
            <a:chExt cx="404812" cy="395288"/>
          </a:xfrm>
        </p:grpSpPr>
        <p:pic>
          <p:nvPicPr>
            <p:cNvPr id="1435" name="Find clear receptor" descr="Receptor cartoon rendered from unchanged local coordinates, chain C1 of the 9LLG CA2 model.">
              <a:extLst>
                <a:ext uri="{FF2B5EF4-FFF2-40B4-BE49-F238E27FC236}">
                  <a16:creationId xmlns:a16="http://schemas.microsoft.com/office/drawing/2014/main" id="{24C88AB2-5918-0F4D-EDE6-0D89FC02F100}"/>
                </a:ext>
              </a:extLst>
            </p:cNvPr>
            <p:cNvPicPr/>
            <p:nvPr/>
          </p:nvPicPr>
          <p:blipFill>
            <a:blip r:embed="rId7"/>
            <a:srcRect l="16857" t="30389" r="19786" b="22500"/>
            <a:stretch>
              <a:fillRect/>
            </a:stretch>
          </p:blipFill>
          <p:spPr>
            <a:xfrm>
              <a:off x="511635" y="1256674"/>
              <a:ext cx="404812" cy="387014"/>
            </a:xfrm>
            <a:prstGeom prst="rect">
              <a:avLst/>
            </a:prstGeom>
          </p:spPr>
        </p:pic>
        <p:sp>
          <p:nvSpPr>
            <p:cNvPr id="50479" name="crop-cube">
              <a:extLst>
                <a:ext uri="{FF2B5EF4-FFF2-40B4-BE49-F238E27FC236}">
                  <a16:creationId xmlns:a16="http://schemas.microsoft.com/office/drawing/2014/main" id="{B083B324-58BF-4271-92CE-6A3DCE5DBE53}"/>
                </a:ext>
              </a:extLst>
            </p:cNvPr>
            <p:cNvSpPr>
              <a:spLocks noGrp="1"/>
            </p:cNvSpPr>
            <p:nvPr/>
          </p:nvSpPr>
          <p:spPr>
            <a:xfrm>
              <a:off x="700088" y="1404938"/>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480" name="crop-cube">
              <a:extLst>
                <a:ext uri="{FF2B5EF4-FFF2-40B4-BE49-F238E27FC236}">
                  <a16:creationId xmlns:a16="http://schemas.microsoft.com/office/drawing/2014/main" id="{0E8C65BE-9745-4184-B8B7-6FD5E9341DBD}"/>
                </a:ext>
              </a:extLst>
            </p:cNvPr>
            <p:cNvSpPr>
              <a:spLocks noGrp="1"/>
            </p:cNvSpPr>
            <p:nvPr/>
          </p:nvSpPr>
          <p:spPr>
            <a:xfrm>
              <a:off x="788194" y="1404938"/>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481" name="F2-receptor-crop-size">
              <a:extLst>
                <a:ext uri="{FF2B5EF4-FFF2-40B4-BE49-F238E27FC236}">
                  <a16:creationId xmlns:a16="http://schemas.microsoft.com/office/drawing/2014/main" id="{11CB5595-3267-408D-9A25-39E3920D0458}"/>
                </a:ext>
              </a:extLst>
            </p:cNvPr>
            <p:cNvSpPr>
              <a:spLocks noGrp="1"/>
            </p:cNvSpPr>
            <p:nvPr/>
          </p:nvSpPr>
          <p:spPr>
            <a:xfrm>
              <a:off x="640556" y="1544955"/>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495" name="Find preview 25"/>
          <p:cNvGrpSpPr/>
          <p:nvPr/>
        </p:nvGrpSpPr>
        <p:grpSpPr>
          <a:xfrm>
            <a:off x="4319205" y="499672"/>
            <a:ext cx="404812" cy="386544"/>
            <a:chOff x="4349067" y="499672"/>
            <a:chExt cx="404812" cy="386544"/>
          </a:xfrm>
        </p:grpSpPr>
        <p:pic>
          <p:nvPicPr>
            <p:cNvPr id="2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E01FAF0F-7383-AEC3-8192-CE781D4C8B97}"/>
                </a:ext>
              </a:extLst>
            </p:cNvPr>
            <p:cNvPicPr/>
            <p:nvPr/>
          </p:nvPicPr>
          <p:blipFill>
            <a:blip r:embed="rId4"/>
            <a:stretch>
              <a:fillRect/>
            </a:stretch>
          </p:blipFill>
          <p:spPr>
            <a:xfrm>
              <a:off x="4349067" y="499672"/>
              <a:ext cx="404812" cy="386544"/>
            </a:xfrm>
            <a:prstGeom prst="rect">
              <a:avLst/>
            </a:prstGeom>
          </p:spPr>
        </p:pic>
        <p:grpSp>
          <p:nvGrpSpPr>
            <p:cNvPr id="50437" name="Global copy of blob 758">
              <a:extLst>
                <a:ext uri="{FF2B5EF4-FFF2-40B4-BE49-F238E27FC236}">
                  <a16:creationId xmlns:a16="http://schemas.microsoft.com/office/drawing/2014/main" id="{00C0C92B-D4C8-0994-E860-1581EB873D86}"/>
                </a:ext>
              </a:extLst>
            </p:cNvPr>
            <p:cNvGrpSpPr/>
            <p:nvPr/>
          </p:nvGrpSpPr>
          <p:grpSpPr>
            <a:xfrm>
              <a:off x="4445066" y="623158"/>
              <a:ext cx="92055" cy="24054"/>
              <a:chOff x="1980855" y="3559489"/>
              <a:chExt cx="493446" cy="155682"/>
            </a:xfrm>
          </p:grpSpPr>
          <p:sp>
            <p:nvSpPr>
              <p:cNvPr id="50438" name="Candidate blob | editable contour">
                <a:extLst>
                  <a:ext uri="{FF2B5EF4-FFF2-40B4-BE49-F238E27FC236}">
                    <a16:creationId xmlns:a16="http://schemas.microsoft.com/office/drawing/2014/main" id="{A172A8B3-EFA3-33C9-CD2B-307B24D7293D}"/>
                  </a:ext>
                </a:extLst>
              </p:cNvPr>
              <p:cNvSpPr/>
              <p:nvPr/>
            </p:nvSpPr>
            <p:spPr>
              <a:xfrm>
                <a:off x="2246406" y="3559489"/>
                <a:ext cx="227895"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50439" name="ellipse_2612">
                <a:extLst>
                  <a:ext uri="{FF2B5EF4-FFF2-40B4-BE49-F238E27FC236}">
                    <a16:creationId xmlns:a16="http://schemas.microsoft.com/office/drawing/2014/main" id="{CF37E813-914E-4383-9CE9-1C5F4095124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50442" name="ellipse_2612">
              <a:extLst>
                <a:ext uri="{FF2B5EF4-FFF2-40B4-BE49-F238E27FC236}">
                  <a16:creationId xmlns:a16="http://schemas.microsoft.com/office/drawing/2014/main" id="{899D545A-9188-B8A5-5122-F55763321954}"/>
                </a:ext>
              </a:extLst>
            </p:cNvPr>
            <p:cNvSpPr/>
            <p:nvPr/>
          </p:nvSpPr>
          <p:spPr>
            <a:xfrm rot="3197729">
              <a:off x="4608138" y="649456"/>
              <a:ext cx="10571" cy="3071"/>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0445" name="ellipse_2612">
              <a:extLst>
                <a:ext uri="{FF2B5EF4-FFF2-40B4-BE49-F238E27FC236}">
                  <a16:creationId xmlns:a16="http://schemas.microsoft.com/office/drawing/2014/main" id="{85D74281-2FE6-E2D2-EFBA-AF54A45686E3}"/>
                </a:ext>
              </a:extLst>
            </p:cNvPr>
            <p:cNvSpPr/>
            <p:nvPr/>
          </p:nvSpPr>
          <p:spPr>
            <a:xfrm>
              <a:off x="4430816" y="761249"/>
              <a:ext cx="9540" cy="2671"/>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0448" name="ellipse_2612">
              <a:extLst>
                <a:ext uri="{FF2B5EF4-FFF2-40B4-BE49-F238E27FC236}">
                  <a16:creationId xmlns:a16="http://schemas.microsoft.com/office/drawing/2014/main" id="{901C6437-E94C-AFDE-D242-E688A89ABBDB}"/>
                </a:ext>
              </a:extLst>
            </p:cNvPr>
            <p:cNvSpPr/>
            <p:nvPr/>
          </p:nvSpPr>
          <p:spPr>
            <a:xfrm>
              <a:off x="4542383" y="798587"/>
              <a:ext cx="9428" cy="3307"/>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29" name="V8 density and receptor to voxel">
            <a:extLst>
              <a:ext uri="{FF2B5EF4-FFF2-40B4-BE49-F238E27FC236}">
                <a16:creationId xmlns:a16="http://schemas.microsoft.com/office/drawing/2014/main" id="{6CB6A47B-4EF1-2B06-7255-E23CEE529CCF}"/>
              </a:ext>
            </a:extLst>
          </p:cNvPr>
          <p:cNvSpPr/>
          <p:nvPr/>
        </p:nvSpPr>
        <p:spPr>
          <a:xfrm flipV="1">
            <a:off x="1834335" y="790091"/>
            <a:ext cx="77018" cy="45719"/>
          </a:xfrm>
          <a:custGeom>
            <a:avLst/>
            <a:gdLst/>
            <a:ahLst/>
            <a:cxnLst/>
            <a:rect l="l" t="t" r="r" b="b"/>
            <a:pathLst>
              <a:path w="96730" h="1">
                <a:moveTo>
                  <a:pt x="0" y="0"/>
                </a:moveTo>
                <a:lnTo>
                  <a:pt x="96730" y="0"/>
                </a:lnTo>
              </a:path>
            </a:pathLst>
          </a:custGeom>
          <a:noFill/>
          <a:ln w="8509" cap="rnd">
            <a:solidFill>
              <a:srgbClr val="77828C"/>
            </a:solidFill>
            <a:prstDash val="solid"/>
            <a:round/>
          </a:ln>
        </p:spPr>
      </p:sp>
      <p:sp>
        <p:nvSpPr>
          <p:cNvPr id="31" name="V8 density and receptor to voxel head">
            <a:extLst>
              <a:ext uri="{FF2B5EF4-FFF2-40B4-BE49-F238E27FC236}">
                <a16:creationId xmlns:a16="http://schemas.microsoft.com/office/drawing/2014/main" id="{DF62D5B1-80E9-3975-FF99-0CA56F3741F9}"/>
              </a:ext>
            </a:extLst>
          </p:cNvPr>
          <p:cNvSpPr/>
          <p:nvPr/>
        </p:nvSpPr>
        <p:spPr>
          <a:xfrm>
            <a:off x="1905255" y="822853"/>
            <a:ext cx="28321" cy="24384"/>
          </a:xfrm>
          <a:custGeom>
            <a:avLst/>
            <a:gdLst/>
            <a:ahLst/>
            <a:cxnLst/>
            <a:rect l="l" t="t" r="r" b="b"/>
            <a:pathLst>
              <a:path w="28321" h="24384">
                <a:moveTo>
                  <a:pt x="28321" y="12192"/>
                </a:moveTo>
                <a:lnTo>
                  <a:pt x="0" y="0"/>
                </a:lnTo>
                <a:lnTo>
                  <a:pt x="0" y="24384"/>
                </a:lnTo>
                <a:close/>
              </a:path>
            </a:pathLst>
          </a:custGeom>
          <a:solidFill>
            <a:srgbClr val="77828C"/>
          </a:solidFill>
          <a:ln w="0" cap="rnd">
            <a:noFill/>
          </a:ln>
        </p:spPr>
      </p:sp>
      <p:sp>
        <p:nvSpPr>
          <p:cNvPr id="34" name="文本框 33">
            <a:extLst>
              <a:ext uri="{FF2B5EF4-FFF2-40B4-BE49-F238E27FC236}">
                <a16:creationId xmlns:a16="http://schemas.microsoft.com/office/drawing/2014/main" id="{04021CE7-7079-B8B1-FE1F-2395F0A6A9F4}"/>
              </a:ext>
            </a:extLst>
          </p:cNvPr>
          <p:cNvSpPr txBox="1"/>
          <p:nvPr/>
        </p:nvSpPr>
        <p:spPr>
          <a:xfrm>
            <a:off x="2776387" y="1439947"/>
            <a:ext cx="502061" cy="197618"/>
          </a:xfrm>
          <a:prstGeom prst="rect">
            <a:avLst/>
          </a:prstGeom>
          <a:noFill/>
        </p:spPr>
        <p:txBody>
          <a:bodyPr wrap="none" rtlCol="0">
            <a:spAutoFit/>
          </a:bodyPr>
          <a:lstStyle/>
          <a:p>
            <a:pPr algn="ctr">
              <a:lnSpc>
                <a:spcPct val="105000"/>
              </a:lnSpc>
            </a:pPr>
            <a:r>
              <a:rPr lang="en-US" altLang="zh-CN" sz="650" i="1" dirty="0">
                <a:solidFill>
                  <a:srgbClr val="263442"/>
                </a:solidFill>
                <a:latin typeface="Arial"/>
              </a:rPr>
              <a:t>Recycle</a:t>
            </a:r>
          </a:p>
        </p:txBody>
      </p:sp>
      <p:grpSp>
        <p:nvGrpSpPr>
          <p:cNvPr id="21" name="Find candidate blob 2">
            <a:extLst>
              <a:ext uri="{FF2B5EF4-FFF2-40B4-BE49-F238E27FC236}">
                <a16:creationId xmlns:a16="http://schemas.microsoft.com/office/drawing/2014/main" id="{7CF4B83B-CE40-0943-83BF-857F63F584FC}"/>
              </a:ext>
            </a:extLst>
          </p:cNvPr>
          <p:cNvGrpSpPr/>
          <p:nvPr/>
        </p:nvGrpSpPr>
        <p:grpSpPr>
          <a:xfrm rot="3197729">
            <a:off x="4586768" y="633066"/>
            <a:ext cx="35227" cy="29704"/>
            <a:chOff x="1928706" y="3559489"/>
            <a:chExt cx="227897" cy="155682"/>
          </a:xfrm>
        </p:grpSpPr>
        <p:sp>
          <p:nvSpPr>
            <p:cNvPr id="23" name="Candidate blob | editable contour">
              <a:extLst>
                <a:ext uri="{FF2B5EF4-FFF2-40B4-BE49-F238E27FC236}">
                  <a16:creationId xmlns:a16="http://schemas.microsoft.com/office/drawing/2014/main" id="{0EF5C813-7F44-77DD-67FE-EE476608E03B}"/>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28" name="ellipse_2612">
              <a:extLst>
                <a:ext uri="{FF2B5EF4-FFF2-40B4-BE49-F238E27FC236}">
                  <a16:creationId xmlns:a16="http://schemas.microsoft.com/office/drawing/2014/main" id="{F5FA3B82-7CD0-DDDF-A968-EC80FAC5CC54}"/>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30" name="Find candidate blob 3">
            <a:extLst>
              <a:ext uri="{FF2B5EF4-FFF2-40B4-BE49-F238E27FC236}">
                <a16:creationId xmlns:a16="http://schemas.microsoft.com/office/drawing/2014/main" id="{7DFC79E6-A537-A8EE-9E23-73695EEDEA87}"/>
              </a:ext>
            </a:extLst>
          </p:cNvPr>
          <p:cNvGrpSpPr/>
          <p:nvPr/>
        </p:nvGrpSpPr>
        <p:grpSpPr>
          <a:xfrm rot="364243">
            <a:off x="4504977" y="709850"/>
            <a:ext cx="31915" cy="32299"/>
            <a:chOff x="1928706" y="3559489"/>
            <a:chExt cx="227897" cy="155682"/>
          </a:xfrm>
        </p:grpSpPr>
        <p:sp>
          <p:nvSpPr>
            <p:cNvPr id="32" name="Candidate blob | editable contour">
              <a:extLst>
                <a:ext uri="{FF2B5EF4-FFF2-40B4-BE49-F238E27FC236}">
                  <a16:creationId xmlns:a16="http://schemas.microsoft.com/office/drawing/2014/main" id="{EF3C7BE5-312A-39EB-D945-E725D09FC5CF}"/>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33" name="ellipse_2612">
              <a:extLst>
                <a:ext uri="{FF2B5EF4-FFF2-40B4-BE49-F238E27FC236}">
                  <a16:creationId xmlns:a16="http://schemas.microsoft.com/office/drawing/2014/main" id="{0A4821A8-67B8-19F4-30E2-0FE8715E5DA6}"/>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38" name="Find candidate blob 1">
            <a:extLst>
              <a:ext uri="{FF2B5EF4-FFF2-40B4-BE49-F238E27FC236}">
                <a16:creationId xmlns:a16="http://schemas.microsoft.com/office/drawing/2014/main" id="{D9521CD7-F7FB-7490-A23A-67B39E4FD95D}"/>
              </a:ext>
            </a:extLst>
          </p:cNvPr>
          <p:cNvGrpSpPr/>
          <p:nvPr/>
        </p:nvGrpSpPr>
        <p:grpSpPr>
          <a:xfrm>
            <a:off x="4398123" y="745957"/>
            <a:ext cx="40973" cy="27988"/>
            <a:chOff x="1928706" y="3559489"/>
            <a:chExt cx="227897" cy="155682"/>
          </a:xfrm>
        </p:grpSpPr>
        <p:sp>
          <p:nvSpPr>
            <p:cNvPr id="39" name="Candidate blob | editable contour">
              <a:extLst>
                <a:ext uri="{FF2B5EF4-FFF2-40B4-BE49-F238E27FC236}">
                  <a16:creationId xmlns:a16="http://schemas.microsoft.com/office/drawing/2014/main" id="{B913F94B-9211-6007-A9F1-AA1E18C1D543}"/>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40" name="ellipse_2612">
              <a:extLst>
                <a:ext uri="{FF2B5EF4-FFF2-40B4-BE49-F238E27FC236}">
                  <a16:creationId xmlns:a16="http://schemas.microsoft.com/office/drawing/2014/main" id="{D504CB61-AEF5-1C11-4CCF-573A1133E2A9}"/>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Tree>
    <p:extLst>
      <p:ext uri="{BB962C8B-B14F-4D97-AF65-F5344CB8AC3E}">
        <p14:creationId xmlns:p14="http://schemas.microsoft.com/office/powerpoint/2010/main" val="2991721420"/>
      </p:ext>
    </p:extLst>
  </p:cSld>
  <p:clrMapOvr>
    <a:masterClrMapping/>
  </p:clrMapOvr>
  <p:extLst>
    <p:ext uri="{6950BFC3-D8DA-4A85-94F7-54DA5524770B}">
      <p188:commentRel xmlns:p188="http://schemas.microsoft.com/office/powerpoint/2018/8/main" r:id="rId3"/>
    </p:ext>
  </p:extLs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3A6E18-01F8-B0BA-F43F-91B3A30C3C3E}"/>
            </a:ext>
          </a:extLst>
        </p:cNvPr>
        <p:cNvGrpSpPr/>
        <p:nvPr/>
      </p:nvGrpSpPr>
      <p:grpSpPr>
        <a:xfrm>
          <a:off x="0" y="0"/>
          <a:ext cx="0" cy="0"/>
          <a:chOff x="0" y="0"/>
          <a:chExt cx="0" cy="0"/>
        </a:xfrm>
      </p:grpSpPr>
      <p:sp>
        <p:nvSpPr>
          <p:cNvPr id="2" name="Panel | Find background">
            <a:extLst>
              <a:ext uri="{FF2B5EF4-FFF2-40B4-BE49-F238E27FC236}">
                <a16:creationId xmlns:a16="http://schemas.microsoft.com/office/drawing/2014/main" id="{A9090686-8929-C0A0-CCD3-B88878102309}"/>
              </a:ext>
            </a:extLst>
          </p:cNvPr>
          <p:cNvSpPr/>
          <p:nvPr/>
        </p:nvSpPr>
        <p:spPr>
          <a:xfrm>
            <a:off x="450985" y="89164"/>
            <a:ext cx="4381930" cy="1756103"/>
          </a:xfrm>
          <a:prstGeom prst="roundRect">
            <a:avLst>
              <a:gd name="adj" fmla="val 2000"/>
            </a:avLst>
          </a:prstGeom>
          <a:solidFill>
            <a:srgbClr val="F4F7FB"/>
          </a:solidFill>
          <a:ln w="9720">
            <a:solidFill>
              <a:srgbClr val="CFDB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3" name="Panel | Match background">
            <a:extLst>
              <a:ext uri="{FF2B5EF4-FFF2-40B4-BE49-F238E27FC236}">
                <a16:creationId xmlns:a16="http://schemas.microsoft.com/office/drawing/2014/main" id="{28703D02-0EE9-C5A6-609C-08019DDE7E4E}"/>
              </a:ext>
            </a:extLst>
          </p:cNvPr>
          <p:cNvSpPr/>
          <p:nvPr/>
        </p:nvSpPr>
        <p:spPr>
          <a:xfrm>
            <a:off x="450985" y="1884235"/>
            <a:ext cx="4381930" cy="2532204"/>
          </a:xfrm>
          <a:prstGeom prst="roundRect">
            <a:avLst>
              <a:gd name="adj" fmla="val 2000"/>
            </a:avLst>
          </a:prstGeom>
          <a:solidFill>
            <a:srgbClr val="F2F9F6"/>
          </a:solidFill>
          <a:ln w="9720">
            <a:solidFill>
              <a:srgbClr val="C8E2D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grpSp>
        <p:nvGrpSpPr>
          <p:cNvPr id="5" name="Input boundary layer">
            <a:extLst>
              <a:ext uri="{FF2B5EF4-FFF2-40B4-BE49-F238E27FC236}">
                <a16:creationId xmlns:a16="http://schemas.microsoft.com/office/drawing/2014/main" id="{DDB8823C-1C5D-EC2B-D97C-140C79222FB0}"/>
              </a:ext>
            </a:extLst>
          </p:cNvPr>
          <p:cNvGrpSpPr/>
          <p:nvPr/>
        </p:nvGrpSpPr>
        <p:grpSpPr>
          <a:xfrm>
            <a:off x="0" y="0"/>
            <a:ext cx="6480175" cy="4468813"/>
            <a:chOff x="0" y="0"/>
            <a:chExt cx="15240000" cy="10509702"/>
          </a:xfrm>
        </p:grpSpPr>
        <p:sp>
          <p:nvSpPr>
            <p:cNvPr id="1478" name="V8 Match input boundary">
              <a:extLst>
                <a:ext uri="{FF2B5EF4-FFF2-40B4-BE49-F238E27FC236}">
                  <a16:creationId xmlns:a16="http://schemas.microsoft.com/office/drawing/2014/main" id="{7D0554F4-AE1C-63F1-A885-352F5424EDA9}"/>
                </a:ext>
              </a:extLst>
            </p:cNvPr>
            <p:cNvSpPr/>
            <p:nvPr/>
          </p:nvSpPr>
          <p:spPr>
            <a:xfrm>
              <a:off x="1355735" y="5281627"/>
              <a:ext cx="3163259" cy="2511755"/>
            </a:xfrm>
            <a:custGeom>
              <a:avLst/>
              <a:gdLst/>
              <a:ahLst/>
              <a:cxnLst/>
              <a:rect l="l" t="t" r="r" b="b"/>
              <a:pathLst>
                <a:path w="1345044" h="1068019">
                  <a:moveTo>
                    <a:pt x="31750" y="0"/>
                  </a:moveTo>
                  <a:lnTo>
                    <a:pt x="893699" y="0"/>
                  </a:lnTo>
                  <a:cubicBezTo>
                    <a:pt x="911162" y="0"/>
                    <a:pt x="925449" y="14288"/>
                    <a:pt x="925449" y="31750"/>
                  </a:cubicBezTo>
                  <a:lnTo>
                    <a:pt x="925449" y="489521"/>
                  </a:lnTo>
                  <a:cubicBezTo>
                    <a:pt x="925449" y="506984"/>
                    <a:pt x="939736" y="521271"/>
                    <a:pt x="957199" y="521271"/>
                  </a:cubicBezTo>
                  <a:lnTo>
                    <a:pt x="1313294" y="521271"/>
                  </a:lnTo>
                  <a:cubicBezTo>
                    <a:pt x="1330757" y="521271"/>
                    <a:pt x="1345044" y="535559"/>
                    <a:pt x="1345044" y="553021"/>
                  </a:cubicBezTo>
                  <a:lnTo>
                    <a:pt x="1345044" y="1036269"/>
                  </a:lnTo>
                  <a:cubicBezTo>
                    <a:pt x="1345044" y="1053732"/>
                    <a:pt x="1330757" y="1068019"/>
                    <a:pt x="1313294" y="1068019"/>
                  </a:cubicBezTo>
                  <a:lnTo>
                    <a:pt x="31750" y="1068019"/>
                  </a:lnTo>
                  <a:cubicBezTo>
                    <a:pt x="14288" y="1068019"/>
                    <a:pt x="0" y="1053732"/>
                    <a:pt x="0" y="1036269"/>
                  </a:cubicBezTo>
                  <a:lnTo>
                    <a:pt x="0" y="31750"/>
                  </a:lnTo>
                  <a:cubicBezTo>
                    <a:pt x="0" y="14288"/>
                    <a:pt x="14288" y="0"/>
                    <a:pt x="31750" y="0"/>
                  </a:cubicBezTo>
                  <a:close/>
                </a:path>
              </a:pathLst>
            </a:custGeom>
            <a:solidFill>
              <a:srgbClr val="FFFFFF"/>
            </a:solidFill>
            <a:ln w="7290" cap="rnd">
              <a:solidFill>
                <a:srgbClr val="B6CEC5"/>
              </a:solidFill>
              <a:prstDash val="solid"/>
              <a:round/>
            </a:ln>
          </p:spPr>
          <p:txBody>
            <a:bodyPr/>
            <a:lstStyle/>
            <a:p>
              <a:endParaRPr lang="zh-CN" altLang="en-US" dirty="0"/>
            </a:p>
          </p:txBody>
        </p:sp>
      </p:grpSp>
      <p:sp>
        <p:nvSpPr>
          <p:cNvPr id="7" name="TextBox 4">
            <a:extLst>
              <a:ext uri="{FF2B5EF4-FFF2-40B4-BE49-F238E27FC236}">
                <a16:creationId xmlns:a16="http://schemas.microsoft.com/office/drawing/2014/main" id="{ADBC3EDA-5434-B072-0369-64F7979021C5}"/>
              </a:ext>
            </a:extLst>
          </p:cNvPr>
          <p:cNvSpPr txBox="1"/>
          <p:nvPr/>
        </p:nvSpPr>
        <p:spPr>
          <a:xfrm>
            <a:off x="519056" y="107111"/>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a</a:t>
            </a:r>
          </a:p>
        </p:txBody>
      </p:sp>
      <p:sp>
        <p:nvSpPr>
          <p:cNvPr id="8" name="TextBox 5">
            <a:extLst>
              <a:ext uri="{FF2B5EF4-FFF2-40B4-BE49-F238E27FC236}">
                <a16:creationId xmlns:a16="http://schemas.microsoft.com/office/drawing/2014/main" id="{BDE65E3A-EB06-F9D8-4F70-55D863BF89FB}"/>
              </a:ext>
            </a:extLst>
          </p:cNvPr>
          <p:cNvSpPr txBox="1"/>
          <p:nvPr/>
        </p:nvSpPr>
        <p:spPr>
          <a:xfrm>
            <a:off x="677263" y="124527"/>
            <a:ext cx="2531320" cy="123624"/>
          </a:xfrm>
          <a:prstGeom prst="rect">
            <a:avLst/>
          </a:prstGeom>
          <a:noFill/>
        </p:spPr>
        <p:txBody>
          <a:bodyPr wrap="square" lIns="0" tIns="0" rIns="0" bIns="0" anchor="ctr">
            <a:spAutoFit/>
          </a:bodyPr>
          <a:lstStyle/>
          <a:p>
            <a:pPr algn="l">
              <a:lnSpc>
                <a:spcPct val="105000"/>
              </a:lnSpc>
            </a:pPr>
            <a:r>
              <a:rPr sz="822">
                <a:solidFill>
                  <a:srgbClr val="263442"/>
                </a:solidFill>
                <a:latin typeface="Arial"/>
              </a:rPr>
              <a:t>Find: locate ligand regions</a:t>
            </a:r>
          </a:p>
        </p:txBody>
      </p:sp>
      <p:sp>
        <p:nvSpPr>
          <p:cNvPr id="9" name="TextBox 6">
            <a:extLst>
              <a:ext uri="{FF2B5EF4-FFF2-40B4-BE49-F238E27FC236}">
                <a16:creationId xmlns:a16="http://schemas.microsoft.com/office/drawing/2014/main" id="{F3FF857A-DE19-FC06-9455-89983F39C003}"/>
              </a:ext>
            </a:extLst>
          </p:cNvPr>
          <p:cNvSpPr txBox="1"/>
          <p:nvPr/>
        </p:nvSpPr>
        <p:spPr>
          <a:xfrm>
            <a:off x="519056" y="1909702"/>
            <a:ext cx="174028" cy="149656"/>
          </a:xfrm>
          <a:prstGeom prst="rect">
            <a:avLst/>
          </a:prstGeom>
          <a:noFill/>
        </p:spPr>
        <p:txBody>
          <a:bodyPr wrap="square" lIns="0" tIns="0" rIns="0" bIns="0" anchor="ctr">
            <a:spAutoFit/>
          </a:bodyPr>
          <a:lstStyle/>
          <a:p>
            <a:pPr>
              <a:lnSpc>
                <a:spcPct val="105000"/>
              </a:lnSpc>
            </a:pPr>
            <a:r>
              <a:rPr sz="995" b="1" dirty="0">
                <a:solidFill>
                  <a:srgbClr val="263442"/>
                </a:solidFill>
                <a:latin typeface="Arial"/>
              </a:rPr>
              <a:t>b</a:t>
            </a:r>
          </a:p>
        </p:txBody>
      </p:sp>
      <p:sp>
        <p:nvSpPr>
          <p:cNvPr id="10" name="TextBox 7">
            <a:extLst>
              <a:ext uri="{FF2B5EF4-FFF2-40B4-BE49-F238E27FC236}">
                <a16:creationId xmlns:a16="http://schemas.microsoft.com/office/drawing/2014/main" id="{70ECA487-21BB-6209-C18F-3026009B4E59}"/>
              </a:ext>
            </a:extLst>
          </p:cNvPr>
          <p:cNvSpPr txBox="1"/>
          <p:nvPr/>
        </p:nvSpPr>
        <p:spPr>
          <a:xfrm>
            <a:off x="677200" y="1931954"/>
            <a:ext cx="2847735" cy="123624"/>
          </a:xfrm>
          <a:prstGeom prst="rect">
            <a:avLst/>
          </a:prstGeom>
          <a:noFill/>
        </p:spPr>
        <p:txBody>
          <a:bodyPr wrap="square" lIns="0" tIns="0" rIns="0" bIns="0" anchor="ctr">
            <a:spAutoFit/>
          </a:bodyPr>
          <a:lstStyle/>
          <a:p>
            <a:pPr algn="l">
              <a:lnSpc>
                <a:spcPct val="105000"/>
              </a:lnSpc>
            </a:pPr>
            <a:r>
              <a:rPr sz="822" dirty="0">
                <a:solidFill>
                  <a:srgbClr val="263442"/>
                </a:solidFill>
                <a:latin typeface="Arial"/>
              </a:rPr>
              <a:t>Match: candidate-to-identity assignment</a:t>
            </a:r>
          </a:p>
        </p:txBody>
      </p:sp>
      <p:sp>
        <p:nvSpPr>
          <p:cNvPr id="13" name="Find | Density card">
            <a:extLst>
              <a:ext uri="{FF2B5EF4-FFF2-40B4-BE49-F238E27FC236}">
                <a16:creationId xmlns:a16="http://schemas.microsoft.com/office/drawing/2014/main" id="{CAB7453E-57E4-6069-E17B-BEBD584DE9C5}"/>
              </a:ext>
            </a:extLst>
          </p:cNvPr>
          <p:cNvSpPr/>
          <p:nvPr/>
        </p:nvSpPr>
        <p:spPr>
          <a:xfrm>
            <a:off x="540853" y="284774"/>
            <a:ext cx="488504" cy="680292"/>
          </a:xfrm>
          <a:prstGeom prst="roundRect">
            <a:avLst>
              <a:gd name="adj" fmla="val 6000"/>
            </a:avLst>
          </a:prstGeom>
          <a:solidFill>
            <a:srgbClr val="FFFFFF"/>
          </a:solidFill>
          <a:ln w="7290">
            <a:solidFill>
              <a:srgbClr val="CBD6E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14" name="TextBox 11">
            <a:extLst>
              <a:ext uri="{FF2B5EF4-FFF2-40B4-BE49-F238E27FC236}">
                <a16:creationId xmlns:a16="http://schemas.microsoft.com/office/drawing/2014/main" id="{E13F9DB9-2915-4D37-1A15-4DD879957FE6}"/>
              </a:ext>
            </a:extLst>
          </p:cNvPr>
          <p:cNvSpPr txBox="1"/>
          <p:nvPr/>
        </p:nvSpPr>
        <p:spPr>
          <a:xfrm>
            <a:off x="460928" y="318294"/>
            <a:ext cx="664471" cy="101503"/>
          </a:xfrm>
          <a:prstGeom prst="rect">
            <a:avLst/>
          </a:prstGeom>
          <a:noFill/>
        </p:spPr>
        <p:txBody>
          <a:bodyPr wrap="square" lIns="0" tIns="0" rIns="0" bIns="0" anchor="ctr">
            <a:spAutoFit/>
          </a:bodyPr>
          <a:lstStyle/>
          <a:p>
            <a:pPr algn="ctr">
              <a:lnSpc>
                <a:spcPct val="105000"/>
              </a:lnSpc>
            </a:pPr>
            <a:r>
              <a:rPr sz="675" dirty="0">
                <a:solidFill>
                  <a:srgbClr val="263442"/>
                </a:solidFill>
                <a:latin typeface="Arial"/>
              </a:rPr>
              <a:t>Density</a:t>
            </a:r>
          </a:p>
        </p:txBody>
      </p:sp>
      <p:sp>
        <p:nvSpPr>
          <p:cNvPr id="235" name="Find | Receptor card">
            <a:extLst>
              <a:ext uri="{FF2B5EF4-FFF2-40B4-BE49-F238E27FC236}">
                <a16:creationId xmlns:a16="http://schemas.microsoft.com/office/drawing/2014/main" id="{C39711EA-1578-1FDC-F7E5-415822DEC84F}"/>
              </a:ext>
            </a:extLst>
          </p:cNvPr>
          <p:cNvSpPr/>
          <p:nvPr/>
        </p:nvSpPr>
        <p:spPr>
          <a:xfrm>
            <a:off x="540852" y="1028349"/>
            <a:ext cx="489611" cy="727754"/>
          </a:xfrm>
          <a:prstGeom prst="roundRect">
            <a:avLst>
              <a:gd name="adj" fmla="val 6000"/>
            </a:avLst>
          </a:prstGeom>
          <a:solidFill>
            <a:srgbClr val="FFFFFF"/>
          </a:solidFill>
          <a:ln w="7290">
            <a:solidFill>
              <a:srgbClr val="CBD6E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6" name="TextBox 6212">
            <a:extLst>
              <a:ext uri="{FF2B5EF4-FFF2-40B4-BE49-F238E27FC236}">
                <a16:creationId xmlns:a16="http://schemas.microsoft.com/office/drawing/2014/main" id="{4566817F-CA11-3CA5-4ED5-534E4B65A1C1}"/>
              </a:ext>
            </a:extLst>
          </p:cNvPr>
          <p:cNvSpPr txBox="1"/>
          <p:nvPr/>
        </p:nvSpPr>
        <p:spPr>
          <a:xfrm>
            <a:off x="434702" y="1053973"/>
            <a:ext cx="664471" cy="101503"/>
          </a:xfrm>
          <a:prstGeom prst="rect">
            <a:avLst/>
          </a:prstGeom>
          <a:noFill/>
        </p:spPr>
        <p:txBody>
          <a:bodyPr wrap="square" lIns="0" tIns="0" rIns="0" bIns="0" anchor="ctr">
            <a:spAutoFit/>
          </a:bodyPr>
          <a:lstStyle/>
          <a:p>
            <a:pPr algn="ctr">
              <a:lnSpc>
                <a:spcPct val="105000"/>
              </a:lnSpc>
            </a:pPr>
            <a:r>
              <a:rPr sz="675" dirty="0">
                <a:solidFill>
                  <a:srgbClr val="263442"/>
                </a:solidFill>
                <a:latin typeface="Arial"/>
              </a:rPr>
              <a:t>Receptor</a:t>
            </a:r>
          </a:p>
        </p:txBody>
      </p:sp>
      <p:sp>
        <p:nvSpPr>
          <p:cNvPr id="237" name="Find | 3D voxel U-Net box">
            <a:extLst>
              <a:ext uri="{FF2B5EF4-FFF2-40B4-BE49-F238E27FC236}">
                <a16:creationId xmlns:a16="http://schemas.microsoft.com/office/drawing/2014/main" id="{84C31B5C-DB46-3102-A094-A625CBC3795B}"/>
              </a:ext>
            </a:extLst>
          </p:cNvPr>
          <p:cNvSpPr/>
          <p:nvPr/>
        </p:nvSpPr>
        <p:spPr>
          <a:xfrm>
            <a:off x="1932849" y="284774"/>
            <a:ext cx="2183263" cy="743575"/>
          </a:xfrm>
          <a:prstGeom prst="roundRect">
            <a:avLst>
              <a:gd name="adj" fmla="val 5000"/>
            </a:avLst>
          </a:prstGeom>
          <a:solidFill>
            <a:srgbClr val="EDF3FA"/>
          </a:solidFill>
          <a:ln w="7290">
            <a:solidFill>
              <a:srgbClr val="C3D4E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8" name="TextBox 6223">
            <a:extLst>
              <a:ext uri="{FF2B5EF4-FFF2-40B4-BE49-F238E27FC236}">
                <a16:creationId xmlns:a16="http://schemas.microsoft.com/office/drawing/2014/main" id="{D0BEE622-6A06-FAEC-A1B9-E12DAFA59B95}"/>
              </a:ext>
            </a:extLst>
          </p:cNvPr>
          <p:cNvSpPr txBox="1"/>
          <p:nvPr/>
        </p:nvSpPr>
        <p:spPr>
          <a:xfrm>
            <a:off x="1932849" y="310561"/>
            <a:ext cx="2183263" cy="106632"/>
          </a:xfrm>
          <a:prstGeom prst="rect">
            <a:avLst/>
          </a:prstGeom>
          <a:noFill/>
        </p:spPr>
        <p:txBody>
          <a:bodyPr wrap="square" lIns="0" tIns="0" rIns="0" bIns="0" anchor="ctr">
            <a:spAutoFit/>
          </a:bodyPr>
          <a:lstStyle/>
          <a:p>
            <a:pPr algn="ctr">
              <a:lnSpc>
                <a:spcPct val="105000"/>
              </a:lnSpc>
            </a:pPr>
            <a:r>
              <a:rPr sz="709">
                <a:solidFill>
                  <a:srgbClr val="263442"/>
                </a:solidFill>
                <a:latin typeface="Arial"/>
              </a:rPr>
              <a:t>3D voxel U-Net</a:t>
            </a:r>
          </a:p>
        </p:txBody>
      </p:sp>
      <p:sp>
        <p:nvSpPr>
          <p:cNvPr id="239" name="TextBox 6224">
            <a:extLst>
              <a:ext uri="{FF2B5EF4-FFF2-40B4-BE49-F238E27FC236}">
                <a16:creationId xmlns:a16="http://schemas.microsoft.com/office/drawing/2014/main" id="{6162AD09-868A-9802-DD3F-493AE18E658B}"/>
              </a:ext>
            </a:extLst>
          </p:cNvPr>
          <p:cNvSpPr txBox="1"/>
          <p:nvPr/>
        </p:nvSpPr>
        <p:spPr>
          <a:xfrm>
            <a:off x="1932704" y="415407"/>
            <a:ext cx="2183414" cy="84510"/>
          </a:xfrm>
          <a:prstGeom prst="rect">
            <a:avLst/>
          </a:prstGeom>
          <a:noFill/>
        </p:spPr>
        <p:txBody>
          <a:bodyPr wrap="square" lIns="0" tIns="0" rIns="0" bIns="0" anchor="ctr">
            <a:spAutoFit/>
          </a:bodyPr>
          <a:lstStyle/>
          <a:p>
            <a:pPr algn="ctr">
              <a:lnSpc>
                <a:spcPct val="105000"/>
              </a:lnSpc>
            </a:pPr>
            <a:r>
              <a:rPr sz="562" i="1" dirty="0">
                <a:solidFill>
                  <a:srgbClr val="263442"/>
                </a:solidFill>
                <a:latin typeface="Arial"/>
              </a:rPr>
              <a:t>Skip connections</a:t>
            </a:r>
          </a:p>
        </p:txBody>
      </p:sp>
      <p:sp>
        <p:nvSpPr>
          <p:cNvPr id="240" name="TextBox 10003">
            <a:extLst>
              <a:ext uri="{FF2B5EF4-FFF2-40B4-BE49-F238E27FC236}">
                <a16:creationId xmlns:a16="http://schemas.microsoft.com/office/drawing/2014/main" id="{09C48FDC-7786-8263-4A08-E75021FC8287}"/>
              </a:ext>
            </a:extLst>
          </p:cNvPr>
          <p:cNvSpPr txBox="1"/>
          <p:nvPr/>
        </p:nvSpPr>
        <p:spPr>
          <a:xfrm>
            <a:off x="2098966"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Encoder</a:t>
            </a:r>
          </a:p>
        </p:txBody>
      </p:sp>
      <p:sp>
        <p:nvSpPr>
          <p:cNvPr id="241" name="TextBox 10004">
            <a:extLst>
              <a:ext uri="{FF2B5EF4-FFF2-40B4-BE49-F238E27FC236}">
                <a16:creationId xmlns:a16="http://schemas.microsoft.com/office/drawing/2014/main" id="{5D7C6AF6-28C5-C78C-2A6D-53148E9C5409}"/>
              </a:ext>
            </a:extLst>
          </p:cNvPr>
          <p:cNvSpPr txBox="1"/>
          <p:nvPr/>
        </p:nvSpPr>
        <p:spPr>
          <a:xfrm>
            <a:off x="2747617"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Bottleneck</a:t>
            </a:r>
          </a:p>
        </p:txBody>
      </p:sp>
      <p:sp>
        <p:nvSpPr>
          <p:cNvPr id="242" name="TextBox 10005">
            <a:extLst>
              <a:ext uri="{FF2B5EF4-FFF2-40B4-BE49-F238E27FC236}">
                <a16:creationId xmlns:a16="http://schemas.microsoft.com/office/drawing/2014/main" id="{7CC49EB1-DBD1-A7E7-516D-CECCC1D041F1}"/>
              </a:ext>
            </a:extLst>
          </p:cNvPr>
          <p:cNvSpPr txBox="1"/>
          <p:nvPr/>
        </p:nvSpPr>
        <p:spPr>
          <a:xfrm>
            <a:off x="3396268"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Decoder</a:t>
            </a:r>
          </a:p>
        </p:txBody>
      </p:sp>
      <p:sp>
        <p:nvSpPr>
          <p:cNvPr id="243" name="Find | Point Transformer V3 box">
            <a:extLst>
              <a:ext uri="{FF2B5EF4-FFF2-40B4-BE49-F238E27FC236}">
                <a16:creationId xmlns:a16="http://schemas.microsoft.com/office/drawing/2014/main" id="{E6BB0EBE-E97F-0460-89AE-378626BAD4D7}"/>
              </a:ext>
            </a:extLst>
          </p:cNvPr>
          <p:cNvSpPr/>
          <p:nvPr/>
        </p:nvSpPr>
        <p:spPr>
          <a:xfrm>
            <a:off x="1932849" y="1170736"/>
            <a:ext cx="2183263" cy="585368"/>
          </a:xfrm>
          <a:prstGeom prst="roundRect">
            <a:avLst>
              <a:gd name="adj" fmla="val 5000"/>
            </a:avLst>
          </a:prstGeom>
          <a:solidFill>
            <a:srgbClr val="EDF3FA"/>
          </a:solidFill>
          <a:ln w="7290">
            <a:solidFill>
              <a:srgbClr val="C3D4E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grpSp>
        <p:nvGrpSpPr>
          <p:cNvPr id="244" name="Find | PTV3 stage 1 (no pseudo)">
            <a:extLst>
              <a:ext uri="{FF2B5EF4-FFF2-40B4-BE49-F238E27FC236}">
                <a16:creationId xmlns:a16="http://schemas.microsoft.com/office/drawing/2014/main" id="{B4F71929-AC06-8CA3-B3DD-0D60585A9033}"/>
              </a:ext>
            </a:extLst>
          </p:cNvPr>
          <p:cNvGrpSpPr/>
          <p:nvPr/>
        </p:nvGrpSpPr>
        <p:grpSpPr>
          <a:xfrm>
            <a:off x="2023818" y="1222153"/>
            <a:ext cx="276863" cy="197759"/>
            <a:chOff x="1837958" y="1438830"/>
            <a:chExt cx="279225" cy="243090"/>
          </a:xfrm>
        </p:grpSpPr>
        <p:sp>
          <p:nvSpPr>
            <p:cNvPr id="245" name="rect_1844">
              <a:extLst>
                <a:ext uri="{FF2B5EF4-FFF2-40B4-BE49-F238E27FC236}">
                  <a16:creationId xmlns:a16="http://schemas.microsoft.com/office/drawing/2014/main" id="{660AA888-4092-6DA6-78D3-4B888E2B2DA3}"/>
                </a:ext>
              </a:extLst>
            </p:cNvPr>
            <p:cNvSpPr/>
            <p:nvPr/>
          </p:nvSpPr>
          <p:spPr>
            <a:xfrm>
              <a:off x="1837958" y="1438830"/>
              <a:ext cx="279225" cy="243090"/>
            </a:xfrm>
            <a:prstGeom prst="roundRect">
              <a:avLst>
                <a:gd name="adj" fmla="val 6757"/>
              </a:avLst>
            </a:prstGeom>
            <a:solidFill>
              <a:srgbClr val="F8F5FC"/>
            </a:solidFill>
            <a:ln w="2540" cap="rnd" cmpd="sng" algn="ctr">
              <a:solidFill>
                <a:srgbClr val="C3D4E6"/>
              </a:solidFill>
              <a:prstDash val="solid"/>
              <a:round/>
              <a:headEnd type="none" w="med" len="med"/>
              <a:tailEnd type="none" w="med" len="med"/>
            </a:ln>
            <a:effectLst/>
          </p:spPr>
        </p:sp>
        <p:sp>
          <p:nvSpPr>
            <p:cNvPr id="246" name="ellipse_1845">
              <a:extLst>
                <a:ext uri="{FF2B5EF4-FFF2-40B4-BE49-F238E27FC236}">
                  <a16:creationId xmlns:a16="http://schemas.microsoft.com/office/drawing/2014/main" id="{8ED69D04-8A29-A5B5-FEDE-87DBF5A86A21}"/>
                </a:ext>
              </a:extLst>
            </p:cNvPr>
            <p:cNvSpPr/>
            <p:nvPr/>
          </p:nvSpPr>
          <p:spPr>
            <a:xfrm>
              <a:off x="1911179" y="154988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7" name="ellipse_1846">
              <a:extLst>
                <a:ext uri="{FF2B5EF4-FFF2-40B4-BE49-F238E27FC236}">
                  <a16:creationId xmlns:a16="http://schemas.microsoft.com/office/drawing/2014/main" id="{2F757B70-05BB-1D52-EAD7-99F943EE0786}"/>
                </a:ext>
              </a:extLst>
            </p:cNvPr>
            <p:cNvSpPr/>
            <p:nvPr/>
          </p:nvSpPr>
          <p:spPr>
            <a:xfrm>
              <a:off x="2016057" y="15691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8" name="ellipse_1847">
              <a:extLst>
                <a:ext uri="{FF2B5EF4-FFF2-40B4-BE49-F238E27FC236}">
                  <a16:creationId xmlns:a16="http://schemas.microsoft.com/office/drawing/2014/main" id="{33900347-5FB5-F6C0-81F6-93C079B537C5}"/>
                </a:ext>
              </a:extLst>
            </p:cNvPr>
            <p:cNvSpPr/>
            <p:nvPr/>
          </p:nvSpPr>
          <p:spPr>
            <a:xfrm>
              <a:off x="1901005" y="1463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9" name="ellipse_1848">
              <a:extLst>
                <a:ext uri="{FF2B5EF4-FFF2-40B4-BE49-F238E27FC236}">
                  <a16:creationId xmlns:a16="http://schemas.microsoft.com/office/drawing/2014/main" id="{D9E3B372-BB0F-C9A4-3974-A8E7AF7737B7}"/>
                </a:ext>
              </a:extLst>
            </p:cNvPr>
            <p:cNvSpPr/>
            <p:nvPr/>
          </p:nvSpPr>
          <p:spPr>
            <a:xfrm>
              <a:off x="1966917" y="149122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0" name="ellipse_1849">
              <a:extLst>
                <a:ext uri="{FF2B5EF4-FFF2-40B4-BE49-F238E27FC236}">
                  <a16:creationId xmlns:a16="http://schemas.microsoft.com/office/drawing/2014/main" id="{65731899-DB97-2E91-5665-E8C978110F71}"/>
                </a:ext>
              </a:extLst>
            </p:cNvPr>
            <p:cNvSpPr/>
            <p:nvPr/>
          </p:nvSpPr>
          <p:spPr>
            <a:xfrm>
              <a:off x="1981202" y="14619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1" name="ellipse_1850">
              <a:extLst>
                <a:ext uri="{FF2B5EF4-FFF2-40B4-BE49-F238E27FC236}">
                  <a16:creationId xmlns:a16="http://schemas.microsoft.com/office/drawing/2014/main" id="{FB870BF7-7DC4-B374-8AD0-46EC506BB29E}"/>
                </a:ext>
              </a:extLst>
            </p:cNvPr>
            <p:cNvSpPr/>
            <p:nvPr/>
          </p:nvSpPr>
          <p:spPr>
            <a:xfrm>
              <a:off x="2025801" y="15227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2" name="ellipse_1851">
              <a:extLst>
                <a:ext uri="{FF2B5EF4-FFF2-40B4-BE49-F238E27FC236}">
                  <a16:creationId xmlns:a16="http://schemas.microsoft.com/office/drawing/2014/main" id="{FB5210B2-4DAF-5841-3925-445BB6BA8E65}"/>
                </a:ext>
              </a:extLst>
            </p:cNvPr>
            <p:cNvSpPr/>
            <p:nvPr/>
          </p:nvSpPr>
          <p:spPr>
            <a:xfrm>
              <a:off x="1923657" y="157409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3" name="ellipse_1852">
              <a:extLst>
                <a:ext uri="{FF2B5EF4-FFF2-40B4-BE49-F238E27FC236}">
                  <a16:creationId xmlns:a16="http://schemas.microsoft.com/office/drawing/2014/main" id="{5E297BB0-4B0B-7393-6335-0A8D413997FE}"/>
                </a:ext>
              </a:extLst>
            </p:cNvPr>
            <p:cNvSpPr/>
            <p:nvPr/>
          </p:nvSpPr>
          <p:spPr>
            <a:xfrm>
              <a:off x="2046951" y="149268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4" name="ellipse_1853">
              <a:extLst>
                <a:ext uri="{FF2B5EF4-FFF2-40B4-BE49-F238E27FC236}">
                  <a16:creationId xmlns:a16="http://schemas.microsoft.com/office/drawing/2014/main" id="{3460EDB7-F270-4A51-230E-76F07C518E5B}"/>
                </a:ext>
              </a:extLst>
            </p:cNvPr>
            <p:cNvSpPr/>
            <p:nvPr/>
          </p:nvSpPr>
          <p:spPr>
            <a:xfrm>
              <a:off x="1971403" y="1621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5" name="ellipse_1854">
              <a:extLst>
                <a:ext uri="{FF2B5EF4-FFF2-40B4-BE49-F238E27FC236}">
                  <a16:creationId xmlns:a16="http://schemas.microsoft.com/office/drawing/2014/main" id="{D7F22E2B-29AF-AAFC-9390-4763B76AC824}"/>
                </a:ext>
              </a:extLst>
            </p:cNvPr>
            <p:cNvSpPr/>
            <p:nvPr/>
          </p:nvSpPr>
          <p:spPr>
            <a:xfrm>
              <a:off x="1916632" y="148370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56" name="Find | PTV3 stage 2 (no pseudo)">
            <a:extLst>
              <a:ext uri="{FF2B5EF4-FFF2-40B4-BE49-F238E27FC236}">
                <a16:creationId xmlns:a16="http://schemas.microsoft.com/office/drawing/2014/main" id="{F4A044B8-F6CD-9A28-3075-23E9F1427BD6}"/>
              </a:ext>
            </a:extLst>
          </p:cNvPr>
          <p:cNvGrpSpPr/>
          <p:nvPr/>
        </p:nvGrpSpPr>
        <p:grpSpPr>
          <a:xfrm>
            <a:off x="2454581" y="1218198"/>
            <a:ext cx="269656" cy="205670"/>
            <a:chOff x="2276505" y="1465110"/>
            <a:chExt cx="243090" cy="190530"/>
          </a:xfrm>
        </p:grpSpPr>
        <p:sp>
          <p:nvSpPr>
            <p:cNvPr id="257" name="rect_1860">
              <a:extLst>
                <a:ext uri="{FF2B5EF4-FFF2-40B4-BE49-F238E27FC236}">
                  <a16:creationId xmlns:a16="http://schemas.microsoft.com/office/drawing/2014/main" id="{2A2BC9FE-9931-3C68-E213-012D2334D100}"/>
                </a:ext>
              </a:extLst>
            </p:cNvPr>
            <p:cNvSpPr/>
            <p:nvPr/>
          </p:nvSpPr>
          <p:spPr>
            <a:xfrm>
              <a:off x="2276505" y="1465110"/>
              <a:ext cx="243090" cy="190530"/>
            </a:xfrm>
            <a:prstGeom prst="roundRect">
              <a:avLst>
                <a:gd name="adj" fmla="val 8621"/>
              </a:avLst>
            </a:prstGeom>
            <a:solidFill>
              <a:srgbClr val="F8F5FC"/>
            </a:solidFill>
            <a:ln w="2540" cap="rnd" cmpd="sng" algn="ctr">
              <a:solidFill>
                <a:srgbClr val="C3D4E6"/>
              </a:solidFill>
              <a:prstDash val="solid"/>
              <a:round/>
              <a:headEnd type="none" w="med" len="med"/>
              <a:tailEnd type="none" w="med" len="med"/>
            </a:ln>
            <a:effectLst/>
          </p:spPr>
        </p:sp>
        <p:sp>
          <p:nvSpPr>
            <p:cNvPr id="258" name="ellipse_1861">
              <a:extLst>
                <a:ext uri="{FF2B5EF4-FFF2-40B4-BE49-F238E27FC236}">
                  <a16:creationId xmlns:a16="http://schemas.microsoft.com/office/drawing/2014/main" id="{0D3FC1DA-E4D9-46A0-549F-86D3BA55D6FD}"/>
                </a:ext>
              </a:extLst>
            </p:cNvPr>
            <p:cNvSpPr/>
            <p:nvPr/>
          </p:nvSpPr>
          <p:spPr>
            <a:xfrm>
              <a:off x="2443383" y="14753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9" name="ellipse_1862">
              <a:extLst>
                <a:ext uri="{FF2B5EF4-FFF2-40B4-BE49-F238E27FC236}">
                  <a16:creationId xmlns:a16="http://schemas.microsoft.com/office/drawing/2014/main" id="{2E76A36E-124A-FF28-5F0C-9D8A556CAB6E}"/>
                </a:ext>
              </a:extLst>
            </p:cNvPr>
            <p:cNvSpPr/>
            <p:nvPr/>
          </p:nvSpPr>
          <p:spPr>
            <a:xfrm>
              <a:off x="2334302" y="149054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0" name="ellipse_1863">
              <a:extLst>
                <a:ext uri="{FF2B5EF4-FFF2-40B4-BE49-F238E27FC236}">
                  <a16:creationId xmlns:a16="http://schemas.microsoft.com/office/drawing/2014/main" id="{D535EE24-6485-F339-2CB7-F9EF085CB943}"/>
                </a:ext>
              </a:extLst>
            </p:cNvPr>
            <p:cNvSpPr/>
            <p:nvPr/>
          </p:nvSpPr>
          <p:spPr>
            <a:xfrm>
              <a:off x="2421391" y="151821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1" name="ellipse_1864">
              <a:extLst>
                <a:ext uri="{FF2B5EF4-FFF2-40B4-BE49-F238E27FC236}">
                  <a16:creationId xmlns:a16="http://schemas.microsoft.com/office/drawing/2014/main" id="{3E3B8E8E-0D51-B463-1AC5-8ABBD0D94E5F}"/>
                </a:ext>
              </a:extLst>
            </p:cNvPr>
            <p:cNvSpPr/>
            <p:nvPr/>
          </p:nvSpPr>
          <p:spPr>
            <a:xfrm>
              <a:off x="2395798" y="148175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2" name="ellipse_1865">
              <a:extLst>
                <a:ext uri="{FF2B5EF4-FFF2-40B4-BE49-F238E27FC236}">
                  <a16:creationId xmlns:a16="http://schemas.microsoft.com/office/drawing/2014/main" id="{A78CC97C-CF00-B4B4-232A-6540F415567F}"/>
                </a:ext>
              </a:extLst>
            </p:cNvPr>
            <p:cNvSpPr/>
            <p:nvPr/>
          </p:nvSpPr>
          <p:spPr>
            <a:xfrm>
              <a:off x="2345071" y="160888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3" name="ellipse_1866">
              <a:extLst>
                <a:ext uri="{FF2B5EF4-FFF2-40B4-BE49-F238E27FC236}">
                  <a16:creationId xmlns:a16="http://schemas.microsoft.com/office/drawing/2014/main" id="{1C7DD56E-5535-8B2E-615C-21EEB3FC0B60}"/>
                </a:ext>
              </a:extLst>
            </p:cNvPr>
            <p:cNvSpPr/>
            <p:nvPr/>
          </p:nvSpPr>
          <p:spPr>
            <a:xfrm>
              <a:off x="2455927" y="15235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4" name="ellipse_1867">
              <a:extLst>
                <a:ext uri="{FF2B5EF4-FFF2-40B4-BE49-F238E27FC236}">
                  <a16:creationId xmlns:a16="http://schemas.microsoft.com/office/drawing/2014/main" id="{53E5DFEF-A738-E1E2-6D82-562898867479}"/>
                </a:ext>
              </a:extLst>
            </p:cNvPr>
            <p:cNvSpPr/>
            <p:nvPr/>
          </p:nvSpPr>
          <p:spPr>
            <a:xfrm>
              <a:off x="2415612" y="15382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5" name="ellipse_1868">
              <a:extLst>
                <a:ext uri="{FF2B5EF4-FFF2-40B4-BE49-F238E27FC236}">
                  <a16:creationId xmlns:a16="http://schemas.microsoft.com/office/drawing/2014/main" id="{9F15DB89-4578-E9D4-B66C-9772D337DE92}"/>
                </a:ext>
              </a:extLst>
            </p:cNvPr>
            <p:cNvSpPr/>
            <p:nvPr/>
          </p:nvSpPr>
          <p:spPr>
            <a:xfrm>
              <a:off x="2384162" y="155385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66" name="Find | PTV3 stage 3 (no pseudo)">
            <a:extLst>
              <a:ext uri="{FF2B5EF4-FFF2-40B4-BE49-F238E27FC236}">
                <a16:creationId xmlns:a16="http://schemas.microsoft.com/office/drawing/2014/main" id="{8E5AF76E-A5D2-A1C4-1196-A1FB989CBECC}"/>
              </a:ext>
            </a:extLst>
          </p:cNvPr>
          <p:cNvGrpSpPr/>
          <p:nvPr/>
        </p:nvGrpSpPr>
        <p:grpSpPr>
          <a:xfrm>
            <a:off x="2902421" y="1230063"/>
            <a:ext cx="244120" cy="181939"/>
            <a:chOff x="2703555" y="1491390"/>
            <a:chExt cx="190530" cy="137970"/>
          </a:xfrm>
        </p:grpSpPr>
        <p:sp>
          <p:nvSpPr>
            <p:cNvPr id="267" name="rect_1874">
              <a:extLst>
                <a:ext uri="{FF2B5EF4-FFF2-40B4-BE49-F238E27FC236}">
                  <a16:creationId xmlns:a16="http://schemas.microsoft.com/office/drawing/2014/main" id="{75101B77-5988-FEB7-22BD-46F0384ADBC8}"/>
                </a:ext>
              </a:extLst>
            </p:cNvPr>
            <p:cNvSpPr/>
            <p:nvPr/>
          </p:nvSpPr>
          <p:spPr>
            <a:xfrm>
              <a:off x="2703555" y="1491390"/>
              <a:ext cx="190530" cy="137970"/>
            </a:xfrm>
            <a:prstGeom prst="roundRect">
              <a:avLst>
                <a:gd name="adj" fmla="val 11905"/>
              </a:avLst>
            </a:prstGeom>
            <a:solidFill>
              <a:srgbClr val="F8F5FC"/>
            </a:solidFill>
            <a:ln w="2540" cap="rnd" cmpd="sng" algn="ctr">
              <a:solidFill>
                <a:srgbClr val="C3D4E6"/>
              </a:solidFill>
              <a:prstDash val="solid"/>
              <a:round/>
              <a:headEnd type="none" w="med" len="med"/>
              <a:tailEnd type="none" w="med" len="med"/>
            </a:ln>
            <a:effectLst/>
          </p:spPr>
        </p:sp>
        <p:sp>
          <p:nvSpPr>
            <p:cNvPr id="268" name="ellipse_1875">
              <a:extLst>
                <a:ext uri="{FF2B5EF4-FFF2-40B4-BE49-F238E27FC236}">
                  <a16:creationId xmlns:a16="http://schemas.microsoft.com/office/drawing/2014/main" id="{0F3768B9-45DC-D239-6ECE-6B199905A0E6}"/>
                </a:ext>
              </a:extLst>
            </p:cNvPr>
            <p:cNvSpPr/>
            <p:nvPr/>
          </p:nvSpPr>
          <p:spPr>
            <a:xfrm>
              <a:off x="2782342" y="152486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9" name="ellipse_1876">
              <a:extLst>
                <a:ext uri="{FF2B5EF4-FFF2-40B4-BE49-F238E27FC236}">
                  <a16:creationId xmlns:a16="http://schemas.microsoft.com/office/drawing/2014/main" id="{9AC2E9D9-EA81-CB60-9668-376E55C3B65A}"/>
                </a:ext>
              </a:extLst>
            </p:cNvPr>
            <p:cNvSpPr/>
            <p:nvPr/>
          </p:nvSpPr>
          <p:spPr>
            <a:xfrm>
              <a:off x="2750750" y="159446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0" name="ellipse_1877">
              <a:extLst>
                <a:ext uri="{FF2B5EF4-FFF2-40B4-BE49-F238E27FC236}">
                  <a16:creationId xmlns:a16="http://schemas.microsoft.com/office/drawing/2014/main" id="{193512C0-B984-BF26-53B2-A4C133832B19}"/>
                </a:ext>
              </a:extLst>
            </p:cNvPr>
            <p:cNvSpPr/>
            <p:nvPr/>
          </p:nvSpPr>
          <p:spPr>
            <a:xfrm>
              <a:off x="2743887" y="14971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1" name="ellipse_1878">
              <a:extLst>
                <a:ext uri="{FF2B5EF4-FFF2-40B4-BE49-F238E27FC236}">
                  <a16:creationId xmlns:a16="http://schemas.microsoft.com/office/drawing/2014/main" id="{010957FC-182F-1FF9-1554-385555C7E5BB}"/>
                </a:ext>
              </a:extLst>
            </p:cNvPr>
            <p:cNvSpPr/>
            <p:nvPr/>
          </p:nvSpPr>
          <p:spPr>
            <a:xfrm>
              <a:off x="2833390" y="151132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2" name="ellipse_1879">
              <a:extLst>
                <a:ext uri="{FF2B5EF4-FFF2-40B4-BE49-F238E27FC236}">
                  <a16:creationId xmlns:a16="http://schemas.microsoft.com/office/drawing/2014/main" id="{D3BED3D3-6945-FBFB-0ADC-29AB3D61D264}"/>
                </a:ext>
              </a:extLst>
            </p:cNvPr>
            <p:cNvSpPr/>
            <p:nvPr/>
          </p:nvSpPr>
          <p:spPr>
            <a:xfrm>
              <a:off x="2831792" y="156772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73" name="Find | PTV3 stage 4 (no pseudo)">
            <a:extLst>
              <a:ext uri="{FF2B5EF4-FFF2-40B4-BE49-F238E27FC236}">
                <a16:creationId xmlns:a16="http://schemas.microsoft.com/office/drawing/2014/main" id="{6152C243-7C11-72B4-655A-F6C20103F058}"/>
              </a:ext>
            </a:extLst>
          </p:cNvPr>
          <p:cNvGrpSpPr/>
          <p:nvPr/>
        </p:nvGrpSpPr>
        <p:grpSpPr>
          <a:xfrm>
            <a:off x="3324724" y="1218198"/>
            <a:ext cx="269656" cy="205670"/>
            <a:chOff x="3097755" y="1465110"/>
            <a:chExt cx="243090" cy="190530"/>
          </a:xfrm>
        </p:grpSpPr>
        <p:sp>
          <p:nvSpPr>
            <p:cNvPr id="274" name="rect_1885">
              <a:extLst>
                <a:ext uri="{FF2B5EF4-FFF2-40B4-BE49-F238E27FC236}">
                  <a16:creationId xmlns:a16="http://schemas.microsoft.com/office/drawing/2014/main" id="{02A84936-E0C4-22EE-AB39-B8147866C1E6}"/>
                </a:ext>
              </a:extLst>
            </p:cNvPr>
            <p:cNvSpPr/>
            <p:nvPr/>
          </p:nvSpPr>
          <p:spPr>
            <a:xfrm>
              <a:off x="3097755" y="1465110"/>
              <a:ext cx="243090" cy="190530"/>
            </a:xfrm>
            <a:prstGeom prst="roundRect">
              <a:avLst>
                <a:gd name="adj" fmla="val 8621"/>
              </a:avLst>
            </a:prstGeom>
            <a:solidFill>
              <a:srgbClr val="F8F5FC"/>
            </a:solidFill>
            <a:ln w="2540" cap="rnd" cmpd="sng" algn="ctr">
              <a:solidFill>
                <a:srgbClr val="C3D4E6"/>
              </a:solidFill>
              <a:prstDash val="solid"/>
              <a:round/>
              <a:headEnd type="none" w="med" len="med"/>
              <a:tailEnd type="none" w="med" len="med"/>
            </a:ln>
            <a:effectLst/>
          </p:spPr>
        </p:sp>
        <p:sp>
          <p:nvSpPr>
            <p:cNvPr id="275" name="ellipse_1886">
              <a:extLst>
                <a:ext uri="{FF2B5EF4-FFF2-40B4-BE49-F238E27FC236}">
                  <a16:creationId xmlns:a16="http://schemas.microsoft.com/office/drawing/2014/main" id="{28C5B77C-D4DA-25CA-7F5E-FFB406D4948B}"/>
                </a:ext>
              </a:extLst>
            </p:cNvPr>
            <p:cNvSpPr/>
            <p:nvPr/>
          </p:nvSpPr>
          <p:spPr>
            <a:xfrm>
              <a:off x="3274804" y="154785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6" name="ellipse_1887">
              <a:extLst>
                <a:ext uri="{FF2B5EF4-FFF2-40B4-BE49-F238E27FC236}">
                  <a16:creationId xmlns:a16="http://schemas.microsoft.com/office/drawing/2014/main" id="{4B9C2CC8-3618-CEA6-223F-481DE7645A74}"/>
                </a:ext>
              </a:extLst>
            </p:cNvPr>
            <p:cNvSpPr/>
            <p:nvPr/>
          </p:nvSpPr>
          <p:spPr>
            <a:xfrm>
              <a:off x="3235593" y="156879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7" name="ellipse_1888">
              <a:extLst>
                <a:ext uri="{FF2B5EF4-FFF2-40B4-BE49-F238E27FC236}">
                  <a16:creationId xmlns:a16="http://schemas.microsoft.com/office/drawing/2014/main" id="{116AA07D-1658-6583-2048-22DAA979C713}"/>
                </a:ext>
              </a:extLst>
            </p:cNvPr>
            <p:cNvSpPr/>
            <p:nvPr/>
          </p:nvSpPr>
          <p:spPr>
            <a:xfrm>
              <a:off x="3215524" y="154839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8" name="ellipse_1889">
              <a:extLst>
                <a:ext uri="{FF2B5EF4-FFF2-40B4-BE49-F238E27FC236}">
                  <a16:creationId xmlns:a16="http://schemas.microsoft.com/office/drawing/2014/main" id="{B9996B1C-4365-A5B2-A0FA-BEEE1AE3580D}"/>
                </a:ext>
              </a:extLst>
            </p:cNvPr>
            <p:cNvSpPr/>
            <p:nvPr/>
          </p:nvSpPr>
          <p:spPr>
            <a:xfrm>
              <a:off x="3114632" y="15799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9" name="ellipse_1890">
              <a:extLst>
                <a:ext uri="{FF2B5EF4-FFF2-40B4-BE49-F238E27FC236}">
                  <a16:creationId xmlns:a16="http://schemas.microsoft.com/office/drawing/2014/main" id="{B24EA66B-C475-FD74-3653-99240EA2FC7D}"/>
                </a:ext>
              </a:extLst>
            </p:cNvPr>
            <p:cNvSpPr/>
            <p:nvPr/>
          </p:nvSpPr>
          <p:spPr>
            <a:xfrm>
              <a:off x="3288227" y="158414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0" name="ellipse_1891">
              <a:extLst>
                <a:ext uri="{FF2B5EF4-FFF2-40B4-BE49-F238E27FC236}">
                  <a16:creationId xmlns:a16="http://schemas.microsoft.com/office/drawing/2014/main" id="{7C05A257-A858-E4EC-CE72-2E262BB52B07}"/>
                </a:ext>
              </a:extLst>
            </p:cNvPr>
            <p:cNvSpPr/>
            <p:nvPr/>
          </p:nvSpPr>
          <p:spPr>
            <a:xfrm>
              <a:off x="3206468" y="16100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1" name="ellipse_1892">
              <a:extLst>
                <a:ext uri="{FF2B5EF4-FFF2-40B4-BE49-F238E27FC236}">
                  <a16:creationId xmlns:a16="http://schemas.microsoft.com/office/drawing/2014/main" id="{5029BF78-C694-94BA-2390-D6FC0A6BFD81}"/>
                </a:ext>
              </a:extLst>
            </p:cNvPr>
            <p:cNvSpPr/>
            <p:nvPr/>
          </p:nvSpPr>
          <p:spPr>
            <a:xfrm>
              <a:off x="3224851" y="161218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2" name="ellipse_1893">
              <a:extLst>
                <a:ext uri="{FF2B5EF4-FFF2-40B4-BE49-F238E27FC236}">
                  <a16:creationId xmlns:a16="http://schemas.microsoft.com/office/drawing/2014/main" id="{B400169A-5E49-FEE5-1915-FCB9E751F312}"/>
                </a:ext>
              </a:extLst>
            </p:cNvPr>
            <p:cNvSpPr/>
            <p:nvPr/>
          </p:nvSpPr>
          <p:spPr>
            <a:xfrm>
              <a:off x="3255857" y="14772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83" name="Find | PTV3 stage 5 (no pseudo)">
            <a:extLst>
              <a:ext uri="{FF2B5EF4-FFF2-40B4-BE49-F238E27FC236}">
                <a16:creationId xmlns:a16="http://schemas.microsoft.com/office/drawing/2014/main" id="{FE5D4BB8-AE08-CFDC-14F9-58D62B643799}"/>
              </a:ext>
            </a:extLst>
          </p:cNvPr>
          <p:cNvGrpSpPr/>
          <p:nvPr/>
        </p:nvGrpSpPr>
        <p:grpSpPr>
          <a:xfrm>
            <a:off x="3748279" y="1222153"/>
            <a:ext cx="276863" cy="197759"/>
            <a:chOff x="3473888" y="1438830"/>
            <a:chExt cx="279225" cy="243090"/>
          </a:xfrm>
        </p:grpSpPr>
        <p:sp>
          <p:nvSpPr>
            <p:cNvPr id="284" name="rect_1899">
              <a:extLst>
                <a:ext uri="{FF2B5EF4-FFF2-40B4-BE49-F238E27FC236}">
                  <a16:creationId xmlns:a16="http://schemas.microsoft.com/office/drawing/2014/main" id="{3C966A44-931E-3C61-C3E2-9910BF785D0E}"/>
                </a:ext>
              </a:extLst>
            </p:cNvPr>
            <p:cNvSpPr/>
            <p:nvPr/>
          </p:nvSpPr>
          <p:spPr>
            <a:xfrm>
              <a:off x="3473888" y="1438830"/>
              <a:ext cx="279225" cy="243090"/>
            </a:xfrm>
            <a:prstGeom prst="roundRect">
              <a:avLst>
                <a:gd name="adj" fmla="val 6757"/>
              </a:avLst>
            </a:prstGeom>
            <a:solidFill>
              <a:srgbClr val="F8F5FC"/>
            </a:solidFill>
            <a:ln w="2540" cap="rnd" cmpd="sng" algn="ctr">
              <a:solidFill>
                <a:srgbClr val="C3D4E6"/>
              </a:solidFill>
              <a:prstDash val="solid"/>
              <a:round/>
              <a:headEnd type="none" w="med" len="med"/>
              <a:tailEnd type="none" w="med" len="med"/>
            </a:ln>
            <a:effectLst/>
          </p:spPr>
        </p:sp>
        <p:sp>
          <p:nvSpPr>
            <p:cNvPr id="285" name="ellipse_1900">
              <a:extLst>
                <a:ext uri="{FF2B5EF4-FFF2-40B4-BE49-F238E27FC236}">
                  <a16:creationId xmlns:a16="http://schemas.microsoft.com/office/drawing/2014/main" id="{0734BB70-ADDB-68EE-E4C9-F1E9F19AF6E7}"/>
                </a:ext>
              </a:extLst>
            </p:cNvPr>
            <p:cNvSpPr/>
            <p:nvPr/>
          </p:nvSpPr>
          <p:spPr>
            <a:xfrm>
              <a:off x="3538819" y="148253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6" name="ellipse_1901">
              <a:extLst>
                <a:ext uri="{FF2B5EF4-FFF2-40B4-BE49-F238E27FC236}">
                  <a16:creationId xmlns:a16="http://schemas.microsoft.com/office/drawing/2014/main" id="{50CDA3FC-9E47-A0FF-54FE-0B291B80C55E}"/>
                </a:ext>
              </a:extLst>
            </p:cNvPr>
            <p:cNvSpPr/>
            <p:nvPr/>
          </p:nvSpPr>
          <p:spPr>
            <a:xfrm>
              <a:off x="3631999" y="157809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7" name="ellipse_1902">
              <a:extLst>
                <a:ext uri="{FF2B5EF4-FFF2-40B4-BE49-F238E27FC236}">
                  <a16:creationId xmlns:a16="http://schemas.microsoft.com/office/drawing/2014/main" id="{FDEE2D57-7D4E-037C-452C-66A797AB07C9}"/>
                </a:ext>
              </a:extLst>
            </p:cNvPr>
            <p:cNvSpPr/>
            <p:nvPr/>
          </p:nvSpPr>
          <p:spPr>
            <a:xfrm>
              <a:off x="3687564" y="15901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8" name="ellipse_1903">
              <a:extLst>
                <a:ext uri="{FF2B5EF4-FFF2-40B4-BE49-F238E27FC236}">
                  <a16:creationId xmlns:a16="http://schemas.microsoft.com/office/drawing/2014/main" id="{B2C7060E-B2BB-F02D-5B6F-B7D323B087B4}"/>
                </a:ext>
              </a:extLst>
            </p:cNvPr>
            <p:cNvSpPr/>
            <p:nvPr/>
          </p:nvSpPr>
          <p:spPr>
            <a:xfrm>
              <a:off x="3686262" y="162539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9" name="ellipse_1904">
              <a:extLst>
                <a:ext uri="{FF2B5EF4-FFF2-40B4-BE49-F238E27FC236}">
                  <a16:creationId xmlns:a16="http://schemas.microsoft.com/office/drawing/2014/main" id="{7DE1C447-AFD4-DD7C-5DE0-0E96E8153D12}"/>
                </a:ext>
              </a:extLst>
            </p:cNvPr>
            <p:cNvSpPr/>
            <p:nvPr/>
          </p:nvSpPr>
          <p:spPr>
            <a:xfrm>
              <a:off x="3673847" y="145725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0" name="ellipse_1905">
              <a:extLst>
                <a:ext uri="{FF2B5EF4-FFF2-40B4-BE49-F238E27FC236}">
                  <a16:creationId xmlns:a16="http://schemas.microsoft.com/office/drawing/2014/main" id="{536BBD44-5D8E-E642-7EFE-DC301B9D3F7F}"/>
                </a:ext>
              </a:extLst>
            </p:cNvPr>
            <p:cNvSpPr/>
            <p:nvPr/>
          </p:nvSpPr>
          <p:spPr>
            <a:xfrm>
              <a:off x="3580150" y="160304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1" name="ellipse_1906">
              <a:extLst>
                <a:ext uri="{FF2B5EF4-FFF2-40B4-BE49-F238E27FC236}">
                  <a16:creationId xmlns:a16="http://schemas.microsoft.com/office/drawing/2014/main" id="{2D018CC6-8BB4-0573-830A-62F9771BB455}"/>
                </a:ext>
              </a:extLst>
            </p:cNvPr>
            <p:cNvSpPr/>
            <p:nvPr/>
          </p:nvSpPr>
          <p:spPr>
            <a:xfrm>
              <a:off x="3499431" y="147999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2" name="ellipse_1907">
              <a:extLst>
                <a:ext uri="{FF2B5EF4-FFF2-40B4-BE49-F238E27FC236}">
                  <a16:creationId xmlns:a16="http://schemas.microsoft.com/office/drawing/2014/main" id="{3D9BABC9-7179-80DF-931B-76C5D153BFA2}"/>
                </a:ext>
              </a:extLst>
            </p:cNvPr>
            <p:cNvSpPr/>
            <p:nvPr/>
          </p:nvSpPr>
          <p:spPr>
            <a:xfrm>
              <a:off x="3698498" y="163375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3" name="ellipse_1908">
              <a:extLst>
                <a:ext uri="{FF2B5EF4-FFF2-40B4-BE49-F238E27FC236}">
                  <a16:creationId xmlns:a16="http://schemas.microsoft.com/office/drawing/2014/main" id="{BF41BEF8-8F67-637A-F426-1015DD3C37FC}"/>
                </a:ext>
              </a:extLst>
            </p:cNvPr>
            <p:cNvSpPr/>
            <p:nvPr/>
          </p:nvSpPr>
          <p:spPr>
            <a:xfrm>
              <a:off x="3664475" y="160668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4" name="ellipse_1909">
              <a:extLst>
                <a:ext uri="{FF2B5EF4-FFF2-40B4-BE49-F238E27FC236}">
                  <a16:creationId xmlns:a16="http://schemas.microsoft.com/office/drawing/2014/main" id="{E57407DB-12F2-A10B-73ED-904E74E89684}"/>
                </a:ext>
              </a:extLst>
            </p:cNvPr>
            <p:cNvSpPr/>
            <p:nvPr/>
          </p:nvSpPr>
          <p:spPr>
            <a:xfrm>
              <a:off x="3577670" y="157500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sp>
        <p:nvSpPr>
          <p:cNvPr id="297" name="TextBox 12152">
            <a:extLst>
              <a:ext uri="{FF2B5EF4-FFF2-40B4-BE49-F238E27FC236}">
                <a16:creationId xmlns:a16="http://schemas.microsoft.com/office/drawing/2014/main" id="{DA95DC65-9861-CC7E-7EFC-4B9E07722C91}"/>
              </a:ext>
            </a:extLst>
          </p:cNvPr>
          <p:cNvSpPr txBox="1"/>
          <p:nvPr/>
        </p:nvSpPr>
        <p:spPr>
          <a:xfrm>
            <a:off x="1932849" y="1615773"/>
            <a:ext cx="2183263" cy="106632"/>
          </a:xfrm>
          <a:prstGeom prst="rect">
            <a:avLst/>
          </a:prstGeom>
          <a:noFill/>
        </p:spPr>
        <p:txBody>
          <a:bodyPr wrap="square" lIns="0" tIns="0" rIns="0" bIns="0" anchor="ctr">
            <a:spAutoFit/>
          </a:bodyPr>
          <a:lstStyle/>
          <a:p>
            <a:pPr algn="ctr">
              <a:lnSpc>
                <a:spcPct val="105000"/>
              </a:lnSpc>
            </a:pPr>
            <a:r>
              <a:rPr sz="709">
                <a:solidFill>
                  <a:srgbClr val="263442"/>
                </a:solidFill>
                <a:latin typeface="Arial"/>
              </a:rPr>
              <a:t>Point Transformer V3</a:t>
            </a:r>
          </a:p>
        </p:txBody>
      </p:sp>
      <p:sp>
        <p:nvSpPr>
          <p:cNvPr id="298" name="TextBox 12153">
            <a:extLst>
              <a:ext uri="{FF2B5EF4-FFF2-40B4-BE49-F238E27FC236}">
                <a16:creationId xmlns:a16="http://schemas.microsoft.com/office/drawing/2014/main" id="{522E41DD-5F6E-76BD-E92F-5CBA886A651B}"/>
              </a:ext>
            </a:extLst>
          </p:cNvPr>
          <p:cNvSpPr txBox="1"/>
          <p:nvPr/>
        </p:nvSpPr>
        <p:spPr>
          <a:xfrm>
            <a:off x="2779258" y="1058360"/>
            <a:ext cx="767306" cy="88422"/>
          </a:xfrm>
          <a:prstGeom prst="rect">
            <a:avLst/>
          </a:prstGeom>
          <a:noFill/>
        </p:spPr>
        <p:txBody>
          <a:bodyPr wrap="square" lIns="0" tIns="0" rIns="0" bIns="0" anchor="ctr">
            <a:spAutoFit/>
          </a:bodyPr>
          <a:lstStyle/>
          <a:p>
            <a:pPr algn="ctr">
              <a:lnSpc>
                <a:spcPct val="105000"/>
              </a:lnSpc>
            </a:pPr>
            <a:r>
              <a:rPr lang="en-US" sz="588" dirty="0">
                <a:solidFill>
                  <a:srgbClr val="263442"/>
                </a:solidFill>
                <a:latin typeface="Arial"/>
              </a:rPr>
              <a:t>F</a:t>
            </a:r>
            <a:r>
              <a:rPr sz="588" dirty="0">
                <a:solidFill>
                  <a:srgbClr val="263442"/>
                </a:solidFill>
                <a:latin typeface="Arial"/>
              </a:rPr>
              <a:t>usion</a:t>
            </a:r>
          </a:p>
        </p:txBody>
      </p:sp>
      <p:sp>
        <p:nvSpPr>
          <p:cNvPr id="299" name="Find | Blobs output card">
            <a:extLst>
              <a:ext uri="{FF2B5EF4-FFF2-40B4-BE49-F238E27FC236}">
                <a16:creationId xmlns:a16="http://schemas.microsoft.com/office/drawing/2014/main" id="{6A602B9B-DE58-7AA0-FDBA-741F60C78A9B}"/>
              </a:ext>
            </a:extLst>
          </p:cNvPr>
          <p:cNvSpPr/>
          <p:nvPr/>
        </p:nvSpPr>
        <p:spPr>
          <a:xfrm>
            <a:off x="4300068" y="284775"/>
            <a:ext cx="442980" cy="1471328"/>
          </a:xfrm>
          <a:prstGeom prst="roundRect">
            <a:avLst>
              <a:gd name="adj" fmla="val 6000"/>
            </a:avLst>
          </a:prstGeom>
          <a:solidFill>
            <a:srgbClr val="FFFFFF"/>
          </a:solidFill>
          <a:ln w="7290">
            <a:solidFill>
              <a:srgbClr val="CBD6E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300" name="TextBox 12155">
            <a:extLst>
              <a:ext uri="{FF2B5EF4-FFF2-40B4-BE49-F238E27FC236}">
                <a16:creationId xmlns:a16="http://schemas.microsoft.com/office/drawing/2014/main" id="{1F7C0F6F-D082-C8AA-DE11-4286EF42AADB}"/>
              </a:ext>
            </a:extLst>
          </p:cNvPr>
          <p:cNvSpPr txBox="1"/>
          <p:nvPr/>
        </p:nvSpPr>
        <p:spPr>
          <a:xfrm>
            <a:off x="4185689" y="307007"/>
            <a:ext cx="696113" cy="111954"/>
          </a:xfrm>
          <a:prstGeom prst="rect">
            <a:avLst/>
          </a:prstGeom>
          <a:noFill/>
        </p:spPr>
        <p:txBody>
          <a:bodyPr wrap="square" lIns="0" tIns="0" rIns="0" bIns="0" anchor="ctr">
            <a:spAutoFit/>
          </a:bodyPr>
          <a:lstStyle/>
          <a:p>
            <a:pPr algn="ctr">
              <a:lnSpc>
                <a:spcPct val="105000"/>
              </a:lnSpc>
            </a:pPr>
            <a:r>
              <a:rPr sz="744" dirty="0">
                <a:solidFill>
                  <a:srgbClr val="263442"/>
                </a:solidFill>
                <a:latin typeface="Arial"/>
              </a:rPr>
              <a:t>Blobs</a:t>
            </a:r>
          </a:p>
        </p:txBody>
      </p:sp>
      <p:sp>
        <p:nvSpPr>
          <p:cNvPr id="301" name="TextBox 12160">
            <a:extLst>
              <a:ext uri="{FF2B5EF4-FFF2-40B4-BE49-F238E27FC236}">
                <a16:creationId xmlns:a16="http://schemas.microsoft.com/office/drawing/2014/main" id="{EBF2AA16-9B52-B84F-43EE-03BA82B2D4CA}"/>
              </a:ext>
            </a:extLst>
          </p:cNvPr>
          <p:cNvSpPr txBox="1"/>
          <p:nvPr/>
        </p:nvSpPr>
        <p:spPr>
          <a:xfrm>
            <a:off x="581184" y="2090304"/>
            <a:ext cx="1186556" cy="107978"/>
          </a:xfrm>
          <a:prstGeom prst="rect">
            <a:avLst/>
          </a:prstGeom>
          <a:noFill/>
        </p:spPr>
        <p:txBody>
          <a:bodyPr wrap="square" lIns="0" tIns="0" rIns="0" bIns="0" anchor="ctr">
            <a:spAutoFit/>
          </a:bodyPr>
          <a:lstStyle/>
          <a:p>
            <a:pPr algn="l">
              <a:lnSpc>
                <a:spcPct val="105000"/>
              </a:lnSpc>
            </a:pPr>
            <a:r>
              <a:rPr sz="718" dirty="0">
                <a:solidFill>
                  <a:srgbClr val="263442"/>
                </a:solidFill>
                <a:latin typeface="Arial"/>
              </a:rPr>
              <a:t>Candidate encoder</a:t>
            </a:r>
          </a:p>
        </p:txBody>
      </p:sp>
      <p:sp>
        <p:nvSpPr>
          <p:cNvPr id="302" name="TextBox 12161">
            <a:extLst>
              <a:ext uri="{FF2B5EF4-FFF2-40B4-BE49-F238E27FC236}">
                <a16:creationId xmlns:a16="http://schemas.microsoft.com/office/drawing/2014/main" id="{1FD101AA-9130-CD96-6414-B193E6D36851}"/>
              </a:ext>
            </a:extLst>
          </p:cNvPr>
          <p:cNvSpPr txBox="1"/>
          <p:nvPr/>
        </p:nvSpPr>
        <p:spPr>
          <a:xfrm>
            <a:off x="2752186" y="2090304"/>
            <a:ext cx="1186556" cy="107978"/>
          </a:xfrm>
          <a:prstGeom prst="rect">
            <a:avLst/>
          </a:prstGeom>
          <a:noFill/>
        </p:spPr>
        <p:txBody>
          <a:bodyPr wrap="square" lIns="0" tIns="0" rIns="0" bIns="0" anchor="ctr">
            <a:spAutoFit/>
          </a:bodyPr>
          <a:lstStyle/>
          <a:p>
            <a:pPr algn="l">
              <a:lnSpc>
                <a:spcPct val="105000"/>
              </a:lnSpc>
            </a:pPr>
            <a:r>
              <a:rPr sz="718" dirty="0">
                <a:solidFill>
                  <a:srgbClr val="263442"/>
                </a:solidFill>
                <a:latin typeface="Arial"/>
              </a:rPr>
              <a:t>Identity encoder</a:t>
            </a:r>
          </a:p>
        </p:txBody>
      </p:sp>
      <p:sp>
        <p:nvSpPr>
          <p:cNvPr id="303" name="Match | Center divider">
            <a:extLst>
              <a:ext uri="{FF2B5EF4-FFF2-40B4-BE49-F238E27FC236}">
                <a16:creationId xmlns:a16="http://schemas.microsoft.com/office/drawing/2014/main" id="{5A593D05-94F5-C55B-C8C6-B8F9E86B08C6}"/>
              </a:ext>
            </a:extLst>
          </p:cNvPr>
          <p:cNvSpPr/>
          <p:nvPr/>
        </p:nvSpPr>
        <p:spPr>
          <a:xfrm>
            <a:off x="2617408" y="2119981"/>
            <a:ext cx="1" cy="1945952"/>
          </a:xfrm>
          <a:custGeom>
            <a:avLst/>
            <a:gdLst/>
            <a:ahLst/>
            <a:cxnLst/>
            <a:rect l="0" t="0" r="w" b="h"/>
            <a:pathLst>
              <a:path w="1" h="2249424">
                <a:moveTo>
                  <a:pt x="0" y="0"/>
                </a:moveTo>
                <a:lnTo>
                  <a:pt x="0" y="2249424"/>
                </a:lnTo>
              </a:path>
            </a:pathLst>
          </a:custGeom>
          <a:noFill/>
          <a:ln w="9525" cap="rnd" cmpd="sng" algn="ctr">
            <a:solidFill>
              <a:srgbClr val="D0E2DA"/>
            </a:solidFill>
            <a:prstDash val="solid"/>
            <a:round/>
            <a:headEnd type="none" w="med" len="med"/>
            <a:tailEnd type="none" w="med" len="med"/>
          </a:ln>
        </p:spPr>
      </p:sp>
      <p:sp>
        <p:nvSpPr>
          <p:cNvPr id="304" name="TextBox 12164">
            <a:extLst>
              <a:ext uri="{FF2B5EF4-FFF2-40B4-BE49-F238E27FC236}">
                <a16:creationId xmlns:a16="http://schemas.microsoft.com/office/drawing/2014/main" id="{DA6D9C81-D325-B373-1580-DEE13789E3EE}"/>
              </a:ext>
            </a:extLst>
          </p:cNvPr>
          <p:cNvSpPr txBox="1"/>
          <p:nvPr/>
        </p:nvSpPr>
        <p:spPr>
          <a:xfrm>
            <a:off x="573274" y="2270869"/>
            <a:ext cx="442981" cy="93744"/>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Receptor</a:t>
            </a:r>
          </a:p>
        </p:txBody>
      </p:sp>
      <p:sp>
        <p:nvSpPr>
          <p:cNvPr id="305" name="TextBox 12166">
            <a:extLst>
              <a:ext uri="{FF2B5EF4-FFF2-40B4-BE49-F238E27FC236}">
                <a16:creationId xmlns:a16="http://schemas.microsoft.com/office/drawing/2014/main" id="{6E830D7E-FC74-3019-18B2-DDE04B6E60D0}"/>
              </a:ext>
            </a:extLst>
          </p:cNvPr>
          <p:cNvSpPr txBox="1"/>
          <p:nvPr/>
        </p:nvSpPr>
        <p:spPr>
          <a:xfrm>
            <a:off x="1055807" y="2270869"/>
            <a:ext cx="442981" cy="93744"/>
          </a:xfrm>
          <a:prstGeom prst="rect">
            <a:avLst/>
          </a:prstGeom>
          <a:noFill/>
        </p:spPr>
        <p:txBody>
          <a:bodyPr wrap="square" lIns="0" tIns="0" rIns="0" bIns="0" anchor="ctr">
            <a:spAutoFit/>
          </a:bodyPr>
          <a:lstStyle/>
          <a:p>
            <a:pPr algn="ctr">
              <a:lnSpc>
                <a:spcPct val="105000"/>
              </a:lnSpc>
            </a:pPr>
            <a:r>
              <a:rPr sz="623" dirty="0">
                <a:solidFill>
                  <a:srgbClr val="263442"/>
                </a:solidFill>
                <a:latin typeface="Arial"/>
              </a:rPr>
              <a:t>Density</a:t>
            </a:r>
          </a:p>
        </p:txBody>
      </p:sp>
      <p:pic>
        <p:nvPicPr>
          <p:cNvPr id="306" name="Match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7A47CBDC-2732-4D0F-C4FF-972DA2F1AA3E}"/>
              </a:ext>
            </a:extLst>
          </p:cNvPr>
          <p:cNvPicPr/>
          <p:nvPr/>
        </p:nvPicPr>
        <p:blipFill>
          <a:blip r:embed="rId4"/>
          <a:stretch>
            <a:fillRect/>
          </a:stretch>
        </p:blipFill>
        <p:spPr>
          <a:xfrm>
            <a:off x="1103291" y="2380847"/>
            <a:ext cx="347980" cy="332276"/>
          </a:xfrm>
          <a:prstGeom prst="rect">
            <a:avLst/>
          </a:prstGeom>
        </p:spPr>
      </p:pic>
      <p:sp>
        <p:nvSpPr>
          <p:cNvPr id="526" name="TextBox 12168">
            <a:extLst>
              <a:ext uri="{FF2B5EF4-FFF2-40B4-BE49-F238E27FC236}">
                <a16:creationId xmlns:a16="http://schemas.microsoft.com/office/drawing/2014/main" id="{50BD09F1-2D4A-FA0A-7AF2-981DD7585F3A}"/>
              </a:ext>
            </a:extLst>
          </p:cNvPr>
          <p:cNvSpPr txBox="1"/>
          <p:nvPr/>
        </p:nvSpPr>
        <p:spPr>
          <a:xfrm>
            <a:off x="613323" y="2851277"/>
            <a:ext cx="340209" cy="97203"/>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Pocket</a:t>
            </a:r>
          </a:p>
        </p:txBody>
      </p:sp>
      <p:sp>
        <p:nvSpPr>
          <p:cNvPr id="613" name="TextBox 12177">
            <a:extLst>
              <a:ext uri="{FF2B5EF4-FFF2-40B4-BE49-F238E27FC236}">
                <a16:creationId xmlns:a16="http://schemas.microsoft.com/office/drawing/2014/main" id="{086F717F-C0B1-CD04-AFB8-166092CD717F}"/>
              </a:ext>
            </a:extLst>
          </p:cNvPr>
          <p:cNvSpPr txBox="1"/>
          <p:nvPr/>
        </p:nvSpPr>
        <p:spPr>
          <a:xfrm>
            <a:off x="1062885" y="2851277"/>
            <a:ext cx="340209" cy="97203"/>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Blob</a:t>
            </a:r>
          </a:p>
        </p:txBody>
      </p:sp>
      <p:grpSp>
        <p:nvGrpSpPr>
          <p:cNvPr id="614" name="Match | Blob contour">
            <a:extLst>
              <a:ext uri="{FF2B5EF4-FFF2-40B4-BE49-F238E27FC236}">
                <a16:creationId xmlns:a16="http://schemas.microsoft.com/office/drawing/2014/main" id="{ECF83E2A-3199-B09F-F90E-31DC9848C382}"/>
              </a:ext>
            </a:extLst>
          </p:cNvPr>
          <p:cNvGrpSpPr/>
          <p:nvPr/>
        </p:nvGrpSpPr>
        <p:grpSpPr>
          <a:xfrm>
            <a:off x="1086594" y="3036990"/>
            <a:ext cx="291608" cy="199265"/>
            <a:chOff x="1928706" y="3559489"/>
            <a:chExt cx="227897" cy="155682"/>
          </a:xfrm>
        </p:grpSpPr>
        <p:sp>
          <p:nvSpPr>
            <p:cNvPr id="615" name="Candidate blob | editable contour">
              <a:extLst>
                <a:ext uri="{FF2B5EF4-FFF2-40B4-BE49-F238E27FC236}">
                  <a16:creationId xmlns:a16="http://schemas.microsoft.com/office/drawing/2014/main" id="{513F782E-E1DE-1B64-68A9-FB54BE71715F}"/>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16" name="ellipse_2612">
              <a:extLst>
                <a:ext uri="{FF2B5EF4-FFF2-40B4-BE49-F238E27FC236}">
                  <a16:creationId xmlns:a16="http://schemas.microsoft.com/office/drawing/2014/main" id="{12A4650A-7359-9456-1843-A3C9E08B2497}"/>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18" name="TextBox 12186">
            <a:extLst>
              <a:ext uri="{FF2B5EF4-FFF2-40B4-BE49-F238E27FC236}">
                <a16:creationId xmlns:a16="http://schemas.microsoft.com/office/drawing/2014/main" id="{88505915-A113-7FAA-6C15-3F2B10F6D7CB}"/>
              </a:ext>
            </a:extLst>
          </p:cNvPr>
          <p:cNvSpPr txBox="1"/>
          <p:nvPr/>
        </p:nvSpPr>
        <p:spPr>
          <a:xfrm>
            <a:off x="1604695" y="2259965"/>
            <a:ext cx="286938" cy="92333"/>
          </a:xfrm>
          <a:prstGeom prst="rect">
            <a:avLst/>
          </a:prstGeom>
          <a:noFill/>
        </p:spPr>
        <p:txBody>
          <a:bodyPr wrap="none" lIns="0" tIns="0" rIns="0" bIns="0" anchor="ctr">
            <a:spAutoFit/>
          </a:bodyPr>
          <a:lstStyle/>
          <a:p>
            <a:pPr algn="ctr">
              <a:lnSpc>
                <a:spcPct val="105000"/>
              </a:lnSpc>
            </a:pPr>
            <a:r>
              <a:rPr sz="614">
                <a:solidFill>
                  <a:srgbClr val="263442"/>
                </a:solidFill>
                <a:latin typeface="Arial"/>
              </a:rPr>
              <a:t>48³ crop</a:t>
            </a:r>
          </a:p>
        </p:txBody>
      </p:sp>
      <p:grpSp>
        <p:nvGrpSpPr>
          <p:cNvPr id="619" name="48^3 crop 3D cube">
            <a:extLst>
              <a:ext uri="{FF2B5EF4-FFF2-40B4-BE49-F238E27FC236}">
                <a16:creationId xmlns:a16="http://schemas.microsoft.com/office/drawing/2014/main" id="{50441A72-5112-E010-1BBD-72FFF87A8B6E}"/>
              </a:ext>
            </a:extLst>
          </p:cNvPr>
          <p:cNvGrpSpPr/>
          <p:nvPr/>
        </p:nvGrpSpPr>
        <p:grpSpPr>
          <a:xfrm>
            <a:off x="1621801" y="2353114"/>
            <a:ext cx="251107" cy="197645"/>
            <a:chOff x="4043880" y="489960"/>
            <a:chExt cx="571680" cy="450000"/>
          </a:xfrm>
        </p:grpSpPr>
        <p:sp>
          <p:nvSpPr>
            <p:cNvPr id="620" name="asset_2027_0">
              <a:extLst>
                <a:ext uri="{FF2B5EF4-FFF2-40B4-BE49-F238E27FC236}">
                  <a16:creationId xmlns:a16="http://schemas.microsoft.com/office/drawing/2014/main" id="{2C26482F-D7D7-E3F6-FBCD-22AC82315E62}"/>
                </a:ext>
              </a:extLst>
            </p:cNvPr>
            <p:cNvSpPr>
              <a:spLocks noGrp="1"/>
            </p:cNvSpPr>
            <p:nvPr/>
          </p:nvSpPr>
          <p:spPr>
            <a:xfrm>
              <a:off x="4043880" y="489960"/>
              <a:ext cx="571680" cy="76500"/>
            </a:xfrm>
            <a:custGeom>
              <a:avLst/>
              <a:gdLst/>
              <a:ahLst/>
              <a:cxnLst/>
              <a:rect l="0" t="0" r="0" b="0"/>
              <a:pathLst>
                <a:path w="571680" h="76500">
                  <a:moveTo>
                    <a:pt x="0" y="76500"/>
                  </a:moveTo>
                  <a:lnTo>
                    <a:pt x="108619" y="0"/>
                  </a:lnTo>
                  <a:lnTo>
                    <a:pt x="571680" y="0"/>
                  </a:lnTo>
                  <a:lnTo>
                    <a:pt x="463061" y="76500"/>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621" name="asset_2027_1">
              <a:extLst>
                <a:ext uri="{FF2B5EF4-FFF2-40B4-BE49-F238E27FC236}">
                  <a16:creationId xmlns:a16="http://schemas.microsoft.com/office/drawing/2014/main" id="{F28AFBA7-0A71-99DE-9FF9-EBD0ADC1144C}"/>
                </a:ext>
              </a:extLst>
            </p:cNvPr>
            <p:cNvSpPr>
              <a:spLocks noGrp="1"/>
            </p:cNvSpPr>
            <p:nvPr/>
          </p:nvSpPr>
          <p:spPr>
            <a:xfrm>
              <a:off x="4506941" y="489960"/>
              <a:ext cx="108619" cy="450000"/>
            </a:xfrm>
            <a:custGeom>
              <a:avLst/>
              <a:gdLst/>
              <a:ahLst/>
              <a:cxnLst/>
              <a:rect l="0" t="0" r="0" b="0"/>
              <a:pathLst>
                <a:path w="108619" h="450000">
                  <a:moveTo>
                    <a:pt x="0" y="76500"/>
                  </a:moveTo>
                  <a:lnTo>
                    <a:pt x="108619" y="0"/>
                  </a:lnTo>
                  <a:lnTo>
                    <a:pt x="108619" y="373500"/>
                  </a:lnTo>
                  <a:lnTo>
                    <a:pt x="0" y="450000"/>
                  </a:lnTo>
                  <a:close/>
                </a:path>
              </a:pathLst>
            </a:custGeom>
            <a:solidFill>
              <a:srgbClr val="C9DFF3">
                <a:alpha val="22000"/>
              </a:srgbClr>
            </a:solidFill>
            <a:ln w="2700">
              <a:solidFill>
                <a:srgbClr val="A3C3E2"/>
              </a:solidFill>
            </a:ln>
          </p:spPr>
        </p:sp>
        <p:sp>
          <p:nvSpPr>
            <p:cNvPr id="622" name="asset_2027_2">
              <a:extLst>
                <a:ext uri="{FF2B5EF4-FFF2-40B4-BE49-F238E27FC236}">
                  <a16:creationId xmlns:a16="http://schemas.microsoft.com/office/drawing/2014/main" id="{97E064B3-0050-239C-C963-C5E4E31B84D2}"/>
                </a:ext>
              </a:extLst>
            </p:cNvPr>
            <p:cNvSpPr>
              <a:spLocks noGrp="1"/>
            </p:cNvSpPr>
            <p:nvPr/>
          </p:nvSpPr>
          <p:spPr>
            <a:xfrm>
              <a:off x="4043880" y="566460"/>
              <a:ext cx="463061" cy="373500"/>
            </a:xfrm>
            <a:prstGeom prst="rect">
              <a:avLst/>
            </a:prstGeom>
            <a:solidFill>
              <a:srgbClr val="E7F1FC">
                <a:alpha val="20000"/>
              </a:srgbClr>
            </a:solidFill>
            <a:ln w="2700">
              <a:solidFill>
                <a:srgbClr val="ABC9E7"/>
              </a:solidFill>
            </a:ln>
          </p:spPr>
        </p:sp>
        <p:sp>
          <p:nvSpPr>
            <p:cNvPr id="623" name="asset_2027_3">
              <a:extLst>
                <a:ext uri="{FF2B5EF4-FFF2-40B4-BE49-F238E27FC236}">
                  <a16:creationId xmlns:a16="http://schemas.microsoft.com/office/drawing/2014/main" id="{A2C54284-938E-B40D-7CE6-20A987BE1447}"/>
                </a:ext>
              </a:extLst>
            </p:cNvPr>
            <p:cNvSpPr>
              <a:spLocks noGrp="1"/>
            </p:cNvSpPr>
            <p:nvPr/>
          </p:nvSpPr>
          <p:spPr>
            <a:xfrm>
              <a:off x="4159645" y="566460"/>
              <a:ext cx="4" cy="373500"/>
            </a:xfrm>
            <a:prstGeom prst="line">
              <a:avLst/>
            </a:prstGeom>
            <a:noFill/>
            <a:ln w="1980">
              <a:solidFill>
                <a:srgbClr val="B8D2EB">
                  <a:alpha val="33000"/>
                </a:srgbClr>
              </a:solidFill>
            </a:ln>
          </p:spPr>
        </p:sp>
        <p:sp>
          <p:nvSpPr>
            <p:cNvPr id="624" name="asset_2027_4">
              <a:extLst>
                <a:ext uri="{FF2B5EF4-FFF2-40B4-BE49-F238E27FC236}">
                  <a16:creationId xmlns:a16="http://schemas.microsoft.com/office/drawing/2014/main" id="{0F8960CE-A059-8D07-91FB-C97F3078BCD9}"/>
                </a:ext>
              </a:extLst>
            </p:cNvPr>
            <p:cNvSpPr>
              <a:spLocks noGrp="1"/>
            </p:cNvSpPr>
            <p:nvPr/>
          </p:nvSpPr>
          <p:spPr>
            <a:xfrm>
              <a:off x="4043880" y="659835"/>
              <a:ext cx="463061" cy="4"/>
            </a:xfrm>
            <a:prstGeom prst="line">
              <a:avLst/>
            </a:prstGeom>
            <a:noFill/>
            <a:ln w="1980">
              <a:solidFill>
                <a:srgbClr val="B8D2EB">
                  <a:alpha val="33000"/>
                </a:srgbClr>
              </a:solidFill>
            </a:ln>
          </p:spPr>
        </p:sp>
        <p:sp>
          <p:nvSpPr>
            <p:cNvPr id="625" name="asset_2027_5">
              <a:extLst>
                <a:ext uri="{FF2B5EF4-FFF2-40B4-BE49-F238E27FC236}">
                  <a16:creationId xmlns:a16="http://schemas.microsoft.com/office/drawing/2014/main" id="{A5646F3B-E3B0-7C1C-2E27-F9E967647A65}"/>
                </a:ext>
              </a:extLst>
            </p:cNvPr>
            <p:cNvSpPr>
              <a:spLocks noGrp="1"/>
            </p:cNvSpPr>
            <p:nvPr/>
          </p:nvSpPr>
          <p:spPr>
            <a:xfrm>
              <a:off x="4275410" y="566460"/>
              <a:ext cx="4" cy="373500"/>
            </a:xfrm>
            <a:prstGeom prst="line">
              <a:avLst/>
            </a:prstGeom>
            <a:noFill/>
            <a:ln w="1980">
              <a:solidFill>
                <a:srgbClr val="B8D2EB">
                  <a:alpha val="33000"/>
                </a:srgbClr>
              </a:solidFill>
            </a:ln>
          </p:spPr>
        </p:sp>
        <p:sp>
          <p:nvSpPr>
            <p:cNvPr id="626" name="asset_2027_6">
              <a:extLst>
                <a:ext uri="{FF2B5EF4-FFF2-40B4-BE49-F238E27FC236}">
                  <a16:creationId xmlns:a16="http://schemas.microsoft.com/office/drawing/2014/main" id="{49CF1756-587C-D73A-CFD0-CE93821E4BC5}"/>
                </a:ext>
              </a:extLst>
            </p:cNvPr>
            <p:cNvSpPr>
              <a:spLocks noGrp="1"/>
            </p:cNvSpPr>
            <p:nvPr/>
          </p:nvSpPr>
          <p:spPr>
            <a:xfrm>
              <a:off x="4043880" y="753210"/>
              <a:ext cx="463061" cy="4"/>
            </a:xfrm>
            <a:prstGeom prst="line">
              <a:avLst/>
            </a:prstGeom>
            <a:noFill/>
            <a:ln w="1980">
              <a:solidFill>
                <a:srgbClr val="B8D2EB">
                  <a:alpha val="33000"/>
                </a:srgbClr>
              </a:solidFill>
            </a:ln>
          </p:spPr>
        </p:sp>
        <p:sp>
          <p:nvSpPr>
            <p:cNvPr id="627" name="asset_2027_7">
              <a:extLst>
                <a:ext uri="{FF2B5EF4-FFF2-40B4-BE49-F238E27FC236}">
                  <a16:creationId xmlns:a16="http://schemas.microsoft.com/office/drawing/2014/main" id="{617A40D8-F985-CF5E-C184-9CEE010688B0}"/>
                </a:ext>
              </a:extLst>
            </p:cNvPr>
            <p:cNvSpPr>
              <a:spLocks noGrp="1"/>
            </p:cNvSpPr>
            <p:nvPr/>
          </p:nvSpPr>
          <p:spPr>
            <a:xfrm>
              <a:off x="4391176" y="566460"/>
              <a:ext cx="4" cy="373500"/>
            </a:xfrm>
            <a:prstGeom prst="line">
              <a:avLst/>
            </a:prstGeom>
            <a:noFill/>
            <a:ln w="1980">
              <a:solidFill>
                <a:srgbClr val="B8D2EB">
                  <a:alpha val="33000"/>
                </a:srgbClr>
              </a:solidFill>
            </a:ln>
          </p:spPr>
        </p:sp>
        <p:sp>
          <p:nvSpPr>
            <p:cNvPr id="628" name="asset_2027_8">
              <a:extLst>
                <a:ext uri="{FF2B5EF4-FFF2-40B4-BE49-F238E27FC236}">
                  <a16:creationId xmlns:a16="http://schemas.microsoft.com/office/drawing/2014/main" id="{D74C2F96-9830-4E45-47CF-280DBDF3BBA6}"/>
                </a:ext>
              </a:extLst>
            </p:cNvPr>
            <p:cNvSpPr>
              <a:spLocks noGrp="1"/>
            </p:cNvSpPr>
            <p:nvPr/>
          </p:nvSpPr>
          <p:spPr>
            <a:xfrm>
              <a:off x="4043880" y="846585"/>
              <a:ext cx="463061" cy="4"/>
            </a:xfrm>
            <a:prstGeom prst="line">
              <a:avLst/>
            </a:prstGeom>
            <a:noFill/>
            <a:ln w="1980">
              <a:solidFill>
                <a:srgbClr val="B8D2EB">
                  <a:alpha val="33000"/>
                </a:srgbClr>
              </a:solidFill>
            </a:ln>
          </p:spPr>
        </p:sp>
        <p:sp>
          <p:nvSpPr>
            <p:cNvPr id="629" name="asset_2027_53">
              <a:extLst>
                <a:ext uri="{FF2B5EF4-FFF2-40B4-BE49-F238E27FC236}">
                  <a16:creationId xmlns:a16="http://schemas.microsoft.com/office/drawing/2014/main" id="{B57D82E4-2BD4-33AA-2164-941D5F47EC2E}"/>
                </a:ext>
              </a:extLst>
            </p:cNvPr>
            <p:cNvSpPr>
              <a:spLocks noGrp="1"/>
            </p:cNvSpPr>
            <p:nvPr/>
          </p:nvSpPr>
          <p:spPr>
            <a:xfrm>
              <a:off x="4043880" y="566460"/>
              <a:ext cx="463061" cy="373500"/>
            </a:xfrm>
            <a:custGeom>
              <a:avLst/>
              <a:gdLst/>
              <a:ahLst/>
              <a:cxnLst/>
              <a:rect l="0" t="0" r="0" b="0"/>
              <a:pathLst>
                <a:path w="463061" h="373500">
                  <a:moveTo>
                    <a:pt x="0" y="0"/>
                  </a:moveTo>
                  <a:lnTo>
                    <a:pt x="463061" y="0"/>
                  </a:lnTo>
                  <a:lnTo>
                    <a:pt x="463061" y="373500"/>
                  </a:lnTo>
                  <a:lnTo>
                    <a:pt x="0" y="373500"/>
                  </a:lnTo>
                  <a:close/>
                </a:path>
              </a:pathLst>
            </a:custGeom>
            <a:noFill/>
            <a:ln w="3600">
              <a:solidFill>
                <a:srgbClr val="8AB3D9"/>
              </a:solidFill>
            </a:ln>
          </p:spPr>
        </p:sp>
      </p:grpSp>
      <p:grpSp>
        <p:nvGrpSpPr>
          <p:cNvPr id="630" name="48^3 crop centered blob">
            <a:extLst>
              <a:ext uri="{FF2B5EF4-FFF2-40B4-BE49-F238E27FC236}">
                <a16:creationId xmlns:a16="http://schemas.microsoft.com/office/drawing/2014/main" id="{05F07842-8C1D-D758-5B6A-3324A46B243F}"/>
              </a:ext>
            </a:extLst>
          </p:cNvPr>
          <p:cNvGrpSpPr/>
          <p:nvPr/>
        </p:nvGrpSpPr>
        <p:grpSpPr>
          <a:xfrm>
            <a:off x="1684577" y="2424395"/>
            <a:ext cx="110568" cy="75332"/>
            <a:chOff x="1928706" y="3559489"/>
            <a:chExt cx="227897" cy="155682"/>
          </a:xfrm>
        </p:grpSpPr>
        <p:sp>
          <p:nvSpPr>
            <p:cNvPr id="631" name="Candidate blob | editable contour">
              <a:extLst>
                <a:ext uri="{FF2B5EF4-FFF2-40B4-BE49-F238E27FC236}">
                  <a16:creationId xmlns:a16="http://schemas.microsoft.com/office/drawing/2014/main" id="{9098312C-2F0E-B28B-B660-F9C51272B948}"/>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32" name="ellipse_2612">
              <a:extLst>
                <a:ext uri="{FF2B5EF4-FFF2-40B4-BE49-F238E27FC236}">
                  <a16:creationId xmlns:a16="http://schemas.microsoft.com/office/drawing/2014/main" id="{ACF53CE3-1C37-025F-02A8-70EEA8DCFD7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33" name="Blob centroid marker">
            <a:extLst>
              <a:ext uri="{FF2B5EF4-FFF2-40B4-BE49-F238E27FC236}">
                <a16:creationId xmlns:a16="http://schemas.microsoft.com/office/drawing/2014/main" id="{EDD959CF-D4D3-5624-F7B2-BF9345634585}"/>
              </a:ext>
            </a:extLst>
          </p:cNvPr>
          <p:cNvSpPr/>
          <p:nvPr/>
        </p:nvSpPr>
        <p:spPr>
          <a:xfrm>
            <a:off x="1727508" y="2450316"/>
            <a:ext cx="24301" cy="24301"/>
          </a:xfrm>
          <a:prstGeom prst="ellipse">
            <a:avLst/>
          </a:prstGeom>
          <a:solidFill>
            <a:srgbClr val="1D4ED8"/>
          </a:solidFill>
          <a:ln w="762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4" name="TextBox 12188">
            <a:extLst>
              <a:ext uri="{FF2B5EF4-FFF2-40B4-BE49-F238E27FC236}">
                <a16:creationId xmlns:a16="http://schemas.microsoft.com/office/drawing/2014/main" id="{2C0C5B7E-EB59-C12C-034A-66725ABF262F}"/>
              </a:ext>
            </a:extLst>
          </p:cNvPr>
          <p:cNvSpPr txBox="1"/>
          <p:nvPr/>
        </p:nvSpPr>
        <p:spPr>
          <a:xfrm>
            <a:off x="1563337" y="2614551"/>
            <a:ext cx="328616" cy="92333"/>
          </a:xfrm>
          <a:prstGeom prst="rect">
            <a:avLst/>
          </a:prstGeom>
          <a:noFill/>
        </p:spPr>
        <p:txBody>
          <a:bodyPr wrap="none" lIns="0" tIns="0" rIns="0" bIns="0" anchor="ctr">
            <a:spAutoFit/>
          </a:bodyPr>
          <a:lstStyle/>
          <a:p>
            <a:pPr algn="ctr">
              <a:lnSpc>
                <a:spcPct val="105000"/>
              </a:lnSpc>
            </a:pPr>
            <a:r>
              <a:rPr sz="614" dirty="0">
                <a:solidFill>
                  <a:srgbClr val="263442"/>
                </a:solidFill>
                <a:latin typeface="Arial"/>
              </a:rPr>
              <a:t>3D U-Net</a:t>
            </a:r>
          </a:p>
        </p:txBody>
      </p:sp>
      <p:sp>
        <p:nvSpPr>
          <p:cNvPr id="635" name="TextBox 12189">
            <a:extLst>
              <a:ext uri="{FF2B5EF4-FFF2-40B4-BE49-F238E27FC236}">
                <a16:creationId xmlns:a16="http://schemas.microsoft.com/office/drawing/2014/main" id="{8153BF98-6A0C-0786-710E-3D0EE8987AAA}"/>
              </a:ext>
            </a:extLst>
          </p:cNvPr>
          <p:cNvSpPr txBox="1"/>
          <p:nvPr/>
        </p:nvSpPr>
        <p:spPr>
          <a:xfrm>
            <a:off x="1980556" y="2623546"/>
            <a:ext cx="514564" cy="90218"/>
          </a:xfrm>
          <a:prstGeom prst="rect">
            <a:avLst/>
          </a:prstGeom>
          <a:noFill/>
        </p:spPr>
        <p:txBody>
          <a:bodyPr wrap="none" lIns="0" tIns="0" rIns="0" bIns="0" anchor="ctr">
            <a:spAutoFit/>
          </a:bodyPr>
          <a:lstStyle/>
          <a:p>
            <a:pPr algn="ctr">
              <a:lnSpc>
                <a:spcPct val="105000"/>
              </a:lnSpc>
            </a:pPr>
            <a:r>
              <a:rPr lang="en-US" sz="600" dirty="0">
                <a:solidFill>
                  <a:srgbClr val="263442"/>
                </a:solidFill>
                <a:latin typeface="Arial"/>
              </a:rPr>
              <a:t>B</a:t>
            </a:r>
            <a:r>
              <a:rPr lang="en-US" altLang="zh-CN" sz="600" dirty="0">
                <a:solidFill>
                  <a:srgbClr val="263442"/>
                </a:solidFill>
                <a:latin typeface="Arial"/>
              </a:rPr>
              <a:t>ase s</a:t>
            </a:r>
            <a:r>
              <a:rPr sz="600" dirty="0">
                <a:solidFill>
                  <a:srgbClr val="263442"/>
                </a:solidFill>
                <a:latin typeface="Arial"/>
              </a:rPr>
              <a:t>ummary</a:t>
            </a:r>
          </a:p>
        </p:txBody>
      </p:sp>
      <p:sp>
        <p:nvSpPr>
          <p:cNvPr id="636" name="Math | h_j^vox">
            <a:extLst>
              <a:ext uri="{FF2B5EF4-FFF2-40B4-BE49-F238E27FC236}">
                <a16:creationId xmlns:a16="http://schemas.microsoft.com/office/drawing/2014/main" id="{93EC2205-1821-C3E9-E08B-23B27F07452E}"/>
              </a:ext>
            </a:extLst>
          </p:cNvPr>
          <p:cNvSpPr txBox="1"/>
          <p:nvPr/>
        </p:nvSpPr>
        <p:spPr>
          <a:xfrm>
            <a:off x="2156314" y="2371206"/>
            <a:ext cx="169918" cy="126509"/>
          </a:xfrm>
          <a:prstGeom prst="rect">
            <a:avLst/>
          </a:prstGeom>
          <a:noFill/>
        </p:spPr>
        <p:txBody>
          <a:bodyPr wrap="none" lIns="0" tIns="0" rIns="0" bIns="0" anchor="ctr">
            <a:spAutoFit/>
          </a:bodyPr>
          <a:lstStyle/>
          <a:p>
            <a:pPr algn="ctr"/>
            <a:r>
              <a:rPr sz="855" i="1">
                <a:solidFill>
                  <a:srgbClr val="263442"/>
                </a:solidFill>
                <a:latin typeface="Times New Roman"/>
              </a:rPr>
              <a:t>h</a:t>
            </a:r>
            <a:r>
              <a:rPr sz="780" i="1" baseline="-28000">
                <a:solidFill>
                  <a:srgbClr val="263442"/>
                </a:solidFill>
                <a:latin typeface="Times New Roman"/>
              </a:rPr>
              <a:t>j</a:t>
            </a:r>
            <a:r>
              <a:rPr sz="780" baseline="32000">
                <a:solidFill>
                  <a:srgbClr val="263442"/>
                </a:solidFill>
                <a:latin typeface="Arial"/>
              </a:rPr>
              <a:t>vox</a:t>
            </a:r>
          </a:p>
        </p:txBody>
      </p:sp>
      <p:sp>
        <p:nvSpPr>
          <p:cNvPr id="637" name="Base summary bar_1">
            <a:extLst>
              <a:ext uri="{FF2B5EF4-FFF2-40B4-BE49-F238E27FC236}">
                <a16:creationId xmlns:a16="http://schemas.microsoft.com/office/drawing/2014/main" id="{99E9D3C4-A8BD-9C93-615E-C771AE07C8E3}"/>
              </a:ext>
            </a:extLst>
          </p:cNvPr>
          <p:cNvSpPr/>
          <p:nvPr/>
        </p:nvSpPr>
        <p:spPr>
          <a:xfrm>
            <a:off x="2059844" y="2549118"/>
            <a:ext cx="44072" cy="59328"/>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8" name="Base summary bar_2">
            <a:extLst>
              <a:ext uri="{FF2B5EF4-FFF2-40B4-BE49-F238E27FC236}">
                <a16:creationId xmlns:a16="http://schemas.microsoft.com/office/drawing/2014/main" id="{6BC787CE-AF83-7509-7C88-9AB58DB6F66F}"/>
              </a:ext>
            </a:extLst>
          </p:cNvPr>
          <p:cNvSpPr/>
          <p:nvPr/>
        </p:nvSpPr>
        <p:spPr>
          <a:xfrm>
            <a:off x="2107871" y="2549118"/>
            <a:ext cx="44072" cy="59328"/>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9" name="Base summary bar_3">
            <a:extLst>
              <a:ext uri="{FF2B5EF4-FFF2-40B4-BE49-F238E27FC236}">
                <a16:creationId xmlns:a16="http://schemas.microsoft.com/office/drawing/2014/main" id="{269240CC-07F6-8569-D6D0-2E898FDFE671}"/>
              </a:ext>
            </a:extLst>
          </p:cNvPr>
          <p:cNvSpPr/>
          <p:nvPr/>
        </p:nvSpPr>
        <p:spPr>
          <a:xfrm>
            <a:off x="2155898" y="2549118"/>
            <a:ext cx="44072" cy="59328"/>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0" name="Base summary bar_4">
            <a:extLst>
              <a:ext uri="{FF2B5EF4-FFF2-40B4-BE49-F238E27FC236}">
                <a16:creationId xmlns:a16="http://schemas.microsoft.com/office/drawing/2014/main" id="{D027E165-A9E7-E339-F192-6FC69D94CA5E}"/>
              </a:ext>
            </a:extLst>
          </p:cNvPr>
          <p:cNvSpPr/>
          <p:nvPr/>
        </p:nvSpPr>
        <p:spPr>
          <a:xfrm>
            <a:off x="2203926" y="2549118"/>
            <a:ext cx="44072" cy="59328"/>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1" name="Base summary bar_5">
            <a:extLst>
              <a:ext uri="{FF2B5EF4-FFF2-40B4-BE49-F238E27FC236}">
                <a16:creationId xmlns:a16="http://schemas.microsoft.com/office/drawing/2014/main" id="{AF544338-D23E-CE3C-A6B8-4FA37DCAD82E}"/>
              </a:ext>
            </a:extLst>
          </p:cNvPr>
          <p:cNvSpPr/>
          <p:nvPr/>
        </p:nvSpPr>
        <p:spPr>
          <a:xfrm>
            <a:off x="2251954" y="2549118"/>
            <a:ext cx="44072" cy="59328"/>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2" name="Base summary bar_6">
            <a:extLst>
              <a:ext uri="{FF2B5EF4-FFF2-40B4-BE49-F238E27FC236}">
                <a16:creationId xmlns:a16="http://schemas.microsoft.com/office/drawing/2014/main" id="{9F80EB35-B4A7-2FA2-7A0C-B02A9915E4EB}"/>
              </a:ext>
            </a:extLst>
          </p:cNvPr>
          <p:cNvSpPr/>
          <p:nvPr/>
        </p:nvSpPr>
        <p:spPr>
          <a:xfrm>
            <a:off x="2299981" y="2549118"/>
            <a:ext cx="44072" cy="59328"/>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3" name="Base summary bar_7">
            <a:extLst>
              <a:ext uri="{FF2B5EF4-FFF2-40B4-BE49-F238E27FC236}">
                <a16:creationId xmlns:a16="http://schemas.microsoft.com/office/drawing/2014/main" id="{763E1301-00D0-44E1-3425-288C0321EC85}"/>
              </a:ext>
            </a:extLst>
          </p:cNvPr>
          <p:cNvSpPr/>
          <p:nvPr/>
        </p:nvSpPr>
        <p:spPr>
          <a:xfrm>
            <a:off x="2348008" y="2549118"/>
            <a:ext cx="44072" cy="59328"/>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4" name="Op | Mean/max pool">
            <a:extLst>
              <a:ext uri="{FF2B5EF4-FFF2-40B4-BE49-F238E27FC236}">
                <a16:creationId xmlns:a16="http://schemas.microsoft.com/office/drawing/2014/main" id="{C4850A78-C957-EF45-0669-F1FA2501E311}"/>
              </a:ext>
            </a:extLst>
          </p:cNvPr>
          <p:cNvSpPr/>
          <p:nvPr/>
        </p:nvSpPr>
        <p:spPr>
          <a:xfrm>
            <a:off x="573274" y="3452879"/>
            <a:ext cx="617009"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Mean/max pool</a:t>
            </a:r>
          </a:p>
        </p:txBody>
      </p:sp>
      <p:sp>
        <p:nvSpPr>
          <p:cNvPr id="645" name="Op | Cross-attention">
            <a:extLst>
              <a:ext uri="{FF2B5EF4-FFF2-40B4-BE49-F238E27FC236}">
                <a16:creationId xmlns:a16="http://schemas.microsoft.com/office/drawing/2014/main" id="{11FEE5AE-99F9-B083-0D93-CFC8DBD07D63}"/>
              </a:ext>
            </a:extLst>
          </p:cNvPr>
          <p:cNvSpPr/>
          <p:nvPr/>
        </p:nvSpPr>
        <p:spPr>
          <a:xfrm>
            <a:off x="1269387" y="3452879"/>
            <a:ext cx="648651"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Cross-attention</a:t>
            </a:r>
          </a:p>
        </p:txBody>
      </p:sp>
      <p:sp>
        <p:nvSpPr>
          <p:cNvPr id="646" name="TextBox 12200">
            <a:extLst>
              <a:ext uri="{FF2B5EF4-FFF2-40B4-BE49-F238E27FC236}">
                <a16:creationId xmlns:a16="http://schemas.microsoft.com/office/drawing/2014/main" id="{884D8F93-171F-A6AB-A603-7E1006874447}"/>
              </a:ext>
            </a:extLst>
          </p:cNvPr>
          <p:cNvSpPr txBox="1"/>
          <p:nvPr/>
        </p:nvSpPr>
        <p:spPr>
          <a:xfrm>
            <a:off x="1638684" y="3370950"/>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647" name="Op | FiLM">
            <a:extLst>
              <a:ext uri="{FF2B5EF4-FFF2-40B4-BE49-F238E27FC236}">
                <a16:creationId xmlns:a16="http://schemas.microsoft.com/office/drawing/2014/main" id="{59F3449A-984C-C7E7-FC02-0C47B43E0DFD}"/>
              </a:ext>
            </a:extLst>
          </p:cNvPr>
          <p:cNvSpPr/>
          <p:nvPr/>
        </p:nvSpPr>
        <p:spPr>
          <a:xfrm>
            <a:off x="2060427" y="3738251"/>
            <a:ext cx="300518" cy="150259"/>
          </a:xfrm>
          <a:prstGeom prst="roundRect">
            <a:avLst>
              <a:gd name="adj" fmla="val 25000"/>
            </a:avLst>
          </a:prstGeom>
          <a:solidFill>
            <a:srgbClr val="EDE7F5"/>
          </a:solidFill>
          <a:ln w="7290">
            <a:solidFill>
              <a:srgbClr val="B8A9D9"/>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623">
                <a:solidFill>
                  <a:srgbClr val="263442"/>
                </a:solidFill>
                <a:latin typeface="Arial"/>
              </a:rPr>
              <a:t>FiLM</a:t>
            </a:r>
          </a:p>
        </p:txBody>
      </p:sp>
      <p:sp>
        <p:nvSpPr>
          <p:cNvPr id="648" name="TextBox 12202">
            <a:extLst>
              <a:ext uri="{FF2B5EF4-FFF2-40B4-BE49-F238E27FC236}">
                <a16:creationId xmlns:a16="http://schemas.microsoft.com/office/drawing/2014/main" id="{6F9F40E0-7819-CEA2-6131-C4ABBC19B945}"/>
              </a:ext>
            </a:extLst>
          </p:cNvPr>
          <p:cNvSpPr txBox="1"/>
          <p:nvPr/>
        </p:nvSpPr>
        <p:spPr>
          <a:xfrm>
            <a:off x="2001097" y="3430400"/>
            <a:ext cx="126566" cy="84510"/>
          </a:xfrm>
          <a:prstGeom prst="rect">
            <a:avLst/>
          </a:prstGeom>
          <a:noFill/>
        </p:spPr>
        <p:txBody>
          <a:bodyPr wrap="square" lIns="0" tIns="0" rIns="0" bIns="0" anchor="ctr">
            <a:spAutoFit/>
          </a:bodyPr>
          <a:lstStyle/>
          <a:p>
            <a:pPr algn="ctr">
              <a:lnSpc>
                <a:spcPct val="105000"/>
              </a:lnSpc>
            </a:pPr>
            <a:r>
              <a:rPr sz="562">
                <a:solidFill>
                  <a:srgbClr val="263442"/>
                </a:solidFill>
                <a:latin typeface="Arial"/>
              </a:rPr>
              <a:t>Q</a:t>
            </a:r>
          </a:p>
        </p:txBody>
      </p:sp>
      <p:sp>
        <p:nvSpPr>
          <p:cNvPr id="649" name="Op | MLP">
            <a:extLst>
              <a:ext uri="{FF2B5EF4-FFF2-40B4-BE49-F238E27FC236}">
                <a16:creationId xmlns:a16="http://schemas.microsoft.com/office/drawing/2014/main" id="{554F5441-96D3-CFD3-6A6E-CA8C906F4B29}"/>
              </a:ext>
            </a:extLst>
          </p:cNvPr>
          <p:cNvSpPr/>
          <p:nvPr/>
        </p:nvSpPr>
        <p:spPr>
          <a:xfrm>
            <a:off x="1063695" y="3738251"/>
            <a:ext cx="347904" cy="150259"/>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MLP</a:t>
            </a:r>
          </a:p>
        </p:txBody>
      </p:sp>
      <p:sp>
        <p:nvSpPr>
          <p:cNvPr id="650" name="h_j bar_1">
            <a:extLst>
              <a:ext uri="{FF2B5EF4-FFF2-40B4-BE49-F238E27FC236}">
                <a16:creationId xmlns:a16="http://schemas.microsoft.com/office/drawing/2014/main" id="{99BF7016-0AEC-5CA1-43D0-0CC405933ADD}"/>
              </a:ext>
            </a:extLst>
          </p:cNvPr>
          <p:cNvSpPr/>
          <p:nvPr/>
        </p:nvSpPr>
        <p:spPr>
          <a:xfrm>
            <a:off x="2044604" y="3989994"/>
            <a:ext cx="44072" cy="56955"/>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1" name="h_j bar_2">
            <a:extLst>
              <a:ext uri="{FF2B5EF4-FFF2-40B4-BE49-F238E27FC236}">
                <a16:creationId xmlns:a16="http://schemas.microsoft.com/office/drawing/2014/main" id="{71708831-906F-DB31-D516-DA6520DB6B6E}"/>
              </a:ext>
            </a:extLst>
          </p:cNvPr>
          <p:cNvSpPr/>
          <p:nvPr/>
        </p:nvSpPr>
        <p:spPr>
          <a:xfrm>
            <a:off x="2092631" y="3989994"/>
            <a:ext cx="44072" cy="56955"/>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2" name="h_j bar_3">
            <a:extLst>
              <a:ext uri="{FF2B5EF4-FFF2-40B4-BE49-F238E27FC236}">
                <a16:creationId xmlns:a16="http://schemas.microsoft.com/office/drawing/2014/main" id="{E1CF9CE6-644D-2199-D558-FB2748AF4CA8}"/>
              </a:ext>
            </a:extLst>
          </p:cNvPr>
          <p:cNvSpPr/>
          <p:nvPr/>
        </p:nvSpPr>
        <p:spPr>
          <a:xfrm>
            <a:off x="2140658" y="3989994"/>
            <a:ext cx="44072" cy="56955"/>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3" name="h_j bar_4">
            <a:extLst>
              <a:ext uri="{FF2B5EF4-FFF2-40B4-BE49-F238E27FC236}">
                <a16:creationId xmlns:a16="http://schemas.microsoft.com/office/drawing/2014/main" id="{0B1E11C4-B6B0-8410-69CA-ECA06B016C11}"/>
              </a:ext>
            </a:extLst>
          </p:cNvPr>
          <p:cNvSpPr/>
          <p:nvPr/>
        </p:nvSpPr>
        <p:spPr>
          <a:xfrm>
            <a:off x="2188686" y="3989994"/>
            <a:ext cx="44072" cy="56955"/>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4" name="h_j bar_5">
            <a:extLst>
              <a:ext uri="{FF2B5EF4-FFF2-40B4-BE49-F238E27FC236}">
                <a16:creationId xmlns:a16="http://schemas.microsoft.com/office/drawing/2014/main" id="{2A27D763-25D4-1A48-A9AB-8AE10B5867F3}"/>
              </a:ext>
            </a:extLst>
          </p:cNvPr>
          <p:cNvSpPr/>
          <p:nvPr/>
        </p:nvSpPr>
        <p:spPr>
          <a:xfrm>
            <a:off x="2236714" y="3989994"/>
            <a:ext cx="44072" cy="56955"/>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5" name="h_j bar_6">
            <a:extLst>
              <a:ext uri="{FF2B5EF4-FFF2-40B4-BE49-F238E27FC236}">
                <a16:creationId xmlns:a16="http://schemas.microsoft.com/office/drawing/2014/main" id="{CC2DBA64-D0DF-1160-5FEF-C265BF4EAB35}"/>
              </a:ext>
            </a:extLst>
          </p:cNvPr>
          <p:cNvSpPr/>
          <p:nvPr/>
        </p:nvSpPr>
        <p:spPr>
          <a:xfrm>
            <a:off x="2284741" y="3989994"/>
            <a:ext cx="44072" cy="56955"/>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6" name="h_j bar_7">
            <a:extLst>
              <a:ext uri="{FF2B5EF4-FFF2-40B4-BE49-F238E27FC236}">
                <a16:creationId xmlns:a16="http://schemas.microsoft.com/office/drawing/2014/main" id="{3E031F7D-E2D9-9D11-0526-4D352C453584}"/>
              </a:ext>
            </a:extLst>
          </p:cNvPr>
          <p:cNvSpPr/>
          <p:nvPr/>
        </p:nvSpPr>
        <p:spPr>
          <a:xfrm>
            <a:off x="2332768" y="3989994"/>
            <a:ext cx="44072" cy="56955"/>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7" name="Math | h_j^">
            <a:extLst>
              <a:ext uri="{FF2B5EF4-FFF2-40B4-BE49-F238E27FC236}">
                <a16:creationId xmlns:a16="http://schemas.microsoft.com/office/drawing/2014/main" id="{9AC920D3-16D2-273E-04D3-53357E82FB0E}"/>
              </a:ext>
            </a:extLst>
          </p:cNvPr>
          <p:cNvSpPr txBox="1"/>
          <p:nvPr/>
        </p:nvSpPr>
        <p:spPr>
          <a:xfrm>
            <a:off x="1930234" y="3947306"/>
            <a:ext cx="70532" cy="126509"/>
          </a:xfrm>
          <a:prstGeom prst="rect">
            <a:avLst/>
          </a:prstGeom>
          <a:noFill/>
        </p:spPr>
        <p:txBody>
          <a:bodyPr wrap="none" lIns="0" tIns="0" rIns="0" bIns="0" anchor="ctr">
            <a:spAutoFit/>
          </a:bodyPr>
          <a:lstStyle/>
          <a:p>
            <a:pPr algn="ctr"/>
            <a:r>
              <a:rPr sz="855" i="1">
                <a:solidFill>
                  <a:srgbClr val="263442"/>
                </a:solidFill>
                <a:latin typeface="Times New Roman"/>
              </a:rPr>
              <a:t>h</a:t>
            </a:r>
            <a:r>
              <a:rPr sz="780" i="1" baseline="-28000">
                <a:solidFill>
                  <a:srgbClr val="263442"/>
                </a:solidFill>
                <a:latin typeface="Times New Roman"/>
              </a:rPr>
              <a:t>j</a:t>
            </a:r>
          </a:p>
        </p:txBody>
      </p:sp>
      <p:sp>
        <p:nvSpPr>
          <p:cNvPr id="658" name="Op | Foreground head">
            <a:extLst>
              <a:ext uri="{FF2B5EF4-FFF2-40B4-BE49-F238E27FC236}">
                <a16:creationId xmlns:a16="http://schemas.microsoft.com/office/drawing/2014/main" id="{772C4BD8-070D-6A2C-3C5B-CCE55BD09041}"/>
              </a:ext>
            </a:extLst>
          </p:cNvPr>
          <p:cNvSpPr/>
          <p:nvPr/>
        </p:nvSpPr>
        <p:spPr>
          <a:xfrm>
            <a:off x="660288" y="4181937"/>
            <a:ext cx="696113"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Foreground head</a:t>
            </a:r>
          </a:p>
        </p:txBody>
      </p:sp>
      <p:sp>
        <p:nvSpPr>
          <p:cNvPr id="659" name="Math | p_j^fg">
            <a:extLst>
              <a:ext uri="{FF2B5EF4-FFF2-40B4-BE49-F238E27FC236}">
                <a16:creationId xmlns:a16="http://schemas.microsoft.com/office/drawing/2014/main" id="{04752E8A-9FFA-1739-18D7-365FF5D9A529}"/>
              </a:ext>
            </a:extLst>
          </p:cNvPr>
          <p:cNvSpPr txBox="1"/>
          <p:nvPr/>
        </p:nvSpPr>
        <p:spPr>
          <a:xfrm>
            <a:off x="1661733" y="4176444"/>
            <a:ext cx="121828" cy="122341"/>
          </a:xfrm>
          <a:prstGeom prst="rect">
            <a:avLst/>
          </a:prstGeom>
          <a:noFill/>
        </p:spPr>
        <p:txBody>
          <a:bodyPr wrap="none" lIns="0" tIns="0" rIns="0" bIns="0" anchor="ctr">
            <a:spAutoFit/>
          </a:bodyPr>
          <a:lstStyle/>
          <a:p>
            <a:pPr algn="ctr"/>
            <a:r>
              <a:rPr sz="827" i="1" dirty="0" err="1">
                <a:solidFill>
                  <a:srgbClr val="263442"/>
                </a:solidFill>
                <a:latin typeface="Times New Roman"/>
              </a:rPr>
              <a:t>p</a:t>
            </a:r>
            <a:r>
              <a:rPr sz="780" i="1" baseline="-28000" dirty="0" err="1">
                <a:solidFill>
                  <a:srgbClr val="263442"/>
                </a:solidFill>
                <a:latin typeface="Times New Roman"/>
              </a:rPr>
              <a:t>j</a:t>
            </a:r>
            <a:r>
              <a:rPr sz="780" baseline="32000" dirty="0" err="1">
                <a:solidFill>
                  <a:srgbClr val="263442"/>
                </a:solidFill>
                <a:latin typeface="Arial"/>
              </a:rPr>
              <a:t>fg</a:t>
            </a:r>
            <a:endParaRPr sz="780" baseline="32000" dirty="0">
              <a:solidFill>
                <a:srgbClr val="263442"/>
              </a:solidFill>
              <a:latin typeface="Arial"/>
            </a:endParaRPr>
          </a:p>
        </p:txBody>
      </p:sp>
      <p:sp>
        <p:nvSpPr>
          <p:cNvPr id="660" name="TextBox 12215">
            <a:extLst>
              <a:ext uri="{FF2B5EF4-FFF2-40B4-BE49-F238E27FC236}">
                <a16:creationId xmlns:a16="http://schemas.microsoft.com/office/drawing/2014/main" id="{C45D4B31-EE62-7047-2BD0-7D7B985DADC4}"/>
              </a:ext>
            </a:extLst>
          </p:cNvPr>
          <p:cNvSpPr txBox="1"/>
          <p:nvPr/>
        </p:nvSpPr>
        <p:spPr>
          <a:xfrm>
            <a:off x="1392995" y="4310121"/>
            <a:ext cx="666849" cy="79445"/>
          </a:xfrm>
          <a:prstGeom prst="rect">
            <a:avLst/>
          </a:prstGeom>
          <a:noFill/>
        </p:spPr>
        <p:txBody>
          <a:bodyPr wrap="none" lIns="0" tIns="0" rIns="0" bIns="0" anchor="ctr">
            <a:spAutoFit/>
          </a:bodyPr>
          <a:lstStyle/>
          <a:p>
            <a:pPr algn="l">
              <a:lnSpc>
                <a:spcPct val="105000"/>
              </a:lnSpc>
            </a:pPr>
            <a:r>
              <a:rPr sz="528" dirty="0">
                <a:solidFill>
                  <a:srgbClr val="263442"/>
                </a:solidFill>
                <a:latin typeface="Arial"/>
              </a:rPr>
              <a:t>Foreground probability</a:t>
            </a:r>
          </a:p>
        </p:txBody>
      </p:sp>
      <p:sp>
        <p:nvSpPr>
          <p:cNvPr id="661" name="TextBox 12216">
            <a:extLst>
              <a:ext uri="{FF2B5EF4-FFF2-40B4-BE49-F238E27FC236}">
                <a16:creationId xmlns:a16="http://schemas.microsoft.com/office/drawing/2014/main" id="{978E7CF5-ACF2-460D-26F2-9B198BAAC63B}"/>
              </a:ext>
            </a:extLst>
          </p:cNvPr>
          <p:cNvSpPr txBox="1"/>
          <p:nvPr/>
        </p:nvSpPr>
        <p:spPr>
          <a:xfrm>
            <a:off x="3071869" y="2206291"/>
            <a:ext cx="1195840" cy="88422"/>
          </a:xfrm>
          <a:prstGeom prst="rect">
            <a:avLst/>
          </a:prstGeom>
          <a:noFill/>
        </p:spPr>
        <p:txBody>
          <a:bodyPr wrap="none" lIns="0" tIns="0" rIns="0" bIns="0" anchor="ctr">
            <a:spAutoFit/>
          </a:bodyPr>
          <a:lstStyle/>
          <a:p>
            <a:pPr algn="ctr">
              <a:lnSpc>
                <a:spcPct val="105000"/>
              </a:lnSpc>
            </a:pPr>
            <a:r>
              <a:rPr sz="588">
                <a:solidFill>
                  <a:srgbClr val="263442"/>
                </a:solidFill>
                <a:latin typeface="Arial"/>
              </a:rPr>
              <a:t>User-provided SMILES · same PDB</a:t>
            </a:r>
          </a:p>
        </p:txBody>
      </p:sp>
      <p:sp>
        <p:nvSpPr>
          <p:cNvPr id="662" name="Identity | SMILES list card">
            <a:extLst>
              <a:ext uri="{FF2B5EF4-FFF2-40B4-BE49-F238E27FC236}">
                <a16:creationId xmlns:a16="http://schemas.microsoft.com/office/drawing/2014/main" id="{7DA7890B-AB79-9717-CAA6-1EEE08F32188}"/>
              </a:ext>
            </a:extLst>
          </p:cNvPr>
          <p:cNvSpPr/>
          <p:nvPr/>
        </p:nvSpPr>
        <p:spPr>
          <a:xfrm>
            <a:off x="3250539" y="2309830"/>
            <a:ext cx="838500" cy="512745"/>
          </a:xfrm>
          <a:prstGeom prst="roundRect">
            <a:avLst>
              <a:gd name="adj" fmla="val 6000"/>
            </a:avLst>
          </a:prstGeom>
          <a:solidFill>
            <a:srgbClr val="FFFFFF"/>
          </a:solidFill>
          <a:ln w="7290">
            <a:solidFill>
              <a:srgbClr val="CBD6E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3" name="TextBox 12218">
            <a:extLst>
              <a:ext uri="{FF2B5EF4-FFF2-40B4-BE49-F238E27FC236}">
                <a16:creationId xmlns:a16="http://schemas.microsoft.com/office/drawing/2014/main" id="{86BB59AD-D134-C7C6-AEC0-14F6157A5F0B}"/>
              </a:ext>
            </a:extLst>
          </p:cNvPr>
          <p:cNvSpPr txBox="1"/>
          <p:nvPr/>
        </p:nvSpPr>
        <p:spPr>
          <a:xfrm>
            <a:off x="3305912" y="2338063"/>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1   CCO</a:t>
            </a:r>
          </a:p>
        </p:txBody>
      </p:sp>
      <p:sp>
        <p:nvSpPr>
          <p:cNvPr id="664" name="TextBox 12219">
            <a:extLst>
              <a:ext uri="{FF2B5EF4-FFF2-40B4-BE49-F238E27FC236}">
                <a16:creationId xmlns:a16="http://schemas.microsoft.com/office/drawing/2014/main" id="{D5CEF1E2-0003-83A9-6C8B-869DF460C92C}"/>
              </a:ext>
            </a:extLst>
          </p:cNvPr>
          <p:cNvSpPr txBox="1"/>
          <p:nvPr/>
        </p:nvSpPr>
        <p:spPr>
          <a:xfrm>
            <a:off x="3305912" y="2440897"/>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2   CC(=O)O</a:t>
            </a:r>
          </a:p>
        </p:txBody>
      </p:sp>
      <p:sp>
        <p:nvSpPr>
          <p:cNvPr id="665" name="Identity | Selected k pill">
            <a:extLst>
              <a:ext uri="{FF2B5EF4-FFF2-40B4-BE49-F238E27FC236}">
                <a16:creationId xmlns:a16="http://schemas.microsoft.com/office/drawing/2014/main" id="{484884C0-9180-67EB-D183-0D32CB2F3899}"/>
              </a:ext>
            </a:extLst>
          </p:cNvPr>
          <p:cNvSpPr/>
          <p:nvPr/>
        </p:nvSpPr>
        <p:spPr>
          <a:xfrm>
            <a:off x="3282181" y="2562853"/>
            <a:ext cx="775217" cy="118656"/>
          </a:xfrm>
          <a:prstGeom prst="roundRect">
            <a:avLst>
              <a:gd name="adj" fmla="val 18000"/>
            </a:avLst>
          </a:prstGeom>
          <a:solidFill>
            <a:srgbClr val="DCFCE7"/>
          </a:solidFill>
          <a:ln w="8890">
            <a:solidFill>
              <a:srgbClr val="3E997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6" name="TextBox 12222">
            <a:extLst>
              <a:ext uri="{FF2B5EF4-FFF2-40B4-BE49-F238E27FC236}">
                <a16:creationId xmlns:a16="http://schemas.microsoft.com/office/drawing/2014/main" id="{AF18D027-6125-FBDF-9BCD-9060B5C5E099}"/>
              </a:ext>
            </a:extLst>
          </p:cNvPr>
          <p:cNvSpPr txBox="1"/>
          <p:nvPr/>
        </p:nvSpPr>
        <p:spPr>
          <a:xfrm>
            <a:off x="3313822" y="2585570"/>
            <a:ext cx="71193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k   Cc1ccccc1</a:t>
            </a:r>
          </a:p>
        </p:txBody>
      </p:sp>
      <p:sp>
        <p:nvSpPr>
          <p:cNvPr id="667" name="TextBox 12224">
            <a:extLst>
              <a:ext uri="{FF2B5EF4-FFF2-40B4-BE49-F238E27FC236}">
                <a16:creationId xmlns:a16="http://schemas.microsoft.com/office/drawing/2014/main" id="{4F02AD2D-3369-26A3-6D2F-44659C880CB7}"/>
              </a:ext>
            </a:extLst>
          </p:cNvPr>
          <p:cNvSpPr txBox="1"/>
          <p:nvPr/>
        </p:nvSpPr>
        <p:spPr>
          <a:xfrm>
            <a:off x="3305912" y="2714369"/>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K   CC(N)=O</a:t>
            </a:r>
          </a:p>
        </p:txBody>
      </p:sp>
      <p:sp>
        <p:nvSpPr>
          <p:cNvPr id="668" name="TextBox 12225">
            <a:extLst>
              <a:ext uri="{FF2B5EF4-FFF2-40B4-BE49-F238E27FC236}">
                <a16:creationId xmlns:a16="http://schemas.microsoft.com/office/drawing/2014/main" id="{3E613D72-90CB-62FD-E861-8FE6E2F065B8}"/>
              </a:ext>
            </a:extLst>
          </p:cNvPr>
          <p:cNvSpPr txBox="1"/>
          <p:nvPr/>
        </p:nvSpPr>
        <p:spPr>
          <a:xfrm>
            <a:off x="2786686" y="2643822"/>
            <a:ext cx="181140" cy="80599"/>
          </a:xfrm>
          <a:prstGeom prst="rect">
            <a:avLst/>
          </a:prstGeom>
          <a:noFill/>
        </p:spPr>
        <p:txBody>
          <a:bodyPr wrap="none" lIns="0" tIns="0" rIns="0" bIns="0" anchor="ctr">
            <a:spAutoFit/>
          </a:bodyPr>
          <a:lstStyle/>
          <a:p>
            <a:pPr algn="l">
              <a:lnSpc>
                <a:spcPct val="105000"/>
              </a:lnSpc>
            </a:pPr>
            <a:r>
              <a:rPr sz="536" dirty="0" err="1">
                <a:solidFill>
                  <a:srgbClr val="263442"/>
                </a:solidFill>
                <a:latin typeface="Arial"/>
              </a:rPr>
              <a:t>RDKit</a:t>
            </a:r>
            <a:endParaRPr sz="536" dirty="0">
              <a:solidFill>
                <a:srgbClr val="263442"/>
              </a:solidFill>
              <a:latin typeface="Arial"/>
            </a:endParaRPr>
          </a:p>
        </p:txBody>
      </p:sp>
      <p:grpSp>
        <p:nvGrpSpPr>
          <p:cNvPr id="669" name="Identity | Own molecular graph">
            <a:extLst>
              <a:ext uri="{FF2B5EF4-FFF2-40B4-BE49-F238E27FC236}">
                <a16:creationId xmlns:a16="http://schemas.microsoft.com/office/drawing/2014/main" id="{683652C7-CC94-2A9C-935C-36CF7B7EB5E8}"/>
              </a:ext>
            </a:extLst>
          </p:cNvPr>
          <p:cNvGrpSpPr/>
          <p:nvPr/>
        </p:nvGrpSpPr>
        <p:grpSpPr>
          <a:xfrm>
            <a:off x="2862931" y="2888431"/>
            <a:ext cx="284773" cy="171742"/>
            <a:chOff x="3366271" y="3721905"/>
            <a:chExt cx="311024" cy="187573"/>
          </a:xfrm>
        </p:grpSpPr>
        <p:cxnSp>
          <p:nvCxnSpPr>
            <p:cNvPr id="670" name="path_2698">
              <a:extLst>
                <a:ext uri="{FF2B5EF4-FFF2-40B4-BE49-F238E27FC236}">
                  <a16:creationId xmlns:a16="http://schemas.microsoft.com/office/drawing/2014/main" id="{08C9C74A-0B12-2E3C-023F-C3DCDEFB7AF1}"/>
                </a:ext>
              </a:extLst>
            </p:cNvPr>
            <p:cNvCxnSpPr/>
            <p:nvPr/>
          </p:nvCxnSpPr>
          <p:spPr>
            <a:xfrm flipV="1">
              <a:off x="3381053" y="3736688"/>
              <a:ext cx="63663" cy="70463"/>
            </a:xfrm>
            <a:prstGeom prst="line">
              <a:avLst/>
            </a:prstGeom>
            <a:noFill/>
            <a:ln w="5256" cap="rnd" cmpd="sng" algn="ctr">
              <a:solidFill>
                <a:srgbClr val="238777"/>
              </a:solidFill>
              <a:prstDash val="solid"/>
              <a:round/>
              <a:headEnd type="none" w="med" len="med"/>
              <a:tailEnd type="none" w="med" len="med"/>
            </a:ln>
            <a:effectLst/>
          </p:spPr>
        </p:cxnSp>
        <p:cxnSp>
          <p:nvCxnSpPr>
            <p:cNvPr id="671" name="path_2699">
              <a:extLst>
                <a:ext uri="{FF2B5EF4-FFF2-40B4-BE49-F238E27FC236}">
                  <a16:creationId xmlns:a16="http://schemas.microsoft.com/office/drawing/2014/main" id="{1CF65ECB-9AC9-C310-5460-0B86FF6B2BC5}"/>
                </a:ext>
              </a:extLst>
            </p:cNvPr>
            <p:cNvCxnSpPr/>
            <p:nvPr/>
          </p:nvCxnSpPr>
          <p:spPr>
            <a:xfrm>
              <a:off x="3444717" y="3736688"/>
              <a:ext cx="113924" cy="14947"/>
            </a:xfrm>
            <a:prstGeom prst="line">
              <a:avLst/>
            </a:prstGeom>
            <a:noFill/>
            <a:ln w="5256" cap="rnd" cmpd="sng" algn="ctr">
              <a:solidFill>
                <a:srgbClr val="238777"/>
              </a:solidFill>
              <a:prstDash val="solid"/>
              <a:round/>
              <a:headEnd type="none" w="med" len="med"/>
              <a:tailEnd type="none" w="med" len="med"/>
            </a:ln>
            <a:effectLst/>
          </p:spPr>
        </p:cxnSp>
        <p:cxnSp>
          <p:nvCxnSpPr>
            <p:cNvPr id="672" name="path_2700">
              <a:extLst>
                <a:ext uri="{FF2B5EF4-FFF2-40B4-BE49-F238E27FC236}">
                  <a16:creationId xmlns:a16="http://schemas.microsoft.com/office/drawing/2014/main" id="{47F0AAAA-D782-D4D4-41E7-7304CCE8D568}"/>
                </a:ext>
              </a:extLst>
            </p:cNvPr>
            <p:cNvCxnSpPr/>
            <p:nvPr/>
          </p:nvCxnSpPr>
          <p:spPr>
            <a:xfrm>
              <a:off x="3558640" y="3751634"/>
              <a:ext cx="73715" cy="64058"/>
            </a:xfrm>
            <a:prstGeom prst="line">
              <a:avLst/>
            </a:prstGeom>
            <a:noFill/>
            <a:ln w="5256" cap="rnd" cmpd="sng" algn="ctr">
              <a:solidFill>
                <a:srgbClr val="238777"/>
              </a:solidFill>
              <a:prstDash val="solid"/>
              <a:round/>
              <a:headEnd type="none" w="med" len="med"/>
              <a:tailEnd type="none" w="med" len="med"/>
            </a:ln>
            <a:effectLst/>
          </p:spPr>
        </p:cxnSp>
        <p:cxnSp>
          <p:nvCxnSpPr>
            <p:cNvPr id="673" name="path_2701">
              <a:extLst>
                <a:ext uri="{FF2B5EF4-FFF2-40B4-BE49-F238E27FC236}">
                  <a16:creationId xmlns:a16="http://schemas.microsoft.com/office/drawing/2014/main" id="{672DEF92-FEF6-A8B8-A079-671D6D70071E}"/>
                </a:ext>
              </a:extLst>
            </p:cNvPr>
            <p:cNvCxnSpPr/>
            <p:nvPr/>
          </p:nvCxnSpPr>
          <p:spPr>
            <a:xfrm flipH="1">
              <a:off x="3561991" y="3815692"/>
              <a:ext cx="70365" cy="79004"/>
            </a:xfrm>
            <a:prstGeom prst="line">
              <a:avLst/>
            </a:prstGeom>
            <a:noFill/>
            <a:ln w="5256" cap="rnd" cmpd="sng" algn="ctr">
              <a:solidFill>
                <a:srgbClr val="238777"/>
              </a:solidFill>
              <a:prstDash val="solid"/>
              <a:round/>
              <a:headEnd type="none" w="med" len="med"/>
              <a:tailEnd type="none" w="med" len="med"/>
            </a:ln>
            <a:effectLst/>
          </p:spPr>
        </p:cxnSp>
        <p:cxnSp>
          <p:nvCxnSpPr>
            <p:cNvPr id="674" name="path_2702">
              <a:extLst>
                <a:ext uri="{FF2B5EF4-FFF2-40B4-BE49-F238E27FC236}">
                  <a16:creationId xmlns:a16="http://schemas.microsoft.com/office/drawing/2014/main" id="{B02A38E3-8AB1-C1CA-A784-7A02E63B2D09}"/>
                </a:ext>
              </a:extLst>
            </p:cNvPr>
            <p:cNvCxnSpPr/>
            <p:nvPr/>
          </p:nvCxnSpPr>
          <p:spPr>
            <a:xfrm flipH="1" flipV="1">
              <a:off x="3444717" y="3875479"/>
              <a:ext cx="117275" cy="19217"/>
            </a:xfrm>
            <a:prstGeom prst="line">
              <a:avLst/>
            </a:prstGeom>
            <a:noFill/>
            <a:ln w="5256" cap="rnd" cmpd="sng" algn="ctr">
              <a:solidFill>
                <a:srgbClr val="238777"/>
              </a:solidFill>
              <a:prstDash val="solid"/>
              <a:round/>
              <a:headEnd type="none" w="med" len="med"/>
              <a:tailEnd type="none" w="med" len="med"/>
            </a:ln>
            <a:effectLst/>
          </p:spPr>
        </p:cxnSp>
        <p:cxnSp>
          <p:nvCxnSpPr>
            <p:cNvPr id="675" name="path_2703">
              <a:extLst>
                <a:ext uri="{FF2B5EF4-FFF2-40B4-BE49-F238E27FC236}">
                  <a16:creationId xmlns:a16="http://schemas.microsoft.com/office/drawing/2014/main" id="{5EB27651-D3BE-22CD-39D8-D428781F5F97}"/>
                </a:ext>
              </a:extLst>
            </p:cNvPr>
            <p:cNvCxnSpPr/>
            <p:nvPr/>
          </p:nvCxnSpPr>
          <p:spPr>
            <a:xfrm flipH="1" flipV="1">
              <a:off x="3381053" y="3807151"/>
              <a:ext cx="63663" cy="68328"/>
            </a:xfrm>
            <a:prstGeom prst="line">
              <a:avLst/>
            </a:prstGeom>
            <a:noFill/>
            <a:ln w="5256" cap="rnd" cmpd="sng" algn="ctr">
              <a:solidFill>
                <a:srgbClr val="238777"/>
              </a:solidFill>
              <a:prstDash val="solid"/>
              <a:round/>
              <a:headEnd type="none" w="med" len="med"/>
              <a:tailEnd type="none" w="med" len="med"/>
            </a:ln>
            <a:effectLst/>
          </p:spPr>
        </p:cxnSp>
        <p:cxnSp>
          <p:nvCxnSpPr>
            <p:cNvPr id="676" name="path_2704">
              <a:extLst>
                <a:ext uri="{FF2B5EF4-FFF2-40B4-BE49-F238E27FC236}">
                  <a16:creationId xmlns:a16="http://schemas.microsoft.com/office/drawing/2014/main" id="{A3592B63-1411-3F57-5878-96E17C30AD75}"/>
                </a:ext>
              </a:extLst>
            </p:cNvPr>
            <p:cNvCxnSpPr/>
            <p:nvPr/>
          </p:nvCxnSpPr>
          <p:spPr>
            <a:xfrm flipV="1">
              <a:off x="3558640" y="3745228"/>
              <a:ext cx="103872" cy="6406"/>
            </a:xfrm>
            <a:prstGeom prst="line">
              <a:avLst/>
            </a:prstGeom>
            <a:noFill/>
            <a:ln w="5256" cap="rnd" cmpd="sng" algn="ctr">
              <a:solidFill>
                <a:srgbClr val="238777"/>
              </a:solidFill>
              <a:prstDash val="solid"/>
              <a:round/>
              <a:headEnd type="none" w="med" len="med"/>
              <a:tailEnd type="none" w="med" len="med"/>
            </a:ln>
            <a:effectLst/>
          </p:spPr>
        </p:cxnSp>
        <p:sp>
          <p:nvSpPr>
            <p:cNvPr id="677" name="ellipse_2705">
              <a:extLst>
                <a:ext uri="{FF2B5EF4-FFF2-40B4-BE49-F238E27FC236}">
                  <a16:creationId xmlns:a16="http://schemas.microsoft.com/office/drawing/2014/main" id="{C3D36D22-8CEB-B663-A605-02E9CFFED0C1}"/>
                </a:ext>
              </a:extLst>
            </p:cNvPr>
            <p:cNvSpPr/>
            <p:nvPr/>
          </p:nvSpPr>
          <p:spPr>
            <a:xfrm>
              <a:off x="3366271" y="3792368"/>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8" name="ellipse_2706">
              <a:extLst>
                <a:ext uri="{FF2B5EF4-FFF2-40B4-BE49-F238E27FC236}">
                  <a16:creationId xmlns:a16="http://schemas.microsoft.com/office/drawing/2014/main" id="{1F86BCBC-B96E-6EC5-AC9B-22A20629DF0F}"/>
                </a:ext>
              </a:extLst>
            </p:cNvPr>
            <p:cNvSpPr/>
            <p:nvPr/>
          </p:nvSpPr>
          <p:spPr>
            <a:xfrm>
              <a:off x="3429934" y="3721905"/>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9" name="ellipse_2707">
              <a:extLst>
                <a:ext uri="{FF2B5EF4-FFF2-40B4-BE49-F238E27FC236}">
                  <a16:creationId xmlns:a16="http://schemas.microsoft.com/office/drawing/2014/main" id="{0D7ED534-2755-74EA-6149-4A7E3A7E8992}"/>
                </a:ext>
              </a:extLst>
            </p:cNvPr>
            <p:cNvSpPr/>
            <p:nvPr/>
          </p:nvSpPr>
          <p:spPr>
            <a:xfrm>
              <a:off x="3543858" y="3736852"/>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0" name="ellipse_2708">
              <a:extLst>
                <a:ext uri="{FF2B5EF4-FFF2-40B4-BE49-F238E27FC236}">
                  <a16:creationId xmlns:a16="http://schemas.microsoft.com/office/drawing/2014/main" id="{01CC7294-C7B5-D1A4-A138-902105284B89}"/>
                </a:ext>
              </a:extLst>
            </p:cNvPr>
            <p:cNvSpPr/>
            <p:nvPr/>
          </p:nvSpPr>
          <p:spPr>
            <a:xfrm>
              <a:off x="3617573" y="3800909"/>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1" name="ellipse_2709">
              <a:extLst>
                <a:ext uri="{FF2B5EF4-FFF2-40B4-BE49-F238E27FC236}">
                  <a16:creationId xmlns:a16="http://schemas.microsoft.com/office/drawing/2014/main" id="{80734E48-9DE8-B4FD-D0D4-D53693BBEADF}"/>
                </a:ext>
              </a:extLst>
            </p:cNvPr>
            <p:cNvSpPr/>
            <p:nvPr/>
          </p:nvSpPr>
          <p:spPr>
            <a:xfrm>
              <a:off x="3547209" y="3879913"/>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2" name="ellipse_2710">
              <a:extLst>
                <a:ext uri="{FF2B5EF4-FFF2-40B4-BE49-F238E27FC236}">
                  <a16:creationId xmlns:a16="http://schemas.microsoft.com/office/drawing/2014/main" id="{3DB6F677-E1A0-2C7D-CADD-FB389865F633}"/>
                </a:ext>
              </a:extLst>
            </p:cNvPr>
            <p:cNvSpPr/>
            <p:nvPr/>
          </p:nvSpPr>
          <p:spPr>
            <a:xfrm>
              <a:off x="3429934" y="386069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3" name="ellipse_2711">
              <a:extLst>
                <a:ext uri="{FF2B5EF4-FFF2-40B4-BE49-F238E27FC236}">
                  <a16:creationId xmlns:a16="http://schemas.microsoft.com/office/drawing/2014/main" id="{D105DBC9-3C6D-0576-1E95-E04BFA9EB1EF}"/>
                </a:ext>
              </a:extLst>
            </p:cNvPr>
            <p:cNvSpPr/>
            <p:nvPr/>
          </p:nvSpPr>
          <p:spPr>
            <a:xfrm>
              <a:off x="3647730" y="373044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grpSp>
      <p:sp>
        <p:nvSpPr>
          <p:cNvPr id="684" name="TextBox 12226">
            <a:extLst>
              <a:ext uri="{FF2B5EF4-FFF2-40B4-BE49-F238E27FC236}">
                <a16:creationId xmlns:a16="http://schemas.microsoft.com/office/drawing/2014/main" id="{43DBD103-E22F-DA52-F0ED-122A5CA41D61}"/>
              </a:ext>
            </a:extLst>
          </p:cNvPr>
          <p:cNvSpPr txBox="1"/>
          <p:nvPr/>
        </p:nvSpPr>
        <p:spPr>
          <a:xfrm>
            <a:off x="2837002" y="3080344"/>
            <a:ext cx="336631" cy="80599"/>
          </a:xfrm>
          <a:prstGeom prst="rect">
            <a:avLst/>
          </a:prstGeom>
          <a:noFill/>
        </p:spPr>
        <p:txBody>
          <a:bodyPr wrap="none" lIns="0" tIns="0" rIns="0" bIns="0" anchor="ctr">
            <a:spAutoFit/>
          </a:bodyPr>
          <a:lstStyle/>
          <a:p>
            <a:pPr algn="ctr">
              <a:lnSpc>
                <a:spcPct val="105000"/>
              </a:lnSpc>
            </a:pPr>
            <a:r>
              <a:rPr sz="536">
                <a:solidFill>
                  <a:srgbClr val="263442"/>
                </a:solidFill>
                <a:latin typeface="Arial"/>
              </a:rPr>
              <a:t>Own graph</a:t>
            </a:r>
          </a:p>
        </p:txBody>
      </p:sp>
      <p:sp>
        <p:nvSpPr>
          <p:cNvPr id="685" name="Op | GNN">
            <a:extLst>
              <a:ext uri="{FF2B5EF4-FFF2-40B4-BE49-F238E27FC236}">
                <a16:creationId xmlns:a16="http://schemas.microsoft.com/office/drawing/2014/main" id="{98330FF3-2E5A-32C3-D33C-D78225E1943D}"/>
              </a:ext>
            </a:extLst>
          </p:cNvPr>
          <p:cNvSpPr/>
          <p:nvPr/>
        </p:nvSpPr>
        <p:spPr>
          <a:xfrm>
            <a:off x="2823379" y="3239299"/>
            <a:ext cx="363877"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GNN</a:t>
            </a:r>
          </a:p>
        </p:txBody>
      </p:sp>
      <p:sp>
        <p:nvSpPr>
          <p:cNvPr id="686" name="TextBox 12228">
            <a:extLst>
              <a:ext uri="{FF2B5EF4-FFF2-40B4-BE49-F238E27FC236}">
                <a16:creationId xmlns:a16="http://schemas.microsoft.com/office/drawing/2014/main" id="{26538413-3AE9-9872-D0A6-0AEA9E6FF809}"/>
              </a:ext>
            </a:extLst>
          </p:cNvPr>
          <p:cNvSpPr txBox="1"/>
          <p:nvPr/>
        </p:nvSpPr>
        <p:spPr>
          <a:xfrm>
            <a:off x="3036959" y="3388848"/>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687" name="Op | Graph attention">
            <a:extLst>
              <a:ext uri="{FF2B5EF4-FFF2-40B4-BE49-F238E27FC236}">
                <a16:creationId xmlns:a16="http://schemas.microsoft.com/office/drawing/2014/main" id="{5F3701CD-DCA3-D9CA-7FA3-D737E8718A60}"/>
              </a:ext>
            </a:extLst>
          </p:cNvPr>
          <p:cNvSpPr/>
          <p:nvPr/>
        </p:nvSpPr>
        <p:spPr>
          <a:xfrm>
            <a:off x="2696813" y="3500341"/>
            <a:ext cx="617009"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Graph</a:t>
            </a:r>
            <a:r>
              <a:rPr sz="580" dirty="0">
                <a:solidFill>
                  <a:srgbClr val="263442"/>
                </a:solidFill>
                <a:latin typeface="Arial"/>
              </a:rPr>
              <a:t> </a:t>
            </a:r>
            <a:r>
              <a:rPr sz="588" dirty="0">
                <a:solidFill>
                  <a:srgbClr val="263442"/>
                </a:solidFill>
                <a:latin typeface="Arial"/>
              </a:rPr>
              <a:t>attention</a:t>
            </a:r>
          </a:p>
        </p:txBody>
      </p:sp>
      <p:sp>
        <p:nvSpPr>
          <p:cNvPr id="688" name="Op | SMI-TED">
            <a:extLst>
              <a:ext uri="{FF2B5EF4-FFF2-40B4-BE49-F238E27FC236}">
                <a16:creationId xmlns:a16="http://schemas.microsoft.com/office/drawing/2014/main" id="{9F250B16-9768-CC2C-86AF-59769C8EEC4C}"/>
              </a:ext>
            </a:extLst>
          </p:cNvPr>
          <p:cNvSpPr/>
          <p:nvPr/>
        </p:nvSpPr>
        <p:spPr>
          <a:xfrm>
            <a:off x="3459362" y="2971538"/>
            <a:ext cx="427160"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SMI-TED</a:t>
            </a:r>
          </a:p>
        </p:txBody>
      </p:sp>
      <p:sp>
        <p:nvSpPr>
          <p:cNvPr id="689" name="Language vector v_k_1">
            <a:extLst>
              <a:ext uri="{FF2B5EF4-FFF2-40B4-BE49-F238E27FC236}">
                <a16:creationId xmlns:a16="http://schemas.microsoft.com/office/drawing/2014/main" id="{E695888D-D925-5392-2451-D7757F2B6BC7}"/>
              </a:ext>
            </a:extLst>
          </p:cNvPr>
          <p:cNvSpPr/>
          <p:nvPr/>
        </p:nvSpPr>
        <p:spPr>
          <a:xfrm>
            <a:off x="3527403"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0" name="Language vector v_k_2">
            <a:extLst>
              <a:ext uri="{FF2B5EF4-FFF2-40B4-BE49-F238E27FC236}">
                <a16:creationId xmlns:a16="http://schemas.microsoft.com/office/drawing/2014/main" id="{914284BD-BAB8-4AEA-A1F1-E7FC853BC87F}"/>
              </a:ext>
            </a:extLst>
          </p:cNvPr>
          <p:cNvSpPr/>
          <p:nvPr/>
        </p:nvSpPr>
        <p:spPr>
          <a:xfrm>
            <a:off x="3568650"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1" name="Language vector v_k_3">
            <a:extLst>
              <a:ext uri="{FF2B5EF4-FFF2-40B4-BE49-F238E27FC236}">
                <a16:creationId xmlns:a16="http://schemas.microsoft.com/office/drawing/2014/main" id="{A224CED9-3025-4474-CF80-E118B0ACA7AB}"/>
              </a:ext>
            </a:extLst>
          </p:cNvPr>
          <p:cNvSpPr/>
          <p:nvPr/>
        </p:nvSpPr>
        <p:spPr>
          <a:xfrm>
            <a:off x="3609897"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2" name="Language vector v_k_4">
            <a:extLst>
              <a:ext uri="{FF2B5EF4-FFF2-40B4-BE49-F238E27FC236}">
                <a16:creationId xmlns:a16="http://schemas.microsoft.com/office/drawing/2014/main" id="{3641CBF3-C5A5-2DC2-88CA-B3F2C816508D}"/>
              </a:ext>
            </a:extLst>
          </p:cNvPr>
          <p:cNvSpPr/>
          <p:nvPr/>
        </p:nvSpPr>
        <p:spPr>
          <a:xfrm>
            <a:off x="3651144" y="3547013"/>
            <a:ext cx="37291" cy="56955"/>
          </a:xfrm>
          <a:prstGeom prst="rect">
            <a:avLst/>
          </a:prstGeom>
          <a:solidFill>
            <a:srgbClr val="CBE7D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3" name="Language vector v_k_5">
            <a:extLst>
              <a:ext uri="{FF2B5EF4-FFF2-40B4-BE49-F238E27FC236}">
                <a16:creationId xmlns:a16="http://schemas.microsoft.com/office/drawing/2014/main" id="{B6BA4357-39F7-598C-72FA-2FC00B25A10F}"/>
              </a:ext>
            </a:extLst>
          </p:cNvPr>
          <p:cNvSpPr/>
          <p:nvPr/>
        </p:nvSpPr>
        <p:spPr>
          <a:xfrm>
            <a:off x="3692391"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4" name="Language vector v_k_6">
            <a:extLst>
              <a:ext uri="{FF2B5EF4-FFF2-40B4-BE49-F238E27FC236}">
                <a16:creationId xmlns:a16="http://schemas.microsoft.com/office/drawing/2014/main" id="{14F9C08B-08C8-5CC8-21F6-EC42430BFA81}"/>
              </a:ext>
            </a:extLst>
          </p:cNvPr>
          <p:cNvSpPr/>
          <p:nvPr/>
        </p:nvSpPr>
        <p:spPr>
          <a:xfrm>
            <a:off x="3733638"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5" name="Language vector v_k_7">
            <a:extLst>
              <a:ext uri="{FF2B5EF4-FFF2-40B4-BE49-F238E27FC236}">
                <a16:creationId xmlns:a16="http://schemas.microsoft.com/office/drawing/2014/main" id="{52E0E1B7-31F4-244C-BA32-494F415D5F2F}"/>
              </a:ext>
            </a:extLst>
          </p:cNvPr>
          <p:cNvSpPr/>
          <p:nvPr/>
        </p:nvSpPr>
        <p:spPr>
          <a:xfrm>
            <a:off x="3774885"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6" name="TextBox 12239">
            <a:extLst>
              <a:ext uri="{FF2B5EF4-FFF2-40B4-BE49-F238E27FC236}">
                <a16:creationId xmlns:a16="http://schemas.microsoft.com/office/drawing/2014/main" id="{DE6BD61F-48C0-C267-E36F-0AC7BC24100D}"/>
              </a:ext>
            </a:extLst>
          </p:cNvPr>
          <p:cNvSpPr txBox="1"/>
          <p:nvPr/>
        </p:nvSpPr>
        <p:spPr>
          <a:xfrm>
            <a:off x="3353374" y="3475189"/>
            <a:ext cx="126566" cy="81946"/>
          </a:xfrm>
          <a:prstGeom prst="rect">
            <a:avLst/>
          </a:prstGeom>
          <a:noFill/>
        </p:spPr>
        <p:txBody>
          <a:bodyPr wrap="square" lIns="0" tIns="0" rIns="0" bIns="0" anchor="ctr">
            <a:spAutoFit/>
          </a:bodyPr>
          <a:lstStyle/>
          <a:p>
            <a:pPr algn="ctr">
              <a:lnSpc>
                <a:spcPct val="105000"/>
              </a:lnSpc>
            </a:pPr>
            <a:r>
              <a:rPr sz="545" dirty="0">
                <a:solidFill>
                  <a:srgbClr val="263442"/>
                </a:solidFill>
                <a:latin typeface="Arial"/>
              </a:rPr>
              <a:t>Q</a:t>
            </a:r>
          </a:p>
        </p:txBody>
      </p:sp>
      <p:sp>
        <p:nvSpPr>
          <p:cNvPr id="697" name="TextBox 12240">
            <a:extLst>
              <a:ext uri="{FF2B5EF4-FFF2-40B4-BE49-F238E27FC236}">
                <a16:creationId xmlns:a16="http://schemas.microsoft.com/office/drawing/2014/main" id="{2ACBC05C-C556-BA36-3DA9-0D37D9382C06}"/>
              </a:ext>
            </a:extLst>
          </p:cNvPr>
          <p:cNvSpPr txBox="1"/>
          <p:nvPr/>
        </p:nvSpPr>
        <p:spPr>
          <a:xfrm>
            <a:off x="3859638" y="3475189"/>
            <a:ext cx="126566" cy="81946"/>
          </a:xfrm>
          <a:prstGeom prst="rect">
            <a:avLst/>
          </a:prstGeom>
          <a:noFill/>
        </p:spPr>
        <p:txBody>
          <a:bodyPr wrap="square" lIns="0" tIns="0" rIns="0" bIns="0" anchor="ctr">
            <a:spAutoFit/>
          </a:bodyPr>
          <a:lstStyle/>
          <a:p>
            <a:pPr algn="ctr">
              <a:lnSpc>
                <a:spcPct val="105000"/>
              </a:lnSpc>
            </a:pPr>
            <a:r>
              <a:rPr sz="545">
                <a:solidFill>
                  <a:srgbClr val="263442"/>
                </a:solidFill>
                <a:latin typeface="Arial"/>
              </a:rPr>
              <a:t>Q</a:t>
            </a:r>
          </a:p>
        </p:txBody>
      </p:sp>
      <p:sp>
        <p:nvSpPr>
          <p:cNvPr id="698" name="TextBox 12241">
            <a:extLst>
              <a:ext uri="{FF2B5EF4-FFF2-40B4-BE49-F238E27FC236}">
                <a16:creationId xmlns:a16="http://schemas.microsoft.com/office/drawing/2014/main" id="{0B3A68EF-7CF9-A2EB-24B2-085C5BF1F71F}"/>
              </a:ext>
            </a:extLst>
          </p:cNvPr>
          <p:cNvSpPr txBox="1"/>
          <p:nvPr/>
        </p:nvSpPr>
        <p:spPr>
          <a:xfrm>
            <a:off x="4373812" y="2542416"/>
            <a:ext cx="379698" cy="151836"/>
          </a:xfrm>
          <a:prstGeom prst="rect">
            <a:avLst/>
          </a:prstGeom>
          <a:noFill/>
        </p:spPr>
        <p:txBody>
          <a:bodyPr wrap="square" lIns="0" tIns="0" rIns="0" bIns="0" anchor="ctr">
            <a:spAutoFit/>
          </a:bodyPr>
          <a:lstStyle/>
          <a:p>
            <a:pPr algn="l">
              <a:lnSpc>
                <a:spcPct val="95000"/>
              </a:lnSpc>
            </a:pPr>
            <a:r>
              <a:rPr lang="en-US" sz="519" dirty="0">
                <a:solidFill>
                  <a:srgbClr val="263442"/>
                </a:solidFill>
                <a:latin typeface="Arial"/>
              </a:rPr>
              <a:t>  </a:t>
            </a:r>
            <a:r>
              <a:rPr sz="519" dirty="0">
                <a:solidFill>
                  <a:srgbClr val="263442"/>
                </a:solidFill>
                <a:latin typeface="Arial"/>
              </a:rPr>
              <a:t>Other</a:t>
            </a:r>
          </a:p>
          <a:p>
            <a:pPr algn="l">
              <a:lnSpc>
                <a:spcPct val="95000"/>
              </a:lnSpc>
            </a:pPr>
            <a:r>
              <a:rPr sz="519" dirty="0">
                <a:solidFill>
                  <a:srgbClr val="263442"/>
                </a:solidFill>
                <a:latin typeface="Arial"/>
              </a:rPr>
              <a:t>identities</a:t>
            </a:r>
          </a:p>
        </p:txBody>
      </p:sp>
      <p:sp>
        <p:nvSpPr>
          <p:cNvPr id="699" name="Op | SMI-TED">
            <a:extLst>
              <a:ext uri="{FF2B5EF4-FFF2-40B4-BE49-F238E27FC236}">
                <a16:creationId xmlns:a16="http://schemas.microsoft.com/office/drawing/2014/main" id="{6691CF15-5DAD-F305-5973-B1ACEFFF5CBF}"/>
              </a:ext>
            </a:extLst>
          </p:cNvPr>
          <p:cNvSpPr/>
          <p:nvPr/>
        </p:nvSpPr>
        <p:spPr>
          <a:xfrm>
            <a:off x="4140927" y="2967199"/>
            <a:ext cx="427160"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SMI-TED</a:t>
            </a:r>
          </a:p>
        </p:txBody>
      </p:sp>
      <p:sp>
        <p:nvSpPr>
          <p:cNvPr id="700" name="TextBox 12244">
            <a:extLst>
              <a:ext uri="{FF2B5EF4-FFF2-40B4-BE49-F238E27FC236}">
                <a16:creationId xmlns:a16="http://schemas.microsoft.com/office/drawing/2014/main" id="{13C55E5C-99C8-F46D-3353-FED4827206EC}"/>
              </a:ext>
            </a:extLst>
          </p:cNvPr>
          <p:cNvSpPr txBox="1"/>
          <p:nvPr/>
        </p:nvSpPr>
        <p:spPr>
          <a:xfrm>
            <a:off x="4128591" y="3197919"/>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1</a:t>
            </a:r>
          </a:p>
        </p:txBody>
      </p:sp>
      <p:sp>
        <p:nvSpPr>
          <p:cNvPr id="701" name="Context bar 1_1">
            <a:extLst>
              <a:ext uri="{FF2B5EF4-FFF2-40B4-BE49-F238E27FC236}">
                <a16:creationId xmlns:a16="http://schemas.microsoft.com/office/drawing/2014/main" id="{F675EB2C-E3F4-CF25-F2F9-B217A0C64998}"/>
              </a:ext>
            </a:extLst>
          </p:cNvPr>
          <p:cNvSpPr/>
          <p:nvPr/>
        </p:nvSpPr>
        <p:spPr>
          <a:xfrm>
            <a:off x="4223515"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2" name="Context bar 1_2">
            <a:extLst>
              <a:ext uri="{FF2B5EF4-FFF2-40B4-BE49-F238E27FC236}">
                <a16:creationId xmlns:a16="http://schemas.microsoft.com/office/drawing/2014/main" id="{7015B7C2-EE7A-8CD3-BF9A-C8F6C295F2D3}"/>
              </a:ext>
            </a:extLst>
          </p:cNvPr>
          <p:cNvSpPr/>
          <p:nvPr/>
        </p:nvSpPr>
        <p:spPr>
          <a:xfrm>
            <a:off x="4271637"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3" name="Context bar 1_3">
            <a:extLst>
              <a:ext uri="{FF2B5EF4-FFF2-40B4-BE49-F238E27FC236}">
                <a16:creationId xmlns:a16="http://schemas.microsoft.com/office/drawing/2014/main" id="{0283D963-CC89-9552-BBFA-44417F9A5810}"/>
              </a:ext>
            </a:extLst>
          </p:cNvPr>
          <p:cNvSpPr/>
          <p:nvPr/>
        </p:nvSpPr>
        <p:spPr>
          <a:xfrm>
            <a:off x="4319758" y="3223887"/>
            <a:ext cx="44166" cy="34806"/>
          </a:xfrm>
          <a:prstGeom prst="rect">
            <a:avLst/>
          </a:prstGeom>
          <a:solidFill>
            <a:srgbClr val="BFD2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4" name="Context bar 1_4">
            <a:extLst>
              <a:ext uri="{FF2B5EF4-FFF2-40B4-BE49-F238E27FC236}">
                <a16:creationId xmlns:a16="http://schemas.microsoft.com/office/drawing/2014/main" id="{DFE762FA-D62F-609E-23C6-B16577CF789A}"/>
              </a:ext>
            </a:extLst>
          </p:cNvPr>
          <p:cNvSpPr/>
          <p:nvPr/>
        </p:nvSpPr>
        <p:spPr>
          <a:xfrm>
            <a:off x="4367880" y="3223887"/>
            <a:ext cx="44166" cy="34806"/>
          </a:xfrm>
          <a:prstGeom prst="rect">
            <a:avLst/>
          </a:prstGeom>
          <a:solidFill>
            <a:srgbClr val="7397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5" name="Context bar 1_5">
            <a:extLst>
              <a:ext uri="{FF2B5EF4-FFF2-40B4-BE49-F238E27FC236}">
                <a16:creationId xmlns:a16="http://schemas.microsoft.com/office/drawing/2014/main" id="{8A2B1ECE-222F-713D-5115-87805A38C6E9}"/>
              </a:ext>
            </a:extLst>
          </p:cNvPr>
          <p:cNvSpPr/>
          <p:nvPr/>
        </p:nvSpPr>
        <p:spPr>
          <a:xfrm>
            <a:off x="4416001"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6" name="Context bar 1_6">
            <a:extLst>
              <a:ext uri="{FF2B5EF4-FFF2-40B4-BE49-F238E27FC236}">
                <a16:creationId xmlns:a16="http://schemas.microsoft.com/office/drawing/2014/main" id="{F9202696-646F-1763-9139-E44B52B50C5F}"/>
              </a:ext>
            </a:extLst>
          </p:cNvPr>
          <p:cNvSpPr/>
          <p:nvPr/>
        </p:nvSpPr>
        <p:spPr>
          <a:xfrm>
            <a:off x="4464123"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7" name="TextBox 12251">
            <a:extLst>
              <a:ext uri="{FF2B5EF4-FFF2-40B4-BE49-F238E27FC236}">
                <a16:creationId xmlns:a16="http://schemas.microsoft.com/office/drawing/2014/main" id="{7BC06DFD-B767-BA41-2B05-2B0A38358B92}"/>
              </a:ext>
            </a:extLst>
          </p:cNvPr>
          <p:cNvSpPr txBox="1"/>
          <p:nvPr/>
        </p:nvSpPr>
        <p:spPr>
          <a:xfrm>
            <a:off x="4128591" y="3270220"/>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2</a:t>
            </a:r>
          </a:p>
        </p:txBody>
      </p:sp>
      <p:sp>
        <p:nvSpPr>
          <p:cNvPr id="708" name="Context bar 2_1">
            <a:extLst>
              <a:ext uri="{FF2B5EF4-FFF2-40B4-BE49-F238E27FC236}">
                <a16:creationId xmlns:a16="http://schemas.microsoft.com/office/drawing/2014/main" id="{520858ED-2877-9676-9DDD-53EAA8E37558}"/>
              </a:ext>
            </a:extLst>
          </p:cNvPr>
          <p:cNvSpPr/>
          <p:nvPr/>
        </p:nvSpPr>
        <p:spPr>
          <a:xfrm>
            <a:off x="4223515"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9" name="Context bar 2_2">
            <a:extLst>
              <a:ext uri="{FF2B5EF4-FFF2-40B4-BE49-F238E27FC236}">
                <a16:creationId xmlns:a16="http://schemas.microsoft.com/office/drawing/2014/main" id="{50A3D4F9-D9FE-CC8B-21E7-D32E326D8875}"/>
              </a:ext>
            </a:extLst>
          </p:cNvPr>
          <p:cNvSpPr/>
          <p:nvPr/>
        </p:nvSpPr>
        <p:spPr>
          <a:xfrm>
            <a:off x="4271637"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0" name="Context bar 2_3">
            <a:extLst>
              <a:ext uri="{FF2B5EF4-FFF2-40B4-BE49-F238E27FC236}">
                <a16:creationId xmlns:a16="http://schemas.microsoft.com/office/drawing/2014/main" id="{4471AA3C-5A9C-CEE5-0418-953EC2227441}"/>
              </a:ext>
            </a:extLst>
          </p:cNvPr>
          <p:cNvSpPr/>
          <p:nvPr/>
        </p:nvSpPr>
        <p:spPr>
          <a:xfrm>
            <a:off x="4319758" y="3286664"/>
            <a:ext cx="44166" cy="34806"/>
          </a:xfrm>
          <a:prstGeom prst="rect">
            <a:avLst/>
          </a:prstGeom>
          <a:solidFill>
            <a:srgbClr val="E0CC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1" name="Context bar 2_4">
            <a:extLst>
              <a:ext uri="{FF2B5EF4-FFF2-40B4-BE49-F238E27FC236}">
                <a16:creationId xmlns:a16="http://schemas.microsoft.com/office/drawing/2014/main" id="{B321BB44-18FA-E7F3-2924-BC94493FEA4A}"/>
              </a:ext>
            </a:extLst>
          </p:cNvPr>
          <p:cNvSpPr/>
          <p:nvPr/>
        </p:nvSpPr>
        <p:spPr>
          <a:xfrm>
            <a:off x="4367880" y="3286664"/>
            <a:ext cx="44166" cy="34806"/>
          </a:xfrm>
          <a:prstGeom prst="rect">
            <a:avLst/>
          </a:prstGeom>
          <a:solidFill>
            <a:srgbClr val="B58E5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2" name="Context bar 2_5">
            <a:extLst>
              <a:ext uri="{FF2B5EF4-FFF2-40B4-BE49-F238E27FC236}">
                <a16:creationId xmlns:a16="http://schemas.microsoft.com/office/drawing/2014/main" id="{BF58521A-8C41-BE24-9704-AEAF70385316}"/>
              </a:ext>
            </a:extLst>
          </p:cNvPr>
          <p:cNvSpPr/>
          <p:nvPr/>
        </p:nvSpPr>
        <p:spPr>
          <a:xfrm>
            <a:off x="4416001"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3" name="Context bar 2_6">
            <a:extLst>
              <a:ext uri="{FF2B5EF4-FFF2-40B4-BE49-F238E27FC236}">
                <a16:creationId xmlns:a16="http://schemas.microsoft.com/office/drawing/2014/main" id="{4283B810-9FFF-25F8-1960-4F272603052B}"/>
              </a:ext>
            </a:extLst>
          </p:cNvPr>
          <p:cNvSpPr/>
          <p:nvPr/>
        </p:nvSpPr>
        <p:spPr>
          <a:xfrm>
            <a:off x="4464123"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4" name="TextBox 12258">
            <a:extLst>
              <a:ext uri="{FF2B5EF4-FFF2-40B4-BE49-F238E27FC236}">
                <a16:creationId xmlns:a16="http://schemas.microsoft.com/office/drawing/2014/main" id="{D4C78125-5C89-7F13-017C-2E1C11AE7FDD}"/>
              </a:ext>
            </a:extLst>
          </p:cNvPr>
          <p:cNvSpPr txBox="1"/>
          <p:nvPr/>
        </p:nvSpPr>
        <p:spPr>
          <a:xfrm>
            <a:off x="4128591" y="3342522"/>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K</a:t>
            </a:r>
          </a:p>
        </p:txBody>
      </p:sp>
      <p:sp>
        <p:nvSpPr>
          <p:cNvPr id="715" name="Context bar K_1">
            <a:extLst>
              <a:ext uri="{FF2B5EF4-FFF2-40B4-BE49-F238E27FC236}">
                <a16:creationId xmlns:a16="http://schemas.microsoft.com/office/drawing/2014/main" id="{6C63634F-2307-320B-8E95-2B6ADA84F565}"/>
              </a:ext>
            </a:extLst>
          </p:cNvPr>
          <p:cNvSpPr/>
          <p:nvPr/>
        </p:nvSpPr>
        <p:spPr>
          <a:xfrm>
            <a:off x="4223515"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6" name="Context bar K_2">
            <a:extLst>
              <a:ext uri="{FF2B5EF4-FFF2-40B4-BE49-F238E27FC236}">
                <a16:creationId xmlns:a16="http://schemas.microsoft.com/office/drawing/2014/main" id="{582A4CF2-1B99-BCF5-A8D3-EE93D5F5B81F}"/>
              </a:ext>
            </a:extLst>
          </p:cNvPr>
          <p:cNvSpPr/>
          <p:nvPr/>
        </p:nvSpPr>
        <p:spPr>
          <a:xfrm>
            <a:off x="4271637"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7" name="Context bar K_3">
            <a:extLst>
              <a:ext uri="{FF2B5EF4-FFF2-40B4-BE49-F238E27FC236}">
                <a16:creationId xmlns:a16="http://schemas.microsoft.com/office/drawing/2014/main" id="{607B41B1-A111-8D93-E207-5DF6221B54D2}"/>
              </a:ext>
            </a:extLst>
          </p:cNvPr>
          <p:cNvSpPr/>
          <p:nvPr/>
        </p:nvSpPr>
        <p:spPr>
          <a:xfrm>
            <a:off x="4319758" y="3349440"/>
            <a:ext cx="44166" cy="34806"/>
          </a:xfrm>
          <a:prstGeom prst="rect">
            <a:avLst/>
          </a:prstGeom>
          <a:solidFill>
            <a:srgbClr val="CBC2E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8" name="Context bar K_4">
            <a:extLst>
              <a:ext uri="{FF2B5EF4-FFF2-40B4-BE49-F238E27FC236}">
                <a16:creationId xmlns:a16="http://schemas.microsoft.com/office/drawing/2014/main" id="{9539C2E7-004F-E86E-852E-98E80C399402}"/>
              </a:ext>
            </a:extLst>
          </p:cNvPr>
          <p:cNvSpPr/>
          <p:nvPr/>
        </p:nvSpPr>
        <p:spPr>
          <a:xfrm>
            <a:off x="4367880" y="3349440"/>
            <a:ext cx="44166" cy="34806"/>
          </a:xfrm>
          <a:prstGeom prst="rect">
            <a:avLst/>
          </a:prstGeom>
          <a:solidFill>
            <a:srgbClr val="8E7DB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9" name="Context bar K_5">
            <a:extLst>
              <a:ext uri="{FF2B5EF4-FFF2-40B4-BE49-F238E27FC236}">
                <a16:creationId xmlns:a16="http://schemas.microsoft.com/office/drawing/2014/main" id="{2DE0B959-537B-893B-9987-81BBF3647FFD}"/>
              </a:ext>
            </a:extLst>
          </p:cNvPr>
          <p:cNvSpPr/>
          <p:nvPr/>
        </p:nvSpPr>
        <p:spPr>
          <a:xfrm>
            <a:off x="4416001"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0" name="Context bar K_6">
            <a:extLst>
              <a:ext uri="{FF2B5EF4-FFF2-40B4-BE49-F238E27FC236}">
                <a16:creationId xmlns:a16="http://schemas.microsoft.com/office/drawing/2014/main" id="{147CE38B-269C-4BBA-77C6-2810C1D11F1C}"/>
              </a:ext>
            </a:extLst>
          </p:cNvPr>
          <p:cNvSpPr/>
          <p:nvPr/>
        </p:nvSpPr>
        <p:spPr>
          <a:xfrm>
            <a:off x="4464123"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1" name="TextBox 12265">
            <a:extLst>
              <a:ext uri="{FF2B5EF4-FFF2-40B4-BE49-F238E27FC236}">
                <a16:creationId xmlns:a16="http://schemas.microsoft.com/office/drawing/2014/main" id="{979CEBC9-AC70-1276-123A-637171F58084}"/>
              </a:ext>
            </a:extLst>
          </p:cNvPr>
          <p:cNvSpPr txBox="1"/>
          <p:nvPr/>
        </p:nvSpPr>
        <p:spPr>
          <a:xfrm>
            <a:off x="4381723" y="3400472"/>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722" name="Op | Context attention">
            <a:extLst>
              <a:ext uri="{FF2B5EF4-FFF2-40B4-BE49-F238E27FC236}">
                <a16:creationId xmlns:a16="http://schemas.microsoft.com/office/drawing/2014/main" id="{640CE564-549E-0D15-B50A-E392C9DB6304}"/>
              </a:ext>
            </a:extLst>
          </p:cNvPr>
          <p:cNvSpPr/>
          <p:nvPr/>
        </p:nvSpPr>
        <p:spPr>
          <a:xfrm>
            <a:off x="4025756" y="3500341"/>
            <a:ext cx="648651"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Context</a:t>
            </a:r>
            <a:r>
              <a:rPr sz="580" dirty="0">
                <a:solidFill>
                  <a:srgbClr val="263442"/>
                </a:solidFill>
                <a:latin typeface="Arial"/>
              </a:rPr>
              <a:t> attention</a:t>
            </a:r>
          </a:p>
        </p:txBody>
      </p:sp>
      <p:sp>
        <p:nvSpPr>
          <p:cNvPr id="723" name="Op | Fusion">
            <a:extLst>
              <a:ext uri="{FF2B5EF4-FFF2-40B4-BE49-F238E27FC236}">
                <a16:creationId xmlns:a16="http://schemas.microsoft.com/office/drawing/2014/main" id="{FF74A918-BF09-C9F6-6A9B-D421CF97BC33}"/>
              </a:ext>
            </a:extLst>
          </p:cNvPr>
          <p:cNvSpPr/>
          <p:nvPr/>
        </p:nvSpPr>
        <p:spPr>
          <a:xfrm>
            <a:off x="3479940" y="3733697"/>
            <a:ext cx="379698" cy="142387"/>
          </a:xfrm>
          <a:prstGeom prst="roundRect">
            <a:avLst>
              <a:gd name="adj" fmla="val 18000"/>
            </a:avLst>
          </a:prstGeom>
          <a:solidFill>
            <a:srgbClr val="EDE7F5"/>
          </a:solidFill>
          <a:ln w="7290">
            <a:solidFill>
              <a:srgbClr val="B8A9D9"/>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Fusion</a:t>
            </a:r>
          </a:p>
        </p:txBody>
      </p:sp>
      <p:sp>
        <p:nvSpPr>
          <p:cNvPr id="724" name="g_k bar_1">
            <a:extLst>
              <a:ext uri="{FF2B5EF4-FFF2-40B4-BE49-F238E27FC236}">
                <a16:creationId xmlns:a16="http://schemas.microsoft.com/office/drawing/2014/main" id="{CB9A6A2F-14EE-2004-CB53-FCE391ACED69}"/>
              </a:ext>
            </a:extLst>
          </p:cNvPr>
          <p:cNvSpPr/>
          <p:nvPr/>
        </p:nvSpPr>
        <p:spPr>
          <a:xfrm>
            <a:off x="3503672"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5" name="g_k bar_2">
            <a:extLst>
              <a:ext uri="{FF2B5EF4-FFF2-40B4-BE49-F238E27FC236}">
                <a16:creationId xmlns:a16="http://schemas.microsoft.com/office/drawing/2014/main" id="{E39FC69E-11ED-3FA2-32B9-5945059F2213}"/>
              </a:ext>
            </a:extLst>
          </p:cNvPr>
          <p:cNvSpPr/>
          <p:nvPr/>
        </p:nvSpPr>
        <p:spPr>
          <a:xfrm>
            <a:off x="3551699"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6" name="g_k bar_3">
            <a:extLst>
              <a:ext uri="{FF2B5EF4-FFF2-40B4-BE49-F238E27FC236}">
                <a16:creationId xmlns:a16="http://schemas.microsoft.com/office/drawing/2014/main" id="{543C1079-397B-91D4-0D56-9824953F1A51}"/>
              </a:ext>
            </a:extLst>
          </p:cNvPr>
          <p:cNvSpPr/>
          <p:nvPr/>
        </p:nvSpPr>
        <p:spPr>
          <a:xfrm>
            <a:off x="3599726"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7" name="g_k bar_4">
            <a:extLst>
              <a:ext uri="{FF2B5EF4-FFF2-40B4-BE49-F238E27FC236}">
                <a16:creationId xmlns:a16="http://schemas.microsoft.com/office/drawing/2014/main" id="{72768CF4-9EFB-DF24-7C89-6D351C730BA5}"/>
              </a:ext>
            </a:extLst>
          </p:cNvPr>
          <p:cNvSpPr/>
          <p:nvPr/>
        </p:nvSpPr>
        <p:spPr>
          <a:xfrm>
            <a:off x="3647753" y="3989994"/>
            <a:ext cx="44072" cy="56955"/>
          </a:xfrm>
          <a:prstGeom prst="rect">
            <a:avLst/>
          </a:prstGeom>
          <a:solidFill>
            <a:srgbClr val="68AB9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8" name="g_k bar_5">
            <a:extLst>
              <a:ext uri="{FF2B5EF4-FFF2-40B4-BE49-F238E27FC236}">
                <a16:creationId xmlns:a16="http://schemas.microsoft.com/office/drawing/2014/main" id="{4025AE17-AFDD-1F7D-9368-8E976FBC9D73}"/>
              </a:ext>
            </a:extLst>
          </p:cNvPr>
          <p:cNvSpPr/>
          <p:nvPr/>
        </p:nvSpPr>
        <p:spPr>
          <a:xfrm>
            <a:off x="3695781"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9" name="g_k bar_6">
            <a:extLst>
              <a:ext uri="{FF2B5EF4-FFF2-40B4-BE49-F238E27FC236}">
                <a16:creationId xmlns:a16="http://schemas.microsoft.com/office/drawing/2014/main" id="{894C2CFF-A654-8C7B-2480-AC98400CE487}"/>
              </a:ext>
            </a:extLst>
          </p:cNvPr>
          <p:cNvSpPr/>
          <p:nvPr/>
        </p:nvSpPr>
        <p:spPr>
          <a:xfrm>
            <a:off x="3743808"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0" name="g_k bar_7">
            <a:extLst>
              <a:ext uri="{FF2B5EF4-FFF2-40B4-BE49-F238E27FC236}">
                <a16:creationId xmlns:a16="http://schemas.microsoft.com/office/drawing/2014/main" id="{DC10EA75-05BB-E415-682D-FAFCD65B7377}"/>
              </a:ext>
            </a:extLst>
          </p:cNvPr>
          <p:cNvSpPr/>
          <p:nvPr/>
        </p:nvSpPr>
        <p:spPr>
          <a:xfrm>
            <a:off x="3791835"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1" name="Math | g_k^">
            <a:extLst>
              <a:ext uri="{FF2B5EF4-FFF2-40B4-BE49-F238E27FC236}">
                <a16:creationId xmlns:a16="http://schemas.microsoft.com/office/drawing/2014/main" id="{45321F2B-F3FA-58E1-92FE-B69A1AB20949}"/>
              </a:ext>
            </a:extLst>
          </p:cNvPr>
          <p:cNvSpPr txBox="1"/>
          <p:nvPr/>
        </p:nvSpPr>
        <p:spPr>
          <a:xfrm>
            <a:off x="3872532" y="3947306"/>
            <a:ext cx="84960" cy="126509"/>
          </a:xfrm>
          <a:prstGeom prst="rect">
            <a:avLst/>
          </a:prstGeom>
          <a:noFill/>
        </p:spPr>
        <p:txBody>
          <a:bodyPr wrap="none" lIns="0" tIns="0" rIns="0" bIns="0" anchor="ctr">
            <a:spAutoFit/>
          </a:bodyPr>
          <a:lstStyle/>
          <a:p>
            <a:pPr algn="ctr"/>
            <a:r>
              <a:rPr sz="855" i="1">
                <a:solidFill>
                  <a:srgbClr val="263442"/>
                </a:solidFill>
                <a:latin typeface="Times New Roman"/>
              </a:rPr>
              <a:t>g</a:t>
            </a:r>
            <a:r>
              <a:rPr sz="780" i="1" baseline="-28000">
                <a:solidFill>
                  <a:srgbClr val="263442"/>
                </a:solidFill>
                <a:latin typeface="Times New Roman"/>
              </a:rPr>
              <a:t>k</a:t>
            </a:r>
          </a:p>
        </p:txBody>
      </p:sp>
      <p:sp>
        <p:nvSpPr>
          <p:cNvPr id="732" name="Op | Cosine score">
            <a:extLst>
              <a:ext uri="{FF2B5EF4-FFF2-40B4-BE49-F238E27FC236}">
                <a16:creationId xmlns:a16="http://schemas.microsoft.com/office/drawing/2014/main" id="{9B88858F-88C1-DA3F-1992-E9C76D0D80AF}"/>
              </a:ext>
            </a:extLst>
          </p:cNvPr>
          <p:cNvSpPr/>
          <p:nvPr/>
        </p:nvSpPr>
        <p:spPr>
          <a:xfrm>
            <a:off x="3279920" y="4162465"/>
            <a:ext cx="569547"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Cosine score</a:t>
            </a:r>
          </a:p>
        </p:txBody>
      </p:sp>
      <p:sp>
        <p:nvSpPr>
          <p:cNvPr id="733" name="TextBox 12277">
            <a:extLst>
              <a:ext uri="{FF2B5EF4-FFF2-40B4-BE49-F238E27FC236}">
                <a16:creationId xmlns:a16="http://schemas.microsoft.com/office/drawing/2014/main" id="{7D6970C3-E7E9-652B-644D-A057CB503545}"/>
              </a:ext>
            </a:extLst>
          </p:cNvPr>
          <p:cNvSpPr txBox="1"/>
          <p:nvPr/>
        </p:nvSpPr>
        <p:spPr>
          <a:xfrm>
            <a:off x="3275392" y="4326634"/>
            <a:ext cx="585097" cy="79445"/>
          </a:xfrm>
          <a:prstGeom prst="rect">
            <a:avLst/>
          </a:prstGeom>
          <a:noFill/>
        </p:spPr>
        <p:txBody>
          <a:bodyPr wrap="none" lIns="0" tIns="0" rIns="0" bIns="0" anchor="ctr">
            <a:spAutoFit/>
          </a:bodyPr>
          <a:lstStyle/>
          <a:p>
            <a:pPr algn="ctr">
              <a:lnSpc>
                <a:spcPct val="105000"/>
              </a:lnSpc>
            </a:pPr>
            <a:r>
              <a:rPr sz="528" dirty="0">
                <a:solidFill>
                  <a:srgbClr val="263442"/>
                </a:solidFill>
                <a:latin typeface="Arial"/>
              </a:rPr>
              <a:t>Learned projections</a:t>
            </a:r>
          </a:p>
        </p:txBody>
      </p:sp>
      <p:sp>
        <p:nvSpPr>
          <p:cNvPr id="734" name="Math | s_j,k^">
            <a:extLst>
              <a:ext uri="{FF2B5EF4-FFF2-40B4-BE49-F238E27FC236}">
                <a16:creationId xmlns:a16="http://schemas.microsoft.com/office/drawing/2014/main" id="{BD0A37AE-0CF6-77DD-8048-3FF0945F4158}"/>
              </a:ext>
            </a:extLst>
          </p:cNvPr>
          <p:cNvSpPr txBox="1"/>
          <p:nvPr/>
        </p:nvSpPr>
        <p:spPr>
          <a:xfrm>
            <a:off x="3930163" y="4086560"/>
            <a:ext cx="104196" cy="117083"/>
          </a:xfrm>
          <a:prstGeom prst="rect">
            <a:avLst/>
          </a:prstGeom>
          <a:noFill/>
        </p:spPr>
        <p:txBody>
          <a:bodyPr wrap="none" lIns="0" tIns="0" rIns="0" bIns="0" anchor="ctr">
            <a:spAutoFit/>
          </a:bodyPr>
          <a:lstStyle/>
          <a:p>
            <a:pPr algn="ctr"/>
            <a:r>
              <a:rPr sz="791" i="1" dirty="0" err="1">
                <a:solidFill>
                  <a:srgbClr val="263442"/>
                </a:solidFill>
                <a:latin typeface="Times New Roman"/>
              </a:rPr>
              <a:t>s</a:t>
            </a:r>
            <a:r>
              <a:rPr sz="780" i="1" baseline="-28000" dirty="0" err="1">
                <a:solidFill>
                  <a:srgbClr val="263442"/>
                </a:solidFill>
                <a:latin typeface="Times New Roman"/>
              </a:rPr>
              <a:t>j,k</a:t>
            </a:r>
            <a:endParaRPr sz="780" i="1" baseline="-28000" dirty="0">
              <a:solidFill>
                <a:srgbClr val="263442"/>
              </a:solidFill>
              <a:latin typeface="Times New Roman"/>
            </a:endParaRPr>
          </a:p>
        </p:txBody>
      </p:sp>
      <p:sp>
        <p:nvSpPr>
          <p:cNvPr id="735" name="TextBox 12279">
            <a:extLst>
              <a:ext uri="{FF2B5EF4-FFF2-40B4-BE49-F238E27FC236}">
                <a16:creationId xmlns:a16="http://schemas.microsoft.com/office/drawing/2014/main" id="{C56E8311-ADDA-7C63-9110-2C3006BDD08E}"/>
              </a:ext>
            </a:extLst>
          </p:cNvPr>
          <p:cNvSpPr txBox="1"/>
          <p:nvPr/>
        </p:nvSpPr>
        <p:spPr>
          <a:xfrm>
            <a:off x="4189537" y="3931330"/>
            <a:ext cx="479297" cy="87268"/>
          </a:xfrm>
          <a:prstGeom prst="rect">
            <a:avLst/>
          </a:prstGeom>
          <a:noFill/>
        </p:spPr>
        <p:txBody>
          <a:bodyPr wrap="none" lIns="0" tIns="0" rIns="0" bIns="0" anchor="ctr">
            <a:spAutoFit/>
          </a:bodyPr>
          <a:lstStyle/>
          <a:p>
            <a:pPr algn="ctr">
              <a:lnSpc>
                <a:spcPct val="105000"/>
              </a:lnSpc>
            </a:pPr>
            <a:r>
              <a:rPr sz="580">
                <a:solidFill>
                  <a:srgbClr val="263442"/>
                </a:solidFill>
                <a:latin typeface="Arial"/>
              </a:rPr>
              <a:t>Identity scores</a:t>
            </a:r>
          </a:p>
        </p:txBody>
      </p:sp>
      <p:sp>
        <p:nvSpPr>
          <p:cNvPr id="736" name="TextBox 12280">
            <a:extLst>
              <a:ext uri="{FF2B5EF4-FFF2-40B4-BE49-F238E27FC236}">
                <a16:creationId xmlns:a16="http://schemas.microsoft.com/office/drawing/2014/main" id="{C640A1D5-D4D1-3FBF-0F27-45AD836A7FCE}"/>
              </a:ext>
            </a:extLst>
          </p:cNvPr>
          <p:cNvSpPr txBox="1"/>
          <p:nvPr/>
        </p:nvSpPr>
        <p:spPr>
          <a:xfrm>
            <a:off x="4428041" y="4018471"/>
            <a:ext cx="102835" cy="85921"/>
          </a:xfrm>
          <a:prstGeom prst="rect">
            <a:avLst/>
          </a:prstGeom>
          <a:noFill/>
        </p:spPr>
        <p:txBody>
          <a:bodyPr wrap="square" lIns="0" tIns="0" rIns="0" bIns="0" anchor="ctr">
            <a:spAutoFit/>
          </a:bodyPr>
          <a:lstStyle/>
          <a:p>
            <a:pPr algn="ctr">
              <a:lnSpc>
                <a:spcPct val="105000"/>
              </a:lnSpc>
            </a:pPr>
            <a:r>
              <a:rPr sz="571" dirty="0">
                <a:solidFill>
                  <a:srgbClr val="263442"/>
                </a:solidFill>
                <a:latin typeface="Arial"/>
              </a:rPr>
              <a:t>k</a:t>
            </a:r>
          </a:p>
        </p:txBody>
      </p:sp>
      <p:sp>
        <p:nvSpPr>
          <p:cNvPr id="737" name="TextBox 12281">
            <a:extLst>
              <a:ext uri="{FF2B5EF4-FFF2-40B4-BE49-F238E27FC236}">
                <a16:creationId xmlns:a16="http://schemas.microsoft.com/office/drawing/2014/main" id="{F472392A-4724-5EDA-C6D8-557EF063B52F}"/>
              </a:ext>
            </a:extLst>
          </p:cNvPr>
          <p:cNvSpPr txBox="1"/>
          <p:nvPr/>
        </p:nvSpPr>
        <p:spPr>
          <a:xfrm>
            <a:off x="4128591" y="4169314"/>
            <a:ext cx="87014" cy="85921"/>
          </a:xfrm>
          <a:prstGeom prst="rect">
            <a:avLst/>
          </a:prstGeom>
          <a:noFill/>
        </p:spPr>
        <p:txBody>
          <a:bodyPr wrap="square" lIns="0" tIns="0" rIns="0" bIns="0" anchor="ctr">
            <a:spAutoFit/>
          </a:bodyPr>
          <a:lstStyle/>
          <a:p>
            <a:pPr algn="ctr">
              <a:lnSpc>
                <a:spcPct val="105000"/>
              </a:lnSpc>
            </a:pPr>
            <a:r>
              <a:rPr sz="571">
                <a:solidFill>
                  <a:srgbClr val="263442"/>
                </a:solidFill>
                <a:latin typeface="Arial"/>
              </a:rPr>
              <a:t>j</a:t>
            </a:r>
          </a:p>
        </p:txBody>
      </p:sp>
      <p:sp>
        <p:nvSpPr>
          <p:cNvPr id="738" name="Matrix cell (0,0)">
            <a:extLst>
              <a:ext uri="{FF2B5EF4-FFF2-40B4-BE49-F238E27FC236}">
                <a16:creationId xmlns:a16="http://schemas.microsoft.com/office/drawing/2014/main" id="{1FAFF817-C1CE-5F45-E950-98E19AE452CF}"/>
              </a:ext>
            </a:extLst>
          </p:cNvPr>
          <p:cNvSpPr/>
          <p:nvPr/>
        </p:nvSpPr>
        <p:spPr>
          <a:xfrm>
            <a:off x="4223515"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9" name="Matrix cell (0,1)">
            <a:extLst>
              <a:ext uri="{FF2B5EF4-FFF2-40B4-BE49-F238E27FC236}">
                <a16:creationId xmlns:a16="http://schemas.microsoft.com/office/drawing/2014/main" id="{ED9FACB8-4D6A-044F-997F-E09503AC15AA}"/>
              </a:ext>
            </a:extLst>
          </p:cNvPr>
          <p:cNvSpPr/>
          <p:nvPr/>
        </p:nvSpPr>
        <p:spPr>
          <a:xfrm>
            <a:off x="4326350"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0" name="Matrix cell (0,2)">
            <a:extLst>
              <a:ext uri="{FF2B5EF4-FFF2-40B4-BE49-F238E27FC236}">
                <a16:creationId xmlns:a16="http://schemas.microsoft.com/office/drawing/2014/main" id="{DE25E670-FAB3-667C-5777-C71ED9075845}"/>
              </a:ext>
            </a:extLst>
          </p:cNvPr>
          <p:cNvSpPr/>
          <p:nvPr/>
        </p:nvSpPr>
        <p:spPr>
          <a:xfrm>
            <a:off x="4429185"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1" name="Matrix cell (0,3)">
            <a:extLst>
              <a:ext uri="{FF2B5EF4-FFF2-40B4-BE49-F238E27FC236}">
                <a16:creationId xmlns:a16="http://schemas.microsoft.com/office/drawing/2014/main" id="{D15A0AB1-9BF7-4E76-6CED-C525DFBAA5F7}"/>
              </a:ext>
            </a:extLst>
          </p:cNvPr>
          <p:cNvSpPr/>
          <p:nvPr/>
        </p:nvSpPr>
        <p:spPr>
          <a:xfrm>
            <a:off x="4532020"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2" name="Matrix cell (1,0)">
            <a:extLst>
              <a:ext uri="{FF2B5EF4-FFF2-40B4-BE49-F238E27FC236}">
                <a16:creationId xmlns:a16="http://schemas.microsoft.com/office/drawing/2014/main" id="{5C20FC23-8B30-D896-36CC-91D73273996F}"/>
              </a:ext>
            </a:extLst>
          </p:cNvPr>
          <p:cNvSpPr/>
          <p:nvPr/>
        </p:nvSpPr>
        <p:spPr>
          <a:xfrm>
            <a:off x="4223515"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3" name="Matrix cell (1,1)">
            <a:extLst>
              <a:ext uri="{FF2B5EF4-FFF2-40B4-BE49-F238E27FC236}">
                <a16:creationId xmlns:a16="http://schemas.microsoft.com/office/drawing/2014/main" id="{023C0380-7EA8-B629-5738-AD00698F49B6}"/>
              </a:ext>
            </a:extLst>
          </p:cNvPr>
          <p:cNvSpPr/>
          <p:nvPr/>
        </p:nvSpPr>
        <p:spPr>
          <a:xfrm>
            <a:off x="4326350"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4" name="Matrix cell (1,2)">
            <a:extLst>
              <a:ext uri="{FF2B5EF4-FFF2-40B4-BE49-F238E27FC236}">
                <a16:creationId xmlns:a16="http://schemas.microsoft.com/office/drawing/2014/main" id="{12FBEABC-63F9-0304-4A97-80811BFE2B66}"/>
              </a:ext>
            </a:extLst>
          </p:cNvPr>
          <p:cNvSpPr/>
          <p:nvPr/>
        </p:nvSpPr>
        <p:spPr>
          <a:xfrm>
            <a:off x="4429185" y="4176678"/>
            <a:ext cx="102835" cy="71193"/>
          </a:xfrm>
          <a:prstGeom prst="rect">
            <a:avLst/>
          </a:prstGeom>
          <a:solidFill>
            <a:srgbClr val="3C9486"/>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5" name="Matrix cell (1,3)">
            <a:extLst>
              <a:ext uri="{FF2B5EF4-FFF2-40B4-BE49-F238E27FC236}">
                <a16:creationId xmlns:a16="http://schemas.microsoft.com/office/drawing/2014/main" id="{90D1E1D0-D1D8-F490-5B4D-27F3093D1ECE}"/>
              </a:ext>
            </a:extLst>
          </p:cNvPr>
          <p:cNvSpPr/>
          <p:nvPr/>
        </p:nvSpPr>
        <p:spPr>
          <a:xfrm>
            <a:off x="4532020"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6" name="Matrix cell (2,0)">
            <a:extLst>
              <a:ext uri="{FF2B5EF4-FFF2-40B4-BE49-F238E27FC236}">
                <a16:creationId xmlns:a16="http://schemas.microsoft.com/office/drawing/2014/main" id="{158A66BE-E7B7-0506-657E-0BF13A0E4F5E}"/>
              </a:ext>
            </a:extLst>
          </p:cNvPr>
          <p:cNvSpPr/>
          <p:nvPr/>
        </p:nvSpPr>
        <p:spPr>
          <a:xfrm>
            <a:off x="4223515"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7" name="Matrix cell (2,1)">
            <a:extLst>
              <a:ext uri="{FF2B5EF4-FFF2-40B4-BE49-F238E27FC236}">
                <a16:creationId xmlns:a16="http://schemas.microsoft.com/office/drawing/2014/main" id="{3B18D166-F88A-573E-0225-1ACB99CB2512}"/>
              </a:ext>
            </a:extLst>
          </p:cNvPr>
          <p:cNvSpPr/>
          <p:nvPr/>
        </p:nvSpPr>
        <p:spPr>
          <a:xfrm>
            <a:off x="4326350"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8" name="Matrix cell (2,2)">
            <a:extLst>
              <a:ext uri="{FF2B5EF4-FFF2-40B4-BE49-F238E27FC236}">
                <a16:creationId xmlns:a16="http://schemas.microsoft.com/office/drawing/2014/main" id="{FC858539-3EA9-E4FE-E803-0C8FFAD3870F}"/>
              </a:ext>
            </a:extLst>
          </p:cNvPr>
          <p:cNvSpPr/>
          <p:nvPr/>
        </p:nvSpPr>
        <p:spPr>
          <a:xfrm>
            <a:off x="4429185"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9" name="Matrix cell (2,3)">
            <a:extLst>
              <a:ext uri="{FF2B5EF4-FFF2-40B4-BE49-F238E27FC236}">
                <a16:creationId xmlns:a16="http://schemas.microsoft.com/office/drawing/2014/main" id="{3713326C-75C4-31D8-12F4-1CA18BF652D7}"/>
              </a:ext>
            </a:extLst>
          </p:cNvPr>
          <p:cNvSpPr/>
          <p:nvPr/>
        </p:nvSpPr>
        <p:spPr>
          <a:xfrm>
            <a:off x="4532020"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50" name="TextBox 12294">
            <a:extLst>
              <a:ext uri="{FF2B5EF4-FFF2-40B4-BE49-F238E27FC236}">
                <a16:creationId xmlns:a16="http://schemas.microsoft.com/office/drawing/2014/main" id="{E992C05A-634A-6CF2-2936-1480C4EA17F1}"/>
              </a:ext>
            </a:extLst>
          </p:cNvPr>
          <p:cNvSpPr txBox="1"/>
          <p:nvPr/>
        </p:nvSpPr>
        <p:spPr>
          <a:xfrm>
            <a:off x="4223516" y="4312989"/>
            <a:ext cx="411339" cy="82587"/>
          </a:xfrm>
          <a:prstGeom prst="rect">
            <a:avLst/>
          </a:prstGeom>
          <a:noFill/>
        </p:spPr>
        <p:txBody>
          <a:bodyPr wrap="square" lIns="0" tIns="0" rIns="0" bIns="0" anchor="ctr">
            <a:spAutoFit/>
          </a:bodyPr>
          <a:lstStyle/>
          <a:p>
            <a:pPr algn="ctr">
              <a:lnSpc>
                <a:spcPct val="105000"/>
              </a:lnSpc>
            </a:pPr>
            <a:r>
              <a:rPr sz="536">
                <a:solidFill>
                  <a:srgbClr val="263442"/>
                </a:solidFill>
                <a:latin typeface="Arial"/>
              </a:rPr>
              <a:t>J × K</a:t>
            </a:r>
          </a:p>
        </p:txBody>
      </p:sp>
      <p:grpSp>
        <p:nvGrpSpPr>
          <p:cNvPr id="751" name="组合 13795">
            <a:extLst>
              <a:ext uri="{FF2B5EF4-FFF2-40B4-BE49-F238E27FC236}">
                <a16:creationId xmlns:a16="http://schemas.microsoft.com/office/drawing/2014/main" id="{7EA912CF-516A-2745-A5D0-8704116A4D72}"/>
              </a:ext>
            </a:extLst>
          </p:cNvPr>
          <p:cNvGrpSpPr/>
          <p:nvPr/>
        </p:nvGrpSpPr>
        <p:grpSpPr>
          <a:xfrm>
            <a:off x="2038007" y="554865"/>
            <a:ext cx="1978883" cy="340209"/>
            <a:chOff x="6312668" y="2448732"/>
            <a:chExt cx="1215499" cy="343631"/>
          </a:xfrm>
        </p:grpSpPr>
        <p:pic>
          <p:nvPicPr>
            <p:cNvPr id="752" name="图片 12">
              <a:extLst>
                <a:ext uri="{FF2B5EF4-FFF2-40B4-BE49-F238E27FC236}">
                  <a16:creationId xmlns:a16="http://schemas.microsoft.com/office/drawing/2014/main" id="{521CB8EA-9697-F11D-7107-B4A42B988070}"/>
                </a:ext>
              </a:extLst>
            </p:cNvPr>
            <p:cNvPicPr>
              <a:picLocks/>
            </p:cNvPicPr>
            <p:nvPr/>
          </p:nvPicPr>
          <p:blipFill>
            <a:blip r:embed="rId5"/>
            <a:srcRect l="70243" t="-18171" b="-1"/>
            <a:stretch>
              <a:fillRect/>
            </a:stretch>
          </p:blipFill>
          <p:spPr>
            <a:xfrm>
              <a:off x="7112075" y="2448732"/>
              <a:ext cx="416092" cy="323855"/>
            </a:xfrm>
            <a:prstGeom prst="rect">
              <a:avLst/>
            </a:prstGeom>
          </p:spPr>
        </p:pic>
        <p:pic>
          <p:nvPicPr>
            <p:cNvPr id="753" name="图片 12">
              <a:extLst>
                <a:ext uri="{FF2B5EF4-FFF2-40B4-BE49-F238E27FC236}">
                  <a16:creationId xmlns:a16="http://schemas.microsoft.com/office/drawing/2014/main" id="{546466D8-C7C6-7C8A-3307-95F68FB4F610}"/>
                </a:ext>
              </a:extLst>
            </p:cNvPr>
            <p:cNvPicPr>
              <a:picLocks/>
            </p:cNvPicPr>
            <p:nvPr/>
          </p:nvPicPr>
          <p:blipFill>
            <a:blip r:embed="rId5"/>
            <a:srcRect r="70534" b="-8235"/>
            <a:stretch>
              <a:fillRect/>
            </a:stretch>
          </p:blipFill>
          <p:spPr>
            <a:xfrm>
              <a:off x="6312668" y="2495741"/>
              <a:ext cx="412024" cy="296622"/>
            </a:xfrm>
            <a:prstGeom prst="rect">
              <a:avLst/>
            </a:prstGeom>
          </p:spPr>
        </p:pic>
        <p:pic>
          <p:nvPicPr>
            <p:cNvPr id="754" name="Picture 10000" descr="unet_block_18.png">
              <a:extLst>
                <a:ext uri="{FF2B5EF4-FFF2-40B4-BE49-F238E27FC236}">
                  <a16:creationId xmlns:a16="http://schemas.microsoft.com/office/drawing/2014/main" id="{75A7694C-DEA5-AFE8-E284-0A0D89F845C1}"/>
                </a:ext>
              </a:extLst>
            </p:cNvPr>
            <p:cNvPicPr>
              <a:picLocks noChangeAspect="1"/>
            </p:cNvPicPr>
            <p:nvPr/>
          </p:nvPicPr>
          <p:blipFill>
            <a:blip r:embed="rId6"/>
            <a:stretch>
              <a:fillRect/>
            </a:stretch>
          </p:blipFill>
          <p:spPr>
            <a:xfrm>
              <a:off x="6776851" y="2645026"/>
              <a:ext cx="276863" cy="126566"/>
            </a:xfrm>
            <a:prstGeom prst="rect">
              <a:avLst/>
            </a:prstGeom>
          </p:spPr>
        </p:pic>
      </p:grpSp>
      <p:grpSp>
        <p:nvGrpSpPr>
          <p:cNvPr id="755" name="Find candidate blob 1">
            <a:extLst>
              <a:ext uri="{FF2B5EF4-FFF2-40B4-BE49-F238E27FC236}">
                <a16:creationId xmlns:a16="http://schemas.microsoft.com/office/drawing/2014/main" id="{3B821B97-56A6-DCED-E85F-DBF945F3EA13}"/>
              </a:ext>
            </a:extLst>
          </p:cNvPr>
          <p:cNvGrpSpPr/>
          <p:nvPr/>
        </p:nvGrpSpPr>
        <p:grpSpPr>
          <a:xfrm>
            <a:off x="4357668" y="1039644"/>
            <a:ext cx="163890" cy="111953"/>
            <a:chOff x="1928706" y="3559489"/>
            <a:chExt cx="227897" cy="155682"/>
          </a:xfrm>
        </p:grpSpPr>
        <p:sp>
          <p:nvSpPr>
            <p:cNvPr id="756" name="Candidate blob | editable contour">
              <a:extLst>
                <a:ext uri="{FF2B5EF4-FFF2-40B4-BE49-F238E27FC236}">
                  <a16:creationId xmlns:a16="http://schemas.microsoft.com/office/drawing/2014/main" id="{B3B117DA-D182-38E6-AD16-B4776AD2C7B7}"/>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57" name="ellipse_2612">
              <a:extLst>
                <a:ext uri="{FF2B5EF4-FFF2-40B4-BE49-F238E27FC236}">
                  <a16:creationId xmlns:a16="http://schemas.microsoft.com/office/drawing/2014/main" id="{901C6437-E94C-AFDE-D242-E688A89ABBD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58" name="Find candidate blob 2">
            <a:extLst>
              <a:ext uri="{FF2B5EF4-FFF2-40B4-BE49-F238E27FC236}">
                <a16:creationId xmlns:a16="http://schemas.microsoft.com/office/drawing/2014/main" id="{00C0C92B-D4C8-0994-E860-1581EB873D86}"/>
              </a:ext>
            </a:extLst>
          </p:cNvPr>
          <p:cNvGrpSpPr/>
          <p:nvPr/>
        </p:nvGrpSpPr>
        <p:grpSpPr>
          <a:xfrm>
            <a:off x="4352956" y="917369"/>
            <a:ext cx="168602" cy="95394"/>
            <a:chOff x="1928706" y="3559489"/>
            <a:chExt cx="227897" cy="155682"/>
          </a:xfrm>
        </p:grpSpPr>
        <p:sp>
          <p:nvSpPr>
            <p:cNvPr id="759" name="Candidate blob | editable contour">
              <a:extLst>
                <a:ext uri="{FF2B5EF4-FFF2-40B4-BE49-F238E27FC236}">
                  <a16:creationId xmlns:a16="http://schemas.microsoft.com/office/drawing/2014/main" id="{A172A8B3-EFA3-33C9-CD2B-307B24D7293D}"/>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0" name="ellipse_2612">
              <a:extLst>
                <a:ext uri="{FF2B5EF4-FFF2-40B4-BE49-F238E27FC236}">
                  <a16:creationId xmlns:a16="http://schemas.microsoft.com/office/drawing/2014/main" id="{CF37E813-914E-4383-9CE9-1C5F4095124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61" name="Find candidate blob 3">
            <a:extLst>
              <a:ext uri="{FF2B5EF4-FFF2-40B4-BE49-F238E27FC236}">
                <a16:creationId xmlns:a16="http://schemas.microsoft.com/office/drawing/2014/main" id="{D7299A48-8BF0-7050-EF56-14DA3F495CB7}"/>
              </a:ext>
            </a:extLst>
          </p:cNvPr>
          <p:cNvGrpSpPr/>
          <p:nvPr/>
        </p:nvGrpSpPr>
        <p:grpSpPr>
          <a:xfrm rot="364243">
            <a:off x="4559731" y="1028968"/>
            <a:ext cx="127658" cy="129194"/>
            <a:chOff x="1928706" y="3559489"/>
            <a:chExt cx="227897" cy="155682"/>
          </a:xfrm>
        </p:grpSpPr>
        <p:sp>
          <p:nvSpPr>
            <p:cNvPr id="762" name="Candidate blob | editable contour">
              <a:extLst>
                <a:ext uri="{FF2B5EF4-FFF2-40B4-BE49-F238E27FC236}">
                  <a16:creationId xmlns:a16="http://schemas.microsoft.com/office/drawing/2014/main" id="{8902F596-0D84-3C56-EB93-D63FC7E9041E}"/>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3" name="ellipse_2612">
              <a:extLst>
                <a:ext uri="{FF2B5EF4-FFF2-40B4-BE49-F238E27FC236}">
                  <a16:creationId xmlns:a16="http://schemas.microsoft.com/office/drawing/2014/main" id="{85D74281-2FE6-E2D2-EFBA-AF54A45686E3}"/>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765" name="Find auxiliary label">
            <a:extLst>
              <a:ext uri="{FF2B5EF4-FFF2-40B4-BE49-F238E27FC236}">
                <a16:creationId xmlns:a16="http://schemas.microsoft.com/office/drawing/2014/main" id="{CAD88599-B783-720B-B6BD-9F787FCB6CF4}"/>
              </a:ext>
            </a:extLst>
          </p:cNvPr>
          <p:cNvSpPr>
            <a:spLocks noGrp="1"/>
          </p:cNvSpPr>
          <p:nvPr/>
        </p:nvSpPr>
        <p:spPr>
          <a:xfrm>
            <a:off x="4315962" y="1518303"/>
            <a:ext cx="433362" cy="157954"/>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90" dirty="0">
                <a:solidFill>
                  <a:srgbClr val="263442"/>
                </a:solidFill>
                <a:latin typeface="Arial"/>
                <a:ea typeface="Arial"/>
                <a:cs typeface="Arial"/>
              </a:rPr>
              <a:t>Auxiliary</a:t>
            </a:r>
          </a:p>
          <a:p>
            <a:pPr algn="ctr">
              <a:defRPr sz="590" b="0">
                <a:solidFill>
                  <a:srgbClr val="263442"/>
                </a:solidFill>
                <a:latin typeface="Arial"/>
                <a:ea typeface="Arial"/>
                <a:cs typeface="Arial"/>
              </a:defRPr>
            </a:pPr>
            <a:r>
              <a:rPr sz="590" dirty="0">
                <a:solidFill>
                  <a:srgbClr val="263442"/>
                </a:solidFill>
                <a:latin typeface="Arial"/>
                <a:ea typeface="Arial"/>
                <a:cs typeface="Arial"/>
              </a:rPr>
              <a:t>features</a:t>
            </a:r>
          </a:p>
        </p:txBody>
      </p:sp>
      <p:sp>
        <p:nvSpPr>
          <p:cNvPr id="766" name="Match auxiliary label">
            <a:extLst>
              <a:ext uri="{FF2B5EF4-FFF2-40B4-BE49-F238E27FC236}">
                <a16:creationId xmlns:a16="http://schemas.microsoft.com/office/drawing/2014/main" id="{C154BF4F-4214-59BC-DCE1-F9C23194AC63}"/>
              </a:ext>
            </a:extLst>
          </p:cNvPr>
          <p:cNvSpPr>
            <a:spLocks noGrp="1"/>
          </p:cNvSpPr>
          <p:nvPr/>
        </p:nvSpPr>
        <p:spPr>
          <a:xfrm>
            <a:off x="1503472" y="2843177"/>
            <a:ext cx="405011" cy="174155"/>
          </a:xfrm>
          <a:prstGeom prst="rect">
            <a:avLst/>
          </a:prstGeom>
          <a:noFill/>
          <a:ln w="6885">
            <a:noFill/>
            <a:prstDash val="solid"/>
          </a:ln>
        </p:spPr>
        <p:txBody>
          <a:bodyPr lIns="0" tIns="0" rIns="0" bIns="0" anchor="ctr"/>
          <a:lstStyle>
            <a:defPPr algn="ctr">
              <a:defRPr sz="590" b="1">
                <a:solidFill>
                  <a:srgbClr val="263442"/>
                </a:solidFill>
                <a:latin typeface="Arial"/>
                <a:ea typeface="Arial"/>
                <a:cs typeface="Arial"/>
              </a:defRPr>
            </a:defPPr>
            <a:lvl1pPr algn="ctr">
              <a:defRPr sz="590" b="1">
                <a:solidFill>
                  <a:srgbClr val="263442"/>
                </a:solidFill>
                <a:latin typeface="Arial"/>
                <a:ea typeface="Arial"/>
                <a:cs typeface="Arial"/>
              </a:defRPr>
            </a:lvl1pPr>
            <a:lvl2pPr algn="ctr">
              <a:defRPr sz="590" b="1">
                <a:solidFill>
                  <a:srgbClr val="263442"/>
                </a:solidFill>
                <a:latin typeface="Arial"/>
                <a:ea typeface="Arial"/>
                <a:cs typeface="Arial"/>
              </a:defRPr>
            </a:lvl2pPr>
            <a:lvl3pPr algn="ctr">
              <a:defRPr sz="590" b="1">
                <a:solidFill>
                  <a:srgbClr val="263442"/>
                </a:solidFill>
                <a:latin typeface="Arial"/>
                <a:ea typeface="Arial"/>
                <a:cs typeface="Arial"/>
              </a:defRPr>
            </a:lvl3pPr>
            <a:lvl4pPr algn="ctr">
              <a:defRPr sz="590" b="1">
                <a:solidFill>
                  <a:srgbClr val="263442"/>
                </a:solidFill>
                <a:latin typeface="Arial"/>
                <a:ea typeface="Arial"/>
                <a:cs typeface="Arial"/>
              </a:defRPr>
            </a:lvl4pPr>
            <a:lvl5pPr algn="ctr">
              <a:defRPr sz="590" b="1">
                <a:solidFill>
                  <a:srgbClr val="263442"/>
                </a:solidFill>
                <a:latin typeface="Arial"/>
                <a:ea typeface="Arial"/>
                <a:cs typeface="Arial"/>
              </a:defRPr>
            </a:lvl5pPr>
            <a:lvl6pPr algn="ctr">
              <a:defRPr sz="590" b="1">
                <a:solidFill>
                  <a:srgbClr val="263442"/>
                </a:solidFill>
                <a:latin typeface="Arial"/>
                <a:ea typeface="Arial"/>
                <a:cs typeface="Arial"/>
              </a:defRPr>
            </a:lvl6pPr>
            <a:lvl7pPr algn="ctr">
              <a:defRPr sz="590" b="1">
                <a:solidFill>
                  <a:srgbClr val="263442"/>
                </a:solidFill>
                <a:latin typeface="Arial"/>
                <a:ea typeface="Arial"/>
                <a:cs typeface="Arial"/>
              </a:defRPr>
            </a:lvl7pPr>
            <a:lvl8pPr algn="ctr">
              <a:defRPr sz="590" b="1">
                <a:solidFill>
                  <a:srgbClr val="263442"/>
                </a:solidFill>
                <a:latin typeface="Arial"/>
                <a:ea typeface="Arial"/>
                <a:cs typeface="Arial"/>
              </a:defRPr>
            </a:lvl8pPr>
            <a:lvl9pPr algn="ctr">
              <a:defRPr sz="590" b="1">
                <a:solidFill>
                  <a:srgbClr val="263442"/>
                </a:solidFill>
                <a:latin typeface="Arial"/>
                <a:ea typeface="Arial"/>
                <a:cs typeface="Arial"/>
              </a:defRPr>
            </a:lvl9pPr>
          </a:lstStyle>
          <a:p>
            <a:pPr algn="ctr">
              <a:defRPr sz="590" b="1">
                <a:solidFill>
                  <a:srgbClr val="263442"/>
                </a:solidFill>
                <a:latin typeface="Arial"/>
                <a:ea typeface="Arial"/>
                <a:cs typeface="Arial"/>
              </a:defRPr>
            </a:pPr>
            <a:r>
              <a:rPr sz="590" b="0" dirty="0">
                <a:solidFill>
                  <a:srgbClr val="263442"/>
                </a:solidFill>
                <a:latin typeface="Arial"/>
                <a:ea typeface="Arial"/>
                <a:cs typeface="Arial"/>
              </a:rPr>
              <a:t>Auxiliary</a:t>
            </a:r>
          </a:p>
          <a:p>
            <a:pPr algn="ctr">
              <a:defRPr sz="590" b="1">
                <a:solidFill>
                  <a:srgbClr val="263442"/>
                </a:solidFill>
                <a:latin typeface="Arial"/>
                <a:ea typeface="Arial"/>
                <a:cs typeface="Arial"/>
              </a:defRPr>
            </a:pPr>
            <a:r>
              <a:rPr sz="590" b="0" dirty="0">
                <a:solidFill>
                  <a:srgbClr val="263442"/>
                </a:solidFill>
                <a:latin typeface="Arial"/>
                <a:ea typeface="Arial"/>
                <a:cs typeface="Arial"/>
              </a:rPr>
              <a:t>features</a:t>
            </a:r>
          </a:p>
        </p:txBody>
      </p:sp>
      <p:sp>
        <p:nvSpPr>
          <p:cNvPr id="767" name="Concat label">
            <a:extLst>
              <a:ext uri="{FF2B5EF4-FFF2-40B4-BE49-F238E27FC236}">
                <a16:creationId xmlns:a16="http://schemas.microsoft.com/office/drawing/2014/main" id="{9D20C35C-694E-CDD5-F90A-040BE36EEE21}"/>
              </a:ext>
            </a:extLst>
          </p:cNvPr>
          <p:cNvSpPr>
            <a:spLocks noGrp="1"/>
          </p:cNvSpPr>
          <p:nvPr/>
        </p:nvSpPr>
        <p:spPr>
          <a:xfrm>
            <a:off x="1106378" y="3608830"/>
            <a:ext cx="259207" cy="81002"/>
          </a:xfrm>
          <a:prstGeom prst="rect">
            <a:avLst/>
          </a:prstGeom>
          <a:noFill/>
          <a:ln w="6885">
            <a:noFill/>
            <a:prstDash val="solid"/>
          </a:ln>
        </p:spPr>
        <p:txBody>
          <a:bodyPr lIns="0" tIns="0" rIns="0" bIns="0" anchor="ctr"/>
          <a:lstStyle>
            <a:defPPr algn="ctr">
              <a:defRPr sz="568" b="0">
                <a:solidFill>
                  <a:srgbClr val="263442"/>
                </a:solidFill>
                <a:latin typeface="Arial"/>
                <a:ea typeface="Arial"/>
                <a:cs typeface="Arial"/>
              </a:defRPr>
            </a:defPPr>
            <a:lvl1pPr algn="ctr">
              <a:defRPr sz="568" b="0">
                <a:solidFill>
                  <a:srgbClr val="263442"/>
                </a:solidFill>
                <a:latin typeface="Arial"/>
                <a:ea typeface="Arial"/>
                <a:cs typeface="Arial"/>
              </a:defRPr>
            </a:lvl1pPr>
            <a:lvl2pPr algn="ctr">
              <a:defRPr sz="568" b="0">
                <a:solidFill>
                  <a:srgbClr val="263442"/>
                </a:solidFill>
                <a:latin typeface="Arial"/>
                <a:ea typeface="Arial"/>
                <a:cs typeface="Arial"/>
              </a:defRPr>
            </a:lvl2pPr>
            <a:lvl3pPr algn="ctr">
              <a:defRPr sz="568" b="0">
                <a:solidFill>
                  <a:srgbClr val="263442"/>
                </a:solidFill>
                <a:latin typeface="Arial"/>
                <a:ea typeface="Arial"/>
                <a:cs typeface="Arial"/>
              </a:defRPr>
            </a:lvl3pPr>
            <a:lvl4pPr algn="ctr">
              <a:defRPr sz="568" b="0">
                <a:solidFill>
                  <a:srgbClr val="263442"/>
                </a:solidFill>
                <a:latin typeface="Arial"/>
                <a:ea typeface="Arial"/>
                <a:cs typeface="Arial"/>
              </a:defRPr>
            </a:lvl4pPr>
            <a:lvl5pPr algn="ctr">
              <a:defRPr sz="568" b="0">
                <a:solidFill>
                  <a:srgbClr val="263442"/>
                </a:solidFill>
                <a:latin typeface="Arial"/>
                <a:ea typeface="Arial"/>
                <a:cs typeface="Arial"/>
              </a:defRPr>
            </a:lvl5pPr>
            <a:lvl6pPr algn="ctr">
              <a:defRPr sz="568" b="0">
                <a:solidFill>
                  <a:srgbClr val="263442"/>
                </a:solidFill>
                <a:latin typeface="Arial"/>
                <a:ea typeface="Arial"/>
                <a:cs typeface="Arial"/>
              </a:defRPr>
            </a:lvl6pPr>
            <a:lvl7pPr algn="ctr">
              <a:defRPr sz="568" b="0">
                <a:solidFill>
                  <a:srgbClr val="263442"/>
                </a:solidFill>
                <a:latin typeface="Arial"/>
                <a:ea typeface="Arial"/>
                <a:cs typeface="Arial"/>
              </a:defRPr>
            </a:lvl7pPr>
            <a:lvl8pPr algn="ctr">
              <a:defRPr sz="568" b="0">
                <a:solidFill>
                  <a:srgbClr val="263442"/>
                </a:solidFill>
                <a:latin typeface="Arial"/>
                <a:ea typeface="Arial"/>
                <a:cs typeface="Arial"/>
              </a:defRPr>
            </a:lvl8pPr>
            <a:lvl9pPr algn="ctr">
              <a:defRPr sz="568" b="0">
                <a:solidFill>
                  <a:srgbClr val="263442"/>
                </a:solidFill>
                <a:latin typeface="Arial"/>
                <a:ea typeface="Arial"/>
                <a:cs typeface="Arial"/>
              </a:defRPr>
            </a:lvl9pPr>
          </a:lstStyle>
          <a:p>
            <a:pPr algn="ctr">
              <a:defRPr sz="568" b="0">
                <a:solidFill>
                  <a:srgbClr val="263442"/>
                </a:solidFill>
                <a:latin typeface="Arial"/>
                <a:ea typeface="Arial"/>
                <a:cs typeface="Arial"/>
              </a:defRPr>
            </a:pPr>
            <a:r>
              <a:rPr sz="568" dirty="0" err="1">
                <a:solidFill>
                  <a:srgbClr val="263442"/>
                </a:solidFill>
                <a:latin typeface="Arial"/>
                <a:ea typeface="Arial"/>
                <a:cs typeface="Arial"/>
              </a:rPr>
              <a:t>Concat</a:t>
            </a:r>
            <a:endParaRPr sz="568" dirty="0">
              <a:solidFill>
                <a:srgbClr val="263442"/>
              </a:solidFill>
              <a:latin typeface="Arial"/>
              <a:ea typeface="Arial"/>
              <a:cs typeface="Arial"/>
            </a:endParaRPr>
          </a:p>
        </p:txBody>
      </p:sp>
      <p:grpSp>
        <p:nvGrpSpPr>
          <p:cNvPr id="1248" name="Unified flow and feature elements">
            <a:extLst>
              <a:ext uri="{FF2B5EF4-FFF2-40B4-BE49-F238E27FC236}">
                <a16:creationId xmlns:a16="http://schemas.microsoft.com/office/drawing/2014/main" id="{DA74696D-FF4F-021F-A459-9CD0851351CF}"/>
              </a:ext>
            </a:extLst>
          </p:cNvPr>
          <p:cNvGrpSpPr/>
          <p:nvPr/>
        </p:nvGrpSpPr>
        <p:grpSpPr>
          <a:xfrm>
            <a:off x="966222" y="284723"/>
            <a:ext cx="3748525" cy="3967446"/>
            <a:chOff x="2272349" y="669608"/>
            <a:chExt cx="8815739" cy="9330594"/>
          </a:xfrm>
        </p:grpSpPr>
        <p:sp>
          <p:nvSpPr>
            <p:cNvPr id="1249" name="Preprocessing refined">
              <a:extLst>
                <a:ext uri="{FF2B5EF4-FFF2-40B4-BE49-F238E27FC236}">
                  <a16:creationId xmlns:a16="http://schemas.microsoft.com/office/drawing/2014/main" id="{A3A31885-181B-CF24-BE30-3ED8DAACE460}"/>
                </a:ext>
              </a:extLst>
            </p:cNvPr>
            <p:cNvSpPr>
              <a:spLocks noGrp="1"/>
            </p:cNvSpPr>
            <p:nvPr/>
          </p:nvSpPr>
          <p:spPr>
            <a:xfrm>
              <a:off x="3122581" y="669608"/>
              <a:ext cx="1028701" cy="3460433"/>
            </a:xfrm>
            <a:prstGeom prst="roundRect">
              <a:avLst>
                <a:gd name="adj" fmla="val 6481"/>
              </a:avLst>
            </a:prstGeom>
            <a:solidFill>
              <a:srgbClr val="E8EFF7"/>
            </a:solidFill>
            <a:ln w="7290">
              <a:solidFill>
                <a:srgbClr val="C4D1E1"/>
              </a:solidFill>
            </a:ln>
          </p:spPr>
        </p:sp>
        <p:sp>
          <p:nvSpPr>
            <p:cNvPr id="1250" name="Preprocessing divider refined">
              <a:extLst>
                <a:ext uri="{FF2B5EF4-FFF2-40B4-BE49-F238E27FC236}">
                  <a16:creationId xmlns:a16="http://schemas.microsoft.com/office/drawing/2014/main" id="{E21BD2F9-92DD-96F0-3AAF-0957638A49FB}"/>
                </a:ext>
              </a:extLst>
            </p:cNvPr>
            <p:cNvSpPr>
              <a:spLocks noGrp="1"/>
            </p:cNvSpPr>
            <p:nvPr/>
          </p:nvSpPr>
          <p:spPr>
            <a:xfrm>
              <a:off x="3199219" y="2418363"/>
              <a:ext cx="800100" cy="190"/>
            </a:xfrm>
            <a:custGeom>
              <a:avLst/>
              <a:gdLst/>
              <a:ahLst/>
              <a:cxnLst/>
              <a:rect l="0" t="0" r="0" b="0"/>
              <a:pathLst>
                <a:path w="800100" h="191">
                  <a:moveTo>
                    <a:pt x="0" y="0"/>
                  </a:moveTo>
                  <a:lnTo>
                    <a:pt x="800100" y="0"/>
                  </a:lnTo>
                </a:path>
              </a:pathLst>
            </a:custGeom>
            <a:noFill/>
            <a:ln w="6075">
              <a:solidFill>
                <a:srgbClr val="C4D1E1"/>
              </a:solidFill>
              <a:prstDash val="solid"/>
            </a:ln>
          </p:spPr>
        </p:sp>
        <p:sp>
          <p:nvSpPr>
            <p:cNvPr id="1251" name="Density bank refined">
              <a:extLst>
                <a:ext uri="{FF2B5EF4-FFF2-40B4-BE49-F238E27FC236}">
                  <a16:creationId xmlns:a16="http://schemas.microsoft.com/office/drawing/2014/main" id="{1E51E71A-A2BC-0776-E4CA-D30FBB1BE241}"/>
                </a:ext>
              </a:extLst>
            </p:cNvPr>
            <p:cNvSpPr>
              <a:spLocks noGrp="1"/>
            </p:cNvSpPr>
            <p:nvPr/>
          </p:nvSpPr>
          <p:spPr>
            <a:xfrm>
              <a:off x="3160769" y="695478"/>
              <a:ext cx="990599" cy="457199"/>
            </a:xfrm>
            <a:prstGeom prst="rect">
              <a:avLst/>
            </a:prstGeom>
            <a:noFill/>
            <a:ln w="7290">
              <a:noFill/>
            </a:ln>
          </p:spPr>
          <p:txBody>
            <a:bodyPr lIns="0" tIns="0" rIns="0" bIns="0" anchor="ctr"/>
            <a:lstStyle>
              <a:defPPr algn="ctr">
                <a:defRPr sz="612">
                  <a:solidFill>
                    <a:srgbClr val="263442"/>
                  </a:solidFill>
                  <a:latin typeface="Arial"/>
                  <a:ea typeface="Arial"/>
                  <a:cs typeface="Arial"/>
                </a:defRPr>
              </a:defPPr>
              <a:lvl1pPr algn="ctr">
                <a:defRPr sz="612">
                  <a:solidFill>
                    <a:srgbClr val="263442"/>
                  </a:solidFill>
                  <a:latin typeface="Arial"/>
                  <a:ea typeface="Arial"/>
                  <a:cs typeface="Arial"/>
                </a:defRPr>
              </a:lvl1pPr>
              <a:lvl2pPr algn="ctr">
                <a:defRPr sz="612">
                  <a:solidFill>
                    <a:srgbClr val="263442"/>
                  </a:solidFill>
                  <a:latin typeface="Arial"/>
                  <a:ea typeface="Arial"/>
                  <a:cs typeface="Arial"/>
                </a:defRPr>
              </a:lvl2pPr>
              <a:lvl3pPr algn="ctr">
                <a:defRPr sz="612">
                  <a:solidFill>
                    <a:srgbClr val="263442"/>
                  </a:solidFill>
                  <a:latin typeface="Arial"/>
                  <a:ea typeface="Arial"/>
                  <a:cs typeface="Arial"/>
                </a:defRPr>
              </a:lvl3pPr>
              <a:lvl4pPr algn="ctr">
                <a:defRPr sz="612">
                  <a:solidFill>
                    <a:srgbClr val="263442"/>
                  </a:solidFill>
                  <a:latin typeface="Arial"/>
                  <a:ea typeface="Arial"/>
                  <a:cs typeface="Arial"/>
                </a:defRPr>
              </a:lvl4pPr>
              <a:lvl5pPr algn="ctr">
                <a:defRPr sz="612">
                  <a:solidFill>
                    <a:srgbClr val="263442"/>
                  </a:solidFill>
                  <a:latin typeface="Arial"/>
                  <a:ea typeface="Arial"/>
                  <a:cs typeface="Arial"/>
                </a:defRPr>
              </a:lvl5pPr>
              <a:lvl6pPr algn="ctr">
                <a:defRPr sz="612">
                  <a:solidFill>
                    <a:srgbClr val="263442"/>
                  </a:solidFill>
                  <a:latin typeface="Arial"/>
                  <a:ea typeface="Arial"/>
                  <a:cs typeface="Arial"/>
                </a:defRPr>
              </a:lvl6pPr>
              <a:lvl7pPr algn="ctr">
                <a:defRPr sz="612">
                  <a:solidFill>
                    <a:srgbClr val="263442"/>
                  </a:solidFill>
                  <a:latin typeface="Arial"/>
                  <a:ea typeface="Arial"/>
                  <a:cs typeface="Arial"/>
                </a:defRPr>
              </a:lvl7pPr>
              <a:lvl8pPr algn="ctr">
                <a:defRPr sz="612">
                  <a:solidFill>
                    <a:srgbClr val="263442"/>
                  </a:solidFill>
                  <a:latin typeface="Arial"/>
                  <a:ea typeface="Arial"/>
                  <a:cs typeface="Arial"/>
                </a:defRPr>
              </a:lvl8pPr>
              <a:lvl9pPr algn="ctr">
                <a:defRPr sz="612">
                  <a:solidFill>
                    <a:srgbClr val="263442"/>
                  </a:solidFill>
                  <a:latin typeface="Arial"/>
                  <a:ea typeface="Arial"/>
                  <a:cs typeface="Arial"/>
                </a:defRPr>
              </a:lvl9pPr>
            </a:lstStyle>
            <a:p>
              <a:pPr algn="ctr">
                <a:defRPr sz="612">
                  <a:solidFill>
                    <a:srgbClr val="263442"/>
                  </a:solidFill>
                  <a:latin typeface="Arial"/>
                  <a:ea typeface="Arial"/>
                  <a:cs typeface="Arial"/>
                </a:defRPr>
              </a:pPr>
              <a:r>
                <a:rPr sz="550" dirty="0">
                  <a:solidFill>
                    <a:srgbClr val="263442"/>
                  </a:solidFill>
                  <a:latin typeface="Arial"/>
                  <a:ea typeface="Arial"/>
                  <a:cs typeface="Arial"/>
                </a:rPr>
                <a:t>Density</a:t>
              </a:r>
            </a:p>
            <a:p>
              <a:pPr algn="ctr">
                <a:defRPr sz="612">
                  <a:solidFill>
                    <a:srgbClr val="263442"/>
                  </a:solidFill>
                  <a:latin typeface="Arial"/>
                  <a:ea typeface="Arial"/>
                  <a:cs typeface="Arial"/>
                </a:defRPr>
              </a:pPr>
              <a:r>
                <a:rPr lang="en-US" sz="550" dirty="0">
                  <a:solidFill>
                    <a:srgbClr val="263442"/>
                  </a:solidFill>
                  <a:latin typeface="Arial"/>
                  <a:ea typeface="Arial"/>
                  <a:cs typeface="Arial"/>
                </a:rPr>
                <a:t>B</a:t>
              </a:r>
              <a:r>
                <a:rPr sz="550" dirty="0">
                  <a:solidFill>
                    <a:srgbClr val="263442"/>
                  </a:solidFill>
                  <a:latin typeface="Arial"/>
                  <a:ea typeface="Arial"/>
                  <a:cs typeface="Arial"/>
                </a:rPr>
                <a:t>ank</a:t>
              </a:r>
            </a:p>
          </p:txBody>
        </p:sp>
        <p:sp>
          <p:nvSpPr>
            <p:cNvPr id="1252" name="Embedding head refined">
              <a:extLst>
                <a:ext uri="{FF2B5EF4-FFF2-40B4-BE49-F238E27FC236}">
                  <a16:creationId xmlns:a16="http://schemas.microsoft.com/office/drawing/2014/main" id="{58C61B38-F8DB-1F98-DEE4-C9D7130E2730}"/>
                </a:ext>
              </a:extLst>
            </p:cNvPr>
            <p:cNvSpPr>
              <a:spLocks noGrp="1"/>
            </p:cNvSpPr>
            <p:nvPr/>
          </p:nvSpPr>
          <p:spPr>
            <a:xfrm>
              <a:off x="3122433" y="2542570"/>
              <a:ext cx="990599" cy="457199"/>
            </a:xfrm>
            <a:prstGeom prst="rect">
              <a:avLst/>
            </a:prstGeom>
            <a:noFill/>
            <a:ln w="7290">
              <a:noFill/>
            </a:ln>
          </p:spPr>
          <p:txBody>
            <a:bodyPr lIns="0" tIns="0" rIns="0" bIns="0" anchor="ctr"/>
            <a:lstStyle>
              <a:defPPr algn="ctr">
                <a:defRPr sz="612">
                  <a:solidFill>
                    <a:srgbClr val="263442"/>
                  </a:solidFill>
                  <a:latin typeface="Arial"/>
                  <a:ea typeface="Arial"/>
                  <a:cs typeface="Arial"/>
                </a:defRPr>
              </a:defPPr>
              <a:lvl1pPr algn="ctr">
                <a:defRPr sz="612">
                  <a:solidFill>
                    <a:srgbClr val="263442"/>
                  </a:solidFill>
                  <a:latin typeface="Arial"/>
                  <a:ea typeface="Arial"/>
                  <a:cs typeface="Arial"/>
                </a:defRPr>
              </a:lvl1pPr>
              <a:lvl2pPr algn="ctr">
                <a:defRPr sz="612">
                  <a:solidFill>
                    <a:srgbClr val="263442"/>
                  </a:solidFill>
                  <a:latin typeface="Arial"/>
                  <a:ea typeface="Arial"/>
                  <a:cs typeface="Arial"/>
                </a:defRPr>
              </a:lvl2pPr>
              <a:lvl3pPr algn="ctr">
                <a:defRPr sz="612">
                  <a:solidFill>
                    <a:srgbClr val="263442"/>
                  </a:solidFill>
                  <a:latin typeface="Arial"/>
                  <a:ea typeface="Arial"/>
                  <a:cs typeface="Arial"/>
                </a:defRPr>
              </a:lvl3pPr>
              <a:lvl4pPr algn="ctr">
                <a:defRPr sz="612">
                  <a:solidFill>
                    <a:srgbClr val="263442"/>
                  </a:solidFill>
                  <a:latin typeface="Arial"/>
                  <a:ea typeface="Arial"/>
                  <a:cs typeface="Arial"/>
                </a:defRPr>
              </a:lvl4pPr>
              <a:lvl5pPr algn="ctr">
                <a:defRPr sz="612">
                  <a:solidFill>
                    <a:srgbClr val="263442"/>
                  </a:solidFill>
                  <a:latin typeface="Arial"/>
                  <a:ea typeface="Arial"/>
                  <a:cs typeface="Arial"/>
                </a:defRPr>
              </a:lvl5pPr>
              <a:lvl6pPr algn="ctr">
                <a:defRPr sz="612">
                  <a:solidFill>
                    <a:srgbClr val="263442"/>
                  </a:solidFill>
                  <a:latin typeface="Arial"/>
                  <a:ea typeface="Arial"/>
                  <a:cs typeface="Arial"/>
                </a:defRPr>
              </a:lvl6pPr>
              <a:lvl7pPr algn="ctr">
                <a:defRPr sz="612">
                  <a:solidFill>
                    <a:srgbClr val="263442"/>
                  </a:solidFill>
                  <a:latin typeface="Arial"/>
                  <a:ea typeface="Arial"/>
                  <a:cs typeface="Arial"/>
                </a:defRPr>
              </a:lvl7pPr>
              <a:lvl8pPr algn="ctr">
                <a:defRPr sz="612">
                  <a:solidFill>
                    <a:srgbClr val="263442"/>
                  </a:solidFill>
                  <a:latin typeface="Arial"/>
                  <a:ea typeface="Arial"/>
                  <a:cs typeface="Arial"/>
                </a:defRPr>
              </a:lvl8pPr>
              <a:lvl9pPr algn="ctr">
                <a:defRPr sz="612">
                  <a:solidFill>
                    <a:srgbClr val="263442"/>
                  </a:solidFill>
                  <a:latin typeface="Arial"/>
                  <a:ea typeface="Arial"/>
                  <a:cs typeface="Arial"/>
                </a:defRPr>
              </a:lvl9pPr>
            </a:lstStyle>
            <a:p>
              <a:pPr algn="ctr">
                <a:defRPr sz="612">
                  <a:solidFill>
                    <a:srgbClr val="263442"/>
                  </a:solidFill>
                  <a:latin typeface="Arial"/>
                  <a:ea typeface="Arial"/>
                  <a:cs typeface="Arial"/>
                </a:defRPr>
              </a:pPr>
              <a:r>
                <a:rPr lang="en-US" sz="550" dirty="0">
                  <a:solidFill>
                    <a:srgbClr val="263442"/>
                  </a:solidFill>
                  <a:latin typeface="Arial"/>
                  <a:ea typeface="Arial"/>
                  <a:cs typeface="Arial"/>
                </a:rPr>
                <a:t>Atom embeddings</a:t>
              </a:r>
              <a:endParaRPr sz="550" dirty="0">
                <a:solidFill>
                  <a:srgbClr val="263442"/>
                </a:solidFill>
                <a:latin typeface="Arial"/>
                <a:ea typeface="Arial"/>
                <a:cs typeface="Arial"/>
              </a:endParaRPr>
            </a:p>
          </p:txBody>
        </p:sp>
        <p:sp>
          <p:nvSpPr>
            <p:cNvPr id="1253" name="Find matrix 0-0">
              <a:extLst>
                <a:ext uri="{FF2B5EF4-FFF2-40B4-BE49-F238E27FC236}">
                  <a16:creationId xmlns:a16="http://schemas.microsoft.com/office/drawing/2014/main" id="{BBF0C328-3AF9-A068-FA92-FBF890856A66}"/>
                </a:ext>
              </a:extLst>
            </p:cNvPr>
            <p:cNvSpPr>
              <a:spLocks noGrp="1"/>
            </p:cNvSpPr>
            <p:nvPr/>
          </p:nvSpPr>
          <p:spPr>
            <a:xfrm>
              <a:off x="10255382" y="3200400"/>
              <a:ext cx="91559" cy="70009"/>
            </a:xfrm>
            <a:prstGeom prst="rect">
              <a:avLst/>
            </a:prstGeom>
            <a:solidFill>
              <a:srgbClr val="3E8F9A"/>
            </a:solidFill>
            <a:ln w="7290">
              <a:noFill/>
            </a:ln>
          </p:spPr>
        </p:sp>
        <p:sp>
          <p:nvSpPr>
            <p:cNvPr id="1254" name="Find matrix 0-1">
              <a:extLst>
                <a:ext uri="{FF2B5EF4-FFF2-40B4-BE49-F238E27FC236}">
                  <a16:creationId xmlns:a16="http://schemas.microsoft.com/office/drawing/2014/main" id="{3474DD36-B24E-DC42-848D-72CE3DEC2274}"/>
                </a:ext>
              </a:extLst>
            </p:cNvPr>
            <p:cNvSpPr>
              <a:spLocks noGrp="1"/>
            </p:cNvSpPr>
            <p:nvPr/>
          </p:nvSpPr>
          <p:spPr>
            <a:xfrm>
              <a:off x="10351227" y="3200400"/>
              <a:ext cx="91559" cy="70009"/>
            </a:xfrm>
            <a:prstGeom prst="rect">
              <a:avLst/>
            </a:prstGeom>
            <a:solidFill>
              <a:srgbClr val="5B9FB6"/>
            </a:solidFill>
            <a:ln w="7290">
              <a:noFill/>
            </a:ln>
          </p:spPr>
        </p:sp>
        <p:sp>
          <p:nvSpPr>
            <p:cNvPr id="1255" name="Find matrix 0-2">
              <a:extLst>
                <a:ext uri="{FF2B5EF4-FFF2-40B4-BE49-F238E27FC236}">
                  <a16:creationId xmlns:a16="http://schemas.microsoft.com/office/drawing/2014/main" id="{F807BDD1-EE13-F00C-2E77-C8910F6ACC73}"/>
                </a:ext>
              </a:extLst>
            </p:cNvPr>
            <p:cNvSpPr>
              <a:spLocks noGrp="1"/>
            </p:cNvSpPr>
            <p:nvPr/>
          </p:nvSpPr>
          <p:spPr>
            <a:xfrm>
              <a:off x="10447072" y="3200400"/>
              <a:ext cx="91559" cy="70009"/>
            </a:xfrm>
            <a:prstGeom prst="rect">
              <a:avLst/>
            </a:prstGeom>
            <a:solidFill>
              <a:srgbClr val="A3CDDA"/>
            </a:solidFill>
            <a:ln w="7290">
              <a:noFill/>
            </a:ln>
          </p:spPr>
        </p:sp>
        <p:sp>
          <p:nvSpPr>
            <p:cNvPr id="1256" name="Find matrix 0-3">
              <a:extLst>
                <a:ext uri="{FF2B5EF4-FFF2-40B4-BE49-F238E27FC236}">
                  <a16:creationId xmlns:a16="http://schemas.microsoft.com/office/drawing/2014/main" id="{DB1A890F-778A-35C9-7AE1-C0AE618D52CF}"/>
                </a:ext>
              </a:extLst>
            </p:cNvPr>
            <p:cNvSpPr>
              <a:spLocks noGrp="1"/>
            </p:cNvSpPr>
            <p:nvPr/>
          </p:nvSpPr>
          <p:spPr>
            <a:xfrm>
              <a:off x="10542917" y="3200400"/>
              <a:ext cx="91559" cy="70009"/>
            </a:xfrm>
            <a:prstGeom prst="rect">
              <a:avLst/>
            </a:prstGeom>
            <a:solidFill>
              <a:srgbClr val="88BEC3"/>
            </a:solidFill>
            <a:ln w="7290">
              <a:noFill/>
            </a:ln>
          </p:spPr>
        </p:sp>
        <p:sp>
          <p:nvSpPr>
            <p:cNvPr id="1257" name="Find matrix 0-4">
              <a:extLst>
                <a:ext uri="{FF2B5EF4-FFF2-40B4-BE49-F238E27FC236}">
                  <a16:creationId xmlns:a16="http://schemas.microsoft.com/office/drawing/2014/main" id="{B445D6B3-6FC7-4615-5975-85730846D82F}"/>
                </a:ext>
              </a:extLst>
            </p:cNvPr>
            <p:cNvSpPr>
              <a:spLocks noGrp="1"/>
            </p:cNvSpPr>
            <p:nvPr/>
          </p:nvSpPr>
          <p:spPr>
            <a:xfrm>
              <a:off x="10638763" y="3200400"/>
              <a:ext cx="91559" cy="70009"/>
            </a:xfrm>
            <a:prstGeom prst="rect">
              <a:avLst/>
            </a:prstGeom>
            <a:solidFill>
              <a:srgbClr val="67AD9F"/>
            </a:solidFill>
            <a:ln w="7290">
              <a:noFill/>
            </a:ln>
          </p:spPr>
        </p:sp>
        <p:sp>
          <p:nvSpPr>
            <p:cNvPr id="1258" name="Find matrix 0-5">
              <a:extLst>
                <a:ext uri="{FF2B5EF4-FFF2-40B4-BE49-F238E27FC236}">
                  <a16:creationId xmlns:a16="http://schemas.microsoft.com/office/drawing/2014/main" id="{EDF77049-6933-CA1B-21BD-2D261FB460F5}"/>
                </a:ext>
              </a:extLst>
            </p:cNvPr>
            <p:cNvSpPr>
              <a:spLocks noGrp="1"/>
            </p:cNvSpPr>
            <p:nvPr/>
          </p:nvSpPr>
          <p:spPr>
            <a:xfrm>
              <a:off x="10734608" y="3200400"/>
              <a:ext cx="91559" cy="70009"/>
            </a:xfrm>
            <a:prstGeom prst="rect">
              <a:avLst/>
            </a:prstGeom>
            <a:solidFill>
              <a:srgbClr val="C4DDE0"/>
            </a:solidFill>
            <a:ln w="7290">
              <a:noFill/>
            </a:ln>
          </p:spPr>
        </p:sp>
        <p:sp>
          <p:nvSpPr>
            <p:cNvPr id="1259" name="Find matrix 0-6">
              <a:extLst>
                <a:ext uri="{FF2B5EF4-FFF2-40B4-BE49-F238E27FC236}">
                  <a16:creationId xmlns:a16="http://schemas.microsoft.com/office/drawing/2014/main" id="{F24780FB-09E3-AE39-557B-018C817CABA7}"/>
                </a:ext>
              </a:extLst>
            </p:cNvPr>
            <p:cNvSpPr>
              <a:spLocks noGrp="1"/>
            </p:cNvSpPr>
            <p:nvPr/>
          </p:nvSpPr>
          <p:spPr>
            <a:xfrm>
              <a:off x="10830453" y="3200400"/>
              <a:ext cx="91559" cy="70009"/>
            </a:xfrm>
            <a:prstGeom prst="rect">
              <a:avLst/>
            </a:prstGeom>
            <a:solidFill>
              <a:srgbClr val="B6D8CC"/>
            </a:solidFill>
            <a:ln w="7290">
              <a:noFill/>
            </a:ln>
          </p:spPr>
        </p:sp>
        <p:sp>
          <p:nvSpPr>
            <p:cNvPr id="1260" name="Find matrix 0-7">
              <a:extLst>
                <a:ext uri="{FF2B5EF4-FFF2-40B4-BE49-F238E27FC236}">
                  <a16:creationId xmlns:a16="http://schemas.microsoft.com/office/drawing/2014/main" id="{69791062-44B8-8426-AAD4-DD68B1FF31BA}"/>
                </a:ext>
              </a:extLst>
            </p:cNvPr>
            <p:cNvSpPr>
              <a:spLocks noGrp="1"/>
            </p:cNvSpPr>
            <p:nvPr/>
          </p:nvSpPr>
          <p:spPr>
            <a:xfrm>
              <a:off x="10926299" y="3200400"/>
              <a:ext cx="91559" cy="70009"/>
            </a:xfrm>
            <a:prstGeom prst="rect">
              <a:avLst/>
            </a:prstGeom>
            <a:solidFill>
              <a:srgbClr val="D6E5ED"/>
            </a:solidFill>
            <a:ln w="7290">
              <a:noFill/>
            </a:ln>
          </p:spPr>
        </p:sp>
        <p:sp>
          <p:nvSpPr>
            <p:cNvPr id="1261" name="Find matrix 1-0">
              <a:extLst>
                <a:ext uri="{FF2B5EF4-FFF2-40B4-BE49-F238E27FC236}">
                  <a16:creationId xmlns:a16="http://schemas.microsoft.com/office/drawing/2014/main" id="{DAD773D5-9108-C0B7-81D5-AC1CF98B49B0}"/>
                </a:ext>
              </a:extLst>
            </p:cNvPr>
            <p:cNvSpPr>
              <a:spLocks noGrp="1"/>
            </p:cNvSpPr>
            <p:nvPr/>
          </p:nvSpPr>
          <p:spPr>
            <a:xfrm>
              <a:off x="10255382" y="3274695"/>
              <a:ext cx="91559" cy="70009"/>
            </a:xfrm>
            <a:prstGeom prst="rect">
              <a:avLst/>
            </a:prstGeom>
            <a:solidFill>
              <a:srgbClr val="A3CDDA"/>
            </a:solidFill>
            <a:ln w="7290">
              <a:noFill/>
            </a:ln>
          </p:spPr>
        </p:sp>
        <p:sp>
          <p:nvSpPr>
            <p:cNvPr id="1262" name="Find matrix 1-1">
              <a:extLst>
                <a:ext uri="{FF2B5EF4-FFF2-40B4-BE49-F238E27FC236}">
                  <a16:creationId xmlns:a16="http://schemas.microsoft.com/office/drawing/2014/main" id="{FD6D65E0-3CD4-81C9-A7EC-EE4D1EA03DA1}"/>
                </a:ext>
              </a:extLst>
            </p:cNvPr>
            <p:cNvSpPr>
              <a:spLocks noGrp="1"/>
            </p:cNvSpPr>
            <p:nvPr/>
          </p:nvSpPr>
          <p:spPr>
            <a:xfrm>
              <a:off x="10351227" y="3274695"/>
              <a:ext cx="91559" cy="70009"/>
            </a:xfrm>
            <a:prstGeom prst="rect">
              <a:avLst/>
            </a:prstGeom>
            <a:solidFill>
              <a:srgbClr val="B6D8CC"/>
            </a:solidFill>
            <a:ln w="7290">
              <a:noFill/>
            </a:ln>
          </p:spPr>
        </p:sp>
        <p:sp>
          <p:nvSpPr>
            <p:cNvPr id="1263" name="Find matrix 1-2">
              <a:extLst>
                <a:ext uri="{FF2B5EF4-FFF2-40B4-BE49-F238E27FC236}">
                  <a16:creationId xmlns:a16="http://schemas.microsoft.com/office/drawing/2014/main" id="{C06E5EF8-D1B9-1DB5-4010-25CDECE16DF3}"/>
                </a:ext>
              </a:extLst>
            </p:cNvPr>
            <p:cNvSpPr>
              <a:spLocks noGrp="1"/>
            </p:cNvSpPr>
            <p:nvPr/>
          </p:nvSpPr>
          <p:spPr>
            <a:xfrm>
              <a:off x="10447072" y="3274695"/>
              <a:ext cx="91559" cy="70009"/>
            </a:xfrm>
            <a:prstGeom prst="rect">
              <a:avLst/>
            </a:prstGeom>
            <a:solidFill>
              <a:srgbClr val="88BEC3"/>
            </a:solidFill>
            <a:ln w="7290">
              <a:noFill/>
            </a:ln>
          </p:spPr>
        </p:sp>
        <p:sp>
          <p:nvSpPr>
            <p:cNvPr id="1264" name="Find matrix 1-3">
              <a:extLst>
                <a:ext uri="{FF2B5EF4-FFF2-40B4-BE49-F238E27FC236}">
                  <a16:creationId xmlns:a16="http://schemas.microsoft.com/office/drawing/2014/main" id="{9AD5706A-D366-481E-242D-C3727EE68292}"/>
                </a:ext>
              </a:extLst>
            </p:cNvPr>
            <p:cNvSpPr>
              <a:spLocks noGrp="1"/>
            </p:cNvSpPr>
            <p:nvPr/>
          </p:nvSpPr>
          <p:spPr>
            <a:xfrm>
              <a:off x="10542917" y="3274695"/>
              <a:ext cx="91559" cy="70009"/>
            </a:xfrm>
            <a:prstGeom prst="rect">
              <a:avLst/>
            </a:prstGeom>
            <a:solidFill>
              <a:srgbClr val="D6E5ED"/>
            </a:solidFill>
            <a:ln w="7290">
              <a:noFill/>
            </a:ln>
          </p:spPr>
        </p:sp>
        <p:sp>
          <p:nvSpPr>
            <p:cNvPr id="1265" name="Find matrix 1-4">
              <a:extLst>
                <a:ext uri="{FF2B5EF4-FFF2-40B4-BE49-F238E27FC236}">
                  <a16:creationId xmlns:a16="http://schemas.microsoft.com/office/drawing/2014/main" id="{6454B603-2435-1F3E-EFE1-9F3ED69FE183}"/>
                </a:ext>
              </a:extLst>
            </p:cNvPr>
            <p:cNvSpPr>
              <a:spLocks noGrp="1"/>
            </p:cNvSpPr>
            <p:nvPr/>
          </p:nvSpPr>
          <p:spPr>
            <a:xfrm>
              <a:off x="10638763" y="3274695"/>
              <a:ext cx="91559" cy="70009"/>
            </a:xfrm>
            <a:prstGeom prst="rect">
              <a:avLst/>
            </a:prstGeom>
            <a:solidFill>
              <a:srgbClr val="5B9FB6"/>
            </a:solidFill>
            <a:ln w="7290">
              <a:noFill/>
            </a:ln>
          </p:spPr>
        </p:sp>
        <p:sp>
          <p:nvSpPr>
            <p:cNvPr id="1266" name="Find matrix 1-5">
              <a:extLst>
                <a:ext uri="{FF2B5EF4-FFF2-40B4-BE49-F238E27FC236}">
                  <a16:creationId xmlns:a16="http://schemas.microsoft.com/office/drawing/2014/main" id="{BDC3058F-5BB6-EF0A-C0E4-8FFF478A86C2}"/>
                </a:ext>
              </a:extLst>
            </p:cNvPr>
            <p:cNvSpPr>
              <a:spLocks noGrp="1"/>
            </p:cNvSpPr>
            <p:nvPr/>
          </p:nvSpPr>
          <p:spPr>
            <a:xfrm>
              <a:off x="10734608" y="3274695"/>
              <a:ext cx="91559" cy="70009"/>
            </a:xfrm>
            <a:prstGeom prst="rect">
              <a:avLst/>
            </a:prstGeom>
            <a:solidFill>
              <a:srgbClr val="3E8F9A"/>
            </a:solidFill>
            <a:ln w="7290">
              <a:noFill/>
            </a:ln>
          </p:spPr>
        </p:sp>
        <p:sp>
          <p:nvSpPr>
            <p:cNvPr id="1267" name="Find matrix 1-6">
              <a:extLst>
                <a:ext uri="{FF2B5EF4-FFF2-40B4-BE49-F238E27FC236}">
                  <a16:creationId xmlns:a16="http://schemas.microsoft.com/office/drawing/2014/main" id="{7A6FD57F-2D4A-E860-6015-70841E18A307}"/>
                </a:ext>
              </a:extLst>
            </p:cNvPr>
            <p:cNvSpPr>
              <a:spLocks noGrp="1"/>
            </p:cNvSpPr>
            <p:nvPr/>
          </p:nvSpPr>
          <p:spPr>
            <a:xfrm>
              <a:off x="10830453" y="3274695"/>
              <a:ext cx="91559" cy="70009"/>
            </a:xfrm>
            <a:prstGeom prst="rect">
              <a:avLst/>
            </a:prstGeom>
            <a:solidFill>
              <a:srgbClr val="C4DDE0"/>
            </a:solidFill>
            <a:ln w="7290">
              <a:noFill/>
            </a:ln>
          </p:spPr>
        </p:sp>
        <p:sp>
          <p:nvSpPr>
            <p:cNvPr id="1268" name="Find matrix 1-7">
              <a:extLst>
                <a:ext uri="{FF2B5EF4-FFF2-40B4-BE49-F238E27FC236}">
                  <a16:creationId xmlns:a16="http://schemas.microsoft.com/office/drawing/2014/main" id="{289EF4F7-DDB6-5545-39F7-5D1B3F86D2D3}"/>
                </a:ext>
              </a:extLst>
            </p:cNvPr>
            <p:cNvSpPr>
              <a:spLocks noGrp="1"/>
            </p:cNvSpPr>
            <p:nvPr/>
          </p:nvSpPr>
          <p:spPr>
            <a:xfrm>
              <a:off x="10926299" y="3274695"/>
              <a:ext cx="91559" cy="70009"/>
            </a:xfrm>
            <a:prstGeom prst="rect">
              <a:avLst/>
            </a:prstGeom>
            <a:solidFill>
              <a:srgbClr val="67AD9F"/>
            </a:solidFill>
            <a:ln w="7290">
              <a:noFill/>
            </a:ln>
          </p:spPr>
        </p:sp>
        <p:sp>
          <p:nvSpPr>
            <p:cNvPr id="1269" name="Find matrix 2-0">
              <a:extLst>
                <a:ext uri="{FF2B5EF4-FFF2-40B4-BE49-F238E27FC236}">
                  <a16:creationId xmlns:a16="http://schemas.microsoft.com/office/drawing/2014/main" id="{B1282592-D5D6-9C68-2D42-3D2A0FA6458C}"/>
                </a:ext>
              </a:extLst>
            </p:cNvPr>
            <p:cNvSpPr>
              <a:spLocks noGrp="1"/>
            </p:cNvSpPr>
            <p:nvPr/>
          </p:nvSpPr>
          <p:spPr>
            <a:xfrm>
              <a:off x="10255382" y="3348990"/>
              <a:ext cx="91559" cy="70009"/>
            </a:xfrm>
            <a:prstGeom prst="rect">
              <a:avLst/>
            </a:prstGeom>
            <a:solidFill>
              <a:srgbClr val="67AD9F"/>
            </a:solidFill>
            <a:ln w="7290">
              <a:noFill/>
            </a:ln>
          </p:spPr>
        </p:sp>
        <p:sp>
          <p:nvSpPr>
            <p:cNvPr id="1270" name="Find matrix 2-1">
              <a:extLst>
                <a:ext uri="{FF2B5EF4-FFF2-40B4-BE49-F238E27FC236}">
                  <a16:creationId xmlns:a16="http://schemas.microsoft.com/office/drawing/2014/main" id="{390A8337-4744-F454-87FF-4E9BDE799C1D}"/>
                </a:ext>
              </a:extLst>
            </p:cNvPr>
            <p:cNvSpPr>
              <a:spLocks noGrp="1"/>
            </p:cNvSpPr>
            <p:nvPr/>
          </p:nvSpPr>
          <p:spPr>
            <a:xfrm>
              <a:off x="10351227" y="3348990"/>
              <a:ext cx="91559" cy="70009"/>
            </a:xfrm>
            <a:prstGeom prst="rect">
              <a:avLst/>
            </a:prstGeom>
            <a:solidFill>
              <a:srgbClr val="C4DDE0"/>
            </a:solidFill>
            <a:ln w="7290">
              <a:noFill/>
            </a:ln>
          </p:spPr>
        </p:sp>
        <p:sp>
          <p:nvSpPr>
            <p:cNvPr id="1271" name="Find matrix 2-2">
              <a:extLst>
                <a:ext uri="{FF2B5EF4-FFF2-40B4-BE49-F238E27FC236}">
                  <a16:creationId xmlns:a16="http://schemas.microsoft.com/office/drawing/2014/main" id="{F2F7291B-E14D-7E55-CC39-0366DDE36AB6}"/>
                </a:ext>
              </a:extLst>
            </p:cNvPr>
            <p:cNvSpPr>
              <a:spLocks noGrp="1"/>
            </p:cNvSpPr>
            <p:nvPr/>
          </p:nvSpPr>
          <p:spPr>
            <a:xfrm>
              <a:off x="10447072" y="3348990"/>
              <a:ext cx="91559" cy="70009"/>
            </a:xfrm>
            <a:prstGeom prst="rect">
              <a:avLst/>
            </a:prstGeom>
            <a:solidFill>
              <a:srgbClr val="5B9FB6"/>
            </a:solidFill>
            <a:ln w="7290">
              <a:noFill/>
            </a:ln>
          </p:spPr>
        </p:sp>
        <p:sp>
          <p:nvSpPr>
            <p:cNvPr id="1272" name="Find matrix 2-3">
              <a:extLst>
                <a:ext uri="{FF2B5EF4-FFF2-40B4-BE49-F238E27FC236}">
                  <a16:creationId xmlns:a16="http://schemas.microsoft.com/office/drawing/2014/main" id="{7DDB5DDB-AA90-B36F-ECCA-B3D87BDEF49C}"/>
                </a:ext>
              </a:extLst>
            </p:cNvPr>
            <p:cNvSpPr>
              <a:spLocks noGrp="1"/>
            </p:cNvSpPr>
            <p:nvPr/>
          </p:nvSpPr>
          <p:spPr>
            <a:xfrm>
              <a:off x="10542917" y="3348990"/>
              <a:ext cx="91559" cy="70009"/>
            </a:xfrm>
            <a:prstGeom prst="rect">
              <a:avLst/>
            </a:prstGeom>
            <a:solidFill>
              <a:srgbClr val="B6D8CC"/>
            </a:solidFill>
            <a:ln w="7290">
              <a:noFill/>
            </a:ln>
          </p:spPr>
        </p:sp>
        <p:sp>
          <p:nvSpPr>
            <p:cNvPr id="1273" name="Find matrix 2-4">
              <a:extLst>
                <a:ext uri="{FF2B5EF4-FFF2-40B4-BE49-F238E27FC236}">
                  <a16:creationId xmlns:a16="http://schemas.microsoft.com/office/drawing/2014/main" id="{FBF483EB-0895-E2F9-E946-2CE7B0273010}"/>
                </a:ext>
              </a:extLst>
            </p:cNvPr>
            <p:cNvSpPr>
              <a:spLocks noGrp="1"/>
            </p:cNvSpPr>
            <p:nvPr/>
          </p:nvSpPr>
          <p:spPr>
            <a:xfrm>
              <a:off x="10638763" y="3348990"/>
              <a:ext cx="91559" cy="70009"/>
            </a:xfrm>
            <a:prstGeom prst="rect">
              <a:avLst/>
            </a:prstGeom>
            <a:solidFill>
              <a:srgbClr val="3E8F9A"/>
            </a:solidFill>
            <a:ln w="7290">
              <a:noFill/>
            </a:ln>
          </p:spPr>
        </p:sp>
        <p:sp>
          <p:nvSpPr>
            <p:cNvPr id="1274" name="Find matrix 2-5">
              <a:extLst>
                <a:ext uri="{FF2B5EF4-FFF2-40B4-BE49-F238E27FC236}">
                  <a16:creationId xmlns:a16="http://schemas.microsoft.com/office/drawing/2014/main" id="{235264C0-29EF-D9B8-F0D1-9BEBBAD9D6E8}"/>
                </a:ext>
              </a:extLst>
            </p:cNvPr>
            <p:cNvSpPr>
              <a:spLocks noGrp="1"/>
            </p:cNvSpPr>
            <p:nvPr/>
          </p:nvSpPr>
          <p:spPr>
            <a:xfrm>
              <a:off x="10734608" y="3348990"/>
              <a:ext cx="91559" cy="70009"/>
            </a:xfrm>
            <a:prstGeom prst="rect">
              <a:avLst/>
            </a:prstGeom>
            <a:solidFill>
              <a:srgbClr val="D6E5ED"/>
            </a:solidFill>
            <a:ln w="7290">
              <a:noFill/>
            </a:ln>
          </p:spPr>
        </p:sp>
        <p:sp>
          <p:nvSpPr>
            <p:cNvPr id="1275" name="Find matrix 2-6">
              <a:extLst>
                <a:ext uri="{FF2B5EF4-FFF2-40B4-BE49-F238E27FC236}">
                  <a16:creationId xmlns:a16="http://schemas.microsoft.com/office/drawing/2014/main" id="{89BB4142-622C-474C-899B-E7C760EA5054}"/>
                </a:ext>
              </a:extLst>
            </p:cNvPr>
            <p:cNvSpPr>
              <a:spLocks noGrp="1"/>
            </p:cNvSpPr>
            <p:nvPr/>
          </p:nvSpPr>
          <p:spPr>
            <a:xfrm>
              <a:off x="10830453" y="3348990"/>
              <a:ext cx="91559" cy="70009"/>
            </a:xfrm>
            <a:prstGeom prst="rect">
              <a:avLst/>
            </a:prstGeom>
            <a:solidFill>
              <a:srgbClr val="88BEC3"/>
            </a:solidFill>
            <a:ln w="7290">
              <a:noFill/>
            </a:ln>
          </p:spPr>
        </p:sp>
        <p:sp>
          <p:nvSpPr>
            <p:cNvPr id="1276" name="Find matrix 2-7">
              <a:extLst>
                <a:ext uri="{FF2B5EF4-FFF2-40B4-BE49-F238E27FC236}">
                  <a16:creationId xmlns:a16="http://schemas.microsoft.com/office/drawing/2014/main" id="{6D2284D9-4AE6-02DD-AA99-C88ED825A8F4}"/>
                </a:ext>
              </a:extLst>
            </p:cNvPr>
            <p:cNvSpPr>
              <a:spLocks noGrp="1"/>
            </p:cNvSpPr>
            <p:nvPr/>
          </p:nvSpPr>
          <p:spPr>
            <a:xfrm>
              <a:off x="10926299" y="3348990"/>
              <a:ext cx="91559" cy="70009"/>
            </a:xfrm>
            <a:prstGeom prst="rect">
              <a:avLst/>
            </a:prstGeom>
            <a:solidFill>
              <a:srgbClr val="A3CDDA"/>
            </a:solidFill>
            <a:ln w="7290">
              <a:noFill/>
            </a:ln>
          </p:spPr>
        </p:sp>
        <p:sp>
          <p:nvSpPr>
            <p:cNvPr id="1277" name="Find matrix 3-0">
              <a:extLst>
                <a:ext uri="{FF2B5EF4-FFF2-40B4-BE49-F238E27FC236}">
                  <a16:creationId xmlns:a16="http://schemas.microsoft.com/office/drawing/2014/main" id="{A354350A-00E7-4344-FF84-5BBF2165CEDA}"/>
                </a:ext>
              </a:extLst>
            </p:cNvPr>
            <p:cNvSpPr>
              <a:spLocks noGrp="1"/>
            </p:cNvSpPr>
            <p:nvPr/>
          </p:nvSpPr>
          <p:spPr>
            <a:xfrm>
              <a:off x="10255382" y="3423285"/>
              <a:ext cx="91559" cy="70009"/>
            </a:xfrm>
            <a:prstGeom prst="rect">
              <a:avLst/>
            </a:prstGeom>
            <a:solidFill>
              <a:srgbClr val="88BEC3"/>
            </a:solidFill>
            <a:ln w="7290">
              <a:noFill/>
            </a:ln>
          </p:spPr>
        </p:sp>
        <p:sp>
          <p:nvSpPr>
            <p:cNvPr id="1278" name="Find matrix 3-1">
              <a:extLst>
                <a:ext uri="{FF2B5EF4-FFF2-40B4-BE49-F238E27FC236}">
                  <a16:creationId xmlns:a16="http://schemas.microsoft.com/office/drawing/2014/main" id="{E2EDFAC2-C5CD-2DF8-165C-4DBC9D98B449}"/>
                </a:ext>
              </a:extLst>
            </p:cNvPr>
            <p:cNvSpPr>
              <a:spLocks noGrp="1"/>
            </p:cNvSpPr>
            <p:nvPr/>
          </p:nvSpPr>
          <p:spPr>
            <a:xfrm>
              <a:off x="10351227" y="3423285"/>
              <a:ext cx="91559" cy="70009"/>
            </a:xfrm>
            <a:prstGeom prst="rect">
              <a:avLst/>
            </a:prstGeom>
            <a:solidFill>
              <a:srgbClr val="D6E5ED"/>
            </a:solidFill>
            <a:ln w="7290">
              <a:noFill/>
            </a:ln>
          </p:spPr>
        </p:sp>
        <p:sp>
          <p:nvSpPr>
            <p:cNvPr id="1279" name="Find matrix 3-2">
              <a:extLst>
                <a:ext uri="{FF2B5EF4-FFF2-40B4-BE49-F238E27FC236}">
                  <a16:creationId xmlns:a16="http://schemas.microsoft.com/office/drawing/2014/main" id="{4D088869-EB59-E1B3-59B4-C3C92C8170BA}"/>
                </a:ext>
              </a:extLst>
            </p:cNvPr>
            <p:cNvSpPr>
              <a:spLocks noGrp="1"/>
            </p:cNvSpPr>
            <p:nvPr/>
          </p:nvSpPr>
          <p:spPr>
            <a:xfrm>
              <a:off x="10447072" y="3423285"/>
              <a:ext cx="91559" cy="70009"/>
            </a:xfrm>
            <a:prstGeom prst="rect">
              <a:avLst/>
            </a:prstGeom>
            <a:solidFill>
              <a:srgbClr val="67AD9F"/>
            </a:solidFill>
            <a:ln w="7290">
              <a:noFill/>
            </a:ln>
          </p:spPr>
        </p:sp>
        <p:sp>
          <p:nvSpPr>
            <p:cNvPr id="1280" name="Find matrix 3-3">
              <a:extLst>
                <a:ext uri="{FF2B5EF4-FFF2-40B4-BE49-F238E27FC236}">
                  <a16:creationId xmlns:a16="http://schemas.microsoft.com/office/drawing/2014/main" id="{119CBCB9-6860-7DCC-AF73-C422647EEF23}"/>
                </a:ext>
              </a:extLst>
            </p:cNvPr>
            <p:cNvSpPr>
              <a:spLocks noGrp="1"/>
            </p:cNvSpPr>
            <p:nvPr/>
          </p:nvSpPr>
          <p:spPr>
            <a:xfrm>
              <a:off x="10542917" y="3423285"/>
              <a:ext cx="91559" cy="70009"/>
            </a:xfrm>
            <a:prstGeom prst="rect">
              <a:avLst/>
            </a:prstGeom>
            <a:solidFill>
              <a:srgbClr val="3E8F9A"/>
            </a:solidFill>
            <a:ln w="7290">
              <a:noFill/>
            </a:ln>
          </p:spPr>
        </p:sp>
        <p:sp>
          <p:nvSpPr>
            <p:cNvPr id="1281" name="Find matrix 3-4">
              <a:extLst>
                <a:ext uri="{FF2B5EF4-FFF2-40B4-BE49-F238E27FC236}">
                  <a16:creationId xmlns:a16="http://schemas.microsoft.com/office/drawing/2014/main" id="{F0ED964A-EDEB-7D43-69F8-BEFE576D1277}"/>
                </a:ext>
              </a:extLst>
            </p:cNvPr>
            <p:cNvSpPr>
              <a:spLocks noGrp="1"/>
            </p:cNvSpPr>
            <p:nvPr/>
          </p:nvSpPr>
          <p:spPr>
            <a:xfrm>
              <a:off x="10638763" y="3423285"/>
              <a:ext cx="91559" cy="70009"/>
            </a:xfrm>
            <a:prstGeom prst="rect">
              <a:avLst/>
            </a:prstGeom>
            <a:solidFill>
              <a:srgbClr val="C4DDE0"/>
            </a:solidFill>
            <a:ln w="7290">
              <a:noFill/>
            </a:ln>
          </p:spPr>
        </p:sp>
        <p:sp>
          <p:nvSpPr>
            <p:cNvPr id="1282" name="Find matrix 3-5">
              <a:extLst>
                <a:ext uri="{FF2B5EF4-FFF2-40B4-BE49-F238E27FC236}">
                  <a16:creationId xmlns:a16="http://schemas.microsoft.com/office/drawing/2014/main" id="{A0A2A64A-E67D-3395-0409-F2703179F7EC}"/>
                </a:ext>
              </a:extLst>
            </p:cNvPr>
            <p:cNvSpPr>
              <a:spLocks noGrp="1"/>
            </p:cNvSpPr>
            <p:nvPr/>
          </p:nvSpPr>
          <p:spPr>
            <a:xfrm>
              <a:off x="10734608" y="3423285"/>
              <a:ext cx="91559" cy="70009"/>
            </a:xfrm>
            <a:prstGeom prst="rect">
              <a:avLst/>
            </a:prstGeom>
            <a:solidFill>
              <a:srgbClr val="A3CDDA"/>
            </a:solidFill>
            <a:ln w="7290">
              <a:noFill/>
            </a:ln>
          </p:spPr>
        </p:sp>
        <p:sp>
          <p:nvSpPr>
            <p:cNvPr id="1283" name="Find matrix 3-6">
              <a:extLst>
                <a:ext uri="{FF2B5EF4-FFF2-40B4-BE49-F238E27FC236}">
                  <a16:creationId xmlns:a16="http://schemas.microsoft.com/office/drawing/2014/main" id="{EA7CE8E7-C1AC-E261-A970-8EC80886D558}"/>
                </a:ext>
              </a:extLst>
            </p:cNvPr>
            <p:cNvSpPr>
              <a:spLocks noGrp="1"/>
            </p:cNvSpPr>
            <p:nvPr/>
          </p:nvSpPr>
          <p:spPr>
            <a:xfrm>
              <a:off x="10830453" y="3423285"/>
              <a:ext cx="91559" cy="70009"/>
            </a:xfrm>
            <a:prstGeom prst="rect">
              <a:avLst/>
            </a:prstGeom>
            <a:solidFill>
              <a:srgbClr val="B6D8CC"/>
            </a:solidFill>
            <a:ln w="7290">
              <a:noFill/>
            </a:ln>
          </p:spPr>
        </p:sp>
        <p:sp>
          <p:nvSpPr>
            <p:cNvPr id="1284" name="Find matrix 3-7">
              <a:extLst>
                <a:ext uri="{FF2B5EF4-FFF2-40B4-BE49-F238E27FC236}">
                  <a16:creationId xmlns:a16="http://schemas.microsoft.com/office/drawing/2014/main" id="{3CC5802F-96A8-F327-8DCD-5C642BB94DCE}"/>
                </a:ext>
              </a:extLst>
            </p:cNvPr>
            <p:cNvSpPr>
              <a:spLocks noGrp="1"/>
            </p:cNvSpPr>
            <p:nvPr/>
          </p:nvSpPr>
          <p:spPr>
            <a:xfrm>
              <a:off x="10926299" y="3423285"/>
              <a:ext cx="91559" cy="70009"/>
            </a:xfrm>
            <a:prstGeom prst="rect">
              <a:avLst/>
            </a:prstGeom>
            <a:solidFill>
              <a:srgbClr val="5B9FB6"/>
            </a:solidFill>
            <a:ln w="7290">
              <a:noFill/>
            </a:ln>
          </p:spPr>
        </p:sp>
        <p:sp>
          <p:nvSpPr>
            <p:cNvPr id="1285" name="Match matrix 0-0">
              <a:extLst>
                <a:ext uri="{FF2B5EF4-FFF2-40B4-BE49-F238E27FC236}">
                  <a16:creationId xmlns:a16="http://schemas.microsoft.com/office/drawing/2014/main" id="{1E148E3C-F1D3-F47F-36C6-42E1C579FB78}"/>
                </a:ext>
              </a:extLst>
            </p:cNvPr>
            <p:cNvSpPr>
              <a:spLocks noGrp="1"/>
            </p:cNvSpPr>
            <p:nvPr/>
          </p:nvSpPr>
          <p:spPr>
            <a:xfrm>
              <a:off x="3633156" y="7252039"/>
              <a:ext cx="88583" cy="70009"/>
            </a:xfrm>
            <a:prstGeom prst="rect">
              <a:avLst/>
            </a:prstGeom>
            <a:solidFill>
              <a:srgbClr val="3E8F9A"/>
            </a:solidFill>
            <a:ln w="7290">
              <a:noFill/>
            </a:ln>
          </p:spPr>
        </p:sp>
        <p:sp>
          <p:nvSpPr>
            <p:cNvPr id="1286" name="Match matrix 0-1">
              <a:extLst>
                <a:ext uri="{FF2B5EF4-FFF2-40B4-BE49-F238E27FC236}">
                  <a16:creationId xmlns:a16="http://schemas.microsoft.com/office/drawing/2014/main" id="{6CE95E95-35B4-AAA3-E629-B7804854BFD1}"/>
                </a:ext>
              </a:extLst>
            </p:cNvPr>
            <p:cNvSpPr>
              <a:spLocks noGrp="1"/>
            </p:cNvSpPr>
            <p:nvPr/>
          </p:nvSpPr>
          <p:spPr>
            <a:xfrm>
              <a:off x="3726025" y="7252039"/>
              <a:ext cx="88583" cy="70009"/>
            </a:xfrm>
            <a:prstGeom prst="rect">
              <a:avLst/>
            </a:prstGeom>
            <a:solidFill>
              <a:srgbClr val="5B9FB6"/>
            </a:solidFill>
            <a:ln w="7290">
              <a:noFill/>
            </a:ln>
          </p:spPr>
        </p:sp>
        <p:sp>
          <p:nvSpPr>
            <p:cNvPr id="1287" name="Match matrix 0-2">
              <a:extLst>
                <a:ext uri="{FF2B5EF4-FFF2-40B4-BE49-F238E27FC236}">
                  <a16:creationId xmlns:a16="http://schemas.microsoft.com/office/drawing/2014/main" id="{7AA444A0-2B6A-4C23-EFFA-BB0D0814FEA4}"/>
                </a:ext>
              </a:extLst>
            </p:cNvPr>
            <p:cNvSpPr>
              <a:spLocks noGrp="1"/>
            </p:cNvSpPr>
            <p:nvPr/>
          </p:nvSpPr>
          <p:spPr>
            <a:xfrm>
              <a:off x="3818894" y="7252039"/>
              <a:ext cx="88583" cy="70009"/>
            </a:xfrm>
            <a:prstGeom prst="rect">
              <a:avLst/>
            </a:prstGeom>
            <a:solidFill>
              <a:srgbClr val="A3CDDA"/>
            </a:solidFill>
            <a:ln w="7290">
              <a:noFill/>
            </a:ln>
          </p:spPr>
        </p:sp>
        <p:sp>
          <p:nvSpPr>
            <p:cNvPr id="1288" name="Match matrix 0-3">
              <a:extLst>
                <a:ext uri="{FF2B5EF4-FFF2-40B4-BE49-F238E27FC236}">
                  <a16:creationId xmlns:a16="http://schemas.microsoft.com/office/drawing/2014/main" id="{FA614244-906C-CFFC-1294-6D233D01CB35}"/>
                </a:ext>
              </a:extLst>
            </p:cNvPr>
            <p:cNvSpPr>
              <a:spLocks noGrp="1"/>
            </p:cNvSpPr>
            <p:nvPr/>
          </p:nvSpPr>
          <p:spPr>
            <a:xfrm>
              <a:off x="3911762" y="7252039"/>
              <a:ext cx="88583" cy="70009"/>
            </a:xfrm>
            <a:prstGeom prst="rect">
              <a:avLst/>
            </a:prstGeom>
            <a:solidFill>
              <a:srgbClr val="88BEC3"/>
            </a:solidFill>
            <a:ln w="7290">
              <a:noFill/>
            </a:ln>
          </p:spPr>
        </p:sp>
        <p:sp>
          <p:nvSpPr>
            <p:cNvPr id="1289" name="Match matrix 0-4">
              <a:extLst>
                <a:ext uri="{FF2B5EF4-FFF2-40B4-BE49-F238E27FC236}">
                  <a16:creationId xmlns:a16="http://schemas.microsoft.com/office/drawing/2014/main" id="{EE4A1296-1DD3-454F-610D-2BDEB1D0EFA9}"/>
                </a:ext>
              </a:extLst>
            </p:cNvPr>
            <p:cNvSpPr>
              <a:spLocks noGrp="1"/>
            </p:cNvSpPr>
            <p:nvPr/>
          </p:nvSpPr>
          <p:spPr>
            <a:xfrm>
              <a:off x="4004631" y="7252039"/>
              <a:ext cx="88583" cy="70009"/>
            </a:xfrm>
            <a:prstGeom prst="rect">
              <a:avLst/>
            </a:prstGeom>
            <a:solidFill>
              <a:srgbClr val="67AD9F"/>
            </a:solidFill>
            <a:ln w="7290">
              <a:noFill/>
            </a:ln>
          </p:spPr>
        </p:sp>
        <p:sp>
          <p:nvSpPr>
            <p:cNvPr id="1290" name="Match matrix 0-5">
              <a:extLst>
                <a:ext uri="{FF2B5EF4-FFF2-40B4-BE49-F238E27FC236}">
                  <a16:creationId xmlns:a16="http://schemas.microsoft.com/office/drawing/2014/main" id="{A27DCA6A-D9A0-89D2-300F-145A0353541B}"/>
                </a:ext>
              </a:extLst>
            </p:cNvPr>
            <p:cNvSpPr>
              <a:spLocks noGrp="1"/>
            </p:cNvSpPr>
            <p:nvPr/>
          </p:nvSpPr>
          <p:spPr>
            <a:xfrm>
              <a:off x="4097500" y="7252039"/>
              <a:ext cx="88583" cy="70009"/>
            </a:xfrm>
            <a:prstGeom prst="rect">
              <a:avLst/>
            </a:prstGeom>
            <a:solidFill>
              <a:srgbClr val="C4DDE0"/>
            </a:solidFill>
            <a:ln w="7290">
              <a:noFill/>
            </a:ln>
          </p:spPr>
        </p:sp>
        <p:sp>
          <p:nvSpPr>
            <p:cNvPr id="1291" name="Match matrix 0-6">
              <a:extLst>
                <a:ext uri="{FF2B5EF4-FFF2-40B4-BE49-F238E27FC236}">
                  <a16:creationId xmlns:a16="http://schemas.microsoft.com/office/drawing/2014/main" id="{110481AC-0BB3-A98A-15F4-6DA00B6462E6}"/>
                </a:ext>
              </a:extLst>
            </p:cNvPr>
            <p:cNvSpPr>
              <a:spLocks noGrp="1"/>
            </p:cNvSpPr>
            <p:nvPr/>
          </p:nvSpPr>
          <p:spPr>
            <a:xfrm>
              <a:off x="4190369" y="7252039"/>
              <a:ext cx="88583" cy="70009"/>
            </a:xfrm>
            <a:prstGeom prst="rect">
              <a:avLst/>
            </a:prstGeom>
            <a:solidFill>
              <a:srgbClr val="B6D8CC"/>
            </a:solidFill>
            <a:ln w="7290">
              <a:noFill/>
            </a:ln>
          </p:spPr>
        </p:sp>
        <p:sp>
          <p:nvSpPr>
            <p:cNvPr id="1292" name="Match matrix 0-7">
              <a:extLst>
                <a:ext uri="{FF2B5EF4-FFF2-40B4-BE49-F238E27FC236}">
                  <a16:creationId xmlns:a16="http://schemas.microsoft.com/office/drawing/2014/main" id="{CA0FE5FF-20F8-A515-1575-D2B579C6A384}"/>
                </a:ext>
              </a:extLst>
            </p:cNvPr>
            <p:cNvSpPr>
              <a:spLocks noGrp="1"/>
            </p:cNvSpPr>
            <p:nvPr/>
          </p:nvSpPr>
          <p:spPr>
            <a:xfrm>
              <a:off x="4283237" y="7252039"/>
              <a:ext cx="88583" cy="70009"/>
            </a:xfrm>
            <a:prstGeom prst="rect">
              <a:avLst/>
            </a:prstGeom>
            <a:solidFill>
              <a:srgbClr val="D6E5ED"/>
            </a:solidFill>
            <a:ln w="7290">
              <a:noFill/>
            </a:ln>
          </p:spPr>
        </p:sp>
        <p:sp>
          <p:nvSpPr>
            <p:cNvPr id="1293" name="Match matrix 1-0">
              <a:extLst>
                <a:ext uri="{FF2B5EF4-FFF2-40B4-BE49-F238E27FC236}">
                  <a16:creationId xmlns:a16="http://schemas.microsoft.com/office/drawing/2014/main" id="{62DD97DC-E1EF-3AC8-77C6-31E750CF1688}"/>
                </a:ext>
              </a:extLst>
            </p:cNvPr>
            <p:cNvSpPr>
              <a:spLocks noGrp="1"/>
            </p:cNvSpPr>
            <p:nvPr/>
          </p:nvSpPr>
          <p:spPr>
            <a:xfrm>
              <a:off x="3633156" y="7326334"/>
              <a:ext cx="88583" cy="70009"/>
            </a:xfrm>
            <a:prstGeom prst="rect">
              <a:avLst/>
            </a:prstGeom>
            <a:solidFill>
              <a:srgbClr val="A3CDDA"/>
            </a:solidFill>
            <a:ln w="7290">
              <a:noFill/>
            </a:ln>
          </p:spPr>
        </p:sp>
        <p:sp>
          <p:nvSpPr>
            <p:cNvPr id="1294" name="Match matrix 1-1">
              <a:extLst>
                <a:ext uri="{FF2B5EF4-FFF2-40B4-BE49-F238E27FC236}">
                  <a16:creationId xmlns:a16="http://schemas.microsoft.com/office/drawing/2014/main" id="{B545DCC8-F9BD-6322-3BD3-A195D0A92FFB}"/>
                </a:ext>
              </a:extLst>
            </p:cNvPr>
            <p:cNvSpPr>
              <a:spLocks noGrp="1"/>
            </p:cNvSpPr>
            <p:nvPr/>
          </p:nvSpPr>
          <p:spPr>
            <a:xfrm>
              <a:off x="3726025" y="7326334"/>
              <a:ext cx="88583" cy="70009"/>
            </a:xfrm>
            <a:prstGeom prst="rect">
              <a:avLst/>
            </a:prstGeom>
            <a:solidFill>
              <a:srgbClr val="B6D8CC"/>
            </a:solidFill>
            <a:ln w="7290">
              <a:noFill/>
            </a:ln>
          </p:spPr>
        </p:sp>
        <p:sp>
          <p:nvSpPr>
            <p:cNvPr id="1295" name="Match matrix 1-2">
              <a:extLst>
                <a:ext uri="{FF2B5EF4-FFF2-40B4-BE49-F238E27FC236}">
                  <a16:creationId xmlns:a16="http://schemas.microsoft.com/office/drawing/2014/main" id="{CA362456-65E1-995A-0618-99CCC4184C18}"/>
                </a:ext>
              </a:extLst>
            </p:cNvPr>
            <p:cNvSpPr>
              <a:spLocks noGrp="1"/>
            </p:cNvSpPr>
            <p:nvPr/>
          </p:nvSpPr>
          <p:spPr>
            <a:xfrm>
              <a:off x="3818894" y="7326334"/>
              <a:ext cx="88583" cy="70009"/>
            </a:xfrm>
            <a:prstGeom prst="rect">
              <a:avLst/>
            </a:prstGeom>
            <a:solidFill>
              <a:srgbClr val="88BEC3"/>
            </a:solidFill>
            <a:ln w="7290">
              <a:noFill/>
            </a:ln>
          </p:spPr>
        </p:sp>
        <p:sp>
          <p:nvSpPr>
            <p:cNvPr id="1296" name="Match matrix 1-3">
              <a:extLst>
                <a:ext uri="{FF2B5EF4-FFF2-40B4-BE49-F238E27FC236}">
                  <a16:creationId xmlns:a16="http://schemas.microsoft.com/office/drawing/2014/main" id="{A2C35F9E-7361-3F63-4B0D-A98BA11C6FD6}"/>
                </a:ext>
              </a:extLst>
            </p:cNvPr>
            <p:cNvSpPr>
              <a:spLocks noGrp="1"/>
            </p:cNvSpPr>
            <p:nvPr/>
          </p:nvSpPr>
          <p:spPr>
            <a:xfrm>
              <a:off x="3911762" y="7326334"/>
              <a:ext cx="88583" cy="70009"/>
            </a:xfrm>
            <a:prstGeom prst="rect">
              <a:avLst/>
            </a:prstGeom>
            <a:solidFill>
              <a:srgbClr val="D6E5ED"/>
            </a:solidFill>
            <a:ln w="7290">
              <a:noFill/>
            </a:ln>
          </p:spPr>
        </p:sp>
        <p:sp>
          <p:nvSpPr>
            <p:cNvPr id="1297" name="Match matrix 1-4">
              <a:extLst>
                <a:ext uri="{FF2B5EF4-FFF2-40B4-BE49-F238E27FC236}">
                  <a16:creationId xmlns:a16="http://schemas.microsoft.com/office/drawing/2014/main" id="{FAAA67D0-1522-17CF-8376-8D76753F582D}"/>
                </a:ext>
              </a:extLst>
            </p:cNvPr>
            <p:cNvSpPr>
              <a:spLocks noGrp="1"/>
            </p:cNvSpPr>
            <p:nvPr/>
          </p:nvSpPr>
          <p:spPr>
            <a:xfrm>
              <a:off x="4004631" y="7326334"/>
              <a:ext cx="88583" cy="70009"/>
            </a:xfrm>
            <a:prstGeom prst="rect">
              <a:avLst/>
            </a:prstGeom>
            <a:solidFill>
              <a:srgbClr val="5B9FB6"/>
            </a:solidFill>
            <a:ln w="7290">
              <a:noFill/>
            </a:ln>
          </p:spPr>
        </p:sp>
        <p:sp>
          <p:nvSpPr>
            <p:cNvPr id="1298" name="Match matrix 1-5">
              <a:extLst>
                <a:ext uri="{FF2B5EF4-FFF2-40B4-BE49-F238E27FC236}">
                  <a16:creationId xmlns:a16="http://schemas.microsoft.com/office/drawing/2014/main" id="{8EFA4585-A006-C810-377D-DBA6C87576CE}"/>
                </a:ext>
              </a:extLst>
            </p:cNvPr>
            <p:cNvSpPr>
              <a:spLocks noGrp="1"/>
            </p:cNvSpPr>
            <p:nvPr/>
          </p:nvSpPr>
          <p:spPr>
            <a:xfrm>
              <a:off x="4097500" y="7326334"/>
              <a:ext cx="88583" cy="70009"/>
            </a:xfrm>
            <a:prstGeom prst="rect">
              <a:avLst/>
            </a:prstGeom>
            <a:solidFill>
              <a:srgbClr val="3E8F9A"/>
            </a:solidFill>
            <a:ln w="7290">
              <a:noFill/>
            </a:ln>
          </p:spPr>
        </p:sp>
        <p:sp>
          <p:nvSpPr>
            <p:cNvPr id="1299" name="Match matrix 1-6">
              <a:extLst>
                <a:ext uri="{FF2B5EF4-FFF2-40B4-BE49-F238E27FC236}">
                  <a16:creationId xmlns:a16="http://schemas.microsoft.com/office/drawing/2014/main" id="{64D11889-0CF0-CA9A-1917-2BF4C8C70236}"/>
                </a:ext>
              </a:extLst>
            </p:cNvPr>
            <p:cNvSpPr>
              <a:spLocks noGrp="1"/>
            </p:cNvSpPr>
            <p:nvPr/>
          </p:nvSpPr>
          <p:spPr>
            <a:xfrm>
              <a:off x="4190369" y="7326334"/>
              <a:ext cx="88583" cy="70009"/>
            </a:xfrm>
            <a:prstGeom prst="rect">
              <a:avLst/>
            </a:prstGeom>
            <a:solidFill>
              <a:srgbClr val="C4DDE0"/>
            </a:solidFill>
            <a:ln w="7290">
              <a:noFill/>
            </a:ln>
          </p:spPr>
        </p:sp>
        <p:sp>
          <p:nvSpPr>
            <p:cNvPr id="1300" name="Match matrix 1-7">
              <a:extLst>
                <a:ext uri="{FF2B5EF4-FFF2-40B4-BE49-F238E27FC236}">
                  <a16:creationId xmlns:a16="http://schemas.microsoft.com/office/drawing/2014/main" id="{188B5773-F5C9-7D4C-8152-FA7D9B627789}"/>
                </a:ext>
              </a:extLst>
            </p:cNvPr>
            <p:cNvSpPr>
              <a:spLocks noGrp="1"/>
            </p:cNvSpPr>
            <p:nvPr/>
          </p:nvSpPr>
          <p:spPr>
            <a:xfrm>
              <a:off x="4283237" y="7326334"/>
              <a:ext cx="88583" cy="70009"/>
            </a:xfrm>
            <a:prstGeom prst="rect">
              <a:avLst/>
            </a:prstGeom>
            <a:solidFill>
              <a:srgbClr val="67AD9F"/>
            </a:solidFill>
            <a:ln w="7290">
              <a:noFill/>
            </a:ln>
          </p:spPr>
        </p:sp>
        <p:sp>
          <p:nvSpPr>
            <p:cNvPr id="1301" name="Match matrix 2-0">
              <a:extLst>
                <a:ext uri="{FF2B5EF4-FFF2-40B4-BE49-F238E27FC236}">
                  <a16:creationId xmlns:a16="http://schemas.microsoft.com/office/drawing/2014/main" id="{BBF02AFB-8489-0057-17C0-1186E4D7244F}"/>
                </a:ext>
              </a:extLst>
            </p:cNvPr>
            <p:cNvSpPr>
              <a:spLocks noGrp="1"/>
            </p:cNvSpPr>
            <p:nvPr/>
          </p:nvSpPr>
          <p:spPr>
            <a:xfrm>
              <a:off x="3633156" y="7400629"/>
              <a:ext cx="88583" cy="70009"/>
            </a:xfrm>
            <a:prstGeom prst="rect">
              <a:avLst/>
            </a:prstGeom>
            <a:solidFill>
              <a:srgbClr val="67AD9F"/>
            </a:solidFill>
            <a:ln w="7290">
              <a:noFill/>
            </a:ln>
          </p:spPr>
        </p:sp>
        <p:sp>
          <p:nvSpPr>
            <p:cNvPr id="1302" name="Match matrix 2-1">
              <a:extLst>
                <a:ext uri="{FF2B5EF4-FFF2-40B4-BE49-F238E27FC236}">
                  <a16:creationId xmlns:a16="http://schemas.microsoft.com/office/drawing/2014/main" id="{4D1F1E41-46E5-997B-A9A2-D4A7E86A821C}"/>
                </a:ext>
              </a:extLst>
            </p:cNvPr>
            <p:cNvSpPr>
              <a:spLocks noGrp="1"/>
            </p:cNvSpPr>
            <p:nvPr/>
          </p:nvSpPr>
          <p:spPr>
            <a:xfrm>
              <a:off x="3726025" y="7400629"/>
              <a:ext cx="88583" cy="70009"/>
            </a:xfrm>
            <a:prstGeom prst="rect">
              <a:avLst/>
            </a:prstGeom>
            <a:solidFill>
              <a:srgbClr val="C4DDE0"/>
            </a:solidFill>
            <a:ln w="7290">
              <a:noFill/>
            </a:ln>
          </p:spPr>
        </p:sp>
        <p:sp>
          <p:nvSpPr>
            <p:cNvPr id="1303" name="Match matrix 2-2">
              <a:extLst>
                <a:ext uri="{FF2B5EF4-FFF2-40B4-BE49-F238E27FC236}">
                  <a16:creationId xmlns:a16="http://schemas.microsoft.com/office/drawing/2014/main" id="{BDC0B5DB-1FDB-9192-A8A8-9F9E9FC2CF48}"/>
                </a:ext>
              </a:extLst>
            </p:cNvPr>
            <p:cNvSpPr>
              <a:spLocks noGrp="1"/>
            </p:cNvSpPr>
            <p:nvPr/>
          </p:nvSpPr>
          <p:spPr>
            <a:xfrm>
              <a:off x="3818894" y="7400629"/>
              <a:ext cx="88583" cy="70009"/>
            </a:xfrm>
            <a:prstGeom prst="rect">
              <a:avLst/>
            </a:prstGeom>
            <a:solidFill>
              <a:srgbClr val="5B9FB6"/>
            </a:solidFill>
            <a:ln w="7290">
              <a:noFill/>
            </a:ln>
          </p:spPr>
        </p:sp>
        <p:sp>
          <p:nvSpPr>
            <p:cNvPr id="1304" name="Match matrix 2-3">
              <a:extLst>
                <a:ext uri="{FF2B5EF4-FFF2-40B4-BE49-F238E27FC236}">
                  <a16:creationId xmlns:a16="http://schemas.microsoft.com/office/drawing/2014/main" id="{9C663294-FCA2-F8DE-2AEC-EEF54C48921A}"/>
                </a:ext>
              </a:extLst>
            </p:cNvPr>
            <p:cNvSpPr>
              <a:spLocks noGrp="1"/>
            </p:cNvSpPr>
            <p:nvPr/>
          </p:nvSpPr>
          <p:spPr>
            <a:xfrm>
              <a:off x="3911762" y="7400629"/>
              <a:ext cx="88583" cy="70009"/>
            </a:xfrm>
            <a:prstGeom prst="rect">
              <a:avLst/>
            </a:prstGeom>
            <a:solidFill>
              <a:srgbClr val="B6D8CC"/>
            </a:solidFill>
            <a:ln w="7290">
              <a:noFill/>
            </a:ln>
          </p:spPr>
        </p:sp>
        <p:sp>
          <p:nvSpPr>
            <p:cNvPr id="1305" name="Match matrix 2-4">
              <a:extLst>
                <a:ext uri="{FF2B5EF4-FFF2-40B4-BE49-F238E27FC236}">
                  <a16:creationId xmlns:a16="http://schemas.microsoft.com/office/drawing/2014/main" id="{28E76182-0A60-4A72-9586-C12459BE0B58}"/>
                </a:ext>
              </a:extLst>
            </p:cNvPr>
            <p:cNvSpPr>
              <a:spLocks noGrp="1"/>
            </p:cNvSpPr>
            <p:nvPr/>
          </p:nvSpPr>
          <p:spPr>
            <a:xfrm>
              <a:off x="4004631" y="7400629"/>
              <a:ext cx="88583" cy="70009"/>
            </a:xfrm>
            <a:prstGeom prst="rect">
              <a:avLst/>
            </a:prstGeom>
            <a:solidFill>
              <a:srgbClr val="3E8F9A"/>
            </a:solidFill>
            <a:ln w="7290">
              <a:noFill/>
            </a:ln>
          </p:spPr>
        </p:sp>
        <p:sp>
          <p:nvSpPr>
            <p:cNvPr id="1306" name="Match matrix 2-5">
              <a:extLst>
                <a:ext uri="{FF2B5EF4-FFF2-40B4-BE49-F238E27FC236}">
                  <a16:creationId xmlns:a16="http://schemas.microsoft.com/office/drawing/2014/main" id="{29FC68A5-EB54-9596-85EC-EDC1175B056F}"/>
                </a:ext>
              </a:extLst>
            </p:cNvPr>
            <p:cNvSpPr>
              <a:spLocks noGrp="1"/>
            </p:cNvSpPr>
            <p:nvPr/>
          </p:nvSpPr>
          <p:spPr>
            <a:xfrm>
              <a:off x="4097500" y="7400629"/>
              <a:ext cx="88583" cy="70009"/>
            </a:xfrm>
            <a:prstGeom prst="rect">
              <a:avLst/>
            </a:prstGeom>
            <a:solidFill>
              <a:srgbClr val="D6E5ED"/>
            </a:solidFill>
            <a:ln w="7290">
              <a:noFill/>
            </a:ln>
          </p:spPr>
        </p:sp>
        <p:sp>
          <p:nvSpPr>
            <p:cNvPr id="1307" name="Match matrix 2-6">
              <a:extLst>
                <a:ext uri="{FF2B5EF4-FFF2-40B4-BE49-F238E27FC236}">
                  <a16:creationId xmlns:a16="http://schemas.microsoft.com/office/drawing/2014/main" id="{59C9C8C5-D90A-7A02-93D3-957FE3AE7DC3}"/>
                </a:ext>
              </a:extLst>
            </p:cNvPr>
            <p:cNvSpPr>
              <a:spLocks noGrp="1"/>
            </p:cNvSpPr>
            <p:nvPr/>
          </p:nvSpPr>
          <p:spPr>
            <a:xfrm>
              <a:off x="4190369" y="7400629"/>
              <a:ext cx="88583" cy="70009"/>
            </a:xfrm>
            <a:prstGeom prst="rect">
              <a:avLst/>
            </a:prstGeom>
            <a:solidFill>
              <a:srgbClr val="88BEC3"/>
            </a:solidFill>
            <a:ln w="7290">
              <a:noFill/>
            </a:ln>
          </p:spPr>
        </p:sp>
        <p:sp>
          <p:nvSpPr>
            <p:cNvPr id="1308" name="Match matrix 2-7">
              <a:extLst>
                <a:ext uri="{FF2B5EF4-FFF2-40B4-BE49-F238E27FC236}">
                  <a16:creationId xmlns:a16="http://schemas.microsoft.com/office/drawing/2014/main" id="{83DFB888-0521-0863-270C-DBAF169C149A}"/>
                </a:ext>
              </a:extLst>
            </p:cNvPr>
            <p:cNvSpPr>
              <a:spLocks noGrp="1"/>
            </p:cNvSpPr>
            <p:nvPr/>
          </p:nvSpPr>
          <p:spPr>
            <a:xfrm>
              <a:off x="4283237" y="7400629"/>
              <a:ext cx="88583" cy="70009"/>
            </a:xfrm>
            <a:prstGeom prst="rect">
              <a:avLst/>
            </a:prstGeom>
            <a:solidFill>
              <a:srgbClr val="A3CDDA"/>
            </a:solidFill>
            <a:ln w="7290">
              <a:noFill/>
            </a:ln>
          </p:spPr>
        </p:sp>
        <p:sp>
          <p:nvSpPr>
            <p:cNvPr id="1309" name="Match matrix 3-0">
              <a:extLst>
                <a:ext uri="{FF2B5EF4-FFF2-40B4-BE49-F238E27FC236}">
                  <a16:creationId xmlns:a16="http://schemas.microsoft.com/office/drawing/2014/main" id="{CDAE8F1E-742C-7BA1-EB00-87CA9B9E40A2}"/>
                </a:ext>
              </a:extLst>
            </p:cNvPr>
            <p:cNvSpPr>
              <a:spLocks noGrp="1"/>
            </p:cNvSpPr>
            <p:nvPr/>
          </p:nvSpPr>
          <p:spPr>
            <a:xfrm>
              <a:off x="3633156" y="7474924"/>
              <a:ext cx="88583" cy="70009"/>
            </a:xfrm>
            <a:prstGeom prst="rect">
              <a:avLst/>
            </a:prstGeom>
            <a:solidFill>
              <a:srgbClr val="88BEC3"/>
            </a:solidFill>
            <a:ln w="7290">
              <a:noFill/>
            </a:ln>
          </p:spPr>
        </p:sp>
        <p:sp>
          <p:nvSpPr>
            <p:cNvPr id="1310" name="Match matrix 3-1">
              <a:extLst>
                <a:ext uri="{FF2B5EF4-FFF2-40B4-BE49-F238E27FC236}">
                  <a16:creationId xmlns:a16="http://schemas.microsoft.com/office/drawing/2014/main" id="{74117986-6240-D77F-909C-522F6146D289}"/>
                </a:ext>
              </a:extLst>
            </p:cNvPr>
            <p:cNvSpPr>
              <a:spLocks noGrp="1"/>
            </p:cNvSpPr>
            <p:nvPr/>
          </p:nvSpPr>
          <p:spPr>
            <a:xfrm>
              <a:off x="3726025" y="7474924"/>
              <a:ext cx="88583" cy="70009"/>
            </a:xfrm>
            <a:prstGeom prst="rect">
              <a:avLst/>
            </a:prstGeom>
            <a:solidFill>
              <a:srgbClr val="D6E5ED"/>
            </a:solidFill>
            <a:ln w="7290">
              <a:noFill/>
            </a:ln>
          </p:spPr>
        </p:sp>
        <p:sp>
          <p:nvSpPr>
            <p:cNvPr id="1311" name="Match matrix 3-2">
              <a:extLst>
                <a:ext uri="{FF2B5EF4-FFF2-40B4-BE49-F238E27FC236}">
                  <a16:creationId xmlns:a16="http://schemas.microsoft.com/office/drawing/2014/main" id="{68BD8A38-75EC-BA37-589D-F9C3EBE804E8}"/>
                </a:ext>
              </a:extLst>
            </p:cNvPr>
            <p:cNvSpPr>
              <a:spLocks noGrp="1"/>
            </p:cNvSpPr>
            <p:nvPr/>
          </p:nvSpPr>
          <p:spPr>
            <a:xfrm>
              <a:off x="3818894" y="7474924"/>
              <a:ext cx="88583" cy="70009"/>
            </a:xfrm>
            <a:prstGeom prst="rect">
              <a:avLst/>
            </a:prstGeom>
            <a:solidFill>
              <a:srgbClr val="67AD9F"/>
            </a:solidFill>
            <a:ln w="7290">
              <a:noFill/>
            </a:ln>
          </p:spPr>
        </p:sp>
        <p:sp>
          <p:nvSpPr>
            <p:cNvPr id="1312" name="Match matrix 3-3">
              <a:extLst>
                <a:ext uri="{FF2B5EF4-FFF2-40B4-BE49-F238E27FC236}">
                  <a16:creationId xmlns:a16="http://schemas.microsoft.com/office/drawing/2014/main" id="{BA2E6B5A-7074-DCD3-8646-836425ECA4E6}"/>
                </a:ext>
              </a:extLst>
            </p:cNvPr>
            <p:cNvSpPr>
              <a:spLocks noGrp="1"/>
            </p:cNvSpPr>
            <p:nvPr/>
          </p:nvSpPr>
          <p:spPr>
            <a:xfrm>
              <a:off x="3911762" y="7474924"/>
              <a:ext cx="88583" cy="70009"/>
            </a:xfrm>
            <a:prstGeom prst="rect">
              <a:avLst/>
            </a:prstGeom>
            <a:solidFill>
              <a:srgbClr val="3E8F9A"/>
            </a:solidFill>
            <a:ln w="7290">
              <a:noFill/>
            </a:ln>
          </p:spPr>
        </p:sp>
        <p:sp>
          <p:nvSpPr>
            <p:cNvPr id="1313" name="Match matrix 3-4">
              <a:extLst>
                <a:ext uri="{FF2B5EF4-FFF2-40B4-BE49-F238E27FC236}">
                  <a16:creationId xmlns:a16="http://schemas.microsoft.com/office/drawing/2014/main" id="{E2B9FFDB-87E6-991D-6FE1-3A8ED7934F53}"/>
                </a:ext>
              </a:extLst>
            </p:cNvPr>
            <p:cNvSpPr>
              <a:spLocks noGrp="1"/>
            </p:cNvSpPr>
            <p:nvPr/>
          </p:nvSpPr>
          <p:spPr>
            <a:xfrm>
              <a:off x="4004631" y="7474924"/>
              <a:ext cx="88583" cy="70009"/>
            </a:xfrm>
            <a:prstGeom prst="rect">
              <a:avLst/>
            </a:prstGeom>
            <a:solidFill>
              <a:srgbClr val="C4DDE0"/>
            </a:solidFill>
            <a:ln w="7290">
              <a:noFill/>
            </a:ln>
          </p:spPr>
        </p:sp>
        <p:sp>
          <p:nvSpPr>
            <p:cNvPr id="1314" name="Match matrix 3-5">
              <a:extLst>
                <a:ext uri="{FF2B5EF4-FFF2-40B4-BE49-F238E27FC236}">
                  <a16:creationId xmlns:a16="http://schemas.microsoft.com/office/drawing/2014/main" id="{93BBAAA9-24B8-1E29-A6DC-8B4D096073B5}"/>
                </a:ext>
              </a:extLst>
            </p:cNvPr>
            <p:cNvSpPr>
              <a:spLocks noGrp="1"/>
            </p:cNvSpPr>
            <p:nvPr/>
          </p:nvSpPr>
          <p:spPr>
            <a:xfrm>
              <a:off x="4097500" y="7474924"/>
              <a:ext cx="88583" cy="70009"/>
            </a:xfrm>
            <a:prstGeom prst="rect">
              <a:avLst/>
            </a:prstGeom>
            <a:solidFill>
              <a:srgbClr val="A3CDDA"/>
            </a:solidFill>
            <a:ln w="7290">
              <a:noFill/>
            </a:ln>
          </p:spPr>
        </p:sp>
        <p:sp>
          <p:nvSpPr>
            <p:cNvPr id="1315" name="Match matrix 3-6">
              <a:extLst>
                <a:ext uri="{FF2B5EF4-FFF2-40B4-BE49-F238E27FC236}">
                  <a16:creationId xmlns:a16="http://schemas.microsoft.com/office/drawing/2014/main" id="{68A528E6-65EA-9C73-7412-55AD6CD16CE8}"/>
                </a:ext>
              </a:extLst>
            </p:cNvPr>
            <p:cNvSpPr>
              <a:spLocks noGrp="1"/>
            </p:cNvSpPr>
            <p:nvPr/>
          </p:nvSpPr>
          <p:spPr>
            <a:xfrm>
              <a:off x="4190369" y="7474924"/>
              <a:ext cx="88583" cy="70009"/>
            </a:xfrm>
            <a:prstGeom prst="rect">
              <a:avLst/>
            </a:prstGeom>
            <a:solidFill>
              <a:srgbClr val="B6D8CC"/>
            </a:solidFill>
            <a:ln w="7290">
              <a:noFill/>
            </a:ln>
          </p:spPr>
        </p:sp>
        <p:sp>
          <p:nvSpPr>
            <p:cNvPr id="1316" name="Match matrix 3-7">
              <a:extLst>
                <a:ext uri="{FF2B5EF4-FFF2-40B4-BE49-F238E27FC236}">
                  <a16:creationId xmlns:a16="http://schemas.microsoft.com/office/drawing/2014/main" id="{2EEE91B3-D81D-6257-AECC-400C8A929123}"/>
                </a:ext>
              </a:extLst>
            </p:cNvPr>
            <p:cNvSpPr>
              <a:spLocks noGrp="1"/>
            </p:cNvSpPr>
            <p:nvPr/>
          </p:nvSpPr>
          <p:spPr>
            <a:xfrm>
              <a:off x="4283237" y="7474924"/>
              <a:ext cx="88583" cy="70009"/>
            </a:xfrm>
            <a:prstGeom prst="rect">
              <a:avLst/>
            </a:prstGeom>
            <a:solidFill>
              <a:srgbClr val="5B9FB6"/>
            </a:solidFill>
            <a:ln w="7290">
              <a:noFill/>
            </a:ln>
          </p:spPr>
        </p:sp>
        <p:sp>
          <p:nvSpPr>
            <p:cNvPr id="1318" name="SMILES continuation 806-628.2">
              <a:extLst>
                <a:ext uri="{FF2B5EF4-FFF2-40B4-BE49-F238E27FC236}">
                  <a16:creationId xmlns:a16="http://schemas.microsoft.com/office/drawing/2014/main" id="{F23A2C65-E88A-BB4F-DB2B-F6BDFE0A90A0}"/>
                </a:ext>
              </a:extLst>
            </p:cNvPr>
            <p:cNvSpPr>
              <a:spLocks noGrp="1"/>
            </p:cNvSpPr>
            <p:nvPr/>
          </p:nvSpPr>
          <p:spPr>
            <a:xfrm>
              <a:off x="8110676" y="5974080"/>
              <a:ext cx="19050" cy="19050"/>
            </a:xfrm>
            <a:prstGeom prst="ellipse">
              <a:avLst/>
            </a:prstGeom>
            <a:solidFill>
              <a:srgbClr val="71808C"/>
            </a:solidFill>
            <a:ln w="0">
              <a:noFill/>
            </a:ln>
          </p:spPr>
        </p:sp>
        <p:sp>
          <p:nvSpPr>
            <p:cNvPr id="1319" name="SMILES continuation 812-628.2">
              <a:extLst>
                <a:ext uri="{FF2B5EF4-FFF2-40B4-BE49-F238E27FC236}">
                  <a16:creationId xmlns:a16="http://schemas.microsoft.com/office/drawing/2014/main" id="{3B989565-3BAD-D4AD-9254-F92A9CA55F5F}"/>
                </a:ext>
              </a:extLst>
            </p:cNvPr>
            <p:cNvSpPr>
              <a:spLocks noGrp="1"/>
            </p:cNvSpPr>
            <p:nvPr/>
          </p:nvSpPr>
          <p:spPr>
            <a:xfrm>
              <a:off x="8167826" y="5974080"/>
              <a:ext cx="19050" cy="19050"/>
            </a:xfrm>
            <a:prstGeom prst="ellipse">
              <a:avLst/>
            </a:prstGeom>
            <a:solidFill>
              <a:srgbClr val="71808C"/>
            </a:solidFill>
            <a:ln w="0">
              <a:noFill/>
            </a:ln>
          </p:spPr>
        </p:sp>
        <p:sp>
          <p:nvSpPr>
            <p:cNvPr id="1320" name="SMILES continuation 818-628.2">
              <a:extLst>
                <a:ext uri="{FF2B5EF4-FFF2-40B4-BE49-F238E27FC236}">
                  <a16:creationId xmlns:a16="http://schemas.microsoft.com/office/drawing/2014/main" id="{42B8B6C2-B43E-383F-14DE-C418D4494332}"/>
                </a:ext>
              </a:extLst>
            </p:cNvPr>
            <p:cNvSpPr>
              <a:spLocks noGrp="1"/>
            </p:cNvSpPr>
            <p:nvPr/>
          </p:nvSpPr>
          <p:spPr>
            <a:xfrm>
              <a:off x="8224976" y="5974080"/>
              <a:ext cx="19050" cy="19050"/>
            </a:xfrm>
            <a:prstGeom prst="ellipse">
              <a:avLst/>
            </a:prstGeom>
            <a:solidFill>
              <a:srgbClr val="71808C"/>
            </a:solidFill>
            <a:ln w="0">
              <a:noFill/>
            </a:ln>
          </p:spPr>
        </p:sp>
        <p:sp>
          <p:nvSpPr>
            <p:cNvPr id="1321" name="SMILES continuation 806-667">
              <a:extLst>
                <a:ext uri="{FF2B5EF4-FFF2-40B4-BE49-F238E27FC236}">
                  <a16:creationId xmlns:a16="http://schemas.microsoft.com/office/drawing/2014/main" id="{39894408-4EFC-1123-4D43-5E7226F5F0C0}"/>
                </a:ext>
              </a:extLst>
            </p:cNvPr>
            <p:cNvSpPr>
              <a:spLocks noGrp="1"/>
            </p:cNvSpPr>
            <p:nvPr/>
          </p:nvSpPr>
          <p:spPr>
            <a:xfrm>
              <a:off x="8110676" y="6343650"/>
              <a:ext cx="19050" cy="19050"/>
            </a:xfrm>
            <a:prstGeom prst="ellipse">
              <a:avLst/>
            </a:prstGeom>
            <a:solidFill>
              <a:srgbClr val="71808C"/>
            </a:solidFill>
            <a:ln w="0">
              <a:noFill/>
            </a:ln>
          </p:spPr>
        </p:sp>
        <p:sp>
          <p:nvSpPr>
            <p:cNvPr id="1322" name="SMILES continuation 812-667">
              <a:extLst>
                <a:ext uri="{FF2B5EF4-FFF2-40B4-BE49-F238E27FC236}">
                  <a16:creationId xmlns:a16="http://schemas.microsoft.com/office/drawing/2014/main" id="{B15788D5-8154-0220-0ADD-B84E221B0B6F}"/>
                </a:ext>
              </a:extLst>
            </p:cNvPr>
            <p:cNvSpPr>
              <a:spLocks noGrp="1"/>
            </p:cNvSpPr>
            <p:nvPr/>
          </p:nvSpPr>
          <p:spPr>
            <a:xfrm>
              <a:off x="8167826" y="6343650"/>
              <a:ext cx="19050" cy="19050"/>
            </a:xfrm>
            <a:prstGeom prst="ellipse">
              <a:avLst/>
            </a:prstGeom>
            <a:solidFill>
              <a:srgbClr val="71808C"/>
            </a:solidFill>
            <a:ln w="0">
              <a:noFill/>
            </a:ln>
          </p:spPr>
        </p:sp>
        <p:sp>
          <p:nvSpPr>
            <p:cNvPr id="1323" name="SMILES continuation 818-667">
              <a:extLst>
                <a:ext uri="{FF2B5EF4-FFF2-40B4-BE49-F238E27FC236}">
                  <a16:creationId xmlns:a16="http://schemas.microsoft.com/office/drawing/2014/main" id="{06FB727B-1C36-BDAC-BF90-119F79F57919}"/>
                </a:ext>
              </a:extLst>
            </p:cNvPr>
            <p:cNvSpPr>
              <a:spLocks noGrp="1"/>
            </p:cNvSpPr>
            <p:nvPr/>
          </p:nvSpPr>
          <p:spPr>
            <a:xfrm>
              <a:off x="8224976" y="6343650"/>
              <a:ext cx="19050" cy="19050"/>
            </a:xfrm>
            <a:prstGeom prst="ellipse">
              <a:avLst/>
            </a:prstGeom>
            <a:solidFill>
              <a:srgbClr val="71808C"/>
            </a:solidFill>
            <a:ln w="0">
              <a:noFill/>
            </a:ln>
          </p:spPr>
        </p:sp>
        <p:sp>
          <p:nvSpPr>
            <p:cNvPr id="1324" name="Find density input">
              <a:extLst>
                <a:ext uri="{FF2B5EF4-FFF2-40B4-BE49-F238E27FC236}">
                  <a16:creationId xmlns:a16="http://schemas.microsoft.com/office/drawing/2014/main" id="{3BB3F16C-BBC6-CEA5-1D5F-BADEC13D0E07}"/>
                </a:ext>
              </a:extLst>
            </p:cNvPr>
            <p:cNvSpPr>
              <a:spLocks noGrp="1"/>
            </p:cNvSpPr>
            <p:nvPr/>
          </p:nvSpPr>
          <p:spPr>
            <a:xfrm flipV="1">
              <a:off x="2405391" y="1410958"/>
              <a:ext cx="692378" cy="107521"/>
            </a:xfrm>
            <a:custGeom>
              <a:avLst/>
              <a:gdLst/>
              <a:ahLst/>
              <a:cxnLst/>
              <a:rect l="0" t="0" r="0" b="0"/>
              <a:pathLst>
                <a:path w="125540" h="191">
                  <a:moveTo>
                    <a:pt x="0" y="0"/>
                  </a:moveTo>
                  <a:lnTo>
                    <a:pt x="125540" y="0"/>
                  </a:lnTo>
                </a:path>
              </a:pathLst>
            </a:custGeom>
            <a:noFill/>
            <a:ln w="8505">
              <a:solidFill>
                <a:srgbClr val="4083B4"/>
              </a:solidFill>
              <a:prstDash val="solid"/>
            </a:ln>
          </p:spPr>
        </p:sp>
        <p:sp>
          <p:nvSpPr>
            <p:cNvPr id="1325" name="Find density input head">
              <a:extLst>
                <a:ext uri="{FF2B5EF4-FFF2-40B4-BE49-F238E27FC236}">
                  <a16:creationId xmlns:a16="http://schemas.microsoft.com/office/drawing/2014/main" id="{DD01582E-D72F-DC2A-ED51-209065AB4BE2}"/>
                </a:ext>
              </a:extLst>
            </p:cNvPr>
            <p:cNvSpPr>
              <a:spLocks noGrp="1"/>
            </p:cNvSpPr>
            <p:nvPr/>
          </p:nvSpPr>
          <p:spPr>
            <a:xfrm>
              <a:off x="3052858" y="1489808"/>
              <a:ext cx="66676" cy="57339"/>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28" name="Find receptor input">
              <a:extLst>
                <a:ext uri="{FF2B5EF4-FFF2-40B4-BE49-F238E27FC236}">
                  <a16:creationId xmlns:a16="http://schemas.microsoft.com/office/drawing/2014/main" id="{8835B13D-A150-D32A-EA5F-DF6B94803636}"/>
                </a:ext>
              </a:extLst>
            </p:cNvPr>
            <p:cNvSpPr>
              <a:spLocks noGrp="1"/>
            </p:cNvSpPr>
            <p:nvPr/>
          </p:nvSpPr>
          <p:spPr>
            <a:xfrm>
              <a:off x="2405391" y="3260557"/>
              <a:ext cx="692378" cy="107521"/>
            </a:xfrm>
            <a:custGeom>
              <a:avLst/>
              <a:gdLst/>
              <a:ahLst/>
              <a:cxnLst/>
              <a:rect l="0" t="0" r="0" b="0"/>
              <a:pathLst>
                <a:path w="125540" h="191">
                  <a:moveTo>
                    <a:pt x="0" y="0"/>
                  </a:moveTo>
                  <a:lnTo>
                    <a:pt x="125540" y="0"/>
                  </a:lnTo>
                </a:path>
              </a:pathLst>
            </a:custGeom>
            <a:solidFill>
              <a:srgbClr val="4083B4"/>
            </a:solidFill>
            <a:ln w="8505">
              <a:solidFill>
                <a:srgbClr val="4083B4"/>
              </a:solidFill>
              <a:prstDash val="solid"/>
            </a:ln>
          </p:spPr>
        </p:sp>
        <p:sp>
          <p:nvSpPr>
            <p:cNvPr id="1329" name="Find receptor input head">
              <a:extLst>
                <a:ext uri="{FF2B5EF4-FFF2-40B4-BE49-F238E27FC236}">
                  <a16:creationId xmlns:a16="http://schemas.microsoft.com/office/drawing/2014/main" id="{A5463DF5-F357-C133-4537-3687854104BD}"/>
                </a:ext>
              </a:extLst>
            </p:cNvPr>
            <p:cNvSpPr>
              <a:spLocks noGrp="1"/>
            </p:cNvSpPr>
            <p:nvPr/>
          </p:nvSpPr>
          <p:spPr>
            <a:xfrm>
              <a:off x="3052858" y="3231886"/>
              <a:ext cx="66676" cy="57339"/>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32" name="Find voxel output">
              <a:extLst>
                <a:ext uri="{FF2B5EF4-FFF2-40B4-BE49-F238E27FC236}">
                  <a16:creationId xmlns:a16="http://schemas.microsoft.com/office/drawing/2014/main" id="{A7A050F5-4BBD-83D0-3E56-868138C02A2E}"/>
                </a:ext>
              </a:extLst>
            </p:cNvPr>
            <p:cNvSpPr>
              <a:spLocks noGrp="1"/>
            </p:cNvSpPr>
            <p:nvPr/>
          </p:nvSpPr>
          <p:spPr>
            <a:xfrm>
              <a:off x="9680238" y="1544003"/>
              <a:ext cx="409314" cy="191"/>
            </a:xfrm>
            <a:custGeom>
              <a:avLst/>
              <a:gdLst/>
              <a:ahLst/>
              <a:cxnLst/>
              <a:rect l="0" t="0" r="0" b="0"/>
              <a:pathLst>
                <a:path w="252508" h="191">
                  <a:moveTo>
                    <a:pt x="0" y="0"/>
                  </a:moveTo>
                  <a:lnTo>
                    <a:pt x="252508" y="0"/>
                  </a:lnTo>
                </a:path>
              </a:pathLst>
            </a:custGeom>
            <a:noFill/>
            <a:ln w="8505">
              <a:solidFill>
                <a:srgbClr val="4083B4"/>
              </a:solidFill>
              <a:prstDash val="solid"/>
            </a:ln>
          </p:spPr>
        </p:sp>
        <p:sp>
          <p:nvSpPr>
            <p:cNvPr id="1333" name="Find voxel output head">
              <a:extLst>
                <a:ext uri="{FF2B5EF4-FFF2-40B4-BE49-F238E27FC236}">
                  <a16:creationId xmlns:a16="http://schemas.microsoft.com/office/drawing/2014/main" id="{375132D2-B1BA-3819-E6E4-408E45D3577A}"/>
                </a:ext>
              </a:extLst>
            </p:cNvPr>
            <p:cNvSpPr>
              <a:spLocks noGrp="1"/>
            </p:cNvSpPr>
            <p:nvPr/>
          </p:nvSpPr>
          <p:spPr>
            <a:xfrm>
              <a:off x="10046213" y="1515332"/>
              <a:ext cx="66675" cy="57340"/>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34" name="Find point output">
              <a:extLst>
                <a:ext uri="{FF2B5EF4-FFF2-40B4-BE49-F238E27FC236}">
                  <a16:creationId xmlns:a16="http://schemas.microsoft.com/office/drawing/2014/main" id="{E2AB92F8-FB1A-DF4D-C056-6A909BEA2DE1}"/>
                </a:ext>
              </a:extLst>
            </p:cNvPr>
            <p:cNvSpPr>
              <a:spLocks noGrp="1"/>
            </p:cNvSpPr>
            <p:nvPr/>
          </p:nvSpPr>
          <p:spPr>
            <a:xfrm>
              <a:off x="9680238" y="3107055"/>
              <a:ext cx="409314" cy="191"/>
            </a:xfrm>
            <a:custGeom>
              <a:avLst/>
              <a:gdLst/>
              <a:ahLst/>
              <a:cxnLst/>
              <a:rect l="0" t="0" r="0" b="0"/>
              <a:pathLst>
                <a:path w="252508" h="191">
                  <a:moveTo>
                    <a:pt x="0" y="0"/>
                  </a:moveTo>
                  <a:lnTo>
                    <a:pt x="252508" y="0"/>
                  </a:lnTo>
                </a:path>
              </a:pathLst>
            </a:custGeom>
            <a:noFill/>
            <a:ln w="8505">
              <a:solidFill>
                <a:srgbClr val="4083B4"/>
              </a:solidFill>
              <a:prstDash val="solid"/>
            </a:ln>
          </p:spPr>
        </p:sp>
        <p:sp>
          <p:nvSpPr>
            <p:cNvPr id="1335" name="Find point output head">
              <a:extLst>
                <a:ext uri="{FF2B5EF4-FFF2-40B4-BE49-F238E27FC236}">
                  <a16:creationId xmlns:a16="http://schemas.microsoft.com/office/drawing/2014/main" id="{28B06725-C3FB-3373-8A56-A66D9CE3ECA7}"/>
                </a:ext>
              </a:extLst>
            </p:cNvPr>
            <p:cNvSpPr>
              <a:spLocks noGrp="1"/>
            </p:cNvSpPr>
            <p:nvPr/>
          </p:nvSpPr>
          <p:spPr>
            <a:xfrm>
              <a:off x="10046213" y="3078385"/>
              <a:ext cx="66675" cy="57340"/>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36" name="U-Net flow refined 1">
              <a:extLst>
                <a:ext uri="{FF2B5EF4-FFF2-40B4-BE49-F238E27FC236}">
                  <a16:creationId xmlns:a16="http://schemas.microsoft.com/office/drawing/2014/main" id="{5BDE2ECB-1CBA-ACB1-3426-F3E9F144A8A7}"/>
                </a:ext>
              </a:extLst>
            </p:cNvPr>
            <p:cNvSpPr>
              <a:spLocks noGrp="1"/>
            </p:cNvSpPr>
            <p:nvPr/>
          </p:nvSpPr>
          <p:spPr>
            <a:xfrm>
              <a:off x="5329408" y="1943100"/>
              <a:ext cx="71390" cy="191"/>
            </a:xfrm>
            <a:custGeom>
              <a:avLst/>
              <a:gdLst/>
              <a:ahLst/>
              <a:cxnLst/>
              <a:rect l="0" t="0" r="0" b="0"/>
              <a:pathLst>
                <a:path w="71390" h="191">
                  <a:moveTo>
                    <a:pt x="0" y="0"/>
                  </a:moveTo>
                  <a:lnTo>
                    <a:pt x="71390" y="0"/>
                  </a:lnTo>
                </a:path>
              </a:pathLst>
            </a:custGeom>
            <a:noFill/>
            <a:ln w="6480">
              <a:solidFill>
                <a:srgbClr val="4083B4"/>
              </a:solidFill>
              <a:prstDash val="solid"/>
            </a:ln>
          </p:spPr>
        </p:sp>
        <p:sp>
          <p:nvSpPr>
            <p:cNvPr id="1337" name="U-Net flow refined 1 head">
              <a:extLst>
                <a:ext uri="{FF2B5EF4-FFF2-40B4-BE49-F238E27FC236}">
                  <a16:creationId xmlns:a16="http://schemas.microsoft.com/office/drawing/2014/main" id="{94C963B0-6292-D96E-8000-E5176CACF1B1}"/>
                </a:ext>
              </a:extLst>
            </p:cNvPr>
            <p:cNvSpPr>
              <a:spLocks noGrp="1"/>
            </p:cNvSpPr>
            <p:nvPr/>
          </p:nvSpPr>
          <p:spPr>
            <a:xfrm>
              <a:off x="537417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38" name="U-Net flow refined 2">
              <a:extLst>
                <a:ext uri="{FF2B5EF4-FFF2-40B4-BE49-F238E27FC236}">
                  <a16:creationId xmlns:a16="http://schemas.microsoft.com/office/drawing/2014/main" id="{6EDFECDB-834F-45E8-C447-187E68499D36}"/>
                </a:ext>
              </a:extLst>
            </p:cNvPr>
            <p:cNvSpPr>
              <a:spLocks noGrp="1"/>
            </p:cNvSpPr>
            <p:nvPr/>
          </p:nvSpPr>
          <p:spPr>
            <a:xfrm>
              <a:off x="5786608" y="1943100"/>
              <a:ext cx="61865" cy="191"/>
            </a:xfrm>
            <a:custGeom>
              <a:avLst/>
              <a:gdLst/>
              <a:ahLst/>
              <a:cxnLst/>
              <a:rect l="0" t="0" r="0" b="0"/>
              <a:pathLst>
                <a:path w="61865" h="191">
                  <a:moveTo>
                    <a:pt x="0" y="0"/>
                  </a:moveTo>
                  <a:lnTo>
                    <a:pt x="61865" y="0"/>
                  </a:lnTo>
                </a:path>
              </a:pathLst>
            </a:custGeom>
            <a:noFill/>
            <a:ln w="6480">
              <a:solidFill>
                <a:srgbClr val="4083B4"/>
              </a:solidFill>
              <a:prstDash val="solid"/>
            </a:ln>
          </p:spPr>
        </p:sp>
        <p:sp>
          <p:nvSpPr>
            <p:cNvPr id="1339" name="U-Net flow refined 2 head">
              <a:extLst>
                <a:ext uri="{FF2B5EF4-FFF2-40B4-BE49-F238E27FC236}">
                  <a16:creationId xmlns:a16="http://schemas.microsoft.com/office/drawing/2014/main" id="{147D1FA6-05BE-3A5D-C1FE-78DB516DA9EB}"/>
                </a:ext>
              </a:extLst>
            </p:cNvPr>
            <p:cNvSpPr>
              <a:spLocks noGrp="1"/>
            </p:cNvSpPr>
            <p:nvPr/>
          </p:nvSpPr>
          <p:spPr>
            <a:xfrm>
              <a:off x="5821851"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0" name="U-Net flow refined 3">
              <a:extLst>
                <a:ext uri="{FF2B5EF4-FFF2-40B4-BE49-F238E27FC236}">
                  <a16:creationId xmlns:a16="http://schemas.microsoft.com/office/drawing/2014/main" id="{7AF7CF23-54DF-A29D-2F07-D36A3F45EDD2}"/>
                </a:ext>
              </a:extLst>
            </p:cNvPr>
            <p:cNvSpPr>
              <a:spLocks noGrp="1"/>
            </p:cNvSpPr>
            <p:nvPr/>
          </p:nvSpPr>
          <p:spPr>
            <a:xfrm>
              <a:off x="6358108" y="1943100"/>
              <a:ext cx="185690" cy="191"/>
            </a:xfrm>
            <a:custGeom>
              <a:avLst/>
              <a:gdLst/>
              <a:ahLst/>
              <a:cxnLst/>
              <a:rect l="0" t="0" r="0" b="0"/>
              <a:pathLst>
                <a:path w="185690" h="191">
                  <a:moveTo>
                    <a:pt x="0" y="0"/>
                  </a:moveTo>
                  <a:lnTo>
                    <a:pt x="185690" y="0"/>
                  </a:lnTo>
                </a:path>
              </a:pathLst>
            </a:custGeom>
            <a:noFill/>
            <a:ln w="6480">
              <a:solidFill>
                <a:srgbClr val="4083B4"/>
              </a:solidFill>
              <a:prstDash val="solid"/>
            </a:ln>
          </p:spPr>
        </p:sp>
        <p:sp>
          <p:nvSpPr>
            <p:cNvPr id="1341" name="U-Net flow refined 3 head">
              <a:extLst>
                <a:ext uri="{FF2B5EF4-FFF2-40B4-BE49-F238E27FC236}">
                  <a16:creationId xmlns:a16="http://schemas.microsoft.com/office/drawing/2014/main" id="{99F4C0B1-883D-15E1-DE1D-B9D0B602A47D}"/>
                </a:ext>
              </a:extLst>
            </p:cNvPr>
            <p:cNvSpPr>
              <a:spLocks noGrp="1"/>
            </p:cNvSpPr>
            <p:nvPr/>
          </p:nvSpPr>
          <p:spPr>
            <a:xfrm>
              <a:off x="651717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2" name="U-Net flow refined 4">
              <a:extLst>
                <a:ext uri="{FF2B5EF4-FFF2-40B4-BE49-F238E27FC236}">
                  <a16:creationId xmlns:a16="http://schemas.microsoft.com/office/drawing/2014/main" id="{1AB9AC41-CF99-6B25-72AE-CA5759E07BBC}"/>
                </a:ext>
              </a:extLst>
            </p:cNvPr>
            <p:cNvSpPr>
              <a:spLocks noGrp="1"/>
            </p:cNvSpPr>
            <p:nvPr/>
          </p:nvSpPr>
          <p:spPr>
            <a:xfrm>
              <a:off x="7634458" y="1943100"/>
              <a:ext cx="204740" cy="191"/>
            </a:xfrm>
            <a:custGeom>
              <a:avLst/>
              <a:gdLst/>
              <a:ahLst/>
              <a:cxnLst/>
              <a:rect l="0" t="0" r="0" b="0"/>
              <a:pathLst>
                <a:path w="204740" h="191">
                  <a:moveTo>
                    <a:pt x="0" y="0"/>
                  </a:moveTo>
                  <a:lnTo>
                    <a:pt x="204740" y="0"/>
                  </a:lnTo>
                </a:path>
              </a:pathLst>
            </a:custGeom>
            <a:noFill/>
            <a:ln w="6480">
              <a:solidFill>
                <a:srgbClr val="4083B4"/>
              </a:solidFill>
              <a:prstDash val="solid"/>
            </a:ln>
          </p:spPr>
        </p:sp>
        <p:sp>
          <p:nvSpPr>
            <p:cNvPr id="1343" name="U-Net flow refined 4 head">
              <a:extLst>
                <a:ext uri="{FF2B5EF4-FFF2-40B4-BE49-F238E27FC236}">
                  <a16:creationId xmlns:a16="http://schemas.microsoft.com/office/drawing/2014/main" id="{8B74AF9E-166C-456E-8C30-81819473FD65}"/>
                </a:ext>
              </a:extLst>
            </p:cNvPr>
            <p:cNvSpPr>
              <a:spLocks noGrp="1"/>
            </p:cNvSpPr>
            <p:nvPr/>
          </p:nvSpPr>
          <p:spPr>
            <a:xfrm>
              <a:off x="781257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4" name="U-Net flow refined 5">
              <a:extLst>
                <a:ext uri="{FF2B5EF4-FFF2-40B4-BE49-F238E27FC236}">
                  <a16:creationId xmlns:a16="http://schemas.microsoft.com/office/drawing/2014/main" id="{1DF9FEC8-127A-C6BF-A242-5459B8B47514}"/>
                </a:ext>
              </a:extLst>
            </p:cNvPr>
            <p:cNvSpPr>
              <a:spLocks noGrp="1"/>
            </p:cNvSpPr>
            <p:nvPr/>
          </p:nvSpPr>
          <p:spPr>
            <a:xfrm>
              <a:off x="8358358" y="1943100"/>
              <a:ext cx="71390" cy="191"/>
            </a:xfrm>
            <a:custGeom>
              <a:avLst/>
              <a:gdLst/>
              <a:ahLst/>
              <a:cxnLst/>
              <a:rect l="0" t="0" r="0" b="0"/>
              <a:pathLst>
                <a:path w="71390" h="191">
                  <a:moveTo>
                    <a:pt x="0" y="0"/>
                  </a:moveTo>
                  <a:lnTo>
                    <a:pt x="71390" y="0"/>
                  </a:lnTo>
                </a:path>
              </a:pathLst>
            </a:custGeom>
            <a:noFill/>
            <a:ln w="6480">
              <a:solidFill>
                <a:srgbClr val="4083B4"/>
              </a:solidFill>
              <a:prstDash val="solid"/>
            </a:ln>
          </p:spPr>
        </p:sp>
        <p:sp>
          <p:nvSpPr>
            <p:cNvPr id="1345" name="U-Net flow refined 5 head">
              <a:extLst>
                <a:ext uri="{FF2B5EF4-FFF2-40B4-BE49-F238E27FC236}">
                  <a16:creationId xmlns:a16="http://schemas.microsoft.com/office/drawing/2014/main" id="{235A2EBC-75E8-8D72-4A9D-B691D888DD1B}"/>
                </a:ext>
              </a:extLst>
            </p:cNvPr>
            <p:cNvSpPr>
              <a:spLocks noGrp="1"/>
            </p:cNvSpPr>
            <p:nvPr/>
          </p:nvSpPr>
          <p:spPr>
            <a:xfrm>
              <a:off x="840312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6" name="U-Net flow refined 6">
              <a:extLst>
                <a:ext uri="{FF2B5EF4-FFF2-40B4-BE49-F238E27FC236}">
                  <a16:creationId xmlns:a16="http://schemas.microsoft.com/office/drawing/2014/main" id="{E16F5364-FA67-8E77-55DD-31048ACFB369}"/>
                </a:ext>
              </a:extLst>
            </p:cNvPr>
            <p:cNvSpPr>
              <a:spLocks noGrp="1"/>
            </p:cNvSpPr>
            <p:nvPr/>
          </p:nvSpPr>
          <p:spPr>
            <a:xfrm>
              <a:off x="8796508" y="1943100"/>
              <a:ext cx="90440" cy="191"/>
            </a:xfrm>
            <a:custGeom>
              <a:avLst/>
              <a:gdLst/>
              <a:ahLst/>
              <a:cxnLst/>
              <a:rect l="0" t="0" r="0" b="0"/>
              <a:pathLst>
                <a:path w="90440" h="191">
                  <a:moveTo>
                    <a:pt x="0" y="0"/>
                  </a:moveTo>
                  <a:lnTo>
                    <a:pt x="90440" y="0"/>
                  </a:lnTo>
                </a:path>
              </a:pathLst>
            </a:custGeom>
            <a:noFill/>
            <a:ln w="6480">
              <a:solidFill>
                <a:srgbClr val="4083B4"/>
              </a:solidFill>
              <a:prstDash val="solid"/>
            </a:ln>
          </p:spPr>
        </p:sp>
        <p:sp>
          <p:nvSpPr>
            <p:cNvPr id="1347" name="U-Net flow refined 6 head">
              <a:extLst>
                <a:ext uri="{FF2B5EF4-FFF2-40B4-BE49-F238E27FC236}">
                  <a16:creationId xmlns:a16="http://schemas.microsoft.com/office/drawing/2014/main" id="{CAB8405E-639F-441D-4076-97C5C8079141}"/>
                </a:ext>
              </a:extLst>
            </p:cNvPr>
            <p:cNvSpPr>
              <a:spLocks noGrp="1"/>
            </p:cNvSpPr>
            <p:nvPr/>
          </p:nvSpPr>
          <p:spPr>
            <a:xfrm>
              <a:off x="886032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8" name="Skip outer refined">
              <a:extLst>
                <a:ext uri="{FF2B5EF4-FFF2-40B4-BE49-F238E27FC236}">
                  <a16:creationId xmlns:a16="http://schemas.microsoft.com/office/drawing/2014/main" id="{FCEC7BC5-9C91-5A2D-286F-54CED1B58658}"/>
                </a:ext>
              </a:extLst>
            </p:cNvPr>
            <p:cNvSpPr>
              <a:spLocks noGrp="1"/>
            </p:cNvSpPr>
            <p:nvPr/>
          </p:nvSpPr>
          <p:spPr>
            <a:xfrm>
              <a:off x="4919833" y="1209675"/>
              <a:ext cx="4333875" cy="219075"/>
            </a:xfrm>
            <a:custGeom>
              <a:avLst/>
              <a:gdLst/>
              <a:ahLst/>
              <a:cxnLst/>
              <a:rect l="0" t="0" r="0" b="0"/>
              <a:pathLst>
                <a:path w="4333875" h="219075">
                  <a:moveTo>
                    <a:pt x="0" y="219075"/>
                  </a:moveTo>
                  <a:lnTo>
                    <a:pt x="0" y="0"/>
                  </a:lnTo>
                  <a:lnTo>
                    <a:pt x="4333875" y="0"/>
                  </a:lnTo>
                  <a:lnTo>
                    <a:pt x="4333875" y="204073"/>
                  </a:lnTo>
                </a:path>
              </a:pathLst>
            </a:custGeom>
            <a:noFill/>
            <a:ln w="5468">
              <a:solidFill>
                <a:srgbClr val="85AFCB"/>
              </a:solidFill>
              <a:prstDash val="dash"/>
            </a:ln>
          </p:spPr>
        </p:sp>
        <p:sp>
          <p:nvSpPr>
            <p:cNvPr id="1349" name="Skip outer refined head">
              <a:extLst>
                <a:ext uri="{FF2B5EF4-FFF2-40B4-BE49-F238E27FC236}">
                  <a16:creationId xmlns:a16="http://schemas.microsoft.com/office/drawing/2014/main" id="{D6AAD354-1253-F73A-1F09-0D42951F0AD2}"/>
                </a:ext>
              </a:extLst>
            </p:cNvPr>
            <p:cNvSpPr>
              <a:spLocks noGrp="1"/>
            </p:cNvSpPr>
            <p:nvPr/>
          </p:nvSpPr>
          <p:spPr>
            <a:xfrm>
              <a:off x="9235277" y="1385888"/>
              <a:ext cx="36862" cy="42863"/>
            </a:xfrm>
            <a:custGeom>
              <a:avLst/>
              <a:gdLst/>
              <a:ahLst/>
              <a:cxnLst/>
              <a:rect l="0" t="0" r="0" b="0"/>
              <a:pathLst>
                <a:path w="36862" h="42863">
                  <a:moveTo>
                    <a:pt x="18431" y="42863"/>
                  </a:moveTo>
                  <a:lnTo>
                    <a:pt x="36862" y="0"/>
                  </a:lnTo>
                  <a:lnTo>
                    <a:pt x="0" y="0"/>
                  </a:lnTo>
                  <a:close/>
                </a:path>
              </a:pathLst>
            </a:custGeom>
            <a:solidFill>
              <a:srgbClr val="85AFCB"/>
            </a:solidFill>
            <a:ln w="0">
              <a:noFill/>
              <a:prstDash val="solid"/>
            </a:ln>
          </p:spPr>
        </p:sp>
        <p:sp>
          <p:nvSpPr>
            <p:cNvPr id="1350" name="Skip middle refined">
              <a:extLst>
                <a:ext uri="{FF2B5EF4-FFF2-40B4-BE49-F238E27FC236}">
                  <a16:creationId xmlns:a16="http://schemas.microsoft.com/office/drawing/2014/main" id="{E944DD48-0E77-62B4-4E66-FC482D648DB0}"/>
                </a:ext>
              </a:extLst>
            </p:cNvPr>
            <p:cNvSpPr>
              <a:spLocks noGrp="1"/>
            </p:cNvSpPr>
            <p:nvPr/>
          </p:nvSpPr>
          <p:spPr>
            <a:xfrm>
              <a:off x="5558008" y="1295400"/>
              <a:ext cx="3067050" cy="266700"/>
            </a:xfrm>
            <a:custGeom>
              <a:avLst/>
              <a:gdLst/>
              <a:ahLst/>
              <a:cxnLst/>
              <a:rect l="0" t="0" r="0" b="0"/>
              <a:pathLst>
                <a:path w="3067050" h="266700">
                  <a:moveTo>
                    <a:pt x="0" y="266700"/>
                  </a:moveTo>
                  <a:lnTo>
                    <a:pt x="0" y="0"/>
                  </a:lnTo>
                  <a:lnTo>
                    <a:pt x="3067050" y="0"/>
                  </a:lnTo>
                  <a:lnTo>
                    <a:pt x="3067050" y="251698"/>
                  </a:lnTo>
                </a:path>
              </a:pathLst>
            </a:custGeom>
            <a:noFill/>
            <a:ln w="5468">
              <a:solidFill>
                <a:srgbClr val="85AFCB"/>
              </a:solidFill>
              <a:prstDash val="dash"/>
            </a:ln>
          </p:spPr>
        </p:sp>
        <p:sp>
          <p:nvSpPr>
            <p:cNvPr id="1351" name="Skip middle refined head">
              <a:extLst>
                <a:ext uri="{FF2B5EF4-FFF2-40B4-BE49-F238E27FC236}">
                  <a16:creationId xmlns:a16="http://schemas.microsoft.com/office/drawing/2014/main" id="{5D984C66-44F4-6C0C-29FA-C26BCC014DA5}"/>
                </a:ext>
              </a:extLst>
            </p:cNvPr>
            <p:cNvSpPr>
              <a:spLocks noGrp="1"/>
            </p:cNvSpPr>
            <p:nvPr/>
          </p:nvSpPr>
          <p:spPr>
            <a:xfrm>
              <a:off x="8606627" y="1519238"/>
              <a:ext cx="36862" cy="42863"/>
            </a:xfrm>
            <a:custGeom>
              <a:avLst/>
              <a:gdLst/>
              <a:ahLst/>
              <a:cxnLst/>
              <a:rect l="0" t="0" r="0" b="0"/>
              <a:pathLst>
                <a:path w="36862" h="42863">
                  <a:moveTo>
                    <a:pt x="18431" y="42863"/>
                  </a:moveTo>
                  <a:lnTo>
                    <a:pt x="36862" y="0"/>
                  </a:lnTo>
                  <a:lnTo>
                    <a:pt x="0" y="0"/>
                  </a:lnTo>
                  <a:close/>
                </a:path>
              </a:pathLst>
            </a:custGeom>
            <a:solidFill>
              <a:srgbClr val="85AFCB"/>
            </a:solidFill>
            <a:ln w="0">
              <a:noFill/>
              <a:prstDash val="solid"/>
            </a:ln>
          </p:spPr>
        </p:sp>
        <p:sp>
          <p:nvSpPr>
            <p:cNvPr id="1352" name="Skip inner refined">
              <a:extLst>
                <a:ext uri="{FF2B5EF4-FFF2-40B4-BE49-F238E27FC236}">
                  <a16:creationId xmlns:a16="http://schemas.microsoft.com/office/drawing/2014/main" id="{796339B7-CA5C-9A6F-F626-7D7B76227D0E}"/>
                </a:ext>
              </a:extLst>
            </p:cNvPr>
            <p:cNvSpPr>
              <a:spLocks noGrp="1"/>
            </p:cNvSpPr>
            <p:nvPr/>
          </p:nvSpPr>
          <p:spPr>
            <a:xfrm>
              <a:off x="6081883" y="1381125"/>
              <a:ext cx="2000250" cy="323850"/>
            </a:xfrm>
            <a:custGeom>
              <a:avLst/>
              <a:gdLst/>
              <a:ahLst/>
              <a:cxnLst/>
              <a:rect l="0" t="0" r="0" b="0"/>
              <a:pathLst>
                <a:path w="2000250" h="323850">
                  <a:moveTo>
                    <a:pt x="0" y="323850"/>
                  </a:moveTo>
                  <a:lnTo>
                    <a:pt x="0" y="0"/>
                  </a:lnTo>
                  <a:lnTo>
                    <a:pt x="2000250" y="0"/>
                  </a:lnTo>
                  <a:lnTo>
                    <a:pt x="2000250" y="308848"/>
                  </a:lnTo>
                </a:path>
              </a:pathLst>
            </a:custGeom>
            <a:noFill/>
            <a:ln w="5468">
              <a:solidFill>
                <a:srgbClr val="85AFCB"/>
              </a:solidFill>
              <a:prstDash val="dash"/>
            </a:ln>
          </p:spPr>
        </p:sp>
        <p:sp>
          <p:nvSpPr>
            <p:cNvPr id="1353" name="Skip inner refined head">
              <a:extLst>
                <a:ext uri="{FF2B5EF4-FFF2-40B4-BE49-F238E27FC236}">
                  <a16:creationId xmlns:a16="http://schemas.microsoft.com/office/drawing/2014/main" id="{5389494F-4196-1B0C-C069-F40391B0419B}"/>
                </a:ext>
              </a:extLst>
            </p:cNvPr>
            <p:cNvSpPr>
              <a:spLocks noGrp="1"/>
            </p:cNvSpPr>
            <p:nvPr/>
          </p:nvSpPr>
          <p:spPr>
            <a:xfrm>
              <a:off x="8063702" y="1662113"/>
              <a:ext cx="36862" cy="42863"/>
            </a:xfrm>
            <a:custGeom>
              <a:avLst/>
              <a:gdLst/>
              <a:ahLst/>
              <a:cxnLst/>
              <a:rect l="0" t="0" r="0" b="0"/>
              <a:pathLst>
                <a:path w="36862" h="42863">
                  <a:moveTo>
                    <a:pt x="18431" y="42863"/>
                  </a:moveTo>
                  <a:lnTo>
                    <a:pt x="36862" y="0"/>
                  </a:lnTo>
                  <a:lnTo>
                    <a:pt x="0" y="0"/>
                  </a:lnTo>
                  <a:close/>
                </a:path>
              </a:pathLst>
            </a:custGeom>
            <a:solidFill>
              <a:srgbClr val="85AFCB"/>
            </a:solidFill>
            <a:ln w="0">
              <a:noFill/>
              <a:prstDash val="solid"/>
            </a:ln>
          </p:spPr>
        </p:sp>
        <p:sp>
          <p:nvSpPr>
            <p:cNvPr id="1354" name="PTV3 forward refined 1">
              <a:extLst>
                <a:ext uri="{FF2B5EF4-FFF2-40B4-BE49-F238E27FC236}">
                  <a16:creationId xmlns:a16="http://schemas.microsoft.com/office/drawing/2014/main" id="{B0492619-D665-D0F6-7061-EDCBCE3DDA3A}"/>
                </a:ext>
              </a:extLst>
            </p:cNvPr>
            <p:cNvSpPr>
              <a:spLocks noGrp="1"/>
            </p:cNvSpPr>
            <p:nvPr/>
          </p:nvSpPr>
          <p:spPr>
            <a:xfrm>
              <a:off x="5447899" y="3106769"/>
              <a:ext cx="255746" cy="191"/>
            </a:xfrm>
            <a:custGeom>
              <a:avLst/>
              <a:gdLst/>
              <a:ahLst/>
              <a:cxnLst/>
              <a:rect l="0" t="0" r="0" b="0"/>
              <a:pathLst>
                <a:path w="255746" h="191">
                  <a:moveTo>
                    <a:pt x="0" y="0"/>
                  </a:moveTo>
                  <a:lnTo>
                    <a:pt x="255746" y="0"/>
                  </a:lnTo>
                </a:path>
              </a:pathLst>
            </a:custGeom>
            <a:noFill/>
            <a:ln w="8505">
              <a:solidFill>
                <a:srgbClr val="4083B4"/>
              </a:solidFill>
              <a:prstDash val="solid"/>
            </a:ln>
          </p:spPr>
        </p:sp>
        <p:sp>
          <p:nvSpPr>
            <p:cNvPr id="1355" name="PTV3 forward refined 1 head">
              <a:extLst>
                <a:ext uri="{FF2B5EF4-FFF2-40B4-BE49-F238E27FC236}">
                  <a16:creationId xmlns:a16="http://schemas.microsoft.com/office/drawing/2014/main" id="{B7BCE76F-C831-1ABC-ADA2-90D7588CB987}"/>
                </a:ext>
              </a:extLst>
            </p:cNvPr>
            <p:cNvSpPr>
              <a:spLocks noGrp="1"/>
            </p:cNvSpPr>
            <p:nvPr/>
          </p:nvSpPr>
          <p:spPr>
            <a:xfrm>
              <a:off x="5660307" y="3078099"/>
              <a:ext cx="66675" cy="57340"/>
            </a:xfrm>
            <a:custGeom>
              <a:avLst/>
              <a:gdLst/>
              <a:ahLst/>
              <a:cxnLst/>
              <a:rect l="0" t="0" r="0" b="0"/>
              <a:pathLst>
                <a:path w="66675" h="57340">
                  <a:moveTo>
                    <a:pt x="66675" y="28670"/>
                  </a:moveTo>
                  <a:lnTo>
                    <a:pt x="0" y="0"/>
                  </a:lnTo>
                  <a:lnTo>
                    <a:pt x="0" y="57340"/>
                  </a:lnTo>
                  <a:close/>
                </a:path>
              </a:pathLst>
            </a:custGeom>
            <a:solidFill>
              <a:srgbClr val="4083B4"/>
            </a:solidFill>
            <a:ln w="0">
              <a:solidFill>
                <a:srgbClr val="4083B4"/>
              </a:solidFill>
              <a:prstDash val="solid"/>
            </a:ln>
          </p:spPr>
        </p:sp>
        <p:sp>
          <p:nvSpPr>
            <p:cNvPr id="1356" name="PTV3 forward refined 2">
              <a:extLst>
                <a:ext uri="{FF2B5EF4-FFF2-40B4-BE49-F238E27FC236}">
                  <a16:creationId xmlns:a16="http://schemas.microsoft.com/office/drawing/2014/main" id="{24AE15E3-3B2D-CC4A-618E-E9BB13DA2E16}"/>
                </a:ext>
              </a:extLst>
            </p:cNvPr>
            <p:cNvSpPr>
              <a:spLocks noGrp="1"/>
            </p:cNvSpPr>
            <p:nvPr/>
          </p:nvSpPr>
          <p:spPr>
            <a:xfrm>
              <a:off x="6452501" y="3106769"/>
              <a:ext cx="311563" cy="191"/>
            </a:xfrm>
            <a:custGeom>
              <a:avLst/>
              <a:gdLst/>
              <a:ahLst/>
              <a:cxnLst/>
              <a:rect l="0" t="0" r="0" b="0"/>
              <a:pathLst>
                <a:path w="311563" h="191">
                  <a:moveTo>
                    <a:pt x="0" y="0"/>
                  </a:moveTo>
                  <a:lnTo>
                    <a:pt x="311563" y="0"/>
                  </a:lnTo>
                </a:path>
              </a:pathLst>
            </a:custGeom>
            <a:noFill/>
            <a:ln w="8505">
              <a:solidFill>
                <a:srgbClr val="4083B4"/>
              </a:solidFill>
              <a:prstDash val="solid"/>
            </a:ln>
          </p:spPr>
        </p:sp>
        <p:sp>
          <p:nvSpPr>
            <p:cNvPr id="1357" name="PTV3 forward refined 2 head">
              <a:extLst>
                <a:ext uri="{FF2B5EF4-FFF2-40B4-BE49-F238E27FC236}">
                  <a16:creationId xmlns:a16="http://schemas.microsoft.com/office/drawing/2014/main" id="{8007E90B-E49B-BC36-45F6-E1B46BA41A6C}"/>
                </a:ext>
              </a:extLst>
            </p:cNvPr>
            <p:cNvSpPr>
              <a:spLocks noGrp="1"/>
            </p:cNvSpPr>
            <p:nvPr/>
          </p:nvSpPr>
          <p:spPr>
            <a:xfrm>
              <a:off x="6720725" y="3078099"/>
              <a:ext cx="66675" cy="57340"/>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58" name="PTV3 forward refined 3">
              <a:extLst>
                <a:ext uri="{FF2B5EF4-FFF2-40B4-BE49-F238E27FC236}">
                  <a16:creationId xmlns:a16="http://schemas.microsoft.com/office/drawing/2014/main" id="{2D087525-2ABD-3A01-10DA-7F65FB2DD09A}"/>
                </a:ext>
              </a:extLst>
            </p:cNvPr>
            <p:cNvSpPr>
              <a:spLocks noGrp="1"/>
            </p:cNvSpPr>
            <p:nvPr/>
          </p:nvSpPr>
          <p:spPr>
            <a:xfrm>
              <a:off x="7438529" y="3106769"/>
              <a:ext cx="311563" cy="191"/>
            </a:xfrm>
            <a:custGeom>
              <a:avLst/>
              <a:gdLst/>
              <a:ahLst/>
              <a:cxnLst/>
              <a:rect l="0" t="0" r="0" b="0"/>
              <a:pathLst>
                <a:path w="311563" h="191">
                  <a:moveTo>
                    <a:pt x="0" y="0"/>
                  </a:moveTo>
                  <a:lnTo>
                    <a:pt x="311563" y="0"/>
                  </a:lnTo>
                </a:path>
              </a:pathLst>
            </a:custGeom>
            <a:noFill/>
            <a:ln w="8505">
              <a:solidFill>
                <a:srgbClr val="4083B4"/>
              </a:solidFill>
              <a:prstDash val="solid"/>
            </a:ln>
          </p:spPr>
        </p:sp>
        <p:sp>
          <p:nvSpPr>
            <p:cNvPr id="1359" name="PTV3 forward refined 3 head">
              <a:extLst>
                <a:ext uri="{FF2B5EF4-FFF2-40B4-BE49-F238E27FC236}">
                  <a16:creationId xmlns:a16="http://schemas.microsoft.com/office/drawing/2014/main" id="{417DAC3E-DE7D-4EBD-83BF-06F7FB2A8085}"/>
                </a:ext>
              </a:extLst>
            </p:cNvPr>
            <p:cNvSpPr>
              <a:spLocks noGrp="1"/>
            </p:cNvSpPr>
            <p:nvPr/>
          </p:nvSpPr>
          <p:spPr>
            <a:xfrm>
              <a:off x="7706753" y="3078099"/>
              <a:ext cx="66675" cy="57340"/>
            </a:xfrm>
            <a:custGeom>
              <a:avLst/>
              <a:gdLst/>
              <a:ahLst/>
              <a:cxnLst/>
              <a:rect l="0" t="0" r="0" b="0"/>
              <a:pathLst>
                <a:path w="66675" h="57340">
                  <a:moveTo>
                    <a:pt x="66675" y="28670"/>
                  </a:moveTo>
                  <a:lnTo>
                    <a:pt x="0" y="0"/>
                  </a:lnTo>
                  <a:lnTo>
                    <a:pt x="0" y="57340"/>
                  </a:lnTo>
                  <a:close/>
                </a:path>
              </a:pathLst>
            </a:custGeom>
            <a:solidFill>
              <a:srgbClr val="4083B4"/>
            </a:solidFill>
            <a:ln w="0">
              <a:solidFill>
                <a:srgbClr val="4083B4"/>
              </a:solidFill>
              <a:prstDash val="solid"/>
            </a:ln>
          </p:spPr>
        </p:sp>
        <p:sp>
          <p:nvSpPr>
            <p:cNvPr id="1360" name="PTV3 forward refined 4">
              <a:extLst>
                <a:ext uri="{FF2B5EF4-FFF2-40B4-BE49-F238E27FC236}">
                  <a16:creationId xmlns:a16="http://schemas.microsoft.com/office/drawing/2014/main" id="{3F66A9B7-F35C-EB4C-B102-3F29A4296978}"/>
                </a:ext>
              </a:extLst>
            </p:cNvPr>
            <p:cNvSpPr>
              <a:spLocks noGrp="1"/>
            </p:cNvSpPr>
            <p:nvPr/>
          </p:nvSpPr>
          <p:spPr>
            <a:xfrm>
              <a:off x="8498852" y="3106769"/>
              <a:ext cx="255746" cy="191"/>
            </a:xfrm>
            <a:custGeom>
              <a:avLst/>
              <a:gdLst/>
              <a:ahLst/>
              <a:cxnLst/>
              <a:rect l="0" t="0" r="0" b="0"/>
              <a:pathLst>
                <a:path w="255746" h="191">
                  <a:moveTo>
                    <a:pt x="0" y="0"/>
                  </a:moveTo>
                  <a:lnTo>
                    <a:pt x="255746" y="0"/>
                  </a:lnTo>
                </a:path>
              </a:pathLst>
            </a:custGeom>
            <a:noFill/>
            <a:ln w="8505">
              <a:solidFill>
                <a:srgbClr val="4083B4"/>
              </a:solidFill>
              <a:prstDash val="solid"/>
            </a:ln>
          </p:spPr>
        </p:sp>
        <p:sp>
          <p:nvSpPr>
            <p:cNvPr id="1361" name="PTV3 forward refined 4 head">
              <a:extLst>
                <a:ext uri="{FF2B5EF4-FFF2-40B4-BE49-F238E27FC236}">
                  <a16:creationId xmlns:a16="http://schemas.microsoft.com/office/drawing/2014/main" id="{4634E7DB-F8E3-B989-4F8D-785672F195B4}"/>
                </a:ext>
              </a:extLst>
            </p:cNvPr>
            <p:cNvSpPr>
              <a:spLocks noGrp="1"/>
            </p:cNvSpPr>
            <p:nvPr/>
          </p:nvSpPr>
          <p:spPr>
            <a:xfrm>
              <a:off x="8711259" y="3078099"/>
              <a:ext cx="66675" cy="57340"/>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62" name="Fusion refined 487.16">
              <a:extLst>
                <a:ext uri="{FF2B5EF4-FFF2-40B4-BE49-F238E27FC236}">
                  <a16:creationId xmlns:a16="http://schemas.microsoft.com/office/drawing/2014/main" id="{0FF19FA3-F74F-0EF3-2637-6AA25406EF88}"/>
                </a:ext>
              </a:extLst>
            </p:cNvPr>
            <p:cNvSpPr>
              <a:spLocks noGrp="1"/>
            </p:cNvSpPr>
            <p:nvPr/>
          </p:nvSpPr>
          <p:spPr>
            <a:xfrm>
              <a:off x="5085187" y="2418493"/>
              <a:ext cx="191" cy="404527"/>
            </a:xfrm>
            <a:custGeom>
              <a:avLst/>
              <a:gdLst/>
              <a:ahLst/>
              <a:cxnLst/>
              <a:rect l="0" t="0" r="0" b="0"/>
              <a:pathLst>
                <a:path w="191" h="404527">
                  <a:moveTo>
                    <a:pt x="0" y="0"/>
                  </a:moveTo>
                  <a:lnTo>
                    <a:pt x="0" y="404527"/>
                  </a:lnTo>
                </a:path>
              </a:pathLst>
            </a:custGeom>
            <a:noFill/>
            <a:ln w="8505">
              <a:solidFill>
                <a:srgbClr val="4083B4"/>
              </a:solidFill>
              <a:prstDash val="solid"/>
            </a:ln>
          </p:spPr>
        </p:sp>
        <p:sp>
          <p:nvSpPr>
            <p:cNvPr id="1363" name="Fusion refined 487.16 head">
              <a:extLst>
                <a:ext uri="{FF2B5EF4-FFF2-40B4-BE49-F238E27FC236}">
                  <a16:creationId xmlns:a16="http://schemas.microsoft.com/office/drawing/2014/main" id="{3D13397A-1EED-4CCF-C88D-62A5EFCF622C}"/>
                </a:ext>
              </a:extLst>
            </p:cNvPr>
            <p:cNvSpPr>
              <a:spLocks noGrp="1"/>
            </p:cNvSpPr>
            <p:nvPr/>
          </p:nvSpPr>
          <p:spPr>
            <a:xfrm>
              <a:off x="5056517" y="2779681"/>
              <a:ext cx="57340" cy="66675"/>
            </a:xfrm>
            <a:custGeom>
              <a:avLst/>
              <a:gdLst/>
              <a:ahLst/>
              <a:cxnLst/>
              <a:rect l="0" t="0" r="0" b="0"/>
              <a:pathLst>
                <a:path w="57340" h="66675">
                  <a:moveTo>
                    <a:pt x="28670" y="66675"/>
                  </a:moveTo>
                  <a:lnTo>
                    <a:pt x="57340" y="0"/>
                  </a:lnTo>
                  <a:lnTo>
                    <a:pt x="0" y="0"/>
                  </a:lnTo>
                  <a:close/>
                </a:path>
              </a:pathLst>
            </a:custGeom>
            <a:solidFill>
              <a:srgbClr val="4083B4"/>
            </a:solidFill>
            <a:ln w="0">
              <a:noFill/>
              <a:prstDash val="solid"/>
            </a:ln>
          </p:spPr>
        </p:sp>
        <p:sp>
          <p:nvSpPr>
            <p:cNvPr id="1364" name="Fusion refined 700.05">
              <a:extLst>
                <a:ext uri="{FF2B5EF4-FFF2-40B4-BE49-F238E27FC236}">
                  <a16:creationId xmlns:a16="http://schemas.microsoft.com/office/drawing/2014/main" id="{F3328C85-8D10-5BAE-F06A-A042F88B4457}"/>
                </a:ext>
              </a:extLst>
            </p:cNvPr>
            <p:cNvSpPr>
              <a:spLocks noGrp="1"/>
            </p:cNvSpPr>
            <p:nvPr/>
          </p:nvSpPr>
          <p:spPr>
            <a:xfrm>
              <a:off x="7112964" y="2418493"/>
              <a:ext cx="191" cy="404527"/>
            </a:xfrm>
            <a:custGeom>
              <a:avLst/>
              <a:gdLst/>
              <a:ahLst/>
              <a:cxnLst/>
              <a:rect l="0" t="0" r="0" b="0"/>
              <a:pathLst>
                <a:path w="191" h="404527">
                  <a:moveTo>
                    <a:pt x="0" y="0"/>
                  </a:moveTo>
                  <a:lnTo>
                    <a:pt x="0" y="404527"/>
                  </a:lnTo>
                </a:path>
              </a:pathLst>
            </a:custGeom>
            <a:noFill/>
            <a:ln w="8505">
              <a:solidFill>
                <a:srgbClr val="4083B4"/>
              </a:solidFill>
              <a:prstDash val="solid"/>
            </a:ln>
          </p:spPr>
        </p:sp>
        <p:sp>
          <p:nvSpPr>
            <p:cNvPr id="1365" name="Fusion refined 700.05 head">
              <a:extLst>
                <a:ext uri="{FF2B5EF4-FFF2-40B4-BE49-F238E27FC236}">
                  <a16:creationId xmlns:a16="http://schemas.microsoft.com/office/drawing/2014/main" id="{615DF42F-7A96-D005-2B04-2E5B83AF189A}"/>
                </a:ext>
              </a:extLst>
            </p:cNvPr>
            <p:cNvSpPr>
              <a:spLocks noGrp="1"/>
            </p:cNvSpPr>
            <p:nvPr/>
          </p:nvSpPr>
          <p:spPr>
            <a:xfrm>
              <a:off x="7084294" y="2779681"/>
              <a:ext cx="57340" cy="66675"/>
            </a:xfrm>
            <a:custGeom>
              <a:avLst/>
              <a:gdLst/>
              <a:ahLst/>
              <a:cxnLst/>
              <a:rect l="0" t="0" r="0" b="0"/>
              <a:pathLst>
                <a:path w="57340" h="66675">
                  <a:moveTo>
                    <a:pt x="28670" y="66675"/>
                  </a:moveTo>
                  <a:lnTo>
                    <a:pt x="57340" y="0"/>
                  </a:lnTo>
                  <a:lnTo>
                    <a:pt x="0" y="0"/>
                  </a:lnTo>
                  <a:close/>
                </a:path>
              </a:pathLst>
            </a:custGeom>
            <a:solidFill>
              <a:srgbClr val="4083B4"/>
            </a:solidFill>
            <a:ln w="0">
              <a:noFill/>
              <a:prstDash val="solid"/>
            </a:ln>
          </p:spPr>
        </p:sp>
        <p:sp>
          <p:nvSpPr>
            <p:cNvPr id="1366" name="Fusion refined 912.94">
              <a:extLst>
                <a:ext uri="{FF2B5EF4-FFF2-40B4-BE49-F238E27FC236}">
                  <a16:creationId xmlns:a16="http://schemas.microsoft.com/office/drawing/2014/main" id="{8F954EB4-FAB9-9DC0-DCA1-6E84B625ECD7}"/>
                </a:ext>
              </a:extLst>
            </p:cNvPr>
            <p:cNvSpPr>
              <a:spLocks noGrp="1"/>
            </p:cNvSpPr>
            <p:nvPr/>
          </p:nvSpPr>
          <p:spPr>
            <a:xfrm>
              <a:off x="9140742" y="2418493"/>
              <a:ext cx="191" cy="404527"/>
            </a:xfrm>
            <a:custGeom>
              <a:avLst/>
              <a:gdLst/>
              <a:ahLst/>
              <a:cxnLst/>
              <a:rect l="0" t="0" r="0" b="0"/>
              <a:pathLst>
                <a:path w="191" h="404527">
                  <a:moveTo>
                    <a:pt x="0" y="0"/>
                  </a:moveTo>
                  <a:lnTo>
                    <a:pt x="0" y="404527"/>
                  </a:lnTo>
                </a:path>
              </a:pathLst>
            </a:custGeom>
            <a:noFill/>
            <a:ln w="8505">
              <a:solidFill>
                <a:srgbClr val="4083B4"/>
              </a:solidFill>
              <a:prstDash val="solid"/>
            </a:ln>
          </p:spPr>
        </p:sp>
        <p:sp>
          <p:nvSpPr>
            <p:cNvPr id="1367" name="Fusion refined 912.94 head">
              <a:extLst>
                <a:ext uri="{FF2B5EF4-FFF2-40B4-BE49-F238E27FC236}">
                  <a16:creationId xmlns:a16="http://schemas.microsoft.com/office/drawing/2014/main" id="{DDC6F6E8-2600-F9F0-8C4C-DF220F079064}"/>
                </a:ext>
              </a:extLst>
            </p:cNvPr>
            <p:cNvSpPr>
              <a:spLocks noGrp="1"/>
            </p:cNvSpPr>
            <p:nvPr/>
          </p:nvSpPr>
          <p:spPr>
            <a:xfrm>
              <a:off x="9112071" y="2779681"/>
              <a:ext cx="57340" cy="66675"/>
            </a:xfrm>
            <a:custGeom>
              <a:avLst/>
              <a:gdLst/>
              <a:ahLst/>
              <a:cxnLst/>
              <a:rect l="0" t="0" r="0" b="0"/>
              <a:pathLst>
                <a:path w="57340" h="66675">
                  <a:moveTo>
                    <a:pt x="28670" y="66675"/>
                  </a:moveTo>
                  <a:lnTo>
                    <a:pt x="57340" y="0"/>
                  </a:lnTo>
                  <a:lnTo>
                    <a:pt x="0" y="0"/>
                  </a:lnTo>
                  <a:close/>
                </a:path>
              </a:pathLst>
            </a:custGeom>
            <a:solidFill>
              <a:srgbClr val="4083B4"/>
            </a:solidFill>
            <a:ln w="0">
              <a:noFill/>
              <a:prstDash val="solid"/>
            </a:ln>
          </p:spPr>
        </p:sp>
        <p:sp>
          <p:nvSpPr>
            <p:cNvPr id="1368" name="Recycle right refined">
              <a:extLst>
                <a:ext uri="{FF2B5EF4-FFF2-40B4-BE49-F238E27FC236}">
                  <a16:creationId xmlns:a16="http://schemas.microsoft.com/office/drawing/2014/main" id="{D9AFE2A4-7629-8D55-72A2-74513ED16554}"/>
                </a:ext>
              </a:extLst>
            </p:cNvPr>
            <p:cNvSpPr>
              <a:spLocks noGrp="1"/>
            </p:cNvSpPr>
            <p:nvPr/>
          </p:nvSpPr>
          <p:spPr>
            <a:xfrm>
              <a:off x="7596644" y="3385852"/>
              <a:ext cx="1544098" cy="241840"/>
            </a:xfrm>
            <a:custGeom>
              <a:avLst/>
              <a:gdLst/>
              <a:ahLst/>
              <a:cxnLst/>
              <a:rect l="0" t="0" r="0" b="0"/>
              <a:pathLst>
                <a:path w="1544098" h="241840">
                  <a:moveTo>
                    <a:pt x="1544098" y="0"/>
                  </a:moveTo>
                  <a:lnTo>
                    <a:pt x="1544098" y="241840"/>
                  </a:lnTo>
                  <a:lnTo>
                    <a:pt x="0" y="241840"/>
                  </a:lnTo>
                </a:path>
              </a:pathLst>
            </a:custGeom>
            <a:noFill/>
            <a:ln w="8505">
              <a:solidFill>
                <a:srgbClr val="4083B4"/>
              </a:solidFill>
              <a:prstDash val="solid"/>
            </a:ln>
          </p:spPr>
        </p:sp>
        <p:sp>
          <p:nvSpPr>
            <p:cNvPr id="1369" name="Recycle left refined">
              <a:extLst>
                <a:ext uri="{FF2B5EF4-FFF2-40B4-BE49-F238E27FC236}">
                  <a16:creationId xmlns:a16="http://schemas.microsoft.com/office/drawing/2014/main" id="{9E9F6AF5-6C88-4D6A-4EB6-AE11098D540D}"/>
                </a:ext>
              </a:extLst>
            </p:cNvPr>
            <p:cNvSpPr>
              <a:spLocks noGrp="1"/>
            </p:cNvSpPr>
            <p:nvPr/>
          </p:nvSpPr>
          <p:spPr>
            <a:xfrm>
              <a:off x="5085187" y="3409188"/>
              <a:ext cx="1544098" cy="218503"/>
            </a:xfrm>
            <a:custGeom>
              <a:avLst/>
              <a:gdLst/>
              <a:ahLst/>
              <a:cxnLst/>
              <a:rect l="0" t="0" r="0" b="0"/>
              <a:pathLst>
                <a:path w="1544098" h="218503">
                  <a:moveTo>
                    <a:pt x="1544098" y="218503"/>
                  </a:moveTo>
                  <a:lnTo>
                    <a:pt x="0" y="218503"/>
                  </a:lnTo>
                  <a:lnTo>
                    <a:pt x="0" y="0"/>
                  </a:lnTo>
                </a:path>
              </a:pathLst>
            </a:custGeom>
            <a:noFill/>
            <a:ln w="8505">
              <a:solidFill>
                <a:srgbClr val="4083B4"/>
              </a:solidFill>
              <a:prstDash val="solid"/>
            </a:ln>
          </p:spPr>
        </p:sp>
        <p:sp>
          <p:nvSpPr>
            <p:cNvPr id="1370" name="Recycle left refined head">
              <a:extLst>
                <a:ext uri="{FF2B5EF4-FFF2-40B4-BE49-F238E27FC236}">
                  <a16:creationId xmlns:a16="http://schemas.microsoft.com/office/drawing/2014/main" id="{FC70626C-9297-3774-289D-8C74BAB81591}"/>
                </a:ext>
              </a:extLst>
            </p:cNvPr>
            <p:cNvSpPr>
              <a:spLocks noGrp="1"/>
            </p:cNvSpPr>
            <p:nvPr/>
          </p:nvSpPr>
          <p:spPr>
            <a:xfrm>
              <a:off x="5056517" y="3385852"/>
              <a:ext cx="57340" cy="66675"/>
            </a:xfrm>
            <a:custGeom>
              <a:avLst/>
              <a:gdLst/>
              <a:ahLst/>
              <a:cxnLst/>
              <a:rect l="0" t="0" r="0" b="0"/>
              <a:pathLst>
                <a:path w="57340" h="66675">
                  <a:moveTo>
                    <a:pt x="28670" y="0"/>
                  </a:moveTo>
                  <a:lnTo>
                    <a:pt x="0" y="66675"/>
                  </a:lnTo>
                  <a:lnTo>
                    <a:pt x="57340" y="66675"/>
                  </a:lnTo>
                  <a:close/>
                </a:path>
              </a:pathLst>
            </a:custGeom>
            <a:solidFill>
              <a:srgbClr val="4083B4"/>
            </a:solidFill>
            <a:ln w="0">
              <a:noFill/>
              <a:prstDash val="solid"/>
            </a:ln>
          </p:spPr>
        </p:sp>
        <p:sp>
          <p:nvSpPr>
            <p:cNvPr id="1371" name="Crop to summary refined">
              <a:extLst>
                <a:ext uri="{FF2B5EF4-FFF2-40B4-BE49-F238E27FC236}">
                  <a16:creationId xmlns:a16="http://schemas.microsoft.com/office/drawing/2014/main" id="{23964A60-5300-B32A-CC8C-9F9A10909522}"/>
                </a:ext>
              </a:extLst>
            </p:cNvPr>
            <p:cNvSpPr>
              <a:spLocks noGrp="1"/>
            </p:cNvSpPr>
            <p:nvPr/>
          </p:nvSpPr>
          <p:spPr>
            <a:xfrm>
              <a:off x="3580673" y="6064758"/>
              <a:ext cx="1148715" cy="191"/>
            </a:xfrm>
            <a:custGeom>
              <a:avLst/>
              <a:gdLst/>
              <a:ahLst/>
              <a:cxnLst/>
              <a:rect l="0" t="0" r="0" b="0"/>
              <a:pathLst>
                <a:path w="1148715" h="191">
                  <a:moveTo>
                    <a:pt x="0" y="0"/>
                  </a:moveTo>
                  <a:lnTo>
                    <a:pt x="1148715" y="0"/>
                  </a:lnTo>
                </a:path>
              </a:pathLst>
            </a:custGeom>
            <a:noFill/>
            <a:ln w="8505">
              <a:solidFill>
                <a:srgbClr val="4083B4"/>
              </a:solidFill>
              <a:prstDash val="solid"/>
            </a:ln>
          </p:spPr>
        </p:sp>
        <p:sp>
          <p:nvSpPr>
            <p:cNvPr id="1372" name="Crop to summary refined head">
              <a:extLst>
                <a:ext uri="{FF2B5EF4-FFF2-40B4-BE49-F238E27FC236}">
                  <a16:creationId xmlns:a16="http://schemas.microsoft.com/office/drawing/2014/main" id="{864E15CB-81EF-2FAC-14F2-E25D89F29346}"/>
                </a:ext>
              </a:extLst>
            </p:cNvPr>
            <p:cNvSpPr>
              <a:spLocks noGrp="1"/>
            </p:cNvSpPr>
            <p:nvPr/>
          </p:nvSpPr>
          <p:spPr>
            <a:xfrm>
              <a:off x="4686050" y="6036088"/>
              <a:ext cx="66675" cy="57340"/>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73" name="Input split refined">
              <a:extLst>
                <a:ext uri="{FF2B5EF4-FFF2-40B4-BE49-F238E27FC236}">
                  <a16:creationId xmlns:a16="http://schemas.microsoft.com/office/drawing/2014/main" id="{B4BBBDF4-6774-1D2C-95B2-F3B88AB1C869}"/>
                </a:ext>
              </a:extLst>
            </p:cNvPr>
            <p:cNvSpPr>
              <a:spLocks noGrp="1"/>
            </p:cNvSpPr>
            <p:nvPr/>
          </p:nvSpPr>
          <p:spPr>
            <a:xfrm>
              <a:off x="2073914" y="7793355"/>
              <a:ext cx="846772" cy="160020"/>
            </a:xfrm>
            <a:custGeom>
              <a:avLst/>
              <a:gdLst/>
              <a:ahLst/>
              <a:cxnLst/>
              <a:rect l="0" t="0" r="0" b="0"/>
              <a:pathLst>
                <a:path w="846772" h="160020">
                  <a:moveTo>
                    <a:pt x="846772" y="0"/>
                  </a:moveTo>
                  <a:lnTo>
                    <a:pt x="846772" y="160020"/>
                  </a:lnTo>
                  <a:lnTo>
                    <a:pt x="0" y="160020"/>
                  </a:lnTo>
                </a:path>
              </a:pathLst>
            </a:custGeom>
            <a:noFill/>
            <a:ln w="8505">
              <a:solidFill>
                <a:srgbClr val="3B8C80"/>
              </a:solidFill>
              <a:prstDash val="solid"/>
            </a:ln>
          </p:spPr>
        </p:sp>
        <p:sp>
          <p:nvSpPr>
            <p:cNvPr id="1374" name="Input split right refined">
              <a:extLst>
                <a:ext uri="{FF2B5EF4-FFF2-40B4-BE49-F238E27FC236}">
                  <a16:creationId xmlns:a16="http://schemas.microsoft.com/office/drawing/2014/main" id="{950F0CCA-2F88-9AFF-22D8-DAA7ACB6176C}"/>
                </a:ext>
              </a:extLst>
            </p:cNvPr>
            <p:cNvSpPr>
              <a:spLocks noGrp="1"/>
            </p:cNvSpPr>
            <p:nvPr/>
          </p:nvSpPr>
          <p:spPr>
            <a:xfrm>
              <a:off x="2920686" y="7953375"/>
              <a:ext cx="827723" cy="191"/>
            </a:xfrm>
            <a:custGeom>
              <a:avLst/>
              <a:gdLst/>
              <a:ahLst/>
              <a:cxnLst/>
              <a:rect l="0" t="0" r="0" b="0"/>
              <a:pathLst>
                <a:path w="827723" h="191">
                  <a:moveTo>
                    <a:pt x="0" y="0"/>
                  </a:moveTo>
                  <a:lnTo>
                    <a:pt x="827723" y="0"/>
                  </a:lnTo>
                </a:path>
              </a:pathLst>
            </a:custGeom>
            <a:noFill/>
            <a:ln w="8505">
              <a:solidFill>
                <a:srgbClr val="3B8C80"/>
              </a:solidFill>
              <a:prstDash val="solid"/>
            </a:ln>
          </p:spPr>
        </p:sp>
        <p:sp>
          <p:nvSpPr>
            <p:cNvPr id="1375" name="Inputs to pool refined">
              <a:extLst>
                <a:ext uri="{FF2B5EF4-FFF2-40B4-BE49-F238E27FC236}">
                  <a16:creationId xmlns:a16="http://schemas.microsoft.com/office/drawing/2014/main" id="{B22E0EF3-FD19-0826-1822-07182CC69FC5}"/>
                </a:ext>
              </a:extLst>
            </p:cNvPr>
            <p:cNvSpPr>
              <a:spLocks noGrp="1"/>
            </p:cNvSpPr>
            <p:nvPr/>
          </p:nvSpPr>
          <p:spPr>
            <a:xfrm>
              <a:off x="2073914" y="7953375"/>
              <a:ext cx="191" cy="143732"/>
            </a:xfrm>
            <a:custGeom>
              <a:avLst/>
              <a:gdLst/>
              <a:ahLst/>
              <a:cxnLst/>
              <a:rect l="0" t="0" r="0" b="0"/>
              <a:pathLst>
                <a:path w="191" h="143732">
                  <a:moveTo>
                    <a:pt x="0" y="0"/>
                  </a:moveTo>
                  <a:lnTo>
                    <a:pt x="0" y="143732"/>
                  </a:lnTo>
                </a:path>
              </a:pathLst>
            </a:custGeom>
            <a:noFill/>
            <a:ln w="8505">
              <a:solidFill>
                <a:srgbClr val="3B8C80"/>
              </a:solidFill>
              <a:prstDash val="solid"/>
            </a:ln>
          </p:spPr>
        </p:sp>
        <p:sp>
          <p:nvSpPr>
            <p:cNvPr id="1376" name="Inputs to pool refined head">
              <a:extLst>
                <a:ext uri="{FF2B5EF4-FFF2-40B4-BE49-F238E27FC236}">
                  <a16:creationId xmlns:a16="http://schemas.microsoft.com/office/drawing/2014/main" id="{CA70B1F6-4A00-BABC-2972-012866989961}"/>
                </a:ext>
              </a:extLst>
            </p:cNvPr>
            <p:cNvSpPr>
              <a:spLocks noGrp="1"/>
            </p:cNvSpPr>
            <p:nvPr/>
          </p:nvSpPr>
          <p:spPr>
            <a:xfrm>
              <a:off x="2045243" y="8053769"/>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77" name="Inputs to attention refined">
              <a:extLst>
                <a:ext uri="{FF2B5EF4-FFF2-40B4-BE49-F238E27FC236}">
                  <a16:creationId xmlns:a16="http://schemas.microsoft.com/office/drawing/2014/main" id="{08F1A61E-3B0E-8BF6-7F27-5CCE4D22C59A}"/>
                </a:ext>
              </a:extLst>
            </p:cNvPr>
            <p:cNvSpPr>
              <a:spLocks noGrp="1"/>
            </p:cNvSpPr>
            <p:nvPr/>
          </p:nvSpPr>
          <p:spPr>
            <a:xfrm>
              <a:off x="3748409" y="7953375"/>
              <a:ext cx="191" cy="143732"/>
            </a:xfrm>
            <a:custGeom>
              <a:avLst/>
              <a:gdLst/>
              <a:ahLst/>
              <a:cxnLst/>
              <a:rect l="0" t="0" r="0" b="0"/>
              <a:pathLst>
                <a:path w="191" h="143732">
                  <a:moveTo>
                    <a:pt x="0" y="0"/>
                  </a:moveTo>
                  <a:lnTo>
                    <a:pt x="0" y="143732"/>
                  </a:lnTo>
                </a:path>
              </a:pathLst>
            </a:custGeom>
            <a:noFill/>
            <a:ln w="8505">
              <a:solidFill>
                <a:srgbClr val="3B8C80"/>
              </a:solidFill>
              <a:prstDash val="solid"/>
            </a:ln>
          </p:spPr>
        </p:sp>
        <p:sp>
          <p:nvSpPr>
            <p:cNvPr id="1378" name="Inputs to attention refined head">
              <a:extLst>
                <a:ext uri="{FF2B5EF4-FFF2-40B4-BE49-F238E27FC236}">
                  <a16:creationId xmlns:a16="http://schemas.microsoft.com/office/drawing/2014/main" id="{4A8E2717-7DBF-7A20-898F-8A4B8D99C916}"/>
                </a:ext>
              </a:extLst>
            </p:cNvPr>
            <p:cNvSpPr>
              <a:spLocks noGrp="1"/>
            </p:cNvSpPr>
            <p:nvPr/>
          </p:nvSpPr>
          <p:spPr>
            <a:xfrm>
              <a:off x="3719738" y="8053769"/>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83" name="MLP to FiLM refined">
              <a:extLst>
                <a:ext uri="{FF2B5EF4-FFF2-40B4-BE49-F238E27FC236}">
                  <a16:creationId xmlns:a16="http://schemas.microsoft.com/office/drawing/2014/main" id="{2C7C678A-F3D0-E51D-2CD6-B41E5CBA7774}"/>
                </a:ext>
              </a:extLst>
            </p:cNvPr>
            <p:cNvSpPr>
              <a:spLocks noGrp="1"/>
            </p:cNvSpPr>
            <p:nvPr/>
          </p:nvSpPr>
          <p:spPr>
            <a:xfrm>
              <a:off x="3319784" y="8968264"/>
              <a:ext cx="1502569" cy="191"/>
            </a:xfrm>
            <a:custGeom>
              <a:avLst/>
              <a:gdLst/>
              <a:ahLst/>
              <a:cxnLst/>
              <a:rect l="0" t="0" r="0" b="0"/>
              <a:pathLst>
                <a:path w="1502569" h="191">
                  <a:moveTo>
                    <a:pt x="0" y="0"/>
                  </a:moveTo>
                  <a:lnTo>
                    <a:pt x="1502569" y="0"/>
                  </a:lnTo>
                </a:path>
              </a:pathLst>
            </a:custGeom>
            <a:noFill/>
            <a:ln w="8505">
              <a:solidFill>
                <a:srgbClr val="3B8C80"/>
              </a:solidFill>
              <a:prstDash val="solid"/>
            </a:ln>
          </p:spPr>
        </p:sp>
        <p:sp>
          <p:nvSpPr>
            <p:cNvPr id="1384" name="MLP to FiLM refined head">
              <a:extLst>
                <a:ext uri="{FF2B5EF4-FFF2-40B4-BE49-F238E27FC236}">
                  <a16:creationId xmlns:a16="http://schemas.microsoft.com/office/drawing/2014/main" id="{E62BF4CB-2DFB-E34F-0A43-259454CA6416}"/>
                </a:ext>
              </a:extLst>
            </p:cNvPr>
            <p:cNvSpPr>
              <a:spLocks noGrp="1"/>
            </p:cNvSpPr>
            <p:nvPr/>
          </p:nvSpPr>
          <p:spPr>
            <a:xfrm>
              <a:off x="4779014" y="8939594"/>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385" name="Summary to FiLM refined">
              <a:extLst>
                <a:ext uri="{FF2B5EF4-FFF2-40B4-BE49-F238E27FC236}">
                  <a16:creationId xmlns:a16="http://schemas.microsoft.com/office/drawing/2014/main" id="{4AD6C56A-E9C3-F934-64AC-D936F1D8505E}"/>
                </a:ext>
              </a:extLst>
            </p:cNvPr>
            <p:cNvSpPr>
              <a:spLocks noGrp="1"/>
            </p:cNvSpPr>
            <p:nvPr/>
          </p:nvSpPr>
          <p:spPr>
            <a:xfrm>
              <a:off x="5199066" y="6400800"/>
              <a:ext cx="191" cy="2367439"/>
            </a:xfrm>
            <a:custGeom>
              <a:avLst/>
              <a:gdLst/>
              <a:ahLst/>
              <a:cxnLst/>
              <a:rect l="0" t="0" r="0" b="0"/>
              <a:pathLst>
                <a:path w="191" h="2367439">
                  <a:moveTo>
                    <a:pt x="0" y="0"/>
                  </a:moveTo>
                  <a:lnTo>
                    <a:pt x="0" y="2367439"/>
                  </a:lnTo>
                </a:path>
              </a:pathLst>
            </a:custGeom>
            <a:noFill/>
            <a:ln w="8505">
              <a:solidFill>
                <a:srgbClr val="4083B4"/>
              </a:solidFill>
              <a:prstDash val="solid"/>
            </a:ln>
          </p:spPr>
        </p:sp>
        <p:sp>
          <p:nvSpPr>
            <p:cNvPr id="1386" name="Summary to FiLM refined head">
              <a:extLst>
                <a:ext uri="{FF2B5EF4-FFF2-40B4-BE49-F238E27FC236}">
                  <a16:creationId xmlns:a16="http://schemas.microsoft.com/office/drawing/2014/main" id="{EEAEF4BF-5039-6C23-B675-9771749FE17A}"/>
                </a:ext>
              </a:extLst>
            </p:cNvPr>
            <p:cNvSpPr>
              <a:spLocks noGrp="1"/>
            </p:cNvSpPr>
            <p:nvPr/>
          </p:nvSpPr>
          <p:spPr>
            <a:xfrm>
              <a:off x="5170396" y="8724900"/>
              <a:ext cx="57340" cy="66675"/>
            </a:xfrm>
            <a:custGeom>
              <a:avLst/>
              <a:gdLst/>
              <a:ahLst/>
              <a:cxnLst/>
              <a:rect l="0" t="0" r="0" b="0"/>
              <a:pathLst>
                <a:path w="57340" h="66675">
                  <a:moveTo>
                    <a:pt x="28670" y="66675"/>
                  </a:moveTo>
                  <a:lnTo>
                    <a:pt x="57340" y="0"/>
                  </a:lnTo>
                  <a:lnTo>
                    <a:pt x="0" y="0"/>
                  </a:lnTo>
                  <a:close/>
                </a:path>
              </a:pathLst>
            </a:custGeom>
            <a:solidFill>
              <a:srgbClr val="4083B4"/>
            </a:solidFill>
            <a:ln w="0">
              <a:noFill/>
              <a:prstDash val="solid"/>
            </a:ln>
          </p:spPr>
        </p:sp>
        <p:sp>
          <p:nvSpPr>
            <p:cNvPr id="1387" name="Summary to cross attention refined">
              <a:extLst>
                <a:ext uri="{FF2B5EF4-FFF2-40B4-BE49-F238E27FC236}">
                  <a16:creationId xmlns:a16="http://schemas.microsoft.com/office/drawing/2014/main" id="{EFD90DBF-A222-410E-15F3-D541CA16A8AE}"/>
                </a:ext>
              </a:extLst>
            </p:cNvPr>
            <p:cNvSpPr>
              <a:spLocks noGrp="1"/>
            </p:cNvSpPr>
            <p:nvPr/>
          </p:nvSpPr>
          <p:spPr>
            <a:xfrm>
              <a:off x="4534221" y="8297132"/>
              <a:ext cx="664845" cy="191"/>
            </a:xfrm>
            <a:custGeom>
              <a:avLst/>
              <a:gdLst/>
              <a:ahLst/>
              <a:cxnLst/>
              <a:rect l="0" t="0" r="0" b="0"/>
              <a:pathLst>
                <a:path w="664845" h="191">
                  <a:moveTo>
                    <a:pt x="664845" y="0"/>
                  </a:moveTo>
                  <a:lnTo>
                    <a:pt x="0" y="0"/>
                  </a:lnTo>
                </a:path>
              </a:pathLst>
            </a:custGeom>
            <a:noFill/>
            <a:ln w="8505">
              <a:solidFill>
                <a:srgbClr val="4083B4"/>
              </a:solidFill>
              <a:prstDash val="solid"/>
            </a:ln>
          </p:spPr>
        </p:sp>
        <p:sp>
          <p:nvSpPr>
            <p:cNvPr id="1388" name="Summary to cross attention refined head">
              <a:extLst>
                <a:ext uri="{FF2B5EF4-FFF2-40B4-BE49-F238E27FC236}">
                  <a16:creationId xmlns:a16="http://schemas.microsoft.com/office/drawing/2014/main" id="{91B08F31-0339-9716-3395-2B3F8970BA82}"/>
                </a:ext>
              </a:extLst>
            </p:cNvPr>
            <p:cNvSpPr>
              <a:spLocks noGrp="1"/>
            </p:cNvSpPr>
            <p:nvPr/>
          </p:nvSpPr>
          <p:spPr>
            <a:xfrm>
              <a:off x="4510885" y="8268462"/>
              <a:ext cx="66675" cy="57340"/>
            </a:xfrm>
            <a:custGeom>
              <a:avLst/>
              <a:gdLst/>
              <a:ahLst/>
              <a:cxnLst/>
              <a:rect l="0" t="0" r="0" b="0"/>
              <a:pathLst>
                <a:path w="66675" h="57340">
                  <a:moveTo>
                    <a:pt x="0" y="28670"/>
                  </a:moveTo>
                  <a:lnTo>
                    <a:pt x="66675" y="57340"/>
                  </a:lnTo>
                  <a:lnTo>
                    <a:pt x="66675" y="0"/>
                  </a:lnTo>
                  <a:close/>
                </a:path>
              </a:pathLst>
            </a:custGeom>
            <a:solidFill>
              <a:srgbClr val="4083B4"/>
            </a:solidFill>
            <a:ln w="0">
              <a:noFill/>
              <a:prstDash val="solid"/>
            </a:ln>
          </p:spPr>
        </p:sp>
        <p:sp>
          <p:nvSpPr>
            <p:cNvPr id="1389" name="FiLM to candidate refined">
              <a:extLst>
                <a:ext uri="{FF2B5EF4-FFF2-40B4-BE49-F238E27FC236}">
                  <a16:creationId xmlns:a16="http://schemas.microsoft.com/office/drawing/2014/main" id="{25FC3F76-C3DD-1537-7837-64B9361AE243}"/>
                </a:ext>
              </a:extLst>
            </p:cNvPr>
            <p:cNvSpPr>
              <a:spLocks noGrp="1"/>
            </p:cNvSpPr>
            <p:nvPr/>
          </p:nvSpPr>
          <p:spPr>
            <a:xfrm>
              <a:off x="5199066" y="9144953"/>
              <a:ext cx="191" cy="215360"/>
            </a:xfrm>
            <a:custGeom>
              <a:avLst/>
              <a:gdLst/>
              <a:ahLst/>
              <a:cxnLst/>
              <a:rect l="0" t="0" r="0" b="0"/>
              <a:pathLst>
                <a:path w="191" h="215360">
                  <a:moveTo>
                    <a:pt x="0" y="0"/>
                  </a:moveTo>
                  <a:lnTo>
                    <a:pt x="0" y="215360"/>
                  </a:lnTo>
                </a:path>
              </a:pathLst>
            </a:custGeom>
            <a:noFill/>
            <a:ln w="8505">
              <a:solidFill>
                <a:srgbClr val="3B8C80"/>
              </a:solidFill>
              <a:prstDash val="solid"/>
            </a:ln>
          </p:spPr>
        </p:sp>
        <p:sp>
          <p:nvSpPr>
            <p:cNvPr id="1390" name="FiLM to candidate refined head">
              <a:extLst>
                <a:ext uri="{FF2B5EF4-FFF2-40B4-BE49-F238E27FC236}">
                  <a16:creationId xmlns:a16="http://schemas.microsoft.com/office/drawing/2014/main" id="{7A05C2E3-B0E7-7DA8-4847-EC91C004D35D}"/>
                </a:ext>
              </a:extLst>
            </p:cNvPr>
            <p:cNvSpPr>
              <a:spLocks noGrp="1"/>
            </p:cNvSpPr>
            <p:nvPr/>
          </p:nvSpPr>
          <p:spPr>
            <a:xfrm>
              <a:off x="5170396" y="9316974"/>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91" name="Candidate to foreground refined">
              <a:extLst>
                <a:ext uri="{FF2B5EF4-FFF2-40B4-BE49-F238E27FC236}">
                  <a16:creationId xmlns:a16="http://schemas.microsoft.com/office/drawing/2014/main" id="{FE203BD6-3778-87C2-8526-E332B5B380C4}"/>
                </a:ext>
              </a:extLst>
            </p:cNvPr>
            <p:cNvSpPr>
              <a:spLocks noGrp="1"/>
            </p:cNvSpPr>
            <p:nvPr/>
          </p:nvSpPr>
          <p:spPr>
            <a:xfrm>
              <a:off x="2390048" y="9525000"/>
              <a:ext cx="2809018" cy="286702"/>
            </a:xfrm>
            <a:custGeom>
              <a:avLst/>
              <a:gdLst/>
              <a:ahLst/>
              <a:cxnLst/>
              <a:rect l="0" t="0" r="0" b="0"/>
              <a:pathLst>
                <a:path w="2809018" h="286702">
                  <a:moveTo>
                    <a:pt x="2809018" y="0"/>
                  </a:moveTo>
                  <a:lnTo>
                    <a:pt x="2809018" y="95250"/>
                  </a:lnTo>
                  <a:lnTo>
                    <a:pt x="0" y="95250"/>
                  </a:lnTo>
                  <a:lnTo>
                    <a:pt x="0" y="286702"/>
                  </a:lnTo>
                </a:path>
              </a:pathLst>
            </a:custGeom>
            <a:noFill/>
            <a:ln w="8505">
              <a:solidFill>
                <a:srgbClr val="3B8C80"/>
              </a:solidFill>
              <a:prstDash val="solid"/>
            </a:ln>
          </p:spPr>
        </p:sp>
        <p:sp>
          <p:nvSpPr>
            <p:cNvPr id="1392" name="Candidate to foreground refined head">
              <a:extLst>
                <a:ext uri="{FF2B5EF4-FFF2-40B4-BE49-F238E27FC236}">
                  <a16:creationId xmlns:a16="http://schemas.microsoft.com/office/drawing/2014/main" id="{D2B7433A-243E-C206-1CB1-3F191E6AD029}"/>
                </a:ext>
              </a:extLst>
            </p:cNvPr>
            <p:cNvSpPr>
              <a:spLocks noGrp="1"/>
            </p:cNvSpPr>
            <p:nvPr/>
          </p:nvSpPr>
          <p:spPr>
            <a:xfrm>
              <a:off x="2361378" y="9768364"/>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93" name="Foreground to probability refined">
              <a:extLst>
                <a:ext uri="{FF2B5EF4-FFF2-40B4-BE49-F238E27FC236}">
                  <a16:creationId xmlns:a16="http://schemas.microsoft.com/office/drawing/2014/main" id="{D5A6B998-ADFA-E982-8C35-E6D90114C21C}"/>
                </a:ext>
              </a:extLst>
            </p:cNvPr>
            <p:cNvSpPr>
              <a:spLocks noGrp="1"/>
            </p:cNvSpPr>
            <p:nvPr/>
          </p:nvSpPr>
          <p:spPr>
            <a:xfrm>
              <a:off x="3190053" y="9971532"/>
              <a:ext cx="600742" cy="191"/>
            </a:xfrm>
            <a:custGeom>
              <a:avLst/>
              <a:gdLst/>
              <a:ahLst/>
              <a:cxnLst/>
              <a:rect l="0" t="0" r="0" b="0"/>
              <a:pathLst>
                <a:path w="600742" h="191">
                  <a:moveTo>
                    <a:pt x="0" y="0"/>
                  </a:moveTo>
                  <a:lnTo>
                    <a:pt x="600742" y="0"/>
                  </a:lnTo>
                </a:path>
              </a:pathLst>
            </a:custGeom>
            <a:noFill/>
            <a:ln w="8505">
              <a:solidFill>
                <a:srgbClr val="3B8C80"/>
              </a:solidFill>
              <a:prstDash val="solid"/>
            </a:ln>
          </p:spPr>
        </p:sp>
        <p:sp>
          <p:nvSpPr>
            <p:cNvPr id="1394" name="Foreground to probability refined head">
              <a:extLst>
                <a:ext uri="{FF2B5EF4-FFF2-40B4-BE49-F238E27FC236}">
                  <a16:creationId xmlns:a16="http://schemas.microsoft.com/office/drawing/2014/main" id="{660BE4D6-2608-6E09-7FF4-AD7C50994699}"/>
                </a:ext>
              </a:extLst>
            </p:cNvPr>
            <p:cNvSpPr>
              <a:spLocks noGrp="1"/>
            </p:cNvSpPr>
            <p:nvPr/>
          </p:nvSpPr>
          <p:spPr>
            <a:xfrm>
              <a:off x="3747456" y="9942862"/>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395" name="Candidate to cosine refined">
              <a:extLst>
                <a:ext uri="{FF2B5EF4-FFF2-40B4-BE49-F238E27FC236}">
                  <a16:creationId xmlns:a16="http://schemas.microsoft.com/office/drawing/2014/main" id="{22A5040B-9402-AB7D-9094-F4BF5F10ADD2}"/>
                </a:ext>
              </a:extLst>
            </p:cNvPr>
            <p:cNvSpPr>
              <a:spLocks noGrp="1"/>
            </p:cNvSpPr>
            <p:nvPr/>
          </p:nvSpPr>
          <p:spPr>
            <a:xfrm>
              <a:off x="5199066" y="9525000"/>
              <a:ext cx="2478033" cy="446532"/>
            </a:xfrm>
            <a:custGeom>
              <a:avLst/>
              <a:gdLst/>
              <a:ahLst/>
              <a:cxnLst/>
              <a:rect l="0" t="0" r="0" b="0"/>
              <a:pathLst>
                <a:path w="2143887" h="446532">
                  <a:moveTo>
                    <a:pt x="0" y="0"/>
                  </a:moveTo>
                  <a:lnTo>
                    <a:pt x="0" y="446532"/>
                  </a:lnTo>
                  <a:lnTo>
                    <a:pt x="2143887" y="446532"/>
                  </a:lnTo>
                </a:path>
              </a:pathLst>
            </a:custGeom>
            <a:noFill/>
            <a:ln w="8505">
              <a:solidFill>
                <a:srgbClr val="3B8C80"/>
              </a:solidFill>
              <a:prstDash val="solid"/>
            </a:ln>
          </p:spPr>
        </p:sp>
        <p:sp>
          <p:nvSpPr>
            <p:cNvPr id="1396" name="Candidate to cosine refined head">
              <a:extLst>
                <a:ext uri="{FF2B5EF4-FFF2-40B4-BE49-F238E27FC236}">
                  <a16:creationId xmlns:a16="http://schemas.microsoft.com/office/drawing/2014/main" id="{D0F3AAE9-EBC0-FC07-AF0A-FBDAD938D93E}"/>
                </a:ext>
              </a:extLst>
            </p:cNvPr>
            <p:cNvSpPr>
              <a:spLocks noGrp="1"/>
            </p:cNvSpPr>
            <p:nvPr/>
          </p:nvSpPr>
          <p:spPr>
            <a:xfrm>
              <a:off x="7633759" y="9942862"/>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397" name="Selected identity to graph refined">
              <a:extLst>
                <a:ext uri="{FF2B5EF4-FFF2-40B4-BE49-F238E27FC236}">
                  <a16:creationId xmlns:a16="http://schemas.microsoft.com/office/drawing/2014/main" id="{2545D43E-9B8D-BA3E-80CD-880BD63B35AE}"/>
                </a:ext>
              </a:extLst>
            </p:cNvPr>
            <p:cNvSpPr>
              <a:spLocks noGrp="1"/>
            </p:cNvSpPr>
            <p:nvPr/>
          </p:nvSpPr>
          <p:spPr>
            <a:xfrm>
              <a:off x="7067879" y="6134481"/>
              <a:ext cx="651129" cy="595217"/>
            </a:xfrm>
            <a:custGeom>
              <a:avLst/>
              <a:gdLst/>
              <a:ahLst/>
              <a:cxnLst/>
              <a:rect l="0" t="0" r="0" b="0"/>
              <a:pathLst>
                <a:path w="651129" h="595217">
                  <a:moveTo>
                    <a:pt x="651129" y="0"/>
                  </a:moveTo>
                  <a:lnTo>
                    <a:pt x="0" y="0"/>
                  </a:lnTo>
                  <a:lnTo>
                    <a:pt x="0" y="595217"/>
                  </a:lnTo>
                </a:path>
              </a:pathLst>
            </a:custGeom>
            <a:noFill/>
            <a:ln w="8505">
              <a:solidFill>
                <a:srgbClr val="3B8C80"/>
              </a:solidFill>
              <a:prstDash val="solid"/>
            </a:ln>
          </p:spPr>
        </p:sp>
        <p:sp>
          <p:nvSpPr>
            <p:cNvPr id="1398" name="Selected identity to graph refined head">
              <a:extLst>
                <a:ext uri="{FF2B5EF4-FFF2-40B4-BE49-F238E27FC236}">
                  <a16:creationId xmlns:a16="http://schemas.microsoft.com/office/drawing/2014/main" id="{2F033F6F-AC85-37DE-479C-D063C3DB8E25}"/>
                </a:ext>
              </a:extLst>
            </p:cNvPr>
            <p:cNvSpPr>
              <a:spLocks noGrp="1"/>
            </p:cNvSpPr>
            <p:nvPr/>
          </p:nvSpPr>
          <p:spPr>
            <a:xfrm>
              <a:off x="7039209" y="6686360"/>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99" name="Graph to GNN refined">
              <a:extLst>
                <a:ext uri="{FF2B5EF4-FFF2-40B4-BE49-F238E27FC236}">
                  <a16:creationId xmlns:a16="http://schemas.microsoft.com/office/drawing/2014/main" id="{7EF864D3-D6E3-5180-82C2-0A0AE886C150}"/>
                </a:ext>
              </a:extLst>
            </p:cNvPr>
            <p:cNvSpPr>
              <a:spLocks noGrp="1"/>
            </p:cNvSpPr>
            <p:nvPr/>
          </p:nvSpPr>
          <p:spPr>
            <a:xfrm>
              <a:off x="7067879" y="7441406"/>
              <a:ext cx="191" cy="153448"/>
            </a:xfrm>
            <a:custGeom>
              <a:avLst/>
              <a:gdLst/>
              <a:ahLst/>
              <a:cxnLst/>
              <a:rect l="0" t="0" r="0" b="0"/>
              <a:pathLst>
                <a:path w="191" h="153448">
                  <a:moveTo>
                    <a:pt x="0" y="0"/>
                  </a:moveTo>
                  <a:lnTo>
                    <a:pt x="0" y="153448"/>
                  </a:lnTo>
                </a:path>
              </a:pathLst>
            </a:custGeom>
            <a:noFill/>
            <a:ln w="8505">
              <a:solidFill>
                <a:srgbClr val="3B8C80"/>
              </a:solidFill>
              <a:prstDash val="solid"/>
            </a:ln>
          </p:spPr>
        </p:sp>
        <p:sp>
          <p:nvSpPr>
            <p:cNvPr id="1400" name="Graph to GNN refined head">
              <a:extLst>
                <a:ext uri="{FF2B5EF4-FFF2-40B4-BE49-F238E27FC236}">
                  <a16:creationId xmlns:a16="http://schemas.microsoft.com/office/drawing/2014/main" id="{B23BD653-4893-2671-9B86-7F888A6E5617}"/>
                </a:ext>
              </a:extLst>
            </p:cNvPr>
            <p:cNvSpPr>
              <a:spLocks noGrp="1"/>
            </p:cNvSpPr>
            <p:nvPr/>
          </p:nvSpPr>
          <p:spPr>
            <a:xfrm>
              <a:off x="7039209" y="7551515"/>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1" name="GNN to graph attention refined">
              <a:extLst>
                <a:ext uri="{FF2B5EF4-FFF2-40B4-BE49-F238E27FC236}">
                  <a16:creationId xmlns:a16="http://schemas.microsoft.com/office/drawing/2014/main" id="{B0DCC1B2-7C1A-332C-0127-08382278DBC6}"/>
                </a:ext>
              </a:extLst>
            </p:cNvPr>
            <p:cNvSpPr>
              <a:spLocks noGrp="1"/>
            </p:cNvSpPr>
            <p:nvPr/>
          </p:nvSpPr>
          <p:spPr>
            <a:xfrm>
              <a:off x="7067879" y="7934420"/>
              <a:ext cx="191" cy="274320"/>
            </a:xfrm>
            <a:custGeom>
              <a:avLst/>
              <a:gdLst/>
              <a:ahLst/>
              <a:cxnLst/>
              <a:rect l="0" t="0" r="0" b="0"/>
              <a:pathLst>
                <a:path w="191" h="274320">
                  <a:moveTo>
                    <a:pt x="0" y="0"/>
                  </a:moveTo>
                  <a:lnTo>
                    <a:pt x="0" y="274320"/>
                  </a:lnTo>
                </a:path>
              </a:pathLst>
            </a:custGeom>
            <a:noFill/>
            <a:ln w="8505">
              <a:solidFill>
                <a:srgbClr val="3B8C80"/>
              </a:solidFill>
              <a:prstDash val="solid"/>
            </a:ln>
          </p:spPr>
        </p:sp>
        <p:sp>
          <p:nvSpPr>
            <p:cNvPr id="1402" name="GNN to graph attention refined head">
              <a:extLst>
                <a:ext uri="{FF2B5EF4-FFF2-40B4-BE49-F238E27FC236}">
                  <a16:creationId xmlns:a16="http://schemas.microsoft.com/office/drawing/2014/main" id="{F5D1A0D2-1869-EB89-61A3-D3ABFE580C35}"/>
                </a:ext>
              </a:extLst>
            </p:cNvPr>
            <p:cNvSpPr>
              <a:spLocks noGrp="1"/>
            </p:cNvSpPr>
            <p:nvPr/>
          </p:nvSpPr>
          <p:spPr>
            <a:xfrm>
              <a:off x="7039209" y="8165402"/>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3" name="Identity to SMI-TED refined">
              <a:extLst>
                <a:ext uri="{FF2B5EF4-FFF2-40B4-BE49-F238E27FC236}">
                  <a16:creationId xmlns:a16="http://schemas.microsoft.com/office/drawing/2014/main" id="{416B661C-118E-CA99-59DC-DA4857A74E2E}"/>
                </a:ext>
              </a:extLst>
            </p:cNvPr>
            <p:cNvSpPr>
              <a:spLocks noGrp="1"/>
            </p:cNvSpPr>
            <p:nvPr/>
          </p:nvSpPr>
          <p:spPr>
            <a:xfrm>
              <a:off x="8637980" y="6638068"/>
              <a:ext cx="191" cy="326993"/>
            </a:xfrm>
            <a:custGeom>
              <a:avLst/>
              <a:gdLst/>
              <a:ahLst/>
              <a:cxnLst/>
              <a:rect l="0" t="0" r="0" b="0"/>
              <a:pathLst>
                <a:path w="191" h="326993">
                  <a:moveTo>
                    <a:pt x="0" y="0"/>
                  </a:moveTo>
                  <a:lnTo>
                    <a:pt x="0" y="326993"/>
                  </a:lnTo>
                </a:path>
              </a:pathLst>
            </a:custGeom>
            <a:noFill/>
            <a:ln w="8505">
              <a:solidFill>
                <a:srgbClr val="3B8C80"/>
              </a:solidFill>
              <a:prstDash val="solid"/>
            </a:ln>
          </p:spPr>
        </p:sp>
        <p:sp>
          <p:nvSpPr>
            <p:cNvPr id="1404" name="Identity to SMI-TED refined head">
              <a:extLst>
                <a:ext uri="{FF2B5EF4-FFF2-40B4-BE49-F238E27FC236}">
                  <a16:creationId xmlns:a16="http://schemas.microsoft.com/office/drawing/2014/main" id="{0BA2F96A-2AFB-7C00-99C8-78C9DC78B848}"/>
                </a:ext>
              </a:extLst>
            </p:cNvPr>
            <p:cNvSpPr>
              <a:spLocks noGrp="1"/>
            </p:cNvSpPr>
            <p:nvPr/>
          </p:nvSpPr>
          <p:spPr>
            <a:xfrm>
              <a:off x="8609310" y="6921722"/>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5" name="SMI-TED to language refined">
              <a:extLst>
                <a:ext uri="{FF2B5EF4-FFF2-40B4-BE49-F238E27FC236}">
                  <a16:creationId xmlns:a16="http://schemas.microsoft.com/office/drawing/2014/main" id="{688B9630-847C-74A2-04EF-D75E08D7E423}"/>
                </a:ext>
              </a:extLst>
            </p:cNvPr>
            <p:cNvSpPr>
              <a:spLocks noGrp="1"/>
            </p:cNvSpPr>
            <p:nvPr/>
          </p:nvSpPr>
          <p:spPr>
            <a:xfrm>
              <a:off x="8637980" y="7304627"/>
              <a:ext cx="191" cy="1013841"/>
            </a:xfrm>
            <a:custGeom>
              <a:avLst/>
              <a:gdLst/>
              <a:ahLst/>
              <a:cxnLst/>
              <a:rect l="0" t="0" r="0" b="0"/>
              <a:pathLst>
                <a:path w="191" h="1013841">
                  <a:moveTo>
                    <a:pt x="0" y="0"/>
                  </a:moveTo>
                  <a:lnTo>
                    <a:pt x="0" y="1013841"/>
                  </a:lnTo>
                </a:path>
              </a:pathLst>
            </a:custGeom>
            <a:noFill/>
            <a:ln w="8505">
              <a:solidFill>
                <a:srgbClr val="3B8C80"/>
              </a:solidFill>
              <a:prstDash val="solid"/>
            </a:ln>
          </p:spPr>
        </p:sp>
        <p:sp>
          <p:nvSpPr>
            <p:cNvPr id="1406" name="SMI-TED to language refined head">
              <a:extLst>
                <a:ext uri="{FF2B5EF4-FFF2-40B4-BE49-F238E27FC236}">
                  <a16:creationId xmlns:a16="http://schemas.microsoft.com/office/drawing/2014/main" id="{7251A2B8-D12B-A433-6B0D-10AA76953AAB}"/>
                </a:ext>
              </a:extLst>
            </p:cNvPr>
            <p:cNvSpPr>
              <a:spLocks noGrp="1"/>
            </p:cNvSpPr>
            <p:nvPr/>
          </p:nvSpPr>
          <p:spPr>
            <a:xfrm>
              <a:off x="8609310" y="8275130"/>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7" name="Other identities refined">
              <a:extLst>
                <a:ext uri="{FF2B5EF4-FFF2-40B4-BE49-F238E27FC236}">
                  <a16:creationId xmlns:a16="http://schemas.microsoft.com/office/drawing/2014/main" id="{A4787BA6-E950-16B8-B01A-9B4C92E13C7A}"/>
                </a:ext>
              </a:extLst>
            </p:cNvPr>
            <p:cNvSpPr>
              <a:spLocks noGrp="1"/>
            </p:cNvSpPr>
            <p:nvPr/>
          </p:nvSpPr>
          <p:spPr>
            <a:xfrm>
              <a:off x="9616579" y="5581174"/>
              <a:ext cx="613886" cy="1373695"/>
            </a:xfrm>
            <a:custGeom>
              <a:avLst/>
              <a:gdLst/>
              <a:ahLst/>
              <a:cxnLst/>
              <a:rect l="0" t="0" r="0" b="0"/>
              <a:pathLst>
                <a:path w="613886" h="1373695">
                  <a:moveTo>
                    <a:pt x="0" y="0"/>
                  </a:moveTo>
                  <a:lnTo>
                    <a:pt x="613886" y="0"/>
                  </a:lnTo>
                  <a:lnTo>
                    <a:pt x="613886" y="1373695"/>
                  </a:lnTo>
                </a:path>
              </a:pathLst>
            </a:custGeom>
            <a:noFill/>
            <a:ln w="8505">
              <a:solidFill>
                <a:srgbClr val="3B8C80"/>
              </a:solidFill>
              <a:prstDash val="solid"/>
            </a:ln>
          </p:spPr>
        </p:sp>
        <p:sp>
          <p:nvSpPr>
            <p:cNvPr id="1408" name="Other identities refined head">
              <a:extLst>
                <a:ext uri="{FF2B5EF4-FFF2-40B4-BE49-F238E27FC236}">
                  <a16:creationId xmlns:a16="http://schemas.microsoft.com/office/drawing/2014/main" id="{9D094DDB-3471-ECAC-BCA5-E9612E620328}"/>
                </a:ext>
              </a:extLst>
            </p:cNvPr>
            <p:cNvSpPr>
              <a:spLocks noGrp="1"/>
            </p:cNvSpPr>
            <p:nvPr/>
          </p:nvSpPr>
          <p:spPr>
            <a:xfrm>
              <a:off x="10201795" y="6911531"/>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9" name="Other identities middle refined">
              <a:extLst>
                <a:ext uri="{FF2B5EF4-FFF2-40B4-BE49-F238E27FC236}">
                  <a16:creationId xmlns:a16="http://schemas.microsoft.com/office/drawing/2014/main" id="{43A875F1-64CC-3AE0-16D0-832B017C6CB3}"/>
                </a:ext>
              </a:extLst>
            </p:cNvPr>
            <p:cNvSpPr>
              <a:spLocks noGrp="1"/>
            </p:cNvSpPr>
            <p:nvPr/>
          </p:nvSpPr>
          <p:spPr>
            <a:xfrm>
              <a:off x="9616579" y="5851112"/>
              <a:ext cx="613886" cy="191"/>
            </a:xfrm>
            <a:custGeom>
              <a:avLst/>
              <a:gdLst/>
              <a:ahLst/>
              <a:cxnLst/>
              <a:rect l="0" t="0" r="0" b="0"/>
              <a:pathLst>
                <a:path w="613886" h="191">
                  <a:moveTo>
                    <a:pt x="0" y="0"/>
                  </a:moveTo>
                  <a:lnTo>
                    <a:pt x="613886" y="0"/>
                  </a:lnTo>
                </a:path>
              </a:pathLst>
            </a:custGeom>
            <a:noFill/>
            <a:ln w="8505">
              <a:solidFill>
                <a:srgbClr val="3B8C80"/>
              </a:solidFill>
              <a:prstDash val="solid"/>
            </a:ln>
          </p:spPr>
        </p:sp>
        <p:sp>
          <p:nvSpPr>
            <p:cNvPr id="1410" name="Other identities lower refined">
              <a:extLst>
                <a:ext uri="{FF2B5EF4-FFF2-40B4-BE49-F238E27FC236}">
                  <a16:creationId xmlns:a16="http://schemas.microsoft.com/office/drawing/2014/main" id="{D83A070A-E1D1-4067-2310-74DC30F9F921}"/>
                </a:ext>
              </a:extLst>
            </p:cNvPr>
            <p:cNvSpPr>
              <a:spLocks noGrp="1"/>
            </p:cNvSpPr>
            <p:nvPr/>
          </p:nvSpPr>
          <p:spPr>
            <a:xfrm>
              <a:off x="9616579" y="6533293"/>
              <a:ext cx="613886" cy="191"/>
            </a:xfrm>
            <a:custGeom>
              <a:avLst/>
              <a:gdLst/>
              <a:ahLst/>
              <a:cxnLst/>
              <a:rect l="0" t="0" r="0" b="0"/>
              <a:pathLst>
                <a:path w="613886" h="191">
                  <a:moveTo>
                    <a:pt x="0" y="0"/>
                  </a:moveTo>
                  <a:lnTo>
                    <a:pt x="613886" y="0"/>
                  </a:lnTo>
                </a:path>
              </a:pathLst>
            </a:custGeom>
            <a:noFill/>
            <a:ln w="8505">
              <a:solidFill>
                <a:srgbClr val="3B8C80"/>
              </a:solidFill>
              <a:prstDash val="solid"/>
            </a:ln>
          </p:spPr>
        </p:sp>
        <p:sp>
          <p:nvSpPr>
            <p:cNvPr id="1411" name="Context SMI-TED to matrix refined">
              <a:extLst>
                <a:ext uri="{FF2B5EF4-FFF2-40B4-BE49-F238E27FC236}">
                  <a16:creationId xmlns:a16="http://schemas.microsoft.com/office/drawing/2014/main" id="{3BA39657-BA55-8B03-4B42-2E8CA0F2402A}"/>
                </a:ext>
              </a:extLst>
            </p:cNvPr>
            <p:cNvSpPr>
              <a:spLocks noGrp="1"/>
            </p:cNvSpPr>
            <p:nvPr/>
          </p:nvSpPr>
          <p:spPr>
            <a:xfrm>
              <a:off x="10240942" y="7294436"/>
              <a:ext cx="191" cy="264128"/>
            </a:xfrm>
            <a:custGeom>
              <a:avLst/>
              <a:gdLst/>
              <a:ahLst/>
              <a:cxnLst/>
              <a:rect l="0" t="0" r="0" b="0"/>
              <a:pathLst>
                <a:path w="191" h="264128">
                  <a:moveTo>
                    <a:pt x="0" y="0"/>
                  </a:moveTo>
                  <a:lnTo>
                    <a:pt x="0" y="264128"/>
                  </a:lnTo>
                </a:path>
              </a:pathLst>
            </a:custGeom>
            <a:noFill/>
            <a:ln w="8505">
              <a:solidFill>
                <a:srgbClr val="3B8C80"/>
              </a:solidFill>
              <a:prstDash val="solid"/>
            </a:ln>
          </p:spPr>
        </p:sp>
        <p:sp>
          <p:nvSpPr>
            <p:cNvPr id="1412" name="Context SMI-TED to matrix refined head">
              <a:extLst>
                <a:ext uri="{FF2B5EF4-FFF2-40B4-BE49-F238E27FC236}">
                  <a16:creationId xmlns:a16="http://schemas.microsoft.com/office/drawing/2014/main" id="{46BBCF7E-77B7-430B-5E68-8D5D4D07C9BA}"/>
                </a:ext>
              </a:extLst>
            </p:cNvPr>
            <p:cNvSpPr>
              <a:spLocks noGrp="1"/>
            </p:cNvSpPr>
            <p:nvPr/>
          </p:nvSpPr>
          <p:spPr>
            <a:xfrm>
              <a:off x="10212272" y="7515225"/>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13" name="Context matrix to attention refined">
              <a:extLst>
                <a:ext uri="{FF2B5EF4-FFF2-40B4-BE49-F238E27FC236}">
                  <a16:creationId xmlns:a16="http://schemas.microsoft.com/office/drawing/2014/main" id="{19123C2B-08C0-5942-5974-56E3DB290164}"/>
                </a:ext>
              </a:extLst>
            </p:cNvPr>
            <p:cNvSpPr>
              <a:spLocks noGrp="1"/>
            </p:cNvSpPr>
            <p:nvPr/>
          </p:nvSpPr>
          <p:spPr>
            <a:xfrm>
              <a:off x="10230465" y="7958995"/>
              <a:ext cx="191" cy="249745"/>
            </a:xfrm>
            <a:custGeom>
              <a:avLst/>
              <a:gdLst/>
              <a:ahLst/>
              <a:cxnLst/>
              <a:rect l="0" t="0" r="0" b="0"/>
              <a:pathLst>
                <a:path w="191" h="249745">
                  <a:moveTo>
                    <a:pt x="0" y="0"/>
                  </a:moveTo>
                  <a:lnTo>
                    <a:pt x="0" y="249745"/>
                  </a:lnTo>
                </a:path>
              </a:pathLst>
            </a:custGeom>
            <a:noFill/>
            <a:ln w="8505">
              <a:solidFill>
                <a:srgbClr val="3B8C80"/>
              </a:solidFill>
              <a:prstDash val="solid"/>
            </a:ln>
          </p:spPr>
        </p:sp>
        <p:sp>
          <p:nvSpPr>
            <p:cNvPr id="1414" name="Context matrix to attention refined head">
              <a:extLst>
                <a:ext uri="{FF2B5EF4-FFF2-40B4-BE49-F238E27FC236}">
                  <a16:creationId xmlns:a16="http://schemas.microsoft.com/office/drawing/2014/main" id="{F6D726DD-707A-38A3-9C89-49061435E2BF}"/>
                </a:ext>
              </a:extLst>
            </p:cNvPr>
            <p:cNvSpPr>
              <a:spLocks noGrp="1"/>
            </p:cNvSpPr>
            <p:nvPr/>
          </p:nvSpPr>
          <p:spPr>
            <a:xfrm>
              <a:off x="10201795" y="8165402"/>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15" name="Language query left refined">
              <a:extLst>
                <a:ext uri="{FF2B5EF4-FFF2-40B4-BE49-F238E27FC236}">
                  <a16:creationId xmlns:a16="http://schemas.microsoft.com/office/drawing/2014/main" id="{739AFAAD-E669-E2AC-687E-E59FC6E7FAD2}"/>
                </a:ext>
              </a:extLst>
            </p:cNvPr>
            <p:cNvSpPr>
              <a:spLocks noGrp="1"/>
            </p:cNvSpPr>
            <p:nvPr/>
          </p:nvSpPr>
          <p:spPr>
            <a:xfrm>
              <a:off x="7816735" y="8408765"/>
              <a:ext cx="479012" cy="191"/>
            </a:xfrm>
            <a:custGeom>
              <a:avLst/>
              <a:gdLst/>
              <a:ahLst/>
              <a:cxnLst/>
              <a:rect l="0" t="0" r="0" b="0"/>
              <a:pathLst>
                <a:path w="479012" h="191">
                  <a:moveTo>
                    <a:pt x="479012" y="0"/>
                  </a:moveTo>
                  <a:lnTo>
                    <a:pt x="0" y="0"/>
                  </a:lnTo>
                </a:path>
              </a:pathLst>
            </a:custGeom>
            <a:noFill/>
            <a:ln w="8505">
              <a:solidFill>
                <a:srgbClr val="3B8C80"/>
              </a:solidFill>
              <a:prstDash val="solid"/>
            </a:ln>
          </p:spPr>
        </p:sp>
        <p:sp>
          <p:nvSpPr>
            <p:cNvPr id="1416" name="Language query left refined head">
              <a:extLst>
                <a:ext uri="{FF2B5EF4-FFF2-40B4-BE49-F238E27FC236}">
                  <a16:creationId xmlns:a16="http://schemas.microsoft.com/office/drawing/2014/main" id="{98D92A42-D662-B44C-CD57-583BDD75174C}"/>
                </a:ext>
              </a:extLst>
            </p:cNvPr>
            <p:cNvSpPr>
              <a:spLocks noGrp="1"/>
            </p:cNvSpPr>
            <p:nvPr/>
          </p:nvSpPr>
          <p:spPr>
            <a:xfrm>
              <a:off x="7793398" y="8380095"/>
              <a:ext cx="66675" cy="57340"/>
            </a:xfrm>
            <a:custGeom>
              <a:avLst/>
              <a:gdLst/>
              <a:ahLst/>
              <a:cxnLst/>
              <a:rect l="0" t="0" r="0" b="0"/>
              <a:pathLst>
                <a:path w="66675" h="57340">
                  <a:moveTo>
                    <a:pt x="0" y="28670"/>
                  </a:moveTo>
                  <a:lnTo>
                    <a:pt x="66675" y="57340"/>
                  </a:lnTo>
                  <a:lnTo>
                    <a:pt x="66675" y="0"/>
                  </a:lnTo>
                  <a:close/>
                </a:path>
              </a:pathLst>
            </a:custGeom>
            <a:solidFill>
              <a:srgbClr val="3B8C80"/>
            </a:solidFill>
            <a:ln w="0">
              <a:noFill/>
              <a:prstDash val="solid"/>
            </a:ln>
          </p:spPr>
        </p:sp>
        <p:sp>
          <p:nvSpPr>
            <p:cNvPr id="1417" name="Language query right refined">
              <a:extLst>
                <a:ext uri="{FF2B5EF4-FFF2-40B4-BE49-F238E27FC236}">
                  <a16:creationId xmlns:a16="http://schemas.microsoft.com/office/drawing/2014/main" id="{97C332FD-B4F7-4A69-7F24-BE35ED3CC233}"/>
                </a:ext>
              </a:extLst>
            </p:cNvPr>
            <p:cNvSpPr>
              <a:spLocks noGrp="1"/>
            </p:cNvSpPr>
            <p:nvPr/>
          </p:nvSpPr>
          <p:spPr>
            <a:xfrm>
              <a:off x="8965450" y="8408765"/>
              <a:ext cx="478917" cy="191"/>
            </a:xfrm>
            <a:custGeom>
              <a:avLst/>
              <a:gdLst/>
              <a:ahLst/>
              <a:cxnLst/>
              <a:rect l="0" t="0" r="0" b="0"/>
              <a:pathLst>
                <a:path w="478917" h="191">
                  <a:moveTo>
                    <a:pt x="0" y="0"/>
                  </a:moveTo>
                  <a:lnTo>
                    <a:pt x="478917" y="0"/>
                  </a:lnTo>
                </a:path>
              </a:pathLst>
            </a:custGeom>
            <a:noFill/>
            <a:ln w="8505">
              <a:solidFill>
                <a:srgbClr val="3B8C80"/>
              </a:solidFill>
              <a:prstDash val="solid"/>
            </a:ln>
          </p:spPr>
        </p:sp>
        <p:sp>
          <p:nvSpPr>
            <p:cNvPr id="1418" name="Language query right refined head">
              <a:extLst>
                <a:ext uri="{FF2B5EF4-FFF2-40B4-BE49-F238E27FC236}">
                  <a16:creationId xmlns:a16="http://schemas.microsoft.com/office/drawing/2014/main" id="{4B6A3B32-B3D1-5F9B-FDB9-6517BE3635C2}"/>
                </a:ext>
              </a:extLst>
            </p:cNvPr>
            <p:cNvSpPr>
              <a:spLocks noGrp="1"/>
            </p:cNvSpPr>
            <p:nvPr/>
          </p:nvSpPr>
          <p:spPr>
            <a:xfrm>
              <a:off x="9401028" y="8380095"/>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419" name="Language to fusion refined">
              <a:extLst>
                <a:ext uri="{FF2B5EF4-FFF2-40B4-BE49-F238E27FC236}">
                  <a16:creationId xmlns:a16="http://schemas.microsoft.com/office/drawing/2014/main" id="{CC1BD470-88ED-E459-BC64-3926AF1B81FC}"/>
                </a:ext>
              </a:extLst>
            </p:cNvPr>
            <p:cNvSpPr>
              <a:spLocks noGrp="1"/>
            </p:cNvSpPr>
            <p:nvPr/>
          </p:nvSpPr>
          <p:spPr>
            <a:xfrm>
              <a:off x="8630551" y="8475726"/>
              <a:ext cx="191" cy="281845"/>
            </a:xfrm>
            <a:custGeom>
              <a:avLst/>
              <a:gdLst/>
              <a:ahLst/>
              <a:cxnLst/>
              <a:rect l="0" t="0" r="0" b="0"/>
              <a:pathLst>
                <a:path w="191" h="281845">
                  <a:moveTo>
                    <a:pt x="0" y="0"/>
                  </a:moveTo>
                  <a:lnTo>
                    <a:pt x="0" y="281845"/>
                  </a:lnTo>
                </a:path>
              </a:pathLst>
            </a:custGeom>
            <a:noFill/>
            <a:ln w="8505">
              <a:solidFill>
                <a:srgbClr val="3B8C80"/>
              </a:solidFill>
              <a:prstDash val="solid"/>
            </a:ln>
          </p:spPr>
        </p:sp>
        <p:sp>
          <p:nvSpPr>
            <p:cNvPr id="1420" name="Language to fusion refined head">
              <a:extLst>
                <a:ext uri="{FF2B5EF4-FFF2-40B4-BE49-F238E27FC236}">
                  <a16:creationId xmlns:a16="http://schemas.microsoft.com/office/drawing/2014/main" id="{7DE28A53-D82C-C158-A00E-484E630E57C6}"/>
                </a:ext>
              </a:extLst>
            </p:cNvPr>
            <p:cNvSpPr>
              <a:spLocks noGrp="1"/>
            </p:cNvSpPr>
            <p:nvPr/>
          </p:nvSpPr>
          <p:spPr>
            <a:xfrm>
              <a:off x="8601880" y="8714232"/>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21" name="Graph attention to fusion refined">
              <a:extLst>
                <a:ext uri="{FF2B5EF4-FFF2-40B4-BE49-F238E27FC236}">
                  <a16:creationId xmlns:a16="http://schemas.microsoft.com/office/drawing/2014/main" id="{9DE07E88-6455-6397-3B15-5E2794D66EC1}"/>
                </a:ext>
              </a:extLst>
            </p:cNvPr>
            <p:cNvSpPr>
              <a:spLocks noGrp="1"/>
            </p:cNvSpPr>
            <p:nvPr/>
          </p:nvSpPr>
          <p:spPr>
            <a:xfrm>
              <a:off x="7067879" y="8585549"/>
              <a:ext cx="1092899" cy="362807"/>
            </a:xfrm>
            <a:custGeom>
              <a:avLst/>
              <a:gdLst/>
              <a:ahLst/>
              <a:cxnLst/>
              <a:rect l="0" t="0" r="0" b="0"/>
              <a:pathLst>
                <a:path w="1092899" h="362807">
                  <a:moveTo>
                    <a:pt x="0" y="0"/>
                  </a:moveTo>
                  <a:lnTo>
                    <a:pt x="0" y="362807"/>
                  </a:lnTo>
                  <a:lnTo>
                    <a:pt x="1092899" y="362807"/>
                  </a:lnTo>
                </a:path>
              </a:pathLst>
            </a:custGeom>
            <a:noFill/>
            <a:ln w="8505">
              <a:solidFill>
                <a:srgbClr val="3B8C80"/>
              </a:solidFill>
              <a:prstDash val="solid"/>
            </a:ln>
          </p:spPr>
        </p:sp>
        <p:sp>
          <p:nvSpPr>
            <p:cNvPr id="1422" name="Graph attention to fusion refined head">
              <a:extLst>
                <a:ext uri="{FF2B5EF4-FFF2-40B4-BE49-F238E27FC236}">
                  <a16:creationId xmlns:a16="http://schemas.microsoft.com/office/drawing/2014/main" id="{80249588-4991-7EA9-C183-E31DFF970425}"/>
                </a:ext>
              </a:extLst>
            </p:cNvPr>
            <p:cNvSpPr>
              <a:spLocks noGrp="1"/>
            </p:cNvSpPr>
            <p:nvPr/>
          </p:nvSpPr>
          <p:spPr>
            <a:xfrm>
              <a:off x="8117439" y="8919686"/>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423" name="Context attention to fusion refined">
              <a:extLst>
                <a:ext uri="{FF2B5EF4-FFF2-40B4-BE49-F238E27FC236}">
                  <a16:creationId xmlns:a16="http://schemas.microsoft.com/office/drawing/2014/main" id="{EB1CDE84-2AAC-05C7-2AC2-7F0CD69C4010}"/>
                </a:ext>
              </a:extLst>
            </p:cNvPr>
            <p:cNvSpPr>
              <a:spLocks noGrp="1"/>
            </p:cNvSpPr>
            <p:nvPr/>
          </p:nvSpPr>
          <p:spPr>
            <a:xfrm>
              <a:off x="9100419" y="8585549"/>
              <a:ext cx="1130046" cy="362807"/>
            </a:xfrm>
            <a:custGeom>
              <a:avLst/>
              <a:gdLst/>
              <a:ahLst/>
              <a:cxnLst/>
              <a:rect l="0" t="0" r="0" b="0"/>
              <a:pathLst>
                <a:path w="1130046" h="362807">
                  <a:moveTo>
                    <a:pt x="1130046" y="0"/>
                  </a:moveTo>
                  <a:lnTo>
                    <a:pt x="1130046" y="362807"/>
                  </a:lnTo>
                  <a:lnTo>
                    <a:pt x="0" y="362807"/>
                  </a:lnTo>
                </a:path>
              </a:pathLst>
            </a:custGeom>
            <a:noFill/>
            <a:ln w="8505">
              <a:solidFill>
                <a:srgbClr val="3B8C80"/>
              </a:solidFill>
              <a:prstDash val="solid"/>
            </a:ln>
          </p:spPr>
        </p:sp>
        <p:sp>
          <p:nvSpPr>
            <p:cNvPr id="1424" name="Context attention to fusion refined head">
              <a:extLst>
                <a:ext uri="{FF2B5EF4-FFF2-40B4-BE49-F238E27FC236}">
                  <a16:creationId xmlns:a16="http://schemas.microsoft.com/office/drawing/2014/main" id="{2AAA0335-3D51-EA88-2522-F717A483BF32}"/>
                </a:ext>
              </a:extLst>
            </p:cNvPr>
            <p:cNvSpPr>
              <a:spLocks noGrp="1"/>
            </p:cNvSpPr>
            <p:nvPr/>
          </p:nvSpPr>
          <p:spPr>
            <a:xfrm>
              <a:off x="9077083" y="8919686"/>
              <a:ext cx="66675" cy="57340"/>
            </a:xfrm>
            <a:custGeom>
              <a:avLst/>
              <a:gdLst/>
              <a:ahLst/>
              <a:cxnLst/>
              <a:rect l="0" t="0" r="0" b="0"/>
              <a:pathLst>
                <a:path w="66675" h="57340">
                  <a:moveTo>
                    <a:pt x="0" y="28670"/>
                  </a:moveTo>
                  <a:lnTo>
                    <a:pt x="66675" y="57340"/>
                  </a:lnTo>
                  <a:lnTo>
                    <a:pt x="66675" y="0"/>
                  </a:lnTo>
                  <a:close/>
                </a:path>
              </a:pathLst>
            </a:custGeom>
            <a:solidFill>
              <a:srgbClr val="3B8C80"/>
            </a:solidFill>
            <a:ln w="0">
              <a:noFill/>
              <a:prstDash val="solid"/>
            </a:ln>
          </p:spPr>
        </p:sp>
        <p:sp>
          <p:nvSpPr>
            <p:cNvPr id="1425" name="Fusion to identity vector refined">
              <a:extLst>
                <a:ext uri="{FF2B5EF4-FFF2-40B4-BE49-F238E27FC236}">
                  <a16:creationId xmlns:a16="http://schemas.microsoft.com/office/drawing/2014/main" id="{67958AAC-3FC5-4E94-249E-68F363396C6E}"/>
                </a:ext>
              </a:extLst>
            </p:cNvPr>
            <p:cNvSpPr>
              <a:spLocks noGrp="1"/>
            </p:cNvSpPr>
            <p:nvPr/>
          </p:nvSpPr>
          <p:spPr>
            <a:xfrm>
              <a:off x="8630551" y="9115806"/>
              <a:ext cx="191" cy="244507"/>
            </a:xfrm>
            <a:custGeom>
              <a:avLst/>
              <a:gdLst/>
              <a:ahLst/>
              <a:cxnLst/>
              <a:rect l="0" t="0" r="0" b="0"/>
              <a:pathLst>
                <a:path w="191" h="244507">
                  <a:moveTo>
                    <a:pt x="0" y="0"/>
                  </a:moveTo>
                  <a:lnTo>
                    <a:pt x="0" y="244507"/>
                  </a:lnTo>
                </a:path>
              </a:pathLst>
            </a:custGeom>
            <a:noFill/>
            <a:ln w="8505">
              <a:solidFill>
                <a:srgbClr val="3B8C80"/>
              </a:solidFill>
              <a:prstDash val="solid"/>
            </a:ln>
          </p:spPr>
        </p:sp>
        <p:sp>
          <p:nvSpPr>
            <p:cNvPr id="1426" name="Fusion to identity vector refined head">
              <a:extLst>
                <a:ext uri="{FF2B5EF4-FFF2-40B4-BE49-F238E27FC236}">
                  <a16:creationId xmlns:a16="http://schemas.microsoft.com/office/drawing/2014/main" id="{5B85A195-1A68-48DC-E553-B1E99915D03B}"/>
                </a:ext>
              </a:extLst>
            </p:cNvPr>
            <p:cNvSpPr>
              <a:spLocks noGrp="1"/>
            </p:cNvSpPr>
            <p:nvPr/>
          </p:nvSpPr>
          <p:spPr>
            <a:xfrm>
              <a:off x="8601880" y="9316974"/>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27" name="Identity vector to cosine refined">
              <a:extLst>
                <a:ext uri="{FF2B5EF4-FFF2-40B4-BE49-F238E27FC236}">
                  <a16:creationId xmlns:a16="http://schemas.microsoft.com/office/drawing/2014/main" id="{DDE80B97-A909-A736-F258-523B74319AC3}"/>
                </a:ext>
              </a:extLst>
            </p:cNvPr>
            <p:cNvSpPr>
              <a:spLocks noGrp="1"/>
            </p:cNvSpPr>
            <p:nvPr/>
          </p:nvSpPr>
          <p:spPr>
            <a:xfrm>
              <a:off x="8630551" y="9517571"/>
              <a:ext cx="191" cy="253841"/>
            </a:xfrm>
            <a:custGeom>
              <a:avLst/>
              <a:gdLst/>
              <a:ahLst/>
              <a:cxnLst/>
              <a:rect l="0" t="0" r="0" b="0"/>
              <a:pathLst>
                <a:path w="191" h="253841">
                  <a:moveTo>
                    <a:pt x="0" y="0"/>
                  </a:moveTo>
                  <a:lnTo>
                    <a:pt x="0" y="253841"/>
                  </a:lnTo>
                </a:path>
              </a:pathLst>
            </a:custGeom>
            <a:noFill/>
            <a:ln w="8505">
              <a:solidFill>
                <a:srgbClr val="3B8C80"/>
              </a:solidFill>
              <a:prstDash val="solid"/>
            </a:ln>
          </p:spPr>
        </p:sp>
        <p:sp>
          <p:nvSpPr>
            <p:cNvPr id="1428" name="Identity vector to cosine refined head">
              <a:extLst>
                <a:ext uri="{FF2B5EF4-FFF2-40B4-BE49-F238E27FC236}">
                  <a16:creationId xmlns:a16="http://schemas.microsoft.com/office/drawing/2014/main" id="{E490B029-346A-A57E-7B15-889C23CE6281}"/>
                </a:ext>
              </a:extLst>
            </p:cNvPr>
            <p:cNvSpPr>
              <a:spLocks noGrp="1"/>
            </p:cNvSpPr>
            <p:nvPr/>
          </p:nvSpPr>
          <p:spPr>
            <a:xfrm>
              <a:off x="8601880" y="9728073"/>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29" name="Cosine to score matrix refined">
              <a:extLst>
                <a:ext uri="{FF2B5EF4-FFF2-40B4-BE49-F238E27FC236}">
                  <a16:creationId xmlns:a16="http://schemas.microsoft.com/office/drawing/2014/main" id="{B53F289C-77E1-6513-62C8-F939A23BF1B2}"/>
                </a:ext>
              </a:extLst>
            </p:cNvPr>
            <p:cNvSpPr>
              <a:spLocks noGrp="1"/>
            </p:cNvSpPr>
            <p:nvPr/>
          </p:nvSpPr>
          <p:spPr>
            <a:xfrm>
              <a:off x="9039935" y="9971532"/>
              <a:ext cx="619030" cy="191"/>
            </a:xfrm>
            <a:custGeom>
              <a:avLst/>
              <a:gdLst/>
              <a:ahLst/>
              <a:cxnLst/>
              <a:rect l="0" t="0" r="0" b="0"/>
              <a:pathLst>
                <a:path w="619030" h="191">
                  <a:moveTo>
                    <a:pt x="0" y="0"/>
                  </a:moveTo>
                  <a:lnTo>
                    <a:pt x="619030" y="0"/>
                  </a:lnTo>
                </a:path>
              </a:pathLst>
            </a:custGeom>
            <a:noFill/>
            <a:ln w="8505">
              <a:solidFill>
                <a:srgbClr val="3B8C80"/>
              </a:solidFill>
              <a:prstDash val="solid"/>
            </a:ln>
          </p:spPr>
        </p:sp>
        <p:sp>
          <p:nvSpPr>
            <p:cNvPr id="1430" name="Cosine to score matrix refined head">
              <a:extLst>
                <a:ext uri="{FF2B5EF4-FFF2-40B4-BE49-F238E27FC236}">
                  <a16:creationId xmlns:a16="http://schemas.microsoft.com/office/drawing/2014/main" id="{7D1ABF5A-29C9-76A4-1903-E132A41C0C6D}"/>
                </a:ext>
              </a:extLst>
            </p:cNvPr>
            <p:cNvSpPr>
              <a:spLocks noGrp="1"/>
            </p:cNvSpPr>
            <p:nvPr/>
          </p:nvSpPr>
          <p:spPr>
            <a:xfrm>
              <a:off x="9615626" y="9942862"/>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grpSp>
      <p:pic>
        <p:nvPicPr>
          <p:cNvPr id="1436" name="Match clear receptor" descr="Receptor cartoon rendered from unchanged local coordinates, chain C1 of the 9LLG CA2 model.">
            <a:extLst>
              <a:ext uri="{FF2B5EF4-FFF2-40B4-BE49-F238E27FC236}">
                <a16:creationId xmlns:a16="http://schemas.microsoft.com/office/drawing/2014/main" id="{515E1CE9-4EFA-F96B-A08A-C6C2EC64DC6F}"/>
              </a:ext>
            </a:extLst>
          </p:cNvPr>
          <p:cNvPicPr/>
          <p:nvPr/>
        </p:nvPicPr>
        <p:blipFill>
          <a:blip r:embed="rId7"/>
          <a:srcRect l="16857" t="30389" r="19786" b="22500"/>
          <a:stretch>
            <a:fillRect/>
          </a:stretch>
        </p:blipFill>
        <p:spPr>
          <a:xfrm>
            <a:off x="628714" y="2388765"/>
            <a:ext cx="332109" cy="317507"/>
          </a:xfrm>
          <a:prstGeom prst="rect">
            <a:avLst/>
          </a:prstGeom>
        </p:spPr>
      </p:pic>
      <p:sp>
        <p:nvSpPr>
          <p:cNvPr id="1442" name="文本框 1441">
            <a:extLst>
              <a:ext uri="{FF2B5EF4-FFF2-40B4-BE49-F238E27FC236}">
                <a16:creationId xmlns:a16="http://schemas.microsoft.com/office/drawing/2014/main" id="{814431DA-F1EE-CFB8-E7E0-CF4D130ECF44}"/>
              </a:ext>
            </a:extLst>
          </p:cNvPr>
          <p:cNvSpPr txBox="1"/>
          <p:nvPr/>
        </p:nvSpPr>
        <p:spPr>
          <a:xfrm>
            <a:off x="1260165" y="775016"/>
            <a:ext cx="559769" cy="176972"/>
          </a:xfrm>
          <a:prstGeom prst="rect">
            <a:avLst/>
          </a:prstGeom>
          <a:noFill/>
        </p:spPr>
        <p:txBody>
          <a:bodyPr wrap="none" rtlCol="0">
            <a:spAutoFit/>
          </a:bodyPr>
          <a:lstStyle/>
          <a:p>
            <a:r>
              <a:rPr lang="en-US" altLang="zh-CN" sz="550" dirty="0">
                <a:solidFill>
                  <a:srgbClr val="263442"/>
                </a:solidFill>
                <a:latin typeface="Arial"/>
                <a:cs typeface="Arial"/>
              </a:rPr>
              <a:t>56 channels</a:t>
            </a:r>
            <a:endParaRPr lang="zh-CN" altLang="en-US" sz="550" dirty="0">
              <a:solidFill>
                <a:srgbClr val="263442"/>
              </a:solidFill>
              <a:latin typeface="Arial"/>
              <a:cs typeface="Arial"/>
            </a:endParaRPr>
          </a:p>
        </p:txBody>
      </p:sp>
      <p:sp>
        <p:nvSpPr>
          <p:cNvPr id="1443" name="V8 embedding computation frame">
            <a:extLst>
              <a:ext uri="{FF2B5EF4-FFF2-40B4-BE49-F238E27FC236}">
                <a16:creationId xmlns:a16="http://schemas.microsoft.com/office/drawing/2014/main" id="{FB41A424-8C9A-2DA8-76B2-57C0C54ECB10}"/>
              </a:ext>
            </a:extLst>
          </p:cNvPr>
          <p:cNvSpPr/>
          <p:nvPr/>
        </p:nvSpPr>
        <p:spPr>
          <a:xfrm>
            <a:off x="1351898" y="1318283"/>
            <a:ext cx="386080" cy="417830"/>
          </a:xfrm>
          <a:prstGeom prst="roundRect">
            <a:avLst>
              <a:gd name="adj" fmla="val 6579"/>
            </a:avLst>
          </a:prstGeom>
          <a:solidFill>
            <a:srgbClr val="F8FAFC"/>
          </a:solidFill>
          <a:ln w="6096" cap="rnd">
            <a:solidFill>
              <a:srgbClr val="C3D4E6"/>
            </a:solidFill>
            <a:prstDash val="solid"/>
            <a:round/>
          </a:ln>
        </p:spPr>
      </p:sp>
      <p:sp>
        <p:nvSpPr>
          <p:cNvPr id="1444" name="V8 embedding neighbor 1 to center">
            <a:extLst>
              <a:ext uri="{FF2B5EF4-FFF2-40B4-BE49-F238E27FC236}">
                <a16:creationId xmlns:a16="http://schemas.microsoft.com/office/drawing/2014/main" id="{3355B015-AF42-20CF-CA69-CEE14894D5E1}"/>
              </a:ext>
            </a:extLst>
          </p:cNvPr>
          <p:cNvSpPr/>
          <p:nvPr/>
        </p:nvSpPr>
        <p:spPr>
          <a:xfrm>
            <a:off x="1408080" y="1388677"/>
            <a:ext cx="84338" cy="113635"/>
          </a:xfrm>
          <a:custGeom>
            <a:avLst/>
            <a:gdLst/>
            <a:ahLst/>
            <a:cxnLst/>
            <a:rect l="l" t="t" r="r" b="b"/>
            <a:pathLst>
              <a:path w="84338" h="113635">
                <a:moveTo>
                  <a:pt x="0" y="0"/>
                </a:moveTo>
                <a:lnTo>
                  <a:pt x="84338" y="113635"/>
                </a:lnTo>
              </a:path>
            </a:pathLst>
          </a:custGeom>
          <a:noFill/>
          <a:ln w="5842" cap="rnd">
            <a:solidFill>
              <a:srgbClr val="4083B4"/>
            </a:solidFill>
            <a:prstDash val="solid"/>
            <a:round/>
          </a:ln>
        </p:spPr>
      </p:sp>
      <p:sp>
        <p:nvSpPr>
          <p:cNvPr id="1445" name="V8 embedding neighbor 1 to center head">
            <a:extLst>
              <a:ext uri="{FF2B5EF4-FFF2-40B4-BE49-F238E27FC236}">
                <a16:creationId xmlns:a16="http://schemas.microsoft.com/office/drawing/2014/main" id="{27615381-2E0E-2FB6-4DD6-10A8B1F481AB}"/>
              </a:ext>
            </a:extLst>
          </p:cNvPr>
          <p:cNvSpPr/>
          <p:nvPr/>
        </p:nvSpPr>
        <p:spPr>
          <a:xfrm>
            <a:off x="1478827" y="1488319"/>
            <a:ext cx="18870" cy="21105"/>
          </a:xfrm>
          <a:custGeom>
            <a:avLst/>
            <a:gdLst/>
            <a:ahLst/>
            <a:cxnLst/>
            <a:rect l="l" t="t" r="r" b="b"/>
            <a:pathLst>
              <a:path w="18870" h="21105">
                <a:moveTo>
                  <a:pt x="18870" y="21105"/>
                </a:moveTo>
                <a:lnTo>
                  <a:pt x="14277" y="0"/>
                </a:lnTo>
                <a:lnTo>
                  <a:pt x="0" y="10596"/>
                </a:lnTo>
                <a:close/>
              </a:path>
            </a:pathLst>
          </a:custGeom>
          <a:solidFill>
            <a:srgbClr val="4083B4"/>
          </a:solidFill>
          <a:ln w="0" cap="rnd">
            <a:noFill/>
          </a:ln>
        </p:spPr>
      </p:sp>
      <p:sp>
        <p:nvSpPr>
          <p:cNvPr id="1446" name="V8 embedding neighbor 1">
            <a:extLst>
              <a:ext uri="{FF2B5EF4-FFF2-40B4-BE49-F238E27FC236}">
                <a16:creationId xmlns:a16="http://schemas.microsoft.com/office/drawing/2014/main" id="{B5E8A971-284C-84D2-C0DB-7EB12E4B5902}"/>
              </a:ext>
            </a:extLst>
          </p:cNvPr>
          <p:cNvSpPr/>
          <p:nvPr/>
        </p:nvSpPr>
        <p:spPr>
          <a:xfrm>
            <a:off x="1382060" y="1358582"/>
            <a:ext cx="28575" cy="28575"/>
          </a:xfrm>
          <a:prstGeom prst="ellipse">
            <a:avLst/>
          </a:prstGeom>
          <a:noFill/>
          <a:ln w="7112" cap="rnd">
            <a:solidFill>
              <a:srgbClr val="4083B4"/>
            </a:solidFill>
            <a:prstDash val="solid"/>
            <a:round/>
          </a:ln>
        </p:spPr>
      </p:sp>
      <p:sp>
        <p:nvSpPr>
          <p:cNvPr id="1447" name="V8 embedding neighbor 2 to center">
            <a:extLst>
              <a:ext uri="{FF2B5EF4-FFF2-40B4-BE49-F238E27FC236}">
                <a16:creationId xmlns:a16="http://schemas.microsoft.com/office/drawing/2014/main" id="{410E19AF-558D-0BA4-4F56-8A43CC949018}"/>
              </a:ext>
            </a:extLst>
          </p:cNvPr>
          <p:cNvSpPr/>
          <p:nvPr/>
        </p:nvSpPr>
        <p:spPr>
          <a:xfrm>
            <a:off x="1537980" y="1384737"/>
            <a:ext cx="68064" cy="115185"/>
          </a:xfrm>
          <a:custGeom>
            <a:avLst/>
            <a:gdLst/>
            <a:ahLst/>
            <a:cxnLst/>
            <a:rect l="l" t="t" r="r" b="b"/>
            <a:pathLst>
              <a:path w="68064" h="115185">
                <a:moveTo>
                  <a:pt x="68064" y="0"/>
                </a:moveTo>
                <a:lnTo>
                  <a:pt x="0" y="115185"/>
                </a:lnTo>
              </a:path>
            </a:pathLst>
          </a:custGeom>
          <a:noFill/>
          <a:ln w="5842" cap="rnd">
            <a:solidFill>
              <a:srgbClr val="4083B4"/>
            </a:solidFill>
            <a:prstDash val="solid"/>
            <a:round/>
          </a:ln>
        </p:spPr>
      </p:sp>
      <p:sp>
        <p:nvSpPr>
          <p:cNvPr id="1448" name="V8 embedding neighbor 2 to center head">
            <a:extLst>
              <a:ext uri="{FF2B5EF4-FFF2-40B4-BE49-F238E27FC236}">
                <a16:creationId xmlns:a16="http://schemas.microsoft.com/office/drawing/2014/main" id="{50A61875-DCE0-421C-1735-CFE0432F2E90}"/>
              </a:ext>
            </a:extLst>
          </p:cNvPr>
          <p:cNvSpPr/>
          <p:nvPr/>
        </p:nvSpPr>
        <p:spPr>
          <a:xfrm>
            <a:off x="1533473" y="1486079"/>
            <a:ext cx="17668" cy="21470"/>
          </a:xfrm>
          <a:custGeom>
            <a:avLst/>
            <a:gdLst/>
            <a:ahLst/>
            <a:cxnLst/>
            <a:rect l="l" t="t" r="r" b="b"/>
            <a:pathLst>
              <a:path w="17668" h="21470">
                <a:moveTo>
                  <a:pt x="0" y="21470"/>
                </a:moveTo>
                <a:lnTo>
                  <a:pt x="17668" y="9045"/>
                </a:lnTo>
                <a:lnTo>
                  <a:pt x="2361" y="0"/>
                </a:lnTo>
                <a:close/>
              </a:path>
            </a:pathLst>
          </a:custGeom>
          <a:solidFill>
            <a:srgbClr val="4083B4"/>
          </a:solidFill>
          <a:ln w="0" cap="rnd">
            <a:noFill/>
          </a:ln>
        </p:spPr>
      </p:sp>
      <p:sp>
        <p:nvSpPr>
          <p:cNvPr id="1449" name="V8 embedding neighbor 2">
            <a:extLst>
              <a:ext uri="{FF2B5EF4-FFF2-40B4-BE49-F238E27FC236}">
                <a16:creationId xmlns:a16="http://schemas.microsoft.com/office/drawing/2014/main" id="{7AEBAFCB-8ED1-BA01-F100-82AD32FAB4F6}"/>
              </a:ext>
            </a:extLst>
          </p:cNvPr>
          <p:cNvSpPr/>
          <p:nvPr/>
        </p:nvSpPr>
        <p:spPr>
          <a:xfrm>
            <a:off x="1600500" y="1352232"/>
            <a:ext cx="31115" cy="31115"/>
          </a:xfrm>
          <a:prstGeom prst="ellipse">
            <a:avLst/>
          </a:prstGeom>
          <a:noFill/>
          <a:ln w="7112" cap="rnd">
            <a:solidFill>
              <a:srgbClr val="4083B4"/>
            </a:solidFill>
            <a:prstDash val="solid"/>
            <a:round/>
          </a:ln>
        </p:spPr>
      </p:sp>
      <p:sp>
        <p:nvSpPr>
          <p:cNvPr id="1450" name="V8 embedding upper curved aggregation">
            <a:extLst>
              <a:ext uri="{FF2B5EF4-FFF2-40B4-BE49-F238E27FC236}">
                <a16:creationId xmlns:a16="http://schemas.microsoft.com/office/drawing/2014/main" id="{1726AB57-DCD6-4DAB-768F-79635F178651}"/>
              </a:ext>
            </a:extLst>
          </p:cNvPr>
          <p:cNvSpPr/>
          <p:nvPr/>
        </p:nvSpPr>
        <p:spPr>
          <a:xfrm>
            <a:off x="1551288" y="1449794"/>
            <a:ext cx="120650" cy="48806"/>
          </a:xfrm>
          <a:custGeom>
            <a:avLst/>
            <a:gdLst/>
            <a:ahLst/>
            <a:cxnLst/>
            <a:rect l="l" t="t" r="r" b="b"/>
            <a:pathLst>
              <a:path w="120650" h="48806">
                <a:moveTo>
                  <a:pt x="118713" y="0"/>
                </a:moveTo>
                <a:cubicBezTo>
                  <a:pt x="120650" y="36106"/>
                  <a:pt x="44450" y="29756"/>
                  <a:pt x="0" y="48806"/>
                </a:cubicBezTo>
              </a:path>
            </a:pathLst>
          </a:custGeom>
          <a:noFill/>
          <a:ln w="5842" cap="rnd">
            <a:solidFill>
              <a:srgbClr val="4083B4"/>
            </a:solidFill>
            <a:prstDash val="solid"/>
            <a:round/>
          </a:ln>
        </p:spPr>
      </p:sp>
      <p:sp>
        <p:nvSpPr>
          <p:cNvPr id="1451" name="V8 embedding upper curved aggregation tip">
            <a:extLst>
              <a:ext uri="{FF2B5EF4-FFF2-40B4-BE49-F238E27FC236}">
                <a16:creationId xmlns:a16="http://schemas.microsoft.com/office/drawing/2014/main" id="{2B3CEBDA-0E2D-671A-9B26-76F746F7D64B}"/>
              </a:ext>
            </a:extLst>
          </p:cNvPr>
          <p:cNvSpPr/>
          <p:nvPr/>
        </p:nvSpPr>
        <p:spPr>
          <a:xfrm>
            <a:off x="1542577" y="1498600"/>
            <a:ext cx="8711" cy="4690"/>
          </a:xfrm>
          <a:custGeom>
            <a:avLst/>
            <a:gdLst/>
            <a:ahLst/>
            <a:cxnLst/>
            <a:rect l="l" t="t" r="r" b="b"/>
            <a:pathLst>
              <a:path w="8711" h="4690">
                <a:moveTo>
                  <a:pt x="8711" y="0"/>
                </a:moveTo>
                <a:lnTo>
                  <a:pt x="0" y="4690"/>
                </a:lnTo>
              </a:path>
            </a:pathLst>
          </a:custGeom>
          <a:noFill/>
          <a:ln w="5842" cap="rnd">
            <a:solidFill>
              <a:srgbClr val="9481B1"/>
            </a:solidFill>
            <a:prstDash val="solid"/>
            <a:round/>
          </a:ln>
        </p:spPr>
      </p:sp>
      <p:sp>
        <p:nvSpPr>
          <p:cNvPr id="1452" name="V8 embedding upper curved aggregation tip head">
            <a:extLst>
              <a:ext uri="{FF2B5EF4-FFF2-40B4-BE49-F238E27FC236}">
                <a16:creationId xmlns:a16="http://schemas.microsoft.com/office/drawing/2014/main" id="{EA8590B6-001E-E7FA-C91E-6684CAB2CE42}"/>
              </a:ext>
            </a:extLst>
          </p:cNvPr>
          <p:cNvSpPr/>
          <p:nvPr/>
        </p:nvSpPr>
        <p:spPr>
          <a:xfrm>
            <a:off x="1534778" y="1490330"/>
            <a:ext cx="21547" cy="17160"/>
          </a:xfrm>
          <a:custGeom>
            <a:avLst/>
            <a:gdLst/>
            <a:ahLst/>
            <a:cxnLst/>
            <a:rect l="l" t="t" r="r" b="b"/>
            <a:pathLst>
              <a:path w="21547" h="17160">
                <a:moveTo>
                  <a:pt x="0" y="17160"/>
                </a:moveTo>
                <a:lnTo>
                  <a:pt x="21547" y="15655"/>
                </a:lnTo>
                <a:lnTo>
                  <a:pt x="13117" y="0"/>
                </a:lnTo>
                <a:close/>
              </a:path>
            </a:pathLst>
          </a:custGeom>
          <a:solidFill>
            <a:srgbClr val="4083B4"/>
          </a:solidFill>
          <a:ln w="0" cap="rnd">
            <a:noFill/>
          </a:ln>
        </p:spPr>
      </p:sp>
      <p:sp>
        <p:nvSpPr>
          <p:cNvPr id="1453" name="V8 embedding neighbor 3">
            <a:extLst>
              <a:ext uri="{FF2B5EF4-FFF2-40B4-BE49-F238E27FC236}">
                <a16:creationId xmlns:a16="http://schemas.microsoft.com/office/drawing/2014/main" id="{122DFBAE-E742-85F4-F8BE-661BC7410AFC}"/>
              </a:ext>
            </a:extLst>
          </p:cNvPr>
          <p:cNvSpPr/>
          <p:nvPr/>
        </p:nvSpPr>
        <p:spPr>
          <a:xfrm>
            <a:off x="1673208" y="1426210"/>
            <a:ext cx="27940" cy="27940"/>
          </a:xfrm>
          <a:prstGeom prst="ellipse">
            <a:avLst/>
          </a:prstGeom>
          <a:noFill/>
          <a:ln w="7112" cap="rnd">
            <a:solidFill>
              <a:srgbClr val="4083B4"/>
            </a:solidFill>
            <a:prstDash val="solid"/>
            <a:round/>
          </a:ln>
        </p:spPr>
      </p:sp>
      <p:sp>
        <p:nvSpPr>
          <p:cNvPr id="1454" name="V8 embedding curved aggregation">
            <a:extLst>
              <a:ext uri="{FF2B5EF4-FFF2-40B4-BE49-F238E27FC236}">
                <a16:creationId xmlns:a16="http://schemas.microsoft.com/office/drawing/2014/main" id="{90CEAB6E-EBCA-9F13-36DE-C928BA671D5A}"/>
              </a:ext>
            </a:extLst>
          </p:cNvPr>
          <p:cNvSpPr/>
          <p:nvPr/>
        </p:nvSpPr>
        <p:spPr>
          <a:xfrm>
            <a:off x="1392538" y="1503680"/>
            <a:ext cx="77470" cy="107970"/>
          </a:xfrm>
          <a:custGeom>
            <a:avLst/>
            <a:gdLst/>
            <a:ahLst/>
            <a:cxnLst/>
            <a:rect l="l" t="t" r="r" b="b"/>
            <a:pathLst>
              <a:path w="77470" h="107970">
                <a:moveTo>
                  <a:pt x="17311" y="107970"/>
                </a:moveTo>
                <a:cubicBezTo>
                  <a:pt x="0" y="29210"/>
                  <a:pt x="35560" y="0"/>
                  <a:pt x="77470" y="12700"/>
                </a:cubicBezTo>
              </a:path>
            </a:pathLst>
          </a:custGeom>
          <a:noFill/>
          <a:ln w="8890" cap="rnd">
            <a:solidFill>
              <a:srgbClr val="4083B4"/>
            </a:solidFill>
            <a:prstDash val="solid"/>
            <a:round/>
          </a:ln>
        </p:spPr>
      </p:sp>
      <p:sp>
        <p:nvSpPr>
          <p:cNvPr id="1455" name="V8 embedding curved aggregation tip">
            <a:extLst>
              <a:ext uri="{FF2B5EF4-FFF2-40B4-BE49-F238E27FC236}">
                <a16:creationId xmlns:a16="http://schemas.microsoft.com/office/drawing/2014/main" id="{4871021E-0B37-6092-4FB6-FB482931253B}"/>
              </a:ext>
            </a:extLst>
          </p:cNvPr>
          <p:cNvSpPr/>
          <p:nvPr/>
        </p:nvSpPr>
        <p:spPr>
          <a:xfrm>
            <a:off x="1470008" y="1516380"/>
            <a:ext cx="6039" cy="3020"/>
          </a:xfrm>
          <a:custGeom>
            <a:avLst/>
            <a:gdLst/>
            <a:ahLst/>
            <a:cxnLst/>
            <a:rect l="l" t="t" r="r" b="b"/>
            <a:pathLst>
              <a:path w="6039" h="3020">
                <a:moveTo>
                  <a:pt x="0" y="0"/>
                </a:moveTo>
                <a:lnTo>
                  <a:pt x="6039" y="3020"/>
                </a:lnTo>
              </a:path>
            </a:pathLst>
          </a:custGeom>
          <a:noFill/>
          <a:ln w="8890" cap="rnd">
            <a:solidFill>
              <a:srgbClr val="9481B1"/>
            </a:solidFill>
            <a:prstDash val="solid"/>
            <a:round/>
          </a:ln>
        </p:spPr>
      </p:sp>
      <p:sp>
        <p:nvSpPr>
          <p:cNvPr id="1456" name="V8 embedding curved aggregation tip head">
            <a:extLst>
              <a:ext uri="{FF2B5EF4-FFF2-40B4-BE49-F238E27FC236}">
                <a16:creationId xmlns:a16="http://schemas.microsoft.com/office/drawing/2014/main" id="{86BC3798-BFD4-0C2D-6F96-1C5CADB6D7BE}"/>
              </a:ext>
            </a:extLst>
          </p:cNvPr>
          <p:cNvSpPr/>
          <p:nvPr/>
        </p:nvSpPr>
        <p:spPr>
          <a:xfrm>
            <a:off x="1460116" y="1504405"/>
            <a:ext cx="25132" cy="19595"/>
          </a:xfrm>
          <a:custGeom>
            <a:avLst/>
            <a:gdLst/>
            <a:ahLst/>
            <a:cxnLst/>
            <a:rect l="l" t="t" r="r" b="b"/>
            <a:pathLst>
              <a:path w="25132" h="19595">
                <a:moveTo>
                  <a:pt x="25132" y="19595"/>
                </a:moveTo>
                <a:lnTo>
                  <a:pt x="9371" y="0"/>
                </a:lnTo>
                <a:lnTo>
                  <a:pt x="0" y="18743"/>
                </a:lnTo>
                <a:close/>
              </a:path>
            </a:pathLst>
          </a:custGeom>
          <a:solidFill>
            <a:srgbClr val="4083B4"/>
          </a:solidFill>
          <a:ln w="0" cap="rnd">
            <a:solidFill>
              <a:srgbClr val="4083B4"/>
            </a:solidFill>
          </a:ln>
        </p:spPr>
      </p:sp>
      <p:sp>
        <p:nvSpPr>
          <p:cNvPr id="1457" name="V8 embedding neighbor 4">
            <a:extLst>
              <a:ext uri="{FF2B5EF4-FFF2-40B4-BE49-F238E27FC236}">
                <a16:creationId xmlns:a16="http://schemas.microsoft.com/office/drawing/2014/main" id="{AEADE014-9292-2360-C2CE-F8C845E8BCFD}"/>
              </a:ext>
            </a:extLst>
          </p:cNvPr>
          <p:cNvSpPr/>
          <p:nvPr/>
        </p:nvSpPr>
        <p:spPr>
          <a:xfrm>
            <a:off x="1377933" y="1607185"/>
            <a:ext cx="31750" cy="31750"/>
          </a:xfrm>
          <a:prstGeom prst="ellipse">
            <a:avLst/>
          </a:prstGeom>
          <a:noFill/>
          <a:ln w="7112" cap="rnd">
            <a:solidFill>
              <a:srgbClr val="4083B4"/>
            </a:solidFill>
            <a:prstDash val="solid"/>
            <a:round/>
          </a:ln>
        </p:spPr>
      </p:sp>
      <p:sp>
        <p:nvSpPr>
          <p:cNvPr id="1458" name="V8 embedding neighbor 5 to center">
            <a:extLst>
              <a:ext uri="{FF2B5EF4-FFF2-40B4-BE49-F238E27FC236}">
                <a16:creationId xmlns:a16="http://schemas.microsoft.com/office/drawing/2014/main" id="{88F2ECE0-BE4E-6B10-0F14-901F5AD31AE6}"/>
              </a:ext>
            </a:extLst>
          </p:cNvPr>
          <p:cNvSpPr/>
          <p:nvPr/>
        </p:nvSpPr>
        <p:spPr>
          <a:xfrm>
            <a:off x="1508228" y="1576570"/>
            <a:ext cx="5857" cy="82734"/>
          </a:xfrm>
          <a:custGeom>
            <a:avLst/>
            <a:gdLst/>
            <a:ahLst/>
            <a:cxnLst/>
            <a:rect l="l" t="t" r="r" b="b"/>
            <a:pathLst>
              <a:path w="5857" h="82734">
                <a:moveTo>
                  <a:pt x="0" y="82734"/>
                </a:moveTo>
                <a:lnTo>
                  <a:pt x="5857" y="0"/>
                </a:lnTo>
              </a:path>
            </a:pathLst>
          </a:custGeom>
          <a:noFill/>
          <a:ln w="5842" cap="rnd">
            <a:solidFill>
              <a:srgbClr val="4083B4"/>
            </a:solidFill>
            <a:prstDash val="solid"/>
            <a:round/>
          </a:ln>
        </p:spPr>
      </p:sp>
      <p:sp>
        <p:nvSpPr>
          <p:cNvPr id="1459" name="V8 embedding neighbor 5 to center head">
            <a:extLst>
              <a:ext uri="{FF2B5EF4-FFF2-40B4-BE49-F238E27FC236}">
                <a16:creationId xmlns:a16="http://schemas.microsoft.com/office/drawing/2014/main" id="{4E579011-FEC4-00D3-7546-C5CB388C9A0A}"/>
              </a:ext>
            </a:extLst>
          </p:cNvPr>
          <p:cNvSpPr/>
          <p:nvPr/>
        </p:nvSpPr>
        <p:spPr>
          <a:xfrm>
            <a:off x="1504453" y="1567734"/>
            <a:ext cx="17736" cy="20264"/>
          </a:xfrm>
          <a:custGeom>
            <a:avLst/>
            <a:gdLst/>
            <a:ahLst/>
            <a:cxnLst/>
            <a:rect l="l" t="t" r="r" b="b"/>
            <a:pathLst>
              <a:path w="17736" h="20264">
                <a:moveTo>
                  <a:pt x="10258" y="0"/>
                </a:moveTo>
                <a:lnTo>
                  <a:pt x="0" y="19008"/>
                </a:lnTo>
                <a:lnTo>
                  <a:pt x="17736" y="20264"/>
                </a:lnTo>
                <a:close/>
              </a:path>
            </a:pathLst>
          </a:custGeom>
          <a:solidFill>
            <a:srgbClr val="4083B4"/>
          </a:solidFill>
          <a:ln w="0" cap="rnd">
            <a:solidFill>
              <a:srgbClr val="4083B4"/>
            </a:solidFill>
          </a:ln>
        </p:spPr>
      </p:sp>
      <p:sp>
        <p:nvSpPr>
          <p:cNvPr id="1460" name="V8 embedding neighbor 5">
            <a:extLst>
              <a:ext uri="{FF2B5EF4-FFF2-40B4-BE49-F238E27FC236}">
                <a16:creationId xmlns:a16="http://schemas.microsoft.com/office/drawing/2014/main" id="{80A6CA00-4D1C-000D-C0AF-7F59BA21FF45}"/>
              </a:ext>
            </a:extLst>
          </p:cNvPr>
          <p:cNvSpPr/>
          <p:nvPr/>
        </p:nvSpPr>
        <p:spPr>
          <a:xfrm>
            <a:off x="1492233" y="1664335"/>
            <a:ext cx="29210" cy="29210"/>
          </a:xfrm>
          <a:prstGeom prst="ellipse">
            <a:avLst/>
          </a:prstGeom>
          <a:noFill/>
          <a:ln w="7112" cap="rnd">
            <a:solidFill>
              <a:srgbClr val="4083B4"/>
            </a:solidFill>
            <a:prstDash val="solid"/>
            <a:round/>
          </a:ln>
        </p:spPr>
      </p:sp>
      <p:sp>
        <p:nvSpPr>
          <p:cNvPr id="1461" name="V8 embedding center">
            <a:extLst>
              <a:ext uri="{FF2B5EF4-FFF2-40B4-BE49-F238E27FC236}">
                <a16:creationId xmlns:a16="http://schemas.microsoft.com/office/drawing/2014/main" id="{0973F1A0-63C8-796C-8269-8DC9810E39E1}"/>
              </a:ext>
            </a:extLst>
          </p:cNvPr>
          <p:cNvSpPr/>
          <p:nvPr/>
        </p:nvSpPr>
        <p:spPr>
          <a:xfrm>
            <a:off x="1494773" y="1513205"/>
            <a:ext cx="44450" cy="44450"/>
          </a:xfrm>
          <a:prstGeom prst="ellipse">
            <a:avLst/>
          </a:prstGeom>
          <a:noFill/>
          <a:ln w="9906" cap="rnd">
            <a:solidFill>
              <a:srgbClr val="3B8C80"/>
            </a:solidFill>
            <a:prstDash val="solid"/>
            <a:round/>
          </a:ln>
        </p:spPr>
      </p:sp>
      <p:sp>
        <p:nvSpPr>
          <p:cNvPr id="1462" name="V8 embedding feature 1">
            <a:extLst>
              <a:ext uri="{FF2B5EF4-FFF2-40B4-BE49-F238E27FC236}">
                <a16:creationId xmlns:a16="http://schemas.microsoft.com/office/drawing/2014/main" id="{FE0417EE-6828-F09F-AACE-DE1F76BE3EB6}"/>
              </a:ext>
            </a:extLst>
          </p:cNvPr>
          <p:cNvSpPr/>
          <p:nvPr/>
        </p:nvSpPr>
        <p:spPr>
          <a:xfrm>
            <a:off x="1548748" y="1518285"/>
            <a:ext cx="18415" cy="34290"/>
          </a:xfrm>
          <a:prstGeom prst="rect">
            <a:avLst/>
          </a:prstGeom>
          <a:solidFill>
            <a:srgbClr val="3E8F9A"/>
          </a:solidFill>
          <a:ln w="0" cap="rnd">
            <a:noFill/>
          </a:ln>
        </p:spPr>
      </p:sp>
      <p:sp>
        <p:nvSpPr>
          <p:cNvPr id="1463" name="V8 embedding feature 2">
            <a:extLst>
              <a:ext uri="{FF2B5EF4-FFF2-40B4-BE49-F238E27FC236}">
                <a16:creationId xmlns:a16="http://schemas.microsoft.com/office/drawing/2014/main" id="{28DF18A8-B7D6-40CC-F8D0-1CE005F88971}"/>
              </a:ext>
            </a:extLst>
          </p:cNvPr>
          <p:cNvSpPr/>
          <p:nvPr/>
        </p:nvSpPr>
        <p:spPr>
          <a:xfrm>
            <a:off x="1568433" y="1518285"/>
            <a:ext cx="18415" cy="34290"/>
          </a:xfrm>
          <a:prstGeom prst="rect">
            <a:avLst/>
          </a:prstGeom>
          <a:solidFill>
            <a:srgbClr val="88BEC3"/>
          </a:solidFill>
          <a:ln w="0" cap="rnd">
            <a:noFill/>
          </a:ln>
        </p:spPr>
      </p:sp>
      <p:sp>
        <p:nvSpPr>
          <p:cNvPr id="1464" name="V8 embedding feature 3">
            <a:extLst>
              <a:ext uri="{FF2B5EF4-FFF2-40B4-BE49-F238E27FC236}">
                <a16:creationId xmlns:a16="http://schemas.microsoft.com/office/drawing/2014/main" id="{D8B2548F-FDCB-962F-D116-8194E608D854}"/>
              </a:ext>
            </a:extLst>
          </p:cNvPr>
          <p:cNvSpPr/>
          <p:nvPr/>
        </p:nvSpPr>
        <p:spPr>
          <a:xfrm>
            <a:off x="1588118" y="1518285"/>
            <a:ext cx="18415" cy="34290"/>
          </a:xfrm>
          <a:prstGeom prst="rect">
            <a:avLst/>
          </a:prstGeom>
          <a:solidFill>
            <a:srgbClr val="67AD9F"/>
          </a:solidFill>
          <a:ln w="0" cap="rnd">
            <a:noFill/>
          </a:ln>
        </p:spPr>
      </p:sp>
      <p:sp>
        <p:nvSpPr>
          <p:cNvPr id="1465" name="V8 embedding feature 4">
            <a:extLst>
              <a:ext uri="{FF2B5EF4-FFF2-40B4-BE49-F238E27FC236}">
                <a16:creationId xmlns:a16="http://schemas.microsoft.com/office/drawing/2014/main" id="{4DB56FF7-AE6A-29C2-0D4E-A50B4A01B329}"/>
              </a:ext>
            </a:extLst>
          </p:cNvPr>
          <p:cNvSpPr/>
          <p:nvPr/>
        </p:nvSpPr>
        <p:spPr>
          <a:xfrm>
            <a:off x="1607803" y="1518285"/>
            <a:ext cx="18415" cy="34290"/>
          </a:xfrm>
          <a:prstGeom prst="rect">
            <a:avLst/>
          </a:prstGeom>
          <a:solidFill>
            <a:srgbClr val="B6D8CC"/>
          </a:solidFill>
          <a:ln w="0" cap="rnd">
            <a:noFill/>
          </a:ln>
        </p:spPr>
      </p:sp>
      <p:sp>
        <p:nvSpPr>
          <p:cNvPr id="1466" name="V8 embedding feature 5">
            <a:extLst>
              <a:ext uri="{FF2B5EF4-FFF2-40B4-BE49-F238E27FC236}">
                <a16:creationId xmlns:a16="http://schemas.microsoft.com/office/drawing/2014/main" id="{0834D08B-BC25-2ADC-AF12-5492513577F8}"/>
              </a:ext>
            </a:extLst>
          </p:cNvPr>
          <p:cNvSpPr/>
          <p:nvPr/>
        </p:nvSpPr>
        <p:spPr>
          <a:xfrm>
            <a:off x="1627488" y="1518285"/>
            <a:ext cx="18415" cy="34290"/>
          </a:xfrm>
          <a:prstGeom prst="rect">
            <a:avLst/>
          </a:prstGeom>
          <a:solidFill>
            <a:srgbClr val="3B8C80"/>
          </a:solidFill>
          <a:ln w="0" cap="rnd">
            <a:noFill/>
          </a:ln>
        </p:spPr>
      </p:sp>
      <p:sp>
        <p:nvSpPr>
          <p:cNvPr id="1467" name="V8 embedding feature 6">
            <a:extLst>
              <a:ext uri="{FF2B5EF4-FFF2-40B4-BE49-F238E27FC236}">
                <a16:creationId xmlns:a16="http://schemas.microsoft.com/office/drawing/2014/main" id="{7EDE9E92-6EF0-3023-2F22-6E7EFD9706C6}"/>
              </a:ext>
            </a:extLst>
          </p:cNvPr>
          <p:cNvSpPr/>
          <p:nvPr/>
        </p:nvSpPr>
        <p:spPr>
          <a:xfrm>
            <a:off x="1647173" y="1518285"/>
            <a:ext cx="18415" cy="34290"/>
          </a:xfrm>
          <a:prstGeom prst="rect">
            <a:avLst/>
          </a:prstGeom>
          <a:solidFill>
            <a:srgbClr val="A3CDDA"/>
          </a:solidFill>
          <a:ln w="0" cap="rnd">
            <a:noFill/>
          </a:ln>
        </p:spPr>
      </p:sp>
      <p:sp>
        <p:nvSpPr>
          <p:cNvPr id="1468" name="V8 embedding feature 7">
            <a:extLst>
              <a:ext uri="{FF2B5EF4-FFF2-40B4-BE49-F238E27FC236}">
                <a16:creationId xmlns:a16="http://schemas.microsoft.com/office/drawing/2014/main" id="{3791BD29-2650-00D8-2639-94010AF8036F}"/>
              </a:ext>
            </a:extLst>
          </p:cNvPr>
          <p:cNvSpPr/>
          <p:nvPr/>
        </p:nvSpPr>
        <p:spPr>
          <a:xfrm>
            <a:off x="1666858" y="1518285"/>
            <a:ext cx="18415" cy="34290"/>
          </a:xfrm>
          <a:prstGeom prst="rect">
            <a:avLst/>
          </a:prstGeom>
          <a:solidFill>
            <a:srgbClr val="6CAFA4"/>
          </a:solidFill>
          <a:ln w="0" cap="rnd">
            <a:noFill/>
          </a:ln>
        </p:spPr>
      </p:sp>
      <p:sp>
        <p:nvSpPr>
          <p:cNvPr id="1469" name="V8 embedding feature 8">
            <a:extLst>
              <a:ext uri="{FF2B5EF4-FFF2-40B4-BE49-F238E27FC236}">
                <a16:creationId xmlns:a16="http://schemas.microsoft.com/office/drawing/2014/main" id="{78D40256-09DE-A393-64FC-199BB5DEB767}"/>
              </a:ext>
            </a:extLst>
          </p:cNvPr>
          <p:cNvSpPr/>
          <p:nvPr/>
        </p:nvSpPr>
        <p:spPr>
          <a:xfrm>
            <a:off x="1686543" y="1518285"/>
            <a:ext cx="18415" cy="34290"/>
          </a:xfrm>
          <a:prstGeom prst="rect">
            <a:avLst/>
          </a:prstGeom>
          <a:solidFill>
            <a:srgbClr val="C4DDE0"/>
          </a:solidFill>
          <a:ln w="0" cap="rnd">
            <a:noFill/>
          </a:ln>
        </p:spPr>
      </p:sp>
      <p:sp>
        <p:nvSpPr>
          <p:cNvPr id="1471" name="V8 embedding to point branch">
            <a:extLst>
              <a:ext uri="{FF2B5EF4-FFF2-40B4-BE49-F238E27FC236}">
                <a16:creationId xmlns:a16="http://schemas.microsoft.com/office/drawing/2014/main" id="{CD0EF799-B1E4-C26B-BB25-441BB97890BE}"/>
              </a:ext>
            </a:extLst>
          </p:cNvPr>
          <p:cNvSpPr/>
          <p:nvPr/>
        </p:nvSpPr>
        <p:spPr>
          <a:xfrm flipV="1">
            <a:off x="1767191" y="1469001"/>
            <a:ext cx="157162" cy="66614"/>
          </a:xfrm>
          <a:custGeom>
            <a:avLst/>
            <a:gdLst/>
            <a:ahLst/>
            <a:cxnLst/>
            <a:rect l="l" t="t" r="r" b="b"/>
            <a:pathLst>
              <a:path w="63379" h="1">
                <a:moveTo>
                  <a:pt x="0" y="0"/>
                </a:moveTo>
                <a:lnTo>
                  <a:pt x="63379" y="0"/>
                </a:lnTo>
              </a:path>
            </a:pathLst>
          </a:custGeom>
          <a:noFill/>
          <a:ln w="8509" cap="rnd">
            <a:solidFill>
              <a:srgbClr val="4083B4"/>
            </a:solidFill>
            <a:prstDash val="solid"/>
            <a:round/>
          </a:ln>
        </p:spPr>
      </p:sp>
      <p:sp>
        <p:nvSpPr>
          <p:cNvPr id="1472" name="V8 embedding to point branch head">
            <a:extLst>
              <a:ext uri="{FF2B5EF4-FFF2-40B4-BE49-F238E27FC236}">
                <a16:creationId xmlns:a16="http://schemas.microsoft.com/office/drawing/2014/main" id="{EE5B1593-BB31-DCD1-99C7-141C7B857AF7}"/>
              </a:ext>
            </a:extLst>
          </p:cNvPr>
          <p:cNvSpPr/>
          <p:nvPr/>
        </p:nvSpPr>
        <p:spPr>
          <a:xfrm>
            <a:off x="1909057" y="1523745"/>
            <a:ext cx="28321" cy="24384"/>
          </a:xfrm>
          <a:custGeom>
            <a:avLst/>
            <a:gdLst/>
            <a:ahLst/>
            <a:cxnLst/>
            <a:rect l="l" t="t" r="r" b="b"/>
            <a:pathLst>
              <a:path w="28321" h="24384">
                <a:moveTo>
                  <a:pt x="28321" y="12192"/>
                </a:moveTo>
                <a:lnTo>
                  <a:pt x="0" y="0"/>
                </a:lnTo>
                <a:lnTo>
                  <a:pt x="0" y="24384"/>
                </a:lnTo>
                <a:close/>
              </a:path>
            </a:pathLst>
          </a:custGeom>
          <a:solidFill>
            <a:srgbClr val="4083B4"/>
          </a:solidFill>
          <a:ln w="0" cap="rnd">
            <a:solidFill>
              <a:srgbClr val="4083B4"/>
            </a:solidFill>
          </a:ln>
        </p:spPr>
      </p:sp>
      <p:sp>
        <p:nvSpPr>
          <p:cNvPr id="1473" name="V8 embedding to voxel branch">
            <a:extLst>
              <a:ext uri="{FF2B5EF4-FFF2-40B4-BE49-F238E27FC236}">
                <a16:creationId xmlns:a16="http://schemas.microsoft.com/office/drawing/2014/main" id="{A9E148F4-6BCA-77FF-AE43-549D2AE883D5}"/>
              </a:ext>
            </a:extLst>
          </p:cNvPr>
          <p:cNvSpPr/>
          <p:nvPr/>
        </p:nvSpPr>
        <p:spPr>
          <a:xfrm flipH="1">
            <a:off x="1787927" y="835707"/>
            <a:ext cx="45719" cy="699723"/>
          </a:xfrm>
          <a:custGeom>
            <a:avLst/>
            <a:gdLst/>
            <a:ahLst/>
            <a:cxnLst/>
            <a:rect l="l" t="t" r="r" b="b"/>
            <a:pathLst>
              <a:path w="1" h="866159">
                <a:moveTo>
                  <a:pt x="0" y="866159"/>
                </a:moveTo>
                <a:lnTo>
                  <a:pt x="0" y="0"/>
                </a:lnTo>
              </a:path>
            </a:pathLst>
          </a:custGeom>
          <a:noFill/>
          <a:ln w="8509" cap="rnd">
            <a:solidFill>
              <a:srgbClr val="4083B4"/>
            </a:solidFill>
            <a:prstDash val="solid"/>
            <a:round/>
          </a:ln>
        </p:spPr>
      </p:sp>
      <p:sp>
        <p:nvSpPr>
          <p:cNvPr id="1475" name="V8 density and receptor to voxel">
            <a:extLst>
              <a:ext uri="{FF2B5EF4-FFF2-40B4-BE49-F238E27FC236}">
                <a16:creationId xmlns:a16="http://schemas.microsoft.com/office/drawing/2014/main" id="{61ECA984-FF9D-A5D0-F819-33661D001ABE}"/>
              </a:ext>
            </a:extLst>
          </p:cNvPr>
          <p:cNvSpPr/>
          <p:nvPr/>
        </p:nvSpPr>
        <p:spPr>
          <a:xfrm flipV="1">
            <a:off x="1767284" y="610807"/>
            <a:ext cx="148072" cy="45719"/>
          </a:xfrm>
          <a:custGeom>
            <a:avLst/>
            <a:gdLst/>
            <a:ahLst/>
            <a:cxnLst/>
            <a:rect l="l" t="t" r="r" b="b"/>
            <a:pathLst>
              <a:path w="96730" h="1">
                <a:moveTo>
                  <a:pt x="0" y="0"/>
                </a:moveTo>
                <a:lnTo>
                  <a:pt x="96730" y="0"/>
                </a:lnTo>
              </a:path>
            </a:pathLst>
          </a:custGeom>
          <a:noFill/>
          <a:ln w="8509" cap="rnd">
            <a:solidFill>
              <a:srgbClr val="4083B4"/>
            </a:solidFill>
            <a:prstDash val="solid"/>
            <a:round/>
          </a:ln>
        </p:spPr>
      </p:sp>
      <p:sp>
        <p:nvSpPr>
          <p:cNvPr id="1476" name="V8 density and receptor to voxel head">
            <a:extLst>
              <a:ext uri="{FF2B5EF4-FFF2-40B4-BE49-F238E27FC236}">
                <a16:creationId xmlns:a16="http://schemas.microsoft.com/office/drawing/2014/main" id="{D6CAD338-44F5-8993-3618-9A1839CB2DBC}"/>
              </a:ext>
            </a:extLst>
          </p:cNvPr>
          <p:cNvSpPr/>
          <p:nvPr/>
        </p:nvSpPr>
        <p:spPr>
          <a:xfrm>
            <a:off x="1904526" y="644334"/>
            <a:ext cx="28321" cy="24384"/>
          </a:xfrm>
          <a:custGeom>
            <a:avLst/>
            <a:gdLst/>
            <a:ahLst/>
            <a:cxnLst/>
            <a:rect l="l" t="t" r="r" b="b"/>
            <a:pathLst>
              <a:path w="28321" h="24384">
                <a:moveTo>
                  <a:pt x="28321" y="12192"/>
                </a:moveTo>
                <a:lnTo>
                  <a:pt x="0" y="0"/>
                </a:lnTo>
                <a:lnTo>
                  <a:pt x="0" y="24384"/>
                </a:lnTo>
                <a:close/>
              </a:path>
            </a:pathLst>
          </a:custGeom>
          <a:solidFill>
            <a:srgbClr val="4083B4"/>
          </a:solidFill>
          <a:ln w="0" cap="rnd">
            <a:noFill/>
          </a:ln>
        </p:spPr>
      </p:sp>
      <p:sp>
        <p:nvSpPr>
          <p:cNvPr id="1479" name="V8 Match input divider">
            <a:extLst>
              <a:ext uri="{FF2B5EF4-FFF2-40B4-BE49-F238E27FC236}">
                <a16:creationId xmlns:a16="http://schemas.microsoft.com/office/drawing/2014/main" id="{2EDC4EC7-D903-3262-650D-444D37299D28}"/>
              </a:ext>
            </a:extLst>
          </p:cNvPr>
          <p:cNvSpPr/>
          <p:nvPr/>
        </p:nvSpPr>
        <p:spPr>
          <a:xfrm>
            <a:off x="576470" y="2767063"/>
            <a:ext cx="957199" cy="1"/>
          </a:xfrm>
          <a:custGeom>
            <a:avLst/>
            <a:gdLst/>
            <a:ahLst/>
            <a:cxnLst/>
            <a:rect l="l" t="t" r="r" b="b"/>
            <a:pathLst>
              <a:path w="957199" h="1">
                <a:moveTo>
                  <a:pt x="0" y="0"/>
                </a:moveTo>
                <a:lnTo>
                  <a:pt x="957199" y="0"/>
                </a:lnTo>
              </a:path>
            </a:pathLst>
          </a:custGeom>
          <a:noFill/>
          <a:ln w="7290" cap="rnd">
            <a:solidFill>
              <a:srgbClr val="B6CEC5"/>
            </a:solidFill>
            <a:prstDash val="solid"/>
            <a:round/>
          </a:ln>
        </p:spPr>
      </p:sp>
      <p:sp>
        <p:nvSpPr>
          <p:cNvPr id="1480" name="V8 pool to concat">
            <a:extLst>
              <a:ext uri="{FF2B5EF4-FFF2-40B4-BE49-F238E27FC236}">
                <a16:creationId xmlns:a16="http://schemas.microsoft.com/office/drawing/2014/main" id="{3702663D-F294-9B06-B213-0076F82464A6}"/>
              </a:ext>
            </a:extLst>
          </p:cNvPr>
          <p:cNvSpPr/>
          <p:nvPr/>
        </p:nvSpPr>
        <p:spPr>
          <a:xfrm>
            <a:off x="881771" y="3603168"/>
            <a:ext cx="355873" cy="100152"/>
          </a:xfrm>
          <a:custGeom>
            <a:avLst/>
            <a:gdLst/>
            <a:ahLst/>
            <a:cxnLst/>
            <a:rect l="l" t="t" r="r" b="b"/>
            <a:pathLst>
              <a:path w="355873" h="100152">
                <a:moveTo>
                  <a:pt x="0" y="0"/>
                </a:moveTo>
                <a:lnTo>
                  <a:pt x="0" y="100152"/>
                </a:lnTo>
                <a:lnTo>
                  <a:pt x="355873" y="100152"/>
                </a:lnTo>
              </a:path>
            </a:pathLst>
          </a:custGeom>
          <a:noFill/>
          <a:ln w="8509" cap="rnd">
            <a:solidFill>
              <a:srgbClr val="3B8C80"/>
            </a:solidFill>
            <a:prstDash val="solid"/>
            <a:round/>
          </a:ln>
        </p:spPr>
      </p:sp>
      <p:sp>
        <p:nvSpPr>
          <p:cNvPr id="1481" name="V8 attention to concat">
            <a:extLst>
              <a:ext uri="{FF2B5EF4-FFF2-40B4-BE49-F238E27FC236}">
                <a16:creationId xmlns:a16="http://schemas.microsoft.com/office/drawing/2014/main" id="{45C4FCB5-3380-E3A8-B0B1-54A427F52361}"/>
              </a:ext>
            </a:extLst>
          </p:cNvPr>
          <p:cNvSpPr/>
          <p:nvPr/>
        </p:nvSpPr>
        <p:spPr>
          <a:xfrm>
            <a:off x="1237644" y="3603168"/>
            <a:ext cx="356064" cy="100152"/>
          </a:xfrm>
          <a:custGeom>
            <a:avLst/>
            <a:gdLst/>
            <a:ahLst/>
            <a:cxnLst/>
            <a:rect l="l" t="t" r="r" b="b"/>
            <a:pathLst>
              <a:path w="356064" h="100152">
                <a:moveTo>
                  <a:pt x="356064" y="0"/>
                </a:moveTo>
                <a:lnTo>
                  <a:pt x="356064" y="100152"/>
                </a:lnTo>
                <a:lnTo>
                  <a:pt x="0" y="100152"/>
                </a:lnTo>
              </a:path>
            </a:pathLst>
          </a:custGeom>
          <a:noFill/>
          <a:ln w="8509" cap="rnd">
            <a:solidFill>
              <a:srgbClr val="3B8C80"/>
            </a:solidFill>
            <a:prstDash val="solid"/>
            <a:round/>
          </a:ln>
        </p:spPr>
      </p:sp>
      <p:sp>
        <p:nvSpPr>
          <p:cNvPr id="1482" name="V8 concat to MLP">
            <a:extLst>
              <a:ext uri="{FF2B5EF4-FFF2-40B4-BE49-F238E27FC236}">
                <a16:creationId xmlns:a16="http://schemas.microsoft.com/office/drawing/2014/main" id="{366946BB-F669-FC2F-4DBA-809EA592E5E1}"/>
              </a:ext>
            </a:extLst>
          </p:cNvPr>
          <p:cNvSpPr/>
          <p:nvPr/>
        </p:nvSpPr>
        <p:spPr>
          <a:xfrm>
            <a:off x="1237644" y="3703320"/>
            <a:ext cx="1" cy="22181"/>
          </a:xfrm>
          <a:custGeom>
            <a:avLst/>
            <a:gdLst/>
            <a:ahLst/>
            <a:cxnLst/>
            <a:rect l="l" t="t" r="r" b="b"/>
            <a:pathLst>
              <a:path w="1" h="22181">
                <a:moveTo>
                  <a:pt x="0" y="0"/>
                </a:moveTo>
                <a:lnTo>
                  <a:pt x="0" y="22181"/>
                </a:lnTo>
              </a:path>
            </a:pathLst>
          </a:custGeom>
          <a:noFill/>
          <a:ln w="8509" cap="rnd">
            <a:solidFill>
              <a:srgbClr val="3B8C80"/>
            </a:solidFill>
            <a:prstDash val="solid"/>
            <a:round/>
          </a:ln>
        </p:spPr>
      </p:sp>
      <p:sp>
        <p:nvSpPr>
          <p:cNvPr id="1483" name="V8 concat to MLP head">
            <a:extLst>
              <a:ext uri="{FF2B5EF4-FFF2-40B4-BE49-F238E27FC236}">
                <a16:creationId xmlns:a16="http://schemas.microsoft.com/office/drawing/2014/main" id="{234835D4-EF31-832C-586B-712FBD8CEB61}"/>
              </a:ext>
            </a:extLst>
          </p:cNvPr>
          <p:cNvSpPr/>
          <p:nvPr/>
        </p:nvSpPr>
        <p:spPr>
          <a:xfrm>
            <a:off x="1225452" y="3709924"/>
            <a:ext cx="24384" cy="28321"/>
          </a:xfrm>
          <a:custGeom>
            <a:avLst/>
            <a:gdLst/>
            <a:ahLst/>
            <a:cxnLst/>
            <a:rect l="l" t="t" r="r" b="b"/>
            <a:pathLst>
              <a:path w="24384" h="28321">
                <a:moveTo>
                  <a:pt x="12192" y="28321"/>
                </a:moveTo>
                <a:lnTo>
                  <a:pt x="24384" y="0"/>
                </a:lnTo>
                <a:lnTo>
                  <a:pt x="0" y="0"/>
                </a:lnTo>
                <a:close/>
              </a:path>
            </a:pathLst>
          </a:custGeom>
          <a:solidFill>
            <a:srgbClr val="3B8C80"/>
          </a:solidFill>
          <a:ln w="0" cap="rnd">
            <a:noFill/>
          </a:ln>
        </p:spPr>
      </p:sp>
      <p:grpSp>
        <p:nvGrpSpPr>
          <p:cNvPr id="6" name="Find candidate blob 2">
            <a:extLst>
              <a:ext uri="{FF2B5EF4-FFF2-40B4-BE49-F238E27FC236}">
                <a16:creationId xmlns:a16="http://schemas.microsoft.com/office/drawing/2014/main" id="{52582F41-8562-EDCF-D547-FEE06D78B091}"/>
              </a:ext>
            </a:extLst>
          </p:cNvPr>
          <p:cNvGrpSpPr/>
          <p:nvPr/>
        </p:nvGrpSpPr>
        <p:grpSpPr>
          <a:xfrm rot="3197729">
            <a:off x="4553030" y="901286"/>
            <a:ext cx="140909" cy="118817"/>
            <a:chOff x="1928706" y="3559489"/>
            <a:chExt cx="227897" cy="155682"/>
          </a:xfrm>
        </p:grpSpPr>
        <p:sp>
          <p:nvSpPr>
            <p:cNvPr id="16" name="Candidate blob | editable contour">
              <a:extLst>
                <a:ext uri="{FF2B5EF4-FFF2-40B4-BE49-F238E27FC236}">
                  <a16:creationId xmlns:a16="http://schemas.microsoft.com/office/drawing/2014/main" id="{AC599FE5-B7C8-2310-361D-307EF409B159}"/>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17" name="ellipse_2612">
              <a:extLst>
                <a:ext uri="{FF2B5EF4-FFF2-40B4-BE49-F238E27FC236}">
                  <a16:creationId xmlns:a16="http://schemas.microsoft.com/office/drawing/2014/main" id="{899D545A-9188-B8A5-5122-F55763321954}"/>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50449" name="F2-bank-channel">
            <a:extLst>
              <a:ext uri="{FF2B5EF4-FFF2-40B4-BE49-F238E27FC236}">
                <a16:creationId xmlns:a16="http://schemas.microsoft.com/office/drawing/2014/main" id="{E8F7522B-3B27-4338-8014-8A4EEE25C15E}"/>
              </a:ext>
            </a:extLst>
          </p:cNvPr>
          <p:cNvSpPr>
            <a:spLocks noGrp="1"/>
          </p:cNvSpPr>
          <p:nvPr/>
        </p:nvSpPr>
        <p:spPr>
          <a:xfrm>
            <a:off x="1453500" y="508635"/>
            <a:ext cx="257175" cy="190500"/>
          </a:xfrm>
          <a:prstGeom prst="rect">
            <a:avLst/>
          </a:prstGeom>
          <a:solidFill>
            <a:srgbClr val="EBF7FC"/>
          </a:solidFill>
          <a:ln w="4286">
            <a:solidFill>
              <a:srgbClr val="A6C5DF"/>
            </a:solidFill>
          </a:ln>
        </p:spPr>
      </p:sp>
      <p:sp>
        <p:nvSpPr>
          <p:cNvPr id="50450" name="F2-bank-channel">
            <a:extLst>
              <a:ext uri="{FF2B5EF4-FFF2-40B4-BE49-F238E27FC236}">
                <a16:creationId xmlns:a16="http://schemas.microsoft.com/office/drawing/2014/main" id="{44CA542A-604D-4AA5-B11D-B6617579A677}"/>
              </a:ext>
            </a:extLst>
          </p:cNvPr>
          <p:cNvSpPr>
            <a:spLocks noGrp="1"/>
          </p:cNvSpPr>
          <p:nvPr/>
        </p:nvSpPr>
        <p:spPr>
          <a:xfrm>
            <a:off x="1445880" y="515303"/>
            <a:ext cx="257175" cy="190500"/>
          </a:xfrm>
          <a:prstGeom prst="rect">
            <a:avLst/>
          </a:prstGeom>
          <a:solidFill>
            <a:srgbClr val="EBF7FC"/>
          </a:solidFill>
          <a:ln w="4286">
            <a:solidFill>
              <a:srgbClr val="A6C5DF"/>
            </a:solidFill>
          </a:ln>
        </p:spPr>
      </p:sp>
      <p:sp>
        <p:nvSpPr>
          <p:cNvPr id="50451" name="F2-bank-channel">
            <a:extLst>
              <a:ext uri="{FF2B5EF4-FFF2-40B4-BE49-F238E27FC236}">
                <a16:creationId xmlns:a16="http://schemas.microsoft.com/office/drawing/2014/main" id="{94C83CC1-C6DF-4DC5-87DF-BCD87221CF3B}"/>
              </a:ext>
            </a:extLst>
          </p:cNvPr>
          <p:cNvSpPr>
            <a:spLocks noGrp="1"/>
          </p:cNvSpPr>
          <p:nvPr/>
        </p:nvSpPr>
        <p:spPr>
          <a:xfrm>
            <a:off x="1438260" y="521970"/>
            <a:ext cx="257175" cy="190500"/>
          </a:xfrm>
          <a:prstGeom prst="rect">
            <a:avLst/>
          </a:prstGeom>
          <a:solidFill>
            <a:srgbClr val="EBF7FC"/>
          </a:solidFill>
          <a:ln w="4286">
            <a:solidFill>
              <a:srgbClr val="A6C5DF"/>
            </a:solidFill>
          </a:ln>
        </p:spPr>
      </p:sp>
      <p:sp>
        <p:nvSpPr>
          <p:cNvPr id="50452" name="F2-bank-channel">
            <a:extLst>
              <a:ext uri="{FF2B5EF4-FFF2-40B4-BE49-F238E27FC236}">
                <a16:creationId xmlns:a16="http://schemas.microsoft.com/office/drawing/2014/main" id="{1ABD8E71-8A8E-4A01-9656-5F57A7EAD863}"/>
              </a:ext>
            </a:extLst>
          </p:cNvPr>
          <p:cNvSpPr>
            <a:spLocks noGrp="1"/>
          </p:cNvSpPr>
          <p:nvPr/>
        </p:nvSpPr>
        <p:spPr>
          <a:xfrm>
            <a:off x="1430640" y="528638"/>
            <a:ext cx="257175" cy="190500"/>
          </a:xfrm>
          <a:prstGeom prst="rect">
            <a:avLst/>
          </a:prstGeom>
          <a:solidFill>
            <a:srgbClr val="EBF7FC"/>
          </a:solidFill>
          <a:ln w="4286">
            <a:solidFill>
              <a:srgbClr val="A6C5DF"/>
            </a:solidFill>
          </a:ln>
        </p:spPr>
      </p:sp>
      <p:sp>
        <p:nvSpPr>
          <p:cNvPr id="50453" name="F2-bank-channel">
            <a:extLst>
              <a:ext uri="{FF2B5EF4-FFF2-40B4-BE49-F238E27FC236}">
                <a16:creationId xmlns:a16="http://schemas.microsoft.com/office/drawing/2014/main" id="{A1E78B7C-AF8B-46CF-BE9A-7739D3A000CC}"/>
              </a:ext>
            </a:extLst>
          </p:cNvPr>
          <p:cNvSpPr>
            <a:spLocks noGrp="1"/>
          </p:cNvSpPr>
          <p:nvPr/>
        </p:nvSpPr>
        <p:spPr>
          <a:xfrm>
            <a:off x="1423020" y="535305"/>
            <a:ext cx="257175" cy="190500"/>
          </a:xfrm>
          <a:prstGeom prst="rect">
            <a:avLst/>
          </a:prstGeom>
          <a:solidFill>
            <a:srgbClr val="EBF7FC"/>
          </a:solidFill>
          <a:ln w="4286">
            <a:solidFill>
              <a:srgbClr val="A6C5DF"/>
            </a:solidFill>
          </a:ln>
        </p:spPr>
      </p:sp>
      <p:sp>
        <p:nvSpPr>
          <p:cNvPr id="50454" name="F2-bank-channel">
            <a:extLst>
              <a:ext uri="{FF2B5EF4-FFF2-40B4-BE49-F238E27FC236}">
                <a16:creationId xmlns:a16="http://schemas.microsoft.com/office/drawing/2014/main" id="{F902D412-512B-42B7-B05D-EDD9258097DC}"/>
              </a:ext>
            </a:extLst>
          </p:cNvPr>
          <p:cNvSpPr>
            <a:spLocks noGrp="1"/>
          </p:cNvSpPr>
          <p:nvPr/>
        </p:nvSpPr>
        <p:spPr>
          <a:xfrm>
            <a:off x="1415400" y="541973"/>
            <a:ext cx="257175" cy="190500"/>
          </a:xfrm>
          <a:prstGeom prst="rect">
            <a:avLst/>
          </a:prstGeom>
          <a:solidFill>
            <a:srgbClr val="EBF7FC"/>
          </a:solidFill>
          <a:ln w="4286">
            <a:solidFill>
              <a:srgbClr val="A6C5DF"/>
            </a:solidFill>
          </a:ln>
        </p:spPr>
      </p:sp>
      <p:sp>
        <p:nvSpPr>
          <p:cNvPr id="50455" name="F2-bank-channel">
            <a:extLst>
              <a:ext uri="{FF2B5EF4-FFF2-40B4-BE49-F238E27FC236}">
                <a16:creationId xmlns:a16="http://schemas.microsoft.com/office/drawing/2014/main" id="{CA6824A1-9C37-4EE2-8CF4-7C88BCE1DBE6}"/>
              </a:ext>
            </a:extLst>
          </p:cNvPr>
          <p:cNvSpPr>
            <a:spLocks noGrp="1"/>
          </p:cNvSpPr>
          <p:nvPr/>
        </p:nvSpPr>
        <p:spPr>
          <a:xfrm>
            <a:off x="1407780" y="548640"/>
            <a:ext cx="257175" cy="190500"/>
          </a:xfrm>
          <a:prstGeom prst="rect">
            <a:avLst/>
          </a:prstGeom>
          <a:solidFill>
            <a:srgbClr val="EBF7FC"/>
          </a:solidFill>
          <a:ln w="4286">
            <a:solidFill>
              <a:srgbClr val="A6C5DF"/>
            </a:solidFill>
          </a:ln>
        </p:spPr>
      </p:sp>
      <p:sp>
        <p:nvSpPr>
          <p:cNvPr id="50456" name="F2-bank-channel">
            <a:extLst>
              <a:ext uri="{FF2B5EF4-FFF2-40B4-BE49-F238E27FC236}">
                <a16:creationId xmlns:a16="http://schemas.microsoft.com/office/drawing/2014/main" id="{2705DA7A-40F9-48D2-946C-8019421C16B7}"/>
              </a:ext>
            </a:extLst>
          </p:cNvPr>
          <p:cNvSpPr>
            <a:spLocks noGrp="1"/>
          </p:cNvSpPr>
          <p:nvPr/>
        </p:nvSpPr>
        <p:spPr>
          <a:xfrm>
            <a:off x="1400160" y="555308"/>
            <a:ext cx="257175" cy="190500"/>
          </a:xfrm>
          <a:prstGeom prst="rect">
            <a:avLst/>
          </a:prstGeom>
          <a:solidFill>
            <a:srgbClr val="EBF7FC"/>
          </a:solidFill>
          <a:ln w="4286">
            <a:solidFill>
              <a:srgbClr val="A6C5DF"/>
            </a:solidFill>
          </a:ln>
        </p:spPr>
      </p:sp>
      <p:sp>
        <p:nvSpPr>
          <p:cNvPr id="50457" name="F2-bank-channel">
            <a:extLst>
              <a:ext uri="{FF2B5EF4-FFF2-40B4-BE49-F238E27FC236}">
                <a16:creationId xmlns:a16="http://schemas.microsoft.com/office/drawing/2014/main" id="{E1B9C475-D32F-4E88-9AAA-6701AFC1AC14}"/>
              </a:ext>
            </a:extLst>
          </p:cNvPr>
          <p:cNvSpPr>
            <a:spLocks noGrp="1"/>
          </p:cNvSpPr>
          <p:nvPr/>
        </p:nvSpPr>
        <p:spPr>
          <a:xfrm>
            <a:off x="1392540" y="561975"/>
            <a:ext cx="257175" cy="190500"/>
          </a:xfrm>
          <a:prstGeom prst="rect">
            <a:avLst/>
          </a:prstGeom>
          <a:solidFill>
            <a:srgbClr val="EBF7FC"/>
          </a:solidFill>
          <a:ln w="4286">
            <a:solidFill>
              <a:srgbClr val="A6C5DF"/>
            </a:solidFill>
          </a:ln>
        </p:spPr>
      </p:sp>
      <p:sp>
        <p:nvSpPr>
          <p:cNvPr id="50458" name="F2-density-voxel">
            <a:extLst>
              <a:ext uri="{FF2B5EF4-FFF2-40B4-BE49-F238E27FC236}">
                <a16:creationId xmlns:a16="http://schemas.microsoft.com/office/drawing/2014/main" id="{A49953DB-68D8-42EB-963F-DD42F453137D}"/>
              </a:ext>
            </a:extLst>
          </p:cNvPr>
          <p:cNvSpPr>
            <a:spLocks noGrp="1"/>
          </p:cNvSpPr>
          <p:nvPr/>
        </p:nvSpPr>
        <p:spPr>
          <a:xfrm>
            <a:off x="1411590" y="571500"/>
            <a:ext cx="52388" cy="42863"/>
          </a:xfrm>
          <a:prstGeom prst="rect">
            <a:avLst/>
          </a:prstGeom>
          <a:solidFill>
            <a:srgbClr val="CCE5EE"/>
          </a:solidFill>
          <a:ln w="0">
            <a:noFill/>
          </a:ln>
        </p:spPr>
      </p:sp>
      <p:sp>
        <p:nvSpPr>
          <p:cNvPr id="50459" name="F2-density-voxel">
            <a:extLst>
              <a:ext uri="{FF2B5EF4-FFF2-40B4-BE49-F238E27FC236}">
                <a16:creationId xmlns:a16="http://schemas.microsoft.com/office/drawing/2014/main" id="{ECECDED8-7BB6-465D-90CE-1566D913C0F0}"/>
              </a:ext>
            </a:extLst>
          </p:cNvPr>
          <p:cNvSpPr>
            <a:spLocks noGrp="1"/>
          </p:cNvSpPr>
          <p:nvPr/>
        </p:nvSpPr>
        <p:spPr>
          <a:xfrm>
            <a:off x="1463978" y="571500"/>
            <a:ext cx="52388" cy="42863"/>
          </a:xfrm>
          <a:prstGeom prst="rect">
            <a:avLst/>
          </a:prstGeom>
          <a:solidFill>
            <a:srgbClr val="86C0D7"/>
          </a:solidFill>
          <a:ln w="0">
            <a:noFill/>
          </a:ln>
        </p:spPr>
      </p:sp>
      <p:sp>
        <p:nvSpPr>
          <p:cNvPr id="50460" name="F2-density-voxel">
            <a:extLst>
              <a:ext uri="{FF2B5EF4-FFF2-40B4-BE49-F238E27FC236}">
                <a16:creationId xmlns:a16="http://schemas.microsoft.com/office/drawing/2014/main" id="{49E89024-8821-43E6-B830-D5D2C6143679}"/>
              </a:ext>
            </a:extLst>
          </p:cNvPr>
          <p:cNvSpPr>
            <a:spLocks noGrp="1"/>
          </p:cNvSpPr>
          <p:nvPr/>
        </p:nvSpPr>
        <p:spPr>
          <a:xfrm>
            <a:off x="1516365" y="571500"/>
            <a:ext cx="52388" cy="42863"/>
          </a:xfrm>
          <a:prstGeom prst="rect">
            <a:avLst/>
          </a:prstGeom>
          <a:solidFill>
            <a:srgbClr val="4D9ABB"/>
          </a:solidFill>
          <a:ln w="0">
            <a:noFill/>
          </a:ln>
        </p:spPr>
      </p:sp>
      <p:sp>
        <p:nvSpPr>
          <p:cNvPr id="50461" name="F2-density-voxel">
            <a:extLst>
              <a:ext uri="{FF2B5EF4-FFF2-40B4-BE49-F238E27FC236}">
                <a16:creationId xmlns:a16="http://schemas.microsoft.com/office/drawing/2014/main" id="{3A635687-B1F5-496B-9A49-461D8BC35087}"/>
              </a:ext>
            </a:extLst>
          </p:cNvPr>
          <p:cNvSpPr>
            <a:spLocks noGrp="1"/>
          </p:cNvSpPr>
          <p:nvPr/>
        </p:nvSpPr>
        <p:spPr>
          <a:xfrm>
            <a:off x="1568753" y="571500"/>
            <a:ext cx="52388" cy="42863"/>
          </a:xfrm>
          <a:prstGeom prst="rect">
            <a:avLst/>
          </a:prstGeom>
          <a:solidFill>
            <a:srgbClr val="B6DDE7"/>
          </a:solidFill>
          <a:ln w="0">
            <a:noFill/>
          </a:ln>
        </p:spPr>
      </p:sp>
      <p:sp>
        <p:nvSpPr>
          <p:cNvPr id="50462" name="F2-density-voxel">
            <a:extLst>
              <a:ext uri="{FF2B5EF4-FFF2-40B4-BE49-F238E27FC236}">
                <a16:creationId xmlns:a16="http://schemas.microsoft.com/office/drawing/2014/main" id="{FEC54E9C-643D-4824-B955-66BA7E401A0E}"/>
              </a:ext>
            </a:extLst>
          </p:cNvPr>
          <p:cNvSpPr>
            <a:spLocks noGrp="1"/>
          </p:cNvSpPr>
          <p:nvPr/>
        </p:nvSpPr>
        <p:spPr>
          <a:xfrm>
            <a:off x="1411590" y="614363"/>
            <a:ext cx="52388" cy="42863"/>
          </a:xfrm>
          <a:prstGeom prst="rect">
            <a:avLst/>
          </a:prstGeom>
          <a:solidFill>
            <a:srgbClr val="86C0D7"/>
          </a:solidFill>
          <a:ln w="0">
            <a:noFill/>
          </a:ln>
        </p:spPr>
      </p:sp>
      <p:sp>
        <p:nvSpPr>
          <p:cNvPr id="50463" name="F2-density-voxel">
            <a:extLst>
              <a:ext uri="{FF2B5EF4-FFF2-40B4-BE49-F238E27FC236}">
                <a16:creationId xmlns:a16="http://schemas.microsoft.com/office/drawing/2014/main" id="{ED2290E5-D29A-42C8-863E-1A0B5A093DAF}"/>
              </a:ext>
            </a:extLst>
          </p:cNvPr>
          <p:cNvSpPr>
            <a:spLocks noGrp="1"/>
          </p:cNvSpPr>
          <p:nvPr/>
        </p:nvSpPr>
        <p:spPr>
          <a:xfrm>
            <a:off x="1463978" y="614363"/>
            <a:ext cx="52388" cy="42863"/>
          </a:xfrm>
          <a:prstGeom prst="rect">
            <a:avLst/>
          </a:prstGeom>
          <a:solidFill>
            <a:srgbClr val="4D9ABB"/>
          </a:solidFill>
          <a:ln w="0">
            <a:noFill/>
          </a:ln>
        </p:spPr>
      </p:sp>
      <p:sp>
        <p:nvSpPr>
          <p:cNvPr id="50464" name="F2-density-voxel">
            <a:extLst>
              <a:ext uri="{FF2B5EF4-FFF2-40B4-BE49-F238E27FC236}">
                <a16:creationId xmlns:a16="http://schemas.microsoft.com/office/drawing/2014/main" id="{C030A993-BA02-4CBF-A526-9AF795928873}"/>
              </a:ext>
            </a:extLst>
          </p:cNvPr>
          <p:cNvSpPr>
            <a:spLocks noGrp="1"/>
          </p:cNvSpPr>
          <p:nvPr/>
        </p:nvSpPr>
        <p:spPr>
          <a:xfrm>
            <a:off x="1516365" y="614363"/>
            <a:ext cx="52388" cy="42863"/>
          </a:xfrm>
          <a:prstGeom prst="rect">
            <a:avLst/>
          </a:prstGeom>
          <a:solidFill>
            <a:srgbClr val="B6DDE7"/>
          </a:solidFill>
          <a:ln w="0">
            <a:noFill/>
          </a:ln>
        </p:spPr>
      </p:sp>
      <p:sp>
        <p:nvSpPr>
          <p:cNvPr id="50465" name="F2-density-voxel">
            <a:extLst>
              <a:ext uri="{FF2B5EF4-FFF2-40B4-BE49-F238E27FC236}">
                <a16:creationId xmlns:a16="http://schemas.microsoft.com/office/drawing/2014/main" id="{EC212EF2-C0F1-41AF-B3CE-D957D17932A0}"/>
              </a:ext>
            </a:extLst>
          </p:cNvPr>
          <p:cNvSpPr>
            <a:spLocks noGrp="1"/>
          </p:cNvSpPr>
          <p:nvPr/>
        </p:nvSpPr>
        <p:spPr>
          <a:xfrm>
            <a:off x="1568753" y="614363"/>
            <a:ext cx="52388" cy="42863"/>
          </a:xfrm>
          <a:prstGeom prst="rect">
            <a:avLst/>
          </a:prstGeom>
          <a:solidFill>
            <a:srgbClr val="CCE5EE"/>
          </a:solidFill>
          <a:ln w="0">
            <a:noFill/>
          </a:ln>
        </p:spPr>
      </p:sp>
      <p:sp>
        <p:nvSpPr>
          <p:cNvPr id="50466" name="F2-density-voxel">
            <a:extLst>
              <a:ext uri="{FF2B5EF4-FFF2-40B4-BE49-F238E27FC236}">
                <a16:creationId xmlns:a16="http://schemas.microsoft.com/office/drawing/2014/main" id="{8E8D1CD2-DC81-4A69-849C-F21783FD798D}"/>
              </a:ext>
            </a:extLst>
          </p:cNvPr>
          <p:cNvSpPr>
            <a:spLocks noGrp="1"/>
          </p:cNvSpPr>
          <p:nvPr/>
        </p:nvSpPr>
        <p:spPr>
          <a:xfrm>
            <a:off x="1411590" y="657225"/>
            <a:ext cx="52388" cy="42863"/>
          </a:xfrm>
          <a:prstGeom prst="rect">
            <a:avLst/>
          </a:prstGeom>
          <a:solidFill>
            <a:srgbClr val="4D9ABB"/>
          </a:solidFill>
          <a:ln w="0">
            <a:noFill/>
          </a:ln>
        </p:spPr>
      </p:sp>
      <p:sp>
        <p:nvSpPr>
          <p:cNvPr id="50467" name="F2-density-voxel">
            <a:extLst>
              <a:ext uri="{FF2B5EF4-FFF2-40B4-BE49-F238E27FC236}">
                <a16:creationId xmlns:a16="http://schemas.microsoft.com/office/drawing/2014/main" id="{CEA7FE12-330D-4160-8BE6-769BF6A26577}"/>
              </a:ext>
            </a:extLst>
          </p:cNvPr>
          <p:cNvSpPr>
            <a:spLocks noGrp="1"/>
          </p:cNvSpPr>
          <p:nvPr/>
        </p:nvSpPr>
        <p:spPr>
          <a:xfrm>
            <a:off x="1463978" y="657225"/>
            <a:ext cx="52388" cy="42863"/>
          </a:xfrm>
          <a:prstGeom prst="rect">
            <a:avLst/>
          </a:prstGeom>
          <a:solidFill>
            <a:srgbClr val="B6DDE7"/>
          </a:solidFill>
          <a:ln w="0">
            <a:noFill/>
          </a:ln>
        </p:spPr>
      </p:sp>
      <p:sp>
        <p:nvSpPr>
          <p:cNvPr id="50468" name="F2-density-voxel">
            <a:extLst>
              <a:ext uri="{FF2B5EF4-FFF2-40B4-BE49-F238E27FC236}">
                <a16:creationId xmlns:a16="http://schemas.microsoft.com/office/drawing/2014/main" id="{BE225EBF-D266-4631-9D7E-1B21643503B4}"/>
              </a:ext>
            </a:extLst>
          </p:cNvPr>
          <p:cNvSpPr>
            <a:spLocks noGrp="1"/>
          </p:cNvSpPr>
          <p:nvPr/>
        </p:nvSpPr>
        <p:spPr>
          <a:xfrm>
            <a:off x="1516365" y="657225"/>
            <a:ext cx="52388" cy="42863"/>
          </a:xfrm>
          <a:prstGeom prst="rect">
            <a:avLst/>
          </a:prstGeom>
          <a:solidFill>
            <a:srgbClr val="CCE5EE"/>
          </a:solidFill>
          <a:ln w="0">
            <a:noFill/>
          </a:ln>
        </p:spPr>
      </p:sp>
      <p:sp>
        <p:nvSpPr>
          <p:cNvPr id="50469" name="F2-density-voxel">
            <a:extLst>
              <a:ext uri="{FF2B5EF4-FFF2-40B4-BE49-F238E27FC236}">
                <a16:creationId xmlns:a16="http://schemas.microsoft.com/office/drawing/2014/main" id="{D56EA4DF-3429-4429-A2AA-6D7C9D33B341}"/>
              </a:ext>
            </a:extLst>
          </p:cNvPr>
          <p:cNvSpPr>
            <a:spLocks noGrp="1"/>
          </p:cNvSpPr>
          <p:nvPr/>
        </p:nvSpPr>
        <p:spPr>
          <a:xfrm>
            <a:off x="1568753" y="657225"/>
            <a:ext cx="52388" cy="42863"/>
          </a:xfrm>
          <a:prstGeom prst="rect">
            <a:avLst/>
          </a:prstGeom>
          <a:solidFill>
            <a:srgbClr val="86C0D7"/>
          </a:solidFill>
          <a:ln w="0">
            <a:noFill/>
          </a:ln>
        </p:spPr>
      </p:sp>
      <p:sp>
        <p:nvSpPr>
          <p:cNvPr id="50470" name="F2-density-voxel">
            <a:extLst>
              <a:ext uri="{FF2B5EF4-FFF2-40B4-BE49-F238E27FC236}">
                <a16:creationId xmlns:a16="http://schemas.microsoft.com/office/drawing/2014/main" id="{F4CB67F8-3427-42E0-B222-3C4C5B421A28}"/>
              </a:ext>
            </a:extLst>
          </p:cNvPr>
          <p:cNvSpPr>
            <a:spLocks noGrp="1"/>
          </p:cNvSpPr>
          <p:nvPr/>
        </p:nvSpPr>
        <p:spPr>
          <a:xfrm>
            <a:off x="1411590" y="700088"/>
            <a:ext cx="52388" cy="42863"/>
          </a:xfrm>
          <a:prstGeom prst="rect">
            <a:avLst/>
          </a:prstGeom>
          <a:solidFill>
            <a:srgbClr val="B6DDE7"/>
          </a:solidFill>
          <a:ln w="0">
            <a:noFill/>
          </a:ln>
        </p:spPr>
      </p:sp>
      <p:sp>
        <p:nvSpPr>
          <p:cNvPr id="50471" name="F2-density-voxel">
            <a:extLst>
              <a:ext uri="{FF2B5EF4-FFF2-40B4-BE49-F238E27FC236}">
                <a16:creationId xmlns:a16="http://schemas.microsoft.com/office/drawing/2014/main" id="{E62F2DC6-612B-4891-B2B7-8020312C0678}"/>
              </a:ext>
            </a:extLst>
          </p:cNvPr>
          <p:cNvSpPr>
            <a:spLocks noGrp="1"/>
          </p:cNvSpPr>
          <p:nvPr/>
        </p:nvSpPr>
        <p:spPr>
          <a:xfrm>
            <a:off x="1463978" y="700088"/>
            <a:ext cx="52388" cy="42863"/>
          </a:xfrm>
          <a:prstGeom prst="rect">
            <a:avLst/>
          </a:prstGeom>
          <a:solidFill>
            <a:srgbClr val="CCE5EE"/>
          </a:solidFill>
          <a:ln w="0">
            <a:noFill/>
          </a:ln>
        </p:spPr>
      </p:sp>
      <p:sp>
        <p:nvSpPr>
          <p:cNvPr id="50472" name="F2-density-voxel">
            <a:extLst>
              <a:ext uri="{FF2B5EF4-FFF2-40B4-BE49-F238E27FC236}">
                <a16:creationId xmlns:a16="http://schemas.microsoft.com/office/drawing/2014/main" id="{3D79F01F-5243-4E3C-8AA7-EE2C8B8C7E29}"/>
              </a:ext>
            </a:extLst>
          </p:cNvPr>
          <p:cNvSpPr>
            <a:spLocks noGrp="1"/>
          </p:cNvSpPr>
          <p:nvPr/>
        </p:nvSpPr>
        <p:spPr>
          <a:xfrm>
            <a:off x="1516365" y="700088"/>
            <a:ext cx="52388" cy="42863"/>
          </a:xfrm>
          <a:prstGeom prst="rect">
            <a:avLst/>
          </a:prstGeom>
          <a:solidFill>
            <a:srgbClr val="86C0D7"/>
          </a:solidFill>
          <a:ln w="0">
            <a:noFill/>
          </a:ln>
        </p:spPr>
      </p:sp>
      <p:sp>
        <p:nvSpPr>
          <p:cNvPr id="50473" name="F2-density-voxel">
            <a:extLst>
              <a:ext uri="{FF2B5EF4-FFF2-40B4-BE49-F238E27FC236}">
                <a16:creationId xmlns:a16="http://schemas.microsoft.com/office/drawing/2014/main" id="{7F5BC88D-76D1-4A24-B998-8BD41F9AADDB}"/>
              </a:ext>
            </a:extLst>
          </p:cNvPr>
          <p:cNvSpPr>
            <a:spLocks noGrp="1"/>
          </p:cNvSpPr>
          <p:nvPr/>
        </p:nvSpPr>
        <p:spPr>
          <a:xfrm>
            <a:off x="1568753" y="700088"/>
            <a:ext cx="52388" cy="42863"/>
          </a:xfrm>
          <a:prstGeom prst="rect">
            <a:avLst/>
          </a:prstGeom>
          <a:solidFill>
            <a:srgbClr val="4D9ABB"/>
          </a:solidFill>
          <a:ln w="0">
            <a:noFill/>
          </a:ln>
        </p:spPr>
      </p:sp>
      <p:sp>
        <p:nvSpPr>
          <p:cNvPr id="50474" name="F2-spatial-transform">
            <a:extLst>
              <a:ext uri="{FF2B5EF4-FFF2-40B4-BE49-F238E27FC236}">
                <a16:creationId xmlns:a16="http://schemas.microsoft.com/office/drawing/2014/main" id="{A85283F8-9FE2-48A1-8429-5356F2D370E2}"/>
              </a:ext>
            </a:extLst>
          </p:cNvPr>
          <p:cNvSpPr>
            <a:spLocks noGrp="1"/>
          </p:cNvSpPr>
          <p:nvPr/>
        </p:nvSpPr>
        <p:spPr>
          <a:xfrm>
            <a:off x="981877" y="549713"/>
            <a:ext cx="376238"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sz="460" b="0" dirty="0">
                <a:solidFill>
                  <a:srgbClr val="263442"/>
                </a:solidFill>
                <a:latin typeface="Arial"/>
                <a:ea typeface="Arial"/>
                <a:cs typeface="Arial"/>
              </a:rPr>
              <a:t>Spatial</a:t>
            </a:r>
          </a:p>
          <a:p>
            <a:pPr algn="ctr">
              <a:defRPr sz="540" b="0">
                <a:solidFill>
                  <a:srgbClr val="263442"/>
                </a:solidFill>
                <a:latin typeface="Arial"/>
                <a:ea typeface="Arial"/>
                <a:cs typeface="Arial"/>
              </a:defRPr>
            </a:pPr>
            <a:r>
              <a:rPr sz="460" b="0" dirty="0">
                <a:solidFill>
                  <a:srgbClr val="263442"/>
                </a:solidFill>
                <a:latin typeface="Arial"/>
                <a:ea typeface="Arial"/>
                <a:cs typeface="Arial"/>
              </a:rPr>
              <a:t>transform</a:t>
            </a:r>
          </a:p>
        </p:txBody>
      </p:sp>
      <p:sp>
        <p:nvSpPr>
          <p:cNvPr id="50475" name="F2-atom-embeddings-input">
            <a:extLst>
              <a:ext uri="{FF2B5EF4-FFF2-40B4-BE49-F238E27FC236}">
                <a16:creationId xmlns:a16="http://schemas.microsoft.com/office/drawing/2014/main" id="{0B4B93C5-B055-4ECE-8D5F-9FD8F9F29D6A}"/>
              </a:ext>
            </a:extLst>
          </p:cNvPr>
          <p:cNvSpPr>
            <a:spLocks noGrp="1"/>
          </p:cNvSpPr>
          <p:nvPr/>
        </p:nvSpPr>
        <p:spPr>
          <a:xfrm>
            <a:off x="1010565" y="1287494"/>
            <a:ext cx="327329"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lang="en-US" sz="460" b="0" dirty="0">
                <a:solidFill>
                  <a:srgbClr val="263442"/>
                </a:solidFill>
                <a:latin typeface="Arial"/>
                <a:ea typeface="Arial"/>
                <a:cs typeface="Arial"/>
              </a:rPr>
              <a:t>E</a:t>
            </a:r>
            <a:r>
              <a:rPr sz="460" b="0" dirty="0">
                <a:solidFill>
                  <a:srgbClr val="263442"/>
                </a:solidFill>
                <a:latin typeface="Arial"/>
                <a:ea typeface="Arial"/>
                <a:cs typeface="Arial"/>
              </a:rPr>
              <a:t>mbedding</a:t>
            </a:r>
            <a:endParaRPr lang="en-US" sz="460" b="0" dirty="0">
              <a:solidFill>
                <a:srgbClr val="263442"/>
              </a:solidFill>
              <a:latin typeface="Arial"/>
              <a:ea typeface="Arial"/>
              <a:cs typeface="Arial"/>
            </a:endParaRPr>
          </a:p>
          <a:p>
            <a:pPr algn="ctr">
              <a:defRPr sz="540" b="0">
                <a:solidFill>
                  <a:srgbClr val="263442"/>
                </a:solidFill>
                <a:latin typeface="Arial"/>
                <a:ea typeface="Arial"/>
                <a:cs typeface="Arial"/>
              </a:defRPr>
            </a:pPr>
            <a:r>
              <a:rPr lang="en-US" altLang="zh-CN" sz="460" b="0" dirty="0">
                <a:solidFill>
                  <a:srgbClr val="263442"/>
                </a:solidFill>
                <a:latin typeface="Arial"/>
                <a:ea typeface="Arial"/>
                <a:cs typeface="Arial"/>
              </a:rPr>
              <a:t>head</a:t>
            </a:r>
            <a:endParaRPr sz="460" b="0" dirty="0">
              <a:solidFill>
                <a:srgbClr val="263442"/>
              </a:solidFill>
              <a:latin typeface="Arial"/>
              <a:ea typeface="Arial"/>
              <a:cs typeface="Arial"/>
            </a:endParaRPr>
          </a:p>
        </p:txBody>
      </p:sp>
      <p:pic>
        <p:nvPicPr>
          <p:cNvPr id="50482" name="图片 50481">
            <a:extLst>
              <a:ext uri="{FF2B5EF4-FFF2-40B4-BE49-F238E27FC236}">
                <a16:creationId xmlns:a16="http://schemas.microsoft.com/office/drawing/2014/main" id="{CC697937-E8CE-4EDF-BB17-1FEA96E39283}"/>
              </a:ext>
            </a:extLst>
          </p:cNvPr>
          <p:cNvPicPr>
            <a:picLocks noChangeAspect="1"/>
          </p:cNvPicPr>
          <p:nvPr/>
        </p:nvPicPr>
        <p:blipFill>
          <a:blip r:embed="rId8"/>
          <a:stretch/>
        </p:blipFill>
        <p:spPr>
          <a:xfrm>
            <a:off x="586641" y="2943948"/>
            <a:ext cx="414760" cy="342900"/>
          </a:xfrm>
          <a:prstGeom prst="rect">
            <a:avLst/>
          </a:prstGeom>
        </p:spPr>
      </p:pic>
      <p:grpSp>
        <p:nvGrpSpPr>
          <p:cNvPr id="50493" name="Find preview 15"/>
          <p:cNvGrpSpPr/>
          <p:nvPr/>
        </p:nvGrpSpPr>
        <p:grpSpPr>
          <a:xfrm>
            <a:off x="582671" y="471488"/>
            <a:ext cx="404812" cy="395288"/>
            <a:chOff x="511635" y="471488"/>
            <a:chExt cx="404812" cy="395288"/>
          </a:xfrm>
        </p:grpSpPr>
        <p:pic>
          <p:nvPicPr>
            <p:cNvPr id="1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8CF1199C-6488-C5B6-B489-1131732B4FBF}"/>
                </a:ext>
              </a:extLst>
            </p:cNvPr>
            <p:cNvPicPr/>
            <p:nvPr/>
          </p:nvPicPr>
          <p:blipFill>
            <a:blip r:embed="rId4"/>
            <a:stretch>
              <a:fillRect/>
            </a:stretch>
          </p:blipFill>
          <p:spPr>
            <a:xfrm>
              <a:off x="511635" y="475859"/>
              <a:ext cx="404812" cy="386544"/>
            </a:xfrm>
            <a:prstGeom prst="rect">
              <a:avLst/>
            </a:prstGeom>
          </p:spPr>
        </p:pic>
        <p:sp>
          <p:nvSpPr>
            <p:cNvPr id="50476" name="crop-cube">
              <a:extLst>
                <a:ext uri="{FF2B5EF4-FFF2-40B4-BE49-F238E27FC236}">
                  <a16:creationId xmlns:a16="http://schemas.microsoft.com/office/drawing/2014/main" id="{25839399-079E-4307-9725-E085483F7FD6}"/>
                </a:ext>
              </a:extLst>
            </p:cNvPr>
            <p:cNvSpPr>
              <a:spLocks noGrp="1"/>
            </p:cNvSpPr>
            <p:nvPr/>
          </p:nvSpPr>
          <p:spPr>
            <a:xfrm>
              <a:off x="700088" y="626745"/>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477" name="crop-cube">
              <a:extLst>
                <a:ext uri="{FF2B5EF4-FFF2-40B4-BE49-F238E27FC236}">
                  <a16:creationId xmlns:a16="http://schemas.microsoft.com/office/drawing/2014/main" id="{07D86F79-577D-4116-BDEA-F38D19D792BA}"/>
                </a:ext>
              </a:extLst>
            </p:cNvPr>
            <p:cNvSpPr>
              <a:spLocks noGrp="1"/>
            </p:cNvSpPr>
            <p:nvPr/>
          </p:nvSpPr>
          <p:spPr>
            <a:xfrm>
              <a:off x="788194" y="626745"/>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478" name="F2-density-crop-size">
              <a:extLst>
                <a:ext uri="{FF2B5EF4-FFF2-40B4-BE49-F238E27FC236}">
                  <a16:creationId xmlns:a16="http://schemas.microsoft.com/office/drawing/2014/main" id="{9B6ECDDF-4CA0-44BE-83B1-7FF800ECF209}"/>
                </a:ext>
              </a:extLst>
            </p:cNvPr>
            <p:cNvSpPr>
              <a:spLocks noGrp="1"/>
            </p:cNvSpPr>
            <p:nvPr/>
          </p:nvSpPr>
          <p:spPr>
            <a:xfrm>
              <a:off x="640556" y="766763"/>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494" name="Find preview 1435"/>
          <p:cNvGrpSpPr/>
          <p:nvPr/>
        </p:nvGrpSpPr>
        <p:grpSpPr>
          <a:xfrm>
            <a:off x="582671" y="1252538"/>
            <a:ext cx="404812" cy="395288"/>
            <a:chOff x="511635" y="1252538"/>
            <a:chExt cx="404812" cy="395288"/>
          </a:xfrm>
        </p:grpSpPr>
        <p:pic>
          <p:nvPicPr>
            <p:cNvPr id="1435" name="Find clear receptor" descr="Receptor cartoon rendered from unchanged local coordinates, chain C1 of the 9LLG CA2 model.">
              <a:extLst>
                <a:ext uri="{FF2B5EF4-FFF2-40B4-BE49-F238E27FC236}">
                  <a16:creationId xmlns:a16="http://schemas.microsoft.com/office/drawing/2014/main" id="{24C88AB2-5918-0F4D-EDE6-0D89FC02F100}"/>
                </a:ext>
              </a:extLst>
            </p:cNvPr>
            <p:cNvPicPr/>
            <p:nvPr/>
          </p:nvPicPr>
          <p:blipFill>
            <a:blip r:embed="rId7"/>
            <a:srcRect l="16857" t="30389" r="19786" b="22500"/>
            <a:stretch>
              <a:fillRect/>
            </a:stretch>
          </p:blipFill>
          <p:spPr>
            <a:xfrm>
              <a:off x="511635" y="1256674"/>
              <a:ext cx="404812" cy="387014"/>
            </a:xfrm>
            <a:prstGeom prst="rect">
              <a:avLst/>
            </a:prstGeom>
          </p:spPr>
        </p:pic>
        <p:sp>
          <p:nvSpPr>
            <p:cNvPr id="50479" name="crop-cube">
              <a:extLst>
                <a:ext uri="{FF2B5EF4-FFF2-40B4-BE49-F238E27FC236}">
                  <a16:creationId xmlns:a16="http://schemas.microsoft.com/office/drawing/2014/main" id="{B083B324-58BF-4271-92CE-6A3DCE5DBE53}"/>
                </a:ext>
              </a:extLst>
            </p:cNvPr>
            <p:cNvSpPr>
              <a:spLocks noGrp="1"/>
            </p:cNvSpPr>
            <p:nvPr/>
          </p:nvSpPr>
          <p:spPr>
            <a:xfrm>
              <a:off x="700088" y="1404938"/>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480" name="crop-cube">
              <a:extLst>
                <a:ext uri="{FF2B5EF4-FFF2-40B4-BE49-F238E27FC236}">
                  <a16:creationId xmlns:a16="http://schemas.microsoft.com/office/drawing/2014/main" id="{0E8C65BE-9745-4184-B8B7-6FD5E9341DBD}"/>
                </a:ext>
              </a:extLst>
            </p:cNvPr>
            <p:cNvSpPr>
              <a:spLocks noGrp="1"/>
            </p:cNvSpPr>
            <p:nvPr/>
          </p:nvSpPr>
          <p:spPr>
            <a:xfrm>
              <a:off x="788194" y="1404938"/>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481" name="F2-receptor-crop-size">
              <a:extLst>
                <a:ext uri="{FF2B5EF4-FFF2-40B4-BE49-F238E27FC236}">
                  <a16:creationId xmlns:a16="http://schemas.microsoft.com/office/drawing/2014/main" id="{11CB5595-3267-408D-9A25-39E3920D0458}"/>
                </a:ext>
              </a:extLst>
            </p:cNvPr>
            <p:cNvSpPr>
              <a:spLocks noGrp="1"/>
            </p:cNvSpPr>
            <p:nvPr/>
          </p:nvSpPr>
          <p:spPr>
            <a:xfrm>
              <a:off x="640556" y="1544955"/>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495" name="Find preview 25"/>
          <p:cNvGrpSpPr/>
          <p:nvPr/>
        </p:nvGrpSpPr>
        <p:grpSpPr>
          <a:xfrm>
            <a:off x="4319205" y="499672"/>
            <a:ext cx="404812" cy="386544"/>
            <a:chOff x="4349067" y="499672"/>
            <a:chExt cx="404812" cy="386544"/>
          </a:xfrm>
        </p:grpSpPr>
        <p:pic>
          <p:nvPicPr>
            <p:cNvPr id="2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E01FAF0F-7383-AEC3-8192-CE781D4C8B97}"/>
                </a:ext>
              </a:extLst>
            </p:cNvPr>
            <p:cNvPicPr/>
            <p:nvPr/>
          </p:nvPicPr>
          <p:blipFill>
            <a:blip r:embed="rId4"/>
            <a:stretch>
              <a:fillRect/>
            </a:stretch>
          </p:blipFill>
          <p:spPr>
            <a:xfrm>
              <a:off x="4349067" y="499672"/>
              <a:ext cx="404812" cy="386544"/>
            </a:xfrm>
            <a:prstGeom prst="rect">
              <a:avLst/>
            </a:prstGeom>
          </p:spPr>
        </p:pic>
        <p:grpSp>
          <p:nvGrpSpPr>
            <p:cNvPr id="50437" name="Global copy of blob 758">
              <a:extLst>
                <a:ext uri="{FF2B5EF4-FFF2-40B4-BE49-F238E27FC236}">
                  <a16:creationId xmlns:a16="http://schemas.microsoft.com/office/drawing/2014/main" id="{00C0C92B-D4C8-0994-E860-1581EB873D86}"/>
                </a:ext>
              </a:extLst>
            </p:cNvPr>
            <p:cNvGrpSpPr/>
            <p:nvPr/>
          </p:nvGrpSpPr>
          <p:grpSpPr>
            <a:xfrm>
              <a:off x="4445066" y="623158"/>
              <a:ext cx="92055" cy="24054"/>
              <a:chOff x="1980855" y="3559489"/>
              <a:chExt cx="493446" cy="155682"/>
            </a:xfrm>
          </p:grpSpPr>
          <p:sp>
            <p:nvSpPr>
              <p:cNvPr id="50438" name="Candidate blob | editable contour">
                <a:extLst>
                  <a:ext uri="{FF2B5EF4-FFF2-40B4-BE49-F238E27FC236}">
                    <a16:creationId xmlns:a16="http://schemas.microsoft.com/office/drawing/2014/main" id="{A172A8B3-EFA3-33C9-CD2B-307B24D7293D}"/>
                  </a:ext>
                </a:extLst>
              </p:cNvPr>
              <p:cNvSpPr/>
              <p:nvPr/>
            </p:nvSpPr>
            <p:spPr>
              <a:xfrm>
                <a:off x="2246406" y="3559489"/>
                <a:ext cx="227895"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50439" name="ellipse_2612">
                <a:extLst>
                  <a:ext uri="{FF2B5EF4-FFF2-40B4-BE49-F238E27FC236}">
                    <a16:creationId xmlns:a16="http://schemas.microsoft.com/office/drawing/2014/main" id="{CF37E813-914E-4383-9CE9-1C5F4095124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50442" name="ellipse_2612">
              <a:extLst>
                <a:ext uri="{FF2B5EF4-FFF2-40B4-BE49-F238E27FC236}">
                  <a16:creationId xmlns:a16="http://schemas.microsoft.com/office/drawing/2014/main" id="{899D545A-9188-B8A5-5122-F55763321954}"/>
                </a:ext>
              </a:extLst>
            </p:cNvPr>
            <p:cNvSpPr/>
            <p:nvPr/>
          </p:nvSpPr>
          <p:spPr>
            <a:xfrm rot="3197729">
              <a:off x="4608138" y="649456"/>
              <a:ext cx="10571" cy="3071"/>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0445" name="ellipse_2612">
              <a:extLst>
                <a:ext uri="{FF2B5EF4-FFF2-40B4-BE49-F238E27FC236}">
                  <a16:creationId xmlns:a16="http://schemas.microsoft.com/office/drawing/2014/main" id="{85D74281-2FE6-E2D2-EFBA-AF54A45686E3}"/>
                </a:ext>
              </a:extLst>
            </p:cNvPr>
            <p:cNvSpPr/>
            <p:nvPr/>
          </p:nvSpPr>
          <p:spPr>
            <a:xfrm>
              <a:off x="4430816" y="761249"/>
              <a:ext cx="9540" cy="2671"/>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0448" name="ellipse_2612">
              <a:extLst>
                <a:ext uri="{FF2B5EF4-FFF2-40B4-BE49-F238E27FC236}">
                  <a16:creationId xmlns:a16="http://schemas.microsoft.com/office/drawing/2014/main" id="{901C6437-E94C-AFDE-D242-E688A89ABBDB}"/>
                </a:ext>
              </a:extLst>
            </p:cNvPr>
            <p:cNvSpPr/>
            <p:nvPr/>
          </p:nvSpPr>
          <p:spPr>
            <a:xfrm>
              <a:off x="4542383" y="798587"/>
              <a:ext cx="9428" cy="3307"/>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29" name="V8 density and receptor to voxel">
            <a:extLst>
              <a:ext uri="{FF2B5EF4-FFF2-40B4-BE49-F238E27FC236}">
                <a16:creationId xmlns:a16="http://schemas.microsoft.com/office/drawing/2014/main" id="{6CB6A47B-4EF1-2B06-7255-E23CEE529CCF}"/>
              </a:ext>
            </a:extLst>
          </p:cNvPr>
          <p:cNvSpPr/>
          <p:nvPr/>
        </p:nvSpPr>
        <p:spPr>
          <a:xfrm flipV="1">
            <a:off x="1834335" y="790091"/>
            <a:ext cx="77018" cy="45719"/>
          </a:xfrm>
          <a:custGeom>
            <a:avLst/>
            <a:gdLst/>
            <a:ahLst/>
            <a:cxnLst/>
            <a:rect l="l" t="t" r="r" b="b"/>
            <a:pathLst>
              <a:path w="96730" h="1">
                <a:moveTo>
                  <a:pt x="0" y="0"/>
                </a:moveTo>
                <a:lnTo>
                  <a:pt x="96730" y="0"/>
                </a:lnTo>
              </a:path>
            </a:pathLst>
          </a:custGeom>
          <a:noFill/>
          <a:ln w="8509" cap="rnd">
            <a:solidFill>
              <a:srgbClr val="4083B4"/>
            </a:solidFill>
            <a:prstDash val="solid"/>
            <a:round/>
          </a:ln>
        </p:spPr>
      </p:sp>
      <p:sp>
        <p:nvSpPr>
          <p:cNvPr id="31" name="V8 density and receptor to voxel head">
            <a:extLst>
              <a:ext uri="{FF2B5EF4-FFF2-40B4-BE49-F238E27FC236}">
                <a16:creationId xmlns:a16="http://schemas.microsoft.com/office/drawing/2014/main" id="{DF62D5B1-80E9-3975-FF99-0CA56F3741F9}"/>
              </a:ext>
            </a:extLst>
          </p:cNvPr>
          <p:cNvSpPr/>
          <p:nvPr/>
        </p:nvSpPr>
        <p:spPr>
          <a:xfrm>
            <a:off x="1905255" y="822853"/>
            <a:ext cx="28321" cy="24384"/>
          </a:xfrm>
          <a:custGeom>
            <a:avLst/>
            <a:gdLst/>
            <a:ahLst/>
            <a:cxnLst/>
            <a:rect l="l" t="t" r="r" b="b"/>
            <a:pathLst>
              <a:path w="28321" h="24384">
                <a:moveTo>
                  <a:pt x="28321" y="12192"/>
                </a:moveTo>
                <a:lnTo>
                  <a:pt x="0" y="0"/>
                </a:lnTo>
                <a:lnTo>
                  <a:pt x="0" y="24384"/>
                </a:lnTo>
                <a:close/>
              </a:path>
            </a:pathLst>
          </a:custGeom>
          <a:solidFill>
            <a:srgbClr val="4083B4"/>
          </a:solidFill>
          <a:ln w="0" cap="rnd">
            <a:noFill/>
          </a:ln>
        </p:spPr>
      </p:sp>
      <p:sp>
        <p:nvSpPr>
          <p:cNvPr id="34" name="文本框 33">
            <a:extLst>
              <a:ext uri="{FF2B5EF4-FFF2-40B4-BE49-F238E27FC236}">
                <a16:creationId xmlns:a16="http://schemas.microsoft.com/office/drawing/2014/main" id="{04021CE7-7079-B8B1-FE1F-2395F0A6A9F4}"/>
              </a:ext>
            </a:extLst>
          </p:cNvPr>
          <p:cNvSpPr txBox="1"/>
          <p:nvPr/>
        </p:nvSpPr>
        <p:spPr>
          <a:xfrm>
            <a:off x="2776387" y="1439947"/>
            <a:ext cx="502061" cy="197618"/>
          </a:xfrm>
          <a:prstGeom prst="rect">
            <a:avLst/>
          </a:prstGeom>
          <a:noFill/>
        </p:spPr>
        <p:txBody>
          <a:bodyPr wrap="none" rtlCol="0">
            <a:spAutoFit/>
          </a:bodyPr>
          <a:lstStyle/>
          <a:p>
            <a:pPr algn="ctr">
              <a:lnSpc>
                <a:spcPct val="105000"/>
              </a:lnSpc>
            </a:pPr>
            <a:r>
              <a:rPr lang="en-US" altLang="zh-CN" sz="650" i="1" dirty="0">
                <a:solidFill>
                  <a:srgbClr val="263442"/>
                </a:solidFill>
                <a:latin typeface="Arial"/>
              </a:rPr>
              <a:t>Recycle</a:t>
            </a:r>
          </a:p>
        </p:txBody>
      </p:sp>
      <p:grpSp>
        <p:nvGrpSpPr>
          <p:cNvPr id="21" name="Find candidate blob 2">
            <a:extLst>
              <a:ext uri="{FF2B5EF4-FFF2-40B4-BE49-F238E27FC236}">
                <a16:creationId xmlns:a16="http://schemas.microsoft.com/office/drawing/2014/main" id="{7CF4B83B-CE40-0943-83BF-857F63F584FC}"/>
              </a:ext>
            </a:extLst>
          </p:cNvPr>
          <p:cNvGrpSpPr/>
          <p:nvPr/>
        </p:nvGrpSpPr>
        <p:grpSpPr>
          <a:xfrm rot="3197729">
            <a:off x="4586768" y="633066"/>
            <a:ext cx="35227" cy="29704"/>
            <a:chOff x="1928706" y="3559489"/>
            <a:chExt cx="227897" cy="155682"/>
          </a:xfrm>
        </p:grpSpPr>
        <p:sp>
          <p:nvSpPr>
            <p:cNvPr id="23" name="Candidate blob | editable contour">
              <a:extLst>
                <a:ext uri="{FF2B5EF4-FFF2-40B4-BE49-F238E27FC236}">
                  <a16:creationId xmlns:a16="http://schemas.microsoft.com/office/drawing/2014/main" id="{0EF5C813-7F44-77DD-67FE-EE476608E03B}"/>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28" name="ellipse_2612">
              <a:extLst>
                <a:ext uri="{FF2B5EF4-FFF2-40B4-BE49-F238E27FC236}">
                  <a16:creationId xmlns:a16="http://schemas.microsoft.com/office/drawing/2014/main" id="{F5FA3B82-7CD0-DDDF-A968-EC80FAC5CC54}"/>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30" name="Find candidate blob 3">
            <a:extLst>
              <a:ext uri="{FF2B5EF4-FFF2-40B4-BE49-F238E27FC236}">
                <a16:creationId xmlns:a16="http://schemas.microsoft.com/office/drawing/2014/main" id="{7DFC79E6-A537-A8EE-9E23-73695EEDEA87}"/>
              </a:ext>
            </a:extLst>
          </p:cNvPr>
          <p:cNvGrpSpPr/>
          <p:nvPr/>
        </p:nvGrpSpPr>
        <p:grpSpPr>
          <a:xfrm rot="364243">
            <a:off x="4504977" y="709850"/>
            <a:ext cx="31915" cy="32299"/>
            <a:chOff x="1928706" y="3559489"/>
            <a:chExt cx="227897" cy="155682"/>
          </a:xfrm>
        </p:grpSpPr>
        <p:sp>
          <p:nvSpPr>
            <p:cNvPr id="32" name="Candidate blob | editable contour">
              <a:extLst>
                <a:ext uri="{FF2B5EF4-FFF2-40B4-BE49-F238E27FC236}">
                  <a16:creationId xmlns:a16="http://schemas.microsoft.com/office/drawing/2014/main" id="{EF3C7BE5-312A-39EB-D945-E725D09FC5CF}"/>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33" name="ellipse_2612">
              <a:extLst>
                <a:ext uri="{FF2B5EF4-FFF2-40B4-BE49-F238E27FC236}">
                  <a16:creationId xmlns:a16="http://schemas.microsoft.com/office/drawing/2014/main" id="{0A4821A8-67B8-19F4-30E2-0FE8715E5DA6}"/>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38" name="Find candidate blob 1">
            <a:extLst>
              <a:ext uri="{FF2B5EF4-FFF2-40B4-BE49-F238E27FC236}">
                <a16:creationId xmlns:a16="http://schemas.microsoft.com/office/drawing/2014/main" id="{D9521CD7-F7FB-7490-A23A-67B39E4FD95D}"/>
              </a:ext>
            </a:extLst>
          </p:cNvPr>
          <p:cNvGrpSpPr/>
          <p:nvPr/>
        </p:nvGrpSpPr>
        <p:grpSpPr>
          <a:xfrm>
            <a:off x="4398123" y="745957"/>
            <a:ext cx="40973" cy="27988"/>
            <a:chOff x="1928706" y="3559489"/>
            <a:chExt cx="227897" cy="155682"/>
          </a:xfrm>
        </p:grpSpPr>
        <p:sp>
          <p:nvSpPr>
            <p:cNvPr id="39" name="Candidate blob | editable contour">
              <a:extLst>
                <a:ext uri="{FF2B5EF4-FFF2-40B4-BE49-F238E27FC236}">
                  <a16:creationId xmlns:a16="http://schemas.microsoft.com/office/drawing/2014/main" id="{B913F94B-9211-6007-A9F1-AA1E18C1D543}"/>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40" name="ellipse_2612">
              <a:extLst>
                <a:ext uri="{FF2B5EF4-FFF2-40B4-BE49-F238E27FC236}">
                  <a16:creationId xmlns:a16="http://schemas.microsoft.com/office/drawing/2014/main" id="{D504CB61-AEF5-1C11-4CCF-573A1133E2A9}"/>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Tree>
    <p:extLst>
      <p:ext uri="{BB962C8B-B14F-4D97-AF65-F5344CB8AC3E}">
        <p14:creationId xmlns:p14="http://schemas.microsoft.com/office/powerpoint/2010/main" val="619274256"/>
      </p:ext>
    </p:extLst>
  </p:cSld>
  <p:clrMapOvr>
    <a:masterClrMapping/>
  </p:clrMapOvr>
  <p:extLst>
    <p:ext uri="{6950BFC3-D8DA-4A85-94F7-54DA5524770B}">
      <p188:commentRel xmlns:p188="http://schemas.microsoft.com/office/powerpoint/2018/8/main" r:id="rId3"/>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3A6E18-01F8-B0BA-F43F-91B3A30C3C3E}"/>
            </a:ext>
          </a:extLst>
        </p:cNvPr>
        <p:cNvGrpSpPr/>
        <p:nvPr/>
      </p:nvGrpSpPr>
      <p:grpSpPr>
        <a:xfrm>
          <a:off x="0" y="0"/>
          <a:ext cx="0" cy="0"/>
          <a:chOff x="0" y="0"/>
          <a:chExt cx="0" cy="0"/>
        </a:xfrm>
      </p:grpSpPr>
      <p:sp>
        <p:nvSpPr>
          <p:cNvPr id="2" name="Panel | Find background">
            <a:extLst>
              <a:ext uri="{FF2B5EF4-FFF2-40B4-BE49-F238E27FC236}">
                <a16:creationId xmlns:a16="http://schemas.microsoft.com/office/drawing/2014/main" id="{A9090686-8929-C0A0-CCD3-B88878102309}"/>
              </a:ext>
            </a:extLst>
          </p:cNvPr>
          <p:cNvSpPr/>
          <p:nvPr/>
        </p:nvSpPr>
        <p:spPr>
          <a:xfrm>
            <a:off x="450985" y="89164"/>
            <a:ext cx="4381930" cy="1756103"/>
          </a:xfrm>
          <a:prstGeom prst="roundRect">
            <a:avLst>
              <a:gd name="adj" fmla="val 2000"/>
            </a:avLst>
          </a:prstGeom>
          <a:solidFill>
            <a:srgbClr val="F4F7FB"/>
          </a:solidFill>
          <a:ln w="9720">
            <a:solidFill>
              <a:srgbClr val="CFDB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3" name="Panel | Match background">
            <a:extLst>
              <a:ext uri="{FF2B5EF4-FFF2-40B4-BE49-F238E27FC236}">
                <a16:creationId xmlns:a16="http://schemas.microsoft.com/office/drawing/2014/main" id="{28703D02-0EE9-C5A6-609C-08019DDE7E4E}"/>
              </a:ext>
            </a:extLst>
          </p:cNvPr>
          <p:cNvSpPr/>
          <p:nvPr/>
        </p:nvSpPr>
        <p:spPr>
          <a:xfrm>
            <a:off x="450985" y="1884235"/>
            <a:ext cx="4381930" cy="2532204"/>
          </a:xfrm>
          <a:prstGeom prst="roundRect">
            <a:avLst>
              <a:gd name="adj" fmla="val 2000"/>
            </a:avLst>
          </a:prstGeom>
          <a:solidFill>
            <a:srgbClr val="F2F9F6"/>
          </a:solidFill>
          <a:ln w="9720">
            <a:solidFill>
              <a:srgbClr val="C8E2D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grpSp>
        <p:nvGrpSpPr>
          <p:cNvPr id="5" name="Input boundary layer">
            <a:extLst>
              <a:ext uri="{FF2B5EF4-FFF2-40B4-BE49-F238E27FC236}">
                <a16:creationId xmlns:a16="http://schemas.microsoft.com/office/drawing/2014/main" id="{DDB8823C-1C5D-EC2B-D97C-140C79222FB0}"/>
              </a:ext>
            </a:extLst>
          </p:cNvPr>
          <p:cNvGrpSpPr/>
          <p:nvPr/>
        </p:nvGrpSpPr>
        <p:grpSpPr>
          <a:xfrm>
            <a:off x="0" y="0"/>
            <a:ext cx="6480175" cy="4468813"/>
            <a:chOff x="0" y="0"/>
            <a:chExt cx="15240000" cy="10509702"/>
          </a:xfrm>
        </p:grpSpPr>
        <p:sp>
          <p:nvSpPr>
            <p:cNvPr id="1478" name="V8 Match input boundary">
              <a:extLst>
                <a:ext uri="{FF2B5EF4-FFF2-40B4-BE49-F238E27FC236}">
                  <a16:creationId xmlns:a16="http://schemas.microsoft.com/office/drawing/2014/main" id="{7D0554F4-AE1C-63F1-A885-352F5424EDA9}"/>
                </a:ext>
              </a:extLst>
            </p:cNvPr>
            <p:cNvSpPr/>
            <p:nvPr/>
          </p:nvSpPr>
          <p:spPr>
            <a:xfrm>
              <a:off x="1355735" y="5281627"/>
              <a:ext cx="3163259" cy="2511755"/>
            </a:xfrm>
            <a:custGeom>
              <a:avLst/>
              <a:gdLst/>
              <a:ahLst/>
              <a:cxnLst/>
              <a:rect l="l" t="t" r="r" b="b"/>
              <a:pathLst>
                <a:path w="1345044" h="1068019">
                  <a:moveTo>
                    <a:pt x="31750" y="0"/>
                  </a:moveTo>
                  <a:lnTo>
                    <a:pt x="893699" y="0"/>
                  </a:lnTo>
                  <a:cubicBezTo>
                    <a:pt x="911162" y="0"/>
                    <a:pt x="925449" y="14288"/>
                    <a:pt x="925449" y="31750"/>
                  </a:cubicBezTo>
                  <a:lnTo>
                    <a:pt x="925449" y="489521"/>
                  </a:lnTo>
                  <a:cubicBezTo>
                    <a:pt x="925449" y="506984"/>
                    <a:pt x="939736" y="521271"/>
                    <a:pt x="957199" y="521271"/>
                  </a:cubicBezTo>
                  <a:lnTo>
                    <a:pt x="1313294" y="521271"/>
                  </a:lnTo>
                  <a:cubicBezTo>
                    <a:pt x="1330757" y="521271"/>
                    <a:pt x="1345044" y="535559"/>
                    <a:pt x="1345044" y="553021"/>
                  </a:cubicBezTo>
                  <a:lnTo>
                    <a:pt x="1345044" y="1036269"/>
                  </a:lnTo>
                  <a:cubicBezTo>
                    <a:pt x="1345044" y="1053732"/>
                    <a:pt x="1330757" y="1068019"/>
                    <a:pt x="1313294" y="1068019"/>
                  </a:cubicBezTo>
                  <a:lnTo>
                    <a:pt x="31750" y="1068019"/>
                  </a:lnTo>
                  <a:cubicBezTo>
                    <a:pt x="14288" y="1068019"/>
                    <a:pt x="0" y="1053732"/>
                    <a:pt x="0" y="1036269"/>
                  </a:cubicBezTo>
                  <a:lnTo>
                    <a:pt x="0" y="31750"/>
                  </a:lnTo>
                  <a:cubicBezTo>
                    <a:pt x="0" y="14288"/>
                    <a:pt x="14288" y="0"/>
                    <a:pt x="31750" y="0"/>
                  </a:cubicBezTo>
                  <a:close/>
                </a:path>
              </a:pathLst>
            </a:custGeom>
            <a:solidFill>
              <a:srgbClr val="FFFFFF"/>
            </a:solidFill>
            <a:ln w="7290" cap="rnd">
              <a:solidFill>
                <a:srgbClr val="B6CEC5"/>
              </a:solidFill>
              <a:prstDash val="solid"/>
              <a:round/>
            </a:ln>
          </p:spPr>
          <p:txBody>
            <a:bodyPr/>
            <a:lstStyle/>
            <a:p>
              <a:endParaRPr lang="zh-CN" altLang="en-US" dirty="0"/>
            </a:p>
          </p:txBody>
        </p:sp>
      </p:grpSp>
      <p:sp>
        <p:nvSpPr>
          <p:cNvPr id="7" name="TextBox 4">
            <a:extLst>
              <a:ext uri="{FF2B5EF4-FFF2-40B4-BE49-F238E27FC236}">
                <a16:creationId xmlns:a16="http://schemas.microsoft.com/office/drawing/2014/main" id="{ADBC3EDA-5434-B072-0369-64F7979021C5}"/>
              </a:ext>
            </a:extLst>
          </p:cNvPr>
          <p:cNvSpPr txBox="1"/>
          <p:nvPr/>
        </p:nvSpPr>
        <p:spPr>
          <a:xfrm>
            <a:off x="519056" y="107111"/>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a</a:t>
            </a:r>
          </a:p>
        </p:txBody>
      </p:sp>
      <p:sp>
        <p:nvSpPr>
          <p:cNvPr id="8" name="TextBox 5">
            <a:extLst>
              <a:ext uri="{FF2B5EF4-FFF2-40B4-BE49-F238E27FC236}">
                <a16:creationId xmlns:a16="http://schemas.microsoft.com/office/drawing/2014/main" id="{BDE65E3A-EB06-F9D8-4F70-55D863BF89FB}"/>
              </a:ext>
            </a:extLst>
          </p:cNvPr>
          <p:cNvSpPr txBox="1"/>
          <p:nvPr/>
        </p:nvSpPr>
        <p:spPr>
          <a:xfrm>
            <a:off x="677263" y="124527"/>
            <a:ext cx="2531320" cy="123624"/>
          </a:xfrm>
          <a:prstGeom prst="rect">
            <a:avLst/>
          </a:prstGeom>
          <a:noFill/>
        </p:spPr>
        <p:txBody>
          <a:bodyPr wrap="square" lIns="0" tIns="0" rIns="0" bIns="0" anchor="ctr">
            <a:spAutoFit/>
          </a:bodyPr>
          <a:lstStyle/>
          <a:p>
            <a:pPr algn="l">
              <a:lnSpc>
                <a:spcPct val="105000"/>
              </a:lnSpc>
            </a:pPr>
            <a:r>
              <a:rPr sz="822">
                <a:solidFill>
                  <a:srgbClr val="263442"/>
                </a:solidFill>
                <a:latin typeface="Arial"/>
              </a:rPr>
              <a:t>Find: locate ligand regions</a:t>
            </a:r>
          </a:p>
        </p:txBody>
      </p:sp>
      <p:sp>
        <p:nvSpPr>
          <p:cNvPr id="9" name="TextBox 6">
            <a:extLst>
              <a:ext uri="{FF2B5EF4-FFF2-40B4-BE49-F238E27FC236}">
                <a16:creationId xmlns:a16="http://schemas.microsoft.com/office/drawing/2014/main" id="{F3FF857A-DE19-FC06-9455-89983F39C003}"/>
              </a:ext>
            </a:extLst>
          </p:cNvPr>
          <p:cNvSpPr txBox="1"/>
          <p:nvPr/>
        </p:nvSpPr>
        <p:spPr>
          <a:xfrm>
            <a:off x="519056" y="1909702"/>
            <a:ext cx="174028" cy="149656"/>
          </a:xfrm>
          <a:prstGeom prst="rect">
            <a:avLst/>
          </a:prstGeom>
          <a:noFill/>
        </p:spPr>
        <p:txBody>
          <a:bodyPr wrap="square" lIns="0" tIns="0" rIns="0" bIns="0" anchor="ctr">
            <a:spAutoFit/>
          </a:bodyPr>
          <a:lstStyle/>
          <a:p>
            <a:pPr>
              <a:lnSpc>
                <a:spcPct val="105000"/>
              </a:lnSpc>
            </a:pPr>
            <a:r>
              <a:rPr sz="995" b="1" dirty="0">
                <a:solidFill>
                  <a:srgbClr val="263442"/>
                </a:solidFill>
                <a:latin typeface="Arial"/>
              </a:rPr>
              <a:t>b</a:t>
            </a:r>
          </a:p>
        </p:txBody>
      </p:sp>
      <p:sp>
        <p:nvSpPr>
          <p:cNvPr id="10" name="TextBox 7">
            <a:extLst>
              <a:ext uri="{FF2B5EF4-FFF2-40B4-BE49-F238E27FC236}">
                <a16:creationId xmlns:a16="http://schemas.microsoft.com/office/drawing/2014/main" id="{70ECA487-21BB-6209-C18F-3026009B4E59}"/>
              </a:ext>
            </a:extLst>
          </p:cNvPr>
          <p:cNvSpPr txBox="1"/>
          <p:nvPr/>
        </p:nvSpPr>
        <p:spPr>
          <a:xfrm>
            <a:off x="677200" y="1931954"/>
            <a:ext cx="2847735" cy="123624"/>
          </a:xfrm>
          <a:prstGeom prst="rect">
            <a:avLst/>
          </a:prstGeom>
          <a:noFill/>
        </p:spPr>
        <p:txBody>
          <a:bodyPr wrap="square" lIns="0" tIns="0" rIns="0" bIns="0" anchor="ctr">
            <a:spAutoFit/>
          </a:bodyPr>
          <a:lstStyle/>
          <a:p>
            <a:pPr algn="l">
              <a:lnSpc>
                <a:spcPct val="105000"/>
              </a:lnSpc>
            </a:pPr>
            <a:r>
              <a:rPr sz="822" dirty="0">
                <a:solidFill>
                  <a:srgbClr val="263442"/>
                </a:solidFill>
                <a:latin typeface="Arial"/>
              </a:rPr>
              <a:t>Match: candidate-to-identity assignment</a:t>
            </a:r>
          </a:p>
        </p:txBody>
      </p:sp>
      <p:sp>
        <p:nvSpPr>
          <p:cNvPr id="13" name="Find | Density card">
            <a:extLst>
              <a:ext uri="{FF2B5EF4-FFF2-40B4-BE49-F238E27FC236}">
                <a16:creationId xmlns:a16="http://schemas.microsoft.com/office/drawing/2014/main" id="{CAB7453E-57E4-6069-E17B-BEBD584DE9C5}"/>
              </a:ext>
            </a:extLst>
          </p:cNvPr>
          <p:cNvSpPr/>
          <p:nvPr/>
        </p:nvSpPr>
        <p:spPr>
          <a:xfrm>
            <a:off x="540853" y="284774"/>
            <a:ext cx="488504" cy="680292"/>
          </a:xfrm>
          <a:prstGeom prst="roundRect">
            <a:avLst>
              <a:gd name="adj" fmla="val 6000"/>
            </a:avLst>
          </a:prstGeom>
          <a:solidFill>
            <a:srgbClr val="FFFFFF"/>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14" name="TextBox 11">
            <a:extLst>
              <a:ext uri="{FF2B5EF4-FFF2-40B4-BE49-F238E27FC236}">
                <a16:creationId xmlns:a16="http://schemas.microsoft.com/office/drawing/2014/main" id="{E13F9DB9-2915-4D37-1A15-4DD879957FE6}"/>
              </a:ext>
            </a:extLst>
          </p:cNvPr>
          <p:cNvSpPr txBox="1"/>
          <p:nvPr/>
        </p:nvSpPr>
        <p:spPr>
          <a:xfrm>
            <a:off x="460928" y="318294"/>
            <a:ext cx="664471" cy="101503"/>
          </a:xfrm>
          <a:prstGeom prst="rect">
            <a:avLst/>
          </a:prstGeom>
          <a:noFill/>
        </p:spPr>
        <p:txBody>
          <a:bodyPr wrap="square" lIns="0" tIns="0" rIns="0" bIns="0" anchor="ctr">
            <a:spAutoFit/>
          </a:bodyPr>
          <a:lstStyle/>
          <a:p>
            <a:pPr algn="ctr">
              <a:lnSpc>
                <a:spcPct val="105000"/>
              </a:lnSpc>
            </a:pPr>
            <a:r>
              <a:rPr sz="675" dirty="0">
                <a:solidFill>
                  <a:srgbClr val="263442"/>
                </a:solidFill>
                <a:latin typeface="Arial"/>
              </a:rPr>
              <a:t>Density</a:t>
            </a:r>
          </a:p>
        </p:txBody>
      </p:sp>
      <p:sp>
        <p:nvSpPr>
          <p:cNvPr id="235" name="Find | Receptor card">
            <a:extLst>
              <a:ext uri="{FF2B5EF4-FFF2-40B4-BE49-F238E27FC236}">
                <a16:creationId xmlns:a16="http://schemas.microsoft.com/office/drawing/2014/main" id="{C39711EA-1578-1FDC-F7E5-415822DEC84F}"/>
              </a:ext>
            </a:extLst>
          </p:cNvPr>
          <p:cNvSpPr/>
          <p:nvPr/>
        </p:nvSpPr>
        <p:spPr>
          <a:xfrm>
            <a:off x="540852" y="1028349"/>
            <a:ext cx="489611" cy="727754"/>
          </a:xfrm>
          <a:prstGeom prst="roundRect">
            <a:avLst>
              <a:gd name="adj" fmla="val 6000"/>
            </a:avLst>
          </a:prstGeom>
          <a:solidFill>
            <a:srgbClr val="FFFFFF"/>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6" name="TextBox 6212">
            <a:extLst>
              <a:ext uri="{FF2B5EF4-FFF2-40B4-BE49-F238E27FC236}">
                <a16:creationId xmlns:a16="http://schemas.microsoft.com/office/drawing/2014/main" id="{4566817F-CA11-3CA5-4ED5-534E4B65A1C1}"/>
              </a:ext>
            </a:extLst>
          </p:cNvPr>
          <p:cNvSpPr txBox="1"/>
          <p:nvPr/>
        </p:nvSpPr>
        <p:spPr>
          <a:xfrm>
            <a:off x="434702" y="1053973"/>
            <a:ext cx="664471" cy="101503"/>
          </a:xfrm>
          <a:prstGeom prst="rect">
            <a:avLst/>
          </a:prstGeom>
          <a:noFill/>
        </p:spPr>
        <p:txBody>
          <a:bodyPr wrap="square" lIns="0" tIns="0" rIns="0" bIns="0" anchor="ctr">
            <a:spAutoFit/>
          </a:bodyPr>
          <a:lstStyle/>
          <a:p>
            <a:pPr algn="ctr">
              <a:lnSpc>
                <a:spcPct val="105000"/>
              </a:lnSpc>
            </a:pPr>
            <a:r>
              <a:rPr sz="675" dirty="0">
                <a:solidFill>
                  <a:srgbClr val="263442"/>
                </a:solidFill>
                <a:latin typeface="Arial"/>
              </a:rPr>
              <a:t>Receptor</a:t>
            </a:r>
          </a:p>
        </p:txBody>
      </p:sp>
      <p:sp>
        <p:nvSpPr>
          <p:cNvPr id="237" name="Find | 3D voxel U-Net box">
            <a:extLst>
              <a:ext uri="{FF2B5EF4-FFF2-40B4-BE49-F238E27FC236}">
                <a16:creationId xmlns:a16="http://schemas.microsoft.com/office/drawing/2014/main" id="{84C31B5C-DB46-3102-A094-A625CBC3795B}"/>
              </a:ext>
            </a:extLst>
          </p:cNvPr>
          <p:cNvSpPr/>
          <p:nvPr/>
        </p:nvSpPr>
        <p:spPr>
          <a:xfrm>
            <a:off x="1932849" y="284774"/>
            <a:ext cx="2183263" cy="743575"/>
          </a:xfrm>
          <a:prstGeom prst="roundRect">
            <a:avLst>
              <a:gd name="adj" fmla="val 5000"/>
            </a:avLst>
          </a:prstGeom>
          <a:solidFill>
            <a:srgbClr val="EDF3FA"/>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8" name="TextBox 6223">
            <a:extLst>
              <a:ext uri="{FF2B5EF4-FFF2-40B4-BE49-F238E27FC236}">
                <a16:creationId xmlns:a16="http://schemas.microsoft.com/office/drawing/2014/main" id="{D0BEE622-6A06-FAEC-A1B9-E12DAFA59B95}"/>
              </a:ext>
            </a:extLst>
          </p:cNvPr>
          <p:cNvSpPr txBox="1"/>
          <p:nvPr/>
        </p:nvSpPr>
        <p:spPr>
          <a:xfrm>
            <a:off x="1932849" y="310561"/>
            <a:ext cx="2183263" cy="106632"/>
          </a:xfrm>
          <a:prstGeom prst="rect">
            <a:avLst/>
          </a:prstGeom>
          <a:noFill/>
        </p:spPr>
        <p:txBody>
          <a:bodyPr wrap="square" lIns="0" tIns="0" rIns="0" bIns="0" anchor="ctr">
            <a:spAutoFit/>
          </a:bodyPr>
          <a:lstStyle/>
          <a:p>
            <a:pPr algn="ctr">
              <a:lnSpc>
                <a:spcPct val="105000"/>
              </a:lnSpc>
            </a:pPr>
            <a:r>
              <a:rPr sz="709">
                <a:solidFill>
                  <a:srgbClr val="263442"/>
                </a:solidFill>
                <a:latin typeface="Arial"/>
              </a:rPr>
              <a:t>3D voxel U-Net</a:t>
            </a:r>
          </a:p>
        </p:txBody>
      </p:sp>
      <p:sp>
        <p:nvSpPr>
          <p:cNvPr id="239" name="TextBox 6224">
            <a:extLst>
              <a:ext uri="{FF2B5EF4-FFF2-40B4-BE49-F238E27FC236}">
                <a16:creationId xmlns:a16="http://schemas.microsoft.com/office/drawing/2014/main" id="{6162AD09-868A-9802-DD3F-493AE18E658B}"/>
              </a:ext>
            </a:extLst>
          </p:cNvPr>
          <p:cNvSpPr txBox="1"/>
          <p:nvPr/>
        </p:nvSpPr>
        <p:spPr>
          <a:xfrm>
            <a:off x="1932704" y="415407"/>
            <a:ext cx="2183414" cy="84510"/>
          </a:xfrm>
          <a:prstGeom prst="rect">
            <a:avLst/>
          </a:prstGeom>
          <a:noFill/>
        </p:spPr>
        <p:txBody>
          <a:bodyPr wrap="square" lIns="0" tIns="0" rIns="0" bIns="0" anchor="ctr">
            <a:spAutoFit/>
          </a:bodyPr>
          <a:lstStyle/>
          <a:p>
            <a:pPr algn="ctr">
              <a:lnSpc>
                <a:spcPct val="105000"/>
              </a:lnSpc>
            </a:pPr>
            <a:r>
              <a:rPr sz="562" i="1" dirty="0">
                <a:solidFill>
                  <a:srgbClr val="263442"/>
                </a:solidFill>
                <a:latin typeface="Arial"/>
              </a:rPr>
              <a:t>Skip connections</a:t>
            </a:r>
          </a:p>
        </p:txBody>
      </p:sp>
      <p:sp>
        <p:nvSpPr>
          <p:cNvPr id="240" name="TextBox 10003">
            <a:extLst>
              <a:ext uri="{FF2B5EF4-FFF2-40B4-BE49-F238E27FC236}">
                <a16:creationId xmlns:a16="http://schemas.microsoft.com/office/drawing/2014/main" id="{09C48FDC-7786-8263-4A08-E75021FC8287}"/>
              </a:ext>
            </a:extLst>
          </p:cNvPr>
          <p:cNvSpPr txBox="1"/>
          <p:nvPr/>
        </p:nvSpPr>
        <p:spPr>
          <a:xfrm>
            <a:off x="2098966"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Encoder</a:t>
            </a:r>
          </a:p>
        </p:txBody>
      </p:sp>
      <p:sp>
        <p:nvSpPr>
          <p:cNvPr id="241" name="TextBox 10004">
            <a:extLst>
              <a:ext uri="{FF2B5EF4-FFF2-40B4-BE49-F238E27FC236}">
                <a16:creationId xmlns:a16="http://schemas.microsoft.com/office/drawing/2014/main" id="{5D7C6AF6-28C5-C78C-2A6D-53148E9C5409}"/>
              </a:ext>
            </a:extLst>
          </p:cNvPr>
          <p:cNvSpPr txBox="1"/>
          <p:nvPr/>
        </p:nvSpPr>
        <p:spPr>
          <a:xfrm>
            <a:off x="2747617"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Bottleneck</a:t>
            </a:r>
          </a:p>
        </p:txBody>
      </p:sp>
      <p:sp>
        <p:nvSpPr>
          <p:cNvPr id="242" name="TextBox 10005">
            <a:extLst>
              <a:ext uri="{FF2B5EF4-FFF2-40B4-BE49-F238E27FC236}">
                <a16:creationId xmlns:a16="http://schemas.microsoft.com/office/drawing/2014/main" id="{7CC49EB1-DBD1-A7E7-516D-CECCC1D041F1}"/>
              </a:ext>
            </a:extLst>
          </p:cNvPr>
          <p:cNvSpPr txBox="1"/>
          <p:nvPr/>
        </p:nvSpPr>
        <p:spPr>
          <a:xfrm>
            <a:off x="3396268"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Decoder</a:t>
            </a:r>
          </a:p>
        </p:txBody>
      </p:sp>
      <p:sp>
        <p:nvSpPr>
          <p:cNvPr id="243" name="Find | Point Transformer V3 box">
            <a:extLst>
              <a:ext uri="{FF2B5EF4-FFF2-40B4-BE49-F238E27FC236}">
                <a16:creationId xmlns:a16="http://schemas.microsoft.com/office/drawing/2014/main" id="{E6BB0EBE-E97F-0460-89AE-378626BAD4D7}"/>
              </a:ext>
            </a:extLst>
          </p:cNvPr>
          <p:cNvSpPr/>
          <p:nvPr/>
        </p:nvSpPr>
        <p:spPr>
          <a:xfrm>
            <a:off x="1932849" y="1170736"/>
            <a:ext cx="2183263" cy="585368"/>
          </a:xfrm>
          <a:prstGeom prst="roundRect">
            <a:avLst>
              <a:gd name="adj" fmla="val 5000"/>
            </a:avLst>
          </a:prstGeom>
          <a:solidFill>
            <a:srgbClr val="EDF3FA"/>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grpSp>
        <p:nvGrpSpPr>
          <p:cNvPr id="244" name="Find | PTV3 stage 1 (no pseudo)">
            <a:extLst>
              <a:ext uri="{FF2B5EF4-FFF2-40B4-BE49-F238E27FC236}">
                <a16:creationId xmlns:a16="http://schemas.microsoft.com/office/drawing/2014/main" id="{B4F71929-AC06-8CA3-B3DD-0D60585A9033}"/>
              </a:ext>
            </a:extLst>
          </p:cNvPr>
          <p:cNvGrpSpPr/>
          <p:nvPr/>
        </p:nvGrpSpPr>
        <p:grpSpPr>
          <a:xfrm>
            <a:off x="2023818" y="1222153"/>
            <a:ext cx="276863" cy="197759"/>
            <a:chOff x="1837958" y="1438830"/>
            <a:chExt cx="279225" cy="243090"/>
          </a:xfrm>
        </p:grpSpPr>
        <p:sp>
          <p:nvSpPr>
            <p:cNvPr id="245" name="rect_1844">
              <a:extLst>
                <a:ext uri="{FF2B5EF4-FFF2-40B4-BE49-F238E27FC236}">
                  <a16:creationId xmlns:a16="http://schemas.microsoft.com/office/drawing/2014/main" id="{660AA888-4092-6DA6-78D3-4B888E2B2DA3}"/>
                </a:ext>
              </a:extLst>
            </p:cNvPr>
            <p:cNvSpPr/>
            <p:nvPr/>
          </p:nvSpPr>
          <p:spPr>
            <a:xfrm>
              <a:off x="1837958" y="1438830"/>
              <a:ext cx="279225" cy="243090"/>
            </a:xfrm>
            <a:prstGeom prst="roundRect">
              <a:avLst>
                <a:gd name="adj" fmla="val 6757"/>
              </a:avLst>
            </a:prstGeom>
            <a:solidFill>
              <a:srgbClr val="F8F5FC"/>
            </a:solidFill>
            <a:ln w="2540" cap="rnd" cmpd="sng" algn="ctr">
              <a:solidFill>
                <a:srgbClr val="C3D4E6"/>
              </a:solidFill>
              <a:prstDash val="solid"/>
              <a:round/>
              <a:headEnd type="none" w="med" len="med"/>
              <a:tailEnd type="none" w="med" len="med"/>
            </a:ln>
            <a:effectLst/>
          </p:spPr>
        </p:sp>
        <p:sp>
          <p:nvSpPr>
            <p:cNvPr id="246" name="ellipse_1845">
              <a:extLst>
                <a:ext uri="{FF2B5EF4-FFF2-40B4-BE49-F238E27FC236}">
                  <a16:creationId xmlns:a16="http://schemas.microsoft.com/office/drawing/2014/main" id="{8ED69D04-8A29-A5B5-FEDE-87DBF5A86A21}"/>
                </a:ext>
              </a:extLst>
            </p:cNvPr>
            <p:cNvSpPr/>
            <p:nvPr/>
          </p:nvSpPr>
          <p:spPr>
            <a:xfrm>
              <a:off x="1911179" y="154988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7" name="ellipse_1846">
              <a:extLst>
                <a:ext uri="{FF2B5EF4-FFF2-40B4-BE49-F238E27FC236}">
                  <a16:creationId xmlns:a16="http://schemas.microsoft.com/office/drawing/2014/main" id="{2F757B70-05BB-1D52-EAD7-99F943EE0786}"/>
                </a:ext>
              </a:extLst>
            </p:cNvPr>
            <p:cNvSpPr/>
            <p:nvPr/>
          </p:nvSpPr>
          <p:spPr>
            <a:xfrm>
              <a:off x="2016057" y="15691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8" name="ellipse_1847">
              <a:extLst>
                <a:ext uri="{FF2B5EF4-FFF2-40B4-BE49-F238E27FC236}">
                  <a16:creationId xmlns:a16="http://schemas.microsoft.com/office/drawing/2014/main" id="{33900347-5FB5-F6C0-81F6-93C079B537C5}"/>
                </a:ext>
              </a:extLst>
            </p:cNvPr>
            <p:cNvSpPr/>
            <p:nvPr/>
          </p:nvSpPr>
          <p:spPr>
            <a:xfrm>
              <a:off x="1901005" y="1463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9" name="ellipse_1848">
              <a:extLst>
                <a:ext uri="{FF2B5EF4-FFF2-40B4-BE49-F238E27FC236}">
                  <a16:creationId xmlns:a16="http://schemas.microsoft.com/office/drawing/2014/main" id="{D9E3B372-BB0F-C9A4-3974-A8E7AF7737B7}"/>
                </a:ext>
              </a:extLst>
            </p:cNvPr>
            <p:cNvSpPr/>
            <p:nvPr/>
          </p:nvSpPr>
          <p:spPr>
            <a:xfrm>
              <a:off x="1966917" y="149122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0" name="ellipse_1849">
              <a:extLst>
                <a:ext uri="{FF2B5EF4-FFF2-40B4-BE49-F238E27FC236}">
                  <a16:creationId xmlns:a16="http://schemas.microsoft.com/office/drawing/2014/main" id="{65731899-DB97-2E91-5665-E8C978110F71}"/>
                </a:ext>
              </a:extLst>
            </p:cNvPr>
            <p:cNvSpPr/>
            <p:nvPr/>
          </p:nvSpPr>
          <p:spPr>
            <a:xfrm>
              <a:off x="1981202" y="14619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1" name="ellipse_1850">
              <a:extLst>
                <a:ext uri="{FF2B5EF4-FFF2-40B4-BE49-F238E27FC236}">
                  <a16:creationId xmlns:a16="http://schemas.microsoft.com/office/drawing/2014/main" id="{FB870BF7-7DC4-B374-8AD0-46EC506BB29E}"/>
                </a:ext>
              </a:extLst>
            </p:cNvPr>
            <p:cNvSpPr/>
            <p:nvPr/>
          </p:nvSpPr>
          <p:spPr>
            <a:xfrm>
              <a:off x="2025801" y="15227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2" name="ellipse_1851">
              <a:extLst>
                <a:ext uri="{FF2B5EF4-FFF2-40B4-BE49-F238E27FC236}">
                  <a16:creationId xmlns:a16="http://schemas.microsoft.com/office/drawing/2014/main" id="{FB5210B2-4DAF-5841-3925-445BB6BA8E65}"/>
                </a:ext>
              </a:extLst>
            </p:cNvPr>
            <p:cNvSpPr/>
            <p:nvPr/>
          </p:nvSpPr>
          <p:spPr>
            <a:xfrm>
              <a:off x="1923657" y="157409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3" name="ellipse_1852">
              <a:extLst>
                <a:ext uri="{FF2B5EF4-FFF2-40B4-BE49-F238E27FC236}">
                  <a16:creationId xmlns:a16="http://schemas.microsoft.com/office/drawing/2014/main" id="{5E297BB0-4B0B-7393-6335-0A8D413997FE}"/>
                </a:ext>
              </a:extLst>
            </p:cNvPr>
            <p:cNvSpPr/>
            <p:nvPr/>
          </p:nvSpPr>
          <p:spPr>
            <a:xfrm>
              <a:off x="2046951" y="149268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4" name="ellipse_1853">
              <a:extLst>
                <a:ext uri="{FF2B5EF4-FFF2-40B4-BE49-F238E27FC236}">
                  <a16:creationId xmlns:a16="http://schemas.microsoft.com/office/drawing/2014/main" id="{3460EDB7-F270-4A51-230E-76F07C518E5B}"/>
                </a:ext>
              </a:extLst>
            </p:cNvPr>
            <p:cNvSpPr/>
            <p:nvPr/>
          </p:nvSpPr>
          <p:spPr>
            <a:xfrm>
              <a:off x="1971403" y="1621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5" name="ellipse_1854">
              <a:extLst>
                <a:ext uri="{FF2B5EF4-FFF2-40B4-BE49-F238E27FC236}">
                  <a16:creationId xmlns:a16="http://schemas.microsoft.com/office/drawing/2014/main" id="{D7F22E2B-29AF-AAFC-9390-4763B76AC824}"/>
                </a:ext>
              </a:extLst>
            </p:cNvPr>
            <p:cNvSpPr/>
            <p:nvPr/>
          </p:nvSpPr>
          <p:spPr>
            <a:xfrm>
              <a:off x="1916632" y="148370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56" name="Find | PTV3 stage 2 (no pseudo)">
            <a:extLst>
              <a:ext uri="{FF2B5EF4-FFF2-40B4-BE49-F238E27FC236}">
                <a16:creationId xmlns:a16="http://schemas.microsoft.com/office/drawing/2014/main" id="{F4A044B8-F6CD-9A28-3075-23E9F1427BD6}"/>
              </a:ext>
            </a:extLst>
          </p:cNvPr>
          <p:cNvGrpSpPr/>
          <p:nvPr/>
        </p:nvGrpSpPr>
        <p:grpSpPr>
          <a:xfrm>
            <a:off x="2454581" y="1218198"/>
            <a:ext cx="269656" cy="205670"/>
            <a:chOff x="2276505" y="1465110"/>
            <a:chExt cx="243090" cy="190530"/>
          </a:xfrm>
        </p:grpSpPr>
        <p:sp>
          <p:nvSpPr>
            <p:cNvPr id="257" name="rect_1860">
              <a:extLst>
                <a:ext uri="{FF2B5EF4-FFF2-40B4-BE49-F238E27FC236}">
                  <a16:creationId xmlns:a16="http://schemas.microsoft.com/office/drawing/2014/main" id="{2A2BC9FE-9931-3C68-E213-012D2334D100}"/>
                </a:ext>
              </a:extLst>
            </p:cNvPr>
            <p:cNvSpPr/>
            <p:nvPr/>
          </p:nvSpPr>
          <p:spPr>
            <a:xfrm>
              <a:off x="2276505" y="1465110"/>
              <a:ext cx="243090" cy="190530"/>
            </a:xfrm>
            <a:prstGeom prst="roundRect">
              <a:avLst>
                <a:gd name="adj" fmla="val 8621"/>
              </a:avLst>
            </a:prstGeom>
            <a:solidFill>
              <a:srgbClr val="F8F5FC"/>
            </a:solidFill>
            <a:ln w="2540" cap="rnd" cmpd="sng" algn="ctr">
              <a:solidFill>
                <a:srgbClr val="C3D4E6"/>
              </a:solidFill>
              <a:prstDash val="solid"/>
              <a:round/>
              <a:headEnd type="none" w="med" len="med"/>
              <a:tailEnd type="none" w="med" len="med"/>
            </a:ln>
            <a:effectLst/>
          </p:spPr>
        </p:sp>
        <p:sp>
          <p:nvSpPr>
            <p:cNvPr id="258" name="ellipse_1861">
              <a:extLst>
                <a:ext uri="{FF2B5EF4-FFF2-40B4-BE49-F238E27FC236}">
                  <a16:creationId xmlns:a16="http://schemas.microsoft.com/office/drawing/2014/main" id="{0D3FC1DA-E4D9-46A0-549F-86D3BA55D6FD}"/>
                </a:ext>
              </a:extLst>
            </p:cNvPr>
            <p:cNvSpPr/>
            <p:nvPr/>
          </p:nvSpPr>
          <p:spPr>
            <a:xfrm>
              <a:off x="2443383" y="14753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9" name="ellipse_1862">
              <a:extLst>
                <a:ext uri="{FF2B5EF4-FFF2-40B4-BE49-F238E27FC236}">
                  <a16:creationId xmlns:a16="http://schemas.microsoft.com/office/drawing/2014/main" id="{2E76A36E-124A-FF28-5F0C-9D8A556CAB6E}"/>
                </a:ext>
              </a:extLst>
            </p:cNvPr>
            <p:cNvSpPr/>
            <p:nvPr/>
          </p:nvSpPr>
          <p:spPr>
            <a:xfrm>
              <a:off x="2334302" y="149054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0" name="ellipse_1863">
              <a:extLst>
                <a:ext uri="{FF2B5EF4-FFF2-40B4-BE49-F238E27FC236}">
                  <a16:creationId xmlns:a16="http://schemas.microsoft.com/office/drawing/2014/main" id="{D535EE24-6485-F339-2CB7-F9EF085CB943}"/>
                </a:ext>
              </a:extLst>
            </p:cNvPr>
            <p:cNvSpPr/>
            <p:nvPr/>
          </p:nvSpPr>
          <p:spPr>
            <a:xfrm>
              <a:off x="2421391" y="151821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1" name="ellipse_1864">
              <a:extLst>
                <a:ext uri="{FF2B5EF4-FFF2-40B4-BE49-F238E27FC236}">
                  <a16:creationId xmlns:a16="http://schemas.microsoft.com/office/drawing/2014/main" id="{3E3B8E8E-0D51-B463-1AC5-8ABBD0D94E5F}"/>
                </a:ext>
              </a:extLst>
            </p:cNvPr>
            <p:cNvSpPr/>
            <p:nvPr/>
          </p:nvSpPr>
          <p:spPr>
            <a:xfrm>
              <a:off x="2395798" y="148175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2" name="ellipse_1865">
              <a:extLst>
                <a:ext uri="{FF2B5EF4-FFF2-40B4-BE49-F238E27FC236}">
                  <a16:creationId xmlns:a16="http://schemas.microsoft.com/office/drawing/2014/main" id="{A78CC97C-CF00-B4B4-232A-6540F415567F}"/>
                </a:ext>
              </a:extLst>
            </p:cNvPr>
            <p:cNvSpPr/>
            <p:nvPr/>
          </p:nvSpPr>
          <p:spPr>
            <a:xfrm>
              <a:off x="2345071" y="160888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3" name="ellipse_1866">
              <a:extLst>
                <a:ext uri="{FF2B5EF4-FFF2-40B4-BE49-F238E27FC236}">
                  <a16:creationId xmlns:a16="http://schemas.microsoft.com/office/drawing/2014/main" id="{1C7DD56E-5535-8B2E-615C-21EEB3FC0B60}"/>
                </a:ext>
              </a:extLst>
            </p:cNvPr>
            <p:cNvSpPr/>
            <p:nvPr/>
          </p:nvSpPr>
          <p:spPr>
            <a:xfrm>
              <a:off x="2455927" y="15235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4" name="ellipse_1867">
              <a:extLst>
                <a:ext uri="{FF2B5EF4-FFF2-40B4-BE49-F238E27FC236}">
                  <a16:creationId xmlns:a16="http://schemas.microsoft.com/office/drawing/2014/main" id="{53E5DFEF-A738-E1E2-6D82-562898867479}"/>
                </a:ext>
              </a:extLst>
            </p:cNvPr>
            <p:cNvSpPr/>
            <p:nvPr/>
          </p:nvSpPr>
          <p:spPr>
            <a:xfrm>
              <a:off x="2415612" y="15382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5" name="ellipse_1868">
              <a:extLst>
                <a:ext uri="{FF2B5EF4-FFF2-40B4-BE49-F238E27FC236}">
                  <a16:creationId xmlns:a16="http://schemas.microsoft.com/office/drawing/2014/main" id="{9F15DB89-4578-E9D4-B66C-9772D337DE92}"/>
                </a:ext>
              </a:extLst>
            </p:cNvPr>
            <p:cNvSpPr/>
            <p:nvPr/>
          </p:nvSpPr>
          <p:spPr>
            <a:xfrm>
              <a:off x="2384162" y="155385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66" name="Find | PTV3 stage 3 (no pseudo)">
            <a:extLst>
              <a:ext uri="{FF2B5EF4-FFF2-40B4-BE49-F238E27FC236}">
                <a16:creationId xmlns:a16="http://schemas.microsoft.com/office/drawing/2014/main" id="{8E5AF76E-A5D2-A1C4-1196-A1FB989CBECC}"/>
              </a:ext>
            </a:extLst>
          </p:cNvPr>
          <p:cNvGrpSpPr/>
          <p:nvPr/>
        </p:nvGrpSpPr>
        <p:grpSpPr>
          <a:xfrm>
            <a:off x="2902421" y="1230063"/>
            <a:ext cx="244120" cy="181939"/>
            <a:chOff x="2703555" y="1491390"/>
            <a:chExt cx="190530" cy="137970"/>
          </a:xfrm>
        </p:grpSpPr>
        <p:sp>
          <p:nvSpPr>
            <p:cNvPr id="267" name="rect_1874">
              <a:extLst>
                <a:ext uri="{FF2B5EF4-FFF2-40B4-BE49-F238E27FC236}">
                  <a16:creationId xmlns:a16="http://schemas.microsoft.com/office/drawing/2014/main" id="{75101B77-5988-FEB7-22BD-46F0384ADBC8}"/>
                </a:ext>
              </a:extLst>
            </p:cNvPr>
            <p:cNvSpPr/>
            <p:nvPr/>
          </p:nvSpPr>
          <p:spPr>
            <a:xfrm>
              <a:off x="2703555" y="1491390"/>
              <a:ext cx="190530" cy="137970"/>
            </a:xfrm>
            <a:prstGeom prst="roundRect">
              <a:avLst>
                <a:gd name="adj" fmla="val 11905"/>
              </a:avLst>
            </a:prstGeom>
            <a:solidFill>
              <a:srgbClr val="F8F5FC"/>
            </a:solidFill>
            <a:ln w="2540" cap="rnd" cmpd="sng" algn="ctr">
              <a:solidFill>
                <a:srgbClr val="C3D4E6"/>
              </a:solidFill>
              <a:prstDash val="solid"/>
              <a:round/>
              <a:headEnd type="none" w="med" len="med"/>
              <a:tailEnd type="none" w="med" len="med"/>
            </a:ln>
            <a:effectLst/>
          </p:spPr>
        </p:sp>
        <p:sp>
          <p:nvSpPr>
            <p:cNvPr id="268" name="ellipse_1875">
              <a:extLst>
                <a:ext uri="{FF2B5EF4-FFF2-40B4-BE49-F238E27FC236}">
                  <a16:creationId xmlns:a16="http://schemas.microsoft.com/office/drawing/2014/main" id="{0F3768B9-45DC-D239-6ECE-6B199905A0E6}"/>
                </a:ext>
              </a:extLst>
            </p:cNvPr>
            <p:cNvSpPr/>
            <p:nvPr/>
          </p:nvSpPr>
          <p:spPr>
            <a:xfrm>
              <a:off x="2782342" y="152486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9" name="ellipse_1876">
              <a:extLst>
                <a:ext uri="{FF2B5EF4-FFF2-40B4-BE49-F238E27FC236}">
                  <a16:creationId xmlns:a16="http://schemas.microsoft.com/office/drawing/2014/main" id="{9AC2E9D9-EA81-CB60-9668-376E55C3B65A}"/>
                </a:ext>
              </a:extLst>
            </p:cNvPr>
            <p:cNvSpPr/>
            <p:nvPr/>
          </p:nvSpPr>
          <p:spPr>
            <a:xfrm>
              <a:off x="2750750" y="159446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0" name="ellipse_1877">
              <a:extLst>
                <a:ext uri="{FF2B5EF4-FFF2-40B4-BE49-F238E27FC236}">
                  <a16:creationId xmlns:a16="http://schemas.microsoft.com/office/drawing/2014/main" id="{193512C0-B984-BF26-53B2-A4C133832B19}"/>
                </a:ext>
              </a:extLst>
            </p:cNvPr>
            <p:cNvSpPr/>
            <p:nvPr/>
          </p:nvSpPr>
          <p:spPr>
            <a:xfrm>
              <a:off x="2743887" y="14971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1" name="ellipse_1878">
              <a:extLst>
                <a:ext uri="{FF2B5EF4-FFF2-40B4-BE49-F238E27FC236}">
                  <a16:creationId xmlns:a16="http://schemas.microsoft.com/office/drawing/2014/main" id="{010957FC-182F-1FF9-1554-385555C7E5BB}"/>
                </a:ext>
              </a:extLst>
            </p:cNvPr>
            <p:cNvSpPr/>
            <p:nvPr/>
          </p:nvSpPr>
          <p:spPr>
            <a:xfrm>
              <a:off x="2833390" y="151132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2" name="ellipse_1879">
              <a:extLst>
                <a:ext uri="{FF2B5EF4-FFF2-40B4-BE49-F238E27FC236}">
                  <a16:creationId xmlns:a16="http://schemas.microsoft.com/office/drawing/2014/main" id="{D3BED3D3-6945-FBFB-0ADC-29AB3D61D264}"/>
                </a:ext>
              </a:extLst>
            </p:cNvPr>
            <p:cNvSpPr/>
            <p:nvPr/>
          </p:nvSpPr>
          <p:spPr>
            <a:xfrm>
              <a:off x="2831792" y="156772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73" name="Find | PTV3 stage 4 (no pseudo)">
            <a:extLst>
              <a:ext uri="{FF2B5EF4-FFF2-40B4-BE49-F238E27FC236}">
                <a16:creationId xmlns:a16="http://schemas.microsoft.com/office/drawing/2014/main" id="{6152C243-7C11-72B4-655A-F6C20103F058}"/>
              </a:ext>
            </a:extLst>
          </p:cNvPr>
          <p:cNvGrpSpPr/>
          <p:nvPr/>
        </p:nvGrpSpPr>
        <p:grpSpPr>
          <a:xfrm>
            <a:off x="3324724" y="1218198"/>
            <a:ext cx="269656" cy="205670"/>
            <a:chOff x="3097755" y="1465110"/>
            <a:chExt cx="243090" cy="190530"/>
          </a:xfrm>
        </p:grpSpPr>
        <p:sp>
          <p:nvSpPr>
            <p:cNvPr id="274" name="rect_1885">
              <a:extLst>
                <a:ext uri="{FF2B5EF4-FFF2-40B4-BE49-F238E27FC236}">
                  <a16:creationId xmlns:a16="http://schemas.microsoft.com/office/drawing/2014/main" id="{02A84936-E0C4-22EE-AB39-B8147866C1E6}"/>
                </a:ext>
              </a:extLst>
            </p:cNvPr>
            <p:cNvSpPr/>
            <p:nvPr/>
          </p:nvSpPr>
          <p:spPr>
            <a:xfrm>
              <a:off x="3097755" y="1465110"/>
              <a:ext cx="243090" cy="190530"/>
            </a:xfrm>
            <a:prstGeom prst="roundRect">
              <a:avLst>
                <a:gd name="adj" fmla="val 8621"/>
              </a:avLst>
            </a:prstGeom>
            <a:solidFill>
              <a:srgbClr val="F8F5FC"/>
            </a:solidFill>
            <a:ln w="2540" cap="rnd" cmpd="sng" algn="ctr">
              <a:solidFill>
                <a:srgbClr val="C3D4E6"/>
              </a:solidFill>
              <a:prstDash val="solid"/>
              <a:round/>
              <a:headEnd type="none" w="med" len="med"/>
              <a:tailEnd type="none" w="med" len="med"/>
            </a:ln>
            <a:effectLst/>
          </p:spPr>
        </p:sp>
        <p:sp>
          <p:nvSpPr>
            <p:cNvPr id="275" name="ellipse_1886">
              <a:extLst>
                <a:ext uri="{FF2B5EF4-FFF2-40B4-BE49-F238E27FC236}">
                  <a16:creationId xmlns:a16="http://schemas.microsoft.com/office/drawing/2014/main" id="{28C5B77C-D4DA-25CA-7F5E-FFB406D4948B}"/>
                </a:ext>
              </a:extLst>
            </p:cNvPr>
            <p:cNvSpPr/>
            <p:nvPr/>
          </p:nvSpPr>
          <p:spPr>
            <a:xfrm>
              <a:off x="3274804" y="154785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6" name="ellipse_1887">
              <a:extLst>
                <a:ext uri="{FF2B5EF4-FFF2-40B4-BE49-F238E27FC236}">
                  <a16:creationId xmlns:a16="http://schemas.microsoft.com/office/drawing/2014/main" id="{4B9C2CC8-3618-CEA6-223F-481DE7645A74}"/>
                </a:ext>
              </a:extLst>
            </p:cNvPr>
            <p:cNvSpPr/>
            <p:nvPr/>
          </p:nvSpPr>
          <p:spPr>
            <a:xfrm>
              <a:off x="3235593" y="156879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7" name="ellipse_1888">
              <a:extLst>
                <a:ext uri="{FF2B5EF4-FFF2-40B4-BE49-F238E27FC236}">
                  <a16:creationId xmlns:a16="http://schemas.microsoft.com/office/drawing/2014/main" id="{116AA07D-1658-6583-2048-22DAA979C713}"/>
                </a:ext>
              </a:extLst>
            </p:cNvPr>
            <p:cNvSpPr/>
            <p:nvPr/>
          </p:nvSpPr>
          <p:spPr>
            <a:xfrm>
              <a:off x="3215524" y="154839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8" name="ellipse_1889">
              <a:extLst>
                <a:ext uri="{FF2B5EF4-FFF2-40B4-BE49-F238E27FC236}">
                  <a16:creationId xmlns:a16="http://schemas.microsoft.com/office/drawing/2014/main" id="{B9996B1C-4365-A5B2-A0FA-BEEE1AE3580D}"/>
                </a:ext>
              </a:extLst>
            </p:cNvPr>
            <p:cNvSpPr/>
            <p:nvPr/>
          </p:nvSpPr>
          <p:spPr>
            <a:xfrm>
              <a:off x="3114632" y="15799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9" name="ellipse_1890">
              <a:extLst>
                <a:ext uri="{FF2B5EF4-FFF2-40B4-BE49-F238E27FC236}">
                  <a16:creationId xmlns:a16="http://schemas.microsoft.com/office/drawing/2014/main" id="{B24EA66B-C475-FD74-3653-99240EA2FC7D}"/>
                </a:ext>
              </a:extLst>
            </p:cNvPr>
            <p:cNvSpPr/>
            <p:nvPr/>
          </p:nvSpPr>
          <p:spPr>
            <a:xfrm>
              <a:off x="3288227" y="158414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0" name="ellipse_1891">
              <a:extLst>
                <a:ext uri="{FF2B5EF4-FFF2-40B4-BE49-F238E27FC236}">
                  <a16:creationId xmlns:a16="http://schemas.microsoft.com/office/drawing/2014/main" id="{7C05A257-A858-E4EC-CE72-2E262BB52B07}"/>
                </a:ext>
              </a:extLst>
            </p:cNvPr>
            <p:cNvSpPr/>
            <p:nvPr/>
          </p:nvSpPr>
          <p:spPr>
            <a:xfrm>
              <a:off x="3206468" y="16100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1" name="ellipse_1892">
              <a:extLst>
                <a:ext uri="{FF2B5EF4-FFF2-40B4-BE49-F238E27FC236}">
                  <a16:creationId xmlns:a16="http://schemas.microsoft.com/office/drawing/2014/main" id="{5029BF78-C694-94BA-2390-D6FC0A6BFD81}"/>
                </a:ext>
              </a:extLst>
            </p:cNvPr>
            <p:cNvSpPr/>
            <p:nvPr/>
          </p:nvSpPr>
          <p:spPr>
            <a:xfrm>
              <a:off x="3224851" y="161218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2" name="ellipse_1893">
              <a:extLst>
                <a:ext uri="{FF2B5EF4-FFF2-40B4-BE49-F238E27FC236}">
                  <a16:creationId xmlns:a16="http://schemas.microsoft.com/office/drawing/2014/main" id="{B400169A-5E49-FEE5-1915-FCB9E751F312}"/>
                </a:ext>
              </a:extLst>
            </p:cNvPr>
            <p:cNvSpPr/>
            <p:nvPr/>
          </p:nvSpPr>
          <p:spPr>
            <a:xfrm>
              <a:off x="3255857" y="14772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83" name="Find | PTV3 stage 5 (no pseudo)">
            <a:extLst>
              <a:ext uri="{FF2B5EF4-FFF2-40B4-BE49-F238E27FC236}">
                <a16:creationId xmlns:a16="http://schemas.microsoft.com/office/drawing/2014/main" id="{FE5D4BB8-AE08-CFDC-14F9-58D62B643799}"/>
              </a:ext>
            </a:extLst>
          </p:cNvPr>
          <p:cNvGrpSpPr/>
          <p:nvPr/>
        </p:nvGrpSpPr>
        <p:grpSpPr>
          <a:xfrm>
            <a:off x="3748279" y="1222153"/>
            <a:ext cx="276863" cy="197759"/>
            <a:chOff x="3473888" y="1438830"/>
            <a:chExt cx="279225" cy="243090"/>
          </a:xfrm>
        </p:grpSpPr>
        <p:sp>
          <p:nvSpPr>
            <p:cNvPr id="284" name="rect_1899">
              <a:extLst>
                <a:ext uri="{FF2B5EF4-FFF2-40B4-BE49-F238E27FC236}">
                  <a16:creationId xmlns:a16="http://schemas.microsoft.com/office/drawing/2014/main" id="{3C966A44-931E-3C61-C3E2-9910BF785D0E}"/>
                </a:ext>
              </a:extLst>
            </p:cNvPr>
            <p:cNvSpPr/>
            <p:nvPr/>
          </p:nvSpPr>
          <p:spPr>
            <a:xfrm>
              <a:off x="3473888" y="1438830"/>
              <a:ext cx="279225" cy="243090"/>
            </a:xfrm>
            <a:prstGeom prst="roundRect">
              <a:avLst>
                <a:gd name="adj" fmla="val 6757"/>
              </a:avLst>
            </a:prstGeom>
            <a:solidFill>
              <a:srgbClr val="F8F5FC"/>
            </a:solidFill>
            <a:ln w="2540" cap="rnd" cmpd="sng" algn="ctr">
              <a:solidFill>
                <a:srgbClr val="C3D4E6"/>
              </a:solidFill>
              <a:prstDash val="solid"/>
              <a:round/>
              <a:headEnd type="none" w="med" len="med"/>
              <a:tailEnd type="none" w="med" len="med"/>
            </a:ln>
            <a:effectLst/>
          </p:spPr>
        </p:sp>
        <p:sp>
          <p:nvSpPr>
            <p:cNvPr id="285" name="ellipse_1900">
              <a:extLst>
                <a:ext uri="{FF2B5EF4-FFF2-40B4-BE49-F238E27FC236}">
                  <a16:creationId xmlns:a16="http://schemas.microsoft.com/office/drawing/2014/main" id="{0734BB70-ADDB-68EE-E4C9-F1E9F19AF6E7}"/>
                </a:ext>
              </a:extLst>
            </p:cNvPr>
            <p:cNvSpPr/>
            <p:nvPr/>
          </p:nvSpPr>
          <p:spPr>
            <a:xfrm>
              <a:off x="3538819" y="148253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6" name="ellipse_1901">
              <a:extLst>
                <a:ext uri="{FF2B5EF4-FFF2-40B4-BE49-F238E27FC236}">
                  <a16:creationId xmlns:a16="http://schemas.microsoft.com/office/drawing/2014/main" id="{50CDA3FC-9E47-A0FF-54FE-0B291B80C55E}"/>
                </a:ext>
              </a:extLst>
            </p:cNvPr>
            <p:cNvSpPr/>
            <p:nvPr/>
          </p:nvSpPr>
          <p:spPr>
            <a:xfrm>
              <a:off x="3631999" y="157809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7" name="ellipse_1902">
              <a:extLst>
                <a:ext uri="{FF2B5EF4-FFF2-40B4-BE49-F238E27FC236}">
                  <a16:creationId xmlns:a16="http://schemas.microsoft.com/office/drawing/2014/main" id="{FDEE2D57-7D4E-037C-452C-66A797AB07C9}"/>
                </a:ext>
              </a:extLst>
            </p:cNvPr>
            <p:cNvSpPr/>
            <p:nvPr/>
          </p:nvSpPr>
          <p:spPr>
            <a:xfrm>
              <a:off x="3687564" y="15901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8" name="ellipse_1903">
              <a:extLst>
                <a:ext uri="{FF2B5EF4-FFF2-40B4-BE49-F238E27FC236}">
                  <a16:creationId xmlns:a16="http://schemas.microsoft.com/office/drawing/2014/main" id="{B2C7060E-B2BB-F02D-5B6F-B7D323B087B4}"/>
                </a:ext>
              </a:extLst>
            </p:cNvPr>
            <p:cNvSpPr/>
            <p:nvPr/>
          </p:nvSpPr>
          <p:spPr>
            <a:xfrm>
              <a:off x="3686262" y="162539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9" name="ellipse_1904">
              <a:extLst>
                <a:ext uri="{FF2B5EF4-FFF2-40B4-BE49-F238E27FC236}">
                  <a16:creationId xmlns:a16="http://schemas.microsoft.com/office/drawing/2014/main" id="{7DE1C447-AFD4-DD7C-5DE0-0E96E8153D12}"/>
                </a:ext>
              </a:extLst>
            </p:cNvPr>
            <p:cNvSpPr/>
            <p:nvPr/>
          </p:nvSpPr>
          <p:spPr>
            <a:xfrm>
              <a:off x="3673847" y="145725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0" name="ellipse_1905">
              <a:extLst>
                <a:ext uri="{FF2B5EF4-FFF2-40B4-BE49-F238E27FC236}">
                  <a16:creationId xmlns:a16="http://schemas.microsoft.com/office/drawing/2014/main" id="{536BBD44-5D8E-E642-7EFE-DC301B9D3F7F}"/>
                </a:ext>
              </a:extLst>
            </p:cNvPr>
            <p:cNvSpPr/>
            <p:nvPr/>
          </p:nvSpPr>
          <p:spPr>
            <a:xfrm>
              <a:off x="3580150" y="160304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1" name="ellipse_1906">
              <a:extLst>
                <a:ext uri="{FF2B5EF4-FFF2-40B4-BE49-F238E27FC236}">
                  <a16:creationId xmlns:a16="http://schemas.microsoft.com/office/drawing/2014/main" id="{2D018CC6-8BB4-0573-830A-62F9771BB455}"/>
                </a:ext>
              </a:extLst>
            </p:cNvPr>
            <p:cNvSpPr/>
            <p:nvPr/>
          </p:nvSpPr>
          <p:spPr>
            <a:xfrm>
              <a:off x="3499431" y="147999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2" name="ellipse_1907">
              <a:extLst>
                <a:ext uri="{FF2B5EF4-FFF2-40B4-BE49-F238E27FC236}">
                  <a16:creationId xmlns:a16="http://schemas.microsoft.com/office/drawing/2014/main" id="{3D9BABC9-7179-80DF-931B-76C5D153BFA2}"/>
                </a:ext>
              </a:extLst>
            </p:cNvPr>
            <p:cNvSpPr/>
            <p:nvPr/>
          </p:nvSpPr>
          <p:spPr>
            <a:xfrm>
              <a:off x="3698498" y="163375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3" name="ellipse_1908">
              <a:extLst>
                <a:ext uri="{FF2B5EF4-FFF2-40B4-BE49-F238E27FC236}">
                  <a16:creationId xmlns:a16="http://schemas.microsoft.com/office/drawing/2014/main" id="{BF41BEF8-8F67-637A-F426-1015DD3C37FC}"/>
                </a:ext>
              </a:extLst>
            </p:cNvPr>
            <p:cNvSpPr/>
            <p:nvPr/>
          </p:nvSpPr>
          <p:spPr>
            <a:xfrm>
              <a:off x="3664475" y="160668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4" name="ellipse_1909">
              <a:extLst>
                <a:ext uri="{FF2B5EF4-FFF2-40B4-BE49-F238E27FC236}">
                  <a16:creationId xmlns:a16="http://schemas.microsoft.com/office/drawing/2014/main" id="{E57407DB-12F2-A10B-73ED-904E74E89684}"/>
                </a:ext>
              </a:extLst>
            </p:cNvPr>
            <p:cNvSpPr/>
            <p:nvPr/>
          </p:nvSpPr>
          <p:spPr>
            <a:xfrm>
              <a:off x="3577670" y="157500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sp>
        <p:nvSpPr>
          <p:cNvPr id="297" name="TextBox 12152">
            <a:extLst>
              <a:ext uri="{FF2B5EF4-FFF2-40B4-BE49-F238E27FC236}">
                <a16:creationId xmlns:a16="http://schemas.microsoft.com/office/drawing/2014/main" id="{DA95DC65-9861-CC7E-7EFC-4B9E07722C91}"/>
              </a:ext>
            </a:extLst>
          </p:cNvPr>
          <p:cNvSpPr txBox="1"/>
          <p:nvPr/>
        </p:nvSpPr>
        <p:spPr>
          <a:xfrm>
            <a:off x="1932849" y="1615773"/>
            <a:ext cx="2183263" cy="106632"/>
          </a:xfrm>
          <a:prstGeom prst="rect">
            <a:avLst/>
          </a:prstGeom>
          <a:noFill/>
        </p:spPr>
        <p:txBody>
          <a:bodyPr wrap="square" lIns="0" tIns="0" rIns="0" bIns="0" anchor="ctr">
            <a:spAutoFit/>
          </a:bodyPr>
          <a:lstStyle/>
          <a:p>
            <a:pPr algn="ctr">
              <a:lnSpc>
                <a:spcPct val="105000"/>
              </a:lnSpc>
            </a:pPr>
            <a:r>
              <a:rPr sz="709">
                <a:solidFill>
                  <a:srgbClr val="263442"/>
                </a:solidFill>
                <a:latin typeface="Arial"/>
              </a:rPr>
              <a:t>Point Transformer V3</a:t>
            </a:r>
          </a:p>
        </p:txBody>
      </p:sp>
      <p:sp>
        <p:nvSpPr>
          <p:cNvPr id="298" name="TextBox 12153">
            <a:extLst>
              <a:ext uri="{FF2B5EF4-FFF2-40B4-BE49-F238E27FC236}">
                <a16:creationId xmlns:a16="http://schemas.microsoft.com/office/drawing/2014/main" id="{522E41DD-5F6E-76BD-E92F-5CBA886A651B}"/>
              </a:ext>
            </a:extLst>
          </p:cNvPr>
          <p:cNvSpPr txBox="1"/>
          <p:nvPr/>
        </p:nvSpPr>
        <p:spPr>
          <a:xfrm>
            <a:off x="2779258" y="1058360"/>
            <a:ext cx="767306" cy="88422"/>
          </a:xfrm>
          <a:prstGeom prst="rect">
            <a:avLst/>
          </a:prstGeom>
          <a:noFill/>
        </p:spPr>
        <p:txBody>
          <a:bodyPr wrap="square" lIns="0" tIns="0" rIns="0" bIns="0" anchor="ctr">
            <a:spAutoFit/>
          </a:bodyPr>
          <a:lstStyle/>
          <a:p>
            <a:pPr algn="ctr">
              <a:lnSpc>
                <a:spcPct val="105000"/>
              </a:lnSpc>
            </a:pPr>
            <a:r>
              <a:rPr lang="en-US" sz="588" dirty="0">
                <a:solidFill>
                  <a:srgbClr val="263442"/>
                </a:solidFill>
                <a:latin typeface="Arial"/>
              </a:rPr>
              <a:t>F</a:t>
            </a:r>
            <a:r>
              <a:rPr sz="588" dirty="0">
                <a:solidFill>
                  <a:srgbClr val="263442"/>
                </a:solidFill>
                <a:latin typeface="Arial"/>
              </a:rPr>
              <a:t>usion</a:t>
            </a:r>
          </a:p>
        </p:txBody>
      </p:sp>
      <p:sp>
        <p:nvSpPr>
          <p:cNvPr id="299" name="Find | Blobs output card">
            <a:extLst>
              <a:ext uri="{FF2B5EF4-FFF2-40B4-BE49-F238E27FC236}">
                <a16:creationId xmlns:a16="http://schemas.microsoft.com/office/drawing/2014/main" id="{6A602B9B-DE58-7AA0-FDBA-741F60C78A9B}"/>
              </a:ext>
            </a:extLst>
          </p:cNvPr>
          <p:cNvSpPr/>
          <p:nvPr/>
        </p:nvSpPr>
        <p:spPr>
          <a:xfrm>
            <a:off x="4300068" y="284775"/>
            <a:ext cx="442980" cy="1471328"/>
          </a:xfrm>
          <a:prstGeom prst="roundRect">
            <a:avLst>
              <a:gd name="adj" fmla="val 6000"/>
            </a:avLst>
          </a:prstGeom>
          <a:solidFill>
            <a:srgbClr val="FFFFFF"/>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300" name="TextBox 12155">
            <a:extLst>
              <a:ext uri="{FF2B5EF4-FFF2-40B4-BE49-F238E27FC236}">
                <a16:creationId xmlns:a16="http://schemas.microsoft.com/office/drawing/2014/main" id="{1F7C0F6F-D082-C8AA-DE11-4286EF42AADB}"/>
              </a:ext>
            </a:extLst>
          </p:cNvPr>
          <p:cNvSpPr txBox="1"/>
          <p:nvPr/>
        </p:nvSpPr>
        <p:spPr>
          <a:xfrm>
            <a:off x="4185689" y="307007"/>
            <a:ext cx="696113" cy="111954"/>
          </a:xfrm>
          <a:prstGeom prst="rect">
            <a:avLst/>
          </a:prstGeom>
          <a:noFill/>
        </p:spPr>
        <p:txBody>
          <a:bodyPr wrap="square" lIns="0" tIns="0" rIns="0" bIns="0" anchor="ctr">
            <a:spAutoFit/>
          </a:bodyPr>
          <a:lstStyle/>
          <a:p>
            <a:pPr algn="ctr">
              <a:lnSpc>
                <a:spcPct val="105000"/>
              </a:lnSpc>
            </a:pPr>
            <a:r>
              <a:rPr sz="744" dirty="0">
                <a:solidFill>
                  <a:srgbClr val="263442"/>
                </a:solidFill>
                <a:latin typeface="Arial"/>
              </a:rPr>
              <a:t>Blobs</a:t>
            </a:r>
          </a:p>
        </p:txBody>
      </p:sp>
      <p:sp>
        <p:nvSpPr>
          <p:cNvPr id="301" name="TextBox 12160">
            <a:extLst>
              <a:ext uri="{FF2B5EF4-FFF2-40B4-BE49-F238E27FC236}">
                <a16:creationId xmlns:a16="http://schemas.microsoft.com/office/drawing/2014/main" id="{EBF2AA16-9B52-B84F-43EE-03BA82B2D4CA}"/>
              </a:ext>
            </a:extLst>
          </p:cNvPr>
          <p:cNvSpPr txBox="1"/>
          <p:nvPr/>
        </p:nvSpPr>
        <p:spPr>
          <a:xfrm>
            <a:off x="581184" y="2090304"/>
            <a:ext cx="1186556" cy="107978"/>
          </a:xfrm>
          <a:prstGeom prst="rect">
            <a:avLst/>
          </a:prstGeom>
          <a:noFill/>
        </p:spPr>
        <p:txBody>
          <a:bodyPr wrap="square" lIns="0" tIns="0" rIns="0" bIns="0" anchor="ctr">
            <a:spAutoFit/>
          </a:bodyPr>
          <a:lstStyle/>
          <a:p>
            <a:pPr algn="l">
              <a:lnSpc>
                <a:spcPct val="105000"/>
              </a:lnSpc>
            </a:pPr>
            <a:r>
              <a:rPr sz="718" dirty="0">
                <a:solidFill>
                  <a:srgbClr val="263442"/>
                </a:solidFill>
                <a:latin typeface="Arial"/>
              </a:rPr>
              <a:t>Candidate encoder</a:t>
            </a:r>
          </a:p>
        </p:txBody>
      </p:sp>
      <p:sp>
        <p:nvSpPr>
          <p:cNvPr id="302" name="TextBox 12161">
            <a:extLst>
              <a:ext uri="{FF2B5EF4-FFF2-40B4-BE49-F238E27FC236}">
                <a16:creationId xmlns:a16="http://schemas.microsoft.com/office/drawing/2014/main" id="{1FD101AA-9130-CD96-6414-B193E6D36851}"/>
              </a:ext>
            </a:extLst>
          </p:cNvPr>
          <p:cNvSpPr txBox="1"/>
          <p:nvPr/>
        </p:nvSpPr>
        <p:spPr>
          <a:xfrm>
            <a:off x="2752186" y="2090304"/>
            <a:ext cx="1186556" cy="107978"/>
          </a:xfrm>
          <a:prstGeom prst="rect">
            <a:avLst/>
          </a:prstGeom>
          <a:noFill/>
        </p:spPr>
        <p:txBody>
          <a:bodyPr wrap="square" lIns="0" tIns="0" rIns="0" bIns="0" anchor="ctr">
            <a:spAutoFit/>
          </a:bodyPr>
          <a:lstStyle/>
          <a:p>
            <a:pPr algn="l">
              <a:lnSpc>
                <a:spcPct val="105000"/>
              </a:lnSpc>
            </a:pPr>
            <a:r>
              <a:rPr sz="718" dirty="0">
                <a:solidFill>
                  <a:srgbClr val="263442"/>
                </a:solidFill>
                <a:latin typeface="Arial"/>
              </a:rPr>
              <a:t>Identity encoder</a:t>
            </a:r>
          </a:p>
        </p:txBody>
      </p:sp>
      <p:sp>
        <p:nvSpPr>
          <p:cNvPr id="303" name="Match | Center divider">
            <a:extLst>
              <a:ext uri="{FF2B5EF4-FFF2-40B4-BE49-F238E27FC236}">
                <a16:creationId xmlns:a16="http://schemas.microsoft.com/office/drawing/2014/main" id="{5A593D05-94F5-C55B-C8C6-B8F9E86B08C6}"/>
              </a:ext>
            </a:extLst>
          </p:cNvPr>
          <p:cNvSpPr/>
          <p:nvPr/>
        </p:nvSpPr>
        <p:spPr>
          <a:xfrm>
            <a:off x="2617408" y="2119981"/>
            <a:ext cx="1" cy="1945952"/>
          </a:xfrm>
          <a:custGeom>
            <a:avLst/>
            <a:gdLst/>
            <a:ahLst/>
            <a:cxnLst/>
            <a:rect l="0" t="0" r="w" b="h"/>
            <a:pathLst>
              <a:path w="1" h="2249424">
                <a:moveTo>
                  <a:pt x="0" y="0"/>
                </a:moveTo>
                <a:lnTo>
                  <a:pt x="0" y="2249424"/>
                </a:lnTo>
              </a:path>
            </a:pathLst>
          </a:custGeom>
          <a:noFill/>
          <a:ln w="9525" cap="rnd" cmpd="sng" algn="ctr">
            <a:solidFill>
              <a:srgbClr val="C8CFD4"/>
            </a:solidFill>
            <a:prstDash val="solid"/>
            <a:round/>
            <a:headEnd type="none" w="med" len="med"/>
            <a:tailEnd type="none" w="med" len="med"/>
          </a:ln>
        </p:spPr>
      </p:sp>
      <p:sp>
        <p:nvSpPr>
          <p:cNvPr id="304" name="TextBox 12164">
            <a:extLst>
              <a:ext uri="{FF2B5EF4-FFF2-40B4-BE49-F238E27FC236}">
                <a16:creationId xmlns:a16="http://schemas.microsoft.com/office/drawing/2014/main" id="{DA6D9C81-D325-B373-1580-DEE13789E3EE}"/>
              </a:ext>
            </a:extLst>
          </p:cNvPr>
          <p:cNvSpPr txBox="1"/>
          <p:nvPr/>
        </p:nvSpPr>
        <p:spPr>
          <a:xfrm>
            <a:off x="573274" y="2270869"/>
            <a:ext cx="442981" cy="93744"/>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Receptor</a:t>
            </a:r>
          </a:p>
        </p:txBody>
      </p:sp>
      <p:sp>
        <p:nvSpPr>
          <p:cNvPr id="305" name="TextBox 12166">
            <a:extLst>
              <a:ext uri="{FF2B5EF4-FFF2-40B4-BE49-F238E27FC236}">
                <a16:creationId xmlns:a16="http://schemas.microsoft.com/office/drawing/2014/main" id="{6E830D7E-FC74-3019-18B2-DDE04B6E60D0}"/>
              </a:ext>
            </a:extLst>
          </p:cNvPr>
          <p:cNvSpPr txBox="1"/>
          <p:nvPr/>
        </p:nvSpPr>
        <p:spPr>
          <a:xfrm>
            <a:off x="1055807" y="2270869"/>
            <a:ext cx="442981" cy="93744"/>
          </a:xfrm>
          <a:prstGeom prst="rect">
            <a:avLst/>
          </a:prstGeom>
          <a:noFill/>
        </p:spPr>
        <p:txBody>
          <a:bodyPr wrap="square" lIns="0" tIns="0" rIns="0" bIns="0" anchor="ctr">
            <a:spAutoFit/>
          </a:bodyPr>
          <a:lstStyle/>
          <a:p>
            <a:pPr algn="ctr">
              <a:lnSpc>
                <a:spcPct val="105000"/>
              </a:lnSpc>
            </a:pPr>
            <a:r>
              <a:rPr sz="623" dirty="0">
                <a:solidFill>
                  <a:srgbClr val="263442"/>
                </a:solidFill>
                <a:latin typeface="Arial"/>
              </a:rPr>
              <a:t>Density</a:t>
            </a:r>
          </a:p>
        </p:txBody>
      </p:sp>
      <p:pic>
        <p:nvPicPr>
          <p:cNvPr id="306" name="Match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7A47CBDC-2732-4D0F-C4FF-972DA2F1AA3E}"/>
              </a:ext>
            </a:extLst>
          </p:cNvPr>
          <p:cNvPicPr/>
          <p:nvPr/>
        </p:nvPicPr>
        <p:blipFill>
          <a:blip r:embed="rId4"/>
          <a:stretch>
            <a:fillRect/>
          </a:stretch>
        </p:blipFill>
        <p:spPr>
          <a:xfrm>
            <a:off x="1103291" y="2380847"/>
            <a:ext cx="347980" cy="332276"/>
          </a:xfrm>
          <a:prstGeom prst="rect">
            <a:avLst/>
          </a:prstGeom>
        </p:spPr>
      </p:pic>
      <p:sp>
        <p:nvSpPr>
          <p:cNvPr id="526" name="TextBox 12168">
            <a:extLst>
              <a:ext uri="{FF2B5EF4-FFF2-40B4-BE49-F238E27FC236}">
                <a16:creationId xmlns:a16="http://schemas.microsoft.com/office/drawing/2014/main" id="{50BD09F1-2D4A-FA0A-7AF2-981DD7585F3A}"/>
              </a:ext>
            </a:extLst>
          </p:cNvPr>
          <p:cNvSpPr txBox="1"/>
          <p:nvPr/>
        </p:nvSpPr>
        <p:spPr>
          <a:xfrm>
            <a:off x="613323" y="2851277"/>
            <a:ext cx="340209" cy="97203"/>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Pocket</a:t>
            </a:r>
          </a:p>
        </p:txBody>
      </p:sp>
      <p:sp>
        <p:nvSpPr>
          <p:cNvPr id="613" name="TextBox 12177">
            <a:extLst>
              <a:ext uri="{FF2B5EF4-FFF2-40B4-BE49-F238E27FC236}">
                <a16:creationId xmlns:a16="http://schemas.microsoft.com/office/drawing/2014/main" id="{086F717F-C0B1-CD04-AFB8-166092CD717F}"/>
              </a:ext>
            </a:extLst>
          </p:cNvPr>
          <p:cNvSpPr txBox="1"/>
          <p:nvPr/>
        </p:nvSpPr>
        <p:spPr>
          <a:xfrm>
            <a:off x="1062885" y="2851277"/>
            <a:ext cx="340209" cy="97203"/>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Blob</a:t>
            </a:r>
          </a:p>
        </p:txBody>
      </p:sp>
      <p:grpSp>
        <p:nvGrpSpPr>
          <p:cNvPr id="614" name="Match | Blob contour">
            <a:extLst>
              <a:ext uri="{FF2B5EF4-FFF2-40B4-BE49-F238E27FC236}">
                <a16:creationId xmlns:a16="http://schemas.microsoft.com/office/drawing/2014/main" id="{ECF83E2A-3199-B09F-F90E-31DC9848C382}"/>
              </a:ext>
            </a:extLst>
          </p:cNvPr>
          <p:cNvGrpSpPr/>
          <p:nvPr/>
        </p:nvGrpSpPr>
        <p:grpSpPr>
          <a:xfrm>
            <a:off x="1086594" y="3036990"/>
            <a:ext cx="291608" cy="199265"/>
            <a:chOff x="1928706" y="3559489"/>
            <a:chExt cx="227897" cy="155682"/>
          </a:xfrm>
        </p:grpSpPr>
        <p:sp>
          <p:nvSpPr>
            <p:cNvPr id="615" name="Candidate blob | editable contour">
              <a:extLst>
                <a:ext uri="{FF2B5EF4-FFF2-40B4-BE49-F238E27FC236}">
                  <a16:creationId xmlns:a16="http://schemas.microsoft.com/office/drawing/2014/main" id="{513F782E-E1DE-1B64-68A9-FB54BE71715F}"/>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16" name="ellipse_2612">
              <a:extLst>
                <a:ext uri="{FF2B5EF4-FFF2-40B4-BE49-F238E27FC236}">
                  <a16:creationId xmlns:a16="http://schemas.microsoft.com/office/drawing/2014/main" id="{12A4650A-7359-9456-1843-A3C9E08B2497}"/>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18" name="TextBox 12186">
            <a:extLst>
              <a:ext uri="{FF2B5EF4-FFF2-40B4-BE49-F238E27FC236}">
                <a16:creationId xmlns:a16="http://schemas.microsoft.com/office/drawing/2014/main" id="{88505915-A113-7FAA-6C15-3F2B10F6D7CB}"/>
              </a:ext>
            </a:extLst>
          </p:cNvPr>
          <p:cNvSpPr txBox="1"/>
          <p:nvPr/>
        </p:nvSpPr>
        <p:spPr>
          <a:xfrm>
            <a:off x="1604695" y="2259965"/>
            <a:ext cx="286938" cy="92333"/>
          </a:xfrm>
          <a:prstGeom prst="rect">
            <a:avLst/>
          </a:prstGeom>
          <a:noFill/>
        </p:spPr>
        <p:txBody>
          <a:bodyPr wrap="none" lIns="0" tIns="0" rIns="0" bIns="0" anchor="ctr">
            <a:spAutoFit/>
          </a:bodyPr>
          <a:lstStyle/>
          <a:p>
            <a:pPr algn="ctr">
              <a:lnSpc>
                <a:spcPct val="105000"/>
              </a:lnSpc>
            </a:pPr>
            <a:r>
              <a:rPr sz="614">
                <a:solidFill>
                  <a:srgbClr val="263442"/>
                </a:solidFill>
                <a:latin typeface="Arial"/>
              </a:rPr>
              <a:t>48³ crop</a:t>
            </a:r>
          </a:p>
        </p:txBody>
      </p:sp>
      <p:grpSp>
        <p:nvGrpSpPr>
          <p:cNvPr id="619" name="48^3 crop 3D cube">
            <a:extLst>
              <a:ext uri="{FF2B5EF4-FFF2-40B4-BE49-F238E27FC236}">
                <a16:creationId xmlns:a16="http://schemas.microsoft.com/office/drawing/2014/main" id="{50441A72-5112-E010-1BBD-72FFF87A8B6E}"/>
              </a:ext>
            </a:extLst>
          </p:cNvPr>
          <p:cNvGrpSpPr/>
          <p:nvPr/>
        </p:nvGrpSpPr>
        <p:grpSpPr>
          <a:xfrm>
            <a:off x="1621801" y="2353114"/>
            <a:ext cx="251107" cy="197645"/>
            <a:chOff x="4043880" y="489960"/>
            <a:chExt cx="571680" cy="450000"/>
          </a:xfrm>
        </p:grpSpPr>
        <p:sp>
          <p:nvSpPr>
            <p:cNvPr id="620" name="asset_2027_0">
              <a:extLst>
                <a:ext uri="{FF2B5EF4-FFF2-40B4-BE49-F238E27FC236}">
                  <a16:creationId xmlns:a16="http://schemas.microsoft.com/office/drawing/2014/main" id="{2C26482F-D7D7-E3F6-FBCD-22AC82315E62}"/>
                </a:ext>
              </a:extLst>
            </p:cNvPr>
            <p:cNvSpPr>
              <a:spLocks noGrp="1"/>
            </p:cNvSpPr>
            <p:nvPr/>
          </p:nvSpPr>
          <p:spPr>
            <a:xfrm>
              <a:off x="4043880" y="489960"/>
              <a:ext cx="571680" cy="76500"/>
            </a:xfrm>
            <a:custGeom>
              <a:avLst/>
              <a:gdLst/>
              <a:ahLst/>
              <a:cxnLst/>
              <a:rect l="0" t="0" r="0" b="0"/>
              <a:pathLst>
                <a:path w="571680" h="76500">
                  <a:moveTo>
                    <a:pt x="0" y="76500"/>
                  </a:moveTo>
                  <a:lnTo>
                    <a:pt x="108619" y="0"/>
                  </a:lnTo>
                  <a:lnTo>
                    <a:pt x="571680" y="0"/>
                  </a:lnTo>
                  <a:lnTo>
                    <a:pt x="463061" y="76500"/>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621" name="asset_2027_1">
              <a:extLst>
                <a:ext uri="{FF2B5EF4-FFF2-40B4-BE49-F238E27FC236}">
                  <a16:creationId xmlns:a16="http://schemas.microsoft.com/office/drawing/2014/main" id="{F28AFBA7-0A71-99DE-9FF9-EBD0ADC1144C}"/>
                </a:ext>
              </a:extLst>
            </p:cNvPr>
            <p:cNvSpPr>
              <a:spLocks noGrp="1"/>
            </p:cNvSpPr>
            <p:nvPr/>
          </p:nvSpPr>
          <p:spPr>
            <a:xfrm>
              <a:off x="4506941" y="489960"/>
              <a:ext cx="108619" cy="450000"/>
            </a:xfrm>
            <a:custGeom>
              <a:avLst/>
              <a:gdLst/>
              <a:ahLst/>
              <a:cxnLst/>
              <a:rect l="0" t="0" r="0" b="0"/>
              <a:pathLst>
                <a:path w="108619" h="450000">
                  <a:moveTo>
                    <a:pt x="0" y="76500"/>
                  </a:moveTo>
                  <a:lnTo>
                    <a:pt x="108619" y="0"/>
                  </a:lnTo>
                  <a:lnTo>
                    <a:pt x="108619" y="373500"/>
                  </a:lnTo>
                  <a:lnTo>
                    <a:pt x="0" y="450000"/>
                  </a:lnTo>
                  <a:close/>
                </a:path>
              </a:pathLst>
            </a:custGeom>
            <a:solidFill>
              <a:srgbClr val="C9DFF3">
                <a:alpha val="22000"/>
              </a:srgbClr>
            </a:solidFill>
            <a:ln w="2700">
              <a:solidFill>
                <a:srgbClr val="A3C3E2"/>
              </a:solidFill>
            </a:ln>
          </p:spPr>
        </p:sp>
        <p:sp>
          <p:nvSpPr>
            <p:cNvPr id="622" name="asset_2027_2">
              <a:extLst>
                <a:ext uri="{FF2B5EF4-FFF2-40B4-BE49-F238E27FC236}">
                  <a16:creationId xmlns:a16="http://schemas.microsoft.com/office/drawing/2014/main" id="{97E064B3-0050-239C-C963-C5E4E31B84D2}"/>
                </a:ext>
              </a:extLst>
            </p:cNvPr>
            <p:cNvSpPr>
              <a:spLocks noGrp="1"/>
            </p:cNvSpPr>
            <p:nvPr/>
          </p:nvSpPr>
          <p:spPr>
            <a:xfrm>
              <a:off x="4043880" y="566460"/>
              <a:ext cx="463061" cy="373500"/>
            </a:xfrm>
            <a:prstGeom prst="rect">
              <a:avLst/>
            </a:prstGeom>
            <a:solidFill>
              <a:srgbClr val="E7F1FC">
                <a:alpha val="20000"/>
              </a:srgbClr>
            </a:solidFill>
            <a:ln w="2700">
              <a:solidFill>
                <a:srgbClr val="ABC9E7"/>
              </a:solidFill>
            </a:ln>
          </p:spPr>
        </p:sp>
        <p:sp>
          <p:nvSpPr>
            <p:cNvPr id="623" name="asset_2027_3">
              <a:extLst>
                <a:ext uri="{FF2B5EF4-FFF2-40B4-BE49-F238E27FC236}">
                  <a16:creationId xmlns:a16="http://schemas.microsoft.com/office/drawing/2014/main" id="{A2C54284-938E-B40D-7CE6-20A987BE1447}"/>
                </a:ext>
              </a:extLst>
            </p:cNvPr>
            <p:cNvSpPr>
              <a:spLocks noGrp="1"/>
            </p:cNvSpPr>
            <p:nvPr/>
          </p:nvSpPr>
          <p:spPr>
            <a:xfrm>
              <a:off x="4159645" y="566460"/>
              <a:ext cx="4" cy="373500"/>
            </a:xfrm>
            <a:prstGeom prst="line">
              <a:avLst/>
            </a:prstGeom>
            <a:noFill/>
            <a:ln w="1980">
              <a:solidFill>
                <a:srgbClr val="B8D2EB">
                  <a:alpha val="33000"/>
                </a:srgbClr>
              </a:solidFill>
            </a:ln>
          </p:spPr>
        </p:sp>
        <p:sp>
          <p:nvSpPr>
            <p:cNvPr id="624" name="asset_2027_4">
              <a:extLst>
                <a:ext uri="{FF2B5EF4-FFF2-40B4-BE49-F238E27FC236}">
                  <a16:creationId xmlns:a16="http://schemas.microsoft.com/office/drawing/2014/main" id="{0F8960CE-A059-8D07-91FB-C97F3078BCD9}"/>
                </a:ext>
              </a:extLst>
            </p:cNvPr>
            <p:cNvSpPr>
              <a:spLocks noGrp="1"/>
            </p:cNvSpPr>
            <p:nvPr/>
          </p:nvSpPr>
          <p:spPr>
            <a:xfrm>
              <a:off x="4043880" y="659835"/>
              <a:ext cx="463061" cy="4"/>
            </a:xfrm>
            <a:prstGeom prst="line">
              <a:avLst/>
            </a:prstGeom>
            <a:noFill/>
            <a:ln w="1980">
              <a:solidFill>
                <a:srgbClr val="B8D2EB">
                  <a:alpha val="33000"/>
                </a:srgbClr>
              </a:solidFill>
            </a:ln>
          </p:spPr>
        </p:sp>
        <p:sp>
          <p:nvSpPr>
            <p:cNvPr id="625" name="asset_2027_5">
              <a:extLst>
                <a:ext uri="{FF2B5EF4-FFF2-40B4-BE49-F238E27FC236}">
                  <a16:creationId xmlns:a16="http://schemas.microsoft.com/office/drawing/2014/main" id="{A5646F3B-E3B0-7C1C-2E27-F9E967647A65}"/>
                </a:ext>
              </a:extLst>
            </p:cNvPr>
            <p:cNvSpPr>
              <a:spLocks noGrp="1"/>
            </p:cNvSpPr>
            <p:nvPr/>
          </p:nvSpPr>
          <p:spPr>
            <a:xfrm>
              <a:off x="4275410" y="566460"/>
              <a:ext cx="4" cy="373500"/>
            </a:xfrm>
            <a:prstGeom prst="line">
              <a:avLst/>
            </a:prstGeom>
            <a:noFill/>
            <a:ln w="1980">
              <a:solidFill>
                <a:srgbClr val="B8D2EB">
                  <a:alpha val="33000"/>
                </a:srgbClr>
              </a:solidFill>
            </a:ln>
          </p:spPr>
        </p:sp>
        <p:sp>
          <p:nvSpPr>
            <p:cNvPr id="626" name="asset_2027_6">
              <a:extLst>
                <a:ext uri="{FF2B5EF4-FFF2-40B4-BE49-F238E27FC236}">
                  <a16:creationId xmlns:a16="http://schemas.microsoft.com/office/drawing/2014/main" id="{49CF1756-587C-D73A-CFD0-CE93821E4BC5}"/>
                </a:ext>
              </a:extLst>
            </p:cNvPr>
            <p:cNvSpPr>
              <a:spLocks noGrp="1"/>
            </p:cNvSpPr>
            <p:nvPr/>
          </p:nvSpPr>
          <p:spPr>
            <a:xfrm>
              <a:off x="4043880" y="753210"/>
              <a:ext cx="463061" cy="4"/>
            </a:xfrm>
            <a:prstGeom prst="line">
              <a:avLst/>
            </a:prstGeom>
            <a:noFill/>
            <a:ln w="1980">
              <a:solidFill>
                <a:srgbClr val="B8D2EB">
                  <a:alpha val="33000"/>
                </a:srgbClr>
              </a:solidFill>
            </a:ln>
          </p:spPr>
        </p:sp>
        <p:sp>
          <p:nvSpPr>
            <p:cNvPr id="627" name="asset_2027_7">
              <a:extLst>
                <a:ext uri="{FF2B5EF4-FFF2-40B4-BE49-F238E27FC236}">
                  <a16:creationId xmlns:a16="http://schemas.microsoft.com/office/drawing/2014/main" id="{617A40D8-F985-CF5E-C184-9CEE010688B0}"/>
                </a:ext>
              </a:extLst>
            </p:cNvPr>
            <p:cNvSpPr>
              <a:spLocks noGrp="1"/>
            </p:cNvSpPr>
            <p:nvPr/>
          </p:nvSpPr>
          <p:spPr>
            <a:xfrm>
              <a:off x="4391176" y="566460"/>
              <a:ext cx="4" cy="373500"/>
            </a:xfrm>
            <a:prstGeom prst="line">
              <a:avLst/>
            </a:prstGeom>
            <a:noFill/>
            <a:ln w="1980">
              <a:solidFill>
                <a:srgbClr val="B8D2EB">
                  <a:alpha val="33000"/>
                </a:srgbClr>
              </a:solidFill>
            </a:ln>
          </p:spPr>
        </p:sp>
        <p:sp>
          <p:nvSpPr>
            <p:cNvPr id="628" name="asset_2027_8">
              <a:extLst>
                <a:ext uri="{FF2B5EF4-FFF2-40B4-BE49-F238E27FC236}">
                  <a16:creationId xmlns:a16="http://schemas.microsoft.com/office/drawing/2014/main" id="{D74C2F96-9830-4E45-47CF-280DBDF3BBA6}"/>
                </a:ext>
              </a:extLst>
            </p:cNvPr>
            <p:cNvSpPr>
              <a:spLocks noGrp="1"/>
            </p:cNvSpPr>
            <p:nvPr/>
          </p:nvSpPr>
          <p:spPr>
            <a:xfrm>
              <a:off x="4043880" y="846585"/>
              <a:ext cx="463061" cy="4"/>
            </a:xfrm>
            <a:prstGeom prst="line">
              <a:avLst/>
            </a:prstGeom>
            <a:noFill/>
            <a:ln w="1980">
              <a:solidFill>
                <a:srgbClr val="B8D2EB">
                  <a:alpha val="33000"/>
                </a:srgbClr>
              </a:solidFill>
            </a:ln>
          </p:spPr>
        </p:sp>
        <p:sp>
          <p:nvSpPr>
            <p:cNvPr id="629" name="asset_2027_53">
              <a:extLst>
                <a:ext uri="{FF2B5EF4-FFF2-40B4-BE49-F238E27FC236}">
                  <a16:creationId xmlns:a16="http://schemas.microsoft.com/office/drawing/2014/main" id="{B57D82E4-2BD4-33AA-2164-941D5F47EC2E}"/>
                </a:ext>
              </a:extLst>
            </p:cNvPr>
            <p:cNvSpPr>
              <a:spLocks noGrp="1"/>
            </p:cNvSpPr>
            <p:nvPr/>
          </p:nvSpPr>
          <p:spPr>
            <a:xfrm>
              <a:off x="4043880" y="566460"/>
              <a:ext cx="463061" cy="373500"/>
            </a:xfrm>
            <a:custGeom>
              <a:avLst/>
              <a:gdLst/>
              <a:ahLst/>
              <a:cxnLst/>
              <a:rect l="0" t="0" r="0" b="0"/>
              <a:pathLst>
                <a:path w="463061" h="373500">
                  <a:moveTo>
                    <a:pt x="0" y="0"/>
                  </a:moveTo>
                  <a:lnTo>
                    <a:pt x="463061" y="0"/>
                  </a:lnTo>
                  <a:lnTo>
                    <a:pt x="463061" y="373500"/>
                  </a:lnTo>
                  <a:lnTo>
                    <a:pt x="0" y="373500"/>
                  </a:lnTo>
                  <a:close/>
                </a:path>
              </a:pathLst>
            </a:custGeom>
            <a:noFill/>
            <a:ln w="3600">
              <a:solidFill>
                <a:srgbClr val="8AB3D9"/>
              </a:solidFill>
            </a:ln>
          </p:spPr>
        </p:sp>
      </p:grpSp>
      <p:grpSp>
        <p:nvGrpSpPr>
          <p:cNvPr id="630" name="48^3 crop centered blob">
            <a:extLst>
              <a:ext uri="{FF2B5EF4-FFF2-40B4-BE49-F238E27FC236}">
                <a16:creationId xmlns:a16="http://schemas.microsoft.com/office/drawing/2014/main" id="{05F07842-8C1D-D758-5B6A-3324A46B243F}"/>
              </a:ext>
            </a:extLst>
          </p:cNvPr>
          <p:cNvGrpSpPr/>
          <p:nvPr/>
        </p:nvGrpSpPr>
        <p:grpSpPr>
          <a:xfrm>
            <a:off x="1684577" y="2424395"/>
            <a:ext cx="110568" cy="75332"/>
            <a:chOff x="1928706" y="3559489"/>
            <a:chExt cx="227897" cy="155682"/>
          </a:xfrm>
        </p:grpSpPr>
        <p:sp>
          <p:nvSpPr>
            <p:cNvPr id="631" name="Candidate blob | editable contour">
              <a:extLst>
                <a:ext uri="{FF2B5EF4-FFF2-40B4-BE49-F238E27FC236}">
                  <a16:creationId xmlns:a16="http://schemas.microsoft.com/office/drawing/2014/main" id="{9098312C-2F0E-B28B-B660-F9C51272B948}"/>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32" name="ellipse_2612">
              <a:extLst>
                <a:ext uri="{FF2B5EF4-FFF2-40B4-BE49-F238E27FC236}">
                  <a16:creationId xmlns:a16="http://schemas.microsoft.com/office/drawing/2014/main" id="{ACF53CE3-1C37-025F-02A8-70EEA8DCFD7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33" name="Blob centroid marker">
            <a:extLst>
              <a:ext uri="{FF2B5EF4-FFF2-40B4-BE49-F238E27FC236}">
                <a16:creationId xmlns:a16="http://schemas.microsoft.com/office/drawing/2014/main" id="{EDD959CF-D4D3-5624-F7B2-BF9345634585}"/>
              </a:ext>
            </a:extLst>
          </p:cNvPr>
          <p:cNvSpPr/>
          <p:nvPr/>
        </p:nvSpPr>
        <p:spPr>
          <a:xfrm>
            <a:off x="1727508" y="2450316"/>
            <a:ext cx="24301" cy="24301"/>
          </a:xfrm>
          <a:prstGeom prst="ellipse">
            <a:avLst/>
          </a:prstGeom>
          <a:solidFill>
            <a:srgbClr val="1D4ED8"/>
          </a:solidFill>
          <a:ln w="762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4" name="TextBox 12188">
            <a:extLst>
              <a:ext uri="{FF2B5EF4-FFF2-40B4-BE49-F238E27FC236}">
                <a16:creationId xmlns:a16="http://schemas.microsoft.com/office/drawing/2014/main" id="{2C0C5B7E-EB59-C12C-034A-66725ABF262F}"/>
              </a:ext>
            </a:extLst>
          </p:cNvPr>
          <p:cNvSpPr txBox="1"/>
          <p:nvPr/>
        </p:nvSpPr>
        <p:spPr>
          <a:xfrm>
            <a:off x="1563337" y="2614551"/>
            <a:ext cx="328616" cy="92333"/>
          </a:xfrm>
          <a:prstGeom prst="rect">
            <a:avLst/>
          </a:prstGeom>
          <a:noFill/>
        </p:spPr>
        <p:txBody>
          <a:bodyPr wrap="none" lIns="0" tIns="0" rIns="0" bIns="0" anchor="ctr">
            <a:spAutoFit/>
          </a:bodyPr>
          <a:lstStyle/>
          <a:p>
            <a:pPr algn="ctr">
              <a:lnSpc>
                <a:spcPct val="105000"/>
              </a:lnSpc>
            </a:pPr>
            <a:r>
              <a:rPr sz="614" dirty="0">
                <a:solidFill>
                  <a:srgbClr val="263442"/>
                </a:solidFill>
                <a:latin typeface="Arial"/>
              </a:rPr>
              <a:t>3D U-Net</a:t>
            </a:r>
          </a:p>
        </p:txBody>
      </p:sp>
      <p:sp>
        <p:nvSpPr>
          <p:cNvPr id="635" name="TextBox 12189">
            <a:extLst>
              <a:ext uri="{FF2B5EF4-FFF2-40B4-BE49-F238E27FC236}">
                <a16:creationId xmlns:a16="http://schemas.microsoft.com/office/drawing/2014/main" id="{8153BF98-6A0C-0786-710E-3D0EE8987AAA}"/>
              </a:ext>
            </a:extLst>
          </p:cNvPr>
          <p:cNvSpPr txBox="1"/>
          <p:nvPr/>
        </p:nvSpPr>
        <p:spPr>
          <a:xfrm>
            <a:off x="1980556" y="2623546"/>
            <a:ext cx="514564" cy="90218"/>
          </a:xfrm>
          <a:prstGeom prst="rect">
            <a:avLst/>
          </a:prstGeom>
          <a:noFill/>
        </p:spPr>
        <p:txBody>
          <a:bodyPr wrap="none" lIns="0" tIns="0" rIns="0" bIns="0" anchor="ctr">
            <a:spAutoFit/>
          </a:bodyPr>
          <a:lstStyle/>
          <a:p>
            <a:pPr algn="ctr">
              <a:lnSpc>
                <a:spcPct val="105000"/>
              </a:lnSpc>
            </a:pPr>
            <a:r>
              <a:rPr lang="en-US" sz="600" dirty="0">
                <a:solidFill>
                  <a:srgbClr val="263442"/>
                </a:solidFill>
                <a:latin typeface="Arial"/>
              </a:rPr>
              <a:t>B</a:t>
            </a:r>
            <a:r>
              <a:rPr lang="en-US" altLang="zh-CN" sz="600" dirty="0">
                <a:solidFill>
                  <a:srgbClr val="263442"/>
                </a:solidFill>
                <a:latin typeface="Arial"/>
              </a:rPr>
              <a:t>ase s</a:t>
            </a:r>
            <a:r>
              <a:rPr sz="600" dirty="0">
                <a:solidFill>
                  <a:srgbClr val="263442"/>
                </a:solidFill>
                <a:latin typeface="Arial"/>
              </a:rPr>
              <a:t>ummary</a:t>
            </a:r>
          </a:p>
        </p:txBody>
      </p:sp>
      <p:sp>
        <p:nvSpPr>
          <p:cNvPr id="636" name="Math | h_j^vox">
            <a:extLst>
              <a:ext uri="{FF2B5EF4-FFF2-40B4-BE49-F238E27FC236}">
                <a16:creationId xmlns:a16="http://schemas.microsoft.com/office/drawing/2014/main" id="{93EC2205-1821-C3E9-E08B-23B27F07452E}"/>
              </a:ext>
            </a:extLst>
          </p:cNvPr>
          <p:cNvSpPr txBox="1"/>
          <p:nvPr/>
        </p:nvSpPr>
        <p:spPr>
          <a:xfrm>
            <a:off x="2156314" y="2371206"/>
            <a:ext cx="169918" cy="126509"/>
          </a:xfrm>
          <a:prstGeom prst="rect">
            <a:avLst/>
          </a:prstGeom>
          <a:noFill/>
        </p:spPr>
        <p:txBody>
          <a:bodyPr wrap="none" lIns="0" tIns="0" rIns="0" bIns="0" anchor="ctr">
            <a:spAutoFit/>
          </a:bodyPr>
          <a:lstStyle/>
          <a:p>
            <a:pPr algn="ctr"/>
            <a:r>
              <a:rPr sz="855" i="1">
                <a:solidFill>
                  <a:srgbClr val="263442"/>
                </a:solidFill>
                <a:latin typeface="Times New Roman"/>
              </a:rPr>
              <a:t>h</a:t>
            </a:r>
            <a:r>
              <a:rPr sz="780" i="1" baseline="-28000">
                <a:solidFill>
                  <a:srgbClr val="263442"/>
                </a:solidFill>
                <a:latin typeface="Times New Roman"/>
              </a:rPr>
              <a:t>j</a:t>
            </a:r>
            <a:r>
              <a:rPr sz="780" baseline="32000">
                <a:solidFill>
                  <a:srgbClr val="263442"/>
                </a:solidFill>
                <a:latin typeface="Arial"/>
              </a:rPr>
              <a:t>vox</a:t>
            </a:r>
          </a:p>
        </p:txBody>
      </p:sp>
      <p:sp>
        <p:nvSpPr>
          <p:cNvPr id="637" name="Base summary bar_1">
            <a:extLst>
              <a:ext uri="{FF2B5EF4-FFF2-40B4-BE49-F238E27FC236}">
                <a16:creationId xmlns:a16="http://schemas.microsoft.com/office/drawing/2014/main" id="{99E9D3C4-A8BD-9C93-615E-C771AE07C8E3}"/>
              </a:ext>
            </a:extLst>
          </p:cNvPr>
          <p:cNvSpPr/>
          <p:nvPr/>
        </p:nvSpPr>
        <p:spPr>
          <a:xfrm>
            <a:off x="2059844" y="2549118"/>
            <a:ext cx="44072" cy="59328"/>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8" name="Base summary bar_2">
            <a:extLst>
              <a:ext uri="{FF2B5EF4-FFF2-40B4-BE49-F238E27FC236}">
                <a16:creationId xmlns:a16="http://schemas.microsoft.com/office/drawing/2014/main" id="{6BC787CE-AF83-7509-7C88-9AB58DB6F66F}"/>
              </a:ext>
            </a:extLst>
          </p:cNvPr>
          <p:cNvSpPr/>
          <p:nvPr/>
        </p:nvSpPr>
        <p:spPr>
          <a:xfrm>
            <a:off x="2107871" y="2549118"/>
            <a:ext cx="44072" cy="59328"/>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9" name="Base summary bar_3">
            <a:extLst>
              <a:ext uri="{FF2B5EF4-FFF2-40B4-BE49-F238E27FC236}">
                <a16:creationId xmlns:a16="http://schemas.microsoft.com/office/drawing/2014/main" id="{269240CC-07F6-8569-D6D0-2E898FDFE671}"/>
              </a:ext>
            </a:extLst>
          </p:cNvPr>
          <p:cNvSpPr/>
          <p:nvPr/>
        </p:nvSpPr>
        <p:spPr>
          <a:xfrm>
            <a:off x="2155898" y="2549118"/>
            <a:ext cx="44072" cy="59328"/>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0" name="Base summary bar_4">
            <a:extLst>
              <a:ext uri="{FF2B5EF4-FFF2-40B4-BE49-F238E27FC236}">
                <a16:creationId xmlns:a16="http://schemas.microsoft.com/office/drawing/2014/main" id="{D027E165-A9E7-E339-F192-6FC69D94CA5E}"/>
              </a:ext>
            </a:extLst>
          </p:cNvPr>
          <p:cNvSpPr/>
          <p:nvPr/>
        </p:nvSpPr>
        <p:spPr>
          <a:xfrm>
            <a:off x="2203926" y="2549118"/>
            <a:ext cx="44072" cy="59328"/>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1" name="Base summary bar_5">
            <a:extLst>
              <a:ext uri="{FF2B5EF4-FFF2-40B4-BE49-F238E27FC236}">
                <a16:creationId xmlns:a16="http://schemas.microsoft.com/office/drawing/2014/main" id="{AF544338-D23E-CE3C-A6B8-4FA37DCAD82E}"/>
              </a:ext>
            </a:extLst>
          </p:cNvPr>
          <p:cNvSpPr/>
          <p:nvPr/>
        </p:nvSpPr>
        <p:spPr>
          <a:xfrm>
            <a:off x="2251954" y="2549118"/>
            <a:ext cx="44072" cy="59328"/>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2" name="Base summary bar_6">
            <a:extLst>
              <a:ext uri="{FF2B5EF4-FFF2-40B4-BE49-F238E27FC236}">
                <a16:creationId xmlns:a16="http://schemas.microsoft.com/office/drawing/2014/main" id="{9F80EB35-B4A7-2FA2-7A0C-B02A9915E4EB}"/>
              </a:ext>
            </a:extLst>
          </p:cNvPr>
          <p:cNvSpPr/>
          <p:nvPr/>
        </p:nvSpPr>
        <p:spPr>
          <a:xfrm>
            <a:off x="2299981" y="2549118"/>
            <a:ext cx="44072" cy="59328"/>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3" name="Base summary bar_7">
            <a:extLst>
              <a:ext uri="{FF2B5EF4-FFF2-40B4-BE49-F238E27FC236}">
                <a16:creationId xmlns:a16="http://schemas.microsoft.com/office/drawing/2014/main" id="{763E1301-00D0-44E1-3425-288C0321EC85}"/>
              </a:ext>
            </a:extLst>
          </p:cNvPr>
          <p:cNvSpPr/>
          <p:nvPr/>
        </p:nvSpPr>
        <p:spPr>
          <a:xfrm>
            <a:off x="2348008" y="2549118"/>
            <a:ext cx="44072" cy="59328"/>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4" name="Op | Mean/max pool">
            <a:extLst>
              <a:ext uri="{FF2B5EF4-FFF2-40B4-BE49-F238E27FC236}">
                <a16:creationId xmlns:a16="http://schemas.microsoft.com/office/drawing/2014/main" id="{C4850A78-C957-EF45-0669-F1FA2501E311}"/>
              </a:ext>
            </a:extLst>
          </p:cNvPr>
          <p:cNvSpPr/>
          <p:nvPr/>
        </p:nvSpPr>
        <p:spPr>
          <a:xfrm>
            <a:off x="573274" y="3452879"/>
            <a:ext cx="617009"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Mean/max pool</a:t>
            </a:r>
          </a:p>
        </p:txBody>
      </p:sp>
      <p:sp>
        <p:nvSpPr>
          <p:cNvPr id="645" name="Op | Cross-attention">
            <a:extLst>
              <a:ext uri="{FF2B5EF4-FFF2-40B4-BE49-F238E27FC236}">
                <a16:creationId xmlns:a16="http://schemas.microsoft.com/office/drawing/2014/main" id="{11FEE5AE-99F9-B083-0D93-CFC8DBD07D63}"/>
              </a:ext>
            </a:extLst>
          </p:cNvPr>
          <p:cNvSpPr/>
          <p:nvPr/>
        </p:nvSpPr>
        <p:spPr>
          <a:xfrm>
            <a:off x="1269387" y="3452879"/>
            <a:ext cx="648651"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Cross-attention</a:t>
            </a:r>
          </a:p>
        </p:txBody>
      </p:sp>
      <p:sp>
        <p:nvSpPr>
          <p:cNvPr id="646" name="TextBox 12200">
            <a:extLst>
              <a:ext uri="{FF2B5EF4-FFF2-40B4-BE49-F238E27FC236}">
                <a16:creationId xmlns:a16="http://schemas.microsoft.com/office/drawing/2014/main" id="{884D8F93-171F-A6AB-A603-7E1006874447}"/>
              </a:ext>
            </a:extLst>
          </p:cNvPr>
          <p:cNvSpPr txBox="1"/>
          <p:nvPr/>
        </p:nvSpPr>
        <p:spPr>
          <a:xfrm>
            <a:off x="1638684" y="3370950"/>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647" name="Op | FiLM">
            <a:extLst>
              <a:ext uri="{FF2B5EF4-FFF2-40B4-BE49-F238E27FC236}">
                <a16:creationId xmlns:a16="http://schemas.microsoft.com/office/drawing/2014/main" id="{59F3449A-984C-C7E7-FC02-0C47B43E0DFD}"/>
              </a:ext>
            </a:extLst>
          </p:cNvPr>
          <p:cNvSpPr/>
          <p:nvPr/>
        </p:nvSpPr>
        <p:spPr>
          <a:xfrm>
            <a:off x="2060427" y="3738251"/>
            <a:ext cx="300518" cy="150259"/>
          </a:xfrm>
          <a:prstGeom prst="roundRect">
            <a:avLst>
              <a:gd name="adj" fmla="val 25000"/>
            </a:avLst>
          </a:prstGeom>
          <a:solidFill>
            <a:srgbClr val="EDE7F5"/>
          </a:solidFill>
          <a:ln w="7290">
            <a:solidFill>
              <a:srgbClr val="B8A9D9"/>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623">
                <a:solidFill>
                  <a:srgbClr val="263442"/>
                </a:solidFill>
                <a:latin typeface="Arial"/>
              </a:rPr>
              <a:t>FiLM</a:t>
            </a:r>
          </a:p>
        </p:txBody>
      </p:sp>
      <p:sp>
        <p:nvSpPr>
          <p:cNvPr id="648" name="TextBox 12202">
            <a:extLst>
              <a:ext uri="{FF2B5EF4-FFF2-40B4-BE49-F238E27FC236}">
                <a16:creationId xmlns:a16="http://schemas.microsoft.com/office/drawing/2014/main" id="{6F9F40E0-7819-CEA2-6131-C4ABBC19B945}"/>
              </a:ext>
            </a:extLst>
          </p:cNvPr>
          <p:cNvSpPr txBox="1"/>
          <p:nvPr/>
        </p:nvSpPr>
        <p:spPr>
          <a:xfrm>
            <a:off x="2001097" y="3430400"/>
            <a:ext cx="126566" cy="84510"/>
          </a:xfrm>
          <a:prstGeom prst="rect">
            <a:avLst/>
          </a:prstGeom>
          <a:noFill/>
        </p:spPr>
        <p:txBody>
          <a:bodyPr wrap="square" lIns="0" tIns="0" rIns="0" bIns="0" anchor="ctr">
            <a:spAutoFit/>
          </a:bodyPr>
          <a:lstStyle/>
          <a:p>
            <a:pPr algn="ctr">
              <a:lnSpc>
                <a:spcPct val="105000"/>
              </a:lnSpc>
            </a:pPr>
            <a:r>
              <a:rPr sz="562">
                <a:solidFill>
                  <a:srgbClr val="263442"/>
                </a:solidFill>
                <a:latin typeface="Arial"/>
              </a:rPr>
              <a:t>Q</a:t>
            </a:r>
          </a:p>
        </p:txBody>
      </p:sp>
      <p:sp>
        <p:nvSpPr>
          <p:cNvPr id="649" name="Op | MLP">
            <a:extLst>
              <a:ext uri="{FF2B5EF4-FFF2-40B4-BE49-F238E27FC236}">
                <a16:creationId xmlns:a16="http://schemas.microsoft.com/office/drawing/2014/main" id="{554F5441-96D3-CFD3-6A6E-CA8C906F4B29}"/>
              </a:ext>
            </a:extLst>
          </p:cNvPr>
          <p:cNvSpPr/>
          <p:nvPr/>
        </p:nvSpPr>
        <p:spPr>
          <a:xfrm>
            <a:off x="1063695" y="3738251"/>
            <a:ext cx="347904" cy="150259"/>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MLP</a:t>
            </a:r>
          </a:p>
        </p:txBody>
      </p:sp>
      <p:sp>
        <p:nvSpPr>
          <p:cNvPr id="650" name="h_j bar_1">
            <a:extLst>
              <a:ext uri="{FF2B5EF4-FFF2-40B4-BE49-F238E27FC236}">
                <a16:creationId xmlns:a16="http://schemas.microsoft.com/office/drawing/2014/main" id="{99BF7016-0AEC-5CA1-43D0-0CC405933ADD}"/>
              </a:ext>
            </a:extLst>
          </p:cNvPr>
          <p:cNvSpPr/>
          <p:nvPr/>
        </p:nvSpPr>
        <p:spPr>
          <a:xfrm>
            <a:off x="2044604" y="3989994"/>
            <a:ext cx="44072" cy="56955"/>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1" name="h_j bar_2">
            <a:extLst>
              <a:ext uri="{FF2B5EF4-FFF2-40B4-BE49-F238E27FC236}">
                <a16:creationId xmlns:a16="http://schemas.microsoft.com/office/drawing/2014/main" id="{71708831-906F-DB31-D516-DA6520DB6B6E}"/>
              </a:ext>
            </a:extLst>
          </p:cNvPr>
          <p:cNvSpPr/>
          <p:nvPr/>
        </p:nvSpPr>
        <p:spPr>
          <a:xfrm>
            <a:off x="2092631" y="3989994"/>
            <a:ext cx="44072" cy="56955"/>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2" name="h_j bar_3">
            <a:extLst>
              <a:ext uri="{FF2B5EF4-FFF2-40B4-BE49-F238E27FC236}">
                <a16:creationId xmlns:a16="http://schemas.microsoft.com/office/drawing/2014/main" id="{E1CF9CE6-644D-2199-D558-FB2748AF4CA8}"/>
              </a:ext>
            </a:extLst>
          </p:cNvPr>
          <p:cNvSpPr/>
          <p:nvPr/>
        </p:nvSpPr>
        <p:spPr>
          <a:xfrm>
            <a:off x="2140658" y="3989994"/>
            <a:ext cx="44072" cy="56955"/>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3" name="h_j bar_4">
            <a:extLst>
              <a:ext uri="{FF2B5EF4-FFF2-40B4-BE49-F238E27FC236}">
                <a16:creationId xmlns:a16="http://schemas.microsoft.com/office/drawing/2014/main" id="{0B1E11C4-B6B0-8410-69CA-ECA06B016C11}"/>
              </a:ext>
            </a:extLst>
          </p:cNvPr>
          <p:cNvSpPr/>
          <p:nvPr/>
        </p:nvSpPr>
        <p:spPr>
          <a:xfrm>
            <a:off x="2188686" y="3989994"/>
            <a:ext cx="44072" cy="56955"/>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4" name="h_j bar_5">
            <a:extLst>
              <a:ext uri="{FF2B5EF4-FFF2-40B4-BE49-F238E27FC236}">
                <a16:creationId xmlns:a16="http://schemas.microsoft.com/office/drawing/2014/main" id="{2A27D763-25D4-1A48-A9AB-8AE10B5867F3}"/>
              </a:ext>
            </a:extLst>
          </p:cNvPr>
          <p:cNvSpPr/>
          <p:nvPr/>
        </p:nvSpPr>
        <p:spPr>
          <a:xfrm>
            <a:off x="2236714" y="3989994"/>
            <a:ext cx="44072" cy="56955"/>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5" name="h_j bar_6">
            <a:extLst>
              <a:ext uri="{FF2B5EF4-FFF2-40B4-BE49-F238E27FC236}">
                <a16:creationId xmlns:a16="http://schemas.microsoft.com/office/drawing/2014/main" id="{CC2DBA64-D0DF-1160-5FEF-C265BF4EAB35}"/>
              </a:ext>
            </a:extLst>
          </p:cNvPr>
          <p:cNvSpPr/>
          <p:nvPr/>
        </p:nvSpPr>
        <p:spPr>
          <a:xfrm>
            <a:off x="2284741" y="3989994"/>
            <a:ext cx="44072" cy="56955"/>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6" name="h_j bar_7">
            <a:extLst>
              <a:ext uri="{FF2B5EF4-FFF2-40B4-BE49-F238E27FC236}">
                <a16:creationId xmlns:a16="http://schemas.microsoft.com/office/drawing/2014/main" id="{3E031F7D-E2D9-9D11-0526-4D352C453584}"/>
              </a:ext>
            </a:extLst>
          </p:cNvPr>
          <p:cNvSpPr/>
          <p:nvPr/>
        </p:nvSpPr>
        <p:spPr>
          <a:xfrm>
            <a:off x="2332768" y="3989994"/>
            <a:ext cx="44072" cy="56955"/>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7" name="Math | h_j^">
            <a:extLst>
              <a:ext uri="{FF2B5EF4-FFF2-40B4-BE49-F238E27FC236}">
                <a16:creationId xmlns:a16="http://schemas.microsoft.com/office/drawing/2014/main" id="{9AC920D3-16D2-273E-04D3-53357E82FB0E}"/>
              </a:ext>
            </a:extLst>
          </p:cNvPr>
          <p:cNvSpPr txBox="1"/>
          <p:nvPr/>
        </p:nvSpPr>
        <p:spPr>
          <a:xfrm>
            <a:off x="1930234" y="3947306"/>
            <a:ext cx="70532" cy="126509"/>
          </a:xfrm>
          <a:prstGeom prst="rect">
            <a:avLst/>
          </a:prstGeom>
          <a:noFill/>
        </p:spPr>
        <p:txBody>
          <a:bodyPr wrap="none" lIns="0" tIns="0" rIns="0" bIns="0" anchor="ctr">
            <a:spAutoFit/>
          </a:bodyPr>
          <a:lstStyle/>
          <a:p>
            <a:pPr algn="ctr"/>
            <a:r>
              <a:rPr sz="855" i="1">
                <a:solidFill>
                  <a:srgbClr val="263442"/>
                </a:solidFill>
                <a:latin typeface="Times New Roman"/>
              </a:rPr>
              <a:t>h</a:t>
            </a:r>
            <a:r>
              <a:rPr sz="780" i="1" baseline="-28000">
                <a:solidFill>
                  <a:srgbClr val="263442"/>
                </a:solidFill>
                <a:latin typeface="Times New Roman"/>
              </a:rPr>
              <a:t>j</a:t>
            </a:r>
          </a:p>
        </p:txBody>
      </p:sp>
      <p:sp>
        <p:nvSpPr>
          <p:cNvPr id="658" name="Op | Foreground head">
            <a:extLst>
              <a:ext uri="{FF2B5EF4-FFF2-40B4-BE49-F238E27FC236}">
                <a16:creationId xmlns:a16="http://schemas.microsoft.com/office/drawing/2014/main" id="{772C4BD8-070D-6A2C-3C5B-CCE55BD09041}"/>
              </a:ext>
            </a:extLst>
          </p:cNvPr>
          <p:cNvSpPr/>
          <p:nvPr/>
        </p:nvSpPr>
        <p:spPr>
          <a:xfrm>
            <a:off x="660288" y="4181937"/>
            <a:ext cx="696113"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Foreground head</a:t>
            </a:r>
          </a:p>
        </p:txBody>
      </p:sp>
      <p:sp>
        <p:nvSpPr>
          <p:cNvPr id="659" name="Math | p_j^fg">
            <a:extLst>
              <a:ext uri="{FF2B5EF4-FFF2-40B4-BE49-F238E27FC236}">
                <a16:creationId xmlns:a16="http://schemas.microsoft.com/office/drawing/2014/main" id="{04752E8A-9FFA-1739-18D7-365FF5D9A529}"/>
              </a:ext>
            </a:extLst>
          </p:cNvPr>
          <p:cNvSpPr txBox="1"/>
          <p:nvPr/>
        </p:nvSpPr>
        <p:spPr>
          <a:xfrm>
            <a:off x="1661733" y="4176444"/>
            <a:ext cx="121828" cy="122341"/>
          </a:xfrm>
          <a:prstGeom prst="rect">
            <a:avLst/>
          </a:prstGeom>
          <a:noFill/>
        </p:spPr>
        <p:txBody>
          <a:bodyPr wrap="none" lIns="0" tIns="0" rIns="0" bIns="0" anchor="ctr">
            <a:spAutoFit/>
          </a:bodyPr>
          <a:lstStyle/>
          <a:p>
            <a:pPr algn="ctr"/>
            <a:r>
              <a:rPr sz="827" i="1" dirty="0" err="1">
                <a:solidFill>
                  <a:srgbClr val="263442"/>
                </a:solidFill>
                <a:latin typeface="Times New Roman"/>
              </a:rPr>
              <a:t>p</a:t>
            </a:r>
            <a:r>
              <a:rPr sz="780" i="1" baseline="-28000" dirty="0" err="1">
                <a:solidFill>
                  <a:srgbClr val="263442"/>
                </a:solidFill>
                <a:latin typeface="Times New Roman"/>
              </a:rPr>
              <a:t>j</a:t>
            </a:r>
            <a:r>
              <a:rPr sz="780" baseline="32000" dirty="0" err="1">
                <a:solidFill>
                  <a:srgbClr val="263442"/>
                </a:solidFill>
                <a:latin typeface="Arial"/>
              </a:rPr>
              <a:t>fg</a:t>
            </a:r>
            <a:endParaRPr sz="780" baseline="32000" dirty="0">
              <a:solidFill>
                <a:srgbClr val="263442"/>
              </a:solidFill>
              <a:latin typeface="Arial"/>
            </a:endParaRPr>
          </a:p>
        </p:txBody>
      </p:sp>
      <p:sp>
        <p:nvSpPr>
          <p:cNvPr id="660" name="TextBox 12215">
            <a:extLst>
              <a:ext uri="{FF2B5EF4-FFF2-40B4-BE49-F238E27FC236}">
                <a16:creationId xmlns:a16="http://schemas.microsoft.com/office/drawing/2014/main" id="{C45D4B31-EE62-7047-2BD0-7D7B985DADC4}"/>
              </a:ext>
            </a:extLst>
          </p:cNvPr>
          <p:cNvSpPr txBox="1"/>
          <p:nvPr/>
        </p:nvSpPr>
        <p:spPr>
          <a:xfrm>
            <a:off x="1392995" y="4310121"/>
            <a:ext cx="666849" cy="79445"/>
          </a:xfrm>
          <a:prstGeom prst="rect">
            <a:avLst/>
          </a:prstGeom>
          <a:noFill/>
        </p:spPr>
        <p:txBody>
          <a:bodyPr wrap="none" lIns="0" tIns="0" rIns="0" bIns="0" anchor="ctr">
            <a:spAutoFit/>
          </a:bodyPr>
          <a:lstStyle/>
          <a:p>
            <a:pPr algn="l">
              <a:lnSpc>
                <a:spcPct val="105000"/>
              </a:lnSpc>
            </a:pPr>
            <a:r>
              <a:rPr sz="528" dirty="0">
                <a:solidFill>
                  <a:srgbClr val="263442"/>
                </a:solidFill>
                <a:latin typeface="Arial"/>
              </a:rPr>
              <a:t>Foreground probability</a:t>
            </a:r>
          </a:p>
        </p:txBody>
      </p:sp>
      <p:sp>
        <p:nvSpPr>
          <p:cNvPr id="661" name="TextBox 12216">
            <a:extLst>
              <a:ext uri="{FF2B5EF4-FFF2-40B4-BE49-F238E27FC236}">
                <a16:creationId xmlns:a16="http://schemas.microsoft.com/office/drawing/2014/main" id="{978E7CF5-ACF2-460D-26F2-9B198BAAC63B}"/>
              </a:ext>
            </a:extLst>
          </p:cNvPr>
          <p:cNvSpPr txBox="1"/>
          <p:nvPr/>
        </p:nvSpPr>
        <p:spPr>
          <a:xfrm>
            <a:off x="3071869" y="2206291"/>
            <a:ext cx="1195840" cy="88422"/>
          </a:xfrm>
          <a:prstGeom prst="rect">
            <a:avLst/>
          </a:prstGeom>
          <a:noFill/>
        </p:spPr>
        <p:txBody>
          <a:bodyPr wrap="none" lIns="0" tIns="0" rIns="0" bIns="0" anchor="ctr">
            <a:spAutoFit/>
          </a:bodyPr>
          <a:lstStyle/>
          <a:p>
            <a:pPr algn="ctr">
              <a:lnSpc>
                <a:spcPct val="105000"/>
              </a:lnSpc>
            </a:pPr>
            <a:r>
              <a:rPr sz="588">
                <a:solidFill>
                  <a:srgbClr val="263442"/>
                </a:solidFill>
                <a:latin typeface="Arial"/>
              </a:rPr>
              <a:t>User-provided SMILES · same PDB</a:t>
            </a:r>
          </a:p>
        </p:txBody>
      </p:sp>
      <p:sp>
        <p:nvSpPr>
          <p:cNvPr id="662" name="Identity | SMILES list card">
            <a:extLst>
              <a:ext uri="{FF2B5EF4-FFF2-40B4-BE49-F238E27FC236}">
                <a16:creationId xmlns:a16="http://schemas.microsoft.com/office/drawing/2014/main" id="{7DA7890B-AB79-9717-CAA6-1EEE08F32188}"/>
              </a:ext>
            </a:extLst>
          </p:cNvPr>
          <p:cNvSpPr/>
          <p:nvPr/>
        </p:nvSpPr>
        <p:spPr>
          <a:xfrm>
            <a:off x="3250539" y="2309830"/>
            <a:ext cx="838500" cy="512745"/>
          </a:xfrm>
          <a:prstGeom prst="roundRect">
            <a:avLst>
              <a:gd name="adj" fmla="val 6000"/>
            </a:avLst>
          </a:prstGeom>
          <a:solidFill>
            <a:srgbClr val="FFFFFF"/>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3" name="TextBox 12218">
            <a:extLst>
              <a:ext uri="{FF2B5EF4-FFF2-40B4-BE49-F238E27FC236}">
                <a16:creationId xmlns:a16="http://schemas.microsoft.com/office/drawing/2014/main" id="{86BB59AD-D134-C7C6-AEC0-14F6157A5F0B}"/>
              </a:ext>
            </a:extLst>
          </p:cNvPr>
          <p:cNvSpPr txBox="1"/>
          <p:nvPr/>
        </p:nvSpPr>
        <p:spPr>
          <a:xfrm>
            <a:off x="3305912" y="2338063"/>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1   CCO</a:t>
            </a:r>
          </a:p>
        </p:txBody>
      </p:sp>
      <p:sp>
        <p:nvSpPr>
          <p:cNvPr id="664" name="TextBox 12219">
            <a:extLst>
              <a:ext uri="{FF2B5EF4-FFF2-40B4-BE49-F238E27FC236}">
                <a16:creationId xmlns:a16="http://schemas.microsoft.com/office/drawing/2014/main" id="{D5CEF1E2-0003-83A9-6C8B-869DF460C92C}"/>
              </a:ext>
            </a:extLst>
          </p:cNvPr>
          <p:cNvSpPr txBox="1"/>
          <p:nvPr/>
        </p:nvSpPr>
        <p:spPr>
          <a:xfrm>
            <a:off x="3305912" y="2440897"/>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2   CC(=O)O</a:t>
            </a:r>
          </a:p>
        </p:txBody>
      </p:sp>
      <p:sp>
        <p:nvSpPr>
          <p:cNvPr id="665" name="Identity | Selected k pill">
            <a:extLst>
              <a:ext uri="{FF2B5EF4-FFF2-40B4-BE49-F238E27FC236}">
                <a16:creationId xmlns:a16="http://schemas.microsoft.com/office/drawing/2014/main" id="{484884C0-9180-67EB-D183-0D32CB2F3899}"/>
              </a:ext>
            </a:extLst>
          </p:cNvPr>
          <p:cNvSpPr/>
          <p:nvPr/>
        </p:nvSpPr>
        <p:spPr>
          <a:xfrm>
            <a:off x="3282181" y="2562853"/>
            <a:ext cx="775217" cy="118656"/>
          </a:xfrm>
          <a:prstGeom prst="roundRect">
            <a:avLst>
              <a:gd name="adj" fmla="val 18000"/>
            </a:avLst>
          </a:prstGeom>
          <a:solidFill>
            <a:srgbClr val="DCFCE7"/>
          </a:solidFill>
          <a:ln w="8890">
            <a:solidFill>
              <a:srgbClr val="3E997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6" name="TextBox 12222">
            <a:extLst>
              <a:ext uri="{FF2B5EF4-FFF2-40B4-BE49-F238E27FC236}">
                <a16:creationId xmlns:a16="http://schemas.microsoft.com/office/drawing/2014/main" id="{AF18D027-6125-FBDF-9BCD-9060B5C5E099}"/>
              </a:ext>
            </a:extLst>
          </p:cNvPr>
          <p:cNvSpPr txBox="1"/>
          <p:nvPr/>
        </p:nvSpPr>
        <p:spPr>
          <a:xfrm>
            <a:off x="3313822" y="2585570"/>
            <a:ext cx="71193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k   Cc1ccccc1</a:t>
            </a:r>
          </a:p>
        </p:txBody>
      </p:sp>
      <p:sp>
        <p:nvSpPr>
          <p:cNvPr id="667" name="TextBox 12224">
            <a:extLst>
              <a:ext uri="{FF2B5EF4-FFF2-40B4-BE49-F238E27FC236}">
                <a16:creationId xmlns:a16="http://schemas.microsoft.com/office/drawing/2014/main" id="{4F02AD2D-3369-26A3-6D2F-44659C880CB7}"/>
              </a:ext>
            </a:extLst>
          </p:cNvPr>
          <p:cNvSpPr txBox="1"/>
          <p:nvPr/>
        </p:nvSpPr>
        <p:spPr>
          <a:xfrm>
            <a:off x="3305912" y="2714369"/>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K   CC(N)=O</a:t>
            </a:r>
          </a:p>
        </p:txBody>
      </p:sp>
      <p:sp>
        <p:nvSpPr>
          <p:cNvPr id="668" name="TextBox 12225">
            <a:extLst>
              <a:ext uri="{FF2B5EF4-FFF2-40B4-BE49-F238E27FC236}">
                <a16:creationId xmlns:a16="http://schemas.microsoft.com/office/drawing/2014/main" id="{3E613D72-90CB-62FD-E861-8FE6E2F065B8}"/>
              </a:ext>
            </a:extLst>
          </p:cNvPr>
          <p:cNvSpPr txBox="1"/>
          <p:nvPr/>
        </p:nvSpPr>
        <p:spPr>
          <a:xfrm>
            <a:off x="2786686" y="2643822"/>
            <a:ext cx="181140" cy="80599"/>
          </a:xfrm>
          <a:prstGeom prst="rect">
            <a:avLst/>
          </a:prstGeom>
          <a:noFill/>
        </p:spPr>
        <p:txBody>
          <a:bodyPr wrap="none" lIns="0" tIns="0" rIns="0" bIns="0" anchor="ctr">
            <a:spAutoFit/>
          </a:bodyPr>
          <a:lstStyle/>
          <a:p>
            <a:pPr algn="l">
              <a:lnSpc>
                <a:spcPct val="105000"/>
              </a:lnSpc>
            </a:pPr>
            <a:r>
              <a:rPr sz="536" dirty="0" err="1">
                <a:solidFill>
                  <a:srgbClr val="263442"/>
                </a:solidFill>
                <a:latin typeface="Arial"/>
              </a:rPr>
              <a:t>RDKit</a:t>
            </a:r>
            <a:endParaRPr sz="536" dirty="0">
              <a:solidFill>
                <a:srgbClr val="263442"/>
              </a:solidFill>
              <a:latin typeface="Arial"/>
            </a:endParaRPr>
          </a:p>
        </p:txBody>
      </p:sp>
      <p:grpSp>
        <p:nvGrpSpPr>
          <p:cNvPr id="669" name="Identity | Own molecular graph">
            <a:extLst>
              <a:ext uri="{FF2B5EF4-FFF2-40B4-BE49-F238E27FC236}">
                <a16:creationId xmlns:a16="http://schemas.microsoft.com/office/drawing/2014/main" id="{683652C7-CC94-2A9C-935C-36CF7B7EB5E8}"/>
              </a:ext>
            </a:extLst>
          </p:cNvPr>
          <p:cNvGrpSpPr/>
          <p:nvPr/>
        </p:nvGrpSpPr>
        <p:grpSpPr>
          <a:xfrm>
            <a:off x="2862931" y="2888431"/>
            <a:ext cx="284773" cy="171742"/>
            <a:chOff x="3366271" y="3721905"/>
            <a:chExt cx="311024" cy="187573"/>
          </a:xfrm>
        </p:grpSpPr>
        <p:cxnSp>
          <p:nvCxnSpPr>
            <p:cNvPr id="670" name="path_2698">
              <a:extLst>
                <a:ext uri="{FF2B5EF4-FFF2-40B4-BE49-F238E27FC236}">
                  <a16:creationId xmlns:a16="http://schemas.microsoft.com/office/drawing/2014/main" id="{08C9C74A-0B12-2E3C-023F-C3DCDEFB7AF1}"/>
                </a:ext>
              </a:extLst>
            </p:cNvPr>
            <p:cNvCxnSpPr/>
            <p:nvPr/>
          </p:nvCxnSpPr>
          <p:spPr>
            <a:xfrm flipV="1">
              <a:off x="3381053" y="3736688"/>
              <a:ext cx="63663" cy="70463"/>
            </a:xfrm>
            <a:prstGeom prst="line">
              <a:avLst/>
            </a:prstGeom>
            <a:noFill/>
            <a:ln w="5256" cap="rnd" cmpd="sng" algn="ctr">
              <a:solidFill>
                <a:srgbClr val="238777"/>
              </a:solidFill>
              <a:prstDash val="solid"/>
              <a:round/>
              <a:headEnd type="none" w="med" len="med"/>
              <a:tailEnd type="none" w="med" len="med"/>
            </a:ln>
            <a:effectLst/>
          </p:spPr>
        </p:cxnSp>
        <p:cxnSp>
          <p:nvCxnSpPr>
            <p:cNvPr id="671" name="path_2699">
              <a:extLst>
                <a:ext uri="{FF2B5EF4-FFF2-40B4-BE49-F238E27FC236}">
                  <a16:creationId xmlns:a16="http://schemas.microsoft.com/office/drawing/2014/main" id="{1CF65ECB-9AC9-C310-5460-0B86FF6B2BC5}"/>
                </a:ext>
              </a:extLst>
            </p:cNvPr>
            <p:cNvCxnSpPr/>
            <p:nvPr/>
          </p:nvCxnSpPr>
          <p:spPr>
            <a:xfrm>
              <a:off x="3444717" y="3736688"/>
              <a:ext cx="113924" cy="14947"/>
            </a:xfrm>
            <a:prstGeom prst="line">
              <a:avLst/>
            </a:prstGeom>
            <a:noFill/>
            <a:ln w="5256" cap="rnd" cmpd="sng" algn="ctr">
              <a:solidFill>
                <a:srgbClr val="238777"/>
              </a:solidFill>
              <a:prstDash val="solid"/>
              <a:round/>
              <a:headEnd type="none" w="med" len="med"/>
              <a:tailEnd type="none" w="med" len="med"/>
            </a:ln>
            <a:effectLst/>
          </p:spPr>
        </p:cxnSp>
        <p:cxnSp>
          <p:nvCxnSpPr>
            <p:cNvPr id="672" name="path_2700">
              <a:extLst>
                <a:ext uri="{FF2B5EF4-FFF2-40B4-BE49-F238E27FC236}">
                  <a16:creationId xmlns:a16="http://schemas.microsoft.com/office/drawing/2014/main" id="{47F0AAAA-D782-D4D4-41E7-7304CCE8D568}"/>
                </a:ext>
              </a:extLst>
            </p:cNvPr>
            <p:cNvCxnSpPr/>
            <p:nvPr/>
          </p:nvCxnSpPr>
          <p:spPr>
            <a:xfrm>
              <a:off x="3558640" y="3751634"/>
              <a:ext cx="73715" cy="64058"/>
            </a:xfrm>
            <a:prstGeom prst="line">
              <a:avLst/>
            </a:prstGeom>
            <a:noFill/>
            <a:ln w="5256" cap="rnd" cmpd="sng" algn="ctr">
              <a:solidFill>
                <a:srgbClr val="238777"/>
              </a:solidFill>
              <a:prstDash val="solid"/>
              <a:round/>
              <a:headEnd type="none" w="med" len="med"/>
              <a:tailEnd type="none" w="med" len="med"/>
            </a:ln>
            <a:effectLst/>
          </p:spPr>
        </p:cxnSp>
        <p:cxnSp>
          <p:nvCxnSpPr>
            <p:cNvPr id="673" name="path_2701">
              <a:extLst>
                <a:ext uri="{FF2B5EF4-FFF2-40B4-BE49-F238E27FC236}">
                  <a16:creationId xmlns:a16="http://schemas.microsoft.com/office/drawing/2014/main" id="{672DEF92-FEF6-A8B8-A079-671D6D70071E}"/>
                </a:ext>
              </a:extLst>
            </p:cNvPr>
            <p:cNvCxnSpPr/>
            <p:nvPr/>
          </p:nvCxnSpPr>
          <p:spPr>
            <a:xfrm flipH="1">
              <a:off x="3561991" y="3815692"/>
              <a:ext cx="70365" cy="79004"/>
            </a:xfrm>
            <a:prstGeom prst="line">
              <a:avLst/>
            </a:prstGeom>
            <a:noFill/>
            <a:ln w="5256" cap="rnd" cmpd="sng" algn="ctr">
              <a:solidFill>
                <a:srgbClr val="238777"/>
              </a:solidFill>
              <a:prstDash val="solid"/>
              <a:round/>
              <a:headEnd type="none" w="med" len="med"/>
              <a:tailEnd type="none" w="med" len="med"/>
            </a:ln>
            <a:effectLst/>
          </p:spPr>
        </p:cxnSp>
        <p:cxnSp>
          <p:nvCxnSpPr>
            <p:cNvPr id="674" name="path_2702">
              <a:extLst>
                <a:ext uri="{FF2B5EF4-FFF2-40B4-BE49-F238E27FC236}">
                  <a16:creationId xmlns:a16="http://schemas.microsoft.com/office/drawing/2014/main" id="{B02A38E3-8AB1-C1CA-A784-7A02E63B2D09}"/>
                </a:ext>
              </a:extLst>
            </p:cNvPr>
            <p:cNvCxnSpPr/>
            <p:nvPr/>
          </p:nvCxnSpPr>
          <p:spPr>
            <a:xfrm flipH="1" flipV="1">
              <a:off x="3444717" y="3875479"/>
              <a:ext cx="117275" cy="19217"/>
            </a:xfrm>
            <a:prstGeom prst="line">
              <a:avLst/>
            </a:prstGeom>
            <a:noFill/>
            <a:ln w="5256" cap="rnd" cmpd="sng" algn="ctr">
              <a:solidFill>
                <a:srgbClr val="238777"/>
              </a:solidFill>
              <a:prstDash val="solid"/>
              <a:round/>
              <a:headEnd type="none" w="med" len="med"/>
              <a:tailEnd type="none" w="med" len="med"/>
            </a:ln>
            <a:effectLst/>
          </p:spPr>
        </p:cxnSp>
        <p:cxnSp>
          <p:nvCxnSpPr>
            <p:cNvPr id="675" name="path_2703">
              <a:extLst>
                <a:ext uri="{FF2B5EF4-FFF2-40B4-BE49-F238E27FC236}">
                  <a16:creationId xmlns:a16="http://schemas.microsoft.com/office/drawing/2014/main" id="{5EB27651-D3BE-22CD-39D8-D428781F5F97}"/>
                </a:ext>
              </a:extLst>
            </p:cNvPr>
            <p:cNvCxnSpPr/>
            <p:nvPr/>
          </p:nvCxnSpPr>
          <p:spPr>
            <a:xfrm flipH="1" flipV="1">
              <a:off x="3381053" y="3807151"/>
              <a:ext cx="63663" cy="68328"/>
            </a:xfrm>
            <a:prstGeom prst="line">
              <a:avLst/>
            </a:prstGeom>
            <a:noFill/>
            <a:ln w="5256" cap="rnd" cmpd="sng" algn="ctr">
              <a:solidFill>
                <a:srgbClr val="238777"/>
              </a:solidFill>
              <a:prstDash val="solid"/>
              <a:round/>
              <a:headEnd type="none" w="med" len="med"/>
              <a:tailEnd type="none" w="med" len="med"/>
            </a:ln>
            <a:effectLst/>
          </p:spPr>
        </p:cxnSp>
        <p:cxnSp>
          <p:nvCxnSpPr>
            <p:cNvPr id="676" name="path_2704">
              <a:extLst>
                <a:ext uri="{FF2B5EF4-FFF2-40B4-BE49-F238E27FC236}">
                  <a16:creationId xmlns:a16="http://schemas.microsoft.com/office/drawing/2014/main" id="{A3592B63-1411-3F57-5878-96E17C30AD75}"/>
                </a:ext>
              </a:extLst>
            </p:cNvPr>
            <p:cNvCxnSpPr/>
            <p:nvPr/>
          </p:nvCxnSpPr>
          <p:spPr>
            <a:xfrm flipV="1">
              <a:off x="3558640" y="3745228"/>
              <a:ext cx="103872" cy="6406"/>
            </a:xfrm>
            <a:prstGeom prst="line">
              <a:avLst/>
            </a:prstGeom>
            <a:noFill/>
            <a:ln w="5256" cap="rnd" cmpd="sng" algn="ctr">
              <a:solidFill>
                <a:srgbClr val="238777"/>
              </a:solidFill>
              <a:prstDash val="solid"/>
              <a:round/>
              <a:headEnd type="none" w="med" len="med"/>
              <a:tailEnd type="none" w="med" len="med"/>
            </a:ln>
            <a:effectLst/>
          </p:spPr>
        </p:cxnSp>
        <p:sp>
          <p:nvSpPr>
            <p:cNvPr id="677" name="ellipse_2705">
              <a:extLst>
                <a:ext uri="{FF2B5EF4-FFF2-40B4-BE49-F238E27FC236}">
                  <a16:creationId xmlns:a16="http://schemas.microsoft.com/office/drawing/2014/main" id="{C3D36D22-8CEB-B663-A605-02E9CFFED0C1}"/>
                </a:ext>
              </a:extLst>
            </p:cNvPr>
            <p:cNvSpPr/>
            <p:nvPr/>
          </p:nvSpPr>
          <p:spPr>
            <a:xfrm>
              <a:off x="3366271" y="3792368"/>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8" name="ellipse_2706">
              <a:extLst>
                <a:ext uri="{FF2B5EF4-FFF2-40B4-BE49-F238E27FC236}">
                  <a16:creationId xmlns:a16="http://schemas.microsoft.com/office/drawing/2014/main" id="{1F86BCBC-B96E-6EC5-AC9B-22A20629DF0F}"/>
                </a:ext>
              </a:extLst>
            </p:cNvPr>
            <p:cNvSpPr/>
            <p:nvPr/>
          </p:nvSpPr>
          <p:spPr>
            <a:xfrm>
              <a:off x="3429934" y="3721905"/>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9" name="ellipse_2707">
              <a:extLst>
                <a:ext uri="{FF2B5EF4-FFF2-40B4-BE49-F238E27FC236}">
                  <a16:creationId xmlns:a16="http://schemas.microsoft.com/office/drawing/2014/main" id="{0D7ED534-2755-74EA-6149-4A7E3A7E8992}"/>
                </a:ext>
              </a:extLst>
            </p:cNvPr>
            <p:cNvSpPr/>
            <p:nvPr/>
          </p:nvSpPr>
          <p:spPr>
            <a:xfrm>
              <a:off x="3543858" y="3736852"/>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0" name="ellipse_2708">
              <a:extLst>
                <a:ext uri="{FF2B5EF4-FFF2-40B4-BE49-F238E27FC236}">
                  <a16:creationId xmlns:a16="http://schemas.microsoft.com/office/drawing/2014/main" id="{01CC7294-C7B5-D1A4-A138-902105284B89}"/>
                </a:ext>
              </a:extLst>
            </p:cNvPr>
            <p:cNvSpPr/>
            <p:nvPr/>
          </p:nvSpPr>
          <p:spPr>
            <a:xfrm>
              <a:off x="3617573" y="3800909"/>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1" name="ellipse_2709">
              <a:extLst>
                <a:ext uri="{FF2B5EF4-FFF2-40B4-BE49-F238E27FC236}">
                  <a16:creationId xmlns:a16="http://schemas.microsoft.com/office/drawing/2014/main" id="{80734E48-9DE8-B4FD-D0D4-D53693BBEADF}"/>
                </a:ext>
              </a:extLst>
            </p:cNvPr>
            <p:cNvSpPr/>
            <p:nvPr/>
          </p:nvSpPr>
          <p:spPr>
            <a:xfrm>
              <a:off x="3547209" y="3879913"/>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2" name="ellipse_2710">
              <a:extLst>
                <a:ext uri="{FF2B5EF4-FFF2-40B4-BE49-F238E27FC236}">
                  <a16:creationId xmlns:a16="http://schemas.microsoft.com/office/drawing/2014/main" id="{3DB6F677-E1A0-2C7D-CADD-FB389865F633}"/>
                </a:ext>
              </a:extLst>
            </p:cNvPr>
            <p:cNvSpPr/>
            <p:nvPr/>
          </p:nvSpPr>
          <p:spPr>
            <a:xfrm>
              <a:off x="3429934" y="386069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3" name="ellipse_2711">
              <a:extLst>
                <a:ext uri="{FF2B5EF4-FFF2-40B4-BE49-F238E27FC236}">
                  <a16:creationId xmlns:a16="http://schemas.microsoft.com/office/drawing/2014/main" id="{D105DBC9-3C6D-0576-1E95-E04BFA9EB1EF}"/>
                </a:ext>
              </a:extLst>
            </p:cNvPr>
            <p:cNvSpPr/>
            <p:nvPr/>
          </p:nvSpPr>
          <p:spPr>
            <a:xfrm>
              <a:off x="3647730" y="373044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grpSp>
      <p:sp>
        <p:nvSpPr>
          <p:cNvPr id="684" name="TextBox 12226">
            <a:extLst>
              <a:ext uri="{FF2B5EF4-FFF2-40B4-BE49-F238E27FC236}">
                <a16:creationId xmlns:a16="http://schemas.microsoft.com/office/drawing/2014/main" id="{43DBD103-E22F-DA52-F0ED-122A5CA41D61}"/>
              </a:ext>
            </a:extLst>
          </p:cNvPr>
          <p:cNvSpPr txBox="1"/>
          <p:nvPr/>
        </p:nvSpPr>
        <p:spPr>
          <a:xfrm>
            <a:off x="2837002" y="3080344"/>
            <a:ext cx="336631" cy="80599"/>
          </a:xfrm>
          <a:prstGeom prst="rect">
            <a:avLst/>
          </a:prstGeom>
          <a:noFill/>
        </p:spPr>
        <p:txBody>
          <a:bodyPr wrap="none" lIns="0" tIns="0" rIns="0" bIns="0" anchor="ctr">
            <a:spAutoFit/>
          </a:bodyPr>
          <a:lstStyle/>
          <a:p>
            <a:pPr algn="ctr">
              <a:lnSpc>
                <a:spcPct val="105000"/>
              </a:lnSpc>
            </a:pPr>
            <a:r>
              <a:rPr sz="536">
                <a:solidFill>
                  <a:srgbClr val="263442"/>
                </a:solidFill>
                <a:latin typeface="Arial"/>
              </a:rPr>
              <a:t>Own graph</a:t>
            </a:r>
          </a:p>
        </p:txBody>
      </p:sp>
      <p:sp>
        <p:nvSpPr>
          <p:cNvPr id="685" name="Op | GNN">
            <a:extLst>
              <a:ext uri="{FF2B5EF4-FFF2-40B4-BE49-F238E27FC236}">
                <a16:creationId xmlns:a16="http://schemas.microsoft.com/office/drawing/2014/main" id="{98330FF3-2E5A-32C3-D33C-D78225E1943D}"/>
              </a:ext>
            </a:extLst>
          </p:cNvPr>
          <p:cNvSpPr/>
          <p:nvPr/>
        </p:nvSpPr>
        <p:spPr>
          <a:xfrm>
            <a:off x="2823379" y="3239299"/>
            <a:ext cx="363877"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GNN</a:t>
            </a:r>
          </a:p>
        </p:txBody>
      </p:sp>
      <p:sp>
        <p:nvSpPr>
          <p:cNvPr id="686" name="TextBox 12228">
            <a:extLst>
              <a:ext uri="{FF2B5EF4-FFF2-40B4-BE49-F238E27FC236}">
                <a16:creationId xmlns:a16="http://schemas.microsoft.com/office/drawing/2014/main" id="{26538413-3AE9-9872-D0A6-0AEA9E6FF809}"/>
              </a:ext>
            </a:extLst>
          </p:cNvPr>
          <p:cNvSpPr txBox="1"/>
          <p:nvPr/>
        </p:nvSpPr>
        <p:spPr>
          <a:xfrm>
            <a:off x="3036959" y="3388848"/>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687" name="Op | Graph attention">
            <a:extLst>
              <a:ext uri="{FF2B5EF4-FFF2-40B4-BE49-F238E27FC236}">
                <a16:creationId xmlns:a16="http://schemas.microsoft.com/office/drawing/2014/main" id="{5F3701CD-DCA3-D9CA-7FA3-D737E8718A60}"/>
              </a:ext>
            </a:extLst>
          </p:cNvPr>
          <p:cNvSpPr/>
          <p:nvPr/>
        </p:nvSpPr>
        <p:spPr>
          <a:xfrm>
            <a:off x="2696813" y="3500341"/>
            <a:ext cx="617009"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Graph</a:t>
            </a:r>
            <a:r>
              <a:rPr sz="580" dirty="0">
                <a:solidFill>
                  <a:srgbClr val="263442"/>
                </a:solidFill>
                <a:latin typeface="Arial"/>
              </a:rPr>
              <a:t> </a:t>
            </a:r>
            <a:r>
              <a:rPr sz="588" dirty="0">
                <a:solidFill>
                  <a:srgbClr val="263442"/>
                </a:solidFill>
                <a:latin typeface="Arial"/>
              </a:rPr>
              <a:t>attention</a:t>
            </a:r>
          </a:p>
        </p:txBody>
      </p:sp>
      <p:sp>
        <p:nvSpPr>
          <p:cNvPr id="688" name="Op | SMI-TED">
            <a:extLst>
              <a:ext uri="{FF2B5EF4-FFF2-40B4-BE49-F238E27FC236}">
                <a16:creationId xmlns:a16="http://schemas.microsoft.com/office/drawing/2014/main" id="{9F250B16-9768-CC2C-86AF-59769C8EEC4C}"/>
              </a:ext>
            </a:extLst>
          </p:cNvPr>
          <p:cNvSpPr/>
          <p:nvPr/>
        </p:nvSpPr>
        <p:spPr>
          <a:xfrm>
            <a:off x="3459362" y="2971538"/>
            <a:ext cx="427160"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SMI-TED</a:t>
            </a:r>
          </a:p>
        </p:txBody>
      </p:sp>
      <p:sp>
        <p:nvSpPr>
          <p:cNvPr id="689" name="Language vector v_k_1">
            <a:extLst>
              <a:ext uri="{FF2B5EF4-FFF2-40B4-BE49-F238E27FC236}">
                <a16:creationId xmlns:a16="http://schemas.microsoft.com/office/drawing/2014/main" id="{E695888D-D925-5392-2451-D7757F2B6BC7}"/>
              </a:ext>
            </a:extLst>
          </p:cNvPr>
          <p:cNvSpPr/>
          <p:nvPr/>
        </p:nvSpPr>
        <p:spPr>
          <a:xfrm>
            <a:off x="3527403"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0" name="Language vector v_k_2">
            <a:extLst>
              <a:ext uri="{FF2B5EF4-FFF2-40B4-BE49-F238E27FC236}">
                <a16:creationId xmlns:a16="http://schemas.microsoft.com/office/drawing/2014/main" id="{914284BD-BAB8-4AEA-A1F1-E7FC853BC87F}"/>
              </a:ext>
            </a:extLst>
          </p:cNvPr>
          <p:cNvSpPr/>
          <p:nvPr/>
        </p:nvSpPr>
        <p:spPr>
          <a:xfrm>
            <a:off x="3568650"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1" name="Language vector v_k_3">
            <a:extLst>
              <a:ext uri="{FF2B5EF4-FFF2-40B4-BE49-F238E27FC236}">
                <a16:creationId xmlns:a16="http://schemas.microsoft.com/office/drawing/2014/main" id="{A224CED9-3025-4474-CF80-E118B0ACA7AB}"/>
              </a:ext>
            </a:extLst>
          </p:cNvPr>
          <p:cNvSpPr/>
          <p:nvPr/>
        </p:nvSpPr>
        <p:spPr>
          <a:xfrm>
            <a:off x="3609897"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2" name="Language vector v_k_4">
            <a:extLst>
              <a:ext uri="{FF2B5EF4-FFF2-40B4-BE49-F238E27FC236}">
                <a16:creationId xmlns:a16="http://schemas.microsoft.com/office/drawing/2014/main" id="{3641CBF3-C5A5-2DC2-88CA-B3F2C816508D}"/>
              </a:ext>
            </a:extLst>
          </p:cNvPr>
          <p:cNvSpPr/>
          <p:nvPr/>
        </p:nvSpPr>
        <p:spPr>
          <a:xfrm>
            <a:off x="3651144" y="3547013"/>
            <a:ext cx="37291" cy="56955"/>
          </a:xfrm>
          <a:prstGeom prst="rect">
            <a:avLst/>
          </a:prstGeom>
          <a:solidFill>
            <a:srgbClr val="CBE7D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3" name="Language vector v_k_5">
            <a:extLst>
              <a:ext uri="{FF2B5EF4-FFF2-40B4-BE49-F238E27FC236}">
                <a16:creationId xmlns:a16="http://schemas.microsoft.com/office/drawing/2014/main" id="{B6BA4357-39F7-598C-72FA-2FC00B25A10F}"/>
              </a:ext>
            </a:extLst>
          </p:cNvPr>
          <p:cNvSpPr/>
          <p:nvPr/>
        </p:nvSpPr>
        <p:spPr>
          <a:xfrm>
            <a:off x="3692391"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4" name="Language vector v_k_6">
            <a:extLst>
              <a:ext uri="{FF2B5EF4-FFF2-40B4-BE49-F238E27FC236}">
                <a16:creationId xmlns:a16="http://schemas.microsoft.com/office/drawing/2014/main" id="{14F9C08B-08C8-5CC8-21F6-EC42430BFA81}"/>
              </a:ext>
            </a:extLst>
          </p:cNvPr>
          <p:cNvSpPr/>
          <p:nvPr/>
        </p:nvSpPr>
        <p:spPr>
          <a:xfrm>
            <a:off x="3733638"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5" name="Language vector v_k_7">
            <a:extLst>
              <a:ext uri="{FF2B5EF4-FFF2-40B4-BE49-F238E27FC236}">
                <a16:creationId xmlns:a16="http://schemas.microsoft.com/office/drawing/2014/main" id="{52E0E1B7-31F4-244C-BA32-494F415D5F2F}"/>
              </a:ext>
            </a:extLst>
          </p:cNvPr>
          <p:cNvSpPr/>
          <p:nvPr/>
        </p:nvSpPr>
        <p:spPr>
          <a:xfrm>
            <a:off x="3774885"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6" name="TextBox 12239">
            <a:extLst>
              <a:ext uri="{FF2B5EF4-FFF2-40B4-BE49-F238E27FC236}">
                <a16:creationId xmlns:a16="http://schemas.microsoft.com/office/drawing/2014/main" id="{DE6BD61F-48C0-C267-E36F-0AC7BC24100D}"/>
              </a:ext>
            </a:extLst>
          </p:cNvPr>
          <p:cNvSpPr txBox="1"/>
          <p:nvPr/>
        </p:nvSpPr>
        <p:spPr>
          <a:xfrm>
            <a:off x="3353374" y="3475189"/>
            <a:ext cx="126566" cy="81946"/>
          </a:xfrm>
          <a:prstGeom prst="rect">
            <a:avLst/>
          </a:prstGeom>
          <a:noFill/>
        </p:spPr>
        <p:txBody>
          <a:bodyPr wrap="square" lIns="0" tIns="0" rIns="0" bIns="0" anchor="ctr">
            <a:spAutoFit/>
          </a:bodyPr>
          <a:lstStyle/>
          <a:p>
            <a:pPr algn="ctr">
              <a:lnSpc>
                <a:spcPct val="105000"/>
              </a:lnSpc>
            </a:pPr>
            <a:r>
              <a:rPr sz="545" dirty="0">
                <a:solidFill>
                  <a:srgbClr val="263442"/>
                </a:solidFill>
                <a:latin typeface="Arial"/>
              </a:rPr>
              <a:t>Q</a:t>
            </a:r>
          </a:p>
        </p:txBody>
      </p:sp>
      <p:sp>
        <p:nvSpPr>
          <p:cNvPr id="697" name="TextBox 12240">
            <a:extLst>
              <a:ext uri="{FF2B5EF4-FFF2-40B4-BE49-F238E27FC236}">
                <a16:creationId xmlns:a16="http://schemas.microsoft.com/office/drawing/2014/main" id="{2ACBC05C-C556-BA36-3DA9-0D37D9382C06}"/>
              </a:ext>
            </a:extLst>
          </p:cNvPr>
          <p:cNvSpPr txBox="1"/>
          <p:nvPr/>
        </p:nvSpPr>
        <p:spPr>
          <a:xfrm>
            <a:off x="3859638" y="3475189"/>
            <a:ext cx="126566" cy="81946"/>
          </a:xfrm>
          <a:prstGeom prst="rect">
            <a:avLst/>
          </a:prstGeom>
          <a:noFill/>
        </p:spPr>
        <p:txBody>
          <a:bodyPr wrap="square" lIns="0" tIns="0" rIns="0" bIns="0" anchor="ctr">
            <a:spAutoFit/>
          </a:bodyPr>
          <a:lstStyle/>
          <a:p>
            <a:pPr algn="ctr">
              <a:lnSpc>
                <a:spcPct val="105000"/>
              </a:lnSpc>
            </a:pPr>
            <a:r>
              <a:rPr sz="545">
                <a:solidFill>
                  <a:srgbClr val="263442"/>
                </a:solidFill>
                <a:latin typeface="Arial"/>
              </a:rPr>
              <a:t>Q</a:t>
            </a:r>
          </a:p>
        </p:txBody>
      </p:sp>
      <p:sp>
        <p:nvSpPr>
          <p:cNvPr id="698" name="TextBox 12241">
            <a:extLst>
              <a:ext uri="{FF2B5EF4-FFF2-40B4-BE49-F238E27FC236}">
                <a16:creationId xmlns:a16="http://schemas.microsoft.com/office/drawing/2014/main" id="{0B3A68EF-7CF9-A2EB-24B2-085C5BF1F71F}"/>
              </a:ext>
            </a:extLst>
          </p:cNvPr>
          <p:cNvSpPr txBox="1"/>
          <p:nvPr/>
        </p:nvSpPr>
        <p:spPr>
          <a:xfrm>
            <a:off x="4373812" y="2542416"/>
            <a:ext cx="379698" cy="151836"/>
          </a:xfrm>
          <a:prstGeom prst="rect">
            <a:avLst/>
          </a:prstGeom>
          <a:noFill/>
        </p:spPr>
        <p:txBody>
          <a:bodyPr wrap="square" lIns="0" tIns="0" rIns="0" bIns="0" anchor="ctr">
            <a:spAutoFit/>
          </a:bodyPr>
          <a:lstStyle/>
          <a:p>
            <a:pPr algn="l">
              <a:lnSpc>
                <a:spcPct val="95000"/>
              </a:lnSpc>
            </a:pPr>
            <a:r>
              <a:rPr lang="en-US" sz="519" dirty="0">
                <a:solidFill>
                  <a:srgbClr val="263442"/>
                </a:solidFill>
                <a:latin typeface="Arial"/>
              </a:rPr>
              <a:t>  </a:t>
            </a:r>
            <a:r>
              <a:rPr sz="519" dirty="0">
                <a:solidFill>
                  <a:srgbClr val="263442"/>
                </a:solidFill>
                <a:latin typeface="Arial"/>
              </a:rPr>
              <a:t>Other</a:t>
            </a:r>
          </a:p>
          <a:p>
            <a:pPr algn="l">
              <a:lnSpc>
                <a:spcPct val="95000"/>
              </a:lnSpc>
            </a:pPr>
            <a:r>
              <a:rPr sz="519" dirty="0">
                <a:solidFill>
                  <a:srgbClr val="263442"/>
                </a:solidFill>
                <a:latin typeface="Arial"/>
              </a:rPr>
              <a:t>identities</a:t>
            </a:r>
          </a:p>
        </p:txBody>
      </p:sp>
      <p:sp>
        <p:nvSpPr>
          <p:cNvPr id="699" name="Op | SMI-TED">
            <a:extLst>
              <a:ext uri="{FF2B5EF4-FFF2-40B4-BE49-F238E27FC236}">
                <a16:creationId xmlns:a16="http://schemas.microsoft.com/office/drawing/2014/main" id="{6691CF15-5DAD-F305-5973-B1ACEFFF5CBF}"/>
              </a:ext>
            </a:extLst>
          </p:cNvPr>
          <p:cNvSpPr/>
          <p:nvPr/>
        </p:nvSpPr>
        <p:spPr>
          <a:xfrm>
            <a:off x="4140927" y="2967199"/>
            <a:ext cx="427160"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SMI-TED</a:t>
            </a:r>
          </a:p>
        </p:txBody>
      </p:sp>
      <p:sp>
        <p:nvSpPr>
          <p:cNvPr id="700" name="TextBox 12244">
            <a:extLst>
              <a:ext uri="{FF2B5EF4-FFF2-40B4-BE49-F238E27FC236}">
                <a16:creationId xmlns:a16="http://schemas.microsoft.com/office/drawing/2014/main" id="{13C55E5C-99C8-F46D-3353-FED4827206EC}"/>
              </a:ext>
            </a:extLst>
          </p:cNvPr>
          <p:cNvSpPr txBox="1"/>
          <p:nvPr/>
        </p:nvSpPr>
        <p:spPr>
          <a:xfrm>
            <a:off x="4128591" y="3197919"/>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1</a:t>
            </a:r>
          </a:p>
        </p:txBody>
      </p:sp>
      <p:sp>
        <p:nvSpPr>
          <p:cNvPr id="701" name="Context bar 1_1">
            <a:extLst>
              <a:ext uri="{FF2B5EF4-FFF2-40B4-BE49-F238E27FC236}">
                <a16:creationId xmlns:a16="http://schemas.microsoft.com/office/drawing/2014/main" id="{F675EB2C-E3F4-CF25-F2F9-B217A0C64998}"/>
              </a:ext>
            </a:extLst>
          </p:cNvPr>
          <p:cNvSpPr/>
          <p:nvPr/>
        </p:nvSpPr>
        <p:spPr>
          <a:xfrm>
            <a:off x="4223515"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2" name="Context bar 1_2">
            <a:extLst>
              <a:ext uri="{FF2B5EF4-FFF2-40B4-BE49-F238E27FC236}">
                <a16:creationId xmlns:a16="http://schemas.microsoft.com/office/drawing/2014/main" id="{7015B7C2-EE7A-8CD3-BF9A-C8F6C295F2D3}"/>
              </a:ext>
            </a:extLst>
          </p:cNvPr>
          <p:cNvSpPr/>
          <p:nvPr/>
        </p:nvSpPr>
        <p:spPr>
          <a:xfrm>
            <a:off x="4271637"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3" name="Context bar 1_3">
            <a:extLst>
              <a:ext uri="{FF2B5EF4-FFF2-40B4-BE49-F238E27FC236}">
                <a16:creationId xmlns:a16="http://schemas.microsoft.com/office/drawing/2014/main" id="{0283D963-CC89-9552-BBFA-44417F9A5810}"/>
              </a:ext>
            </a:extLst>
          </p:cNvPr>
          <p:cNvSpPr/>
          <p:nvPr/>
        </p:nvSpPr>
        <p:spPr>
          <a:xfrm>
            <a:off x="4319758" y="3223887"/>
            <a:ext cx="44166" cy="34806"/>
          </a:xfrm>
          <a:prstGeom prst="rect">
            <a:avLst/>
          </a:prstGeom>
          <a:solidFill>
            <a:srgbClr val="BFD2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4" name="Context bar 1_4">
            <a:extLst>
              <a:ext uri="{FF2B5EF4-FFF2-40B4-BE49-F238E27FC236}">
                <a16:creationId xmlns:a16="http://schemas.microsoft.com/office/drawing/2014/main" id="{DFE762FA-D62F-609E-23C6-B16577CF789A}"/>
              </a:ext>
            </a:extLst>
          </p:cNvPr>
          <p:cNvSpPr/>
          <p:nvPr/>
        </p:nvSpPr>
        <p:spPr>
          <a:xfrm>
            <a:off x="4367880" y="3223887"/>
            <a:ext cx="44166" cy="34806"/>
          </a:xfrm>
          <a:prstGeom prst="rect">
            <a:avLst/>
          </a:prstGeom>
          <a:solidFill>
            <a:srgbClr val="7397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5" name="Context bar 1_5">
            <a:extLst>
              <a:ext uri="{FF2B5EF4-FFF2-40B4-BE49-F238E27FC236}">
                <a16:creationId xmlns:a16="http://schemas.microsoft.com/office/drawing/2014/main" id="{8A2B1ECE-222F-713D-5115-87805A38C6E9}"/>
              </a:ext>
            </a:extLst>
          </p:cNvPr>
          <p:cNvSpPr/>
          <p:nvPr/>
        </p:nvSpPr>
        <p:spPr>
          <a:xfrm>
            <a:off x="4416001"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6" name="Context bar 1_6">
            <a:extLst>
              <a:ext uri="{FF2B5EF4-FFF2-40B4-BE49-F238E27FC236}">
                <a16:creationId xmlns:a16="http://schemas.microsoft.com/office/drawing/2014/main" id="{F9202696-646F-1763-9139-E44B52B50C5F}"/>
              </a:ext>
            </a:extLst>
          </p:cNvPr>
          <p:cNvSpPr/>
          <p:nvPr/>
        </p:nvSpPr>
        <p:spPr>
          <a:xfrm>
            <a:off x="4464123"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7" name="TextBox 12251">
            <a:extLst>
              <a:ext uri="{FF2B5EF4-FFF2-40B4-BE49-F238E27FC236}">
                <a16:creationId xmlns:a16="http://schemas.microsoft.com/office/drawing/2014/main" id="{7BC06DFD-B767-BA41-2B05-2B0A38358B92}"/>
              </a:ext>
            </a:extLst>
          </p:cNvPr>
          <p:cNvSpPr txBox="1"/>
          <p:nvPr/>
        </p:nvSpPr>
        <p:spPr>
          <a:xfrm>
            <a:off x="4128591" y="3270220"/>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2</a:t>
            </a:r>
          </a:p>
        </p:txBody>
      </p:sp>
      <p:sp>
        <p:nvSpPr>
          <p:cNvPr id="708" name="Context bar 2_1">
            <a:extLst>
              <a:ext uri="{FF2B5EF4-FFF2-40B4-BE49-F238E27FC236}">
                <a16:creationId xmlns:a16="http://schemas.microsoft.com/office/drawing/2014/main" id="{520858ED-2877-9676-9DDD-53EAA8E37558}"/>
              </a:ext>
            </a:extLst>
          </p:cNvPr>
          <p:cNvSpPr/>
          <p:nvPr/>
        </p:nvSpPr>
        <p:spPr>
          <a:xfrm>
            <a:off x="4223515"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9" name="Context bar 2_2">
            <a:extLst>
              <a:ext uri="{FF2B5EF4-FFF2-40B4-BE49-F238E27FC236}">
                <a16:creationId xmlns:a16="http://schemas.microsoft.com/office/drawing/2014/main" id="{50A3D4F9-D9FE-CC8B-21E7-D32E326D8875}"/>
              </a:ext>
            </a:extLst>
          </p:cNvPr>
          <p:cNvSpPr/>
          <p:nvPr/>
        </p:nvSpPr>
        <p:spPr>
          <a:xfrm>
            <a:off x="4271637"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0" name="Context bar 2_3">
            <a:extLst>
              <a:ext uri="{FF2B5EF4-FFF2-40B4-BE49-F238E27FC236}">
                <a16:creationId xmlns:a16="http://schemas.microsoft.com/office/drawing/2014/main" id="{4471AA3C-5A9C-CEE5-0418-953EC2227441}"/>
              </a:ext>
            </a:extLst>
          </p:cNvPr>
          <p:cNvSpPr/>
          <p:nvPr/>
        </p:nvSpPr>
        <p:spPr>
          <a:xfrm>
            <a:off x="4319758" y="3286664"/>
            <a:ext cx="44166" cy="34806"/>
          </a:xfrm>
          <a:prstGeom prst="rect">
            <a:avLst/>
          </a:prstGeom>
          <a:solidFill>
            <a:srgbClr val="E0CC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1" name="Context bar 2_4">
            <a:extLst>
              <a:ext uri="{FF2B5EF4-FFF2-40B4-BE49-F238E27FC236}">
                <a16:creationId xmlns:a16="http://schemas.microsoft.com/office/drawing/2014/main" id="{B321BB44-18FA-E7F3-2924-BC94493FEA4A}"/>
              </a:ext>
            </a:extLst>
          </p:cNvPr>
          <p:cNvSpPr/>
          <p:nvPr/>
        </p:nvSpPr>
        <p:spPr>
          <a:xfrm>
            <a:off x="4367880" y="3286664"/>
            <a:ext cx="44166" cy="34806"/>
          </a:xfrm>
          <a:prstGeom prst="rect">
            <a:avLst/>
          </a:prstGeom>
          <a:solidFill>
            <a:srgbClr val="B58E5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2" name="Context bar 2_5">
            <a:extLst>
              <a:ext uri="{FF2B5EF4-FFF2-40B4-BE49-F238E27FC236}">
                <a16:creationId xmlns:a16="http://schemas.microsoft.com/office/drawing/2014/main" id="{BF58521A-8C41-BE24-9704-AEAF70385316}"/>
              </a:ext>
            </a:extLst>
          </p:cNvPr>
          <p:cNvSpPr/>
          <p:nvPr/>
        </p:nvSpPr>
        <p:spPr>
          <a:xfrm>
            <a:off x="4416001"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3" name="Context bar 2_6">
            <a:extLst>
              <a:ext uri="{FF2B5EF4-FFF2-40B4-BE49-F238E27FC236}">
                <a16:creationId xmlns:a16="http://schemas.microsoft.com/office/drawing/2014/main" id="{4283B810-9FFF-25F8-1960-4F272603052B}"/>
              </a:ext>
            </a:extLst>
          </p:cNvPr>
          <p:cNvSpPr/>
          <p:nvPr/>
        </p:nvSpPr>
        <p:spPr>
          <a:xfrm>
            <a:off x="4464123"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4" name="TextBox 12258">
            <a:extLst>
              <a:ext uri="{FF2B5EF4-FFF2-40B4-BE49-F238E27FC236}">
                <a16:creationId xmlns:a16="http://schemas.microsoft.com/office/drawing/2014/main" id="{D4C78125-5C89-7F13-017C-2E1C11AE7FDD}"/>
              </a:ext>
            </a:extLst>
          </p:cNvPr>
          <p:cNvSpPr txBox="1"/>
          <p:nvPr/>
        </p:nvSpPr>
        <p:spPr>
          <a:xfrm>
            <a:off x="4128591" y="3342522"/>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K</a:t>
            </a:r>
          </a:p>
        </p:txBody>
      </p:sp>
      <p:sp>
        <p:nvSpPr>
          <p:cNvPr id="715" name="Context bar K_1">
            <a:extLst>
              <a:ext uri="{FF2B5EF4-FFF2-40B4-BE49-F238E27FC236}">
                <a16:creationId xmlns:a16="http://schemas.microsoft.com/office/drawing/2014/main" id="{6C63634F-2307-320B-8E95-2B6ADA84F565}"/>
              </a:ext>
            </a:extLst>
          </p:cNvPr>
          <p:cNvSpPr/>
          <p:nvPr/>
        </p:nvSpPr>
        <p:spPr>
          <a:xfrm>
            <a:off x="4223515"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6" name="Context bar K_2">
            <a:extLst>
              <a:ext uri="{FF2B5EF4-FFF2-40B4-BE49-F238E27FC236}">
                <a16:creationId xmlns:a16="http://schemas.microsoft.com/office/drawing/2014/main" id="{582A4CF2-1B99-BCF5-A8D3-EE93D5F5B81F}"/>
              </a:ext>
            </a:extLst>
          </p:cNvPr>
          <p:cNvSpPr/>
          <p:nvPr/>
        </p:nvSpPr>
        <p:spPr>
          <a:xfrm>
            <a:off x="4271637"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7" name="Context bar K_3">
            <a:extLst>
              <a:ext uri="{FF2B5EF4-FFF2-40B4-BE49-F238E27FC236}">
                <a16:creationId xmlns:a16="http://schemas.microsoft.com/office/drawing/2014/main" id="{607B41B1-A111-8D93-E207-5DF6221B54D2}"/>
              </a:ext>
            </a:extLst>
          </p:cNvPr>
          <p:cNvSpPr/>
          <p:nvPr/>
        </p:nvSpPr>
        <p:spPr>
          <a:xfrm>
            <a:off x="4319758" y="3349440"/>
            <a:ext cx="44166" cy="34806"/>
          </a:xfrm>
          <a:prstGeom prst="rect">
            <a:avLst/>
          </a:prstGeom>
          <a:solidFill>
            <a:srgbClr val="CBC2E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8" name="Context bar K_4">
            <a:extLst>
              <a:ext uri="{FF2B5EF4-FFF2-40B4-BE49-F238E27FC236}">
                <a16:creationId xmlns:a16="http://schemas.microsoft.com/office/drawing/2014/main" id="{9539C2E7-004F-E86E-852E-98E80C399402}"/>
              </a:ext>
            </a:extLst>
          </p:cNvPr>
          <p:cNvSpPr/>
          <p:nvPr/>
        </p:nvSpPr>
        <p:spPr>
          <a:xfrm>
            <a:off x="4367880" y="3349440"/>
            <a:ext cx="44166" cy="34806"/>
          </a:xfrm>
          <a:prstGeom prst="rect">
            <a:avLst/>
          </a:prstGeom>
          <a:solidFill>
            <a:srgbClr val="8E7DB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9" name="Context bar K_5">
            <a:extLst>
              <a:ext uri="{FF2B5EF4-FFF2-40B4-BE49-F238E27FC236}">
                <a16:creationId xmlns:a16="http://schemas.microsoft.com/office/drawing/2014/main" id="{2DE0B959-537B-893B-9987-81BBF3647FFD}"/>
              </a:ext>
            </a:extLst>
          </p:cNvPr>
          <p:cNvSpPr/>
          <p:nvPr/>
        </p:nvSpPr>
        <p:spPr>
          <a:xfrm>
            <a:off x="4416001"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0" name="Context bar K_6">
            <a:extLst>
              <a:ext uri="{FF2B5EF4-FFF2-40B4-BE49-F238E27FC236}">
                <a16:creationId xmlns:a16="http://schemas.microsoft.com/office/drawing/2014/main" id="{147CE38B-269C-4BBA-77C6-2810C1D11F1C}"/>
              </a:ext>
            </a:extLst>
          </p:cNvPr>
          <p:cNvSpPr/>
          <p:nvPr/>
        </p:nvSpPr>
        <p:spPr>
          <a:xfrm>
            <a:off x="4464123"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1" name="TextBox 12265">
            <a:extLst>
              <a:ext uri="{FF2B5EF4-FFF2-40B4-BE49-F238E27FC236}">
                <a16:creationId xmlns:a16="http://schemas.microsoft.com/office/drawing/2014/main" id="{979CEBC9-AC70-1276-123A-637171F58084}"/>
              </a:ext>
            </a:extLst>
          </p:cNvPr>
          <p:cNvSpPr txBox="1"/>
          <p:nvPr/>
        </p:nvSpPr>
        <p:spPr>
          <a:xfrm>
            <a:off x="4381723" y="3400472"/>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722" name="Op | Context attention">
            <a:extLst>
              <a:ext uri="{FF2B5EF4-FFF2-40B4-BE49-F238E27FC236}">
                <a16:creationId xmlns:a16="http://schemas.microsoft.com/office/drawing/2014/main" id="{640CE564-549E-0D15-B50A-E392C9DB6304}"/>
              </a:ext>
            </a:extLst>
          </p:cNvPr>
          <p:cNvSpPr/>
          <p:nvPr/>
        </p:nvSpPr>
        <p:spPr>
          <a:xfrm>
            <a:off x="4025756" y="3500341"/>
            <a:ext cx="648651"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Context</a:t>
            </a:r>
            <a:r>
              <a:rPr sz="580" dirty="0">
                <a:solidFill>
                  <a:srgbClr val="263442"/>
                </a:solidFill>
                <a:latin typeface="Arial"/>
              </a:rPr>
              <a:t> attention</a:t>
            </a:r>
          </a:p>
        </p:txBody>
      </p:sp>
      <p:sp>
        <p:nvSpPr>
          <p:cNvPr id="723" name="Op | Fusion">
            <a:extLst>
              <a:ext uri="{FF2B5EF4-FFF2-40B4-BE49-F238E27FC236}">
                <a16:creationId xmlns:a16="http://schemas.microsoft.com/office/drawing/2014/main" id="{FF74A918-BF09-C9F6-6A9B-D421CF97BC33}"/>
              </a:ext>
            </a:extLst>
          </p:cNvPr>
          <p:cNvSpPr/>
          <p:nvPr/>
        </p:nvSpPr>
        <p:spPr>
          <a:xfrm>
            <a:off x="3479940" y="3733697"/>
            <a:ext cx="379698" cy="142387"/>
          </a:xfrm>
          <a:prstGeom prst="roundRect">
            <a:avLst>
              <a:gd name="adj" fmla="val 18000"/>
            </a:avLst>
          </a:prstGeom>
          <a:solidFill>
            <a:srgbClr val="EDE7F5"/>
          </a:solidFill>
          <a:ln w="7290">
            <a:solidFill>
              <a:srgbClr val="B8A9D9"/>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Fusion</a:t>
            </a:r>
          </a:p>
        </p:txBody>
      </p:sp>
      <p:sp>
        <p:nvSpPr>
          <p:cNvPr id="724" name="g_k bar_1">
            <a:extLst>
              <a:ext uri="{FF2B5EF4-FFF2-40B4-BE49-F238E27FC236}">
                <a16:creationId xmlns:a16="http://schemas.microsoft.com/office/drawing/2014/main" id="{CB9A6A2F-14EE-2004-CB53-FCE391ACED69}"/>
              </a:ext>
            </a:extLst>
          </p:cNvPr>
          <p:cNvSpPr/>
          <p:nvPr/>
        </p:nvSpPr>
        <p:spPr>
          <a:xfrm>
            <a:off x="3503672"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5" name="g_k bar_2">
            <a:extLst>
              <a:ext uri="{FF2B5EF4-FFF2-40B4-BE49-F238E27FC236}">
                <a16:creationId xmlns:a16="http://schemas.microsoft.com/office/drawing/2014/main" id="{E39FC69E-11ED-3FA2-32B9-5945059F2213}"/>
              </a:ext>
            </a:extLst>
          </p:cNvPr>
          <p:cNvSpPr/>
          <p:nvPr/>
        </p:nvSpPr>
        <p:spPr>
          <a:xfrm>
            <a:off x="3551699"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6" name="g_k bar_3">
            <a:extLst>
              <a:ext uri="{FF2B5EF4-FFF2-40B4-BE49-F238E27FC236}">
                <a16:creationId xmlns:a16="http://schemas.microsoft.com/office/drawing/2014/main" id="{543C1079-397B-91D4-0D56-9824953F1A51}"/>
              </a:ext>
            </a:extLst>
          </p:cNvPr>
          <p:cNvSpPr/>
          <p:nvPr/>
        </p:nvSpPr>
        <p:spPr>
          <a:xfrm>
            <a:off x="3599726"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7" name="g_k bar_4">
            <a:extLst>
              <a:ext uri="{FF2B5EF4-FFF2-40B4-BE49-F238E27FC236}">
                <a16:creationId xmlns:a16="http://schemas.microsoft.com/office/drawing/2014/main" id="{72768CF4-9EFB-DF24-7C89-6D351C730BA5}"/>
              </a:ext>
            </a:extLst>
          </p:cNvPr>
          <p:cNvSpPr/>
          <p:nvPr/>
        </p:nvSpPr>
        <p:spPr>
          <a:xfrm>
            <a:off x="3647753" y="3989994"/>
            <a:ext cx="44072" cy="56955"/>
          </a:xfrm>
          <a:prstGeom prst="rect">
            <a:avLst/>
          </a:prstGeom>
          <a:solidFill>
            <a:srgbClr val="68AB9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8" name="g_k bar_5">
            <a:extLst>
              <a:ext uri="{FF2B5EF4-FFF2-40B4-BE49-F238E27FC236}">
                <a16:creationId xmlns:a16="http://schemas.microsoft.com/office/drawing/2014/main" id="{4025AE17-AFDD-1F7D-9368-8E976FBC9D73}"/>
              </a:ext>
            </a:extLst>
          </p:cNvPr>
          <p:cNvSpPr/>
          <p:nvPr/>
        </p:nvSpPr>
        <p:spPr>
          <a:xfrm>
            <a:off x="3695781"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9" name="g_k bar_6">
            <a:extLst>
              <a:ext uri="{FF2B5EF4-FFF2-40B4-BE49-F238E27FC236}">
                <a16:creationId xmlns:a16="http://schemas.microsoft.com/office/drawing/2014/main" id="{894C2CFF-A654-8C7B-2480-AC98400CE487}"/>
              </a:ext>
            </a:extLst>
          </p:cNvPr>
          <p:cNvSpPr/>
          <p:nvPr/>
        </p:nvSpPr>
        <p:spPr>
          <a:xfrm>
            <a:off x="3743808"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0" name="g_k bar_7">
            <a:extLst>
              <a:ext uri="{FF2B5EF4-FFF2-40B4-BE49-F238E27FC236}">
                <a16:creationId xmlns:a16="http://schemas.microsoft.com/office/drawing/2014/main" id="{DC10EA75-05BB-E415-682D-FAFCD65B7377}"/>
              </a:ext>
            </a:extLst>
          </p:cNvPr>
          <p:cNvSpPr/>
          <p:nvPr/>
        </p:nvSpPr>
        <p:spPr>
          <a:xfrm>
            <a:off x="3791835"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1" name="Math | g_k^">
            <a:extLst>
              <a:ext uri="{FF2B5EF4-FFF2-40B4-BE49-F238E27FC236}">
                <a16:creationId xmlns:a16="http://schemas.microsoft.com/office/drawing/2014/main" id="{45321F2B-F3FA-58E1-92FE-B69A1AB20949}"/>
              </a:ext>
            </a:extLst>
          </p:cNvPr>
          <p:cNvSpPr txBox="1"/>
          <p:nvPr/>
        </p:nvSpPr>
        <p:spPr>
          <a:xfrm>
            <a:off x="3872532" y="3947306"/>
            <a:ext cx="84960" cy="126509"/>
          </a:xfrm>
          <a:prstGeom prst="rect">
            <a:avLst/>
          </a:prstGeom>
          <a:noFill/>
        </p:spPr>
        <p:txBody>
          <a:bodyPr wrap="none" lIns="0" tIns="0" rIns="0" bIns="0" anchor="ctr">
            <a:spAutoFit/>
          </a:bodyPr>
          <a:lstStyle/>
          <a:p>
            <a:pPr algn="ctr"/>
            <a:r>
              <a:rPr sz="855" i="1">
                <a:solidFill>
                  <a:srgbClr val="263442"/>
                </a:solidFill>
                <a:latin typeface="Times New Roman"/>
              </a:rPr>
              <a:t>g</a:t>
            </a:r>
            <a:r>
              <a:rPr sz="780" i="1" baseline="-28000">
                <a:solidFill>
                  <a:srgbClr val="263442"/>
                </a:solidFill>
                <a:latin typeface="Times New Roman"/>
              </a:rPr>
              <a:t>k</a:t>
            </a:r>
          </a:p>
        </p:txBody>
      </p:sp>
      <p:sp>
        <p:nvSpPr>
          <p:cNvPr id="732" name="Op | Cosine score">
            <a:extLst>
              <a:ext uri="{FF2B5EF4-FFF2-40B4-BE49-F238E27FC236}">
                <a16:creationId xmlns:a16="http://schemas.microsoft.com/office/drawing/2014/main" id="{9B88858F-88C1-DA3F-1992-E9C76D0D80AF}"/>
              </a:ext>
            </a:extLst>
          </p:cNvPr>
          <p:cNvSpPr/>
          <p:nvPr/>
        </p:nvSpPr>
        <p:spPr>
          <a:xfrm>
            <a:off x="3279920" y="4162465"/>
            <a:ext cx="569547"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Cosine score</a:t>
            </a:r>
          </a:p>
        </p:txBody>
      </p:sp>
      <p:sp>
        <p:nvSpPr>
          <p:cNvPr id="733" name="TextBox 12277">
            <a:extLst>
              <a:ext uri="{FF2B5EF4-FFF2-40B4-BE49-F238E27FC236}">
                <a16:creationId xmlns:a16="http://schemas.microsoft.com/office/drawing/2014/main" id="{7D6970C3-E7E9-652B-644D-A057CB503545}"/>
              </a:ext>
            </a:extLst>
          </p:cNvPr>
          <p:cNvSpPr txBox="1"/>
          <p:nvPr/>
        </p:nvSpPr>
        <p:spPr>
          <a:xfrm>
            <a:off x="3275392" y="4326634"/>
            <a:ext cx="585097" cy="79445"/>
          </a:xfrm>
          <a:prstGeom prst="rect">
            <a:avLst/>
          </a:prstGeom>
          <a:noFill/>
        </p:spPr>
        <p:txBody>
          <a:bodyPr wrap="none" lIns="0" tIns="0" rIns="0" bIns="0" anchor="ctr">
            <a:spAutoFit/>
          </a:bodyPr>
          <a:lstStyle/>
          <a:p>
            <a:pPr algn="ctr">
              <a:lnSpc>
                <a:spcPct val="105000"/>
              </a:lnSpc>
            </a:pPr>
            <a:r>
              <a:rPr sz="528" dirty="0">
                <a:solidFill>
                  <a:srgbClr val="263442"/>
                </a:solidFill>
                <a:latin typeface="Arial"/>
              </a:rPr>
              <a:t>Learned projections</a:t>
            </a:r>
          </a:p>
        </p:txBody>
      </p:sp>
      <p:sp>
        <p:nvSpPr>
          <p:cNvPr id="734" name="Math | s_j,k^">
            <a:extLst>
              <a:ext uri="{FF2B5EF4-FFF2-40B4-BE49-F238E27FC236}">
                <a16:creationId xmlns:a16="http://schemas.microsoft.com/office/drawing/2014/main" id="{BD0A37AE-0CF6-77DD-8048-3FF0945F4158}"/>
              </a:ext>
            </a:extLst>
          </p:cNvPr>
          <p:cNvSpPr txBox="1"/>
          <p:nvPr/>
        </p:nvSpPr>
        <p:spPr>
          <a:xfrm>
            <a:off x="3930163" y="4086560"/>
            <a:ext cx="104196" cy="117083"/>
          </a:xfrm>
          <a:prstGeom prst="rect">
            <a:avLst/>
          </a:prstGeom>
          <a:noFill/>
        </p:spPr>
        <p:txBody>
          <a:bodyPr wrap="none" lIns="0" tIns="0" rIns="0" bIns="0" anchor="ctr">
            <a:spAutoFit/>
          </a:bodyPr>
          <a:lstStyle/>
          <a:p>
            <a:pPr algn="ctr"/>
            <a:r>
              <a:rPr sz="791" i="1" dirty="0" err="1">
                <a:solidFill>
                  <a:srgbClr val="263442"/>
                </a:solidFill>
                <a:latin typeface="Times New Roman"/>
              </a:rPr>
              <a:t>s</a:t>
            </a:r>
            <a:r>
              <a:rPr sz="780" i="1" baseline="-28000" dirty="0" err="1">
                <a:solidFill>
                  <a:srgbClr val="263442"/>
                </a:solidFill>
                <a:latin typeface="Times New Roman"/>
              </a:rPr>
              <a:t>j,k</a:t>
            </a:r>
            <a:endParaRPr sz="780" i="1" baseline="-28000" dirty="0">
              <a:solidFill>
                <a:srgbClr val="263442"/>
              </a:solidFill>
              <a:latin typeface="Times New Roman"/>
            </a:endParaRPr>
          </a:p>
        </p:txBody>
      </p:sp>
      <p:sp>
        <p:nvSpPr>
          <p:cNvPr id="735" name="TextBox 12279">
            <a:extLst>
              <a:ext uri="{FF2B5EF4-FFF2-40B4-BE49-F238E27FC236}">
                <a16:creationId xmlns:a16="http://schemas.microsoft.com/office/drawing/2014/main" id="{C56E8311-ADDA-7C63-9110-2C3006BDD08E}"/>
              </a:ext>
            </a:extLst>
          </p:cNvPr>
          <p:cNvSpPr txBox="1"/>
          <p:nvPr/>
        </p:nvSpPr>
        <p:spPr>
          <a:xfrm>
            <a:off x="4189537" y="3931330"/>
            <a:ext cx="479297" cy="87268"/>
          </a:xfrm>
          <a:prstGeom prst="rect">
            <a:avLst/>
          </a:prstGeom>
          <a:noFill/>
        </p:spPr>
        <p:txBody>
          <a:bodyPr wrap="none" lIns="0" tIns="0" rIns="0" bIns="0" anchor="ctr">
            <a:spAutoFit/>
          </a:bodyPr>
          <a:lstStyle/>
          <a:p>
            <a:pPr algn="ctr">
              <a:lnSpc>
                <a:spcPct val="105000"/>
              </a:lnSpc>
            </a:pPr>
            <a:r>
              <a:rPr sz="580">
                <a:solidFill>
                  <a:srgbClr val="263442"/>
                </a:solidFill>
                <a:latin typeface="Arial"/>
              </a:rPr>
              <a:t>Identity scores</a:t>
            </a:r>
          </a:p>
        </p:txBody>
      </p:sp>
      <p:sp>
        <p:nvSpPr>
          <p:cNvPr id="736" name="TextBox 12280">
            <a:extLst>
              <a:ext uri="{FF2B5EF4-FFF2-40B4-BE49-F238E27FC236}">
                <a16:creationId xmlns:a16="http://schemas.microsoft.com/office/drawing/2014/main" id="{C640A1D5-D4D1-3FBF-0F27-45AD836A7FCE}"/>
              </a:ext>
            </a:extLst>
          </p:cNvPr>
          <p:cNvSpPr txBox="1"/>
          <p:nvPr/>
        </p:nvSpPr>
        <p:spPr>
          <a:xfrm>
            <a:off x="4428041" y="4018471"/>
            <a:ext cx="102835" cy="85921"/>
          </a:xfrm>
          <a:prstGeom prst="rect">
            <a:avLst/>
          </a:prstGeom>
          <a:noFill/>
        </p:spPr>
        <p:txBody>
          <a:bodyPr wrap="square" lIns="0" tIns="0" rIns="0" bIns="0" anchor="ctr">
            <a:spAutoFit/>
          </a:bodyPr>
          <a:lstStyle/>
          <a:p>
            <a:pPr algn="ctr">
              <a:lnSpc>
                <a:spcPct val="105000"/>
              </a:lnSpc>
            </a:pPr>
            <a:r>
              <a:rPr sz="571" dirty="0">
                <a:solidFill>
                  <a:srgbClr val="263442"/>
                </a:solidFill>
                <a:latin typeface="Arial"/>
              </a:rPr>
              <a:t>k</a:t>
            </a:r>
          </a:p>
        </p:txBody>
      </p:sp>
      <p:sp>
        <p:nvSpPr>
          <p:cNvPr id="737" name="TextBox 12281">
            <a:extLst>
              <a:ext uri="{FF2B5EF4-FFF2-40B4-BE49-F238E27FC236}">
                <a16:creationId xmlns:a16="http://schemas.microsoft.com/office/drawing/2014/main" id="{F472392A-4724-5EDA-C6D8-557EF063B52F}"/>
              </a:ext>
            </a:extLst>
          </p:cNvPr>
          <p:cNvSpPr txBox="1"/>
          <p:nvPr/>
        </p:nvSpPr>
        <p:spPr>
          <a:xfrm>
            <a:off x="4128591" y="4169314"/>
            <a:ext cx="87014" cy="85921"/>
          </a:xfrm>
          <a:prstGeom prst="rect">
            <a:avLst/>
          </a:prstGeom>
          <a:noFill/>
        </p:spPr>
        <p:txBody>
          <a:bodyPr wrap="square" lIns="0" tIns="0" rIns="0" bIns="0" anchor="ctr">
            <a:spAutoFit/>
          </a:bodyPr>
          <a:lstStyle/>
          <a:p>
            <a:pPr algn="ctr">
              <a:lnSpc>
                <a:spcPct val="105000"/>
              </a:lnSpc>
            </a:pPr>
            <a:r>
              <a:rPr sz="571">
                <a:solidFill>
                  <a:srgbClr val="263442"/>
                </a:solidFill>
                <a:latin typeface="Arial"/>
              </a:rPr>
              <a:t>j</a:t>
            </a:r>
          </a:p>
        </p:txBody>
      </p:sp>
      <p:sp>
        <p:nvSpPr>
          <p:cNvPr id="738" name="Matrix cell (0,0)">
            <a:extLst>
              <a:ext uri="{FF2B5EF4-FFF2-40B4-BE49-F238E27FC236}">
                <a16:creationId xmlns:a16="http://schemas.microsoft.com/office/drawing/2014/main" id="{1FAFF817-C1CE-5F45-E950-98E19AE452CF}"/>
              </a:ext>
            </a:extLst>
          </p:cNvPr>
          <p:cNvSpPr/>
          <p:nvPr/>
        </p:nvSpPr>
        <p:spPr>
          <a:xfrm>
            <a:off x="4223515"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9" name="Matrix cell (0,1)">
            <a:extLst>
              <a:ext uri="{FF2B5EF4-FFF2-40B4-BE49-F238E27FC236}">
                <a16:creationId xmlns:a16="http://schemas.microsoft.com/office/drawing/2014/main" id="{ED9FACB8-4D6A-044F-997F-E09503AC15AA}"/>
              </a:ext>
            </a:extLst>
          </p:cNvPr>
          <p:cNvSpPr/>
          <p:nvPr/>
        </p:nvSpPr>
        <p:spPr>
          <a:xfrm>
            <a:off x="4326350"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0" name="Matrix cell (0,2)">
            <a:extLst>
              <a:ext uri="{FF2B5EF4-FFF2-40B4-BE49-F238E27FC236}">
                <a16:creationId xmlns:a16="http://schemas.microsoft.com/office/drawing/2014/main" id="{DE25E670-FAB3-667C-5777-C71ED9075845}"/>
              </a:ext>
            </a:extLst>
          </p:cNvPr>
          <p:cNvSpPr/>
          <p:nvPr/>
        </p:nvSpPr>
        <p:spPr>
          <a:xfrm>
            <a:off x="4429185"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1" name="Matrix cell (0,3)">
            <a:extLst>
              <a:ext uri="{FF2B5EF4-FFF2-40B4-BE49-F238E27FC236}">
                <a16:creationId xmlns:a16="http://schemas.microsoft.com/office/drawing/2014/main" id="{D15A0AB1-9BF7-4E76-6CED-C525DFBAA5F7}"/>
              </a:ext>
            </a:extLst>
          </p:cNvPr>
          <p:cNvSpPr/>
          <p:nvPr/>
        </p:nvSpPr>
        <p:spPr>
          <a:xfrm>
            <a:off x="4532020"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2" name="Matrix cell (1,0)">
            <a:extLst>
              <a:ext uri="{FF2B5EF4-FFF2-40B4-BE49-F238E27FC236}">
                <a16:creationId xmlns:a16="http://schemas.microsoft.com/office/drawing/2014/main" id="{5C20FC23-8B30-D896-36CC-91D73273996F}"/>
              </a:ext>
            </a:extLst>
          </p:cNvPr>
          <p:cNvSpPr/>
          <p:nvPr/>
        </p:nvSpPr>
        <p:spPr>
          <a:xfrm>
            <a:off x="4223515"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3" name="Matrix cell (1,1)">
            <a:extLst>
              <a:ext uri="{FF2B5EF4-FFF2-40B4-BE49-F238E27FC236}">
                <a16:creationId xmlns:a16="http://schemas.microsoft.com/office/drawing/2014/main" id="{023C0380-7EA8-B629-5738-AD00698F49B6}"/>
              </a:ext>
            </a:extLst>
          </p:cNvPr>
          <p:cNvSpPr/>
          <p:nvPr/>
        </p:nvSpPr>
        <p:spPr>
          <a:xfrm>
            <a:off x="4326350"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4" name="Matrix cell (1,2)">
            <a:extLst>
              <a:ext uri="{FF2B5EF4-FFF2-40B4-BE49-F238E27FC236}">
                <a16:creationId xmlns:a16="http://schemas.microsoft.com/office/drawing/2014/main" id="{12FBEABC-63F9-0304-4A97-80811BFE2B66}"/>
              </a:ext>
            </a:extLst>
          </p:cNvPr>
          <p:cNvSpPr/>
          <p:nvPr/>
        </p:nvSpPr>
        <p:spPr>
          <a:xfrm>
            <a:off x="4429185" y="4176678"/>
            <a:ext cx="102835" cy="71193"/>
          </a:xfrm>
          <a:prstGeom prst="rect">
            <a:avLst/>
          </a:prstGeom>
          <a:solidFill>
            <a:srgbClr val="3C9486"/>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5" name="Matrix cell (1,3)">
            <a:extLst>
              <a:ext uri="{FF2B5EF4-FFF2-40B4-BE49-F238E27FC236}">
                <a16:creationId xmlns:a16="http://schemas.microsoft.com/office/drawing/2014/main" id="{90D1E1D0-D1D8-F490-5B4D-27F3093D1ECE}"/>
              </a:ext>
            </a:extLst>
          </p:cNvPr>
          <p:cNvSpPr/>
          <p:nvPr/>
        </p:nvSpPr>
        <p:spPr>
          <a:xfrm>
            <a:off x="4532020"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6" name="Matrix cell (2,0)">
            <a:extLst>
              <a:ext uri="{FF2B5EF4-FFF2-40B4-BE49-F238E27FC236}">
                <a16:creationId xmlns:a16="http://schemas.microsoft.com/office/drawing/2014/main" id="{158A66BE-E7B7-0506-657E-0BF13A0E4F5E}"/>
              </a:ext>
            </a:extLst>
          </p:cNvPr>
          <p:cNvSpPr/>
          <p:nvPr/>
        </p:nvSpPr>
        <p:spPr>
          <a:xfrm>
            <a:off x="4223515"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7" name="Matrix cell (2,1)">
            <a:extLst>
              <a:ext uri="{FF2B5EF4-FFF2-40B4-BE49-F238E27FC236}">
                <a16:creationId xmlns:a16="http://schemas.microsoft.com/office/drawing/2014/main" id="{3B18D166-F88A-573E-0225-1ACB99CB2512}"/>
              </a:ext>
            </a:extLst>
          </p:cNvPr>
          <p:cNvSpPr/>
          <p:nvPr/>
        </p:nvSpPr>
        <p:spPr>
          <a:xfrm>
            <a:off x="4326350"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8" name="Matrix cell (2,2)">
            <a:extLst>
              <a:ext uri="{FF2B5EF4-FFF2-40B4-BE49-F238E27FC236}">
                <a16:creationId xmlns:a16="http://schemas.microsoft.com/office/drawing/2014/main" id="{FC858539-3EA9-E4FE-E803-0C8FFAD3870F}"/>
              </a:ext>
            </a:extLst>
          </p:cNvPr>
          <p:cNvSpPr/>
          <p:nvPr/>
        </p:nvSpPr>
        <p:spPr>
          <a:xfrm>
            <a:off x="4429185"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9" name="Matrix cell (2,3)">
            <a:extLst>
              <a:ext uri="{FF2B5EF4-FFF2-40B4-BE49-F238E27FC236}">
                <a16:creationId xmlns:a16="http://schemas.microsoft.com/office/drawing/2014/main" id="{3713326C-75C4-31D8-12F4-1CA18BF652D7}"/>
              </a:ext>
            </a:extLst>
          </p:cNvPr>
          <p:cNvSpPr/>
          <p:nvPr/>
        </p:nvSpPr>
        <p:spPr>
          <a:xfrm>
            <a:off x="4532020"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50" name="TextBox 12294">
            <a:extLst>
              <a:ext uri="{FF2B5EF4-FFF2-40B4-BE49-F238E27FC236}">
                <a16:creationId xmlns:a16="http://schemas.microsoft.com/office/drawing/2014/main" id="{E992C05A-634A-6CF2-2936-1480C4EA17F1}"/>
              </a:ext>
            </a:extLst>
          </p:cNvPr>
          <p:cNvSpPr txBox="1"/>
          <p:nvPr/>
        </p:nvSpPr>
        <p:spPr>
          <a:xfrm>
            <a:off x="4223516" y="4312989"/>
            <a:ext cx="411339" cy="82587"/>
          </a:xfrm>
          <a:prstGeom prst="rect">
            <a:avLst/>
          </a:prstGeom>
          <a:noFill/>
        </p:spPr>
        <p:txBody>
          <a:bodyPr wrap="square" lIns="0" tIns="0" rIns="0" bIns="0" anchor="ctr">
            <a:spAutoFit/>
          </a:bodyPr>
          <a:lstStyle/>
          <a:p>
            <a:pPr algn="ctr">
              <a:lnSpc>
                <a:spcPct val="105000"/>
              </a:lnSpc>
            </a:pPr>
            <a:r>
              <a:rPr sz="536">
                <a:solidFill>
                  <a:srgbClr val="263442"/>
                </a:solidFill>
                <a:latin typeface="Arial"/>
              </a:rPr>
              <a:t>J × K</a:t>
            </a:r>
          </a:p>
        </p:txBody>
      </p:sp>
      <p:grpSp>
        <p:nvGrpSpPr>
          <p:cNvPr id="751" name="组合 13795">
            <a:extLst>
              <a:ext uri="{FF2B5EF4-FFF2-40B4-BE49-F238E27FC236}">
                <a16:creationId xmlns:a16="http://schemas.microsoft.com/office/drawing/2014/main" id="{7EA912CF-516A-2745-A5D0-8704116A4D72}"/>
              </a:ext>
            </a:extLst>
          </p:cNvPr>
          <p:cNvGrpSpPr/>
          <p:nvPr/>
        </p:nvGrpSpPr>
        <p:grpSpPr>
          <a:xfrm>
            <a:off x="2038007" y="554865"/>
            <a:ext cx="1978883" cy="340209"/>
            <a:chOff x="6312668" y="2448732"/>
            <a:chExt cx="1215499" cy="343631"/>
          </a:xfrm>
        </p:grpSpPr>
        <p:pic>
          <p:nvPicPr>
            <p:cNvPr id="752" name="图片 12">
              <a:extLst>
                <a:ext uri="{FF2B5EF4-FFF2-40B4-BE49-F238E27FC236}">
                  <a16:creationId xmlns:a16="http://schemas.microsoft.com/office/drawing/2014/main" id="{521CB8EA-9697-F11D-7107-B4A42B988070}"/>
                </a:ext>
              </a:extLst>
            </p:cNvPr>
            <p:cNvPicPr>
              <a:picLocks/>
            </p:cNvPicPr>
            <p:nvPr/>
          </p:nvPicPr>
          <p:blipFill>
            <a:blip r:embed="rId5"/>
            <a:srcRect l="70243" t="-18171" b="-1"/>
            <a:stretch>
              <a:fillRect/>
            </a:stretch>
          </p:blipFill>
          <p:spPr>
            <a:xfrm>
              <a:off x="7112075" y="2448732"/>
              <a:ext cx="416092" cy="323855"/>
            </a:xfrm>
            <a:prstGeom prst="rect">
              <a:avLst/>
            </a:prstGeom>
          </p:spPr>
        </p:pic>
        <p:pic>
          <p:nvPicPr>
            <p:cNvPr id="753" name="图片 12">
              <a:extLst>
                <a:ext uri="{FF2B5EF4-FFF2-40B4-BE49-F238E27FC236}">
                  <a16:creationId xmlns:a16="http://schemas.microsoft.com/office/drawing/2014/main" id="{546466D8-C7C6-7C8A-3307-95F68FB4F610}"/>
                </a:ext>
              </a:extLst>
            </p:cNvPr>
            <p:cNvPicPr>
              <a:picLocks/>
            </p:cNvPicPr>
            <p:nvPr/>
          </p:nvPicPr>
          <p:blipFill>
            <a:blip r:embed="rId5"/>
            <a:srcRect r="70534" b="-8235"/>
            <a:stretch>
              <a:fillRect/>
            </a:stretch>
          </p:blipFill>
          <p:spPr>
            <a:xfrm>
              <a:off x="6312668" y="2495741"/>
              <a:ext cx="412024" cy="296622"/>
            </a:xfrm>
            <a:prstGeom prst="rect">
              <a:avLst/>
            </a:prstGeom>
          </p:spPr>
        </p:pic>
        <p:pic>
          <p:nvPicPr>
            <p:cNvPr id="754" name="Picture 10000" descr="unet_block_18.png">
              <a:extLst>
                <a:ext uri="{FF2B5EF4-FFF2-40B4-BE49-F238E27FC236}">
                  <a16:creationId xmlns:a16="http://schemas.microsoft.com/office/drawing/2014/main" id="{75A7694C-DEA5-AFE8-E284-0A0D89F845C1}"/>
                </a:ext>
              </a:extLst>
            </p:cNvPr>
            <p:cNvPicPr>
              <a:picLocks noChangeAspect="1"/>
            </p:cNvPicPr>
            <p:nvPr/>
          </p:nvPicPr>
          <p:blipFill>
            <a:blip r:embed="rId6"/>
            <a:stretch>
              <a:fillRect/>
            </a:stretch>
          </p:blipFill>
          <p:spPr>
            <a:xfrm>
              <a:off x="6776851" y="2645026"/>
              <a:ext cx="276863" cy="126566"/>
            </a:xfrm>
            <a:prstGeom prst="rect">
              <a:avLst/>
            </a:prstGeom>
          </p:spPr>
        </p:pic>
      </p:grpSp>
      <p:grpSp>
        <p:nvGrpSpPr>
          <p:cNvPr id="755" name="Find candidate blob 1">
            <a:extLst>
              <a:ext uri="{FF2B5EF4-FFF2-40B4-BE49-F238E27FC236}">
                <a16:creationId xmlns:a16="http://schemas.microsoft.com/office/drawing/2014/main" id="{3B821B97-56A6-DCED-E85F-DBF945F3EA13}"/>
              </a:ext>
            </a:extLst>
          </p:cNvPr>
          <p:cNvGrpSpPr/>
          <p:nvPr/>
        </p:nvGrpSpPr>
        <p:grpSpPr>
          <a:xfrm>
            <a:off x="4357668" y="1039644"/>
            <a:ext cx="163890" cy="111953"/>
            <a:chOff x="1928706" y="3559489"/>
            <a:chExt cx="227897" cy="155682"/>
          </a:xfrm>
        </p:grpSpPr>
        <p:sp>
          <p:nvSpPr>
            <p:cNvPr id="756" name="Candidate blob | editable contour">
              <a:extLst>
                <a:ext uri="{FF2B5EF4-FFF2-40B4-BE49-F238E27FC236}">
                  <a16:creationId xmlns:a16="http://schemas.microsoft.com/office/drawing/2014/main" id="{B3B117DA-D182-38E6-AD16-B4776AD2C7B7}"/>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57" name="ellipse_2612">
              <a:extLst>
                <a:ext uri="{FF2B5EF4-FFF2-40B4-BE49-F238E27FC236}">
                  <a16:creationId xmlns:a16="http://schemas.microsoft.com/office/drawing/2014/main" id="{901C6437-E94C-AFDE-D242-E688A89ABBD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58" name="Find candidate blob 2">
            <a:extLst>
              <a:ext uri="{FF2B5EF4-FFF2-40B4-BE49-F238E27FC236}">
                <a16:creationId xmlns:a16="http://schemas.microsoft.com/office/drawing/2014/main" id="{00C0C92B-D4C8-0994-E860-1581EB873D86}"/>
              </a:ext>
            </a:extLst>
          </p:cNvPr>
          <p:cNvGrpSpPr/>
          <p:nvPr/>
        </p:nvGrpSpPr>
        <p:grpSpPr>
          <a:xfrm>
            <a:off x="4352956" y="917369"/>
            <a:ext cx="168602" cy="95394"/>
            <a:chOff x="1928706" y="3559489"/>
            <a:chExt cx="227897" cy="155682"/>
          </a:xfrm>
        </p:grpSpPr>
        <p:sp>
          <p:nvSpPr>
            <p:cNvPr id="759" name="Candidate blob | editable contour">
              <a:extLst>
                <a:ext uri="{FF2B5EF4-FFF2-40B4-BE49-F238E27FC236}">
                  <a16:creationId xmlns:a16="http://schemas.microsoft.com/office/drawing/2014/main" id="{A172A8B3-EFA3-33C9-CD2B-307B24D7293D}"/>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0" name="ellipse_2612">
              <a:extLst>
                <a:ext uri="{FF2B5EF4-FFF2-40B4-BE49-F238E27FC236}">
                  <a16:creationId xmlns:a16="http://schemas.microsoft.com/office/drawing/2014/main" id="{CF37E813-914E-4383-9CE9-1C5F4095124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61" name="Find candidate blob 3">
            <a:extLst>
              <a:ext uri="{FF2B5EF4-FFF2-40B4-BE49-F238E27FC236}">
                <a16:creationId xmlns:a16="http://schemas.microsoft.com/office/drawing/2014/main" id="{D7299A48-8BF0-7050-EF56-14DA3F495CB7}"/>
              </a:ext>
            </a:extLst>
          </p:cNvPr>
          <p:cNvGrpSpPr/>
          <p:nvPr/>
        </p:nvGrpSpPr>
        <p:grpSpPr>
          <a:xfrm rot="364243">
            <a:off x="4559731" y="1028968"/>
            <a:ext cx="127658" cy="129194"/>
            <a:chOff x="1928706" y="3559489"/>
            <a:chExt cx="227897" cy="155682"/>
          </a:xfrm>
        </p:grpSpPr>
        <p:sp>
          <p:nvSpPr>
            <p:cNvPr id="762" name="Candidate blob | editable contour">
              <a:extLst>
                <a:ext uri="{FF2B5EF4-FFF2-40B4-BE49-F238E27FC236}">
                  <a16:creationId xmlns:a16="http://schemas.microsoft.com/office/drawing/2014/main" id="{8902F596-0D84-3C56-EB93-D63FC7E9041E}"/>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3" name="ellipse_2612">
              <a:extLst>
                <a:ext uri="{FF2B5EF4-FFF2-40B4-BE49-F238E27FC236}">
                  <a16:creationId xmlns:a16="http://schemas.microsoft.com/office/drawing/2014/main" id="{85D74281-2FE6-E2D2-EFBA-AF54A45686E3}"/>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765" name="Find auxiliary label">
            <a:extLst>
              <a:ext uri="{FF2B5EF4-FFF2-40B4-BE49-F238E27FC236}">
                <a16:creationId xmlns:a16="http://schemas.microsoft.com/office/drawing/2014/main" id="{CAD88599-B783-720B-B6BD-9F787FCB6CF4}"/>
              </a:ext>
            </a:extLst>
          </p:cNvPr>
          <p:cNvSpPr>
            <a:spLocks noGrp="1"/>
          </p:cNvSpPr>
          <p:nvPr/>
        </p:nvSpPr>
        <p:spPr>
          <a:xfrm>
            <a:off x="4315962" y="1518303"/>
            <a:ext cx="433362" cy="157954"/>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90" dirty="0">
                <a:solidFill>
                  <a:srgbClr val="263442"/>
                </a:solidFill>
                <a:latin typeface="Arial"/>
                <a:ea typeface="Arial"/>
                <a:cs typeface="Arial"/>
              </a:rPr>
              <a:t>Auxiliary</a:t>
            </a:r>
          </a:p>
          <a:p>
            <a:pPr algn="ctr">
              <a:defRPr sz="590" b="0">
                <a:solidFill>
                  <a:srgbClr val="263442"/>
                </a:solidFill>
                <a:latin typeface="Arial"/>
                <a:ea typeface="Arial"/>
                <a:cs typeface="Arial"/>
              </a:defRPr>
            </a:pPr>
            <a:r>
              <a:rPr sz="590" dirty="0">
                <a:solidFill>
                  <a:srgbClr val="263442"/>
                </a:solidFill>
                <a:latin typeface="Arial"/>
                <a:ea typeface="Arial"/>
                <a:cs typeface="Arial"/>
              </a:rPr>
              <a:t>features</a:t>
            </a:r>
          </a:p>
        </p:txBody>
      </p:sp>
      <p:sp>
        <p:nvSpPr>
          <p:cNvPr id="766" name="Match auxiliary label">
            <a:extLst>
              <a:ext uri="{FF2B5EF4-FFF2-40B4-BE49-F238E27FC236}">
                <a16:creationId xmlns:a16="http://schemas.microsoft.com/office/drawing/2014/main" id="{C154BF4F-4214-59BC-DCE1-F9C23194AC63}"/>
              </a:ext>
            </a:extLst>
          </p:cNvPr>
          <p:cNvSpPr>
            <a:spLocks noGrp="1"/>
          </p:cNvSpPr>
          <p:nvPr/>
        </p:nvSpPr>
        <p:spPr>
          <a:xfrm>
            <a:off x="1503472" y="2843177"/>
            <a:ext cx="405011" cy="174155"/>
          </a:xfrm>
          <a:prstGeom prst="rect">
            <a:avLst/>
          </a:prstGeom>
          <a:noFill/>
          <a:ln w="6885">
            <a:noFill/>
            <a:prstDash val="solid"/>
          </a:ln>
        </p:spPr>
        <p:txBody>
          <a:bodyPr lIns="0" tIns="0" rIns="0" bIns="0" anchor="ctr"/>
          <a:lstStyle>
            <a:defPPr algn="ctr">
              <a:defRPr sz="590" b="1">
                <a:solidFill>
                  <a:srgbClr val="263442"/>
                </a:solidFill>
                <a:latin typeface="Arial"/>
                <a:ea typeface="Arial"/>
                <a:cs typeface="Arial"/>
              </a:defRPr>
            </a:defPPr>
            <a:lvl1pPr algn="ctr">
              <a:defRPr sz="590" b="1">
                <a:solidFill>
                  <a:srgbClr val="263442"/>
                </a:solidFill>
                <a:latin typeface="Arial"/>
                <a:ea typeface="Arial"/>
                <a:cs typeface="Arial"/>
              </a:defRPr>
            </a:lvl1pPr>
            <a:lvl2pPr algn="ctr">
              <a:defRPr sz="590" b="1">
                <a:solidFill>
                  <a:srgbClr val="263442"/>
                </a:solidFill>
                <a:latin typeface="Arial"/>
                <a:ea typeface="Arial"/>
                <a:cs typeface="Arial"/>
              </a:defRPr>
            </a:lvl2pPr>
            <a:lvl3pPr algn="ctr">
              <a:defRPr sz="590" b="1">
                <a:solidFill>
                  <a:srgbClr val="263442"/>
                </a:solidFill>
                <a:latin typeface="Arial"/>
                <a:ea typeface="Arial"/>
                <a:cs typeface="Arial"/>
              </a:defRPr>
            </a:lvl3pPr>
            <a:lvl4pPr algn="ctr">
              <a:defRPr sz="590" b="1">
                <a:solidFill>
                  <a:srgbClr val="263442"/>
                </a:solidFill>
                <a:latin typeface="Arial"/>
                <a:ea typeface="Arial"/>
                <a:cs typeface="Arial"/>
              </a:defRPr>
            </a:lvl4pPr>
            <a:lvl5pPr algn="ctr">
              <a:defRPr sz="590" b="1">
                <a:solidFill>
                  <a:srgbClr val="263442"/>
                </a:solidFill>
                <a:latin typeface="Arial"/>
                <a:ea typeface="Arial"/>
                <a:cs typeface="Arial"/>
              </a:defRPr>
            </a:lvl5pPr>
            <a:lvl6pPr algn="ctr">
              <a:defRPr sz="590" b="1">
                <a:solidFill>
                  <a:srgbClr val="263442"/>
                </a:solidFill>
                <a:latin typeface="Arial"/>
                <a:ea typeface="Arial"/>
                <a:cs typeface="Arial"/>
              </a:defRPr>
            </a:lvl6pPr>
            <a:lvl7pPr algn="ctr">
              <a:defRPr sz="590" b="1">
                <a:solidFill>
                  <a:srgbClr val="263442"/>
                </a:solidFill>
                <a:latin typeface="Arial"/>
                <a:ea typeface="Arial"/>
                <a:cs typeface="Arial"/>
              </a:defRPr>
            </a:lvl7pPr>
            <a:lvl8pPr algn="ctr">
              <a:defRPr sz="590" b="1">
                <a:solidFill>
                  <a:srgbClr val="263442"/>
                </a:solidFill>
                <a:latin typeface="Arial"/>
                <a:ea typeface="Arial"/>
                <a:cs typeface="Arial"/>
              </a:defRPr>
            </a:lvl8pPr>
            <a:lvl9pPr algn="ctr">
              <a:defRPr sz="590" b="1">
                <a:solidFill>
                  <a:srgbClr val="263442"/>
                </a:solidFill>
                <a:latin typeface="Arial"/>
                <a:ea typeface="Arial"/>
                <a:cs typeface="Arial"/>
              </a:defRPr>
            </a:lvl9pPr>
          </a:lstStyle>
          <a:p>
            <a:pPr algn="ctr">
              <a:defRPr sz="590" b="1">
                <a:solidFill>
                  <a:srgbClr val="263442"/>
                </a:solidFill>
                <a:latin typeface="Arial"/>
                <a:ea typeface="Arial"/>
                <a:cs typeface="Arial"/>
              </a:defRPr>
            </a:pPr>
            <a:r>
              <a:rPr sz="590" b="0" dirty="0">
                <a:solidFill>
                  <a:srgbClr val="263442"/>
                </a:solidFill>
                <a:latin typeface="Arial"/>
                <a:ea typeface="Arial"/>
                <a:cs typeface="Arial"/>
              </a:rPr>
              <a:t>Auxiliary</a:t>
            </a:r>
          </a:p>
          <a:p>
            <a:pPr algn="ctr">
              <a:defRPr sz="590" b="1">
                <a:solidFill>
                  <a:srgbClr val="263442"/>
                </a:solidFill>
                <a:latin typeface="Arial"/>
                <a:ea typeface="Arial"/>
                <a:cs typeface="Arial"/>
              </a:defRPr>
            </a:pPr>
            <a:r>
              <a:rPr sz="590" b="0" dirty="0">
                <a:solidFill>
                  <a:srgbClr val="263442"/>
                </a:solidFill>
                <a:latin typeface="Arial"/>
                <a:ea typeface="Arial"/>
                <a:cs typeface="Arial"/>
              </a:rPr>
              <a:t>features</a:t>
            </a:r>
          </a:p>
        </p:txBody>
      </p:sp>
      <p:sp>
        <p:nvSpPr>
          <p:cNvPr id="767" name="Concat label">
            <a:extLst>
              <a:ext uri="{FF2B5EF4-FFF2-40B4-BE49-F238E27FC236}">
                <a16:creationId xmlns:a16="http://schemas.microsoft.com/office/drawing/2014/main" id="{9D20C35C-694E-CDD5-F90A-040BE36EEE21}"/>
              </a:ext>
            </a:extLst>
          </p:cNvPr>
          <p:cNvSpPr>
            <a:spLocks noGrp="1"/>
          </p:cNvSpPr>
          <p:nvPr/>
        </p:nvSpPr>
        <p:spPr>
          <a:xfrm>
            <a:off x="1106378" y="3608830"/>
            <a:ext cx="259207" cy="81002"/>
          </a:xfrm>
          <a:prstGeom prst="rect">
            <a:avLst/>
          </a:prstGeom>
          <a:noFill/>
          <a:ln w="6885">
            <a:noFill/>
            <a:prstDash val="solid"/>
          </a:ln>
        </p:spPr>
        <p:txBody>
          <a:bodyPr lIns="0" tIns="0" rIns="0" bIns="0" anchor="ctr"/>
          <a:lstStyle>
            <a:defPPr algn="ctr">
              <a:defRPr sz="568" b="0">
                <a:solidFill>
                  <a:srgbClr val="263442"/>
                </a:solidFill>
                <a:latin typeface="Arial"/>
                <a:ea typeface="Arial"/>
                <a:cs typeface="Arial"/>
              </a:defRPr>
            </a:defPPr>
            <a:lvl1pPr algn="ctr">
              <a:defRPr sz="568" b="0">
                <a:solidFill>
                  <a:srgbClr val="263442"/>
                </a:solidFill>
                <a:latin typeface="Arial"/>
                <a:ea typeface="Arial"/>
                <a:cs typeface="Arial"/>
              </a:defRPr>
            </a:lvl1pPr>
            <a:lvl2pPr algn="ctr">
              <a:defRPr sz="568" b="0">
                <a:solidFill>
                  <a:srgbClr val="263442"/>
                </a:solidFill>
                <a:latin typeface="Arial"/>
                <a:ea typeface="Arial"/>
                <a:cs typeface="Arial"/>
              </a:defRPr>
            </a:lvl2pPr>
            <a:lvl3pPr algn="ctr">
              <a:defRPr sz="568" b="0">
                <a:solidFill>
                  <a:srgbClr val="263442"/>
                </a:solidFill>
                <a:latin typeface="Arial"/>
                <a:ea typeface="Arial"/>
                <a:cs typeface="Arial"/>
              </a:defRPr>
            </a:lvl3pPr>
            <a:lvl4pPr algn="ctr">
              <a:defRPr sz="568" b="0">
                <a:solidFill>
                  <a:srgbClr val="263442"/>
                </a:solidFill>
                <a:latin typeface="Arial"/>
                <a:ea typeface="Arial"/>
                <a:cs typeface="Arial"/>
              </a:defRPr>
            </a:lvl4pPr>
            <a:lvl5pPr algn="ctr">
              <a:defRPr sz="568" b="0">
                <a:solidFill>
                  <a:srgbClr val="263442"/>
                </a:solidFill>
                <a:latin typeface="Arial"/>
                <a:ea typeface="Arial"/>
                <a:cs typeface="Arial"/>
              </a:defRPr>
            </a:lvl5pPr>
            <a:lvl6pPr algn="ctr">
              <a:defRPr sz="568" b="0">
                <a:solidFill>
                  <a:srgbClr val="263442"/>
                </a:solidFill>
                <a:latin typeface="Arial"/>
                <a:ea typeface="Arial"/>
                <a:cs typeface="Arial"/>
              </a:defRPr>
            </a:lvl6pPr>
            <a:lvl7pPr algn="ctr">
              <a:defRPr sz="568" b="0">
                <a:solidFill>
                  <a:srgbClr val="263442"/>
                </a:solidFill>
                <a:latin typeface="Arial"/>
                <a:ea typeface="Arial"/>
                <a:cs typeface="Arial"/>
              </a:defRPr>
            </a:lvl7pPr>
            <a:lvl8pPr algn="ctr">
              <a:defRPr sz="568" b="0">
                <a:solidFill>
                  <a:srgbClr val="263442"/>
                </a:solidFill>
                <a:latin typeface="Arial"/>
                <a:ea typeface="Arial"/>
                <a:cs typeface="Arial"/>
              </a:defRPr>
            </a:lvl8pPr>
            <a:lvl9pPr algn="ctr">
              <a:defRPr sz="568" b="0">
                <a:solidFill>
                  <a:srgbClr val="263442"/>
                </a:solidFill>
                <a:latin typeface="Arial"/>
                <a:ea typeface="Arial"/>
                <a:cs typeface="Arial"/>
              </a:defRPr>
            </a:lvl9pPr>
          </a:lstStyle>
          <a:p>
            <a:pPr algn="ctr">
              <a:defRPr sz="568" b="0">
                <a:solidFill>
                  <a:srgbClr val="263442"/>
                </a:solidFill>
                <a:latin typeface="Arial"/>
                <a:ea typeface="Arial"/>
                <a:cs typeface="Arial"/>
              </a:defRPr>
            </a:pPr>
            <a:r>
              <a:rPr sz="568" dirty="0" err="1">
                <a:solidFill>
                  <a:srgbClr val="263442"/>
                </a:solidFill>
                <a:latin typeface="Arial"/>
                <a:ea typeface="Arial"/>
                <a:cs typeface="Arial"/>
              </a:rPr>
              <a:t>Concat</a:t>
            </a:r>
            <a:endParaRPr sz="568" dirty="0">
              <a:solidFill>
                <a:srgbClr val="263442"/>
              </a:solidFill>
              <a:latin typeface="Arial"/>
              <a:ea typeface="Arial"/>
              <a:cs typeface="Arial"/>
            </a:endParaRPr>
          </a:p>
        </p:txBody>
      </p:sp>
      <p:grpSp>
        <p:nvGrpSpPr>
          <p:cNvPr id="1248" name="Unified flow and feature elements">
            <a:extLst>
              <a:ext uri="{FF2B5EF4-FFF2-40B4-BE49-F238E27FC236}">
                <a16:creationId xmlns:a16="http://schemas.microsoft.com/office/drawing/2014/main" id="{DA74696D-FF4F-021F-A459-9CD0851351CF}"/>
              </a:ext>
            </a:extLst>
          </p:cNvPr>
          <p:cNvGrpSpPr/>
          <p:nvPr/>
        </p:nvGrpSpPr>
        <p:grpSpPr>
          <a:xfrm>
            <a:off x="966222" y="284723"/>
            <a:ext cx="3748525" cy="3967446"/>
            <a:chOff x="2272349" y="669608"/>
            <a:chExt cx="8815739" cy="9330594"/>
          </a:xfrm>
        </p:grpSpPr>
        <p:sp>
          <p:nvSpPr>
            <p:cNvPr id="1249" name="Preprocessing refined">
              <a:extLst>
                <a:ext uri="{FF2B5EF4-FFF2-40B4-BE49-F238E27FC236}">
                  <a16:creationId xmlns:a16="http://schemas.microsoft.com/office/drawing/2014/main" id="{A3A31885-181B-CF24-BE30-3ED8DAACE460}"/>
                </a:ext>
              </a:extLst>
            </p:cNvPr>
            <p:cNvSpPr>
              <a:spLocks noGrp="1"/>
            </p:cNvSpPr>
            <p:nvPr/>
          </p:nvSpPr>
          <p:spPr>
            <a:xfrm>
              <a:off x="3122581" y="669608"/>
              <a:ext cx="1028701" cy="3460433"/>
            </a:xfrm>
            <a:prstGeom prst="roundRect">
              <a:avLst>
                <a:gd name="adj" fmla="val 6481"/>
              </a:avLst>
            </a:prstGeom>
            <a:solidFill>
              <a:srgbClr val="E8EFF7"/>
            </a:solidFill>
            <a:ln w="7290">
              <a:solidFill>
                <a:srgbClr val="BEC7CE"/>
              </a:solidFill>
            </a:ln>
          </p:spPr>
        </p:sp>
        <p:sp>
          <p:nvSpPr>
            <p:cNvPr id="1250" name="Preprocessing divider refined">
              <a:extLst>
                <a:ext uri="{FF2B5EF4-FFF2-40B4-BE49-F238E27FC236}">
                  <a16:creationId xmlns:a16="http://schemas.microsoft.com/office/drawing/2014/main" id="{E21BD2F9-92DD-96F0-3AAF-0957638A49FB}"/>
                </a:ext>
              </a:extLst>
            </p:cNvPr>
            <p:cNvSpPr>
              <a:spLocks noGrp="1"/>
            </p:cNvSpPr>
            <p:nvPr/>
          </p:nvSpPr>
          <p:spPr>
            <a:xfrm>
              <a:off x="3199219" y="2418363"/>
              <a:ext cx="800100" cy="190"/>
            </a:xfrm>
            <a:custGeom>
              <a:avLst/>
              <a:gdLst/>
              <a:ahLst/>
              <a:cxnLst/>
              <a:rect l="0" t="0" r="0" b="0"/>
              <a:pathLst>
                <a:path w="800100" h="191">
                  <a:moveTo>
                    <a:pt x="0" y="0"/>
                  </a:moveTo>
                  <a:lnTo>
                    <a:pt x="800100" y="0"/>
                  </a:lnTo>
                </a:path>
              </a:pathLst>
            </a:custGeom>
            <a:noFill/>
            <a:ln w="6075">
              <a:solidFill>
                <a:srgbClr val="C8CFD4"/>
              </a:solidFill>
              <a:prstDash val="solid"/>
            </a:ln>
          </p:spPr>
        </p:sp>
        <p:sp>
          <p:nvSpPr>
            <p:cNvPr id="1251" name="Density bank refined">
              <a:extLst>
                <a:ext uri="{FF2B5EF4-FFF2-40B4-BE49-F238E27FC236}">
                  <a16:creationId xmlns:a16="http://schemas.microsoft.com/office/drawing/2014/main" id="{1E51E71A-A2BC-0776-E4CA-D30FBB1BE241}"/>
                </a:ext>
              </a:extLst>
            </p:cNvPr>
            <p:cNvSpPr>
              <a:spLocks noGrp="1"/>
            </p:cNvSpPr>
            <p:nvPr/>
          </p:nvSpPr>
          <p:spPr>
            <a:xfrm>
              <a:off x="3160769" y="695478"/>
              <a:ext cx="990599" cy="457199"/>
            </a:xfrm>
            <a:prstGeom prst="rect">
              <a:avLst/>
            </a:prstGeom>
            <a:noFill/>
            <a:ln w="7290">
              <a:noFill/>
            </a:ln>
          </p:spPr>
          <p:txBody>
            <a:bodyPr lIns="0" tIns="0" rIns="0" bIns="0" anchor="ctr"/>
            <a:lstStyle>
              <a:defPPr algn="ctr">
                <a:defRPr sz="612">
                  <a:solidFill>
                    <a:srgbClr val="263442"/>
                  </a:solidFill>
                  <a:latin typeface="Arial"/>
                  <a:ea typeface="Arial"/>
                  <a:cs typeface="Arial"/>
                </a:defRPr>
              </a:defPPr>
              <a:lvl1pPr algn="ctr">
                <a:defRPr sz="612">
                  <a:solidFill>
                    <a:srgbClr val="263442"/>
                  </a:solidFill>
                  <a:latin typeface="Arial"/>
                  <a:ea typeface="Arial"/>
                  <a:cs typeface="Arial"/>
                </a:defRPr>
              </a:lvl1pPr>
              <a:lvl2pPr algn="ctr">
                <a:defRPr sz="612">
                  <a:solidFill>
                    <a:srgbClr val="263442"/>
                  </a:solidFill>
                  <a:latin typeface="Arial"/>
                  <a:ea typeface="Arial"/>
                  <a:cs typeface="Arial"/>
                </a:defRPr>
              </a:lvl2pPr>
              <a:lvl3pPr algn="ctr">
                <a:defRPr sz="612">
                  <a:solidFill>
                    <a:srgbClr val="263442"/>
                  </a:solidFill>
                  <a:latin typeface="Arial"/>
                  <a:ea typeface="Arial"/>
                  <a:cs typeface="Arial"/>
                </a:defRPr>
              </a:lvl3pPr>
              <a:lvl4pPr algn="ctr">
                <a:defRPr sz="612">
                  <a:solidFill>
                    <a:srgbClr val="263442"/>
                  </a:solidFill>
                  <a:latin typeface="Arial"/>
                  <a:ea typeface="Arial"/>
                  <a:cs typeface="Arial"/>
                </a:defRPr>
              </a:lvl4pPr>
              <a:lvl5pPr algn="ctr">
                <a:defRPr sz="612">
                  <a:solidFill>
                    <a:srgbClr val="263442"/>
                  </a:solidFill>
                  <a:latin typeface="Arial"/>
                  <a:ea typeface="Arial"/>
                  <a:cs typeface="Arial"/>
                </a:defRPr>
              </a:lvl5pPr>
              <a:lvl6pPr algn="ctr">
                <a:defRPr sz="612">
                  <a:solidFill>
                    <a:srgbClr val="263442"/>
                  </a:solidFill>
                  <a:latin typeface="Arial"/>
                  <a:ea typeface="Arial"/>
                  <a:cs typeface="Arial"/>
                </a:defRPr>
              </a:lvl6pPr>
              <a:lvl7pPr algn="ctr">
                <a:defRPr sz="612">
                  <a:solidFill>
                    <a:srgbClr val="263442"/>
                  </a:solidFill>
                  <a:latin typeface="Arial"/>
                  <a:ea typeface="Arial"/>
                  <a:cs typeface="Arial"/>
                </a:defRPr>
              </a:lvl7pPr>
              <a:lvl8pPr algn="ctr">
                <a:defRPr sz="612">
                  <a:solidFill>
                    <a:srgbClr val="263442"/>
                  </a:solidFill>
                  <a:latin typeface="Arial"/>
                  <a:ea typeface="Arial"/>
                  <a:cs typeface="Arial"/>
                </a:defRPr>
              </a:lvl8pPr>
              <a:lvl9pPr algn="ctr">
                <a:defRPr sz="612">
                  <a:solidFill>
                    <a:srgbClr val="263442"/>
                  </a:solidFill>
                  <a:latin typeface="Arial"/>
                  <a:ea typeface="Arial"/>
                  <a:cs typeface="Arial"/>
                </a:defRPr>
              </a:lvl9pPr>
            </a:lstStyle>
            <a:p>
              <a:pPr algn="ctr">
                <a:defRPr sz="612">
                  <a:solidFill>
                    <a:srgbClr val="263442"/>
                  </a:solidFill>
                  <a:latin typeface="Arial"/>
                  <a:ea typeface="Arial"/>
                  <a:cs typeface="Arial"/>
                </a:defRPr>
              </a:pPr>
              <a:r>
                <a:rPr sz="550" dirty="0">
                  <a:solidFill>
                    <a:srgbClr val="263442"/>
                  </a:solidFill>
                  <a:latin typeface="Arial"/>
                  <a:ea typeface="Arial"/>
                  <a:cs typeface="Arial"/>
                </a:rPr>
                <a:t>Density</a:t>
              </a:r>
            </a:p>
            <a:p>
              <a:pPr algn="ctr">
                <a:defRPr sz="612">
                  <a:solidFill>
                    <a:srgbClr val="263442"/>
                  </a:solidFill>
                  <a:latin typeface="Arial"/>
                  <a:ea typeface="Arial"/>
                  <a:cs typeface="Arial"/>
                </a:defRPr>
              </a:pPr>
              <a:r>
                <a:rPr lang="en-US" sz="550" dirty="0">
                  <a:solidFill>
                    <a:srgbClr val="263442"/>
                  </a:solidFill>
                  <a:latin typeface="Arial"/>
                  <a:ea typeface="Arial"/>
                  <a:cs typeface="Arial"/>
                </a:rPr>
                <a:t>B</a:t>
              </a:r>
              <a:r>
                <a:rPr sz="550" dirty="0">
                  <a:solidFill>
                    <a:srgbClr val="263442"/>
                  </a:solidFill>
                  <a:latin typeface="Arial"/>
                  <a:ea typeface="Arial"/>
                  <a:cs typeface="Arial"/>
                </a:rPr>
                <a:t>ank</a:t>
              </a:r>
            </a:p>
          </p:txBody>
        </p:sp>
        <p:sp>
          <p:nvSpPr>
            <p:cNvPr id="1252" name="Embedding head refined">
              <a:extLst>
                <a:ext uri="{FF2B5EF4-FFF2-40B4-BE49-F238E27FC236}">
                  <a16:creationId xmlns:a16="http://schemas.microsoft.com/office/drawing/2014/main" id="{58C61B38-F8DB-1F98-DEE4-C9D7130E2730}"/>
                </a:ext>
              </a:extLst>
            </p:cNvPr>
            <p:cNvSpPr>
              <a:spLocks noGrp="1"/>
            </p:cNvSpPr>
            <p:nvPr/>
          </p:nvSpPr>
          <p:spPr>
            <a:xfrm>
              <a:off x="3122433" y="2542570"/>
              <a:ext cx="990599" cy="457199"/>
            </a:xfrm>
            <a:prstGeom prst="rect">
              <a:avLst/>
            </a:prstGeom>
            <a:noFill/>
            <a:ln w="7290">
              <a:noFill/>
            </a:ln>
          </p:spPr>
          <p:txBody>
            <a:bodyPr lIns="0" tIns="0" rIns="0" bIns="0" anchor="ctr"/>
            <a:lstStyle>
              <a:defPPr algn="ctr">
                <a:defRPr sz="612">
                  <a:solidFill>
                    <a:srgbClr val="263442"/>
                  </a:solidFill>
                  <a:latin typeface="Arial"/>
                  <a:ea typeface="Arial"/>
                  <a:cs typeface="Arial"/>
                </a:defRPr>
              </a:defPPr>
              <a:lvl1pPr algn="ctr">
                <a:defRPr sz="612">
                  <a:solidFill>
                    <a:srgbClr val="263442"/>
                  </a:solidFill>
                  <a:latin typeface="Arial"/>
                  <a:ea typeface="Arial"/>
                  <a:cs typeface="Arial"/>
                </a:defRPr>
              </a:lvl1pPr>
              <a:lvl2pPr algn="ctr">
                <a:defRPr sz="612">
                  <a:solidFill>
                    <a:srgbClr val="263442"/>
                  </a:solidFill>
                  <a:latin typeface="Arial"/>
                  <a:ea typeface="Arial"/>
                  <a:cs typeface="Arial"/>
                </a:defRPr>
              </a:lvl2pPr>
              <a:lvl3pPr algn="ctr">
                <a:defRPr sz="612">
                  <a:solidFill>
                    <a:srgbClr val="263442"/>
                  </a:solidFill>
                  <a:latin typeface="Arial"/>
                  <a:ea typeface="Arial"/>
                  <a:cs typeface="Arial"/>
                </a:defRPr>
              </a:lvl3pPr>
              <a:lvl4pPr algn="ctr">
                <a:defRPr sz="612">
                  <a:solidFill>
                    <a:srgbClr val="263442"/>
                  </a:solidFill>
                  <a:latin typeface="Arial"/>
                  <a:ea typeface="Arial"/>
                  <a:cs typeface="Arial"/>
                </a:defRPr>
              </a:lvl4pPr>
              <a:lvl5pPr algn="ctr">
                <a:defRPr sz="612">
                  <a:solidFill>
                    <a:srgbClr val="263442"/>
                  </a:solidFill>
                  <a:latin typeface="Arial"/>
                  <a:ea typeface="Arial"/>
                  <a:cs typeface="Arial"/>
                </a:defRPr>
              </a:lvl5pPr>
              <a:lvl6pPr algn="ctr">
                <a:defRPr sz="612">
                  <a:solidFill>
                    <a:srgbClr val="263442"/>
                  </a:solidFill>
                  <a:latin typeface="Arial"/>
                  <a:ea typeface="Arial"/>
                  <a:cs typeface="Arial"/>
                </a:defRPr>
              </a:lvl6pPr>
              <a:lvl7pPr algn="ctr">
                <a:defRPr sz="612">
                  <a:solidFill>
                    <a:srgbClr val="263442"/>
                  </a:solidFill>
                  <a:latin typeface="Arial"/>
                  <a:ea typeface="Arial"/>
                  <a:cs typeface="Arial"/>
                </a:defRPr>
              </a:lvl7pPr>
              <a:lvl8pPr algn="ctr">
                <a:defRPr sz="612">
                  <a:solidFill>
                    <a:srgbClr val="263442"/>
                  </a:solidFill>
                  <a:latin typeface="Arial"/>
                  <a:ea typeface="Arial"/>
                  <a:cs typeface="Arial"/>
                </a:defRPr>
              </a:lvl8pPr>
              <a:lvl9pPr algn="ctr">
                <a:defRPr sz="612">
                  <a:solidFill>
                    <a:srgbClr val="263442"/>
                  </a:solidFill>
                  <a:latin typeface="Arial"/>
                  <a:ea typeface="Arial"/>
                  <a:cs typeface="Arial"/>
                </a:defRPr>
              </a:lvl9pPr>
            </a:lstStyle>
            <a:p>
              <a:pPr algn="ctr">
                <a:defRPr sz="612">
                  <a:solidFill>
                    <a:srgbClr val="263442"/>
                  </a:solidFill>
                  <a:latin typeface="Arial"/>
                  <a:ea typeface="Arial"/>
                  <a:cs typeface="Arial"/>
                </a:defRPr>
              </a:pPr>
              <a:r>
                <a:rPr lang="en-US" sz="550" dirty="0">
                  <a:solidFill>
                    <a:srgbClr val="263442"/>
                  </a:solidFill>
                  <a:latin typeface="Arial"/>
                  <a:ea typeface="Arial"/>
                  <a:cs typeface="Arial"/>
                </a:rPr>
                <a:t>Atom embeddings</a:t>
              </a:r>
              <a:endParaRPr sz="550" dirty="0">
                <a:solidFill>
                  <a:srgbClr val="263442"/>
                </a:solidFill>
                <a:latin typeface="Arial"/>
                <a:ea typeface="Arial"/>
                <a:cs typeface="Arial"/>
              </a:endParaRPr>
            </a:p>
          </p:txBody>
        </p:sp>
        <p:sp>
          <p:nvSpPr>
            <p:cNvPr id="1253" name="Find matrix 0-0">
              <a:extLst>
                <a:ext uri="{FF2B5EF4-FFF2-40B4-BE49-F238E27FC236}">
                  <a16:creationId xmlns:a16="http://schemas.microsoft.com/office/drawing/2014/main" id="{BBF0C328-3AF9-A068-FA92-FBF890856A66}"/>
                </a:ext>
              </a:extLst>
            </p:cNvPr>
            <p:cNvSpPr>
              <a:spLocks noGrp="1"/>
            </p:cNvSpPr>
            <p:nvPr/>
          </p:nvSpPr>
          <p:spPr>
            <a:xfrm>
              <a:off x="10255382" y="3200400"/>
              <a:ext cx="91559" cy="70009"/>
            </a:xfrm>
            <a:prstGeom prst="rect">
              <a:avLst/>
            </a:prstGeom>
            <a:solidFill>
              <a:srgbClr val="3E8F9A"/>
            </a:solidFill>
            <a:ln w="7290">
              <a:noFill/>
            </a:ln>
          </p:spPr>
        </p:sp>
        <p:sp>
          <p:nvSpPr>
            <p:cNvPr id="1254" name="Find matrix 0-1">
              <a:extLst>
                <a:ext uri="{FF2B5EF4-FFF2-40B4-BE49-F238E27FC236}">
                  <a16:creationId xmlns:a16="http://schemas.microsoft.com/office/drawing/2014/main" id="{3474DD36-B24E-DC42-848D-72CE3DEC2274}"/>
                </a:ext>
              </a:extLst>
            </p:cNvPr>
            <p:cNvSpPr>
              <a:spLocks noGrp="1"/>
            </p:cNvSpPr>
            <p:nvPr/>
          </p:nvSpPr>
          <p:spPr>
            <a:xfrm>
              <a:off x="10351227" y="3200400"/>
              <a:ext cx="91559" cy="70009"/>
            </a:xfrm>
            <a:prstGeom prst="rect">
              <a:avLst/>
            </a:prstGeom>
            <a:solidFill>
              <a:srgbClr val="5B9FB6"/>
            </a:solidFill>
            <a:ln w="7290">
              <a:noFill/>
            </a:ln>
          </p:spPr>
        </p:sp>
        <p:sp>
          <p:nvSpPr>
            <p:cNvPr id="1255" name="Find matrix 0-2">
              <a:extLst>
                <a:ext uri="{FF2B5EF4-FFF2-40B4-BE49-F238E27FC236}">
                  <a16:creationId xmlns:a16="http://schemas.microsoft.com/office/drawing/2014/main" id="{F807BDD1-EE13-F00C-2E77-C8910F6ACC73}"/>
                </a:ext>
              </a:extLst>
            </p:cNvPr>
            <p:cNvSpPr>
              <a:spLocks noGrp="1"/>
            </p:cNvSpPr>
            <p:nvPr/>
          </p:nvSpPr>
          <p:spPr>
            <a:xfrm>
              <a:off x="10447072" y="3200400"/>
              <a:ext cx="91559" cy="70009"/>
            </a:xfrm>
            <a:prstGeom prst="rect">
              <a:avLst/>
            </a:prstGeom>
            <a:solidFill>
              <a:srgbClr val="A3CDDA"/>
            </a:solidFill>
            <a:ln w="7290">
              <a:noFill/>
            </a:ln>
          </p:spPr>
        </p:sp>
        <p:sp>
          <p:nvSpPr>
            <p:cNvPr id="1256" name="Find matrix 0-3">
              <a:extLst>
                <a:ext uri="{FF2B5EF4-FFF2-40B4-BE49-F238E27FC236}">
                  <a16:creationId xmlns:a16="http://schemas.microsoft.com/office/drawing/2014/main" id="{DB1A890F-778A-35C9-7AE1-C0AE618D52CF}"/>
                </a:ext>
              </a:extLst>
            </p:cNvPr>
            <p:cNvSpPr>
              <a:spLocks noGrp="1"/>
            </p:cNvSpPr>
            <p:nvPr/>
          </p:nvSpPr>
          <p:spPr>
            <a:xfrm>
              <a:off x="10542917" y="3200400"/>
              <a:ext cx="91559" cy="70009"/>
            </a:xfrm>
            <a:prstGeom prst="rect">
              <a:avLst/>
            </a:prstGeom>
            <a:solidFill>
              <a:srgbClr val="88BEC3"/>
            </a:solidFill>
            <a:ln w="7290">
              <a:noFill/>
            </a:ln>
          </p:spPr>
        </p:sp>
        <p:sp>
          <p:nvSpPr>
            <p:cNvPr id="1257" name="Find matrix 0-4">
              <a:extLst>
                <a:ext uri="{FF2B5EF4-FFF2-40B4-BE49-F238E27FC236}">
                  <a16:creationId xmlns:a16="http://schemas.microsoft.com/office/drawing/2014/main" id="{B445D6B3-6FC7-4615-5975-85730846D82F}"/>
                </a:ext>
              </a:extLst>
            </p:cNvPr>
            <p:cNvSpPr>
              <a:spLocks noGrp="1"/>
            </p:cNvSpPr>
            <p:nvPr/>
          </p:nvSpPr>
          <p:spPr>
            <a:xfrm>
              <a:off x="10638763" y="3200400"/>
              <a:ext cx="91559" cy="70009"/>
            </a:xfrm>
            <a:prstGeom prst="rect">
              <a:avLst/>
            </a:prstGeom>
            <a:solidFill>
              <a:srgbClr val="67AD9F"/>
            </a:solidFill>
            <a:ln w="7290">
              <a:noFill/>
            </a:ln>
          </p:spPr>
        </p:sp>
        <p:sp>
          <p:nvSpPr>
            <p:cNvPr id="1258" name="Find matrix 0-5">
              <a:extLst>
                <a:ext uri="{FF2B5EF4-FFF2-40B4-BE49-F238E27FC236}">
                  <a16:creationId xmlns:a16="http://schemas.microsoft.com/office/drawing/2014/main" id="{EDF77049-6933-CA1B-21BD-2D261FB460F5}"/>
                </a:ext>
              </a:extLst>
            </p:cNvPr>
            <p:cNvSpPr>
              <a:spLocks noGrp="1"/>
            </p:cNvSpPr>
            <p:nvPr/>
          </p:nvSpPr>
          <p:spPr>
            <a:xfrm>
              <a:off x="10734608" y="3200400"/>
              <a:ext cx="91559" cy="70009"/>
            </a:xfrm>
            <a:prstGeom prst="rect">
              <a:avLst/>
            </a:prstGeom>
            <a:solidFill>
              <a:srgbClr val="C4DDE0"/>
            </a:solidFill>
            <a:ln w="7290">
              <a:noFill/>
            </a:ln>
          </p:spPr>
        </p:sp>
        <p:sp>
          <p:nvSpPr>
            <p:cNvPr id="1259" name="Find matrix 0-6">
              <a:extLst>
                <a:ext uri="{FF2B5EF4-FFF2-40B4-BE49-F238E27FC236}">
                  <a16:creationId xmlns:a16="http://schemas.microsoft.com/office/drawing/2014/main" id="{F24780FB-09E3-AE39-557B-018C817CABA7}"/>
                </a:ext>
              </a:extLst>
            </p:cNvPr>
            <p:cNvSpPr>
              <a:spLocks noGrp="1"/>
            </p:cNvSpPr>
            <p:nvPr/>
          </p:nvSpPr>
          <p:spPr>
            <a:xfrm>
              <a:off x="10830453" y="3200400"/>
              <a:ext cx="91559" cy="70009"/>
            </a:xfrm>
            <a:prstGeom prst="rect">
              <a:avLst/>
            </a:prstGeom>
            <a:solidFill>
              <a:srgbClr val="B6D8CC"/>
            </a:solidFill>
            <a:ln w="7290">
              <a:noFill/>
            </a:ln>
          </p:spPr>
        </p:sp>
        <p:sp>
          <p:nvSpPr>
            <p:cNvPr id="1260" name="Find matrix 0-7">
              <a:extLst>
                <a:ext uri="{FF2B5EF4-FFF2-40B4-BE49-F238E27FC236}">
                  <a16:creationId xmlns:a16="http://schemas.microsoft.com/office/drawing/2014/main" id="{69791062-44B8-8426-AAD4-DD68B1FF31BA}"/>
                </a:ext>
              </a:extLst>
            </p:cNvPr>
            <p:cNvSpPr>
              <a:spLocks noGrp="1"/>
            </p:cNvSpPr>
            <p:nvPr/>
          </p:nvSpPr>
          <p:spPr>
            <a:xfrm>
              <a:off x="10926299" y="3200400"/>
              <a:ext cx="91559" cy="70009"/>
            </a:xfrm>
            <a:prstGeom prst="rect">
              <a:avLst/>
            </a:prstGeom>
            <a:solidFill>
              <a:srgbClr val="D6E5ED"/>
            </a:solidFill>
            <a:ln w="7290">
              <a:noFill/>
            </a:ln>
          </p:spPr>
        </p:sp>
        <p:sp>
          <p:nvSpPr>
            <p:cNvPr id="1261" name="Find matrix 1-0">
              <a:extLst>
                <a:ext uri="{FF2B5EF4-FFF2-40B4-BE49-F238E27FC236}">
                  <a16:creationId xmlns:a16="http://schemas.microsoft.com/office/drawing/2014/main" id="{DAD773D5-9108-C0B7-81D5-AC1CF98B49B0}"/>
                </a:ext>
              </a:extLst>
            </p:cNvPr>
            <p:cNvSpPr>
              <a:spLocks noGrp="1"/>
            </p:cNvSpPr>
            <p:nvPr/>
          </p:nvSpPr>
          <p:spPr>
            <a:xfrm>
              <a:off x="10255382" y="3274695"/>
              <a:ext cx="91559" cy="70009"/>
            </a:xfrm>
            <a:prstGeom prst="rect">
              <a:avLst/>
            </a:prstGeom>
            <a:solidFill>
              <a:srgbClr val="A3CDDA"/>
            </a:solidFill>
            <a:ln w="7290">
              <a:noFill/>
            </a:ln>
          </p:spPr>
        </p:sp>
        <p:sp>
          <p:nvSpPr>
            <p:cNvPr id="1262" name="Find matrix 1-1">
              <a:extLst>
                <a:ext uri="{FF2B5EF4-FFF2-40B4-BE49-F238E27FC236}">
                  <a16:creationId xmlns:a16="http://schemas.microsoft.com/office/drawing/2014/main" id="{FD6D65E0-3CD4-81C9-A7EC-EE4D1EA03DA1}"/>
                </a:ext>
              </a:extLst>
            </p:cNvPr>
            <p:cNvSpPr>
              <a:spLocks noGrp="1"/>
            </p:cNvSpPr>
            <p:nvPr/>
          </p:nvSpPr>
          <p:spPr>
            <a:xfrm>
              <a:off x="10351227" y="3274695"/>
              <a:ext cx="91559" cy="70009"/>
            </a:xfrm>
            <a:prstGeom prst="rect">
              <a:avLst/>
            </a:prstGeom>
            <a:solidFill>
              <a:srgbClr val="B6D8CC"/>
            </a:solidFill>
            <a:ln w="7290">
              <a:noFill/>
            </a:ln>
          </p:spPr>
        </p:sp>
        <p:sp>
          <p:nvSpPr>
            <p:cNvPr id="1263" name="Find matrix 1-2">
              <a:extLst>
                <a:ext uri="{FF2B5EF4-FFF2-40B4-BE49-F238E27FC236}">
                  <a16:creationId xmlns:a16="http://schemas.microsoft.com/office/drawing/2014/main" id="{C06E5EF8-D1B9-1DB5-4010-25CDECE16DF3}"/>
                </a:ext>
              </a:extLst>
            </p:cNvPr>
            <p:cNvSpPr>
              <a:spLocks noGrp="1"/>
            </p:cNvSpPr>
            <p:nvPr/>
          </p:nvSpPr>
          <p:spPr>
            <a:xfrm>
              <a:off x="10447072" y="3274695"/>
              <a:ext cx="91559" cy="70009"/>
            </a:xfrm>
            <a:prstGeom prst="rect">
              <a:avLst/>
            </a:prstGeom>
            <a:solidFill>
              <a:srgbClr val="88BEC3"/>
            </a:solidFill>
            <a:ln w="7290">
              <a:noFill/>
            </a:ln>
          </p:spPr>
        </p:sp>
        <p:sp>
          <p:nvSpPr>
            <p:cNvPr id="1264" name="Find matrix 1-3">
              <a:extLst>
                <a:ext uri="{FF2B5EF4-FFF2-40B4-BE49-F238E27FC236}">
                  <a16:creationId xmlns:a16="http://schemas.microsoft.com/office/drawing/2014/main" id="{9AD5706A-D366-481E-242D-C3727EE68292}"/>
                </a:ext>
              </a:extLst>
            </p:cNvPr>
            <p:cNvSpPr>
              <a:spLocks noGrp="1"/>
            </p:cNvSpPr>
            <p:nvPr/>
          </p:nvSpPr>
          <p:spPr>
            <a:xfrm>
              <a:off x="10542917" y="3274695"/>
              <a:ext cx="91559" cy="70009"/>
            </a:xfrm>
            <a:prstGeom prst="rect">
              <a:avLst/>
            </a:prstGeom>
            <a:solidFill>
              <a:srgbClr val="D6E5ED"/>
            </a:solidFill>
            <a:ln w="7290">
              <a:noFill/>
            </a:ln>
          </p:spPr>
        </p:sp>
        <p:sp>
          <p:nvSpPr>
            <p:cNvPr id="1265" name="Find matrix 1-4">
              <a:extLst>
                <a:ext uri="{FF2B5EF4-FFF2-40B4-BE49-F238E27FC236}">
                  <a16:creationId xmlns:a16="http://schemas.microsoft.com/office/drawing/2014/main" id="{6454B603-2435-1F3E-EFE1-9F3ED69FE183}"/>
                </a:ext>
              </a:extLst>
            </p:cNvPr>
            <p:cNvSpPr>
              <a:spLocks noGrp="1"/>
            </p:cNvSpPr>
            <p:nvPr/>
          </p:nvSpPr>
          <p:spPr>
            <a:xfrm>
              <a:off x="10638763" y="3274695"/>
              <a:ext cx="91559" cy="70009"/>
            </a:xfrm>
            <a:prstGeom prst="rect">
              <a:avLst/>
            </a:prstGeom>
            <a:solidFill>
              <a:srgbClr val="5B9FB6"/>
            </a:solidFill>
            <a:ln w="7290">
              <a:noFill/>
            </a:ln>
          </p:spPr>
        </p:sp>
        <p:sp>
          <p:nvSpPr>
            <p:cNvPr id="1266" name="Find matrix 1-5">
              <a:extLst>
                <a:ext uri="{FF2B5EF4-FFF2-40B4-BE49-F238E27FC236}">
                  <a16:creationId xmlns:a16="http://schemas.microsoft.com/office/drawing/2014/main" id="{BDC3058F-5BB6-EF0A-C0E4-8FFF478A86C2}"/>
                </a:ext>
              </a:extLst>
            </p:cNvPr>
            <p:cNvSpPr>
              <a:spLocks noGrp="1"/>
            </p:cNvSpPr>
            <p:nvPr/>
          </p:nvSpPr>
          <p:spPr>
            <a:xfrm>
              <a:off x="10734608" y="3274695"/>
              <a:ext cx="91559" cy="70009"/>
            </a:xfrm>
            <a:prstGeom prst="rect">
              <a:avLst/>
            </a:prstGeom>
            <a:solidFill>
              <a:srgbClr val="3E8F9A"/>
            </a:solidFill>
            <a:ln w="7290">
              <a:noFill/>
            </a:ln>
          </p:spPr>
        </p:sp>
        <p:sp>
          <p:nvSpPr>
            <p:cNvPr id="1267" name="Find matrix 1-6">
              <a:extLst>
                <a:ext uri="{FF2B5EF4-FFF2-40B4-BE49-F238E27FC236}">
                  <a16:creationId xmlns:a16="http://schemas.microsoft.com/office/drawing/2014/main" id="{7A6FD57F-2D4A-E860-6015-70841E18A307}"/>
                </a:ext>
              </a:extLst>
            </p:cNvPr>
            <p:cNvSpPr>
              <a:spLocks noGrp="1"/>
            </p:cNvSpPr>
            <p:nvPr/>
          </p:nvSpPr>
          <p:spPr>
            <a:xfrm>
              <a:off x="10830453" y="3274695"/>
              <a:ext cx="91559" cy="70009"/>
            </a:xfrm>
            <a:prstGeom prst="rect">
              <a:avLst/>
            </a:prstGeom>
            <a:solidFill>
              <a:srgbClr val="C4DDE0"/>
            </a:solidFill>
            <a:ln w="7290">
              <a:noFill/>
            </a:ln>
          </p:spPr>
        </p:sp>
        <p:sp>
          <p:nvSpPr>
            <p:cNvPr id="1268" name="Find matrix 1-7">
              <a:extLst>
                <a:ext uri="{FF2B5EF4-FFF2-40B4-BE49-F238E27FC236}">
                  <a16:creationId xmlns:a16="http://schemas.microsoft.com/office/drawing/2014/main" id="{289EF4F7-DDB6-5545-39F7-5D1B3F86D2D3}"/>
                </a:ext>
              </a:extLst>
            </p:cNvPr>
            <p:cNvSpPr>
              <a:spLocks noGrp="1"/>
            </p:cNvSpPr>
            <p:nvPr/>
          </p:nvSpPr>
          <p:spPr>
            <a:xfrm>
              <a:off x="10926299" y="3274695"/>
              <a:ext cx="91559" cy="70009"/>
            </a:xfrm>
            <a:prstGeom prst="rect">
              <a:avLst/>
            </a:prstGeom>
            <a:solidFill>
              <a:srgbClr val="67AD9F"/>
            </a:solidFill>
            <a:ln w="7290">
              <a:noFill/>
            </a:ln>
          </p:spPr>
        </p:sp>
        <p:sp>
          <p:nvSpPr>
            <p:cNvPr id="1269" name="Find matrix 2-0">
              <a:extLst>
                <a:ext uri="{FF2B5EF4-FFF2-40B4-BE49-F238E27FC236}">
                  <a16:creationId xmlns:a16="http://schemas.microsoft.com/office/drawing/2014/main" id="{B1282592-D5D6-9C68-2D42-3D2A0FA6458C}"/>
                </a:ext>
              </a:extLst>
            </p:cNvPr>
            <p:cNvSpPr>
              <a:spLocks noGrp="1"/>
            </p:cNvSpPr>
            <p:nvPr/>
          </p:nvSpPr>
          <p:spPr>
            <a:xfrm>
              <a:off x="10255382" y="3348990"/>
              <a:ext cx="91559" cy="70009"/>
            </a:xfrm>
            <a:prstGeom prst="rect">
              <a:avLst/>
            </a:prstGeom>
            <a:solidFill>
              <a:srgbClr val="67AD9F"/>
            </a:solidFill>
            <a:ln w="7290">
              <a:noFill/>
            </a:ln>
          </p:spPr>
        </p:sp>
        <p:sp>
          <p:nvSpPr>
            <p:cNvPr id="1270" name="Find matrix 2-1">
              <a:extLst>
                <a:ext uri="{FF2B5EF4-FFF2-40B4-BE49-F238E27FC236}">
                  <a16:creationId xmlns:a16="http://schemas.microsoft.com/office/drawing/2014/main" id="{390A8337-4744-F454-87FF-4E9BDE799C1D}"/>
                </a:ext>
              </a:extLst>
            </p:cNvPr>
            <p:cNvSpPr>
              <a:spLocks noGrp="1"/>
            </p:cNvSpPr>
            <p:nvPr/>
          </p:nvSpPr>
          <p:spPr>
            <a:xfrm>
              <a:off x="10351227" y="3348990"/>
              <a:ext cx="91559" cy="70009"/>
            </a:xfrm>
            <a:prstGeom prst="rect">
              <a:avLst/>
            </a:prstGeom>
            <a:solidFill>
              <a:srgbClr val="C4DDE0"/>
            </a:solidFill>
            <a:ln w="7290">
              <a:noFill/>
            </a:ln>
          </p:spPr>
        </p:sp>
        <p:sp>
          <p:nvSpPr>
            <p:cNvPr id="1271" name="Find matrix 2-2">
              <a:extLst>
                <a:ext uri="{FF2B5EF4-FFF2-40B4-BE49-F238E27FC236}">
                  <a16:creationId xmlns:a16="http://schemas.microsoft.com/office/drawing/2014/main" id="{F2F7291B-E14D-7E55-CC39-0366DDE36AB6}"/>
                </a:ext>
              </a:extLst>
            </p:cNvPr>
            <p:cNvSpPr>
              <a:spLocks noGrp="1"/>
            </p:cNvSpPr>
            <p:nvPr/>
          </p:nvSpPr>
          <p:spPr>
            <a:xfrm>
              <a:off x="10447072" y="3348990"/>
              <a:ext cx="91559" cy="70009"/>
            </a:xfrm>
            <a:prstGeom prst="rect">
              <a:avLst/>
            </a:prstGeom>
            <a:solidFill>
              <a:srgbClr val="5B9FB6"/>
            </a:solidFill>
            <a:ln w="7290">
              <a:noFill/>
            </a:ln>
          </p:spPr>
        </p:sp>
        <p:sp>
          <p:nvSpPr>
            <p:cNvPr id="1272" name="Find matrix 2-3">
              <a:extLst>
                <a:ext uri="{FF2B5EF4-FFF2-40B4-BE49-F238E27FC236}">
                  <a16:creationId xmlns:a16="http://schemas.microsoft.com/office/drawing/2014/main" id="{7DDB5DDB-AA90-B36F-ECCA-B3D87BDEF49C}"/>
                </a:ext>
              </a:extLst>
            </p:cNvPr>
            <p:cNvSpPr>
              <a:spLocks noGrp="1"/>
            </p:cNvSpPr>
            <p:nvPr/>
          </p:nvSpPr>
          <p:spPr>
            <a:xfrm>
              <a:off x="10542917" y="3348990"/>
              <a:ext cx="91559" cy="70009"/>
            </a:xfrm>
            <a:prstGeom prst="rect">
              <a:avLst/>
            </a:prstGeom>
            <a:solidFill>
              <a:srgbClr val="B6D8CC"/>
            </a:solidFill>
            <a:ln w="7290">
              <a:noFill/>
            </a:ln>
          </p:spPr>
        </p:sp>
        <p:sp>
          <p:nvSpPr>
            <p:cNvPr id="1273" name="Find matrix 2-4">
              <a:extLst>
                <a:ext uri="{FF2B5EF4-FFF2-40B4-BE49-F238E27FC236}">
                  <a16:creationId xmlns:a16="http://schemas.microsoft.com/office/drawing/2014/main" id="{FBF483EB-0895-E2F9-E946-2CE7B0273010}"/>
                </a:ext>
              </a:extLst>
            </p:cNvPr>
            <p:cNvSpPr>
              <a:spLocks noGrp="1"/>
            </p:cNvSpPr>
            <p:nvPr/>
          </p:nvSpPr>
          <p:spPr>
            <a:xfrm>
              <a:off x="10638763" y="3348990"/>
              <a:ext cx="91559" cy="70009"/>
            </a:xfrm>
            <a:prstGeom prst="rect">
              <a:avLst/>
            </a:prstGeom>
            <a:solidFill>
              <a:srgbClr val="3E8F9A"/>
            </a:solidFill>
            <a:ln w="7290">
              <a:noFill/>
            </a:ln>
          </p:spPr>
        </p:sp>
        <p:sp>
          <p:nvSpPr>
            <p:cNvPr id="1274" name="Find matrix 2-5">
              <a:extLst>
                <a:ext uri="{FF2B5EF4-FFF2-40B4-BE49-F238E27FC236}">
                  <a16:creationId xmlns:a16="http://schemas.microsoft.com/office/drawing/2014/main" id="{235264C0-29EF-D9B8-F0D1-9BEBBAD9D6E8}"/>
                </a:ext>
              </a:extLst>
            </p:cNvPr>
            <p:cNvSpPr>
              <a:spLocks noGrp="1"/>
            </p:cNvSpPr>
            <p:nvPr/>
          </p:nvSpPr>
          <p:spPr>
            <a:xfrm>
              <a:off x="10734608" y="3348990"/>
              <a:ext cx="91559" cy="70009"/>
            </a:xfrm>
            <a:prstGeom prst="rect">
              <a:avLst/>
            </a:prstGeom>
            <a:solidFill>
              <a:srgbClr val="D6E5ED"/>
            </a:solidFill>
            <a:ln w="7290">
              <a:noFill/>
            </a:ln>
          </p:spPr>
        </p:sp>
        <p:sp>
          <p:nvSpPr>
            <p:cNvPr id="1275" name="Find matrix 2-6">
              <a:extLst>
                <a:ext uri="{FF2B5EF4-FFF2-40B4-BE49-F238E27FC236}">
                  <a16:creationId xmlns:a16="http://schemas.microsoft.com/office/drawing/2014/main" id="{89BB4142-622C-474C-899B-E7C760EA5054}"/>
                </a:ext>
              </a:extLst>
            </p:cNvPr>
            <p:cNvSpPr>
              <a:spLocks noGrp="1"/>
            </p:cNvSpPr>
            <p:nvPr/>
          </p:nvSpPr>
          <p:spPr>
            <a:xfrm>
              <a:off x="10830453" y="3348990"/>
              <a:ext cx="91559" cy="70009"/>
            </a:xfrm>
            <a:prstGeom prst="rect">
              <a:avLst/>
            </a:prstGeom>
            <a:solidFill>
              <a:srgbClr val="88BEC3"/>
            </a:solidFill>
            <a:ln w="7290">
              <a:noFill/>
            </a:ln>
          </p:spPr>
        </p:sp>
        <p:sp>
          <p:nvSpPr>
            <p:cNvPr id="1276" name="Find matrix 2-7">
              <a:extLst>
                <a:ext uri="{FF2B5EF4-FFF2-40B4-BE49-F238E27FC236}">
                  <a16:creationId xmlns:a16="http://schemas.microsoft.com/office/drawing/2014/main" id="{6D2284D9-4AE6-02DD-AA99-C88ED825A8F4}"/>
                </a:ext>
              </a:extLst>
            </p:cNvPr>
            <p:cNvSpPr>
              <a:spLocks noGrp="1"/>
            </p:cNvSpPr>
            <p:nvPr/>
          </p:nvSpPr>
          <p:spPr>
            <a:xfrm>
              <a:off x="10926299" y="3348990"/>
              <a:ext cx="91559" cy="70009"/>
            </a:xfrm>
            <a:prstGeom prst="rect">
              <a:avLst/>
            </a:prstGeom>
            <a:solidFill>
              <a:srgbClr val="A3CDDA"/>
            </a:solidFill>
            <a:ln w="7290">
              <a:noFill/>
            </a:ln>
          </p:spPr>
        </p:sp>
        <p:sp>
          <p:nvSpPr>
            <p:cNvPr id="1277" name="Find matrix 3-0">
              <a:extLst>
                <a:ext uri="{FF2B5EF4-FFF2-40B4-BE49-F238E27FC236}">
                  <a16:creationId xmlns:a16="http://schemas.microsoft.com/office/drawing/2014/main" id="{A354350A-00E7-4344-FF84-5BBF2165CEDA}"/>
                </a:ext>
              </a:extLst>
            </p:cNvPr>
            <p:cNvSpPr>
              <a:spLocks noGrp="1"/>
            </p:cNvSpPr>
            <p:nvPr/>
          </p:nvSpPr>
          <p:spPr>
            <a:xfrm>
              <a:off x="10255382" y="3423285"/>
              <a:ext cx="91559" cy="70009"/>
            </a:xfrm>
            <a:prstGeom prst="rect">
              <a:avLst/>
            </a:prstGeom>
            <a:solidFill>
              <a:srgbClr val="88BEC3"/>
            </a:solidFill>
            <a:ln w="7290">
              <a:noFill/>
            </a:ln>
          </p:spPr>
        </p:sp>
        <p:sp>
          <p:nvSpPr>
            <p:cNvPr id="1278" name="Find matrix 3-1">
              <a:extLst>
                <a:ext uri="{FF2B5EF4-FFF2-40B4-BE49-F238E27FC236}">
                  <a16:creationId xmlns:a16="http://schemas.microsoft.com/office/drawing/2014/main" id="{E2EDFAC2-C5CD-2DF8-165C-4DBC9D98B449}"/>
                </a:ext>
              </a:extLst>
            </p:cNvPr>
            <p:cNvSpPr>
              <a:spLocks noGrp="1"/>
            </p:cNvSpPr>
            <p:nvPr/>
          </p:nvSpPr>
          <p:spPr>
            <a:xfrm>
              <a:off x="10351227" y="3423285"/>
              <a:ext cx="91559" cy="70009"/>
            </a:xfrm>
            <a:prstGeom prst="rect">
              <a:avLst/>
            </a:prstGeom>
            <a:solidFill>
              <a:srgbClr val="D6E5ED"/>
            </a:solidFill>
            <a:ln w="7290">
              <a:noFill/>
            </a:ln>
          </p:spPr>
        </p:sp>
        <p:sp>
          <p:nvSpPr>
            <p:cNvPr id="1279" name="Find matrix 3-2">
              <a:extLst>
                <a:ext uri="{FF2B5EF4-FFF2-40B4-BE49-F238E27FC236}">
                  <a16:creationId xmlns:a16="http://schemas.microsoft.com/office/drawing/2014/main" id="{4D088869-EB59-E1B3-59B4-C3C92C8170BA}"/>
                </a:ext>
              </a:extLst>
            </p:cNvPr>
            <p:cNvSpPr>
              <a:spLocks noGrp="1"/>
            </p:cNvSpPr>
            <p:nvPr/>
          </p:nvSpPr>
          <p:spPr>
            <a:xfrm>
              <a:off x="10447072" y="3423285"/>
              <a:ext cx="91559" cy="70009"/>
            </a:xfrm>
            <a:prstGeom prst="rect">
              <a:avLst/>
            </a:prstGeom>
            <a:solidFill>
              <a:srgbClr val="67AD9F"/>
            </a:solidFill>
            <a:ln w="7290">
              <a:noFill/>
            </a:ln>
          </p:spPr>
        </p:sp>
        <p:sp>
          <p:nvSpPr>
            <p:cNvPr id="1280" name="Find matrix 3-3">
              <a:extLst>
                <a:ext uri="{FF2B5EF4-FFF2-40B4-BE49-F238E27FC236}">
                  <a16:creationId xmlns:a16="http://schemas.microsoft.com/office/drawing/2014/main" id="{119CBCB9-6860-7DCC-AF73-C422647EEF23}"/>
                </a:ext>
              </a:extLst>
            </p:cNvPr>
            <p:cNvSpPr>
              <a:spLocks noGrp="1"/>
            </p:cNvSpPr>
            <p:nvPr/>
          </p:nvSpPr>
          <p:spPr>
            <a:xfrm>
              <a:off x="10542917" y="3423285"/>
              <a:ext cx="91559" cy="70009"/>
            </a:xfrm>
            <a:prstGeom prst="rect">
              <a:avLst/>
            </a:prstGeom>
            <a:solidFill>
              <a:srgbClr val="3E8F9A"/>
            </a:solidFill>
            <a:ln w="7290">
              <a:noFill/>
            </a:ln>
          </p:spPr>
        </p:sp>
        <p:sp>
          <p:nvSpPr>
            <p:cNvPr id="1281" name="Find matrix 3-4">
              <a:extLst>
                <a:ext uri="{FF2B5EF4-FFF2-40B4-BE49-F238E27FC236}">
                  <a16:creationId xmlns:a16="http://schemas.microsoft.com/office/drawing/2014/main" id="{F0ED964A-EDEB-7D43-69F8-BEFE576D1277}"/>
                </a:ext>
              </a:extLst>
            </p:cNvPr>
            <p:cNvSpPr>
              <a:spLocks noGrp="1"/>
            </p:cNvSpPr>
            <p:nvPr/>
          </p:nvSpPr>
          <p:spPr>
            <a:xfrm>
              <a:off x="10638763" y="3423285"/>
              <a:ext cx="91559" cy="70009"/>
            </a:xfrm>
            <a:prstGeom prst="rect">
              <a:avLst/>
            </a:prstGeom>
            <a:solidFill>
              <a:srgbClr val="C4DDE0"/>
            </a:solidFill>
            <a:ln w="7290">
              <a:noFill/>
            </a:ln>
          </p:spPr>
        </p:sp>
        <p:sp>
          <p:nvSpPr>
            <p:cNvPr id="1282" name="Find matrix 3-5">
              <a:extLst>
                <a:ext uri="{FF2B5EF4-FFF2-40B4-BE49-F238E27FC236}">
                  <a16:creationId xmlns:a16="http://schemas.microsoft.com/office/drawing/2014/main" id="{A0A2A64A-E67D-3395-0409-F2703179F7EC}"/>
                </a:ext>
              </a:extLst>
            </p:cNvPr>
            <p:cNvSpPr>
              <a:spLocks noGrp="1"/>
            </p:cNvSpPr>
            <p:nvPr/>
          </p:nvSpPr>
          <p:spPr>
            <a:xfrm>
              <a:off x="10734608" y="3423285"/>
              <a:ext cx="91559" cy="70009"/>
            </a:xfrm>
            <a:prstGeom prst="rect">
              <a:avLst/>
            </a:prstGeom>
            <a:solidFill>
              <a:srgbClr val="A3CDDA"/>
            </a:solidFill>
            <a:ln w="7290">
              <a:noFill/>
            </a:ln>
          </p:spPr>
        </p:sp>
        <p:sp>
          <p:nvSpPr>
            <p:cNvPr id="1283" name="Find matrix 3-6">
              <a:extLst>
                <a:ext uri="{FF2B5EF4-FFF2-40B4-BE49-F238E27FC236}">
                  <a16:creationId xmlns:a16="http://schemas.microsoft.com/office/drawing/2014/main" id="{EA7CE8E7-C1AC-E261-A970-8EC80886D558}"/>
                </a:ext>
              </a:extLst>
            </p:cNvPr>
            <p:cNvSpPr>
              <a:spLocks noGrp="1"/>
            </p:cNvSpPr>
            <p:nvPr/>
          </p:nvSpPr>
          <p:spPr>
            <a:xfrm>
              <a:off x="10830453" y="3423285"/>
              <a:ext cx="91559" cy="70009"/>
            </a:xfrm>
            <a:prstGeom prst="rect">
              <a:avLst/>
            </a:prstGeom>
            <a:solidFill>
              <a:srgbClr val="B6D8CC"/>
            </a:solidFill>
            <a:ln w="7290">
              <a:noFill/>
            </a:ln>
          </p:spPr>
        </p:sp>
        <p:sp>
          <p:nvSpPr>
            <p:cNvPr id="1284" name="Find matrix 3-7">
              <a:extLst>
                <a:ext uri="{FF2B5EF4-FFF2-40B4-BE49-F238E27FC236}">
                  <a16:creationId xmlns:a16="http://schemas.microsoft.com/office/drawing/2014/main" id="{3CC5802F-96A8-F327-8DCD-5C642BB94DCE}"/>
                </a:ext>
              </a:extLst>
            </p:cNvPr>
            <p:cNvSpPr>
              <a:spLocks noGrp="1"/>
            </p:cNvSpPr>
            <p:nvPr/>
          </p:nvSpPr>
          <p:spPr>
            <a:xfrm>
              <a:off x="10926299" y="3423285"/>
              <a:ext cx="91559" cy="70009"/>
            </a:xfrm>
            <a:prstGeom prst="rect">
              <a:avLst/>
            </a:prstGeom>
            <a:solidFill>
              <a:srgbClr val="5B9FB6"/>
            </a:solidFill>
            <a:ln w="7290">
              <a:noFill/>
            </a:ln>
          </p:spPr>
        </p:sp>
        <p:sp>
          <p:nvSpPr>
            <p:cNvPr id="1285" name="Match matrix 0-0">
              <a:extLst>
                <a:ext uri="{FF2B5EF4-FFF2-40B4-BE49-F238E27FC236}">
                  <a16:creationId xmlns:a16="http://schemas.microsoft.com/office/drawing/2014/main" id="{1E148E3C-F1D3-F47F-36C6-42E1C579FB78}"/>
                </a:ext>
              </a:extLst>
            </p:cNvPr>
            <p:cNvSpPr>
              <a:spLocks noGrp="1"/>
            </p:cNvSpPr>
            <p:nvPr/>
          </p:nvSpPr>
          <p:spPr>
            <a:xfrm>
              <a:off x="3633156" y="7252039"/>
              <a:ext cx="88583" cy="70009"/>
            </a:xfrm>
            <a:prstGeom prst="rect">
              <a:avLst/>
            </a:prstGeom>
            <a:solidFill>
              <a:srgbClr val="3E8F9A"/>
            </a:solidFill>
            <a:ln w="7290">
              <a:noFill/>
            </a:ln>
          </p:spPr>
        </p:sp>
        <p:sp>
          <p:nvSpPr>
            <p:cNvPr id="1286" name="Match matrix 0-1">
              <a:extLst>
                <a:ext uri="{FF2B5EF4-FFF2-40B4-BE49-F238E27FC236}">
                  <a16:creationId xmlns:a16="http://schemas.microsoft.com/office/drawing/2014/main" id="{6CE95E95-35B4-AAA3-E629-B7804854BFD1}"/>
                </a:ext>
              </a:extLst>
            </p:cNvPr>
            <p:cNvSpPr>
              <a:spLocks noGrp="1"/>
            </p:cNvSpPr>
            <p:nvPr/>
          </p:nvSpPr>
          <p:spPr>
            <a:xfrm>
              <a:off x="3726025" y="7252039"/>
              <a:ext cx="88583" cy="70009"/>
            </a:xfrm>
            <a:prstGeom prst="rect">
              <a:avLst/>
            </a:prstGeom>
            <a:solidFill>
              <a:srgbClr val="5B9FB6"/>
            </a:solidFill>
            <a:ln w="7290">
              <a:noFill/>
            </a:ln>
          </p:spPr>
        </p:sp>
        <p:sp>
          <p:nvSpPr>
            <p:cNvPr id="1287" name="Match matrix 0-2">
              <a:extLst>
                <a:ext uri="{FF2B5EF4-FFF2-40B4-BE49-F238E27FC236}">
                  <a16:creationId xmlns:a16="http://schemas.microsoft.com/office/drawing/2014/main" id="{7AA444A0-2B6A-4C23-EFFA-BB0D0814FEA4}"/>
                </a:ext>
              </a:extLst>
            </p:cNvPr>
            <p:cNvSpPr>
              <a:spLocks noGrp="1"/>
            </p:cNvSpPr>
            <p:nvPr/>
          </p:nvSpPr>
          <p:spPr>
            <a:xfrm>
              <a:off x="3818894" y="7252039"/>
              <a:ext cx="88583" cy="70009"/>
            </a:xfrm>
            <a:prstGeom prst="rect">
              <a:avLst/>
            </a:prstGeom>
            <a:solidFill>
              <a:srgbClr val="A3CDDA"/>
            </a:solidFill>
            <a:ln w="7290">
              <a:noFill/>
            </a:ln>
          </p:spPr>
        </p:sp>
        <p:sp>
          <p:nvSpPr>
            <p:cNvPr id="1288" name="Match matrix 0-3">
              <a:extLst>
                <a:ext uri="{FF2B5EF4-FFF2-40B4-BE49-F238E27FC236}">
                  <a16:creationId xmlns:a16="http://schemas.microsoft.com/office/drawing/2014/main" id="{FA614244-906C-CFFC-1294-6D233D01CB35}"/>
                </a:ext>
              </a:extLst>
            </p:cNvPr>
            <p:cNvSpPr>
              <a:spLocks noGrp="1"/>
            </p:cNvSpPr>
            <p:nvPr/>
          </p:nvSpPr>
          <p:spPr>
            <a:xfrm>
              <a:off x="3911762" y="7252039"/>
              <a:ext cx="88583" cy="70009"/>
            </a:xfrm>
            <a:prstGeom prst="rect">
              <a:avLst/>
            </a:prstGeom>
            <a:solidFill>
              <a:srgbClr val="88BEC3"/>
            </a:solidFill>
            <a:ln w="7290">
              <a:noFill/>
            </a:ln>
          </p:spPr>
        </p:sp>
        <p:sp>
          <p:nvSpPr>
            <p:cNvPr id="1289" name="Match matrix 0-4">
              <a:extLst>
                <a:ext uri="{FF2B5EF4-FFF2-40B4-BE49-F238E27FC236}">
                  <a16:creationId xmlns:a16="http://schemas.microsoft.com/office/drawing/2014/main" id="{EE4A1296-1DD3-454F-610D-2BDEB1D0EFA9}"/>
                </a:ext>
              </a:extLst>
            </p:cNvPr>
            <p:cNvSpPr>
              <a:spLocks noGrp="1"/>
            </p:cNvSpPr>
            <p:nvPr/>
          </p:nvSpPr>
          <p:spPr>
            <a:xfrm>
              <a:off x="4004631" y="7252039"/>
              <a:ext cx="88583" cy="70009"/>
            </a:xfrm>
            <a:prstGeom prst="rect">
              <a:avLst/>
            </a:prstGeom>
            <a:solidFill>
              <a:srgbClr val="67AD9F"/>
            </a:solidFill>
            <a:ln w="7290">
              <a:noFill/>
            </a:ln>
          </p:spPr>
        </p:sp>
        <p:sp>
          <p:nvSpPr>
            <p:cNvPr id="1290" name="Match matrix 0-5">
              <a:extLst>
                <a:ext uri="{FF2B5EF4-FFF2-40B4-BE49-F238E27FC236}">
                  <a16:creationId xmlns:a16="http://schemas.microsoft.com/office/drawing/2014/main" id="{A27DCA6A-D9A0-89D2-300F-145A0353541B}"/>
                </a:ext>
              </a:extLst>
            </p:cNvPr>
            <p:cNvSpPr>
              <a:spLocks noGrp="1"/>
            </p:cNvSpPr>
            <p:nvPr/>
          </p:nvSpPr>
          <p:spPr>
            <a:xfrm>
              <a:off x="4097500" y="7252039"/>
              <a:ext cx="88583" cy="70009"/>
            </a:xfrm>
            <a:prstGeom prst="rect">
              <a:avLst/>
            </a:prstGeom>
            <a:solidFill>
              <a:srgbClr val="C4DDE0"/>
            </a:solidFill>
            <a:ln w="7290">
              <a:noFill/>
            </a:ln>
          </p:spPr>
        </p:sp>
        <p:sp>
          <p:nvSpPr>
            <p:cNvPr id="1291" name="Match matrix 0-6">
              <a:extLst>
                <a:ext uri="{FF2B5EF4-FFF2-40B4-BE49-F238E27FC236}">
                  <a16:creationId xmlns:a16="http://schemas.microsoft.com/office/drawing/2014/main" id="{110481AC-0BB3-A98A-15F4-6DA00B6462E6}"/>
                </a:ext>
              </a:extLst>
            </p:cNvPr>
            <p:cNvSpPr>
              <a:spLocks noGrp="1"/>
            </p:cNvSpPr>
            <p:nvPr/>
          </p:nvSpPr>
          <p:spPr>
            <a:xfrm>
              <a:off x="4190369" y="7252039"/>
              <a:ext cx="88583" cy="70009"/>
            </a:xfrm>
            <a:prstGeom prst="rect">
              <a:avLst/>
            </a:prstGeom>
            <a:solidFill>
              <a:srgbClr val="B6D8CC"/>
            </a:solidFill>
            <a:ln w="7290">
              <a:noFill/>
            </a:ln>
          </p:spPr>
        </p:sp>
        <p:sp>
          <p:nvSpPr>
            <p:cNvPr id="1292" name="Match matrix 0-7">
              <a:extLst>
                <a:ext uri="{FF2B5EF4-FFF2-40B4-BE49-F238E27FC236}">
                  <a16:creationId xmlns:a16="http://schemas.microsoft.com/office/drawing/2014/main" id="{CA0FE5FF-20F8-A515-1575-D2B579C6A384}"/>
                </a:ext>
              </a:extLst>
            </p:cNvPr>
            <p:cNvSpPr>
              <a:spLocks noGrp="1"/>
            </p:cNvSpPr>
            <p:nvPr/>
          </p:nvSpPr>
          <p:spPr>
            <a:xfrm>
              <a:off x="4283237" y="7252039"/>
              <a:ext cx="88583" cy="70009"/>
            </a:xfrm>
            <a:prstGeom prst="rect">
              <a:avLst/>
            </a:prstGeom>
            <a:solidFill>
              <a:srgbClr val="D6E5ED"/>
            </a:solidFill>
            <a:ln w="7290">
              <a:noFill/>
            </a:ln>
          </p:spPr>
        </p:sp>
        <p:sp>
          <p:nvSpPr>
            <p:cNvPr id="1293" name="Match matrix 1-0">
              <a:extLst>
                <a:ext uri="{FF2B5EF4-FFF2-40B4-BE49-F238E27FC236}">
                  <a16:creationId xmlns:a16="http://schemas.microsoft.com/office/drawing/2014/main" id="{62DD97DC-E1EF-3AC8-77C6-31E750CF1688}"/>
                </a:ext>
              </a:extLst>
            </p:cNvPr>
            <p:cNvSpPr>
              <a:spLocks noGrp="1"/>
            </p:cNvSpPr>
            <p:nvPr/>
          </p:nvSpPr>
          <p:spPr>
            <a:xfrm>
              <a:off x="3633156" y="7326334"/>
              <a:ext cx="88583" cy="70009"/>
            </a:xfrm>
            <a:prstGeom prst="rect">
              <a:avLst/>
            </a:prstGeom>
            <a:solidFill>
              <a:srgbClr val="A3CDDA"/>
            </a:solidFill>
            <a:ln w="7290">
              <a:noFill/>
            </a:ln>
          </p:spPr>
        </p:sp>
        <p:sp>
          <p:nvSpPr>
            <p:cNvPr id="1294" name="Match matrix 1-1">
              <a:extLst>
                <a:ext uri="{FF2B5EF4-FFF2-40B4-BE49-F238E27FC236}">
                  <a16:creationId xmlns:a16="http://schemas.microsoft.com/office/drawing/2014/main" id="{B545DCC8-F9BD-6322-3BD3-A195D0A92FFB}"/>
                </a:ext>
              </a:extLst>
            </p:cNvPr>
            <p:cNvSpPr>
              <a:spLocks noGrp="1"/>
            </p:cNvSpPr>
            <p:nvPr/>
          </p:nvSpPr>
          <p:spPr>
            <a:xfrm>
              <a:off x="3726025" y="7326334"/>
              <a:ext cx="88583" cy="70009"/>
            </a:xfrm>
            <a:prstGeom prst="rect">
              <a:avLst/>
            </a:prstGeom>
            <a:solidFill>
              <a:srgbClr val="B6D8CC"/>
            </a:solidFill>
            <a:ln w="7290">
              <a:noFill/>
            </a:ln>
          </p:spPr>
        </p:sp>
        <p:sp>
          <p:nvSpPr>
            <p:cNvPr id="1295" name="Match matrix 1-2">
              <a:extLst>
                <a:ext uri="{FF2B5EF4-FFF2-40B4-BE49-F238E27FC236}">
                  <a16:creationId xmlns:a16="http://schemas.microsoft.com/office/drawing/2014/main" id="{CA362456-65E1-995A-0618-99CCC4184C18}"/>
                </a:ext>
              </a:extLst>
            </p:cNvPr>
            <p:cNvSpPr>
              <a:spLocks noGrp="1"/>
            </p:cNvSpPr>
            <p:nvPr/>
          </p:nvSpPr>
          <p:spPr>
            <a:xfrm>
              <a:off x="3818894" y="7326334"/>
              <a:ext cx="88583" cy="70009"/>
            </a:xfrm>
            <a:prstGeom prst="rect">
              <a:avLst/>
            </a:prstGeom>
            <a:solidFill>
              <a:srgbClr val="88BEC3"/>
            </a:solidFill>
            <a:ln w="7290">
              <a:noFill/>
            </a:ln>
          </p:spPr>
        </p:sp>
        <p:sp>
          <p:nvSpPr>
            <p:cNvPr id="1296" name="Match matrix 1-3">
              <a:extLst>
                <a:ext uri="{FF2B5EF4-FFF2-40B4-BE49-F238E27FC236}">
                  <a16:creationId xmlns:a16="http://schemas.microsoft.com/office/drawing/2014/main" id="{A2C35F9E-7361-3F63-4B0D-A98BA11C6FD6}"/>
                </a:ext>
              </a:extLst>
            </p:cNvPr>
            <p:cNvSpPr>
              <a:spLocks noGrp="1"/>
            </p:cNvSpPr>
            <p:nvPr/>
          </p:nvSpPr>
          <p:spPr>
            <a:xfrm>
              <a:off x="3911762" y="7326334"/>
              <a:ext cx="88583" cy="70009"/>
            </a:xfrm>
            <a:prstGeom prst="rect">
              <a:avLst/>
            </a:prstGeom>
            <a:solidFill>
              <a:srgbClr val="D6E5ED"/>
            </a:solidFill>
            <a:ln w="7290">
              <a:noFill/>
            </a:ln>
          </p:spPr>
        </p:sp>
        <p:sp>
          <p:nvSpPr>
            <p:cNvPr id="1297" name="Match matrix 1-4">
              <a:extLst>
                <a:ext uri="{FF2B5EF4-FFF2-40B4-BE49-F238E27FC236}">
                  <a16:creationId xmlns:a16="http://schemas.microsoft.com/office/drawing/2014/main" id="{FAAA67D0-1522-17CF-8376-8D76753F582D}"/>
                </a:ext>
              </a:extLst>
            </p:cNvPr>
            <p:cNvSpPr>
              <a:spLocks noGrp="1"/>
            </p:cNvSpPr>
            <p:nvPr/>
          </p:nvSpPr>
          <p:spPr>
            <a:xfrm>
              <a:off x="4004631" y="7326334"/>
              <a:ext cx="88583" cy="70009"/>
            </a:xfrm>
            <a:prstGeom prst="rect">
              <a:avLst/>
            </a:prstGeom>
            <a:solidFill>
              <a:srgbClr val="5B9FB6"/>
            </a:solidFill>
            <a:ln w="7290">
              <a:noFill/>
            </a:ln>
          </p:spPr>
        </p:sp>
        <p:sp>
          <p:nvSpPr>
            <p:cNvPr id="1298" name="Match matrix 1-5">
              <a:extLst>
                <a:ext uri="{FF2B5EF4-FFF2-40B4-BE49-F238E27FC236}">
                  <a16:creationId xmlns:a16="http://schemas.microsoft.com/office/drawing/2014/main" id="{8EFA4585-A006-C810-377D-DBA6C87576CE}"/>
                </a:ext>
              </a:extLst>
            </p:cNvPr>
            <p:cNvSpPr>
              <a:spLocks noGrp="1"/>
            </p:cNvSpPr>
            <p:nvPr/>
          </p:nvSpPr>
          <p:spPr>
            <a:xfrm>
              <a:off x="4097500" y="7326334"/>
              <a:ext cx="88583" cy="70009"/>
            </a:xfrm>
            <a:prstGeom prst="rect">
              <a:avLst/>
            </a:prstGeom>
            <a:solidFill>
              <a:srgbClr val="3E8F9A"/>
            </a:solidFill>
            <a:ln w="7290">
              <a:noFill/>
            </a:ln>
          </p:spPr>
        </p:sp>
        <p:sp>
          <p:nvSpPr>
            <p:cNvPr id="1299" name="Match matrix 1-6">
              <a:extLst>
                <a:ext uri="{FF2B5EF4-FFF2-40B4-BE49-F238E27FC236}">
                  <a16:creationId xmlns:a16="http://schemas.microsoft.com/office/drawing/2014/main" id="{64D11889-0CF0-CA9A-1917-2BF4C8C70236}"/>
                </a:ext>
              </a:extLst>
            </p:cNvPr>
            <p:cNvSpPr>
              <a:spLocks noGrp="1"/>
            </p:cNvSpPr>
            <p:nvPr/>
          </p:nvSpPr>
          <p:spPr>
            <a:xfrm>
              <a:off x="4190369" y="7326334"/>
              <a:ext cx="88583" cy="70009"/>
            </a:xfrm>
            <a:prstGeom prst="rect">
              <a:avLst/>
            </a:prstGeom>
            <a:solidFill>
              <a:srgbClr val="C4DDE0"/>
            </a:solidFill>
            <a:ln w="7290">
              <a:noFill/>
            </a:ln>
          </p:spPr>
        </p:sp>
        <p:sp>
          <p:nvSpPr>
            <p:cNvPr id="1300" name="Match matrix 1-7">
              <a:extLst>
                <a:ext uri="{FF2B5EF4-FFF2-40B4-BE49-F238E27FC236}">
                  <a16:creationId xmlns:a16="http://schemas.microsoft.com/office/drawing/2014/main" id="{188B5773-F5C9-7D4C-8152-FA7D9B627789}"/>
                </a:ext>
              </a:extLst>
            </p:cNvPr>
            <p:cNvSpPr>
              <a:spLocks noGrp="1"/>
            </p:cNvSpPr>
            <p:nvPr/>
          </p:nvSpPr>
          <p:spPr>
            <a:xfrm>
              <a:off x="4283237" y="7326334"/>
              <a:ext cx="88583" cy="70009"/>
            </a:xfrm>
            <a:prstGeom prst="rect">
              <a:avLst/>
            </a:prstGeom>
            <a:solidFill>
              <a:srgbClr val="67AD9F"/>
            </a:solidFill>
            <a:ln w="7290">
              <a:noFill/>
            </a:ln>
          </p:spPr>
        </p:sp>
        <p:sp>
          <p:nvSpPr>
            <p:cNvPr id="1301" name="Match matrix 2-0">
              <a:extLst>
                <a:ext uri="{FF2B5EF4-FFF2-40B4-BE49-F238E27FC236}">
                  <a16:creationId xmlns:a16="http://schemas.microsoft.com/office/drawing/2014/main" id="{BBF02AFB-8489-0057-17C0-1186E4D7244F}"/>
                </a:ext>
              </a:extLst>
            </p:cNvPr>
            <p:cNvSpPr>
              <a:spLocks noGrp="1"/>
            </p:cNvSpPr>
            <p:nvPr/>
          </p:nvSpPr>
          <p:spPr>
            <a:xfrm>
              <a:off x="3633156" y="7400629"/>
              <a:ext cx="88583" cy="70009"/>
            </a:xfrm>
            <a:prstGeom prst="rect">
              <a:avLst/>
            </a:prstGeom>
            <a:solidFill>
              <a:srgbClr val="67AD9F"/>
            </a:solidFill>
            <a:ln w="7290">
              <a:noFill/>
            </a:ln>
          </p:spPr>
        </p:sp>
        <p:sp>
          <p:nvSpPr>
            <p:cNvPr id="1302" name="Match matrix 2-1">
              <a:extLst>
                <a:ext uri="{FF2B5EF4-FFF2-40B4-BE49-F238E27FC236}">
                  <a16:creationId xmlns:a16="http://schemas.microsoft.com/office/drawing/2014/main" id="{4D1F1E41-46E5-997B-A9A2-D4A7E86A821C}"/>
                </a:ext>
              </a:extLst>
            </p:cNvPr>
            <p:cNvSpPr>
              <a:spLocks noGrp="1"/>
            </p:cNvSpPr>
            <p:nvPr/>
          </p:nvSpPr>
          <p:spPr>
            <a:xfrm>
              <a:off x="3726025" y="7400629"/>
              <a:ext cx="88583" cy="70009"/>
            </a:xfrm>
            <a:prstGeom prst="rect">
              <a:avLst/>
            </a:prstGeom>
            <a:solidFill>
              <a:srgbClr val="C4DDE0"/>
            </a:solidFill>
            <a:ln w="7290">
              <a:noFill/>
            </a:ln>
          </p:spPr>
        </p:sp>
        <p:sp>
          <p:nvSpPr>
            <p:cNvPr id="1303" name="Match matrix 2-2">
              <a:extLst>
                <a:ext uri="{FF2B5EF4-FFF2-40B4-BE49-F238E27FC236}">
                  <a16:creationId xmlns:a16="http://schemas.microsoft.com/office/drawing/2014/main" id="{BDC0B5DB-1FDB-9192-A8A8-9F9E9FC2CF48}"/>
                </a:ext>
              </a:extLst>
            </p:cNvPr>
            <p:cNvSpPr>
              <a:spLocks noGrp="1"/>
            </p:cNvSpPr>
            <p:nvPr/>
          </p:nvSpPr>
          <p:spPr>
            <a:xfrm>
              <a:off x="3818894" y="7400629"/>
              <a:ext cx="88583" cy="70009"/>
            </a:xfrm>
            <a:prstGeom prst="rect">
              <a:avLst/>
            </a:prstGeom>
            <a:solidFill>
              <a:srgbClr val="5B9FB6"/>
            </a:solidFill>
            <a:ln w="7290">
              <a:noFill/>
            </a:ln>
          </p:spPr>
        </p:sp>
        <p:sp>
          <p:nvSpPr>
            <p:cNvPr id="1304" name="Match matrix 2-3">
              <a:extLst>
                <a:ext uri="{FF2B5EF4-FFF2-40B4-BE49-F238E27FC236}">
                  <a16:creationId xmlns:a16="http://schemas.microsoft.com/office/drawing/2014/main" id="{9C663294-FCA2-F8DE-2AEC-EEF54C48921A}"/>
                </a:ext>
              </a:extLst>
            </p:cNvPr>
            <p:cNvSpPr>
              <a:spLocks noGrp="1"/>
            </p:cNvSpPr>
            <p:nvPr/>
          </p:nvSpPr>
          <p:spPr>
            <a:xfrm>
              <a:off x="3911762" y="7400629"/>
              <a:ext cx="88583" cy="70009"/>
            </a:xfrm>
            <a:prstGeom prst="rect">
              <a:avLst/>
            </a:prstGeom>
            <a:solidFill>
              <a:srgbClr val="B6D8CC"/>
            </a:solidFill>
            <a:ln w="7290">
              <a:noFill/>
            </a:ln>
          </p:spPr>
        </p:sp>
        <p:sp>
          <p:nvSpPr>
            <p:cNvPr id="1305" name="Match matrix 2-4">
              <a:extLst>
                <a:ext uri="{FF2B5EF4-FFF2-40B4-BE49-F238E27FC236}">
                  <a16:creationId xmlns:a16="http://schemas.microsoft.com/office/drawing/2014/main" id="{28E76182-0A60-4A72-9586-C12459BE0B58}"/>
                </a:ext>
              </a:extLst>
            </p:cNvPr>
            <p:cNvSpPr>
              <a:spLocks noGrp="1"/>
            </p:cNvSpPr>
            <p:nvPr/>
          </p:nvSpPr>
          <p:spPr>
            <a:xfrm>
              <a:off x="4004631" y="7400629"/>
              <a:ext cx="88583" cy="70009"/>
            </a:xfrm>
            <a:prstGeom prst="rect">
              <a:avLst/>
            </a:prstGeom>
            <a:solidFill>
              <a:srgbClr val="3E8F9A"/>
            </a:solidFill>
            <a:ln w="7290">
              <a:noFill/>
            </a:ln>
          </p:spPr>
        </p:sp>
        <p:sp>
          <p:nvSpPr>
            <p:cNvPr id="1306" name="Match matrix 2-5">
              <a:extLst>
                <a:ext uri="{FF2B5EF4-FFF2-40B4-BE49-F238E27FC236}">
                  <a16:creationId xmlns:a16="http://schemas.microsoft.com/office/drawing/2014/main" id="{29FC68A5-EB54-9596-85EC-EDC1175B056F}"/>
                </a:ext>
              </a:extLst>
            </p:cNvPr>
            <p:cNvSpPr>
              <a:spLocks noGrp="1"/>
            </p:cNvSpPr>
            <p:nvPr/>
          </p:nvSpPr>
          <p:spPr>
            <a:xfrm>
              <a:off x="4097500" y="7400629"/>
              <a:ext cx="88583" cy="70009"/>
            </a:xfrm>
            <a:prstGeom prst="rect">
              <a:avLst/>
            </a:prstGeom>
            <a:solidFill>
              <a:srgbClr val="D6E5ED"/>
            </a:solidFill>
            <a:ln w="7290">
              <a:noFill/>
            </a:ln>
          </p:spPr>
        </p:sp>
        <p:sp>
          <p:nvSpPr>
            <p:cNvPr id="1307" name="Match matrix 2-6">
              <a:extLst>
                <a:ext uri="{FF2B5EF4-FFF2-40B4-BE49-F238E27FC236}">
                  <a16:creationId xmlns:a16="http://schemas.microsoft.com/office/drawing/2014/main" id="{59C9C8C5-D90A-7A02-93D3-957FE3AE7DC3}"/>
                </a:ext>
              </a:extLst>
            </p:cNvPr>
            <p:cNvSpPr>
              <a:spLocks noGrp="1"/>
            </p:cNvSpPr>
            <p:nvPr/>
          </p:nvSpPr>
          <p:spPr>
            <a:xfrm>
              <a:off x="4190369" y="7400629"/>
              <a:ext cx="88583" cy="70009"/>
            </a:xfrm>
            <a:prstGeom prst="rect">
              <a:avLst/>
            </a:prstGeom>
            <a:solidFill>
              <a:srgbClr val="88BEC3"/>
            </a:solidFill>
            <a:ln w="7290">
              <a:noFill/>
            </a:ln>
          </p:spPr>
        </p:sp>
        <p:sp>
          <p:nvSpPr>
            <p:cNvPr id="1308" name="Match matrix 2-7">
              <a:extLst>
                <a:ext uri="{FF2B5EF4-FFF2-40B4-BE49-F238E27FC236}">
                  <a16:creationId xmlns:a16="http://schemas.microsoft.com/office/drawing/2014/main" id="{83DFB888-0521-0863-270C-DBAF169C149A}"/>
                </a:ext>
              </a:extLst>
            </p:cNvPr>
            <p:cNvSpPr>
              <a:spLocks noGrp="1"/>
            </p:cNvSpPr>
            <p:nvPr/>
          </p:nvSpPr>
          <p:spPr>
            <a:xfrm>
              <a:off x="4283237" y="7400629"/>
              <a:ext cx="88583" cy="70009"/>
            </a:xfrm>
            <a:prstGeom prst="rect">
              <a:avLst/>
            </a:prstGeom>
            <a:solidFill>
              <a:srgbClr val="A3CDDA"/>
            </a:solidFill>
            <a:ln w="7290">
              <a:noFill/>
            </a:ln>
          </p:spPr>
        </p:sp>
        <p:sp>
          <p:nvSpPr>
            <p:cNvPr id="1309" name="Match matrix 3-0">
              <a:extLst>
                <a:ext uri="{FF2B5EF4-FFF2-40B4-BE49-F238E27FC236}">
                  <a16:creationId xmlns:a16="http://schemas.microsoft.com/office/drawing/2014/main" id="{CDAE8F1E-742C-7BA1-EB00-87CA9B9E40A2}"/>
                </a:ext>
              </a:extLst>
            </p:cNvPr>
            <p:cNvSpPr>
              <a:spLocks noGrp="1"/>
            </p:cNvSpPr>
            <p:nvPr/>
          </p:nvSpPr>
          <p:spPr>
            <a:xfrm>
              <a:off x="3633156" y="7474924"/>
              <a:ext cx="88583" cy="70009"/>
            </a:xfrm>
            <a:prstGeom prst="rect">
              <a:avLst/>
            </a:prstGeom>
            <a:solidFill>
              <a:srgbClr val="88BEC3"/>
            </a:solidFill>
            <a:ln w="7290">
              <a:noFill/>
            </a:ln>
          </p:spPr>
        </p:sp>
        <p:sp>
          <p:nvSpPr>
            <p:cNvPr id="1310" name="Match matrix 3-1">
              <a:extLst>
                <a:ext uri="{FF2B5EF4-FFF2-40B4-BE49-F238E27FC236}">
                  <a16:creationId xmlns:a16="http://schemas.microsoft.com/office/drawing/2014/main" id="{74117986-6240-D77F-909C-522F6146D289}"/>
                </a:ext>
              </a:extLst>
            </p:cNvPr>
            <p:cNvSpPr>
              <a:spLocks noGrp="1"/>
            </p:cNvSpPr>
            <p:nvPr/>
          </p:nvSpPr>
          <p:spPr>
            <a:xfrm>
              <a:off x="3726025" y="7474924"/>
              <a:ext cx="88583" cy="70009"/>
            </a:xfrm>
            <a:prstGeom prst="rect">
              <a:avLst/>
            </a:prstGeom>
            <a:solidFill>
              <a:srgbClr val="D6E5ED"/>
            </a:solidFill>
            <a:ln w="7290">
              <a:noFill/>
            </a:ln>
          </p:spPr>
        </p:sp>
        <p:sp>
          <p:nvSpPr>
            <p:cNvPr id="1311" name="Match matrix 3-2">
              <a:extLst>
                <a:ext uri="{FF2B5EF4-FFF2-40B4-BE49-F238E27FC236}">
                  <a16:creationId xmlns:a16="http://schemas.microsoft.com/office/drawing/2014/main" id="{68BD8A38-75EC-BA37-589D-F9C3EBE804E8}"/>
                </a:ext>
              </a:extLst>
            </p:cNvPr>
            <p:cNvSpPr>
              <a:spLocks noGrp="1"/>
            </p:cNvSpPr>
            <p:nvPr/>
          </p:nvSpPr>
          <p:spPr>
            <a:xfrm>
              <a:off x="3818894" y="7474924"/>
              <a:ext cx="88583" cy="70009"/>
            </a:xfrm>
            <a:prstGeom prst="rect">
              <a:avLst/>
            </a:prstGeom>
            <a:solidFill>
              <a:srgbClr val="67AD9F"/>
            </a:solidFill>
            <a:ln w="7290">
              <a:noFill/>
            </a:ln>
          </p:spPr>
        </p:sp>
        <p:sp>
          <p:nvSpPr>
            <p:cNvPr id="1312" name="Match matrix 3-3">
              <a:extLst>
                <a:ext uri="{FF2B5EF4-FFF2-40B4-BE49-F238E27FC236}">
                  <a16:creationId xmlns:a16="http://schemas.microsoft.com/office/drawing/2014/main" id="{BA2E6B5A-7074-DCD3-8646-836425ECA4E6}"/>
                </a:ext>
              </a:extLst>
            </p:cNvPr>
            <p:cNvSpPr>
              <a:spLocks noGrp="1"/>
            </p:cNvSpPr>
            <p:nvPr/>
          </p:nvSpPr>
          <p:spPr>
            <a:xfrm>
              <a:off x="3911762" y="7474924"/>
              <a:ext cx="88583" cy="70009"/>
            </a:xfrm>
            <a:prstGeom prst="rect">
              <a:avLst/>
            </a:prstGeom>
            <a:solidFill>
              <a:srgbClr val="3E8F9A"/>
            </a:solidFill>
            <a:ln w="7290">
              <a:noFill/>
            </a:ln>
          </p:spPr>
        </p:sp>
        <p:sp>
          <p:nvSpPr>
            <p:cNvPr id="1313" name="Match matrix 3-4">
              <a:extLst>
                <a:ext uri="{FF2B5EF4-FFF2-40B4-BE49-F238E27FC236}">
                  <a16:creationId xmlns:a16="http://schemas.microsoft.com/office/drawing/2014/main" id="{E2B9FFDB-87E6-991D-6FE1-3A8ED7934F53}"/>
                </a:ext>
              </a:extLst>
            </p:cNvPr>
            <p:cNvSpPr>
              <a:spLocks noGrp="1"/>
            </p:cNvSpPr>
            <p:nvPr/>
          </p:nvSpPr>
          <p:spPr>
            <a:xfrm>
              <a:off x="4004631" y="7474924"/>
              <a:ext cx="88583" cy="70009"/>
            </a:xfrm>
            <a:prstGeom prst="rect">
              <a:avLst/>
            </a:prstGeom>
            <a:solidFill>
              <a:srgbClr val="C4DDE0"/>
            </a:solidFill>
            <a:ln w="7290">
              <a:noFill/>
            </a:ln>
          </p:spPr>
        </p:sp>
        <p:sp>
          <p:nvSpPr>
            <p:cNvPr id="1314" name="Match matrix 3-5">
              <a:extLst>
                <a:ext uri="{FF2B5EF4-FFF2-40B4-BE49-F238E27FC236}">
                  <a16:creationId xmlns:a16="http://schemas.microsoft.com/office/drawing/2014/main" id="{93BBAAA9-24B8-1E29-A6DC-8B4D096073B5}"/>
                </a:ext>
              </a:extLst>
            </p:cNvPr>
            <p:cNvSpPr>
              <a:spLocks noGrp="1"/>
            </p:cNvSpPr>
            <p:nvPr/>
          </p:nvSpPr>
          <p:spPr>
            <a:xfrm>
              <a:off x="4097500" y="7474924"/>
              <a:ext cx="88583" cy="70009"/>
            </a:xfrm>
            <a:prstGeom prst="rect">
              <a:avLst/>
            </a:prstGeom>
            <a:solidFill>
              <a:srgbClr val="A3CDDA"/>
            </a:solidFill>
            <a:ln w="7290">
              <a:noFill/>
            </a:ln>
          </p:spPr>
        </p:sp>
        <p:sp>
          <p:nvSpPr>
            <p:cNvPr id="1315" name="Match matrix 3-6">
              <a:extLst>
                <a:ext uri="{FF2B5EF4-FFF2-40B4-BE49-F238E27FC236}">
                  <a16:creationId xmlns:a16="http://schemas.microsoft.com/office/drawing/2014/main" id="{68A528E6-65EA-9C73-7412-55AD6CD16CE8}"/>
                </a:ext>
              </a:extLst>
            </p:cNvPr>
            <p:cNvSpPr>
              <a:spLocks noGrp="1"/>
            </p:cNvSpPr>
            <p:nvPr/>
          </p:nvSpPr>
          <p:spPr>
            <a:xfrm>
              <a:off x="4190369" y="7474924"/>
              <a:ext cx="88583" cy="70009"/>
            </a:xfrm>
            <a:prstGeom prst="rect">
              <a:avLst/>
            </a:prstGeom>
            <a:solidFill>
              <a:srgbClr val="B6D8CC"/>
            </a:solidFill>
            <a:ln w="7290">
              <a:noFill/>
            </a:ln>
          </p:spPr>
        </p:sp>
        <p:sp>
          <p:nvSpPr>
            <p:cNvPr id="1316" name="Match matrix 3-7">
              <a:extLst>
                <a:ext uri="{FF2B5EF4-FFF2-40B4-BE49-F238E27FC236}">
                  <a16:creationId xmlns:a16="http://schemas.microsoft.com/office/drawing/2014/main" id="{2EEE91B3-D81D-6257-AECC-400C8A929123}"/>
                </a:ext>
              </a:extLst>
            </p:cNvPr>
            <p:cNvSpPr>
              <a:spLocks noGrp="1"/>
            </p:cNvSpPr>
            <p:nvPr/>
          </p:nvSpPr>
          <p:spPr>
            <a:xfrm>
              <a:off x="4283237" y="7474924"/>
              <a:ext cx="88583" cy="70009"/>
            </a:xfrm>
            <a:prstGeom prst="rect">
              <a:avLst/>
            </a:prstGeom>
            <a:solidFill>
              <a:srgbClr val="5B9FB6"/>
            </a:solidFill>
            <a:ln w="7290">
              <a:noFill/>
            </a:ln>
          </p:spPr>
        </p:sp>
        <p:sp>
          <p:nvSpPr>
            <p:cNvPr id="1318" name="SMILES continuation 806-628.2">
              <a:extLst>
                <a:ext uri="{FF2B5EF4-FFF2-40B4-BE49-F238E27FC236}">
                  <a16:creationId xmlns:a16="http://schemas.microsoft.com/office/drawing/2014/main" id="{F23A2C65-E88A-BB4F-DB2B-F6BDFE0A90A0}"/>
                </a:ext>
              </a:extLst>
            </p:cNvPr>
            <p:cNvSpPr>
              <a:spLocks noGrp="1"/>
            </p:cNvSpPr>
            <p:nvPr/>
          </p:nvSpPr>
          <p:spPr>
            <a:xfrm>
              <a:off x="8110676" y="5974080"/>
              <a:ext cx="19050" cy="19050"/>
            </a:xfrm>
            <a:prstGeom prst="ellipse">
              <a:avLst/>
            </a:prstGeom>
            <a:solidFill>
              <a:srgbClr val="71808C"/>
            </a:solidFill>
            <a:ln w="0">
              <a:noFill/>
            </a:ln>
          </p:spPr>
        </p:sp>
        <p:sp>
          <p:nvSpPr>
            <p:cNvPr id="1319" name="SMILES continuation 812-628.2">
              <a:extLst>
                <a:ext uri="{FF2B5EF4-FFF2-40B4-BE49-F238E27FC236}">
                  <a16:creationId xmlns:a16="http://schemas.microsoft.com/office/drawing/2014/main" id="{3B989565-3BAD-D4AD-9254-F92A9CA55F5F}"/>
                </a:ext>
              </a:extLst>
            </p:cNvPr>
            <p:cNvSpPr>
              <a:spLocks noGrp="1"/>
            </p:cNvSpPr>
            <p:nvPr/>
          </p:nvSpPr>
          <p:spPr>
            <a:xfrm>
              <a:off x="8167826" y="5974080"/>
              <a:ext cx="19050" cy="19050"/>
            </a:xfrm>
            <a:prstGeom prst="ellipse">
              <a:avLst/>
            </a:prstGeom>
            <a:solidFill>
              <a:srgbClr val="71808C"/>
            </a:solidFill>
            <a:ln w="0">
              <a:noFill/>
            </a:ln>
          </p:spPr>
        </p:sp>
        <p:sp>
          <p:nvSpPr>
            <p:cNvPr id="1320" name="SMILES continuation 818-628.2">
              <a:extLst>
                <a:ext uri="{FF2B5EF4-FFF2-40B4-BE49-F238E27FC236}">
                  <a16:creationId xmlns:a16="http://schemas.microsoft.com/office/drawing/2014/main" id="{42B8B6C2-B43E-383F-14DE-C418D4494332}"/>
                </a:ext>
              </a:extLst>
            </p:cNvPr>
            <p:cNvSpPr>
              <a:spLocks noGrp="1"/>
            </p:cNvSpPr>
            <p:nvPr/>
          </p:nvSpPr>
          <p:spPr>
            <a:xfrm>
              <a:off x="8224976" y="5974080"/>
              <a:ext cx="19050" cy="19050"/>
            </a:xfrm>
            <a:prstGeom prst="ellipse">
              <a:avLst/>
            </a:prstGeom>
            <a:solidFill>
              <a:srgbClr val="71808C"/>
            </a:solidFill>
            <a:ln w="0">
              <a:noFill/>
            </a:ln>
          </p:spPr>
        </p:sp>
        <p:sp>
          <p:nvSpPr>
            <p:cNvPr id="1321" name="SMILES continuation 806-667">
              <a:extLst>
                <a:ext uri="{FF2B5EF4-FFF2-40B4-BE49-F238E27FC236}">
                  <a16:creationId xmlns:a16="http://schemas.microsoft.com/office/drawing/2014/main" id="{39894408-4EFC-1123-4D43-5E7226F5F0C0}"/>
                </a:ext>
              </a:extLst>
            </p:cNvPr>
            <p:cNvSpPr>
              <a:spLocks noGrp="1"/>
            </p:cNvSpPr>
            <p:nvPr/>
          </p:nvSpPr>
          <p:spPr>
            <a:xfrm>
              <a:off x="8110676" y="6343650"/>
              <a:ext cx="19050" cy="19050"/>
            </a:xfrm>
            <a:prstGeom prst="ellipse">
              <a:avLst/>
            </a:prstGeom>
            <a:solidFill>
              <a:srgbClr val="71808C"/>
            </a:solidFill>
            <a:ln w="0">
              <a:noFill/>
            </a:ln>
          </p:spPr>
        </p:sp>
        <p:sp>
          <p:nvSpPr>
            <p:cNvPr id="1322" name="SMILES continuation 812-667">
              <a:extLst>
                <a:ext uri="{FF2B5EF4-FFF2-40B4-BE49-F238E27FC236}">
                  <a16:creationId xmlns:a16="http://schemas.microsoft.com/office/drawing/2014/main" id="{B15788D5-8154-0220-0ADD-B84E221B0B6F}"/>
                </a:ext>
              </a:extLst>
            </p:cNvPr>
            <p:cNvSpPr>
              <a:spLocks noGrp="1"/>
            </p:cNvSpPr>
            <p:nvPr/>
          </p:nvSpPr>
          <p:spPr>
            <a:xfrm>
              <a:off x="8167826" y="6343650"/>
              <a:ext cx="19050" cy="19050"/>
            </a:xfrm>
            <a:prstGeom prst="ellipse">
              <a:avLst/>
            </a:prstGeom>
            <a:solidFill>
              <a:srgbClr val="71808C"/>
            </a:solidFill>
            <a:ln w="0">
              <a:noFill/>
            </a:ln>
          </p:spPr>
        </p:sp>
        <p:sp>
          <p:nvSpPr>
            <p:cNvPr id="1323" name="SMILES continuation 818-667">
              <a:extLst>
                <a:ext uri="{FF2B5EF4-FFF2-40B4-BE49-F238E27FC236}">
                  <a16:creationId xmlns:a16="http://schemas.microsoft.com/office/drawing/2014/main" id="{06FB727B-1C36-BDAC-BF90-119F79F57919}"/>
                </a:ext>
              </a:extLst>
            </p:cNvPr>
            <p:cNvSpPr>
              <a:spLocks noGrp="1"/>
            </p:cNvSpPr>
            <p:nvPr/>
          </p:nvSpPr>
          <p:spPr>
            <a:xfrm>
              <a:off x="8224976" y="6343650"/>
              <a:ext cx="19050" cy="19050"/>
            </a:xfrm>
            <a:prstGeom prst="ellipse">
              <a:avLst/>
            </a:prstGeom>
            <a:solidFill>
              <a:srgbClr val="71808C"/>
            </a:solidFill>
            <a:ln w="0">
              <a:noFill/>
            </a:ln>
          </p:spPr>
        </p:sp>
        <p:sp>
          <p:nvSpPr>
            <p:cNvPr id="1324" name="Find density input">
              <a:extLst>
                <a:ext uri="{FF2B5EF4-FFF2-40B4-BE49-F238E27FC236}">
                  <a16:creationId xmlns:a16="http://schemas.microsoft.com/office/drawing/2014/main" id="{3BB3F16C-BBC6-CEA5-1D5F-BADEC13D0E07}"/>
                </a:ext>
              </a:extLst>
            </p:cNvPr>
            <p:cNvSpPr>
              <a:spLocks noGrp="1"/>
            </p:cNvSpPr>
            <p:nvPr/>
          </p:nvSpPr>
          <p:spPr>
            <a:xfrm flipV="1">
              <a:off x="2405391" y="1410958"/>
              <a:ext cx="692378" cy="107521"/>
            </a:xfrm>
            <a:custGeom>
              <a:avLst/>
              <a:gdLst/>
              <a:ahLst/>
              <a:cxnLst/>
              <a:rect l="0" t="0" r="0" b="0"/>
              <a:pathLst>
                <a:path w="125540" h="191">
                  <a:moveTo>
                    <a:pt x="0" y="0"/>
                  </a:moveTo>
                  <a:lnTo>
                    <a:pt x="125540" y="0"/>
                  </a:lnTo>
                </a:path>
              </a:pathLst>
            </a:custGeom>
            <a:noFill/>
            <a:ln w="8505">
              <a:solidFill>
                <a:srgbClr val="4083B4"/>
              </a:solidFill>
              <a:prstDash val="solid"/>
            </a:ln>
          </p:spPr>
        </p:sp>
        <p:sp>
          <p:nvSpPr>
            <p:cNvPr id="1325" name="Find density input head">
              <a:extLst>
                <a:ext uri="{FF2B5EF4-FFF2-40B4-BE49-F238E27FC236}">
                  <a16:creationId xmlns:a16="http://schemas.microsoft.com/office/drawing/2014/main" id="{DD01582E-D72F-DC2A-ED51-209065AB4BE2}"/>
                </a:ext>
              </a:extLst>
            </p:cNvPr>
            <p:cNvSpPr>
              <a:spLocks noGrp="1"/>
            </p:cNvSpPr>
            <p:nvPr/>
          </p:nvSpPr>
          <p:spPr>
            <a:xfrm>
              <a:off x="3052858" y="1489808"/>
              <a:ext cx="66676" cy="57339"/>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28" name="Find receptor input">
              <a:extLst>
                <a:ext uri="{FF2B5EF4-FFF2-40B4-BE49-F238E27FC236}">
                  <a16:creationId xmlns:a16="http://schemas.microsoft.com/office/drawing/2014/main" id="{8835B13D-A150-D32A-EA5F-DF6B94803636}"/>
                </a:ext>
              </a:extLst>
            </p:cNvPr>
            <p:cNvSpPr>
              <a:spLocks noGrp="1"/>
            </p:cNvSpPr>
            <p:nvPr/>
          </p:nvSpPr>
          <p:spPr>
            <a:xfrm>
              <a:off x="2405391" y="3260557"/>
              <a:ext cx="692378" cy="107521"/>
            </a:xfrm>
            <a:custGeom>
              <a:avLst/>
              <a:gdLst/>
              <a:ahLst/>
              <a:cxnLst/>
              <a:rect l="0" t="0" r="0" b="0"/>
              <a:pathLst>
                <a:path w="125540" h="191">
                  <a:moveTo>
                    <a:pt x="0" y="0"/>
                  </a:moveTo>
                  <a:lnTo>
                    <a:pt x="125540" y="0"/>
                  </a:lnTo>
                </a:path>
              </a:pathLst>
            </a:custGeom>
            <a:solidFill>
              <a:srgbClr val="4083B4"/>
            </a:solidFill>
            <a:ln w="8505">
              <a:solidFill>
                <a:srgbClr val="4083B4"/>
              </a:solidFill>
              <a:prstDash val="solid"/>
            </a:ln>
          </p:spPr>
        </p:sp>
        <p:sp>
          <p:nvSpPr>
            <p:cNvPr id="1329" name="Find receptor input head">
              <a:extLst>
                <a:ext uri="{FF2B5EF4-FFF2-40B4-BE49-F238E27FC236}">
                  <a16:creationId xmlns:a16="http://schemas.microsoft.com/office/drawing/2014/main" id="{A5463DF5-F357-C133-4537-3687854104BD}"/>
                </a:ext>
              </a:extLst>
            </p:cNvPr>
            <p:cNvSpPr>
              <a:spLocks noGrp="1"/>
            </p:cNvSpPr>
            <p:nvPr/>
          </p:nvSpPr>
          <p:spPr>
            <a:xfrm>
              <a:off x="3052858" y="3231886"/>
              <a:ext cx="66676" cy="57339"/>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32" name="Find voxel output">
              <a:extLst>
                <a:ext uri="{FF2B5EF4-FFF2-40B4-BE49-F238E27FC236}">
                  <a16:creationId xmlns:a16="http://schemas.microsoft.com/office/drawing/2014/main" id="{A7A050F5-4BBD-83D0-3E56-868138C02A2E}"/>
                </a:ext>
              </a:extLst>
            </p:cNvPr>
            <p:cNvSpPr>
              <a:spLocks noGrp="1"/>
            </p:cNvSpPr>
            <p:nvPr/>
          </p:nvSpPr>
          <p:spPr>
            <a:xfrm>
              <a:off x="9680238" y="1544003"/>
              <a:ext cx="409314" cy="191"/>
            </a:xfrm>
            <a:custGeom>
              <a:avLst/>
              <a:gdLst/>
              <a:ahLst/>
              <a:cxnLst/>
              <a:rect l="0" t="0" r="0" b="0"/>
              <a:pathLst>
                <a:path w="252508" h="191">
                  <a:moveTo>
                    <a:pt x="0" y="0"/>
                  </a:moveTo>
                  <a:lnTo>
                    <a:pt x="252508" y="0"/>
                  </a:lnTo>
                </a:path>
              </a:pathLst>
            </a:custGeom>
            <a:noFill/>
            <a:ln w="8505">
              <a:solidFill>
                <a:srgbClr val="4083B4"/>
              </a:solidFill>
              <a:prstDash val="solid"/>
            </a:ln>
          </p:spPr>
        </p:sp>
        <p:sp>
          <p:nvSpPr>
            <p:cNvPr id="1333" name="Find voxel output head">
              <a:extLst>
                <a:ext uri="{FF2B5EF4-FFF2-40B4-BE49-F238E27FC236}">
                  <a16:creationId xmlns:a16="http://schemas.microsoft.com/office/drawing/2014/main" id="{375132D2-B1BA-3819-E6E4-408E45D3577A}"/>
                </a:ext>
              </a:extLst>
            </p:cNvPr>
            <p:cNvSpPr>
              <a:spLocks noGrp="1"/>
            </p:cNvSpPr>
            <p:nvPr/>
          </p:nvSpPr>
          <p:spPr>
            <a:xfrm>
              <a:off x="10046213" y="1515332"/>
              <a:ext cx="66675" cy="57340"/>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34" name="Find point output">
              <a:extLst>
                <a:ext uri="{FF2B5EF4-FFF2-40B4-BE49-F238E27FC236}">
                  <a16:creationId xmlns:a16="http://schemas.microsoft.com/office/drawing/2014/main" id="{E2AB92F8-FB1A-DF4D-C056-6A909BEA2DE1}"/>
                </a:ext>
              </a:extLst>
            </p:cNvPr>
            <p:cNvSpPr>
              <a:spLocks noGrp="1"/>
            </p:cNvSpPr>
            <p:nvPr/>
          </p:nvSpPr>
          <p:spPr>
            <a:xfrm>
              <a:off x="9680238" y="3107055"/>
              <a:ext cx="409314" cy="191"/>
            </a:xfrm>
            <a:custGeom>
              <a:avLst/>
              <a:gdLst/>
              <a:ahLst/>
              <a:cxnLst/>
              <a:rect l="0" t="0" r="0" b="0"/>
              <a:pathLst>
                <a:path w="252508" h="191">
                  <a:moveTo>
                    <a:pt x="0" y="0"/>
                  </a:moveTo>
                  <a:lnTo>
                    <a:pt x="252508" y="0"/>
                  </a:lnTo>
                </a:path>
              </a:pathLst>
            </a:custGeom>
            <a:noFill/>
            <a:ln w="8505">
              <a:solidFill>
                <a:srgbClr val="4083B4"/>
              </a:solidFill>
              <a:prstDash val="solid"/>
            </a:ln>
          </p:spPr>
        </p:sp>
        <p:sp>
          <p:nvSpPr>
            <p:cNvPr id="1335" name="Find point output head">
              <a:extLst>
                <a:ext uri="{FF2B5EF4-FFF2-40B4-BE49-F238E27FC236}">
                  <a16:creationId xmlns:a16="http://schemas.microsoft.com/office/drawing/2014/main" id="{28B06725-C3FB-3373-8A56-A66D9CE3ECA7}"/>
                </a:ext>
              </a:extLst>
            </p:cNvPr>
            <p:cNvSpPr>
              <a:spLocks noGrp="1"/>
            </p:cNvSpPr>
            <p:nvPr/>
          </p:nvSpPr>
          <p:spPr>
            <a:xfrm>
              <a:off x="10046213" y="3078385"/>
              <a:ext cx="66675" cy="57340"/>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36" name="U-Net flow refined 1">
              <a:extLst>
                <a:ext uri="{FF2B5EF4-FFF2-40B4-BE49-F238E27FC236}">
                  <a16:creationId xmlns:a16="http://schemas.microsoft.com/office/drawing/2014/main" id="{5BDE2ECB-1CBA-ACB1-3426-F3E9F144A8A7}"/>
                </a:ext>
              </a:extLst>
            </p:cNvPr>
            <p:cNvSpPr>
              <a:spLocks noGrp="1"/>
            </p:cNvSpPr>
            <p:nvPr/>
          </p:nvSpPr>
          <p:spPr>
            <a:xfrm>
              <a:off x="5329408" y="1943100"/>
              <a:ext cx="71390" cy="191"/>
            </a:xfrm>
            <a:custGeom>
              <a:avLst/>
              <a:gdLst/>
              <a:ahLst/>
              <a:cxnLst/>
              <a:rect l="0" t="0" r="0" b="0"/>
              <a:pathLst>
                <a:path w="71390" h="191">
                  <a:moveTo>
                    <a:pt x="0" y="0"/>
                  </a:moveTo>
                  <a:lnTo>
                    <a:pt x="71390" y="0"/>
                  </a:lnTo>
                </a:path>
              </a:pathLst>
            </a:custGeom>
            <a:noFill/>
            <a:ln w="6480">
              <a:solidFill>
                <a:srgbClr val="4083B4"/>
              </a:solidFill>
              <a:prstDash val="solid"/>
            </a:ln>
          </p:spPr>
        </p:sp>
        <p:sp>
          <p:nvSpPr>
            <p:cNvPr id="1337" name="U-Net flow refined 1 head">
              <a:extLst>
                <a:ext uri="{FF2B5EF4-FFF2-40B4-BE49-F238E27FC236}">
                  <a16:creationId xmlns:a16="http://schemas.microsoft.com/office/drawing/2014/main" id="{94C963B0-6292-D96E-8000-E5176CACF1B1}"/>
                </a:ext>
              </a:extLst>
            </p:cNvPr>
            <p:cNvSpPr>
              <a:spLocks noGrp="1"/>
            </p:cNvSpPr>
            <p:nvPr/>
          </p:nvSpPr>
          <p:spPr>
            <a:xfrm>
              <a:off x="537417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38" name="U-Net flow refined 2">
              <a:extLst>
                <a:ext uri="{FF2B5EF4-FFF2-40B4-BE49-F238E27FC236}">
                  <a16:creationId xmlns:a16="http://schemas.microsoft.com/office/drawing/2014/main" id="{6EDFECDB-834F-45E8-C447-187E68499D36}"/>
                </a:ext>
              </a:extLst>
            </p:cNvPr>
            <p:cNvSpPr>
              <a:spLocks noGrp="1"/>
            </p:cNvSpPr>
            <p:nvPr/>
          </p:nvSpPr>
          <p:spPr>
            <a:xfrm>
              <a:off x="5786608" y="1943100"/>
              <a:ext cx="61865" cy="191"/>
            </a:xfrm>
            <a:custGeom>
              <a:avLst/>
              <a:gdLst/>
              <a:ahLst/>
              <a:cxnLst/>
              <a:rect l="0" t="0" r="0" b="0"/>
              <a:pathLst>
                <a:path w="61865" h="191">
                  <a:moveTo>
                    <a:pt x="0" y="0"/>
                  </a:moveTo>
                  <a:lnTo>
                    <a:pt x="61865" y="0"/>
                  </a:lnTo>
                </a:path>
              </a:pathLst>
            </a:custGeom>
            <a:noFill/>
            <a:ln w="6480">
              <a:solidFill>
                <a:srgbClr val="4083B4"/>
              </a:solidFill>
              <a:prstDash val="solid"/>
            </a:ln>
          </p:spPr>
        </p:sp>
        <p:sp>
          <p:nvSpPr>
            <p:cNvPr id="1339" name="U-Net flow refined 2 head">
              <a:extLst>
                <a:ext uri="{FF2B5EF4-FFF2-40B4-BE49-F238E27FC236}">
                  <a16:creationId xmlns:a16="http://schemas.microsoft.com/office/drawing/2014/main" id="{147D1FA6-05BE-3A5D-C1FE-78DB516DA9EB}"/>
                </a:ext>
              </a:extLst>
            </p:cNvPr>
            <p:cNvSpPr>
              <a:spLocks noGrp="1"/>
            </p:cNvSpPr>
            <p:nvPr/>
          </p:nvSpPr>
          <p:spPr>
            <a:xfrm>
              <a:off x="5821851"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0" name="U-Net flow refined 3">
              <a:extLst>
                <a:ext uri="{FF2B5EF4-FFF2-40B4-BE49-F238E27FC236}">
                  <a16:creationId xmlns:a16="http://schemas.microsoft.com/office/drawing/2014/main" id="{7AF7CF23-54DF-A29D-2F07-D36A3F45EDD2}"/>
                </a:ext>
              </a:extLst>
            </p:cNvPr>
            <p:cNvSpPr>
              <a:spLocks noGrp="1"/>
            </p:cNvSpPr>
            <p:nvPr/>
          </p:nvSpPr>
          <p:spPr>
            <a:xfrm>
              <a:off x="6358108" y="1943100"/>
              <a:ext cx="185690" cy="191"/>
            </a:xfrm>
            <a:custGeom>
              <a:avLst/>
              <a:gdLst/>
              <a:ahLst/>
              <a:cxnLst/>
              <a:rect l="0" t="0" r="0" b="0"/>
              <a:pathLst>
                <a:path w="185690" h="191">
                  <a:moveTo>
                    <a:pt x="0" y="0"/>
                  </a:moveTo>
                  <a:lnTo>
                    <a:pt x="185690" y="0"/>
                  </a:lnTo>
                </a:path>
              </a:pathLst>
            </a:custGeom>
            <a:noFill/>
            <a:ln w="6480">
              <a:solidFill>
                <a:srgbClr val="4083B4"/>
              </a:solidFill>
              <a:prstDash val="solid"/>
            </a:ln>
          </p:spPr>
        </p:sp>
        <p:sp>
          <p:nvSpPr>
            <p:cNvPr id="1341" name="U-Net flow refined 3 head">
              <a:extLst>
                <a:ext uri="{FF2B5EF4-FFF2-40B4-BE49-F238E27FC236}">
                  <a16:creationId xmlns:a16="http://schemas.microsoft.com/office/drawing/2014/main" id="{99F4C0B1-883D-15E1-DE1D-B9D0B602A47D}"/>
                </a:ext>
              </a:extLst>
            </p:cNvPr>
            <p:cNvSpPr>
              <a:spLocks noGrp="1"/>
            </p:cNvSpPr>
            <p:nvPr/>
          </p:nvSpPr>
          <p:spPr>
            <a:xfrm>
              <a:off x="651717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2" name="U-Net flow refined 4">
              <a:extLst>
                <a:ext uri="{FF2B5EF4-FFF2-40B4-BE49-F238E27FC236}">
                  <a16:creationId xmlns:a16="http://schemas.microsoft.com/office/drawing/2014/main" id="{1AB9AC41-CF99-6B25-72AE-CA5759E07BBC}"/>
                </a:ext>
              </a:extLst>
            </p:cNvPr>
            <p:cNvSpPr>
              <a:spLocks noGrp="1"/>
            </p:cNvSpPr>
            <p:nvPr/>
          </p:nvSpPr>
          <p:spPr>
            <a:xfrm>
              <a:off x="7634458" y="1943100"/>
              <a:ext cx="204740" cy="191"/>
            </a:xfrm>
            <a:custGeom>
              <a:avLst/>
              <a:gdLst/>
              <a:ahLst/>
              <a:cxnLst/>
              <a:rect l="0" t="0" r="0" b="0"/>
              <a:pathLst>
                <a:path w="204740" h="191">
                  <a:moveTo>
                    <a:pt x="0" y="0"/>
                  </a:moveTo>
                  <a:lnTo>
                    <a:pt x="204740" y="0"/>
                  </a:lnTo>
                </a:path>
              </a:pathLst>
            </a:custGeom>
            <a:noFill/>
            <a:ln w="6480">
              <a:solidFill>
                <a:srgbClr val="4083B4"/>
              </a:solidFill>
              <a:prstDash val="solid"/>
            </a:ln>
          </p:spPr>
        </p:sp>
        <p:sp>
          <p:nvSpPr>
            <p:cNvPr id="1343" name="U-Net flow refined 4 head">
              <a:extLst>
                <a:ext uri="{FF2B5EF4-FFF2-40B4-BE49-F238E27FC236}">
                  <a16:creationId xmlns:a16="http://schemas.microsoft.com/office/drawing/2014/main" id="{8B74AF9E-166C-456E-8C30-81819473FD65}"/>
                </a:ext>
              </a:extLst>
            </p:cNvPr>
            <p:cNvSpPr>
              <a:spLocks noGrp="1"/>
            </p:cNvSpPr>
            <p:nvPr/>
          </p:nvSpPr>
          <p:spPr>
            <a:xfrm>
              <a:off x="781257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4" name="U-Net flow refined 5">
              <a:extLst>
                <a:ext uri="{FF2B5EF4-FFF2-40B4-BE49-F238E27FC236}">
                  <a16:creationId xmlns:a16="http://schemas.microsoft.com/office/drawing/2014/main" id="{1DF9FEC8-127A-C6BF-A242-5459B8B47514}"/>
                </a:ext>
              </a:extLst>
            </p:cNvPr>
            <p:cNvSpPr>
              <a:spLocks noGrp="1"/>
            </p:cNvSpPr>
            <p:nvPr/>
          </p:nvSpPr>
          <p:spPr>
            <a:xfrm>
              <a:off x="8358358" y="1943100"/>
              <a:ext cx="71390" cy="191"/>
            </a:xfrm>
            <a:custGeom>
              <a:avLst/>
              <a:gdLst/>
              <a:ahLst/>
              <a:cxnLst/>
              <a:rect l="0" t="0" r="0" b="0"/>
              <a:pathLst>
                <a:path w="71390" h="191">
                  <a:moveTo>
                    <a:pt x="0" y="0"/>
                  </a:moveTo>
                  <a:lnTo>
                    <a:pt x="71390" y="0"/>
                  </a:lnTo>
                </a:path>
              </a:pathLst>
            </a:custGeom>
            <a:noFill/>
            <a:ln w="6480">
              <a:solidFill>
                <a:srgbClr val="4083B4"/>
              </a:solidFill>
              <a:prstDash val="solid"/>
            </a:ln>
          </p:spPr>
        </p:sp>
        <p:sp>
          <p:nvSpPr>
            <p:cNvPr id="1345" name="U-Net flow refined 5 head">
              <a:extLst>
                <a:ext uri="{FF2B5EF4-FFF2-40B4-BE49-F238E27FC236}">
                  <a16:creationId xmlns:a16="http://schemas.microsoft.com/office/drawing/2014/main" id="{235A2EBC-75E8-8D72-4A9D-B691D888DD1B}"/>
                </a:ext>
              </a:extLst>
            </p:cNvPr>
            <p:cNvSpPr>
              <a:spLocks noGrp="1"/>
            </p:cNvSpPr>
            <p:nvPr/>
          </p:nvSpPr>
          <p:spPr>
            <a:xfrm>
              <a:off x="840312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6" name="U-Net flow refined 6">
              <a:extLst>
                <a:ext uri="{FF2B5EF4-FFF2-40B4-BE49-F238E27FC236}">
                  <a16:creationId xmlns:a16="http://schemas.microsoft.com/office/drawing/2014/main" id="{E16F5364-FA67-8E77-55DD-31048ACFB369}"/>
                </a:ext>
              </a:extLst>
            </p:cNvPr>
            <p:cNvSpPr>
              <a:spLocks noGrp="1"/>
            </p:cNvSpPr>
            <p:nvPr/>
          </p:nvSpPr>
          <p:spPr>
            <a:xfrm>
              <a:off x="8796508" y="1943100"/>
              <a:ext cx="90440" cy="191"/>
            </a:xfrm>
            <a:custGeom>
              <a:avLst/>
              <a:gdLst/>
              <a:ahLst/>
              <a:cxnLst/>
              <a:rect l="0" t="0" r="0" b="0"/>
              <a:pathLst>
                <a:path w="90440" h="191">
                  <a:moveTo>
                    <a:pt x="0" y="0"/>
                  </a:moveTo>
                  <a:lnTo>
                    <a:pt x="90440" y="0"/>
                  </a:lnTo>
                </a:path>
              </a:pathLst>
            </a:custGeom>
            <a:noFill/>
            <a:ln w="6480">
              <a:solidFill>
                <a:srgbClr val="4083B4"/>
              </a:solidFill>
              <a:prstDash val="solid"/>
            </a:ln>
          </p:spPr>
        </p:sp>
        <p:sp>
          <p:nvSpPr>
            <p:cNvPr id="1347" name="U-Net flow refined 6 head">
              <a:extLst>
                <a:ext uri="{FF2B5EF4-FFF2-40B4-BE49-F238E27FC236}">
                  <a16:creationId xmlns:a16="http://schemas.microsoft.com/office/drawing/2014/main" id="{CAB8405E-639F-441D-4076-97C5C8079141}"/>
                </a:ext>
              </a:extLst>
            </p:cNvPr>
            <p:cNvSpPr>
              <a:spLocks noGrp="1"/>
            </p:cNvSpPr>
            <p:nvPr/>
          </p:nvSpPr>
          <p:spPr>
            <a:xfrm>
              <a:off x="886032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8" name="Skip outer refined">
              <a:extLst>
                <a:ext uri="{FF2B5EF4-FFF2-40B4-BE49-F238E27FC236}">
                  <a16:creationId xmlns:a16="http://schemas.microsoft.com/office/drawing/2014/main" id="{FCEC7BC5-9C91-5A2D-286F-54CED1B58658}"/>
                </a:ext>
              </a:extLst>
            </p:cNvPr>
            <p:cNvSpPr>
              <a:spLocks noGrp="1"/>
            </p:cNvSpPr>
            <p:nvPr/>
          </p:nvSpPr>
          <p:spPr>
            <a:xfrm>
              <a:off x="4919833" y="1209675"/>
              <a:ext cx="4333875" cy="219075"/>
            </a:xfrm>
            <a:custGeom>
              <a:avLst/>
              <a:gdLst/>
              <a:ahLst/>
              <a:cxnLst/>
              <a:rect l="0" t="0" r="0" b="0"/>
              <a:pathLst>
                <a:path w="4333875" h="219075">
                  <a:moveTo>
                    <a:pt x="0" y="219075"/>
                  </a:moveTo>
                  <a:lnTo>
                    <a:pt x="0" y="0"/>
                  </a:lnTo>
                  <a:lnTo>
                    <a:pt x="4333875" y="0"/>
                  </a:lnTo>
                  <a:lnTo>
                    <a:pt x="4333875" y="204073"/>
                  </a:lnTo>
                </a:path>
              </a:pathLst>
            </a:custGeom>
            <a:noFill/>
            <a:ln w="5468">
              <a:solidFill>
                <a:srgbClr val="85AFCB"/>
              </a:solidFill>
              <a:prstDash val="dash"/>
            </a:ln>
          </p:spPr>
        </p:sp>
        <p:sp>
          <p:nvSpPr>
            <p:cNvPr id="1349" name="Skip outer refined head">
              <a:extLst>
                <a:ext uri="{FF2B5EF4-FFF2-40B4-BE49-F238E27FC236}">
                  <a16:creationId xmlns:a16="http://schemas.microsoft.com/office/drawing/2014/main" id="{D6AAD354-1253-F73A-1F09-0D42951F0AD2}"/>
                </a:ext>
              </a:extLst>
            </p:cNvPr>
            <p:cNvSpPr>
              <a:spLocks noGrp="1"/>
            </p:cNvSpPr>
            <p:nvPr/>
          </p:nvSpPr>
          <p:spPr>
            <a:xfrm>
              <a:off x="9235277" y="1385888"/>
              <a:ext cx="36862" cy="42863"/>
            </a:xfrm>
            <a:custGeom>
              <a:avLst/>
              <a:gdLst/>
              <a:ahLst/>
              <a:cxnLst/>
              <a:rect l="0" t="0" r="0" b="0"/>
              <a:pathLst>
                <a:path w="36862" h="42863">
                  <a:moveTo>
                    <a:pt x="18431" y="42863"/>
                  </a:moveTo>
                  <a:lnTo>
                    <a:pt x="36862" y="0"/>
                  </a:lnTo>
                  <a:lnTo>
                    <a:pt x="0" y="0"/>
                  </a:lnTo>
                  <a:close/>
                </a:path>
              </a:pathLst>
            </a:custGeom>
            <a:solidFill>
              <a:srgbClr val="85AFCB"/>
            </a:solidFill>
            <a:ln w="0">
              <a:noFill/>
              <a:prstDash val="solid"/>
            </a:ln>
          </p:spPr>
        </p:sp>
        <p:sp>
          <p:nvSpPr>
            <p:cNvPr id="1350" name="Skip middle refined">
              <a:extLst>
                <a:ext uri="{FF2B5EF4-FFF2-40B4-BE49-F238E27FC236}">
                  <a16:creationId xmlns:a16="http://schemas.microsoft.com/office/drawing/2014/main" id="{E944DD48-0E77-62B4-4E66-FC482D648DB0}"/>
                </a:ext>
              </a:extLst>
            </p:cNvPr>
            <p:cNvSpPr>
              <a:spLocks noGrp="1"/>
            </p:cNvSpPr>
            <p:nvPr/>
          </p:nvSpPr>
          <p:spPr>
            <a:xfrm>
              <a:off x="5558008" y="1295400"/>
              <a:ext cx="3067050" cy="266700"/>
            </a:xfrm>
            <a:custGeom>
              <a:avLst/>
              <a:gdLst/>
              <a:ahLst/>
              <a:cxnLst/>
              <a:rect l="0" t="0" r="0" b="0"/>
              <a:pathLst>
                <a:path w="3067050" h="266700">
                  <a:moveTo>
                    <a:pt x="0" y="266700"/>
                  </a:moveTo>
                  <a:lnTo>
                    <a:pt x="0" y="0"/>
                  </a:lnTo>
                  <a:lnTo>
                    <a:pt x="3067050" y="0"/>
                  </a:lnTo>
                  <a:lnTo>
                    <a:pt x="3067050" y="251698"/>
                  </a:lnTo>
                </a:path>
              </a:pathLst>
            </a:custGeom>
            <a:noFill/>
            <a:ln w="5468">
              <a:solidFill>
                <a:srgbClr val="85AFCB"/>
              </a:solidFill>
              <a:prstDash val="dash"/>
            </a:ln>
          </p:spPr>
        </p:sp>
        <p:sp>
          <p:nvSpPr>
            <p:cNvPr id="1351" name="Skip middle refined head">
              <a:extLst>
                <a:ext uri="{FF2B5EF4-FFF2-40B4-BE49-F238E27FC236}">
                  <a16:creationId xmlns:a16="http://schemas.microsoft.com/office/drawing/2014/main" id="{5D984C66-44F4-6C0C-29FA-C26BCC014DA5}"/>
                </a:ext>
              </a:extLst>
            </p:cNvPr>
            <p:cNvSpPr>
              <a:spLocks noGrp="1"/>
            </p:cNvSpPr>
            <p:nvPr/>
          </p:nvSpPr>
          <p:spPr>
            <a:xfrm>
              <a:off x="8606627" y="1519238"/>
              <a:ext cx="36862" cy="42863"/>
            </a:xfrm>
            <a:custGeom>
              <a:avLst/>
              <a:gdLst/>
              <a:ahLst/>
              <a:cxnLst/>
              <a:rect l="0" t="0" r="0" b="0"/>
              <a:pathLst>
                <a:path w="36862" h="42863">
                  <a:moveTo>
                    <a:pt x="18431" y="42863"/>
                  </a:moveTo>
                  <a:lnTo>
                    <a:pt x="36862" y="0"/>
                  </a:lnTo>
                  <a:lnTo>
                    <a:pt x="0" y="0"/>
                  </a:lnTo>
                  <a:close/>
                </a:path>
              </a:pathLst>
            </a:custGeom>
            <a:solidFill>
              <a:srgbClr val="85AFCB"/>
            </a:solidFill>
            <a:ln w="0">
              <a:noFill/>
              <a:prstDash val="solid"/>
            </a:ln>
          </p:spPr>
        </p:sp>
        <p:sp>
          <p:nvSpPr>
            <p:cNvPr id="1352" name="Skip inner refined">
              <a:extLst>
                <a:ext uri="{FF2B5EF4-FFF2-40B4-BE49-F238E27FC236}">
                  <a16:creationId xmlns:a16="http://schemas.microsoft.com/office/drawing/2014/main" id="{796339B7-CA5C-9A6F-F626-7D7B76227D0E}"/>
                </a:ext>
              </a:extLst>
            </p:cNvPr>
            <p:cNvSpPr>
              <a:spLocks noGrp="1"/>
            </p:cNvSpPr>
            <p:nvPr/>
          </p:nvSpPr>
          <p:spPr>
            <a:xfrm>
              <a:off x="6081883" y="1381125"/>
              <a:ext cx="2000250" cy="323850"/>
            </a:xfrm>
            <a:custGeom>
              <a:avLst/>
              <a:gdLst/>
              <a:ahLst/>
              <a:cxnLst/>
              <a:rect l="0" t="0" r="0" b="0"/>
              <a:pathLst>
                <a:path w="2000250" h="323850">
                  <a:moveTo>
                    <a:pt x="0" y="323850"/>
                  </a:moveTo>
                  <a:lnTo>
                    <a:pt x="0" y="0"/>
                  </a:lnTo>
                  <a:lnTo>
                    <a:pt x="2000250" y="0"/>
                  </a:lnTo>
                  <a:lnTo>
                    <a:pt x="2000250" y="308848"/>
                  </a:lnTo>
                </a:path>
              </a:pathLst>
            </a:custGeom>
            <a:noFill/>
            <a:ln w="5468">
              <a:solidFill>
                <a:srgbClr val="85AFCB"/>
              </a:solidFill>
              <a:prstDash val="dash"/>
            </a:ln>
          </p:spPr>
        </p:sp>
        <p:sp>
          <p:nvSpPr>
            <p:cNvPr id="1353" name="Skip inner refined head">
              <a:extLst>
                <a:ext uri="{FF2B5EF4-FFF2-40B4-BE49-F238E27FC236}">
                  <a16:creationId xmlns:a16="http://schemas.microsoft.com/office/drawing/2014/main" id="{5389494F-4196-1B0C-C069-F40391B0419B}"/>
                </a:ext>
              </a:extLst>
            </p:cNvPr>
            <p:cNvSpPr>
              <a:spLocks noGrp="1"/>
            </p:cNvSpPr>
            <p:nvPr/>
          </p:nvSpPr>
          <p:spPr>
            <a:xfrm>
              <a:off x="8063702" y="1662113"/>
              <a:ext cx="36862" cy="42863"/>
            </a:xfrm>
            <a:custGeom>
              <a:avLst/>
              <a:gdLst/>
              <a:ahLst/>
              <a:cxnLst/>
              <a:rect l="0" t="0" r="0" b="0"/>
              <a:pathLst>
                <a:path w="36862" h="42863">
                  <a:moveTo>
                    <a:pt x="18431" y="42863"/>
                  </a:moveTo>
                  <a:lnTo>
                    <a:pt x="36862" y="0"/>
                  </a:lnTo>
                  <a:lnTo>
                    <a:pt x="0" y="0"/>
                  </a:lnTo>
                  <a:close/>
                </a:path>
              </a:pathLst>
            </a:custGeom>
            <a:solidFill>
              <a:srgbClr val="85AFCB"/>
            </a:solidFill>
            <a:ln w="0">
              <a:noFill/>
              <a:prstDash val="solid"/>
            </a:ln>
          </p:spPr>
        </p:sp>
        <p:sp>
          <p:nvSpPr>
            <p:cNvPr id="1354" name="PTV3 forward refined 1">
              <a:extLst>
                <a:ext uri="{FF2B5EF4-FFF2-40B4-BE49-F238E27FC236}">
                  <a16:creationId xmlns:a16="http://schemas.microsoft.com/office/drawing/2014/main" id="{B0492619-D665-D0F6-7061-EDCBCE3DDA3A}"/>
                </a:ext>
              </a:extLst>
            </p:cNvPr>
            <p:cNvSpPr>
              <a:spLocks noGrp="1"/>
            </p:cNvSpPr>
            <p:nvPr/>
          </p:nvSpPr>
          <p:spPr>
            <a:xfrm>
              <a:off x="5447899" y="3106769"/>
              <a:ext cx="255746" cy="191"/>
            </a:xfrm>
            <a:custGeom>
              <a:avLst/>
              <a:gdLst/>
              <a:ahLst/>
              <a:cxnLst/>
              <a:rect l="0" t="0" r="0" b="0"/>
              <a:pathLst>
                <a:path w="255746" h="191">
                  <a:moveTo>
                    <a:pt x="0" y="0"/>
                  </a:moveTo>
                  <a:lnTo>
                    <a:pt x="255746" y="0"/>
                  </a:lnTo>
                </a:path>
              </a:pathLst>
            </a:custGeom>
            <a:noFill/>
            <a:ln w="8505">
              <a:solidFill>
                <a:srgbClr val="4083B4"/>
              </a:solidFill>
              <a:prstDash val="solid"/>
            </a:ln>
          </p:spPr>
        </p:sp>
        <p:sp>
          <p:nvSpPr>
            <p:cNvPr id="1355" name="PTV3 forward refined 1 head">
              <a:extLst>
                <a:ext uri="{FF2B5EF4-FFF2-40B4-BE49-F238E27FC236}">
                  <a16:creationId xmlns:a16="http://schemas.microsoft.com/office/drawing/2014/main" id="{B7BCE76F-C831-1ABC-ADA2-90D7588CB987}"/>
                </a:ext>
              </a:extLst>
            </p:cNvPr>
            <p:cNvSpPr>
              <a:spLocks noGrp="1"/>
            </p:cNvSpPr>
            <p:nvPr/>
          </p:nvSpPr>
          <p:spPr>
            <a:xfrm>
              <a:off x="5660307" y="3078099"/>
              <a:ext cx="66675" cy="57340"/>
            </a:xfrm>
            <a:custGeom>
              <a:avLst/>
              <a:gdLst/>
              <a:ahLst/>
              <a:cxnLst/>
              <a:rect l="0" t="0" r="0" b="0"/>
              <a:pathLst>
                <a:path w="66675" h="57340">
                  <a:moveTo>
                    <a:pt x="66675" y="28670"/>
                  </a:moveTo>
                  <a:lnTo>
                    <a:pt x="0" y="0"/>
                  </a:lnTo>
                  <a:lnTo>
                    <a:pt x="0" y="57340"/>
                  </a:lnTo>
                  <a:close/>
                </a:path>
              </a:pathLst>
            </a:custGeom>
            <a:solidFill>
              <a:srgbClr val="4083B4"/>
            </a:solidFill>
            <a:ln w="0">
              <a:solidFill>
                <a:srgbClr val="4083B4"/>
              </a:solidFill>
              <a:prstDash val="solid"/>
            </a:ln>
          </p:spPr>
        </p:sp>
        <p:sp>
          <p:nvSpPr>
            <p:cNvPr id="1356" name="PTV3 forward refined 2">
              <a:extLst>
                <a:ext uri="{FF2B5EF4-FFF2-40B4-BE49-F238E27FC236}">
                  <a16:creationId xmlns:a16="http://schemas.microsoft.com/office/drawing/2014/main" id="{24AE15E3-3B2D-CC4A-618E-E9BB13DA2E16}"/>
                </a:ext>
              </a:extLst>
            </p:cNvPr>
            <p:cNvSpPr>
              <a:spLocks noGrp="1"/>
            </p:cNvSpPr>
            <p:nvPr/>
          </p:nvSpPr>
          <p:spPr>
            <a:xfrm>
              <a:off x="6452501" y="3106769"/>
              <a:ext cx="311563" cy="191"/>
            </a:xfrm>
            <a:custGeom>
              <a:avLst/>
              <a:gdLst/>
              <a:ahLst/>
              <a:cxnLst/>
              <a:rect l="0" t="0" r="0" b="0"/>
              <a:pathLst>
                <a:path w="311563" h="191">
                  <a:moveTo>
                    <a:pt x="0" y="0"/>
                  </a:moveTo>
                  <a:lnTo>
                    <a:pt x="311563" y="0"/>
                  </a:lnTo>
                </a:path>
              </a:pathLst>
            </a:custGeom>
            <a:noFill/>
            <a:ln w="8505">
              <a:solidFill>
                <a:srgbClr val="4083B4"/>
              </a:solidFill>
              <a:prstDash val="solid"/>
            </a:ln>
          </p:spPr>
        </p:sp>
        <p:sp>
          <p:nvSpPr>
            <p:cNvPr id="1357" name="PTV3 forward refined 2 head">
              <a:extLst>
                <a:ext uri="{FF2B5EF4-FFF2-40B4-BE49-F238E27FC236}">
                  <a16:creationId xmlns:a16="http://schemas.microsoft.com/office/drawing/2014/main" id="{8007E90B-E49B-BC36-45F6-E1B46BA41A6C}"/>
                </a:ext>
              </a:extLst>
            </p:cNvPr>
            <p:cNvSpPr>
              <a:spLocks noGrp="1"/>
            </p:cNvSpPr>
            <p:nvPr/>
          </p:nvSpPr>
          <p:spPr>
            <a:xfrm>
              <a:off x="6720725" y="3078099"/>
              <a:ext cx="66675" cy="57340"/>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58" name="PTV3 forward refined 3">
              <a:extLst>
                <a:ext uri="{FF2B5EF4-FFF2-40B4-BE49-F238E27FC236}">
                  <a16:creationId xmlns:a16="http://schemas.microsoft.com/office/drawing/2014/main" id="{2D087525-2ABD-3A01-10DA-7F65FB2DD09A}"/>
                </a:ext>
              </a:extLst>
            </p:cNvPr>
            <p:cNvSpPr>
              <a:spLocks noGrp="1"/>
            </p:cNvSpPr>
            <p:nvPr/>
          </p:nvSpPr>
          <p:spPr>
            <a:xfrm>
              <a:off x="7438529" y="3106769"/>
              <a:ext cx="311563" cy="191"/>
            </a:xfrm>
            <a:custGeom>
              <a:avLst/>
              <a:gdLst/>
              <a:ahLst/>
              <a:cxnLst/>
              <a:rect l="0" t="0" r="0" b="0"/>
              <a:pathLst>
                <a:path w="311563" h="191">
                  <a:moveTo>
                    <a:pt x="0" y="0"/>
                  </a:moveTo>
                  <a:lnTo>
                    <a:pt x="311563" y="0"/>
                  </a:lnTo>
                </a:path>
              </a:pathLst>
            </a:custGeom>
            <a:noFill/>
            <a:ln w="8505">
              <a:solidFill>
                <a:srgbClr val="4083B4"/>
              </a:solidFill>
              <a:prstDash val="solid"/>
            </a:ln>
          </p:spPr>
        </p:sp>
        <p:sp>
          <p:nvSpPr>
            <p:cNvPr id="1359" name="PTV3 forward refined 3 head">
              <a:extLst>
                <a:ext uri="{FF2B5EF4-FFF2-40B4-BE49-F238E27FC236}">
                  <a16:creationId xmlns:a16="http://schemas.microsoft.com/office/drawing/2014/main" id="{417DAC3E-DE7D-4EBD-83BF-06F7FB2A8085}"/>
                </a:ext>
              </a:extLst>
            </p:cNvPr>
            <p:cNvSpPr>
              <a:spLocks noGrp="1"/>
            </p:cNvSpPr>
            <p:nvPr/>
          </p:nvSpPr>
          <p:spPr>
            <a:xfrm>
              <a:off x="7706753" y="3078099"/>
              <a:ext cx="66675" cy="57340"/>
            </a:xfrm>
            <a:custGeom>
              <a:avLst/>
              <a:gdLst/>
              <a:ahLst/>
              <a:cxnLst/>
              <a:rect l="0" t="0" r="0" b="0"/>
              <a:pathLst>
                <a:path w="66675" h="57340">
                  <a:moveTo>
                    <a:pt x="66675" y="28670"/>
                  </a:moveTo>
                  <a:lnTo>
                    <a:pt x="0" y="0"/>
                  </a:lnTo>
                  <a:lnTo>
                    <a:pt x="0" y="57340"/>
                  </a:lnTo>
                  <a:close/>
                </a:path>
              </a:pathLst>
            </a:custGeom>
            <a:solidFill>
              <a:srgbClr val="4083B4"/>
            </a:solidFill>
            <a:ln w="0">
              <a:solidFill>
                <a:srgbClr val="4083B4"/>
              </a:solidFill>
              <a:prstDash val="solid"/>
            </a:ln>
          </p:spPr>
        </p:sp>
        <p:sp>
          <p:nvSpPr>
            <p:cNvPr id="1360" name="PTV3 forward refined 4">
              <a:extLst>
                <a:ext uri="{FF2B5EF4-FFF2-40B4-BE49-F238E27FC236}">
                  <a16:creationId xmlns:a16="http://schemas.microsoft.com/office/drawing/2014/main" id="{3F66A9B7-F35C-EB4C-B102-3F29A4296978}"/>
                </a:ext>
              </a:extLst>
            </p:cNvPr>
            <p:cNvSpPr>
              <a:spLocks noGrp="1"/>
            </p:cNvSpPr>
            <p:nvPr/>
          </p:nvSpPr>
          <p:spPr>
            <a:xfrm>
              <a:off x="8498852" y="3106769"/>
              <a:ext cx="255746" cy="191"/>
            </a:xfrm>
            <a:custGeom>
              <a:avLst/>
              <a:gdLst/>
              <a:ahLst/>
              <a:cxnLst/>
              <a:rect l="0" t="0" r="0" b="0"/>
              <a:pathLst>
                <a:path w="255746" h="191">
                  <a:moveTo>
                    <a:pt x="0" y="0"/>
                  </a:moveTo>
                  <a:lnTo>
                    <a:pt x="255746" y="0"/>
                  </a:lnTo>
                </a:path>
              </a:pathLst>
            </a:custGeom>
            <a:noFill/>
            <a:ln w="8505">
              <a:solidFill>
                <a:srgbClr val="4083B4"/>
              </a:solidFill>
              <a:prstDash val="solid"/>
            </a:ln>
          </p:spPr>
        </p:sp>
        <p:sp>
          <p:nvSpPr>
            <p:cNvPr id="1361" name="PTV3 forward refined 4 head">
              <a:extLst>
                <a:ext uri="{FF2B5EF4-FFF2-40B4-BE49-F238E27FC236}">
                  <a16:creationId xmlns:a16="http://schemas.microsoft.com/office/drawing/2014/main" id="{4634E7DB-F8E3-B989-4F8D-785672F195B4}"/>
                </a:ext>
              </a:extLst>
            </p:cNvPr>
            <p:cNvSpPr>
              <a:spLocks noGrp="1"/>
            </p:cNvSpPr>
            <p:nvPr/>
          </p:nvSpPr>
          <p:spPr>
            <a:xfrm>
              <a:off x="8711259" y="3078099"/>
              <a:ext cx="66675" cy="57340"/>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62" name="Fusion refined 487.16">
              <a:extLst>
                <a:ext uri="{FF2B5EF4-FFF2-40B4-BE49-F238E27FC236}">
                  <a16:creationId xmlns:a16="http://schemas.microsoft.com/office/drawing/2014/main" id="{0FF19FA3-F74F-0EF3-2637-6AA25406EF88}"/>
                </a:ext>
              </a:extLst>
            </p:cNvPr>
            <p:cNvSpPr>
              <a:spLocks noGrp="1"/>
            </p:cNvSpPr>
            <p:nvPr/>
          </p:nvSpPr>
          <p:spPr>
            <a:xfrm>
              <a:off x="5085187" y="2418493"/>
              <a:ext cx="191" cy="404527"/>
            </a:xfrm>
            <a:custGeom>
              <a:avLst/>
              <a:gdLst/>
              <a:ahLst/>
              <a:cxnLst/>
              <a:rect l="0" t="0" r="0" b="0"/>
              <a:pathLst>
                <a:path w="191" h="404527">
                  <a:moveTo>
                    <a:pt x="0" y="0"/>
                  </a:moveTo>
                  <a:lnTo>
                    <a:pt x="0" y="404527"/>
                  </a:lnTo>
                </a:path>
              </a:pathLst>
            </a:custGeom>
            <a:noFill/>
            <a:ln w="8505">
              <a:solidFill>
                <a:srgbClr val="4083B4"/>
              </a:solidFill>
              <a:prstDash val="solid"/>
            </a:ln>
          </p:spPr>
        </p:sp>
        <p:sp>
          <p:nvSpPr>
            <p:cNvPr id="1363" name="Fusion refined 487.16 head">
              <a:extLst>
                <a:ext uri="{FF2B5EF4-FFF2-40B4-BE49-F238E27FC236}">
                  <a16:creationId xmlns:a16="http://schemas.microsoft.com/office/drawing/2014/main" id="{3D13397A-1EED-4CCF-C88D-62A5EFCF622C}"/>
                </a:ext>
              </a:extLst>
            </p:cNvPr>
            <p:cNvSpPr>
              <a:spLocks noGrp="1"/>
            </p:cNvSpPr>
            <p:nvPr/>
          </p:nvSpPr>
          <p:spPr>
            <a:xfrm>
              <a:off x="5056517" y="2779681"/>
              <a:ext cx="57340" cy="66675"/>
            </a:xfrm>
            <a:custGeom>
              <a:avLst/>
              <a:gdLst/>
              <a:ahLst/>
              <a:cxnLst/>
              <a:rect l="0" t="0" r="0" b="0"/>
              <a:pathLst>
                <a:path w="57340" h="66675">
                  <a:moveTo>
                    <a:pt x="28670" y="66675"/>
                  </a:moveTo>
                  <a:lnTo>
                    <a:pt x="57340" y="0"/>
                  </a:lnTo>
                  <a:lnTo>
                    <a:pt x="0" y="0"/>
                  </a:lnTo>
                  <a:close/>
                </a:path>
              </a:pathLst>
            </a:custGeom>
            <a:solidFill>
              <a:srgbClr val="4083B4"/>
            </a:solidFill>
            <a:ln w="0">
              <a:noFill/>
              <a:prstDash val="solid"/>
            </a:ln>
          </p:spPr>
        </p:sp>
        <p:sp>
          <p:nvSpPr>
            <p:cNvPr id="1364" name="Fusion refined 700.05">
              <a:extLst>
                <a:ext uri="{FF2B5EF4-FFF2-40B4-BE49-F238E27FC236}">
                  <a16:creationId xmlns:a16="http://schemas.microsoft.com/office/drawing/2014/main" id="{F3328C85-8D10-5BAE-F06A-A042F88B4457}"/>
                </a:ext>
              </a:extLst>
            </p:cNvPr>
            <p:cNvSpPr>
              <a:spLocks noGrp="1"/>
            </p:cNvSpPr>
            <p:nvPr/>
          </p:nvSpPr>
          <p:spPr>
            <a:xfrm>
              <a:off x="7112964" y="2418493"/>
              <a:ext cx="191" cy="404527"/>
            </a:xfrm>
            <a:custGeom>
              <a:avLst/>
              <a:gdLst/>
              <a:ahLst/>
              <a:cxnLst/>
              <a:rect l="0" t="0" r="0" b="0"/>
              <a:pathLst>
                <a:path w="191" h="404527">
                  <a:moveTo>
                    <a:pt x="0" y="0"/>
                  </a:moveTo>
                  <a:lnTo>
                    <a:pt x="0" y="404527"/>
                  </a:lnTo>
                </a:path>
              </a:pathLst>
            </a:custGeom>
            <a:noFill/>
            <a:ln w="8505">
              <a:solidFill>
                <a:srgbClr val="4083B4"/>
              </a:solidFill>
              <a:prstDash val="solid"/>
            </a:ln>
          </p:spPr>
        </p:sp>
        <p:sp>
          <p:nvSpPr>
            <p:cNvPr id="1365" name="Fusion refined 700.05 head">
              <a:extLst>
                <a:ext uri="{FF2B5EF4-FFF2-40B4-BE49-F238E27FC236}">
                  <a16:creationId xmlns:a16="http://schemas.microsoft.com/office/drawing/2014/main" id="{615DF42F-7A96-D005-2B04-2E5B83AF189A}"/>
                </a:ext>
              </a:extLst>
            </p:cNvPr>
            <p:cNvSpPr>
              <a:spLocks noGrp="1"/>
            </p:cNvSpPr>
            <p:nvPr/>
          </p:nvSpPr>
          <p:spPr>
            <a:xfrm>
              <a:off x="7084294" y="2779681"/>
              <a:ext cx="57340" cy="66675"/>
            </a:xfrm>
            <a:custGeom>
              <a:avLst/>
              <a:gdLst/>
              <a:ahLst/>
              <a:cxnLst/>
              <a:rect l="0" t="0" r="0" b="0"/>
              <a:pathLst>
                <a:path w="57340" h="66675">
                  <a:moveTo>
                    <a:pt x="28670" y="66675"/>
                  </a:moveTo>
                  <a:lnTo>
                    <a:pt x="57340" y="0"/>
                  </a:lnTo>
                  <a:lnTo>
                    <a:pt x="0" y="0"/>
                  </a:lnTo>
                  <a:close/>
                </a:path>
              </a:pathLst>
            </a:custGeom>
            <a:solidFill>
              <a:srgbClr val="4083B4"/>
            </a:solidFill>
            <a:ln w="0">
              <a:noFill/>
              <a:prstDash val="solid"/>
            </a:ln>
          </p:spPr>
        </p:sp>
        <p:sp>
          <p:nvSpPr>
            <p:cNvPr id="1366" name="Fusion refined 912.94">
              <a:extLst>
                <a:ext uri="{FF2B5EF4-FFF2-40B4-BE49-F238E27FC236}">
                  <a16:creationId xmlns:a16="http://schemas.microsoft.com/office/drawing/2014/main" id="{8F954EB4-FAB9-9DC0-DCA1-6E84B625ECD7}"/>
                </a:ext>
              </a:extLst>
            </p:cNvPr>
            <p:cNvSpPr>
              <a:spLocks noGrp="1"/>
            </p:cNvSpPr>
            <p:nvPr/>
          </p:nvSpPr>
          <p:spPr>
            <a:xfrm>
              <a:off x="9140742" y="2418493"/>
              <a:ext cx="191" cy="404527"/>
            </a:xfrm>
            <a:custGeom>
              <a:avLst/>
              <a:gdLst/>
              <a:ahLst/>
              <a:cxnLst/>
              <a:rect l="0" t="0" r="0" b="0"/>
              <a:pathLst>
                <a:path w="191" h="404527">
                  <a:moveTo>
                    <a:pt x="0" y="0"/>
                  </a:moveTo>
                  <a:lnTo>
                    <a:pt x="0" y="404527"/>
                  </a:lnTo>
                </a:path>
              </a:pathLst>
            </a:custGeom>
            <a:noFill/>
            <a:ln w="8505">
              <a:solidFill>
                <a:srgbClr val="4083B4"/>
              </a:solidFill>
              <a:prstDash val="solid"/>
            </a:ln>
          </p:spPr>
        </p:sp>
        <p:sp>
          <p:nvSpPr>
            <p:cNvPr id="1367" name="Fusion refined 912.94 head">
              <a:extLst>
                <a:ext uri="{FF2B5EF4-FFF2-40B4-BE49-F238E27FC236}">
                  <a16:creationId xmlns:a16="http://schemas.microsoft.com/office/drawing/2014/main" id="{DDC6F6E8-2600-F9F0-8C4C-DF220F079064}"/>
                </a:ext>
              </a:extLst>
            </p:cNvPr>
            <p:cNvSpPr>
              <a:spLocks noGrp="1"/>
            </p:cNvSpPr>
            <p:nvPr/>
          </p:nvSpPr>
          <p:spPr>
            <a:xfrm>
              <a:off x="9112071" y="2779681"/>
              <a:ext cx="57340" cy="66675"/>
            </a:xfrm>
            <a:custGeom>
              <a:avLst/>
              <a:gdLst/>
              <a:ahLst/>
              <a:cxnLst/>
              <a:rect l="0" t="0" r="0" b="0"/>
              <a:pathLst>
                <a:path w="57340" h="66675">
                  <a:moveTo>
                    <a:pt x="28670" y="66675"/>
                  </a:moveTo>
                  <a:lnTo>
                    <a:pt x="57340" y="0"/>
                  </a:lnTo>
                  <a:lnTo>
                    <a:pt x="0" y="0"/>
                  </a:lnTo>
                  <a:close/>
                </a:path>
              </a:pathLst>
            </a:custGeom>
            <a:solidFill>
              <a:srgbClr val="4083B4"/>
            </a:solidFill>
            <a:ln w="0">
              <a:noFill/>
              <a:prstDash val="solid"/>
            </a:ln>
          </p:spPr>
        </p:sp>
        <p:sp>
          <p:nvSpPr>
            <p:cNvPr id="1368" name="Recycle right refined">
              <a:extLst>
                <a:ext uri="{FF2B5EF4-FFF2-40B4-BE49-F238E27FC236}">
                  <a16:creationId xmlns:a16="http://schemas.microsoft.com/office/drawing/2014/main" id="{D9AFE2A4-7629-8D55-72A2-74513ED16554}"/>
                </a:ext>
              </a:extLst>
            </p:cNvPr>
            <p:cNvSpPr>
              <a:spLocks noGrp="1"/>
            </p:cNvSpPr>
            <p:nvPr/>
          </p:nvSpPr>
          <p:spPr>
            <a:xfrm>
              <a:off x="7596644" y="3385852"/>
              <a:ext cx="1544098" cy="241840"/>
            </a:xfrm>
            <a:custGeom>
              <a:avLst/>
              <a:gdLst/>
              <a:ahLst/>
              <a:cxnLst/>
              <a:rect l="0" t="0" r="0" b="0"/>
              <a:pathLst>
                <a:path w="1544098" h="241840">
                  <a:moveTo>
                    <a:pt x="1544098" y="0"/>
                  </a:moveTo>
                  <a:lnTo>
                    <a:pt x="1544098" y="241840"/>
                  </a:lnTo>
                  <a:lnTo>
                    <a:pt x="0" y="241840"/>
                  </a:lnTo>
                </a:path>
              </a:pathLst>
            </a:custGeom>
            <a:noFill/>
            <a:ln w="8505">
              <a:solidFill>
                <a:srgbClr val="4083B4"/>
              </a:solidFill>
              <a:prstDash val="solid"/>
            </a:ln>
          </p:spPr>
        </p:sp>
        <p:sp>
          <p:nvSpPr>
            <p:cNvPr id="1369" name="Recycle left refined">
              <a:extLst>
                <a:ext uri="{FF2B5EF4-FFF2-40B4-BE49-F238E27FC236}">
                  <a16:creationId xmlns:a16="http://schemas.microsoft.com/office/drawing/2014/main" id="{9E9F6AF5-6C88-4D6A-4EB6-AE11098D540D}"/>
                </a:ext>
              </a:extLst>
            </p:cNvPr>
            <p:cNvSpPr>
              <a:spLocks noGrp="1"/>
            </p:cNvSpPr>
            <p:nvPr/>
          </p:nvSpPr>
          <p:spPr>
            <a:xfrm>
              <a:off x="5085187" y="3409188"/>
              <a:ext cx="1544098" cy="218503"/>
            </a:xfrm>
            <a:custGeom>
              <a:avLst/>
              <a:gdLst/>
              <a:ahLst/>
              <a:cxnLst/>
              <a:rect l="0" t="0" r="0" b="0"/>
              <a:pathLst>
                <a:path w="1544098" h="218503">
                  <a:moveTo>
                    <a:pt x="1544098" y="218503"/>
                  </a:moveTo>
                  <a:lnTo>
                    <a:pt x="0" y="218503"/>
                  </a:lnTo>
                  <a:lnTo>
                    <a:pt x="0" y="0"/>
                  </a:lnTo>
                </a:path>
              </a:pathLst>
            </a:custGeom>
            <a:noFill/>
            <a:ln w="8505">
              <a:solidFill>
                <a:srgbClr val="4083B4"/>
              </a:solidFill>
              <a:prstDash val="solid"/>
            </a:ln>
          </p:spPr>
        </p:sp>
        <p:sp>
          <p:nvSpPr>
            <p:cNvPr id="1370" name="Recycle left refined head">
              <a:extLst>
                <a:ext uri="{FF2B5EF4-FFF2-40B4-BE49-F238E27FC236}">
                  <a16:creationId xmlns:a16="http://schemas.microsoft.com/office/drawing/2014/main" id="{FC70626C-9297-3774-289D-8C74BAB81591}"/>
                </a:ext>
              </a:extLst>
            </p:cNvPr>
            <p:cNvSpPr>
              <a:spLocks noGrp="1"/>
            </p:cNvSpPr>
            <p:nvPr/>
          </p:nvSpPr>
          <p:spPr>
            <a:xfrm>
              <a:off x="5056517" y="3385852"/>
              <a:ext cx="57340" cy="66675"/>
            </a:xfrm>
            <a:custGeom>
              <a:avLst/>
              <a:gdLst/>
              <a:ahLst/>
              <a:cxnLst/>
              <a:rect l="0" t="0" r="0" b="0"/>
              <a:pathLst>
                <a:path w="57340" h="66675">
                  <a:moveTo>
                    <a:pt x="28670" y="0"/>
                  </a:moveTo>
                  <a:lnTo>
                    <a:pt x="0" y="66675"/>
                  </a:lnTo>
                  <a:lnTo>
                    <a:pt x="57340" y="66675"/>
                  </a:lnTo>
                  <a:close/>
                </a:path>
              </a:pathLst>
            </a:custGeom>
            <a:solidFill>
              <a:srgbClr val="4083B4"/>
            </a:solidFill>
            <a:ln w="0">
              <a:noFill/>
              <a:prstDash val="solid"/>
            </a:ln>
          </p:spPr>
        </p:sp>
        <p:sp>
          <p:nvSpPr>
            <p:cNvPr id="1371" name="Crop to summary refined">
              <a:extLst>
                <a:ext uri="{FF2B5EF4-FFF2-40B4-BE49-F238E27FC236}">
                  <a16:creationId xmlns:a16="http://schemas.microsoft.com/office/drawing/2014/main" id="{23964A60-5300-B32A-CC8C-9F9A10909522}"/>
                </a:ext>
              </a:extLst>
            </p:cNvPr>
            <p:cNvSpPr>
              <a:spLocks noGrp="1"/>
            </p:cNvSpPr>
            <p:nvPr/>
          </p:nvSpPr>
          <p:spPr>
            <a:xfrm>
              <a:off x="3580673" y="6064758"/>
              <a:ext cx="1148715" cy="191"/>
            </a:xfrm>
            <a:custGeom>
              <a:avLst/>
              <a:gdLst/>
              <a:ahLst/>
              <a:cxnLst/>
              <a:rect l="0" t="0" r="0" b="0"/>
              <a:pathLst>
                <a:path w="1148715" h="191">
                  <a:moveTo>
                    <a:pt x="0" y="0"/>
                  </a:moveTo>
                  <a:lnTo>
                    <a:pt x="1148715" y="0"/>
                  </a:lnTo>
                </a:path>
              </a:pathLst>
            </a:custGeom>
            <a:noFill/>
            <a:ln w="8505">
              <a:solidFill>
                <a:srgbClr val="4083B4"/>
              </a:solidFill>
              <a:prstDash val="solid"/>
            </a:ln>
          </p:spPr>
        </p:sp>
        <p:sp>
          <p:nvSpPr>
            <p:cNvPr id="1372" name="Crop to summary refined head">
              <a:extLst>
                <a:ext uri="{FF2B5EF4-FFF2-40B4-BE49-F238E27FC236}">
                  <a16:creationId xmlns:a16="http://schemas.microsoft.com/office/drawing/2014/main" id="{864E15CB-81EF-2FAC-14F2-E25D89F29346}"/>
                </a:ext>
              </a:extLst>
            </p:cNvPr>
            <p:cNvSpPr>
              <a:spLocks noGrp="1"/>
            </p:cNvSpPr>
            <p:nvPr/>
          </p:nvSpPr>
          <p:spPr>
            <a:xfrm>
              <a:off x="4686050" y="6036088"/>
              <a:ext cx="66675" cy="57340"/>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73" name="Input split refined">
              <a:extLst>
                <a:ext uri="{FF2B5EF4-FFF2-40B4-BE49-F238E27FC236}">
                  <a16:creationId xmlns:a16="http://schemas.microsoft.com/office/drawing/2014/main" id="{B4BBBDF4-6774-1D2C-95B2-F3B88AB1C869}"/>
                </a:ext>
              </a:extLst>
            </p:cNvPr>
            <p:cNvSpPr>
              <a:spLocks noGrp="1"/>
            </p:cNvSpPr>
            <p:nvPr/>
          </p:nvSpPr>
          <p:spPr>
            <a:xfrm>
              <a:off x="2073914" y="7793355"/>
              <a:ext cx="846772" cy="160020"/>
            </a:xfrm>
            <a:custGeom>
              <a:avLst/>
              <a:gdLst/>
              <a:ahLst/>
              <a:cxnLst/>
              <a:rect l="0" t="0" r="0" b="0"/>
              <a:pathLst>
                <a:path w="846772" h="160020">
                  <a:moveTo>
                    <a:pt x="846772" y="0"/>
                  </a:moveTo>
                  <a:lnTo>
                    <a:pt x="846772" y="160020"/>
                  </a:lnTo>
                  <a:lnTo>
                    <a:pt x="0" y="160020"/>
                  </a:lnTo>
                </a:path>
              </a:pathLst>
            </a:custGeom>
            <a:noFill/>
            <a:ln w="8505">
              <a:solidFill>
                <a:srgbClr val="3B8C80"/>
              </a:solidFill>
              <a:prstDash val="solid"/>
            </a:ln>
          </p:spPr>
        </p:sp>
        <p:sp>
          <p:nvSpPr>
            <p:cNvPr id="1374" name="Input split right refined">
              <a:extLst>
                <a:ext uri="{FF2B5EF4-FFF2-40B4-BE49-F238E27FC236}">
                  <a16:creationId xmlns:a16="http://schemas.microsoft.com/office/drawing/2014/main" id="{950F0CCA-2F88-9AFF-22D8-DAA7ACB6176C}"/>
                </a:ext>
              </a:extLst>
            </p:cNvPr>
            <p:cNvSpPr>
              <a:spLocks noGrp="1"/>
            </p:cNvSpPr>
            <p:nvPr/>
          </p:nvSpPr>
          <p:spPr>
            <a:xfrm>
              <a:off x="2920686" y="7953375"/>
              <a:ext cx="827723" cy="191"/>
            </a:xfrm>
            <a:custGeom>
              <a:avLst/>
              <a:gdLst/>
              <a:ahLst/>
              <a:cxnLst/>
              <a:rect l="0" t="0" r="0" b="0"/>
              <a:pathLst>
                <a:path w="827723" h="191">
                  <a:moveTo>
                    <a:pt x="0" y="0"/>
                  </a:moveTo>
                  <a:lnTo>
                    <a:pt x="827723" y="0"/>
                  </a:lnTo>
                </a:path>
              </a:pathLst>
            </a:custGeom>
            <a:noFill/>
            <a:ln w="8505">
              <a:solidFill>
                <a:srgbClr val="3B8C80"/>
              </a:solidFill>
              <a:prstDash val="solid"/>
            </a:ln>
          </p:spPr>
        </p:sp>
        <p:sp>
          <p:nvSpPr>
            <p:cNvPr id="1375" name="Inputs to pool refined">
              <a:extLst>
                <a:ext uri="{FF2B5EF4-FFF2-40B4-BE49-F238E27FC236}">
                  <a16:creationId xmlns:a16="http://schemas.microsoft.com/office/drawing/2014/main" id="{B22E0EF3-FD19-0826-1822-07182CC69FC5}"/>
                </a:ext>
              </a:extLst>
            </p:cNvPr>
            <p:cNvSpPr>
              <a:spLocks noGrp="1"/>
            </p:cNvSpPr>
            <p:nvPr/>
          </p:nvSpPr>
          <p:spPr>
            <a:xfrm>
              <a:off x="2073914" y="7953375"/>
              <a:ext cx="191" cy="143732"/>
            </a:xfrm>
            <a:custGeom>
              <a:avLst/>
              <a:gdLst/>
              <a:ahLst/>
              <a:cxnLst/>
              <a:rect l="0" t="0" r="0" b="0"/>
              <a:pathLst>
                <a:path w="191" h="143732">
                  <a:moveTo>
                    <a:pt x="0" y="0"/>
                  </a:moveTo>
                  <a:lnTo>
                    <a:pt x="0" y="143732"/>
                  </a:lnTo>
                </a:path>
              </a:pathLst>
            </a:custGeom>
            <a:noFill/>
            <a:ln w="8505">
              <a:solidFill>
                <a:srgbClr val="3B8C80"/>
              </a:solidFill>
              <a:prstDash val="solid"/>
            </a:ln>
          </p:spPr>
        </p:sp>
        <p:sp>
          <p:nvSpPr>
            <p:cNvPr id="1376" name="Inputs to pool refined head">
              <a:extLst>
                <a:ext uri="{FF2B5EF4-FFF2-40B4-BE49-F238E27FC236}">
                  <a16:creationId xmlns:a16="http://schemas.microsoft.com/office/drawing/2014/main" id="{CA70B1F6-4A00-BABC-2972-012866989961}"/>
                </a:ext>
              </a:extLst>
            </p:cNvPr>
            <p:cNvSpPr>
              <a:spLocks noGrp="1"/>
            </p:cNvSpPr>
            <p:nvPr/>
          </p:nvSpPr>
          <p:spPr>
            <a:xfrm>
              <a:off x="2045243" y="8053769"/>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77" name="Inputs to attention refined">
              <a:extLst>
                <a:ext uri="{FF2B5EF4-FFF2-40B4-BE49-F238E27FC236}">
                  <a16:creationId xmlns:a16="http://schemas.microsoft.com/office/drawing/2014/main" id="{08F1A61E-3B0E-8BF6-7F27-5CCE4D22C59A}"/>
                </a:ext>
              </a:extLst>
            </p:cNvPr>
            <p:cNvSpPr>
              <a:spLocks noGrp="1"/>
            </p:cNvSpPr>
            <p:nvPr/>
          </p:nvSpPr>
          <p:spPr>
            <a:xfrm>
              <a:off x="3748409" y="7953375"/>
              <a:ext cx="191" cy="143732"/>
            </a:xfrm>
            <a:custGeom>
              <a:avLst/>
              <a:gdLst/>
              <a:ahLst/>
              <a:cxnLst/>
              <a:rect l="0" t="0" r="0" b="0"/>
              <a:pathLst>
                <a:path w="191" h="143732">
                  <a:moveTo>
                    <a:pt x="0" y="0"/>
                  </a:moveTo>
                  <a:lnTo>
                    <a:pt x="0" y="143732"/>
                  </a:lnTo>
                </a:path>
              </a:pathLst>
            </a:custGeom>
            <a:noFill/>
            <a:ln w="8505">
              <a:solidFill>
                <a:srgbClr val="3B8C80"/>
              </a:solidFill>
              <a:prstDash val="solid"/>
            </a:ln>
          </p:spPr>
        </p:sp>
        <p:sp>
          <p:nvSpPr>
            <p:cNvPr id="1378" name="Inputs to attention refined head">
              <a:extLst>
                <a:ext uri="{FF2B5EF4-FFF2-40B4-BE49-F238E27FC236}">
                  <a16:creationId xmlns:a16="http://schemas.microsoft.com/office/drawing/2014/main" id="{4A8E2717-7DBF-7A20-898F-8A4B8D99C916}"/>
                </a:ext>
              </a:extLst>
            </p:cNvPr>
            <p:cNvSpPr>
              <a:spLocks noGrp="1"/>
            </p:cNvSpPr>
            <p:nvPr/>
          </p:nvSpPr>
          <p:spPr>
            <a:xfrm>
              <a:off x="3719738" y="8053769"/>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83" name="MLP to FiLM refined">
              <a:extLst>
                <a:ext uri="{FF2B5EF4-FFF2-40B4-BE49-F238E27FC236}">
                  <a16:creationId xmlns:a16="http://schemas.microsoft.com/office/drawing/2014/main" id="{2C7C678A-F3D0-E51D-2CD6-B41E5CBA7774}"/>
                </a:ext>
              </a:extLst>
            </p:cNvPr>
            <p:cNvSpPr>
              <a:spLocks noGrp="1"/>
            </p:cNvSpPr>
            <p:nvPr/>
          </p:nvSpPr>
          <p:spPr>
            <a:xfrm>
              <a:off x="3319784" y="8968264"/>
              <a:ext cx="1502569" cy="191"/>
            </a:xfrm>
            <a:custGeom>
              <a:avLst/>
              <a:gdLst/>
              <a:ahLst/>
              <a:cxnLst/>
              <a:rect l="0" t="0" r="0" b="0"/>
              <a:pathLst>
                <a:path w="1502569" h="191">
                  <a:moveTo>
                    <a:pt x="0" y="0"/>
                  </a:moveTo>
                  <a:lnTo>
                    <a:pt x="1502569" y="0"/>
                  </a:lnTo>
                </a:path>
              </a:pathLst>
            </a:custGeom>
            <a:noFill/>
            <a:ln w="8505">
              <a:solidFill>
                <a:srgbClr val="3B8C80"/>
              </a:solidFill>
              <a:prstDash val="solid"/>
            </a:ln>
          </p:spPr>
        </p:sp>
        <p:sp>
          <p:nvSpPr>
            <p:cNvPr id="1384" name="MLP to FiLM refined head">
              <a:extLst>
                <a:ext uri="{FF2B5EF4-FFF2-40B4-BE49-F238E27FC236}">
                  <a16:creationId xmlns:a16="http://schemas.microsoft.com/office/drawing/2014/main" id="{E62BF4CB-2DFB-E34F-0A43-259454CA6416}"/>
                </a:ext>
              </a:extLst>
            </p:cNvPr>
            <p:cNvSpPr>
              <a:spLocks noGrp="1"/>
            </p:cNvSpPr>
            <p:nvPr/>
          </p:nvSpPr>
          <p:spPr>
            <a:xfrm>
              <a:off x="4779014" y="8939594"/>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385" name="Summary to FiLM refined">
              <a:extLst>
                <a:ext uri="{FF2B5EF4-FFF2-40B4-BE49-F238E27FC236}">
                  <a16:creationId xmlns:a16="http://schemas.microsoft.com/office/drawing/2014/main" id="{4AD6C56A-E9C3-F934-64AC-D936F1D8505E}"/>
                </a:ext>
              </a:extLst>
            </p:cNvPr>
            <p:cNvSpPr>
              <a:spLocks noGrp="1"/>
            </p:cNvSpPr>
            <p:nvPr/>
          </p:nvSpPr>
          <p:spPr>
            <a:xfrm>
              <a:off x="5199066" y="6400800"/>
              <a:ext cx="191" cy="2367439"/>
            </a:xfrm>
            <a:custGeom>
              <a:avLst/>
              <a:gdLst/>
              <a:ahLst/>
              <a:cxnLst/>
              <a:rect l="0" t="0" r="0" b="0"/>
              <a:pathLst>
                <a:path w="191" h="2367439">
                  <a:moveTo>
                    <a:pt x="0" y="0"/>
                  </a:moveTo>
                  <a:lnTo>
                    <a:pt x="0" y="2367439"/>
                  </a:lnTo>
                </a:path>
              </a:pathLst>
            </a:custGeom>
            <a:noFill/>
            <a:ln w="8505">
              <a:solidFill>
                <a:srgbClr val="4083B4"/>
              </a:solidFill>
              <a:prstDash val="solid"/>
            </a:ln>
          </p:spPr>
        </p:sp>
        <p:sp>
          <p:nvSpPr>
            <p:cNvPr id="1386" name="Summary to FiLM refined head">
              <a:extLst>
                <a:ext uri="{FF2B5EF4-FFF2-40B4-BE49-F238E27FC236}">
                  <a16:creationId xmlns:a16="http://schemas.microsoft.com/office/drawing/2014/main" id="{EEAEF4BF-5039-6C23-B675-9771749FE17A}"/>
                </a:ext>
              </a:extLst>
            </p:cNvPr>
            <p:cNvSpPr>
              <a:spLocks noGrp="1"/>
            </p:cNvSpPr>
            <p:nvPr/>
          </p:nvSpPr>
          <p:spPr>
            <a:xfrm>
              <a:off x="5170396" y="8724900"/>
              <a:ext cx="57340" cy="66675"/>
            </a:xfrm>
            <a:custGeom>
              <a:avLst/>
              <a:gdLst/>
              <a:ahLst/>
              <a:cxnLst/>
              <a:rect l="0" t="0" r="0" b="0"/>
              <a:pathLst>
                <a:path w="57340" h="66675">
                  <a:moveTo>
                    <a:pt x="28670" y="66675"/>
                  </a:moveTo>
                  <a:lnTo>
                    <a:pt x="57340" y="0"/>
                  </a:lnTo>
                  <a:lnTo>
                    <a:pt x="0" y="0"/>
                  </a:lnTo>
                  <a:close/>
                </a:path>
              </a:pathLst>
            </a:custGeom>
            <a:solidFill>
              <a:srgbClr val="4083B4"/>
            </a:solidFill>
            <a:ln w="0">
              <a:noFill/>
              <a:prstDash val="solid"/>
            </a:ln>
          </p:spPr>
        </p:sp>
        <p:sp>
          <p:nvSpPr>
            <p:cNvPr id="1387" name="Summary to cross attention refined">
              <a:extLst>
                <a:ext uri="{FF2B5EF4-FFF2-40B4-BE49-F238E27FC236}">
                  <a16:creationId xmlns:a16="http://schemas.microsoft.com/office/drawing/2014/main" id="{EFD90DBF-A222-410E-15F3-D541CA16A8AE}"/>
                </a:ext>
              </a:extLst>
            </p:cNvPr>
            <p:cNvSpPr>
              <a:spLocks noGrp="1"/>
            </p:cNvSpPr>
            <p:nvPr/>
          </p:nvSpPr>
          <p:spPr>
            <a:xfrm>
              <a:off x="4534221" y="8297132"/>
              <a:ext cx="664845" cy="191"/>
            </a:xfrm>
            <a:custGeom>
              <a:avLst/>
              <a:gdLst/>
              <a:ahLst/>
              <a:cxnLst/>
              <a:rect l="0" t="0" r="0" b="0"/>
              <a:pathLst>
                <a:path w="664845" h="191">
                  <a:moveTo>
                    <a:pt x="664845" y="0"/>
                  </a:moveTo>
                  <a:lnTo>
                    <a:pt x="0" y="0"/>
                  </a:lnTo>
                </a:path>
              </a:pathLst>
            </a:custGeom>
            <a:noFill/>
            <a:ln w="8505">
              <a:solidFill>
                <a:srgbClr val="4083B4"/>
              </a:solidFill>
              <a:prstDash val="solid"/>
            </a:ln>
          </p:spPr>
        </p:sp>
        <p:sp>
          <p:nvSpPr>
            <p:cNvPr id="1388" name="Summary to cross attention refined head">
              <a:extLst>
                <a:ext uri="{FF2B5EF4-FFF2-40B4-BE49-F238E27FC236}">
                  <a16:creationId xmlns:a16="http://schemas.microsoft.com/office/drawing/2014/main" id="{91B08F31-0339-9716-3395-2B3F8970BA82}"/>
                </a:ext>
              </a:extLst>
            </p:cNvPr>
            <p:cNvSpPr>
              <a:spLocks noGrp="1"/>
            </p:cNvSpPr>
            <p:nvPr/>
          </p:nvSpPr>
          <p:spPr>
            <a:xfrm>
              <a:off x="4510885" y="8268462"/>
              <a:ext cx="66675" cy="57340"/>
            </a:xfrm>
            <a:custGeom>
              <a:avLst/>
              <a:gdLst/>
              <a:ahLst/>
              <a:cxnLst/>
              <a:rect l="0" t="0" r="0" b="0"/>
              <a:pathLst>
                <a:path w="66675" h="57340">
                  <a:moveTo>
                    <a:pt x="0" y="28670"/>
                  </a:moveTo>
                  <a:lnTo>
                    <a:pt x="66675" y="57340"/>
                  </a:lnTo>
                  <a:lnTo>
                    <a:pt x="66675" y="0"/>
                  </a:lnTo>
                  <a:close/>
                </a:path>
              </a:pathLst>
            </a:custGeom>
            <a:solidFill>
              <a:srgbClr val="4083B4"/>
            </a:solidFill>
            <a:ln w="0">
              <a:noFill/>
              <a:prstDash val="solid"/>
            </a:ln>
          </p:spPr>
        </p:sp>
        <p:sp>
          <p:nvSpPr>
            <p:cNvPr id="1389" name="FiLM to candidate refined">
              <a:extLst>
                <a:ext uri="{FF2B5EF4-FFF2-40B4-BE49-F238E27FC236}">
                  <a16:creationId xmlns:a16="http://schemas.microsoft.com/office/drawing/2014/main" id="{25FC3F76-C3DD-1537-7837-64B9361AE243}"/>
                </a:ext>
              </a:extLst>
            </p:cNvPr>
            <p:cNvSpPr>
              <a:spLocks noGrp="1"/>
            </p:cNvSpPr>
            <p:nvPr/>
          </p:nvSpPr>
          <p:spPr>
            <a:xfrm>
              <a:off x="5199066" y="9144953"/>
              <a:ext cx="191" cy="215360"/>
            </a:xfrm>
            <a:custGeom>
              <a:avLst/>
              <a:gdLst/>
              <a:ahLst/>
              <a:cxnLst/>
              <a:rect l="0" t="0" r="0" b="0"/>
              <a:pathLst>
                <a:path w="191" h="215360">
                  <a:moveTo>
                    <a:pt x="0" y="0"/>
                  </a:moveTo>
                  <a:lnTo>
                    <a:pt x="0" y="215360"/>
                  </a:lnTo>
                </a:path>
              </a:pathLst>
            </a:custGeom>
            <a:noFill/>
            <a:ln w="8505">
              <a:solidFill>
                <a:srgbClr val="3B8C80"/>
              </a:solidFill>
              <a:prstDash val="solid"/>
            </a:ln>
          </p:spPr>
        </p:sp>
        <p:sp>
          <p:nvSpPr>
            <p:cNvPr id="1390" name="FiLM to candidate refined head">
              <a:extLst>
                <a:ext uri="{FF2B5EF4-FFF2-40B4-BE49-F238E27FC236}">
                  <a16:creationId xmlns:a16="http://schemas.microsoft.com/office/drawing/2014/main" id="{7A05C2E3-B0E7-7DA8-4847-EC91C004D35D}"/>
                </a:ext>
              </a:extLst>
            </p:cNvPr>
            <p:cNvSpPr>
              <a:spLocks noGrp="1"/>
            </p:cNvSpPr>
            <p:nvPr/>
          </p:nvSpPr>
          <p:spPr>
            <a:xfrm>
              <a:off x="5170396" y="9316974"/>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91" name="Candidate to foreground refined">
              <a:extLst>
                <a:ext uri="{FF2B5EF4-FFF2-40B4-BE49-F238E27FC236}">
                  <a16:creationId xmlns:a16="http://schemas.microsoft.com/office/drawing/2014/main" id="{FE203BD6-3778-87C2-8526-E332B5B380C4}"/>
                </a:ext>
              </a:extLst>
            </p:cNvPr>
            <p:cNvSpPr>
              <a:spLocks noGrp="1"/>
            </p:cNvSpPr>
            <p:nvPr/>
          </p:nvSpPr>
          <p:spPr>
            <a:xfrm>
              <a:off x="2390048" y="9525000"/>
              <a:ext cx="2809018" cy="286702"/>
            </a:xfrm>
            <a:custGeom>
              <a:avLst/>
              <a:gdLst/>
              <a:ahLst/>
              <a:cxnLst/>
              <a:rect l="0" t="0" r="0" b="0"/>
              <a:pathLst>
                <a:path w="2809018" h="286702">
                  <a:moveTo>
                    <a:pt x="2809018" y="0"/>
                  </a:moveTo>
                  <a:lnTo>
                    <a:pt x="2809018" y="95250"/>
                  </a:lnTo>
                  <a:lnTo>
                    <a:pt x="0" y="95250"/>
                  </a:lnTo>
                  <a:lnTo>
                    <a:pt x="0" y="286702"/>
                  </a:lnTo>
                </a:path>
              </a:pathLst>
            </a:custGeom>
            <a:noFill/>
            <a:ln w="8505">
              <a:solidFill>
                <a:srgbClr val="3B8C80"/>
              </a:solidFill>
              <a:prstDash val="solid"/>
            </a:ln>
          </p:spPr>
        </p:sp>
        <p:sp>
          <p:nvSpPr>
            <p:cNvPr id="1392" name="Candidate to foreground refined head">
              <a:extLst>
                <a:ext uri="{FF2B5EF4-FFF2-40B4-BE49-F238E27FC236}">
                  <a16:creationId xmlns:a16="http://schemas.microsoft.com/office/drawing/2014/main" id="{D2B7433A-243E-C206-1CB1-3F191E6AD029}"/>
                </a:ext>
              </a:extLst>
            </p:cNvPr>
            <p:cNvSpPr>
              <a:spLocks noGrp="1"/>
            </p:cNvSpPr>
            <p:nvPr/>
          </p:nvSpPr>
          <p:spPr>
            <a:xfrm>
              <a:off x="2361378" y="9768364"/>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93" name="Foreground to probability refined">
              <a:extLst>
                <a:ext uri="{FF2B5EF4-FFF2-40B4-BE49-F238E27FC236}">
                  <a16:creationId xmlns:a16="http://schemas.microsoft.com/office/drawing/2014/main" id="{D5A6B998-ADFA-E982-8C35-E6D90114C21C}"/>
                </a:ext>
              </a:extLst>
            </p:cNvPr>
            <p:cNvSpPr>
              <a:spLocks noGrp="1"/>
            </p:cNvSpPr>
            <p:nvPr/>
          </p:nvSpPr>
          <p:spPr>
            <a:xfrm>
              <a:off x="3190053" y="9971532"/>
              <a:ext cx="600742" cy="191"/>
            </a:xfrm>
            <a:custGeom>
              <a:avLst/>
              <a:gdLst/>
              <a:ahLst/>
              <a:cxnLst/>
              <a:rect l="0" t="0" r="0" b="0"/>
              <a:pathLst>
                <a:path w="600742" h="191">
                  <a:moveTo>
                    <a:pt x="0" y="0"/>
                  </a:moveTo>
                  <a:lnTo>
                    <a:pt x="600742" y="0"/>
                  </a:lnTo>
                </a:path>
              </a:pathLst>
            </a:custGeom>
            <a:noFill/>
            <a:ln w="8505">
              <a:solidFill>
                <a:srgbClr val="3B8C80"/>
              </a:solidFill>
              <a:prstDash val="solid"/>
            </a:ln>
          </p:spPr>
        </p:sp>
        <p:sp>
          <p:nvSpPr>
            <p:cNvPr id="1394" name="Foreground to probability refined head">
              <a:extLst>
                <a:ext uri="{FF2B5EF4-FFF2-40B4-BE49-F238E27FC236}">
                  <a16:creationId xmlns:a16="http://schemas.microsoft.com/office/drawing/2014/main" id="{660BE4D6-2608-6E09-7FF4-AD7C50994699}"/>
                </a:ext>
              </a:extLst>
            </p:cNvPr>
            <p:cNvSpPr>
              <a:spLocks noGrp="1"/>
            </p:cNvSpPr>
            <p:nvPr/>
          </p:nvSpPr>
          <p:spPr>
            <a:xfrm>
              <a:off x="3747456" y="9942862"/>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395" name="Candidate to cosine refined">
              <a:extLst>
                <a:ext uri="{FF2B5EF4-FFF2-40B4-BE49-F238E27FC236}">
                  <a16:creationId xmlns:a16="http://schemas.microsoft.com/office/drawing/2014/main" id="{22A5040B-9402-AB7D-9094-F4BF5F10ADD2}"/>
                </a:ext>
              </a:extLst>
            </p:cNvPr>
            <p:cNvSpPr>
              <a:spLocks noGrp="1"/>
            </p:cNvSpPr>
            <p:nvPr/>
          </p:nvSpPr>
          <p:spPr>
            <a:xfrm>
              <a:off x="5199066" y="9525000"/>
              <a:ext cx="2478033" cy="446532"/>
            </a:xfrm>
            <a:custGeom>
              <a:avLst/>
              <a:gdLst/>
              <a:ahLst/>
              <a:cxnLst/>
              <a:rect l="0" t="0" r="0" b="0"/>
              <a:pathLst>
                <a:path w="2143887" h="446532">
                  <a:moveTo>
                    <a:pt x="0" y="0"/>
                  </a:moveTo>
                  <a:lnTo>
                    <a:pt x="0" y="446532"/>
                  </a:lnTo>
                  <a:lnTo>
                    <a:pt x="2143887" y="446532"/>
                  </a:lnTo>
                </a:path>
              </a:pathLst>
            </a:custGeom>
            <a:noFill/>
            <a:ln w="8505">
              <a:solidFill>
                <a:srgbClr val="3B8C80"/>
              </a:solidFill>
              <a:prstDash val="solid"/>
            </a:ln>
          </p:spPr>
        </p:sp>
        <p:sp>
          <p:nvSpPr>
            <p:cNvPr id="1396" name="Candidate to cosine refined head">
              <a:extLst>
                <a:ext uri="{FF2B5EF4-FFF2-40B4-BE49-F238E27FC236}">
                  <a16:creationId xmlns:a16="http://schemas.microsoft.com/office/drawing/2014/main" id="{D0F3AAE9-EBC0-FC07-AF0A-FBDAD938D93E}"/>
                </a:ext>
              </a:extLst>
            </p:cNvPr>
            <p:cNvSpPr>
              <a:spLocks noGrp="1"/>
            </p:cNvSpPr>
            <p:nvPr/>
          </p:nvSpPr>
          <p:spPr>
            <a:xfrm>
              <a:off x="7633759" y="9942862"/>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397" name="Selected identity to graph refined">
              <a:extLst>
                <a:ext uri="{FF2B5EF4-FFF2-40B4-BE49-F238E27FC236}">
                  <a16:creationId xmlns:a16="http://schemas.microsoft.com/office/drawing/2014/main" id="{2545D43E-9B8D-BA3E-80CD-880BD63B35AE}"/>
                </a:ext>
              </a:extLst>
            </p:cNvPr>
            <p:cNvSpPr>
              <a:spLocks noGrp="1"/>
            </p:cNvSpPr>
            <p:nvPr/>
          </p:nvSpPr>
          <p:spPr>
            <a:xfrm>
              <a:off x="7067879" y="6134481"/>
              <a:ext cx="651129" cy="595217"/>
            </a:xfrm>
            <a:custGeom>
              <a:avLst/>
              <a:gdLst/>
              <a:ahLst/>
              <a:cxnLst/>
              <a:rect l="0" t="0" r="0" b="0"/>
              <a:pathLst>
                <a:path w="651129" h="595217">
                  <a:moveTo>
                    <a:pt x="651129" y="0"/>
                  </a:moveTo>
                  <a:lnTo>
                    <a:pt x="0" y="0"/>
                  </a:lnTo>
                  <a:lnTo>
                    <a:pt x="0" y="595217"/>
                  </a:lnTo>
                </a:path>
              </a:pathLst>
            </a:custGeom>
            <a:noFill/>
            <a:ln w="8505">
              <a:solidFill>
                <a:srgbClr val="3B8C80"/>
              </a:solidFill>
              <a:prstDash val="solid"/>
            </a:ln>
          </p:spPr>
        </p:sp>
        <p:sp>
          <p:nvSpPr>
            <p:cNvPr id="1398" name="Selected identity to graph refined head">
              <a:extLst>
                <a:ext uri="{FF2B5EF4-FFF2-40B4-BE49-F238E27FC236}">
                  <a16:creationId xmlns:a16="http://schemas.microsoft.com/office/drawing/2014/main" id="{2F033F6F-AC85-37DE-479C-D063C3DB8E25}"/>
                </a:ext>
              </a:extLst>
            </p:cNvPr>
            <p:cNvSpPr>
              <a:spLocks noGrp="1"/>
            </p:cNvSpPr>
            <p:nvPr/>
          </p:nvSpPr>
          <p:spPr>
            <a:xfrm>
              <a:off x="7039209" y="6686360"/>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99" name="Graph to GNN refined">
              <a:extLst>
                <a:ext uri="{FF2B5EF4-FFF2-40B4-BE49-F238E27FC236}">
                  <a16:creationId xmlns:a16="http://schemas.microsoft.com/office/drawing/2014/main" id="{7EF864D3-D6E3-5180-82C2-0A0AE886C150}"/>
                </a:ext>
              </a:extLst>
            </p:cNvPr>
            <p:cNvSpPr>
              <a:spLocks noGrp="1"/>
            </p:cNvSpPr>
            <p:nvPr/>
          </p:nvSpPr>
          <p:spPr>
            <a:xfrm>
              <a:off x="7067879" y="7441406"/>
              <a:ext cx="191" cy="153448"/>
            </a:xfrm>
            <a:custGeom>
              <a:avLst/>
              <a:gdLst/>
              <a:ahLst/>
              <a:cxnLst/>
              <a:rect l="0" t="0" r="0" b="0"/>
              <a:pathLst>
                <a:path w="191" h="153448">
                  <a:moveTo>
                    <a:pt x="0" y="0"/>
                  </a:moveTo>
                  <a:lnTo>
                    <a:pt x="0" y="153448"/>
                  </a:lnTo>
                </a:path>
              </a:pathLst>
            </a:custGeom>
            <a:noFill/>
            <a:ln w="8505">
              <a:solidFill>
                <a:srgbClr val="3B8C80"/>
              </a:solidFill>
              <a:prstDash val="solid"/>
            </a:ln>
          </p:spPr>
        </p:sp>
        <p:sp>
          <p:nvSpPr>
            <p:cNvPr id="1400" name="Graph to GNN refined head">
              <a:extLst>
                <a:ext uri="{FF2B5EF4-FFF2-40B4-BE49-F238E27FC236}">
                  <a16:creationId xmlns:a16="http://schemas.microsoft.com/office/drawing/2014/main" id="{B23BD653-4893-2671-9B86-7F888A6E5617}"/>
                </a:ext>
              </a:extLst>
            </p:cNvPr>
            <p:cNvSpPr>
              <a:spLocks noGrp="1"/>
            </p:cNvSpPr>
            <p:nvPr/>
          </p:nvSpPr>
          <p:spPr>
            <a:xfrm>
              <a:off x="7039209" y="7551515"/>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1" name="GNN to graph attention refined">
              <a:extLst>
                <a:ext uri="{FF2B5EF4-FFF2-40B4-BE49-F238E27FC236}">
                  <a16:creationId xmlns:a16="http://schemas.microsoft.com/office/drawing/2014/main" id="{B0DCC1B2-7C1A-332C-0127-08382278DBC6}"/>
                </a:ext>
              </a:extLst>
            </p:cNvPr>
            <p:cNvSpPr>
              <a:spLocks noGrp="1"/>
            </p:cNvSpPr>
            <p:nvPr/>
          </p:nvSpPr>
          <p:spPr>
            <a:xfrm>
              <a:off x="7067879" y="7934420"/>
              <a:ext cx="191" cy="274320"/>
            </a:xfrm>
            <a:custGeom>
              <a:avLst/>
              <a:gdLst/>
              <a:ahLst/>
              <a:cxnLst/>
              <a:rect l="0" t="0" r="0" b="0"/>
              <a:pathLst>
                <a:path w="191" h="274320">
                  <a:moveTo>
                    <a:pt x="0" y="0"/>
                  </a:moveTo>
                  <a:lnTo>
                    <a:pt x="0" y="274320"/>
                  </a:lnTo>
                </a:path>
              </a:pathLst>
            </a:custGeom>
            <a:noFill/>
            <a:ln w="8505">
              <a:solidFill>
                <a:srgbClr val="3B8C80"/>
              </a:solidFill>
              <a:prstDash val="solid"/>
            </a:ln>
          </p:spPr>
        </p:sp>
        <p:sp>
          <p:nvSpPr>
            <p:cNvPr id="1402" name="GNN to graph attention refined head">
              <a:extLst>
                <a:ext uri="{FF2B5EF4-FFF2-40B4-BE49-F238E27FC236}">
                  <a16:creationId xmlns:a16="http://schemas.microsoft.com/office/drawing/2014/main" id="{F5D1A0D2-1869-EB89-61A3-D3ABFE580C35}"/>
                </a:ext>
              </a:extLst>
            </p:cNvPr>
            <p:cNvSpPr>
              <a:spLocks noGrp="1"/>
            </p:cNvSpPr>
            <p:nvPr/>
          </p:nvSpPr>
          <p:spPr>
            <a:xfrm>
              <a:off x="7039209" y="8165402"/>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3" name="Identity to SMI-TED refined">
              <a:extLst>
                <a:ext uri="{FF2B5EF4-FFF2-40B4-BE49-F238E27FC236}">
                  <a16:creationId xmlns:a16="http://schemas.microsoft.com/office/drawing/2014/main" id="{416B661C-118E-CA99-59DC-DA4857A74E2E}"/>
                </a:ext>
              </a:extLst>
            </p:cNvPr>
            <p:cNvSpPr>
              <a:spLocks noGrp="1"/>
            </p:cNvSpPr>
            <p:nvPr/>
          </p:nvSpPr>
          <p:spPr>
            <a:xfrm>
              <a:off x="8637980" y="6638068"/>
              <a:ext cx="191" cy="326993"/>
            </a:xfrm>
            <a:custGeom>
              <a:avLst/>
              <a:gdLst/>
              <a:ahLst/>
              <a:cxnLst/>
              <a:rect l="0" t="0" r="0" b="0"/>
              <a:pathLst>
                <a:path w="191" h="326993">
                  <a:moveTo>
                    <a:pt x="0" y="0"/>
                  </a:moveTo>
                  <a:lnTo>
                    <a:pt x="0" y="326993"/>
                  </a:lnTo>
                </a:path>
              </a:pathLst>
            </a:custGeom>
            <a:noFill/>
            <a:ln w="8505">
              <a:solidFill>
                <a:srgbClr val="3B8C80"/>
              </a:solidFill>
              <a:prstDash val="solid"/>
            </a:ln>
          </p:spPr>
        </p:sp>
        <p:sp>
          <p:nvSpPr>
            <p:cNvPr id="1404" name="Identity to SMI-TED refined head">
              <a:extLst>
                <a:ext uri="{FF2B5EF4-FFF2-40B4-BE49-F238E27FC236}">
                  <a16:creationId xmlns:a16="http://schemas.microsoft.com/office/drawing/2014/main" id="{0BA2F96A-2AFB-7C00-99C8-78C9DC78B848}"/>
                </a:ext>
              </a:extLst>
            </p:cNvPr>
            <p:cNvSpPr>
              <a:spLocks noGrp="1"/>
            </p:cNvSpPr>
            <p:nvPr/>
          </p:nvSpPr>
          <p:spPr>
            <a:xfrm>
              <a:off x="8609310" y="6921722"/>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5" name="SMI-TED to language refined">
              <a:extLst>
                <a:ext uri="{FF2B5EF4-FFF2-40B4-BE49-F238E27FC236}">
                  <a16:creationId xmlns:a16="http://schemas.microsoft.com/office/drawing/2014/main" id="{688B9630-847C-74A2-04EF-D75E08D7E423}"/>
                </a:ext>
              </a:extLst>
            </p:cNvPr>
            <p:cNvSpPr>
              <a:spLocks noGrp="1"/>
            </p:cNvSpPr>
            <p:nvPr/>
          </p:nvSpPr>
          <p:spPr>
            <a:xfrm>
              <a:off x="8637980" y="7304627"/>
              <a:ext cx="191" cy="1013841"/>
            </a:xfrm>
            <a:custGeom>
              <a:avLst/>
              <a:gdLst/>
              <a:ahLst/>
              <a:cxnLst/>
              <a:rect l="0" t="0" r="0" b="0"/>
              <a:pathLst>
                <a:path w="191" h="1013841">
                  <a:moveTo>
                    <a:pt x="0" y="0"/>
                  </a:moveTo>
                  <a:lnTo>
                    <a:pt x="0" y="1013841"/>
                  </a:lnTo>
                </a:path>
              </a:pathLst>
            </a:custGeom>
            <a:noFill/>
            <a:ln w="8505">
              <a:solidFill>
                <a:srgbClr val="3B8C80"/>
              </a:solidFill>
              <a:prstDash val="solid"/>
            </a:ln>
          </p:spPr>
        </p:sp>
        <p:sp>
          <p:nvSpPr>
            <p:cNvPr id="1406" name="SMI-TED to language refined head">
              <a:extLst>
                <a:ext uri="{FF2B5EF4-FFF2-40B4-BE49-F238E27FC236}">
                  <a16:creationId xmlns:a16="http://schemas.microsoft.com/office/drawing/2014/main" id="{7251A2B8-D12B-A433-6B0D-10AA76953AAB}"/>
                </a:ext>
              </a:extLst>
            </p:cNvPr>
            <p:cNvSpPr>
              <a:spLocks noGrp="1"/>
            </p:cNvSpPr>
            <p:nvPr/>
          </p:nvSpPr>
          <p:spPr>
            <a:xfrm>
              <a:off x="8609310" y="8275130"/>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7" name="Other identities refined">
              <a:extLst>
                <a:ext uri="{FF2B5EF4-FFF2-40B4-BE49-F238E27FC236}">
                  <a16:creationId xmlns:a16="http://schemas.microsoft.com/office/drawing/2014/main" id="{A4787BA6-E950-16B8-B01A-9B4C92E13C7A}"/>
                </a:ext>
              </a:extLst>
            </p:cNvPr>
            <p:cNvSpPr>
              <a:spLocks noGrp="1"/>
            </p:cNvSpPr>
            <p:nvPr/>
          </p:nvSpPr>
          <p:spPr>
            <a:xfrm>
              <a:off x="9616579" y="5581174"/>
              <a:ext cx="613886" cy="1373695"/>
            </a:xfrm>
            <a:custGeom>
              <a:avLst/>
              <a:gdLst/>
              <a:ahLst/>
              <a:cxnLst/>
              <a:rect l="0" t="0" r="0" b="0"/>
              <a:pathLst>
                <a:path w="613886" h="1373695">
                  <a:moveTo>
                    <a:pt x="0" y="0"/>
                  </a:moveTo>
                  <a:lnTo>
                    <a:pt x="613886" y="0"/>
                  </a:lnTo>
                  <a:lnTo>
                    <a:pt x="613886" y="1373695"/>
                  </a:lnTo>
                </a:path>
              </a:pathLst>
            </a:custGeom>
            <a:noFill/>
            <a:ln w="8505">
              <a:solidFill>
                <a:srgbClr val="3B8C80"/>
              </a:solidFill>
              <a:prstDash val="solid"/>
            </a:ln>
          </p:spPr>
        </p:sp>
        <p:sp>
          <p:nvSpPr>
            <p:cNvPr id="1408" name="Other identities refined head">
              <a:extLst>
                <a:ext uri="{FF2B5EF4-FFF2-40B4-BE49-F238E27FC236}">
                  <a16:creationId xmlns:a16="http://schemas.microsoft.com/office/drawing/2014/main" id="{9D094DDB-3471-ECAC-BCA5-E9612E620328}"/>
                </a:ext>
              </a:extLst>
            </p:cNvPr>
            <p:cNvSpPr>
              <a:spLocks noGrp="1"/>
            </p:cNvSpPr>
            <p:nvPr/>
          </p:nvSpPr>
          <p:spPr>
            <a:xfrm>
              <a:off x="10201795" y="6911531"/>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9" name="Other identities middle refined">
              <a:extLst>
                <a:ext uri="{FF2B5EF4-FFF2-40B4-BE49-F238E27FC236}">
                  <a16:creationId xmlns:a16="http://schemas.microsoft.com/office/drawing/2014/main" id="{43A875F1-64CC-3AE0-16D0-832B017C6CB3}"/>
                </a:ext>
              </a:extLst>
            </p:cNvPr>
            <p:cNvSpPr>
              <a:spLocks noGrp="1"/>
            </p:cNvSpPr>
            <p:nvPr/>
          </p:nvSpPr>
          <p:spPr>
            <a:xfrm>
              <a:off x="9616579" y="5851112"/>
              <a:ext cx="613886" cy="191"/>
            </a:xfrm>
            <a:custGeom>
              <a:avLst/>
              <a:gdLst/>
              <a:ahLst/>
              <a:cxnLst/>
              <a:rect l="0" t="0" r="0" b="0"/>
              <a:pathLst>
                <a:path w="613886" h="191">
                  <a:moveTo>
                    <a:pt x="0" y="0"/>
                  </a:moveTo>
                  <a:lnTo>
                    <a:pt x="613886" y="0"/>
                  </a:lnTo>
                </a:path>
              </a:pathLst>
            </a:custGeom>
            <a:noFill/>
            <a:ln w="8505">
              <a:solidFill>
                <a:srgbClr val="3B8C80"/>
              </a:solidFill>
              <a:prstDash val="solid"/>
            </a:ln>
          </p:spPr>
        </p:sp>
        <p:sp>
          <p:nvSpPr>
            <p:cNvPr id="1410" name="Other identities lower refined">
              <a:extLst>
                <a:ext uri="{FF2B5EF4-FFF2-40B4-BE49-F238E27FC236}">
                  <a16:creationId xmlns:a16="http://schemas.microsoft.com/office/drawing/2014/main" id="{D83A070A-E1D1-4067-2310-74DC30F9F921}"/>
                </a:ext>
              </a:extLst>
            </p:cNvPr>
            <p:cNvSpPr>
              <a:spLocks noGrp="1"/>
            </p:cNvSpPr>
            <p:nvPr/>
          </p:nvSpPr>
          <p:spPr>
            <a:xfrm>
              <a:off x="9616579" y="6533293"/>
              <a:ext cx="613886" cy="191"/>
            </a:xfrm>
            <a:custGeom>
              <a:avLst/>
              <a:gdLst/>
              <a:ahLst/>
              <a:cxnLst/>
              <a:rect l="0" t="0" r="0" b="0"/>
              <a:pathLst>
                <a:path w="613886" h="191">
                  <a:moveTo>
                    <a:pt x="0" y="0"/>
                  </a:moveTo>
                  <a:lnTo>
                    <a:pt x="613886" y="0"/>
                  </a:lnTo>
                </a:path>
              </a:pathLst>
            </a:custGeom>
            <a:noFill/>
            <a:ln w="8505">
              <a:solidFill>
                <a:srgbClr val="3B8C80"/>
              </a:solidFill>
              <a:prstDash val="solid"/>
            </a:ln>
          </p:spPr>
        </p:sp>
        <p:sp>
          <p:nvSpPr>
            <p:cNvPr id="1411" name="Context SMI-TED to matrix refined">
              <a:extLst>
                <a:ext uri="{FF2B5EF4-FFF2-40B4-BE49-F238E27FC236}">
                  <a16:creationId xmlns:a16="http://schemas.microsoft.com/office/drawing/2014/main" id="{3BA39657-BA55-8B03-4B42-2E8CA0F2402A}"/>
                </a:ext>
              </a:extLst>
            </p:cNvPr>
            <p:cNvSpPr>
              <a:spLocks noGrp="1"/>
            </p:cNvSpPr>
            <p:nvPr/>
          </p:nvSpPr>
          <p:spPr>
            <a:xfrm>
              <a:off x="10240942" y="7294436"/>
              <a:ext cx="191" cy="264128"/>
            </a:xfrm>
            <a:custGeom>
              <a:avLst/>
              <a:gdLst/>
              <a:ahLst/>
              <a:cxnLst/>
              <a:rect l="0" t="0" r="0" b="0"/>
              <a:pathLst>
                <a:path w="191" h="264128">
                  <a:moveTo>
                    <a:pt x="0" y="0"/>
                  </a:moveTo>
                  <a:lnTo>
                    <a:pt x="0" y="264128"/>
                  </a:lnTo>
                </a:path>
              </a:pathLst>
            </a:custGeom>
            <a:noFill/>
            <a:ln w="8505">
              <a:solidFill>
                <a:srgbClr val="3B8C80"/>
              </a:solidFill>
              <a:prstDash val="solid"/>
            </a:ln>
          </p:spPr>
        </p:sp>
        <p:sp>
          <p:nvSpPr>
            <p:cNvPr id="1412" name="Context SMI-TED to matrix refined head">
              <a:extLst>
                <a:ext uri="{FF2B5EF4-FFF2-40B4-BE49-F238E27FC236}">
                  <a16:creationId xmlns:a16="http://schemas.microsoft.com/office/drawing/2014/main" id="{46BBCF7E-77B7-430B-5E68-8D5D4D07C9BA}"/>
                </a:ext>
              </a:extLst>
            </p:cNvPr>
            <p:cNvSpPr>
              <a:spLocks noGrp="1"/>
            </p:cNvSpPr>
            <p:nvPr/>
          </p:nvSpPr>
          <p:spPr>
            <a:xfrm>
              <a:off x="10212272" y="7515225"/>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13" name="Context matrix to attention refined">
              <a:extLst>
                <a:ext uri="{FF2B5EF4-FFF2-40B4-BE49-F238E27FC236}">
                  <a16:creationId xmlns:a16="http://schemas.microsoft.com/office/drawing/2014/main" id="{19123C2B-08C0-5942-5974-56E3DB290164}"/>
                </a:ext>
              </a:extLst>
            </p:cNvPr>
            <p:cNvSpPr>
              <a:spLocks noGrp="1"/>
            </p:cNvSpPr>
            <p:nvPr/>
          </p:nvSpPr>
          <p:spPr>
            <a:xfrm>
              <a:off x="10230465" y="7958995"/>
              <a:ext cx="191" cy="249745"/>
            </a:xfrm>
            <a:custGeom>
              <a:avLst/>
              <a:gdLst/>
              <a:ahLst/>
              <a:cxnLst/>
              <a:rect l="0" t="0" r="0" b="0"/>
              <a:pathLst>
                <a:path w="191" h="249745">
                  <a:moveTo>
                    <a:pt x="0" y="0"/>
                  </a:moveTo>
                  <a:lnTo>
                    <a:pt x="0" y="249745"/>
                  </a:lnTo>
                </a:path>
              </a:pathLst>
            </a:custGeom>
            <a:noFill/>
            <a:ln w="8505">
              <a:solidFill>
                <a:srgbClr val="3B8C80"/>
              </a:solidFill>
              <a:prstDash val="solid"/>
            </a:ln>
          </p:spPr>
        </p:sp>
        <p:sp>
          <p:nvSpPr>
            <p:cNvPr id="1414" name="Context matrix to attention refined head">
              <a:extLst>
                <a:ext uri="{FF2B5EF4-FFF2-40B4-BE49-F238E27FC236}">
                  <a16:creationId xmlns:a16="http://schemas.microsoft.com/office/drawing/2014/main" id="{F6D726DD-707A-38A3-9C89-49061435E2BF}"/>
                </a:ext>
              </a:extLst>
            </p:cNvPr>
            <p:cNvSpPr>
              <a:spLocks noGrp="1"/>
            </p:cNvSpPr>
            <p:nvPr/>
          </p:nvSpPr>
          <p:spPr>
            <a:xfrm>
              <a:off x="10201795" y="8165402"/>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15" name="Language query left refined">
              <a:extLst>
                <a:ext uri="{FF2B5EF4-FFF2-40B4-BE49-F238E27FC236}">
                  <a16:creationId xmlns:a16="http://schemas.microsoft.com/office/drawing/2014/main" id="{739AFAAD-E669-E2AC-687E-E59FC6E7FAD2}"/>
                </a:ext>
              </a:extLst>
            </p:cNvPr>
            <p:cNvSpPr>
              <a:spLocks noGrp="1"/>
            </p:cNvSpPr>
            <p:nvPr/>
          </p:nvSpPr>
          <p:spPr>
            <a:xfrm>
              <a:off x="7816735" y="8408765"/>
              <a:ext cx="479012" cy="191"/>
            </a:xfrm>
            <a:custGeom>
              <a:avLst/>
              <a:gdLst/>
              <a:ahLst/>
              <a:cxnLst/>
              <a:rect l="0" t="0" r="0" b="0"/>
              <a:pathLst>
                <a:path w="479012" h="191">
                  <a:moveTo>
                    <a:pt x="479012" y="0"/>
                  </a:moveTo>
                  <a:lnTo>
                    <a:pt x="0" y="0"/>
                  </a:lnTo>
                </a:path>
              </a:pathLst>
            </a:custGeom>
            <a:noFill/>
            <a:ln w="8505">
              <a:solidFill>
                <a:srgbClr val="3B8C80"/>
              </a:solidFill>
              <a:prstDash val="solid"/>
            </a:ln>
          </p:spPr>
        </p:sp>
        <p:sp>
          <p:nvSpPr>
            <p:cNvPr id="1416" name="Language query left refined head">
              <a:extLst>
                <a:ext uri="{FF2B5EF4-FFF2-40B4-BE49-F238E27FC236}">
                  <a16:creationId xmlns:a16="http://schemas.microsoft.com/office/drawing/2014/main" id="{98D92A42-D662-B44C-CD57-583BDD75174C}"/>
                </a:ext>
              </a:extLst>
            </p:cNvPr>
            <p:cNvSpPr>
              <a:spLocks noGrp="1"/>
            </p:cNvSpPr>
            <p:nvPr/>
          </p:nvSpPr>
          <p:spPr>
            <a:xfrm>
              <a:off x="7793398" y="8380095"/>
              <a:ext cx="66675" cy="57340"/>
            </a:xfrm>
            <a:custGeom>
              <a:avLst/>
              <a:gdLst/>
              <a:ahLst/>
              <a:cxnLst/>
              <a:rect l="0" t="0" r="0" b="0"/>
              <a:pathLst>
                <a:path w="66675" h="57340">
                  <a:moveTo>
                    <a:pt x="0" y="28670"/>
                  </a:moveTo>
                  <a:lnTo>
                    <a:pt x="66675" y="57340"/>
                  </a:lnTo>
                  <a:lnTo>
                    <a:pt x="66675" y="0"/>
                  </a:lnTo>
                  <a:close/>
                </a:path>
              </a:pathLst>
            </a:custGeom>
            <a:solidFill>
              <a:srgbClr val="3B8C80"/>
            </a:solidFill>
            <a:ln w="0">
              <a:noFill/>
              <a:prstDash val="solid"/>
            </a:ln>
          </p:spPr>
        </p:sp>
        <p:sp>
          <p:nvSpPr>
            <p:cNvPr id="1417" name="Language query right refined">
              <a:extLst>
                <a:ext uri="{FF2B5EF4-FFF2-40B4-BE49-F238E27FC236}">
                  <a16:creationId xmlns:a16="http://schemas.microsoft.com/office/drawing/2014/main" id="{97C332FD-B4F7-4A69-7F24-BE35ED3CC233}"/>
                </a:ext>
              </a:extLst>
            </p:cNvPr>
            <p:cNvSpPr>
              <a:spLocks noGrp="1"/>
            </p:cNvSpPr>
            <p:nvPr/>
          </p:nvSpPr>
          <p:spPr>
            <a:xfrm>
              <a:off x="8965450" y="8408765"/>
              <a:ext cx="478917" cy="191"/>
            </a:xfrm>
            <a:custGeom>
              <a:avLst/>
              <a:gdLst/>
              <a:ahLst/>
              <a:cxnLst/>
              <a:rect l="0" t="0" r="0" b="0"/>
              <a:pathLst>
                <a:path w="478917" h="191">
                  <a:moveTo>
                    <a:pt x="0" y="0"/>
                  </a:moveTo>
                  <a:lnTo>
                    <a:pt x="478917" y="0"/>
                  </a:lnTo>
                </a:path>
              </a:pathLst>
            </a:custGeom>
            <a:noFill/>
            <a:ln w="8505">
              <a:solidFill>
                <a:srgbClr val="3B8C80"/>
              </a:solidFill>
              <a:prstDash val="solid"/>
            </a:ln>
          </p:spPr>
        </p:sp>
        <p:sp>
          <p:nvSpPr>
            <p:cNvPr id="1418" name="Language query right refined head">
              <a:extLst>
                <a:ext uri="{FF2B5EF4-FFF2-40B4-BE49-F238E27FC236}">
                  <a16:creationId xmlns:a16="http://schemas.microsoft.com/office/drawing/2014/main" id="{4B6A3B32-B3D1-5F9B-FDB9-6517BE3635C2}"/>
                </a:ext>
              </a:extLst>
            </p:cNvPr>
            <p:cNvSpPr>
              <a:spLocks noGrp="1"/>
            </p:cNvSpPr>
            <p:nvPr/>
          </p:nvSpPr>
          <p:spPr>
            <a:xfrm>
              <a:off x="9401028" y="8380095"/>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419" name="Language to fusion refined">
              <a:extLst>
                <a:ext uri="{FF2B5EF4-FFF2-40B4-BE49-F238E27FC236}">
                  <a16:creationId xmlns:a16="http://schemas.microsoft.com/office/drawing/2014/main" id="{CC1BD470-88ED-E459-BC64-3926AF1B81FC}"/>
                </a:ext>
              </a:extLst>
            </p:cNvPr>
            <p:cNvSpPr>
              <a:spLocks noGrp="1"/>
            </p:cNvSpPr>
            <p:nvPr/>
          </p:nvSpPr>
          <p:spPr>
            <a:xfrm>
              <a:off x="8630551" y="8475726"/>
              <a:ext cx="191" cy="281845"/>
            </a:xfrm>
            <a:custGeom>
              <a:avLst/>
              <a:gdLst/>
              <a:ahLst/>
              <a:cxnLst/>
              <a:rect l="0" t="0" r="0" b="0"/>
              <a:pathLst>
                <a:path w="191" h="281845">
                  <a:moveTo>
                    <a:pt x="0" y="0"/>
                  </a:moveTo>
                  <a:lnTo>
                    <a:pt x="0" y="281845"/>
                  </a:lnTo>
                </a:path>
              </a:pathLst>
            </a:custGeom>
            <a:noFill/>
            <a:ln w="8505">
              <a:solidFill>
                <a:srgbClr val="3B8C80"/>
              </a:solidFill>
              <a:prstDash val="solid"/>
            </a:ln>
          </p:spPr>
        </p:sp>
        <p:sp>
          <p:nvSpPr>
            <p:cNvPr id="1420" name="Language to fusion refined head">
              <a:extLst>
                <a:ext uri="{FF2B5EF4-FFF2-40B4-BE49-F238E27FC236}">
                  <a16:creationId xmlns:a16="http://schemas.microsoft.com/office/drawing/2014/main" id="{7DE28A53-D82C-C158-A00E-484E630E57C6}"/>
                </a:ext>
              </a:extLst>
            </p:cNvPr>
            <p:cNvSpPr>
              <a:spLocks noGrp="1"/>
            </p:cNvSpPr>
            <p:nvPr/>
          </p:nvSpPr>
          <p:spPr>
            <a:xfrm>
              <a:off x="8601880" y="8714232"/>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21" name="Graph attention to fusion refined">
              <a:extLst>
                <a:ext uri="{FF2B5EF4-FFF2-40B4-BE49-F238E27FC236}">
                  <a16:creationId xmlns:a16="http://schemas.microsoft.com/office/drawing/2014/main" id="{9DE07E88-6455-6397-3B15-5E2794D66EC1}"/>
                </a:ext>
              </a:extLst>
            </p:cNvPr>
            <p:cNvSpPr>
              <a:spLocks noGrp="1"/>
            </p:cNvSpPr>
            <p:nvPr/>
          </p:nvSpPr>
          <p:spPr>
            <a:xfrm>
              <a:off x="7067879" y="8585549"/>
              <a:ext cx="1092899" cy="362807"/>
            </a:xfrm>
            <a:custGeom>
              <a:avLst/>
              <a:gdLst/>
              <a:ahLst/>
              <a:cxnLst/>
              <a:rect l="0" t="0" r="0" b="0"/>
              <a:pathLst>
                <a:path w="1092899" h="362807">
                  <a:moveTo>
                    <a:pt x="0" y="0"/>
                  </a:moveTo>
                  <a:lnTo>
                    <a:pt x="0" y="362807"/>
                  </a:lnTo>
                  <a:lnTo>
                    <a:pt x="1092899" y="362807"/>
                  </a:lnTo>
                </a:path>
              </a:pathLst>
            </a:custGeom>
            <a:noFill/>
            <a:ln w="8505">
              <a:solidFill>
                <a:srgbClr val="3B8C80"/>
              </a:solidFill>
              <a:prstDash val="solid"/>
            </a:ln>
          </p:spPr>
        </p:sp>
        <p:sp>
          <p:nvSpPr>
            <p:cNvPr id="1422" name="Graph attention to fusion refined head">
              <a:extLst>
                <a:ext uri="{FF2B5EF4-FFF2-40B4-BE49-F238E27FC236}">
                  <a16:creationId xmlns:a16="http://schemas.microsoft.com/office/drawing/2014/main" id="{80249588-4991-7EA9-C183-E31DFF970425}"/>
                </a:ext>
              </a:extLst>
            </p:cNvPr>
            <p:cNvSpPr>
              <a:spLocks noGrp="1"/>
            </p:cNvSpPr>
            <p:nvPr/>
          </p:nvSpPr>
          <p:spPr>
            <a:xfrm>
              <a:off x="8117439" y="8919686"/>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423" name="Context attention to fusion refined">
              <a:extLst>
                <a:ext uri="{FF2B5EF4-FFF2-40B4-BE49-F238E27FC236}">
                  <a16:creationId xmlns:a16="http://schemas.microsoft.com/office/drawing/2014/main" id="{EB1CDE84-2AAC-05C7-2AC2-7F0CD69C4010}"/>
                </a:ext>
              </a:extLst>
            </p:cNvPr>
            <p:cNvSpPr>
              <a:spLocks noGrp="1"/>
            </p:cNvSpPr>
            <p:nvPr/>
          </p:nvSpPr>
          <p:spPr>
            <a:xfrm>
              <a:off x="9100419" y="8585549"/>
              <a:ext cx="1130046" cy="362807"/>
            </a:xfrm>
            <a:custGeom>
              <a:avLst/>
              <a:gdLst/>
              <a:ahLst/>
              <a:cxnLst/>
              <a:rect l="0" t="0" r="0" b="0"/>
              <a:pathLst>
                <a:path w="1130046" h="362807">
                  <a:moveTo>
                    <a:pt x="1130046" y="0"/>
                  </a:moveTo>
                  <a:lnTo>
                    <a:pt x="1130046" y="362807"/>
                  </a:lnTo>
                  <a:lnTo>
                    <a:pt x="0" y="362807"/>
                  </a:lnTo>
                </a:path>
              </a:pathLst>
            </a:custGeom>
            <a:noFill/>
            <a:ln w="8505">
              <a:solidFill>
                <a:srgbClr val="3B8C80"/>
              </a:solidFill>
              <a:prstDash val="solid"/>
            </a:ln>
          </p:spPr>
        </p:sp>
        <p:sp>
          <p:nvSpPr>
            <p:cNvPr id="1424" name="Context attention to fusion refined head">
              <a:extLst>
                <a:ext uri="{FF2B5EF4-FFF2-40B4-BE49-F238E27FC236}">
                  <a16:creationId xmlns:a16="http://schemas.microsoft.com/office/drawing/2014/main" id="{2AAA0335-3D51-EA88-2522-F717A483BF32}"/>
                </a:ext>
              </a:extLst>
            </p:cNvPr>
            <p:cNvSpPr>
              <a:spLocks noGrp="1"/>
            </p:cNvSpPr>
            <p:nvPr/>
          </p:nvSpPr>
          <p:spPr>
            <a:xfrm>
              <a:off x="9077083" y="8919686"/>
              <a:ext cx="66675" cy="57340"/>
            </a:xfrm>
            <a:custGeom>
              <a:avLst/>
              <a:gdLst/>
              <a:ahLst/>
              <a:cxnLst/>
              <a:rect l="0" t="0" r="0" b="0"/>
              <a:pathLst>
                <a:path w="66675" h="57340">
                  <a:moveTo>
                    <a:pt x="0" y="28670"/>
                  </a:moveTo>
                  <a:lnTo>
                    <a:pt x="66675" y="57340"/>
                  </a:lnTo>
                  <a:lnTo>
                    <a:pt x="66675" y="0"/>
                  </a:lnTo>
                  <a:close/>
                </a:path>
              </a:pathLst>
            </a:custGeom>
            <a:solidFill>
              <a:srgbClr val="3B8C80"/>
            </a:solidFill>
            <a:ln w="0">
              <a:noFill/>
              <a:prstDash val="solid"/>
            </a:ln>
          </p:spPr>
        </p:sp>
        <p:sp>
          <p:nvSpPr>
            <p:cNvPr id="1425" name="Fusion to identity vector refined">
              <a:extLst>
                <a:ext uri="{FF2B5EF4-FFF2-40B4-BE49-F238E27FC236}">
                  <a16:creationId xmlns:a16="http://schemas.microsoft.com/office/drawing/2014/main" id="{67958AAC-3FC5-4E94-249E-68F363396C6E}"/>
                </a:ext>
              </a:extLst>
            </p:cNvPr>
            <p:cNvSpPr>
              <a:spLocks noGrp="1"/>
            </p:cNvSpPr>
            <p:nvPr/>
          </p:nvSpPr>
          <p:spPr>
            <a:xfrm>
              <a:off x="8630551" y="9115806"/>
              <a:ext cx="191" cy="244507"/>
            </a:xfrm>
            <a:custGeom>
              <a:avLst/>
              <a:gdLst/>
              <a:ahLst/>
              <a:cxnLst/>
              <a:rect l="0" t="0" r="0" b="0"/>
              <a:pathLst>
                <a:path w="191" h="244507">
                  <a:moveTo>
                    <a:pt x="0" y="0"/>
                  </a:moveTo>
                  <a:lnTo>
                    <a:pt x="0" y="244507"/>
                  </a:lnTo>
                </a:path>
              </a:pathLst>
            </a:custGeom>
            <a:noFill/>
            <a:ln w="8505">
              <a:solidFill>
                <a:srgbClr val="3B8C80"/>
              </a:solidFill>
              <a:prstDash val="solid"/>
            </a:ln>
          </p:spPr>
        </p:sp>
        <p:sp>
          <p:nvSpPr>
            <p:cNvPr id="1426" name="Fusion to identity vector refined head">
              <a:extLst>
                <a:ext uri="{FF2B5EF4-FFF2-40B4-BE49-F238E27FC236}">
                  <a16:creationId xmlns:a16="http://schemas.microsoft.com/office/drawing/2014/main" id="{5B85A195-1A68-48DC-E553-B1E99915D03B}"/>
                </a:ext>
              </a:extLst>
            </p:cNvPr>
            <p:cNvSpPr>
              <a:spLocks noGrp="1"/>
            </p:cNvSpPr>
            <p:nvPr/>
          </p:nvSpPr>
          <p:spPr>
            <a:xfrm>
              <a:off x="8601880" y="9316974"/>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27" name="Identity vector to cosine refined">
              <a:extLst>
                <a:ext uri="{FF2B5EF4-FFF2-40B4-BE49-F238E27FC236}">
                  <a16:creationId xmlns:a16="http://schemas.microsoft.com/office/drawing/2014/main" id="{DDE80B97-A909-A736-F258-523B74319AC3}"/>
                </a:ext>
              </a:extLst>
            </p:cNvPr>
            <p:cNvSpPr>
              <a:spLocks noGrp="1"/>
            </p:cNvSpPr>
            <p:nvPr/>
          </p:nvSpPr>
          <p:spPr>
            <a:xfrm>
              <a:off x="8630551" y="9517571"/>
              <a:ext cx="191" cy="253841"/>
            </a:xfrm>
            <a:custGeom>
              <a:avLst/>
              <a:gdLst/>
              <a:ahLst/>
              <a:cxnLst/>
              <a:rect l="0" t="0" r="0" b="0"/>
              <a:pathLst>
                <a:path w="191" h="253841">
                  <a:moveTo>
                    <a:pt x="0" y="0"/>
                  </a:moveTo>
                  <a:lnTo>
                    <a:pt x="0" y="253841"/>
                  </a:lnTo>
                </a:path>
              </a:pathLst>
            </a:custGeom>
            <a:noFill/>
            <a:ln w="8505">
              <a:solidFill>
                <a:srgbClr val="3B8C80"/>
              </a:solidFill>
              <a:prstDash val="solid"/>
            </a:ln>
          </p:spPr>
        </p:sp>
        <p:sp>
          <p:nvSpPr>
            <p:cNvPr id="1428" name="Identity vector to cosine refined head">
              <a:extLst>
                <a:ext uri="{FF2B5EF4-FFF2-40B4-BE49-F238E27FC236}">
                  <a16:creationId xmlns:a16="http://schemas.microsoft.com/office/drawing/2014/main" id="{E490B029-346A-A57E-7B15-889C23CE6281}"/>
                </a:ext>
              </a:extLst>
            </p:cNvPr>
            <p:cNvSpPr>
              <a:spLocks noGrp="1"/>
            </p:cNvSpPr>
            <p:nvPr/>
          </p:nvSpPr>
          <p:spPr>
            <a:xfrm>
              <a:off x="8601880" y="9728073"/>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29" name="Cosine to score matrix refined">
              <a:extLst>
                <a:ext uri="{FF2B5EF4-FFF2-40B4-BE49-F238E27FC236}">
                  <a16:creationId xmlns:a16="http://schemas.microsoft.com/office/drawing/2014/main" id="{B53F289C-77E1-6513-62C8-F939A23BF1B2}"/>
                </a:ext>
              </a:extLst>
            </p:cNvPr>
            <p:cNvSpPr>
              <a:spLocks noGrp="1"/>
            </p:cNvSpPr>
            <p:nvPr/>
          </p:nvSpPr>
          <p:spPr>
            <a:xfrm>
              <a:off x="9039935" y="9971532"/>
              <a:ext cx="619030" cy="191"/>
            </a:xfrm>
            <a:custGeom>
              <a:avLst/>
              <a:gdLst/>
              <a:ahLst/>
              <a:cxnLst/>
              <a:rect l="0" t="0" r="0" b="0"/>
              <a:pathLst>
                <a:path w="619030" h="191">
                  <a:moveTo>
                    <a:pt x="0" y="0"/>
                  </a:moveTo>
                  <a:lnTo>
                    <a:pt x="619030" y="0"/>
                  </a:lnTo>
                </a:path>
              </a:pathLst>
            </a:custGeom>
            <a:noFill/>
            <a:ln w="8505">
              <a:solidFill>
                <a:srgbClr val="3B8C80"/>
              </a:solidFill>
              <a:prstDash val="solid"/>
            </a:ln>
          </p:spPr>
        </p:sp>
        <p:sp>
          <p:nvSpPr>
            <p:cNvPr id="1430" name="Cosine to score matrix refined head">
              <a:extLst>
                <a:ext uri="{FF2B5EF4-FFF2-40B4-BE49-F238E27FC236}">
                  <a16:creationId xmlns:a16="http://schemas.microsoft.com/office/drawing/2014/main" id="{7D1ABF5A-29C9-76A4-1903-E132A41C0C6D}"/>
                </a:ext>
              </a:extLst>
            </p:cNvPr>
            <p:cNvSpPr>
              <a:spLocks noGrp="1"/>
            </p:cNvSpPr>
            <p:nvPr/>
          </p:nvSpPr>
          <p:spPr>
            <a:xfrm>
              <a:off x="9615626" y="9942862"/>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grpSp>
      <p:pic>
        <p:nvPicPr>
          <p:cNvPr id="1436" name="Match clear receptor" descr="Receptor cartoon rendered from unchanged local coordinates, chain C1 of the 9LLG CA2 model.">
            <a:extLst>
              <a:ext uri="{FF2B5EF4-FFF2-40B4-BE49-F238E27FC236}">
                <a16:creationId xmlns:a16="http://schemas.microsoft.com/office/drawing/2014/main" id="{515E1CE9-4EFA-F96B-A08A-C6C2EC64DC6F}"/>
              </a:ext>
            </a:extLst>
          </p:cNvPr>
          <p:cNvPicPr/>
          <p:nvPr/>
        </p:nvPicPr>
        <p:blipFill>
          <a:blip r:embed="rId7"/>
          <a:srcRect l="16857" t="30389" r="19786" b="22500"/>
          <a:stretch>
            <a:fillRect/>
          </a:stretch>
        </p:blipFill>
        <p:spPr>
          <a:xfrm>
            <a:off x="628714" y="2388765"/>
            <a:ext cx="332109" cy="317507"/>
          </a:xfrm>
          <a:prstGeom prst="rect">
            <a:avLst/>
          </a:prstGeom>
        </p:spPr>
      </p:pic>
      <p:sp>
        <p:nvSpPr>
          <p:cNvPr id="1442" name="文本框 1441">
            <a:extLst>
              <a:ext uri="{FF2B5EF4-FFF2-40B4-BE49-F238E27FC236}">
                <a16:creationId xmlns:a16="http://schemas.microsoft.com/office/drawing/2014/main" id="{814431DA-F1EE-CFB8-E7E0-CF4D130ECF44}"/>
              </a:ext>
            </a:extLst>
          </p:cNvPr>
          <p:cNvSpPr txBox="1"/>
          <p:nvPr/>
        </p:nvSpPr>
        <p:spPr>
          <a:xfrm>
            <a:off x="1260165" y="775016"/>
            <a:ext cx="559769" cy="176972"/>
          </a:xfrm>
          <a:prstGeom prst="rect">
            <a:avLst/>
          </a:prstGeom>
          <a:noFill/>
        </p:spPr>
        <p:txBody>
          <a:bodyPr wrap="none" rtlCol="0">
            <a:spAutoFit/>
          </a:bodyPr>
          <a:lstStyle/>
          <a:p>
            <a:r>
              <a:rPr lang="en-US" altLang="zh-CN" sz="550" dirty="0">
                <a:solidFill>
                  <a:srgbClr val="263442"/>
                </a:solidFill>
                <a:latin typeface="Arial"/>
                <a:cs typeface="Arial"/>
              </a:rPr>
              <a:t>56 channels</a:t>
            </a:r>
            <a:endParaRPr lang="zh-CN" altLang="en-US" sz="550" dirty="0">
              <a:solidFill>
                <a:srgbClr val="263442"/>
              </a:solidFill>
              <a:latin typeface="Arial"/>
              <a:cs typeface="Arial"/>
            </a:endParaRPr>
          </a:p>
        </p:txBody>
      </p:sp>
      <p:sp>
        <p:nvSpPr>
          <p:cNvPr id="1443" name="V8 embedding computation frame">
            <a:extLst>
              <a:ext uri="{FF2B5EF4-FFF2-40B4-BE49-F238E27FC236}">
                <a16:creationId xmlns:a16="http://schemas.microsoft.com/office/drawing/2014/main" id="{FB41A424-8C9A-2DA8-76B2-57C0C54ECB10}"/>
              </a:ext>
            </a:extLst>
          </p:cNvPr>
          <p:cNvSpPr/>
          <p:nvPr/>
        </p:nvSpPr>
        <p:spPr>
          <a:xfrm>
            <a:off x="1351898" y="1318283"/>
            <a:ext cx="386080" cy="417830"/>
          </a:xfrm>
          <a:prstGeom prst="roundRect">
            <a:avLst>
              <a:gd name="adj" fmla="val 6579"/>
            </a:avLst>
          </a:prstGeom>
          <a:solidFill>
            <a:srgbClr val="F8FAFC"/>
          </a:solidFill>
          <a:ln w="6096" cap="rnd">
            <a:solidFill>
              <a:srgbClr val="BEC7CE"/>
            </a:solidFill>
            <a:prstDash val="solid"/>
            <a:round/>
          </a:ln>
        </p:spPr>
      </p:sp>
      <p:sp>
        <p:nvSpPr>
          <p:cNvPr id="1444" name="V8 embedding neighbor 1 to center">
            <a:extLst>
              <a:ext uri="{FF2B5EF4-FFF2-40B4-BE49-F238E27FC236}">
                <a16:creationId xmlns:a16="http://schemas.microsoft.com/office/drawing/2014/main" id="{3355B015-AF42-20CF-CA69-CEE14894D5E1}"/>
              </a:ext>
            </a:extLst>
          </p:cNvPr>
          <p:cNvSpPr/>
          <p:nvPr/>
        </p:nvSpPr>
        <p:spPr>
          <a:xfrm>
            <a:off x="1408080" y="1388677"/>
            <a:ext cx="84338" cy="113635"/>
          </a:xfrm>
          <a:custGeom>
            <a:avLst/>
            <a:gdLst/>
            <a:ahLst/>
            <a:cxnLst/>
            <a:rect l="l" t="t" r="r" b="b"/>
            <a:pathLst>
              <a:path w="84338" h="113635">
                <a:moveTo>
                  <a:pt x="0" y="0"/>
                </a:moveTo>
                <a:lnTo>
                  <a:pt x="84338" y="113635"/>
                </a:lnTo>
              </a:path>
            </a:pathLst>
          </a:custGeom>
          <a:noFill/>
          <a:ln w="5842" cap="rnd">
            <a:solidFill>
              <a:srgbClr val="4083B4"/>
            </a:solidFill>
            <a:prstDash val="solid"/>
            <a:round/>
          </a:ln>
        </p:spPr>
      </p:sp>
      <p:sp>
        <p:nvSpPr>
          <p:cNvPr id="1445" name="V8 embedding neighbor 1 to center head">
            <a:extLst>
              <a:ext uri="{FF2B5EF4-FFF2-40B4-BE49-F238E27FC236}">
                <a16:creationId xmlns:a16="http://schemas.microsoft.com/office/drawing/2014/main" id="{27615381-2E0E-2FB6-4DD6-10A8B1F481AB}"/>
              </a:ext>
            </a:extLst>
          </p:cNvPr>
          <p:cNvSpPr/>
          <p:nvPr/>
        </p:nvSpPr>
        <p:spPr>
          <a:xfrm>
            <a:off x="1478827" y="1488319"/>
            <a:ext cx="18870" cy="21105"/>
          </a:xfrm>
          <a:custGeom>
            <a:avLst/>
            <a:gdLst/>
            <a:ahLst/>
            <a:cxnLst/>
            <a:rect l="l" t="t" r="r" b="b"/>
            <a:pathLst>
              <a:path w="18870" h="21105">
                <a:moveTo>
                  <a:pt x="18870" y="21105"/>
                </a:moveTo>
                <a:lnTo>
                  <a:pt x="14277" y="0"/>
                </a:lnTo>
                <a:lnTo>
                  <a:pt x="0" y="10596"/>
                </a:lnTo>
                <a:close/>
              </a:path>
            </a:pathLst>
          </a:custGeom>
          <a:solidFill>
            <a:srgbClr val="4083B4"/>
          </a:solidFill>
          <a:ln w="0" cap="rnd">
            <a:noFill/>
          </a:ln>
        </p:spPr>
      </p:sp>
      <p:sp>
        <p:nvSpPr>
          <p:cNvPr id="1446" name="V8 embedding neighbor 1">
            <a:extLst>
              <a:ext uri="{FF2B5EF4-FFF2-40B4-BE49-F238E27FC236}">
                <a16:creationId xmlns:a16="http://schemas.microsoft.com/office/drawing/2014/main" id="{B5E8A971-284C-84D2-C0DB-7EB12E4B5902}"/>
              </a:ext>
            </a:extLst>
          </p:cNvPr>
          <p:cNvSpPr/>
          <p:nvPr/>
        </p:nvSpPr>
        <p:spPr>
          <a:xfrm>
            <a:off x="1382060" y="1358582"/>
            <a:ext cx="28575" cy="28575"/>
          </a:xfrm>
          <a:prstGeom prst="ellipse">
            <a:avLst/>
          </a:prstGeom>
          <a:noFill/>
          <a:ln w="7112" cap="rnd">
            <a:solidFill>
              <a:srgbClr val="4083B4"/>
            </a:solidFill>
            <a:prstDash val="solid"/>
            <a:round/>
          </a:ln>
        </p:spPr>
      </p:sp>
      <p:sp>
        <p:nvSpPr>
          <p:cNvPr id="1447" name="V8 embedding neighbor 2 to center">
            <a:extLst>
              <a:ext uri="{FF2B5EF4-FFF2-40B4-BE49-F238E27FC236}">
                <a16:creationId xmlns:a16="http://schemas.microsoft.com/office/drawing/2014/main" id="{410E19AF-558D-0BA4-4F56-8A43CC949018}"/>
              </a:ext>
            </a:extLst>
          </p:cNvPr>
          <p:cNvSpPr/>
          <p:nvPr/>
        </p:nvSpPr>
        <p:spPr>
          <a:xfrm>
            <a:off x="1537980" y="1384737"/>
            <a:ext cx="68064" cy="115185"/>
          </a:xfrm>
          <a:custGeom>
            <a:avLst/>
            <a:gdLst/>
            <a:ahLst/>
            <a:cxnLst/>
            <a:rect l="l" t="t" r="r" b="b"/>
            <a:pathLst>
              <a:path w="68064" h="115185">
                <a:moveTo>
                  <a:pt x="68064" y="0"/>
                </a:moveTo>
                <a:lnTo>
                  <a:pt x="0" y="115185"/>
                </a:lnTo>
              </a:path>
            </a:pathLst>
          </a:custGeom>
          <a:noFill/>
          <a:ln w="5842" cap="rnd">
            <a:solidFill>
              <a:srgbClr val="4083B4"/>
            </a:solidFill>
            <a:prstDash val="solid"/>
            <a:round/>
          </a:ln>
        </p:spPr>
      </p:sp>
      <p:sp>
        <p:nvSpPr>
          <p:cNvPr id="1448" name="V8 embedding neighbor 2 to center head">
            <a:extLst>
              <a:ext uri="{FF2B5EF4-FFF2-40B4-BE49-F238E27FC236}">
                <a16:creationId xmlns:a16="http://schemas.microsoft.com/office/drawing/2014/main" id="{50A61875-DCE0-421C-1735-CFE0432F2E90}"/>
              </a:ext>
            </a:extLst>
          </p:cNvPr>
          <p:cNvSpPr/>
          <p:nvPr/>
        </p:nvSpPr>
        <p:spPr>
          <a:xfrm>
            <a:off x="1533473" y="1486079"/>
            <a:ext cx="17668" cy="21470"/>
          </a:xfrm>
          <a:custGeom>
            <a:avLst/>
            <a:gdLst/>
            <a:ahLst/>
            <a:cxnLst/>
            <a:rect l="l" t="t" r="r" b="b"/>
            <a:pathLst>
              <a:path w="17668" h="21470">
                <a:moveTo>
                  <a:pt x="0" y="21470"/>
                </a:moveTo>
                <a:lnTo>
                  <a:pt x="17668" y="9045"/>
                </a:lnTo>
                <a:lnTo>
                  <a:pt x="2361" y="0"/>
                </a:lnTo>
                <a:close/>
              </a:path>
            </a:pathLst>
          </a:custGeom>
          <a:solidFill>
            <a:srgbClr val="4083B4"/>
          </a:solidFill>
          <a:ln w="0" cap="rnd">
            <a:noFill/>
          </a:ln>
        </p:spPr>
      </p:sp>
      <p:sp>
        <p:nvSpPr>
          <p:cNvPr id="1449" name="V8 embedding neighbor 2">
            <a:extLst>
              <a:ext uri="{FF2B5EF4-FFF2-40B4-BE49-F238E27FC236}">
                <a16:creationId xmlns:a16="http://schemas.microsoft.com/office/drawing/2014/main" id="{7AEBAFCB-8ED1-BA01-F100-82AD32FAB4F6}"/>
              </a:ext>
            </a:extLst>
          </p:cNvPr>
          <p:cNvSpPr/>
          <p:nvPr/>
        </p:nvSpPr>
        <p:spPr>
          <a:xfrm>
            <a:off x="1600500" y="1352232"/>
            <a:ext cx="31115" cy="31115"/>
          </a:xfrm>
          <a:prstGeom prst="ellipse">
            <a:avLst/>
          </a:prstGeom>
          <a:noFill/>
          <a:ln w="7112" cap="rnd">
            <a:solidFill>
              <a:srgbClr val="4083B4"/>
            </a:solidFill>
            <a:prstDash val="solid"/>
            <a:round/>
          </a:ln>
        </p:spPr>
      </p:sp>
      <p:sp>
        <p:nvSpPr>
          <p:cNvPr id="1450" name="V8 embedding upper curved aggregation">
            <a:extLst>
              <a:ext uri="{FF2B5EF4-FFF2-40B4-BE49-F238E27FC236}">
                <a16:creationId xmlns:a16="http://schemas.microsoft.com/office/drawing/2014/main" id="{1726AB57-DCD6-4DAB-768F-79635F178651}"/>
              </a:ext>
            </a:extLst>
          </p:cNvPr>
          <p:cNvSpPr/>
          <p:nvPr/>
        </p:nvSpPr>
        <p:spPr>
          <a:xfrm>
            <a:off x="1551288" y="1449794"/>
            <a:ext cx="120650" cy="48806"/>
          </a:xfrm>
          <a:custGeom>
            <a:avLst/>
            <a:gdLst/>
            <a:ahLst/>
            <a:cxnLst/>
            <a:rect l="l" t="t" r="r" b="b"/>
            <a:pathLst>
              <a:path w="120650" h="48806">
                <a:moveTo>
                  <a:pt x="118713" y="0"/>
                </a:moveTo>
                <a:cubicBezTo>
                  <a:pt x="120650" y="36106"/>
                  <a:pt x="44450" y="29756"/>
                  <a:pt x="0" y="48806"/>
                </a:cubicBezTo>
              </a:path>
            </a:pathLst>
          </a:custGeom>
          <a:noFill/>
          <a:ln w="5842" cap="rnd">
            <a:solidFill>
              <a:srgbClr val="4083B4"/>
            </a:solidFill>
            <a:prstDash val="solid"/>
            <a:round/>
          </a:ln>
        </p:spPr>
      </p:sp>
      <p:sp>
        <p:nvSpPr>
          <p:cNvPr id="1451" name="V8 embedding upper curved aggregation tip">
            <a:extLst>
              <a:ext uri="{FF2B5EF4-FFF2-40B4-BE49-F238E27FC236}">
                <a16:creationId xmlns:a16="http://schemas.microsoft.com/office/drawing/2014/main" id="{2B3CEBDA-0E2D-671A-9B26-76F746F7D64B}"/>
              </a:ext>
            </a:extLst>
          </p:cNvPr>
          <p:cNvSpPr/>
          <p:nvPr/>
        </p:nvSpPr>
        <p:spPr>
          <a:xfrm>
            <a:off x="1542577" y="1498600"/>
            <a:ext cx="8711" cy="4690"/>
          </a:xfrm>
          <a:custGeom>
            <a:avLst/>
            <a:gdLst/>
            <a:ahLst/>
            <a:cxnLst/>
            <a:rect l="l" t="t" r="r" b="b"/>
            <a:pathLst>
              <a:path w="8711" h="4690">
                <a:moveTo>
                  <a:pt x="8711" y="0"/>
                </a:moveTo>
                <a:lnTo>
                  <a:pt x="0" y="4690"/>
                </a:lnTo>
              </a:path>
            </a:pathLst>
          </a:custGeom>
          <a:noFill/>
          <a:ln w="5842" cap="rnd">
            <a:solidFill>
              <a:srgbClr val="9481B1"/>
            </a:solidFill>
            <a:prstDash val="solid"/>
            <a:round/>
          </a:ln>
        </p:spPr>
      </p:sp>
      <p:sp>
        <p:nvSpPr>
          <p:cNvPr id="1452" name="V8 embedding upper curved aggregation tip head">
            <a:extLst>
              <a:ext uri="{FF2B5EF4-FFF2-40B4-BE49-F238E27FC236}">
                <a16:creationId xmlns:a16="http://schemas.microsoft.com/office/drawing/2014/main" id="{EA8590B6-001E-E7FA-C91E-6684CAB2CE42}"/>
              </a:ext>
            </a:extLst>
          </p:cNvPr>
          <p:cNvSpPr/>
          <p:nvPr/>
        </p:nvSpPr>
        <p:spPr>
          <a:xfrm>
            <a:off x="1534778" y="1490330"/>
            <a:ext cx="21547" cy="17160"/>
          </a:xfrm>
          <a:custGeom>
            <a:avLst/>
            <a:gdLst/>
            <a:ahLst/>
            <a:cxnLst/>
            <a:rect l="l" t="t" r="r" b="b"/>
            <a:pathLst>
              <a:path w="21547" h="17160">
                <a:moveTo>
                  <a:pt x="0" y="17160"/>
                </a:moveTo>
                <a:lnTo>
                  <a:pt x="21547" y="15655"/>
                </a:lnTo>
                <a:lnTo>
                  <a:pt x="13117" y="0"/>
                </a:lnTo>
                <a:close/>
              </a:path>
            </a:pathLst>
          </a:custGeom>
          <a:solidFill>
            <a:srgbClr val="4083B4"/>
          </a:solidFill>
          <a:ln w="0" cap="rnd">
            <a:noFill/>
          </a:ln>
        </p:spPr>
      </p:sp>
      <p:sp>
        <p:nvSpPr>
          <p:cNvPr id="1453" name="V8 embedding neighbor 3">
            <a:extLst>
              <a:ext uri="{FF2B5EF4-FFF2-40B4-BE49-F238E27FC236}">
                <a16:creationId xmlns:a16="http://schemas.microsoft.com/office/drawing/2014/main" id="{122DFBAE-E742-85F4-F8BE-661BC7410AFC}"/>
              </a:ext>
            </a:extLst>
          </p:cNvPr>
          <p:cNvSpPr/>
          <p:nvPr/>
        </p:nvSpPr>
        <p:spPr>
          <a:xfrm>
            <a:off x="1673208" y="1426210"/>
            <a:ext cx="27940" cy="27940"/>
          </a:xfrm>
          <a:prstGeom prst="ellipse">
            <a:avLst/>
          </a:prstGeom>
          <a:noFill/>
          <a:ln w="7112" cap="rnd">
            <a:solidFill>
              <a:srgbClr val="4083B4"/>
            </a:solidFill>
            <a:prstDash val="solid"/>
            <a:round/>
          </a:ln>
        </p:spPr>
      </p:sp>
      <p:sp>
        <p:nvSpPr>
          <p:cNvPr id="1454" name="V8 embedding curved aggregation">
            <a:extLst>
              <a:ext uri="{FF2B5EF4-FFF2-40B4-BE49-F238E27FC236}">
                <a16:creationId xmlns:a16="http://schemas.microsoft.com/office/drawing/2014/main" id="{90CEAB6E-EBCA-9F13-36DE-C928BA671D5A}"/>
              </a:ext>
            </a:extLst>
          </p:cNvPr>
          <p:cNvSpPr/>
          <p:nvPr/>
        </p:nvSpPr>
        <p:spPr>
          <a:xfrm>
            <a:off x="1392538" y="1503680"/>
            <a:ext cx="77470" cy="107970"/>
          </a:xfrm>
          <a:custGeom>
            <a:avLst/>
            <a:gdLst/>
            <a:ahLst/>
            <a:cxnLst/>
            <a:rect l="l" t="t" r="r" b="b"/>
            <a:pathLst>
              <a:path w="77470" h="107970">
                <a:moveTo>
                  <a:pt x="17311" y="107970"/>
                </a:moveTo>
                <a:cubicBezTo>
                  <a:pt x="0" y="29210"/>
                  <a:pt x="35560" y="0"/>
                  <a:pt x="77470" y="12700"/>
                </a:cubicBezTo>
              </a:path>
            </a:pathLst>
          </a:custGeom>
          <a:noFill/>
          <a:ln w="8890" cap="rnd">
            <a:solidFill>
              <a:srgbClr val="4083B4"/>
            </a:solidFill>
            <a:prstDash val="solid"/>
            <a:round/>
          </a:ln>
        </p:spPr>
      </p:sp>
      <p:sp>
        <p:nvSpPr>
          <p:cNvPr id="1455" name="V8 embedding curved aggregation tip">
            <a:extLst>
              <a:ext uri="{FF2B5EF4-FFF2-40B4-BE49-F238E27FC236}">
                <a16:creationId xmlns:a16="http://schemas.microsoft.com/office/drawing/2014/main" id="{4871021E-0B37-6092-4FB6-FB482931253B}"/>
              </a:ext>
            </a:extLst>
          </p:cNvPr>
          <p:cNvSpPr/>
          <p:nvPr/>
        </p:nvSpPr>
        <p:spPr>
          <a:xfrm>
            <a:off x="1470008" y="1516380"/>
            <a:ext cx="6039" cy="3020"/>
          </a:xfrm>
          <a:custGeom>
            <a:avLst/>
            <a:gdLst/>
            <a:ahLst/>
            <a:cxnLst/>
            <a:rect l="l" t="t" r="r" b="b"/>
            <a:pathLst>
              <a:path w="6039" h="3020">
                <a:moveTo>
                  <a:pt x="0" y="0"/>
                </a:moveTo>
                <a:lnTo>
                  <a:pt x="6039" y="3020"/>
                </a:lnTo>
              </a:path>
            </a:pathLst>
          </a:custGeom>
          <a:noFill/>
          <a:ln w="8890" cap="rnd">
            <a:solidFill>
              <a:srgbClr val="9481B1"/>
            </a:solidFill>
            <a:prstDash val="solid"/>
            <a:round/>
          </a:ln>
        </p:spPr>
      </p:sp>
      <p:sp>
        <p:nvSpPr>
          <p:cNvPr id="1456" name="V8 embedding curved aggregation tip head">
            <a:extLst>
              <a:ext uri="{FF2B5EF4-FFF2-40B4-BE49-F238E27FC236}">
                <a16:creationId xmlns:a16="http://schemas.microsoft.com/office/drawing/2014/main" id="{86BC3798-BFD4-0C2D-6F96-1C5CADB6D7BE}"/>
              </a:ext>
            </a:extLst>
          </p:cNvPr>
          <p:cNvSpPr/>
          <p:nvPr/>
        </p:nvSpPr>
        <p:spPr>
          <a:xfrm>
            <a:off x="1460116" y="1504405"/>
            <a:ext cx="25132" cy="19595"/>
          </a:xfrm>
          <a:custGeom>
            <a:avLst/>
            <a:gdLst/>
            <a:ahLst/>
            <a:cxnLst/>
            <a:rect l="l" t="t" r="r" b="b"/>
            <a:pathLst>
              <a:path w="25132" h="19595">
                <a:moveTo>
                  <a:pt x="25132" y="19595"/>
                </a:moveTo>
                <a:lnTo>
                  <a:pt x="9371" y="0"/>
                </a:lnTo>
                <a:lnTo>
                  <a:pt x="0" y="18743"/>
                </a:lnTo>
                <a:close/>
              </a:path>
            </a:pathLst>
          </a:custGeom>
          <a:solidFill>
            <a:srgbClr val="4083B4"/>
          </a:solidFill>
          <a:ln w="0" cap="rnd">
            <a:solidFill>
              <a:srgbClr val="4083B4"/>
            </a:solidFill>
          </a:ln>
        </p:spPr>
      </p:sp>
      <p:sp>
        <p:nvSpPr>
          <p:cNvPr id="1457" name="V8 embedding neighbor 4">
            <a:extLst>
              <a:ext uri="{FF2B5EF4-FFF2-40B4-BE49-F238E27FC236}">
                <a16:creationId xmlns:a16="http://schemas.microsoft.com/office/drawing/2014/main" id="{AEADE014-9292-2360-C2CE-F8C845E8BCFD}"/>
              </a:ext>
            </a:extLst>
          </p:cNvPr>
          <p:cNvSpPr/>
          <p:nvPr/>
        </p:nvSpPr>
        <p:spPr>
          <a:xfrm>
            <a:off x="1377933" y="1607185"/>
            <a:ext cx="31750" cy="31750"/>
          </a:xfrm>
          <a:prstGeom prst="ellipse">
            <a:avLst/>
          </a:prstGeom>
          <a:noFill/>
          <a:ln w="7112" cap="rnd">
            <a:solidFill>
              <a:srgbClr val="4083B4"/>
            </a:solidFill>
            <a:prstDash val="solid"/>
            <a:round/>
          </a:ln>
        </p:spPr>
      </p:sp>
      <p:sp>
        <p:nvSpPr>
          <p:cNvPr id="1458" name="V8 embedding neighbor 5 to center">
            <a:extLst>
              <a:ext uri="{FF2B5EF4-FFF2-40B4-BE49-F238E27FC236}">
                <a16:creationId xmlns:a16="http://schemas.microsoft.com/office/drawing/2014/main" id="{88F2ECE0-BE4E-6B10-0F14-901F5AD31AE6}"/>
              </a:ext>
            </a:extLst>
          </p:cNvPr>
          <p:cNvSpPr/>
          <p:nvPr/>
        </p:nvSpPr>
        <p:spPr>
          <a:xfrm>
            <a:off x="1508228" y="1576570"/>
            <a:ext cx="5857" cy="82734"/>
          </a:xfrm>
          <a:custGeom>
            <a:avLst/>
            <a:gdLst/>
            <a:ahLst/>
            <a:cxnLst/>
            <a:rect l="l" t="t" r="r" b="b"/>
            <a:pathLst>
              <a:path w="5857" h="82734">
                <a:moveTo>
                  <a:pt x="0" y="82734"/>
                </a:moveTo>
                <a:lnTo>
                  <a:pt x="5857" y="0"/>
                </a:lnTo>
              </a:path>
            </a:pathLst>
          </a:custGeom>
          <a:noFill/>
          <a:ln w="5842" cap="rnd">
            <a:solidFill>
              <a:srgbClr val="4083B4"/>
            </a:solidFill>
            <a:prstDash val="solid"/>
            <a:round/>
          </a:ln>
        </p:spPr>
      </p:sp>
      <p:sp>
        <p:nvSpPr>
          <p:cNvPr id="1459" name="V8 embedding neighbor 5 to center head">
            <a:extLst>
              <a:ext uri="{FF2B5EF4-FFF2-40B4-BE49-F238E27FC236}">
                <a16:creationId xmlns:a16="http://schemas.microsoft.com/office/drawing/2014/main" id="{4E579011-FEC4-00D3-7546-C5CB388C9A0A}"/>
              </a:ext>
            </a:extLst>
          </p:cNvPr>
          <p:cNvSpPr/>
          <p:nvPr/>
        </p:nvSpPr>
        <p:spPr>
          <a:xfrm>
            <a:off x="1504453" y="1567734"/>
            <a:ext cx="17736" cy="20264"/>
          </a:xfrm>
          <a:custGeom>
            <a:avLst/>
            <a:gdLst/>
            <a:ahLst/>
            <a:cxnLst/>
            <a:rect l="l" t="t" r="r" b="b"/>
            <a:pathLst>
              <a:path w="17736" h="20264">
                <a:moveTo>
                  <a:pt x="10258" y="0"/>
                </a:moveTo>
                <a:lnTo>
                  <a:pt x="0" y="19008"/>
                </a:lnTo>
                <a:lnTo>
                  <a:pt x="17736" y="20264"/>
                </a:lnTo>
                <a:close/>
              </a:path>
            </a:pathLst>
          </a:custGeom>
          <a:solidFill>
            <a:srgbClr val="4083B4"/>
          </a:solidFill>
          <a:ln w="0" cap="rnd">
            <a:solidFill>
              <a:srgbClr val="4083B4"/>
            </a:solidFill>
          </a:ln>
        </p:spPr>
      </p:sp>
      <p:sp>
        <p:nvSpPr>
          <p:cNvPr id="1460" name="V8 embedding neighbor 5">
            <a:extLst>
              <a:ext uri="{FF2B5EF4-FFF2-40B4-BE49-F238E27FC236}">
                <a16:creationId xmlns:a16="http://schemas.microsoft.com/office/drawing/2014/main" id="{80A6CA00-4D1C-000D-C0AF-7F59BA21FF45}"/>
              </a:ext>
            </a:extLst>
          </p:cNvPr>
          <p:cNvSpPr/>
          <p:nvPr/>
        </p:nvSpPr>
        <p:spPr>
          <a:xfrm>
            <a:off x="1492233" y="1664335"/>
            <a:ext cx="29210" cy="29210"/>
          </a:xfrm>
          <a:prstGeom prst="ellipse">
            <a:avLst/>
          </a:prstGeom>
          <a:noFill/>
          <a:ln w="7112" cap="rnd">
            <a:solidFill>
              <a:srgbClr val="4083B4"/>
            </a:solidFill>
            <a:prstDash val="solid"/>
            <a:round/>
          </a:ln>
        </p:spPr>
      </p:sp>
      <p:sp>
        <p:nvSpPr>
          <p:cNvPr id="1461" name="V8 embedding center">
            <a:extLst>
              <a:ext uri="{FF2B5EF4-FFF2-40B4-BE49-F238E27FC236}">
                <a16:creationId xmlns:a16="http://schemas.microsoft.com/office/drawing/2014/main" id="{0973F1A0-63C8-796C-8269-8DC9810E39E1}"/>
              </a:ext>
            </a:extLst>
          </p:cNvPr>
          <p:cNvSpPr/>
          <p:nvPr/>
        </p:nvSpPr>
        <p:spPr>
          <a:xfrm>
            <a:off x="1494773" y="1513205"/>
            <a:ext cx="44450" cy="44450"/>
          </a:xfrm>
          <a:prstGeom prst="ellipse">
            <a:avLst/>
          </a:prstGeom>
          <a:noFill/>
          <a:ln w="9906" cap="rnd">
            <a:solidFill>
              <a:srgbClr val="3B8C80"/>
            </a:solidFill>
            <a:prstDash val="solid"/>
            <a:round/>
          </a:ln>
        </p:spPr>
      </p:sp>
      <p:sp>
        <p:nvSpPr>
          <p:cNvPr id="1462" name="V8 embedding feature 1">
            <a:extLst>
              <a:ext uri="{FF2B5EF4-FFF2-40B4-BE49-F238E27FC236}">
                <a16:creationId xmlns:a16="http://schemas.microsoft.com/office/drawing/2014/main" id="{FE0417EE-6828-F09F-AACE-DE1F76BE3EB6}"/>
              </a:ext>
            </a:extLst>
          </p:cNvPr>
          <p:cNvSpPr/>
          <p:nvPr/>
        </p:nvSpPr>
        <p:spPr>
          <a:xfrm>
            <a:off x="1548748" y="1518285"/>
            <a:ext cx="18415" cy="34290"/>
          </a:xfrm>
          <a:prstGeom prst="rect">
            <a:avLst/>
          </a:prstGeom>
          <a:solidFill>
            <a:srgbClr val="3E8F9A"/>
          </a:solidFill>
          <a:ln w="0" cap="rnd">
            <a:noFill/>
          </a:ln>
        </p:spPr>
      </p:sp>
      <p:sp>
        <p:nvSpPr>
          <p:cNvPr id="1463" name="V8 embedding feature 2">
            <a:extLst>
              <a:ext uri="{FF2B5EF4-FFF2-40B4-BE49-F238E27FC236}">
                <a16:creationId xmlns:a16="http://schemas.microsoft.com/office/drawing/2014/main" id="{28DF18A8-B7D6-40CC-F8D0-1CE005F88971}"/>
              </a:ext>
            </a:extLst>
          </p:cNvPr>
          <p:cNvSpPr/>
          <p:nvPr/>
        </p:nvSpPr>
        <p:spPr>
          <a:xfrm>
            <a:off x="1568433" y="1518285"/>
            <a:ext cx="18415" cy="34290"/>
          </a:xfrm>
          <a:prstGeom prst="rect">
            <a:avLst/>
          </a:prstGeom>
          <a:solidFill>
            <a:srgbClr val="88BEC3"/>
          </a:solidFill>
          <a:ln w="0" cap="rnd">
            <a:noFill/>
          </a:ln>
        </p:spPr>
      </p:sp>
      <p:sp>
        <p:nvSpPr>
          <p:cNvPr id="1464" name="V8 embedding feature 3">
            <a:extLst>
              <a:ext uri="{FF2B5EF4-FFF2-40B4-BE49-F238E27FC236}">
                <a16:creationId xmlns:a16="http://schemas.microsoft.com/office/drawing/2014/main" id="{D8B2548F-FDCB-962F-D116-8194E608D854}"/>
              </a:ext>
            </a:extLst>
          </p:cNvPr>
          <p:cNvSpPr/>
          <p:nvPr/>
        </p:nvSpPr>
        <p:spPr>
          <a:xfrm>
            <a:off x="1588118" y="1518285"/>
            <a:ext cx="18415" cy="34290"/>
          </a:xfrm>
          <a:prstGeom prst="rect">
            <a:avLst/>
          </a:prstGeom>
          <a:solidFill>
            <a:srgbClr val="67AD9F"/>
          </a:solidFill>
          <a:ln w="0" cap="rnd">
            <a:noFill/>
          </a:ln>
        </p:spPr>
      </p:sp>
      <p:sp>
        <p:nvSpPr>
          <p:cNvPr id="1465" name="V8 embedding feature 4">
            <a:extLst>
              <a:ext uri="{FF2B5EF4-FFF2-40B4-BE49-F238E27FC236}">
                <a16:creationId xmlns:a16="http://schemas.microsoft.com/office/drawing/2014/main" id="{4DB56FF7-AE6A-29C2-0D4E-A50B4A01B329}"/>
              </a:ext>
            </a:extLst>
          </p:cNvPr>
          <p:cNvSpPr/>
          <p:nvPr/>
        </p:nvSpPr>
        <p:spPr>
          <a:xfrm>
            <a:off x="1607803" y="1518285"/>
            <a:ext cx="18415" cy="34290"/>
          </a:xfrm>
          <a:prstGeom prst="rect">
            <a:avLst/>
          </a:prstGeom>
          <a:solidFill>
            <a:srgbClr val="B6D8CC"/>
          </a:solidFill>
          <a:ln w="0" cap="rnd">
            <a:noFill/>
          </a:ln>
        </p:spPr>
      </p:sp>
      <p:sp>
        <p:nvSpPr>
          <p:cNvPr id="1466" name="V8 embedding feature 5">
            <a:extLst>
              <a:ext uri="{FF2B5EF4-FFF2-40B4-BE49-F238E27FC236}">
                <a16:creationId xmlns:a16="http://schemas.microsoft.com/office/drawing/2014/main" id="{0834D08B-BC25-2ADC-AF12-5492513577F8}"/>
              </a:ext>
            </a:extLst>
          </p:cNvPr>
          <p:cNvSpPr/>
          <p:nvPr/>
        </p:nvSpPr>
        <p:spPr>
          <a:xfrm>
            <a:off x="1627488" y="1518285"/>
            <a:ext cx="18415" cy="34290"/>
          </a:xfrm>
          <a:prstGeom prst="rect">
            <a:avLst/>
          </a:prstGeom>
          <a:solidFill>
            <a:srgbClr val="3B8C80"/>
          </a:solidFill>
          <a:ln w="0" cap="rnd">
            <a:noFill/>
          </a:ln>
        </p:spPr>
      </p:sp>
      <p:sp>
        <p:nvSpPr>
          <p:cNvPr id="1467" name="V8 embedding feature 6">
            <a:extLst>
              <a:ext uri="{FF2B5EF4-FFF2-40B4-BE49-F238E27FC236}">
                <a16:creationId xmlns:a16="http://schemas.microsoft.com/office/drawing/2014/main" id="{7EDE9E92-6EF0-3023-2F22-6E7EFD9706C6}"/>
              </a:ext>
            </a:extLst>
          </p:cNvPr>
          <p:cNvSpPr/>
          <p:nvPr/>
        </p:nvSpPr>
        <p:spPr>
          <a:xfrm>
            <a:off x="1647173" y="1518285"/>
            <a:ext cx="18415" cy="34290"/>
          </a:xfrm>
          <a:prstGeom prst="rect">
            <a:avLst/>
          </a:prstGeom>
          <a:solidFill>
            <a:srgbClr val="A3CDDA"/>
          </a:solidFill>
          <a:ln w="0" cap="rnd">
            <a:noFill/>
          </a:ln>
        </p:spPr>
      </p:sp>
      <p:sp>
        <p:nvSpPr>
          <p:cNvPr id="1468" name="V8 embedding feature 7">
            <a:extLst>
              <a:ext uri="{FF2B5EF4-FFF2-40B4-BE49-F238E27FC236}">
                <a16:creationId xmlns:a16="http://schemas.microsoft.com/office/drawing/2014/main" id="{3791BD29-2650-00D8-2639-94010AF8036F}"/>
              </a:ext>
            </a:extLst>
          </p:cNvPr>
          <p:cNvSpPr/>
          <p:nvPr/>
        </p:nvSpPr>
        <p:spPr>
          <a:xfrm>
            <a:off x="1666858" y="1518285"/>
            <a:ext cx="18415" cy="34290"/>
          </a:xfrm>
          <a:prstGeom prst="rect">
            <a:avLst/>
          </a:prstGeom>
          <a:solidFill>
            <a:srgbClr val="6CAFA4"/>
          </a:solidFill>
          <a:ln w="0" cap="rnd">
            <a:noFill/>
          </a:ln>
        </p:spPr>
      </p:sp>
      <p:sp>
        <p:nvSpPr>
          <p:cNvPr id="1469" name="V8 embedding feature 8">
            <a:extLst>
              <a:ext uri="{FF2B5EF4-FFF2-40B4-BE49-F238E27FC236}">
                <a16:creationId xmlns:a16="http://schemas.microsoft.com/office/drawing/2014/main" id="{78D40256-09DE-A393-64FC-199BB5DEB767}"/>
              </a:ext>
            </a:extLst>
          </p:cNvPr>
          <p:cNvSpPr/>
          <p:nvPr/>
        </p:nvSpPr>
        <p:spPr>
          <a:xfrm>
            <a:off x="1686543" y="1518285"/>
            <a:ext cx="18415" cy="34290"/>
          </a:xfrm>
          <a:prstGeom prst="rect">
            <a:avLst/>
          </a:prstGeom>
          <a:solidFill>
            <a:srgbClr val="C4DDE0"/>
          </a:solidFill>
          <a:ln w="0" cap="rnd">
            <a:noFill/>
          </a:ln>
        </p:spPr>
      </p:sp>
      <p:sp>
        <p:nvSpPr>
          <p:cNvPr id="1471" name="V8 embedding to point branch">
            <a:extLst>
              <a:ext uri="{FF2B5EF4-FFF2-40B4-BE49-F238E27FC236}">
                <a16:creationId xmlns:a16="http://schemas.microsoft.com/office/drawing/2014/main" id="{CD0EF799-B1E4-C26B-BB25-441BB97890BE}"/>
              </a:ext>
            </a:extLst>
          </p:cNvPr>
          <p:cNvSpPr/>
          <p:nvPr/>
        </p:nvSpPr>
        <p:spPr>
          <a:xfrm flipV="1">
            <a:off x="1767191" y="1469001"/>
            <a:ext cx="157162" cy="66614"/>
          </a:xfrm>
          <a:custGeom>
            <a:avLst/>
            <a:gdLst/>
            <a:ahLst/>
            <a:cxnLst/>
            <a:rect l="l" t="t" r="r" b="b"/>
            <a:pathLst>
              <a:path w="63379" h="1">
                <a:moveTo>
                  <a:pt x="0" y="0"/>
                </a:moveTo>
                <a:lnTo>
                  <a:pt x="63379" y="0"/>
                </a:lnTo>
              </a:path>
            </a:pathLst>
          </a:custGeom>
          <a:noFill/>
          <a:ln w="8509" cap="rnd">
            <a:solidFill>
              <a:srgbClr val="4083B4"/>
            </a:solidFill>
            <a:prstDash val="solid"/>
            <a:round/>
          </a:ln>
        </p:spPr>
      </p:sp>
      <p:sp>
        <p:nvSpPr>
          <p:cNvPr id="1472" name="V8 embedding to point branch head">
            <a:extLst>
              <a:ext uri="{FF2B5EF4-FFF2-40B4-BE49-F238E27FC236}">
                <a16:creationId xmlns:a16="http://schemas.microsoft.com/office/drawing/2014/main" id="{EE5B1593-BB31-DCD1-99C7-141C7B857AF7}"/>
              </a:ext>
            </a:extLst>
          </p:cNvPr>
          <p:cNvSpPr/>
          <p:nvPr/>
        </p:nvSpPr>
        <p:spPr>
          <a:xfrm>
            <a:off x="1909057" y="1523745"/>
            <a:ext cx="28321" cy="24384"/>
          </a:xfrm>
          <a:custGeom>
            <a:avLst/>
            <a:gdLst/>
            <a:ahLst/>
            <a:cxnLst/>
            <a:rect l="l" t="t" r="r" b="b"/>
            <a:pathLst>
              <a:path w="28321" h="24384">
                <a:moveTo>
                  <a:pt x="28321" y="12192"/>
                </a:moveTo>
                <a:lnTo>
                  <a:pt x="0" y="0"/>
                </a:lnTo>
                <a:lnTo>
                  <a:pt x="0" y="24384"/>
                </a:lnTo>
                <a:close/>
              </a:path>
            </a:pathLst>
          </a:custGeom>
          <a:solidFill>
            <a:srgbClr val="4083B4"/>
          </a:solidFill>
          <a:ln w="0" cap="rnd">
            <a:solidFill>
              <a:srgbClr val="4083B4"/>
            </a:solidFill>
          </a:ln>
        </p:spPr>
      </p:sp>
      <p:sp>
        <p:nvSpPr>
          <p:cNvPr id="1473" name="V8 embedding to voxel branch">
            <a:extLst>
              <a:ext uri="{FF2B5EF4-FFF2-40B4-BE49-F238E27FC236}">
                <a16:creationId xmlns:a16="http://schemas.microsoft.com/office/drawing/2014/main" id="{A9E148F4-6BCA-77FF-AE43-549D2AE883D5}"/>
              </a:ext>
            </a:extLst>
          </p:cNvPr>
          <p:cNvSpPr/>
          <p:nvPr/>
        </p:nvSpPr>
        <p:spPr>
          <a:xfrm flipH="1">
            <a:off x="1787927" y="835707"/>
            <a:ext cx="45719" cy="699723"/>
          </a:xfrm>
          <a:custGeom>
            <a:avLst/>
            <a:gdLst/>
            <a:ahLst/>
            <a:cxnLst/>
            <a:rect l="l" t="t" r="r" b="b"/>
            <a:pathLst>
              <a:path w="1" h="866159">
                <a:moveTo>
                  <a:pt x="0" y="866159"/>
                </a:moveTo>
                <a:lnTo>
                  <a:pt x="0" y="0"/>
                </a:lnTo>
              </a:path>
            </a:pathLst>
          </a:custGeom>
          <a:noFill/>
          <a:ln w="8509" cap="rnd">
            <a:solidFill>
              <a:srgbClr val="4083B4"/>
            </a:solidFill>
            <a:prstDash val="solid"/>
            <a:round/>
          </a:ln>
        </p:spPr>
      </p:sp>
      <p:sp>
        <p:nvSpPr>
          <p:cNvPr id="1475" name="V8 density and receptor to voxel">
            <a:extLst>
              <a:ext uri="{FF2B5EF4-FFF2-40B4-BE49-F238E27FC236}">
                <a16:creationId xmlns:a16="http://schemas.microsoft.com/office/drawing/2014/main" id="{61ECA984-FF9D-A5D0-F819-33661D001ABE}"/>
              </a:ext>
            </a:extLst>
          </p:cNvPr>
          <p:cNvSpPr/>
          <p:nvPr/>
        </p:nvSpPr>
        <p:spPr>
          <a:xfrm flipV="1">
            <a:off x="1767284" y="610807"/>
            <a:ext cx="148072" cy="45719"/>
          </a:xfrm>
          <a:custGeom>
            <a:avLst/>
            <a:gdLst/>
            <a:ahLst/>
            <a:cxnLst/>
            <a:rect l="l" t="t" r="r" b="b"/>
            <a:pathLst>
              <a:path w="96730" h="1">
                <a:moveTo>
                  <a:pt x="0" y="0"/>
                </a:moveTo>
                <a:lnTo>
                  <a:pt x="96730" y="0"/>
                </a:lnTo>
              </a:path>
            </a:pathLst>
          </a:custGeom>
          <a:noFill/>
          <a:ln w="8509" cap="rnd">
            <a:solidFill>
              <a:srgbClr val="4083B4"/>
            </a:solidFill>
            <a:prstDash val="solid"/>
            <a:round/>
          </a:ln>
        </p:spPr>
      </p:sp>
      <p:sp>
        <p:nvSpPr>
          <p:cNvPr id="1476" name="V8 density and receptor to voxel head">
            <a:extLst>
              <a:ext uri="{FF2B5EF4-FFF2-40B4-BE49-F238E27FC236}">
                <a16:creationId xmlns:a16="http://schemas.microsoft.com/office/drawing/2014/main" id="{D6CAD338-44F5-8993-3618-9A1839CB2DBC}"/>
              </a:ext>
            </a:extLst>
          </p:cNvPr>
          <p:cNvSpPr/>
          <p:nvPr/>
        </p:nvSpPr>
        <p:spPr>
          <a:xfrm>
            <a:off x="1904526" y="644334"/>
            <a:ext cx="28321" cy="24384"/>
          </a:xfrm>
          <a:custGeom>
            <a:avLst/>
            <a:gdLst/>
            <a:ahLst/>
            <a:cxnLst/>
            <a:rect l="l" t="t" r="r" b="b"/>
            <a:pathLst>
              <a:path w="28321" h="24384">
                <a:moveTo>
                  <a:pt x="28321" y="12192"/>
                </a:moveTo>
                <a:lnTo>
                  <a:pt x="0" y="0"/>
                </a:lnTo>
                <a:lnTo>
                  <a:pt x="0" y="24384"/>
                </a:lnTo>
                <a:close/>
              </a:path>
            </a:pathLst>
          </a:custGeom>
          <a:solidFill>
            <a:srgbClr val="4083B4"/>
          </a:solidFill>
          <a:ln w="0" cap="rnd">
            <a:noFill/>
          </a:ln>
        </p:spPr>
      </p:sp>
      <p:sp>
        <p:nvSpPr>
          <p:cNvPr id="1479" name="V8 Match input divider">
            <a:extLst>
              <a:ext uri="{FF2B5EF4-FFF2-40B4-BE49-F238E27FC236}">
                <a16:creationId xmlns:a16="http://schemas.microsoft.com/office/drawing/2014/main" id="{2EDC4EC7-D903-3262-650D-444D37299D28}"/>
              </a:ext>
            </a:extLst>
          </p:cNvPr>
          <p:cNvSpPr/>
          <p:nvPr/>
        </p:nvSpPr>
        <p:spPr>
          <a:xfrm>
            <a:off x="576470" y="2767063"/>
            <a:ext cx="957199" cy="1"/>
          </a:xfrm>
          <a:custGeom>
            <a:avLst/>
            <a:gdLst/>
            <a:ahLst/>
            <a:cxnLst/>
            <a:rect l="l" t="t" r="r" b="b"/>
            <a:pathLst>
              <a:path w="957199" h="1">
                <a:moveTo>
                  <a:pt x="0" y="0"/>
                </a:moveTo>
                <a:lnTo>
                  <a:pt x="957199" y="0"/>
                </a:lnTo>
              </a:path>
            </a:pathLst>
          </a:custGeom>
          <a:noFill/>
          <a:ln w="7290" cap="rnd">
            <a:solidFill>
              <a:srgbClr val="C8CFD4"/>
            </a:solidFill>
            <a:prstDash val="solid"/>
            <a:round/>
          </a:ln>
        </p:spPr>
      </p:sp>
      <p:sp>
        <p:nvSpPr>
          <p:cNvPr id="1480" name="V8 pool to concat">
            <a:extLst>
              <a:ext uri="{FF2B5EF4-FFF2-40B4-BE49-F238E27FC236}">
                <a16:creationId xmlns:a16="http://schemas.microsoft.com/office/drawing/2014/main" id="{3702663D-F294-9B06-B213-0076F82464A6}"/>
              </a:ext>
            </a:extLst>
          </p:cNvPr>
          <p:cNvSpPr/>
          <p:nvPr/>
        </p:nvSpPr>
        <p:spPr>
          <a:xfrm>
            <a:off x="881771" y="3603168"/>
            <a:ext cx="355873" cy="100152"/>
          </a:xfrm>
          <a:custGeom>
            <a:avLst/>
            <a:gdLst/>
            <a:ahLst/>
            <a:cxnLst/>
            <a:rect l="l" t="t" r="r" b="b"/>
            <a:pathLst>
              <a:path w="355873" h="100152">
                <a:moveTo>
                  <a:pt x="0" y="0"/>
                </a:moveTo>
                <a:lnTo>
                  <a:pt x="0" y="100152"/>
                </a:lnTo>
                <a:lnTo>
                  <a:pt x="355873" y="100152"/>
                </a:lnTo>
              </a:path>
            </a:pathLst>
          </a:custGeom>
          <a:noFill/>
          <a:ln w="8509" cap="rnd">
            <a:solidFill>
              <a:srgbClr val="3B8C80"/>
            </a:solidFill>
            <a:prstDash val="solid"/>
            <a:round/>
          </a:ln>
        </p:spPr>
      </p:sp>
      <p:sp>
        <p:nvSpPr>
          <p:cNvPr id="1481" name="V8 attention to concat">
            <a:extLst>
              <a:ext uri="{FF2B5EF4-FFF2-40B4-BE49-F238E27FC236}">
                <a16:creationId xmlns:a16="http://schemas.microsoft.com/office/drawing/2014/main" id="{45C4FCB5-3380-E3A8-B0B1-54A427F52361}"/>
              </a:ext>
            </a:extLst>
          </p:cNvPr>
          <p:cNvSpPr/>
          <p:nvPr/>
        </p:nvSpPr>
        <p:spPr>
          <a:xfrm>
            <a:off x="1237644" y="3603168"/>
            <a:ext cx="356064" cy="100152"/>
          </a:xfrm>
          <a:custGeom>
            <a:avLst/>
            <a:gdLst/>
            <a:ahLst/>
            <a:cxnLst/>
            <a:rect l="l" t="t" r="r" b="b"/>
            <a:pathLst>
              <a:path w="356064" h="100152">
                <a:moveTo>
                  <a:pt x="356064" y="0"/>
                </a:moveTo>
                <a:lnTo>
                  <a:pt x="356064" y="100152"/>
                </a:lnTo>
                <a:lnTo>
                  <a:pt x="0" y="100152"/>
                </a:lnTo>
              </a:path>
            </a:pathLst>
          </a:custGeom>
          <a:noFill/>
          <a:ln w="8509" cap="rnd">
            <a:solidFill>
              <a:srgbClr val="3B8C80"/>
            </a:solidFill>
            <a:prstDash val="solid"/>
            <a:round/>
          </a:ln>
        </p:spPr>
      </p:sp>
      <p:sp>
        <p:nvSpPr>
          <p:cNvPr id="1482" name="V8 concat to MLP">
            <a:extLst>
              <a:ext uri="{FF2B5EF4-FFF2-40B4-BE49-F238E27FC236}">
                <a16:creationId xmlns:a16="http://schemas.microsoft.com/office/drawing/2014/main" id="{366946BB-F669-FC2F-4DBA-809EA592E5E1}"/>
              </a:ext>
            </a:extLst>
          </p:cNvPr>
          <p:cNvSpPr/>
          <p:nvPr/>
        </p:nvSpPr>
        <p:spPr>
          <a:xfrm>
            <a:off x="1237644" y="3703320"/>
            <a:ext cx="1" cy="22181"/>
          </a:xfrm>
          <a:custGeom>
            <a:avLst/>
            <a:gdLst/>
            <a:ahLst/>
            <a:cxnLst/>
            <a:rect l="l" t="t" r="r" b="b"/>
            <a:pathLst>
              <a:path w="1" h="22181">
                <a:moveTo>
                  <a:pt x="0" y="0"/>
                </a:moveTo>
                <a:lnTo>
                  <a:pt x="0" y="22181"/>
                </a:lnTo>
              </a:path>
            </a:pathLst>
          </a:custGeom>
          <a:noFill/>
          <a:ln w="8509" cap="rnd">
            <a:solidFill>
              <a:srgbClr val="3B8C80"/>
            </a:solidFill>
            <a:prstDash val="solid"/>
            <a:round/>
          </a:ln>
        </p:spPr>
      </p:sp>
      <p:sp>
        <p:nvSpPr>
          <p:cNvPr id="1483" name="V8 concat to MLP head">
            <a:extLst>
              <a:ext uri="{FF2B5EF4-FFF2-40B4-BE49-F238E27FC236}">
                <a16:creationId xmlns:a16="http://schemas.microsoft.com/office/drawing/2014/main" id="{234835D4-EF31-832C-586B-712FBD8CEB61}"/>
              </a:ext>
            </a:extLst>
          </p:cNvPr>
          <p:cNvSpPr/>
          <p:nvPr/>
        </p:nvSpPr>
        <p:spPr>
          <a:xfrm>
            <a:off x="1225452" y="3709924"/>
            <a:ext cx="24384" cy="28321"/>
          </a:xfrm>
          <a:custGeom>
            <a:avLst/>
            <a:gdLst/>
            <a:ahLst/>
            <a:cxnLst/>
            <a:rect l="l" t="t" r="r" b="b"/>
            <a:pathLst>
              <a:path w="24384" h="28321">
                <a:moveTo>
                  <a:pt x="12192" y="28321"/>
                </a:moveTo>
                <a:lnTo>
                  <a:pt x="24384" y="0"/>
                </a:lnTo>
                <a:lnTo>
                  <a:pt x="0" y="0"/>
                </a:lnTo>
                <a:close/>
              </a:path>
            </a:pathLst>
          </a:custGeom>
          <a:solidFill>
            <a:srgbClr val="3B8C80"/>
          </a:solidFill>
          <a:ln w="0" cap="rnd">
            <a:noFill/>
          </a:ln>
        </p:spPr>
      </p:sp>
      <p:grpSp>
        <p:nvGrpSpPr>
          <p:cNvPr id="6" name="Find candidate blob 2">
            <a:extLst>
              <a:ext uri="{FF2B5EF4-FFF2-40B4-BE49-F238E27FC236}">
                <a16:creationId xmlns:a16="http://schemas.microsoft.com/office/drawing/2014/main" id="{52582F41-8562-EDCF-D547-FEE06D78B091}"/>
              </a:ext>
            </a:extLst>
          </p:cNvPr>
          <p:cNvGrpSpPr/>
          <p:nvPr/>
        </p:nvGrpSpPr>
        <p:grpSpPr>
          <a:xfrm rot="3197729">
            <a:off x="4553030" y="901286"/>
            <a:ext cx="140909" cy="118817"/>
            <a:chOff x="1928706" y="3559489"/>
            <a:chExt cx="227897" cy="155682"/>
          </a:xfrm>
        </p:grpSpPr>
        <p:sp>
          <p:nvSpPr>
            <p:cNvPr id="16" name="Candidate blob | editable contour">
              <a:extLst>
                <a:ext uri="{FF2B5EF4-FFF2-40B4-BE49-F238E27FC236}">
                  <a16:creationId xmlns:a16="http://schemas.microsoft.com/office/drawing/2014/main" id="{AC599FE5-B7C8-2310-361D-307EF409B159}"/>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17" name="ellipse_2612">
              <a:extLst>
                <a:ext uri="{FF2B5EF4-FFF2-40B4-BE49-F238E27FC236}">
                  <a16:creationId xmlns:a16="http://schemas.microsoft.com/office/drawing/2014/main" id="{899D545A-9188-B8A5-5122-F55763321954}"/>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50449" name="F2-bank-channel">
            <a:extLst>
              <a:ext uri="{FF2B5EF4-FFF2-40B4-BE49-F238E27FC236}">
                <a16:creationId xmlns:a16="http://schemas.microsoft.com/office/drawing/2014/main" id="{E8F7522B-3B27-4338-8014-8A4EEE25C15E}"/>
              </a:ext>
            </a:extLst>
          </p:cNvPr>
          <p:cNvSpPr>
            <a:spLocks noGrp="1"/>
          </p:cNvSpPr>
          <p:nvPr/>
        </p:nvSpPr>
        <p:spPr>
          <a:xfrm>
            <a:off x="1453500" y="508635"/>
            <a:ext cx="257175" cy="190500"/>
          </a:xfrm>
          <a:prstGeom prst="rect">
            <a:avLst/>
          </a:prstGeom>
          <a:solidFill>
            <a:srgbClr val="EBF7FC"/>
          </a:solidFill>
          <a:ln w="4286">
            <a:solidFill>
              <a:srgbClr val="A6C5DF"/>
            </a:solidFill>
          </a:ln>
        </p:spPr>
      </p:sp>
      <p:sp>
        <p:nvSpPr>
          <p:cNvPr id="50450" name="F2-bank-channel">
            <a:extLst>
              <a:ext uri="{FF2B5EF4-FFF2-40B4-BE49-F238E27FC236}">
                <a16:creationId xmlns:a16="http://schemas.microsoft.com/office/drawing/2014/main" id="{44CA542A-604D-4AA5-B11D-B6617579A677}"/>
              </a:ext>
            </a:extLst>
          </p:cNvPr>
          <p:cNvSpPr>
            <a:spLocks noGrp="1"/>
          </p:cNvSpPr>
          <p:nvPr/>
        </p:nvSpPr>
        <p:spPr>
          <a:xfrm>
            <a:off x="1445880" y="515303"/>
            <a:ext cx="257175" cy="190500"/>
          </a:xfrm>
          <a:prstGeom prst="rect">
            <a:avLst/>
          </a:prstGeom>
          <a:solidFill>
            <a:srgbClr val="EBF7FC"/>
          </a:solidFill>
          <a:ln w="4286">
            <a:solidFill>
              <a:srgbClr val="A6C5DF"/>
            </a:solidFill>
          </a:ln>
        </p:spPr>
      </p:sp>
      <p:sp>
        <p:nvSpPr>
          <p:cNvPr id="50451" name="F2-bank-channel">
            <a:extLst>
              <a:ext uri="{FF2B5EF4-FFF2-40B4-BE49-F238E27FC236}">
                <a16:creationId xmlns:a16="http://schemas.microsoft.com/office/drawing/2014/main" id="{94C83CC1-C6DF-4DC5-87DF-BCD87221CF3B}"/>
              </a:ext>
            </a:extLst>
          </p:cNvPr>
          <p:cNvSpPr>
            <a:spLocks noGrp="1"/>
          </p:cNvSpPr>
          <p:nvPr/>
        </p:nvSpPr>
        <p:spPr>
          <a:xfrm>
            <a:off x="1438260" y="521970"/>
            <a:ext cx="257175" cy="190500"/>
          </a:xfrm>
          <a:prstGeom prst="rect">
            <a:avLst/>
          </a:prstGeom>
          <a:solidFill>
            <a:srgbClr val="EBF7FC"/>
          </a:solidFill>
          <a:ln w="4286">
            <a:solidFill>
              <a:srgbClr val="A6C5DF"/>
            </a:solidFill>
          </a:ln>
        </p:spPr>
      </p:sp>
      <p:sp>
        <p:nvSpPr>
          <p:cNvPr id="50452" name="F2-bank-channel">
            <a:extLst>
              <a:ext uri="{FF2B5EF4-FFF2-40B4-BE49-F238E27FC236}">
                <a16:creationId xmlns:a16="http://schemas.microsoft.com/office/drawing/2014/main" id="{1ABD8E71-8A8E-4A01-9656-5F57A7EAD863}"/>
              </a:ext>
            </a:extLst>
          </p:cNvPr>
          <p:cNvSpPr>
            <a:spLocks noGrp="1"/>
          </p:cNvSpPr>
          <p:nvPr/>
        </p:nvSpPr>
        <p:spPr>
          <a:xfrm>
            <a:off x="1430640" y="528638"/>
            <a:ext cx="257175" cy="190500"/>
          </a:xfrm>
          <a:prstGeom prst="rect">
            <a:avLst/>
          </a:prstGeom>
          <a:solidFill>
            <a:srgbClr val="EBF7FC"/>
          </a:solidFill>
          <a:ln w="4286">
            <a:solidFill>
              <a:srgbClr val="A6C5DF"/>
            </a:solidFill>
          </a:ln>
        </p:spPr>
      </p:sp>
      <p:sp>
        <p:nvSpPr>
          <p:cNvPr id="50453" name="F2-bank-channel">
            <a:extLst>
              <a:ext uri="{FF2B5EF4-FFF2-40B4-BE49-F238E27FC236}">
                <a16:creationId xmlns:a16="http://schemas.microsoft.com/office/drawing/2014/main" id="{A1E78B7C-AF8B-46CF-BE9A-7739D3A000CC}"/>
              </a:ext>
            </a:extLst>
          </p:cNvPr>
          <p:cNvSpPr>
            <a:spLocks noGrp="1"/>
          </p:cNvSpPr>
          <p:nvPr/>
        </p:nvSpPr>
        <p:spPr>
          <a:xfrm>
            <a:off x="1423020" y="535305"/>
            <a:ext cx="257175" cy="190500"/>
          </a:xfrm>
          <a:prstGeom prst="rect">
            <a:avLst/>
          </a:prstGeom>
          <a:solidFill>
            <a:srgbClr val="EBF7FC"/>
          </a:solidFill>
          <a:ln w="4286">
            <a:solidFill>
              <a:srgbClr val="A6C5DF"/>
            </a:solidFill>
          </a:ln>
        </p:spPr>
      </p:sp>
      <p:sp>
        <p:nvSpPr>
          <p:cNvPr id="50454" name="F2-bank-channel">
            <a:extLst>
              <a:ext uri="{FF2B5EF4-FFF2-40B4-BE49-F238E27FC236}">
                <a16:creationId xmlns:a16="http://schemas.microsoft.com/office/drawing/2014/main" id="{F902D412-512B-42B7-B05D-EDD9258097DC}"/>
              </a:ext>
            </a:extLst>
          </p:cNvPr>
          <p:cNvSpPr>
            <a:spLocks noGrp="1"/>
          </p:cNvSpPr>
          <p:nvPr/>
        </p:nvSpPr>
        <p:spPr>
          <a:xfrm>
            <a:off x="1415400" y="541973"/>
            <a:ext cx="257175" cy="190500"/>
          </a:xfrm>
          <a:prstGeom prst="rect">
            <a:avLst/>
          </a:prstGeom>
          <a:solidFill>
            <a:srgbClr val="EBF7FC"/>
          </a:solidFill>
          <a:ln w="4286">
            <a:solidFill>
              <a:srgbClr val="A6C5DF"/>
            </a:solidFill>
          </a:ln>
        </p:spPr>
      </p:sp>
      <p:sp>
        <p:nvSpPr>
          <p:cNvPr id="50455" name="F2-bank-channel">
            <a:extLst>
              <a:ext uri="{FF2B5EF4-FFF2-40B4-BE49-F238E27FC236}">
                <a16:creationId xmlns:a16="http://schemas.microsoft.com/office/drawing/2014/main" id="{CA6824A1-9C37-4EE2-8CF4-7C88BCE1DBE6}"/>
              </a:ext>
            </a:extLst>
          </p:cNvPr>
          <p:cNvSpPr>
            <a:spLocks noGrp="1"/>
          </p:cNvSpPr>
          <p:nvPr/>
        </p:nvSpPr>
        <p:spPr>
          <a:xfrm>
            <a:off x="1407780" y="548640"/>
            <a:ext cx="257175" cy="190500"/>
          </a:xfrm>
          <a:prstGeom prst="rect">
            <a:avLst/>
          </a:prstGeom>
          <a:solidFill>
            <a:srgbClr val="EBF7FC"/>
          </a:solidFill>
          <a:ln w="4286">
            <a:solidFill>
              <a:srgbClr val="A6C5DF"/>
            </a:solidFill>
          </a:ln>
        </p:spPr>
      </p:sp>
      <p:sp>
        <p:nvSpPr>
          <p:cNvPr id="50456" name="F2-bank-channel">
            <a:extLst>
              <a:ext uri="{FF2B5EF4-FFF2-40B4-BE49-F238E27FC236}">
                <a16:creationId xmlns:a16="http://schemas.microsoft.com/office/drawing/2014/main" id="{2705DA7A-40F9-48D2-946C-8019421C16B7}"/>
              </a:ext>
            </a:extLst>
          </p:cNvPr>
          <p:cNvSpPr>
            <a:spLocks noGrp="1"/>
          </p:cNvSpPr>
          <p:nvPr/>
        </p:nvSpPr>
        <p:spPr>
          <a:xfrm>
            <a:off x="1400160" y="555308"/>
            <a:ext cx="257175" cy="190500"/>
          </a:xfrm>
          <a:prstGeom prst="rect">
            <a:avLst/>
          </a:prstGeom>
          <a:solidFill>
            <a:srgbClr val="EBF7FC"/>
          </a:solidFill>
          <a:ln w="4286">
            <a:solidFill>
              <a:srgbClr val="A6C5DF"/>
            </a:solidFill>
          </a:ln>
        </p:spPr>
      </p:sp>
      <p:sp>
        <p:nvSpPr>
          <p:cNvPr id="50457" name="F2-bank-channel">
            <a:extLst>
              <a:ext uri="{FF2B5EF4-FFF2-40B4-BE49-F238E27FC236}">
                <a16:creationId xmlns:a16="http://schemas.microsoft.com/office/drawing/2014/main" id="{E1B9C475-D32F-4E88-9AAA-6701AFC1AC14}"/>
              </a:ext>
            </a:extLst>
          </p:cNvPr>
          <p:cNvSpPr>
            <a:spLocks noGrp="1"/>
          </p:cNvSpPr>
          <p:nvPr/>
        </p:nvSpPr>
        <p:spPr>
          <a:xfrm>
            <a:off x="1392540" y="561975"/>
            <a:ext cx="257175" cy="190500"/>
          </a:xfrm>
          <a:prstGeom prst="rect">
            <a:avLst/>
          </a:prstGeom>
          <a:solidFill>
            <a:srgbClr val="EBF7FC"/>
          </a:solidFill>
          <a:ln w="4286">
            <a:solidFill>
              <a:srgbClr val="A6C5DF"/>
            </a:solidFill>
          </a:ln>
        </p:spPr>
      </p:sp>
      <p:sp>
        <p:nvSpPr>
          <p:cNvPr id="50458" name="F2-density-voxel">
            <a:extLst>
              <a:ext uri="{FF2B5EF4-FFF2-40B4-BE49-F238E27FC236}">
                <a16:creationId xmlns:a16="http://schemas.microsoft.com/office/drawing/2014/main" id="{A49953DB-68D8-42EB-963F-DD42F453137D}"/>
              </a:ext>
            </a:extLst>
          </p:cNvPr>
          <p:cNvSpPr>
            <a:spLocks noGrp="1"/>
          </p:cNvSpPr>
          <p:nvPr/>
        </p:nvSpPr>
        <p:spPr>
          <a:xfrm>
            <a:off x="1411590" y="571500"/>
            <a:ext cx="52388" cy="42863"/>
          </a:xfrm>
          <a:prstGeom prst="rect">
            <a:avLst/>
          </a:prstGeom>
          <a:solidFill>
            <a:srgbClr val="CCE5EE"/>
          </a:solidFill>
          <a:ln w="0">
            <a:noFill/>
          </a:ln>
        </p:spPr>
      </p:sp>
      <p:sp>
        <p:nvSpPr>
          <p:cNvPr id="50459" name="F2-density-voxel">
            <a:extLst>
              <a:ext uri="{FF2B5EF4-FFF2-40B4-BE49-F238E27FC236}">
                <a16:creationId xmlns:a16="http://schemas.microsoft.com/office/drawing/2014/main" id="{ECECDED8-7BB6-465D-90CE-1566D913C0F0}"/>
              </a:ext>
            </a:extLst>
          </p:cNvPr>
          <p:cNvSpPr>
            <a:spLocks noGrp="1"/>
          </p:cNvSpPr>
          <p:nvPr/>
        </p:nvSpPr>
        <p:spPr>
          <a:xfrm>
            <a:off x="1463978" y="571500"/>
            <a:ext cx="52388" cy="42863"/>
          </a:xfrm>
          <a:prstGeom prst="rect">
            <a:avLst/>
          </a:prstGeom>
          <a:solidFill>
            <a:srgbClr val="86C0D7"/>
          </a:solidFill>
          <a:ln w="0">
            <a:noFill/>
          </a:ln>
        </p:spPr>
      </p:sp>
      <p:sp>
        <p:nvSpPr>
          <p:cNvPr id="50460" name="F2-density-voxel">
            <a:extLst>
              <a:ext uri="{FF2B5EF4-FFF2-40B4-BE49-F238E27FC236}">
                <a16:creationId xmlns:a16="http://schemas.microsoft.com/office/drawing/2014/main" id="{49E89024-8821-43E6-B830-D5D2C6143679}"/>
              </a:ext>
            </a:extLst>
          </p:cNvPr>
          <p:cNvSpPr>
            <a:spLocks noGrp="1"/>
          </p:cNvSpPr>
          <p:nvPr/>
        </p:nvSpPr>
        <p:spPr>
          <a:xfrm>
            <a:off x="1516365" y="571500"/>
            <a:ext cx="52388" cy="42863"/>
          </a:xfrm>
          <a:prstGeom prst="rect">
            <a:avLst/>
          </a:prstGeom>
          <a:solidFill>
            <a:srgbClr val="4D9ABB"/>
          </a:solidFill>
          <a:ln w="0">
            <a:noFill/>
          </a:ln>
        </p:spPr>
      </p:sp>
      <p:sp>
        <p:nvSpPr>
          <p:cNvPr id="50461" name="F2-density-voxel">
            <a:extLst>
              <a:ext uri="{FF2B5EF4-FFF2-40B4-BE49-F238E27FC236}">
                <a16:creationId xmlns:a16="http://schemas.microsoft.com/office/drawing/2014/main" id="{3A635687-B1F5-496B-9A49-461D8BC35087}"/>
              </a:ext>
            </a:extLst>
          </p:cNvPr>
          <p:cNvSpPr>
            <a:spLocks noGrp="1"/>
          </p:cNvSpPr>
          <p:nvPr/>
        </p:nvSpPr>
        <p:spPr>
          <a:xfrm>
            <a:off x="1568753" y="571500"/>
            <a:ext cx="52388" cy="42863"/>
          </a:xfrm>
          <a:prstGeom prst="rect">
            <a:avLst/>
          </a:prstGeom>
          <a:solidFill>
            <a:srgbClr val="B6DDE7"/>
          </a:solidFill>
          <a:ln w="0">
            <a:noFill/>
          </a:ln>
        </p:spPr>
      </p:sp>
      <p:sp>
        <p:nvSpPr>
          <p:cNvPr id="50462" name="F2-density-voxel">
            <a:extLst>
              <a:ext uri="{FF2B5EF4-FFF2-40B4-BE49-F238E27FC236}">
                <a16:creationId xmlns:a16="http://schemas.microsoft.com/office/drawing/2014/main" id="{FEC54E9C-643D-4824-B955-66BA7E401A0E}"/>
              </a:ext>
            </a:extLst>
          </p:cNvPr>
          <p:cNvSpPr>
            <a:spLocks noGrp="1"/>
          </p:cNvSpPr>
          <p:nvPr/>
        </p:nvSpPr>
        <p:spPr>
          <a:xfrm>
            <a:off x="1411590" y="614363"/>
            <a:ext cx="52388" cy="42863"/>
          </a:xfrm>
          <a:prstGeom prst="rect">
            <a:avLst/>
          </a:prstGeom>
          <a:solidFill>
            <a:srgbClr val="86C0D7"/>
          </a:solidFill>
          <a:ln w="0">
            <a:noFill/>
          </a:ln>
        </p:spPr>
      </p:sp>
      <p:sp>
        <p:nvSpPr>
          <p:cNvPr id="50463" name="F2-density-voxel">
            <a:extLst>
              <a:ext uri="{FF2B5EF4-FFF2-40B4-BE49-F238E27FC236}">
                <a16:creationId xmlns:a16="http://schemas.microsoft.com/office/drawing/2014/main" id="{ED2290E5-D29A-42C8-863E-1A0B5A093DAF}"/>
              </a:ext>
            </a:extLst>
          </p:cNvPr>
          <p:cNvSpPr>
            <a:spLocks noGrp="1"/>
          </p:cNvSpPr>
          <p:nvPr/>
        </p:nvSpPr>
        <p:spPr>
          <a:xfrm>
            <a:off x="1463978" y="614363"/>
            <a:ext cx="52388" cy="42863"/>
          </a:xfrm>
          <a:prstGeom prst="rect">
            <a:avLst/>
          </a:prstGeom>
          <a:solidFill>
            <a:srgbClr val="4D9ABB"/>
          </a:solidFill>
          <a:ln w="0">
            <a:noFill/>
          </a:ln>
        </p:spPr>
      </p:sp>
      <p:sp>
        <p:nvSpPr>
          <p:cNvPr id="50464" name="F2-density-voxel">
            <a:extLst>
              <a:ext uri="{FF2B5EF4-FFF2-40B4-BE49-F238E27FC236}">
                <a16:creationId xmlns:a16="http://schemas.microsoft.com/office/drawing/2014/main" id="{C030A993-BA02-4CBF-A526-9AF795928873}"/>
              </a:ext>
            </a:extLst>
          </p:cNvPr>
          <p:cNvSpPr>
            <a:spLocks noGrp="1"/>
          </p:cNvSpPr>
          <p:nvPr/>
        </p:nvSpPr>
        <p:spPr>
          <a:xfrm>
            <a:off x="1516365" y="614363"/>
            <a:ext cx="52388" cy="42863"/>
          </a:xfrm>
          <a:prstGeom prst="rect">
            <a:avLst/>
          </a:prstGeom>
          <a:solidFill>
            <a:srgbClr val="B6DDE7"/>
          </a:solidFill>
          <a:ln w="0">
            <a:noFill/>
          </a:ln>
        </p:spPr>
      </p:sp>
      <p:sp>
        <p:nvSpPr>
          <p:cNvPr id="50465" name="F2-density-voxel">
            <a:extLst>
              <a:ext uri="{FF2B5EF4-FFF2-40B4-BE49-F238E27FC236}">
                <a16:creationId xmlns:a16="http://schemas.microsoft.com/office/drawing/2014/main" id="{EC212EF2-C0F1-41AF-B3CE-D957D17932A0}"/>
              </a:ext>
            </a:extLst>
          </p:cNvPr>
          <p:cNvSpPr>
            <a:spLocks noGrp="1"/>
          </p:cNvSpPr>
          <p:nvPr/>
        </p:nvSpPr>
        <p:spPr>
          <a:xfrm>
            <a:off x="1568753" y="614363"/>
            <a:ext cx="52388" cy="42863"/>
          </a:xfrm>
          <a:prstGeom prst="rect">
            <a:avLst/>
          </a:prstGeom>
          <a:solidFill>
            <a:srgbClr val="CCE5EE"/>
          </a:solidFill>
          <a:ln w="0">
            <a:noFill/>
          </a:ln>
        </p:spPr>
      </p:sp>
      <p:sp>
        <p:nvSpPr>
          <p:cNvPr id="50466" name="F2-density-voxel">
            <a:extLst>
              <a:ext uri="{FF2B5EF4-FFF2-40B4-BE49-F238E27FC236}">
                <a16:creationId xmlns:a16="http://schemas.microsoft.com/office/drawing/2014/main" id="{8E8D1CD2-DC81-4A69-849C-F21783FD798D}"/>
              </a:ext>
            </a:extLst>
          </p:cNvPr>
          <p:cNvSpPr>
            <a:spLocks noGrp="1"/>
          </p:cNvSpPr>
          <p:nvPr/>
        </p:nvSpPr>
        <p:spPr>
          <a:xfrm>
            <a:off x="1411590" y="657225"/>
            <a:ext cx="52388" cy="42863"/>
          </a:xfrm>
          <a:prstGeom prst="rect">
            <a:avLst/>
          </a:prstGeom>
          <a:solidFill>
            <a:srgbClr val="4D9ABB"/>
          </a:solidFill>
          <a:ln w="0">
            <a:noFill/>
          </a:ln>
        </p:spPr>
      </p:sp>
      <p:sp>
        <p:nvSpPr>
          <p:cNvPr id="50467" name="F2-density-voxel">
            <a:extLst>
              <a:ext uri="{FF2B5EF4-FFF2-40B4-BE49-F238E27FC236}">
                <a16:creationId xmlns:a16="http://schemas.microsoft.com/office/drawing/2014/main" id="{CEA7FE12-330D-4160-8BE6-769BF6A26577}"/>
              </a:ext>
            </a:extLst>
          </p:cNvPr>
          <p:cNvSpPr>
            <a:spLocks noGrp="1"/>
          </p:cNvSpPr>
          <p:nvPr/>
        </p:nvSpPr>
        <p:spPr>
          <a:xfrm>
            <a:off x="1463978" y="657225"/>
            <a:ext cx="52388" cy="42863"/>
          </a:xfrm>
          <a:prstGeom prst="rect">
            <a:avLst/>
          </a:prstGeom>
          <a:solidFill>
            <a:srgbClr val="B6DDE7"/>
          </a:solidFill>
          <a:ln w="0">
            <a:noFill/>
          </a:ln>
        </p:spPr>
      </p:sp>
      <p:sp>
        <p:nvSpPr>
          <p:cNvPr id="50468" name="F2-density-voxel">
            <a:extLst>
              <a:ext uri="{FF2B5EF4-FFF2-40B4-BE49-F238E27FC236}">
                <a16:creationId xmlns:a16="http://schemas.microsoft.com/office/drawing/2014/main" id="{BE225EBF-D266-4631-9D7E-1B21643503B4}"/>
              </a:ext>
            </a:extLst>
          </p:cNvPr>
          <p:cNvSpPr>
            <a:spLocks noGrp="1"/>
          </p:cNvSpPr>
          <p:nvPr/>
        </p:nvSpPr>
        <p:spPr>
          <a:xfrm>
            <a:off x="1516365" y="657225"/>
            <a:ext cx="52388" cy="42863"/>
          </a:xfrm>
          <a:prstGeom prst="rect">
            <a:avLst/>
          </a:prstGeom>
          <a:solidFill>
            <a:srgbClr val="CCE5EE"/>
          </a:solidFill>
          <a:ln w="0">
            <a:noFill/>
          </a:ln>
        </p:spPr>
      </p:sp>
      <p:sp>
        <p:nvSpPr>
          <p:cNvPr id="50469" name="F2-density-voxel">
            <a:extLst>
              <a:ext uri="{FF2B5EF4-FFF2-40B4-BE49-F238E27FC236}">
                <a16:creationId xmlns:a16="http://schemas.microsoft.com/office/drawing/2014/main" id="{D56EA4DF-3429-4429-A2AA-6D7C9D33B341}"/>
              </a:ext>
            </a:extLst>
          </p:cNvPr>
          <p:cNvSpPr>
            <a:spLocks noGrp="1"/>
          </p:cNvSpPr>
          <p:nvPr/>
        </p:nvSpPr>
        <p:spPr>
          <a:xfrm>
            <a:off x="1568753" y="657225"/>
            <a:ext cx="52388" cy="42863"/>
          </a:xfrm>
          <a:prstGeom prst="rect">
            <a:avLst/>
          </a:prstGeom>
          <a:solidFill>
            <a:srgbClr val="86C0D7"/>
          </a:solidFill>
          <a:ln w="0">
            <a:noFill/>
          </a:ln>
        </p:spPr>
      </p:sp>
      <p:sp>
        <p:nvSpPr>
          <p:cNvPr id="50470" name="F2-density-voxel">
            <a:extLst>
              <a:ext uri="{FF2B5EF4-FFF2-40B4-BE49-F238E27FC236}">
                <a16:creationId xmlns:a16="http://schemas.microsoft.com/office/drawing/2014/main" id="{F4CB67F8-3427-42E0-B222-3C4C5B421A28}"/>
              </a:ext>
            </a:extLst>
          </p:cNvPr>
          <p:cNvSpPr>
            <a:spLocks noGrp="1"/>
          </p:cNvSpPr>
          <p:nvPr/>
        </p:nvSpPr>
        <p:spPr>
          <a:xfrm>
            <a:off x="1411590" y="700088"/>
            <a:ext cx="52388" cy="42863"/>
          </a:xfrm>
          <a:prstGeom prst="rect">
            <a:avLst/>
          </a:prstGeom>
          <a:solidFill>
            <a:srgbClr val="B6DDE7"/>
          </a:solidFill>
          <a:ln w="0">
            <a:noFill/>
          </a:ln>
        </p:spPr>
      </p:sp>
      <p:sp>
        <p:nvSpPr>
          <p:cNvPr id="50471" name="F2-density-voxel">
            <a:extLst>
              <a:ext uri="{FF2B5EF4-FFF2-40B4-BE49-F238E27FC236}">
                <a16:creationId xmlns:a16="http://schemas.microsoft.com/office/drawing/2014/main" id="{E62F2DC6-612B-4891-B2B7-8020312C0678}"/>
              </a:ext>
            </a:extLst>
          </p:cNvPr>
          <p:cNvSpPr>
            <a:spLocks noGrp="1"/>
          </p:cNvSpPr>
          <p:nvPr/>
        </p:nvSpPr>
        <p:spPr>
          <a:xfrm>
            <a:off x="1463978" y="700088"/>
            <a:ext cx="52388" cy="42863"/>
          </a:xfrm>
          <a:prstGeom prst="rect">
            <a:avLst/>
          </a:prstGeom>
          <a:solidFill>
            <a:srgbClr val="CCE5EE"/>
          </a:solidFill>
          <a:ln w="0">
            <a:noFill/>
          </a:ln>
        </p:spPr>
      </p:sp>
      <p:sp>
        <p:nvSpPr>
          <p:cNvPr id="50472" name="F2-density-voxel">
            <a:extLst>
              <a:ext uri="{FF2B5EF4-FFF2-40B4-BE49-F238E27FC236}">
                <a16:creationId xmlns:a16="http://schemas.microsoft.com/office/drawing/2014/main" id="{3D79F01F-5243-4E3C-8AA7-EE2C8B8C7E29}"/>
              </a:ext>
            </a:extLst>
          </p:cNvPr>
          <p:cNvSpPr>
            <a:spLocks noGrp="1"/>
          </p:cNvSpPr>
          <p:nvPr/>
        </p:nvSpPr>
        <p:spPr>
          <a:xfrm>
            <a:off x="1516365" y="700088"/>
            <a:ext cx="52388" cy="42863"/>
          </a:xfrm>
          <a:prstGeom prst="rect">
            <a:avLst/>
          </a:prstGeom>
          <a:solidFill>
            <a:srgbClr val="86C0D7"/>
          </a:solidFill>
          <a:ln w="0">
            <a:noFill/>
          </a:ln>
        </p:spPr>
      </p:sp>
      <p:sp>
        <p:nvSpPr>
          <p:cNvPr id="50473" name="F2-density-voxel">
            <a:extLst>
              <a:ext uri="{FF2B5EF4-FFF2-40B4-BE49-F238E27FC236}">
                <a16:creationId xmlns:a16="http://schemas.microsoft.com/office/drawing/2014/main" id="{7F5BC88D-76D1-4A24-B998-8BD41F9AADDB}"/>
              </a:ext>
            </a:extLst>
          </p:cNvPr>
          <p:cNvSpPr>
            <a:spLocks noGrp="1"/>
          </p:cNvSpPr>
          <p:nvPr/>
        </p:nvSpPr>
        <p:spPr>
          <a:xfrm>
            <a:off x="1568753" y="700088"/>
            <a:ext cx="52388" cy="42863"/>
          </a:xfrm>
          <a:prstGeom prst="rect">
            <a:avLst/>
          </a:prstGeom>
          <a:solidFill>
            <a:srgbClr val="4D9ABB"/>
          </a:solidFill>
          <a:ln w="0">
            <a:noFill/>
          </a:ln>
        </p:spPr>
      </p:sp>
      <p:sp>
        <p:nvSpPr>
          <p:cNvPr id="50474" name="F2-spatial-transform">
            <a:extLst>
              <a:ext uri="{FF2B5EF4-FFF2-40B4-BE49-F238E27FC236}">
                <a16:creationId xmlns:a16="http://schemas.microsoft.com/office/drawing/2014/main" id="{A85283F8-9FE2-48A1-8429-5356F2D370E2}"/>
              </a:ext>
            </a:extLst>
          </p:cNvPr>
          <p:cNvSpPr>
            <a:spLocks noGrp="1"/>
          </p:cNvSpPr>
          <p:nvPr/>
        </p:nvSpPr>
        <p:spPr>
          <a:xfrm>
            <a:off x="981877" y="549713"/>
            <a:ext cx="376238"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sz="460" b="0" dirty="0">
                <a:solidFill>
                  <a:srgbClr val="263442"/>
                </a:solidFill>
                <a:latin typeface="Arial"/>
                <a:ea typeface="Arial"/>
                <a:cs typeface="Arial"/>
              </a:rPr>
              <a:t>Spatial</a:t>
            </a:r>
          </a:p>
          <a:p>
            <a:pPr algn="ctr">
              <a:defRPr sz="540" b="0">
                <a:solidFill>
                  <a:srgbClr val="263442"/>
                </a:solidFill>
                <a:latin typeface="Arial"/>
                <a:ea typeface="Arial"/>
                <a:cs typeface="Arial"/>
              </a:defRPr>
            </a:pPr>
            <a:r>
              <a:rPr sz="460" b="0" dirty="0">
                <a:solidFill>
                  <a:srgbClr val="263442"/>
                </a:solidFill>
                <a:latin typeface="Arial"/>
                <a:ea typeface="Arial"/>
                <a:cs typeface="Arial"/>
              </a:rPr>
              <a:t>transform</a:t>
            </a:r>
          </a:p>
        </p:txBody>
      </p:sp>
      <p:sp>
        <p:nvSpPr>
          <p:cNvPr id="50475" name="F2-atom-embeddings-input">
            <a:extLst>
              <a:ext uri="{FF2B5EF4-FFF2-40B4-BE49-F238E27FC236}">
                <a16:creationId xmlns:a16="http://schemas.microsoft.com/office/drawing/2014/main" id="{0B4B93C5-B055-4ECE-8D5F-9FD8F9F29D6A}"/>
              </a:ext>
            </a:extLst>
          </p:cNvPr>
          <p:cNvSpPr>
            <a:spLocks noGrp="1"/>
          </p:cNvSpPr>
          <p:nvPr/>
        </p:nvSpPr>
        <p:spPr>
          <a:xfrm>
            <a:off x="1010565" y="1287494"/>
            <a:ext cx="327329"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lang="en-US" sz="460" b="0" dirty="0">
                <a:solidFill>
                  <a:srgbClr val="263442"/>
                </a:solidFill>
                <a:latin typeface="Arial"/>
                <a:ea typeface="Arial"/>
                <a:cs typeface="Arial"/>
              </a:rPr>
              <a:t>E</a:t>
            </a:r>
            <a:r>
              <a:rPr sz="460" b="0" dirty="0">
                <a:solidFill>
                  <a:srgbClr val="263442"/>
                </a:solidFill>
                <a:latin typeface="Arial"/>
                <a:ea typeface="Arial"/>
                <a:cs typeface="Arial"/>
              </a:rPr>
              <a:t>mbedding</a:t>
            </a:r>
            <a:endParaRPr lang="en-US" sz="460" b="0" dirty="0">
              <a:solidFill>
                <a:srgbClr val="263442"/>
              </a:solidFill>
              <a:latin typeface="Arial"/>
              <a:ea typeface="Arial"/>
              <a:cs typeface="Arial"/>
            </a:endParaRPr>
          </a:p>
          <a:p>
            <a:pPr algn="ctr">
              <a:defRPr sz="540" b="0">
                <a:solidFill>
                  <a:srgbClr val="263442"/>
                </a:solidFill>
                <a:latin typeface="Arial"/>
                <a:ea typeface="Arial"/>
                <a:cs typeface="Arial"/>
              </a:defRPr>
            </a:pPr>
            <a:r>
              <a:rPr lang="en-US" altLang="zh-CN" sz="460" b="0" dirty="0">
                <a:solidFill>
                  <a:srgbClr val="263442"/>
                </a:solidFill>
                <a:latin typeface="Arial"/>
                <a:ea typeface="Arial"/>
                <a:cs typeface="Arial"/>
              </a:rPr>
              <a:t>head</a:t>
            </a:r>
            <a:endParaRPr sz="460" b="0" dirty="0">
              <a:solidFill>
                <a:srgbClr val="263442"/>
              </a:solidFill>
              <a:latin typeface="Arial"/>
              <a:ea typeface="Arial"/>
              <a:cs typeface="Arial"/>
            </a:endParaRPr>
          </a:p>
        </p:txBody>
      </p:sp>
      <p:pic>
        <p:nvPicPr>
          <p:cNvPr id="50482" name="图片 50481">
            <a:extLst>
              <a:ext uri="{FF2B5EF4-FFF2-40B4-BE49-F238E27FC236}">
                <a16:creationId xmlns:a16="http://schemas.microsoft.com/office/drawing/2014/main" id="{CC697937-E8CE-4EDF-BB17-1FEA96E39283}"/>
              </a:ext>
            </a:extLst>
          </p:cNvPr>
          <p:cNvPicPr>
            <a:picLocks noChangeAspect="1"/>
          </p:cNvPicPr>
          <p:nvPr/>
        </p:nvPicPr>
        <p:blipFill>
          <a:blip r:embed="rId8"/>
          <a:stretch/>
        </p:blipFill>
        <p:spPr>
          <a:xfrm>
            <a:off x="586641" y="2943948"/>
            <a:ext cx="414760" cy="342900"/>
          </a:xfrm>
          <a:prstGeom prst="rect">
            <a:avLst/>
          </a:prstGeom>
        </p:spPr>
      </p:pic>
      <p:grpSp>
        <p:nvGrpSpPr>
          <p:cNvPr id="50493" name="Find preview 15"/>
          <p:cNvGrpSpPr/>
          <p:nvPr/>
        </p:nvGrpSpPr>
        <p:grpSpPr>
          <a:xfrm>
            <a:off x="582671" y="471488"/>
            <a:ext cx="404812" cy="395288"/>
            <a:chOff x="511635" y="471488"/>
            <a:chExt cx="404812" cy="395288"/>
          </a:xfrm>
        </p:grpSpPr>
        <p:pic>
          <p:nvPicPr>
            <p:cNvPr id="1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8CF1199C-6488-C5B6-B489-1131732B4FBF}"/>
                </a:ext>
              </a:extLst>
            </p:cNvPr>
            <p:cNvPicPr/>
            <p:nvPr/>
          </p:nvPicPr>
          <p:blipFill>
            <a:blip r:embed="rId4"/>
            <a:stretch>
              <a:fillRect/>
            </a:stretch>
          </p:blipFill>
          <p:spPr>
            <a:xfrm>
              <a:off x="511635" y="475859"/>
              <a:ext cx="404812" cy="386544"/>
            </a:xfrm>
            <a:prstGeom prst="rect">
              <a:avLst/>
            </a:prstGeom>
          </p:spPr>
        </p:pic>
        <p:sp>
          <p:nvSpPr>
            <p:cNvPr id="50476" name="crop-cube">
              <a:extLst>
                <a:ext uri="{FF2B5EF4-FFF2-40B4-BE49-F238E27FC236}">
                  <a16:creationId xmlns:a16="http://schemas.microsoft.com/office/drawing/2014/main" id="{25839399-079E-4307-9725-E085483F7FD6}"/>
                </a:ext>
              </a:extLst>
            </p:cNvPr>
            <p:cNvSpPr>
              <a:spLocks noGrp="1"/>
            </p:cNvSpPr>
            <p:nvPr/>
          </p:nvSpPr>
          <p:spPr>
            <a:xfrm>
              <a:off x="700088" y="626745"/>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477" name="crop-cube">
              <a:extLst>
                <a:ext uri="{FF2B5EF4-FFF2-40B4-BE49-F238E27FC236}">
                  <a16:creationId xmlns:a16="http://schemas.microsoft.com/office/drawing/2014/main" id="{07D86F79-577D-4116-BDEA-F38D19D792BA}"/>
                </a:ext>
              </a:extLst>
            </p:cNvPr>
            <p:cNvSpPr>
              <a:spLocks noGrp="1"/>
            </p:cNvSpPr>
            <p:nvPr/>
          </p:nvSpPr>
          <p:spPr>
            <a:xfrm>
              <a:off x="788194" y="626745"/>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478" name="F2-density-crop-size">
              <a:extLst>
                <a:ext uri="{FF2B5EF4-FFF2-40B4-BE49-F238E27FC236}">
                  <a16:creationId xmlns:a16="http://schemas.microsoft.com/office/drawing/2014/main" id="{9B6ECDDF-4CA0-44BE-83B1-7FF800ECF209}"/>
                </a:ext>
              </a:extLst>
            </p:cNvPr>
            <p:cNvSpPr>
              <a:spLocks noGrp="1"/>
            </p:cNvSpPr>
            <p:nvPr/>
          </p:nvSpPr>
          <p:spPr>
            <a:xfrm>
              <a:off x="640556" y="766763"/>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494" name="Find preview 1435"/>
          <p:cNvGrpSpPr/>
          <p:nvPr/>
        </p:nvGrpSpPr>
        <p:grpSpPr>
          <a:xfrm>
            <a:off x="582671" y="1252538"/>
            <a:ext cx="404812" cy="395288"/>
            <a:chOff x="511635" y="1252538"/>
            <a:chExt cx="404812" cy="395288"/>
          </a:xfrm>
        </p:grpSpPr>
        <p:pic>
          <p:nvPicPr>
            <p:cNvPr id="1435" name="Find clear receptor" descr="Receptor cartoon rendered from unchanged local coordinates, chain C1 of the 9LLG CA2 model.">
              <a:extLst>
                <a:ext uri="{FF2B5EF4-FFF2-40B4-BE49-F238E27FC236}">
                  <a16:creationId xmlns:a16="http://schemas.microsoft.com/office/drawing/2014/main" id="{24C88AB2-5918-0F4D-EDE6-0D89FC02F100}"/>
                </a:ext>
              </a:extLst>
            </p:cNvPr>
            <p:cNvPicPr/>
            <p:nvPr/>
          </p:nvPicPr>
          <p:blipFill>
            <a:blip r:embed="rId7"/>
            <a:srcRect l="16857" t="30389" r="19786" b="22500"/>
            <a:stretch>
              <a:fillRect/>
            </a:stretch>
          </p:blipFill>
          <p:spPr>
            <a:xfrm>
              <a:off x="511635" y="1256674"/>
              <a:ext cx="404812" cy="387014"/>
            </a:xfrm>
            <a:prstGeom prst="rect">
              <a:avLst/>
            </a:prstGeom>
          </p:spPr>
        </p:pic>
        <p:sp>
          <p:nvSpPr>
            <p:cNvPr id="50479" name="crop-cube">
              <a:extLst>
                <a:ext uri="{FF2B5EF4-FFF2-40B4-BE49-F238E27FC236}">
                  <a16:creationId xmlns:a16="http://schemas.microsoft.com/office/drawing/2014/main" id="{B083B324-58BF-4271-92CE-6A3DCE5DBE53}"/>
                </a:ext>
              </a:extLst>
            </p:cNvPr>
            <p:cNvSpPr>
              <a:spLocks noGrp="1"/>
            </p:cNvSpPr>
            <p:nvPr/>
          </p:nvSpPr>
          <p:spPr>
            <a:xfrm>
              <a:off x="700088" y="1404938"/>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480" name="crop-cube">
              <a:extLst>
                <a:ext uri="{FF2B5EF4-FFF2-40B4-BE49-F238E27FC236}">
                  <a16:creationId xmlns:a16="http://schemas.microsoft.com/office/drawing/2014/main" id="{0E8C65BE-9745-4184-B8B7-6FD5E9341DBD}"/>
                </a:ext>
              </a:extLst>
            </p:cNvPr>
            <p:cNvSpPr>
              <a:spLocks noGrp="1"/>
            </p:cNvSpPr>
            <p:nvPr/>
          </p:nvSpPr>
          <p:spPr>
            <a:xfrm>
              <a:off x="788194" y="1404938"/>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481" name="F2-receptor-crop-size">
              <a:extLst>
                <a:ext uri="{FF2B5EF4-FFF2-40B4-BE49-F238E27FC236}">
                  <a16:creationId xmlns:a16="http://schemas.microsoft.com/office/drawing/2014/main" id="{11CB5595-3267-408D-9A25-39E3920D0458}"/>
                </a:ext>
              </a:extLst>
            </p:cNvPr>
            <p:cNvSpPr>
              <a:spLocks noGrp="1"/>
            </p:cNvSpPr>
            <p:nvPr/>
          </p:nvSpPr>
          <p:spPr>
            <a:xfrm>
              <a:off x="640556" y="1544955"/>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495" name="Find preview 25"/>
          <p:cNvGrpSpPr/>
          <p:nvPr/>
        </p:nvGrpSpPr>
        <p:grpSpPr>
          <a:xfrm>
            <a:off x="4319205" y="499672"/>
            <a:ext cx="404812" cy="386544"/>
            <a:chOff x="4349067" y="499672"/>
            <a:chExt cx="404812" cy="386544"/>
          </a:xfrm>
        </p:grpSpPr>
        <p:pic>
          <p:nvPicPr>
            <p:cNvPr id="2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E01FAF0F-7383-AEC3-8192-CE781D4C8B97}"/>
                </a:ext>
              </a:extLst>
            </p:cNvPr>
            <p:cNvPicPr/>
            <p:nvPr/>
          </p:nvPicPr>
          <p:blipFill>
            <a:blip r:embed="rId4"/>
            <a:stretch>
              <a:fillRect/>
            </a:stretch>
          </p:blipFill>
          <p:spPr>
            <a:xfrm>
              <a:off x="4349067" y="499672"/>
              <a:ext cx="404812" cy="386544"/>
            </a:xfrm>
            <a:prstGeom prst="rect">
              <a:avLst/>
            </a:prstGeom>
          </p:spPr>
        </p:pic>
        <p:grpSp>
          <p:nvGrpSpPr>
            <p:cNvPr id="50437" name="Global copy of blob 758">
              <a:extLst>
                <a:ext uri="{FF2B5EF4-FFF2-40B4-BE49-F238E27FC236}">
                  <a16:creationId xmlns:a16="http://schemas.microsoft.com/office/drawing/2014/main" id="{00C0C92B-D4C8-0994-E860-1581EB873D86}"/>
                </a:ext>
              </a:extLst>
            </p:cNvPr>
            <p:cNvGrpSpPr/>
            <p:nvPr/>
          </p:nvGrpSpPr>
          <p:grpSpPr>
            <a:xfrm>
              <a:off x="4445066" y="623158"/>
              <a:ext cx="92055" cy="24054"/>
              <a:chOff x="1980855" y="3559489"/>
              <a:chExt cx="493446" cy="155682"/>
            </a:xfrm>
          </p:grpSpPr>
          <p:sp>
            <p:nvSpPr>
              <p:cNvPr id="50438" name="Candidate blob | editable contour">
                <a:extLst>
                  <a:ext uri="{FF2B5EF4-FFF2-40B4-BE49-F238E27FC236}">
                    <a16:creationId xmlns:a16="http://schemas.microsoft.com/office/drawing/2014/main" id="{A172A8B3-EFA3-33C9-CD2B-307B24D7293D}"/>
                  </a:ext>
                </a:extLst>
              </p:cNvPr>
              <p:cNvSpPr/>
              <p:nvPr/>
            </p:nvSpPr>
            <p:spPr>
              <a:xfrm>
                <a:off x="2246406" y="3559489"/>
                <a:ext cx="227895"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50439" name="ellipse_2612">
                <a:extLst>
                  <a:ext uri="{FF2B5EF4-FFF2-40B4-BE49-F238E27FC236}">
                    <a16:creationId xmlns:a16="http://schemas.microsoft.com/office/drawing/2014/main" id="{CF37E813-914E-4383-9CE9-1C5F4095124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50442" name="ellipse_2612">
              <a:extLst>
                <a:ext uri="{FF2B5EF4-FFF2-40B4-BE49-F238E27FC236}">
                  <a16:creationId xmlns:a16="http://schemas.microsoft.com/office/drawing/2014/main" id="{899D545A-9188-B8A5-5122-F55763321954}"/>
                </a:ext>
              </a:extLst>
            </p:cNvPr>
            <p:cNvSpPr/>
            <p:nvPr/>
          </p:nvSpPr>
          <p:spPr>
            <a:xfrm rot="3197729">
              <a:off x="4608138" y="649456"/>
              <a:ext cx="10571" cy="3071"/>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0445" name="ellipse_2612">
              <a:extLst>
                <a:ext uri="{FF2B5EF4-FFF2-40B4-BE49-F238E27FC236}">
                  <a16:creationId xmlns:a16="http://schemas.microsoft.com/office/drawing/2014/main" id="{85D74281-2FE6-E2D2-EFBA-AF54A45686E3}"/>
                </a:ext>
              </a:extLst>
            </p:cNvPr>
            <p:cNvSpPr/>
            <p:nvPr/>
          </p:nvSpPr>
          <p:spPr>
            <a:xfrm>
              <a:off x="4430816" y="761249"/>
              <a:ext cx="9540" cy="2671"/>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0448" name="ellipse_2612">
              <a:extLst>
                <a:ext uri="{FF2B5EF4-FFF2-40B4-BE49-F238E27FC236}">
                  <a16:creationId xmlns:a16="http://schemas.microsoft.com/office/drawing/2014/main" id="{901C6437-E94C-AFDE-D242-E688A89ABBDB}"/>
                </a:ext>
              </a:extLst>
            </p:cNvPr>
            <p:cNvSpPr/>
            <p:nvPr/>
          </p:nvSpPr>
          <p:spPr>
            <a:xfrm>
              <a:off x="4542383" y="798587"/>
              <a:ext cx="9428" cy="3307"/>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29" name="V8 density and receptor to voxel">
            <a:extLst>
              <a:ext uri="{FF2B5EF4-FFF2-40B4-BE49-F238E27FC236}">
                <a16:creationId xmlns:a16="http://schemas.microsoft.com/office/drawing/2014/main" id="{6CB6A47B-4EF1-2B06-7255-E23CEE529CCF}"/>
              </a:ext>
            </a:extLst>
          </p:cNvPr>
          <p:cNvSpPr/>
          <p:nvPr/>
        </p:nvSpPr>
        <p:spPr>
          <a:xfrm flipV="1">
            <a:off x="1834335" y="790091"/>
            <a:ext cx="77018" cy="45719"/>
          </a:xfrm>
          <a:custGeom>
            <a:avLst/>
            <a:gdLst/>
            <a:ahLst/>
            <a:cxnLst/>
            <a:rect l="l" t="t" r="r" b="b"/>
            <a:pathLst>
              <a:path w="96730" h="1">
                <a:moveTo>
                  <a:pt x="0" y="0"/>
                </a:moveTo>
                <a:lnTo>
                  <a:pt x="96730" y="0"/>
                </a:lnTo>
              </a:path>
            </a:pathLst>
          </a:custGeom>
          <a:noFill/>
          <a:ln w="8509" cap="rnd">
            <a:solidFill>
              <a:srgbClr val="4083B4"/>
            </a:solidFill>
            <a:prstDash val="solid"/>
            <a:round/>
          </a:ln>
        </p:spPr>
      </p:sp>
      <p:sp>
        <p:nvSpPr>
          <p:cNvPr id="31" name="V8 density and receptor to voxel head">
            <a:extLst>
              <a:ext uri="{FF2B5EF4-FFF2-40B4-BE49-F238E27FC236}">
                <a16:creationId xmlns:a16="http://schemas.microsoft.com/office/drawing/2014/main" id="{DF62D5B1-80E9-3975-FF99-0CA56F3741F9}"/>
              </a:ext>
            </a:extLst>
          </p:cNvPr>
          <p:cNvSpPr/>
          <p:nvPr/>
        </p:nvSpPr>
        <p:spPr>
          <a:xfrm>
            <a:off x="1905255" y="822853"/>
            <a:ext cx="28321" cy="24384"/>
          </a:xfrm>
          <a:custGeom>
            <a:avLst/>
            <a:gdLst/>
            <a:ahLst/>
            <a:cxnLst/>
            <a:rect l="l" t="t" r="r" b="b"/>
            <a:pathLst>
              <a:path w="28321" h="24384">
                <a:moveTo>
                  <a:pt x="28321" y="12192"/>
                </a:moveTo>
                <a:lnTo>
                  <a:pt x="0" y="0"/>
                </a:lnTo>
                <a:lnTo>
                  <a:pt x="0" y="24384"/>
                </a:lnTo>
                <a:close/>
              </a:path>
            </a:pathLst>
          </a:custGeom>
          <a:solidFill>
            <a:srgbClr val="4083B4"/>
          </a:solidFill>
          <a:ln w="0" cap="rnd">
            <a:noFill/>
          </a:ln>
        </p:spPr>
      </p:sp>
      <p:sp>
        <p:nvSpPr>
          <p:cNvPr id="34" name="文本框 33">
            <a:extLst>
              <a:ext uri="{FF2B5EF4-FFF2-40B4-BE49-F238E27FC236}">
                <a16:creationId xmlns:a16="http://schemas.microsoft.com/office/drawing/2014/main" id="{04021CE7-7079-B8B1-FE1F-2395F0A6A9F4}"/>
              </a:ext>
            </a:extLst>
          </p:cNvPr>
          <p:cNvSpPr txBox="1"/>
          <p:nvPr/>
        </p:nvSpPr>
        <p:spPr>
          <a:xfrm>
            <a:off x="2776387" y="1439947"/>
            <a:ext cx="502061" cy="197618"/>
          </a:xfrm>
          <a:prstGeom prst="rect">
            <a:avLst/>
          </a:prstGeom>
          <a:noFill/>
        </p:spPr>
        <p:txBody>
          <a:bodyPr wrap="none" rtlCol="0">
            <a:spAutoFit/>
          </a:bodyPr>
          <a:lstStyle/>
          <a:p>
            <a:pPr algn="ctr">
              <a:lnSpc>
                <a:spcPct val="105000"/>
              </a:lnSpc>
            </a:pPr>
            <a:r>
              <a:rPr lang="en-US" altLang="zh-CN" sz="650" i="1" dirty="0">
                <a:solidFill>
                  <a:srgbClr val="263442"/>
                </a:solidFill>
                <a:latin typeface="Arial"/>
              </a:rPr>
              <a:t>Recycle</a:t>
            </a:r>
          </a:p>
        </p:txBody>
      </p:sp>
      <p:grpSp>
        <p:nvGrpSpPr>
          <p:cNvPr id="21" name="Find candidate blob 2">
            <a:extLst>
              <a:ext uri="{FF2B5EF4-FFF2-40B4-BE49-F238E27FC236}">
                <a16:creationId xmlns:a16="http://schemas.microsoft.com/office/drawing/2014/main" id="{7CF4B83B-CE40-0943-83BF-857F63F584FC}"/>
              </a:ext>
            </a:extLst>
          </p:cNvPr>
          <p:cNvGrpSpPr/>
          <p:nvPr/>
        </p:nvGrpSpPr>
        <p:grpSpPr>
          <a:xfrm rot="3197729">
            <a:off x="4586768" y="633066"/>
            <a:ext cx="35227" cy="29704"/>
            <a:chOff x="1928706" y="3559489"/>
            <a:chExt cx="227897" cy="155682"/>
          </a:xfrm>
        </p:grpSpPr>
        <p:sp>
          <p:nvSpPr>
            <p:cNvPr id="23" name="Candidate blob | editable contour">
              <a:extLst>
                <a:ext uri="{FF2B5EF4-FFF2-40B4-BE49-F238E27FC236}">
                  <a16:creationId xmlns:a16="http://schemas.microsoft.com/office/drawing/2014/main" id="{0EF5C813-7F44-77DD-67FE-EE476608E03B}"/>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28" name="ellipse_2612">
              <a:extLst>
                <a:ext uri="{FF2B5EF4-FFF2-40B4-BE49-F238E27FC236}">
                  <a16:creationId xmlns:a16="http://schemas.microsoft.com/office/drawing/2014/main" id="{F5FA3B82-7CD0-DDDF-A968-EC80FAC5CC54}"/>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30" name="Find candidate blob 3">
            <a:extLst>
              <a:ext uri="{FF2B5EF4-FFF2-40B4-BE49-F238E27FC236}">
                <a16:creationId xmlns:a16="http://schemas.microsoft.com/office/drawing/2014/main" id="{7DFC79E6-A537-A8EE-9E23-73695EEDEA87}"/>
              </a:ext>
            </a:extLst>
          </p:cNvPr>
          <p:cNvGrpSpPr/>
          <p:nvPr/>
        </p:nvGrpSpPr>
        <p:grpSpPr>
          <a:xfrm rot="364243">
            <a:off x="4504977" y="709850"/>
            <a:ext cx="31915" cy="32299"/>
            <a:chOff x="1928706" y="3559489"/>
            <a:chExt cx="227897" cy="155682"/>
          </a:xfrm>
        </p:grpSpPr>
        <p:sp>
          <p:nvSpPr>
            <p:cNvPr id="32" name="Candidate blob | editable contour">
              <a:extLst>
                <a:ext uri="{FF2B5EF4-FFF2-40B4-BE49-F238E27FC236}">
                  <a16:creationId xmlns:a16="http://schemas.microsoft.com/office/drawing/2014/main" id="{EF3C7BE5-312A-39EB-D945-E725D09FC5CF}"/>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33" name="ellipse_2612">
              <a:extLst>
                <a:ext uri="{FF2B5EF4-FFF2-40B4-BE49-F238E27FC236}">
                  <a16:creationId xmlns:a16="http://schemas.microsoft.com/office/drawing/2014/main" id="{0A4821A8-67B8-19F4-30E2-0FE8715E5DA6}"/>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38" name="Find candidate blob 1">
            <a:extLst>
              <a:ext uri="{FF2B5EF4-FFF2-40B4-BE49-F238E27FC236}">
                <a16:creationId xmlns:a16="http://schemas.microsoft.com/office/drawing/2014/main" id="{D9521CD7-F7FB-7490-A23A-67B39E4FD95D}"/>
              </a:ext>
            </a:extLst>
          </p:cNvPr>
          <p:cNvGrpSpPr/>
          <p:nvPr/>
        </p:nvGrpSpPr>
        <p:grpSpPr>
          <a:xfrm>
            <a:off x="4398123" y="745957"/>
            <a:ext cx="40973" cy="27988"/>
            <a:chOff x="1928706" y="3559489"/>
            <a:chExt cx="227897" cy="155682"/>
          </a:xfrm>
        </p:grpSpPr>
        <p:sp>
          <p:nvSpPr>
            <p:cNvPr id="39" name="Candidate blob | editable contour">
              <a:extLst>
                <a:ext uri="{FF2B5EF4-FFF2-40B4-BE49-F238E27FC236}">
                  <a16:creationId xmlns:a16="http://schemas.microsoft.com/office/drawing/2014/main" id="{B913F94B-9211-6007-A9F1-AA1E18C1D543}"/>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40" name="ellipse_2612">
              <a:extLst>
                <a:ext uri="{FF2B5EF4-FFF2-40B4-BE49-F238E27FC236}">
                  <a16:creationId xmlns:a16="http://schemas.microsoft.com/office/drawing/2014/main" id="{D504CB61-AEF5-1C11-4CCF-573A1133E2A9}"/>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Tree>
    <p:extLst>
      <p:ext uri="{BB962C8B-B14F-4D97-AF65-F5344CB8AC3E}">
        <p14:creationId xmlns:p14="http://schemas.microsoft.com/office/powerpoint/2010/main" val="752272827"/>
      </p:ext>
    </p:extLst>
  </p:cSld>
  <p:clrMapOvr>
    <a:masterClrMapping/>
  </p:clrMapOvr>
  <p:extLst>
    <p:ext uri="{6950BFC3-D8DA-4A85-94F7-54DA5524770B}">
      <p188:commentRel xmlns:p188="http://schemas.microsoft.com/office/powerpoint/2018/8/main" r:id="rId3"/>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3A6E18-01F8-B0BA-F43F-91B3A30C3C3E}"/>
            </a:ext>
          </a:extLst>
        </p:cNvPr>
        <p:cNvGrpSpPr/>
        <p:nvPr/>
      </p:nvGrpSpPr>
      <p:grpSpPr>
        <a:xfrm>
          <a:off x="0" y="0"/>
          <a:ext cx="0" cy="0"/>
          <a:chOff x="0" y="0"/>
          <a:chExt cx="0" cy="0"/>
        </a:xfrm>
      </p:grpSpPr>
      <p:sp>
        <p:nvSpPr>
          <p:cNvPr id="2" name="Panel | Find background">
            <a:extLst>
              <a:ext uri="{FF2B5EF4-FFF2-40B4-BE49-F238E27FC236}">
                <a16:creationId xmlns:a16="http://schemas.microsoft.com/office/drawing/2014/main" id="{A9090686-8929-C0A0-CCD3-B88878102309}"/>
              </a:ext>
            </a:extLst>
          </p:cNvPr>
          <p:cNvSpPr/>
          <p:nvPr/>
        </p:nvSpPr>
        <p:spPr>
          <a:xfrm>
            <a:off x="450985" y="89164"/>
            <a:ext cx="4381930" cy="1756103"/>
          </a:xfrm>
          <a:prstGeom prst="roundRect">
            <a:avLst>
              <a:gd name="adj" fmla="val 2000"/>
            </a:avLst>
          </a:prstGeom>
          <a:solidFill>
            <a:srgbClr val="F4F7FB"/>
          </a:solidFill>
          <a:ln w="9720">
            <a:solidFill>
              <a:srgbClr val="CFDB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3" name="Panel | Match background">
            <a:extLst>
              <a:ext uri="{FF2B5EF4-FFF2-40B4-BE49-F238E27FC236}">
                <a16:creationId xmlns:a16="http://schemas.microsoft.com/office/drawing/2014/main" id="{28703D02-0EE9-C5A6-609C-08019DDE7E4E}"/>
              </a:ext>
            </a:extLst>
          </p:cNvPr>
          <p:cNvSpPr/>
          <p:nvPr/>
        </p:nvSpPr>
        <p:spPr>
          <a:xfrm>
            <a:off x="450985" y="1884235"/>
            <a:ext cx="4381930" cy="2532204"/>
          </a:xfrm>
          <a:prstGeom prst="roundRect">
            <a:avLst>
              <a:gd name="adj" fmla="val 2000"/>
            </a:avLst>
          </a:prstGeom>
          <a:solidFill>
            <a:srgbClr val="F2F9F6"/>
          </a:solidFill>
          <a:ln w="9720">
            <a:solidFill>
              <a:srgbClr val="C8E2D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grpSp>
        <p:nvGrpSpPr>
          <p:cNvPr id="5" name="Input boundary layer">
            <a:extLst>
              <a:ext uri="{FF2B5EF4-FFF2-40B4-BE49-F238E27FC236}">
                <a16:creationId xmlns:a16="http://schemas.microsoft.com/office/drawing/2014/main" id="{DDB8823C-1C5D-EC2B-D97C-140C79222FB0}"/>
              </a:ext>
            </a:extLst>
          </p:cNvPr>
          <p:cNvGrpSpPr/>
          <p:nvPr/>
        </p:nvGrpSpPr>
        <p:grpSpPr>
          <a:xfrm>
            <a:off x="0" y="0"/>
            <a:ext cx="6480175" cy="4468813"/>
            <a:chOff x="0" y="0"/>
            <a:chExt cx="15240000" cy="10509702"/>
          </a:xfrm>
        </p:grpSpPr>
        <p:sp>
          <p:nvSpPr>
            <p:cNvPr id="1478" name="V8 Match input boundary">
              <a:extLst>
                <a:ext uri="{FF2B5EF4-FFF2-40B4-BE49-F238E27FC236}">
                  <a16:creationId xmlns:a16="http://schemas.microsoft.com/office/drawing/2014/main" id="{7D0554F4-AE1C-63F1-A885-352F5424EDA9}"/>
                </a:ext>
              </a:extLst>
            </p:cNvPr>
            <p:cNvSpPr/>
            <p:nvPr/>
          </p:nvSpPr>
          <p:spPr>
            <a:xfrm>
              <a:off x="1355735" y="5281627"/>
              <a:ext cx="3163259" cy="2511755"/>
            </a:xfrm>
            <a:custGeom>
              <a:avLst/>
              <a:gdLst/>
              <a:ahLst/>
              <a:cxnLst/>
              <a:rect l="l" t="t" r="r" b="b"/>
              <a:pathLst>
                <a:path w="1345044" h="1068019">
                  <a:moveTo>
                    <a:pt x="31750" y="0"/>
                  </a:moveTo>
                  <a:lnTo>
                    <a:pt x="893699" y="0"/>
                  </a:lnTo>
                  <a:cubicBezTo>
                    <a:pt x="911162" y="0"/>
                    <a:pt x="925449" y="14288"/>
                    <a:pt x="925449" y="31750"/>
                  </a:cubicBezTo>
                  <a:lnTo>
                    <a:pt x="925449" y="489521"/>
                  </a:lnTo>
                  <a:cubicBezTo>
                    <a:pt x="925449" y="506984"/>
                    <a:pt x="939736" y="521271"/>
                    <a:pt x="957199" y="521271"/>
                  </a:cubicBezTo>
                  <a:lnTo>
                    <a:pt x="1313294" y="521271"/>
                  </a:lnTo>
                  <a:cubicBezTo>
                    <a:pt x="1330757" y="521271"/>
                    <a:pt x="1345044" y="535559"/>
                    <a:pt x="1345044" y="553021"/>
                  </a:cubicBezTo>
                  <a:lnTo>
                    <a:pt x="1345044" y="1036269"/>
                  </a:lnTo>
                  <a:cubicBezTo>
                    <a:pt x="1345044" y="1053732"/>
                    <a:pt x="1330757" y="1068019"/>
                    <a:pt x="1313294" y="1068019"/>
                  </a:cubicBezTo>
                  <a:lnTo>
                    <a:pt x="31750" y="1068019"/>
                  </a:lnTo>
                  <a:cubicBezTo>
                    <a:pt x="14288" y="1068019"/>
                    <a:pt x="0" y="1053732"/>
                    <a:pt x="0" y="1036269"/>
                  </a:cubicBezTo>
                  <a:lnTo>
                    <a:pt x="0" y="31750"/>
                  </a:lnTo>
                  <a:cubicBezTo>
                    <a:pt x="0" y="14288"/>
                    <a:pt x="14288" y="0"/>
                    <a:pt x="31750" y="0"/>
                  </a:cubicBezTo>
                  <a:close/>
                </a:path>
              </a:pathLst>
            </a:custGeom>
            <a:solidFill>
              <a:srgbClr val="FFFFFF"/>
            </a:solidFill>
            <a:ln w="7290" cap="rnd">
              <a:solidFill>
                <a:srgbClr val="B6CEC5"/>
              </a:solidFill>
              <a:prstDash val="solid"/>
              <a:round/>
            </a:ln>
          </p:spPr>
          <p:txBody>
            <a:bodyPr/>
            <a:lstStyle/>
            <a:p>
              <a:endParaRPr lang="zh-CN" altLang="en-US" dirty="0"/>
            </a:p>
          </p:txBody>
        </p:sp>
      </p:grpSp>
      <p:sp>
        <p:nvSpPr>
          <p:cNvPr id="7" name="TextBox 4">
            <a:extLst>
              <a:ext uri="{FF2B5EF4-FFF2-40B4-BE49-F238E27FC236}">
                <a16:creationId xmlns:a16="http://schemas.microsoft.com/office/drawing/2014/main" id="{ADBC3EDA-5434-B072-0369-64F7979021C5}"/>
              </a:ext>
            </a:extLst>
          </p:cNvPr>
          <p:cNvSpPr txBox="1"/>
          <p:nvPr/>
        </p:nvSpPr>
        <p:spPr>
          <a:xfrm>
            <a:off x="519056" y="107111"/>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a</a:t>
            </a:r>
          </a:p>
        </p:txBody>
      </p:sp>
      <p:sp>
        <p:nvSpPr>
          <p:cNvPr id="8" name="TextBox 5">
            <a:extLst>
              <a:ext uri="{FF2B5EF4-FFF2-40B4-BE49-F238E27FC236}">
                <a16:creationId xmlns:a16="http://schemas.microsoft.com/office/drawing/2014/main" id="{BDE65E3A-EB06-F9D8-4F70-55D863BF89FB}"/>
              </a:ext>
            </a:extLst>
          </p:cNvPr>
          <p:cNvSpPr txBox="1"/>
          <p:nvPr/>
        </p:nvSpPr>
        <p:spPr>
          <a:xfrm>
            <a:off x="677263" y="124527"/>
            <a:ext cx="2531320" cy="123624"/>
          </a:xfrm>
          <a:prstGeom prst="rect">
            <a:avLst/>
          </a:prstGeom>
          <a:noFill/>
        </p:spPr>
        <p:txBody>
          <a:bodyPr wrap="square" lIns="0" tIns="0" rIns="0" bIns="0" anchor="ctr">
            <a:spAutoFit/>
          </a:bodyPr>
          <a:lstStyle/>
          <a:p>
            <a:pPr algn="l">
              <a:lnSpc>
                <a:spcPct val="105000"/>
              </a:lnSpc>
            </a:pPr>
            <a:r>
              <a:rPr sz="822">
                <a:solidFill>
                  <a:srgbClr val="263442"/>
                </a:solidFill>
                <a:latin typeface="Arial"/>
              </a:rPr>
              <a:t>Find: locate ligand regions</a:t>
            </a:r>
          </a:p>
        </p:txBody>
      </p:sp>
      <p:sp>
        <p:nvSpPr>
          <p:cNvPr id="9" name="TextBox 6">
            <a:extLst>
              <a:ext uri="{FF2B5EF4-FFF2-40B4-BE49-F238E27FC236}">
                <a16:creationId xmlns:a16="http://schemas.microsoft.com/office/drawing/2014/main" id="{F3FF857A-DE19-FC06-9455-89983F39C003}"/>
              </a:ext>
            </a:extLst>
          </p:cNvPr>
          <p:cNvSpPr txBox="1"/>
          <p:nvPr/>
        </p:nvSpPr>
        <p:spPr>
          <a:xfrm>
            <a:off x="519056" y="1909702"/>
            <a:ext cx="174028" cy="149656"/>
          </a:xfrm>
          <a:prstGeom prst="rect">
            <a:avLst/>
          </a:prstGeom>
          <a:noFill/>
        </p:spPr>
        <p:txBody>
          <a:bodyPr wrap="square" lIns="0" tIns="0" rIns="0" bIns="0" anchor="ctr">
            <a:spAutoFit/>
          </a:bodyPr>
          <a:lstStyle/>
          <a:p>
            <a:pPr>
              <a:lnSpc>
                <a:spcPct val="105000"/>
              </a:lnSpc>
            </a:pPr>
            <a:r>
              <a:rPr sz="995" b="1" dirty="0">
                <a:solidFill>
                  <a:srgbClr val="263442"/>
                </a:solidFill>
                <a:latin typeface="Arial"/>
              </a:rPr>
              <a:t>b</a:t>
            </a:r>
          </a:p>
        </p:txBody>
      </p:sp>
      <p:sp>
        <p:nvSpPr>
          <p:cNvPr id="10" name="TextBox 7">
            <a:extLst>
              <a:ext uri="{FF2B5EF4-FFF2-40B4-BE49-F238E27FC236}">
                <a16:creationId xmlns:a16="http://schemas.microsoft.com/office/drawing/2014/main" id="{70ECA487-21BB-6209-C18F-3026009B4E59}"/>
              </a:ext>
            </a:extLst>
          </p:cNvPr>
          <p:cNvSpPr txBox="1"/>
          <p:nvPr/>
        </p:nvSpPr>
        <p:spPr>
          <a:xfrm>
            <a:off x="677200" y="1931954"/>
            <a:ext cx="2847735" cy="123624"/>
          </a:xfrm>
          <a:prstGeom prst="rect">
            <a:avLst/>
          </a:prstGeom>
          <a:noFill/>
        </p:spPr>
        <p:txBody>
          <a:bodyPr wrap="square" lIns="0" tIns="0" rIns="0" bIns="0" anchor="ctr">
            <a:spAutoFit/>
          </a:bodyPr>
          <a:lstStyle/>
          <a:p>
            <a:pPr algn="l">
              <a:lnSpc>
                <a:spcPct val="105000"/>
              </a:lnSpc>
            </a:pPr>
            <a:r>
              <a:rPr sz="822" dirty="0">
                <a:solidFill>
                  <a:srgbClr val="263442"/>
                </a:solidFill>
                <a:latin typeface="Arial"/>
              </a:rPr>
              <a:t>Match: candidate-to-identity assignment</a:t>
            </a:r>
          </a:p>
        </p:txBody>
      </p:sp>
      <p:sp>
        <p:nvSpPr>
          <p:cNvPr id="13" name="Find | Density card">
            <a:extLst>
              <a:ext uri="{FF2B5EF4-FFF2-40B4-BE49-F238E27FC236}">
                <a16:creationId xmlns:a16="http://schemas.microsoft.com/office/drawing/2014/main" id="{CAB7453E-57E4-6069-E17B-BEBD584DE9C5}"/>
              </a:ext>
            </a:extLst>
          </p:cNvPr>
          <p:cNvSpPr/>
          <p:nvPr/>
        </p:nvSpPr>
        <p:spPr>
          <a:xfrm>
            <a:off x="540853" y="284774"/>
            <a:ext cx="488504" cy="680292"/>
          </a:xfrm>
          <a:prstGeom prst="roundRect">
            <a:avLst>
              <a:gd name="adj" fmla="val 6000"/>
            </a:avLst>
          </a:prstGeom>
          <a:solidFill>
            <a:srgbClr val="FFFFFF"/>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14" name="TextBox 11">
            <a:extLst>
              <a:ext uri="{FF2B5EF4-FFF2-40B4-BE49-F238E27FC236}">
                <a16:creationId xmlns:a16="http://schemas.microsoft.com/office/drawing/2014/main" id="{E13F9DB9-2915-4D37-1A15-4DD879957FE6}"/>
              </a:ext>
            </a:extLst>
          </p:cNvPr>
          <p:cNvSpPr txBox="1"/>
          <p:nvPr/>
        </p:nvSpPr>
        <p:spPr>
          <a:xfrm>
            <a:off x="460928" y="318294"/>
            <a:ext cx="664471" cy="101503"/>
          </a:xfrm>
          <a:prstGeom prst="rect">
            <a:avLst/>
          </a:prstGeom>
          <a:noFill/>
        </p:spPr>
        <p:txBody>
          <a:bodyPr wrap="square" lIns="0" tIns="0" rIns="0" bIns="0" anchor="ctr">
            <a:spAutoFit/>
          </a:bodyPr>
          <a:lstStyle/>
          <a:p>
            <a:pPr algn="ctr">
              <a:lnSpc>
                <a:spcPct val="105000"/>
              </a:lnSpc>
            </a:pPr>
            <a:r>
              <a:rPr sz="675" dirty="0">
                <a:solidFill>
                  <a:srgbClr val="263442"/>
                </a:solidFill>
                <a:latin typeface="Arial"/>
              </a:rPr>
              <a:t>Density</a:t>
            </a:r>
          </a:p>
        </p:txBody>
      </p:sp>
      <p:sp>
        <p:nvSpPr>
          <p:cNvPr id="235" name="Find | Receptor card">
            <a:extLst>
              <a:ext uri="{FF2B5EF4-FFF2-40B4-BE49-F238E27FC236}">
                <a16:creationId xmlns:a16="http://schemas.microsoft.com/office/drawing/2014/main" id="{C39711EA-1578-1FDC-F7E5-415822DEC84F}"/>
              </a:ext>
            </a:extLst>
          </p:cNvPr>
          <p:cNvSpPr/>
          <p:nvPr/>
        </p:nvSpPr>
        <p:spPr>
          <a:xfrm>
            <a:off x="540852" y="1028349"/>
            <a:ext cx="489611" cy="727754"/>
          </a:xfrm>
          <a:prstGeom prst="roundRect">
            <a:avLst>
              <a:gd name="adj" fmla="val 6000"/>
            </a:avLst>
          </a:prstGeom>
          <a:solidFill>
            <a:srgbClr val="FFFFFF"/>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6" name="TextBox 6212">
            <a:extLst>
              <a:ext uri="{FF2B5EF4-FFF2-40B4-BE49-F238E27FC236}">
                <a16:creationId xmlns:a16="http://schemas.microsoft.com/office/drawing/2014/main" id="{4566817F-CA11-3CA5-4ED5-534E4B65A1C1}"/>
              </a:ext>
            </a:extLst>
          </p:cNvPr>
          <p:cNvSpPr txBox="1"/>
          <p:nvPr/>
        </p:nvSpPr>
        <p:spPr>
          <a:xfrm>
            <a:off x="434702" y="1053973"/>
            <a:ext cx="664471" cy="101503"/>
          </a:xfrm>
          <a:prstGeom prst="rect">
            <a:avLst/>
          </a:prstGeom>
          <a:noFill/>
        </p:spPr>
        <p:txBody>
          <a:bodyPr wrap="square" lIns="0" tIns="0" rIns="0" bIns="0" anchor="ctr">
            <a:spAutoFit/>
          </a:bodyPr>
          <a:lstStyle/>
          <a:p>
            <a:pPr algn="ctr">
              <a:lnSpc>
                <a:spcPct val="105000"/>
              </a:lnSpc>
            </a:pPr>
            <a:r>
              <a:rPr sz="675" dirty="0">
                <a:solidFill>
                  <a:srgbClr val="263442"/>
                </a:solidFill>
                <a:latin typeface="Arial"/>
              </a:rPr>
              <a:t>Receptor</a:t>
            </a:r>
          </a:p>
        </p:txBody>
      </p:sp>
      <p:sp>
        <p:nvSpPr>
          <p:cNvPr id="237" name="Find | 3D voxel U-Net box">
            <a:extLst>
              <a:ext uri="{FF2B5EF4-FFF2-40B4-BE49-F238E27FC236}">
                <a16:creationId xmlns:a16="http://schemas.microsoft.com/office/drawing/2014/main" id="{84C31B5C-DB46-3102-A094-A625CBC3795B}"/>
              </a:ext>
            </a:extLst>
          </p:cNvPr>
          <p:cNvSpPr/>
          <p:nvPr/>
        </p:nvSpPr>
        <p:spPr>
          <a:xfrm>
            <a:off x="1932849" y="284774"/>
            <a:ext cx="2183263" cy="743575"/>
          </a:xfrm>
          <a:prstGeom prst="roundRect">
            <a:avLst>
              <a:gd name="adj" fmla="val 5000"/>
            </a:avLst>
          </a:prstGeom>
          <a:solidFill>
            <a:srgbClr val="F4F6F7"/>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8" name="TextBox 6223">
            <a:extLst>
              <a:ext uri="{FF2B5EF4-FFF2-40B4-BE49-F238E27FC236}">
                <a16:creationId xmlns:a16="http://schemas.microsoft.com/office/drawing/2014/main" id="{D0BEE622-6A06-FAEC-A1B9-E12DAFA59B95}"/>
              </a:ext>
            </a:extLst>
          </p:cNvPr>
          <p:cNvSpPr txBox="1"/>
          <p:nvPr/>
        </p:nvSpPr>
        <p:spPr>
          <a:xfrm>
            <a:off x="1932849" y="310561"/>
            <a:ext cx="2183263" cy="106632"/>
          </a:xfrm>
          <a:prstGeom prst="rect">
            <a:avLst/>
          </a:prstGeom>
          <a:noFill/>
        </p:spPr>
        <p:txBody>
          <a:bodyPr wrap="square" lIns="0" tIns="0" rIns="0" bIns="0" anchor="ctr">
            <a:spAutoFit/>
          </a:bodyPr>
          <a:lstStyle/>
          <a:p>
            <a:pPr algn="ctr">
              <a:lnSpc>
                <a:spcPct val="105000"/>
              </a:lnSpc>
            </a:pPr>
            <a:r>
              <a:rPr sz="709">
                <a:solidFill>
                  <a:srgbClr val="263442"/>
                </a:solidFill>
                <a:latin typeface="Arial"/>
              </a:rPr>
              <a:t>3D voxel U-Net</a:t>
            </a:r>
          </a:p>
        </p:txBody>
      </p:sp>
      <p:sp>
        <p:nvSpPr>
          <p:cNvPr id="239" name="TextBox 6224">
            <a:extLst>
              <a:ext uri="{FF2B5EF4-FFF2-40B4-BE49-F238E27FC236}">
                <a16:creationId xmlns:a16="http://schemas.microsoft.com/office/drawing/2014/main" id="{6162AD09-868A-9802-DD3F-493AE18E658B}"/>
              </a:ext>
            </a:extLst>
          </p:cNvPr>
          <p:cNvSpPr txBox="1"/>
          <p:nvPr/>
        </p:nvSpPr>
        <p:spPr>
          <a:xfrm>
            <a:off x="1932704" y="415407"/>
            <a:ext cx="2183414" cy="84510"/>
          </a:xfrm>
          <a:prstGeom prst="rect">
            <a:avLst/>
          </a:prstGeom>
          <a:noFill/>
        </p:spPr>
        <p:txBody>
          <a:bodyPr wrap="square" lIns="0" tIns="0" rIns="0" bIns="0" anchor="ctr">
            <a:spAutoFit/>
          </a:bodyPr>
          <a:lstStyle/>
          <a:p>
            <a:pPr algn="ctr">
              <a:lnSpc>
                <a:spcPct val="105000"/>
              </a:lnSpc>
            </a:pPr>
            <a:r>
              <a:rPr sz="562" i="1" dirty="0">
                <a:solidFill>
                  <a:srgbClr val="263442"/>
                </a:solidFill>
                <a:latin typeface="Arial"/>
              </a:rPr>
              <a:t>Skip connections</a:t>
            </a:r>
          </a:p>
        </p:txBody>
      </p:sp>
      <p:sp>
        <p:nvSpPr>
          <p:cNvPr id="240" name="TextBox 10003">
            <a:extLst>
              <a:ext uri="{FF2B5EF4-FFF2-40B4-BE49-F238E27FC236}">
                <a16:creationId xmlns:a16="http://schemas.microsoft.com/office/drawing/2014/main" id="{09C48FDC-7786-8263-4A08-E75021FC8287}"/>
              </a:ext>
            </a:extLst>
          </p:cNvPr>
          <p:cNvSpPr txBox="1"/>
          <p:nvPr/>
        </p:nvSpPr>
        <p:spPr>
          <a:xfrm>
            <a:off x="2098966"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Encoder</a:t>
            </a:r>
          </a:p>
        </p:txBody>
      </p:sp>
      <p:sp>
        <p:nvSpPr>
          <p:cNvPr id="241" name="TextBox 10004">
            <a:extLst>
              <a:ext uri="{FF2B5EF4-FFF2-40B4-BE49-F238E27FC236}">
                <a16:creationId xmlns:a16="http://schemas.microsoft.com/office/drawing/2014/main" id="{5D7C6AF6-28C5-C78C-2A6D-53148E9C5409}"/>
              </a:ext>
            </a:extLst>
          </p:cNvPr>
          <p:cNvSpPr txBox="1"/>
          <p:nvPr/>
        </p:nvSpPr>
        <p:spPr>
          <a:xfrm>
            <a:off x="2747617"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Bottleneck</a:t>
            </a:r>
          </a:p>
        </p:txBody>
      </p:sp>
      <p:sp>
        <p:nvSpPr>
          <p:cNvPr id="242" name="TextBox 10005">
            <a:extLst>
              <a:ext uri="{FF2B5EF4-FFF2-40B4-BE49-F238E27FC236}">
                <a16:creationId xmlns:a16="http://schemas.microsoft.com/office/drawing/2014/main" id="{7CC49EB1-DBD1-A7E7-516D-CECCC1D041F1}"/>
              </a:ext>
            </a:extLst>
          </p:cNvPr>
          <p:cNvSpPr txBox="1"/>
          <p:nvPr/>
        </p:nvSpPr>
        <p:spPr>
          <a:xfrm>
            <a:off x="3396268"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Decoder</a:t>
            </a:r>
          </a:p>
        </p:txBody>
      </p:sp>
      <p:sp>
        <p:nvSpPr>
          <p:cNvPr id="243" name="Find | Point Transformer V3 box">
            <a:extLst>
              <a:ext uri="{FF2B5EF4-FFF2-40B4-BE49-F238E27FC236}">
                <a16:creationId xmlns:a16="http://schemas.microsoft.com/office/drawing/2014/main" id="{E6BB0EBE-E97F-0460-89AE-378626BAD4D7}"/>
              </a:ext>
            </a:extLst>
          </p:cNvPr>
          <p:cNvSpPr/>
          <p:nvPr/>
        </p:nvSpPr>
        <p:spPr>
          <a:xfrm>
            <a:off x="1932849" y="1170736"/>
            <a:ext cx="2183263" cy="585368"/>
          </a:xfrm>
          <a:prstGeom prst="roundRect">
            <a:avLst>
              <a:gd name="adj" fmla="val 5000"/>
            </a:avLst>
          </a:prstGeom>
          <a:solidFill>
            <a:srgbClr val="F4F6F7"/>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grpSp>
        <p:nvGrpSpPr>
          <p:cNvPr id="244" name="Find | PTV3 stage 1 (no pseudo)">
            <a:extLst>
              <a:ext uri="{FF2B5EF4-FFF2-40B4-BE49-F238E27FC236}">
                <a16:creationId xmlns:a16="http://schemas.microsoft.com/office/drawing/2014/main" id="{B4F71929-AC06-8CA3-B3DD-0D60585A9033}"/>
              </a:ext>
            </a:extLst>
          </p:cNvPr>
          <p:cNvGrpSpPr/>
          <p:nvPr/>
        </p:nvGrpSpPr>
        <p:grpSpPr>
          <a:xfrm>
            <a:off x="2023818" y="1222153"/>
            <a:ext cx="276863" cy="197759"/>
            <a:chOff x="1837958" y="1438830"/>
            <a:chExt cx="279225" cy="243090"/>
          </a:xfrm>
        </p:grpSpPr>
        <p:sp>
          <p:nvSpPr>
            <p:cNvPr id="245" name="rect_1844">
              <a:extLst>
                <a:ext uri="{FF2B5EF4-FFF2-40B4-BE49-F238E27FC236}">
                  <a16:creationId xmlns:a16="http://schemas.microsoft.com/office/drawing/2014/main" id="{660AA888-4092-6DA6-78D3-4B888E2B2DA3}"/>
                </a:ext>
              </a:extLst>
            </p:cNvPr>
            <p:cNvSpPr/>
            <p:nvPr/>
          </p:nvSpPr>
          <p:spPr>
            <a:xfrm>
              <a:off x="1837958" y="1438830"/>
              <a:ext cx="279225" cy="243090"/>
            </a:xfrm>
            <a:prstGeom prst="roundRect">
              <a:avLst>
                <a:gd name="adj" fmla="val 6757"/>
              </a:avLst>
            </a:prstGeom>
            <a:solidFill>
              <a:srgbClr val="F8F5FC"/>
            </a:solidFill>
            <a:ln w="2540" cap="rnd" cmpd="sng" algn="ctr">
              <a:solidFill>
                <a:srgbClr val="C3D4E6"/>
              </a:solidFill>
              <a:prstDash val="solid"/>
              <a:round/>
              <a:headEnd type="none" w="med" len="med"/>
              <a:tailEnd type="none" w="med" len="med"/>
            </a:ln>
            <a:effectLst/>
          </p:spPr>
        </p:sp>
        <p:sp>
          <p:nvSpPr>
            <p:cNvPr id="246" name="ellipse_1845">
              <a:extLst>
                <a:ext uri="{FF2B5EF4-FFF2-40B4-BE49-F238E27FC236}">
                  <a16:creationId xmlns:a16="http://schemas.microsoft.com/office/drawing/2014/main" id="{8ED69D04-8A29-A5B5-FEDE-87DBF5A86A21}"/>
                </a:ext>
              </a:extLst>
            </p:cNvPr>
            <p:cNvSpPr/>
            <p:nvPr/>
          </p:nvSpPr>
          <p:spPr>
            <a:xfrm>
              <a:off x="1911179" y="154988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7" name="ellipse_1846">
              <a:extLst>
                <a:ext uri="{FF2B5EF4-FFF2-40B4-BE49-F238E27FC236}">
                  <a16:creationId xmlns:a16="http://schemas.microsoft.com/office/drawing/2014/main" id="{2F757B70-05BB-1D52-EAD7-99F943EE0786}"/>
                </a:ext>
              </a:extLst>
            </p:cNvPr>
            <p:cNvSpPr/>
            <p:nvPr/>
          </p:nvSpPr>
          <p:spPr>
            <a:xfrm>
              <a:off x="2016057" y="15691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8" name="ellipse_1847">
              <a:extLst>
                <a:ext uri="{FF2B5EF4-FFF2-40B4-BE49-F238E27FC236}">
                  <a16:creationId xmlns:a16="http://schemas.microsoft.com/office/drawing/2014/main" id="{33900347-5FB5-F6C0-81F6-93C079B537C5}"/>
                </a:ext>
              </a:extLst>
            </p:cNvPr>
            <p:cNvSpPr/>
            <p:nvPr/>
          </p:nvSpPr>
          <p:spPr>
            <a:xfrm>
              <a:off x="1901005" y="1463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9" name="ellipse_1848">
              <a:extLst>
                <a:ext uri="{FF2B5EF4-FFF2-40B4-BE49-F238E27FC236}">
                  <a16:creationId xmlns:a16="http://schemas.microsoft.com/office/drawing/2014/main" id="{D9E3B372-BB0F-C9A4-3974-A8E7AF7737B7}"/>
                </a:ext>
              </a:extLst>
            </p:cNvPr>
            <p:cNvSpPr/>
            <p:nvPr/>
          </p:nvSpPr>
          <p:spPr>
            <a:xfrm>
              <a:off x="1966917" y="149122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0" name="ellipse_1849">
              <a:extLst>
                <a:ext uri="{FF2B5EF4-FFF2-40B4-BE49-F238E27FC236}">
                  <a16:creationId xmlns:a16="http://schemas.microsoft.com/office/drawing/2014/main" id="{65731899-DB97-2E91-5665-E8C978110F71}"/>
                </a:ext>
              </a:extLst>
            </p:cNvPr>
            <p:cNvSpPr/>
            <p:nvPr/>
          </p:nvSpPr>
          <p:spPr>
            <a:xfrm>
              <a:off x="1981202" y="14619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1" name="ellipse_1850">
              <a:extLst>
                <a:ext uri="{FF2B5EF4-FFF2-40B4-BE49-F238E27FC236}">
                  <a16:creationId xmlns:a16="http://schemas.microsoft.com/office/drawing/2014/main" id="{FB870BF7-7DC4-B374-8AD0-46EC506BB29E}"/>
                </a:ext>
              </a:extLst>
            </p:cNvPr>
            <p:cNvSpPr/>
            <p:nvPr/>
          </p:nvSpPr>
          <p:spPr>
            <a:xfrm>
              <a:off x="2025801" y="15227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2" name="ellipse_1851">
              <a:extLst>
                <a:ext uri="{FF2B5EF4-FFF2-40B4-BE49-F238E27FC236}">
                  <a16:creationId xmlns:a16="http://schemas.microsoft.com/office/drawing/2014/main" id="{FB5210B2-4DAF-5841-3925-445BB6BA8E65}"/>
                </a:ext>
              </a:extLst>
            </p:cNvPr>
            <p:cNvSpPr/>
            <p:nvPr/>
          </p:nvSpPr>
          <p:spPr>
            <a:xfrm>
              <a:off x="1923657" y="157409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3" name="ellipse_1852">
              <a:extLst>
                <a:ext uri="{FF2B5EF4-FFF2-40B4-BE49-F238E27FC236}">
                  <a16:creationId xmlns:a16="http://schemas.microsoft.com/office/drawing/2014/main" id="{5E297BB0-4B0B-7393-6335-0A8D413997FE}"/>
                </a:ext>
              </a:extLst>
            </p:cNvPr>
            <p:cNvSpPr/>
            <p:nvPr/>
          </p:nvSpPr>
          <p:spPr>
            <a:xfrm>
              <a:off x="2046951" y="149268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4" name="ellipse_1853">
              <a:extLst>
                <a:ext uri="{FF2B5EF4-FFF2-40B4-BE49-F238E27FC236}">
                  <a16:creationId xmlns:a16="http://schemas.microsoft.com/office/drawing/2014/main" id="{3460EDB7-F270-4A51-230E-76F07C518E5B}"/>
                </a:ext>
              </a:extLst>
            </p:cNvPr>
            <p:cNvSpPr/>
            <p:nvPr/>
          </p:nvSpPr>
          <p:spPr>
            <a:xfrm>
              <a:off x="1971403" y="1621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5" name="ellipse_1854">
              <a:extLst>
                <a:ext uri="{FF2B5EF4-FFF2-40B4-BE49-F238E27FC236}">
                  <a16:creationId xmlns:a16="http://schemas.microsoft.com/office/drawing/2014/main" id="{D7F22E2B-29AF-AAFC-9390-4763B76AC824}"/>
                </a:ext>
              </a:extLst>
            </p:cNvPr>
            <p:cNvSpPr/>
            <p:nvPr/>
          </p:nvSpPr>
          <p:spPr>
            <a:xfrm>
              <a:off x="1916632" y="148370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56" name="Find | PTV3 stage 2 (no pseudo)">
            <a:extLst>
              <a:ext uri="{FF2B5EF4-FFF2-40B4-BE49-F238E27FC236}">
                <a16:creationId xmlns:a16="http://schemas.microsoft.com/office/drawing/2014/main" id="{F4A044B8-F6CD-9A28-3075-23E9F1427BD6}"/>
              </a:ext>
            </a:extLst>
          </p:cNvPr>
          <p:cNvGrpSpPr/>
          <p:nvPr/>
        </p:nvGrpSpPr>
        <p:grpSpPr>
          <a:xfrm>
            <a:off x="2454581" y="1218198"/>
            <a:ext cx="269656" cy="205670"/>
            <a:chOff x="2276505" y="1465110"/>
            <a:chExt cx="243090" cy="190530"/>
          </a:xfrm>
        </p:grpSpPr>
        <p:sp>
          <p:nvSpPr>
            <p:cNvPr id="257" name="rect_1860">
              <a:extLst>
                <a:ext uri="{FF2B5EF4-FFF2-40B4-BE49-F238E27FC236}">
                  <a16:creationId xmlns:a16="http://schemas.microsoft.com/office/drawing/2014/main" id="{2A2BC9FE-9931-3C68-E213-012D2334D100}"/>
                </a:ext>
              </a:extLst>
            </p:cNvPr>
            <p:cNvSpPr/>
            <p:nvPr/>
          </p:nvSpPr>
          <p:spPr>
            <a:xfrm>
              <a:off x="2276505" y="1465110"/>
              <a:ext cx="243090" cy="190530"/>
            </a:xfrm>
            <a:prstGeom prst="roundRect">
              <a:avLst>
                <a:gd name="adj" fmla="val 8621"/>
              </a:avLst>
            </a:prstGeom>
            <a:solidFill>
              <a:srgbClr val="F8F5FC"/>
            </a:solidFill>
            <a:ln w="2540" cap="rnd" cmpd="sng" algn="ctr">
              <a:solidFill>
                <a:srgbClr val="C3D4E6"/>
              </a:solidFill>
              <a:prstDash val="solid"/>
              <a:round/>
              <a:headEnd type="none" w="med" len="med"/>
              <a:tailEnd type="none" w="med" len="med"/>
            </a:ln>
            <a:effectLst/>
          </p:spPr>
        </p:sp>
        <p:sp>
          <p:nvSpPr>
            <p:cNvPr id="258" name="ellipse_1861">
              <a:extLst>
                <a:ext uri="{FF2B5EF4-FFF2-40B4-BE49-F238E27FC236}">
                  <a16:creationId xmlns:a16="http://schemas.microsoft.com/office/drawing/2014/main" id="{0D3FC1DA-E4D9-46A0-549F-86D3BA55D6FD}"/>
                </a:ext>
              </a:extLst>
            </p:cNvPr>
            <p:cNvSpPr/>
            <p:nvPr/>
          </p:nvSpPr>
          <p:spPr>
            <a:xfrm>
              <a:off x="2443383" y="14753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9" name="ellipse_1862">
              <a:extLst>
                <a:ext uri="{FF2B5EF4-FFF2-40B4-BE49-F238E27FC236}">
                  <a16:creationId xmlns:a16="http://schemas.microsoft.com/office/drawing/2014/main" id="{2E76A36E-124A-FF28-5F0C-9D8A556CAB6E}"/>
                </a:ext>
              </a:extLst>
            </p:cNvPr>
            <p:cNvSpPr/>
            <p:nvPr/>
          </p:nvSpPr>
          <p:spPr>
            <a:xfrm>
              <a:off x="2334302" y="149054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0" name="ellipse_1863">
              <a:extLst>
                <a:ext uri="{FF2B5EF4-FFF2-40B4-BE49-F238E27FC236}">
                  <a16:creationId xmlns:a16="http://schemas.microsoft.com/office/drawing/2014/main" id="{D535EE24-6485-F339-2CB7-F9EF085CB943}"/>
                </a:ext>
              </a:extLst>
            </p:cNvPr>
            <p:cNvSpPr/>
            <p:nvPr/>
          </p:nvSpPr>
          <p:spPr>
            <a:xfrm>
              <a:off x="2421391" y="151821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1" name="ellipse_1864">
              <a:extLst>
                <a:ext uri="{FF2B5EF4-FFF2-40B4-BE49-F238E27FC236}">
                  <a16:creationId xmlns:a16="http://schemas.microsoft.com/office/drawing/2014/main" id="{3E3B8E8E-0D51-B463-1AC5-8ABBD0D94E5F}"/>
                </a:ext>
              </a:extLst>
            </p:cNvPr>
            <p:cNvSpPr/>
            <p:nvPr/>
          </p:nvSpPr>
          <p:spPr>
            <a:xfrm>
              <a:off x="2395798" y="148175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2" name="ellipse_1865">
              <a:extLst>
                <a:ext uri="{FF2B5EF4-FFF2-40B4-BE49-F238E27FC236}">
                  <a16:creationId xmlns:a16="http://schemas.microsoft.com/office/drawing/2014/main" id="{A78CC97C-CF00-B4B4-232A-6540F415567F}"/>
                </a:ext>
              </a:extLst>
            </p:cNvPr>
            <p:cNvSpPr/>
            <p:nvPr/>
          </p:nvSpPr>
          <p:spPr>
            <a:xfrm>
              <a:off x="2345071" y="160888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3" name="ellipse_1866">
              <a:extLst>
                <a:ext uri="{FF2B5EF4-FFF2-40B4-BE49-F238E27FC236}">
                  <a16:creationId xmlns:a16="http://schemas.microsoft.com/office/drawing/2014/main" id="{1C7DD56E-5535-8B2E-615C-21EEB3FC0B60}"/>
                </a:ext>
              </a:extLst>
            </p:cNvPr>
            <p:cNvSpPr/>
            <p:nvPr/>
          </p:nvSpPr>
          <p:spPr>
            <a:xfrm>
              <a:off x="2455927" y="15235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4" name="ellipse_1867">
              <a:extLst>
                <a:ext uri="{FF2B5EF4-FFF2-40B4-BE49-F238E27FC236}">
                  <a16:creationId xmlns:a16="http://schemas.microsoft.com/office/drawing/2014/main" id="{53E5DFEF-A738-E1E2-6D82-562898867479}"/>
                </a:ext>
              </a:extLst>
            </p:cNvPr>
            <p:cNvSpPr/>
            <p:nvPr/>
          </p:nvSpPr>
          <p:spPr>
            <a:xfrm>
              <a:off x="2415612" y="15382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5" name="ellipse_1868">
              <a:extLst>
                <a:ext uri="{FF2B5EF4-FFF2-40B4-BE49-F238E27FC236}">
                  <a16:creationId xmlns:a16="http://schemas.microsoft.com/office/drawing/2014/main" id="{9F15DB89-4578-E9D4-B66C-9772D337DE92}"/>
                </a:ext>
              </a:extLst>
            </p:cNvPr>
            <p:cNvSpPr/>
            <p:nvPr/>
          </p:nvSpPr>
          <p:spPr>
            <a:xfrm>
              <a:off x="2384162" y="155385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66" name="Find | PTV3 stage 3 (no pseudo)">
            <a:extLst>
              <a:ext uri="{FF2B5EF4-FFF2-40B4-BE49-F238E27FC236}">
                <a16:creationId xmlns:a16="http://schemas.microsoft.com/office/drawing/2014/main" id="{8E5AF76E-A5D2-A1C4-1196-A1FB989CBECC}"/>
              </a:ext>
            </a:extLst>
          </p:cNvPr>
          <p:cNvGrpSpPr/>
          <p:nvPr/>
        </p:nvGrpSpPr>
        <p:grpSpPr>
          <a:xfrm>
            <a:off x="2902421" y="1230063"/>
            <a:ext cx="244120" cy="181939"/>
            <a:chOff x="2703555" y="1491390"/>
            <a:chExt cx="190530" cy="137970"/>
          </a:xfrm>
        </p:grpSpPr>
        <p:sp>
          <p:nvSpPr>
            <p:cNvPr id="267" name="rect_1874">
              <a:extLst>
                <a:ext uri="{FF2B5EF4-FFF2-40B4-BE49-F238E27FC236}">
                  <a16:creationId xmlns:a16="http://schemas.microsoft.com/office/drawing/2014/main" id="{75101B77-5988-FEB7-22BD-46F0384ADBC8}"/>
                </a:ext>
              </a:extLst>
            </p:cNvPr>
            <p:cNvSpPr/>
            <p:nvPr/>
          </p:nvSpPr>
          <p:spPr>
            <a:xfrm>
              <a:off x="2703555" y="1491390"/>
              <a:ext cx="190530" cy="137970"/>
            </a:xfrm>
            <a:prstGeom prst="roundRect">
              <a:avLst>
                <a:gd name="adj" fmla="val 11905"/>
              </a:avLst>
            </a:prstGeom>
            <a:solidFill>
              <a:srgbClr val="F8F5FC"/>
            </a:solidFill>
            <a:ln w="2540" cap="rnd" cmpd="sng" algn="ctr">
              <a:solidFill>
                <a:srgbClr val="C3D4E6"/>
              </a:solidFill>
              <a:prstDash val="solid"/>
              <a:round/>
              <a:headEnd type="none" w="med" len="med"/>
              <a:tailEnd type="none" w="med" len="med"/>
            </a:ln>
            <a:effectLst/>
          </p:spPr>
        </p:sp>
        <p:sp>
          <p:nvSpPr>
            <p:cNvPr id="268" name="ellipse_1875">
              <a:extLst>
                <a:ext uri="{FF2B5EF4-FFF2-40B4-BE49-F238E27FC236}">
                  <a16:creationId xmlns:a16="http://schemas.microsoft.com/office/drawing/2014/main" id="{0F3768B9-45DC-D239-6ECE-6B199905A0E6}"/>
                </a:ext>
              </a:extLst>
            </p:cNvPr>
            <p:cNvSpPr/>
            <p:nvPr/>
          </p:nvSpPr>
          <p:spPr>
            <a:xfrm>
              <a:off x="2782342" y="152486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9" name="ellipse_1876">
              <a:extLst>
                <a:ext uri="{FF2B5EF4-FFF2-40B4-BE49-F238E27FC236}">
                  <a16:creationId xmlns:a16="http://schemas.microsoft.com/office/drawing/2014/main" id="{9AC2E9D9-EA81-CB60-9668-376E55C3B65A}"/>
                </a:ext>
              </a:extLst>
            </p:cNvPr>
            <p:cNvSpPr/>
            <p:nvPr/>
          </p:nvSpPr>
          <p:spPr>
            <a:xfrm>
              <a:off x="2750750" y="159446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0" name="ellipse_1877">
              <a:extLst>
                <a:ext uri="{FF2B5EF4-FFF2-40B4-BE49-F238E27FC236}">
                  <a16:creationId xmlns:a16="http://schemas.microsoft.com/office/drawing/2014/main" id="{193512C0-B984-BF26-53B2-A4C133832B19}"/>
                </a:ext>
              </a:extLst>
            </p:cNvPr>
            <p:cNvSpPr/>
            <p:nvPr/>
          </p:nvSpPr>
          <p:spPr>
            <a:xfrm>
              <a:off x="2743887" y="14971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1" name="ellipse_1878">
              <a:extLst>
                <a:ext uri="{FF2B5EF4-FFF2-40B4-BE49-F238E27FC236}">
                  <a16:creationId xmlns:a16="http://schemas.microsoft.com/office/drawing/2014/main" id="{010957FC-182F-1FF9-1554-385555C7E5BB}"/>
                </a:ext>
              </a:extLst>
            </p:cNvPr>
            <p:cNvSpPr/>
            <p:nvPr/>
          </p:nvSpPr>
          <p:spPr>
            <a:xfrm>
              <a:off x="2833390" y="151132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2" name="ellipse_1879">
              <a:extLst>
                <a:ext uri="{FF2B5EF4-FFF2-40B4-BE49-F238E27FC236}">
                  <a16:creationId xmlns:a16="http://schemas.microsoft.com/office/drawing/2014/main" id="{D3BED3D3-6945-FBFB-0ADC-29AB3D61D264}"/>
                </a:ext>
              </a:extLst>
            </p:cNvPr>
            <p:cNvSpPr/>
            <p:nvPr/>
          </p:nvSpPr>
          <p:spPr>
            <a:xfrm>
              <a:off x="2831792" y="156772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73" name="Find | PTV3 stage 4 (no pseudo)">
            <a:extLst>
              <a:ext uri="{FF2B5EF4-FFF2-40B4-BE49-F238E27FC236}">
                <a16:creationId xmlns:a16="http://schemas.microsoft.com/office/drawing/2014/main" id="{6152C243-7C11-72B4-655A-F6C20103F058}"/>
              </a:ext>
            </a:extLst>
          </p:cNvPr>
          <p:cNvGrpSpPr/>
          <p:nvPr/>
        </p:nvGrpSpPr>
        <p:grpSpPr>
          <a:xfrm>
            <a:off x="3324724" y="1218198"/>
            <a:ext cx="269656" cy="205670"/>
            <a:chOff x="3097755" y="1465110"/>
            <a:chExt cx="243090" cy="190530"/>
          </a:xfrm>
        </p:grpSpPr>
        <p:sp>
          <p:nvSpPr>
            <p:cNvPr id="274" name="rect_1885">
              <a:extLst>
                <a:ext uri="{FF2B5EF4-FFF2-40B4-BE49-F238E27FC236}">
                  <a16:creationId xmlns:a16="http://schemas.microsoft.com/office/drawing/2014/main" id="{02A84936-E0C4-22EE-AB39-B8147866C1E6}"/>
                </a:ext>
              </a:extLst>
            </p:cNvPr>
            <p:cNvSpPr/>
            <p:nvPr/>
          </p:nvSpPr>
          <p:spPr>
            <a:xfrm>
              <a:off x="3097755" y="1465110"/>
              <a:ext cx="243090" cy="190530"/>
            </a:xfrm>
            <a:prstGeom prst="roundRect">
              <a:avLst>
                <a:gd name="adj" fmla="val 8621"/>
              </a:avLst>
            </a:prstGeom>
            <a:solidFill>
              <a:srgbClr val="F8F5FC"/>
            </a:solidFill>
            <a:ln w="2540" cap="rnd" cmpd="sng" algn="ctr">
              <a:solidFill>
                <a:srgbClr val="C3D4E6"/>
              </a:solidFill>
              <a:prstDash val="solid"/>
              <a:round/>
              <a:headEnd type="none" w="med" len="med"/>
              <a:tailEnd type="none" w="med" len="med"/>
            </a:ln>
            <a:effectLst/>
          </p:spPr>
        </p:sp>
        <p:sp>
          <p:nvSpPr>
            <p:cNvPr id="275" name="ellipse_1886">
              <a:extLst>
                <a:ext uri="{FF2B5EF4-FFF2-40B4-BE49-F238E27FC236}">
                  <a16:creationId xmlns:a16="http://schemas.microsoft.com/office/drawing/2014/main" id="{28C5B77C-D4DA-25CA-7F5E-FFB406D4948B}"/>
                </a:ext>
              </a:extLst>
            </p:cNvPr>
            <p:cNvSpPr/>
            <p:nvPr/>
          </p:nvSpPr>
          <p:spPr>
            <a:xfrm>
              <a:off x="3274804" y="154785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6" name="ellipse_1887">
              <a:extLst>
                <a:ext uri="{FF2B5EF4-FFF2-40B4-BE49-F238E27FC236}">
                  <a16:creationId xmlns:a16="http://schemas.microsoft.com/office/drawing/2014/main" id="{4B9C2CC8-3618-CEA6-223F-481DE7645A74}"/>
                </a:ext>
              </a:extLst>
            </p:cNvPr>
            <p:cNvSpPr/>
            <p:nvPr/>
          </p:nvSpPr>
          <p:spPr>
            <a:xfrm>
              <a:off x="3235593" y="156879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7" name="ellipse_1888">
              <a:extLst>
                <a:ext uri="{FF2B5EF4-FFF2-40B4-BE49-F238E27FC236}">
                  <a16:creationId xmlns:a16="http://schemas.microsoft.com/office/drawing/2014/main" id="{116AA07D-1658-6583-2048-22DAA979C713}"/>
                </a:ext>
              </a:extLst>
            </p:cNvPr>
            <p:cNvSpPr/>
            <p:nvPr/>
          </p:nvSpPr>
          <p:spPr>
            <a:xfrm>
              <a:off x="3215524" y="154839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8" name="ellipse_1889">
              <a:extLst>
                <a:ext uri="{FF2B5EF4-FFF2-40B4-BE49-F238E27FC236}">
                  <a16:creationId xmlns:a16="http://schemas.microsoft.com/office/drawing/2014/main" id="{B9996B1C-4365-A5B2-A0FA-BEEE1AE3580D}"/>
                </a:ext>
              </a:extLst>
            </p:cNvPr>
            <p:cNvSpPr/>
            <p:nvPr/>
          </p:nvSpPr>
          <p:spPr>
            <a:xfrm>
              <a:off x="3114632" y="15799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9" name="ellipse_1890">
              <a:extLst>
                <a:ext uri="{FF2B5EF4-FFF2-40B4-BE49-F238E27FC236}">
                  <a16:creationId xmlns:a16="http://schemas.microsoft.com/office/drawing/2014/main" id="{B24EA66B-C475-FD74-3653-99240EA2FC7D}"/>
                </a:ext>
              </a:extLst>
            </p:cNvPr>
            <p:cNvSpPr/>
            <p:nvPr/>
          </p:nvSpPr>
          <p:spPr>
            <a:xfrm>
              <a:off x="3288227" y="158414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0" name="ellipse_1891">
              <a:extLst>
                <a:ext uri="{FF2B5EF4-FFF2-40B4-BE49-F238E27FC236}">
                  <a16:creationId xmlns:a16="http://schemas.microsoft.com/office/drawing/2014/main" id="{7C05A257-A858-E4EC-CE72-2E262BB52B07}"/>
                </a:ext>
              </a:extLst>
            </p:cNvPr>
            <p:cNvSpPr/>
            <p:nvPr/>
          </p:nvSpPr>
          <p:spPr>
            <a:xfrm>
              <a:off x="3206468" y="16100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1" name="ellipse_1892">
              <a:extLst>
                <a:ext uri="{FF2B5EF4-FFF2-40B4-BE49-F238E27FC236}">
                  <a16:creationId xmlns:a16="http://schemas.microsoft.com/office/drawing/2014/main" id="{5029BF78-C694-94BA-2390-D6FC0A6BFD81}"/>
                </a:ext>
              </a:extLst>
            </p:cNvPr>
            <p:cNvSpPr/>
            <p:nvPr/>
          </p:nvSpPr>
          <p:spPr>
            <a:xfrm>
              <a:off x="3224851" y="161218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2" name="ellipse_1893">
              <a:extLst>
                <a:ext uri="{FF2B5EF4-FFF2-40B4-BE49-F238E27FC236}">
                  <a16:creationId xmlns:a16="http://schemas.microsoft.com/office/drawing/2014/main" id="{B400169A-5E49-FEE5-1915-FCB9E751F312}"/>
                </a:ext>
              </a:extLst>
            </p:cNvPr>
            <p:cNvSpPr/>
            <p:nvPr/>
          </p:nvSpPr>
          <p:spPr>
            <a:xfrm>
              <a:off x="3255857" y="14772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83" name="Find | PTV3 stage 5 (no pseudo)">
            <a:extLst>
              <a:ext uri="{FF2B5EF4-FFF2-40B4-BE49-F238E27FC236}">
                <a16:creationId xmlns:a16="http://schemas.microsoft.com/office/drawing/2014/main" id="{FE5D4BB8-AE08-CFDC-14F9-58D62B643799}"/>
              </a:ext>
            </a:extLst>
          </p:cNvPr>
          <p:cNvGrpSpPr/>
          <p:nvPr/>
        </p:nvGrpSpPr>
        <p:grpSpPr>
          <a:xfrm>
            <a:off x="3748279" y="1222153"/>
            <a:ext cx="276863" cy="197759"/>
            <a:chOff x="3473888" y="1438830"/>
            <a:chExt cx="279225" cy="243090"/>
          </a:xfrm>
        </p:grpSpPr>
        <p:sp>
          <p:nvSpPr>
            <p:cNvPr id="284" name="rect_1899">
              <a:extLst>
                <a:ext uri="{FF2B5EF4-FFF2-40B4-BE49-F238E27FC236}">
                  <a16:creationId xmlns:a16="http://schemas.microsoft.com/office/drawing/2014/main" id="{3C966A44-931E-3C61-C3E2-9910BF785D0E}"/>
                </a:ext>
              </a:extLst>
            </p:cNvPr>
            <p:cNvSpPr/>
            <p:nvPr/>
          </p:nvSpPr>
          <p:spPr>
            <a:xfrm>
              <a:off x="3473888" y="1438830"/>
              <a:ext cx="279225" cy="243090"/>
            </a:xfrm>
            <a:prstGeom prst="roundRect">
              <a:avLst>
                <a:gd name="adj" fmla="val 6757"/>
              </a:avLst>
            </a:prstGeom>
            <a:solidFill>
              <a:srgbClr val="F8F5FC"/>
            </a:solidFill>
            <a:ln w="2540" cap="rnd" cmpd="sng" algn="ctr">
              <a:solidFill>
                <a:srgbClr val="C3D4E6"/>
              </a:solidFill>
              <a:prstDash val="solid"/>
              <a:round/>
              <a:headEnd type="none" w="med" len="med"/>
              <a:tailEnd type="none" w="med" len="med"/>
            </a:ln>
            <a:effectLst/>
          </p:spPr>
        </p:sp>
        <p:sp>
          <p:nvSpPr>
            <p:cNvPr id="285" name="ellipse_1900">
              <a:extLst>
                <a:ext uri="{FF2B5EF4-FFF2-40B4-BE49-F238E27FC236}">
                  <a16:creationId xmlns:a16="http://schemas.microsoft.com/office/drawing/2014/main" id="{0734BB70-ADDB-68EE-E4C9-F1E9F19AF6E7}"/>
                </a:ext>
              </a:extLst>
            </p:cNvPr>
            <p:cNvSpPr/>
            <p:nvPr/>
          </p:nvSpPr>
          <p:spPr>
            <a:xfrm>
              <a:off x="3538819" y="148253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6" name="ellipse_1901">
              <a:extLst>
                <a:ext uri="{FF2B5EF4-FFF2-40B4-BE49-F238E27FC236}">
                  <a16:creationId xmlns:a16="http://schemas.microsoft.com/office/drawing/2014/main" id="{50CDA3FC-9E47-A0FF-54FE-0B291B80C55E}"/>
                </a:ext>
              </a:extLst>
            </p:cNvPr>
            <p:cNvSpPr/>
            <p:nvPr/>
          </p:nvSpPr>
          <p:spPr>
            <a:xfrm>
              <a:off x="3631999" y="157809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7" name="ellipse_1902">
              <a:extLst>
                <a:ext uri="{FF2B5EF4-FFF2-40B4-BE49-F238E27FC236}">
                  <a16:creationId xmlns:a16="http://schemas.microsoft.com/office/drawing/2014/main" id="{FDEE2D57-7D4E-037C-452C-66A797AB07C9}"/>
                </a:ext>
              </a:extLst>
            </p:cNvPr>
            <p:cNvSpPr/>
            <p:nvPr/>
          </p:nvSpPr>
          <p:spPr>
            <a:xfrm>
              <a:off x="3687564" y="15901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8" name="ellipse_1903">
              <a:extLst>
                <a:ext uri="{FF2B5EF4-FFF2-40B4-BE49-F238E27FC236}">
                  <a16:creationId xmlns:a16="http://schemas.microsoft.com/office/drawing/2014/main" id="{B2C7060E-B2BB-F02D-5B6F-B7D323B087B4}"/>
                </a:ext>
              </a:extLst>
            </p:cNvPr>
            <p:cNvSpPr/>
            <p:nvPr/>
          </p:nvSpPr>
          <p:spPr>
            <a:xfrm>
              <a:off x="3686262" y="162539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9" name="ellipse_1904">
              <a:extLst>
                <a:ext uri="{FF2B5EF4-FFF2-40B4-BE49-F238E27FC236}">
                  <a16:creationId xmlns:a16="http://schemas.microsoft.com/office/drawing/2014/main" id="{7DE1C447-AFD4-DD7C-5DE0-0E96E8153D12}"/>
                </a:ext>
              </a:extLst>
            </p:cNvPr>
            <p:cNvSpPr/>
            <p:nvPr/>
          </p:nvSpPr>
          <p:spPr>
            <a:xfrm>
              <a:off x="3673847" y="145725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0" name="ellipse_1905">
              <a:extLst>
                <a:ext uri="{FF2B5EF4-FFF2-40B4-BE49-F238E27FC236}">
                  <a16:creationId xmlns:a16="http://schemas.microsoft.com/office/drawing/2014/main" id="{536BBD44-5D8E-E642-7EFE-DC301B9D3F7F}"/>
                </a:ext>
              </a:extLst>
            </p:cNvPr>
            <p:cNvSpPr/>
            <p:nvPr/>
          </p:nvSpPr>
          <p:spPr>
            <a:xfrm>
              <a:off x="3580150" y="160304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1" name="ellipse_1906">
              <a:extLst>
                <a:ext uri="{FF2B5EF4-FFF2-40B4-BE49-F238E27FC236}">
                  <a16:creationId xmlns:a16="http://schemas.microsoft.com/office/drawing/2014/main" id="{2D018CC6-8BB4-0573-830A-62F9771BB455}"/>
                </a:ext>
              </a:extLst>
            </p:cNvPr>
            <p:cNvSpPr/>
            <p:nvPr/>
          </p:nvSpPr>
          <p:spPr>
            <a:xfrm>
              <a:off x="3499431" y="147999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2" name="ellipse_1907">
              <a:extLst>
                <a:ext uri="{FF2B5EF4-FFF2-40B4-BE49-F238E27FC236}">
                  <a16:creationId xmlns:a16="http://schemas.microsoft.com/office/drawing/2014/main" id="{3D9BABC9-7179-80DF-931B-76C5D153BFA2}"/>
                </a:ext>
              </a:extLst>
            </p:cNvPr>
            <p:cNvSpPr/>
            <p:nvPr/>
          </p:nvSpPr>
          <p:spPr>
            <a:xfrm>
              <a:off x="3698498" y="163375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3" name="ellipse_1908">
              <a:extLst>
                <a:ext uri="{FF2B5EF4-FFF2-40B4-BE49-F238E27FC236}">
                  <a16:creationId xmlns:a16="http://schemas.microsoft.com/office/drawing/2014/main" id="{BF41BEF8-8F67-637A-F426-1015DD3C37FC}"/>
                </a:ext>
              </a:extLst>
            </p:cNvPr>
            <p:cNvSpPr/>
            <p:nvPr/>
          </p:nvSpPr>
          <p:spPr>
            <a:xfrm>
              <a:off x="3664475" y="160668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4" name="ellipse_1909">
              <a:extLst>
                <a:ext uri="{FF2B5EF4-FFF2-40B4-BE49-F238E27FC236}">
                  <a16:creationId xmlns:a16="http://schemas.microsoft.com/office/drawing/2014/main" id="{E57407DB-12F2-A10B-73ED-904E74E89684}"/>
                </a:ext>
              </a:extLst>
            </p:cNvPr>
            <p:cNvSpPr/>
            <p:nvPr/>
          </p:nvSpPr>
          <p:spPr>
            <a:xfrm>
              <a:off x="3577670" y="157500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sp>
        <p:nvSpPr>
          <p:cNvPr id="297" name="TextBox 12152">
            <a:extLst>
              <a:ext uri="{FF2B5EF4-FFF2-40B4-BE49-F238E27FC236}">
                <a16:creationId xmlns:a16="http://schemas.microsoft.com/office/drawing/2014/main" id="{DA95DC65-9861-CC7E-7EFC-4B9E07722C91}"/>
              </a:ext>
            </a:extLst>
          </p:cNvPr>
          <p:cNvSpPr txBox="1"/>
          <p:nvPr/>
        </p:nvSpPr>
        <p:spPr>
          <a:xfrm>
            <a:off x="1932849" y="1615773"/>
            <a:ext cx="2183263" cy="106632"/>
          </a:xfrm>
          <a:prstGeom prst="rect">
            <a:avLst/>
          </a:prstGeom>
          <a:noFill/>
        </p:spPr>
        <p:txBody>
          <a:bodyPr wrap="square" lIns="0" tIns="0" rIns="0" bIns="0" anchor="ctr">
            <a:spAutoFit/>
          </a:bodyPr>
          <a:lstStyle/>
          <a:p>
            <a:pPr algn="ctr">
              <a:lnSpc>
                <a:spcPct val="105000"/>
              </a:lnSpc>
            </a:pPr>
            <a:r>
              <a:rPr sz="709">
                <a:solidFill>
                  <a:srgbClr val="263442"/>
                </a:solidFill>
                <a:latin typeface="Arial"/>
              </a:rPr>
              <a:t>Point Transformer V3</a:t>
            </a:r>
          </a:p>
        </p:txBody>
      </p:sp>
      <p:sp>
        <p:nvSpPr>
          <p:cNvPr id="298" name="TextBox 12153">
            <a:extLst>
              <a:ext uri="{FF2B5EF4-FFF2-40B4-BE49-F238E27FC236}">
                <a16:creationId xmlns:a16="http://schemas.microsoft.com/office/drawing/2014/main" id="{522E41DD-5F6E-76BD-E92F-5CBA886A651B}"/>
              </a:ext>
            </a:extLst>
          </p:cNvPr>
          <p:cNvSpPr txBox="1"/>
          <p:nvPr/>
        </p:nvSpPr>
        <p:spPr>
          <a:xfrm>
            <a:off x="2779258" y="1058360"/>
            <a:ext cx="767306" cy="88422"/>
          </a:xfrm>
          <a:prstGeom prst="rect">
            <a:avLst/>
          </a:prstGeom>
          <a:noFill/>
        </p:spPr>
        <p:txBody>
          <a:bodyPr wrap="square" lIns="0" tIns="0" rIns="0" bIns="0" anchor="ctr">
            <a:spAutoFit/>
          </a:bodyPr>
          <a:lstStyle/>
          <a:p>
            <a:pPr algn="ctr">
              <a:lnSpc>
                <a:spcPct val="105000"/>
              </a:lnSpc>
            </a:pPr>
            <a:r>
              <a:rPr lang="en-US" sz="588" dirty="0">
                <a:solidFill>
                  <a:srgbClr val="263442"/>
                </a:solidFill>
                <a:latin typeface="Arial"/>
              </a:rPr>
              <a:t>F</a:t>
            </a:r>
            <a:r>
              <a:rPr sz="588" dirty="0">
                <a:solidFill>
                  <a:srgbClr val="263442"/>
                </a:solidFill>
                <a:latin typeface="Arial"/>
              </a:rPr>
              <a:t>usion</a:t>
            </a:r>
          </a:p>
        </p:txBody>
      </p:sp>
      <p:sp>
        <p:nvSpPr>
          <p:cNvPr id="299" name="Find | Blobs output card">
            <a:extLst>
              <a:ext uri="{FF2B5EF4-FFF2-40B4-BE49-F238E27FC236}">
                <a16:creationId xmlns:a16="http://schemas.microsoft.com/office/drawing/2014/main" id="{6A602B9B-DE58-7AA0-FDBA-741F60C78A9B}"/>
              </a:ext>
            </a:extLst>
          </p:cNvPr>
          <p:cNvSpPr/>
          <p:nvPr/>
        </p:nvSpPr>
        <p:spPr>
          <a:xfrm>
            <a:off x="4300068" y="284775"/>
            <a:ext cx="442980" cy="1471328"/>
          </a:xfrm>
          <a:prstGeom prst="roundRect">
            <a:avLst>
              <a:gd name="adj" fmla="val 6000"/>
            </a:avLst>
          </a:prstGeom>
          <a:solidFill>
            <a:srgbClr val="FFFFFF"/>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300" name="TextBox 12155">
            <a:extLst>
              <a:ext uri="{FF2B5EF4-FFF2-40B4-BE49-F238E27FC236}">
                <a16:creationId xmlns:a16="http://schemas.microsoft.com/office/drawing/2014/main" id="{1F7C0F6F-D082-C8AA-DE11-4286EF42AADB}"/>
              </a:ext>
            </a:extLst>
          </p:cNvPr>
          <p:cNvSpPr txBox="1"/>
          <p:nvPr/>
        </p:nvSpPr>
        <p:spPr>
          <a:xfrm>
            <a:off x="4185689" y="307007"/>
            <a:ext cx="696113" cy="111954"/>
          </a:xfrm>
          <a:prstGeom prst="rect">
            <a:avLst/>
          </a:prstGeom>
          <a:noFill/>
        </p:spPr>
        <p:txBody>
          <a:bodyPr wrap="square" lIns="0" tIns="0" rIns="0" bIns="0" anchor="ctr">
            <a:spAutoFit/>
          </a:bodyPr>
          <a:lstStyle/>
          <a:p>
            <a:pPr algn="ctr">
              <a:lnSpc>
                <a:spcPct val="105000"/>
              </a:lnSpc>
            </a:pPr>
            <a:r>
              <a:rPr sz="744" dirty="0">
                <a:solidFill>
                  <a:srgbClr val="263442"/>
                </a:solidFill>
                <a:latin typeface="Arial"/>
              </a:rPr>
              <a:t>Blobs</a:t>
            </a:r>
          </a:p>
        </p:txBody>
      </p:sp>
      <p:sp>
        <p:nvSpPr>
          <p:cNvPr id="301" name="TextBox 12160">
            <a:extLst>
              <a:ext uri="{FF2B5EF4-FFF2-40B4-BE49-F238E27FC236}">
                <a16:creationId xmlns:a16="http://schemas.microsoft.com/office/drawing/2014/main" id="{EBF2AA16-9B52-B84F-43EE-03BA82B2D4CA}"/>
              </a:ext>
            </a:extLst>
          </p:cNvPr>
          <p:cNvSpPr txBox="1"/>
          <p:nvPr/>
        </p:nvSpPr>
        <p:spPr>
          <a:xfrm>
            <a:off x="581184" y="2090304"/>
            <a:ext cx="1186556" cy="107978"/>
          </a:xfrm>
          <a:prstGeom prst="rect">
            <a:avLst/>
          </a:prstGeom>
          <a:noFill/>
        </p:spPr>
        <p:txBody>
          <a:bodyPr wrap="square" lIns="0" tIns="0" rIns="0" bIns="0" anchor="ctr">
            <a:spAutoFit/>
          </a:bodyPr>
          <a:lstStyle/>
          <a:p>
            <a:pPr algn="l">
              <a:lnSpc>
                <a:spcPct val="105000"/>
              </a:lnSpc>
            </a:pPr>
            <a:r>
              <a:rPr sz="718" dirty="0">
                <a:solidFill>
                  <a:srgbClr val="263442"/>
                </a:solidFill>
                <a:latin typeface="Arial"/>
              </a:rPr>
              <a:t>Candidate encoder</a:t>
            </a:r>
          </a:p>
        </p:txBody>
      </p:sp>
      <p:sp>
        <p:nvSpPr>
          <p:cNvPr id="302" name="TextBox 12161">
            <a:extLst>
              <a:ext uri="{FF2B5EF4-FFF2-40B4-BE49-F238E27FC236}">
                <a16:creationId xmlns:a16="http://schemas.microsoft.com/office/drawing/2014/main" id="{1FD101AA-9130-CD96-6414-B193E6D36851}"/>
              </a:ext>
            </a:extLst>
          </p:cNvPr>
          <p:cNvSpPr txBox="1"/>
          <p:nvPr/>
        </p:nvSpPr>
        <p:spPr>
          <a:xfrm>
            <a:off x="2752186" y="2090304"/>
            <a:ext cx="1186556" cy="107978"/>
          </a:xfrm>
          <a:prstGeom prst="rect">
            <a:avLst/>
          </a:prstGeom>
          <a:noFill/>
        </p:spPr>
        <p:txBody>
          <a:bodyPr wrap="square" lIns="0" tIns="0" rIns="0" bIns="0" anchor="ctr">
            <a:spAutoFit/>
          </a:bodyPr>
          <a:lstStyle/>
          <a:p>
            <a:pPr algn="l">
              <a:lnSpc>
                <a:spcPct val="105000"/>
              </a:lnSpc>
            </a:pPr>
            <a:r>
              <a:rPr sz="718" dirty="0">
                <a:solidFill>
                  <a:srgbClr val="263442"/>
                </a:solidFill>
                <a:latin typeface="Arial"/>
              </a:rPr>
              <a:t>Identity encoder</a:t>
            </a:r>
          </a:p>
        </p:txBody>
      </p:sp>
      <p:sp>
        <p:nvSpPr>
          <p:cNvPr id="303" name="Match | Center divider">
            <a:extLst>
              <a:ext uri="{FF2B5EF4-FFF2-40B4-BE49-F238E27FC236}">
                <a16:creationId xmlns:a16="http://schemas.microsoft.com/office/drawing/2014/main" id="{5A593D05-94F5-C55B-C8C6-B8F9E86B08C6}"/>
              </a:ext>
            </a:extLst>
          </p:cNvPr>
          <p:cNvSpPr/>
          <p:nvPr/>
        </p:nvSpPr>
        <p:spPr>
          <a:xfrm>
            <a:off x="2617408" y="2119981"/>
            <a:ext cx="1" cy="1945952"/>
          </a:xfrm>
          <a:custGeom>
            <a:avLst/>
            <a:gdLst/>
            <a:ahLst/>
            <a:cxnLst/>
            <a:rect l="0" t="0" r="w" b="h"/>
            <a:pathLst>
              <a:path w="1" h="2249424">
                <a:moveTo>
                  <a:pt x="0" y="0"/>
                </a:moveTo>
                <a:lnTo>
                  <a:pt x="0" y="2249424"/>
                </a:lnTo>
              </a:path>
            </a:pathLst>
          </a:custGeom>
          <a:noFill/>
          <a:ln w="9525" cap="rnd" cmpd="sng" algn="ctr">
            <a:solidFill>
              <a:srgbClr val="C8CFD4"/>
            </a:solidFill>
            <a:prstDash val="solid"/>
            <a:round/>
            <a:headEnd type="none" w="med" len="med"/>
            <a:tailEnd type="none" w="med" len="med"/>
          </a:ln>
        </p:spPr>
      </p:sp>
      <p:sp>
        <p:nvSpPr>
          <p:cNvPr id="304" name="TextBox 12164">
            <a:extLst>
              <a:ext uri="{FF2B5EF4-FFF2-40B4-BE49-F238E27FC236}">
                <a16:creationId xmlns:a16="http://schemas.microsoft.com/office/drawing/2014/main" id="{DA6D9C81-D325-B373-1580-DEE13789E3EE}"/>
              </a:ext>
            </a:extLst>
          </p:cNvPr>
          <p:cNvSpPr txBox="1"/>
          <p:nvPr/>
        </p:nvSpPr>
        <p:spPr>
          <a:xfrm>
            <a:off x="573274" y="2270869"/>
            <a:ext cx="442981" cy="93744"/>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Receptor</a:t>
            </a:r>
          </a:p>
        </p:txBody>
      </p:sp>
      <p:sp>
        <p:nvSpPr>
          <p:cNvPr id="305" name="TextBox 12166">
            <a:extLst>
              <a:ext uri="{FF2B5EF4-FFF2-40B4-BE49-F238E27FC236}">
                <a16:creationId xmlns:a16="http://schemas.microsoft.com/office/drawing/2014/main" id="{6E830D7E-FC74-3019-18B2-DDE04B6E60D0}"/>
              </a:ext>
            </a:extLst>
          </p:cNvPr>
          <p:cNvSpPr txBox="1"/>
          <p:nvPr/>
        </p:nvSpPr>
        <p:spPr>
          <a:xfrm>
            <a:off x="1055807" y="2270869"/>
            <a:ext cx="442981" cy="93744"/>
          </a:xfrm>
          <a:prstGeom prst="rect">
            <a:avLst/>
          </a:prstGeom>
          <a:noFill/>
        </p:spPr>
        <p:txBody>
          <a:bodyPr wrap="square" lIns="0" tIns="0" rIns="0" bIns="0" anchor="ctr">
            <a:spAutoFit/>
          </a:bodyPr>
          <a:lstStyle/>
          <a:p>
            <a:pPr algn="ctr">
              <a:lnSpc>
                <a:spcPct val="105000"/>
              </a:lnSpc>
            </a:pPr>
            <a:r>
              <a:rPr sz="623" dirty="0">
                <a:solidFill>
                  <a:srgbClr val="263442"/>
                </a:solidFill>
                <a:latin typeface="Arial"/>
              </a:rPr>
              <a:t>Density</a:t>
            </a:r>
          </a:p>
        </p:txBody>
      </p:sp>
      <p:pic>
        <p:nvPicPr>
          <p:cNvPr id="306" name="Match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7A47CBDC-2732-4D0F-C4FF-972DA2F1AA3E}"/>
              </a:ext>
            </a:extLst>
          </p:cNvPr>
          <p:cNvPicPr/>
          <p:nvPr/>
        </p:nvPicPr>
        <p:blipFill>
          <a:blip r:embed="rId4"/>
          <a:stretch>
            <a:fillRect/>
          </a:stretch>
        </p:blipFill>
        <p:spPr>
          <a:xfrm>
            <a:off x="1103291" y="2380847"/>
            <a:ext cx="347980" cy="332276"/>
          </a:xfrm>
          <a:prstGeom prst="rect">
            <a:avLst/>
          </a:prstGeom>
        </p:spPr>
      </p:pic>
      <p:sp>
        <p:nvSpPr>
          <p:cNvPr id="526" name="TextBox 12168">
            <a:extLst>
              <a:ext uri="{FF2B5EF4-FFF2-40B4-BE49-F238E27FC236}">
                <a16:creationId xmlns:a16="http://schemas.microsoft.com/office/drawing/2014/main" id="{50BD09F1-2D4A-FA0A-7AF2-981DD7585F3A}"/>
              </a:ext>
            </a:extLst>
          </p:cNvPr>
          <p:cNvSpPr txBox="1"/>
          <p:nvPr/>
        </p:nvSpPr>
        <p:spPr>
          <a:xfrm>
            <a:off x="613323" y="2851277"/>
            <a:ext cx="340209" cy="97203"/>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Pocket</a:t>
            </a:r>
          </a:p>
        </p:txBody>
      </p:sp>
      <p:sp>
        <p:nvSpPr>
          <p:cNvPr id="613" name="TextBox 12177">
            <a:extLst>
              <a:ext uri="{FF2B5EF4-FFF2-40B4-BE49-F238E27FC236}">
                <a16:creationId xmlns:a16="http://schemas.microsoft.com/office/drawing/2014/main" id="{086F717F-C0B1-CD04-AFB8-166092CD717F}"/>
              </a:ext>
            </a:extLst>
          </p:cNvPr>
          <p:cNvSpPr txBox="1"/>
          <p:nvPr/>
        </p:nvSpPr>
        <p:spPr>
          <a:xfrm>
            <a:off x="1062885" y="2851277"/>
            <a:ext cx="340209" cy="97203"/>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Blob</a:t>
            </a:r>
          </a:p>
        </p:txBody>
      </p:sp>
      <p:grpSp>
        <p:nvGrpSpPr>
          <p:cNvPr id="614" name="Match | Blob contour">
            <a:extLst>
              <a:ext uri="{FF2B5EF4-FFF2-40B4-BE49-F238E27FC236}">
                <a16:creationId xmlns:a16="http://schemas.microsoft.com/office/drawing/2014/main" id="{ECF83E2A-3199-B09F-F90E-31DC9848C382}"/>
              </a:ext>
            </a:extLst>
          </p:cNvPr>
          <p:cNvGrpSpPr/>
          <p:nvPr/>
        </p:nvGrpSpPr>
        <p:grpSpPr>
          <a:xfrm>
            <a:off x="1086594" y="3036990"/>
            <a:ext cx="291608" cy="199265"/>
            <a:chOff x="1928706" y="3559489"/>
            <a:chExt cx="227897" cy="155682"/>
          </a:xfrm>
        </p:grpSpPr>
        <p:sp>
          <p:nvSpPr>
            <p:cNvPr id="615" name="Candidate blob | editable contour">
              <a:extLst>
                <a:ext uri="{FF2B5EF4-FFF2-40B4-BE49-F238E27FC236}">
                  <a16:creationId xmlns:a16="http://schemas.microsoft.com/office/drawing/2014/main" id="{513F782E-E1DE-1B64-68A9-FB54BE71715F}"/>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16" name="ellipse_2612">
              <a:extLst>
                <a:ext uri="{FF2B5EF4-FFF2-40B4-BE49-F238E27FC236}">
                  <a16:creationId xmlns:a16="http://schemas.microsoft.com/office/drawing/2014/main" id="{12A4650A-7359-9456-1843-A3C9E08B2497}"/>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18" name="TextBox 12186">
            <a:extLst>
              <a:ext uri="{FF2B5EF4-FFF2-40B4-BE49-F238E27FC236}">
                <a16:creationId xmlns:a16="http://schemas.microsoft.com/office/drawing/2014/main" id="{88505915-A113-7FAA-6C15-3F2B10F6D7CB}"/>
              </a:ext>
            </a:extLst>
          </p:cNvPr>
          <p:cNvSpPr txBox="1"/>
          <p:nvPr/>
        </p:nvSpPr>
        <p:spPr>
          <a:xfrm>
            <a:off x="1604695" y="2259965"/>
            <a:ext cx="286938" cy="92333"/>
          </a:xfrm>
          <a:prstGeom prst="rect">
            <a:avLst/>
          </a:prstGeom>
          <a:noFill/>
        </p:spPr>
        <p:txBody>
          <a:bodyPr wrap="none" lIns="0" tIns="0" rIns="0" bIns="0" anchor="ctr">
            <a:spAutoFit/>
          </a:bodyPr>
          <a:lstStyle/>
          <a:p>
            <a:pPr algn="ctr">
              <a:lnSpc>
                <a:spcPct val="105000"/>
              </a:lnSpc>
            </a:pPr>
            <a:r>
              <a:rPr sz="614">
                <a:solidFill>
                  <a:srgbClr val="263442"/>
                </a:solidFill>
                <a:latin typeface="Arial"/>
              </a:rPr>
              <a:t>48³ crop</a:t>
            </a:r>
          </a:p>
        </p:txBody>
      </p:sp>
      <p:grpSp>
        <p:nvGrpSpPr>
          <p:cNvPr id="619" name="48^3 crop 3D cube">
            <a:extLst>
              <a:ext uri="{FF2B5EF4-FFF2-40B4-BE49-F238E27FC236}">
                <a16:creationId xmlns:a16="http://schemas.microsoft.com/office/drawing/2014/main" id="{50441A72-5112-E010-1BBD-72FFF87A8B6E}"/>
              </a:ext>
            </a:extLst>
          </p:cNvPr>
          <p:cNvGrpSpPr/>
          <p:nvPr/>
        </p:nvGrpSpPr>
        <p:grpSpPr>
          <a:xfrm>
            <a:off x="1621801" y="2353114"/>
            <a:ext cx="251107" cy="197645"/>
            <a:chOff x="4043880" y="489960"/>
            <a:chExt cx="571680" cy="450000"/>
          </a:xfrm>
        </p:grpSpPr>
        <p:sp>
          <p:nvSpPr>
            <p:cNvPr id="620" name="asset_2027_0">
              <a:extLst>
                <a:ext uri="{FF2B5EF4-FFF2-40B4-BE49-F238E27FC236}">
                  <a16:creationId xmlns:a16="http://schemas.microsoft.com/office/drawing/2014/main" id="{2C26482F-D7D7-E3F6-FBCD-22AC82315E62}"/>
                </a:ext>
              </a:extLst>
            </p:cNvPr>
            <p:cNvSpPr>
              <a:spLocks noGrp="1"/>
            </p:cNvSpPr>
            <p:nvPr/>
          </p:nvSpPr>
          <p:spPr>
            <a:xfrm>
              <a:off x="4043880" y="489960"/>
              <a:ext cx="571680" cy="76500"/>
            </a:xfrm>
            <a:custGeom>
              <a:avLst/>
              <a:gdLst/>
              <a:ahLst/>
              <a:cxnLst/>
              <a:rect l="0" t="0" r="0" b="0"/>
              <a:pathLst>
                <a:path w="571680" h="76500">
                  <a:moveTo>
                    <a:pt x="0" y="76500"/>
                  </a:moveTo>
                  <a:lnTo>
                    <a:pt x="108619" y="0"/>
                  </a:lnTo>
                  <a:lnTo>
                    <a:pt x="571680" y="0"/>
                  </a:lnTo>
                  <a:lnTo>
                    <a:pt x="463061" y="76500"/>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621" name="asset_2027_1">
              <a:extLst>
                <a:ext uri="{FF2B5EF4-FFF2-40B4-BE49-F238E27FC236}">
                  <a16:creationId xmlns:a16="http://schemas.microsoft.com/office/drawing/2014/main" id="{F28AFBA7-0A71-99DE-9FF9-EBD0ADC1144C}"/>
                </a:ext>
              </a:extLst>
            </p:cNvPr>
            <p:cNvSpPr>
              <a:spLocks noGrp="1"/>
            </p:cNvSpPr>
            <p:nvPr/>
          </p:nvSpPr>
          <p:spPr>
            <a:xfrm>
              <a:off x="4506941" y="489960"/>
              <a:ext cx="108619" cy="450000"/>
            </a:xfrm>
            <a:custGeom>
              <a:avLst/>
              <a:gdLst/>
              <a:ahLst/>
              <a:cxnLst/>
              <a:rect l="0" t="0" r="0" b="0"/>
              <a:pathLst>
                <a:path w="108619" h="450000">
                  <a:moveTo>
                    <a:pt x="0" y="76500"/>
                  </a:moveTo>
                  <a:lnTo>
                    <a:pt x="108619" y="0"/>
                  </a:lnTo>
                  <a:lnTo>
                    <a:pt x="108619" y="373500"/>
                  </a:lnTo>
                  <a:lnTo>
                    <a:pt x="0" y="450000"/>
                  </a:lnTo>
                  <a:close/>
                </a:path>
              </a:pathLst>
            </a:custGeom>
            <a:solidFill>
              <a:srgbClr val="C9DFF3">
                <a:alpha val="22000"/>
              </a:srgbClr>
            </a:solidFill>
            <a:ln w="2700">
              <a:solidFill>
                <a:srgbClr val="A3C3E2"/>
              </a:solidFill>
            </a:ln>
          </p:spPr>
        </p:sp>
        <p:sp>
          <p:nvSpPr>
            <p:cNvPr id="622" name="asset_2027_2">
              <a:extLst>
                <a:ext uri="{FF2B5EF4-FFF2-40B4-BE49-F238E27FC236}">
                  <a16:creationId xmlns:a16="http://schemas.microsoft.com/office/drawing/2014/main" id="{97E064B3-0050-239C-C963-C5E4E31B84D2}"/>
                </a:ext>
              </a:extLst>
            </p:cNvPr>
            <p:cNvSpPr>
              <a:spLocks noGrp="1"/>
            </p:cNvSpPr>
            <p:nvPr/>
          </p:nvSpPr>
          <p:spPr>
            <a:xfrm>
              <a:off x="4043880" y="566460"/>
              <a:ext cx="463061" cy="373500"/>
            </a:xfrm>
            <a:prstGeom prst="rect">
              <a:avLst/>
            </a:prstGeom>
            <a:solidFill>
              <a:srgbClr val="E7F1FC">
                <a:alpha val="20000"/>
              </a:srgbClr>
            </a:solidFill>
            <a:ln w="2700">
              <a:solidFill>
                <a:srgbClr val="ABC9E7"/>
              </a:solidFill>
            </a:ln>
          </p:spPr>
        </p:sp>
        <p:sp>
          <p:nvSpPr>
            <p:cNvPr id="623" name="asset_2027_3">
              <a:extLst>
                <a:ext uri="{FF2B5EF4-FFF2-40B4-BE49-F238E27FC236}">
                  <a16:creationId xmlns:a16="http://schemas.microsoft.com/office/drawing/2014/main" id="{A2C54284-938E-B40D-7CE6-20A987BE1447}"/>
                </a:ext>
              </a:extLst>
            </p:cNvPr>
            <p:cNvSpPr>
              <a:spLocks noGrp="1"/>
            </p:cNvSpPr>
            <p:nvPr/>
          </p:nvSpPr>
          <p:spPr>
            <a:xfrm>
              <a:off x="4159645" y="566460"/>
              <a:ext cx="4" cy="373500"/>
            </a:xfrm>
            <a:prstGeom prst="line">
              <a:avLst/>
            </a:prstGeom>
            <a:noFill/>
            <a:ln w="1980">
              <a:solidFill>
                <a:srgbClr val="B8D2EB">
                  <a:alpha val="33000"/>
                </a:srgbClr>
              </a:solidFill>
            </a:ln>
          </p:spPr>
        </p:sp>
        <p:sp>
          <p:nvSpPr>
            <p:cNvPr id="624" name="asset_2027_4">
              <a:extLst>
                <a:ext uri="{FF2B5EF4-FFF2-40B4-BE49-F238E27FC236}">
                  <a16:creationId xmlns:a16="http://schemas.microsoft.com/office/drawing/2014/main" id="{0F8960CE-A059-8D07-91FB-C97F3078BCD9}"/>
                </a:ext>
              </a:extLst>
            </p:cNvPr>
            <p:cNvSpPr>
              <a:spLocks noGrp="1"/>
            </p:cNvSpPr>
            <p:nvPr/>
          </p:nvSpPr>
          <p:spPr>
            <a:xfrm>
              <a:off x="4043880" y="659835"/>
              <a:ext cx="463061" cy="4"/>
            </a:xfrm>
            <a:prstGeom prst="line">
              <a:avLst/>
            </a:prstGeom>
            <a:noFill/>
            <a:ln w="1980">
              <a:solidFill>
                <a:srgbClr val="B8D2EB">
                  <a:alpha val="33000"/>
                </a:srgbClr>
              </a:solidFill>
            </a:ln>
          </p:spPr>
        </p:sp>
        <p:sp>
          <p:nvSpPr>
            <p:cNvPr id="625" name="asset_2027_5">
              <a:extLst>
                <a:ext uri="{FF2B5EF4-FFF2-40B4-BE49-F238E27FC236}">
                  <a16:creationId xmlns:a16="http://schemas.microsoft.com/office/drawing/2014/main" id="{A5646F3B-E3B0-7C1C-2E27-F9E967647A65}"/>
                </a:ext>
              </a:extLst>
            </p:cNvPr>
            <p:cNvSpPr>
              <a:spLocks noGrp="1"/>
            </p:cNvSpPr>
            <p:nvPr/>
          </p:nvSpPr>
          <p:spPr>
            <a:xfrm>
              <a:off x="4275410" y="566460"/>
              <a:ext cx="4" cy="373500"/>
            </a:xfrm>
            <a:prstGeom prst="line">
              <a:avLst/>
            </a:prstGeom>
            <a:noFill/>
            <a:ln w="1980">
              <a:solidFill>
                <a:srgbClr val="B8D2EB">
                  <a:alpha val="33000"/>
                </a:srgbClr>
              </a:solidFill>
            </a:ln>
          </p:spPr>
        </p:sp>
        <p:sp>
          <p:nvSpPr>
            <p:cNvPr id="626" name="asset_2027_6">
              <a:extLst>
                <a:ext uri="{FF2B5EF4-FFF2-40B4-BE49-F238E27FC236}">
                  <a16:creationId xmlns:a16="http://schemas.microsoft.com/office/drawing/2014/main" id="{49CF1756-587C-D73A-CFD0-CE93821E4BC5}"/>
                </a:ext>
              </a:extLst>
            </p:cNvPr>
            <p:cNvSpPr>
              <a:spLocks noGrp="1"/>
            </p:cNvSpPr>
            <p:nvPr/>
          </p:nvSpPr>
          <p:spPr>
            <a:xfrm>
              <a:off x="4043880" y="753210"/>
              <a:ext cx="463061" cy="4"/>
            </a:xfrm>
            <a:prstGeom prst="line">
              <a:avLst/>
            </a:prstGeom>
            <a:noFill/>
            <a:ln w="1980">
              <a:solidFill>
                <a:srgbClr val="B8D2EB">
                  <a:alpha val="33000"/>
                </a:srgbClr>
              </a:solidFill>
            </a:ln>
          </p:spPr>
        </p:sp>
        <p:sp>
          <p:nvSpPr>
            <p:cNvPr id="627" name="asset_2027_7">
              <a:extLst>
                <a:ext uri="{FF2B5EF4-FFF2-40B4-BE49-F238E27FC236}">
                  <a16:creationId xmlns:a16="http://schemas.microsoft.com/office/drawing/2014/main" id="{617A40D8-F985-CF5E-C184-9CEE010688B0}"/>
                </a:ext>
              </a:extLst>
            </p:cNvPr>
            <p:cNvSpPr>
              <a:spLocks noGrp="1"/>
            </p:cNvSpPr>
            <p:nvPr/>
          </p:nvSpPr>
          <p:spPr>
            <a:xfrm>
              <a:off x="4391176" y="566460"/>
              <a:ext cx="4" cy="373500"/>
            </a:xfrm>
            <a:prstGeom prst="line">
              <a:avLst/>
            </a:prstGeom>
            <a:noFill/>
            <a:ln w="1980">
              <a:solidFill>
                <a:srgbClr val="B8D2EB">
                  <a:alpha val="33000"/>
                </a:srgbClr>
              </a:solidFill>
            </a:ln>
          </p:spPr>
        </p:sp>
        <p:sp>
          <p:nvSpPr>
            <p:cNvPr id="628" name="asset_2027_8">
              <a:extLst>
                <a:ext uri="{FF2B5EF4-FFF2-40B4-BE49-F238E27FC236}">
                  <a16:creationId xmlns:a16="http://schemas.microsoft.com/office/drawing/2014/main" id="{D74C2F96-9830-4E45-47CF-280DBDF3BBA6}"/>
                </a:ext>
              </a:extLst>
            </p:cNvPr>
            <p:cNvSpPr>
              <a:spLocks noGrp="1"/>
            </p:cNvSpPr>
            <p:nvPr/>
          </p:nvSpPr>
          <p:spPr>
            <a:xfrm>
              <a:off x="4043880" y="846585"/>
              <a:ext cx="463061" cy="4"/>
            </a:xfrm>
            <a:prstGeom prst="line">
              <a:avLst/>
            </a:prstGeom>
            <a:noFill/>
            <a:ln w="1980">
              <a:solidFill>
                <a:srgbClr val="B8D2EB">
                  <a:alpha val="33000"/>
                </a:srgbClr>
              </a:solidFill>
            </a:ln>
          </p:spPr>
        </p:sp>
        <p:sp>
          <p:nvSpPr>
            <p:cNvPr id="629" name="asset_2027_53">
              <a:extLst>
                <a:ext uri="{FF2B5EF4-FFF2-40B4-BE49-F238E27FC236}">
                  <a16:creationId xmlns:a16="http://schemas.microsoft.com/office/drawing/2014/main" id="{B57D82E4-2BD4-33AA-2164-941D5F47EC2E}"/>
                </a:ext>
              </a:extLst>
            </p:cNvPr>
            <p:cNvSpPr>
              <a:spLocks noGrp="1"/>
            </p:cNvSpPr>
            <p:nvPr/>
          </p:nvSpPr>
          <p:spPr>
            <a:xfrm>
              <a:off x="4043880" y="566460"/>
              <a:ext cx="463061" cy="373500"/>
            </a:xfrm>
            <a:custGeom>
              <a:avLst/>
              <a:gdLst/>
              <a:ahLst/>
              <a:cxnLst/>
              <a:rect l="0" t="0" r="0" b="0"/>
              <a:pathLst>
                <a:path w="463061" h="373500">
                  <a:moveTo>
                    <a:pt x="0" y="0"/>
                  </a:moveTo>
                  <a:lnTo>
                    <a:pt x="463061" y="0"/>
                  </a:lnTo>
                  <a:lnTo>
                    <a:pt x="463061" y="373500"/>
                  </a:lnTo>
                  <a:lnTo>
                    <a:pt x="0" y="373500"/>
                  </a:lnTo>
                  <a:close/>
                </a:path>
              </a:pathLst>
            </a:custGeom>
            <a:noFill/>
            <a:ln w="3600">
              <a:solidFill>
                <a:srgbClr val="8AB3D9"/>
              </a:solidFill>
            </a:ln>
          </p:spPr>
        </p:sp>
      </p:grpSp>
      <p:grpSp>
        <p:nvGrpSpPr>
          <p:cNvPr id="630" name="48^3 crop centered blob">
            <a:extLst>
              <a:ext uri="{FF2B5EF4-FFF2-40B4-BE49-F238E27FC236}">
                <a16:creationId xmlns:a16="http://schemas.microsoft.com/office/drawing/2014/main" id="{05F07842-8C1D-D758-5B6A-3324A46B243F}"/>
              </a:ext>
            </a:extLst>
          </p:cNvPr>
          <p:cNvGrpSpPr/>
          <p:nvPr/>
        </p:nvGrpSpPr>
        <p:grpSpPr>
          <a:xfrm>
            <a:off x="1684577" y="2424395"/>
            <a:ext cx="110568" cy="75332"/>
            <a:chOff x="1928706" y="3559489"/>
            <a:chExt cx="227897" cy="155682"/>
          </a:xfrm>
        </p:grpSpPr>
        <p:sp>
          <p:nvSpPr>
            <p:cNvPr id="631" name="Candidate blob | editable contour">
              <a:extLst>
                <a:ext uri="{FF2B5EF4-FFF2-40B4-BE49-F238E27FC236}">
                  <a16:creationId xmlns:a16="http://schemas.microsoft.com/office/drawing/2014/main" id="{9098312C-2F0E-B28B-B660-F9C51272B948}"/>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32" name="ellipse_2612">
              <a:extLst>
                <a:ext uri="{FF2B5EF4-FFF2-40B4-BE49-F238E27FC236}">
                  <a16:creationId xmlns:a16="http://schemas.microsoft.com/office/drawing/2014/main" id="{ACF53CE3-1C37-025F-02A8-70EEA8DCFD7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33" name="Blob centroid marker">
            <a:extLst>
              <a:ext uri="{FF2B5EF4-FFF2-40B4-BE49-F238E27FC236}">
                <a16:creationId xmlns:a16="http://schemas.microsoft.com/office/drawing/2014/main" id="{EDD959CF-D4D3-5624-F7B2-BF9345634585}"/>
              </a:ext>
            </a:extLst>
          </p:cNvPr>
          <p:cNvSpPr/>
          <p:nvPr/>
        </p:nvSpPr>
        <p:spPr>
          <a:xfrm>
            <a:off x="1727508" y="2450316"/>
            <a:ext cx="24301" cy="24301"/>
          </a:xfrm>
          <a:prstGeom prst="ellipse">
            <a:avLst/>
          </a:prstGeom>
          <a:solidFill>
            <a:srgbClr val="1D4ED8"/>
          </a:solidFill>
          <a:ln w="762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4" name="TextBox 12188">
            <a:extLst>
              <a:ext uri="{FF2B5EF4-FFF2-40B4-BE49-F238E27FC236}">
                <a16:creationId xmlns:a16="http://schemas.microsoft.com/office/drawing/2014/main" id="{2C0C5B7E-EB59-C12C-034A-66725ABF262F}"/>
              </a:ext>
            </a:extLst>
          </p:cNvPr>
          <p:cNvSpPr txBox="1"/>
          <p:nvPr/>
        </p:nvSpPr>
        <p:spPr>
          <a:xfrm>
            <a:off x="1563337" y="2614551"/>
            <a:ext cx="328616" cy="92333"/>
          </a:xfrm>
          <a:prstGeom prst="rect">
            <a:avLst/>
          </a:prstGeom>
          <a:noFill/>
        </p:spPr>
        <p:txBody>
          <a:bodyPr wrap="none" lIns="0" tIns="0" rIns="0" bIns="0" anchor="ctr">
            <a:spAutoFit/>
          </a:bodyPr>
          <a:lstStyle/>
          <a:p>
            <a:pPr algn="ctr">
              <a:lnSpc>
                <a:spcPct val="105000"/>
              </a:lnSpc>
            </a:pPr>
            <a:r>
              <a:rPr sz="614" dirty="0">
                <a:solidFill>
                  <a:srgbClr val="263442"/>
                </a:solidFill>
                <a:latin typeface="Arial"/>
              </a:rPr>
              <a:t>3D U-Net</a:t>
            </a:r>
          </a:p>
        </p:txBody>
      </p:sp>
      <p:sp>
        <p:nvSpPr>
          <p:cNvPr id="635" name="TextBox 12189">
            <a:extLst>
              <a:ext uri="{FF2B5EF4-FFF2-40B4-BE49-F238E27FC236}">
                <a16:creationId xmlns:a16="http://schemas.microsoft.com/office/drawing/2014/main" id="{8153BF98-6A0C-0786-710E-3D0EE8987AAA}"/>
              </a:ext>
            </a:extLst>
          </p:cNvPr>
          <p:cNvSpPr txBox="1"/>
          <p:nvPr/>
        </p:nvSpPr>
        <p:spPr>
          <a:xfrm>
            <a:off x="1980556" y="2623546"/>
            <a:ext cx="514564" cy="90218"/>
          </a:xfrm>
          <a:prstGeom prst="rect">
            <a:avLst/>
          </a:prstGeom>
          <a:noFill/>
        </p:spPr>
        <p:txBody>
          <a:bodyPr wrap="none" lIns="0" tIns="0" rIns="0" bIns="0" anchor="ctr">
            <a:spAutoFit/>
          </a:bodyPr>
          <a:lstStyle/>
          <a:p>
            <a:pPr algn="ctr">
              <a:lnSpc>
                <a:spcPct val="105000"/>
              </a:lnSpc>
            </a:pPr>
            <a:r>
              <a:rPr lang="en-US" sz="600" dirty="0">
                <a:solidFill>
                  <a:srgbClr val="263442"/>
                </a:solidFill>
                <a:latin typeface="Arial"/>
              </a:rPr>
              <a:t>B</a:t>
            </a:r>
            <a:r>
              <a:rPr lang="en-US" altLang="zh-CN" sz="600" dirty="0">
                <a:solidFill>
                  <a:srgbClr val="263442"/>
                </a:solidFill>
                <a:latin typeface="Arial"/>
              </a:rPr>
              <a:t>ase s</a:t>
            </a:r>
            <a:r>
              <a:rPr sz="600" dirty="0">
                <a:solidFill>
                  <a:srgbClr val="263442"/>
                </a:solidFill>
                <a:latin typeface="Arial"/>
              </a:rPr>
              <a:t>ummary</a:t>
            </a:r>
          </a:p>
        </p:txBody>
      </p:sp>
      <p:sp>
        <p:nvSpPr>
          <p:cNvPr id="636" name="Math | h_j^vox">
            <a:extLst>
              <a:ext uri="{FF2B5EF4-FFF2-40B4-BE49-F238E27FC236}">
                <a16:creationId xmlns:a16="http://schemas.microsoft.com/office/drawing/2014/main" id="{93EC2205-1821-C3E9-E08B-23B27F07452E}"/>
              </a:ext>
            </a:extLst>
          </p:cNvPr>
          <p:cNvSpPr txBox="1"/>
          <p:nvPr/>
        </p:nvSpPr>
        <p:spPr>
          <a:xfrm>
            <a:off x="2156314" y="2371206"/>
            <a:ext cx="169918" cy="126509"/>
          </a:xfrm>
          <a:prstGeom prst="rect">
            <a:avLst/>
          </a:prstGeom>
          <a:noFill/>
        </p:spPr>
        <p:txBody>
          <a:bodyPr wrap="none" lIns="0" tIns="0" rIns="0" bIns="0" anchor="ctr">
            <a:spAutoFit/>
          </a:bodyPr>
          <a:lstStyle/>
          <a:p>
            <a:pPr algn="ctr"/>
            <a:r>
              <a:rPr sz="855" i="1">
                <a:solidFill>
                  <a:srgbClr val="263442"/>
                </a:solidFill>
                <a:latin typeface="Times New Roman"/>
              </a:rPr>
              <a:t>h</a:t>
            </a:r>
            <a:r>
              <a:rPr sz="780" i="1" baseline="-28000">
                <a:solidFill>
                  <a:srgbClr val="263442"/>
                </a:solidFill>
                <a:latin typeface="Times New Roman"/>
              </a:rPr>
              <a:t>j</a:t>
            </a:r>
            <a:r>
              <a:rPr sz="780" baseline="32000">
                <a:solidFill>
                  <a:srgbClr val="263442"/>
                </a:solidFill>
                <a:latin typeface="Arial"/>
              </a:rPr>
              <a:t>vox</a:t>
            </a:r>
          </a:p>
        </p:txBody>
      </p:sp>
      <p:sp>
        <p:nvSpPr>
          <p:cNvPr id="637" name="Base summary bar_1">
            <a:extLst>
              <a:ext uri="{FF2B5EF4-FFF2-40B4-BE49-F238E27FC236}">
                <a16:creationId xmlns:a16="http://schemas.microsoft.com/office/drawing/2014/main" id="{99E9D3C4-A8BD-9C93-615E-C771AE07C8E3}"/>
              </a:ext>
            </a:extLst>
          </p:cNvPr>
          <p:cNvSpPr/>
          <p:nvPr/>
        </p:nvSpPr>
        <p:spPr>
          <a:xfrm>
            <a:off x="2059844" y="2549118"/>
            <a:ext cx="44072" cy="59328"/>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8" name="Base summary bar_2">
            <a:extLst>
              <a:ext uri="{FF2B5EF4-FFF2-40B4-BE49-F238E27FC236}">
                <a16:creationId xmlns:a16="http://schemas.microsoft.com/office/drawing/2014/main" id="{6BC787CE-AF83-7509-7C88-9AB58DB6F66F}"/>
              </a:ext>
            </a:extLst>
          </p:cNvPr>
          <p:cNvSpPr/>
          <p:nvPr/>
        </p:nvSpPr>
        <p:spPr>
          <a:xfrm>
            <a:off x="2107871" y="2549118"/>
            <a:ext cx="44072" cy="59328"/>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9" name="Base summary bar_3">
            <a:extLst>
              <a:ext uri="{FF2B5EF4-FFF2-40B4-BE49-F238E27FC236}">
                <a16:creationId xmlns:a16="http://schemas.microsoft.com/office/drawing/2014/main" id="{269240CC-07F6-8569-D6D0-2E898FDFE671}"/>
              </a:ext>
            </a:extLst>
          </p:cNvPr>
          <p:cNvSpPr/>
          <p:nvPr/>
        </p:nvSpPr>
        <p:spPr>
          <a:xfrm>
            <a:off x="2155898" y="2549118"/>
            <a:ext cx="44072" cy="59328"/>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0" name="Base summary bar_4">
            <a:extLst>
              <a:ext uri="{FF2B5EF4-FFF2-40B4-BE49-F238E27FC236}">
                <a16:creationId xmlns:a16="http://schemas.microsoft.com/office/drawing/2014/main" id="{D027E165-A9E7-E339-F192-6FC69D94CA5E}"/>
              </a:ext>
            </a:extLst>
          </p:cNvPr>
          <p:cNvSpPr/>
          <p:nvPr/>
        </p:nvSpPr>
        <p:spPr>
          <a:xfrm>
            <a:off x="2203926" y="2549118"/>
            <a:ext cx="44072" cy="59328"/>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1" name="Base summary bar_5">
            <a:extLst>
              <a:ext uri="{FF2B5EF4-FFF2-40B4-BE49-F238E27FC236}">
                <a16:creationId xmlns:a16="http://schemas.microsoft.com/office/drawing/2014/main" id="{AF544338-D23E-CE3C-A6B8-4FA37DCAD82E}"/>
              </a:ext>
            </a:extLst>
          </p:cNvPr>
          <p:cNvSpPr/>
          <p:nvPr/>
        </p:nvSpPr>
        <p:spPr>
          <a:xfrm>
            <a:off x="2251954" y="2549118"/>
            <a:ext cx="44072" cy="59328"/>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2" name="Base summary bar_6">
            <a:extLst>
              <a:ext uri="{FF2B5EF4-FFF2-40B4-BE49-F238E27FC236}">
                <a16:creationId xmlns:a16="http://schemas.microsoft.com/office/drawing/2014/main" id="{9F80EB35-B4A7-2FA2-7A0C-B02A9915E4EB}"/>
              </a:ext>
            </a:extLst>
          </p:cNvPr>
          <p:cNvSpPr/>
          <p:nvPr/>
        </p:nvSpPr>
        <p:spPr>
          <a:xfrm>
            <a:off x="2299981" y="2549118"/>
            <a:ext cx="44072" cy="59328"/>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3" name="Base summary bar_7">
            <a:extLst>
              <a:ext uri="{FF2B5EF4-FFF2-40B4-BE49-F238E27FC236}">
                <a16:creationId xmlns:a16="http://schemas.microsoft.com/office/drawing/2014/main" id="{763E1301-00D0-44E1-3425-288C0321EC85}"/>
              </a:ext>
            </a:extLst>
          </p:cNvPr>
          <p:cNvSpPr/>
          <p:nvPr/>
        </p:nvSpPr>
        <p:spPr>
          <a:xfrm>
            <a:off x="2348008" y="2549118"/>
            <a:ext cx="44072" cy="59328"/>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4" name="Op | Mean/max pool">
            <a:extLst>
              <a:ext uri="{FF2B5EF4-FFF2-40B4-BE49-F238E27FC236}">
                <a16:creationId xmlns:a16="http://schemas.microsoft.com/office/drawing/2014/main" id="{C4850A78-C957-EF45-0669-F1FA2501E311}"/>
              </a:ext>
            </a:extLst>
          </p:cNvPr>
          <p:cNvSpPr/>
          <p:nvPr/>
        </p:nvSpPr>
        <p:spPr>
          <a:xfrm>
            <a:off x="573274" y="3452879"/>
            <a:ext cx="617009"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Mean/max pool</a:t>
            </a:r>
          </a:p>
        </p:txBody>
      </p:sp>
      <p:sp>
        <p:nvSpPr>
          <p:cNvPr id="645" name="Op | Cross-attention">
            <a:extLst>
              <a:ext uri="{FF2B5EF4-FFF2-40B4-BE49-F238E27FC236}">
                <a16:creationId xmlns:a16="http://schemas.microsoft.com/office/drawing/2014/main" id="{11FEE5AE-99F9-B083-0D93-CFC8DBD07D63}"/>
              </a:ext>
            </a:extLst>
          </p:cNvPr>
          <p:cNvSpPr/>
          <p:nvPr/>
        </p:nvSpPr>
        <p:spPr>
          <a:xfrm>
            <a:off x="1269387" y="3452879"/>
            <a:ext cx="648651"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Cross-attention</a:t>
            </a:r>
          </a:p>
        </p:txBody>
      </p:sp>
      <p:sp>
        <p:nvSpPr>
          <p:cNvPr id="646" name="TextBox 12200">
            <a:extLst>
              <a:ext uri="{FF2B5EF4-FFF2-40B4-BE49-F238E27FC236}">
                <a16:creationId xmlns:a16="http://schemas.microsoft.com/office/drawing/2014/main" id="{884D8F93-171F-A6AB-A603-7E1006874447}"/>
              </a:ext>
            </a:extLst>
          </p:cNvPr>
          <p:cNvSpPr txBox="1"/>
          <p:nvPr/>
        </p:nvSpPr>
        <p:spPr>
          <a:xfrm>
            <a:off x="1638684" y="3370950"/>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647" name="Op | FiLM">
            <a:extLst>
              <a:ext uri="{FF2B5EF4-FFF2-40B4-BE49-F238E27FC236}">
                <a16:creationId xmlns:a16="http://schemas.microsoft.com/office/drawing/2014/main" id="{59F3449A-984C-C7E7-FC02-0C47B43E0DFD}"/>
              </a:ext>
            </a:extLst>
          </p:cNvPr>
          <p:cNvSpPr/>
          <p:nvPr/>
        </p:nvSpPr>
        <p:spPr>
          <a:xfrm>
            <a:off x="2060427" y="3738251"/>
            <a:ext cx="300518" cy="150259"/>
          </a:xfrm>
          <a:prstGeom prst="roundRect">
            <a:avLst>
              <a:gd name="adj" fmla="val 25000"/>
            </a:avLst>
          </a:prstGeom>
          <a:solidFill>
            <a:srgbClr val="EDE7F5"/>
          </a:solidFill>
          <a:ln w="7290">
            <a:solidFill>
              <a:srgbClr val="B8A9D9"/>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623">
                <a:solidFill>
                  <a:srgbClr val="263442"/>
                </a:solidFill>
                <a:latin typeface="Arial"/>
              </a:rPr>
              <a:t>FiLM</a:t>
            </a:r>
          </a:p>
        </p:txBody>
      </p:sp>
      <p:sp>
        <p:nvSpPr>
          <p:cNvPr id="648" name="TextBox 12202">
            <a:extLst>
              <a:ext uri="{FF2B5EF4-FFF2-40B4-BE49-F238E27FC236}">
                <a16:creationId xmlns:a16="http://schemas.microsoft.com/office/drawing/2014/main" id="{6F9F40E0-7819-CEA2-6131-C4ABBC19B945}"/>
              </a:ext>
            </a:extLst>
          </p:cNvPr>
          <p:cNvSpPr txBox="1"/>
          <p:nvPr/>
        </p:nvSpPr>
        <p:spPr>
          <a:xfrm>
            <a:off x="2001097" y="3430400"/>
            <a:ext cx="126566" cy="84510"/>
          </a:xfrm>
          <a:prstGeom prst="rect">
            <a:avLst/>
          </a:prstGeom>
          <a:noFill/>
        </p:spPr>
        <p:txBody>
          <a:bodyPr wrap="square" lIns="0" tIns="0" rIns="0" bIns="0" anchor="ctr">
            <a:spAutoFit/>
          </a:bodyPr>
          <a:lstStyle/>
          <a:p>
            <a:pPr algn="ctr">
              <a:lnSpc>
                <a:spcPct val="105000"/>
              </a:lnSpc>
            </a:pPr>
            <a:r>
              <a:rPr sz="562">
                <a:solidFill>
                  <a:srgbClr val="263442"/>
                </a:solidFill>
                <a:latin typeface="Arial"/>
              </a:rPr>
              <a:t>Q</a:t>
            </a:r>
          </a:p>
        </p:txBody>
      </p:sp>
      <p:sp>
        <p:nvSpPr>
          <p:cNvPr id="649" name="Op | MLP">
            <a:extLst>
              <a:ext uri="{FF2B5EF4-FFF2-40B4-BE49-F238E27FC236}">
                <a16:creationId xmlns:a16="http://schemas.microsoft.com/office/drawing/2014/main" id="{554F5441-96D3-CFD3-6A6E-CA8C906F4B29}"/>
              </a:ext>
            </a:extLst>
          </p:cNvPr>
          <p:cNvSpPr/>
          <p:nvPr/>
        </p:nvSpPr>
        <p:spPr>
          <a:xfrm>
            <a:off x="1063695" y="3738251"/>
            <a:ext cx="347904" cy="150259"/>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MLP</a:t>
            </a:r>
          </a:p>
        </p:txBody>
      </p:sp>
      <p:sp>
        <p:nvSpPr>
          <p:cNvPr id="650" name="h_j bar_1">
            <a:extLst>
              <a:ext uri="{FF2B5EF4-FFF2-40B4-BE49-F238E27FC236}">
                <a16:creationId xmlns:a16="http://schemas.microsoft.com/office/drawing/2014/main" id="{99BF7016-0AEC-5CA1-43D0-0CC405933ADD}"/>
              </a:ext>
            </a:extLst>
          </p:cNvPr>
          <p:cNvSpPr/>
          <p:nvPr/>
        </p:nvSpPr>
        <p:spPr>
          <a:xfrm>
            <a:off x="2044604" y="3989994"/>
            <a:ext cx="44072" cy="56955"/>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1" name="h_j bar_2">
            <a:extLst>
              <a:ext uri="{FF2B5EF4-FFF2-40B4-BE49-F238E27FC236}">
                <a16:creationId xmlns:a16="http://schemas.microsoft.com/office/drawing/2014/main" id="{71708831-906F-DB31-D516-DA6520DB6B6E}"/>
              </a:ext>
            </a:extLst>
          </p:cNvPr>
          <p:cNvSpPr/>
          <p:nvPr/>
        </p:nvSpPr>
        <p:spPr>
          <a:xfrm>
            <a:off x="2092631" y="3989994"/>
            <a:ext cx="44072" cy="56955"/>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2" name="h_j bar_3">
            <a:extLst>
              <a:ext uri="{FF2B5EF4-FFF2-40B4-BE49-F238E27FC236}">
                <a16:creationId xmlns:a16="http://schemas.microsoft.com/office/drawing/2014/main" id="{E1CF9CE6-644D-2199-D558-FB2748AF4CA8}"/>
              </a:ext>
            </a:extLst>
          </p:cNvPr>
          <p:cNvSpPr/>
          <p:nvPr/>
        </p:nvSpPr>
        <p:spPr>
          <a:xfrm>
            <a:off x="2140658" y="3989994"/>
            <a:ext cx="44072" cy="56955"/>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3" name="h_j bar_4">
            <a:extLst>
              <a:ext uri="{FF2B5EF4-FFF2-40B4-BE49-F238E27FC236}">
                <a16:creationId xmlns:a16="http://schemas.microsoft.com/office/drawing/2014/main" id="{0B1E11C4-B6B0-8410-69CA-ECA06B016C11}"/>
              </a:ext>
            </a:extLst>
          </p:cNvPr>
          <p:cNvSpPr/>
          <p:nvPr/>
        </p:nvSpPr>
        <p:spPr>
          <a:xfrm>
            <a:off x="2188686" y="3989994"/>
            <a:ext cx="44072" cy="56955"/>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4" name="h_j bar_5">
            <a:extLst>
              <a:ext uri="{FF2B5EF4-FFF2-40B4-BE49-F238E27FC236}">
                <a16:creationId xmlns:a16="http://schemas.microsoft.com/office/drawing/2014/main" id="{2A27D763-25D4-1A48-A9AB-8AE10B5867F3}"/>
              </a:ext>
            </a:extLst>
          </p:cNvPr>
          <p:cNvSpPr/>
          <p:nvPr/>
        </p:nvSpPr>
        <p:spPr>
          <a:xfrm>
            <a:off x="2236714" y="3989994"/>
            <a:ext cx="44072" cy="56955"/>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5" name="h_j bar_6">
            <a:extLst>
              <a:ext uri="{FF2B5EF4-FFF2-40B4-BE49-F238E27FC236}">
                <a16:creationId xmlns:a16="http://schemas.microsoft.com/office/drawing/2014/main" id="{CC2DBA64-D0DF-1160-5FEF-C265BF4EAB35}"/>
              </a:ext>
            </a:extLst>
          </p:cNvPr>
          <p:cNvSpPr/>
          <p:nvPr/>
        </p:nvSpPr>
        <p:spPr>
          <a:xfrm>
            <a:off x="2284741" y="3989994"/>
            <a:ext cx="44072" cy="56955"/>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6" name="h_j bar_7">
            <a:extLst>
              <a:ext uri="{FF2B5EF4-FFF2-40B4-BE49-F238E27FC236}">
                <a16:creationId xmlns:a16="http://schemas.microsoft.com/office/drawing/2014/main" id="{3E031F7D-E2D9-9D11-0526-4D352C453584}"/>
              </a:ext>
            </a:extLst>
          </p:cNvPr>
          <p:cNvSpPr/>
          <p:nvPr/>
        </p:nvSpPr>
        <p:spPr>
          <a:xfrm>
            <a:off x="2332768" y="3989994"/>
            <a:ext cx="44072" cy="56955"/>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7" name="Math | h_j^">
            <a:extLst>
              <a:ext uri="{FF2B5EF4-FFF2-40B4-BE49-F238E27FC236}">
                <a16:creationId xmlns:a16="http://schemas.microsoft.com/office/drawing/2014/main" id="{9AC920D3-16D2-273E-04D3-53357E82FB0E}"/>
              </a:ext>
            </a:extLst>
          </p:cNvPr>
          <p:cNvSpPr txBox="1"/>
          <p:nvPr/>
        </p:nvSpPr>
        <p:spPr>
          <a:xfrm>
            <a:off x="1930234" y="3947306"/>
            <a:ext cx="70532" cy="126509"/>
          </a:xfrm>
          <a:prstGeom prst="rect">
            <a:avLst/>
          </a:prstGeom>
          <a:noFill/>
        </p:spPr>
        <p:txBody>
          <a:bodyPr wrap="none" lIns="0" tIns="0" rIns="0" bIns="0" anchor="ctr">
            <a:spAutoFit/>
          </a:bodyPr>
          <a:lstStyle/>
          <a:p>
            <a:pPr algn="ctr"/>
            <a:r>
              <a:rPr sz="855" i="1">
                <a:solidFill>
                  <a:srgbClr val="263442"/>
                </a:solidFill>
                <a:latin typeface="Times New Roman"/>
              </a:rPr>
              <a:t>h</a:t>
            </a:r>
            <a:r>
              <a:rPr sz="780" i="1" baseline="-28000">
                <a:solidFill>
                  <a:srgbClr val="263442"/>
                </a:solidFill>
                <a:latin typeface="Times New Roman"/>
              </a:rPr>
              <a:t>j</a:t>
            </a:r>
          </a:p>
        </p:txBody>
      </p:sp>
      <p:sp>
        <p:nvSpPr>
          <p:cNvPr id="658" name="Op | Foreground head">
            <a:extLst>
              <a:ext uri="{FF2B5EF4-FFF2-40B4-BE49-F238E27FC236}">
                <a16:creationId xmlns:a16="http://schemas.microsoft.com/office/drawing/2014/main" id="{772C4BD8-070D-6A2C-3C5B-CCE55BD09041}"/>
              </a:ext>
            </a:extLst>
          </p:cNvPr>
          <p:cNvSpPr/>
          <p:nvPr/>
        </p:nvSpPr>
        <p:spPr>
          <a:xfrm>
            <a:off x="660288" y="4181937"/>
            <a:ext cx="696113"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Foreground head</a:t>
            </a:r>
          </a:p>
        </p:txBody>
      </p:sp>
      <p:sp>
        <p:nvSpPr>
          <p:cNvPr id="659" name="Math | p_j^fg">
            <a:extLst>
              <a:ext uri="{FF2B5EF4-FFF2-40B4-BE49-F238E27FC236}">
                <a16:creationId xmlns:a16="http://schemas.microsoft.com/office/drawing/2014/main" id="{04752E8A-9FFA-1739-18D7-365FF5D9A529}"/>
              </a:ext>
            </a:extLst>
          </p:cNvPr>
          <p:cNvSpPr txBox="1"/>
          <p:nvPr/>
        </p:nvSpPr>
        <p:spPr>
          <a:xfrm>
            <a:off x="1661733" y="4176444"/>
            <a:ext cx="121828" cy="122341"/>
          </a:xfrm>
          <a:prstGeom prst="rect">
            <a:avLst/>
          </a:prstGeom>
          <a:noFill/>
        </p:spPr>
        <p:txBody>
          <a:bodyPr wrap="none" lIns="0" tIns="0" rIns="0" bIns="0" anchor="ctr">
            <a:spAutoFit/>
          </a:bodyPr>
          <a:lstStyle/>
          <a:p>
            <a:pPr algn="ctr"/>
            <a:r>
              <a:rPr sz="827" i="1" dirty="0" err="1">
                <a:solidFill>
                  <a:srgbClr val="263442"/>
                </a:solidFill>
                <a:latin typeface="Times New Roman"/>
              </a:rPr>
              <a:t>p</a:t>
            </a:r>
            <a:r>
              <a:rPr sz="780" i="1" baseline="-28000" dirty="0" err="1">
                <a:solidFill>
                  <a:srgbClr val="263442"/>
                </a:solidFill>
                <a:latin typeface="Times New Roman"/>
              </a:rPr>
              <a:t>j</a:t>
            </a:r>
            <a:r>
              <a:rPr sz="780" baseline="32000" dirty="0" err="1">
                <a:solidFill>
                  <a:srgbClr val="263442"/>
                </a:solidFill>
                <a:latin typeface="Arial"/>
              </a:rPr>
              <a:t>fg</a:t>
            </a:r>
            <a:endParaRPr sz="780" baseline="32000" dirty="0">
              <a:solidFill>
                <a:srgbClr val="263442"/>
              </a:solidFill>
              <a:latin typeface="Arial"/>
            </a:endParaRPr>
          </a:p>
        </p:txBody>
      </p:sp>
      <p:sp>
        <p:nvSpPr>
          <p:cNvPr id="660" name="TextBox 12215">
            <a:extLst>
              <a:ext uri="{FF2B5EF4-FFF2-40B4-BE49-F238E27FC236}">
                <a16:creationId xmlns:a16="http://schemas.microsoft.com/office/drawing/2014/main" id="{C45D4B31-EE62-7047-2BD0-7D7B985DADC4}"/>
              </a:ext>
            </a:extLst>
          </p:cNvPr>
          <p:cNvSpPr txBox="1"/>
          <p:nvPr/>
        </p:nvSpPr>
        <p:spPr>
          <a:xfrm>
            <a:off x="1392995" y="4310121"/>
            <a:ext cx="666849" cy="79445"/>
          </a:xfrm>
          <a:prstGeom prst="rect">
            <a:avLst/>
          </a:prstGeom>
          <a:noFill/>
        </p:spPr>
        <p:txBody>
          <a:bodyPr wrap="none" lIns="0" tIns="0" rIns="0" bIns="0" anchor="ctr">
            <a:spAutoFit/>
          </a:bodyPr>
          <a:lstStyle/>
          <a:p>
            <a:pPr algn="l">
              <a:lnSpc>
                <a:spcPct val="105000"/>
              </a:lnSpc>
            </a:pPr>
            <a:r>
              <a:rPr sz="528" dirty="0">
                <a:solidFill>
                  <a:srgbClr val="263442"/>
                </a:solidFill>
                <a:latin typeface="Arial"/>
              </a:rPr>
              <a:t>Foreground probability</a:t>
            </a:r>
          </a:p>
        </p:txBody>
      </p:sp>
      <p:sp>
        <p:nvSpPr>
          <p:cNvPr id="661" name="TextBox 12216">
            <a:extLst>
              <a:ext uri="{FF2B5EF4-FFF2-40B4-BE49-F238E27FC236}">
                <a16:creationId xmlns:a16="http://schemas.microsoft.com/office/drawing/2014/main" id="{978E7CF5-ACF2-460D-26F2-9B198BAAC63B}"/>
              </a:ext>
            </a:extLst>
          </p:cNvPr>
          <p:cNvSpPr txBox="1"/>
          <p:nvPr/>
        </p:nvSpPr>
        <p:spPr>
          <a:xfrm>
            <a:off x="3071869" y="2206291"/>
            <a:ext cx="1195840" cy="88422"/>
          </a:xfrm>
          <a:prstGeom prst="rect">
            <a:avLst/>
          </a:prstGeom>
          <a:noFill/>
        </p:spPr>
        <p:txBody>
          <a:bodyPr wrap="none" lIns="0" tIns="0" rIns="0" bIns="0" anchor="ctr">
            <a:spAutoFit/>
          </a:bodyPr>
          <a:lstStyle/>
          <a:p>
            <a:pPr algn="ctr">
              <a:lnSpc>
                <a:spcPct val="105000"/>
              </a:lnSpc>
            </a:pPr>
            <a:r>
              <a:rPr sz="588">
                <a:solidFill>
                  <a:srgbClr val="263442"/>
                </a:solidFill>
                <a:latin typeface="Arial"/>
              </a:rPr>
              <a:t>User-provided SMILES · same PDB</a:t>
            </a:r>
          </a:p>
        </p:txBody>
      </p:sp>
      <p:sp>
        <p:nvSpPr>
          <p:cNvPr id="662" name="Identity | SMILES list card">
            <a:extLst>
              <a:ext uri="{FF2B5EF4-FFF2-40B4-BE49-F238E27FC236}">
                <a16:creationId xmlns:a16="http://schemas.microsoft.com/office/drawing/2014/main" id="{7DA7890B-AB79-9717-CAA6-1EEE08F32188}"/>
              </a:ext>
            </a:extLst>
          </p:cNvPr>
          <p:cNvSpPr/>
          <p:nvPr/>
        </p:nvSpPr>
        <p:spPr>
          <a:xfrm>
            <a:off x="3250539" y="2309830"/>
            <a:ext cx="838500" cy="512745"/>
          </a:xfrm>
          <a:prstGeom prst="roundRect">
            <a:avLst>
              <a:gd name="adj" fmla="val 6000"/>
            </a:avLst>
          </a:prstGeom>
          <a:solidFill>
            <a:srgbClr val="FFFFFF"/>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3" name="TextBox 12218">
            <a:extLst>
              <a:ext uri="{FF2B5EF4-FFF2-40B4-BE49-F238E27FC236}">
                <a16:creationId xmlns:a16="http://schemas.microsoft.com/office/drawing/2014/main" id="{86BB59AD-D134-C7C6-AEC0-14F6157A5F0B}"/>
              </a:ext>
            </a:extLst>
          </p:cNvPr>
          <p:cNvSpPr txBox="1"/>
          <p:nvPr/>
        </p:nvSpPr>
        <p:spPr>
          <a:xfrm>
            <a:off x="3305912" y="2338063"/>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1   CCO</a:t>
            </a:r>
          </a:p>
        </p:txBody>
      </p:sp>
      <p:sp>
        <p:nvSpPr>
          <p:cNvPr id="664" name="TextBox 12219">
            <a:extLst>
              <a:ext uri="{FF2B5EF4-FFF2-40B4-BE49-F238E27FC236}">
                <a16:creationId xmlns:a16="http://schemas.microsoft.com/office/drawing/2014/main" id="{D5CEF1E2-0003-83A9-6C8B-869DF460C92C}"/>
              </a:ext>
            </a:extLst>
          </p:cNvPr>
          <p:cNvSpPr txBox="1"/>
          <p:nvPr/>
        </p:nvSpPr>
        <p:spPr>
          <a:xfrm>
            <a:off x="3305912" y="2440897"/>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2   CC(=O)O</a:t>
            </a:r>
          </a:p>
        </p:txBody>
      </p:sp>
      <p:sp>
        <p:nvSpPr>
          <p:cNvPr id="665" name="Identity | Selected k pill">
            <a:extLst>
              <a:ext uri="{FF2B5EF4-FFF2-40B4-BE49-F238E27FC236}">
                <a16:creationId xmlns:a16="http://schemas.microsoft.com/office/drawing/2014/main" id="{484884C0-9180-67EB-D183-0D32CB2F3899}"/>
              </a:ext>
            </a:extLst>
          </p:cNvPr>
          <p:cNvSpPr/>
          <p:nvPr/>
        </p:nvSpPr>
        <p:spPr>
          <a:xfrm>
            <a:off x="3282181" y="2562853"/>
            <a:ext cx="775217" cy="118656"/>
          </a:xfrm>
          <a:prstGeom prst="roundRect">
            <a:avLst>
              <a:gd name="adj" fmla="val 18000"/>
            </a:avLst>
          </a:prstGeom>
          <a:solidFill>
            <a:srgbClr val="DCFCE7"/>
          </a:solidFill>
          <a:ln w="8890">
            <a:solidFill>
              <a:srgbClr val="3E997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6" name="TextBox 12222">
            <a:extLst>
              <a:ext uri="{FF2B5EF4-FFF2-40B4-BE49-F238E27FC236}">
                <a16:creationId xmlns:a16="http://schemas.microsoft.com/office/drawing/2014/main" id="{AF18D027-6125-FBDF-9BCD-9060B5C5E099}"/>
              </a:ext>
            </a:extLst>
          </p:cNvPr>
          <p:cNvSpPr txBox="1"/>
          <p:nvPr/>
        </p:nvSpPr>
        <p:spPr>
          <a:xfrm>
            <a:off x="3313822" y="2585570"/>
            <a:ext cx="71193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k   Cc1ccccc1</a:t>
            </a:r>
          </a:p>
        </p:txBody>
      </p:sp>
      <p:sp>
        <p:nvSpPr>
          <p:cNvPr id="667" name="TextBox 12224">
            <a:extLst>
              <a:ext uri="{FF2B5EF4-FFF2-40B4-BE49-F238E27FC236}">
                <a16:creationId xmlns:a16="http://schemas.microsoft.com/office/drawing/2014/main" id="{4F02AD2D-3369-26A3-6D2F-44659C880CB7}"/>
              </a:ext>
            </a:extLst>
          </p:cNvPr>
          <p:cNvSpPr txBox="1"/>
          <p:nvPr/>
        </p:nvSpPr>
        <p:spPr>
          <a:xfrm>
            <a:off x="3305912" y="2714369"/>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K   CC(N)=O</a:t>
            </a:r>
          </a:p>
        </p:txBody>
      </p:sp>
      <p:sp>
        <p:nvSpPr>
          <p:cNvPr id="668" name="TextBox 12225">
            <a:extLst>
              <a:ext uri="{FF2B5EF4-FFF2-40B4-BE49-F238E27FC236}">
                <a16:creationId xmlns:a16="http://schemas.microsoft.com/office/drawing/2014/main" id="{3E613D72-90CB-62FD-E861-8FE6E2F065B8}"/>
              </a:ext>
            </a:extLst>
          </p:cNvPr>
          <p:cNvSpPr txBox="1"/>
          <p:nvPr/>
        </p:nvSpPr>
        <p:spPr>
          <a:xfrm>
            <a:off x="2786686" y="2643822"/>
            <a:ext cx="181140" cy="80599"/>
          </a:xfrm>
          <a:prstGeom prst="rect">
            <a:avLst/>
          </a:prstGeom>
          <a:noFill/>
        </p:spPr>
        <p:txBody>
          <a:bodyPr wrap="none" lIns="0" tIns="0" rIns="0" bIns="0" anchor="ctr">
            <a:spAutoFit/>
          </a:bodyPr>
          <a:lstStyle/>
          <a:p>
            <a:pPr algn="l">
              <a:lnSpc>
                <a:spcPct val="105000"/>
              </a:lnSpc>
            </a:pPr>
            <a:r>
              <a:rPr sz="536" dirty="0" err="1">
                <a:solidFill>
                  <a:srgbClr val="263442"/>
                </a:solidFill>
                <a:latin typeface="Arial"/>
              </a:rPr>
              <a:t>RDKit</a:t>
            </a:r>
            <a:endParaRPr sz="536" dirty="0">
              <a:solidFill>
                <a:srgbClr val="263442"/>
              </a:solidFill>
              <a:latin typeface="Arial"/>
            </a:endParaRPr>
          </a:p>
        </p:txBody>
      </p:sp>
      <p:grpSp>
        <p:nvGrpSpPr>
          <p:cNvPr id="669" name="Identity | Own molecular graph">
            <a:extLst>
              <a:ext uri="{FF2B5EF4-FFF2-40B4-BE49-F238E27FC236}">
                <a16:creationId xmlns:a16="http://schemas.microsoft.com/office/drawing/2014/main" id="{683652C7-CC94-2A9C-935C-36CF7B7EB5E8}"/>
              </a:ext>
            </a:extLst>
          </p:cNvPr>
          <p:cNvGrpSpPr/>
          <p:nvPr/>
        </p:nvGrpSpPr>
        <p:grpSpPr>
          <a:xfrm>
            <a:off x="2862931" y="2888431"/>
            <a:ext cx="284773" cy="171742"/>
            <a:chOff x="3366271" y="3721905"/>
            <a:chExt cx="311024" cy="187573"/>
          </a:xfrm>
        </p:grpSpPr>
        <p:cxnSp>
          <p:nvCxnSpPr>
            <p:cNvPr id="670" name="path_2698">
              <a:extLst>
                <a:ext uri="{FF2B5EF4-FFF2-40B4-BE49-F238E27FC236}">
                  <a16:creationId xmlns:a16="http://schemas.microsoft.com/office/drawing/2014/main" id="{08C9C74A-0B12-2E3C-023F-C3DCDEFB7AF1}"/>
                </a:ext>
              </a:extLst>
            </p:cNvPr>
            <p:cNvCxnSpPr/>
            <p:nvPr/>
          </p:nvCxnSpPr>
          <p:spPr>
            <a:xfrm flipV="1">
              <a:off x="3381053" y="3736688"/>
              <a:ext cx="63663" cy="70463"/>
            </a:xfrm>
            <a:prstGeom prst="line">
              <a:avLst/>
            </a:prstGeom>
            <a:noFill/>
            <a:ln w="5256" cap="rnd" cmpd="sng" algn="ctr">
              <a:solidFill>
                <a:srgbClr val="238777"/>
              </a:solidFill>
              <a:prstDash val="solid"/>
              <a:round/>
              <a:headEnd type="none" w="med" len="med"/>
              <a:tailEnd type="none" w="med" len="med"/>
            </a:ln>
            <a:effectLst/>
          </p:spPr>
        </p:cxnSp>
        <p:cxnSp>
          <p:nvCxnSpPr>
            <p:cNvPr id="671" name="path_2699">
              <a:extLst>
                <a:ext uri="{FF2B5EF4-FFF2-40B4-BE49-F238E27FC236}">
                  <a16:creationId xmlns:a16="http://schemas.microsoft.com/office/drawing/2014/main" id="{1CF65ECB-9AC9-C310-5460-0B86FF6B2BC5}"/>
                </a:ext>
              </a:extLst>
            </p:cNvPr>
            <p:cNvCxnSpPr/>
            <p:nvPr/>
          </p:nvCxnSpPr>
          <p:spPr>
            <a:xfrm>
              <a:off x="3444717" y="3736688"/>
              <a:ext cx="113924" cy="14947"/>
            </a:xfrm>
            <a:prstGeom prst="line">
              <a:avLst/>
            </a:prstGeom>
            <a:noFill/>
            <a:ln w="5256" cap="rnd" cmpd="sng" algn="ctr">
              <a:solidFill>
                <a:srgbClr val="238777"/>
              </a:solidFill>
              <a:prstDash val="solid"/>
              <a:round/>
              <a:headEnd type="none" w="med" len="med"/>
              <a:tailEnd type="none" w="med" len="med"/>
            </a:ln>
            <a:effectLst/>
          </p:spPr>
        </p:cxnSp>
        <p:cxnSp>
          <p:nvCxnSpPr>
            <p:cNvPr id="672" name="path_2700">
              <a:extLst>
                <a:ext uri="{FF2B5EF4-FFF2-40B4-BE49-F238E27FC236}">
                  <a16:creationId xmlns:a16="http://schemas.microsoft.com/office/drawing/2014/main" id="{47F0AAAA-D782-D4D4-41E7-7304CCE8D568}"/>
                </a:ext>
              </a:extLst>
            </p:cNvPr>
            <p:cNvCxnSpPr/>
            <p:nvPr/>
          </p:nvCxnSpPr>
          <p:spPr>
            <a:xfrm>
              <a:off x="3558640" y="3751634"/>
              <a:ext cx="73715" cy="64058"/>
            </a:xfrm>
            <a:prstGeom prst="line">
              <a:avLst/>
            </a:prstGeom>
            <a:noFill/>
            <a:ln w="5256" cap="rnd" cmpd="sng" algn="ctr">
              <a:solidFill>
                <a:srgbClr val="238777"/>
              </a:solidFill>
              <a:prstDash val="solid"/>
              <a:round/>
              <a:headEnd type="none" w="med" len="med"/>
              <a:tailEnd type="none" w="med" len="med"/>
            </a:ln>
            <a:effectLst/>
          </p:spPr>
        </p:cxnSp>
        <p:cxnSp>
          <p:nvCxnSpPr>
            <p:cNvPr id="673" name="path_2701">
              <a:extLst>
                <a:ext uri="{FF2B5EF4-FFF2-40B4-BE49-F238E27FC236}">
                  <a16:creationId xmlns:a16="http://schemas.microsoft.com/office/drawing/2014/main" id="{672DEF92-FEF6-A8B8-A079-671D6D70071E}"/>
                </a:ext>
              </a:extLst>
            </p:cNvPr>
            <p:cNvCxnSpPr/>
            <p:nvPr/>
          </p:nvCxnSpPr>
          <p:spPr>
            <a:xfrm flipH="1">
              <a:off x="3561991" y="3815692"/>
              <a:ext cx="70365" cy="79004"/>
            </a:xfrm>
            <a:prstGeom prst="line">
              <a:avLst/>
            </a:prstGeom>
            <a:noFill/>
            <a:ln w="5256" cap="rnd" cmpd="sng" algn="ctr">
              <a:solidFill>
                <a:srgbClr val="238777"/>
              </a:solidFill>
              <a:prstDash val="solid"/>
              <a:round/>
              <a:headEnd type="none" w="med" len="med"/>
              <a:tailEnd type="none" w="med" len="med"/>
            </a:ln>
            <a:effectLst/>
          </p:spPr>
        </p:cxnSp>
        <p:cxnSp>
          <p:nvCxnSpPr>
            <p:cNvPr id="674" name="path_2702">
              <a:extLst>
                <a:ext uri="{FF2B5EF4-FFF2-40B4-BE49-F238E27FC236}">
                  <a16:creationId xmlns:a16="http://schemas.microsoft.com/office/drawing/2014/main" id="{B02A38E3-8AB1-C1CA-A784-7A02E63B2D09}"/>
                </a:ext>
              </a:extLst>
            </p:cNvPr>
            <p:cNvCxnSpPr/>
            <p:nvPr/>
          </p:nvCxnSpPr>
          <p:spPr>
            <a:xfrm flipH="1" flipV="1">
              <a:off x="3444717" y="3875479"/>
              <a:ext cx="117275" cy="19217"/>
            </a:xfrm>
            <a:prstGeom prst="line">
              <a:avLst/>
            </a:prstGeom>
            <a:noFill/>
            <a:ln w="5256" cap="rnd" cmpd="sng" algn="ctr">
              <a:solidFill>
                <a:srgbClr val="238777"/>
              </a:solidFill>
              <a:prstDash val="solid"/>
              <a:round/>
              <a:headEnd type="none" w="med" len="med"/>
              <a:tailEnd type="none" w="med" len="med"/>
            </a:ln>
            <a:effectLst/>
          </p:spPr>
        </p:cxnSp>
        <p:cxnSp>
          <p:nvCxnSpPr>
            <p:cNvPr id="675" name="path_2703">
              <a:extLst>
                <a:ext uri="{FF2B5EF4-FFF2-40B4-BE49-F238E27FC236}">
                  <a16:creationId xmlns:a16="http://schemas.microsoft.com/office/drawing/2014/main" id="{5EB27651-D3BE-22CD-39D8-D428781F5F97}"/>
                </a:ext>
              </a:extLst>
            </p:cNvPr>
            <p:cNvCxnSpPr/>
            <p:nvPr/>
          </p:nvCxnSpPr>
          <p:spPr>
            <a:xfrm flipH="1" flipV="1">
              <a:off x="3381053" y="3807151"/>
              <a:ext cx="63663" cy="68328"/>
            </a:xfrm>
            <a:prstGeom prst="line">
              <a:avLst/>
            </a:prstGeom>
            <a:noFill/>
            <a:ln w="5256" cap="rnd" cmpd="sng" algn="ctr">
              <a:solidFill>
                <a:srgbClr val="238777"/>
              </a:solidFill>
              <a:prstDash val="solid"/>
              <a:round/>
              <a:headEnd type="none" w="med" len="med"/>
              <a:tailEnd type="none" w="med" len="med"/>
            </a:ln>
            <a:effectLst/>
          </p:spPr>
        </p:cxnSp>
        <p:cxnSp>
          <p:nvCxnSpPr>
            <p:cNvPr id="676" name="path_2704">
              <a:extLst>
                <a:ext uri="{FF2B5EF4-FFF2-40B4-BE49-F238E27FC236}">
                  <a16:creationId xmlns:a16="http://schemas.microsoft.com/office/drawing/2014/main" id="{A3592B63-1411-3F57-5878-96E17C30AD75}"/>
                </a:ext>
              </a:extLst>
            </p:cNvPr>
            <p:cNvCxnSpPr/>
            <p:nvPr/>
          </p:nvCxnSpPr>
          <p:spPr>
            <a:xfrm flipV="1">
              <a:off x="3558640" y="3745228"/>
              <a:ext cx="103872" cy="6406"/>
            </a:xfrm>
            <a:prstGeom prst="line">
              <a:avLst/>
            </a:prstGeom>
            <a:noFill/>
            <a:ln w="5256" cap="rnd" cmpd="sng" algn="ctr">
              <a:solidFill>
                <a:srgbClr val="238777"/>
              </a:solidFill>
              <a:prstDash val="solid"/>
              <a:round/>
              <a:headEnd type="none" w="med" len="med"/>
              <a:tailEnd type="none" w="med" len="med"/>
            </a:ln>
            <a:effectLst/>
          </p:spPr>
        </p:cxnSp>
        <p:sp>
          <p:nvSpPr>
            <p:cNvPr id="677" name="ellipse_2705">
              <a:extLst>
                <a:ext uri="{FF2B5EF4-FFF2-40B4-BE49-F238E27FC236}">
                  <a16:creationId xmlns:a16="http://schemas.microsoft.com/office/drawing/2014/main" id="{C3D36D22-8CEB-B663-A605-02E9CFFED0C1}"/>
                </a:ext>
              </a:extLst>
            </p:cNvPr>
            <p:cNvSpPr/>
            <p:nvPr/>
          </p:nvSpPr>
          <p:spPr>
            <a:xfrm>
              <a:off x="3366271" y="3792368"/>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8" name="ellipse_2706">
              <a:extLst>
                <a:ext uri="{FF2B5EF4-FFF2-40B4-BE49-F238E27FC236}">
                  <a16:creationId xmlns:a16="http://schemas.microsoft.com/office/drawing/2014/main" id="{1F86BCBC-B96E-6EC5-AC9B-22A20629DF0F}"/>
                </a:ext>
              </a:extLst>
            </p:cNvPr>
            <p:cNvSpPr/>
            <p:nvPr/>
          </p:nvSpPr>
          <p:spPr>
            <a:xfrm>
              <a:off x="3429934" y="3721905"/>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9" name="ellipse_2707">
              <a:extLst>
                <a:ext uri="{FF2B5EF4-FFF2-40B4-BE49-F238E27FC236}">
                  <a16:creationId xmlns:a16="http://schemas.microsoft.com/office/drawing/2014/main" id="{0D7ED534-2755-74EA-6149-4A7E3A7E8992}"/>
                </a:ext>
              </a:extLst>
            </p:cNvPr>
            <p:cNvSpPr/>
            <p:nvPr/>
          </p:nvSpPr>
          <p:spPr>
            <a:xfrm>
              <a:off x="3543858" y="3736852"/>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0" name="ellipse_2708">
              <a:extLst>
                <a:ext uri="{FF2B5EF4-FFF2-40B4-BE49-F238E27FC236}">
                  <a16:creationId xmlns:a16="http://schemas.microsoft.com/office/drawing/2014/main" id="{01CC7294-C7B5-D1A4-A138-902105284B89}"/>
                </a:ext>
              </a:extLst>
            </p:cNvPr>
            <p:cNvSpPr/>
            <p:nvPr/>
          </p:nvSpPr>
          <p:spPr>
            <a:xfrm>
              <a:off x="3617573" y="3800909"/>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1" name="ellipse_2709">
              <a:extLst>
                <a:ext uri="{FF2B5EF4-FFF2-40B4-BE49-F238E27FC236}">
                  <a16:creationId xmlns:a16="http://schemas.microsoft.com/office/drawing/2014/main" id="{80734E48-9DE8-B4FD-D0D4-D53693BBEADF}"/>
                </a:ext>
              </a:extLst>
            </p:cNvPr>
            <p:cNvSpPr/>
            <p:nvPr/>
          </p:nvSpPr>
          <p:spPr>
            <a:xfrm>
              <a:off x="3547209" y="3879913"/>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2" name="ellipse_2710">
              <a:extLst>
                <a:ext uri="{FF2B5EF4-FFF2-40B4-BE49-F238E27FC236}">
                  <a16:creationId xmlns:a16="http://schemas.microsoft.com/office/drawing/2014/main" id="{3DB6F677-E1A0-2C7D-CADD-FB389865F633}"/>
                </a:ext>
              </a:extLst>
            </p:cNvPr>
            <p:cNvSpPr/>
            <p:nvPr/>
          </p:nvSpPr>
          <p:spPr>
            <a:xfrm>
              <a:off x="3429934" y="386069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3" name="ellipse_2711">
              <a:extLst>
                <a:ext uri="{FF2B5EF4-FFF2-40B4-BE49-F238E27FC236}">
                  <a16:creationId xmlns:a16="http://schemas.microsoft.com/office/drawing/2014/main" id="{D105DBC9-3C6D-0576-1E95-E04BFA9EB1EF}"/>
                </a:ext>
              </a:extLst>
            </p:cNvPr>
            <p:cNvSpPr/>
            <p:nvPr/>
          </p:nvSpPr>
          <p:spPr>
            <a:xfrm>
              <a:off x="3647730" y="373044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grpSp>
      <p:sp>
        <p:nvSpPr>
          <p:cNvPr id="684" name="TextBox 12226">
            <a:extLst>
              <a:ext uri="{FF2B5EF4-FFF2-40B4-BE49-F238E27FC236}">
                <a16:creationId xmlns:a16="http://schemas.microsoft.com/office/drawing/2014/main" id="{43DBD103-E22F-DA52-F0ED-122A5CA41D61}"/>
              </a:ext>
            </a:extLst>
          </p:cNvPr>
          <p:cNvSpPr txBox="1"/>
          <p:nvPr/>
        </p:nvSpPr>
        <p:spPr>
          <a:xfrm>
            <a:off x="2837002" y="3080344"/>
            <a:ext cx="336631" cy="80599"/>
          </a:xfrm>
          <a:prstGeom prst="rect">
            <a:avLst/>
          </a:prstGeom>
          <a:noFill/>
        </p:spPr>
        <p:txBody>
          <a:bodyPr wrap="none" lIns="0" tIns="0" rIns="0" bIns="0" anchor="ctr">
            <a:spAutoFit/>
          </a:bodyPr>
          <a:lstStyle/>
          <a:p>
            <a:pPr algn="ctr">
              <a:lnSpc>
                <a:spcPct val="105000"/>
              </a:lnSpc>
            </a:pPr>
            <a:r>
              <a:rPr sz="536">
                <a:solidFill>
                  <a:srgbClr val="263442"/>
                </a:solidFill>
                <a:latin typeface="Arial"/>
              </a:rPr>
              <a:t>Own graph</a:t>
            </a:r>
          </a:p>
        </p:txBody>
      </p:sp>
      <p:sp>
        <p:nvSpPr>
          <p:cNvPr id="685" name="Op | GNN">
            <a:extLst>
              <a:ext uri="{FF2B5EF4-FFF2-40B4-BE49-F238E27FC236}">
                <a16:creationId xmlns:a16="http://schemas.microsoft.com/office/drawing/2014/main" id="{98330FF3-2E5A-32C3-D33C-D78225E1943D}"/>
              </a:ext>
            </a:extLst>
          </p:cNvPr>
          <p:cNvSpPr/>
          <p:nvPr/>
        </p:nvSpPr>
        <p:spPr>
          <a:xfrm>
            <a:off x="2823379" y="3239299"/>
            <a:ext cx="363877"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GNN</a:t>
            </a:r>
          </a:p>
        </p:txBody>
      </p:sp>
      <p:sp>
        <p:nvSpPr>
          <p:cNvPr id="686" name="TextBox 12228">
            <a:extLst>
              <a:ext uri="{FF2B5EF4-FFF2-40B4-BE49-F238E27FC236}">
                <a16:creationId xmlns:a16="http://schemas.microsoft.com/office/drawing/2014/main" id="{26538413-3AE9-9872-D0A6-0AEA9E6FF809}"/>
              </a:ext>
            </a:extLst>
          </p:cNvPr>
          <p:cNvSpPr txBox="1"/>
          <p:nvPr/>
        </p:nvSpPr>
        <p:spPr>
          <a:xfrm>
            <a:off x="3036959" y="3388848"/>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687" name="Op | Graph attention">
            <a:extLst>
              <a:ext uri="{FF2B5EF4-FFF2-40B4-BE49-F238E27FC236}">
                <a16:creationId xmlns:a16="http://schemas.microsoft.com/office/drawing/2014/main" id="{5F3701CD-DCA3-D9CA-7FA3-D737E8718A60}"/>
              </a:ext>
            </a:extLst>
          </p:cNvPr>
          <p:cNvSpPr/>
          <p:nvPr/>
        </p:nvSpPr>
        <p:spPr>
          <a:xfrm>
            <a:off x="2696813" y="3500341"/>
            <a:ext cx="617009"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Graph</a:t>
            </a:r>
            <a:r>
              <a:rPr sz="580" dirty="0">
                <a:solidFill>
                  <a:srgbClr val="263442"/>
                </a:solidFill>
                <a:latin typeface="Arial"/>
              </a:rPr>
              <a:t> </a:t>
            </a:r>
            <a:r>
              <a:rPr sz="588" dirty="0">
                <a:solidFill>
                  <a:srgbClr val="263442"/>
                </a:solidFill>
                <a:latin typeface="Arial"/>
              </a:rPr>
              <a:t>attention</a:t>
            </a:r>
          </a:p>
        </p:txBody>
      </p:sp>
      <p:sp>
        <p:nvSpPr>
          <p:cNvPr id="688" name="Op | SMI-TED">
            <a:extLst>
              <a:ext uri="{FF2B5EF4-FFF2-40B4-BE49-F238E27FC236}">
                <a16:creationId xmlns:a16="http://schemas.microsoft.com/office/drawing/2014/main" id="{9F250B16-9768-CC2C-86AF-59769C8EEC4C}"/>
              </a:ext>
            </a:extLst>
          </p:cNvPr>
          <p:cNvSpPr/>
          <p:nvPr/>
        </p:nvSpPr>
        <p:spPr>
          <a:xfrm>
            <a:off x="3459362" y="2971538"/>
            <a:ext cx="427160"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SMI-TED</a:t>
            </a:r>
          </a:p>
        </p:txBody>
      </p:sp>
      <p:sp>
        <p:nvSpPr>
          <p:cNvPr id="689" name="Language vector v_k_1">
            <a:extLst>
              <a:ext uri="{FF2B5EF4-FFF2-40B4-BE49-F238E27FC236}">
                <a16:creationId xmlns:a16="http://schemas.microsoft.com/office/drawing/2014/main" id="{E695888D-D925-5392-2451-D7757F2B6BC7}"/>
              </a:ext>
            </a:extLst>
          </p:cNvPr>
          <p:cNvSpPr/>
          <p:nvPr/>
        </p:nvSpPr>
        <p:spPr>
          <a:xfrm>
            <a:off x="3527403"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0" name="Language vector v_k_2">
            <a:extLst>
              <a:ext uri="{FF2B5EF4-FFF2-40B4-BE49-F238E27FC236}">
                <a16:creationId xmlns:a16="http://schemas.microsoft.com/office/drawing/2014/main" id="{914284BD-BAB8-4AEA-A1F1-E7FC853BC87F}"/>
              </a:ext>
            </a:extLst>
          </p:cNvPr>
          <p:cNvSpPr/>
          <p:nvPr/>
        </p:nvSpPr>
        <p:spPr>
          <a:xfrm>
            <a:off x="3568650"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1" name="Language vector v_k_3">
            <a:extLst>
              <a:ext uri="{FF2B5EF4-FFF2-40B4-BE49-F238E27FC236}">
                <a16:creationId xmlns:a16="http://schemas.microsoft.com/office/drawing/2014/main" id="{A224CED9-3025-4474-CF80-E118B0ACA7AB}"/>
              </a:ext>
            </a:extLst>
          </p:cNvPr>
          <p:cNvSpPr/>
          <p:nvPr/>
        </p:nvSpPr>
        <p:spPr>
          <a:xfrm>
            <a:off x="3609897"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2" name="Language vector v_k_4">
            <a:extLst>
              <a:ext uri="{FF2B5EF4-FFF2-40B4-BE49-F238E27FC236}">
                <a16:creationId xmlns:a16="http://schemas.microsoft.com/office/drawing/2014/main" id="{3641CBF3-C5A5-2DC2-88CA-B3F2C816508D}"/>
              </a:ext>
            </a:extLst>
          </p:cNvPr>
          <p:cNvSpPr/>
          <p:nvPr/>
        </p:nvSpPr>
        <p:spPr>
          <a:xfrm>
            <a:off x="3651144" y="3547013"/>
            <a:ext cx="37291" cy="56955"/>
          </a:xfrm>
          <a:prstGeom prst="rect">
            <a:avLst/>
          </a:prstGeom>
          <a:solidFill>
            <a:srgbClr val="CBE7D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3" name="Language vector v_k_5">
            <a:extLst>
              <a:ext uri="{FF2B5EF4-FFF2-40B4-BE49-F238E27FC236}">
                <a16:creationId xmlns:a16="http://schemas.microsoft.com/office/drawing/2014/main" id="{B6BA4357-39F7-598C-72FA-2FC00B25A10F}"/>
              </a:ext>
            </a:extLst>
          </p:cNvPr>
          <p:cNvSpPr/>
          <p:nvPr/>
        </p:nvSpPr>
        <p:spPr>
          <a:xfrm>
            <a:off x="3692391"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4" name="Language vector v_k_6">
            <a:extLst>
              <a:ext uri="{FF2B5EF4-FFF2-40B4-BE49-F238E27FC236}">
                <a16:creationId xmlns:a16="http://schemas.microsoft.com/office/drawing/2014/main" id="{14F9C08B-08C8-5CC8-21F6-EC42430BFA81}"/>
              </a:ext>
            </a:extLst>
          </p:cNvPr>
          <p:cNvSpPr/>
          <p:nvPr/>
        </p:nvSpPr>
        <p:spPr>
          <a:xfrm>
            <a:off x="3733638"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5" name="Language vector v_k_7">
            <a:extLst>
              <a:ext uri="{FF2B5EF4-FFF2-40B4-BE49-F238E27FC236}">
                <a16:creationId xmlns:a16="http://schemas.microsoft.com/office/drawing/2014/main" id="{52E0E1B7-31F4-244C-BA32-494F415D5F2F}"/>
              </a:ext>
            </a:extLst>
          </p:cNvPr>
          <p:cNvSpPr/>
          <p:nvPr/>
        </p:nvSpPr>
        <p:spPr>
          <a:xfrm>
            <a:off x="3774885"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6" name="TextBox 12239">
            <a:extLst>
              <a:ext uri="{FF2B5EF4-FFF2-40B4-BE49-F238E27FC236}">
                <a16:creationId xmlns:a16="http://schemas.microsoft.com/office/drawing/2014/main" id="{DE6BD61F-48C0-C267-E36F-0AC7BC24100D}"/>
              </a:ext>
            </a:extLst>
          </p:cNvPr>
          <p:cNvSpPr txBox="1"/>
          <p:nvPr/>
        </p:nvSpPr>
        <p:spPr>
          <a:xfrm>
            <a:off x="3353374" y="3475189"/>
            <a:ext cx="126566" cy="81946"/>
          </a:xfrm>
          <a:prstGeom prst="rect">
            <a:avLst/>
          </a:prstGeom>
          <a:noFill/>
        </p:spPr>
        <p:txBody>
          <a:bodyPr wrap="square" lIns="0" tIns="0" rIns="0" bIns="0" anchor="ctr">
            <a:spAutoFit/>
          </a:bodyPr>
          <a:lstStyle/>
          <a:p>
            <a:pPr algn="ctr">
              <a:lnSpc>
                <a:spcPct val="105000"/>
              </a:lnSpc>
            </a:pPr>
            <a:r>
              <a:rPr sz="545" dirty="0">
                <a:solidFill>
                  <a:srgbClr val="263442"/>
                </a:solidFill>
                <a:latin typeface="Arial"/>
              </a:rPr>
              <a:t>Q</a:t>
            </a:r>
          </a:p>
        </p:txBody>
      </p:sp>
      <p:sp>
        <p:nvSpPr>
          <p:cNvPr id="697" name="TextBox 12240">
            <a:extLst>
              <a:ext uri="{FF2B5EF4-FFF2-40B4-BE49-F238E27FC236}">
                <a16:creationId xmlns:a16="http://schemas.microsoft.com/office/drawing/2014/main" id="{2ACBC05C-C556-BA36-3DA9-0D37D9382C06}"/>
              </a:ext>
            </a:extLst>
          </p:cNvPr>
          <p:cNvSpPr txBox="1"/>
          <p:nvPr/>
        </p:nvSpPr>
        <p:spPr>
          <a:xfrm>
            <a:off x="3859638" y="3475189"/>
            <a:ext cx="126566" cy="81946"/>
          </a:xfrm>
          <a:prstGeom prst="rect">
            <a:avLst/>
          </a:prstGeom>
          <a:noFill/>
        </p:spPr>
        <p:txBody>
          <a:bodyPr wrap="square" lIns="0" tIns="0" rIns="0" bIns="0" anchor="ctr">
            <a:spAutoFit/>
          </a:bodyPr>
          <a:lstStyle/>
          <a:p>
            <a:pPr algn="ctr">
              <a:lnSpc>
                <a:spcPct val="105000"/>
              </a:lnSpc>
            </a:pPr>
            <a:r>
              <a:rPr sz="545">
                <a:solidFill>
                  <a:srgbClr val="263442"/>
                </a:solidFill>
                <a:latin typeface="Arial"/>
              </a:rPr>
              <a:t>Q</a:t>
            </a:r>
          </a:p>
        </p:txBody>
      </p:sp>
      <p:sp>
        <p:nvSpPr>
          <p:cNvPr id="698" name="TextBox 12241">
            <a:extLst>
              <a:ext uri="{FF2B5EF4-FFF2-40B4-BE49-F238E27FC236}">
                <a16:creationId xmlns:a16="http://schemas.microsoft.com/office/drawing/2014/main" id="{0B3A68EF-7CF9-A2EB-24B2-085C5BF1F71F}"/>
              </a:ext>
            </a:extLst>
          </p:cNvPr>
          <p:cNvSpPr txBox="1"/>
          <p:nvPr/>
        </p:nvSpPr>
        <p:spPr>
          <a:xfrm>
            <a:off x="4373812" y="2542416"/>
            <a:ext cx="379698" cy="151836"/>
          </a:xfrm>
          <a:prstGeom prst="rect">
            <a:avLst/>
          </a:prstGeom>
          <a:noFill/>
        </p:spPr>
        <p:txBody>
          <a:bodyPr wrap="square" lIns="0" tIns="0" rIns="0" bIns="0" anchor="ctr">
            <a:spAutoFit/>
          </a:bodyPr>
          <a:lstStyle/>
          <a:p>
            <a:pPr algn="l">
              <a:lnSpc>
                <a:spcPct val="95000"/>
              </a:lnSpc>
            </a:pPr>
            <a:r>
              <a:rPr lang="en-US" sz="519" dirty="0">
                <a:solidFill>
                  <a:srgbClr val="263442"/>
                </a:solidFill>
                <a:latin typeface="Arial"/>
              </a:rPr>
              <a:t>  </a:t>
            </a:r>
            <a:r>
              <a:rPr sz="519" dirty="0">
                <a:solidFill>
                  <a:srgbClr val="263442"/>
                </a:solidFill>
                <a:latin typeface="Arial"/>
              </a:rPr>
              <a:t>Other</a:t>
            </a:r>
          </a:p>
          <a:p>
            <a:pPr algn="l">
              <a:lnSpc>
                <a:spcPct val="95000"/>
              </a:lnSpc>
            </a:pPr>
            <a:r>
              <a:rPr sz="519" dirty="0">
                <a:solidFill>
                  <a:srgbClr val="263442"/>
                </a:solidFill>
                <a:latin typeface="Arial"/>
              </a:rPr>
              <a:t>identities</a:t>
            </a:r>
          </a:p>
        </p:txBody>
      </p:sp>
      <p:sp>
        <p:nvSpPr>
          <p:cNvPr id="699" name="Op | SMI-TED">
            <a:extLst>
              <a:ext uri="{FF2B5EF4-FFF2-40B4-BE49-F238E27FC236}">
                <a16:creationId xmlns:a16="http://schemas.microsoft.com/office/drawing/2014/main" id="{6691CF15-5DAD-F305-5973-B1ACEFFF5CBF}"/>
              </a:ext>
            </a:extLst>
          </p:cNvPr>
          <p:cNvSpPr/>
          <p:nvPr/>
        </p:nvSpPr>
        <p:spPr>
          <a:xfrm>
            <a:off x="4140927" y="2967199"/>
            <a:ext cx="427160"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SMI-TED</a:t>
            </a:r>
          </a:p>
        </p:txBody>
      </p:sp>
      <p:sp>
        <p:nvSpPr>
          <p:cNvPr id="700" name="TextBox 12244">
            <a:extLst>
              <a:ext uri="{FF2B5EF4-FFF2-40B4-BE49-F238E27FC236}">
                <a16:creationId xmlns:a16="http://schemas.microsoft.com/office/drawing/2014/main" id="{13C55E5C-99C8-F46D-3353-FED4827206EC}"/>
              </a:ext>
            </a:extLst>
          </p:cNvPr>
          <p:cNvSpPr txBox="1"/>
          <p:nvPr/>
        </p:nvSpPr>
        <p:spPr>
          <a:xfrm>
            <a:off x="4128591" y="3197919"/>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1</a:t>
            </a:r>
          </a:p>
        </p:txBody>
      </p:sp>
      <p:sp>
        <p:nvSpPr>
          <p:cNvPr id="701" name="Context bar 1_1">
            <a:extLst>
              <a:ext uri="{FF2B5EF4-FFF2-40B4-BE49-F238E27FC236}">
                <a16:creationId xmlns:a16="http://schemas.microsoft.com/office/drawing/2014/main" id="{F675EB2C-E3F4-CF25-F2F9-B217A0C64998}"/>
              </a:ext>
            </a:extLst>
          </p:cNvPr>
          <p:cNvSpPr/>
          <p:nvPr/>
        </p:nvSpPr>
        <p:spPr>
          <a:xfrm>
            <a:off x="4223515"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2" name="Context bar 1_2">
            <a:extLst>
              <a:ext uri="{FF2B5EF4-FFF2-40B4-BE49-F238E27FC236}">
                <a16:creationId xmlns:a16="http://schemas.microsoft.com/office/drawing/2014/main" id="{7015B7C2-EE7A-8CD3-BF9A-C8F6C295F2D3}"/>
              </a:ext>
            </a:extLst>
          </p:cNvPr>
          <p:cNvSpPr/>
          <p:nvPr/>
        </p:nvSpPr>
        <p:spPr>
          <a:xfrm>
            <a:off x="4271637"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3" name="Context bar 1_3">
            <a:extLst>
              <a:ext uri="{FF2B5EF4-FFF2-40B4-BE49-F238E27FC236}">
                <a16:creationId xmlns:a16="http://schemas.microsoft.com/office/drawing/2014/main" id="{0283D963-CC89-9552-BBFA-44417F9A5810}"/>
              </a:ext>
            </a:extLst>
          </p:cNvPr>
          <p:cNvSpPr/>
          <p:nvPr/>
        </p:nvSpPr>
        <p:spPr>
          <a:xfrm>
            <a:off x="4319758" y="3223887"/>
            <a:ext cx="44166" cy="34806"/>
          </a:xfrm>
          <a:prstGeom prst="rect">
            <a:avLst/>
          </a:prstGeom>
          <a:solidFill>
            <a:srgbClr val="BFD2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4" name="Context bar 1_4">
            <a:extLst>
              <a:ext uri="{FF2B5EF4-FFF2-40B4-BE49-F238E27FC236}">
                <a16:creationId xmlns:a16="http://schemas.microsoft.com/office/drawing/2014/main" id="{DFE762FA-D62F-609E-23C6-B16577CF789A}"/>
              </a:ext>
            </a:extLst>
          </p:cNvPr>
          <p:cNvSpPr/>
          <p:nvPr/>
        </p:nvSpPr>
        <p:spPr>
          <a:xfrm>
            <a:off x="4367880" y="3223887"/>
            <a:ext cx="44166" cy="34806"/>
          </a:xfrm>
          <a:prstGeom prst="rect">
            <a:avLst/>
          </a:prstGeom>
          <a:solidFill>
            <a:srgbClr val="7397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5" name="Context bar 1_5">
            <a:extLst>
              <a:ext uri="{FF2B5EF4-FFF2-40B4-BE49-F238E27FC236}">
                <a16:creationId xmlns:a16="http://schemas.microsoft.com/office/drawing/2014/main" id="{8A2B1ECE-222F-713D-5115-87805A38C6E9}"/>
              </a:ext>
            </a:extLst>
          </p:cNvPr>
          <p:cNvSpPr/>
          <p:nvPr/>
        </p:nvSpPr>
        <p:spPr>
          <a:xfrm>
            <a:off x="4416001"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6" name="Context bar 1_6">
            <a:extLst>
              <a:ext uri="{FF2B5EF4-FFF2-40B4-BE49-F238E27FC236}">
                <a16:creationId xmlns:a16="http://schemas.microsoft.com/office/drawing/2014/main" id="{F9202696-646F-1763-9139-E44B52B50C5F}"/>
              </a:ext>
            </a:extLst>
          </p:cNvPr>
          <p:cNvSpPr/>
          <p:nvPr/>
        </p:nvSpPr>
        <p:spPr>
          <a:xfrm>
            <a:off x="4464123"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7" name="TextBox 12251">
            <a:extLst>
              <a:ext uri="{FF2B5EF4-FFF2-40B4-BE49-F238E27FC236}">
                <a16:creationId xmlns:a16="http://schemas.microsoft.com/office/drawing/2014/main" id="{7BC06DFD-B767-BA41-2B05-2B0A38358B92}"/>
              </a:ext>
            </a:extLst>
          </p:cNvPr>
          <p:cNvSpPr txBox="1"/>
          <p:nvPr/>
        </p:nvSpPr>
        <p:spPr>
          <a:xfrm>
            <a:off x="4128591" y="3270220"/>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2</a:t>
            </a:r>
          </a:p>
        </p:txBody>
      </p:sp>
      <p:sp>
        <p:nvSpPr>
          <p:cNvPr id="708" name="Context bar 2_1">
            <a:extLst>
              <a:ext uri="{FF2B5EF4-FFF2-40B4-BE49-F238E27FC236}">
                <a16:creationId xmlns:a16="http://schemas.microsoft.com/office/drawing/2014/main" id="{520858ED-2877-9676-9DDD-53EAA8E37558}"/>
              </a:ext>
            </a:extLst>
          </p:cNvPr>
          <p:cNvSpPr/>
          <p:nvPr/>
        </p:nvSpPr>
        <p:spPr>
          <a:xfrm>
            <a:off x="4223515"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9" name="Context bar 2_2">
            <a:extLst>
              <a:ext uri="{FF2B5EF4-FFF2-40B4-BE49-F238E27FC236}">
                <a16:creationId xmlns:a16="http://schemas.microsoft.com/office/drawing/2014/main" id="{50A3D4F9-D9FE-CC8B-21E7-D32E326D8875}"/>
              </a:ext>
            </a:extLst>
          </p:cNvPr>
          <p:cNvSpPr/>
          <p:nvPr/>
        </p:nvSpPr>
        <p:spPr>
          <a:xfrm>
            <a:off x="4271637"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0" name="Context bar 2_3">
            <a:extLst>
              <a:ext uri="{FF2B5EF4-FFF2-40B4-BE49-F238E27FC236}">
                <a16:creationId xmlns:a16="http://schemas.microsoft.com/office/drawing/2014/main" id="{4471AA3C-5A9C-CEE5-0418-953EC2227441}"/>
              </a:ext>
            </a:extLst>
          </p:cNvPr>
          <p:cNvSpPr/>
          <p:nvPr/>
        </p:nvSpPr>
        <p:spPr>
          <a:xfrm>
            <a:off x="4319758" y="3286664"/>
            <a:ext cx="44166" cy="34806"/>
          </a:xfrm>
          <a:prstGeom prst="rect">
            <a:avLst/>
          </a:prstGeom>
          <a:solidFill>
            <a:srgbClr val="E0CC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1" name="Context bar 2_4">
            <a:extLst>
              <a:ext uri="{FF2B5EF4-FFF2-40B4-BE49-F238E27FC236}">
                <a16:creationId xmlns:a16="http://schemas.microsoft.com/office/drawing/2014/main" id="{B321BB44-18FA-E7F3-2924-BC94493FEA4A}"/>
              </a:ext>
            </a:extLst>
          </p:cNvPr>
          <p:cNvSpPr/>
          <p:nvPr/>
        </p:nvSpPr>
        <p:spPr>
          <a:xfrm>
            <a:off x="4367880" y="3286664"/>
            <a:ext cx="44166" cy="34806"/>
          </a:xfrm>
          <a:prstGeom prst="rect">
            <a:avLst/>
          </a:prstGeom>
          <a:solidFill>
            <a:srgbClr val="B58E5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2" name="Context bar 2_5">
            <a:extLst>
              <a:ext uri="{FF2B5EF4-FFF2-40B4-BE49-F238E27FC236}">
                <a16:creationId xmlns:a16="http://schemas.microsoft.com/office/drawing/2014/main" id="{BF58521A-8C41-BE24-9704-AEAF70385316}"/>
              </a:ext>
            </a:extLst>
          </p:cNvPr>
          <p:cNvSpPr/>
          <p:nvPr/>
        </p:nvSpPr>
        <p:spPr>
          <a:xfrm>
            <a:off x="4416001"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3" name="Context bar 2_6">
            <a:extLst>
              <a:ext uri="{FF2B5EF4-FFF2-40B4-BE49-F238E27FC236}">
                <a16:creationId xmlns:a16="http://schemas.microsoft.com/office/drawing/2014/main" id="{4283B810-9FFF-25F8-1960-4F272603052B}"/>
              </a:ext>
            </a:extLst>
          </p:cNvPr>
          <p:cNvSpPr/>
          <p:nvPr/>
        </p:nvSpPr>
        <p:spPr>
          <a:xfrm>
            <a:off x="4464123"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4" name="TextBox 12258">
            <a:extLst>
              <a:ext uri="{FF2B5EF4-FFF2-40B4-BE49-F238E27FC236}">
                <a16:creationId xmlns:a16="http://schemas.microsoft.com/office/drawing/2014/main" id="{D4C78125-5C89-7F13-017C-2E1C11AE7FDD}"/>
              </a:ext>
            </a:extLst>
          </p:cNvPr>
          <p:cNvSpPr txBox="1"/>
          <p:nvPr/>
        </p:nvSpPr>
        <p:spPr>
          <a:xfrm>
            <a:off x="4128591" y="3342522"/>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K</a:t>
            </a:r>
          </a:p>
        </p:txBody>
      </p:sp>
      <p:sp>
        <p:nvSpPr>
          <p:cNvPr id="715" name="Context bar K_1">
            <a:extLst>
              <a:ext uri="{FF2B5EF4-FFF2-40B4-BE49-F238E27FC236}">
                <a16:creationId xmlns:a16="http://schemas.microsoft.com/office/drawing/2014/main" id="{6C63634F-2307-320B-8E95-2B6ADA84F565}"/>
              </a:ext>
            </a:extLst>
          </p:cNvPr>
          <p:cNvSpPr/>
          <p:nvPr/>
        </p:nvSpPr>
        <p:spPr>
          <a:xfrm>
            <a:off x="4223515"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6" name="Context bar K_2">
            <a:extLst>
              <a:ext uri="{FF2B5EF4-FFF2-40B4-BE49-F238E27FC236}">
                <a16:creationId xmlns:a16="http://schemas.microsoft.com/office/drawing/2014/main" id="{582A4CF2-1B99-BCF5-A8D3-EE93D5F5B81F}"/>
              </a:ext>
            </a:extLst>
          </p:cNvPr>
          <p:cNvSpPr/>
          <p:nvPr/>
        </p:nvSpPr>
        <p:spPr>
          <a:xfrm>
            <a:off x="4271637"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7" name="Context bar K_3">
            <a:extLst>
              <a:ext uri="{FF2B5EF4-FFF2-40B4-BE49-F238E27FC236}">
                <a16:creationId xmlns:a16="http://schemas.microsoft.com/office/drawing/2014/main" id="{607B41B1-A111-8D93-E207-5DF6221B54D2}"/>
              </a:ext>
            </a:extLst>
          </p:cNvPr>
          <p:cNvSpPr/>
          <p:nvPr/>
        </p:nvSpPr>
        <p:spPr>
          <a:xfrm>
            <a:off x="4319758" y="3349440"/>
            <a:ext cx="44166" cy="34806"/>
          </a:xfrm>
          <a:prstGeom prst="rect">
            <a:avLst/>
          </a:prstGeom>
          <a:solidFill>
            <a:srgbClr val="CBC2E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8" name="Context bar K_4">
            <a:extLst>
              <a:ext uri="{FF2B5EF4-FFF2-40B4-BE49-F238E27FC236}">
                <a16:creationId xmlns:a16="http://schemas.microsoft.com/office/drawing/2014/main" id="{9539C2E7-004F-E86E-852E-98E80C399402}"/>
              </a:ext>
            </a:extLst>
          </p:cNvPr>
          <p:cNvSpPr/>
          <p:nvPr/>
        </p:nvSpPr>
        <p:spPr>
          <a:xfrm>
            <a:off x="4367880" y="3349440"/>
            <a:ext cx="44166" cy="34806"/>
          </a:xfrm>
          <a:prstGeom prst="rect">
            <a:avLst/>
          </a:prstGeom>
          <a:solidFill>
            <a:srgbClr val="8E7DB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9" name="Context bar K_5">
            <a:extLst>
              <a:ext uri="{FF2B5EF4-FFF2-40B4-BE49-F238E27FC236}">
                <a16:creationId xmlns:a16="http://schemas.microsoft.com/office/drawing/2014/main" id="{2DE0B959-537B-893B-9987-81BBF3647FFD}"/>
              </a:ext>
            </a:extLst>
          </p:cNvPr>
          <p:cNvSpPr/>
          <p:nvPr/>
        </p:nvSpPr>
        <p:spPr>
          <a:xfrm>
            <a:off x="4416001"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0" name="Context bar K_6">
            <a:extLst>
              <a:ext uri="{FF2B5EF4-FFF2-40B4-BE49-F238E27FC236}">
                <a16:creationId xmlns:a16="http://schemas.microsoft.com/office/drawing/2014/main" id="{147CE38B-269C-4BBA-77C6-2810C1D11F1C}"/>
              </a:ext>
            </a:extLst>
          </p:cNvPr>
          <p:cNvSpPr/>
          <p:nvPr/>
        </p:nvSpPr>
        <p:spPr>
          <a:xfrm>
            <a:off x="4464123"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1" name="TextBox 12265">
            <a:extLst>
              <a:ext uri="{FF2B5EF4-FFF2-40B4-BE49-F238E27FC236}">
                <a16:creationId xmlns:a16="http://schemas.microsoft.com/office/drawing/2014/main" id="{979CEBC9-AC70-1276-123A-637171F58084}"/>
              </a:ext>
            </a:extLst>
          </p:cNvPr>
          <p:cNvSpPr txBox="1"/>
          <p:nvPr/>
        </p:nvSpPr>
        <p:spPr>
          <a:xfrm>
            <a:off x="4381723" y="3400472"/>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722" name="Op | Context attention">
            <a:extLst>
              <a:ext uri="{FF2B5EF4-FFF2-40B4-BE49-F238E27FC236}">
                <a16:creationId xmlns:a16="http://schemas.microsoft.com/office/drawing/2014/main" id="{640CE564-549E-0D15-B50A-E392C9DB6304}"/>
              </a:ext>
            </a:extLst>
          </p:cNvPr>
          <p:cNvSpPr/>
          <p:nvPr/>
        </p:nvSpPr>
        <p:spPr>
          <a:xfrm>
            <a:off x="4025756" y="3500341"/>
            <a:ext cx="648651"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Context</a:t>
            </a:r>
            <a:r>
              <a:rPr sz="580" dirty="0">
                <a:solidFill>
                  <a:srgbClr val="263442"/>
                </a:solidFill>
                <a:latin typeface="Arial"/>
              </a:rPr>
              <a:t> attention</a:t>
            </a:r>
          </a:p>
        </p:txBody>
      </p:sp>
      <p:sp>
        <p:nvSpPr>
          <p:cNvPr id="723" name="Op | Fusion">
            <a:extLst>
              <a:ext uri="{FF2B5EF4-FFF2-40B4-BE49-F238E27FC236}">
                <a16:creationId xmlns:a16="http://schemas.microsoft.com/office/drawing/2014/main" id="{FF74A918-BF09-C9F6-6A9B-D421CF97BC33}"/>
              </a:ext>
            </a:extLst>
          </p:cNvPr>
          <p:cNvSpPr/>
          <p:nvPr/>
        </p:nvSpPr>
        <p:spPr>
          <a:xfrm>
            <a:off x="3479940" y="3733697"/>
            <a:ext cx="379698" cy="142387"/>
          </a:xfrm>
          <a:prstGeom prst="roundRect">
            <a:avLst>
              <a:gd name="adj" fmla="val 18000"/>
            </a:avLst>
          </a:prstGeom>
          <a:solidFill>
            <a:srgbClr val="EDE7F5"/>
          </a:solidFill>
          <a:ln w="7290">
            <a:solidFill>
              <a:srgbClr val="B8A9D9"/>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Fusion</a:t>
            </a:r>
          </a:p>
        </p:txBody>
      </p:sp>
      <p:sp>
        <p:nvSpPr>
          <p:cNvPr id="724" name="g_k bar_1">
            <a:extLst>
              <a:ext uri="{FF2B5EF4-FFF2-40B4-BE49-F238E27FC236}">
                <a16:creationId xmlns:a16="http://schemas.microsoft.com/office/drawing/2014/main" id="{CB9A6A2F-14EE-2004-CB53-FCE391ACED69}"/>
              </a:ext>
            </a:extLst>
          </p:cNvPr>
          <p:cNvSpPr/>
          <p:nvPr/>
        </p:nvSpPr>
        <p:spPr>
          <a:xfrm>
            <a:off x="3503672"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5" name="g_k bar_2">
            <a:extLst>
              <a:ext uri="{FF2B5EF4-FFF2-40B4-BE49-F238E27FC236}">
                <a16:creationId xmlns:a16="http://schemas.microsoft.com/office/drawing/2014/main" id="{E39FC69E-11ED-3FA2-32B9-5945059F2213}"/>
              </a:ext>
            </a:extLst>
          </p:cNvPr>
          <p:cNvSpPr/>
          <p:nvPr/>
        </p:nvSpPr>
        <p:spPr>
          <a:xfrm>
            <a:off x="3551699"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6" name="g_k bar_3">
            <a:extLst>
              <a:ext uri="{FF2B5EF4-FFF2-40B4-BE49-F238E27FC236}">
                <a16:creationId xmlns:a16="http://schemas.microsoft.com/office/drawing/2014/main" id="{543C1079-397B-91D4-0D56-9824953F1A51}"/>
              </a:ext>
            </a:extLst>
          </p:cNvPr>
          <p:cNvSpPr/>
          <p:nvPr/>
        </p:nvSpPr>
        <p:spPr>
          <a:xfrm>
            <a:off x="3599726"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7" name="g_k bar_4">
            <a:extLst>
              <a:ext uri="{FF2B5EF4-FFF2-40B4-BE49-F238E27FC236}">
                <a16:creationId xmlns:a16="http://schemas.microsoft.com/office/drawing/2014/main" id="{72768CF4-9EFB-DF24-7C89-6D351C730BA5}"/>
              </a:ext>
            </a:extLst>
          </p:cNvPr>
          <p:cNvSpPr/>
          <p:nvPr/>
        </p:nvSpPr>
        <p:spPr>
          <a:xfrm>
            <a:off x="3647753" y="3989994"/>
            <a:ext cx="44072" cy="56955"/>
          </a:xfrm>
          <a:prstGeom prst="rect">
            <a:avLst/>
          </a:prstGeom>
          <a:solidFill>
            <a:srgbClr val="68AB9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8" name="g_k bar_5">
            <a:extLst>
              <a:ext uri="{FF2B5EF4-FFF2-40B4-BE49-F238E27FC236}">
                <a16:creationId xmlns:a16="http://schemas.microsoft.com/office/drawing/2014/main" id="{4025AE17-AFDD-1F7D-9368-8E976FBC9D73}"/>
              </a:ext>
            </a:extLst>
          </p:cNvPr>
          <p:cNvSpPr/>
          <p:nvPr/>
        </p:nvSpPr>
        <p:spPr>
          <a:xfrm>
            <a:off x="3695781"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9" name="g_k bar_6">
            <a:extLst>
              <a:ext uri="{FF2B5EF4-FFF2-40B4-BE49-F238E27FC236}">
                <a16:creationId xmlns:a16="http://schemas.microsoft.com/office/drawing/2014/main" id="{894C2CFF-A654-8C7B-2480-AC98400CE487}"/>
              </a:ext>
            </a:extLst>
          </p:cNvPr>
          <p:cNvSpPr/>
          <p:nvPr/>
        </p:nvSpPr>
        <p:spPr>
          <a:xfrm>
            <a:off x="3743808"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0" name="g_k bar_7">
            <a:extLst>
              <a:ext uri="{FF2B5EF4-FFF2-40B4-BE49-F238E27FC236}">
                <a16:creationId xmlns:a16="http://schemas.microsoft.com/office/drawing/2014/main" id="{DC10EA75-05BB-E415-682D-FAFCD65B7377}"/>
              </a:ext>
            </a:extLst>
          </p:cNvPr>
          <p:cNvSpPr/>
          <p:nvPr/>
        </p:nvSpPr>
        <p:spPr>
          <a:xfrm>
            <a:off x="3791835"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1" name="Math | g_k^">
            <a:extLst>
              <a:ext uri="{FF2B5EF4-FFF2-40B4-BE49-F238E27FC236}">
                <a16:creationId xmlns:a16="http://schemas.microsoft.com/office/drawing/2014/main" id="{45321F2B-F3FA-58E1-92FE-B69A1AB20949}"/>
              </a:ext>
            </a:extLst>
          </p:cNvPr>
          <p:cNvSpPr txBox="1"/>
          <p:nvPr/>
        </p:nvSpPr>
        <p:spPr>
          <a:xfrm>
            <a:off x="3872532" y="3947306"/>
            <a:ext cx="84960" cy="126509"/>
          </a:xfrm>
          <a:prstGeom prst="rect">
            <a:avLst/>
          </a:prstGeom>
          <a:noFill/>
        </p:spPr>
        <p:txBody>
          <a:bodyPr wrap="none" lIns="0" tIns="0" rIns="0" bIns="0" anchor="ctr">
            <a:spAutoFit/>
          </a:bodyPr>
          <a:lstStyle/>
          <a:p>
            <a:pPr algn="ctr"/>
            <a:r>
              <a:rPr sz="855" i="1">
                <a:solidFill>
                  <a:srgbClr val="263442"/>
                </a:solidFill>
                <a:latin typeface="Times New Roman"/>
              </a:rPr>
              <a:t>g</a:t>
            </a:r>
            <a:r>
              <a:rPr sz="780" i="1" baseline="-28000">
                <a:solidFill>
                  <a:srgbClr val="263442"/>
                </a:solidFill>
                <a:latin typeface="Times New Roman"/>
              </a:rPr>
              <a:t>k</a:t>
            </a:r>
          </a:p>
        </p:txBody>
      </p:sp>
      <p:sp>
        <p:nvSpPr>
          <p:cNvPr id="732" name="Op | Cosine score">
            <a:extLst>
              <a:ext uri="{FF2B5EF4-FFF2-40B4-BE49-F238E27FC236}">
                <a16:creationId xmlns:a16="http://schemas.microsoft.com/office/drawing/2014/main" id="{9B88858F-88C1-DA3F-1992-E9C76D0D80AF}"/>
              </a:ext>
            </a:extLst>
          </p:cNvPr>
          <p:cNvSpPr/>
          <p:nvPr/>
        </p:nvSpPr>
        <p:spPr>
          <a:xfrm>
            <a:off x="3279920" y="4162465"/>
            <a:ext cx="569547"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Cosine score</a:t>
            </a:r>
          </a:p>
        </p:txBody>
      </p:sp>
      <p:sp>
        <p:nvSpPr>
          <p:cNvPr id="733" name="TextBox 12277">
            <a:extLst>
              <a:ext uri="{FF2B5EF4-FFF2-40B4-BE49-F238E27FC236}">
                <a16:creationId xmlns:a16="http://schemas.microsoft.com/office/drawing/2014/main" id="{7D6970C3-E7E9-652B-644D-A057CB503545}"/>
              </a:ext>
            </a:extLst>
          </p:cNvPr>
          <p:cNvSpPr txBox="1"/>
          <p:nvPr/>
        </p:nvSpPr>
        <p:spPr>
          <a:xfrm>
            <a:off x="3275392" y="4326634"/>
            <a:ext cx="585097" cy="79445"/>
          </a:xfrm>
          <a:prstGeom prst="rect">
            <a:avLst/>
          </a:prstGeom>
          <a:noFill/>
        </p:spPr>
        <p:txBody>
          <a:bodyPr wrap="none" lIns="0" tIns="0" rIns="0" bIns="0" anchor="ctr">
            <a:spAutoFit/>
          </a:bodyPr>
          <a:lstStyle/>
          <a:p>
            <a:pPr algn="ctr">
              <a:lnSpc>
                <a:spcPct val="105000"/>
              </a:lnSpc>
            </a:pPr>
            <a:r>
              <a:rPr sz="528" dirty="0">
                <a:solidFill>
                  <a:srgbClr val="263442"/>
                </a:solidFill>
                <a:latin typeface="Arial"/>
              </a:rPr>
              <a:t>Learned projections</a:t>
            </a:r>
          </a:p>
        </p:txBody>
      </p:sp>
      <p:sp>
        <p:nvSpPr>
          <p:cNvPr id="734" name="Math | s_j,k^">
            <a:extLst>
              <a:ext uri="{FF2B5EF4-FFF2-40B4-BE49-F238E27FC236}">
                <a16:creationId xmlns:a16="http://schemas.microsoft.com/office/drawing/2014/main" id="{BD0A37AE-0CF6-77DD-8048-3FF0945F4158}"/>
              </a:ext>
            </a:extLst>
          </p:cNvPr>
          <p:cNvSpPr txBox="1"/>
          <p:nvPr/>
        </p:nvSpPr>
        <p:spPr>
          <a:xfrm>
            <a:off x="3930163" y="4086560"/>
            <a:ext cx="104196" cy="117083"/>
          </a:xfrm>
          <a:prstGeom prst="rect">
            <a:avLst/>
          </a:prstGeom>
          <a:noFill/>
        </p:spPr>
        <p:txBody>
          <a:bodyPr wrap="none" lIns="0" tIns="0" rIns="0" bIns="0" anchor="ctr">
            <a:spAutoFit/>
          </a:bodyPr>
          <a:lstStyle/>
          <a:p>
            <a:pPr algn="ctr"/>
            <a:r>
              <a:rPr sz="791" i="1" dirty="0" err="1">
                <a:solidFill>
                  <a:srgbClr val="263442"/>
                </a:solidFill>
                <a:latin typeface="Times New Roman"/>
              </a:rPr>
              <a:t>s</a:t>
            </a:r>
            <a:r>
              <a:rPr sz="780" i="1" baseline="-28000" dirty="0" err="1">
                <a:solidFill>
                  <a:srgbClr val="263442"/>
                </a:solidFill>
                <a:latin typeface="Times New Roman"/>
              </a:rPr>
              <a:t>j,k</a:t>
            </a:r>
            <a:endParaRPr sz="780" i="1" baseline="-28000" dirty="0">
              <a:solidFill>
                <a:srgbClr val="263442"/>
              </a:solidFill>
              <a:latin typeface="Times New Roman"/>
            </a:endParaRPr>
          </a:p>
        </p:txBody>
      </p:sp>
      <p:sp>
        <p:nvSpPr>
          <p:cNvPr id="735" name="TextBox 12279">
            <a:extLst>
              <a:ext uri="{FF2B5EF4-FFF2-40B4-BE49-F238E27FC236}">
                <a16:creationId xmlns:a16="http://schemas.microsoft.com/office/drawing/2014/main" id="{C56E8311-ADDA-7C63-9110-2C3006BDD08E}"/>
              </a:ext>
            </a:extLst>
          </p:cNvPr>
          <p:cNvSpPr txBox="1"/>
          <p:nvPr/>
        </p:nvSpPr>
        <p:spPr>
          <a:xfrm>
            <a:off x="4189537" y="3931330"/>
            <a:ext cx="479297" cy="87268"/>
          </a:xfrm>
          <a:prstGeom prst="rect">
            <a:avLst/>
          </a:prstGeom>
          <a:noFill/>
        </p:spPr>
        <p:txBody>
          <a:bodyPr wrap="none" lIns="0" tIns="0" rIns="0" bIns="0" anchor="ctr">
            <a:spAutoFit/>
          </a:bodyPr>
          <a:lstStyle/>
          <a:p>
            <a:pPr algn="ctr">
              <a:lnSpc>
                <a:spcPct val="105000"/>
              </a:lnSpc>
            </a:pPr>
            <a:r>
              <a:rPr sz="580">
                <a:solidFill>
                  <a:srgbClr val="263442"/>
                </a:solidFill>
                <a:latin typeface="Arial"/>
              </a:rPr>
              <a:t>Identity scores</a:t>
            </a:r>
          </a:p>
        </p:txBody>
      </p:sp>
      <p:sp>
        <p:nvSpPr>
          <p:cNvPr id="736" name="TextBox 12280">
            <a:extLst>
              <a:ext uri="{FF2B5EF4-FFF2-40B4-BE49-F238E27FC236}">
                <a16:creationId xmlns:a16="http://schemas.microsoft.com/office/drawing/2014/main" id="{C640A1D5-D4D1-3FBF-0F27-45AD836A7FCE}"/>
              </a:ext>
            </a:extLst>
          </p:cNvPr>
          <p:cNvSpPr txBox="1"/>
          <p:nvPr/>
        </p:nvSpPr>
        <p:spPr>
          <a:xfrm>
            <a:off x="4428041" y="4018471"/>
            <a:ext cx="102835" cy="85921"/>
          </a:xfrm>
          <a:prstGeom prst="rect">
            <a:avLst/>
          </a:prstGeom>
          <a:noFill/>
        </p:spPr>
        <p:txBody>
          <a:bodyPr wrap="square" lIns="0" tIns="0" rIns="0" bIns="0" anchor="ctr">
            <a:spAutoFit/>
          </a:bodyPr>
          <a:lstStyle/>
          <a:p>
            <a:pPr algn="ctr">
              <a:lnSpc>
                <a:spcPct val="105000"/>
              </a:lnSpc>
            </a:pPr>
            <a:r>
              <a:rPr sz="571" dirty="0">
                <a:solidFill>
                  <a:srgbClr val="263442"/>
                </a:solidFill>
                <a:latin typeface="Arial"/>
              </a:rPr>
              <a:t>k</a:t>
            </a:r>
          </a:p>
        </p:txBody>
      </p:sp>
      <p:sp>
        <p:nvSpPr>
          <p:cNvPr id="737" name="TextBox 12281">
            <a:extLst>
              <a:ext uri="{FF2B5EF4-FFF2-40B4-BE49-F238E27FC236}">
                <a16:creationId xmlns:a16="http://schemas.microsoft.com/office/drawing/2014/main" id="{F472392A-4724-5EDA-C6D8-557EF063B52F}"/>
              </a:ext>
            </a:extLst>
          </p:cNvPr>
          <p:cNvSpPr txBox="1"/>
          <p:nvPr/>
        </p:nvSpPr>
        <p:spPr>
          <a:xfrm>
            <a:off x="4128591" y="4169314"/>
            <a:ext cx="87014" cy="85921"/>
          </a:xfrm>
          <a:prstGeom prst="rect">
            <a:avLst/>
          </a:prstGeom>
          <a:noFill/>
        </p:spPr>
        <p:txBody>
          <a:bodyPr wrap="square" lIns="0" tIns="0" rIns="0" bIns="0" anchor="ctr">
            <a:spAutoFit/>
          </a:bodyPr>
          <a:lstStyle/>
          <a:p>
            <a:pPr algn="ctr">
              <a:lnSpc>
                <a:spcPct val="105000"/>
              </a:lnSpc>
            </a:pPr>
            <a:r>
              <a:rPr sz="571">
                <a:solidFill>
                  <a:srgbClr val="263442"/>
                </a:solidFill>
                <a:latin typeface="Arial"/>
              </a:rPr>
              <a:t>j</a:t>
            </a:r>
          </a:p>
        </p:txBody>
      </p:sp>
      <p:sp>
        <p:nvSpPr>
          <p:cNvPr id="738" name="Matrix cell (0,0)">
            <a:extLst>
              <a:ext uri="{FF2B5EF4-FFF2-40B4-BE49-F238E27FC236}">
                <a16:creationId xmlns:a16="http://schemas.microsoft.com/office/drawing/2014/main" id="{1FAFF817-C1CE-5F45-E950-98E19AE452CF}"/>
              </a:ext>
            </a:extLst>
          </p:cNvPr>
          <p:cNvSpPr/>
          <p:nvPr/>
        </p:nvSpPr>
        <p:spPr>
          <a:xfrm>
            <a:off x="4223515"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9" name="Matrix cell (0,1)">
            <a:extLst>
              <a:ext uri="{FF2B5EF4-FFF2-40B4-BE49-F238E27FC236}">
                <a16:creationId xmlns:a16="http://schemas.microsoft.com/office/drawing/2014/main" id="{ED9FACB8-4D6A-044F-997F-E09503AC15AA}"/>
              </a:ext>
            </a:extLst>
          </p:cNvPr>
          <p:cNvSpPr/>
          <p:nvPr/>
        </p:nvSpPr>
        <p:spPr>
          <a:xfrm>
            <a:off x="4326350"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0" name="Matrix cell (0,2)">
            <a:extLst>
              <a:ext uri="{FF2B5EF4-FFF2-40B4-BE49-F238E27FC236}">
                <a16:creationId xmlns:a16="http://schemas.microsoft.com/office/drawing/2014/main" id="{DE25E670-FAB3-667C-5777-C71ED9075845}"/>
              </a:ext>
            </a:extLst>
          </p:cNvPr>
          <p:cNvSpPr/>
          <p:nvPr/>
        </p:nvSpPr>
        <p:spPr>
          <a:xfrm>
            <a:off x="4429185"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1" name="Matrix cell (0,3)">
            <a:extLst>
              <a:ext uri="{FF2B5EF4-FFF2-40B4-BE49-F238E27FC236}">
                <a16:creationId xmlns:a16="http://schemas.microsoft.com/office/drawing/2014/main" id="{D15A0AB1-9BF7-4E76-6CED-C525DFBAA5F7}"/>
              </a:ext>
            </a:extLst>
          </p:cNvPr>
          <p:cNvSpPr/>
          <p:nvPr/>
        </p:nvSpPr>
        <p:spPr>
          <a:xfrm>
            <a:off x="4532020"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2" name="Matrix cell (1,0)">
            <a:extLst>
              <a:ext uri="{FF2B5EF4-FFF2-40B4-BE49-F238E27FC236}">
                <a16:creationId xmlns:a16="http://schemas.microsoft.com/office/drawing/2014/main" id="{5C20FC23-8B30-D896-36CC-91D73273996F}"/>
              </a:ext>
            </a:extLst>
          </p:cNvPr>
          <p:cNvSpPr/>
          <p:nvPr/>
        </p:nvSpPr>
        <p:spPr>
          <a:xfrm>
            <a:off x="4223515"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3" name="Matrix cell (1,1)">
            <a:extLst>
              <a:ext uri="{FF2B5EF4-FFF2-40B4-BE49-F238E27FC236}">
                <a16:creationId xmlns:a16="http://schemas.microsoft.com/office/drawing/2014/main" id="{023C0380-7EA8-B629-5738-AD00698F49B6}"/>
              </a:ext>
            </a:extLst>
          </p:cNvPr>
          <p:cNvSpPr/>
          <p:nvPr/>
        </p:nvSpPr>
        <p:spPr>
          <a:xfrm>
            <a:off x="4326350"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4" name="Matrix cell (1,2)">
            <a:extLst>
              <a:ext uri="{FF2B5EF4-FFF2-40B4-BE49-F238E27FC236}">
                <a16:creationId xmlns:a16="http://schemas.microsoft.com/office/drawing/2014/main" id="{12FBEABC-63F9-0304-4A97-80811BFE2B66}"/>
              </a:ext>
            </a:extLst>
          </p:cNvPr>
          <p:cNvSpPr/>
          <p:nvPr/>
        </p:nvSpPr>
        <p:spPr>
          <a:xfrm>
            <a:off x="4429185" y="4176678"/>
            <a:ext cx="102835" cy="71193"/>
          </a:xfrm>
          <a:prstGeom prst="rect">
            <a:avLst/>
          </a:prstGeom>
          <a:solidFill>
            <a:srgbClr val="3C9486"/>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5" name="Matrix cell (1,3)">
            <a:extLst>
              <a:ext uri="{FF2B5EF4-FFF2-40B4-BE49-F238E27FC236}">
                <a16:creationId xmlns:a16="http://schemas.microsoft.com/office/drawing/2014/main" id="{90D1E1D0-D1D8-F490-5B4D-27F3093D1ECE}"/>
              </a:ext>
            </a:extLst>
          </p:cNvPr>
          <p:cNvSpPr/>
          <p:nvPr/>
        </p:nvSpPr>
        <p:spPr>
          <a:xfrm>
            <a:off x="4532020"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6" name="Matrix cell (2,0)">
            <a:extLst>
              <a:ext uri="{FF2B5EF4-FFF2-40B4-BE49-F238E27FC236}">
                <a16:creationId xmlns:a16="http://schemas.microsoft.com/office/drawing/2014/main" id="{158A66BE-E7B7-0506-657E-0BF13A0E4F5E}"/>
              </a:ext>
            </a:extLst>
          </p:cNvPr>
          <p:cNvSpPr/>
          <p:nvPr/>
        </p:nvSpPr>
        <p:spPr>
          <a:xfrm>
            <a:off x="4223515"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7" name="Matrix cell (2,1)">
            <a:extLst>
              <a:ext uri="{FF2B5EF4-FFF2-40B4-BE49-F238E27FC236}">
                <a16:creationId xmlns:a16="http://schemas.microsoft.com/office/drawing/2014/main" id="{3B18D166-F88A-573E-0225-1ACB99CB2512}"/>
              </a:ext>
            </a:extLst>
          </p:cNvPr>
          <p:cNvSpPr/>
          <p:nvPr/>
        </p:nvSpPr>
        <p:spPr>
          <a:xfrm>
            <a:off x="4326350"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8" name="Matrix cell (2,2)">
            <a:extLst>
              <a:ext uri="{FF2B5EF4-FFF2-40B4-BE49-F238E27FC236}">
                <a16:creationId xmlns:a16="http://schemas.microsoft.com/office/drawing/2014/main" id="{FC858539-3EA9-E4FE-E803-0C8FFAD3870F}"/>
              </a:ext>
            </a:extLst>
          </p:cNvPr>
          <p:cNvSpPr/>
          <p:nvPr/>
        </p:nvSpPr>
        <p:spPr>
          <a:xfrm>
            <a:off x="4429185"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9" name="Matrix cell (2,3)">
            <a:extLst>
              <a:ext uri="{FF2B5EF4-FFF2-40B4-BE49-F238E27FC236}">
                <a16:creationId xmlns:a16="http://schemas.microsoft.com/office/drawing/2014/main" id="{3713326C-75C4-31D8-12F4-1CA18BF652D7}"/>
              </a:ext>
            </a:extLst>
          </p:cNvPr>
          <p:cNvSpPr/>
          <p:nvPr/>
        </p:nvSpPr>
        <p:spPr>
          <a:xfrm>
            <a:off x="4532020"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50" name="TextBox 12294">
            <a:extLst>
              <a:ext uri="{FF2B5EF4-FFF2-40B4-BE49-F238E27FC236}">
                <a16:creationId xmlns:a16="http://schemas.microsoft.com/office/drawing/2014/main" id="{E992C05A-634A-6CF2-2936-1480C4EA17F1}"/>
              </a:ext>
            </a:extLst>
          </p:cNvPr>
          <p:cNvSpPr txBox="1"/>
          <p:nvPr/>
        </p:nvSpPr>
        <p:spPr>
          <a:xfrm>
            <a:off x="4223516" y="4312989"/>
            <a:ext cx="411339" cy="82587"/>
          </a:xfrm>
          <a:prstGeom prst="rect">
            <a:avLst/>
          </a:prstGeom>
          <a:noFill/>
        </p:spPr>
        <p:txBody>
          <a:bodyPr wrap="square" lIns="0" tIns="0" rIns="0" bIns="0" anchor="ctr">
            <a:spAutoFit/>
          </a:bodyPr>
          <a:lstStyle/>
          <a:p>
            <a:pPr algn="ctr">
              <a:lnSpc>
                <a:spcPct val="105000"/>
              </a:lnSpc>
            </a:pPr>
            <a:r>
              <a:rPr sz="536">
                <a:solidFill>
                  <a:srgbClr val="263442"/>
                </a:solidFill>
                <a:latin typeface="Arial"/>
              </a:rPr>
              <a:t>J × K</a:t>
            </a:r>
          </a:p>
        </p:txBody>
      </p:sp>
      <p:grpSp>
        <p:nvGrpSpPr>
          <p:cNvPr id="751" name="组合 13795">
            <a:extLst>
              <a:ext uri="{FF2B5EF4-FFF2-40B4-BE49-F238E27FC236}">
                <a16:creationId xmlns:a16="http://schemas.microsoft.com/office/drawing/2014/main" id="{7EA912CF-516A-2745-A5D0-8704116A4D72}"/>
              </a:ext>
            </a:extLst>
          </p:cNvPr>
          <p:cNvGrpSpPr/>
          <p:nvPr/>
        </p:nvGrpSpPr>
        <p:grpSpPr>
          <a:xfrm>
            <a:off x="2038007" y="554865"/>
            <a:ext cx="1978883" cy="340209"/>
            <a:chOff x="6312668" y="2448732"/>
            <a:chExt cx="1215499" cy="343631"/>
          </a:xfrm>
        </p:grpSpPr>
        <p:pic>
          <p:nvPicPr>
            <p:cNvPr id="752" name="图片 12">
              <a:extLst>
                <a:ext uri="{FF2B5EF4-FFF2-40B4-BE49-F238E27FC236}">
                  <a16:creationId xmlns:a16="http://schemas.microsoft.com/office/drawing/2014/main" id="{521CB8EA-9697-F11D-7107-B4A42B988070}"/>
                </a:ext>
              </a:extLst>
            </p:cNvPr>
            <p:cNvPicPr>
              <a:picLocks/>
            </p:cNvPicPr>
            <p:nvPr/>
          </p:nvPicPr>
          <p:blipFill>
            <a:blip r:embed="rId5"/>
            <a:srcRect l="70243" t="-18171" b="-1"/>
            <a:stretch>
              <a:fillRect/>
            </a:stretch>
          </p:blipFill>
          <p:spPr>
            <a:xfrm>
              <a:off x="7112075" y="2448732"/>
              <a:ext cx="416092" cy="323855"/>
            </a:xfrm>
            <a:prstGeom prst="rect">
              <a:avLst/>
            </a:prstGeom>
          </p:spPr>
        </p:pic>
        <p:pic>
          <p:nvPicPr>
            <p:cNvPr id="753" name="图片 12">
              <a:extLst>
                <a:ext uri="{FF2B5EF4-FFF2-40B4-BE49-F238E27FC236}">
                  <a16:creationId xmlns:a16="http://schemas.microsoft.com/office/drawing/2014/main" id="{546466D8-C7C6-7C8A-3307-95F68FB4F610}"/>
                </a:ext>
              </a:extLst>
            </p:cNvPr>
            <p:cNvPicPr>
              <a:picLocks/>
            </p:cNvPicPr>
            <p:nvPr/>
          </p:nvPicPr>
          <p:blipFill>
            <a:blip r:embed="rId5"/>
            <a:srcRect r="70534" b="-8235"/>
            <a:stretch>
              <a:fillRect/>
            </a:stretch>
          </p:blipFill>
          <p:spPr>
            <a:xfrm>
              <a:off x="6312668" y="2495741"/>
              <a:ext cx="412024" cy="296622"/>
            </a:xfrm>
            <a:prstGeom prst="rect">
              <a:avLst/>
            </a:prstGeom>
          </p:spPr>
        </p:pic>
        <p:pic>
          <p:nvPicPr>
            <p:cNvPr id="754" name="Picture 10000" descr="unet_block_18.png">
              <a:extLst>
                <a:ext uri="{FF2B5EF4-FFF2-40B4-BE49-F238E27FC236}">
                  <a16:creationId xmlns:a16="http://schemas.microsoft.com/office/drawing/2014/main" id="{75A7694C-DEA5-AFE8-E284-0A0D89F845C1}"/>
                </a:ext>
              </a:extLst>
            </p:cNvPr>
            <p:cNvPicPr>
              <a:picLocks noChangeAspect="1"/>
            </p:cNvPicPr>
            <p:nvPr/>
          </p:nvPicPr>
          <p:blipFill>
            <a:blip r:embed="rId6"/>
            <a:stretch>
              <a:fillRect/>
            </a:stretch>
          </p:blipFill>
          <p:spPr>
            <a:xfrm>
              <a:off x="6776851" y="2645026"/>
              <a:ext cx="276863" cy="126566"/>
            </a:xfrm>
            <a:prstGeom prst="rect">
              <a:avLst/>
            </a:prstGeom>
          </p:spPr>
        </p:pic>
      </p:grpSp>
      <p:grpSp>
        <p:nvGrpSpPr>
          <p:cNvPr id="755" name="Find candidate blob 1">
            <a:extLst>
              <a:ext uri="{FF2B5EF4-FFF2-40B4-BE49-F238E27FC236}">
                <a16:creationId xmlns:a16="http://schemas.microsoft.com/office/drawing/2014/main" id="{3B821B97-56A6-DCED-E85F-DBF945F3EA13}"/>
              </a:ext>
            </a:extLst>
          </p:cNvPr>
          <p:cNvGrpSpPr/>
          <p:nvPr/>
        </p:nvGrpSpPr>
        <p:grpSpPr>
          <a:xfrm>
            <a:off x="4357668" y="1039644"/>
            <a:ext cx="163890" cy="111953"/>
            <a:chOff x="1928706" y="3559489"/>
            <a:chExt cx="227897" cy="155682"/>
          </a:xfrm>
        </p:grpSpPr>
        <p:sp>
          <p:nvSpPr>
            <p:cNvPr id="756" name="Candidate blob | editable contour">
              <a:extLst>
                <a:ext uri="{FF2B5EF4-FFF2-40B4-BE49-F238E27FC236}">
                  <a16:creationId xmlns:a16="http://schemas.microsoft.com/office/drawing/2014/main" id="{B3B117DA-D182-38E6-AD16-B4776AD2C7B7}"/>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57" name="ellipse_2612">
              <a:extLst>
                <a:ext uri="{FF2B5EF4-FFF2-40B4-BE49-F238E27FC236}">
                  <a16:creationId xmlns:a16="http://schemas.microsoft.com/office/drawing/2014/main" id="{901C6437-E94C-AFDE-D242-E688A89ABBD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58" name="Find candidate blob 2">
            <a:extLst>
              <a:ext uri="{FF2B5EF4-FFF2-40B4-BE49-F238E27FC236}">
                <a16:creationId xmlns:a16="http://schemas.microsoft.com/office/drawing/2014/main" id="{00C0C92B-D4C8-0994-E860-1581EB873D86}"/>
              </a:ext>
            </a:extLst>
          </p:cNvPr>
          <p:cNvGrpSpPr/>
          <p:nvPr/>
        </p:nvGrpSpPr>
        <p:grpSpPr>
          <a:xfrm>
            <a:off x="4352956" y="917369"/>
            <a:ext cx="168602" cy="95394"/>
            <a:chOff x="1928706" y="3559489"/>
            <a:chExt cx="227897" cy="155682"/>
          </a:xfrm>
        </p:grpSpPr>
        <p:sp>
          <p:nvSpPr>
            <p:cNvPr id="759" name="Candidate blob | editable contour">
              <a:extLst>
                <a:ext uri="{FF2B5EF4-FFF2-40B4-BE49-F238E27FC236}">
                  <a16:creationId xmlns:a16="http://schemas.microsoft.com/office/drawing/2014/main" id="{A172A8B3-EFA3-33C9-CD2B-307B24D7293D}"/>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0" name="ellipse_2612">
              <a:extLst>
                <a:ext uri="{FF2B5EF4-FFF2-40B4-BE49-F238E27FC236}">
                  <a16:creationId xmlns:a16="http://schemas.microsoft.com/office/drawing/2014/main" id="{CF37E813-914E-4383-9CE9-1C5F4095124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61" name="Find candidate blob 3">
            <a:extLst>
              <a:ext uri="{FF2B5EF4-FFF2-40B4-BE49-F238E27FC236}">
                <a16:creationId xmlns:a16="http://schemas.microsoft.com/office/drawing/2014/main" id="{D7299A48-8BF0-7050-EF56-14DA3F495CB7}"/>
              </a:ext>
            </a:extLst>
          </p:cNvPr>
          <p:cNvGrpSpPr/>
          <p:nvPr/>
        </p:nvGrpSpPr>
        <p:grpSpPr>
          <a:xfrm rot="364243">
            <a:off x="4559731" y="1028968"/>
            <a:ext cx="127658" cy="129194"/>
            <a:chOff x="1928706" y="3559489"/>
            <a:chExt cx="227897" cy="155682"/>
          </a:xfrm>
        </p:grpSpPr>
        <p:sp>
          <p:nvSpPr>
            <p:cNvPr id="762" name="Candidate blob | editable contour">
              <a:extLst>
                <a:ext uri="{FF2B5EF4-FFF2-40B4-BE49-F238E27FC236}">
                  <a16:creationId xmlns:a16="http://schemas.microsoft.com/office/drawing/2014/main" id="{8902F596-0D84-3C56-EB93-D63FC7E9041E}"/>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3" name="ellipse_2612">
              <a:extLst>
                <a:ext uri="{FF2B5EF4-FFF2-40B4-BE49-F238E27FC236}">
                  <a16:creationId xmlns:a16="http://schemas.microsoft.com/office/drawing/2014/main" id="{85D74281-2FE6-E2D2-EFBA-AF54A45686E3}"/>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765" name="Find auxiliary label">
            <a:extLst>
              <a:ext uri="{FF2B5EF4-FFF2-40B4-BE49-F238E27FC236}">
                <a16:creationId xmlns:a16="http://schemas.microsoft.com/office/drawing/2014/main" id="{CAD88599-B783-720B-B6BD-9F787FCB6CF4}"/>
              </a:ext>
            </a:extLst>
          </p:cNvPr>
          <p:cNvSpPr>
            <a:spLocks noGrp="1"/>
          </p:cNvSpPr>
          <p:nvPr/>
        </p:nvSpPr>
        <p:spPr>
          <a:xfrm>
            <a:off x="4315962" y="1518303"/>
            <a:ext cx="433362" cy="157954"/>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90" dirty="0">
                <a:solidFill>
                  <a:srgbClr val="263442"/>
                </a:solidFill>
                <a:latin typeface="Arial"/>
                <a:ea typeface="Arial"/>
                <a:cs typeface="Arial"/>
              </a:rPr>
              <a:t>Auxiliary</a:t>
            </a:r>
          </a:p>
          <a:p>
            <a:pPr algn="ctr">
              <a:defRPr sz="590" b="0">
                <a:solidFill>
                  <a:srgbClr val="263442"/>
                </a:solidFill>
                <a:latin typeface="Arial"/>
                <a:ea typeface="Arial"/>
                <a:cs typeface="Arial"/>
              </a:defRPr>
            </a:pPr>
            <a:r>
              <a:rPr sz="590" dirty="0">
                <a:solidFill>
                  <a:srgbClr val="263442"/>
                </a:solidFill>
                <a:latin typeface="Arial"/>
                <a:ea typeface="Arial"/>
                <a:cs typeface="Arial"/>
              </a:rPr>
              <a:t>features</a:t>
            </a:r>
          </a:p>
        </p:txBody>
      </p:sp>
      <p:sp>
        <p:nvSpPr>
          <p:cNvPr id="766" name="Match auxiliary label">
            <a:extLst>
              <a:ext uri="{FF2B5EF4-FFF2-40B4-BE49-F238E27FC236}">
                <a16:creationId xmlns:a16="http://schemas.microsoft.com/office/drawing/2014/main" id="{C154BF4F-4214-59BC-DCE1-F9C23194AC63}"/>
              </a:ext>
            </a:extLst>
          </p:cNvPr>
          <p:cNvSpPr>
            <a:spLocks noGrp="1"/>
          </p:cNvSpPr>
          <p:nvPr/>
        </p:nvSpPr>
        <p:spPr>
          <a:xfrm>
            <a:off x="1503472" y="2843177"/>
            <a:ext cx="405011" cy="174155"/>
          </a:xfrm>
          <a:prstGeom prst="rect">
            <a:avLst/>
          </a:prstGeom>
          <a:noFill/>
          <a:ln w="6885">
            <a:noFill/>
            <a:prstDash val="solid"/>
          </a:ln>
        </p:spPr>
        <p:txBody>
          <a:bodyPr lIns="0" tIns="0" rIns="0" bIns="0" anchor="ctr"/>
          <a:lstStyle>
            <a:defPPr algn="ctr">
              <a:defRPr sz="590" b="1">
                <a:solidFill>
                  <a:srgbClr val="263442"/>
                </a:solidFill>
                <a:latin typeface="Arial"/>
                <a:ea typeface="Arial"/>
                <a:cs typeface="Arial"/>
              </a:defRPr>
            </a:defPPr>
            <a:lvl1pPr algn="ctr">
              <a:defRPr sz="590" b="1">
                <a:solidFill>
                  <a:srgbClr val="263442"/>
                </a:solidFill>
                <a:latin typeface="Arial"/>
                <a:ea typeface="Arial"/>
                <a:cs typeface="Arial"/>
              </a:defRPr>
            </a:lvl1pPr>
            <a:lvl2pPr algn="ctr">
              <a:defRPr sz="590" b="1">
                <a:solidFill>
                  <a:srgbClr val="263442"/>
                </a:solidFill>
                <a:latin typeface="Arial"/>
                <a:ea typeface="Arial"/>
                <a:cs typeface="Arial"/>
              </a:defRPr>
            </a:lvl2pPr>
            <a:lvl3pPr algn="ctr">
              <a:defRPr sz="590" b="1">
                <a:solidFill>
                  <a:srgbClr val="263442"/>
                </a:solidFill>
                <a:latin typeface="Arial"/>
                <a:ea typeface="Arial"/>
                <a:cs typeface="Arial"/>
              </a:defRPr>
            </a:lvl3pPr>
            <a:lvl4pPr algn="ctr">
              <a:defRPr sz="590" b="1">
                <a:solidFill>
                  <a:srgbClr val="263442"/>
                </a:solidFill>
                <a:latin typeface="Arial"/>
                <a:ea typeface="Arial"/>
                <a:cs typeface="Arial"/>
              </a:defRPr>
            </a:lvl4pPr>
            <a:lvl5pPr algn="ctr">
              <a:defRPr sz="590" b="1">
                <a:solidFill>
                  <a:srgbClr val="263442"/>
                </a:solidFill>
                <a:latin typeface="Arial"/>
                <a:ea typeface="Arial"/>
                <a:cs typeface="Arial"/>
              </a:defRPr>
            </a:lvl5pPr>
            <a:lvl6pPr algn="ctr">
              <a:defRPr sz="590" b="1">
                <a:solidFill>
                  <a:srgbClr val="263442"/>
                </a:solidFill>
                <a:latin typeface="Arial"/>
                <a:ea typeface="Arial"/>
                <a:cs typeface="Arial"/>
              </a:defRPr>
            </a:lvl6pPr>
            <a:lvl7pPr algn="ctr">
              <a:defRPr sz="590" b="1">
                <a:solidFill>
                  <a:srgbClr val="263442"/>
                </a:solidFill>
                <a:latin typeface="Arial"/>
                <a:ea typeface="Arial"/>
                <a:cs typeface="Arial"/>
              </a:defRPr>
            </a:lvl7pPr>
            <a:lvl8pPr algn="ctr">
              <a:defRPr sz="590" b="1">
                <a:solidFill>
                  <a:srgbClr val="263442"/>
                </a:solidFill>
                <a:latin typeface="Arial"/>
                <a:ea typeface="Arial"/>
                <a:cs typeface="Arial"/>
              </a:defRPr>
            </a:lvl8pPr>
            <a:lvl9pPr algn="ctr">
              <a:defRPr sz="590" b="1">
                <a:solidFill>
                  <a:srgbClr val="263442"/>
                </a:solidFill>
                <a:latin typeface="Arial"/>
                <a:ea typeface="Arial"/>
                <a:cs typeface="Arial"/>
              </a:defRPr>
            </a:lvl9pPr>
          </a:lstStyle>
          <a:p>
            <a:pPr algn="ctr">
              <a:defRPr sz="590" b="1">
                <a:solidFill>
                  <a:srgbClr val="263442"/>
                </a:solidFill>
                <a:latin typeface="Arial"/>
                <a:ea typeface="Arial"/>
                <a:cs typeface="Arial"/>
              </a:defRPr>
            </a:pPr>
            <a:r>
              <a:rPr sz="590" b="0" dirty="0">
                <a:solidFill>
                  <a:srgbClr val="263442"/>
                </a:solidFill>
                <a:latin typeface="Arial"/>
                <a:ea typeface="Arial"/>
                <a:cs typeface="Arial"/>
              </a:rPr>
              <a:t>Auxiliary</a:t>
            </a:r>
          </a:p>
          <a:p>
            <a:pPr algn="ctr">
              <a:defRPr sz="590" b="1">
                <a:solidFill>
                  <a:srgbClr val="263442"/>
                </a:solidFill>
                <a:latin typeface="Arial"/>
                <a:ea typeface="Arial"/>
                <a:cs typeface="Arial"/>
              </a:defRPr>
            </a:pPr>
            <a:r>
              <a:rPr sz="590" b="0" dirty="0">
                <a:solidFill>
                  <a:srgbClr val="263442"/>
                </a:solidFill>
                <a:latin typeface="Arial"/>
                <a:ea typeface="Arial"/>
                <a:cs typeface="Arial"/>
              </a:rPr>
              <a:t>features</a:t>
            </a:r>
          </a:p>
        </p:txBody>
      </p:sp>
      <p:sp>
        <p:nvSpPr>
          <p:cNvPr id="767" name="Concat label">
            <a:extLst>
              <a:ext uri="{FF2B5EF4-FFF2-40B4-BE49-F238E27FC236}">
                <a16:creationId xmlns:a16="http://schemas.microsoft.com/office/drawing/2014/main" id="{9D20C35C-694E-CDD5-F90A-040BE36EEE21}"/>
              </a:ext>
            </a:extLst>
          </p:cNvPr>
          <p:cNvSpPr>
            <a:spLocks noGrp="1"/>
          </p:cNvSpPr>
          <p:nvPr/>
        </p:nvSpPr>
        <p:spPr>
          <a:xfrm>
            <a:off x="1106378" y="3608830"/>
            <a:ext cx="259207" cy="81002"/>
          </a:xfrm>
          <a:prstGeom prst="rect">
            <a:avLst/>
          </a:prstGeom>
          <a:noFill/>
          <a:ln w="6885">
            <a:noFill/>
            <a:prstDash val="solid"/>
          </a:ln>
        </p:spPr>
        <p:txBody>
          <a:bodyPr lIns="0" tIns="0" rIns="0" bIns="0" anchor="ctr"/>
          <a:lstStyle>
            <a:defPPr algn="ctr">
              <a:defRPr sz="568" b="0">
                <a:solidFill>
                  <a:srgbClr val="263442"/>
                </a:solidFill>
                <a:latin typeface="Arial"/>
                <a:ea typeface="Arial"/>
                <a:cs typeface="Arial"/>
              </a:defRPr>
            </a:defPPr>
            <a:lvl1pPr algn="ctr">
              <a:defRPr sz="568" b="0">
                <a:solidFill>
                  <a:srgbClr val="263442"/>
                </a:solidFill>
                <a:latin typeface="Arial"/>
                <a:ea typeface="Arial"/>
                <a:cs typeface="Arial"/>
              </a:defRPr>
            </a:lvl1pPr>
            <a:lvl2pPr algn="ctr">
              <a:defRPr sz="568" b="0">
                <a:solidFill>
                  <a:srgbClr val="263442"/>
                </a:solidFill>
                <a:latin typeface="Arial"/>
                <a:ea typeface="Arial"/>
                <a:cs typeface="Arial"/>
              </a:defRPr>
            </a:lvl2pPr>
            <a:lvl3pPr algn="ctr">
              <a:defRPr sz="568" b="0">
                <a:solidFill>
                  <a:srgbClr val="263442"/>
                </a:solidFill>
                <a:latin typeface="Arial"/>
                <a:ea typeface="Arial"/>
                <a:cs typeface="Arial"/>
              </a:defRPr>
            </a:lvl3pPr>
            <a:lvl4pPr algn="ctr">
              <a:defRPr sz="568" b="0">
                <a:solidFill>
                  <a:srgbClr val="263442"/>
                </a:solidFill>
                <a:latin typeface="Arial"/>
                <a:ea typeface="Arial"/>
                <a:cs typeface="Arial"/>
              </a:defRPr>
            </a:lvl4pPr>
            <a:lvl5pPr algn="ctr">
              <a:defRPr sz="568" b="0">
                <a:solidFill>
                  <a:srgbClr val="263442"/>
                </a:solidFill>
                <a:latin typeface="Arial"/>
                <a:ea typeface="Arial"/>
                <a:cs typeface="Arial"/>
              </a:defRPr>
            </a:lvl5pPr>
            <a:lvl6pPr algn="ctr">
              <a:defRPr sz="568" b="0">
                <a:solidFill>
                  <a:srgbClr val="263442"/>
                </a:solidFill>
                <a:latin typeface="Arial"/>
                <a:ea typeface="Arial"/>
                <a:cs typeface="Arial"/>
              </a:defRPr>
            </a:lvl6pPr>
            <a:lvl7pPr algn="ctr">
              <a:defRPr sz="568" b="0">
                <a:solidFill>
                  <a:srgbClr val="263442"/>
                </a:solidFill>
                <a:latin typeface="Arial"/>
                <a:ea typeface="Arial"/>
                <a:cs typeface="Arial"/>
              </a:defRPr>
            </a:lvl7pPr>
            <a:lvl8pPr algn="ctr">
              <a:defRPr sz="568" b="0">
                <a:solidFill>
                  <a:srgbClr val="263442"/>
                </a:solidFill>
                <a:latin typeface="Arial"/>
                <a:ea typeface="Arial"/>
                <a:cs typeface="Arial"/>
              </a:defRPr>
            </a:lvl8pPr>
            <a:lvl9pPr algn="ctr">
              <a:defRPr sz="568" b="0">
                <a:solidFill>
                  <a:srgbClr val="263442"/>
                </a:solidFill>
                <a:latin typeface="Arial"/>
                <a:ea typeface="Arial"/>
                <a:cs typeface="Arial"/>
              </a:defRPr>
            </a:lvl9pPr>
          </a:lstStyle>
          <a:p>
            <a:pPr algn="ctr">
              <a:defRPr sz="568" b="0">
                <a:solidFill>
                  <a:srgbClr val="263442"/>
                </a:solidFill>
                <a:latin typeface="Arial"/>
                <a:ea typeface="Arial"/>
                <a:cs typeface="Arial"/>
              </a:defRPr>
            </a:pPr>
            <a:r>
              <a:rPr sz="568" dirty="0" err="1">
                <a:solidFill>
                  <a:srgbClr val="263442"/>
                </a:solidFill>
                <a:latin typeface="Arial"/>
                <a:ea typeface="Arial"/>
                <a:cs typeface="Arial"/>
              </a:rPr>
              <a:t>Concat</a:t>
            </a:r>
            <a:endParaRPr sz="568" dirty="0">
              <a:solidFill>
                <a:srgbClr val="263442"/>
              </a:solidFill>
              <a:latin typeface="Arial"/>
              <a:ea typeface="Arial"/>
              <a:cs typeface="Arial"/>
            </a:endParaRPr>
          </a:p>
        </p:txBody>
      </p:sp>
      <p:grpSp>
        <p:nvGrpSpPr>
          <p:cNvPr id="1248" name="Unified flow and feature elements">
            <a:extLst>
              <a:ext uri="{FF2B5EF4-FFF2-40B4-BE49-F238E27FC236}">
                <a16:creationId xmlns:a16="http://schemas.microsoft.com/office/drawing/2014/main" id="{DA74696D-FF4F-021F-A459-9CD0851351CF}"/>
              </a:ext>
            </a:extLst>
          </p:cNvPr>
          <p:cNvGrpSpPr/>
          <p:nvPr/>
        </p:nvGrpSpPr>
        <p:grpSpPr>
          <a:xfrm>
            <a:off x="966222" y="284723"/>
            <a:ext cx="3748525" cy="3967446"/>
            <a:chOff x="2272349" y="669608"/>
            <a:chExt cx="8815739" cy="9330594"/>
          </a:xfrm>
        </p:grpSpPr>
        <p:sp>
          <p:nvSpPr>
            <p:cNvPr id="1249" name="Preprocessing refined">
              <a:extLst>
                <a:ext uri="{FF2B5EF4-FFF2-40B4-BE49-F238E27FC236}">
                  <a16:creationId xmlns:a16="http://schemas.microsoft.com/office/drawing/2014/main" id="{A3A31885-181B-CF24-BE30-3ED8DAACE460}"/>
                </a:ext>
              </a:extLst>
            </p:cNvPr>
            <p:cNvSpPr>
              <a:spLocks noGrp="1"/>
            </p:cNvSpPr>
            <p:nvPr/>
          </p:nvSpPr>
          <p:spPr>
            <a:xfrm>
              <a:off x="3122581" y="669608"/>
              <a:ext cx="1028701" cy="3460433"/>
            </a:xfrm>
            <a:prstGeom prst="roundRect">
              <a:avLst>
                <a:gd name="adj" fmla="val 6481"/>
              </a:avLst>
            </a:prstGeom>
            <a:solidFill>
              <a:srgbClr val="F0F3F5"/>
            </a:solidFill>
            <a:ln w="7290">
              <a:solidFill>
                <a:srgbClr val="BEC7CE"/>
              </a:solidFill>
            </a:ln>
          </p:spPr>
        </p:sp>
        <p:sp>
          <p:nvSpPr>
            <p:cNvPr id="1250" name="Preprocessing divider refined">
              <a:extLst>
                <a:ext uri="{FF2B5EF4-FFF2-40B4-BE49-F238E27FC236}">
                  <a16:creationId xmlns:a16="http://schemas.microsoft.com/office/drawing/2014/main" id="{E21BD2F9-92DD-96F0-3AAF-0957638A49FB}"/>
                </a:ext>
              </a:extLst>
            </p:cNvPr>
            <p:cNvSpPr>
              <a:spLocks noGrp="1"/>
            </p:cNvSpPr>
            <p:nvPr/>
          </p:nvSpPr>
          <p:spPr>
            <a:xfrm>
              <a:off x="3199219" y="2418363"/>
              <a:ext cx="800100" cy="190"/>
            </a:xfrm>
            <a:custGeom>
              <a:avLst/>
              <a:gdLst/>
              <a:ahLst/>
              <a:cxnLst/>
              <a:rect l="0" t="0" r="0" b="0"/>
              <a:pathLst>
                <a:path w="800100" h="191">
                  <a:moveTo>
                    <a:pt x="0" y="0"/>
                  </a:moveTo>
                  <a:lnTo>
                    <a:pt x="800100" y="0"/>
                  </a:lnTo>
                </a:path>
              </a:pathLst>
            </a:custGeom>
            <a:noFill/>
            <a:ln w="6075">
              <a:solidFill>
                <a:srgbClr val="C8CFD4"/>
              </a:solidFill>
              <a:prstDash val="solid"/>
            </a:ln>
          </p:spPr>
        </p:sp>
        <p:sp>
          <p:nvSpPr>
            <p:cNvPr id="1251" name="Density bank refined">
              <a:extLst>
                <a:ext uri="{FF2B5EF4-FFF2-40B4-BE49-F238E27FC236}">
                  <a16:creationId xmlns:a16="http://schemas.microsoft.com/office/drawing/2014/main" id="{1E51E71A-A2BC-0776-E4CA-D30FBB1BE241}"/>
                </a:ext>
              </a:extLst>
            </p:cNvPr>
            <p:cNvSpPr>
              <a:spLocks noGrp="1"/>
            </p:cNvSpPr>
            <p:nvPr/>
          </p:nvSpPr>
          <p:spPr>
            <a:xfrm>
              <a:off x="3160769" y="695478"/>
              <a:ext cx="990599" cy="457199"/>
            </a:xfrm>
            <a:prstGeom prst="rect">
              <a:avLst/>
            </a:prstGeom>
            <a:noFill/>
            <a:ln w="7290">
              <a:noFill/>
            </a:ln>
          </p:spPr>
          <p:txBody>
            <a:bodyPr lIns="0" tIns="0" rIns="0" bIns="0" anchor="ctr"/>
            <a:lstStyle>
              <a:defPPr algn="ctr">
                <a:defRPr sz="612">
                  <a:solidFill>
                    <a:srgbClr val="263442"/>
                  </a:solidFill>
                  <a:latin typeface="Arial"/>
                  <a:ea typeface="Arial"/>
                  <a:cs typeface="Arial"/>
                </a:defRPr>
              </a:defPPr>
              <a:lvl1pPr algn="ctr">
                <a:defRPr sz="612">
                  <a:solidFill>
                    <a:srgbClr val="263442"/>
                  </a:solidFill>
                  <a:latin typeface="Arial"/>
                  <a:ea typeface="Arial"/>
                  <a:cs typeface="Arial"/>
                </a:defRPr>
              </a:lvl1pPr>
              <a:lvl2pPr algn="ctr">
                <a:defRPr sz="612">
                  <a:solidFill>
                    <a:srgbClr val="263442"/>
                  </a:solidFill>
                  <a:latin typeface="Arial"/>
                  <a:ea typeface="Arial"/>
                  <a:cs typeface="Arial"/>
                </a:defRPr>
              </a:lvl2pPr>
              <a:lvl3pPr algn="ctr">
                <a:defRPr sz="612">
                  <a:solidFill>
                    <a:srgbClr val="263442"/>
                  </a:solidFill>
                  <a:latin typeface="Arial"/>
                  <a:ea typeface="Arial"/>
                  <a:cs typeface="Arial"/>
                </a:defRPr>
              </a:lvl3pPr>
              <a:lvl4pPr algn="ctr">
                <a:defRPr sz="612">
                  <a:solidFill>
                    <a:srgbClr val="263442"/>
                  </a:solidFill>
                  <a:latin typeface="Arial"/>
                  <a:ea typeface="Arial"/>
                  <a:cs typeface="Arial"/>
                </a:defRPr>
              </a:lvl4pPr>
              <a:lvl5pPr algn="ctr">
                <a:defRPr sz="612">
                  <a:solidFill>
                    <a:srgbClr val="263442"/>
                  </a:solidFill>
                  <a:latin typeface="Arial"/>
                  <a:ea typeface="Arial"/>
                  <a:cs typeface="Arial"/>
                </a:defRPr>
              </a:lvl5pPr>
              <a:lvl6pPr algn="ctr">
                <a:defRPr sz="612">
                  <a:solidFill>
                    <a:srgbClr val="263442"/>
                  </a:solidFill>
                  <a:latin typeface="Arial"/>
                  <a:ea typeface="Arial"/>
                  <a:cs typeface="Arial"/>
                </a:defRPr>
              </a:lvl6pPr>
              <a:lvl7pPr algn="ctr">
                <a:defRPr sz="612">
                  <a:solidFill>
                    <a:srgbClr val="263442"/>
                  </a:solidFill>
                  <a:latin typeface="Arial"/>
                  <a:ea typeface="Arial"/>
                  <a:cs typeface="Arial"/>
                </a:defRPr>
              </a:lvl7pPr>
              <a:lvl8pPr algn="ctr">
                <a:defRPr sz="612">
                  <a:solidFill>
                    <a:srgbClr val="263442"/>
                  </a:solidFill>
                  <a:latin typeface="Arial"/>
                  <a:ea typeface="Arial"/>
                  <a:cs typeface="Arial"/>
                </a:defRPr>
              </a:lvl8pPr>
              <a:lvl9pPr algn="ctr">
                <a:defRPr sz="612">
                  <a:solidFill>
                    <a:srgbClr val="263442"/>
                  </a:solidFill>
                  <a:latin typeface="Arial"/>
                  <a:ea typeface="Arial"/>
                  <a:cs typeface="Arial"/>
                </a:defRPr>
              </a:lvl9pPr>
            </a:lstStyle>
            <a:p>
              <a:pPr algn="ctr">
                <a:defRPr sz="612">
                  <a:solidFill>
                    <a:srgbClr val="263442"/>
                  </a:solidFill>
                  <a:latin typeface="Arial"/>
                  <a:ea typeface="Arial"/>
                  <a:cs typeface="Arial"/>
                </a:defRPr>
              </a:pPr>
              <a:r>
                <a:rPr sz="550" dirty="0">
                  <a:solidFill>
                    <a:srgbClr val="263442"/>
                  </a:solidFill>
                  <a:latin typeface="Arial"/>
                  <a:ea typeface="Arial"/>
                  <a:cs typeface="Arial"/>
                </a:rPr>
                <a:t>Density</a:t>
              </a:r>
            </a:p>
            <a:p>
              <a:pPr algn="ctr">
                <a:defRPr sz="612">
                  <a:solidFill>
                    <a:srgbClr val="263442"/>
                  </a:solidFill>
                  <a:latin typeface="Arial"/>
                  <a:ea typeface="Arial"/>
                  <a:cs typeface="Arial"/>
                </a:defRPr>
              </a:pPr>
              <a:r>
                <a:rPr lang="en-US" sz="550" dirty="0">
                  <a:solidFill>
                    <a:srgbClr val="263442"/>
                  </a:solidFill>
                  <a:latin typeface="Arial"/>
                  <a:ea typeface="Arial"/>
                  <a:cs typeface="Arial"/>
                </a:rPr>
                <a:t>B</a:t>
              </a:r>
              <a:r>
                <a:rPr sz="550" dirty="0">
                  <a:solidFill>
                    <a:srgbClr val="263442"/>
                  </a:solidFill>
                  <a:latin typeface="Arial"/>
                  <a:ea typeface="Arial"/>
                  <a:cs typeface="Arial"/>
                </a:rPr>
                <a:t>ank</a:t>
              </a:r>
            </a:p>
          </p:txBody>
        </p:sp>
        <p:sp>
          <p:nvSpPr>
            <p:cNvPr id="1252" name="Embedding head refined">
              <a:extLst>
                <a:ext uri="{FF2B5EF4-FFF2-40B4-BE49-F238E27FC236}">
                  <a16:creationId xmlns:a16="http://schemas.microsoft.com/office/drawing/2014/main" id="{58C61B38-F8DB-1F98-DEE4-C9D7130E2730}"/>
                </a:ext>
              </a:extLst>
            </p:cNvPr>
            <p:cNvSpPr>
              <a:spLocks noGrp="1"/>
            </p:cNvSpPr>
            <p:nvPr/>
          </p:nvSpPr>
          <p:spPr>
            <a:xfrm>
              <a:off x="3122433" y="2542570"/>
              <a:ext cx="990599" cy="457199"/>
            </a:xfrm>
            <a:prstGeom prst="rect">
              <a:avLst/>
            </a:prstGeom>
            <a:noFill/>
            <a:ln w="7290">
              <a:noFill/>
            </a:ln>
          </p:spPr>
          <p:txBody>
            <a:bodyPr lIns="0" tIns="0" rIns="0" bIns="0" anchor="ctr"/>
            <a:lstStyle>
              <a:defPPr algn="ctr">
                <a:defRPr sz="612">
                  <a:solidFill>
                    <a:srgbClr val="263442"/>
                  </a:solidFill>
                  <a:latin typeface="Arial"/>
                  <a:ea typeface="Arial"/>
                  <a:cs typeface="Arial"/>
                </a:defRPr>
              </a:defPPr>
              <a:lvl1pPr algn="ctr">
                <a:defRPr sz="612">
                  <a:solidFill>
                    <a:srgbClr val="263442"/>
                  </a:solidFill>
                  <a:latin typeface="Arial"/>
                  <a:ea typeface="Arial"/>
                  <a:cs typeface="Arial"/>
                </a:defRPr>
              </a:lvl1pPr>
              <a:lvl2pPr algn="ctr">
                <a:defRPr sz="612">
                  <a:solidFill>
                    <a:srgbClr val="263442"/>
                  </a:solidFill>
                  <a:latin typeface="Arial"/>
                  <a:ea typeface="Arial"/>
                  <a:cs typeface="Arial"/>
                </a:defRPr>
              </a:lvl2pPr>
              <a:lvl3pPr algn="ctr">
                <a:defRPr sz="612">
                  <a:solidFill>
                    <a:srgbClr val="263442"/>
                  </a:solidFill>
                  <a:latin typeface="Arial"/>
                  <a:ea typeface="Arial"/>
                  <a:cs typeface="Arial"/>
                </a:defRPr>
              </a:lvl3pPr>
              <a:lvl4pPr algn="ctr">
                <a:defRPr sz="612">
                  <a:solidFill>
                    <a:srgbClr val="263442"/>
                  </a:solidFill>
                  <a:latin typeface="Arial"/>
                  <a:ea typeface="Arial"/>
                  <a:cs typeface="Arial"/>
                </a:defRPr>
              </a:lvl4pPr>
              <a:lvl5pPr algn="ctr">
                <a:defRPr sz="612">
                  <a:solidFill>
                    <a:srgbClr val="263442"/>
                  </a:solidFill>
                  <a:latin typeface="Arial"/>
                  <a:ea typeface="Arial"/>
                  <a:cs typeface="Arial"/>
                </a:defRPr>
              </a:lvl5pPr>
              <a:lvl6pPr algn="ctr">
                <a:defRPr sz="612">
                  <a:solidFill>
                    <a:srgbClr val="263442"/>
                  </a:solidFill>
                  <a:latin typeface="Arial"/>
                  <a:ea typeface="Arial"/>
                  <a:cs typeface="Arial"/>
                </a:defRPr>
              </a:lvl6pPr>
              <a:lvl7pPr algn="ctr">
                <a:defRPr sz="612">
                  <a:solidFill>
                    <a:srgbClr val="263442"/>
                  </a:solidFill>
                  <a:latin typeface="Arial"/>
                  <a:ea typeface="Arial"/>
                  <a:cs typeface="Arial"/>
                </a:defRPr>
              </a:lvl7pPr>
              <a:lvl8pPr algn="ctr">
                <a:defRPr sz="612">
                  <a:solidFill>
                    <a:srgbClr val="263442"/>
                  </a:solidFill>
                  <a:latin typeface="Arial"/>
                  <a:ea typeface="Arial"/>
                  <a:cs typeface="Arial"/>
                </a:defRPr>
              </a:lvl8pPr>
              <a:lvl9pPr algn="ctr">
                <a:defRPr sz="612">
                  <a:solidFill>
                    <a:srgbClr val="263442"/>
                  </a:solidFill>
                  <a:latin typeface="Arial"/>
                  <a:ea typeface="Arial"/>
                  <a:cs typeface="Arial"/>
                </a:defRPr>
              </a:lvl9pPr>
            </a:lstStyle>
            <a:p>
              <a:pPr algn="ctr">
                <a:defRPr sz="612">
                  <a:solidFill>
                    <a:srgbClr val="263442"/>
                  </a:solidFill>
                  <a:latin typeface="Arial"/>
                  <a:ea typeface="Arial"/>
                  <a:cs typeface="Arial"/>
                </a:defRPr>
              </a:pPr>
              <a:r>
                <a:rPr lang="en-US" sz="550" dirty="0">
                  <a:solidFill>
                    <a:srgbClr val="263442"/>
                  </a:solidFill>
                  <a:latin typeface="Arial"/>
                  <a:ea typeface="Arial"/>
                  <a:cs typeface="Arial"/>
                </a:rPr>
                <a:t>Atom embeddings</a:t>
              </a:r>
              <a:endParaRPr sz="550" dirty="0">
                <a:solidFill>
                  <a:srgbClr val="263442"/>
                </a:solidFill>
                <a:latin typeface="Arial"/>
                <a:ea typeface="Arial"/>
                <a:cs typeface="Arial"/>
              </a:endParaRPr>
            </a:p>
          </p:txBody>
        </p:sp>
        <p:sp>
          <p:nvSpPr>
            <p:cNvPr id="1253" name="Find matrix 0-0">
              <a:extLst>
                <a:ext uri="{FF2B5EF4-FFF2-40B4-BE49-F238E27FC236}">
                  <a16:creationId xmlns:a16="http://schemas.microsoft.com/office/drawing/2014/main" id="{BBF0C328-3AF9-A068-FA92-FBF890856A66}"/>
                </a:ext>
              </a:extLst>
            </p:cNvPr>
            <p:cNvSpPr>
              <a:spLocks noGrp="1"/>
            </p:cNvSpPr>
            <p:nvPr/>
          </p:nvSpPr>
          <p:spPr>
            <a:xfrm>
              <a:off x="10255382" y="3200400"/>
              <a:ext cx="91559" cy="70009"/>
            </a:xfrm>
            <a:prstGeom prst="rect">
              <a:avLst/>
            </a:prstGeom>
            <a:solidFill>
              <a:srgbClr val="3E8F9A"/>
            </a:solidFill>
            <a:ln w="7290">
              <a:noFill/>
            </a:ln>
          </p:spPr>
        </p:sp>
        <p:sp>
          <p:nvSpPr>
            <p:cNvPr id="1254" name="Find matrix 0-1">
              <a:extLst>
                <a:ext uri="{FF2B5EF4-FFF2-40B4-BE49-F238E27FC236}">
                  <a16:creationId xmlns:a16="http://schemas.microsoft.com/office/drawing/2014/main" id="{3474DD36-B24E-DC42-848D-72CE3DEC2274}"/>
                </a:ext>
              </a:extLst>
            </p:cNvPr>
            <p:cNvSpPr>
              <a:spLocks noGrp="1"/>
            </p:cNvSpPr>
            <p:nvPr/>
          </p:nvSpPr>
          <p:spPr>
            <a:xfrm>
              <a:off x="10351227" y="3200400"/>
              <a:ext cx="91559" cy="70009"/>
            </a:xfrm>
            <a:prstGeom prst="rect">
              <a:avLst/>
            </a:prstGeom>
            <a:solidFill>
              <a:srgbClr val="5B9FB6"/>
            </a:solidFill>
            <a:ln w="7290">
              <a:noFill/>
            </a:ln>
          </p:spPr>
        </p:sp>
        <p:sp>
          <p:nvSpPr>
            <p:cNvPr id="1255" name="Find matrix 0-2">
              <a:extLst>
                <a:ext uri="{FF2B5EF4-FFF2-40B4-BE49-F238E27FC236}">
                  <a16:creationId xmlns:a16="http://schemas.microsoft.com/office/drawing/2014/main" id="{F807BDD1-EE13-F00C-2E77-C8910F6ACC73}"/>
                </a:ext>
              </a:extLst>
            </p:cNvPr>
            <p:cNvSpPr>
              <a:spLocks noGrp="1"/>
            </p:cNvSpPr>
            <p:nvPr/>
          </p:nvSpPr>
          <p:spPr>
            <a:xfrm>
              <a:off x="10447072" y="3200400"/>
              <a:ext cx="91559" cy="70009"/>
            </a:xfrm>
            <a:prstGeom prst="rect">
              <a:avLst/>
            </a:prstGeom>
            <a:solidFill>
              <a:srgbClr val="A3CDDA"/>
            </a:solidFill>
            <a:ln w="7290">
              <a:noFill/>
            </a:ln>
          </p:spPr>
        </p:sp>
        <p:sp>
          <p:nvSpPr>
            <p:cNvPr id="1256" name="Find matrix 0-3">
              <a:extLst>
                <a:ext uri="{FF2B5EF4-FFF2-40B4-BE49-F238E27FC236}">
                  <a16:creationId xmlns:a16="http://schemas.microsoft.com/office/drawing/2014/main" id="{DB1A890F-778A-35C9-7AE1-C0AE618D52CF}"/>
                </a:ext>
              </a:extLst>
            </p:cNvPr>
            <p:cNvSpPr>
              <a:spLocks noGrp="1"/>
            </p:cNvSpPr>
            <p:nvPr/>
          </p:nvSpPr>
          <p:spPr>
            <a:xfrm>
              <a:off x="10542917" y="3200400"/>
              <a:ext cx="91559" cy="70009"/>
            </a:xfrm>
            <a:prstGeom prst="rect">
              <a:avLst/>
            </a:prstGeom>
            <a:solidFill>
              <a:srgbClr val="88BEC3"/>
            </a:solidFill>
            <a:ln w="7290">
              <a:noFill/>
            </a:ln>
          </p:spPr>
        </p:sp>
        <p:sp>
          <p:nvSpPr>
            <p:cNvPr id="1257" name="Find matrix 0-4">
              <a:extLst>
                <a:ext uri="{FF2B5EF4-FFF2-40B4-BE49-F238E27FC236}">
                  <a16:creationId xmlns:a16="http://schemas.microsoft.com/office/drawing/2014/main" id="{B445D6B3-6FC7-4615-5975-85730846D82F}"/>
                </a:ext>
              </a:extLst>
            </p:cNvPr>
            <p:cNvSpPr>
              <a:spLocks noGrp="1"/>
            </p:cNvSpPr>
            <p:nvPr/>
          </p:nvSpPr>
          <p:spPr>
            <a:xfrm>
              <a:off x="10638763" y="3200400"/>
              <a:ext cx="91559" cy="70009"/>
            </a:xfrm>
            <a:prstGeom prst="rect">
              <a:avLst/>
            </a:prstGeom>
            <a:solidFill>
              <a:srgbClr val="67AD9F"/>
            </a:solidFill>
            <a:ln w="7290">
              <a:noFill/>
            </a:ln>
          </p:spPr>
        </p:sp>
        <p:sp>
          <p:nvSpPr>
            <p:cNvPr id="1258" name="Find matrix 0-5">
              <a:extLst>
                <a:ext uri="{FF2B5EF4-FFF2-40B4-BE49-F238E27FC236}">
                  <a16:creationId xmlns:a16="http://schemas.microsoft.com/office/drawing/2014/main" id="{EDF77049-6933-CA1B-21BD-2D261FB460F5}"/>
                </a:ext>
              </a:extLst>
            </p:cNvPr>
            <p:cNvSpPr>
              <a:spLocks noGrp="1"/>
            </p:cNvSpPr>
            <p:nvPr/>
          </p:nvSpPr>
          <p:spPr>
            <a:xfrm>
              <a:off x="10734608" y="3200400"/>
              <a:ext cx="91559" cy="70009"/>
            </a:xfrm>
            <a:prstGeom prst="rect">
              <a:avLst/>
            </a:prstGeom>
            <a:solidFill>
              <a:srgbClr val="C4DDE0"/>
            </a:solidFill>
            <a:ln w="7290">
              <a:noFill/>
            </a:ln>
          </p:spPr>
        </p:sp>
        <p:sp>
          <p:nvSpPr>
            <p:cNvPr id="1259" name="Find matrix 0-6">
              <a:extLst>
                <a:ext uri="{FF2B5EF4-FFF2-40B4-BE49-F238E27FC236}">
                  <a16:creationId xmlns:a16="http://schemas.microsoft.com/office/drawing/2014/main" id="{F24780FB-09E3-AE39-557B-018C817CABA7}"/>
                </a:ext>
              </a:extLst>
            </p:cNvPr>
            <p:cNvSpPr>
              <a:spLocks noGrp="1"/>
            </p:cNvSpPr>
            <p:nvPr/>
          </p:nvSpPr>
          <p:spPr>
            <a:xfrm>
              <a:off x="10830453" y="3200400"/>
              <a:ext cx="91559" cy="70009"/>
            </a:xfrm>
            <a:prstGeom prst="rect">
              <a:avLst/>
            </a:prstGeom>
            <a:solidFill>
              <a:srgbClr val="B6D8CC"/>
            </a:solidFill>
            <a:ln w="7290">
              <a:noFill/>
            </a:ln>
          </p:spPr>
        </p:sp>
        <p:sp>
          <p:nvSpPr>
            <p:cNvPr id="1260" name="Find matrix 0-7">
              <a:extLst>
                <a:ext uri="{FF2B5EF4-FFF2-40B4-BE49-F238E27FC236}">
                  <a16:creationId xmlns:a16="http://schemas.microsoft.com/office/drawing/2014/main" id="{69791062-44B8-8426-AAD4-DD68B1FF31BA}"/>
                </a:ext>
              </a:extLst>
            </p:cNvPr>
            <p:cNvSpPr>
              <a:spLocks noGrp="1"/>
            </p:cNvSpPr>
            <p:nvPr/>
          </p:nvSpPr>
          <p:spPr>
            <a:xfrm>
              <a:off x="10926299" y="3200400"/>
              <a:ext cx="91559" cy="70009"/>
            </a:xfrm>
            <a:prstGeom prst="rect">
              <a:avLst/>
            </a:prstGeom>
            <a:solidFill>
              <a:srgbClr val="D6E5ED"/>
            </a:solidFill>
            <a:ln w="7290">
              <a:noFill/>
            </a:ln>
          </p:spPr>
        </p:sp>
        <p:sp>
          <p:nvSpPr>
            <p:cNvPr id="1261" name="Find matrix 1-0">
              <a:extLst>
                <a:ext uri="{FF2B5EF4-FFF2-40B4-BE49-F238E27FC236}">
                  <a16:creationId xmlns:a16="http://schemas.microsoft.com/office/drawing/2014/main" id="{DAD773D5-9108-C0B7-81D5-AC1CF98B49B0}"/>
                </a:ext>
              </a:extLst>
            </p:cNvPr>
            <p:cNvSpPr>
              <a:spLocks noGrp="1"/>
            </p:cNvSpPr>
            <p:nvPr/>
          </p:nvSpPr>
          <p:spPr>
            <a:xfrm>
              <a:off x="10255382" y="3274695"/>
              <a:ext cx="91559" cy="70009"/>
            </a:xfrm>
            <a:prstGeom prst="rect">
              <a:avLst/>
            </a:prstGeom>
            <a:solidFill>
              <a:srgbClr val="A3CDDA"/>
            </a:solidFill>
            <a:ln w="7290">
              <a:noFill/>
            </a:ln>
          </p:spPr>
        </p:sp>
        <p:sp>
          <p:nvSpPr>
            <p:cNvPr id="1262" name="Find matrix 1-1">
              <a:extLst>
                <a:ext uri="{FF2B5EF4-FFF2-40B4-BE49-F238E27FC236}">
                  <a16:creationId xmlns:a16="http://schemas.microsoft.com/office/drawing/2014/main" id="{FD6D65E0-3CD4-81C9-A7EC-EE4D1EA03DA1}"/>
                </a:ext>
              </a:extLst>
            </p:cNvPr>
            <p:cNvSpPr>
              <a:spLocks noGrp="1"/>
            </p:cNvSpPr>
            <p:nvPr/>
          </p:nvSpPr>
          <p:spPr>
            <a:xfrm>
              <a:off x="10351227" y="3274695"/>
              <a:ext cx="91559" cy="70009"/>
            </a:xfrm>
            <a:prstGeom prst="rect">
              <a:avLst/>
            </a:prstGeom>
            <a:solidFill>
              <a:srgbClr val="B6D8CC"/>
            </a:solidFill>
            <a:ln w="7290">
              <a:noFill/>
            </a:ln>
          </p:spPr>
        </p:sp>
        <p:sp>
          <p:nvSpPr>
            <p:cNvPr id="1263" name="Find matrix 1-2">
              <a:extLst>
                <a:ext uri="{FF2B5EF4-FFF2-40B4-BE49-F238E27FC236}">
                  <a16:creationId xmlns:a16="http://schemas.microsoft.com/office/drawing/2014/main" id="{C06E5EF8-D1B9-1DB5-4010-25CDECE16DF3}"/>
                </a:ext>
              </a:extLst>
            </p:cNvPr>
            <p:cNvSpPr>
              <a:spLocks noGrp="1"/>
            </p:cNvSpPr>
            <p:nvPr/>
          </p:nvSpPr>
          <p:spPr>
            <a:xfrm>
              <a:off x="10447072" y="3274695"/>
              <a:ext cx="91559" cy="70009"/>
            </a:xfrm>
            <a:prstGeom prst="rect">
              <a:avLst/>
            </a:prstGeom>
            <a:solidFill>
              <a:srgbClr val="88BEC3"/>
            </a:solidFill>
            <a:ln w="7290">
              <a:noFill/>
            </a:ln>
          </p:spPr>
        </p:sp>
        <p:sp>
          <p:nvSpPr>
            <p:cNvPr id="1264" name="Find matrix 1-3">
              <a:extLst>
                <a:ext uri="{FF2B5EF4-FFF2-40B4-BE49-F238E27FC236}">
                  <a16:creationId xmlns:a16="http://schemas.microsoft.com/office/drawing/2014/main" id="{9AD5706A-D366-481E-242D-C3727EE68292}"/>
                </a:ext>
              </a:extLst>
            </p:cNvPr>
            <p:cNvSpPr>
              <a:spLocks noGrp="1"/>
            </p:cNvSpPr>
            <p:nvPr/>
          </p:nvSpPr>
          <p:spPr>
            <a:xfrm>
              <a:off x="10542917" y="3274695"/>
              <a:ext cx="91559" cy="70009"/>
            </a:xfrm>
            <a:prstGeom prst="rect">
              <a:avLst/>
            </a:prstGeom>
            <a:solidFill>
              <a:srgbClr val="D6E5ED"/>
            </a:solidFill>
            <a:ln w="7290">
              <a:noFill/>
            </a:ln>
          </p:spPr>
        </p:sp>
        <p:sp>
          <p:nvSpPr>
            <p:cNvPr id="1265" name="Find matrix 1-4">
              <a:extLst>
                <a:ext uri="{FF2B5EF4-FFF2-40B4-BE49-F238E27FC236}">
                  <a16:creationId xmlns:a16="http://schemas.microsoft.com/office/drawing/2014/main" id="{6454B603-2435-1F3E-EFE1-9F3ED69FE183}"/>
                </a:ext>
              </a:extLst>
            </p:cNvPr>
            <p:cNvSpPr>
              <a:spLocks noGrp="1"/>
            </p:cNvSpPr>
            <p:nvPr/>
          </p:nvSpPr>
          <p:spPr>
            <a:xfrm>
              <a:off x="10638763" y="3274695"/>
              <a:ext cx="91559" cy="70009"/>
            </a:xfrm>
            <a:prstGeom prst="rect">
              <a:avLst/>
            </a:prstGeom>
            <a:solidFill>
              <a:srgbClr val="5B9FB6"/>
            </a:solidFill>
            <a:ln w="7290">
              <a:noFill/>
            </a:ln>
          </p:spPr>
        </p:sp>
        <p:sp>
          <p:nvSpPr>
            <p:cNvPr id="1266" name="Find matrix 1-5">
              <a:extLst>
                <a:ext uri="{FF2B5EF4-FFF2-40B4-BE49-F238E27FC236}">
                  <a16:creationId xmlns:a16="http://schemas.microsoft.com/office/drawing/2014/main" id="{BDC3058F-5BB6-EF0A-C0E4-8FFF478A86C2}"/>
                </a:ext>
              </a:extLst>
            </p:cNvPr>
            <p:cNvSpPr>
              <a:spLocks noGrp="1"/>
            </p:cNvSpPr>
            <p:nvPr/>
          </p:nvSpPr>
          <p:spPr>
            <a:xfrm>
              <a:off x="10734608" y="3274695"/>
              <a:ext cx="91559" cy="70009"/>
            </a:xfrm>
            <a:prstGeom prst="rect">
              <a:avLst/>
            </a:prstGeom>
            <a:solidFill>
              <a:srgbClr val="3E8F9A"/>
            </a:solidFill>
            <a:ln w="7290">
              <a:noFill/>
            </a:ln>
          </p:spPr>
        </p:sp>
        <p:sp>
          <p:nvSpPr>
            <p:cNvPr id="1267" name="Find matrix 1-6">
              <a:extLst>
                <a:ext uri="{FF2B5EF4-FFF2-40B4-BE49-F238E27FC236}">
                  <a16:creationId xmlns:a16="http://schemas.microsoft.com/office/drawing/2014/main" id="{7A6FD57F-2D4A-E860-6015-70841E18A307}"/>
                </a:ext>
              </a:extLst>
            </p:cNvPr>
            <p:cNvSpPr>
              <a:spLocks noGrp="1"/>
            </p:cNvSpPr>
            <p:nvPr/>
          </p:nvSpPr>
          <p:spPr>
            <a:xfrm>
              <a:off x="10830453" y="3274695"/>
              <a:ext cx="91559" cy="70009"/>
            </a:xfrm>
            <a:prstGeom prst="rect">
              <a:avLst/>
            </a:prstGeom>
            <a:solidFill>
              <a:srgbClr val="C4DDE0"/>
            </a:solidFill>
            <a:ln w="7290">
              <a:noFill/>
            </a:ln>
          </p:spPr>
        </p:sp>
        <p:sp>
          <p:nvSpPr>
            <p:cNvPr id="1268" name="Find matrix 1-7">
              <a:extLst>
                <a:ext uri="{FF2B5EF4-FFF2-40B4-BE49-F238E27FC236}">
                  <a16:creationId xmlns:a16="http://schemas.microsoft.com/office/drawing/2014/main" id="{289EF4F7-DDB6-5545-39F7-5D1B3F86D2D3}"/>
                </a:ext>
              </a:extLst>
            </p:cNvPr>
            <p:cNvSpPr>
              <a:spLocks noGrp="1"/>
            </p:cNvSpPr>
            <p:nvPr/>
          </p:nvSpPr>
          <p:spPr>
            <a:xfrm>
              <a:off x="10926299" y="3274695"/>
              <a:ext cx="91559" cy="70009"/>
            </a:xfrm>
            <a:prstGeom prst="rect">
              <a:avLst/>
            </a:prstGeom>
            <a:solidFill>
              <a:srgbClr val="67AD9F"/>
            </a:solidFill>
            <a:ln w="7290">
              <a:noFill/>
            </a:ln>
          </p:spPr>
        </p:sp>
        <p:sp>
          <p:nvSpPr>
            <p:cNvPr id="1269" name="Find matrix 2-0">
              <a:extLst>
                <a:ext uri="{FF2B5EF4-FFF2-40B4-BE49-F238E27FC236}">
                  <a16:creationId xmlns:a16="http://schemas.microsoft.com/office/drawing/2014/main" id="{B1282592-D5D6-9C68-2D42-3D2A0FA6458C}"/>
                </a:ext>
              </a:extLst>
            </p:cNvPr>
            <p:cNvSpPr>
              <a:spLocks noGrp="1"/>
            </p:cNvSpPr>
            <p:nvPr/>
          </p:nvSpPr>
          <p:spPr>
            <a:xfrm>
              <a:off x="10255382" y="3348990"/>
              <a:ext cx="91559" cy="70009"/>
            </a:xfrm>
            <a:prstGeom prst="rect">
              <a:avLst/>
            </a:prstGeom>
            <a:solidFill>
              <a:srgbClr val="67AD9F"/>
            </a:solidFill>
            <a:ln w="7290">
              <a:noFill/>
            </a:ln>
          </p:spPr>
        </p:sp>
        <p:sp>
          <p:nvSpPr>
            <p:cNvPr id="1270" name="Find matrix 2-1">
              <a:extLst>
                <a:ext uri="{FF2B5EF4-FFF2-40B4-BE49-F238E27FC236}">
                  <a16:creationId xmlns:a16="http://schemas.microsoft.com/office/drawing/2014/main" id="{390A8337-4744-F454-87FF-4E9BDE799C1D}"/>
                </a:ext>
              </a:extLst>
            </p:cNvPr>
            <p:cNvSpPr>
              <a:spLocks noGrp="1"/>
            </p:cNvSpPr>
            <p:nvPr/>
          </p:nvSpPr>
          <p:spPr>
            <a:xfrm>
              <a:off x="10351227" y="3348990"/>
              <a:ext cx="91559" cy="70009"/>
            </a:xfrm>
            <a:prstGeom prst="rect">
              <a:avLst/>
            </a:prstGeom>
            <a:solidFill>
              <a:srgbClr val="C4DDE0"/>
            </a:solidFill>
            <a:ln w="7290">
              <a:noFill/>
            </a:ln>
          </p:spPr>
        </p:sp>
        <p:sp>
          <p:nvSpPr>
            <p:cNvPr id="1271" name="Find matrix 2-2">
              <a:extLst>
                <a:ext uri="{FF2B5EF4-FFF2-40B4-BE49-F238E27FC236}">
                  <a16:creationId xmlns:a16="http://schemas.microsoft.com/office/drawing/2014/main" id="{F2F7291B-E14D-7E55-CC39-0366DDE36AB6}"/>
                </a:ext>
              </a:extLst>
            </p:cNvPr>
            <p:cNvSpPr>
              <a:spLocks noGrp="1"/>
            </p:cNvSpPr>
            <p:nvPr/>
          </p:nvSpPr>
          <p:spPr>
            <a:xfrm>
              <a:off x="10447072" y="3348990"/>
              <a:ext cx="91559" cy="70009"/>
            </a:xfrm>
            <a:prstGeom prst="rect">
              <a:avLst/>
            </a:prstGeom>
            <a:solidFill>
              <a:srgbClr val="5B9FB6"/>
            </a:solidFill>
            <a:ln w="7290">
              <a:noFill/>
            </a:ln>
          </p:spPr>
        </p:sp>
        <p:sp>
          <p:nvSpPr>
            <p:cNvPr id="1272" name="Find matrix 2-3">
              <a:extLst>
                <a:ext uri="{FF2B5EF4-FFF2-40B4-BE49-F238E27FC236}">
                  <a16:creationId xmlns:a16="http://schemas.microsoft.com/office/drawing/2014/main" id="{7DDB5DDB-AA90-B36F-ECCA-B3D87BDEF49C}"/>
                </a:ext>
              </a:extLst>
            </p:cNvPr>
            <p:cNvSpPr>
              <a:spLocks noGrp="1"/>
            </p:cNvSpPr>
            <p:nvPr/>
          </p:nvSpPr>
          <p:spPr>
            <a:xfrm>
              <a:off x="10542917" y="3348990"/>
              <a:ext cx="91559" cy="70009"/>
            </a:xfrm>
            <a:prstGeom prst="rect">
              <a:avLst/>
            </a:prstGeom>
            <a:solidFill>
              <a:srgbClr val="B6D8CC"/>
            </a:solidFill>
            <a:ln w="7290">
              <a:noFill/>
            </a:ln>
          </p:spPr>
        </p:sp>
        <p:sp>
          <p:nvSpPr>
            <p:cNvPr id="1273" name="Find matrix 2-4">
              <a:extLst>
                <a:ext uri="{FF2B5EF4-FFF2-40B4-BE49-F238E27FC236}">
                  <a16:creationId xmlns:a16="http://schemas.microsoft.com/office/drawing/2014/main" id="{FBF483EB-0895-E2F9-E946-2CE7B0273010}"/>
                </a:ext>
              </a:extLst>
            </p:cNvPr>
            <p:cNvSpPr>
              <a:spLocks noGrp="1"/>
            </p:cNvSpPr>
            <p:nvPr/>
          </p:nvSpPr>
          <p:spPr>
            <a:xfrm>
              <a:off x="10638763" y="3348990"/>
              <a:ext cx="91559" cy="70009"/>
            </a:xfrm>
            <a:prstGeom prst="rect">
              <a:avLst/>
            </a:prstGeom>
            <a:solidFill>
              <a:srgbClr val="3E8F9A"/>
            </a:solidFill>
            <a:ln w="7290">
              <a:noFill/>
            </a:ln>
          </p:spPr>
        </p:sp>
        <p:sp>
          <p:nvSpPr>
            <p:cNvPr id="1274" name="Find matrix 2-5">
              <a:extLst>
                <a:ext uri="{FF2B5EF4-FFF2-40B4-BE49-F238E27FC236}">
                  <a16:creationId xmlns:a16="http://schemas.microsoft.com/office/drawing/2014/main" id="{235264C0-29EF-D9B8-F0D1-9BEBBAD9D6E8}"/>
                </a:ext>
              </a:extLst>
            </p:cNvPr>
            <p:cNvSpPr>
              <a:spLocks noGrp="1"/>
            </p:cNvSpPr>
            <p:nvPr/>
          </p:nvSpPr>
          <p:spPr>
            <a:xfrm>
              <a:off x="10734608" y="3348990"/>
              <a:ext cx="91559" cy="70009"/>
            </a:xfrm>
            <a:prstGeom prst="rect">
              <a:avLst/>
            </a:prstGeom>
            <a:solidFill>
              <a:srgbClr val="D6E5ED"/>
            </a:solidFill>
            <a:ln w="7290">
              <a:noFill/>
            </a:ln>
          </p:spPr>
        </p:sp>
        <p:sp>
          <p:nvSpPr>
            <p:cNvPr id="1275" name="Find matrix 2-6">
              <a:extLst>
                <a:ext uri="{FF2B5EF4-FFF2-40B4-BE49-F238E27FC236}">
                  <a16:creationId xmlns:a16="http://schemas.microsoft.com/office/drawing/2014/main" id="{89BB4142-622C-474C-899B-E7C760EA5054}"/>
                </a:ext>
              </a:extLst>
            </p:cNvPr>
            <p:cNvSpPr>
              <a:spLocks noGrp="1"/>
            </p:cNvSpPr>
            <p:nvPr/>
          </p:nvSpPr>
          <p:spPr>
            <a:xfrm>
              <a:off x="10830453" y="3348990"/>
              <a:ext cx="91559" cy="70009"/>
            </a:xfrm>
            <a:prstGeom prst="rect">
              <a:avLst/>
            </a:prstGeom>
            <a:solidFill>
              <a:srgbClr val="88BEC3"/>
            </a:solidFill>
            <a:ln w="7290">
              <a:noFill/>
            </a:ln>
          </p:spPr>
        </p:sp>
        <p:sp>
          <p:nvSpPr>
            <p:cNvPr id="1276" name="Find matrix 2-7">
              <a:extLst>
                <a:ext uri="{FF2B5EF4-FFF2-40B4-BE49-F238E27FC236}">
                  <a16:creationId xmlns:a16="http://schemas.microsoft.com/office/drawing/2014/main" id="{6D2284D9-4AE6-02DD-AA99-C88ED825A8F4}"/>
                </a:ext>
              </a:extLst>
            </p:cNvPr>
            <p:cNvSpPr>
              <a:spLocks noGrp="1"/>
            </p:cNvSpPr>
            <p:nvPr/>
          </p:nvSpPr>
          <p:spPr>
            <a:xfrm>
              <a:off x="10926299" y="3348990"/>
              <a:ext cx="91559" cy="70009"/>
            </a:xfrm>
            <a:prstGeom prst="rect">
              <a:avLst/>
            </a:prstGeom>
            <a:solidFill>
              <a:srgbClr val="A3CDDA"/>
            </a:solidFill>
            <a:ln w="7290">
              <a:noFill/>
            </a:ln>
          </p:spPr>
        </p:sp>
        <p:sp>
          <p:nvSpPr>
            <p:cNvPr id="1277" name="Find matrix 3-0">
              <a:extLst>
                <a:ext uri="{FF2B5EF4-FFF2-40B4-BE49-F238E27FC236}">
                  <a16:creationId xmlns:a16="http://schemas.microsoft.com/office/drawing/2014/main" id="{A354350A-00E7-4344-FF84-5BBF2165CEDA}"/>
                </a:ext>
              </a:extLst>
            </p:cNvPr>
            <p:cNvSpPr>
              <a:spLocks noGrp="1"/>
            </p:cNvSpPr>
            <p:nvPr/>
          </p:nvSpPr>
          <p:spPr>
            <a:xfrm>
              <a:off x="10255382" y="3423285"/>
              <a:ext cx="91559" cy="70009"/>
            </a:xfrm>
            <a:prstGeom prst="rect">
              <a:avLst/>
            </a:prstGeom>
            <a:solidFill>
              <a:srgbClr val="88BEC3"/>
            </a:solidFill>
            <a:ln w="7290">
              <a:noFill/>
            </a:ln>
          </p:spPr>
        </p:sp>
        <p:sp>
          <p:nvSpPr>
            <p:cNvPr id="1278" name="Find matrix 3-1">
              <a:extLst>
                <a:ext uri="{FF2B5EF4-FFF2-40B4-BE49-F238E27FC236}">
                  <a16:creationId xmlns:a16="http://schemas.microsoft.com/office/drawing/2014/main" id="{E2EDFAC2-C5CD-2DF8-165C-4DBC9D98B449}"/>
                </a:ext>
              </a:extLst>
            </p:cNvPr>
            <p:cNvSpPr>
              <a:spLocks noGrp="1"/>
            </p:cNvSpPr>
            <p:nvPr/>
          </p:nvSpPr>
          <p:spPr>
            <a:xfrm>
              <a:off x="10351227" y="3423285"/>
              <a:ext cx="91559" cy="70009"/>
            </a:xfrm>
            <a:prstGeom prst="rect">
              <a:avLst/>
            </a:prstGeom>
            <a:solidFill>
              <a:srgbClr val="D6E5ED"/>
            </a:solidFill>
            <a:ln w="7290">
              <a:noFill/>
            </a:ln>
          </p:spPr>
        </p:sp>
        <p:sp>
          <p:nvSpPr>
            <p:cNvPr id="1279" name="Find matrix 3-2">
              <a:extLst>
                <a:ext uri="{FF2B5EF4-FFF2-40B4-BE49-F238E27FC236}">
                  <a16:creationId xmlns:a16="http://schemas.microsoft.com/office/drawing/2014/main" id="{4D088869-EB59-E1B3-59B4-C3C92C8170BA}"/>
                </a:ext>
              </a:extLst>
            </p:cNvPr>
            <p:cNvSpPr>
              <a:spLocks noGrp="1"/>
            </p:cNvSpPr>
            <p:nvPr/>
          </p:nvSpPr>
          <p:spPr>
            <a:xfrm>
              <a:off x="10447072" y="3423285"/>
              <a:ext cx="91559" cy="70009"/>
            </a:xfrm>
            <a:prstGeom prst="rect">
              <a:avLst/>
            </a:prstGeom>
            <a:solidFill>
              <a:srgbClr val="67AD9F"/>
            </a:solidFill>
            <a:ln w="7290">
              <a:noFill/>
            </a:ln>
          </p:spPr>
        </p:sp>
        <p:sp>
          <p:nvSpPr>
            <p:cNvPr id="1280" name="Find matrix 3-3">
              <a:extLst>
                <a:ext uri="{FF2B5EF4-FFF2-40B4-BE49-F238E27FC236}">
                  <a16:creationId xmlns:a16="http://schemas.microsoft.com/office/drawing/2014/main" id="{119CBCB9-6860-7DCC-AF73-C422647EEF23}"/>
                </a:ext>
              </a:extLst>
            </p:cNvPr>
            <p:cNvSpPr>
              <a:spLocks noGrp="1"/>
            </p:cNvSpPr>
            <p:nvPr/>
          </p:nvSpPr>
          <p:spPr>
            <a:xfrm>
              <a:off x="10542917" y="3423285"/>
              <a:ext cx="91559" cy="70009"/>
            </a:xfrm>
            <a:prstGeom prst="rect">
              <a:avLst/>
            </a:prstGeom>
            <a:solidFill>
              <a:srgbClr val="3E8F9A"/>
            </a:solidFill>
            <a:ln w="7290">
              <a:noFill/>
            </a:ln>
          </p:spPr>
        </p:sp>
        <p:sp>
          <p:nvSpPr>
            <p:cNvPr id="1281" name="Find matrix 3-4">
              <a:extLst>
                <a:ext uri="{FF2B5EF4-FFF2-40B4-BE49-F238E27FC236}">
                  <a16:creationId xmlns:a16="http://schemas.microsoft.com/office/drawing/2014/main" id="{F0ED964A-EDEB-7D43-69F8-BEFE576D1277}"/>
                </a:ext>
              </a:extLst>
            </p:cNvPr>
            <p:cNvSpPr>
              <a:spLocks noGrp="1"/>
            </p:cNvSpPr>
            <p:nvPr/>
          </p:nvSpPr>
          <p:spPr>
            <a:xfrm>
              <a:off x="10638763" y="3423285"/>
              <a:ext cx="91559" cy="70009"/>
            </a:xfrm>
            <a:prstGeom prst="rect">
              <a:avLst/>
            </a:prstGeom>
            <a:solidFill>
              <a:srgbClr val="C4DDE0"/>
            </a:solidFill>
            <a:ln w="7290">
              <a:noFill/>
            </a:ln>
          </p:spPr>
        </p:sp>
        <p:sp>
          <p:nvSpPr>
            <p:cNvPr id="1282" name="Find matrix 3-5">
              <a:extLst>
                <a:ext uri="{FF2B5EF4-FFF2-40B4-BE49-F238E27FC236}">
                  <a16:creationId xmlns:a16="http://schemas.microsoft.com/office/drawing/2014/main" id="{A0A2A64A-E67D-3395-0409-F2703179F7EC}"/>
                </a:ext>
              </a:extLst>
            </p:cNvPr>
            <p:cNvSpPr>
              <a:spLocks noGrp="1"/>
            </p:cNvSpPr>
            <p:nvPr/>
          </p:nvSpPr>
          <p:spPr>
            <a:xfrm>
              <a:off x="10734608" y="3423285"/>
              <a:ext cx="91559" cy="70009"/>
            </a:xfrm>
            <a:prstGeom prst="rect">
              <a:avLst/>
            </a:prstGeom>
            <a:solidFill>
              <a:srgbClr val="A3CDDA"/>
            </a:solidFill>
            <a:ln w="7290">
              <a:noFill/>
            </a:ln>
          </p:spPr>
        </p:sp>
        <p:sp>
          <p:nvSpPr>
            <p:cNvPr id="1283" name="Find matrix 3-6">
              <a:extLst>
                <a:ext uri="{FF2B5EF4-FFF2-40B4-BE49-F238E27FC236}">
                  <a16:creationId xmlns:a16="http://schemas.microsoft.com/office/drawing/2014/main" id="{EA7CE8E7-C1AC-E261-A970-8EC80886D558}"/>
                </a:ext>
              </a:extLst>
            </p:cNvPr>
            <p:cNvSpPr>
              <a:spLocks noGrp="1"/>
            </p:cNvSpPr>
            <p:nvPr/>
          </p:nvSpPr>
          <p:spPr>
            <a:xfrm>
              <a:off x="10830453" y="3423285"/>
              <a:ext cx="91559" cy="70009"/>
            </a:xfrm>
            <a:prstGeom prst="rect">
              <a:avLst/>
            </a:prstGeom>
            <a:solidFill>
              <a:srgbClr val="B6D8CC"/>
            </a:solidFill>
            <a:ln w="7290">
              <a:noFill/>
            </a:ln>
          </p:spPr>
        </p:sp>
        <p:sp>
          <p:nvSpPr>
            <p:cNvPr id="1284" name="Find matrix 3-7">
              <a:extLst>
                <a:ext uri="{FF2B5EF4-FFF2-40B4-BE49-F238E27FC236}">
                  <a16:creationId xmlns:a16="http://schemas.microsoft.com/office/drawing/2014/main" id="{3CC5802F-96A8-F327-8DCD-5C642BB94DCE}"/>
                </a:ext>
              </a:extLst>
            </p:cNvPr>
            <p:cNvSpPr>
              <a:spLocks noGrp="1"/>
            </p:cNvSpPr>
            <p:nvPr/>
          </p:nvSpPr>
          <p:spPr>
            <a:xfrm>
              <a:off x="10926299" y="3423285"/>
              <a:ext cx="91559" cy="70009"/>
            </a:xfrm>
            <a:prstGeom prst="rect">
              <a:avLst/>
            </a:prstGeom>
            <a:solidFill>
              <a:srgbClr val="5B9FB6"/>
            </a:solidFill>
            <a:ln w="7290">
              <a:noFill/>
            </a:ln>
          </p:spPr>
        </p:sp>
        <p:sp>
          <p:nvSpPr>
            <p:cNvPr id="1285" name="Match matrix 0-0">
              <a:extLst>
                <a:ext uri="{FF2B5EF4-FFF2-40B4-BE49-F238E27FC236}">
                  <a16:creationId xmlns:a16="http://schemas.microsoft.com/office/drawing/2014/main" id="{1E148E3C-F1D3-F47F-36C6-42E1C579FB78}"/>
                </a:ext>
              </a:extLst>
            </p:cNvPr>
            <p:cNvSpPr>
              <a:spLocks noGrp="1"/>
            </p:cNvSpPr>
            <p:nvPr/>
          </p:nvSpPr>
          <p:spPr>
            <a:xfrm>
              <a:off x="3633156" y="7252039"/>
              <a:ext cx="88583" cy="70009"/>
            </a:xfrm>
            <a:prstGeom prst="rect">
              <a:avLst/>
            </a:prstGeom>
            <a:solidFill>
              <a:srgbClr val="3E8F9A"/>
            </a:solidFill>
            <a:ln w="7290">
              <a:noFill/>
            </a:ln>
          </p:spPr>
        </p:sp>
        <p:sp>
          <p:nvSpPr>
            <p:cNvPr id="1286" name="Match matrix 0-1">
              <a:extLst>
                <a:ext uri="{FF2B5EF4-FFF2-40B4-BE49-F238E27FC236}">
                  <a16:creationId xmlns:a16="http://schemas.microsoft.com/office/drawing/2014/main" id="{6CE95E95-35B4-AAA3-E629-B7804854BFD1}"/>
                </a:ext>
              </a:extLst>
            </p:cNvPr>
            <p:cNvSpPr>
              <a:spLocks noGrp="1"/>
            </p:cNvSpPr>
            <p:nvPr/>
          </p:nvSpPr>
          <p:spPr>
            <a:xfrm>
              <a:off x="3726025" y="7252039"/>
              <a:ext cx="88583" cy="70009"/>
            </a:xfrm>
            <a:prstGeom prst="rect">
              <a:avLst/>
            </a:prstGeom>
            <a:solidFill>
              <a:srgbClr val="5B9FB6"/>
            </a:solidFill>
            <a:ln w="7290">
              <a:noFill/>
            </a:ln>
          </p:spPr>
        </p:sp>
        <p:sp>
          <p:nvSpPr>
            <p:cNvPr id="1287" name="Match matrix 0-2">
              <a:extLst>
                <a:ext uri="{FF2B5EF4-FFF2-40B4-BE49-F238E27FC236}">
                  <a16:creationId xmlns:a16="http://schemas.microsoft.com/office/drawing/2014/main" id="{7AA444A0-2B6A-4C23-EFFA-BB0D0814FEA4}"/>
                </a:ext>
              </a:extLst>
            </p:cNvPr>
            <p:cNvSpPr>
              <a:spLocks noGrp="1"/>
            </p:cNvSpPr>
            <p:nvPr/>
          </p:nvSpPr>
          <p:spPr>
            <a:xfrm>
              <a:off x="3818894" y="7252039"/>
              <a:ext cx="88583" cy="70009"/>
            </a:xfrm>
            <a:prstGeom prst="rect">
              <a:avLst/>
            </a:prstGeom>
            <a:solidFill>
              <a:srgbClr val="A3CDDA"/>
            </a:solidFill>
            <a:ln w="7290">
              <a:noFill/>
            </a:ln>
          </p:spPr>
        </p:sp>
        <p:sp>
          <p:nvSpPr>
            <p:cNvPr id="1288" name="Match matrix 0-3">
              <a:extLst>
                <a:ext uri="{FF2B5EF4-FFF2-40B4-BE49-F238E27FC236}">
                  <a16:creationId xmlns:a16="http://schemas.microsoft.com/office/drawing/2014/main" id="{FA614244-906C-CFFC-1294-6D233D01CB35}"/>
                </a:ext>
              </a:extLst>
            </p:cNvPr>
            <p:cNvSpPr>
              <a:spLocks noGrp="1"/>
            </p:cNvSpPr>
            <p:nvPr/>
          </p:nvSpPr>
          <p:spPr>
            <a:xfrm>
              <a:off x="3911762" y="7252039"/>
              <a:ext cx="88583" cy="70009"/>
            </a:xfrm>
            <a:prstGeom prst="rect">
              <a:avLst/>
            </a:prstGeom>
            <a:solidFill>
              <a:srgbClr val="88BEC3"/>
            </a:solidFill>
            <a:ln w="7290">
              <a:noFill/>
            </a:ln>
          </p:spPr>
        </p:sp>
        <p:sp>
          <p:nvSpPr>
            <p:cNvPr id="1289" name="Match matrix 0-4">
              <a:extLst>
                <a:ext uri="{FF2B5EF4-FFF2-40B4-BE49-F238E27FC236}">
                  <a16:creationId xmlns:a16="http://schemas.microsoft.com/office/drawing/2014/main" id="{EE4A1296-1DD3-454F-610D-2BDEB1D0EFA9}"/>
                </a:ext>
              </a:extLst>
            </p:cNvPr>
            <p:cNvSpPr>
              <a:spLocks noGrp="1"/>
            </p:cNvSpPr>
            <p:nvPr/>
          </p:nvSpPr>
          <p:spPr>
            <a:xfrm>
              <a:off x="4004631" y="7252039"/>
              <a:ext cx="88583" cy="70009"/>
            </a:xfrm>
            <a:prstGeom prst="rect">
              <a:avLst/>
            </a:prstGeom>
            <a:solidFill>
              <a:srgbClr val="67AD9F"/>
            </a:solidFill>
            <a:ln w="7290">
              <a:noFill/>
            </a:ln>
          </p:spPr>
        </p:sp>
        <p:sp>
          <p:nvSpPr>
            <p:cNvPr id="1290" name="Match matrix 0-5">
              <a:extLst>
                <a:ext uri="{FF2B5EF4-FFF2-40B4-BE49-F238E27FC236}">
                  <a16:creationId xmlns:a16="http://schemas.microsoft.com/office/drawing/2014/main" id="{A27DCA6A-D9A0-89D2-300F-145A0353541B}"/>
                </a:ext>
              </a:extLst>
            </p:cNvPr>
            <p:cNvSpPr>
              <a:spLocks noGrp="1"/>
            </p:cNvSpPr>
            <p:nvPr/>
          </p:nvSpPr>
          <p:spPr>
            <a:xfrm>
              <a:off x="4097500" y="7252039"/>
              <a:ext cx="88583" cy="70009"/>
            </a:xfrm>
            <a:prstGeom prst="rect">
              <a:avLst/>
            </a:prstGeom>
            <a:solidFill>
              <a:srgbClr val="C4DDE0"/>
            </a:solidFill>
            <a:ln w="7290">
              <a:noFill/>
            </a:ln>
          </p:spPr>
        </p:sp>
        <p:sp>
          <p:nvSpPr>
            <p:cNvPr id="1291" name="Match matrix 0-6">
              <a:extLst>
                <a:ext uri="{FF2B5EF4-FFF2-40B4-BE49-F238E27FC236}">
                  <a16:creationId xmlns:a16="http://schemas.microsoft.com/office/drawing/2014/main" id="{110481AC-0BB3-A98A-15F4-6DA00B6462E6}"/>
                </a:ext>
              </a:extLst>
            </p:cNvPr>
            <p:cNvSpPr>
              <a:spLocks noGrp="1"/>
            </p:cNvSpPr>
            <p:nvPr/>
          </p:nvSpPr>
          <p:spPr>
            <a:xfrm>
              <a:off x="4190369" y="7252039"/>
              <a:ext cx="88583" cy="70009"/>
            </a:xfrm>
            <a:prstGeom prst="rect">
              <a:avLst/>
            </a:prstGeom>
            <a:solidFill>
              <a:srgbClr val="B6D8CC"/>
            </a:solidFill>
            <a:ln w="7290">
              <a:noFill/>
            </a:ln>
          </p:spPr>
        </p:sp>
        <p:sp>
          <p:nvSpPr>
            <p:cNvPr id="1292" name="Match matrix 0-7">
              <a:extLst>
                <a:ext uri="{FF2B5EF4-FFF2-40B4-BE49-F238E27FC236}">
                  <a16:creationId xmlns:a16="http://schemas.microsoft.com/office/drawing/2014/main" id="{CA0FE5FF-20F8-A515-1575-D2B579C6A384}"/>
                </a:ext>
              </a:extLst>
            </p:cNvPr>
            <p:cNvSpPr>
              <a:spLocks noGrp="1"/>
            </p:cNvSpPr>
            <p:nvPr/>
          </p:nvSpPr>
          <p:spPr>
            <a:xfrm>
              <a:off x="4283237" y="7252039"/>
              <a:ext cx="88583" cy="70009"/>
            </a:xfrm>
            <a:prstGeom prst="rect">
              <a:avLst/>
            </a:prstGeom>
            <a:solidFill>
              <a:srgbClr val="D6E5ED"/>
            </a:solidFill>
            <a:ln w="7290">
              <a:noFill/>
            </a:ln>
          </p:spPr>
        </p:sp>
        <p:sp>
          <p:nvSpPr>
            <p:cNvPr id="1293" name="Match matrix 1-0">
              <a:extLst>
                <a:ext uri="{FF2B5EF4-FFF2-40B4-BE49-F238E27FC236}">
                  <a16:creationId xmlns:a16="http://schemas.microsoft.com/office/drawing/2014/main" id="{62DD97DC-E1EF-3AC8-77C6-31E750CF1688}"/>
                </a:ext>
              </a:extLst>
            </p:cNvPr>
            <p:cNvSpPr>
              <a:spLocks noGrp="1"/>
            </p:cNvSpPr>
            <p:nvPr/>
          </p:nvSpPr>
          <p:spPr>
            <a:xfrm>
              <a:off x="3633156" y="7326334"/>
              <a:ext cx="88583" cy="70009"/>
            </a:xfrm>
            <a:prstGeom prst="rect">
              <a:avLst/>
            </a:prstGeom>
            <a:solidFill>
              <a:srgbClr val="A3CDDA"/>
            </a:solidFill>
            <a:ln w="7290">
              <a:noFill/>
            </a:ln>
          </p:spPr>
        </p:sp>
        <p:sp>
          <p:nvSpPr>
            <p:cNvPr id="1294" name="Match matrix 1-1">
              <a:extLst>
                <a:ext uri="{FF2B5EF4-FFF2-40B4-BE49-F238E27FC236}">
                  <a16:creationId xmlns:a16="http://schemas.microsoft.com/office/drawing/2014/main" id="{B545DCC8-F9BD-6322-3BD3-A195D0A92FFB}"/>
                </a:ext>
              </a:extLst>
            </p:cNvPr>
            <p:cNvSpPr>
              <a:spLocks noGrp="1"/>
            </p:cNvSpPr>
            <p:nvPr/>
          </p:nvSpPr>
          <p:spPr>
            <a:xfrm>
              <a:off x="3726025" y="7326334"/>
              <a:ext cx="88583" cy="70009"/>
            </a:xfrm>
            <a:prstGeom prst="rect">
              <a:avLst/>
            </a:prstGeom>
            <a:solidFill>
              <a:srgbClr val="B6D8CC"/>
            </a:solidFill>
            <a:ln w="7290">
              <a:noFill/>
            </a:ln>
          </p:spPr>
        </p:sp>
        <p:sp>
          <p:nvSpPr>
            <p:cNvPr id="1295" name="Match matrix 1-2">
              <a:extLst>
                <a:ext uri="{FF2B5EF4-FFF2-40B4-BE49-F238E27FC236}">
                  <a16:creationId xmlns:a16="http://schemas.microsoft.com/office/drawing/2014/main" id="{CA362456-65E1-995A-0618-99CCC4184C18}"/>
                </a:ext>
              </a:extLst>
            </p:cNvPr>
            <p:cNvSpPr>
              <a:spLocks noGrp="1"/>
            </p:cNvSpPr>
            <p:nvPr/>
          </p:nvSpPr>
          <p:spPr>
            <a:xfrm>
              <a:off x="3818894" y="7326334"/>
              <a:ext cx="88583" cy="70009"/>
            </a:xfrm>
            <a:prstGeom prst="rect">
              <a:avLst/>
            </a:prstGeom>
            <a:solidFill>
              <a:srgbClr val="88BEC3"/>
            </a:solidFill>
            <a:ln w="7290">
              <a:noFill/>
            </a:ln>
          </p:spPr>
        </p:sp>
        <p:sp>
          <p:nvSpPr>
            <p:cNvPr id="1296" name="Match matrix 1-3">
              <a:extLst>
                <a:ext uri="{FF2B5EF4-FFF2-40B4-BE49-F238E27FC236}">
                  <a16:creationId xmlns:a16="http://schemas.microsoft.com/office/drawing/2014/main" id="{A2C35F9E-7361-3F63-4B0D-A98BA11C6FD6}"/>
                </a:ext>
              </a:extLst>
            </p:cNvPr>
            <p:cNvSpPr>
              <a:spLocks noGrp="1"/>
            </p:cNvSpPr>
            <p:nvPr/>
          </p:nvSpPr>
          <p:spPr>
            <a:xfrm>
              <a:off x="3911762" y="7326334"/>
              <a:ext cx="88583" cy="70009"/>
            </a:xfrm>
            <a:prstGeom prst="rect">
              <a:avLst/>
            </a:prstGeom>
            <a:solidFill>
              <a:srgbClr val="D6E5ED"/>
            </a:solidFill>
            <a:ln w="7290">
              <a:noFill/>
            </a:ln>
          </p:spPr>
        </p:sp>
        <p:sp>
          <p:nvSpPr>
            <p:cNvPr id="1297" name="Match matrix 1-4">
              <a:extLst>
                <a:ext uri="{FF2B5EF4-FFF2-40B4-BE49-F238E27FC236}">
                  <a16:creationId xmlns:a16="http://schemas.microsoft.com/office/drawing/2014/main" id="{FAAA67D0-1522-17CF-8376-8D76753F582D}"/>
                </a:ext>
              </a:extLst>
            </p:cNvPr>
            <p:cNvSpPr>
              <a:spLocks noGrp="1"/>
            </p:cNvSpPr>
            <p:nvPr/>
          </p:nvSpPr>
          <p:spPr>
            <a:xfrm>
              <a:off x="4004631" y="7326334"/>
              <a:ext cx="88583" cy="70009"/>
            </a:xfrm>
            <a:prstGeom prst="rect">
              <a:avLst/>
            </a:prstGeom>
            <a:solidFill>
              <a:srgbClr val="5B9FB6"/>
            </a:solidFill>
            <a:ln w="7290">
              <a:noFill/>
            </a:ln>
          </p:spPr>
        </p:sp>
        <p:sp>
          <p:nvSpPr>
            <p:cNvPr id="1298" name="Match matrix 1-5">
              <a:extLst>
                <a:ext uri="{FF2B5EF4-FFF2-40B4-BE49-F238E27FC236}">
                  <a16:creationId xmlns:a16="http://schemas.microsoft.com/office/drawing/2014/main" id="{8EFA4585-A006-C810-377D-DBA6C87576CE}"/>
                </a:ext>
              </a:extLst>
            </p:cNvPr>
            <p:cNvSpPr>
              <a:spLocks noGrp="1"/>
            </p:cNvSpPr>
            <p:nvPr/>
          </p:nvSpPr>
          <p:spPr>
            <a:xfrm>
              <a:off x="4097500" y="7326334"/>
              <a:ext cx="88583" cy="70009"/>
            </a:xfrm>
            <a:prstGeom prst="rect">
              <a:avLst/>
            </a:prstGeom>
            <a:solidFill>
              <a:srgbClr val="3E8F9A"/>
            </a:solidFill>
            <a:ln w="7290">
              <a:noFill/>
            </a:ln>
          </p:spPr>
        </p:sp>
        <p:sp>
          <p:nvSpPr>
            <p:cNvPr id="1299" name="Match matrix 1-6">
              <a:extLst>
                <a:ext uri="{FF2B5EF4-FFF2-40B4-BE49-F238E27FC236}">
                  <a16:creationId xmlns:a16="http://schemas.microsoft.com/office/drawing/2014/main" id="{64D11889-0CF0-CA9A-1917-2BF4C8C70236}"/>
                </a:ext>
              </a:extLst>
            </p:cNvPr>
            <p:cNvSpPr>
              <a:spLocks noGrp="1"/>
            </p:cNvSpPr>
            <p:nvPr/>
          </p:nvSpPr>
          <p:spPr>
            <a:xfrm>
              <a:off x="4190369" y="7326334"/>
              <a:ext cx="88583" cy="70009"/>
            </a:xfrm>
            <a:prstGeom prst="rect">
              <a:avLst/>
            </a:prstGeom>
            <a:solidFill>
              <a:srgbClr val="C4DDE0"/>
            </a:solidFill>
            <a:ln w="7290">
              <a:noFill/>
            </a:ln>
          </p:spPr>
        </p:sp>
        <p:sp>
          <p:nvSpPr>
            <p:cNvPr id="1300" name="Match matrix 1-7">
              <a:extLst>
                <a:ext uri="{FF2B5EF4-FFF2-40B4-BE49-F238E27FC236}">
                  <a16:creationId xmlns:a16="http://schemas.microsoft.com/office/drawing/2014/main" id="{188B5773-F5C9-7D4C-8152-FA7D9B627789}"/>
                </a:ext>
              </a:extLst>
            </p:cNvPr>
            <p:cNvSpPr>
              <a:spLocks noGrp="1"/>
            </p:cNvSpPr>
            <p:nvPr/>
          </p:nvSpPr>
          <p:spPr>
            <a:xfrm>
              <a:off x="4283237" y="7326334"/>
              <a:ext cx="88583" cy="70009"/>
            </a:xfrm>
            <a:prstGeom prst="rect">
              <a:avLst/>
            </a:prstGeom>
            <a:solidFill>
              <a:srgbClr val="67AD9F"/>
            </a:solidFill>
            <a:ln w="7290">
              <a:noFill/>
            </a:ln>
          </p:spPr>
        </p:sp>
        <p:sp>
          <p:nvSpPr>
            <p:cNvPr id="1301" name="Match matrix 2-0">
              <a:extLst>
                <a:ext uri="{FF2B5EF4-FFF2-40B4-BE49-F238E27FC236}">
                  <a16:creationId xmlns:a16="http://schemas.microsoft.com/office/drawing/2014/main" id="{BBF02AFB-8489-0057-17C0-1186E4D7244F}"/>
                </a:ext>
              </a:extLst>
            </p:cNvPr>
            <p:cNvSpPr>
              <a:spLocks noGrp="1"/>
            </p:cNvSpPr>
            <p:nvPr/>
          </p:nvSpPr>
          <p:spPr>
            <a:xfrm>
              <a:off x="3633156" y="7400629"/>
              <a:ext cx="88583" cy="70009"/>
            </a:xfrm>
            <a:prstGeom prst="rect">
              <a:avLst/>
            </a:prstGeom>
            <a:solidFill>
              <a:srgbClr val="67AD9F"/>
            </a:solidFill>
            <a:ln w="7290">
              <a:noFill/>
            </a:ln>
          </p:spPr>
        </p:sp>
        <p:sp>
          <p:nvSpPr>
            <p:cNvPr id="1302" name="Match matrix 2-1">
              <a:extLst>
                <a:ext uri="{FF2B5EF4-FFF2-40B4-BE49-F238E27FC236}">
                  <a16:creationId xmlns:a16="http://schemas.microsoft.com/office/drawing/2014/main" id="{4D1F1E41-46E5-997B-A9A2-D4A7E86A821C}"/>
                </a:ext>
              </a:extLst>
            </p:cNvPr>
            <p:cNvSpPr>
              <a:spLocks noGrp="1"/>
            </p:cNvSpPr>
            <p:nvPr/>
          </p:nvSpPr>
          <p:spPr>
            <a:xfrm>
              <a:off x="3726025" y="7400629"/>
              <a:ext cx="88583" cy="70009"/>
            </a:xfrm>
            <a:prstGeom prst="rect">
              <a:avLst/>
            </a:prstGeom>
            <a:solidFill>
              <a:srgbClr val="C4DDE0"/>
            </a:solidFill>
            <a:ln w="7290">
              <a:noFill/>
            </a:ln>
          </p:spPr>
        </p:sp>
        <p:sp>
          <p:nvSpPr>
            <p:cNvPr id="1303" name="Match matrix 2-2">
              <a:extLst>
                <a:ext uri="{FF2B5EF4-FFF2-40B4-BE49-F238E27FC236}">
                  <a16:creationId xmlns:a16="http://schemas.microsoft.com/office/drawing/2014/main" id="{BDC0B5DB-1FDB-9192-A8A8-9F9E9FC2CF48}"/>
                </a:ext>
              </a:extLst>
            </p:cNvPr>
            <p:cNvSpPr>
              <a:spLocks noGrp="1"/>
            </p:cNvSpPr>
            <p:nvPr/>
          </p:nvSpPr>
          <p:spPr>
            <a:xfrm>
              <a:off x="3818894" y="7400629"/>
              <a:ext cx="88583" cy="70009"/>
            </a:xfrm>
            <a:prstGeom prst="rect">
              <a:avLst/>
            </a:prstGeom>
            <a:solidFill>
              <a:srgbClr val="5B9FB6"/>
            </a:solidFill>
            <a:ln w="7290">
              <a:noFill/>
            </a:ln>
          </p:spPr>
        </p:sp>
        <p:sp>
          <p:nvSpPr>
            <p:cNvPr id="1304" name="Match matrix 2-3">
              <a:extLst>
                <a:ext uri="{FF2B5EF4-FFF2-40B4-BE49-F238E27FC236}">
                  <a16:creationId xmlns:a16="http://schemas.microsoft.com/office/drawing/2014/main" id="{9C663294-FCA2-F8DE-2AEC-EEF54C48921A}"/>
                </a:ext>
              </a:extLst>
            </p:cNvPr>
            <p:cNvSpPr>
              <a:spLocks noGrp="1"/>
            </p:cNvSpPr>
            <p:nvPr/>
          </p:nvSpPr>
          <p:spPr>
            <a:xfrm>
              <a:off x="3911762" y="7400629"/>
              <a:ext cx="88583" cy="70009"/>
            </a:xfrm>
            <a:prstGeom prst="rect">
              <a:avLst/>
            </a:prstGeom>
            <a:solidFill>
              <a:srgbClr val="B6D8CC"/>
            </a:solidFill>
            <a:ln w="7290">
              <a:noFill/>
            </a:ln>
          </p:spPr>
        </p:sp>
        <p:sp>
          <p:nvSpPr>
            <p:cNvPr id="1305" name="Match matrix 2-4">
              <a:extLst>
                <a:ext uri="{FF2B5EF4-FFF2-40B4-BE49-F238E27FC236}">
                  <a16:creationId xmlns:a16="http://schemas.microsoft.com/office/drawing/2014/main" id="{28E76182-0A60-4A72-9586-C12459BE0B58}"/>
                </a:ext>
              </a:extLst>
            </p:cNvPr>
            <p:cNvSpPr>
              <a:spLocks noGrp="1"/>
            </p:cNvSpPr>
            <p:nvPr/>
          </p:nvSpPr>
          <p:spPr>
            <a:xfrm>
              <a:off x="4004631" y="7400629"/>
              <a:ext cx="88583" cy="70009"/>
            </a:xfrm>
            <a:prstGeom prst="rect">
              <a:avLst/>
            </a:prstGeom>
            <a:solidFill>
              <a:srgbClr val="3E8F9A"/>
            </a:solidFill>
            <a:ln w="7290">
              <a:noFill/>
            </a:ln>
          </p:spPr>
        </p:sp>
        <p:sp>
          <p:nvSpPr>
            <p:cNvPr id="1306" name="Match matrix 2-5">
              <a:extLst>
                <a:ext uri="{FF2B5EF4-FFF2-40B4-BE49-F238E27FC236}">
                  <a16:creationId xmlns:a16="http://schemas.microsoft.com/office/drawing/2014/main" id="{29FC68A5-EB54-9596-85EC-EDC1175B056F}"/>
                </a:ext>
              </a:extLst>
            </p:cNvPr>
            <p:cNvSpPr>
              <a:spLocks noGrp="1"/>
            </p:cNvSpPr>
            <p:nvPr/>
          </p:nvSpPr>
          <p:spPr>
            <a:xfrm>
              <a:off x="4097500" y="7400629"/>
              <a:ext cx="88583" cy="70009"/>
            </a:xfrm>
            <a:prstGeom prst="rect">
              <a:avLst/>
            </a:prstGeom>
            <a:solidFill>
              <a:srgbClr val="D6E5ED"/>
            </a:solidFill>
            <a:ln w="7290">
              <a:noFill/>
            </a:ln>
          </p:spPr>
        </p:sp>
        <p:sp>
          <p:nvSpPr>
            <p:cNvPr id="1307" name="Match matrix 2-6">
              <a:extLst>
                <a:ext uri="{FF2B5EF4-FFF2-40B4-BE49-F238E27FC236}">
                  <a16:creationId xmlns:a16="http://schemas.microsoft.com/office/drawing/2014/main" id="{59C9C8C5-D90A-7A02-93D3-957FE3AE7DC3}"/>
                </a:ext>
              </a:extLst>
            </p:cNvPr>
            <p:cNvSpPr>
              <a:spLocks noGrp="1"/>
            </p:cNvSpPr>
            <p:nvPr/>
          </p:nvSpPr>
          <p:spPr>
            <a:xfrm>
              <a:off x="4190369" y="7400629"/>
              <a:ext cx="88583" cy="70009"/>
            </a:xfrm>
            <a:prstGeom prst="rect">
              <a:avLst/>
            </a:prstGeom>
            <a:solidFill>
              <a:srgbClr val="88BEC3"/>
            </a:solidFill>
            <a:ln w="7290">
              <a:noFill/>
            </a:ln>
          </p:spPr>
        </p:sp>
        <p:sp>
          <p:nvSpPr>
            <p:cNvPr id="1308" name="Match matrix 2-7">
              <a:extLst>
                <a:ext uri="{FF2B5EF4-FFF2-40B4-BE49-F238E27FC236}">
                  <a16:creationId xmlns:a16="http://schemas.microsoft.com/office/drawing/2014/main" id="{83DFB888-0521-0863-270C-DBAF169C149A}"/>
                </a:ext>
              </a:extLst>
            </p:cNvPr>
            <p:cNvSpPr>
              <a:spLocks noGrp="1"/>
            </p:cNvSpPr>
            <p:nvPr/>
          </p:nvSpPr>
          <p:spPr>
            <a:xfrm>
              <a:off x="4283237" y="7400629"/>
              <a:ext cx="88583" cy="70009"/>
            </a:xfrm>
            <a:prstGeom prst="rect">
              <a:avLst/>
            </a:prstGeom>
            <a:solidFill>
              <a:srgbClr val="A3CDDA"/>
            </a:solidFill>
            <a:ln w="7290">
              <a:noFill/>
            </a:ln>
          </p:spPr>
        </p:sp>
        <p:sp>
          <p:nvSpPr>
            <p:cNvPr id="1309" name="Match matrix 3-0">
              <a:extLst>
                <a:ext uri="{FF2B5EF4-FFF2-40B4-BE49-F238E27FC236}">
                  <a16:creationId xmlns:a16="http://schemas.microsoft.com/office/drawing/2014/main" id="{CDAE8F1E-742C-7BA1-EB00-87CA9B9E40A2}"/>
                </a:ext>
              </a:extLst>
            </p:cNvPr>
            <p:cNvSpPr>
              <a:spLocks noGrp="1"/>
            </p:cNvSpPr>
            <p:nvPr/>
          </p:nvSpPr>
          <p:spPr>
            <a:xfrm>
              <a:off x="3633156" y="7474924"/>
              <a:ext cx="88583" cy="70009"/>
            </a:xfrm>
            <a:prstGeom prst="rect">
              <a:avLst/>
            </a:prstGeom>
            <a:solidFill>
              <a:srgbClr val="88BEC3"/>
            </a:solidFill>
            <a:ln w="7290">
              <a:noFill/>
            </a:ln>
          </p:spPr>
        </p:sp>
        <p:sp>
          <p:nvSpPr>
            <p:cNvPr id="1310" name="Match matrix 3-1">
              <a:extLst>
                <a:ext uri="{FF2B5EF4-FFF2-40B4-BE49-F238E27FC236}">
                  <a16:creationId xmlns:a16="http://schemas.microsoft.com/office/drawing/2014/main" id="{74117986-6240-D77F-909C-522F6146D289}"/>
                </a:ext>
              </a:extLst>
            </p:cNvPr>
            <p:cNvSpPr>
              <a:spLocks noGrp="1"/>
            </p:cNvSpPr>
            <p:nvPr/>
          </p:nvSpPr>
          <p:spPr>
            <a:xfrm>
              <a:off x="3726025" y="7474924"/>
              <a:ext cx="88583" cy="70009"/>
            </a:xfrm>
            <a:prstGeom prst="rect">
              <a:avLst/>
            </a:prstGeom>
            <a:solidFill>
              <a:srgbClr val="D6E5ED"/>
            </a:solidFill>
            <a:ln w="7290">
              <a:noFill/>
            </a:ln>
          </p:spPr>
        </p:sp>
        <p:sp>
          <p:nvSpPr>
            <p:cNvPr id="1311" name="Match matrix 3-2">
              <a:extLst>
                <a:ext uri="{FF2B5EF4-FFF2-40B4-BE49-F238E27FC236}">
                  <a16:creationId xmlns:a16="http://schemas.microsoft.com/office/drawing/2014/main" id="{68BD8A38-75EC-BA37-589D-F9C3EBE804E8}"/>
                </a:ext>
              </a:extLst>
            </p:cNvPr>
            <p:cNvSpPr>
              <a:spLocks noGrp="1"/>
            </p:cNvSpPr>
            <p:nvPr/>
          </p:nvSpPr>
          <p:spPr>
            <a:xfrm>
              <a:off x="3818894" y="7474924"/>
              <a:ext cx="88583" cy="70009"/>
            </a:xfrm>
            <a:prstGeom prst="rect">
              <a:avLst/>
            </a:prstGeom>
            <a:solidFill>
              <a:srgbClr val="67AD9F"/>
            </a:solidFill>
            <a:ln w="7290">
              <a:noFill/>
            </a:ln>
          </p:spPr>
        </p:sp>
        <p:sp>
          <p:nvSpPr>
            <p:cNvPr id="1312" name="Match matrix 3-3">
              <a:extLst>
                <a:ext uri="{FF2B5EF4-FFF2-40B4-BE49-F238E27FC236}">
                  <a16:creationId xmlns:a16="http://schemas.microsoft.com/office/drawing/2014/main" id="{BA2E6B5A-7074-DCD3-8646-836425ECA4E6}"/>
                </a:ext>
              </a:extLst>
            </p:cNvPr>
            <p:cNvSpPr>
              <a:spLocks noGrp="1"/>
            </p:cNvSpPr>
            <p:nvPr/>
          </p:nvSpPr>
          <p:spPr>
            <a:xfrm>
              <a:off x="3911762" y="7474924"/>
              <a:ext cx="88583" cy="70009"/>
            </a:xfrm>
            <a:prstGeom prst="rect">
              <a:avLst/>
            </a:prstGeom>
            <a:solidFill>
              <a:srgbClr val="3E8F9A"/>
            </a:solidFill>
            <a:ln w="7290">
              <a:noFill/>
            </a:ln>
          </p:spPr>
        </p:sp>
        <p:sp>
          <p:nvSpPr>
            <p:cNvPr id="1313" name="Match matrix 3-4">
              <a:extLst>
                <a:ext uri="{FF2B5EF4-FFF2-40B4-BE49-F238E27FC236}">
                  <a16:creationId xmlns:a16="http://schemas.microsoft.com/office/drawing/2014/main" id="{E2B9FFDB-87E6-991D-6FE1-3A8ED7934F53}"/>
                </a:ext>
              </a:extLst>
            </p:cNvPr>
            <p:cNvSpPr>
              <a:spLocks noGrp="1"/>
            </p:cNvSpPr>
            <p:nvPr/>
          </p:nvSpPr>
          <p:spPr>
            <a:xfrm>
              <a:off x="4004631" y="7474924"/>
              <a:ext cx="88583" cy="70009"/>
            </a:xfrm>
            <a:prstGeom prst="rect">
              <a:avLst/>
            </a:prstGeom>
            <a:solidFill>
              <a:srgbClr val="C4DDE0"/>
            </a:solidFill>
            <a:ln w="7290">
              <a:noFill/>
            </a:ln>
          </p:spPr>
        </p:sp>
        <p:sp>
          <p:nvSpPr>
            <p:cNvPr id="1314" name="Match matrix 3-5">
              <a:extLst>
                <a:ext uri="{FF2B5EF4-FFF2-40B4-BE49-F238E27FC236}">
                  <a16:creationId xmlns:a16="http://schemas.microsoft.com/office/drawing/2014/main" id="{93BBAAA9-24B8-1E29-A6DC-8B4D096073B5}"/>
                </a:ext>
              </a:extLst>
            </p:cNvPr>
            <p:cNvSpPr>
              <a:spLocks noGrp="1"/>
            </p:cNvSpPr>
            <p:nvPr/>
          </p:nvSpPr>
          <p:spPr>
            <a:xfrm>
              <a:off x="4097500" y="7474924"/>
              <a:ext cx="88583" cy="70009"/>
            </a:xfrm>
            <a:prstGeom prst="rect">
              <a:avLst/>
            </a:prstGeom>
            <a:solidFill>
              <a:srgbClr val="A3CDDA"/>
            </a:solidFill>
            <a:ln w="7290">
              <a:noFill/>
            </a:ln>
          </p:spPr>
        </p:sp>
        <p:sp>
          <p:nvSpPr>
            <p:cNvPr id="1315" name="Match matrix 3-6">
              <a:extLst>
                <a:ext uri="{FF2B5EF4-FFF2-40B4-BE49-F238E27FC236}">
                  <a16:creationId xmlns:a16="http://schemas.microsoft.com/office/drawing/2014/main" id="{68A528E6-65EA-9C73-7412-55AD6CD16CE8}"/>
                </a:ext>
              </a:extLst>
            </p:cNvPr>
            <p:cNvSpPr>
              <a:spLocks noGrp="1"/>
            </p:cNvSpPr>
            <p:nvPr/>
          </p:nvSpPr>
          <p:spPr>
            <a:xfrm>
              <a:off x="4190369" y="7474924"/>
              <a:ext cx="88583" cy="70009"/>
            </a:xfrm>
            <a:prstGeom prst="rect">
              <a:avLst/>
            </a:prstGeom>
            <a:solidFill>
              <a:srgbClr val="B6D8CC"/>
            </a:solidFill>
            <a:ln w="7290">
              <a:noFill/>
            </a:ln>
          </p:spPr>
        </p:sp>
        <p:sp>
          <p:nvSpPr>
            <p:cNvPr id="1316" name="Match matrix 3-7">
              <a:extLst>
                <a:ext uri="{FF2B5EF4-FFF2-40B4-BE49-F238E27FC236}">
                  <a16:creationId xmlns:a16="http://schemas.microsoft.com/office/drawing/2014/main" id="{2EEE91B3-D81D-6257-AECC-400C8A929123}"/>
                </a:ext>
              </a:extLst>
            </p:cNvPr>
            <p:cNvSpPr>
              <a:spLocks noGrp="1"/>
            </p:cNvSpPr>
            <p:nvPr/>
          </p:nvSpPr>
          <p:spPr>
            <a:xfrm>
              <a:off x="4283237" y="7474924"/>
              <a:ext cx="88583" cy="70009"/>
            </a:xfrm>
            <a:prstGeom prst="rect">
              <a:avLst/>
            </a:prstGeom>
            <a:solidFill>
              <a:srgbClr val="5B9FB6"/>
            </a:solidFill>
            <a:ln w="7290">
              <a:noFill/>
            </a:ln>
          </p:spPr>
        </p:sp>
        <p:sp>
          <p:nvSpPr>
            <p:cNvPr id="1318" name="SMILES continuation 806-628.2">
              <a:extLst>
                <a:ext uri="{FF2B5EF4-FFF2-40B4-BE49-F238E27FC236}">
                  <a16:creationId xmlns:a16="http://schemas.microsoft.com/office/drawing/2014/main" id="{F23A2C65-E88A-BB4F-DB2B-F6BDFE0A90A0}"/>
                </a:ext>
              </a:extLst>
            </p:cNvPr>
            <p:cNvSpPr>
              <a:spLocks noGrp="1"/>
            </p:cNvSpPr>
            <p:nvPr/>
          </p:nvSpPr>
          <p:spPr>
            <a:xfrm>
              <a:off x="8110676" y="5974080"/>
              <a:ext cx="19050" cy="19050"/>
            </a:xfrm>
            <a:prstGeom prst="ellipse">
              <a:avLst/>
            </a:prstGeom>
            <a:solidFill>
              <a:srgbClr val="71808C"/>
            </a:solidFill>
            <a:ln w="0">
              <a:noFill/>
            </a:ln>
          </p:spPr>
        </p:sp>
        <p:sp>
          <p:nvSpPr>
            <p:cNvPr id="1319" name="SMILES continuation 812-628.2">
              <a:extLst>
                <a:ext uri="{FF2B5EF4-FFF2-40B4-BE49-F238E27FC236}">
                  <a16:creationId xmlns:a16="http://schemas.microsoft.com/office/drawing/2014/main" id="{3B989565-3BAD-D4AD-9254-F92A9CA55F5F}"/>
                </a:ext>
              </a:extLst>
            </p:cNvPr>
            <p:cNvSpPr>
              <a:spLocks noGrp="1"/>
            </p:cNvSpPr>
            <p:nvPr/>
          </p:nvSpPr>
          <p:spPr>
            <a:xfrm>
              <a:off x="8167826" y="5974080"/>
              <a:ext cx="19050" cy="19050"/>
            </a:xfrm>
            <a:prstGeom prst="ellipse">
              <a:avLst/>
            </a:prstGeom>
            <a:solidFill>
              <a:srgbClr val="71808C"/>
            </a:solidFill>
            <a:ln w="0">
              <a:noFill/>
            </a:ln>
          </p:spPr>
        </p:sp>
        <p:sp>
          <p:nvSpPr>
            <p:cNvPr id="1320" name="SMILES continuation 818-628.2">
              <a:extLst>
                <a:ext uri="{FF2B5EF4-FFF2-40B4-BE49-F238E27FC236}">
                  <a16:creationId xmlns:a16="http://schemas.microsoft.com/office/drawing/2014/main" id="{42B8B6C2-B43E-383F-14DE-C418D4494332}"/>
                </a:ext>
              </a:extLst>
            </p:cNvPr>
            <p:cNvSpPr>
              <a:spLocks noGrp="1"/>
            </p:cNvSpPr>
            <p:nvPr/>
          </p:nvSpPr>
          <p:spPr>
            <a:xfrm>
              <a:off x="8224976" y="5974080"/>
              <a:ext cx="19050" cy="19050"/>
            </a:xfrm>
            <a:prstGeom prst="ellipse">
              <a:avLst/>
            </a:prstGeom>
            <a:solidFill>
              <a:srgbClr val="71808C"/>
            </a:solidFill>
            <a:ln w="0">
              <a:noFill/>
            </a:ln>
          </p:spPr>
        </p:sp>
        <p:sp>
          <p:nvSpPr>
            <p:cNvPr id="1321" name="SMILES continuation 806-667">
              <a:extLst>
                <a:ext uri="{FF2B5EF4-FFF2-40B4-BE49-F238E27FC236}">
                  <a16:creationId xmlns:a16="http://schemas.microsoft.com/office/drawing/2014/main" id="{39894408-4EFC-1123-4D43-5E7226F5F0C0}"/>
                </a:ext>
              </a:extLst>
            </p:cNvPr>
            <p:cNvSpPr>
              <a:spLocks noGrp="1"/>
            </p:cNvSpPr>
            <p:nvPr/>
          </p:nvSpPr>
          <p:spPr>
            <a:xfrm>
              <a:off x="8110676" y="6343650"/>
              <a:ext cx="19050" cy="19050"/>
            </a:xfrm>
            <a:prstGeom prst="ellipse">
              <a:avLst/>
            </a:prstGeom>
            <a:solidFill>
              <a:srgbClr val="71808C"/>
            </a:solidFill>
            <a:ln w="0">
              <a:noFill/>
            </a:ln>
          </p:spPr>
        </p:sp>
        <p:sp>
          <p:nvSpPr>
            <p:cNvPr id="1322" name="SMILES continuation 812-667">
              <a:extLst>
                <a:ext uri="{FF2B5EF4-FFF2-40B4-BE49-F238E27FC236}">
                  <a16:creationId xmlns:a16="http://schemas.microsoft.com/office/drawing/2014/main" id="{B15788D5-8154-0220-0ADD-B84E221B0B6F}"/>
                </a:ext>
              </a:extLst>
            </p:cNvPr>
            <p:cNvSpPr>
              <a:spLocks noGrp="1"/>
            </p:cNvSpPr>
            <p:nvPr/>
          </p:nvSpPr>
          <p:spPr>
            <a:xfrm>
              <a:off x="8167826" y="6343650"/>
              <a:ext cx="19050" cy="19050"/>
            </a:xfrm>
            <a:prstGeom prst="ellipse">
              <a:avLst/>
            </a:prstGeom>
            <a:solidFill>
              <a:srgbClr val="71808C"/>
            </a:solidFill>
            <a:ln w="0">
              <a:noFill/>
            </a:ln>
          </p:spPr>
        </p:sp>
        <p:sp>
          <p:nvSpPr>
            <p:cNvPr id="1323" name="SMILES continuation 818-667">
              <a:extLst>
                <a:ext uri="{FF2B5EF4-FFF2-40B4-BE49-F238E27FC236}">
                  <a16:creationId xmlns:a16="http://schemas.microsoft.com/office/drawing/2014/main" id="{06FB727B-1C36-BDAC-BF90-119F79F57919}"/>
                </a:ext>
              </a:extLst>
            </p:cNvPr>
            <p:cNvSpPr>
              <a:spLocks noGrp="1"/>
            </p:cNvSpPr>
            <p:nvPr/>
          </p:nvSpPr>
          <p:spPr>
            <a:xfrm>
              <a:off x="8224976" y="6343650"/>
              <a:ext cx="19050" cy="19050"/>
            </a:xfrm>
            <a:prstGeom prst="ellipse">
              <a:avLst/>
            </a:prstGeom>
            <a:solidFill>
              <a:srgbClr val="71808C"/>
            </a:solidFill>
            <a:ln w="0">
              <a:noFill/>
            </a:ln>
          </p:spPr>
        </p:sp>
        <p:sp>
          <p:nvSpPr>
            <p:cNvPr id="1324" name="Find density input">
              <a:extLst>
                <a:ext uri="{FF2B5EF4-FFF2-40B4-BE49-F238E27FC236}">
                  <a16:creationId xmlns:a16="http://schemas.microsoft.com/office/drawing/2014/main" id="{3BB3F16C-BBC6-CEA5-1D5F-BADEC13D0E07}"/>
                </a:ext>
              </a:extLst>
            </p:cNvPr>
            <p:cNvSpPr>
              <a:spLocks noGrp="1"/>
            </p:cNvSpPr>
            <p:nvPr/>
          </p:nvSpPr>
          <p:spPr>
            <a:xfrm flipV="1">
              <a:off x="2405391" y="1410958"/>
              <a:ext cx="692378" cy="107521"/>
            </a:xfrm>
            <a:custGeom>
              <a:avLst/>
              <a:gdLst/>
              <a:ahLst/>
              <a:cxnLst/>
              <a:rect l="0" t="0" r="0" b="0"/>
              <a:pathLst>
                <a:path w="125540" h="191">
                  <a:moveTo>
                    <a:pt x="0" y="0"/>
                  </a:moveTo>
                  <a:lnTo>
                    <a:pt x="125540" y="0"/>
                  </a:lnTo>
                </a:path>
              </a:pathLst>
            </a:custGeom>
            <a:noFill/>
            <a:ln w="8505">
              <a:solidFill>
                <a:srgbClr val="4083B4"/>
              </a:solidFill>
              <a:prstDash val="solid"/>
            </a:ln>
          </p:spPr>
        </p:sp>
        <p:sp>
          <p:nvSpPr>
            <p:cNvPr id="1325" name="Find density input head">
              <a:extLst>
                <a:ext uri="{FF2B5EF4-FFF2-40B4-BE49-F238E27FC236}">
                  <a16:creationId xmlns:a16="http://schemas.microsoft.com/office/drawing/2014/main" id="{DD01582E-D72F-DC2A-ED51-209065AB4BE2}"/>
                </a:ext>
              </a:extLst>
            </p:cNvPr>
            <p:cNvSpPr>
              <a:spLocks noGrp="1"/>
            </p:cNvSpPr>
            <p:nvPr/>
          </p:nvSpPr>
          <p:spPr>
            <a:xfrm>
              <a:off x="3052858" y="1489808"/>
              <a:ext cx="66676" cy="57339"/>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28" name="Find receptor input">
              <a:extLst>
                <a:ext uri="{FF2B5EF4-FFF2-40B4-BE49-F238E27FC236}">
                  <a16:creationId xmlns:a16="http://schemas.microsoft.com/office/drawing/2014/main" id="{8835B13D-A150-D32A-EA5F-DF6B94803636}"/>
                </a:ext>
              </a:extLst>
            </p:cNvPr>
            <p:cNvSpPr>
              <a:spLocks noGrp="1"/>
            </p:cNvSpPr>
            <p:nvPr/>
          </p:nvSpPr>
          <p:spPr>
            <a:xfrm>
              <a:off x="2405391" y="3260557"/>
              <a:ext cx="692378" cy="107521"/>
            </a:xfrm>
            <a:custGeom>
              <a:avLst/>
              <a:gdLst/>
              <a:ahLst/>
              <a:cxnLst/>
              <a:rect l="0" t="0" r="0" b="0"/>
              <a:pathLst>
                <a:path w="125540" h="191">
                  <a:moveTo>
                    <a:pt x="0" y="0"/>
                  </a:moveTo>
                  <a:lnTo>
                    <a:pt x="125540" y="0"/>
                  </a:lnTo>
                </a:path>
              </a:pathLst>
            </a:custGeom>
            <a:solidFill>
              <a:srgbClr val="4083B4"/>
            </a:solidFill>
            <a:ln w="8505">
              <a:solidFill>
                <a:srgbClr val="4083B4"/>
              </a:solidFill>
              <a:prstDash val="solid"/>
            </a:ln>
          </p:spPr>
        </p:sp>
        <p:sp>
          <p:nvSpPr>
            <p:cNvPr id="1329" name="Find receptor input head">
              <a:extLst>
                <a:ext uri="{FF2B5EF4-FFF2-40B4-BE49-F238E27FC236}">
                  <a16:creationId xmlns:a16="http://schemas.microsoft.com/office/drawing/2014/main" id="{A5463DF5-F357-C133-4537-3687854104BD}"/>
                </a:ext>
              </a:extLst>
            </p:cNvPr>
            <p:cNvSpPr>
              <a:spLocks noGrp="1"/>
            </p:cNvSpPr>
            <p:nvPr/>
          </p:nvSpPr>
          <p:spPr>
            <a:xfrm>
              <a:off x="3052858" y="3231886"/>
              <a:ext cx="66676" cy="57339"/>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32" name="Find voxel output">
              <a:extLst>
                <a:ext uri="{FF2B5EF4-FFF2-40B4-BE49-F238E27FC236}">
                  <a16:creationId xmlns:a16="http://schemas.microsoft.com/office/drawing/2014/main" id="{A7A050F5-4BBD-83D0-3E56-868138C02A2E}"/>
                </a:ext>
              </a:extLst>
            </p:cNvPr>
            <p:cNvSpPr>
              <a:spLocks noGrp="1"/>
            </p:cNvSpPr>
            <p:nvPr/>
          </p:nvSpPr>
          <p:spPr>
            <a:xfrm>
              <a:off x="9680238" y="1544003"/>
              <a:ext cx="409314" cy="191"/>
            </a:xfrm>
            <a:custGeom>
              <a:avLst/>
              <a:gdLst/>
              <a:ahLst/>
              <a:cxnLst/>
              <a:rect l="0" t="0" r="0" b="0"/>
              <a:pathLst>
                <a:path w="252508" h="191">
                  <a:moveTo>
                    <a:pt x="0" y="0"/>
                  </a:moveTo>
                  <a:lnTo>
                    <a:pt x="252508" y="0"/>
                  </a:lnTo>
                </a:path>
              </a:pathLst>
            </a:custGeom>
            <a:noFill/>
            <a:ln w="8505">
              <a:solidFill>
                <a:srgbClr val="4083B4"/>
              </a:solidFill>
              <a:prstDash val="solid"/>
            </a:ln>
          </p:spPr>
        </p:sp>
        <p:sp>
          <p:nvSpPr>
            <p:cNvPr id="1333" name="Find voxel output head">
              <a:extLst>
                <a:ext uri="{FF2B5EF4-FFF2-40B4-BE49-F238E27FC236}">
                  <a16:creationId xmlns:a16="http://schemas.microsoft.com/office/drawing/2014/main" id="{375132D2-B1BA-3819-E6E4-408E45D3577A}"/>
                </a:ext>
              </a:extLst>
            </p:cNvPr>
            <p:cNvSpPr>
              <a:spLocks noGrp="1"/>
            </p:cNvSpPr>
            <p:nvPr/>
          </p:nvSpPr>
          <p:spPr>
            <a:xfrm>
              <a:off x="10046213" y="1515332"/>
              <a:ext cx="66675" cy="57340"/>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34" name="Find point output">
              <a:extLst>
                <a:ext uri="{FF2B5EF4-FFF2-40B4-BE49-F238E27FC236}">
                  <a16:creationId xmlns:a16="http://schemas.microsoft.com/office/drawing/2014/main" id="{E2AB92F8-FB1A-DF4D-C056-6A909BEA2DE1}"/>
                </a:ext>
              </a:extLst>
            </p:cNvPr>
            <p:cNvSpPr>
              <a:spLocks noGrp="1"/>
            </p:cNvSpPr>
            <p:nvPr/>
          </p:nvSpPr>
          <p:spPr>
            <a:xfrm>
              <a:off x="9680238" y="3107055"/>
              <a:ext cx="409314" cy="191"/>
            </a:xfrm>
            <a:custGeom>
              <a:avLst/>
              <a:gdLst/>
              <a:ahLst/>
              <a:cxnLst/>
              <a:rect l="0" t="0" r="0" b="0"/>
              <a:pathLst>
                <a:path w="252508" h="191">
                  <a:moveTo>
                    <a:pt x="0" y="0"/>
                  </a:moveTo>
                  <a:lnTo>
                    <a:pt x="252508" y="0"/>
                  </a:lnTo>
                </a:path>
              </a:pathLst>
            </a:custGeom>
            <a:noFill/>
            <a:ln w="8505">
              <a:solidFill>
                <a:srgbClr val="4083B4"/>
              </a:solidFill>
              <a:prstDash val="solid"/>
            </a:ln>
          </p:spPr>
        </p:sp>
        <p:sp>
          <p:nvSpPr>
            <p:cNvPr id="1335" name="Find point output head">
              <a:extLst>
                <a:ext uri="{FF2B5EF4-FFF2-40B4-BE49-F238E27FC236}">
                  <a16:creationId xmlns:a16="http://schemas.microsoft.com/office/drawing/2014/main" id="{28B06725-C3FB-3373-8A56-A66D9CE3ECA7}"/>
                </a:ext>
              </a:extLst>
            </p:cNvPr>
            <p:cNvSpPr>
              <a:spLocks noGrp="1"/>
            </p:cNvSpPr>
            <p:nvPr/>
          </p:nvSpPr>
          <p:spPr>
            <a:xfrm>
              <a:off x="10046213" y="3078385"/>
              <a:ext cx="66675" cy="57340"/>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36" name="U-Net flow refined 1">
              <a:extLst>
                <a:ext uri="{FF2B5EF4-FFF2-40B4-BE49-F238E27FC236}">
                  <a16:creationId xmlns:a16="http://schemas.microsoft.com/office/drawing/2014/main" id="{5BDE2ECB-1CBA-ACB1-3426-F3E9F144A8A7}"/>
                </a:ext>
              </a:extLst>
            </p:cNvPr>
            <p:cNvSpPr>
              <a:spLocks noGrp="1"/>
            </p:cNvSpPr>
            <p:nvPr/>
          </p:nvSpPr>
          <p:spPr>
            <a:xfrm>
              <a:off x="5329408" y="1943100"/>
              <a:ext cx="71390" cy="191"/>
            </a:xfrm>
            <a:custGeom>
              <a:avLst/>
              <a:gdLst/>
              <a:ahLst/>
              <a:cxnLst/>
              <a:rect l="0" t="0" r="0" b="0"/>
              <a:pathLst>
                <a:path w="71390" h="191">
                  <a:moveTo>
                    <a:pt x="0" y="0"/>
                  </a:moveTo>
                  <a:lnTo>
                    <a:pt x="71390" y="0"/>
                  </a:lnTo>
                </a:path>
              </a:pathLst>
            </a:custGeom>
            <a:noFill/>
            <a:ln w="6480">
              <a:solidFill>
                <a:srgbClr val="4083B4"/>
              </a:solidFill>
              <a:prstDash val="solid"/>
            </a:ln>
          </p:spPr>
        </p:sp>
        <p:sp>
          <p:nvSpPr>
            <p:cNvPr id="1337" name="U-Net flow refined 1 head">
              <a:extLst>
                <a:ext uri="{FF2B5EF4-FFF2-40B4-BE49-F238E27FC236}">
                  <a16:creationId xmlns:a16="http://schemas.microsoft.com/office/drawing/2014/main" id="{94C963B0-6292-D96E-8000-E5176CACF1B1}"/>
                </a:ext>
              </a:extLst>
            </p:cNvPr>
            <p:cNvSpPr>
              <a:spLocks noGrp="1"/>
            </p:cNvSpPr>
            <p:nvPr/>
          </p:nvSpPr>
          <p:spPr>
            <a:xfrm>
              <a:off x="537417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38" name="U-Net flow refined 2">
              <a:extLst>
                <a:ext uri="{FF2B5EF4-FFF2-40B4-BE49-F238E27FC236}">
                  <a16:creationId xmlns:a16="http://schemas.microsoft.com/office/drawing/2014/main" id="{6EDFECDB-834F-45E8-C447-187E68499D36}"/>
                </a:ext>
              </a:extLst>
            </p:cNvPr>
            <p:cNvSpPr>
              <a:spLocks noGrp="1"/>
            </p:cNvSpPr>
            <p:nvPr/>
          </p:nvSpPr>
          <p:spPr>
            <a:xfrm>
              <a:off x="5786608" y="1943100"/>
              <a:ext cx="61865" cy="191"/>
            </a:xfrm>
            <a:custGeom>
              <a:avLst/>
              <a:gdLst/>
              <a:ahLst/>
              <a:cxnLst/>
              <a:rect l="0" t="0" r="0" b="0"/>
              <a:pathLst>
                <a:path w="61865" h="191">
                  <a:moveTo>
                    <a:pt x="0" y="0"/>
                  </a:moveTo>
                  <a:lnTo>
                    <a:pt x="61865" y="0"/>
                  </a:lnTo>
                </a:path>
              </a:pathLst>
            </a:custGeom>
            <a:noFill/>
            <a:ln w="6480">
              <a:solidFill>
                <a:srgbClr val="4083B4"/>
              </a:solidFill>
              <a:prstDash val="solid"/>
            </a:ln>
          </p:spPr>
        </p:sp>
        <p:sp>
          <p:nvSpPr>
            <p:cNvPr id="1339" name="U-Net flow refined 2 head">
              <a:extLst>
                <a:ext uri="{FF2B5EF4-FFF2-40B4-BE49-F238E27FC236}">
                  <a16:creationId xmlns:a16="http://schemas.microsoft.com/office/drawing/2014/main" id="{147D1FA6-05BE-3A5D-C1FE-78DB516DA9EB}"/>
                </a:ext>
              </a:extLst>
            </p:cNvPr>
            <p:cNvSpPr>
              <a:spLocks noGrp="1"/>
            </p:cNvSpPr>
            <p:nvPr/>
          </p:nvSpPr>
          <p:spPr>
            <a:xfrm>
              <a:off x="5821851"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0" name="U-Net flow refined 3">
              <a:extLst>
                <a:ext uri="{FF2B5EF4-FFF2-40B4-BE49-F238E27FC236}">
                  <a16:creationId xmlns:a16="http://schemas.microsoft.com/office/drawing/2014/main" id="{7AF7CF23-54DF-A29D-2F07-D36A3F45EDD2}"/>
                </a:ext>
              </a:extLst>
            </p:cNvPr>
            <p:cNvSpPr>
              <a:spLocks noGrp="1"/>
            </p:cNvSpPr>
            <p:nvPr/>
          </p:nvSpPr>
          <p:spPr>
            <a:xfrm>
              <a:off x="6358108" y="1943100"/>
              <a:ext cx="185690" cy="191"/>
            </a:xfrm>
            <a:custGeom>
              <a:avLst/>
              <a:gdLst/>
              <a:ahLst/>
              <a:cxnLst/>
              <a:rect l="0" t="0" r="0" b="0"/>
              <a:pathLst>
                <a:path w="185690" h="191">
                  <a:moveTo>
                    <a:pt x="0" y="0"/>
                  </a:moveTo>
                  <a:lnTo>
                    <a:pt x="185690" y="0"/>
                  </a:lnTo>
                </a:path>
              </a:pathLst>
            </a:custGeom>
            <a:noFill/>
            <a:ln w="6480">
              <a:solidFill>
                <a:srgbClr val="4083B4"/>
              </a:solidFill>
              <a:prstDash val="solid"/>
            </a:ln>
          </p:spPr>
        </p:sp>
        <p:sp>
          <p:nvSpPr>
            <p:cNvPr id="1341" name="U-Net flow refined 3 head">
              <a:extLst>
                <a:ext uri="{FF2B5EF4-FFF2-40B4-BE49-F238E27FC236}">
                  <a16:creationId xmlns:a16="http://schemas.microsoft.com/office/drawing/2014/main" id="{99F4C0B1-883D-15E1-DE1D-B9D0B602A47D}"/>
                </a:ext>
              </a:extLst>
            </p:cNvPr>
            <p:cNvSpPr>
              <a:spLocks noGrp="1"/>
            </p:cNvSpPr>
            <p:nvPr/>
          </p:nvSpPr>
          <p:spPr>
            <a:xfrm>
              <a:off x="651717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2" name="U-Net flow refined 4">
              <a:extLst>
                <a:ext uri="{FF2B5EF4-FFF2-40B4-BE49-F238E27FC236}">
                  <a16:creationId xmlns:a16="http://schemas.microsoft.com/office/drawing/2014/main" id="{1AB9AC41-CF99-6B25-72AE-CA5759E07BBC}"/>
                </a:ext>
              </a:extLst>
            </p:cNvPr>
            <p:cNvSpPr>
              <a:spLocks noGrp="1"/>
            </p:cNvSpPr>
            <p:nvPr/>
          </p:nvSpPr>
          <p:spPr>
            <a:xfrm>
              <a:off x="7634458" y="1943100"/>
              <a:ext cx="204740" cy="191"/>
            </a:xfrm>
            <a:custGeom>
              <a:avLst/>
              <a:gdLst/>
              <a:ahLst/>
              <a:cxnLst/>
              <a:rect l="0" t="0" r="0" b="0"/>
              <a:pathLst>
                <a:path w="204740" h="191">
                  <a:moveTo>
                    <a:pt x="0" y="0"/>
                  </a:moveTo>
                  <a:lnTo>
                    <a:pt x="204740" y="0"/>
                  </a:lnTo>
                </a:path>
              </a:pathLst>
            </a:custGeom>
            <a:noFill/>
            <a:ln w="6480">
              <a:solidFill>
                <a:srgbClr val="4083B4"/>
              </a:solidFill>
              <a:prstDash val="solid"/>
            </a:ln>
          </p:spPr>
        </p:sp>
        <p:sp>
          <p:nvSpPr>
            <p:cNvPr id="1343" name="U-Net flow refined 4 head">
              <a:extLst>
                <a:ext uri="{FF2B5EF4-FFF2-40B4-BE49-F238E27FC236}">
                  <a16:creationId xmlns:a16="http://schemas.microsoft.com/office/drawing/2014/main" id="{8B74AF9E-166C-456E-8C30-81819473FD65}"/>
                </a:ext>
              </a:extLst>
            </p:cNvPr>
            <p:cNvSpPr>
              <a:spLocks noGrp="1"/>
            </p:cNvSpPr>
            <p:nvPr/>
          </p:nvSpPr>
          <p:spPr>
            <a:xfrm>
              <a:off x="781257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4" name="U-Net flow refined 5">
              <a:extLst>
                <a:ext uri="{FF2B5EF4-FFF2-40B4-BE49-F238E27FC236}">
                  <a16:creationId xmlns:a16="http://schemas.microsoft.com/office/drawing/2014/main" id="{1DF9FEC8-127A-C6BF-A242-5459B8B47514}"/>
                </a:ext>
              </a:extLst>
            </p:cNvPr>
            <p:cNvSpPr>
              <a:spLocks noGrp="1"/>
            </p:cNvSpPr>
            <p:nvPr/>
          </p:nvSpPr>
          <p:spPr>
            <a:xfrm>
              <a:off x="8358358" y="1943100"/>
              <a:ext cx="71390" cy="191"/>
            </a:xfrm>
            <a:custGeom>
              <a:avLst/>
              <a:gdLst/>
              <a:ahLst/>
              <a:cxnLst/>
              <a:rect l="0" t="0" r="0" b="0"/>
              <a:pathLst>
                <a:path w="71390" h="191">
                  <a:moveTo>
                    <a:pt x="0" y="0"/>
                  </a:moveTo>
                  <a:lnTo>
                    <a:pt x="71390" y="0"/>
                  </a:lnTo>
                </a:path>
              </a:pathLst>
            </a:custGeom>
            <a:noFill/>
            <a:ln w="6480">
              <a:solidFill>
                <a:srgbClr val="4083B4"/>
              </a:solidFill>
              <a:prstDash val="solid"/>
            </a:ln>
          </p:spPr>
        </p:sp>
        <p:sp>
          <p:nvSpPr>
            <p:cNvPr id="1345" name="U-Net flow refined 5 head">
              <a:extLst>
                <a:ext uri="{FF2B5EF4-FFF2-40B4-BE49-F238E27FC236}">
                  <a16:creationId xmlns:a16="http://schemas.microsoft.com/office/drawing/2014/main" id="{235A2EBC-75E8-8D72-4A9D-B691D888DD1B}"/>
                </a:ext>
              </a:extLst>
            </p:cNvPr>
            <p:cNvSpPr>
              <a:spLocks noGrp="1"/>
            </p:cNvSpPr>
            <p:nvPr/>
          </p:nvSpPr>
          <p:spPr>
            <a:xfrm>
              <a:off x="840312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6" name="U-Net flow refined 6">
              <a:extLst>
                <a:ext uri="{FF2B5EF4-FFF2-40B4-BE49-F238E27FC236}">
                  <a16:creationId xmlns:a16="http://schemas.microsoft.com/office/drawing/2014/main" id="{E16F5364-FA67-8E77-55DD-31048ACFB369}"/>
                </a:ext>
              </a:extLst>
            </p:cNvPr>
            <p:cNvSpPr>
              <a:spLocks noGrp="1"/>
            </p:cNvSpPr>
            <p:nvPr/>
          </p:nvSpPr>
          <p:spPr>
            <a:xfrm>
              <a:off x="8796508" y="1943100"/>
              <a:ext cx="90440" cy="191"/>
            </a:xfrm>
            <a:custGeom>
              <a:avLst/>
              <a:gdLst/>
              <a:ahLst/>
              <a:cxnLst/>
              <a:rect l="0" t="0" r="0" b="0"/>
              <a:pathLst>
                <a:path w="90440" h="191">
                  <a:moveTo>
                    <a:pt x="0" y="0"/>
                  </a:moveTo>
                  <a:lnTo>
                    <a:pt x="90440" y="0"/>
                  </a:lnTo>
                </a:path>
              </a:pathLst>
            </a:custGeom>
            <a:noFill/>
            <a:ln w="6480">
              <a:solidFill>
                <a:srgbClr val="4083B4"/>
              </a:solidFill>
              <a:prstDash val="solid"/>
            </a:ln>
          </p:spPr>
        </p:sp>
        <p:sp>
          <p:nvSpPr>
            <p:cNvPr id="1347" name="U-Net flow refined 6 head">
              <a:extLst>
                <a:ext uri="{FF2B5EF4-FFF2-40B4-BE49-F238E27FC236}">
                  <a16:creationId xmlns:a16="http://schemas.microsoft.com/office/drawing/2014/main" id="{CAB8405E-639F-441D-4076-97C5C8079141}"/>
                </a:ext>
              </a:extLst>
            </p:cNvPr>
            <p:cNvSpPr>
              <a:spLocks noGrp="1"/>
            </p:cNvSpPr>
            <p:nvPr/>
          </p:nvSpPr>
          <p:spPr>
            <a:xfrm>
              <a:off x="886032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8" name="Skip outer refined">
              <a:extLst>
                <a:ext uri="{FF2B5EF4-FFF2-40B4-BE49-F238E27FC236}">
                  <a16:creationId xmlns:a16="http://schemas.microsoft.com/office/drawing/2014/main" id="{FCEC7BC5-9C91-5A2D-286F-54CED1B58658}"/>
                </a:ext>
              </a:extLst>
            </p:cNvPr>
            <p:cNvSpPr>
              <a:spLocks noGrp="1"/>
            </p:cNvSpPr>
            <p:nvPr/>
          </p:nvSpPr>
          <p:spPr>
            <a:xfrm>
              <a:off x="4919833" y="1209675"/>
              <a:ext cx="4333875" cy="219075"/>
            </a:xfrm>
            <a:custGeom>
              <a:avLst/>
              <a:gdLst/>
              <a:ahLst/>
              <a:cxnLst/>
              <a:rect l="0" t="0" r="0" b="0"/>
              <a:pathLst>
                <a:path w="4333875" h="219075">
                  <a:moveTo>
                    <a:pt x="0" y="219075"/>
                  </a:moveTo>
                  <a:lnTo>
                    <a:pt x="0" y="0"/>
                  </a:lnTo>
                  <a:lnTo>
                    <a:pt x="4333875" y="0"/>
                  </a:lnTo>
                  <a:lnTo>
                    <a:pt x="4333875" y="204073"/>
                  </a:lnTo>
                </a:path>
              </a:pathLst>
            </a:custGeom>
            <a:noFill/>
            <a:ln w="5468">
              <a:solidFill>
                <a:srgbClr val="85AFCB"/>
              </a:solidFill>
              <a:prstDash val="dash"/>
            </a:ln>
          </p:spPr>
        </p:sp>
        <p:sp>
          <p:nvSpPr>
            <p:cNvPr id="1349" name="Skip outer refined head">
              <a:extLst>
                <a:ext uri="{FF2B5EF4-FFF2-40B4-BE49-F238E27FC236}">
                  <a16:creationId xmlns:a16="http://schemas.microsoft.com/office/drawing/2014/main" id="{D6AAD354-1253-F73A-1F09-0D42951F0AD2}"/>
                </a:ext>
              </a:extLst>
            </p:cNvPr>
            <p:cNvSpPr>
              <a:spLocks noGrp="1"/>
            </p:cNvSpPr>
            <p:nvPr/>
          </p:nvSpPr>
          <p:spPr>
            <a:xfrm>
              <a:off x="9235277" y="1385888"/>
              <a:ext cx="36862" cy="42863"/>
            </a:xfrm>
            <a:custGeom>
              <a:avLst/>
              <a:gdLst/>
              <a:ahLst/>
              <a:cxnLst/>
              <a:rect l="0" t="0" r="0" b="0"/>
              <a:pathLst>
                <a:path w="36862" h="42863">
                  <a:moveTo>
                    <a:pt x="18431" y="42863"/>
                  </a:moveTo>
                  <a:lnTo>
                    <a:pt x="36862" y="0"/>
                  </a:lnTo>
                  <a:lnTo>
                    <a:pt x="0" y="0"/>
                  </a:lnTo>
                  <a:close/>
                </a:path>
              </a:pathLst>
            </a:custGeom>
            <a:solidFill>
              <a:srgbClr val="85AFCB"/>
            </a:solidFill>
            <a:ln w="0">
              <a:noFill/>
              <a:prstDash val="solid"/>
            </a:ln>
          </p:spPr>
        </p:sp>
        <p:sp>
          <p:nvSpPr>
            <p:cNvPr id="1350" name="Skip middle refined">
              <a:extLst>
                <a:ext uri="{FF2B5EF4-FFF2-40B4-BE49-F238E27FC236}">
                  <a16:creationId xmlns:a16="http://schemas.microsoft.com/office/drawing/2014/main" id="{E944DD48-0E77-62B4-4E66-FC482D648DB0}"/>
                </a:ext>
              </a:extLst>
            </p:cNvPr>
            <p:cNvSpPr>
              <a:spLocks noGrp="1"/>
            </p:cNvSpPr>
            <p:nvPr/>
          </p:nvSpPr>
          <p:spPr>
            <a:xfrm>
              <a:off x="5558008" y="1295400"/>
              <a:ext cx="3067050" cy="266700"/>
            </a:xfrm>
            <a:custGeom>
              <a:avLst/>
              <a:gdLst/>
              <a:ahLst/>
              <a:cxnLst/>
              <a:rect l="0" t="0" r="0" b="0"/>
              <a:pathLst>
                <a:path w="3067050" h="266700">
                  <a:moveTo>
                    <a:pt x="0" y="266700"/>
                  </a:moveTo>
                  <a:lnTo>
                    <a:pt x="0" y="0"/>
                  </a:lnTo>
                  <a:lnTo>
                    <a:pt x="3067050" y="0"/>
                  </a:lnTo>
                  <a:lnTo>
                    <a:pt x="3067050" y="251698"/>
                  </a:lnTo>
                </a:path>
              </a:pathLst>
            </a:custGeom>
            <a:noFill/>
            <a:ln w="5468">
              <a:solidFill>
                <a:srgbClr val="85AFCB"/>
              </a:solidFill>
              <a:prstDash val="dash"/>
            </a:ln>
          </p:spPr>
        </p:sp>
        <p:sp>
          <p:nvSpPr>
            <p:cNvPr id="1351" name="Skip middle refined head">
              <a:extLst>
                <a:ext uri="{FF2B5EF4-FFF2-40B4-BE49-F238E27FC236}">
                  <a16:creationId xmlns:a16="http://schemas.microsoft.com/office/drawing/2014/main" id="{5D984C66-44F4-6C0C-29FA-C26BCC014DA5}"/>
                </a:ext>
              </a:extLst>
            </p:cNvPr>
            <p:cNvSpPr>
              <a:spLocks noGrp="1"/>
            </p:cNvSpPr>
            <p:nvPr/>
          </p:nvSpPr>
          <p:spPr>
            <a:xfrm>
              <a:off x="8606627" y="1519238"/>
              <a:ext cx="36862" cy="42863"/>
            </a:xfrm>
            <a:custGeom>
              <a:avLst/>
              <a:gdLst/>
              <a:ahLst/>
              <a:cxnLst/>
              <a:rect l="0" t="0" r="0" b="0"/>
              <a:pathLst>
                <a:path w="36862" h="42863">
                  <a:moveTo>
                    <a:pt x="18431" y="42863"/>
                  </a:moveTo>
                  <a:lnTo>
                    <a:pt x="36862" y="0"/>
                  </a:lnTo>
                  <a:lnTo>
                    <a:pt x="0" y="0"/>
                  </a:lnTo>
                  <a:close/>
                </a:path>
              </a:pathLst>
            </a:custGeom>
            <a:solidFill>
              <a:srgbClr val="85AFCB"/>
            </a:solidFill>
            <a:ln w="0">
              <a:noFill/>
              <a:prstDash val="solid"/>
            </a:ln>
          </p:spPr>
        </p:sp>
        <p:sp>
          <p:nvSpPr>
            <p:cNvPr id="1352" name="Skip inner refined">
              <a:extLst>
                <a:ext uri="{FF2B5EF4-FFF2-40B4-BE49-F238E27FC236}">
                  <a16:creationId xmlns:a16="http://schemas.microsoft.com/office/drawing/2014/main" id="{796339B7-CA5C-9A6F-F626-7D7B76227D0E}"/>
                </a:ext>
              </a:extLst>
            </p:cNvPr>
            <p:cNvSpPr>
              <a:spLocks noGrp="1"/>
            </p:cNvSpPr>
            <p:nvPr/>
          </p:nvSpPr>
          <p:spPr>
            <a:xfrm>
              <a:off x="6081883" y="1381125"/>
              <a:ext cx="2000250" cy="323850"/>
            </a:xfrm>
            <a:custGeom>
              <a:avLst/>
              <a:gdLst/>
              <a:ahLst/>
              <a:cxnLst/>
              <a:rect l="0" t="0" r="0" b="0"/>
              <a:pathLst>
                <a:path w="2000250" h="323850">
                  <a:moveTo>
                    <a:pt x="0" y="323850"/>
                  </a:moveTo>
                  <a:lnTo>
                    <a:pt x="0" y="0"/>
                  </a:lnTo>
                  <a:lnTo>
                    <a:pt x="2000250" y="0"/>
                  </a:lnTo>
                  <a:lnTo>
                    <a:pt x="2000250" y="308848"/>
                  </a:lnTo>
                </a:path>
              </a:pathLst>
            </a:custGeom>
            <a:noFill/>
            <a:ln w="5468">
              <a:solidFill>
                <a:srgbClr val="85AFCB"/>
              </a:solidFill>
              <a:prstDash val="dash"/>
            </a:ln>
          </p:spPr>
        </p:sp>
        <p:sp>
          <p:nvSpPr>
            <p:cNvPr id="1353" name="Skip inner refined head">
              <a:extLst>
                <a:ext uri="{FF2B5EF4-FFF2-40B4-BE49-F238E27FC236}">
                  <a16:creationId xmlns:a16="http://schemas.microsoft.com/office/drawing/2014/main" id="{5389494F-4196-1B0C-C069-F40391B0419B}"/>
                </a:ext>
              </a:extLst>
            </p:cNvPr>
            <p:cNvSpPr>
              <a:spLocks noGrp="1"/>
            </p:cNvSpPr>
            <p:nvPr/>
          </p:nvSpPr>
          <p:spPr>
            <a:xfrm>
              <a:off x="8063702" y="1662113"/>
              <a:ext cx="36862" cy="42863"/>
            </a:xfrm>
            <a:custGeom>
              <a:avLst/>
              <a:gdLst/>
              <a:ahLst/>
              <a:cxnLst/>
              <a:rect l="0" t="0" r="0" b="0"/>
              <a:pathLst>
                <a:path w="36862" h="42863">
                  <a:moveTo>
                    <a:pt x="18431" y="42863"/>
                  </a:moveTo>
                  <a:lnTo>
                    <a:pt x="36862" y="0"/>
                  </a:lnTo>
                  <a:lnTo>
                    <a:pt x="0" y="0"/>
                  </a:lnTo>
                  <a:close/>
                </a:path>
              </a:pathLst>
            </a:custGeom>
            <a:solidFill>
              <a:srgbClr val="85AFCB"/>
            </a:solidFill>
            <a:ln w="0">
              <a:noFill/>
              <a:prstDash val="solid"/>
            </a:ln>
          </p:spPr>
        </p:sp>
        <p:sp>
          <p:nvSpPr>
            <p:cNvPr id="1354" name="PTV3 forward refined 1">
              <a:extLst>
                <a:ext uri="{FF2B5EF4-FFF2-40B4-BE49-F238E27FC236}">
                  <a16:creationId xmlns:a16="http://schemas.microsoft.com/office/drawing/2014/main" id="{B0492619-D665-D0F6-7061-EDCBCE3DDA3A}"/>
                </a:ext>
              </a:extLst>
            </p:cNvPr>
            <p:cNvSpPr>
              <a:spLocks noGrp="1"/>
            </p:cNvSpPr>
            <p:nvPr/>
          </p:nvSpPr>
          <p:spPr>
            <a:xfrm>
              <a:off x="5447899" y="3106769"/>
              <a:ext cx="255746" cy="191"/>
            </a:xfrm>
            <a:custGeom>
              <a:avLst/>
              <a:gdLst/>
              <a:ahLst/>
              <a:cxnLst/>
              <a:rect l="0" t="0" r="0" b="0"/>
              <a:pathLst>
                <a:path w="255746" h="191">
                  <a:moveTo>
                    <a:pt x="0" y="0"/>
                  </a:moveTo>
                  <a:lnTo>
                    <a:pt x="255746" y="0"/>
                  </a:lnTo>
                </a:path>
              </a:pathLst>
            </a:custGeom>
            <a:noFill/>
            <a:ln w="8505">
              <a:solidFill>
                <a:srgbClr val="4083B4"/>
              </a:solidFill>
              <a:prstDash val="solid"/>
            </a:ln>
          </p:spPr>
        </p:sp>
        <p:sp>
          <p:nvSpPr>
            <p:cNvPr id="1355" name="PTV3 forward refined 1 head">
              <a:extLst>
                <a:ext uri="{FF2B5EF4-FFF2-40B4-BE49-F238E27FC236}">
                  <a16:creationId xmlns:a16="http://schemas.microsoft.com/office/drawing/2014/main" id="{B7BCE76F-C831-1ABC-ADA2-90D7588CB987}"/>
                </a:ext>
              </a:extLst>
            </p:cNvPr>
            <p:cNvSpPr>
              <a:spLocks noGrp="1"/>
            </p:cNvSpPr>
            <p:nvPr/>
          </p:nvSpPr>
          <p:spPr>
            <a:xfrm>
              <a:off x="5660307" y="3078099"/>
              <a:ext cx="66675" cy="57340"/>
            </a:xfrm>
            <a:custGeom>
              <a:avLst/>
              <a:gdLst/>
              <a:ahLst/>
              <a:cxnLst/>
              <a:rect l="0" t="0" r="0" b="0"/>
              <a:pathLst>
                <a:path w="66675" h="57340">
                  <a:moveTo>
                    <a:pt x="66675" y="28670"/>
                  </a:moveTo>
                  <a:lnTo>
                    <a:pt x="0" y="0"/>
                  </a:lnTo>
                  <a:lnTo>
                    <a:pt x="0" y="57340"/>
                  </a:lnTo>
                  <a:close/>
                </a:path>
              </a:pathLst>
            </a:custGeom>
            <a:solidFill>
              <a:srgbClr val="4083B4"/>
            </a:solidFill>
            <a:ln w="0">
              <a:solidFill>
                <a:srgbClr val="4083B4"/>
              </a:solidFill>
              <a:prstDash val="solid"/>
            </a:ln>
          </p:spPr>
        </p:sp>
        <p:sp>
          <p:nvSpPr>
            <p:cNvPr id="1356" name="PTV3 forward refined 2">
              <a:extLst>
                <a:ext uri="{FF2B5EF4-FFF2-40B4-BE49-F238E27FC236}">
                  <a16:creationId xmlns:a16="http://schemas.microsoft.com/office/drawing/2014/main" id="{24AE15E3-3B2D-CC4A-618E-E9BB13DA2E16}"/>
                </a:ext>
              </a:extLst>
            </p:cNvPr>
            <p:cNvSpPr>
              <a:spLocks noGrp="1"/>
            </p:cNvSpPr>
            <p:nvPr/>
          </p:nvSpPr>
          <p:spPr>
            <a:xfrm>
              <a:off x="6452501" y="3106769"/>
              <a:ext cx="311563" cy="191"/>
            </a:xfrm>
            <a:custGeom>
              <a:avLst/>
              <a:gdLst/>
              <a:ahLst/>
              <a:cxnLst/>
              <a:rect l="0" t="0" r="0" b="0"/>
              <a:pathLst>
                <a:path w="311563" h="191">
                  <a:moveTo>
                    <a:pt x="0" y="0"/>
                  </a:moveTo>
                  <a:lnTo>
                    <a:pt x="311563" y="0"/>
                  </a:lnTo>
                </a:path>
              </a:pathLst>
            </a:custGeom>
            <a:noFill/>
            <a:ln w="8505">
              <a:solidFill>
                <a:srgbClr val="4083B4"/>
              </a:solidFill>
              <a:prstDash val="solid"/>
            </a:ln>
          </p:spPr>
        </p:sp>
        <p:sp>
          <p:nvSpPr>
            <p:cNvPr id="1357" name="PTV3 forward refined 2 head">
              <a:extLst>
                <a:ext uri="{FF2B5EF4-FFF2-40B4-BE49-F238E27FC236}">
                  <a16:creationId xmlns:a16="http://schemas.microsoft.com/office/drawing/2014/main" id="{8007E90B-E49B-BC36-45F6-E1B46BA41A6C}"/>
                </a:ext>
              </a:extLst>
            </p:cNvPr>
            <p:cNvSpPr>
              <a:spLocks noGrp="1"/>
            </p:cNvSpPr>
            <p:nvPr/>
          </p:nvSpPr>
          <p:spPr>
            <a:xfrm>
              <a:off x="6720725" y="3078099"/>
              <a:ext cx="66675" cy="57340"/>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58" name="PTV3 forward refined 3">
              <a:extLst>
                <a:ext uri="{FF2B5EF4-FFF2-40B4-BE49-F238E27FC236}">
                  <a16:creationId xmlns:a16="http://schemas.microsoft.com/office/drawing/2014/main" id="{2D087525-2ABD-3A01-10DA-7F65FB2DD09A}"/>
                </a:ext>
              </a:extLst>
            </p:cNvPr>
            <p:cNvSpPr>
              <a:spLocks noGrp="1"/>
            </p:cNvSpPr>
            <p:nvPr/>
          </p:nvSpPr>
          <p:spPr>
            <a:xfrm>
              <a:off x="7438529" y="3106769"/>
              <a:ext cx="311563" cy="191"/>
            </a:xfrm>
            <a:custGeom>
              <a:avLst/>
              <a:gdLst/>
              <a:ahLst/>
              <a:cxnLst/>
              <a:rect l="0" t="0" r="0" b="0"/>
              <a:pathLst>
                <a:path w="311563" h="191">
                  <a:moveTo>
                    <a:pt x="0" y="0"/>
                  </a:moveTo>
                  <a:lnTo>
                    <a:pt x="311563" y="0"/>
                  </a:lnTo>
                </a:path>
              </a:pathLst>
            </a:custGeom>
            <a:noFill/>
            <a:ln w="8505">
              <a:solidFill>
                <a:srgbClr val="4083B4"/>
              </a:solidFill>
              <a:prstDash val="solid"/>
            </a:ln>
          </p:spPr>
        </p:sp>
        <p:sp>
          <p:nvSpPr>
            <p:cNvPr id="1359" name="PTV3 forward refined 3 head">
              <a:extLst>
                <a:ext uri="{FF2B5EF4-FFF2-40B4-BE49-F238E27FC236}">
                  <a16:creationId xmlns:a16="http://schemas.microsoft.com/office/drawing/2014/main" id="{417DAC3E-DE7D-4EBD-83BF-06F7FB2A8085}"/>
                </a:ext>
              </a:extLst>
            </p:cNvPr>
            <p:cNvSpPr>
              <a:spLocks noGrp="1"/>
            </p:cNvSpPr>
            <p:nvPr/>
          </p:nvSpPr>
          <p:spPr>
            <a:xfrm>
              <a:off x="7706753" y="3078099"/>
              <a:ext cx="66675" cy="57340"/>
            </a:xfrm>
            <a:custGeom>
              <a:avLst/>
              <a:gdLst/>
              <a:ahLst/>
              <a:cxnLst/>
              <a:rect l="0" t="0" r="0" b="0"/>
              <a:pathLst>
                <a:path w="66675" h="57340">
                  <a:moveTo>
                    <a:pt x="66675" y="28670"/>
                  </a:moveTo>
                  <a:lnTo>
                    <a:pt x="0" y="0"/>
                  </a:lnTo>
                  <a:lnTo>
                    <a:pt x="0" y="57340"/>
                  </a:lnTo>
                  <a:close/>
                </a:path>
              </a:pathLst>
            </a:custGeom>
            <a:solidFill>
              <a:srgbClr val="4083B4"/>
            </a:solidFill>
            <a:ln w="0">
              <a:solidFill>
                <a:srgbClr val="4083B4"/>
              </a:solidFill>
              <a:prstDash val="solid"/>
            </a:ln>
          </p:spPr>
        </p:sp>
        <p:sp>
          <p:nvSpPr>
            <p:cNvPr id="1360" name="PTV3 forward refined 4">
              <a:extLst>
                <a:ext uri="{FF2B5EF4-FFF2-40B4-BE49-F238E27FC236}">
                  <a16:creationId xmlns:a16="http://schemas.microsoft.com/office/drawing/2014/main" id="{3F66A9B7-F35C-EB4C-B102-3F29A4296978}"/>
                </a:ext>
              </a:extLst>
            </p:cNvPr>
            <p:cNvSpPr>
              <a:spLocks noGrp="1"/>
            </p:cNvSpPr>
            <p:nvPr/>
          </p:nvSpPr>
          <p:spPr>
            <a:xfrm>
              <a:off x="8498852" y="3106769"/>
              <a:ext cx="255746" cy="191"/>
            </a:xfrm>
            <a:custGeom>
              <a:avLst/>
              <a:gdLst/>
              <a:ahLst/>
              <a:cxnLst/>
              <a:rect l="0" t="0" r="0" b="0"/>
              <a:pathLst>
                <a:path w="255746" h="191">
                  <a:moveTo>
                    <a:pt x="0" y="0"/>
                  </a:moveTo>
                  <a:lnTo>
                    <a:pt x="255746" y="0"/>
                  </a:lnTo>
                </a:path>
              </a:pathLst>
            </a:custGeom>
            <a:noFill/>
            <a:ln w="8505">
              <a:solidFill>
                <a:srgbClr val="4083B4"/>
              </a:solidFill>
              <a:prstDash val="solid"/>
            </a:ln>
          </p:spPr>
        </p:sp>
        <p:sp>
          <p:nvSpPr>
            <p:cNvPr id="1361" name="PTV3 forward refined 4 head">
              <a:extLst>
                <a:ext uri="{FF2B5EF4-FFF2-40B4-BE49-F238E27FC236}">
                  <a16:creationId xmlns:a16="http://schemas.microsoft.com/office/drawing/2014/main" id="{4634E7DB-F8E3-B989-4F8D-785672F195B4}"/>
                </a:ext>
              </a:extLst>
            </p:cNvPr>
            <p:cNvSpPr>
              <a:spLocks noGrp="1"/>
            </p:cNvSpPr>
            <p:nvPr/>
          </p:nvSpPr>
          <p:spPr>
            <a:xfrm>
              <a:off x="8711259" y="3078099"/>
              <a:ext cx="66675" cy="57340"/>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62" name="Fusion refined 487.16">
              <a:extLst>
                <a:ext uri="{FF2B5EF4-FFF2-40B4-BE49-F238E27FC236}">
                  <a16:creationId xmlns:a16="http://schemas.microsoft.com/office/drawing/2014/main" id="{0FF19FA3-F74F-0EF3-2637-6AA25406EF88}"/>
                </a:ext>
              </a:extLst>
            </p:cNvPr>
            <p:cNvSpPr>
              <a:spLocks noGrp="1"/>
            </p:cNvSpPr>
            <p:nvPr/>
          </p:nvSpPr>
          <p:spPr>
            <a:xfrm>
              <a:off x="5085187" y="2418493"/>
              <a:ext cx="191" cy="404527"/>
            </a:xfrm>
            <a:custGeom>
              <a:avLst/>
              <a:gdLst/>
              <a:ahLst/>
              <a:cxnLst/>
              <a:rect l="0" t="0" r="0" b="0"/>
              <a:pathLst>
                <a:path w="191" h="404527">
                  <a:moveTo>
                    <a:pt x="0" y="0"/>
                  </a:moveTo>
                  <a:lnTo>
                    <a:pt x="0" y="404527"/>
                  </a:lnTo>
                </a:path>
              </a:pathLst>
            </a:custGeom>
            <a:noFill/>
            <a:ln w="8505">
              <a:solidFill>
                <a:srgbClr val="4083B4"/>
              </a:solidFill>
              <a:prstDash val="solid"/>
            </a:ln>
          </p:spPr>
        </p:sp>
        <p:sp>
          <p:nvSpPr>
            <p:cNvPr id="1363" name="Fusion refined 487.16 head">
              <a:extLst>
                <a:ext uri="{FF2B5EF4-FFF2-40B4-BE49-F238E27FC236}">
                  <a16:creationId xmlns:a16="http://schemas.microsoft.com/office/drawing/2014/main" id="{3D13397A-1EED-4CCF-C88D-62A5EFCF622C}"/>
                </a:ext>
              </a:extLst>
            </p:cNvPr>
            <p:cNvSpPr>
              <a:spLocks noGrp="1"/>
            </p:cNvSpPr>
            <p:nvPr/>
          </p:nvSpPr>
          <p:spPr>
            <a:xfrm>
              <a:off x="5056517" y="2779681"/>
              <a:ext cx="57340" cy="66675"/>
            </a:xfrm>
            <a:custGeom>
              <a:avLst/>
              <a:gdLst/>
              <a:ahLst/>
              <a:cxnLst/>
              <a:rect l="0" t="0" r="0" b="0"/>
              <a:pathLst>
                <a:path w="57340" h="66675">
                  <a:moveTo>
                    <a:pt x="28670" y="66675"/>
                  </a:moveTo>
                  <a:lnTo>
                    <a:pt x="57340" y="0"/>
                  </a:lnTo>
                  <a:lnTo>
                    <a:pt x="0" y="0"/>
                  </a:lnTo>
                  <a:close/>
                </a:path>
              </a:pathLst>
            </a:custGeom>
            <a:solidFill>
              <a:srgbClr val="4083B4"/>
            </a:solidFill>
            <a:ln w="0">
              <a:noFill/>
              <a:prstDash val="solid"/>
            </a:ln>
          </p:spPr>
        </p:sp>
        <p:sp>
          <p:nvSpPr>
            <p:cNvPr id="1364" name="Fusion refined 700.05">
              <a:extLst>
                <a:ext uri="{FF2B5EF4-FFF2-40B4-BE49-F238E27FC236}">
                  <a16:creationId xmlns:a16="http://schemas.microsoft.com/office/drawing/2014/main" id="{F3328C85-8D10-5BAE-F06A-A042F88B4457}"/>
                </a:ext>
              </a:extLst>
            </p:cNvPr>
            <p:cNvSpPr>
              <a:spLocks noGrp="1"/>
            </p:cNvSpPr>
            <p:nvPr/>
          </p:nvSpPr>
          <p:spPr>
            <a:xfrm>
              <a:off x="7112964" y="2418493"/>
              <a:ext cx="191" cy="404527"/>
            </a:xfrm>
            <a:custGeom>
              <a:avLst/>
              <a:gdLst/>
              <a:ahLst/>
              <a:cxnLst/>
              <a:rect l="0" t="0" r="0" b="0"/>
              <a:pathLst>
                <a:path w="191" h="404527">
                  <a:moveTo>
                    <a:pt x="0" y="0"/>
                  </a:moveTo>
                  <a:lnTo>
                    <a:pt x="0" y="404527"/>
                  </a:lnTo>
                </a:path>
              </a:pathLst>
            </a:custGeom>
            <a:noFill/>
            <a:ln w="8505">
              <a:solidFill>
                <a:srgbClr val="4083B4"/>
              </a:solidFill>
              <a:prstDash val="solid"/>
            </a:ln>
          </p:spPr>
        </p:sp>
        <p:sp>
          <p:nvSpPr>
            <p:cNvPr id="1365" name="Fusion refined 700.05 head">
              <a:extLst>
                <a:ext uri="{FF2B5EF4-FFF2-40B4-BE49-F238E27FC236}">
                  <a16:creationId xmlns:a16="http://schemas.microsoft.com/office/drawing/2014/main" id="{615DF42F-7A96-D005-2B04-2E5B83AF189A}"/>
                </a:ext>
              </a:extLst>
            </p:cNvPr>
            <p:cNvSpPr>
              <a:spLocks noGrp="1"/>
            </p:cNvSpPr>
            <p:nvPr/>
          </p:nvSpPr>
          <p:spPr>
            <a:xfrm>
              <a:off x="7084294" y="2779681"/>
              <a:ext cx="57340" cy="66675"/>
            </a:xfrm>
            <a:custGeom>
              <a:avLst/>
              <a:gdLst/>
              <a:ahLst/>
              <a:cxnLst/>
              <a:rect l="0" t="0" r="0" b="0"/>
              <a:pathLst>
                <a:path w="57340" h="66675">
                  <a:moveTo>
                    <a:pt x="28670" y="66675"/>
                  </a:moveTo>
                  <a:lnTo>
                    <a:pt x="57340" y="0"/>
                  </a:lnTo>
                  <a:lnTo>
                    <a:pt x="0" y="0"/>
                  </a:lnTo>
                  <a:close/>
                </a:path>
              </a:pathLst>
            </a:custGeom>
            <a:solidFill>
              <a:srgbClr val="4083B4"/>
            </a:solidFill>
            <a:ln w="0">
              <a:noFill/>
              <a:prstDash val="solid"/>
            </a:ln>
          </p:spPr>
        </p:sp>
        <p:sp>
          <p:nvSpPr>
            <p:cNvPr id="1366" name="Fusion refined 912.94">
              <a:extLst>
                <a:ext uri="{FF2B5EF4-FFF2-40B4-BE49-F238E27FC236}">
                  <a16:creationId xmlns:a16="http://schemas.microsoft.com/office/drawing/2014/main" id="{8F954EB4-FAB9-9DC0-DCA1-6E84B625ECD7}"/>
                </a:ext>
              </a:extLst>
            </p:cNvPr>
            <p:cNvSpPr>
              <a:spLocks noGrp="1"/>
            </p:cNvSpPr>
            <p:nvPr/>
          </p:nvSpPr>
          <p:spPr>
            <a:xfrm>
              <a:off x="9140742" y="2418493"/>
              <a:ext cx="191" cy="404527"/>
            </a:xfrm>
            <a:custGeom>
              <a:avLst/>
              <a:gdLst/>
              <a:ahLst/>
              <a:cxnLst/>
              <a:rect l="0" t="0" r="0" b="0"/>
              <a:pathLst>
                <a:path w="191" h="404527">
                  <a:moveTo>
                    <a:pt x="0" y="0"/>
                  </a:moveTo>
                  <a:lnTo>
                    <a:pt x="0" y="404527"/>
                  </a:lnTo>
                </a:path>
              </a:pathLst>
            </a:custGeom>
            <a:noFill/>
            <a:ln w="8505">
              <a:solidFill>
                <a:srgbClr val="4083B4"/>
              </a:solidFill>
              <a:prstDash val="solid"/>
            </a:ln>
          </p:spPr>
        </p:sp>
        <p:sp>
          <p:nvSpPr>
            <p:cNvPr id="1367" name="Fusion refined 912.94 head">
              <a:extLst>
                <a:ext uri="{FF2B5EF4-FFF2-40B4-BE49-F238E27FC236}">
                  <a16:creationId xmlns:a16="http://schemas.microsoft.com/office/drawing/2014/main" id="{DDC6F6E8-2600-F9F0-8C4C-DF220F079064}"/>
                </a:ext>
              </a:extLst>
            </p:cNvPr>
            <p:cNvSpPr>
              <a:spLocks noGrp="1"/>
            </p:cNvSpPr>
            <p:nvPr/>
          </p:nvSpPr>
          <p:spPr>
            <a:xfrm>
              <a:off x="9112071" y="2779681"/>
              <a:ext cx="57340" cy="66675"/>
            </a:xfrm>
            <a:custGeom>
              <a:avLst/>
              <a:gdLst/>
              <a:ahLst/>
              <a:cxnLst/>
              <a:rect l="0" t="0" r="0" b="0"/>
              <a:pathLst>
                <a:path w="57340" h="66675">
                  <a:moveTo>
                    <a:pt x="28670" y="66675"/>
                  </a:moveTo>
                  <a:lnTo>
                    <a:pt x="57340" y="0"/>
                  </a:lnTo>
                  <a:lnTo>
                    <a:pt x="0" y="0"/>
                  </a:lnTo>
                  <a:close/>
                </a:path>
              </a:pathLst>
            </a:custGeom>
            <a:solidFill>
              <a:srgbClr val="4083B4"/>
            </a:solidFill>
            <a:ln w="0">
              <a:noFill/>
              <a:prstDash val="solid"/>
            </a:ln>
          </p:spPr>
        </p:sp>
        <p:sp>
          <p:nvSpPr>
            <p:cNvPr id="1368" name="Recycle right refined">
              <a:extLst>
                <a:ext uri="{FF2B5EF4-FFF2-40B4-BE49-F238E27FC236}">
                  <a16:creationId xmlns:a16="http://schemas.microsoft.com/office/drawing/2014/main" id="{D9AFE2A4-7629-8D55-72A2-74513ED16554}"/>
                </a:ext>
              </a:extLst>
            </p:cNvPr>
            <p:cNvSpPr>
              <a:spLocks noGrp="1"/>
            </p:cNvSpPr>
            <p:nvPr/>
          </p:nvSpPr>
          <p:spPr>
            <a:xfrm>
              <a:off x="7596644" y="3385852"/>
              <a:ext cx="1544098" cy="241840"/>
            </a:xfrm>
            <a:custGeom>
              <a:avLst/>
              <a:gdLst/>
              <a:ahLst/>
              <a:cxnLst/>
              <a:rect l="0" t="0" r="0" b="0"/>
              <a:pathLst>
                <a:path w="1544098" h="241840">
                  <a:moveTo>
                    <a:pt x="1544098" y="0"/>
                  </a:moveTo>
                  <a:lnTo>
                    <a:pt x="1544098" y="241840"/>
                  </a:lnTo>
                  <a:lnTo>
                    <a:pt x="0" y="241840"/>
                  </a:lnTo>
                </a:path>
              </a:pathLst>
            </a:custGeom>
            <a:noFill/>
            <a:ln w="8505">
              <a:solidFill>
                <a:srgbClr val="4083B4"/>
              </a:solidFill>
              <a:prstDash val="solid"/>
            </a:ln>
          </p:spPr>
        </p:sp>
        <p:sp>
          <p:nvSpPr>
            <p:cNvPr id="1369" name="Recycle left refined">
              <a:extLst>
                <a:ext uri="{FF2B5EF4-FFF2-40B4-BE49-F238E27FC236}">
                  <a16:creationId xmlns:a16="http://schemas.microsoft.com/office/drawing/2014/main" id="{9E9F6AF5-6C88-4D6A-4EB6-AE11098D540D}"/>
                </a:ext>
              </a:extLst>
            </p:cNvPr>
            <p:cNvSpPr>
              <a:spLocks noGrp="1"/>
            </p:cNvSpPr>
            <p:nvPr/>
          </p:nvSpPr>
          <p:spPr>
            <a:xfrm>
              <a:off x="5085187" y="3409188"/>
              <a:ext cx="1544098" cy="218503"/>
            </a:xfrm>
            <a:custGeom>
              <a:avLst/>
              <a:gdLst/>
              <a:ahLst/>
              <a:cxnLst/>
              <a:rect l="0" t="0" r="0" b="0"/>
              <a:pathLst>
                <a:path w="1544098" h="218503">
                  <a:moveTo>
                    <a:pt x="1544098" y="218503"/>
                  </a:moveTo>
                  <a:lnTo>
                    <a:pt x="0" y="218503"/>
                  </a:lnTo>
                  <a:lnTo>
                    <a:pt x="0" y="0"/>
                  </a:lnTo>
                </a:path>
              </a:pathLst>
            </a:custGeom>
            <a:noFill/>
            <a:ln w="8505">
              <a:solidFill>
                <a:srgbClr val="4083B4"/>
              </a:solidFill>
              <a:prstDash val="solid"/>
            </a:ln>
          </p:spPr>
        </p:sp>
        <p:sp>
          <p:nvSpPr>
            <p:cNvPr id="1370" name="Recycle left refined head">
              <a:extLst>
                <a:ext uri="{FF2B5EF4-FFF2-40B4-BE49-F238E27FC236}">
                  <a16:creationId xmlns:a16="http://schemas.microsoft.com/office/drawing/2014/main" id="{FC70626C-9297-3774-289D-8C74BAB81591}"/>
                </a:ext>
              </a:extLst>
            </p:cNvPr>
            <p:cNvSpPr>
              <a:spLocks noGrp="1"/>
            </p:cNvSpPr>
            <p:nvPr/>
          </p:nvSpPr>
          <p:spPr>
            <a:xfrm>
              <a:off x="5056517" y="3385852"/>
              <a:ext cx="57340" cy="66675"/>
            </a:xfrm>
            <a:custGeom>
              <a:avLst/>
              <a:gdLst/>
              <a:ahLst/>
              <a:cxnLst/>
              <a:rect l="0" t="0" r="0" b="0"/>
              <a:pathLst>
                <a:path w="57340" h="66675">
                  <a:moveTo>
                    <a:pt x="28670" y="0"/>
                  </a:moveTo>
                  <a:lnTo>
                    <a:pt x="0" y="66675"/>
                  </a:lnTo>
                  <a:lnTo>
                    <a:pt x="57340" y="66675"/>
                  </a:lnTo>
                  <a:close/>
                </a:path>
              </a:pathLst>
            </a:custGeom>
            <a:solidFill>
              <a:srgbClr val="4083B4"/>
            </a:solidFill>
            <a:ln w="0">
              <a:noFill/>
              <a:prstDash val="solid"/>
            </a:ln>
          </p:spPr>
        </p:sp>
        <p:sp>
          <p:nvSpPr>
            <p:cNvPr id="1371" name="Crop to summary refined">
              <a:extLst>
                <a:ext uri="{FF2B5EF4-FFF2-40B4-BE49-F238E27FC236}">
                  <a16:creationId xmlns:a16="http://schemas.microsoft.com/office/drawing/2014/main" id="{23964A60-5300-B32A-CC8C-9F9A10909522}"/>
                </a:ext>
              </a:extLst>
            </p:cNvPr>
            <p:cNvSpPr>
              <a:spLocks noGrp="1"/>
            </p:cNvSpPr>
            <p:nvPr/>
          </p:nvSpPr>
          <p:spPr>
            <a:xfrm>
              <a:off x="3580673" y="6064758"/>
              <a:ext cx="1148715" cy="191"/>
            </a:xfrm>
            <a:custGeom>
              <a:avLst/>
              <a:gdLst/>
              <a:ahLst/>
              <a:cxnLst/>
              <a:rect l="0" t="0" r="0" b="0"/>
              <a:pathLst>
                <a:path w="1148715" h="191">
                  <a:moveTo>
                    <a:pt x="0" y="0"/>
                  </a:moveTo>
                  <a:lnTo>
                    <a:pt x="1148715" y="0"/>
                  </a:lnTo>
                </a:path>
              </a:pathLst>
            </a:custGeom>
            <a:noFill/>
            <a:ln w="8505">
              <a:solidFill>
                <a:srgbClr val="4083B4"/>
              </a:solidFill>
              <a:prstDash val="solid"/>
            </a:ln>
          </p:spPr>
        </p:sp>
        <p:sp>
          <p:nvSpPr>
            <p:cNvPr id="1372" name="Crop to summary refined head">
              <a:extLst>
                <a:ext uri="{FF2B5EF4-FFF2-40B4-BE49-F238E27FC236}">
                  <a16:creationId xmlns:a16="http://schemas.microsoft.com/office/drawing/2014/main" id="{864E15CB-81EF-2FAC-14F2-E25D89F29346}"/>
                </a:ext>
              </a:extLst>
            </p:cNvPr>
            <p:cNvSpPr>
              <a:spLocks noGrp="1"/>
            </p:cNvSpPr>
            <p:nvPr/>
          </p:nvSpPr>
          <p:spPr>
            <a:xfrm>
              <a:off x="4686050" y="6036088"/>
              <a:ext cx="66675" cy="57340"/>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73" name="Input split refined">
              <a:extLst>
                <a:ext uri="{FF2B5EF4-FFF2-40B4-BE49-F238E27FC236}">
                  <a16:creationId xmlns:a16="http://schemas.microsoft.com/office/drawing/2014/main" id="{B4BBBDF4-6774-1D2C-95B2-F3B88AB1C869}"/>
                </a:ext>
              </a:extLst>
            </p:cNvPr>
            <p:cNvSpPr>
              <a:spLocks noGrp="1"/>
            </p:cNvSpPr>
            <p:nvPr/>
          </p:nvSpPr>
          <p:spPr>
            <a:xfrm>
              <a:off x="2073914" y="7793355"/>
              <a:ext cx="846772" cy="160020"/>
            </a:xfrm>
            <a:custGeom>
              <a:avLst/>
              <a:gdLst/>
              <a:ahLst/>
              <a:cxnLst/>
              <a:rect l="0" t="0" r="0" b="0"/>
              <a:pathLst>
                <a:path w="846772" h="160020">
                  <a:moveTo>
                    <a:pt x="846772" y="0"/>
                  </a:moveTo>
                  <a:lnTo>
                    <a:pt x="846772" y="160020"/>
                  </a:lnTo>
                  <a:lnTo>
                    <a:pt x="0" y="160020"/>
                  </a:lnTo>
                </a:path>
              </a:pathLst>
            </a:custGeom>
            <a:noFill/>
            <a:ln w="8505">
              <a:solidFill>
                <a:srgbClr val="3B8C80"/>
              </a:solidFill>
              <a:prstDash val="solid"/>
            </a:ln>
          </p:spPr>
        </p:sp>
        <p:sp>
          <p:nvSpPr>
            <p:cNvPr id="1374" name="Input split right refined">
              <a:extLst>
                <a:ext uri="{FF2B5EF4-FFF2-40B4-BE49-F238E27FC236}">
                  <a16:creationId xmlns:a16="http://schemas.microsoft.com/office/drawing/2014/main" id="{950F0CCA-2F88-9AFF-22D8-DAA7ACB6176C}"/>
                </a:ext>
              </a:extLst>
            </p:cNvPr>
            <p:cNvSpPr>
              <a:spLocks noGrp="1"/>
            </p:cNvSpPr>
            <p:nvPr/>
          </p:nvSpPr>
          <p:spPr>
            <a:xfrm>
              <a:off x="2920686" y="7953375"/>
              <a:ext cx="827723" cy="191"/>
            </a:xfrm>
            <a:custGeom>
              <a:avLst/>
              <a:gdLst/>
              <a:ahLst/>
              <a:cxnLst/>
              <a:rect l="0" t="0" r="0" b="0"/>
              <a:pathLst>
                <a:path w="827723" h="191">
                  <a:moveTo>
                    <a:pt x="0" y="0"/>
                  </a:moveTo>
                  <a:lnTo>
                    <a:pt x="827723" y="0"/>
                  </a:lnTo>
                </a:path>
              </a:pathLst>
            </a:custGeom>
            <a:noFill/>
            <a:ln w="8505">
              <a:solidFill>
                <a:srgbClr val="3B8C80"/>
              </a:solidFill>
              <a:prstDash val="solid"/>
            </a:ln>
          </p:spPr>
        </p:sp>
        <p:sp>
          <p:nvSpPr>
            <p:cNvPr id="1375" name="Inputs to pool refined">
              <a:extLst>
                <a:ext uri="{FF2B5EF4-FFF2-40B4-BE49-F238E27FC236}">
                  <a16:creationId xmlns:a16="http://schemas.microsoft.com/office/drawing/2014/main" id="{B22E0EF3-FD19-0826-1822-07182CC69FC5}"/>
                </a:ext>
              </a:extLst>
            </p:cNvPr>
            <p:cNvSpPr>
              <a:spLocks noGrp="1"/>
            </p:cNvSpPr>
            <p:nvPr/>
          </p:nvSpPr>
          <p:spPr>
            <a:xfrm>
              <a:off x="2073914" y="7953375"/>
              <a:ext cx="191" cy="143732"/>
            </a:xfrm>
            <a:custGeom>
              <a:avLst/>
              <a:gdLst/>
              <a:ahLst/>
              <a:cxnLst/>
              <a:rect l="0" t="0" r="0" b="0"/>
              <a:pathLst>
                <a:path w="191" h="143732">
                  <a:moveTo>
                    <a:pt x="0" y="0"/>
                  </a:moveTo>
                  <a:lnTo>
                    <a:pt x="0" y="143732"/>
                  </a:lnTo>
                </a:path>
              </a:pathLst>
            </a:custGeom>
            <a:noFill/>
            <a:ln w="8505">
              <a:solidFill>
                <a:srgbClr val="3B8C80"/>
              </a:solidFill>
              <a:prstDash val="solid"/>
            </a:ln>
          </p:spPr>
        </p:sp>
        <p:sp>
          <p:nvSpPr>
            <p:cNvPr id="1376" name="Inputs to pool refined head">
              <a:extLst>
                <a:ext uri="{FF2B5EF4-FFF2-40B4-BE49-F238E27FC236}">
                  <a16:creationId xmlns:a16="http://schemas.microsoft.com/office/drawing/2014/main" id="{CA70B1F6-4A00-BABC-2972-012866989961}"/>
                </a:ext>
              </a:extLst>
            </p:cNvPr>
            <p:cNvSpPr>
              <a:spLocks noGrp="1"/>
            </p:cNvSpPr>
            <p:nvPr/>
          </p:nvSpPr>
          <p:spPr>
            <a:xfrm>
              <a:off x="2045243" y="8053769"/>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77" name="Inputs to attention refined">
              <a:extLst>
                <a:ext uri="{FF2B5EF4-FFF2-40B4-BE49-F238E27FC236}">
                  <a16:creationId xmlns:a16="http://schemas.microsoft.com/office/drawing/2014/main" id="{08F1A61E-3B0E-8BF6-7F27-5CCE4D22C59A}"/>
                </a:ext>
              </a:extLst>
            </p:cNvPr>
            <p:cNvSpPr>
              <a:spLocks noGrp="1"/>
            </p:cNvSpPr>
            <p:nvPr/>
          </p:nvSpPr>
          <p:spPr>
            <a:xfrm>
              <a:off x="3748409" y="7953375"/>
              <a:ext cx="191" cy="143732"/>
            </a:xfrm>
            <a:custGeom>
              <a:avLst/>
              <a:gdLst/>
              <a:ahLst/>
              <a:cxnLst/>
              <a:rect l="0" t="0" r="0" b="0"/>
              <a:pathLst>
                <a:path w="191" h="143732">
                  <a:moveTo>
                    <a:pt x="0" y="0"/>
                  </a:moveTo>
                  <a:lnTo>
                    <a:pt x="0" y="143732"/>
                  </a:lnTo>
                </a:path>
              </a:pathLst>
            </a:custGeom>
            <a:noFill/>
            <a:ln w="8505">
              <a:solidFill>
                <a:srgbClr val="3B8C80"/>
              </a:solidFill>
              <a:prstDash val="solid"/>
            </a:ln>
          </p:spPr>
        </p:sp>
        <p:sp>
          <p:nvSpPr>
            <p:cNvPr id="1378" name="Inputs to attention refined head">
              <a:extLst>
                <a:ext uri="{FF2B5EF4-FFF2-40B4-BE49-F238E27FC236}">
                  <a16:creationId xmlns:a16="http://schemas.microsoft.com/office/drawing/2014/main" id="{4A8E2717-7DBF-7A20-898F-8A4B8D99C916}"/>
                </a:ext>
              </a:extLst>
            </p:cNvPr>
            <p:cNvSpPr>
              <a:spLocks noGrp="1"/>
            </p:cNvSpPr>
            <p:nvPr/>
          </p:nvSpPr>
          <p:spPr>
            <a:xfrm>
              <a:off x="3719738" y="8053769"/>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83" name="MLP to FiLM refined">
              <a:extLst>
                <a:ext uri="{FF2B5EF4-FFF2-40B4-BE49-F238E27FC236}">
                  <a16:creationId xmlns:a16="http://schemas.microsoft.com/office/drawing/2014/main" id="{2C7C678A-F3D0-E51D-2CD6-B41E5CBA7774}"/>
                </a:ext>
              </a:extLst>
            </p:cNvPr>
            <p:cNvSpPr>
              <a:spLocks noGrp="1"/>
            </p:cNvSpPr>
            <p:nvPr/>
          </p:nvSpPr>
          <p:spPr>
            <a:xfrm>
              <a:off x="3319784" y="8968264"/>
              <a:ext cx="1502569" cy="191"/>
            </a:xfrm>
            <a:custGeom>
              <a:avLst/>
              <a:gdLst/>
              <a:ahLst/>
              <a:cxnLst/>
              <a:rect l="0" t="0" r="0" b="0"/>
              <a:pathLst>
                <a:path w="1502569" h="191">
                  <a:moveTo>
                    <a:pt x="0" y="0"/>
                  </a:moveTo>
                  <a:lnTo>
                    <a:pt x="1502569" y="0"/>
                  </a:lnTo>
                </a:path>
              </a:pathLst>
            </a:custGeom>
            <a:noFill/>
            <a:ln w="8505">
              <a:solidFill>
                <a:srgbClr val="3B8C80"/>
              </a:solidFill>
              <a:prstDash val="solid"/>
            </a:ln>
          </p:spPr>
        </p:sp>
        <p:sp>
          <p:nvSpPr>
            <p:cNvPr id="1384" name="MLP to FiLM refined head">
              <a:extLst>
                <a:ext uri="{FF2B5EF4-FFF2-40B4-BE49-F238E27FC236}">
                  <a16:creationId xmlns:a16="http://schemas.microsoft.com/office/drawing/2014/main" id="{E62BF4CB-2DFB-E34F-0A43-259454CA6416}"/>
                </a:ext>
              </a:extLst>
            </p:cNvPr>
            <p:cNvSpPr>
              <a:spLocks noGrp="1"/>
            </p:cNvSpPr>
            <p:nvPr/>
          </p:nvSpPr>
          <p:spPr>
            <a:xfrm>
              <a:off x="4779014" y="8939594"/>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385" name="Summary to FiLM refined">
              <a:extLst>
                <a:ext uri="{FF2B5EF4-FFF2-40B4-BE49-F238E27FC236}">
                  <a16:creationId xmlns:a16="http://schemas.microsoft.com/office/drawing/2014/main" id="{4AD6C56A-E9C3-F934-64AC-D936F1D8505E}"/>
                </a:ext>
              </a:extLst>
            </p:cNvPr>
            <p:cNvSpPr>
              <a:spLocks noGrp="1"/>
            </p:cNvSpPr>
            <p:nvPr/>
          </p:nvSpPr>
          <p:spPr>
            <a:xfrm>
              <a:off x="5199066" y="6400800"/>
              <a:ext cx="191" cy="2367439"/>
            </a:xfrm>
            <a:custGeom>
              <a:avLst/>
              <a:gdLst/>
              <a:ahLst/>
              <a:cxnLst/>
              <a:rect l="0" t="0" r="0" b="0"/>
              <a:pathLst>
                <a:path w="191" h="2367439">
                  <a:moveTo>
                    <a:pt x="0" y="0"/>
                  </a:moveTo>
                  <a:lnTo>
                    <a:pt x="0" y="2367439"/>
                  </a:lnTo>
                </a:path>
              </a:pathLst>
            </a:custGeom>
            <a:noFill/>
            <a:ln w="8505">
              <a:solidFill>
                <a:srgbClr val="4083B4"/>
              </a:solidFill>
              <a:prstDash val="solid"/>
            </a:ln>
          </p:spPr>
        </p:sp>
        <p:sp>
          <p:nvSpPr>
            <p:cNvPr id="1386" name="Summary to FiLM refined head">
              <a:extLst>
                <a:ext uri="{FF2B5EF4-FFF2-40B4-BE49-F238E27FC236}">
                  <a16:creationId xmlns:a16="http://schemas.microsoft.com/office/drawing/2014/main" id="{EEAEF4BF-5039-6C23-B675-9771749FE17A}"/>
                </a:ext>
              </a:extLst>
            </p:cNvPr>
            <p:cNvSpPr>
              <a:spLocks noGrp="1"/>
            </p:cNvSpPr>
            <p:nvPr/>
          </p:nvSpPr>
          <p:spPr>
            <a:xfrm>
              <a:off x="5170396" y="8724900"/>
              <a:ext cx="57340" cy="66675"/>
            </a:xfrm>
            <a:custGeom>
              <a:avLst/>
              <a:gdLst/>
              <a:ahLst/>
              <a:cxnLst/>
              <a:rect l="0" t="0" r="0" b="0"/>
              <a:pathLst>
                <a:path w="57340" h="66675">
                  <a:moveTo>
                    <a:pt x="28670" y="66675"/>
                  </a:moveTo>
                  <a:lnTo>
                    <a:pt x="57340" y="0"/>
                  </a:lnTo>
                  <a:lnTo>
                    <a:pt x="0" y="0"/>
                  </a:lnTo>
                  <a:close/>
                </a:path>
              </a:pathLst>
            </a:custGeom>
            <a:solidFill>
              <a:srgbClr val="4083B4"/>
            </a:solidFill>
            <a:ln w="0">
              <a:noFill/>
              <a:prstDash val="solid"/>
            </a:ln>
          </p:spPr>
        </p:sp>
        <p:sp>
          <p:nvSpPr>
            <p:cNvPr id="1387" name="Summary to cross attention refined">
              <a:extLst>
                <a:ext uri="{FF2B5EF4-FFF2-40B4-BE49-F238E27FC236}">
                  <a16:creationId xmlns:a16="http://schemas.microsoft.com/office/drawing/2014/main" id="{EFD90DBF-A222-410E-15F3-D541CA16A8AE}"/>
                </a:ext>
              </a:extLst>
            </p:cNvPr>
            <p:cNvSpPr>
              <a:spLocks noGrp="1"/>
            </p:cNvSpPr>
            <p:nvPr/>
          </p:nvSpPr>
          <p:spPr>
            <a:xfrm>
              <a:off x="4534221" y="8297132"/>
              <a:ext cx="664845" cy="191"/>
            </a:xfrm>
            <a:custGeom>
              <a:avLst/>
              <a:gdLst/>
              <a:ahLst/>
              <a:cxnLst/>
              <a:rect l="0" t="0" r="0" b="0"/>
              <a:pathLst>
                <a:path w="664845" h="191">
                  <a:moveTo>
                    <a:pt x="664845" y="0"/>
                  </a:moveTo>
                  <a:lnTo>
                    <a:pt x="0" y="0"/>
                  </a:lnTo>
                </a:path>
              </a:pathLst>
            </a:custGeom>
            <a:noFill/>
            <a:ln w="8505">
              <a:solidFill>
                <a:srgbClr val="4083B4"/>
              </a:solidFill>
              <a:prstDash val="solid"/>
            </a:ln>
          </p:spPr>
        </p:sp>
        <p:sp>
          <p:nvSpPr>
            <p:cNvPr id="1388" name="Summary to cross attention refined head">
              <a:extLst>
                <a:ext uri="{FF2B5EF4-FFF2-40B4-BE49-F238E27FC236}">
                  <a16:creationId xmlns:a16="http://schemas.microsoft.com/office/drawing/2014/main" id="{91B08F31-0339-9716-3395-2B3F8970BA82}"/>
                </a:ext>
              </a:extLst>
            </p:cNvPr>
            <p:cNvSpPr>
              <a:spLocks noGrp="1"/>
            </p:cNvSpPr>
            <p:nvPr/>
          </p:nvSpPr>
          <p:spPr>
            <a:xfrm>
              <a:off x="4510885" y="8268462"/>
              <a:ext cx="66675" cy="57340"/>
            </a:xfrm>
            <a:custGeom>
              <a:avLst/>
              <a:gdLst/>
              <a:ahLst/>
              <a:cxnLst/>
              <a:rect l="0" t="0" r="0" b="0"/>
              <a:pathLst>
                <a:path w="66675" h="57340">
                  <a:moveTo>
                    <a:pt x="0" y="28670"/>
                  </a:moveTo>
                  <a:lnTo>
                    <a:pt x="66675" y="57340"/>
                  </a:lnTo>
                  <a:lnTo>
                    <a:pt x="66675" y="0"/>
                  </a:lnTo>
                  <a:close/>
                </a:path>
              </a:pathLst>
            </a:custGeom>
            <a:solidFill>
              <a:srgbClr val="4083B4"/>
            </a:solidFill>
            <a:ln w="0">
              <a:noFill/>
              <a:prstDash val="solid"/>
            </a:ln>
          </p:spPr>
        </p:sp>
        <p:sp>
          <p:nvSpPr>
            <p:cNvPr id="1389" name="FiLM to candidate refined">
              <a:extLst>
                <a:ext uri="{FF2B5EF4-FFF2-40B4-BE49-F238E27FC236}">
                  <a16:creationId xmlns:a16="http://schemas.microsoft.com/office/drawing/2014/main" id="{25FC3F76-C3DD-1537-7837-64B9361AE243}"/>
                </a:ext>
              </a:extLst>
            </p:cNvPr>
            <p:cNvSpPr>
              <a:spLocks noGrp="1"/>
            </p:cNvSpPr>
            <p:nvPr/>
          </p:nvSpPr>
          <p:spPr>
            <a:xfrm>
              <a:off x="5199066" y="9144953"/>
              <a:ext cx="191" cy="215360"/>
            </a:xfrm>
            <a:custGeom>
              <a:avLst/>
              <a:gdLst/>
              <a:ahLst/>
              <a:cxnLst/>
              <a:rect l="0" t="0" r="0" b="0"/>
              <a:pathLst>
                <a:path w="191" h="215360">
                  <a:moveTo>
                    <a:pt x="0" y="0"/>
                  </a:moveTo>
                  <a:lnTo>
                    <a:pt x="0" y="215360"/>
                  </a:lnTo>
                </a:path>
              </a:pathLst>
            </a:custGeom>
            <a:noFill/>
            <a:ln w="8505">
              <a:solidFill>
                <a:srgbClr val="3B8C80"/>
              </a:solidFill>
              <a:prstDash val="solid"/>
            </a:ln>
          </p:spPr>
        </p:sp>
        <p:sp>
          <p:nvSpPr>
            <p:cNvPr id="1390" name="FiLM to candidate refined head">
              <a:extLst>
                <a:ext uri="{FF2B5EF4-FFF2-40B4-BE49-F238E27FC236}">
                  <a16:creationId xmlns:a16="http://schemas.microsoft.com/office/drawing/2014/main" id="{7A05C2E3-B0E7-7DA8-4847-EC91C004D35D}"/>
                </a:ext>
              </a:extLst>
            </p:cNvPr>
            <p:cNvSpPr>
              <a:spLocks noGrp="1"/>
            </p:cNvSpPr>
            <p:nvPr/>
          </p:nvSpPr>
          <p:spPr>
            <a:xfrm>
              <a:off x="5170396" y="9316974"/>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91" name="Candidate to foreground refined">
              <a:extLst>
                <a:ext uri="{FF2B5EF4-FFF2-40B4-BE49-F238E27FC236}">
                  <a16:creationId xmlns:a16="http://schemas.microsoft.com/office/drawing/2014/main" id="{FE203BD6-3778-87C2-8526-E332B5B380C4}"/>
                </a:ext>
              </a:extLst>
            </p:cNvPr>
            <p:cNvSpPr>
              <a:spLocks noGrp="1"/>
            </p:cNvSpPr>
            <p:nvPr/>
          </p:nvSpPr>
          <p:spPr>
            <a:xfrm>
              <a:off x="2390048" y="9525000"/>
              <a:ext cx="2809018" cy="286702"/>
            </a:xfrm>
            <a:custGeom>
              <a:avLst/>
              <a:gdLst/>
              <a:ahLst/>
              <a:cxnLst/>
              <a:rect l="0" t="0" r="0" b="0"/>
              <a:pathLst>
                <a:path w="2809018" h="286702">
                  <a:moveTo>
                    <a:pt x="2809018" y="0"/>
                  </a:moveTo>
                  <a:lnTo>
                    <a:pt x="2809018" y="95250"/>
                  </a:lnTo>
                  <a:lnTo>
                    <a:pt x="0" y="95250"/>
                  </a:lnTo>
                  <a:lnTo>
                    <a:pt x="0" y="286702"/>
                  </a:lnTo>
                </a:path>
              </a:pathLst>
            </a:custGeom>
            <a:noFill/>
            <a:ln w="8505">
              <a:solidFill>
                <a:srgbClr val="3B8C80"/>
              </a:solidFill>
              <a:prstDash val="solid"/>
            </a:ln>
          </p:spPr>
        </p:sp>
        <p:sp>
          <p:nvSpPr>
            <p:cNvPr id="1392" name="Candidate to foreground refined head">
              <a:extLst>
                <a:ext uri="{FF2B5EF4-FFF2-40B4-BE49-F238E27FC236}">
                  <a16:creationId xmlns:a16="http://schemas.microsoft.com/office/drawing/2014/main" id="{D2B7433A-243E-C206-1CB1-3F191E6AD029}"/>
                </a:ext>
              </a:extLst>
            </p:cNvPr>
            <p:cNvSpPr>
              <a:spLocks noGrp="1"/>
            </p:cNvSpPr>
            <p:nvPr/>
          </p:nvSpPr>
          <p:spPr>
            <a:xfrm>
              <a:off x="2361378" y="9768364"/>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93" name="Foreground to probability refined">
              <a:extLst>
                <a:ext uri="{FF2B5EF4-FFF2-40B4-BE49-F238E27FC236}">
                  <a16:creationId xmlns:a16="http://schemas.microsoft.com/office/drawing/2014/main" id="{D5A6B998-ADFA-E982-8C35-E6D90114C21C}"/>
                </a:ext>
              </a:extLst>
            </p:cNvPr>
            <p:cNvSpPr>
              <a:spLocks noGrp="1"/>
            </p:cNvSpPr>
            <p:nvPr/>
          </p:nvSpPr>
          <p:spPr>
            <a:xfrm>
              <a:off x="3190053" y="9971532"/>
              <a:ext cx="600742" cy="191"/>
            </a:xfrm>
            <a:custGeom>
              <a:avLst/>
              <a:gdLst/>
              <a:ahLst/>
              <a:cxnLst/>
              <a:rect l="0" t="0" r="0" b="0"/>
              <a:pathLst>
                <a:path w="600742" h="191">
                  <a:moveTo>
                    <a:pt x="0" y="0"/>
                  </a:moveTo>
                  <a:lnTo>
                    <a:pt x="600742" y="0"/>
                  </a:lnTo>
                </a:path>
              </a:pathLst>
            </a:custGeom>
            <a:noFill/>
            <a:ln w="8505">
              <a:solidFill>
                <a:srgbClr val="3B8C80"/>
              </a:solidFill>
              <a:prstDash val="solid"/>
            </a:ln>
          </p:spPr>
        </p:sp>
        <p:sp>
          <p:nvSpPr>
            <p:cNvPr id="1394" name="Foreground to probability refined head">
              <a:extLst>
                <a:ext uri="{FF2B5EF4-FFF2-40B4-BE49-F238E27FC236}">
                  <a16:creationId xmlns:a16="http://schemas.microsoft.com/office/drawing/2014/main" id="{660BE4D6-2608-6E09-7FF4-AD7C50994699}"/>
                </a:ext>
              </a:extLst>
            </p:cNvPr>
            <p:cNvSpPr>
              <a:spLocks noGrp="1"/>
            </p:cNvSpPr>
            <p:nvPr/>
          </p:nvSpPr>
          <p:spPr>
            <a:xfrm>
              <a:off x="3747456" y="9942862"/>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395" name="Candidate to cosine refined">
              <a:extLst>
                <a:ext uri="{FF2B5EF4-FFF2-40B4-BE49-F238E27FC236}">
                  <a16:creationId xmlns:a16="http://schemas.microsoft.com/office/drawing/2014/main" id="{22A5040B-9402-AB7D-9094-F4BF5F10ADD2}"/>
                </a:ext>
              </a:extLst>
            </p:cNvPr>
            <p:cNvSpPr>
              <a:spLocks noGrp="1"/>
            </p:cNvSpPr>
            <p:nvPr/>
          </p:nvSpPr>
          <p:spPr>
            <a:xfrm>
              <a:off x="5199066" y="9525000"/>
              <a:ext cx="2478033" cy="446532"/>
            </a:xfrm>
            <a:custGeom>
              <a:avLst/>
              <a:gdLst/>
              <a:ahLst/>
              <a:cxnLst/>
              <a:rect l="0" t="0" r="0" b="0"/>
              <a:pathLst>
                <a:path w="2143887" h="446532">
                  <a:moveTo>
                    <a:pt x="0" y="0"/>
                  </a:moveTo>
                  <a:lnTo>
                    <a:pt x="0" y="446532"/>
                  </a:lnTo>
                  <a:lnTo>
                    <a:pt x="2143887" y="446532"/>
                  </a:lnTo>
                </a:path>
              </a:pathLst>
            </a:custGeom>
            <a:noFill/>
            <a:ln w="8505">
              <a:solidFill>
                <a:srgbClr val="3B8C80"/>
              </a:solidFill>
              <a:prstDash val="solid"/>
            </a:ln>
          </p:spPr>
        </p:sp>
        <p:sp>
          <p:nvSpPr>
            <p:cNvPr id="1396" name="Candidate to cosine refined head">
              <a:extLst>
                <a:ext uri="{FF2B5EF4-FFF2-40B4-BE49-F238E27FC236}">
                  <a16:creationId xmlns:a16="http://schemas.microsoft.com/office/drawing/2014/main" id="{D0F3AAE9-EBC0-FC07-AF0A-FBDAD938D93E}"/>
                </a:ext>
              </a:extLst>
            </p:cNvPr>
            <p:cNvSpPr>
              <a:spLocks noGrp="1"/>
            </p:cNvSpPr>
            <p:nvPr/>
          </p:nvSpPr>
          <p:spPr>
            <a:xfrm>
              <a:off x="7633759" y="9942862"/>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397" name="Selected identity to graph refined">
              <a:extLst>
                <a:ext uri="{FF2B5EF4-FFF2-40B4-BE49-F238E27FC236}">
                  <a16:creationId xmlns:a16="http://schemas.microsoft.com/office/drawing/2014/main" id="{2545D43E-9B8D-BA3E-80CD-880BD63B35AE}"/>
                </a:ext>
              </a:extLst>
            </p:cNvPr>
            <p:cNvSpPr>
              <a:spLocks noGrp="1"/>
            </p:cNvSpPr>
            <p:nvPr/>
          </p:nvSpPr>
          <p:spPr>
            <a:xfrm>
              <a:off x="7067879" y="6134481"/>
              <a:ext cx="651129" cy="595217"/>
            </a:xfrm>
            <a:custGeom>
              <a:avLst/>
              <a:gdLst/>
              <a:ahLst/>
              <a:cxnLst/>
              <a:rect l="0" t="0" r="0" b="0"/>
              <a:pathLst>
                <a:path w="651129" h="595217">
                  <a:moveTo>
                    <a:pt x="651129" y="0"/>
                  </a:moveTo>
                  <a:lnTo>
                    <a:pt x="0" y="0"/>
                  </a:lnTo>
                  <a:lnTo>
                    <a:pt x="0" y="595217"/>
                  </a:lnTo>
                </a:path>
              </a:pathLst>
            </a:custGeom>
            <a:noFill/>
            <a:ln w="8505">
              <a:solidFill>
                <a:srgbClr val="3B8C80"/>
              </a:solidFill>
              <a:prstDash val="solid"/>
            </a:ln>
          </p:spPr>
        </p:sp>
        <p:sp>
          <p:nvSpPr>
            <p:cNvPr id="1398" name="Selected identity to graph refined head">
              <a:extLst>
                <a:ext uri="{FF2B5EF4-FFF2-40B4-BE49-F238E27FC236}">
                  <a16:creationId xmlns:a16="http://schemas.microsoft.com/office/drawing/2014/main" id="{2F033F6F-AC85-37DE-479C-D063C3DB8E25}"/>
                </a:ext>
              </a:extLst>
            </p:cNvPr>
            <p:cNvSpPr>
              <a:spLocks noGrp="1"/>
            </p:cNvSpPr>
            <p:nvPr/>
          </p:nvSpPr>
          <p:spPr>
            <a:xfrm>
              <a:off x="7039209" y="6686360"/>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99" name="Graph to GNN refined">
              <a:extLst>
                <a:ext uri="{FF2B5EF4-FFF2-40B4-BE49-F238E27FC236}">
                  <a16:creationId xmlns:a16="http://schemas.microsoft.com/office/drawing/2014/main" id="{7EF864D3-D6E3-5180-82C2-0A0AE886C150}"/>
                </a:ext>
              </a:extLst>
            </p:cNvPr>
            <p:cNvSpPr>
              <a:spLocks noGrp="1"/>
            </p:cNvSpPr>
            <p:nvPr/>
          </p:nvSpPr>
          <p:spPr>
            <a:xfrm>
              <a:off x="7067879" y="7441406"/>
              <a:ext cx="191" cy="153448"/>
            </a:xfrm>
            <a:custGeom>
              <a:avLst/>
              <a:gdLst/>
              <a:ahLst/>
              <a:cxnLst/>
              <a:rect l="0" t="0" r="0" b="0"/>
              <a:pathLst>
                <a:path w="191" h="153448">
                  <a:moveTo>
                    <a:pt x="0" y="0"/>
                  </a:moveTo>
                  <a:lnTo>
                    <a:pt x="0" y="153448"/>
                  </a:lnTo>
                </a:path>
              </a:pathLst>
            </a:custGeom>
            <a:noFill/>
            <a:ln w="8505">
              <a:solidFill>
                <a:srgbClr val="3B8C80"/>
              </a:solidFill>
              <a:prstDash val="solid"/>
            </a:ln>
          </p:spPr>
        </p:sp>
        <p:sp>
          <p:nvSpPr>
            <p:cNvPr id="1400" name="Graph to GNN refined head">
              <a:extLst>
                <a:ext uri="{FF2B5EF4-FFF2-40B4-BE49-F238E27FC236}">
                  <a16:creationId xmlns:a16="http://schemas.microsoft.com/office/drawing/2014/main" id="{B23BD653-4893-2671-9B86-7F888A6E5617}"/>
                </a:ext>
              </a:extLst>
            </p:cNvPr>
            <p:cNvSpPr>
              <a:spLocks noGrp="1"/>
            </p:cNvSpPr>
            <p:nvPr/>
          </p:nvSpPr>
          <p:spPr>
            <a:xfrm>
              <a:off x="7039209" y="7551515"/>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1" name="GNN to graph attention refined">
              <a:extLst>
                <a:ext uri="{FF2B5EF4-FFF2-40B4-BE49-F238E27FC236}">
                  <a16:creationId xmlns:a16="http://schemas.microsoft.com/office/drawing/2014/main" id="{B0DCC1B2-7C1A-332C-0127-08382278DBC6}"/>
                </a:ext>
              </a:extLst>
            </p:cNvPr>
            <p:cNvSpPr>
              <a:spLocks noGrp="1"/>
            </p:cNvSpPr>
            <p:nvPr/>
          </p:nvSpPr>
          <p:spPr>
            <a:xfrm>
              <a:off x="7067879" y="7934420"/>
              <a:ext cx="191" cy="274320"/>
            </a:xfrm>
            <a:custGeom>
              <a:avLst/>
              <a:gdLst/>
              <a:ahLst/>
              <a:cxnLst/>
              <a:rect l="0" t="0" r="0" b="0"/>
              <a:pathLst>
                <a:path w="191" h="274320">
                  <a:moveTo>
                    <a:pt x="0" y="0"/>
                  </a:moveTo>
                  <a:lnTo>
                    <a:pt x="0" y="274320"/>
                  </a:lnTo>
                </a:path>
              </a:pathLst>
            </a:custGeom>
            <a:noFill/>
            <a:ln w="8505">
              <a:solidFill>
                <a:srgbClr val="3B8C80"/>
              </a:solidFill>
              <a:prstDash val="solid"/>
            </a:ln>
          </p:spPr>
        </p:sp>
        <p:sp>
          <p:nvSpPr>
            <p:cNvPr id="1402" name="GNN to graph attention refined head">
              <a:extLst>
                <a:ext uri="{FF2B5EF4-FFF2-40B4-BE49-F238E27FC236}">
                  <a16:creationId xmlns:a16="http://schemas.microsoft.com/office/drawing/2014/main" id="{F5D1A0D2-1869-EB89-61A3-D3ABFE580C35}"/>
                </a:ext>
              </a:extLst>
            </p:cNvPr>
            <p:cNvSpPr>
              <a:spLocks noGrp="1"/>
            </p:cNvSpPr>
            <p:nvPr/>
          </p:nvSpPr>
          <p:spPr>
            <a:xfrm>
              <a:off x="7039209" y="8165402"/>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3" name="Identity to SMI-TED refined">
              <a:extLst>
                <a:ext uri="{FF2B5EF4-FFF2-40B4-BE49-F238E27FC236}">
                  <a16:creationId xmlns:a16="http://schemas.microsoft.com/office/drawing/2014/main" id="{416B661C-118E-CA99-59DC-DA4857A74E2E}"/>
                </a:ext>
              </a:extLst>
            </p:cNvPr>
            <p:cNvSpPr>
              <a:spLocks noGrp="1"/>
            </p:cNvSpPr>
            <p:nvPr/>
          </p:nvSpPr>
          <p:spPr>
            <a:xfrm>
              <a:off x="8637980" y="6638068"/>
              <a:ext cx="191" cy="326993"/>
            </a:xfrm>
            <a:custGeom>
              <a:avLst/>
              <a:gdLst/>
              <a:ahLst/>
              <a:cxnLst/>
              <a:rect l="0" t="0" r="0" b="0"/>
              <a:pathLst>
                <a:path w="191" h="326993">
                  <a:moveTo>
                    <a:pt x="0" y="0"/>
                  </a:moveTo>
                  <a:lnTo>
                    <a:pt x="0" y="326993"/>
                  </a:lnTo>
                </a:path>
              </a:pathLst>
            </a:custGeom>
            <a:noFill/>
            <a:ln w="8505">
              <a:solidFill>
                <a:srgbClr val="3B8C80"/>
              </a:solidFill>
              <a:prstDash val="solid"/>
            </a:ln>
          </p:spPr>
        </p:sp>
        <p:sp>
          <p:nvSpPr>
            <p:cNvPr id="1404" name="Identity to SMI-TED refined head">
              <a:extLst>
                <a:ext uri="{FF2B5EF4-FFF2-40B4-BE49-F238E27FC236}">
                  <a16:creationId xmlns:a16="http://schemas.microsoft.com/office/drawing/2014/main" id="{0BA2F96A-2AFB-7C00-99C8-78C9DC78B848}"/>
                </a:ext>
              </a:extLst>
            </p:cNvPr>
            <p:cNvSpPr>
              <a:spLocks noGrp="1"/>
            </p:cNvSpPr>
            <p:nvPr/>
          </p:nvSpPr>
          <p:spPr>
            <a:xfrm>
              <a:off x="8609310" y="6921722"/>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5" name="SMI-TED to language refined">
              <a:extLst>
                <a:ext uri="{FF2B5EF4-FFF2-40B4-BE49-F238E27FC236}">
                  <a16:creationId xmlns:a16="http://schemas.microsoft.com/office/drawing/2014/main" id="{688B9630-847C-74A2-04EF-D75E08D7E423}"/>
                </a:ext>
              </a:extLst>
            </p:cNvPr>
            <p:cNvSpPr>
              <a:spLocks noGrp="1"/>
            </p:cNvSpPr>
            <p:nvPr/>
          </p:nvSpPr>
          <p:spPr>
            <a:xfrm>
              <a:off x="8637980" y="7304627"/>
              <a:ext cx="191" cy="1013841"/>
            </a:xfrm>
            <a:custGeom>
              <a:avLst/>
              <a:gdLst/>
              <a:ahLst/>
              <a:cxnLst/>
              <a:rect l="0" t="0" r="0" b="0"/>
              <a:pathLst>
                <a:path w="191" h="1013841">
                  <a:moveTo>
                    <a:pt x="0" y="0"/>
                  </a:moveTo>
                  <a:lnTo>
                    <a:pt x="0" y="1013841"/>
                  </a:lnTo>
                </a:path>
              </a:pathLst>
            </a:custGeom>
            <a:noFill/>
            <a:ln w="8505">
              <a:solidFill>
                <a:srgbClr val="3B8C80"/>
              </a:solidFill>
              <a:prstDash val="solid"/>
            </a:ln>
          </p:spPr>
        </p:sp>
        <p:sp>
          <p:nvSpPr>
            <p:cNvPr id="1406" name="SMI-TED to language refined head">
              <a:extLst>
                <a:ext uri="{FF2B5EF4-FFF2-40B4-BE49-F238E27FC236}">
                  <a16:creationId xmlns:a16="http://schemas.microsoft.com/office/drawing/2014/main" id="{7251A2B8-D12B-A433-6B0D-10AA76953AAB}"/>
                </a:ext>
              </a:extLst>
            </p:cNvPr>
            <p:cNvSpPr>
              <a:spLocks noGrp="1"/>
            </p:cNvSpPr>
            <p:nvPr/>
          </p:nvSpPr>
          <p:spPr>
            <a:xfrm>
              <a:off x="8609310" y="8275130"/>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7" name="Other identities refined">
              <a:extLst>
                <a:ext uri="{FF2B5EF4-FFF2-40B4-BE49-F238E27FC236}">
                  <a16:creationId xmlns:a16="http://schemas.microsoft.com/office/drawing/2014/main" id="{A4787BA6-E950-16B8-B01A-9B4C92E13C7A}"/>
                </a:ext>
              </a:extLst>
            </p:cNvPr>
            <p:cNvSpPr>
              <a:spLocks noGrp="1"/>
            </p:cNvSpPr>
            <p:nvPr/>
          </p:nvSpPr>
          <p:spPr>
            <a:xfrm>
              <a:off x="9616579" y="5581174"/>
              <a:ext cx="613886" cy="1373695"/>
            </a:xfrm>
            <a:custGeom>
              <a:avLst/>
              <a:gdLst/>
              <a:ahLst/>
              <a:cxnLst/>
              <a:rect l="0" t="0" r="0" b="0"/>
              <a:pathLst>
                <a:path w="613886" h="1373695">
                  <a:moveTo>
                    <a:pt x="0" y="0"/>
                  </a:moveTo>
                  <a:lnTo>
                    <a:pt x="613886" y="0"/>
                  </a:lnTo>
                  <a:lnTo>
                    <a:pt x="613886" y="1373695"/>
                  </a:lnTo>
                </a:path>
              </a:pathLst>
            </a:custGeom>
            <a:noFill/>
            <a:ln w="8505">
              <a:solidFill>
                <a:srgbClr val="3B8C80"/>
              </a:solidFill>
              <a:prstDash val="solid"/>
            </a:ln>
          </p:spPr>
        </p:sp>
        <p:sp>
          <p:nvSpPr>
            <p:cNvPr id="1408" name="Other identities refined head">
              <a:extLst>
                <a:ext uri="{FF2B5EF4-FFF2-40B4-BE49-F238E27FC236}">
                  <a16:creationId xmlns:a16="http://schemas.microsoft.com/office/drawing/2014/main" id="{9D094DDB-3471-ECAC-BCA5-E9612E620328}"/>
                </a:ext>
              </a:extLst>
            </p:cNvPr>
            <p:cNvSpPr>
              <a:spLocks noGrp="1"/>
            </p:cNvSpPr>
            <p:nvPr/>
          </p:nvSpPr>
          <p:spPr>
            <a:xfrm>
              <a:off x="10201795" y="6911531"/>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9" name="Other identities middle refined">
              <a:extLst>
                <a:ext uri="{FF2B5EF4-FFF2-40B4-BE49-F238E27FC236}">
                  <a16:creationId xmlns:a16="http://schemas.microsoft.com/office/drawing/2014/main" id="{43A875F1-64CC-3AE0-16D0-832B017C6CB3}"/>
                </a:ext>
              </a:extLst>
            </p:cNvPr>
            <p:cNvSpPr>
              <a:spLocks noGrp="1"/>
            </p:cNvSpPr>
            <p:nvPr/>
          </p:nvSpPr>
          <p:spPr>
            <a:xfrm>
              <a:off x="9616579" y="5851112"/>
              <a:ext cx="613886" cy="191"/>
            </a:xfrm>
            <a:custGeom>
              <a:avLst/>
              <a:gdLst/>
              <a:ahLst/>
              <a:cxnLst/>
              <a:rect l="0" t="0" r="0" b="0"/>
              <a:pathLst>
                <a:path w="613886" h="191">
                  <a:moveTo>
                    <a:pt x="0" y="0"/>
                  </a:moveTo>
                  <a:lnTo>
                    <a:pt x="613886" y="0"/>
                  </a:lnTo>
                </a:path>
              </a:pathLst>
            </a:custGeom>
            <a:noFill/>
            <a:ln w="8505">
              <a:solidFill>
                <a:srgbClr val="3B8C80"/>
              </a:solidFill>
              <a:prstDash val="solid"/>
            </a:ln>
          </p:spPr>
        </p:sp>
        <p:sp>
          <p:nvSpPr>
            <p:cNvPr id="1410" name="Other identities lower refined">
              <a:extLst>
                <a:ext uri="{FF2B5EF4-FFF2-40B4-BE49-F238E27FC236}">
                  <a16:creationId xmlns:a16="http://schemas.microsoft.com/office/drawing/2014/main" id="{D83A070A-E1D1-4067-2310-74DC30F9F921}"/>
                </a:ext>
              </a:extLst>
            </p:cNvPr>
            <p:cNvSpPr>
              <a:spLocks noGrp="1"/>
            </p:cNvSpPr>
            <p:nvPr/>
          </p:nvSpPr>
          <p:spPr>
            <a:xfrm>
              <a:off x="9616579" y="6533293"/>
              <a:ext cx="613886" cy="191"/>
            </a:xfrm>
            <a:custGeom>
              <a:avLst/>
              <a:gdLst/>
              <a:ahLst/>
              <a:cxnLst/>
              <a:rect l="0" t="0" r="0" b="0"/>
              <a:pathLst>
                <a:path w="613886" h="191">
                  <a:moveTo>
                    <a:pt x="0" y="0"/>
                  </a:moveTo>
                  <a:lnTo>
                    <a:pt x="613886" y="0"/>
                  </a:lnTo>
                </a:path>
              </a:pathLst>
            </a:custGeom>
            <a:noFill/>
            <a:ln w="8505">
              <a:solidFill>
                <a:srgbClr val="3B8C80"/>
              </a:solidFill>
              <a:prstDash val="solid"/>
            </a:ln>
          </p:spPr>
        </p:sp>
        <p:sp>
          <p:nvSpPr>
            <p:cNvPr id="1411" name="Context SMI-TED to matrix refined">
              <a:extLst>
                <a:ext uri="{FF2B5EF4-FFF2-40B4-BE49-F238E27FC236}">
                  <a16:creationId xmlns:a16="http://schemas.microsoft.com/office/drawing/2014/main" id="{3BA39657-BA55-8B03-4B42-2E8CA0F2402A}"/>
                </a:ext>
              </a:extLst>
            </p:cNvPr>
            <p:cNvSpPr>
              <a:spLocks noGrp="1"/>
            </p:cNvSpPr>
            <p:nvPr/>
          </p:nvSpPr>
          <p:spPr>
            <a:xfrm>
              <a:off x="10240942" y="7294436"/>
              <a:ext cx="191" cy="264128"/>
            </a:xfrm>
            <a:custGeom>
              <a:avLst/>
              <a:gdLst/>
              <a:ahLst/>
              <a:cxnLst/>
              <a:rect l="0" t="0" r="0" b="0"/>
              <a:pathLst>
                <a:path w="191" h="264128">
                  <a:moveTo>
                    <a:pt x="0" y="0"/>
                  </a:moveTo>
                  <a:lnTo>
                    <a:pt x="0" y="264128"/>
                  </a:lnTo>
                </a:path>
              </a:pathLst>
            </a:custGeom>
            <a:noFill/>
            <a:ln w="8505">
              <a:solidFill>
                <a:srgbClr val="3B8C80"/>
              </a:solidFill>
              <a:prstDash val="solid"/>
            </a:ln>
          </p:spPr>
        </p:sp>
        <p:sp>
          <p:nvSpPr>
            <p:cNvPr id="1412" name="Context SMI-TED to matrix refined head">
              <a:extLst>
                <a:ext uri="{FF2B5EF4-FFF2-40B4-BE49-F238E27FC236}">
                  <a16:creationId xmlns:a16="http://schemas.microsoft.com/office/drawing/2014/main" id="{46BBCF7E-77B7-430B-5E68-8D5D4D07C9BA}"/>
                </a:ext>
              </a:extLst>
            </p:cNvPr>
            <p:cNvSpPr>
              <a:spLocks noGrp="1"/>
            </p:cNvSpPr>
            <p:nvPr/>
          </p:nvSpPr>
          <p:spPr>
            <a:xfrm>
              <a:off x="10212272" y="7515225"/>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13" name="Context matrix to attention refined">
              <a:extLst>
                <a:ext uri="{FF2B5EF4-FFF2-40B4-BE49-F238E27FC236}">
                  <a16:creationId xmlns:a16="http://schemas.microsoft.com/office/drawing/2014/main" id="{19123C2B-08C0-5942-5974-56E3DB290164}"/>
                </a:ext>
              </a:extLst>
            </p:cNvPr>
            <p:cNvSpPr>
              <a:spLocks noGrp="1"/>
            </p:cNvSpPr>
            <p:nvPr/>
          </p:nvSpPr>
          <p:spPr>
            <a:xfrm>
              <a:off x="10230465" y="7958995"/>
              <a:ext cx="191" cy="249745"/>
            </a:xfrm>
            <a:custGeom>
              <a:avLst/>
              <a:gdLst/>
              <a:ahLst/>
              <a:cxnLst/>
              <a:rect l="0" t="0" r="0" b="0"/>
              <a:pathLst>
                <a:path w="191" h="249745">
                  <a:moveTo>
                    <a:pt x="0" y="0"/>
                  </a:moveTo>
                  <a:lnTo>
                    <a:pt x="0" y="249745"/>
                  </a:lnTo>
                </a:path>
              </a:pathLst>
            </a:custGeom>
            <a:noFill/>
            <a:ln w="8505">
              <a:solidFill>
                <a:srgbClr val="3B8C80"/>
              </a:solidFill>
              <a:prstDash val="solid"/>
            </a:ln>
          </p:spPr>
        </p:sp>
        <p:sp>
          <p:nvSpPr>
            <p:cNvPr id="1414" name="Context matrix to attention refined head">
              <a:extLst>
                <a:ext uri="{FF2B5EF4-FFF2-40B4-BE49-F238E27FC236}">
                  <a16:creationId xmlns:a16="http://schemas.microsoft.com/office/drawing/2014/main" id="{F6D726DD-707A-38A3-9C89-49061435E2BF}"/>
                </a:ext>
              </a:extLst>
            </p:cNvPr>
            <p:cNvSpPr>
              <a:spLocks noGrp="1"/>
            </p:cNvSpPr>
            <p:nvPr/>
          </p:nvSpPr>
          <p:spPr>
            <a:xfrm>
              <a:off x="10201795" y="8165402"/>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15" name="Language query left refined">
              <a:extLst>
                <a:ext uri="{FF2B5EF4-FFF2-40B4-BE49-F238E27FC236}">
                  <a16:creationId xmlns:a16="http://schemas.microsoft.com/office/drawing/2014/main" id="{739AFAAD-E669-E2AC-687E-E59FC6E7FAD2}"/>
                </a:ext>
              </a:extLst>
            </p:cNvPr>
            <p:cNvSpPr>
              <a:spLocks noGrp="1"/>
            </p:cNvSpPr>
            <p:nvPr/>
          </p:nvSpPr>
          <p:spPr>
            <a:xfrm>
              <a:off x="7816735" y="8408765"/>
              <a:ext cx="479012" cy="191"/>
            </a:xfrm>
            <a:custGeom>
              <a:avLst/>
              <a:gdLst/>
              <a:ahLst/>
              <a:cxnLst/>
              <a:rect l="0" t="0" r="0" b="0"/>
              <a:pathLst>
                <a:path w="479012" h="191">
                  <a:moveTo>
                    <a:pt x="479012" y="0"/>
                  </a:moveTo>
                  <a:lnTo>
                    <a:pt x="0" y="0"/>
                  </a:lnTo>
                </a:path>
              </a:pathLst>
            </a:custGeom>
            <a:noFill/>
            <a:ln w="8505">
              <a:solidFill>
                <a:srgbClr val="3B8C80"/>
              </a:solidFill>
              <a:prstDash val="solid"/>
            </a:ln>
          </p:spPr>
        </p:sp>
        <p:sp>
          <p:nvSpPr>
            <p:cNvPr id="1416" name="Language query left refined head">
              <a:extLst>
                <a:ext uri="{FF2B5EF4-FFF2-40B4-BE49-F238E27FC236}">
                  <a16:creationId xmlns:a16="http://schemas.microsoft.com/office/drawing/2014/main" id="{98D92A42-D662-B44C-CD57-583BDD75174C}"/>
                </a:ext>
              </a:extLst>
            </p:cNvPr>
            <p:cNvSpPr>
              <a:spLocks noGrp="1"/>
            </p:cNvSpPr>
            <p:nvPr/>
          </p:nvSpPr>
          <p:spPr>
            <a:xfrm>
              <a:off x="7793398" y="8380095"/>
              <a:ext cx="66675" cy="57340"/>
            </a:xfrm>
            <a:custGeom>
              <a:avLst/>
              <a:gdLst/>
              <a:ahLst/>
              <a:cxnLst/>
              <a:rect l="0" t="0" r="0" b="0"/>
              <a:pathLst>
                <a:path w="66675" h="57340">
                  <a:moveTo>
                    <a:pt x="0" y="28670"/>
                  </a:moveTo>
                  <a:lnTo>
                    <a:pt x="66675" y="57340"/>
                  </a:lnTo>
                  <a:lnTo>
                    <a:pt x="66675" y="0"/>
                  </a:lnTo>
                  <a:close/>
                </a:path>
              </a:pathLst>
            </a:custGeom>
            <a:solidFill>
              <a:srgbClr val="3B8C80"/>
            </a:solidFill>
            <a:ln w="0">
              <a:noFill/>
              <a:prstDash val="solid"/>
            </a:ln>
          </p:spPr>
        </p:sp>
        <p:sp>
          <p:nvSpPr>
            <p:cNvPr id="1417" name="Language query right refined">
              <a:extLst>
                <a:ext uri="{FF2B5EF4-FFF2-40B4-BE49-F238E27FC236}">
                  <a16:creationId xmlns:a16="http://schemas.microsoft.com/office/drawing/2014/main" id="{97C332FD-B4F7-4A69-7F24-BE35ED3CC233}"/>
                </a:ext>
              </a:extLst>
            </p:cNvPr>
            <p:cNvSpPr>
              <a:spLocks noGrp="1"/>
            </p:cNvSpPr>
            <p:nvPr/>
          </p:nvSpPr>
          <p:spPr>
            <a:xfrm>
              <a:off x="8965450" y="8408765"/>
              <a:ext cx="478917" cy="191"/>
            </a:xfrm>
            <a:custGeom>
              <a:avLst/>
              <a:gdLst/>
              <a:ahLst/>
              <a:cxnLst/>
              <a:rect l="0" t="0" r="0" b="0"/>
              <a:pathLst>
                <a:path w="478917" h="191">
                  <a:moveTo>
                    <a:pt x="0" y="0"/>
                  </a:moveTo>
                  <a:lnTo>
                    <a:pt x="478917" y="0"/>
                  </a:lnTo>
                </a:path>
              </a:pathLst>
            </a:custGeom>
            <a:noFill/>
            <a:ln w="8505">
              <a:solidFill>
                <a:srgbClr val="3B8C80"/>
              </a:solidFill>
              <a:prstDash val="solid"/>
            </a:ln>
          </p:spPr>
        </p:sp>
        <p:sp>
          <p:nvSpPr>
            <p:cNvPr id="1418" name="Language query right refined head">
              <a:extLst>
                <a:ext uri="{FF2B5EF4-FFF2-40B4-BE49-F238E27FC236}">
                  <a16:creationId xmlns:a16="http://schemas.microsoft.com/office/drawing/2014/main" id="{4B6A3B32-B3D1-5F9B-FDB9-6517BE3635C2}"/>
                </a:ext>
              </a:extLst>
            </p:cNvPr>
            <p:cNvSpPr>
              <a:spLocks noGrp="1"/>
            </p:cNvSpPr>
            <p:nvPr/>
          </p:nvSpPr>
          <p:spPr>
            <a:xfrm>
              <a:off x="9401028" y="8380095"/>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419" name="Language to fusion refined">
              <a:extLst>
                <a:ext uri="{FF2B5EF4-FFF2-40B4-BE49-F238E27FC236}">
                  <a16:creationId xmlns:a16="http://schemas.microsoft.com/office/drawing/2014/main" id="{CC1BD470-88ED-E459-BC64-3926AF1B81FC}"/>
                </a:ext>
              </a:extLst>
            </p:cNvPr>
            <p:cNvSpPr>
              <a:spLocks noGrp="1"/>
            </p:cNvSpPr>
            <p:nvPr/>
          </p:nvSpPr>
          <p:spPr>
            <a:xfrm>
              <a:off x="8630551" y="8475726"/>
              <a:ext cx="191" cy="281845"/>
            </a:xfrm>
            <a:custGeom>
              <a:avLst/>
              <a:gdLst/>
              <a:ahLst/>
              <a:cxnLst/>
              <a:rect l="0" t="0" r="0" b="0"/>
              <a:pathLst>
                <a:path w="191" h="281845">
                  <a:moveTo>
                    <a:pt x="0" y="0"/>
                  </a:moveTo>
                  <a:lnTo>
                    <a:pt x="0" y="281845"/>
                  </a:lnTo>
                </a:path>
              </a:pathLst>
            </a:custGeom>
            <a:noFill/>
            <a:ln w="8505">
              <a:solidFill>
                <a:srgbClr val="3B8C80"/>
              </a:solidFill>
              <a:prstDash val="solid"/>
            </a:ln>
          </p:spPr>
        </p:sp>
        <p:sp>
          <p:nvSpPr>
            <p:cNvPr id="1420" name="Language to fusion refined head">
              <a:extLst>
                <a:ext uri="{FF2B5EF4-FFF2-40B4-BE49-F238E27FC236}">
                  <a16:creationId xmlns:a16="http://schemas.microsoft.com/office/drawing/2014/main" id="{7DE28A53-D82C-C158-A00E-484E630E57C6}"/>
                </a:ext>
              </a:extLst>
            </p:cNvPr>
            <p:cNvSpPr>
              <a:spLocks noGrp="1"/>
            </p:cNvSpPr>
            <p:nvPr/>
          </p:nvSpPr>
          <p:spPr>
            <a:xfrm>
              <a:off x="8601880" y="8714232"/>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21" name="Graph attention to fusion refined">
              <a:extLst>
                <a:ext uri="{FF2B5EF4-FFF2-40B4-BE49-F238E27FC236}">
                  <a16:creationId xmlns:a16="http://schemas.microsoft.com/office/drawing/2014/main" id="{9DE07E88-6455-6397-3B15-5E2794D66EC1}"/>
                </a:ext>
              </a:extLst>
            </p:cNvPr>
            <p:cNvSpPr>
              <a:spLocks noGrp="1"/>
            </p:cNvSpPr>
            <p:nvPr/>
          </p:nvSpPr>
          <p:spPr>
            <a:xfrm>
              <a:off x="7067879" y="8585549"/>
              <a:ext cx="1092899" cy="362807"/>
            </a:xfrm>
            <a:custGeom>
              <a:avLst/>
              <a:gdLst/>
              <a:ahLst/>
              <a:cxnLst/>
              <a:rect l="0" t="0" r="0" b="0"/>
              <a:pathLst>
                <a:path w="1092899" h="362807">
                  <a:moveTo>
                    <a:pt x="0" y="0"/>
                  </a:moveTo>
                  <a:lnTo>
                    <a:pt x="0" y="362807"/>
                  </a:lnTo>
                  <a:lnTo>
                    <a:pt x="1092899" y="362807"/>
                  </a:lnTo>
                </a:path>
              </a:pathLst>
            </a:custGeom>
            <a:noFill/>
            <a:ln w="8505">
              <a:solidFill>
                <a:srgbClr val="3B8C80"/>
              </a:solidFill>
              <a:prstDash val="solid"/>
            </a:ln>
          </p:spPr>
        </p:sp>
        <p:sp>
          <p:nvSpPr>
            <p:cNvPr id="1422" name="Graph attention to fusion refined head">
              <a:extLst>
                <a:ext uri="{FF2B5EF4-FFF2-40B4-BE49-F238E27FC236}">
                  <a16:creationId xmlns:a16="http://schemas.microsoft.com/office/drawing/2014/main" id="{80249588-4991-7EA9-C183-E31DFF970425}"/>
                </a:ext>
              </a:extLst>
            </p:cNvPr>
            <p:cNvSpPr>
              <a:spLocks noGrp="1"/>
            </p:cNvSpPr>
            <p:nvPr/>
          </p:nvSpPr>
          <p:spPr>
            <a:xfrm>
              <a:off x="8117439" y="8919686"/>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423" name="Context attention to fusion refined">
              <a:extLst>
                <a:ext uri="{FF2B5EF4-FFF2-40B4-BE49-F238E27FC236}">
                  <a16:creationId xmlns:a16="http://schemas.microsoft.com/office/drawing/2014/main" id="{EB1CDE84-2AAC-05C7-2AC2-7F0CD69C4010}"/>
                </a:ext>
              </a:extLst>
            </p:cNvPr>
            <p:cNvSpPr>
              <a:spLocks noGrp="1"/>
            </p:cNvSpPr>
            <p:nvPr/>
          </p:nvSpPr>
          <p:spPr>
            <a:xfrm>
              <a:off x="9100419" y="8585549"/>
              <a:ext cx="1130046" cy="362807"/>
            </a:xfrm>
            <a:custGeom>
              <a:avLst/>
              <a:gdLst/>
              <a:ahLst/>
              <a:cxnLst/>
              <a:rect l="0" t="0" r="0" b="0"/>
              <a:pathLst>
                <a:path w="1130046" h="362807">
                  <a:moveTo>
                    <a:pt x="1130046" y="0"/>
                  </a:moveTo>
                  <a:lnTo>
                    <a:pt x="1130046" y="362807"/>
                  </a:lnTo>
                  <a:lnTo>
                    <a:pt x="0" y="362807"/>
                  </a:lnTo>
                </a:path>
              </a:pathLst>
            </a:custGeom>
            <a:noFill/>
            <a:ln w="8505">
              <a:solidFill>
                <a:srgbClr val="3B8C80"/>
              </a:solidFill>
              <a:prstDash val="solid"/>
            </a:ln>
          </p:spPr>
        </p:sp>
        <p:sp>
          <p:nvSpPr>
            <p:cNvPr id="1424" name="Context attention to fusion refined head">
              <a:extLst>
                <a:ext uri="{FF2B5EF4-FFF2-40B4-BE49-F238E27FC236}">
                  <a16:creationId xmlns:a16="http://schemas.microsoft.com/office/drawing/2014/main" id="{2AAA0335-3D51-EA88-2522-F717A483BF32}"/>
                </a:ext>
              </a:extLst>
            </p:cNvPr>
            <p:cNvSpPr>
              <a:spLocks noGrp="1"/>
            </p:cNvSpPr>
            <p:nvPr/>
          </p:nvSpPr>
          <p:spPr>
            <a:xfrm>
              <a:off x="9077083" y="8919686"/>
              <a:ext cx="66675" cy="57340"/>
            </a:xfrm>
            <a:custGeom>
              <a:avLst/>
              <a:gdLst/>
              <a:ahLst/>
              <a:cxnLst/>
              <a:rect l="0" t="0" r="0" b="0"/>
              <a:pathLst>
                <a:path w="66675" h="57340">
                  <a:moveTo>
                    <a:pt x="0" y="28670"/>
                  </a:moveTo>
                  <a:lnTo>
                    <a:pt x="66675" y="57340"/>
                  </a:lnTo>
                  <a:lnTo>
                    <a:pt x="66675" y="0"/>
                  </a:lnTo>
                  <a:close/>
                </a:path>
              </a:pathLst>
            </a:custGeom>
            <a:solidFill>
              <a:srgbClr val="3B8C80"/>
            </a:solidFill>
            <a:ln w="0">
              <a:noFill/>
              <a:prstDash val="solid"/>
            </a:ln>
          </p:spPr>
        </p:sp>
        <p:sp>
          <p:nvSpPr>
            <p:cNvPr id="1425" name="Fusion to identity vector refined">
              <a:extLst>
                <a:ext uri="{FF2B5EF4-FFF2-40B4-BE49-F238E27FC236}">
                  <a16:creationId xmlns:a16="http://schemas.microsoft.com/office/drawing/2014/main" id="{67958AAC-3FC5-4E94-249E-68F363396C6E}"/>
                </a:ext>
              </a:extLst>
            </p:cNvPr>
            <p:cNvSpPr>
              <a:spLocks noGrp="1"/>
            </p:cNvSpPr>
            <p:nvPr/>
          </p:nvSpPr>
          <p:spPr>
            <a:xfrm>
              <a:off x="8630551" y="9115806"/>
              <a:ext cx="191" cy="244507"/>
            </a:xfrm>
            <a:custGeom>
              <a:avLst/>
              <a:gdLst/>
              <a:ahLst/>
              <a:cxnLst/>
              <a:rect l="0" t="0" r="0" b="0"/>
              <a:pathLst>
                <a:path w="191" h="244507">
                  <a:moveTo>
                    <a:pt x="0" y="0"/>
                  </a:moveTo>
                  <a:lnTo>
                    <a:pt x="0" y="244507"/>
                  </a:lnTo>
                </a:path>
              </a:pathLst>
            </a:custGeom>
            <a:noFill/>
            <a:ln w="8505">
              <a:solidFill>
                <a:srgbClr val="3B8C80"/>
              </a:solidFill>
              <a:prstDash val="solid"/>
            </a:ln>
          </p:spPr>
        </p:sp>
        <p:sp>
          <p:nvSpPr>
            <p:cNvPr id="1426" name="Fusion to identity vector refined head">
              <a:extLst>
                <a:ext uri="{FF2B5EF4-FFF2-40B4-BE49-F238E27FC236}">
                  <a16:creationId xmlns:a16="http://schemas.microsoft.com/office/drawing/2014/main" id="{5B85A195-1A68-48DC-E553-B1E99915D03B}"/>
                </a:ext>
              </a:extLst>
            </p:cNvPr>
            <p:cNvSpPr>
              <a:spLocks noGrp="1"/>
            </p:cNvSpPr>
            <p:nvPr/>
          </p:nvSpPr>
          <p:spPr>
            <a:xfrm>
              <a:off x="8601880" y="9316974"/>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27" name="Identity vector to cosine refined">
              <a:extLst>
                <a:ext uri="{FF2B5EF4-FFF2-40B4-BE49-F238E27FC236}">
                  <a16:creationId xmlns:a16="http://schemas.microsoft.com/office/drawing/2014/main" id="{DDE80B97-A909-A736-F258-523B74319AC3}"/>
                </a:ext>
              </a:extLst>
            </p:cNvPr>
            <p:cNvSpPr>
              <a:spLocks noGrp="1"/>
            </p:cNvSpPr>
            <p:nvPr/>
          </p:nvSpPr>
          <p:spPr>
            <a:xfrm>
              <a:off x="8630551" y="9517571"/>
              <a:ext cx="191" cy="253841"/>
            </a:xfrm>
            <a:custGeom>
              <a:avLst/>
              <a:gdLst/>
              <a:ahLst/>
              <a:cxnLst/>
              <a:rect l="0" t="0" r="0" b="0"/>
              <a:pathLst>
                <a:path w="191" h="253841">
                  <a:moveTo>
                    <a:pt x="0" y="0"/>
                  </a:moveTo>
                  <a:lnTo>
                    <a:pt x="0" y="253841"/>
                  </a:lnTo>
                </a:path>
              </a:pathLst>
            </a:custGeom>
            <a:noFill/>
            <a:ln w="8505">
              <a:solidFill>
                <a:srgbClr val="3B8C80"/>
              </a:solidFill>
              <a:prstDash val="solid"/>
            </a:ln>
          </p:spPr>
        </p:sp>
        <p:sp>
          <p:nvSpPr>
            <p:cNvPr id="1428" name="Identity vector to cosine refined head">
              <a:extLst>
                <a:ext uri="{FF2B5EF4-FFF2-40B4-BE49-F238E27FC236}">
                  <a16:creationId xmlns:a16="http://schemas.microsoft.com/office/drawing/2014/main" id="{E490B029-346A-A57E-7B15-889C23CE6281}"/>
                </a:ext>
              </a:extLst>
            </p:cNvPr>
            <p:cNvSpPr>
              <a:spLocks noGrp="1"/>
            </p:cNvSpPr>
            <p:nvPr/>
          </p:nvSpPr>
          <p:spPr>
            <a:xfrm>
              <a:off x="8601880" y="9728073"/>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29" name="Cosine to score matrix refined">
              <a:extLst>
                <a:ext uri="{FF2B5EF4-FFF2-40B4-BE49-F238E27FC236}">
                  <a16:creationId xmlns:a16="http://schemas.microsoft.com/office/drawing/2014/main" id="{B53F289C-77E1-6513-62C8-F939A23BF1B2}"/>
                </a:ext>
              </a:extLst>
            </p:cNvPr>
            <p:cNvSpPr>
              <a:spLocks noGrp="1"/>
            </p:cNvSpPr>
            <p:nvPr/>
          </p:nvSpPr>
          <p:spPr>
            <a:xfrm>
              <a:off x="9039935" y="9971532"/>
              <a:ext cx="619030" cy="191"/>
            </a:xfrm>
            <a:custGeom>
              <a:avLst/>
              <a:gdLst/>
              <a:ahLst/>
              <a:cxnLst/>
              <a:rect l="0" t="0" r="0" b="0"/>
              <a:pathLst>
                <a:path w="619030" h="191">
                  <a:moveTo>
                    <a:pt x="0" y="0"/>
                  </a:moveTo>
                  <a:lnTo>
                    <a:pt x="619030" y="0"/>
                  </a:lnTo>
                </a:path>
              </a:pathLst>
            </a:custGeom>
            <a:noFill/>
            <a:ln w="8505">
              <a:solidFill>
                <a:srgbClr val="3B8C80"/>
              </a:solidFill>
              <a:prstDash val="solid"/>
            </a:ln>
          </p:spPr>
        </p:sp>
        <p:sp>
          <p:nvSpPr>
            <p:cNvPr id="1430" name="Cosine to score matrix refined head">
              <a:extLst>
                <a:ext uri="{FF2B5EF4-FFF2-40B4-BE49-F238E27FC236}">
                  <a16:creationId xmlns:a16="http://schemas.microsoft.com/office/drawing/2014/main" id="{7D1ABF5A-29C9-76A4-1903-E132A41C0C6D}"/>
                </a:ext>
              </a:extLst>
            </p:cNvPr>
            <p:cNvSpPr>
              <a:spLocks noGrp="1"/>
            </p:cNvSpPr>
            <p:nvPr/>
          </p:nvSpPr>
          <p:spPr>
            <a:xfrm>
              <a:off x="9615626" y="9942862"/>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grpSp>
      <p:pic>
        <p:nvPicPr>
          <p:cNvPr id="1436" name="Match clear receptor" descr="Receptor cartoon rendered from unchanged local coordinates, chain C1 of the 9LLG CA2 model.">
            <a:extLst>
              <a:ext uri="{FF2B5EF4-FFF2-40B4-BE49-F238E27FC236}">
                <a16:creationId xmlns:a16="http://schemas.microsoft.com/office/drawing/2014/main" id="{515E1CE9-4EFA-F96B-A08A-C6C2EC64DC6F}"/>
              </a:ext>
            </a:extLst>
          </p:cNvPr>
          <p:cNvPicPr/>
          <p:nvPr/>
        </p:nvPicPr>
        <p:blipFill>
          <a:blip r:embed="rId7"/>
          <a:srcRect l="16857" t="30389" r="19786" b="22500"/>
          <a:stretch>
            <a:fillRect/>
          </a:stretch>
        </p:blipFill>
        <p:spPr>
          <a:xfrm>
            <a:off x="628714" y="2388765"/>
            <a:ext cx="332109" cy="317507"/>
          </a:xfrm>
          <a:prstGeom prst="rect">
            <a:avLst/>
          </a:prstGeom>
        </p:spPr>
      </p:pic>
      <p:sp>
        <p:nvSpPr>
          <p:cNvPr id="1442" name="文本框 1441">
            <a:extLst>
              <a:ext uri="{FF2B5EF4-FFF2-40B4-BE49-F238E27FC236}">
                <a16:creationId xmlns:a16="http://schemas.microsoft.com/office/drawing/2014/main" id="{814431DA-F1EE-CFB8-E7E0-CF4D130ECF44}"/>
              </a:ext>
            </a:extLst>
          </p:cNvPr>
          <p:cNvSpPr txBox="1"/>
          <p:nvPr/>
        </p:nvSpPr>
        <p:spPr>
          <a:xfrm>
            <a:off x="1260165" y="775016"/>
            <a:ext cx="559769" cy="176972"/>
          </a:xfrm>
          <a:prstGeom prst="rect">
            <a:avLst/>
          </a:prstGeom>
          <a:noFill/>
        </p:spPr>
        <p:txBody>
          <a:bodyPr wrap="none" rtlCol="0">
            <a:spAutoFit/>
          </a:bodyPr>
          <a:lstStyle/>
          <a:p>
            <a:r>
              <a:rPr lang="en-US" altLang="zh-CN" sz="550" dirty="0">
                <a:solidFill>
                  <a:srgbClr val="263442"/>
                </a:solidFill>
                <a:latin typeface="Arial"/>
                <a:cs typeface="Arial"/>
              </a:rPr>
              <a:t>56 channels</a:t>
            </a:r>
            <a:endParaRPr lang="zh-CN" altLang="en-US" sz="550" dirty="0">
              <a:solidFill>
                <a:srgbClr val="263442"/>
              </a:solidFill>
              <a:latin typeface="Arial"/>
              <a:cs typeface="Arial"/>
            </a:endParaRPr>
          </a:p>
        </p:txBody>
      </p:sp>
      <p:sp>
        <p:nvSpPr>
          <p:cNvPr id="1443" name="V8 embedding computation frame">
            <a:extLst>
              <a:ext uri="{FF2B5EF4-FFF2-40B4-BE49-F238E27FC236}">
                <a16:creationId xmlns:a16="http://schemas.microsoft.com/office/drawing/2014/main" id="{FB41A424-8C9A-2DA8-76B2-57C0C54ECB10}"/>
              </a:ext>
            </a:extLst>
          </p:cNvPr>
          <p:cNvSpPr/>
          <p:nvPr/>
        </p:nvSpPr>
        <p:spPr>
          <a:xfrm>
            <a:off x="1351898" y="1318283"/>
            <a:ext cx="386080" cy="417830"/>
          </a:xfrm>
          <a:prstGeom prst="roundRect">
            <a:avLst>
              <a:gd name="adj" fmla="val 6579"/>
            </a:avLst>
          </a:prstGeom>
          <a:solidFill>
            <a:srgbClr val="FAFBFC"/>
          </a:solidFill>
          <a:ln w="6096" cap="rnd">
            <a:solidFill>
              <a:srgbClr val="BEC7CE"/>
            </a:solidFill>
            <a:prstDash val="solid"/>
            <a:round/>
          </a:ln>
        </p:spPr>
      </p:sp>
      <p:sp>
        <p:nvSpPr>
          <p:cNvPr id="1444" name="V8 embedding neighbor 1 to center">
            <a:extLst>
              <a:ext uri="{FF2B5EF4-FFF2-40B4-BE49-F238E27FC236}">
                <a16:creationId xmlns:a16="http://schemas.microsoft.com/office/drawing/2014/main" id="{3355B015-AF42-20CF-CA69-CEE14894D5E1}"/>
              </a:ext>
            </a:extLst>
          </p:cNvPr>
          <p:cNvSpPr/>
          <p:nvPr/>
        </p:nvSpPr>
        <p:spPr>
          <a:xfrm>
            <a:off x="1408080" y="1388677"/>
            <a:ext cx="84338" cy="113635"/>
          </a:xfrm>
          <a:custGeom>
            <a:avLst/>
            <a:gdLst/>
            <a:ahLst/>
            <a:cxnLst/>
            <a:rect l="l" t="t" r="r" b="b"/>
            <a:pathLst>
              <a:path w="84338" h="113635">
                <a:moveTo>
                  <a:pt x="0" y="0"/>
                </a:moveTo>
                <a:lnTo>
                  <a:pt x="84338" y="113635"/>
                </a:lnTo>
              </a:path>
            </a:pathLst>
          </a:custGeom>
          <a:noFill/>
          <a:ln w="5842" cap="rnd">
            <a:solidFill>
              <a:srgbClr val="4083B4"/>
            </a:solidFill>
            <a:prstDash val="solid"/>
            <a:round/>
          </a:ln>
        </p:spPr>
      </p:sp>
      <p:sp>
        <p:nvSpPr>
          <p:cNvPr id="1445" name="V8 embedding neighbor 1 to center head">
            <a:extLst>
              <a:ext uri="{FF2B5EF4-FFF2-40B4-BE49-F238E27FC236}">
                <a16:creationId xmlns:a16="http://schemas.microsoft.com/office/drawing/2014/main" id="{27615381-2E0E-2FB6-4DD6-10A8B1F481AB}"/>
              </a:ext>
            </a:extLst>
          </p:cNvPr>
          <p:cNvSpPr/>
          <p:nvPr/>
        </p:nvSpPr>
        <p:spPr>
          <a:xfrm>
            <a:off x="1478827" y="1488319"/>
            <a:ext cx="18870" cy="21105"/>
          </a:xfrm>
          <a:custGeom>
            <a:avLst/>
            <a:gdLst/>
            <a:ahLst/>
            <a:cxnLst/>
            <a:rect l="l" t="t" r="r" b="b"/>
            <a:pathLst>
              <a:path w="18870" h="21105">
                <a:moveTo>
                  <a:pt x="18870" y="21105"/>
                </a:moveTo>
                <a:lnTo>
                  <a:pt x="14277" y="0"/>
                </a:lnTo>
                <a:lnTo>
                  <a:pt x="0" y="10596"/>
                </a:lnTo>
                <a:close/>
              </a:path>
            </a:pathLst>
          </a:custGeom>
          <a:solidFill>
            <a:srgbClr val="4083B4"/>
          </a:solidFill>
          <a:ln w="0" cap="rnd">
            <a:noFill/>
          </a:ln>
        </p:spPr>
      </p:sp>
      <p:sp>
        <p:nvSpPr>
          <p:cNvPr id="1446" name="V8 embedding neighbor 1">
            <a:extLst>
              <a:ext uri="{FF2B5EF4-FFF2-40B4-BE49-F238E27FC236}">
                <a16:creationId xmlns:a16="http://schemas.microsoft.com/office/drawing/2014/main" id="{B5E8A971-284C-84D2-C0DB-7EB12E4B5902}"/>
              </a:ext>
            </a:extLst>
          </p:cNvPr>
          <p:cNvSpPr/>
          <p:nvPr/>
        </p:nvSpPr>
        <p:spPr>
          <a:xfrm>
            <a:off x="1382060" y="1358582"/>
            <a:ext cx="28575" cy="28575"/>
          </a:xfrm>
          <a:prstGeom prst="ellipse">
            <a:avLst/>
          </a:prstGeom>
          <a:noFill/>
          <a:ln w="7112" cap="rnd">
            <a:solidFill>
              <a:srgbClr val="4083B4"/>
            </a:solidFill>
            <a:prstDash val="solid"/>
            <a:round/>
          </a:ln>
        </p:spPr>
      </p:sp>
      <p:sp>
        <p:nvSpPr>
          <p:cNvPr id="1447" name="V8 embedding neighbor 2 to center">
            <a:extLst>
              <a:ext uri="{FF2B5EF4-FFF2-40B4-BE49-F238E27FC236}">
                <a16:creationId xmlns:a16="http://schemas.microsoft.com/office/drawing/2014/main" id="{410E19AF-558D-0BA4-4F56-8A43CC949018}"/>
              </a:ext>
            </a:extLst>
          </p:cNvPr>
          <p:cNvSpPr/>
          <p:nvPr/>
        </p:nvSpPr>
        <p:spPr>
          <a:xfrm>
            <a:off x="1537980" y="1384737"/>
            <a:ext cx="68064" cy="115185"/>
          </a:xfrm>
          <a:custGeom>
            <a:avLst/>
            <a:gdLst/>
            <a:ahLst/>
            <a:cxnLst/>
            <a:rect l="l" t="t" r="r" b="b"/>
            <a:pathLst>
              <a:path w="68064" h="115185">
                <a:moveTo>
                  <a:pt x="68064" y="0"/>
                </a:moveTo>
                <a:lnTo>
                  <a:pt x="0" y="115185"/>
                </a:lnTo>
              </a:path>
            </a:pathLst>
          </a:custGeom>
          <a:noFill/>
          <a:ln w="5842" cap="rnd">
            <a:solidFill>
              <a:srgbClr val="4083B4"/>
            </a:solidFill>
            <a:prstDash val="solid"/>
            <a:round/>
          </a:ln>
        </p:spPr>
      </p:sp>
      <p:sp>
        <p:nvSpPr>
          <p:cNvPr id="1448" name="V8 embedding neighbor 2 to center head">
            <a:extLst>
              <a:ext uri="{FF2B5EF4-FFF2-40B4-BE49-F238E27FC236}">
                <a16:creationId xmlns:a16="http://schemas.microsoft.com/office/drawing/2014/main" id="{50A61875-DCE0-421C-1735-CFE0432F2E90}"/>
              </a:ext>
            </a:extLst>
          </p:cNvPr>
          <p:cNvSpPr/>
          <p:nvPr/>
        </p:nvSpPr>
        <p:spPr>
          <a:xfrm>
            <a:off x="1533473" y="1486079"/>
            <a:ext cx="17668" cy="21470"/>
          </a:xfrm>
          <a:custGeom>
            <a:avLst/>
            <a:gdLst/>
            <a:ahLst/>
            <a:cxnLst/>
            <a:rect l="l" t="t" r="r" b="b"/>
            <a:pathLst>
              <a:path w="17668" h="21470">
                <a:moveTo>
                  <a:pt x="0" y="21470"/>
                </a:moveTo>
                <a:lnTo>
                  <a:pt x="17668" y="9045"/>
                </a:lnTo>
                <a:lnTo>
                  <a:pt x="2361" y="0"/>
                </a:lnTo>
                <a:close/>
              </a:path>
            </a:pathLst>
          </a:custGeom>
          <a:solidFill>
            <a:srgbClr val="4083B4"/>
          </a:solidFill>
          <a:ln w="0" cap="rnd">
            <a:noFill/>
          </a:ln>
        </p:spPr>
      </p:sp>
      <p:sp>
        <p:nvSpPr>
          <p:cNvPr id="1449" name="V8 embedding neighbor 2">
            <a:extLst>
              <a:ext uri="{FF2B5EF4-FFF2-40B4-BE49-F238E27FC236}">
                <a16:creationId xmlns:a16="http://schemas.microsoft.com/office/drawing/2014/main" id="{7AEBAFCB-8ED1-BA01-F100-82AD32FAB4F6}"/>
              </a:ext>
            </a:extLst>
          </p:cNvPr>
          <p:cNvSpPr/>
          <p:nvPr/>
        </p:nvSpPr>
        <p:spPr>
          <a:xfrm>
            <a:off x="1600500" y="1352232"/>
            <a:ext cx="31115" cy="31115"/>
          </a:xfrm>
          <a:prstGeom prst="ellipse">
            <a:avLst/>
          </a:prstGeom>
          <a:noFill/>
          <a:ln w="7112" cap="rnd">
            <a:solidFill>
              <a:srgbClr val="4083B4"/>
            </a:solidFill>
            <a:prstDash val="solid"/>
            <a:round/>
          </a:ln>
        </p:spPr>
      </p:sp>
      <p:sp>
        <p:nvSpPr>
          <p:cNvPr id="1450" name="V8 embedding upper curved aggregation">
            <a:extLst>
              <a:ext uri="{FF2B5EF4-FFF2-40B4-BE49-F238E27FC236}">
                <a16:creationId xmlns:a16="http://schemas.microsoft.com/office/drawing/2014/main" id="{1726AB57-DCD6-4DAB-768F-79635F178651}"/>
              </a:ext>
            </a:extLst>
          </p:cNvPr>
          <p:cNvSpPr/>
          <p:nvPr/>
        </p:nvSpPr>
        <p:spPr>
          <a:xfrm>
            <a:off x="1551288" y="1449794"/>
            <a:ext cx="120650" cy="48806"/>
          </a:xfrm>
          <a:custGeom>
            <a:avLst/>
            <a:gdLst/>
            <a:ahLst/>
            <a:cxnLst/>
            <a:rect l="l" t="t" r="r" b="b"/>
            <a:pathLst>
              <a:path w="120650" h="48806">
                <a:moveTo>
                  <a:pt x="118713" y="0"/>
                </a:moveTo>
                <a:cubicBezTo>
                  <a:pt x="120650" y="36106"/>
                  <a:pt x="44450" y="29756"/>
                  <a:pt x="0" y="48806"/>
                </a:cubicBezTo>
              </a:path>
            </a:pathLst>
          </a:custGeom>
          <a:noFill/>
          <a:ln w="5842" cap="rnd">
            <a:solidFill>
              <a:srgbClr val="4083B4"/>
            </a:solidFill>
            <a:prstDash val="solid"/>
            <a:round/>
          </a:ln>
        </p:spPr>
      </p:sp>
      <p:sp>
        <p:nvSpPr>
          <p:cNvPr id="1451" name="V8 embedding upper curved aggregation tip">
            <a:extLst>
              <a:ext uri="{FF2B5EF4-FFF2-40B4-BE49-F238E27FC236}">
                <a16:creationId xmlns:a16="http://schemas.microsoft.com/office/drawing/2014/main" id="{2B3CEBDA-0E2D-671A-9B26-76F746F7D64B}"/>
              </a:ext>
            </a:extLst>
          </p:cNvPr>
          <p:cNvSpPr/>
          <p:nvPr/>
        </p:nvSpPr>
        <p:spPr>
          <a:xfrm>
            <a:off x="1542577" y="1498600"/>
            <a:ext cx="8711" cy="4690"/>
          </a:xfrm>
          <a:custGeom>
            <a:avLst/>
            <a:gdLst/>
            <a:ahLst/>
            <a:cxnLst/>
            <a:rect l="l" t="t" r="r" b="b"/>
            <a:pathLst>
              <a:path w="8711" h="4690">
                <a:moveTo>
                  <a:pt x="8711" y="0"/>
                </a:moveTo>
                <a:lnTo>
                  <a:pt x="0" y="4690"/>
                </a:lnTo>
              </a:path>
            </a:pathLst>
          </a:custGeom>
          <a:noFill/>
          <a:ln w="5842" cap="rnd">
            <a:solidFill>
              <a:srgbClr val="9481B1"/>
            </a:solidFill>
            <a:prstDash val="solid"/>
            <a:round/>
          </a:ln>
        </p:spPr>
      </p:sp>
      <p:sp>
        <p:nvSpPr>
          <p:cNvPr id="1452" name="V8 embedding upper curved aggregation tip head">
            <a:extLst>
              <a:ext uri="{FF2B5EF4-FFF2-40B4-BE49-F238E27FC236}">
                <a16:creationId xmlns:a16="http://schemas.microsoft.com/office/drawing/2014/main" id="{EA8590B6-001E-E7FA-C91E-6684CAB2CE42}"/>
              </a:ext>
            </a:extLst>
          </p:cNvPr>
          <p:cNvSpPr/>
          <p:nvPr/>
        </p:nvSpPr>
        <p:spPr>
          <a:xfrm>
            <a:off x="1534778" y="1490330"/>
            <a:ext cx="21547" cy="17160"/>
          </a:xfrm>
          <a:custGeom>
            <a:avLst/>
            <a:gdLst/>
            <a:ahLst/>
            <a:cxnLst/>
            <a:rect l="l" t="t" r="r" b="b"/>
            <a:pathLst>
              <a:path w="21547" h="17160">
                <a:moveTo>
                  <a:pt x="0" y="17160"/>
                </a:moveTo>
                <a:lnTo>
                  <a:pt x="21547" y="15655"/>
                </a:lnTo>
                <a:lnTo>
                  <a:pt x="13117" y="0"/>
                </a:lnTo>
                <a:close/>
              </a:path>
            </a:pathLst>
          </a:custGeom>
          <a:solidFill>
            <a:srgbClr val="4083B4"/>
          </a:solidFill>
          <a:ln w="0" cap="rnd">
            <a:noFill/>
          </a:ln>
        </p:spPr>
      </p:sp>
      <p:sp>
        <p:nvSpPr>
          <p:cNvPr id="1453" name="V8 embedding neighbor 3">
            <a:extLst>
              <a:ext uri="{FF2B5EF4-FFF2-40B4-BE49-F238E27FC236}">
                <a16:creationId xmlns:a16="http://schemas.microsoft.com/office/drawing/2014/main" id="{122DFBAE-E742-85F4-F8BE-661BC7410AFC}"/>
              </a:ext>
            </a:extLst>
          </p:cNvPr>
          <p:cNvSpPr/>
          <p:nvPr/>
        </p:nvSpPr>
        <p:spPr>
          <a:xfrm>
            <a:off x="1673208" y="1426210"/>
            <a:ext cx="27940" cy="27940"/>
          </a:xfrm>
          <a:prstGeom prst="ellipse">
            <a:avLst/>
          </a:prstGeom>
          <a:noFill/>
          <a:ln w="7112" cap="rnd">
            <a:solidFill>
              <a:srgbClr val="4083B4"/>
            </a:solidFill>
            <a:prstDash val="solid"/>
            <a:round/>
          </a:ln>
        </p:spPr>
      </p:sp>
      <p:sp>
        <p:nvSpPr>
          <p:cNvPr id="1454" name="V8 embedding curved aggregation">
            <a:extLst>
              <a:ext uri="{FF2B5EF4-FFF2-40B4-BE49-F238E27FC236}">
                <a16:creationId xmlns:a16="http://schemas.microsoft.com/office/drawing/2014/main" id="{90CEAB6E-EBCA-9F13-36DE-C928BA671D5A}"/>
              </a:ext>
            </a:extLst>
          </p:cNvPr>
          <p:cNvSpPr/>
          <p:nvPr/>
        </p:nvSpPr>
        <p:spPr>
          <a:xfrm>
            <a:off x="1392538" y="1503680"/>
            <a:ext cx="77470" cy="107970"/>
          </a:xfrm>
          <a:custGeom>
            <a:avLst/>
            <a:gdLst/>
            <a:ahLst/>
            <a:cxnLst/>
            <a:rect l="l" t="t" r="r" b="b"/>
            <a:pathLst>
              <a:path w="77470" h="107970">
                <a:moveTo>
                  <a:pt x="17311" y="107970"/>
                </a:moveTo>
                <a:cubicBezTo>
                  <a:pt x="0" y="29210"/>
                  <a:pt x="35560" y="0"/>
                  <a:pt x="77470" y="12700"/>
                </a:cubicBezTo>
              </a:path>
            </a:pathLst>
          </a:custGeom>
          <a:noFill/>
          <a:ln w="8890" cap="rnd">
            <a:solidFill>
              <a:srgbClr val="4083B4"/>
            </a:solidFill>
            <a:prstDash val="solid"/>
            <a:round/>
          </a:ln>
        </p:spPr>
      </p:sp>
      <p:sp>
        <p:nvSpPr>
          <p:cNvPr id="1455" name="V8 embedding curved aggregation tip">
            <a:extLst>
              <a:ext uri="{FF2B5EF4-FFF2-40B4-BE49-F238E27FC236}">
                <a16:creationId xmlns:a16="http://schemas.microsoft.com/office/drawing/2014/main" id="{4871021E-0B37-6092-4FB6-FB482931253B}"/>
              </a:ext>
            </a:extLst>
          </p:cNvPr>
          <p:cNvSpPr/>
          <p:nvPr/>
        </p:nvSpPr>
        <p:spPr>
          <a:xfrm>
            <a:off x="1470008" y="1516380"/>
            <a:ext cx="6039" cy="3020"/>
          </a:xfrm>
          <a:custGeom>
            <a:avLst/>
            <a:gdLst/>
            <a:ahLst/>
            <a:cxnLst/>
            <a:rect l="l" t="t" r="r" b="b"/>
            <a:pathLst>
              <a:path w="6039" h="3020">
                <a:moveTo>
                  <a:pt x="0" y="0"/>
                </a:moveTo>
                <a:lnTo>
                  <a:pt x="6039" y="3020"/>
                </a:lnTo>
              </a:path>
            </a:pathLst>
          </a:custGeom>
          <a:noFill/>
          <a:ln w="8890" cap="rnd">
            <a:solidFill>
              <a:srgbClr val="9481B1"/>
            </a:solidFill>
            <a:prstDash val="solid"/>
            <a:round/>
          </a:ln>
        </p:spPr>
      </p:sp>
      <p:sp>
        <p:nvSpPr>
          <p:cNvPr id="1456" name="V8 embedding curved aggregation tip head">
            <a:extLst>
              <a:ext uri="{FF2B5EF4-FFF2-40B4-BE49-F238E27FC236}">
                <a16:creationId xmlns:a16="http://schemas.microsoft.com/office/drawing/2014/main" id="{86BC3798-BFD4-0C2D-6F96-1C5CADB6D7BE}"/>
              </a:ext>
            </a:extLst>
          </p:cNvPr>
          <p:cNvSpPr/>
          <p:nvPr/>
        </p:nvSpPr>
        <p:spPr>
          <a:xfrm>
            <a:off x="1460116" y="1504405"/>
            <a:ext cx="25132" cy="19595"/>
          </a:xfrm>
          <a:custGeom>
            <a:avLst/>
            <a:gdLst/>
            <a:ahLst/>
            <a:cxnLst/>
            <a:rect l="l" t="t" r="r" b="b"/>
            <a:pathLst>
              <a:path w="25132" h="19595">
                <a:moveTo>
                  <a:pt x="25132" y="19595"/>
                </a:moveTo>
                <a:lnTo>
                  <a:pt x="9371" y="0"/>
                </a:lnTo>
                <a:lnTo>
                  <a:pt x="0" y="18743"/>
                </a:lnTo>
                <a:close/>
              </a:path>
            </a:pathLst>
          </a:custGeom>
          <a:solidFill>
            <a:srgbClr val="4083B4"/>
          </a:solidFill>
          <a:ln w="0" cap="rnd">
            <a:solidFill>
              <a:srgbClr val="4083B4"/>
            </a:solidFill>
          </a:ln>
        </p:spPr>
      </p:sp>
      <p:sp>
        <p:nvSpPr>
          <p:cNvPr id="1457" name="V8 embedding neighbor 4">
            <a:extLst>
              <a:ext uri="{FF2B5EF4-FFF2-40B4-BE49-F238E27FC236}">
                <a16:creationId xmlns:a16="http://schemas.microsoft.com/office/drawing/2014/main" id="{AEADE014-9292-2360-C2CE-F8C845E8BCFD}"/>
              </a:ext>
            </a:extLst>
          </p:cNvPr>
          <p:cNvSpPr/>
          <p:nvPr/>
        </p:nvSpPr>
        <p:spPr>
          <a:xfrm>
            <a:off x="1377933" y="1607185"/>
            <a:ext cx="31750" cy="31750"/>
          </a:xfrm>
          <a:prstGeom prst="ellipse">
            <a:avLst/>
          </a:prstGeom>
          <a:noFill/>
          <a:ln w="7112" cap="rnd">
            <a:solidFill>
              <a:srgbClr val="4083B4"/>
            </a:solidFill>
            <a:prstDash val="solid"/>
            <a:round/>
          </a:ln>
        </p:spPr>
      </p:sp>
      <p:sp>
        <p:nvSpPr>
          <p:cNvPr id="1458" name="V8 embedding neighbor 5 to center">
            <a:extLst>
              <a:ext uri="{FF2B5EF4-FFF2-40B4-BE49-F238E27FC236}">
                <a16:creationId xmlns:a16="http://schemas.microsoft.com/office/drawing/2014/main" id="{88F2ECE0-BE4E-6B10-0F14-901F5AD31AE6}"/>
              </a:ext>
            </a:extLst>
          </p:cNvPr>
          <p:cNvSpPr/>
          <p:nvPr/>
        </p:nvSpPr>
        <p:spPr>
          <a:xfrm>
            <a:off x="1508228" y="1576570"/>
            <a:ext cx="5857" cy="82734"/>
          </a:xfrm>
          <a:custGeom>
            <a:avLst/>
            <a:gdLst/>
            <a:ahLst/>
            <a:cxnLst/>
            <a:rect l="l" t="t" r="r" b="b"/>
            <a:pathLst>
              <a:path w="5857" h="82734">
                <a:moveTo>
                  <a:pt x="0" y="82734"/>
                </a:moveTo>
                <a:lnTo>
                  <a:pt x="5857" y="0"/>
                </a:lnTo>
              </a:path>
            </a:pathLst>
          </a:custGeom>
          <a:noFill/>
          <a:ln w="5842" cap="rnd">
            <a:solidFill>
              <a:srgbClr val="4083B4"/>
            </a:solidFill>
            <a:prstDash val="solid"/>
            <a:round/>
          </a:ln>
        </p:spPr>
      </p:sp>
      <p:sp>
        <p:nvSpPr>
          <p:cNvPr id="1459" name="V8 embedding neighbor 5 to center head">
            <a:extLst>
              <a:ext uri="{FF2B5EF4-FFF2-40B4-BE49-F238E27FC236}">
                <a16:creationId xmlns:a16="http://schemas.microsoft.com/office/drawing/2014/main" id="{4E579011-FEC4-00D3-7546-C5CB388C9A0A}"/>
              </a:ext>
            </a:extLst>
          </p:cNvPr>
          <p:cNvSpPr/>
          <p:nvPr/>
        </p:nvSpPr>
        <p:spPr>
          <a:xfrm>
            <a:off x="1504453" y="1567734"/>
            <a:ext cx="17736" cy="20264"/>
          </a:xfrm>
          <a:custGeom>
            <a:avLst/>
            <a:gdLst/>
            <a:ahLst/>
            <a:cxnLst/>
            <a:rect l="l" t="t" r="r" b="b"/>
            <a:pathLst>
              <a:path w="17736" h="20264">
                <a:moveTo>
                  <a:pt x="10258" y="0"/>
                </a:moveTo>
                <a:lnTo>
                  <a:pt x="0" y="19008"/>
                </a:lnTo>
                <a:lnTo>
                  <a:pt x="17736" y="20264"/>
                </a:lnTo>
                <a:close/>
              </a:path>
            </a:pathLst>
          </a:custGeom>
          <a:solidFill>
            <a:srgbClr val="4083B4"/>
          </a:solidFill>
          <a:ln w="0" cap="rnd">
            <a:solidFill>
              <a:srgbClr val="4083B4"/>
            </a:solidFill>
          </a:ln>
        </p:spPr>
      </p:sp>
      <p:sp>
        <p:nvSpPr>
          <p:cNvPr id="1460" name="V8 embedding neighbor 5">
            <a:extLst>
              <a:ext uri="{FF2B5EF4-FFF2-40B4-BE49-F238E27FC236}">
                <a16:creationId xmlns:a16="http://schemas.microsoft.com/office/drawing/2014/main" id="{80A6CA00-4D1C-000D-C0AF-7F59BA21FF45}"/>
              </a:ext>
            </a:extLst>
          </p:cNvPr>
          <p:cNvSpPr/>
          <p:nvPr/>
        </p:nvSpPr>
        <p:spPr>
          <a:xfrm>
            <a:off x="1492233" y="1664335"/>
            <a:ext cx="29210" cy="29210"/>
          </a:xfrm>
          <a:prstGeom prst="ellipse">
            <a:avLst/>
          </a:prstGeom>
          <a:noFill/>
          <a:ln w="7112" cap="rnd">
            <a:solidFill>
              <a:srgbClr val="4083B4"/>
            </a:solidFill>
            <a:prstDash val="solid"/>
            <a:round/>
          </a:ln>
        </p:spPr>
      </p:sp>
      <p:sp>
        <p:nvSpPr>
          <p:cNvPr id="1461" name="V8 embedding center">
            <a:extLst>
              <a:ext uri="{FF2B5EF4-FFF2-40B4-BE49-F238E27FC236}">
                <a16:creationId xmlns:a16="http://schemas.microsoft.com/office/drawing/2014/main" id="{0973F1A0-63C8-796C-8269-8DC9810E39E1}"/>
              </a:ext>
            </a:extLst>
          </p:cNvPr>
          <p:cNvSpPr/>
          <p:nvPr/>
        </p:nvSpPr>
        <p:spPr>
          <a:xfrm>
            <a:off x="1494773" y="1513205"/>
            <a:ext cx="44450" cy="44450"/>
          </a:xfrm>
          <a:prstGeom prst="ellipse">
            <a:avLst/>
          </a:prstGeom>
          <a:noFill/>
          <a:ln w="9906" cap="rnd">
            <a:solidFill>
              <a:srgbClr val="3B8C80"/>
            </a:solidFill>
            <a:prstDash val="solid"/>
            <a:round/>
          </a:ln>
        </p:spPr>
      </p:sp>
      <p:sp>
        <p:nvSpPr>
          <p:cNvPr id="1462" name="V8 embedding feature 1">
            <a:extLst>
              <a:ext uri="{FF2B5EF4-FFF2-40B4-BE49-F238E27FC236}">
                <a16:creationId xmlns:a16="http://schemas.microsoft.com/office/drawing/2014/main" id="{FE0417EE-6828-F09F-AACE-DE1F76BE3EB6}"/>
              </a:ext>
            </a:extLst>
          </p:cNvPr>
          <p:cNvSpPr/>
          <p:nvPr/>
        </p:nvSpPr>
        <p:spPr>
          <a:xfrm>
            <a:off x="1548748" y="1518285"/>
            <a:ext cx="18415" cy="34290"/>
          </a:xfrm>
          <a:prstGeom prst="rect">
            <a:avLst/>
          </a:prstGeom>
          <a:solidFill>
            <a:srgbClr val="3E8F9A"/>
          </a:solidFill>
          <a:ln w="0" cap="rnd">
            <a:noFill/>
          </a:ln>
        </p:spPr>
      </p:sp>
      <p:sp>
        <p:nvSpPr>
          <p:cNvPr id="1463" name="V8 embedding feature 2">
            <a:extLst>
              <a:ext uri="{FF2B5EF4-FFF2-40B4-BE49-F238E27FC236}">
                <a16:creationId xmlns:a16="http://schemas.microsoft.com/office/drawing/2014/main" id="{28DF18A8-B7D6-40CC-F8D0-1CE005F88971}"/>
              </a:ext>
            </a:extLst>
          </p:cNvPr>
          <p:cNvSpPr/>
          <p:nvPr/>
        </p:nvSpPr>
        <p:spPr>
          <a:xfrm>
            <a:off x="1568433" y="1518285"/>
            <a:ext cx="18415" cy="34290"/>
          </a:xfrm>
          <a:prstGeom prst="rect">
            <a:avLst/>
          </a:prstGeom>
          <a:solidFill>
            <a:srgbClr val="88BEC3"/>
          </a:solidFill>
          <a:ln w="0" cap="rnd">
            <a:noFill/>
          </a:ln>
        </p:spPr>
      </p:sp>
      <p:sp>
        <p:nvSpPr>
          <p:cNvPr id="1464" name="V8 embedding feature 3">
            <a:extLst>
              <a:ext uri="{FF2B5EF4-FFF2-40B4-BE49-F238E27FC236}">
                <a16:creationId xmlns:a16="http://schemas.microsoft.com/office/drawing/2014/main" id="{D8B2548F-FDCB-962F-D116-8194E608D854}"/>
              </a:ext>
            </a:extLst>
          </p:cNvPr>
          <p:cNvSpPr/>
          <p:nvPr/>
        </p:nvSpPr>
        <p:spPr>
          <a:xfrm>
            <a:off x="1588118" y="1518285"/>
            <a:ext cx="18415" cy="34290"/>
          </a:xfrm>
          <a:prstGeom prst="rect">
            <a:avLst/>
          </a:prstGeom>
          <a:solidFill>
            <a:srgbClr val="67AD9F"/>
          </a:solidFill>
          <a:ln w="0" cap="rnd">
            <a:noFill/>
          </a:ln>
        </p:spPr>
      </p:sp>
      <p:sp>
        <p:nvSpPr>
          <p:cNvPr id="1465" name="V8 embedding feature 4">
            <a:extLst>
              <a:ext uri="{FF2B5EF4-FFF2-40B4-BE49-F238E27FC236}">
                <a16:creationId xmlns:a16="http://schemas.microsoft.com/office/drawing/2014/main" id="{4DB56FF7-AE6A-29C2-0D4E-A50B4A01B329}"/>
              </a:ext>
            </a:extLst>
          </p:cNvPr>
          <p:cNvSpPr/>
          <p:nvPr/>
        </p:nvSpPr>
        <p:spPr>
          <a:xfrm>
            <a:off x="1607803" y="1518285"/>
            <a:ext cx="18415" cy="34290"/>
          </a:xfrm>
          <a:prstGeom prst="rect">
            <a:avLst/>
          </a:prstGeom>
          <a:solidFill>
            <a:srgbClr val="B6D8CC"/>
          </a:solidFill>
          <a:ln w="0" cap="rnd">
            <a:noFill/>
          </a:ln>
        </p:spPr>
      </p:sp>
      <p:sp>
        <p:nvSpPr>
          <p:cNvPr id="1466" name="V8 embedding feature 5">
            <a:extLst>
              <a:ext uri="{FF2B5EF4-FFF2-40B4-BE49-F238E27FC236}">
                <a16:creationId xmlns:a16="http://schemas.microsoft.com/office/drawing/2014/main" id="{0834D08B-BC25-2ADC-AF12-5492513577F8}"/>
              </a:ext>
            </a:extLst>
          </p:cNvPr>
          <p:cNvSpPr/>
          <p:nvPr/>
        </p:nvSpPr>
        <p:spPr>
          <a:xfrm>
            <a:off x="1627488" y="1518285"/>
            <a:ext cx="18415" cy="34290"/>
          </a:xfrm>
          <a:prstGeom prst="rect">
            <a:avLst/>
          </a:prstGeom>
          <a:solidFill>
            <a:srgbClr val="3B8C80"/>
          </a:solidFill>
          <a:ln w="0" cap="rnd">
            <a:noFill/>
          </a:ln>
        </p:spPr>
      </p:sp>
      <p:sp>
        <p:nvSpPr>
          <p:cNvPr id="1467" name="V8 embedding feature 6">
            <a:extLst>
              <a:ext uri="{FF2B5EF4-FFF2-40B4-BE49-F238E27FC236}">
                <a16:creationId xmlns:a16="http://schemas.microsoft.com/office/drawing/2014/main" id="{7EDE9E92-6EF0-3023-2F22-6E7EFD9706C6}"/>
              </a:ext>
            </a:extLst>
          </p:cNvPr>
          <p:cNvSpPr/>
          <p:nvPr/>
        </p:nvSpPr>
        <p:spPr>
          <a:xfrm>
            <a:off x="1647173" y="1518285"/>
            <a:ext cx="18415" cy="34290"/>
          </a:xfrm>
          <a:prstGeom prst="rect">
            <a:avLst/>
          </a:prstGeom>
          <a:solidFill>
            <a:srgbClr val="A3CDDA"/>
          </a:solidFill>
          <a:ln w="0" cap="rnd">
            <a:noFill/>
          </a:ln>
        </p:spPr>
      </p:sp>
      <p:sp>
        <p:nvSpPr>
          <p:cNvPr id="1468" name="V8 embedding feature 7">
            <a:extLst>
              <a:ext uri="{FF2B5EF4-FFF2-40B4-BE49-F238E27FC236}">
                <a16:creationId xmlns:a16="http://schemas.microsoft.com/office/drawing/2014/main" id="{3791BD29-2650-00D8-2639-94010AF8036F}"/>
              </a:ext>
            </a:extLst>
          </p:cNvPr>
          <p:cNvSpPr/>
          <p:nvPr/>
        </p:nvSpPr>
        <p:spPr>
          <a:xfrm>
            <a:off x="1666858" y="1518285"/>
            <a:ext cx="18415" cy="34290"/>
          </a:xfrm>
          <a:prstGeom prst="rect">
            <a:avLst/>
          </a:prstGeom>
          <a:solidFill>
            <a:srgbClr val="6CAFA4"/>
          </a:solidFill>
          <a:ln w="0" cap="rnd">
            <a:noFill/>
          </a:ln>
        </p:spPr>
      </p:sp>
      <p:sp>
        <p:nvSpPr>
          <p:cNvPr id="1469" name="V8 embedding feature 8">
            <a:extLst>
              <a:ext uri="{FF2B5EF4-FFF2-40B4-BE49-F238E27FC236}">
                <a16:creationId xmlns:a16="http://schemas.microsoft.com/office/drawing/2014/main" id="{78D40256-09DE-A393-64FC-199BB5DEB767}"/>
              </a:ext>
            </a:extLst>
          </p:cNvPr>
          <p:cNvSpPr/>
          <p:nvPr/>
        </p:nvSpPr>
        <p:spPr>
          <a:xfrm>
            <a:off x="1686543" y="1518285"/>
            <a:ext cx="18415" cy="34290"/>
          </a:xfrm>
          <a:prstGeom prst="rect">
            <a:avLst/>
          </a:prstGeom>
          <a:solidFill>
            <a:srgbClr val="C4DDE0"/>
          </a:solidFill>
          <a:ln w="0" cap="rnd">
            <a:noFill/>
          </a:ln>
        </p:spPr>
      </p:sp>
      <p:sp>
        <p:nvSpPr>
          <p:cNvPr id="1471" name="V8 embedding to point branch">
            <a:extLst>
              <a:ext uri="{FF2B5EF4-FFF2-40B4-BE49-F238E27FC236}">
                <a16:creationId xmlns:a16="http://schemas.microsoft.com/office/drawing/2014/main" id="{CD0EF799-B1E4-C26B-BB25-441BB97890BE}"/>
              </a:ext>
            </a:extLst>
          </p:cNvPr>
          <p:cNvSpPr/>
          <p:nvPr/>
        </p:nvSpPr>
        <p:spPr>
          <a:xfrm flipV="1">
            <a:off x="1767191" y="1469001"/>
            <a:ext cx="157162" cy="66614"/>
          </a:xfrm>
          <a:custGeom>
            <a:avLst/>
            <a:gdLst/>
            <a:ahLst/>
            <a:cxnLst/>
            <a:rect l="l" t="t" r="r" b="b"/>
            <a:pathLst>
              <a:path w="63379" h="1">
                <a:moveTo>
                  <a:pt x="0" y="0"/>
                </a:moveTo>
                <a:lnTo>
                  <a:pt x="63379" y="0"/>
                </a:lnTo>
              </a:path>
            </a:pathLst>
          </a:custGeom>
          <a:noFill/>
          <a:ln w="8509" cap="rnd">
            <a:solidFill>
              <a:srgbClr val="4083B4"/>
            </a:solidFill>
            <a:prstDash val="solid"/>
            <a:round/>
          </a:ln>
        </p:spPr>
      </p:sp>
      <p:sp>
        <p:nvSpPr>
          <p:cNvPr id="1472" name="V8 embedding to point branch head">
            <a:extLst>
              <a:ext uri="{FF2B5EF4-FFF2-40B4-BE49-F238E27FC236}">
                <a16:creationId xmlns:a16="http://schemas.microsoft.com/office/drawing/2014/main" id="{EE5B1593-BB31-DCD1-99C7-141C7B857AF7}"/>
              </a:ext>
            </a:extLst>
          </p:cNvPr>
          <p:cNvSpPr/>
          <p:nvPr/>
        </p:nvSpPr>
        <p:spPr>
          <a:xfrm>
            <a:off x="1909057" y="1523745"/>
            <a:ext cx="28321" cy="24384"/>
          </a:xfrm>
          <a:custGeom>
            <a:avLst/>
            <a:gdLst/>
            <a:ahLst/>
            <a:cxnLst/>
            <a:rect l="l" t="t" r="r" b="b"/>
            <a:pathLst>
              <a:path w="28321" h="24384">
                <a:moveTo>
                  <a:pt x="28321" y="12192"/>
                </a:moveTo>
                <a:lnTo>
                  <a:pt x="0" y="0"/>
                </a:lnTo>
                <a:lnTo>
                  <a:pt x="0" y="24384"/>
                </a:lnTo>
                <a:close/>
              </a:path>
            </a:pathLst>
          </a:custGeom>
          <a:solidFill>
            <a:srgbClr val="4083B4"/>
          </a:solidFill>
          <a:ln w="0" cap="rnd">
            <a:solidFill>
              <a:srgbClr val="4083B4"/>
            </a:solidFill>
          </a:ln>
        </p:spPr>
      </p:sp>
      <p:sp>
        <p:nvSpPr>
          <p:cNvPr id="1473" name="V8 embedding to voxel branch">
            <a:extLst>
              <a:ext uri="{FF2B5EF4-FFF2-40B4-BE49-F238E27FC236}">
                <a16:creationId xmlns:a16="http://schemas.microsoft.com/office/drawing/2014/main" id="{A9E148F4-6BCA-77FF-AE43-549D2AE883D5}"/>
              </a:ext>
            </a:extLst>
          </p:cNvPr>
          <p:cNvSpPr/>
          <p:nvPr/>
        </p:nvSpPr>
        <p:spPr>
          <a:xfrm flipH="1">
            <a:off x="1787927" y="835707"/>
            <a:ext cx="45719" cy="699723"/>
          </a:xfrm>
          <a:custGeom>
            <a:avLst/>
            <a:gdLst/>
            <a:ahLst/>
            <a:cxnLst/>
            <a:rect l="l" t="t" r="r" b="b"/>
            <a:pathLst>
              <a:path w="1" h="866159">
                <a:moveTo>
                  <a:pt x="0" y="866159"/>
                </a:moveTo>
                <a:lnTo>
                  <a:pt x="0" y="0"/>
                </a:lnTo>
              </a:path>
            </a:pathLst>
          </a:custGeom>
          <a:noFill/>
          <a:ln w="8509" cap="rnd">
            <a:solidFill>
              <a:srgbClr val="4083B4"/>
            </a:solidFill>
            <a:prstDash val="solid"/>
            <a:round/>
          </a:ln>
        </p:spPr>
      </p:sp>
      <p:sp>
        <p:nvSpPr>
          <p:cNvPr id="1475" name="V8 density and receptor to voxel">
            <a:extLst>
              <a:ext uri="{FF2B5EF4-FFF2-40B4-BE49-F238E27FC236}">
                <a16:creationId xmlns:a16="http://schemas.microsoft.com/office/drawing/2014/main" id="{61ECA984-FF9D-A5D0-F819-33661D001ABE}"/>
              </a:ext>
            </a:extLst>
          </p:cNvPr>
          <p:cNvSpPr/>
          <p:nvPr/>
        </p:nvSpPr>
        <p:spPr>
          <a:xfrm flipV="1">
            <a:off x="1767284" y="610807"/>
            <a:ext cx="148072" cy="45719"/>
          </a:xfrm>
          <a:custGeom>
            <a:avLst/>
            <a:gdLst/>
            <a:ahLst/>
            <a:cxnLst/>
            <a:rect l="l" t="t" r="r" b="b"/>
            <a:pathLst>
              <a:path w="96730" h="1">
                <a:moveTo>
                  <a:pt x="0" y="0"/>
                </a:moveTo>
                <a:lnTo>
                  <a:pt x="96730" y="0"/>
                </a:lnTo>
              </a:path>
            </a:pathLst>
          </a:custGeom>
          <a:noFill/>
          <a:ln w="8509" cap="rnd">
            <a:solidFill>
              <a:srgbClr val="4083B4"/>
            </a:solidFill>
            <a:prstDash val="solid"/>
            <a:round/>
          </a:ln>
        </p:spPr>
      </p:sp>
      <p:sp>
        <p:nvSpPr>
          <p:cNvPr id="1476" name="V8 density and receptor to voxel head">
            <a:extLst>
              <a:ext uri="{FF2B5EF4-FFF2-40B4-BE49-F238E27FC236}">
                <a16:creationId xmlns:a16="http://schemas.microsoft.com/office/drawing/2014/main" id="{D6CAD338-44F5-8993-3618-9A1839CB2DBC}"/>
              </a:ext>
            </a:extLst>
          </p:cNvPr>
          <p:cNvSpPr/>
          <p:nvPr/>
        </p:nvSpPr>
        <p:spPr>
          <a:xfrm>
            <a:off x="1904526" y="644334"/>
            <a:ext cx="28321" cy="24384"/>
          </a:xfrm>
          <a:custGeom>
            <a:avLst/>
            <a:gdLst/>
            <a:ahLst/>
            <a:cxnLst/>
            <a:rect l="l" t="t" r="r" b="b"/>
            <a:pathLst>
              <a:path w="28321" h="24384">
                <a:moveTo>
                  <a:pt x="28321" y="12192"/>
                </a:moveTo>
                <a:lnTo>
                  <a:pt x="0" y="0"/>
                </a:lnTo>
                <a:lnTo>
                  <a:pt x="0" y="24384"/>
                </a:lnTo>
                <a:close/>
              </a:path>
            </a:pathLst>
          </a:custGeom>
          <a:solidFill>
            <a:srgbClr val="4083B4"/>
          </a:solidFill>
          <a:ln w="0" cap="rnd">
            <a:noFill/>
          </a:ln>
        </p:spPr>
      </p:sp>
      <p:sp>
        <p:nvSpPr>
          <p:cNvPr id="1479" name="V8 Match input divider">
            <a:extLst>
              <a:ext uri="{FF2B5EF4-FFF2-40B4-BE49-F238E27FC236}">
                <a16:creationId xmlns:a16="http://schemas.microsoft.com/office/drawing/2014/main" id="{2EDC4EC7-D903-3262-650D-444D37299D28}"/>
              </a:ext>
            </a:extLst>
          </p:cNvPr>
          <p:cNvSpPr/>
          <p:nvPr/>
        </p:nvSpPr>
        <p:spPr>
          <a:xfrm>
            <a:off x="576470" y="2767063"/>
            <a:ext cx="957199" cy="1"/>
          </a:xfrm>
          <a:custGeom>
            <a:avLst/>
            <a:gdLst/>
            <a:ahLst/>
            <a:cxnLst/>
            <a:rect l="l" t="t" r="r" b="b"/>
            <a:pathLst>
              <a:path w="957199" h="1">
                <a:moveTo>
                  <a:pt x="0" y="0"/>
                </a:moveTo>
                <a:lnTo>
                  <a:pt x="957199" y="0"/>
                </a:lnTo>
              </a:path>
            </a:pathLst>
          </a:custGeom>
          <a:noFill/>
          <a:ln w="7290" cap="rnd">
            <a:solidFill>
              <a:srgbClr val="C8CFD4"/>
            </a:solidFill>
            <a:prstDash val="solid"/>
            <a:round/>
          </a:ln>
        </p:spPr>
      </p:sp>
      <p:sp>
        <p:nvSpPr>
          <p:cNvPr id="1480" name="V8 pool to concat">
            <a:extLst>
              <a:ext uri="{FF2B5EF4-FFF2-40B4-BE49-F238E27FC236}">
                <a16:creationId xmlns:a16="http://schemas.microsoft.com/office/drawing/2014/main" id="{3702663D-F294-9B06-B213-0076F82464A6}"/>
              </a:ext>
            </a:extLst>
          </p:cNvPr>
          <p:cNvSpPr/>
          <p:nvPr/>
        </p:nvSpPr>
        <p:spPr>
          <a:xfrm>
            <a:off x="881771" y="3603168"/>
            <a:ext cx="355873" cy="100152"/>
          </a:xfrm>
          <a:custGeom>
            <a:avLst/>
            <a:gdLst/>
            <a:ahLst/>
            <a:cxnLst/>
            <a:rect l="l" t="t" r="r" b="b"/>
            <a:pathLst>
              <a:path w="355873" h="100152">
                <a:moveTo>
                  <a:pt x="0" y="0"/>
                </a:moveTo>
                <a:lnTo>
                  <a:pt x="0" y="100152"/>
                </a:lnTo>
                <a:lnTo>
                  <a:pt x="355873" y="100152"/>
                </a:lnTo>
              </a:path>
            </a:pathLst>
          </a:custGeom>
          <a:noFill/>
          <a:ln w="8509" cap="rnd">
            <a:solidFill>
              <a:srgbClr val="3B8C80"/>
            </a:solidFill>
            <a:prstDash val="solid"/>
            <a:round/>
          </a:ln>
        </p:spPr>
      </p:sp>
      <p:sp>
        <p:nvSpPr>
          <p:cNvPr id="1481" name="V8 attention to concat">
            <a:extLst>
              <a:ext uri="{FF2B5EF4-FFF2-40B4-BE49-F238E27FC236}">
                <a16:creationId xmlns:a16="http://schemas.microsoft.com/office/drawing/2014/main" id="{45C4FCB5-3380-E3A8-B0B1-54A427F52361}"/>
              </a:ext>
            </a:extLst>
          </p:cNvPr>
          <p:cNvSpPr/>
          <p:nvPr/>
        </p:nvSpPr>
        <p:spPr>
          <a:xfrm>
            <a:off x="1237644" y="3603168"/>
            <a:ext cx="356064" cy="100152"/>
          </a:xfrm>
          <a:custGeom>
            <a:avLst/>
            <a:gdLst/>
            <a:ahLst/>
            <a:cxnLst/>
            <a:rect l="l" t="t" r="r" b="b"/>
            <a:pathLst>
              <a:path w="356064" h="100152">
                <a:moveTo>
                  <a:pt x="356064" y="0"/>
                </a:moveTo>
                <a:lnTo>
                  <a:pt x="356064" y="100152"/>
                </a:lnTo>
                <a:lnTo>
                  <a:pt x="0" y="100152"/>
                </a:lnTo>
              </a:path>
            </a:pathLst>
          </a:custGeom>
          <a:noFill/>
          <a:ln w="8509" cap="rnd">
            <a:solidFill>
              <a:srgbClr val="3B8C80"/>
            </a:solidFill>
            <a:prstDash val="solid"/>
            <a:round/>
          </a:ln>
        </p:spPr>
      </p:sp>
      <p:sp>
        <p:nvSpPr>
          <p:cNvPr id="1482" name="V8 concat to MLP">
            <a:extLst>
              <a:ext uri="{FF2B5EF4-FFF2-40B4-BE49-F238E27FC236}">
                <a16:creationId xmlns:a16="http://schemas.microsoft.com/office/drawing/2014/main" id="{366946BB-F669-FC2F-4DBA-809EA592E5E1}"/>
              </a:ext>
            </a:extLst>
          </p:cNvPr>
          <p:cNvSpPr/>
          <p:nvPr/>
        </p:nvSpPr>
        <p:spPr>
          <a:xfrm>
            <a:off x="1237644" y="3703320"/>
            <a:ext cx="1" cy="22181"/>
          </a:xfrm>
          <a:custGeom>
            <a:avLst/>
            <a:gdLst/>
            <a:ahLst/>
            <a:cxnLst/>
            <a:rect l="l" t="t" r="r" b="b"/>
            <a:pathLst>
              <a:path w="1" h="22181">
                <a:moveTo>
                  <a:pt x="0" y="0"/>
                </a:moveTo>
                <a:lnTo>
                  <a:pt x="0" y="22181"/>
                </a:lnTo>
              </a:path>
            </a:pathLst>
          </a:custGeom>
          <a:noFill/>
          <a:ln w="8509" cap="rnd">
            <a:solidFill>
              <a:srgbClr val="3B8C80"/>
            </a:solidFill>
            <a:prstDash val="solid"/>
            <a:round/>
          </a:ln>
        </p:spPr>
      </p:sp>
      <p:sp>
        <p:nvSpPr>
          <p:cNvPr id="1483" name="V8 concat to MLP head">
            <a:extLst>
              <a:ext uri="{FF2B5EF4-FFF2-40B4-BE49-F238E27FC236}">
                <a16:creationId xmlns:a16="http://schemas.microsoft.com/office/drawing/2014/main" id="{234835D4-EF31-832C-586B-712FBD8CEB61}"/>
              </a:ext>
            </a:extLst>
          </p:cNvPr>
          <p:cNvSpPr/>
          <p:nvPr/>
        </p:nvSpPr>
        <p:spPr>
          <a:xfrm>
            <a:off x="1225452" y="3709924"/>
            <a:ext cx="24384" cy="28321"/>
          </a:xfrm>
          <a:custGeom>
            <a:avLst/>
            <a:gdLst/>
            <a:ahLst/>
            <a:cxnLst/>
            <a:rect l="l" t="t" r="r" b="b"/>
            <a:pathLst>
              <a:path w="24384" h="28321">
                <a:moveTo>
                  <a:pt x="12192" y="28321"/>
                </a:moveTo>
                <a:lnTo>
                  <a:pt x="24384" y="0"/>
                </a:lnTo>
                <a:lnTo>
                  <a:pt x="0" y="0"/>
                </a:lnTo>
                <a:close/>
              </a:path>
            </a:pathLst>
          </a:custGeom>
          <a:solidFill>
            <a:srgbClr val="3B8C80"/>
          </a:solidFill>
          <a:ln w="0" cap="rnd">
            <a:noFill/>
          </a:ln>
        </p:spPr>
      </p:sp>
      <p:grpSp>
        <p:nvGrpSpPr>
          <p:cNvPr id="6" name="Find candidate blob 2">
            <a:extLst>
              <a:ext uri="{FF2B5EF4-FFF2-40B4-BE49-F238E27FC236}">
                <a16:creationId xmlns:a16="http://schemas.microsoft.com/office/drawing/2014/main" id="{52582F41-8562-EDCF-D547-FEE06D78B091}"/>
              </a:ext>
            </a:extLst>
          </p:cNvPr>
          <p:cNvGrpSpPr/>
          <p:nvPr/>
        </p:nvGrpSpPr>
        <p:grpSpPr>
          <a:xfrm rot="3197729">
            <a:off x="4553030" y="901286"/>
            <a:ext cx="140909" cy="118817"/>
            <a:chOff x="1928706" y="3559489"/>
            <a:chExt cx="227897" cy="155682"/>
          </a:xfrm>
        </p:grpSpPr>
        <p:sp>
          <p:nvSpPr>
            <p:cNvPr id="16" name="Candidate blob | editable contour">
              <a:extLst>
                <a:ext uri="{FF2B5EF4-FFF2-40B4-BE49-F238E27FC236}">
                  <a16:creationId xmlns:a16="http://schemas.microsoft.com/office/drawing/2014/main" id="{AC599FE5-B7C8-2310-361D-307EF409B159}"/>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17" name="ellipse_2612">
              <a:extLst>
                <a:ext uri="{FF2B5EF4-FFF2-40B4-BE49-F238E27FC236}">
                  <a16:creationId xmlns:a16="http://schemas.microsoft.com/office/drawing/2014/main" id="{899D545A-9188-B8A5-5122-F55763321954}"/>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50449" name="F2-bank-channel">
            <a:extLst>
              <a:ext uri="{FF2B5EF4-FFF2-40B4-BE49-F238E27FC236}">
                <a16:creationId xmlns:a16="http://schemas.microsoft.com/office/drawing/2014/main" id="{E8F7522B-3B27-4338-8014-8A4EEE25C15E}"/>
              </a:ext>
            </a:extLst>
          </p:cNvPr>
          <p:cNvSpPr>
            <a:spLocks noGrp="1"/>
          </p:cNvSpPr>
          <p:nvPr/>
        </p:nvSpPr>
        <p:spPr>
          <a:xfrm>
            <a:off x="1453500" y="508635"/>
            <a:ext cx="257175" cy="190500"/>
          </a:xfrm>
          <a:prstGeom prst="rect">
            <a:avLst/>
          </a:prstGeom>
          <a:solidFill>
            <a:srgbClr val="EBF7FC"/>
          </a:solidFill>
          <a:ln w="4286">
            <a:solidFill>
              <a:srgbClr val="A6C5DF"/>
            </a:solidFill>
          </a:ln>
        </p:spPr>
      </p:sp>
      <p:sp>
        <p:nvSpPr>
          <p:cNvPr id="50450" name="F2-bank-channel">
            <a:extLst>
              <a:ext uri="{FF2B5EF4-FFF2-40B4-BE49-F238E27FC236}">
                <a16:creationId xmlns:a16="http://schemas.microsoft.com/office/drawing/2014/main" id="{44CA542A-604D-4AA5-B11D-B6617579A677}"/>
              </a:ext>
            </a:extLst>
          </p:cNvPr>
          <p:cNvSpPr>
            <a:spLocks noGrp="1"/>
          </p:cNvSpPr>
          <p:nvPr/>
        </p:nvSpPr>
        <p:spPr>
          <a:xfrm>
            <a:off x="1445880" y="515303"/>
            <a:ext cx="257175" cy="190500"/>
          </a:xfrm>
          <a:prstGeom prst="rect">
            <a:avLst/>
          </a:prstGeom>
          <a:solidFill>
            <a:srgbClr val="EBF7FC"/>
          </a:solidFill>
          <a:ln w="4286">
            <a:solidFill>
              <a:srgbClr val="A6C5DF"/>
            </a:solidFill>
          </a:ln>
        </p:spPr>
      </p:sp>
      <p:sp>
        <p:nvSpPr>
          <p:cNvPr id="50451" name="F2-bank-channel">
            <a:extLst>
              <a:ext uri="{FF2B5EF4-FFF2-40B4-BE49-F238E27FC236}">
                <a16:creationId xmlns:a16="http://schemas.microsoft.com/office/drawing/2014/main" id="{94C83CC1-C6DF-4DC5-87DF-BCD87221CF3B}"/>
              </a:ext>
            </a:extLst>
          </p:cNvPr>
          <p:cNvSpPr>
            <a:spLocks noGrp="1"/>
          </p:cNvSpPr>
          <p:nvPr/>
        </p:nvSpPr>
        <p:spPr>
          <a:xfrm>
            <a:off x="1438260" y="521970"/>
            <a:ext cx="257175" cy="190500"/>
          </a:xfrm>
          <a:prstGeom prst="rect">
            <a:avLst/>
          </a:prstGeom>
          <a:solidFill>
            <a:srgbClr val="EBF7FC"/>
          </a:solidFill>
          <a:ln w="4286">
            <a:solidFill>
              <a:srgbClr val="A6C5DF"/>
            </a:solidFill>
          </a:ln>
        </p:spPr>
      </p:sp>
      <p:sp>
        <p:nvSpPr>
          <p:cNvPr id="50452" name="F2-bank-channel">
            <a:extLst>
              <a:ext uri="{FF2B5EF4-FFF2-40B4-BE49-F238E27FC236}">
                <a16:creationId xmlns:a16="http://schemas.microsoft.com/office/drawing/2014/main" id="{1ABD8E71-8A8E-4A01-9656-5F57A7EAD863}"/>
              </a:ext>
            </a:extLst>
          </p:cNvPr>
          <p:cNvSpPr>
            <a:spLocks noGrp="1"/>
          </p:cNvSpPr>
          <p:nvPr/>
        </p:nvSpPr>
        <p:spPr>
          <a:xfrm>
            <a:off x="1430640" y="528638"/>
            <a:ext cx="257175" cy="190500"/>
          </a:xfrm>
          <a:prstGeom prst="rect">
            <a:avLst/>
          </a:prstGeom>
          <a:solidFill>
            <a:srgbClr val="EBF7FC"/>
          </a:solidFill>
          <a:ln w="4286">
            <a:solidFill>
              <a:srgbClr val="A6C5DF"/>
            </a:solidFill>
          </a:ln>
        </p:spPr>
      </p:sp>
      <p:sp>
        <p:nvSpPr>
          <p:cNvPr id="50453" name="F2-bank-channel">
            <a:extLst>
              <a:ext uri="{FF2B5EF4-FFF2-40B4-BE49-F238E27FC236}">
                <a16:creationId xmlns:a16="http://schemas.microsoft.com/office/drawing/2014/main" id="{A1E78B7C-AF8B-46CF-BE9A-7739D3A000CC}"/>
              </a:ext>
            </a:extLst>
          </p:cNvPr>
          <p:cNvSpPr>
            <a:spLocks noGrp="1"/>
          </p:cNvSpPr>
          <p:nvPr/>
        </p:nvSpPr>
        <p:spPr>
          <a:xfrm>
            <a:off x="1423020" y="535305"/>
            <a:ext cx="257175" cy="190500"/>
          </a:xfrm>
          <a:prstGeom prst="rect">
            <a:avLst/>
          </a:prstGeom>
          <a:solidFill>
            <a:srgbClr val="EBF7FC"/>
          </a:solidFill>
          <a:ln w="4286">
            <a:solidFill>
              <a:srgbClr val="A6C5DF"/>
            </a:solidFill>
          </a:ln>
        </p:spPr>
      </p:sp>
      <p:sp>
        <p:nvSpPr>
          <p:cNvPr id="50454" name="F2-bank-channel">
            <a:extLst>
              <a:ext uri="{FF2B5EF4-FFF2-40B4-BE49-F238E27FC236}">
                <a16:creationId xmlns:a16="http://schemas.microsoft.com/office/drawing/2014/main" id="{F902D412-512B-42B7-B05D-EDD9258097DC}"/>
              </a:ext>
            </a:extLst>
          </p:cNvPr>
          <p:cNvSpPr>
            <a:spLocks noGrp="1"/>
          </p:cNvSpPr>
          <p:nvPr/>
        </p:nvSpPr>
        <p:spPr>
          <a:xfrm>
            <a:off x="1415400" y="541973"/>
            <a:ext cx="257175" cy="190500"/>
          </a:xfrm>
          <a:prstGeom prst="rect">
            <a:avLst/>
          </a:prstGeom>
          <a:solidFill>
            <a:srgbClr val="EBF7FC"/>
          </a:solidFill>
          <a:ln w="4286">
            <a:solidFill>
              <a:srgbClr val="A6C5DF"/>
            </a:solidFill>
          </a:ln>
        </p:spPr>
      </p:sp>
      <p:sp>
        <p:nvSpPr>
          <p:cNvPr id="50455" name="F2-bank-channel">
            <a:extLst>
              <a:ext uri="{FF2B5EF4-FFF2-40B4-BE49-F238E27FC236}">
                <a16:creationId xmlns:a16="http://schemas.microsoft.com/office/drawing/2014/main" id="{CA6824A1-9C37-4EE2-8CF4-7C88BCE1DBE6}"/>
              </a:ext>
            </a:extLst>
          </p:cNvPr>
          <p:cNvSpPr>
            <a:spLocks noGrp="1"/>
          </p:cNvSpPr>
          <p:nvPr/>
        </p:nvSpPr>
        <p:spPr>
          <a:xfrm>
            <a:off x="1407780" y="548640"/>
            <a:ext cx="257175" cy="190500"/>
          </a:xfrm>
          <a:prstGeom prst="rect">
            <a:avLst/>
          </a:prstGeom>
          <a:solidFill>
            <a:srgbClr val="EBF7FC"/>
          </a:solidFill>
          <a:ln w="4286">
            <a:solidFill>
              <a:srgbClr val="A6C5DF"/>
            </a:solidFill>
          </a:ln>
        </p:spPr>
      </p:sp>
      <p:sp>
        <p:nvSpPr>
          <p:cNvPr id="50456" name="F2-bank-channel">
            <a:extLst>
              <a:ext uri="{FF2B5EF4-FFF2-40B4-BE49-F238E27FC236}">
                <a16:creationId xmlns:a16="http://schemas.microsoft.com/office/drawing/2014/main" id="{2705DA7A-40F9-48D2-946C-8019421C16B7}"/>
              </a:ext>
            </a:extLst>
          </p:cNvPr>
          <p:cNvSpPr>
            <a:spLocks noGrp="1"/>
          </p:cNvSpPr>
          <p:nvPr/>
        </p:nvSpPr>
        <p:spPr>
          <a:xfrm>
            <a:off x="1400160" y="555308"/>
            <a:ext cx="257175" cy="190500"/>
          </a:xfrm>
          <a:prstGeom prst="rect">
            <a:avLst/>
          </a:prstGeom>
          <a:solidFill>
            <a:srgbClr val="EBF7FC"/>
          </a:solidFill>
          <a:ln w="4286">
            <a:solidFill>
              <a:srgbClr val="A6C5DF"/>
            </a:solidFill>
          </a:ln>
        </p:spPr>
      </p:sp>
      <p:sp>
        <p:nvSpPr>
          <p:cNvPr id="50457" name="F2-bank-channel">
            <a:extLst>
              <a:ext uri="{FF2B5EF4-FFF2-40B4-BE49-F238E27FC236}">
                <a16:creationId xmlns:a16="http://schemas.microsoft.com/office/drawing/2014/main" id="{E1B9C475-D32F-4E88-9AAA-6701AFC1AC14}"/>
              </a:ext>
            </a:extLst>
          </p:cNvPr>
          <p:cNvSpPr>
            <a:spLocks noGrp="1"/>
          </p:cNvSpPr>
          <p:nvPr/>
        </p:nvSpPr>
        <p:spPr>
          <a:xfrm>
            <a:off x="1392540" y="561975"/>
            <a:ext cx="257175" cy="190500"/>
          </a:xfrm>
          <a:prstGeom prst="rect">
            <a:avLst/>
          </a:prstGeom>
          <a:solidFill>
            <a:srgbClr val="EBF7FC"/>
          </a:solidFill>
          <a:ln w="4286">
            <a:solidFill>
              <a:srgbClr val="A6C5DF"/>
            </a:solidFill>
          </a:ln>
        </p:spPr>
      </p:sp>
      <p:sp>
        <p:nvSpPr>
          <p:cNvPr id="50458" name="F2-density-voxel">
            <a:extLst>
              <a:ext uri="{FF2B5EF4-FFF2-40B4-BE49-F238E27FC236}">
                <a16:creationId xmlns:a16="http://schemas.microsoft.com/office/drawing/2014/main" id="{A49953DB-68D8-42EB-963F-DD42F453137D}"/>
              </a:ext>
            </a:extLst>
          </p:cNvPr>
          <p:cNvSpPr>
            <a:spLocks noGrp="1"/>
          </p:cNvSpPr>
          <p:nvPr/>
        </p:nvSpPr>
        <p:spPr>
          <a:xfrm>
            <a:off x="1411590" y="571500"/>
            <a:ext cx="52388" cy="42863"/>
          </a:xfrm>
          <a:prstGeom prst="rect">
            <a:avLst/>
          </a:prstGeom>
          <a:solidFill>
            <a:srgbClr val="CCE5EE"/>
          </a:solidFill>
          <a:ln w="0">
            <a:noFill/>
          </a:ln>
        </p:spPr>
      </p:sp>
      <p:sp>
        <p:nvSpPr>
          <p:cNvPr id="50459" name="F2-density-voxel">
            <a:extLst>
              <a:ext uri="{FF2B5EF4-FFF2-40B4-BE49-F238E27FC236}">
                <a16:creationId xmlns:a16="http://schemas.microsoft.com/office/drawing/2014/main" id="{ECECDED8-7BB6-465D-90CE-1566D913C0F0}"/>
              </a:ext>
            </a:extLst>
          </p:cNvPr>
          <p:cNvSpPr>
            <a:spLocks noGrp="1"/>
          </p:cNvSpPr>
          <p:nvPr/>
        </p:nvSpPr>
        <p:spPr>
          <a:xfrm>
            <a:off x="1463978" y="571500"/>
            <a:ext cx="52388" cy="42863"/>
          </a:xfrm>
          <a:prstGeom prst="rect">
            <a:avLst/>
          </a:prstGeom>
          <a:solidFill>
            <a:srgbClr val="86C0D7"/>
          </a:solidFill>
          <a:ln w="0">
            <a:noFill/>
          </a:ln>
        </p:spPr>
      </p:sp>
      <p:sp>
        <p:nvSpPr>
          <p:cNvPr id="50460" name="F2-density-voxel">
            <a:extLst>
              <a:ext uri="{FF2B5EF4-FFF2-40B4-BE49-F238E27FC236}">
                <a16:creationId xmlns:a16="http://schemas.microsoft.com/office/drawing/2014/main" id="{49E89024-8821-43E6-B830-D5D2C6143679}"/>
              </a:ext>
            </a:extLst>
          </p:cNvPr>
          <p:cNvSpPr>
            <a:spLocks noGrp="1"/>
          </p:cNvSpPr>
          <p:nvPr/>
        </p:nvSpPr>
        <p:spPr>
          <a:xfrm>
            <a:off x="1516365" y="571500"/>
            <a:ext cx="52388" cy="42863"/>
          </a:xfrm>
          <a:prstGeom prst="rect">
            <a:avLst/>
          </a:prstGeom>
          <a:solidFill>
            <a:srgbClr val="4D9ABB"/>
          </a:solidFill>
          <a:ln w="0">
            <a:noFill/>
          </a:ln>
        </p:spPr>
      </p:sp>
      <p:sp>
        <p:nvSpPr>
          <p:cNvPr id="50461" name="F2-density-voxel">
            <a:extLst>
              <a:ext uri="{FF2B5EF4-FFF2-40B4-BE49-F238E27FC236}">
                <a16:creationId xmlns:a16="http://schemas.microsoft.com/office/drawing/2014/main" id="{3A635687-B1F5-496B-9A49-461D8BC35087}"/>
              </a:ext>
            </a:extLst>
          </p:cNvPr>
          <p:cNvSpPr>
            <a:spLocks noGrp="1"/>
          </p:cNvSpPr>
          <p:nvPr/>
        </p:nvSpPr>
        <p:spPr>
          <a:xfrm>
            <a:off x="1568753" y="571500"/>
            <a:ext cx="52388" cy="42863"/>
          </a:xfrm>
          <a:prstGeom prst="rect">
            <a:avLst/>
          </a:prstGeom>
          <a:solidFill>
            <a:srgbClr val="B6DDE7"/>
          </a:solidFill>
          <a:ln w="0">
            <a:noFill/>
          </a:ln>
        </p:spPr>
      </p:sp>
      <p:sp>
        <p:nvSpPr>
          <p:cNvPr id="50462" name="F2-density-voxel">
            <a:extLst>
              <a:ext uri="{FF2B5EF4-FFF2-40B4-BE49-F238E27FC236}">
                <a16:creationId xmlns:a16="http://schemas.microsoft.com/office/drawing/2014/main" id="{FEC54E9C-643D-4824-B955-66BA7E401A0E}"/>
              </a:ext>
            </a:extLst>
          </p:cNvPr>
          <p:cNvSpPr>
            <a:spLocks noGrp="1"/>
          </p:cNvSpPr>
          <p:nvPr/>
        </p:nvSpPr>
        <p:spPr>
          <a:xfrm>
            <a:off x="1411590" y="614363"/>
            <a:ext cx="52388" cy="42863"/>
          </a:xfrm>
          <a:prstGeom prst="rect">
            <a:avLst/>
          </a:prstGeom>
          <a:solidFill>
            <a:srgbClr val="86C0D7"/>
          </a:solidFill>
          <a:ln w="0">
            <a:noFill/>
          </a:ln>
        </p:spPr>
      </p:sp>
      <p:sp>
        <p:nvSpPr>
          <p:cNvPr id="50463" name="F2-density-voxel">
            <a:extLst>
              <a:ext uri="{FF2B5EF4-FFF2-40B4-BE49-F238E27FC236}">
                <a16:creationId xmlns:a16="http://schemas.microsoft.com/office/drawing/2014/main" id="{ED2290E5-D29A-42C8-863E-1A0B5A093DAF}"/>
              </a:ext>
            </a:extLst>
          </p:cNvPr>
          <p:cNvSpPr>
            <a:spLocks noGrp="1"/>
          </p:cNvSpPr>
          <p:nvPr/>
        </p:nvSpPr>
        <p:spPr>
          <a:xfrm>
            <a:off x="1463978" y="614363"/>
            <a:ext cx="52388" cy="42863"/>
          </a:xfrm>
          <a:prstGeom prst="rect">
            <a:avLst/>
          </a:prstGeom>
          <a:solidFill>
            <a:srgbClr val="4D9ABB"/>
          </a:solidFill>
          <a:ln w="0">
            <a:noFill/>
          </a:ln>
        </p:spPr>
      </p:sp>
      <p:sp>
        <p:nvSpPr>
          <p:cNvPr id="50464" name="F2-density-voxel">
            <a:extLst>
              <a:ext uri="{FF2B5EF4-FFF2-40B4-BE49-F238E27FC236}">
                <a16:creationId xmlns:a16="http://schemas.microsoft.com/office/drawing/2014/main" id="{C030A993-BA02-4CBF-A526-9AF795928873}"/>
              </a:ext>
            </a:extLst>
          </p:cNvPr>
          <p:cNvSpPr>
            <a:spLocks noGrp="1"/>
          </p:cNvSpPr>
          <p:nvPr/>
        </p:nvSpPr>
        <p:spPr>
          <a:xfrm>
            <a:off x="1516365" y="614363"/>
            <a:ext cx="52388" cy="42863"/>
          </a:xfrm>
          <a:prstGeom prst="rect">
            <a:avLst/>
          </a:prstGeom>
          <a:solidFill>
            <a:srgbClr val="B6DDE7"/>
          </a:solidFill>
          <a:ln w="0">
            <a:noFill/>
          </a:ln>
        </p:spPr>
      </p:sp>
      <p:sp>
        <p:nvSpPr>
          <p:cNvPr id="50465" name="F2-density-voxel">
            <a:extLst>
              <a:ext uri="{FF2B5EF4-FFF2-40B4-BE49-F238E27FC236}">
                <a16:creationId xmlns:a16="http://schemas.microsoft.com/office/drawing/2014/main" id="{EC212EF2-C0F1-41AF-B3CE-D957D17932A0}"/>
              </a:ext>
            </a:extLst>
          </p:cNvPr>
          <p:cNvSpPr>
            <a:spLocks noGrp="1"/>
          </p:cNvSpPr>
          <p:nvPr/>
        </p:nvSpPr>
        <p:spPr>
          <a:xfrm>
            <a:off x="1568753" y="614363"/>
            <a:ext cx="52388" cy="42863"/>
          </a:xfrm>
          <a:prstGeom prst="rect">
            <a:avLst/>
          </a:prstGeom>
          <a:solidFill>
            <a:srgbClr val="CCE5EE"/>
          </a:solidFill>
          <a:ln w="0">
            <a:noFill/>
          </a:ln>
        </p:spPr>
      </p:sp>
      <p:sp>
        <p:nvSpPr>
          <p:cNvPr id="50466" name="F2-density-voxel">
            <a:extLst>
              <a:ext uri="{FF2B5EF4-FFF2-40B4-BE49-F238E27FC236}">
                <a16:creationId xmlns:a16="http://schemas.microsoft.com/office/drawing/2014/main" id="{8E8D1CD2-DC81-4A69-849C-F21783FD798D}"/>
              </a:ext>
            </a:extLst>
          </p:cNvPr>
          <p:cNvSpPr>
            <a:spLocks noGrp="1"/>
          </p:cNvSpPr>
          <p:nvPr/>
        </p:nvSpPr>
        <p:spPr>
          <a:xfrm>
            <a:off x="1411590" y="657225"/>
            <a:ext cx="52388" cy="42863"/>
          </a:xfrm>
          <a:prstGeom prst="rect">
            <a:avLst/>
          </a:prstGeom>
          <a:solidFill>
            <a:srgbClr val="4D9ABB"/>
          </a:solidFill>
          <a:ln w="0">
            <a:noFill/>
          </a:ln>
        </p:spPr>
      </p:sp>
      <p:sp>
        <p:nvSpPr>
          <p:cNvPr id="50467" name="F2-density-voxel">
            <a:extLst>
              <a:ext uri="{FF2B5EF4-FFF2-40B4-BE49-F238E27FC236}">
                <a16:creationId xmlns:a16="http://schemas.microsoft.com/office/drawing/2014/main" id="{CEA7FE12-330D-4160-8BE6-769BF6A26577}"/>
              </a:ext>
            </a:extLst>
          </p:cNvPr>
          <p:cNvSpPr>
            <a:spLocks noGrp="1"/>
          </p:cNvSpPr>
          <p:nvPr/>
        </p:nvSpPr>
        <p:spPr>
          <a:xfrm>
            <a:off x="1463978" y="657225"/>
            <a:ext cx="52388" cy="42863"/>
          </a:xfrm>
          <a:prstGeom prst="rect">
            <a:avLst/>
          </a:prstGeom>
          <a:solidFill>
            <a:srgbClr val="B6DDE7"/>
          </a:solidFill>
          <a:ln w="0">
            <a:noFill/>
          </a:ln>
        </p:spPr>
      </p:sp>
      <p:sp>
        <p:nvSpPr>
          <p:cNvPr id="50468" name="F2-density-voxel">
            <a:extLst>
              <a:ext uri="{FF2B5EF4-FFF2-40B4-BE49-F238E27FC236}">
                <a16:creationId xmlns:a16="http://schemas.microsoft.com/office/drawing/2014/main" id="{BE225EBF-D266-4631-9D7E-1B21643503B4}"/>
              </a:ext>
            </a:extLst>
          </p:cNvPr>
          <p:cNvSpPr>
            <a:spLocks noGrp="1"/>
          </p:cNvSpPr>
          <p:nvPr/>
        </p:nvSpPr>
        <p:spPr>
          <a:xfrm>
            <a:off x="1516365" y="657225"/>
            <a:ext cx="52388" cy="42863"/>
          </a:xfrm>
          <a:prstGeom prst="rect">
            <a:avLst/>
          </a:prstGeom>
          <a:solidFill>
            <a:srgbClr val="CCE5EE"/>
          </a:solidFill>
          <a:ln w="0">
            <a:noFill/>
          </a:ln>
        </p:spPr>
      </p:sp>
      <p:sp>
        <p:nvSpPr>
          <p:cNvPr id="50469" name="F2-density-voxel">
            <a:extLst>
              <a:ext uri="{FF2B5EF4-FFF2-40B4-BE49-F238E27FC236}">
                <a16:creationId xmlns:a16="http://schemas.microsoft.com/office/drawing/2014/main" id="{D56EA4DF-3429-4429-A2AA-6D7C9D33B341}"/>
              </a:ext>
            </a:extLst>
          </p:cNvPr>
          <p:cNvSpPr>
            <a:spLocks noGrp="1"/>
          </p:cNvSpPr>
          <p:nvPr/>
        </p:nvSpPr>
        <p:spPr>
          <a:xfrm>
            <a:off x="1568753" y="657225"/>
            <a:ext cx="52388" cy="42863"/>
          </a:xfrm>
          <a:prstGeom prst="rect">
            <a:avLst/>
          </a:prstGeom>
          <a:solidFill>
            <a:srgbClr val="86C0D7"/>
          </a:solidFill>
          <a:ln w="0">
            <a:noFill/>
          </a:ln>
        </p:spPr>
      </p:sp>
      <p:sp>
        <p:nvSpPr>
          <p:cNvPr id="50470" name="F2-density-voxel">
            <a:extLst>
              <a:ext uri="{FF2B5EF4-FFF2-40B4-BE49-F238E27FC236}">
                <a16:creationId xmlns:a16="http://schemas.microsoft.com/office/drawing/2014/main" id="{F4CB67F8-3427-42E0-B222-3C4C5B421A28}"/>
              </a:ext>
            </a:extLst>
          </p:cNvPr>
          <p:cNvSpPr>
            <a:spLocks noGrp="1"/>
          </p:cNvSpPr>
          <p:nvPr/>
        </p:nvSpPr>
        <p:spPr>
          <a:xfrm>
            <a:off x="1411590" y="700088"/>
            <a:ext cx="52388" cy="42863"/>
          </a:xfrm>
          <a:prstGeom prst="rect">
            <a:avLst/>
          </a:prstGeom>
          <a:solidFill>
            <a:srgbClr val="B6DDE7"/>
          </a:solidFill>
          <a:ln w="0">
            <a:noFill/>
          </a:ln>
        </p:spPr>
      </p:sp>
      <p:sp>
        <p:nvSpPr>
          <p:cNvPr id="50471" name="F2-density-voxel">
            <a:extLst>
              <a:ext uri="{FF2B5EF4-FFF2-40B4-BE49-F238E27FC236}">
                <a16:creationId xmlns:a16="http://schemas.microsoft.com/office/drawing/2014/main" id="{E62F2DC6-612B-4891-B2B7-8020312C0678}"/>
              </a:ext>
            </a:extLst>
          </p:cNvPr>
          <p:cNvSpPr>
            <a:spLocks noGrp="1"/>
          </p:cNvSpPr>
          <p:nvPr/>
        </p:nvSpPr>
        <p:spPr>
          <a:xfrm>
            <a:off x="1463978" y="700088"/>
            <a:ext cx="52388" cy="42863"/>
          </a:xfrm>
          <a:prstGeom prst="rect">
            <a:avLst/>
          </a:prstGeom>
          <a:solidFill>
            <a:srgbClr val="CCE5EE"/>
          </a:solidFill>
          <a:ln w="0">
            <a:noFill/>
          </a:ln>
        </p:spPr>
      </p:sp>
      <p:sp>
        <p:nvSpPr>
          <p:cNvPr id="50472" name="F2-density-voxel">
            <a:extLst>
              <a:ext uri="{FF2B5EF4-FFF2-40B4-BE49-F238E27FC236}">
                <a16:creationId xmlns:a16="http://schemas.microsoft.com/office/drawing/2014/main" id="{3D79F01F-5243-4E3C-8AA7-EE2C8B8C7E29}"/>
              </a:ext>
            </a:extLst>
          </p:cNvPr>
          <p:cNvSpPr>
            <a:spLocks noGrp="1"/>
          </p:cNvSpPr>
          <p:nvPr/>
        </p:nvSpPr>
        <p:spPr>
          <a:xfrm>
            <a:off x="1516365" y="700088"/>
            <a:ext cx="52388" cy="42863"/>
          </a:xfrm>
          <a:prstGeom prst="rect">
            <a:avLst/>
          </a:prstGeom>
          <a:solidFill>
            <a:srgbClr val="86C0D7"/>
          </a:solidFill>
          <a:ln w="0">
            <a:noFill/>
          </a:ln>
        </p:spPr>
      </p:sp>
      <p:sp>
        <p:nvSpPr>
          <p:cNvPr id="50473" name="F2-density-voxel">
            <a:extLst>
              <a:ext uri="{FF2B5EF4-FFF2-40B4-BE49-F238E27FC236}">
                <a16:creationId xmlns:a16="http://schemas.microsoft.com/office/drawing/2014/main" id="{7F5BC88D-76D1-4A24-B998-8BD41F9AADDB}"/>
              </a:ext>
            </a:extLst>
          </p:cNvPr>
          <p:cNvSpPr>
            <a:spLocks noGrp="1"/>
          </p:cNvSpPr>
          <p:nvPr/>
        </p:nvSpPr>
        <p:spPr>
          <a:xfrm>
            <a:off x="1568753" y="700088"/>
            <a:ext cx="52388" cy="42863"/>
          </a:xfrm>
          <a:prstGeom prst="rect">
            <a:avLst/>
          </a:prstGeom>
          <a:solidFill>
            <a:srgbClr val="4D9ABB"/>
          </a:solidFill>
          <a:ln w="0">
            <a:noFill/>
          </a:ln>
        </p:spPr>
      </p:sp>
      <p:sp>
        <p:nvSpPr>
          <p:cNvPr id="50474" name="F2-spatial-transform">
            <a:extLst>
              <a:ext uri="{FF2B5EF4-FFF2-40B4-BE49-F238E27FC236}">
                <a16:creationId xmlns:a16="http://schemas.microsoft.com/office/drawing/2014/main" id="{A85283F8-9FE2-48A1-8429-5356F2D370E2}"/>
              </a:ext>
            </a:extLst>
          </p:cNvPr>
          <p:cNvSpPr>
            <a:spLocks noGrp="1"/>
          </p:cNvSpPr>
          <p:nvPr/>
        </p:nvSpPr>
        <p:spPr>
          <a:xfrm>
            <a:off x="981877" y="549713"/>
            <a:ext cx="376238"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sz="460" b="0" dirty="0">
                <a:solidFill>
                  <a:srgbClr val="263442"/>
                </a:solidFill>
                <a:latin typeface="Arial"/>
                <a:ea typeface="Arial"/>
                <a:cs typeface="Arial"/>
              </a:rPr>
              <a:t>Spatial</a:t>
            </a:r>
          </a:p>
          <a:p>
            <a:pPr algn="ctr">
              <a:defRPr sz="540" b="0">
                <a:solidFill>
                  <a:srgbClr val="263442"/>
                </a:solidFill>
                <a:latin typeface="Arial"/>
                <a:ea typeface="Arial"/>
                <a:cs typeface="Arial"/>
              </a:defRPr>
            </a:pPr>
            <a:r>
              <a:rPr sz="460" b="0" dirty="0">
                <a:solidFill>
                  <a:srgbClr val="263442"/>
                </a:solidFill>
                <a:latin typeface="Arial"/>
                <a:ea typeface="Arial"/>
                <a:cs typeface="Arial"/>
              </a:rPr>
              <a:t>transform</a:t>
            </a:r>
          </a:p>
        </p:txBody>
      </p:sp>
      <p:sp>
        <p:nvSpPr>
          <p:cNvPr id="50475" name="F2-atom-embeddings-input">
            <a:extLst>
              <a:ext uri="{FF2B5EF4-FFF2-40B4-BE49-F238E27FC236}">
                <a16:creationId xmlns:a16="http://schemas.microsoft.com/office/drawing/2014/main" id="{0B4B93C5-B055-4ECE-8D5F-9FD8F9F29D6A}"/>
              </a:ext>
            </a:extLst>
          </p:cNvPr>
          <p:cNvSpPr>
            <a:spLocks noGrp="1"/>
          </p:cNvSpPr>
          <p:nvPr/>
        </p:nvSpPr>
        <p:spPr>
          <a:xfrm>
            <a:off x="1010565" y="1287494"/>
            <a:ext cx="327329"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lang="en-US" sz="460" b="0" dirty="0">
                <a:solidFill>
                  <a:srgbClr val="263442"/>
                </a:solidFill>
                <a:latin typeface="Arial"/>
                <a:ea typeface="Arial"/>
                <a:cs typeface="Arial"/>
              </a:rPr>
              <a:t>E</a:t>
            </a:r>
            <a:r>
              <a:rPr sz="460" b="0" dirty="0">
                <a:solidFill>
                  <a:srgbClr val="263442"/>
                </a:solidFill>
                <a:latin typeface="Arial"/>
                <a:ea typeface="Arial"/>
                <a:cs typeface="Arial"/>
              </a:rPr>
              <a:t>mbedding</a:t>
            </a:r>
            <a:endParaRPr lang="en-US" sz="460" b="0" dirty="0">
              <a:solidFill>
                <a:srgbClr val="263442"/>
              </a:solidFill>
              <a:latin typeface="Arial"/>
              <a:ea typeface="Arial"/>
              <a:cs typeface="Arial"/>
            </a:endParaRPr>
          </a:p>
          <a:p>
            <a:pPr algn="ctr">
              <a:defRPr sz="540" b="0">
                <a:solidFill>
                  <a:srgbClr val="263442"/>
                </a:solidFill>
                <a:latin typeface="Arial"/>
                <a:ea typeface="Arial"/>
                <a:cs typeface="Arial"/>
              </a:defRPr>
            </a:pPr>
            <a:r>
              <a:rPr lang="en-US" altLang="zh-CN" sz="460" b="0" dirty="0">
                <a:solidFill>
                  <a:srgbClr val="263442"/>
                </a:solidFill>
                <a:latin typeface="Arial"/>
                <a:ea typeface="Arial"/>
                <a:cs typeface="Arial"/>
              </a:rPr>
              <a:t>head</a:t>
            </a:r>
            <a:endParaRPr sz="460" b="0" dirty="0">
              <a:solidFill>
                <a:srgbClr val="263442"/>
              </a:solidFill>
              <a:latin typeface="Arial"/>
              <a:ea typeface="Arial"/>
              <a:cs typeface="Arial"/>
            </a:endParaRPr>
          </a:p>
        </p:txBody>
      </p:sp>
      <p:pic>
        <p:nvPicPr>
          <p:cNvPr id="50482" name="图片 50481">
            <a:extLst>
              <a:ext uri="{FF2B5EF4-FFF2-40B4-BE49-F238E27FC236}">
                <a16:creationId xmlns:a16="http://schemas.microsoft.com/office/drawing/2014/main" id="{CC697937-E8CE-4EDF-BB17-1FEA96E39283}"/>
              </a:ext>
            </a:extLst>
          </p:cNvPr>
          <p:cNvPicPr>
            <a:picLocks noChangeAspect="1"/>
          </p:cNvPicPr>
          <p:nvPr/>
        </p:nvPicPr>
        <p:blipFill>
          <a:blip r:embed="rId8"/>
          <a:stretch/>
        </p:blipFill>
        <p:spPr>
          <a:xfrm>
            <a:off x="586641" y="2943948"/>
            <a:ext cx="414760" cy="342900"/>
          </a:xfrm>
          <a:prstGeom prst="rect">
            <a:avLst/>
          </a:prstGeom>
        </p:spPr>
      </p:pic>
      <p:grpSp>
        <p:nvGrpSpPr>
          <p:cNvPr id="50493" name="Find preview 15"/>
          <p:cNvGrpSpPr/>
          <p:nvPr/>
        </p:nvGrpSpPr>
        <p:grpSpPr>
          <a:xfrm>
            <a:off x="582671" y="471488"/>
            <a:ext cx="404812" cy="395288"/>
            <a:chOff x="511635" y="471488"/>
            <a:chExt cx="404812" cy="395288"/>
          </a:xfrm>
        </p:grpSpPr>
        <p:pic>
          <p:nvPicPr>
            <p:cNvPr id="1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8CF1199C-6488-C5B6-B489-1131732B4FBF}"/>
                </a:ext>
              </a:extLst>
            </p:cNvPr>
            <p:cNvPicPr/>
            <p:nvPr/>
          </p:nvPicPr>
          <p:blipFill>
            <a:blip r:embed="rId4"/>
            <a:stretch>
              <a:fillRect/>
            </a:stretch>
          </p:blipFill>
          <p:spPr>
            <a:xfrm>
              <a:off x="511635" y="475859"/>
              <a:ext cx="404812" cy="386544"/>
            </a:xfrm>
            <a:prstGeom prst="rect">
              <a:avLst/>
            </a:prstGeom>
          </p:spPr>
        </p:pic>
        <p:sp>
          <p:nvSpPr>
            <p:cNvPr id="50476" name="crop-cube">
              <a:extLst>
                <a:ext uri="{FF2B5EF4-FFF2-40B4-BE49-F238E27FC236}">
                  <a16:creationId xmlns:a16="http://schemas.microsoft.com/office/drawing/2014/main" id="{25839399-079E-4307-9725-E085483F7FD6}"/>
                </a:ext>
              </a:extLst>
            </p:cNvPr>
            <p:cNvSpPr>
              <a:spLocks noGrp="1"/>
            </p:cNvSpPr>
            <p:nvPr/>
          </p:nvSpPr>
          <p:spPr>
            <a:xfrm>
              <a:off x="700088" y="626745"/>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477" name="crop-cube">
              <a:extLst>
                <a:ext uri="{FF2B5EF4-FFF2-40B4-BE49-F238E27FC236}">
                  <a16:creationId xmlns:a16="http://schemas.microsoft.com/office/drawing/2014/main" id="{07D86F79-577D-4116-BDEA-F38D19D792BA}"/>
                </a:ext>
              </a:extLst>
            </p:cNvPr>
            <p:cNvSpPr>
              <a:spLocks noGrp="1"/>
            </p:cNvSpPr>
            <p:nvPr/>
          </p:nvSpPr>
          <p:spPr>
            <a:xfrm>
              <a:off x="788194" y="626745"/>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478" name="F2-density-crop-size">
              <a:extLst>
                <a:ext uri="{FF2B5EF4-FFF2-40B4-BE49-F238E27FC236}">
                  <a16:creationId xmlns:a16="http://schemas.microsoft.com/office/drawing/2014/main" id="{9B6ECDDF-4CA0-44BE-83B1-7FF800ECF209}"/>
                </a:ext>
              </a:extLst>
            </p:cNvPr>
            <p:cNvSpPr>
              <a:spLocks noGrp="1"/>
            </p:cNvSpPr>
            <p:nvPr/>
          </p:nvSpPr>
          <p:spPr>
            <a:xfrm>
              <a:off x="640556" y="766763"/>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494" name="Find preview 1435"/>
          <p:cNvGrpSpPr/>
          <p:nvPr/>
        </p:nvGrpSpPr>
        <p:grpSpPr>
          <a:xfrm>
            <a:off x="582671" y="1252538"/>
            <a:ext cx="404812" cy="395288"/>
            <a:chOff x="511635" y="1252538"/>
            <a:chExt cx="404812" cy="395288"/>
          </a:xfrm>
        </p:grpSpPr>
        <p:pic>
          <p:nvPicPr>
            <p:cNvPr id="1435" name="Find clear receptor" descr="Receptor cartoon rendered from unchanged local coordinates, chain C1 of the 9LLG CA2 model.">
              <a:extLst>
                <a:ext uri="{FF2B5EF4-FFF2-40B4-BE49-F238E27FC236}">
                  <a16:creationId xmlns:a16="http://schemas.microsoft.com/office/drawing/2014/main" id="{24C88AB2-5918-0F4D-EDE6-0D89FC02F100}"/>
                </a:ext>
              </a:extLst>
            </p:cNvPr>
            <p:cNvPicPr/>
            <p:nvPr/>
          </p:nvPicPr>
          <p:blipFill>
            <a:blip r:embed="rId7"/>
            <a:srcRect l="16857" t="30389" r="19786" b="22500"/>
            <a:stretch>
              <a:fillRect/>
            </a:stretch>
          </p:blipFill>
          <p:spPr>
            <a:xfrm>
              <a:off x="511635" y="1256674"/>
              <a:ext cx="404812" cy="387014"/>
            </a:xfrm>
            <a:prstGeom prst="rect">
              <a:avLst/>
            </a:prstGeom>
          </p:spPr>
        </p:pic>
        <p:sp>
          <p:nvSpPr>
            <p:cNvPr id="50479" name="crop-cube">
              <a:extLst>
                <a:ext uri="{FF2B5EF4-FFF2-40B4-BE49-F238E27FC236}">
                  <a16:creationId xmlns:a16="http://schemas.microsoft.com/office/drawing/2014/main" id="{B083B324-58BF-4271-92CE-6A3DCE5DBE53}"/>
                </a:ext>
              </a:extLst>
            </p:cNvPr>
            <p:cNvSpPr>
              <a:spLocks noGrp="1"/>
            </p:cNvSpPr>
            <p:nvPr/>
          </p:nvSpPr>
          <p:spPr>
            <a:xfrm>
              <a:off x="700088" y="1404938"/>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480" name="crop-cube">
              <a:extLst>
                <a:ext uri="{FF2B5EF4-FFF2-40B4-BE49-F238E27FC236}">
                  <a16:creationId xmlns:a16="http://schemas.microsoft.com/office/drawing/2014/main" id="{0E8C65BE-9745-4184-B8B7-6FD5E9341DBD}"/>
                </a:ext>
              </a:extLst>
            </p:cNvPr>
            <p:cNvSpPr>
              <a:spLocks noGrp="1"/>
            </p:cNvSpPr>
            <p:nvPr/>
          </p:nvSpPr>
          <p:spPr>
            <a:xfrm>
              <a:off x="788194" y="1404938"/>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481" name="F2-receptor-crop-size">
              <a:extLst>
                <a:ext uri="{FF2B5EF4-FFF2-40B4-BE49-F238E27FC236}">
                  <a16:creationId xmlns:a16="http://schemas.microsoft.com/office/drawing/2014/main" id="{11CB5595-3267-408D-9A25-39E3920D0458}"/>
                </a:ext>
              </a:extLst>
            </p:cNvPr>
            <p:cNvSpPr>
              <a:spLocks noGrp="1"/>
            </p:cNvSpPr>
            <p:nvPr/>
          </p:nvSpPr>
          <p:spPr>
            <a:xfrm>
              <a:off x="640556" y="1544955"/>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495" name="Find preview 25"/>
          <p:cNvGrpSpPr/>
          <p:nvPr/>
        </p:nvGrpSpPr>
        <p:grpSpPr>
          <a:xfrm>
            <a:off x="4319205" y="499672"/>
            <a:ext cx="404812" cy="386544"/>
            <a:chOff x="4349067" y="499672"/>
            <a:chExt cx="404812" cy="386544"/>
          </a:xfrm>
        </p:grpSpPr>
        <p:pic>
          <p:nvPicPr>
            <p:cNvPr id="2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E01FAF0F-7383-AEC3-8192-CE781D4C8B97}"/>
                </a:ext>
              </a:extLst>
            </p:cNvPr>
            <p:cNvPicPr/>
            <p:nvPr/>
          </p:nvPicPr>
          <p:blipFill>
            <a:blip r:embed="rId4"/>
            <a:stretch>
              <a:fillRect/>
            </a:stretch>
          </p:blipFill>
          <p:spPr>
            <a:xfrm>
              <a:off x="4349067" y="499672"/>
              <a:ext cx="404812" cy="386544"/>
            </a:xfrm>
            <a:prstGeom prst="rect">
              <a:avLst/>
            </a:prstGeom>
          </p:spPr>
        </p:pic>
        <p:grpSp>
          <p:nvGrpSpPr>
            <p:cNvPr id="50437" name="Global copy of blob 758">
              <a:extLst>
                <a:ext uri="{FF2B5EF4-FFF2-40B4-BE49-F238E27FC236}">
                  <a16:creationId xmlns:a16="http://schemas.microsoft.com/office/drawing/2014/main" id="{00C0C92B-D4C8-0994-E860-1581EB873D86}"/>
                </a:ext>
              </a:extLst>
            </p:cNvPr>
            <p:cNvGrpSpPr/>
            <p:nvPr/>
          </p:nvGrpSpPr>
          <p:grpSpPr>
            <a:xfrm>
              <a:off x="4445066" y="623158"/>
              <a:ext cx="92055" cy="24054"/>
              <a:chOff x="1980855" y="3559489"/>
              <a:chExt cx="493446" cy="155682"/>
            </a:xfrm>
          </p:grpSpPr>
          <p:sp>
            <p:nvSpPr>
              <p:cNvPr id="50438" name="Candidate blob | editable contour">
                <a:extLst>
                  <a:ext uri="{FF2B5EF4-FFF2-40B4-BE49-F238E27FC236}">
                    <a16:creationId xmlns:a16="http://schemas.microsoft.com/office/drawing/2014/main" id="{A172A8B3-EFA3-33C9-CD2B-307B24D7293D}"/>
                  </a:ext>
                </a:extLst>
              </p:cNvPr>
              <p:cNvSpPr/>
              <p:nvPr/>
            </p:nvSpPr>
            <p:spPr>
              <a:xfrm>
                <a:off x="2246406" y="3559489"/>
                <a:ext cx="227895"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50439" name="ellipse_2612">
                <a:extLst>
                  <a:ext uri="{FF2B5EF4-FFF2-40B4-BE49-F238E27FC236}">
                    <a16:creationId xmlns:a16="http://schemas.microsoft.com/office/drawing/2014/main" id="{CF37E813-914E-4383-9CE9-1C5F4095124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50442" name="ellipse_2612">
              <a:extLst>
                <a:ext uri="{FF2B5EF4-FFF2-40B4-BE49-F238E27FC236}">
                  <a16:creationId xmlns:a16="http://schemas.microsoft.com/office/drawing/2014/main" id="{899D545A-9188-B8A5-5122-F55763321954}"/>
                </a:ext>
              </a:extLst>
            </p:cNvPr>
            <p:cNvSpPr/>
            <p:nvPr/>
          </p:nvSpPr>
          <p:spPr>
            <a:xfrm rot="3197729">
              <a:off x="4608138" y="649456"/>
              <a:ext cx="10571" cy="3071"/>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0445" name="ellipse_2612">
              <a:extLst>
                <a:ext uri="{FF2B5EF4-FFF2-40B4-BE49-F238E27FC236}">
                  <a16:creationId xmlns:a16="http://schemas.microsoft.com/office/drawing/2014/main" id="{85D74281-2FE6-E2D2-EFBA-AF54A45686E3}"/>
                </a:ext>
              </a:extLst>
            </p:cNvPr>
            <p:cNvSpPr/>
            <p:nvPr/>
          </p:nvSpPr>
          <p:spPr>
            <a:xfrm>
              <a:off x="4430816" y="761249"/>
              <a:ext cx="9540" cy="2671"/>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0448" name="ellipse_2612">
              <a:extLst>
                <a:ext uri="{FF2B5EF4-FFF2-40B4-BE49-F238E27FC236}">
                  <a16:creationId xmlns:a16="http://schemas.microsoft.com/office/drawing/2014/main" id="{901C6437-E94C-AFDE-D242-E688A89ABBDB}"/>
                </a:ext>
              </a:extLst>
            </p:cNvPr>
            <p:cNvSpPr/>
            <p:nvPr/>
          </p:nvSpPr>
          <p:spPr>
            <a:xfrm>
              <a:off x="4542383" y="798587"/>
              <a:ext cx="9428" cy="3307"/>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29" name="V8 density and receptor to voxel">
            <a:extLst>
              <a:ext uri="{FF2B5EF4-FFF2-40B4-BE49-F238E27FC236}">
                <a16:creationId xmlns:a16="http://schemas.microsoft.com/office/drawing/2014/main" id="{6CB6A47B-4EF1-2B06-7255-E23CEE529CCF}"/>
              </a:ext>
            </a:extLst>
          </p:cNvPr>
          <p:cNvSpPr/>
          <p:nvPr/>
        </p:nvSpPr>
        <p:spPr>
          <a:xfrm flipV="1">
            <a:off x="1834335" y="790091"/>
            <a:ext cx="77018" cy="45719"/>
          </a:xfrm>
          <a:custGeom>
            <a:avLst/>
            <a:gdLst/>
            <a:ahLst/>
            <a:cxnLst/>
            <a:rect l="l" t="t" r="r" b="b"/>
            <a:pathLst>
              <a:path w="96730" h="1">
                <a:moveTo>
                  <a:pt x="0" y="0"/>
                </a:moveTo>
                <a:lnTo>
                  <a:pt x="96730" y="0"/>
                </a:lnTo>
              </a:path>
            </a:pathLst>
          </a:custGeom>
          <a:noFill/>
          <a:ln w="8509" cap="rnd">
            <a:solidFill>
              <a:srgbClr val="4083B4"/>
            </a:solidFill>
            <a:prstDash val="solid"/>
            <a:round/>
          </a:ln>
        </p:spPr>
      </p:sp>
      <p:sp>
        <p:nvSpPr>
          <p:cNvPr id="31" name="V8 density and receptor to voxel head">
            <a:extLst>
              <a:ext uri="{FF2B5EF4-FFF2-40B4-BE49-F238E27FC236}">
                <a16:creationId xmlns:a16="http://schemas.microsoft.com/office/drawing/2014/main" id="{DF62D5B1-80E9-3975-FF99-0CA56F3741F9}"/>
              </a:ext>
            </a:extLst>
          </p:cNvPr>
          <p:cNvSpPr/>
          <p:nvPr/>
        </p:nvSpPr>
        <p:spPr>
          <a:xfrm>
            <a:off x="1905255" y="822853"/>
            <a:ext cx="28321" cy="24384"/>
          </a:xfrm>
          <a:custGeom>
            <a:avLst/>
            <a:gdLst/>
            <a:ahLst/>
            <a:cxnLst/>
            <a:rect l="l" t="t" r="r" b="b"/>
            <a:pathLst>
              <a:path w="28321" h="24384">
                <a:moveTo>
                  <a:pt x="28321" y="12192"/>
                </a:moveTo>
                <a:lnTo>
                  <a:pt x="0" y="0"/>
                </a:lnTo>
                <a:lnTo>
                  <a:pt x="0" y="24384"/>
                </a:lnTo>
                <a:close/>
              </a:path>
            </a:pathLst>
          </a:custGeom>
          <a:solidFill>
            <a:srgbClr val="4083B4"/>
          </a:solidFill>
          <a:ln w="0" cap="rnd">
            <a:noFill/>
          </a:ln>
        </p:spPr>
      </p:sp>
      <p:sp>
        <p:nvSpPr>
          <p:cNvPr id="34" name="文本框 33">
            <a:extLst>
              <a:ext uri="{FF2B5EF4-FFF2-40B4-BE49-F238E27FC236}">
                <a16:creationId xmlns:a16="http://schemas.microsoft.com/office/drawing/2014/main" id="{04021CE7-7079-B8B1-FE1F-2395F0A6A9F4}"/>
              </a:ext>
            </a:extLst>
          </p:cNvPr>
          <p:cNvSpPr txBox="1"/>
          <p:nvPr/>
        </p:nvSpPr>
        <p:spPr>
          <a:xfrm>
            <a:off x="2776387" y="1439947"/>
            <a:ext cx="502061" cy="197618"/>
          </a:xfrm>
          <a:prstGeom prst="rect">
            <a:avLst/>
          </a:prstGeom>
          <a:noFill/>
        </p:spPr>
        <p:txBody>
          <a:bodyPr wrap="none" rtlCol="0">
            <a:spAutoFit/>
          </a:bodyPr>
          <a:lstStyle/>
          <a:p>
            <a:pPr algn="ctr">
              <a:lnSpc>
                <a:spcPct val="105000"/>
              </a:lnSpc>
            </a:pPr>
            <a:r>
              <a:rPr lang="en-US" altLang="zh-CN" sz="650" i="1" dirty="0">
                <a:solidFill>
                  <a:srgbClr val="263442"/>
                </a:solidFill>
                <a:latin typeface="Arial"/>
              </a:rPr>
              <a:t>Recycle</a:t>
            </a:r>
          </a:p>
        </p:txBody>
      </p:sp>
      <p:grpSp>
        <p:nvGrpSpPr>
          <p:cNvPr id="21" name="Find candidate blob 2">
            <a:extLst>
              <a:ext uri="{FF2B5EF4-FFF2-40B4-BE49-F238E27FC236}">
                <a16:creationId xmlns:a16="http://schemas.microsoft.com/office/drawing/2014/main" id="{7CF4B83B-CE40-0943-83BF-857F63F584FC}"/>
              </a:ext>
            </a:extLst>
          </p:cNvPr>
          <p:cNvGrpSpPr/>
          <p:nvPr/>
        </p:nvGrpSpPr>
        <p:grpSpPr>
          <a:xfrm rot="3197729">
            <a:off x="4586768" y="633066"/>
            <a:ext cx="35227" cy="29704"/>
            <a:chOff x="1928706" y="3559489"/>
            <a:chExt cx="227897" cy="155682"/>
          </a:xfrm>
        </p:grpSpPr>
        <p:sp>
          <p:nvSpPr>
            <p:cNvPr id="23" name="Candidate blob | editable contour">
              <a:extLst>
                <a:ext uri="{FF2B5EF4-FFF2-40B4-BE49-F238E27FC236}">
                  <a16:creationId xmlns:a16="http://schemas.microsoft.com/office/drawing/2014/main" id="{0EF5C813-7F44-77DD-67FE-EE476608E03B}"/>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28" name="ellipse_2612">
              <a:extLst>
                <a:ext uri="{FF2B5EF4-FFF2-40B4-BE49-F238E27FC236}">
                  <a16:creationId xmlns:a16="http://schemas.microsoft.com/office/drawing/2014/main" id="{F5FA3B82-7CD0-DDDF-A968-EC80FAC5CC54}"/>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30" name="Find candidate blob 3">
            <a:extLst>
              <a:ext uri="{FF2B5EF4-FFF2-40B4-BE49-F238E27FC236}">
                <a16:creationId xmlns:a16="http://schemas.microsoft.com/office/drawing/2014/main" id="{7DFC79E6-A537-A8EE-9E23-73695EEDEA87}"/>
              </a:ext>
            </a:extLst>
          </p:cNvPr>
          <p:cNvGrpSpPr/>
          <p:nvPr/>
        </p:nvGrpSpPr>
        <p:grpSpPr>
          <a:xfrm rot="364243">
            <a:off x="4504977" y="709850"/>
            <a:ext cx="31915" cy="32299"/>
            <a:chOff x="1928706" y="3559489"/>
            <a:chExt cx="227897" cy="155682"/>
          </a:xfrm>
        </p:grpSpPr>
        <p:sp>
          <p:nvSpPr>
            <p:cNvPr id="32" name="Candidate blob | editable contour">
              <a:extLst>
                <a:ext uri="{FF2B5EF4-FFF2-40B4-BE49-F238E27FC236}">
                  <a16:creationId xmlns:a16="http://schemas.microsoft.com/office/drawing/2014/main" id="{EF3C7BE5-312A-39EB-D945-E725D09FC5CF}"/>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33" name="ellipse_2612">
              <a:extLst>
                <a:ext uri="{FF2B5EF4-FFF2-40B4-BE49-F238E27FC236}">
                  <a16:creationId xmlns:a16="http://schemas.microsoft.com/office/drawing/2014/main" id="{0A4821A8-67B8-19F4-30E2-0FE8715E5DA6}"/>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38" name="Find candidate blob 1">
            <a:extLst>
              <a:ext uri="{FF2B5EF4-FFF2-40B4-BE49-F238E27FC236}">
                <a16:creationId xmlns:a16="http://schemas.microsoft.com/office/drawing/2014/main" id="{D9521CD7-F7FB-7490-A23A-67B39E4FD95D}"/>
              </a:ext>
            </a:extLst>
          </p:cNvPr>
          <p:cNvGrpSpPr/>
          <p:nvPr/>
        </p:nvGrpSpPr>
        <p:grpSpPr>
          <a:xfrm>
            <a:off x="4398123" y="745957"/>
            <a:ext cx="40973" cy="27988"/>
            <a:chOff x="1928706" y="3559489"/>
            <a:chExt cx="227897" cy="155682"/>
          </a:xfrm>
        </p:grpSpPr>
        <p:sp>
          <p:nvSpPr>
            <p:cNvPr id="39" name="Candidate blob | editable contour">
              <a:extLst>
                <a:ext uri="{FF2B5EF4-FFF2-40B4-BE49-F238E27FC236}">
                  <a16:creationId xmlns:a16="http://schemas.microsoft.com/office/drawing/2014/main" id="{B913F94B-9211-6007-A9F1-AA1E18C1D543}"/>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40" name="ellipse_2612">
              <a:extLst>
                <a:ext uri="{FF2B5EF4-FFF2-40B4-BE49-F238E27FC236}">
                  <a16:creationId xmlns:a16="http://schemas.microsoft.com/office/drawing/2014/main" id="{D504CB61-AEF5-1C11-4CCF-573A1133E2A9}"/>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Tree>
    <p:extLst>
      <p:ext uri="{BB962C8B-B14F-4D97-AF65-F5344CB8AC3E}">
        <p14:creationId xmlns:p14="http://schemas.microsoft.com/office/powerpoint/2010/main" val="3725069143"/>
      </p:ext>
    </p:extLst>
  </p:cSld>
  <p:clrMapOvr>
    <a:masterClrMapping/>
  </p:clrMapOvr>
  <p:extLst>
    <p:ext uri="{6950BFC3-D8DA-4A85-94F7-54DA5524770B}">
      <p188:commentRel xmlns:p188="http://schemas.microsoft.com/office/powerpoint/2018/8/main" r:id="rId3"/>
    </p:ext>
  </p:extLs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3A6E18-01F8-B0BA-F43F-91B3A30C3C3E}"/>
            </a:ext>
          </a:extLst>
        </p:cNvPr>
        <p:cNvGrpSpPr/>
        <p:nvPr/>
      </p:nvGrpSpPr>
      <p:grpSpPr>
        <a:xfrm>
          <a:off x="0" y="0"/>
          <a:ext cx="0" cy="0"/>
          <a:chOff x="0" y="0"/>
          <a:chExt cx="0" cy="0"/>
        </a:xfrm>
      </p:grpSpPr>
      <p:sp>
        <p:nvSpPr>
          <p:cNvPr id="2" name="Panel | Find background">
            <a:extLst>
              <a:ext uri="{FF2B5EF4-FFF2-40B4-BE49-F238E27FC236}">
                <a16:creationId xmlns:a16="http://schemas.microsoft.com/office/drawing/2014/main" id="{A9090686-8929-C0A0-CCD3-B88878102309}"/>
              </a:ext>
            </a:extLst>
          </p:cNvPr>
          <p:cNvSpPr/>
          <p:nvPr/>
        </p:nvSpPr>
        <p:spPr>
          <a:xfrm>
            <a:off x="450985" y="89164"/>
            <a:ext cx="4381930" cy="1756103"/>
          </a:xfrm>
          <a:prstGeom prst="roundRect">
            <a:avLst>
              <a:gd name="adj" fmla="val 2000"/>
            </a:avLst>
          </a:prstGeom>
          <a:solidFill>
            <a:srgbClr val="F4F7FB"/>
          </a:solidFill>
          <a:ln w="9720">
            <a:solidFill>
              <a:srgbClr val="CFDB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3" name="Panel | Match background">
            <a:extLst>
              <a:ext uri="{FF2B5EF4-FFF2-40B4-BE49-F238E27FC236}">
                <a16:creationId xmlns:a16="http://schemas.microsoft.com/office/drawing/2014/main" id="{28703D02-0EE9-C5A6-609C-08019DDE7E4E}"/>
              </a:ext>
            </a:extLst>
          </p:cNvPr>
          <p:cNvSpPr/>
          <p:nvPr/>
        </p:nvSpPr>
        <p:spPr>
          <a:xfrm>
            <a:off x="450985" y="1884235"/>
            <a:ext cx="4381930" cy="2532204"/>
          </a:xfrm>
          <a:prstGeom prst="roundRect">
            <a:avLst>
              <a:gd name="adj" fmla="val 2000"/>
            </a:avLst>
          </a:prstGeom>
          <a:solidFill>
            <a:srgbClr val="F2F9F6"/>
          </a:solidFill>
          <a:ln w="9720">
            <a:solidFill>
              <a:srgbClr val="C8E2D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grpSp>
        <p:nvGrpSpPr>
          <p:cNvPr id="5" name="Input boundary layer">
            <a:extLst>
              <a:ext uri="{FF2B5EF4-FFF2-40B4-BE49-F238E27FC236}">
                <a16:creationId xmlns:a16="http://schemas.microsoft.com/office/drawing/2014/main" id="{DDB8823C-1C5D-EC2B-D97C-140C79222FB0}"/>
              </a:ext>
            </a:extLst>
          </p:cNvPr>
          <p:cNvGrpSpPr/>
          <p:nvPr/>
        </p:nvGrpSpPr>
        <p:grpSpPr>
          <a:xfrm>
            <a:off x="0" y="0"/>
            <a:ext cx="6480175" cy="4468813"/>
            <a:chOff x="0" y="0"/>
            <a:chExt cx="15240000" cy="10509702"/>
          </a:xfrm>
        </p:grpSpPr>
        <p:sp>
          <p:nvSpPr>
            <p:cNvPr id="1478" name="V8 Match input boundary">
              <a:extLst>
                <a:ext uri="{FF2B5EF4-FFF2-40B4-BE49-F238E27FC236}">
                  <a16:creationId xmlns:a16="http://schemas.microsoft.com/office/drawing/2014/main" id="{7D0554F4-AE1C-63F1-A885-352F5424EDA9}"/>
                </a:ext>
              </a:extLst>
            </p:cNvPr>
            <p:cNvSpPr/>
            <p:nvPr/>
          </p:nvSpPr>
          <p:spPr>
            <a:xfrm>
              <a:off x="1355735" y="5281627"/>
              <a:ext cx="3163259" cy="2511755"/>
            </a:xfrm>
            <a:custGeom>
              <a:avLst/>
              <a:gdLst/>
              <a:ahLst/>
              <a:cxnLst/>
              <a:rect l="l" t="t" r="r" b="b"/>
              <a:pathLst>
                <a:path w="1345044" h="1068019">
                  <a:moveTo>
                    <a:pt x="31750" y="0"/>
                  </a:moveTo>
                  <a:lnTo>
                    <a:pt x="893699" y="0"/>
                  </a:lnTo>
                  <a:cubicBezTo>
                    <a:pt x="911162" y="0"/>
                    <a:pt x="925449" y="14288"/>
                    <a:pt x="925449" y="31750"/>
                  </a:cubicBezTo>
                  <a:lnTo>
                    <a:pt x="925449" y="489521"/>
                  </a:lnTo>
                  <a:cubicBezTo>
                    <a:pt x="925449" y="506984"/>
                    <a:pt x="939736" y="521271"/>
                    <a:pt x="957199" y="521271"/>
                  </a:cubicBezTo>
                  <a:lnTo>
                    <a:pt x="1313294" y="521271"/>
                  </a:lnTo>
                  <a:cubicBezTo>
                    <a:pt x="1330757" y="521271"/>
                    <a:pt x="1345044" y="535559"/>
                    <a:pt x="1345044" y="553021"/>
                  </a:cubicBezTo>
                  <a:lnTo>
                    <a:pt x="1345044" y="1036269"/>
                  </a:lnTo>
                  <a:cubicBezTo>
                    <a:pt x="1345044" y="1053732"/>
                    <a:pt x="1330757" y="1068019"/>
                    <a:pt x="1313294" y="1068019"/>
                  </a:cubicBezTo>
                  <a:lnTo>
                    <a:pt x="31750" y="1068019"/>
                  </a:lnTo>
                  <a:cubicBezTo>
                    <a:pt x="14288" y="1068019"/>
                    <a:pt x="0" y="1053732"/>
                    <a:pt x="0" y="1036269"/>
                  </a:cubicBezTo>
                  <a:lnTo>
                    <a:pt x="0" y="31750"/>
                  </a:lnTo>
                  <a:cubicBezTo>
                    <a:pt x="0" y="14288"/>
                    <a:pt x="14288" y="0"/>
                    <a:pt x="31750" y="0"/>
                  </a:cubicBezTo>
                  <a:close/>
                </a:path>
              </a:pathLst>
            </a:custGeom>
            <a:solidFill>
              <a:srgbClr val="FFFFFF"/>
            </a:solidFill>
            <a:ln w="7290" cap="rnd">
              <a:solidFill>
                <a:srgbClr val="B6CEC5"/>
              </a:solidFill>
              <a:prstDash val="solid"/>
              <a:round/>
            </a:ln>
          </p:spPr>
          <p:txBody>
            <a:bodyPr/>
            <a:lstStyle/>
            <a:p>
              <a:endParaRPr lang="zh-CN" altLang="en-US" dirty="0"/>
            </a:p>
          </p:txBody>
        </p:sp>
      </p:grpSp>
      <p:sp>
        <p:nvSpPr>
          <p:cNvPr id="7" name="TextBox 4">
            <a:extLst>
              <a:ext uri="{FF2B5EF4-FFF2-40B4-BE49-F238E27FC236}">
                <a16:creationId xmlns:a16="http://schemas.microsoft.com/office/drawing/2014/main" id="{ADBC3EDA-5434-B072-0369-64F7979021C5}"/>
              </a:ext>
            </a:extLst>
          </p:cNvPr>
          <p:cNvSpPr txBox="1"/>
          <p:nvPr/>
        </p:nvSpPr>
        <p:spPr>
          <a:xfrm>
            <a:off x="519056" y="107111"/>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a</a:t>
            </a:r>
          </a:p>
        </p:txBody>
      </p:sp>
      <p:sp>
        <p:nvSpPr>
          <p:cNvPr id="8" name="TextBox 5">
            <a:extLst>
              <a:ext uri="{FF2B5EF4-FFF2-40B4-BE49-F238E27FC236}">
                <a16:creationId xmlns:a16="http://schemas.microsoft.com/office/drawing/2014/main" id="{BDE65E3A-EB06-F9D8-4F70-55D863BF89FB}"/>
              </a:ext>
            </a:extLst>
          </p:cNvPr>
          <p:cNvSpPr txBox="1"/>
          <p:nvPr/>
        </p:nvSpPr>
        <p:spPr>
          <a:xfrm>
            <a:off x="677263" y="124527"/>
            <a:ext cx="2531320" cy="123624"/>
          </a:xfrm>
          <a:prstGeom prst="rect">
            <a:avLst/>
          </a:prstGeom>
          <a:noFill/>
        </p:spPr>
        <p:txBody>
          <a:bodyPr wrap="square" lIns="0" tIns="0" rIns="0" bIns="0" anchor="ctr">
            <a:spAutoFit/>
          </a:bodyPr>
          <a:lstStyle/>
          <a:p>
            <a:pPr algn="l">
              <a:lnSpc>
                <a:spcPct val="105000"/>
              </a:lnSpc>
            </a:pPr>
            <a:r>
              <a:rPr sz="822">
                <a:solidFill>
                  <a:srgbClr val="263442"/>
                </a:solidFill>
                <a:latin typeface="Arial"/>
              </a:rPr>
              <a:t>Find: locate ligand regions</a:t>
            </a:r>
          </a:p>
        </p:txBody>
      </p:sp>
      <p:sp>
        <p:nvSpPr>
          <p:cNvPr id="9" name="TextBox 6">
            <a:extLst>
              <a:ext uri="{FF2B5EF4-FFF2-40B4-BE49-F238E27FC236}">
                <a16:creationId xmlns:a16="http://schemas.microsoft.com/office/drawing/2014/main" id="{F3FF857A-DE19-FC06-9455-89983F39C003}"/>
              </a:ext>
            </a:extLst>
          </p:cNvPr>
          <p:cNvSpPr txBox="1"/>
          <p:nvPr/>
        </p:nvSpPr>
        <p:spPr>
          <a:xfrm>
            <a:off x="519056" y="1909702"/>
            <a:ext cx="174028" cy="149656"/>
          </a:xfrm>
          <a:prstGeom prst="rect">
            <a:avLst/>
          </a:prstGeom>
          <a:noFill/>
        </p:spPr>
        <p:txBody>
          <a:bodyPr wrap="square" lIns="0" tIns="0" rIns="0" bIns="0" anchor="ctr">
            <a:spAutoFit/>
          </a:bodyPr>
          <a:lstStyle/>
          <a:p>
            <a:pPr>
              <a:lnSpc>
                <a:spcPct val="105000"/>
              </a:lnSpc>
            </a:pPr>
            <a:r>
              <a:rPr sz="995" b="1" dirty="0">
                <a:solidFill>
                  <a:srgbClr val="263442"/>
                </a:solidFill>
                <a:latin typeface="Arial"/>
              </a:rPr>
              <a:t>b</a:t>
            </a:r>
          </a:p>
        </p:txBody>
      </p:sp>
      <p:sp>
        <p:nvSpPr>
          <p:cNvPr id="10" name="TextBox 7">
            <a:extLst>
              <a:ext uri="{FF2B5EF4-FFF2-40B4-BE49-F238E27FC236}">
                <a16:creationId xmlns:a16="http://schemas.microsoft.com/office/drawing/2014/main" id="{70ECA487-21BB-6209-C18F-3026009B4E59}"/>
              </a:ext>
            </a:extLst>
          </p:cNvPr>
          <p:cNvSpPr txBox="1"/>
          <p:nvPr/>
        </p:nvSpPr>
        <p:spPr>
          <a:xfrm>
            <a:off x="677200" y="1931954"/>
            <a:ext cx="2847735" cy="123624"/>
          </a:xfrm>
          <a:prstGeom prst="rect">
            <a:avLst/>
          </a:prstGeom>
          <a:noFill/>
        </p:spPr>
        <p:txBody>
          <a:bodyPr wrap="square" lIns="0" tIns="0" rIns="0" bIns="0" anchor="ctr">
            <a:spAutoFit/>
          </a:bodyPr>
          <a:lstStyle/>
          <a:p>
            <a:pPr algn="l">
              <a:lnSpc>
                <a:spcPct val="105000"/>
              </a:lnSpc>
            </a:pPr>
            <a:r>
              <a:rPr sz="822" dirty="0">
                <a:solidFill>
                  <a:srgbClr val="263442"/>
                </a:solidFill>
                <a:latin typeface="Arial"/>
              </a:rPr>
              <a:t>Match: candidate-to-identity assignment</a:t>
            </a:r>
          </a:p>
        </p:txBody>
      </p:sp>
      <p:sp>
        <p:nvSpPr>
          <p:cNvPr id="13" name="Find | Density card">
            <a:extLst>
              <a:ext uri="{FF2B5EF4-FFF2-40B4-BE49-F238E27FC236}">
                <a16:creationId xmlns:a16="http://schemas.microsoft.com/office/drawing/2014/main" id="{CAB7453E-57E4-6069-E17B-BEBD584DE9C5}"/>
              </a:ext>
            </a:extLst>
          </p:cNvPr>
          <p:cNvSpPr/>
          <p:nvPr/>
        </p:nvSpPr>
        <p:spPr>
          <a:xfrm>
            <a:off x="540853" y="284774"/>
            <a:ext cx="488504" cy="680292"/>
          </a:xfrm>
          <a:prstGeom prst="roundRect">
            <a:avLst>
              <a:gd name="adj" fmla="val 6000"/>
            </a:avLst>
          </a:prstGeom>
          <a:solidFill>
            <a:srgbClr val="FFFFFF"/>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14" name="TextBox 11">
            <a:extLst>
              <a:ext uri="{FF2B5EF4-FFF2-40B4-BE49-F238E27FC236}">
                <a16:creationId xmlns:a16="http://schemas.microsoft.com/office/drawing/2014/main" id="{E13F9DB9-2915-4D37-1A15-4DD879957FE6}"/>
              </a:ext>
            </a:extLst>
          </p:cNvPr>
          <p:cNvSpPr txBox="1"/>
          <p:nvPr/>
        </p:nvSpPr>
        <p:spPr>
          <a:xfrm>
            <a:off x="460928" y="318294"/>
            <a:ext cx="664471" cy="101503"/>
          </a:xfrm>
          <a:prstGeom prst="rect">
            <a:avLst/>
          </a:prstGeom>
          <a:noFill/>
        </p:spPr>
        <p:txBody>
          <a:bodyPr wrap="square" lIns="0" tIns="0" rIns="0" bIns="0" anchor="ctr">
            <a:spAutoFit/>
          </a:bodyPr>
          <a:lstStyle/>
          <a:p>
            <a:pPr algn="ctr">
              <a:lnSpc>
                <a:spcPct val="105000"/>
              </a:lnSpc>
            </a:pPr>
            <a:r>
              <a:rPr sz="675" dirty="0">
                <a:solidFill>
                  <a:srgbClr val="263442"/>
                </a:solidFill>
                <a:latin typeface="Arial"/>
              </a:rPr>
              <a:t>Density</a:t>
            </a:r>
          </a:p>
        </p:txBody>
      </p:sp>
      <p:sp>
        <p:nvSpPr>
          <p:cNvPr id="235" name="Find | Receptor card">
            <a:extLst>
              <a:ext uri="{FF2B5EF4-FFF2-40B4-BE49-F238E27FC236}">
                <a16:creationId xmlns:a16="http://schemas.microsoft.com/office/drawing/2014/main" id="{C39711EA-1578-1FDC-F7E5-415822DEC84F}"/>
              </a:ext>
            </a:extLst>
          </p:cNvPr>
          <p:cNvSpPr/>
          <p:nvPr/>
        </p:nvSpPr>
        <p:spPr>
          <a:xfrm>
            <a:off x="540852" y="1028349"/>
            <a:ext cx="489611" cy="727754"/>
          </a:xfrm>
          <a:prstGeom prst="roundRect">
            <a:avLst>
              <a:gd name="adj" fmla="val 6000"/>
            </a:avLst>
          </a:prstGeom>
          <a:solidFill>
            <a:srgbClr val="FFFFFF"/>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6" name="TextBox 6212">
            <a:extLst>
              <a:ext uri="{FF2B5EF4-FFF2-40B4-BE49-F238E27FC236}">
                <a16:creationId xmlns:a16="http://schemas.microsoft.com/office/drawing/2014/main" id="{4566817F-CA11-3CA5-4ED5-534E4B65A1C1}"/>
              </a:ext>
            </a:extLst>
          </p:cNvPr>
          <p:cNvSpPr txBox="1"/>
          <p:nvPr/>
        </p:nvSpPr>
        <p:spPr>
          <a:xfrm>
            <a:off x="434702" y="1053973"/>
            <a:ext cx="664471" cy="101503"/>
          </a:xfrm>
          <a:prstGeom prst="rect">
            <a:avLst/>
          </a:prstGeom>
          <a:noFill/>
        </p:spPr>
        <p:txBody>
          <a:bodyPr wrap="square" lIns="0" tIns="0" rIns="0" bIns="0" anchor="ctr">
            <a:spAutoFit/>
          </a:bodyPr>
          <a:lstStyle/>
          <a:p>
            <a:pPr algn="ctr">
              <a:lnSpc>
                <a:spcPct val="105000"/>
              </a:lnSpc>
            </a:pPr>
            <a:r>
              <a:rPr sz="675" dirty="0">
                <a:solidFill>
                  <a:srgbClr val="263442"/>
                </a:solidFill>
                <a:latin typeface="Arial"/>
              </a:rPr>
              <a:t>Receptor</a:t>
            </a:r>
          </a:p>
        </p:txBody>
      </p:sp>
      <p:sp>
        <p:nvSpPr>
          <p:cNvPr id="237" name="Find | 3D voxel U-Net box">
            <a:extLst>
              <a:ext uri="{FF2B5EF4-FFF2-40B4-BE49-F238E27FC236}">
                <a16:creationId xmlns:a16="http://schemas.microsoft.com/office/drawing/2014/main" id="{84C31B5C-DB46-3102-A094-A625CBC3795B}"/>
              </a:ext>
            </a:extLst>
          </p:cNvPr>
          <p:cNvSpPr/>
          <p:nvPr/>
        </p:nvSpPr>
        <p:spPr>
          <a:xfrm>
            <a:off x="1932849" y="284774"/>
            <a:ext cx="2183263" cy="743575"/>
          </a:xfrm>
          <a:prstGeom prst="roundRect">
            <a:avLst>
              <a:gd name="adj" fmla="val 5000"/>
            </a:avLst>
          </a:prstGeom>
          <a:solidFill>
            <a:srgbClr val="EDF3FA"/>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8" name="TextBox 6223">
            <a:extLst>
              <a:ext uri="{FF2B5EF4-FFF2-40B4-BE49-F238E27FC236}">
                <a16:creationId xmlns:a16="http://schemas.microsoft.com/office/drawing/2014/main" id="{D0BEE622-6A06-FAEC-A1B9-E12DAFA59B95}"/>
              </a:ext>
            </a:extLst>
          </p:cNvPr>
          <p:cNvSpPr txBox="1"/>
          <p:nvPr/>
        </p:nvSpPr>
        <p:spPr>
          <a:xfrm>
            <a:off x="1932849" y="310561"/>
            <a:ext cx="2183263" cy="106632"/>
          </a:xfrm>
          <a:prstGeom prst="rect">
            <a:avLst/>
          </a:prstGeom>
          <a:noFill/>
        </p:spPr>
        <p:txBody>
          <a:bodyPr wrap="square" lIns="0" tIns="0" rIns="0" bIns="0" anchor="ctr">
            <a:spAutoFit/>
          </a:bodyPr>
          <a:lstStyle/>
          <a:p>
            <a:pPr algn="ctr">
              <a:lnSpc>
                <a:spcPct val="105000"/>
              </a:lnSpc>
            </a:pPr>
            <a:r>
              <a:rPr sz="709">
                <a:solidFill>
                  <a:srgbClr val="263442"/>
                </a:solidFill>
                <a:latin typeface="Arial"/>
              </a:rPr>
              <a:t>3D voxel U-Net</a:t>
            </a:r>
          </a:p>
        </p:txBody>
      </p:sp>
      <p:sp>
        <p:nvSpPr>
          <p:cNvPr id="239" name="TextBox 6224">
            <a:extLst>
              <a:ext uri="{FF2B5EF4-FFF2-40B4-BE49-F238E27FC236}">
                <a16:creationId xmlns:a16="http://schemas.microsoft.com/office/drawing/2014/main" id="{6162AD09-868A-9802-DD3F-493AE18E658B}"/>
              </a:ext>
            </a:extLst>
          </p:cNvPr>
          <p:cNvSpPr txBox="1"/>
          <p:nvPr/>
        </p:nvSpPr>
        <p:spPr>
          <a:xfrm>
            <a:off x="1932704" y="415407"/>
            <a:ext cx="2183414" cy="84510"/>
          </a:xfrm>
          <a:prstGeom prst="rect">
            <a:avLst/>
          </a:prstGeom>
          <a:noFill/>
        </p:spPr>
        <p:txBody>
          <a:bodyPr wrap="square" lIns="0" tIns="0" rIns="0" bIns="0" anchor="ctr">
            <a:spAutoFit/>
          </a:bodyPr>
          <a:lstStyle/>
          <a:p>
            <a:pPr algn="ctr">
              <a:lnSpc>
                <a:spcPct val="105000"/>
              </a:lnSpc>
            </a:pPr>
            <a:r>
              <a:rPr sz="562" i="1" dirty="0">
                <a:solidFill>
                  <a:srgbClr val="263442"/>
                </a:solidFill>
                <a:latin typeface="Arial"/>
              </a:rPr>
              <a:t>Skip connections</a:t>
            </a:r>
          </a:p>
        </p:txBody>
      </p:sp>
      <p:sp>
        <p:nvSpPr>
          <p:cNvPr id="240" name="TextBox 10003">
            <a:extLst>
              <a:ext uri="{FF2B5EF4-FFF2-40B4-BE49-F238E27FC236}">
                <a16:creationId xmlns:a16="http://schemas.microsoft.com/office/drawing/2014/main" id="{09C48FDC-7786-8263-4A08-E75021FC8287}"/>
              </a:ext>
            </a:extLst>
          </p:cNvPr>
          <p:cNvSpPr txBox="1"/>
          <p:nvPr/>
        </p:nvSpPr>
        <p:spPr>
          <a:xfrm>
            <a:off x="2098966"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Encoder</a:t>
            </a:r>
          </a:p>
        </p:txBody>
      </p:sp>
      <p:sp>
        <p:nvSpPr>
          <p:cNvPr id="241" name="TextBox 10004">
            <a:extLst>
              <a:ext uri="{FF2B5EF4-FFF2-40B4-BE49-F238E27FC236}">
                <a16:creationId xmlns:a16="http://schemas.microsoft.com/office/drawing/2014/main" id="{5D7C6AF6-28C5-C78C-2A6D-53148E9C5409}"/>
              </a:ext>
            </a:extLst>
          </p:cNvPr>
          <p:cNvSpPr txBox="1"/>
          <p:nvPr/>
        </p:nvSpPr>
        <p:spPr>
          <a:xfrm>
            <a:off x="2747617"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Bottleneck</a:t>
            </a:r>
          </a:p>
        </p:txBody>
      </p:sp>
      <p:sp>
        <p:nvSpPr>
          <p:cNvPr id="242" name="TextBox 10005">
            <a:extLst>
              <a:ext uri="{FF2B5EF4-FFF2-40B4-BE49-F238E27FC236}">
                <a16:creationId xmlns:a16="http://schemas.microsoft.com/office/drawing/2014/main" id="{7CC49EB1-DBD1-A7E7-516D-CECCC1D041F1}"/>
              </a:ext>
            </a:extLst>
          </p:cNvPr>
          <p:cNvSpPr txBox="1"/>
          <p:nvPr/>
        </p:nvSpPr>
        <p:spPr>
          <a:xfrm>
            <a:off x="3396268"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Decoder</a:t>
            </a:r>
          </a:p>
        </p:txBody>
      </p:sp>
      <p:sp>
        <p:nvSpPr>
          <p:cNvPr id="243" name="Find | Point Transformer V3 box">
            <a:extLst>
              <a:ext uri="{FF2B5EF4-FFF2-40B4-BE49-F238E27FC236}">
                <a16:creationId xmlns:a16="http://schemas.microsoft.com/office/drawing/2014/main" id="{E6BB0EBE-E97F-0460-89AE-378626BAD4D7}"/>
              </a:ext>
            </a:extLst>
          </p:cNvPr>
          <p:cNvSpPr/>
          <p:nvPr/>
        </p:nvSpPr>
        <p:spPr>
          <a:xfrm>
            <a:off x="1932849" y="1170736"/>
            <a:ext cx="2183263" cy="585368"/>
          </a:xfrm>
          <a:prstGeom prst="roundRect">
            <a:avLst>
              <a:gd name="adj" fmla="val 5000"/>
            </a:avLst>
          </a:prstGeom>
          <a:solidFill>
            <a:srgbClr val="EDF3FA"/>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grpSp>
        <p:nvGrpSpPr>
          <p:cNvPr id="244" name="Find | PTV3 stage 1 (no pseudo)">
            <a:extLst>
              <a:ext uri="{FF2B5EF4-FFF2-40B4-BE49-F238E27FC236}">
                <a16:creationId xmlns:a16="http://schemas.microsoft.com/office/drawing/2014/main" id="{B4F71929-AC06-8CA3-B3DD-0D60585A9033}"/>
              </a:ext>
            </a:extLst>
          </p:cNvPr>
          <p:cNvGrpSpPr/>
          <p:nvPr/>
        </p:nvGrpSpPr>
        <p:grpSpPr>
          <a:xfrm>
            <a:off x="2023818" y="1222153"/>
            <a:ext cx="276863" cy="197759"/>
            <a:chOff x="1837958" y="1438830"/>
            <a:chExt cx="279225" cy="243090"/>
          </a:xfrm>
        </p:grpSpPr>
        <p:sp>
          <p:nvSpPr>
            <p:cNvPr id="245" name="rect_1844">
              <a:extLst>
                <a:ext uri="{FF2B5EF4-FFF2-40B4-BE49-F238E27FC236}">
                  <a16:creationId xmlns:a16="http://schemas.microsoft.com/office/drawing/2014/main" id="{660AA888-4092-6DA6-78D3-4B888E2B2DA3}"/>
                </a:ext>
              </a:extLst>
            </p:cNvPr>
            <p:cNvSpPr/>
            <p:nvPr/>
          </p:nvSpPr>
          <p:spPr>
            <a:xfrm>
              <a:off x="1837958" y="1438830"/>
              <a:ext cx="279225" cy="243090"/>
            </a:xfrm>
            <a:prstGeom prst="roundRect">
              <a:avLst>
                <a:gd name="adj" fmla="val 6757"/>
              </a:avLst>
            </a:prstGeom>
            <a:solidFill>
              <a:srgbClr val="F8F5FC"/>
            </a:solidFill>
            <a:ln w="2540" cap="rnd" cmpd="sng" algn="ctr">
              <a:solidFill>
                <a:srgbClr val="C3D4E6"/>
              </a:solidFill>
              <a:prstDash val="solid"/>
              <a:round/>
              <a:headEnd type="none" w="med" len="med"/>
              <a:tailEnd type="none" w="med" len="med"/>
            </a:ln>
            <a:effectLst/>
          </p:spPr>
        </p:sp>
        <p:sp>
          <p:nvSpPr>
            <p:cNvPr id="246" name="ellipse_1845">
              <a:extLst>
                <a:ext uri="{FF2B5EF4-FFF2-40B4-BE49-F238E27FC236}">
                  <a16:creationId xmlns:a16="http://schemas.microsoft.com/office/drawing/2014/main" id="{8ED69D04-8A29-A5B5-FEDE-87DBF5A86A21}"/>
                </a:ext>
              </a:extLst>
            </p:cNvPr>
            <p:cNvSpPr/>
            <p:nvPr/>
          </p:nvSpPr>
          <p:spPr>
            <a:xfrm>
              <a:off x="1911179" y="154988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7" name="ellipse_1846">
              <a:extLst>
                <a:ext uri="{FF2B5EF4-FFF2-40B4-BE49-F238E27FC236}">
                  <a16:creationId xmlns:a16="http://schemas.microsoft.com/office/drawing/2014/main" id="{2F757B70-05BB-1D52-EAD7-99F943EE0786}"/>
                </a:ext>
              </a:extLst>
            </p:cNvPr>
            <p:cNvSpPr/>
            <p:nvPr/>
          </p:nvSpPr>
          <p:spPr>
            <a:xfrm>
              <a:off x="2016057" y="15691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8" name="ellipse_1847">
              <a:extLst>
                <a:ext uri="{FF2B5EF4-FFF2-40B4-BE49-F238E27FC236}">
                  <a16:creationId xmlns:a16="http://schemas.microsoft.com/office/drawing/2014/main" id="{33900347-5FB5-F6C0-81F6-93C079B537C5}"/>
                </a:ext>
              </a:extLst>
            </p:cNvPr>
            <p:cNvSpPr/>
            <p:nvPr/>
          </p:nvSpPr>
          <p:spPr>
            <a:xfrm>
              <a:off x="1901005" y="1463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9" name="ellipse_1848">
              <a:extLst>
                <a:ext uri="{FF2B5EF4-FFF2-40B4-BE49-F238E27FC236}">
                  <a16:creationId xmlns:a16="http://schemas.microsoft.com/office/drawing/2014/main" id="{D9E3B372-BB0F-C9A4-3974-A8E7AF7737B7}"/>
                </a:ext>
              </a:extLst>
            </p:cNvPr>
            <p:cNvSpPr/>
            <p:nvPr/>
          </p:nvSpPr>
          <p:spPr>
            <a:xfrm>
              <a:off x="1966917" y="149122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0" name="ellipse_1849">
              <a:extLst>
                <a:ext uri="{FF2B5EF4-FFF2-40B4-BE49-F238E27FC236}">
                  <a16:creationId xmlns:a16="http://schemas.microsoft.com/office/drawing/2014/main" id="{65731899-DB97-2E91-5665-E8C978110F71}"/>
                </a:ext>
              </a:extLst>
            </p:cNvPr>
            <p:cNvSpPr/>
            <p:nvPr/>
          </p:nvSpPr>
          <p:spPr>
            <a:xfrm>
              <a:off x="1981202" y="14619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1" name="ellipse_1850">
              <a:extLst>
                <a:ext uri="{FF2B5EF4-FFF2-40B4-BE49-F238E27FC236}">
                  <a16:creationId xmlns:a16="http://schemas.microsoft.com/office/drawing/2014/main" id="{FB870BF7-7DC4-B374-8AD0-46EC506BB29E}"/>
                </a:ext>
              </a:extLst>
            </p:cNvPr>
            <p:cNvSpPr/>
            <p:nvPr/>
          </p:nvSpPr>
          <p:spPr>
            <a:xfrm>
              <a:off x="2025801" y="15227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2" name="ellipse_1851">
              <a:extLst>
                <a:ext uri="{FF2B5EF4-FFF2-40B4-BE49-F238E27FC236}">
                  <a16:creationId xmlns:a16="http://schemas.microsoft.com/office/drawing/2014/main" id="{FB5210B2-4DAF-5841-3925-445BB6BA8E65}"/>
                </a:ext>
              </a:extLst>
            </p:cNvPr>
            <p:cNvSpPr/>
            <p:nvPr/>
          </p:nvSpPr>
          <p:spPr>
            <a:xfrm>
              <a:off x="1923657" y="157409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3" name="ellipse_1852">
              <a:extLst>
                <a:ext uri="{FF2B5EF4-FFF2-40B4-BE49-F238E27FC236}">
                  <a16:creationId xmlns:a16="http://schemas.microsoft.com/office/drawing/2014/main" id="{5E297BB0-4B0B-7393-6335-0A8D413997FE}"/>
                </a:ext>
              </a:extLst>
            </p:cNvPr>
            <p:cNvSpPr/>
            <p:nvPr/>
          </p:nvSpPr>
          <p:spPr>
            <a:xfrm>
              <a:off x="2046951" y="149268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4" name="ellipse_1853">
              <a:extLst>
                <a:ext uri="{FF2B5EF4-FFF2-40B4-BE49-F238E27FC236}">
                  <a16:creationId xmlns:a16="http://schemas.microsoft.com/office/drawing/2014/main" id="{3460EDB7-F270-4A51-230E-76F07C518E5B}"/>
                </a:ext>
              </a:extLst>
            </p:cNvPr>
            <p:cNvSpPr/>
            <p:nvPr/>
          </p:nvSpPr>
          <p:spPr>
            <a:xfrm>
              <a:off x="1971403" y="1621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5" name="ellipse_1854">
              <a:extLst>
                <a:ext uri="{FF2B5EF4-FFF2-40B4-BE49-F238E27FC236}">
                  <a16:creationId xmlns:a16="http://schemas.microsoft.com/office/drawing/2014/main" id="{D7F22E2B-29AF-AAFC-9390-4763B76AC824}"/>
                </a:ext>
              </a:extLst>
            </p:cNvPr>
            <p:cNvSpPr/>
            <p:nvPr/>
          </p:nvSpPr>
          <p:spPr>
            <a:xfrm>
              <a:off x="1916632" y="148370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56" name="Find | PTV3 stage 2 (no pseudo)">
            <a:extLst>
              <a:ext uri="{FF2B5EF4-FFF2-40B4-BE49-F238E27FC236}">
                <a16:creationId xmlns:a16="http://schemas.microsoft.com/office/drawing/2014/main" id="{F4A044B8-F6CD-9A28-3075-23E9F1427BD6}"/>
              </a:ext>
            </a:extLst>
          </p:cNvPr>
          <p:cNvGrpSpPr/>
          <p:nvPr/>
        </p:nvGrpSpPr>
        <p:grpSpPr>
          <a:xfrm>
            <a:off x="2454581" y="1218198"/>
            <a:ext cx="269656" cy="205670"/>
            <a:chOff x="2276505" y="1465110"/>
            <a:chExt cx="243090" cy="190530"/>
          </a:xfrm>
        </p:grpSpPr>
        <p:sp>
          <p:nvSpPr>
            <p:cNvPr id="257" name="rect_1860">
              <a:extLst>
                <a:ext uri="{FF2B5EF4-FFF2-40B4-BE49-F238E27FC236}">
                  <a16:creationId xmlns:a16="http://schemas.microsoft.com/office/drawing/2014/main" id="{2A2BC9FE-9931-3C68-E213-012D2334D100}"/>
                </a:ext>
              </a:extLst>
            </p:cNvPr>
            <p:cNvSpPr/>
            <p:nvPr/>
          </p:nvSpPr>
          <p:spPr>
            <a:xfrm>
              <a:off x="2276505" y="1465110"/>
              <a:ext cx="243090" cy="190530"/>
            </a:xfrm>
            <a:prstGeom prst="roundRect">
              <a:avLst>
                <a:gd name="adj" fmla="val 8621"/>
              </a:avLst>
            </a:prstGeom>
            <a:solidFill>
              <a:srgbClr val="F8F5FC"/>
            </a:solidFill>
            <a:ln w="2540" cap="rnd" cmpd="sng" algn="ctr">
              <a:solidFill>
                <a:srgbClr val="C3D4E6"/>
              </a:solidFill>
              <a:prstDash val="solid"/>
              <a:round/>
              <a:headEnd type="none" w="med" len="med"/>
              <a:tailEnd type="none" w="med" len="med"/>
            </a:ln>
            <a:effectLst/>
          </p:spPr>
        </p:sp>
        <p:sp>
          <p:nvSpPr>
            <p:cNvPr id="258" name="ellipse_1861">
              <a:extLst>
                <a:ext uri="{FF2B5EF4-FFF2-40B4-BE49-F238E27FC236}">
                  <a16:creationId xmlns:a16="http://schemas.microsoft.com/office/drawing/2014/main" id="{0D3FC1DA-E4D9-46A0-549F-86D3BA55D6FD}"/>
                </a:ext>
              </a:extLst>
            </p:cNvPr>
            <p:cNvSpPr/>
            <p:nvPr/>
          </p:nvSpPr>
          <p:spPr>
            <a:xfrm>
              <a:off x="2443383" y="14753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9" name="ellipse_1862">
              <a:extLst>
                <a:ext uri="{FF2B5EF4-FFF2-40B4-BE49-F238E27FC236}">
                  <a16:creationId xmlns:a16="http://schemas.microsoft.com/office/drawing/2014/main" id="{2E76A36E-124A-FF28-5F0C-9D8A556CAB6E}"/>
                </a:ext>
              </a:extLst>
            </p:cNvPr>
            <p:cNvSpPr/>
            <p:nvPr/>
          </p:nvSpPr>
          <p:spPr>
            <a:xfrm>
              <a:off x="2334302" y="149054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0" name="ellipse_1863">
              <a:extLst>
                <a:ext uri="{FF2B5EF4-FFF2-40B4-BE49-F238E27FC236}">
                  <a16:creationId xmlns:a16="http://schemas.microsoft.com/office/drawing/2014/main" id="{D535EE24-6485-F339-2CB7-F9EF085CB943}"/>
                </a:ext>
              </a:extLst>
            </p:cNvPr>
            <p:cNvSpPr/>
            <p:nvPr/>
          </p:nvSpPr>
          <p:spPr>
            <a:xfrm>
              <a:off x="2421391" y="151821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1" name="ellipse_1864">
              <a:extLst>
                <a:ext uri="{FF2B5EF4-FFF2-40B4-BE49-F238E27FC236}">
                  <a16:creationId xmlns:a16="http://schemas.microsoft.com/office/drawing/2014/main" id="{3E3B8E8E-0D51-B463-1AC5-8ABBD0D94E5F}"/>
                </a:ext>
              </a:extLst>
            </p:cNvPr>
            <p:cNvSpPr/>
            <p:nvPr/>
          </p:nvSpPr>
          <p:spPr>
            <a:xfrm>
              <a:off x="2395798" y="148175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2" name="ellipse_1865">
              <a:extLst>
                <a:ext uri="{FF2B5EF4-FFF2-40B4-BE49-F238E27FC236}">
                  <a16:creationId xmlns:a16="http://schemas.microsoft.com/office/drawing/2014/main" id="{A78CC97C-CF00-B4B4-232A-6540F415567F}"/>
                </a:ext>
              </a:extLst>
            </p:cNvPr>
            <p:cNvSpPr/>
            <p:nvPr/>
          </p:nvSpPr>
          <p:spPr>
            <a:xfrm>
              <a:off x="2345071" y="160888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3" name="ellipse_1866">
              <a:extLst>
                <a:ext uri="{FF2B5EF4-FFF2-40B4-BE49-F238E27FC236}">
                  <a16:creationId xmlns:a16="http://schemas.microsoft.com/office/drawing/2014/main" id="{1C7DD56E-5535-8B2E-615C-21EEB3FC0B60}"/>
                </a:ext>
              </a:extLst>
            </p:cNvPr>
            <p:cNvSpPr/>
            <p:nvPr/>
          </p:nvSpPr>
          <p:spPr>
            <a:xfrm>
              <a:off x="2455927" y="15235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4" name="ellipse_1867">
              <a:extLst>
                <a:ext uri="{FF2B5EF4-FFF2-40B4-BE49-F238E27FC236}">
                  <a16:creationId xmlns:a16="http://schemas.microsoft.com/office/drawing/2014/main" id="{53E5DFEF-A738-E1E2-6D82-562898867479}"/>
                </a:ext>
              </a:extLst>
            </p:cNvPr>
            <p:cNvSpPr/>
            <p:nvPr/>
          </p:nvSpPr>
          <p:spPr>
            <a:xfrm>
              <a:off x="2415612" y="15382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5" name="ellipse_1868">
              <a:extLst>
                <a:ext uri="{FF2B5EF4-FFF2-40B4-BE49-F238E27FC236}">
                  <a16:creationId xmlns:a16="http://schemas.microsoft.com/office/drawing/2014/main" id="{9F15DB89-4578-E9D4-B66C-9772D337DE92}"/>
                </a:ext>
              </a:extLst>
            </p:cNvPr>
            <p:cNvSpPr/>
            <p:nvPr/>
          </p:nvSpPr>
          <p:spPr>
            <a:xfrm>
              <a:off x="2384162" y="155385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66" name="Find | PTV3 stage 3 (no pseudo)">
            <a:extLst>
              <a:ext uri="{FF2B5EF4-FFF2-40B4-BE49-F238E27FC236}">
                <a16:creationId xmlns:a16="http://schemas.microsoft.com/office/drawing/2014/main" id="{8E5AF76E-A5D2-A1C4-1196-A1FB989CBECC}"/>
              </a:ext>
            </a:extLst>
          </p:cNvPr>
          <p:cNvGrpSpPr/>
          <p:nvPr/>
        </p:nvGrpSpPr>
        <p:grpSpPr>
          <a:xfrm>
            <a:off x="2902421" y="1230063"/>
            <a:ext cx="244120" cy="181939"/>
            <a:chOff x="2703555" y="1491390"/>
            <a:chExt cx="190530" cy="137970"/>
          </a:xfrm>
        </p:grpSpPr>
        <p:sp>
          <p:nvSpPr>
            <p:cNvPr id="267" name="rect_1874">
              <a:extLst>
                <a:ext uri="{FF2B5EF4-FFF2-40B4-BE49-F238E27FC236}">
                  <a16:creationId xmlns:a16="http://schemas.microsoft.com/office/drawing/2014/main" id="{75101B77-5988-FEB7-22BD-46F0384ADBC8}"/>
                </a:ext>
              </a:extLst>
            </p:cNvPr>
            <p:cNvSpPr/>
            <p:nvPr/>
          </p:nvSpPr>
          <p:spPr>
            <a:xfrm>
              <a:off x="2703555" y="1491390"/>
              <a:ext cx="190530" cy="137970"/>
            </a:xfrm>
            <a:prstGeom prst="roundRect">
              <a:avLst>
                <a:gd name="adj" fmla="val 11905"/>
              </a:avLst>
            </a:prstGeom>
            <a:solidFill>
              <a:srgbClr val="F8F5FC"/>
            </a:solidFill>
            <a:ln w="2540" cap="rnd" cmpd="sng" algn="ctr">
              <a:solidFill>
                <a:srgbClr val="C3D4E6"/>
              </a:solidFill>
              <a:prstDash val="solid"/>
              <a:round/>
              <a:headEnd type="none" w="med" len="med"/>
              <a:tailEnd type="none" w="med" len="med"/>
            </a:ln>
            <a:effectLst/>
          </p:spPr>
        </p:sp>
        <p:sp>
          <p:nvSpPr>
            <p:cNvPr id="268" name="ellipse_1875">
              <a:extLst>
                <a:ext uri="{FF2B5EF4-FFF2-40B4-BE49-F238E27FC236}">
                  <a16:creationId xmlns:a16="http://schemas.microsoft.com/office/drawing/2014/main" id="{0F3768B9-45DC-D239-6ECE-6B199905A0E6}"/>
                </a:ext>
              </a:extLst>
            </p:cNvPr>
            <p:cNvSpPr/>
            <p:nvPr/>
          </p:nvSpPr>
          <p:spPr>
            <a:xfrm>
              <a:off x="2782342" y="152486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9" name="ellipse_1876">
              <a:extLst>
                <a:ext uri="{FF2B5EF4-FFF2-40B4-BE49-F238E27FC236}">
                  <a16:creationId xmlns:a16="http://schemas.microsoft.com/office/drawing/2014/main" id="{9AC2E9D9-EA81-CB60-9668-376E55C3B65A}"/>
                </a:ext>
              </a:extLst>
            </p:cNvPr>
            <p:cNvSpPr/>
            <p:nvPr/>
          </p:nvSpPr>
          <p:spPr>
            <a:xfrm>
              <a:off x="2750750" y="159446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0" name="ellipse_1877">
              <a:extLst>
                <a:ext uri="{FF2B5EF4-FFF2-40B4-BE49-F238E27FC236}">
                  <a16:creationId xmlns:a16="http://schemas.microsoft.com/office/drawing/2014/main" id="{193512C0-B984-BF26-53B2-A4C133832B19}"/>
                </a:ext>
              </a:extLst>
            </p:cNvPr>
            <p:cNvSpPr/>
            <p:nvPr/>
          </p:nvSpPr>
          <p:spPr>
            <a:xfrm>
              <a:off x="2743887" y="14971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1" name="ellipse_1878">
              <a:extLst>
                <a:ext uri="{FF2B5EF4-FFF2-40B4-BE49-F238E27FC236}">
                  <a16:creationId xmlns:a16="http://schemas.microsoft.com/office/drawing/2014/main" id="{010957FC-182F-1FF9-1554-385555C7E5BB}"/>
                </a:ext>
              </a:extLst>
            </p:cNvPr>
            <p:cNvSpPr/>
            <p:nvPr/>
          </p:nvSpPr>
          <p:spPr>
            <a:xfrm>
              <a:off x="2833390" y="151132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2" name="ellipse_1879">
              <a:extLst>
                <a:ext uri="{FF2B5EF4-FFF2-40B4-BE49-F238E27FC236}">
                  <a16:creationId xmlns:a16="http://schemas.microsoft.com/office/drawing/2014/main" id="{D3BED3D3-6945-FBFB-0ADC-29AB3D61D264}"/>
                </a:ext>
              </a:extLst>
            </p:cNvPr>
            <p:cNvSpPr/>
            <p:nvPr/>
          </p:nvSpPr>
          <p:spPr>
            <a:xfrm>
              <a:off x="2831792" y="156772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73" name="Find | PTV3 stage 4 (no pseudo)">
            <a:extLst>
              <a:ext uri="{FF2B5EF4-FFF2-40B4-BE49-F238E27FC236}">
                <a16:creationId xmlns:a16="http://schemas.microsoft.com/office/drawing/2014/main" id="{6152C243-7C11-72B4-655A-F6C20103F058}"/>
              </a:ext>
            </a:extLst>
          </p:cNvPr>
          <p:cNvGrpSpPr/>
          <p:nvPr/>
        </p:nvGrpSpPr>
        <p:grpSpPr>
          <a:xfrm>
            <a:off x="3324724" y="1218198"/>
            <a:ext cx="269656" cy="205670"/>
            <a:chOff x="3097755" y="1465110"/>
            <a:chExt cx="243090" cy="190530"/>
          </a:xfrm>
        </p:grpSpPr>
        <p:sp>
          <p:nvSpPr>
            <p:cNvPr id="274" name="rect_1885">
              <a:extLst>
                <a:ext uri="{FF2B5EF4-FFF2-40B4-BE49-F238E27FC236}">
                  <a16:creationId xmlns:a16="http://schemas.microsoft.com/office/drawing/2014/main" id="{02A84936-E0C4-22EE-AB39-B8147866C1E6}"/>
                </a:ext>
              </a:extLst>
            </p:cNvPr>
            <p:cNvSpPr/>
            <p:nvPr/>
          </p:nvSpPr>
          <p:spPr>
            <a:xfrm>
              <a:off x="3097755" y="1465110"/>
              <a:ext cx="243090" cy="190530"/>
            </a:xfrm>
            <a:prstGeom prst="roundRect">
              <a:avLst>
                <a:gd name="adj" fmla="val 8621"/>
              </a:avLst>
            </a:prstGeom>
            <a:solidFill>
              <a:srgbClr val="F8F5FC"/>
            </a:solidFill>
            <a:ln w="2540" cap="rnd" cmpd="sng" algn="ctr">
              <a:solidFill>
                <a:srgbClr val="C3D4E6"/>
              </a:solidFill>
              <a:prstDash val="solid"/>
              <a:round/>
              <a:headEnd type="none" w="med" len="med"/>
              <a:tailEnd type="none" w="med" len="med"/>
            </a:ln>
            <a:effectLst/>
          </p:spPr>
        </p:sp>
        <p:sp>
          <p:nvSpPr>
            <p:cNvPr id="275" name="ellipse_1886">
              <a:extLst>
                <a:ext uri="{FF2B5EF4-FFF2-40B4-BE49-F238E27FC236}">
                  <a16:creationId xmlns:a16="http://schemas.microsoft.com/office/drawing/2014/main" id="{28C5B77C-D4DA-25CA-7F5E-FFB406D4948B}"/>
                </a:ext>
              </a:extLst>
            </p:cNvPr>
            <p:cNvSpPr/>
            <p:nvPr/>
          </p:nvSpPr>
          <p:spPr>
            <a:xfrm>
              <a:off x="3274804" y="154785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6" name="ellipse_1887">
              <a:extLst>
                <a:ext uri="{FF2B5EF4-FFF2-40B4-BE49-F238E27FC236}">
                  <a16:creationId xmlns:a16="http://schemas.microsoft.com/office/drawing/2014/main" id="{4B9C2CC8-3618-CEA6-223F-481DE7645A74}"/>
                </a:ext>
              </a:extLst>
            </p:cNvPr>
            <p:cNvSpPr/>
            <p:nvPr/>
          </p:nvSpPr>
          <p:spPr>
            <a:xfrm>
              <a:off x="3235593" y="156879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7" name="ellipse_1888">
              <a:extLst>
                <a:ext uri="{FF2B5EF4-FFF2-40B4-BE49-F238E27FC236}">
                  <a16:creationId xmlns:a16="http://schemas.microsoft.com/office/drawing/2014/main" id="{116AA07D-1658-6583-2048-22DAA979C713}"/>
                </a:ext>
              </a:extLst>
            </p:cNvPr>
            <p:cNvSpPr/>
            <p:nvPr/>
          </p:nvSpPr>
          <p:spPr>
            <a:xfrm>
              <a:off x="3215524" y="154839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8" name="ellipse_1889">
              <a:extLst>
                <a:ext uri="{FF2B5EF4-FFF2-40B4-BE49-F238E27FC236}">
                  <a16:creationId xmlns:a16="http://schemas.microsoft.com/office/drawing/2014/main" id="{B9996B1C-4365-A5B2-A0FA-BEEE1AE3580D}"/>
                </a:ext>
              </a:extLst>
            </p:cNvPr>
            <p:cNvSpPr/>
            <p:nvPr/>
          </p:nvSpPr>
          <p:spPr>
            <a:xfrm>
              <a:off x="3114632" y="15799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9" name="ellipse_1890">
              <a:extLst>
                <a:ext uri="{FF2B5EF4-FFF2-40B4-BE49-F238E27FC236}">
                  <a16:creationId xmlns:a16="http://schemas.microsoft.com/office/drawing/2014/main" id="{B24EA66B-C475-FD74-3653-99240EA2FC7D}"/>
                </a:ext>
              </a:extLst>
            </p:cNvPr>
            <p:cNvSpPr/>
            <p:nvPr/>
          </p:nvSpPr>
          <p:spPr>
            <a:xfrm>
              <a:off x="3288227" y="158414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0" name="ellipse_1891">
              <a:extLst>
                <a:ext uri="{FF2B5EF4-FFF2-40B4-BE49-F238E27FC236}">
                  <a16:creationId xmlns:a16="http://schemas.microsoft.com/office/drawing/2014/main" id="{7C05A257-A858-E4EC-CE72-2E262BB52B07}"/>
                </a:ext>
              </a:extLst>
            </p:cNvPr>
            <p:cNvSpPr/>
            <p:nvPr/>
          </p:nvSpPr>
          <p:spPr>
            <a:xfrm>
              <a:off x="3206468" y="16100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1" name="ellipse_1892">
              <a:extLst>
                <a:ext uri="{FF2B5EF4-FFF2-40B4-BE49-F238E27FC236}">
                  <a16:creationId xmlns:a16="http://schemas.microsoft.com/office/drawing/2014/main" id="{5029BF78-C694-94BA-2390-D6FC0A6BFD81}"/>
                </a:ext>
              </a:extLst>
            </p:cNvPr>
            <p:cNvSpPr/>
            <p:nvPr/>
          </p:nvSpPr>
          <p:spPr>
            <a:xfrm>
              <a:off x="3224851" y="161218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2" name="ellipse_1893">
              <a:extLst>
                <a:ext uri="{FF2B5EF4-FFF2-40B4-BE49-F238E27FC236}">
                  <a16:creationId xmlns:a16="http://schemas.microsoft.com/office/drawing/2014/main" id="{B400169A-5E49-FEE5-1915-FCB9E751F312}"/>
                </a:ext>
              </a:extLst>
            </p:cNvPr>
            <p:cNvSpPr/>
            <p:nvPr/>
          </p:nvSpPr>
          <p:spPr>
            <a:xfrm>
              <a:off x="3255857" y="14772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83" name="Find | PTV3 stage 5 (no pseudo)">
            <a:extLst>
              <a:ext uri="{FF2B5EF4-FFF2-40B4-BE49-F238E27FC236}">
                <a16:creationId xmlns:a16="http://schemas.microsoft.com/office/drawing/2014/main" id="{FE5D4BB8-AE08-CFDC-14F9-58D62B643799}"/>
              </a:ext>
            </a:extLst>
          </p:cNvPr>
          <p:cNvGrpSpPr/>
          <p:nvPr/>
        </p:nvGrpSpPr>
        <p:grpSpPr>
          <a:xfrm>
            <a:off x="3748279" y="1222153"/>
            <a:ext cx="276863" cy="197759"/>
            <a:chOff x="3473888" y="1438830"/>
            <a:chExt cx="279225" cy="243090"/>
          </a:xfrm>
        </p:grpSpPr>
        <p:sp>
          <p:nvSpPr>
            <p:cNvPr id="284" name="rect_1899">
              <a:extLst>
                <a:ext uri="{FF2B5EF4-FFF2-40B4-BE49-F238E27FC236}">
                  <a16:creationId xmlns:a16="http://schemas.microsoft.com/office/drawing/2014/main" id="{3C966A44-931E-3C61-C3E2-9910BF785D0E}"/>
                </a:ext>
              </a:extLst>
            </p:cNvPr>
            <p:cNvSpPr/>
            <p:nvPr/>
          </p:nvSpPr>
          <p:spPr>
            <a:xfrm>
              <a:off x="3473888" y="1438830"/>
              <a:ext cx="279225" cy="243090"/>
            </a:xfrm>
            <a:prstGeom prst="roundRect">
              <a:avLst>
                <a:gd name="adj" fmla="val 6757"/>
              </a:avLst>
            </a:prstGeom>
            <a:solidFill>
              <a:srgbClr val="F8F5FC"/>
            </a:solidFill>
            <a:ln w="2540" cap="rnd" cmpd="sng" algn="ctr">
              <a:solidFill>
                <a:srgbClr val="C3D4E6"/>
              </a:solidFill>
              <a:prstDash val="solid"/>
              <a:round/>
              <a:headEnd type="none" w="med" len="med"/>
              <a:tailEnd type="none" w="med" len="med"/>
            </a:ln>
            <a:effectLst/>
          </p:spPr>
        </p:sp>
        <p:sp>
          <p:nvSpPr>
            <p:cNvPr id="285" name="ellipse_1900">
              <a:extLst>
                <a:ext uri="{FF2B5EF4-FFF2-40B4-BE49-F238E27FC236}">
                  <a16:creationId xmlns:a16="http://schemas.microsoft.com/office/drawing/2014/main" id="{0734BB70-ADDB-68EE-E4C9-F1E9F19AF6E7}"/>
                </a:ext>
              </a:extLst>
            </p:cNvPr>
            <p:cNvSpPr/>
            <p:nvPr/>
          </p:nvSpPr>
          <p:spPr>
            <a:xfrm>
              <a:off x="3538819" y="148253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6" name="ellipse_1901">
              <a:extLst>
                <a:ext uri="{FF2B5EF4-FFF2-40B4-BE49-F238E27FC236}">
                  <a16:creationId xmlns:a16="http://schemas.microsoft.com/office/drawing/2014/main" id="{50CDA3FC-9E47-A0FF-54FE-0B291B80C55E}"/>
                </a:ext>
              </a:extLst>
            </p:cNvPr>
            <p:cNvSpPr/>
            <p:nvPr/>
          </p:nvSpPr>
          <p:spPr>
            <a:xfrm>
              <a:off x="3631999" y="157809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7" name="ellipse_1902">
              <a:extLst>
                <a:ext uri="{FF2B5EF4-FFF2-40B4-BE49-F238E27FC236}">
                  <a16:creationId xmlns:a16="http://schemas.microsoft.com/office/drawing/2014/main" id="{FDEE2D57-7D4E-037C-452C-66A797AB07C9}"/>
                </a:ext>
              </a:extLst>
            </p:cNvPr>
            <p:cNvSpPr/>
            <p:nvPr/>
          </p:nvSpPr>
          <p:spPr>
            <a:xfrm>
              <a:off x="3687564" y="15901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8" name="ellipse_1903">
              <a:extLst>
                <a:ext uri="{FF2B5EF4-FFF2-40B4-BE49-F238E27FC236}">
                  <a16:creationId xmlns:a16="http://schemas.microsoft.com/office/drawing/2014/main" id="{B2C7060E-B2BB-F02D-5B6F-B7D323B087B4}"/>
                </a:ext>
              </a:extLst>
            </p:cNvPr>
            <p:cNvSpPr/>
            <p:nvPr/>
          </p:nvSpPr>
          <p:spPr>
            <a:xfrm>
              <a:off x="3686262" y="162539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9" name="ellipse_1904">
              <a:extLst>
                <a:ext uri="{FF2B5EF4-FFF2-40B4-BE49-F238E27FC236}">
                  <a16:creationId xmlns:a16="http://schemas.microsoft.com/office/drawing/2014/main" id="{7DE1C447-AFD4-DD7C-5DE0-0E96E8153D12}"/>
                </a:ext>
              </a:extLst>
            </p:cNvPr>
            <p:cNvSpPr/>
            <p:nvPr/>
          </p:nvSpPr>
          <p:spPr>
            <a:xfrm>
              <a:off x="3673847" y="145725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0" name="ellipse_1905">
              <a:extLst>
                <a:ext uri="{FF2B5EF4-FFF2-40B4-BE49-F238E27FC236}">
                  <a16:creationId xmlns:a16="http://schemas.microsoft.com/office/drawing/2014/main" id="{536BBD44-5D8E-E642-7EFE-DC301B9D3F7F}"/>
                </a:ext>
              </a:extLst>
            </p:cNvPr>
            <p:cNvSpPr/>
            <p:nvPr/>
          </p:nvSpPr>
          <p:spPr>
            <a:xfrm>
              <a:off x="3580150" y="160304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1" name="ellipse_1906">
              <a:extLst>
                <a:ext uri="{FF2B5EF4-FFF2-40B4-BE49-F238E27FC236}">
                  <a16:creationId xmlns:a16="http://schemas.microsoft.com/office/drawing/2014/main" id="{2D018CC6-8BB4-0573-830A-62F9771BB455}"/>
                </a:ext>
              </a:extLst>
            </p:cNvPr>
            <p:cNvSpPr/>
            <p:nvPr/>
          </p:nvSpPr>
          <p:spPr>
            <a:xfrm>
              <a:off x="3499431" y="147999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2" name="ellipse_1907">
              <a:extLst>
                <a:ext uri="{FF2B5EF4-FFF2-40B4-BE49-F238E27FC236}">
                  <a16:creationId xmlns:a16="http://schemas.microsoft.com/office/drawing/2014/main" id="{3D9BABC9-7179-80DF-931B-76C5D153BFA2}"/>
                </a:ext>
              </a:extLst>
            </p:cNvPr>
            <p:cNvSpPr/>
            <p:nvPr/>
          </p:nvSpPr>
          <p:spPr>
            <a:xfrm>
              <a:off x="3698498" y="163375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3" name="ellipse_1908">
              <a:extLst>
                <a:ext uri="{FF2B5EF4-FFF2-40B4-BE49-F238E27FC236}">
                  <a16:creationId xmlns:a16="http://schemas.microsoft.com/office/drawing/2014/main" id="{BF41BEF8-8F67-637A-F426-1015DD3C37FC}"/>
                </a:ext>
              </a:extLst>
            </p:cNvPr>
            <p:cNvSpPr/>
            <p:nvPr/>
          </p:nvSpPr>
          <p:spPr>
            <a:xfrm>
              <a:off x="3664475" y="160668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4" name="ellipse_1909">
              <a:extLst>
                <a:ext uri="{FF2B5EF4-FFF2-40B4-BE49-F238E27FC236}">
                  <a16:creationId xmlns:a16="http://schemas.microsoft.com/office/drawing/2014/main" id="{E57407DB-12F2-A10B-73ED-904E74E89684}"/>
                </a:ext>
              </a:extLst>
            </p:cNvPr>
            <p:cNvSpPr/>
            <p:nvPr/>
          </p:nvSpPr>
          <p:spPr>
            <a:xfrm>
              <a:off x="3577670" y="157500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sp>
        <p:nvSpPr>
          <p:cNvPr id="297" name="TextBox 12152">
            <a:extLst>
              <a:ext uri="{FF2B5EF4-FFF2-40B4-BE49-F238E27FC236}">
                <a16:creationId xmlns:a16="http://schemas.microsoft.com/office/drawing/2014/main" id="{DA95DC65-9861-CC7E-7EFC-4B9E07722C91}"/>
              </a:ext>
            </a:extLst>
          </p:cNvPr>
          <p:cNvSpPr txBox="1"/>
          <p:nvPr/>
        </p:nvSpPr>
        <p:spPr>
          <a:xfrm>
            <a:off x="1932849" y="1615773"/>
            <a:ext cx="2183263" cy="106632"/>
          </a:xfrm>
          <a:prstGeom prst="rect">
            <a:avLst/>
          </a:prstGeom>
          <a:noFill/>
        </p:spPr>
        <p:txBody>
          <a:bodyPr wrap="square" lIns="0" tIns="0" rIns="0" bIns="0" anchor="ctr">
            <a:spAutoFit/>
          </a:bodyPr>
          <a:lstStyle/>
          <a:p>
            <a:pPr algn="ctr">
              <a:lnSpc>
                <a:spcPct val="105000"/>
              </a:lnSpc>
            </a:pPr>
            <a:r>
              <a:rPr sz="709">
                <a:solidFill>
                  <a:srgbClr val="263442"/>
                </a:solidFill>
                <a:latin typeface="Arial"/>
              </a:rPr>
              <a:t>Point Transformer V3</a:t>
            </a:r>
          </a:p>
        </p:txBody>
      </p:sp>
      <p:sp>
        <p:nvSpPr>
          <p:cNvPr id="298" name="TextBox 12153">
            <a:extLst>
              <a:ext uri="{FF2B5EF4-FFF2-40B4-BE49-F238E27FC236}">
                <a16:creationId xmlns:a16="http://schemas.microsoft.com/office/drawing/2014/main" id="{522E41DD-5F6E-76BD-E92F-5CBA886A651B}"/>
              </a:ext>
            </a:extLst>
          </p:cNvPr>
          <p:cNvSpPr txBox="1"/>
          <p:nvPr/>
        </p:nvSpPr>
        <p:spPr>
          <a:xfrm>
            <a:off x="2779258" y="1058360"/>
            <a:ext cx="767306" cy="88422"/>
          </a:xfrm>
          <a:prstGeom prst="rect">
            <a:avLst/>
          </a:prstGeom>
          <a:noFill/>
        </p:spPr>
        <p:txBody>
          <a:bodyPr wrap="square" lIns="0" tIns="0" rIns="0" bIns="0" anchor="ctr">
            <a:spAutoFit/>
          </a:bodyPr>
          <a:lstStyle/>
          <a:p>
            <a:pPr algn="ctr">
              <a:lnSpc>
                <a:spcPct val="105000"/>
              </a:lnSpc>
            </a:pPr>
            <a:r>
              <a:rPr lang="en-US" sz="588" dirty="0">
                <a:solidFill>
                  <a:srgbClr val="263442"/>
                </a:solidFill>
                <a:latin typeface="Arial"/>
              </a:rPr>
              <a:t>F</a:t>
            </a:r>
            <a:r>
              <a:rPr sz="588" dirty="0">
                <a:solidFill>
                  <a:srgbClr val="263442"/>
                </a:solidFill>
                <a:latin typeface="Arial"/>
              </a:rPr>
              <a:t>usion</a:t>
            </a:r>
          </a:p>
        </p:txBody>
      </p:sp>
      <p:sp>
        <p:nvSpPr>
          <p:cNvPr id="299" name="Find | Blobs output card">
            <a:extLst>
              <a:ext uri="{FF2B5EF4-FFF2-40B4-BE49-F238E27FC236}">
                <a16:creationId xmlns:a16="http://schemas.microsoft.com/office/drawing/2014/main" id="{6A602B9B-DE58-7AA0-FDBA-741F60C78A9B}"/>
              </a:ext>
            </a:extLst>
          </p:cNvPr>
          <p:cNvSpPr/>
          <p:nvPr/>
        </p:nvSpPr>
        <p:spPr>
          <a:xfrm>
            <a:off x="4300068" y="284775"/>
            <a:ext cx="442980" cy="1471328"/>
          </a:xfrm>
          <a:prstGeom prst="roundRect">
            <a:avLst>
              <a:gd name="adj" fmla="val 6000"/>
            </a:avLst>
          </a:prstGeom>
          <a:solidFill>
            <a:srgbClr val="FFFFFF"/>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300" name="TextBox 12155">
            <a:extLst>
              <a:ext uri="{FF2B5EF4-FFF2-40B4-BE49-F238E27FC236}">
                <a16:creationId xmlns:a16="http://schemas.microsoft.com/office/drawing/2014/main" id="{1F7C0F6F-D082-C8AA-DE11-4286EF42AADB}"/>
              </a:ext>
            </a:extLst>
          </p:cNvPr>
          <p:cNvSpPr txBox="1"/>
          <p:nvPr/>
        </p:nvSpPr>
        <p:spPr>
          <a:xfrm>
            <a:off x="4185689" y="307007"/>
            <a:ext cx="696113" cy="111954"/>
          </a:xfrm>
          <a:prstGeom prst="rect">
            <a:avLst/>
          </a:prstGeom>
          <a:noFill/>
        </p:spPr>
        <p:txBody>
          <a:bodyPr wrap="square" lIns="0" tIns="0" rIns="0" bIns="0" anchor="ctr">
            <a:spAutoFit/>
          </a:bodyPr>
          <a:lstStyle/>
          <a:p>
            <a:pPr algn="ctr">
              <a:lnSpc>
                <a:spcPct val="105000"/>
              </a:lnSpc>
            </a:pPr>
            <a:r>
              <a:rPr sz="744" dirty="0">
                <a:solidFill>
                  <a:srgbClr val="263442"/>
                </a:solidFill>
                <a:latin typeface="Arial"/>
              </a:rPr>
              <a:t>Blobs</a:t>
            </a:r>
          </a:p>
        </p:txBody>
      </p:sp>
      <p:sp>
        <p:nvSpPr>
          <p:cNvPr id="301" name="TextBox 12160">
            <a:extLst>
              <a:ext uri="{FF2B5EF4-FFF2-40B4-BE49-F238E27FC236}">
                <a16:creationId xmlns:a16="http://schemas.microsoft.com/office/drawing/2014/main" id="{EBF2AA16-9B52-B84F-43EE-03BA82B2D4CA}"/>
              </a:ext>
            </a:extLst>
          </p:cNvPr>
          <p:cNvSpPr txBox="1"/>
          <p:nvPr/>
        </p:nvSpPr>
        <p:spPr>
          <a:xfrm>
            <a:off x="581184" y="2090304"/>
            <a:ext cx="1186556" cy="107978"/>
          </a:xfrm>
          <a:prstGeom prst="rect">
            <a:avLst/>
          </a:prstGeom>
          <a:noFill/>
        </p:spPr>
        <p:txBody>
          <a:bodyPr wrap="square" lIns="0" tIns="0" rIns="0" bIns="0" anchor="ctr">
            <a:spAutoFit/>
          </a:bodyPr>
          <a:lstStyle/>
          <a:p>
            <a:pPr algn="l">
              <a:lnSpc>
                <a:spcPct val="105000"/>
              </a:lnSpc>
            </a:pPr>
            <a:r>
              <a:rPr sz="718" dirty="0">
                <a:solidFill>
                  <a:srgbClr val="263442"/>
                </a:solidFill>
                <a:latin typeface="Arial"/>
              </a:rPr>
              <a:t>Candidate encoder</a:t>
            </a:r>
          </a:p>
        </p:txBody>
      </p:sp>
      <p:sp>
        <p:nvSpPr>
          <p:cNvPr id="302" name="TextBox 12161">
            <a:extLst>
              <a:ext uri="{FF2B5EF4-FFF2-40B4-BE49-F238E27FC236}">
                <a16:creationId xmlns:a16="http://schemas.microsoft.com/office/drawing/2014/main" id="{1FD101AA-9130-CD96-6414-B193E6D36851}"/>
              </a:ext>
            </a:extLst>
          </p:cNvPr>
          <p:cNvSpPr txBox="1"/>
          <p:nvPr/>
        </p:nvSpPr>
        <p:spPr>
          <a:xfrm>
            <a:off x="2752186" y="2090304"/>
            <a:ext cx="1186556" cy="107978"/>
          </a:xfrm>
          <a:prstGeom prst="rect">
            <a:avLst/>
          </a:prstGeom>
          <a:noFill/>
        </p:spPr>
        <p:txBody>
          <a:bodyPr wrap="square" lIns="0" tIns="0" rIns="0" bIns="0" anchor="ctr">
            <a:spAutoFit/>
          </a:bodyPr>
          <a:lstStyle/>
          <a:p>
            <a:pPr algn="l">
              <a:lnSpc>
                <a:spcPct val="105000"/>
              </a:lnSpc>
            </a:pPr>
            <a:r>
              <a:rPr sz="718" dirty="0">
                <a:solidFill>
                  <a:srgbClr val="263442"/>
                </a:solidFill>
                <a:latin typeface="Arial"/>
              </a:rPr>
              <a:t>Identity encoder</a:t>
            </a:r>
          </a:p>
        </p:txBody>
      </p:sp>
      <p:sp>
        <p:nvSpPr>
          <p:cNvPr id="303" name="Match | Center divider">
            <a:extLst>
              <a:ext uri="{FF2B5EF4-FFF2-40B4-BE49-F238E27FC236}">
                <a16:creationId xmlns:a16="http://schemas.microsoft.com/office/drawing/2014/main" id="{5A593D05-94F5-C55B-C8C6-B8F9E86B08C6}"/>
              </a:ext>
            </a:extLst>
          </p:cNvPr>
          <p:cNvSpPr/>
          <p:nvPr/>
        </p:nvSpPr>
        <p:spPr>
          <a:xfrm>
            <a:off x="2617408" y="2119981"/>
            <a:ext cx="1" cy="1945952"/>
          </a:xfrm>
          <a:custGeom>
            <a:avLst/>
            <a:gdLst/>
            <a:ahLst/>
            <a:cxnLst/>
            <a:rect l="0" t="0" r="w" b="h"/>
            <a:pathLst>
              <a:path w="1" h="2249424">
                <a:moveTo>
                  <a:pt x="0" y="0"/>
                </a:moveTo>
                <a:lnTo>
                  <a:pt x="0" y="2249424"/>
                </a:lnTo>
              </a:path>
            </a:pathLst>
          </a:custGeom>
          <a:noFill/>
          <a:ln w="9525" cap="rnd" cmpd="sng" algn="ctr">
            <a:solidFill>
              <a:srgbClr val="C8CFD4"/>
            </a:solidFill>
            <a:prstDash val="solid"/>
            <a:round/>
            <a:headEnd type="none" w="med" len="med"/>
            <a:tailEnd type="none" w="med" len="med"/>
          </a:ln>
        </p:spPr>
      </p:sp>
      <p:sp>
        <p:nvSpPr>
          <p:cNvPr id="304" name="TextBox 12164">
            <a:extLst>
              <a:ext uri="{FF2B5EF4-FFF2-40B4-BE49-F238E27FC236}">
                <a16:creationId xmlns:a16="http://schemas.microsoft.com/office/drawing/2014/main" id="{DA6D9C81-D325-B373-1580-DEE13789E3EE}"/>
              </a:ext>
            </a:extLst>
          </p:cNvPr>
          <p:cNvSpPr txBox="1"/>
          <p:nvPr/>
        </p:nvSpPr>
        <p:spPr>
          <a:xfrm>
            <a:off x="573274" y="2270869"/>
            <a:ext cx="442981" cy="93744"/>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Receptor</a:t>
            </a:r>
          </a:p>
        </p:txBody>
      </p:sp>
      <p:sp>
        <p:nvSpPr>
          <p:cNvPr id="305" name="TextBox 12166">
            <a:extLst>
              <a:ext uri="{FF2B5EF4-FFF2-40B4-BE49-F238E27FC236}">
                <a16:creationId xmlns:a16="http://schemas.microsoft.com/office/drawing/2014/main" id="{6E830D7E-FC74-3019-18B2-DDE04B6E60D0}"/>
              </a:ext>
            </a:extLst>
          </p:cNvPr>
          <p:cNvSpPr txBox="1"/>
          <p:nvPr/>
        </p:nvSpPr>
        <p:spPr>
          <a:xfrm>
            <a:off x="1055807" y="2270869"/>
            <a:ext cx="442981" cy="93744"/>
          </a:xfrm>
          <a:prstGeom prst="rect">
            <a:avLst/>
          </a:prstGeom>
          <a:noFill/>
        </p:spPr>
        <p:txBody>
          <a:bodyPr wrap="square" lIns="0" tIns="0" rIns="0" bIns="0" anchor="ctr">
            <a:spAutoFit/>
          </a:bodyPr>
          <a:lstStyle/>
          <a:p>
            <a:pPr algn="ctr">
              <a:lnSpc>
                <a:spcPct val="105000"/>
              </a:lnSpc>
            </a:pPr>
            <a:r>
              <a:rPr sz="623" dirty="0">
                <a:solidFill>
                  <a:srgbClr val="263442"/>
                </a:solidFill>
                <a:latin typeface="Arial"/>
              </a:rPr>
              <a:t>Density</a:t>
            </a:r>
          </a:p>
        </p:txBody>
      </p:sp>
      <p:pic>
        <p:nvPicPr>
          <p:cNvPr id="306" name="Match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7A47CBDC-2732-4D0F-C4FF-972DA2F1AA3E}"/>
              </a:ext>
            </a:extLst>
          </p:cNvPr>
          <p:cNvPicPr/>
          <p:nvPr/>
        </p:nvPicPr>
        <p:blipFill>
          <a:blip r:embed="rId4"/>
          <a:stretch>
            <a:fillRect/>
          </a:stretch>
        </p:blipFill>
        <p:spPr>
          <a:xfrm>
            <a:off x="1103291" y="2380847"/>
            <a:ext cx="347980" cy="332276"/>
          </a:xfrm>
          <a:prstGeom prst="rect">
            <a:avLst/>
          </a:prstGeom>
        </p:spPr>
      </p:pic>
      <p:sp>
        <p:nvSpPr>
          <p:cNvPr id="526" name="TextBox 12168">
            <a:extLst>
              <a:ext uri="{FF2B5EF4-FFF2-40B4-BE49-F238E27FC236}">
                <a16:creationId xmlns:a16="http://schemas.microsoft.com/office/drawing/2014/main" id="{50BD09F1-2D4A-FA0A-7AF2-981DD7585F3A}"/>
              </a:ext>
            </a:extLst>
          </p:cNvPr>
          <p:cNvSpPr txBox="1"/>
          <p:nvPr/>
        </p:nvSpPr>
        <p:spPr>
          <a:xfrm>
            <a:off x="613323" y="2851277"/>
            <a:ext cx="340209" cy="97203"/>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Pocket</a:t>
            </a:r>
          </a:p>
        </p:txBody>
      </p:sp>
      <p:sp>
        <p:nvSpPr>
          <p:cNvPr id="613" name="TextBox 12177">
            <a:extLst>
              <a:ext uri="{FF2B5EF4-FFF2-40B4-BE49-F238E27FC236}">
                <a16:creationId xmlns:a16="http://schemas.microsoft.com/office/drawing/2014/main" id="{086F717F-C0B1-CD04-AFB8-166092CD717F}"/>
              </a:ext>
            </a:extLst>
          </p:cNvPr>
          <p:cNvSpPr txBox="1"/>
          <p:nvPr/>
        </p:nvSpPr>
        <p:spPr>
          <a:xfrm>
            <a:off x="1062885" y="2851277"/>
            <a:ext cx="340209" cy="97203"/>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Blob</a:t>
            </a:r>
          </a:p>
        </p:txBody>
      </p:sp>
      <p:grpSp>
        <p:nvGrpSpPr>
          <p:cNvPr id="614" name="Match | Blob contour">
            <a:extLst>
              <a:ext uri="{FF2B5EF4-FFF2-40B4-BE49-F238E27FC236}">
                <a16:creationId xmlns:a16="http://schemas.microsoft.com/office/drawing/2014/main" id="{ECF83E2A-3199-B09F-F90E-31DC9848C382}"/>
              </a:ext>
            </a:extLst>
          </p:cNvPr>
          <p:cNvGrpSpPr/>
          <p:nvPr/>
        </p:nvGrpSpPr>
        <p:grpSpPr>
          <a:xfrm>
            <a:off x="1086594" y="3036990"/>
            <a:ext cx="291608" cy="199265"/>
            <a:chOff x="1928706" y="3559489"/>
            <a:chExt cx="227897" cy="155682"/>
          </a:xfrm>
        </p:grpSpPr>
        <p:sp>
          <p:nvSpPr>
            <p:cNvPr id="615" name="Candidate blob | editable contour">
              <a:extLst>
                <a:ext uri="{FF2B5EF4-FFF2-40B4-BE49-F238E27FC236}">
                  <a16:creationId xmlns:a16="http://schemas.microsoft.com/office/drawing/2014/main" id="{513F782E-E1DE-1B64-68A9-FB54BE71715F}"/>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16" name="ellipse_2612">
              <a:extLst>
                <a:ext uri="{FF2B5EF4-FFF2-40B4-BE49-F238E27FC236}">
                  <a16:creationId xmlns:a16="http://schemas.microsoft.com/office/drawing/2014/main" id="{12A4650A-7359-9456-1843-A3C9E08B2497}"/>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18" name="TextBox 12186">
            <a:extLst>
              <a:ext uri="{FF2B5EF4-FFF2-40B4-BE49-F238E27FC236}">
                <a16:creationId xmlns:a16="http://schemas.microsoft.com/office/drawing/2014/main" id="{88505915-A113-7FAA-6C15-3F2B10F6D7CB}"/>
              </a:ext>
            </a:extLst>
          </p:cNvPr>
          <p:cNvSpPr txBox="1"/>
          <p:nvPr/>
        </p:nvSpPr>
        <p:spPr>
          <a:xfrm>
            <a:off x="1604695" y="2259965"/>
            <a:ext cx="286938" cy="92333"/>
          </a:xfrm>
          <a:prstGeom prst="rect">
            <a:avLst/>
          </a:prstGeom>
          <a:noFill/>
        </p:spPr>
        <p:txBody>
          <a:bodyPr wrap="none" lIns="0" tIns="0" rIns="0" bIns="0" anchor="ctr">
            <a:spAutoFit/>
          </a:bodyPr>
          <a:lstStyle/>
          <a:p>
            <a:pPr algn="ctr">
              <a:lnSpc>
                <a:spcPct val="105000"/>
              </a:lnSpc>
            </a:pPr>
            <a:r>
              <a:rPr sz="614">
                <a:solidFill>
                  <a:srgbClr val="263442"/>
                </a:solidFill>
                <a:latin typeface="Arial"/>
              </a:rPr>
              <a:t>48³ crop</a:t>
            </a:r>
          </a:p>
        </p:txBody>
      </p:sp>
      <p:grpSp>
        <p:nvGrpSpPr>
          <p:cNvPr id="619" name="48^3 crop 3D cube">
            <a:extLst>
              <a:ext uri="{FF2B5EF4-FFF2-40B4-BE49-F238E27FC236}">
                <a16:creationId xmlns:a16="http://schemas.microsoft.com/office/drawing/2014/main" id="{50441A72-5112-E010-1BBD-72FFF87A8B6E}"/>
              </a:ext>
            </a:extLst>
          </p:cNvPr>
          <p:cNvGrpSpPr/>
          <p:nvPr/>
        </p:nvGrpSpPr>
        <p:grpSpPr>
          <a:xfrm>
            <a:off x="1621801" y="2353114"/>
            <a:ext cx="251107" cy="197645"/>
            <a:chOff x="4043880" y="489960"/>
            <a:chExt cx="571680" cy="450000"/>
          </a:xfrm>
        </p:grpSpPr>
        <p:sp>
          <p:nvSpPr>
            <p:cNvPr id="620" name="asset_2027_0">
              <a:extLst>
                <a:ext uri="{FF2B5EF4-FFF2-40B4-BE49-F238E27FC236}">
                  <a16:creationId xmlns:a16="http://schemas.microsoft.com/office/drawing/2014/main" id="{2C26482F-D7D7-E3F6-FBCD-22AC82315E62}"/>
                </a:ext>
              </a:extLst>
            </p:cNvPr>
            <p:cNvSpPr>
              <a:spLocks noGrp="1"/>
            </p:cNvSpPr>
            <p:nvPr/>
          </p:nvSpPr>
          <p:spPr>
            <a:xfrm>
              <a:off x="4043880" y="489960"/>
              <a:ext cx="571680" cy="76500"/>
            </a:xfrm>
            <a:custGeom>
              <a:avLst/>
              <a:gdLst/>
              <a:ahLst/>
              <a:cxnLst/>
              <a:rect l="0" t="0" r="0" b="0"/>
              <a:pathLst>
                <a:path w="571680" h="76500">
                  <a:moveTo>
                    <a:pt x="0" y="76500"/>
                  </a:moveTo>
                  <a:lnTo>
                    <a:pt x="108619" y="0"/>
                  </a:lnTo>
                  <a:lnTo>
                    <a:pt x="571680" y="0"/>
                  </a:lnTo>
                  <a:lnTo>
                    <a:pt x="463061" y="76500"/>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621" name="asset_2027_1">
              <a:extLst>
                <a:ext uri="{FF2B5EF4-FFF2-40B4-BE49-F238E27FC236}">
                  <a16:creationId xmlns:a16="http://schemas.microsoft.com/office/drawing/2014/main" id="{F28AFBA7-0A71-99DE-9FF9-EBD0ADC1144C}"/>
                </a:ext>
              </a:extLst>
            </p:cNvPr>
            <p:cNvSpPr>
              <a:spLocks noGrp="1"/>
            </p:cNvSpPr>
            <p:nvPr/>
          </p:nvSpPr>
          <p:spPr>
            <a:xfrm>
              <a:off x="4506941" y="489960"/>
              <a:ext cx="108619" cy="450000"/>
            </a:xfrm>
            <a:custGeom>
              <a:avLst/>
              <a:gdLst/>
              <a:ahLst/>
              <a:cxnLst/>
              <a:rect l="0" t="0" r="0" b="0"/>
              <a:pathLst>
                <a:path w="108619" h="450000">
                  <a:moveTo>
                    <a:pt x="0" y="76500"/>
                  </a:moveTo>
                  <a:lnTo>
                    <a:pt x="108619" y="0"/>
                  </a:lnTo>
                  <a:lnTo>
                    <a:pt x="108619" y="373500"/>
                  </a:lnTo>
                  <a:lnTo>
                    <a:pt x="0" y="450000"/>
                  </a:lnTo>
                  <a:close/>
                </a:path>
              </a:pathLst>
            </a:custGeom>
            <a:solidFill>
              <a:srgbClr val="C9DFF3">
                <a:alpha val="22000"/>
              </a:srgbClr>
            </a:solidFill>
            <a:ln w="2700">
              <a:solidFill>
                <a:srgbClr val="A3C3E2"/>
              </a:solidFill>
            </a:ln>
          </p:spPr>
        </p:sp>
        <p:sp>
          <p:nvSpPr>
            <p:cNvPr id="622" name="asset_2027_2">
              <a:extLst>
                <a:ext uri="{FF2B5EF4-FFF2-40B4-BE49-F238E27FC236}">
                  <a16:creationId xmlns:a16="http://schemas.microsoft.com/office/drawing/2014/main" id="{97E064B3-0050-239C-C963-C5E4E31B84D2}"/>
                </a:ext>
              </a:extLst>
            </p:cNvPr>
            <p:cNvSpPr>
              <a:spLocks noGrp="1"/>
            </p:cNvSpPr>
            <p:nvPr/>
          </p:nvSpPr>
          <p:spPr>
            <a:xfrm>
              <a:off x="4043880" y="566460"/>
              <a:ext cx="463061" cy="373500"/>
            </a:xfrm>
            <a:prstGeom prst="rect">
              <a:avLst/>
            </a:prstGeom>
            <a:solidFill>
              <a:srgbClr val="E7F1FC">
                <a:alpha val="20000"/>
              </a:srgbClr>
            </a:solidFill>
            <a:ln w="2700">
              <a:solidFill>
                <a:srgbClr val="ABC9E7"/>
              </a:solidFill>
            </a:ln>
          </p:spPr>
        </p:sp>
        <p:sp>
          <p:nvSpPr>
            <p:cNvPr id="623" name="asset_2027_3">
              <a:extLst>
                <a:ext uri="{FF2B5EF4-FFF2-40B4-BE49-F238E27FC236}">
                  <a16:creationId xmlns:a16="http://schemas.microsoft.com/office/drawing/2014/main" id="{A2C54284-938E-B40D-7CE6-20A987BE1447}"/>
                </a:ext>
              </a:extLst>
            </p:cNvPr>
            <p:cNvSpPr>
              <a:spLocks noGrp="1"/>
            </p:cNvSpPr>
            <p:nvPr/>
          </p:nvSpPr>
          <p:spPr>
            <a:xfrm>
              <a:off x="4159645" y="566460"/>
              <a:ext cx="4" cy="373500"/>
            </a:xfrm>
            <a:prstGeom prst="line">
              <a:avLst/>
            </a:prstGeom>
            <a:noFill/>
            <a:ln w="1980">
              <a:solidFill>
                <a:srgbClr val="B8D2EB">
                  <a:alpha val="33000"/>
                </a:srgbClr>
              </a:solidFill>
            </a:ln>
          </p:spPr>
        </p:sp>
        <p:sp>
          <p:nvSpPr>
            <p:cNvPr id="624" name="asset_2027_4">
              <a:extLst>
                <a:ext uri="{FF2B5EF4-FFF2-40B4-BE49-F238E27FC236}">
                  <a16:creationId xmlns:a16="http://schemas.microsoft.com/office/drawing/2014/main" id="{0F8960CE-A059-8D07-91FB-C97F3078BCD9}"/>
                </a:ext>
              </a:extLst>
            </p:cNvPr>
            <p:cNvSpPr>
              <a:spLocks noGrp="1"/>
            </p:cNvSpPr>
            <p:nvPr/>
          </p:nvSpPr>
          <p:spPr>
            <a:xfrm>
              <a:off x="4043880" y="659835"/>
              <a:ext cx="463061" cy="4"/>
            </a:xfrm>
            <a:prstGeom prst="line">
              <a:avLst/>
            </a:prstGeom>
            <a:noFill/>
            <a:ln w="1980">
              <a:solidFill>
                <a:srgbClr val="B8D2EB">
                  <a:alpha val="33000"/>
                </a:srgbClr>
              </a:solidFill>
            </a:ln>
          </p:spPr>
        </p:sp>
        <p:sp>
          <p:nvSpPr>
            <p:cNvPr id="625" name="asset_2027_5">
              <a:extLst>
                <a:ext uri="{FF2B5EF4-FFF2-40B4-BE49-F238E27FC236}">
                  <a16:creationId xmlns:a16="http://schemas.microsoft.com/office/drawing/2014/main" id="{A5646F3B-E3B0-7C1C-2E27-F9E967647A65}"/>
                </a:ext>
              </a:extLst>
            </p:cNvPr>
            <p:cNvSpPr>
              <a:spLocks noGrp="1"/>
            </p:cNvSpPr>
            <p:nvPr/>
          </p:nvSpPr>
          <p:spPr>
            <a:xfrm>
              <a:off x="4275410" y="566460"/>
              <a:ext cx="4" cy="373500"/>
            </a:xfrm>
            <a:prstGeom prst="line">
              <a:avLst/>
            </a:prstGeom>
            <a:noFill/>
            <a:ln w="1980">
              <a:solidFill>
                <a:srgbClr val="B8D2EB">
                  <a:alpha val="33000"/>
                </a:srgbClr>
              </a:solidFill>
            </a:ln>
          </p:spPr>
        </p:sp>
        <p:sp>
          <p:nvSpPr>
            <p:cNvPr id="626" name="asset_2027_6">
              <a:extLst>
                <a:ext uri="{FF2B5EF4-FFF2-40B4-BE49-F238E27FC236}">
                  <a16:creationId xmlns:a16="http://schemas.microsoft.com/office/drawing/2014/main" id="{49CF1756-587C-D73A-CFD0-CE93821E4BC5}"/>
                </a:ext>
              </a:extLst>
            </p:cNvPr>
            <p:cNvSpPr>
              <a:spLocks noGrp="1"/>
            </p:cNvSpPr>
            <p:nvPr/>
          </p:nvSpPr>
          <p:spPr>
            <a:xfrm>
              <a:off x="4043880" y="753210"/>
              <a:ext cx="463061" cy="4"/>
            </a:xfrm>
            <a:prstGeom prst="line">
              <a:avLst/>
            </a:prstGeom>
            <a:noFill/>
            <a:ln w="1980">
              <a:solidFill>
                <a:srgbClr val="B8D2EB">
                  <a:alpha val="33000"/>
                </a:srgbClr>
              </a:solidFill>
            </a:ln>
          </p:spPr>
        </p:sp>
        <p:sp>
          <p:nvSpPr>
            <p:cNvPr id="627" name="asset_2027_7">
              <a:extLst>
                <a:ext uri="{FF2B5EF4-FFF2-40B4-BE49-F238E27FC236}">
                  <a16:creationId xmlns:a16="http://schemas.microsoft.com/office/drawing/2014/main" id="{617A40D8-F985-CF5E-C184-9CEE010688B0}"/>
                </a:ext>
              </a:extLst>
            </p:cNvPr>
            <p:cNvSpPr>
              <a:spLocks noGrp="1"/>
            </p:cNvSpPr>
            <p:nvPr/>
          </p:nvSpPr>
          <p:spPr>
            <a:xfrm>
              <a:off x="4391176" y="566460"/>
              <a:ext cx="4" cy="373500"/>
            </a:xfrm>
            <a:prstGeom prst="line">
              <a:avLst/>
            </a:prstGeom>
            <a:noFill/>
            <a:ln w="1980">
              <a:solidFill>
                <a:srgbClr val="B8D2EB">
                  <a:alpha val="33000"/>
                </a:srgbClr>
              </a:solidFill>
            </a:ln>
          </p:spPr>
        </p:sp>
        <p:sp>
          <p:nvSpPr>
            <p:cNvPr id="628" name="asset_2027_8">
              <a:extLst>
                <a:ext uri="{FF2B5EF4-FFF2-40B4-BE49-F238E27FC236}">
                  <a16:creationId xmlns:a16="http://schemas.microsoft.com/office/drawing/2014/main" id="{D74C2F96-9830-4E45-47CF-280DBDF3BBA6}"/>
                </a:ext>
              </a:extLst>
            </p:cNvPr>
            <p:cNvSpPr>
              <a:spLocks noGrp="1"/>
            </p:cNvSpPr>
            <p:nvPr/>
          </p:nvSpPr>
          <p:spPr>
            <a:xfrm>
              <a:off x="4043880" y="846585"/>
              <a:ext cx="463061" cy="4"/>
            </a:xfrm>
            <a:prstGeom prst="line">
              <a:avLst/>
            </a:prstGeom>
            <a:noFill/>
            <a:ln w="1980">
              <a:solidFill>
                <a:srgbClr val="B8D2EB">
                  <a:alpha val="33000"/>
                </a:srgbClr>
              </a:solidFill>
            </a:ln>
          </p:spPr>
        </p:sp>
        <p:sp>
          <p:nvSpPr>
            <p:cNvPr id="629" name="asset_2027_53">
              <a:extLst>
                <a:ext uri="{FF2B5EF4-FFF2-40B4-BE49-F238E27FC236}">
                  <a16:creationId xmlns:a16="http://schemas.microsoft.com/office/drawing/2014/main" id="{B57D82E4-2BD4-33AA-2164-941D5F47EC2E}"/>
                </a:ext>
              </a:extLst>
            </p:cNvPr>
            <p:cNvSpPr>
              <a:spLocks noGrp="1"/>
            </p:cNvSpPr>
            <p:nvPr/>
          </p:nvSpPr>
          <p:spPr>
            <a:xfrm>
              <a:off x="4043880" y="566460"/>
              <a:ext cx="463061" cy="373500"/>
            </a:xfrm>
            <a:custGeom>
              <a:avLst/>
              <a:gdLst/>
              <a:ahLst/>
              <a:cxnLst/>
              <a:rect l="0" t="0" r="0" b="0"/>
              <a:pathLst>
                <a:path w="463061" h="373500">
                  <a:moveTo>
                    <a:pt x="0" y="0"/>
                  </a:moveTo>
                  <a:lnTo>
                    <a:pt x="463061" y="0"/>
                  </a:lnTo>
                  <a:lnTo>
                    <a:pt x="463061" y="373500"/>
                  </a:lnTo>
                  <a:lnTo>
                    <a:pt x="0" y="373500"/>
                  </a:lnTo>
                  <a:close/>
                </a:path>
              </a:pathLst>
            </a:custGeom>
            <a:noFill/>
            <a:ln w="3600">
              <a:solidFill>
                <a:srgbClr val="8AB3D9"/>
              </a:solidFill>
            </a:ln>
          </p:spPr>
        </p:sp>
      </p:grpSp>
      <p:grpSp>
        <p:nvGrpSpPr>
          <p:cNvPr id="630" name="48^3 crop centered blob">
            <a:extLst>
              <a:ext uri="{FF2B5EF4-FFF2-40B4-BE49-F238E27FC236}">
                <a16:creationId xmlns:a16="http://schemas.microsoft.com/office/drawing/2014/main" id="{05F07842-8C1D-D758-5B6A-3324A46B243F}"/>
              </a:ext>
            </a:extLst>
          </p:cNvPr>
          <p:cNvGrpSpPr/>
          <p:nvPr/>
        </p:nvGrpSpPr>
        <p:grpSpPr>
          <a:xfrm>
            <a:off x="1684577" y="2424395"/>
            <a:ext cx="110568" cy="75332"/>
            <a:chOff x="1928706" y="3559489"/>
            <a:chExt cx="227897" cy="155682"/>
          </a:xfrm>
        </p:grpSpPr>
        <p:sp>
          <p:nvSpPr>
            <p:cNvPr id="631" name="Candidate blob | editable contour">
              <a:extLst>
                <a:ext uri="{FF2B5EF4-FFF2-40B4-BE49-F238E27FC236}">
                  <a16:creationId xmlns:a16="http://schemas.microsoft.com/office/drawing/2014/main" id="{9098312C-2F0E-B28B-B660-F9C51272B948}"/>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32" name="ellipse_2612">
              <a:extLst>
                <a:ext uri="{FF2B5EF4-FFF2-40B4-BE49-F238E27FC236}">
                  <a16:creationId xmlns:a16="http://schemas.microsoft.com/office/drawing/2014/main" id="{ACF53CE3-1C37-025F-02A8-70EEA8DCFD7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33" name="Blob centroid marker">
            <a:extLst>
              <a:ext uri="{FF2B5EF4-FFF2-40B4-BE49-F238E27FC236}">
                <a16:creationId xmlns:a16="http://schemas.microsoft.com/office/drawing/2014/main" id="{EDD959CF-D4D3-5624-F7B2-BF9345634585}"/>
              </a:ext>
            </a:extLst>
          </p:cNvPr>
          <p:cNvSpPr/>
          <p:nvPr/>
        </p:nvSpPr>
        <p:spPr>
          <a:xfrm>
            <a:off x="1727508" y="2450316"/>
            <a:ext cx="24301" cy="24301"/>
          </a:xfrm>
          <a:prstGeom prst="ellipse">
            <a:avLst/>
          </a:prstGeom>
          <a:solidFill>
            <a:srgbClr val="1D4ED8"/>
          </a:solidFill>
          <a:ln w="762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4" name="TextBox 12188">
            <a:extLst>
              <a:ext uri="{FF2B5EF4-FFF2-40B4-BE49-F238E27FC236}">
                <a16:creationId xmlns:a16="http://schemas.microsoft.com/office/drawing/2014/main" id="{2C0C5B7E-EB59-C12C-034A-66725ABF262F}"/>
              </a:ext>
            </a:extLst>
          </p:cNvPr>
          <p:cNvSpPr txBox="1"/>
          <p:nvPr/>
        </p:nvSpPr>
        <p:spPr>
          <a:xfrm>
            <a:off x="1563337" y="2614551"/>
            <a:ext cx="328616" cy="92333"/>
          </a:xfrm>
          <a:prstGeom prst="rect">
            <a:avLst/>
          </a:prstGeom>
          <a:noFill/>
        </p:spPr>
        <p:txBody>
          <a:bodyPr wrap="none" lIns="0" tIns="0" rIns="0" bIns="0" anchor="ctr">
            <a:spAutoFit/>
          </a:bodyPr>
          <a:lstStyle/>
          <a:p>
            <a:pPr algn="ctr">
              <a:lnSpc>
                <a:spcPct val="105000"/>
              </a:lnSpc>
            </a:pPr>
            <a:r>
              <a:rPr sz="614" dirty="0">
                <a:solidFill>
                  <a:srgbClr val="263442"/>
                </a:solidFill>
                <a:latin typeface="Arial"/>
              </a:rPr>
              <a:t>3D U-Net</a:t>
            </a:r>
          </a:p>
        </p:txBody>
      </p:sp>
      <p:sp>
        <p:nvSpPr>
          <p:cNvPr id="635" name="TextBox 12189">
            <a:extLst>
              <a:ext uri="{FF2B5EF4-FFF2-40B4-BE49-F238E27FC236}">
                <a16:creationId xmlns:a16="http://schemas.microsoft.com/office/drawing/2014/main" id="{8153BF98-6A0C-0786-710E-3D0EE8987AAA}"/>
              </a:ext>
            </a:extLst>
          </p:cNvPr>
          <p:cNvSpPr txBox="1"/>
          <p:nvPr/>
        </p:nvSpPr>
        <p:spPr>
          <a:xfrm>
            <a:off x="1980556" y="2623546"/>
            <a:ext cx="514564" cy="90218"/>
          </a:xfrm>
          <a:prstGeom prst="rect">
            <a:avLst/>
          </a:prstGeom>
          <a:noFill/>
        </p:spPr>
        <p:txBody>
          <a:bodyPr wrap="none" lIns="0" tIns="0" rIns="0" bIns="0" anchor="ctr">
            <a:spAutoFit/>
          </a:bodyPr>
          <a:lstStyle/>
          <a:p>
            <a:pPr algn="ctr">
              <a:lnSpc>
                <a:spcPct val="105000"/>
              </a:lnSpc>
            </a:pPr>
            <a:r>
              <a:rPr lang="en-US" sz="600" dirty="0">
                <a:solidFill>
                  <a:srgbClr val="263442"/>
                </a:solidFill>
                <a:latin typeface="Arial"/>
              </a:rPr>
              <a:t>B</a:t>
            </a:r>
            <a:r>
              <a:rPr lang="en-US" altLang="zh-CN" sz="600" dirty="0">
                <a:solidFill>
                  <a:srgbClr val="263442"/>
                </a:solidFill>
                <a:latin typeface="Arial"/>
              </a:rPr>
              <a:t>ase s</a:t>
            </a:r>
            <a:r>
              <a:rPr sz="600" dirty="0">
                <a:solidFill>
                  <a:srgbClr val="263442"/>
                </a:solidFill>
                <a:latin typeface="Arial"/>
              </a:rPr>
              <a:t>ummary</a:t>
            </a:r>
          </a:p>
        </p:txBody>
      </p:sp>
      <p:sp>
        <p:nvSpPr>
          <p:cNvPr id="636" name="Math | h_j^vox">
            <a:extLst>
              <a:ext uri="{FF2B5EF4-FFF2-40B4-BE49-F238E27FC236}">
                <a16:creationId xmlns:a16="http://schemas.microsoft.com/office/drawing/2014/main" id="{93EC2205-1821-C3E9-E08B-23B27F07452E}"/>
              </a:ext>
            </a:extLst>
          </p:cNvPr>
          <p:cNvSpPr txBox="1"/>
          <p:nvPr/>
        </p:nvSpPr>
        <p:spPr>
          <a:xfrm>
            <a:off x="2156314" y="2371206"/>
            <a:ext cx="169918" cy="126509"/>
          </a:xfrm>
          <a:prstGeom prst="rect">
            <a:avLst/>
          </a:prstGeom>
          <a:noFill/>
        </p:spPr>
        <p:txBody>
          <a:bodyPr wrap="none" lIns="0" tIns="0" rIns="0" bIns="0" anchor="ctr">
            <a:spAutoFit/>
          </a:bodyPr>
          <a:lstStyle/>
          <a:p>
            <a:pPr algn="ctr"/>
            <a:r>
              <a:rPr sz="855" i="1">
                <a:solidFill>
                  <a:srgbClr val="263442"/>
                </a:solidFill>
                <a:latin typeface="Times New Roman"/>
              </a:rPr>
              <a:t>h</a:t>
            </a:r>
            <a:r>
              <a:rPr sz="780" i="1" baseline="-28000">
                <a:solidFill>
                  <a:srgbClr val="263442"/>
                </a:solidFill>
                <a:latin typeface="Times New Roman"/>
              </a:rPr>
              <a:t>j</a:t>
            </a:r>
            <a:r>
              <a:rPr sz="780" baseline="32000">
                <a:solidFill>
                  <a:srgbClr val="263442"/>
                </a:solidFill>
                <a:latin typeface="Arial"/>
              </a:rPr>
              <a:t>vox</a:t>
            </a:r>
          </a:p>
        </p:txBody>
      </p:sp>
      <p:sp>
        <p:nvSpPr>
          <p:cNvPr id="637" name="Base summary bar_1">
            <a:extLst>
              <a:ext uri="{FF2B5EF4-FFF2-40B4-BE49-F238E27FC236}">
                <a16:creationId xmlns:a16="http://schemas.microsoft.com/office/drawing/2014/main" id="{99E9D3C4-A8BD-9C93-615E-C771AE07C8E3}"/>
              </a:ext>
            </a:extLst>
          </p:cNvPr>
          <p:cNvSpPr/>
          <p:nvPr/>
        </p:nvSpPr>
        <p:spPr>
          <a:xfrm>
            <a:off x="2059844" y="2549118"/>
            <a:ext cx="44072" cy="59328"/>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8" name="Base summary bar_2">
            <a:extLst>
              <a:ext uri="{FF2B5EF4-FFF2-40B4-BE49-F238E27FC236}">
                <a16:creationId xmlns:a16="http://schemas.microsoft.com/office/drawing/2014/main" id="{6BC787CE-AF83-7509-7C88-9AB58DB6F66F}"/>
              </a:ext>
            </a:extLst>
          </p:cNvPr>
          <p:cNvSpPr/>
          <p:nvPr/>
        </p:nvSpPr>
        <p:spPr>
          <a:xfrm>
            <a:off x="2107871" y="2549118"/>
            <a:ext cx="44072" cy="59328"/>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9" name="Base summary bar_3">
            <a:extLst>
              <a:ext uri="{FF2B5EF4-FFF2-40B4-BE49-F238E27FC236}">
                <a16:creationId xmlns:a16="http://schemas.microsoft.com/office/drawing/2014/main" id="{269240CC-07F6-8569-D6D0-2E898FDFE671}"/>
              </a:ext>
            </a:extLst>
          </p:cNvPr>
          <p:cNvSpPr/>
          <p:nvPr/>
        </p:nvSpPr>
        <p:spPr>
          <a:xfrm>
            <a:off x="2155898" y="2549118"/>
            <a:ext cx="44072" cy="59328"/>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0" name="Base summary bar_4">
            <a:extLst>
              <a:ext uri="{FF2B5EF4-FFF2-40B4-BE49-F238E27FC236}">
                <a16:creationId xmlns:a16="http://schemas.microsoft.com/office/drawing/2014/main" id="{D027E165-A9E7-E339-F192-6FC69D94CA5E}"/>
              </a:ext>
            </a:extLst>
          </p:cNvPr>
          <p:cNvSpPr/>
          <p:nvPr/>
        </p:nvSpPr>
        <p:spPr>
          <a:xfrm>
            <a:off x="2203926" y="2549118"/>
            <a:ext cx="44072" cy="59328"/>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1" name="Base summary bar_5">
            <a:extLst>
              <a:ext uri="{FF2B5EF4-FFF2-40B4-BE49-F238E27FC236}">
                <a16:creationId xmlns:a16="http://schemas.microsoft.com/office/drawing/2014/main" id="{AF544338-D23E-CE3C-A6B8-4FA37DCAD82E}"/>
              </a:ext>
            </a:extLst>
          </p:cNvPr>
          <p:cNvSpPr/>
          <p:nvPr/>
        </p:nvSpPr>
        <p:spPr>
          <a:xfrm>
            <a:off x="2251954" y="2549118"/>
            <a:ext cx="44072" cy="59328"/>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2" name="Base summary bar_6">
            <a:extLst>
              <a:ext uri="{FF2B5EF4-FFF2-40B4-BE49-F238E27FC236}">
                <a16:creationId xmlns:a16="http://schemas.microsoft.com/office/drawing/2014/main" id="{9F80EB35-B4A7-2FA2-7A0C-B02A9915E4EB}"/>
              </a:ext>
            </a:extLst>
          </p:cNvPr>
          <p:cNvSpPr/>
          <p:nvPr/>
        </p:nvSpPr>
        <p:spPr>
          <a:xfrm>
            <a:off x="2299981" y="2549118"/>
            <a:ext cx="44072" cy="59328"/>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3" name="Base summary bar_7">
            <a:extLst>
              <a:ext uri="{FF2B5EF4-FFF2-40B4-BE49-F238E27FC236}">
                <a16:creationId xmlns:a16="http://schemas.microsoft.com/office/drawing/2014/main" id="{763E1301-00D0-44E1-3425-288C0321EC85}"/>
              </a:ext>
            </a:extLst>
          </p:cNvPr>
          <p:cNvSpPr/>
          <p:nvPr/>
        </p:nvSpPr>
        <p:spPr>
          <a:xfrm>
            <a:off x="2348008" y="2549118"/>
            <a:ext cx="44072" cy="59328"/>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4" name="Op | Mean/max pool">
            <a:extLst>
              <a:ext uri="{FF2B5EF4-FFF2-40B4-BE49-F238E27FC236}">
                <a16:creationId xmlns:a16="http://schemas.microsoft.com/office/drawing/2014/main" id="{C4850A78-C957-EF45-0669-F1FA2501E311}"/>
              </a:ext>
            </a:extLst>
          </p:cNvPr>
          <p:cNvSpPr/>
          <p:nvPr/>
        </p:nvSpPr>
        <p:spPr>
          <a:xfrm>
            <a:off x="573274" y="3452879"/>
            <a:ext cx="617009"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Mean/max pool</a:t>
            </a:r>
          </a:p>
        </p:txBody>
      </p:sp>
      <p:sp>
        <p:nvSpPr>
          <p:cNvPr id="645" name="Op | Cross-attention">
            <a:extLst>
              <a:ext uri="{FF2B5EF4-FFF2-40B4-BE49-F238E27FC236}">
                <a16:creationId xmlns:a16="http://schemas.microsoft.com/office/drawing/2014/main" id="{11FEE5AE-99F9-B083-0D93-CFC8DBD07D63}"/>
              </a:ext>
            </a:extLst>
          </p:cNvPr>
          <p:cNvSpPr/>
          <p:nvPr/>
        </p:nvSpPr>
        <p:spPr>
          <a:xfrm>
            <a:off x="1269387" y="3452879"/>
            <a:ext cx="648651"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Cross-attention</a:t>
            </a:r>
          </a:p>
        </p:txBody>
      </p:sp>
      <p:sp>
        <p:nvSpPr>
          <p:cNvPr id="646" name="TextBox 12200">
            <a:extLst>
              <a:ext uri="{FF2B5EF4-FFF2-40B4-BE49-F238E27FC236}">
                <a16:creationId xmlns:a16="http://schemas.microsoft.com/office/drawing/2014/main" id="{884D8F93-171F-A6AB-A603-7E1006874447}"/>
              </a:ext>
            </a:extLst>
          </p:cNvPr>
          <p:cNvSpPr txBox="1"/>
          <p:nvPr/>
        </p:nvSpPr>
        <p:spPr>
          <a:xfrm>
            <a:off x="1638684" y="3370950"/>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647" name="Op | FiLM">
            <a:extLst>
              <a:ext uri="{FF2B5EF4-FFF2-40B4-BE49-F238E27FC236}">
                <a16:creationId xmlns:a16="http://schemas.microsoft.com/office/drawing/2014/main" id="{59F3449A-984C-C7E7-FC02-0C47B43E0DFD}"/>
              </a:ext>
            </a:extLst>
          </p:cNvPr>
          <p:cNvSpPr/>
          <p:nvPr/>
        </p:nvSpPr>
        <p:spPr>
          <a:xfrm>
            <a:off x="2060427" y="3738251"/>
            <a:ext cx="300518" cy="150259"/>
          </a:xfrm>
          <a:prstGeom prst="roundRect">
            <a:avLst>
              <a:gd name="adj" fmla="val 25000"/>
            </a:avLst>
          </a:prstGeom>
          <a:solidFill>
            <a:srgbClr val="EDE7F5"/>
          </a:solidFill>
          <a:ln w="7290">
            <a:solidFill>
              <a:srgbClr val="B8A9D9"/>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623">
                <a:solidFill>
                  <a:srgbClr val="263442"/>
                </a:solidFill>
                <a:latin typeface="Arial"/>
              </a:rPr>
              <a:t>FiLM</a:t>
            </a:r>
          </a:p>
        </p:txBody>
      </p:sp>
      <p:sp>
        <p:nvSpPr>
          <p:cNvPr id="648" name="TextBox 12202">
            <a:extLst>
              <a:ext uri="{FF2B5EF4-FFF2-40B4-BE49-F238E27FC236}">
                <a16:creationId xmlns:a16="http://schemas.microsoft.com/office/drawing/2014/main" id="{6F9F40E0-7819-CEA2-6131-C4ABBC19B945}"/>
              </a:ext>
            </a:extLst>
          </p:cNvPr>
          <p:cNvSpPr txBox="1"/>
          <p:nvPr/>
        </p:nvSpPr>
        <p:spPr>
          <a:xfrm>
            <a:off x="2001097" y="3430400"/>
            <a:ext cx="126566" cy="84510"/>
          </a:xfrm>
          <a:prstGeom prst="rect">
            <a:avLst/>
          </a:prstGeom>
          <a:noFill/>
        </p:spPr>
        <p:txBody>
          <a:bodyPr wrap="square" lIns="0" tIns="0" rIns="0" bIns="0" anchor="ctr">
            <a:spAutoFit/>
          </a:bodyPr>
          <a:lstStyle/>
          <a:p>
            <a:pPr algn="ctr">
              <a:lnSpc>
                <a:spcPct val="105000"/>
              </a:lnSpc>
            </a:pPr>
            <a:r>
              <a:rPr sz="562">
                <a:solidFill>
                  <a:srgbClr val="263442"/>
                </a:solidFill>
                <a:latin typeface="Arial"/>
              </a:rPr>
              <a:t>Q</a:t>
            </a:r>
          </a:p>
        </p:txBody>
      </p:sp>
      <p:sp>
        <p:nvSpPr>
          <p:cNvPr id="649" name="Op | MLP">
            <a:extLst>
              <a:ext uri="{FF2B5EF4-FFF2-40B4-BE49-F238E27FC236}">
                <a16:creationId xmlns:a16="http://schemas.microsoft.com/office/drawing/2014/main" id="{554F5441-96D3-CFD3-6A6E-CA8C906F4B29}"/>
              </a:ext>
            </a:extLst>
          </p:cNvPr>
          <p:cNvSpPr/>
          <p:nvPr/>
        </p:nvSpPr>
        <p:spPr>
          <a:xfrm>
            <a:off x="1063695" y="3738251"/>
            <a:ext cx="347904" cy="150259"/>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MLP</a:t>
            </a:r>
          </a:p>
        </p:txBody>
      </p:sp>
      <p:sp>
        <p:nvSpPr>
          <p:cNvPr id="650" name="h_j bar_1">
            <a:extLst>
              <a:ext uri="{FF2B5EF4-FFF2-40B4-BE49-F238E27FC236}">
                <a16:creationId xmlns:a16="http://schemas.microsoft.com/office/drawing/2014/main" id="{99BF7016-0AEC-5CA1-43D0-0CC405933ADD}"/>
              </a:ext>
            </a:extLst>
          </p:cNvPr>
          <p:cNvSpPr/>
          <p:nvPr/>
        </p:nvSpPr>
        <p:spPr>
          <a:xfrm>
            <a:off x="2044604" y="3989994"/>
            <a:ext cx="44072" cy="56955"/>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1" name="h_j bar_2">
            <a:extLst>
              <a:ext uri="{FF2B5EF4-FFF2-40B4-BE49-F238E27FC236}">
                <a16:creationId xmlns:a16="http://schemas.microsoft.com/office/drawing/2014/main" id="{71708831-906F-DB31-D516-DA6520DB6B6E}"/>
              </a:ext>
            </a:extLst>
          </p:cNvPr>
          <p:cNvSpPr/>
          <p:nvPr/>
        </p:nvSpPr>
        <p:spPr>
          <a:xfrm>
            <a:off x="2092631" y="3989994"/>
            <a:ext cx="44072" cy="56955"/>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2" name="h_j bar_3">
            <a:extLst>
              <a:ext uri="{FF2B5EF4-FFF2-40B4-BE49-F238E27FC236}">
                <a16:creationId xmlns:a16="http://schemas.microsoft.com/office/drawing/2014/main" id="{E1CF9CE6-644D-2199-D558-FB2748AF4CA8}"/>
              </a:ext>
            </a:extLst>
          </p:cNvPr>
          <p:cNvSpPr/>
          <p:nvPr/>
        </p:nvSpPr>
        <p:spPr>
          <a:xfrm>
            <a:off x="2140658" y="3989994"/>
            <a:ext cx="44072" cy="56955"/>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3" name="h_j bar_4">
            <a:extLst>
              <a:ext uri="{FF2B5EF4-FFF2-40B4-BE49-F238E27FC236}">
                <a16:creationId xmlns:a16="http://schemas.microsoft.com/office/drawing/2014/main" id="{0B1E11C4-B6B0-8410-69CA-ECA06B016C11}"/>
              </a:ext>
            </a:extLst>
          </p:cNvPr>
          <p:cNvSpPr/>
          <p:nvPr/>
        </p:nvSpPr>
        <p:spPr>
          <a:xfrm>
            <a:off x="2188686" y="3989994"/>
            <a:ext cx="44072" cy="56955"/>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4" name="h_j bar_5">
            <a:extLst>
              <a:ext uri="{FF2B5EF4-FFF2-40B4-BE49-F238E27FC236}">
                <a16:creationId xmlns:a16="http://schemas.microsoft.com/office/drawing/2014/main" id="{2A27D763-25D4-1A48-A9AB-8AE10B5867F3}"/>
              </a:ext>
            </a:extLst>
          </p:cNvPr>
          <p:cNvSpPr/>
          <p:nvPr/>
        </p:nvSpPr>
        <p:spPr>
          <a:xfrm>
            <a:off x="2236714" y="3989994"/>
            <a:ext cx="44072" cy="56955"/>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5" name="h_j bar_6">
            <a:extLst>
              <a:ext uri="{FF2B5EF4-FFF2-40B4-BE49-F238E27FC236}">
                <a16:creationId xmlns:a16="http://schemas.microsoft.com/office/drawing/2014/main" id="{CC2DBA64-D0DF-1160-5FEF-C265BF4EAB35}"/>
              </a:ext>
            </a:extLst>
          </p:cNvPr>
          <p:cNvSpPr/>
          <p:nvPr/>
        </p:nvSpPr>
        <p:spPr>
          <a:xfrm>
            <a:off x="2284741" y="3989994"/>
            <a:ext cx="44072" cy="56955"/>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6" name="h_j bar_7">
            <a:extLst>
              <a:ext uri="{FF2B5EF4-FFF2-40B4-BE49-F238E27FC236}">
                <a16:creationId xmlns:a16="http://schemas.microsoft.com/office/drawing/2014/main" id="{3E031F7D-E2D9-9D11-0526-4D352C453584}"/>
              </a:ext>
            </a:extLst>
          </p:cNvPr>
          <p:cNvSpPr/>
          <p:nvPr/>
        </p:nvSpPr>
        <p:spPr>
          <a:xfrm>
            <a:off x="2332768" y="3989994"/>
            <a:ext cx="44072" cy="56955"/>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7" name="Math | h_j^">
            <a:extLst>
              <a:ext uri="{FF2B5EF4-FFF2-40B4-BE49-F238E27FC236}">
                <a16:creationId xmlns:a16="http://schemas.microsoft.com/office/drawing/2014/main" id="{9AC920D3-16D2-273E-04D3-53357E82FB0E}"/>
              </a:ext>
            </a:extLst>
          </p:cNvPr>
          <p:cNvSpPr txBox="1"/>
          <p:nvPr/>
        </p:nvSpPr>
        <p:spPr>
          <a:xfrm>
            <a:off x="1930234" y="3947306"/>
            <a:ext cx="70532" cy="126509"/>
          </a:xfrm>
          <a:prstGeom prst="rect">
            <a:avLst/>
          </a:prstGeom>
          <a:noFill/>
        </p:spPr>
        <p:txBody>
          <a:bodyPr wrap="none" lIns="0" tIns="0" rIns="0" bIns="0" anchor="ctr">
            <a:spAutoFit/>
          </a:bodyPr>
          <a:lstStyle/>
          <a:p>
            <a:pPr algn="ctr"/>
            <a:r>
              <a:rPr sz="855" i="1">
                <a:solidFill>
                  <a:srgbClr val="263442"/>
                </a:solidFill>
                <a:latin typeface="Times New Roman"/>
              </a:rPr>
              <a:t>h</a:t>
            </a:r>
            <a:r>
              <a:rPr sz="780" i="1" baseline="-28000">
                <a:solidFill>
                  <a:srgbClr val="263442"/>
                </a:solidFill>
                <a:latin typeface="Times New Roman"/>
              </a:rPr>
              <a:t>j</a:t>
            </a:r>
          </a:p>
        </p:txBody>
      </p:sp>
      <p:sp>
        <p:nvSpPr>
          <p:cNvPr id="658" name="Op | Foreground head">
            <a:extLst>
              <a:ext uri="{FF2B5EF4-FFF2-40B4-BE49-F238E27FC236}">
                <a16:creationId xmlns:a16="http://schemas.microsoft.com/office/drawing/2014/main" id="{772C4BD8-070D-6A2C-3C5B-CCE55BD09041}"/>
              </a:ext>
            </a:extLst>
          </p:cNvPr>
          <p:cNvSpPr/>
          <p:nvPr/>
        </p:nvSpPr>
        <p:spPr>
          <a:xfrm>
            <a:off x="660288" y="4181937"/>
            <a:ext cx="696113"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Foreground head</a:t>
            </a:r>
          </a:p>
        </p:txBody>
      </p:sp>
      <p:sp>
        <p:nvSpPr>
          <p:cNvPr id="659" name="Math | p_j^fg">
            <a:extLst>
              <a:ext uri="{FF2B5EF4-FFF2-40B4-BE49-F238E27FC236}">
                <a16:creationId xmlns:a16="http://schemas.microsoft.com/office/drawing/2014/main" id="{04752E8A-9FFA-1739-18D7-365FF5D9A529}"/>
              </a:ext>
            </a:extLst>
          </p:cNvPr>
          <p:cNvSpPr txBox="1"/>
          <p:nvPr/>
        </p:nvSpPr>
        <p:spPr>
          <a:xfrm>
            <a:off x="1661733" y="4176444"/>
            <a:ext cx="121828" cy="122341"/>
          </a:xfrm>
          <a:prstGeom prst="rect">
            <a:avLst/>
          </a:prstGeom>
          <a:noFill/>
        </p:spPr>
        <p:txBody>
          <a:bodyPr wrap="none" lIns="0" tIns="0" rIns="0" bIns="0" anchor="ctr">
            <a:spAutoFit/>
          </a:bodyPr>
          <a:lstStyle/>
          <a:p>
            <a:pPr algn="ctr"/>
            <a:r>
              <a:rPr sz="827" i="1" dirty="0" err="1">
                <a:solidFill>
                  <a:srgbClr val="263442"/>
                </a:solidFill>
                <a:latin typeface="Times New Roman"/>
              </a:rPr>
              <a:t>p</a:t>
            </a:r>
            <a:r>
              <a:rPr sz="780" i="1" baseline="-28000" dirty="0" err="1">
                <a:solidFill>
                  <a:srgbClr val="263442"/>
                </a:solidFill>
                <a:latin typeface="Times New Roman"/>
              </a:rPr>
              <a:t>j</a:t>
            </a:r>
            <a:r>
              <a:rPr sz="780" baseline="32000" dirty="0" err="1">
                <a:solidFill>
                  <a:srgbClr val="263442"/>
                </a:solidFill>
                <a:latin typeface="Arial"/>
              </a:rPr>
              <a:t>fg</a:t>
            </a:r>
            <a:endParaRPr sz="780" baseline="32000" dirty="0">
              <a:solidFill>
                <a:srgbClr val="263442"/>
              </a:solidFill>
              <a:latin typeface="Arial"/>
            </a:endParaRPr>
          </a:p>
        </p:txBody>
      </p:sp>
      <p:sp>
        <p:nvSpPr>
          <p:cNvPr id="660" name="TextBox 12215">
            <a:extLst>
              <a:ext uri="{FF2B5EF4-FFF2-40B4-BE49-F238E27FC236}">
                <a16:creationId xmlns:a16="http://schemas.microsoft.com/office/drawing/2014/main" id="{C45D4B31-EE62-7047-2BD0-7D7B985DADC4}"/>
              </a:ext>
            </a:extLst>
          </p:cNvPr>
          <p:cNvSpPr txBox="1"/>
          <p:nvPr/>
        </p:nvSpPr>
        <p:spPr>
          <a:xfrm>
            <a:off x="1392995" y="4310121"/>
            <a:ext cx="666849" cy="79445"/>
          </a:xfrm>
          <a:prstGeom prst="rect">
            <a:avLst/>
          </a:prstGeom>
          <a:noFill/>
        </p:spPr>
        <p:txBody>
          <a:bodyPr wrap="none" lIns="0" tIns="0" rIns="0" bIns="0" anchor="ctr">
            <a:spAutoFit/>
          </a:bodyPr>
          <a:lstStyle/>
          <a:p>
            <a:pPr algn="l">
              <a:lnSpc>
                <a:spcPct val="105000"/>
              </a:lnSpc>
            </a:pPr>
            <a:r>
              <a:rPr sz="528" dirty="0">
                <a:solidFill>
                  <a:srgbClr val="263442"/>
                </a:solidFill>
                <a:latin typeface="Arial"/>
              </a:rPr>
              <a:t>Foreground probability</a:t>
            </a:r>
          </a:p>
        </p:txBody>
      </p:sp>
      <p:sp>
        <p:nvSpPr>
          <p:cNvPr id="661" name="TextBox 12216">
            <a:extLst>
              <a:ext uri="{FF2B5EF4-FFF2-40B4-BE49-F238E27FC236}">
                <a16:creationId xmlns:a16="http://schemas.microsoft.com/office/drawing/2014/main" id="{978E7CF5-ACF2-460D-26F2-9B198BAAC63B}"/>
              </a:ext>
            </a:extLst>
          </p:cNvPr>
          <p:cNvSpPr txBox="1"/>
          <p:nvPr/>
        </p:nvSpPr>
        <p:spPr>
          <a:xfrm>
            <a:off x="3071869" y="2206291"/>
            <a:ext cx="1195840" cy="88422"/>
          </a:xfrm>
          <a:prstGeom prst="rect">
            <a:avLst/>
          </a:prstGeom>
          <a:noFill/>
        </p:spPr>
        <p:txBody>
          <a:bodyPr wrap="none" lIns="0" tIns="0" rIns="0" bIns="0" anchor="ctr">
            <a:spAutoFit/>
          </a:bodyPr>
          <a:lstStyle/>
          <a:p>
            <a:pPr algn="ctr">
              <a:lnSpc>
                <a:spcPct val="105000"/>
              </a:lnSpc>
            </a:pPr>
            <a:r>
              <a:rPr sz="588">
                <a:solidFill>
                  <a:srgbClr val="263442"/>
                </a:solidFill>
                <a:latin typeface="Arial"/>
              </a:rPr>
              <a:t>User-provided SMILES · same PDB</a:t>
            </a:r>
          </a:p>
        </p:txBody>
      </p:sp>
      <p:sp>
        <p:nvSpPr>
          <p:cNvPr id="662" name="Identity | SMILES list card">
            <a:extLst>
              <a:ext uri="{FF2B5EF4-FFF2-40B4-BE49-F238E27FC236}">
                <a16:creationId xmlns:a16="http://schemas.microsoft.com/office/drawing/2014/main" id="{7DA7890B-AB79-9717-CAA6-1EEE08F32188}"/>
              </a:ext>
            </a:extLst>
          </p:cNvPr>
          <p:cNvSpPr/>
          <p:nvPr/>
        </p:nvSpPr>
        <p:spPr>
          <a:xfrm>
            <a:off x="3250539" y="2309830"/>
            <a:ext cx="838500" cy="512745"/>
          </a:xfrm>
          <a:prstGeom prst="roundRect">
            <a:avLst>
              <a:gd name="adj" fmla="val 6000"/>
            </a:avLst>
          </a:prstGeom>
          <a:solidFill>
            <a:srgbClr val="FFFFFF"/>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3" name="TextBox 12218">
            <a:extLst>
              <a:ext uri="{FF2B5EF4-FFF2-40B4-BE49-F238E27FC236}">
                <a16:creationId xmlns:a16="http://schemas.microsoft.com/office/drawing/2014/main" id="{86BB59AD-D134-C7C6-AEC0-14F6157A5F0B}"/>
              </a:ext>
            </a:extLst>
          </p:cNvPr>
          <p:cNvSpPr txBox="1"/>
          <p:nvPr/>
        </p:nvSpPr>
        <p:spPr>
          <a:xfrm>
            <a:off x="3305912" y="2338063"/>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1   CCO</a:t>
            </a:r>
          </a:p>
        </p:txBody>
      </p:sp>
      <p:sp>
        <p:nvSpPr>
          <p:cNvPr id="664" name="TextBox 12219">
            <a:extLst>
              <a:ext uri="{FF2B5EF4-FFF2-40B4-BE49-F238E27FC236}">
                <a16:creationId xmlns:a16="http://schemas.microsoft.com/office/drawing/2014/main" id="{D5CEF1E2-0003-83A9-6C8B-869DF460C92C}"/>
              </a:ext>
            </a:extLst>
          </p:cNvPr>
          <p:cNvSpPr txBox="1"/>
          <p:nvPr/>
        </p:nvSpPr>
        <p:spPr>
          <a:xfrm>
            <a:off x="3305912" y="2440897"/>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2   CC(=O)O</a:t>
            </a:r>
          </a:p>
        </p:txBody>
      </p:sp>
      <p:sp>
        <p:nvSpPr>
          <p:cNvPr id="665" name="Identity | Selected k pill">
            <a:extLst>
              <a:ext uri="{FF2B5EF4-FFF2-40B4-BE49-F238E27FC236}">
                <a16:creationId xmlns:a16="http://schemas.microsoft.com/office/drawing/2014/main" id="{484884C0-9180-67EB-D183-0D32CB2F3899}"/>
              </a:ext>
            </a:extLst>
          </p:cNvPr>
          <p:cNvSpPr/>
          <p:nvPr/>
        </p:nvSpPr>
        <p:spPr>
          <a:xfrm>
            <a:off x="3282181" y="2562853"/>
            <a:ext cx="775217" cy="118656"/>
          </a:xfrm>
          <a:prstGeom prst="roundRect">
            <a:avLst>
              <a:gd name="adj" fmla="val 18000"/>
            </a:avLst>
          </a:prstGeom>
          <a:solidFill>
            <a:srgbClr val="DCFCE7"/>
          </a:solidFill>
          <a:ln w="8890">
            <a:solidFill>
              <a:srgbClr val="3E997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6" name="TextBox 12222">
            <a:extLst>
              <a:ext uri="{FF2B5EF4-FFF2-40B4-BE49-F238E27FC236}">
                <a16:creationId xmlns:a16="http://schemas.microsoft.com/office/drawing/2014/main" id="{AF18D027-6125-FBDF-9BCD-9060B5C5E099}"/>
              </a:ext>
            </a:extLst>
          </p:cNvPr>
          <p:cNvSpPr txBox="1"/>
          <p:nvPr/>
        </p:nvSpPr>
        <p:spPr>
          <a:xfrm>
            <a:off x="3313822" y="2585570"/>
            <a:ext cx="71193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k   Cc1ccccc1</a:t>
            </a:r>
          </a:p>
        </p:txBody>
      </p:sp>
      <p:sp>
        <p:nvSpPr>
          <p:cNvPr id="667" name="TextBox 12224">
            <a:extLst>
              <a:ext uri="{FF2B5EF4-FFF2-40B4-BE49-F238E27FC236}">
                <a16:creationId xmlns:a16="http://schemas.microsoft.com/office/drawing/2014/main" id="{4F02AD2D-3369-26A3-6D2F-44659C880CB7}"/>
              </a:ext>
            </a:extLst>
          </p:cNvPr>
          <p:cNvSpPr txBox="1"/>
          <p:nvPr/>
        </p:nvSpPr>
        <p:spPr>
          <a:xfrm>
            <a:off x="3305912" y="2714369"/>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K   CC(N)=O</a:t>
            </a:r>
          </a:p>
        </p:txBody>
      </p:sp>
      <p:sp>
        <p:nvSpPr>
          <p:cNvPr id="668" name="TextBox 12225">
            <a:extLst>
              <a:ext uri="{FF2B5EF4-FFF2-40B4-BE49-F238E27FC236}">
                <a16:creationId xmlns:a16="http://schemas.microsoft.com/office/drawing/2014/main" id="{3E613D72-90CB-62FD-E861-8FE6E2F065B8}"/>
              </a:ext>
            </a:extLst>
          </p:cNvPr>
          <p:cNvSpPr txBox="1"/>
          <p:nvPr/>
        </p:nvSpPr>
        <p:spPr>
          <a:xfrm>
            <a:off x="2786686" y="2643822"/>
            <a:ext cx="181140" cy="80599"/>
          </a:xfrm>
          <a:prstGeom prst="rect">
            <a:avLst/>
          </a:prstGeom>
          <a:noFill/>
        </p:spPr>
        <p:txBody>
          <a:bodyPr wrap="none" lIns="0" tIns="0" rIns="0" bIns="0" anchor="ctr">
            <a:spAutoFit/>
          </a:bodyPr>
          <a:lstStyle/>
          <a:p>
            <a:pPr algn="l">
              <a:lnSpc>
                <a:spcPct val="105000"/>
              </a:lnSpc>
            </a:pPr>
            <a:r>
              <a:rPr sz="536" dirty="0" err="1">
                <a:solidFill>
                  <a:srgbClr val="263442"/>
                </a:solidFill>
                <a:latin typeface="Arial"/>
              </a:rPr>
              <a:t>RDKit</a:t>
            </a:r>
            <a:endParaRPr sz="536" dirty="0">
              <a:solidFill>
                <a:srgbClr val="263442"/>
              </a:solidFill>
              <a:latin typeface="Arial"/>
            </a:endParaRPr>
          </a:p>
        </p:txBody>
      </p:sp>
      <p:grpSp>
        <p:nvGrpSpPr>
          <p:cNvPr id="669" name="Identity | Own molecular graph">
            <a:extLst>
              <a:ext uri="{FF2B5EF4-FFF2-40B4-BE49-F238E27FC236}">
                <a16:creationId xmlns:a16="http://schemas.microsoft.com/office/drawing/2014/main" id="{683652C7-CC94-2A9C-935C-36CF7B7EB5E8}"/>
              </a:ext>
            </a:extLst>
          </p:cNvPr>
          <p:cNvGrpSpPr/>
          <p:nvPr/>
        </p:nvGrpSpPr>
        <p:grpSpPr>
          <a:xfrm>
            <a:off x="2862931" y="2888431"/>
            <a:ext cx="284773" cy="171742"/>
            <a:chOff x="3366271" y="3721905"/>
            <a:chExt cx="311024" cy="187573"/>
          </a:xfrm>
        </p:grpSpPr>
        <p:cxnSp>
          <p:nvCxnSpPr>
            <p:cNvPr id="670" name="path_2698">
              <a:extLst>
                <a:ext uri="{FF2B5EF4-FFF2-40B4-BE49-F238E27FC236}">
                  <a16:creationId xmlns:a16="http://schemas.microsoft.com/office/drawing/2014/main" id="{08C9C74A-0B12-2E3C-023F-C3DCDEFB7AF1}"/>
                </a:ext>
              </a:extLst>
            </p:cNvPr>
            <p:cNvCxnSpPr/>
            <p:nvPr/>
          </p:nvCxnSpPr>
          <p:spPr>
            <a:xfrm flipV="1">
              <a:off x="3381053" y="3736688"/>
              <a:ext cx="63663" cy="70463"/>
            </a:xfrm>
            <a:prstGeom prst="line">
              <a:avLst/>
            </a:prstGeom>
            <a:noFill/>
            <a:ln w="5256" cap="rnd" cmpd="sng" algn="ctr">
              <a:solidFill>
                <a:srgbClr val="238777"/>
              </a:solidFill>
              <a:prstDash val="solid"/>
              <a:round/>
              <a:headEnd type="none" w="med" len="med"/>
              <a:tailEnd type="none" w="med" len="med"/>
            </a:ln>
            <a:effectLst/>
          </p:spPr>
        </p:cxnSp>
        <p:cxnSp>
          <p:nvCxnSpPr>
            <p:cNvPr id="671" name="path_2699">
              <a:extLst>
                <a:ext uri="{FF2B5EF4-FFF2-40B4-BE49-F238E27FC236}">
                  <a16:creationId xmlns:a16="http://schemas.microsoft.com/office/drawing/2014/main" id="{1CF65ECB-9AC9-C310-5460-0B86FF6B2BC5}"/>
                </a:ext>
              </a:extLst>
            </p:cNvPr>
            <p:cNvCxnSpPr/>
            <p:nvPr/>
          </p:nvCxnSpPr>
          <p:spPr>
            <a:xfrm>
              <a:off x="3444717" y="3736688"/>
              <a:ext cx="113924" cy="14947"/>
            </a:xfrm>
            <a:prstGeom prst="line">
              <a:avLst/>
            </a:prstGeom>
            <a:noFill/>
            <a:ln w="5256" cap="rnd" cmpd="sng" algn="ctr">
              <a:solidFill>
                <a:srgbClr val="238777"/>
              </a:solidFill>
              <a:prstDash val="solid"/>
              <a:round/>
              <a:headEnd type="none" w="med" len="med"/>
              <a:tailEnd type="none" w="med" len="med"/>
            </a:ln>
            <a:effectLst/>
          </p:spPr>
        </p:cxnSp>
        <p:cxnSp>
          <p:nvCxnSpPr>
            <p:cNvPr id="672" name="path_2700">
              <a:extLst>
                <a:ext uri="{FF2B5EF4-FFF2-40B4-BE49-F238E27FC236}">
                  <a16:creationId xmlns:a16="http://schemas.microsoft.com/office/drawing/2014/main" id="{47F0AAAA-D782-D4D4-41E7-7304CCE8D568}"/>
                </a:ext>
              </a:extLst>
            </p:cNvPr>
            <p:cNvCxnSpPr/>
            <p:nvPr/>
          </p:nvCxnSpPr>
          <p:spPr>
            <a:xfrm>
              <a:off x="3558640" y="3751634"/>
              <a:ext cx="73715" cy="64058"/>
            </a:xfrm>
            <a:prstGeom prst="line">
              <a:avLst/>
            </a:prstGeom>
            <a:noFill/>
            <a:ln w="5256" cap="rnd" cmpd="sng" algn="ctr">
              <a:solidFill>
                <a:srgbClr val="238777"/>
              </a:solidFill>
              <a:prstDash val="solid"/>
              <a:round/>
              <a:headEnd type="none" w="med" len="med"/>
              <a:tailEnd type="none" w="med" len="med"/>
            </a:ln>
            <a:effectLst/>
          </p:spPr>
        </p:cxnSp>
        <p:cxnSp>
          <p:nvCxnSpPr>
            <p:cNvPr id="673" name="path_2701">
              <a:extLst>
                <a:ext uri="{FF2B5EF4-FFF2-40B4-BE49-F238E27FC236}">
                  <a16:creationId xmlns:a16="http://schemas.microsoft.com/office/drawing/2014/main" id="{672DEF92-FEF6-A8B8-A079-671D6D70071E}"/>
                </a:ext>
              </a:extLst>
            </p:cNvPr>
            <p:cNvCxnSpPr/>
            <p:nvPr/>
          </p:nvCxnSpPr>
          <p:spPr>
            <a:xfrm flipH="1">
              <a:off x="3561991" y="3815692"/>
              <a:ext cx="70365" cy="79004"/>
            </a:xfrm>
            <a:prstGeom prst="line">
              <a:avLst/>
            </a:prstGeom>
            <a:noFill/>
            <a:ln w="5256" cap="rnd" cmpd="sng" algn="ctr">
              <a:solidFill>
                <a:srgbClr val="238777"/>
              </a:solidFill>
              <a:prstDash val="solid"/>
              <a:round/>
              <a:headEnd type="none" w="med" len="med"/>
              <a:tailEnd type="none" w="med" len="med"/>
            </a:ln>
            <a:effectLst/>
          </p:spPr>
        </p:cxnSp>
        <p:cxnSp>
          <p:nvCxnSpPr>
            <p:cNvPr id="674" name="path_2702">
              <a:extLst>
                <a:ext uri="{FF2B5EF4-FFF2-40B4-BE49-F238E27FC236}">
                  <a16:creationId xmlns:a16="http://schemas.microsoft.com/office/drawing/2014/main" id="{B02A38E3-8AB1-C1CA-A784-7A02E63B2D09}"/>
                </a:ext>
              </a:extLst>
            </p:cNvPr>
            <p:cNvCxnSpPr/>
            <p:nvPr/>
          </p:nvCxnSpPr>
          <p:spPr>
            <a:xfrm flipH="1" flipV="1">
              <a:off x="3444717" y="3875479"/>
              <a:ext cx="117275" cy="19217"/>
            </a:xfrm>
            <a:prstGeom prst="line">
              <a:avLst/>
            </a:prstGeom>
            <a:noFill/>
            <a:ln w="5256" cap="rnd" cmpd="sng" algn="ctr">
              <a:solidFill>
                <a:srgbClr val="238777"/>
              </a:solidFill>
              <a:prstDash val="solid"/>
              <a:round/>
              <a:headEnd type="none" w="med" len="med"/>
              <a:tailEnd type="none" w="med" len="med"/>
            </a:ln>
            <a:effectLst/>
          </p:spPr>
        </p:cxnSp>
        <p:cxnSp>
          <p:nvCxnSpPr>
            <p:cNvPr id="675" name="path_2703">
              <a:extLst>
                <a:ext uri="{FF2B5EF4-FFF2-40B4-BE49-F238E27FC236}">
                  <a16:creationId xmlns:a16="http://schemas.microsoft.com/office/drawing/2014/main" id="{5EB27651-D3BE-22CD-39D8-D428781F5F97}"/>
                </a:ext>
              </a:extLst>
            </p:cNvPr>
            <p:cNvCxnSpPr/>
            <p:nvPr/>
          </p:nvCxnSpPr>
          <p:spPr>
            <a:xfrm flipH="1" flipV="1">
              <a:off x="3381053" y="3807151"/>
              <a:ext cx="63663" cy="68328"/>
            </a:xfrm>
            <a:prstGeom prst="line">
              <a:avLst/>
            </a:prstGeom>
            <a:noFill/>
            <a:ln w="5256" cap="rnd" cmpd="sng" algn="ctr">
              <a:solidFill>
                <a:srgbClr val="238777"/>
              </a:solidFill>
              <a:prstDash val="solid"/>
              <a:round/>
              <a:headEnd type="none" w="med" len="med"/>
              <a:tailEnd type="none" w="med" len="med"/>
            </a:ln>
            <a:effectLst/>
          </p:spPr>
        </p:cxnSp>
        <p:cxnSp>
          <p:nvCxnSpPr>
            <p:cNvPr id="676" name="path_2704">
              <a:extLst>
                <a:ext uri="{FF2B5EF4-FFF2-40B4-BE49-F238E27FC236}">
                  <a16:creationId xmlns:a16="http://schemas.microsoft.com/office/drawing/2014/main" id="{A3592B63-1411-3F57-5878-96E17C30AD75}"/>
                </a:ext>
              </a:extLst>
            </p:cNvPr>
            <p:cNvCxnSpPr/>
            <p:nvPr/>
          </p:nvCxnSpPr>
          <p:spPr>
            <a:xfrm flipV="1">
              <a:off x="3558640" y="3745228"/>
              <a:ext cx="103872" cy="6406"/>
            </a:xfrm>
            <a:prstGeom prst="line">
              <a:avLst/>
            </a:prstGeom>
            <a:noFill/>
            <a:ln w="5256" cap="rnd" cmpd="sng" algn="ctr">
              <a:solidFill>
                <a:srgbClr val="238777"/>
              </a:solidFill>
              <a:prstDash val="solid"/>
              <a:round/>
              <a:headEnd type="none" w="med" len="med"/>
              <a:tailEnd type="none" w="med" len="med"/>
            </a:ln>
            <a:effectLst/>
          </p:spPr>
        </p:cxnSp>
        <p:sp>
          <p:nvSpPr>
            <p:cNvPr id="677" name="ellipse_2705">
              <a:extLst>
                <a:ext uri="{FF2B5EF4-FFF2-40B4-BE49-F238E27FC236}">
                  <a16:creationId xmlns:a16="http://schemas.microsoft.com/office/drawing/2014/main" id="{C3D36D22-8CEB-B663-A605-02E9CFFED0C1}"/>
                </a:ext>
              </a:extLst>
            </p:cNvPr>
            <p:cNvSpPr/>
            <p:nvPr/>
          </p:nvSpPr>
          <p:spPr>
            <a:xfrm>
              <a:off x="3366271" y="3792368"/>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8" name="ellipse_2706">
              <a:extLst>
                <a:ext uri="{FF2B5EF4-FFF2-40B4-BE49-F238E27FC236}">
                  <a16:creationId xmlns:a16="http://schemas.microsoft.com/office/drawing/2014/main" id="{1F86BCBC-B96E-6EC5-AC9B-22A20629DF0F}"/>
                </a:ext>
              </a:extLst>
            </p:cNvPr>
            <p:cNvSpPr/>
            <p:nvPr/>
          </p:nvSpPr>
          <p:spPr>
            <a:xfrm>
              <a:off x="3429934" y="3721905"/>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9" name="ellipse_2707">
              <a:extLst>
                <a:ext uri="{FF2B5EF4-FFF2-40B4-BE49-F238E27FC236}">
                  <a16:creationId xmlns:a16="http://schemas.microsoft.com/office/drawing/2014/main" id="{0D7ED534-2755-74EA-6149-4A7E3A7E8992}"/>
                </a:ext>
              </a:extLst>
            </p:cNvPr>
            <p:cNvSpPr/>
            <p:nvPr/>
          </p:nvSpPr>
          <p:spPr>
            <a:xfrm>
              <a:off x="3543858" y="3736852"/>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0" name="ellipse_2708">
              <a:extLst>
                <a:ext uri="{FF2B5EF4-FFF2-40B4-BE49-F238E27FC236}">
                  <a16:creationId xmlns:a16="http://schemas.microsoft.com/office/drawing/2014/main" id="{01CC7294-C7B5-D1A4-A138-902105284B89}"/>
                </a:ext>
              </a:extLst>
            </p:cNvPr>
            <p:cNvSpPr/>
            <p:nvPr/>
          </p:nvSpPr>
          <p:spPr>
            <a:xfrm>
              <a:off x="3617573" y="3800909"/>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1" name="ellipse_2709">
              <a:extLst>
                <a:ext uri="{FF2B5EF4-FFF2-40B4-BE49-F238E27FC236}">
                  <a16:creationId xmlns:a16="http://schemas.microsoft.com/office/drawing/2014/main" id="{80734E48-9DE8-B4FD-D0D4-D53693BBEADF}"/>
                </a:ext>
              </a:extLst>
            </p:cNvPr>
            <p:cNvSpPr/>
            <p:nvPr/>
          </p:nvSpPr>
          <p:spPr>
            <a:xfrm>
              <a:off x="3547209" y="3879913"/>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2" name="ellipse_2710">
              <a:extLst>
                <a:ext uri="{FF2B5EF4-FFF2-40B4-BE49-F238E27FC236}">
                  <a16:creationId xmlns:a16="http://schemas.microsoft.com/office/drawing/2014/main" id="{3DB6F677-E1A0-2C7D-CADD-FB389865F633}"/>
                </a:ext>
              </a:extLst>
            </p:cNvPr>
            <p:cNvSpPr/>
            <p:nvPr/>
          </p:nvSpPr>
          <p:spPr>
            <a:xfrm>
              <a:off x="3429934" y="386069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3" name="ellipse_2711">
              <a:extLst>
                <a:ext uri="{FF2B5EF4-FFF2-40B4-BE49-F238E27FC236}">
                  <a16:creationId xmlns:a16="http://schemas.microsoft.com/office/drawing/2014/main" id="{D105DBC9-3C6D-0576-1E95-E04BFA9EB1EF}"/>
                </a:ext>
              </a:extLst>
            </p:cNvPr>
            <p:cNvSpPr/>
            <p:nvPr/>
          </p:nvSpPr>
          <p:spPr>
            <a:xfrm>
              <a:off x="3647730" y="373044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grpSp>
      <p:sp>
        <p:nvSpPr>
          <p:cNvPr id="684" name="TextBox 12226">
            <a:extLst>
              <a:ext uri="{FF2B5EF4-FFF2-40B4-BE49-F238E27FC236}">
                <a16:creationId xmlns:a16="http://schemas.microsoft.com/office/drawing/2014/main" id="{43DBD103-E22F-DA52-F0ED-122A5CA41D61}"/>
              </a:ext>
            </a:extLst>
          </p:cNvPr>
          <p:cNvSpPr txBox="1"/>
          <p:nvPr/>
        </p:nvSpPr>
        <p:spPr>
          <a:xfrm>
            <a:off x="2837002" y="3080344"/>
            <a:ext cx="336631" cy="80599"/>
          </a:xfrm>
          <a:prstGeom prst="rect">
            <a:avLst/>
          </a:prstGeom>
          <a:noFill/>
        </p:spPr>
        <p:txBody>
          <a:bodyPr wrap="none" lIns="0" tIns="0" rIns="0" bIns="0" anchor="ctr">
            <a:spAutoFit/>
          </a:bodyPr>
          <a:lstStyle/>
          <a:p>
            <a:pPr algn="ctr">
              <a:lnSpc>
                <a:spcPct val="105000"/>
              </a:lnSpc>
            </a:pPr>
            <a:r>
              <a:rPr sz="536">
                <a:solidFill>
                  <a:srgbClr val="263442"/>
                </a:solidFill>
                <a:latin typeface="Arial"/>
              </a:rPr>
              <a:t>Own graph</a:t>
            </a:r>
          </a:p>
        </p:txBody>
      </p:sp>
      <p:sp>
        <p:nvSpPr>
          <p:cNvPr id="685" name="Op | GNN">
            <a:extLst>
              <a:ext uri="{FF2B5EF4-FFF2-40B4-BE49-F238E27FC236}">
                <a16:creationId xmlns:a16="http://schemas.microsoft.com/office/drawing/2014/main" id="{98330FF3-2E5A-32C3-D33C-D78225E1943D}"/>
              </a:ext>
            </a:extLst>
          </p:cNvPr>
          <p:cNvSpPr/>
          <p:nvPr/>
        </p:nvSpPr>
        <p:spPr>
          <a:xfrm>
            <a:off x="2823379" y="3239299"/>
            <a:ext cx="363877"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GNN</a:t>
            </a:r>
          </a:p>
        </p:txBody>
      </p:sp>
      <p:sp>
        <p:nvSpPr>
          <p:cNvPr id="686" name="TextBox 12228">
            <a:extLst>
              <a:ext uri="{FF2B5EF4-FFF2-40B4-BE49-F238E27FC236}">
                <a16:creationId xmlns:a16="http://schemas.microsoft.com/office/drawing/2014/main" id="{26538413-3AE9-9872-D0A6-0AEA9E6FF809}"/>
              </a:ext>
            </a:extLst>
          </p:cNvPr>
          <p:cNvSpPr txBox="1"/>
          <p:nvPr/>
        </p:nvSpPr>
        <p:spPr>
          <a:xfrm>
            <a:off x="3036959" y="3388848"/>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687" name="Op | Graph attention">
            <a:extLst>
              <a:ext uri="{FF2B5EF4-FFF2-40B4-BE49-F238E27FC236}">
                <a16:creationId xmlns:a16="http://schemas.microsoft.com/office/drawing/2014/main" id="{5F3701CD-DCA3-D9CA-7FA3-D737E8718A60}"/>
              </a:ext>
            </a:extLst>
          </p:cNvPr>
          <p:cNvSpPr/>
          <p:nvPr/>
        </p:nvSpPr>
        <p:spPr>
          <a:xfrm>
            <a:off x="2696813" y="3500341"/>
            <a:ext cx="617009"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Graph</a:t>
            </a:r>
            <a:r>
              <a:rPr sz="580" dirty="0">
                <a:solidFill>
                  <a:srgbClr val="263442"/>
                </a:solidFill>
                <a:latin typeface="Arial"/>
              </a:rPr>
              <a:t> </a:t>
            </a:r>
            <a:r>
              <a:rPr sz="588" dirty="0">
                <a:solidFill>
                  <a:srgbClr val="263442"/>
                </a:solidFill>
                <a:latin typeface="Arial"/>
              </a:rPr>
              <a:t>attention</a:t>
            </a:r>
          </a:p>
        </p:txBody>
      </p:sp>
      <p:sp>
        <p:nvSpPr>
          <p:cNvPr id="688" name="Op | SMI-TED">
            <a:extLst>
              <a:ext uri="{FF2B5EF4-FFF2-40B4-BE49-F238E27FC236}">
                <a16:creationId xmlns:a16="http://schemas.microsoft.com/office/drawing/2014/main" id="{9F250B16-9768-CC2C-86AF-59769C8EEC4C}"/>
              </a:ext>
            </a:extLst>
          </p:cNvPr>
          <p:cNvSpPr/>
          <p:nvPr/>
        </p:nvSpPr>
        <p:spPr>
          <a:xfrm>
            <a:off x="3459362" y="2971538"/>
            <a:ext cx="427160"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SMI-TED</a:t>
            </a:r>
          </a:p>
        </p:txBody>
      </p:sp>
      <p:sp>
        <p:nvSpPr>
          <p:cNvPr id="689" name="Language vector v_k_1">
            <a:extLst>
              <a:ext uri="{FF2B5EF4-FFF2-40B4-BE49-F238E27FC236}">
                <a16:creationId xmlns:a16="http://schemas.microsoft.com/office/drawing/2014/main" id="{E695888D-D925-5392-2451-D7757F2B6BC7}"/>
              </a:ext>
            </a:extLst>
          </p:cNvPr>
          <p:cNvSpPr/>
          <p:nvPr/>
        </p:nvSpPr>
        <p:spPr>
          <a:xfrm>
            <a:off x="3527403"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0" name="Language vector v_k_2">
            <a:extLst>
              <a:ext uri="{FF2B5EF4-FFF2-40B4-BE49-F238E27FC236}">
                <a16:creationId xmlns:a16="http://schemas.microsoft.com/office/drawing/2014/main" id="{914284BD-BAB8-4AEA-A1F1-E7FC853BC87F}"/>
              </a:ext>
            </a:extLst>
          </p:cNvPr>
          <p:cNvSpPr/>
          <p:nvPr/>
        </p:nvSpPr>
        <p:spPr>
          <a:xfrm>
            <a:off x="3568650"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1" name="Language vector v_k_3">
            <a:extLst>
              <a:ext uri="{FF2B5EF4-FFF2-40B4-BE49-F238E27FC236}">
                <a16:creationId xmlns:a16="http://schemas.microsoft.com/office/drawing/2014/main" id="{A224CED9-3025-4474-CF80-E118B0ACA7AB}"/>
              </a:ext>
            </a:extLst>
          </p:cNvPr>
          <p:cNvSpPr/>
          <p:nvPr/>
        </p:nvSpPr>
        <p:spPr>
          <a:xfrm>
            <a:off x="3609897"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2" name="Language vector v_k_4">
            <a:extLst>
              <a:ext uri="{FF2B5EF4-FFF2-40B4-BE49-F238E27FC236}">
                <a16:creationId xmlns:a16="http://schemas.microsoft.com/office/drawing/2014/main" id="{3641CBF3-C5A5-2DC2-88CA-B3F2C816508D}"/>
              </a:ext>
            </a:extLst>
          </p:cNvPr>
          <p:cNvSpPr/>
          <p:nvPr/>
        </p:nvSpPr>
        <p:spPr>
          <a:xfrm>
            <a:off x="3651144" y="3547013"/>
            <a:ext cx="37291" cy="56955"/>
          </a:xfrm>
          <a:prstGeom prst="rect">
            <a:avLst/>
          </a:prstGeom>
          <a:solidFill>
            <a:srgbClr val="CBE7D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3" name="Language vector v_k_5">
            <a:extLst>
              <a:ext uri="{FF2B5EF4-FFF2-40B4-BE49-F238E27FC236}">
                <a16:creationId xmlns:a16="http://schemas.microsoft.com/office/drawing/2014/main" id="{B6BA4357-39F7-598C-72FA-2FC00B25A10F}"/>
              </a:ext>
            </a:extLst>
          </p:cNvPr>
          <p:cNvSpPr/>
          <p:nvPr/>
        </p:nvSpPr>
        <p:spPr>
          <a:xfrm>
            <a:off x="3692391"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4" name="Language vector v_k_6">
            <a:extLst>
              <a:ext uri="{FF2B5EF4-FFF2-40B4-BE49-F238E27FC236}">
                <a16:creationId xmlns:a16="http://schemas.microsoft.com/office/drawing/2014/main" id="{14F9C08B-08C8-5CC8-21F6-EC42430BFA81}"/>
              </a:ext>
            </a:extLst>
          </p:cNvPr>
          <p:cNvSpPr/>
          <p:nvPr/>
        </p:nvSpPr>
        <p:spPr>
          <a:xfrm>
            <a:off x="3733638"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5" name="Language vector v_k_7">
            <a:extLst>
              <a:ext uri="{FF2B5EF4-FFF2-40B4-BE49-F238E27FC236}">
                <a16:creationId xmlns:a16="http://schemas.microsoft.com/office/drawing/2014/main" id="{52E0E1B7-31F4-244C-BA32-494F415D5F2F}"/>
              </a:ext>
            </a:extLst>
          </p:cNvPr>
          <p:cNvSpPr/>
          <p:nvPr/>
        </p:nvSpPr>
        <p:spPr>
          <a:xfrm>
            <a:off x="3774885"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6" name="TextBox 12239">
            <a:extLst>
              <a:ext uri="{FF2B5EF4-FFF2-40B4-BE49-F238E27FC236}">
                <a16:creationId xmlns:a16="http://schemas.microsoft.com/office/drawing/2014/main" id="{DE6BD61F-48C0-C267-E36F-0AC7BC24100D}"/>
              </a:ext>
            </a:extLst>
          </p:cNvPr>
          <p:cNvSpPr txBox="1"/>
          <p:nvPr/>
        </p:nvSpPr>
        <p:spPr>
          <a:xfrm>
            <a:off x="3353374" y="3475189"/>
            <a:ext cx="126566" cy="81946"/>
          </a:xfrm>
          <a:prstGeom prst="rect">
            <a:avLst/>
          </a:prstGeom>
          <a:noFill/>
        </p:spPr>
        <p:txBody>
          <a:bodyPr wrap="square" lIns="0" tIns="0" rIns="0" bIns="0" anchor="ctr">
            <a:spAutoFit/>
          </a:bodyPr>
          <a:lstStyle/>
          <a:p>
            <a:pPr algn="ctr">
              <a:lnSpc>
                <a:spcPct val="105000"/>
              </a:lnSpc>
            </a:pPr>
            <a:r>
              <a:rPr sz="545" dirty="0">
                <a:solidFill>
                  <a:srgbClr val="263442"/>
                </a:solidFill>
                <a:latin typeface="Arial"/>
              </a:rPr>
              <a:t>Q</a:t>
            </a:r>
          </a:p>
        </p:txBody>
      </p:sp>
      <p:sp>
        <p:nvSpPr>
          <p:cNvPr id="697" name="TextBox 12240">
            <a:extLst>
              <a:ext uri="{FF2B5EF4-FFF2-40B4-BE49-F238E27FC236}">
                <a16:creationId xmlns:a16="http://schemas.microsoft.com/office/drawing/2014/main" id="{2ACBC05C-C556-BA36-3DA9-0D37D9382C06}"/>
              </a:ext>
            </a:extLst>
          </p:cNvPr>
          <p:cNvSpPr txBox="1"/>
          <p:nvPr/>
        </p:nvSpPr>
        <p:spPr>
          <a:xfrm>
            <a:off x="3859638" y="3475189"/>
            <a:ext cx="126566" cy="81946"/>
          </a:xfrm>
          <a:prstGeom prst="rect">
            <a:avLst/>
          </a:prstGeom>
          <a:noFill/>
        </p:spPr>
        <p:txBody>
          <a:bodyPr wrap="square" lIns="0" tIns="0" rIns="0" bIns="0" anchor="ctr">
            <a:spAutoFit/>
          </a:bodyPr>
          <a:lstStyle/>
          <a:p>
            <a:pPr algn="ctr">
              <a:lnSpc>
                <a:spcPct val="105000"/>
              </a:lnSpc>
            </a:pPr>
            <a:r>
              <a:rPr sz="545">
                <a:solidFill>
                  <a:srgbClr val="263442"/>
                </a:solidFill>
                <a:latin typeface="Arial"/>
              </a:rPr>
              <a:t>Q</a:t>
            </a:r>
          </a:p>
        </p:txBody>
      </p:sp>
      <p:sp>
        <p:nvSpPr>
          <p:cNvPr id="698" name="TextBox 12241">
            <a:extLst>
              <a:ext uri="{FF2B5EF4-FFF2-40B4-BE49-F238E27FC236}">
                <a16:creationId xmlns:a16="http://schemas.microsoft.com/office/drawing/2014/main" id="{0B3A68EF-7CF9-A2EB-24B2-085C5BF1F71F}"/>
              </a:ext>
            </a:extLst>
          </p:cNvPr>
          <p:cNvSpPr txBox="1"/>
          <p:nvPr/>
        </p:nvSpPr>
        <p:spPr>
          <a:xfrm>
            <a:off x="4373812" y="2542416"/>
            <a:ext cx="379698" cy="151836"/>
          </a:xfrm>
          <a:prstGeom prst="rect">
            <a:avLst/>
          </a:prstGeom>
          <a:noFill/>
        </p:spPr>
        <p:txBody>
          <a:bodyPr wrap="square" lIns="0" tIns="0" rIns="0" bIns="0" anchor="ctr">
            <a:spAutoFit/>
          </a:bodyPr>
          <a:lstStyle/>
          <a:p>
            <a:pPr algn="l">
              <a:lnSpc>
                <a:spcPct val="95000"/>
              </a:lnSpc>
            </a:pPr>
            <a:r>
              <a:rPr lang="en-US" sz="519" dirty="0">
                <a:solidFill>
                  <a:srgbClr val="263442"/>
                </a:solidFill>
                <a:latin typeface="Arial"/>
              </a:rPr>
              <a:t>  </a:t>
            </a:r>
            <a:r>
              <a:rPr sz="519" dirty="0">
                <a:solidFill>
                  <a:srgbClr val="263442"/>
                </a:solidFill>
                <a:latin typeface="Arial"/>
              </a:rPr>
              <a:t>Other</a:t>
            </a:r>
          </a:p>
          <a:p>
            <a:pPr algn="l">
              <a:lnSpc>
                <a:spcPct val="95000"/>
              </a:lnSpc>
            </a:pPr>
            <a:r>
              <a:rPr sz="519" dirty="0">
                <a:solidFill>
                  <a:srgbClr val="263442"/>
                </a:solidFill>
                <a:latin typeface="Arial"/>
              </a:rPr>
              <a:t>identities</a:t>
            </a:r>
          </a:p>
        </p:txBody>
      </p:sp>
      <p:sp>
        <p:nvSpPr>
          <p:cNvPr id="699" name="Op | SMI-TED">
            <a:extLst>
              <a:ext uri="{FF2B5EF4-FFF2-40B4-BE49-F238E27FC236}">
                <a16:creationId xmlns:a16="http://schemas.microsoft.com/office/drawing/2014/main" id="{6691CF15-5DAD-F305-5973-B1ACEFFF5CBF}"/>
              </a:ext>
            </a:extLst>
          </p:cNvPr>
          <p:cNvSpPr/>
          <p:nvPr/>
        </p:nvSpPr>
        <p:spPr>
          <a:xfrm>
            <a:off x="4140927" y="2967199"/>
            <a:ext cx="427160"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SMI-TED</a:t>
            </a:r>
          </a:p>
        </p:txBody>
      </p:sp>
      <p:sp>
        <p:nvSpPr>
          <p:cNvPr id="700" name="TextBox 12244">
            <a:extLst>
              <a:ext uri="{FF2B5EF4-FFF2-40B4-BE49-F238E27FC236}">
                <a16:creationId xmlns:a16="http://schemas.microsoft.com/office/drawing/2014/main" id="{13C55E5C-99C8-F46D-3353-FED4827206EC}"/>
              </a:ext>
            </a:extLst>
          </p:cNvPr>
          <p:cNvSpPr txBox="1"/>
          <p:nvPr/>
        </p:nvSpPr>
        <p:spPr>
          <a:xfrm>
            <a:off x="4128591" y="3197919"/>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1</a:t>
            </a:r>
          </a:p>
        </p:txBody>
      </p:sp>
      <p:sp>
        <p:nvSpPr>
          <p:cNvPr id="701" name="Context bar 1_1">
            <a:extLst>
              <a:ext uri="{FF2B5EF4-FFF2-40B4-BE49-F238E27FC236}">
                <a16:creationId xmlns:a16="http://schemas.microsoft.com/office/drawing/2014/main" id="{F675EB2C-E3F4-CF25-F2F9-B217A0C64998}"/>
              </a:ext>
            </a:extLst>
          </p:cNvPr>
          <p:cNvSpPr/>
          <p:nvPr/>
        </p:nvSpPr>
        <p:spPr>
          <a:xfrm>
            <a:off x="4223515"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2" name="Context bar 1_2">
            <a:extLst>
              <a:ext uri="{FF2B5EF4-FFF2-40B4-BE49-F238E27FC236}">
                <a16:creationId xmlns:a16="http://schemas.microsoft.com/office/drawing/2014/main" id="{7015B7C2-EE7A-8CD3-BF9A-C8F6C295F2D3}"/>
              </a:ext>
            </a:extLst>
          </p:cNvPr>
          <p:cNvSpPr/>
          <p:nvPr/>
        </p:nvSpPr>
        <p:spPr>
          <a:xfrm>
            <a:off x="4271637"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3" name="Context bar 1_3">
            <a:extLst>
              <a:ext uri="{FF2B5EF4-FFF2-40B4-BE49-F238E27FC236}">
                <a16:creationId xmlns:a16="http://schemas.microsoft.com/office/drawing/2014/main" id="{0283D963-CC89-9552-BBFA-44417F9A5810}"/>
              </a:ext>
            </a:extLst>
          </p:cNvPr>
          <p:cNvSpPr/>
          <p:nvPr/>
        </p:nvSpPr>
        <p:spPr>
          <a:xfrm>
            <a:off x="4319758" y="3223887"/>
            <a:ext cx="44166" cy="34806"/>
          </a:xfrm>
          <a:prstGeom prst="rect">
            <a:avLst/>
          </a:prstGeom>
          <a:solidFill>
            <a:srgbClr val="BFD2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4" name="Context bar 1_4">
            <a:extLst>
              <a:ext uri="{FF2B5EF4-FFF2-40B4-BE49-F238E27FC236}">
                <a16:creationId xmlns:a16="http://schemas.microsoft.com/office/drawing/2014/main" id="{DFE762FA-D62F-609E-23C6-B16577CF789A}"/>
              </a:ext>
            </a:extLst>
          </p:cNvPr>
          <p:cNvSpPr/>
          <p:nvPr/>
        </p:nvSpPr>
        <p:spPr>
          <a:xfrm>
            <a:off x="4367880" y="3223887"/>
            <a:ext cx="44166" cy="34806"/>
          </a:xfrm>
          <a:prstGeom prst="rect">
            <a:avLst/>
          </a:prstGeom>
          <a:solidFill>
            <a:srgbClr val="7397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5" name="Context bar 1_5">
            <a:extLst>
              <a:ext uri="{FF2B5EF4-FFF2-40B4-BE49-F238E27FC236}">
                <a16:creationId xmlns:a16="http://schemas.microsoft.com/office/drawing/2014/main" id="{8A2B1ECE-222F-713D-5115-87805A38C6E9}"/>
              </a:ext>
            </a:extLst>
          </p:cNvPr>
          <p:cNvSpPr/>
          <p:nvPr/>
        </p:nvSpPr>
        <p:spPr>
          <a:xfrm>
            <a:off x="4416001"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6" name="Context bar 1_6">
            <a:extLst>
              <a:ext uri="{FF2B5EF4-FFF2-40B4-BE49-F238E27FC236}">
                <a16:creationId xmlns:a16="http://schemas.microsoft.com/office/drawing/2014/main" id="{F9202696-646F-1763-9139-E44B52B50C5F}"/>
              </a:ext>
            </a:extLst>
          </p:cNvPr>
          <p:cNvSpPr/>
          <p:nvPr/>
        </p:nvSpPr>
        <p:spPr>
          <a:xfrm>
            <a:off x="4464123"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7" name="TextBox 12251">
            <a:extLst>
              <a:ext uri="{FF2B5EF4-FFF2-40B4-BE49-F238E27FC236}">
                <a16:creationId xmlns:a16="http://schemas.microsoft.com/office/drawing/2014/main" id="{7BC06DFD-B767-BA41-2B05-2B0A38358B92}"/>
              </a:ext>
            </a:extLst>
          </p:cNvPr>
          <p:cNvSpPr txBox="1"/>
          <p:nvPr/>
        </p:nvSpPr>
        <p:spPr>
          <a:xfrm>
            <a:off x="4128591" y="3270220"/>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2</a:t>
            </a:r>
          </a:p>
        </p:txBody>
      </p:sp>
      <p:sp>
        <p:nvSpPr>
          <p:cNvPr id="708" name="Context bar 2_1">
            <a:extLst>
              <a:ext uri="{FF2B5EF4-FFF2-40B4-BE49-F238E27FC236}">
                <a16:creationId xmlns:a16="http://schemas.microsoft.com/office/drawing/2014/main" id="{520858ED-2877-9676-9DDD-53EAA8E37558}"/>
              </a:ext>
            </a:extLst>
          </p:cNvPr>
          <p:cNvSpPr/>
          <p:nvPr/>
        </p:nvSpPr>
        <p:spPr>
          <a:xfrm>
            <a:off x="4223515"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9" name="Context bar 2_2">
            <a:extLst>
              <a:ext uri="{FF2B5EF4-FFF2-40B4-BE49-F238E27FC236}">
                <a16:creationId xmlns:a16="http://schemas.microsoft.com/office/drawing/2014/main" id="{50A3D4F9-D9FE-CC8B-21E7-D32E326D8875}"/>
              </a:ext>
            </a:extLst>
          </p:cNvPr>
          <p:cNvSpPr/>
          <p:nvPr/>
        </p:nvSpPr>
        <p:spPr>
          <a:xfrm>
            <a:off x="4271637"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0" name="Context bar 2_3">
            <a:extLst>
              <a:ext uri="{FF2B5EF4-FFF2-40B4-BE49-F238E27FC236}">
                <a16:creationId xmlns:a16="http://schemas.microsoft.com/office/drawing/2014/main" id="{4471AA3C-5A9C-CEE5-0418-953EC2227441}"/>
              </a:ext>
            </a:extLst>
          </p:cNvPr>
          <p:cNvSpPr/>
          <p:nvPr/>
        </p:nvSpPr>
        <p:spPr>
          <a:xfrm>
            <a:off x="4319758" y="3286664"/>
            <a:ext cx="44166" cy="34806"/>
          </a:xfrm>
          <a:prstGeom prst="rect">
            <a:avLst/>
          </a:prstGeom>
          <a:solidFill>
            <a:srgbClr val="E0CC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1" name="Context bar 2_4">
            <a:extLst>
              <a:ext uri="{FF2B5EF4-FFF2-40B4-BE49-F238E27FC236}">
                <a16:creationId xmlns:a16="http://schemas.microsoft.com/office/drawing/2014/main" id="{B321BB44-18FA-E7F3-2924-BC94493FEA4A}"/>
              </a:ext>
            </a:extLst>
          </p:cNvPr>
          <p:cNvSpPr/>
          <p:nvPr/>
        </p:nvSpPr>
        <p:spPr>
          <a:xfrm>
            <a:off x="4367880" y="3286664"/>
            <a:ext cx="44166" cy="34806"/>
          </a:xfrm>
          <a:prstGeom prst="rect">
            <a:avLst/>
          </a:prstGeom>
          <a:solidFill>
            <a:srgbClr val="B58E5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2" name="Context bar 2_5">
            <a:extLst>
              <a:ext uri="{FF2B5EF4-FFF2-40B4-BE49-F238E27FC236}">
                <a16:creationId xmlns:a16="http://schemas.microsoft.com/office/drawing/2014/main" id="{BF58521A-8C41-BE24-9704-AEAF70385316}"/>
              </a:ext>
            </a:extLst>
          </p:cNvPr>
          <p:cNvSpPr/>
          <p:nvPr/>
        </p:nvSpPr>
        <p:spPr>
          <a:xfrm>
            <a:off x="4416001"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3" name="Context bar 2_6">
            <a:extLst>
              <a:ext uri="{FF2B5EF4-FFF2-40B4-BE49-F238E27FC236}">
                <a16:creationId xmlns:a16="http://schemas.microsoft.com/office/drawing/2014/main" id="{4283B810-9FFF-25F8-1960-4F272603052B}"/>
              </a:ext>
            </a:extLst>
          </p:cNvPr>
          <p:cNvSpPr/>
          <p:nvPr/>
        </p:nvSpPr>
        <p:spPr>
          <a:xfrm>
            <a:off x="4464123"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4" name="TextBox 12258">
            <a:extLst>
              <a:ext uri="{FF2B5EF4-FFF2-40B4-BE49-F238E27FC236}">
                <a16:creationId xmlns:a16="http://schemas.microsoft.com/office/drawing/2014/main" id="{D4C78125-5C89-7F13-017C-2E1C11AE7FDD}"/>
              </a:ext>
            </a:extLst>
          </p:cNvPr>
          <p:cNvSpPr txBox="1"/>
          <p:nvPr/>
        </p:nvSpPr>
        <p:spPr>
          <a:xfrm>
            <a:off x="4128591" y="3342522"/>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K</a:t>
            </a:r>
          </a:p>
        </p:txBody>
      </p:sp>
      <p:sp>
        <p:nvSpPr>
          <p:cNvPr id="715" name="Context bar K_1">
            <a:extLst>
              <a:ext uri="{FF2B5EF4-FFF2-40B4-BE49-F238E27FC236}">
                <a16:creationId xmlns:a16="http://schemas.microsoft.com/office/drawing/2014/main" id="{6C63634F-2307-320B-8E95-2B6ADA84F565}"/>
              </a:ext>
            </a:extLst>
          </p:cNvPr>
          <p:cNvSpPr/>
          <p:nvPr/>
        </p:nvSpPr>
        <p:spPr>
          <a:xfrm>
            <a:off x="4223515"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6" name="Context bar K_2">
            <a:extLst>
              <a:ext uri="{FF2B5EF4-FFF2-40B4-BE49-F238E27FC236}">
                <a16:creationId xmlns:a16="http://schemas.microsoft.com/office/drawing/2014/main" id="{582A4CF2-1B99-BCF5-A8D3-EE93D5F5B81F}"/>
              </a:ext>
            </a:extLst>
          </p:cNvPr>
          <p:cNvSpPr/>
          <p:nvPr/>
        </p:nvSpPr>
        <p:spPr>
          <a:xfrm>
            <a:off x="4271637"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7" name="Context bar K_3">
            <a:extLst>
              <a:ext uri="{FF2B5EF4-FFF2-40B4-BE49-F238E27FC236}">
                <a16:creationId xmlns:a16="http://schemas.microsoft.com/office/drawing/2014/main" id="{607B41B1-A111-8D93-E207-5DF6221B54D2}"/>
              </a:ext>
            </a:extLst>
          </p:cNvPr>
          <p:cNvSpPr/>
          <p:nvPr/>
        </p:nvSpPr>
        <p:spPr>
          <a:xfrm>
            <a:off x="4319758" y="3349440"/>
            <a:ext cx="44166" cy="34806"/>
          </a:xfrm>
          <a:prstGeom prst="rect">
            <a:avLst/>
          </a:prstGeom>
          <a:solidFill>
            <a:srgbClr val="CBC2E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8" name="Context bar K_4">
            <a:extLst>
              <a:ext uri="{FF2B5EF4-FFF2-40B4-BE49-F238E27FC236}">
                <a16:creationId xmlns:a16="http://schemas.microsoft.com/office/drawing/2014/main" id="{9539C2E7-004F-E86E-852E-98E80C399402}"/>
              </a:ext>
            </a:extLst>
          </p:cNvPr>
          <p:cNvSpPr/>
          <p:nvPr/>
        </p:nvSpPr>
        <p:spPr>
          <a:xfrm>
            <a:off x="4367880" y="3349440"/>
            <a:ext cx="44166" cy="34806"/>
          </a:xfrm>
          <a:prstGeom prst="rect">
            <a:avLst/>
          </a:prstGeom>
          <a:solidFill>
            <a:srgbClr val="8E7DB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9" name="Context bar K_5">
            <a:extLst>
              <a:ext uri="{FF2B5EF4-FFF2-40B4-BE49-F238E27FC236}">
                <a16:creationId xmlns:a16="http://schemas.microsoft.com/office/drawing/2014/main" id="{2DE0B959-537B-893B-9987-81BBF3647FFD}"/>
              </a:ext>
            </a:extLst>
          </p:cNvPr>
          <p:cNvSpPr/>
          <p:nvPr/>
        </p:nvSpPr>
        <p:spPr>
          <a:xfrm>
            <a:off x="4416001"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0" name="Context bar K_6">
            <a:extLst>
              <a:ext uri="{FF2B5EF4-FFF2-40B4-BE49-F238E27FC236}">
                <a16:creationId xmlns:a16="http://schemas.microsoft.com/office/drawing/2014/main" id="{147CE38B-269C-4BBA-77C6-2810C1D11F1C}"/>
              </a:ext>
            </a:extLst>
          </p:cNvPr>
          <p:cNvSpPr/>
          <p:nvPr/>
        </p:nvSpPr>
        <p:spPr>
          <a:xfrm>
            <a:off x="4464123"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1" name="TextBox 12265">
            <a:extLst>
              <a:ext uri="{FF2B5EF4-FFF2-40B4-BE49-F238E27FC236}">
                <a16:creationId xmlns:a16="http://schemas.microsoft.com/office/drawing/2014/main" id="{979CEBC9-AC70-1276-123A-637171F58084}"/>
              </a:ext>
            </a:extLst>
          </p:cNvPr>
          <p:cNvSpPr txBox="1"/>
          <p:nvPr/>
        </p:nvSpPr>
        <p:spPr>
          <a:xfrm>
            <a:off x="4381723" y="3400472"/>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722" name="Op | Context attention">
            <a:extLst>
              <a:ext uri="{FF2B5EF4-FFF2-40B4-BE49-F238E27FC236}">
                <a16:creationId xmlns:a16="http://schemas.microsoft.com/office/drawing/2014/main" id="{640CE564-549E-0D15-B50A-E392C9DB6304}"/>
              </a:ext>
            </a:extLst>
          </p:cNvPr>
          <p:cNvSpPr/>
          <p:nvPr/>
        </p:nvSpPr>
        <p:spPr>
          <a:xfrm>
            <a:off x="4025756" y="3500341"/>
            <a:ext cx="648651"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Context</a:t>
            </a:r>
            <a:r>
              <a:rPr sz="580" dirty="0">
                <a:solidFill>
                  <a:srgbClr val="263442"/>
                </a:solidFill>
                <a:latin typeface="Arial"/>
              </a:rPr>
              <a:t> attention</a:t>
            </a:r>
          </a:p>
        </p:txBody>
      </p:sp>
      <p:sp>
        <p:nvSpPr>
          <p:cNvPr id="723" name="Op | Fusion">
            <a:extLst>
              <a:ext uri="{FF2B5EF4-FFF2-40B4-BE49-F238E27FC236}">
                <a16:creationId xmlns:a16="http://schemas.microsoft.com/office/drawing/2014/main" id="{FF74A918-BF09-C9F6-6A9B-D421CF97BC33}"/>
              </a:ext>
            </a:extLst>
          </p:cNvPr>
          <p:cNvSpPr/>
          <p:nvPr/>
        </p:nvSpPr>
        <p:spPr>
          <a:xfrm>
            <a:off x="3479940" y="3733697"/>
            <a:ext cx="379698" cy="142387"/>
          </a:xfrm>
          <a:prstGeom prst="roundRect">
            <a:avLst>
              <a:gd name="adj" fmla="val 18000"/>
            </a:avLst>
          </a:prstGeom>
          <a:solidFill>
            <a:srgbClr val="EDE7F5"/>
          </a:solidFill>
          <a:ln w="7290">
            <a:solidFill>
              <a:srgbClr val="B8A9D9"/>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Fusion</a:t>
            </a:r>
          </a:p>
        </p:txBody>
      </p:sp>
      <p:sp>
        <p:nvSpPr>
          <p:cNvPr id="724" name="g_k bar_1">
            <a:extLst>
              <a:ext uri="{FF2B5EF4-FFF2-40B4-BE49-F238E27FC236}">
                <a16:creationId xmlns:a16="http://schemas.microsoft.com/office/drawing/2014/main" id="{CB9A6A2F-14EE-2004-CB53-FCE391ACED69}"/>
              </a:ext>
            </a:extLst>
          </p:cNvPr>
          <p:cNvSpPr/>
          <p:nvPr/>
        </p:nvSpPr>
        <p:spPr>
          <a:xfrm>
            <a:off x="3503672"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5" name="g_k bar_2">
            <a:extLst>
              <a:ext uri="{FF2B5EF4-FFF2-40B4-BE49-F238E27FC236}">
                <a16:creationId xmlns:a16="http://schemas.microsoft.com/office/drawing/2014/main" id="{E39FC69E-11ED-3FA2-32B9-5945059F2213}"/>
              </a:ext>
            </a:extLst>
          </p:cNvPr>
          <p:cNvSpPr/>
          <p:nvPr/>
        </p:nvSpPr>
        <p:spPr>
          <a:xfrm>
            <a:off x="3551699"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6" name="g_k bar_3">
            <a:extLst>
              <a:ext uri="{FF2B5EF4-FFF2-40B4-BE49-F238E27FC236}">
                <a16:creationId xmlns:a16="http://schemas.microsoft.com/office/drawing/2014/main" id="{543C1079-397B-91D4-0D56-9824953F1A51}"/>
              </a:ext>
            </a:extLst>
          </p:cNvPr>
          <p:cNvSpPr/>
          <p:nvPr/>
        </p:nvSpPr>
        <p:spPr>
          <a:xfrm>
            <a:off x="3599726"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7" name="g_k bar_4">
            <a:extLst>
              <a:ext uri="{FF2B5EF4-FFF2-40B4-BE49-F238E27FC236}">
                <a16:creationId xmlns:a16="http://schemas.microsoft.com/office/drawing/2014/main" id="{72768CF4-9EFB-DF24-7C89-6D351C730BA5}"/>
              </a:ext>
            </a:extLst>
          </p:cNvPr>
          <p:cNvSpPr/>
          <p:nvPr/>
        </p:nvSpPr>
        <p:spPr>
          <a:xfrm>
            <a:off x="3647753" y="3989994"/>
            <a:ext cx="44072" cy="56955"/>
          </a:xfrm>
          <a:prstGeom prst="rect">
            <a:avLst/>
          </a:prstGeom>
          <a:solidFill>
            <a:srgbClr val="68AB9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8" name="g_k bar_5">
            <a:extLst>
              <a:ext uri="{FF2B5EF4-FFF2-40B4-BE49-F238E27FC236}">
                <a16:creationId xmlns:a16="http://schemas.microsoft.com/office/drawing/2014/main" id="{4025AE17-AFDD-1F7D-9368-8E976FBC9D73}"/>
              </a:ext>
            </a:extLst>
          </p:cNvPr>
          <p:cNvSpPr/>
          <p:nvPr/>
        </p:nvSpPr>
        <p:spPr>
          <a:xfrm>
            <a:off x="3695781"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9" name="g_k bar_6">
            <a:extLst>
              <a:ext uri="{FF2B5EF4-FFF2-40B4-BE49-F238E27FC236}">
                <a16:creationId xmlns:a16="http://schemas.microsoft.com/office/drawing/2014/main" id="{894C2CFF-A654-8C7B-2480-AC98400CE487}"/>
              </a:ext>
            </a:extLst>
          </p:cNvPr>
          <p:cNvSpPr/>
          <p:nvPr/>
        </p:nvSpPr>
        <p:spPr>
          <a:xfrm>
            <a:off x="3743808"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0" name="g_k bar_7">
            <a:extLst>
              <a:ext uri="{FF2B5EF4-FFF2-40B4-BE49-F238E27FC236}">
                <a16:creationId xmlns:a16="http://schemas.microsoft.com/office/drawing/2014/main" id="{DC10EA75-05BB-E415-682D-FAFCD65B7377}"/>
              </a:ext>
            </a:extLst>
          </p:cNvPr>
          <p:cNvSpPr/>
          <p:nvPr/>
        </p:nvSpPr>
        <p:spPr>
          <a:xfrm>
            <a:off x="3791835"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1" name="Math | g_k^">
            <a:extLst>
              <a:ext uri="{FF2B5EF4-FFF2-40B4-BE49-F238E27FC236}">
                <a16:creationId xmlns:a16="http://schemas.microsoft.com/office/drawing/2014/main" id="{45321F2B-F3FA-58E1-92FE-B69A1AB20949}"/>
              </a:ext>
            </a:extLst>
          </p:cNvPr>
          <p:cNvSpPr txBox="1"/>
          <p:nvPr/>
        </p:nvSpPr>
        <p:spPr>
          <a:xfrm>
            <a:off x="3872532" y="3947306"/>
            <a:ext cx="84960" cy="126509"/>
          </a:xfrm>
          <a:prstGeom prst="rect">
            <a:avLst/>
          </a:prstGeom>
          <a:noFill/>
        </p:spPr>
        <p:txBody>
          <a:bodyPr wrap="none" lIns="0" tIns="0" rIns="0" bIns="0" anchor="ctr">
            <a:spAutoFit/>
          </a:bodyPr>
          <a:lstStyle/>
          <a:p>
            <a:pPr algn="ctr"/>
            <a:r>
              <a:rPr sz="855" i="1">
                <a:solidFill>
                  <a:srgbClr val="263442"/>
                </a:solidFill>
                <a:latin typeface="Times New Roman"/>
              </a:rPr>
              <a:t>g</a:t>
            </a:r>
            <a:r>
              <a:rPr sz="780" i="1" baseline="-28000">
                <a:solidFill>
                  <a:srgbClr val="263442"/>
                </a:solidFill>
                <a:latin typeface="Times New Roman"/>
              </a:rPr>
              <a:t>k</a:t>
            </a:r>
          </a:p>
        </p:txBody>
      </p:sp>
      <p:sp>
        <p:nvSpPr>
          <p:cNvPr id="732" name="Op | Cosine score">
            <a:extLst>
              <a:ext uri="{FF2B5EF4-FFF2-40B4-BE49-F238E27FC236}">
                <a16:creationId xmlns:a16="http://schemas.microsoft.com/office/drawing/2014/main" id="{9B88858F-88C1-DA3F-1992-E9C76D0D80AF}"/>
              </a:ext>
            </a:extLst>
          </p:cNvPr>
          <p:cNvSpPr/>
          <p:nvPr/>
        </p:nvSpPr>
        <p:spPr>
          <a:xfrm>
            <a:off x="3279920" y="4162465"/>
            <a:ext cx="569547"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Cosine score</a:t>
            </a:r>
          </a:p>
        </p:txBody>
      </p:sp>
      <p:sp>
        <p:nvSpPr>
          <p:cNvPr id="733" name="TextBox 12277">
            <a:extLst>
              <a:ext uri="{FF2B5EF4-FFF2-40B4-BE49-F238E27FC236}">
                <a16:creationId xmlns:a16="http://schemas.microsoft.com/office/drawing/2014/main" id="{7D6970C3-E7E9-652B-644D-A057CB503545}"/>
              </a:ext>
            </a:extLst>
          </p:cNvPr>
          <p:cNvSpPr txBox="1"/>
          <p:nvPr/>
        </p:nvSpPr>
        <p:spPr>
          <a:xfrm>
            <a:off x="3275392" y="4326634"/>
            <a:ext cx="585097" cy="79445"/>
          </a:xfrm>
          <a:prstGeom prst="rect">
            <a:avLst/>
          </a:prstGeom>
          <a:noFill/>
        </p:spPr>
        <p:txBody>
          <a:bodyPr wrap="none" lIns="0" tIns="0" rIns="0" bIns="0" anchor="ctr">
            <a:spAutoFit/>
          </a:bodyPr>
          <a:lstStyle/>
          <a:p>
            <a:pPr algn="ctr">
              <a:lnSpc>
                <a:spcPct val="105000"/>
              </a:lnSpc>
            </a:pPr>
            <a:r>
              <a:rPr sz="528" dirty="0">
                <a:solidFill>
                  <a:srgbClr val="263442"/>
                </a:solidFill>
                <a:latin typeface="Arial"/>
              </a:rPr>
              <a:t>Learned projections</a:t>
            </a:r>
          </a:p>
        </p:txBody>
      </p:sp>
      <p:sp>
        <p:nvSpPr>
          <p:cNvPr id="734" name="Math | s_j,k^">
            <a:extLst>
              <a:ext uri="{FF2B5EF4-FFF2-40B4-BE49-F238E27FC236}">
                <a16:creationId xmlns:a16="http://schemas.microsoft.com/office/drawing/2014/main" id="{BD0A37AE-0CF6-77DD-8048-3FF0945F4158}"/>
              </a:ext>
            </a:extLst>
          </p:cNvPr>
          <p:cNvSpPr txBox="1"/>
          <p:nvPr/>
        </p:nvSpPr>
        <p:spPr>
          <a:xfrm>
            <a:off x="3930163" y="4086560"/>
            <a:ext cx="104196" cy="117083"/>
          </a:xfrm>
          <a:prstGeom prst="rect">
            <a:avLst/>
          </a:prstGeom>
          <a:noFill/>
        </p:spPr>
        <p:txBody>
          <a:bodyPr wrap="none" lIns="0" tIns="0" rIns="0" bIns="0" anchor="ctr">
            <a:spAutoFit/>
          </a:bodyPr>
          <a:lstStyle/>
          <a:p>
            <a:pPr algn="ctr"/>
            <a:r>
              <a:rPr sz="791" i="1" dirty="0" err="1">
                <a:solidFill>
                  <a:srgbClr val="263442"/>
                </a:solidFill>
                <a:latin typeface="Times New Roman"/>
              </a:rPr>
              <a:t>s</a:t>
            </a:r>
            <a:r>
              <a:rPr sz="780" i="1" baseline="-28000" dirty="0" err="1">
                <a:solidFill>
                  <a:srgbClr val="263442"/>
                </a:solidFill>
                <a:latin typeface="Times New Roman"/>
              </a:rPr>
              <a:t>j,k</a:t>
            </a:r>
            <a:endParaRPr sz="780" i="1" baseline="-28000" dirty="0">
              <a:solidFill>
                <a:srgbClr val="263442"/>
              </a:solidFill>
              <a:latin typeface="Times New Roman"/>
            </a:endParaRPr>
          </a:p>
        </p:txBody>
      </p:sp>
      <p:sp>
        <p:nvSpPr>
          <p:cNvPr id="735" name="TextBox 12279">
            <a:extLst>
              <a:ext uri="{FF2B5EF4-FFF2-40B4-BE49-F238E27FC236}">
                <a16:creationId xmlns:a16="http://schemas.microsoft.com/office/drawing/2014/main" id="{C56E8311-ADDA-7C63-9110-2C3006BDD08E}"/>
              </a:ext>
            </a:extLst>
          </p:cNvPr>
          <p:cNvSpPr txBox="1"/>
          <p:nvPr/>
        </p:nvSpPr>
        <p:spPr>
          <a:xfrm>
            <a:off x="4189537" y="3931330"/>
            <a:ext cx="479297" cy="87268"/>
          </a:xfrm>
          <a:prstGeom prst="rect">
            <a:avLst/>
          </a:prstGeom>
          <a:noFill/>
        </p:spPr>
        <p:txBody>
          <a:bodyPr wrap="none" lIns="0" tIns="0" rIns="0" bIns="0" anchor="ctr">
            <a:spAutoFit/>
          </a:bodyPr>
          <a:lstStyle/>
          <a:p>
            <a:pPr algn="ctr">
              <a:lnSpc>
                <a:spcPct val="105000"/>
              </a:lnSpc>
            </a:pPr>
            <a:r>
              <a:rPr sz="580">
                <a:solidFill>
                  <a:srgbClr val="263442"/>
                </a:solidFill>
                <a:latin typeface="Arial"/>
              </a:rPr>
              <a:t>Identity scores</a:t>
            </a:r>
          </a:p>
        </p:txBody>
      </p:sp>
      <p:sp>
        <p:nvSpPr>
          <p:cNvPr id="736" name="TextBox 12280">
            <a:extLst>
              <a:ext uri="{FF2B5EF4-FFF2-40B4-BE49-F238E27FC236}">
                <a16:creationId xmlns:a16="http://schemas.microsoft.com/office/drawing/2014/main" id="{C640A1D5-D4D1-3FBF-0F27-45AD836A7FCE}"/>
              </a:ext>
            </a:extLst>
          </p:cNvPr>
          <p:cNvSpPr txBox="1"/>
          <p:nvPr/>
        </p:nvSpPr>
        <p:spPr>
          <a:xfrm>
            <a:off x="4428041" y="4018471"/>
            <a:ext cx="102835" cy="85921"/>
          </a:xfrm>
          <a:prstGeom prst="rect">
            <a:avLst/>
          </a:prstGeom>
          <a:noFill/>
        </p:spPr>
        <p:txBody>
          <a:bodyPr wrap="square" lIns="0" tIns="0" rIns="0" bIns="0" anchor="ctr">
            <a:spAutoFit/>
          </a:bodyPr>
          <a:lstStyle/>
          <a:p>
            <a:pPr algn="ctr">
              <a:lnSpc>
                <a:spcPct val="105000"/>
              </a:lnSpc>
            </a:pPr>
            <a:r>
              <a:rPr sz="571" dirty="0">
                <a:solidFill>
                  <a:srgbClr val="263442"/>
                </a:solidFill>
                <a:latin typeface="Arial"/>
              </a:rPr>
              <a:t>k</a:t>
            </a:r>
          </a:p>
        </p:txBody>
      </p:sp>
      <p:sp>
        <p:nvSpPr>
          <p:cNvPr id="737" name="TextBox 12281">
            <a:extLst>
              <a:ext uri="{FF2B5EF4-FFF2-40B4-BE49-F238E27FC236}">
                <a16:creationId xmlns:a16="http://schemas.microsoft.com/office/drawing/2014/main" id="{F472392A-4724-5EDA-C6D8-557EF063B52F}"/>
              </a:ext>
            </a:extLst>
          </p:cNvPr>
          <p:cNvSpPr txBox="1"/>
          <p:nvPr/>
        </p:nvSpPr>
        <p:spPr>
          <a:xfrm>
            <a:off x="4128591" y="4169314"/>
            <a:ext cx="87014" cy="85921"/>
          </a:xfrm>
          <a:prstGeom prst="rect">
            <a:avLst/>
          </a:prstGeom>
          <a:noFill/>
        </p:spPr>
        <p:txBody>
          <a:bodyPr wrap="square" lIns="0" tIns="0" rIns="0" bIns="0" anchor="ctr">
            <a:spAutoFit/>
          </a:bodyPr>
          <a:lstStyle/>
          <a:p>
            <a:pPr algn="ctr">
              <a:lnSpc>
                <a:spcPct val="105000"/>
              </a:lnSpc>
            </a:pPr>
            <a:r>
              <a:rPr sz="571">
                <a:solidFill>
                  <a:srgbClr val="263442"/>
                </a:solidFill>
                <a:latin typeface="Arial"/>
              </a:rPr>
              <a:t>j</a:t>
            </a:r>
          </a:p>
        </p:txBody>
      </p:sp>
      <p:sp>
        <p:nvSpPr>
          <p:cNvPr id="738" name="Matrix cell (0,0)">
            <a:extLst>
              <a:ext uri="{FF2B5EF4-FFF2-40B4-BE49-F238E27FC236}">
                <a16:creationId xmlns:a16="http://schemas.microsoft.com/office/drawing/2014/main" id="{1FAFF817-C1CE-5F45-E950-98E19AE452CF}"/>
              </a:ext>
            </a:extLst>
          </p:cNvPr>
          <p:cNvSpPr/>
          <p:nvPr/>
        </p:nvSpPr>
        <p:spPr>
          <a:xfrm>
            <a:off x="4223515"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9" name="Matrix cell (0,1)">
            <a:extLst>
              <a:ext uri="{FF2B5EF4-FFF2-40B4-BE49-F238E27FC236}">
                <a16:creationId xmlns:a16="http://schemas.microsoft.com/office/drawing/2014/main" id="{ED9FACB8-4D6A-044F-997F-E09503AC15AA}"/>
              </a:ext>
            </a:extLst>
          </p:cNvPr>
          <p:cNvSpPr/>
          <p:nvPr/>
        </p:nvSpPr>
        <p:spPr>
          <a:xfrm>
            <a:off x="4326350"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0" name="Matrix cell (0,2)">
            <a:extLst>
              <a:ext uri="{FF2B5EF4-FFF2-40B4-BE49-F238E27FC236}">
                <a16:creationId xmlns:a16="http://schemas.microsoft.com/office/drawing/2014/main" id="{DE25E670-FAB3-667C-5777-C71ED9075845}"/>
              </a:ext>
            </a:extLst>
          </p:cNvPr>
          <p:cNvSpPr/>
          <p:nvPr/>
        </p:nvSpPr>
        <p:spPr>
          <a:xfrm>
            <a:off x="4429185"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1" name="Matrix cell (0,3)">
            <a:extLst>
              <a:ext uri="{FF2B5EF4-FFF2-40B4-BE49-F238E27FC236}">
                <a16:creationId xmlns:a16="http://schemas.microsoft.com/office/drawing/2014/main" id="{D15A0AB1-9BF7-4E76-6CED-C525DFBAA5F7}"/>
              </a:ext>
            </a:extLst>
          </p:cNvPr>
          <p:cNvSpPr/>
          <p:nvPr/>
        </p:nvSpPr>
        <p:spPr>
          <a:xfrm>
            <a:off x="4532020"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2" name="Matrix cell (1,0)">
            <a:extLst>
              <a:ext uri="{FF2B5EF4-FFF2-40B4-BE49-F238E27FC236}">
                <a16:creationId xmlns:a16="http://schemas.microsoft.com/office/drawing/2014/main" id="{5C20FC23-8B30-D896-36CC-91D73273996F}"/>
              </a:ext>
            </a:extLst>
          </p:cNvPr>
          <p:cNvSpPr/>
          <p:nvPr/>
        </p:nvSpPr>
        <p:spPr>
          <a:xfrm>
            <a:off x="4223515"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3" name="Matrix cell (1,1)">
            <a:extLst>
              <a:ext uri="{FF2B5EF4-FFF2-40B4-BE49-F238E27FC236}">
                <a16:creationId xmlns:a16="http://schemas.microsoft.com/office/drawing/2014/main" id="{023C0380-7EA8-B629-5738-AD00698F49B6}"/>
              </a:ext>
            </a:extLst>
          </p:cNvPr>
          <p:cNvSpPr/>
          <p:nvPr/>
        </p:nvSpPr>
        <p:spPr>
          <a:xfrm>
            <a:off x="4326350"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4" name="Matrix cell (1,2)">
            <a:extLst>
              <a:ext uri="{FF2B5EF4-FFF2-40B4-BE49-F238E27FC236}">
                <a16:creationId xmlns:a16="http://schemas.microsoft.com/office/drawing/2014/main" id="{12FBEABC-63F9-0304-4A97-80811BFE2B66}"/>
              </a:ext>
            </a:extLst>
          </p:cNvPr>
          <p:cNvSpPr/>
          <p:nvPr/>
        </p:nvSpPr>
        <p:spPr>
          <a:xfrm>
            <a:off x="4429185" y="4176678"/>
            <a:ext cx="102835" cy="71193"/>
          </a:xfrm>
          <a:prstGeom prst="rect">
            <a:avLst/>
          </a:prstGeom>
          <a:solidFill>
            <a:srgbClr val="3C9486"/>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5" name="Matrix cell (1,3)">
            <a:extLst>
              <a:ext uri="{FF2B5EF4-FFF2-40B4-BE49-F238E27FC236}">
                <a16:creationId xmlns:a16="http://schemas.microsoft.com/office/drawing/2014/main" id="{90D1E1D0-D1D8-F490-5B4D-27F3093D1ECE}"/>
              </a:ext>
            </a:extLst>
          </p:cNvPr>
          <p:cNvSpPr/>
          <p:nvPr/>
        </p:nvSpPr>
        <p:spPr>
          <a:xfrm>
            <a:off x="4532020"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6" name="Matrix cell (2,0)">
            <a:extLst>
              <a:ext uri="{FF2B5EF4-FFF2-40B4-BE49-F238E27FC236}">
                <a16:creationId xmlns:a16="http://schemas.microsoft.com/office/drawing/2014/main" id="{158A66BE-E7B7-0506-657E-0BF13A0E4F5E}"/>
              </a:ext>
            </a:extLst>
          </p:cNvPr>
          <p:cNvSpPr/>
          <p:nvPr/>
        </p:nvSpPr>
        <p:spPr>
          <a:xfrm>
            <a:off x="4223515"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7" name="Matrix cell (2,1)">
            <a:extLst>
              <a:ext uri="{FF2B5EF4-FFF2-40B4-BE49-F238E27FC236}">
                <a16:creationId xmlns:a16="http://schemas.microsoft.com/office/drawing/2014/main" id="{3B18D166-F88A-573E-0225-1ACB99CB2512}"/>
              </a:ext>
            </a:extLst>
          </p:cNvPr>
          <p:cNvSpPr/>
          <p:nvPr/>
        </p:nvSpPr>
        <p:spPr>
          <a:xfrm>
            <a:off x="4326350"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8" name="Matrix cell (2,2)">
            <a:extLst>
              <a:ext uri="{FF2B5EF4-FFF2-40B4-BE49-F238E27FC236}">
                <a16:creationId xmlns:a16="http://schemas.microsoft.com/office/drawing/2014/main" id="{FC858539-3EA9-E4FE-E803-0C8FFAD3870F}"/>
              </a:ext>
            </a:extLst>
          </p:cNvPr>
          <p:cNvSpPr/>
          <p:nvPr/>
        </p:nvSpPr>
        <p:spPr>
          <a:xfrm>
            <a:off x="4429185"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9" name="Matrix cell (2,3)">
            <a:extLst>
              <a:ext uri="{FF2B5EF4-FFF2-40B4-BE49-F238E27FC236}">
                <a16:creationId xmlns:a16="http://schemas.microsoft.com/office/drawing/2014/main" id="{3713326C-75C4-31D8-12F4-1CA18BF652D7}"/>
              </a:ext>
            </a:extLst>
          </p:cNvPr>
          <p:cNvSpPr/>
          <p:nvPr/>
        </p:nvSpPr>
        <p:spPr>
          <a:xfrm>
            <a:off x="4532020"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50" name="TextBox 12294">
            <a:extLst>
              <a:ext uri="{FF2B5EF4-FFF2-40B4-BE49-F238E27FC236}">
                <a16:creationId xmlns:a16="http://schemas.microsoft.com/office/drawing/2014/main" id="{E992C05A-634A-6CF2-2936-1480C4EA17F1}"/>
              </a:ext>
            </a:extLst>
          </p:cNvPr>
          <p:cNvSpPr txBox="1"/>
          <p:nvPr/>
        </p:nvSpPr>
        <p:spPr>
          <a:xfrm>
            <a:off x="4223516" y="4312989"/>
            <a:ext cx="411339" cy="82587"/>
          </a:xfrm>
          <a:prstGeom prst="rect">
            <a:avLst/>
          </a:prstGeom>
          <a:noFill/>
        </p:spPr>
        <p:txBody>
          <a:bodyPr wrap="square" lIns="0" tIns="0" rIns="0" bIns="0" anchor="ctr">
            <a:spAutoFit/>
          </a:bodyPr>
          <a:lstStyle/>
          <a:p>
            <a:pPr algn="ctr">
              <a:lnSpc>
                <a:spcPct val="105000"/>
              </a:lnSpc>
            </a:pPr>
            <a:r>
              <a:rPr sz="536">
                <a:solidFill>
                  <a:srgbClr val="263442"/>
                </a:solidFill>
                <a:latin typeface="Arial"/>
              </a:rPr>
              <a:t>J × K</a:t>
            </a:r>
          </a:p>
        </p:txBody>
      </p:sp>
      <p:grpSp>
        <p:nvGrpSpPr>
          <p:cNvPr id="751" name="组合 13795">
            <a:extLst>
              <a:ext uri="{FF2B5EF4-FFF2-40B4-BE49-F238E27FC236}">
                <a16:creationId xmlns:a16="http://schemas.microsoft.com/office/drawing/2014/main" id="{7EA912CF-516A-2745-A5D0-8704116A4D72}"/>
              </a:ext>
            </a:extLst>
          </p:cNvPr>
          <p:cNvGrpSpPr/>
          <p:nvPr/>
        </p:nvGrpSpPr>
        <p:grpSpPr>
          <a:xfrm>
            <a:off x="2038007" y="554865"/>
            <a:ext cx="1978883" cy="340209"/>
            <a:chOff x="6312668" y="2448732"/>
            <a:chExt cx="1215499" cy="343631"/>
          </a:xfrm>
        </p:grpSpPr>
        <p:pic>
          <p:nvPicPr>
            <p:cNvPr id="752" name="图片 12">
              <a:extLst>
                <a:ext uri="{FF2B5EF4-FFF2-40B4-BE49-F238E27FC236}">
                  <a16:creationId xmlns:a16="http://schemas.microsoft.com/office/drawing/2014/main" id="{521CB8EA-9697-F11D-7107-B4A42B988070}"/>
                </a:ext>
              </a:extLst>
            </p:cNvPr>
            <p:cNvPicPr>
              <a:picLocks/>
            </p:cNvPicPr>
            <p:nvPr/>
          </p:nvPicPr>
          <p:blipFill>
            <a:blip r:embed="rId5"/>
            <a:srcRect l="70243" t="-18171" b="-1"/>
            <a:stretch>
              <a:fillRect/>
            </a:stretch>
          </p:blipFill>
          <p:spPr>
            <a:xfrm>
              <a:off x="7112075" y="2448732"/>
              <a:ext cx="416092" cy="323855"/>
            </a:xfrm>
            <a:prstGeom prst="rect">
              <a:avLst/>
            </a:prstGeom>
          </p:spPr>
        </p:pic>
        <p:pic>
          <p:nvPicPr>
            <p:cNvPr id="753" name="图片 12">
              <a:extLst>
                <a:ext uri="{FF2B5EF4-FFF2-40B4-BE49-F238E27FC236}">
                  <a16:creationId xmlns:a16="http://schemas.microsoft.com/office/drawing/2014/main" id="{546466D8-C7C6-7C8A-3307-95F68FB4F610}"/>
                </a:ext>
              </a:extLst>
            </p:cNvPr>
            <p:cNvPicPr>
              <a:picLocks/>
            </p:cNvPicPr>
            <p:nvPr/>
          </p:nvPicPr>
          <p:blipFill>
            <a:blip r:embed="rId5"/>
            <a:srcRect r="70534" b="-8235"/>
            <a:stretch>
              <a:fillRect/>
            </a:stretch>
          </p:blipFill>
          <p:spPr>
            <a:xfrm>
              <a:off x="6312668" y="2495741"/>
              <a:ext cx="412024" cy="296622"/>
            </a:xfrm>
            <a:prstGeom prst="rect">
              <a:avLst/>
            </a:prstGeom>
          </p:spPr>
        </p:pic>
        <p:pic>
          <p:nvPicPr>
            <p:cNvPr id="754" name="Picture 10000" descr="unet_block_18.png">
              <a:extLst>
                <a:ext uri="{FF2B5EF4-FFF2-40B4-BE49-F238E27FC236}">
                  <a16:creationId xmlns:a16="http://schemas.microsoft.com/office/drawing/2014/main" id="{75A7694C-DEA5-AFE8-E284-0A0D89F845C1}"/>
                </a:ext>
              </a:extLst>
            </p:cNvPr>
            <p:cNvPicPr>
              <a:picLocks noChangeAspect="1"/>
            </p:cNvPicPr>
            <p:nvPr/>
          </p:nvPicPr>
          <p:blipFill>
            <a:blip r:embed="rId6"/>
            <a:stretch>
              <a:fillRect/>
            </a:stretch>
          </p:blipFill>
          <p:spPr>
            <a:xfrm>
              <a:off x="6776851" y="2645026"/>
              <a:ext cx="276863" cy="126566"/>
            </a:xfrm>
            <a:prstGeom prst="rect">
              <a:avLst/>
            </a:prstGeom>
          </p:spPr>
        </p:pic>
      </p:grpSp>
      <p:grpSp>
        <p:nvGrpSpPr>
          <p:cNvPr id="755" name="Find candidate blob 1">
            <a:extLst>
              <a:ext uri="{FF2B5EF4-FFF2-40B4-BE49-F238E27FC236}">
                <a16:creationId xmlns:a16="http://schemas.microsoft.com/office/drawing/2014/main" id="{3B821B97-56A6-DCED-E85F-DBF945F3EA13}"/>
              </a:ext>
            </a:extLst>
          </p:cNvPr>
          <p:cNvGrpSpPr/>
          <p:nvPr/>
        </p:nvGrpSpPr>
        <p:grpSpPr>
          <a:xfrm>
            <a:off x="4357668" y="1039644"/>
            <a:ext cx="163890" cy="111953"/>
            <a:chOff x="1928706" y="3559489"/>
            <a:chExt cx="227897" cy="155682"/>
          </a:xfrm>
        </p:grpSpPr>
        <p:sp>
          <p:nvSpPr>
            <p:cNvPr id="756" name="Candidate blob | editable contour">
              <a:extLst>
                <a:ext uri="{FF2B5EF4-FFF2-40B4-BE49-F238E27FC236}">
                  <a16:creationId xmlns:a16="http://schemas.microsoft.com/office/drawing/2014/main" id="{B3B117DA-D182-38E6-AD16-B4776AD2C7B7}"/>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57" name="ellipse_2612">
              <a:extLst>
                <a:ext uri="{FF2B5EF4-FFF2-40B4-BE49-F238E27FC236}">
                  <a16:creationId xmlns:a16="http://schemas.microsoft.com/office/drawing/2014/main" id="{901C6437-E94C-AFDE-D242-E688A89ABBD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58" name="Find candidate blob 2">
            <a:extLst>
              <a:ext uri="{FF2B5EF4-FFF2-40B4-BE49-F238E27FC236}">
                <a16:creationId xmlns:a16="http://schemas.microsoft.com/office/drawing/2014/main" id="{00C0C92B-D4C8-0994-E860-1581EB873D86}"/>
              </a:ext>
            </a:extLst>
          </p:cNvPr>
          <p:cNvGrpSpPr/>
          <p:nvPr/>
        </p:nvGrpSpPr>
        <p:grpSpPr>
          <a:xfrm>
            <a:off x="4352956" y="917369"/>
            <a:ext cx="168602" cy="95394"/>
            <a:chOff x="1928706" y="3559489"/>
            <a:chExt cx="227897" cy="155682"/>
          </a:xfrm>
        </p:grpSpPr>
        <p:sp>
          <p:nvSpPr>
            <p:cNvPr id="759" name="Candidate blob | editable contour">
              <a:extLst>
                <a:ext uri="{FF2B5EF4-FFF2-40B4-BE49-F238E27FC236}">
                  <a16:creationId xmlns:a16="http://schemas.microsoft.com/office/drawing/2014/main" id="{A172A8B3-EFA3-33C9-CD2B-307B24D7293D}"/>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0" name="ellipse_2612">
              <a:extLst>
                <a:ext uri="{FF2B5EF4-FFF2-40B4-BE49-F238E27FC236}">
                  <a16:creationId xmlns:a16="http://schemas.microsoft.com/office/drawing/2014/main" id="{CF37E813-914E-4383-9CE9-1C5F4095124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61" name="Find candidate blob 3">
            <a:extLst>
              <a:ext uri="{FF2B5EF4-FFF2-40B4-BE49-F238E27FC236}">
                <a16:creationId xmlns:a16="http://schemas.microsoft.com/office/drawing/2014/main" id="{D7299A48-8BF0-7050-EF56-14DA3F495CB7}"/>
              </a:ext>
            </a:extLst>
          </p:cNvPr>
          <p:cNvGrpSpPr/>
          <p:nvPr/>
        </p:nvGrpSpPr>
        <p:grpSpPr>
          <a:xfrm rot="364243">
            <a:off x="4559731" y="1028968"/>
            <a:ext cx="127658" cy="129194"/>
            <a:chOff x="1928706" y="3559489"/>
            <a:chExt cx="227897" cy="155682"/>
          </a:xfrm>
        </p:grpSpPr>
        <p:sp>
          <p:nvSpPr>
            <p:cNvPr id="762" name="Candidate blob | editable contour">
              <a:extLst>
                <a:ext uri="{FF2B5EF4-FFF2-40B4-BE49-F238E27FC236}">
                  <a16:creationId xmlns:a16="http://schemas.microsoft.com/office/drawing/2014/main" id="{8902F596-0D84-3C56-EB93-D63FC7E9041E}"/>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3" name="ellipse_2612">
              <a:extLst>
                <a:ext uri="{FF2B5EF4-FFF2-40B4-BE49-F238E27FC236}">
                  <a16:creationId xmlns:a16="http://schemas.microsoft.com/office/drawing/2014/main" id="{85D74281-2FE6-E2D2-EFBA-AF54A45686E3}"/>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765" name="Find auxiliary label">
            <a:extLst>
              <a:ext uri="{FF2B5EF4-FFF2-40B4-BE49-F238E27FC236}">
                <a16:creationId xmlns:a16="http://schemas.microsoft.com/office/drawing/2014/main" id="{CAD88599-B783-720B-B6BD-9F787FCB6CF4}"/>
              </a:ext>
            </a:extLst>
          </p:cNvPr>
          <p:cNvSpPr>
            <a:spLocks noGrp="1"/>
          </p:cNvSpPr>
          <p:nvPr/>
        </p:nvSpPr>
        <p:spPr>
          <a:xfrm>
            <a:off x="4315962" y="1518303"/>
            <a:ext cx="433362" cy="157954"/>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90" dirty="0">
                <a:solidFill>
                  <a:srgbClr val="263442"/>
                </a:solidFill>
                <a:latin typeface="Arial"/>
                <a:ea typeface="Arial"/>
                <a:cs typeface="Arial"/>
              </a:rPr>
              <a:t>Auxiliary</a:t>
            </a:r>
          </a:p>
          <a:p>
            <a:pPr algn="ctr">
              <a:defRPr sz="590" b="0">
                <a:solidFill>
                  <a:srgbClr val="263442"/>
                </a:solidFill>
                <a:latin typeface="Arial"/>
                <a:ea typeface="Arial"/>
                <a:cs typeface="Arial"/>
              </a:defRPr>
            </a:pPr>
            <a:r>
              <a:rPr sz="590" dirty="0">
                <a:solidFill>
                  <a:srgbClr val="263442"/>
                </a:solidFill>
                <a:latin typeface="Arial"/>
                <a:ea typeface="Arial"/>
                <a:cs typeface="Arial"/>
              </a:rPr>
              <a:t>features</a:t>
            </a:r>
          </a:p>
        </p:txBody>
      </p:sp>
      <p:sp>
        <p:nvSpPr>
          <p:cNvPr id="766" name="Match auxiliary label">
            <a:extLst>
              <a:ext uri="{FF2B5EF4-FFF2-40B4-BE49-F238E27FC236}">
                <a16:creationId xmlns:a16="http://schemas.microsoft.com/office/drawing/2014/main" id="{C154BF4F-4214-59BC-DCE1-F9C23194AC63}"/>
              </a:ext>
            </a:extLst>
          </p:cNvPr>
          <p:cNvSpPr>
            <a:spLocks noGrp="1"/>
          </p:cNvSpPr>
          <p:nvPr/>
        </p:nvSpPr>
        <p:spPr>
          <a:xfrm>
            <a:off x="1503472" y="2843177"/>
            <a:ext cx="405011" cy="174155"/>
          </a:xfrm>
          <a:prstGeom prst="rect">
            <a:avLst/>
          </a:prstGeom>
          <a:noFill/>
          <a:ln w="6885">
            <a:noFill/>
            <a:prstDash val="solid"/>
          </a:ln>
        </p:spPr>
        <p:txBody>
          <a:bodyPr lIns="0" tIns="0" rIns="0" bIns="0" anchor="ctr"/>
          <a:lstStyle>
            <a:defPPr algn="ctr">
              <a:defRPr sz="590" b="1">
                <a:solidFill>
                  <a:srgbClr val="263442"/>
                </a:solidFill>
                <a:latin typeface="Arial"/>
                <a:ea typeface="Arial"/>
                <a:cs typeface="Arial"/>
              </a:defRPr>
            </a:defPPr>
            <a:lvl1pPr algn="ctr">
              <a:defRPr sz="590" b="1">
                <a:solidFill>
                  <a:srgbClr val="263442"/>
                </a:solidFill>
                <a:latin typeface="Arial"/>
                <a:ea typeface="Arial"/>
                <a:cs typeface="Arial"/>
              </a:defRPr>
            </a:lvl1pPr>
            <a:lvl2pPr algn="ctr">
              <a:defRPr sz="590" b="1">
                <a:solidFill>
                  <a:srgbClr val="263442"/>
                </a:solidFill>
                <a:latin typeface="Arial"/>
                <a:ea typeface="Arial"/>
                <a:cs typeface="Arial"/>
              </a:defRPr>
            </a:lvl2pPr>
            <a:lvl3pPr algn="ctr">
              <a:defRPr sz="590" b="1">
                <a:solidFill>
                  <a:srgbClr val="263442"/>
                </a:solidFill>
                <a:latin typeface="Arial"/>
                <a:ea typeface="Arial"/>
                <a:cs typeface="Arial"/>
              </a:defRPr>
            </a:lvl3pPr>
            <a:lvl4pPr algn="ctr">
              <a:defRPr sz="590" b="1">
                <a:solidFill>
                  <a:srgbClr val="263442"/>
                </a:solidFill>
                <a:latin typeface="Arial"/>
                <a:ea typeface="Arial"/>
                <a:cs typeface="Arial"/>
              </a:defRPr>
            </a:lvl4pPr>
            <a:lvl5pPr algn="ctr">
              <a:defRPr sz="590" b="1">
                <a:solidFill>
                  <a:srgbClr val="263442"/>
                </a:solidFill>
                <a:latin typeface="Arial"/>
                <a:ea typeface="Arial"/>
                <a:cs typeface="Arial"/>
              </a:defRPr>
            </a:lvl5pPr>
            <a:lvl6pPr algn="ctr">
              <a:defRPr sz="590" b="1">
                <a:solidFill>
                  <a:srgbClr val="263442"/>
                </a:solidFill>
                <a:latin typeface="Arial"/>
                <a:ea typeface="Arial"/>
                <a:cs typeface="Arial"/>
              </a:defRPr>
            </a:lvl6pPr>
            <a:lvl7pPr algn="ctr">
              <a:defRPr sz="590" b="1">
                <a:solidFill>
                  <a:srgbClr val="263442"/>
                </a:solidFill>
                <a:latin typeface="Arial"/>
                <a:ea typeface="Arial"/>
                <a:cs typeface="Arial"/>
              </a:defRPr>
            </a:lvl7pPr>
            <a:lvl8pPr algn="ctr">
              <a:defRPr sz="590" b="1">
                <a:solidFill>
                  <a:srgbClr val="263442"/>
                </a:solidFill>
                <a:latin typeface="Arial"/>
                <a:ea typeface="Arial"/>
                <a:cs typeface="Arial"/>
              </a:defRPr>
            </a:lvl8pPr>
            <a:lvl9pPr algn="ctr">
              <a:defRPr sz="590" b="1">
                <a:solidFill>
                  <a:srgbClr val="263442"/>
                </a:solidFill>
                <a:latin typeface="Arial"/>
                <a:ea typeface="Arial"/>
                <a:cs typeface="Arial"/>
              </a:defRPr>
            </a:lvl9pPr>
          </a:lstStyle>
          <a:p>
            <a:pPr algn="ctr">
              <a:defRPr sz="590" b="1">
                <a:solidFill>
                  <a:srgbClr val="263442"/>
                </a:solidFill>
                <a:latin typeface="Arial"/>
                <a:ea typeface="Arial"/>
                <a:cs typeface="Arial"/>
              </a:defRPr>
            </a:pPr>
            <a:r>
              <a:rPr sz="590" b="0" dirty="0">
                <a:solidFill>
                  <a:srgbClr val="263442"/>
                </a:solidFill>
                <a:latin typeface="Arial"/>
                <a:ea typeface="Arial"/>
                <a:cs typeface="Arial"/>
              </a:rPr>
              <a:t>Auxiliary</a:t>
            </a:r>
          </a:p>
          <a:p>
            <a:pPr algn="ctr">
              <a:defRPr sz="590" b="1">
                <a:solidFill>
                  <a:srgbClr val="263442"/>
                </a:solidFill>
                <a:latin typeface="Arial"/>
                <a:ea typeface="Arial"/>
                <a:cs typeface="Arial"/>
              </a:defRPr>
            </a:pPr>
            <a:r>
              <a:rPr sz="590" b="0" dirty="0">
                <a:solidFill>
                  <a:srgbClr val="263442"/>
                </a:solidFill>
                <a:latin typeface="Arial"/>
                <a:ea typeface="Arial"/>
                <a:cs typeface="Arial"/>
              </a:rPr>
              <a:t>features</a:t>
            </a:r>
          </a:p>
        </p:txBody>
      </p:sp>
      <p:sp>
        <p:nvSpPr>
          <p:cNvPr id="767" name="Concat label">
            <a:extLst>
              <a:ext uri="{FF2B5EF4-FFF2-40B4-BE49-F238E27FC236}">
                <a16:creationId xmlns:a16="http://schemas.microsoft.com/office/drawing/2014/main" id="{9D20C35C-694E-CDD5-F90A-040BE36EEE21}"/>
              </a:ext>
            </a:extLst>
          </p:cNvPr>
          <p:cNvSpPr>
            <a:spLocks noGrp="1"/>
          </p:cNvSpPr>
          <p:nvPr/>
        </p:nvSpPr>
        <p:spPr>
          <a:xfrm>
            <a:off x="1106378" y="3608830"/>
            <a:ext cx="259207" cy="81002"/>
          </a:xfrm>
          <a:prstGeom prst="rect">
            <a:avLst/>
          </a:prstGeom>
          <a:noFill/>
          <a:ln w="6885">
            <a:noFill/>
            <a:prstDash val="solid"/>
          </a:ln>
        </p:spPr>
        <p:txBody>
          <a:bodyPr lIns="0" tIns="0" rIns="0" bIns="0" anchor="ctr"/>
          <a:lstStyle>
            <a:defPPr algn="ctr">
              <a:defRPr sz="568" b="0">
                <a:solidFill>
                  <a:srgbClr val="263442"/>
                </a:solidFill>
                <a:latin typeface="Arial"/>
                <a:ea typeface="Arial"/>
                <a:cs typeface="Arial"/>
              </a:defRPr>
            </a:defPPr>
            <a:lvl1pPr algn="ctr">
              <a:defRPr sz="568" b="0">
                <a:solidFill>
                  <a:srgbClr val="263442"/>
                </a:solidFill>
                <a:latin typeface="Arial"/>
                <a:ea typeface="Arial"/>
                <a:cs typeface="Arial"/>
              </a:defRPr>
            </a:lvl1pPr>
            <a:lvl2pPr algn="ctr">
              <a:defRPr sz="568" b="0">
                <a:solidFill>
                  <a:srgbClr val="263442"/>
                </a:solidFill>
                <a:latin typeface="Arial"/>
                <a:ea typeface="Arial"/>
                <a:cs typeface="Arial"/>
              </a:defRPr>
            </a:lvl2pPr>
            <a:lvl3pPr algn="ctr">
              <a:defRPr sz="568" b="0">
                <a:solidFill>
                  <a:srgbClr val="263442"/>
                </a:solidFill>
                <a:latin typeface="Arial"/>
                <a:ea typeface="Arial"/>
                <a:cs typeface="Arial"/>
              </a:defRPr>
            </a:lvl3pPr>
            <a:lvl4pPr algn="ctr">
              <a:defRPr sz="568" b="0">
                <a:solidFill>
                  <a:srgbClr val="263442"/>
                </a:solidFill>
                <a:latin typeface="Arial"/>
                <a:ea typeface="Arial"/>
                <a:cs typeface="Arial"/>
              </a:defRPr>
            </a:lvl4pPr>
            <a:lvl5pPr algn="ctr">
              <a:defRPr sz="568" b="0">
                <a:solidFill>
                  <a:srgbClr val="263442"/>
                </a:solidFill>
                <a:latin typeface="Arial"/>
                <a:ea typeface="Arial"/>
                <a:cs typeface="Arial"/>
              </a:defRPr>
            </a:lvl5pPr>
            <a:lvl6pPr algn="ctr">
              <a:defRPr sz="568" b="0">
                <a:solidFill>
                  <a:srgbClr val="263442"/>
                </a:solidFill>
                <a:latin typeface="Arial"/>
                <a:ea typeface="Arial"/>
                <a:cs typeface="Arial"/>
              </a:defRPr>
            </a:lvl6pPr>
            <a:lvl7pPr algn="ctr">
              <a:defRPr sz="568" b="0">
                <a:solidFill>
                  <a:srgbClr val="263442"/>
                </a:solidFill>
                <a:latin typeface="Arial"/>
                <a:ea typeface="Arial"/>
                <a:cs typeface="Arial"/>
              </a:defRPr>
            </a:lvl7pPr>
            <a:lvl8pPr algn="ctr">
              <a:defRPr sz="568" b="0">
                <a:solidFill>
                  <a:srgbClr val="263442"/>
                </a:solidFill>
                <a:latin typeface="Arial"/>
                <a:ea typeface="Arial"/>
                <a:cs typeface="Arial"/>
              </a:defRPr>
            </a:lvl8pPr>
            <a:lvl9pPr algn="ctr">
              <a:defRPr sz="568" b="0">
                <a:solidFill>
                  <a:srgbClr val="263442"/>
                </a:solidFill>
                <a:latin typeface="Arial"/>
                <a:ea typeface="Arial"/>
                <a:cs typeface="Arial"/>
              </a:defRPr>
            </a:lvl9pPr>
          </a:lstStyle>
          <a:p>
            <a:pPr algn="ctr">
              <a:defRPr sz="568" b="0">
                <a:solidFill>
                  <a:srgbClr val="263442"/>
                </a:solidFill>
                <a:latin typeface="Arial"/>
                <a:ea typeface="Arial"/>
                <a:cs typeface="Arial"/>
              </a:defRPr>
            </a:pPr>
            <a:r>
              <a:rPr sz="568" dirty="0" err="1">
                <a:solidFill>
                  <a:srgbClr val="263442"/>
                </a:solidFill>
                <a:latin typeface="Arial"/>
                <a:ea typeface="Arial"/>
                <a:cs typeface="Arial"/>
              </a:rPr>
              <a:t>Concat</a:t>
            </a:r>
            <a:endParaRPr sz="568" dirty="0">
              <a:solidFill>
                <a:srgbClr val="263442"/>
              </a:solidFill>
              <a:latin typeface="Arial"/>
              <a:ea typeface="Arial"/>
              <a:cs typeface="Arial"/>
            </a:endParaRPr>
          </a:p>
        </p:txBody>
      </p:sp>
      <p:grpSp>
        <p:nvGrpSpPr>
          <p:cNvPr id="1248" name="Unified flow and feature elements">
            <a:extLst>
              <a:ext uri="{FF2B5EF4-FFF2-40B4-BE49-F238E27FC236}">
                <a16:creationId xmlns:a16="http://schemas.microsoft.com/office/drawing/2014/main" id="{DA74696D-FF4F-021F-A459-9CD0851351CF}"/>
              </a:ext>
            </a:extLst>
          </p:cNvPr>
          <p:cNvGrpSpPr/>
          <p:nvPr/>
        </p:nvGrpSpPr>
        <p:grpSpPr>
          <a:xfrm>
            <a:off x="966222" y="284723"/>
            <a:ext cx="3748525" cy="3967446"/>
            <a:chOff x="2272349" y="669608"/>
            <a:chExt cx="8815739" cy="9330594"/>
          </a:xfrm>
        </p:grpSpPr>
        <p:sp>
          <p:nvSpPr>
            <p:cNvPr id="1249" name="Preprocessing refined">
              <a:extLst>
                <a:ext uri="{FF2B5EF4-FFF2-40B4-BE49-F238E27FC236}">
                  <a16:creationId xmlns:a16="http://schemas.microsoft.com/office/drawing/2014/main" id="{A3A31885-181B-CF24-BE30-3ED8DAACE460}"/>
                </a:ext>
              </a:extLst>
            </p:cNvPr>
            <p:cNvSpPr>
              <a:spLocks noGrp="1"/>
            </p:cNvSpPr>
            <p:nvPr/>
          </p:nvSpPr>
          <p:spPr>
            <a:xfrm>
              <a:off x="3122581" y="669608"/>
              <a:ext cx="1028701" cy="3460433"/>
            </a:xfrm>
            <a:prstGeom prst="roundRect">
              <a:avLst>
                <a:gd name="adj" fmla="val 6481"/>
              </a:avLst>
            </a:prstGeom>
            <a:solidFill>
              <a:srgbClr val="E8EFF7"/>
            </a:solidFill>
            <a:ln w="7290">
              <a:solidFill>
                <a:srgbClr val="BEC7CE"/>
              </a:solidFill>
            </a:ln>
          </p:spPr>
        </p:sp>
        <p:sp>
          <p:nvSpPr>
            <p:cNvPr id="1250" name="Preprocessing divider refined">
              <a:extLst>
                <a:ext uri="{FF2B5EF4-FFF2-40B4-BE49-F238E27FC236}">
                  <a16:creationId xmlns:a16="http://schemas.microsoft.com/office/drawing/2014/main" id="{E21BD2F9-92DD-96F0-3AAF-0957638A49FB}"/>
                </a:ext>
              </a:extLst>
            </p:cNvPr>
            <p:cNvSpPr>
              <a:spLocks noGrp="1"/>
            </p:cNvSpPr>
            <p:nvPr/>
          </p:nvSpPr>
          <p:spPr>
            <a:xfrm>
              <a:off x="3199219" y="2418363"/>
              <a:ext cx="800100" cy="190"/>
            </a:xfrm>
            <a:custGeom>
              <a:avLst/>
              <a:gdLst/>
              <a:ahLst/>
              <a:cxnLst/>
              <a:rect l="0" t="0" r="0" b="0"/>
              <a:pathLst>
                <a:path w="800100" h="191">
                  <a:moveTo>
                    <a:pt x="0" y="0"/>
                  </a:moveTo>
                  <a:lnTo>
                    <a:pt x="800100" y="0"/>
                  </a:lnTo>
                </a:path>
              </a:pathLst>
            </a:custGeom>
            <a:noFill/>
            <a:ln w="6075">
              <a:solidFill>
                <a:srgbClr val="C8CFD4"/>
              </a:solidFill>
              <a:prstDash val="solid"/>
            </a:ln>
          </p:spPr>
        </p:sp>
        <p:sp>
          <p:nvSpPr>
            <p:cNvPr id="1251" name="Density bank refined">
              <a:extLst>
                <a:ext uri="{FF2B5EF4-FFF2-40B4-BE49-F238E27FC236}">
                  <a16:creationId xmlns:a16="http://schemas.microsoft.com/office/drawing/2014/main" id="{1E51E71A-A2BC-0776-E4CA-D30FBB1BE241}"/>
                </a:ext>
              </a:extLst>
            </p:cNvPr>
            <p:cNvSpPr>
              <a:spLocks noGrp="1"/>
            </p:cNvSpPr>
            <p:nvPr/>
          </p:nvSpPr>
          <p:spPr>
            <a:xfrm>
              <a:off x="3160769" y="695478"/>
              <a:ext cx="990599" cy="457199"/>
            </a:xfrm>
            <a:prstGeom prst="rect">
              <a:avLst/>
            </a:prstGeom>
            <a:noFill/>
            <a:ln w="7290">
              <a:noFill/>
            </a:ln>
          </p:spPr>
          <p:txBody>
            <a:bodyPr lIns="0" tIns="0" rIns="0" bIns="0" anchor="ctr"/>
            <a:lstStyle>
              <a:defPPr algn="ctr">
                <a:defRPr sz="612">
                  <a:solidFill>
                    <a:srgbClr val="263442"/>
                  </a:solidFill>
                  <a:latin typeface="Arial"/>
                  <a:ea typeface="Arial"/>
                  <a:cs typeface="Arial"/>
                </a:defRPr>
              </a:defPPr>
              <a:lvl1pPr algn="ctr">
                <a:defRPr sz="612">
                  <a:solidFill>
                    <a:srgbClr val="263442"/>
                  </a:solidFill>
                  <a:latin typeface="Arial"/>
                  <a:ea typeface="Arial"/>
                  <a:cs typeface="Arial"/>
                </a:defRPr>
              </a:lvl1pPr>
              <a:lvl2pPr algn="ctr">
                <a:defRPr sz="612">
                  <a:solidFill>
                    <a:srgbClr val="263442"/>
                  </a:solidFill>
                  <a:latin typeface="Arial"/>
                  <a:ea typeface="Arial"/>
                  <a:cs typeface="Arial"/>
                </a:defRPr>
              </a:lvl2pPr>
              <a:lvl3pPr algn="ctr">
                <a:defRPr sz="612">
                  <a:solidFill>
                    <a:srgbClr val="263442"/>
                  </a:solidFill>
                  <a:latin typeface="Arial"/>
                  <a:ea typeface="Arial"/>
                  <a:cs typeface="Arial"/>
                </a:defRPr>
              </a:lvl3pPr>
              <a:lvl4pPr algn="ctr">
                <a:defRPr sz="612">
                  <a:solidFill>
                    <a:srgbClr val="263442"/>
                  </a:solidFill>
                  <a:latin typeface="Arial"/>
                  <a:ea typeface="Arial"/>
                  <a:cs typeface="Arial"/>
                </a:defRPr>
              </a:lvl4pPr>
              <a:lvl5pPr algn="ctr">
                <a:defRPr sz="612">
                  <a:solidFill>
                    <a:srgbClr val="263442"/>
                  </a:solidFill>
                  <a:latin typeface="Arial"/>
                  <a:ea typeface="Arial"/>
                  <a:cs typeface="Arial"/>
                </a:defRPr>
              </a:lvl5pPr>
              <a:lvl6pPr algn="ctr">
                <a:defRPr sz="612">
                  <a:solidFill>
                    <a:srgbClr val="263442"/>
                  </a:solidFill>
                  <a:latin typeface="Arial"/>
                  <a:ea typeface="Arial"/>
                  <a:cs typeface="Arial"/>
                </a:defRPr>
              </a:lvl6pPr>
              <a:lvl7pPr algn="ctr">
                <a:defRPr sz="612">
                  <a:solidFill>
                    <a:srgbClr val="263442"/>
                  </a:solidFill>
                  <a:latin typeface="Arial"/>
                  <a:ea typeface="Arial"/>
                  <a:cs typeface="Arial"/>
                </a:defRPr>
              </a:lvl7pPr>
              <a:lvl8pPr algn="ctr">
                <a:defRPr sz="612">
                  <a:solidFill>
                    <a:srgbClr val="263442"/>
                  </a:solidFill>
                  <a:latin typeface="Arial"/>
                  <a:ea typeface="Arial"/>
                  <a:cs typeface="Arial"/>
                </a:defRPr>
              </a:lvl8pPr>
              <a:lvl9pPr algn="ctr">
                <a:defRPr sz="612">
                  <a:solidFill>
                    <a:srgbClr val="263442"/>
                  </a:solidFill>
                  <a:latin typeface="Arial"/>
                  <a:ea typeface="Arial"/>
                  <a:cs typeface="Arial"/>
                </a:defRPr>
              </a:lvl9pPr>
            </a:lstStyle>
            <a:p>
              <a:pPr algn="ctr">
                <a:defRPr sz="612">
                  <a:solidFill>
                    <a:srgbClr val="263442"/>
                  </a:solidFill>
                  <a:latin typeface="Arial"/>
                  <a:ea typeface="Arial"/>
                  <a:cs typeface="Arial"/>
                </a:defRPr>
              </a:pPr>
              <a:r>
                <a:rPr sz="550" dirty="0">
                  <a:solidFill>
                    <a:srgbClr val="263442"/>
                  </a:solidFill>
                  <a:latin typeface="Arial"/>
                  <a:ea typeface="Arial"/>
                  <a:cs typeface="Arial"/>
                </a:rPr>
                <a:t>Density</a:t>
              </a:r>
            </a:p>
            <a:p>
              <a:pPr algn="ctr">
                <a:defRPr sz="612">
                  <a:solidFill>
                    <a:srgbClr val="263442"/>
                  </a:solidFill>
                  <a:latin typeface="Arial"/>
                  <a:ea typeface="Arial"/>
                  <a:cs typeface="Arial"/>
                </a:defRPr>
              </a:pPr>
              <a:r>
                <a:rPr lang="en-US" sz="550" dirty="0">
                  <a:solidFill>
                    <a:srgbClr val="263442"/>
                  </a:solidFill>
                  <a:latin typeface="Arial"/>
                  <a:ea typeface="Arial"/>
                  <a:cs typeface="Arial"/>
                </a:rPr>
                <a:t>B</a:t>
              </a:r>
              <a:r>
                <a:rPr sz="550" dirty="0">
                  <a:solidFill>
                    <a:srgbClr val="263442"/>
                  </a:solidFill>
                  <a:latin typeface="Arial"/>
                  <a:ea typeface="Arial"/>
                  <a:cs typeface="Arial"/>
                </a:rPr>
                <a:t>ank</a:t>
              </a:r>
            </a:p>
          </p:txBody>
        </p:sp>
        <p:sp>
          <p:nvSpPr>
            <p:cNvPr id="1252" name="Embedding head refined">
              <a:extLst>
                <a:ext uri="{FF2B5EF4-FFF2-40B4-BE49-F238E27FC236}">
                  <a16:creationId xmlns:a16="http://schemas.microsoft.com/office/drawing/2014/main" id="{58C61B38-F8DB-1F98-DEE4-C9D7130E2730}"/>
                </a:ext>
              </a:extLst>
            </p:cNvPr>
            <p:cNvSpPr>
              <a:spLocks noGrp="1"/>
            </p:cNvSpPr>
            <p:nvPr/>
          </p:nvSpPr>
          <p:spPr>
            <a:xfrm>
              <a:off x="3122433" y="2542570"/>
              <a:ext cx="990599" cy="457199"/>
            </a:xfrm>
            <a:prstGeom prst="rect">
              <a:avLst/>
            </a:prstGeom>
            <a:noFill/>
            <a:ln w="7290">
              <a:noFill/>
            </a:ln>
          </p:spPr>
          <p:txBody>
            <a:bodyPr lIns="0" tIns="0" rIns="0" bIns="0" anchor="ctr"/>
            <a:lstStyle>
              <a:defPPr algn="ctr">
                <a:defRPr sz="612">
                  <a:solidFill>
                    <a:srgbClr val="263442"/>
                  </a:solidFill>
                  <a:latin typeface="Arial"/>
                  <a:ea typeface="Arial"/>
                  <a:cs typeface="Arial"/>
                </a:defRPr>
              </a:defPPr>
              <a:lvl1pPr algn="ctr">
                <a:defRPr sz="612">
                  <a:solidFill>
                    <a:srgbClr val="263442"/>
                  </a:solidFill>
                  <a:latin typeface="Arial"/>
                  <a:ea typeface="Arial"/>
                  <a:cs typeface="Arial"/>
                </a:defRPr>
              </a:lvl1pPr>
              <a:lvl2pPr algn="ctr">
                <a:defRPr sz="612">
                  <a:solidFill>
                    <a:srgbClr val="263442"/>
                  </a:solidFill>
                  <a:latin typeface="Arial"/>
                  <a:ea typeface="Arial"/>
                  <a:cs typeface="Arial"/>
                </a:defRPr>
              </a:lvl2pPr>
              <a:lvl3pPr algn="ctr">
                <a:defRPr sz="612">
                  <a:solidFill>
                    <a:srgbClr val="263442"/>
                  </a:solidFill>
                  <a:latin typeface="Arial"/>
                  <a:ea typeface="Arial"/>
                  <a:cs typeface="Arial"/>
                </a:defRPr>
              </a:lvl3pPr>
              <a:lvl4pPr algn="ctr">
                <a:defRPr sz="612">
                  <a:solidFill>
                    <a:srgbClr val="263442"/>
                  </a:solidFill>
                  <a:latin typeface="Arial"/>
                  <a:ea typeface="Arial"/>
                  <a:cs typeface="Arial"/>
                </a:defRPr>
              </a:lvl4pPr>
              <a:lvl5pPr algn="ctr">
                <a:defRPr sz="612">
                  <a:solidFill>
                    <a:srgbClr val="263442"/>
                  </a:solidFill>
                  <a:latin typeface="Arial"/>
                  <a:ea typeface="Arial"/>
                  <a:cs typeface="Arial"/>
                </a:defRPr>
              </a:lvl5pPr>
              <a:lvl6pPr algn="ctr">
                <a:defRPr sz="612">
                  <a:solidFill>
                    <a:srgbClr val="263442"/>
                  </a:solidFill>
                  <a:latin typeface="Arial"/>
                  <a:ea typeface="Arial"/>
                  <a:cs typeface="Arial"/>
                </a:defRPr>
              </a:lvl6pPr>
              <a:lvl7pPr algn="ctr">
                <a:defRPr sz="612">
                  <a:solidFill>
                    <a:srgbClr val="263442"/>
                  </a:solidFill>
                  <a:latin typeface="Arial"/>
                  <a:ea typeface="Arial"/>
                  <a:cs typeface="Arial"/>
                </a:defRPr>
              </a:lvl7pPr>
              <a:lvl8pPr algn="ctr">
                <a:defRPr sz="612">
                  <a:solidFill>
                    <a:srgbClr val="263442"/>
                  </a:solidFill>
                  <a:latin typeface="Arial"/>
                  <a:ea typeface="Arial"/>
                  <a:cs typeface="Arial"/>
                </a:defRPr>
              </a:lvl8pPr>
              <a:lvl9pPr algn="ctr">
                <a:defRPr sz="612">
                  <a:solidFill>
                    <a:srgbClr val="263442"/>
                  </a:solidFill>
                  <a:latin typeface="Arial"/>
                  <a:ea typeface="Arial"/>
                  <a:cs typeface="Arial"/>
                </a:defRPr>
              </a:lvl9pPr>
            </a:lstStyle>
            <a:p>
              <a:pPr algn="ctr">
                <a:defRPr sz="612">
                  <a:solidFill>
                    <a:srgbClr val="263442"/>
                  </a:solidFill>
                  <a:latin typeface="Arial"/>
                  <a:ea typeface="Arial"/>
                  <a:cs typeface="Arial"/>
                </a:defRPr>
              </a:pPr>
              <a:r>
                <a:rPr lang="en-US" sz="550" dirty="0">
                  <a:solidFill>
                    <a:srgbClr val="263442"/>
                  </a:solidFill>
                  <a:latin typeface="Arial"/>
                  <a:ea typeface="Arial"/>
                  <a:cs typeface="Arial"/>
                </a:rPr>
                <a:t>Atom embeddings</a:t>
              </a:r>
              <a:endParaRPr sz="550" dirty="0">
                <a:solidFill>
                  <a:srgbClr val="263442"/>
                </a:solidFill>
                <a:latin typeface="Arial"/>
                <a:ea typeface="Arial"/>
                <a:cs typeface="Arial"/>
              </a:endParaRPr>
            </a:p>
          </p:txBody>
        </p:sp>
        <p:sp>
          <p:nvSpPr>
            <p:cNvPr id="1253" name="Find matrix 0-0">
              <a:extLst>
                <a:ext uri="{FF2B5EF4-FFF2-40B4-BE49-F238E27FC236}">
                  <a16:creationId xmlns:a16="http://schemas.microsoft.com/office/drawing/2014/main" id="{BBF0C328-3AF9-A068-FA92-FBF890856A66}"/>
                </a:ext>
              </a:extLst>
            </p:cNvPr>
            <p:cNvSpPr>
              <a:spLocks noGrp="1"/>
            </p:cNvSpPr>
            <p:nvPr/>
          </p:nvSpPr>
          <p:spPr>
            <a:xfrm>
              <a:off x="10255382" y="3200400"/>
              <a:ext cx="91559" cy="70009"/>
            </a:xfrm>
            <a:prstGeom prst="rect">
              <a:avLst/>
            </a:prstGeom>
            <a:solidFill>
              <a:srgbClr val="3E8F9A"/>
            </a:solidFill>
            <a:ln w="7290">
              <a:noFill/>
            </a:ln>
          </p:spPr>
        </p:sp>
        <p:sp>
          <p:nvSpPr>
            <p:cNvPr id="1254" name="Find matrix 0-1">
              <a:extLst>
                <a:ext uri="{FF2B5EF4-FFF2-40B4-BE49-F238E27FC236}">
                  <a16:creationId xmlns:a16="http://schemas.microsoft.com/office/drawing/2014/main" id="{3474DD36-B24E-DC42-848D-72CE3DEC2274}"/>
                </a:ext>
              </a:extLst>
            </p:cNvPr>
            <p:cNvSpPr>
              <a:spLocks noGrp="1"/>
            </p:cNvSpPr>
            <p:nvPr/>
          </p:nvSpPr>
          <p:spPr>
            <a:xfrm>
              <a:off x="10351227" y="3200400"/>
              <a:ext cx="91559" cy="70009"/>
            </a:xfrm>
            <a:prstGeom prst="rect">
              <a:avLst/>
            </a:prstGeom>
            <a:solidFill>
              <a:srgbClr val="5B9FB6"/>
            </a:solidFill>
            <a:ln w="7290">
              <a:noFill/>
            </a:ln>
          </p:spPr>
        </p:sp>
        <p:sp>
          <p:nvSpPr>
            <p:cNvPr id="1255" name="Find matrix 0-2">
              <a:extLst>
                <a:ext uri="{FF2B5EF4-FFF2-40B4-BE49-F238E27FC236}">
                  <a16:creationId xmlns:a16="http://schemas.microsoft.com/office/drawing/2014/main" id="{F807BDD1-EE13-F00C-2E77-C8910F6ACC73}"/>
                </a:ext>
              </a:extLst>
            </p:cNvPr>
            <p:cNvSpPr>
              <a:spLocks noGrp="1"/>
            </p:cNvSpPr>
            <p:nvPr/>
          </p:nvSpPr>
          <p:spPr>
            <a:xfrm>
              <a:off x="10447072" y="3200400"/>
              <a:ext cx="91559" cy="70009"/>
            </a:xfrm>
            <a:prstGeom prst="rect">
              <a:avLst/>
            </a:prstGeom>
            <a:solidFill>
              <a:srgbClr val="A3CDDA"/>
            </a:solidFill>
            <a:ln w="7290">
              <a:noFill/>
            </a:ln>
          </p:spPr>
        </p:sp>
        <p:sp>
          <p:nvSpPr>
            <p:cNvPr id="1256" name="Find matrix 0-3">
              <a:extLst>
                <a:ext uri="{FF2B5EF4-FFF2-40B4-BE49-F238E27FC236}">
                  <a16:creationId xmlns:a16="http://schemas.microsoft.com/office/drawing/2014/main" id="{DB1A890F-778A-35C9-7AE1-C0AE618D52CF}"/>
                </a:ext>
              </a:extLst>
            </p:cNvPr>
            <p:cNvSpPr>
              <a:spLocks noGrp="1"/>
            </p:cNvSpPr>
            <p:nvPr/>
          </p:nvSpPr>
          <p:spPr>
            <a:xfrm>
              <a:off x="10542917" y="3200400"/>
              <a:ext cx="91559" cy="70009"/>
            </a:xfrm>
            <a:prstGeom prst="rect">
              <a:avLst/>
            </a:prstGeom>
            <a:solidFill>
              <a:srgbClr val="88BEC3"/>
            </a:solidFill>
            <a:ln w="7290">
              <a:noFill/>
            </a:ln>
          </p:spPr>
        </p:sp>
        <p:sp>
          <p:nvSpPr>
            <p:cNvPr id="1257" name="Find matrix 0-4">
              <a:extLst>
                <a:ext uri="{FF2B5EF4-FFF2-40B4-BE49-F238E27FC236}">
                  <a16:creationId xmlns:a16="http://schemas.microsoft.com/office/drawing/2014/main" id="{B445D6B3-6FC7-4615-5975-85730846D82F}"/>
                </a:ext>
              </a:extLst>
            </p:cNvPr>
            <p:cNvSpPr>
              <a:spLocks noGrp="1"/>
            </p:cNvSpPr>
            <p:nvPr/>
          </p:nvSpPr>
          <p:spPr>
            <a:xfrm>
              <a:off x="10638763" y="3200400"/>
              <a:ext cx="91559" cy="70009"/>
            </a:xfrm>
            <a:prstGeom prst="rect">
              <a:avLst/>
            </a:prstGeom>
            <a:solidFill>
              <a:srgbClr val="67AD9F"/>
            </a:solidFill>
            <a:ln w="7290">
              <a:noFill/>
            </a:ln>
          </p:spPr>
        </p:sp>
        <p:sp>
          <p:nvSpPr>
            <p:cNvPr id="1258" name="Find matrix 0-5">
              <a:extLst>
                <a:ext uri="{FF2B5EF4-FFF2-40B4-BE49-F238E27FC236}">
                  <a16:creationId xmlns:a16="http://schemas.microsoft.com/office/drawing/2014/main" id="{EDF77049-6933-CA1B-21BD-2D261FB460F5}"/>
                </a:ext>
              </a:extLst>
            </p:cNvPr>
            <p:cNvSpPr>
              <a:spLocks noGrp="1"/>
            </p:cNvSpPr>
            <p:nvPr/>
          </p:nvSpPr>
          <p:spPr>
            <a:xfrm>
              <a:off x="10734608" y="3200400"/>
              <a:ext cx="91559" cy="70009"/>
            </a:xfrm>
            <a:prstGeom prst="rect">
              <a:avLst/>
            </a:prstGeom>
            <a:solidFill>
              <a:srgbClr val="C4DDE0"/>
            </a:solidFill>
            <a:ln w="7290">
              <a:noFill/>
            </a:ln>
          </p:spPr>
        </p:sp>
        <p:sp>
          <p:nvSpPr>
            <p:cNvPr id="1259" name="Find matrix 0-6">
              <a:extLst>
                <a:ext uri="{FF2B5EF4-FFF2-40B4-BE49-F238E27FC236}">
                  <a16:creationId xmlns:a16="http://schemas.microsoft.com/office/drawing/2014/main" id="{F24780FB-09E3-AE39-557B-018C817CABA7}"/>
                </a:ext>
              </a:extLst>
            </p:cNvPr>
            <p:cNvSpPr>
              <a:spLocks noGrp="1"/>
            </p:cNvSpPr>
            <p:nvPr/>
          </p:nvSpPr>
          <p:spPr>
            <a:xfrm>
              <a:off x="10830453" y="3200400"/>
              <a:ext cx="91559" cy="70009"/>
            </a:xfrm>
            <a:prstGeom prst="rect">
              <a:avLst/>
            </a:prstGeom>
            <a:solidFill>
              <a:srgbClr val="B6D8CC"/>
            </a:solidFill>
            <a:ln w="7290">
              <a:noFill/>
            </a:ln>
          </p:spPr>
        </p:sp>
        <p:sp>
          <p:nvSpPr>
            <p:cNvPr id="1260" name="Find matrix 0-7">
              <a:extLst>
                <a:ext uri="{FF2B5EF4-FFF2-40B4-BE49-F238E27FC236}">
                  <a16:creationId xmlns:a16="http://schemas.microsoft.com/office/drawing/2014/main" id="{69791062-44B8-8426-AAD4-DD68B1FF31BA}"/>
                </a:ext>
              </a:extLst>
            </p:cNvPr>
            <p:cNvSpPr>
              <a:spLocks noGrp="1"/>
            </p:cNvSpPr>
            <p:nvPr/>
          </p:nvSpPr>
          <p:spPr>
            <a:xfrm>
              <a:off x="10926299" y="3200400"/>
              <a:ext cx="91559" cy="70009"/>
            </a:xfrm>
            <a:prstGeom prst="rect">
              <a:avLst/>
            </a:prstGeom>
            <a:solidFill>
              <a:srgbClr val="D6E5ED"/>
            </a:solidFill>
            <a:ln w="7290">
              <a:noFill/>
            </a:ln>
          </p:spPr>
        </p:sp>
        <p:sp>
          <p:nvSpPr>
            <p:cNvPr id="1261" name="Find matrix 1-0">
              <a:extLst>
                <a:ext uri="{FF2B5EF4-FFF2-40B4-BE49-F238E27FC236}">
                  <a16:creationId xmlns:a16="http://schemas.microsoft.com/office/drawing/2014/main" id="{DAD773D5-9108-C0B7-81D5-AC1CF98B49B0}"/>
                </a:ext>
              </a:extLst>
            </p:cNvPr>
            <p:cNvSpPr>
              <a:spLocks noGrp="1"/>
            </p:cNvSpPr>
            <p:nvPr/>
          </p:nvSpPr>
          <p:spPr>
            <a:xfrm>
              <a:off x="10255382" y="3274695"/>
              <a:ext cx="91559" cy="70009"/>
            </a:xfrm>
            <a:prstGeom prst="rect">
              <a:avLst/>
            </a:prstGeom>
            <a:solidFill>
              <a:srgbClr val="A3CDDA"/>
            </a:solidFill>
            <a:ln w="7290">
              <a:noFill/>
            </a:ln>
          </p:spPr>
        </p:sp>
        <p:sp>
          <p:nvSpPr>
            <p:cNvPr id="1262" name="Find matrix 1-1">
              <a:extLst>
                <a:ext uri="{FF2B5EF4-FFF2-40B4-BE49-F238E27FC236}">
                  <a16:creationId xmlns:a16="http://schemas.microsoft.com/office/drawing/2014/main" id="{FD6D65E0-3CD4-81C9-A7EC-EE4D1EA03DA1}"/>
                </a:ext>
              </a:extLst>
            </p:cNvPr>
            <p:cNvSpPr>
              <a:spLocks noGrp="1"/>
            </p:cNvSpPr>
            <p:nvPr/>
          </p:nvSpPr>
          <p:spPr>
            <a:xfrm>
              <a:off x="10351227" y="3274695"/>
              <a:ext cx="91559" cy="70009"/>
            </a:xfrm>
            <a:prstGeom prst="rect">
              <a:avLst/>
            </a:prstGeom>
            <a:solidFill>
              <a:srgbClr val="B6D8CC"/>
            </a:solidFill>
            <a:ln w="7290">
              <a:noFill/>
            </a:ln>
          </p:spPr>
        </p:sp>
        <p:sp>
          <p:nvSpPr>
            <p:cNvPr id="1263" name="Find matrix 1-2">
              <a:extLst>
                <a:ext uri="{FF2B5EF4-FFF2-40B4-BE49-F238E27FC236}">
                  <a16:creationId xmlns:a16="http://schemas.microsoft.com/office/drawing/2014/main" id="{C06E5EF8-D1B9-1DB5-4010-25CDECE16DF3}"/>
                </a:ext>
              </a:extLst>
            </p:cNvPr>
            <p:cNvSpPr>
              <a:spLocks noGrp="1"/>
            </p:cNvSpPr>
            <p:nvPr/>
          </p:nvSpPr>
          <p:spPr>
            <a:xfrm>
              <a:off x="10447072" y="3274695"/>
              <a:ext cx="91559" cy="70009"/>
            </a:xfrm>
            <a:prstGeom prst="rect">
              <a:avLst/>
            </a:prstGeom>
            <a:solidFill>
              <a:srgbClr val="88BEC3"/>
            </a:solidFill>
            <a:ln w="7290">
              <a:noFill/>
            </a:ln>
          </p:spPr>
        </p:sp>
        <p:sp>
          <p:nvSpPr>
            <p:cNvPr id="1264" name="Find matrix 1-3">
              <a:extLst>
                <a:ext uri="{FF2B5EF4-FFF2-40B4-BE49-F238E27FC236}">
                  <a16:creationId xmlns:a16="http://schemas.microsoft.com/office/drawing/2014/main" id="{9AD5706A-D366-481E-242D-C3727EE68292}"/>
                </a:ext>
              </a:extLst>
            </p:cNvPr>
            <p:cNvSpPr>
              <a:spLocks noGrp="1"/>
            </p:cNvSpPr>
            <p:nvPr/>
          </p:nvSpPr>
          <p:spPr>
            <a:xfrm>
              <a:off x="10542917" y="3274695"/>
              <a:ext cx="91559" cy="70009"/>
            </a:xfrm>
            <a:prstGeom prst="rect">
              <a:avLst/>
            </a:prstGeom>
            <a:solidFill>
              <a:srgbClr val="D6E5ED"/>
            </a:solidFill>
            <a:ln w="7290">
              <a:noFill/>
            </a:ln>
          </p:spPr>
        </p:sp>
        <p:sp>
          <p:nvSpPr>
            <p:cNvPr id="1265" name="Find matrix 1-4">
              <a:extLst>
                <a:ext uri="{FF2B5EF4-FFF2-40B4-BE49-F238E27FC236}">
                  <a16:creationId xmlns:a16="http://schemas.microsoft.com/office/drawing/2014/main" id="{6454B603-2435-1F3E-EFE1-9F3ED69FE183}"/>
                </a:ext>
              </a:extLst>
            </p:cNvPr>
            <p:cNvSpPr>
              <a:spLocks noGrp="1"/>
            </p:cNvSpPr>
            <p:nvPr/>
          </p:nvSpPr>
          <p:spPr>
            <a:xfrm>
              <a:off x="10638763" y="3274695"/>
              <a:ext cx="91559" cy="70009"/>
            </a:xfrm>
            <a:prstGeom prst="rect">
              <a:avLst/>
            </a:prstGeom>
            <a:solidFill>
              <a:srgbClr val="5B9FB6"/>
            </a:solidFill>
            <a:ln w="7290">
              <a:noFill/>
            </a:ln>
          </p:spPr>
        </p:sp>
        <p:sp>
          <p:nvSpPr>
            <p:cNvPr id="1266" name="Find matrix 1-5">
              <a:extLst>
                <a:ext uri="{FF2B5EF4-FFF2-40B4-BE49-F238E27FC236}">
                  <a16:creationId xmlns:a16="http://schemas.microsoft.com/office/drawing/2014/main" id="{BDC3058F-5BB6-EF0A-C0E4-8FFF478A86C2}"/>
                </a:ext>
              </a:extLst>
            </p:cNvPr>
            <p:cNvSpPr>
              <a:spLocks noGrp="1"/>
            </p:cNvSpPr>
            <p:nvPr/>
          </p:nvSpPr>
          <p:spPr>
            <a:xfrm>
              <a:off x="10734608" y="3274695"/>
              <a:ext cx="91559" cy="70009"/>
            </a:xfrm>
            <a:prstGeom prst="rect">
              <a:avLst/>
            </a:prstGeom>
            <a:solidFill>
              <a:srgbClr val="3E8F9A"/>
            </a:solidFill>
            <a:ln w="7290">
              <a:noFill/>
            </a:ln>
          </p:spPr>
        </p:sp>
        <p:sp>
          <p:nvSpPr>
            <p:cNvPr id="1267" name="Find matrix 1-6">
              <a:extLst>
                <a:ext uri="{FF2B5EF4-FFF2-40B4-BE49-F238E27FC236}">
                  <a16:creationId xmlns:a16="http://schemas.microsoft.com/office/drawing/2014/main" id="{7A6FD57F-2D4A-E860-6015-70841E18A307}"/>
                </a:ext>
              </a:extLst>
            </p:cNvPr>
            <p:cNvSpPr>
              <a:spLocks noGrp="1"/>
            </p:cNvSpPr>
            <p:nvPr/>
          </p:nvSpPr>
          <p:spPr>
            <a:xfrm>
              <a:off x="10830453" y="3274695"/>
              <a:ext cx="91559" cy="70009"/>
            </a:xfrm>
            <a:prstGeom prst="rect">
              <a:avLst/>
            </a:prstGeom>
            <a:solidFill>
              <a:srgbClr val="C4DDE0"/>
            </a:solidFill>
            <a:ln w="7290">
              <a:noFill/>
            </a:ln>
          </p:spPr>
        </p:sp>
        <p:sp>
          <p:nvSpPr>
            <p:cNvPr id="1268" name="Find matrix 1-7">
              <a:extLst>
                <a:ext uri="{FF2B5EF4-FFF2-40B4-BE49-F238E27FC236}">
                  <a16:creationId xmlns:a16="http://schemas.microsoft.com/office/drawing/2014/main" id="{289EF4F7-DDB6-5545-39F7-5D1B3F86D2D3}"/>
                </a:ext>
              </a:extLst>
            </p:cNvPr>
            <p:cNvSpPr>
              <a:spLocks noGrp="1"/>
            </p:cNvSpPr>
            <p:nvPr/>
          </p:nvSpPr>
          <p:spPr>
            <a:xfrm>
              <a:off x="10926299" y="3274695"/>
              <a:ext cx="91559" cy="70009"/>
            </a:xfrm>
            <a:prstGeom prst="rect">
              <a:avLst/>
            </a:prstGeom>
            <a:solidFill>
              <a:srgbClr val="67AD9F"/>
            </a:solidFill>
            <a:ln w="7290">
              <a:noFill/>
            </a:ln>
          </p:spPr>
        </p:sp>
        <p:sp>
          <p:nvSpPr>
            <p:cNvPr id="1269" name="Find matrix 2-0">
              <a:extLst>
                <a:ext uri="{FF2B5EF4-FFF2-40B4-BE49-F238E27FC236}">
                  <a16:creationId xmlns:a16="http://schemas.microsoft.com/office/drawing/2014/main" id="{B1282592-D5D6-9C68-2D42-3D2A0FA6458C}"/>
                </a:ext>
              </a:extLst>
            </p:cNvPr>
            <p:cNvSpPr>
              <a:spLocks noGrp="1"/>
            </p:cNvSpPr>
            <p:nvPr/>
          </p:nvSpPr>
          <p:spPr>
            <a:xfrm>
              <a:off x="10255382" y="3348990"/>
              <a:ext cx="91559" cy="70009"/>
            </a:xfrm>
            <a:prstGeom prst="rect">
              <a:avLst/>
            </a:prstGeom>
            <a:solidFill>
              <a:srgbClr val="67AD9F"/>
            </a:solidFill>
            <a:ln w="7290">
              <a:noFill/>
            </a:ln>
          </p:spPr>
        </p:sp>
        <p:sp>
          <p:nvSpPr>
            <p:cNvPr id="1270" name="Find matrix 2-1">
              <a:extLst>
                <a:ext uri="{FF2B5EF4-FFF2-40B4-BE49-F238E27FC236}">
                  <a16:creationId xmlns:a16="http://schemas.microsoft.com/office/drawing/2014/main" id="{390A8337-4744-F454-87FF-4E9BDE799C1D}"/>
                </a:ext>
              </a:extLst>
            </p:cNvPr>
            <p:cNvSpPr>
              <a:spLocks noGrp="1"/>
            </p:cNvSpPr>
            <p:nvPr/>
          </p:nvSpPr>
          <p:spPr>
            <a:xfrm>
              <a:off x="10351227" y="3348990"/>
              <a:ext cx="91559" cy="70009"/>
            </a:xfrm>
            <a:prstGeom prst="rect">
              <a:avLst/>
            </a:prstGeom>
            <a:solidFill>
              <a:srgbClr val="C4DDE0"/>
            </a:solidFill>
            <a:ln w="7290">
              <a:noFill/>
            </a:ln>
          </p:spPr>
        </p:sp>
        <p:sp>
          <p:nvSpPr>
            <p:cNvPr id="1271" name="Find matrix 2-2">
              <a:extLst>
                <a:ext uri="{FF2B5EF4-FFF2-40B4-BE49-F238E27FC236}">
                  <a16:creationId xmlns:a16="http://schemas.microsoft.com/office/drawing/2014/main" id="{F2F7291B-E14D-7E55-CC39-0366DDE36AB6}"/>
                </a:ext>
              </a:extLst>
            </p:cNvPr>
            <p:cNvSpPr>
              <a:spLocks noGrp="1"/>
            </p:cNvSpPr>
            <p:nvPr/>
          </p:nvSpPr>
          <p:spPr>
            <a:xfrm>
              <a:off x="10447072" y="3348990"/>
              <a:ext cx="91559" cy="70009"/>
            </a:xfrm>
            <a:prstGeom prst="rect">
              <a:avLst/>
            </a:prstGeom>
            <a:solidFill>
              <a:srgbClr val="5B9FB6"/>
            </a:solidFill>
            <a:ln w="7290">
              <a:noFill/>
            </a:ln>
          </p:spPr>
        </p:sp>
        <p:sp>
          <p:nvSpPr>
            <p:cNvPr id="1272" name="Find matrix 2-3">
              <a:extLst>
                <a:ext uri="{FF2B5EF4-FFF2-40B4-BE49-F238E27FC236}">
                  <a16:creationId xmlns:a16="http://schemas.microsoft.com/office/drawing/2014/main" id="{7DDB5DDB-AA90-B36F-ECCA-B3D87BDEF49C}"/>
                </a:ext>
              </a:extLst>
            </p:cNvPr>
            <p:cNvSpPr>
              <a:spLocks noGrp="1"/>
            </p:cNvSpPr>
            <p:nvPr/>
          </p:nvSpPr>
          <p:spPr>
            <a:xfrm>
              <a:off x="10542917" y="3348990"/>
              <a:ext cx="91559" cy="70009"/>
            </a:xfrm>
            <a:prstGeom prst="rect">
              <a:avLst/>
            </a:prstGeom>
            <a:solidFill>
              <a:srgbClr val="B6D8CC"/>
            </a:solidFill>
            <a:ln w="7290">
              <a:noFill/>
            </a:ln>
          </p:spPr>
        </p:sp>
        <p:sp>
          <p:nvSpPr>
            <p:cNvPr id="1273" name="Find matrix 2-4">
              <a:extLst>
                <a:ext uri="{FF2B5EF4-FFF2-40B4-BE49-F238E27FC236}">
                  <a16:creationId xmlns:a16="http://schemas.microsoft.com/office/drawing/2014/main" id="{FBF483EB-0895-E2F9-E946-2CE7B0273010}"/>
                </a:ext>
              </a:extLst>
            </p:cNvPr>
            <p:cNvSpPr>
              <a:spLocks noGrp="1"/>
            </p:cNvSpPr>
            <p:nvPr/>
          </p:nvSpPr>
          <p:spPr>
            <a:xfrm>
              <a:off x="10638763" y="3348990"/>
              <a:ext cx="91559" cy="70009"/>
            </a:xfrm>
            <a:prstGeom prst="rect">
              <a:avLst/>
            </a:prstGeom>
            <a:solidFill>
              <a:srgbClr val="3E8F9A"/>
            </a:solidFill>
            <a:ln w="7290">
              <a:noFill/>
            </a:ln>
          </p:spPr>
        </p:sp>
        <p:sp>
          <p:nvSpPr>
            <p:cNvPr id="1274" name="Find matrix 2-5">
              <a:extLst>
                <a:ext uri="{FF2B5EF4-FFF2-40B4-BE49-F238E27FC236}">
                  <a16:creationId xmlns:a16="http://schemas.microsoft.com/office/drawing/2014/main" id="{235264C0-29EF-D9B8-F0D1-9BEBBAD9D6E8}"/>
                </a:ext>
              </a:extLst>
            </p:cNvPr>
            <p:cNvSpPr>
              <a:spLocks noGrp="1"/>
            </p:cNvSpPr>
            <p:nvPr/>
          </p:nvSpPr>
          <p:spPr>
            <a:xfrm>
              <a:off x="10734608" y="3348990"/>
              <a:ext cx="91559" cy="70009"/>
            </a:xfrm>
            <a:prstGeom prst="rect">
              <a:avLst/>
            </a:prstGeom>
            <a:solidFill>
              <a:srgbClr val="D6E5ED"/>
            </a:solidFill>
            <a:ln w="7290">
              <a:noFill/>
            </a:ln>
          </p:spPr>
        </p:sp>
        <p:sp>
          <p:nvSpPr>
            <p:cNvPr id="1275" name="Find matrix 2-6">
              <a:extLst>
                <a:ext uri="{FF2B5EF4-FFF2-40B4-BE49-F238E27FC236}">
                  <a16:creationId xmlns:a16="http://schemas.microsoft.com/office/drawing/2014/main" id="{89BB4142-622C-474C-899B-E7C760EA5054}"/>
                </a:ext>
              </a:extLst>
            </p:cNvPr>
            <p:cNvSpPr>
              <a:spLocks noGrp="1"/>
            </p:cNvSpPr>
            <p:nvPr/>
          </p:nvSpPr>
          <p:spPr>
            <a:xfrm>
              <a:off x="10830453" y="3348990"/>
              <a:ext cx="91559" cy="70009"/>
            </a:xfrm>
            <a:prstGeom prst="rect">
              <a:avLst/>
            </a:prstGeom>
            <a:solidFill>
              <a:srgbClr val="88BEC3"/>
            </a:solidFill>
            <a:ln w="7290">
              <a:noFill/>
            </a:ln>
          </p:spPr>
        </p:sp>
        <p:sp>
          <p:nvSpPr>
            <p:cNvPr id="1276" name="Find matrix 2-7">
              <a:extLst>
                <a:ext uri="{FF2B5EF4-FFF2-40B4-BE49-F238E27FC236}">
                  <a16:creationId xmlns:a16="http://schemas.microsoft.com/office/drawing/2014/main" id="{6D2284D9-4AE6-02DD-AA99-C88ED825A8F4}"/>
                </a:ext>
              </a:extLst>
            </p:cNvPr>
            <p:cNvSpPr>
              <a:spLocks noGrp="1"/>
            </p:cNvSpPr>
            <p:nvPr/>
          </p:nvSpPr>
          <p:spPr>
            <a:xfrm>
              <a:off x="10926299" y="3348990"/>
              <a:ext cx="91559" cy="70009"/>
            </a:xfrm>
            <a:prstGeom prst="rect">
              <a:avLst/>
            </a:prstGeom>
            <a:solidFill>
              <a:srgbClr val="A3CDDA"/>
            </a:solidFill>
            <a:ln w="7290">
              <a:noFill/>
            </a:ln>
          </p:spPr>
        </p:sp>
        <p:sp>
          <p:nvSpPr>
            <p:cNvPr id="1277" name="Find matrix 3-0">
              <a:extLst>
                <a:ext uri="{FF2B5EF4-FFF2-40B4-BE49-F238E27FC236}">
                  <a16:creationId xmlns:a16="http://schemas.microsoft.com/office/drawing/2014/main" id="{A354350A-00E7-4344-FF84-5BBF2165CEDA}"/>
                </a:ext>
              </a:extLst>
            </p:cNvPr>
            <p:cNvSpPr>
              <a:spLocks noGrp="1"/>
            </p:cNvSpPr>
            <p:nvPr/>
          </p:nvSpPr>
          <p:spPr>
            <a:xfrm>
              <a:off x="10255382" y="3423285"/>
              <a:ext cx="91559" cy="70009"/>
            </a:xfrm>
            <a:prstGeom prst="rect">
              <a:avLst/>
            </a:prstGeom>
            <a:solidFill>
              <a:srgbClr val="88BEC3"/>
            </a:solidFill>
            <a:ln w="7290">
              <a:noFill/>
            </a:ln>
          </p:spPr>
        </p:sp>
        <p:sp>
          <p:nvSpPr>
            <p:cNvPr id="1278" name="Find matrix 3-1">
              <a:extLst>
                <a:ext uri="{FF2B5EF4-FFF2-40B4-BE49-F238E27FC236}">
                  <a16:creationId xmlns:a16="http://schemas.microsoft.com/office/drawing/2014/main" id="{E2EDFAC2-C5CD-2DF8-165C-4DBC9D98B449}"/>
                </a:ext>
              </a:extLst>
            </p:cNvPr>
            <p:cNvSpPr>
              <a:spLocks noGrp="1"/>
            </p:cNvSpPr>
            <p:nvPr/>
          </p:nvSpPr>
          <p:spPr>
            <a:xfrm>
              <a:off x="10351227" y="3423285"/>
              <a:ext cx="91559" cy="70009"/>
            </a:xfrm>
            <a:prstGeom prst="rect">
              <a:avLst/>
            </a:prstGeom>
            <a:solidFill>
              <a:srgbClr val="D6E5ED"/>
            </a:solidFill>
            <a:ln w="7290">
              <a:noFill/>
            </a:ln>
          </p:spPr>
        </p:sp>
        <p:sp>
          <p:nvSpPr>
            <p:cNvPr id="1279" name="Find matrix 3-2">
              <a:extLst>
                <a:ext uri="{FF2B5EF4-FFF2-40B4-BE49-F238E27FC236}">
                  <a16:creationId xmlns:a16="http://schemas.microsoft.com/office/drawing/2014/main" id="{4D088869-EB59-E1B3-59B4-C3C92C8170BA}"/>
                </a:ext>
              </a:extLst>
            </p:cNvPr>
            <p:cNvSpPr>
              <a:spLocks noGrp="1"/>
            </p:cNvSpPr>
            <p:nvPr/>
          </p:nvSpPr>
          <p:spPr>
            <a:xfrm>
              <a:off x="10447072" y="3423285"/>
              <a:ext cx="91559" cy="70009"/>
            </a:xfrm>
            <a:prstGeom prst="rect">
              <a:avLst/>
            </a:prstGeom>
            <a:solidFill>
              <a:srgbClr val="67AD9F"/>
            </a:solidFill>
            <a:ln w="7290">
              <a:noFill/>
            </a:ln>
          </p:spPr>
        </p:sp>
        <p:sp>
          <p:nvSpPr>
            <p:cNvPr id="1280" name="Find matrix 3-3">
              <a:extLst>
                <a:ext uri="{FF2B5EF4-FFF2-40B4-BE49-F238E27FC236}">
                  <a16:creationId xmlns:a16="http://schemas.microsoft.com/office/drawing/2014/main" id="{119CBCB9-6860-7DCC-AF73-C422647EEF23}"/>
                </a:ext>
              </a:extLst>
            </p:cNvPr>
            <p:cNvSpPr>
              <a:spLocks noGrp="1"/>
            </p:cNvSpPr>
            <p:nvPr/>
          </p:nvSpPr>
          <p:spPr>
            <a:xfrm>
              <a:off x="10542917" y="3423285"/>
              <a:ext cx="91559" cy="70009"/>
            </a:xfrm>
            <a:prstGeom prst="rect">
              <a:avLst/>
            </a:prstGeom>
            <a:solidFill>
              <a:srgbClr val="3E8F9A"/>
            </a:solidFill>
            <a:ln w="7290">
              <a:noFill/>
            </a:ln>
          </p:spPr>
        </p:sp>
        <p:sp>
          <p:nvSpPr>
            <p:cNvPr id="1281" name="Find matrix 3-4">
              <a:extLst>
                <a:ext uri="{FF2B5EF4-FFF2-40B4-BE49-F238E27FC236}">
                  <a16:creationId xmlns:a16="http://schemas.microsoft.com/office/drawing/2014/main" id="{F0ED964A-EDEB-7D43-69F8-BEFE576D1277}"/>
                </a:ext>
              </a:extLst>
            </p:cNvPr>
            <p:cNvSpPr>
              <a:spLocks noGrp="1"/>
            </p:cNvSpPr>
            <p:nvPr/>
          </p:nvSpPr>
          <p:spPr>
            <a:xfrm>
              <a:off x="10638763" y="3423285"/>
              <a:ext cx="91559" cy="70009"/>
            </a:xfrm>
            <a:prstGeom prst="rect">
              <a:avLst/>
            </a:prstGeom>
            <a:solidFill>
              <a:srgbClr val="C4DDE0"/>
            </a:solidFill>
            <a:ln w="7290">
              <a:noFill/>
            </a:ln>
          </p:spPr>
        </p:sp>
        <p:sp>
          <p:nvSpPr>
            <p:cNvPr id="1282" name="Find matrix 3-5">
              <a:extLst>
                <a:ext uri="{FF2B5EF4-FFF2-40B4-BE49-F238E27FC236}">
                  <a16:creationId xmlns:a16="http://schemas.microsoft.com/office/drawing/2014/main" id="{A0A2A64A-E67D-3395-0409-F2703179F7EC}"/>
                </a:ext>
              </a:extLst>
            </p:cNvPr>
            <p:cNvSpPr>
              <a:spLocks noGrp="1"/>
            </p:cNvSpPr>
            <p:nvPr/>
          </p:nvSpPr>
          <p:spPr>
            <a:xfrm>
              <a:off x="10734608" y="3423285"/>
              <a:ext cx="91559" cy="70009"/>
            </a:xfrm>
            <a:prstGeom prst="rect">
              <a:avLst/>
            </a:prstGeom>
            <a:solidFill>
              <a:srgbClr val="A3CDDA"/>
            </a:solidFill>
            <a:ln w="7290">
              <a:noFill/>
            </a:ln>
          </p:spPr>
        </p:sp>
        <p:sp>
          <p:nvSpPr>
            <p:cNvPr id="1283" name="Find matrix 3-6">
              <a:extLst>
                <a:ext uri="{FF2B5EF4-FFF2-40B4-BE49-F238E27FC236}">
                  <a16:creationId xmlns:a16="http://schemas.microsoft.com/office/drawing/2014/main" id="{EA7CE8E7-C1AC-E261-A970-8EC80886D558}"/>
                </a:ext>
              </a:extLst>
            </p:cNvPr>
            <p:cNvSpPr>
              <a:spLocks noGrp="1"/>
            </p:cNvSpPr>
            <p:nvPr/>
          </p:nvSpPr>
          <p:spPr>
            <a:xfrm>
              <a:off x="10830453" y="3423285"/>
              <a:ext cx="91559" cy="70009"/>
            </a:xfrm>
            <a:prstGeom prst="rect">
              <a:avLst/>
            </a:prstGeom>
            <a:solidFill>
              <a:srgbClr val="B6D8CC"/>
            </a:solidFill>
            <a:ln w="7290">
              <a:noFill/>
            </a:ln>
          </p:spPr>
        </p:sp>
        <p:sp>
          <p:nvSpPr>
            <p:cNvPr id="1284" name="Find matrix 3-7">
              <a:extLst>
                <a:ext uri="{FF2B5EF4-FFF2-40B4-BE49-F238E27FC236}">
                  <a16:creationId xmlns:a16="http://schemas.microsoft.com/office/drawing/2014/main" id="{3CC5802F-96A8-F327-8DCD-5C642BB94DCE}"/>
                </a:ext>
              </a:extLst>
            </p:cNvPr>
            <p:cNvSpPr>
              <a:spLocks noGrp="1"/>
            </p:cNvSpPr>
            <p:nvPr/>
          </p:nvSpPr>
          <p:spPr>
            <a:xfrm>
              <a:off x="10926299" y="3423285"/>
              <a:ext cx="91559" cy="70009"/>
            </a:xfrm>
            <a:prstGeom prst="rect">
              <a:avLst/>
            </a:prstGeom>
            <a:solidFill>
              <a:srgbClr val="5B9FB6"/>
            </a:solidFill>
            <a:ln w="7290">
              <a:noFill/>
            </a:ln>
          </p:spPr>
        </p:sp>
        <p:sp>
          <p:nvSpPr>
            <p:cNvPr id="1285" name="Match matrix 0-0">
              <a:extLst>
                <a:ext uri="{FF2B5EF4-FFF2-40B4-BE49-F238E27FC236}">
                  <a16:creationId xmlns:a16="http://schemas.microsoft.com/office/drawing/2014/main" id="{1E148E3C-F1D3-F47F-36C6-42E1C579FB78}"/>
                </a:ext>
              </a:extLst>
            </p:cNvPr>
            <p:cNvSpPr>
              <a:spLocks noGrp="1"/>
            </p:cNvSpPr>
            <p:nvPr/>
          </p:nvSpPr>
          <p:spPr>
            <a:xfrm>
              <a:off x="3633156" y="7252039"/>
              <a:ext cx="88583" cy="70009"/>
            </a:xfrm>
            <a:prstGeom prst="rect">
              <a:avLst/>
            </a:prstGeom>
            <a:solidFill>
              <a:srgbClr val="3E8F9A"/>
            </a:solidFill>
            <a:ln w="7290">
              <a:noFill/>
            </a:ln>
          </p:spPr>
        </p:sp>
        <p:sp>
          <p:nvSpPr>
            <p:cNvPr id="1286" name="Match matrix 0-1">
              <a:extLst>
                <a:ext uri="{FF2B5EF4-FFF2-40B4-BE49-F238E27FC236}">
                  <a16:creationId xmlns:a16="http://schemas.microsoft.com/office/drawing/2014/main" id="{6CE95E95-35B4-AAA3-E629-B7804854BFD1}"/>
                </a:ext>
              </a:extLst>
            </p:cNvPr>
            <p:cNvSpPr>
              <a:spLocks noGrp="1"/>
            </p:cNvSpPr>
            <p:nvPr/>
          </p:nvSpPr>
          <p:spPr>
            <a:xfrm>
              <a:off x="3726025" y="7252039"/>
              <a:ext cx="88583" cy="70009"/>
            </a:xfrm>
            <a:prstGeom prst="rect">
              <a:avLst/>
            </a:prstGeom>
            <a:solidFill>
              <a:srgbClr val="5B9FB6"/>
            </a:solidFill>
            <a:ln w="7290">
              <a:noFill/>
            </a:ln>
          </p:spPr>
        </p:sp>
        <p:sp>
          <p:nvSpPr>
            <p:cNvPr id="1287" name="Match matrix 0-2">
              <a:extLst>
                <a:ext uri="{FF2B5EF4-FFF2-40B4-BE49-F238E27FC236}">
                  <a16:creationId xmlns:a16="http://schemas.microsoft.com/office/drawing/2014/main" id="{7AA444A0-2B6A-4C23-EFFA-BB0D0814FEA4}"/>
                </a:ext>
              </a:extLst>
            </p:cNvPr>
            <p:cNvSpPr>
              <a:spLocks noGrp="1"/>
            </p:cNvSpPr>
            <p:nvPr/>
          </p:nvSpPr>
          <p:spPr>
            <a:xfrm>
              <a:off x="3818894" y="7252039"/>
              <a:ext cx="88583" cy="70009"/>
            </a:xfrm>
            <a:prstGeom prst="rect">
              <a:avLst/>
            </a:prstGeom>
            <a:solidFill>
              <a:srgbClr val="A3CDDA"/>
            </a:solidFill>
            <a:ln w="7290">
              <a:noFill/>
            </a:ln>
          </p:spPr>
        </p:sp>
        <p:sp>
          <p:nvSpPr>
            <p:cNvPr id="1288" name="Match matrix 0-3">
              <a:extLst>
                <a:ext uri="{FF2B5EF4-FFF2-40B4-BE49-F238E27FC236}">
                  <a16:creationId xmlns:a16="http://schemas.microsoft.com/office/drawing/2014/main" id="{FA614244-906C-CFFC-1294-6D233D01CB35}"/>
                </a:ext>
              </a:extLst>
            </p:cNvPr>
            <p:cNvSpPr>
              <a:spLocks noGrp="1"/>
            </p:cNvSpPr>
            <p:nvPr/>
          </p:nvSpPr>
          <p:spPr>
            <a:xfrm>
              <a:off x="3911762" y="7252039"/>
              <a:ext cx="88583" cy="70009"/>
            </a:xfrm>
            <a:prstGeom prst="rect">
              <a:avLst/>
            </a:prstGeom>
            <a:solidFill>
              <a:srgbClr val="88BEC3"/>
            </a:solidFill>
            <a:ln w="7290">
              <a:noFill/>
            </a:ln>
          </p:spPr>
        </p:sp>
        <p:sp>
          <p:nvSpPr>
            <p:cNvPr id="1289" name="Match matrix 0-4">
              <a:extLst>
                <a:ext uri="{FF2B5EF4-FFF2-40B4-BE49-F238E27FC236}">
                  <a16:creationId xmlns:a16="http://schemas.microsoft.com/office/drawing/2014/main" id="{EE4A1296-1DD3-454F-610D-2BDEB1D0EFA9}"/>
                </a:ext>
              </a:extLst>
            </p:cNvPr>
            <p:cNvSpPr>
              <a:spLocks noGrp="1"/>
            </p:cNvSpPr>
            <p:nvPr/>
          </p:nvSpPr>
          <p:spPr>
            <a:xfrm>
              <a:off x="4004631" y="7252039"/>
              <a:ext cx="88583" cy="70009"/>
            </a:xfrm>
            <a:prstGeom prst="rect">
              <a:avLst/>
            </a:prstGeom>
            <a:solidFill>
              <a:srgbClr val="67AD9F"/>
            </a:solidFill>
            <a:ln w="7290">
              <a:noFill/>
            </a:ln>
          </p:spPr>
        </p:sp>
        <p:sp>
          <p:nvSpPr>
            <p:cNvPr id="1290" name="Match matrix 0-5">
              <a:extLst>
                <a:ext uri="{FF2B5EF4-FFF2-40B4-BE49-F238E27FC236}">
                  <a16:creationId xmlns:a16="http://schemas.microsoft.com/office/drawing/2014/main" id="{A27DCA6A-D9A0-89D2-300F-145A0353541B}"/>
                </a:ext>
              </a:extLst>
            </p:cNvPr>
            <p:cNvSpPr>
              <a:spLocks noGrp="1"/>
            </p:cNvSpPr>
            <p:nvPr/>
          </p:nvSpPr>
          <p:spPr>
            <a:xfrm>
              <a:off x="4097500" y="7252039"/>
              <a:ext cx="88583" cy="70009"/>
            </a:xfrm>
            <a:prstGeom prst="rect">
              <a:avLst/>
            </a:prstGeom>
            <a:solidFill>
              <a:srgbClr val="C4DDE0"/>
            </a:solidFill>
            <a:ln w="7290">
              <a:noFill/>
            </a:ln>
          </p:spPr>
        </p:sp>
        <p:sp>
          <p:nvSpPr>
            <p:cNvPr id="1291" name="Match matrix 0-6">
              <a:extLst>
                <a:ext uri="{FF2B5EF4-FFF2-40B4-BE49-F238E27FC236}">
                  <a16:creationId xmlns:a16="http://schemas.microsoft.com/office/drawing/2014/main" id="{110481AC-0BB3-A98A-15F4-6DA00B6462E6}"/>
                </a:ext>
              </a:extLst>
            </p:cNvPr>
            <p:cNvSpPr>
              <a:spLocks noGrp="1"/>
            </p:cNvSpPr>
            <p:nvPr/>
          </p:nvSpPr>
          <p:spPr>
            <a:xfrm>
              <a:off x="4190369" y="7252039"/>
              <a:ext cx="88583" cy="70009"/>
            </a:xfrm>
            <a:prstGeom prst="rect">
              <a:avLst/>
            </a:prstGeom>
            <a:solidFill>
              <a:srgbClr val="B6D8CC"/>
            </a:solidFill>
            <a:ln w="7290">
              <a:noFill/>
            </a:ln>
          </p:spPr>
        </p:sp>
        <p:sp>
          <p:nvSpPr>
            <p:cNvPr id="1292" name="Match matrix 0-7">
              <a:extLst>
                <a:ext uri="{FF2B5EF4-FFF2-40B4-BE49-F238E27FC236}">
                  <a16:creationId xmlns:a16="http://schemas.microsoft.com/office/drawing/2014/main" id="{CA0FE5FF-20F8-A515-1575-D2B579C6A384}"/>
                </a:ext>
              </a:extLst>
            </p:cNvPr>
            <p:cNvSpPr>
              <a:spLocks noGrp="1"/>
            </p:cNvSpPr>
            <p:nvPr/>
          </p:nvSpPr>
          <p:spPr>
            <a:xfrm>
              <a:off x="4283237" y="7252039"/>
              <a:ext cx="88583" cy="70009"/>
            </a:xfrm>
            <a:prstGeom prst="rect">
              <a:avLst/>
            </a:prstGeom>
            <a:solidFill>
              <a:srgbClr val="D6E5ED"/>
            </a:solidFill>
            <a:ln w="7290">
              <a:noFill/>
            </a:ln>
          </p:spPr>
        </p:sp>
        <p:sp>
          <p:nvSpPr>
            <p:cNvPr id="1293" name="Match matrix 1-0">
              <a:extLst>
                <a:ext uri="{FF2B5EF4-FFF2-40B4-BE49-F238E27FC236}">
                  <a16:creationId xmlns:a16="http://schemas.microsoft.com/office/drawing/2014/main" id="{62DD97DC-E1EF-3AC8-77C6-31E750CF1688}"/>
                </a:ext>
              </a:extLst>
            </p:cNvPr>
            <p:cNvSpPr>
              <a:spLocks noGrp="1"/>
            </p:cNvSpPr>
            <p:nvPr/>
          </p:nvSpPr>
          <p:spPr>
            <a:xfrm>
              <a:off x="3633156" y="7326334"/>
              <a:ext cx="88583" cy="70009"/>
            </a:xfrm>
            <a:prstGeom prst="rect">
              <a:avLst/>
            </a:prstGeom>
            <a:solidFill>
              <a:srgbClr val="A3CDDA"/>
            </a:solidFill>
            <a:ln w="7290">
              <a:noFill/>
            </a:ln>
          </p:spPr>
        </p:sp>
        <p:sp>
          <p:nvSpPr>
            <p:cNvPr id="1294" name="Match matrix 1-1">
              <a:extLst>
                <a:ext uri="{FF2B5EF4-FFF2-40B4-BE49-F238E27FC236}">
                  <a16:creationId xmlns:a16="http://schemas.microsoft.com/office/drawing/2014/main" id="{B545DCC8-F9BD-6322-3BD3-A195D0A92FFB}"/>
                </a:ext>
              </a:extLst>
            </p:cNvPr>
            <p:cNvSpPr>
              <a:spLocks noGrp="1"/>
            </p:cNvSpPr>
            <p:nvPr/>
          </p:nvSpPr>
          <p:spPr>
            <a:xfrm>
              <a:off x="3726025" y="7326334"/>
              <a:ext cx="88583" cy="70009"/>
            </a:xfrm>
            <a:prstGeom prst="rect">
              <a:avLst/>
            </a:prstGeom>
            <a:solidFill>
              <a:srgbClr val="B6D8CC"/>
            </a:solidFill>
            <a:ln w="7290">
              <a:noFill/>
            </a:ln>
          </p:spPr>
        </p:sp>
        <p:sp>
          <p:nvSpPr>
            <p:cNvPr id="1295" name="Match matrix 1-2">
              <a:extLst>
                <a:ext uri="{FF2B5EF4-FFF2-40B4-BE49-F238E27FC236}">
                  <a16:creationId xmlns:a16="http://schemas.microsoft.com/office/drawing/2014/main" id="{CA362456-65E1-995A-0618-99CCC4184C18}"/>
                </a:ext>
              </a:extLst>
            </p:cNvPr>
            <p:cNvSpPr>
              <a:spLocks noGrp="1"/>
            </p:cNvSpPr>
            <p:nvPr/>
          </p:nvSpPr>
          <p:spPr>
            <a:xfrm>
              <a:off x="3818894" y="7326334"/>
              <a:ext cx="88583" cy="70009"/>
            </a:xfrm>
            <a:prstGeom prst="rect">
              <a:avLst/>
            </a:prstGeom>
            <a:solidFill>
              <a:srgbClr val="88BEC3"/>
            </a:solidFill>
            <a:ln w="7290">
              <a:noFill/>
            </a:ln>
          </p:spPr>
        </p:sp>
        <p:sp>
          <p:nvSpPr>
            <p:cNvPr id="1296" name="Match matrix 1-3">
              <a:extLst>
                <a:ext uri="{FF2B5EF4-FFF2-40B4-BE49-F238E27FC236}">
                  <a16:creationId xmlns:a16="http://schemas.microsoft.com/office/drawing/2014/main" id="{A2C35F9E-7361-3F63-4B0D-A98BA11C6FD6}"/>
                </a:ext>
              </a:extLst>
            </p:cNvPr>
            <p:cNvSpPr>
              <a:spLocks noGrp="1"/>
            </p:cNvSpPr>
            <p:nvPr/>
          </p:nvSpPr>
          <p:spPr>
            <a:xfrm>
              <a:off x="3911762" y="7326334"/>
              <a:ext cx="88583" cy="70009"/>
            </a:xfrm>
            <a:prstGeom prst="rect">
              <a:avLst/>
            </a:prstGeom>
            <a:solidFill>
              <a:srgbClr val="D6E5ED"/>
            </a:solidFill>
            <a:ln w="7290">
              <a:noFill/>
            </a:ln>
          </p:spPr>
        </p:sp>
        <p:sp>
          <p:nvSpPr>
            <p:cNvPr id="1297" name="Match matrix 1-4">
              <a:extLst>
                <a:ext uri="{FF2B5EF4-FFF2-40B4-BE49-F238E27FC236}">
                  <a16:creationId xmlns:a16="http://schemas.microsoft.com/office/drawing/2014/main" id="{FAAA67D0-1522-17CF-8376-8D76753F582D}"/>
                </a:ext>
              </a:extLst>
            </p:cNvPr>
            <p:cNvSpPr>
              <a:spLocks noGrp="1"/>
            </p:cNvSpPr>
            <p:nvPr/>
          </p:nvSpPr>
          <p:spPr>
            <a:xfrm>
              <a:off x="4004631" y="7326334"/>
              <a:ext cx="88583" cy="70009"/>
            </a:xfrm>
            <a:prstGeom prst="rect">
              <a:avLst/>
            </a:prstGeom>
            <a:solidFill>
              <a:srgbClr val="5B9FB6"/>
            </a:solidFill>
            <a:ln w="7290">
              <a:noFill/>
            </a:ln>
          </p:spPr>
        </p:sp>
        <p:sp>
          <p:nvSpPr>
            <p:cNvPr id="1298" name="Match matrix 1-5">
              <a:extLst>
                <a:ext uri="{FF2B5EF4-FFF2-40B4-BE49-F238E27FC236}">
                  <a16:creationId xmlns:a16="http://schemas.microsoft.com/office/drawing/2014/main" id="{8EFA4585-A006-C810-377D-DBA6C87576CE}"/>
                </a:ext>
              </a:extLst>
            </p:cNvPr>
            <p:cNvSpPr>
              <a:spLocks noGrp="1"/>
            </p:cNvSpPr>
            <p:nvPr/>
          </p:nvSpPr>
          <p:spPr>
            <a:xfrm>
              <a:off x="4097500" y="7326334"/>
              <a:ext cx="88583" cy="70009"/>
            </a:xfrm>
            <a:prstGeom prst="rect">
              <a:avLst/>
            </a:prstGeom>
            <a:solidFill>
              <a:srgbClr val="3E8F9A"/>
            </a:solidFill>
            <a:ln w="7290">
              <a:noFill/>
            </a:ln>
          </p:spPr>
        </p:sp>
        <p:sp>
          <p:nvSpPr>
            <p:cNvPr id="1299" name="Match matrix 1-6">
              <a:extLst>
                <a:ext uri="{FF2B5EF4-FFF2-40B4-BE49-F238E27FC236}">
                  <a16:creationId xmlns:a16="http://schemas.microsoft.com/office/drawing/2014/main" id="{64D11889-0CF0-CA9A-1917-2BF4C8C70236}"/>
                </a:ext>
              </a:extLst>
            </p:cNvPr>
            <p:cNvSpPr>
              <a:spLocks noGrp="1"/>
            </p:cNvSpPr>
            <p:nvPr/>
          </p:nvSpPr>
          <p:spPr>
            <a:xfrm>
              <a:off x="4190369" y="7326334"/>
              <a:ext cx="88583" cy="70009"/>
            </a:xfrm>
            <a:prstGeom prst="rect">
              <a:avLst/>
            </a:prstGeom>
            <a:solidFill>
              <a:srgbClr val="C4DDE0"/>
            </a:solidFill>
            <a:ln w="7290">
              <a:noFill/>
            </a:ln>
          </p:spPr>
        </p:sp>
        <p:sp>
          <p:nvSpPr>
            <p:cNvPr id="1300" name="Match matrix 1-7">
              <a:extLst>
                <a:ext uri="{FF2B5EF4-FFF2-40B4-BE49-F238E27FC236}">
                  <a16:creationId xmlns:a16="http://schemas.microsoft.com/office/drawing/2014/main" id="{188B5773-F5C9-7D4C-8152-FA7D9B627789}"/>
                </a:ext>
              </a:extLst>
            </p:cNvPr>
            <p:cNvSpPr>
              <a:spLocks noGrp="1"/>
            </p:cNvSpPr>
            <p:nvPr/>
          </p:nvSpPr>
          <p:spPr>
            <a:xfrm>
              <a:off x="4283237" y="7326334"/>
              <a:ext cx="88583" cy="70009"/>
            </a:xfrm>
            <a:prstGeom prst="rect">
              <a:avLst/>
            </a:prstGeom>
            <a:solidFill>
              <a:srgbClr val="67AD9F"/>
            </a:solidFill>
            <a:ln w="7290">
              <a:noFill/>
            </a:ln>
          </p:spPr>
        </p:sp>
        <p:sp>
          <p:nvSpPr>
            <p:cNvPr id="1301" name="Match matrix 2-0">
              <a:extLst>
                <a:ext uri="{FF2B5EF4-FFF2-40B4-BE49-F238E27FC236}">
                  <a16:creationId xmlns:a16="http://schemas.microsoft.com/office/drawing/2014/main" id="{BBF02AFB-8489-0057-17C0-1186E4D7244F}"/>
                </a:ext>
              </a:extLst>
            </p:cNvPr>
            <p:cNvSpPr>
              <a:spLocks noGrp="1"/>
            </p:cNvSpPr>
            <p:nvPr/>
          </p:nvSpPr>
          <p:spPr>
            <a:xfrm>
              <a:off x="3633156" y="7400629"/>
              <a:ext cx="88583" cy="70009"/>
            </a:xfrm>
            <a:prstGeom prst="rect">
              <a:avLst/>
            </a:prstGeom>
            <a:solidFill>
              <a:srgbClr val="67AD9F"/>
            </a:solidFill>
            <a:ln w="7290">
              <a:noFill/>
            </a:ln>
          </p:spPr>
        </p:sp>
        <p:sp>
          <p:nvSpPr>
            <p:cNvPr id="1302" name="Match matrix 2-1">
              <a:extLst>
                <a:ext uri="{FF2B5EF4-FFF2-40B4-BE49-F238E27FC236}">
                  <a16:creationId xmlns:a16="http://schemas.microsoft.com/office/drawing/2014/main" id="{4D1F1E41-46E5-997B-A9A2-D4A7E86A821C}"/>
                </a:ext>
              </a:extLst>
            </p:cNvPr>
            <p:cNvSpPr>
              <a:spLocks noGrp="1"/>
            </p:cNvSpPr>
            <p:nvPr/>
          </p:nvSpPr>
          <p:spPr>
            <a:xfrm>
              <a:off x="3726025" y="7400629"/>
              <a:ext cx="88583" cy="70009"/>
            </a:xfrm>
            <a:prstGeom prst="rect">
              <a:avLst/>
            </a:prstGeom>
            <a:solidFill>
              <a:srgbClr val="C4DDE0"/>
            </a:solidFill>
            <a:ln w="7290">
              <a:noFill/>
            </a:ln>
          </p:spPr>
        </p:sp>
        <p:sp>
          <p:nvSpPr>
            <p:cNvPr id="1303" name="Match matrix 2-2">
              <a:extLst>
                <a:ext uri="{FF2B5EF4-FFF2-40B4-BE49-F238E27FC236}">
                  <a16:creationId xmlns:a16="http://schemas.microsoft.com/office/drawing/2014/main" id="{BDC0B5DB-1FDB-9192-A8A8-9F9E9FC2CF48}"/>
                </a:ext>
              </a:extLst>
            </p:cNvPr>
            <p:cNvSpPr>
              <a:spLocks noGrp="1"/>
            </p:cNvSpPr>
            <p:nvPr/>
          </p:nvSpPr>
          <p:spPr>
            <a:xfrm>
              <a:off x="3818894" y="7400629"/>
              <a:ext cx="88583" cy="70009"/>
            </a:xfrm>
            <a:prstGeom prst="rect">
              <a:avLst/>
            </a:prstGeom>
            <a:solidFill>
              <a:srgbClr val="5B9FB6"/>
            </a:solidFill>
            <a:ln w="7290">
              <a:noFill/>
            </a:ln>
          </p:spPr>
        </p:sp>
        <p:sp>
          <p:nvSpPr>
            <p:cNvPr id="1304" name="Match matrix 2-3">
              <a:extLst>
                <a:ext uri="{FF2B5EF4-FFF2-40B4-BE49-F238E27FC236}">
                  <a16:creationId xmlns:a16="http://schemas.microsoft.com/office/drawing/2014/main" id="{9C663294-FCA2-F8DE-2AEC-EEF54C48921A}"/>
                </a:ext>
              </a:extLst>
            </p:cNvPr>
            <p:cNvSpPr>
              <a:spLocks noGrp="1"/>
            </p:cNvSpPr>
            <p:nvPr/>
          </p:nvSpPr>
          <p:spPr>
            <a:xfrm>
              <a:off x="3911762" y="7400629"/>
              <a:ext cx="88583" cy="70009"/>
            </a:xfrm>
            <a:prstGeom prst="rect">
              <a:avLst/>
            </a:prstGeom>
            <a:solidFill>
              <a:srgbClr val="B6D8CC"/>
            </a:solidFill>
            <a:ln w="7290">
              <a:noFill/>
            </a:ln>
          </p:spPr>
        </p:sp>
        <p:sp>
          <p:nvSpPr>
            <p:cNvPr id="1305" name="Match matrix 2-4">
              <a:extLst>
                <a:ext uri="{FF2B5EF4-FFF2-40B4-BE49-F238E27FC236}">
                  <a16:creationId xmlns:a16="http://schemas.microsoft.com/office/drawing/2014/main" id="{28E76182-0A60-4A72-9586-C12459BE0B58}"/>
                </a:ext>
              </a:extLst>
            </p:cNvPr>
            <p:cNvSpPr>
              <a:spLocks noGrp="1"/>
            </p:cNvSpPr>
            <p:nvPr/>
          </p:nvSpPr>
          <p:spPr>
            <a:xfrm>
              <a:off x="4004631" y="7400629"/>
              <a:ext cx="88583" cy="70009"/>
            </a:xfrm>
            <a:prstGeom prst="rect">
              <a:avLst/>
            </a:prstGeom>
            <a:solidFill>
              <a:srgbClr val="3E8F9A"/>
            </a:solidFill>
            <a:ln w="7290">
              <a:noFill/>
            </a:ln>
          </p:spPr>
        </p:sp>
        <p:sp>
          <p:nvSpPr>
            <p:cNvPr id="1306" name="Match matrix 2-5">
              <a:extLst>
                <a:ext uri="{FF2B5EF4-FFF2-40B4-BE49-F238E27FC236}">
                  <a16:creationId xmlns:a16="http://schemas.microsoft.com/office/drawing/2014/main" id="{29FC68A5-EB54-9596-85EC-EDC1175B056F}"/>
                </a:ext>
              </a:extLst>
            </p:cNvPr>
            <p:cNvSpPr>
              <a:spLocks noGrp="1"/>
            </p:cNvSpPr>
            <p:nvPr/>
          </p:nvSpPr>
          <p:spPr>
            <a:xfrm>
              <a:off x="4097500" y="7400629"/>
              <a:ext cx="88583" cy="70009"/>
            </a:xfrm>
            <a:prstGeom prst="rect">
              <a:avLst/>
            </a:prstGeom>
            <a:solidFill>
              <a:srgbClr val="D6E5ED"/>
            </a:solidFill>
            <a:ln w="7290">
              <a:noFill/>
            </a:ln>
          </p:spPr>
        </p:sp>
        <p:sp>
          <p:nvSpPr>
            <p:cNvPr id="1307" name="Match matrix 2-6">
              <a:extLst>
                <a:ext uri="{FF2B5EF4-FFF2-40B4-BE49-F238E27FC236}">
                  <a16:creationId xmlns:a16="http://schemas.microsoft.com/office/drawing/2014/main" id="{59C9C8C5-D90A-7A02-93D3-957FE3AE7DC3}"/>
                </a:ext>
              </a:extLst>
            </p:cNvPr>
            <p:cNvSpPr>
              <a:spLocks noGrp="1"/>
            </p:cNvSpPr>
            <p:nvPr/>
          </p:nvSpPr>
          <p:spPr>
            <a:xfrm>
              <a:off x="4190369" y="7400629"/>
              <a:ext cx="88583" cy="70009"/>
            </a:xfrm>
            <a:prstGeom prst="rect">
              <a:avLst/>
            </a:prstGeom>
            <a:solidFill>
              <a:srgbClr val="88BEC3"/>
            </a:solidFill>
            <a:ln w="7290">
              <a:noFill/>
            </a:ln>
          </p:spPr>
        </p:sp>
        <p:sp>
          <p:nvSpPr>
            <p:cNvPr id="1308" name="Match matrix 2-7">
              <a:extLst>
                <a:ext uri="{FF2B5EF4-FFF2-40B4-BE49-F238E27FC236}">
                  <a16:creationId xmlns:a16="http://schemas.microsoft.com/office/drawing/2014/main" id="{83DFB888-0521-0863-270C-DBAF169C149A}"/>
                </a:ext>
              </a:extLst>
            </p:cNvPr>
            <p:cNvSpPr>
              <a:spLocks noGrp="1"/>
            </p:cNvSpPr>
            <p:nvPr/>
          </p:nvSpPr>
          <p:spPr>
            <a:xfrm>
              <a:off x="4283237" y="7400629"/>
              <a:ext cx="88583" cy="70009"/>
            </a:xfrm>
            <a:prstGeom prst="rect">
              <a:avLst/>
            </a:prstGeom>
            <a:solidFill>
              <a:srgbClr val="A3CDDA"/>
            </a:solidFill>
            <a:ln w="7290">
              <a:noFill/>
            </a:ln>
          </p:spPr>
        </p:sp>
        <p:sp>
          <p:nvSpPr>
            <p:cNvPr id="1309" name="Match matrix 3-0">
              <a:extLst>
                <a:ext uri="{FF2B5EF4-FFF2-40B4-BE49-F238E27FC236}">
                  <a16:creationId xmlns:a16="http://schemas.microsoft.com/office/drawing/2014/main" id="{CDAE8F1E-742C-7BA1-EB00-87CA9B9E40A2}"/>
                </a:ext>
              </a:extLst>
            </p:cNvPr>
            <p:cNvSpPr>
              <a:spLocks noGrp="1"/>
            </p:cNvSpPr>
            <p:nvPr/>
          </p:nvSpPr>
          <p:spPr>
            <a:xfrm>
              <a:off x="3633156" y="7474924"/>
              <a:ext cx="88583" cy="70009"/>
            </a:xfrm>
            <a:prstGeom prst="rect">
              <a:avLst/>
            </a:prstGeom>
            <a:solidFill>
              <a:srgbClr val="88BEC3"/>
            </a:solidFill>
            <a:ln w="7290">
              <a:noFill/>
            </a:ln>
          </p:spPr>
        </p:sp>
        <p:sp>
          <p:nvSpPr>
            <p:cNvPr id="1310" name="Match matrix 3-1">
              <a:extLst>
                <a:ext uri="{FF2B5EF4-FFF2-40B4-BE49-F238E27FC236}">
                  <a16:creationId xmlns:a16="http://schemas.microsoft.com/office/drawing/2014/main" id="{74117986-6240-D77F-909C-522F6146D289}"/>
                </a:ext>
              </a:extLst>
            </p:cNvPr>
            <p:cNvSpPr>
              <a:spLocks noGrp="1"/>
            </p:cNvSpPr>
            <p:nvPr/>
          </p:nvSpPr>
          <p:spPr>
            <a:xfrm>
              <a:off x="3726025" y="7474924"/>
              <a:ext cx="88583" cy="70009"/>
            </a:xfrm>
            <a:prstGeom prst="rect">
              <a:avLst/>
            </a:prstGeom>
            <a:solidFill>
              <a:srgbClr val="D6E5ED"/>
            </a:solidFill>
            <a:ln w="7290">
              <a:noFill/>
            </a:ln>
          </p:spPr>
        </p:sp>
        <p:sp>
          <p:nvSpPr>
            <p:cNvPr id="1311" name="Match matrix 3-2">
              <a:extLst>
                <a:ext uri="{FF2B5EF4-FFF2-40B4-BE49-F238E27FC236}">
                  <a16:creationId xmlns:a16="http://schemas.microsoft.com/office/drawing/2014/main" id="{68BD8A38-75EC-BA37-589D-F9C3EBE804E8}"/>
                </a:ext>
              </a:extLst>
            </p:cNvPr>
            <p:cNvSpPr>
              <a:spLocks noGrp="1"/>
            </p:cNvSpPr>
            <p:nvPr/>
          </p:nvSpPr>
          <p:spPr>
            <a:xfrm>
              <a:off x="3818894" y="7474924"/>
              <a:ext cx="88583" cy="70009"/>
            </a:xfrm>
            <a:prstGeom prst="rect">
              <a:avLst/>
            </a:prstGeom>
            <a:solidFill>
              <a:srgbClr val="67AD9F"/>
            </a:solidFill>
            <a:ln w="7290">
              <a:noFill/>
            </a:ln>
          </p:spPr>
        </p:sp>
        <p:sp>
          <p:nvSpPr>
            <p:cNvPr id="1312" name="Match matrix 3-3">
              <a:extLst>
                <a:ext uri="{FF2B5EF4-FFF2-40B4-BE49-F238E27FC236}">
                  <a16:creationId xmlns:a16="http://schemas.microsoft.com/office/drawing/2014/main" id="{BA2E6B5A-7074-DCD3-8646-836425ECA4E6}"/>
                </a:ext>
              </a:extLst>
            </p:cNvPr>
            <p:cNvSpPr>
              <a:spLocks noGrp="1"/>
            </p:cNvSpPr>
            <p:nvPr/>
          </p:nvSpPr>
          <p:spPr>
            <a:xfrm>
              <a:off x="3911762" y="7474924"/>
              <a:ext cx="88583" cy="70009"/>
            </a:xfrm>
            <a:prstGeom prst="rect">
              <a:avLst/>
            </a:prstGeom>
            <a:solidFill>
              <a:srgbClr val="3E8F9A"/>
            </a:solidFill>
            <a:ln w="7290">
              <a:noFill/>
            </a:ln>
          </p:spPr>
        </p:sp>
        <p:sp>
          <p:nvSpPr>
            <p:cNvPr id="1313" name="Match matrix 3-4">
              <a:extLst>
                <a:ext uri="{FF2B5EF4-FFF2-40B4-BE49-F238E27FC236}">
                  <a16:creationId xmlns:a16="http://schemas.microsoft.com/office/drawing/2014/main" id="{E2B9FFDB-87E6-991D-6FE1-3A8ED7934F53}"/>
                </a:ext>
              </a:extLst>
            </p:cNvPr>
            <p:cNvSpPr>
              <a:spLocks noGrp="1"/>
            </p:cNvSpPr>
            <p:nvPr/>
          </p:nvSpPr>
          <p:spPr>
            <a:xfrm>
              <a:off x="4004631" y="7474924"/>
              <a:ext cx="88583" cy="70009"/>
            </a:xfrm>
            <a:prstGeom prst="rect">
              <a:avLst/>
            </a:prstGeom>
            <a:solidFill>
              <a:srgbClr val="C4DDE0"/>
            </a:solidFill>
            <a:ln w="7290">
              <a:noFill/>
            </a:ln>
          </p:spPr>
        </p:sp>
        <p:sp>
          <p:nvSpPr>
            <p:cNvPr id="1314" name="Match matrix 3-5">
              <a:extLst>
                <a:ext uri="{FF2B5EF4-FFF2-40B4-BE49-F238E27FC236}">
                  <a16:creationId xmlns:a16="http://schemas.microsoft.com/office/drawing/2014/main" id="{93BBAAA9-24B8-1E29-A6DC-8B4D096073B5}"/>
                </a:ext>
              </a:extLst>
            </p:cNvPr>
            <p:cNvSpPr>
              <a:spLocks noGrp="1"/>
            </p:cNvSpPr>
            <p:nvPr/>
          </p:nvSpPr>
          <p:spPr>
            <a:xfrm>
              <a:off x="4097500" y="7474924"/>
              <a:ext cx="88583" cy="70009"/>
            </a:xfrm>
            <a:prstGeom prst="rect">
              <a:avLst/>
            </a:prstGeom>
            <a:solidFill>
              <a:srgbClr val="A3CDDA"/>
            </a:solidFill>
            <a:ln w="7290">
              <a:noFill/>
            </a:ln>
          </p:spPr>
        </p:sp>
        <p:sp>
          <p:nvSpPr>
            <p:cNvPr id="1315" name="Match matrix 3-6">
              <a:extLst>
                <a:ext uri="{FF2B5EF4-FFF2-40B4-BE49-F238E27FC236}">
                  <a16:creationId xmlns:a16="http://schemas.microsoft.com/office/drawing/2014/main" id="{68A528E6-65EA-9C73-7412-55AD6CD16CE8}"/>
                </a:ext>
              </a:extLst>
            </p:cNvPr>
            <p:cNvSpPr>
              <a:spLocks noGrp="1"/>
            </p:cNvSpPr>
            <p:nvPr/>
          </p:nvSpPr>
          <p:spPr>
            <a:xfrm>
              <a:off x="4190369" y="7474924"/>
              <a:ext cx="88583" cy="70009"/>
            </a:xfrm>
            <a:prstGeom prst="rect">
              <a:avLst/>
            </a:prstGeom>
            <a:solidFill>
              <a:srgbClr val="B6D8CC"/>
            </a:solidFill>
            <a:ln w="7290">
              <a:noFill/>
            </a:ln>
          </p:spPr>
        </p:sp>
        <p:sp>
          <p:nvSpPr>
            <p:cNvPr id="1316" name="Match matrix 3-7">
              <a:extLst>
                <a:ext uri="{FF2B5EF4-FFF2-40B4-BE49-F238E27FC236}">
                  <a16:creationId xmlns:a16="http://schemas.microsoft.com/office/drawing/2014/main" id="{2EEE91B3-D81D-6257-AECC-400C8A929123}"/>
                </a:ext>
              </a:extLst>
            </p:cNvPr>
            <p:cNvSpPr>
              <a:spLocks noGrp="1"/>
            </p:cNvSpPr>
            <p:nvPr/>
          </p:nvSpPr>
          <p:spPr>
            <a:xfrm>
              <a:off x="4283237" y="7474924"/>
              <a:ext cx="88583" cy="70009"/>
            </a:xfrm>
            <a:prstGeom prst="rect">
              <a:avLst/>
            </a:prstGeom>
            <a:solidFill>
              <a:srgbClr val="5B9FB6"/>
            </a:solidFill>
            <a:ln w="7290">
              <a:noFill/>
            </a:ln>
          </p:spPr>
        </p:sp>
        <p:sp>
          <p:nvSpPr>
            <p:cNvPr id="1318" name="SMILES continuation 806-628.2">
              <a:extLst>
                <a:ext uri="{FF2B5EF4-FFF2-40B4-BE49-F238E27FC236}">
                  <a16:creationId xmlns:a16="http://schemas.microsoft.com/office/drawing/2014/main" id="{F23A2C65-E88A-BB4F-DB2B-F6BDFE0A90A0}"/>
                </a:ext>
              </a:extLst>
            </p:cNvPr>
            <p:cNvSpPr>
              <a:spLocks noGrp="1"/>
            </p:cNvSpPr>
            <p:nvPr/>
          </p:nvSpPr>
          <p:spPr>
            <a:xfrm>
              <a:off x="8110676" y="5974080"/>
              <a:ext cx="19050" cy="19050"/>
            </a:xfrm>
            <a:prstGeom prst="ellipse">
              <a:avLst/>
            </a:prstGeom>
            <a:solidFill>
              <a:srgbClr val="71808C"/>
            </a:solidFill>
            <a:ln w="0">
              <a:noFill/>
            </a:ln>
          </p:spPr>
        </p:sp>
        <p:sp>
          <p:nvSpPr>
            <p:cNvPr id="1319" name="SMILES continuation 812-628.2">
              <a:extLst>
                <a:ext uri="{FF2B5EF4-FFF2-40B4-BE49-F238E27FC236}">
                  <a16:creationId xmlns:a16="http://schemas.microsoft.com/office/drawing/2014/main" id="{3B989565-3BAD-D4AD-9254-F92A9CA55F5F}"/>
                </a:ext>
              </a:extLst>
            </p:cNvPr>
            <p:cNvSpPr>
              <a:spLocks noGrp="1"/>
            </p:cNvSpPr>
            <p:nvPr/>
          </p:nvSpPr>
          <p:spPr>
            <a:xfrm>
              <a:off x="8167826" y="5974080"/>
              <a:ext cx="19050" cy="19050"/>
            </a:xfrm>
            <a:prstGeom prst="ellipse">
              <a:avLst/>
            </a:prstGeom>
            <a:solidFill>
              <a:srgbClr val="71808C"/>
            </a:solidFill>
            <a:ln w="0">
              <a:noFill/>
            </a:ln>
          </p:spPr>
        </p:sp>
        <p:sp>
          <p:nvSpPr>
            <p:cNvPr id="1320" name="SMILES continuation 818-628.2">
              <a:extLst>
                <a:ext uri="{FF2B5EF4-FFF2-40B4-BE49-F238E27FC236}">
                  <a16:creationId xmlns:a16="http://schemas.microsoft.com/office/drawing/2014/main" id="{42B8B6C2-B43E-383F-14DE-C418D4494332}"/>
                </a:ext>
              </a:extLst>
            </p:cNvPr>
            <p:cNvSpPr>
              <a:spLocks noGrp="1"/>
            </p:cNvSpPr>
            <p:nvPr/>
          </p:nvSpPr>
          <p:spPr>
            <a:xfrm>
              <a:off x="8224976" y="5974080"/>
              <a:ext cx="19050" cy="19050"/>
            </a:xfrm>
            <a:prstGeom prst="ellipse">
              <a:avLst/>
            </a:prstGeom>
            <a:solidFill>
              <a:srgbClr val="71808C"/>
            </a:solidFill>
            <a:ln w="0">
              <a:noFill/>
            </a:ln>
          </p:spPr>
        </p:sp>
        <p:sp>
          <p:nvSpPr>
            <p:cNvPr id="1321" name="SMILES continuation 806-667">
              <a:extLst>
                <a:ext uri="{FF2B5EF4-FFF2-40B4-BE49-F238E27FC236}">
                  <a16:creationId xmlns:a16="http://schemas.microsoft.com/office/drawing/2014/main" id="{39894408-4EFC-1123-4D43-5E7226F5F0C0}"/>
                </a:ext>
              </a:extLst>
            </p:cNvPr>
            <p:cNvSpPr>
              <a:spLocks noGrp="1"/>
            </p:cNvSpPr>
            <p:nvPr/>
          </p:nvSpPr>
          <p:spPr>
            <a:xfrm>
              <a:off x="8110676" y="6343650"/>
              <a:ext cx="19050" cy="19050"/>
            </a:xfrm>
            <a:prstGeom prst="ellipse">
              <a:avLst/>
            </a:prstGeom>
            <a:solidFill>
              <a:srgbClr val="71808C"/>
            </a:solidFill>
            <a:ln w="0">
              <a:noFill/>
            </a:ln>
          </p:spPr>
        </p:sp>
        <p:sp>
          <p:nvSpPr>
            <p:cNvPr id="1322" name="SMILES continuation 812-667">
              <a:extLst>
                <a:ext uri="{FF2B5EF4-FFF2-40B4-BE49-F238E27FC236}">
                  <a16:creationId xmlns:a16="http://schemas.microsoft.com/office/drawing/2014/main" id="{B15788D5-8154-0220-0ADD-B84E221B0B6F}"/>
                </a:ext>
              </a:extLst>
            </p:cNvPr>
            <p:cNvSpPr>
              <a:spLocks noGrp="1"/>
            </p:cNvSpPr>
            <p:nvPr/>
          </p:nvSpPr>
          <p:spPr>
            <a:xfrm>
              <a:off x="8167826" y="6343650"/>
              <a:ext cx="19050" cy="19050"/>
            </a:xfrm>
            <a:prstGeom prst="ellipse">
              <a:avLst/>
            </a:prstGeom>
            <a:solidFill>
              <a:srgbClr val="71808C"/>
            </a:solidFill>
            <a:ln w="0">
              <a:noFill/>
            </a:ln>
          </p:spPr>
        </p:sp>
        <p:sp>
          <p:nvSpPr>
            <p:cNvPr id="1323" name="SMILES continuation 818-667">
              <a:extLst>
                <a:ext uri="{FF2B5EF4-FFF2-40B4-BE49-F238E27FC236}">
                  <a16:creationId xmlns:a16="http://schemas.microsoft.com/office/drawing/2014/main" id="{06FB727B-1C36-BDAC-BF90-119F79F57919}"/>
                </a:ext>
              </a:extLst>
            </p:cNvPr>
            <p:cNvSpPr>
              <a:spLocks noGrp="1"/>
            </p:cNvSpPr>
            <p:nvPr/>
          </p:nvSpPr>
          <p:spPr>
            <a:xfrm>
              <a:off x="8224976" y="6343650"/>
              <a:ext cx="19050" cy="19050"/>
            </a:xfrm>
            <a:prstGeom prst="ellipse">
              <a:avLst/>
            </a:prstGeom>
            <a:solidFill>
              <a:srgbClr val="71808C"/>
            </a:solidFill>
            <a:ln w="0">
              <a:noFill/>
            </a:ln>
          </p:spPr>
        </p:sp>
        <p:sp>
          <p:nvSpPr>
            <p:cNvPr id="1324" name="Find density input">
              <a:extLst>
                <a:ext uri="{FF2B5EF4-FFF2-40B4-BE49-F238E27FC236}">
                  <a16:creationId xmlns:a16="http://schemas.microsoft.com/office/drawing/2014/main" id="{3BB3F16C-BBC6-CEA5-1D5F-BADEC13D0E07}"/>
                </a:ext>
              </a:extLst>
            </p:cNvPr>
            <p:cNvSpPr>
              <a:spLocks noGrp="1"/>
            </p:cNvSpPr>
            <p:nvPr/>
          </p:nvSpPr>
          <p:spPr>
            <a:xfrm flipV="1">
              <a:off x="2405391" y="1410958"/>
              <a:ext cx="692378" cy="107521"/>
            </a:xfrm>
            <a:custGeom>
              <a:avLst/>
              <a:gdLst/>
              <a:ahLst/>
              <a:cxnLst/>
              <a:rect l="0" t="0" r="0" b="0"/>
              <a:pathLst>
                <a:path w="125540" h="191">
                  <a:moveTo>
                    <a:pt x="0" y="0"/>
                  </a:moveTo>
                  <a:lnTo>
                    <a:pt x="125540" y="0"/>
                  </a:lnTo>
                </a:path>
              </a:pathLst>
            </a:custGeom>
            <a:noFill/>
            <a:ln w="8505">
              <a:solidFill>
                <a:srgbClr val="77828C"/>
              </a:solidFill>
              <a:prstDash val="solid"/>
            </a:ln>
          </p:spPr>
        </p:sp>
        <p:sp>
          <p:nvSpPr>
            <p:cNvPr id="1325" name="Find density input head">
              <a:extLst>
                <a:ext uri="{FF2B5EF4-FFF2-40B4-BE49-F238E27FC236}">
                  <a16:creationId xmlns:a16="http://schemas.microsoft.com/office/drawing/2014/main" id="{DD01582E-D72F-DC2A-ED51-209065AB4BE2}"/>
                </a:ext>
              </a:extLst>
            </p:cNvPr>
            <p:cNvSpPr>
              <a:spLocks noGrp="1"/>
            </p:cNvSpPr>
            <p:nvPr/>
          </p:nvSpPr>
          <p:spPr>
            <a:xfrm>
              <a:off x="3052858" y="1489808"/>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28" name="Find receptor input">
              <a:extLst>
                <a:ext uri="{FF2B5EF4-FFF2-40B4-BE49-F238E27FC236}">
                  <a16:creationId xmlns:a16="http://schemas.microsoft.com/office/drawing/2014/main" id="{8835B13D-A150-D32A-EA5F-DF6B94803636}"/>
                </a:ext>
              </a:extLst>
            </p:cNvPr>
            <p:cNvSpPr>
              <a:spLocks noGrp="1"/>
            </p:cNvSpPr>
            <p:nvPr/>
          </p:nvSpPr>
          <p:spPr>
            <a:xfrm>
              <a:off x="2405391" y="3260557"/>
              <a:ext cx="692378" cy="107521"/>
            </a:xfrm>
            <a:custGeom>
              <a:avLst/>
              <a:gdLst/>
              <a:ahLst/>
              <a:cxnLst/>
              <a:rect l="0" t="0" r="0" b="0"/>
              <a:pathLst>
                <a:path w="125540" h="191">
                  <a:moveTo>
                    <a:pt x="0" y="0"/>
                  </a:moveTo>
                  <a:lnTo>
                    <a:pt x="125540" y="0"/>
                  </a:lnTo>
                </a:path>
              </a:pathLst>
            </a:custGeom>
            <a:solidFill>
              <a:srgbClr val="77828C"/>
            </a:solidFill>
            <a:ln w="8505">
              <a:solidFill>
                <a:srgbClr val="77828C"/>
              </a:solidFill>
              <a:prstDash val="solid"/>
            </a:ln>
          </p:spPr>
        </p:sp>
        <p:sp>
          <p:nvSpPr>
            <p:cNvPr id="1329" name="Find receptor input head">
              <a:extLst>
                <a:ext uri="{FF2B5EF4-FFF2-40B4-BE49-F238E27FC236}">
                  <a16:creationId xmlns:a16="http://schemas.microsoft.com/office/drawing/2014/main" id="{A5463DF5-F357-C133-4537-3687854104BD}"/>
                </a:ext>
              </a:extLst>
            </p:cNvPr>
            <p:cNvSpPr>
              <a:spLocks noGrp="1"/>
            </p:cNvSpPr>
            <p:nvPr/>
          </p:nvSpPr>
          <p:spPr>
            <a:xfrm>
              <a:off x="3052858" y="3231886"/>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32" name="Find voxel output">
              <a:extLst>
                <a:ext uri="{FF2B5EF4-FFF2-40B4-BE49-F238E27FC236}">
                  <a16:creationId xmlns:a16="http://schemas.microsoft.com/office/drawing/2014/main" id="{A7A050F5-4BBD-83D0-3E56-868138C02A2E}"/>
                </a:ext>
              </a:extLst>
            </p:cNvPr>
            <p:cNvSpPr>
              <a:spLocks noGrp="1"/>
            </p:cNvSpPr>
            <p:nvPr/>
          </p:nvSpPr>
          <p:spPr>
            <a:xfrm>
              <a:off x="9680238" y="1544003"/>
              <a:ext cx="409314" cy="191"/>
            </a:xfrm>
            <a:custGeom>
              <a:avLst/>
              <a:gdLst/>
              <a:ahLst/>
              <a:cxnLst/>
              <a:rect l="0" t="0" r="0" b="0"/>
              <a:pathLst>
                <a:path w="252508" h="191">
                  <a:moveTo>
                    <a:pt x="0" y="0"/>
                  </a:moveTo>
                  <a:lnTo>
                    <a:pt x="252508" y="0"/>
                  </a:lnTo>
                </a:path>
              </a:pathLst>
            </a:custGeom>
            <a:noFill/>
            <a:ln w="8505">
              <a:solidFill>
                <a:srgbClr val="77828C"/>
              </a:solidFill>
              <a:prstDash val="solid"/>
            </a:ln>
          </p:spPr>
        </p:sp>
        <p:sp>
          <p:nvSpPr>
            <p:cNvPr id="1333" name="Find voxel output head">
              <a:extLst>
                <a:ext uri="{FF2B5EF4-FFF2-40B4-BE49-F238E27FC236}">
                  <a16:creationId xmlns:a16="http://schemas.microsoft.com/office/drawing/2014/main" id="{375132D2-B1BA-3819-E6E4-408E45D3577A}"/>
                </a:ext>
              </a:extLst>
            </p:cNvPr>
            <p:cNvSpPr>
              <a:spLocks noGrp="1"/>
            </p:cNvSpPr>
            <p:nvPr/>
          </p:nvSpPr>
          <p:spPr>
            <a:xfrm>
              <a:off x="10046213" y="1515332"/>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34" name="Find point output">
              <a:extLst>
                <a:ext uri="{FF2B5EF4-FFF2-40B4-BE49-F238E27FC236}">
                  <a16:creationId xmlns:a16="http://schemas.microsoft.com/office/drawing/2014/main" id="{E2AB92F8-FB1A-DF4D-C056-6A909BEA2DE1}"/>
                </a:ext>
              </a:extLst>
            </p:cNvPr>
            <p:cNvSpPr>
              <a:spLocks noGrp="1"/>
            </p:cNvSpPr>
            <p:nvPr/>
          </p:nvSpPr>
          <p:spPr>
            <a:xfrm>
              <a:off x="9680238" y="3107055"/>
              <a:ext cx="409314" cy="191"/>
            </a:xfrm>
            <a:custGeom>
              <a:avLst/>
              <a:gdLst/>
              <a:ahLst/>
              <a:cxnLst/>
              <a:rect l="0" t="0" r="0" b="0"/>
              <a:pathLst>
                <a:path w="252508" h="191">
                  <a:moveTo>
                    <a:pt x="0" y="0"/>
                  </a:moveTo>
                  <a:lnTo>
                    <a:pt x="252508" y="0"/>
                  </a:lnTo>
                </a:path>
              </a:pathLst>
            </a:custGeom>
            <a:noFill/>
            <a:ln w="8505">
              <a:solidFill>
                <a:srgbClr val="77828C"/>
              </a:solidFill>
              <a:prstDash val="solid"/>
            </a:ln>
          </p:spPr>
        </p:sp>
        <p:sp>
          <p:nvSpPr>
            <p:cNvPr id="1335" name="Find point output head">
              <a:extLst>
                <a:ext uri="{FF2B5EF4-FFF2-40B4-BE49-F238E27FC236}">
                  <a16:creationId xmlns:a16="http://schemas.microsoft.com/office/drawing/2014/main" id="{28B06725-C3FB-3373-8A56-A66D9CE3ECA7}"/>
                </a:ext>
              </a:extLst>
            </p:cNvPr>
            <p:cNvSpPr>
              <a:spLocks noGrp="1"/>
            </p:cNvSpPr>
            <p:nvPr/>
          </p:nvSpPr>
          <p:spPr>
            <a:xfrm>
              <a:off x="10046213" y="3078385"/>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36" name="U-Net flow refined 1">
              <a:extLst>
                <a:ext uri="{FF2B5EF4-FFF2-40B4-BE49-F238E27FC236}">
                  <a16:creationId xmlns:a16="http://schemas.microsoft.com/office/drawing/2014/main" id="{5BDE2ECB-1CBA-ACB1-3426-F3E9F144A8A7}"/>
                </a:ext>
              </a:extLst>
            </p:cNvPr>
            <p:cNvSpPr>
              <a:spLocks noGrp="1"/>
            </p:cNvSpPr>
            <p:nvPr/>
          </p:nvSpPr>
          <p:spPr>
            <a:xfrm>
              <a:off x="5329408" y="1943100"/>
              <a:ext cx="71390" cy="191"/>
            </a:xfrm>
            <a:custGeom>
              <a:avLst/>
              <a:gdLst/>
              <a:ahLst/>
              <a:cxnLst/>
              <a:rect l="0" t="0" r="0" b="0"/>
              <a:pathLst>
                <a:path w="71390" h="191">
                  <a:moveTo>
                    <a:pt x="0" y="0"/>
                  </a:moveTo>
                  <a:lnTo>
                    <a:pt x="71390" y="0"/>
                  </a:lnTo>
                </a:path>
              </a:pathLst>
            </a:custGeom>
            <a:noFill/>
            <a:ln w="6480">
              <a:solidFill>
                <a:srgbClr val="77828C"/>
              </a:solidFill>
              <a:prstDash val="solid"/>
            </a:ln>
          </p:spPr>
        </p:sp>
        <p:sp>
          <p:nvSpPr>
            <p:cNvPr id="1337" name="U-Net flow refined 1 head">
              <a:extLst>
                <a:ext uri="{FF2B5EF4-FFF2-40B4-BE49-F238E27FC236}">
                  <a16:creationId xmlns:a16="http://schemas.microsoft.com/office/drawing/2014/main" id="{94C963B0-6292-D96E-8000-E5176CACF1B1}"/>
                </a:ext>
              </a:extLst>
            </p:cNvPr>
            <p:cNvSpPr>
              <a:spLocks noGrp="1"/>
            </p:cNvSpPr>
            <p:nvPr/>
          </p:nvSpPr>
          <p:spPr>
            <a:xfrm>
              <a:off x="537417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38" name="U-Net flow refined 2">
              <a:extLst>
                <a:ext uri="{FF2B5EF4-FFF2-40B4-BE49-F238E27FC236}">
                  <a16:creationId xmlns:a16="http://schemas.microsoft.com/office/drawing/2014/main" id="{6EDFECDB-834F-45E8-C447-187E68499D36}"/>
                </a:ext>
              </a:extLst>
            </p:cNvPr>
            <p:cNvSpPr>
              <a:spLocks noGrp="1"/>
            </p:cNvSpPr>
            <p:nvPr/>
          </p:nvSpPr>
          <p:spPr>
            <a:xfrm>
              <a:off x="5786608" y="1943100"/>
              <a:ext cx="61865" cy="191"/>
            </a:xfrm>
            <a:custGeom>
              <a:avLst/>
              <a:gdLst/>
              <a:ahLst/>
              <a:cxnLst/>
              <a:rect l="0" t="0" r="0" b="0"/>
              <a:pathLst>
                <a:path w="61865" h="191">
                  <a:moveTo>
                    <a:pt x="0" y="0"/>
                  </a:moveTo>
                  <a:lnTo>
                    <a:pt x="61865" y="0"/>
                  </a:lnTo>
                </a:path>
              </a:pathLst>
            </a:custGeom>
            <a:noFill/>
            <a:ln w="6480">
              <a:solidFill>
                <a:srgbClr val="77828C"/>
              </a:solidFill>
              <a:prstDash val="solid"/>
            </a:ln>
          </p:spPr>
        </p:sp>
        <p:sp>
          <p:nvSpPr>
            <p:cNvPr id="1339" name="U-Net flow refined 2 head">
              <a:extLst>
                <a:ext uri="{FF2B5EF4-FFF2-40B4-BE49-F238E27FC236}">
                  <a16:creationId xmlns:a16="http://schemas.microsoft.com/office/drawing/2014/main" id="{147D1FA6-05BE-3A5D-C1FE-78DB516DA9EB}"/>
                </a:ext>
              </a:extLst>
            </p:cNvPr>
            <p:cNvSpPr>
              <a:spLocks noGrp="1"/>
            </p:cNvSpPr>
            <p:nvPr/>
          </p:nvSpPr>
          <p:spPr>
            <a:xfrm>
              <a:off x="5821851"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0" name="U-Net flow refined 3">
              <a:extLst>
                <a:ext uri="{FF2B5EF4-FFF2-40B4-BE49-F238E27FC236}">
                  <a16:creationId xmlns:a16="http://schemas.microsoft.com/office/drawing/2014/main" id="{7AF7CF23-54DF-A29D-2F07-D36A3F45EDD2}"/>
                </a:ext>
              </a:extLst>
            </p:cNvPr>
            <p:cNvSpPr>
              <a:spLocks noGrp="1"/>
            </p:cNvSpPr>
            <p:nvPr/>
          </p:nvSpPr>
          <p:spPr>
            <a:xfrm>
              <a:off x="6358108" y="1943100"/>
              <a:ext cx="185690" cy="191"/>
            </a:xfrm>
            <a:custGeom>
              <a:avLst/>
              <a:gdLst/>
              <a:ahLst/>
              <a:cxnLst/>
              <a:rect l="0" t="0" r="0" b="0"/>
              <a:pathLst>
                <a:path w="185690" h="191">
                  <a:moveTo>
                    <a:pt x="0" y="0"/>
                  </a:moveTo>
                  <a:lnTo>
                    <a:pt x="185690" y="0"/>
                  </a:lnTo>
                </a:path>
              </a:pathLst>
            </a:custGeom>
            <a:noFill/>
            <a:ln w="6480">
              <a:solidFill>
                <a:srgbClr val="77828C"/>
              </a:solidFill>
              <a:prstDash val="solid"/>
            </a:ln>
          </p:spPr>
        </p:sp>
        <p:sp>
          <p:nvSpPr>
            <p:cNvPr id="1341" name="U-Net flow refined 3 head">
              <a:extLst>
                <a:ext uri="{FF2B5EF4-FFF2-40B4-BE49-F238E27FC236}">
                  <a16:creationId xmlns:a16="http://schemas.microsoft.com/office/drawing/2014/main" id="{99F4C0B1-883D-15E1-DE1D-B9D0B602A47D}"/>
                </a:ext>
              </a:extLst>
            </p:cNvPr>
            <p:cNvSpPr>
              <a:spLocks noGrp="1"/>
            </p:cNvSpPr>
            <p:nvPr/>
          </p:nvSpPr>
          <p:spPr>
            <a:xfrm>
              <a:off x="651717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2" name="U-Net flow refined 4">
              <a:extLst>
                <a:ext uri="{FF2B5EF4-FFF2-40B4-BE49-F238E27FC236}">
                  <a16:creationId xmlns:a16="http://schemas.microsoft.com/office/drawing/2014/main" id="{1AB9AC41-CF99-6B25-72AE-CA5759E07BBC}"/>
                </a:ext>
              </a:extLst>
            </p:cNvPr>
            <p:cNvSpPr>
              <a:spLocks noGrp="1"/>
            </p:cNvSpPr>
            <p:nvPr/>
          </p:nvSpPr>
          <p:spPr>
            <a:xfrm>
              <a:off x="7634458" y="1943100"/>
              <a:ext cx="204740" cy="191"/>
            </a:xfrm>
            <a:custGeom>
              <a:avLst/>
              <a:gdLst/>
              <a:ahLst/>
              <a:cxnLst/>
              <a:rect l="0" t="0" r="0" b="0"/>
              <a:pathLst>
                <a:path w="204740" h="191">
                  <a:moveTo>
                    <a:pt x="0" y="0"/>
                  </a:moveTo>
                  <a:lnTo>
                    <a:pt x="204740" y="0"/>
                  </a:lnTo>
                </a:path>
              </a:pathLst>
            </a:custGeom>
            <a:noFill/>
            <a:ln w="6480">
              <a:solidFill>
                <a:srgbClr val="77828C"/>
              </a:solidFill>
              <a:prstDash val="solid"/>
            </a:ln>
          </p:spPr>
        </p:sp>
        <p:sp>
          <p:nvSpPr>
            <p:cNvPr id="1343" name="U-Net flow refined 4 head">
              <a:extLst>
                <a:ext uri="{FF2B5EF4-FFF2-40B4-BE49-F238E27FC236}">
                  <a16:creationId xmlns:a16="http://schemas.microsoft.com/office/drawing/2014/main" id="{8B74AF9E-166C-456E-8C30-81819473FD65}"/>
                </a:ext>
              </a:extLst>
            </p:cNvPr>
            <p:cNvSpPr>
              <a:spLocks noGrp="1"/>
            </p:cNvSpPr>
            <p:nvPr/>
          </p:nvSpPr>
          <p:spPr>
            <a:xfrm>
              <a:off x="781257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4" name="U-Net flow refined 5">
              <a:extLst>
                <a:ext uri="{FF2B5EF4-FFF2-40B4-BE49-F238E27FC236}">
                  <a16:creationId xmlns:a16="http://schemas.microsoft.com/office/drawing/2014/main" id="{1DF9FEC8-127A-C6BF-A242-5459B8B47514}"/>
                </a:ext>
              </a:extLst>
            </p:cNvPr>
            <p:cNvSpPr>
              <a:spLocks noGrp="1"/>
            </p:cNvSpPr>
            <p:nvPr/>
          </p:nvSpPr>
          <p:spPr>
            <a:xfrm>
              <a:off x="8358358" y="1943100"/>
              <a:ext cx="71390" cy="191"/>
            </a:xfrm>
            <a:custGeom>
              <a:avLst/>
              <a:gdLst/>
              <a:ahLst/>
              <a:cxnLst/>
              <a:rect l="0" t="0" r="0" b="0"/>
              <a:pathLst>
                <a:path w="71390" h="191">
                  <a:moveTo>
                    <a:pt x="0" y="0"/>
                  </a:moveTo>
                  <a:lnTo>
                    <a:pt x="71390" y="0"/>
                  </a:lnTo>
                </a:path>
              </a:pathLst>
            </a:custGeom>
            <a:noFill/>
            <a:ln w="6480">
              <a:solidFill>
                <a:srgbClr val="77828C"/>
              </a:solidFill>
              <a:prstDash val="solid"/>
            </a:ln>
          </p:spPr>
        </p:sp>
        <p:sp>
          <p:nvSpPr>
            <p:cNvPr id="1345" name="U-Net flow refined 5 head">
              <a:extLst>
                <a:ext uri="{FF2B5EF4-FFF2-40B4-BE49-F238E27FC236}">
                  <a16:creationId xmlns:a16="http://schemas.microsoft.com/office/drawing/2014/main" id="{235A2EBC-75E8-8D72-4A9D-B691D888DD1B}"/>
                </a:ext>
              </a:extLst>
            </p:cNvPr>
            <p:cNvSpPr>
              <a:spLocks noGrp="1"/>
            </p:cNvSpPr>
            <p:nvPr/>
          </p:nvSpPr>
          <p:spPr>
            <a:xfrm>
              <a:off x="840312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6" name="U-Net flow refined 6">
              <a:extLst>
                <a:ext uri="{FF2B5EF4-FFF2-40B4-BE49-F238E27FC236}">
                  <a16:creationId xmlns:a16="http://schemas.microsoft.com/office/drawing/2014/main" id="{E16F5364-FA67-8E77-55DD-31048ACFB369}"/>
                </a:ext>
              </a:extLst>
            </p:cNvPr>
            <p:cNvSpPr>
              <a:spLocks noGrp="1"/>
            </p:cNvSpPr>
            <p:nvPr/>
          </p:nvSpPr>
          <p:spPr>
            <a:xfrm>
              <a:off x="8796508" y="1943100"/>
              <a:ext cx="90440" cy="191"/>
            </a:xfrm>
            <a:custGeom>
              <a:avLst/>
              <a:gdLst/>
              <a:ahLst/>
              <a:cxnLst/>
              <a:rect l="0" t="0" r="0" b="0"/>
              <a:pathLst>
                <a:path w="90440" h="191">
                  <a:moveTo>
                    <a:pt x="0" y="0"/>
                  </a:moveTo>
                  <a:lnTo>
                    <a:pt x="90440" y="0"/>
                  </a:lnTo>
                </a:path>
              </a:pathLst>
            </a:custGeom>
            <a:noFill/>
            <a:ln w="6480">
              <a:solidFill>
                <a:srgbClr val="77828C"/>
              </a:solidFill>
              <a:prstDash val="solid"/>
            </a:ln>
          </p:spPr>
        </p:sp>
        <p:sp>
          <p:nvSpPr>
            <p:cNvPr id="1347" name="U-Net flow refined 6 head">
              <a:extLst>
                <a:ext uri="{FF2B5EF4-FFF2-40B4-BE49-F238E27FC236}">
                  <a16:creationId xmlns:a16="http://schemas.microsoft.com/office/drawing/2014/main" id="{CAB8405E-639F-441D-4076-97C5C8079141}"/>
                </a:ext>
              </a:extLst>
            </p:cNvPr>
            <p:cNvSpPr>
              <a:spLocks noGrp="1"/>
            </p:cNvSpPr>
            <p:nvPr/>
          </p:nvSpPr>
          <p:spPr>
            <a:xfrm>
              <a:off x="886032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8" name="Skip outer refined">
              <a:extLst>
                <a:ext uri="{FF2B5EF4-FFF2-40B4-BE49-F238E27FC236}">
                  <a16:creationId xmlns:a16="http://schemas.microsoft.com/office/drawing/2014/main" id="{FCEC7BC5-9C91-5A2D-286F-54CED1B58658}"/>
                </a:ext>
              </a:extLst>
            </p:cNvPr>
            <p:cNvSpPr>
              <a:spLocks noGrp="1"/>
            </p:cNvSpPr>
            <p:nvPr/>
          </p:nvSpPr>
          <p:spPr>
            <a:xfrm>
              <a:off x="4919833" y="1209675"/>
              <a:ext cx="4333875" cy="219075"/>
            </a:xfrm>
            <a:custGeom>
              <a:avLst/>
              <a:gdLst/>
              <a:ahLst/>
              <a:cxnLst/>
              <a:rect l="0" t="0" r="0" b="0"/>
              <a:pathLst>
                <a:path w="4333875" h="219075">
                  <a:moveTo>
                    <a:pt x="0" y="219075"/>
                  </a:moveTo>
                  <a:lnTo>
                    <a:pt x="0" y="0"/>
                  </a:lnTo>
                  <a:lnTo>
                    <a:pt x="4333875" y="0"/>
                  </a:lnTo>
                  <a:lnTo>
                    <a:pt x="4333875" y="204073"/>
                  </a:lnTo>
                </a:path>
              </a:pathLst>
            </a:custGeom>
            <a:noFill/>
            <a:ln w="5468">
              <a:solidFill>
                <a:srgbClr val="A3ACB4"/>
              </a:solidFill>
              <a:prstDash val="dash"/>
            </a:ln>
          </p:spPr>
        </p:sp>
        <p:sp>
          <p:nvSpPr>
            <p:cNvPr id="1349" name="Skip outer refined head">
              <a:extLst>
                <a:ext uri="{FF2B5EF4-FFF2-40B4-BE49-F238E27FC236}">
                  <a16:creationId xmlns:a16="http://schemas.microsoft.com/office/drawing/2014/main" id="{D6AAD354-1253-F73A-1F09-0D42951F0AD2}"/>
                </a:ext>
              </a:extLst>
            </p:cNvPr>
            <p:cNvSpPr>
              <a:spLocks noGrp="1"/>
            </p:cNvSpPr>
            <p:nvPr/>
          </p:nvSpPr>
          <p:spPr>
            <a:xfrm>
              <a:off x="9235277" y="1385888"/>
              <a:ext cx="36862" cy="42863"/>
            </a:xfrm>
            <a:custGeom>
              <a:avLst/>
              <a:gdLst/>
              <a:ahLst/>
              <a:cxnLst/>
              <a:rect l="0" t="0" r="0" b="0"/>
              <a:pathLst>
                <a:path w="36862" h="42863">
                  <a:moveTo>
                    <a:pt x="18431" y="42863"/>
                  </a:moveTo>
                  <a:lnTo>
                    <a:pt x="36862" y="0"/>
                  </a:lnTo>
                  <a:lnTo>
                    <a:pt x="0" y="0"/>
                  </a:lnTo>
                  <a:close/>
                </a:path>
              </a:pathLst>
            </a:custGeom>
            <a:solidFill>
              <a:srgbClr val="A3ACB4"/>
            </a:solidFill>
            <a:ln w="0">
              <a:noFill/>
              <a:prstDash val="solid"/>
            </a:ln>
          </p:spPr>
        </p:sp>
        <p:sp>
          <p:nvSpPr>
            <p:cNvPr id="1350" name="Skip middle refined">
              <a:extLst>
                <a:ext uri="{FF2B5EF4-FFF2-40B4-BE49-F238E27FC236}">
                  <a16:creationId xmlns:a16="http://schemas.microsoft.com/office/drawing/2014/main" id="{E944DD48-0E77-62B4-4E66-FC482D648DB0}"/>
                </a:ext>
              </a:extLst>
            </p:cNvPr>
            <p:cNvSpPr>
              <a:spLocks noGrp="1"/>
            </p:cNvSpPr>
            <p:nvPr/>
          </p:nvSpPr>
          <p:spPr>
            <a:xfrm>
              <a:off x="5558008" y="1295400"/>
              <a:ext cx="3067050" cy="266700"/>
            </a:xfrm>
            <a:custGeom>
              <a:avLst/>
              <a:gdLst/>
              <a:ahLst/>
              <a:cxnLst/>
              <a:rect l="0" t="0" r="0" b="0"/>
              <a:pathLst>
                <a:path w="3067050" h="266700">
                  <a:moveTo>
                    <a:pt x="0" y="266700"/>
                  </a:moveTo>
                  <a:lnTo>
                    <a:pt x="0" y="0"/>
                  </a:lnTo>
                  <a:lnTo>
                    <a:pt x="3067050" y="0"/>
                  </a:lnTo>
                  <a:lnTo>
                    <a:pt x="3067050" y="251698"/>
                  </a:lnTo>
                </a:path>
              </a:pathLst>
            </a:custGeom>
            <a:noFill/>
            <a:ln w="5468">
              <a:solidFill>
                <a:srgbClr val="A3ACB4"/>
              </a:solidFill>
              <a:prstDash val="dash"/>
            </a:ln>
          </p:spPr>
        </p:sp>
        <p:sp>
          <p:nvSpPr>
            <p:cNvPr id="1351" name="Skip middle refined head">
              <a:extLst>
                <a:ext uri="{FF2B5EF4-FFF2-40B4-BE49-F238E27FC236}">
                  <a16:creationId xmlns:a16="http://schemas.microsoft.com/office/drawing/2014/main" id="{5D984C66-44F4-6C0C-29FA-C26BCC014DA5}"/>
                </a:ext>
              </a:extLst>
            </p:cNvPr>
            <p:cNvSpPr>
              <a:spLocks noGrp="1"/>
            </p:cNvSpPr>
            <p:nvPr/>
          </p:nvSpPr>
          <p:spPr>
            <a:xfrm>
              <a:off x="8606627" y="1519238"/>
              <a:ext cx="36862" cy="42863"/>
            </a:xfrm>
            <a:custGeom>
              <a:avLst/>
              <a:gdLst/>
              <a:ahLst/>
              <a:cxnLst/>
              <a:rect l="0" t="0" r="0" b="0"/>
              <a:pathLst>
                <a:path w="36862" h="42863">
                  <a:moveTo>
                    <a:pt x="18431" y="42863"/>
                  </a:moveTo>
                  <a:lnTo>
                    <a:pt x="36862" y="0"/>
                  </a:lnTo>
                  <a:lnTo>
                    <a:pt x="0" y="0"/>
                  </a:lnTo>
                  <a:close/>
                </a:path>
              </a:pathLst>
            </a:custGeom>
            <a:solidFill>
              <a:srgbClr val="A3ACB4"/>
            </a:solidFill>
            <a:ln w="0">
              <a:noFill/>
              <a:prstDash val="solid"/>
            </a:ln>
          </p:spPr>
        </p:sp>
        <p:sp>
          <p:nvSpPr>
            <p:cNvPr id="1352" name="Skip inner refined">
              <a:extLst>
                <a:ext uri="{FF2B5EF4-FFF2-40B4-BE49-F238E27FC236}">
                  <a16:creationId xmlns:a16="http://schemas.microsoft.com/office/drawing/2014/main" id="{796339B7-CA5C-9A6F-F626-7D7B76227D0E}"/>
                </a:ext>
              </a:extLst>
            </p:cNvPr>
            <p:cNvSpPr>
              <a:spLocks noGrp="1"/>
            </p:cNvSpPr>
            <p:nvPr/>
          </p:nvSpPr>
          <p:spPr>
            <a:xfrm>
              <a:off x="6081883" y="1381125"/>
              <a:ext cx="2000250" cy="323850"/>
            </a:xfrm>
            <a:custGeom>
              <a:avLst/>
              <a:gdLst/>
              <a:ahLst/>
              <a:cxnLst/>
              <a:rect l="0" t="0" r="0" b="0"/>
              <a:pathLst>
                <a:path w="2000250" h="323850">
                  <a:moveTo>
                    <a:pt x="0" y="323850"/>
                  </a:moveTo>
                  <a:lnTo>
                    <a:pt x="0" y="0"/>
                  </a:lnTo>
                  <a:lnTo>
                    <a:pt x="2000250" y="0"/>
                  </a:lnTo>
                  <a:lnTo>
                    <a:pt x="2000250" y="308848"/>
                  </a:lnTo>
                </a:path>
              </a:pathLst>
            </a:custGeom>
            <a:noFill/>
            <a:ln w="5468">
              <a:solidFill>
                <a:srgbClr val="A3ACB4"/>
              </a:solidFill>
              <a:prstDash val="dash"/>
            </a:ln>
          </p:spPr>
        </p:sp>
        <p:sp>
          <p:nvSpPr>
            <p:cNvPr id="1353" name="Skip inner refined head">
              <a:extLst>
                <a:ext uri="{FF2B5EF4-FFF2-40B4-BE49-F238E27FC236}">
                  <a16:creationId xmlns:a16="http://schemas.microsoft.com/office/drawing/2014/main" id="{5389494F-4196-1B0C-C069-F40391B0419B}"/>
                </a:ext>
              </a:extLst>
            </p:cNvPr>
            <p:cNvSpPr>
              <a:spLocks noGrp="1"/>
            </p:cNvSpPr>
            <p:nvPr/>
          </p:nvSpPr>
          <p:spPr>
            <a:xfrm>
              <a:off x="8063702" y="1662113"/>
              <a:ext cx="36862" cy="42863"/>
            </a:xfrm>
            <a:custGeom>
              <a:avLst/>
              <a:gdLst/>
              <a:ahLst/>
              <a:cxnLst/>
              <a:rect l="0" t="0" r="0" b="0"/>
              <a:pathLst>
                <a:path w="36862" h="42863">
                  <a:moveTo>
                    <a:pt x="18431" y="42863"/>
                  </a:moveTo>
                  <a:lnTo>
                    <a:pt x="36862" y="0"/>
                  </a:lnTo>
                  <a:lnTo>
                    <a:pt x="0" y="0"/>
                  </a:lnTo>
                  <a:close/>
                </a:path>
              </a:pathLst>
            </a:custGeom>
            <a:solidFill>
              <a:srgbClr val="A3ACB4"/>
            </a:solidFill>
            <a:ln w="0">
              <a:noFill/>
              <a:prstDash val="solid"/>
            </a:ln>
          </p:spPr>
        </p:sp>
        <p:sp>
          <p:nvSpPr>
            <p:cNvPr id="1354" name="PTV3 forward refined 1">
              <a:extLst>
                <a:ext uri="{FF2B5EF4-FFF2-40B4-BE49-F238E27FC236}">
                  <a16:creationId xmlns:a16="http://schemas.microsoft.com/office/drawing/2014/main" id="{B0492619-D665-D0F6-7061-EDCBCE3DDA3A}"/>
                </a:ext>
              </a:extLst>
            </p:cNvPr>
            <p:cNvSpPr>
              <a:spLocks noGrp="1"/>
            </p:cNvSpPr>
            <p:nvPr/>
          </p:nvSpPr>
          <p:spPr>
            <a:xfrm>
              <a:off x="5447899" y="3106769"/>
              <a:ext cx="255746" cy="191"/>
            </a:xfrm>
            <a:custGeom>
              <a:avLst/>
              <a:gdLst/>
              <a:ahLst/>
              <a:cxnLst/>
              <a:rect l="0" t="0" r="0" b="0"/>
              <a:pathLst>
                <a:path w="255746" h="191">
                  <a:moveTo>
                    <a:pt x="0" y="0"/>
                  </a:moveTo>
                  <a:lnTo>
                    <a:pt x="255746" y="0"/>
                  </a:lnTo>
                </a:path>
              </a:pathLst>
            </a:custGeom>
            <a:noFill/>
            <a:ln w="8505">
              <a:solidFill>
                <a:srgbClr val="77828C"/>
              </a:solidFill>
              <a:prstDash val="solid"/>
            </a:ln>
          </p:spPr>
        </p:sp>
        <p:sp>
          <p:nvSpPr>
            <p:cNvPr id="1355" name="PTV3 forward refined 1 head">
              <a:extLst>
                <a:ext uri="{FF2B5EF4-FFF2-40B4-BE49-F238E27FC236}">
                  <a16:creationId xmlns:a16="http://schemas.microsoft.com/office/drawing/2014/main" id="{B7BCE76F-C831-1ABC-ADA2-90D7588CB987}"/>
                </a:ext>
              </a:extLst>
            </p:cNvPr>
            <p:cNvSpPr>
              <a:spLocks noGrp="1"/>
            </p:cNvSpPr>
            <p:nvPr/>
          </p:nvSpPr>
          <p:spPr>
            <a:xfrm>
              <a:off x="5660307"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solidFill>
                <a:srgbClr val="77828C"/>
              </a:solidFill>
              <a:prstDash val="solid"/>
            </a:ln>
          </p:spPr>
        </p:sp>
        <p:sp>
          <p:nvSpPr>
            <p:cNvPr id="1356" name="PTV3 forward refined 2">
              <a:extLst>
                <a:ext uri="{FF2B5EF4-FFF2-40B4-BE49-F238E27FC236}">
                  <a16:creationId xmlns:a16="http://schemas.microsoft.com/office/drawing/2014/main" id="{24AE15E3-3B2D-CC4A-618E-E9BB13DA2E16}"/>
                </a:ext>
              </a:extLst>
            </p:cNvPr>
            <p:cNvSpPr>
              <a:spLocks noGrp="1"/>
            </p:cNvSpPr>
            <p:nvPr/>
          </p:nvSpPr>
          <p:spPr>
            <a:xfrm>
              <a:off x="6452501" y="3106769"/>
              <a:ext cx="311563" cy="191"/>
            </a:xfrm>
            <a:custGeom>
              <a:avLst/>
              <a:gdLst/>
              <a:ahLst/>
              <a:cxnLst/>
              <a:rect l="0" t="0" r="0" b="0"/>
              <a:pathLst>
                <a:path w="311563" h="191">
                  <a:moveTo>
                    <a:pt x="0" y="0"/>
                  </a:moveTo>
                  <a:lnTo>
                    <a:pt x="311563" y="0"/>
                  </a:lnTo>
                </a:path>
              </a:pathLst>
            </a:custGeom>
            <a:noFill/>
            <a:ln w="8505">
              <a:solidFill>
                <a:srgbClr val="77828C"/>
              </a:solidFill>
              <a:prstDash val="solid"/>
            </a:ln>
          </p:spPr>
        </p:sp>
        <p:sp>
          <p:nvSpPr>
            <p:cNvPr id="1357" name="PTV3 forward refined 2 head">
              <a:extLst>
                <a:ext uri="{FF2B5EF4-FFF2-40B4-BE49-F238E27FC236}">
                  <a16:creationId xmlns:a16="http://schemas.microsoft.com/office/drawing/2014/main" id="{8007E90B-E49B-BC36-45F6-E1B46BA41A6C}"/>
                </a:ext>
              </a:extLst>
            </p:cNvPr>
            <p:cNvSpPr>
              <a:spLocks noGrp="1"/>
            </p:cNvSpPr>
            <p:nvPr/>
          </p:nvSpPr>
          <p:spPr>
            <a:xfrm>
              <a:off x="6720725"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58" name="PTV3 forward refined 3">
              <a:extLst>
                <a:ext uri="{FF2B5EF4-FFF2-40B4-BE49-F238E27FC236}">
                  <a16:creationId xmlns:a16="http://schemas.microsoft.com/office/drawing/2014/main" id="{2D087525-2ABD-3A01-10DA-7F65FB2DD09A}"/>
                </a:ext>
              </a:extLst>
            </p:cNvPr>
            <p:cNvSpPr>
              <a:spLocks noGrp="1"/>
            </p:cNvSpPr>
            <p:nvPr/>
          </p:nvSpPr>
          <p:spPr>
            <a:xfrm>
              <a:off x="7438529" y="3106769"/>
              <a:ext cx="311563" cy="191"/>
            </a:xfrm>
            <a:custGeom>
              <a:avLst/>
              <a:gdLst/>
              <a:ahLst/>
              <a:cxnLst/>
              <a:rect l="0" t="0" r="0" b="0"/>
              <a:pathLst>
                <a:path w="311563" h="191">
                  <a:moveTo>
                    <a:pt x="0" y="0"/>
                  </a:moveTo>
                  <a:lnTo>
                    <a:pt x="311563" y="0"/>
                  </a:lnTo>
                </a:path>
              </a:pathLst>
            </a:custGeom>
            <a:noFill/>
            <a:ln w="8505">
              <a:solidFill>
                <a:srgbClr val="77828C"/>
              </a:solidFill>
              <a:prstDash val="solid"/>
            </a:ln>
          </p:spPr>
        </p:sp>
        <p:sp>
          <p:nvSpPr>
            <p:cNvPr id="1359" name="PTV3 forward refined 3 head">
              <a:extLst>
                <a:ext uri="{FF2B5EF4-FFF2-40B4-BE49-F238E27FC236}">
                  <a16:creationId xmlns:a16="http://schemas.microsoft.com/office/drawing/2014/main" id="{417DAC3E-DE7D-4EBD-83BF-06F7FB2A8085}"/>
                </a:ext>
              </a:extLst>
            </p:cNvPr>
            <p:cNvSpPr>
              <a:spLocks noGrp="1"/>
            </p:cNvSpPr>
            <p:nvPr/>
          </p:nvSpPr>
          <p:spPr>
            <a:xfrm>
              <a:off x="7706753"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solidFill>
                <a:srgbClr val="77828C"/>
              </a:solidFill>
              <a:prstDash val="solid"/>
            </a:ln>
          </p:spPr>
        </p:sp>
        <p:sp>
          <p:nvSpPr>
            <p:cNvPr id="1360" name="PTV3 forward refined 4">
              <a:extLst>
                <a:ext uri="{FF2B5EF4-FFF2-40B4-BE49-F238E27FC236}">
                  <a16:creationId xmlns:a16="http://schemas.microsoft.com/office/drawing/2014/main" id="{3F66A9B7-F35C-EB4C-B102-3F29A4296978}"/>
                </a:ext>
              </a:extLst>
            </p:cNvPr>
            <p:cNvSpPr>
              <a:spLocks noGrp="1"/>
            </p:cNvSpPr>
            <p:nvPr/>
          </p:nvSpPr>
          <p:spPr>
            <a:xfrm>
              <a:off x="8498852" y="3106769"/>
              <a:ext cx="255746" cy="191"/>
            </a:xfrm>
            <a:custGeom>
              <a:avLst/>
              <a:gdLst/>
              <a:ahLst/>
              <a:cxnLst/>
              <a:rect l="0" t="0" r="0" b="0"/>
              <a:pathLst>
                <a:path w="255746" h="191">
                  <a:moveTo>
                    <a:pt x="0" y="0"/>
                  </a:moveTo>
                  <a:lnTo>
                    <a:pt x="255746" y="0"/>
                  </a:lnTo>
                </a:path>
              </a:pathLst>
            </a:custGeom>
            <a:noFill/>
            <a:ln w="8505">
              <a:solidFill>
                <a:srgbClr val="77828C"/>
              </a:solidFill>
              <a:prstDash val="solid"/>
            </a:ln>
          </p:spPr>
        </p:sp>
        <p:sp>
          <p:nvSpPr>
            <p:cNvPr id="1361" name="PTV3 forward refined 4 head">
              <a:extLst>
                <a:ext uri="{FF2B5EF4-FFF2-40B4-BE49-F238E27FC236}">
                  <a16:creationId xmlns:a16="http://schemas.microsoft.com/office/drawing/2014/main" id="{4634E7DB-F8E3-B989-4F8D-785672F195B4}"/>
                </a:ext>
              </a:extLst>
            </p:cNvPr>
            <p:cNvSpPr>
              <a:spLocks noGrp="1"/>
            </p:cNvSpPr>
            <p:nvPr/>
          </p:nvSpPr>
          <p:spPr>
            <a:xfrm>
              <a:off x="8711259"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62" name="Fusion refined 487.16">
              <a:extLst>
                <a:ext uri="{FF2B5EF4-FFF2-40B4-BE49-F238E27FC236}">
                  <a16:creationId xmlns:a16="http://schemas.microsoft.com/office/drawing/2014/main" id="{0FF19FA3-F74F-0EF3-2637-6AA25406EF88}"/>
                </a:ext>
              </a:extLst>
            </p:cNvPr>
            <p:cNvSpPr>
              <a:spLocks noGrp="1"/>
            </p:cNvSpPr>
            <p:nvPr/>
          </p:nvSpPr>
          <p:spPr>
            <a:xfrm>
              <a:off x="5085187" y="2418493"/>
              <a:ext cx="191" cy="404527"/>
            </a:xfrm>
            <a:custGeom>
              <a:avLst/>
              <a:gdLst/>
              <a:ahLst/>
              <a:cxnLst/>
              <a:rect l="0" t="0" r="0" b="0"/>
              <a:pathLst>
                <a:path w="191" h="404527">
                  <a:moveTo>
                    <a:pt x="0" y="0"/>
                  </a:moveTo>
                  <a:lnTo>
                    <a:pt x="0" y="404527"/>
                  </a:lnTo>
                </a:path>
              </a:pathLst>
            </a:custGeom>
            <a:noFill/>
            <a:ln w="8505">
              <a:solidFill>
                <a:srgbClr val="77828C"/>
              </a:solidFill>
              <a:prstDash val="solid"/>
            </a:ln>
          </p:spPr>
        </p:sp>
        <p:sp>
          <p:nvSpPr>
            <p:cNvPr id="1363" name="Fusion refined 487.16 head">
              <a:extLst>
                <a:ext uri="{FF2B5EF4-FFF2-40B4-BE49-F238E27FC236}">
                  <a16:creationId xmlns:a16="http://schemas.microsoft.com/office/drawing/2014/main" id="{3D13397A-1EED-4CCF-C88D-62A5EFCF622C}"/>
                </a:ext>
              </a:extLst>
            </p:cNvPr>
            <p:cNvSpPr>
              <a:spLocks noGrp="1"/>
            </p:cNvSpPr>
            <p:nvPr/>
          </p:nvSpPr>
          <p:spPr>
            <a:xfrm>
              <a:off x="5056517" y="277968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64" name="Fusion refined 700.05">
              <a:extLst>
                <a:ext uri="{FF2B5EF4-FFF2-40B4-BE49-F238E27FC236}">
                  <a16:creationId xmlns:a16="http://schemas.microsoft.com/office/drawing/2014/main" id="{F3328C85-8D10-5BAE-F06A-A042F88B4457}"/>
                </a:ext>
              </a:extLst>
            </p:cNvPr>
            <p:cNvSpPr>
              <a:spLocks noGrp="1"/>
            </p:cNvSpPr>
            <p:nvPr/>
          </p:nvSpPr>
          <p:spPr>
            <a:xfrm>
              <a:off x="7112964" y="2418493"/>
              <a:ext cx="191" cy="404527"/>
            </a:xfrm>
            <a:custGeom>
              <a:avLst/>
              <a:gdLst/>
              <a:ahLst/>
              <a:cxnLst/>
              <a:rect l="0" t="0" r="0" b="0"/>
              <a:pathLst>
                <a:path w="191" h="404527">
                  <a:moveTo>
                    <a:pt x="0" y="0"/>
                  </a:moveTo>
                  <a:lnTo>
                    <a:pt x="0" y="404527"/>
                  </a:lnTo>
                </a:path>
              </a:pathLst>
            </a:custGeom>
            <a:noFill/>
            <a:ln w="8505">
              <a:solidFill>
                <a:srgbClr val="77828C"/>
              </a:solidFill>
              <a:prstDash val="solid"/>
            </a:ln>
          </p:spPr>
        </p:sp>
        <p:sp>
          <p:nvSpPr>
            <p:cNvPr id="1365" name="Fusion refined 700.05 head">
              <a:extLst>
                <a:ext uri="{FF2B5EF4-FFF2-40B4-BE49-F238E27FC236}">
                  <a16:creationId xmlns:a16="http://schemas.microsoft.com/office/drawing/2014/main" id="{615DF42F-7A96-D005-2B04-2E5B83AF189A}"/>
                </a:ext>
              </a:extLst>
            </p:cNvPr>
            <p:cNvSpPr>
              <a:spLocks noGrp="1"/>
            </p:cNvSpPr>
            <p:nvPr/>
          </p:nvSpPr>
          <p:spPr>
            <a:xfrm>
              <a:off x="7084294" y="277968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66" name="Fusion refined 912.94">
              <a:extLst>
                <a:ext uri="{FF2B5EF4-FFF2-40B4-BE49-F238E27FC236}">
                  <a16:creationId xmlns:a16="http://schemas.microsoft.com/office/drawing/2014/main" id="{8F954EB4-FAB9-9DC0-DCA1-6E84B625ECD7}"/>
                </a:ext>
              </a:extLst>
            </p:cNvPr>
            <p:cNvSpPr>
              <a:spLocks noGrp="1"/>
            </p:cNvSpPr>
            <p:nvPr/>
          </p:nvSpPr>
          <p:spPr>
            <a:xfrm>
              <a:off x="9140742" y="2418493"/>
              <a:ext cx="191" cy="404527"/>
            </a:xfrm>
            <a:custGeom>
              <a:avLst/>
              <a:gdLst/>
              <a:ahLst/>
              <a:cxnLst/>
              <a:rect l="0" t="0" r="0" b="0"/>
              <a:pathLst>
                <a:path w="191" h="404527">
                  <a:moveTo>
                    <a:pt x="0" y="0"/>
                  </a:moveTo>
                  <a:lnTo>
                    <a:pt x="0" y="404527"/>
                  </a:lnTo>
                </a:path>
              </a:pathLst>
            </a:custGeom>
            <a:noFill/>
            <a:ln w="8505">
              <a:solidFill>
                <a:srgbClr val="77828C"/>
              </a:solidFill>
              <a:prstDash val="solid"/>
            </a:ln>
          </p:spPr>
        </p:sp>
        <p:sp>
          <p:nvSpPr>
            <p:cNvPr id="1367" name="Fusion refined 912.94 head">
              <a:extLst>
                <a:ext uri="{FF2B5EF4-FFF2-40B4-BE49-F238E27FC236}">
                  <a16:creationId xmlns:a16="http://schemas.microsoft.com/office/drawing/2014/main" id="{DDC6F6E8-2600-F9F0-8C4C-DF220F079064}"/>
                </a:ext>
              </a:extLst>
            </p:cNvPr>
            <p:cNvSpPr>
              <a:spLocks noGrp="1"/>
            </p:cNvSpPr>
            <p:nvPr/>
          </p:nvSpPr>
          <p:spPr>
            <a:xfrm>
              <a:off x="9112071" y="277968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68" name="Recycle right refined">
              <a:extLst>
                <a:ext uri="{FF2B5EF4-FFF2-40B4-BE49-F238E27FC236}">
                  <a16:creationId xmlns:a16="http://schemas.microsoft.com/office/drawing/2014/main" id="{D9AFE2A4-7629-8D55-72A2-74513ED16554}"/>
                </a:ext>
              </a:extLst>
            </p:cNvPr>
            <p:cNvSpPr>
              <a:spLocks noGrp="1"/>
            </p:cNvSpPr>
            <p:nvPr/>
          </p:nvSpPr>
          <p:spPr>
            <a:xfrm>
              <a:off x="7596644" y="3385852"/>
              <a:ext cx="1544098" cy="241840"/>
            </a:xfrm>
            <a:custGeom>
              <a:avLst/>
              <a:gdLst/>
              <a:ahLst/>
              <a:cxnLst/>
              <a:rect l="0" t="0" r="0" b="0"/>
              <a:pathLst>
                <a:path w="1544098" h="241840">
                  <a:moveTo>
                    <a:pt x="1544098" y="0"/>
                  </a:moveTo>
                  <a:lnTo>
                    <a:pt x="1544098" y="241840"/>
                  </a:lnTo>
                  <a:lnTo>
                    <a:pt x="0" y="241840"/>
                  </a:lnTo>
                </a:path>
              </a:pathLst>
            </a:custGeom>
            <a:noFill/>
            <a:ln w="8505">
              <a:solidFill>
                <a:srgbClr val="77828C"/>
              </a:solidFill>
              <a:prstDash val="solid"/>
            </a:ln>
          </p:spPr>
        </p:sp>
        <p:sp>
          <p:nvSpPr>
            <p:cNvPr id="1369" name="Recycle left refined">
              <a:extLst>
                <a:ext uri="{FF2B5EF4-FFF2-40B4-BE49-F238E27FC236}">
                  <a16:creationId xmlns:a16="http://schemas.microsoft.com/office/drawing/2014/main" id="{9E9F6AF5-6C88-4D6A-4EB6-AE11098D540D}"/>
                </a:ext>
              </a:extLst>
            </p:cNvPr>
            <p:cNvSpPr>
              <a:spLocks noGrp="1"/>
            </p:cNvSpPr>
            <p:nvPr/>
          </p:nvSpPr>
          <p:spPr>
            <a:xfrm>
              <a:off x="5085187" y="3409188"/>
              <a:ext cx="1544098" cy="218503"/>
            </a:xfrm>
            <a:custGeom>
              <a:avLst/>
              <a:gdLst/>
              <a:ahLst/>
              <a:cxnLst/>
              <a:rect l="0" t="0" r="0" b="0"/>
              <a:pathLst>
                <a:path w="1544098" h="218503">
                  <a:moveTo>
                    <a:pt x="1544098" y="218503"/>
                  </a:moveTo>
                  <a:lnTo>
                    <a:pt x="0" y="218503"/>
                  </a:lnTo>
                  <a:lnTo>
                    <a:pt x="0" y="0"/>
                  </a:lnTo>
                </a:path>
              </a:pathLst>
            </a:custGeom>
            <a:noFill/>
            <a:ln w="8505">
              <a:solidFill>
                <a:srgbClr val="77828C"/>
              </a:solidFill>
              <a:prstDash val="solid"/>
            </a:ln>
          </p:spPr>
        </p:sp>
        <p:sp>
          <p:nvSpPr>
            <p:cNvPr id="1370" name="Recycle left refined head">
              <a:extLst>
                <a:ext uri="{FF2B5EF4-FFF2-40B4-BE49-F238E27FC236}">
                  <a16:creationId xmlns:a16="http://schemas.microsoft.com/office/drawing/2014/main" id="{FC70626C-9297-3774-289D-8C74BAB81591}"/>
                </a:ext>
              </a:extLst>
            </p:cNvPr>
            <p:cNvSpPr>
              <a:spLocks noGrp="1"/>
            </p:cNvSpPr>
            <p:nvPr/>
          </p:nvSpPr>
          <p:spPr>
            <a:xfrm>
              <a:off x="5056517" y="3385852"/>
              <a:ext cx="57340" cy="66675"/>
            </a:xfrm>
            <a:custGeom>
              <a:avLst/>
              <a:gdLst/>
              <a:ahLst/>
              <a:cxnLst/>
              <a:rect l="0" t="0" r="0" b="0"/>
              <a:pathLst>
                <a:path w="57340" h="66675">
                  <a:moveTo>
                    <a:pt x="28670" y="0"/>
                  </a:moveTo>
                  <a:lnTo>
                    <a:pt x="0" y="66675"/>
                  </a:lnTo>
                  <a:lnTo>
                    <a:pt x="57340" y="66675"/>
                  </a:lnTo>
                  <a:close/>
                </a:path>
              </a:pathLst>
            </a:custGeom>
            <a:solidFill>
              <a:srgbClr val="77828C"/>
            </a:solidFill>
            <a:ln w="0">
              <a:noFill/>
              <a:prstDash val="solid"/>
            </a:ln>
          </p:spPr>
        </p:sp>
        <p:sp>
          <p:nvSpPr>
            <p:cNvPr id="1371" name="Crop to summary refined">
              <a:extLst>
                <a:ext uri="{FF2B5EF4-FFF2-40B4-BE49-F238E27FC236}">
                  <a16:creationId xmlns:a16="http://schemas.microsoft.com/office/drawing/2014/main" id="{23964A60-5300-B32A-CC8C-9F9A10909522}"/>
                </a:ext>
              </a:extLst>
            </p:cNvPr>
            <p:cNvSpPr>
              <a:spLocks noGrp="1"/>
            </p:cNvSpPr>
            <p:nvPr/>
          </p:nvSpPr>
          <p:spPr>
            <a:xfrm>
              <a:off x="3580673" y="6064758"/>
              <a:ext cx="1148715" cy="191"/>
            </a:xfrm>
            <a:custGeom>
              <a:avLst/>
              <a:gdLst/>
              <a:ahLst/>
              <a:cxnLst/>
              <a:rect l="0" t="0" r="0" b="0"/>
              <a:pathLst>
                <a:path w="1148715" h="191">
                  <a:moveTo>
                    <a:pt x="0" y="0"/>
                  </a:moveTo>
                  <a:lnTo>
                    <a:pt x="1148715" y="0"/>
                  </a:lnTo>
                </a:path>
              </a:pathLst>
            </a:custGeom>
            <a:noFill/>
            <a:ln w="8505">
              <a:solidFill>
                <a:srgbClr val="77828C"/>
              </a:solidFill>
              <a:prstDash val="solid"/>
            </a:ln>
          </p:spPr>
        </p:sp>
        <p:sp>
          <p:nvSpPr>
            <p:cNvPr id="1372" name="Crop to summary refined head">
              <a:extLst>
                <a:ext uri="{FF2B5EF4-FFF2-40B4-BE49-F238E27FC236}">
                  <a16:creationId xmlns:a16="http://schemas.microsoft.com/office/drawing/2014/main" id="{864E15CB-81EF-2FAC-14F2-E25D89F29346}"/>
                </a:ext>
              </a:extLst>
            </p:cNvPr>
            <p:cNvSpPr>
              <a:spLocks noGrp="1"/>
            </p:cNvSpPr>
            <p:nvPr/>
          </p:nvSpPr>
          <p:spPr>
            <a:xfrm>
              <a:off x="4686050" y="6036088"/>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73" name="Input split refined">
              <a:extLst>
                <a:ext uri="{FF2B5EF4-FFF2-40B4-BE49-F238E27FC236}">
                  <a16:creationId xmlns:a16="http://schemas.microsoft.com/office/drawing/2014/main" id="{B4BBBDF4-6774-1D2C-95B2-F3B88AB1C869}"/>
                </a:ext>
              </a:extLst>
            </p:cNvPr>
            <p:cNvSpPr>
              <a:spLocks noGrp="1"/>
            </p:cNvSpPr>
            <p:nvPr/>
          </p:nvSpPr>
          <p:spPr>
            <a:xfrm>
              <a:off x="2073914" y="7793355"/>
              <a:ext cx="846772" cy="160020"/>
            </a:xfrm>
            <a:custGeom>
              <a:avLst/>
              <a:gdLst/>
              <a:ahLst/>
              <a:cxnLst/>
              <a:rect l="0" t="0" r="0" b="0"/>
              <a:pathLst>
                <a:path w="846772" h="160020">
                  <a:moveTo>
                    <a:pt x="846772" y="0"/>
                  </a:moveTo>
                  <a:lnTo>
                    <a:pt x="846772" y="160020"/>
                  </a:lnTo>
                  <a:lnTo>
                    <a:pt x="0" y="160020"/>
                  </a:lnTo>
                </a:path>
              </a:pathLst>
            </a:custGeom>
            <a:noFill/>
            <a:ln w="8505">
              <a:solidFill>
                <a:srgbClr val="77828C"/>
              </a:solidFill>
              <a:prstDash val="solid"/>
            </a:ln>
          </p:spPr>
        </p:sp>
        <p:sp>
          <p:nvSpPr>
            <p:cNvPr id="1374" name="Input split right refined">
              <a:extLst>
                <a:ext uri="{FF2B5EF4-FFF2-40B4-BE49-F238E27FC236}">
                  <a16:creationId xmlns:a16="http://schemas.microsoft.com/office/drawing/2014/main" id="{950F0CCA-2F88-9AFF-22D8-DAA7ACB6176C}"/>
                </a:ext>
              </a:extLst>
            </p:cNvPr>
            <p:cNvSpPr>
              <a:spLocks noGrp="1"/>
            </p:cNvSpPr>
            <p:nvPr/>
          </p:nvSpPr>
          <p:spPr>
            <a:xfrm>
              <a:off x="2920686" y="7953375"/>
              <a:ext cx="827723" cy="191"/>
            </a:xfrm>
            <a:custGeom>
              <a:avLst/>
              <a:gdLst/>
              <a:ahLst/>
              <a:cxnLst/>
              <a:rect l="0" t="0" r="0" b="0"/>
              <a:pathLst>
                <a:path w="827723" h="191">
                  <a:moveTo>
                    <a:pt x="0" y="0"/>
                  </a:moveTo>
                  <a:lnTo>
                    <a:pt x="827723" y="0"/>
                  </a:lnTo>
                </a:path>
              </a:pathLst>
            </a:custGeom>
            <a:noFill/>
            <a:ln w="8505">
              <a:solidFill>
                <a:srgbClr val="77828C"/>
              </a:solidFill>
              <a:prstDash val="solid"/>
            </a:ln>
          </p:spPr>
        </p:sp>
        <p:sp>
          <p:nvSpPr>
            <p:cNvPr id="1375" name="Inputs to pool refined">
              <a:extLst>
                <a:ext uri="{FF2B5EF4-FFF2-40B4-BE49-F238E27FC236}">
                  <a16:creationId xmlns:a16="http://schemas.microsoft.com/office/drawing/2014/main" id="{B22E0EF3-FD19-0826-1822-07182CC69FC5}"/>
                </a:ext>
              </a:extLst>
            </p:cNvPr>
            <p:cNvSpPr>
              <a:spLocks noGrp="1"/>
            </p:cNvSpPr>
            <p:nvPr/>
          </p:nvSpPr>
          <p:spPr>
            <a:xfrm>
              <a:off x="2073914" y="7953375"/>
              <a:ext cx="191" cy="143732"/>
            </a:xfrm>
            <a:custGeom>
              <a:avLst/>
              <a:gdLst/>
              <a:ahLst/>
              <a:cxnLst/>
              <a:rect l="0" t="0" r="0" b="0"/>
              <a:pathLst>
                <a:path w="191" h="143732">
                  <a:moveTo>
                    <a:pt x="0" y="0"/>
                  </a:moveTo>
                  <a:lnTo>
                    <a:pt x="0" y="143732"/>
                  </a:lnTo>
                </a:path>
              </a:pathLst>
            </a:custGeom>
            <a:noFill/>
            <a:ln w="8505">
              <a:solidFill>
                <a:srgbClr val="77828C"/>
              </a:solidFill>
              <a:prstDash val="solid"/>
            </a:ln>
          </p:spPr>
        </p:sp>
        <p:sp>
          <p:nvSpPr>
            <p:cNvPr id="1376" name="Inputs to pool refined head">
              <a:extLst>
                <a:ext uri="{FF2B5EF4-FFF2-40B4-BE49-F238E27FC236}">
                  <a16:creationId xmlns:a16="http://schemas.microsoft.com/office/drawing/2014/main" id="{CA70B1F6-4A00-BABC-2972-012866989961}"/>
                </a:ext>
              </a:extLst>
            </p:cNvPr>
            <p:cNvSpPr>
              <a:spLocks noGrp="1"/>
            </p:cNvSpPr>
            <p:nvPr/>
          </p:nvSpPr>
          <p:spPr>
            <a:xfrm>
              <a:off x="2045243" y="8053769"/>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77" name="Inputs to attention refined">
              <a:extLst>
                <a:ext uri="{FF2B5EF4-FFF2-40B4-BE49-F238E27FC236}">
                  <a16:creationId xmlns:a16="http://schemas.microsoft.com/office/drawing/2014/main" id="{08F1A61E-3B0E-8BF6-7F27-5CCE4D22C59A}"/>
                </a:ext>
              </a:extLst>
            </p:cNvPr>
            <p:cNvSpPr>
              <a:spLocks noGrp="1"/>
            </p:cNvSpPr>
            <p:nvPr/>
          </p:nvSpPr>
          <p:spPr>
            <a:xfrm>
              <a:off x="3748409" y="7953375"/>
              <a:ext cx="191" cy="143732"/>
            </a:xfrm>
            <a:custGeom>
              <a:avLst/>
              <a:gdLst/>
              <a:ahLst/>
              <a:cxnLst/>
              <a:rect l="0" t="0" r="0" b="0"/>
              <a:pathLst>
                <a:path w="191" h="143732">
                  <a:moveTo>
                    <a:pt x="0" y="0"/>
                  </a:moveTo>
                  <a:lnTo>
                    <a:pt x="0" y="143732"/>
                  </a:lnTo>
                </a:path>
              </a:pathLst>
            </a:custGeom>
            <a:noFill/>
            <a:ln w="8505">
              <a:solidFill>
                <a:srgbClr val="77828C"/>
              </a:solidFill>
              <a:prstDash val="solid"/>
            </a:ln>
          </p:spPr>
        </p:sp>
        <p:sp>
          <p:nvSpPr>
            <p:cNvPr id="1378" name="Inputs to attention refined head">
              <a:extLst>
                <a:ext uri="{FF2B5EF4-FFF2-40B4-BE49-F238E27FC236}">
                  <a16:creationId xmlns:a16="http://schemas.microsoft.com/office/drawing/2014/main" id="{4A8E2717-7DBF-7A20-898F-8A4B8D99C916}"/>
                </a:ext>
              </a:extLst>
            </p:cNvPr>
            <p:cNvSpPr>
              <a:spLocks noGrp="1"/>
            </p:cNvSpPr>
            <p:nvPr/>
          </p:nvSpPr>
          <p:spPr>
            <a:xfrm>
              <a:off x="3719738" y="8053769"/>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83" name="MLP to FiLM refined">
              <a:extLst>
                <a:ext uri="{FF2B5EF4-FFF2-40B4-BE49-F238E27FC236}">
                  <a16:creationId xmlns:a16="http://schemas.microsoft.com/office/drawing/2014/main" id="{2C7C678A-F3D0-E51D-2CD6-B41E5CBA7774}"/>
                </a:ext>
              </a:extLst>
            </p:cNvPr>
            <p:cNvSpPr>
              <a:spLocks noGrp="1"/>
            </p:cNvSpPr>
            <p:nvPr/>
          </p:nvSpPr>
          <p:spPr>
            <a:xfrm>
              <a:off x="3319784" y="8968264"/>
              <a:ext cx="1502569" cy="191"/>
            </a:xfrm>
            <a:custGeom>
              <a:avLst/>
              <a:gdLst/>
              <a:ahLst/>
              <a:cxnLst/>
              <a:rect l="0" t="0" r="0" b="0"/>
              <a:pathLst>
                <a:path w="1502569" h="191">
                  <a:moveTo>
                    <a:pt x="0" y="0"/>
                  </a:moveTo>
                  <a:lnTo>
                    <a:pt x="1502569" y="0"/>
                  </a:lnTo>
                </a:path>
              </a:pathLst>
            </a:custGeom>
            <a:noFill/>
            <a:ln w="8505">
              <a:solidFill>
                <a:srgbClr val="77828C"/>
              </a:solidFill>
              <a:prstDash val="solid"/>
            </a:ln>
          </p:spPr>
        </p:sp>
        <p:sp>
          <p:nvSpPr>
            <p:cNvPr id="1384" name="MLP to FiLM refined head">
              <a:extLst>
                <a:ext uri="{FF2B5EF4-FFF2-40B4-BE49-F238E27FC236}">
                  <a16:creationId xmlns:a16="http://schemas.microsoft.com/office/drawing/2014/main" id="{E62BF4CB-2DFB-E34F-0A43-259454CA6416}"/>
                </a:ext>
              </a:extLst>
            </p:cNvPr>
            <p:cNvSpPr>
              <a:spLocks noGrp="1"/>
            </p:cNvSpPr>
            <p:nvPr/>
          </p:nvSpPr>
          <p:spPr>
            <a:xfrm>
              <a:off x="4779014" y="8939594"/>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85" name="Summary to FiLM refined">
              <a:extLst>
                <a:ext uri="{FF2B5EF4-FFF2-40B4-BE49-F238E27FC236}">
                  <a16:creationId xmlns:a16="http://schemas.microsoft.com/office/drawing/2014/main" id="{4AD6C56A-E9C3-F934-64AC-D936F1D8505E}"/>
                </a:ext>
              </a:extLst>
            </p:cNvPr>
            <p:cNvSpPr>
              <a:spLocks noGrp="1"/>
            </p:cNvSpPr>
            <p:nvPr/>
          </p:nvSpPr>
          <p:spPr>
            <a:xfrm>
              <a:off x="5199066" y="6400800"/>
              <a:ext cx="191" cy="2367439"/>
            </a:xfrm>
            <a:custGeom>
              <a:avLst/>
              <a:gdLst/>
              <a:ahLst/>
              <a:cxnLst/>
              <a:rect l="0" t="0" r="0" b="0"/>
              <a:pathLst>
                <a:path w="191" h="2367439">
                  <a:moveTo>
                    <a:pt x="0" y="0"/>
                  </a:moveTo>
                  <a:lnTo>
                    <a:pt x="0" y="2367439"/>
                  </a:lnTo>
                </a:path>
              </a:pathLst>
            </a:custGeom>
            <a:noFill/>
            <a:ln w="8505">
              <a:solidFill>
                <a:srgbClr val="77828C"/>
              </a:solidFill>
              <a:prstDash val="solid"/>
            </a:ln>
          </p:spPr>
        </p:sp>
        <p:sp>
          <p:nvSpPr>
            <p:cNvPr id="1386" name="Summary to FiLM refined head">
              <a:extLst>
                <a:ext uri="{FF2B5EF4-FFF2-40B4-BE49-F238E27FC236}">
                  <a16:creationId xmlns:a16="http://schemas.microsoft.com/office/drawing/2014/main" id="{EEAEF4BF-5039-6C23-B675-9771749FE17A}"/>
                </a:ext>
              </a:extLst>
            </p:cNvPr>
            <p:cNvSpPr>
              <a:spLocks noGrp="1"/>
            </p:cNvSpPr>
            <p:nvPr/>
          </p:nvSpPr>
          <p:spPr>
            <a:xfrm>
              <a:off x="5170396" y="8724900"/>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87" name="Summary to cross attention refined">
              <a:extLst>
                <a:ext uri="{FF2B5EF4-FFF2-40B4-BE49-F238E27FC236}">
                  <a16:creationId xmlns:a16="http://schemas.microsoft.com/office/drawing/2014/main" id="{EFD90DBF-A222-410E-15F3-D541CA16A8AE}"/>
                </a:ext>
              </a:extLst>
            </p:cNvPr>
            <p:cNvSpPr>
              <a:spLocks noGrp="1"/>
            </p:cNvSpPr>
            <p:nvPr/>
          </p:nvSpPr>
          <p:spPr>
            <a:xfrm>
              <a:off x="4534221" y="8297132"/>
              <a:ext cx="664845" cy="191"/>
            </a:xfrm>
            <a:custGeom>
              <a:avLst/>
              <a:gdLst/>
              <a:ahLst/>
              <a:cxnLst/>
              <a:rect l="0" t="0" r="0" b="0"/>
              <a:pathLst>
                <a:path w="664845" h="191">
                  <a:moveTo>
                    <a:pt x="664845" y="0"/>
                  </a:moveTo>
                  <a:lnTo>
                    <a:pt x="0" y="0"/>
                  </a:lnTo>
                </a:path>
              </a:pathLst>
            </a:custGeom>
            <a:noFill/>
            <a:ln w="8505">
              <a:solidFill>
                <a:srgbClr val="77828C"/>
              </a:solidFill>
              <a:prstDash val="solid"/>
            </a:ln>
          </p:spPr>
        </p:sp>
        <p:sp>
          <p:nvSpPr>
            <p:cNvPr id="1388" name="Summary to cross attention refined head">
              <a:extLst>
                <a:ext uri="{FF2B5EF4-FFF2-40B4-BE49-F238E27FC236}">
                  <a16:creationId xmlns:a16="http://schemas.microsoft.com/office/drawing/2014/main" id="{91B08F31-0339-9716-3395-2B3F8970BA82}"/>
                </a:ext>
              </a:extLst>
            </p:cNvPr>
            <p:cNvSpPr>
              <a:spLocks noGrp="1"/>
            </p:cNvSpPr>
            <p:nvPr/>
          </p:nvSpPr>
          <p:spPr>
            <a:xfrm>
              <a:off x="4510885" y="8268462"/>
              <a:ext cx="66675" cy="57340"/>
            </a:xfrm>
            <a:custGeom>
              <a:avLst/>
              <a:gdLst/>
              <a:ahLst/>
              <a:cxnLst/>
              <a:rect l="0" t="0" r="0" b="0"/>
              <a:pathLst>
                <a:path w="66675" h="57340">
                  <a:moveTo>
                    <a:pt x="0" y="28670"/>
                  </a:moveTo>
                  <a:lnTo>
                    <a:pt x="66675" y="57340"/>
                  </a:lnTo>
                  <a:lnTo>
                    <a:pt x="66675" y="0"/>
                  </a:lnTo>
                  <a:close/>
                </a:path>
              </a:pathLst>
            </a:custGeom>
            <a:solidFill>
              <a:srgbClr val="77828C"/>
            </a:solidFill>
            <a:ln w="0">
              <a:noFill/>
              <a:prstDash val="solid"/>
            </a:ln>
          </p:spPr>
        </p:sp>
        <p:sp>
          <p:nvSpPr>
            <p:cNvPr id="1389" name="FiLM to candidate refined">
              <a:extLst>
                <a:ext uri="{FF2B5EF4-FFF2-40B4-BE49-F238E27FC236}">
                  <a16:creationId xmlns:a16="http://schemas.microsoft.com/office/drawing/2014/main" id="{25FC3F76-C3DD-1537-7837-64B9361AE243}"/>
                </a:ext>
              </a:extLst>
            </p:cNvPr>
            <p:cNvSpPr>
              <a:spLocks noGrp="1"/>
            </p:cNvSpPr>
            <p:nvPr/>
          </p:nvSpPr>
          <p:spPr>
            <a:xfrm>
              <a:off x="5199066" y="9144953"/>
              <a:ext cx="191" cy="215360"/>
            </a:xfrm>
            <a:custGeom>
              <a:avLst/>
              <a:gdLst/>
              <a:ahLst/>
              <a:cxnLst/>
              <a:rect l="0" t="0" r="0" b="0"/>
              <a:pathLst>
                <a:path w="191" h="215360">
                  <a:moveTo>
                    <a:pt x="0" y="0"/>
                  </a:moveTo>
                  <a:lnTo>
                    <a:pt x="0" y="215360"/>
                  </a:lnTo>
                </a:path>
              </a:pathLst>
            </a:custGeom>
            <a:noFill/>
            <a:ln w="8505">
              <a:solidFill>
                <a:srgbClr val="77828C"/>
              </a:solidFill>
              <a:prstDash val="solid"/>
            </a:ln>
          </p:spPr>
        </p:sp>
        <p:sp>
          <p:nvSpPr>
            <p:cNvPr id="1390" name="FiLM to candidate refined head">
              <a:extLst>
                <a:ext uri="{FF2B5EF4-FFF2-40B4-BE49-F238E27FC236}">
                  <a16:creationId xmlns:a16="http://schemas.microsoft.com/office/drawing/2014/main" id="{7A05C2E3-B0E7-7DA8-4847-EC91C004D35D}"/>
                </a:ext>
              </a:extLst>
            </p:cNvPr>
            <p:cNvSpPr>
              <a:spLocks noGrp="1"/>
            </p:cNvSpPr>
            <p:nvPr/>
          </p:nvSpPr>
          <p:spPr>
            <a:xfrm>
              <a:off x="5170396" y="9316974"/>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91" name="Candidate to foreground refined">
              <a:extLst>
                <a:ext uri="{FF2B5EF4-FFF2-40B4-BE49-F238E27FC236}">
                  <a16:creationId xmlns:a16="http://schemas.microsoft.com/office/drawing/2014/main" id="{FE203BD6-3778-87C2-8526-E332B5B380C4}"/>
                </a:ext>
              </a:extLst>
            </p:cNvPr>
            <p:cNvSpPr>
              <a:spLocks noGrp="1"/>
            </p:cNvSpPr>
            <p:nvPr/>
          </p:nvSpPr>
          <p:spPr>
            <a:xfrm>
              <a:off x="2390048" y="9525000"/>
              <a:ext cx="2809018" cy="286702"/>
            </a:xfrm>
            <a:custGeom>
              <a:avLst/>
              <a:gdLst/>
              <a:ahLst/>
              <a:cxnLst/>
              <a:rect l="0" t="0" r="0" b="0"/>
              <a:pathLst>
                <a:path w="2809018" h="286702">
                  <a:moveTo>
                    <a:pt x="2809018" y="0"/>
                  </a:moveTo>
                  <a:lnTo>
                    <a:pt x="2809018" y="95250"/>
                  </a:lnTo>
                  <a:lnTo>
                    <a:pt x="0" y="95250"/>
                  </a:lnTo>
                  <a:lnTo>
                    <a:pt x="0" y="286702"/>
                  </a:lnTo>
                </a:path>
              </a:pathLst>
            </a:custGeom>
            <a:noFill/>
            <a:ln w="8505">
              <a:solidFill>
                <a:srgbClr val="77828C"/>
              </a:solidFill>
              <a:prstDash val="solid"/>
            </a:ln>
          </p:spPr>
        </p:sp>
        <p:sp>
          <p:nvSpPr>
            <p:cNvPr id="1392" name="Candidate to foreground refined head">
              <a:extLst>
                <a:ext uri="{FF2B5EF4-FFF2-40B4-BE49-F238E27FC236}">
                  <a16:creationId xmlns:a16="http://schemas.microsoft.com/office/drawing/2014/main" id="{D2B7433A-243E-C206-1CB1-3F191E6AD029}"/>
                </a:ext>
              </a:extLst>
            </p:cNvPr>
            <p:cNvSpPr>
              <a:spLocks noGrp="1"/>
            </p:cNvSpPr>
            <p:nvPr/>
          </p:nvSpPr>
          <p:spPr>
            <a:xfrm>
              <a:off x="2361378" y="9768364"/>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93" name="Foreground to probability refined">
              <a:extLst>
                <a:ext uri="{FF2B5EF4-FFF2-40B4-BE49-F238E27FC236}">
                  <a16:creationId xmlns:a16="http://schemas.microsoft.com/office/drawing/2014/main" id="{D5A6B998-ADFA-E982-8C35-E6D90114C21C}"/>
                </a:ext>
              </a:extLst>
            </p:cNvPr>
            <p:cNvSpPr>
              <a:spLocks noGrp="1"/>
            </p:cNvSpPr>
            <p:nvPr/>
          </p:nvSpPr>
          <p:spPr>
            <a:xfrm>
              <a:off x="3190053" y="9971532"/>
              <a:ext cx="600742" cy="191"/>
            </a:xfrm>
            <a:custGeom>
              <a:avLst/>
              <a:gdLst/>
              <a:ahLst/>
              <a:cxnLst/>
              <a:rect l="0" t="0" r="0" b="0"/>
              <a:pathLst>
                <a:path w="600742" h="191">
                  <a:moveTo>
                    <a:pt x="0" y="0"/>
                  </a:moveTo>
                  <a:lnTo>
                    <a:pt x="600742" y="0"/>
                  </a:lnTo>
                </a:path>
              </a:pathLst>
            </a:custGeom>
            <a:noFill/>
            <a:ln w="8505">
              <a:solidFill>
                <a:srgbClr val="77828C"/>
              </a:solidFill>
              <a:prstDash val="solid"/>
            </a:ln>
          </p:spPr>
        </p:sp>
        <p:sp>
          <p:nvSpPr>
            <p:cNvPr id="1394" name="Foreground to probability refined head">
              <a:extLst>
                <a:ext uri="{FF2B5EF4-FFF2-40B4-BE49-F238E27FC236}">
                  <a16:creationId xmlns:a16="http://schemas.microsoft.com/office/drawing/2014/main" id="{660BE4D6-2608-6E09-7FF4-AD7C50994699}"/>
                </a:ext>
              </a:extLst>
            </p:cNvPr>
            <p:cNvSpPr>
              <a:spLocks noGrp="1"/>
            </p:cNvSpPr>
            <p:nvPr/>
          </p:nvSpPr>
          <p:spPr>
            <a:xfrm>
              <a:off x="3747456" y="9942862"/>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95" name="Candidate to cosine refined">
              <a:extLst>
                <a:ext uri="{FF2B5EF4-FFF2-40B4-BE49-F238E27FC236}">
                  <a16:creationId xmlns:a16="http://schemas.microsoft.com/office/drawing/2014/main" id="{22A5040B-9402-AB7D-9094-F4BF5F10ADD2}"/>
                </a:ext>
              </a:extLst>
            </p:cNvPr>
            <p:cNvSpPr>
              <a:spLocks noGrp="1"/>
            </p:cNvSpPr>
            <p:nvPr/>
          </p:nvSpPr>
          <p:spPr>
            <a:xfrm>
              <a:off x="5199066" y="9525000"/>
              <a:ext cx="2478033" cy="446532"/>
            </a:xfrm>
            <a:custGeom>
              <a:avLst/>
              <a:gdLst/>
              <a:ahLst/>
              <a:cxnLst/>
              <a:rect l="0" t="0" r="0" b="0"/>
              <a:pathLst>
                <a:path w="2143887" h="446532">
                  <a:moveTo>
                    <a:pt x="0" y="0"/>
                  </a:moveTo>
                  <a:lnTo>
                    <a:pt x="0" y="446532"/>
                  </a:lnTo>
                  <a:lnTo>
                    <a:pt x="2143887" y="446532"/>
                  </a:lnTo>
                </a:path>
              </a:pathLst>
            </a:custGeom>
            <a:noFill/>
            <a:ln w="8505">
              <a:solidFill>
                <a:srgbClr val="77828C"/>
              </a:solidFill>
              <a:prstDash val="solid"/>
            </a:ln>
          </p:spPr>
        </p:sp>
        <p:sp>
          <p:nvSpPr>
            <p:cNvPr id="1396" name="Candidate to cosine refined head">
              <a:extLst>
                <a:ext uri="{FF2B5EF4-FFF2-40B4-BE49-F238E27FC236}">
                  <a16:creationId xmlns:a16="http://schemas.microsoft.com/office/drawing/2014/main" id="{D0F3AAE9-EBC0-FC07-AF0A-FBDAD938D93E}"/>
                </a:ext>
              </a:extLst>
            </p:cNvPr>
            <p:cNvSpPr>
              <a:spLocks noGrp="1"/>
            </p:cNvSpPr>
            <p:nvPr/>
          </p:nvSpPr>
          <p:spPr>
            <a:xfrm>
              <a:off x="7633759" y="9942862"/>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97" name="Selected identity to graph refined">
              <a:extLst>
                <a:ext uri="{FF2B5EF4-FFF2-40B4-BE49-F238E27FC236}">
                  <a16:creationId xmlns:a16="http://schemas.microsoft.com/office/drawing/2014/main" id="{2545D43E-9B8D-BA3E-80CD-880BD63B35AE}"/>
                </a:ext>
              </a:extLst>
            </p:cNvPr>
            <p:cNvSpPr>
              <a:spLocks noGrp="1"/>
            </p:cNvSpPr>
            <p:nvPr/>
          </p:nvSpPr>
          <p:spPr>
            <a:xfrm>
              <a:off x="7067879" y="6134481"/>
              <a:ext cx="651129" cy="595217"/>
            </a:xfrm>
            <a:custGeom>
              <a:avLst/>
              <a:gdLst/>
              <a:ahLst/>
              <a:cxnLst/>
              <a:rect l="0" t="0" r="0" b="0"/>
              <a:pathLst>
                <a:path w="651129" h="595217">
                  <a:moveTo>
                    <a:pt x="651129" y="0"/>
                  </a:moveTo>
                  <a:lnTo>
                    <a:pt x="0" y="0"/>
                  </a:lnTo>
                  <a:lnTo>
                    <a:pt x="0" y="595217"/>
                  </a:lnTo>
                </a:path>
              </a:pathLst>
            </a:custGeom>
            <a:noFill/>
            <a:ln w="8505">
              <a:solidFill>
                <a:srgbClr val="77828C"/>
              </a:solidFill>
              <a:prstDash val="solid"/>
            </a:ln>
          </p:spPr>
        </p:sp>
        <p:sp>
          <p:nvSpPr>
            <p:cNvPr id="1398" name="Selected identity to graph refined head">
              <a:extLst>
                <a:ext uri="{FF2B5EF4-FFF2-40B4-BE49-F238E27FC236}">
                  <a16:creationId xmlns:a16="http://schemas.microsoft.com/office/drawing/2014/main" id="{2F033F6F-AC85-37DE-479C-D063C3DB8E25}"/>
                </a:ext>
              </a:extLst>
            </p:cNvPr>
            <p:cNvSpPr>
              <a:spLocks noGrp="1"/>
            </p:cNvSpPr>
            <p:nvPr/>
          </p:nvSpPr>
          <p:spPr>
            <a:xfrm>
              <a:off x="7039209" y="6686360"/>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99" name="Graph to GNN refined">
              <a:extLst>
                <a:ext uri="{FF2B5EF4-FFF2-40B4-BE49-F238E27FC236}">
                  <a16:creationId xmlns:a16="http://schemas.microsoft.com/office/drawing/2014/main" id="{7EF864D3-D6E3-5180-82C2-0A0AE886C150}"/>
                </a:ext>
              </a:extLst>
            </p:cNvPr>
            <p:cNvSpPr>
              <a:spLocks noGrp="1"/>
            </p:cNvSpPr>
            <p:nvPr/>
          </p:nvSpPr>
          <p:spPr>
            <a:xfrm>
              <a:off x="7067879" y="7441406"/>
              <a:ext cx="191" cy="153448"/>
            </a:xfrm>
            <a:custGeom>
              <a:avLst/>
              <a:gdLst/>
              <a:ahLst/>
              <a:cxnLst/>
              <a:rect l="0" t="0" r="0" b="0"/>
              <a:pathLst>
                <a:path w="191" h="153448">
                  <a:moveTo>
                    <a:pt x="0" y="0"/>
                  </a:moveTo>
                  <a:lnTo>
                    <a:pt x="0" y="153448"/>
                  </a:lnTo>
                </a:path>
              </a:pathLst>
            </a:custGeom>
            <a:noFill/>
            <a:ln w="8505">
              <a:solidFill>
                <a:srgbClr val="77828C"/>
              </a:solidFill>
              <a:prstDash val="solid"/>
            </a:ln>
          </p:spPr>
        </p:sp>
        <p:sp>
          <p:nvSpPr>
            <p:cNvPr id="1400" name="Graph to GNN refined head">
              <a:extLst>
                <a:ext uri="{FF2B5EF4-FFF2-40B4-BE49-F238E27FC236}">
                  <a16:creationId xmlns:a16="http://schemas.microsoft.com/office/drawing/2014/main" id="{B23BD653-4893-2671-9B86-7F888A6E5617}"/>
                </a:ext>
              </a:extLst>
            </p:cNvPr>
            <p:cNvSpPr>
              <a:spLocks noGrp="1"/>
            </p:cNvSpPr>
            <p:nvPr/>
          </p:nvSpPr>
          <p:spPr>
            <a:xfrm>
              <a:off x="7039209" y="7551515"/>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1" name="GNN to graph attention refined">
              <a:extLst>
                <a:ext uri="{FF2B5EF4-FFF2-40B4-BE49-F238E27FC236}">
                  <a16:creationId xmlns:a16="http://schemas.microsoft.com/office/drawing/2014/main" id="{B0DCC1B2-7C1A-332C-0127-08382278DBC6}"/>
                </a:ext>
              </a:extLst>
            </p:cNvPr>
            <p:cNvSpPr>
              <a:spLocks noGrp="1"/>
            </p:cNvSpPr>
            <p:nvPr/>
          </p:nvSpPr>
          <p:spPr>
            <a:xfrm>
              <a:off x="7067879" y="7934420"/>
              <a:ext cx="191" cy="274320"/>
            </a:xfrm>
            <a:custGeom>
              <a:avLst/>
              <a:gdLst/>
              <a:ahLst/>
              <a:cxnLst/>
              <a:rect l="0" t="0" r="0" b="0"/>
              <a:pathLst>
                <a:path w="191" h="274320">
                  <a:moveTo>
                    <a:pt x="0" y="0"/>
                  </a:moveTo>
                  <a:lnTo>
                    <a:pt x="0" y="274320"/>
                  </a:lnTo>
                </a:path>
              </a:pathLst>
            </a:custGeom>
            <a:noFill/>
            <a:ln w="8505">
              <a:solidFill>
                <a:srgbClr val="77828C"/>
              </a:solidFill>
              <a:prstDash val="solid"/>
            </a:ln>
          </p:spPr>
        </p:sp>
        <p:sp>
          <p:nvSpPr>
            <p:cNvPr id="1402" name="GNN to graph attention refined head">
              <a:extLst>
                <a:ext uri="{FF2B5EF4-FFF2-40B4-BE49-F238E27FC236}">
                  <a16:creationId xmlns:a16="http://schemas.microsoft.com/office/drawing/2014/main" id="{F5D1A0D2-1869-EB89-61A3-D3ABFE580C35}"/>
                </a:ext>
              </a:extLst>
            </p:cNvPr>
            <p:cNvSpPr>
              <a:spLocks noGrp="1"/>
            </p:cNvSpPr>
            <p:nvPr/>
          </p:nvSpPr>
          <p:spPr>
            <a:xfrm>
              <a:off x="7039209" y="816540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3" name="Identity to SMI-TED refined">
              <a:extLst>
                <a:ext uri="{FF2B5EF4-FFF2-40B4-BE49-F238E27FC236}">
                  <a16:creationId xmlns:a16="http://schemas.microsoft.com/office/drawing/2014/main" id="{416B661C-118E-CA99-59DC-DA4857A74E2E}"/>
                </a:ext>
              </a:extLst>
            </p:cNvPr>
            <p:cNvSpPr>
              <a:spLocks noGrp="1"/>
            </p:cNvSpPr>
            <p:nvPr/>
          </p:nvSpPr>
          <p:spPr>
            <a:xfrm>
              <a:off x="8637980" y="6638068"/>
              <a:ext cx="191" cy="326993"/>
            </a:xfrm>
            <a:custGeom>
              <a:avLst/>
              <a:gdLst/>
              <a:ahLst/>
              <a:cxnLst/>
              <a:rect l="0" t="0" r="0" b="0"/>
              <a:pathLst>
                <a:path w="191" h="326993">
                  <a:moveTo>
                    <a:pt x="0" y="0"/>
                  </a:moveTo>
                  <a:lnTo>
                    <a:pt x="0" y="326993"/>
                  </a:lnTo>
                </a:path>
              </a:pathLst>
            </a:custGeom>
            <a:noFill/>
            <a:ln w="8505">
              <a:solidFill>
                <a:srgbClr val="77828C"/>
              </a:solidFill>
              <a:prstDash val="solid"/>
            </a:ln>
          </p:spPr>
        </p:sp>
        <p:sp>
          <p:nvSpPr>
            <p:cNvPr id="1404" name="Identity to SMI-TED refined head">
              <a:extLst>
                <a:ext uri="{FF2B5EF4-FFF2-40B4-BE49-F238E27FC236}">
                  <a16:creationId xmlns:a16="http://schemas.microsoft.com/office/drawing/2014/main" id="{0BA2F96A-2AFB-7C00-99C8-78C9DC78B848}"/>
                </a:ext>
              </a:extLst>
            </p:cNvPr>
            <p:cNvSpPr>
              <a:spLocks noGrp="1"/>
            </p:cNvSpPr>
            <p:nvPr/>
          </p:nvSpPr>
          <p:spPr>
            <a:xfrm>
              <a:off x="8609310" y="692172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5" name="SMI-TED to language refined">
              <a:extLst>
                <a:ext uri="{FF2B5EF4-FFF2-40B4-BE49-F238E27FC236}">
                  <a16:creationId xmlns:a16="http://schemas.microsoft.com/office/drawing/2014/main" id="{688B9630-847C-74A2-04EF-D75E08D7E423}"/>
                </a:ext>
              </a:extLst>
            </p:cNvPr>
            <p:cNvSpPr>
              <a:spLocks noGrp="1"/>
            </p:cNvSpPr>
            <p:nvPr/>
          </p:nvSpPr>
          <p:spPr>
            <a:xfrm>
              <a:off x="8637980" y="7304627"/>
              <a:ext cx="191" cy="1013841"/>
            </a:xfrm>
            <a:custGeom>
              <a:avLst/>
              <a:gdLst/>
              <a:ahLst/>
              <a:cxnLst/>
              <a:rect l="0" t="0" r="0" b="0"/>
              <a:pathLst>
                <a:path w="191" h="1013841">
                  <a:moveTo>
                    <a:pt x="0" y="0"/>
                  </a:moveTo>
                  <a:lnTo>
                    <a:pt x="0" y="1013841"/>
                  </a:lnTo>
                </a:path>
              </a:pathLst>
            </a:custGeom>
            <a:noFill/>
            <a:ln w="8505">
              <a:solidFill>
                <a:srgbClr val="77828C"/>
              </a:solidFill>
              <a:prstDash val="solid"/>
            </a:ln>
          </p:spPr>
        </p:sp>
        <p:sp>
          <p:nvSpPr>
            <p:cNvPr id="1406" name="SMI-TED to language refined head">
              <a:extLst>
                <a:ext uri="{FF2B5EF4-FFF2-40B4-BE49-F238E27FC236}">
                  <a16:creationId xmlns:a16="http://schemas.microsoft.com/office/drawing/2014/main" id="{7251A2B8-D12B-A433-6B0D-10AA76953AAB}"/>
                </a:ext>
              </a:extLst>
            </p:cNvPr>
            <p:cNvSpPr>
              <a:spLocks noGrp="1"/>
            </p:cNvSpPr>
            <p:nvPr/>
          </p:nvSpPr>
          <p:spPr>
            <a:xfrm>
              <a:off x="8609310" y="8275130"/>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7" name="Other identities refined">
              <a:extLst>
                <a:ext uri="{FF2B5EF4-FFF2-40B4-BE49-F238E27FC236}">
                  <a16:creationId xmlns:a16="http://schemas.microsoft.com/office/drawing/2014/main" id="{A4787BA6-E950-16B8-B01A-9B4C92E13C7A}"/>
                </a:ext>
              </a:extLst>
            </p:cNvPr>
            <p:cNvSpPr>
              <a:spLocks noGrp="1"/>
            </p:cNvSpPr>
            <p:nvPr/>
          </p:nvSpPr>
          <p:spPr>
            <a:xfrm>
              <a:off x="9616579" y="5581174"/>
              <a:ext cx="613886" cy="1373695"/>
            </a:xfrm>
            <a:custGeom>
              <a:avLst/>
              <a:gdLst/>
              <a:ahLst/>
              <a:cxnLst/>
              <a:rect l="0" t="0" r="0" b="0"/>
              <a:pathLst>
                <a:path w="613886" h="1373695">
                  <a:moveTo>
                    <a:pt x="0" y="0"/>
                  </a:moveTo>
                  <a:lnTo>
                    <a:pt x="613886" y="0"/>
                  </a:lnTo>
                  <a:lnTo>
                    <a:pt x="613886" y="1373695"/>
                  </a:lnTo>
                </a:path>
              </a:pathLst>
            </a:custGeom>
            <a:noFill/>
            <a:ln w="8505">
              <a:solidFill>
                <a:srgbClr val="77828C"/>
              </a:solidFill>
              <a:prstDash val="solid"/>
            </a:ln>
          </p:spPr>
        </p:sp>
        <p:sp>
          <p:nvSpPr>
            <p:cNvPr id="1408" name="Other identities refined head">
              <a:extLst>
                <a:ext uri="{FF2B5EF4-FFF2-40B4-BE49-F238E27FC236}">
                  <a16:creationId xmlns:a16="http://schemas.microsoft.com/office/drawing/2014/main" id="{9D094DDB-3471-ECAC-BCA5-E9612E620328}"/>
                </a:ext>
              </a:extLst>
            </p:cNvPr>
            <p:cNvSpPr>
              <a:spLocks noGrp="1"/>
            </p:cNvSpPr>
            <p:nvPr/>
          </p:nvSpPr>
          <p:spPr>
            <a:xfrm>
              <a:off x="10201795" y="691153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9" name="Other identities middle refined">
              <a:extLst>
                <a:ext uri="{FF2B5EF4-FFF2-40B4-BE49-F238E27FC236}">
                  <a16:creationId xmlns:a16="http://schemas.microsoft.com/office/drawing/2014/main" id="{43A875F1-64CC-3AE0-16D0-832B017C6CB3}"/>
                </a:ext>
              </a:extLst>
            </p:cNvPr>
            <p:cNvSpPr>
              <a:spLocks noGrp="1"/>
            </p:cNvSpPr>
            <p:nvPr/>
          </p:nvSpPr>
          <p:spPr>
            <a:xfrm>
              <a:off x="9616579" y="5851112"/>
              <a:ext cx="613886" cy="191"/>
            </a:xfrm>
            <a:custGeom>
              <a:avLst/>
              <a:gdLst/>
              <a:ahLst/>
              <a:cxnLst/>
              <a:rect l="0" t="0" r="0" b="0"/>
              <a:pathLst>
                <a:path w="613886" h="191">
                  <a:moveTo>
                    <a:pt x="0" y="0"/>
                  </a:moveTo>
                  <a:lnTo>
                    <a:pt x="613886" y="0"/>
                  </a:lnTo>
                </a:path>
              </a:pathLst>
            </a:custGeom>
            <a:noFill/>
            <a:ln w="8505">
              <a:solidFill>
                <a:srgbClr val="77828C"/>
              </a:solidFill>
              <a:prstDash val="solid"/>
            </a:ln>
          </p:spPr>
        </p:sp>
        <p:sp>
          <p:nvSpPr>
            <p:cNvPr id="1410" name="Other identities lower refined">
              <a:extLst>
                <a:ext uri="{FF2B5EF4-FFF2-40B4-BE49-F238E27FC236}">
                  <a16:creationId xmlns:a16="http://schemas.microsoft.com/office/drawing/2014/main" id="{D83A070A-E1D1-4067-2310-74DC30F9F921}"/>
                </a:ext>
              </a:extLst>
            </p:cNvPr>
            <p:cNvSpPr>
              <a:spLocks noGrp="1"/>
            </p:cNvSpPr>
            <p:nvPr/>
          </p:nvSpPr>
          <p:spPr>
            <a:xfrm>
              <a:off x="9616579" y="6533293"/>
              <a:ext cx="613886" cy="191"/>
            </a:xfrm>
            <a:custGeom>
              <a:avLst/>
              <a:gdLst/>
              <a:ahLst/>
              <a:cxnLst/>
              <a:rect l="0" t="0" r="0" b="0"/>
              <a:pathLst>
                <a:path w="613886" h="191">
                  <a:moveTo>
                    <a:pt x="0" y="0"/>
                  </a:moveTo>
                  <a:lnTo>
                    <a:pt x="613886" y="0"/>
                  </a:lnTo>
                </a:path>
              </a:pathLst>
            </a:custGeom>
            <a:noFill/>
            <a:ln w="8505">
              <a:solidFill>
                <a:srgbClr val="77828C"/>
              </a:solidFill>
              <a:prstDash val="solid"/>
            </a:ln>
          </p:spPr>
        </p:sp>
        <p:sp>
          <p:nvSpPr>
            <p:cNvPr id="1411" name="Context SMI-TED to matrix refined">
              <a:extLst>
                <a:ext uri="{FF2B5EF4-FFF2-40B4-BE49-F238E27FC236}">
                  <a16:creationId xmlns:a16="http://schemas.microsoft.com/office/drawing/2014/main" id="{3BA39657-BA55-8B03-4B42-2E8CA0F2402A}"/>
                </a:ext>
              </a:extLst>
            </p:cNvPr>
            <p:cNvSpPr>
              <a:spLocks noGrp="1"/>
            </p:cNvSpPr>
            <p:nvPr/>
          </p:nvSpPr>
          <p:spPr>
            <a:xfrm>
              <a:off x="10240942" y="7294436"/>
              <a:ext cx="191" cy="264128"/>
            </a:xfrm>
            <a:custGeom>
              <a:avLst/>
              <a:gdLst/>
              <a:ahLst/>
              <a:cxnLst/>
              <a:rect l="0" t="0" r="0" b="0"/>
              <a:pathLst>
                <a:path w="191" h="264128">
                  <a:moveTo>
                    <a:pt x="0" y="0"/>
                  </a:moveTo>
                  <a:lnTo>
                    <a:pt x="0" y="264128"/>
                  </a:lnTo>
                </a:path>
              </a:pathLst>
            </a:custGeom>
            <a:noFill/>
            <a:ln w="8505">
              <a:solidFill>
                <a:srgbClr val="77828C"/>
              </a:solidFill>
              <a:prstDash val="solid"/>
            </a:ln>
          </p:spPr>
        </p:sp>
        <p:sp>
          <p:nvSpPr>
            <p:cNvPr id="1412" name="Context SMI-TED to matrix refined head">
              <a:extLst>
                <a:ext uri="{FF2B5EF4-FFF2-40B4-BE49-F238E27FC236}">
                  <a16:creationId xmlns:a16="http://schemas.microsoft.com/office/drawing/2014/main" id="{46BBCF7E-77B7-430B-5E68-8D5D4D07C9BA}"/>
                </a:ext>
              </a:extLst>
            </p:cNvPr>
            <p:cNvSpPr>
              <a:spLocks noGrp="1"/>
            </p:cNvSpPr>
            <p:nvPr/>
          </p:nvSpPr>
          <p:spPr>
            <a:xfrm>
              <a:off x="10212272" y="7515225"/>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13" name="Context matrix to attention refined">
              <a:extLst>
                <a:ext uri="{FF2B5EF4-FFF2-40B4-BE49-F238E27FC236}">
                  <a16:creationId xmlns:a16="http://schemas.microsoft.com/office/drawing/2014/main" id="{19123C2B-08C0-5942-5974-56E3DB290164}"/>
                </a:ext>
              </a:extLst>
            </p:cNvPr>
            <p:cNvSpPr>
              <a:spLocks noGrp="1"/>
            </p:cNvSpPr>
            <p:nvPr/>
          </p:nvSpPr>
          <p:spPr>
            <a:xfrm>
              <a:off x="10230465" y="7958995"/>
              <a:ext cx="191" cy="249745"/>
            </a:xfrm>
            <a:custGeom>
              <a:avLst/>
              <a:gdLst/>
              <a:ahLst/>
              <a:cxnLst/>
              <a:rect l="0" t="0" r="0" b="0"/>
              <a:pathLst>
                <a:path w="191" h="249745">
                  <a:moveTo>
                    <a:pt x="0" y="0"/>
                  </a:moveTo>
                  <a:lnTo>
                    <a:pt x="0" y="249745"/>
                  </a:lnTo>
                </a:path>
              </a:pathLst>
            </a:custGeom>
            <a:noFill/>
            <a:ln w="8505">
              <a:solidFill>
                <a:srgbClr val="77828C"/>
              </a:solidFill>
              <a:prstDash val="solid"/>
            </a:ln>
          </p:spPr>
        </p:sp>
        <p:sp>
          <p:nvSpPr>
            <p:cNvPr id="1414" name="Context matrix to attention refined head">
              <a:extLst>
                <a:ext uri="{FF2B5EF4-FFF2-40B4-BE49-F238E27FC236}">
                  <a16:creationId xmlns:a16="http://schemas.microsoft.com/office/drawing/2014/main" id="{F6D726DD-707A-38A3-9C89-49061435E2BF}"/>
                </a:ext>
              </a:extLst>
            </p:cNvPr>
            <p:cNvSpPr>
              <a:spLocks noGrp="1"/>
            </p:cNvSpPr>
            <p:nvPr/>
          </p:nvSpPr>
          <p:spPr>
            <a:xfrm>
              <a:off x="10201795" y="816540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15" name="Language query left refined">
              <a:extLst>
                <a:ext uri="{FF2B5EF4-FFF2-40B4-BE49-F238E27FC236}">
                  <a16:creationId xmlns:a16="http://schemas.microsoft.com/office/drawing/2014/main" id="{739AFAAD-E669-E2AC-687E-E59FC6E7FAD2}"/>
                </a:ext>
              </a:extLst>
            </p:cNvPr>
            <p:cNvSpPr>
              <a:spLocks noGrp="1"/>
            </p:cNvSpPr>
            <p:nvPr/>
          </p:nvSpPr>
          <p:spPr>
            <a:xfrm>
              <a:off x="7816735" y="8408765"/>
              <a:ext cx="479012" cy="191"/>
            </a:xfrm>
            <a:custGeom>
              <a:avLst/>
              <a:gdLst/>
              <a:ahLst/>
              <a:cxnLst/>
              <a:rect l="0" t="0" r="0" b="0"/>
              <a:pathLst>
                <a:path w="479012" h="191">
                  <a:moveTo>
                    <a:pt x="479012" y="0"/>
                  </a:moveTo>
                  <a:lnTo>
                    <a:pt x="0" y="0"/>
                  </a:lnTo>
                </a:path>
              </a:pathLst>
            </a:custGeom>
            <a:noFill/>
            <a:ln w="8505">
              <a:solidFill>
                <a:srgbClr val="77828C"/>
              </a:solidFill>
              <a:prstDash val="solid"/>
            </a:ln>
          </p:spPr>
        </p:sp>
        <p:sp>
          <p:nvSpPr>
            <p:cNvPr id="1416" name="Language query left refined head">
              <a:extLst>
                <a:ext uri="{FF2B5EF4-FFF2-40B4-BE49-F238E27FC236}">
                  <a16:creationId xmlns:a16="http://schemas.microsoft.com/office/drawing/2014/main" id="{98D92A42-D662-B44C-CD57-583BDD75174C}"/>
                </a:ext>
              </a:extLst>
            </p:cNvPr>
            <p:cNvSpPr>
              <a:spLocks noGrp="1"/>
            </p:cNvSpPr>
            <p:nvPr/>
          </p:nvSpPr>
          <p:spPr>
            <a:xfrm>
              <a:off x="7793398" y="8380095"/>
              <a:ext cx="66675" cy="57340"/>
            </a:xfrm>
            <a:custGeom>
              <a:avLst/>
              <a:gdLst/>
              <a:ahLst/>
              <a:cxnLst/>
              <a:rect l="0" t="0" r="0" b="0"/>
              <a:pathLst>
                <a:path w="66675" h="57340">
                  <a:moveTo>
                    <a:pt x="0" y="28670"/>
                  </a:moveTo>
                  <a:lnTo>
                    <a:pt x="66675" y="57340"/>
                  </a:lnTo>
                  <a:lnTo>
                    <a:pt x="66675" y="0"/>
                  </a:lnTo>
                  <a:close/>
                </a:path>
              </a:pathLst>
            </a:custGeom>
            <a:solidFill>
              <a:srgbClr val="77828C"/>
            </a:solidFill>
            <a:ln w="0">
              <a:noFill/>
              <a:prstDash val="solid"/>
            </a:ln>
          </p:spPr>
        </p:sp>
        <p:sp>
          <p:nvSpPr>
            <p:cNvPr id="1417" name="Language query right refined">
              <a:extLst>
                <a:ext uri="{FF2B5EF4-FFF2-40B4-BE49-F238E27FC236}">
                  <a16:creationId xmlns:a16="http://schemas.microsoft.com/office/drawing/2014/main" id="{97C332FD-B4F7-4A69-7F24-BE35ED3CC233}"/>
                </a:ext>
              </a:extLst>
            </p:cNvPr>
            <p:cNvSpPr>
              <a:spLocks noGrp="1"/>
            </p:cNvSpPr>
            <p:nvPr/>
          </p:nvSpPr>
          <p:spPr>
            <a:xfrm>
              <a:off x="8965450" y="8408765"/>
              <a:ext cx="478917" cy="191"/>
            </a:xfrm>
            <a:custGeom>
              <a:avLst/>
              <a:gdLst/>
              <a:ahLst/>
              <a:cxnLst/>
              <a:rect l="0" t="0" r="0" b="0"/>
              <a:pathLst>
                <a:path w="478917" h="191">
                  <a:moveTo>
                    <a:pt x="0" y="0"/>
                  </a:moveTo>
                  <a:lnTo>
                    <a:pt x="478917" y="0"/>
                  </a:lnTo>
                </a:path>
              </a:pathLst>
            </a:custGeom>
            <a:noFill/>
            <a:ln w="8505">
              <a:solidFill>
                <a:srgbClr val="77828C"/>
              </a:solidFill>
              <a:prstDash val="solid"/>
            </a:ln>
          </p:spPr>
        </p:sp>
        <p:sp>
          <p:nvSpPr>
            <p:cNvPr id="1418" name="Language query right refined head">
              <a:extLst>
                <a:ext uri="{FF2B5EF4-FFF2-40B4-BE49-F238E27FC236}">
                  <a16:creationId xmlns:a16="http://schemas.microsoft.com/office/drawing/2014/main" id="{4B6A3B32-B3D1-5F9B-FDB9-6517BE3635C2}"/>
                </a:ext>
              </a:extLst>
            </p:cNvPr>
            <p:cNvSpPr>
              <a:spLocks noGrp="1"/>
            </p:cNvSpPr>
            <p:nvPr/>
          </p:nvSpPr>
          <p:spPr>
            <a:xfrm>
              <a:off x="9401028" y="8380095"/>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419" name="Language to fusion refined">
              <a:extLst>
                <a:ext uri="{FF2B5EF4-FFF2-40B4-BE49-F238E27FC236}">
                  <a16:creationId xmlns:a16="http://schemas.microsoft.com/office/drawing/2014/main" id="{CC1BD470-88ED-E459-BC64-3926AF1B81FC}"/>
                </a:ext>
              </a:extLst>
            </p:cNvPr>
            <p:cNvSpPr>
              <a:spLocks noGrp="1"/>
            </p:cNvSpPr>
            <p:nvPr/>
          </p:nvSpPr>
          <p:spPr>
            <a:xfrm>
              <a:off x="8630551" y="8475726"/>
              <a:ext cx="191" cy="281845"/>
            </a:xfrm>
            <a:custGeom>
              <a:avLst/>
              <a:gdLst/>
              <a:ahLst/>
              <a:cxnLst/>
              <a:rect l="0" t="0" r="0" b="0"/>
              <a:pathLst>
                <a:path w="191" h="281845">
                  <a:moveTo>
                    <a:pt x="0" y="0"/>
                  </a:moveTo>
                  <a:lnTo>
                    <a:pt x="0" y="281845"/>
                  </a:lnTo>
                </a:path>
              </a:pathLst>
            </a:custGeom>
            <a:noFill/>
            <a:ln w="8505">
              <a:solidFill>
                <a:srgbClr val="77828C"/>
              </a:solidFill>
              <a:prstDash val="solid"/>
            </a:ln>
          </p:spPr>
        </p:sp>
        <p:sp>
          <p:nvSpPr>
            <p:cNvPr id="1420" name="Language to fusion refined head">
              <a:extLst>
                <a:ext uri="{FF2B5EF4-FFF2-40B4-BE49-F238E27FC236}">
                  <a16:creationId xmlns:a16="http://schemas.microsoft.com/office/drawing/2014/main" id="{7DE28A53-D82C-C158-A00E-484E630E57C6}"/>
                </a:ext>
              </a:extLst>
            </p:cNvPr>
            <p:cNvSpPr>
              <a:spLocks noGrp="1"/>
            </p:cNvSpPr>
            <p:nvPr/>
          </p:nvSpPr>
          <p:spPr>
            <a:xfrm>
              <a:off x="8601880" y="871423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21" name="Graph attention to fusion refined">
              <a:extLst>
                <a:ext uri="{FF2B5EF4-FFF2-40B4-BE49-F238E27FC236}">
                  <a16:creationId xmlns:a16="http://schemas.microsoft.com/office/drawing/2014/main" id="{9DE07E88-6455-6397-3B15-5E2794D66EC1}"/>
                </a:ext>
              </a:extLst>
            </p:cNvPr>
            <p:cNvSpPr>
              <a:spLocks noGrp="1"/>
            </p:cNvSpPr>
            <p:nvPr/>
          </p:nvSpPr>
          <p:spPr>
            <a:xfrm>
              <a:off x="7067879" y="8585549"/>
              <a:ext cx="1092899" cy="362807"/>
            </a:xfrm>
            <a:custGeom>
              <a:avLst/>
              <a:gdLst/>
              <a:ahLst/>
              <a:cxnLst/>
              <a:rect l="0" t="0" r="0" b="0"/>
              <a:pathLst>
                <a:path w="1092899" h="362807">
                  <a:moveTo>
                    <a:pt x="0" y="0"/>
                  </a:moveTo>
                  <a:lnTo>
                    <a:pt x="0" y="362807"/>
                  </a:lnTo>
                  <a:lnTo>
                    <a:pt x="1092899" y="362807"/>
                  </a:lnTo>
                </a:path>
              </a:pathLst>
            </a:custGeom>
            <a:noFill/>
            <a:ln w="8505">
              <a:solidFill>
                <a:srgbClr val="77828C"/>
              </a:solidFill>
              <a:prstDash val="solid"/>
            </a:ln>
          </p:spPr>
        </p:sp>
        <p:sp>
          <p:nvSpPr>
            <p:cNvPr id="1422" name="Graph attention to fusion refined head">
              <a:extLst>
                <a:ext uri="{FF2B5EF4-FFF2-40B4-BE49-F238E27FC236}">
                  <a16:creationId xmlns:a16="http://schemas.microsoft.com/office/drawing/2014/main" id="{80249588-4991-7EA9-C183-E31DFF970425}"/>
                </a:ext>
              </a:extLst>
            </p:cNvPr>
            <p:cNvSpPr>
              <a:spLocks noGrp="1"/>
            </p:cNvSpPr>
            <p:nvPr/>
          </p:nvSpPr>
          <p:spPr>
            <a:xfrm>
              <a:off x="8117439" y="8919686"/>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423" name="Context attention to fusion refined">
              <a:extLst>
                <a:ext uri="{FF2B5EF4-FFF2-40B4-BE49-F238E27FC236}">
                  <a16:creationId xmlns:a16="http://schemas.microsoft.com/office/drawing/2014/main" id="{EB1CDE84-2AAC-05C7-2AC2-7F0CD69C4010}"/>
                </a:ext>
              </a:extLst>
            </p:cNvPr>
            <p:cNvSpPr>
              <a:spLocks noGrp="1"/>
            </p:cNvSpPr>
            <p:nvPr/>
          </p:nvSpPr>
          <p:spPr>
            <a:xfrm>
              <a:off x="9100419" y="8585549"/>
              <a:ext cx="1130046" cy="362807"/>
            </a:xfrm>
            <a:custGeom>
              <a:avLst/>
              <a:gdLst/>
              <a:ahLst/>
              <a:cxnLst/>
              <a:rect l="0" t="0" r="0" b="0"/>
              <a:pathLst>
                <a:path w="1130046" h="362807">
                  <a:moveTo>
                    <a:pt x="1130046" y="0"/>
                  </a:moveTo>
                  <a:lnTo>
                    <a:pt x="1130046" y="362807"/>
                  </a:lnTo>
                  <a:lnTo>
                    <a:pt x="0" y="362807"/>
                  </a:lnTo>
                </a:path>
              </a:pathLst>
            </a:custGeom>
            <a:noFill/>
            <a:ln w="8505">
              <a:solidFill>
                <a:srgbClr val="77828C"/>
              </a:solidFill>
              <a:prstDash val="solid"/>
            </a:ln>
          </p:spPr>
        </p:sp>
        <p:sp>
          <p:nvSpPr>
            <p:cNvPr id="1424" name="Context attention to fusion refined head">
              <a:extLst>
                <a:ext uri="{FF2B5EF4-FFF2-40B4-BE49-F238E27FC236}">
                  <a16:creationId xmlns:a16="http://schemas.microsoft.com/office/drawing/2014/main" id="{2AAA0335-3D51-EA88-2522-F717A483BF32}"/>
                </a:ext>
              </a:extLst>
            </p:cNvPr>
            <p:cNvSpPr>
              <a:spLocks noGrp="1"/>
            </p:cNvSpPr>
            <p:nvPr/>
          </p:nvSpPr>
          <p:spPr>
            <a:xfrm>
              <a:off x="9077083" y="8919686"/>
              <a:ext cx="66675" cy="57340"/>
            </a:xfrm>
            <a:custGeom>
              <a:avLst/>
              <a:gdLst/>
              <a:ahLst/>
              <a:cxnLst/>
              <a:rect l="0" t="0" r="0" b="0"/>
              <a:pathLst>
                <a:path w="66675" h="57340">
                  <a:moveTo>
                    <a:pt x="0" y="28670"/>
                  </a:moveTo>
                  <a:lnTo>
                    <a:pt x="66675" y="57340"/>
                  </a:lnTo>
                  <a:lnTo>
                    <a:pt x="66675" y="0"/>
                  </a:lnTo>
                  <a:close/>
                </a:path>
              </a:pathLst>
            </a:custGeom>
            <a:solidFill>
              <a:srgbClr val="77828C"/>
            </a:solidFill>
            <a:ln w="0">
              <a:noFill/>
              <a:prstDash val="solid"/>
            </a:ln>
          </p:spPr>
        </p:sp>
        <p:sp>
          <p:nvSpPr>
            <p:cNvPr id="1425" name="Fusion to identity vector refined">
              <a:extLst>
                <a:ext uri="{FF2B5EF4-FFF2-40B4-BE49-F238E27FC236}">
                  <a16:creationId xmlns:a16="http://schemas.microsoft.com/office/drawing/2014/main" id="{67958AAC-3FC5-4E94-249E-68F363396C6E}"/>
                </a:ext>
              </a:extLst>
            </p:cNvPr>
            <p:cNvSpPr>
              <a:spLocks noGrp="1"/>
            </p:cNvSpPr>
            <p:nvPr/>
          </p:nvSpPr>
          <p:spPr>
            <a:xfrm>
              <a:off x="8630551" y="9115806"/>
              <a:ext cx="191" cy="244507"/>
            </a:xfrm>
            <a:custGeom>
              <a:avLst/>
              <a:gdLst/>
              <a:ahLst/>
              <a:cxnLst/>
              <a:rect l="0" t="0" r="0" b="0"/>
              <a:pathLst>
                <a:path w="191" h="244507">
                  <a:moveTo>
                    <a:pt x="0" y="0"/>
                  </a:moveTo>
                  <a:lnTo>
                    <a:pt x="0" y="244507"/>
                  </a:lnTo>
                </a:path>
              </a:pathLst>
            </a:custGeom>
            <a:noFill/>
            <a:ln w="8505">
              <a:solidFill>
                <a:srgbClr val="77828C"/>
              </a:solidFill>
              <a:prstDash val="solid"/>
            </a:ln>
          </p:spPr>
        </p:sp>
        <p:sp>
          <p:nvSpPr>
            <p:cNvPr id="1426" name="Fusion to identity vector refined head">
              <a:extLst>
                <a:ext uri="{FF2B5EF4-FFF2-40B4-BE49-F238E27FC236}">
                  <a16:creationId xmlns:a16="http://schemas.microsoft.com/office/drawing/2014/main" id="{5B85A195-1A68-48DC-E553-B1E99915D03B}"/>
                </a:ext>
              </a:extLst>
            </p:cNvPr>
            <p:cNvSpPr>
              <a:spLocks noGrp="1"/>
            </p:cNvSpPr>
            <p:nvPr/>
          </p:nvSpPr>
          <p:spPr>
            <a:xfrm>
              <a:off x="8601880" y="9316974"/>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27" name="Identity vector to cosine refined">
              <a:extLst>
                <a:ext uri="{FF2B5EF4-FFF2-40B4-BE49-F238E27FC236}">
                  <a16:creationId xmlns:a16="http://schemas.microsoft.com/office/drawing/2014/main" id="{DDE80B97-A909-A736-F258-523B74319AC3}"/>
                </a:ext>
              </a:extLst>
            </p:cNvPr>
            <p:cNvSpPr>
              <a:spLocks noGrp="1"/>
            </p:cNvSpPr>
            <p:nvPr/>
          </p:nvSpPr>
          <p:spPr>
            <a:xfrm>
              <a:off x="8630551" y="9517571"/>
              <a:ext cx="191" cy="253841"/>
            </a:xfrm>
            <a:custGeom>
              <a:avLst/>
              <a:gdLst/>
              <a:ahLst/>
              <a:cxnLst/>
              <a:rect l="0" t="0" r="0" b="0"/>
              <a:pathLst>
                <a:path w="191" h="253841">
                  <a:moveTo>
                    <a:pt x="0" y="0"/>
                  </a:moveTo>
                  <a:lnTo>
                    <a:pt x="0" y="253841"/>
                  </a:lnTo>
                </a:path>
              </a:pathLst>
            </a:custGeom>
            <a:noFill/>
            <a:ln w="8505">
              <a:solidFill>
                <a:srgbClr val="77828C"/>
              </a:solidFill>
              <a:prstDash val="solid"/>
            </a:ln>
          </p:spPr>
        </p:sp>
        <p:sp>
          <p:nvSpPr>
            <p:cNvPr id="1428" name="Identity vector to cosine refined head">
              <a:extLst>
                <a:ext uri="{FF2B5EF4-FFF2-40B4-BE49-F238E27FC236}">
                  <a16:creationId xmlns:a16="http://schemas.microsoft.com/office/drawing/2014/main" id="{E490B029-346A-A57E-7B15-889C23CE6281}"/>
                </a:ext>
              </a:extLst>
            </p:cNvPr>
            <p:cNvSpPr>
              <a:spLocks noGrp="1"/>
            </p:cNvSpPr>
            <p:nvPr/>
          </p:nvSpPr>
          <p:spPr>
            <a:xfrm>
              <a:off x="8601880" y="9728073"/>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29" name="Cosine to score matrix refined">
              <a:extLst>
                <a:ext uri="{FF2B5EF4-FFF2-40B4-BE49-F238E27FC236}">
                  <a16:creationId xmlns:a16="http://schemas.microsoft.com/office/drawing/2014/main" id="{B53F289C-77E1-6513-62C8-F939A23BF1B2}"/>
                </a:ext>
              </a:extLst>
            </p:cNvPr>
            <p:cNvSpPr>
              <a:spLocks noGrp="1"/>
            </p:cNvSpPr>
            <p:nvPr/>
          </p:nvSpPr>
          <p:spPr>
            <a:xfrm>
              <a:off x="9039935" y="9971532"/>
              <a:ext cx="619030" cy="191"/>
            </a:xfrm>
            <a:custGeom>
              <a:avLst/>
              <a:gdLst/>
              <a:ahLst/>
              <a:cxnLst/>
              <a:rect l="0" t="0" r="0" b="0"/>
              <a:pathLst>
                <a:path w="619030" h="191">
                  <a:moveTo>
                    <a:pt x="0" y="0"/>
                  </a:moveTo>
                  <a:lnTo>
                    <a:pt x="619030" y="0"/>
                  </a:lnTo>
                </a:path>
              </a:pathLst>
            </a:custGeom>
            <a:noFill/>
            <a:ln w="8505">
              <a:solidFill>
                <a:srgbClr val="77828C"/>
              </a:solidFill>
              <a:prstDash val="solid"/>
            </a:ln>
          </p:spPr>
        </p:sp>
        <p:sp>
          <p:nvSpPr>
            <p:cNvPr id="1430" name="Cosine to score matrix refined head">
              <a:extLst>
                <a:ext uri="{FF2B5EF4-FFF2-40B4-BE49-F238E27FC236}">
                  <a16:creationId xmlns:a16="http://schemas.microsoft.com/office/drawing/2014/main" id="{7D1ABF5A-29C9-76A4-1903-E132A41C0C6D}"/>
                </a:ext>
              </a:extLst>
            </p:cNvPr>
            <p:cNvSpPr>
              <a:spLocks noGrp="1"/>
            </p:cNvSpPr>
            <p:nvPr/>
          </p:nvSpPr>
          <p:spPr>
            <a:xfrm>
              <a:off x="9615626" y="9942862"/>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grpSp>
      <p:pic>
        <p:nvPicPr>
          <p:cNvPr id="1436" name="Match clear receptor" descr="Receptor cartoon rendered from unchanged local coordinates, chain C1 of the 9LLG CA2 model.">
            <a:extLst>
              <a:ext uri="{FF2B5EF4-FFF2-40B4-BE49-F238E27FC236}">
                <a16:creationId xmlns:a16="http://schemas.microsoft.com/office/drawing/2014/main" id="{515E1CE9-4EFA-F96B-A08A-C6C2EC64DC6F}"/>
              </a:ext>
            </a:extLst>
          </p:cNvPr>
          <p:cNvPicPr/>
          <p:nvPr/>
        </p:nvPicPr>
        <p:blipFill>
          <a:blip r:embed="rId7"/>
          <a:srcRect l="16857" t="30389" r="19786" b="22500"/>
          <a:stretch>
            <a:fillRect/>
          </a:stretch>
        </p:blipFill>
        <p:spPr>
          <a:xfrm>
            <a:off x="628714" y="2388765"/>
            <a:ext cx="332109" cy="317507"/>
          </a:xfrm>
          <a:prstGeom prst="rect">
            <a:avLst/>
          </a:prstGeom>
        </p:spPr>
      </p:pic>
      <p:sp>
        <p:nvSpPr>
          <p:cNvPr id="1442" name="文本框 1441">
            <a:extLst>
              <a:ext uri="{FF2B5EF4-FFF2-40B4-BE49-F238E27FC236}">
                <a16:creationId xmlns:a16="http://schemas.microsoft.com/office/drawing/2014/main" id="{814431DA-F1EE-CFB8-E7E0-CF4D130ECF44}"/>
              </a:ext>
            </a:extLst>
          </p:cNvPr>
          <p:cNvSpPr txBox="1"/>
          <p:nvPr/>
        </p:nvSpPr>
        <p:spPr>
          <a:xfrm>
            <a:off x="1260165" y="775016"/>
            <a:ext cx="559769" cy="176972"/>
          </a:xfrm>
          <a:prstGeom prst="rect">
            <a:avLst/>
          </a:prstGeom>
          <a:noFill/>
        </p:spPr>
        <p:txBody>
          <a:bodyPr wrap="none" rtlCol="0">
            <a:spAutoFit/>
          </a:bodyPr>
          <a:lstStyle/>
          <a:p>
            <a:r>
              <a:rPr lang="en-US" altLang="zh-CN" sz="550" dirty="0">
                <a:solidFill>
                  <a:srgbClr val="263442"/>
                </a:solidFill>
                <a:latin typeface="Arial"/>
                <a:cs typeface="Arial"/>
              </a:rPr>
              <a:t>56 channels</a:t>
            </a:r>
            <a:endParaRPr lang="zh-CN" altLang="en-US" sz="550" dirty="0">
              <a:solidFill>
                <a:srgbClr val="263442"/>
              </a:solidFill>
              <a:latin typeface="Arial"/>
              <a:cs typeface="Arial"/>
            </a:endParaRPr>
          </a:p>
        </p:txBody>
      </p:sp>
      <p:sp>
        <p:nvSpPr>
          <p:cNvPr id="1443" name="V8 embedding computation frame">
            <a:extLst>
              <a:ext uri="{FF2B5EF4-FFF2-40B4-BE49-F238E27FC236}">
                <a16:creationId xmlns:a16="http://schemas.microsoft.com/office/drawing/2014/main" id="{FB41A424-8C9A-2DA8-76B2-57C0C54ECB10}"/>
              </a:ext>
            </a:extLst>
          </p:cNvPr>
          <p:cNvSpPr/>
          <p:nvPr/>
        </p:nvSpPr>
        <p:spPr>
          <a:xfrm>
            <a:off x="1351898" y="1318283"/>
            <a:ext cx="386080" cy="417830"/>
          </a:xfrm>
          <a:prstGeom prst="roundRect">
            <a:avLst>
              <a:gd name="adj" fmla="val 6579"/>
            </a:avLst>
          </a:prstGeom>
          <a:solidFill>
            <a:srgbClr val="F8FAFC"/>
          </a:solidFill>
          <a:ln w="6096" cap="rnd">
            <a:solidFill>
              <a:srgbClr val="BEC7CE"/>
            </a:solidFill>
            <a:prstDash val="solid"/>
            <a:round/>
          </a:ln>
        </p:spPr>
      </p:sp>
      <p:sp>
        <p:nvSpPr>
          <p:cNvPr id="1444" name="V8 embedding neighbor 1 to center">
            <a:extLst>
              <a:ext uri="{FF2B5EF4-FFF2-40B4-BE49-F238E27FC236}">
                <a16:creationId xmlns:a16="http://schemas.microsoft.com/office/drawing/2014/main" id="{3355B015-AF42-20CF-CA69-CEE14894D5E1}"/>
              </a:ext>
            </a:extLst>
          </p:cNvPr>
          <p:cNvSpPr/>
          <p:nvPr/>
        </p:nvSpPr>
        <p:spPr>
          <a:xfrm>
            <a:off x="1408080" y="1388677"/>
            <a:ext cx="84338" cy="113635"/>
          </a:xfrm>
          <a:custGeom>
            <a:avLst/>
            <a:gdLst/>
            <a:ahLst/>
            <a:cxnLst/>
            <a:rect l="l" t="t" r="r" b="b"/>
            <a:pathLst>
              <a:path w="84338" h="113635">
                <a:moveTo>
                  <a:pt x="0" y="0"/>
                </a:moveTo>
                <a:lnTo>
                  <a:pt x="84338" y="113635"/>
                </a:lnTo>
              </a:path>
            </a:pathLst>
          </a:custGeom>
          <a:noFill/>
          <a:ln w="5842" cap="rnd">
            <a:solidFill>
              <a:srgbClr val="4083B4"/>
            </a:solidFill>
            <a:prstDash val="solid"/>
            <a:round/>
          </a:ln>
        </p:spPr>
      </p:sp>
      <p:sp>
        <p:nvSpPr>
          <p:cNvPr id="1445" name="V8 embedding neighbor 1 to center head">
            <a:extLst>
              <a:ext uri="{FF2B5EF4-FFF2-40B4-BE49-F238E27FC236}">
                <a16:creationId xmlns:a16="http://schemas.microsoft.com/office/drawing/2014/main" id="{27615381-2E0E-2FB6-4DD6-10A8B1F481AB}"/>
              </a:ext>
            </a:extLst>
          </p:cNvPr>
          <p:cNvSpPr/>
          <p:nvPr/>
        </p:nvSpPr>
        <p:spPr>
          <a:xfrm>
            <a:off x="1478827" y="1488319"/>
            <a:ext cx="18870" cy="21105"/>
          </a:xfrm>
          <a:custGeom>
            <a:avLst/>
            <a:gdLst/>
            <a:ahLst/>
            <a:cxnLst/>
            <a:rect l="l" t="t" r="r" b="b"/>
            <a:pathLst>
              <a:path w="18870" h="21105">
                <a:moveTo>
                  <a:pt x="18870" y="21105"/>
                </a:moveTo>
                <a:lnTo>
                  <a:pt x="14277" y="0"/>
                </a:lnTo>
                <a:lnTo>
                  <a:pt x="0" y="10596"/>
                </a:lnTo>
                <a:close/>
              </a:path>
            </a:pathLst>
          </a:custGeom>
          <a:solidFill>
            <a:srgbClr val="4083B4"/>
          </a:solidFill>
          <a:ln w="0" cap="rnd">
            <a:noFill/>
          </a:ln>
        </p:spPr>
      </p:sp>
      <p:sp>
        <p:nvSpPr>
          <p:cNvPr id="1446" name="V8 embedding neighbor 1">
            <a:extLst>
              <a:ext uri="{FF2B5EF4-FFF2-40B4-BE49-F238E27FC236}">
                <a16:creationId xmlns:a16="http://schemas.microsoft.com/office/drawing/2014/main" id="{B5E8A971-284C-84D2-C0DB-7EB12E4B5902}"/>
              </a:ext>
            </a:extLst>
          </p:cNvPr>
          <p:cNvSpPr/>
          <p:nvPr/>
        </p:nvSpPr>
        <p:spPr>
          <a:xfrm>
            <a:off x="1382060" y="1358582"/>
            <a:ext cx="28575" cy="28575"/>
          </a:xfrm>
          <a:prstGeom prst="ellipse">
            <a:avLst/>
          </a:prstGeom>
          <a:noFill/>
          <a:ln w="7112" cap="rnd">
            <a:solidFill>
              <a:srgbClr val="4083B4"/>
            </a:solidFill>
            <a:prstDash val="solid"/>
            <a:round/>
          </a:ln>
        </p:spPr>
      </p:sp>
      <p:sp>
        <p:nvSpPr>
          <p:cNvPr id="1447" name="V8 embedding neighbor 2 to center">
            <a:extLst>
              <a:ext uri="{FF2B5EF4-FFF2-40B4-BE49-F238E27FC236}">
                <a16:creationId xmlns:a16="http://schemas.microsoft.com/office/drawing/2014/main" id="{410E19AF-558D-0BA4-4F56-8A43CC949018}"/>
              </a:ext>
            </a:extLst>
          </p:cNvPr>
          <p:cNvSpPr/>
          <p:nvPr/>
        </p:nvSpPr>
        <p:spPr>
          <a:xfrm>
            <a:off x="1537980" y="1384737"/>
            <a:ext cx="68064" cy="115185"/>
          </a:xfrm>
          <a:custGeom>
            <a:avLst/>
            <a:gdLst/>
            <a:ahLst/>
            <a:cxnLst/>
            <a:rect l="l" t="t" r="r" b="b"/>
            <a:pathLst>
              <a:path w="68064" h="115185">
                <a:moveTo>
                  <a:pt x="68064" y="0"/>
                </a:moveTo>
                <a:lnTo>
                  <a:pt x="0" y="115185"/>
                </a:lnTo>
              </a:path>
            </a:pathLst>
          </a:custGeom>
          <a:noFill/>
          <a:ln w="5842" cap="rnd">
            <a:solidFill>
              <a:srgbClr val="4083B4"/>
            </a:solidFill>
            <a:prstDash val="solid"/>
            <a:round/>
          </a:ln>
        </p:spPr>
      </p:sp>
      <p:sp>
        <p:nvSpPr>
          <p:cNvPr id="1448" name="V8 embedding neighbor 2 to center head">
            <a:extLst>
              <a:ext uri="{FF2B5EF4-FFF2-40B4-BE49-F238E27FC236}">
                <a16:creationId xmlns:a16="http://schemas.microsoft.com/office/drawing/2014/main" id="{50A61875-DCE0-421C-1735-CFE0432F2E90}"/>
              </a:ext>
            </a:extLst>
          </p:cNvPr>
          <p:cNvSpPr/>
          <p:nvPr/>
        </p:nvSpPr>
        <p:spPr>
          <a:xfrm>
            <a:off x="1533473" y="1486079"/>
            <a:ext cx="17668" cy="21470"/>
          </a:xfrm>
          <a:custGeom>
            <a:avLst/>
            <a:gdLst/>
            <a:ahLst/>
            <a:cxnLst/>
            <a:rect l="l" t="t" r="r" b="b"/>
            <a:pathLst>
              <a:path w="17668" h="21470">
                <a:moveTo>
                  <a:pt x="0" y="21470"/>
                </a:moveTo>
                <a:lnTo>
                  <a:pt x="17668" y="9045"/>
                </a:lnTo>
                <a:lnTo>
                  <a:pt x="2361" y="0"/>
                </a:lnTo>
                <a:close/>
              </a:path>
            </a:pathLst>
          </a:custGeom>
          <a:solidFill>
            <a:srgbClr val="4083B4"/>
          </a:solidFill>
          <a:ln w="0" cap="rnd">
            <a:noFill/>
          </a:ln>
        </p:spPr>
      </p:sp>
      <p:sp>
        <p:nvSpPr>
          <p:cNvPr id="1449" name="V8 embedding neighbor 2">
            <a:extLst>
              <a:ext uri="{FF2B5EF4-FFF2-40B4-BE49-F238E27FC236}">
                <a16:creationId xmlns:a16="http://schemas.microsoft.com/office/drawing/2014/main" id="{7AEBAFCB-8ED1-BA01-F100-82AD32FAB4F6}"/>
              </a:ext>
            </a:extLst>
          </p:cNvPr>
          <p:cNvSpPr/>
          <p:nvPr/>
        </p:nvSpPr>
        <p:spPr>
          <a:xfrm>
            <a:off x="1600500" y="1352232"/>
            <a:ext cx="31115" cy="31115"/>
          </a:xfrm>
          <a:prstGeom prst="ellipse">
            <a:avLst/>
          </a:prstGeom>
          <a:noFill/>
          <a:ln w="7112" cap="rnd">
            <a:solidFill>
              <a:srgbClr val="4083B4"/>
            </a:solidFill>
            <a:prstDash val="solid"/>
            <a:round/>
          </a:ln>
        </p:spPr>
      </p:sp>
      <p:sp>
        <p:nvSpPr>
          <p:cNvPr id="1450" name="V8 embedding upper curved aggregation">
            <a:extLst>
              <a:ext uri="{FF2B5EF4-FFF2-40B4-BE49-F238E27FC236}">
                <a16:creationId xmlns:a16="http://schemas.microsoft.com/office/drawing/2014/main" id="{1726AB57-DCD6-4DAB-768F-79635F178651}"/>
              </a:ext>
            </a:extLst>
          </p:cNvPr>
          <p:cNvSpPr/>
          <p:nvPr/>
        </p:nvSpPr>
        <p:spPr>
          <a:xfrm>
            <a:off x="1551288" y="1449794"/>
            <a:ext cx="120650" cy="48806"/>
          </a:xfrm>
          <a:custGeom>
            <a:avLst/>
            <a:gdLst/>
            <a:ahLst/>
            <a:cxnLst/>
            <a:rect l="l" t="t" r="r" b="b"/>
            <a:pathLst>
              <a:path w="120650" h="48806">
                <a:moveTo>
                  <a:pt x="118713" y="0"/>
                </a:moveTo>
                <a:cubicBezTo>
                  <a:pt x="120650" y="36106"/>
                  <a:pt x="44450" y="29756"/>
                  <a:pt x="0" y="48806"/>
                </a:cubicBezTo>
              </a:path>
            </a:pathLst>
          </a:custGeom>
          <a:noFill/>
          <a:ln w="5842" cap="rnd">
            <a:solidFill>
              <a:srgbClr val="4083B4"/>
            </a:solidFill>
            <a:prstDash val="solid"/>
            <a:round/>
          </a:ln>
        </p:spPr>
      </p:sp>
      <p:sp>
        <p:nvSpPr>
          <p:cNvPr id="1451" name="V8 embedding upper curved aggregation tip">
            <a:extLst>
              <a:ext uri="{FF2B5EF4-FFF2-40B4-BE49-F238E27FC236}">
                <a16:creationId xmlns:a16="http://schemas.microsoft.com/office/drawing/2014/main" id="{2B3CEBDA-0E2D-671A-9B26-76F746F7D64B}"/>
              </a:ext>
            </a:extLst>
          </p:cNvPr>
          <p:cNvSpPr/>
          <p:nvPr/>
        </p:nvSpPr>
        <p:spPr>
          <a:xfrm>
            <a:off x="1542577" y="1498600"/>
            <a:ext cx="8711" cy="4690"/>
          </a:xfrm>
          <a:custGeom>
            <a:avLst/>
            <a:gdLst/>
            <a:ahLst/>
            <a:cxnLst/>
            <a:rect l="l" t="t" r="r" b="b"/>
            <a:pathLst>
              <a:path w="8711" h="4690">
                <a:moveTo>
                  <a:pt x="8711" y="0"/>
                </a:moveTo>
                <a:lnTo>
                  <a:pt x="0" y="4690"/>
                </a:lnTo>
              </a:path>
            </a:pathLst>
          </a:custGeom>
          <a:noFill/>
          <a:ln w="5842" cap="rnd">
            <a:solidFill>
              <a:srgbClr val="9481B1"/>
            </a:solidFill>
            <a:prstDash val="solid"/>
            <a:round/>
          </a:ln>
        </p:spPr>
      </p:sp>
      <p:sp>
        <p:nvSpPr>
          <p:cNvPr id="1452" name="V8 embedding upper curved aggregation tip head">
            <a:extLst>
              <a:ext uri="{FF2B5EF4-FFF2-40B4-BE49-F238E27FC236}">
                <a16:creationId xmlns:a16="http://schemas.microsoft.com/office/drawing/2014/main" id="{EA8590B6-001E-E7FA-C91E-6684CAB2CE42}"/>
              </a:ext>
            </a:extLst>
          </p:cNvPr>
          <p:cNvSpPr/>
          <p:nvPr/>
        </p:nvSpPr>
        <p:spPr>
          <a:xfrm>
            <a:off x="1534778" y="1490330"/>
            <a:ext cx="21547" cy="17160"/>
          </a:xfrm>
          <a:custGeom>
            <a:avLst/>
            <a:gdLst/>
            <a:ahLst/>
            <a:cxnLst/>
            <a:rect l="l" t="t" r="r" b="b"/>
            <a:pathLst>
              <a:path w="21547" h="17160">
                <a:moveTo>
                  <a:pt x="0" y="17160"/>
                </a:moveTo>
                <a:lnTo>
                  <a:pt x="21547" y="15655"/>
                </a:lnTo>
                <a:lnTo>
                  <a:pt x="13117" y="0"/>
                </a:lnTo>
                <a:close/>
              </a:path>
            </a:pathLst>
          </a:custGeom>
          <a:solidFill>
            <a:srgbClr val="4083B4"/>
          </a:solidFill>
          <a:ln w="0" cap="rnd">
            <a:noFill/>
          </a:ln>
        </p:spPr>
      </p:sp>
      <p:sp>
        <p:nvSpPr>
          <p:cNvPr id="1453" name="V8 embedding neighbor 3">
            <a:extLst>
              <a:ext uri="{FF2B5EF4-FFF2-40B4-BE49-F238E27FC236}">
                <a16:creationId xmlns:a16="http://schemas.microsoft.com/office/drawing/2014/main" id="{122DFBAE-E742-85F4-F8BE-661BC7410AFC}"/>
              </a:ext>
            </a:extLst>
          </p:cNvPr>
          <p:cNvSpPr/>
          <p:nvPr/>
        </p:nvSpPr>
        <p:spPr>
          <a:xfrm>
            <a:off x="1673208" y="1426210"/>
            <a:ext cx="27940" cy="27940"/>
          </a:xfrm>
          <a:prstGeom prst="ellipse">
            <a:avLst/>
          </a:prstGeom>
          <a:noFill/>
          <a:ln w="7112" cap="rnd">
            <a:solidFill>
              <a:srgbClr val="4083B4"/>
            </a:solidFill>
            <a:prstDash val="solid"/>
            <a:round/>
          </a:ln>
        </p:spPr>
      </p:sp>
      <p:sp>
        <p:nvSpPr>
          <p:cNvPr id="1454" name="V8 embedding curved aggregation">
            <a:extLst>
              <a:ext uri="{FF2B5EF4-FFF2-40B4-BE49-F238E27FC236}">
                <a16:creationId xmlns:a16="http://schemas.microsoft.com/office/drawing/2014/main" id="{90CEAB6E-EBCA-9F13-36DE-C928BA671D5A}"/>
              </a:ext>
            </a:extLst>
          </p:cNvPr>
          <p:cNvSpPr/>
          <p:nvPr/>
        </p:nvSpPr>
        <p:spPr>
          <a:xfrm>
            <a:off x="1392538" y="1503680"/>
            <a:ext cx="77470" cy="107970"/>
          </a:xfrm>
          <a:custGeom>
            <a:avLst/>
            <a:gdLst/>
            <a:ahLst/>
            <a:cxnLst/>
            <a:rect l="l" t="t" r="r" b="b"/>
            <a:pathLst>
              <a:path w="77470" h="107970">
                <a:moveTo>
                  <a:pt x="17311" y="107970"/>
                </a:moveTo>
                <a:cubicBezTo>
                  <a:pt x="0" y="29210"/>
                  <a:pt x="35560" y="0"/>
                  <a:pt x="77470" y="12700"/>
                </a:cubicBezTo>
              </a:path>
            </a:pathLst>
          </a:custGeom>
          <a:noFill/>
          <a:ln w="8890" cap="rnd">
            <a:solidFill>
              <a:srgbClr val="4083B4"/>
            </a:solidFill>
            <a:prstDash val="solid"/>
            <a:round/>
          </a:ln>
        </p:spPr>
      </p:sp>
      <p:sp>
        <p:nvSpPr>
          <p:cNvPr id="1455" name="V8 embedding curved aggregation tip">
            <a:extLst>
              <a:ext uri="{FF2B5EF4-FFF2-40B4-BE49-F238E27FC236}">
                <a16:creationId xmlns:a16="http://schemas.microsoft.com/office/drawing/2014/main" id="{4871021E-0B37-6092-4FB6-FB482931253B}"/>
              </a:ext>
            </a:extLst>
          </p:cNvPr>
          <p:cNvSpPr/>
          <p:nvPr/>
        </p:nvSpPr>
        <p:spPr>
          <a:xfrm>
            <a:off x="1470008" y="1516380"/>
            <a:ext cx="6039" cy="3020"/>
          </a:xfrm>
          <a:custGeom>
            <a:avLst/>
            <a:gdLst/>
            <a:ahLst/>
            <a:cxnLst/>
            <a:rect l="l" t="t" r="r" b="b"/>
            <a:pathLst>
              <a:path w="6039" h="3020">
                <a:moveTo>
                  <a:pt x="0" y="0"/>
                </a:moveTo>
                <a:lnTo>
                  <a:pt x="6039" y="3020"/>
                </a:lnTo>
              </a:path>
            </a:pathLst>
          </a:custGeom>
          <a:noFill/>
          <a:ln w="8890" cap="rnd">
            <a:solidFill>
              <a:srgbClr val="9481B1"/>
            </a:solidFill>
            <a:prstDash val="solid"/>
            <a:round/>
          </a:ln>
        </p:spPr>
      </p:sp>
      <p:sp>
        <p:nvSpPr>
          <p:cNvPr id="1456" name="V8 embedding curved aggregation tip head">
            <a:extLst>
              <a:ext uri="{FF2B5EF4-FFF2-40B4-BE49-F238E27FC236}">
                <a16:creationId xmlns:a16="http://schemas.microsoft.com/office/drawing/2014/main" id="{86BC3798-BFD4-0C2D-6F96-1C5CADB6D7BE}"/>
              </a:ext>
            </a:extLst>
          </p:cNvPr>
          <p:cNvSpPr/>
          <p:nvPr/>
        </p:nvSpPr>
        <p:spPr>
          <a:xfrm>
            <a:off x="1460116" y="1504405"/>
            <a:ext cx="25132" cy="19595"/>
          </a:xfrm>
          <a:custGeom>
            <a:avLst/>
            <a:gdLst/>
            <a:ahLst/>
            <a:cxnLst/>
            <a:rect l="l" t="t" r="r" b="b"/>
            <a:pathLst>
              <a:path w="25132" h="19595">
                <a:moveTo>
                  <a:pt x="25132" y="19595"/>
                </a:moveTo>
                <a:lnTo>
                  <a:pt x="9371" y="0"/>
                </a:lnTo>
                <a:lnTo>
                  <a:pt x="0" y="18743"/>
                </a:lnTo>
                <a:close/>
              </a:path>
            </a:pathLst>
          </a:custGeom>
          <a:solidFill>
            <a:srgbClr val="4083B4"/>
          </a:solidFill>
          <a:ln w="0" cap="rnd">
            <a:solidFill>
              <a:srgbClr val="4083B4"/>
            </a:solidFill>
          </a:ln>
        </p:spPr>
      </p:sp>
      <p:sp>
        <p:nvSpPr>
          <p:cNvPr id="1457" name="V8 embedding neighbor 4">
            <a:extLst>
              <a:ext uri="{FF2B5EF4-FFF2-40B4-BE49-F238E27FC236}">
                <a16:creationId xmlns:a16="http://schemas.microsoft.com/office/drawing/2014/main" id="{AEADE014-9292-2360-C2CE-F8C845E8BCFD}"/>
              </a:ext>
            </a:extLst>
          </p:cNvPr>
          <p:cNvSpPr/>
          <p:nvPr/>
        </p:nvSpPr>
        <p:spPr>
          <a:xfrm>
            <a:off x="1377933" y="1607185"/>
            <a:ext cx="31750" cy="31750"/>
          </a:xfrm>
          <a:prstGeom prst="ellipse">
            <a:avLst/>
          </a:prstGeom>
          <a:noFill/>
          <a:ln w="7112" cap="rnd">
            <a:solidFill>
              <a:srgbClr val="4083B4"/>
            </a:solidFill>
            <a:prstDash val="solid"/>
            <a:round/>
          </a:ln>
        </p:spPr>
      </p:sp>
      <p:sp>
        <p:nvSpPr>
          <p:cNvPr id="1458" name="V8 embedding neighbor 5 to center">
            <a:extLst>
              <a:ext uri="{FF2B5EF4-FFF2-40B4-BE49-F238E27FC236}">
                <a16:creationId xmlns:a16="http://schemas.microsoft.com/office/drawing/2014/main" id="{88F2ECE0-BE4E-6B10-0F14-901F5AD31AE6}"/>
              </a:ext>
            </a:extLst>
          </p:cNvPr>
          <p:cNvSpPr/>
          <p:nvPr/>
        </p:nvSpPr>
        <p:spPr>
          <a:xfrm>
            <a:off x="1508228" y="1576570"/>
            <a:ext cx="5857" cy="82734"/>
          </a:xfrm>
          <a:custGeom>
            <a:avLst/>
            <a:gdLst/>
            <a:ahLst/>
            <a:cxnLst/>
            <a:rect l="l" t="t" r="r" b="b"/>
            <a:pathLst>
              <a:path w="5857" h="82734">
                <a:moveTo>
                  <a:pt x="0" y="82734"/>
                </a:moveTo>
                <a:lnTo>
                  <a:pt x="5857" y="0"/>
                </a:lnTo>
              </a:path>
            </a:pathLst>
          </a:custGeom>
          <a:noFill/>
          <a:ln w="5842" cap="rnd">
            <a:solidFill>
              <a:srgbClr val="4083B4"/>
            </a:solidFill>
            <a:prstDash val="solid"/>
            <a:round/>
          </a:ln>
        </p:spPr>
      </p:sp>
      <p:sp>
        <p:nvSpPr>
          <p:cNvPr id="1459" name="V8 embedding neighbor 5 to center head">
            <a:extLst>
              <a:ext uri="{FF2B5EF4-FFF2-40B4-BE49-F238E27FC236}">
                <a16:creationId xmlns:a16="http://schemas.microsoft.com/office/drawing/2014/main" id="{4E579011-FEC4-00D3-7546-C5CB388C9A0A}"/>
              </a:ext>
            </a:extLst>
          </p:cNvPr>
          <p:cNvSpPr/>
          <p:nvPr/>
        </p:nvSpPr>
        <p:spPr>
          <a:xfrm>
            <a:off x="1504453" y="1567734"/>
            <a:ext cx="17736" cy="20264"/>
          </a:xfrm>
          <a:custGeom>
            <a:avLst/>
            <a:gdLst/>
            <a:ahLst/>
            <a:cxnLst/>
            <a:rect l="l" t="t" r="r" b="b"/>
            <a:pathLst>
              <a:path w="17736" h="20264">
                <a:moveTo>
                  <a:pt x="10258" y="0"/>
                </a:moveTo>
                <a:lnTo>
                  <a:pt x="0" y="19008"/>
                </a:lnTo>
                <a:lnTo>
                  <a:pt x="17736" y="20264"/>
                </a:lnTo>
                <a:close/>
              </a:path>
            </a:pathLst>
          </a:custGeom>
          <a:solidFill>
            <a:srgbClr val="4083B4"/>
          </a:solidFill>
          <a:ln w="0" cap="rnd">
            <a:solidFill>
              <a:srgbClr val="4083B4"/>
            </a:solidFill>
          </a:ln>
        </p:spPr>
      </p:sp>
      <p:sp>
        <p:nvSpPr>
          <p:cNvPr id="1460" name="V8 embedding neighbor 5">
            <a:extLst>
              <a:ext uri="{FF2B5EF4-FFF2-40B4-BE49-F238E27FC236}">
                <a16:creationId xmlns:a16="http://schemas.microsoft.com/office/drawing/2014/main" id="{80A6CA00-4D1C-000D-C0AF-7F59BA21FF45}"/>
              </a:ext>
            </a:extLst>
          </p:cNvPr>
          <p:cNvSpPr/>
          <p:nvPr/>
        </p:nvSpPr>
        <p:spPr>
          <a:xfrm>
            <a:off x="1492233" y="1664335"/>
            <a:ext cx="29210" cy="29210"/>
          </a:xfrm>
          <a:prstGeom prst="ellipse">
            <a:avLst/>
          </a:prstGeom>
          <a:noFill/>
          <a:ln w="7112" cap="rnd">
            <a:solidFill>
              <a:srgbClr val="4083B4"/>
            </a:solidFill>
            <a:prstDash val="solid"/>
            <a:round/>
          </a:ln>
        </p:spPr>
      </p:sp>
      <p:sp>
        <p:nvSpPr>
          <p:cNvPr id="1461" name="V8 embedding center">
            <a:extLst>
              <a:ext uri="{FF2B5EF4-FFF2-40B4-BE49-F238E27FC236}">
                <a16:creationId xmlns:a16="http://schemas.microsoft.com/office/drawing/2014/main" id="{0973F1A0-63C8-796C-8269-8DC9810E39E1}"/>
              </a:ext>
            </a:extLst>
          </p:cNvPr>
          <p:cNvSpPr/>
          <p:nvPr/>
        </p:nvSpPr>
        <p:spPr>
          <a:xfrm>
            <a:off x="1494773" y="1513205"/>
            <a:ext cx="44450" cy="44450"/>
          </a:xfrm>
          <a:prstGeom prst="ellipse">
            <a:avLst/>
          </a:prstGeom>
          <a:noFill/>
          <a:ln w="9906" cap="rnd">
            <a:solidFill>
              <a:srgbClr val="3B8C80"/>
            </a:solidFill>
            <a:prstDash val="solid"/>
            <a:round/>
          </a:ln>
        </p:spPr>
      </p:sp>
      <p:sp>
        <p:nvSpPr>
          <p:cNvPr id="1462" name="V8 embedding feature 1">
            <a:extLst>
              <a:ext uri="{FF2B5EF4-FFF2-40B4-BE49-F238E27FC236}">
                <a16:creationId xmlns:a16="http://schemas.microsoft.com/office/drawing/2014/main" id="{FE0417EE-6828-F09F-AACE-DE1F76BE3EB6}"/>
              </a:ext>
            </a:extLst>
          </p:cNvPr>
          <p:cNvSpPr/>
          <p:nvPr/>
        </p:nvSpPr>
        <p:spPr>
          <a:xfrm>
            <a:off x="1548748" y="1518285"/>
            <a:ext cx="18415" cy="34290"/>
          </a:xfrm>
          <a:prstGeom prst="rect">
            <a:avLst/>
          </a:prstGeom>
          <a:solidFill>
            <a:srgbClr val="3E8F9A"/>
          </a:solidFill>
          <a:ln w="0" cap="rnd">
            <a:noFill/>
          </a:ln>
        </p:spPr>
      </p:sp>
      <p:sp>
        <p:nvSpPr>
          <p:cNvPr id="1463" name="V8 embedding feature 2">
            <a:extLst>
              <a:ext uri="{FF2B5EF4-FFF2-40B4-BE49-F238E27FC236}">
                <a16:creationId xmlns:a16="http://schemas.microsoft.com/office/drawing/2014/main" id="{28DF18A8-B7D6-40CC-F8D0-1CE005F88971}"/>
              </a:ext>
            </a:extLst>
          </p:cNvPr>
          <p:cNvSpPr/>
          <p:nvPr/>
        </p:nvSpPr>
        <p:spPr>
          <a:xfrm>
            <a:off x="1568433" y="1518285"/>
            <a:ext cx="18415" cy="34290"/>
          </a:xfrm>
          <a:prstGeom prst="rect">
            <a:avLst/>
          </a:prstGeom>
          <a:solidFill>
            <a:srgbClr val="88BEC3"/>
          </a:solidFill>
          <a:ln w="0" cap="rnd">
            <a:noFill/>
          </a:ln>
        </p:spPr>
      </p:sp>
      <p:sp>
        <p:nvSpPr>
          <p:cNvPr id="1464" name="V8 embedding feature 3">
            <a:extLst>
              <a:ext uri="{FF2B5EF4-FFF2-40B4-BE49-F238E27FC236}">
                <a16:creationId xmlns:a16="http://schemas.microsoft.com/office/drawing/2014/main" id="{D8B2548F-FDCB-962F-D116-8194E608D854}"/>
              </a:ext>
            </a:extLst>
          </p:cNvPr>
          <p:cNvSpPr/>
          <p:nvPr/>
        </p:nvSpPr>
        <p:spPr>
          <a:xfrm>
            <a:off x="1588118" y="1518285"/>
            <a:ext cx="18415" cy="34290"/>
          </a:xfrm>
          <a:prstGeom prst="rect">
            <a:avLst/>
          </a:prstGeom>
          <a:solidFill>
            <a:srgbClr val="67AD9F"/>
          </a:solidFill>
          <a:ln w="0" cap="rnd">
            <a:noFill/>
          </a:ln>
        </p:spPr>
      </p:sp>
      <p:sp>
        <p:nvSpPr>
          <p:cNvPr id="1465" name="V8 embedding feature 4">
            <a:extLst>
              <a:ext uri="{FF2B5EF4-FFF2-40B4-BE49-F238E27FC236}">
                <a16:creationId xmlns:a16="http://schemas.microsoft.com/office/drawing/2014/main" id="{4DB56FF7-AE6A-29C2-0D4E-A50B4A01B329}"/>
              </a:ext>
            </a:extLst>
          </p:cNvPr>
          <p:cNvSpPr/>
          <p:nvPr/>
        </p:nvSpPr>
        <p:spPr>
          <a:xfrm>
            <a:off x="1607803" y="1518285"/>
            <a:ext cx="18415" cy="34290"/>
          </a:xfrm>
          <a:prstGeom prst="rect">
            <a:avLst/>
          </a:prstGeom>
          <a:solidFill>
            <a:srgbClr val="B6D8CC"/>
          </a:solidFill>
          <a:ln w="0" cap="rnd">
            <a:noFill/>
          </a:ln>
        </p:spPr>
      </p:sp>
      <p:sp>
        <p:nvSpPr>
          <p:cNvPr id="1466" name="V8 embedding feature 5">
            <a:extLst>
              <a:ext uri="{FF2B5EF4-FFF2-40B4-BE49-F238E27FC236}">
                <a16:creationId xmlns:a16="http://schemas.microsoft.com/office/drawing/2014/main" id="{0834D08B-BC25-2ADC-AF12-5492513577F8}"/>
              </a:ext>
            </a:extLst>
          </p:cNvPr>
          <p:cNvSpPr/>
          <p:nvPr/>
        </p:nvSpPr>
        <p:spPr>
          <a:xfrm>
            <a:off x="1627488" y="1518285"/>
            <a:ext cx="18415" cy="34290"/>
          </a:xfrm>
          <a:prstGeom prst="rect">
            <a:avLst/>
          </a:prstGeom>
          <a:solidFill>
            <a:srgbClr val="3B8C80"/>
          </a:solidFill>
          <a:ln w="0" cap="rnd">
            <a:noFill/>
          </a:ln>
        </p:spPr>
      </p:sp>
      <p:sp>
        <p:nvSpPr>
          <p:cNvPr id="1467" name="V8 embedding feature 6">
            <a:extLst>
              <a:ext uri="{FF2B5EF4-FFF2-40B4-BE49-F238E27FC236}">
                <a16:creationId xmlns:a16="http://schemas.microsoft.com/office/drawing/2014/main" id="{7EDE9E92-6EF0-3023-2F22-6E7EFD9706C6}"/>
              </a:ext>
            </a:extLst>
          </p:cNvPr>
          <p:cNvSpPr/>
          <p:nvPr/>
        </p:nvSpPr>
        <p:spPr>
          <a:xfrm>
            <a:off x="1647173" y="1518285"/>
            <a:ext cx="18415" cy="34290"/>
          </a:xfrm>
          <a:prstGeom prst="rect">
            <a:avLst/>
          </a:prstGeom>
          <a:solidFill>
            <a:srgbClr val="A3CDDA"/>
          </a:solidFill>
          <a:ln w="0" cap="rnd">
            <a:noFill/>
          </a:ln>
        </p:spPr>
      </p:sp>
      <p:sp>
        <p:nvSpPr>
          <p:cNvPr id="1468" name="V8 embedding feature 7">
            <a:extLst>
              <a:ext uri="{FF2B5EF4-FFF2-40B4-BE49-F238E27FC236}">
                <a16:creationId xmlns:a16="http://schemas.microsoft.com/office/drawing/2014/main" id="{3791BD29-2650-00D8-2639-94010AF8036F}"/>
              </a:ext>
            </a:extLst>
          </p:cNvPr>
          <p:cNvSpPr/>
          <p:nvPr/>
        </p:nvSpPr>
        <p:spPr>
          <a:xfrm>
            <a:off x="1666858" y="1518285"/>
            <a:ext cx="18415" cy="34290"/>
          </a:xfrm>
          <a:prstGeom prst="rect">
            <a:avLst/>
          </a:prstGeom>
          <a:solidFill>
            <a:srgbClr val="6CAFA4"/>
          </a:solidFill>
          <a:ln w="0" cap="rnd">
            <a:noFill/>
          </a:ln>
        </p:spPr>
      </p:sp>
      <p:sp>
        <p:nvSpPr>
          <p:cNvPr id="1469" name="V8 embedding feature 8">
            <a:extLst>
              <a:ext uri="{FF2B5EF4-FFF2-40B4-BE49-F238E27FC236}">
                <a16:creationId xmlns:a16="http://schemas.microsoft.com/office/drawing/2014/main" id="{78D40256-09DE-A393-64FC-199BB5DEB767}"/>
              </a:ext>
            </a:extLst>
          </p:cNvPr>
          <p:cNvSpPr/>
          <p:nvPr/>
        </p:nvSpPr>
        <p:spPr>
          <a:xfrm>
            <a:off x="1686543" y="1518285"/>
            <a:ext cx="18415" cy="34290"/>
          </a:xfrm>
          <a:prstGeom prst="rect">
            <a:avLst/>
          </a:prstGeom>
          <a:solidFill>
            <a:srgbClr val="C4DDE0"/>
          </a:solidFill>
          <a:ln w="0" cap="rnd">
            <a:noFill/>
          </a:ln>
        </p:spPr>
      </p:sp>
      <p:sp>
        <p:nvSpPr>
          <p:cNvPr id="1471" name="V8 embedding to point branch">
            <a:extLst>
              <a:ext uri="{FF2B5EF4-FFF2-40B4-BE49-F238E27FC236}">
                <a16:creationId xmlns:a16="http://schemas.microsoft.com/office/drawing/2014/main" id="{CD0EF799-B1E4-C26B-BB25-441BB97890BE}"/>
              </a:ext>
            </a:extLst>
          </p:cNvPr>
          <p:cNvSpPr/>
          <p:nvPr/>
        </p:nvSpPr>
        <p:spPr>
          <a:xfrm flipV="1">
            <a:off x="1767191" y="1469001"/>
            <a:ext cx="157162" cy="66614"/>
          </a:xfrm>
          <a:custGeom>
            <a:avLst/>
            <a:gdLst/>
            <a:ahLst/>
            <a:cxnLst/>
            <a:rect l="l" t="t" r="r" b="b"/>
            <a:pathLst>
              <a:path w="63379" h="1">
                <a:moveTo>
                  <a:pt x="0" y="0"/>
                </a:moveTo>
                <a:lnTo>
                  <a:pt x="63379" y="0"/>
                </a:lnTo>
              </a:path>
            </a:pathLst>
          </a:custGeom>
          <a:noFill/>
          <a:ln w="8509" cap="rnd">
            <a:solidFill>
              <a:srgbClr val="77828C"/>
            </a:solidFill>
            <a:prstDash val="solid"/>
            <a:round/>
          </a:ln>
        </p:spPr>
      </p:sp>
      <p:sp>
        <p:nvSpPr>
          <p:cNvPr id="1472" name="V8 embedding to point branch head">
            <a:extLst>
              <a:ext uri="{FF2B5EF4-FFF2-40B4-BE49-F238E27FC236}">
                <a16:creationId xmlns:a16="http://schemas.microsoft.com/office/drawing/2014/main" id="{EE5B1593-BB31-DCD1-99C7-141C7B857AF7}"/>
              </a:ext>
            </a:extLst>
          </p:cNvPr>
          <p:cNvSpPr/>
          <p:nvPr/>
        </p:nvSpPr>
        <p:spPr>
          <a:xfrm>
            <a:off x="1909057" y="1523745"/>
            <a:ext cx="28321" cy="24384"/>
          </a:xfrm>
          <a:custGeom>
            <a:avLst/>
            <a:gdLst/>
            <a:ahLst/>
            <a:cxnLst/>
            <a:rect l="l" t="t" r="r" b="b"/>
            <a:pathLst>
              <a:path w="28321" h="24384">
                <a:moveTo>
                  <a:pt x="28321" y="12192"/>
                </a:moveTo>
                <a:lnTo>
                  <a:pt x="0" y="0"/>
                </a:lnTo>
                <a:lnTo>
                  <a:pt x="0" y="24384"/>
                </a:lnTo>
                <a:close/>
              </a:path>
            </a:pathLst>
          </a:custGeom>
          <a:solidFill>
            <a:srgbClr val="77828C"/>
          </a:solidFill>
          <a:ln w="0" cap="rnd">
            <a:solidFill>
              <a:srgbClr val="77828C"/>
            </a:solidFill>
          </a:ln>
        </p:spPr>
      </p:sp>
      <p:sp>
        <p:nvSpPr>
          <p:cNvPr id="1473" name="V8 embedding to voxel branch">
            <a:extLst>
              <a:ext uri="{FF2B5EF4-FFF2-40B4-BE49-F238E27FC236}">
                <a16:creationId xmlns:a16="http://schemas.microsoft.com/office/drawing/2014/main" id="{A9E148F4-6BCA-77FF-AE43-549D2AE883D5}"/>
              </a:ext>
            </a:extLst>
          </p:cNvPr>
          <p:cNvSpPr/>
          <p:nvPr/>
        </p:nvSpPr>
        <p:spPr>
          <a:xfrm flipH="1">
            <a:off x="1787927" y="835707"/>
            <a:ext cx="45719" cy="699723"/>
          </a:xfrm>
          <a:custGeom>
            <a:avLst/>
            <a:gdLst/>
            <a:ahLst/>
            <a:cxnLst/>
            <a:rect l="l" t="t" r="r" b="b"/>
            <a:pathLst>
              <a:path w="1" h="866159">
                <a:moveTo>
                  <a:pt x="0" y="866159"/>
                </a:moveTo>
                <a:lnTo>
                  <a:pt x="0" y="0"/>
                </a:lnTo>
              </a:path>
            </a:pathLst>
          </a:custGeom>
          <a:noFill/>
          <a:ln w="8509" cap="rnd">
            <a:solidFill>
              <a:srgbClr val="77828C"/>
            </a:solidFill>
            <a:prstDash val="solid"/>
            <a:round/>
          </a:ln>
        </p:spPr>
      </p:sp>
      <p:sp>
        <p:nvSpPr>
          <p:cNvPr id="1475" name="V8 density and receptor to voxel">
            <a:extLst>
              <a:ext uri="{FF2B5EF4-FFF2-40B4-BE49-F238E27FC236}">
                <a16:creationId xmlns:a16="http://schemas.microsoft.com/office/drawing/2014/main" id="{61ECA984-FF9D-A5D0-F819-33661D001ABE}"/>
              </a:ext>
            </a:extLst>
          </p:cNvPr>
          <p:cNvSpPr/>
          <p:nvPr/>
        </p:nvSpPr>
        <p:spPr>
          <a:xfrm flipV="1">
            <a:off x="1767284" y="610807"/>
            <a:ext cx="148072" cy="45719"/>
          </a:xfrm>
          <a:custGeom>
            <a:avLst/>
            <a:gdLst/>
            <a:ahLst/>
            <a:cxnLst/>
            <a:rect l="l" t="t" r="r" b="b"/>
            <a:pathLst>
              <a:path w="96730" h="1">
                <a:moveTo>
                  <a:pt x="0" y="0"/>
                </a:moveTo>
                <a:lnTo>
                  <a:pt x="96730" y="0"/>
                </a:lnTo>
              </a:path>
            </a:pathLst>
          </a:custGeom>
          <a:noFill/>
          <a:ln w="8509" cap="rnd">
            <a:solidFill>
              <a:srgbClr val="77828C"/>
            </a:solidFill>
            <a:prstDash val="solid"/>
            <a:round/>
          </a:ln>
        </p:spPr>
      </p:sp>
      <p:sp>
        <p:nvSpPr>
          <p:cNvPr id="1476" name="V8 density and receptor to voxel head">
            <a:extLst>
              <a:ext uri="{FF2B5EF4-FFF2-40B4-BE49-F238E27FC236}">
                <a16:creationId xmlns:a16="http://schemas.microsoft.com/office/drawing/2014/main" id="{D6CAD338-44F5-8993-3618-9A1839CB2DBC}"/>
              </a:ext>
            </a:extLst>
          </p:cNvPr>
          <p:cNvSpPr/>
          <p:nvPr/>
        </p:nvSpPr>
        <p:spPr>
          <a:xfrm>
            <a:off x="1904526" y="644334"/>
            <a:ext cx="28321" cy="24384"/>
          </a:xfrm>
          <a:custGeom>
            <a:avLst/>
            <a:gdLst/>
            <a:ahLst/>
            <a:cxnLst/>
            <a:rect l="l" t="t" r="r" b="b"/>
            <a:pathLst>
              <a:path w="28321" h="24384">
                <a:moveTo>
                  <a:pt x="28321" y="12192"/>
                </a:moveTo>
                <a:lnTo>
                  <a:pt x="0" y="0"/>
                </a:lnTo>
                <a:lnTo>
                  <a:pt x="0" y="24384"/>
                </a:lnTo>
                <a:close/>
              </a:path>
            </a:pathLst>
          </a:custGeom>
          <a:solidFill>
            <a:srgbClr val="77828C"/>
          </a:solidFill>
          <a:ln w="0" cap="rnd">
            <a:noFill/>
          </a:ln>
        </p:spPr>
      </p:sp>
      <p:sp>
        <p:nvSpPr>
          <p:cNvPr id="1479" name="V8 Match input divider">
            <a:extLst>
              <a:ext uri="{FF2B5EF4-FFF2-40B4-BE49-F238E27FC236}">
                <a16:creationId xmlns:a16="http://schemas.microsoft.com/office/drawing/2014/main" id="{2EDC4EC7-D903-3262-650D-444D37299D28}"/>
              </a:ext>
            </a:extLst>
          </p:cNvPr>
          <p:cNvSpPr/>
          <p:nvPr/>
        </p:nvSpPr>
        <p:spPr>
          <a:xfrm>
            <a:off x="576470" y="2767063"/>
            <a:ext cx="957199" cy="1"/>
          </a:xfrm>
          <a:custGeom>
            <a:avLst/>
            <a:gdLst/>
            <a:ahLst/>
            <a:cxnLst/>
            <a:rect l="l" t="t" r="r" b="b"/>
            <a:pathLst>
              <a:path w="957199" h="1">
                <a:moveTo>
                  <a:pt x="0" y="0"/>
                </a:moveTo>
                <a:lnTo>
                  <a:pt x="957199" y="0"/>
                </a:lnTo>
              </a:path>
            </a:pathLst>
          </a:custGeom>
          <a:noFill/>
          <a:ln w="7290" cap="rnd">
            <a:solidFill>
              <a:srgbClr val="C8CFD4"/>
            </a:solidFill>
            <a:prstDash val="solid"/>
            <a:round/>
          </a:ln>
        </p:spPr>
      </p:sp>
      <p:sp>
        <p:nvSpPr>
          <p:cNvPr id="1480" name="V8 pool to concat">
            <a:extLst>
              <a:ext uri="{FF2B5EF4-FFF2-40B4-BE49-F238E27FC236}">
                <a16:creationId xmlns:a16="http://schemas.microsoft.com/office/drawing/2014/main" id="{3702663D-F294-9B06-B213-0076F82464A6}"/>
              </a:ext>
            </a:extLst>
          </p:cNvPr>
          <p:cNvSpPr/>
          <p:nvPr/>
        </p:nvSpPr>
        <p:spPr>
          <a:xfrm>
            <a:off x="881771" y="3603168"/>
            <a:ext cx="355873" cy="100152"/>
          </a:xfrm>
          <a:custGeom>
            <a:avLst/>
            <a:gdLst/>
            <a:ahLst/>
            <a:cxnLst/>
            <a:rect l="l" t="t" r="r" b="b"/>
            <a:pathLst>
              <a:path w="355873" h="100152">
                <a:moveTo>
                  <a:pt x="0" y="0"/>
                </a:moveTo>
                <a:lnTo>
                  <a:pt x="0" y="100152"/>
                </a:lnTo>
                <a:lnTo>
                  <a:pt x="355873" y="100152"/>
                </a:lnTo>
              </a:path>
            </a:pathLst>
          </a:custGeom>
          <a:noFill/>
          <a:ln w="8509" cap="rnd">
            <a:solidFill>
              <a:srgbClr val="77828C"/>
            </a:solidFill>
            <a:prstDash val="solid"/>
            <a:round/>
          </a:ln>
        </p:spPr>
      </p:sp>
      <p:sp>
        <p:nvSpPr>
          <p:cNvPr id="1481" name="V8 attention to concat">
            <a:extLst>
              <a:ext uri="{FF2B5EF4-FFF2-40B4-BE49-F238E27FC236}">
                <a16:creationId xmlns:a16="http://schemas.microsoft.com/office/drawing/2014/main" id="{45C4FCB5-3380-E3A8-B0B1-54A427F52361}"/>
              </a:ext>
            </a:extLst>
          </p:cNvPr>
          <p:cNvSpPr/>
          <p:nvPr/>
        </p:nvSpPr>
        <p:spPr>
          <a:xfrm>
            <a:off x="1237644" y="3603168"/>
            <a:ext cx="356064" cy="100152"/>
          </a:xfrm>
          <a:custGeom>
            <a:avLst/>
            <a:gdLst/>
            <a:ahLst/>
            <a:cxnLst/>
            <a:rect l="l" t="t" r="r" b="b"/>
            <a:pathLst>
              <a:path w="356064" h="100152">
                <a:moveTo>
                  <a:pt x="356064" y="0"/>
                </a:moveTo>
                <a:lnTo>
                  <a:pt x="356064" y="100152"/>
                </a:lnTo>
                <a:lnTo>
                  <a:pt x="0" y="100152"/>
                </a:lnTo>
              </a:path>
            </a:pathLst>
          </a:custGeom>
          <a:noFill/>
          <a:ln w="8509" cap="rnd">
            <a:solidFill>
              <a:srgbClr val="77828C"/>
            </a:solidFill>
            <a:prstDash val="solid"/>
            <a:round/>
          </a:ln>
        </p:spPr>
      </p:sp>
      <p:sp>
        <p:nvSpPr>
          <p:cNvPr id="1482" name="V8 concat to MLP">
            <a:extLst>
              <a:ext uri="{FF2B5EF4-FFF2-40B4-BE49-F238E27FC236}">
                <a16:creationId xmlns:a16="http://schemas.microsoft.com/office/drawing/2014/main" id="{366946BB-F669-FC2F-4DBA-809EA592E5E1}"/>
              </a:ext>
            </a:extLst>
          </p:cNvPr>
          <p:cNvSpPr/>
          <p:nvPr/>
        </p:nvSpPr>
        <p:spPr>
          <a:xfrm>
            <a:off x="1237644" y="3703320"/>
            <a:ext cx="1" cy="22181"/>
          </a:xfrm>
          <a:custGeom>
            <a:avLst/>
            <a:gdLst/>
            <a:ahLst/>
            <a:cxnLst/>
            <a:rect l="l" t="t" r="r" b="b"/>
            <a:pathLst>
              <a:path w="1" h="22181">
                <a:moveTo>
                  <a:pt x="0" y="0"/>
                </a:moveTo>
                <a:lnTo>
                  <a:pt x="0" y="22181"/>
                </a:lnTo>
              </a:path>
            </a:pathLst>
          </a:custGeom>
          <a:noFill/>
          <a:ln w="8509" cap="rnd">
            <a:solidFill>
              <a:srgbClr val="77828C"/>
            </a:solidFill>
            <a:prstDash val="solid"/>
            <a:round/>
          </a:ln>
        </p:spPr>
      </p:sp>
      <p:sp>
        <p:nvSpPr>
          <p:cNvPr id="1483" name="V8 concat to MLP head">
            <a:extLst>
              <a:ext uri="{FF2B5EF4-FFF2-40B4-BE49-F238E27FC236}">
                <a16:creationId xmlns:a16="http://schemas.microsoft.com/office/drawing/2014/main" id="{234835D4-EF31-832C-586B-712FBD8CEB61}"/>
              </a:ext>
            </a:extLst>
          </p:cNvPr>
          <p:cNvSpPr/>
          <p:nvPr/>
        </p:nvSpPr>
        <p:spPr>
          <a:xfrm>
            <a:off x="1225452" y="3709924"/>
            <a:ext cx="24384" cy="28321"/>
          </a:xfrm>
          <a:custGeom>
            <a:avLst/>
            <a:gdLst/>
            <a:ahLst/>
            <a:cxnLst/>
            <a:rect l="l" t="t" r="r" b="b"/>
            <a:pathLst>
              <a:path w="24384" h="28321">
                <a:moveTo>
                  <a:pt x="12192" y="28321"/>
                </a:moveTo>
                <a:lnTo>
                  <a:pt x="24384" y="0"/>
                </a:lnTo>
                <a:lnTo>
                  <a:pt x="0" y="0"/>
                </a:lnTo>
                <a:close/>
              </a:path>
            </a:pathLst>
          </a:custGeom>
          <a:solidFill>
            <a:srgbClr val="77828C"/>
          </a:solidFill>
          <a:ln w="0" cap="rnd">
            <a:noFill/>
          </a:ln>
        </p:spPr>
      </p:sp>
      <p:grpSp>
        <p:nvGrpSpPr>
          <p:cNvPr id="6" name="Find candidate blob 2">
            <a:extLst>
              <a:ext uri="{FF2B5EF4-FFF2-40B4-BE49-F238E27FC236}">
                <a16:creationId xmlns:a16="http://schemas.microsoft.com/office/drawing/2014/main" id="{52582F41-8562-EDCF-D547-FEE06D78B091}"/>
              </a:ext>
            </a:extLst>
          </p:cNvPr>
          <p:cNvGrpSpPr/>
          <p:nvPr/>
        </p:nvGrpSpPr>
        <p:grpSpPr>
          <a:xfrm rot="3197729">
            <a:off x="4553030" y="901286"/>
            <a:ext cx="140909" cy="118817"/>
            <a:chOff x="1928706" y="3559489"/>
            <a:chExt cx="227897" cy="155682"/>
          </a:xfrm>
        </p:grpSpPr>
        <p:sp>
          <p:nvSpPr>
            <p:cNvPr id="16" name="Candidate blob | editable contour">
              <a:extLst>
                <a:ext uri="{FF2B5EF4-FFF2-40B4-BE49-F238E27FC236}">
                  <a16:creationId xmlns:a16="http://schemas.microsoft.com/office/drawing/2014/main" id="{AC599FE5-B7C8-2310-361D-307EF409B159}"/>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17" name="ellipse_2612">
              <a:extLst>
                <a:ext uri="{FF2B5EF4-FFF2-40B4-BE49-F238E27FC236}">
                  <a16:creationId xmlns:a16="http://schemas.microsoft.com/office/drawing/2014/main" id="{899D545A-9188-B8A5-5122-F55763321954}"/>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50449" name="F2-bank-channel">
            <a:extLst>
              <a:ext uri="{FF2B5EF4-FFF2-40B4-BE49-F238E27FC236}">
                <a16:creationId xmlns:a16="http://schemas.microsoft.com/office/drawing/2014/main" id="{E8F7522B-3B27-4338-8014-8A4EEE25C15E}"/>
              </a:ext>
            </a:extLst>
          </p:cNvPr>
          <p:cNvSpPr>
            <a:spLocks noGrp="1"/>
          </p:cNvSpPr>
          <p:nvPr/>
        </p:nvSpPr>
        <p:spPr>
          <a:xfrm>
            <a:off x="1453500" y="508635"/>
            <a:ext cx="257175" cy="190500"/>
          </a:xfrm>
          <a:prstGeom prst="rect">
            <a:avLst/>
          </a:prstGeom>
          <a:solidFill>
            <a:srgbClr val="EBF7FC"/>
          </a:solidFill>
          <a:ln w="4286">
            <a:solidFill>
              <a:srgbClr val="A6C5DF"/>
            </a:solidFill>
          </a:ln>
        </p:spPr>
      </p:sp>
      <p:sp>
        <p:nvSpPr>
          <p:cNvPr id="50450" name="F2-bank-channel">
            <a:extLst>
              <a:ext uri="{FF2B5EF4-FFF2-40B4-BE49-F238E27FC236}">
                <a16:creationId xmlns:a16="http://schemas.microsoft.com/office/drawing/2014/main" id="{44CA542A-604D-4AA5-B11D-B6617579A677}"/>
              </a:ext>
            </a:extLst>
          </p:cNvPr>
          <p:cNvSpPr>
            <a:spLocks noGrp="1"/>
          </p:cNvSpPr>
          <p:nvPr/>
        </p:nvSpPr>
        <p:spPr>
          <a:xfrm>
            <a:off x="1445880" y="515303"/>
            <a:ext cx="257175" cy="190500"/>
          </a:xfrm>
          <a:prstGeom prst="rect">
            <a:avLst/>
          </a:prstGeom>
          <a:solidFill>
            <a:srgbClr val="EBF7FC"/>
          </a:solidFill>
          <a:ln w="4286">
            <a:solidFill>
              <a:srgbClr val="A6C5DF"/>
            </a:solidFill>
          </a:ln>
        </p:spPr>
      </p:sp>
      <p:sp>
        <p:nvSpPr>
          <p:cNvPr id="50451" name="F2-bank-channel">
            <a:extLst>
              <a:ext uri="{FF2B5EF4-FFF2-40B4-BE49-F238E27FC236}">
                <a16:creationId xmlns:a16="http://schemas.microsoft.com/office/drawing/2014/main" id="{94C83CC1-C6DF-4DC5-87DF-BCD87221CF3B}"/>
              </a:ext>
            </a:extLst>
          </p:cNvPr>
          <p:cNvSpPr>
            <a:spLocks noGrp="1"/>
          </p:cNvSpPr>
          <p:nvPr/>
        </p:nvSpPr>
        <p:spPr>
          <a:xfrm>
            <a:off x="1438260" y="521970"/>
            <a:ext cx="257175" cy="190500"/>
          </a:xfrm>
          <a:prstGeom prst="rect">
            <a:avLst/>
          </a:prstGeom>
          <a:solidFill>
            <a:srgbClr val="EBF7FC"/>
          </a:solidFill>
          <a:ln w="4286">
            <a:solidFill>
              <a:srgbClr val="A6C5DF"/>
            </a:solidFill>
          </a:ln>
        </p:spPr>
      </p:sp>
      <p:sp>
        <p:nvSpPr>
          <p:cNvPr id="50452" name="F2-bank-channel">
            <a:extLst>
              <a:ext uri="{FF2B5EF4-FFF2-40B4-BE49-F238E27FC236}">
                <a16:creationId xmlns:a16="http://schemas.microsoft.com/office/drawing/2014/main" id="{1ABD8E71-8A8E-4A01-9656-5F57A7EAD863}"/>
              </a:ext>
            </a:extLst>
          </p:cNvPr>
          <p:cNvSpPr>
            <a:spLocks noGrp="1"/>
          </p:cNvSpPr>
          <p:nvPr/>
        </p:nvSpPr>
        <p:spPr>
          <a:xfrm>
            <a:off x="1430640" y="528638"/>
            <a:ext cx="257175" cy="190500"/>
          </a:xfrm>
          <a:prstGeom prst="rect">
            <a:avLst/>
          </a:prstGeom>
          <a:solidFill>
            <a:srgbClr val="EBF7FC"/>
          </a:solidFill>
          <a:ln w="4286">
            <a:solidFill>
              <a:srgbClr val="A6C5DF"/>
            </a:solidFill>
          </a:ln>
        </p:spPr>
      </p:sp>
      <p:sp>
        <p:nvSpPr>
          <p:cNvPr id="50453" name="F2-bank-channel">
            <a:extLst>
              <a:ext uri="{FF2B5EF4-FFF2-40B4-BE49-F238E27FC236}">
                <a16:creationId xmlns:a16="http://schemas.microsoft.com/office/drawing/2014/main" id="{A1E78B7C-AF8B-46CF-BE9A-7739D3A000CC}"/>
              </a:ext>
            </a:extLst>
          </p:cNvPr>
          <p:cNvSpPr>
            <a:spLocks noGrp="1"/>
          </p:cNvSpPr>
          <p:nvPr/>
        </p:nvSpPr>
        <p:spPr>
          <a:xfrm>
            <a:off x="1423020" y="535305"/>
            <a:ext cx="257175" cy="190500"/>
          </a:xfrm>
          <a:prstGeom prst="rect">
            <a:avLst/>
          </a:prstGeom>
          <a:solidFill>
            <a:srgbClr val="EBF7FC"/>
          </a:solidFill>
          <a:ln w="4286">
            <a:solidFill>
              <a:srgbClr val="A6C5DF"/>
            </a:solidFill>
          </a:ln>
        </p:spPr>
      </p:sp>
      <p:sp>
        <p:nvSpPr>
          <p:cNvPr id="50454" name="F2-bank-channel">
            <a:extLst>
              <a:ext uri="{FF2B5EF4-FFF2-40B4-BE49-F238E27FC236}">
                <a16:creationId xmlns:a16="http://schemas.microsoft.com/office/drawing/2014/main" id="{F902D412-512B-42B7-B05D-EDD9258097DC}"/>
              </a:ext>
            </a:extLst>
          </p:cNvPr>
          <p:cNvSpPr>
            <a:spLocks noGrp="1"/>
          </p:cNvSpPr>
          <p:nvPr/>
        </p:nvSpPr>
        <p:spPr>
          <a:xfrm>
            <a:off x="1415400" y="541973"/>
            <a:ext cx="257175" cy="190500"/>
          </a:xfrm>
          <a:prstGeom prst="rect">
            <a:avLst/>
          </a:prstGeom>
          <a:solidFill>
            <a:srgbClr val="EBF7FC"/>
          </a:solidFill>
          <a:ln w="4286">
            <a:solidFill>
              <a:srgbClr val="A6C5DF"/>
            </a:solidFill>
          </a:ln>
        </p:spPr>
      </p:sp>
      <p:sp>
        <p:nvSpPr>
          <p:cNvPr id="50455" name="F2-bank-channel">
            <a:extLst>
              <a:ext uri="{FF2B5EF4-FFF2-40B4-BE49-F238E27FC236}">
                <a16:creationId xmlns:a16="http://schemas.microsoft.com/office/drawing/2014/main" id="{CA6824A1-9C37-4EE2-8CF4-7C88BCE1DBE6}"/>
              </a:ext>
            </a:extLst>
          </p:cNvPr>
          <p:cNvSpPr>
            <a:spLocks noGrp="1"/>
          </p:cNvSpPr>
          <p:nvPr/>
        </p:nvSpPr>
        <p:spPr>
          <a:xfrm>
            <a:off x="1407780" y="548640"/>
            <a:ext cx="257175" cy="190500"/>
          </a:xfrm>
          <a:prstGeom prst="rect">
            <a:avLst/>
          </a:prstGeom>
          <a:solidFill>
            <a:srgbClr val="EBF7FC"/>
          </a:solidFill>
          <a:ln w="4286">
            <a:solidFill>
              <a:srgbClr val="A6C5DF"/>
            </a:solidFill>
          </a:ln>
        </p:spPr>
      </p:sp>
      <p:sp>
        <p:nvSpPr>
          <p:cNvPr id="50456" name="F2-bank-channel">
            <a:extLst>
              <a:ext uri="{FF2B5EF4-FFF2-40B4-BE49-F238E27FC236}">
                <a16:creationId xmlns:a16="http://schemas.microsoft.com/office/drawing/2014/main" id="{2705DA7A-40F9-48D2-946C-8019421C16B7}"/>
              </a:ext>
            </a:extLst>
          </p:cNvPr>
          <p:cNvSpPr>
            <a:spLocks noGrp="1"/>
          </p:cNvSpPr>
          <p:nvPr/>
        </p:nvSpPr>
        <p:spPr>
          <a:xfrm>
            <a:off x="1400160" y="555308"/>
            <a:ext cx="257175" cy="190500"/>
          </a:xfrm>
          <a:prstGeom prst="rect">
            <a:avLst/>
          </a:prstGeom>
          <a:solidFill>
            <a:srgbClr val="EBF7FC"/>
          </a:solidFill>
          <a:ln w="4286">
            <a:solidFill>
              <a:srgbClr val="A6C5DF"/>
            </a:solidFill>
          </a:ln>
        </p:spPr>
      </p:sp>
      <p:sp>
        <p:nvSpPr>
          <p:cNvPr id="50457" name="F2-bank-channel">
            <a:extLst>
              <a:ext uri="{FF2B5EF4-FFF2-40B4-BE49-F238E27FC236}">
                <a16:creationId xmlns:a16="http://schemas.microsoft.com/office/drawing/2014/main" id="{E1B9C475-D32F-4E88-9AAA-6701AFC1AC14}"/>
              </a:ext>
            </a:extLst>
          </p:cNvPr>
          <p:cNvSpPr>
            <a:spLocks noGrp="1"/>
          </p:cNvSpPr>
          <p:nvPr/>
        </p:nvSpPr>
        <p:spPr>
          <a:xfrm>
            <a:off x="1392540" y="561975"/>
            <a:ext cx="257175" cy="190500"/>
          </a:xfrm>
          <a:prstGeom prst="rect">
            <a:avLst/>
          </a:prstGeom>
          <a:solidFill>
            <a:srgbClr val="EBF7FC"/>
          </a:solidFill>
          <a:ln w="4286">
            <a:solidFill>
              <a:srgbClr val="A6C5DF"/>
            </a:solidFill>
          </a:ln>
        </p:spPr>
      </p:sp>
      <p:sp>
        <p:nvSpPr>
          <p:cNvPr id="50458" name="F2-density-voxel">
            <a:extLst>
              <a:ext uri="{FF2B5EF4-FFF2-40B4-BE49-F238E27FC236}">
                <a16:creationId xmlns:a16="http://schemas.microsoft.com/office/drawing/2014/main" id="{A49953DB-68D8-42EB-963F-DD42F453137D}"/>
              </a:ext>
            </a:extLst>
          </p:cNvPr>
          <p:cNvSpPr>
            <a:spLocks noGrp="1"/>
          </p:cNvSpPr>
          <p:nvPr/>
        </p:nvSpPr>
        <p:spPr>
          <a:xfrm>
            <a:off x="1411590" y="571500"/>
            <a:ext cx="52388" cy="42863"/>
          </a:xfrm>
          <a:prstGeom prst="rect">
            <a:avLst/>
          </a:prstGeom>
          <a:solidFill>
            <a:srgbClr val="CCE5EE"/>
          </a:solidFill>
          <a:ln w="0">
            <a:noFill/>
          </a:ln>
        </p:spPr>
      </p:sp>
      <p:sp>
        <p:nvSpPr>
          <p:cNvPr id="50459" name="F2-density-voxel">
            <a:extLst>
              <a:ext uri="{FF2B5EF4-FFF2-40B4-BE49-F238E27FC236}">
                <a16:creationId xmlns:a16="http://schemas.microsoft.com/office/drawing/2014/main" id="{ECECDED8-7BB6-465D-90CE-1566D913C0F0}"/>
              </a:ext>
            </a:extLst>
          </p:cNvPr>
          <p:cNvSpPr>
            <a:spLocks noGrp="1"/>
          </p:cNvSpPr>
          <p:nvPr/>
        </p:nvSpPr>
        <p:spPr>
          <a:xfrm>
            <a:off x="1463978" y="571500"/>
            <a:ext cx="52388" cy="42863"/>
          </a:xfrm>
          <a:prstGeom prst="rect">
            <a:avLst/>
          </a:prstGeom>
          <a:solidFill>
            <a:srgbClr val="86C0D7"/>
          </a:solidFill>
          <a:ln w="0">
            <a:noFill/>
          </a:ln>
        </p:spPr>
      </p:sp>
      <p:sp>
        <p:nvSpPr>
          <p:cNvPr id="50460" name="F2-density-voxel">
            <a:extLst>
              <a:ext uri="{FF2B5EF4-FFF2-40B4-BE49-F238E27FC236}">
                <a16:creationId xmlns:a16="http://schemas.microsoft.com/office/drawing/2014/main" id="{49E89024-8821-43E6-B830-D5D2C6143679}"/>
              </a:ext>
            </a:extLst>
          </p:cNvPr>
          <p:cNvSpPr>
            <a:spLocks noGrp="1"/>
          </p:cNvSpPr>
          <p:nvPr/>
        </p:nvSpPr>
        <p:spPr>
          <a:xfrm>
            <a:off x="1516365" y="571500"/>
            <a:ext cx="52388" cy="42863"/>
          </a:xfrm>
          <a:prstGeom prst="rect">
            <a:avLst/>
          </a:prstGeom>
          <a:solidFill>
            <a:srgbClr val="4D9ABB"/>
          </a:solidFill>
          <a:ln w="0">
            <a:noFill/>
          </a:ln>
        </p:spPr>
      </p:sp>
      <p:sp>
        <p:nvSpPr>
          <p:cNvPr id="50461" name="F2-density-voxel">
            <a:extLst>
              <a:ext uri="{FF2B5EF4-FFF2-40B4-BE49-F238E27FC236}">
                <a16:creationId xmlns:a16="http://schemas.microsoft.com/office/drawing/2014/main" id="{3A635687-B1F5-496B-9A49-461D8BC35087}"/>
              </a:ext>
            </a:extLst>
          </p:cNvPr>
          <p:cNvSpPr>
            <a:spLocks noGrp="1"/>
          </p:cNvSpPr>
          <p:nvPr/>
        </p:nvSpPr>
        <p:spPr>
          <a:xfrm>
            <a:off x="1568753" y="571500"/>
            <a:ext cx="52388" cy="42863"/>
          </a:xfrm>
          <a:prstGeom prst="rect">
            <a:avLst/>
          </a:prstGeom>
          <a:solidFill>
            <a:srgbClr val="B6DDE7"/>
          </a:solidFill>
          <a:ln w="0">
            <a:noFill/>
          </a:ln>
        </p:spPr>
      </p:sp>
      <p:sp>
        <p:nvSpPr>
          <p:cNvPr id="50462" name="F2-density-voxel">
            <a:extLst>
              <a:ext uri="{FF2B5EF4-FFF2-40B4-BE49-F238E27FC236}">
                <a16:creationId xmlns:a16="http://schemas.microsoft.com/office/drawing/2014/main" id="{FEC54E9C-643D-4824-B955-66BA7E401A0E}"/>
              </a:ext>
            </a:extLst>
          </p:cNvPr>
          <p:cNvSpPr>
            <a:spLocks noGrp="1"/>
          </p:cNvSpPr>
          <p:nvPr/>
        </p:nvSpPr>
        <p:spPr>
          <a:xfrm>
            <a:off x="1411590" y="614363"/>
            <a:ext cx="52388" cy="42863"/>
          </a:xfrm>
          <a:prstGeom prst="rect">
            <a:avLst/>
          </a:prstGeom>
          <a:solidFill>
            <a:srgbClr val="86C0D7"/>
          </a:solidFill>
          <a:ln w="0">
            <a:noFill/>
          </a:ln>
        </p:spPr>
      </p:sp>
      <p:sp>
        <p:nvSpPr>
          <p:cNvPr id="50463" name="F2-density-voxel">
            <a:extLst>
              <a:ext uri="{FF2B5EF4-FFF2-40B4-BE49-F238E27FC236}">
                <a16:creationId xmlns:a16="http://schemas.microsoft.com/office/drawing/2014/main" id="{ED2290E5-D29A-42C8-863E-1A0B5A093DAF}"/>
              </a:ext>
            </a:extLst>
          </p:cNvPr>
          <p:cNvSpPr>
            <a:spLocks noGrp="1"/>
          </p:cNvSpPr>
          <p:nvPr/>
        </p:nvSpPr>
        <p:spPr>
          <a:xfrm>
            <a:off x="1463978" y="614363"/>
            <a:ext cx="52388" cy="42863"/>
          </a:xfrm>
          <a:prstGeom prst="rect">
            <a:avLst/>
          </a:prstGeom>
          <a:solidFill>
            <a:srgbClr val="4D9ABB"/>
          </a:solidFill>
          <a:ln w="0">
            <a:noFill/>
          </a:ln>
        </p:spPr>
      </p:sp>
      <p:sp>
        <p:nvSpPr>
          <p:cNvPr id="50464" name="F2-density-voxel">
            <a:extLst>
              <a:ext uri="{FF2B5EF4-FFF2-40B4-BE49-F238E27FC236}">
                <a16:creationId xmlns:a16="http://schemas.microsoft.com/office/drawing/2014/main" id="{C030A993-BA02-4CBF-A526-9AF795928873}"/>
              </a:ext>
            </a:extLst>
          </p:cNvPr>
          <p:cNvSpPr>
            <a:spLocks noGrp="1"/>
          </p:cNvSpPr>
          <p:nvPr/>
        </p:nvSpPr>
        <p:spPr>
          <a:xfrm>
            <a:off x="1516365" y="614363"/>
            <a:ext cx="52388" cy="42863"/>
          </a:xfrm>
          <a:prstGeom prst="rect">
            <a:avLst/>
          </a:prstGeom>
          <a:solidFill>
            <a:srgbClr val="B6DDE7"/>
          </a:solidFill>
          <a:ln w="0">
            <a:noFill/>
          </a:ln>
        </p:spPr>
      </p:sp>
      <p:sp>
        <p:nvSpPr>
          <p:cNvPr id="50465" name="F2-density-voxel">
            <a:extLst>
              <a:ext uri="{FF2B5EF4-FFF2-40B4-BE49-F238E27FC236}">
                <a16:creationId xmlns:a16="http://schemas.microsoft.com/office/drawing/2014/main" id="{EC212EF2-C0F1-41AF-B3CE-D957D17932A0}"/>
              </a:ext>
            </a:extLst>
          </p:cNvPr>
          <p:cNvSpPr>
            <a:spLocks noGrp="1"/>
          </p:cNvSpPr>
          <p:nvPr/>
        </p:nvSpPr>
        <p:spPr>
          <a:xfrm>
            <a:off x="1568753" y="614363"/>
            <a:ext cx="52388" cy="42863"/>
          </a:xfrm>
          <a:prstGeom prst="rect">
            <a:avLst/>
          </a:prstGeom>
          <a:solidFill>
            <a:srgbClr val="CCE5EE"/>
          </a:solidFill>
          <a:ln w="0">
            <a:noFill/>
          </a:ln>
        </p:spPr>
      </p:sp>
      <p:sp>
        <p:nvSpPr>
          <p:cNvPr id="50466" name="F2-density-voxel">
            <a:extLst>
              <a:ext uri="{FF2B5EF4-FFF2-40B4-BE49-F238E27FC236}">
                <a16:creationId xmlns:a16="http://schemas.microsoft.com/office/drawing/2014/main" id="{8E8D1CD2-DC81-4A69-849C-F21783FD798D}"/>
              </a:ext>
            </a:extLst>
          </p:cNvPr>
          <p:cNvSpPr>
            <a:spLocks noGrp="1"/>
          </p:cNvSpPr>
          <p:nvPr/>
        </p:nvSpPr>
        <p:spPr>
          <a:xfrm>
            <a:off x="1411590" y="657225"/>
            <a:ext cx="52388" cy="42863"/>
          </a:xfrm>
          <a:prstGeom prst="rect">
            <a:avLst/>
          </a:prstGeom>
          <a:solidFill>
            <a:srgbClr val="4D9ABB"/>
          </a:solidFill>
          <a:ln w="0">
            <a:noFill/>
          </a:ln>
        </p:spPr>
      </p:sp>
      <p:sp>
        <p:nvSpPr>
          <p:cNvPr id="50467" name="F2-density-voxel">
            <a:extLst>
              <a:ext uri="{FF2B5EF4-FFF2-40B4-BE49-F238E27FC236}">
                <a16:creationId xmlns:a16="http://schemas.microsoft.com/office/drawing/2014/main" id="{CEA7FE12-330D-4160-8BE6-769BF6A26577}"/>
              </a:ext>
            </a:extLst>
          </p:cNvPr>
          <p:cNvSpPr>
            <a:spLocks noGrp="1"/>
          </p:cNvSpPr>
          <p:nvPr/>
        </p:nvSpPr>
        <p:spPr>
          <a:xfrm>
            <a:off x="1463978" y="657225"/>
            <a:ext cx="52388" cy="42863"/>
          </a:xfrm>
          <a:prstGeom prst="rect">
            <a:avLst/>
          </a:prstGeom>
          <a:solidFill>
            <a:srgbClr val="B6DDE7"/>
          </a:solidFill>
          <a:ln w="0">
            <a:noFill/>
          </a:ln>
        </p:spPr>
      </p:sp>
      <p:sp>
        <p:nvSpPr>
          <p:cNvPr id="50468" name="F2-density-voxel">
            <a:extLst>
              <a:ext uri="{FF2B5EF4-FFF2-40B4-BE49-F238E27FC236}">
                <a16:creationId xmlns:a16="http://schemas.microsoft.com/office/drawing/2014/main" id="{BE225EBF-D266-4631-9D7E-1B21643503B4}"/>
              </a:ext>
            </a:extLst>
          </p:cNvPr>
          <p:cNvSpPr>
            <a:spLocks noGrp="1"/>
          </p:cNvSpPr>
          <p:nvPr/>
        </p:nvSpPr>
        <p:spPr>
          <a:xfrm>
            <a:off x="1516365" y="657225"/>
            <a:ext cx="52388" cy="42863"/>
          </a:xfrm>
          <a:prstGeom prst="rect">
            <a:avLst/>
          </a:prstGeom>
          <a:solidFill>
            <a:srgbClr val="CCE5EE"/>
          </a:solidFill>
          <a:ln w="0">
            <a:noFill/>
          </a:ln>
        </p:spPr>
      </p:sp>
      <p:sp>
        <p:nvSpPr>
          <p:cNvPr id="50469" name="F2-density-voxel">
            <a:extLst>
              <a:ext uri="{FF2B5EF4-FFF2-40B4-BE49-F238E27FC236}">
                <a16:creationId xmlns:a16="http://schemas.microsoft.com/office/drawing/2014/main" id="{D56EA4DF-3429-4429-A2AA-6D7C9D33B341}"/>
              </a:ext>
            </a:extLst>
          </p:cNvPr>
          <p:cNvSpPr>
            <a:spLocks noGrp="1"/>
          </p:cNvSpPr>
          <p:nvPr/>
        </p:nvSpPr>
        <p:spPr>
          <a:xfrm>
            <a:off x="1568753" y="657225"/>
            <a:ext cx="52388" cy="42863"/>
          </a:xfrm>
          <a:prstGeom prst="rect">
            <a:avLst/>
          </a:prstGeom>
          <a:solidFill>
            <a:srgbClr val="86C0D7"/>
          </a:solidFill>
          <a:ln w="0">
            <a:noFill/>
          </a:ln>
        </p:spPr>
      </p:sp>
      <p:sp>
        <p:nvSpPr>
          <p:cNvPr id="50470" name="F2-density-voxel">
            <a:extLst>
              <a:ext uri="{FF2B5EF4-FFF2-40B4-BE49-F238E27FC236}">
                <a16:creationId xmlns:a16="http://schemas.microsoft.com/office/drawing/2014/main" id="{F4CB67F8-3427-42E0-B222-3C4C5B421A28}"/>
              </a:ext>
            </a:extLst>
          </p:cNvPr>
          <p:cNvSpPr>
            <a:spLocks noGrp="1"/>
          </p:cNvSpPr>
          <p:nvPr/>
        </p:nvSpPr>
        <p:spPr>
          <a:xfrm>
            <a:off x="1411590" y="700088"/>
            <a:ext cx="52388" cy="42863"/>
          </a:xfrm>
          <a:prstGeom prst="rect">
            <a:avLst/>
          </a:prstGeom>
          <a:solidFill>
            <a:srgbClr val="B6DDE7"/>
          </a:solidFill>
          <a:ln w="0">
            <a:noFill/>
          </a:ln>
        </p:spPr>
      </p:sp>
      <p:sp>
        <p:nvSpPr>
          <p:cNvPr id="50471" name="F2-density-voxel">
            <a:extLst>
              <a:ext uri="{FF2B5EF4-FFF2-40B4-BE49-F238E27FC236}">
                <a16:creationId xmlns:a16="http://schemas.microsoft.com/office/drawing/2014/main" id="{E62F2DC6-612B-4891-B2B7-8020312C0678}"/>
              </a:ext>
            </a:extLst>
          </p:cNvPr>
          <p:cNvSpPr>
            <a:spLocks noGrp="1"/>
          </p:cNvSpPr>
          <p:nvPr/>
        </p:nvSpPr>
        <p:spPr>
          <a:xfrm>
            <a:off x="1463978" y="700088"/>
            <a:ext cx="52388" cy="42863"/>
          </a:xfrm>
          <a:prstGeom prst="rect">
            <a:avLst/>
          </a:prstGeom>
          <a:solidFill>
            <a:srgbClr val="CCE5EE"/>
          </a:solidFill>
          <a:ln w="0">
            <a:noFill/>
          </a:ln>
        </p:spPr>
      </p:sp>
      <p:sp>
        <p:nvSpPr>
          <p:cNvPr id="50472" name="F2-density-voxel">
            <a:extLst>
              <a:ext uri="{FF2B5EF4-FFF2-40B4-BE49-F238E27FC236}">
                <a16:creationId xmlns:a16="http://schemas.microsoft.com/office/drawing/2014/main" id="{3D79F01F-5243-4E3C-8AA7-EE2C8B8C7E29}"/>
              </a:ext>
            </a:extLst>
          </p:cNvPr>
          <p:cNvSpPr>
            <a:spLocks noGrp="1"/>
          </p:cNvSpPr>
          <p:nvPr/>
        </p:nvSpPr>
        <p:spPr>
          <a:xfrm>
            <a:off x="1516365" y="700088"/>
            <a:ext cx="52388" cy="42863"/>
          </a:xfrm>
          <a:prstGeom prst="rect">
            <a:avLst/>
          </a:prstGeom>
          <a:solidFill>
            <a:srgbClr val="86C0D7"/>
          </a:solidFill>
          <a:ln w="0">
            <a:noFill/>
          </a:ln>
        </p:spPr>
      </p:sp>
      <p:sp>
        <p:nvSpPr>
          <p:cNvPr id="50473" name="F2-density-voxel">
            <a:extLst>
              <a:ext uri="{FF2B5EF4-FFF2-40B4-BE49-F238E27FC236}">
                <a16:creationId xmlns:a16="http://schemas.microsoft.com/office/drawing/2014/main" id="{7F5BC88D-76D1-4A24-B998-8BD41F9AADDB}"/>
              </a:ext>
            </a:extLst>
          </p:cNvPr>
          <p:cNvSpPr>
            <a:spLocks noGrp="1"/>
          </p:cNvSpPr>
          <p:nvPr/>
        </p:nvSpPr>
        <p:spPr>
          <a:xfrm>
            <a:off x="1568753" y="700088"/>
            <a:ext cx="52388" cy="42863"/>
          </a:xfrm>
          <a:prstGeom prst="rect">
            <a:avLst/>
          </a:prstGeom>
          <a:solidFill>
            <a:srgbClr val="4D9ABB"/>
          </a:solidFill>
          <a:ln w="0">
            <a:noFill/>
          </a:ln>
        </p:spPr>
      </p:sp>
      <p:sp>
        <p:nvSpPr>
          <p:cNvPr id="50474" name="F2-spatial-transform">
            <a:extLst>
              <a:ext uri="{FF2B5EF4-FFF2-40B4-BE49-F238E27FC236}">
                <a16:creationId xmlns:a16="http://schemas.microsoft.com/office/drawing/2014/main" id="{A85283F8-9FE2-48A1-8429-5356F2D370E2}"/>
              </a:ext>
            </a:extLst>
          </p:cNvPr>
          <p:cNvSpPr>
            <a:spLocks noGrp="1"/>
          </p:cNvSpPr>
          <p:nvPr/>
        </p:nvSpPr>
        <p:spPr>
          <a:xfrm>
            <a:off x="981877" y="549713"/>
            <a:ext cx="376238"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sz="460" b="0" dirty="0">
                <a:solidFill>
                  <a:srgbClr val="263442"/>
                </a:solidFill>
                <a:latin typeface="Arial"/>
                <a:ea typeface="Arial"/>
                <a:cs typeface="Arial"/>
              </a:rPr>
              <a:t>Spatial</a:t>
            </a:r>
          </a:p>
          <a:p>
            <a:pPr algn="ctr">
              <a:defRPr sz="540" b="0">
                <a:solidFill>
                  <a:srgbClr val="263442"/>
                </a:solidFill>
                <a:latin typeface="Arial"/>
                <a:ea typeface="Arial"/>
                <a:cs typeface="Arial"/>
              </a:defRPr>
            </a:pPr>
            <a:r>
              <a:rPr sz="460" b="0" dirty="0">
                <a:solidFill>
                  <a:srgbClr val="263442"/>
                </a:solidFill>
                <a:latin typeface="Arial"/>
                <a:ea typeface="Arial"/>
                <a:cs typeface="Arial"/>
              </a:rPr>
              <a:t>transform</a:t>
            </a:r>
          </a:p>
        </p:txBody>
      </p:sp>
      <p:sp>
        <p:nvSpPr>
          <p:cNvPr id="50475" name="F2-atom-embeddings-input">
            <a:extLst>
              <a:ext uri="{FF2B5EF4-FFF2-40B4-BE49-F238E27FC236}">
                <a16:creationId xmlns:a16="http://schemas.microsoft.com/office/drawing/2014/main" id="{0B4B93C5-B055-4ECE-8D5F-9FD8F9F29D6A}"/>
              </a:ext>
            </a:extLst>
          </p:cNvPr>
          <p:cNvSpPr>
            <a:spLocks noGrp="1"/>
          </p:cNvSpPr>
          <p:nvPr/>
        </p:nvSpPr>
        <p:spPr>
          <a:xfrm>
            <a:off x="1010565" y="1287494"/>
            <a:ext cx="327329"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lang="en-US" sz="460" b="0" dirty="0">
                <a:solidFill>
                  <a:srgbClr val="263442"/>
                </a:solidFill>
                <a:latin typeface="Arial"/>
                <a:ea typeface="Arial"/>
                <a:cs typeface="Arial"/>
              </a:rPr>
              <a:t>E</a:t>
            </a:r>
            <a:r>
              <a:rPr sz="460" b="0" dirty="0">
                <a:solidFill>
                  <a:srgbClr val="263442"/>
                </a:solidFill>
                <a:latin typeface="Arial"/>
                <a:ea typeface="Arial"/>
                <a:cs typeface="Arial"/>
              </a:rPr>
              <a:t>mbedding</a:t>
            </a:r>
            <a:endParaRPr lang="en-US" sz="460" b="0" dirty="0">
              <a:solidFill>
                <a:srgbClr val="263442"/>
              </a:solidFill>
              <a:latin typeface="Arial"/>
              <a:ea typeface="Arial"/>
              <a:cs typeface="Arial"/>
            </a:endParaRPr>
          </a:p>
          <a:p>
            <a:pPr algn="ctr">
              <a:defRPr sz="540" b="0">
                <a:solidFill>
                  <a:srgbClr val="263442"/>
                </a:solidFill>
                <a:latin typeface="Arial"/>
                <a:ea typeface="Arial"/>
                <a:cs typeface="Arial"/>
              </a:defRPr>
            </a:pPr>
            <a:r>
              <a:rPr lang="en-US" altLang="zh-CN" sz="460" b="0" dirty="0">
                <a:solidFill>
                  <a:srgbClr val="263442"/>
                </a:solidFill>
                <a:latin typeface="Arial"/>
                <a:ea typeface="Arial"/>
                <a:cs typeface="Arial"/>
              </a:rPr>
              <a:t>head</a:t>
            </a:r>
            <a:endParaRPr sz="460" b="0" dirty="0">
              <a:solidFill>
                <a:srgbClr val="263442"/>
              </a:solidFill>
              <a:latin typeface="Arial"/>
              <a:ea typeface="Arial"/>
              <a:cs typeface="Arial"/>
            </a:endParaRPr>
          </a:p>
        </p:txBody>
      </p:sp>
      <p:pic>
        <p:nvPicPr>
          <p:cNvPr id="50482" name="图片 50481">
            <a:extLst>
              <a:ext uri="{FF2B5EF4-FFF2-40B4-BE49-F238E27FC236}">
                <a16:creationId xmlns:a16="http://schemas.microsoft.com/office/drawing/2014/main" id="{CC697937-E8CE-4EDF-BB17-1FEA96E39283}"/>
              </a:ext>
            </a:extLst>
          </p:cNvPr>
          <p:cNvPicPr>
            <a:picLocks noChangeAspect="1"/>
          </p:cNvPicPr>
          <p:nvPr/>
        </p:nvPicPr>
        <p:blipFill>
          <a:blip r:embed="rId8"/>
          <a:stretch/>
        </p:blipFill>
        <p:spPr>
          <a:xfrm>
            <a:off x="586641" y="2943948"/>
            <a:ext cx="414760" cy="342900"/>
          </a:xfrm>
          <a:prstGeom prst="rect">
            <a:avLst/>
          </a:prstGeom>
        </p:spPr>
      </p:pic>
      <p:grpSp>
        <p:nvGrpSpPr>
          <p:cNvPr id="50493" name="Find preview 15"/>
          <p:cNvGrpSpPr/>
          <p:nvPr/>
        </p:nvGrpSpPr>
        <p:grpSpPr>
          <a:xfrm>
            <a:off x="582671" y="471488"/>
            <a:ext cx="404812" cy="395288"/>
            <a:chOff x="511635" y="471488"/>
            <a:chExt cx="404812" cy="395288"/>
          </a:xfrm>
        </p:grpSpPr>
        <p:pic>
          <p:nvPicPr>
            <p:cNvPr id="1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8CF1199C-6488-C5B6-B489-1131732B4FBF}"/>
                </a:ext>
              </a:extLst>
            </p:cNvPr>
            <p:cNvPicPr/>
            <p:nvPr/>
          </p:nvPicPr>
          <p:blipFill>
            <a:blip r:embed="rId4"/>
            <a:stretch>
              <a:fillRect/>
            </a:stretch>
          </p:blipFill>
          <p:spPr>
            <a:xfrm>
              <a:off x="511635" y="475859"/>
              <a:ext cx="404812" cy="386544"/>
            </a:xfrm>
            <a:prstGeom prst="rect">
              <a:avLst/>
            </a:prstGeom>
          </p:spPr>
        </p:pic>
        <p:sp>
          <p:nvSpPr>
            <p:cNvPr id="50476" name="crop-cube">
              <a:extLst>
                <a:ext uri="{FF2B5EF4-FFF2-40B4-BE49-F238E27FC236}">
                  <a16:creationId xmlns:a16="http://schemas.microsoft.com/office/drawing/2014/main" id="{25839399-079E-4307-9725-E085483F7FD6}"/>
                </a:ext>
              </a:extLst>
            </p:cNvPr>
            <p:cNvSpPr>
              <a:spLocks noGrp="1"/>
            </p:cNvSpPr>
            <p:nvPr/>
          </p:nvSpPr>
          <p:spPr>
            <a:xfrm>
              <a:off x="700088" y="626745"/>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477" name="crop-cube">
              <a:extLst>
                <a:ext uri="{FF2B5EF4-FFF2-40B4-BE49-F238E27FC236}">
                  <a16:creationId xmlns:a16="http://schemas.microsoft.com/office/drawing/2014/main" id="{07D86F79-577D-4116-BDEA-F38D19D792BA}"/>
                </a:ext>
              </a:extLst>
            </p:cNvPr>
            <p:cNvSpPr>
              <a:spLocks noGrp="1"/>
            </p:cNvSpPr>
            <p:nvPr/>
          </p:nvSpPr>
          <p:spPr>
            <a:xfrm>
              <a:off x="788194" y="626745"/>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478" name="F2-density-crop-size">
              <a:extLst>
                <a:ext uri="{FF2B5EF4-FFF2-40B4-BE49-F238E27FC236}">
                  <a16:creationId xmlns:a16="http://schemas.microsoft.com/office/drawing/2014/main" id="{9B6ECDDF-4CA0-44BE-83B1-7FF800ECF209}"/>
                </a:ext>
              </a:extLst>
            </p:cNvPr>
            <p:cNvSpPr>
              <a:spLocks noGrp="1"/>
            </p:cNvSpPr>
            <p:nvPr/>
          </p:nvSpPr>
          <p:spPr>
            <a:xfrm>
              <a:off x="640556" y="766763"/>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494" name="Find preview 1435"/>
          <p:cNvGrpSpPr/>
          <p:nvPr/>
        </p:nvGrpSpPr>
        <p:grpSpPr>
          <a:xfrm>
            <a:off x="582671" y="1252538"/>
            <a:ext cx="404812" cy="395288"/>
            <a:chOff x="511635" y="1252538"/>
            <a:chExt cx="404812" cy="395288"/>
          </a:xfrm>
        </p:grpSpPr>
        <p:pic>
          <p:nvPicPr>
            <p:cNvPr id="1435" name="Find clear receptor" descr="Receptor cartoon rendered from unchanged local coordinates, chain C1 of the 9LLG CA2 model.">
              <a:extLst>
                <a:ext uri="{FF2B5EF4-FFF2-40B4-BE49-F238E27FC236}">
                  <a16:creationId xmlns:a16="http://schemas.microsoft.com/office/drawing/2014/main" id="{24C88AB2-5918-0F4D-EDE6-0D89FC02F100}"/>
                </a:ext>
              </a:extLst>
            </p:cNvPr>
            <p:cNvPicPr/>
            <p:nvPr/>
          </p:nvPicPr>
          <p:blipFill>
            <a:blip r:embed="rId7"/>
            <a:srcRect l="16857" t="30389" r="19786" b="22500"/>
            <a:stretch>
              <a:fillRect/>
            </a:stretch>
          </p:blipFill>
          <p:spPr>
            <a:xfrm>
              <a:off x="511635" y="1256674"/>
              <a:ext cx="404812" cy="387014"/>
            </a:xfrm>
            <a:prstGeom prst="rect">
              <a:avLst/>
            </a:prstGeom>
          </p:spPr>
        </p:pic>
        <p:sp>
          <p:nvSpPr>
            <p:cNvPr id="50479" name="crop-cube">
              <a:extLst>
                <a:ext uri="{FF2B5EF4-FFF2-40B4-BE49-F238E27FC236}">
                  <a16:creationId xmlns:a16="http://schemas.microsoft.com/office/drawing/2014/main" id="{B083B324-58BF-4271-92CE-6A3DCE5DBE53}"/>
                </a:ext>
              </a:extLst>
            </p:cNvPr>
            <p:cNvSpPr>
              <a:spLocks noGrp="1"/>
            </p:cNvSpPr>
            <p:nvPr/>
          </p:nvSpPr>
          <p:spPr>
            <a:xfrm>
              <a:off x="700088" y="1404938"/>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480" name="crop-cube">
              <a:extLst>
                <a:ext uri="{FF2B5EF4-FFF2-40B4-BE49-F238E27FC236}">
                  <a16:creationId xmlns:a16="http://schemas.microsoft.com/office/drawing/2014/main" id="{0E8C65BE-9745-4184-B8B7-6FD5E9341DBD}"/>
                </a:ext>
              </a:extLst>
            </p:cNvPr>
            <p:cNvSpPr>
              <a:spLocks noGrp="1"/>
            </p:cNvSpPr>
            <p:nvPr/>
          </p:nvSpPr>
          <p:spPr>
            <a:xfrm>
              <a:off x="788194" y="1404938"/>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481" name="F2-receptor-crop-size">
              <a:extLst>
                <a:ext uri="{FF2B5EF4-FFF2-40B4-BE49-F238E27FC236}">
                  <a16:creationId xmlns:a16="http://schemas.microsoft.com/office/drawing/2014/main" id="{11CB5595-3267-408D-9A25-39E3920D0458}"/>
                </a:ext>
              </a:extLst>
            </p:cNvPr>
            <p:cNvSpPr>
              <a:spLocks noGrp="1"/>
            </p:cNvSpPr>
            <p:nvPr/>
          </p:nvSpPr>
          <p:spPr>
            <a:xfrm>
              <a:off x="640556" y="1544955"/>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495" name="Find preview 25"/>
          <p:cNvGrpSpPr/>
          <p:nvPr/>
        </p:nvGrpSpPr>
        <p:grpSpPr>
          <a:xfrm>
            <a:off x="4319205" y="499672"/>
            <a:ext cx="404812" cy="386544"/>
            <a:chOff x="4349067" y="499672"/>
            <a:chExt cx="404812" cy="386544"/>
          </a:xfrm>
        </p:grpSpPr>
        <p:pic>
          <p:nvPicPr>
            <p:cNvPr id="2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E01FAF0F-7383-AEC3-8192-CE781D4C8B97}"/>
                </a:ext>
              </a:extLst>
            </p:cNvPr>
            <p:cNvPicPr/>
            <p:nvPr/>
          </p:nvPicPr>
          <p:blipFill>
            <a:blip r:embed="rId4"/>
            <a:stretch>
              <a:fillRect/>
            </a:stretch>
          </p:blipFill>
          <p:spPr>
            <a:xfrm>
              <a:off x="4349067" y="499672"/>
              <a:ext cx="404812" cy="386544"/>
            </a:xfrm>
            <a:prstGeom prst="rect">
              <a:avLst/>
            </a:prstGeom>
          </p:spPr>
        </p:pic>
        <p:grpSp>
          <p:nvGrpSpPr>
            <p:cNvPr id="50437" name="Global copy of blob 758">
              <a:extLst>
                <a:ext uri="{FF2B5EF4-FFF2-40B4-BE49-F238E27FC236}">
                  <a16:creationId xmlns:a16="http://schemas.microsoft.com/office/drawing/2014/main" id="{00C0C92B-D4C8-0994-E860-1581EB873D86}"/>
                </a:ext>
              </a:extLst>
            </p:cNvPr>
            <p:cNvGrpSpPr/>
            <p:nvPr/>
          </p:nvGrpSpPr>
          <p:grpSpPr>
            <a:xfrm>
              <a:off x="4445066" y="623158"/>
              <a:ext cx="92055" cy="24054"/>
              <a:chOff x="1980855" y="3559489"/>
              <a:chExt cx="493446" cy="155682"/>
            </a:xfrm>
          </p:grpSpPr>
          <p:sp>
            <p:nvSpPr>
              <p:cNvPr id="50438" name="Candidate blob | editable contour">
                <a:extLst>
                  <a:ext uri="{FF2B5EF4-FFF2-40B4-BE49-F238E27FC236}">
                    <a16:creationId xmlns:a16="http://schemas.microsoft.com/office/drawing/2014/main" id="{A172A8B3-EFA3-33C9-CD2B-307B24D7293D}"/>
                  </a:ext>
                </a:extLst>
              </p:cNvPr>
              <p:cNvSpPr/>
              <p:nvPr/>
            </p:nvSpPr>
            <p:spPr>
              <a:xfrm>
                <a:off x="2246406" y="3559489"/>
                <a:ext cx="227895"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50439" name="ellipse_2612">
                <a:extLst>
                  <a:ext uri="{FF2B5EF4-FFF2-40B4-BE49-F238E27FC236}">
                    <a16:creationId xmlns:a16="http://schemas.microsoft.com/office/drawing/2014/main" id="{CF37E813-914E-4383-9CE9-1C5F4095124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50442" name="ellipse_2612">
              <a:extLst>
                <a:ext uri="{FF2B5EF4-FFF2-40B4-BE49-F238E27FC236}">
                  <a16:creationId xmlns:a16="http://schemas.microsoft.com/office/drawing/2014/main" id="{899D545A-9188-B8A5-5122-F55763321954}"/>
                </a:ext>
              </a:extLst>
            </p:cNvPr>
            <p:cNvSpPr/>
            <p:nvPr/>
          </p:nvSpPr>
          <p:spPr>
            <a:xfrm rot="3197729">
              <a:off x="4608138" y="649456"/>
              <a:ext cx="10571" cy="3071"/>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0445" name="ellipse_2612">
              <a:extLst>
                <a:ext uri="{FF2B5EF4-FFF2-40B4-BE49-F238E27FC236}">
                  <a16:creationId xmlns:a16="http://schemas.microsoft.com/office/drawing/2014/main" id="{85D74281-2FE6-E2D2-EFBA-AF54A45686E3}"/>
                </a:ext>
              </a:extLst>
            </p:cNvPr>
            <p:cNvSpPr/>
            <p:nvPr/>
          </p:nvSpPr>
          <p:spPr>
            <a:xfrm>
              <a:off x="4430816" y="761249"/>
              <a:ext cx="9540" cy="2671"/>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0448" name="ellipse_2612">
              <a:extLst>
                <a:ext uri="{FF2B5EF4-FFF2-40B4-BE49-F238E27FC236}">
                  <a16:creationId xmlns:a16="http://schemas.microsoft.com/office/drawing/2014/main" id="{901C6437-E94C-AFDE-D242-E688A89ABBDB}"/>
                </a:ext>
              </a:extLst>
            </p:cNvPr>
            <p:cNvSpPr/>
            <p:nvPr/>
          </p:nvSpPr>
          <p:spPr>
            <a:xfrm>
              <a:off x="4542383" y="798587"/>
              <a:ext cx="9428" cy="3307"/>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29" name="V8 density and receptor to voxel">
            <a:extLst>
              <a:ext uri="{FF2B5EF4-FFF2-40B4-BE49-F238E27FC236}">
                <a16:creationId xmlns:a16="http://schemas.microsoft.com/office/drawing/2014/main" id="{6CB6A47B-4EF1-2B06-7255-E23CEE529CCF}"/>
              </a:ext>
            </a:extLst>
          </p:cNvPr>
          <p:cNvSpPr/>
          <p:nvPr/>
        </p:nvSpPr>
        <p:spPr>
          <a:xfrm flipV="1">
            <a:off x="1834335" y="790091"/>
            <a:ext cx="77018" cy="45719"/>
          </a:xfrm>
          <a:custGeom>
            <a:avLst/>
            <a:gdLst/>
            <a:ahLst/>
            <a:cxnLst/>
            <a:rect l="l" t="t" r="r" b="b"/>
            <a:pathLst>
              <a:path w="96730" h="1">
                <a:moveTo>
                  <a:pt x="0" y="0"/>
                </a:moveTo>
                <a:lnTo>
                  <a:pt x="96730" y="0"/>
                </a:lnTo>
              </a:path>
            </a:pathLst>
          </a:custGeom>
          <a:noFill/>
          <a:ln w="8509" cap="rnd">
            <a:solidFill>
              <a:srgbClr val="77828C"/>
            </a:solidFill>
            <a:prstDash val="solid"/>
            <a:round/>
          </a:ln>
        </p:spPr>
      </p:sp>
      <p:sp>
        <p:nvSpPr>
          <p:cNvPr id="31" name="V8 density and receptor to voxel head">
            <a:extLst>
              <a:ext uri="{FF2B5EF4-FFF2-40B4-BE49-F238E27FC236}">
                <a16:creationId xmlns:a16="http://schemas.microsoft.com/office/drawing/2014/main" id="{DF62D5B1-80E9-3975-FF99-0CA56F3741F9}"/>
              </a:ext>
            </a:extLst>
          </p:cNvPr>
          <p:cNvSpPr/>
          <p:nvPr/>
        </p:nvSpPr>
        <p:spPr>
          <a:xfrm>
            <a:off x="1905255" y="822853"/>
            <a:ext cx="28321" cy="24384"/>
          </a:xfrm>
          <a:custGeom>
            <a:avLst/>
            <a:gdLst/>
            <a:ahLst/>
            <a:cxnLst/>
            <a:rect l="l" t="t" r="r" b="b"/>
            <a:pathLst>
              <a:path w="28321" h="24384">
                <a:moveTo>
                  <a:pt x="28321" y="12192"/>
                </a:moveTo>
                <a:lnTo>
                  <a:pt x="0" y="0"/>
                </a:lnTo>
                <a:lnTo>
                  <a:pt x="0" y="24384"/>
                </a:lnTo>
                <a:close/>
              </a:path>
            </a:pathLst>
          </a:custGeom>
          <a:solidFill>
            <a:srgbClr val="77828C"/>
          </a:solidFill>
          <a:ln w="0" cap="rnd">
            <a:noFill/>
          </a:ln>
        </p:spPr>
      </p:sp>
      <p:sp>
        <p:nvSpPr>
          <p:cNvPr id="34" name="文本框 33">
            <a:extLst>
              <a:ext uri="{FF2B5EF4-FFF2-40B4-BE49-F238E27FC236}">
                <a16:creationId xmlns:a16="http://schemas.microsoft.com/office/drawing/2014/main" id="{04021CE7-7079-B8B1-FE1F-2395F0A6A9F4}"/>
              </a:ext>
            </a:extLst>
          </p:cNvPr>
          <p:cNvSpPr txBox="1"/>
          <p:nvPr/>
        </p:nvSpPr>
        <p:spPr>
          <a:xfrm>
            <a:off x="2776387" y="1439947"/>
            <a:ext cx="502061" cy="197618"/>
          </a:xfrm>
          <a:prstGeom prst="rect">
            <a:avLst/>
          </a:prstGeom>
          <a:noFill/>
        </p:spPr>
        <p:txBody>
          <a:bodyPr wrap="none" rtlCol="0">
            <a:spAutoFit/>
          </a:bodyPr>
          <a:lstStyle/>
          <a:p>
            <a:pPr algn="ctr">
              <a:lnSpc>
                <a:spcPct val="105000"/>
              </a:lnSpc>
            </a:pPr>
            <a:r>
              <a:rPr lang="en-US" altLang="zh-CN" sz="650" i="1" dirty="0">
                <a:solidFill>
                  <a:srgbClr val="263442"/>
                </a:solidFill>
                <a:latin typeface="Arial"/>
              </a:rPr>
              <a:t>Recycle</a:t>
            </a:r>
          </a:p>
        </p:txBody>
      </p:sp>
      <p:grpSp>
        <p:nvGrpSpPr>
          <p:cNvPr id="21" name="Find candidate blob 2">
            <a:extLst>
              <a:ext uri="{FF2B5EF4-FFF2-40B4-BE49-F238E27FC236}">
                <a16:creationId xmlns:a16="http://schemas.microsoft.com/office/drawing/2014/main" id="{7CF4B83B-CE40-0943-83BF-857F63F584FC}"/>
              </a:ext>
            </a:extLst>
          </p:cNvPr>
          <p:cNvGrpSpPr/>
          <p:nvPr/>
        </p:nvGrpSpPr>
        <p:grpSpPr>
          <a:xfrm rot="3197729">
            <a:off x="4586768" y="633066"/>
            <a:ext cx="35227" cy="29704"/>
            <a:chOff x="1928706" y="3559489"/>
            <a:chExt cx="227897" cy="155682"/>
          </a:xfrm>
        </p:grpSpPr>
        <p:sp>
          <p:nvSpPr>
            <p:cNvPr id="23" name="Candidate blob | editable contour">
              <a:extLst>
                <a:ext uri="{FF2B5EF4-FFF2-40B4-BE49-F238E27FC236}">
                  <a16:creationId xmlns:a16="http://schemas.microsoft.com/office/drawing/2014/main" id="{0EF5C813-7F44-77DD-67FE-EE476608E03B}"/>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28" name="ellipse_2612">
              <a:extLst>
                <a:ext uri="{FF2B5EF4-FFF2-40B4-BE49-F238E27FC236}">
                  <a16:creationId xmlns:a16="http://schemas.microsoft.com/office/drawing/2014/main" id="{F5FA3B82-7CD0-DDDF-A968-EC80FAC5CC54}"/>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30" name="Find candidate blob 3">
            <a:extLst>
              <a:ext uri="{FF2B5EF4-FFF2-40B4-BE49-F238E27FC236}">
                <a16:creationId xmlns:a16="http://schemas.microsoft.com/office/drawing/2014/main" id="{7DFC79E6-A537-A8EE-9E23-73695EEDEA87}"/>
              </a:ext>
            </a:extLst>
          </p:cNvPr>
          <p:cNvGrpSpPr/>
          <p:nvPr/>
        </p:nvGrpSpPr>
        <p:grpSpPr>
          <a:xfrm rot="364243">
            <a:off x="4504977" y="709850"/>
            <a:ext cx="31915" cy="32299"/>
            <a:chOff x="1928706" y="3559489"/>
            <a:chExt cx="227897" cy="155682"/>
          </a:xfrm>
        </p:grpSpPr>
        <p:sp>
          <p:nvSpPr>
            <p:cNvPr id="32" name="Candidate blob | editable contour">
              <a:extLst>
                <a:ext uri="{FF2B5EF4-FFF2-40B4-BE49-F238E27FC236}">
                  <a16:creationId xmlns:a16="http://schemas.microsoft.com/office/drawing/2014/main" id="{EF3C7BE5-312A-39EB-D945-E725D09FC5CF}"/>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33" name="ellipse_2612">
              <a:extLst>
                <a:ext uri="{FF2B5EF4-FFF2-40B4-BE49-F238E27FC236}">
                  <a16:creationId xmlns:a16="http://schemas.microsoft.com/office/drawing/2014/main" id="{0A4821A8-67B8-19F4-30E2-0FE8715E5DA6}"/>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38" name="Find candidate blob 1">
            <a:extLst>
              <a:ext uri="{FF2B5EF4-FFF2-40B4-BE49-F238E27FC236}">
                <a16:creationId xmlns:a16="http://schemas.microsoft.com/office/drawing/2014/main" id="{D9521CD7-F7FB-7490-A23A-67B39E4FD95D}"/>
              </a:ext>
            </a:extLst>
          </p:cNvPr>
          <p:cNvGrpSpPr/>
          <p:nvPr/>
        </p:nvGrpSpPr>
        <p:grpSpPr>
          <a:xfrm>
            <a:off x="4398123" y="745957"/>
            <a:ext cx="40973" cy="27988"/>
            <a:chOff x="1928706" y="3559489"/>
            <a:chExt cx="227897" cy="155682"/>
          </a:xfrm>
        </p:grpSpPr>
        <p:sp>
          <p:nvSpPr>
            <p:cNvPr id="39" name="Candidate blob | editable contour">
              <a:extLst>
                <a:ext uri="{FF2B5EF4-FFF2-40B4-BE49-F238E27FC236}">
                  <a16:creationId xmlns:a16="http://schemas.microsoft.com/office/drawing/2014/main" id="{B913F94B-9211-6007-A9F1-AA1E18C1D543}"/>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40" name="ellipse_2612">
              <a:extLst>
                <a:ext uri="{FF2B5EF4-FFF2-40B4-BE49-F238E27FC236}">
                  <a16:creationId xmlns:a16="http://schemas.microsoft.com/office/drawing/2014/main" id="{D504CB61-AEF5-1C11-4CCF-573A1133E2A9}"/>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Tree>
    <p:extLst>
      <p:ext uri="{BB962C8B-B14F-4D97-AF65-F5344CB8AC3E}">
        <p14:creationId xmlns:p14="http://schemas.microsoft.com/office/powerpoint/2010/main" val="163997024"/>
      </p:ext>
    </p:extLst>
  </p:cSld>
  <p:clrMapOvr>
    <a:masterClrMapping/>
  </p:clrMapOvr>
  <p:extLst>
    <p:ext uri="{6950BFC3-D8DA-4A85-94F7-54DA5524770B}">
      <p188:commentRel xmlns:p188="http://schemas.microsoft.com/office/powerpoint/2018/8/main" r:id="rId3"/>
    </p:ext>
  </p:extLs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3A6E18-01F8-B0BA-F43F-91B3A30C3C3E}"/>
            </a:ext>
          </a:extLst>
        </p:cNvPr>
        <p:cNvGrpSpPr/>
        <p:nvPr/>
      </p:nvGrpSpPr>
      <p:grpSpPr>
        <a:xfrm>
          <a:off x="0" y="0"/>
          <a:ext cx="0" cy="0"/>
          <a:chOff x="0" y="0"/>
          <a:chExt cx="0" cy="0"/>
        </a:xfrm>
      </p:grpSpPr>
      <p:sp>
        <p:nvSpPr>
          <p:cNvPr id="2" name="Panel | Find background">
            <a:extLst>
              <a:ext uri="{FF2B5EF4-FFF2-40B4-BE49-F238E27FC236}">
                <a16:creationId xmlns:a16="http://schemas.microsoft.com/office/drawing/2014/main" id="{A9090686-8929-C0A0-CCD3-B88878102309}"/>
              </a:ext>
            </a:extLst>
          </p:cNvPr>
          <p:cNvSpPr/>
          <p:nvPr/>
        </p:nvSpPr>
        <p:spPr>
          <a:xfrm>
            <a:off x="450985" y="89164"/>
            <a:ext cx="4381930" cy="1756103"/>
          </a:xfrm>
          <a:prstGeom prst="roundRect">
            <a:avLst>
              <a:gd name="adj" fmla="val 2000"/>
            </a:avLst>
          </a:prstGeom>
          <a:solidFill>
            <a:srgbClr val="F4F7FB"/>
          </a:solidFill>
          <a:ln w="9720">
            <a:solidFill>
              <a:srgbClr val="CFDB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3" name="Panel | Match background">
            <a:extLst>
              <a:ext uri="{FF2B5EF4-FFF2-40B4-BE49-F238E27FC236}">
                <a16:creationId xmlns:a16="http://schemas.microsoft.com/office/drawing/2014/main" id="{28703D02-0EE9-C5A6-609C-08019DDE7E4E}"/>
              </a:ext>
            </a:extLst>
          </p:cNvPr>
          <p:cNvSpPr/>
          <p:nvPr/>
        </p:nvSpPr>
        <p:spPr>
          <a:xfrm>
            <a:off x="450985" y="1884235"/>
            <a:ext cx="4381930" cy="2532204"/>
          </a:xfrm>
          <a:prstGeom prst="roundRect">
            <a:avLst>
              <a:gd name="adj" fmla="val 2000"/>
            </a:avLst>
          </a:prstGeom>
          <a:solidFill>
            <a:srgbClr val="F2F9F6"/>
          </a:solidFill>
          <a:ln w="9720">
            <a:solidFill>
              <a:srgbClr val="C8E2D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grpSp>
        <p:nvGrpSpPr>
          <p:cNvPr id="5" name="Input boundary layer">
            <a:extLst>
              <a:ext uri="{FF2B5EF4-FFF2-40B4-BE49-F238E27FC236}">
                <a16:creationId xmlns:a16="http://schemas.microsoft.com/office/drawing/2014/main" id="{DDB8823C-1C5D-EC2B-D97C-140C79222FB0}"/>
              </a:ext>
            </a:extLst>
          </p:cNvPr>
          <p:cNvGrpSpPr/>
          <p:nvPr/>
        </p:nvGrpSpPr>
        <p:grpSpPr>
          <a:xfrm>
            <a:off x="0" y="0"/>
            <a:ext cx="6480175" cy="4468813"/>
            <a:chOff x="0" y="0"/>
            <a:chExt cx="15240000" cy="10509702"/>
          </a:xfrm>
        </p:grpSpPr>
        <p:sp>
          <p:nvSpPr>
            <p:cNvPr id="1478" name="V8 Match input boundary">
              <a:extLst>
                <a:ext uri="{FF2B5EF4-FFF2-40B4-BE49-F238E27FC236}">
                  <a16:creationId xmlns:a16="http://schemas.microsoft.com/office/drawing/2014/main" id="{7D0554F4-AE1C-63F1-A885-352F5424EDA9}"/>
                </a:ext>
              </a:extLst>
            </p:cNvPr>
            <p:cNvSpPr/>
            <p:nvPr/>
          </p:nvSpPr>
          <p:spPr>
            <a:xfrm>
              <a:off x="1355735" y="5281627"/>
              <a:ext cx="3163259" cy="2511755"/>
            </a:xfrm>
            <a:custGeom>
              <a:avLst/>
              <a:gdLst/>
              <a:ahLst/>
              <a:cxnLst/>
              <a:rect l="l" t="t" r="r" b="b"/>
              <a:pathLst>
                <a:path w="1345044" h="1068019">
                  <a:moveTo>
                    <a:pt x="31750" y="0"/>
                  </a:moveTo>
                  <a:lnTo>
                    <a:pt x="893699" y="0"/>
                  </a:lnTo>
                  <a:cubicBezTo>
                    <a:pt x="911162" y="0"/>
                    <a:pt x="925449" y="14288"/>
                    <a:pt x="925449" y="31750"/>
                  </a:cubicBezTo>
                  <a:lnTo>
                    <a:pt x="925449" y="489521"/>
                  </a:lnTo>
                  <a:cubicBezTo>
                    <a:pt x="925449" y="506984"/>
                    <a:pt x="939736" y="521271"/>
                    <a:pt x="957199" y="521271"/>
                  </a:cubicBezTo>
                  <a:lnTo>
                    <a:pt x="1313294" y="521271"/>
                  </a:lnTo>
                  <a:cubicBezTo>
                    <a:pt x="1330757" y="521271"/>
                    <a:pt x="1345044" y="535559"/>
                    <a:pt x="1345044" y="553021"/>
                  </a:cubicBezTo>
                  <a:lnTo>
                    <a:pt x="1345044" y="1036269"/>
                  </a:lnTo>
                  <a:cubicBezTo>
                    <a:pt x="1345044" y="1053732"/>
                    <a:pt x="1330757" y="1068019"/>
                    <a:pt x="1313294" y="1068019"/>
                  </a:cubicBezTo>
                  <a:lnTo>
                    <a:pt x="31750" y="1068019"/>
                  </a:lnTo>
                  <a:cubicBezTo>
                    <a:pt x="14288" y="1068019"/>
                    <a:pt x="0" y="1053732"/>
                    <a:pt x="0" y="1036269"/>
                  </a:cubicBezTo>
                  <a:lnTo>
                    <a:pt x="0" y="31750"/>
                  </a:lnTo>
                  <a:cubicBezTo>
                    <a:pt x="0" y="14288"/>
                    <a:pt x="14288" y="0"/>
                    <a:pt x="31750" y="0"/>
                  </a:cubicBezTo>
                  <a:close/>
                </a:path>
              </a:pathLst>
            </a:custGeom>
            <a:solidFill>
              <a:srgbClr val="FFFFFF"/>
            </a:solidFill>
            <a:ln w="7290" cap="rnd">
              <a:solidFill>
                <a:srgbClr val="B6CEC5"/>
              </a:solidFill>
              <a:prstDash val="solid"/>
              <a:round/>
            </a:ln>
          </p:spPr>
          <p:txBody>
            <a:bodyPr/>
            <a:lstStyle/>
            <a:p>
              <a:endParaRPr lang="zh-CN" altLang="en-US" dirty="0"/>
            </a:p>
          </p:txBody>
        </p:sp>
      </p:grpSp>
      <p:sp>
        <p:nvSpPr>
          <p:cNvPr id="7" name="TextBox 4">
            <a:extLst>
              <a:ext uri="{FF2B5EF4-FFF2-40B4-BE49-F238E27FC236}">
                <a16:creationId xmlns:a16="http://schemas.microsoft.com/office/drawing/2014/main" id="{ADBC3EDA-5434-B072-0369-64F7979021C5}"/>
              </a:ext>
            </a:extLst>
          </p:cNvPr>
          <p:cNvSpPr txBox="1"/>
          <p:nvPr/>
        </p:nvSpPr>
        <p:spPr>
          <a:xfrm>
            <a:off x="519056" y="107111"/>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a</a:t>
            </a:r>
          </a:p>
        </p:txBody>
      </p:sp>
      <p:sp>
        <p:nvSpPr>
          <p:cNvPr id="8" name="TextBox 5">
            <a:extLst>
              <a:ext uri="{FF2B5EF4-FFF2-40B4-BE49-F238E27FC236}">
                <a16:creationId xmlns:a16="http://schemas.microsoft.com/office/drawing/2014/main" id="{BDE65E3A-EB06-F9D8-4F70-55D863BF89FB}"/>
              </a:ext>
            </a:extLst>
          </p:cNvPr>
          <p:cNvSpPr txBox="1"/>
          <p:nvPr/>
        </p:nvSpPr>
        <p:spPr>
          <a:xfrm>
            <a:off x="677263" y="124527"/>
            <a:ext cx="2531320" cy="123624"/>
          </a:xfrm>
          <a:prstGeom prst="rect">
            <a:avLst/>
          </a:prstGeom>
          <a:noFill/>
        </p:spPr>
        <p:txBody>
          <a:bodyPr wrap="square" lIns="0" tIns="0" rIns="0" bIns="0" anchor="ctr">
            <a:spAutoFit/>
          </a:bodyPr>
          <a:lstStyle/>
          <a:p>
            <a:pPr algn="l">
              <a:lnSpc>
                <a:spcPct val="105000"/>
              </a:lnSpc>
            </a:pPr>
            <a:r>
              <a:rPr sz="822">
                <a:solidFill>
                  <a:srgbClr val="263442"/>
                </a:solidFill>
                <a:latin typeface="Arial"/>
              </a:rPr>
              <a:t>Find: locate ligand regions</a:t>
            </a:r>
          </a:p>
        </p:txBody>
      </p:sp>
      <p:sp>
        <p:nvSpPr>
          <p:cNvPr id="9" name="TextBox 6">
            <a:extLst>
              <a:ext uri="{FF2B5EF4-FFF2-40B4-BE49-F238E27FC236}">
                <a16:creationId xmlns:a16="http://schemas.microsoft.com/office/drawing/2014/main" id="{F3FF857A-DE19-FC06-9455-89983F39C003}"/>
              </a:ext>
            </a:extLst>
          </p:cNvPr>
          <p:cNvSpPr txBox="1"/>
          <p:nvPr/>
        </p:nvSpPr>
        <p:spPr>
          <a:xfrm>
            <a:off x="519056" y="1909702"/>
            <a:ext cx="174028" cy="149656"/>
          </a:xfrm>
          <a:prstGeom prst="rect">
            <a:avLst/>
          </a:prstGeom>
          <a:noFill/>
        </p:spPr>
        <p:txBody>
          <a:bodyPr wrap="square" lIns="0" tIns="0" rIns="0" bIns="0" anchor="ctr">
            <a:spAutoFit/>
          </a:bodyPr>
          <a:lstStyle/>
          <a:p>
            <a:pPr>
              <a:lnSpc>
                <a:spcPct val="105000"/>
              </a:lnSpc>
            </a:pPr>
            <a:r>
              <a:rPr sz="995" b="1" dirty="0">
                <a:solidFill>
                  <a:srgbClr val="263442"/>
                </a:solidFill>
                <a:latin typeface="Arial"/>
              </a:rPr>
              <a:t>b</a:t>
            </a:r>
          </a:p>
        </p:txBody>
      </p:sp>
      <p:sp>
        <p:nvSpPr>
          <p:cNvPr id="10" name="TextBox 7">
            <a:extLst>
              <a:ext uri="{FF2B5EF4-FFF2-40B4-BE49-F238E27FC236}">
                <a16:creationId xmlns:a16="http://schemas.microsoft.com/office/drawing/2014/main" id="{70ECA487-21BB-6209-C18F-3026009B4E59}"/>
              </a:ext>
            </a:extLst>
          </p:cNvPr>
          <p:cNvSpPr txBox="1"/>
          <p:nvPr/>
        </p:nvSpPr>
        <p:spPr>
          <a:xfrm>
            <a:off x="677200" y="1931954"/>
            <a:ext cx="2847735" cy="123624"/>
          </a:xfrm>
          <a:prstGeom prst="rect">
            <a:avLst/>
          </a:prstGeom>
          <a:noFill/>
        </p:spPr>
        <p:txBody>
          <a:bodyPr wrap="square" lIns="0" tIns="0" rIns="0" bIns="0" anchor="ctr">
            <a:spAutoFit/>
          </a:bodyPr>
          <a:lstStyle/>
          <a:p>
            <a:pPr algn="l">
              <a:lnSpc>
                <a:spcPct val="105000"/>
              </a:lnSpc>
            </a:pPr>
            <a:r>
              <a:rPr sz="822" dirty="0">
                <a:solidFill>
                  <a:srgbClr val="263442"/>
                </a:solidFill>
                <a:latin typeface="Arial"/>
              </a:rPr>
              <a:t>Match: candidate-to-identity assignment</a:t>
            </a:r>
          </a:p>
        </p:txBody>
      </p:sp>
      <p:sp>
        <p:nvSpPr>
          <p:cNvPr id="13" name="Find | Density card">
            <a:extLst>
              <a:ext uri="{FF2B5EF4-FFF2-40B4-BE49-F238E27FC236}">
                <a16:creationId xmlns:a16="http://schemas.microsoft.com/office/drawing/2014/main" id="{CAB7453E-57E4-6069-E17B-BEBD584DE9C5}"/>
              </a:ext>
            </a:extLst>
          </p:cNvPr>
          <p:cNvSpPr/>
          <p:nvPr/>
        </p:nvSpPr>
        <p:spPr>
          <a:xfrm>
            <a:off x="540853" y="284774"/>
            <a:ext cx="488504" cy="680292"/>
          </a:xfrm>
          <a:prstGeom prst="roundRect">
            <a:avLst>
              <a:gd name="adj" fmla="val 6000"/>
            </a:avLst>
          </a:prstGeom>
          <a:solidFill>
            <a:srgbClr val="FFFFFF"/>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14" name="TextBox 11">
            <a:extLst>
              <a:ext uri="{FF2B5EF4-FFF2-40B4-BE49-F238E27FC236}">
                <a16:creationId xmlns:a16="http://schemas.microsoft.com/office/drawing/2014/main" id="{E13F9DB9-2915-4D37-1A15-4DD879957FE6}"/>
              </a:ext>
            </a:extLst>
          </p:cNvPr>
          <p:cNvSpPr txBox="1"/>
          <p:nvPr/>
        </p:nvSpPr>
        <p:spPr>
          <a:xfrm>
            <a:off x="460928" y="318294"/>
            <a:ext cx="664471" cy="101503"/>
          </a:xfrm>
          <a:prstGeom prst="rect">
            <a:avLst/>
          </a:prstGeom>
          <a:noFill/>
        </p:spPr>
        <p:txBody>
          <a:bodyPr wrap="square" lIns="0" tIns="0" rIns="0" bIns="0" anchor="ctr">
            <a:spAutoFit/>
          </a:bodyPr>
          <a:lstStyle/>
          <a:p>
            <a:pPr algn="ctr">
              <a:lnSpc>
                <a:spcPct val="105000"/>
              </a:lnSpc>
            </a:pPr>
            <a:r>
              <a:rPr sz="675" dirty="0">
                <a:solidFill>
                  <a:srgbClr val="263442"/>
                </a:solidFill>
                <a:latin typeface="Arial"/>
              </a:rPr>
              <a:t>Density</a:t>
            </a:r>
          </a:p>
        </p:txBody>
      </p:sp>
      <p:sp>
        <p:nvSpPr>
          <p:cNvPr id="235" name="Find | Receptor card">
            <a:extLst>
              <a:ext uri="{FF2B5EF4-FFF2-40B4-BE49-F238E27FC236}">
                <a16:creationId xmlns:a16="http://schemas.microsoft.com/office/drawing/2014/main" id="{C39711EA-1578-1FDC-F7E5-415822DEC84F}"/>
              </a:ext>
            </a:extLst>
          </p:cNvPr>
          <p:cNvSpPr/>
          <p:nvPr/>
        </p:nvSpPr>
        <p:spPr>
          <a:xfrm>
            <a:off x="540852" y="1028349"/>
            <a:ext cx="489611" cy="727754"/>
          </a:xfrm>
          <a:prstGeom prst="roundRect">
            <a:avLst>
              <a:gd name="adj" fmla="val 6000"/>
            </a:avLst>
          </a:prstGeom>
          <a:solidFill>
            <a:srgbClr val="FFFFFF"/>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6" name="TextBox 6212">
            <a:extLst>
              <a:ext uri="{FF2B5EF4-FFF2-40B4-BE49-F238E27FC236}">
                <a16:creationId xmlns:a16="http://schemas.microsoft.com/office/drawing/2014/main" id="{4566817F-CA11-3CA5-4ED5-534E4B65A1C1}"/>
              </a:ext>
            </a:extLst>
          </p:cNvPr>
          <p:cNvSpPr txBox="1"/>
          <p:nvPr/>
        </p:nvSpPr>
        <p:spPr>
          <a:xfrm>
            <a:off x="434702" y="1053973"/>
            <a:ext cx="664471" cy="101503"/>
          </a:xfrm>
          <a:prstGeom prst="rect">
            <a:avLst/>
          </a:prstGeom>
          <a:noFill/>
        </p:spPr>
        <p:txBody>
          <a:bodyPr wrap="square" lIns="0" tIns="0" rIns="0" bIns="0" anchor="ctr">
            <a:spAutoFit/>
          </a:bodyPr>
          <a:lstStyle/>
          <a:p>
            <a:pPr algn="ctr">
              <a:lnSpc>
                <a:spcPct val="105000"/>
              </a:lnSpc>
            </a:pPr>
            <a:r>
              <a:rPr sz="675" dirty="0">
                <a:solidFill>
                  <a:srgbClr val="263442"/>
                </a:solidFill>
                <a:latin typeface="Arial"/>
              </a:rPr>
              <a:t>Receptor</a:t>
            </a:r>
          </a:p>
        </p:txBody>
      </p:sp>
      <p:sp>
        <p:nvSpPr>
          <p:cNvPr id="237" name="Find | 3D voxel U-Net box">
            <a:extLst>
              <a:ext uri="{FF2B5EF4-FFF2-40B4-BE49-F238E27FC236}">
                <a16:creationId xmlns:a16="http://schemas.microsoft.com/office/drawing/2014/main" id="{84C31B5C-DB46-3102-A094-A625CBC3795B}"/>
              </a:ext>
            </a:extLst>
          </p:cNvPr>
          <p:cNvSpPr/>
          <p:nvPr/>
        </p:nvSpPr>
        <p:spPr>
          <a:xfrm>
            <a:off x="1932849" y="284774"/>
            <a:ext cx="2183263" cy="743575"/>
          </a:xfrm>
          <a:prstGeom prst="roundRect">
            <a:avLst>
              <a:gd name="adj" fmla="val 5000"/>
            </a:avLst>
          </a:prstGeom>
          <a:solidFill>
            <a:srgbClr val="F4F6F7"/>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8" name="TextBox 6223">
            <a:extLst>
              <a:ext uri="{FF2B5EF4-FFF2-40B4-BE49-F238E27FC236}">
                <a16:creationId xmlns:a16="http://schemas.microsoft.com/office/drawing/2014/main" id="{D0BEE622-6A06-FAEC-A1B9-E12DAFA59B95}"/>
              </a:ext>
            </a:extLst>
          </p:cNvPr>
          <p:cNvSpPr txBox="1"/>
          <p:nvPr/>
        </p:nvSpPr>
        <p:spPr>
          <a:xfrm>
            <a:off x="1932849" y="310561"/>
            <a:ext cx="2183263" cy="106632"/>
          </a:xfrm>
          <a:prstGeom prst="rect">
            <a:avLst/>
          </a:prstGeom>
          <a:noFill/>
        </p:spPr>
        <p:txBody>
          <a:bodyPr wrap="square" lIns="0" tIns="0" rIns="0" bIns="0" anchor="ctr">
            <a:spAutoFit/>
          </a:bodyPr>
          <a:lstStyle/>
          <a:p>
            <a:pPr algn="ctr">
              <a:lnSpc>
                <a:spcPct val="105000"/>
              </a:lnSpc>
            </a:pPr>
            <a:r>
              <a:rPr sz="709">
                <a:solidFill>
                  <a:srgbClr val="263442"/>
                </a:solidFill>
                <a:latin typeface="Arial"/>
              </a:rPr>
              <a:t>3D voxel U-Net</a:t>
            </a:r>
          </a:p>
        </p:txBody>
      </p:sp>
      <p:sp>
        <p:nvSpPr>
          <p:cNvPr id="239" name="TextBox 6224">
            <a:extLst>
              <a:ext uri="{FF2B5EF4-FFF2-40B4-BE49-F238E27FC236}">
                <a16:creationId xmlns:a16="http://schemas.microsoft.com/office/drawing/2014/main" id="{6162AD09-868A-9802-DD3F-493AE18E658B}"/>
              </a:ext>
            </a:extLst>
          </p:cNvPr>
          <p:cNvSpPr txBox="1"/>
          <p:nvPr/>
        </p:nvSpPr>
        <p:spPr>
          <a:xfrm>
            <a:off x="1932704" y="415407"/>
            <a:ext cx="2183414" cy="84510"/>
          </a:xfrm>
          <a:prstGeom prst="rect">
            <a:avLst/>
          </a:prstGeom>
          <a:noFill/>
        </p:spPr>
        <p:txBody>
          <a:bodyPr wrap="square" lIns="0" tIns="0" rIns="0" bIns="0" anchor="ctr">
            <a:spAutoFit/>
          </a:bodyPr>
          <a:lstStyle/>
          <a:p>
            <a:pPr algn="ctr">
              <a:lnSpc>
                <a:spcPct val="105000"/>
              </a:lnSpc>
            </a:pPr>
            <a:r>
              <a:rPr sz="562" i="1" dirty="0">
                <a:solidFill>
                  <a:srgbClr val="263442"/>
                </a:solidFill>
                <a:latin typeface="Arial"/>
              </a:rPr>
              <a:t>Skip connections</a:t>
            </a:r>
          </a:p>
        </p:txBody>
      </p:sp>
      <p:sp>
        <p:nvSpPr>
          <p:cNvPr id="240" name="TextBox 10003">
            <a:extLst>
              <a:ext uri="{FF2B5EF4-FFF2-40B4-BE49-F238E27FC236}">
                <a16:creationId xmlns:a16="http://schemas.microsoft.com/office/drawing/2014/main" id="{09C48FDC-7786-8263-4A08-E75021FC8287}"/>
              </a:ext>
            </a:extLst>
          </p:cNvPr>
          <p:cNvSpPr txBox="1"/>
          <p:nvPr/>
        </p:nvSpPr>
        <p:spPr>
          <a:xfrm>
            <a:off x="2098966"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Encoder</a:t>
            </a:r>
          </a:p>
        </p:txBody>
      </p:sp>
      <p:sp>
        <p:nvSpPr>
          <p:cNvPr id="241" name="TextBox 10004">
            <a:extLst>
              <a:ext uri="{FF2B5EF4-FFF2-40B4-BE49-F238E27FC236}">
                <a16:creationId xmlns:a16="http://schemas.microsoft.com/office/drawing/2014/main" id="{5D7C6AF6-28C5-C78C-2A6D-53148E9C5409}"/>
              </a:ext>
            </a:extLst>
          </p:cNvPr>
          <p:cNvSpPr txBox="1"/>
          <p:nvPr/>
        </p:nvSpPr>
        <p:spPr>
          <a:xfrm>
            <a:off x="2747617"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Bottleneck</a:t>
            </a:r>
          </a:p>
        </p:txBody>
      </p:sp>
      <p:sp>
        <p:nvSpPr>
          <p:cNvPr id="242" name="TextBox 10005">
            <a:extLst>
              <a:ext uri="{FF2B5EF4-FFF2-40B4-BE49-F238E27FC236}">
                <a16:creationId xmlns:a16="http://schemas.microsoft.com/office/drawing/2014/main" id="{7CC49EB1-DBD1-A7E7-516D-CECCC1D041F1}"/>
              </a:ext>
            </a:extLst>
          </p:cNvPr>
          <p:cNvSpPr txBox="1"/>
          <p:nvPr/>
        </p:nvSpPr>
        <p:spPr>
          <a:xfrm>
            <a:off x="3396268"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Decoder</a:t>
            </a:r>
          </a:p>
        </p:txBody>
      </p:sp>
      <p:sp>
        <p:nvSpPr>
          <p:cNvPr id="243" name="Find | Point Transformer V3 box">
            <a:extLst>
              <a:ext uri="{FF2B5EF4-FFF2-40B4-BE49-F238E27FC236}">
                <a16:creationId xmlns:a16="http://schemas.microsoft.com/office/drawing/2014/main" id="{E6BB0EBE-E97F-0460-89AE-378626BAD4D7}"/>
              </a:ext>
            </a:extLst>
          </p:cNvPr>
          <p:cNvSpPr/>
          <p:nvPr/>
        </p:nvSpPr>
        <p:spPr>
          <a:xfrm>
            <a:off x="1932849" y="1170736"/>
            <a:ext cx="2183263" cy="585368"/>
          </a:xfrm>
          <a:prstGeom prst="roundRect">
            <a:avLst>
              <a:gd name="adj" fmla="val 5000"/>
            </a:avLst>
          </a:prstGeom>
          <a:solidFill>
            <a:srgbClr val="F4F6F7"/>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grpSp>
        <p:nvGrpSpPr>
          <p:cNvPr id="244" name="Find | PTV3 stage 1 (no pseudo)">
            <a:extLst>
              <a:ext uri="{FF2B5EF4-FFF2-40B4-BE49-F238E27FC236}">
                <a16:creationId xmlns:a16="http://schemas.microsoft.com/office/drawing/2014/main" id="{B4F71929-AC06-8CA3-B3DD-0D60585A9033}"/>
              </a:ext>
            </a:extLst>
          </p:cNvPr>
          <p:cNvGrpSpPr/>
          <p:nvPr/>
        </p:nvGrpSpPr>
        <p:grpSpPr>
          <a:xfrm>
            <a:off x="2023818" y="1222153"/>
            <a:ext cx="276863" cy="197759"/>
            <a:chOff x="1837958" y="1438830"/>
            <a:chExt cx="279225" cy="243090"/>
          </a:xfrm>
        </p:grpSpPr>
        <p:sp>
          <p:nvSpPr>
            <p:cNvPr id="245" name="rect_1844">
              <a:extLst>
                <a:ext uri="{FF2B5EF4-FFF2-40B4-BE49-F238E27FC236}">
                  <a16:creationId xmlns:a16="http://schemas.microsoft.com/office/drawing/2014/main" id="{660AA888-4092-6DA6-78D3-4B888E2B2DA3}"/>
                </a:ext>
              </a:extLst>
            </p:cNvPr>
            <p:cNvSpPr/>
            <p:nvPr/>
          </p:nvSpPr>
          <p:spPr>
            <a:xfrm>
              <a:off x="1837958" y="1438830"/>
              <a:ext cx="279225" cy="243090"/>
            </a:xfrm>
            <a:prstGeom prst="roundRect">
              <a:avLst>
                <a:gd name="adj" fmla="val 6757"/>
              </a:avLst>
            </a:prstGeom>
            <a:solidFill>
              <a:srgbClr val="F8F5FC"/>
            </a:solidFill>
            <a:ln w="2540" cap="rnd" cmpd="sng" algn="ctr">
              <a:solidFill>
                <a:srgbClr val="C3D4E6"/>
              </a:solidFill>
              <a:prstDash val="solid"/>
              <a:round/>
              <a:headEnd type="none" w="med" len="med"/>
              <a:tailEnd type="none" w="med" len="med"/>
            </a:ln>
            <a:effectLst/>
          </p:spPr>
        </p:sp>
        <p:sp>
          <p:nvSpPr>
            <p:cNvPr id="246" name="ellipse_1845">
              <a:extLst>
                <a:ext uri="{FF2B5EF4-FFF2-40B4-BE49-F238E27FC236}">
                  <a16:creationId xmlns:a16="http://schemas.microsoft.com/office/drawing/2014/main" id="{8ED69D04-8A29-A5B5-FEDE-87DBF5A86A21}"/>
                </a:ext>
              </a:extLst>
            </p:cNvPr>
            <p:cNvSpPr/>
            <p:nvPr/>
          </p:nvSpPr>
          <p:spPr>
            <a:xfrm>
              <a:off x="1911179" y="154988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7" name="ellipse_1846">
              <a:extLst>
                <a:ext uri="{FF2B5EF4-FFF2-40B4-BE49-F238E27FC236}">
                  <a16:creationId xmlns:a16="http://schemas.microsoft.com/office/drawing/2014/main" id="{2F757B70-05BB-1D52-EAD7-99F943EE0786}"/>
                </a:ext>
              </a:extLst>
            </p:cNvPr>
            <p:cNvSpPr/>
            <p:nvPr/>
          </p:nvSpPr>
          <p:spPr>
            <a:xfrm>
              <a:off x="2016057" y="15691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8" name="ellipse_1847">
              <a:extLst>
                <a:ext uri="{FF2B5EF4-FFF2-40B4-BE49-F238E27FC236}">
                  <a16:creationId xmlns:a16="http://schemas.microsoft.com/office/drawing/2014/main" id="{33900347-5FB5-F6C0-81F6-93C079B537C5}"/>
                </a:ext>
              </a:extLst>
            </p:cNvPr>
            <p:cNvSpPr/>
            <p:nvPr/>
          </p:nvSpPr>
          <p:spPr>
            <a:xfrm>
              <a:off x="1901005" y="1463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9" name="ellipse_1848">
              <a:extLst>
                <a:ext uri="{FF2B5EF4-FFF2-40B4-BE49-F238E27FC236}">
                  <a16:creationId xmlns:a16="http://schemas.microsoft.com/office/drawing/2014/main" id="{D9E3B372-BB0F-C9A4-3974-A8E7AF7737B7}"/>
                </a:ext>
              </a:extLst>
            </p:cNvPr>
            <p:cNvSpPr/>
            <p:nvPr/>
          </p:nvSpPr>
          <p:spPr>
            <a:xfrm>
              <a:off x="1966917" y="149122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0" name="ellipse_1849">
              <a:extLst>
                <a:ext uri="{FF2B5EF4-FFF2-40B4-BE49-F238E27FC236}">
                  <a16:creationId xmlns:a16="http://schemas.microsoft.com/office/drawing/2014/main" id="{65731899-DB97-2E91-5665-E8C978110F71}"/>
                </a:ext>
              </a:extLst>
            </p:cNvPr>
            <p:cNvSpPr/>
            <p:nvPr/>
          </p:nvSpPr>
          <p:spPr>
            <a:xfrm>
              <a:off x="1981202" y="14619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1" name="ellipse_1850">
              <a:extLst>
                <a:ext uri="{FF2B5EF4-FFF2-40B4-BE49-F238E27FC236}">
                  <a16:creationId xmlns:a16="http://schemas.microsoft.com/office/drawing/2014/main" id="{FB870BF7-7DC4-B374-8AD0-46EC506BB29E}"/>
                </a:ext>
              </a:extLst>
            </p:cNvPr>
            <p:cNvSpPr/>
            <p:nvPr/>
          </p:nvSpPr>
          <p:spPr>
            <a:xfrm>
              <a:off x="2025801" y="15227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2" name="ellipse_1851">
              <a:extLst>
                <a:ext uri="{FF2B5EF4-FFF2-40B4-BE49-F238E27FC236}">
                  <a16:creationId xmlns:a16="http://schemas.microsoft.com/office/drawing/2014/main" id="{FB5210B2-4DAF-5841-3925-445BB6BA8E65}"/>
                </a:ext>
              </a:extLst>
            </p:cNvPr>
            <p:cNvSpPr/>
            <p:nvPr/>
          </p:nvSpPr>
          <p:spPr>
            <a:xfrm>
              <a:off x="1923657" y="157409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3" name="ellipse_1852">
              <a:extLst>
                <a:ext uri="{FF2B5EF4-FFF2-40B4-BE49-F238E27FC236}">
                  <a16:creationId xmlns:a16="http://schemas.microsoft.com/office/drawing/2014/main" id="{5E297BB0-4B0B-7393-6335-0A8D413997FE}"/>
                </a:ext>
              </a:extLst>
            </p:cNvPr>
            <p:cNvSpPr/>
            <p:nvPr/>
          </p:nvSpPr>
          <p:spPr>
            <a:xfrm>
              <a:off x="2046951" y="149268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4" name="ellipse_1853">
              <a:extLst>
                <a:ext uri="{FF2B5EF4-FFF2-40B4-BE49-F238E27FC236}">
                  <a16:creationId xmlns:a16="http://schemas.microsoft.com/office/drawing/2014/main" id="{3460EDB7-F270-4A51-230E-76F07C518E5B}"/>
                </a:ext>
              </a:extLst>
            </p:cNvPr>
            <p:cNvSpPr/>
            <p:nvPr/>
          </p:nvSpPr>
          <p:spPr>
            <a:xfrm>
              <a:off x="1971403" y="1621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5" name="ellipse_1854">
              <a:extLst>
                <a:ext uri="{FF2B5EF4-FFF2-40B4-BE49-F238E27FC236}">
                  <a16:creationId xmlns:a16="http://schemas.microsoft.com/office/drawing/2014/main" id="{D7F22E2B-29AF-AAFC-9390-4763B76AC824}"/>
                </a:ext>
              </a:extLst>
            </p:cNvPr>
            <p:cNvSpPr/>
            <p:nvPr/>
          </p:nvSpPr>
          <p:spPr>
            <a:xfrm>
              <a:off x="1916632" y="148370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56" name="Find | PTV3 stage 2 (no pseudo)">
            <a:extLst>
              <a:ext uri="{FF2B5EF4-FFF2-40B4-BE49-F238E27FC236}">
                <a16:creationId xmlns:a16="http://schemas.microsoft.com/office/drawing/2014/main" id="{F4A044B8-F6CD-9A28-3075-23E9F1427BD6}"/>
              </a:ext>
            </a:extLst>
          </p:cNvPr>
          <p:cNvGrpSpPr/>
          <p:nvPr/>
        </p:nvGrpSpPr>
        <p:grpSpPr>
          <a:xfrm>
            <a:off x="2454581" y="1218198"/>
            <a:ext cx="269656" cy="205670"/>
            <a:chOff x="2276505" y="1465110"/>
            <a:chExt cx="243090" cy="190530"/>
          </a:xfrm>
        </p:grpSpPr>
        <p:sp>
          <p:nvSpPr>
            <p:cNvPr id="257" name="rect_1860">
              <a:extLst>
                <a:ext uri="{FF2B5EF4-FFF2-40B4-BE49-F238E27FC236}">
                  <a16:creationId xmlns:a16="http://schemas.microsoft.com/office/drawing/2014/main" id="{2A2BC9FE-9931-3C68-E213-012D2334D100}"/>
                </a:ext>
              </a:extLst>
            </p:cNvPr>
            <p:cNvSpPr/>
            <p:nvPr/>
          </p:nvSpPr>
          <p:spPr>
            <a:xfrm>
              <a:off x="2276505" y="1465110"/>
              <a:ext cx="243090" cy="190530"/>
            </a:xfrm>
            <a:prstGeom prst="roundRect">
              <a:avLst>
                <a:gd name="adj" fmla="val 8621"/>
              </a:avLst>
            </a:prstGeom>
            <a:solidFill>
              <a:srgbClr val="F8F5FC"/>
            </a:solidFill>
            <a:ln w="2540" cap="rnd" cmpd="sng" algn="ctr">
              <a:solidFill>
                <a:srgbClr val="C3D4E6"/>
              </a:solidFill>
              <a:prstDash val="solid"/>
              <a:round/>
              <a:headEnd type="none" w="med" len="med"/>
              <a:tailEnd type="none" w="med" len="med"/>
            </a:ln>
            <a:effectLst/>
          </p:spPr>
        </p:sp>
        <p:sp>
          <p:nvSpPr>
            <p:cNvPr id="258" name="ellipse_1861">
              <a:extLst>
                <a:ext uri="{FF2B5EF4-FFF2-40B4-BE49-F238E27FC236}">
                  <a16:creationId xmlns:a16="http://schemas.microsoft.com/office/drawing/2014/main" id="{0D3FC1DA-E4D9-46A0-549F-86D3BA55D6FD}"/>
                </a:ext>
              </a:extLst>
            </p:cNvPr>
            <p:cNvSpPr/>
            <p:nvPr/>
          </p:nvSpPr>
          <p:spPr>
            <a:xfrm>
              <a:off x="2443383" y="14753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9" name="ellipse_1862">
              <a:extLst>
                <a:ext uri="{FF2B5EF4-FFF2-40B4-BE49-F238E27FC236}">
                  <a16:creationId xmlns:a16="http://schemas.microsoft.com/office/drawing/2014/main" id="{2E76A36E-124A-FF28-5F0C-9D8A556CAB6E}"/>
                </a:ext>
              </a:extLst>
            </p:cNvPr>
            <p:cNvSpPr/>
            <p:nvPr/>
          </p:nvSpPr>
          <p:spPr>
            <a:xfrm>
              <a:off x="2334302" y="149054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0" name="ellipse_1863">
              <a:extLst>
                <a:ext uri="{FF2B5EF4-FFF2-40B4-BE49-F238E27FC236}">
                  <a16:creationId xmlns:a16="http://schemas.microsoft.com/office/drawing/2014/main" id="{D535EE24-6485-F339-2CB7-F9EF085CB943}"/>
                </a:ext>
              </a:extLst>
            </p:cNvPr>
            <p:cNvSpPr/>
            <p:nvPr/>
          </p:nvSpPr>
          <p:spPr>
            <a:xfrm>
              <a:off x="2421391" y="151821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1" name="ellipse_1864">
              <a:extLst>
                <a:ext uri="{FF2B5EF4-FFF2-40B4-BE49-F238E27FC236}">
                  <a16:creationId xmlns:a16="http://schemas.microsoft.com/office/drawing/2014/main" id="{3E3B8E8E-0D51-B463-1AC5-8ABBD0D94E5F}"/>
                </a:ext>
              </a:extLst>
            </p:cNvPr>
            <p:cNvSpPr/>
            <p:nvPr/>
          </p:nvSpPr>
          <p:spPr>
            <a:xfrm>
              <a:off x="2395798" y="148175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2" name="ellipse_1865">
              <a:extLst>
                <a:ext uri="{FF2B5EF4-FFF2-40B4-BE49-F238E27FC236}">
                  <a16:creationId xmlns:a16="http://schemas.microsoft.com/office/drawing/2014/main" id="{A78CC97C-CF00-B4B4-232A-6540F415567F}"/>
                </a:ext>
              </a:extLst>
            </p:cNvPr>
            <p:cNvSpPr/>
            <p:nvPr/>
          </p:nvSpPr>
          <p:spPr>
            <a:xfrm>
              <a:off x="2345071" y="160888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3" name="ellipse_1866">
              <a:extLst>
                <a:ext uri="{FF2B5EF4-FFF2-40B4-BE49-F238E27FC236}">
                  <a16:creationId xmlns:a16="http://schemas.microsoft.com/office/drawing/2014/main" id="{1C7DD56E-5535-8B2E-615C-21EEB3FC0B60}"/>
                </a:ext>
              </a:extLst>
            </p:cNvPr>
            <p:cNvSpPr/>
            <p:nvPr/>
          </p:nvSpPr>
          <p:spPr>
            <a:xfrm>
              <a:off x="2455927" y="15235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4" name="ellipse_1867">
              <a:extLst>
                <a:ext uri="{FF2B5EF4-FFF2-40B4-BE49-F238E27FC236}">
                  <a16:creationId xmlns:a16="http://schemas.microsoft.com/office/drawing/2014/main" id="{53E5DFEF-A738-E1E2-6D82-562898867479}"/>
                </a:ext>
              </a:extLst>
            </p:cNvPr>
            <p:cNvSpPr/>
            <p:nvPr/>
          </p:nvSpPr>
          <p:spPr>
            <a:xfrm>
              <a:off x="2415612" y="15382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5" name="ellipse_1868">
              <a:extLst>
                <a:ext uri="{FF2B5EF4-FFF2-40B4-BE49-F238E27FC236}">
                  <a16:creationId xmlns:a16="http://schemas.microsoft.com/office/drawing/2014/main" id="{9F15DB89-4578-E9D4-B66C-9772D337DE92}"/>
                </a:ext>
              </a:extLst>
            </p:cNvPr>
            <p:cNvSpPr/>
            <p:nvPr/>
          </p:nvSpPr>
          <p:spPr>
            <a:xfrm>
              <a:off x="2384162" y="155385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66" name="Find | PTV3 stage 3 (no pseudo)">
            <a:extLst>
              <a:ext uri="{FF2B5EF4-FFF2-40B4-BE49-F238E27FC236}">
                <a16:creationId xmlns:a16="http://schemas.microsoft.com/office/drawing/2014/main" id="{8E5AF76E-A5D2-A1C4-1196-A1FB989CBECC}"/>
              </a:ext>
            </a:extLst>
          </p:cNvPr>
          <p:cNvGrpSpPr/>
          <p:nvPr/>
        </p:nvGrpSpPr>
        <p:grpSpPr>
          <a:xfrm>
            <a:off x="2902421" y="1230063"/>
            <a:ext cx="244120" cy="181939"/>
            <a:chOff x="2703555" y="1491390"/>
            <a:chExt cx="190530" cy="137970"/>
          </a:xfrm>
        </p:grpSpPr>
        <p:sp>
          <p:nvSpPr>
            <p:cNvPr id="267" name="rect_1874">
              <a:extLst>
                <a:ext uri="{FF2B5EF4-FFF2-40B4-BE49-F238E27FC236}">
                  <a16:creationId xmlns:a16="http://schemas.microsoft.com/office/drawing/2014/main" id="{75101B77-5988-FEB7-22BD-46F0384ADBC8}"/>
                </a:ext>
              </a:extLst>
            </p:cNvPr>
            <p:cNvSpPr/>
            <p:nvPr/>
          </p:nvSpPr>
          <p:spPr>
            <a:xfrm>
              <a:off x="2703555" y="1491390"/>
              <a:ext cx="190530" cy="137970"/>
            </a:xfrm>
            <a:prstGeom prst="roundRect">
              <a:avLst>
                <a:gd name="adj" fmla="val 11905"/>
              </a:avLst>
            </a:prstGeom>
            <a:solidFill>
              <a:srgbClr val="F8F5FC"/>
            </a:solidFill>
            <a:ln w="2540" cap="rnd" cmpd="sng" algn="ctr">
              <a:solidFill>
                <a:srgbClr val="C3D4E6"/>
              </a:solidFill>
              <a:prstDash val="solid"/>
              <a:round/>
              <a:headEnd type="none" w="med" len="med"/>
              <a:tailEnd type="none" w="med" len="med"/>
            </a:ln>
            <a:effectLst/>
          </p:spPr>
        </p:sp>
        <p:sp>
          <p:nvSpPr>
            <p:cNvPr id="268" name="ellipse_1875">
              <a:extLst>
                <a:ext uri="{FF2B5EF4-FFF2-40B4-BE49-F238E27FC236}">
                  <a16:creationId xmlns:a16="http://schemas.microsoft.com/office/drawing/2014/main" id="{0F3768B9-45DC-D239-6ECE-6B199905A0E6}"/>
                </a:ext>
              </a:extLst>
            </p:cNvPr>
            <p:cNvSpPr/>
            <p:nvPr/>
          </p:nvSpPr>
          <p:spPr>
            <a:xfrm>
              <a:off x="2782342" y="152486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9" name="ellipse_1876">
              <a:extLst>
                <a:ext uri="{FF2B5EF4-FFF2-40B4-BE49-F238E27FC236}">
                  <a16:creationId xmlns:a16="http://schemas.microsoft.com/office/drawing/2014/main" id="{9AC2E9D9-EA81-CB60-9668-376E55C3B65A}"/>
                </a:ext>
              </a:extLst>
            </p:cNvPr>
            <p:cNvSpPr/>
            <p:nvPr/>
          </p:nvSpPr>
          <p:spPr>
            <a:xfrm>
              <a:off x="2750750" y="159446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0" name="ellipse_1877">
              <a:extLst>
                <a:ext uri="{FF2B5EF4-FFF2-40B4-BE49-F238E27FC236}">
                  <a16:creationId xmlns:a16="http://schemas.microsoft.com/office/drawing/2014/main" id="{193512C0-B984-BF26-53B2-A4C133832B19}"/>
                </a:ext>
              </a:extLst>
            </p:cNvPr>
            <p:cNvSpPr/>
            <p:nvPr/>
          </p:nvSpPr>
          <p:spPr>
            <a:xfrm>
              <a:off x="2743887" y="14971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1" name="ellipse_1878">
              <a:extLst>
                <a:ext uri="{FF2B5EF4-FFF2-40B4-BE49-F238E27FC236}">
                  <a16:creationId xmlns:a16="http://schemas.microsoft.com/office/drawing/2014/main" id="{010957FC-182F-1FF9-1554-385555C7E5BB}"/>
                </a:ext>
              </a:extLst>
            </p:cNvPr>
            <p:cNvSpPr/>
            <p:nvPr/>
          </p:nvSpPr>
          <p:spPr>
            <a:xfrm>
              <a:off x="2833390" y="151132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2" name="ellipse_1879">
              <a:extLst>
                <a:ext uri="{FF2B5EF4-FFF2-40B4-BE49-F238E27FC236}">
                  <a16:creationId xmlns:a16="http://schemas.microsoft.com/office/drawing/2014/main" id="{D3BED3D3-6945-FBFB-0ADC-29AB3D61D264}"/>
                </a:ext>
              </a:extLst>
            </p:cNvPr>
            <p:cNvSpPr/>
            <p:nvPr/>
          </p:nvSpPr>
          <p:spPr>
            <a:xfrm>
              <a:off x="2831792" y="156772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73" name="Find | PTV3 stage 4 (no pseudo)">
            <a:extLst>
              <a:ext uri="{FF2B5EF4-FFF2-40B4-BE49-F238E27FC236}">
                <a16:creationId xmlns:a16="http://schemas.microsoft.com/office/drawing/2014/main" id="{6152C243-7C11-72B4-655A-F6C20103F058}"/>
              </a:ext>
            </a:extLst>
          </p:cNvPr>
          <p:cNvGrpSpPr/>
          <p:nvPr/>
        </p:nvGrpSpPr>
        <p:grpSpPr>
          <a:xfrm>
            <a:off x="3324724" y="1218198"/>
            <a:ext cx="269656" cy="205670"/>
            <a:chOff x="3097755" y="1465110"/>
            <a:chExt cx="243090" cy="190530"/>
          </a:xfrm>
        </p:grpSpPr>
        <p:sp>
          <p:nvSpPr>
            <p:cNvPr id="274" name="rect_1885">
              <a:extLst>
                <a:ext uri="{FF2B5EF4-FFF2-40B4-BE49-F238E27FC236}">
                  <a16:creationId xmlns:a16="http://schemas.microsoft.com/office/drawing/2014/main" id="{02A84936-E0C4-22EE-AB39-B8147866C1E6}"/>
                </a:ext>
              </a:extLst>
            </p:cNvPr>
            <p:cNvSpPr/>
            <p:nvPr/>
          </p:nvSpPr>
          <p:spPr>
            <a:xfrm>
              <a:off x="3097755" y="1465110"/>
              <a:ext cx="243090" cy="190530"/>
            </a:xfrm>
            <a:prstGeom prst="roundRect">
              <a:avLst>
                <a:gd name="adj" fmla="val 8621"/>
              </a:avLst>
            </a:prstGeom>
            <a:solidFill>
              <a:srgbClr val="F8F5FC"/>
            </a:solidFill>
            <a:ln w="2540" cap="rnd" cmpd="sng" algn="ctr">
              <a:solidFill>
                <a:srgbClr val="C3D4E6"/>
              </a:solidFill>
              <a:prstDash val="solid"/>
              <a:round/>
              <a:headEnd type="none" w="med" len="med"/>
              <a:tailEnd type="none" w="med" len="med"/>
            </a:ln>
            <a:effectLst/>
          </p:spPr>
        </p:sp>
        <p:sp>
          <p:nvSpPr>
            <p:cNvPr id="275" name="ellipse_1886">
              <a:extLst>
                <a:ext uri="{FF2B5EF4-FFF2-40B4-BE49-F238E27FC236}">
                  <a16:creationId xmlns:a16="http://schemas.microsoft.com/office/drawing/2014/main" id="{28C5B77C-D4DA-25CA-7F5E-FFB406D4948B}"/>
                </a:ext>
              </a:extLst>
            </p:cNvPr>
            <p:cNvSpPr/>
            <p:nvPr/>
          </p:nvSpPr>
          <p:spPr>
            <a:xfrm>
              <a:off x="3274804" y="154785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6" name="ellipse_1887">
              <a:extLst>
                <a:ext uri="{FF2B5EF4-FFF2-40B4-BE49-F238E27FC236}">
                  <a16:creationId xmlns:a16="http://schemas.microsoft.com/office/drawing/2014/main" id="{4B9C2CC8-3618-CEA6-223F-481DE7645A74}"/>
                </a:ext>
              </a:extLst>
            </p:cNvPr>
            <p:cNvSpPr/>
            <p:nvPr/>
          </p:nvSpPr>
          <p:spPr>
            <a:xfrm>
              <a:off x="3235593" y="156879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7" name="ellipse_1888">
              <a:extLst>
                <a:ext uri="{FF2B5EF4-FFF2-40B4-BE49-F238E27FC236}">
                  <a16:creationId xmlns:a16="http://schemas.microsoft.com/office/drawing/2014/main" id="{116AA07D-1658-6583-2048-22DAA979C713}"/>
                </a:ext>
              </a:extLst>
            </p:cNvPr>
            <p:cNvSpPr/>
            <p:nvPr/>
          </p:nvSpPr>
          <p:spPr>
            <a:xfrm>
              <a:off x="3215524" y="154839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8" name="ellipse_1889">
              <a:extLst>
                <a:ext uri="{FF2B5EF4-FFF2-40B4-BE49-F238E27FC236}">
                  <a16:creationId xmlns:a16="http://schemas.microsoft.com/office/drawing/2014/main" id="{B9996B1C-4365-A5B2-A0FA-BEEE1AE3580D}"/>
                </a:ext>
              </a:extLst>
            </p:cNvPr>
            <p:cNvSpPr/>
            <p:nvPr/>
          </p:nvSpPr>
          <p:spPr>
            <a:xfrm>
              <a:off x="3114632" y="15799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9" name="ellipse_1890">
              <a:extLst>
                <a:ext uri="{FF2B5EF4-FFF2-40B4-BE49-F238E27FC236}">
                  <a16:creationId xmlns:a16="http://schemas.microsoft.com/office/drawing/2014/main" id="{B24EA66B-C475-FD74-3653-99240EA2FC7D}"/>
                </a:ext>
              </a:extLst>
            </p:cNvPr>
            <p:cNvSpPr/>
            <p:nvPr/>
          </p:nvSpPr>
          <p:spPr>
            <a:xfrm>
              <a:off x="3288227" y="158414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0" name="ellipse_1891">
              <a:extLst>
                <a:ext uri="{FF2B5EF4-FFF2-40B4-BE49-F238E27FC236}">
                  <a16:creationId xmlns:a16="http://schemas.microsoft.com/office/drawing/2014/main" id="{7C05A257-A858-E4EC-CE72-2E262BB52B07}"/>
                </a:ext>
              </a:extLst>
            </p:cNvPr>
            <p:cNvSpPr/>
            <p:nvPr/>
          </p:nvSpPr>
          <p:spPr>
            <a:xfrm>
              <a:off x="3206468" y="16100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1" name="ellipse_1892">
              <a:extLst>
                <a:ext uri="{FF2B5EF4-FFF2-40B4-BE49-F238E27FC236}">
                  <a16:creationId xmlns:a16="http://schemas.microsoft.com/office/drawing/2014/main" id="{5029BF78-C694-94BA-2390-D6FC0A6BFD81}"/>
                </a:ext>
              </a:extLst>
            </p:cNvPr>
            <p:cNvSpPr/>
            <p:nvPr/>
          </p:nvSpPr>
          <p:spPr>
            <a:xfrm>
              <a:off x="3224851" y="161218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2" name="ellipse_1893">
              <a:extLst>
                <a:ext uri="{FF2B5EF4-FFF2-40B4-BE49-F238E27FC236}">
                  <a16:creationId xmlns:a16="http://schemas.microsoft.com/office/drawing/2014/main" id="{B400169A-5E49-FEE5-1915-FCB9E751F312}"/>
                </a:ext>
              </a:extLst>
            </p:cNvPr>
            <p:cNvSpPr/>
            <p:nvPr/>
          </p:nvSpPr>
          <p:spPr>
            <a:xfrm>
              <a:off x="3255857" y="14772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83" name="Find | PTV3 stage 5 (no pseudo)">
            <a:extLst>
              <a:ext uri="{FF2B5EF4-FFF2-40B4-BE49-F238E27FC236}">
                <a16:creationId xmlns:a16="http://schemas.microsoft.com/office/drawing/2014/main" id="{FE5D4BB8-AE08-CFDC-14F9-58D62B643799}"/>
              </a:ext>
            </a:extLst>
          </p:cNvPr>
          <p:cNvGrpSpPr/>
          <p:nvPr/>
        </p:nvGrpSpPr>
        <p:grpSpPr>
          <a:xfrm>
            <a:off x="3748279" y="1222153"/>
            <a:ext cx="276863" cy="197759"/>
            <a:chOff x="3473888" y="1438830"/>
            <a:chExt cx="279225" cy="243090"/>
          </a:xfrm>
        </p:grpSpPr>
        <p:sp>
          <p:nvSpPr>
            <p:cNvPr id="284" name="rect_1899">
              <a:extLst>
                <a:ext uri="{FF2B5EF4-FFF2-40B4-BE49-F238E27FC236}">
                  <a16:creationId xmlns:a16="http://schemas.microsoft.com/office/drawing/2014/main" id="{3C966A44-931E-3C61-C3E2-9910BF785D0E}"/>
                </a:ext>
              </a:extLst>
            </p:cNvPr>
            <p:cNvSpPr/>
            <p:nvPr/>
          </p:nvSpPr>
          <p:spPr>
            <a:xfrm>
              <a:off x="3473888" y="1438830"/>
              <a:ext cx="279225" cy="243090"/>
            </a:xfrm>
            <a:prstGeom prst="roundRect">
              <a:avLst>
                <a:gd name="adj" fmla="val 6757"/>
              </a:avLst>
            </a:prstGeom>
            <a:solidFill>
              <a:srgbClr val="F8F5FC"/>
            </a:solidFill>
            <a:ln w="2540" cap="rnd" cmpd="sng" algn="ctr">
              <a:solidFill>
                <a:srgbClr val="C3D4E6"/>
              </a:solidFill>
              <a:prstDash val="solid"/>
              <a:round/>
              <a:headEnd type="none" w="med" len="med"/>
              <a:tailEnd type="none" w="med" len="med"/>
            </a:ln>
            <a:effectLst/>
          </p:spPr>
        </p:sp>
        <p:sp>
          <p:nvSpPr>
            <p:cNvPr id="285" name="ellipse_1900">
              <a:extLst>
                <a:ext uri="{FF2B5EF4-FFF2-40B4-BE49-F238E27FC236}">
                  <a16:creationId xmlns:a16="http://schemas.microsoft.com/office/drawing/2014/main" id="{0734BB70-ADDB-68EE-E4C9-F1E9F19AF6E7}"/>
                </a:ext>
              </a:extLst>
            </p:cNvPr>
            <p:cNvSpPr/>
            <p:nvPr/>
          </p:nvSpPr>
          <p:spPr>
            <a:xfrm>
              <a:off x="3538819" y="148253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6" name="ellipse_1901">
              <a:extLst>
                <a:ext uri="{FF2B5EF4-FFF2-40B4-BE49-F238E27FC236}">
                  <a16:creationId xmlns:a16="http://schemas.microsoft.com/office/drawing/2014/main" id="{50CDA3FC-9E47-A0FF-54FE-0B291B80C55E}"/>
                </a:ext>
              </a:extLst>
            </p:cNvPr>
            <p:cNvSpPr/>
            <p:nvPr/>
          </p:nvSpPr>
          <p:spPr>
            <a:xfrm>
              <a:off x="3631999" y="157809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7" name="ellipse_1902">
              <a:extLst>
                <a:ext uri="{FF2B5EF4-FFF2-40B4-BE49-F238E27FC236}">
                  <a16:creationId xmlns:a16="http://schemas.microsoft.com/office/drawing/2014/main" id="{FDEE2D57-7D4E-037C-452C-66A797AB07C9}"/>
                </a:ext>
              </a:extLst>
            </p:cNvPr>
            <p:cNvSpPr/>
            <p:nvPr/>
          </p:nvSpPr>
          <p:spPr>
            <a:xfrm>
              <a:off x="3687564" y="15901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8" name="ellipse_1903">
              <a:extLst>
                <a:ext uri="{FF2B5EF4-FFF2-40B4-BE49-F238E27FC236}">
                  <a16:creationId xmlns:a16="http://schemas.microsoft.com/office/drawing/2014/main" id="{B2C7060E-B2BB-F02D-5B6F-B7D323B087B4}"/>
                </a:ext>
              </a:extLst>
            </p:cNvPr>
            <p:cNvSpPr/>
            <p:nvPr/>
          </p:nvSpPr>
          <p:spPr>
            <a:xfrm>
              <a:off x="3686262" y="162539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9" name="ellipse_1904">
              <a:extLst>
                <a:ext uri="{FF2B5EF4-FFF2-40B4-BE49-F238E27FC236}">
                  <a16:creationId xmlns:a16="http://schemas.microsoft.com/office/drawing/2014/main" id="{7DE1C447-AFD4-DD7C-5DE0-0E96E8153D12}"/>
                </a:ext>
              </a:extLst>
            </p:cNvPr>
            <p:cNvSpPr/>
            <p:nvPr/>
          </p:nvSpPr>
          <p:spPr>
            <a:xfrm>
              <a:off x="3673847" y="145725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0" name="ellipse_1905">
              <a:extLst>
                <a:ext uri="{FF2B5EF4-FFF2-40B4-BE49-F238E27FC236}">
                  <a16:creationId xmlns:a16="http://schemas.microsoft.com/office/drawing/2014/main" id="{536BBD44-5D8E-E642-7EFE-DC301B9D3F7F}"/>
                </a:ext>
              </a:extLst>
            </p:cNvPr>
            <p:cNvSpPr/>
            <p:nvPr/>
          </p:nvSpPr>
          <p:spPr>
            <a:xfrm>
              <a:off x="3580150" y="160304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1" name="ellipse_1906">
              <a:extLst>
                <a:ext uri="{FF2B5EF4-FFF2-40B4-BE49-F238E27FC236}">
                  <a16:creationId xmlns:a16="http://schemas.microsoft.com/office/drawing/2014/main" id="{2D018CC6-8BB4-0573-830A-62F9771BB455}"/>
                </a:ext>
              </a:extLst>
            </p:cNvPr>
            <p:cNvSpPr/>
            <p:nvPr/>
          </p:nvSpPr>
          <p:spPr>
            <a:xfrm>
              <a:off x="3499431" y="147999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2" name="ellipse_1907">
              <a:extLst>
                <a:ext uri="{FF2B5EF4-FFF2-40B4-BE49-F238E27FC236}">
                  <a16:creationId xmlns:a16="http://schemas.microsoft.com/office/drawing/2014/main" id="{3D9BABC9-7179-80DF-931B-76C5D153BFA2}"/>
                </a:ext>
              </a:extLst>
            </p:cNvPr>
            <p:cNvSpPr/>
            <p:nvPr/>
          </p:nvSpPr>
          <p:spPr>
            <a:xfrm>
              <a:off x="3698498" y="163375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3" name="ellipse_1908">
              <a:extLst>
                <a:ext uri="{FF2B5EF4-FFF2-40B4-BE49-F238E27FC236}">
                  <a16:creationId xmlns:a16="http://schemas.microsoft.com/office/drawing/2014/main" id="{BF41BEF8-8F67-637A-F426-1015DD3C37FC}"/>
                </a:ext>
              </a:extLst>
            </p:cNvPr>
            <p:cNvSpPr/>
            <p:nvPr/>
          </p:nvSpPr>
          <p:spPr>
            <a:xfrm>
              <a:off x="3664475" y="160668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4" name="ellipse_1909">
              <a:extLst>
                <a:ext uri="{FF2B5EF4-FFF2-40B4-BE49-F238E27FC236}">
                  <a16:creationId xmlns:a16="http://schemas.microsoft.com/office/drawing/2014/main" id="{E57407DB-12F2-A10B-73ED-904E74E89684}"/>
                </a:ext>
              </a:extLst>
            </p:cNvPr>
            <p:cNvSpPr/>
            <p:nvPr/>
          </p:nvSpPr>
          <p:spPr>
            <a:xfrm>
              <a:off x="3577670" y="157500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sp>
        <p:nvSpPr>
          <p:cNvPr id="297" name="TextBox 12152">
            <a:extLst>
              <a:ext uri="{FF2B5EF4-FFF2-40B4-BE49-F238E27FC236}">
                <a16:creationId xmlns:a16="http://schemas.microsoft.com/office/drawing/2014/main" id="{DA95DC65-9861-CC7E-7EFC-4B9E07722C91}"/>
              </a:ext>
            </a:extLst>
          </p:cNvPr>
          <p:cNvSpPr txBox="1"/>
          <p:nvPr/>
        </p:nvSpPr>
        <p:spPr>
          <a:xfrm>
            <a:off x="1932849" y="1615773"/>
            <a:ext cx="2183263" cy="106632"/>
          </a:xfrm>
          <a:prstGeom prst="rect">
            <a:avLst/>
          </a:prstGeom>
          <a:noFill/>
        </p:spPr>
        <p:txBody>
          <a:bodyPr wrap="square" lIns="0" tIns="0" rIns="0" bIns="0" anchor="ctr">
            <a:spAutoFit/>
          </a:bodyPr>
          <a:lstStyle/>
          <a:p>
            <a:pPr algn="ctr">
              <a:lnSpc>
                <a:spcPct val="105000"/>
              </a:lnSpc>
            </a:pPr>
            <a:r>
              <a:rPr sz="709">
                <a:solidFill>
                  <a:srgbClr val="263442"/>
                </a:solidFill>
                <a:latin typeface="Arial"/>
              </a:rPr>
              <a:t>Point Transformer V3</a:t>
            </a:r>
          </a:p>
        </p:txBody>
      </p:sp>
      <p:sp>
        <p:nvSpPr>
          <p:cNvPr id="298" name="TextBox 12153">
            <a:extLst>
              <a:ext uri="{FF2B5EF4-FFF2-40B4-BE49-F238E27FC236}">
                <a16:creationId xmlns:a16="http://schemas.microsoft.com/office/drawing/2014/main" id="{522E41DD-5F6E-76BD-E92F-5CBA886A651B}"/>
              </a:ext>
            </a:extLst>
          </p:cNvPr>
          <p:cNvSpPr txBox="1"/>
          <p:nvPr/>
        </p:nvSpPr>
        <p:spPr>
          <a:xfrm>
            <a:off x="2779258" y="1058360"/>
            <a:ext cx="767306" cy="88422"/>
          </a:xfrm>
          <a:prstGeom prst="rect">
            <a:avLst/>
          </a:prstGeom>
          <a:noFill/>
        </p:spPr>
        <p:txBody>
          <a:bodyPr wrap="square" lIns="0" tIns="0" rIns="0" bIns="0" anchor="ctr">
            <a:spAutoFit/>
          </a:bodyPr>
          <a:lstStyle/>
          <a:p>
            <a:pPr algn="ctr">
              <a:lnSpc>
                <a:spcPct val="105000"/>
              </a:lnSpc>
            </a:pPr>
            <a:r>
              <a:rPr lang="en-US" sz="588" dirty="0">
                <a:solidFill>
                  <a:srgbClr val="263442"/>
                </a:solidFill>
                <a:latin typeface="Arial"/>
              </a:rPr>
              <a:t>F</a:t>
            </a:r>
            <a:r>
              <a:rPr sz="588" dirty="0">
                <a:solidFill>
                  <a:srgbClr val="263442"/>
                </a:solidFill>
                <a:latin typeface="Arial"/>
              </a:rPr>
              <a:t>usion</a:t>
            </a:r>
          </a:p>
        </p:txBody>
      </p:sp>
      <p:sp>
        <p:nvSpPr>
          <p:cNvPr id="299" name="Find | Blobs output card">
            <a:extLst>
              <a:ext uri="{FF2B5EF4-FFF2-40B4-BE49-F238E27FC236}">
                <a16:creationId xmlns:a16="http://schemas.microsoft.com/office/drawing/2014/main" id="{6A602B9B-DE58-7AA0-FDBA-741F60C78A9B}"/>
              </a:ext>
            </a:extLst>
          </p:cNvPr>
          <p:cNvSpPr/>
          <p:nvPr/>
        </p:nvSpPr>
        <p:spPr>
          <a:xfrm>
            <a:off x="4300068" y="284775"/>
            <a:ext cx="442980" cy="1471328"/>
          </a:xfrm>
          <a:prstGeom prst="roundRect">
            <a:avLst>
              <a:gd name="adj" fmla="val 6000"/>
            </a:avLst>
          </a:prstGeom>
          <a:solidFill>
            <a:srgbClr val="FFFFFF"/>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300" name="TextBox 12155">
            <a:extLst>
              <a:ext uri="{FF2B5EF4-FFF2-40B4-BE49-F238E27FC236}">
                <a16:creationId xmlns:a16="http://schemas.microsoft.com/office/drawing/2014/main" id="{1F7C0F6F-D082-C8AA-DE11-4286EF42AADB}"/>
              </a:ext>
            </a:extLst>
          </p:cNvPr>
          <p:cNvSpPr txBox="1"/>
          <p:nvPr/>
        </p:nvSpPr>
        <p:spPr>
          <a:xfrm>
            <a:off x="4185689" y="307007"/>
            <a:ext cx="696113" cy="111954"/>
          </a:xfrm>
          <a:prstGeom prst="rect">
            <a:avLst/>
          </a:prstGeom>
          <a:noFill/>
        </p:spPr>
        <p:txBody>
          <a:bodyPr wrap="square" lIns="0" tIns="0" rIns="0" bIns="0" anchor="ctr">
            <a:spAutoFit/>
          </a:bodyPr>
          <a:lstStyle/>
          <a:p>
            <a:pPr algn="ctr">
              <a:lnSpc>
                <a:spcPct val="105000"/>
              </a:lnSpc>
            </a:pPr>
            <a:r>
              <a:rPr sz="744" dirty="0">
                <a:solidFill>
                  <a:srgbClr val="263442"/>
                </a:solidFill>
                <a:latin typeface="Arial"/>
              </a:rPr>
              <a:t>Blobs</a:t>
            </a:r>
          </a:p>
        </p:txBody>
      </p:sp>
      <p:sp>
        <p:nvSpPr>
          <p:cNvPr id="301" name="TextBox 12160">
            <a:extLst>
              <a:ext uri="{FF2B5EF4-FFF2-40B4-BE49-F238E27FC236}">
                <a16:creationId xmlns:a16="http://schemas.microsoft.com/office/drawing/2014/main" id="{EBF2AA16-9B52-B84F-43EE-03BA82B2D4CA}"/>
              </a:ext>
            </a:extLst>
          </p:cNvPr>
          <p:cNvSpPr txBox="1"/>
          <p:nvPr/>
        </p:nvSpPr>
        <p:spPr>
          <a:xfrm>
            <a:off x="581184" y="2090304"/>
            <a:ext cx="1186556" cy="107978"/>
          </a:xfrm>
          <a:prstGeom prst="rect">
            <a:avLst/>
          </a:prstGeom>
          <a:noFill/>
        </p:spPr>
        <p:txBody>
          <a:bodyPr wrap="square" lIns="0" tIns="0" rIns="0" bIns="0" anchor="ctr">
            <a:spAutoFit/>
          </a:bodyPr>
          <a:lstStyle/>
          <a:p>
            <a:pPr algn="l">
              <a:lnSpc>
                <a:spcPct val="105000"/>
              </a:lnSpc>
            </a:pPr>
            <a:r>
              <a:rPr sz="718" dirty="0">
                <a:solidFill>
                  <a:srgbClr val="263442"/>
                </a:solidFill>
                <a:latin typeface="Arial"/>
              </a:rPr>
              <a:t>Candidate encoder</a:t>
            </a:r>
          </a:p>
        </p:txBody>
      </p:sp>
      <p:sp>
        <p:nvSpPr>
          <p:cNvPr id="302" name="TextBox 12161">
            <a:extLst>
              <a:ext uri="{FF2B5EF4-FFF2-40B4-BE49-F238E27FC236}">
                <a16:creationId xmlns:a16="http://schemas.microsoft.com/office/drawing/2014/main" id="{1FD101AA-9130-CD96-6414-B193E6D36851}"/>
              </a:ext>
            </a:extLst>
          </p:cNvPr>
          <p:cNvSpPr txBox="1"/>
          <p:nvPr/>
        </p:nvSpPr>
        <p:spPr>
          <a:xfrm>
            <a:off x="2752186" y="2090304"/>
            <a:ext cx="1186556" cy="107978"/>
          </a:xfrm>
          <a:prstGeom prst="rect">
            <a:avLst/>
          </a:prstGeom>
          <a:noFill/>
        </p:spPr>
        <p:txBody>
          <a:bodyPr wrap="square" lIns="0" tIns="0" rIns="0" bIns="0" anchor="ctr">
            <a:spAutoFit/>
          </a:bodyPr>
          <a:lstStyle/>
          <a:p>
            <a:pPr algn="l">
              <a:lnSpc>
                <a:spcPct val="105000"/>
              </a:lnSpc>
            </a:pPr>
            <a:r>
              <a:rPr sz="718" dirty="0">
                <a:solidFill>
                  <a:srgbClr val="263442"/>
                </a:solidFill>
                <a:latin typeface="Arial"/>
              </a:rPr>
              <a:t>Identity encoder</a:t>
            </a:r>
          </a:p>
        </p:txBody>
      </p:sp>
      <p:sp>
        <p:nvSpPr>
          <p:cNvPr id="303" name="Match | Center divider">
            <a:extLst>
              <a:ext uri="{FF2B5EF4-FFF2-40B4-BE49-F238E27FC236}">
                <a16:creationId xmlns:a16="http://schemas.microsoft.com/office/drawing/2014/main" id="{5A593D05-94F5-C55B-C8C6-B8F9E86B08C6}"/>
              </a:ext>
            </a:extLst>
          </p:cNvPr>
          <p:cNvSpPr/>
          <p:nvPr/>
        </p:nvSpPr>
        <p:spPr>
          <a:xfrm>
            <a:off x="2617408" y="2119981"/>
            <a:ext cx="1" cy="1945952"/>
          </a:xfrm>
          <a:custGeom>
            <a:avLst/>
            <a:gdLst/>
            <a:ahLst/>
            <a:cxnLst/>
            <a:rect l="0" t="0" r="w" b="h"/>
            <a:pathLst>
              <a:path w="1" h="2249424">
                <a:moveTo>
                  <a:pt x="0" y="0"/>
                </a:moveTo>
                <a:lnTo>
                  <a:pt x="0" y="2249424"/>
                </a:lnTo>
              </a:path>
            </a:pathLst>
          </a:custGeom>
          <a:noFill/>
          <a:ln w="9525" cap="rnd" cmpd="sng" algn="ctr">
            <a:solidFill>
              <a:srgbClr val="C8CFD4"/>
            </a:solidFill>
            <a:prstDash val="solid"/>
            <a:round/>
            <a:headEnd type="none" w="med" len="med"/>
            <a:tailEnd type="none" w="med" len="med"/>
          </a:ln>
        </p:spPr>
      </p:sp>
      <p:sp>
        <p:nvSpPr>
          <p:cNvPr id="304" name="TextBox 12164">
            <a:extLst>
              <a:ext uri="{FF2B5EF4-FFF2-40B4-BE49-F238E27FC236}">
                <a16:creationId xmlns:a16="http://schemas.microsoft.com/office/drawing/2014/main" id="{DA6D9C81-D325-B373-1580-DEE13789E3EE}"/>
              </a:ext>
            </a:extLst>
          </p:cNvPr>
          <p:cNvSpPr txBox="1"/>
          <p:nvPr/>
        </p:nvSpPr>
        <p:spPr>
          <a:xfrm>
            <a:off x="573274" y="2270869"/>
            <a:ext cx="442981" cy="93744"/>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Receptor</a:t>
            </a:r>
          </a:p>
        </p:txBody>
      </p:sp>
      <p:sp>
        <p:nvSpPr>
          <p:cNvPr id="305" name="TextBox 12166">
            <a:extLst>
              <a:ext uri="{FF2B5EF4-FFF2-40B4-BE49-F238E27FC236}">
                <a16:creationId xmlns:a16="http://schemas.microsoft.com/office/drawing/2014/main" id="{6E830D7E-FC74-3019-18B2-DDE04B6E60D0}"/>
              </a:ext>
            </a:extLst>
          </p:cNvPr>
          <p:cNvSpPr txBox="1"/>
          <p:nvPr/>
        </p:nvSpPr>
        <p:spPr>
          <a:xfrm>
            <a:off x="1055807" y="2270869"/>
            <a:ext cx="442981" cy="93744"/>
          </a:xfrm>
          <a:prstGeom prst="rect">
            <a:avLst/>
          </a:prstGeom>
          <a:noFill/>
        </p:spPr>
        <p:txBody>
          <a:bodyPr wrap="square" lIns="0" tIns="0" rIns="0" bIns="0" anchor="ctr">
            <a:spAutoFit/>
          </a:bodyPr>
          <a:lstStyle/>
          <a:p>
            <a:pPr algn="ctr">
              <a:lnSpc>
                <a:spcPct val="105000"/>
              </a:lnSpc>
            </a:pPr>
            <a:r>
              <a:rPr sz="623" dirty="0">
                <a:solidFill>
                  <a:srgbClr val="263442"/>
                </a:solidFill>
                <a:latin typeface="Arial"/>
              </a:rPr>
              <a:t>Density</a:t>
            </a:r>
          </a:p>
        </p:txBody>
      </p:sp>
      <p:pic>
        <p:nvPicPr>
          <p:cNvPr id="306" name="Match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7A47CBDC-2732-4D0F-C4FF-972DA2F1AA3E}"/>
              </a:ext>
            </a:extLst>
          </p:cNvPr>
          <p:cNvPicPr/>
          <p:nvPr/>
        </p:nvPicPr>
        <p:blipFill>
          <a:blip r:embed="rId4"/>
          <a:stretch>
            <a:fillRect/>
          </a:stretch>
        </p:blipFill>
        <p:spPr>
          <a:xfrm>
            <a:off x="1103291" y="2380847"/>
            <a:ext cx="347980" cy="332276"/>
          </a:xfrm>
          <a:prstGeom prst="rect">
            <a:avLst/>
          </a:prstGeom>
        </p:spPr>
      </p:pic>
      <p:sp>
        <p:nvSpPr>
          <p:cNvPr id="526" name="TextBox 12168">
            <a:extLst>
              <a:ext uri="{FF2B5EF4-FFF2-40B4-BE49-F238E27FC236}">
                <a16:creationId xmlns:a16="http://schemas.microsoft.com/office/drawing/2014/main" id="{50BD09F1-2D4A-FA0A-7AF2-981DD7585F3A}"/>
              </a:ext>
            </a:extLst>
          </p:cNvPr>
          <p:cNvSpPr txBox="1"/>
          <p:nvPr/>
        </p:nvSpPr>
        <p:spPr>
          <a:xfrm>
            <a:off x="613323" y="2851277"/>
            <a:ext cx="340209" cy="97203"/>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Pocket</a:t>
            </a:r>
          </a:p>
        </p:txBody>
      </p:sp>
      <p:sp>
        <p:nvSpPr>
          <p:cNvPr id="613" name="TextBox 12177">
            <a:extLst>
              <a:ext uri="{FF2B5EF4-FFF2-40B4-BE49-F238E27FC236}">
                <a16:creationId xmlns:a16="http://schemas.microsoft.com/office/drawing/2014/main" id="{086F717F-C0B1-CD04-AFB8-166092CD717F}"/>
              </a:ext>
            </a:extLst>
          </p:cNvPr>
          <p:cNvSpPr txBox="1"/>
          <p:nvPr/>
        </p:nvSpPr>
        <p:spPr>
          <a:xfrm>
            <a:off x="1062885" y="2851277"/>
            <a:ext cx="340209" cy="97203"/>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Blob</a:t>
            </a:r>
          </a:p>
        </p:txBody>
      </p:sp>
      <p:grpSp>
        <p:nvGrpSpPr>
          <p:cNvPr id="614" name="Match | Blob contour">
            <a:extLst>
              <a:ext uri="{FF2B5EF4-FFF2-40B4-BE49-F238E27FC236}">
                <a16:creationId xmlns:a16="http://schemas.microsoft.com/office/drawing/2014/main" id="{ECF83E2A-3199-B09F-F90E-31DC9848C382}"/>
              </a:ext>
            </a:extLst>
          </p:cNvPr>
          <p:cNvGrpSpPr/>
          <p:nvPr/>
        </p:nvGrpSpPr>
        <p:grpSpPr>
          <a:xfrm>
            <a:off x="1086594" y="3036990"/>
            <a:ext cx="291608" cy="199265"/>
            <a:chOff x="1928706" y="3559489"/>
            <a:chExt cx="227897" cy="155682"/>
          </a:xfrm>
        </p:grpSpPr>
        <p:sp>
          <p:nvSpPr>
            <p:cNvPr id="615" name="Candidate blob | editable contour">
              <a:extLst>
                <a:ext uri="{FF2B5EF4-FFF2-40B4-BE49-F238E27FC236}">
                  <a16:creationId xmlns:a16="http://schemas.microsoft.com/office/drawing/2014/main" id="{513F782E-E1DE-1B64-68A9-FB54BE71715F}"/>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16" name="ellipse_2612">
              <a:extLst>
                <a:ext uri="{FF2B5EF4-FFF2-40B4-BE49-F238E27FC236}">
                  <a16:creationId xmlns:a16="http://schemas.microsoft.com/office/drawing/2014/main" id="{12A4650A-7359-9456-1843-A3C9E08B2497}"/>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18" name="TextBox 12186">
            <a:extLst>
              <a:ext uri="{FF2B5EF4-FFF2-40B4-BE49-F238E27FC236}">
                <a16:creationId xmlns:a16="http://schemas.microsoft.com/office/drawing/2014/main" id="{88505915-A113-7FAA-6C15-3F2B10F6D7CB}"/>
              </a:ext>
            </a:extLst>
          </p:cNvPr>
          <p:cNvSpPr txBox="1"/>
          <p:nvPr/>
        </p:nvSpPr>
        <p:spPr>
          <a:xfrm>
            <a:off x="1604695" y="2259965"/>
            <a:ext cx="286938" cy="92333"/>
          </a:xfrm>
          <a:prstGeom prst="rect">
            <a:avLst/>
          </a:prstGeom>
          <a:noFill/>
        </p:spPr>
        <p:txBody>
          <a:bodyPr wrap="none" lIns="0" tIns="0" rIns="0" bIns="0" anchor="ctr">
            <a:spAutoFit/>
          </a:bodyPr>
          <a:lstStyle/>
          <a:p>
            <a:pPr algn="ctr">
              <a:lnSpc>
                <a:spcPct val="105000"/>
              </a:lnSpc>
            </a:pPr>
            <a:r>
              <a:rPr sz="614">
                <a:solidFill>
                  <a:srgbClr val="263442"/>
                </a:solidFill>
                <a:latin typeface="Arial"/>
              </a:rPr>
              <a:t>48³ crop</a:t>
            </a:r>
          </a:p>
        </p:txBody>
      </p:sp>
      <p:grpSp>
        <p:nvGrpSpPr>
          <p:cNvPr id="619" name="48^3 crop 3D cube">
            <a:extLst>
              <a:ext uri="{FF2B5EF4-FFF2-40B4-BE49-F238E27FC236}">
                <a16:creationId xmlns:a16="http://schemas.microsoft.com/office/drawing/2014/main" id="{50441A72-5112-E010-1BBD-72FFF87A8B6E}"/>
              </a:ext>
            </a:extLst>
          </p:cNvPr>
          <p:cNvGrpSpPr/>
          <p:nvPr/>
        </p:nvGrpSpPr>
        <p:grpSpPr>
          <a:xfrm>
            <a:off x="1621801" y="2353114"/>
            <a:ext cx="251107" cy="197645"/>
            <a:chOff x="4043880" y="489960"/>
            <a:chExt cx="571680" cy="450000"/>
          </a:xfrm>
        </p:grpSpPr>
        <p:sp>
          <p:nvSpPr>
            <p:cNvPr id="620" name="asset_2027_0">
              <a:extLst>
                <a:ext uri="{FF2B5EF4-FFF2-40B4-BE49-F238E27FC236}">
                  <a16:creationId xmlns:a16="http://schemas.microsoft.com/office/drawing/2014/main" id="{2C26482F-D7D7-E3F6-FBCD-22AC82315E62}"/>
                </a:ext>
              </a:extLst>
            </p:cNvPr>
            <p:cNvSpPr>
              <a:spLocks noGrp="1"/>
            </p:cNvSpPr>
            <p:nvPr/>
          </p:nvSpPr>
          <p:spPr>
            <a:xfrm>
              <a:off x="4043880" y="489960"/>
              <a:ext cx="571680" cy="76500"/>
            </a:xfrm>
            <a:custGeom>
              <a:avLst/>
              <a:gdLst/>
              <a:ahLst/>
              <a:cxnLst/>
              <a:rect l="0" t="0" r="0" b="0"/>
              <a:pathLst>
                <a:path w="571680" h="76500">
                  <a:moveTo>
                    <a:pt x="0" y="76500"/>
                  </a:moveTo>
                  <a:lnTo>
                    <a:pt x="108619" y="0"/>
                  </a:lnTo>
                  <a:lnTo>
                    <a:pt x="571680" y="0"/>
                  </a:lnTo>
                  <a:lnTo>
                    <a:pt x="463061" y="76500"/>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621" name="asset_2027_1">
              <a:extLst>
                <a:ext uri="{FF2B5EF4-FFF2-40B4-BE49-F238E27FC236}">
                  <a16:creationId xmlns:a16="http://schemas.microsoft.com/office/drawing/2014/main" id="{F28AFBA7-0A71-99DE-9FF9-EBD0ADC1144C}"/>
                </a:ext>
              </a:extLst>
            </p:cNvPr>
            <p:cNvSpPr>
              <a:spLocks noGrp="1"/>
            </p:cNvSpPr>
            <p:nvPr/>
          </p:nvSpPr>
          <p:spPr>
            <a:xfrm>
              <a:off x="4506941" y="489960"/>
              <a:ext cx="108619" cy="450000"/>
            </a:xfrm>
            <a:custGeom>
              <a:avLst/>
              <a:gdLst/>
              <a:ahLst/>
              <a:cxnLst/>
              <a:rect l="0" t="0" r="0" b="0"/>
              <a:pathLst>
                <a:path w="108619" h="450000">
                  <a:moveTo>
                    <a:pt x="0" y="76500"/>
                  </a:moveTo>
                  <a:lnTo>
                    <a:pt x="108619" y="0"/>
                  </a:lnTo>
                  <a:lnTo>
                    <a:pt x="108619" y="373500"/>
                  </a:lnTo>
                  <a:lnTo>
                    <a:pt x="0" y="450000"/>
                  </a:lnTo>
                  <a:close/>
                </a:path>
              </a:pathLst>
            </a:custGeom>
            <a:solidFill>
              <a:srgbClr val="C9DFF3">
                <a:alpha val="22000"/>
              </a:srgbClr>
            </a:solidFill>
            <a:ln w="2700">
              <a:solidFill>
                <a:srgbClr val="A3C3E2"/>
              </a:solidFill>
            </a:ln>
          </p:spPr>
        </p:sp>
        <p:sp>
          <p:nvSpPr>
            <p:cNvPr id="622" name="asset_2027_2">
              <a:extLst>
                <a:ext uri="{FF2B5EF4-FFF2-40B4-BE49-F238E27FC236}">
                  <a16:creationId xmlns:a16="http://schemas.microsoft.com/office/drawing/2014/main" id="{97E064B3-0050-239C-C963-C5E4E31B84D2}"/>
                </a:ext>
              </a:extLst>
            </p:cNvPr>
            <p:cNvSpPr>
              <a:spLocks noGrp="1"/>
            </p:cNvSpPr>
            <p:nvPr/>
          </p:nvSpPr>
          <p:spPr>
            <a:xfrm>
              <a:off x="4043880" y="566460"/>
              <a:ext cx="463061" cy="373500"/>
            </a:xfrm>
            <a:prstGeom prst="rect">
              <a:avLst/>
            </a:prstGeom>
            <a:solidFill>
              <a:srgbClr val="E7F1FC">
                <a:alpha val="20000"/>
              </a:srgbClr>
            </a:solidFill>
            <a:ln w="2700">
              <a:solidFill>
                <a:srgbClr val="ABC9E7"/>
              </a:solidFill>
            </a:ln>
          </p:spPr>
        </p:sp>
        <p:sp>
          <p:nvSpPr>
            <p:cNvPr id="623" name="asset_2027_3">
              <a:extLst>
                <a:ext uri="{FF2B5EF4-FFF2-40B4-BE49-F238E27FC236}">
                  <a16:creationId xmlns:a16="http://schemas.microsoft.com/office/drawing/2014/main" id="{A2C54284-938E-B40D-7CE6-20A987BE1447}"/>
                </a:ext>
              </a:extLst>
            </p:cNvPr>
            <p:cNvSpPr>
              <a:spLocks noGrp="1"/>
            </p:cNvSpPr>
            <p:nvPr/>
          </p:nvSpPr>
          <p:spPr>
            <a:xfrm>
              <a:off x="4159645" y="566460"/>
              <a:ext cx="4" cy="373500"/>
            </a:xfrm>
            <a:prstGeom prst="line">
              <a:avLst/>
            </a:prstGeom>
            <a:noFill/>
            <a:ln w="1980">
              <a:solidFill>
                <a:srgbClr val="B8D2EB">
                  <a:alpha val="33000"/>
                </a:srgbClr>
              </a:solidFill>
            </a:ln>
          </p:spPr>
        </p:sp>
        <p:sp>
          <p:nvSpPr>
            <p:cNvPr id="624" name="asset_2027_4">
              <a:extLst>
                <a:ext uri="{FF2B5EF4-FFF2-40B4-BE49-F238E27FC236}">
                  <a16:creationId xmlns:a16="http://schemas.microsoft.com/office/drawing/2014/main" id="{0F8960CE-A059-8D07-91FB-C97F3078BCD9}"/>
                </a:ext>
              </a:extLst>
            </p:cNvPr>
            <p:cNvSpPr>
              <a:spLocks noGrp="1"/>
            </p:cNvSpPr>
            <p:nvPr/>
          </p:nvSpPr>
          <p:spPr>
            <a:xfrm>
              <a:off x="4043880" y="659835"/>
              <a:ext cx="463061" cy="4"/>
            </a:xfrm>
            <a:prstGeom prst="line">
              <a:avLst/>
            </a:prstGeom>
            <a:noFill/>
            <a:ln w="1980">
              <a:solidFill>
                <a:srgbClr val="B8D2EB">
                  <a:alpha val="33000"/>
                </a:srgbClr>
              </a:solidFill>
            </a:ln>
          </p:spPr>
        </p:sp>
        <p:sp>
          <p:nvSpPr>
            <p:cNvPr id="625" name="asset_2027_5">
              <a:extLst>
                <a:ext uri="{FF2B5EF4-FFF2-40B4-BE49-F238E27FC236}">
                  <a16:creationId xmlns:a16="http://schemas.microsoft.com/office/drawing/2014/main" id="{A5646F3B-E3B0-7C1C-2E27-F9E967647A65}"/>
                </a:ext>
              </a:extLst>
            </p:cNvPr>
            <p:cNvSpPr>
              <a:spLocks noGrp="1"/>
            </p:cNvSpPr>
            <p:nvPr/>
          </p:nvSpPr>
          <p:spPr>
            <a:xfrm>
              <a:off x="4275410" y="566460"/>
              <a:ext cx="4" cy="373500"/>
            </a:xfrm>
            <a:prstGeom prst="line">
              <a:avLst/>
            </a:prstGeom>
            <a:noFill/>
            <a:ln w="1980">
              <a:solidFill>
                <a:srgbClr val="B8D2EB">
                  <a:alpha val="33000"/>
                </a:srgbClr>
              </a:solidFill>
            </a:ln>
          </p:spPr>
        </p:sp>
        <p:sp>
          <p:nvSpPr>
            <p:cNvPr id="626" name="asset_2027_6">
              <a:extLst>
                <a:ext uri="{FF2B5EF4-FFF2-40B4-BE49-F238E27FC236}">
                  <a16:creationId xmlns:a16="http://schemas.microsoft.com/office/drawing/2014/main" id="{49CF1756-587C-D73A-CFD0-CE93821E4BC5}"/>
                </a:ext>
              </a:extLst>
            </p:cNvPr>
            <p:cNvSpPr>
              <a:spLocks noGrp="1"/>
            </p:cNvSpPr>
            <p:nvPr/>
          </p:nvSpPr>
          <p:spPr>
            <a:xfrm>
              <a:off x="4043880" y="753210"/>
              <a:ext cx="463061" cy="4"/>
            </a:xfrm>
            <a:prstGeom prst="line">
              <a:avLst/>
            </a:prstGeom>
            <a:noFill/>
            <a:ln w="1980">
              <a:solidFill>
                <a:srgbClr val="B8D2EB">
                  <a:alpha val="33000"/>
                </a:srgbClr>
              </a:solidFill>
            </a:ln>
          </p:spPr>
        </p:sp>
        <p:sp>
          <p:nvSpPr>
            <p:cNvPr id="627" name="asset_2027_7">
              <a:extLst>
                <a:ext uri="{FF2B5EF4-FFF2-40B4-BE49-F238E27FC236}">
                  <a16:creationId xmlns:a16="http://schemas.microsoft.com/office/drawing/2014/main" id="{617A40D8-F985-CF5E-C184-9CEE010688B0}"/>
                </a:ext>
              </a:extLst>
            </p:cNvPr>
            <p:cNvSpPr>
              <a:spLocks noGrp="1"/>
            </p:cNvSpPr>
            <p:nvPr/>
          </p:nvSpPr>
          <p:spPr>
            <a:xfrm>
              <a:off x="4391176" y="566460"/>
              <a:ext cx="4" cy="373500"/>
            </a:xfrm>
            <a:prstGeom prst="line">
              <a:avLst/>
            </a:prstGeom>
            <a:noFill/>
            <a:ln w="1980">
              <a:solidFill>
                <a:srgbClr val="B8D2EB">
                  <a:alpha val="33000"/>
                </a:srgbClr>
              </a:solidFill>
            </a:ln>
          </p:spPr>
        </p:sp>
        <p:sp>
          <p:nvSpPr>
            <p:cNvPr id="628" name="asset_2027_8">
              <a:extLst>
                <a:ext uri="{FF2B5EF4-FFF2-40B4-BE49-F238E27FC236}">
                  <a16:creationId xmlns:a16="http://schemas.microsoft.com/office/drawing/2014/main" id="{D74C2F96-9830-4E45-47CF-280DBDF3BBA6}"/>
                </a:ext>
              </a:extLst>
            </p:cNvPr>
            <p:cNvSpPr>
              <a:spLocks noGrp="1"/>
            </p:cNvSpPr>
            <p:nvPr/>
          </p:nvSpPr>
          <p:spPr>
            <a:xfrm>
              <a:off x="4043880" y="846585"/>
              <a:ext cx="463061" cy="4"/>
            </a:xfrm>
            <a:prstGeom prst="line">
              <a:avLst/>
            </a:prstGeom>
            <a:noFill/>
            <a:ln w="1980">
              <a:solidFill>
                <a:srgbClr val="B8D2EB">
                  <a:alpha val="33000"/>
                </a:srgbClr>
              </a:solidFill>
            </a:ln>
          </p:spPr>
        </p:sp>
        <p:sp>
          <p:nvSpPr>
            <p:cNvPr id="629" name="asset_2027_53">
              <a:extLst>
                <a:ext uri="{FF2B5EF4-FFF2-40B4-BE49-F238E27FC236}">
                  <a16:creationId xmlns:a16="http://schemas.microsoft.com/office/drawing/2014/main" id="{B57D82E4-2BD4-33AA-2164-941D5F47EC2E}"/>
                </a:ext>
              </a:extLst>
            </p:cNvPr>
            <p:cNvSpPr>
              <a:spLocks noGrp="1"/>
            </p:cNvSpPr>
            <p:nvPr/>
          </p:nvSpPr>
          <p:spPr>
            <a:xfrm>
              <a:off x="4043880" y="566460"/>
              <a:ext cx="463061" cy="373500"/>
            </a:xfrm>
            <a:custGeom>
              <a:avLst/>
              <a:gdLst/>
              <a:ahLst/>
              <a:cxnLst/>
              <a:rect l="0" t="0" r="0" b="0"/>
              <a:pathLst>
                <a:path w="463061" h="373500">
                  <a:moveTo>
                    <a:pt x="0" y="0"/>
                  </a:moveTo>
                  <a:lnTo>
                    <a:pt x="463061" y="0"/>
                  </a:lnTo>
                  <a:lnTo>
                    <a:pt x="463061" y="373500"/>
                  </a:lnTo>
                  <a:lnTo>
                    <a:pt x="0" y="373500"/>
                  </a:lnTo>
                  <a:close/>
                </a:path>
              </a:pathLst>
            </a:custGeom>
            <a:noFill/>
            <a:ln w="3600">
              <a:solidFill>
                <a:srgbClr val="8AB3D9"/>
              </a:solidFill>
            </a:ln>
          </p:spPr>
        </p:sp>
      </p:grpSp>
      <p:grpSp>
        <p:nvGrpSpPr>
          <p:cNvPr id="630" name="48^3 crop centered blob">
            <a:extLst>
              <a:ext uri="{FF2B5EF4-FFF2-40B4-BE49-F238E27FC236}">
                <a16:creationId xmlns:a16="http://schemas.microsoft.com/office/drawing/2014/main" id="{05F07842-8C1D-D758-5B6A-3324A46B243F}"/>
              </a:ext>
            </a:extLst>
          </p:cNvPr>
          <p:cNvGrpSpPr/>
          <p:nvPr/>
        </p:nvGrpSpPr>
        <p:grpSpPr>
          <a:xfrm>
            <a:off x="1684577" y="2424395"/>
            <a:ext cx="110568" cy="75332"/>
            <a:chOff x="1928706" y="3559489"/>
            <a:chExt cx="227897" cy="155682"/>
          </a:xfrm>
        </p:grpSpPr>
        <p:sp>
          <p:nvSpPr>
            <p:cNvPr id="631" name="Candidate blob | editable contour">
              <a:extLst>
                <a:ext uri="{FF2B5EF4-FFF2-40B4-BE49-F238E27FC236}">
                  <a16:creationId xmlns:a16="http://schemas.microsoft.com/office/drawing/2014/main" id="{9098312C-2F0E-B28B-B660-F9C51272B948}"/>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32" name="ellipse_2612">
              <a:extLst>
                <a:ext uri="{FF2B5EF4-FFF2-40B4-BE49-F238E27FC236}">
                  <a16:creationId xmlns:a16="http://schemas.microsoft.com/office/drawing/2014/main" id="{ACF53CE3-1C37-025F-02A8-70EEA8DCFD7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33" name="Blob centroid marker">
            <a:extLst>
              <a:ext uri="{FF2B5EF4-FFF2-40B4-BE49-F238E27FC236}">
                <a16:creationId xmlns:a16="http://schemas.microsoft.com/office/drawing/2014/main" id="{EDD959CF-D4D3-5624-F7B2-BF9345634585}"/>
              </a:ext>
            </a:extLst>
          </p:cNvPr>
          <p:cNvSpPr/>
          <p:nvPr/>
        </p:nvSpPr>
        <p:spPr>
          <a:xfrm>
            <a:off x="1727508" y="2450316"/>
            <a:ext cx="24301" cy="24301"/>
          </a:xfrm>
          <a:prstGeom prst="ellipse">
            <a:avLst/>
          </a:prstGeom>
          <a:solidFill>
            <a:srgbClr val="1D4ED8"/>
          </a:solidFill>
          <a:ln w="762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4" name="TextBox 12188">
            <a:extLst>
              <a:ext uri="{FF2B5EF4-FFF2-40B4-BE49-F238E27FC236}">
                <a16:creationId xmlns:a16="http://schemas.microsoft.com/office/drawing/2014/main" id="{2C0C5B7E-EB59-C12C-034A-66725ABF262F}"/>
              </a:ext>
            </a:extLst>
          </p:cNvPr>
          <p:cNvSpPr txBox="1"/>
          <p:nvPr/>
        </p:nvSpPr>
        <p:spPr>
          <a:xfrm>
            <a:off x="1563337" y="2614551"/>
            <a:ext cx="328616" cy="92333"/>
          </a:xfrm>
          <a:prstGeom prst="rect">
            <a:avLst/>
          </a:prstGeom>
          <a:noFill/>
        </p:spPr>
        <p:txBody>
          <a:bodyPr wrap="none" lIns="0" tIns="0" rIns="0" bIns="0" anchor="ctr">
            <a:spAutoFit/>
          </a:bodyPr>
          <a:lstStyle/>
          <a:p>
            <a:pPr algn="ctr">
              <a:lnSpc>
                <a:spcPct val="105000"/>
              </a:lnSpc>
            </a:pPr>
            <a:r>
              <a:rPr sz="614" dirty="0">
                <a:solidFill>
                  <a:srgbClr val="263442"/>
                </a:solidFill>
                <a:latin typeface="Arial"/>
              </a:rPr>
              <a:t>3D U-Net</a:t>
            </a:r>
          </a:p>
        </p:txBody>
      </p:sp>
      <p:sp>
        <p:nvSpPr>
          <p:cNvPr id="635" name="TextBox 12189">
            <a:extLst>
              <a:ext uri="{FF2B5EF4-FFF2-40B4-BE49-F238E27FC236}">
                <a16:creationId xmlns:a16="http://schemas.microsoft.com/office/drawing/2014/main" id="{8153BF98-6A0C-0786-710E-3D0EE8987AAA}"/>
              </a:ext>
            </a:extLst>
          </p:cNvPr>
          <p:cNvSpPr txBox="1"/>
          <p:nvPr/>
        </p:nvSpPr>
        <p:spPr>
          <a:xfrm>
            <a:off x="1980556" y="2623546"/>
            <a:ext cx="514564" cy="90218"/>
          </a:xfrm>
          <a:prstGeom prst="rect">
            <a:avLst/>
          </a:prstGeom>
          <a:noFill/>
        </p:spPr>
        <p:txBody>
          <a:bodyPr wrap="none" lIns="0" tIns="0" rIns="0" bIns="0" anchor="ctr">
            <a:spAutoFit/>
          </a:bodyPr>
          <a:lstStyle/>
          <a:p>
            <a:pPr algn="ctr">
              <a:lnSpc>
                <a:spcPct val="105000"/>
              </a:lnSpc>
            </a:pPr>
            <a:r>
              <a:rPr lang="en-US" sz="600" dirty="0">
                <a:solidFill>
                  <a:srgbClr val="263442"/>
                </a:solidFill>
                <a:latin typeface="Arial"/>
              </a:rPr>
              <a:t>B</a:t>
            </a:r>
            <a:r>
              <a:rPr lang="en-US" altLang="zh-CN" sz="600" dirty="0">
                <a:solidFill>
                  <a:srgbClr val="263442"/>
                </a:solidFill>
                <a:latin typeface="Arial"/>
              </a:rPr>
              <a:t>ase s</a:t>
            </a:r>
            <a:r>
              <a:rPr sz="600" dirty="0">
                <a:solidFill>
                  <a:srgbClr val="263442"/>
                </a:solidFill>
                <a:latin typeface="Arial"/>
              </a:rPr>
              <a:t>ummary</a:t>
            </a:r>
          </a:p>
        </p:txBody>
      </p:sp>
      <p:sp>
        <p:nvSpPr>
          <p:cNvPr id="636" name="Math | h_j^vox">
            <a:extLst>
              <a:ext uri="{FF2B5EF4-FFF2-40B4-BE49-F238E27FC236}">
                <a16:creationId xmlns:a16="http://schemas.microsoft.com/office/drawing/2014/main" id="{93EC2205-1821-C3E9-E08B-23B27F07452E}"/>
              </a:ext>
            </a:extLst>
          </p:cNvPr>
          <p:cNvSpPr txBox="1"/>
          <p:nvPr/>
        </p:nvSpPr>
        <p:spPr>
          <a:xfrm>
            <a:off x="2156314" y="2371206"/>
            <a:ext cx="169918" cy="126509"/>
          </a:xfrm>
          <a:prstGeom prst="rect">
            <a:avLst/>
          </a:prstGeom>
          <a:noFill/>
        </p:spPr>
        <p:txBody>
          <a:bodyPr wrap="none" lIns="0" tIns="0" rIns="0" bIns="0" anchor="ctr">
            <a:spAutoFit/>
          </a:bodyPr>
          <a:lstStyle/>
          <a:p>
            <a:pPr algn="ctr"/>
            <a:r>
              <a:rPr sz="855" i="1">
                <a:solidFill>
                  <a:srgbClr val="263442"/>
                </a:solidFill>
                <a:latin typeface="Times New Roman"/>
              </a:rPr>
              <a:t>h</a:t>
            </a:r>
            <a:r>
              <a:rPr sz="780" i="1" baseline="-28000">
                <a:solidFill>
                  <a:srgbClr val="263442"/>
                </a:solidFill>
                <a:latin typeface="Times New Roman"/>
              </a:rPr>
              <a:t>j</a:t>
            </a:r>
            <a:r>
              <a:rPr sz="780" baseline="32000">
                <a:solidFill>
                  <a:srgbClr val="263442"/>
                </a:solidFill>
                <a:latin typeface="Arial"/>
              </a:rPr>
              <a:t>vox</a:t>
            </a:r>
          </a:p>
        </p:txBody>
      </p:sp>
      <p:sp>
        <p:nvSpPr>
          <p:cNvPr id="637" name="Base summary bar_1">
            <a:extLst>
              <a:ext uri="{FF2B5EF4-FFF2-40B4-BE49-F238E27FC236}">
                <a16:creationId xmlns:a16="http://schemas.microsoft.com/office/drawing/2014/main" id="{99E9D3C4-A8BD-9C93-615E-C771AE07C8E3}"/>
              </a:ext>
            </a:extLst>
          </p:cNvPr>
          <p:cNvSpPr/>
          <p:nvPr/>
        </p:nvSpPr>
        <p:spPr>
          <a:xfrm>
            <a:off x="2059844" y="2549118"/>
            <a:ext cx="44072" cy="59328"/>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8" name="Base summary bar_2">
            <a:extLst>
              <a:ext uri="{FF2B5EF4-FFF2-40B4-BE49-F238E27FC236}">
                <a16:creationId xmlns:a16="http://schemas.microsoft.com/office/drawing/2014/main" id="{6BC787CE-AF83-7509-7C88-9AB58DB6F66F}"/>
              </a:ext>
            </a:extLst>
          </p:cNvPr>
          <p:cNvSpPr/>
          <p:nvPr/>
        </p:nvSpPr>
        <p:spPr>
          <a:xfrm>
            <a:off x="2107871" y="2549118"/>
            <a:ext cx="44072" cy="59328"/>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9" name="Base summary bar_3">
            <a:extLst>
              <a:ext uri="{FF2B5EF4-FFF2-40B4-BE49-F238E27FC236}">
                <a16:creationId xmlns:a16="http://schemas.microsoft.com/office/drawing/2014/main" id="{269240CC-07F6-8569-D6D0-2E898FDFE671}"/>
              </a:ext>
            </a:extLst>
          </p:cNvPr>
          <p:cNvSpPr/>
          <p:nvPr/>
        </p:nvSpPr>
        <p:spPr>
          <a:xfrm>
            <a:off x="2155898" y="2549118"/>
            <a:ext cx="44072" cy="59328"/>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0" name="Base summary bar_4">
            <a:extLst>
              <a:ext uri="{FF2B5EF4-FFF2-40B4-BE49-F238E27FC236}">
                <a16:creationId xmlns:a16="http://schemas.microsoft.com/office/drawing/2014/main" id="{D027E165-A9E7-E339-F192-6FC69D94CA5E}"/>
              </a:ext>
            </a:extLst>
          </p:cNvPr>
          <p:cNvSpPr/>
          <p:nvPr/>
        </p:nvSpPr>
        <p:spPr>
          <a:xfrm>
            <a:off x="2203926" y="2549118"/>
            <a:ext cx="44072" cy="59328"/>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1" name="Base summary bar_5">
            <a:extLst>
              <a:ext uri="{FF2B5EF4-FFF2-40B4-BE49-F238E27FC236}">
                <a16:creationId xmlns:a16="http://schemas.microsoft.com/office/drawing/2014/main" id="{AF544338-D23E-CE3C-A6B8-4FA37DCAD82E}"/>
              </a:ext>
            </a:extLst>
          </p:cNvPr>
          <p:cNvSpPr/>
          <p:nvPr/>
        </p:nvSpPr>
        <p:spPr>
          <a:xfrm>
            <a:off x="2251954" y="2549118"/>
            <a:ext cx="44072" cy="59328"/>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2" name="Base summary bar_6">
            <a:extLst>
              <a:ext uri="{FF2B5EF4-FFF2-40B4-BE49-F238E27FC236}">
                <a16:creationId xmlns:a16="http://schemas.microsoft.com/office/drawing/2014/main" id="{9F80EB35-B4A7-2FA2-7A0C-B02A9915E4EB}"/>
              </a:ext>
            </a:extLst>
          </p:cNvPr>
          <p:cNvSpPr/>
          <p:nvPr/>
        </p:nvSpPr>
        <p:spPr>
          <a:xfrm>
            <a:off x="2299981" y="2549118"/>
            <a:ext cx="44072" cy="59328"/>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3" name="Base summary bar_7">
            <a:extLst>
              <a:ext uri="{FF2B5EF4-FFF2-40B4-BE49-F238E27FC236}">
                <a16:creationId xmlns:a16="http://schemas.microsoft.com/office/drawing/2014/main" id="{763E1301-00D0-44E1-3425-288C0321EC85}"/>
              </a:ext>
            </a:extLst>
          </p:cNvPr>
          <p:cNvSpPr/>
          <p:nvPr/>
        </p:nvSpPr>
        <p:spPr>
          <a:xfrm>
            <a:off x="2348008" y="2549118"/>
            <a:ext cx="44072" cy="59328"/>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4" name="Op | Mean/max pool">
            <a:extLst>
              <a:ext uri="{FF2B5EF4-FFF2-40B4-BE49-F238E27FC236}">
                <a16:creationId xmlns:a16="http://schemas.microsoft.com/office/drawing/2014/main" id="{C4850A78-C957-EF45-0669-F1FA2501E311}"/>
              </a:ext>
            </a:extLst>
          </p:cNvPr>
          <p:cNvSpPr/>
          <p:nvPr/>
        </p:nvSpPr>
        <p:spPr>
          <a:xfrm>
            <a:off x="573274" y="3452879"/>
            <a:ext cx="617009"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Mean/max pool</a:t>
            </a:r>
          </a:p>
        </p:txBody>
      </p:sp>
      <p:sp>
        <p:nvSpPr>
          <p:cNvPr id="645" name="Op | Cross-attention">
            <a:extLst>
              <a:ext uri="{FF2B5EF4-FFF2-40B4-BE49-F238E27FC236}">
                <a16:creationId xmlns:a16="http://schemas.microsoft.com/office/drawing/2014/main" id="{11FEE5AE-99F9-B083-0D93-CFC8DBD07D63}"/>
              </a:ext>
            </a:extLst>
          </p:cNvPr>
          <p:cNvSpPr/>
          <p:nvPr/>
        </p:nvSpPr>
        <p:spPr>
          <a:xfrm>
            <a:off x="1269387" y="3452879"/>
            <a:ext cx="648651"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Cross-attention</a:t>
            </a:r>
          </a:p>
        </p:txBody>
      </p:sp>
      <p:sp>
        <p:nvSpPr>
          <p:cNvPr id="646" name="TextBox 12200">
            <a:extLst>
              <a:ext uri="{FF2B5EF4-FFF2-40B4-BE49-F238E27FC236}">
                <a16:creationId xmlns:a16="http://schemas.microsoft.com/office/drawing/2014/main" id="{884D8F93-171F-A6AB-A603-7E1006874447}"/>
              </a:ext>
            </a:extLst>
          </p:cNvPr>
          <p:cNvSpPr txBox="1"/>
          <p:nvPr/>
        </p:nvSpPr>
        <p:spPr>
          <a:xfrm>
            <a:off x="1638684" y="3370950"/>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647" name="Op | FiLM">
            <a:extLst>
              <a:ext uri="{FF2B5EF4-FFF2-40B4-BE49-F238E27FC236}">
                <a16:creationId xmlns:a16="http://schemas.microsoft.com/office/drawing/2014/main" id="{59F3449A-984C-C7E7-FC02-0C47B43E0DFD}"/>
              </a:ext>
            </a:extLst>
          </p:cNvPr>
          <p:cNvSpPr/>
          <p:nvPr/>
        </p:nvSpPr>
        <p:spPr>
          <a:xfrm>
            <a:off x="2060427" y="3738251"/>
            <a:ext cx="300518" cy="150259"/>
          </a:xfrm>
          <a:prstGeom prst="roundRect">
            <a:avLst>
              <a:gd name="adj" fmla="val 25000"/>
            </a:avLst>
          </a:prstGeom>
          <a:solidFill>
            <a:srgbClr val="EDE7F5"/>
          </a:solidFill>
          <a:ln w="7290">
            <a:solidFill>
              <a:srgbClr val="B8A9D9"/>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623">
                <a:solidFill>
                  <a:srgbClr val="263442"/>
                </a:solidFill>
                <a:latin typeface="Arial"/>
              </a:rPr>
              <a:t>FiLM</a:t>
            </a:r>
          </a:p>
        </p:txBody>
      </p:sp>
      <p:sp>
        <p:nvSpPr>
          <p:cNvPr id="648" name="TextBox 12202">
            <a:extLst>
              <a:ext uri="{FF2B5EF4-FFF2-40B4-BE49-F238E27FC236}">
                <a16:creationId xmlns:a16="http://schemas.microsoft.com/office/drawing/2014/main" id="{6F9F40E0-7819-CEA2-6131-C4ABBC19B945}"/>
              </a:ext>
            </a:extLst>
          </p:cNvPr>
          <p:cNvSpPr txBox="1"/>
          <p:nvPr/>
        </p:nvSpPr>
        <p:spPr>
          <a:xfrm>
            <a:off x="2001097" y="3430400"/>
            <a:ext cx="126566" cy="84510"/>
          </a:xfrm>
          <a:prstGeom prst="rect">
            <a:avLst/>
          </a:prstGeom>
          <a:noFill/>
        </p:spPr>
        <p:txBody>
          <a:bodyPr wrap="square" lIns="0" tIns="0" rIns="0" bIns="0" anchor="ctr">
            <a:spAutoFit/>
          </a:bodyPr>
          <a:lstStyle/>
          <a:p>
            <a:pPr algn="ctr">
              <a:lnSpc>
                <a:spcPct val="105000"/>
              </a:lnSpc>
            </a:pPr>
            <a:r>
              <a:rPr sz="562">
                <a:solidFill>
                  <a:srgbClr val="263442"/>
                </a:solidFill>
                <a:latin typeface="Arial"/>
              </a:rPr>
              <a:t>Q</a:t>
            </a:r>
          </a:p>
        </p:txBody>
      </p:sp>
      <p:sp>
        <p:nvSpPr>
          <p:cNvPr id="649" name="Op | MLP">
            <a:extLst>
              <a:ext uri="{FF2B5EF4-FFF2-40B4-BE49-F238E27FC236}">
                <a16:creationId xmlns:a16="http://schemas.microsoft.com/office/drawing/2014/main" id="{554F5441-96D3-CFD3-6A6E-CA8C906F4B29}"/>
              </a:ext>
            </a:extLst>
          </p:cNvPr>
          <p:cNvSpPr/>
          <p:nvPr/>
        </p:nvSpPr>
        <p:spPr>
          <a:xfrm>
            <a:off x="1063695" y="3738251"/>
            <a:ext cx="347904" cy="150259"/>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MLP</a:t>
            </a:r>
          </a:p>
        </p:txBody>
      </p:sp>
      <p:sp>
        <p:nvSpPr>
          <p:cNvPr id="650" name="h_j bar_1">
            <a:extLst>
              <a:ext uri="{FF2B5EF4-FFF2-40B4-BE49-F238E27FC236}">
                <a16:creationId xmlns:a16="http://schemas.microsoft.com/office/drawing/2014/main" id="{99BF7016-0AEC-5CA1-43D0-0CC405933ADD}"/>
              </a:ext>
            </a:extLst>
          </p:cNvPr>
          <p:cNvSpPr/>
          <p:nvPr/>
        </p:nvSpPr>
        <p:spPr>
          <a:xfrm>
            <a:off x="2044604" y="3989994"/>
            <a:ext cx="44072" cy="56955"/>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1" name="h_j bar_2">
            <a:extLst>
              <a:ext uri="{FF2B5EF4-FFF2-40B4-BE49-F238E27FC236}">
                <a16:creationId xmlns:a16="http://schemas.microsoft.com/office/drawing/2014/main" id="{71708831-906F-DB31-D516-DA6520DB6B6E}"/>
              </a:ext>
            </a:extLst>
          </p:cNvPr>
          <p:cNvSpPr/>
          <p:nvPr/>
        </p:nvSpPr>
        <p:spPr>
          <a:xfrm>
            <a:off x="2092631" y="3989994"/>
            <a:ext cx="44072" cy="56955"/>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2" name="h_j bar_3">
            <a:extLst>
              <a:ext uri="{FF2B5EF4-FFF2-40B4-BE49-F238E27FC236}">
                <a16:creationId xmlns:a16="http://schemas.microsoft.com/office/drawing/2014/main" id="{E1CF9CE6-644D-2199-D558-FB2748AF4CA8}"/>
              </a:ext>
            </a:extLst>
          </p:cNvPr>
          <p:cNvSpPr/>
          <p:nvPr/>
        </p:nvSpPr>
        <p:spPr>
          <a:xfrm>
            <a:off x="2140658" y="3989994"/>
            <a:ext cx="44072" cy="56955"/>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3" name="h_j bar_4">
            <a:extLst>
              <a:ext uri="{FF2B5EF4-FFF2-40B4-BE49-F238E27FC236}">
                <a16:creationId xmlns:a16="http://schemas.microsoft.com/office/drawing/2014/main" id="{0B1E11C4-B6B0-8410-69CA-ECA06B016C11}"/>
              </a:ext>
            </a:extLst>
          </p:cNvPr>
          <p:cNvSpPr/>
          <p:nvPr/>
        </p:nvSpPr>
        <p:spPr>
          <a:xfrm>
            <a:off x="2188686" y="3989994"/>
            <a:ext cx="44072" cy="56955"/>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4" name="h_j bar_5">
            <a:extLst>
              <a:ext uri="{FF2B5EF4-FFF2-40B4-BE49-F238E27FC236}">
                <a16:creationId xmlns:a16="http://schemas.microsoft.com/office/drawing/2014/main" id="{2A27D763-25D4-1A48-A9AB-8AE10B5867F3}"/>
              </a:ext>
            </a:extLst>
          </p:cNvPr>
          <p:cNvSpPr/>
          <p:nvPr/>
        </p:nvSpPr>
        <p:spPr>
          <a:xfrm>
            <a:off x="2236714" y="3989994"/>
            <a:ext cx="44072" cy="56955"/>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5" name="h_j bar_6">
            <a:extLst>
              <a:ext uri="{FF2B5EF4-FFF2-40B4-BE49-F238E27FC236}">
                <a16:creationId xmlns:a16="http://schemas.microsoft.com/office/drawing/2014/main" id="{CC2DBA64-D0DF-1160-5FEF-C265BF4EAB35}"/>
              </a:ext>
            </a:extLst>
          </p:cNvPr>
          <p:cNvSpPr/>
          <p:nvPr/>
        </p:nvSpPr>
        <p:spPr>
          <a:xfrm>
            <a:off x="2284741" y="3989994"/>
            <a:ext cx="44072" cy="56955"/>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6" name="h_j bar_7">
            <a:extLst>
              <a:ext uri="{FF2B5EF4-FFF2-40B4-BE49-F238E27FC236}">
                <a16:creationId xmlns:a16="http://schemas.microsoft.com/office/drawing/2014/main" id="{3E031F7D-E2D9-9D11-0526-4D352C453584}"/>
              </a:ext>
            </a:extLst>
          </p:cNvPr>
          <p:cNvSpPr/>
          <p:nvPr/>
        </p:nvSpPr>
        <p:spPr>
          <a:xfrm>
            <a:off x="2332768" y="3989994"/>
            <a:ext cx="44072" cy="56955"/>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7" name="Math | h_j^">
            <a:extLst>
              <a:ext uri="{FF2B5EF4-FFF2-40B4-BE49-F238E27FC236}">
                <a16:creationId xmlns:a16="http://schemas.microsoft.com/office/drawing/2014/main" id="{9AC920D3-16D2-273E-04D3-53357E82FB0E}"/>
              </a:ext>
            </a:extLst>
          </p:cNvPr>
          <p:cNvSpPr txBox="1"/>
          <p:nvPr/>
        </p:nvSpPr>
        <p:spPr>
          <a:xfrm>
            <a:off x="1930234" y="3947306"/>
            <a:ext cx="70532" cy="126509"/>
          </a:xfrm>
          <a:prstGeom prst="rect">
            <a:avLst/>
          </a:prstGeom>
          <a:noFill/>
        </p:spPr>
        <p:txBody>
          <a:bodyPr wrap="none" lIns="0" tIns="0" rIns="0" bIns="0" anchor="ctr">
            <a:spAutoFit/>
          </a:bodyPr>
          <a:lstStyle/>
          <a:p>
            <a:pPr algn="ctr"/>
            <a:r>
              <a:rPr sz="855" i="1">
                <a:solidFill>
                  <a:srgbClr val="263442"/>
                </a:solidFill>
                <a:latin typeface="Times New Roman"/>
              </a:rPr>
              <a:t>h</a:t>
            </a:r>
            <a:r>
              <a:rPr sz="780" i="1" baseline="-28000">
                <a:solidFill>
                  <a:srgbClr val="263442"/>
                </a:solidFill>
                <a:latin typeface="Times New Roman"/>
              </a:rPr>
              <a:t>j</a:t>
            </a:r>
          </a:p>
        </p:txBody>
      </p:sp>
      <p:sp>
        <p:nvSpPr>
          <p:cNvPr id="658" name="Op | Foreground head">
            <a:extLst>
              <a:ext uri="{FF2B5EF4-FFF2-40B4-BE49-F238E27FC236}">
                <a16:creationId xmlns:a16="http://schemas.microsoft.com/office/drawing/2014/main" id="{772C4BD8-070D-6A2C-3C5B-CCE55BD09041}"/>
              </a:ext>
            </a:extLst>
          </p:cNvPr>
          <p:cNvSpPr/>
          <p:nvPr/>
        </p:nvSpPr>
        <p:spPr>
          <a:xfrm>
            <a:off x="660288" y="4181937"/>
            <a:ext cx="696113"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Foreground head</a:t>
            </a:r>
          </a:p>
        </p:txBody>
      </p:sp>
      <p:sp>
        <p:nvSpPr>
          <p:cNvPr id="659" name="Math | p_j^fg">
            <a:extLst>
              <a:ext uri="{FF2B5EF4-FFF2-40B4-BE49-F238E27FC236}">
                <a16:creationId xmlns:a16="http://schemas.microsoft.com/office/drawing/2014/main" id="{04752E8A-9FFA-1739-18D7-365FF5D9A529}"/>
              </a:ext>
            </a:extLst>
          </p:cNvPr>
          <p:cNvSpPr txBox="1"/>
          <p:nvPr/>
        </p:nvSpPr>
        <p:spPr>
          <a:xfrm>
            <a:off x="1661733" y="4176444"/>
            <a:ext cx="121828" cy="122341"/>
          </a:xfrm>
          <a:prstGeom prst="rect">
            <a:avLst/>
          </a:prstGeom>
          <a:noFill/>
        </p:spPr>
        <p:txBody>
          <a:bodyPr wrap="none" lIns="0" tIns="0" rIns="0" bIns="0" anchor="ctr">
            <a:spAutoFit/>
          </a:bodyPr>
          <a:lstStyle/>
          <a:p>
            <a:pPr algn="ctr"/>
            <a:r>
              <a:rPr sz="827" i="1" dirty="0" err="1">
                <a:solidFill>
                  <a:srgbClr val="263442"/>
                </a:solidFill>
                <a:latin typeface="Times New Roman"/>
              </a:rPr>
              <a:t>p</a:t>
            </a:r>
            <a:r>
              <a:rPr sz="780" i="1" baseline="-28000" dirty="0" err="1">
                <a:solidFill>
                  <a:srgbClr val="263442"/>
                </a:solidFill>
                <a:latin typeface="Times New Roman"/>
              </a:rPr>
              <a:t>j</a:t>
            </a:r>
            <a:r>
              <a:rPr sz="780" baseline="32000" dirty="0" err="1">
                <a:solidFill>
                  <a:srgbClr val="263442"/>
                </a:solidFill>
                <a:latin typeface="Arial"/>
              </a:rPr>
              <a:t>fg</a:t>
            </a:r>
            <a:endParaRPr sz="780" baseline="32000" dirty="0">
              <a:solidFill>
                <a:srgbClr val="263442"/>
              </a:solidFill>
              <a:latin typeface="Arial"/>
            </a:endParaRPr>
          </a:p>
        </p:txBody>
      </p:sp>
      <p:sp>
        <p:nvSpPr>
          <p:cNvPr id="660" name="TextBox 12215">
            <a:extLst>
              <a:ext uri="{FF2B5EF4-FFF2-40B4-BE49-F238E27FC236}">
                <a16:creationId xmlns:a16="http://schemas.microsoft.com/office/drawing/2014/main" id="{C45D4B31-EE62-7047-2BD0-7D7B985DADC4}"/>
              </a:ext>
            </a:extLst>
          </p:cNvPr>
          <p:cNvSpPr txBox="1"/>
          <p:nvPr/>
        </p:nvSpPr>
        <p:spPr>
          <a:xfrm>
            <a:off x="1392995" y="4310121"/>
            <a:ext cx="666849" cy="79445"/>
          </a:xfrm>
          <a:prstGeom prst="rect">
            <a:avLst/>
          </a:prstGeom>
          <a:noFill/>
        </p:spPr>
        <p:txBody>
          <a:bodyPr wrap="none" lIns="0" tIns="0" rIns="0" bIns="0" anchor="ctr">
            <a:spAutoFit/>
          </a:bodyPr>
          <a:lstStyle/>
          <a:p>
            <a:pPr algn="l">
              <a:lnSpc>
                <a:spcPct val="105000"/>
              </a:lnSpc>
            </a:pPr>
            <a:r>
              <a:rPr sz="528" dirty="0">
                <a:solidFill>
                  <a:srgbClr val="263442"/>
                </a:solidFill>
                <a:latin typeface="Arial"/>
              </a:rPr>
              <a:t>Foreground probability</a:t>
            </a:r>
          </a:p>
        </p:txBody>
      </p:sp>
      <p:sp>
        <p:nvSpPr>
          <p:cNvPr id="661" name="TextBox 12216">
            <a:extLst>
              <a:ext uri="{FF2B5EF4-FFF2-40B4-BE49-F238E27FC236}">
                <a16:creationId xmlns:a16="http://schemas.microsoft.com/office/drawing/2014/main" id="{978E7CF5-ACF2-460D-26F2-9B198BAAC63B}"/>
              </a:ext>
            </a:extLst>
          </p:cNvPr>
          <p:cNvSpPr txBox="1"/>
          <p:nvPr/>
        </p:nvSpPr>
        <p:spPr>
          <a:xfrm>
            <a:off x="3071869" y="2206291"/>
            <a:ext cx="1195840" cy="88422"/>
          </a:xfrm>
          <a:prstGeom prst="rect">
            <a:avLst/>
          </a:prstGeom>
          <a:noFill/>
        </p:spPr>
        <p:txBody>
          <a:bodyPr wrap="none" lIns="0" tIns="0" rIns="0" bIns="0" anchor="ctr">
            <a:spAutoFit/>
          </a:bodyPr>
          <a:lstStyle/>
          <a:p>
            <a:pPr algn="ctr">
              <a:lnSpc>
                <a:spcPct val="105000"/>
              </a:lnSpc>
            </a:pPr>
            <a:r>
              <a:rPr sz="588">
                <a:solidFill>
                  <a:srgbClr val="263442"/>
                </a:solidFill>
                <a:latin typeface="Arial"/>
              </a:rPr>
              <a:t>User-provided SMILES · same PDB</a:t>
            </a:r>
          </a:p>
        </p:txBody>
      </p:sp>
      <p:sp>
        <p:nvSpPr>
          <p:cNvPr id="662" name="Identity | SMILES list card">
            <a:extLst>
              <a:ext uri="{FF2B5EF4-FFF2-40B4-BE49-F238E27FC236}">
                <a16:creationId xmlns:a16="http://schemas.microsoft.com/office/drawing/2014/main" id="{7DA7890B-AB79-9717-CAA6-1EEE08F32188}"/>
              </a:ext>
            </a:extLst>
          </p:cNvPr>
          <p:cNvSpPr/>
          <p:nvPr/>
        </p:nvSpPr>
        <p:spPr>
          <a:xfrm>
            <a:off x="3250539" y="2309830"/>
            <a:ext cx="838500" cy="512745"/>
          </a:xfrm>
          <a:prstGeom prst="roundRect">
            <a:avLst>
              <a:gd name="adj" fmla="val 6000"/>
            </a:avLst>
          </a:prstGeom>
          <a:solidFill>
            <a:srgbClr val="FFFFFF"/>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3" name="TextBox 12218">
            <a:extLst>
              <a:ext uri="{FF2B5EF4-FFF2-40B4-BE49-F238E27FC236}">
                <a16:creationId xmlns:a16="http://schemas.microsoft.com/office/drawing/2014/main" id="{86BB59AD-D134-C7C6-AEC0-14F6157A5F0B}"/>
              </a:ext>
            </a:extLst>
          </p:cNvPr>
          <p:cNvSpPr txBox="1"/>
          <p:nvPr/>
        </p:nvSpPr>
        <p:spPr>
          <a:xfrm>
            <a:off x="3305912" y="2338063"/>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1   CCO</a:t>
            </a:r>
          </a:p>
        </p:txBody>
      </p:sp>
      <p:sp>
        <p:nvSpPr>
          <p:cNvPr id="664" name="TextBox 12219">
            <a:extLst>
              <a:ext uri="{FF2B5EF4-FFF2-40B4-BE49-F238E27FC236}">
                <a16:creationId xmlns:a16="http://schemas.microsoft.com/office/drawing/2014/main" id="{D5CEF1E2-0003-83A9-6C8B-869DF460C92C}"/>
              </a:ext>
            </a:extLst>
          </p:cNvPr>
          <p:cNvSpPr txBox="1"/>
          <p:nvPr/>
        </p:nvSpPr>
        <p:spPr>
          <a:xfrm>
            <a:off x="3305912" y="2440897"/>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2   CC(=O)O</a:t>
            </a:r>
          </a:p>
        </p:txBody>
      </p:sp>
      <p:sp>
        <p:nvSpPr>
          <p:cNvPr id="665" name="Identity | Selected k pill">
            <a:extLst>
              <a:ext uri="{FF2B5EF4-FFF2-40B4-BE49-F238E27FC236}">
                <a16:creationId xmlns:a16="http://schemas.microsoft.com/office/drawing/2014/main" id="{484884C0-9180-67EB-D183-0D32CB2F3899}"/>
              </a:ext>
            </a:extLst>
          </p:cNvPr>
          <p:cNvSpPr/>
          <p:nvPr/>
        </p:nvSpPr>
        <p:spPr>
          <a:xfrm>
            <a:off x="3282181" y="2562853"/>
            <a:ext cx="775217" cy="118656"/>
          </a:xfrm>
          <a:prstGeom prst="roundRect">
            <a:avLst>
              <a:gd name="adj" fmla="val 18000"/>
            </a:avLst>
          </a:prstGeom>
          <a:solidFill>
            <a:srgbClr val="DCFCE7"/>
          </a:solidFill>
          <a:ln w="8890">
            <a:solidFill>
              <a:srgbClr val="3E997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6" name="TextBox 12222">
            <a:extLst>
              <a:ext uri="{FF2B5EF4-FFF2-40B4-BE49-F238E27FC236}">
                <a16:creationId xmlns:a16="http://schemas.microsoft.com/office/drawing/2014/main" id="{AF18D027-6125-FBDF-9BCD-9060B5C5E099}"/>
              </a:ext>
            </a:extLst>
          </p:cNvPr>
          <p:cNvSpPr txBox="1"/>
          <p:nvPr/>
        </p:nvSpPr>
        <p:spPr>
          <a:xfrm>
            <a:off x="3313822" y="2585570"/>
            <a:ext cx="71193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k   Cc1ccccc1</a:t>
            </a:r>
          </a:p>
        </p:txBody>
      </p:sp>
      <p:sp>
        <p:nvSpPr>
          <p:cNvPr id="667" name="TextBox 12224">
            <a:extLst>
              <a:ext uri="{FF2B5EF4-FFF2-40B4-BE49-F238E27FC236}">
                <a16:creationId xmlns:a16="http://schemas.microsoft.com/office/drawing/2014/main" id="{4F02AD2D-3369-26A3-6D2F-44659C880CB7}"/>
              </a:ext>
            </a:extLst>
          </p:cNvPr>
          <p:cNvSpPr txBox="1"/>
          <p:nvPr/>
        </p:nvSpPr>
        <p:spPr>
          <a:xfrm>
            <a:off x="3305912" y="2714369"/>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K   CC(N)=O</a:t>
            </a:r>
          </a:p>
        </p:txBody>
      </p:sp>
      <p:sp>
        <p:nvSpPr>
          <p:cNvPr id="668" name="TextBox 12225">
            <a:extLst>
              <a:ext uri="{FF2B5EF4-FFF2-40B4-BE49-F238E27FC236}">
                <a16:creationId xmlns:a16="http://schemas.microsoft.com/office/drawing/2014/main" id="{3E613D72-90CB-62FD-E861-8FE6E2F065B8}"/>
              </a:ext>
            </a:extLst>
          </p:cNvPr>
          <p:cNvSpPr txBox="1"/>
          <p:nvPr/>
        </p:nvSpPr>
        <p:spPr>
          <a:xfrm>
            <a:off x="2786686" y="2643822"/>
            <a:ext cx="181140" cy="80599"/>
          </a:xfrm>
          <a:prstGeom prst="rect">
            <a:avLst/>
          </a:prstGeom>
          <a:noFill/>
        </p:spPr>
        <p:txBody>
          <a:bodyPr wrap="none" lIns="0" tIns="0" rIns="0" bIns="0" anchor="ctr">
            <a:spAutoFit/>
          </a:bodyPr>
          <a:lstStyle/>
          <a:p>
            <a:pPr algn="l">
              <a:lnSpc>
                <a:spcPct val="105000"/>
              </a:lnSpc>
            </a:pPr>
            <a:r>
              <a:rPr sz="536" dirty="0" err="1">
                <a:solidFill>
                  <a:srgbClr val="263442"/>
                </a:solidFill>
                <a:latin typeface="Arial"/>
              </a:rPr>
              <a:t>RDKit</a:t>
            </a:r>
            <a:endParaRPr sz="536" dirty="0">
              <a:solidFill>
                <a:srgbClr val="263442"/>
              </a:solidFill>
              <a:latin typeface="Arial"/>
            </a:endParaRPr>
          </a:p>
        </p:txBody>
      </p:sp>
      <p:grpSp>
        <p:nvGrpSpPr>
          <p:cNvPr id="669" name="Identity | Own molecular graph">
            <a:extLst>
              <a:ext uri="{FF2B5EF4-FFF2-40B4-BE49-F238E27FC236}">
                <a16:creationId xmlns:a16="http://schemas.microsoft.com/office/drawing/2014/main" id="{683652C7-CC94-2A9C-935C-36CF7B7EB5E8}"/>
              </a:ext>
            </a:extLst>
          </p:cNvPr>
          <p:cNvGrpSpPr/>
          <p:nvPr/>
        </p:nvGrpSpPr>
        <p:grpSpPr>
          <a:xfrm>
            <a:off x="2862931" y="2888431"/>
            <a:ext cx="284773" cy="171742"/>
            <a:chOff x="3366271" y="3721905"/>
            <a:chExt cx="311024" cy="187573"/>
          </a:xfrm>
        </p:grpSpPr>
        <p:cxnSp>
          <p:nvCxnSpPr>
            <p:cNvPr id="670" name="path_2698">
              <a:extLst>
                <a:ext uri="{FF2B5EF4-FFF2-40B4-BE49-F238E27FC236}">
                  <a16:creationId xmlns:a16="http://schemas.microsoft.com/office/drawing/2014/main" id="{08C9C74A-0B12-2E3C-023F-C3DCDEFB7AF1}"/>
                </a:ext>
              </a:extLst>
            </p:cNvPr>
            <p:cNvCxnSpPr/>
            <p:nvPr/>
          </p:nvCxnSpPr>
          <p:spPr>
            <a:xfrm flipV="1">
              <a:off x="3381053" y="3736688"/>
              <a:ext cx="63663" cy="70463"/>
            </a:xfrm>
            <a:prstGeom prst="line">
              <a:avLst/>
            </a:prstGeom>
            <a:noFill/>
            <a:ln w="5256" cap="rnd" cmpd="sng" algn="ctr">
              <a:solidFill>
                <a:srgbClr val="238777"/>
              </a:solidFill>
              <a:prstDash val="solid"/>
              <a:round/>
              <a:headEnd type="none" w="med" len="med"/>
              <a:tailEnd type="none" w="med" len="med"/>
            </a:ln>
            <a:effectLst/>
          </p:spPr>
        </p:cxnSp>
        <p:cxnSp>
          <p:nvCxnSpPr>
            <p:cNvPr id="671" name="path_2699">
              <a:extLst>
                <a:ext uri="{FF2B5EF4-FFF2-40B4-BE49-F238E27FC236}">
                  <a16:creationId xmlns:a16="http://schemas.microsoft.com/office/drawing/2014/main" id="{1CF65ECB-9AC9-C310-5460-0B86FF6B2BC5}"/>
                </a:ext>
              </a:extLst>
            </p:cNvPr>
            <p:cNvCxnSpPr/>
            <p:nvPr/>
          </p:nvCxnSpPr>
          <p:spPr>
            <a:xfrm>
              <a:off x="3444717" y="3736688"/>
              <a:ext cx="113924" cy="14947"/>
            </a:xfrm>
            <a:prstGeom prst="line">
              <a:avLst/>
            </a:prstGeom>
            <a:noFill/>
            <a:ln w="5256" cap="rnd" cmpd="sng" algn="ctr">
              <a:solidFill>
                <a:srgbClr val="238777"/>
              </a:solidFill>
              <a:prstDash val="solid"/>
              <a:round/>
              <a:headEnd type="none" w="med" len="med"/>
              <a:tailEnd type="none" w="med" len="med"/>
            </a:ln>
            <a:effectLst/>
          </p:spPr>
        </p:cxnSp>
        <p:cxnSp>
          <p:nvCxnSpPr>
            <p:cNvPr id="672" name="path_2700">
              <a:extLst>
                <a:ext uri="{FF2B5EF4-FFF2-40B4-BE49-F238E27FC236}">
                  <a16:creationId xmlns:a16="http://schemas.microsoft.com/office/drawing/2014/main" id="{47F0AAAA-D782-D4D4-41E7-7304CCE8D568}"/>
                </a:ext>
              </a:extLst>
            </p:cNvPr>
            <p:cNvCxnSpPr/>
            <p:nvPr/>
          </p:nvCxnSpPr>
          <p:spPr>
            <a:xfrm>
              <a:off x="3558640" y="3751634"/>
              <a:ext cx="73715" cy="64058"/>
            </a:xfrm>
            <a:prstGeom prst="line">
              <a:avLst/>
            </a:prstGeom>
            <a:noFill/>
            <a:ln w="5256" cap="rnd" cmpd="sng" algn="ctr">
              <a:solidFill>
                <a:srgbClr val="238777"/>
              </a:solidFill>
              <a:prstDash val="solid"/>
              <a:round/>
              <a:headEnd type="none" w="med" len="med"/>
              <a:tailEnd type="none" w="med" len="med"/>
            </a:ln>
            <a:effectLst/>
          </p:spPr>
        </p:cxnSp>
        <p:cxnSp>
          <p:nvCxnSpPr>
            <p:cNvPr id="673" name="path_2701">
              <a:extLst>
                <a:ext uri="{FF2B5EF4-FFF2-40B4-BE49-F238E27FC236}">
                  <a16:creationId xmlns:a16="http://schemas.microsoft.com/office/drawing/2014/main" id="{672DEF92-FEF6-A8B8-A079-671D6D70071E}"/>
                </a:ext>
              </a:extLst>
            </p:cNvPr>
            <p:cNvCxnSpPr/>
            <p:nvPr/>
          </p:nvCxnSpPr>
          <p:spPr>
            <a:xfrm flipH="1">
              <a:off x="3561991" y="3815692"/>
              <a:ext cx="70365" cy="79004"/>
            </a:xfrm>
            <a:prstGeom prst="line">
              <a:avLst/>
            </a:prstGeom>
            <a:noFill/>
            <a:ln w="5256" cap="rnd" cmpd="sng" algn="ctr">
              <a:solidFill>
                <a:srgbClr val="238777"/>
              </a:solidFill>
              <a:prstDash val="solid"/>
              <a:round/>
              <a:headEnd type="none" w="med" len="med"/>
              <a:tailEnd type="none" w="med" len="med"/>
            </a:ln>
            <a:effectLst/>
          </p:spPr>
        </p:cxnSp>
        <p:cxnSp>
          <p:nvCxnSpPr>
            <p:cNvPr id="674" name="path_2702">
              <a:extLst>
                <a:ext uri="{FF2B5EF4-FFF2-40B4-BE49-F238E27FC236}">
                  <a16:creationId xmlns:a16="http://schemas.microsoft.com/office/drawing/2014/main" id="{B02A38E3-8AB1-C1CA-A784-7A02E63B2D09}"/>
                </a:ext>
              </a:extLst>
            </p:cNvPr>
            <p:cNvCxnSpPr/>
            <p:nvPr/>
          </p:nvCxnSpPr>
          <p:spPr>
            <a:xfrm flipH="1" flipV="1">
              <a:off x="3444717" y="3875479"/>
              <a:ext cx="117275" cy="19217"/>
            </a:xfrm>
            <a:prstGeom prst="line">
              <a:avLst/>
            </a:prstGeom>
            <a:noFill/>
            <a:ln w="5256" cap="rnd" cmpd="sng" algn="ctr">
              <a:solidFill>
                <a:srgbClr val="238777"/>
              </a:solidFill>
              <a:prstDash val="solid"/>
              <a:round/>
              <a:headEnd type="none" w="med" len="med"/>
              <a:tailEnd type="none" w="med" len="med"/>
            </a:ln>
            <a:effectLst/>
          </p:spPr>
        </p:cxnSp>
        <p:cxnSp>
          <p:nvCxnSpPr>
            <p:cNvPr id="675" name="path_2703">
              <a:extLst>
                <a:ext uri="{FF2B5EF4-FFF2-40B4-BE49-F238E27FC236}">
                  <a16:creationId xmlns:a16="http://schemas.microsoft.com/office/drawing/2014/main" id="{5EB27651-D3BE-22CD-39D8-D428781F5F97}"/>
                </a:ext>
              </a:extLst>
            </p:cNvPr>
            <p:cNvCxnSpPr/>
            <p:nvPr/>
          </p:nvCxnSpPr>
          <p:spPr>
            <a:xfrm flipH="1" flipV="1">
              <a:off x="3381053" y="3807151"/>
              <a:ext cx="63663" cy="68328"/>
            </a:xfrm>
            <a:prstGeom prst="line">
              <a:avLst/>
            </a:prstGeom>
            <a:noFill/>
            <a:ln w="5256" cap="rnd" cmpd="sng" algn="ctr">
              <a:solidFill>
                <a:srgbClr val="238777"/>
              </a:solidFill>
              <a:prstDash val="solid"/>
              <a:round/>
              <a:headEnd type="none" w="med" len="med"/>
              <a:tailEnd type="none" w="med" len="med"/>
            </a:ln>
            <a:effectLst/>
          </p:spPr>
        </p:cxnSp>
        <p:cxnSp>
          <p:nvCxnSpPr>
            <p:cNvPr id="676" name="path_2704">
              <a:extLst>
                <a:ext uri="{FF2B5EF4-FFF2-40B4-BE49-F238E27FC236}">
                  <a16:creationId xmlns:a16="http://schemas.microsoft.com/office/drawing/2014/main" id="{A3592B63-1411-3F57-5878-96E17C30AD75}"/>
                </a:ext>
              </a:extLst>
            </p:cNvPr>
            <p:cNvCxnSpPr/>
            <p:nvPr/>
          </p:nvCxnSpPr>
          <p:spPr>
            <a:xfrm flipV="1">
              <a:off x="3558640" y="3745228"/>
              <a:ext cx="103872" cy="6406"/>
            </a:xfrm>
            <a:prstGeom prst="line">
              <a:avLst/>
            </a:prstGeom>
            <a:noFill/>
            <a:ln w="5256" cap="rnd" cmpd="sng" algn="ctr">
              <a:solidFill>
                <a:srgbClr val="238777"/>
              </a:solidFill>
              <a:prstDash val="solid"/>
              <a:round/>
              <a:headEnd type="none" w="med" len="med"/>
              <a:tailEnd type="none" w="med" len="med"/>
            </a:ln>
            <a:effectLst/>
          </p:spPr>
        </p:cxnSp>
        <p:sp>
          <p:nvSpPr>
            <p:cNvPr id="677" name="ellipse_2705">
              <a:extLst>
                <a:ext uri="{FF2B5EF4-FFF2-40B4-BE49-F238E27FC236}">
                  <a16:creationId xmlns:a16="http://schemas.microsoft.com/office/drawing/2014/main" id="{C3D36D22-8CEB-B663-A605-02E9CFFED0C1}"/>
                </a:ext>
              </a:extLst>
            </p:cNvPr>
            <p:cNvSpPr/>
            <p:nvPr/>
          </p:nvSpPr>
          <p:spPr>
            <a:xfrm>
              <a:off x="3366271" y="3792368"/>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8" name="ellipse_2706">
              <a:extLst>
                <a:ext uri="{FF2B5EF4-FFF2-40B4-BE49-F238E27FC236}">
                  <a16:creationId xmlns:a16="http://schemas.microsoft.com/office/drawing/2014/main" id="{1F86BCBC-B96E-6EC5-AC9B-22A20629DF0F}"/>
                </a:ext>
              </a:extLst>
            </p:cNvPr>
            <p:cNvSpPr/>
            <p:nvPr/>
          </p:nvSpPr>
          <p:spPr>
            <a:xfrm>
              <a:off x="3429934" y="3721905"/>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9" name="ellipse_2707">
              <a:extLst>
                <a:ext uri="{FF2B5EF4-FFF2-40B4-BE49-F238E27FC236}">
                  <a16:creationId xmlns:a16="http://schemas.microsoft.com/office/drawing/2014/main" id="{0D7ED534-2755-74EA-6149-4A7E3A7E8992}"/>
                </a:ext>
              </a:extLst>
            </p:cNvPr>
            <p:cNvSpPr/>
            <p:nvPr/>
          </p:nvSpPr>
          <p:spPr>
            <a:xfrm>
              <a:off x="3543858" y="3736852"/>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0" name="ellipse_2708">
              <a:extLst>
                <a:ext uri="{FF2B5EF4-FFF2-40B4-BE49-F238E27FC236}">
                  <a16:creationId xmlns:a16="http://schemas.microsoft.com/office/drawing/2014/main" id="{01CC7294-C7B5-D1A4-A138-902105284B89}"/>
                </a:ext>
              </a:extLst>
            </p:cNvPr>
            <p:cNvSpPr/>
            <p:nvPr/>
          </p:nvSpPr>
          <p:spPr>
            <a:xfrm>
              <a:off x="3617573" y="3800909"/>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1" name="ellipse_2709">
              <a:extLst>
                <a:ext uri="{FF2B5EF4-FFF2-40B4-BE49-F238E27FC236}">
                  <a16:creationId xmlns:a16="http://schemas.microsoft.com/office/drawing/2014/main" id="{80734E48-9DE8-B4FD-D0D4-D53693BBEADF}"/>
                </a:ext>
              </a:extLst>
            </p:cNvPr>
            <p:cNvSpPr/>
            <p:nvPr/>
          </p:nvSpPr>
          <p:spPr>
            <a:xfrm>
              <a:off x="3547209" y="3879913"/>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2" name="ellipse_2710">
              <a:extLst>
                <a:ext uri="{FF2B5EF4-FFF2-40B4-BE49-F238E27FC236}">
                  <a16:creationId xmlns:a16="http://schemas.microsoft.com/office/drawing/2014/main" id="{3DB6F677-E1A0-2C7D-CADD-FB389865F633}"/>
                </a:ext>
              </a:extLst>
            </p:cNvPr>
            <p:cNvSpPr/>
            <p:nvPr/>
          </p:nvSpPr>
          <p:spPr>
            <a:xfrm>
              <a:off x="3429934" y="386069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3" name="ellipse_2711">
              <a:extLst>
                <a:ext uri="{FF2B5EF4-FFF2-40B4-BE49-F238E27FC236}">
                  <a16:creationId xmlns:a16="http://schemas.microsoft.com/office/drawing/2014/main" id="{D105DBC9-3C6D-0576-1E95-E04BFA9EB1EF}"/>
                </a:ext>
              </a:extLst>
            </p:cNvPr>
            <p:cNvSpPr/>
            <p:nvPr/>
          </p:nvSpPr>
          <p:spPr>
            <a:xfrm>
              <a:off x="3647730" y="373044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grpSp>
      <p:sp>
        <p:nvSpPr>
          <p:cNvPr id="684" name="TextBox 12226">
            <a:extLst>
              <a:ext uri="{FF2B5EF4-FFF2-40B4-BE49-F238E27FC236}">
                <a16:creationId xmlns:a16="http://schemas.microsoft.com/office/drawing/2014/main" id="{43DBD103-E22F-DA52-F0ED-122A5CA41D61}"/>
              </a:ext>
            </a:extLst>
          </p:cNvPr>
          <p:cNvSpPr txBox="1"/>
          <p:nvPr/>
        </p:nvSpPr>
        <p:spPr>
          <a:xfrm>
            <a:off x="2837002" y="3080344"/>
            <a:ext cx="336631" cy="80599"/>
          </a:xfrm>
          <a:prstGeom prst="rect">
            <a:avLst/>
          </a:prstGeom>
          <a:noFill/>
        </p:spPr>
        <p:txBody>
          <a:bodyPr wrap="none" lIns="0" tIns="0" rIns="0" bIns="0" anchor="ctr">
            <a:spAutoFit/>
          </a:bodyPr>
          <a:lstStyle/>
          <a:p>
            <a:pPr algn="ctr">
              <a:lnSpc>
                <a:spcPct val="105000"/>
              </a:lnSpc>
            </a:pPr>
            <a:r>
              <a:rPr sz="536">
                <a:solidFill>
                  <a:srgbClr val="263442"/>
                </a:solidFill>
                <a:latin typeface="Arial"/>
              </a:rPr>
              <a:t>Own graph</a:t>
            </a:r>
          </a:p>
        </p:txBody>
      </p:sp>
      <p:sp>
        <p:nvSpPr>
          <p:cNvPr id="685" name="Op | GNN">
            <a:extLst>
              <a:ext uri="{FF2B5EF4-FFF2-40B4-BE49-F238E27FC236}">
                <a16:creationId xmlns:a16="http://schemas.microsoft.com/office/drawing/2014/main" id="{98330FF3-2E5A-32C3-D33C-D78225E1943D}"/>
              </a:ext>
            </a:extLst>
          </p:cNvPr>
          <p:cNvSpPr/>
          <p:nvPr/>
        </p:nvSpPr>
        <p:spPr>
          <a:xfrm>
            <a:off x="2823379" y="3239299"/>
            <a:ext cx="363877"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GNN</a:t>
            </a:r>
          </a:p>
        </p:txBody>
      </p:sp>
      <p:sp>
        <p:nvSpPr>
          <p:cNvPr id="686" name="TextBox 12228">
            <a:extLst>
              <a:ext uri="{FF2B5EF4-FFF2-40B4-BE49-F238E27FC236}">
                <a16:creationId xmlns:a16="http://schemas.microsoft.com/office/drawing/2014/main" id="{26538413-3AE9-9872-D0A6-0AEA9E6FF809}"/>
              </a:ext>
            </a:extLst>
          </p:cNvPr>
          <p:cNvSpPr txBox="1"/>
          <p:nvPr/>
        </p:nvSpPr>
        <p:spPr>
          <a:xfrm>
            <a:off x="3036959" y="3388848"/>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687" name="Op | Graph attention">
            <a:extLst>
              <a:ext uri="{FF2B5EF4-FFF2-40B4-BE49-F238E27FC236}">
                <a16:creationId xmlns:a16="http://schemas.microsoft.com/office/drawing/2014/main" id="{5F3701CD-DCA3-D9CA-7FA3-D737E8718A60}"/>
              </a:ext>
            </a:extLst>
          </p:cNvPr>
          <p:cNvSpPr/>
          <p:nvPr/>
        </p:nvSpPr>
        <p:spPr>
          <a:xfrm>
            <a:off x="2696813" y="3500341"/>
            <a:ext cx="617009"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Graph</a:t>
            </a:r>
            <a:r>
              <a:rPr sz="580" dirty="0">
                <a:solidFill>
                  <a:srgbClr val="263442"/>
                </a:solidFill>
                <a:latin typeface="Arial"/>
              </a:rPr>
              <a:t> </a:t>
            </a:r>
            <a:r>
              <a:rPr sz="588" dirty="0">
                <a:solidFill>
                  <a:srgbClr val="263442"/>
                </a:solidFill>
                <a:latin typeface="Arial"/>
              </a:rPr>
              <a:t>attention</a:t>
            </a:r>
          </a:p>
        </p:txBody>
      </p:sp>
      <p:sp>
        <p:nvSpPr>
          <p:cNvPr id="688" name="Op | SMI-TED">
            <a:extLst>
              <a:ext uri="{FF2B5EF4-FFF2-40B4-BE49-F238E27FC236}">
                <a16:creationId xmlns:a16="http://schemas.microsoft.com/office/drawing/2014/main" id="{9F250B16-9768-CC2C-86AF-59769C8EEC4C}"/>
              </a:ext>
            </a:extLst>
          </p:cNvPr>
          <p:cNvSpPr/>
          <p:nvPr/>
        </p:nvSpPr>
        <p:spPr>
          <a:xfrm>
            <a:off x="3459362" y="2971538"/>
            <a:ext cx="427160"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SMI-TED</a:t>
            </a:r>
          </a:p>
        </p:txBody>
      </p:sp>
      <p:sp>
        <p:nvSpPr>
          <p:cNvPr id="689" name="Language vector v_k_1">
            <a:extLst>
              <a:ext uri="{FF2B5EF4-FFF2-40B4-BE49-F238E27FC236}">
                <a16:creationId xmlns:a16="http://schemas.microsoft.com/office/drawing/2014/main" id="{E695888D-D925-5392-2451-D7757F2B6BC7}"/>
              </a:ext>
            </a:extLst>
          </p:cNvPr>
          <p:cNvSpPr/>
          <p:nvPr/>
        </p:nvSpPr>
        <p:spPr>
          <a:xfrm>
            <a:off x="3527403"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0" name="Language vector v_k_2">
            <a:extLst>
              <a:ext uri="{FF2B5EF4-FFF2-40B4-BE49-F238E27FC236}">
                <a16:creationId xmlns:a16="http://schemas.microsoft.com/office/drawing/2014/main" id="{914284BD-BAB8-4AEA-A1F1-E7FC853BC87F}"/>
              </a:ext>
            </a:extLst>
          </p:cNvPr>
          <p:cNvSpPr/>
          <p:nvPr/>
        </p:nvSpPr>
        <p:spPr>
          <a:xfrm>
            <a:off x="3568650"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1" name="Language vector v_k_3">
            <a:extLst>
              <a:ext uri="{FF2B5EF4-FFF2-40B4-BE49-F238E27FC236}">
                <a16:creationId xmlns:a16="http://schemas.microsoft.com/office/drawing/2014/main" id="{A224CED9-3025-4474-CF80-E118B0ACA7AB}"/>
              </a:ext>
            </a:extLst>
          </p:cNvPr>
          <p:cNvSpPr/>
          <p:nvPr/>
        </p:nvSpPr>
        <p:spPr>
          <a:xfrm>
            <a:off x="3609897"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2" name="Language vector v_k_4">
            <a:extLst>
              <a:ext uri="{FF2B5EF4-FFF2-40B4-BE49-F238E27FC236}">
                <a16:creationId xmlns:a16="http://schemas.microsoft.com/office/drawing/2014/main" id="{3641CBF3-C5A5-2DC2-88CA-B3F2C816508D}"/>
              </a:ext>
            </a:extLst>
          </p:cNvPr>
          <p:cNvSpPr/>
          <p:nvPr/>
        </p:nvSpPr>
        <p:spPr>
          <a:xfrm>
            <a:off x="3651144" y="3547013"/>
            <a:ext cx="37291" cy="56955"/>
          </a:xfrm>
          <a:prstGeom prst="rect">
            <a:avLst/>
          </a:prstGeom>
          <a:solidFill>
            <a:srgbClr val="CBE7D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3" name="Language vector v_k_5">
            <a:extLst>
              <a:ext uri="{FF2B5EF4-FFF2-40B4-BE49-F238E27FC236}">
                <a16:creationId xmlns:a16="http://schemas.microsoft.com/office/drawing/2014/main" id="{B6BA4357-39F7-598C-72FA-2FC00B25A10F}"/>
              </a:ext>
            </a:extLst>
          </p:cNvPr>
          <p:cNvSpPr/>
          <p:nvPr/>
        </p:nvSpPr>
        <p:spPr>
          <a:xfrm>
            <a:off x="3692391"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4" name="Language vector v_k_6">
            <a:extLst>
              <a:ext uri="{FF2B5EF4-FFF2-40B4-BE49-F238E27FC236}">
                <a16:creationId xmlns:a16="http://schemas.microsoft.com/office/drawing/2014/main" id="{14F9C08B-08C8-5CC8-21F6-EC42430BFA81}"/>
              </a:ext>
            </a:extLst>
          </p:cNvPr>
          <p:cNvSpPr/>
          <p:nvPr/>
        </p:nvSpPr>
        <p:spPr>
          <a:xfrm>
            <a:off x="3733638"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5" name="Language vector v_k_7">
            <a:extLst>
              <a:ext uri="{FF2B5EF4-FFF2-40B4-BE49-F238E27FC236}">
                <a16:creationId xmlns:a16="http://schemas.microsoft.com/office/drawing/2014/main" id="{52E0E1B7-31F4-244C-BA32-494F415D5F2F}"/>
              </a:ext>
            </a:extLst>
          </p:cNvPr>
          <p:cNvSpPr/>
          <p:nvPr/>
        </p:nvSpPr>
        <p:spPr>
          <a:xfrm>
            <a:off x="3774885"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6" name="TextBox 12239">
            <a:extLst>
              <a:ext uri="{FF2B5EF4-FFF2-40B4-BE49-F238E27FC236}">
                <a16:creationId xmlns:a16="http://schemas.microsoft.com/office/drawing/2014/main" id="{DE6BD61F-48C0-C267-E36F-0AC7BC24100D}"/>
              </a:ext>
            </a:extLst>
          </p:cNvPr>
          <p:cNvSpPr txBox="1"/>
          <p:nvPr/>
        </p:nvSpPr>
        <p:spPr>
          <a:xfrm>
            <a:off x="3353374" y="3475189"/>
            <a:ext cx="126566" cy="81946"/>
          </a:xfrm>
          <a:prstGeom prst="rect">
            <a:avLst/>
          </a:prstGeom>
          <a:noFill/>
        </p:spPr>
        <p:txBody>
          <a:bodyPr wrap="square" lIns="0" tIns="0" rIns="0" bIns="0" anchor="ctr">
            <a:spAutoFit/>
          </a:bodyPr>
          <a:lstStyle/>
          <a:p>
            <a:pPr algn="ctr">
              <a:lnSpc>
                <a:spcPct val="105000"/>
              </a:lnSpc>
            </a:pPr>
            <a:r>
              <a:rPr sz="545" dirty="0">
                <a:solidFill>
                  <a:srgbClr val="263442"/>
                </a:solidFill>
                <a:latin typeface="Arial"/>
              </a:rPr>
              <a:t>Q</a:t>
            </a:r>
          </a:p>
        </p:txBody>
      </p:sp>
      <p:sp>
        <p:nvSpPr>
          <p:cNvPr id="697" name="TextBox 12240">
            <a:extLst>
              <a:ext uri="{FF2B5EF4-FFF2-40B4-BE49-F238E27FC236}">
                <a16:creationId xmlns:a16="http://schemas.microsoft.com/office/drawing/2014/main" id="{2ACBC05C-C556-BA36-3DA9-0D37D9382C06}"/>
              </a:ext>
            </a:extLst>
          </p:cNvPr>
          <p:cNvSpPr txBox="1"/>
          <p:nvPr/>
        </p:nvSpPr>
        <p:spPr>
          <a:xfrm>
            <a:off x="3859638" y="3475189"/>
            <a:ext cx="126566" cy="81946"/>
          </a:xfrm>
          <a:prstGeom prst="rect">
            <a:avLst/>
          </a:prstGeom>
          <a:noFill/>
        </p:spPr>
        <p:txBody>
          <a:bodyPr wrap="square" lIns="0" tIns="0" rIns="0" bIns="0" anchor="ctr">
            <a:spAutoFit/>
          </a:bodyPr>
          <a:lstStyle/>
          <a:p>
            <a:pPr algn="ctr">
              <a:lnSpc>
                <a:spcPct val="105000"/>
              </a:lnSpc>
            </a:pPr>
            <a:r>
              <a:rPr sz="545">
                <a:solidFill>
                  <a:srgbClr val="263442"/>
                </a:solidFill>
                <a:latin typeface="Arial"/>
              </a:rPr>
              <a:t>Q</a:t>
            </a:r>
          </a:p>
        </p:txBody>
      </p:sp>
      <p:sp>
        <p:nvSpPr>
          <p:cNvPr id="698" name="TextBox 12241">
            <a:extLst>
              <a:ext uri="{FF2B5EF4-FFF2-40B4-BE49-F238E27FC236}">
                <a16:creationId xmlns:a16="http://schemas.microsoft.com/office/drawing/2014/main" id="{0B3A68EF-7CF9-A2EB-24B2-085C5BF1F71F}"/>
              </a:ext>
            </a:extLst>
          </p:cNvPr>
          <p:cNvSpPr txBox="1"/>
          <p:nvPr/>
        </p:nvSpPr>
        <p:spPr>
          <a:xfrm>
            <a:off x="4373812" y="2542416"/>
            <a:ext cx="379698" cy="151836"/>
          </a:xfrm>
          <a:prstGeom prst="rect">
            <a:avLst/>
          </a:prstGeom>
          <a:noFill/>
        </p:spPr>
        <p:txBody>
          <a:bodyPr wrap="square" lIns="0" tIns="0" rIns="0" bIns="0" anchor="ctr">
            <a:spAutoFit/>
          </a:bodyPr>
          <a:lstStyle/>
          <a:p>
            <a:pPr algn="l">
              <a:lnSpc>
                <a:spcPct val="95000"/>
              </a:lnSpc>
            </a:pPr>
            <a:r>
              <a:rPr lang="en-US" sz="519" dirty="0">
                <a:solidFill>
                  <a:srgbClr val="263442"/>
                </a:solidFill>
                <a:latin typeface="Arial"/>
              </a:rPr>
              <a:t>  </a:t>
            </a:r>
            <a:r>
              <a:rPr sz="519" dirty="0">
                <a:solidFill>
                  <a:srgbClr val="263442"/>
                </a:solidFill>
                <a:latin typeface="Arial"/>
              </a:rPr>
              <a:t>Other</a:t>
            </a:r>
          </a:p>
          <a:p>
            <a:pPr algn="l">
              <a:lnSpc>
                <a:spcPct val="95000"/>
              </a:lnSpc>
            </a:pPr>
            <a:r>
              <a:rPr sz="519" dirty="0">
                <a:solidFill>
                  <a:srgbClr val="263442"/>
                </a:solidFill>
                <a:latin typeface="Arial"/>
              </a:rPr>
              <a:t>identities</a:t>
            </a:r>
          </a:p>
        </p:txBody>
      </p:sp>
      <p:sp>
        <p:nvSpPr>
          <p:cNvPr id="699" name="Op | SMI-TED">
            <a:extLst>
              <a:ext uri="{FF2B5EF4-FFF2-40B4-BE49-F238E27FC236}">
                <a16:creationId xmlns:a16="http://schemas.microsoft.com/office/drawing/2014/main" id="{6691CF15-5DAD-F305-5973-B1ACEFFF5CBF}"/>
              </a:ext>
            </a:extLst>
          </p:cNvPr>
          <p:cNvSpPr/>
          <p:nvPr/>
        </p:nvSpPr>
        <p:spPr>
          <a:xfrm>
            <a:off x="4140927" y="2967199"/>
            <a:ext cx="427160"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SMI-TED</a:t>
            </a:r>
          </a:p>
        </p:txBody>
      </p:sp>
      <p:sp>
        <p:nvSpPr>
          <p:cNvPr id="700" name="TextBox 12244">
            <a:extLst>
              <a:ext uri="{FF2B5EF4-FFF2-40B4-BE49-F238E27FC236}">
                <a16:creationId xmlns:a16="http://schemas.microsoft.com/office/drawing/2014/main" id="{13C55E5C-99C8-F46D-3353-FED4827206EC}"/>
              </a:ext>
            </a:extLst>
          </p:cNvPr>
          <p:cNvSpPr txBox="1"/>
          <p:nvPr/>
        </p:nvSpPr>
        <p:spPr>
          <a:xfrm>
            <a:off x="4128591" y="3197919"/>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1</a:t>
            </a:r>
          </a:p>
        </p:txBody>
      </p:sp>
      <p:sp>
        <p:nvSpPr>
          <p:cNvPr id="701" name="Context bar 1_1">
            <a:extLst>
              <a:ext uri="{FF2B5EF4-FFF2-40B4-BE49-F238E27FC236}">
                <a16:creationId xmlns:a16="http://schemas.microsoft.com/office/drawing/2014/main" id="{F675EB2C-E3F4-CF25-F2F9-B217A0C64998}"/>
              </a:ext>
            </a:extLst>
          </p:cNvPr>
          <p:cNvSpPr/>
          <p:nvPr/>
        </p:nvSpPr>
        <p:spPr>
          <a:xfrm>
            <a:off x="4223515"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2" name="Context bar 1_2">
            <a:extLst>
              <a:ext uri="{FF2B5EF4-FFF2-40B4-BE49-F238E27FC236}">
                <a16:creationId xmlns:a16="http://schemas.microsoft.com/office/drawing/2014/main" id="{7015B7C2-EE7A-8CD3-BF9A-C8F6C295F2D3}"/>
              </a:ext>
            </a:extLst>
          </p:cNvPr>
          <p:cNvSpPr/>
          <p:nvPr/>
        </p:nvSpPr>
        <p:spPr>
          <a:xfrm>
            <a:off x="4271637"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3" name="Context bar 1_3">
            <a:extLst>
              <a:ext uri="{FF2B5EF4-FFF2-40B4-BE49-F238E27FC236}">
                <a16:creationId xmlns:a16="http://schemas.microsoft.com/office/drawing/2014/main" id="{0283D963-CC89-9552-BBFA-44417F9A5810}"/>
              </a:ext>
            </a:extLst>
          </p:cNvPr>
          <p:cNvSpPr/>
          <p:nvPr/>
        </p:nvSpPr>
        <p:spPr>
          <a:xfrm>
            <a:off x="4319758" y="3223887"/>
            <a:ext cx="44166" cy="34806"/>
          </a:xfrm>
          <a:prstGeom prst="rect">
            <a:avLst/>
          </a:prstGeom>
          <a:solidFill>
            <a:srgbClr val="BFD2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4" name="Context bar 1_4">
            <a:extLst>
              <a:ext uri="{FF2B5EF4-FFF2-40B4-BE49-F238E27FC236}">
                <a16:creationId xmlns:a16="http://schemas.microsoft.com/office/drawing/2014/main" id="{DFE762FA-D62F-609E-23C6-B16577CF789A}"/>
              </a:ext>
            </a:extLst>
          </p:cNvPr>
          <p:cNvSpPr/>
          <p:nvPr/>
        </p:nvSpPr>
        <p:spPr>
          <a:xfrm>
            <a:off x="4367880" y="3223887"/>
            <a:ext cx="44166" cy="34806"/>
          </a:xfrm>
          <a:prstGeom prst="rect">
            <a:avLst/>
          </a:prstGeom>
          <a:solidFill>
            <a:srgbClr val="7397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5" name="Context bar 1_5">
            <a:extLst>
              <a:ext uri="{FF2B5EF4-FFF2-40B4-BE49-F238E27FC236}">
                <a16:creationId xmlns:a16="http://schemas.microsoft.com/office/drawing/2014/main" id="{8A2B1ECE-222F-713D-5115-87805A38C6E9}"/>
              </a:ext>
            </a:extLst>
          </p:cNvPr>
          <p:cNvSpPr/>
          <p:nvPr/>
        </p:nvSpPr>
        <p:spPr>
          <a:xfrm>
            <a:off x="4416001"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6" name="Context bar 1_6">
            <a:extLst>
              <a:ext uri="{FF2B5EF4-FFF2-40B4-BE49-F238E27FC236}">
                <a16:creationId xmlns:a16="http://schemas.microsoft.com/office/drawing/2014/main" id="{F9202696-646F-1763-9139-E44B52B50C5F}"/>
              </a:ext>
            </a:extLst>
          </p:cNvPr>
          <p:cNvSpPr/>
          <p:nvPr/>
        </p:nvSpPr>
        <p:spPr>
          <a:xfrm>
            <a:off x="4464123"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7" name="TextBox 12251">
            <a:extLst>
              <a:ext uri="{FF2B5EF4-FFF2-40B4-BE49-F238E27FC236}">
                <a16:creationId xmlns:a16="http://schemas.microsoft.com/office/drawing/2014/main" id="{7BC06DFD-B767-BA41-2B05-2B0A38358B92}"/>
              </a:ext>
            </a:extLst>
          </p:cNvPr>
          <p:cNvSpPr txBox="1"/>
          <p:nvPr/>
        </p:nvSpPr>
        <p:spPr>
          <a:xfrm>
            <a:off x="4128591" y="3270220"/>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2</a:t>
            </a:r>
          </a:p>
        </p:txBody>
      </p:sp>
      <p:sp>
        <p:nvSpPr>
          <p:cNvPr id="708" name="Context bar 2_1">
            <a:extLst>
              <a:ext uri="{FF2B5EF4-FFF2-40B4-BE49-F238E27FC236}">
                <a16:creationId xmlns:a16="http://schemas.microsoft.com/office/drawing/2014/main" id="{520858ED-2877-9676-9DDD-53EAA8E37558}"/>
              </a:ext>
            </a:extLst>
          </p:cNvPr>
          <p:cNvSpPr/>
          <p:nvPr/>
        </p:nvSpPr>
        <p:spPr>
          <a:xfrm>
            <a:off x="4223515"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9" name="Context bar 2_2">
            <a:extLst>
              <a:ext uri="{FF2B5EF4-FFF2-40B4-BE49-F238E27FC236}">
                <a16:creationId xmlns:a16="http://schemas.microsoft.com/office/drawing/2014/main" id="{50A3D4F9-D9FE-CC8B-21E7-D32E326D8875}"/>
              </a:ext>
            </a:extLst>
          </p:cNvPr>
          <p:cNvSpPr/>
          <p:nvPr/>
        </p:nvSpPr>
        <p:spPr>
          <a:xfrm>
            <a:off x="4271637"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0" name="Context bar 2_3">
            <a:extLst>
              <a:ext uri="{FF2B5EF4-FFF2-40B4-BE49-F238E27FC236}">
                <a16:creationId xmlns:a16="http://schemas.microsoft.com/office/drawing/2014/main" id="{4471AA3C-5A9C-CEE5-0418-953EC2227441}"/>
              </a:ext>
            </a:extLst>
          </p:cNvPr>
          <p:cNvSpPr/>
          <p:nvPr/>
        </p:nvSpPr>
        <p:spPr>
          <a:xfrm>
            <a:off x="4319758" y="3286664"/>
            <a:ext cx="44166" cy="34806"/>
          </a:xfrm>
          <a:prstGeom prst="rect">
            <a:avLst/>
          </a:prstGeom>
          <a:solidFill>
            <a:srgbClr val="E0CC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1" name="Context bar 2_4">
            <a:extLst>
              <a:ext uri="{FF2B5EF4-FFF2-40B4-BE49-F238E27FC236}">
                <a16:creationId xmlns:a16="http://schemas.microsoft.com/office/drawing/2014/main" id="{B321BB44-18FA-E7F3-2924-BC94493FEA4A}"/>
              </a:ext>
            </a:extLst>
          </p:cNvPr>
          <p:cNvSpPr/>
          <p:nvPr/>
        </p:nvSpPr>
        <p:spPr>
          <a:xfrm>
            <a:off x="4367880" y="3286664"/>
            <a:ext cx="44166" cy="34806"/>
          </a:xfrm>
          <a:prstGeom prst="rect">
            <a:avLst/>
          </a:prstGeom>
          <a:solidFill>
            <a:srgbClr val="B58E5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2" name="Context bar 2_5">
            <a:extLst>
              <a:ext uri="{FF2B5EF4-FFF2-40B4-BE49-F238E27FC236}">
                <a16:creationId xmlns:a16="http://schemas.microsoft.com/office/drawing/2014/main" id="{BF58521A-8C41-BE24-9704-AEAF70385316}"/>
              </a:ext>
            </a:extLst>
          </p:cNvPr>
          <p:cNvSpPr/>
          <p:nvPr/>
        </p:nvSpPr>
        <p:spPr>
          <a:xfrm>
            <a:off x="4416001"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3" name="Context bar 2_6">
            <a:extLst>
              <a:ext uri="{FF2B5EF4-FFF2-40B4-BE49-F238E27FC236}">
                <a16:creationId xmlns:a16="http://schemas.microsoft.com/office/drawing/2014/main" id="{4283B810-9FFF-25F8-1960-4F272603052B}"/>
              </a:ext>
            </a:extLst>
          </p:cNvPr>
          <p:cNvSpPr/>
          <p:nvPr/>
        </p:nvSpPr>
        <p:spPr>
          <a:xfrm>
            <a:off x="4464123"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4" name="TextBox 12258">
            <a:extLst>
              <a:ext uri="{FF2B5EF4-FFF2-40B4-BE49-F238E27FC236}">
                <a16:creationId xmlns:a16="http://schemas.microsoft.com/office/drawing/2014/main" id="{D4C78125-5C89-7F13-017C-2E1C11AE7FDD}"/>
              </a:ext>
            </a:extLst>
          </p:cNvPr>
          <p:cNvSpPr txBox="1"/>
          <p:nvPr/>
        </p:nvSpPr>
        <p:spPr>
          <a:xfrm>
            <a:off x="4128591" y="3342522"/>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K</a:t>
            </a:r>
          </a:p>
        </p:txBody>
      </p:sp>
      <p:sp>
        <p:nvSpPr>
          <p:cNvPr id="715" name="Context bar K_1">
            <a:extLst>
              <a:ext uri="{FF2B5EF4-FFF2-40B4-BE49-F238E27FC236}">
                <a16:creationId xmlns:a16="http://schemas.microsoft.com/office/drawing/2014/main" id="{6C63634F-2307-320B-8E95-2B6ADA84F565}"/>
              </a:ext>
            </a:extLst>
          </p:cNvPr>
          <p:cNvSpPr/>
          <p:nvPr/>
        </p:nvSpPr>
        <p:spPr>
          <a:xfrm>
            <a:off x="4223515"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6" name="Context bar K_2">
            <a:extLst>
              <a:ext uri="{FF2B5EF4-FFF2-40B4-BE49-F238E27FC236}">
                <a16:creationId xmlns:a16="http://schemas.microsoft.com/office/drawing/2014/main" id="{582A4CF2-1B99-BCF5-A8D3-EE93D5F5B81F}"/>
              </a:ext>
            </a:extLst>
          </p:cNvPr>
          <p:cNvSpPr/>
          <p:nvPr/>
        </p:nvSpPr>
        <p:spPr>
          <a:xfrm>
            <a:off x="4271637"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7" name="Context bar K_3">
            <a:extLst>
              <a:ext uri="{FF2B5EF4-FFF2-40B4-BE49-F238E27FC236}">
                <a16:creationId xmlns:a16="http://schemas.microsoft.com/office/drawing/2014/main" id="{607B41B1-A111-8D93-E207-5DF6221B54D2}"/>
              </a:ext>
            </a:extLst>
          </p:cNvPr>
          <p:cNvSpPr/>
          <p:nvPr/>
        </p:nvSpPr>
        <p:spPr>
          <a:xfrm>
            <a:off x="4319758" y="3349440"/>
            <a:ext cx="44166" cy="34806"/>
          </a:xfrm>
          <a:prstGeom prst="rect">
            <a:avLst/>
          </a:prstGeom>
          <a:solidFill>
            <a:srgbClr val="CBC2E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8" name="Context bar K_4">
            <a:extLst>
              <a:ext uri="{FF2B5EF4-FFF2-40B4-BE49-F238E27FC236}">
                <a16:creationId xmlns:a16="http://schemas.microsoft.com/office/drawing/2014/main" id="{9539C2E7-004F-E86E-852E-98E80C399402}"/>
              </a:ext>
            </a:extLst>
          </p:cNvPr>
          <p:cNvSpPr/>
          <p:nvPr/>
        </p:nvSpPr>
        <p:spPr>
          <a:xfrm>
            <a:off x="4367880" y="3349440"/>
            <a:ext cx="44166" cy="34806"/>
          </a:xfrm>
          <a:prstGeom prst="rect">
            <a:avLst/>
          </a:prstGeom>
          <a:solidFill>
            <a:srgbClr val="8E7DB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9" name="Context bar K_5">
            <a:extLst>
              <a:ext uri="{FF2B5EF4-FFF2-40B4-BE49-F238E27FC236}">
                <a16:creationId xmlns:a16="http://schemas.microsoft.com/office/drawing/2014/main" id="{2DE0B959-537B-893B-9987-81BBF3647FFD}"/>
              </a:ext>
            </a:extLst>
          </p:cNvPr>
          <p:cNvSpPr/>
          <p:nvPr/>
        </p:nvSpPr>
        <p:spPr>
          <a:xfrm>
            <a:off x="4416001"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0" name="Context bar K_6">
            <a:extLst>
              <a:ext uri="{FF2B5EF4-FFF2-40B4-BE49-F238E27FC236}">
                <a16:creationId xmlns:a16="http://schemas.microsoft.com/office/drawing/2014/main" id="{147CE38B-269C-4BBA-77C6-2810C1D11F1C}"/>
              </a:ext>
            </a:extLst>
          </p:cNvPr>
          <p:cNvSpPr/>
          <p:nvPr/>
        </p:nvSpPr>
        <p:spPr>
          <a:xfrm>
            <a:off x="4464123"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1" name="TextBox 12265">
            <a:extLst>
              <a:ext uri="{FF2B5EF4-FFF2-40B4-BE49-F238E27FC236}">
                <a16:creationId xmlns:a16="http://schemas.microsoft.com/office/drawing/2014/main" id="{979CEBC9-AC70-1276-123A-637171F58084}"/>
              </a:ext>
            </a:extLst>
          </p:cNvPr>
          <p:cNvSpPr txBox="1"/>
          <p:nvPr/>
        </p:nvSpPr>
        <p:spPr>
          <a:xfrm>
            <a:off x="4381723" y="3400472"/>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722" name="Op | Context attention">
            <a:extLst>
              <a:ext uri="{FF2B5EF4-FFF2-40B4-BE49-F238E27FC236}">
                <a16:creationId xmlns:a16="http://schemas.microsoft.com/office/drawing/2014/main" id="{640CE564-549E-0D15-B50A-E392C9DB6304}"/>
              </a:ext>
            </a:extLst>
          </p:cNvPr>
          <p:cNvSpPr/>
          <p:nvPr/>
        </p:nvSpPr>
        <p:spPr>
          <a:xfrm>
            <a:off x="4025756" y="3500341"/>
            <a:ext cx="648651"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Context</a:t>
            </a:r>
            <a:r>
              <a:rPr sz="580" dirty="0">
                <a:solidFill>
                  <a:srgbClr val="263442"/>
                </a:solidFill>
                <a:latin typeface="Arial"/>
              </a:rPr>
              <a:t> attention</a:t>
            </a:r>
          </a:p>
        </p:txBody>
      </p:sp>
      <p:sp>
        <p:nvSpPr>
          <p:cNvPr id="723" name="Op | Fusion">
            <a:extLst>
              <a:ext uri="{FF2B5EF4-FFF2-40B4-BE49-F238E27FC236}">
                <a16:creationId xmlns:a16="http://schemas.microsoft.com/office/drawing/2014/main" id="{FF74A918-BF09-C9F6-6A9B-D421CF97BC33}"/>
              </a:ext>
            </a:extLst>
          </p:cNvPr>
          <p:cNvSpPr/>
          <p:nvPr/>
        </p:nvSpPr>
        <p:spPr>
          <a:xfrm>
            <a:off x="3479940" y="3733697"/>
            <a:ext cx="379698" cy="142387"/>
          </a:xfrm>
          <a:prstGeom prst="roundRect">
            <a:avLst>
              <a:gd name="adj" fmla="val 18000"/>
            </a:avLst>
          </a:prstGeom>
          <a:solidFill>
            <a:srgbClr val="EDE7F5"/>
          </a:solidFill>
          <a:ln w="7290">
            <a:solidFill>
              <a:srgbClr val="B8A9D9"/>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Fusion</a:t>
            </a:r>
          </a:p>
        </p:txBody>
      </p:sp>
      <p:sp>
        <p:nvSpPr>
          <p:cNvPr id="724" name="g_k bar_1">
            <a:extLst>
              <a:ext uri="{FF2B5EF4-FFF2-40B4-BE49-F238E27FC236}">
                <a16:creationId xmlns:a16="http://schemas.microsoft.com/office/drawing/2014/main" id="{CB9A6A2F-14EE-2004-CB53-FCE391ACED69}"/>
              </a:ext>
            </a:extLst>
          </p:cNvPr>
          <p:cNvSpPr/>
          <p:nvPr/>
        </p:nvSpPr>
        <p:spPr>
          <a:xfrm>
            <a:off x="3503672"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5" name="g_k bar_2">
            <a:extLst>
              <a:ext uri="{FF2B5EF4-FFF2-40B4-BE49-F238E27FC236}">
                <a16:creationId xmlns:a16="http://schemas.microsoft.com/office/drawing/2014/main" id="{E39FC69E-11ED-3FA2-32B9-5945059F2213}"/>
              </a:ext>
            </a:extLst>
          </p:cNvPr>
          <p:cNvSpPr/>
          <p:nvPr/>
        </p:nvSpPr>
        <p:spPr>
          <a:xfrm>
            <a:off x="3551699"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6" name="g_k bar_3">
            <a:extLst>
              <a:ext uri="{FF2B5EF4-FFF2-40B4-BE49-F238E27FC236}">
                <a16:creationId xmlns:a16="http://schemas.microsoft.com/office/drawing/2014/main" id="{543C1079-397B-91D4-0D56-9824953F1A51}"/>
              </a:ext>
            </a:extLst>
          </p:cNvPr>
          <p:cNvSpPr/>
          <p:nvPr/>
        </p:nvSpPr>
        <p:spPr>
          <a:xfrm>
            <a:off x="3599726"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7" name="g_k bar_4">
            <a:extLst>
              <a:ext uri="{FF2B5EF4-FFF2-40B4-BE49-F238E27FC236}">
                <a16:creationId xmlns:a16="http://schemas.microsoft.com/office/drawing/2014/main" id="{72768CF4-9EFB-DF24-7C89-6D351C730BA5}"/>
              </a:ext>
            </a:extLst>
          </p:cNvPr>
          <p:cNvSpPr/>
          <p:nvPr/>
        </p:nvSpPr>
        <p:spPr>
          <a:xfrm>
            <a:off x="3647753" y="3989994"/>
            <a:ext cx="44072" cy="56955"/>
          </a:xfrm>
          <a:prstGeom prst="rect">
            <a:avLst/>
          </a:prstGeom>
          <a:solidFill>
            <a:srgbClr val="68AB9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8" name="g_k bar_5">
            <a:extLst>
              <a:ext uri="{FF2B5EF4-FFF2-40B4-BE49-F238E27FC236}">
                <a16:creationId xmlns:a16="http://schemas.microsoft.com/office/drawing/2014/main" id="{4025AE17-AFDD-1F7D-9368-8E976FBC9D73}"/>
              </a:ext>
            </a:extLst>
          </p:cNvPr>
          <p:cNvSpPr/>
          <p:nvPr/>
        </p:nvSpPr>
        <p:spPr>
          <a:xfrm>
            <a:off x="3695781"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9" name="g_k bar_6">
            <a:extLst>
              <a:ext uri="{FF2B5EF4-FFF2-40B4-BE49-F238E27FC236}">
                <a16:creationId xmlns:a16="http://schemas.microsoft.com/office/drawing/2014/main" id="{894C2CFF-A654-8C7B-2480-AC98400CE487}"/>
              </a:ext>
            </a:extLst>
          </p:cNvPr>
          <p:cNvSpPr/>
          <p:nvPr/>
        </p:nvSpPr>
        <p:spPr>
          <a:xfrm>
            <a:off x="3743808"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0" name="g_k bar_7">
            <a:extLst>
              <a:ext uri="{FF2B5EF4-FFF2-40B4-BE49-F238E27FC236}">
                <a16:creationId xmlns:a16="http://schemas.microsoft.com/office/drawing/2014/main" id="{DC10EA75-05BB-E415-682D-FAFCD65B7377}"/>
              </a:ext>
            </a:extLst>
          </p:cNvPr>
          <p:cNvSpPr/>
          <p:nvPr/>
        </p:nvSpPr>
        <p:spPr>
          <a:xfrm>
            <a:off x="3791835"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1" name="Math | g_k^">
            <a:extLst>
              <a:ext uri="{FF2B5EF4-FFF2-40B4-BE49-F238E27FC236}">
                <a16:creationId xmlns:a16="http://schemas.microsoft.com/office/drawing/2014/main" id="{45321F2B-F3FA-58E1-92FE-B69A1AB20949}"/>
              </a:ext>
            </a:extLst>
          </p:cNvPr>
          <p:cNvSpPr txBox="1"/>
          <p:nvPr/>
        </p:nvSpPr>
        <p:spPr>
          <a:xfrm>
            <a:off x="3872532" y="3947306"/>
            <a:ext cx="84960" cy="126509"/>
          </a:xfrm>
          <a:prstGeom prst="rect">
            <a:avLst/>
          </a:prstGeom>
          <a:noFill/>
        </p:spPr>
        <p:txBody>
          <a:bodyPr wrap="none" lIns="0" tIns="0" rIns="0" bIns="0" anchor="ctr">
            <a:spAutoFit/>
          </a:bodyPr>
          <a:lstStyle/>
          <a:p>
            <a:pPr algn="ctr"/>
            <a:r>
              <a:rPr sz="855" i="1">
                <a:solidFill>
                  <a:srgbClr val="263442"/>
                </a:solidFill>
                <a:latin typeface="Times New Roman"/>
              </a:rPr>
              <a:t>g</a:t>
            </a:r>
            <a:r>
              <a:rPr sz="780" i="1" baseline="-28000">
                <a:solidFill>
                  <a:srgbClr val="263442"/>
                </a:solidFill>
                <a:latin typeface="Times New Roman"/>
              </a:rPr>
              <a:t>k</a:t>
            </a:r>
          </a:p>
        </p:txBody>
      </p:sp>
      <p:sp>
        <p:nvSpPr>
          <p:cNvPr id="732" name="Op | Cosine score">
            <a:extLst>
              <a:ext uri="{FF2B5EF4-FFF2-40B4-BE49-F238E27FC236}">
                <a16:creationId xmlns:a16="http://schemas.microsoft.com/office/drawing/2014/main" id="{9B88858F-88C1-DA3F-1992-E9C76D0D80AF}"/>
              </a:ext>
            </a:extLst>
          </p:cNvPr>
          <p:cNvSpPr/>
          <p:nvPr/>
        </p:nvSpPr>
        <p:spPr>
          <a:xfrm>
            <a:off x="3279920" y="4162465"/>
            <a:ext cx="569547"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Cosine score</a:t>
            </a:r>
          </a:p>
        </p:txBody>
      </p:sp>
      <p:sp>
        <p:nvSpPr>
          <p:cNvPr id="733" name="TextBox 12277">
            <a:extLst>
              <a:ext uri="{FF2B5EF4-FFF2-40B4-BE49-F238E27FC236}">
                <a16:creationId xmlns:a16="http://schemas.microsoft.com/office/drawing/2014/main" id="{7D6970C3-E7E9-652B-644D-A057CB503545}"/>
              </a:ext>
            </a:extLst>
          </p:cNvPr>
          <p:cNvSpPr txBox="1"/>
          <p:nvPr/>
        </p:nvSpPr>
        <p:spPr>
          <a:xfrm>
            <a:off x="3275392" y="4326634"/>
            <a:ext cx="585097" cy="79445"/>
          </a:xfrm>
          <a:prstGeom prst="rect">
            <a:avLst/>
          </a:prstGeom>
          <a:noFill/>
        </p:spPr>
        <p:txBody>
          <a:bodyPr wrap="none" lIns="0" tIns="0" rIns="0" bIns="0" anchor="ctr">
            <a:spAutoFit/>
          </a:bodyPr>
          <a:lstStyle/>
          <a:p>
            <a:pPr algn="ctr">
              <a:lnSpc>
                <a:spcPct val="105000"/>
              </a:lnSpc>
            </a:pPr>
            <a:r>
              <a:rPr sz="528" dirty="0">
                <a:solidFill>
                  <a:srgbClr val="263442"/>
                </a:solidFill>
                <a:latin typeface="Arial"/>
              </a:rPr>
              <a:t>Learned projections</a:t>
            </a:r>
          </a:p>
        </p:txBody>
      </p:sp>
      <p:sp>
        <p:nvSpPr>
          <p:cNvPr id="734" name="Math | s_j,k^">
            <a:extLst>
              <a:ext uri="{FF2B5EF4-FFF2-40B4-BE49-F238E27FC236}">
                <a16:creationId xmlns:a16="http://schemas.microsoft.com/office/drawing/2014/main" id="{BD0A37AE-0CF6-77DD-8048-3FF0945F4158}"/>
              </a:ext>
            </a:extLst>
          </p:cNvPr>
          <p:cNvSpPr txBox="1"/>
          <p:nvPr/>
        </p:nvSpPr>
        <p:spPr>
          <a:xfrm>
            <a:off x="3930163" y="4086560"/>
            <a:ext cx="104196" cy="117083"/>
          </a:xfrm>
          <a:prstGeom prst="rect">
            <a:avLst/>
          </a:prstGeom>
          <a:noFill/>
        </p:spPr>
        <p:txBody>
          <a:bodyPr wrap="none" lIns="0" tIns="0" rIns="0" bIns="0" anchor="ctr">
            <a:spAutoFit/>
          </a:bodyPr>
          <a:lstStyle/>
          <a:p>
            <a:pPr algn="ctr"/>
            <a:r>
              <a:rPr sz="791" i="1" dirty="0" err="1">
                <a:solidFill>
                  <a:srgbClr val="263442"/>
                </a:solidFill>
                <a:latin typeface="Times New Roman"/>
              </a:rPr>
              <a:t>s</a:t>
            </a:r>
            <a:r>
              <a:rPr sz="780" i="1" baseline="-28000" dirty="0" err="1">
                <a:solidFill>
                  <a:srgbClr val="263442"/>
                </a:solidFill>
                <a:latin typeface="Times New Roman"/>
              </a:rPr>
              <a:t>j,k</a:t>
            </a:r>
            <a:endParaRPr sz="780" i="1" baseline="-28000" dirty="0">
              <a:solidFill>
                <a:srgbClr val="263442"/>
              </a:solidFill>
              <a:latin typeface="Times New Roman"/>
            </a:endParaRPr>
          </a:p>
        </p:txBody>
      </p:sp>
      <p:sp>
        <p:nvSpPr>
          <p:cNvPr id="735" name="TextBox 12279">
            <a:extLst>
              <a:ext uri="{FF2B5EF4-FFF2-40B4-BE49-F238E27FC236}">
                <a16:creationId xmlns:a16="http://schemas.microsoft.com/office/drawing/2014/main" id="{C56E8311-ADDA-7C63-9110-2C3006BDD08E}"/>
              </a:ext>
            </a:extLst>
          </p:cNvPr>
          <p:cNvSpPr txBox="1"/>
          <p:nvPr/>
        </p:nvSpPr>
        <p:spPr>
          <a:xfrm>
            <a:off x="4189537" y="3931330"/>
            <a:ext cx="479297" cy="87268"/>
          </a:xfrm>
          <a:prstGeom prst="rect">
            <a:avLst/>
          </a:prstGeom>
          <a:noFill/>
        </p:spPr>
        <p:txBody>
          <a:bodyPr wrap="none" lIns="0" tIns="0" rIns="0" bIns="0" anchor="ctr">
            <a:spAutoFit/>
          </a:bodyPr>
          <a:lstStyle/>
          <a:p>
            <a:pPr algn="ctr">
              <a:lnSpc>
                <a:spcPct val="105000"/>
              </a:lnSpc>
            </a:pPr>
            <a:r>
              <a:rPr sz="580">
                <a:solidFill>
                  <a:srgbClr val="263442"/>
                </a:solidFill>
                <a:latin typeface="Arial"/>
              </a:rPr>
              <a:t>Identity scores</a:t>
            </a:r>
          </a:p>
        </p:txBody>
      </p:sp>
      <p:sp>
        <p:nvSpPr>
          <p:cNvPr id="736" name="TextBox 12280">
            <a:extLst>
              <a:ext uri="{FF2B5EF4-FFF2-40B4-BE49-F238E27FC236}">
                <a16:creationId xmlns:a16="http://schemas.microsoft.com/office/drawing/2014/main" id="{C640A1D5-D4D1-3FBF-0F27-45AD836A7FCE}"/>
              </a:ext>
            </a:extLst>
          </p:cNvPr>
          <p:cNvSpPr txBox="1"/>
          <p:nvPr/>
        </p:nvSpPr>
        <p:spPr>
          <a:xfrm>
            <a:off x="4428041" y="4018471"/>
            <a:ext cx="102835" cy="85921"/>
          </a:xfrm>
          <a:prstGeom prst="rect">
            <a:avLst/>
          </a:prstGeom>
          <a:noFill/>
        </p:spPr>
        <p:txBody>
          <a:bodyPr wrap="square" lIns="0" tIns="0" rIns="0" bIns="0" anchor="ctr">
            <a:spAutoFit/>
          </a:bodyPr>
          <a:lstStyle/>
          <a:p>
            <a:pPr algn="ctr">
              <a:lnSpc>
                <a:spcPct val="105000"/>
              </a:lnSpc>
            </a:pPr>
            <a:r>
              <a:rPr sz="571" dirty="0">
                <a:solidFill>
                  <a:srgbClr val="263442"/>
                </a:solidFill>
                <a:latin typeface="Arial"/>
              </a:rPr>
              <a:t>k</a:t>
            </a:r>
          </a:p>
        </p:txBody>
      </p:sp>
      <p:sp>
        <p:nvSpPr>
          <p:cNvPr id="737" name="TextBox 12281">
            <a:extLst>
              <a:ext uri="{FF2B5EF4-FFF2-40B4-BE49-F238E27FC236}">
                <a16:creationId xmlns:a16="http://schemas.microsoft.com/office/drawing/2014/main" id="{F472392A-4724-5EDA-C6D8-557EF063B52F}"/>
              </a:ext>
            </a:extLst>
          </p:cNvPr>
          <p:cNvSpPr txBox="1"/>
          <p:nvPr/>
        </p:nvSpPr>
        <p:spPr>
          <a:xfrm>
            <a:off x="4128591" y="4169314"/>
            <a:ext cx="87014" cy="85921"/>
          </a:xfrm>
          <a:prstGeom prst="rect">
            <a:avLst/>
          </a:prstGeom>
          <a:noFill/>
        </p:spPr>
        <p:txBody>
          <a:bodyPr wrap="square" lIns="0" tIns="0" rIns="0" bIns="0" anchor="ctr">
            <a:spAutoFit/>
          </a:bodyPr>
          <a:lstStyle/>
          <a:p>
            <a:pPr algn="ctr">
              <a:lnSpc>
                <a:spcPct val="105000"/>
              </a:lnSpc>
            </a:pPr>
            <a:r>
              <a:rPr sz="571">
                <a:solidFill>
                  <a:srgbClr val="263442"/>
                </a:solidFill>
                <a:latin typeface="Arial"/>
              </a:rPr>
              <a:t>j</a:t>
            </a:r>
          </a:p>
        </p:txBody>
      </p:sp>
      <p:sp>
        <p:nvSpPr>
          <p:cNvPr id="738" name="Matrix cell (0,0)">
            <a:extLst>
              <a:ext uri="{FF2B5EF4-FFF2-40B4-BE49-F238E27FC236}">
                <a16:creationId xmlns:a16="http://schemas.microsoft.com/office/drawing/2014/main" id="{1FAFF817-C1CE-5F45-E950-98E19AE452CF}"/>
              </a:ext>
            </a:extLst>
          </p:cNvPr>
          <p:cNvSpPr/>
          <p:nvPr/>
        </p:nvSpPr>
        <p:spPr>
          <a:xfrm>
            <a:off x="4223515"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9" name="Matrix cell (0,1)">
            <a:extLst>
              <a:ext uri="{FF2B5EF4-FFF2-40B4-BE49-F238E27FC236}">
                <a16:creationId xmlns:a16="http://schemas.microsoft.com/office/drawing/2014/main" id="{ED9FACB8-4D6A-044F-997F-E09503AC15AA}"/>
              </a:ext>
            </a:extLst>
          </p:cNvPr>
          <p:cNvSpPr/>
          <p:nvPr/>
        </p:nvSpPr>
        <p:spPr>
          <a:xfrm>
            <a:off x="4326350"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0" name="Matrix cell (0,2)">
            <a:extLst>
              <a:ext uri="{FF2B5EF4-FFF2-40B4-BE49-F238E27FC236}">
                <a16:creationId xmlns:a16="http://schemas.microsoft.com/office/drawing/2014/main" id="{DE25E670-FAB3-667C-5777-C71ED9075845}"/>
              </a:ext>
            </a:extLst>
          </p:cNvPr>
          <p:cNvSpPr/>
          <p:nvPr/>
        </p:nvSpPr>
        <p:spPr>
          <a:xfrm>
            <a:off x="4429185"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1" name="Matrix cell (0,3)">
            <a:extLst>
              <a:ext uri="{FF2B5EF4-FFF2-40B4-BE49-F238E27FC236}">
                <a16:creationId xmlns:a16="http://schemas.microsoft.com/office/drawing/2014/main" id="{D15A0AB1-9BF7-4E76-6CED-C525DFBAA5F7}"/>
              </a:ext>
            </a:extLst>
          </p:cNvPr>
          <p:cNvSpPr/>
          <p:nvPr/>
        </p:nvSpPr>
        <p:spPr>
          <a:xfrm>
            <a:off x="4532020"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2" name="Matrix cell (1,0)">
            <a:extLst>
              <a:ext uri="{FF2B5EF4-FFF2-40B4-BE49-F238E27FC236}">
                <a16:creationId xmlns:a16="http://schemas.microsoft.com/office/drawing/2014/main" id="{5C20FC23-8B30-D896-36CC-91D73273996F}"/>
              </a:ext>
            </a:extLst>
          </p:cNvPr>
          <p:cNvSpPr/>
          <p:nvPr/>
        </p:nvSpPr>
        <p:spPr>
          <a:xfrm>
            <a:off x="4223515"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3" name="Matrix cell (1,1)">
            <a:extLst>
              <a:ext uri="{FF2B5EF4-FFF2-40B4-BE49-F238E27FC236}">
                <a16:creationId xmlns:a16="http://schemas.microsoft.com/office/drawing/2014/main" id="{023C0380-7EA8-B629-5738-AD00698F49B6}"/>
              </a:ext>
            </a:extLst>
          </p:cNvPr>
          <p:cNvSpPr/>
          <p:nvPr/>
        </p:nvSpPr>
        <p:spPr>
          <a:xfrm>
            <a:off x="4326350"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4" name="Matrix cell (1,2)">
            <a:extLst>
              <a:ext uri="{FF2B5EF4-FFF2-40B4-BE49-F238E27FC236}">
                <a16:creationId xmlns:a16="http://schemas.microsoft.com/office/drawing/2014/main" id="{12FBEABC-63F9-0304-4A97-80811BFE2B66}"/>
              </a:ext>
            </a:extLst>
          </p:cNvPr>
          <p:cNvSpPr/>
          <p:nvPr/>
        </p:nvSpPr>
        <p:spPr>
          <a:xfrm>
            <a:off x="4429185" y="4176678"/>
            <a:ext cx="102835" cy="71193"/>
          </a:xfrm>
          <a:prstGeom prst="rect">
            <a:avLst/>
          </a:prstGeom>
          <a:solidFill>
            <a:srgbClr val="3C9486"/>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5" name="Matrix cell (1,3)">
            <a:extLst>
              <a:ext uri="{FF2B5EF4-FFF2-40B4-BE49-F238E27FC236}">
                <a16:creationId xmlns:a16="http://schemas.microsoft.com/office/drawing/2014/main" id="{90D1E1D0-D1D8-F490-5B4D-27F3093D1ECE}"/>
              </a:ext>
            </a:extLst>
          </p:cNvPr>
          <p:cNvSpPr/>
          <p:nvPr/>
        </p:nvSpPr>
        <p:spPr>
          <a:xfrm>
            <a:off x="4532020"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6" name="Matrix cell (2,0)">
            <a:extLst>
              <a:ext uri="{FF2B5EF4-FFF2-40B4-BE49-F238E27FC236}">
                <a16:creationId xmlns:a16="http://schemas.microsoft.com/office/drawing/2014/main" id="{158A66BE-E7B7-0506-657E-0BF13A0E4F5E}"/>
              </a:ext>
            </a:extLst>
          </p:cNvPr>
          <p:cNvSpPr/>
          <p:nvPr/>
        </p:nvSpPr>
        <p:spPr>
          <a:xfrm>
            <a:off x="4223515"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7" name="Matrix cell (2,1)">
            <a:extLst>
              <a:ext uri="{FF2B5EF4-FFF2-40B4-BE49-F238E27FC236}">
                <a16:creationId xmlns:a16="http://schemas.microsoft.com/office/drawing/2014/main" id="{3B18D166-F88A-573E-0225-1ACB99CB2512}"/>
              </a:ext>
            </a:extLst>
          </p:cNvPr>
          <p:cNvSpPr/>
          <p:nvPr/>
        </p:nvSpPr>
        <p:spPr>
          <a:xfrm>
            <a:off x="4326350"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8" name="Matrix cell (2,2)">
            <a:extLst>
              <a:ext uri="{FF2B5EF4-FFF2-40B4-BE49-F238E27FC236}">
                <a16:creationId xmlns:a16="http://schemas.microsoft.com/office/drawing/2014/main" id="{FC858539-3EA9-E4FE-E803-0C8FFAD3870F}"/>
              </a:ext>
            </a:extLst>
          </p:cNvPr>
          <p:cNvSpPr/>
          <p:nvPr/>
        </p:nvSpPr>
        <p:spPr>
          <a:xfrm>
            <a:off x="4429185"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9" name="Matrix cell (2,3)">
            <a:extLst>
              <a:ext uri="{FF2B5EF4-FFF2-40B4-BE49-F238E27FC236}">
                <a16:creationId xmlns:a16="http://schemas.microsoft.com/office/drawing/2014/main" id="{3713326C-75C4-31D8-12F4-1CA18BF652D7}"/>
              </a:ext>
            </a:extLst>
          </p:cNvPr>
          <p:cNvSpPr/>
          <p:nvPr/>
        </p:nvSpPr>
        <p:spPr>
          <a:xfrm>
            <a:off x="4532020"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50" name="TextBox 12294">
            <a:extLst>
              <a:ext uri="{FF2B5EF4-FFF2-40B4-BE49-F238E27FC236}">
                <a16:creationId xmlns:a16="http://schemas.microsoft.com/office/drawing/2014/main" id="{E992C05A-634A-6CF2-2936-1480C4EA17F1}"/>
              </a:ext>
            </a:extLst>
          </p:cNvPr>
          <p:cNvSpPr txBox="1"/>
          <p:nvPr/>
        </p:nvSpPr>
        <p:spPr>
          <a:xfrm>
            <a:off x="4223516" y="4312989"/>
            <a:ext cx="411339" cy="82587"/>
          </a:xfrm>
          <a:prstGeom prst="rect">
            <a:avLst/>
          </a:prstGeom>
          <a:noFill/>
        </p:spPr>
        <p:txBody>
          <a:bodyPr wrap="square" lIns="0" tIns="0" rIns="0" bIns="0" anchor="ctr">
            <a:spAutoFit/>
          </a:bodyPr>
          <a:lstStyle/>
          <a:p>
            <a:pPr algn="ctr">
              <a:lnSpc>
                <a:spcPct val="105000"/>
              </a:lnSpc>
            </a:pPr>
            <a:r>
              <a:rPr sz="536">
                <a:solidFill>
                  <a:srgbClr val="263442"/>
                </a:solidFill>
                <a:latin typeface="Arial"/>
              </a:rPr>
              <a:t>J × K</a:t>
            </a:r>
          </a:p>
        </p:txBody>
      </p:sp>
      <p:grpSp>
        <p:nvGrpSpPr>
          <p:cNvPr id="751" name="组合 13795">
            <a:extLst>
              <a:ext uri="{FF2B5EF4-FFF2-40B4-BE49-F238E27FC236}">
                <a16:creationId xmlns:a16="http://schemas.microsoft.com/office/drawing/2014/main" id="{7EA912CF-516A-2745-A5D0-8704116A4D72}"/>
              </a:ext>
            </a:extLst>
          </p:cNvPr>
          <p:cNvGrpSpPr/>
          <p:nvPr/>
        </p:nvGrpSpPr>
        <p:grpSpPr>
          <a:xfrm>
            <a:off x="2038007" y="554865"/>
            <a:ext cx="1978883" cy="340209"/>
            <a:chOff x="6312668" y="2448732"/>
            <a:chExt cx="1215499" cy="343631"/>
          </a:xfrm>
        </p:grpSpPr>
        <p:pic>
          <p:nvPicPr>
            <p:cNvPr id="752" name="图片 12">
              <a:extLst>
                <a:ext uri="{FF2B5EF4-FFF2-40B4-BE49-F238E27FC236}">
                  <a16:creationId xmlns:a16="http://schemas.microsoft.com/office/drawing/2014/main" id="{521CB8EA-9697-F11D-7107-B4A42B988070}"/>
                </a:ext>
              </a:extLst>
            </p:cNvPr>
            <p:cNvPicPr>
              <a:picLocks/>
            </p:cNvPicPr>
            <p:nvPr/>
          </p:nvPicPr>
          <p:blipFill>
            <a:blip r:embed="rId5"/>
            <a:srcRect l="70243" t="-18171" b="-1"/>
            <a:stretch>
              <a:fillRect/>
            </a:stretch>
          </p:blipFill>
          <p:spPr>
            <a:xfrm>
              <a:off x="7112075" y="2448732"/>
              <a:ext cx="416092" cy="323855"/>
            </a:xfrm>
            <a:prstGeom prst="rect">
              <a:avLst/>
            </a:prstGeom>
          </p:spPr>
        </p:pic>
        <p:pic>
          <p:nvPicPr>
            <p:cNvPr id="753" name="图片 12">
              <a:extLst>
                <a:ext uri="{FF2B5EF4-FFF2-40B4-BE49-F238E27FC236}">
                  <a16:creationId xmlns:a16="http://schemas.microsoft.com/office/drawing/2014/main" id="{546466D8-C7C6-7C8A-3307-95F68FB4F610}"/>
                </a:ext>
              </a:extLst>
            </p:cNvPr>
            <p:cNvPicPr>
              <a:picLocks/>
            </p:cNvPicPr>
            <p:nvPr/>
          </p:nvPicPr>
          <p:blipFill>
            <a:blip r:embed="rId5"/>
            <a:srcRect r="70534" b="-8235"/>
            <a:stretch>
              <a:fillRect/>
            </a:stretch>
          </p:blipFill>
          <p:spPr>
            <a:xfrm>
              <a:off x="6312668" y="2495741"/>
              <a:ext cx="412024" cy="296622"/>
            </a:xfrm>
            <a:prstGeom prst="rect">
              <a:avLst/>
            </a:prstGeom>
          </p:spPr>
        </p:pic>
        <p:pic>
          <p:nvPicPr>
            <p:cNvPr id="754" name="Picture 10000" descr="unet_block_18.png">
              <a:extLst>
                <a:ext uri="{FF2B5EF4-FFF2-40B4-BE49-F238E27FC236}">
                  <a16:creationId xmlns:a16="http://schemas.microsoft.com/office/drawing/2014/main" id="{75A7694C-DEA5-AFE8-E284-0A0D89F845C1}"/>
                </a:ext>
              </a:extLst>
            </p:cNvPr>
            <p:cNvPicPr>
              <a:picLocks noChangeAspect="1"/>
            </p:cNvPicPr>
            <p:nvPr/>
          </p:nvPicPr>
          <p:blipFill>
            <a:blip r:embed="rId6"/>
            <a:stretch>
              <a:fillRect/>
            </a:stretch>
          </p:blipFill>
          <p:spPr>
            <a:xfrm>
              <a:off x="6776851" y="2645026"/>
              <a:ext cx="276863" cy="126566"/>
            </a:xfrm>
            <a:prstGeom prst="rect">
              <a:avLst/>
            </a:prstGeom>
          </p:spPr>
        </p:pic>
      </p:grpSp>
      <p:grpSp>
        <p:nvGrpSpPr>
          <p:cNvPr id="755" name="Find candidate blob 1">
            <a:extLst>
              <a:ext uri="{FF2B5EF4-FFF2-40B4-BE49-F238E27FC236}">
                <a16:creationId xmlns:a16="http://schemas.microsoft.com/office/drawing/2014/main" id="{3B821B97-56A6-DCED-E85F-DBF945F3EA13}"/>
              </a:ext>
            </a:extLst>
          </p:cNvPr>
          <p:cNvGrpSpPr/>
          <p:nvPr/>
        </p:nvGrpSpPr>
        <p:grpSpPr>
          <a:xfrm>
            <a:off x="4357668" y="1039644"/>
            <a:ext cx="163890" cy="111953"/>
            <a:chOff x="1928706" y="3559489"/>
            <a:chExt cx="227897" cy="155682"/>
          </a:xfrm>
        </p:grpSpPr>
        <p:sp>
          <p:nvSpPr>
            <p:cNvPr id="756" name="Candidate blob | editable contour">
              <a:extLst>
                <a:ext uri="{FF2B5EF4-FFF2-40B4-BE49-F238E27FC236}">
                  <a16:creationId xmlns:a16="http://schemas.microsoft.com/office/drawing/2014/main" id="{B3B117DA-D182-38E6-AD16-B4776AD2C7B7}"/>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57" name="ellipse_2612">
              <a:extLst>
                <a:ext uri="{FF2B5EF4-FFF2-40B4-BE49-F238E27FC236}">
                  <a16:creationId xmlns:a16="http://schemas.microsoft.com/office/drawing/2014/main" id="{901C6437-E94C-AFDE-D242-E688A89ABBD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58" name="Find candidate blob 2">
            <a:extLst>
              <a:ext uri="{FF2B5EF4-FFF2-40B4-BE49-F238E27FC236}">
                <a16:creationId xmlns:a16="http://schemas.microsoft.com/office/drawing/2014/main" id="{00C0C92B-D4C8-0994-E860-1581EB873D86}"/>
              </a:ext>
            </a:extLst>
          </p:cNvPr>
          <p:cNvGrpSpPr/>
          <p:nvPr/>
        </p:nvGrpSpPr>
        <p:grpSpPr>
          <a:xfrm>
            <a:off x="4352956" y="917369"/>
            <a:ext cx="168602" cy="95394"/>
            <a:chOff x="1928706" y="3559489"/>
            <a:chExt cx="227897" cy="155682"/>
          </a:xfrm>
        </p:grpSpPr>
        <p:sp>
          <p:nvSpPr>
            <p:cNvPr id="759" name="Candidate blob | editable contour">
              <a:extLst>
                <a:ext uri="{FF2B5EF4-FFF2-40B4-BE49-F238E27FC236}">
                  <a16:creationId xmlns:a16="http://schemas.microsoft.com/office/drawing/2014/main" id="{A172A8B3-EFA3-33C9-CD2B-307B24D7293D}"/>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0" name="ellipse_2612">
              <a:extLst>
                <a:ext uri="{FF2B5EF4-FFF2-40B4-BE49-F238E27FC236}">
                  <a16:creationId xmlns:a16="http://schemas.microsoft.com/office/drawing/2014/main" id="{CF37E813-914E-4383-9CE9-1C5F4095124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61" name="Find candidate blob 3">
            <a:extLst>
              <a:ext uri="{FF2B5EF4-FFF2-40B4-BE49-F238E27FC236}">
                <a16:creationId xmlns:a16="http://schemas.microsoft.com/office/drawing/2014/main" id="{D7299A48-8BF0-7050-EF56-14DA3F495CB7}"/>
              </a:ext>
            </a:extLst>
          </p:cNvPr>
          <p:cNvGrpSpPr/>
          <p:nvPr/>
        </p:nvGrpSpPr>
        <p:grpSpPr>
          <a:xfrm rot="364243">
            <a:off x="4559731" y="1028968"/>
            <a:ext cx="127658" cy="129194"/>
            <a:chOff x="1928706" y="3559489"/>
            <a:chExt cx="227897" cy="155682"/>
          </a:xfrm>
        </p:grpSpPr>
        <p:sp>
          <p:nvSpPr>
            <p:cNvPr id="762" name="Candidate blob | editable contour">
              <a:extLst>
                <a:ext uri="{FF2B5EF4-FFF2-40B4-BE49-F238E27FC236}">
                  <a16:creationId xmlns:a16="http://schemas.microsoft.com/office/drawing/2014/main" id="{8902F596-0D84-3C56-EB93-D63FC7E9041E}"/>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3" name="ellipse_2612">
              <a:extLst>
                <a:ext uri="{FF2B5EF4-FFF2-40B4-BE49-F238E27FC236}">
                  <a16:creationId xmlns:a16="http://schemas.microsoft.com/office/drawing/2014/main" id="{85D74281-2FE6-E2D2-EFBA-AF54A45686E3}"/>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765" name="Find auxiliary label">
            <a:extLst>
              <a:ext uri="{FF2B5EF4-FFF2-40B4-BE49-F238E27FC236}">
                <a16:creationId xmlns:a16="http://schemas.microsoft.com/office/drawing/2014/main" id="{CAD88599-B783-720B-B6BD-9F787FCB6CF4}"/>
              </a:ext>
            </a:extLst>
          </p:cNvPr>
          <p:cNvSpPr>
            <a:spLocks noGrp="1"/>
          </p:cNvSpPr>
          <p:nvPr/>
        </p:nvSpPr>
        <p:spPr>
          <a:xfrm>
            <a:off x="4315962" y="1518303"/>
            <a:ext cx="433362" cy="157954"/>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90" dirty="0">
                <a:solidFill>
                  <a:srgbClr val="263442"/>
                </a:solidFill>
                <a:latin typeface="Arial"/>
                <a:ea typeface="Arial"/>
                <a:cs typeface="Arial"/>
              </a:rPr>
              <a:t>Auxiliary</a:t>
            </a:r>
          </a:p>
          <a:p>
            <a:pPr algn="ctr">
              <a:defRPr sz="590" b="0">
                <a:solidFill>
                  <a:srgbClr val="263442"/>
                </a:solidFill>
                <a:latin typeface="Arial"/>
                <a:ea typeface="Arial"/>
                <a:cs typeface="Arial"/>
              </a:defRPr>
            </a:pPr>
            <a:r>
              <a:rPr sz="590" dirty="0">
                <a:solidFill>
                  <a:srgbClr val="263442"/>
                </a:solidFill>
                <a:latin typeface="Arial"/>
                <a:ea typeface="Arial"/>
                <a:cs typeface="Arial"/>
              </a:rPr>
              <a:t>features</a:t>
            </a:r>
          </a:p>
        </p:txBody>
      </p:sp>
      <p:sp>
        <p:nvSpPr>
          <p:cNvPr id="766" name="Match auxiliary label">
            <a:extLst>
              <a:ext uri="{FF2B5EF4-FFF2-40B4-BE49-F238E27FC236}">
                <a16:creationId xmlns:a16="http://schemas.microsoft.com/office/drawing/2014/main" id="{C154BF4F-4214-59BC-DCE1-F9C23194AC63}"/>
              </a:ext>
            </a:extLst>
          </p:cNvPr>
          <p:cNvSpPr>
            <a:spLocks noGrp="1"/>
          </p:cNvSpPr>
          <p:nvPr/>
        </p:nvSpPr>
        <p:spPr>
          <a:xfrm>
            <a:off x="1503472" y="2843177"/>
            <a:ext cx="405011" cy="174155"/>
          </a:xfrm>
          <a:prstGeom prst="rect">
            <a:avLst/>
          </a:prstGeom>
          <a:noFill/>
          <a:ln w="6885">
            <a:noFill/>
            <a:prstDash val="solid"/>
          </a:ln>
        </p:spPr>
        <p:txBody>
          <a:bodyPr lIns="0" tIns="0" rIns="0" bIns="0" anchor="ctr"/>
          <a:lstStyle>
            <a:defPPr algn="ctr">
              <a:defRPr sz="590" b="1">
                <a:solidFill>
                  <a:srgbClr val="263442"/>
                </a:solidFill>
                <a:latin typeface="Arial"/>
                <a:ea typeface="Arial"/>
                <a:cs typeface="Arial"/>
              </a:defRPr>
            </a:defPPr>
            <a:lvl1pPr algn="ctr">
              <a:defRPr sz="590" b="1">
                <a:solidFill>
                  <a:srgbClr val="263442"/>
                </a:solidFill>
                <a:latin typeface="Arial"/>
                <a:ea typeface="Arial"/>
                <a:cs typeface="Arial"/>
              </a:defRPr>
            </a:lvl1pPr>
            <a:lvl2pPr algn="ctr">
              <a:defRPr sz="590" b="1">
                <a:solidFill>
                  <a:srgbClr val="263442"/>
                </a:solidFill>
                <a:latin typeface="Arial"/>
                <a:ea typeface="Arial"/>
                <a:cs typeface="Arial"/>
              </a:defRPr>
            </a:lvl2pPr>
            <a:lvl3pPr algn="ctr">
              <a:defRPr sz="590" b="1">
                <a:solidFill>
                  <a:srgbClr val="263442"/>
                </a:solidFill>
                <a:latin typeface="Arial"/>
                <a:ea typeface="Arial"/>
                <a:cs typeface="Arial"/>
              </a:defRPr>
            </a:lvl3pPr>
            <a:lvl4pPr algn="ctr">
              <a:defRPr sz="590" b="1">
                <a:solidFill>
                  <a:srgbClr val="263442"/>
                </a:solidFill>
                <a:latin typeface="Arial"/>
                <a:ea typeface="Arial"/>
                <a:cs typeface="Arial"/>
              </a:defRPr>
            </a:lvl4pPr>
            <a:lvl5pPr algn="ctr">
              <a:defRPr sz="590" b="1">
                <a:solidFill>
                  <a:srgbClr val="263442"/>
                </a:solidFill>
                <a:latin typeface="Arial"/>
                <a:ea typeface="Arial"/>
                <a:cs typeface="Arial"/>
              </a:defRPr>
            </a:lvl5pPr>
            <a:lvl6pPr algn="ctr">
              <a:defRPr sz="590" b="1">
                <a:solidFill>
                  <a:srgbClr val="263442"/>
                </a:solidFill>
                <a:latin typeface="Arial"/>
                <a:ea typeface="Arial"/>
                <a:cs typeface="Arial"/>
              </a:defRPr>
            </a:lvl6pPr>
            <a:lvl7pPr algn="ctr">
              <a:defRPr sz="590" b="1">
                <a:solidFill>
                  <a:srgbClr val="263442"/>
                </a:solidFill>
                <a:latin typeface="Arial"/>
                <a:ea typeface="Arial"/>
                <a:cs typeface="Arial"/>
              </a:defRPr>
            </a:lvl7pPr>
            <a:lvl8pPr algn="ctr">
              <a:defRPr sz="590" b="1">
                <a:solidFill>
                  <a:srgbClr val="263442"/>
                </a:solidFill>
                <a:latin typeface="Arial"/>
                <a:ea typeface="Arial"/>
                <a:cs typeface="Arial"/>
              </a:defRPr>
            </a:lvl8pPr>
            <a:lvl9pPr algn="ctr">
              <a:defRPr sz="590" b="1">
                <a:solidFill>
                  <a:srgbClr val="263442"/>
                </a:solidFill>
                <a:latin typeface="Arial"/>
                <a:ea typeface="Arial"/>
                <a:cs typeface="Arial"/>
              </a:defRPr>
            </a:lvl9pPr>
          </a:lstStyle>
          <a:p>
            <a:pPr algn="ctr">
              <a:defRPr sz="590" b="1">
                <a:solidFill>
                  <a:srgbClr val="263442"/>
                </a:solidFill>
                <a:latin typeface="Arial"/>
                <a:ea typeface="Arial"/>
                <a:cs typeface="Arial"/>
              </a:defRPr>
            </a:pPr>
            <a:r>
              <a:rPr sz="590" b="0" dirty="0">
                <a:solidFill>
                  <a:srgbClr val="263442"/>
                </a:solidFill>
                <a:latin typeface="Arial"/>
                <a:ea typeface="Arial"/>
                <a:cs typeface="Arial"/>
              </a:rPr>
              <a:t>Auxiliary</a:t>
            </a:r>
          </a:p>
          <a:p>
            <a:pPr algn="ctr">
              <a:defRPr sz="590" b="1">
                <a:solidFill>
                  <a:srgbClr val="263442"/>
                </a:solidFill>
                <a:latin typeface="Arial"/>
                <a:ea typeface="Arial"/>
                <a:cs typeface="Arial"/>
              </a:defRPr>
            </a:pPr>
            <a:r>
              <a:rPr sz="590" b="0" dirty="0">
                <a:solidFill>
                  <a:srgbClr val="263442"/>
                </a:solidFill>
                <a:latin typeface="Arial"/>
                <a:ea typeface="Arial"/>
                <a:cs typeface="Arial"/>
              </a:rPr>
              <a:t>features</a:t>
            </a:r>
          </a:p>
        </p:txBody>
      </p:sp>
      <p:sp>
        <p:nvSpPr>
          <p:cNvPr id="767" name="Concat label">
            <a:extLst>
              <a:ext uri="{FF2B5EF4-FFF2-40B4-BE49-F238E27FC236}">
                <a16:creationId xmlns:a16="http://schemas.microsoft.com/office/drawing/2014/main" id="{9D20C35C-694E-CDD5-F90A-040BE36EEE21}"/>
              </a:ext>
            </a:extLst>
          </p:cNvPr>
          <p:cNvSpPr>
            <a:spLocks noGrp="1"/>
          </p:cNvSpPr>
          <p:nvPr/>
        </p:nvSpPr>
        <p:spPr>
          <a:xfrm>
            <a:off x="1106378" y="3608830"/>
            <a:ext cx="259207" cy="81002"/>
          </a:xfrm>
          <a:prstGeom prst="rect">
            <a:avLst/>
          </a:prstGeom>
          <a:noFill/>
          <a:ln w="6885">
            <a:noFill/>
            <a:prstDash val="solid"/>
          </a:ln>
        </p:spPr>
        <p:txBody>
          <a:bodyPr lIns="0" tIns="0" rIns="0" bIns="0" anchor="ctr"/>
          <a:lstStyle>
            <a:defPPr algn="ctr">
              <a:defRPr sz="568" b="0">
                <a:solidFill>
                  <a:srgbClr val="263442"/>
                </a:solidFill>
                <a:latin typeface="Arial"/>
                <a:ea typeface="Arial"/>
                <a:cs typeface="Arial"/>
              </a:defRPr>
            </a:defPPr>
            <a:lvl1pPr algn="ctr">
              <a:defRPr sz="568" b="0">
                <a:solidFill>
                  <a:srgbClr val="263442"/>
                </a:solidFill>
                <a:latin typeface="Arial"/>
                <a:ea typeface="Arial"/>
                <a:cs typeface="Arial"/>
              </a:defRPr>
            </a:lvl1pPr>
            <a:lvl2pPr algn="ctr">
              <a:defRPr sz="568" b="0">
                <a:solidFill>
                  <a:srgbClr val="263442"/>
                </a:solidFill>
                <a:latin typeface="Arial"/>
                <a:ea typeface="Arial"/>
                <a:cs typeface="Arial"/>
              </a:defRPr>
            </a:lvl2pPr>
            <a:lvl3pPr algn="ctr">
              <a:defRPr sz="568" b="0">
                <a:solidFill>
                  <a:srgbClr val="263442"/>
                </a:solidFill>
                <a:latin typeface="Arial"/>
                <a:ea typeface="Arial"/>
                <a:cs typeface="Arial"/>
              </a:defRPr>
            </a:lvl3pPr>
            <a:lvl4pPr algn="ctr">
              <a:defRPr sz="568" b="0">
                <a:solidFill>
                  <a:srgbClr val="263442"/>
                </a:solidFill>
                <a:latin typeface="Arial"/>
                <a:ea typeface="Arial"/>
                <a:cs typeface="Arial"/>
              </a:defRPr>
            </a:lvl4pPr>
            <a:lvl5pPr algn="ctr">
              <a:defRPr sz="568" b="0">
                <a:solidFill>
                  <a:srgbClr val="263442"/>
                </a:solidFill>
                <a:latin typeface="Arial"/>
                <a:ea typeface="Arial"/>
                <a:cs typeface="Arial"/>
              </a:defRPr>
            </a:lvl5pPr>
            <a:lvl6pPr algn="ctr">
              <a:defRPr sz="568" b="0">
                <a:solidFill>
                  <a:srgbClr val="263442"/>
                </a:solidFill>
                <a:latin typeface="Arial"/>
                <a:ea typeface="Arial"/>
                <a:cs typeface="Arial"/>
              </a:defRPr>
            </a:lvl6pPr>
            <a:lvl7pPr algn="ctr">
              <a:defRPr sz="568" b="0">
                <a:solidFill>
                  <a:srgbClr val="263442"/>
                </a:solidFill>
                <a:latin typeface="Arial"/>
                <a:ea typeface="Arial"/>
                <a:cs typeface="Arial"/>
              </a:defRPr>
            </a:lvl7pPr>
            <a:lvl8pPr algn="ctr">
              <a:defRPr sz="568" b="0">
                <a:solidFill>
                  <a:srgbClr val="263442"/>
                </a:solidFill>
                <a:latin typeface="Arial"/>
                <a:ea typeface="Arial"/>
                <a:cs typeface="Arial"/>
              </a:defRPr>
            </a:lvl8pPr>
            <a:lvl9pPr algn="ctr">
              <a:defRPr sz="568" b="0">
                <a:solidFill>
                  <a:srgbClr val="263442"/>
                </a:solidFill>
                <a:latin typeface="Arial"/>
                <a:ea typeface="Arial"/>
                <a:cs typeface="Arial"/>
              </a:defRPr>
            </a:lvl9pPr>
          </a:lstStyle>
          <a:p>
            <a:pPr algn="ctr">
              <a:defRPr sz="568" b="0">
                <a:solidFill>
                  <a:srgbClr val="263442"/>
                </a:solidFill>
                <a:latin typeface="Arial"/>
                <a:ea typeface="Arial"/>
                <a:cs typeface="Arial"/>
              </a:defRPr>
            </a:pPr>
            <a:r>
              <a:rPr sz="568" dirty="0" err="1">
                <a:solidFill>
                  <a:srgbClr val="263442"/>
                </a:solidFill>
                <a:latin typeface="Arial"/>
                <a:ea typeface="Arial"/>
                <a:cs typeface="Arial"/>
              </a:rPr>
              <a:t>Concat</a:t>
            </a:r>
            <a:endParaRPr sz="568" dirty="0">
              <a:solidFill>
                <a:srgbClr val="263442"/>
              </a:solidFill>
              <a:latin typeface="Arial"/>
              <a:ea typeface="Arial"/>
              <a:cs typeface="Arial"/>
            </a:endParaRPr>
          </a:p>
        </p:txBody>
      </p:sp>
      <p:grpSp>
        <p:nvGrpSpPr>
          <p:cNvPr id="1248" name="Unified flow and feature elements">
            <a:extLst>
              <a:ext uri="{FF2B5EF4-FFF2-40B4-BE49-F238E27FC236}">
                <a16:creationId xmlns:a16="http://schemas.microsoft.com/office/drawing/2014/main" id="{DA74696D-FF4F-021F-A459-9CD0851351CF}"/>
              </a:ext>
            </a:extLst>
          </p:cNvPr>
          <p:cNvGrpSpPr/>
          <p:nvPr/>
        </p:nvGrpSpPr>
        <p:grpSpPr>
          <a:xfrm>
            <a:off x="966222" y="284723"/>
            <a:ext cx="3748525" cy="3967446"/>
            <a:chOff x="2272349" y="669608"/>
            <a:chExt cx="8815739" cy="9330594"/>
          </a:xfrm>
        </p:grpSpPr>
        <p:sp>
          <p:nvSpPr>
            <p:cNvPr id="1249" name="Preprocessing refined">
              <a:extLst>
                <a:ext uri="{FF2B5EF4-FFF2-40B4-BE49-F238E27FC236}">
                  <a16:creationId xmlns:a16="http://schemas.microsoft.com/office/drawing/2014/main" id="{A3A31885-181B-CF24-BE30-3ED8DAACE460}"/>
                </a:ext>
              </a:extLst>
            </p:cNvPr>
            <p:cNvSpPr>
              <a:spLocks noGrp="1"/>
            </p:cNvSpPr>
            <p:nvPr/>
          </p:nvSpPr>
          <p:spPr>
            <a:xfrm>
              <a:off x="3122581" y="669608"/>
              <a:ext cx="1028701" cy="3460433"/>
            </a:xfrm>
            <a:prstGeom prst="roundRect">
              <a:avLst>
                <a:gd name="adj" fmla="val 6481"/>
              </a:avLst>
            </a:prstGeom>
            <a:solidFill>
              <a:srgbClr val="F0F3F5"/>
            </a:solidFill>
            <a:ln w="7290">
              <a:solidFill>
                <a:srgbClr val="BEC7CE"/>
              </a:solidFill>
            </a:ln>
          </p:spPr>
        </p:sp>
        <p:sp>
          <p:nvSpPr>
            <p:cNvPr id="1250" name="Preprocessing divider refined">
              <a:extLst>
                <a:ext uri="{FF2B5EF4-FFF2-40B4-BE49-F238E27FC236}">
                  <a16:creationId xmlns:a16="http://schemas.microsoft.com/office/drawing/2014/main" id="{E21BD2F9-92DD-96F0-3AAF-0957638A49FB}"/>
                </a:ext>
              </a:extLst>
            </p:cNvPr>
            <p:cNvSpPr>
              <a:spLocks noGrp="1"/>
            </p:cNvSpPr>
            <p:nvPr/>
          </p:nvSpPr>
          <p:spPr>
            <a:xfrm>
              <a:off x="3199219" y="2418363"/>
              <a:ext cx="800100" cy="190"/>
            </a:xfrm>
            <a:custGeom>
              <a:avLst/>
              <a:gdLst/>
              <a:ahLst/>
              <a:cxnLst/>
              <a:rect l="0" t="0" r="0" b="0"/>
              <a:pathLst>
                <a:path w="800100" h="191">
                  <a:moveTo>
                    <a:pt x="0" y="0"/>
                  </a:moveTo>
                  <a:lnTo>
                    <a:pt x="800100" y="0"/>
                  </a:lnTo>
                </a:path>
              </a:pathLst>
            </a:custGeom>
            <a:noFill/>
            <a:ln w="6075">
              <a:solidFill>
                <a:srgbClr val="C8CFD4"/>
              </a:solidFill>
              <a:prstDash val="solid"/>
            </a:ln>
          </p:spPr>
        </p:sp>
        <p:sp>
          <p:nvSpPr>
            <p:cNvPr id="1251" name="Density bank refined">
              <a:extLst>
                <a:ext uri="{FF2B5EF4-FFF2-40B4-BE49-F238E27FC236}">
                  <a16:creationId xmlns:a16="http://schemas.microsoft.com/office/drawing/2014/main" id="{1E51E71A-A2BC-0776-E4CA-D30FBB1BE241}"/>
                </a:ext>
              </a:extLst>
            </p:cNvPr>
            <p:cNvSpPr>
              <a:spLocks noGrp="1"/>
            </p:cNvSpPr>
            <p:nvPr/>
          </p:nvSpPr>
          <p:spPr>
            <a:xfrm>
              <a:off x="3160769" y="695478"/>
              <a:ext cx="990599" cy="457199"/>
            </a:xfrm>
            <a:prstGeom prst="rect">
              <a:avLst/>
            </a:prstGeom>
            <a:noFill/>
            <a:ln w="7290">
              <a:noFill/>
            </a:ln>
          </p:spPr>
          <p:txBody>
            <a:bodyPr lIns="0" tIns="0" rIns="0" bIns="0" anchor="ctr"/>
            <a:lstStyle>
              <a:defPPr algn="ctr">
                <a:defRPr sz="612">
                  <a:solidFill>
                    <a:srgbClr val="263442"/>
                  </a:solidFill>
                  <a:latin typeface="Arial"/>
                  <a:ea typeface="Arial"/>
                  <a:cs typeface="Arial"/>
                </a:defRPr>
              </a:defPPr>
              <a:lvl1pPr algn="ctr">
                <a:defRPr sz="612">
                  <a:solidFill>
                    <a:srgbClr val="263442"/>
                  </a:solidFill>
                  <a:latin typeface="Arial"/>
                  <a:ea typeface="Arial"/>
                  <a:cs typeface="Arial"/>
                </a:defRPr>
              </a:lvl1pPr>
              <a:lvl2pPr algn="ctr">
                <a:defRPr sz="612">
                  <a:solidFill>
                    <a:srgbClr val="263442"/>
                  </a:solidFill>
                  <a:latin typeface="Arial"/>
                  <a:ea typeface="Arial"/>
                  <a:cs typeface="Arial"/>
                </a:defRPr>
              </a:lvl2pPr>
              <a:lvl3pPr algn="ctr">
                <a:defRPr sz="612">
                  <a:solidFill>
                    <a:srgbClr val="263442"/>
                  </a:solidFill>
                  <a:latin typeface="Arial"/>
                  <a:ea typeface="Arial"/>
                  <a:cs typeface="Arial"/>
                </a:defRPr>
              </a:lvl3pPr>
              <a:lvl4pPr algn="ctr">
                <a:defRPr sz="612">
                  <a:solidFill>
                    <a:srgbClr val="263442"/>
                  </a:solidFill>
                  <a:latin typeface="Arial"/>
                  <a:ea typeface="Arial"/>
                  <a:cs typeface="Arial"/>
                </a:defRPr>
              </a:lvl4pPr>
              <a:lvl5pPr algn="ctr">
                <a:defRPr sz="612">
                  <a:solidFill>
                    <a:srgbClr val="263442"/>
                  </a:solidFill>
                  <a:latin typeface="Arial"/>
                  <a:ea typeface="Arial"/>
                  <a:cs typeface="Arial"/>
                </a:defRPr>
              </a:lvl5pPr>
              <a:lvl6pPr algn="ctr">
                <a:defRPr sz="612">
                  <a:solidFill>
                    <a:srgbClr val="263442"/>
                  </a:solidFill>
                  <a:latin typeface="Arial"/>
                  <a:ea typeface="Arial"/>
                  <a:cs typeface="Arial"/>
                </a:defRPr>
              </a:lvl6pPr>
              <a:lvl7pPr algn="ctr">
                <a:defRPr sz="612">
                  <a:solidFill>
                    <a:srgbClr val="263442"/>
                  </a:solidFill>
                  <a:latin typeface="Arial"/>
                  <a:ea typeface="Arial"/>
                  <a:cs typeface="Arial"/>
                </a:defRPr>
              </a:lvl7pPr>
              <a:lvl8pPr algn="ctr">
                <a:defRPr sz="612">
                  <a:solidFill>
                    <a:srgbClr val="263442"/>
                  </a:solidFill>
                  <a:latin typeface="Arial"/>
                  <a:ea typeface="Arial"/>
                  <a:cs typeface="Arial"/>
                </a:defRPr>
              </a:lvl8pPr>
              <a:lvl9pPr algn="ctr">
                <a:defRPr sz="612">
                  <a:solidFill>
                    <a:srgbClr val="263442"/>
                  </a:solidFill>
                  <a:latin typeface="Arial"/>
                  <a:ea typeface="Arial"/>
                  <a:cs typeface="Arial"/>
                </a:defRPr>
              </a:lvl9pPr>
            </a:lstStyle>
            <a:p>
              <a:pPr algn="ctr">
                <a:defRPr sz="612">
                  <a:solidFill>
                    <a:srgbClr val="263442"/>
                  </a:solidFill>
                  <a:latin typeface="Arial"/>
                  <a:ea typeface="Arial"/>
                  <a:cs typeface="Arial"/>
                </a:defRPr>
              </a:pPr>
              <a:r>
                <a:rPr sz="550" dirty="0">
                  <a:solidFill>
                    <a:srgbClr val="263442"/>
                  </a:solidFill>
                  <a:latin typeface="Arial"/>
                  <a:ea typeface="Arial"/>
                  <a:cs typeface="Arial"/>
                </a:rPr>
                <a:t>Density</a:t>
              </a:r>
            </a:p>
            <a:p>
              <a:pPr algn="ctr">
                <a:defRPr sz="612">
                  <a:solidFill>
                    <a:srgbClr val="263442"/>
                  </a:solidFill>
                  <a:latin typeface="Arial"/>
                  <a:ea typeface="Arial"/>
                  <a:cs typeface="Arial"/>
                </a:defRPr>
              </a:pPr>
              <a:r>
                <a:rPr lang="en-US" sz="550" dirty="0">
                  <a:solidFill>
                    <a:srgbClr val="263442"/>
                  </a:solidFill>
                  <a:latin typeface="Arial"/>
                  <a:ea typeface="Arial"/>
                  <a:cs typeface="Arial"/>
                </a:rPr>
                <a:t>B</a:t>
              </a:r>
              <a:r>
                <a:rPr sz="550" dirty="0">
                  <a:solidFill>
                    <a:srgbClr val="263442"/>
                  </a:solidFill>
                  <a:latin typeface="Arial"/>
                  <a:ea typeface="Arial"/>
                  <a:cs typeface="Arial"/>
                </a:rPr>
                <a:t>ank</a:t>
              </a:r>
            </a:p>
          </p:txBody>
        </p:sp>
        <p:sp>
          <p:nvSpPr>
            <p:cNvPr id="1252" name="Embedding head refined">
              <a:extLst>
                <a:ext uri="{FF2B5EF4-FFF2-40B4-BE49-F238E27FC236}">
                  <a16:creationId xmlns:a16="http://schemas.microsoft.com/office/drawing/2014/main" id="{58C61B38-F8DB-1F98-DEE4-C9D7130E2730}"/>
                </a:ext>
              </a:extLst>
            </p:cNvPr>
            <p:cNvSpPr>
              <a:spLocks noGrp="1"/>
            </p:cNvSpPr>
            <p:nvPr/>
          </p:nvSpPr>
          <p:spPr>
            <a:xfrm>
              <a:off x="3122433" y="2542570"/>
              <a:ext cx="990599" cy="457199"/>
            </a:xfrm>
            <a:prstGeom prst="rect">
              <a:avLst/>
            </a:prstGeom>
            <a:noFill/>
            <a:ln w="7290">
              <a:noFill/>
            </a:ln>
          </p:spPr>
          <p:txBody>
            <a:bodyPr lIns="0" tIns="0" rIns="0" bIns="0" anchor="ctr"/>
            <a:lstStyle>
              <a:defPPr algn="ctr">
                <a:defRPr sz="612">
                  <a:solidFill>
                    <a:srgbClr val="263442"/>
                  </a:solidFill>
                  <a:latin typeface="Arial"/>
                  <a:ea typeface="Arial"/>
                  <a:cs typeface="Arial"/>
                </a:defRPr>
              </a:defPPr>
              <a:lvl1pPr algn="ctr">
                <a:defRPr sz="612">
                  <a:solidFill>
                    <a:srgbClr val="263442"/>
                  </a:solidFill>
                  <a:latin typeface="Arial"/>
                  <a:ea typeface="Arial"/>
                  <a:cs typeface="Arial"/>
                </a:defRPr>
              </a:lvl1pPr>
              <a:lvl2pPr algn="ctr">
                <a:defRPr sz="612">
                  <a:solidFill>
                    <a:srgbClr val="263442"/>
                  </a:solidFill>
                  <a:latin typeface="Arial"/>
                  <a:ea typeface="Arial"/>
                  <a:cs typeface="Arial"/>
                </a:defRPr>
              </a:lvl2pPr>
              <a:lvl3pPr algn="ctr">
                <a:defRPr sz="612">
                  <a:solidFill>
                    <a:srgbClr val="263442"/>
                  </a:solidFill>
                  <a:latin typeface="Arial"/>
                  <a:ea typeface="Arial"/>
                  <a:cs typeface="Arial"/>
                </a:defRPr>
              </a:lvl3pPr>
              <a:lvl4pPr algn="ctr">
                <a:defRPr sz="612">
                  <a:solidFill>
                    <a:srgbClr val="263442"/>
                  </a:solidFill>
                  <a:latin typeface="Arial"/>
                  <a:ea typeface="Arial"/>
                  <a:cs typeface="Arial"/>
                </a:defRPr>
              </a:lvl4pPr>
              <a:lvl5pPr algn="ctr">
                <a:defRPr sz="612">
                  <a:solidFill>
                    <a:srgbClr val="263442"/>
                  </a:solidFill>
                  <a:latin typeface="Arial"/>
                  <a:ea typeface="Arial"/>
                  <a:cs typeface="Arial"/>
                </a:defRPr>
              </a:lvl5pPr>
              <a:lvl6pPr algn="ctr">
                <a:defRPr sz="612">
                  <a:solidFill>
                    <a:srgbClr val="263442"/>
                  </a:solidFill>
                  <a:latin typeface="Arial"/>
                  <a:ea typeface="Arial"/>
                  <a:cs typeface="Arial"/>
                </a:defRPr>
              </a:lvl6pPr>
              <a:lvl7pPr algn="ctr">
                <a:defRPr sz="612">
                  <a:solidFill>
                    <a:srgbClr val="263442"/>
                  </a:solidFill>
                  <a:latin typeface="Arial"/>
                  <a:ea typeface="Arial"/>
                  <a:cs typeface="Arial"/>
                </a:defRPr>
              </a:lvl7pPr>
              <a:lvl8pPr algn="ctr">
                <a:defRPr sz="612">
                  <a:solidFill>
                    <a:srgbClr val="263442"/>
                  </a:solidFill>
                  <a:latin typeface="Arial"/>
                  <a:ea typeface="Arial"/>
                  <a:cs typeface="Arial"/>
                </a:defRPr>
              </a:lvl8pPr>
              <a:lvl9pPr algn="ctr">
                <a:defRPr sz="612">
                  <a:solidFill>
                    <a:srgbClr val="263442"/>
                  </a:solidFill>
                  <a:latin typeface="Arial"/>
                  <a:ea typeface="Arial"/>
                  <a:cs typeface="Arial"/>
                </a:defRPr>
              </a:lvl9pPr>
            </a:lstStyle>
            <a:p>
              <a:pPr algn="ctr">
                <a:defRPr sz="612">
                  <a:solidFill>
                    <a:srgbClr val="263442"/>
                  </a:solidFill>
                  <a:latin typeface="Arial"/>
                  <a:ea typeface="Arial"/>
                  <a:cs typeface="Arial"/>
                </a:defRPr>
              </a:pPr>
              <a:r>
                <a:rPr lang="en-US" sz="550" dirty="0">
                  <a:solidFill>
                    <a:srgbClr val="263442"/>
                  </a:solidFill>
                  <a:latin typeface="Arial"/>
                  <a:ea typeface="Arial"/>
                  <a:cs typeface="Arial"/>
                </a:rPr>
                <a:t>Atom embeddings</a:t>
              </a:r>
              <a:endParaRPr sz="550" dirty="0">
                <a:solidFill>
                  <a:srgbClr val="263442"/>
                </a:solidFill>
                <a:latin typeface="Arial"/>
                <a:ea typeface="Arial"/>
                <a:cs typeface="Arial"/>
              </a:endParaRPr>
            </a:p>
          </p:txBody>
        </p:sp>
        <p:sp>
          <p:nvSpPr>
            <p:cNvPr id="1253" name="Find matrix 0-0">
              <a:extLst>
                <a:ext uri="{FF2B5EF4-FFF2-40B4-BE49-F238E27FC236}">
                  <a16:creationId xmlns:a16="http://schemas.microsoft.com/office/drawing/2014/main" id="{BBF0C328-3AF9-A068-FA92-FBF890856A66}"/>
                </a:ext>
              </a:extLst>
            </p:cNvPr>
            <p:cNvSpPr>
              <a:spLocks noGrp="1"/>
            </p:cNvSpPr>
            <p:nvPr/>
          </p:nvSpPr>
          <p:spPr>
            <a:xfrm>
              <a:off x="10255382" y="3200400"/>
              <a:ext cx="91559" cy="70009"/>
            </a:xfrm>
            <a:prstGeom prst="rect">
              <a:avLst/>
            </a:prstGeom>
            <a:solidFill>
              <a:srgbClr val="3E8F9A"/>
            </a:solidFill>
            <a:ln w="7290">
              <a:noFill/>
            </a:ln>
          </p:spPr>
        </p:sp>
        <p:sp>
          <p:nvSpPr>
            <p:cNvPr id="1254" name="Find matrix 0-1">
              <a:extLst>
                <a:ext uri="{FF2B5EF4-FFF2-40B4-BE49-F238E27FC236}">
                  <a16:creationId xmlns:a16="http://schemas.microsoft.com/office/drawing/2014/main" id="{3474DD36-B24E-DC42-848D-72CE3DEC2274}"/>
                </a:ext>
              </a:extLst>
            </p:cNvPr>
            <p:cNvSpPr>
              <a:spLocks noGrp="1"/>
            </p:cNvSpPr>
            <p:nvPr/>
          </p:nvSpPr>
          <p:spPr>
            <a:xfrm>
              <a:off x="10351227" y="3200400"/>
              <a:ext cx="91559" cy="70009"/>
            </a:xfrm>
            <a:prstGeom prst="rect">
              <a:avLst/>
            </a:prstGeom>
            <a:solidFill>
              <a:srgbClr val="5B9FB6"/>
            </a:solidFill>
            <a:ln w="7290">
              <a:noFill/>
            </a:ln>
          </p:spPr>
        </p:sp>
        <p:sp>
          <p:nvSpPr>
            <p:cNvPr id="1255" name="Find matrix 0-2">
              <a:extLst>
                <a:ext uri="{FF2B5EF4-FFF2-40B4-BE49-F238E27FC236}">
                  <a16:creationId xmlns:a16="http://schemas.microsoft.com/office/drawing/2014/main" id="{F807BDD1-EE13-F00C-2E77-C8910F6ACC73}"/>
                </a:ext>
              </a:extLst>
            </p:cNvPr>
            <p:cNvSpPr>
              <a:spLocks noGrp="1"/>
            </p:cNvSpPr>
            <p:nvPr/>
          </p:nvSpPr>
          <p:spPr>
            <a:xfrm>
              <a:off x="10447072" y="3200400"/>
              <a:ext cx="91559" cy="70009"/>
            </a:xfrm>
            <a:prstGeom prst="rect">
              <a:avLst/>
            </a:prstGeom>
            <a:solidFill>
              <a:srgbClr val="A3CDDA"/>
            </a:solidFill>
            <a:ln w="7290">
              <a:noFill/>
            </a:ln>
          </p:spPr>
        </p:sp>
        <p:sp>
          <p:nvSpPr>
            <p:cNvPr id="1256" name="Find matrix 0-3">
              <a:extLst>
                <a:ext uri="{FF2B5EF4-FFF2-40B4-BE49-F238E27FC236}">
                  <a16:creationId xmlns:a16="http://schemas.microsoft.com/office/drawing/2014/main" id="{DB1A890F-778A-35C9-7AE1-C0AE618D52CF}"/>
                </a:ext>
              </a:extLst>
            </p:cNvPr>
            <p:cNvSpPr>
              <a:spLocks noGrp="1"/>
            </p:cNvSpPr>
            <p:nvPr/>
          </p:nvSpPr>
          <p:spPr>
            <a:xfrm>
              <a:off x="10542917" y="3200400"/>
              <a:ext cx="91559" cy="70009"/>
            </a:xfrm>
            <a:prstGeom prst="rect">
              <a:avLst/>
            </a:prstGeom>
            <a:solidFill>
              <a:srgbClr val="88BEC3"/>
            </a:solidFill>
            <a:ln w="7290">
              <a:noFill/>
            </a:ln>
          </p:spPr>
        </p:sp>
        <p:sp>
          <p:nvSpPr>
            <p:cNvPr id="1257" name="Find matrix 0-4">
              <a:extLst>
                <a:ext uri="{FF2B5EF4-FFF2-40B4-BE49-F238E27FC236}">
                  <a16:creationId xmlns:a16="http://schemas.microsoft.com/office/drawing/2014/main" id="{B445D6B3-6FC7-4615-5975-85730846D82F}"/>
                </a:ext>
              </a:extLst>
            </p:cNvPr>
            <p:cNvSpPr>
              <a:spLocks noGrp="1"/>
            </p:cNvSpPr>
            <p:nvPr/>
          </p:nvSpPr>
          <p:spPr>
            <a:xfrm>
              <a:off x="10638763" y="3200400"/>
              <a:ext cx="91559" cy="70009"/>
            </a:xfrm>
            <a:prstGeom prst="rect">
              <a:avLst/>
            </a:prstGeom>
            <a:solidFill>
              <a:srgbClr val="67AD9F"/>
            </a:solidFill>
            <a:ln w="7290">
              <a:noFill/>
            </a:ln>
          </p:spPr>
        </p:sp>
        <p:sp>
          <p:nvSpPr>
            <p:cNvPr id="1258" name="Find matrix 0-5">
              <a:extLst>
                <a:ext uri="{FF2B5EF4-FFF2-40B4-BE49-F238E27FC236}">
                  <a16:creationId xmlns:a16="http://schemas.microsoft.com/office/drawing/2014/main" id="{EDF77049-6933-CA1B-21BD-2D261FB460F5}"/>
                </a:ext>
              </a:extLst>
            </p:cNvPr>
            <p:cNvSpPr>
              <a:spLocks noGrp="1"/>
            </p:cNvSpPr>
            <p:nvPr/>
          </p:nvSpPr>
          <p:spPr>
            <a:xfrm>
              <a:off x="10734608" y="3200400"/>
              <a:ext cx="91559" cy="70009"/>
            </a:xfrm>
            <a:prstGeom prst="rect">
              <a:avLst/>
            </a:prstGeom>
            <a:solidFill>
              <a:srgbClr val="C4DDE0"/>
            </a:solidFill>
            <a:ln w="7290">
              <a:noFill/>
            </a:ln>
          </p:spPr>
        </p:sp>
        <p:sp>
          <p:nvSpPr>
            <p:cNvPr id="1259" name="Find matrix 0-6">
              <a:extLst>
                <a:ext uri="{FF2B5EF4-FFF2-40B4-BE49-F238E27FC236}">
                  <a16:creationId xmlns:a16="http://schemas.microsoft.com/office/drawing/2014/main" id="{F24780FB-09E3-AE39-557B-018C817CABA7}"/>
                </a:ext>
              </a:extLst>
            </p:cNvPr>
            <p:cNvSpPr>
              <a:spLocks noGrp="1"/>
            </p:cNvSpPr>
            <p:nvPr/>
          </p:nvSpPr>
          <p:spPr>
            <a:xfrm>
              <a:off x="10830453" y="3200400"/>
              <a:ext cx="91559" cy="70009"/>
            </a:xfrm>
            <a:prstGeom prst="rect">
              <a:avLst/>
            </a:prstGeom>
            <a:solidFill>
              <a:srgbClr val="B6D8CC"/>
            </a:solidFill>
            <a:ln w="7290">
              <a:noFill/>
            </a:ln>
          </p:spPr>
        </p:sp>
        <p:sp>
          <p:nvSpPr>
            <p:cNvPr id="1260" name="Find matrix 0-7">
              <a:extLst>
                <a:ext uri="{FF2B5EF4-FFF2-40B4-BE49-F238E27FC236}">
                  <a16:creationId xmlns:a16="http://schemas.microsoft.com/office/drawing/2014/main" id="{69791062-44B8-8426-AAD4-DD68B1FF31BA}"/>
                </a:ext>
              </a:extLst>
            </p:cNvPr>
            <p:cNvSpPr>
              <a:spLocks noGrp="1"/>
            </p:cNvSpPr>
            <p:nvPr/>
          </p:nvSpPr>
          <p:spPr>
            <a:xfrm>
              <a:off x="10926299" y="3200400"/>
              <a:ext cx="91559" cy="70009"/>
            </a:xfrm>
            <a:prstGeom prst="rect">
              <a:avLst/>
            </a:prstGeom>
            <a:solidFill>
              <a:srgbClr val="D6E5ED"/>
            </a:solidFill>
            <a:ln w="7290">
              <a:noFill/>
            </a:ln>
          </p:spPr>
        </p:sp>
        <p:sp>
          <p:nvSpPr>
            <p:cNvPr id="1261" name="Find matrix 1-0">
              <a:extLst>
                <a:ext uri="{FF2B5EF4-FFF2-40B4-BE49-F238E27FC236}">
                  <a16:creationId xmlns:a16="http://schemas.microsoft.com/office/drawing/2014/main" id="{DAD773D5-9108-C0B7-81D5-AC1CF98B49B0}"/>
                </a:ext>
              </a:extLst>
            </p:cNvPr>
            <p:cNvSpPr>
              <a:spLocks noGrp="1"/>
            </p:cNvSpPr>
            <p:nvPr/>
          </p:nvSpPr>
          <p:spPr>
            <a:xfrm>
              <a:off x="10255382" y="3274695"/>
              <a:ext cx="91559" cy="70009"/>
            </a:xfrm>
            <a:prstGeom prst="rect">
              <a:avLst/>
            </a:prstGeom>
            <a:solidFill>
              <a:srgbClr val="A3CDDA"/>
            </a:solidFill>
            <a:ln w="7290">
              <a:noFill/>
            </a:ln>
          </p:spPr>
        </p:sp>
        <p:sp>
          <p:nvSpPr>
            <p:cNvPr id="1262" name="Find matrix 1-1">
              <a:extLst>
                <a:ext uri="{FF2B5EF4-FFF2-40B4-BE49-F238E27FC236}">
                  <a16:creationId xmlns:a16="http://schemas.microsoft.com/office/drawing/2014/main" id="{FD6D65E0-3CD4-81C9-A7EC-EE4D1EA03DA1}"/>
                </a:ext>
              </a:extLst>
            </p:cNvPr>
            <p:cNvSpPr>
              <a:spLocks noGrp="1"/>
            </p:cNvSpPr>
            <p:nvPr/>
          </p:nvSpPr>
          <p:spPr>
            <a:xfrm>
              <a:off x="10351227" y="3274695"/>
              <a:ext cx="91559" cy="70009"/>
            </a:xfrm>
            <a:prstGeom prst="rect">
              <a:avLst/>
            </a:prstGeom>
            <a:solidFill>
              <a:srgbClr val="B6D8CC"/>
            </a:solidFill>
            <a:ln w="7290">
              <a:noFill/>
            </a:ln>
          </p:spPr>
        </p:sp>
        <p:sp>
          <p:nvSpPr>
            <p:cNvPr id="1263" name="Find matrix 1-2">
              <a:extLst>
                <a:ext uri="{FF2B5EF4-FFF2-40B4-BE49-F238E27FC236}">
                  <a16:creationId xmlns:a16="http://schemas.microsoft.com/office/drawing/2014/main" id="{C06E5EF8-D1B9-1DB5-4010-25CDECE16DF3}"/>
                </a:ext>
              </a:extLst>
            </p:cNvPr>
            <p:cNvSpPr>
              <a:spLocks noGrp="1"/>
            </p:cNvSpPr>
            <p:nvPr/>
          </p:nvSpPr>
          <p:spPr>
            <a:xfrm>
              <a:off x="10447072" y="3274695"/>
              <a:ext cx="91559" cy="70009"/>
            </a:xfrm>
            <a:prstGeom prst="rect">
              <a:avLst/>
            </a:prstGeom>
            <a:solidFill>
              <a:srgbClr val="88BEC3"/>
            </a:solidFill>
            <a:ln w="7290">
              <a:noFill/>
            </a:ln>
          </p:spPr>
        </p:sp>
        <p:sp>
          <p:nvSpPr>
            <p:cNvPr id="1264" name="Find matrix 1-3">
              <a:extLst>
                <a:ext uri="{FF2B5EF4-FFF2-40B4-BE49-F238E27FC236}">
                  <a16:creationId xmlns:a16="http://schemas.microsoft.com/office/drawing/2014/main" id="{9AD5706A-D366-481E-242D-C3727EE68292}"/>
                </a:ext>
              </a:extLst>
            </p:cNvPr>
            <p:cNvSpPr>
              <a:spLocks noGrp="1"/>
            </p:cNvSpPr>
            <p:nvPr/>
          </p:nvSpPr>
          <p:spPr>
            <a:xfrm>
              <a:off x="10542917" y="3274695"/>
              <a:ext cx="91559" cy="70009"/>
            </a:xfrm>
            <a:prstGeom prst="rect">
              <a:avLst/>
            </a:prstGeom>
            <a:solidFill>
              <a:srgbClr val="D6E5ED"/>
            </a:solidFill>
            <a:ln w="7290">
              <a:noFill/>
            </a:ln>
          </p:spPr>
        </p:sp>
        <p:sp>
          <p:nvSpPr>
            <p:cNvPr id="1265" name="Find matrix 1-4">
              <a:extLst>
                <a:ext uri="{FF2B5EF4-FFF2-40B4-BE49-F238E27FC236}">
                  <a16:creationId xmlns:a16="http://schemas.microsoft.com/office/drawing/2014/main" id="{6454B603-2435-1F3E-EFE1-9F3ED69FE183}"/>
                </a:ext>
              </a:extLst>
            </p:cNvPr>
            <p:cNvSpPr>
              <a:spLocks noGrp="1"/>
            </p:cNvSpPr>
            <p:nvPr/>
          </p:nvSpPr>
          <p:spPr>
            <a:xfrm>
              <a:off x="10638763" y="3274695"/>
              <a:ext cx="91559" cy="70009"/>
            </a:xfrm>
            <a:prstGeom prst="rect">
              <a:avLst/>
            </a:prstGeom>
            <a:solidFill>
              <a:srgbClr val="5B9FB6"/>
            </a:solidFill>
            <a:ln w="7290">
              <a:noFill/>
            </a:ln>
          </p:spPr>
        </p:sp>
        <p:sp>
          <p:nvSpPr>
            <p:cNvPr id="1266" name="Find matrix 1-5">
              <a:extLst>
                <a:ext uri="{FF2B5EF4-FFF2-40B4-BE49-F238E27FC236}">
                  <a16:creationId xmlns:a16="http://schemas.microsoft.com/office/drawing/2014/main" id="{BDC3058F-5BB6-EF0A-C0E4-8FFF478A86C2}"/>
                </a:ext>
              </a:extLst>
            </p:cNvPr>
            <p:cNvSpPr>
              <a:spLocks noGrp="1"/>
            </p:cNvSpPr>
            <p:nvPr/>
          </p:nvSpPr>
          <p:spPr>
            <a:xfrm>
              <a:off x="10734608" y="3274695"/>
              <a:ext cx="91559" cy="70009"/>
            </a:xfrm>
            <a:prstGeom prst="rect">
              <a:avLst/>
            </a:prstGeom>
            <a:solidFill>
              <a:srgbClr val="3E8F9A"/>
            </a:solidFill>
            <a:ln w="7290">
              <a:noFill/>
            </a:ln>
          </p:spPr>
        </p:sp>
        <p:sp>
          <p:nvSpPr>
            <p:cNvPr id="1267" name="Find matrix 1-6">
              <a:extLst>
                <a:ext uri="{FF2B5EF4-FFF2-40B4-BE49-F238E27FC236}">
                  <a16:creationId xmlns:a16="http://schemas.microsoft.com/office/drawing/2014/main" id="{7A6FD57F-2D4A-E860-6015-70841E18A307}"/>
                </a:ext>
              </a:extLst>
            </p:cNvPr>
            <p:cNvSpPr>
              <a:spLocks noGrp="1"/>
            </p:cNvSpPr>
            <p:nvPr/>
          </p:nvSpPr>
          <p:spPr>
            <a:xfrm>
              <a:off x="10830453" y="3274695"/>
              <a:ext cx="91559" cy="70009"/>
            </a:xfrm>
            <a:prstGeom prst="rect">
              <a:avLst/>
            </a:prstGeom>
            <a:solidFill>
              <a:srgbClr val="C4DDE0"/>
            </a:solidFill>
            <a:ln w="7290">
              <a:noFill/>
            </a:ln>
          </p:spPr>
        </p:sp>
        <p:sp>
          <p:nvSpPr>
            <p:cNvPr id="1268" name="Find matrix 1-7">
              <a:extLst>
                <a:ext uri="{FF2B5EF4-FFF2-40B4-BE49-F238E27FC236}">
                  <a16:creationId xmlns:a16="http://schemas.microsoft.com/office/drawing/2014/main" id="{289EF4F7-DDB6-5545-39F7-5D1B3F86D2D3}"/>
                </a:ext>
              </a:extLst>
            </p:cNvPr>
            <p:cNvSpPr>
              <a:spLocks noGrp="1"/>
            </p:cNvSpPr>
            <p:nvPr/>
          </p:nvSpPr>
          <p:spPr>
            <a:xfrm>
              <a:off x="10926299" y="3274695"/>
              <a:ext cx="91559" cy="70009"/>
            </a:xfrm>
            <a:prstGeom prst="rect">
              <a:avLst/>
            </a:prstGeom>
            <a:solidFill>
              <a:srgbClr val="67AD9F"/>
            </a:solidFill>
            <a:ln w="7290">
              <a:noFill/>
            </a:ln>
          </p:spPr>
        </p:sp>
        <p:sp>
          <p:nvSpPr>
            <p:cNvPr id="1269" name="Find matrix 2-0">
              <a:extLst>
                <a:ext uri="{FF2B5EF4-FFF2-40B4-BE49-F238E27FC236}">
                  <a16:creationId xmlns:a16="http://schemas.microsoft.com/office/drawing/2014/main" id="{B1282592-D5D6-9C68-2D42-3D2A0FA6458C}"/>
                </a:ext>
              </a:extLst>
            </p:cNvPr>
            <p:cNvSpPr>
              <a:spLocks noGrp="1"/>
            </p:cNvSpPr>
            <p:nvPr/>
          </p:nvSpPr>
          <p:spPr>
            <a:xfrm>
              <a:off x="10255382" y="3348990"/>
              <a:ext cx="91559" cy="70009"/>
            </a:xfrm>
            <a:prstGeom prst="rect">
              <a:avLst/>
            </a:prstGeom>
            <a:solidFill>
              <a:srgbClr val="67AD9F"/>
            </a:solidFill>
            <a:ln w="7290">
              <a:noFill/>
            </a:ln>
          </p:spPr>
        </p:sp>
        <p:sp>
          <p:nvSpPr>
            <p:cNvPr id="1270" name="Find matrix 2-1">
              <a:extLst>
                <a:ext uri="{FF2B5EF4-FFF2-40B4-BE49-F238E27FC236}">
                  <a16:creationId xmlns:a16="http://schemas.microsoft.com/office/drawing/2014/main" id="{390A8337-4744-F454-87FF-4E9BDE799C1D}"/>
                </a:ext>
              </a:extLst>
            </p:cNvPr>
            <p:cNvSpPr>
              <a:spLocks noGrp="1"/>
            </p:cNvSpPr>
            <p:nvPr/>
          </p:nvSpPr>
          <p:spPr>
            <a:xfrm>
              <a:off x="10351227" y="3348990"/>
              <a:ext cx="91559" cy="70009"/>
            </a:xfrm>
            <a:prstGeom prst="rect">
              <a:avLst/>
            </a:prstGeom>
            <a:solidFill>
              <a:srgbClr val="C4DDE0"/>
            </a:solidFill>
            <a:ln w="7290">
              <a:noFill/>
            </a:ln>
          </p:spPr>
        </p:sp>
        <p:sp>
          <p:nvSpPr>
            <p:cNvPr id="1271" name="Find matrix 2-2">
              <a:extLst>
                <a:ext uri="{FF2B5EF4-FFF2-40B4-BE49-F238E27FC236}">
                  <a16:creationId xmlns:a16="http://schemas.microsoft.com/office/drawing/2014/main" id="{F2F7291B-E14D-7E55-CC39-0366DDE36AB6}"/>
                </a:ext>
              </a:extLst>
            </p:cNvPr>
            <p:cNvSpPr>
              <a:spLocks noGrp="1"/>
            </p:cNvSpPr>
            <p:nvPr/>
          </p:nvSpPr>
          <p:spPr>
            <a:xfrm>
              <a:off x="10447072" y="3348990"/>
              <a:ext cx="91559" cy="70009"/>
            </a:xfrm>
            <a:prstGeom prst="rect">
              <a:avLst/>
            </a:prstGeom>
            <a:solidFill>
              <a:srgbClr val="5B9FB6"/>
            </a:solidFill>
            <a:ln w="7290">
              <a:noFill/>
            </a:ln>
          </p:spPr>
        </p:sp>
        <p:sp>
          <p:nvSpPr>
            <p:cNvPr id="1272" name="Find matrix 2-3">
              <a:extLst>
                <a:ext uri="{FF2B5EF4-FFF2-40B4-BE49-F238E27FC236}">
                  <a16:creationId xmlns:a16="http://schemas.microsoft.com/office/drawing/2014/main" id="{7DDB5DDB-AA90-B36F-ECCA-B3D87BDEF49C}"/>
                </a:ext>
              </a:extLst>
            </p:cNvPr>
            <p:cNvSpPr>
              <a:spLocks noGrp="1"/>
            </p:cNvSpPr>
            <p:nvPr/>
          </p:nvSpPr>
          <p:spPr>
            <a:xfrm>
              <a:off x="10542917" y="3348990"/>
              <a:ext cx="91559" cy="70009"/>
            </a:xfrm>
            <a:prstGeom prst="rect">
              <a:avLst/>
            </a:prstGeom>
            <a:solidFill>
              <a:srgbClr val="B6D8CC"/>
            </a:solidFill>
            <a:ln w="7290">
              <a:noFill/>
            </a:ln>
          </p:spPr>
        </p:sp>
        <p:sp>
          <p:nvSpPr>
            <p:cNvPr id="1273" name="Find matrix 2-4">
              <a:extLst>
                <a:ext uri="{FF2B5EF4-FFF2-40B4-BE49-F238E27FC236}">
                  <a16:creationId xmlns:a16="http://schemas.microsoft.com/office/drawing/2014/main" id="{FBF483EB-0895-E2F9-E946-2CE7B0273010}"/>
                </a:ext>
              </a:extLst>
            </p:cNvPr>
            <p:cNvSpPr>
              <a:spLocks noGrp="1"/>
            </p:cNvSpPr>
            <p:nvPr/>
          </p:nvSpPr>
          <p:spPr>
            <a:xfrm>
              <a:off x="10638763" y="3348990"/>
              <a:ext cx="91559" cy="70009"/>
            </a:xfrm>
            <a:prstGeom prst="rect">
              <a:avLst/>
            </a:prstGeom>
            <a:solidFill>
              <a:srgbClr val="3E8F9A"/>
            </a:solidFill>
            <a:ln w="7290">
              <a:noFill/>
            </a:ln>
          </p:spPr>
        </p:sp>
        <p:sp>
          <p:nvSpPr>
            <p:cNvPr id="1274" name="Find matrix 2-5">
              <a:extLst>
                <a:ext uri="{FF2B5EF4-FFF2-40B4-BE49-F238E27FC236}">
                  <a16:creationId xmlns:a16="http://schemas.microsoft.com/office/drawing/2014/main" id="{235264C0-29EF-D9B8-F0D1-9BEBBAD9D6E8}"/>
                </a:ext>
              </a:extLst>
            </p:cNvPr>
            <p:cNvSpPr>
              <a:spLocks noGrp="1"/>
            </p:cNvSpPr>
            <p:nvPr/>
          </p:nvSpPr>
          <p:spPr>
            <a:xfrm>
              <a:off x="10734608" y="3348990"/>
              <a:ext cx="91559" cy="70009"/>
            </a:xfrm>
            <a:prstGeom prst="rect">
              <a:avLst/>
            </a:prstGeom>
            <a:solidFill>
              <a:srgbClr val="D6E5ED"/>
            </a:solidFill>
            <a:ln w="7290">
              <a:noFill/>
            </a:ln>
          </p:spPr>
        </p:sp>
        <p:sp>
          <p:nvSpPr>
            <p:cNvPr id="1275" name="Find matrix 2-6">
              <a:extLst>
                <a:ext uri="{FF2B5EF4-FFF2-40B4-BE49-F238E27FC236}">
                  <a16:creationId xmlns:a16="http://schemas.microsoft.com/office/drawing/2014/main" id="{89BB4142-622C-474C-899B-E7C760EA5054}"/>
                </a:ext>
              </a:extLst>
            </p:cNvPr>
            <p:cNvSpPr>
              <a:spLocks noGrp="1"/>
            </p:cNvSpPr>
            <p:nvPr/>
          </p:nvSpPr>
          <p:spPr>
            <a:xfrm>
              <a:off x="10830453" y="3348990"/>
              <a:ext cx="91559" cy="70009"/>
            </a:xfrm>
            <a:prstGeom prst="rect">
              <a:avLst/>
            </a:prstGeom>
            <a:solidFill>
              <a:srgbClr val="88BEC3"/>
            </a:solidFill>
            <a:ln w="7290">
              <a:noFill/>
            </a:ln>
          </p:spPr>
        </p:sp>
        <p:sp>
          <p:nvSpPr>
            <p:cNvPr id="1276" name="Find matrix 2-7">
              <a:extLst>
                <a:ext uri="{FF2B5EF4-FFF2-40B4-BE49-F238E27FC236}">
                  <a16:creationId xmlns:a16="http://schemas.microsoft.com/office/drawing/2014/main" id="{6D2284D9-4AE6-02DD-AA99-C88ED825A8F4}"/>
                </a:ext>
              </a:extLst>
            </p:cNvPr>
            <p:cNvSpPr>
              <a:spLocks noGrp="1"/>
            </p:cNvSpPr>
            <p:nvPr/>
          </p:nvSpPr>
          <p:spPr>
            <a:xfrm>
              <a:off x="10926299" y="3348990"/>
              <a:ext cx="91559" cy="70009"/>
            </a:xfrm>
            <a:prstGeom prst="rect">
              <a:avLst/>
            </a:prstGeom>
            <a:solidFill>
              <a:srgbClr val="A3CDDA"/>
            </a:solidFill>
            <a:ln w="7290">
              <a:noFill/>
            </a:ln>
          </p:spPr>
        </p:sp>
        <p:sp>
          <p:nvSpPr>
            <p:cNvPr id="1277" name="Find matrix 3-0">
              <a:extLst>
                <a:ext uri="{FF2B5EF4-FFF2-40B4-BE49-F238E27FC236}">
                  <a16:creationId xmlns:a16="http://schemas.microsoft.com/office/drawing/2014/main" id="{A354350A-00E7-4344-FF84-5BBF2165CEDA}"/>
                </a:ext>
              </a:extLst>
            </p:cNvPr>
            <p:cNvSpPr>
              <a:spLocks noGrp="1"/>
            </p:cNvSpPr>
            <p:nvPr/>
          </p:nvSpPr>
          <p:spPr>
            <a:xfrm>
              <a:off x="10255382" y="3423285"/>
              <a:ext cx="91559" cy="70009"/>
            </a:xfrm>
            <a:prstGeom prst="rect">
              <a:avLst/>
            </a:prstGeom>
            <a:solidFill>
              <a:srgbClr val="88BEC3"/>
            </a:solidFill>
            <a:ln w="7290">
              <a:noFill/>
            </a:ln>
          </p:spPr>
        </p:sp>
        <p:sp>
          <p:nvSpPr>
            <p:cNvPr id="1278" name="Find matrix 3-1">
              <a:extLst>
                <a:ext uri="{FF2B5EF4-FFF2-40B4-BE49-F238E27FC236}">
                  <a16:creationId xmlns:a16="http://schemas.microsoft.com/office/drawing/2014/main" id="{E2EDFAC2-C5CD-2DF8-165C-4DBC9D98B449}"/>
                </a:ext>
              </a:extLst>
            </p:cNvPr>
            <p:cNvSpPr>
              <a:spLocks noGrp="1"/>
            </p:cNvSpPr>
            <p:nvPr/>
          </p:nvSpPr>
          <p:spPr>
            <a:xfrm>
              <a:off x="10351227" y="3423285"/>
              <a:ext cx="91559" cy="70009"/>
            </a:xfrm>
            <a:prstGeom prst="rect">
              <a:avLst/>
            </a:prstGeom>
            <a:solidFill>
              <a:srgbClr val="D6E5ED"/>
            </a:solidFill>
            <a:ln w="7290">
              <a:noFill/>
            </a:ln>
          </p:spPr>
        </p:sp>
        <p:sp>
          <p:nvSpPr>
            <p:cNvPr id="1279" name="Find matrix 3-2">
              <a:extLst>
                <a:ext uri="{FF2B5EF4-FFF2-40B4-BE49-F238E27FC236}">
                  <a16:creationId xmlns:a16="http://schemas.microsoft.com/office/drawing/2014/main" id="{4D088869-EB59-E1B3-59B4-C3C92C8170BA}"/>
                </a:ext>
              </a:extLst>
            </p:cNvPr>
            <p:cNvSpPr>
              <a:spLocks noGrp="1"/>
            </p:cNvSpPr>
            <p:nvPr/>
          </p:nvSpPr>
          <p:spPr>
            <a:xfrm>
              <a:off x="10447072" y="3423285"/>
              <a:ext cx="91559" cy="70009"/>
            </a:xfrm>
            <a:prstGeom prst="rect">
              <a:avLst/>
            </a:prstGeom>
            <a:solidFill>
              <a:srgbClr val="67AD9F"/>
            </a:solidFill>
            <a:ln w="7290">
              <a:noFill/>
            </a:ln>
          </p:spPr>
        </p:sp>
        <p:sp>
          <p:nvSpPr>
            <p:cNvPr id="1280" name="Find matrix 3-3">
              <a:extLst>
                <a:ext uri="{FF2B5EF4-FFF2-40B4-BE49-F238E27FC236}">
                  <a16:creationId xmlns:a16="http://schemas.microsoft.com/office/drawing/2014/main" id="{119CBCB9-6860-7DCC-AF73-C422647EEF23}"/>
                </a:ext>
              </a:extLst>
            </p:cNvPr>
            <p:cNvSpPr>
              <a:spLocks noGrp="1"/>
            </p:cNvSpPr>
            <p:nvPr/>
          </p:nvSpPr>
          <p:spPr>
            <a:xfrm>
              <a:off x="10542917" y="3423285"/>
              <a:ext cx="91559" cy="70009"/>
            </a:xfrm>
            <a:prstGeom prst="rect">
              <a:avLst/>
            </a:prstGeom>
            <a:solidFill>
              <a:srgbClr val="3E8F9A"/>
            </a:solidFill>
            <a:ln w="7290">
              <a:noFill/>
            </a:ln>
          </p:spPr>
        </p:sp>
        <p:sp>
          <p:nvSpPr>
            <p:cNvPr id="1281" name="Find matrix 3-4">
              <a:extLst>
                <a:ext uri="{FF2B5EF4-FFF2-40B4-BE49-F238E27FC236}">
                  <a16:creationId xmlns:a16="http://schemas.microsoft.com/office/drawing/2014/main" id="{F0ED964A-EDEB-7D43-69F8-BEFE576D1277}"/>
                </a:ext>
              </a:extLst>
            </p:cNvPr>
            <p:cNvSpPr>
              <a:spLocks noGrp="1"/>
            </p:cNvSpPr>
            <p:nvPr/>
          </p:nvSpPr>
          <p:spPr>
            <a:xfrm>
              <a:off x="10638763" y="3423285"/>
              <a:ext cx="91559" cy="70009"/>
            </a:xfrm>
            <a:prstGeom prst="rect">
              <a:avLst/>
            </a:prstGeom>
            <a:solidFill>
              <a:srgbClr val="C4DDE0"/>
            </a:solidFill>
            <a:ln w="7290">
              <a:noFill/>
            </a:ln>
          </p:spPr>
        </p:sp>
        <p:sp>
          <p:nvSpPr>
            <p:cNvPr id="1282" name="Find matrix 3-5">
              <a:extLst>
                <a:ext uri="{FF2B5EF4-FFF2-40B4-BE49-F238E27FC236}">
                  <a16:creationId xmlns:a16="http://schemas.microsoft.com/office/drawing/2014/main" id="{A0A2A64A-E67D-3395-0409-F2703179F7EC}"/>
                </a:ext>
              </a:extLst>
            </p:cNvPr>
            <p:cNvSpPr>
              <a:spLocks noGrp="1"/>
            </p:cNvSpPr>
            <p:nvPr/>
          </p:nvSpPr>
          <p:spPr>
            <a:xfrm>
              <a:off x="10734608" y="3423285"/>
              <a:ext cx="91559" cy="70009"/>
            </a:xfrm>
            <a:prstGeom prst="rect">
              <a:avLst/>
            </a:prstGeom>
            <a:solidFill>
              <a:srgbClr val="A3CDDA"/>
            </a:solidFill>
            <a:ln w="7290">
              <a:noFill/>
            </a:ln>
          </p:spPr>
        </p:sp>
        <p:sp>
          <p:nvSpPr>
            <p:cNvPr id="1283" name="Find matrix 3-6">
              <a:extLst>
                <a:ext uri="{FF2B5EF4-FFF2-40B4-BE49-F238E27FC236}">
                  <a16:creationId xmlns:a16="http://schemas.microsoft.com/office/drawing/2014/main" id="{EA7CE8E7-C1AC-E261-A970-8EC80886D558}"/>
                </a:ext>
              </a:extLst>
            </p:cNvPr>
            <p:cNvSpPr>
              <a:spLocks noGrp="1"/>
            </p:cNvSpPr>
            <p:nvPr/>
          </p:nvSpPr>
          <p:spPr>
            <a:xfrm>
              <a:off x="10830453" y="3423285"/>
              <a:ext cx="91559" cy="70009"/>
            </a:xfrm>
            <a:prstGeom prst="rect">
              <a:avLst/>
            </a:prstGeom>
            <a:solidFill>
              <a:srgbClr val="B6D8CC"/>
            </a:solidFill>
            <a:ln w="7290">
              <a:noFill/>
            </a:ln>
          </p:spPr>
        </p:sp>
        <p:sp>
          <p:nvSpPr>
            <p:cNvPr id="1284" name="Find matrix 3-7">
              <a:extLst>
                <a:ext uri="{FF2B5EF4-FFF2-40B4-BE49-F238E27FC236}">
                  <a16:creationId xmlns:a16="http://schemas.microsoft.com/office/drawing/2014/main" id="{3CC5802F-96A8-F327-8DCD-5C642BB94DCE}"/>
                </a:ext>
              </a:extLst>
            </p:cNvPr>
            <p:cNvSpPr>
              <a:spLocks noGrp="1"/>
            </p:cNvSpPr>
            <p:nvPr/>
          </p:nvSpPr>
          <p:spPr>
            <a:xfrm>
              <a:off x="10926299" y="3423285"/>
              <a:ext cx="91559" cy="70009"/>
            </a:xfrm>
            <a:prstGeom prst="rect">
              <a:avLst/>
            </a:prstGeom>
            <a:solidFill>
              <a:srgbClr val="5B9FB6"/>
            </a:solidFill>
            <a:ln w="7290">
              <a:noFill/>
            </a:ln>
          </p:spPr>
        </p:sp>
        <p:sp>
          <p:nvSpPr>
            <p:cNvPr id="1285" name="Match matrix 0-0">
              <a:extLst>
                <a:ext uri="{FF2B5EF4-FFF2-40B4-BE49-F238E27FC236}">
                  <a16:creationId xmlns:a16="http://schemas.microsoft.com/office/drawing/2014/main" id="{1E148E3C-F1D3-F47F-36C6-42E1C579FB78}"/>
                </a:ext>
              </a:extLst>
            </p:cNvPr>
            <p:cNvSpPr>
              <a:spLocks noGrp="1"/>
            </p:cNvSpPr>
            <p:nvPr/>
          </p:nvSpPr>
          <p:spPr>
            <a:xfrm>
              <a:off x="3633156" y="7252039"/>
              <a:ext cx="88583" cy="70009"/>
            </a:xfrm>
            <a:prstGeom prst="rect">
              <a:avLst/>
            </a:prstGeom>
            <a:solidFill>
              <a:srgbClr val="3E8F9A"/>
            </a:solidFill>
            <a:ln w="7290">
              <a:noFill/>
            </a:ln>
          </p:spPr>
        </p:sp>
        <p:sp>
          <p:nvSpPr>
            <p:cNvPr id="1286" name="Match matrix 0-1">
              <a:extLst>
                <a:ext uri="{FF2B5EF4-FFF2-40B4-BE49-F238E27FC236}">
                  <a16:creationId xmlns:a16="http://schemas.microsoft.com/office/drawing/2014/main" id="{6CE95E95-35B4-AAA3-E629-B7804854BFD1}"/>
                </a:ext>
              </a:extLst>
            </p:cNvPr>
            <p:cNvSpPr>
              <a:spLocks noGrp="1"/>
            </p:cNvSpPr>
            <p:nvPr/>
          </p:nvSpPr>
          <p:spPr>
            <a:xfrm>
              <a:off x="3726025" y="7252039"/>
              <a:ext cx="88583" cy="70009"/>
            </a:xfrm>
            <a:prstGeom prst="rect">
              <a:avLst/>
            </a:prstGeom>
            <a:solidFill>
              <a:srgbClr val="5B9FB6"/>
            </a:solidFill>
            <a:ln w="7290">
              <a:noFill/>
            </a:ln>
          </p:spPr>
        </p:sp>
        <p:sp>
          <p:nvSpPr>
            <p:cNvPr id="1287" name="Match matrix 0-2">
              <a:extLst>
                <a:ext uri="{FF2B5EF4-FFF2-40B4-BE49-F238E27FC236}">
                  <a16:creationId xmlns:a16="http://schemas.microsoft.com/office/drawing/2014/main" id="{7AA444A0-2B6A-4C23-EFFA-BB0D0814FEA4}"/>
                </a:ext>
              </a:extLst>
            </p:cNvPr>
            <p:cNvSpPr>
              <a:spLocks noGrp="1"/>
            </p:cNvSpPr>
            <p:nvPr/>
          </p:nvSpPr>
          <p:spPr>
            <a:xfrm>
              <a:off x="3818894" y="7252039"/>
              <a:ext cx="88583" cy="70009"/>
            </a:xfrm>
            <a:prstGeom prst="rect">
              <a:avLst/>
            </a:prstGeom>
            <a:solidFill>
              <a:srgbClr val="A3CDDA"/>
            </a:solidFill>
            <a:ln w="7290">
              <a:noFill/>
            </a:ln>
          </p:spPr>
        </p:sp>
        <p:sp>
          <p:nvSpPr>
            <p:cNvPr id="1288" name="Match matrix 0-3">
              <a:extLst>
                <a:ext uri="{FF2B5EF4-FFF2-40B4-BE49-F238E27FC236}">
                  <a16:creationId xmlns:a16="http://schemas.microsoft.com/office/drawing/2014/main" id="{FA614244-906C-CFFC-1294-6D233D01CB35}"/>
                </a:ext>
              </a:extLst>
            </p:cNvPr>
            <p:cNvSpPr>
              <a:spLocks noGrp="1"/>
            </p:cNvSpPr>
            <p:nvPr/>
          </p:nvSpPr>
          <p:spPr>
            <a:xfrm>
              <a:off x="3911762" y="7252039"/>
              <a:ext cx="88583" cy="70009"/>
            </a:xfrm>
            <a:prstGeom prst="rect">
              <a:avLst/>
            </a:prstGeom>
            <a:solidFill>
              <a:srgbClr val="88BEC3"/>
            </a:solidFill>
            <a:ln w="7290">
              <a:noFill/>
            </a:ln>
          </p:spPr>
        </p:sp>
        <p:sp>
          <p:nvSpPr>
            <p:cNvPr id="1289" name="Match matrix 0-4">
              <a:extLst>
                <a:ext uri="{FF2B5EF4-FFF2-40B4-BE49-F238E27FC236}">
                  <a16:creationId xmlns:a16="http://schemas.microsoft.com/office/drawing/2014/main" id="{EE4A1296-1DD3-454F-610D-2BDEB1D0EFA9}"/>
                </a:ext>
              </a:extLst>
            </p:cNvPr>
            <p:cNvSpPr>
              <a:spLocks noGrp="1"/>
            </p:cNvSpPr>
            <p:nvPr/>
          </p:nvSpPr>
          <p:spPr>
            <a:xfrm>
              <a:off x="4004631" y="7252039"/>
              <a:ext cx="88583" cy="70009"/>
            </a:xfrm>
            <a:prstGeom prst="rect">
              <a:avLst/>
            </a:prstGeom>
            <a:solidFill>
              <a:srgbClr val="67AD9F"/>
            </a:solidFill>
            <a:ln w="7290">
              <a:noFill/>
            </a:ln>
          </p:spPr>
        </p:sp>
        <p:sp>
          <p:nvSpPr>
            <p:cNvPr id="1290" name="Match matrix 0-5">
              <a:extLst>
                <a:ext uri="{FF2B5EF4-FFF2-40B4-BE49-F238E27FC236}">
                  <a16:creationId xmlns:a16="http://schemas.microsoft.com/office/drawing/2014/main" id="{A27DCA6A-D9A0-89D2-300F-145A0353541B}"/>
                </a:ext>
              </a:extLst>
            </p:cNvPr>
            <p:cNvSpPr>
              <a:spLocks noGrp="1"/>
            </p:cNvSpPr>
            <p:nvPr/>
          </p:nvSpPr>
          <p:spPr>
            <a:xfrm>
              <a:off x="4097500" y="7252039"/>
              <a:ext cx="88583" cy="70009"/>
            </a:xfrm>
            <a:prstGeom prst="rect">
              <a:avLst/>
            </a:prstGeom>
            <a:solidFill>
              <a:srgbClr val="C4DDE0"/>
            </a:solidFill>
            <a:ln w="7290">
              <a:noFill/>
            </a:ln>
          </p:spPr>
        </p:sp>
        <p:sp>
          <p:nvSpPr>
            <p:cNvPr id="1291" name="Match matrix 0-6">
              <a:extLst>
                <a:ext uri="{FF2B5EF4-FFF2-40B4-BE49-F238E27FC236}">
                  <a16:creationId xmlns:a16="http://schemas.microsoft.com/office/drawing/2014/main" id="{110481AC-0BB3-A98A-15F4-6DA00B6462E6}"/>
                </a:ext>
              </a:extLst>
            </p:cNvPr>
            <p:cNvSpPr>
              <a:spLocks noGrp="1"/>
            </p:cNvSpPr>
            <p:nvPr/>
          </p:nvSpPr>
          <p:spPr>
            <a:xfrm>
              <a:off x="4190369" y="7252039"/>
              <a:ext cx="88583" cy="70009"/>
            </a:xfrm>
            <a:prstGeom prst="rect">
              <a:avLst/>
            </a:prstGeom>
            <a:solidFill>
              <a:srgbClr val="B6D8CC"/>
            </a:solidFill>
            <a:ln w="7290">
              <a:noFill/>
            </a:ln>
          </p:spPr>
        </p:sp>
        <p:sp>
          <p:nvSpPr>
            <p:cNvPr id="1292" name="Match matrix 0-7">
              <a:extLst>
                <a:ext uri="{FF2B5EF4-FFF2-40B4-BE49-F238E27FC236}">
                  <a16:creationId xmlns:a16="http://schemas.microsoft.com/office/drawing/2014/main" id="{CA0FE5FF-20F8-A515-1575-D2B579C6A384}"/>
                </a:ext>
              </a:extLst>
            </p:cNvPr>
            <p:cNvSpPr>
              <a:spLocks noGrp="1"/>
            </p:cNvSpPr>
            <p:nvPr/>
          </p:nvSpPr>
          <p:spPr>
            <a:xfrm>
              <a:off x="4283237" y="7252039"/>
              <a:ext cx="88583" cy="70009"/>
            </a:xfrm>
            <a:prstGeom prst="rect">
              <a:avLst/>
            </a:prstGeom>
            <a:solidFill>
              <a:srgbClr val="D6E5ED"/>
            </a:solidFill>
            <a:ln w="7290">
              <a:noFill/>
            </a:ln>
          </p:spPr>
        </p:sp>
        <p:sp>
          <p:nvSpPr>
            <p:cNvPr id="1293" name="Match matrix 1-0">
              <a:extLst>
                <a:ext uri="{FF2B5EF4-FFF2-40B4-BE49-F238E27FC236}">
                  <a16:creationId xmlns:a16="http://schemas.microsoft.com/office/drawing/2014/main" id="{62DD97DC-E1EF-3AC8-77C6-31E750CF1688}"/>
                </a:ext>
              </a:extLst>
            </p:cNvPr>
            <p:cNvSpPr>
              <a:spLocks noGrp="1"/>
            </p:cNvSpPr>
            <p:nvPr/>
          </p:nvSpPr>
          <p:spPr>
            <a:xfrm>
              <a:off x="3633156" y="7326334"/>
              <a:ext cx="88583" cy="70009"/>
            </a:xfrm>
            <a:prstGeom prst="rect">
              <a:avLst/>
            </a:prstGeom>
            <a:solidFill>
              <a:srgbClr val="A3CDDA"/>
            </a:solidFill>
            <a:ln w="7290">
              <a:noFill/>
            </a:ln>
          </p:spPr>
        </p:sp>
        <p:sp>
          <p:nvSpPr>
            <p:cNvPr id="1294" name="Match matrix 1-1">
              <a:extLst>
                <a:ext uri="{FF2B5EF4-FFF2-40B4-BE49-F238E27FC236}">
                  <a16:creationId xmlns:a16="http://schemas.microsoft.com/office/drawing/2014/main" id="{B545DCC8-F9BD-6322-3BD3-A195D0A92FFB}"/>
                </a:ext>
              </a:extLst>
            </p:cNvPr>
            <p:cNvSpPr>
              <a:spLocks noGrp="1"/>
            </p:cNvSpPr>
            <p:nvPr/>
          </p:nvSpPr>
          <p:spPr>
            <a:xfrm>
              <a:off x="3726025" y="7326334"/>
              <a:ext cx="88583" cy="70009"/>
            </a:xfrm>
            <a:prstGeom prst="rect">
              <a:avLst/>
            </a:prstGeom>
            <a:solidFill>
              <a:srgbClr val="B6D8CC"/>
            </a:solidFill>
            <a:ln w="7290">
              <a:noFill/>
            </a:ln>
          </p:spPr>
        </p:sp>
        <p:sp>
          <p:nvSpPr>
            <p:cNvPr id="1295" name="Match matrix 1-2">
              <a:extLst>
                <a:ext uri="{FF2B5EF4-FFF2-40B4-BE49-F238E27FC236}">
                  <a16:creationId xmlns:a16="http://schemas.microsoft.com/office/drawing/2014/main" id="{CA362456-65E1-995A-0618-99CCC4184C18}"/>
                </a:ext>
              </a:extLst>
            </p:cNvPr>
            <p:cNvSpPr>
              <a:spLocks noGrp="1"/>
            </p:cNvSpPr>
            <p:nvPr/>
          </p:nvSpPr>
          <p:spPr>
            <a:xfrm>
              <a:off x="3818894" y="7326334"/>
              <a:ext cx="88583" cy="70009"/>
            </a:xfrm>
            <a:prstGeom prst="rect">
              <a:avLst/>
            </a:prstGeom>
            <a:solidFill>
              <a:srgbClr val="88BEC3"/>
            </a:solidFill>
            <a:ln w="7290">
              <a:noFill/>
            </a:ln>
          </p:spPr>
        </p:sp>
        <p:sp>
          <p:nvSpPr>
            <p:cNvPr id="1296" name="Match matrix 1-3">
              <a:extLst>
                <a:ext uri="{FF2B5EF4-FFF2-40B4-BE49-F238E27FC236}">
                  <a16:creationId xmlns:a16="http://schemas.microsoft.com/office/drawing/2014/main" id="{A2C35F9E-7361-3F63-4B0D-A98BA11C6FD6}"/>
                </a:ext>
              </a:extLst>
            </p:cNvPr>
            <p:cNvSpPr>
              <a:spLocks noGrp="1"/>
            </p:cNvSpPr>
            <p:nvPr/>
          </p:nvSpPr>
          <p:spPr>
            <a:xfrm>
              <a:off x="3911762" y="7326334"/>
              <a:ext cx="88583" cy="70009"/>
            </a:xfrm>
            <a:prstGeom prst="rect">
              <a:avLst/>
            </a:prstGeom>
            <a:solidFill>
              <a:srgbClr val="D6E5ED"/>
            </a:solidFill>
            <a:ln w="7290">
              <a:noFill/>
            </a:ln>
          </p:spPr>
        </p:sp>
        <p:sp>
          <p:nvSpPr>
            <p:cNvPr id="1297" name="Match matrix 1-4">
              <a:extLst>
                <a:ext uri="{FF2B5EF4-FFF2-40B4-BE49-F238E27FC236}">
                  <a16:creationId xmlns:a16="http://schemas.microsoft.com/office/drawing/2014/main" id="{FAAA67D0-1522-17CF-8376-8D76753F582D}"/>
                </a:ext>
              </a:extLst>
            </p:cNvPr>
            <p:cNvSpPr>
              <a:spLocks noGrp="1"/>
            </p:cNvSpPr>
            <p:nvPr/>
          </p:nvSpPr>
          <p:spPr>
            <a:xfrm>
              <a:off x="4004631" y="7326334"/>
              <a:ext cx="88583" cy="70009"/>
            </a:xfrm>
            <a:prstGeom prst="rect">
              <a:avLst/>
            </a:prstGeom>
            <a:solidFill>
              <a:srgbClr val="5B9FB6"/>
            </a:solidFill>
            <a:ln w="7290">
              <a:noFill/>
            </a:ln>
          </p:spPr>
        </p:sp>
        <p:sp>
          <p:nvSpPr>
            <p:cNvPr id="1298" name="Match matrix 1-5">
              <a:extLst>
                <a:ext uri="{FF2B5EF4-FFF2-40B4-BE49-F238E27FC236}">
                  <a16:creationId xmlns:a16="http://schemas.microsoft.com/office/drawing/2014/main" id="{8EFA4585-A006-C810-377D-DBA6C87576CE}"/>
                </a:ext>
              </a:extLst>
            </p:cNvPr>
            <p:cNvSpPr>
              <a:spLocks noGrp="1"/>
            </p:cNvSpPr>
            <p:nvPr/>
          </p:nvSpPr>
          <p:spPr>
            <a:xfrm>
              <a:off x="4097500" y="7326334"/>
              <a:ext cx="88583" cy="70009"/>
            </a:xfrm>
            <a:prstGeom prst="rect">
              <a:avLst/>
            </a:prstGeom>
            <a:solidFill>
              <a:srgbClr val="3E8F9A"/>
            </a:solidFill>
            <a:ln w="7290">
              <a:noFill/>
            </a:ln>
          </p:spPr>
        </p:sp>
        <p:sp>
          <p:nvSpPr>
            <p:cNvPr id="1299" name="Match matrix 1-6">
              <a:extLst>
                <a:ext uri="{FF2B5EF4-FFF2-40B4-BE49-F238E27FC236}">
                  <a16:creationId xmlns:a16="http://schemas.microsoft.com/office/drawing/2014/main" id="{64D11889-0CF0-CA9A-1917-2BF4C8C70236}"/>
                </a:ext>
              </a:extLst>
            </p:cNvPr>
            <p:cNvSpPr>
              <a:spLocks noGrp="1"/>
            </p:cNvSpPr>
            <p:nvPr/>
          </p:nvSpPr>
          <p:spPr>
            <a:xfrm>
              <a:off x="4190369" y="7326334"/>
              <a:ext cx="88583" cy="70009"/>
            </a:xfrm>
            <a:prstGeom prst="rect">
              <a:avLst/>
            </a:prstGeom>
            <a:solidFill>
              <a:srgbClr val="C4DDE0"/>
            </a:solidFill>
            <a:ln w="7290">
              <a:noFill/>
            </a:ln>
          </p:spPr>
        </p:sp>
        <p:sp>
          <p:nvSpPr>
            <p:cNvPr id="1300" name="Match matrix 1-7">
              <a:extLst>
                <a:ext uri="{FF2B5EF4-FFF2-40B4-BE49-F238E27FC236}">
                  <a16:creationId xmlns:a16="http://schemas.microsoft.com/office/drawing/2014/main" id="{188B5773-F5C9-7D4C-8152-FA7D9B627789}"/>
                </a:ext>
              </a:extLst>
            </p:cNvPr>
            <p:cNvSpPr>
              <a:spLocks noGrp="1"/>
            </p:cNvSpPr>
            <p:nvPr/>
          </p:nvSpPr>
          <p:spPr>
            <a:xfrm>
              <a:off x="4283237" y="7326334"/>
              <a:ext cx="88583" cy="70009"/>
            </a:xfrm>
            <a:prstGeom prst="rect">
              <a:avLst/>
            </a:prstGeom>
            <a:solidFill>
              <a:srgbClr val="67AD9F"/>
            </a:solidFill>
            <a:ln w="7290">
              <a:noFill/>
            </a:ln>
          </p:spPr>
        </p:sp>
        <p:sp>
          <p:nvSpPr>
            <p:cNvPr id="1301" name="Match matrix 2-0">
              <a:extLst>
                <a:ext uri="{FF2B5EF4-FFF2-40B4-BE49-F238E27FC236}">
                  <a16:creationId xmlns:a16="http://schemas.microsoft.com/office/drawing/2014/main" id="{BBF02AFB-8489-0057-17C0-1186E4D7244F}"/>
                </a:ext>
              </a:extLst>
            </p:cNvPr>
            <p:cNvSpPr>
              <a:spLocks noGrp="1"/>
            </p:cNvSpPr>
            <p:nvPr/>
          </p:nvSpPr>
          <p:spPr>
            <a:xfrm>
              <a:off x="3633156" y="7400629"/>
              <a:ext cx="88583" cy="70009"/>
            </a:xfrm>
            <a:prstGeom prst="rect">
              <a:avLst/>
            </a:prstGeom>
            <a:solidFill>
              <a:srgbClr val="67AD9F"/>
            </a:solidFill>
            <a:ln w="7290">
              <a:noFill/>
            </a:ln>
          </p:spPr>
        </p:sp>
        <p:sp>
          <p:nvSpPr>
            <p:cNvPr id="1302" name="Match matrix 2-1">
              <a:extLst>
                <a:ext uri="{FF2B5EF4-FFF2-40B4-BE49-F238E27FC236}">
                  <a16:creationId xmlns:a16="http://schemas.microsoft.com/office/drawing/2014/main" id="{4D1F1E41-46E5-997B-A9A2-D4A7E86A821C}"/>
                </a:ext>
              </a:extLst>
            </p:cNvPr>
            <p:cNvSpPr>
              <a:spLocks noGrp="1"/>
            </p:cNvSpPr>
            <p:nvPr/>
          </p:nvSpPr>
          <p:spPr>
            <a:xfrm>
              <a:off x="3726025" y="7400629"/>
              <a:ext cx="88583" cy="70009"/>
            </a:xfrm>
            <a:prstGeom prst="rect">
              <a:avLst/>
            </a:prstGeom>
            <a:solidFill>
              <a:srgbClr val="C4DDE0"/>
            </a:solidFill>
            <a:ln w="7290">
              <a:noFill/>
            </a:ln>
          </p:spPr>
        </p:sp>
        <p:sp>
          <p:nvSpPr>
            <p:cNvPr id="1303" name="Match matrix 2-2">
              <a:extLst>
                <a:ext uri="{FF2B5EF4-FFF2-40B4-BE49-F238E27FC236}">
                  <a16:creationId xmlns:a16="http://schemas.microsoft.com/office/drawing/2014/main" id="{BDC0B5DB-1FDB-9192-A8A8-9F9E9FC2CF48}"/>
                </a:ext>
              </a:extLst>
            </p:cNvPr>
            <p:cNvSpPr>
              <a:spLocks noGrp="1"/>
            </p:cNvSpPr>
            <p:nvPr/>
          </p:nvSpPr>
          <p:spPr>
            <a:xfrm>
              <a:off x="3818894" y="7400629"/>
              <a:ext cx="88583" cy="70009"/>
            </a:xfrm>
            <a:prstGeom prst="rect">
              <a:avLst/>
            </a:prstGeom>
            <a:solidFill>
              <a:srgbClr val="5B9FB6"/>
            </a:solidFill>
            <a:ln w="7290">
              <a:noFill/>
            </a:ln>
          </p:spPr>
        </p:sp>
        <p:sp>
          <p:nvSpPr>
            <p:cNvPr id="1304" name="Match matrix 2-3">
              <a:extLst>
                <a:ext uri="{FF2B5EF4-FFF2-40B4-BE49-F238E27FC236}">
                  <a16:creationId xmlns:a16="http://schemas.microsoft.com/office/drawing/2014/main" id="{9C663294-FCA2-F8DE-2AEC-EEF54C48921A}"/>
                </a:ext>
              </a:extLst>
            </p:cNvPr>
            <p:cNvSpPr>
              <a:spLocks noGrp="1"/>
            </p:cNvSpPr>
            <p:nvPr/>
          </p:nvSpPr>
          <p:spPr>
            <a:xfrm>
              <a:off x="3911762" y="7400629"/>
              <a:ext cx="88583" cy="70009"/>
            </a:xfrm>
            <a:prstGeom prst="rect">
              <a:avLst/>
            </a:prstGeom>
            <a:solidFill>
              <a:srgbClr val="B6D8CC"/>
            </a:solidFill>
            <a:ln w="7290">
              <a:noFill/>
            </a:ln>
          </p:spPr>
        </p:sp>
        <p:sp>
          <p:nvSpPr>
            <p:cNvPr id="1305" name="Match matrix 2-4">
              <a:extLst>
                <a:ext uri="{FF2B5EF4-FFF2-40B4-BE49-F238E27FC236}">
                  <a16:creationId xmlns:a16="http://schemas.microsoft.com/office/drawing/2014/main" id="{28E76182-0A60-4A72-9586-C12459BE0B58}"/>
                </a:ext>
              </a:extLst>
            </p:cNvPr>
            <p:cNvSpPr>
              <a:spLocks noGrp="1"/>
            </p:cNvSpPr>
            <p:nvPr/>
          </p:nvSpPr>
          <p:spPr>
            <a:xfrm>
              <a:off x="4004631" y="7400629"/>
              <a:ext cx="88583" cy="70009"/>
            </a:xfrm>
            <a:prstGeom prst="rect">
              <a:avLst/>
            </a:prstGeom>
            <a:solidFill>
              <a:srgbClr val="3E8F9A"/>
            </a:solidFill>
            <a:ln w="7290">
              <a:noFill/>
            </a:ln>
          </p:spPr>
        </p:sp>
        <p:sp>
          <p:nvSpPr>
            <p:cNvPr id="1306" name="Match matrix 2-5">
              <a:extLst>
                <a:ext uri="{FF2B5EF4-FFF2-40B4-BE49-F238E27FC236}">
                  <a16:creationId xmlns:a16="http://schemas.microsoft.com/office/drawing/2014/main" id="{29FC68A5-EB54-9596-85EC-EDC1175B056F}"/>
                </a:ext>
              </a:extLst>
            </p:cNvPr>
            <p:cNvSpPr>
              <a:spLocks noGrp="1"/>
            </p:cNvSpPr>
            <p:nvPr/>
          </p:nvSpPr>
          <p:spPr>
            <a:xfrm>
              <a:off x="4097500" y="7400629"/>
              <a:ext cx="88583" cy="70009"/>
            </a:xfrm>
            <a:prstGeom prst="rect">
              <a:avLst/>
            </a:prstGeom>
            <a:solidFill>
              <a:srgbClr val="D6E5ED"/>
            </a:solidFill>
            <a:ln w="7290">
              <a:noFill/>
            </a:ln>
          </p:spPr>
        </p:sp>
        <p:sp>
          <p:nvSpPr>
            <p:cNvPr id="1307" name="Match matrix 2-6">
              <a:extLst>
                <a:ext uri="{FF2B5EF4-FFF2-40B4-BE49-F238E27FC236}">
                  <a16:creationId xmlns:a16="http://schemas.microsoft.com/office/drawing/2014/main" id="{59C9C8C5-D90A-7A02-93D3-957FE3AE7DC3}"/>
                </a:ext>
              </a:extLst>
            </p:cNvPr>
            <p:cNvSpPr>
              <a:spLocks noGrp="1"/>
            </p:cNvSpPr>
            <p:nvPr/>
          </p:nvSpPr>
          <p:spPr>
            <a:xfrm>
              <a:off x="4190369" y="7400629"/>
              <a:ext cx="88583" cy="70009"/>
            </a:xfrm>
            <a:prstGeom prst="rect">
              <a:avLst/>
            </a:prstGeom>
            <a:solidFill>
              <a:srgbClr val="88BEC3"/>
            </a:solidFill>
            <a:ln w="7290">
              <a:noFill/>
            </a:ln>
          </p:spPr>
        </p:sp>
        <p:sp>
          <p:nvSpPr>
            <p:cNvPr id="1308" name="Match matrix 2-7">
              <a:extLst>
                <a:ext uri="{FF2B5EF4-FFF2-40B4-BE49-F238E27FC236}">
                  <a16:creationId xmlns:a16="http://schemas.microsoft.com/office/drawing/2014/main" id="{83DFB888-0521-0863-270C-DBAF169C149A}"/>
                </a:ext>
              </a:extLst>
            </p:cNvPr>
            <p:cNvSpPr>
              <a:spLocks noGrp="1"/>
            </p:cNvSpPr>
            <p:nvPr/>
          </p:nvSpPr>
          <p:spPr>
            <a:xfrm>
              <a:off x="4283237" y="7400629"/>
              <a:ext cx="88583" cy="70009"/>
            </a:xfrm>
            <a:prstGeom prst="rect">
              <a:avLst/>
            </a:prstGeom>
            <a:solidFill>
              <a:srgbClr val="A3CDDA"/>
            </a:solidFill>
            <a:ln w="7290">
              <a:noFill/>
            </a:ln>
          </p:spPr>
        </p:sp>
        <p:sp>
          <p:nvSpPr>
            <p:cNvPr id="1309" name="Match matrix 3-0">
              <a:extLst>
                <a:ext uri="{FF2B5EF4-FFF2-40B4-BE49-F238E27FC236}">
                  <a16:creationId xmlns:a16="http://schemas.microsoft.com/office/drawing/2014/main" id="{CDAE8F1E-742C-7BA1-EB00-87CA9B9E40A2}"/>
                </a:ext>
              </a:extLst>
            </p:cNvPr>
            <p:cNvSpPr>
              <a:spLocks noGrp="1"/>
            </p:cNvSpPr>
            <p:nvPr/>
          </p:nvSpPr>
          <p:spPr>
            <a:xfrm>
              <a:off x="3633156" y="7474924"/>
              <a:ext cx="88583" cy="70009"/>
            </a:xfrm>
            <a:prstGeom prst="rect">
              <a:avLst/>
            </a:prstGeom>
            <a:solidFill>
              <a:srgbClr val="88BEC3"/>
            </a:solidFill>
            <a:ln w="7290">
              <a:noFill/>
            </a:ln>
          </p:spPr>
        </p:sp>
        <p:sp>
          <p:nvSpPr>
            <p:cNvPr id="1310" name="Match matrix 3-1">
              <a:extLst>
                <a:ext uri="{FF2B5EF4-FFF2-40B4-BE49-F238E27FC236}">
                  <a16:creationId xmlns:a16="http://schemas.microsoft.com/office/drawing/2014/main" id="{74117986-6240-D77F-909C-522F6146D289}"/>
                </a:ext>
              </a:extLst>
            </p:cNvPr>
            <p:cNvSpPr>
              <a:spLocks noGrp="1"/>
            </p:cNvSpPr>
            <p:nvPr/>
          </p:nvSpPr>
          <p:spPr>
            <a:xfrm>
              <a:off x="3726025" y="7474924"/>
              <a:ext cx="88583" cy="70009"/>
            </a:xfrm>
            <a:prstGeom prst="rect">
              <a:avLst/>
            </a:prstGeom>
            <a:solidFill>
              <a:srgbClr val="D6E5ED"/>
            </a:solidFill>
            <a:ln w="7290">
              <a:noFill/>
            </a:ln>
          </p:spPr>
        </p:sp>
        <p:sp>
          <p:nvSpPr>
            <p:cNvPr id="1311" name="Match matrix 3-2">
              <a:extLst>
                <a:ext uri="{FF2B5EF4-FFF2-40B4-BE49-F238E27FC236}">
                  <a16:creationId xmlns:a16="http://schemas.microsoft.com/office/drawing/2014/main" id="{68BD8A38-75EC-BA37-589D-F9C3EBE804E8}"/>
                </a:ext>
              </a:extLst>
            </p:cNvPr>
            <p:cNvSpPr>
              <a:spLocks noGrp="1"/>
            </p:cNvSpPr>
            <p:nvPr/>
          </p:nvSpPr>
          <p:spPr>
            <a:xfrm>
              <a:off x="3818894" y="7474924"/>
              <a:ext cx="88583" cy="70009"/>
            </a:xfrm>
            <a:prstGeom prst="rect">
              <a:avLst/>
            </a:prstGeom>
            <a:solidFill>
              <a:srgbClr val="67AD9F"/>
            </a:solidFill>
            <a:ln w="7290">
              <a:noFill/>
            </a:ln>
          </p:spPr>
        </p:sp>
        <p:sp>
          <p:nvSpPr>
            <p:cNvPr id="1312" name="Match matrix 3-3">
              <a:extLst>
                <a:ext uri="{FF2B5EF4-FFF2-40B4-BE49-F238E27FC236}">
                  <a16:creationId xmlns:a16="http://schemas.microsoft.com/office/drawing/2014/main" id="{BA2E6B5A-7074-DCD3-8646-836425ECA4E6}"/>
                </a:ext>
              </a:extLst>
            </p:cNvPr>
            <p:cNvSpPr>
              <a:spLocks noGrp="1"/>
            </p:cNvSpPr>
            <p:nvPr/>
          </p:nvSpPr>
          <p:spPr>
            <a:xfrm>
              <a:off x="3911762" y="7474924"/>
              <a:ext cx="88583" cy="70009"/>
            </a:xfrm>
            <a:prstGeom prst="rect">
              <a:avLst/>
            </a:prstGeom>
            <a:solidFill>
              <a:srgbClr val="3E8F9A"/>
            </a:solidFill>
            <a:ln w="7290">
              <a:noFill/>
            </a:ln>
          </p:spPr>
        </p:sp>
        <p:sp>
          <p:nvSpPr>
            <p:cNvPr id="1313" name="Match matrix 3-4">
              <a:extLst>
                <a:ext uri="{FF2B5EF4-FFF2-40B4-BE49-F238E27FC236}">
                  <a16:creationId xmlns:a16="http://schemas.microsoft.com/office/drawing/2014/main" id="{E2B9FFDB-87E6-991D-6FE1-3A8ED7934F53}"/>
                </a:ext>
              </a:extLst>
            </p:cNvPr>
            <p:cNvSpPr>
              <a:spLocks noGrp="1"/>
            </p:cNvSpPr>
            <p:nvPr/>
          </p:nvSpPr>
          <p:spPr>
            <a:xfrm>
              <a:off x="4004631" y="7474924"/>
              <a:ext cx="88583" cy="70009"/>
            </a:xfrm>
            <a:prstGeom prst="rect">
              <a:avLst/>
            </a:prstGeom>
            <a:solidFill>
              <a:srgbClr val="C4DDE0"/>
            </a:solidFill>
            <a:ln w="7290">
              <a:noFill/>
            </a:ln>
          </p:spPr>
        </p:sp>
        <p:sp>
          <p:nvSpPr>
            <p:cNvPr id="1314" name="Match matrix 3-5">
              <a:extLst>
                <a:ext uri="{FF2B5EF4-FFF2-40B4-BE49-F238E27FC236}">
                  <a16:creationId xmlns:a16="http://schemas.microsoft.com/office/drawing/2014/main" id="{93BBAAA9-24B8-1E29-A6DC-8B4D096073B5}"/>
                </a:ext>
              </a:extLst>
            </p:cNvPr>
            <p:cNvSpPr>
              <a:spLocks noGrp="1"/>
            </p:cNvSpPr>
            <p:nvPr/>
          </p:nvSpPr>
          <p:spPr>
            <a:xfrm>
              <a:off x="4097500" y="7474924"/>
              <a:ext cx="88583" cy="70009"/>
            </a:xfrm>
            <a:prstGeom prst="rect">
              <a:avLst/>
            </a:prstGeom>
            <a:solidFill>
              <a:srgbClr val="A3CDDA"/>
            </a:solidFill>
            <a:ln w="7290">
              <a:noFill/>
            </a:ln>
          </p:spPr>
        </p:sp>
        <p:sp>
          <p:nvSpPr>
            <p:cNvPr id="1315" name="Match matrix 3-6">
              <a:extLst>
                <a:ext uri="{FF2B5EF4-FFF2-40B4-BE49-F238E27FC236}">
                  <a16:creationId xmlns:a16="http://schemas.microsoft.com/office/drawing/2014/main" id="{68A528E6-65EA-9C73-7412-55AD6CD16CE8}"/>
                </a:ext>
              </a:extLst>
            </p:cNvPr>
            <p:cNvSpPr>
              <a:spLocks noGrp="1"/>
            </p:cNvSpPr>
            <p:nvPr/>
          </p:nvSpPr>
          <p:spPr>
            <a:xfrm>
              <a:off x="4190369" y="7474924"/>
              <a:ext cx="88583" cy="70009"/>
            </a:xfrm>
            <a:prstGeom prst="rect">
              <a:avLst/>
            </a:prstGeom>
            <a:solidFill>
              <a:srgbClr val="B6D8CC"/>
            </a:solidFill>
            <a:ln w="7290">
              <a:noFill/>
            </a:ln>
          </p:spPr>
        </p:sp>
        <p:sp>
          <p:nvSpPr>
            <p:cNvPr id="1316" name="Match matrix 3-7">
              <a:extLst>
                <a:ext uri="{FF2B5EF4-FFF2-40B4-BE49-F238E27FC236}">
                  <a16:creationId xmlns:a16="http://schemas.microsoft.com/office/drawing/2014/main" id="{2EEE91B3-D81D-6257-AECC-400C8A929123}"/>
                </a:ext>
              </a:extLst>
            </p:cNvPr>
            <p:cNvSpPr>
              <a:spLocks noGrp="1"/>
            </p:cNvSpPr>
            <p:nvPr/>
          </p:nvSpPr>
          <p:spPr>
            <a:xfrm>
              <a:off x="4283237" y="7474924"/>
              <a:ext cx="88583" cy="70009"/>
            </a:xfrm>
            <a:prstGeom prst="rect">
              <a:avLst/>
            </a:prstGeom>
            <a:solidFill>
              <a:srgbClr val="5B9FB6"/>
            </a:solidFill>
            <a:ln w="7290">
              <a:noFill/>
            </a:ln>
          </p:spPr>
        </p:sp>
        <p:sp>
          <p:nvSpPr>
            <p:cNvPr id="1318" name="SMILES continuation 806-628.2">
              <a:extLst>
                <a:ext uri="{FF2B5EF4-FFF2-40B4-BE49-F238E27FC236}">
                  <a16:creationId xmlns:a16="http://schemas.microsoft.com/office/drawing/2014/main" id="{F23A2C65-E88A-BB4F-DB2B-F6BDFE0A90A0}"/>
                </a:ext>
              </a:extLst>
            </p:cNvPr>
            <p:cNvSpPr>
              <a:spLocks noGrp="1"/>
            </p:cNvSpPr>
            <p:nvPr/>
          </p:nvSpPr>
          <p:spPr>
            <a:xfrm>
              <a:off x="8110676" y="5974080"/>
              <a:ext cx="19050" cy="19050"/>
            </a:xfrm>
            <a:prstGeom prst="ellipse">
              <a:avLst/>
            </a:prstGeom>
            <a:solidFill>
              <a:srgbClr val="71808C"/>
            </a:solidFill>
            <a:ln w="0">
              <a:noFill/>
            </a:ln>
          </p:spPr>
        </p:sp>
        <p:sp>
          <p:nvSpPr>
            <p:cNvPr id="1319" name="SMILES continuation 812-628.2">
              <a:extLst>
                <a:ext uri="{FF2B5EF4-FFF2-40B4-BE49-F238E27FC236}">
                  <a16:creationId xmlns:a16="http://schemas.microsoft.com/office/drawing/2014/main" id="{3B989565-3BAD-D4AD-9254-F92A9CA55F5F}"/>
                </a:ext>
              </a:extLst>
            </p:cNvPr>
            <p:cNvSpPr>
              <a:spLocks noGrp="1"/>
            </p:cNvSpPr>
            <p:nvPr/>
          </p:nvSpPr>
          <p:spPr>
            <a:xfrm>
              <a:off x="8167826" y="5974080"/>
              <a:ext cx="19050" cy="19050"/>
            </a:xfrm>
            <a:prstGeom prst="ellipse">
              <a:avLst/>
            </a:prstGeom>
            <a:solidFill>
              <a:srgbClr val="71808C"/>
            </a:solidFill>
            <a:ln w="0">
              <a:noFill/>
            </a:ln>
          </p:spPr>
        </p:sp>
        <p:sp>
          <p:nvSpPr>
            <p:cNvPr id="1320" name="SMILES continuation 818-628.2">
              <a:extLst>
                <a:ext uri="{FF2B5EF4-FFF2-40B4-BE49-F238E27FC236}">
                  <a16:creationId xmlns:a16="http://schemas.microsoft.com/office/drawing/2014/main" id="{42B8B6C2-B43E-383F-14DE-C418D4494332}"/>
                </a:ext>
              </a:extLst>
            </p:cNvPr>
            <p:cNvSpPr>
              <a:spLocks noGrp="1"/>
            </p:cNvSpPr>
            <p:nvPr/>
          </p:nvSpPr>
          <p:spPr>
            <a:xfrm>
              <a:off x="8224976" y="5974080"/>
              <a:ext cx="19050" cy="19050"/>
            </a:xfrm>
            <a:prstGeom prst="ellipse">
              <a:avLst/>
            </a:prstGeom>
            <a:solidFill>
              <a:srgbClr val="71808C"/>
            </a:solidFill>
            <a:ln w="0">
              <a:noFill/>
            </a:ln>
          </p:spPr>
        </p:sp>
        <p:sp>
          <p:nvSpPr>
            <p:cNvPr id="1321" name="SMILES continuation 806-667">
              <a:extLst>
                <a:ext uri="{FF2B5EF4-FFF2-40B4-BE49-F238E27FC236}">
                  <a16:creationId xmlns:a16="http://schemas.microsoft.com/office/drawing/2014/main" id="{39894408-4EFC-1123-4D43-5E7226F5F0C0}"/>
                </a:ext>
              </a:extLst>
            </p:cNvPr>
            <p:cNvSpPr>
              <a:spLocks noGrp="1"/>
            </p:cNvSpPr>
            <p:nvPr/>
          </p:nvSpPr>
          <p:spPr>
            <a:xfrm>
              <a:off x="8110676" y="6343650"/>
              <a:ext cx="19050" cy="19050"/>
            </a:xfrm>
            <a:prstGeom prst="ellipse">
              <a:avLst/>
            </a:prstGeom>
            <a:solidFill>
              <a:srgbClr val="71808C"/>
            </a:solidFill>
            <a:ln w="0">
              <a:noFill/>
            </a:ln>
          </p:spPr>
        </p:sp>
        <p:sp>
          <p:nvSpPr>
            <p:cNvPr id="1322" name="SMILES continuation 812-667">
              <a:extLst>
                <a:ext uri="{FF2B5EF4-FFF2-40B4-BE49-F238E27FC236}">
                  <a16:creationId xmlns:a16="http://schemas.microsoft.com/office/drawing/2014/main" id="{B15788D5-8154-0220-0ADD-B84E221B0B6F}"/>
                </a:ext>
              </a:extLst>
            </p:cNvPr>
            <p:cNvSpPr>
              <a:spLocks noGrp="1"/>
            </p:cNvSpPr>
            <p:nvPr/>
          </p:nvSpPr>
          <p:spPr>
            <a:xfrm>
              <a:off x="8167826" y="6343650"/>
              <a:ext cx="19050" cy="19050"/>
            </a:xfrm>
            <a:prstGeom prst="ellipse">
              <a:avLst/>
            </a:prstGeom>
            <a:solidFill>
              <a:srgbClr val="71808C"/>
            </a:solidFill>
            <a:ln w="0">
              <a:noFill/>
            </a:ln>
          </p:spPr>
        </p:sp>
        <p:sp>
          <p:nvSpPr>
            <p:cNvPr id="1323" name="SMILES continuation 818-667">
              <a:extLst>
                <a:ext uri="{FF2B5EF4-FFF2-40B4-BE49-F238E27FC236}">
                  <a16:creationId xmlns:a16="http://schemas.microsoft.com/office/drawing/2014/main" id="{06FB727B-1C36-BDAC-BF90-119F79F57919}"/>
                </a:ext>
              </a:extLst>
            </p:cNvPr>
            <p:cNvSpPr>
              <a:spLocks noGrp="1"/>
            </p:cNvSpPr>
            <p:nvPr/>
          </p:nvSpPr>
          <p:spPr>
            <a:xfrm>
              <a:off x="8224976" y="6343650"/>
              <a:ext cx="19050" cy="19050"/>
            </a:xfrm>
            <a:prstGeom prst="ellipse">
              <a:avLst/>
            </a:prstGeom>
            <a:solidFill>
              <a:srgbClr val="71808C"/>
            </a:solidFill>
            <a:ln w="0">
              <a:noFill/>
            </a:ln>
          </p:spPr>
        </p:sp>
        <p:sp>
          <p:nvSpPr>
            <p:cNvPr id="1324" name="Find density input">
              <a:extLst>
                <a:ext uri="{FF2B5EF4-FFF2-40B4-BE49-F238E27FC236}">
                  <a16:creationId xmlns:a16="http://schemas.microsoft.com/office/drawing/2014/main" id="{3BB3F16C-BBC6-CEA5-1D5F-BADEC13D0E07}"/>
                </a:ext>
              </a:extLst>
            </p:cNvPr>
            <p:cNvSpPr>
              <a:spLocks noGrp="1"/>
            </p:cNvSpPr>
            <p:nvPr/>
          </p:nvSpPr>
          <p:spPr>
            <a:xfrm flipV="1">
              <a:off x="2405391" y="1410958"/>
              <a:ext cx="692378" cy="107521"/>
            </a:xfrm>
            <a:custGeom>
              <a:avLst/>
              <a:gdLst/>
              <a:ahLst/>
              <a:cxnLst/>
              <a:rect l="0" t="0" r="0" b="0"/>
              <a:pathLst>
                <a:path w="125540" h="191">
                  <a:moveTo>
                    <a:pt x="0" y="0"/>
                  </a:moveTo>
                  <a:lnTo>
                    <a:pt x="125540" y="0"/>
                  </a:lnTo>
                </a:path>
              </a:pathLst>
            </a:custGeom>
            <a:noFill/>
            <a:ln w="8505">
              <a:solidFill>
                <a:srgbClr val="77828C"/>
              </a:solidFill>
              <a:prstDash val="solid"/>
            </a:ln>
          </p:spPr>
        </p:sp>
        <p:sp>
          <p:nvSpPr>
            <p:cNvPr id="1325" name="Find density input head">
              <a:extLst>
                <a:ext uri="{FF2B5EF4-FFF2-40B4-BE49-F238E27FC236}">
                  <a16:creationId xmlns:a16="http://schemas.microsoft.com/office/drawing/2014/main" id="{DD01582E-D72F-DC2A-ED51-209065AB4BE2}"/>
                </a:ext>
              </a:extLst>
            </p:cNvPr>
            <p:cNvSpPr>
              <a:spLocks noGrp="1"/>
            </p:cNvSpPr>
            <p:nvPr/>
          </p:nvSpPr>
          <p:spPr>
            <a:xfrm>
              <a:off x="3052858" y="1489808"/>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28" name="Find receptor input">
              <a:extLst>
                <a:ext uri="{FF2B5EF4-FFF2-40B4-BE49-F238E27FC236}">
                  <a16:creationId xmlns:a16="http://schemas.microsoft.com/office/drawing/2014/main" id="{8835B13D-A150-D32A-EA5F-DF6B94803636}"/>
                </a:ext>
              </a:extLst>
            </p:cNvPr>
            <p:cNvSpPr>
              <a:spLocks noGrp="1"/>
            </p:cNvSpPr>
            <p:nvPr/>
          </p:nvSpPr>
          <p:spPr>
            <a:xfrm>
              <a:off x="2405391" y="3260557"/>
              <a:ext cx="692378" cy="107521"/>
            </a:xfrm>
            <a:custGeom>
              <a:avLst/>
              <a:gdLst/>
              <a:ahLst/>
              <a:cxnLst/>
              <a:rect l="0" t="0" r="0" b="0"/>
              <a:pathLst>
                <a:path w="125540" h="191">
                  <a:moveTo>
                    <a:pt x="0" y="0"/>
                  </a:moveTo>
                  <a:lnTo>
                    <a:pt x="125540" y="0"/>
                  </a:lnTo>
                </a:path>
              </a:pathLst>
            </a:custGeom>
            <a:solidFill>
              <a:srgbClr val="77828C"/>
            </a:solidFill>
            <a:ln w="8505">
              <a:solidFill>
                <a:srgbClr val="77828C"/>
              </a:solidFill>
              <a:prstDash val="solid"/>
            </a:ln>
          </p:spPr>
        </p:sp>
        <p:sp>
          <p:nvSpPr>
            <p:cNvPr id="1329" name="Find receptor input head">
              <a:extLst>
                <a:ext uri="{FF2B5EF4-FFF2-40B4-BE49-F238E27FC236}">
                  <a16:creationId xmlns:a16="http://schemas.microsoft.com/office/drawing/2014/main" id="{A5463DF5-F357-C133-4537-3687854104BD}"/>
                </a:ext>
              </a:extLst>
            </p:cNvPr>
            <p:cNvSpPr>
              <a:spLocks noGrp="1"/>
            </p:cNvSpPr>
            <p:nvPr/>
          </p:nvSpPr>
          <p:spPr>
            <a:xfrm>
              <a:off x="3052858" y="3231886"/>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32" name="Find voxel output">
              <a:extLst>
                <a:ext uri="{FF2B5EF4-FFF2-40B4-BE49-F238E27FC236}">
                  <a16:creationId xmlns:a16="http://schemas.microsoft.com/office/drawing/2014/main" id="{A7A050F5-4BBD-83D0-3E56-868138C02A2E}"/>
                </a:ext>
              </a:extLst>
            </p:cNvPr>
            <p:cNvSpPr>
              <a:spLocks noGrp="1"/>
            </p:cNvSpPr>
            <p:nvPr/>
          </p:nvSpPr>
          <p:spPr>
            <a:xfrm>
              <a:off x="9680238" y="1544003"/>
              <a:ext cx="409314" cy="191"/>
            </a:xfrm>
            <a:custGeom>
              <a:avLst/>
              <a:gdLst/>
              <a:ahLst/>
              <a:cxnLst/>
              <a:rect l="0" t="0" r="0" b="0"/>
              <a:pathLst>
                <a:path w="252508" h="191">
                  <a:moveTo>
                    <a:pt x="0" y="0"/>
                  </a:moveTo>
                  <a:lnTo>
                    <a:pt x="252508" y="0"/>
                  </a:lnTo>
                </a:path>
              </a:pathLst>
            </a:custGeom>
            <a:noFill/>
            <a:ln w="8505">
              <a:solidFill>
                <a:srgbClr val="77828C"/>
              </a:solidFill>
              <a:prstDash val="solid"/>
            </a:ln>
          </p:spPr>
        </p:sp>
        <p:sp>
          <p:nvSpPr>
            <p:cNvPr id="1333" name="Find voxel output head">
              <a:extLst>
                <a:ext uri="{FF2B5EF4-FFF2-40B4-BE49-F238E27FC236}">
                  <a16:creationId xmlns:a16="http://schemas.microsoft.com/office/drawing/2014/main" id="{375132D2-B1BA-3819-E6E4-408E45D3577A}"/>
                </a:ext>
              </a:extLst>
            </p:cNvPr>
            <p:cNvSpPr>
              <a:spLocks noGrp="1"/>
            </p:cNvSpPr>
            <p:nvPr/>
          </p:nvSpPr>
          <p:spPr>
            <a:xfrm>
              <a:off x="10046213" y="1515332"/>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34" name="Find point output">
              <a:extLst>
                <a:ext uri="{FF2B5EF4-FFF2-40B4-BE49-F238E27FC236}">
                  <a16:creationId xmlns:a16="http://schemas.microsoft.com/office/drawing/2014/main" id="{E2AB92F8-FB1A-DF4D-C056-6A909BEA2DE1}"/>
                </a:ext>
              </a:extLst>
            </p:cNvPr>
            <p:cNvSpPr>
              <a:spLocks noGrp="1"/>
            </p:cNvSpPr>
            <p:nvPr/>
          </p:nvSpPr>
          <p:spPr>
            <a:xfrm>
              <a:off x="9680238" y="3107055"/>
              <a:ext cx="409314" cy="191"/>
            </a:xfrm>
            <a:custGeom>
              <a:avLst/>
              <a:gdLst/>
              <a:ahLst/>
              <a:cxnLst/>
              <a:rect l="0" t="0" r="0" b="0"/>
              <a:pathLst>
                <a:path w="252508" h="191">
                  <a:moveTo>
                    <a:pt x="0" y="0"/>
                  </a:moveTo>
                  <a:lnTo>
                    <a:pt x="252508" y="0"/>
                  </a:lnTo>
                </a:path>
              </a:pathLst>
            </a:custGeom>
            <a:noFill/>
            <a:ln w="8505">
              <a:solidFill>
                <a:srgbClr val="77828C"/>
              </a:solidFill>
              <a:prstDash val="solid"/>
            </a:ln>
          </p:spPr>
        </p:sp>
        <p:sp>
          <p:nvSpPr>
            <p:cNvPr id="1335" name="Find point output head">
              <a:extLst>
                <a:ext uri="{FF2B5EF4-FFF2-40B4-BE49-F238E27FC236}">
                  <a16:creationId xmlns:a16="http://schemas.microsoft.com/office/drawing/2014/main" id="{28B06725-C3FB-3373-8A56-A66D9CE3ECA7}"/>
                </a:ext>
              </a:extLst>
            </p:cNvPr>
            <p:cNvSpPr>
              <a:spLocks noGrp="1"/>
            </p:cNvSpPr>
            <p:nvPr/>
          </p:nvSpPr>
          <p:spPr>
            <a:xfrm>
              <a:off x="10046213" y="3078385"/>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36" name="U-Net flow refined 1">
              <a:extLst>
                <a:ext uri="{FF2B5EF4-FFF2-40B4-BE49-F238E27FC236}">
                  <a16:creationId xmlns:a16="http://schemas.microsoft.com/office/drawing/2014/main" id="{5BDE2ECB-1CBA-ACB1-3426-F3E9F144A8A7}"/>
                </a:ext>
              </a:extLst>
            </p:cNvPr>
            <p:cNvSpPr>
              <a:spLocks noGrp="1"/>
            </p:cNvSpPr>
            <p:nvPr/>
          </p:nvSpPr>
          <p:spPr>
            <a:xfrm>
              <a:off x="5329408" y="1943100"/>
              <a:ext cx="71390" cy="191"/>
            </a:xfrm>
            <a:custGeom>
              <a:avLst/>
              <a:gdLst/>
              <a:ahLst/>
              <a:cxnLst/>
              <a:rect l="0" t="0" r="0" b="0"/>
              <a:pathLst>
                <a:path w="71390" h="191">
                  <a:moveTo>
                    <a:pt x="0" y="0"/>
                  </a:moveTo>
                  <a:lnTo>
                    <a:pt x="71390" y="0"/>
                  </a:lnTo>
                </a:path>
              </a:pathLst>
            </a:custGeom>
            <a:noFill/>
            <a:ln w="6480">
              <a:solidFill>
                <a:srgbClr val="77828C"/>
              </a:solidFill>
              <a:prstDash val="solid"/>
            </a:ln>
          </p:spPr>
        </p:sp>
        <p:sp>
          <p:nvSpPr>
            <p:cNvPr id="1337" name="U-Net flow refined 1 head">
              <a:extLst>
                <a:ext uri="{FF2B5EF4-FFF2-40B4-BE49-F238E27FC236}">
                  <a16:creationId xmlns:a16="http://schemas.microsoft.com/office/drawing/2014/main" id="{94C963B0-6292-D96E-8000-E5176CACF1B1}"/>
                </a:ext>
              </a:extLst>
            </p:cNvPr>
            <p:cNvSpPr>
              <a:spLocks noGrp="1"/>
            </p:cNvSpPr>
            <p:nvPr/>
          </p:nvSpPr>
          <p:spPr>
            <a:xfrm>
              <a:off x="537417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38" name="U-Net flow refined 2">
              <a:extLst>
                <a:ext uri="{FF2B5EF4-FFF2-40B4-BE49-F238E27FC236}">
                  <a16:creationId xmlns:a16="http://schemas.microsoft.com/office/drawing/2014/main" id="{6EDFECDB-834F-45E8-C447-187E68499D36}"/>
                </a:ext>
              </a:extLst>
            </p:cNvPr>
            <p:cNvSpPr>
              <a:spLocks noGrp="1"/>
            </p:cNvSpPr>
            <p:nvPr/>
          </p:nvSpPr>
          <p:spPr>
            <a:xfrm>
              <a:off x="5786608" y="1943100"/>
              <a:ext cx="61865" cy="191"/>
            </a:xfrm>
            <a:custGeom>
              <a:avLst/>
              <a:gdLst/>
              <a:ahLst/>
              <a:cxnLst/>
              <a:rect l="0" t="0" r="0" b="0"/>
              <a:pathLst>
                <a:path w="61865" h="191">
                  <a:moveTo>
                    <a:pt x="0" y="0"/>
                  </a:moveTo>
                  <a:lnTo>
                    <a:pt x="61865" y="0"/>
                  </a:lnTo>
                </a:path>
              </a:pathLst>
            </a:custGeom>
            <a:noFill/>
            <a:ln w="6480">
              <a:solidFill>
                <a:srgbClr val="77828C"/>
              </a:solidFill>
              <a:prstDash val="solid"/>
            </a:ln>
          </p:spPr>
        </p:sp>
        <p:sp>
          <p:nvSpPr>
            <p:cNvPr id="1339" name="U-Net flow refined 2 head">
              <a:extLst>
                <a:ext uri="{FF2B5EF4-FFF2-40B4-BE49-F238E27FC236}">
                  <a16:creationId xmlns:a16="http://schemas.microsoft.com/office/drawing/2014/main" id="{147D1FA6-05BE-3A5D-C1FE-78DB516DA9EB}"/>
                </a:ext>
              </a:extLst>
            </p:cNvPr>
            <p:cNvSpPr>
              <a:spLocks noGrp="1"/>
            </p:cNvSpPr>
            <p:nvPr/>
          </p:nvSpPr>
          <p:spPr>
            <a:xfrm>
              <a:off x="5821851"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0" name="U-Net flow refined 3">
              <a:extLst>
                <a:ext uri="{FF2B5EF4-FFF2-40B4-BE49-F238E27FC236}">
                  <a16:creationId xmlns:a16="http://schemas.microsoft.com/office/drawing/2014/main" id="{7AF7CF23-54DF-A29D-2F07-D36A3F45EDD2}"/>
                </a:ext>
              </a:extLst>
            </p:cNvPr>
            <p:cNvSpPr>
              <a:spLocks noGrp="1"/>
            </p:cNvSpPr>
            <p:nvPr/>
          </p:nvSpPr>
          <p:spPr>
            <a:xfrm>
              <a:off x="6358108" y="1943100"/>
              <a:ext cx="185690" cy="191"/>
            </a:xfrm>
            <a:custGeom>
              <a:avLst/>
              <a:gdLst/>
              <a:ahLst/>
              <a:cxnLst/>
              <a:rect l="0" t="0" r="0" b="0"/>
              <a:pathLst>
                <a:path w="185690" h="191">
                  <a:moveTo>
                    <a:pt x="0" y="0"/>
                  </a:moveTo>
                  <a:lnTo>
                    <a:pt x="185690" y="0"/>
                  </a:lnTo>
                </a:path>
              </a:pathLst>
            </a:custGeom>
            <a:noFill/>
            <a:ln w="6480">
              <a:solidFill>
                <a:srgbClr val="77828C"/>
              </a:solidFill>
              <a:prstDash val="solid"/>
            </a:ln>
          </p:spPr>
        </p:sp>
        <p:sp>
          <p:nvSpPr>
            <p:cNvPr id="1341" name="U-Net flow refined 3 head">
              <a:extLst>
                <a:ext uri="{FF2B5EF4-FFF2-40B4-BE49-F238E27FC236}">
                  <a16:creationId xmlns:a16="http://schemas.microsoft.com/office/drawing/2014/main" id="{99F4C0B1-883D-15E1-DE1D-B9D0B602A47D}"/>
                </a:ext>
              </a:extLst>
            </p:cNvPr>
            <p:cNvSpPr>
              <a:spLocks noGrp="1"/>
            </p:cNvSpPr>
            <p:nvPr/>
          </p:nvSpPr>
          <p:spPr>
            <a:xfrm>
              <a:off x="651717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2" name="U-Net flow refined 4">
              <a:extLst>
                <a:ext uri="{FF2B5EF4-FFF2-40B4-BE49-F238E27FC236}">
                  <a16:creationId xmlns:a16="http://schemas.microsoft.com/office/drawing/2014/main" id="{1AB9AC41-CF99-6B25-72AE-CA5759E07BBC}"/>
                </a:ext>
              </a:extLst>
            </p:cNvPr>
            <p:cNvSpPr>
              <a:spLocks noGrp="1"/>
            </p:cNvSpPr>
            <p:nvPr/>
          </p:nvSpPr>
          <p:spPr>
            <a:xfrm>
              <a:off x="7634458" y="1943100"/>
              <a:ext cx="204740" cy="191"/>
            </a:xfrm>
            <a:custGeom>
              <a:avLst/>
              <a:gdLst/>
              <a:ahLst/>
              <a:cxnLst/>
              <a:rect l="0" t="0" r="0" b="0"/>
              <a:pathLst>
                <a:path w="204740" h="191">
                  <a:moveTo>
                    <a:pt x="0" y="0"/>
                  </a:moveTo>
                  <a:lnTo>
                    <a:pt x="204740" y="0"/>
                  </a:lnTo>
                </a:path>
              </a:pathLst>
            </a:custGeom>
            <a:noFill/>
            <a:ln w="6480">
              <a:solidFill>
                <a:srgbClr val="77828C"/>
              </a:solidFill>
              <a:prstDash val="solid"/>
            </a:ln>
          </p:spPr>
        </p:sp>
        <p:sp>
          <p:nvSpPr>
            <p:cNvPr id="1343" name="U-Net flow refined 4 head">
              <a:extLst>
                <a:ext uri="{FF2B5EF4-FFF2-40B4-BE49-F238E27FC236}">
                  <a16:creationId xmlns:a16="http://schemas.microsoft.com/office/drawing/2014/main" id="{8B74AF9E-166C-456E-8C30-81819473FD65}"/>
                </a:ext>
              </a:extLst>
            </p:cNvPr>
            <p:cNvSpPr>
              <a:spLocks noGrp="1"/>
            </p:cNvSpPr>
            <p:nvPr/>
          </p:nvSpPr>
          <p:spPr>
            <a:xfrm>
              <a:off x="781257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4" name="U-Net flow refined 5">
              <a:extLst>
                <a:ext uri="{FF2B5EF4-FFF2-40B4-BE49-F238E27FC236}">
                  <a16:creationId xmlns:a16="http://schemas.microsoft.com/office/drawing/2014/main" id="{1DF9FEC8-127A-C6BF-A242-5459B8B47514}"/>
                </a:ext>
              </a:extLst>
            </p:cNvPr>
            <p:cNvSpPr>
              <a:spLocks noGrp="1"/>
            </p:cNvSpPr>
            <p:nvPr/>
          </p:nvSpPr>
          <p:spPr>
            <a:xfrm>
              <a:off x="8358358" y="1943100"/>
              <a:ext cx="71390" cy="191"/>
            </a:xfrm>
            <a:custGeom>
              <a:avLst/>
              <a:gdLst/>
              <a:ahLst/>
              <a:cxnLst/>
              <a:rect l="0" t="0" r="0" b="0"/>
              <a:pathLst>
                <a:path w="71390" h="191">
                  <a:moveTo>
                    <a:pt x="0" y="0"/>
                  </a:moveTo>
                  <a:lnTo>
                    <a:pt x="71390" y="0"/>
                  </a:lnTo>
                </a:path>
              </a:pathLst>
            </a:custGeom>
            <a:noFill/>
            <a:ln w="6480">
              <a:solidFill>
                <a:srgbClr val="77828C"/>
              </a:solidFill>
              <a:prstDash val="solid"/>
            </a:ln>
          </p:spPr>
        </p:sp>
        <p:sp>
          <p:nvSpPr>
            <p:cNvPr id="1345" name="U-Net flow refined 5 head">
              <a:extLst>
                <a:ext uri="{FF2B5EF4-FFF2-40B4-BE49-F238E27FC236}">
                  <a16:creationId xmlns:a16="http://schemas.microsoft.com/office/drawing/2014/main" id="{235A2EBC-75E8-8D72-4A9D-B691D888DD1B}"/>
                </a:ext>
              </a:extLst>
            </p:cNvPr>
            <p:cNvSpPr>
              <a:spLocks noGrp="1"/>
            </p:cNvSpPr>
            <p:nvPr/>
          </p:nvSpPr>
          <p:spPr>
            <a:xfrm>
              <a:off x="840312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6" name="U-Net flow refined 6">
              <a:extLst>
                <a:ext uri="{FF2B5EF4-FFF2-40B4-BE49-F238E27FC236}">
                  <a16:creationId xmlns:a16="http://schemas.microsoft.com/office/drawing/2014/main" id="{E16F5364-FA67-8E77-55DD-31048ACFB369}"/>
                </a:ext>
              </a:extLst>
            </p:cNvPr>
            <p:cNvSpPr>
              <a:spLocks noGrp="1"/>
            </p:cNvSpPr>
            <p:nvPr/>
          </p:nvSpPr>
          <p:spPr>
            <a:xfrm>
              <a:off x="8796508" y="1943100"/>
              <a:ext cx="90440" cy="191"/>
            </a:xfrm>
            <a:custGeom>
              <a:avLst/>
              <a:gdLst/>
              <a:ahLst/>
              <a:cxnLst/>
              <a:rect l="0" t="0" r="0" b="0"/>
              <a:pathLst>
                <a:path w="90440" h="191">
                  <a:moveTo>
                    <a:pt x="0" y="0"/>
                  </a:moveTo>
                  <a:lnTo>
                    <a:pt x="90440" y="0"/>
                  </a:lnTo>
                </a:path>
              </a:pathLst>
            </a:custGeom>
            <a:noFill/>
            <a:ln w="6480">
              <a:solidFill>
                <a:srgbClr val="77828C"/>
              </a:solidFill>
              <a:prstDash val="solid"/>
            </a:ln>
          </p:spPr>
        </p:sp>
        <p:sp>
          <p:nvSpPr>
            <p:cNvPr id="1347" name="U-Net flow refined 6 head">
              <a:extLst>
                <a:ext uri="{FF2B5EF4-FFF2-40B4-BE49-F238E27FC236}">
                  <a16:creationId xmlns:a16="http://schemas.microsoft.com/office/drawing/2014/main" id="{CAB8405E-639F-441D-4076-97C5C8079141}"/>
                </a:ext>
              </a:extLst>
            </p:cNvPr>
            <p:cNvSpPr>
              <a:spLocks noGrp="1"/>
            </p:cNvSpPr>
            <p:nvPr/>
          </p:nvSpPr>
          <p:spPr>
            <a:xfrm>
              <a:off x="886032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8" name="Skip outer refined">
              <a:extLst>
                <a:ext uri="{FF2B5EF4-FFF2-40B4-BE49-F238E27FC236}">
                  <a16:creationId xmlns:a16="http://schemas.microsoft.com/office/drawing/2014/main" id="{FCEC7BC5-9C91-5A2D-286F-54CED1B58658}"/>
                </a:ext>
              </a:extLst>
            </p:cNvPr>
            <p:cNvSpPr>
              <a:spLocks noGrp="1"/>
            </p:cNvSpPr>
            <p:nvPr/>
          </p:nvSpPr>
          <p:spPr>
            <a:xfrm>
              <a:off x="4919833" y="1209675"/>
              <a:ext cx="4333875" cy="219075"/>
            </a:xfrm>
            <a:custGeom>
              <a:avLst/>
              <a:gdLst/>
              <a:ahLst/>
              <a:cxnLst/>
              <a:rect l="0" t="0" r="0" b="0"/>
              <a:pathLst>
                <a:path w="4333875" h="219075">
                  <a:moveTo>
                    <a:pt x="0" y="219075"/>
                  </a:moveTo>
                  <a:lnTo>
                    <a:pt x="0" y="0"/>
                  </a:lnTo>
                  <a:lnTo>
                    <a:pt x="4333875" y="0"/>
                  </a:lnTo>
                  <a:lnTo>
                    <a:pt x="4333875" y="204073"/>
                  </a:lnTo>
                </a:path>
              </a:pathLst>
            </a:custGeom>
            <a:noFill/>
            <a:ln w="5468">
              <a:solidFill>
                <a:srgbClr val="A3ACB4"/>
              </a:solidFill>
              <a:prstDash val="dash"/>
            </a:ln>
          </p:spPr>
        </p:sp>
        <p:sp>
          <p:nvSpPr>
            <p:cNvPr id="1349" name="Skip outer refined head">
              <a:extLst>
                <a:ext uri="{FF2B5EF4-FFF2-40B4-BE49-F238E27FC236}">
                  <a16:creationId xmlns:a16="http://schemas.microsoft.com/office/drawing/2014/main" id="{D6AAD354-1253-F73A-1F09-0D42951F0AD2}"/>
                </a:ext>
              </a:extLst>
            </p:cNvPr>
            <p:cNvSpPr>
              <a:spLocks noGrp="1"/>
            </p:cNvSpPr>
            <p:nvPr/>
          </p:nvSpPr>
          <p:spPr>
            <a:xfrm>
              <a:off x="9235277" y="1385888"/>
              <a:ext cx="36862" cy="42863"/>
            </a:xfrm>
            <a:custGeom>
              <a:avLst/>
              <a:gdLst/>
              <a:ahLst/>
              <a:cxnLst/>
              <a:rect l="0" t="0" r="0" b="0"/>
              <a:pathLst>
                <a:path w="36862" h="42863">
                  <a:moveTo>
                    <a:pt x="18431" y="42863"/>
                  </a:moveTo>
                  <a:lnTo>
                    <a:pt x="36862" y="0"/>
                  </a:lnTo>
                  <a:lnTo>
                    <a:pt x="0" y="0"/>
                  </a:lnTo>
                  <a:close/>
                </a:path>
              </a:pathLst>
            </a:custGeom>
            <a:solidFill>
              <a:srgbClr val="A3ACB4"/>
            </a:solidFill>
            <a:ln w="0">
              <a:noFill/>
              <a:prstDash val="solid"/>
            </a:ln>
          </p:spPr>
        </p:sp>
        <p:sp>
          <p:nvSpPr>
            <p:cNvPr id="1350" name="Skip middle refined">
              <a:extLst>
                <a:ext uri="{FF2B5EF4-FFF2-40B4-BE49-F238E27FC236}">
                  <a16:creationId xmlns:a16="http://schemas.microsoft.com/office/drawing/2014/main" id="{E944DD48-0E77-62B4-4E66-FC482D648DB0}"/>
                </a:ext>
              </a:extLst>
            </p:cNvPr>
            <p:cNvSpPr>
              <a:spLocks noGrp="1"/>
            </p:cNvSpPr>
            <p:nvPr/>
          </p:nvSpPr>
          <p:spPr>
            <a:xfrm>
              <a:off x="5558008" y="1295400"/>
              <a:ext cx="3067050" cy="266700"/>
            </a:xfrm>
            <a:custGeom>
              <a:avLst/>
              <a:gdLst/>
              <a:ahLst/>
              <a:cxnLst/>
              <a:rect l="0" t="0" r="0" b="0"/>
              <a:pathLst>
                <a:path w="3067050" h="266700">
                  <a:moveTo>
                    <a:pt x="0" y="266700"/>
                  </a:moveTo>
                  <a:lnTo>
                    <a:pt x="0" y="0"/>
                  </a:lnTo>
                  <a:lnTo>
                    <a:pt x="3067050" y="0"/>
                  </a:lnTo>
                  <a:lnTo>
                    <a:pt x="3067050" y="251698"/>
                  </a:lnTo>
                </a:path>
              </a:pathLst>
            </a:custGeom>
            <a:noFill/>
            <a:ln w="5468">
              <a:solidFill>
                <a:srgbClr val="A3ACB4"/>
              </a:solidFill>
              <a:prstDash val="dash"/>
            </a:ln>
          </p:spPr>
        </p:sp>
        <p:sp>
          <p:nvSpPr>
            <p:cNvPr id="1351" name="Skip middle refined head">
              <a:extLst>
                <a:ext uri="{FF2B5EF4-FFF2-40B4-BE49-F238E27FC236}">
                  <a16:creationId xmlns:a16="http://schemas.microsoft.com/office/drawing/2014/main" id="{5D984C66-44F4-6C0C-29FA-C26BCC014DA5}"/>
                </a:ext>
              </a:extLst>
            </p:cNvPr>
            <p:cNvSpPr>
              <a:spLocks noGrp="1"/>
            </p:cNvSpPr>
            <p:nvPr/>
          </p:nvSpPr>
          <p:spPr>
            <a:xfrm>
              <a:off x="8606627" y="1519238"/>
              <a:ext cx="36862" cy="42863"/>
            </a:xfrm>
            <a:custGeom>
              <a:avLst/>
              <a:gdLst/>
              <a:ahLst/>
              <a:cxnLst/>
              <a:rect l="0" t="0" r="0" b="0"/>
              <a:pathLst>
                <a:path w="36862" h="42863">
                  <a:moveTo>
                    <a:pt x="18431" y="42863"/>
                  </a:moveTo>
                  <a:lnTo>
                    <a:pt x="36862" y="0"/>
                  </a:lnTo>
                  <a:lnTo>
                    <a:pt x="0" y="0"/>
                  </a:lnTo>
                  <a:close/>
                </a:path>
              </a:pathLst>
            </a:custGeom>
            <a:solidFill>
              <a:srgbClr val="A3ACB4"/>
            </a:solidFill>
            <a:ln w="0">
              <a:noFill/>
              <a:prstDash val="solid"/>
            </a:ln>
          </p:spPr>
        </p:sp>
        <p:sp>
          <p:nvSpPr>
            <p:cNvPr id="1352" name="Skip inner refined">
              <a:extLst>
                <a:ext uri="{FF2B5EF4-FFF2-40B4-BE49-F238E27FC236}">
                  <a16:creationId xmlns:a16="http://schemas.microsoft.com/office/drawing/2014/main" id="{796339B7-CA5C-9A6F-F626-7D7B76227D0E}"/>
                </a:ext>
              </a:extLst>
            </p:cNvPr>
            <p:cNvSpPr>
              <a:spLocks noGrp="1"/>
            </p:cNvSpPr>
            <p:nvPr/>
          </p:nvSpPr>
          <p:spPr>
            <a:xfrm>
              <a:off x="6081883" y="1381125"/>
              <a:ext cx="2000250" cy="323850"/>
            </a:xfrm>
            <a:custGeom>
              <a:avLst/>
              <a:gdLst/>
              <a:ahLst/>
              <a:cxnLst/>
              <a:rect l="0" t="0" r="0" b="0"/>
              <a:pathLst>
                <a:path w="2000250" h="323850">
                  <a:moveTo>
                    <a:pt x="0" y="323850"/>
                  </a:moveTo>
                  <a:lnTo>
                    <a:pt x="0" y="0"/>
                  </a:lnTo>
                  <a:lnTo>
                    <a:pt x="2000250" y="0"/>
                  </a:lnTo>
                  <a:lnTo>
                    <a:pt x="2000250" y="308848"/>
                  </a:lnTo>
                </a:path>
              </a:pathLst>
            </a:custGeom>
            <a:noFill/>
            <a:ln w="5468">
              <a:solidFill>
                <a:srgbClr val="A3ACB4"/>
              </a:solidFill>
              <a:prstDash val="dash"/>
            </a:ln>
          </p:spPr>
        </p:sp>
        <p:sp>
          <p:nvSpPr>
            <p:cNvPr id="1353" name="Skip inner refined head">
              <a:extLst>
                <a:ext uri="{FF2B5EF4-FFF2-40B4-BE49-F238E27FC236}">
                  <a16:creationId xmlns:a16="http://schemas.microsoft.com/office/drawing/2014/main" id="{5389494F-4196-1B0C-C069-F40391B0419B}"/>
                </a:ext>
              </a:extLst>
            </p:cNvPr>
            <p:cNvSpPr>
              <a:spLocks noGrp="1"/>
            </p:cNvSpPr>
            <p:nvPr/>
          </p:nvSpPr>
          <p:spPr>
            <a:xfrm>
              <a:off x="8063702" y="1662113"/>
              <a:ext cx="36862" cy="42863"/>
            </a:xfrm>
            <a:custGeom>
              <a:avLst/>
              <a:gdLst/>
              <a:ahLst/>
              <a:cxnLst/>
              <a:rect l="0" t="0" r="0" b="0"/>
              <a:pathLst>
                <a:path w="36862" h="42863">
                  <a:moveTo>
                    <a:pt x="18431" y="42863"/>
                  </a:moveTo>
                  <a:lnTo>
                    <a:pt x="36862" y="0"/>
                  </a:lnTo>
                  <a:lnTo>
                    <a:pt x="0" y="0"/>
                  </a:lnTo>
                  <a:close/>
                </a:path>
              </a:pathLst>
            </a:custGeom>
            <a:solidFill>
              <a:srgbClr val="A3ACB4"/>
            </a:solidFill>
            <a:ln w="0">
              <a:noFill/>
              <a:prstDash val="solid"/>
            </a:ln>
          </p:spPr>
        </p:sp>
        <p:sp>
          <p:nvSpPr>
            <p:cNvPr id="1354" name="PTV3 forward refined 1">
              <a:extLst>
                <a:ext uri="{FF2B5EF4-FFF2-40B4-BE49-F238E27FC236}">
                  <a16:creationId xmlns:a16="http://schemas.microsoft.com/office/drawing/2014/main" id="{B0492619-D665-D0F6-7061-EDCBCE3DDA3A}"/>
                </a:ext>
              </a:extLst>
            </p:cNvPr>
            <p:cNvSpPr>
              <a:spLocks noGrp="1"/>
            </p:cNvSpPr>
            <p:nvPr/>
          </p:nvSpPr>
          <p:spPr>
            <a:xfrm>
              <a:off x="5447899" y="3106769"/>
              <a:ext cx="255746" cy="191"/>
            </a:xfrm>
            <a:custGeom>
              <a:avLst/>
              <a:gdLst/>
              <a:ahLst/>
              <a:cxnLst/>
              <a:rect l="0" t="0" r="0" b="0"/>
              <a:pathLst>
                <a:path w="255746" h="191">
                  <a:moveTo>
                    <a:pt x="0" y="0"/>
                  </a:moveTo>
                  <a:lnTo>
                    <a:pt x="255746" y="0"/>
                  </a:lnTo>
                </a:path>
              </a:pathLst>
            </a:custGeom>
            <a:noFill/>
            <a:ln w="8505">
              <a:solidFill>
                <a:srgbClr val="77828C"/>
              </a:solidFill>
              <a:prstDash val="solid"/>
            </a:ln>
          </p:spPr>
        </p:sp>
        <p:sp>
          <p:nvSpPr>
            <p:cNvPr id="1355" name="PTV3 forward refined 1 head">
              <a:extLst>
                <a:ext uri="{FF2B5EF4-FFF2-40B4-BE49-F238E27FC236}">
                  <a16:creationId xmlns:a16="http://schemas.microsoft.com/office/drawing/2014/main" id="{B7BCE76F-C831-1ABC-ADA2-90D7588CB987}"/>
                </a:ext>
              </a:extLst>
            </p:cNvPr>
            <p:cNvSpPr>
              <a:spLocks noGrp="1"/>
            </p:cNvSpPr>
            <p:nvPr/>
          </p:nvSpPr>
          <p:spPr>
            <a:xfrm>
              <a:off x="5660307"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solidFill>
                <a:srgbClr val="77828C"/>
              </a:solidFill>
              <a:prstDash val="solid"/>
            </a:ln>
          </p:spPr>
        </p:sp>
        <p:sp>
          <p:nvSpPr>
            <p:cNvPr id="1356" name="PTV3 forward refined 2">
              <a:extLst>
                <a:ext uri="{FF2B5EF4-FFF2-40B4-BE49-F238E27FC236}">
                  <a16:creationId xmlns:a16="http://schemas.microsoft.com/office/drawing/2014/main" id="{24AE15E3-3B2D-CC4A-618E-E9BB13DA2E16}"/>
                </a:ext>
              </a:extLst>
            </p:cNvPr>
            <p:cNvSpPr>
              <a:spLocks noGrp="1"/>
            </p:cNvSpPr>
            <p:nvPr/>
          </p:nvSpPr>
          <p:spPr>
            <a:xfrm>
              <a:off x="6452501" y="3106769"/>
              <a:ext cx="311563" cy="191"/>
            </a:xfrm>
            <a:custGeom>
              <a:avLst/>
              <a:gdLst/>
              <a:ahLst/>
              <a:cxnLst/>
              <a:rect l="0" t="0" r="0" b="0"/>
              <a:pathLst>
                <a:path w="311563" h="191">
                  <a:moveTo>
                    <a:pt x="0" y="0"/>
                  </a:moveTo>
                  <a:lnTo>
                    <a:pt x="311563" y="0"/>
                  </a:lnTo>
                </a:path>
              </a:pathLst>
            </a:custGeom>
            <a:noFill/>
            <a:ln w="8505">
              <a:solidFill>
                <a:srgbClr val="77828C"/>
              </a:solidFill>
              <a:prstDash val="solid"/>
            </a:ln>
          </p:spPr>
        </p:sp>
        <p:sp>
          <p:nvSpPr>
            <p:cNvPr id="1357" name="PTV3 forward refined 2 head">
              <a:extLst>
                <a:ext uri="{FF2B5EF4-FFF2-40B4-BE49-F238E27FC236}">
                  <a16:creationId xmlns:a16="http://schemas.microsoft.com/office/drawing/2014/main" id="{8007E90B-E49B-BC36-45F6-E1B46BA41A6C}"/>
                </a:ext>
              </a:extLst>
            </p:cNvPr>
            <p:cNvSpPr>
              <a:spLocks noGrp="1"/>
            </p:cNvSpPr>
            <p:nvPr/>
          </p:nvSpPr>
          <p:spPr>
            <a:xfrm>
              <a:off x="6720725"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58" name="PTV3 forward refined 3">
              <a:extLst>
                <a:ext uri="{FF2B5EF4-FFF2-40B4-BE49-F238E27FC236}">
                  <a16:creationId xmlns:a16="http://schemas.microsoft.com/office/drawing/2014/main" id="{2D087525-2ABD-3A01-10DA-7F65FB2DD09A}"/>
                </a:ext>
              </a:extLst>
            </p:cNvPr>
            <p:cNvSpPr>
              <a:spLocks noGrp="1"/>
            </p:cNvSpPr>
            <p:nvPr/>
          </p:nvSpPr>
          <p:spPr>
            <a:xfrm>
              <a:off x="7438529" y="3106769"/>
              <a:ext cx="311563" cy="191"/>
            </a:xfrm>
            <a:custGeom>
              <a:avLst/>
              <a:gdLst/>
              <a:ahLst/>
              <a:cxnLst/>
              <a:rect l="0" t="0" r="0" b="0"/>
              <a:pathLst>
                <a:path w="311563" h="191">
                  <a:moveTo>
                    <a:pt x="0" y="0"/>
                  </a:moveTo>
                  <a:lnTo>
                    <a:pt x="311563" y="0"/>
                  </a:lnTo>
                </a:path>
              </a:pathLst>
            </a:custGeom>
            <a:noFill/>
            <a:ln w="8505">
              <a:solidFill>
                <a:srgbClr val="77828C"/>
              </a:solidFill>
              <a:prstDash val="solid"/>
            </a:ln>
          </p:spPr>
        </p:sp>
        <p:sp>
          <p:nvSpPr>
            <p:cNvPr id="1359" name="PTV3 forward refined 3 head">
              <a:extLst>
                <a:ext uri="{FF2B5EF4-FFF2-40B4-BE49-F238E27FC236}">
                  <a16:creationId xmlns:a16="http://schemas.microsoft.com/office/drawing/2014/main" id="{417DAC3E-DE7D-4EBD-83BF-06F7FB2A8085}"/>
                </a:ext>
              </a:extLst>
            </p:cNvPr>
            <p:cNvSpPr>
              <a:spLocks noGrp="1"/>
            </p:cNvSpPr>
            <p:nvPr/>
          </p:nvSpPr>
          <p:spPr>
            <a:xfrm>
              <a:off x="7706753"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solidFill>
                <a:srgbClr val="77828C"/>
              </a:solidFill>
              <a:prstDash val="solid"/>
            </a:ln>
          </p:spPr>
        </p:sp>
        <p:sp>
          <p:nvSpPr>
            <p:cNvPr id="1360" name="PTV3 forward refined 4">
              <a:extLst>
                <a:ext uri="{FF2B5EF4-FFF2-40B4-BE49-F238E27FC236}">
                  <a16:creationId xmlns:a16="http://schemas.microsoft.com/office/drawing/2014/main" id="{3F66A9B7-F35C-EB4C-B102-3F29A4296978}"/>
                </a:ext>
              </a:extLst>
            </p:cNvPr>
            <p:cNvSpPr>
              <a:spLocks noGrp="1"/>
            </p:cNvSpPr>
            <p:nvPr/>
          </p:nvSpPr>
          <p:spPr>
            <a:xfrm>
              <a:off x="8498852" y="3106769"/>
              <a:ext cx="255746" cy="191"/>
            </a:xfrm>
            <a:custGeom>
              <a:avLst/>
              <a:gdLst/>
              <a:ahLst/>
              <a:cxnLst/>
              <a:rect l="0" t="0" r="0" b="0"/>
              <a:pathLst>
                <a:path w="255746" h="191">
                  <a:moveTo>
                    <a:pt x="0" y="0"/>
                  </a:moveTo>
                  <a:lnTo>
                    <a:pt x="255746" y="0"/>
                  </a:lnTo>
                </a:path>
              </a:pathLst>
            </a:custGeom>
            <a:noFill/>
            <a:ln w="8505">
              <a:solidFill>
                <a:srgbClr val="77828C"/>
              </a:solidFill>
              <a:prstDash val="solid"/>
            </a:ln>
          </p:spPr>
        </p:sp>
        <p:sp>
          <p:nvSpPr>
            <p:cNvPr id="1361" name="PTV3 forward refined 4 head">
              <a:extLst>
                <a:ext uri="{FF2B5EF4-FFF2-40B4-BE49-F238E27FC236}">
                  <a16:creationId xmlns:a16="http://schemas.microsoft.com/office/drawing/2014/main" id="{4634E7DB-F8E3-B989-4F8D-785672F195B4}"/>
                </a:ext>
              </a:extLst>
            </p:cNvPr>
            <p:cNvSpPr>
              <a:spLocks noGrp="1"/>
            </p:cNvSpPr>
            <p:nvPr/>
          </p:nvSpPr>
          <p:spPr>
            <a:xfrm>
              <a:off x="8711259"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62" name="Fusion refined 487.16">
              <a:extLst>
                <a:ext uri="{FF2B5EF4-FFF2-40B4-BE49-F238E27FC236}">
                  <a16:creationId xmlns:a16="http://schemas.microsoft.com/office/drawing/2014/main" id="{0FF19FA3-F74F-0EF3-2637-6AA25406EF88}"/>
                </a:ext>
              </a:extLst>
            </p:cNvPr>
            <p:cNvSpPr>
              <a:spLocks noGrp="1"/>
            </p:cNvSpPr>
            <p:nvPr/>
          </p:nvSpPr>
          <p:spPr>
            <a:xfrm>
              <a:off x="5085187" y="2418493"/>
              <a:ext cx="191" cy="404527"/>
            </a:xfrm>
            <a:custGeom>
              <a:avLst/>
              <a:gdLst/>
              <a:ahLst/>
              <a:cxnLst/>
              <a:rect l="0" t="0" r="0" b="0"/>
              <a:pathLst>
                <a:path w="191" h="404527">
                  <a:moveTo>
                    <a:pt x="0" y="0"/>
                  </a:moveTo>
                  <a:lnTo>
                    <a:pt x="0" y="404527"/>
                  </a:lnTo>
                </a:path>
              </a:pathLst>
            </a:custGeom>
            <a:noFill/>
            <a:ln w="8505">
              <a:solidFill>
                <a:srgbClr val="77828C"/>
              </a:solidFill>
              <a:prstDash val="solid"/>
            </a:ln>
          </p:spPr>
        </p:sp>
        <p:sp>
          <p:nvSpPr>
            <p:cNvPr id="1363" name="Fusion refined 487.16 head">
              <a:extLst>
                <a:ext uri="{FF2B5EF4-FFF2-40B4-BE49-F238E27FC236}">
                  <a16:creationId xmlns:a16="http://schemas.microsoft.com/office/drawing/2014/main" id="{3D13397A-1EED-4CCF-C88D-62A5EFCF622C}"/>
                </a:ext>
              </a:extLst>
            </p:cNvPr>
            <p:cNvSpPr>
              <a:spLocks noGrp="1"/>
            </p:cNvSpPr>
            <p:nvPr/>
          </p:nvSpPr>
          <p:spPr>
            <a:xfrm>
              <a:off x="5056517" y="277968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64" name="Fusion refined 700.05">
              <a:extLst>
                <a:ext uri="{FF2B5EF4-FFF2-40B4-BE49-F238E27FC236}">
                  <a16:creationId xmlns:a16="http://schemas.microsoft.com/office/drawing/2014/main" id="{F3328C85-8D10-5BAE-F06A-A042F88B4457}"/>
                </a:ext>
              </a:extLst>
            </p:cNvPr>
            <p:cNvSpPr>
              <a:spLocks noGrp="1"/>
            </p:cNvSpPr>
            <p:nvPr/>
          </p:nvSpPr>
          <p:spPr>
            <a:xfrm>
              <a:off x="7112964" y="2418493"/>
              <a:ext cx="191" cy="404527"/>
            </a:xfrm>
            <a:custGeom>
              <a:avLst/>
              <a:gdLst/>
              <a:ahLst/>
              <a:cxnLst/>
              <a:rect l="0" t="0" r="0" b="0"/>
              <a:pathLst>
                <a:path w="191" h="404527">
                  <a:moveTo>
                    <a:pt x="0" y="0"/>
                  </a:moveTo>
                  <a:lnTo>
                    <a:pt x="0" y="404527"/>
                  </a:lnTo>
                </a:path>
              </a:pathLst>
            </a:custGeom>
            <a:noFill/>
            <a:ln w="8505">
              <a:solidFill>
                <a:srgbClr val="77828C"/>
              </a:solidFill>
              <a:prstDash val="solid"/>
            </a:ln>
          </p:spPr>
        </p:sp>
        <p:sp>
          <p:nvSpPr>
            <p:cNvPr id="1365" name="Fusion refined 700.05 head">
              <a:extLst>
                <a:ext uri="{FF2B5EF4-FFF2-40B4-BE49-F238E27FC236}">
                  <a16:creationId xmlns:a16="http://schemas.microsoft.com/office/drawing/2014/main" id="{615DF42F-7A96-D005-2B04-2E5B83AF189A}"/>
                </a:ext>
              </a:extLst>
            </p:cNvPr>
            <p:cNvSpPr>
              <a:spLocks noGrp="1"/>
            </p:cNvSpPr>
            <p:nvPr/>
          </p:nvSpPr>
          <p:spPr>
            <a:xfrm>
              <a:off x="7084294" y="277968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66" name="Fusion refined 912.94">
              <a:extLst>
                <a:ext uri="{FF2B5EF4-FFF2-40B4-BE49-F238E27FC236}">
                  <a16:creationId xmlns:a16="http://schemas.microsoft.com/office/drawing/2014/main" id="{8F954EB4-FAB9-9DC0-DCA1-6E84B625ECD7}"/>
                </a:ext>
              </a:extLst>
            </p:cNvPr>
            <p:cNvSpPr>
              <a:spLocks noGrp="1"/>
            </p:cNvSpPr>
            <p:nvPr/>
          </p:nvSpPr>
          <p:spPr>
            <a:xfrm>
              <a:off x="9140742" y="2418493"/>
              <a:ext cx="191" cy="404527"/>
            </a:xfrm>
            <a:custGeom>
              <a:avLst/>
              <a:gdLst/>
              <a:ahLst/>
              <a:cxnLst/>
              <a:rect l="0" t="0" r="0" b="0"/>
              <a:pathLst>
                <a:path w="191" h="404527">
                  <a:moveTo>
                    <a:pt x="0" y="0"/>
                  </a:moveTo>
                  <a:lnTo>
                    <a:pt x="0" y="404527"/>
                  </a:lnTo>
                </a:path>
              </a:pathLst>
            </a:custGeom>
            <a:noFill/>
            <a:ln w="8505">
              <a:solidFill>
                <a:srgbClr val="77828C"/>
              </a:solidFill>
              <a:prstDash val="solid"/>
            </a:ln>
          </p:spPr>
        </p:sp>
        <p:sp>
          <p:nvSpPr>
            <p:cNvPr id="1367" name="Fusion refined 912.94 head">
              <a:extLst>
                <a:ext uri="{FF2B5EF4-FFF2-40B4-BE49-F238E27FC236}">
                  <a16:creationId xmlns:a16="http://schemas.microsoft.com/office/drawing/2014/main" id="{DDC6F6E8-2600-F9F0-8C4C-DF220F079064}"/>
                </a:ext>
              </a:extLst>
            </p:cNvPr>
            <p:cNvSpPr>
              <a:spLocks noGrp="1"/>
            </p:cNvSpPr>
            <p:nvPr/>
          </p:nvSpPr>
          <p:spPr>
            <a:xfrm>
              <a:off x="9112071" y="277968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68" name="Recycle right refined">
              <a:extLst>
                <a:ext uri="{FF2B5EF4-FFF2-40B4-BE49-F238E27FC236}">
                  <a16:creationId xmlns:a16="http://schemas.microsoft.com/office/drawing/2014/main" id="{D9AFE2A4-7629-8D55-72A2-74513ED16554}"/>
                </a:ext>
              </a:extLst>
            </p:cNvPr>
            <p:cNvSpPr>
              <a:spLocks noGrp="1"/>
            </p:cNvSpPr>
            <p:nvPr/>
          </p:nvSpPr>
          <p:spPr>
            <a:xfrm>
              <a:off x="7596644" y="3385852"/>
              <a:ext cx="1544098" cy="241840"/>
            </a:xfrm>
            <a:custGeom>
              <a:avLst/>
              <a:gdLst/>
              <a:ahLst/>
              <a:cxnLst/>
              <a:rect l="0" t="0" r="0" b="0"/>
              <a:pathLst>
                <a:path w="1544098" h="241840">
                  <a:moveTo>
                    <a:pt x="1544098" y="0"/>
                  </a:moveTo>
                  <a:lnTo>
                    <a:pt x="1544098" y="241840"/>
                  </a:lnTo>
                  <a:lnTo>
                    <a:pt x="0" y="241840"/>
                  </a:lnTo>
                </a:path>
              </a:pathLst>
            </a:custGeom>
            <a:noFill/>
            <a:ln w="8505">
              <a:solidFill>
                <a:srgbClr val="77828C"/>
              </a:solidFill>
              <a:prstDash val="solid"/>
            </a:ln>
          </p:spPr>
        </p:sp>
        <p:sp>
          <p:nvSpPr>
            <p:cNvPr id="1369" name="Recycle left refined">
              <a:extLst>
                <a:ext uri="{FF2B5EF4-FFF2-40B4-BE49-F238E27FC236}">
                  <a16:creationId xmlns:a16="http://schemas.microsoft.com/office/drawing/2014/main" id="{9E9F6AF5-6C88-4D6A-4EB6-AE11098D540D}"/>
                </a:ext>
              </a:extLst>
            </p:cNvPr>
            <p:cNvSpPr>
              <a:spLocks noGrp="1"/>
            </p:cNvSpPr>
            <p:nvPr/>
          </p:nvSpPr>
          <p:spPr>
            <a:xfrm>
              <a:off x="5085187" y="3409188"/>
              <a:ext cx="1544098" cy="218503"/>
            </a:xfrm>
            <a:custGeom>
              <a:avLst/>
              <a:gdLst/>
              <a:ahLst/>
              <a:cxnLst/>
              <a:rect l="0" t="0" r="0" b="0"/>
              <a:pathLst>
                <a:path w="1544098" h="218503">
                  <a:moveTo>
                    <a:pt x="1544098" y="218503"/>
                  </a:moveTo>
                  <a:lnTo>
                    <a:pt x="0" y="218503"/>
                  </a:lnTo>
                  <a:lnTo>
                    <a:pt x="0" y="0"/>
                  </a:lnTo>
                </a:path>
              </a:pathLst>
            </a:custGeom>
            <a:noFill/>
            <a:ln w="8505">
              <a:solidFill>
                <a:srgbClr val="77828C"/>
              </a:solidFill>
              <a:prstDash val="solid"/>
            </a:ln>
          </p:spPr>
        </p:sp>
        <p:sp>
          <p:nvSpPr>
            <p:cNvPr id="1370" name="Recycle left refined head">
              <a:extLst>
                <a:ext uri="{FF2B5EF4-FFF2-40B4-BE49-F238E27FC236}">
                  <a16:creationId xmlns:a16="http://schemas.microsoft.com/office/drawing/2014/main" id="{FC70626C-9297-3774-289D-8C74BAB81591}"/>
                </a:ext>
              </a:extLst>
            </p:cNvPr>
            <p:cNvSpPr>
              <a:spLocks noGrp="1"/>
            </p:cNvSpPr>
            <p:nvPr/>
          </p:nvSpPr>
          <p:spPr>
            <a:xfrm>
              <a:off x="5056517" y="3385852"/>
              <a:ext cx="57340" cy="66675"/>
            </a:xfrm>
            <a:custGeom>
              <a:avLst/>
              <a:gdLst/>
              <a:ahLst/>
              <a:cxnLst/>
              <a:rect l="0" t="0" r="0" b="0"/>
              <a:pathLst>
                <a:path w="57340" h="66675">
                  <a:moveTo>
                    <a:pt x="28670" y="0"/>
                  </a:moveTo>
                  <a:lnTo>
                    <a:pt x="0" y="66675"/>
                  </a:lnTo>
                  <a:lnTo>
                    <a:pt x="57340" y="66675"/>
                  </a:lnTo>
                  <a:close/>
                </a:path>
              </a:pathLst>
            </a:custGeom>
            <a:solidFill>
              <a:srgbClr val="77828C"/>
            </a:solidFill>
            <a:ln w="0">
              <a:noFill/>
              <a:prstDash val="solid"/>
            </a:ln>
          </p:spPr>
        </p:sp>
        <p:sp>
          <p:nvSpPr>
            <p:cNvPr id="1371" name="Crop to summary refined">
              <a:extLst>
                <a:ext uri="{FF2B5EF4-FFF2-40B4-BE49-F238E27FC236}">
                  <a16:creationId xmlns:a16="http://schemas.microsoft.com/office/drawing/2014/main" id="{23964A60-5300-B32A-CC8C-9F9A10909522}"/>
                </a:ext>
              </a:extLst>
            </p:cNvPr>
            <p:cNvSpPr>
              <a:spLocks noGrp="1"/>
            </p:cNvSpPr>
            <p:nvPr/>
          </p:nvSpPr>
          <p:spPr>
            <a:xfrm>
              <a:off x="3580673" y="6064758"/>
              <a:ext cx="1148715" cy="191"/>
            </a:xfrm>
            <a:custGeom>
              <a:avLst/>
              <a:gdLst/>
              <a:ahLst/>
              <a:cxnLst/>
              <a:rect l="0" t="0" r="0" b="0"/>
              <a:pathLst>
                <a:path w="1148715" h="191">
                  <a:moveTo>
                    <a:pt x="0" y="0"/>
                  </a:moveTo>
                  <a:lnTo>
                    <a:pt x="1148715" y="0"/>
                  </a:lnTo>
                </a:path>
              </a:pathLst>
            </a:custGeom>
            <a:noFill/>
            <a:ln w="8505">
              <a:solidFill>
                <a:srgbClr val="77828C"/>
              </a:solidFill>
              <a:prstDash val="solid"/>
            </a:ln>
          </p:spPr>
        </p:sp>
        <p:sp>
          <p:nvSpPr>
            <p:cNvPr id="1372" name="Crop to summary refined head">
              <a:extLst>
                <a:ext uri="{FF2B5EF4-FFF2-40B4-BE49-F238E27FC236}">
                  <a16:creationId xmlns:a16="http://schemas.microsoft.com/office/drawing/2014/main" id="{864E15CB-81EF-2FAC-14F2-E25D89F29346}"/>
                </a:ext>
              </a:extLst>
            </p:cNvPr>
            <p:cNvSpPr>
              <a:spLocks noGrp="1"/>
            </p:cNvSpPr>
            <p:nvPr/>
          </p:nvSpPr>
          <p:spPr>
            <a:xfrm>
              <a:off x="4686050" y="6036088"/>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73" name="Input split refined">
              <a:extLst>
                <a:ext uri="{FF2B5EF4-FFF2-40B4-BE49-F238E27FC236}">
                  <a16:creationId xmlns:a16="http://schemas.microsoft.com/office/drawing/2014/main" id="{B4BBBDF4-6774-1D2C-95B2-F3B88AB1C869}"/>
                </a:ext>
              </a:extLst>
            </p:cNvPr>
            <p:cNvSpPr>
              <a:spLocks noGrp="1"/>
            </p:cNvSpPr>
            <p:nvPr/>
          </p:nvSpPr>
          <p:spPr>
            <a:xfrm>
              <a:off x="2073914" y="7793355"/>
              <a:ext cx="846772" cy="160020"/>
            </a:xfrm>
            <a:custGeom>
              <a:avLst/>
              <a:gdLst/>
              <a:ahLst/>
              <a:cxnLst/>
              <a:rect l="0" t="0" r="0" b="0"/>
              <a:pathLst>
                <a:path w="846772" h="160020">
                  <a:moveTo>
                    <a:pt x="846772" y="0"/>
                  </a:moveTo>
                  <a:lnTo>
                    <a:pt x="846772" y="160020"/>
                  </a:lnTo>
                  <a:lnTo>
                    <a:pt x="0" y="160020"/>
                  </a:lnTo>
                </a:path>
              </a:pathLst>
            </a:custGeom>
            <a:noFill/>
            <a:ln w="8505">
              <a:solidFill>
                <a:srgbClr val="77828C"/>
              </a:solidFill>
              <a:prstDash val="solid"/>
            </a:ln>
          </p:spPr>
        </p:sp>
        <p:sp>
          <p:nvSpPr>
            <p:cNvPr id="1374" name="Input split right refined">
              <a:extLst>
                <a:ext uri="{FF2B5EF4-FFF2-40B4-BE49-F238E27FC236}">
                  <a16:creationId xmlns:a16="http://schemas.microsoft.com/office/drawing/2014/main" id="{950F0CCA-2F88-9AFF-22D8-DAA7ACB6176C}"/>
                </a:ext>
              </a:extLst>
            </p:cNvPr>
            <p:cNvSpPr>
              <a:spLocks noGrp="1"/>
            </p:cNvSpPr>
            <p:nvPr/>
          </p:nvSpPr>
          <p:spPr>
            <a:xfrm>
              <a:off x="2920686" y="7953375"/>
              <a:ext cx="827723" cy="191"/>
            </a:xfrm>
            <a:custGeom>
              <a:avLst/>
              <a:gdLst/>
              <a:ahLst/>
              <a:cxnLst/>
              <a:rect l="0" t="0" r="0" b="0"/>
              <a:pathLst>
                <a:path w="827723" h="191">
                  <a:moveTo>
                    <a:pt x="0" y="0"/>
                  </a:moveTo>
                  <a:lnTo>
                    <a:pt x="827723" y="0"/>
                  </a:lnTo>
                </a:path>
              </a:pathLst>
            </a:custGeom>
            <a:noFill/>
            <a:ln w="8505">
              <a:solidFill>
                <a:srgbClr val="77828C"/>
              </a:solidFill>
              <a:prstDash val="solid"/>
            </a:ln>
          </p:spPr>
        </p:sp>
        <p:sp>
          <p:nvSpPr>
            <p:cNvPr id="1375" name="Inputs to pool refined">
              <a:extLst>
                <a:ext uri="{FF2B5EF4-FFF2-40B4-BE49-F238E27FC236}">
                  <a16:creationId xmlns:a16="http://schemas.microsoft.com/office/drawing/2014/main" id="{B22E0EF3-FD19-0826-1822-07182CC69FC5}"/>
                </a:ext>
              </a:extLst>
            </p:cNvPr>
            <p:cNvSpPr>
              <a:spLocks noGrp="1"/>
            </p:cNvSpPr>
            <p:nvPr/>
          </p:nvSpPr>
          <p:spPr>
            <a:xfrm>
              <a:off x="2073914" y="7953375"/>
              <a:ext cx="191" cy="143732"/>
            </a:xfrm>
            <a:custGeom>
              <a:avLst/>
              <a:gdLst/>
              <a:ahLst/>
              <a:cxnLst/>
              <a:rect l="0" t="0" r="0" b="0"/>
              <a:pathLst>
                <a:path w="191" h="143732">
                  <a:moveTo>
                    <a:pt x="0" y="0"/>
                  </a:moveTo>
                  <a:lnTo>
                    <a:pt x="0" y="143732"/>
                  </a:lnTo>
                </a:path>
              </a:pathLst>
            </a:custGeom>
            <a:noFill/>
            <a:ln w="8505">
              <a:solidFill>
                <a:srgbClr val="77828C"/>
              </a:solidFill>
              <a:prstDash val="solid"/>
            </a:ln>
          </p:spPr>
        </p:sp>
        <p:sp>
          <p:nvSpPr>
            <p:cNvPr id="1376" name="Inputs to pool refined head">
              <a:extLst>
                <a:ext uri="{FF2B5EF4-FFF2-40B4-BE49-F238E27FC236}">
                  <a16:creationId xmlns:a16="http://schemas.microsoft.com/office/drawing/2014/main" id="{CA70B1F6-4A00-BABC-2972-012866989961}"/>
                </a:ext>
              </a:extLst>
            </p:cNvPr>
            <p:cNvSpPr>
              <a:spLocks noGrp="1"/>
            </p:cNvSpPr>
            <p:nvPr/>
          </p:nvSpPr>
          <p:spPr>
            <a:xfrm>
              <a:off x="2045243" y="8053769"/>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77" name="Inputs to attention refined">
              <a:extLst>
                <a:ext uri="{FF2B5EF4-FFF2-40B4-BE49-F238E27FC236}">
                  <a16:creationId xmlns:a16="http://schemas.microsoft.com/office/drawing/2014/main" id="{08F1A61E-3B0E-8BF6-7F27-5CCE4D22C59A}"/>
                </a:ext>
              </a:extLst>
            </p:cNvPr>
            <p:cNvSpPr>
              <a:spLocks noGrp="1"/>
            </p:cNvSpPr>
            <p:nvPr/>
          </p:nvSpPr>
          <p:spPr>
            <a:xfrm>
              <a:off x="3748409" y="7953375"/>
              <a:ext cx="191" cy="143732"/>
            </a:xfrm>
            <a:custGeom>
              <a:avLst/>
              <a:gdLst/>
              <a:ahLst/>
              <a:cxnLst/>
              <a:rect l="0" t="0" r="0" b="0"/>
              <a:pathLst>
                <a:path w="191" h="143732">
                  <a:moveTo>
                    <a:pt x="0" y="0"/>
                  </a:moveTo>
                  <a:lnTo>
                    <a:pt x="0" y="143732"/>
                  </a:lnTo>
                </a:path>
              </a:pathLst>
            </a:custGeom>
            <a:noFill/>
            <a:ln w="8505">
              <a:solidFill>
                <a:srgbClr val="77828C"/>
              </a:solidFill>
              <a:prstDash val="solid"/>
            </a:ln>
          </p:spPr>
        </p:sp>
        <p:sp>
          <p:nvSpPr>
            <p:cNvPr id="1378" name="Inputs to attention refined head">
              <a:extLst>
                <a:ext uri="{FF2B5EF4-FFF2-40B4-BE49-F238E27FC236}">
                  <a16:creationId xmlns:a16="http://schemas.microsoft.com/office/drawing/2014/main" id="{4A8E2717-7DBF-7A20-898F-8A4B8D99C916}"/>
                </a:ext>
              </a:extLst>
            </p:cNvPr>
            <p:cNvSpPr>
              <a:spLocks noGrp="1"/>
            </p:cNvSpPr>
            <p:nvPr/>
          </p:nvSpPr>
          <p:spPr>
            <a:xfrm>
              <a:off x="3719738" y="8053769"/>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83" name="MLP to FiLM refined">
              <a:extLst>
                <a:ext uri="{FF2B5EF4-FFF2-40B4-BE49-F238E27FC236}">
                  <a16:creationId xmlns:a16="http://schemas.microsoft.com/office/drawing/2014/main" id="{2C7C678A-F3D0-E51D-2CD6-B41E5CBA7774}"/>
                </a:ext>
              </a:extLst>
            </p:cNvPr>
            <p:cNvSpPr>
              <a:spLocks noGrp="1"/>
            </p:cNvSpPr>
            <p:nvPr/>
          </p:nvSpPr>
          <p:spPr>
            <a:xfrm>
              <a:off x="3319784" y="8968264"/>
              <a:ext cx="1502569" cy="191"/>
            </a:xfrm>
            <a:custGeom>
              <a:avLst/>
              <a:gdLst/>
              <a:ahLst/>
              <a:cxnLst/>
              <a:rect l="0" t="0" r="0" b="0"/>
              <a:pathLst>
                <a:path w="1502569" h="191">
                  <a:moveTo>
                    <a:pt x="0" y="0"/>
                  </a:moveTo>
                  <a:lnTo>
                    <a:pt x="1502569" y="0"/>
                  </a:lnTo>
                </a:path>
              </a:pathLst>
            </a:custGeom>
            <a:noFill/>
            <a:ln w="8505">
              <a:solidFill>
                <a:srgbClr val="77828C"/>
              </a:solidFill>
              <a:prstDash val="solid"/>
            </a:ln>
          </p:spPr>
        </p:sp>
        <p:sp>
          <p:nvSpPr>
            <p:cNvPr id="1384" name="MLP to FiLM refined head">
              <a:extLst>
                <a:ext uri="{FF2B5EF4-FFF2-40B4-BE49-F238E27FC236}">
                  <a16:creationId xmlns:a16="http://schemas.microsoft.com/office/drawing/2014/main" id="{E62BF4CB-2DFB-E34F-0A43-259454CA6416}"/>
                </a:ext>
              </a:extLst>
            </p:cNvPr>
            <p:cNvSpPr>
              <a:spLocks noGrp="1"/>
            </p:cNvSpPr>
            <p:nvPr/>
          </p:nvSpPr>
          <p:spPr>
            <a:xfrm>
              <a:off x="4779014" y="8939594"/>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85" name="Summary to FiLM refined">
              <a:extLst>
                <a:ext uri="{FF2B5EF4-FFF2-40B4-BE49-F238E27FC236}">
                  <a16:creationId xmlns:a16="http://schemas.microsoft.com/office/drawing/2014/main" id="{4AD6C56A-E9C3-F934-64AC-D936F1D8505E}"/>
                </a:ext>
              </a:extLst>
            </p:cNvPr>
            <p:cNvSpPr>
              <a:spLocks noGrp="1"/>
            </p:cNvSpPr>
            <p:nvPr/>
          </p:nvSpPr>
          <p:spPr>
            <a:xfrm>
              <a:off x="5199066" y="6400800"/>
              <a:ext cx="191" cy="2367439"/>
            </a:xfrm>
            <a:custGeom>
              <a:avLst/>
              <a:gdLst/>
              <a:ahLst/>
              <a:cxnLst/>
              <a:rect l="0" t="0" r="0" b="0"/>
              <a:pathLst>
                <a:path w="191" h="2367439">
                  <a:moveTo>
                    <a:pt x="0" y="0"/>
                  </a:moveTo>
                  <a:lnTo>
                    <a:pt x="0" y="2367439"/>
                  </a:lnTo>
                </a:path>
              </a:pathLst>
            </a:custGeom>
            <a:noFill/>
            <a:ln w="8505">
              <a:solidFill>
                <a:srgbClr val="77828C"/>
              </a:solidFill>
              <a:prstDash val="solid"/>
            </a:ln>
          </p:spPr>
        </p:sp>
        <p:sp>
          <p:nvSpPr>
            <p:cNvPr id="1386" name="Summary to FiLM refined head">
              <a:extLst>
                <a:ext uri="{FF2B5EF4-FFF2-40B4-BE49-F238E27FC236}">
                  <a16:creationId xmlns:a16="http://schemas.microsoft.com/office/drawing/2014/main" id="{EEAEF4BF-5039-6C23-B675-9771749FE17A}"/>
                </a:ext>
              </a:extLst>
            </p:cNvPr>
            <p:cNvSpPr>
              <a:spLocks noGrp="1"/>
            </p:cNvSpPr>
            <p:nvPr/>
          </p:nvSpPr>
          <p:spPr>
            <a:xfrm>
              <a:off x="5170396" y="8724900"/>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87" name="Summary to cross attention refined">
              <a:extLst>
                <a:ext uri="{FF2B5EF4-FFF2-40B4-BE49-F238E27FC236}">
                  <a16:creationId xmlns:a16="http://schemas.microsoft.com/office/drawing/2014/main" id="{EFD90DBF-A222-410E-15F3-D541CA16A8AE}"/>
                </a:ext>
              </a:extLst>
            </p:cNvPr>
            <p:cNvSpPr>
              <a:spLocks noGrp="1"/>
            </p:cNvSpPr>
            <p:nvPr/>
          </p:nvSpPr>
          <p:spPr>
            <a:xfrm>
              <a:off x="4534221" y="8297132"/>
              <a:ext cx="664845" cy="191"/>
            </a:xfrm>
            <a:custGeom>
              <a:avLst/>
              <a:gdLst/>
              <a:ahLst/>
              <a:cxnLst/>
              <a:rect l="0" t="0" r="0" b="0"/>
              <a:pathLst>
                <a:path w="664845" h="191">
                  <a:moveTo>
                    <a:pt x="664845" y="0"/>
                  </a:moveTo>
                  <a:lnTo>
                    <a:pt x="0" y="0"/>
                  </a:lnTo>
                </a:path>
              </a:pathLst>
            </a:custGeom>
            <a:noFill/>
            <a:ln w="8505">
              <a:solidFill>
                <a:srgbClr val="77828C"/>
              </a:solidFill>
              <a:prstDash val="solid"/>
            </a:ln>
          </p:spPr>
        </p:sp>
        <p:sp>
          <p:nvSpPr>
            <p:cNvPr id="1388" name="Summary to cross attention refined head">
              <a:extLst>
                <a:ext uri="{FF2B5EF4-FFF2-40B4-BE49-F238E27FC236}">
                  <a16:creationId xmlns:a16="http://schemas.microsoft.com/office/drawing/2014/main" id="{91B08F31-0339-9716-3395-2B3F8970BA82}"/>
                </a:ext>
              </a:extLst>
            </p:cNvPr>
            <p:cNvSpPr>
              <a:spLocks noGrp="1"/>
            </p:cNvSpPr>
            <p:nvPr/>
          </p:nvSpPr>
          <p:spPr>
            <a:xfrm>
              <a:off x="4510885" y="8268462"/>
              <a:ext cx="66675" cy="57340"/>
            </a:xfrm>
            <a:custGeom>
              <a:avLst/>
              <a:gdLst/>
              <a:ahLst/>
              <a:cxnLst/>
              <a:rect l="0" t="0" r="0" b="0"/>
              <a:pathLst>
                <a:path w="66675" h="57340">
                  <a:moveTo>
                    <a:pt x="0" y="28670"/>
                  </a:moveTo>
                  <a:lnTo>
                    <a:pt x="66675" y="57340"/>
                  </a:lnTo>
                  <a:lnTo>
                    <a:pt x="66675" y="0"/>
                  </a:lnTo>
                  <a:close/>
                </a:path>
              </a:pathLst>
            </a:custGeom>
            <a:solidFill>
              <a:srgbClr val="77828C"/>
            </a:solidFill>
            <a:ln w="0">
              <a:noFill/>
              <a:prstDash val="solid"/>
            </a:ln>
          </p:spPr>
        </p:sp>
        <p:sp>
          <p:nvSpPr>
            <p:cNvPr id="1389" name="FiLM to candidate refined">
              <a:extLst>
                <a:ext uri="{FF2B5EF4-FFF2-40B4-BE49-F238E27FC236}">
                  <a16:creationId xmlns:a16="http://schemas.microsoft.com/office/drawing/2014/main" id="{25FC3F76-C3DD-1537-7837-64B9361AE243}"/>
                </a:ext>
              </a:extLst>
            </p:cNvPr>
            <p:cNvSpPr>
              <a:spLocks noGrp="1"/>
            </p:cNvSpPr>
            <p:nvPr/>
          </p:nvSpPr>
          <p:spPr>
            <a:xfrm>
              <a:off x="5199066" y="9144953"/>
              <a:ext cx="191" cy="215360"/>
            </a:xfrm>
            <a:custGeom>
              <a:avLst/>
              <a:gdLst/>
              <a:ahLst/>
              <a:cxnLst/>
              <a:rect l="0" t="0" r="0" b="0"/>
              <a:pathLst>
                <a:path w="191" h="215360">
                  <a:moveTo>
                    <a:pt x="0" y="0"/>
                  </a:moveTo>
                  <a:lnTo>
                    <a:pt x="0" y="215360"/>
                  </a:lnTo>
                </a:path>
              </a:pathLst>
            </a:custGeom>
            <a:noFill/>
            <a:ln w="8505">
              <a:solidFill>
                <a:srgbClr val="77828C"/>
              </a:solidFill>
              <a:prstDash val="solid"/>
            </a:ln>
          </p:spPr>
        </p:sp>
        <p:sp>
          <p:nvSpPr>
            <p:cNvPr id="1390" name="FiLM to candidate refined head">
              <a:extLst>
                <a:ext uri="{FF2B5EF4-FFF2-40B4-BE49-F238E27FC236}">
                  <a16:creationId xmlns:a16="http://schemas.microsoft.com/office/drawing/2014/main" id="{7A05C2E3-B0E7-7DA8-4847-EC91C004D35D}"/>
                </a:ext>
              </a:extLst>
            </p:cNvPr>
            <p:cNvSpPr>
              <a:spLocks noGrp="1"/>
            </p:cNvSpPr>
            <p:nvPr/>
          </p:nvSpPr>
          <p:spPr>
            <a:xfrm>
              <a:off x="5170396" y="9316974"/>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91" name="Candidate to foreground refined">
              <a:extLst>
                <a:ext uri="{FF2B5EF4-FFF2-40B4-BE49-F238E27FC236}">
                  <a16:creationId xmlns:a16="http://schemas.microsoft.com/office/drawing/2014/main" id="{FE203BD6-3778-87C2-8526-E332B5B380C4}"/>
                </a:ext>
              </a:extLst>
            </p:cNvPr>
            <p:cNvSpPr>
              <a:spLocks noGrp="1"/>
            </p:cNvSpPr>
            <p:nvPr/>
          </p:nvSpPr>
          <p:spPr>
            <a:xfrm>
              <a:off x="2390048" y="9525000"/>
              <a:ext cx="2809018" cy="286702"/>
            </a:xfrm>
            <a:custGeom>
              <a:avLst/>
              <a:gdLst/>
              <a:ahLst/>
              <a:cxnLst/>
              <a:rect l="0" t="0" r="0" b="0"/>
              <a:pathLst>
                <a:path w="2809018" h="286702">
                  <a:moveTo>
                    <a:pt x="2809018" y="0"/>
                  </a:moveTo>
                  <a:lnTo>
                    <a:pt x="2809018" y="95250"/>
                  </a:lnTo>
                  <a:lnTo>
                    <a:pt x="0" y="95250"/>
                  </a:lnTo>
                  <a:lnTo>
                    <a:pt x="0" y="286702"/>
                  </a:lnTo>
                </a:path>
              </a:pathLst>
            </a:custGeom>
            <a:noFill/>
            <a:ln w="8505">
              <a:solidFill>
                <a:srgbClr val="77828C"/>
              </a:solidFill>
              <a:prstDash val="solid"/>
            </a:ln>
          </p:spPr>
        </p:sp>
        <p:sp>
          <p:nvSpPr>
            <p:cNvPr id="1392" name="Candidate to foreground refined head">
              <a:extLst>
                <a:ext uri="{FF2B5EF4-FFF2-40B4-BE49-F238E27FC236}">
                  <a16:creationId xmlns:a16="http://schemas.microsoft.com/office/drawing/2014/main" id="{D2B7433A-243E-C206-1CB1-3F191E6AD029}"/>
                </a:ext>
              </a:extLst>
            </p:cNvPr>
            <p:cNvSpPr>
              <a:spLocks noGrp="1"/>
            </p:cNvSpPr>
            <p:nvPr/>
          </p:nvSpPr>
          <p:spPr>
            <a:xfrm>
              <a:off x="2361378" y="9768364"/>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93" name="Foreground to probability refined">
              <a:extLst>
                <a:ext uri="{FF2B5EF4-FFF2-40B4-BE49-F238E27FC236}">
                  <a16:creationId xmlns:a16="http://schemas.microsoft.com/office/drawing/2014/main" id="{D5A6B998-ADFA-E982-8C35-E6D90114C21C}"/>
                </a:ext>
              </a:extLst>
            </p:cNvPr>
            <p:cNvSpPr>
              <a:spLocks noGrp="1"/>
            </p:cNvSpPr>
            <p:nvPr/>
          </p:nvSpPr>
          <p:spPr>
            <a:xfrm>
              <a:off x="3190053" y="9971532"/>
              <a:ext cx="600742" cy="191"/>
            </a:xfrm>
            <a:custGeom>
              <a:avLst/>
              <a:gdLst/>
              <a:ahLst/>
              <a:cxnLst/>
              <a:rect l="0" t="0" r="0" b="0"/>
              <a:pathLst>
                <a:path w="600742" h="191">
                  <a:moveTo>
                    <a:pt x="0" y="0"/>
                  </a:moveTo>
                  <a:lnTo>
                    <a:pt x="600742" y="0"/>
                  </a:lnTo>
                </a:path>
              </a:pathLst>
            </a:custGeom>
            <a:noFill/>
            <a:ln w="8505">
              <a:solidFill>
                <a:srgbClr val="77828C"/>
              </a:solidFill>
              <a:prstDash val="solid"/>
            </a:ln>
          </p:spPr>
        </p:sp>
        <p:sp>
          <p:nvSpPr>
            <p:cNvPr id="1394" name="Foreground to probability refined head">
              <a:extLst>
                <a:ext uri="{FF2B5EF4-FFF2-40B4-BE49-F238E27FC236}">
                  <a16:creationId xmlns:a16="http://schemas.microsoft.com/office/drawing/2014/main" id="{660BE4D6-2608-6E09-7FF4-AD7C50994699}"/>
                </a:ext>
              </a:extLst>
            </p:cNvPr>
            <p:cNvSpPr>
              <a:spLocks noGrp="1"/>
            </p:cNvSpPr>
            <p:nvPr/>
          </p:nvSpPr>
          <p:spPr>
            <a:xfrm>
              <a:off x="3747456" y="9942862"/>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95" name="Candidate to cosine refined">
              <a:extLst>
                <a:ext uri="{FF2B5EF4-FFF2-40B4-BE49-F238E27FC236}">
                  <a16:creationId xmlns:a16="http://schemas.microsoft.com/office/drawing/2014/main" id="{22A5040B-9402-AB7D-9094-F4BF5F10ADD2}"/>
                </a:ext>
              </a:extLst>
            </p:cNvPr>
            <p:cNvSpPr>
              <a:spLocks noGrp="1"/>
            </p:cNvSpPr>
            <p:nvPr/>
          </p:nvSpPr>
          <p:spPr>
            <a:xfrm>
              <a:off x="5199066" y="9525000"/>
              <a:ext cx="2478033" cy="446532"/>
            </a:xfrm>
            <a:custGeom>
              <a:avLst/>
              <a:gdLst/>
              <a:ahLst/>
              <a:cxnLst/>
              <a:rect l="0" t="0" r="0" b="0"/>
              <a:pathLst>
                <a:path w="2143887" h="446532">
                  <a:moveTo>
                    <a:pt x="0" y="0"/>
                  </a:moveTo>
                  <a:lnTo>
                    <a:pt x="0" y="446532"/>
                  </a:lnTo>
                  <a:lnTo>
                    <a:pt x="2143887" y="446532"/>
                  </a:lnTo>
                </a:path>
              </a:pathLst>
            </a:custGeom>
            <a:noFill/>
            <a:ln w="8505">
              <a:solidFill>
                <a:srgbClr val="77828C"/>
              </a:solidFill>
              <a:prstDash val="solid"/>
            </a:ln>
          </p:spPr>
        </p:sp>
        <p:sp>
          <p:nvSpPr>
            <p:cNvPr id="1396" name="Candidate to cosine refined head">
              <a:extLst>
                <a:ext uri="{FF2B5EF4-FFF2-40B4-BE49-F238E27FC236}">
                  <a16:creationId xmlns:a16="http://schemas.microsoft.com/office/drawing/2014/main" id="{D0F3AAE9-EBC0-FC07-AF0A-FBDAD938D93E}"/>
                </a:ext>
              </a:extLst>
            </p:cNvPr>
            <p:cNvSpPr>
              <a:spLocks noGrp="1"/>
            </p:cNvSpPr>
            <p:nvPr/>
          </p:nvSpPr>
          <p:spPr>
            <a:xfrm>
              <a:off x="7633759" y="9942862"/>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97" name="Selected identity to graph refined">
              <a:extLst>
                <a:ext uri="{FF2B5EF4-FFF2-40B4-BE49-F238E27FC236}">
                  <a16:creationId xmlns:a16="http://schemas.microsoft.com/office/drawing/2014/main" id="{2545D43E-9B8D-BA3E-80CD-880BD63B35AE}"/>
                </a:ext>
              </a:extLst>
            </p:cNvPr>
            <p:cNvSpPr>
              <a:spLocks noGrp="1"/>
            </p:cNvSpPr>
            <p:nvPr/>
          </p:nvSpPr>
          <p:spPr>
            <a:xfrm>
              <a:off x="7067879" y="6134481"/>
              <a:ext cx="651129" cy="595217"/>
            </a:xfrm>
            <a:custGeom>
              <a:avLst/>
              <a:gdLst/>
              <a:ahLst/>
              <a:cxnLst/>
              <a:rect l="0" t="0" r="0" b="0"/>
              <a:pathLst>
                <a:path w="651129" h="595217">
                  <a:moveTo>
                    <a:pt x="651129" y="0"/>
                  </a:moveTo>
                  <a:lnTo>
                    <a:pt x="0" y="0"/>
                  </a:lnTo>
                  <a:lnTo>
                    <a:pt x="0" y="595217"/>
                  </a:lnTo>
                </a:path>
              </a:pathLst>
            </a:custGeom>
            <a:noFill/>
            <a:ln w="8505">
              <a:solidFill>
                <a:srgbClr val="77828C"/>
              </a:solidFill>
              <a:prstDash val="solid"/>
            </a:ln>
          </p:spPr>
        </p:sp>
        <p:sp>
          <p:nvSpPr>
            <p:cNvPr id="1398" name="Selected identity to graph refined head">
              <a:extLst>
                <a:ext uri="{FF2B5EF4-FFF2-40B4-BE49-F238E27FC236}">
                  <a16:creationId xmlns:a16="http://schemas.microsoft.com/office/drawing/2014/main" id="{2F033F6F-AC85-37DE-479C-D063C3DB8E25}"/>
                </a:ext>
              </a:extLst>
            </p:cNvPr>
            <p:cNvSpPr>
              <a:spLocks noGrp="1"/>
            </p:cNvSpPr>
            <p:nvPr/>
          </p:nvSpPr>
          <p:spPr>
            <a:xfrm>
              <a:off x="7039209" y="6686360"/>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99" name="Graph to GNN refined">
              <a:extLst>
                <a:ext uri="{FF2B5EF4-FFF2-40B4-BE49-F238E27FC236}">
                  <a16:creationId xmlns:a16="http://schemas.microsoft.com/office/drawing/2014/main" id="{7EF864D3-D6E3-5180-82C2-0A0AE886C150}"/>
                </a:ext>
              </a:extLst>
            </p:cNvPr>
            <p:cNvSpPr>
              <a:spLocks noGrp="1"/>
            </p:cNvSpPr>
            <p:nvPr/>
          </p:nvSpPr>
          <p:spPr>
            <a:xfrm>
              <a:off x="7067879" y="7441406"/>
              <a:ext cx="191" cy="153448"/>
            </a:xfrm>
            <a:custGeom>
              <a:avLst/>
              <a:gdLst/>
              <a:ahLst/>
              <a:cxnLst/>
              <a:rect l="0" t="0" r="0" b="0"/>
              <a:pathLst>
                <a:path w="191" h="153448">
                  <a:moveTo>
                    <a:pt x="0" y="0"/>
                  </a:moveTo>
                  <a:lnTo>
                    <a:pt x="0" y="153448"/>
                  </a:lnTo>
                </a:path>
              </a:pathLst>
            </a:custGeom>
            <a:noFill/>
            <a:ln w="8505">
              <a:solidFill>
                <a:srgbClr val="77828C"/>
              </a:solidFill>
              <a:prstDash val="solid"/>
            </a:ln>
          </p:spPr>
        </p:sp>
        <p:sp>
          <p:nvSpPr>
            <p:cNvPr id="1400" name="Graph to GNN refined head">
              <a:extLst>
                <a:ext uri="{FF2B5EF4-FFF2-40B4-BE49-F238E27FC236}">
                  <a16:creationId xmlns:a16="http://schemas.microsoft.com/office/drawing/2014/main" id="{B23BD653-4893-2671-9B86-7F888A6E5617}"/>
                </a:ext>
              </a:extLst>
            </p:cNvPr>
            <p:cNvSpPr>
              <a:spLocks noGrp="1"/>
            </p:cNvSpPr>
            <p:nvPr/>
          </p:nvSpPr>
          <p:spPr>
            <a:xfrm>
              <a:off x="7039209" y="7551515"/>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1" name="GNN to graph attention refined">
              <a:extLst>
                <a:ext uri="{FF2B5EF4-FFF2-40B4-BE49-F238E27FC236}">
                  <a16:creationId xmlns:a16="http://schemas.microsoft.com/office/drawing/2014/main" id="{B0DCC1B2-7C1A-332C-0127-08382278DBC6}"/>
                </a:ext>
              </a:extLst>
            </p:cNvPr>
            <p:cNvSpPr>
              <a:spLocks noGrp="1"/>
            </p:cNvSpPr>
            <p:nvPr/>
          </p:nvSpPr>
          <p:spPr>
            <a:xfrm>
              <a:off x="7067879" y="7934420"/>
              <a:ext cx="191" cy="274320"/>
            </a:xfrm>
            <a:custGeom>
              <a:avLst/>
              <a:gdLst/>
              <a:ahLst/>
              <a:cxnLst/>
              <a:rect l="0" t="0" r="0" b="0"/>
              <a:pathLst>
                <a:path w="191" h="274320">
                  <a:moveTo>
                    <a:pt x="0" y="0"/>
                  </a:moveTo>
                  <a:lnTo>
                    <a:pt x="0" y="274320"/>
                  </a:lnTo>
                </a:path>
              </a:pathLst>
            </a:custGeom>
            <a:noFill/>
            <a:ln w="8505">
              <a:solidFill>
                <a:srgbClr val="77828C"/>
              </a:solidFill>
              <a:prstDash val="solid"/>
            </a:ln>
          </p:spPr>
        </p:sp>
        <p:sp>
          <p:nvSpPr>
            <p:cNvPr id="1402" name="GNN to graph attention refined head">
              <a:extLst>
                <a:ext uri="{FF2B5EF4-FFF2-40B4-BE49-F238E27FC236}">
                  <a16:creationId xmlns:a16="http://schemas.microsoft.com/office/drawing/2014/main" id="{F5D1A0D2-1869-EB89-61A3-D3ABFE580C35}"/>
                </a:ext>
              </a:extLst>
            </p:cNvPr>
            <p:cNvSpPr>
              <a:spLocks noGrp="1"/>
            </p:cNvSpPr>
            <p:nvPr/>
          </p:nvSpPr>
          <p:spPr>
            <a:xfrm>
              <a:off x="7039209" y="816540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3" name="Identity to SMI-TED refined">
              <a:extLst>
                <a:ext uri="{FF2B5EF4-FFF2-40B4-BE49-F238E27FC236}">
                  <a16:creationId xmlns:a16="http://schemas.microsoft.com/office/drawing/2014/main" id="{416B661C-118E-CA99-59DC-DA4857A74E2E}"/>
                </a:ext>
              </a:extLst>
            </p:cNvPr>
            <p:cNvSpPr>
              <a:spLocks noGrp="1"/>
            </p:cNvSpPr>
            <p:nvPr/>
          </p:nvSpPr>
          <p:spPr>
            <a:xfrm>
              <a:off x="8637980" y="6638068"/>
              <a:ext cx="191" cy="326993"/>
            </a:xfrm>
            <a:custGeom>
              <a:avLst/>
              <a:gdLst/>
              <a:ahLst/>
              <a:cxnLst/>
              <a:rect l="0" t="0" r="0" b="0"/>
              <a:pathLst>
                <a:path w="191" h="326993">
                  <a:moveTo>
                    <a:pt x="0" y="0"/>
                  </a:moveTo>
                  <a:lnTo>
                    <a:pt x="0" y="326993"/>
                  </a:lnTo>
                </a:path>
              </a:pathLst>
            </a:custGeom>
            <a:noFill/>
            <a:ln w="8505">
              <a:solidFill>
                <a:srgbClr val="77828C"/>
              </a:solidFill>
              <a:prstDash val="solid"/>
            </a:ln>
          </p:spPr>
        </p:sp>
        <p:sp>
          <p:nvSpPr>
            <p:cNvPr id="1404" name="Identity to SMI-TED refined head">
              <a:extLst>
                <a:ext uri="{FF2B5EF4-FFF2-40B4-BE49-F238E27FC236}">
                  <a16:creationId xmlns:a16="http://schemas.microsoft.com/office/drawing/2014/main" id="{0BA2F96A-2AFB-7C00-99C8-78C9DC78B848}"/>
                </a:ext>
              </a:extLst>
            </p:cNvPr>
            <p:cNvSpPr>
              <a:spLocks noGrp="1"/>
            </p:cNvSpPr>
            <p:nvPr/>
          </p:nvSpPr>
          <p:spPr>
            <a:xfrm>
              <a:off x="8609310" y="692172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5" name="SMI-TED to language refined">
              <a:extLst>
                <a:ext uri="{FF2B5EF4-FFF2-40B4-BE49-F238E27FC236}">
                  <a16:creationId xmlns:a16="http://schemas.microsoft.com/office/drawing/2014/main" id="{688B9630-847C-74A2-04EF-D75E08D7E423}"/>
                </a:ext>
              </a:extLst>
            </p:cNvPr>
            <p:cNvSpPr>
              <a:spLocks noGrp="1"/>
            </p:cNvSpPr>
            <p:nvPr/>
          </p:nvSpPr>
          <p:spPr>
            <a:xfrm>
              <a:off x="8637980" y="7304627"/>
              <a:ext cx="191" cy="1013841"/>
            </a:xfrm>
            <a:custGeom>
              <a:avLst/>
              <a:gdLst/>
              <a:ahLst/>
              <a:cxnLst/>
              <a:rect l="0" t="0" r="0" b="0"/>
              <a:pathLst>
                <a:path w="191" h="1013841">
                  <a:moveTo>
                    <a:pt x="0" y="0"/>
                  </a:moveTo>
                  <a:lnTo>
                    <a:pt x="0" y="1013841"/>
                  </a:lnTo>
                </a:path>
              </a:pathLst>
            </a:custGeom>
            <a:noFill/>
            <a:ln w="8505">
              <a:solidFill>
                <a:srgbClr val="77828C"/>
              </a:solidFill>
              <a:prstDash val="solid"/>
            </a:ln>
          </p:spPr>
        </p:sp>
        <p:sp>
          <p:nvSpPr>
            <p:cNvPr id="1406" name="SMI-TED to language refined head">
              <a:extLst>
                <a:ext uri="{FF2B5EF4-FFF2-40B4-BE49-F238E27FC236}">
                  <a16:creationId xmlns:a16="http://schemas.microsoft.com/office/drawing/2014/main" id="{7251A2B8-D12B-A433-6B0D-10AA76953AAB}"/>
                </a:ext>
              </a:extLst>
            </p:cNvPr>
            <p:cNvSpPr>
              <a:spLocks noGrp="1"/>
            </p:cNvSpPr>
            <p:nvPr/>
          </p:nvSpPr>
          <p:spPr>
            <a:xfrm>
              <a:off x="8609310" y="8275130"/>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7" name="Other identities refined">
              <a:extLst>
                <a:ext uri="{FF2B5EF4-FFF2-40B4-BE49-F238E27FC236}">
                  <a16:creationId xmlns:a16="http://schemas.microsoft.com/office/drawing/2014/main" id="{A4787BA6-E950-16B8-B01A-9B4C92E13C7A}"/>
                </a:ext>
              </a:extLst>
            </p:cNvPr>
            <p:cNvSpPr>
              <a:spLocks noGrp="1"/>
            </p:cNvSpPr>
            <p:nvPr/>
          </p:nvSpPr>
          <p:spPr>
            <a:xfrm>
              <a:off x="9616579" y="5581174"/>
              <a:ext cx="613886" cy="1373695"/>
            </a:xfrm>
            <a:custGeom>
              <a:avLst/>
              <a:gdLst/>
              <a:ahLst/>
              <a:cxnLst/>
              <a:rect l="0" t="0" r="0" b="0"/>
              <a:pathLst>
                <a:path w="613886" h="1373695">
                  <a:moveTo>
                    <a:pt x="0" y="0"/>
                  </a:moveTo>
                  <a:lnTo>
                    <a:pt x="613886" y="0"/>
                  </a:lnTo>
                  <a:lnTo>
                    <a:pt x="613886" y="1373695"/>
                  </a:lnTo>
                </a:path>
              </a:pathLst>
            </a:custGeom>
            <a:noFill/>
            <a:ln w="8505">
              <a:solidFill>
                <a:srgbClr val="77828C"/>
              </a:solidFill>
              <a:prstDash val="solid"/>
            </a:ln>
          </p:spPr>
        </p:sp>
        <p:sp>
          <p:nvSpPr>
            <p:cNvPr id="1408" name="Other identities refined head">
              <a:extLst>
                <a:ext uri="{FF2B5EF4-FFF2-40B4-BE49-F238E27FC236}">
                  <a16:creationId xmlns:a16="http://schemas.microsoft.com/office/drawing/2014/main" id="{9D094DDB-3471-ECAC-BCA5-E9612E620328}"/>
                </a:ext>
              </a:extLst>
            </p:cNvPr>
            <p:cNvSpPr>
              <a:spLocks noGrp="1"/>
            </p:cNvSpPr>
            <p:nvPr/>
          </p:nvSpPr>
          <p:spPr>
            <a:xfrm>
              <a:off x="10201795" y="691153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9" name="Other identities middle refined">
              <a:extLst>
                <a:ext uri="{FF2B5EF4-FFF2-40B4-BE49-F238E27FC236}">
                  <a16:creationId xmlns:a16="http://schemas.microsoft.com/office/drawing/2014/main" id="{43A875F1-64CC-3AE0-16D0-832B017C6CB3}"/>
                </a:ext>
              </a:extLst>
            </p:cNvPr>
            <p:cNvSpPr>
              <a:spLocks noGrp="1"/>
            </p:cNvSpPr>
            <p:nvPr/>
          </p:nvSpPr>
          <p:spPr>
            <a:xfrm>
              <a:off x="9616579" y="5851112"/>
              <a:ext cx="613886" cy="191"/>
            </a:xfrm>
            <a:custGeom>
              <a:avLst/>
              <a:gdLst/>
              <a:ahLst/>
              <a:cxnLst/>
              <a:rect l="0" t="0" r="0" b="0"/>
              <a:pathLst>
                <a:path w="613886" h="191">
                  <a:moveTo>
                    <a:pt x="0" y="0"/>
                  </a:moveTo>
                  <a:lnTo>
                    <a:pt x="613886" y="0"/>
                  </a:lnTo>
                </a:path>
              </a:pathLst>
            </a:custGeom>
            <a:noFill/>
            <a:ln w="8505">
              <a:solidFill>
                <a:srgbClr val="77828C"/>
              </a:solidFill>
              <a:prstDash val="solid"/>
            </a:ln>
          </p:spPr>
        </p:sp>
        <p:sp>
          <p:nvSpPr>
            <p:cNvPr id="1410" name="Other identities lower refined">
              <a:extLst>
                <a:ext uri="{FF2B5EF4-FFF2-40B4-BE49-F238E27FC236}">
                  <a16:creationId xmlns:a16="http://schemas.microsoft.com/office/drawing/2014/main" id="{D83A070A-E1D1-4067-2310-74DC30F9F921}"/>
                </a:ext>
              </a:extLst>
            </p:cNvPr>
            <p:cNvSpPr>
              <a:spLocks noGrp="1"/>
            </p:cNvSpPr>
            <p:nvPr/>
          </p:nvSpPr>
          <p:spPr>
            <a:xfrm>
              <a:off x="9616579" y="6533293"/>
              <a:ext cx="613886" cy="191"/>
            </a:xfrm>
            <a:custGeom>
              <a:avLst/>
              <a:gdLst/>
              <a:ahLst/>
              <a:cxnLst/>
              <a:rect l="0" t="0" r="0" b="0"/>
              <a:pathLst>
                <a:path w="613886" h="191">
                  <a:moveTo>
                    <a:pt x="0" y="0"/>
                  </a:moveTo>
                  <a:lnTo>
                    <a:pt x="613886" y="0"/>
                  </a:lnTo>
                </a:path>
              </a:pathLst>
            </a:custGeom>
            <a:noFill/>
            <a:ln w="8505">
              <a:solidFill>
                <a:srgbClr val="77828C"/>
              </a:solidFill>
              <a:prstDash val="solid"/>
            </a:ln>
          </p:spPr>
        </p:sp>
        <p:sp>
          <p:nvSpPr>
            <p:cNvPr id="1411" name="Context SMI-TED to matrix refined">
              <a:extLst>
                <a:ext uri="{FF2B5EF4-FFF2-40B4-BE49-F238E27FC236}">
                  <a16:creationId xmlns:a16="http://schemas.microsoft.com/office/drawing/2014/main" id="{3BA39657-BA55-8B03-4B42-2E8CA0F2402A}"/>
                </a:ext>
              </a:extLst>
            </p:cNvPr>
            <p:cNvSpPr>
              <a:spLocks noGrp="1"/>
            </p:cNvSpPr>
            <p:nvPr/>
          </p:nvSpPr>
          <p:spPr>
            <a:xfrm>
              <a:off x="10240942" y="7294436"/>
              <a:ext cx="191" cy="264128"/>
            </a:xfrm>
            <a:custGeom>
              <a:avLst/>
              <a:gdLst/>
              <a:ahLst/>
              <a:cxnLst/>
              <a:rect l="0" t="0" r="0" b="0"/>
              <a:pathLst>
                <a:path w="191" h="264128">
                  <a:moveTo>
                    <a:pt x="0" y="0"/>
                  </a:moveTo>
                  <a:lnTo>
                    <a:pt x="0" y="264128"/>
                  </a:lnTo>
                </a:path>
              </a:pathLst>
            </a:custGeom>
            <a:noFill/>
            <a:ln w="8505">
              <a:solidFill>
                <a:srgbClr val="77828C"/>
              </a:solidFill>
              <a:prstDash val="solid"/>
            </a:ln>
          </p:spPr>
        </p:sp>
        <p:sp>
          <p:nvSpPr>
            <p:cNvPr id="1412" name="Context SMI-TED to matrix refined head">
              <a:extLst>
                <a:ext uri="{FF2B5EF4-FFF2-40B4-BE49-F238E27FC236}">
                  <a16:creationId xmlns:a16="http://schemas.microsoft.com/office/drawing/2014/main" id="{46BBCF7E-77B7-430B-5E68-8D5D4D07C9BA}"/>
                </a:ext>
              </a:extLst>
            </p:cNvPr>
            <p:cNvSpPr>
              <a:spLocks noGrp="1"/>
            </p:cNvSpPr>
            <p:nvPr/>
          </p:nvSpPr>
          <p:spPr>
            <a:xfrm>
              <a:off x="10212272" y="7515225"/>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13" name="Context matrix to attention refined">
              <a:extLst>
                <a:ext uri="{FF2B5EF4-FFF2-40B4-BE49-F238E27FC236}">
                  <a16:creationId xmlns:a16="http://schemas.microsoft.com/office/drawing/2014/main" id="{19123C2B-08C0-5942-5974-56E3DB290164}"/>
                </a:ext>
              </a:extLst>
            </p:cNvPr>
            <p:cNvSpPr>
              <a:spLocks noGrp="1"/>
            </p:cNvSpPr>
            <p:nvPr/>
          </p:nvSpPr>
          <p:spPr>
            <a:xfrm>
              <a:off x="10230465" y="7958995"/>
              <a:ext cx="191" cy="249745"/>
            </a:xfrm>
            <a:custGeom>
              <a:avLst/>
              <a:gdLst/>
              <a:ahLst/>
              <a:cxnLst/>
              <a:rect l="0" t="0" r="0" b="0"/>
              <a:pathLst>
                <a:path w="191" h="249745">
                  <a:moveTo>
                    <a:pt x="0" y="0"/>
                  </a:moveTo>
                  <a:lnTo>
                    <a:pt x="0" y="249745"/>
                  </a:lnTo>
                </a:path>
              </a:pathLst>
            </a:custGeom>
            <a:noFill/>
            <a:ln w="8505">
              <a:solidFill>
                <a:srgbClr val="77828C"/>
              </a:solidFill>
              <a:prstDash val="solid"/>
            </a:ln>
          </p:spPr>
        </p:sp>
        <p:sp>
          <p:nvSpPr>
            <p:cNvPr id="1414" name="Context matrix to attention refined head">
              <a:extLst>
                <a:ext uri="{FF2B5EF4-FFF2-40B4-BE49-F238E27FC236}">
                  <a16:creationId xmlns:a16="http://schemas.microsoft.com/office/drawing/2014/main" id="{F6D726DD-707A-38A3-9C89-49061435E2BF}"/>
                </a:ext>
              </a:extLst>
            </p:cNvPr>
            <p:cNvSpPr>
              <a:spLocks noGrp="1"/>
            </p:cNvSpPr>
            <p:nvPr/>
          </p:nvSpPr>
          <p:spPr>
            <a:xfrm>
              <a:off x="10201795" y="816540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15" name="Language query left refined">
              <a:extLst>
                <a:ext uri="{FF2B5EF4-FFF2-40B4-BE49-F238E27FC236}">
                  <a16:creationId xmlns:a16="http://schemas.microsoft.com/office/drawing/2014/main" id="{739AFAAD-E669-E2AC-687E-E59FC6E7FAD2}"/>
                </a:ext>
              </a:extLst>
            </p:cNvPr>
            <p:cNvSpPr>
              <a:spLocks noGrp="1"/>
            </p:cNvSpPr>
            <p:nvPr/>
          </p:nvSpPr>
          <p:spPr>
            <a:xfrm>
              <a:off x="7816735" y="8408765"/>
              <a:ext cx="479012" cy="191"/>
            </a:xfrm>
            <a:custGeom>
              <a:avLst/>
              <a:gdLst/>
              <a:ahLst/>
              <a:cxnLst/>
              <a:rect l="0" t="0" r="0" b="0"/>
              <a:pathLst>
                <a:path w="479012" h="191">
                  <a:moveTo>
                    <a:pt x="479012" y="0"/>
                  </a:moveTo>
                  <a:lnTo>
                    <a:pt x="0" y="0"/>
                  </a:lnTo>
                </a:path>
              </a:pathLst>
            </a:custGeom>
            <a:noFill/>
            <a:ln w="8505">
              <a:solidFill>
                <a:srgbClr val="77828C"/>
              </a:solidFill>
              <a:prstDash val="solid"/>
            </a:ln>
          </p:spPr>
        </p:sp>
        <p:sp>
          <p:nvSpPr>
            <p:cNvPr id="1416" name="Language query left refined head">
              <a:extLst>
                <a:ext uri="{FF2B5EF4-FFF2-40B4-BE49-F238E27FC236}">
                  <a16:creationId xmlns:a16="http://schemas.microsoft.com/office/drawing/2014/main" id="{98D92A42-D662-B44C-CD57-583BDD75174C}"/>
                </a:ext>
              </a:extLst>
            </p:cNvPr>
            <p:cNvSpPr>
              <a:spLocks noGrp="1"/>
            </p:cNvSpPr>
            <p:nvPr/>
          </p:nvSpPr>
          <p:spPr>
            <a:xfrm>
              <a:off x="7793398" y="8380095"/>
              <a:ext cx="66675" cy="57340"/>
            </a:xfrm>
            <a:custGeom>
              <a:avLst/>
              <a:gdLst/>
              <a:ahLst/>
              <a:cxnLst/>
              <a:rect l="0" t="0" r="0" b="0"/>
              <a:pathLst>
                <a:path w="66675" h="57340">
                  <a:moveTo>
                    <a:pt x="0" y="28670"/>
                  </a:moveTo>
                  <a:lnTo>
                    <a:pt x="66675" y="57340"/>
                  </a:lnTo>
                  <a:lnTo>
                    <a:pt x="66675" y="0"/>
                  </a:lnTo>
                  <a:close/>
                </a:path>
              </a:pathLst>
            </a:custGeom>
            <a:solidFill>
              <a:srgbClr val="77828C"/>
            </a:solidFill>
            <a:ln w="0">
              <a:noFill/>
              <a:prstDash val="solid"/>
            </a:ln>
          </p:spPr>
        </p:sp>
        <p:sp>
          <p:nvSpPr>
            <p:cNvPr id="1417" name="Language query right refined">
              <a:extLst>
                <a:ext uri="{FF2B5EF4-FFF2-40B4-BE49-F238E27FC236}">
                  <a16:creationId xmlns:a16="http://schemas.microsoft.com/office/drawing/2014/main" id="{97C332FD-B4F7-4A69-7F24-BE35ED3CC233}"/>
                </a:ext>
              </a:extLst>
            </p:cNvPr>
            <p:cNvSpPr>
              <a:spLocks noGrp="1"/>
            </p:cNvSpPr>
            <p:nvPr/>
          </p:nvSpPr>
          <p:spPr>
            <a:xfrm>
              <a:off x="8965450" y="8408765"/>
              <a:ext cx="478917" cy="191"/>
            </a:xfrm>
            <a:custGeom>
              <a:avLst/>
              <a:gdLst/>
              <a:ahLst/>
              <a:cxnLst/>
              <a:rect l="0" t="0" r="0" b="0"/>
              <a:pathLst>
                <a:path w="478917" h="191">
                  <a:moveTo>
                    <a:pt x="0" y="0"/>
                  </a:moveTo>
                  <a:lnTo>
                    <a:pt x="478917" y="0"/>
                  </a:lnTo>
                </a:path>
              </a:pathLst>
            </a:custGeom>
            <a:noFill/>
            <a:ln w="8505">
              <a:solidFill>
                <a:srgbClr val="77828C"/>
              </a:solidFill>
              <a:prstDash val="solid"/>
            </a:ln>
          </p:spPr>
        </p:sp>
        <p:sp>
          <p:nvSpPr>
            <p:cNvPr id="1418" name="Language query right refined head">
              <a:extLst>
                <a:ext uri="{FF2B5EF4-FFF2-40B4-BE49-F238E27FC236}">
                  <a16:creationId xmlns:a16="http://schemas.microsoft.com/office/drawing/2014/main" id="{4B6A3B32-B3D1-5F9B-FDB9-6517BE3635C2}"/>
                </a:ext>
              </a:extLst>
            </p:cNvPr>
            <p:cNvSpPr>
              <a:spLocks noGrp="1"/>
            </p:cNvSpPr>
            <p:nvPr/>
          </p:nvSpPr>
          <p:spPr>
            <a:xfrm>
              <a:off x="9401028" y="8380095"/>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419" name="Language to fusion refined">
              <a:extLst>
                <a:ext uri="{FF2B5EF4-FFF2-40B4-BE49-F238E27FC236}">
                  <a16:creationId xmlns:a16="http://schemas.microsoft.com/office/drawing/2014/main" id="{CC1BD470-88ED-E459-BC64-3926AF1B81FC}"/>
                </a:ext>
              </a:extLst>
            </p:cNvPr>
            <p:cNvSpPr>
              <a:spLocks noGrp="1"/>
            </p:cNvSpPr>
            <p:nvPr/>
          </p:nvSpPr>
          <p:spPr>
            <a:xfrm>
              <a:off x="8630551" y="8475726"/>
              <a:ext cx="191" cy="281845"/>
            </a:xfrm>
            <a:custGeom>
              <a:avLst/>
              <a:gdLst/>
              <a:ahLst/>
              <a:cxnLst/>
              <a:rect l="0" t="0" r="0" b="0"/>
              <a:pathLst>
                <a:path w="191" h="281845">
                  <a:moveTo>
                    <a:pt x="0" y="0"/>
                  </a:moveTo>
                  <a:lnTo>
                    <a:pt x="0" y="281845"/>
                  </a:lnTo>
                </a:path>
              </a:pathLst>
            </a:custGeom>
            <a:noFill/>
            <a:ln w="8505">
              <a:solidFill>
                <a:srgbClr val="77828C"/>
              </a:solidFill>
              <a:prstDash val="solid"/>
            </a:ln>
          </p:spPr>
        </p:sp>
        <p:sp>
          <p:nvSpPr>
            <p:cNvPr id="1420" name="Language to fusion refined head">
              <a:extLst>
                <a:ext uri="{FF2B5EF4-FFF2-40B4-BE49-F238E27FC236}">
                  <a16:creationId xmlns:a16="http://schemas.microsoft.com/office/drawing/2014/main" id="{7DE28A53-D82C-C158-A00E-484E630E57C6}"/>
                </a:ext>
              </a:extLst>
            </p:cNvPr>
            <p:cNvSpPr>
              <a:spLocks noGrp="1"/>
            </p:cNvSpPr>
            <p:nvPr/>
          </p:nvSpPr>
          <p:spPr>
            <a:xfrm>
              <a:off x="8601880" y="871423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21" name="Graph attention to fusion refined">
              <a:extLst>
                <a:ext uri="{FF2B5EF4-FFF2-40B4-BE49-F238E27FC236}">
                  <a16:creationId xmlns:a16="http://schemas.microsoft.com/office/drawing/2014/main" id="{9DE07E88-6455-6397-3B15-5E2794D66EC1}"/>
                </a:ext>
              </a:extLst>
            </p:cNvPr>
            <p:cNvSpPr>
              <a:spLocks noGrp="1"/>
            </p:cNvSpPr>
            <p:nvPr/>
          </p:nvSpPr>
          <p:spPr>
            <a:xfrm>
              <a:off x="7067879" y="8585549"/>
              <a:ext cx="1092899" cy="362807"/>
            </a:xfrm>
            <a:custGeom>
              <a:avLst/>
              <a:gdLst/>
              <a:ahLst/>
              <a:cxnLst/>
              <a:rect l="0" t="0" r="0" b="0"/>
              <a:pathLst>
                <a:path w="1092899" h="362807">
                  <a:moveTo>
                    <a:pt x="0" y="0"/>
                  </a:moveTo>
                  <a:lnTo>
                    <a:pt x="0" y="362807"/>
                  </a:lnTo>
                  <a:lnTo>
                    <a:pt x="1092899" y="362807"/>
                  </a:lnTo>
                </a:path>
              </a:pathLst>
            </a:custGeom>
            <a:noFill/>
            <a:ln w="8505">
              <a:solidFill>
                <a:srgbClr val="77828C"/>
              </a:solidFill>
              <a:prstDash val="solid"/>
            </a:ln>
          </p:spPr>
        </p:sp>
        <p:sp>
          <p:nvSpPr>
            <p:cNvPr id="1422" name="Graph attention to fusion refined head">
              <a:extLst>
                <a:ext uri="{FF2B5EF4-FFF2-40B4-BE49-F238E27FC236}">
                  <a16:creationId xmlns:a16="http://schemas.microsoft.com/office/drawing/2014/main" id="{80249588-4991-7EA9-C183-E31DFF970425}"/>
                </a:ext>
              </a:extLst>
            </p:cNvPr>
            <p:cNvSpPr>
              <a:spLocks noGrp="1"/>
            </p:cNvSpPr>
            <p:nvPr/>
          </p:nvSpPr>
          <p:spPr>
            <a:xfrm>
              <a:off x="8117439" y="8919686"/>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423" name="Context attention to fusion refined">
              <a:extLst>
                <a:ext uri="{FF2B5EF4-FFF2-40B4-BE49-F238E27FC236}">
                  <a16:creationId xmlns:a16="http://schemas.microsoft.com/office/drawing/2014/main" id="{EB1CDE84-2AAC-05C7-2AC2-7F0CD69C4010}"/>
                </a:ext>
              </a:extLst>
            </p:cNvPr>
            <p:cNvSpPr>
              <a:spLocks noGrp="1"/>
            </p:cNvSpPr>
            <p:nvPr/>
          </p:nvSpPr>
          <p:spPr>
            <a:xfrm>
              <a:off x="9100419" y="8585549"/>
              <a:ext cx="1130046" cy="362807"/>
            </a:xfrm>
            <a:custGeom>
              <a:avLst/>
              <a:gdLst/>
              <a:ahLst/>
              <a:cxnLst/>
              <a:rect l="0" t="0" r="0" b="0"/>
              <a:pathLst>
                <a:path w="1130046" h="362807">
                  <a:moveTo>
                    <a:pt x="1130046" y="0"/>
                  </a:moveTo>
                  <a:lnTo>
                    <a:pt x="1130046" y="362807"/>
                  </a:lnTo>
                  <a:lnTo>
                    <a:pt x="0" y="362807"/>
                  </a:lnTo>
                </a:path>
              </a:pathLst>
            </a:custGeom>
            <a:noFill/>
            <a:ln w="8505">
              <a:solidFill>
                <a:srgbClr val="77828C"/>
              </a:solidFill>
              <a:prstDash val="solid"/>
            </a:ln>
          </p:spPr>
        </p:sp>
        <p:sp>
          <p:nvSpPr>
            <p:cNvPr id="1424" name="Context attention to fusion refined head">
              <a:extLst>
                <a:ext uri="{FF2B5EF4-FFF2-40B4-BE49-F238E27FC236}">
                  <a16:creationId xmlns:a16="http://schemas.microsoft.com/office/drawing/2014/main" id="{2AAA0335-3D51-EA88-2522-F717A483BF32}"/>
                </a:ext>
              </a:extLst>
            </p:cNvPr>
            <p:cNvSpPr>
              <a:spLocks noGrp="1"/>
            </p:cNvSpPr>
            <p:nvPr/>
          </p:nvSpPr>
          <p:spPr>
            <a:xfrm>
              <a:off x="9077083" y="8919686"/>
              <a:ext cx="66675" cy="57340"/>
            </a:xfrm>
            <a:custGeom>
              <a:avLst/>
              <a:gdLst/>
              <a:ahLst/>
              <a:cxnLst/>
              <a:rect l="0" t="0" r="0" b="0"/>
              <a:pathLst>
                <a:path w="66675" h="57340">
                  <a:moveTo>
                    <a:pt x="0" y="28670"/>
                  </a:moveTo>
                  <a:lnTo>
                    <a:pt x="66675" y="57340"/>
                  </a:lnTo>
                  <a:lnTo>
                    <a:pt x="66675" y="0"/>
                  </a:lnTo>
                  <a:close/>
                </a:path>
              </a:pathLst>
            </a:custGeom>
            <a:solidFill>
              <a:srgbClr val="77828C"/>
            </a:solidFill>
            <a:ln w="0">
              <a:noFill/>
              <a:prstDash val="solid"/>
            </a:ln>
          </p:spPr>
        </p:sp>
        <p:sp>
          <p:nvSpPr>
            <p:cNvPr id="1425" name="Fusion to identity vector refined">
              <a:extLst>
                <a:ext uri="{FF2B5EF4-FFF2-40B4-BE49-F238E27FC236}">
                  <a16:creationId xmlns:a16="http://schemas.microsoft.com/office/drawing/2014/main" id="{67958AAC-3FC5-4E94-249E-68F363396C6E}"/>
                </a:ext>
              </a:extLst>
            </p:cNvPr>
            <p:cNvSpPr>
              <a:spLocks noGrp="1"/>
            </p:cNvSpPr>
            <p:nvPr/>
          </p:nvSpPr>
          <p:spPr>
            <a:xfrm>
              <a:off x="8630551" y="9115806"/>
              <a:ext cx="191" cy="244507"/>
            </a:xfrm>
            <a:custGeom>
              <a:avLst/>
              <a:gdLst/>
              <a:ahLst/>
              <a:cxnLst/>
              <a:rect l="0" t="0" r="0" b="0"/>
              <a:pathLst>
                <a:path w="191" h="244507">
                  <a:moveTo>
                    <a:pt x="0" y="0"/>
                  </a:moveTo>
                  <a:lnTo>
                    <a:pt x="0" y="244507"/>
                  </a:lnTo>
                </a:path>
              </a:pathLst>
            </a:custGeom>
            <a:noFill/>
            <a:ln w="8505">
              <a:solidFill>
                <a:srgbClr val="77828C"/>
              </a:solidFill>
              <a:prstDash val="solid"/>
            </a:ln>
          </p:spPr>
        </p:sp>
        <p:sp>
          <p:nvSpPr>
            <p:cNvPr id="1426" name="Fusion to identity vector refined head">
              <a:extLst>
                <a:ext uri="{FF2B5EF4-FFF2-40B4-BE49-F238E27FC236}">
                  <a16:creationId xmlns:a16="http://schemas.microsoft.com/office/drawing/2014/main" id="{5B85A195-1A68-48DC-E553-B1E99915D03B}"/>
                </a:ext>
              </a:extLst>
            </p:cNvPr>
            <p:cNvSpPr>
              <a:spLocks noGrp="1"/>
            </p:cNvSpPr>
            <p:nvPr/>
          </p:nvSpPr>
          <p:spPr>
            <a:xfrm>
              <a:off x="8601880" y="9316974"/>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27" name="Identity vector to cosine refined">
              <a:extLst>
                <a:ext uri="{FF2B5EF4-FFF2-40B4-BE49-F238E27FC236}">
                  <a16:creationId xmlns:a16="http://schemas.microsoft.com/office/drawing/2014/main" id="{DDE80B97-A909-A736-F258-523B74319AC3}"/>
                </a:ext>
              </a:extLst>
            </p:cNvPr>
            <p:cNvSpPr>
              <a:spLocks noGrp="1"/>
            </p:cNvSpPr>
            <p:nvPr/>
          </p:nvSpPr>
          <p:spPr>
            <a:xfrm>
              <a:off x="8630551" y="9517571"/>
              <a:ext cx="191" cy="253841"/>
            </a:xfrm>
            <a:custGeom>
              <a:avLst/>
              <a:gdLst/>
              <a:ahLst/>
              <a:cxnLst/>
              <a:rect l="0" t="0" r="0" b="0"/>
              <a:pathLst>
                <a:path w="191" h="253841">
                  <a:moveTo>
                    <a:pt x="0" y="0"/>
                  </a:moveTo>
                  <a:lnTo>
                    <a:pt x="0" y="253841"/>
                  </a:lnTo>
                </a:path>
              </a:pathLst>
            </a:custGeom>
            <a:noFill/>
            <a:ln w="8505">
              <a:solidFill>
                <a:srgbClr val="77828C"/>
              </a:solidFill>
              <a:prstDash val="solid"/>
            </a:ln>
          </p:spPr>
        </p:sp>
        <p:sp>
          <p:nvSpPr>
            <p:cNvPr id="1428" name="Identity vector to cosine refined head">
              <a:extLst>
                <a:ext uri="{FF2B5EF4-FFF2-40B4-BE49-F238E27FC236}">
                  <a16:creationId xmlns:a16="http://schemas.microsoft.com/office/drawing/2014/main" id="{E490B029-346A-A57E-7B15-889C23CE6281}"/>
                </a:ext>
              </a:extLst>
            </p:cNvPr>
            <p:cNvSpPr>
              <a:spLocks noGrp="1"/>
            </p:cNvSpPr>
            <p:nvPr/>
          </p:nvSpPr>
          <p:spPr>
            <a:xfrm>
              <a:off x="8601880" y="9728073"/>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29" name="Cosine to score matrix refined">
              <a:extLst>
                <a:ext uri="{FF2B5EF4-FFF2-40B4-BE49-F238E27FC236}">
                  <a16:creationId xmlns:a16="http://schemas.microsoft.com/office/drawing/2014/main" id="{B53F289C-77E1-6513-62C8-F939A23BF1B2}"/>
                </a:ext>
              </a:extLst>
            </p:cNvPr>
            <p:cNvSpPr>
              <a:spLocks noGrp="1"/>
            </p:cNvSpPr>
            <p:nvPr/>
          </p:nvSpPr>
          <p:spPr>
            <a:xfrm>
              <a:off x="9039935" y="9971532"/>
              <a:ext cx="619030" cy="191"/>
            </a:xfrm>
            <a:custGeom>
              <a:avLst/>
              <a:gdLst/>
              <a:ahLst/>
              <a:cxnLst/>
              <a:rect l="0" t="0" r="0" b="0"/>
              <a:pathLst>
                <a:path w="619030" h="191">
                  <a:moveTo>
                    <a:pt x="0" y="0"/>
                  </a:moveTo>
                  <a:lnTo>
                    <a:pt x="619030" y="0"/>
                  </a:lnTo>
                </a:path>
              </a:pathLst>
            </a:custGeom>
            <a:noFill/>
            <a:ln w="8505">
              <a:solidFill>
                <a:srgbClr val="77828C"/>
              </a:solidFill>
              <a:prstDash val="solid"/>
            </a:ln>
          </p:spPr>
        </p:sp>
        <p:sp>
          <p:nvSpPr>
            <p:cNvPr id="1430" name="Cosine to score matrix refined head">
              <a:extLst>
                <a:ext uri="{FF2B5EF4-FFF2-40B4-BE49-F238E27FC236}">
                  <a16:creationId xmlns:a16="http://schemas.microsoft.com/office/drawing/2014/main" id="{7D1ABF5A-29C9-76A4-1903-E132A41C0C6D}"/>
                </a:ext>
              </a:extLst>
            </p:cNvPr>
            <p:cNvSpPr>
              <a:spLocks noGrp="1"/>
            </p:cNvSpPr>
            <p:nvPr/>
          </p:nvSpPr>
          <p:spPr>
            <a:xfrm>
              <a:off x="9615626" y="9942862"/>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grpSp>
      <p:pic>
        <p:nvPicPr>
          <p:cNvPr id="1436" name="Match clear receptor" descr="Receptor cartoon rendered from unchanged local coordinates, chain C1 of the 9LLG CA2 model.">
            <a:extLst>
              <a:ext uri="{FF2B5EF4-FFF2-40B4-BE49-F238E27FC236}">
                <a16:creationId xmlns:a16="http://schemas.microsoft.com/office/drawing/2014/main" id="{515E1CE9-4EFA-F96B-A08A-C6C2EC64DC6F}"/>
              </a:ext>
            </a:extLst>
          </p:cNvPr>
          <p:cNvPicPr/>
          <p:nvPr/>
        </p:nvPicPr>
        <p:blipFill>
          <a:blip r:embed="rId7"/>
          <a:srcRect l="16857" t="30389" r="19786" b="22500"/>
          <a:stretch>
            <a:fillRect/>
          </a:stretch>
        </p:blipFill>
        <p:spPr>
          <a:xfrm>
            <a:off x="628714" y="2388765"/>
            <a:ext cx="332109" cy="317507"/>
          </a:xfrm>
          <a:prstGeom prst="rect">
            <a:avLst/>
          </a:prstGeom>
        </p:spPr>
      </p:pic>
      <p:sp>
        <p:nvSpPr>
          <p:cNvPr id="1442" name="文本框 1441">
            <a:extLst>
              <a:ext uri="{FF2B5EF4-FFF2-40B4-BE49-F238E27FC236}">
                <a16:creationId xmlns:a16="http://schemas.microsoft.com/office/drawing/2014/main" id="{814431DA-F1EE-CFB8-E7E0-CF4D130ECF44}"/>
              </a:ext>
            </a:extLst>
          </p:cNvPr>
          <p:cNvSpPr txBox="1"/>
          <p:nvPr/>
        </p:nvSpPr>
        <p:spPr>
          <a:xfrm>
            <a:off x="1260165" y="775016"/>
            <a:ext cx="559769" cy="176972"/>
          </a:xfrm>
          <a:prstGeom prst="rect">
            <a:avLst/>
          </a:prstGeom>
          <a:noFill/>
        </p:spPr>
        <p:txBody>
          <a:bodyPr wrap="none" rtlCol="0">
            <a:spAutoFit/>
          </a:bodyPr>
          <a:lstStyle/>
          <a:p>
            <a:r>
              <a:rPr lang="en-US" altLang="zh-CN" sz="550" dirty="0">
                <a:solidFill>
                  <a:srgbClr val="263442"/>
                </a:solidFill>
                <a:latin typeface="Arial"/>
                <a:cs typeface="Arial"/>
              </a:rPr>
              <a:t>56 channels</a:t>
            </a:r>
            <a:endParaRPr lang="zh-CN" altLang="en-US" sz="550" dirty="0">
              <a:solidFill>
                <a:srgbClr val="263442"/>
              </a:solidFill>
              <a:latin typeface="Arial"/>
              <a:cs typeface="Arial"/>
            </a:endParaRPr>
          </a:p>
        </p:txBody>
      </p:sp>
      <p:sp>
        <p:nvSpPr>
          <p:cNvPr id="1443" name="V8 embedding computation frame">
            <a:extLst>
              <a:ext uri="{FF2B5EF4-FFF2-40B4-BE49-F238E27FC236}">
                <a16:creationId xmlns:a16="http://schemas.microsoft.com/office/drawing/2014/main" id="{FB41A424-8C9A-2DA8-76B2-57C0C54ECB10}"/>
              </a:ext>
            </a:extLst>
          </p:cNvPr>
          <p:cNvSpPr/>
          <p:nvPr/>
        </p:nvSpPr>
        <p:spPr>
          <a:xfrm>
            <a:off x="1351898" y="1318283"/>
            <a:ext cx="386080" cy="417830"/>
          </a:xfrm>
          <a:prstGeom prst="roundRect">
            <a:avLst>
              <a:gd name="adj" fmla="val 6579"/>
            </a:avLst>
          </a:prstGeom>
          <a:solidFill>
            <a:srgbClr val="FAFBFC"/>
          </a:solidFill>
          <a:ln w="6096" cap="rnd">
            <a:solidFill>
              <a:srgbClr val="BEC7CE"/>
            </a:solidFill>
            <a:prstDash val="solid"/>
            <a:round/>
          </a:ln>
        </p:spPr>
      </p:sp>
      <p:sp>
        <p:nvSpPr>
          <p:cNvPr id="1444" name="V8 embedding neighbor 1 to center">
            <a:extLst>
              <a:ext uri="{FF2B5EF4-FFF2-40B4-BE49-F238E27FC236}">
                <a16:creationId xmlns:a16="http://schemas.microsoft.com/office/drawing/2014/main" id="{3355B015-AF42-20CF-CA69-CEE14894D5E1}"/>
              </a:ext>
            </a:extLst>
          </p:cNvPr>
          <p:cNvSpPr/>
          <p:nvPr/>
        </p:nvSpPr>
        <p:spPr>
          <a:xfrm>
            <a:off x="1408080" y="1388677"/>
            <a:ext cx="84338" cy="113635"/>
          </a:xfrm>
          <a:custGeom>
            <a:avLst/>
            <a:gdLst/>
            <a:ahLst/>
            <a:cxnLst/>
            <a:rect l="l" t="t" r="r" b="b"/>
            <a:pathLst>
              <a:path w="84338" h="113635">
                <a:moveTo>
                  <a:pt x="0" y="0"/>
                </a:moveTo>
                <a:lnTo>
                  <a:pt x="84338" y="113635"/>
                </a:lnTo>
              </a:path>
            </a:pathLst>
          </a:custGeom>
          <a:noFill/>
          <a:ln w="5842" cap="rnd">
            <a:solidFill>
              <a:srgbClr val="4083B4"/>
            </a:solidFill>
            <a:prstDash val="solid"/>
            <a:round/>
          </a:ln>
        </p:spPr>
      </p:sp>
      <p:sp>
        <p:nvSpPr>
          <p:cNvPr id="1445" name="V8 embedding neighbor 1 to center head">
            <a:extLst>
              <a:ext uri="{FF2B5EF4-FFF2-40B4-BE49-F238E27FC236}">
                <a16:creationId xmlns:a16="http://schemas.microsoft.com/office/drawing/2014/main" id="{27615381-2E0E-2FB6-4DD6-10A8B1F481AB}"/>
              </a:ext>
            </a:extLst>
          </p:cNvPr>
          <p:cNvSpPr/>
          <p:nvPr/>
        </p:nvSpPr>
        <p:spPr>
          <a:xfrm>
            <a:off x="1478827" y="1488319"/>
            <a:ext cx="18870" cy="21105"/>
          </a:xfrm>
          <a:custGeom>
            <a:avLst/>
            <a:gdLst/>
            <a:ahLst/>
            <a:cxnLst/>
            <a:rect l="l" t="t" r="r" b="b"/>
            <a:pathLst>
              <a:path w="18870" h="21105">
                <a:moveTo>
                  <a:pt x="18870" y="21105"/>
                </a:moveTo>
                <a:lnTo>
                  <a:pt x="14277" y="0"/>
                </a:lnTo>
                <a:lnTo>
                  <a:pt x="0" y="10596"/>
                </a:lnTo>
                <a:close/>
              </a:path>
            </a:pathLst>
          </a:custGeom>
          <a:solidFill>
            <a:srgbClr val="4083B4"/>
          </a:solidFill>
          <a:ln w="0" cap="rnd">
            <a:noFill/>
          </a:ln>
        </p:spPr>
      </p:sp>
      <p:sp>
        <p:nvSpPr>
          <p:cNvPr id="1446" name="V8 embedding neighbor 1">
            <a:extLst>
              <a:ext uri="{FF2B5EF4-FFF2-40B4-BE49-F238E27FC236}">
                <a16:creationId xmlns:a16="http://schemas.microsoft.com/office/drawing/2014/main" id="{B5E8A971-284C-84D2-C0DB-7EB12E4B5902}"/>
              </a:ext>
            </a:extLst>
          </p:cNvPr>
          <p:cNvSpPr/>
          <p:nvPr/>
        </p:nvSpPr>
        <p:spPr>
          <a:xfrm>
            <a:off x="1382060" y="1358582"/>
            <a:ext cx="28575" cy="28575"/>
          </a:xfrm>
          <a:prstGeom prst="ellipse">
            <a:avLst/>
          </a:prstGeom>
          <a:noFill/>
          <a:ln w="7112" cap="rnd">
            <a:solidFill>
              <a:srgbClr val="4083B4"/>
            </a:solidFill>
            <a:prstDash val="solid"/>
            <a:round/>
          </a:ln>
        </p:spPr>
      </p:sp>
      <p:sp>
        <p:nvSpPr>
          <p:cNvPr id="1447" name="V8 embedding neighbor 2 to center">
            <a:extLst>
              <a:ext uri="{FF2B5EF4-FFF2-40B4-BE49-F238E27FC236}">
                <a16:creationId xmlns:a16="http://schemas.microsoft.com/office/drawing/2014/main" id="{410E19AF-558D-0BA4-4F56-8A43CC949018}"/>
              </a:ext>
            </a:extLst>
          </p:cNvPr>
          <p:cNvSpPr/>
          <p:nvPr/>
        </p:nvSpPr>
        <p:spPr>
          <a:xfrm>
            <a:off x="1537980" y="1384737"/>
            <a:ext cx="68064" cy="115185"/>
          </a:xfrm>
          <a:custGeom>
            <a:avLst/>
            <a:gdLst/>
            <a:ahLst/>
            <a:cxnLst/>
            <a:rect l="l" t="t" r="r" b="b"/>
            <a:pathLst>
              <a:path w="68064" h="115185">
                <a:moveTo>
                  <a:pt x="68064" y="0"/>
                </a:moveTo>
                <a:lnTo>
                  <a:pt x="0" y="115185"/>
                </a:lnTo>
              </a:path>
            </a:pathLst>
          </a:custGeom>
          <a:noFill/>
          <a:ln w="5842" cap="rnd">
            <a:solidFill>
              <a:srgbClr val="4083B4"/>
            </a:solidFill>
            <a:prstDash val="solid"/>
            <a:round/>
          </a:ln>
        </p:spPr>
      </p:sp>
      <p:sp>
        <p:nvSpPr>
          <p:cNvPr id="1448" name="V8 embedding neighbor 2 to center head">
            <a:extLst>
              <a:ext uri="{FF2B5EF4-FFF2-40B4-BE49-F238E27FC236}">
                <a16:creationId xmlns:a16="http://schemas.microsoft.com/office/drawing/2014/main" id="{50A61875-DCE0-421C-1735-CFE0432F2E90}"/>
              </a:ext>
            </a:extLst>
          </p:cNvPr>
          <p:cNvSpPr/>
          <p:nvPr/>
        </p:nvSpPr>
        <p:spPr>
          <a:xfrm>
            <a:off x="1533473" y="1486079"/>
            <a:ext cx="17668" cy="21470"/>
          </a:xfrm>
          <a:custGeom>
            <a:avLst/>
            <a:gdLst/>
            <a:ahLst/>
            <a:cxnLst/>
            <a:rect l="l" t="t" r="r" b="b"/>
            <a:pathLst>
              <a:path w="17668" h="21470">
                <a:moveTo>
                  <a:pt x="0" y="21470"/>
                </a:moveTo>
                <a:lnTo>
                  <a:pt x="17668" y="9045"/>
                </a:lnTo>
                <a:lnTo>
                  <a:pt x="2361" y="0"/>
                </a:lnTo>
                <a:close/>
              </a:path>
            </a:pathLst>
          </a:custGeom>
          <a:solidFill>
            <a:srgbClr val="4083B4"/>
          </a:solidFill>
          <a:ln w="0" cap="rnd">
            <a:noFill/>
          </a:ln>
        </p:spPr>
      </p:sp>
      <p:sp>
        <p:nvSpPr>
          <p:cNvPr id="1449" name="V8 embedding neighbor 2">
            <a:extLst>
              <a:ext uri="{FF2B5EF4-FFF2-40B4-BE49-F238E27FC236}">
                <a16:creationId xmlns:a16="http://schemas.microsoft.com/office/drawing/2014/main" id="{7AEBAFCB-8ED1-BA01-F100-82AD32FAB4F6}"/>
              </a:ext>
            </a:extLst>
          </p:cNvPr>
          <p:cNvSpPr/>
          <p:nvPr/>
        </p:nvSpPr>
        <p:spPr>
          <a:xfrm>
            <a:off x="1600500" y="1352232"/>
            <a:ext cx="31115" cy="31115"/>
          </a:xfrm>
          <a:prstGeom prst="ellipse">
            <a:avLst/>
          </a:prstGeom>
          <a:noFill/>
          <a:ln w="7112" cap="rnd">
            <a:solidFill>
              <a:srgbClr val="4083B4"/>
            </a:solidFill>
            <a:prstDash val="solid"/>
            <a:round/>
          </a:ln>
        </p:spPr>
      </p:sp>
      <p:sp>
        <p:nvSpPr>
          <p:cNvPr id="1450" name="V8 embedding upper curved aggregation">
            <a:extLst>
              <a:ext uri="{FF2B5EF4-FFF2-40B4-BE49-F238E27FC236}">
                <a16:creationId xmlns:a16="http://schemas.microsoft.com/office/drawing/2014/main" id="{1726AB57-DCD6-4DAB-768F-79635F178651}"/>
              </a:ext>
            </a:extLst>
          </p:cNvPr>
          <p:cNvSpPr/>
          <p:nvPr/>
        </p:nvSpPr>
        <p:spPr>
          <a:xfrm>
            <a:off x="1551288" y="1449794"/>
            <a:ext cx="120650" cy="48806"/>
          </a:xfrm>
          <a:custGeom>
            <a:avLst/>
            <a:gdLst/>
            <a:ahLst/>
            <a:cxnLst/>
            <a:rect l="l" t="t" r="r" b="b"/>
            <a:pathLst>
              <a:path w="120650" h="48806">
                <a:moveTo>
                  <a:pt x="118713" y="0"/>
                </a:moveTo>
                <a:cubicBezTo>
                  <a:pt x="120650" y="36106"/>
                  <a:pt x="44450" y="29756"/>
                  <a:pt x="0" y="48806"/>
                </a:cubicBezTo>
              </a:path>
            </a:pathLst>
          </a:custGeom>
          <a:noFill/>
          <a:ln w="5842" cap="rnd">
            <a:solidFill>
              <a:srgbClr val="4083B4"/>
            </a:solidFill>
            <a:prstDash val="solid"/>
            <a:round/>
          </a:ln>
        </p:spPr>
      </p:sp>
      <p:sp>
        <p:nvSpPr>
          <p:cNvPr id="1451" name="V8 embedding upper curved aggregation tip">
            <a:extLst>
              <a:ext uri="{FF2B5EF4-FFF2-40B4-BE49-F238E27FC236}">
                <a16:creationId xmlns:a16="http://schemas.microsoft.com/office/drawing/2014/main" id="{2B3CEBDA-0E2D-671A-9B26-76F746F7D64B}"/>
              </a:ext>
            </a:extLst>
          </p:cNvPr>
          <p:cNvSpPr/>
          <p:nvPr/>
        </p:nvSpPr>
        <p:spPr>
          <a:xfrm>
            <a:off x="1542577" y="1498600"/>
            <a:ext cx="8711" cy="4690"/>
          </a:xfrm>
          <a:custGeom>
            <a:avLst/>
            <a:gdLst/>
            <a:ahLst/>
            <a:cxnLst/>
            <a:rect l="l" t="t" r="r" b="b"/>
            <a:pathLst>
              <a:path w="8711" h="4690">
                <a:moveTo>
                  <a:pt x="8711" y="0"/>
                </a:moveTo>
                <a:lnTo>
                  <a:pt x="0" y="4690"/>
                </a:lnTo>
              </a:path>
            </a:pathLst>
          </a:custGeom>
          <a:noFill/>
          <a:ln w="5842" cap="rnd">
            <a:solidFill>
              <a:srgbClr val="9481B1"/>
            </a:solidFill>
            <a:prstDash val="solid"/>
            <a:round/>
          </a:ln>
        </p:spPr>
      </p:sp>
      <p:sp>
        <p:nvSpPr>
          <p:cNvPr id="1452" name="V8 embedding upper curved aggregation tip head">
            <a:extLst>
              <a:ext uri="{FF2B5EF4-FFF2-40B4-BE49-F238E27FC236}">
                <a16:creationId xmlns:a16="http://schemas.microsoft.com/office/drawing/2014/main" id="{EA8590B6-001E-E7FA-C91E-6684CAB2CE42}"/>
              </a:ext>
            </a:extLst>
          </p:cNvPr>
          <p:cNvSpPr/>
          <p:nvPr/>
        </p:nvSpPr>
        <p:spPr>
          <a:xfrm>
            <a:off x="1534778" y="1490330"/>
            <a:ext cx="21547" cy="17160"/>
          </a:xfrm>
          <a:custGeom>
            <a:avLst/>
            <a:gdLst/>
            <a:ahLst/>
            <a:cxnLst/>
            <a:rect l="l" t="t" r="r" b="b"/>
            <a:pathLst>
              <a:path w="21547" h="17160">
                <a:moveTo>
                  <a:pt x="0" y="17160"/>
                </a:moveTo>
                <a:lnTo>
                  <a:pt x="21547" y="15655"/>
                </a:lnTo>
                <a:lnTo>
                  <a:pt x="13117" y="0"/>
                </a:lnTo>
                <a:close/>
              </a:path>
            </a:pathLst>
          </a:custGeom>
          <a:solidFill>
            <a:srgbClr val="4083B4"/>
          </a:solidFill>
          <a:ln w="0" cap="rnd">
            <a:noFill/>
          </a:ln>
        </p:spPr>
      </p:sp>
      <p:sp>
        <p:nvSpPr>
          <p:cNvPr id="1453" name="V8 embedding neighbor 3">
            <a:extLst>
              <a:ext uri="{FF2B5EF4-FFF2-40B4-BE49-F238E27FC236}">
                <a16:creationId xmlns:a16="http://schemas.microsoft.com/office/drawing/2014/main" id="{122DFBAE-E742-85F4-F8BE-661BC7410AFC}"/>
              </a:ext>
            </a:extLst>
          </p:cNvPr>
          <p:cNvSpPr/>
          <p:nvPr/>
        </p:nvSpPr>
        <p:spPr>
          <a:xfrm>
            <a:off x="1673208" y="1426210"/>
            <a:ext cx="27940" cy="27940"/>
          </a:xfrm>
          <a:prstGeom prst="ellipse">
            <a:avLst/>
          </a:prstGeom>
          <a:noFill/>
          <a:ln w="7112" cap="rnd">
            <a:solidFill>
              <a:srgbClr val="4083B4"/>
            </a:solidFill>
            <a:prstDash val="solid"/>
            <a:round/>
          </a:ln>
        </p:spPr>
      </p:sp>
      <p:sp>
        <p:nvSpPr>
          <p:cNvPr id="1454" name="V8 embedding curved aggregation">
            <a:extLst>
              <a:ext uri="{FF2B5EF4-FFF2-40B4-BE49-F238E27FC236}">
                <a16:creationId xmlns:a16="http://schemas.microsoft.com/office/drawing/2014/main" id="{90CEAB6E-EBCA-9F13-36DE-C928BA671D5A}"/>
              </a:ext>
            </a:extLst>
          </p:cNvPr>
          <p:cNvSpPr/>
          <p:nvPr/>
        </p:nvSpPr>
        <p:spPr>
          <a:xfrm>
            <a:off x="1392538" y="1503680"/>
            <a:ext cx="77470" cy="107970"/>
          </a:xfrm>
          <a:custGeom>
            <a:avLst/>
            <a:gdLst/>
            <a:ahLst/>
            <a:cxnLst/>
            <a:rect l="l" t="t" r="r" b="b"/>
            <a:pathLst>
              <a:path w="77470" h="107970">
                <a:moveTo>
                  <a:pt x="17311" y="107970"/>
                </a:moveTo>
                <a:cubicBezTo>
                  <a:pt x="0" y="29210"/>
                  <a:pt x="35560" y="0"/>
                  <a:pt x="77470" y="12700"/>
                </a:cubicBezTo>
              </a:path>
            </a:pathLst>
          </a:custGeom>
          <a:noFill/>
          <a:ln w="8890" cap="rnd">
            <a:solidFill>
              <a:srgbClr val="4083B4"/>
            </a:solidFill>
            <a:prstDash val="solid"/>
            <a:round/>
          </a:ln>
        </p:spPr>
      </p:sp>
      <p:sp>
        <p:nvSpPr>
          <p:cNvPr id="1455" name="V8 embedding curved aggregation tip">
            <a:extLst>
              <a:ext uri="{FF2B5EF4-FFF2-40B4-BE49-F238E27FC236}">
                <a16:creationId xmlns:a16="http://schemas.microsoft.com/office/drawing/2014/main" id="{4871021E-0B37-6092-4FB6-FB482931253B}"/>
              </a:ext>
            </a:extLst>
          </p:cNvPr>
          <p:cNvSpPr/>
          <p:nvPr/>
        </p:nvSpPr>
        <p:spPr>
          <a:xfrm>
            <a:off x="1470008" y="1516380"/>
            <a:ext cx="6039" cy="3020"/>
          </a:xfrm>
          <a:custGeom>
            <a:avLst/>
            <a:gdLst/>
            <a:ahLst/>
            <a:cxnLst/>
            <a:rect l="l" t="t" r="r" b="b"/>
            <a:pathLst>
              <a:path w="6039" h="3020">
                <a:moveTo>
                  <a:pt x="0" y="0"/>
                </a:moveTo>
                <a:lnTo>
                  <a:pt x="6039" y="3020"/>
                </a:lnTo>
              </a:path>
            </a:pathLst>
          </a:custGeom>
          <a:noFill/>
          <a:ln w="8890" cap="rnd">
            <a:solidFill>
              <a:srgbClr val="9481B1"/>
            </a:solidFill>
            <a:prstDash val="solid"/>
            <a:round/>
          </a:ln>
        </p:spPr>
      </p:sp>
      <p:sp>
        <p:nvSpPr>
          <p:cNvPr id="1456" name="V8 embedding curved aggregation tip head">
            <a:extLst>
              <a:ext uri="{FF2B5EF4-FFF2-40B4-BE49-F238E27FC236}">
                <a16:creationId xmlns:a16="http://schemas.microsoft.com/office/drawing/2014/main" id="{86BC3798-BFD4-0C2D-6F96-1C5CADB6D7BE}"/>
              </a:ext>
            </a:extLst>
          </p:cNvPr>
          <p:cNvSpPr/>
          <p:nvPr/>
        </p:nvSpPr>
        <p:spPr>
          <a:xfrm>
            <a:off x="1460116" y="1504405"/>
            <a:ext cx="25132" cy="19595"/>
          </a:xfrm>
          <a:custGeom>
            <a:avLst/>
            <a:gdLst/>
            <a:ahLst/>
            <a:cxnLst/>
            <a:rect l="l" t="t" r="r" b="b"/>
            <a:pathLst>
              <a:path w="25132" h="19595">
                <a:moveTo>
                  <a:pt x="25132" y="19595"/>
                </a:moveTo>
                <a:lnTo>
                  <a:pt x="9371" y="0"/>
                </a:lnTo>
                <a:lnTo>
                  <a:pt x="0" y="18743"/>
                </a:lnTo>
                <a:close/>
              </a:path>
            </a:pathLst>
          </a:custGeom>
          <a:solidFill>
            <a:srgbClr val="4083B4"/>
          </a:solidFill>
          <a:ln w="0" cap="rnd">
            <a:solidFill>
              <a:srgbClr val="4083B4"/>
            </a:solidFill>
          </a:ln>
        </p:spPr>
      </p:sp>
      <p:sp>
        <p:nvSpPr>
          <p:cNvPr id="1457" name="V8 embedding neighbor 4">
            <a:extLst>
              <a:ext uri="{FF2B5EF4-FFF2-40B4-BE49-F238E27FC236}">
                <a16:creationId xmlns:a16="http://schemas.microsoft.com/office/drawing/2014/main" id="{AEADE014-9292-2360-C2CE-F8C845E8BCFD}"/>
              </a:ext>
            </a:extLst>
          </p:cNvPr>
          <p:cNvSpPr/>
          <p:nvPr/>
        </p:nvSpPr>
        <p:spPr>
          <a:xfrm>
            <a:off x="1377933" y="1607185"/>
            <a:ext cx="31750" cy="31750"/>
          </a:xfrm>
          <a:prstGeom prst="ellipse">
            <a:avLst/>
          </a:prstGeom>
          <a:noFill/>
          <a:ln w="7112" cap="rnd">
            <a:solidFill>
              <a:srgbClr val="4083B4"/>
            </a:solidFill>
            <a:prstDash val="solid"/>
            <a:round/>
          </a:ln>
        </p:spPr>
      </p:sp>
      <p:sp>
        <p:nvSpPr>
          <p:cNvPr id="1458" name="V8 embedding neighbor 5 to center">
            <a:extLst>
              <a:ext uri="{FF2B5EF4-FFF2-40B4-BE49-F238E27FC236}">
                <a16:creationId xmlns:a16="http://schemas.microsoft.com/office/drawing/2014/main" id="{88F2ECE0-BE4E-6B10-0F14-901F5AD31AE6}"/>
              </a:ext>
            </a:extLst>
          </p:cNvPr>
          <p:cNvSpPr/>
          <p:nvPr/>
        </p:nvSpPr>
        <p:spPr>
          <a:xfrm>
            <a:off x="1508228" y="1576570"/>
            <a:ext cx="5857" cy="82734"/>
          </a:xfrm>
          <a:custGeom>
            <a:avLst/>
            <a:gdLst/>
            <a:ahLst/>
            <a:cxnLst/>
            <a:rect l="l" t="t" r="r" b="b"/>
            <a:pathLst>
              <a:path w="5857" h="82734">
                <a:moveTo>
                  <a:pt x="0" y="82734"/>
                </a:moveTo>
                <a:lnTo>
                  <a:pt x="5857" y="0"/>
                </a:lnTo>
              </a:path>
            </a:pathLst>
          </a:custGeom>
          <a:noFill/>
          <a:ln w="5842" cap="rnd">
            <a:solidFill>
              <a:srgbClr val="4083B4"/>
            </a:solidFill>
            <a:prstDash val="solid"/>
            <a:round/>
          </a:ln>
        </p:spPr>
      </p:sp>
      <p:sp>
        <p:nvSpPr>
          <p:cNvPr id="1459" name="V8 embedding neighbor 5 to center head">
            <a:extLst>
              <a:ext uri="{FF2B5EF4-FFF2-40B4-BE49-F238E27FC236}">
                <a16:creationId xmlns:a16="http://schemas.microsoft.com/office/drawing/2014/main" id="{4E579011-FEC4-00D3-7546-C5CB388C9A0A}"/>
              </a:ext>
            </a:extLst>
          </p:cNvPr>
          <p:cNvSpPr/>
          <p:nvPr/>
        </p:nvSpPr>
        <p:spPr>
          <a:xfrm>
            <a:off x="1504453" y="1567734"/>
            <a:ext cx="17736" cy="20264"/>
          </a:xfrm>
          <a:custGeom>
            <a:avLst/>
            <a:gdLst/>
            <a:ahLst/>
            <a:cxnLst/>
            <a:rect l="l" t="t" r="r" b="b"/>
            <a:pathLst>
              <a:path w="17736" h="20264">
                <a:moveTo>
                  <a:pt x="10258" y="0"/>
                </a:moveTo>
                <a:lnTo>
                  <a:pt x="0" y="19008"/>
                </a:lnTo>
                <a:lnTo>
                  <a:pt x="17736" y="20264"/>
                </a:lnTo>
                <a:close/>
              </a:path>
            </a:pathLst>
          </a:custGeom>
          <a:solidFill>
            <a:srgbClr val="4083B4"/>
          </a:solidFill>
          <a:ln w="0" cap="rnd">
            <a:solidFill>
              <a:srgbClr val="4083B4"/>
            </a:solidFill>
          </a:ln>
        </p:spPr>
      </p:sp>
      <p:sp>
        <p:nvSpPr>
          <p:cNvPr id="1460" name="V8 embedding neighbor 5">
            <a:extLst>
              <a:ext uri="{FF2B5EF4-FFF2-40B4-BE49-F238E27FC236}">
                <a16:creationId xmlns:a16="http://schemas.microsoft.com/office/drawing/2014/main" id="{80A6CA00-4D1C-000D-C0AF-7F59BA21FF45}"/>
              </a:ext>
            </a:extLst>
          </p:cNvPr>
          <p:cNvSpPr/>
          <p:nvPr/>
        </p:nvSpPr>
        <p:spPr>
          <a:xfrm>
            <a:off x="1492233" y="1664335"/>
            <a:ext cx="29210" cy="29210"/>
          </a:xfrm>
          <a:prstGeom prst="ellipse">
            <a:avLst/>
          </a:prstGeom>
          <a:noFill/>
          <a:ln w="7112" cap="rnd">
            <a:solidFill>
              <a:srgbClr val="4083B4"/>
            </a:solidFill>
            <a:prstDash val="solid"/>
            <a:round/>
          </a:ln>
        </p:spPr>
      </p:sp>
      <p:sp>
        <p:nvSpPr>
          <p:cNvPr id="1461" name="V8 embedding center">
            <a:extLst>
              <a:ext uri="{FF2B5EF4-FFF2-40B4-BE49-F238E27FC236}">
                <a16:creationId xmlns:a16="http://schemas.microsoft.com/office/drawing/2014/main" id="{0973F1A0-63C8-796C-8269-8DC9810E39E1}"/>
              </a:ext>
            </a:extLst>
          </p:cNvPr>
          <p:cNvSpPr/>
          <p:nvPr/>
        </p:nvSpPr>
        <p:spPr>
          <a:xfrm>
            <a:off x="1494773" y="1513205"/>
            <a:ext cx="44450" cy="44450"/>
          </a:xfrm>
          <a:prstGeom prst="ellipse">
            <a:avLst/>
          </a:prstGeom>
          <a:noFill/>
          <a:ln w="9906" cap="rnd">
            <a:solidFill>
              <a:srgbClr val="3B8C80"/>
            </a:solidFill>
            <a:prstDash val="solid"/>
            <a:round/>
          </a:ln>
        </p:spPr>
      </p:sp>
      <p:sp>
        <p:nvSpPr>
          <p:cNvPr id="1462" name="V8 embedding feature 1">
            <a:extLst>
              <a:ext uri="{FF2B5EF4-FFF2-40B4-BE49-F238E27FC236}">
                <a16:creationId xmlns:a16="http://schemas.microsoft.com/office/drawing/2014/main" id="{FE0417EE-6828-F09F-AACE-DE1F76BE3EB6}"/>
              </a:ext>
            </a:extLst>
          </p:cNvPr>
          <p:cNvSpPr/>
          <p:nvPr/>
        </p:nvSpPr>
        <p:spPr>
          <a:xfrm>
            <a:off x="1548748" y="1518285"/>
            <a:ext cx="18415" cy="34290"/>
          </a:xfrm>
          <a:prstGeom prst="rect">
            <a:avLst/>
          </a:prstGeom>
          <a:solidFill>
            <a:srgbClr val="3E8F9A"/>
          </a:solidFill>
          <a:ln w="0" cap="rnd">
            <a:noFill/>
          </a:ln>
        </p:spPr>
      </p:sp>
      <p:sp>
        <p:nvSpPr>
          <p:cNvPr id="1463" name="V8 embedding feature 2">
            <a:extLst>
              <a:ext uri="{FF2B5EF4-FFF2-40B4-BE49-F238E27FC236}">
                <a16:creationId xmlns:a16="http://schemas.microsoft.com/office/drawing/2014/main" id="{28DF18A8-B7D6-40CC-F8D0-1CE005F88971}"/>
              </a:ext>
            </a:extLst>
          </p:cNvPr>
          <p:cNvSpPr/>
          <p:nvPr/>
        </p:nvSpPr>
        <p:spPr>
          <a:xfrm>
            <a:off x="1568433" y="1518285"/>
            <a:ext cx="18415" cy="34290"/>
          </a:xfrm>
          <a:prstGeom prst="rect">
            <a:avLst/>
          </a:prstGeom>
          <a:solidFill>
            <a:srgbClr val="88BEC3"/>
          </a:solidFill>
          <a:ln w="0" cap="rnd">
            <a:noFill/>
          </a:ln>
        </p:spPr>
      </p:sp>
      <p:sp>
        <p:nvSpPr>
          <p:cNvPr id="1464" name="V8 embedding feature 3">
            <a:extLst>
              <a:ext uri="{FF2B5EF4-FFF2-40B4-BE49-F238E27FC236}">
                <a16:creationId xmlns:a16="http://schemas.microsoft.com/office/drawing/2014/main" id="{D8B2548F-FDCB-962F-D116-8194E608D854}"/>
              </a:ext>
            </a:extLst>
          </p:cNvPr>
          <p:cNvSpPr/>
          <p:nvPr/>
        </p:nvSpPr>
        <p:spPr>
          <a:xfrm>
            <a:off x="1588118" y="1518285"/>
            <a:ext cx="18415" cy="34290"/>
          </a:xfrm>
          <a:prstGeom prst="rect">
            <a:avLst/>
          </a:prstGeom>
          <a:solidFill>
            <a:srgbClr val="67AD9F"/>
          </a:solidFill>
          <a:ln w="0" cap="rnd">
            <a:noFill/>
          </a:ln>
        </p:spPr>
      </p:sp>
      <p:sp>
        <p:nvSpPr>
          <p:cNvPr id="1465" name="V8 embedding feature 4">
            <a:extLst>
              <a:ext uri="{FF2B5EF4-FFF2-40B4-BE49-F238E27FC236}">
                <a16:creationId xmlns:a16="http://schemas.microsoft.com/office/drawing/2014/main" id="{4DB56FF7-AE6A-29C2-0D4E-A50B4A01B329}"/>
              </a:ext>
            </a:extLst>
          </p:cNvPr>
          <p:cNvSpPr/>
          <p:nvPr/>
        </p:nvSpPr>
        <p:spPr>
          <a:xfrm>
            <a:off x="1607803" y="1518285"/>
            <a:ext cx="18415" cy="34290"/>
          </a:xfrm>
          <a:prstGeom prst="rect">
            <a:avLst/>
          </a:prstGeom>
          <a:solidFill>
            <a:srgbClr val="B6D8CC"/>
          </a:solidFill>
          <a:ln w="0" cap="rnd">
            <a:noFill/>
          </a:ln>
        </p:spPr>
      </p:sp>
      <p:sp>
        <p:nvSpPr>
          <p:cNvPr id="1466" name="V8 embedding feature 5">
            <a:extLst>
              <a:ext uri="{FF2B5EF4-FFF2-40B4-BE49-F238E27FC236}">
                <a16:creationId xmlns:a16="http://schemas.microsoft.com/office/drawing/2014/main" id="{0834D08B-BC25-2ADC-AF12-5492513577F8}"/>
              </a:ext>
            </a:extLst>
          </p:cNvPr>
          <p:cNvSpPr/>
          <p:nvPr/>
        </p:nvSpPr>
        <p:spPr>
          <a:xfrm>
            <a:off x="1627488" y="1518285"/>
            <a:ext cx="18415" cy="34290"/>
          </a:xfrm>
          <a:prstGeom prst="rect">
            <a:avLst/>
          </a:prstGeom>
          <a:solidFill>
            <a:srgbClr val="3B8C80"/>
          </a:solidFill>
          <a:ln w="0" cap="rnd">
            <a:noFill/>
          </a:ln>
        </p:spPr>
      </p:sp>
      <p:sp>
        <p:nvSpPr>
          <p:cNvPr id="1467" name="V8 embedding feature 6">
            <a:extLst>
              <a:ext uri="{FF2B5EF4-FFF2-40B4-BE49-F238E27FC236}">
                <a16:creationId xmlns:a16="http://schemas.microsoft.com/office/drawing/2014/main" id="{7EDE9E92-6EF0-3023-2F22-6E7EFD9706C6}"/>
              </a:ext>
            </a:extLst>
          </p:cNvPr>
          <p:cNvSpPr/>
          <p:nvPr/>
        </p:nvSpPr>
        <p:spPr>
          <a:xfrm>
            <a:off x="1647173" y="1518285"/>
            <a:ext cx="18415" cy="34290"/>
          </a:xfrm>
          <a:prstGeom prst="rect">
            <a:avLst/>
          </a:prstGeom>
          <a:solidFill>
            <a:srgbClr val="A3CDDA"/>
          </a:solidFill>
          <a:ln w="0" cap="rnd">
            <a:noFill/>
          </a:ln>
        </p:spPr>
      </p:sp>
      <p:sp>
        <p:nvSpPr>
          <p:cNvPr id="1468" name="V8 embedding feature 7">
            <a:extLst>
              <a:ext uri="{FF2B5EF4-FFF2-40B4-BE49-F238E27FC236}">
                <a16:creationId xmlns:a16="http://schemas.microsoft.com/office/drawing/2014/main" id="{3791BD29-2650-00D8-2639-94010AF8036F}"/>
              </a:ext>
            </a:extLst>
          </p:cNvPr>
          <p:cNvSpPr/>
          <p:nvPr/>
        </p:nvSpPr>
        <p:spPr>
          <a:xfrm>
            <a:off x="1666858" y="1518285"/>
            <a:ext cx="18415" cy="34290"/>
          </a:xfrm>
          <a:prstGeom prst="rect">
            <a:avLst/>
          </a:prstGeom>
          <a:solidFill>
            <a:srgbClr val="6CAFA4"/>
          </a:solidFill>
          <a:ln w="0" cap="rnd">
            <a:noFill/>
          </a:ln>
        </p:spPr>
      </p:sp>
      <p:sp>
        <p:nvSpPr>
          <p:cNvPr id="1469" name="V8 embedding feature 8">
            <a:extLst>
              <a:ext uri="{FF2B5EF4-FFF2-40B4-BE49-F238E27FC236}">
                <a16:creationId xmlns:a16="http://schemas.microsoft.com/office/drawing/2014/main" id="{78D40256-09DE-A393-64FC-199BB5DEB767}"/>
              </a:ext>
            </a:extLst>
          </p:cNvPr>
          <p:cNvSpPr/>
          <p:nvPr/>
        </p:nvSpPr>
        <p:spPr>
          <a:xfrm>
            <a:off x="1686543" y="1518285"/>
            <a:ext cx="18415" cy="34290"/>
          </a:xfrm>
          <a:prstGeom prst="rect">
            <a:avLst/>
          </a:prstGeom>
          <a:solidFill>
            <a:srgbClr val="C4DDE0"/>
          </a:solidFill>
          <a:ln w="0" cap="rnd">
            <a:noFill/>
          </a:ln>
        </p:spPr>
      </p:sp>
      <p:sp>
        <p:nvSpPr>
          <p:cNvPr id="1471" name="V8 embedding to point branch">
            <a:extLst>
              <a:ext uri="{FF2B5EF4-FFF2-40B4-BE49-F238E27FC236}">
                <a16:creationId xmlns:a16="http://schemas.microsoft.com/office/drawing/2014/main" id="{CD0EF799-B1E4-C26B-BB25-441BB97890BE}"/>
              </a:ext>
            </a:extLst>
          </p:cNvPr>
          <p:cNvSpPr/>
          <p:nvPr/>
        </p:nvSpPr>
        <p:spPr>
          <a:xfrm flipV="1">
            <a:off x="1767191" y="1469001"/>
            <a:ext cx="157162" cy="66614"/>
          </a:xfrm>
          <a:custGeom>
            <a:avLst/>
            <a:gdLst/>
            <a:ahLst/>
            <a:cxnLst/>
            <a:rect l="l" t="t" r="r" b="b"/>
            <a:pathLst>
              <a:path w="63379" h="1">
                <a:moveTo>
                  <a:pt x="0" y="0"/>
                </a:moveTo>
                <a:lnTo>
                  <a:pt x="63379" y="0"/>
                </a:lnTo>
              </a:path>
            </a:pathLst>
          </a:custGeom>
          <a:noFill/>
          <a:ln w="8509" cap="rnd">
            <a:solidFill>
              <a:srgbClr val="77828C"/>
            </a:solidFill>
            <a:prstDash val="solid"/>
            <a:round/>
          </a:ln>
        </p:spPr>
      </p:sp>
      <p:sp>
        <p:nvSpPr>
          <p:cNvPr id="1472" name="V8 embedding to point branch head">
            <a:extLst>
              <a:ext uri="{FF2B5EF4-FFF2-40B4-BE49-F238E27FC236}">
                <a16:creationId xmlns:a16="http://schemas.microsoft.com/office/drawing/2014/main" id="{EE5B1593-BB31-DCD1-99C7-141C7B857AF7}"/>
              </a:ext>
            </a:extLst>
          </p:cNvPr>
          <p:cNvSpPr/>
          <p:nvPr/>
        </p:nvSpPr>
        <p:spPr>
          <a:xfrm>
            <a:off x="1909057" y="1523745"/>
            <a:ext cx="28321" cy="24384"/>
          </a:xfrm>
          <a:custGeom>
            <a:avLst/>
            <a:gdLst/>
            <a:ahLst/>
            <a:cxnLst/>
            <a:rect l="l" t="t" r="r" b="b"/>
            <a:pathLst>
              <a:path w="28321" h="24384">
                <a:moveTo>
                  <a:pt x="28321" y="12192"/>
                </a:moveTo>
                <a:lnTo>
                  <a:pt x="0" y="0"/>
                </a:lnTo>
                <a:lnTo>
                  <a:pt x="0" y="24384"/>
                </a:lnTo>
                <a:close/>
              </a:path>
            </a:pathLst>
          </a:custGeom>
          <a:solidFill>
            <a:srgbClr val="77828C"/>
          </a:solidFill>
          <a:ln w="0" cap="rnd">
            <a:solidFill>
              <a:srgbClr val="77828C"/>
            </a:solidFill>
          </a:ln>
        </p:spPr>
      </p:sp>
      <p:sp>
        <p:nvSpPr>
          <p:cNvPr id="1473" name="V8 embedding to voxel branch">
            <a:extLst>
              <a:ext uri="{FF2B5EF4-FFF2-40B4-BE49-F238E27FC236}">
                <a16:creationId xmlns:a16="http://schemas.microsoft.com/office/drawing/2014/main" id="{A9E148F4-6BCA-77FF-AE43-549D2AE883D5}"/>
              </a:ext>
            </a:extLst>
          </p:cNvPr>
          <p:cNvSpPr/>
          <p:nvPr/>
        </p:nvSpPr>
        <p:spPr>
          <a:xfrm flipH="1">
            <a:off x="1787927" y="835707"/>
            <a:ext cx="45719" cy="699723"/>
          </a:xfrm>
          <a:custGeom>
            <a:avLst/>
            <a:gdLst/>
            <a:ahLst/>
            <a:cxnLst/>
            <a:rect l="l" t="t" r="r" b="b"/>
            <a:pathLst>
              <a:path w="1" h="866159">
                <a:moveTo>
                  <a:pt x="0" y="866159"/>
                </a:moveTo>
                <a:lnTo>
                  <a:pt x="0" y="0"/>
                </a:lnTo>
              </a:path>
            </a:pathLst>
          </a:custGeom>
          <a:noFill/>
          <a:ln w="8509" cap="rnd">
            <a:solidFill>
              <a:srgbClr val="77828C"/>
            </a:solidFill>
            <a:prstDash val="solid"/>
            <a:round/>
          </a:ln>
        </p:spPr>
      </p:sp>
      <p:sp>
        <p:nvSpPr>
          <p:cNvPr id="1475" name="V8 density and receptor to voxel">
            <a:extLst>
              <a:ext uri="{FF2B5EF4-FFF2-40B4-BE49-F238E27FC236}">
                <a16:creationId xmlns:a16="http://schemas.microsoft.com/office/drawing/2014/main" id="{61ECA984-FF9D-A5D0-F819-33661D001ABE}"/>
              </a:ext>
            </a:extLst>
          </p:cNvPr>
          <p:cNvSpPr/>
          <p:nvPr/>
        </p:nvSpPr>
        <p:spPr>
          <a:xfrm flipV="1">
            <a:off x="1767284" y="610807"/>
            <a:ext cx="148072" cy="45719"/>
          </a:xfrm>
          <a:custGeom>
            <a:avLst/>
            <a:gdLst/>
            <a:ahLst/>
            <a:cxnLst/>
            <a:rect l="l" t="t" r="r" b="b"/>
            <a:pathLst>
              <a:path w="96730" h="1">
                <a:moveTo>
                  <a:pt x="0" y="0"/>
                </a:moveTo>
                <a:lnTo>
                  <a:pt x="96730" y="0"/>
                </a:lnTo>
              </a:path>
            </a:pathLst>
          </a:custGeom>
          <a:noFill/>
          <a:ln w="8509" cap="rnd">
            <a:solidFill>
              <a:srgbClr val="77828C"/>
            </a:solidFill>
            <a:prstDash val="solid"/>
            <a:round/>
          </a:ln>
        </p:spPr>
      </p:sp>
      <p:sp>
        <p:nvSpPr>
          <p:cNvPr id="1476" name="V8 density and receptor to voxel head">
            <a:extLst>
              <a:ext uri="{FF2B5EF4-FFF2-40B4-BE49-F238E27FC236}">
                <a16:creationId xmlns:a16="http://schemas.microsoft.com/office/drawing/2014/main" id="{D6CAD338-44F5-8993-3618-9A1839CB2DBC}"/>
              </a:ext>
            </a:extLst>
          </p:cNvPr>
          <p:cNvSpPr/>
          <p:nvPr/>
        </p:nvSpPr>
        <p:spPr>
          <a:xfrm>
            <a:off x="1904526" y="644334"/>
            <a:ext cx="28321" cy="24384"/>
          </a:xfrm>
          <a:custGeom>
            <a:avLst/>
            <a:gdLst/>
            <a:ahLst/>
            <a:cxnLst/>
            <a:rect l="l" t="t" r="r" b="b"/>
            <a:pathLst>
              <a:path w="28321" h="24384">
                <a:moveTo>
                  <a:pt x="28321" y="12192"/>
                </a:moveTo>
                <a:lnTo>
                  <a:pt x="0" y="0"/>
                </a:lnTo>
                <a:lnTo>
                  <a:pt x="0" y="24384"/>
                </a:lnTo>
                <a:close/>
              </a:path>
            </a:pathLst>
          </a:custGeom>
          <a:solidFill>
            <a:srgbClr val="77828C"/>
          </a:solidFill>
          <a:ln w="0" cap="rnd">
            <a:noFill/>
          </a:ln>
        </p:spPr>
      </p:sp>
      <p:sp>
        <p:nvSpPr>
          <p:cNvPr id="1479" name="V8 Match input divider">
            <a:extLst>
              <a:ext uri="{FF2B5EF4-FFF2-40B4-BE49-F238E27FC236}">
                <a16:creationId xmlns:a16="http://schemas.microsoft.com/office/drawing/2014/main" id="{2EDC4EC7-D903-3262-650D-444D37299D28}"/>
              </a:ext>
            </a:extLst>
          </p:cNvPr>
          <p:cNvSpPr/>
          <p:nvPr/>
        </p:nvSpPr>
        <p:spPr>
          <a:xfrm>
            <a:off x="576470" y="2767063"/>
            <a:ext cx="957199" cy="1"/>
          </a:xfrm>
          <a:custGeom>
            <a:avLst/>
            <a:gdLst/>
            <a:ahLst/>
            <a:cxnLst/>
            <a:rect l="l" t="t" r="r" b="b"/>
            <a:pathLst>
              <a:path w="957199" h="1">
                <a:moveTo>
                  <a:pt x="0" y="0"/>
                </a:moveTo>
                <a:lnTo>
                  <a:pt x="957199" y="0"/>
                </a:lnTo>
              </a:path>
            </a:pathLst>
          </a:custGeom>
          <a:noFill/>
          <a:ln w="7290" cap="rnd">
            <a:solidFill>
              <a:srgbClr val="C8CFD4"/>
            </a:solidFill>
            <a:prstDash val="solid"/>
            <a:round/>
          </a:ln>
        </p:spPr>
      </p:sp>
      <p:sp>
        <p:nvSpPr>
          <p:cNvPr id="1480" name="V8 pool to concat">
            <a:extLst>
              <a:ext uri="{FF2B5EF4-FFF2-40B4-BE49-F238E27FC236}">
                <a16:creationId xmlns:a16="http://schemas.microsoft.com/office/drawing/2014/main" id="{3702663D-F294-9B06-B213-0076F82464A6}"/>
              </a:ext>
            </a:extLst>
          </p:cNvPr>
          <p:cNvSpPr/>
          <p:nvPr/>
        </p:nvSpPr>
        <p:spPr>
          <a:xfrm>
            <a:off x="881771" y="3603168"/>
            <a:ext cx="355873" cy="100152"/>
          </a:xfrm>
          <a:custGeom>
            <a:avLst/>
            <a:gdLst/>
            <a:ahLst/>
            <a:cxnLst/>
            <a:rect l="l" t="t" r="r" b="b"/>
            <a:pathLst>
              <a:path w="355873" h="100152">
                <a:moveTo>
                  <a:pt x="0" y="0"/>
                </a:moveTo>
                <a:lnTo>
                  <a:pt x="0" y="100152"/>
                </a:lnTo>
                <a:lnTo>
                  <a:pt x="355873" y="100152"/>
                </a:lnTo>
              </a:path>
            </a:pathLst>
          </a:custGeom>
          <a:noFill/>
          <a:ln w="8509" cap="rnd">
            <a:solidFill>
              <a:srgbClr val="77828C"/>
            </a:solidFill>
            <a:prstDash val="solid"/>
            <a:round/>
          </a:ln>
        </p:spPr>
      </p:sp>
      <p:sp>
        <p:nvSpPr>
          <p:cNvPr id="1481" name="V8 attention to concat">
            <a:extLst>
              <a:ext uri="{FF2B5EF4-FFF2-40B4-BE49-F238E27FC236}">
                <a16:creationId xmlns:a16="http://schemas.microsoft.com/office/drawing/2014/main" id="{45C4FCB5-3380-E3A8-B0B1-54A427F52361}"/>
              </a:ext>
            </a:extLst>
          </p:cNvPr>
          <p:cNvSpPr/>
          <p:nvPr/>
        </p:nvSpPr>
        <p:spPr>
          <a:xfrm>
            <a:off x="1237644" y="3603168"/>
            <a:ext cx="356064" cy="100152"/>
          </a:xfrm>
          <a:custGeom>
            <a:avLst/>
            <a:gdLst/>
            <a:ahLst/>
            <a:cxnLst/>
            <a:rect l="l" t="t" r="r" b="b"/>
            <a:pathLst>
              <a:path w="356064" h="100152">
                <a:moveTo>
                  <a:pt x="356064" y="0"/>
                </a:moveTo>
                <a:lnTo>
                  <a:pt x="356064" y="100152"/>
                </a:lnTo>
                <a:lnTo>
                  <a:pt x="0" y="100152"/>
                </a:lnTo>
              </a:path>
            </a:pathLst>
          </a:custGeom>
          <a:noFill/>
          <a:ln w="8509" cap="rnd">
            <a:solidFill>
              <a:srgbClr val="77828C"/>
            </a:solidFill>
            <a:prstDash val="solid"/>
            <a:round/>
          </a:ln>
        </p:spPr>
      </p:sp>
      <p:sp>
        <p:nvSpPr>
          <p:cNvPr id="1482" name="V8 concat to MLP">
            <a:extLst>
              <a:ext uri="{FF2B5EF4-FFF2-40B4-BE49-F238E27FC236}">
                <a16:creationId xmlns:a16="http://schemas.microsoft.com/office/drawing/2014/main" id="{366946BB-F669-FC2F-4DBA-809EA592E5E1}"/>
              </a:ext>
            </a:extLst>
          </p:cNvPr>
          <p:cNvSpPr/>
          <p:nvPr/>
        </p:nvSpPr>
        <p:spPr>
          <a:xfrm>
            <a:off x="1237644" y="3703320"/>
            <a:ext cx="1" cy="22181"/>
          </a:xfrm>
          <a:custGeom>
            <a:avLst/>
            <a:gdLst/>
            <a:ahLst/>
            <a:cxnLst/>
            <a:rect l="l" t="t" r="r" b="b"/>
            <a:pathLst>
              <a:path w="1" h="22181">
                <a:moveTo>
                  <a:pt x="0" y="0"/>
                </a:moveTo>
                <a:lnTo>
                  <a:pt x="0" y="22181"/>
                </a:lnTo>
              </a:path>
            </a:pathLst>
          </a:custGeom>
          <a:noFill/>
          <a:ln w="8509" cap="rnd">
            <a:solidFill>
              <a:srgbClr val="77828C"/>
            </a:solidFill>
            <a:prstDash val="solid"/>
            <a:round/>
          </a:ln>
        </p:spPr>
      </p:sp>
      <p:sp>
        <p:nvSpPr>
          <p:cNvPr id="1483" name="V8 concat to MLP head">
            <a:extLst>
              <a:ext uri="{FF2B5EF4-FFF2-40B4-BE49-F238E27FC236}">
                <a16:creationId xmlns:a16="http://schemas.microsoft.com/office/drawing/2014/main" id="{234835D4-EF31-832C-586B-712FBD8CEB61}"/>
              </a:ext>
            </a:extLst>
          </p:cNvPr>
          <p:cNvSpPr/>
          <p:nvPr/>
        </p:nvSpPr>
        <p:spPr>
          <a:xfrm>
            <a:off x="1225452" y="3709924"/>
            <a:ext cx="24384" cy="28321"/>
          </a:xfrm>
          <a:custGeom>
            <a:avLst/>
            <a:gdLst/>
            <a:ahLst/>
            <a:cxnLst/>
            <a:rect l="l" t="t" r="r" b="b"/>
            <a:pathLst>
              <a:path w="24384" h="28321">
                <a:moveTo>
                  <a:pt x="12192" y="28321"/>
                </a:moveTo>
                <a:lnTo>
                  <a:pt x="24384" y="0"/>
                </a:lnTo>
                <a:lnTo>
                  <a:pt x="0" y="0"/>
                </a:lnTo>
                <a:close/>
              </a:path>
            </a:pathLst>
          </a:custGeom>
          <a:solidFill>
            <a:srgbClr val="77828C"/>
          </a:solidFill>
          <a:ln w="0" cap="rnd">
            <a:noFill/>
          </a:ln>
        </p:spPr>
      </p:sp>
      <p:grpSp>
        <p:nvGrpSpPr>
          <p:cNvPr id="6" name="Find candidate blob 2">
            <a:extLst>
              <a:ext uri="{FF2B5EF4-FFF2-40B4-BE49-F238E27FC236}">
                <a16:creationId xmlns:a16="http://schemas.microsoft.com/office/drawing/2014/main" id="{52582F41-8562-EDCF-D547-FEE06D78B091}"/>
              </a:ext>
            </a:extLst>
          </p:cNvPr>
          <p:cNvGrpSpPr/>
          <p:nvPr/>
        </p:nvGrpSpPr>
        <p:grpSpPr>
          <a:xfrm rot="3197729">
            <a:off x="4553030" y="901286"/>
            <a:ext cx="140909" cy="118817"/>
            <a:chOff x="1928706" y="3559489"/>
            <a:chExt cx="227897" cy="155682"/>
          </a:xfrm>
        </p:grpSpPr>
        <p:sp>
          <p:nvSpPr>
            <p:cNvPr id="16" name="Candidate blob | editable contour">
              <a:extLst>
                <a:ext uri="{FF2B5EF4-FFF2-40B4-BE49-F238E27FC236}">
                  <a16:creationId xmlns:a16="http://schemas.microsoft.com/office/drawing/2014/main" id="{AC599FE5-B7C8-2310-361D-307EF409B159}"/>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17" name="ellipse_2612">
              <a:extLst>
                <a:ext uri="{FF2B5EF4-FFF2-40B4-BE49-F238E27FC236}">
                  <a16:creationId xmlns:a16="http://schemas.microsoft.com/office/drawing/2014/main" id="{899D545A-9188-B8A5-5122-F55763321954}"/>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50449" name="F2-bank-channel">
            <a:extLst>
              <a:ext uri="{FF2B5EF4-FFF2-40B4-BE49-F238E27FC236}">
                <a16:creationId xmlns:a16="http://schemas.microsoft.com/office/drawing/2014/main" id="{E8F7522B-3B27-4338-8014-8A4EEE25C15E}"/>
              </a:ext>
            </a:extLst>
          </p:cNvPr>
          <p:cNvSpPr>
            <a:spLocks noGrp="1"/>
          </p:cNvSpPr>
          <p:nvPr/>
        </p:nvSpPr>
        <p:spPr>
          <a:xfrm>
            <a:off x="1453500" y="508635"/>
            <a:ext cx="257175" cy="190500"/>
          </a:xfrm>
          <a:prstGeom prst="rect">
            <a:avLst/>
          </a:prstGeom>
          <a:solidFill>
            <a:srgbClr val="EBF7FC"/>
          </a:solidFill>
          <a:ln w="4286">
            <a:solidFill>
              <a:srgbClr val="A6C5DF"/>
            </a:solidFill>
          </a:ln>
        </p:spPr>
      </p:sp>
      <p:sp>
        <p:nvSpPr>
          <p:cNvPr id="50450" name="F2-bank-channel">
            <a:extLst>
              <a:ext uri="{FF2B5EF4-FFF2-40B4-BE49-F238E27FC236}">
                <a16:creationId xmlns:a16="http://schemas.microsoft.com/office/drawing/2014/main" id="{44CA542A-604D-4AA5-B11D-B6617579A677}"/>
              </a:ext>
            </a:extLst>
          </p:cNvPr>
          <p:cNvSpPr>
            <a:spLocks noGrp="1"/>
          </p:cNvSpPr>
          <p:nvPr/>
        </p:nvSpPr>
        <p:spPr>
          <a:xfrm>
            <a:off x="1445880" y="515303"/>
            <a:ext cx="257175" cy="190500"/>
          </a:xfrm>
          <a:prstGeom prst="rect">
            <a:avLst/>
          </a:prstGeom>
          <a:solidFill>
            <a:srgbClr val="EBF7FC"/>
          </a:solidFill>
          <a:ln w="4286">
            <a:solidFill>
              <a:srgbClr val="A6C5DF"/>
            </a:solidFill>
          </a:ln>
        </p:spPr>
      </p:sp>
      <p:sp>
        <p:nvSpPr>
          <p:cNvPr id="50451" name="F2-bank-channel">
            <a:extLst>
              <a:ext uri="{FF2B5EF4-FFF2-40B4-BE49-F238E27FC236}">
                <a16:creationId xmlns:a16="http://schemas.microsoft.com/office/drawing/2014/main" id="{94C83CC1-C6DF-4DC5-87DF-BCD87221CF3B}"/>
              </a:ext>
            </a:extLst>
          </p:cNvPr>
          <p:cNvSpPr>
            <a:spLocks noGrp="1"/>
          </p:cNvSpPr>
          <p:nvPr/>
        </p:nvSpPr>
        <p:spPr>
          <a:xfrm>
            <a:off x="1438260" y="521970"/>
            <a:ext cx="257175" cy="190500"/>
          </a:xfrm>
          <a:prstGeom prst="rect">
            <a:avLst/>
          </a:prstGeom>
          <a:solidFill>
            <a:srgbClr val="EBF7FC"/>
          </a:solidFill>
          <a:ln w="4286">
            <a:solidFill>
              <a:srgbClr val="A6C5DF"/>
            </a:solidFill>
          </a:ln>
        </p:spPr>
      </p:sp>
      <p:sp>
        <p:nvSpPr>
          <p:cNvPr id="50452" name="F2-bank-channel">
            <a:extLst>
              <a:ext uri="{FF2B5EF4-FFF2-40B4-BE49-F238E27FC236}">
                <a16:creationId xmlns:a16="http://schemas.microsoft.com/office/drawing/2014/main" id="{1ABD8E71-8A8E-4A01-9656-5F57A7EAD863}"/>
              </a:ext>
            </a:extLst>
          </p:cNvPr>
          <p:cNvSpPr>
            <a:spLocks noGrp="1"/>
          </p:cNvSpPr>
          <p:nvPr/>
        </p:nvSpPr>
        <p:spPr>
          <a:xfrm>
            <a:off x="1430640" y="528638"/>
            <a:ext cx="257175" cy="190500"/>
          </a:xfrm>
          <a:prstGeom prst="rect">
            <a:avLst/>
          </a:prstGeom>
          <a:solidFill>
            <a:srgbClr val="EBF7FC"/>
          </a:solidFill>
          <a:ln w="4286">
            <a:solidFill>
              <a:srgbClr val="A6C5DF"/>
            </a:solidFill>
          </a:ln>
        </p:spPr>
      </p:sp>
      <p:sp>
        <p:nvSpPr>
          <p:cNvPr id="50453" name="F2-bank-channel">
            <a:extLst>
              <a:ext uri="{FF2B5EF4-FFF2-40B4-BE49-F238E27FC236}">
                <a16:creationId xmlns:a16="http://schemas.microsoft.com/office/drawing/2014/main" id="{A1E78B7C-AF8B-46CF-BE9A-7739D3A000CC}"/>
              </a:ext>
            </a:extLst>
          </p:cNvPr>
          <p:cNvSpPr>
            <a:spLocks noGrp="1"/>
          </p:cNvSpPr>
          <p:nvPr/>
        </p:nvSpPr>
        <p:spPr>
          <a:xfrm>
            <a:off x="1423020" y="535305"/>
            <a:ext cx="257175" cy="190500"/>
          </a:xfrm>
          <a:prstGeom prst="rect">
            <a:avLst/>
          </a:prstGeom>
          <a:solidFill>
            <a:srgbClr val="EBF7FC"/>
          </a:solidFill>
          <a:ln w="4286">
            <a:solidFill>
              <a:srgbClr val="A6C5DF"/>
            </a:solidFill>
          </a:ln>
        </p:spPr>
      </p:sp>
      <p:sp>
        <p:nvSpPr>
          <p:cNvPr id="50454" name="F2-bank-channel">
            <a:extLst>
              <a:ext uri="{FF2B5EF4-FFF2-40B4-BE49-F238E27FC236}">
                <a16:creationId xmlns:a16="http://schemas.microsoft.com/office/drawing/2014/main" id="{F902D412-512B-42B7-B05D-EDD9258097DC}"/>
              </a:ext>
            </a:extLst>
          </p:cNvPr>
          <p:cNvSpPr>
            <a:spLocks noGrp="1"/>
          </p:cNvSpPr>
          <p:nvPr/>
        </p:nvSpPr>
        <p:spPr>
          <a:xfrm>
            <a:off x="1415400" y="541973"/>
            <a:ext cx="257175" cy="190500"/>
          </a:xfrm>
          <a:prstGeom prst="rect">
            <a:avLst/>
          </a:prstGeom>
          <a:solidFill>
            <a:srgbClr val="EBF7FC"/>
          </a:solidFill>
          <a:ln w="4286">
            <a:solidFill>
              <a:srgbClr val="A6C5DF"/>
            </a:solidFill>
          </a:ln>
        </p:spPr>
      </p:sp>
      <p:sp>
        <p:nvSpPr>
          <p:cNvPr id="50455" name="F2-bank-channel">
            <a:extLst>
              <a:ext uri="{FF2B5EF4-FFF2-40B4-BE49-F238E27FC236}">
                <a16:creationId xmlns:a16="http://schemas.microsoft.com/office/drawing/2014/main" id="{CA6824A1-9C37-4EE2-8CF4-7C88BCE1DBE6}"/>
              </a:ext>
            </a:extLst>
          </p:cNvPr>
          <p:cNvSpPr>
            <a:spLocks noGrp="1"/>
          </p:cNvSpPr>
          <p:nvPr/>
        </p:nvSpPr>
        <p:spPr>
          <a:xfrm>
            <a:off x="1407780" y="548640"/>
            <a:ext cx="257175" cy="190500"/>
          </a:xfrm>
          <a:prstGeom prst="rect">
            <a:avLst/>
          </a:prstGeom>
          <a:solidFill>
            <a:srgbClr val="EBF7FC"/>
          </a:solidFill>
          <a:ln w="4286">
            <a:solidFill>
              <a:srgbClr val="A6C5DF"/>
            </a:solidFill>
          </a:ln>
        </p:spPr>
      </p:sp>
      <p:sp>
        <p:nvSpPr>
          <p:cNvPr id="50456" name="F2-bank-channel">
            <a:extLst>
              <a:ext uri="{FF2B5EF4-FFF2-40B4-BE49-F238E27FC236}">
                <a16:creationId xmlns:a16="http://schemas.microsoft.com/office/drawing/2014/main" id="{2705DA7A-40F9-48D2-946C-8019421C16B7}"/>
              </a:ext>
            </a:extLst>
          </p:cNvPr>
          <p:cNvSpPr>
            <a:spLocks noGrp="1"/>
          </p:cNvSpPr>
          <p:nvPr/>
        </p:nvSpPr>
        <p:spPr>
          <a:xfrm>
            <a:off x="1400160" y="555308"/>
            <a:ext cx="257175" cy="190500"/>
          </a:xfrm>
          <a:prstGeom prst="rect">
            <a:avLst/>
          </a:prstGeom>
          <a:solidFill>
            <a:srgbClr val="EBF7FC"/>
          </a:solidFill>
          <a:ln w="4286">
            <a:solidFill>
              <a:srgbClr val="A6C5DF"/>
            </a:solidFill>
          </a:ln>
        </p:spPr>
      </p:sp>
      <p:sp>
        <p:nvSpPr>
          <p:cNvPr id="50457" name="F2-bank-channel">
            <a:extLst>
              <a:ext uri="{FF2B5EF4-FFF2-40B4-BE49-F238E27FC236}">
                <a16:creationId xmlns:a16="http://schemas.microsoft.com/office/drawing/2014/main" id="{E1B9C475-D32F-4E88-9AAA-6701AFC1AC14}"/>
              </a:ext>
            </a:extLst>
          </p:cNvPr>
          <p:cNvSpPr>
            <a:spLocks noGrp="1"/>
          </p:cNvSpPr>
          <p:nvPr/>
        </p:nvSpPr>
        <p:spPr>
          <a:xfrm>
            <a:off x="1392540" y="561975"/>
            <a:ext cx="257175" cy="190500"/>
          </a:xfrm>
          <a:prstGeom prst="rect">
            <a:avLst/>
          </a:prstGeom>
          <a:solidFill>
            <a:srgbClr val="EBF7FC"/>
          </a:solidFill>
          <a:ln w="4286">
            <a:solidFill>
              <a:srgbClr val="A6C5DF"/>
            </a:solidFill>
          </a:ln>
        </p:spPr>
      </p:sp>
      <p:sp>
        <p:nvSpPr>
          <p:cNvPr id="50458" name="F2-density-voxel">
            <a:extLst>
              <a:ext uri="{FF2B5EF4-FFF2-40B4-BE49-F238E27FC236}">
                <a16:creationId xmlns:a16="http://schemas.microsoft.com/office/drawing/2014/main" id="{A49953DB-68D8-42EB-963F-DD42F453137D}"/>
              </a:ext>
            </a:extLst>
          </p:cNvPr>
          <p:cNvSpPr>
            <a:spLocks noGrp="1"/>
          </p:cNvSpPr>
          <p:nvPr/>
        </p:nvSpPr>
        <p:spPr>
          <a:xfrm>
            <a:off x="1411590" y="571500"/>
            <a:ext cx="52388" cy="42863"/>
          </a:xfrm>
          <a:prstGeom prst="rect">
            <a:avLst/>
          </a:prstGeom>
          <a:solidFill>
            <a:srgbClr val="CCE5EE"/>
          </a:solidFill>
          <a:ln w="0">
            <a:noFill/>
          </a:ln>
        </p:spPr>
      </p:sp>
      <p:sp>
        <p:nvSpPr>
          <p:cNvPr id="50459" name="F2-density-voxel">
            <a:extLst>
              <a:ext uri="{FF2B5EF4-FFF2-40B4-BE49-F238E27FC236}">
                <a16:creationId xmlns:a16="http://schemas.microsoft.com/office/drawing/2014/main" id="{ECECDED8-7BB6-465D-90CE-1566D913C0F0}"/>
              </a:ext>
            </a:extLst>
          </p:cNvPr>
          <p:cNvSpPr>
            <a:spLocks noGrp="1"/>
          </p:cNvSpPr>
          <p:nvPr/>
        </p:nvSpPr>
        <p:spPr>
          <a:xfrm>
            <a:off x="1463978" y="571500"/>
            <a:ext cx="52388" cy="42863"/>
          </a:xfrm>
          <a:prstGeom prst="rect">
            <a:avLst/>
          </a:prstGeom>
          <a:solidFill>
            <a:srgbClr val="86C0D7"/>
          </a:solidFill>
          <a:ln w="0">
            <a:noFill/>
          </a:ln>
        </p:spPr>
      </p:sp>
      <p:sp>
        <p:nvSpPr>
          <p:cNvPr id="50460" name="F2-density-voxel">
            <a:extLst>
              <a:ext uri="{FF2B5EF4-FFF2-40B4-BE49-F238E27FC236}">
                <a16:creationId xmlns:a16="http://schemas.microsoft.com/office/drawing/2014/main" id="{49E89024-8821-43E6-B830-D5D2C6143679}"/>
              </a:ext>
            </a:extLst>
          </p:cNvPr>
          <p:cNvSpPr>
            <a:spLocks noGrp="1"/>
          </p:cNvSpPr>
          <p:nvPr/>
        </p:nvSpPr>
        <p:spPr>
          <a:xfrm>
            <a:off x="1516365" y="571500"/>
            <a:ext cx="52388" cy="42863"/>
          </a:xfrm>
          <a:prstGeom prst="rect">
            <a:avLst/>
          </a:prstGeom>
          <a:solidFill>
            <a:srgbClr val="4D9ABB"/>
          </a:solidFill>
          <a:ln w="0">
            <a:noFill/>
          </a:ln>
        </p:spPr>
      </p:sp>
      <p:sp>
        <p:nvSpPr>
          <p:cNvPr id="50461" name="F2-density-voxel">
            <a:extLst>
              <a:ext uri="{FF2B5EF4-FFF2-40B4-BE49-F238E27FC236}">
                <a16:creationId xmlns:a16="http://schemas.microsoft.com/office/drawing/2014/main" id="{3A635687-B1F5-496B-9A49-461D8BC35087}"/>
              </a:ext>
            </a:extLst>
          </p:cNvPr>
          <p:cNvSpPr>
            <a:spLocks noGrp="1"/>
          </p:cNvSpPr>
          <p:nvPr/>
        </p:nvSpPr>
        <p:spPr>
          <a:xfrm>
            <a:off x="1568753" y="571500"/>
            <a:ext cx="52388" cy="42863"/>
          </a:xfrm>
          <a:prstGeom prst="rect">
            <a:avLst/>
          </a:prstGeom>
          <a:solidFill>
            <a:srgbClr val="B6DDE7"/>
          </a:solidFill>
          <a:ln w="0">
            <a:noFill/>
          </a:ln>
        </p:spPr>
      </p:sp>
      <p:sp>
        <p:nvSpPr>
          <p:cNvPr id="50462" name="F2-density-voxel">
            <a:extLst>
              <a:ext uri="{FF2B5EF4-FFF2-40B4-BE49-F238E27FC236}">
                <a16:creationId xmlns:a16="http://schemas.microsoft.com/office/drawing/2014/main" id="{FEC54E9C-643D-4824-B955-66BA7E401A0E}"/>
              </a:ext>
            </a:extLst>
          </p:cNvPr>
          <p:cNvSpPr>
            <a:spLocks noGrp="1"/>
          </p:cNvSpPr>
          <p:nvPr/>
        </p:nvSpPr>
        <p:spPr>
          <a:xfrm>
            <a:off x="1411590" y="614363"/>
            <a:ext cx="52388" cy="42863"/>
          </a:xfrm>
          <a:prstGeom prst="rect">
            <a:avLst/>
          </a:prstGeom>
          <a:solidFill>
            <a:srgbClr val="86C0D7"/>
          </a:solidFill>
          <a:ln w="0">
            <a:noFill/>
          </a:ln>
        </p:spPr>
      </p:sp>
      <p:sp>
        <p:nvSpPr>
          <p:cNvPr id="50463" name="F2-density-voxel">
            <a:extLst>
              <a:ext uri="{FF2B5EF4-FFF2-40B4-BE49-F238E27FC236}">
                <a16:creationId xmlns:a16="http://schemas.microsoft.com/office/drawing/2014/main" id="{ED2290E5-D29A-42C8-863E-1A0B5A093DAF}"/>
              </a:ext>
            </a:extLst>
          </p:cNvPr>
          <p:cNvSpPr>
            <a:spLocks noGrp="1"/>
          </p:cNvSpPr>
          <p:nvPr/>
        </p:nvSpPr>
        <p:spPr>
          <a:xfrm>
            <a:off x="1463978" y="614363"/>
            <a:ext cx="52388" cy="42863"/>
          </a:xfrm>
          <a:prstGeom prst="rect">
            <a:avLst/>
          </a:prstGeom>
          <a:solidFill>
            <a:srgbClr val="4D9ABB"/>
          </a:solidFill>
          <a:ln w="0">
            <a:noFill/>
          </a:ln>
        </p:spPr>
      </p:sp>
      <p:sp>
        <p:nvSpPr>
          <p:cNvPr id="50464" name="F2-density-voxel">
            <a:extLst>
              <a:ext uri="{FF2B5EF4-FFF2-40B4-BE49-F238E27FC236}">
                <a16:creationId xmlns:a16="http://schemas.microsoft.com/office/drawing/2014/main" id="{C030A993-BA02-4CBF-A526-9AF795928873}"/>
              </a:ext>
            </a:extLst>
          </p:cNvPr>
          <p:cNvSpPr>
            <a:spLocks noGrp="1"/>
          </p:cNvSpPr>
          <p:nvPr/>
        </p:nvSpPr>
        <p:spPr>
          <a:xfrm>
            <a:off x="1516365" y="614363"/>
            <a:ext cx="52388" cy="42863"/>
          </a:xfrm>
          <a:prstGeom prst="rect">
            <a:avLst/>
          </a:prstGeom>
          <a:solidFill>
            <a:srgbClr val="B6DDE7"/>
          </a:solidFill>
          <a:ln w="0">
            <a:noFill/>
          </a:ln>
        </p:spPr>
      </p:sp>
      <p:sp>
        <p:nvSpPr>
          <p:cNvPr id="50465" name="F2-density-voxel">
            <a:extLst>
              <a:ext uri="{FF2B5EF4-FFF2-40B4-BE49-F238E27FC236}">
                <a16:creationId xmlns:a16="http://schemas.microsoft.com/office/drawing/2014/main" id="{EC212EF2-C0F1-41AF-B3CE-D957D17932A0}"/>
              </a:ext>
            </a:extLst>
          </p:cNvPr>
          <p:cNvSpPr>
            <a:spLocks noGrp="1"/>
          </p:cNvSpPr>
          <p:nvPr/>
        </p:nvSpPr>
        <p:spPr>
          <a:xfrm>
            <a:off x="1568753" y="614363"/>
            <a:ext cx="52388" cy="42863"/>
          </a:xfrm>
          <a:prstGeom prst="rect">
            <a:avLst/>
          </a:prstGeom>
          <a:solidFill>
            <a:srgbClr val="CCE5EE"/>
          </a:solidFill>
          <a:ln w="0">
            <a:noFill/>
          </a:ln>
        </p:spPr>
      </p:sp>
      <p:sp>
        <p:nvSpPr>
          <p:cNvPr id="50466" name="F2-density-voxel">
            <a:extLst>
              <a:ext uri="{FF2B5EF4-FFF2-40B4-BE49-F238E27FC236}">
                <a16:creationId xmlns:a16="http://schemas.microsoft.com/office/drawing/2014/main" id="{8E8D1CD2-DC81-4A69-849C-F21783FD798D}"/>
              </a:ext>
            </a:extLst>
          </p:cNvPr>
          <p:cNvSpPr>
            <a:spLocks noGrp="1"/>
          </p:cNvSpPr>
          <p:nvPr/>
        </p:nvSpPr>
        <p:spPr>
          <a:xfrm>
            <a:off x="1411590" y="657225"/>
            <a:ext cx="52388" cy="42863"/>
          </a:xfrm>
          <a:prstGeom prst="rect">
            <a:avLst/>
          </a:prstGeom>
          <a:solidFill>
            <a:srgbClr val="4D9ABB"/>
          </a:solidFill>
          <a:ln w="0">
            <a:noFill/>
          </a:ln>
        </p:spPr>
      </p:sp>
      <p:sp>
        <p:nvSpPr>
          <p:cNvPr id="50467" name="F2-density-voxel">
            <a:extLst>
              <a:ext uri="{FF2B5EF4-FFF2-40B4-BE49-F238E27FC236}">
                <a16:creationId xmlns:a16="http://schemas.microsoft.com/office/drawing/2014/main" id="{CEA7FE12-330D-4160-8BE6-769BF6A26577}"/>
              </a:ext>
            </a:extLst>
          </p:cNvPr>
          <p:cNvSpPr>
            <a:spLocks noGrp="1"/>
          </p:cNvSpPr>
          <p:nvPr/>
        </p:nvSpPr>
        <p:spPr>
          <a:xfrm>
            <a:off x="1463978" y="657225"/>
            <a:ext cx="52388" cy="42863"/>
          </a:xfrm>
          <a:prstGeom prst="rect">
            <a:avLst/>
          </a:prstGeom>
          <a:solidFill>
            <a:srgbClr val="B6DDE7"/>
          </a:solidFill>
          <a:ln w="0">
            <a:noFill/>
          </a:ln>
        </p:spPr>
      </p:sp>
      <p:sp>
        <p:nvSpPr>
          <p:cNvPr id="50468" name="F2-density-voxel">
            <a:extLst>
              <a:ext uri="{FF2B5EF4-FFF2-40B4-BE49-F238E27FC236}">
                <a16:creationId xmlns:a16="http://schemas.microsoft.com/office/drawing/2014/main" id="{BE225EBF-D266-4631-9D7E-1B21643503B4}"/>
              </a:ext>
            </a:extLst>
          </p:cNvPr>
          <p:cNvSpPr>
            <a:spLocks noGrp="1"/>
          </p:cNvSpPr>
          <p:nvPr/>
        </p:nvSpPr>
        <p:spPr>
          <a:xfrm>
            <a:off x="1516365" y="657225"/>
            <a:ext cx="52388" cy="42863"/>
          </a:xfrm>
          <a:prstGeom prst="rect">
            <a:avLst/>
          </a:prstGeom>
          <a:solidFill>
            <a:srgbClr val="CCE5EE"/>
          </a:solidFill>
          <a:ln w="0">
            <a:noFill/>
          </a:ln>
        </p:spPr>
      </p:sp>
      <p:sp>
        <p:nvSpPr>
          <p:cNvPr id="50469" name="F2-density-voxel">
            <a:extLst>
              <a:ext uri="{FF2B5EF4-FFF2-40B4-BE49-F238E27FC236}">
                <a16:creationId xmlns:a16="http://schemas.microsoft.com/office/drawing/2014/main" id="{D56EA4DF-3429-4429-A2AA-6D7C9D33B341}"/>
              </a:ext>
            </a:extLst>
          </p:cNvPr>
          <p:cNvSpPr>
            <a:spLocks noGrp="1"/>
          </p:cNvSpPr>
          <p:nvPr/>
        </p:nvSpPr>
        <p:spPr>
          <a:xfrm>
            <a:off x="1568753" y="657225"/>
            <a:ext cx="52388" cy="42863"/>
          </a:xfrm>
          <a:prstGeom prst="rect">
            <a:avLst/>
          </a:prstGeom>
          <a:solidFill>
            <a:srgbClr val="86C0D7"/>
          </a:solidFill>
          <a:ln w="0">
            <a:noFill/>
          </a:ln>
        </p:spPr>
      </p:sp>
      <p:sp>
        <p:nvSpPr>
          <p:cNvPr id="50470" name="F2-density-voxel">
            <a:extLst>
              <a:ext uri="{FF2B5EF4-FFF2-40B4-BE49-F238E27FC236}">
                <a16:creationId xmlns:a16="http://schemas.microsoft.com/office/drawing/2014/main" id="{F4CB67F8-3427-42E0-B222-3C4C5B421A28}"/>
              </a:ext>
            </a:extLst>
          </p:cNvPr>
          <p:cNvSpPr>
            <a:spLocks noGrp="1"/>
          </p:cNvSpPr>
          <p:nvPr/>
        </p:nvSpPr>
        <p:spPr>
          <a:xfrm>
            <a:off x="1411590" y="700088"/>
            <a:ext cx="52388" cy="42863"/>
          </a:xfrm>
          <a:prstGeom prst="rect">
            <a:avLst/>
          </a:prstGeom>
          <a:solidFill>
            <a:srgbClr val="B6DDE7"/>
          </a:solidFill>
          <a:ln w="0">
            <a:noFill/>
          </a:ln>
        </p:spPr>
      </p:sp>
      <p:sp>
        <p:nvSpPr>
          <p:cNvPr id="50471" name="F2-density-voxel">
            <a:extLst>
              <a:ext uri="{FF2B5EF4-FFF2-40B4-BE49-F238E27FC236}">
                <a16:creationId xmlns:a16="http://schemas.microsoft.com/office/drawing/2014/main" id="{E62F2DC6-612B-4891-B2B7-8020312C0678}"/>
              </a:ext>
            </a:extLst>
          </p:cNvPr>
          <p:cNvSpPr>
            <a:spLocks noGrp="1"/>
          </p:cNvSpPr>
          <p:nvPr/>
        </p:nvSpPr>
        <p:spPr>
          <a:xfrm>
            <a:off x="1463978" y="700088"/>
            <a:ext cx="52388" cy="42863"/>
          </a:xfrm>
          <a:prstGeom prst="rect">
            <a:avLst/>
          </a:prstGeom>
          <a:solidFill>
            <a:srgbClr val="CCE5EE"/>
          </a:solidFill>
          <a:ln w="0">
            <a:noFill/>
          </a:ln>
        </p:spPr>
      </p:sp>
      <p:sp>
        <p:nvSpPr>
          <p:cNvPr id="50472" name="F2-density-voxel">
            <a:extLst>
              <a:ext uri="{FF2B5EF4-FFF2-40B4-BE49-F238E27FC236}">
                <a16:creationId xmlns:a16="http://schemas.microsoft.com/office/drawing/2014/main" id="{3D79F01F-5243-4E3C-8AA7-EE2C8B8C7E29}"/>
              </a:ext>
            </a:extLst>
          </p:cNvPr>
          <p:cNvSpPr>
            <a:spLocks noGrp="1"/>
          </p:cNvSpPr>
          <p:nvPr/>
        </p:nvSpPr>
        <p:spPr>
          <a:xfrm>
            <a:off x="1516365" y="700088"/>
            <a:ext cx="52388" cy="42863"/>
          </a:xfrm>
          <a:prstGeom prst="rect">
            <a:avLst/>
          </a:prstGeom>
          <a:solidFill>
            <a:srgbClr val="86C0D7"/>
          </a:solidFill>
          <a:ln w="0">
            <a:noFill/>
          </a:ln>
        </p:spPr>
      </p:sp>
      <p:sp>
        <p:nvSpPr>
          <p:cNvPr id="50473" name="F2-density-voxel">
            <a:extLst>
              <a:ext uri="{FF2B5EF4-FFF2-40B4-BE49-F238E27FC236}">
                <a16:creationId xmlns:a16="http://schemas.microsoft.com/office/drawing/2014/main" id="{7F5BC88D-76D1-4A24-B998-8BD41F9AADDB}"/>
              </a:ext>
            </a:extLst>
          </p:cNvPr>
          <p:cNvSpPr>
            <a:spLocks noGrp="1"/>
          </p:cNvSpPr>
          <p:nvPr/>
        </p:nvSpPr>
        <p:spPr>
          <a:xfrm>
            <a:off x="1568753" y="700088"/>
            <a:ext cx="52388" cy="42863"/>
          </a:xfrm>
          <a:prstGeom prst="rect">
            <a:avLst/>
          </a:prstGeom>
          <a:solidFill>
            <a:srgbClr val="4D9ABB"/>
          </a:solidFill>
          <a:ln w="0">
            <a:noFill/>
          </a:ln>
        </p:spPr>
      </p:sp>
      <p:sp>
        <p:nvSpPr>
          <p:cNvPr id="50474" name="F2-spatial-transform">
            <a:extLst>
              <a:ext uri="{FF2B5EF4-FFF2-40B4-BE49-F238E27FC236}">
                <a16:creationId xmlns:a16="http://schemas.microsoft.com/office/drawing/2014/main" id="{A85283F8-9FE2-48A1-8429-5356F2D370E2}"/>
              </a:ext>
            </a:extLst>
          </p:cNvPr>
          <p:cNvSpPr>
            <a:spLocks noGrp="1"/>
          </p:cNvSpPr>
          <p:nvPr/>
        </p:nvSpPr>
        <p:spPr>
          <a:xfrm>
            <a:off x="981877" y="549713"/>
            <a:ext cx="376238"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sz="460" b="0" dirty="0">
                <a:solidFill>
                  <a:srgbClr val="263442"/>
                </a:solidFill>
                <a:latin typeface="Arial"/>
                <a:ea typeface="Arial"/>
                <a:cs typeface="Arial"/>
              </a:rPr>
              <a:t>Spatial</a:t>
            </a:r>
          </a:p>
          <a:p>
            <a:pPr algn="ctr">
              <a:defRPr sz="540" b="0">
                <a:solidFill>
                  <a:srgbClr val="263442"/>
                </a:solidFill>
                <a:latin typeface="Arial"/>
                <a:ea typeface="Arial"/>
                <a:cs typeface="Arial"/>
              </a:defRPr>
            </a:pPr>
            <a:r>
              <a:rPr sz="460" b="0" dirty="0">
                <a:solidFill>
                  <a:srgbClr val="263442"/>
                </a:solidFill>
                <a:latin typeface="Arial"/>
                <a:ea typeface="Arial"/>
                <a:cs typeface="Arial"/>
              </a:rPr>
              <a:t>transform</a:t>
            </a:r>
          </a:p>
        </p:txBody>
      </p:sp>
      <p:sp>
        <p:nvSpPr>
          <p:cNvPr id="50475" name="F2-atom-embeddings-input">
            <a:extLst>
              <a:ext uri="{FF2B5EF4-FFF2-40B4-BE49-F238E27FC236}">
                <a16:creationId xmlns:a16="http://schemas.microsoft.com/office/drawing/2014/main" id="{0B4B93C5-B055-4ECE-8D5F-9FD8F9F29D6A}"/>
              </a:ext>
            </a:extLst>
          </p:cNvPr>
          <p:cNvSpPr>
            <a:spLocks noGrp="1"/>
          </p:cNvSpPr>
          <p:nvPr/>
        </p:nvSpPr>
        <p:spPr>
          <a:xfrm>
            <a:off x="1010565" y="1287494"/>
            <a:ext cx="327329"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lang="en-US" sz="460" b="0" dirty="0">
                <a:solidFill>
                  <a:srgbClr val="263442"/>
                </a:solidFill>
                <a:latin typeface="Arial"/>
                <a:ea typeface="Arial"/>
                <a:cs typeface="Arial"/>
              </a:rPr>
              <a:t>E</a:t>
            </a:r>
            <a:r>
              <a:rPr sz="460" b="0" dirty="0">
                <a:solidFill>
                  <a:srgbClr val="263442"/>
                </a:solidFill>
                <a:latin typeface="Arial"/>
                <a:ea typeface="Arial"/>
                <a:cs typeface="Arial"/>
              </a:rPr>
              <a:t>mbedding</a:t>
            </a:r>
            <a:endParaRPr lang="en-US" sz="460" b="0" dirty="0">
              <a:solidFill>
                <a:srgbClr val="263442"/>
              </a:solidFill>
              <a:latin typeface="Arial"/>
              <a:ea typeface="Arial"/>
              <a:cs typeface="Arial"/>
            </a:endParaRPr>
          </a:p>
          <a:p>
            <a:pPr algn="ctr">
              <a:defRPr sz="540" b="0">
                <a:solidFill>
                  <a:srgbClr val="263442"/>
                </a:solidFill>
                <a:latin typeface="Arial"/>
                <a:ea typeface="Arial"/>
                <a:cs typeface="Arial"/>
              </a:defRPr>
            </a:pPr>
            <a:r>
              <a:rPr lang="en-US" altLang="zh-CN" sz="460" b="0" dirty="0">
                <a:solidFill>
                  <a:srgbClr val="263442"/>
                </a:solidFill>
                <a:latin typeface="Arial"/>
                <a:ea typeface="Arial"/>
                <a:cs typeface="Arial"/>
              </a:rPr>
              <a:t>head</a:t>
            </a:r>
            <a:endParaRPr sz="460" b="0" dirty="0">
              <a:solidFill>
                <a:srgbClr val="263442"/>
              </a:solidFill>
              <a:latin typeface="Arial"/>
              <a:ea typeface="Arial"/>
              <a:cs typeface="Arial"/>
            </a:endParaRPr>
          </a:p>
        </p:txBody>
      </p:sp>
      <p:pic>
        <p:nvPicPr>
          <p:cNvPr id="50482" name="图片 50481">
            <a:extLst>
              <a:ext uri="{FF2B5EF4-FFF2-40B4-BE49-F238E27FC236}">
                <a16:creationId xmlns:a16="http://schemas.microsoft.com/office/drawing/2014/main" id="{CC697937-E8CE-4EDF-BB17-1FEA96E39283}"/>
              </a:ext>
            </a:extLst>
          </p:cNvPr>
          <p:cNvPicPr>
            <a:picLocks noChangeAspect="1"/>
          </p:cNvPicPr>
          <p:nvPr/>
        </p:nvPicPr>
        <p:blipFill>
          <a:blip r:embed="rId8"/>
          <a:stretch/>
        </p:blipFill>
        <p:spPr>
          <a:xfrm>
            <a:off x="586641" y="2943948"/>
            <a:ext cx="414760" cy="342900"/>
          </a:xfrm>
          <a:prstGeom prst="rect">
            <a:avLst/>
          </a:prstGeom>
        </p:spPr>
      </p:pic>
      <p:grpSp>
        <p:nvGrpSpPr>
          <p:cNvPr id="50493" name="Find preview 15"/>
          <p:cNvGrpSpPr/>
          <p:nvPr/>
        </p:nvGrpSpPr>
        <p:grpSpPr>
          <a:xfrm>
            <a:off x="582671" y="471488"/>
            <a:ext cx="404812" cy="395288"/>
            <a:chOff x="511635" y="471488"/>
            <a:chExt cx="404812" cy="395288"/>
          </a:xfrm>
        </p:grpSpPr>
        <p:pic>
          <p:nvPicPr>
            <p:cNvPr id="1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8CF1199C-6488-C5B6-B489-1131732B4FBF}"/>
                </a:ext>
              </a:extLst>
            </p:cNvPr>
            <p:cNvPicPr/>
            <p:nvPr/>
          </p:nvPicPr>
          <p:blipFill>
            <a:blip r:embed="rId4"/>
            <a:stretch>
              <a:fillRect/>
            </a:stretch>
          </p:blipFill>
          <p:spPr>
            <a:xfrm>
              <a:off x="511635" y="475859"/>
              <a:ext cx="404812" cy="386544"/>
            </a:xfrm>
            <a:prstGeom prst="rect">
              <a:avLst/>
            </a:prstGeom>
          </p:spPr>
        </p:pic>
        <p:sp>
          <p:nvSpPr>
            <p:cNvPr id="50476" name="crop-cube">
              <a:extLst>
                <a:ext uri="{FF2B5EF4-FFF2-40B4-BE49-F238E27FC236}">
                  <a16:creationId xmlns:a16="http://schemas.microsoft.com/office/drawing/2014/main" id="{25839399-079E-4307-9725-E085483F7FD6}"/>
                </a:ext>
              </a:extLst>
            </p:cNvPr>
            <p:cNvSpPr>
              <a:spLocks noGrp="1"/>
            </p:cNvSpPr>
            <p:nvPr/>
          </p:nvSpPr>
          <p:spPr>
            <a:xfrm>
              <a:off x="700088" y="626745"/>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477" name="crop-cube">
              <a:extLst>
                <a:ext uri="{FF2B5EF4-FFF2-40B4-BE49-F238E27FC236}">
                  <a16:creationId xmlns:a16="http://schemas.microsoft.com/office/drawing/2014/main" id="{07D86F79-577D-4116-BDEA-F38D19D792BA}"/>
                </a:ext>
              </a:extLst>
            </p:cNvPr>
            <p:cNvSpPr>
              <a:spLocks noGrp="1"/>
            </p:cNvSpPr>
            <p:nvPr/>
          </p:nvSpPr>
          <p:spPr>
            <a:xfrm>
              <a:off x="788194" y="626745"/>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478" name="F2-density-crop-size">
              <a:extLst>
                <a:ext uri="{FF2B5EF4-FFF2-40B4-BE49-F238E27FC236}">
                  <a16:creationId xmlns:a16="http://schemas.microsoft.com/office/drawing/2014/main" id="{9B6ECDDF-4CA0-44BE-83B1-7FF800ECF209}"/>
                </a:ext>
              </a:extLst>
            </p:cNvPr>
            <p:cNvSpPr>
              <a:spLocks noGrp="1"/>
            </p:cNvSpPr>
            <p:nvPr/>
          </p:nvSpPr>
          <p:spPr>
            <a:xfrm>
              <a:off x="640556" y="766763"/>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494" name="Find preview 1435"/>
          <p:cNvGrpSpPr/>
          <p:nvPr/>
        </p:nvGrpSpPr>
        <p:grpSpPr>
          <a:xfrm>
            <a:off x="582671" y="1252538"/>
            <a:ext cx="404812" cy="395288"/>
            <a:chOff x="511635" y="1252538"/>
            <a:chExt cx="404812" cy="395288"/>
          </a:xfrm>
        </p:grpSpPr>
        <p:pic>
          <p:nvPicPr>
            <p:cNvPr id="1435" name="Find clear receptor" descr="Receptor cartoon rendered from unchanged local coordinates, chain C1 of the 9LLG CA2 model.">
              <a:extLst>
                <a:ext uri="{FF2B5EF4-FFF2-40B4-BE49-F238E27FC236}">
                  <a16:creationId xmlns:a16="http://schemas.microsoft.com/office/drawing/2014/main" id="{24C88AB2-5918-0F4D-EDE6-0D89FC02F100}"/>
                </a:ext>
              </a:extLst>
            </p:cNvPr>
            <p:cNvPicPr/>
            <p:nvPr/>
          </p:nvPicPr>
          <p:blipFill>
            <a:blip r:embed="rId7"/>
            <a:srcRect l="16857" t="30389" r="19786" b="22500"/>
            <a:stretch>
              <a:fillRect/>
            </a:stretch>
          </p:blipFill>
          <p:spPr>
            <a:xfrm>
              <a:off x="511635" y="1256674"/>
              <a:ext cx="404812" cy="387014"/>
            </a:xfrm>
            <a:prstGeom prst="rect">
              <a:avLst/>
            </a:prstGeom>
          </p:spPr>
        </p:pic>
        <p:sp>
          <p:nvSpPr>
            <p:cNvPr id="50479" name="crop-cube">
              <a:extLst>
                <a:ext uri="{FF2B5EF4-FFF2-40B4-BE49-F238E27FC236}">
                  <a16:creationId xmlns:a16="http://schemas.microsoft.com/office/drawing/2014/main" id="{B083B324-58BF-4271-92CE-6A3DCE5DBE53}"/>
                </a:ext>
              </a:extLst>
            </p:cNvPr>
            <p:cNvSpPr>
              <a:spLocks noGrp="1"/>
            </p:cNvSpPr>
            <p:nvPr/>
          </p:nvSpPr>
          <p:spPr>
            <a:xfrm>
              <a:off x="700088" y="1404938"/>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480" name="crop-cube">
              <a:extLst>
                <a:ext uri="{FF2B5EF4-FFF2-40B4-BE49-F238E27FC236}">
                  <a16:creationId xmlns:a16="http://schemas.microsoft.com/office/drawing/2014/main" id="{0E8C65BE-9745-4184-B8B7-6FD5E9341DBD}"/>
                </a:ext>
              </a:extLst>
            </p:cNvPr>
            <p:cNvSpPr>
              <a:spLocks noGrp="1"/>
            </p:cNvSpPr>
            <p:nvPr/>
          </p:nvSpPr>
          <p:spPr>
            <a:xfrm>
              <a:off x="788194" y="1404938"/>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481" name="F2-receptor-crop-size">
              <a:extLst>
                <a:ext uri="{FF2B5EF4-FFF2-40B4-BE49-F238E27FC236}">
                  <a16:creationId xmlns:a16="http://schemas.microsoft.com/office/drawing/2014/main" id="{11CB5595-3267-408D-9A25-39E3920D0458}"/>
                </a:ext>
              </a:extLst>
            </p:cNvPr>
            <p:cNvSpPr>
              <a:spLocks noGrp="1"/>
            </p:cNvSpPr>
            <p:nvPr/>
          </p:nvSpPr>
          <p:spPr>
            <a:xfrm>
              <a:off x="640556" y="1544955"/>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495" name="Find preview 25"/>
          <p:cNvGrpSpPr/>
          <p:nvPr/>
        </p:nvGrpSpPr>
        <p:grpSpPr>
          <a:xfrm>
            <a:off x="4319205" y="499672"/>
            <a:ext cx="404812" cy="386544"/>
            <a:chOff x="4349067" y="499672"/>
            <a:chExt cx="404812" cy="386544"/>
          </a:xfrm>
        </p:grpSpPr>
        <p:pic>
          <p:nvPicPr>
            <p:cNvPr id="2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E01FAF0F-7383-AEC3-8192-CE781D4C8B97}"/>
                </a:ext>
              </a:extLst>
            </p:cNvPr>
            <p:cNvPicPr/>
            <p:nvPr/>
          </p:nvPicPr>
          <p:blipFill>
            <a:blip r:embed="rId4"/>
            <a:stretch>
              <a:fillRect/>
            </a:stretch>
          </p:blipFill>
          <p:spPr>
            <a:xfrm>
              <a:off x="4349067" y="499672"/>
              <a:ext cx="404812" cy="386544"/>
            </a:xfrm>
            <a:prstGeom prst="rect">
              <a:avLst/>
            </a:prstGeom>
          </p:spPr>
        </p:pic>
        <p:grpSp>
          <p:nvGrpSpPr>
            <p:cNvPr id="50437" name="Global copy of blob 758">
              <a:extLst>
                <a:ext uri="{FF2B5EF4-FFF2-40B4-BE49-F238E27FC236}">
                  <a16:creationId xmlns:a16="http://schemas.microsoft.com/office/drawing/2014/main" id="{00C0C92B-D4C8-0994-E860-1581EB873D86}"/>
                </a:ext>
              </a:extLst>
            </p:cNvPr>
            <p:cNvGrpSpPr/>
            <p:nvPr/>
          </p:nvGrpSpPr>
          <p:grpSpPr>
            <a:xfrm>
              <a:off x="4445066" y="623158"/>
              <a:ext cx="92055" cy="24054"/>
              <a:chOff x="1980855" y="3559489"/>
              <a:chExt cx="493446" cy="155682"/>
            </a:xfrm>
          </p:grpSpPr>
          <p:sp>
            <p:nvSpPr>
              <p:cNvPr id="50438" name="Candidate blob | editable contour">
                <a:extLst>
                  <a:ext uri="{FF2B5EF4-FFF2-40B4-BE49-F238E27FC236}">
                    <a16:creationId xmlns:a16="http://schemas.microsoft.com/office/drawing/2014/main" id="{A172A8B3-EFA3-33C9-CD2B-307B24D7293D}"/>
                  </a:ext>
                </a:extLst>
              </p:cNvPr>
              <p:cNvSpPr/>
              <p:nvPr/>
            </p:nvSpPr>
            <p:spPr>
              <a:xfrm>
                <a:off x="2246406" y="3559489"/>
                <a:ext cx="227895"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50439" name="ellipse_2612">
                <a:extLst>
                  <a:ext uri="{FF2B5EF4-FFF2-40B4-BE49-F238E27FC236}">
                    <a16:creationId xmlns:a16="http://schemas.microsoft.com/office/drawing/2014/main" id="{CF37E813-914E-4383-9CE9-1C5F4095124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50442" name="ellipse_2612">
              <a:extLst>
                <a:ext uri="{FF2B5EF4-FFF2-40B4-BE49-F238E27FC236}">
                  <a16:creationId xmlns:a16="http://schemas.microsoft.com/office/drawing/2014/main" id="{899D545A-9188-B8A5-5122-F55763321954}"/>
                </a:ext>
              </a:extLst>
            </p:cNvPr>
            <p:cNvSpPr/>
            <p:nvPr/>
          </p:nvSpPr>
          <p:spPr>
            <a:xfrm rot="3197729">
              <a:off x="4608138" y="649456"/>
              <a:ext cx="10571" cy="3071"/>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0445" name="ellipse_2612">
              <a:extLst>
                <a:ext uri="{FF2B5EF4-FFF2-40B4-BE49-F238E27FC236}">
                  <a16:creationId xmlns:a16="http://schemas.microsoft.com/office/drawing/2014/main" id="{85D74281-2FE6-E2D2-EFBA-AF54A45686E3}"/>
                </a:ext>
              </a:extLst>
            </p:cNvPr>
            <p:cNvSpPr/>
            <p:nvPr/>
          </p:nvSpPr>
          <p:spPr>
            <a:xfrm>
              <a:off x="4430816" y="761249"/>
              <a:ext cx="9540" cy="2671"/>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0448" name="ellipse_2612">
              <a:extLst>
                <a:ext uri="{FF2B5EF4-FFF2-40B4-BE49-F238E27FC236}">
                  <a16:creationId xmlns:a16="http://schemas.microsoft.com/office/drawing/2014/main" id="{901C6437-E94C-AFDE-D242-E688A89ABBDB}"/>
                </a:ext>
              </a:extLst>
            </p:cNvPr>
            <p:cNvSpPr/>
            <p:nvPr/>
          </p:nvSpPr>
          <p:spPr>
            <a:xfrm>
              <a:off x="4542383" y="798587"/>
              <a:ext cx="9428" cy="3307"/>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29" name="V8 density and receptor to voxel">
            <a:extLst>
              <a:ext uri="{FF2B5EF4-FFF2-40B4-BE49-F238E27FC236}">
                <a16:creationId xmlns:a16="http://schemas.microsoft.com/office/drawing/2014/main" id="{6CB6A47B-4EF1-2B06-7255-E23CEE529CCF}"/>
              </a:ext>
            </a:extLst>
          </p:cNvPr>
          <p:cNvSpPr/>
          <p:nvPr/>
        </p:nvSpPr>
        <p:spPr>
          <a:xfrm flipV="1">
            <a:off x="1834335" y="790091"/>
            <a:ext cx="77018" cy="45719"/>
          </a:xfrm>
          <a:custGeom>
            <a:avLst/>
            <a:gdLst/>
            <a:ahLst/>
            <a:cxnLst/>
            <a:rect l="l" t="t" r="r" b="b"/>
            <a:pathLst>
              <a:path w="96730" h="1">
                <a:moveTo>
                  <a:pt x="0" y="0"/>
                </a:moveTo>
                <a:lnTo>
                  <a:pt x="96730" y="0"/>
                </a:lnTo>
              </a:path>
            </a:pathLst>
          </a:custGeom>
          <a:noFill/>
          <a:ln w="8509" cap="rnd">
            <a:solidFill>
              <a:srgbClr val="77828C"/>
            </a:solidFill>
            <a:prstDash val="solid"/>
            <a:round/>
          </a:ln>
        </p:spPr>
      </p:sp>
      <p:sp>
        <p:nvSpPr>
          <p:cNvPr id="31" name="V8 density and receptor to voxel head">
            <a:extLst>
              <a:ext uri="{FF2B5EF4-FFF2-40B4-BE49-F238E27FC236}">
                <a16:creationId xmlns:a16="http://schemas.microsoft.com/office/drawing/2014/main" id="{DF62D5B1-80E9-3975-FF99-0CA56F3741F9}"/>
              </a:ext>
            </a:extLst>
          </p:cNvPr>
          <p:cNvSpPr/>
          <p:nvPr/>
        </p:nvSpPr>
        <p:spPr>
          <a:xfrm>
            <a:off x="1905255" y="822853"/>
            <a:ext cx="28321" cy="24384"/>
          </a:xfrm>
          <a:custGeom>
            <a:avLst/>
            <a:gdLst/>
            <a:ahLst/>
            <a:cxnLst/>
            <a:rect l="l" t="t" r="r" b="b"/>
            <a:pathLst>
              <a:path w="28321" h="24384">
                <a:moveTo>
                  <a:pt x="28321" y="12192"/>
                </a:moveTo>
                <a:lnTo>
                  <a:pt x="0" y="0"/>
                </a:lnTo>
                <a:lnTo>
                  <a:pt x="0" y="24384"/>
                </a:lnTo>
                <a:close/>
              </a:path>
            </a:pathLst>
          </a:custGeom>
          <a:solidFill>
            <a:srgbClr val="77828C"/>
          </a:solidFill>
          <a:ln w="0" cap="rnd">
            <a:noFill/>
          </a:ln>
        </p:spPr>
      </p:sp>
      <p:sp>
        <p:nvSpPr>
          <p:cNvPr id="34" name="文本框 33">
            <a:extLst>
              <a:ext uri="{FF2B5EF4-FFF2-40B4-BE49-F238E27FC236}">
                <a16:creationId xmlns:a16="http://schemas.microsoft.com/office/drawing/2014/main" id="{04021CE7-7079-B8B1-FE1F-2395F0A6A9F4}"/>
              </a:ext>
            </a:extLst>
          </p:cNvPr>
          <p:cNvSpPr txBox="1"/>
          <p:nvPr/>
        </p:nvSpPr>
        <p:spPr>
          <a:xfrm>
            <a:off x="2776387" y="1439947"/>
            <a:ext cx="502061" cy="197618"/>
          </a:xfrm>
          <a:prstGeom prst="rect">
            <a:avLst/>
          </a:prstGeom>
          <a:noFill/>
        </p:spPr>
        <p:txBody>
          <a:bodyPr wrap="none" rtlCol="0">
            <a:spAutoFit/>
          </a:bodyPr>
          <a:lstStyle/>
          <a:p>
            <a:pPr algn="ctr">
              <a:lnSpc>
                <a:spcPct val="105000"/>
              </a:lnSpc>
            </a:pPr>
            <a:r>
              <a:rPr lang="en-US" altLang="zh-CN" sz="650" i="1" dirty="0">
                <a:solidFill>
                  <a:srgbClr val="263442"/>
                </a:solidFill>
                <a:latin typeface="Arial"/>
              </a:rPr>
              <a:t>Recycle</a:t>
            </a:r>
          </a:p>
        </p:txBody>
      </p:sp>
      <p:grpSp>
        <p:nvGrpSpPr>
          <p:cNvPr id="21" name="Find candidate blob 2">
            <a:extLst>
              <a:ext uri="{FF2B5EF4-FFF2-40B4-BE49-F238E27FC236}">
                <a16:creationId xmlns:a16="http://schemas.microsoft.com/office/drawing/2014/main" id="{7CF4B83B-CE40-0943-83BF-857F63F584FC}"/>
              </a:ext>
            </a:extLst>
          </p:cNvPr>
          <p:cNvGrpSpPr/>
          <p:nvPr/>
        </p:nvGrpSpPr>
        <p:grpSpPr>
          <a:xfrm rot="3197729">
            <a:off x="4586768" y="633066"/>
            <a:ext cx="35227" cy="29704"/>
            <a:chOff x="1928706" y="3559489"/>
            <a:chExt cx="227897" cy="155682"/>
          </a:xfrm>
        </p:grpSpPr>
        <p:sp>
          <p:nvSpPr>
            <p:cNvPr id="23" name="Candidate blob | editable contour">
              <a:extLst>
                <a:ext uri="{FF2B5EF4-FFF2-40B4-BE49-F238E27FC236}">
                  <a16:creationId xmlns:a16="http://schemas.microsoft.com/office/drawing/2014/main" id="{0EF5C813-7F44-77DD-67FE-EE476608E03B}"/>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28" name="ellipse_2612">
              <a:extLst>
                <a:ext uri="{FF2B5EF4-FFF2-40B4-BE49-F238E27FC236}">
                  <a16:creationId xmlns:a16="http://schemas.microsoft.com/office/drawing/2014/main" id="{F5FA3B82-7CD0-DDDF-A968-EC80FAC5CC54}"/>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30" name="Find candidate blob 3">
            <a:extLst>
              <a:ext uri="{FF2B5EF4-FFF2-40B4-BE49-F238E27FC236}">
                <a16:creationId xmlns:a16="http://schemas.microsoft.com/office/drawing/2014/main" id="{7DFC79E6-A537-A8EE-9E23-73695EEDEA87}"/>
              </a:ext>
            </a:extLst>
          </p:cNvPr>
          <p:cNvGrpSpPr/>
          <p:nvPr/>
        </p:nvGrpSpPr>
        <p:grpSpPr>
          <a:xfrm rot="364243">
            <a:off x="4504977" y="709850"/>
            <a:ext cx="31915" cy="32299"/>
            <a:chOff x="1928706" y="3559489"/>
            <a:chExt cx="227897" cy="155682"/>
          </a:xfrm>
        </p:grpSpPr>
        <p:sp>
          <p:nvSpPr>
            <p:cNvPr id="32" name="Candidate blob | editable contour">
              <a:extLst>
                <a:ext uri="{FF2B5EF4-FFF2-40B4-BE49-F238E27FC236}">
                  <a16:creationId xmlns:a16="http://schemas.microsoft.com/office/drawing/2014/main" id="{EF3C7BE5-312A-39EB-D945-E725D09FC5CF}"/>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33" name="ellipse_2612">
              <a:extLst>
                <a:ext uri="{FF2B5EF4-FFF2-40B4-BE49-F238E27FC236}">
                  <a16:creationId xmlns:a16="http://schemas.microsoft.com/office/drawing/2014/main" id="{0A4821A8-67B8-19F4-30E2-0FE8715E5DA6}"/>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38" name="Find candidate blob 1">
            <a:extLst>
              <a:ext uri="{FF2B5EF4-FFF2-40B4-BE49-F238E27FC236}">
                <a16:creationId xmlns:a16="http://schemas.microsoft.com/office/drawing/2014/main" id="{D9521CD7-F7FB-7490-A23A-67B39E4FD95D}"/>
              </a:ext>
            </a:extLst>
          </p:cNvPr>
          <p:cNvGrpSpPr/>
          <p:nvPr/>
        </p:nvGrpSpPr>
        <p:grpSpPr>
          <a:xfrm>
            <a:off x="4398123" y="745957"/>
            <a:ext cx="40973" cy="27988"/>
            <a:chOff x="1928706" y="3559489"/>
            <a:chExt cx="227897" cy="155682"/>
          </a:xfrm>
        </p:grpSpPr>
        <p:sp>
          <p:nvSpPr>
            <p:cNvPr id="39" name="Candidate blob | editable contour">
              <a:extLst>
                <a:ext uri="{FF2B5EF4-FFF2-40B4-BE49-F238E27FC236}">
                  <a16:creationId xmlns:a16="http://schemas.microsoft.com/office/drawing/2014/main" id="{B913F94B-9211-6007-A9F1-AA1E18C1D543}"/>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40" name="ellipse_2612">
              <a:extLst>
                <a:ext uri="{FF2B5EF4-FFF2-40B4-BE49-F238E27FC236}">
                  <a16:creationId xmlns:a16="http://schemas.microsoft.com/office/drawing/2014/main" id="{D504CB61-AEF5-1C11-4CCF-573A1133E2A9}"/>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Tree>
    <p:extLst>
      <p:ext uri="{BB962C8B-B14F-4D97-AF65-F5344CB8AC3E}">
        <p14:creationId xmlns:p14="http://schemas.microsoft.com/office/powerpoint/2010/main" val="3734909944"/>
      </p:ext>
    </p:extLst>
  </p:cSld>
  <p:clrMapOvr>
    <a:masterClrMapping/>
  </p:clrMapOvr>
  <p:extLst>
    <p:ext uri="{6950BFC3-D8DA-4A85-94F7-54DA5524770B}">
      <p188:commentRel xmlns:p188="http://schemas.microsoft.com/office/powerpoint/2018/8/main" r:id="rId3"/>
    </p:ext>
  </p:extLst>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824</TotalTime>
  <Words>4747</Words>
  <Application>Microsoft Office PowerPoint</Application>
  <DocSecurity>0</DocSecurity>
  <PresentationFormat>自定义</PresentationFormat>
  <Paragraphs>971</Paragraphs>
  <Slides>11</Slides>
  <Notes>11</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11</vt:i4>
      </vt:variant>
    </vt:vector>
  </HeadingPairs>
  <TitlesOfParts>
    <vt:vector size="15" baseType="lpstr">
      <vt:lpstr>Arial</vt:lpstr>
      <vt:lpstr>Calibri</vt:lpstr>
      <vt:lpstr>Times New Roman</vt:lpstr>
      <vt:lpstr>ChatGPT</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Hongen Peng</cp:lastModifiedBy>
  <cp:revision>173</cp:revision>
  <dcterms:created xsi:type="dcterms:W3CDTF">2026-10-01T15:00:20Z</dcterms:created>
  <dcterms:modified xsi:type="dcterms:W3CDTF">2026-10-28T11:46:38Z</dcterms:modified>
</cp:coreProperties>
</file>