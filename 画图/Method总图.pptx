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51F486E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073" autoAdjust="0"/>
  </p:normalViewPr>
  <p:slideViewPr>
    <p:cSldViewPr snapToGrid="0">
      <p:cViewPr>
        <p:scale>
          <a:sx n="150" d="100"/>
          <a:sy n="150" d="100"/>
        </p:scale>
        <p:origin x="200" y="112"/>
      </p:cViewPr>
      <p:guideLst/>
    </p:cSldViewPr>
  </p:slideViewPr>
  <p:notesTextViewPr>
    <p:cViewPr>
      <p:scale>
        <a:sx n="1" d="1"/>
        <a:sy n="1" d="1"/>
      </p:scale>
      <p:origin x="0" y="-123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51F486EC.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and pseudo-atom 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dirty="0"/>
              <a:t>图 6｜Find–Match–Build 的网络结构与信息流。</a:t>
            </a:r>
          </a:p>
          <a:p>
            <a:r>
              <a:rPr lang="zh-CN" dirty="0"/>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dirty="0"/>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dirty="0"/>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dirty="0"/>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pPr marL="0" algn="l" defTabSz="914400" rtl="0" eaLnBrk="1" latinLnBrk="0" hangingPunct="1"/>
            <a:r>
              <a:rPr lang="zh-CN" altLang="en-US" sz="1200" kern="1200" dirty="0"/>
              <a:t>图 </a:t>
            </a:r>
            <a:r>
              <a:rPr lang="en-US" altLang="zh-CN" sz="1200" kern="1200" dirty="0"/>
              <a:t>6</a:t>
            </a:r>
            <a:r>
              <a:rPr lang="zh-CN" altLang="en-US" sz="1200" kern="1200" dirty="0"/>
              <a:t>｜</a:t>
            </a:r>
            <a:r>
              <a:rPr lang="en-US" altLang="zh-CN" sz="1200" kern="1200" dirty="0"/>
              <a:t>Find–Match–Build </a:t>
            </a:r>
            <a:r>
              <a:rPr lang="zh-CN" altLang="en-US" sz="1200" kern="1200" dirty="0"/>
              <a:t>框架的网络架构与数据流。</a:t>
            </a:r>
          </a:p>
          <a:p>
            <a:pPr marL="0" algn="l" defTabSz="914400" rtl="0" eaLnBrk="1" latinLnBrk="0" hangingPunct="1"/>
            <a:endParaRPr lang="zh-CN" altLang="en-US" sz="1200" kern="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t>a</a:t>
            </a:r>
            <a:r>
              <a:rPr lang="zh-CN" altLang="en-US" sz="1200" kern="1200" dirty="0"/>
              <a:t>，共享输入表示。密度信息首先表示为实验冷冻电镜密度 </a:t>
            </a:r>
            <a:r>
              <a:rPr lang="en-US" altLang="zh-CN" sz="1200" kern="1200" dirty="0" err="1"/>
              <a:t>M_exp</a:t>
            </a:r>
            <a:r>
              <a:rPr lang="zh-CN" altLang="en-US" sz="1200" kern="1200" dirty="0"/>
              <a:t>、受体结构模拟密度 </a:t>
            </a:r>
            <a:r>
              <a:rPr lang="en-US" altLang="zh-CN" sz="1200" kern="1200" dirty="0" err="1"/>
              <a:t>M_sim</a:t>
            </a:r>
            <a:r>
              <a:rPr lang="zh-CN" altLang="en-US" sz="1200" kern="1200" dirty="0"/>
              <a:t>、差密度 </a:t>
            </a:r>
            <a:r>
              <a:rPr lang="en-US" altLang="zh-CN" sz="1200" kern="1200" dirty="0" err="1"/>
              <a:t>M_diff</a:t>
            </a:r>
            <a:r>
              <a:rPr lang="en-US" altLang="zh-CN" sz="1200" kern="1200" dirty="0"/>
              <a:t> </a:t>
            </a:r>
            <a:r>
              <a:rPr lang="zh-CN" altLang="en-US" sz="1200" kern="1200" dirty="0"/>
              <a:t>以及正差密度 </a:t>
            </a:r>
            <a:r>
              <a:rPr lang="en-US" altLang="zh-CN" sz="1200" kern="1200" dirty="0" err="1"/>
              <a:t>M_diff</a:t>
            </a:r>
            <a:r>
              <a:rPr lang="en-US" altLang="zh-CN" sz="1200" kern="1200" dirty="0"/>
              <a:t>⁺ </a:t>
            </a:r>
            <a:r>
              <a:rPr lang="zh-CN" altLang="en-US" sz="1200" kern="1200" dirty="0"/>
              <a:t>四个基础密度场。各密度场</a:t>
            </a:r>
            <a:r>
              <a:rPr lang="zh-CN" altLang="en-US" sz="1200" b="0" kern="1200" dirty="0">
                <a:effectLst/>
              </a:rPr>
              <a:t>同</a:t>
            </a:r>
            <a:r>
              <a:rPr lang="zh-CN" altLang="zh-CN" sz="1200" b="0" kern="1200" dirty="0">
                <a:effectLst/>
              </a:rPr>
              <a:t>时保留未归一化表示和 Z-score 归一化表示</a:t>
            </a:r>
            <a:r>
              <a:rPr lang="zh-CN" altLang="en-US" sz="1200" kern="1200" dirty="0"/>
              <a:t>，并结合恒等映射、三维高斯平滑、差分高斯（</a:t>
            </a:r>
            <a:r>
              <a:rPr lang="en-US" altLang="zh-CN" sz="1200" kern="1200" dirty="0" err="1"/>
              <a:t>DoG</a:t>
            </a:r>
            <a:r>
              <a:rPr lang="zh-CN" altLang="en-US" sz="1200" kern="1200" dirty="0"/>
              <a:t>）滤波与受体邻域抑制等七种确定性空间变换，构建出覆盖多尺度几何与局部背景的 </a:t>
            </a:r>
            <a:r>
              <a:rPr lang="en-US" altLang="zh-CN" sz="1200" kern="1200" dirty="0"/>
              <a:t>56 </a:t>
            </a:r>
            <a:r>
              <a:rPr lang="zh-CN" altLang="en-US" sz="1200" kern="1200" dirty="0"/>
              <a:t>通道密度通道库。受体原子（蛋白质与核酸）统一采用 </a:t>
            </a:r>
            <a:r>
              <a:rPr lang="en-US" altLang="zh-CN" sz="1200" kern="1200" dirty="0"/>
              <a:t>50 </a:t>
            </a:r>
            <a:r>
              <a:rPr lang="zh-CN" altLang="en-US" sz="1200" kern="1200" dirty="0"/>
              <a:t>维特征向量表示，包含元素种类、残基类别、理化性质、相对质量、同心壳层局部堆积密度及主链标记。</a:t>
            </a:r>
          </a:p>
          <a:p>
            <a:pPr marL="0" algn="l" defTabSz="914400" rtl="0" eaLnBrk="1" latinLnBrk="0" hangingPunct="1"/>
            <a:endParaRPr lang="zh-CN" altLang="en-US" sz="1200" kern="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t>b</a:t>
            </a:r>
            <a:r>
              <a:rPr lang="zh-CN" altLang="en-US" sz="1200" kern="1200" dirty="0"/>
              <a:t>，</a:t>
            </a:r>
            <a:r>
              <a:rPr lang="en-US" altLang="zh-CN" sz="1200" kern="1200" dirty="0"/>
              <a:t>Find </a:t>
            </a:r>
            <a:r>
              <a:rPr lang="zh-CN" altLang="en-US" sz="1200" kern="1200" dirty="0"/>
              <a:t>阶段体素</a:t>
            </a:r>
            <a:r>
              <a:rPr lang="en-US" altLang="zh-CN" sz="1200" kern="1200" dirty="0"/>
              <a:t>–</a:t>
            </a:r>
            <a:r>
              <a:rPr lang="zh-CN" altLang="en-US" sz="1200" kern="1200" dirty="0"/>
              <a:t>点云联合定位网络。体素分支通过三维 </a:t>
            </a:r>
            <a:r>
              <a:rPr lang="en-US" altLang="zh-CN" sz="1200" kern="1200" dirty="0"/>
              <a:t>U-Net </a:t>
            </a:r>
            <a:r>
              <a:rPr lang="zh-CN" altLang="en-US" sz="1200" kern="1200" dirty="0"/>
              <a:t>来融合 </a:t>
            </a:r>
            <a:r>
              <a:rPr lang="en-US" altLang="zh-CN" sz="1200" kern="1200" dirty="0"/>
              <a:t>56 </a:t>
            </a:r>
            <a:r>
              <a:rPr lang="zh-CN" altLang="en-US" sz="1200" kern="1200" dirty="0"/>
              <a:t>通道密度特征以及经过编码的受体原子特征，并低分辨率瓶颈层执行自注意力运算建立长程依赖，主解码头预测逐体素配体区域概率。点云分支采用 </a:t>
            </a:r>
            <a:r>
              <a:rPr lang="en-US" altLang="zh-CN" sz="1200" kern="1200" dirty="0"/>
              <a:t>Point Transformer V3</a:t>
            </a:r>
            <a:r>
              <a:rPr lang="zh-CN" altLang="en-US" sz="1200" kern="1200" dirty="0"/>
              <a:t>，对受体原子与从结合区域高概率区采样的伪原子进行几何与化学编码，并通过多尺度特征采样感知体素分支的信息，输出的受体原子结合概率可用于推理时候选 </a:t>
            </a:r>
            <a:r>
              <a:rPr lang="en-US" altLang="zh-CN" sz="1200" kern="1200" dirty="0"/>
              <a:t>blob </a:t>
            </a:r>
            <a:r>
              <a:rPr lang="zh-CN" altLang="en-US" sz="1200" kern="1200" dirty="0"/>
              <a:t>的打分。体素分支和点云分支通过 </a:t>
            </a:r>
            <a:r>
              <a:rPr lang="en-US" altLang="zh-CN" sz="1200" kern="1200" dirty="0"/>
              <a:t>AlphaFold3 </a:t>
            </a:r>
            <a:r>
              <a:rPr lang="zh-CN" altLang="en-US" sz="1200" kern="1200" dirty="0"/>
              <a:t>风格的 </a:t>
            </a:r>
            <a:r>
              <a:rPr lang="en-US" altLang="zh-CN" sz="1200" kern="1200" dirty="0"/>
              <a:t>Recycle</a:t>
            </a:r>
            <a:r>
              <a:rPr lang="zh-CN" altLang="en-US" sz="1200" kern="1200" dirty="0"/>
              <a:t> 机制预测效果的迭代改进。</a:t>
            </a:r>
            <a:r>
              <a:rPr lang="zh-CN" altLang="zh-CN" dirty="0"/>
              <a:t>候选区域（blob）和伪原子为</a:t>
            </a:r>
            <a:r>
              <a:rPr lang="zh-CN" altLang="en-US" dirty="0"/>
              <a:t>后续的</a:t>
            </a:r>
            <a:r>
              <a:rPr lang="zh-CN" altLang="zh-CN" dirty="0"/>
              <a:t> Match 提供局部线索。</a:t>
            </a:r>
          </a:p>
          <a:p>
            <a:pPr marL="0" algn="l" defTabSz="914400" rtl="0" eaLnBrk="1" latinLnBrk="0" hangingPunct="1"/>
            <a:endParaRPr lang="zh-CN" altLang="en-US" sz="1200" kern="1200" dirty="0"/>
          </a:p>
          <a:p>
            <a:pPr marL="0" algn="l" defTabSz="914400" rtl="0" eaLnBrk="1" latinLnBrk="0" hangingPunct="1"/>
            <a:r>
              <a:rPr lang="en-US" altLang="zh-CN" sz="1200" kern="1200" dirty="0"/>
              <a:t>c</a:t>
            </a:r>
            <a:r>
              <a:rPr lang="zh-CN" altLang="en-US" sz="1200" kern="1200" dirty="0"/>
              <a:t>，</a:t>
            </a:r>
            <a:r>
              <a:rPr lang="en-US" altLang="zh-CN" sz="1200" kern="1200" dirty="0"/>
              <a:t>Match </a:t>
            </a:r>
            <a:r>
              <a:rPr lang="zh-CN" altLang="en-US" sz="1200" kern="1200" dirty="0"/>
              <a:t>阶段候选区域的前景判别与配体身份指派。候选编码器以预测 </a:t>
            </a:r>
            <a:r>
              <a:rPr lang="en-US" altLang="zh-CN" sz="1200" kern="1200" dirty="0"/>
              <a:t>blob </a:t>
            </a:r>
            <a:r>
              <a:rPr lang="zh-CN" altLang="en-US" sz="1200" kern="1200" dirty="0"/>
              <a:t>的几何中心向外截取 </a:t>
            </a:r>
            <a:r>
              <a:rPr lang="en-US" altLang="zh-CN" sz="1200" kern="1200" dirty="0"/>
              <a:t>48³ </a:t>
            </a:r>
            <a:r>
              <a:rPr lang="zh-CN" altLang="en-US" sz="1200" kern="1200" dirty="0"/>
              <a:t>局部网格，经 </a:t>
            </a:r>
            <a:r>
              <a:rPr lang="en-US" altLang="zh-CN" sz="1200" kern="1200" dirty="0"/>
              <a:t>U-Net </a:t>
            </a:r>
            <a:r>
              <a:rPr lang="zh-CN" altLang="en-US" sz="1200" kern="1200" dirty="0"/>
              <a:t>提取体素基础摘要向量 </a:t>
            </a:r>
            <a:r>
              <a:rPr lang="en-US" altLang="zh-CN" sz="1200" kern="1200" dirty="0" err="1"/>
              <a:t>h_j^vox</a:t>
            </a:r>
            <a:r>
              <a:rPr lang="zh-CN" altLang="en-US" sz="1200" kern="1200" dirty="0"/>
              <a:t>；来自 </a:t>
            </a:r>
            <a:r>
              <a:rPr lang="en-US" altLang="zh-CN" sz="1200" kern="1200" dirty="0"/>
              <a:t>Find </a:t>
            </a:r>
            <a:r>
              <a:rPr lang="zh-CN" altLang="en-US" sz="1200" kern="1200" dirty="0"/>
              <a:t>阶段的候选 </a:t>
            </a:r>
            <a:r>
              <a:rPr lang="en-US" altLang="zh-CN" sz="1200" kern="1200" dirty="0"/>
              <a:t>blob </a:t>
            </a:r>
            <a:r>
              <a:rPr lang="zh-CN" altLang="en-US" sz="1200" kern="1200" dirty="0"/>
              <a:t>特征、局部结合口袋以及伪原子特征，经双重池化与交叉注意力汇总后，通过特征线性调制（</a:t>
            </a:r>
            <a:r>
              <a:rPr lang="en-US" altLang="zh-CN" sz="1200" kern="1200" dirty="0" err="1"/>
              <a:t>FiLM</a:t>
            </a:r>
            <a:r>
              <a:rPr lang="zh-CN" altLang="en-US" sz="1200" kern="1200" dirty="0"/>
              <a:t>）自适应增强 </a:t>
            </a:r>
            <a:r>
              <a:rPr lang="en-US" altLang="zh-CN" sz="1200" kern="1200" dirty="0" err="1"/>
              <a:t>h_j^vox</a:t>
            </a:r>
            <a:r>
              <a:rPr lang="zh-CN" altLang="en-US" sz="1200" kern="1200" dirty="0"/>
              <a:t>，得到候选表征 </a:t>
            </a:r>
            <a:r>
              <a:rPr lang="en-US" altLang="zh-CN" sz="1200" kern="1200" dirty="0" err="1"/>
              <a:t>h_j</a:t>
            </a:r>
            <a:r>
              <a:rPr lang="zh-CN" altLang="en-US" sz="1200" kern="1200" dirty="0"/>
              <a:t>。身份编码器以配体语言模型 </a:t>
            </a:r>
            <a:r>
              <a:rPr lang="en-US" altLang="zh-CN" sz="1200" kern="1200" dirty="0"/>
              <a:t>SMI-TED </a:t>
            </a:r>
            <a:r>
              <a:rPr lang="zh-CN" altLang="en-US" sz="1200" kern="1200" dirty="0"/>
              <a:t>的嵌入为</a:t>
            </a:r>
            <a:r>
              <a:rPr lang="en-US" altLang="zh-CN" sz="1200" kern="1200" dirty="0"/>
              <a:t>query</a:t>
            </a:r>
            <a:r>
              <a:rPr lang="zh-CN" altLang="en-US" sz="1200" kern="1200" dirty="0"/>
              <a:t>，一方面通过图注意力融合 </a:t>
            </a:r>
            <a:r>
              <a:rPr lang="en-US" altLang="zh-CN" sz="1200" kern="1200" dirty="0" err="1"/>
              <a:t>RDKit</a:t>
            </a:r>
            <a:r>
              <a:rPr lang="en-US" altLang="zh-CN" sz="1200" kern="1200" dirty="0"/>
              <a:t> </a:t>
            </a:r>
            <a:r>
              <a:rPr lang="zh-CN" altLang="en-US" sz="1200" kern="1200" dirty="0"/>
              <a:t>构建并经过</a:t>
            </a:r>
            <a:r>
              <a:rPr lang="en-US" altLang="zh-CN" sz="1200" kern="1200" dirty="0"/>
              <a:t>GNN</a:t>
            </a:r>
            <a:r>
              <a:rPr lang="zh-CN" altLang="en-US" sz="1200" kern="1200" dirty="0"/>
              <a:t>编码的自身分子图特征，另一方面通过背景注意力融合同一 </a:t>
            </a:r>
            <a:r>
              <a:rPr lang="en-US" altLang="zh-CN" sz="1200" kern="1200" dirty="0"/>
              <a:t>PDB </a:t>
            </a:r>
            <a:r>
              <a:rPr lang="zh-CN" altLang="en-US" sz="1200" kern="1200" dirty="0"/>
              <a:t>内其余配体身份的上下文信息，融合成最终身份表征 </a:t>
            </a:r>
            <a:r>
              <a:rPr lang="en-US" altLang="zh-CN" sz="1200" kern="1200" dirty="0" err="1"/>
              <a:t>g_k</a:t>
            </a:r>
            <a:r>
              <a:rPr lang="zh-CN" altLang="en-US" sz="1200" kern="1200" dirty="0"/>
              <a:t>。最后，前景头根据候选表征 </a:t>
            </a:r>
            <a:r>
              <a:rPr lang="en-US" altLang="zh-CN" sz="1200" kern="1200" dirty="0" err="1"/>
              <a:t>h_j</a:t>
            </a:r>
            <a:r>
              <a:rPr lang="en-US" altLang="zh-CN" sz="1200" kern="1200" dirty="0"/>
              <a:t> </a:t>
            </a:r>
            <a:r>
              <a:rPr lang="zh-CN" altLang="en-US" sz="1200" kern="1200" dirty="0"/>
              <a:t>输出候选的前景概率 </a:t>
            </a:r>
            <a:r>
              <a:rPr lang="en-US" altLang="zh-CN" sz="1200" kern="1200" dirty="0" err="1"/>
              <a:t>p_j^fg</a:t>
            </a:r>
            <a:r>
              <a:rPr lang="zh-CN" altLang="en-US" sz="1200" kern="1200" dirty="0"/>
              <a:t>，同时候选表征 </a:t>
            </a:r>
            <a:r>
              <a:rPr lang="en-US" altLang="zh-CN" sz="1200" kern="1200" dirty="0" err="1"/>
              <a:t>h_j</a:t>
            </a:r>
            <a:r>
              <a:rPr lang="zh-CN" altLang="en-US" sz="1200" kern="1200" dirty="0"/>
              <a:t>和身份表征 </a:t>
            </a:r>
            <a:r>
              <a:rPr lang="en-US" altLang="zh-CN" sz="1200" kern="1200" dirty="0" err="1"/>
              <a:t>g_k</a:t>
            </a:r>
            <a:r>
              <a:rPr lang="zh-CN" altLang="en-US" sz="1200" kern="1200" dirty="0"/>
              <a:t>经过可学习线性投影与余弦相似度计算，生成 </a:t>
            </a:r>
            <a:r>
              <a:rPr lang="en-US" altLang="zh-CN" sz="1200" kern="1200" dirty="0"/>
              <a:t>J × K </a:t>
            </a:r>
            <a:r>
              <a:rPr lang="zh-CN" altLang="en-US" sz="1200" kern="1200" dirty="0"/>
              <a:t>维配体分配分数矩阵 </a:t>
            </a:r>
            <a:r>
              <a:rPr lang="en-US" altLang="zh-CN" sz="1200" kern="1200" dirty="0" err="1"/>
              <a:t>s_j,k</a:t>
            </a:r>
            <a:r>
              <a:rPr lang="zh-CN" altLang="en-US" sz="1200" kern="1200" dirty="0"/>
              <a:t>。</a:t>
            </a:r>
          </a:p>
          <a:p>
            <a:pPr marL="0" algn="l" defTabSz="914400" rtl="0" eaLnBrk="1" latinLnBrk="0" hangingPunct="1"/>
            <a:endParaRPr lang="zh-CN" altLang="en-US" sz="1200" kern="1200" dirty="0"/>
          </a:p>
          <a:p>
            <a:pPr marL="0" algn="l" defTabSz="914400" rtl="0" eaLnBrk="1" latinLnBrk="0" hangingPunct="1"/>
            <a:r>
              <a:rPr lang="en-US" altLang="zh-CN" sz="1200" kern="1200" dirty="0"/>
              <a:t>d</a:t>
            </a:r>
            <a:r>
              <a:rPr lang="zh-CN" altLang="en-US" sz="1200" kern="1200" dirty="0"/>
              <a:t>，</a:t>
            </a:r>
            <a:r>
              <a:rPr lang="en-US" altLang="zh-CN" sz="1200" kern="1200" dirty="0"/>
              <a:t>Build </a:t>
            </a:r>
            <a:r>
              <a:rPr lang="zh-CN" altLang="en-US" sz="1200" kern="1200" dirty="0"/>
              <a:t>阶段下游构象重建。将 </a:t>
            </a:r>
            <a:r>
              <a:rPr lang="en-US" altLang="zh-CN" sz="1200" kern="1200" dirty="0"/>
              <a:t>Find </a:t>
            </a:r>
            <a:r>
              <a:rPr lang="zh-CN" altLang="en-US" sz="1200" kern="1200" dirty="0"/>
              <a:t>预测的候选结合位点 </a:t>
            </a:r>
            <a:r>
              <a:rPr lang="en-US" altLang="zh-CN" sz="1200" kern="1200" dirty="0"/>
              <a:t>p</a:t>
            </a:r>
            <a:r>
              <a:rPr lang="zh-CN" altLang="en-US" sz="1200" kern="1200" dirty="0"/>
              <a:t>（</a:t>
            </a:r>
            <a:r>
              <a:rPr lang="en-US" altLang="zh-CN" sz="1200" kern="1200" dirty="0"/>
              <a:t>blob </a:t>
            </a:r>
            <a:r>
              <a:rPr lang="zh-CN" altLang="en-US" sz="1200" kern="1200" dirty="0"/>
              <a:t>几何中心）、</a:t>
            </a:r>
            <a:r>
              <a:rPr lang="en-US" altLang="zh-CN" sz="1200" kern="1200" dirty="0"/>
              <a:t>Match </a:t>
            </a:r>
            <a:r>
              <a:rPr lang="zh-CN" altLang="en-US" sz="1200" kern="1200" dirty="0"/>
              <a:t>赋予的配体 </a:t>
            </a:r>
            <a:r>
              <a:rPr lang="en-US" altLang="zh-CN" sz="1200" kern="1200" dirty="0"/>
              <a:t>SMILES </a:t>
            </a:r>
            <a:r>
              <a:rPr lang="zh-CN" altLang="en-US" sz="1200" kern="1200" dirty="0"/>
              <a:t>标识及周围受体口袋环境传入构象建模模块，输出配体的全原子三维构象。默认采用密度引导微调的 </a:t>
            </a:r>
            <a:r>
              <a:rPr lang="en-US" altLang="zh-CN" sz="1200" kern="1200" dirty="0" err="1"/>
              <a:t>PocketXMol</a:t>
            </a:r>
            <a:r>
              <a:rPr lang="zh-CN" altLang="en-US" sz="1200" kern="1200" dirty="0"/>
              <a:t>，同时也可以使用 </a:t>
            </a:r>
            <a:r>
              <a:rPr lang="en-US" altLang="zh-CN" sz="1200" kern="1200" dirty="0"/>
              <a:t>Vina</a:t>
            </a:r>
            <a:r>
              <a:rPr lang="zh-CN" altLang="en-US" sz="1200" kern="1200" dirty="0"/>
              <a:t>、</a:t>
            </a:r>
            <a:r>
              <a:rPr lang="en-US" altLang="zh-CN" sz="1200" kern="1200" dirty="0" err="1"/>
              <a:t>DiffDock</a:t>
            </a:r>
            <a:r>
              <a:rPr lang="en-US" altLang="zh-CN" sz="1200" kern="1200" dirty="0"/>
              <a:t> </a:t>
            </a:r>
            <a:r>
              <a:rPr lang="zh-CN" altLang="en-US" sz="1200" kern="1200" dirty="0"/>
              <a:t>及 </a:t>
            </a:r>
            <a:r>
              <a:rPr lang="en-US" altLang="zh-CN" sz="1200" kern="1200" dirty="0"/>
              <a:t>EMERALD </a:t>
            </a:r>
            <a:r>
              <a:rPr lang="zh-CN" altLang="en-US" sz="1200" kern="1200" dirty="0"/>
              <a:t>等其他分子对接工具。</a:t>
            </a:r>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microsoft.com/office/2018/10/relationships/comments" Target="../comments/modernComment_108_51F486EC.xml"/><Relationship Id="rId7" Type="http://schemas.openxmlformats.org/officeDocument/2006/relationships/image" Target="../media/image9.png"/><Relationship Id="rId12"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6.png"/><Relationship Id="rId5" Type="http://schemas.openxmlformats.org/officeDocument/2006/relationships/image" Target="../media/image7.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79" name="组合 78">
            <a:extLst>
              <a:ext uri="{FF2B5EF4-FFF2-40B4-BE49-F238E27FC236}">
                <a16:creationId xmlns:a16="http://schemas.microsoft.com/office/drawing/2014/main" id="{C9A8D0EA-47EA-796B-9CB4-729188E4A88E}"/>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txBody>
          <a:bodyPr/>
          <a:lstStyle/>
          <a:p>
            <a:endParaRPr lang="zh-CN" altLang="en-US" dirty="0"/>
          </a:p>
        </p:txBody>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67488"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39405"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Pseudo</a:t>
            </a:r>
            <a:r>
              <a:rPr lang="en-US" sz="400" b="0" dirty="0">
                <a:solidFill>
                  <a:srgbClr val="203646"/>
                </a:solidFill>
                <a:latin typeface="Arial"/>
                <a:ea typeface="Arial"/>
                <a:cs typeface="Arial"/>
              </a:rPr>
              <a:t> </a:t>
            </a:r>
            <a:r>
              <a:rPr lang="en-US" altLang="zh-CN" sz="400" b="0" dirty="0">
                <a:solidFill>
                  <a:srgbClr val="203646"/>
                </a:solidFill>
                <a:latin typeface="Arial"/>
                <a:ea typeface="Arial"/>
                <a:cs typeface="Arial"/>
              </a:rPr>
              <a:t>atoms</a:t>
            </a:r>
            <a:endParaRPr sz="400" b="0" dirty="0">
              <a:solidFill>
                <a:srgbClr val="203646"/>
              </a:solidFill>
              <a:latin typeface="Arial"/>
              <a:ea typeface="Arial"/>
              <a:cs typeface="Arial"/>
            </a:endParaRP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52" name="组合 51">
            <a:extLst>
              <a:ext uri="{FF2B5EF4-FFF2-40B4-BE49-F238E27FC236}">
                <a16:creationId xmlns:a16="http://schemas.microsoft.com/office/drawing/2014/main" id="{D58FD75F-EABE-3EF1-ABA7-ED372EDC1C8F}"/>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697084"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2982859"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0"/>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1"/>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2"/>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3"/>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TotalTime>
  <Words>2239</Words>
  <Application>Microsoft Office PowerPoint</Application>
  <DocSecurity>0</DocSecurity>
  <PresentationFormat>自定义</PresentationFormat>
  <Paragraphs>327</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36</cp:revision>
  <dcterms:created xsi:type="dcterms:W3CDTF">2026-10-01T15:00:20Z</dcterms:created>
  <dcterms:modified xsi:type="dcterms:W3CDTF">2026-10-03T03:51:59Z</dcterms:modified>
</cp:coreProperties>
</file>