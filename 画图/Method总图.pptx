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51F486E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45946" autoAdjust="0"/>
  </p:normalViewPr>
  <p:slideViewPr>
    <p:cSldViewPr snapToGrid="0">
      <p:cViewPr varScale="1">
        <p:scale>
          <a:sx n="76" d="100"/>
          <a:sy n="76" d="100"/>
        </p:scale>
        <p:origin x="600"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51F486EC.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and pseudo-atom 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a:t>F</a:t>
            </a:r>
            <a:r>
              <a:rPr lang="zh-CN" dirty="0"/>
              <a:t>ind–Match–Build 的网络结构与信息流。</a:t>
            </a:r>
          </a:p>
          <a:p>
            <a:r>
              <a:rPr lang="zh-CN" dirty="0"/>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dirty="0"/>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dirty="0"/>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dirty="0"/>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pPr marL="0" algn="l" defTabSz="914400" rtl="0" eaLnBrk="1" latinLnBrk="0" hangingPunct="1"/>
            <a:r>
              <a:rPr lang="en-US" altLang="zh-CN" sz="1200" kern="1200" dirty="0"/>
              <a:t>Find–Match–Build 框架的网络架构与数据流。</a:t>
            </a:r>
          </a:p>
          <a:p>
            <a:pPr marL="0" algn="l" defTabSz="914400" rtl="0" eaLnBrk="1" latinLnBrk="0" hangingPunct="1"/>
            <a:r>
              <a:rPr lang="en-US" altLang="zh-CN" sz="1200" kern="1200" dirty="0"/>
              <a:t>a，共享输入。实验冷冻电镜密度 $M_{\mathrm{exp}}$、受体模拟密度 $M_{\mathrm{sim}}$、差密度 $M_{\mathrm{diff}}$ 和正差密度 $M_{\mathrm{diff}}^{+}$ 构成基础密度场。未归一化与 Z-score 归一化表示经过七种空间变换，包括高斯平滑、差分高斯滤波和受体邻域抑制，形成 56 通道多视角密度通道库。蛋白与核酸受体原子的 50 维特征编码化学与几何信息。</a:t>
            </a:r>
          </a:p>
          <a:p>
            <a:pPr marL="0" algn="l" defTabSz="914400" rtl="0" eaLnBrk="1" latinLnBrk="0" hangingPunct="1"/>
            <a:r>
              <a:rPr lang="en-US" altLang="zh-CN" sz="1200" kern="1200" dirty="0"/>
              <a:t>b，Find 的体素–点云联合定位。3D U-Net 融合密度与受体原子特征，在瓶颈层使用自注意力，并预测逐体素配体区域概率。Point Transformer V3 编码受体原子及从高概率结合区域采样的伪原子，通过多尺度特征采样融入体素信息。受体原子结合概率用于候选配体区域（blob）打分。AlphaFold3 风格的迭代回收机制改进两个分支的预测。blob 与伪原子为 Match 提供局部线索。</a:t>
            </a:r>
          </a:p>
          <a:p>
            <a:pPr marL="0" algn="l" defTabSz="914400" rtl="0" eaLnBrk="1" latinLnBrk="0" hangingPunct="1"/>
            <a:r>
              <a:rPr lang="en-US" altLang="zh-CN" sz="1200" kern="1200" dirty="0"/>
              <a:t>c，Match 的前景判别与身份指派。候选 U-Net 编码以各 blob 为中心的 48³ 网格。Find 提供的 blob、口袋与伪原子特征经双重池化、交叉注意力和特征线性调制（FiLM）调制体素摘要 $h_j^{\mathrm{vox}}$，得到 $h_j$。SMI-TED 配体语言嵌入作为查询，通过图注意力汇入图神经网络（GNN）编码的分子图特征。上下文注意力汇入同一 PDB 内其他配体身份，得到 $g_k$。前景头根据 $h_j$ 预测前景概率 $p_j^{\mathrm{fg}}$。$h_j$ 与 $g_k$ 经可学习投影和余弦相似度计算，生成 $J\times K$ 身份指派分数矩阵 $s_{j,k}$；$J$ 与 $K$ 分别为候选区域数和配体身份数。</a:t>
            </a:r>
          </a:p>
          <a:p>
            <a:pPr marL="0" algn="l" defTabSz="914400" rtl="0" eaLnBrk="1" latinLnBrk="0" hangingPunct="1"/>
            <a:r>
              <a:rPr lang="en-US" altLang="zh-CN" sz="1200" kern="1200" dirty="0"/>
              <a:t>d，Build 的构象重建。blob 几何中心 $p$、Match 指派的配体身份和受体口袋环境传入对接工具，生成全原子配体构象。默认采用经密度引导微调的 PocketXMol，也支持 Vina、DiffDock 和 EMERALD。</a:t>
            </a:r>
          </a:p>
          <a:p>
            <a:pPr marL="0" algn="l" defTabSz="914400" rtl="0" eaLnBrk="1" latinLnBrk="0" hangingPunct="1"/>
            <a:r>
              <a:rPr lang="en-US" altLang="zh-CN" sz="1200" kern="1200" dirty="0"/>
              <a:t>ENGLISH：</a:t>
            </a:r>
          </a:p>
          <a:p>
            <a:pPr marL="0" algn="l" defTabSz="914400" rtl="0" eaLnBrk="1" latinLnBrk="0" hangingPunct="1"/>
            <a:r>
              <a:rPr lang="en-US" altLang="zh-CN" sz="1200" kern="1200" dirty="0"/>
              <a:t>Network architecture and data flow of the Find–Match–Build framework.</a:t>
            </a:r>
          </a:p>
          <a:p>
            <a:pPr marL="0" algn="l" defTabSz="914400" rtl="0" eaLnBrk="1" latinLnBrk="0" hangingPunct="1"/>
            <a:r>
              <a:rPr lang="en-US" altLang="zh-CN" sz="1200" kern="1200" dirty="0"/>
              <a:t>a, Shared inputs. Experimental cryo-electron microscopy (cryo-EM) density $M_{\mathrm{exp}}$, simulated receptor density $M_{\mathrm{sim}}$, difference density $M_{\mathrm{diff}}$ and positive difference density $M_{\mathrm{diff}}^{+}$ form the base fields. Unnormalised and z-score-normalised representations undergo seven spatial transformations, including Gaussian smoothing, difference-of-Gaussians (DoG) filtering and receptor-neighbourhood suppression, producing a 56-channel multi-view density bank. Protein and nucleic acid receptor atoms have 50-dimensional features encoding chemical and geometric information.</a:t>
            </a:r>
          </a:p>
          <a:p>
            <a:pPr marL="0" algn="l" defTabSz="914400" rtl="0" eaLnBrk="1" latinLnBrk="0" hangingPunct="1"/>
            <a:r>
              <a:rPr lang="en-US" altLang="zh-CN" sz="1200" kern="1200" dirty="0"/>
              <a:t>b, Joint voxel and point-cloud localisation in Find. A 3D U-Net fuses density and receptor-atom features, uses bottleneck self-attention and predicts voxelwise ligand-region probabilities. Point Transformer V3 encodes receptor atoms and pseudo-atoms sampled from high-probability binding regions, incorporating voxel information through multiscale feature sampling. Receptor-atom binding probabilities score candidate ligand regions (blobs). AlphaFold3-style recycling iteratively improves predictions across both branches. Blobs and pseudo-atoms provide local cues for Match.</a:t>
            </a:r>
          </a:p>
          <a:p>
            <a:pPr marL="0" algn="l" defTabSz="914400" rtl="0" eaLnBrk="1" latinLnBrk="0" hangingPunct="1"/>
            <a:r>
              <a:rPr lang="en-US" altLang="zh-CN" sz="1200" kern="1200" dirty="0"/>
              <a:t>c, Foreground classification and identity assignment in Match. A candidate U-Net encodes a 48³ grid centred on each blob. Find-derived blob, pocket and pseudo-atom features modulate the voxel summary $h_j^{\mathrm{vox}}$ through dual pooling, cross-attention and feature-wise linear modulation (FiLM), yielding $h_j$. SMI-TED ligand-language embeddings query molecular graph features encoded by a graph neural network (GNN) through graph attention. Context attention incorporates other ligand identities in the same PDB entry, yielding $g_k$. A foreground head predicts foreground probability $p_j^{\mathrm{fg}}$ from $h_j$. Learned projections and cosine similarity between $h_j$ and $g_k$ produce the $J\times K$ identity-assignment score matrix $s_{j,k}$. Here, $J$ and $K$ denote the numbers of candidate regions and ligand identities, respectively.</a:t>
            </a:r>
          </a:p>
          <a:p>
            <a:pPr marL="0" algn="l" defTabSz="914400" rtl="0" eaLnBrk="1" latinLnBrk="0" hangingPunct="1"/>
            <a:r>
              <a:rPr lang="en-US" altLang="zh-CN" sz="1200" kern="1200" dirty="0"/>
              <a:t>d, Pose reconstruction in Build. The blob geometric centre $p$, Match-assigned ligand identity and receptor pocket environment are passed to docking tools to generate all-atom ligand poses. The default is PocketXMol fine-tuned with density guidance. Vina, DiffDock and EMERALD are also supported.</a:t>
            </a:r>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microsoft.com/office/2018/10/relationships/comments" Target="../comments/modernComment_108_51F486EC.xml"/><Relationship Id="rId7" Type="http://schemas.openxmlformats.org/officeDocument/2006/relationships/image" Target="../media/image9.png"/><Relationship Id="rId12"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6.png"/><Relationship Id="rId5" Type="http://schemas.openxmlformats.org/officeDocument/2006/relationships/image" Target="../media/image7.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normalisations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79" name="组合 78">
            <a:extLst>
              <a:ext uri="{FF2B5EF4-FFF2-40B4-BE49-F238E27FC236}">
                <a16:creationId xmlns:a16="http://schemas.microsoft.com/office/drawing/2014/main" id="{C9A8D0EA-47EA-796B-9CB4-729188E4A88E}"/>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txBody>
          <a:bodyPr/>
          <a:lstStyle/>
          <a:p>
            <a:endParaRPr lang="zh-CN" altLang="en-US" dirty="0"/>
          </a:p>
        </p:txBody>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67488"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39405"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Pseudo</a:t>
            </a:r>
            <a:r>
              <a:rPr lang="en-US" sz="400" b="0" dirty="0">
                <a:solidFill>
                  <a:srgbClr val="203646"/>
                </a:solidFill>
                <a:latin typeface="Arial"/>
                <a:ea typeface="Arial"/>
                <a:cs typeface="Arial"/>
              </a:rPr>
              <a:t> </a:t>
            </a:r>
            <a:r>
              <a:rPr lang="en-US" altLang="zh-CN" sz="400" b="0" dirty="0">
                <a:solidFill>
                  <a:srgbClr val="203646"/>
                </a:solidFill>
                <a:latin typeface="Arial"/>
                <a:ea typeface="Arial"/>
                <a:cs typeface="Arial"/>
              </a:rPr>
              <a:t>atoms</a:t>
            </a:r>
            <a:endParaRPr sz="400" b="0" dirty="0">
              <a:solidFill>
                <a:srgbClr val="203646"/>
              </a:solidFill>
              <a:latin typeface="Arial"/>
              <a:ea typeface="Arial"/>
              <a:cs typeface="Arial"/>
            </a:endParaRP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52" name="组合 51">
            <a:extLst>
              <a:ext uri="{FF2B5EF4-FFF2-40B4-BE49-F238E27FC236}">
                <a16:creationId xmlns:a16="http://schemas.microsoft.com/office/drawing/2014/main" id="{D58FD75F-EABE-3EF1-ABA7-ED372EDC1C8F}"/>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697084"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2982859"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0"/>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1"/>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2"/>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regions</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3"/>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Ligand-region</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125</TotalTime>
  <Words>2227</Words>
  <Application>Microsoft Office PowerPoint</Application>
  <DocSecurity>0</DocSecurity>
  <PresentationFormat>自定义</PresentationFormat>
  <Paragraphs>323</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51</cp:revision>
  <dcterms:created xsi:type="dcterms:W3CDTF">2026-10-01T15:00:20Z</dcterms:created>
  <dcterms:modified xsi:type="dcterms:W3CDTF">2026-10-04T08:00:10Z</dcterms:modified>
</cp:coreProperties>
</file>